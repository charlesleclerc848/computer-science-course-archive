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1" r:id="rId32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1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00F900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FEFFFF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28600" y="1181100"/>
            <a:ext cx="9601200" cy="5400675"/>
          </a:xfrm>
          <a:custGeom>
            <a:avLst/>
            <a:gdLst/>
            <a:ahLst/>
            <a:cxnLst/>
            <a:rect l="l" t="t" r="r" b="b"/>
            <a:pathLst>
              <a:path w="9601200" h="5400675">
                <a:moveTo>
                  <a:pt x="0" y="0"/>
                </a:moveTo>
                <a:lnTo>
                  <a:pt x="0" y="5400294"/>
                </a:lnTo>
                <a:lnTo>
                  <a:pt x="9601200" y="5400294"/>
                </a:lnTo>
                <a:lnTo>
                  <a:pt x="9601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00F900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00F900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28600" y="1181100"/>
            <a:ext cx="9601200" cy="5400675"/>
          </a:xfrm>
          <a:custGeom>
            <a:avLst/>
            <a:gdLst/>
            <a:ahLst/>
            <a:cxnLst/>
            <a:rect l="l" t="t" r="r" b="b"/>
            <a:pathLst>
              <a:path w="9601200" h="5400675">
                <a:moveTo>
                  <a:pt x="0" y="0"/>
                </a:moveTo>
                <a:lnTo>
                  <a:pt x="0" y="5400294"/>
                </a:lnTo>
                <a:lnTo>
                  <a:pt x="9601200" y="5400294"/>
                </a:lnTo>
                <a:lnTo>
                  <a:pt x="9601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91029" y="2309911"/>
            <a:ext cx="6276340" cy="943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00F900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8766" y="2939034"/>
            <a:ext cx="7875905" cy="2199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FEFFFF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Relational_databas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SQL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youtube.com/watch?v=XhyRpvgm03g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mailto:u_saeed@msn.com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304801"/>
            <a:ext cx="9595485" cy="7162800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38704" y="3254755"/>
            <a:ext cx="4377055" cy="2192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ts val="4910"/>
              </a:lnSpc>
            </a:pPr>
            <a:r>
              <a:rPr sz="4450" spc="-5" dirty="0">
                <a:solidFill>
                  <a:srgbClr val="FF40FF"/>
                </a:solidFill>
                <a:latin typeface="Gill Sans MT"/>
                <a:cs typeface="Gill Sans MT"/>
              </a:rPr>
              <a:t>Web</a:t>
            </a:r>
            <a:r>
              <a:rPr sz="4450" spc="-85" dirty="0">
                <a:solidFill>
                  <a:srgbClr val="FF40FF"/>
                </a:solidFill>
                <a:latin typeface="Gill Sans MT"/>
                <a:cs typeface="Gill Sans MT"/>
              </a:rPr>
              <a:t> </a:t>
            </a:r>
            <a:r>
              <a:rPr sz="4450" dirty="0">
                <a:solidFill>
                  <a:srgbClr val="FF40FF"/>
                </a:solidFill>
                <a:latin typeface="Gill Sans MT"/>
                <a:cs typeface="Gill Sans MT"/>
              </a:rPr>
              <a:t>Programming  </a:t>
            </a:r>
            <a:r>
              <a:rPr sz="4450" spc="-5" dirty="0">
                <a:solidFill>
                  <a:srgbClr val="FF40FF"/>
                </a:solidFill>
                <a:latin typeface="Gill Sans MT"/>
                <a:cs typeface="Gill Sans MT"/>
              </a:rPr>
              <a:t>Lecture</a:t>
            </a:r>
            <a:r>
              <a:rPr sz="4450" spc="-80" dirty="0">
                <a:solidFill>
                  <a:srgbClr val="FF40FF"/>
                </a:solidFill>
                <a:latin typeface="Gill Sans MT"/>
                <a:cs typeface="Gill Sans MT"/>
              </a:rPr>
              <a:t> </a:t>
            </a:r>
            <a:r>
              <a:rPr sz="4450" spc="-5" dirty="0">
                <a:solidFill>
                  <a:srgbClr val="FF40FF"/>
                </a:solidFill>
                <a:latin typeface="Gill Sans MT"/>
                <a:cs typeface="Gill Sans MT"/>
              </a:rPr>
              <a:t>20</a:t>
            </a:r>
            <a:endParaRPr sz="4450">
              <a:latin typeface="Gill Sans MT"/>
              <a:cs typeface="Gill Sans MT"/>
            </a:endParaRPr>
          </a:p>
          <a:p>
            <a:pPr marL="1075055" marR="1071245" algn="ctr">
              <a:lnSpc>
                <a:spcPts val="3250"/>
              </a:lnSpc>
              <a:spcBef>
                <a:spcPts val="844"/>
              </a:spcBef>
            </a:pPr>
            <a:r>
              <a:rPr sz="2800" spc="-5" dirty="0">
                <a:solidFill>
                  <a:srgbClr val="FEFFFF"/>
                </a:solidFill>
                <a:latin typeface="Gill Sans MT"/>
                <a:cs typeface="Gill Sans MT"/>
              </a:rPr>
              <a:t>Introduction</a:t>
            </a:r>
            <a:r>
              <a:rPr sz="2800" spc="-8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800" spc="-5" dirty="0">
                <a:solidFill>
                  <a:srgbClr val="FEFFFF"/>
                </a:solidFill>
                <a:latin typeface="Gill Sans MT"/>
                <a:cs typeface="Gill Sans MT"/>
              </a:rPr>
              <a:t>to  MySQL</a:t>
            </a:r>
            <a:endParaRPr sz="2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381000"/>
            <a:ext cx="9595485" cy="7010399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80944" y="493440"/>
            <a:ext cx="4764405" cy="6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-5" dirty="0">
                <a:solidFill>
                  <a:schemeClr val="tx1"/>
                </a:solidFill>
              </a:rPr>
              <a:t>Relational Databases</a:t>
            </a:r>
            <a:endParaRPr sz="4450" dirty="0">
              <a:solidFill>
                <a:schemeClr val="tx1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789" y="2389635"/>
            <a:ext cx="8077200" cy="29931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indent="1270" algn="ctr">
              <a:lnSpc>
                <a:spcPct val="94600"/>
              </a:lnSpc>
            </a:pPr>
            <a:r>
              <a:rPr sz="2600" spc="-5" dirty="0">
                <a:solidFill>
                  <a:srgbClr val="FEFB00"/>
                </a:solidFill>
                <a:latin typeface="Gill Sans MT"/>
                <a:cs typeface="Gill Sans MT"/>
              </a:rPr>
              <a:t>Relational databases model data </a:t>
            </a:r>
            <a:r>
              <a:rPr sz="2600" spc="-15" dirty="0">
                <a:solidFill>
                  <a:srgbClr val="FEFB00"/>
                </a:solidFill>
                <a:latin typeface="Gill Sans MT"/>
                <a:cs typeface="Gill Sans MT"/>
              </a:rPr>
              <a:t>by </a:t>
            </a:r>
            <a:r>
              <a:rPr sz="2600" spc="-5" dirty="0">
                <a:solidFill>
                  <a:srgbClr val="FEFB00"/>
                </a:solidFill>
                <a:latin typeface="Gill Sans MT"/>
                <a:cs typeface="Gill Sans MT"/>
              </a:rPr>
              <a:t>storing  </a:t>
            </a:r>
            <a:r>
              <a:rPr sz="2600" spc="-30" dirty="0">
                <a:solidFill>
                  <a:srgbClr val="FEFB00"/>
                </a:solidFill>
                <a:latin typeface="Gill Sans MT"/>
                <a:cs typeface="Gill Sans MT"/>
              </a:rPr>
              <a:t>rows </a:t>
            </a:r>
            <a:r>
              <a:rPr sz="2600" spc="-5" dirty="0">
                <a:solidFill>
                  <a:srgbClr val="FEFB00"/>
                </a:solidFill>
                <a:latin typeface="Gill Sans MT"/>
                <a:cs typeface="Gill Sans MT"/>
              </a:rPr>
              <a:t>and columns in tables. The </a:t>
            </a:r>
            <a:r>
              <a:rPr sz="2600" spc="-20" dirty="0">
                <a:solidFill>
                  <a:srgbClr val="FEFB00"/>
                </a:solidFill>
                <a:latin typeface="Gill Sans MT"/>
                <a:cs typeface="Gill Sans MT"/>
              </a:rPr>
              <a:t>power </a:t>
            </a:r>
            <a:r>
              <a:rPr sz="2600" spc="-10" dirty="0">
                <a:solidFill>
                  <a:srgbClr val="FEFB00"/>
                </a:solidFill>
                <a:latin typeface="Gill Sans MT"/>
                <a:cs typeface="Gill Sans MT"/>
              </a:rPr>
              <a:t>of  </a:t>
            </a:r>
            <a:r>
              <a:rPr sz="2600" spc="-5" dirty="0">
                <a:solidFill>
                  <a:srgbClr val="FEFB00"/>
                </a:solidFill>
                <a:latin typeface="Gill Sans MT"/>
                <a:cs typeface="Gill Sans MT"/>
              </a:rPr>
              <a:t>the </a:t>
            </a:r>
            <a:r>
              <a:rPr sz="2600" spc="-10" dirty="0">
                <a:solidFill>
                  <a:srgbClr val="FEFB00"/>
                </a:solidFill>
                <a:latin typeface="Gill Sans MT"/>
                <a:cs typeface="Gill Sans MT"/>
              </a:rPr>
              <a:t>relational </a:t>
            </a:r>
            <a:r>
              <a:rPr sz="2600" spc="-5" dirty="0">
                <a:solidFill>
                  <a:srgbClr val="FEFB00"/>
                </a:solidFill>
                <a:latin typeface="Gill Sans MT"/>
                <a:cs typeface="Gill Sans MT"/>
              </a:rPr>
              <a:t>database lies in its ability to  efficiently </a:t>
            </a:r>
            <a:r>
              <a:rPr sz="2600" spc="-20" dirty="0">
                <a:solidFill>
                  <a:srgbClr val="FEFB00"/>
                </a:solidFill>
                <a:latin typeface="Gill Sans MT"/>
                <a:cs typeface="Gill Sans MT"/>
              </a:rPr>
              <a:t>retrieve </a:t>
            </a:r>
            <a:r>
              <a:rPr sz="2600" spc="-5" dirty="0">
                <a:solidFill>
                  <a:srgbClr val="FEFB00"/>
                </a:solidFill>
                <a:latin typeface="Gill Sans MT"/>
                <a:cs typeface="Gill Sans MT"/>
              </a:rPr>
              <a:t>data </a:t>
            </a:r>
            <a:r>
              <a:rPr sz="2600" spc="-20" dirty="0">
                <a:solidFill>
                  <a:srgbClr val="FEFB00"/>
                </a:solidFill>
                <a:latin typeface="Gill Sans MT"/>
                <a:cs typeface="Gill Sans MT"/>
              </a:rPr>
              <a:t>from </a:t>
            </a:r>
            <a:r>
              <a:rPr sz="2600" spc="-5" dirty="0">
                <a:solidFill>
                  <a:srgbClr val="FEFB00"/>
                </a:solidFill>
                <a:latin typeface="Gill Sans MT"/>
                <a:cs typeface="Gill Sans MT"/>
              </a:rPr>
              <a:t>those tables and  in </a:t>
            </a:r>
            <a:r>
              <a:rPr sz="2600" dirty="0">
                <a:solidFill>
                  <a:srgbClr val="FEFB00"/>
                </a:solidFill>
                <a:latin typeface="Gill Sans MT"/>
                <a:cs typeface="Gill Sans MT"/>
              </a:rPr>
              <a:t>particular </a:t>
            </a:r>
            <a:r>
              <a:rPr sz="2600" spc="-15" dirty="0">
                <a:solidFill>
                  <a:srgbClr val="FEFB00"/>
                </a:solidFill>
                <a:latin typeface="Gill Sans MT"/>
                <a:cs typeface="Gill Sans MT"/>
              </a:rPr>
              <a:t>where there </a:t>
            </a:r>
            <a:r>
              <a:rPr sz="2600" spc="-20" dirty="0">
                <a:solidFill>
                  <a:srgbClr val="FEFB00"/>
                </a:solidFill>
                <a:latin typeface="Gill Sans MT"/>
                <a:cs typeface="Gill Sans MT"/>
              </a:rPr>
              <a:t>are </a:t>
            </a:r>
            <a:r>
              <a:rPr sz="2600" spc="-10" dirty="0">
                <a:solidFill>
                  <a:srgbClr val="FEFB00"/>
                </a:solidFill>
                <a:latin typeface="Gill Sans MT"/>
                <a:cs typeface="Gill Sans MT"/>
              </a:rPr>
              <a:t>multiple </a:t>
            </a:r>
            <a:r>
              <a:rPr sz="2600" spc="-5" dirty="0">
                <a:solidFill>
                  <a:srgbClr val="FEFB00"/>
                </a:solidFill>
                <a:latin typeface="Gill Sans MT"/>
                <a:cs typeface="Gill Sans MT"/>
              </a:rPr>
              <a:t>tables  and the </a:t>
            </a:r>
            <a:r>
              <a:rPr sz="2600" spc="-10" dirty="0">
                <a:solidFill>
                  <a:srgbClr val="FEFB00"/>
                </a:solidFill>
                <a:latin typeface="Gill Sans MT"/>
                <a:cs typeface="Gill Sans MT"/>
              </a:rPr>
              <a:t>relationships between </a:t>
            </a:r>
            <a:r>
              <a:rPr sz="2600" spc="-5" dirty="0">
                <a:solidFill>
                  <a:srgbClr val="FEFB00"/>
                </a:solidFill>
                <a:latin typeface="Gill Sans MT"/>
                <a:cs typeface="Gill Sans MT"/>
              </a:rPr>
              <a:t>those tables  </a:t>
            </a:r>
            <a:r>
              <a:rPr sz="2600" spc="-20" dirty="0">
                <a:solidFill>
                  <a:srgbClr val="FEFB00"/>
                </a:solidFill>
                <a:latin typeface="Gill Sans MT"/>
                <a:cs typeface="Gill Sans MT"/>
              </a:rPr>
              <a:t>involved </a:t>
            </a:r>
            <a:r>
              <a:rPr sz="2600" spc="-5" dirty="0">
                <a:solidFill>
                  <a:srgbClr val="FEFB00"/>
                </a:solidFill>
                <a:latin typeface="Gill Sans MT"/>
                <a:cs typeface="Gill Sans MT"/>
              </a:rPr>
              <a:t>in the</a:t>
            </a:r>
            <a:r>
              <a:rPr sz="2600" spc="-114" dirty="0">
                <a:solidFill>
                  <a:srgbClr val="FEFB00"/>
                </a:solidFill>
                <a:latin typeface="Gill Sans MT"/>
                <a:cs typeface="Gill Sans MT"/>
              </a:rPr>
              <a:t> </a:t>
            </a:r>
            <a:r>
              <a:rPr sz="2600" spc="-25" dirty="0">
                <a:solidFill>
                  <a:srgbClr val="FEFB00"/>
                </a:solidFill>
                <a:latin typeface="Gill Sans MT"/>
                <a:cs typeface="Gill Sans MT"/>
              </a:rPr>
              <a:t>query.</a:t>
            </a:r>
            <a:endParaRPr sz="2600" dirty="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</a:pPr>
            <a:endParaRPr sz="3000" dirty="0">
              <a:latin typeface="Times New Roman"/>
              <a:cs typeface="Times New Roman"/>
            </a:endParaRPr>
          </a:p>
          <a:p>
            <a:pPr marL="631190">
              <a:lnSpc>
                <a:spcPct val="100000"/>
              </a:lnSpc>
              <a:spcBef>
                <a:spcPts val="2395"/>
              </a:spcBef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  <a:hlinkClick r:id="rId2"/>
              </a:rPr>
              <a:t>http://en.wikipedia.org/wiki/Relational_database</a:t>
            </a:r>
            <a:endParaRPr sz="2100" dirty="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219199"/>
            <a:ext cx="9595485" cy="5369433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80129" y="1636267"/>
            <a:ext cx="2873375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-680" dirty="0"/>
              <a:t>T</a:t>
            </a:r>
            <a:r>
              <a:rPr sz="4450" spc="-5" dirty="0"/>
              <a:t>e</a:t>
            </a:r>
            <a:r>
              <a:rPr sz="4450" dirty="0"/>
              <a:t>r</a:t>
            </a:r>
            <a:r>
              <a:rPr sz="4450" spc="-5" dirty="0"/>
              <a:t>mi</a:t>
            </a:r>
            <a:r>
              <a:rPr sz="4450" dirty="0"/>
              <a:t>n</a:t>
            </a:r>
            <a:r>
              <a:rPr sz="4450" spc="-5" dirty="0"/>
              <a:t>o</a:t>
            </a:r>
            <a:r>
              <a:rPr sz="4450" dirty="0"/>
              <a:t>l</a:t>
            </a:r>
            <a:r>
              <a:rPr sz="4450" spc="15" dirty="0"/>
              <a:t>o</a:t>
            </a:r>
            <a:r>
              <a:rPr sz="4450" spc="100" dirty="0"/>
              <a:t>g</a:t>
            </a:r>
            <a:r>
              <a:rPr sz="4450" spc="15" dirty="0"/>
              <a:t>y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1048766" y="3067050"/>
            <a:ext cx="7632700" cy="1591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buClr>
                <a:srgbClr val="FEFFFF"/>
              </a:buClr>
              <a:buSzPct val="171428"/>
              <a:buChar char="•"/>
              <a:tabLst>
                <a:tab pos="327025" algn="l"/>
              </a:tabLst>
            </a:pPr>
            <a:r>
              <a:rPr sz="2100" spc="-5" dirty="0">
                <a:solidFill>
                  <a:srgbClr val="FEFB00"/>
                </a:solidFill>
                <a:latin typeface="Gill Sans MT"/>
                <a:cs typeface="Gill Sans MT"/>
              </a:rPr>
              <a:t>Database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- Contains </a:t>
            </a:r>
            <a:r>
              <a:rPr sz="2100" spc="-15" dirty="0">
                <a:solidFill>
                  <a:srgbClr val="FEFFFF"/>
                </a:solidFill>
                <a:latin typeface="Gill Sans MT"/>
                <a:cs typeface="Gill Sans MT"/>
              </a:rPr>
              <a:t>many</a:t>
            </a:r>
            <a:r>
              <a:rPr sz="2100" spc="16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tables</a:t>
            </a:r>
            <a:endParaRPr sz="2100">
              <a:latin typeface="Gill Sans MT"/>
              <a:cs typeface="Gill Sans MT"/>
            </a:endParaRPr>
          </a:p>
          <a:p>
            <a:pPr marL="326390" indent="-313690">
              <a:lnSpc>
                <a:spcPct val="100000"/>
              </a:lnSpc>
              <a:spcBef>
                <a:spcPts val="1964"/>
              </a:spcBef>
              <a:buClr>
                <a:srgbClr val="FEFFFF"/>
              </a:buClr>
              <a:buSzPct val="171428"/>
              <a:buChar char="•"/>
              <a:tabLst>
                <a:tab pos="327025" algn="l"/>
              </a:tabLst>
            </a:pPr>
            <a:r>
              <a:rPr sz="2100" dirty="0">
                <a:solidFill>
                  <a:srgbClr val="00F900"/>
                </a:solidFill>
                <a:latin typeface="Gill Sans MT"/>
                <a:cs typeface="Gill Sans MT"/>
              </a:rPr>
              <a:t>Relation </a:t>
            </a:r>
            <a:r>
              <a:rPr sz="2100" spc="-5" dirty="0">
                <a:solidFill>
                  <a:srgbClr val="00F900"/>
                </a:solidFill>
                <a:latin typeface="Gill Sans MT"/>
                <a:cs typeface="Gill Sans MT"/>
              </a:rPr>
              <a:t>(or </a:t>
            </a:r>
            <a:r>
              <a:rPr sz="2100" dirty="0">
                <a:solidFill>
                  <a:srgbClr val="00F900"/>
                </a:solidFill>
                <a:latin typeface="Gill Sans MT"/>
                <a:cs typeface="Gill Sans MT"/>
              </a:rPr>
              <a:t>table)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- contains tuples and</a:t>
            </a:r>
            <a:r>
              <a:rPr sz="2100" spc="28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attributes</a:t>
            </a:r>
            <a:endParaRPr sz="2100">
              <a:latin typeface="Gill Sans MT"/>
              <a:cs typeface="Gill Sans MT"/>
            </a:endParaRPr>
          </a:p>
          <a:p>
            <a:pPr marL="326390" indent="-313690">
              <a:lnSpc>
                <a:spcPct val="100000"/>
              </a:lnSpc>
              <a:spcBef>
                <a:spcPts val="1939"/>
              </a:spcBef>
              <a:buClr>
                <a:srgbClr val="FEFFFF"/>
              </a:buClr>
              <a:buSzPct val="171428"/>
              <a:buChar char="•"/>
              <a:tabLst>
                <a:tab pos="327025" algn="l"/>
              </a:tabLst>
            </a:pPr>
            <a:r>
              <a:rPr sz="2100" spc="-65" dirty="0">
                <a:solidFill>
                  <a:srgbClr val="FF9200"/>
                </a:solidFill>
                <a:latin typeface="Gill Sans MT"/>
                <a:cs typeface="Gill Sans MT"/>
              </a:rPr>
              <a:t>Tuple </a:t>
            </a:r>
            <a:r>
              <a:rPr sz="2100" spc="-5" dirty="0">
                <a:solidFill>
                  <a:srgbClr val="FF9200"/>
                </a:solidFill>
                <a:latin typeface="Gill Sans MT"/>
                <a:cs typeface="Gill Sans MT"/>
              </a:rPr>
              <a:t>(or </a:t>
            </a:r>
            <a:r>
              <a:rPr sz="2100" spc="-25" dirty="0">
                <a:solidFill>
                  <a:srgbClr val="FF9200"/>
                </a:solidFill>
                <a:latin typeface="Gill Sans MT"/>
                <a:cs typeface="Gill Sans MT"/>
              </a:rPr>
              <a:t>row)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-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is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a set of fields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it generally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represents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an</a:t>
            </a:r>
            <a:r>
              <a:rPr sz="2100" spc="459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“object”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5749" y="4516381"/>
            <a:ext cx="3268345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20" dirty="0">
                <a:solidFill>
                  <a:srgbClr val="FEFFFF"/>
                </a:solidFill>
                <a:latin typeface="Gill Sans MT"/>
                <a:cs typeface="Gill Sans MT"/>
              </a:rPr>
              <a:t>like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a person or a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music</a:t>
            </a:r>
            <a:r>
              <a:rPr sz="2100" spc="16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track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8766" y="5083302"/>
            <a:ext cx="771207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buClr>
                <a:srgbClr val="FEFFFF"/>
              </a:buClr>
              <a:buSzPct val="171428"/>
              <a:buChar char="•"/>
              <a:tabLst>
                <a:tab pos="327025" algn="l"/>
              </a:tabLst>
            </a:pPr>
            <a:r>
              <a:rPr sz="2100" dirty="0">
                <a:solidFill>
                  <a:srgbClr val="FF40FF"/>
                </a:solidFill>
                <a:latin typeface="Gill Sans MT"/>
                <a:cs typeface="Gill Sans MT"/>
              </a:rPr>
              <a:t>Attribute </a:t>
            </a:r>
            <a:r>
              <a:rPr sz="2100" spc="-5" dirty="0">
                <a:solidFill>
                  <a:srgbClr val="FF40FF"/>
                </a:solidFill>
                <a:latin typeface="Gill Sans MT"/>
                <a:cs typeface="Gill Sans MT"/>
              </a:rPr>
              <a:t>(also </a:t>
            </a:r>
            <a:r>
              <a:rPr sz="2100" dirty="0">
                <a:solidFill>
                  <a:srgbClr val="FF40FF"/>
                </a:solidFill>
                <a:latin typeface="Gill Sans MT"/>
                <a:cs typeface="Gill Sans MT"/>
              </a:rPr>
              <a:t>column or field)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-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One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of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possibly </a:t>
            </a:r>
            <a:r>
              <a:rPr sz="2100" spc="-15" dirty="0">
                <a:solidFill>
                  <a:srgbClr val="FEFFFF"/>
                </a:solidFill>
                <a:latin typeface="Gill Sans MT"/>
                <a:cs typeface="Gill Sans MT"/>
              </a:rPr>
              <a:t>many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elements</a:t>
            </a:r>
            <a:r>
              <a:rPr sz="2100" spc="57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of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3472" y="5412485"/>
            <a:ext cx="6288405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data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corresponding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to the object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represented by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the</a:t>
            </a:r>
            <a:r>
              <a:rPr sz="2100" spc="39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-15" dirty="0">
                <a:solidFill>
                  <a:srgbClr val="FEFFFF"/>
                </a:solidFill>
                <a:latin typeface="Gill Sans MT"/>
                <a:cs typeface="Gill Sans MT"/>
              </a:rPr>
              <a:t>row</a:t>
            </a:r>
            <a:endParaRPr sz="21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48766" y="1636267"/>
            <a:ext cx="8024495" cy="4791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63500" algn="ctr">
              <a:lnSpc>
                <a:spcPct val="100000"/>
              </a:lnSpc>
            </a:pPr>
            <a:r>
              <a:rPr sz="4450" spc="-5" dirty="0">
                <a:solidFill>
                  <a:srgbClr val="FEFB00"/>
                </a:solidFill>
                <a:latin typeface="Gill Sans MT"/>
                <a:cs typeface="Gill Sans MT"/>
              </a:rPr>
              <a:t>SQL</a:t>
            </a:r>
            <a:endParaRPr sz="44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150">
              <a:latin typeface="Times New Roman"/>
              <a:cs typeface="Times New Roman"/>
            </a:endParaRPr>
          </a:p>
          <a:p>
            <a:pPr marL="327025" marR="5080" indent="-314325">
              <a:lnSpc>
                <a:spcPct val="102899"/>
              </a:lnSpc>
              <a:buClr>
                <a:srgbClr val="FEFFFF"/>
              </a:buClr>
              <a:buSzPct val="171428"/>
              <a:buChar char="•"/>
              <a:tabLst>
                <a:tab pos="327025" algn="l"/>
              </a:tabLst>
            </a:pPr>
            <a:r>
              <a:rPr sz="2100" spc="-5" dirty="0">
                <a:solidFill>
                  <a:srgbClr val="FEFB00"/>
                </a:solidFill>
                <a:latin typeface="Gill Sans MT"/>
                <a:cs typeface="Gill Sans MT"/>
              </a:rPr>
              <a:t>Structured </a:t>
            </a:r>
            <a:r>
              <a:rPr sz="2100" spc="5" dirty="0">
                <a:solidFill>
                  <a:srgbClr val="FEFB00"/>
                </a:solidFill>
                <a:latin typeface="Gill Sans MT"/>
                <a:cs typeface="Gill Sans MT"/>
              </a:rPr>
              <a:t>Query </a:t>
            </a:r>
            <a:r>
              <a:rPr sz="2100" spc="-5" dirty="0">
                <a:solidFill>
                  <a:srgbClr val="FEFB00"/>
                </a:solidFill>
                <a:latin typeface="Gill Sans MT"/>
                <a:cs typeface="Gill Sans MT"/>
              </a:rPr>
              <a:t>Language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is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the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language </a:t>
            </a:r>
            <a:r>
              <a:rPr sz="2100" spc="-25" dirty="0">
                <a:solidFill>
                  <a:srgbClr val="FEFFFF"/>
                </a:solidFill>
                <a:latin typeface="Gill Sans MT"/>
                <a:cs typeface="Gill Sans MT"/>
              </a:rPr>
              <a:t>we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use to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issue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commands 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to the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database</a:t>
            </a:r>
            <a:endParaRPr sz="2100">
              <a:latin typeface="Gill Sans MT"/>
              <a:cs typeface="Gill Sans MT"/>
            </a:endParaRPr>
          </a:p>
          <a:p>
            <a:pPr marL="498475" lvl="1" indent="-313690">
              <a:lnSpc>
                <a:spcPct val="100000"/>
              </a:lnSpc>
              <a:spcBef>
                <a:spcPts val="1964"/>
              </a:spcBef>
              <a:buSzPct val="171428"/>
              <a:buChar char="•"/>
              <a:tabLst>
                <a:tab pos="499109" algn="l"/>
              </a:tabLst>
            </a:pPr>
            <a:r>
              <a:rPr sz="2100" spc="-15" dirty="0">
                <a:solidFill>
                  <a:srgbClr val="FEFFFF"/>
                </a:solidFill>
                <a:latin typeface="Gill Sans MT"/>
                <a:cs typeface="Gill Sans MT"/>
              </a:rPr>
              <a:t>Create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a</a:t>
            </a:r>
            <a:r>
              <a:rPr sz="2100" spc="2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table</a:t>
            </a:r>
            <a:endParaRPr sz="2100">
              <a:latin typeface="Gill Sans MT"/>
              <a:cs typeface="Gill Sans MT"/>
            </a:endParaRPr>
          </a:p>
          <a:p>
            <a:pPr marL="498475" lvl="1" indent="-313690">
              <a:lnSpc>
                <a:spcPct val="100000"/>
              </a:lnSpc>
              <a:spcBef>
                <a:spcPts val="1964"/>
              </a:spcBef>
              <a:buSzPct val="171428"/>
              <a:buChar char="•"/>
              <a:tabLst>
                <a:tab pos="499109" algn="l"/>
              </a:tabLst>
            </a:pP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Retrieve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some</a:t>
            </a:r>
            <a:r>
              <a:rPr sz="2100" spc="4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data</a:t>
            </a:r>
            <a:endParaRPr sz="2100">
              <a:latin typeface="Gill Sans MT"/>
              <a:cs typeface="Gill Sans MT"/>
            </a:endParaRPr>
          </a:p>
          <a:p>
            <a:pPr marL="498475" lvl="1" indent="-313690">
              <a:lnSpc>
                <a:spcPct val="100000"/>
              </a:lnSpc>
              <a:spcBef>
                <a:spcPts val="1960"/>
              </a:spcBef>
              <a:buSzPct val="171428"/>
              <a:buChar char="•"/>
              <a:tabLst>
                <a:tab pos="499109" algn="l"/>
              </a:tabLst>
            </a:pP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Insert</a:t>
            </a:r>
            <a:r>
              <a:rPr sz="2100" spc="-3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data</a:t>
            </a:r>
            <a:endParaRPr sz="2100">
              <a:latin typeface="Gill Sans MT"/>
              <a:cs typeface="Gill Sans MT"/>
            </a:endParaRPr>
          </a:p>
          <a:p>
            <a:pPr marL="498475" lvl="1" indent="-313690">
              <a:lnSpc>
                <a:spcPct val="100000"/>
              </a:lnSpc>
              <a:spcBef>
                <a:spcPts val="1970"/>
              </a:spcBef>
              <a:buSzPct val="171428"/>
              <a:buChar char="•"/>
              <a:tabLst>
                <a:tab pos="499109" algn="l"/>
              </a:tabLst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Delete</a:t>
            </a:r>
            <a:r>
              <a:rPr sz="2100" spc="-3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data</a:t>
            </a:r>
            <a:endParaRPr sz="2100">
              <a:latin typeface="Gill Sans MT"/>
              <a:cs typeface="Gill Sans MT"/>
            </a:endParaRPr>
          </a:p>
          <a:p>
            <a:pPr marL="2513965">
              <a:lnSpc>
                <a:spcPct val="100000"/>
              </a:lnSpc>
              <a:spcBef>
                <a:spcPts val="1780"/>
              </a:spcBef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  <a:hlinkClick r:id="rId2"/>
              </a:rPr>
              <a:t>http://en.wikipedia.org/wiki/SQL</a:t>
            </a:r>
            <a:endParaRPr sz="21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1038605"/>
            <a:ext cx="9601200" cy="5400040"/>
          </a:xfrm>
          <a:custGeom>
            <a:avLst/>
            <a:gdLst/>
            <a:ahLst/>
            <a:cxnLst/>
            <a:rect l="l" t="t" r="r" b="b"/>
            <a:pathLst>
              <a:path w="9601200" h="5400040">
                <a:moveTo>
                  <a:pt x="0" y="0"/>
                </a:moveTo>
                <a:lnTo>
                  <a:pt x="0" y="5399532"/>
                </a:lnTo>
                <a:lnTo>
                  <a:pt x="9601200" y="5399532"/>
                </a:lnTo>
                <a:lnTo>
                  <a:pt x="9601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901184" y="3003804"/>
            <a:ext cx="1838706" cy="8122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414259" y="4075938"/>
            <a:ext cx="1180338" cy="3421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7619" y="4388358"/>
            <a:ext cx="762762" cy="3169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14259" y="4675632"/>
            <a:ext cx="1180338" cy="3398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21764" y="3428238"/>
            <a:ext cx="471170" cy="0"/>
          </a:xfrm>
          <a:custGeom>
            <a:avLst/>
            <a:gdLst/>
            <a:ahLst/>
            <a:cxnLst/>
            <a:rect l="l" t="t" r="r" b="b"/>
            <a:pathLst>
              <a:path w="471169">
                <a:moveTo>
                  <a:pt x="470915" y="0"/>
                </a:moveTo>
                <a:lnTo>
                  <a:pt x="0" y="0"/>
                </a:lnTo>
              </a:path>
            </a:pathLst>
          </a:custGeom>
          <a:ln w="37503">
            <a:solidFill>
              <a:srgbClr val="FE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36292" y="33520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38100" y="76200"/>
                </a:lnTo>
                <a:lnTo>
                  <a:pt x="38100" y="133350"/>
                </a:lnTo>
                <a:lnTo>
                  <a:pt x="152400" y="76200"/>
                </a:lnTo>
                <a:close/>
              </a:path>
              <a:path w="152400" h="152400">
                <a:moveTo>
                  <a:pt x="38100" y="133350"/>
                </a:moveTo>
                <a:lnTo>
                  <a:pt x="38100" y="76200"/>
                </a:lnTo>
                <a:lnTo>
                  <a:pt x="0" y="152400"/>
                </a:lnTo>
                <a:lnTo>
                  <a:pt x="38100" y="133350"/>
                </a:lnTo>
                <a:close/>
              </a:path>
            </a:pathLst>
          </a:custGeom>
          <a:solidFill>
            <a:srgbClr val="FE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26514" y="33520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76200"/>
                </a:lnTo>
                <a:lnTo>
                  <a:pt x="114300" y="133350"/>
                </a:lnTo>
                <a:lnTo>
                  <a:pt x="114300" y="76199"/>
                </a:lnTo>
                <a:lnTo>
                  <a:pt x="152400" y="0"/>
                </a:lnTo>
                <a:close/>
              </a:path>
              <a:path w="152400" h="152400">
                <a:moveTo>
                  <a:pt x="152400" y="152400"/>
                </a:moveTo>
                <a:lnTo>
                  <a:pt x="114300" y="76199"/>
                </a:lnTo>
                <a:lnTo>
                  <a:pt x="114300" y="133350"/>
                </a:lnTo>
                <a:lnTo>
                  <a:pt x="152400" y="152400"/>
                </a:lnTo>
                <a:close/>
              </a:path>
            </a:pathLst>
          </a:custGeom>
          <a:solidFill>
            <a:srgbClr val="FE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19444" y="5778246"/>
            <a:ext cx="471170" cy="0"/>
          </a:xfrm>
          <a:custGeom>
            <a:avLst/>
            <a:gdLst/>
            <a:ahLst/>
            <a:cxnLst/>
            <a:rect l="l" t="t" r="r" b="b"/>
            <a:pathLst>
              <a:path w="471170">
                <a:moveTo>
                  <a:pt x="470915" y="0"/>
                </a:moveTo>
                <a:lnTo>
                  <a:pt x="0" y="0"/>
                </a:lnTo>
              </a:path>
            </a:pathLst>
          </a:custGeom>
          <a:ln w="37503">
            <a:solidFill>
              <a:srgbClr val="FE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33971" y="570204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38100" y="76200"/>
                </a:lnTo>
                <a:lnTo>
                  <a:pt x="38100" y="133350"/>
                </a:lnTo>
                <a:lnTo>
                  <a:pt x="152400" y="76200"/>
                </a:lnTo>
                <a:close/>
              </a:path>
              <a:path w="152400" h="152400">
                <a:moveTo>
                  <a:pt x="38100" y="133350"/>
                </a:moveTo>
                <a:lnTo>
                  <a:pt x="38100" y="76200"/>
                </a:lnTo>
                <a:lnTo>
                  <a:pt x="0" y="152400"/>
                </a:lnTo>
                <a:lnTo>
                  <a:pt x="38100" y="133350"/>
                </a:lnTo>
                <a:close/>
              </a:path>
            </a:pathLst>
          </a:custGeom>
          <a:solidFill>
            <a:srgbClr val="FE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24194" y="570204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76200"/>
                </a:lnTo>
                <a:lnTo>
                  <a:pt x="114300" y="133350"/>
                </a:lnTo>
                <a:lnTo>
                  <a:pt x="114300" y="76199"/>
                </a:lnTo>
                <a:lnTo>
                  <a:pt x="152400" y="0"/>
                </a:lnTo>
                <a:close/>
              </a:path>
              <a:path w="152400" h="152400">
                <a:moveTo>
                  <a:pt x="152400" y="152400"/>
                </a:moveTo>
                <a:lnTo>
                  <a:pt x="114300" y="76199"/>
                </a:lnTo>
                <a:lnTo>
                  <a:pt x="114300" y="133350"/>
                </a:lnTo>
                <a:lnTo>
                  <a:pt x="152400" y="152400"/>
                </a:lnTo>
                <a:close/>
              </a:path>
            </a:pathLst>
          </a:custGeom>
          <a:solidFill>
            <a:srgbClr val="FE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1647" y="1041653"/>
            <a:ext cx="9595485" cy="5403850"/>
          </a:xfrm>
          <a:custGeom>
            <a:avLst/>
            <a:gdLst/>
            <a:ahLst/>
            <a:cxnLst/>
            <a:rect l="l" t="t" r="r" b="b"/>
            <a:pathLst>
              <a:path w="9595485" h="5403850">
                <a:moveTo>
                  <a:pt x="0" y="0"/>
                </a:moveTo>
                <a:lnTo>
                  <a:pt x="0" y="5403342"/>
                </a:lnTo>
                <a:lnTo>
                  <a:pt x="9595104" y="5403341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543048" y="1508252"/>
            <a:ext cx="4932680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-5" dirty="0">
                <a:solidFill>
                  <a:srgbClr val="FF9200"/>
                </a:solidFill>
              </a:rPr>
              <a:t>Application</a:t>
            </a:r>
            <a:r>
              <a:rPr sz="4450" spc="5" dirty="0">
                <a:solidFill>
                  <a:srgbClr val="FF9200"/>
                </a:solidFill>
              </a:rPr>
              <a:t> </a:t>
            </a:r>
            <a:r>
              <a:rPr sz="4450" spc="-15" dirty="0">
                <a:solidFill>
                  <a:srgbClr val="FF9200"/>
                </a:solidFill>
              </a:rPr>
              <a:t>Structure</a:t>
            </a:r>
            <a:endParaRPr sz="4450"/>
          </a:p>
        </p:txBody>
      </p:sp>
      <p:sp>
        <p:nvSpPr>
          <p:cNvPr id="15" name="object 15"/>
          <p:cNvSpPr txBox="1"/>
          <p:nvPr/>
        </p:nvSpPr>
        <p:spPr>
          <a:xfrm>
            <a:off x="715518" y="2935223"/>
            <a:ext cx="1019810" cy="952500"/>
          </a:xfrm>
          <a:prstGeom prst="rect">
            <a:avLst/>
          </a:prstGeom>
          <a:solidFill>
            <a:srgbClr val="000000"/>
          </a:solidFill>
          <a:ln w="60007">
            <a:solidFill>
              <a:srgbClr val="00F9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149225" marR="138430" indent="76835">
              <a:lnSpc>
                <a:spcPts val="3010"/>
              </a:lnSpc>
              <a:spcBef>
                <a:spcPts val="620"/>
              </a:spcBef>
            </a:pPr>
            <a:r>
              <a:rPr sz="2650" dirty="0">
                <a:solidFill>
                  <a:srgbClr val="FEFFFF"/>
                </a:solidFill>
                <a:latin typeface="Gill Sans MT"/>
                <a:cs typeface="Gill Sans MT"/>
              </a:rPr>
              <a:t>End  User</a:t>
            </a:r>
            <a:endParaRPr sz="2650">
              <a:latin typeface="Gill Sans MT"/>
              <a:cs typeface="Gill Sans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83942" y="2763011"/>
            <a:ext cx="2302510" cy="1297305"/>
          </a:xfrm>
          <a:prstGeom prst="rect">
            <a:avLst/>
          </a:prstGeom>
          <a:solidFill>
            <a:srgbClr val="000000"/>
          </a:solidFill>
          <a:ln w="60007">
            <a:solidFill>
              <a:srgbClr val="FF9200"/>
            </a:solidFill>
          </a:ln>
        </p:spPr>
        <p:txBody>
          <a:bodyPr vert="horz" wrap="square" lIns="0" tIns="257810" rIns="0" bIns="0" rtlCol="0">
            <a:spAutoFit/>
          </a:bodyPr>
          <a:lstStyle/>
          <a:p>
            <a:pPr marL="516890" marR="344170" indent="-165735">
              <a:lnSpc>
                <a:spcPts val="3010"/>
              </a:lnSpc>
              <a:spcBef>
                <a:spcPts val="2030"/>
              </a:spcBef>
            </a:pPr>
            <a:r>
              <a:rPr sz="2650" spc="-5" dirty="0">
                <a:solidFill>
                  <a:srgbClr val="FEFFFF"/>
                </a:solidFill>
                <a:latin typeface="Gill Sans MT"/>
                <a:cs typeface="Gill Sans MT"/>
              </a:rPr>
              <a:t>Application  </a:t>
            </a:r>
            <a:r>
              <a:rPr sz="2650" spc="-10" dirty="0">
                <a:solidFill>
                  <a:srgbClr val="FEFFFF"/>
                </a:solidFill>
                <a:latin typeface="Gill Sans MT"/>
                <a:cs typeface="Gill Sans MT"/>
              </a:rPr>
              <a:t>Software</a:t>
            </a:r>
            <a:endParaRPr sz="2650">
              <a:latin typeface="Gill Sans MT"/>
              <a:cs typeface="Gill Sans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39815" y="3289553"/>
            <a:ext cx="370205" cy="247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10" dirty="0">
                <a:latin typeface="Gill Sans MT"/>
                <a:cs typeface="Gill Sans MT"/>
              </a:rPr>
              <a:t>SQL</a:t>
            </a:r>
            <a:endParaRPr sz="1500">
              <a:latin typeface="Gill Sans MT"/>
              <a:cs typeface="Gill Sans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51904" y="2763011"/>
            <a:ext cx="2302510" cy="1297305"/>
          </a:xfrm>
          <a:prstGeom prst="rect">
            <a:avLst/>
          </a:prstGeom>
          <a:solidFill>
            <a:srgbClr val="000000"/>
          </a:solidFill>
          <a:ln w="60007">
            <a:solidFill>
              <a:srgbClr val="FF40FF"/>
            </a:solidFill>
          </a:ln>
        </p:spPr>
        <p:txBody>
          <a:bodyPr vert="horz" wrap="square" lIns="0" tIns="257810" rIns="0" bIns="0" rtlCol="0">
            <a:spAutoFit/>
          </a:bodyPr>
          <a:lstStyle/>
          <a:p>
            <a:pPr marL="320675" marR="311785" indent="172720">
              <a:lnSpc>
                <a:spcPts val="3010"/>
              </a:lnSpc>
              <a:spcBef>
                <a:spcPts val="2030"/>
              </a:spcBef>
            </a:pPr>
            <a:r>
              <a:rPr sz="2650" spc="-5" dirty="0">
                <a:solidFill>
                  <a:srgbClr val="FEFFFF"/>
                </a:solidFill>
                <a:latin typeface="Gill Sans MT"/>
                <a:cs typeface="Gill Sans MT"/>
              </a:rPr>
              <a:t>Database  Data</a:t>
            </a:r>
            <a:r>
              <a:rPr sz="2650" spc="-9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650" dirty="0">
                <a:solidFill>
                  <a:srgbClr val="FEFFFF"/>
                </a:solidFill>
                <a:latin typeface="Gill Sans MT"/>
                <a:cs typeface="Gill Sans MT"/>
              </a:rPr>
              <a:t>Model</a:t>
            </a:r>
            <a:endParaRPr sz="2650" dirty="0">
              <a:latin typeface="Gill Sans MT"/>
              <a:cs typeface="Gill Sans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51318" y="4388357"/>
            <a:ext cx="50292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5" dirty="0">
                <a:latin typeface="Gill Sans MT"/>
                <a:cs typeface="Gill Sans MT"/>
              </a:rPr>
              <a:t>SQL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81550" y="5508497"/>
            <a:ext cx="1282065" cy="681990"/>
          </a:xfrm>
          <a:prstGeom prst="rect">
            <a:avLst/>
          </a:prstGeom>
          <a:solidFill>
            <a:srgbClr val="000000"/>
          </a:solidFill>
          <a:ln w="60007">
            <a:solidFill>
              <a:srgbClr val="00F900"/>
            </a:solidFill>
          </a:ln>
        </p:spPr>
        <p:txBody>
          <a:bodyPr vert="horz" wrap="square" lIns="0" tIns="107314" rIns="0" bIns="0" rtlCol="0">
            <a:spAutoFit/>
          </a:bodyPr>
          <a:lstStyle/>
          <a:p>
            <a:pPr marL="499745">
              <a:lnSpc>
                <a:spcPct val="100000"/>
              </a:lnSpc>
              <a:spcBef>
                <a:spcPts val="844"/>
              </a:spcBef>
            </a:pPr>
            <a:r>
              <a:rPr sz="2650" dirty="0">
                <a:solidFill>
                  <a:srgbClr val="FEFFFF"/>
                </a:solidFill>
                <a:latin typeface="Gill Sans MT"/>
                <a:cs typeface="Gill Sans MT"/>
              </a:rPr>
              <a:t>DB</a:t>
            </a:r>
            <a:endParaRPr sz="2650">
              <a:latin typeface="Gill Sans MT"/>
              <a:cs typeface="Gill Sans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51904" y="5028438"/>
            <a:ext cx="2302510" cy="1297940"/>
          </a:xfrm>
          <a:prstGeom prst="rect">
            <a:avLst/>
          </a:prstGeom>
          <a:solidFill>
            <a:srgbClr val="000000"/>
          </a:solidFill>
          <a:ln w="60007">
            <a:solidFill>
              <a:srgbClr val="FF9200"/>
            </a:solidFill>
          </a:ln>
        </p:spPr>
        <p:txBody>
          <a:bodyPr vert="horz" wrap="square" lIns="0" tIns="257175" rIns="0" bIns="0" rtlCol="0">
            <a:spAutoFit/>
          </a:bodyPr>
          <a:lstStyle/>
          <a:p>
            <a:pPr marL="756920" marR="485775" indent="-264160">
              <a:lnSpc>
                <a:spcPts val="3020"/>
              </a:lnSpc>
              <a:spcBef>
                <a:spcPts val="2025"/>
              </a:spcBef>
            </a:pPr>
            <a:r>
              <a:rPr sz="2650" spc="-5" dirty="0">
                <a:solidFill>
                  <a:srgbClr val="FEFFFF"/>
                </a:solidFill>
                <a:latin typeface="Gill Sans MT"/>
                <a:cs typeface="Gill Sans MT"/>
              </a:rPr>
              <a:t>Database  </a:t>
            </a:r>
            <a:r>
              <a:rPr sz="2650" spc="-80" dirty="0">
                <a:solidFill>
                  <a:srgbClr val="FEFFFF"/>
                </a:solidFill>
                <a:latin typeface="Gill Sans MT"/>
                <a:cs typeface="Gill Sans MT"/>
              </a:rPr>
              <a:t>Tools</a:t>
            </a:r>
            <a:endParaRPr sz="265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2480" y="1267967"/>
            <a:ext cx="5912358" cy="4293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26514" y="4301490"/>
            <a:ext cx="749935" cy="749935"/>
          </a:xfrm>
          <a:custGeom>
            <a:avLst/>
            <a:gdLst/>
            <a:ahLst/>
            <a:cxnLst/>
            <a:rect l="l" t="t" r="r" b="b"/>
            <a:pathLst>
              <a:path w="749935" h="749935">
                <a:moveTo>
                  <a:pt x="329184" y="749807"/>
                </a:moveTo>
                <a:lnTo>
                  <a:pt x="329184" y="0"/>
                </a:lnTo>
                <a:lnTo>
                  <a:pt x="0" y="374903"/>
                </a:lnTo>
                <a:lnTo>
                  <a:pt x="329184" y="749807"/>
                </a:lnTo>
                <a:close/>
              </a:path>
              <a:path w="749935" h="749935">
                <a:moveTo>
                  <a:pt x="749808" y="494537"/>
                </a:moveTo>
                <a:lnTo>
                  <a:pt x="749808" y="254507"/>
                </a:lnTo>
                <a:lnTo>
                  <a:pt x="329184" y="254507"/>
                </a:lnTo>
                <a:lnTo>
                  <a:pt x="329184" y="494537"/>
                </a:lnTo>
                <a:lnTo>
                  <a:pt x="749808" y="494537"/>
                </a:lnTo>
                <a:close/>
              </a:path>
            </a:pathLst>
          </a:custGeom>
          <a:solidFill>
            <a:srgbClr val="00F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80032" y="1761744"/>
            <a:ext cx="6378702" cy="44096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88714" y="3213354"/>
            <a:ext cx="750570" cy="750570"/>
          </a:xfrm>
          <a:custGeom>
            <a:avLst/>
            <a:gdLst/>
            <a:ahLst/>
            <a:cxnLst/>
            <a:rect l="l" t="t" r="r" b="b"/>
            <a:pathLst>
              <a:path w="750570" h="750570">
                <a:moveTo>
                  <a:pt x="329946" y="750569"/>
                </a:moveTo>
                <a:lnTo>
                  <a:pt x="329945" y="0"/>
                </a:lnTo>
                <a:lnTo>
                  <a:pt x="0" y="374903"/>
                </a:lnTo>
                <a:lnTo>
                  <a:pt x="329946" y="750569"/>
                </a:lnTo>
                <a:close/>
              </a:path>
              <a:path w="750570" h="750570">
                <a:moveTo>
                  <a:pt x="750570" y="495299"/>
                </a:moveTo>
                <a:lnTo>
                  <a:pt x="750570" y="255269"/>
                </a:lnTo>
                <a:lnTo>
                  <a:pt x="329946" y="255269"/>
                </a:lnTo>
                <a:lnTo>
                  <a:pt x="329946" y="495299"/>
                </a:lnTo>
                <a:lnTo>
                  <a:pt x="750570" y="495299"/>
                </a:lnTo>
                <a:close/>
              </a:path>
            </a:pathLst>
          </a:custGeom>
          <a:solidFill>
            <a:srgbClr val="00F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02864" y="2243327"/>
            <a:ext cx="6167628" cy="42710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38978" y="4931664"/>
            <a:ext cx="749935" cy="749935"/>
          </a:xfrm>
          <a:custGeom>
            <a:avLst/>
            <a:gdLst/>
            <a:ahLst/>
            <a:cxnLst/>
            <a:rect l="l" t="t" r="r" b="b"/>
            <a:pathLst>
              <a:path w="749935" h="749935">
                <a:moveTo>
                  <a:pt x="329946" y="749808"/>
                </a:moveTo>
                <a:lnTo>
                  <a:pt x="329945" y="0"/>
                </a:lnTo>
                <a:lnTo>
                  <a:pt x="0" y="374142"/>
                </a:lnTo>
                <a:lnTo>
                  <a:pt x="329946" y="749808"/>
                </a:lnTo>
                <a:close/>
              </a:path>
              <a:path w="749935" h="749935">
                <a:moveTo>
                  <a:pt x="749808" y="494538"/>
                </a:moveTo>
                <a:lnTo>
                  <a:pt x="749808" y="254508"/>
                </a:lnTo>
                <a:lnTo>
                  <a:pt x="329946" y="254508"/>
                </a:lnTo>
                <a:lnTo>
                  <a:pt x="329946" y="494538"/>
                </a:lnTo>
                <a:lnTo>
                  <a:pt x="749808" y="494538"/>
                </a:lnTo>
                <a:close/>
              </a:path>
            </a:pathLst>
          </a:custGeom>
          <a:solidFill>
            <a:srgbClr val="00F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1153" y="3848100"/>
            <a:ext cx="5142738" cy="23873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80079" y="1616455"/>
            <a:ext cx="3667125" cy="6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-15" dirty="0"/>
              <a:t>Creating </a:t>
            </a:r>
            <a:r>
              <a:rPr sz="4450" spc="15" dirty="0"/>
              <a:t>a</a:t>
            </a:r>
            <a:r>
              <a:rPr sz="4450" spc="-605" dirty="0"/>
              <a:t> </a:t>
            </a:r>
            <a:r>
              <a:rPr sz="4450" spc="-114" dirty="0"/>
              <a:t>Table</a:t>
            </a:r>
            <a:endParaRPr sz="4450"/>
          </a:p>
        </p:txBody>
      </p:sp>
      <p:sp>
        <p:nvSpPr>
          <p:cNvPr id="5" name="object 5"/>
          <p:cNvSpPr txBox="1"/>
          <p:nvPr/>
        </p:nvSpPr>
        <p:spPr>
          <a:xfrm>
            <a:off x="1047241" y="2509519"/>
            <a:ext cx="3743325" cy="2489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550" marR="5080" indent="-323850">
              <a:lnSpc>
                <a:spcPts val="2420"/>
              </a:lnSpc>
            </a:pPr>
            <a:r>
              <a:rPr sz="2100" b="1" spc="-5" dirty="0">
                <a:solidFill>
                  <a:srgbClr val="FEFFFF"/>
                </a:solidFill>
                <a:latin typeface="Courier New"/>
                <a:cs typeface="Courier New"/>
              </a:rPr>
              <a:t>CREATE TABLE classics </a:t>
            </a:r>
            <a:r>
              <a:rPr sz="2100" b="1" spc="10" dirty="0">
                <a:solidFill>
                  <a:srgbClr val="FEFFFF"/>
                </a:solidFill>
                <a:latin typeface="Courier New"/>
                <a:cs typeface="Courier New"/>
              </a:rPr>
              <a:t>(  </a:t>
            </a:r>
            <a:r>
              <a:rPr sz="2100" b="1" spc="-5" dirty="0">
                <a:solidFill>
                  <a:srgbClr val="FEFFFF"/>
                </a:solidFill>
                <a:latin typeface="Courier New"/>
                <a:cs typeface="Courier New"/>
              </a:rPr>
              <a:t>author </a:t>
            </a:r>
            <a:r>
              <a:rPr sz="2100" b="1" spc="10" dirty="0">
                <a:solidFill>
                  <a:srgbClr val="FEFFFF"/>
                </a:solidFill>
                <a:latin typeface="Courier New"/>
                <a:cs typeface="Courier New"/>
              </a:rPr>
              <a:t>VARCHAR(128),  </a:t>
            </a:r>
            <a:r>
              <a:rPr sz="2100" b="1" spc="-5" dirty="0">
                <a:solidFill>
                  <a:srgbClr val="FEFFFF"/>
                </a:solidFill>
                <a:latin typeface="Courier New"/>
                <a:cs typeface="Courier New"/>
              </a:rPr>
              <a:t>title </a:t>
            </a:r>
            <a:r>
              <a:rPr sz="2100" b="1" spc="10" dirty="0">
                <a:solidFill>
                  <a:srgbClr val="FEFFFF"/>
                </a:solidFill>
                <a:latin typeface="Courier New"/>
                <a:cs typeface="Courier New"/>
              </a:rPr>
              <a:t>VARCHAR(128),  </a:t>
            </a:r>
            <a:r>
              <a:rPr sz="2100" b="1" spc="-5" dirty="0">
                <a:solidFill>
                  <a:srgbClr val="FEFFFF"/>
                </a:solidFill>
                <a:latin typeface="Courier New"/>
                <a:cs typeface="Courier New"/>
              </a:rPr>
              <a:t>type</a:t>
            </a:r>
            <a:r>
              <a:rPr sz="2100" b="1" spc="-3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2100" b="1" spc="10" dirty="0">
                <a:solidFill>
                  <a:srgbClr val="FEFFFF"/>
                </a:solidFill>
                <a:latin typeface="Courier New"/>
                <a:cs typeface="Courier New"/>
              </a:rPr>
              <a:t>VARCHAR(16),</a:t>
            </a:r>
            <a:endParaRPr sz="2100">
              <a:latin typeface="Courier New"/>
              <a:cs typeface="Courier New"/>
            </a:endParaRPr>
          </a:p>
          <a:p>
            <a:pPr marL="335915">
              <a:lnSpc>
                <a:spcPts val="2305"/>
              </a:lnSpc>
            </a:pPr>
            <a:r>
              <a:rPr sz="2100" b="1" spc="-5" dirty="0">
                <a:solidFill>
                  <a:srgbClr val="FEFFFF"/>
                </a:solidFill>
                <a:latin typeface="Courier New"/>
                <a:cs typeface="Courier New"/>
              </a:rPr>
              <a:t>year</a:t>
            </a:r>
            <a:r>
              <a:rPr sz="2100" b="1" spc="-3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2100" b="1" spc="10" dirty="0">
                <a:solidFill>
                  <a:srgbClr val="FEFFFF"/>
                </a:solidFill>
                <a:latin typeface="Courier New"/>
                <a:cs typeface="Courier New"/>
              </a:rPr>
              <a:t>CHAR(4))</a:t>
            </a:r>
            <a:endParaRPr sz="2100">
              <a:latin typeface="Courier New"/>
              <a:cs typeface="Courier New"/>
            </a:endParaRPr>
          </a:p>
          <a:p>
            <a:pPr marL="12700">
              <a:lnSpc>
                <a:spcPts val="2470"/>
              </a:lnSpc>
            </a:pPr>
            <a:r>
              <a:rPr sz="2100" b="1" spc="-5" dirty="0">
                <a:solidFill>
                  <a:srgbClr val="FEFFFF"/>
                </a:solidFill>
                <a:latin typeface="Courier New"/>
                <a:cs typeface="Courier New"/>
              </a:rPr>
              <a:t>ENGINE</a:t>
            </a:r>
            <a:r>
              <a:rPr sz="2100" b="1" spc="-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2100" b="1" spc="10" dirty="0">
                <a:solidFill>
                  <a:srgbClr val="FEFFFF"/>
                </a:solidFill>
                <a:latin typeface="Courier New"/>
                <a:cs typeface="Courier New"/>
              </a:rPr>
              <a:t>MyISAM;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100" b="1" spc="-5" dirty="0">
                <a:solidFill>
                  <a:srgbClr val="FEFFFF"/>
                </a:solidFill>
                <a:latin typeface="Courier New"/>
                <a:cs typeface="Courier New"/>
              </a:rPr>
              <a:t>DESCRIBE</a:t>
            </a:r>
            <a:r>
              <a:rPr sz="21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2100" b="1" spc="10" dirty="0">
                <a:solidFill>
                  <a:srgbClr val="FEFFFF"/>
                </a:solidFill>
                <a:latin typeface="Courier New"/>
                <a:cs typeface="Courier New"/>
              </a:rPr>
              <a:t>classics;</a:t>
            </a:r>
            <a:endParaRPr sz="21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8600" y="1181100"/>
            <a:ext cx="9601200" cy="5400675"/>
          </a:xfrm>
          <a:custGeom>
            <a:avLst/>
            <a:gdLst/>
            <a:ahLst/>
            <a:cxnLst/>
            <a:rect l="l" t="t" r="r" b="b"/>
            <a:pathLst>
              <a:path w="9601200" h="5400675">
                <a:moveTo>
                  <a:pt x="0" y="0"/>
                </a:moveTo>
                <a:lnTo>
                  <a:pt x="0" y="5400294"/>
                </a:lnTo>
                <a:lnTo>
                  <a:pt x="9601200" y="5400294"/>
                </a:lnTo>
                <a:lnTo>
                  <a:pt x="9601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58745" y="5029200"/>
            <a:ext cx="6134861" cy="14089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87394" y="1616455"/>
            <a:ext cx="2477135" cy="6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-170" dirty="0"/>
              <a:t>Text</a:t>
            </a:r>
            <a:r>
              <a:rPr sz="4450" spc="-85" dirty="0"/>
              <a:t> </a:t>
            </a:r>
            <a:r>
              <a:rPr sz="4450" spc="5" dirty="0"/>
              <a:t>Fields</a:t>
            </a:r>
            <a:endParaRPr sz="4450"/>
          </a:p>
        </p:txBody>
      </p:sp>
      <p:sp>
        <p:nvSpPr>
          <p:cNvPr id="7" name="object 7"/>
          <p:cNvSpPr txBox="1"/>
          <p:nvPr/>
        </p:nvSpPr>
        <p:spPr>
          <a:xfrm>
            <a:off x="1048766" y="2747009"/>
            <a:ext cx="6276975" cy="320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buSzPct val="171428"/>
              <a:buChar char="•"/>
              <a:tabLst>
                <a:tab pos="327025" algn="l"/>
              </a:tabLst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Understand character sets and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indexable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for</a:t>
            </a:r>
            <a:r>
              <a:rPr sz="2100" spc="29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searching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8766" y="3316985"/>
            <a:ext cx="7790180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buSzPct val="171428"/>
              <a:buChar char="•"/>
              <a:tabLst>
                <a:tab pos="327025" algn="l"/>
              </a:tabLst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CHAR allocates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entire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space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(faster for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small strings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where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length</a:t>
            </a:r>
            <a:r>
              <a:rPr sz="2100" spc="51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is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3484" y="3646173"/>
            <a:ext cx="84963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kn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o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wn)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8766" y="4215384"/>
            <a:ext cx="785431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buSzPct val="171428"/>
              <a:buChar char="•"/>
              <a:tabLst>
                <a:tab pos="327025" algn="l"/>
              </a:tabLst>
            </a:pPr>
            <a:r>
              <a:rPr sz="2100" spc="-30" dirty="0">
                <a:solidFill>
                  <a:srgbClr val="FEFFFF"/>
                </a:solidFill>
                <a:latin typeface="Gill Sans MT"/>
                <a:cs typeface="Gill Sans MT"/>
              </a:rPr>
              <a:t>VARCHAR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allocates variable amount of space depending on the</a:t>
            </a:r>
            <a:r>
              <a:rPr sz="2100" spc="50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data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63472" y="4544567"/>
            <a:ext cx="2009139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length (less</a:t>
            </a:r>
            <a:r>
              <a:rPr sz="2100" spc="3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space)</a:t>
            </a:r>
            <a:endParaRPr sz="21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26107" y="4271010"/>
            <a:ext cx="6784085" cy="20025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79773" y="1488440"/>
            <a:ext cx="2477135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-170" dirty="0"/>
              <a:t>Text</a:t>
            </a:r>
            <a:r>
              <a:rPr sz="4450" spc="-85" dirty="0"/>
              <a:t> </a:t>
            </a:r>
            <a:r>
              <a:rPr sz="4450" spc="5" dirty="0"/>
              <a:t>Fields</a:t>
            </a:r>
            <a:endParaRPr sz="4450"/>
          </a:p>
        </p:txBody>
      </p:sp>
      <p:sp>
        <p:nvSpPr>
          <p:cNvPr id="5" name="object 5"/>
          <p:cNvSpPr txBox="1"/>
          <p:nvPr/>
        </p:nvSpPr>
        <p:spPr>
          <a:xfrm>
            <a:off x="1048766" y="3163061"/>
            <a:ext cx="2578100" cy="448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buSzPct val="171428"/>
              <a:buChar char="•"/>
              <a:tabLst>
                <a:tab pos="327025" algn="l"/>
              </a:tabLst>
            </a:pPr>
            <a:r>
              <a:rPr sz="2100" spc="-35" dirty="0">
                <a:solidFill>
                  <a:srgbClr val="FEFFFF"/>
                </a:solidFill>
                <a:latin typeface="Gill Sans MT"/>
                <a:cs typeface="Gill Sans MT"/>
              </a:rPr>
              <a:t>Have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a character</a:t>
            </a:r>
            <a:r>
              <a:rPr sz="2100" spc="10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set</a:t>
            </a:r>
            <a:endParaRPr sz="21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92045" y="4282440"/>
            <a:ext cx="6273546" cy="17365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949945" y="1338072"/>
            <a:ext cx="1609344" cy="13411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51813" y="1636267"/>
            <a:ext cx="6554470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20" dirty="0">
                <a:solidFill>
                  <a:srgbClr val="FF2600"/>
                </a:solidFill>
              </a:rPr>
              <a:t>Binary </a:t>
            </a:r>
            <a:r>
              <a:rPr sz="4450" spc="-5" dirty="0">
                <a:solidFill>
                  <a:srgbClr val="FF2600"/>
                </a:solidFill>
              </a:rPr>
              <a:t>Large Object</a:t>
            </a:r>
            <a:r>
              <a:rPr sz="4450" spc="114" dirty="0">
                <a:solidFill>
                  <a:srgbClr val="FF2600"/>
                </a:solidFill>
              </a:rPr>
              <a:t> </a:t>
            </a:r>
            <a:r>
              <a:rPr sz="4450" dirty="0">
                <a:solidFill>
                  <a:srgbClr val="FF2600"/>
                </a:solidFill>
              </a:rPr>
              <a:t>(BLOB)</a:t>
            </a:r>
            <a:endParaRPr sz="4450"/>
          </a:p>
        </p:txBody>
      </p:sp>
      <p:sp>
        <p:nvSpPr>
          <p:cNvPr id="6" name="object 6"/>
          <p:cNvSpPr txBox="1"/>
          <p:nvPr/>
        </p:nvSpPr>
        <p:spPr>
          <a:xfrm>
            <a:off x="1048766" y="3067050"/>
            <a:ext cx="7669530" cy="1024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buSzPct val="171428"/>
              <a:buChar char="•"/>
              <a:tabLst>
                <a:tab pos="327025" algn="l"/>
              </a:tabLst>
            </a:pP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Large</a:t>
            </a:r>
            <a:r>
              <a:rPr sz="2100" spc="5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-30" dirty="0">
                <a:solidFill>
                  <a:srgbClr val="FEFFFF"/>
                </a:solidFill>
                <a:latin typeface="Gill Sans MT"/>
                <a:cs typeface="Gill Sans MT"/>
              </a:rPr>
              <a:t>raw</a:t>
            </a:r>
            <a:r>
              <a:rPr sz="2100" spc="3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data,</a:t>
            </a:r>
            <a:r>
              <a:rPr sz="2100" spc="-18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files,</a:t>
            </a:r>
            <a:r>
              <a:rPr sz="2100" spc="-114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images,</a:t>
            </a:r>
            <a:r>
              <a:rPr sz="2100" spc="-14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-25" dirty="0">
                <a:solidFill>
                  <a:srgbClr val="FEFFFF"/>
                </a:solidFill>
                <a:latin typeface="Gill Sans MT"/>
                <a:cs typeface="Gill Sans MT"/>
              </a:rPr>
              <a:t>word</a:t>
            </a:r>
            <a:r>
              <a:rPr sz="2100" spc="4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documents,</a:t>
            </a:r>
            <a:r>
              <a:rPr sz="2100" spc="-12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-75" dirty="0">
                <a:solidFill>
                  <a:srgbClr val="FEFFFF"/>
                </a:solidFill>
                <a:latin typeface="Gill Sans MT"/>
                <a:cs typeface="Gill Sans MT"/>
              </a:rPr>
              <a:t>PDF,</a:t>
            </a:r>
            <a:r>
              <a:rPr sz="2100" spc="-17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Movies,</a:t>
            </a:r>
            <a:r>
              <a:rPr sz="2100" spc="-14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etc</a:t>
            </a:r>
            <a:r>
              <a:rPr sz="2100" spc="1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10" dirty="0">
                <a:solidFill>
                  <a:srgbClr val="FEFFFF"/>
                </a:solidFill>
                <a:latin typeface="Gill Sans MT"/>
                <a:cs typeface="Gill Sans MT"/>
              </a:rPr>
              <a:t>etc..</a:t>
            </a:r>
            <a:endParaRPr sz="2100">
              <a:latin typeface="Gill Sans MT"/>
              <a:cs typeface="Gill Sans MT"/>
            </a:endParaRPr>
          </a:p>
          <a:p>
            <a:pPr marL="326390" indent="-313690">
              <a:lnSpc>
                <a:spcPct val="100000"/>
              </a:lnSpc>
              <a:spcBef>
                <a:spcPts val="1964"/>
              </a:spcBef>
              <a:buSzPct val="171428"/>
              <a:buChar char="•"/>
              <a:tabLst>
                <a:tab pos="327025" algn="l"/>
              </a:tabLst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No translation,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indexing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or character</a:t>
            </a:r>
            <a:r>
              <a:rPr sz="2100" spc="2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set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79390" y="6136894"/>
            <a:ext cx="4319905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-5" dirty="0">
                <a:solidFill>
                  <a:srgbClr val="FEFB00"/>
                </a:solidFill>
                <a:latin typeface="Gill Sans MT"/>
                <a:cs typeface="Gill Sans MT"/>
                <a:hlinkClick r:id="rId4"/>
              </a:rPr>
              <a:t>http://www.youtube.com/watch?v=XhyRpvgm03g</a:t>
            </a:r>
            <a:endParaRPr sz="1700">
              <a:latin typeface="Gill Sans MT"/>
              <a:cs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43400" y="2514600"/>
            <a:ext cx="5346192" cy="36065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1647" y="914401"/>
            <a:ext cx="9595485" cy="5674232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99869" y="1635505"/>
            <a:ext cx="2180590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dirty="0"/>
              <a:t>Numbers</a:t>
            </a:r>
            <a:endParaRPr sz="4450"/>
          </a:p>
        </p:txBody>
      </p:sp>
      <p:sp>
        <p:nvSpPr>
          <p:cNvPr id="5" name="object 5"/>
          <p:cNvSpPr txBox="1"/>
          <p:nvPr/>
        </p:nvSpPr>
        <p:spPr>
          <a:xfrm>
            <a:off x="1048766" y="3306317"/>
            <a:ext cx="2335530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buSzPct val="171428"/>
              <a:buChar char="•"/>
              <a:tabLst>
                <a:tab pos="327025" algn="l"/>
              </a:tabLst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Numbers </a:t>
            </a:r>
            <a:r>
              <a:rPr sz="2100" spc="-20" dirty="0">
                <a:solidFill>
                  <a:srgbClr val="FEFFFF"/>
                </a:solidFill>
                <a:latin typeface="Gill Sans MT"/>
                <a:cs typeface="Gill Sans MT"/>
              </a:rPr>
              <a:t>are</a:t>
            </a:r>
            <a:r>
              <a:rPr sz="2100" spc="1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10" dirty="0">
                <a:solidFill>
                  <a:srgbClr val="FEFFFF"/>
                </a:solidFill>
                <a:latin typeface="Gill Sans MT"/>
                <a:cs typeface="Gill Sans MT"/>
              </a:rPr>
              <a:t>very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3460" y="3648303"/>
            <a:ext cx="2570480" cy="18656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ts val="2420"/>
              </a:lnSpc>
              <a:spcBef>
                <a:spcPts val="60"/>
              </a:spcBef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efficient, </a:t>
            </a:r>
            <a:r>
              <a:rPr sz="2100" spc="-20" dirty="0">
                <a:solidFill>
                  <a:srgbClr val="FEFFFF"/>
                </a:solidFill>
                <a:latin typeface="Gill Sans MT"/>
                <a:cs typeface="Gill Sans MT"/>
              </a:rPr>
              <a:t>take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little 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storage and </a:t>
            </a:r>
            <a:r>
              <a:rPr sz="2100" spc="-20" dirty="0">
                <a:solidFill>
                  <a:srgbClr val="FEFFFF"/>
                </a:solidFill>
                <a:latin typeface="Gill Sans MT"/>
                <a:cs typeface="Gill Sans MT"/>
              </a:rPr>
              <a:t>are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easy</a:t>
            </a:r>
            <a:r>
              <a:rPr sz="2100" spc="11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to</a:t>
            </a:r>
            <a:endParaRPr sz="2100" dirty="0">
              <a:latin typeface="Gill Sans MT"/>
              <a:cs typeface="Gill Sans MT"/>
            </a:endParaRPr>
          </a:p>
          <a:p>
            <a:pPr marL="12700" marR="26034">
              <a:lnSpc>
                <a:spcPts val="2420"/>
              </a:lnSpc>
              <a:spcBef>
                <a:spcPts val="5"/>
              </a:spcBef>
            </a:pP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process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because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CPU's 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can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compare</a:t>
            </a:r>
            <a:r>
              <a:rPr sz="2100" spc="4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10" dirty="0">
                <a:solidFill>
                  <a:srgbClr val="FEFFFF"/>
                </a:solidFill>
                <a:latin typeface="Gill Sans MT"/>
                <a:cs typeface="Gill Sans MT"/>
              </a:rPr>
              <a:t>them</a:t>
            </a:r>
            <a:endParaRPr sz="2100" dirty="0">
              <a:latin typeface="Gill Sans MT"/>
              <a:cs typeface="Gill Sans MT"/>
            </a:endParaRPr>
          </a:p>
          <a:p>
            <a:pPr marL="12700" marR="561340">
              <a:lnSpc>
                <a:spcPts val="2420"/>
              </a:lnSpc>
              <a:spcBef>
                <a:spcPts val="5"/>
              </a:spcBef>
            </a:pP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often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with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a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single 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instruction</a:t>
            </a:r>
            <a:endParaRPr sz="2100" dirty="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30843" y="4251959"/>
            <a:ext cx="1085850" cy="760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332FF"/>
                </a:solidFill>
                <a:latin typeface="Gill Sans MT"/>
                <a:cs typeface="Gill Sans MT"/>
              </a:rPr>
              <a:t>32</a:t>
            </a:r>
            <a:r>
              <a:rPr sz="1800" spc="-70" dirty="0">
                <a:solidFill>
                  <a:srgbClr val="0332FF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0332FF"/>
                </a:solidFill>
                <a:latin typeface="Gill Sans MT"/>
                <a:cs typeface="Gill Sans MT"/>
              </a:rPr>
              <a:t>bit</a:t>
            </a:r>
            <a:endParaRPr sz="1800">
              <a:latin typeface="Gill Sans MT"/>
              <a:cs typeface="Gill Sans MT"/>
            </a:endParaRPr>
          </a:p>
          <a:p>
            <a:pPr marL="535305">
              <a:lnSpc>
                <a:spcPct val="100000"/>
              </a:lnSpc>
              <a:spcBef>
                <a:spcPts val="1505"/>
              </a:spcBef>
            </a:pPr>
            <a:r>
              <a:rPr sz="1800" dirty="0">
                <a:solidFill>
                  <a:srgbClr val="0332FF"/>
                </a:solidFill>
                <a:latin typeface="Gill Sans MT"/>
                <a:cs typeface="Gill Sans MT"/>
              </a:rPr>
              <a:t>64</a:t>
            </a:r>
            <a:r>
              <a:rPr sz="1800" spc="-70" dirty="0">
                <a:solidFill>
                  <a:srgbClr val="0332FF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0332FF"/>
                </a:solidFill>
                <a:latin typeface="Gill Sans MT"/>
                <a:cs typeface="Gill Sans MT"/>
              </a:rPr>
              <a:t>bit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88308" y="3954017"/>
            <a:ext cx="5716523" cy="25100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66464" y="1636267"/>
            <a:ext cx="1367155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-5" dirty="0"/>
              <a:t>Dates</a:t>
            </a:r>
            <a:endParaRPr sz="4450"/>
          </a:p>
        </p:txBody>
      </p:sp>
      <p:sp>
        <p:nvSpPr>
          <p:cNvPr id="5" name="object 5"/>
          <p:cNvSpPr txBox="1"/>
          <p:nvPr/>
        </p:nvSpPr>
        <p:spPr>
          <a:xfrm>
            <a:off x="1048766" y="3108959"/>
            <a:ext cx="6871970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buSzPct val="171428"/>
              <a:buChar char="•"/>
              <a:tabLst>
                <a:tab pos="327025" algn="l"/>
              </a:tabLst>
            </a:pPr>
            <a:r>
              <a:rPr sz="2100" spc="-25" dirty="0">
                <a:solidFill>
                  <a:srgbClr val="FEFFFF"/>
                </a:solidFill>
                <a:latin typeface="Gill Sans MT"/>
                <a:cs typeface="Gill Sans MT"/>
              </a:rPr>
              <a:t>TIMESTAMP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is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very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efficient but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only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can handle dates</a:t>
            </a:r>
            <a:r>
              <a:rPr sz="2100" spc="50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from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3464" y="3422134"/>
            <a:ext cx="2111375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1970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through</a:t>
            </a:r>
            <a:r>
              <a:rPr sz="2100" spc="2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10" dirty="0">
                <a:solidFill>
                  <a:srgbClr val="FEFFFF"/>
                </a:solidFill>
                <a:latin typeface="Gill Sans MT"/>
                <a:cs typeface="Gill Sans MT"/>
              </a:rPr>
              <a:t>2037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63381" y="5241797"/>
            <a:ext cx="56324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332FF"/>
                </a:solidFill>
                <a:latin typeface="Gill Sans MT"/>
                <a:cs typeface="Gill Sans MT"/>
              </a:rPr>
              <a:t>32</a:t>
            </a:r>
            <a:r>
              <a:rPr sz="1800" spc="-70" dirty="0">
                <a:solidFill>
                  <a:srgbClr val="0332FF"/>
                </a:solidFill>
                <a:latin typeface="Gill Sans MT"/>
                <a:cs typeface="Gill Sans MT"/>
              </a:rPr>
              <a:t> </a:t>
            </a:r>
            <a:r>
              <a:rPr sz="1800" spc="-5" dirty="0">
                <a:solidFill>
                  <a:srgbClr val="0332FF"/>
                </a:solidFill>
                <a:latin typeface="Gill Sans MT"/>
                <a:cs typeface="Gill Sans MT"/>
              </a:rPr>
              <a:t>bit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1044" y="1635505"/>
            <a:ext cx="4992370" cy="6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-30" dirty="0"/>
              <a:t>AUTO_INCREMENT</a:t>
            </a:r>
            <a:endParaRPr sz="4450"/>
          </a:p>
        </p:txBody>
      </p:sp>
      <p:sp>
        <p:nvSpPr>
          <p:cNvPr id="3" name="object 3"/>
          <p:cNvSpPr txBox="1"/>
          <p:nvPr/>
        </p:nvSpPr>
        <p:spPr>
          <a:xfrm>
            <a:off x="1048766" y="3156203"/>
            <a:ext cx="3260090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buSzPct val="171428"/>
              <a:buChar char="•"/>
              <a:tabLst>
                <a:tab pos="327025" algn="l"/>
              </a:tabLst>
            </a:pP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Often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as </a:t>
            </a:r>
            <a:r>
              <a:rPr sz="2100" spc="-25" dirty="0">
                <a:solidFill>
                  <a:srgbClr val="FEFFFF"/>
                </a:solidFill>
                <a:latin typeface="Gill Sans MT"/>
                <a:cs typeface="Gill Sans MT"/>
              </a:rPr>
              <a:t>we </a:t>
            </a:r>
            <a:r>
              <a:rPr sz="2100" spc="-20" dirty="0">
                <a:solidFill>
                  <a:srgbClr val="FEFFFF"/>
                </a:solidFill>
                <a:latin typeface="Gill Sans MT"/>
                <a:cs typeface="Gill Sans MT"/>
              </a:rPr>
              <a:t>make</a:t>
            </a:r>
            <a:r>
              <a:rPr sz="2100" spc="12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multiple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3472" y="3497869"/>
            <a:ext cx="3448050" cy="155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6100"/>
              </a:lnSpc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tables and need to JOIN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them 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together </a:t>
            </a:r>
            <a:r>
              <a:rPr sz="2100" spc="-25" dirty="0">
                <a:solidFill>
                  <a:srgbClr val="FEFFFF"/>
                </a:solidFill>
                <a:latin typeface="Gill Sans MT"/>
                <a:cs typeface="Gill Sans MT"/>
              </a:rPr>
              <a:t>we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need an </a:t>
            </a:r>
            <a:r>
              <a:rPr sz="2100" spc="-25" dirty="0">
                <a:solidFill>
                  <a:srgbClr val="FEFFFF"/>
                </a:solidFill>
                <a:latin typeface="Gill Sans MT"/>
                <a:cs typeface="Gill Sans MT"/>
              </a:rPr>
              <a:t>integer, 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primary </a:t>
            </a:r>
            <a:r>
              <a:rPr sz="2100" spc="-35" dirty="0">
                <a:solidFill>
                  <a:srgbClr val="FEFFFF"/>
                </a:solidFill>
                <a:latin typeface="Gill Sans MT"/>
                <a:cs typeface="Gill Sans MT"/>
              </a:rPr>
              <a:t>key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for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each </a:t>
            </a:r>
            <a:r>
              <a:rPr sz="2100" spc="-30" dirty="0">
                <a:solidFill>
                  <a:srgbClr val="FEFFFF"/>
                </a:solidFill>
                <a:latin typeface="Gill Sans MT"/>
                <a:cs typeface="Gill Sans MT"/>
              </a:rPr>
              <a:t>row </a:t>
            </a:r>
            <a:r>
              <a:rPr sz="2100" spc="10" dirty="0">
                <a:solidFill>
                  <a:srgbClr val="FEFFFF"/>
                </a:solidFill>
                <a:latin typeface="Gill Sans MT"/>
                <a:cs typeface="Gill Sans MT"/>
              </a:rPr>
              <a:t>so  </a:t>
            </a:r>
            <a:r>
              <a:rPr sz="2100" spc="-25" dirty="0">
                <a:solidFill>
                  <a:srgbClr val="FEFFFF"/>
                </a:solidFill>
                <a:latin typeface="Gill Sans MT"/>
                <a:cs typeface="Gill Sans MT"/>
              </a:rPr>
              <a:t>we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can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efficiently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add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a  </a:t>
            </a:r>
            <a:r>
              <a:rPr sz="2100" spc="-15" dirty="0">
                <a:solidFill>
                  <a:srgbClr val="FEFFFF"/>
                </a:solidFill>
                <a:latin typeface="Gill Sans MT"/>
                <a:cs typeface="Gill Sans MT"/>
              </a:rPr>
              <a:t>reference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to a </a:t>
            </a:r>
            <a:r>
              <a:rPr sz="2100" spc="-25" dirty="0">
                <a:solidFill>
                  <a:srgbClr val="FEFFFF"/>
                </a:solidFill>
                <a:latin typeface="Gill Sans MT"/>
                <a:cs typeface="Gill Sans MT"/>
              </a:rPr>
              <a:t>row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in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a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table,</a:t>
            </a:r>
            <a:r>
              <a:rPr sz="2100" spc="2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in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3469" y="5043170"/>
            <a:ext cx="3212465" cy="628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420"/>
              </a:lnSpc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some other table as a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foreign  </a:t>
            </a:r>
            <a:r>
              <a:rPr sz="2100" spc="-25" dirty="0">
                <a:solidFill>
                  <a:srgbClr val="FEFFFF"/>
                </a:solidFill>
                <a:latin typeface="Gill Sans MT"/>
                <a:cs typeface="Gill Sans MT"/>
              </a:rPr>
              <a:t>key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79564" y="2598408"/>
            <a:ext cx="4229735" cy="3739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b="1" spc="-5" dirty="0">
                <a:solidFill>
                  <a:srgbClr val="FEFFFF"/>
                </a:solidFill>
                <a:latin typeface="Courier New"/>
                <a:cs typeface="Courier New"/>
              </a:rPr>
              <a:t>DROP TABLE</a:t>
            </a:r>
            <a:r>
              <a:rPr sz="2100" b="1" spc="5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2100" b="1" spc="10" dirty="0">
                <a:solidFill>
                  <a:srgbClr val="FEFFFF"/>
                </a:solidFill>
                <a:latin typeface="Courier New"/>
                <a:cs typeface="Courier New"/>
              </a:rPr>
              <a:t>classics;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470"/>
              </a:lnSpc>
            </a:pPr>
            <a:r>
              <a:rPr sz="2100" b="1" spc="-5" dirty="0">
                <a:solidFill>
                  <a:srgbClr val="FEFFFF"/>
                </a:solidFill>
                <a:latin typeface="Courier New"/>
                <a:cs typeface="Courier New"/>
              </a:rPr>
              <a:t>CREATE TABLE classics</a:t>
            </a:r>
            <a:r>
              <a:rPr sz="2100" b="1" spc="18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2100" b="1" spc="10" dirty="0">
                <a:solidFill>
                  <a:srgbClr val="FEFFFF"/>
                </a:solidFill>
                <a:latin typeface="Courier New"/>
                <a:cs typeface="Courier New"/>
              </a:rPr>
              <a:t>(</a:t>
            </a:r>
            <a:endParaRPr sz="2100">
              <a:latin typeface="Courier New"/>
              <a:cs typeface="Courier New"/>
            </a:endParaRPr>
          </a:p>
          <a:p>
            <a:pPr marL="822325" marR="5080" indent="-486409">
              <a:lnSpc>
                <a:spcPts val="2420"/>
              </a:lnSpc>
              <a:spcBef>
                <a:spcPts val="110"/>
              </a:spcBef>
            </a:pPr>
            <a:r>
              <a:rPr sz="2100" b="1" spc="-5" dirty="0">
                <a:solidFill>
                  <a:srgbClr val="FEFB00"/>
                </a:solidFill>
                <a:latin typeface="Courier New"/>
                <a:cs typeface="Courier New"/>
              </a:rPr>
              <a:t>id INT UNSIGNED NOT </a:t>
            </a:r>
            <a:r>
              <a:rPr sz="2100" b="1" spc="10" dirty="0">
                <a:solidFill>
                  <a:srgbClr val="FEFB00"/>
                </a:solidFill>
                <a:latin typeface="Courier New"/>
                <a:cs typeface="Courier New"/>
              </a:rPr>
              <a:t>NULL  </a:t>
            </a:r>
            <a:r>
              <a:rPr sz="2100" b="1" spc="-5" dirty="0">
                <a:solidFill>
                  <a:srgbClr val="FEFB00"/>
                </a:solidFill>
                <a:latin typeface="Courier New"/>
                <a:cs typeface="Courier New"/>
              </a:rPr>
              <a:t>AUTO_INCREMENT</a:t>
            </a:r>
            <a:r>
              <a:rPr sz="2100" b="1" spc="85" dirty="0">
                <a:solidFill>
                  <a:srgbClr val="FEFB00"/>
                </a:solidFill>
                <a:latin typeface="Courier New"/>
                <a:cs typeface="Courier New"/>
              </a:rPr>
              <a:t> </a:t>
            </a:r>
            <a:r>
              <a:rPr sz="2100" b="1" spc="10" dirty="0">
                <a:solidFill>
                  <a:srgbClr val="FEFB00"/>
                </a:solidFill>
                <a:latin typeface="Courier New"/>
                <a:cs typeface="Courier New"/>
              </a:rPr>
              <a:t>KEY,</a:t>
            </a:r>
            <a:endParaRPr sz="2100">
              <a:latin typeface="Courier New"/>
              <a:cs typeface="Courier New"/>
            </a:endParaRPr>
          </a:p>
          <a:p>
            <a:pPr marL="336550">
              <a:lnSpc>
                <a:spcPts val="2305"/>
              </a:lnSpc>
            </a:pPr>
            <a:r>
              <a:rPr sz="2100" b="1" spc="-5" dirty="0">
                <a:solidFill>
                  <a:srgbClr val="FEFFFF"/>
                </a:solidFill>
                <a:latin typeface="Courier New"/>
                <a:cs typeface="Courier New"/>
              </a:rPr>
              <a:t>author </a:t>
            </a:r>
            <a:r>
              <a:rPr sz="2100" b="1" spc="10" dirty="0">
                <a:solidFill>
                  <a:srgbClr val="FEFFFF"/>
                </a:solidFill>
                <a:latin typeface="Courier New"/>
                <a:cs typeface="Courier New"/>
              </a:rPr>
              <a:t>VARCHAR(128),</a:t>
            </a:r>
            <a:endParaRPr sz="2100">
              <a:latin typeface="Courier New"/>
              <a:cs typeface="Courier New"/>
            </a:endParaRPr>
          </a:p>
          <a:p>
            <a:pPr marL="336550" marR="814069">
              <a:lnSpc>
                <a:spcPts val="2420"/>
              </a:lnSpc>
              <a:spcBef>
                <a:spcPts val="110"/>
              </a:spcBef>
            </a:pPr>
            <a:r>
              <a:rPr sz="2100" b="1" spc="-5" dirty="0">
                <a:solidFill>
                  <a:srgbClr val="FEFFFF"/>
                </a:solidFill>
                <a:latin typeface="Courier New"/>
                <a:cs typeface="Courier New"/>
              </a:rPr>
              <a:t>title </a:t>
            </a:r>
            <a:r>
              <a:rPr sz="2100" b="1" spc="10" dirty="0">
                <a:solidFill>
                  <a:srgbClr val="FEFFFF"/>
                </a:solidFill>
                <a:latin typeface="Courier New"/>
                <a:cs typeface="Courier New"/>
              </a:rPr>
              <a:t>VARCHAR(128),  </a:t>
            </a:r>
            <a:r>
              <a:rPr sz="2100" b="1" spc="-5" dirty="0">
                <a:solidFill>
                  <a:srgbClr val="FEFFFF"/>
                </a:solidFill>
                <a:latin typeface="Courier New"/>
                <a:cs typeface="Courier New"/>
              </a:rPr>
              <a:t>type</a:t>
            </a:r>
            <a:r>
              <a:rPr sz="2100" b="1" spc="-3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2100" b="1" spc="10" dirty="0">
                <a:solidFill>
                  <a:srgbClr val="FEFFFF"/>
                </a:solidFill>
                <a:latin typeface="Courier New"/>
                <a:cs typeface="Courier New"/>
              </a:rPr>
              <a:t>VARCHAR(16),</a:t>
            </a:r>
            <a:endParaRPr sz="2100">
              <a:latin typeface="Courier New"/>
              <a:cs typeface="Courier New"/>
            </a:endParaRPr>
          </a:p>
          <a:p>
            <a:pPr marL="336550">
              <a:lnSpc>
                <a:spcPts val="2305"/>
              </a:lnSpc>
            </a:pPr>
            <a:r>
              <a:rPr sz="2100" b="1" spc="-5" dirty="0">
                <a:solidFill>
                  <a:srgbClr val="FEFFFF"/>
                </a:solidFill>
                <a:latin typeface="Courier New"/>
                <a:cs typeface="Courier New"/>
              </a:rPr>
              <a:t>year</a:t>
            </a:r>
            <a:r>
              <a:rPr sz="2100" b="1" spc="-3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2100" b="1" spc="10" dirty="0">
                <a:solidFill>
                  <a:srgbClr val="FEFFFF"/>
                </a:solidFill>
                <a:latin typeface="Courier New"/>
                <a:cs typeface="Courier New"/>
              </a:rPr>
              <a:t>CHAR(4))</a:t>
            </a:r>
            <a:endParaRPr sz="2100">
              <a:latin typeface="Courier New"/>
              <a:cs typeface="Courier New"/>
            </a:endParaRPr>
          </a:p>
          <a:p>
            <a:pPr marL="12700">
              <a:lnSpc>
                <a:spcPts val="2470"/>
              </a:lnSpc>
            </a:pPr>
            <a:r>
              <a:rPr sz="2100" b="1" spc="-5" dirty="0">
                <a:solidFill>
                  <a:srgbClr val="FEFFFF"/>
                </a:solidFill>
                <a:latin typeface="Courier New"/>
                <a:cs typeface="Courier New"/>
              </a:rPr>
              <a:t>ENGINE</a:t>
            </a:r>
            <a:r>
              <a:rPr sz="2100" b="1" spc="-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2100" b="1" spc="10" dirty="0">
                <a:solidFill>
                  <a:srgbClr val="FEFFFF"/>
                </a:solidFill>
                <a:latin typeface="Courier New"/>
                <a:cs typeface="Courier New"/>
              </a:rPr>
              <a:t>MyISAM;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100" b="1" spc="-5" dirty="0">
                <a:solidFill>
                  <a:srgbClr val="FEFFFF"/>
                </a:solidFill>
                <a:latin typeface="Courier New"/>
                <a:cs typeface="Courier New"/>
              </a:rPr>
              <a:t>DESCRIBE</a:t>
            </a:r>
            <a:r>
              <a:rPr sz="21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2100" b="1" spc="10" dirty="0">
                <a:solidFill>
                  <a:srgbClr val="FEFFFF"/>
                </a:solidFill>
                <a:latin typeface="Courier New"/>
                <a:cs typeface="Courier New"/>
              </a:rPr>
              <a:t>classics;</a:t>
            </a:r>
            <a:endParaRPr sz="2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4638" y="1636267"/>
            <a:ext cx="2381250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dirty="0"/>
              <a:t>Inse</a:t>
            </a:r>
            <a:r>
              <a:rPr sz="4450" spc="90" dirty="0"/>
              <a:t>r</a:t>
            </a:r>
            <a:r>
              <a:rPr sz="4450" spc="-5" dirty="0"/>
              <a:t>ting...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769112" y="3102102"/>
            <a:ext cx="3253740" cy="260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-5" dirty="0">
                <a:solidFill>
                  <a:srgbClr val="FEFFFF"/>
                </a:solidFill>
                <a:latin typeface="Courier New"/>
                <a:cs typeface="Courier New"/>
              </a:rPr>
              <a:t>INSERT INTO</a:t>
            </a:r>
            <a:r>
              <a:rPr sz="1500" b="1" spc="204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500" b="1" spc="-10" dirty="0">
                <a:solidFill>
                  <a:srgbClr val="FEFFFF"/>
                </a:solidFill>
                <a:latin typeface="Courier New"/>
                <a:cs typeface="Courier New"/>
              </a:rPr>
              <a:t>classics(author,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51077" y="3102102"/>
            <a:ext cx="2125345" cy="260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-5" dirty="0">
                <a:solidFill>
                  <a:srgbClr val="FEFFFF"/>
                </a:solidFill>
                <a:latin typeface="Courier New"/>
                <a:cs typeface="Courier New"/>
              </a:rPr>
              <a:t>title, type,</a:t>
            </a:r>
            <a:r>
              <a:rPr sz="1500" b="1" spc="14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500" b="1" spc="15" dirty="0">
                <a:solidFill>
                  <a:srgbClr val="FEFFFF"/>
                </a:solidFill>
                <a:latin typeface="Courier New"/>
                <a:cs typeface="Courier New"/>
              </a:rPr>
              <a:t>year)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9112" y="3326891"/>
            <a:ext cx="8538210" cy="205930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121285" indent="351155">
              <a:lnSpc>
                <a:spcPts val="1770"/>
              </a:lnSpc>
              <a:spcBef>
                <a:spcPts val="80"/>
              </a:spcBef>
            </a:pPr>
            <a:r>
              <a:rPr sz="1500" b="1" spc="-5" dirty="0">
                <a:solidFill>
                  <a:srgbClr val="FEFFFF"/>
                </a:solidFill>
                <a:latin typeface="Courier New"/>
                <a:cs typeface="Courier New"/>
              </a:rPr>
              <a:t>VALUES('Mark Twain','The Adventures of Tom </a:t>
            </a:r>
            <a:r>
              <a:rPr sz="1500" b="1" spc="10" dirty="0">
                <a:solidFill>
                  <a:srgbClr val="FEFFFF"/>
                </a:solidFill>
                <a:latin typeface="Courier New"/>
                <a:cs typeface="Courier New"/>
              </a:rPr>
              <a:t>Sawyer','Fiction','1876');  </a:t>
            </a:r>
            <a:r>
              <a:rPr sz="1500" b="1" spc="-5" dirty="0">
                <a:solidFill>
                  <a:srgbClr val="FEFFFF"/>
                </a:solidFill>
                <a:latin typeface="Courier New"/>
                <a:cs typeface="Courier New"/>
              </a:rPr>
              <a:t>INSERT INTO classics(author, title, type,</a:t>
            </a:r>
            <a:r>
              <a:rPr sz="1500" b="1" spc="69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500" b="1" spc="15" dirty="0">
                <a:solidFill>
                  <a:srgbClr val="FEFFFF"/>
                </a:solidFill>
                <a:latin typeface="Courier New"/>
                <a:cs typeface="Courier New"/>
              </a:rPr>
              <a:t>year)</a:t>
            </a:r>
            <a:endParaRPr sz="1500">
              <a:latin typeface="Courier New"/>
              <a:cs typeface="Courier New"/>
            </a:endParaRPr>
          </a:p>
          <a:p>
            <a:pPr marL="12700" marR="1054735" indent="351155">
              <a:lnSpc>
                <a:spcPts val="1770"/>
              </a:lnSpc>
            </a:pPr>
            <a:r>
              <a:rPr sz="1500" b="1" spc="-5" dirty="0">
                <a:solidFill>
                  <a:srgbClr val="FEFFFF"/>
                </a:solidFill>
                <a:latin typeface="Courier New"/>
                <a:cs typeface="Courier New"/>
              </a:rPr>
              <a:t>VALUES('Jane Austen','Pride and </a:t>
            </a:r>
            <a:r>
              <a:rPr sz="1500" b="1" spc="10" dirty="0">
                <a:solidFill>
                  <a:srgbClr val="FEFFFF"/>
                </a:solidFill>
                <a:latin typeface="Courier New"/>
                <a:cs typeface="Courier New"/>
              </a:rPr>
              <a:t>Prejudice','Fiction','1811');  </a:t>
            </a:r>
            <a:r>
              <a:rPr sz="1500" b="1" spc="-5" dirty="0">
                <a:solidFill>
                  <a:srgbClr val="FEFFFF"/>
                </a:solidFill>
                <a:latin typeface="Courier New"/>
                <a:cs typeface="Courier New"/>
              </a:rPr>
              <a:t>INSERT INTO classics(author, title, type,</a:t>
            </a:r>
            <a:r>
              <a:rPr sz="1500" b="1" spc="69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500" b="1" spc="15" dirty="0">
                <a:solidFill>
                  <a:srgbClr val="FEFFFF"/>
                </a:solidFill>
                <a:latin typeface="Courier New"/>
                <a:cs typeface="Courier New"/>
              </a:rPr>
              <a:t>year)</a:t>
            </a:r>
            <a:endParaRPr sz="1500">
              <a:latin typeface="Courier New"/>
              <a:cs typeface="Courier New"/>
            </a:endParaRPr>
          </a:p>
          <a:p>
            <a:pPr marL="12700" marR="5080" indent="351155">
              <a:lnSpc>
                <a:spcPts val="1770"/>
              </a:lnSpc>
            </a:pPr>
            <a:r>
              <a:rPr sz="1500" b="1" spc="-5" dirty="0">
                <a:solidFill>
                  <a:srgbClr val="FEFFFF"/>
                </a:solidFill>
                <a:latin typeface="Courier New"/>
                <a:cs typeface="Courier New"/>
              </a:rPr>
              <a:t>VALUES('Charles Darwin','The Origin of </a:t>
            </a:r>
            <a:r>
              <a:rPr sz="1500" b="1" spc="15" dirty="0">
                <a:solidFill>
                  <a:srgbClr val="FEFFFF"/>
                </a:solidFill>
                <a:latin typeface="Courier New"/>
                <a:cs typeface="Courier New"/>
              </a:rPr>
              <a:t>Species','Non-Fiction','1856');  </a:t>
            </a:r>
            <a:r>
              <a:rPr sz="1500" b="1" spc="-5" dirty="0">
                <a:solidFill>
                  <a:srgbClr val="FEFFFF"/>
                </a:solidFill>
                <a:latin typeface="Courier New"/>
                <a:cs typeface="Courier New"/>
              </a:rPr>
              <a:t>INSERT INTO classics(author, title, type,</a:t>
            </a:r>
            <a:r>
              <a:rPr sz="1500" b="1" spc="69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500" b="1" spc="15" dirty="0">
                <a:solidFill>
                  <a:srgbClr val="FEFFFF"/>
                </a:solidFill>
                <a:latin typeface="Courier New"/>
                <a:cs typeface="Courier New"/>
              </a:rPr>
              <a:t>year)</a:t>
            </a:r>
            <a:endParaRPr sz="1500">
              <a:latin typeface="Courier New"/>
              <a:cs typeface="Courier New"/>
            </a:endParaRPr>
          </a:p>
          <a:p>
            <a:pPr marL="12700" marR="236854" indent="351155">
              <a:lnSpc>
                <a:spcPts val="1770"/>
              </a:lnSpc>
            </a:pPr>
            <a:r>
              <a:rPr sz="1500" b="1" spc="-5" dirty="0">
                <a:solidFill>
                  <a:srgbClr val="FEFFFF"/>
                </a:solidFill>
                <a:latin typeface="Courier New"/>
                <a:cs typeface="Courier New"/>
              </a:rPr>
              <a:t>VALUES('Charles Dickens','The Old Curiosity </a:t>
            </a:r>
            <a:r>
              <a:rPr sz="1500" b="1" spc="15" dirty="0">
                <a:solidFill>
                  <a:srgbClr val="FEFFFF"/>
                </a:solidFill>
                <a:latin typeface="Courier New"/>
                <a:cs typeface="Courier New"/>
              </a:rPr>
              <a:t>Shop','Fiction','1841');  </a:t>
            </a:r>
            <a:r>
              <a:rPr sz="1500" b="1" spc="-5" dirty="0">
                <a:solidFill>
                  <a:srgbClr val="FEFFFF"/>
                </a:solidFill>
                <a:latin typeface="Courier New"/>
                <a:cs typeface="Courier New"/>
              </a:rPr>
              <a:t>INSERT INTO classics(author, title, type,</a:t>
            </a:r>
            <a:r>
              <a:rPr sz="1500" b="1" spc="69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500" b="1" spc="15" dirty="0">
                <a:solidFill>
                  <a:srgbClr val="FEFFFF"/>
                </a:solidFill>
                <a:latin typeface="Courier New"/>
                <a:cs typeface="Courier New"/>
              </a:rPr>
              <a:t>year)</a:t>
            </a:r>
            <a:endParaRPr sz="1500">
              <a:latin typeface="Courier New"/>
              <a:cs typeface="Courier New"/>
            </a:endParaRPr>
          </a:p>
          <a:p>
            <a:pPr marL="363855">
              <a:lnSpc>
                <a:spcPts val="1714"/>
              </a:lnSpc>
            </a:pPr>
            <a:r>
              <a:rPr sz="1500" b="1" spc="-5" dirty="0">
                <a:solidFill>
                  <a:srgbClr val="FEFFFF"/>
                </a:solidFill>
                <a:latin typeface="Courier New"/>
                <a:cs typeface="Courier New"/>
              </a:rPr>
              <a:t>VALUES('William Shakespeare','Romeo and</a:t>
            </a:r>
            <a:r>
              <a:rPr sz="1500" b="1" spc="68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500" b="1" spc="10" dirty="0">
                <a:solidFill>
                  <a:srgbClr val="FEFFFF"/>
                </a:solidFill>
                <a:latin typeface="Courier New"/>
                <a:cs typeface="Courier New"/>
              </a:rPr>
              <a:t>Juliet','Play','1594');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78834" y="1636267"/>
            <a:ext cx="2292985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5" dirty="0"/>
              <a:t>Inserted...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731768" y="3118605"/>
            <a:ext cx="8660765" cy="849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 </a:t>
            </a:r>
            <a:r>
              <a:rPr sz="1400" b="1" spc="-5" dirty="0">
                <a:solidFill>
                  <a:srgbClr val="FEFB00"/>
                </a:solidFill>
                <a:latin typeface="Courier New"/>
                <a:cs typeface="Courier New"/>
              </a:rPr>
              <a:t>select * from</a:t>
            </a:r>
            <a:r>
              <a:rPr sz="1400" b="1" spc="155" dirty="0">
                <a:solidFill>
                  <a:srgbClr val="FEFB00"/>
                </a:solidFill>
                <a:latin typeface="Courier New"/>
                <a:cs typeface="Courier New"/>
              </a:rPr>
              <a:t> </a:t>
            </a:r>
            <a:r>
              <a:rPr sz="1400" b="1" spc="5" dirty="0">
                <a:solidFill>
                  <a:srgbClr val="FEFB00"/>
                </a:solidFill>
                <a:latin typeface="Courier New"/>
                <a:cs typeface="Courier New"/>
              </a:rPr>
              <a:t>classics;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0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+----+---------------------+------------------------------+-------------+------+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0"/>
              </a:lnSpc>
              <a:tabLst>
                <a:tab pos="2926080" algn="l"/>
                <a:tab pos="6272530" algn="l"/>
                <a:tab pos="7783830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 id</a:t>
            </a:r>
            <a:r>
              <a:rPr sz="1400" b="1" spc="6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3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author	|</a:t>
            </a:r>
            <a:r>
              <a:rPr sz="1400" b="1" spc="2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title	|</a:t>
            </a:r>
            <a:r>
              <a:rPr sz="1400" b="1" spc="2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type	| year</a:t>
            </a:r>
            <a:r>
              <a:rPr sz="1400" b="1" spc="-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+----+---------------------+------------------------------+-------------+------+</a:t>
            </a:r>
            <a:endParaRPr sz="140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12716" y="3956314"/>
          <a:ext cx="8693897" cy="10096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925"/>
                <a:gridCol w="269719"/>
                <a:gridCol w="216002"/>
                <a:gridCol w="2150571"/>
                <a:gridCol w="222137"/>
                <a:gridCol w="3124470"/>
                <a:gridCol w="219316"/>
                <a:gridCol w="1287543"/>
                <a:gridCol w="221987"/>
                <a:gridCol w="735227"/>
              </a:tblGrid>
              <a:tr h="201913">
                <a:tc>
                  <a:txBody>
                    <a:bodyPr/>
                    <a:lstStyle/>
                    <a:p>
                      <a:pPr marL="31750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445"/>
                        </a:lnSpc>
                      </a:pP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Mark</a:t>
                      </a:r>
                      <a:r>
                        <a:rPr sz="1400" b="1" spc="-2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Twain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1445"/>
                        </a:lnSpc>
                      </a:pP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The Adventures of Tom</a:t>
                      </a:r>
                      <a:r>
                        <a:rPr sz="1400" b="1" spc="190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Sawyer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45"/>
                        </a:lnSpc>
                      </a:pP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Fiction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ts val="1445"/>
                        </a:lnSpc>
                      </a:pP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1876</a:t>
                      </a:r>
                      <a:r>
                        <a:rPr sz="1400" b="1" spc="-40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  <a:tr h="202310">
                <a:tc>
                  <a:txBody>
                    <a:bodyPr/>
                    <a:lstStyle/>
                    <a:p>
                      <a:pPr marL="31750">
                        <a:lnSpc>
                          <a:spcPts val="1450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ts val="1450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50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450"/>
                        </a:lnSpc>
                      </a:pP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Jane</a:t>
                      </a:r>
                      <a:r>
                        <a:rPr sz="1400" b="1" spc="-20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Austen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450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1450"/>
                        </a:lnSpc>
                      </a:pP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Pride and</a:t>
                      </a:r>
                      <a:r>
                        <a:rPr sz="1400" b="1" spc="5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Prejudice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450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1450"/>
                        </a:lnSpc>
                      </a:pP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Fiction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450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450"/>
                        </a:lnSpc>
                      </a:pP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1811</a:t>
                      </a:r>
                      <a:r>
                        <a:rPr sz="1400" b="1" spc="-40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  <a:tr h="201929">
                <a:tc>
                  <a:txBody>
                    <a:bodyPr/>
                    <a:lstStyle/>
                    <a:p>
                      <a:pPr marL="31750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445"/>
                        </a:lnSpc>
                      </a:pP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Charles</a:t>
                      </a:r>
                      <a:r>
                        <a:rPr sz="1400" b="1" spc="1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Darwin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445"/>
                        </a:lnSpc>
                      </a:pP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The Origin of</a:t>
                      </a:r>
                      <a:r>
                        <a:rPr sz="1400" b="1" spc="9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Species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445"/>
                        </a:lnSpc>
                      </a:pP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Non-Fiction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ts val="1445"/>
                        </a:lnSpc>
                      </a:pP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1856</a:t>
                      </a:r>
                      <a:r>
                        <a:rPr sz="1400" b="1" spc="-40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  <a:tr h="201930">
                <a:tc>
                  <a:txBody>
                    <a:bodyPr/>
                    <a:lstStyle/>
                    <a:p>
                      <a:pPr marL="31750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445"/>
                        </a:lnSpc>
                      </a:pP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Charles</a:t>
                      </a:r>
                      <a:r>
                        <a:rPr sz="1400" b="1" spc="20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Dickens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445"/>
                        </a:lnSpc>
                      </a:pP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The Old Curiosity</a:t>
                      </a:r>
                      <a:r>
                        <a:rPr sz="1400" b="1" spc="130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Shop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445"/>
                        </a:lnSpc>
                      </a:pP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Fiction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ts val="1445"/>
                        </a:lnSpc>
                      </a:pP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1841</a:t>
                      </a:r>
                      <a:r>
                        <a:rPr sz="1400" b="1" spc="-3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  <a:tr h="201531">
                <a:tc>
                  <a:txBody>
                    <a:bodyPr/>
                    <a:lstStyle/>
                    <a:p>
                      <a:pPr marL="31750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445"/>
                        </a:lnSpc>
                      </a:pP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William</a:t>
                      </a:r>
                      <a:r>
                        <a:rPr sz="1400" b="1" spc="3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Shakespeare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445"/>
                        </a:lnSpc>
                      </a:pP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Romeo and</a:t>
                      </a:r>
                      <a:r>
                        <a:rPr sz="1400" b="1" spc="40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Juliet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1445"/>
                        </a:lnSpc>
                      </a:pP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Play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445"/>
                        </a:lnSpc>
                      </a:pPr>
                      <a:r>
                        <a:rPr sz="14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445"/>
                        </a:lnSpc>
                      </a:pPr>
                      <a:r>
                        <a:rPr sz="14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1594</a:t>
                      </a:r>
                      <a:r>
                        <a:rPr sz="1400" b="1" spc="-40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31773" y="4936744"/>
            <a:ext cx="8645525" cy="851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+----+---------------------+------------------------------+-------------+------+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5 rows in set (0.00</a:t>
            </a:r>
            <a:r>
              <a:rPr sz="1400" b="1" spc="13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sec)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mysql&gt;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2140" y="1288288"/>
            <a:ext cx="7468870" cy="1052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 </a:t>
            </a:r>
            <a:r>
              <a:rPr sz="1400" b="1" spc="-5" dirty="0">
                <a:solidFill>
                  <a:srgbClr val="FEFB00"/>
                </a:solidFill>
                <a:latin typeface="Courier New"/>
                <a:cs typeface="Courier New"/>
              </a:rPr>
              <a:t>describe</a:t>
            </a:r>
            <a:r>
              <a:rPr sz="1400" b="1" spc="90" dirty="0">
                <a:solidFill>
                  <a:srgbClr val="FEFB00"/>
                </a:solidFill>
                <a:latin typeface="Courier New"/>
                <a:cs typeface="Courier New"/>
              </a:rPr>
              <a:t> </a:t>
            </a:r>
            <a:r>
              <a:rPr sz="1400" b="1" spc="5" dirty="0">
                <a:solidFill>
                  <a:srgbClr val="FEFB00"/>
                </a:solidFill>
                <a:latin typeface="Courier New"/>
                <a:cs typeface="Courier New"/>
              </a:rPr>
              <a:t>classics;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0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+--------+------------------+------+-----+---------+----------------+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5"/>
              </a:lnSpc>
              <a:tabLst>
                <a:tab pos="982344" algn="l"/>
                <a:tab pos="3033395" algn="l"/>
                <a:tab pos="7348220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Field</a:t>
            </a:r>
            <a:r>
              <a:rPr sz="1400" b="1" dirty="0">
                <a:solidFill>
                  <a:srgbClr val="FEFFFF"/>
                </a:solidFill>
                <a:latin typeface="Courier New"/>
                <a:cs typeface="Courier New"/>
              </a:rPr>
              <a:t>	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Type</a:t>
            </a:r>
            <a:r>
              <a:rPr sz="1400" b="1" dirty="0">
                <a:solidFill>
                  <a:srgbClr val="FEFFFF"/>
                </a:solidFill>
                <a:latin typeface="Courier New"/>
                <a:cs typeface="Courier New"/>
              </a:rPr>
              <a:t>	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Null</a:t>
            </a:r>
            <a:r>
              <a:rPr sz="1400" b="1" spc="4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Key</a:t>
            </a:r>
            <a:r>
              <a:rPr sz="1400" b="1" spc="3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Default</a:t>
            </a:r>
            <a:r>
              <a:rPr sz="1400" b="1" spc="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Extra</a:t>
            </a:r>
            <a:r>
              <a:rPr sz="1400" b="1" dirty="0">
                <a:solidFill>
                  <a:srgbClr val="FEFFFF"/>
                </a:solidFill>
                <a:latin typeface="Courier New"/>
                <a:cs typeface="Courier New"/>
              </a:rPr>
              <a:t>	</a:t>
            </a: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5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+--------+------------------+------+-----+---------+----------------+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  <a:tabLst>
                <a:tab pos="983615" algn="l"/>
                <a:tab pos="3787140" algn="l"/>
                <a:tab pos="5512435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2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id	| int(10) unsigned</a:t>
            </a:r>
            <a:r>
              <a:rPr sz="1400" b="1" spc="21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2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NO	| PRI</a:t>
            </a:r>
            <a:r>
              <a:rPr sz="1400" b="1" spc="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2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NULL	| auto_increment</a:t>
            </a:r>
            <a:r>
              <a:rPr sz="1400" b="1" spc="10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134" y="2298693"/>
            <a:ext cx="2491105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 author |</a:t>
            </a:r>
            <a:r>
              <a:rPr sz="1400" b="1" spc="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varchar(128)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143" y="2500622"/>
            <a:ext cx="77470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6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title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type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year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82061" y="2500622"/>
            <a:ext cx="152146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4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varchar(128)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4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varchar(16)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5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F40FF"/>
                </a:solidFill>
                <a:latin typeface="Courier New"/>
                <a:cs typeface="Courier New"/>
              </a:rPr>
              <a:t>char(4)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30097" y="2298693"/>
            <a:ext cx="890905" cy="849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  <a:tabLst>
                <a:tab pos="767080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YES</a:t>
            </a:r>
            <a:r>
              <a:rPr sz="1400" b="1" dirty="0">
                <a:solidFill>
                  <a:srgbClr val="FEFFFF"/>
                </a:solidFill>
                <a:latin typeface="Courier New"/>
                <a:cs typeface="Courier New"/>
              </a:rPr>
              <a:t>	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0"/>
              </a:lnSpc>
              <a:tabLst>
                <a:tab pos="767080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YES</a:t>
            </a:r>
            <a:r>
              <a:rPr sz="1400" b="1" dirty="0">
                <a:solidFill>
                  <a:srgbClr val="FEFFFF"/>
                </a:solidFill>
                <a:latin typeface="Courier New"/>
                <a:cs typeface="Courier New"/>
              </a:rPr>
              <a:t>	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590"/>
              </a:lnSpc>
              <a:tabLst>
                <a:tab pos="768350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YES</a:t>
            </a:r>
            <a:r>
              <a:rPr sz="1400" b="1" dirty="0">
                <a:solidFill>
                  <a:srgbClr val="FEFFFF"/>
                </a:solidFill>
                <a:latin typeface="Courier New"/>
                <a:cs typeface="Courier New"/>
              </a:rPr>
              <a:t>	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5875">
              <a:lnSpc>
                <a:spcPts val="1635"/>
              </a:lnSpc>
              <a:tabLst>
                <a:tab pos="770890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YES</a:t>
            </a:r>
            <a:r>
              <a:rPr sz="1400" b="1" dirty="0">
                <a:solidFill>
                  <a:srgbClr val="FEFFFF"/>
                </a:solidFill>
                <a:latin typeface="Courier New"/>
                <a:cs typeface="Courier New"/>
              </a:rPr>
              <a:t>	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33545" y="2298693"/>
            <a:ext cx="671195" cy="849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NULL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NULL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NULL</a:t>
            </a:r>
            <a:endParaRPr sz="1400">
              <a:latin typeface="Courier New"/>
              <a:cs typeface="Courier New"/>
            </a:endParaRPr>
          </a:p>
          <a:p>
            <a:pPr marL="15875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NULL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12421" y="2298693"/>
            <a:ext cx="135890" cy="849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5875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49438" y="2298700"/>
            <a:ext cx="135890" cy="849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0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590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5240">
              <a:lnSpc>
                <a:spcPts val="1635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2135" y="3107182"/>
            <a:ext cx="7468870" cy="2468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+--------+------------------+------+-----+---------+----------------+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5 rows in set (0.00</a:t>
            </a:r>
            <a:r>
              <a:rPr sz="1400" b="1" spc="13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sec)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2167890">
              <a:lnSpc>
                <a:spcPts val="160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 </a:t>
            </a:r>
            <a:r>
              <a:rPr sz="1400" b="1" spc="-5" dirty="0">
                <a:solidFill>
                  <a:srgbClr val="FEFB00"/>
                </a:solidFill>
                <a:latin typeface="Courier New"/>
                <a:cs typeface="Courier New"/>
              </a:rPr>
              <a:t>ALTER TABLE classics MODIFY year </a:t>
            </a:r>
            <a:r>
              <a:rPr sz="1400" b="1" spc="5" dirty="0">
                <a:solidFill>
                  <a:srgbClr val="FEFB00"/>
                </a:solidFill>
                <a:latin typeface="Courier New"/>
                <a:cs typeface="Courier New"/>
              </a:rPr>
              <a:t>SMALLINT; 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Query OK, 5 rows affected (0.08</a:t>
            </a:r>
            <a:r>
              <a:rPr sz="1400" b="1" spc="27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sec)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50"/>
              </a:lnSpc>
              <a:tabLst>
                <a:tab pos="1306195" algn="l"/>
                <a:tab pos="2922905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Records:</a:t>
            </a:r>
            <a:r>
              <a:rPr sz="1400" b="1" spc="9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5	Duplicates:</a:t>
            </a:r>
            <a:r>
              <a:rPr sz="1400" b="1" spc="12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0	Warnings:</a:t>
            </a:r>
            <a:r>
              <a:rPr sz="1400" b="1" spc="1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0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 </a:t>
            </a:r>
            <a:r>
              <a:rPr sz="1400" b="1" spc="-5" dirty="0">
                <a:solidFill>
                  <a:srgbClr val="FEFB00"/>
                </a:solidFill>
                <a:latin typeface="Courier New"/>
                <a:cs typeface="Courier New"/>
              </a:rPr>
              <a:t>describe</a:t>
            </a:r>
            <a:r>
              <a:rPr sz="1400" b="1" spc="90" dirty="0">
                <a:solidFill>
                  <a:srgbClr val="FEFB00"/>
                </a:solidFill>
                <a:latin typeface="Courier New"/>
                <a:cs typeface="Courier New"/>
              </a:rPr>
              <a:t> </a:t>
            </a:r>
            <a:r>
              <a:rPr sz="1400" b="1" spc="5" dirty="0">
                <a:solidFill>
                  <a:srgbClr val="FEFB00"/>
                </a:solidFill>
                <a:latin typeface="Courier New"/>
                <a:cs typeface="Courier New"/>
              </a:rPr>
              <a:t>classics;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5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+--------+------------------+------+-----+---------+----------------+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5"/>
              </a:lnSpc>
              <a:tabLst>
                <a:tab pos="982344" algn="l"/>
                <a:tab pos="3033395" algn="l"/>
                <a:tab pos="7348220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Field</a:t>
            </a:r>
            <a:r>
              <a:rPr sz="1400" b="1" dirty="0">
                <a:solidFill>
                  <a:srgbClr val="FEFFFF"/>
                </a:solidFill>
                <a:latin typeface="Courier New"/>
                <a:cs typeface="Courier New"/>
              </a:rPr>
              <a:t>	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Type</a:t>
            </a:r>
            <a:r>
              <a:rPr sz="1400" b="1" dirty="0">
                <a:solidFill>
                  <a:srgbClr val="FEFFFF"/>
                </a:solidFill>
                <a:latin typeface="Courier New"/>
                <a:cs typeface="Courier New"/>
              </a:rPr>
              <a:t>	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Null</a:t>
            </a:r>
            <a:r>
              <a:rPr sz="1400" b="1" spc="4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Key</a:t>
            </a:r>
            <a:r>
              <a:rPr sz="1400" b="1" spc="3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Default</a:t>
            </a:r>
            <a:r>
              <a:rPr sz="1400" b="1" spc="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Extra</a:t>
            </a:r>
            <a:r>
              <a:rPr sz="1400" b="1" dirty="0">
                <a:solidFill>
                  <a:srgbClr val="FEFFFF"/>
                </a:solidFill>
                <a:latin typeface="Courier New"/>
                <a:cs typeface="Courier New"/>
              </a:rPr>
              <a:t>	</a:t>
            </a: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0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+--------+------------------+------+-----+---------+----------------+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  <a:tabLst>
                <a:tab pos="983615" algn="l"/>
                <a:tab pos="3787140" algn="l"/>
                <a:tab pos="5512435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2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id	| int(10) unsigned</a:t>
            </a:r>
            <a:r>
              <a:rPr sz="1400" b="1" spc="21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2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NO	| PRI</a:t>
            </a:r>
            <a:r>
              <a:rPr sz="1400" b="1" spc="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2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NULL	| auto_increment</a:t>
            </a:r>
            <a:r>
              <a:rPr sz="1400" b="1" spc="10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2134" y="5534145"/>
            <a:ext cx="2491105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 author |</a:t>
            </a:r>
            <a:r>
              <a:rPr sz="1400" b="1" spc="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varchar(128)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2143" y="5736075"/>
            <a:ext cx="77470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6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title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type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year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2061" y="5736075"/>
            <a:ext cx="152146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4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varchar(128)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4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varchar(16)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4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F40FF"/>
                </a:solidFill>
                <a:latin typeface="Courier New"/>
                <a:cs typeface="Courier New"/>
              </a:rPr>
              <a:t>smallint(6)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30097" y="5534145"/>
            <a:ext cx="888365" cy="849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  <a:tabLst>
                <a:tab pos="767080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YES</a:t>
            </a:r>
            <a:r>
              <a:rPr sz="1400" b="1" dirty="0">
                <a:solidFill>
                  <a:srgbClr val="FEFFFF"/>
                </a:solidFill>
                <a:latin typeface="Courier New"/>
                <a:cs typeface="Courier New"/>
              </a:rPr>
              <a:t>	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0"/>
              </a:lnSpc>
              <a:tabLst>
                <a:tab pos="767080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YES</a:t>
            </a:r>
            <a:r>
              <a:rPr sz="1400" b="1" dirty="0">
                <a:solidFill>
                  <a:srgbClr val="FEFFFF"/>
                </a:solidFill>
                <a:latin typeface="Courier New"/>
                <a:cs typeface="Courier New"/>
              </a:rPr>
              <a:t>	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590"/>
              </a:lnSpc>
              <a:tabLst>
                <a:tab pos="768350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YES</a:t>
            </a:r>
            <a:r>
              <a:rPr sz="1400" b="1" dirty="0">
                <a:solidFill>
                  <a:srgbClr val="FEFFFF"/>
                </a:solidFill>
                <a:latin typeface="Courier New"/>
                <a:cs typeface="Courier New"/>
              </a:rPr>
              <a:t>	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635"/>
              </a:lnSpc>
              <a:tabLst>
                <a:tab pos="768350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YES</a:t>
            </a:r>
            <a:r>
              <a:rPr sz="1400" b="1" dirty="0">
                <a:solidFill>
                  <a:srgbClr val="FEFFFF"/>
                </a:solidFill>
                <a:latin typeface="Courier New"/>
                <a:cs typeface="Courier New"/>
              </a:rPr>
              <a:t>	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33545" y="5534145"/>
            <a:ext cx="669290" cy="849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NULL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NULL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NULL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NULL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12421" y="5534145"/>
            <a:ext cx="133350" cy="849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49438" y="5534152"/>
            <a:ext cx="133985" cy="849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0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590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635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2140" y="6342632"/>
            <a:ext cx="745998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+--------+------------------+------+-----+---------+----------------+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2135" y="2215896"/>
            <a:ext cx="7468870" cy="1643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385060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 </a:t>
            </a:r>
            <a:r>
              <a:rPr sz="1400" b="1" spc="-5" dirty="0">
                <a:solidFill>
                  <a:srgbClr val="FEFB00"/>
                </a:solidFill>
                <a:latin typeface="Courier New"/>
                <a:cs typeface="Courier New"/>
              </a:rPr>
              <a:t>ALTER TABLE classics ADD pages </a:t>
            </a:r>
            <a:r>
              <a:rPr sz="1400" b="1" spc="5" dirty="0">
                <a:solidFill>
                  <a:srgbClr val="FEFB00"/>
                </a:solidFill>
                <a:latin typeface="Courier New"/>
                <a:cs typeface="Courier New"/>
              </a:rPr>
              <a:t>SMALLINT; 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Query OK, 5 rows affected (0.12</a:t>
            </a:r>
            <a:r>
              <a:rPr sz="1400" b="1" spc="27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sec)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60"/>
              </a:lnSpc>
              <a:tabLst>
                <a:tab pos="1306195" algn="l"/>
                <a:tab pos="2922905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Records:</a:t>
            </a:r>
            <a:r>
              <a:rPr sz="1400" b="1" spc="9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5	Duplicates:</a:t>
            </a:r>
            <a:r>
              <a:rPr sz="1400" b="1" spc="12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0	Warnings:</a:t>
            </a:r>
            <a:r>
              <a:rPr sz="1400" b="1" spc="1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0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 </a:t>
            </a:r>
            <a:r>
              <a:rPr sz="1400" b="1" spc="-5" dirty="0">
                <a:solidFill>
                  <a:srgbClr val="FEFB00"/>
                </a:solidFill>
                <a:latin typeface="Courier New"/>
                <a:cs typeface="Courier New"/>
              </a:rPr>
              <a:t>describe</a:t>
            </a:r>
            <a:r>
              <a:rPr sz="1400" b="1" spc="90" dirty="0">
                <a:solidFill>
                  <a:srgbClr val="FEFB00"/>
                </a:solidFill>
                <a:latin typeface="Courier New"/>
                <a:cs typeface="Courier New"/>
              </a:rPr>
              <a:t> </a:t>
            </a:r>
            <a:r>
              <a:rPr sz="1400" b="1" spc="5" dirty="0">
                <a:solidFill>
                  <a:srgbClr val="FEFB00"/>
                </a:solidFill>
                <a:latin typeface="Courier New"/>
                <a:cs typeface="Courier New"/>
              </a:rPr>
              <a:t>classics;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0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+--------+------------------+------+-----+---------+----------------+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0"/>
              </a:lnSpc>
              <a:tabLst>
                <a:tab pos="982344" algn="l"/>
                <a:tab pos="3033395" algn="l"/>
                <a:tab pos="7348220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Field</a:t>
            </a:r>
            <a:r>
              <a:rPr sz="1400" b="1" dirty="0">
                <a:solidFill>
                  <a:srgbClr val="FEFFFF"/>
                </a:solidFill>
                <a:latin typeface="Courier New"/>
                <a:cs typeface="Courier New"/>
              </a:rPr>
              <a:t>	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Type</a:t>
            </a:r>
            <a:r>
              <a:rPr sz="1400" b="1" dirty="0">
                <a:solidFill>
                  <a:srgbClr val="FEFFFF"/>
                </a:solidFill>
                <a:latin typeface="Courier New"/>
                <a:cs typeface="Courier New"/>
              </a:rPr>
              <a:t>	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Null</a:t>
            </a:r>
            <a:r>
              <a:rPr sz="1400" b="1" spc="4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Key</a:t>
            </a:r>
            <a:r>
              <a:rPr sz="1400" b="1" spc="3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Default</a:t>
            </a:r>
            <a:r>
              <a:rPr sz="1400" b="1" spc="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Extra</a:t>
            </a:r>
            <a:r>
              <a:rPr sz="1400" b="1" dirty="0">
                <a:solidFill>
                  <a:srgbClr val="FEFFFF"/>
                </a:solidFill>
                <a:latin typeface="Courier New"/>
                <a:cs typeface="Courier New"/>
              </a:rPr>
              <a:t>	</a:t>
            </a: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+--------+------------------+------+-----+---------+----------------+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145" y="3817359"/>
            <a:ext cx="292862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83615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2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id	| int(10)</a:t>
            </a:r>
            <a:r>
              <a:rPr sz="1400" b="1" spc="4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unsigned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134" y="4019289"/>
            <a:ext cx="2491105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 author |</a:t>
            </a:r>
            <a:r>
              <a:rPr sz="1400" b="1" spc="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varchar(128)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143" y="4221982"/>
            <a:ext cx="774700" cy="849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6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title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type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year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F40FF"/>
                </a:solidFill>
                <a:latin typeface="Courier New"/>
                <a:cs typeface="Courier New"/>
              </a:rPr>
              <a:t>|</a:t>
            </a:r>
            <a:r>
              <a:rPr sz="1400" b="1" spc="-65" dirty="0">
                <a:solidFill>
                  <a:srgbClr val="FF40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F40FF"/>
                </a:solidFill>
                <a:latin typeface="Courier New"/>
                <a:cs typeface="Courier New"/>
              </a:rPr>
              <a:t>pages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82060" y="4221982"/>
            <a:ext cx="1521460" cy="849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4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varchar(128)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4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varchar(16)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4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smallint(6)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F40FF"/>
                </a:solidFill>
                <a:latin typeface="Courier New"/>
                <a:cs typeface="Courier New"/>
              </a:rPr>
              <a:t>|</a:t>
            </a:r>
            <a:r>
              <a:rPr sz="1400" b="1" spc="-45" dirty="0">
                <a:solidFill>
                  <a:srgbClr val="FF40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F40FF"/>
                </a:solidFill>
                <a:latin typeface="Courier New"/>
                <a:cs typeface="Courier New"/>
              </a:rPr>
              <a:t>smallint(6)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0097" y="3817359"/>
            <a:ext cx="4448810" cy="1254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">
              <a:lnSpc>
                <a:spcPts val="1635"/>
              </a:lnSpc>
              <a:tabLst>
                <a:tab pos="768985" algn="l"/>
                <a:tab pos="2494915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2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NO	| PRI</a:t>
            </a:r>
            <a:r>
              <a:rPr sz="1400" b="1" spc="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2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NULL	| auto_increment</a:t>
            </a:r>
            <a:r>
              <a:rPr sz="1400" b="1" spc="10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5"/>
              </a:lnSpc>
              <a:tabLst>
                <a:tab pos="767080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2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YES	|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5"/>
              </a:lnSpc>
              <a:tabLst>
                <a:tab pos="767080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2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YES	|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590"/>
              </a:lnSpc>
              <a:tabLst>
                <a:tab pos="768350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2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YES	|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590"/>
              </a:lnSpc>
              <a:tabLst>
                <a:tab pos="768350" algn="l"/>
              </a:tabLst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2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YES	|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  <a:tabLst>
                <a:tab pos="767080" algn="l"/>
              </a:tabLst>
            </a:pPr>
            <a:r>
              <a:rPr sz="1400" b="1" spc="-5" dirty="0">
                <a:solidFill>
                  <a:srgbClr val="FF40FF"/>
                </a:solidFill>
                <a:latin typeface="Courier New"/>
                <a:cs typeface="Courier New"/>
              </a:rPr>
              <a:t>|</a:t>
            </a:r>
            <a:r>
              <a:rPr sz="1400" b="1" spc="20" dirty="0">
                <a:solidFill>
                  <a:srgbClr val="FF40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F40FF"/>
                </a:solidFill>
                <a:latin typeface="Courier New"/>
                <a:cs typeface="Courier New"/>
              </a:rPr>
              <a:t>YES	|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33545" y="4019289"/>
            <a:ext cx="668655" cy="1052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NULL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NULL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NULL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NULL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F40FF"/>
                </a:solidFill>
                <a:latin typeface="Courier New"/>
                <a:cs typeface="Courier New"/>
              </a:rPr>
              <a:t>|</a:t>
            </a:r>
            <a:r>
              <a:rPr sz="1400" b="1" spc="-70" dirty="0">
                <a:solidFill>
                  <a:srgbClr val="FF40FF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FF40FF"/>
                </a:solidFill>
                <a:latin typeface="Courier New"/>
                <a:cs typeface="Courier New"/>
              </a:rPr>
              <a:t>NULL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12421" y="4019289"/>
            <a:ext cx="132715" cy="1052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590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F40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49438" y="4019296"/>
            <a:ext cx="133985" cy="1052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9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595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590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3335">
              <a:lnSpc>
                <a:spcPts val="1590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</a:pPr>
            <a:r>
              <a:rPr sz="1400" b="1" spc="5" dirty="0">
                <a:solidFill>
                  <a:srgbClr val="FF40FF"/>
                </a:solidFill>
                <a:latin typeface="Courier New"/>
                <a:cs typeface="Courier New"/>
              </a:rPr>
              <a:t>|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2140" y="5029707"/>
            <a:ext cx="7459980" cy="851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5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+--------+------------------+------+-----+---------+----------------+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</a:pPr>
            <a:r>
              <a:rPr sz="1400" b="1" spc="-5" dirty="0">
                <a:solidFill>
                  <a:srgbClr val="FEFFFF"/>
                </a:solidFill>
                <a:latin typeface="Courier New"/>
                <a:cs typeface="Courier New"/>
              </a:rPr>
              <a:t>6 rows in set (0.08</a:t>
            </a:r>
            <a:r>
              <a:rPr sz="1400" b="1" spc="13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sec)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5" dirty="0">
                <a:solidFill>
                  <a:srgbClr val="FEFFFF"/>
                </a:solidFill>
                <a:latin typeface="Courier New"/>
                <a:cs typeface="Courier New"/>
              </a:rPr>
              <a:t>mysql&gt;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44771" y="1636267"/>
            <a:ext cx="1762125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-25" dirty="0">
                <a:solidFill>
                  <a:srgbClr val="FF40FF"/>
                </a:solidFill>
              </a:rPr>
              <a:t>Indexes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1048766" y="2916173"/>
            <a:ext cx="7620000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buSzPct val="171428"/>
              <a:buChar char="•"/>
              <a:tabLst>
                <a:tab pos="327025" algn="l"/>
              </a:tabLst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As a table gets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large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(they </a:t>
            </a:r>
            <a:r>
              <a:rPr sz="2100" spc="-20" dirty="0">
                <a:solidFill>
                  <a:srgbClr val="FEFFFF"/>
                </a:solidFill>
                <a:latin typeface="Gill Sans MT"/>
                <a:cs typeface="Gill Sans MT"/>
              </a:rPr>
              <a:t>always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do) scanning all the data to find 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a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3472" y="3245358"/>
            <a:ext cx="3446779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single </a:t>
            </a:r>
            <a:r>
              <a:rPr sz="2100" spc="-30" dirty="0">
                <a:solidFill>
                  <a:srgbClr val="FEFFFF"/>
                </a:solidFill>
                <a:latin typeface="Gill Sans MT"/>
                <a:cs typeface="Gill Sans MT"/>
              </a:rPr>
              <a:t>row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becomes very</a:t>
            </a:r>
            <a:r>
              <a:rPr sz="2100" spc="16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costly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8766" y="3814571"/>
            <a:ext cx="7440930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buSzPct val="171428"/>
              <a:buChar char="•"/>
              <a:tabLst>
                <a:tab pos="327025" algn="l"/>
              </a:tabLst>
            </a:pP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When </a:t>
            </a:r>
            <a:r>
              <a:rPr sz="2100" u="heavy" spc="-5" dirty="0">
                <a:solidFill>
                  <a:srgbClr val="0000FF"/>
                </a:solidFill>
                <a:latin typeface="Gill Sans MT"/>
                <a:cs typeface="Gill Sans MT"/>
                <a:hlinkClick r:id="rId2"/>
              </a:rPr>
              <a:t>u_saeed@msn.com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logs into FaceBook,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they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must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find</a:t>
            </a:r>
            <a:r>
              <a:rPr sz="2100" spc="39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-70" dirty="0">
                <a:solidFill>
                  <a:srgbClr val="FEFFFF"/>
                </a:solidFill>
                <a:latin typeface="Gill Sans MT"/>
                <a:cs typeface="Gill Sans MT"/>
              </a:rPr>
              <a:t>my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3472" y="4144517"/>
            <a:ext cx="4126865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15" dirty="0">
                <a:solidFill>
                  <a:srgbClr val="FEFFFF"/>
                </a:solidFill>
                <a:latin typeface="Gill Sans MT"/>
                <a:cs typeface="Gill Sans MT"/>
              </a:rPr>
              <a:t>password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amongst 1000-million</a:t>
            </a:r>
            <a:r>
              <a:rPr sz="2100" spc="20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users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8766" y="4713732"/>
            <a:ext cx="8023225" cy="135382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27025" marR="5080" indent="-314325">
              <a:lnSpc>
                <a:spcPts val="2590"/>
              </a:lnSpc>
              <a:spcBef>
                <a:spcPts val="25"/>
              </a:spcBef>
              <a:buSzPct val="171428"/>
              <a:buChar char="•"/>
              <a:tabLst>
                <a:tab pos="327025" algn="l"/>
              </a:tabLst>
            </a:pP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There </a:t>
            </a:r>
            <a:r>
              <a:rPr sz="2100" spc="-20" dirty="0">
                <a:solidFill>
                  <a:srgbClr val="FEFFFF"/>
                </a:solidFill>
                <a:latin typeface="Gill Sans MT"/>
                <a:cs typeface="Gill Sans MT"/>
              </a:rPr>
              <a:t>are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techniques to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greatly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shorten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the scan as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long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as </a:t>
            </a:r>
            <a:r>
              <a:rPr sz="2100" spc="-20" dirty="0">
                <a:solidFill>
                  <a:srgbClr val="FEFFFF"/>
                </a:solidFill>
                <a:latin typeface="Gill Sans MT"/>
                <a:cs typeface="Gill Sans MT"/>
              </a:rPr>
              <a:t>you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create 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data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structures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and maintain those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structures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- </a:t>
            </a:r>
            <a:r>
              <a:rPr sz="2100" spc="-20" dirty="0">
                <a:solidFill>
                  <a:srgbClr val="FEFFFF"/>
                </a:solidFill>
                <a:latin typeface="Gill Sans MT"/>
                <a:cs typeface="Gill Sans MT"/>
              </a:rPr>
              <a:t>like</a:t>
            </a:r>
            <a:r>
              <a:rPr sz="2100" spc="40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shortcuts</a:t>
            </a:r>
            <a:endParaRPr sz="2100">
              <a:latin typeface="Gill Sans MT"/>
              <a:cs typeface="Gill Sans MT"/>
            </a:endParaRPr>
          </a:p>
          <a:p>
            <a:pPr marL="326390" indent="-313690">
              <a:lnSpc>
                <a:spcPct val="100000"/>
              </a:lnSpc>
              <a:spcBef>
                <a:spcPts val="1860"/>
              </a:spcBef>
              <a:buSzPct val="171428"/>
              <a:buChar char="•"/>
              <a:tabLst>
                <a:tab pos="327025" algn="l"/>
              </a:tabLst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Hashes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or</a:t>
            </a:r>
            <a:r>
              <a:rPr sz="2100" spc="-28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-60" dirty="0">
                <a:solidFill>
                  <a:srgbClr val="FEFFFF"/>
                </a:solidFill>
                <a:latin typeface="Gill Sans MT"/>
                <a:cs typeface="Gill Sans MT"/>
              </a:rPr>
              <a:t>Trees</a:t>
            </a:r>
            <a:endParaRPr sz="21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49550" y="1636267"/>
            <a:ext cx="4516120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dirty="0"/>
              <a:t>MySQL </a:t>
            </a:r>
            <a:r>
              <a:rPr sz="4450" spc="-5" dirty="0"/>
              <a:t>Index</a:t>
            </a:r>
            <a:r>
              <a:rPr sz="4450" spc="-610" dirty="0"/>
              <a:t> </a:t>
            </a:r>
            <a:r>
              <a:rPr sz="4450" spc="-120" dirty="0"/>
              <a:t>Types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1048766" y="3201161"/>
            <a:ext cx="789495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buClr>
                <a:srgbClr val="FEFFFF"/>
              </a:buClr>
              <a:buSzPct val="171428"/>
              <a:buChar char="•"/>
              <a:tabLst>
                <a:tab pos="327025" algn="l"/>
              </a:tabLst>
            </a:pPr>
            <a:r>
              <a:rPr sz="2100" spc="-35" dirty="0">
                <a:solidFill>
                  <a:srgbClr val="FEFB00"/>
                </a:solidFill>
                <a:latin typeface="Gill Sans MT"/>
                <a:cs typeface="Gill Sans MT"/>
              </a:rPr>
              <a:t>PRIMARY </a:t>
            </a:r>
            <a:r>
              <a:rPr sz="2100" spc="-5" dirty="0">
                <a:solidFill>
                  <a:srgbClr val="FEFB00"/>
                </a:solidFill>
                <a:latin typeface="Gill Sans MT"/>
                <a:cs typeface="Gill Sans MT"/>
              </a:rPr>
              <a:t>KEY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- </a:t>
            </a:r>
            <a:r>
              <a:rPr sz="2100" spc="-40" dirty="0">
                <a:solidFill>
                  <a:srgbClr val="FEFFFF"/>
                </a:solidFill>
                <a:latin typeface="Gill Sans MT"/>
                <a:cs typeface="Gill Sans MT"/>
              </a:rPr>
              <a:t>Very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little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space,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very very fast, exact match,</a:t>
            </a:r>
            <a:r>
              <a:rPr sz="2100" spc="-409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requires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3472" y="3530346"/>
            <a:ext cx="498856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no duplicates,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extremely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fast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for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integer</a:t>
            </a:r>
            <a:r>
              <a:rPr sz="2100" spc="7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10" dirty="0">
                <a:solidFill>
                  <a:srgbClr val="FEFFFF"/>
                </a:solidFill>
                <a:latin typeface="Gill Sans MT"/>
                <a:cs typeface="Gill Sans MT"/>
              </a:rPr>
              <a:t>fields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8766" y="4100321"/>
            <a:ext cx="731329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buClr>
                <a:srgbClr val="FEFFFF"/>
              </a:buClr>
              <a:buSzPct val="171428"/>
              <a:buChar char="•"/>
              <a:tabLst>
                <a:tab pos="327025" algn="l"/>
              </a:tabLst>
            </a:pPr>
            <a:r>
              <a:rPr sz="2100" dirty="0">
                <a:solidFill>
                  <a:srgbClr val="FEFB00"/>
                </a:solidFill>
                <a:latin typeface="Gill Sans MT"/>
                <a:cs typeface="Gill Sans MT"/>
              </a:rPr>
              <a:t>INDEX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-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Good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for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individual </a:t>
            </a:r>
            <a:r>
              <a:rPr sz="2100" spc="-25" dirty="0">
                <a:solidFill>
                  <a:srgbClr val="FEFFFF"/>
                </a:solidFill>
                <a:latin typeface="Gill Sans MT"/>
                <a:cs typeface="Gill Sans MT"/>
              </a:rPr>
              <a:t>row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lookup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and sorting /</a:t>
            </a:r>
            <a:r>
              <a:rPr sz="2100" spc="52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grouping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3472" y="4429505"/>
            <a:ext cx="6351905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results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- </a:t>
            </a:r>
            <a:r>
              <a:rPr sz="2100" spc="-15" dirty="0">
                <a:solidFill>
                  <a:srgbClr val="FEFFFF"/>
                </a:solidFill>
                <a:latin typeface="Gill Sans MT"/>
                <a:cs typeface="Gill Sans MT"/>
              </a:rPr>
              <a:t>works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best with exact matches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or </a:t>
            </a:r>
            <a:r>
              <a:rPr sz="2100" spc="-15" dirty="0">
                <a:solidFill>
                  <a:srgbClr val="FEFFFF"/>
                </a:solidFill>
                <a:latin typeface="Gill Sans MT"/>
                <a:cs typeface="Gill Sans MT"/>
              </a:rPr>
              <a:t>prefix</a:t>
            </a:r>
            <a:r>
              <a:rPr sz="2100" spc="53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lookups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8766" y="4998720"/>
            <a:ext cx="754316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buClr>
                <a:srgbClr val="FEFFFF"/>
              </a:buClr>
              <a:buSzPct val="171428"/>
              <a:buChar char="•"/>
              <a:tabLst>
                <a:tab pos="327025" algn="l"/>
                <a:tab pos="1844039" algn="l"/>
              </a:tabLst>
            </a:pPr>
            <a:r>
              <a:rPr sz="2100" spc="-30" dirty="0">
                <a:solidFill>
                  <a:srgbClr val="FEFB00"/>
                </a:solidFill>
                <a:latin typeface="Gill Sans MT"/>
                <a:cs typeface="Gill Sans MT"/>
              </a:rPr>
              <a:t>FULLTEXT</a:t>
            </a:r>
            <a:r>
              <a:rPr sz="2100" spc="105" dirty="0">
                <a:solidFill>
                  <a:srgbClr val="FEFB00"/>
                </a:solidFill>
                <a:latin typeface="Gill Sans MT"/>
                <a:cs typeface="Gill Sans MT"/>
              </a:rPr>
              <a:t>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-	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Costly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to maintain on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insert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of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new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data, can</a:t>
            </a:r>
            <a:r>
              <a:rPr sz="2100" spc="12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handle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3472" y="5327904"/>
            <a:ext cx="3322954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substrings and the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LIKE</a:t>
            </a:r>
            <a:r>
              <a:rPr sz="2100" spc="12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clause</a:t>
            </a:r>
            <a:endParaRPr sz="21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8600" y="1181100"/>
            <a:ext cx="9601200" cy="5400675"/>
          </a:xfrm>
          <a:custGeom>
            <a:avLst/>
            <a:gdLst/>
            <a:ahLst/>
            <a:cxnLst/>
            <a:rect l="l" t="t" r="r" b="b"/>
            <a:pathLst>
              <a:path w="9601200" h="5400675">
                <a:moveTo>
                  <a:pt x="0" y="0"/>
                </a:moveTo>
                <a:lnTo>
                  <a:pt x="0" y="5400294"/>
                </a:lnTo>
                <a:lnTo>
                  <a:pt x="9601200" y="5400294"/>
                </a:lnTo>
                <a:lnTo>
                  <a:pt x="9601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24075" y="1743709"/>
            <a:ext cx="6802755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-15" dirty="0"/>
              <a:t>Retrieving </a:t>
            </a:r>
            <a:r>
              <a:rPr sz="4450" spc="-45" dirty="0"/>
              <a:t>rows </a:t>
            </a:r>
            <a:r>
              <a:rPr sz="4450" spc="-5" dirty="0"/>
              <a:t>with</a:t>
            </a:r>
            <a:r>
              <a:rPr sz="4450" spc="165" dirty="0"/>
              <a:t> </a:t>
            </a:r>
            <a:r>
              <a:rPr sz="4450" spc="-5" dirty="0"/>
              <a:t>SELECT</a:t>
            </a:r>
            <a:endParaRPr sz="4450"/>
          </a:p>
        </p:txBody>
      </p:sp>
      <p:sp>
        <p:nvSpPr>
          <p:cNvPr id="6" name="object 6"/>
          <p:cNvSpPr txBox="1"/>
          <p:nvPr/>
        </p:nvSpPr>
        <p:spPr>
          <a:xfrm>
            <a:off x="612140" y="3260852"/>
            <a:ext cx="8742045" cy="788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 </a:t>
            </a:r>
            <a:r>
              <a:rPr sz="1300" b="1" spc="-5" dirty="0">
                <a:solidFill>
                  <a:srgbClr val="FEFB00"/>
                </a:solidFill>
                <a:latin typeface="Courier New"/>
                <a:cs typeface="Courier New"/>
              </a:rPr>
              <a:t>select </a:t>
            </a:r>
            <a:r>
              <a:rPr sz="1300" b="1" dirty="0">
                <a:solidFill>
                  <a:srgbClr val="FEFB00"/>
                </a:solidFill>
                <a:latin typeface="Courier New"/>
                <a:cs typeface="Courier New"/>
              </a:rPr>
              <a:t>* </a:t>
            </a:r>
            <a:r>
              <a:rPr sz="1300" b="1" spc="-5" dirty="0">
                <a:solidFill>
                  <a:srgbClr val="FEFB00"/>
                </a:solidFill>
                <a:latin typeface="Courier New"/>
                <a:cs typeface="Courier New"/>
              </a:rPr>
              <a:t>from</a:t>
            </a:r>
            <a:r>
              <a:rPr sz="1300" b="1" spc="-70" dirty="0">
                <a:solidFill>
                  <a:srgbClr val="FEFB00"/>
                </a:solidFill>
                <a:latin typeface="Courier New"/>
                <a:cs typeface="Courier New"/>
              </a:rPr>
              <a:t> </a:t>
            </a:r>
            <a:r>
              <a:rPr sz="1300" b="1" spc="-5" dirty="0">
                <a:solidFill>
                  <a:srgbClr val="FEFB00"/>
                </a:solidFill>
                <a:latin typeface="Courier New"/>
                <a:cs typeface="Courier New"/>
              </a:rPr>
              <a:t>classics;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ts val="1475"/>
              </a:lnSpc>
            </a:pP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+----+---------------------+------------------------------+-------------+------+-------+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ts val="1475"/>
              </a:lnSpc>
              <a:tabLst>
                <a:tab pos="2686685" algn="l"/>
                <a:tab pos="5756910" algn="l"/>
                <a:tab pos="7143750" algn="l"/>
              </a:tabLst>
            </a:pP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id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 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author	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title	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type	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year 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pages</a:t>
            </a:r>
            <a:r>
              <a:rPr sz="1300" b="1" spc="-9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ts val="1515"/>
              </a:lnSpc>
            </a:pP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+----+---------------------+------------------------------+-------------+------+-------+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6426" y="4009111"/>
            <a:ext cx="527558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69765" algn="l"/>
              </a:tabLst>
            </a:pP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The Adventures of Tom Sawyer</a:t>
            </a:r>
            <a:r>
              <a:rPr sz="1300" b="1" spc="3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Fiction	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1876</a:t>
            </a:r>
            <a:r>
              <a:rPr sz="1300" b="1" spc="-10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56885" y="4195796"/>
            <a:ext cx="220472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98905" algn="l"/>
              </a:tabLst>
            </a:pP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Fiction	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1811</a:t>
            </a:r>
            <a:r>
              <a:rPr sz="1300" b="1" spc="-10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56885" y="4382481"/>
            <a:ext cx="220472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Non-Fiction 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1856</a:t>
            </a:r>
            <a:r>
              <a:rPr sz="1300" b="1" spc="-9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86426" y="4195796"/>
            <a:ext cx="2402840" cy="601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Pride and</a:t>
            </a:r>
            <a:r>
              <a:rPr sz="1300" b="1" spc="-8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Prejudice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ts val="1475"/>
              </a:lnSpc>
            </a:pP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The Origin of</a:t>
            </a:r>
            <a:r>
              <a:rPr sz="1300" b="1" spc="-7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Species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ts val="1520"/>
              </a:lnSpc>
            </a:pP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The Old Curiosity</a:t>
            </a:r>
            <a:r>
              <a:rPr sz="1300" b="1" spc="-7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Shop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2140" y="4009111"/>
            <a:ext cx="2204720" cy="97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  <a:tabLst>
                <a:tab pos="309245" algn="l"/>
              </a:tabLst>
            </a:pP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	1 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Mark</a:t>
            </a:r>
            <a:r>
              <a:rPr sz="1300" b="1" spc="-10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Twain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ts val="1470"/>
              </a:lnSpc>
              <a:tabLst>
                <a:tab pos="309245" algn="l"/>
              </a:tabLst>
            </a:pP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	2 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Jane</a:t>
            </a:r>
            <a:r>
              <a:rPr sz="1300" b="1" spc="-10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Austen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ts val="1475"/>
              </a:lnSpc>
              <a:tabLst>
                <a:tab pos="309245" algn="l"/>
              </a:tabLst>
            </a:pP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	3 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Charles</a:t>
            </a:r>
            <a:r>
              <a:rPr sz="1300" b="1" spc="-9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Darwin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ts val="1475"/>
              </a:lnSpc>
              <a:tabLst>
                <a:tab pos="309245" algn="l"/>
              </a:tabLst>
            </a:pP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	4 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Charles</a:t>
            </a:r>
            <a:r>
              <a:rPr sz="1300" b="1" spc="-9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Dickens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ts val="1515"/>
              </a:lnSpc>
            </a:pP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9297" y="4756611"/>
            <a:ext cx="418592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5 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William Shakespeare 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Romeo and</a:t>
            </a:r>
            <a:r>
              <a:rPr sz="1300" b="1" spc="-6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Juliet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56885" y="4569926"/>
            <a:ext cx="916940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300" b="1" spc="-10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Fiction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ts val="1515"/>
              </a:lnSpc>
            </a:pP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300" b="1" spc="-10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Play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43560" y="4569926"/>
            <a:ext cx="818515" cy="41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1841</a:t>
            </a:r>
            <a:r>
              <a:rPr sz="1300" b="1" spc="-10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ts val="1515"/>
              </a:lnSpc>
            </a:pP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1594</a:t>
            </a:r>
            <a:r>
              <a:rPr sz="1300" b="1" spc="-10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34031" y="4020404"/>
            <a:ext cx="620395" cy="96393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algn="just">
              <a:lnSpc>
                <a:spcPts val="1470"/>
              </a:lnSpc>
              <a:spcBef>
                <a:spcPts val="35"/>
              </a:spcBef>
            </a:pP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NULL</a:t>
            </a:r>
            <a:r>
              <a:rPr sz="1300" b="1" spc="-9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NULL</a:t>
            </a:r>
            <a:r>
              <a:rPr sz="1300" b="1" spc="-9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NULL</a:t>
            </a:r>
            <a:r>
              <a:rPr sz="1300" b="1" spc="-9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300">
              <a:latin typeface="Courier New"/>
              <a:cs typeface="Courier New"/>
            </a:endParaRPr>
          </a:p>
          <a:p>
            <a:pPr marL="12700" marR="5080" algn="just">
              <a:lnSpc>
                <a:spcPts val="1470"/>
              </a:lnSpc>
              <a:spcBef>
                <a:spcPts val="5"/>
              </a:spcBef>
            </a:pP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NULL</a:t>
            </a:r>
            <a:r>
              <a:rPr sz="1300" b="1" spc="-9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 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NULL</a:t>
            </a:r>
            <a:r>
              <a:rPr sz="1300" b="1" spc="-9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2140" y="4944056"/>
            <a:ext cx="8742045" cy="789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+----+---------------------+------------------------------+-------------+------+-------+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ts val="1515"/>
              </a:lnSpc>
            </a:pPr>
            <a:r>
              <a:rPr sz="1300" b="1" dirty="0">
                <a:solidFill>
                  <a:srgbClr val="FEFFFF"/>
                </a:solidFill>
                <a:latin typeface="Courier New"/>
                <a:cs typeface="Courier New"/>
              </a:rPr>
              <a:t>5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rows in set (0.00</a:t>
            </a:r>
            <a:r>
              <a:rPr sz="13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sec)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3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3502" y="1636267"/>
            <a:ext cx="6802755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-15" dirty="0"/>
              <a:t>Retrieving </a:t>
            </a:r>
            <a:r>
              <a:rPr sz="4450" spc="-45" dirty="0"/>
              <a:t>rows </a:t>
            </a:r>
            <a:r>
              <a:rPr sz="4450" spc="-5" dirty="0"/>
              <a:t>with</a:t>
            </a:r>
            <a:r>
              <a:rPr sz="4450" spc="165" dirty="0"/>
              <a:t> </a:t>
            </a:r>
            <a:r>
              <a:rPr sz="4450" spc="-5" dirty="0"/>
              <a:t>SELECT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612140" y="2901950"/>
            <a:ext cx="4868545" cy="1172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0"/>
              </a:lnSpc>
            </a:pP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 </a:t>
            </a:r>
            <a:r>
              <a:rPr sz="1600" b="1" spc="-5" dirty="0">
                <a:solidFill>
                  <a:srgbClr val="FEFB00"/>
                </a:solidFill>
                <a:latin typeface="Courier New"/>
                <a:cs typeface="Courier New"/>
              </a:rPr>
              <a:t>select title, year from</a:t>
            </a:r>
            <a:r>
              <a:rPr sz="1600" b="1" spc="-305" dirty="0">
                <a:solidFill>
                  <a:srgbClr val="FEFB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FEFB00"/>
                </a:solidFill>
                <a:latin typeface="Courier New"/>
                <a:cs typeface="Courier New"/>
              </a:rPr>
              <a:t>classics;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755"/>
              </a:lnSpc>
            </a:pP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+------------------------------+------+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770"/>
              </a:lnSpc>
              <a:tabLst>
                <a:tab pos="3774440" algn="l"/>
              </a:tabLst>
            </a:pP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600" b="1" spc="-1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title	</a:t>
            </a: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year</a:t>
            </a:r>
            <a:r>
              <a:rPr sz="1600" b="1" spc="-15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770"/>
              </a:lnSpc>
            </a:pP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+------------------------------+------+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845"/>
              </a:lnSpc>
            </a:pP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The Adventures of Tom Sawyer </a:t>
            </a: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1876</a:t>
            </a:r>
            <a:r>
              <a:rPr sz="1600" b="1" spc="-34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140" y="4022025"/>
            <a:ext cx="2931795" cy="727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Pride and</a:t>
            </a:r>
            <a:r>
              <a:rPr sz="1600" b="1" spc="-1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Prejudice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770"/>
              </a:lnSpc>
            </a:pP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The Origin of</a:t>
            </a:r>
            <a:r>
              <a:rPr sz="1600" b="1" spc="-19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Species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845"/>
              </a:lnSpc>
            </a:pP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The Old Curiosity</a:t>
            </a:r>
            <a:r>
              <a:rPr sz="1600" b="1" spc="-229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Shop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63872" y="4022025"/>
            <a:ext cx="995680" cy="727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">
              <a:lnSpc>
                <a:spcPts val="1845"/>
              </a:lnSpc>
            </a:pP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1811</a:t>
            </a:r>
            <a:r>
              <a:rPr sz="1600" b="1" spc="-15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600">
              <a:latin typeface="Courier New"/>
              <a:cs typeface="Courier New"/>
            </a:endParaRPr>
          </a:p>
          <a:p>
            <a:pPr marL="13335">
              <a:lnSpc>
                <a:spcPts val="1770"/>
              </a:lnSpc>
            </a:pP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1856</a:t>
            </a:r>
            <a:r>
              <a:rPr sz="1600" b="1" spc="-15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845"/>
              </a:lnSpc>
            </a:pP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1841</a:t>
            </a:r>
            <a:r>
              <a:rPr sz="1600" b="1" spc="-15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140" y="4696353"/>
            <a:ext cx="4780280" cy="1181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  <a:tabLst>
                <a:tab pos="3767454" algn="l"/>
              </a:tabLst>
            </a:pP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Romeo</a:t>
            </a:r>
            <a:r>
              <a:rPr sz="1600" b="1" spc="-5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and</a:t>
            </a:r>
            <a:r>
              <a:rPr sz="1600" b="1" spc="-3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Juliet	</a:t>
            </a: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1594</a:t>
            </a:r>
            <a:r>
              <a:rPr sz="1600" b="1" spc="-15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770"/>
              </a:lnSpc>
            </a:pP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+------------------------------+------+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845"/>
              </a:lnSpc>
            </a:pP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5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rows in set (0.00</a:t>
            </a:r>
            <a:r>
              <a:rPr sz="1600" b="1" spc="-2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sec)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54072" y="1636267"/>
            <a:ext cx="5300345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-5" dirty="0"/>
              <a:t>Counting with</a:t>
            </a:r>
            <a:r>
              <a:rPr sz="4450" spc="-40" dirty="0"/>
              <a:t> </a:t>
            </a:r>
            <a:r>
              <a:rPr sz="4450" spc="-5" dirty="0"/>
              <a:t>SELECT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612140" y="3352291"/>
            <a:ext cx="4506595" cy="2076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0"/>
              </a:lnSpc>
            </a:pP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 </a:t>
            </a:r>
            <a:r>
              <a:rPr sz="1600" b="1" spc="-5" dirty="0">
                <a:solidFill>
                  <a:srgbClr val="FEFB00"/>
                </a:solidFill>
                <a:latin typeface="Courier New"/>
                <a:cs typeface="Courier New"/>
              </a:rPr>
              <a:t>select count(*) from</a:t>
            </a:r>
            <a:r>
              <a:rPr sz="1600" b="1" spc="-285" dirty="0">
                <a:solidFill>
                  <a:srgbClr val="FEFB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FEFB00"/>
                </a:solidFill>
                <a:latin typeface="Courier New"/>
                <a:cs typeface="Courier New"/>
              </a:rPr>
              <a:t>classics;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755"/>
              </a:lnSpc>
            </a:pP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+----------+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770"/>
              </a:lnSpc>
            </a:pP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count(*)</a:t>
            </a:r>
            <a:r>
              <a:rPr sz="1600" b="1" spc="-18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770"/>
              </a:lnSpc>
            </a:pP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+----------+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770"/>
              </a:lnSpc>
              <a:tabLst>
                <a:tab pos="1104900" algn="l"/>
              </a:tabLst>
            </a:pP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	5</a:t>
            </a:r>
            <a:r>
              <a:rPr sz="1600" b="1" spc="-114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770"/>
              </a:lnSpc>
            </a:pP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+----------+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845"/>
              </a:lnSpc>
            </a:pPr>
            <a:r>
              <a:rPr sz="1600" b="1" dirty="0">
                <a:solidFill>
                  <a:srgbClr val="FEFFFF"/>
                </a:solidFill>
                <a:latin typeface="Courier New"/>
                <a:cs typeface="Courier New"/>
              </a:rPr>
              <a:t>1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row in set (0.00</a:t>
            </a:r>
            <a:r>
              <a:rPr sz="1600" b="1" spc="-204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sec)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96082" y="1636267"/>
            <a:ext cx="3630295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-5" dirty="0"/>
              <a:t>WHERE</a:t>
            </a:r>
            <a:r>
              <a:rPr sz="4450" spc="-50" dirty="0"/>
              <a:t> </a:t>
            </a:r>
            <a:r>
              <a:rPr sz="4450" spc="-5" dirty="0"/>
              <a:t>Clause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1048003" y="2989326"/>
            <a:ext cx="735139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buSzPct val="171428"/>
              <a:buChar char="•"/>
              <a:tabLst>
                <a:tab pos="327025" algn="l"/>
              </a:tabLst>
            </a:pPr>
            <a:r>
              <a:rPr sz="2100" spc="-100" dirty="0">
                <a:solidFill>
                  <a:srgbClr val="FEFFFF"/>
                </a:solidFill>
                <a:latin typeface="Gill Sans MT"/>
                <a:cs typeface="Gill Sans MT"/>
              </a:rPr>
              <a:t>We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can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limit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the </a:t>
            </a:r>
            <a:r>
              <a:rPr sz="2100" spc="-25" dirty="0">
                <a:solidFill>
                  <a:srgbClr val="FEFFFF"/>
                </a:solidFill>
                <a:latin typeface="Gill Sans MT"/>
                <a:cs typeface="Gill Sans MT"/>
              </a:rPr>
              <a:t>rows we </a:t>
            </a:r>
            <a:r>
              <a:rPr sz="2100" spc="-20" dirty="0">
                <a:solidFill>
                  <a:srgbClr val="FEFFFF"/>
                </a:solidFill>
                <a:latin typeface="Gill Sans MT"/>
                <a:cs typeface="Gill Sans MT"/>
              </a:rPr>
              <a:t>retrieve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on a SELECT using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a</a:t>
            </a:r>
            <a:r>
              <a:rPr sz="2100" spc="38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WHERE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3472" y="3301746"/>
            <a:ext cx="68580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clause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140" y="3946144"/>
            <a:ext cx="8573770" cy="2517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95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 </a:t>
            </a:r>
            <a:r>
              <a:rPr sz="1700" b="1" spc="-5" dirty="0">
                <a:solidFill>
                  <a:srgbClr val="FEFB00"/>
                </a:solidFill>
                <a:latin typeface="Courier New"/>
                <a:cs typeface="Courier New"/>
              </a:rPr>
              <a:t>SELECT title, author, year FROM classics WHERE year &gt;</a:t>
            </a:r>
            <a:r>
              <a:rPr sz="1700" b="1" spc="145" dirty="0">
                <a:solidFill>
                  <a:srgbClr val="FEFB00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B00"/>
                </a:solidFill>
                <a:latin typeface="Courier New"/>
                <a:cs typeface="Courier New"/>
              </a:rPr>
              <a:t>1850;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+------------------------------+----------------+------+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  <a:tabLst>
                <a:tab pos="4051935" algn="l"/>
                <a:tab pos="6262370" algn="l"/>
              </a:tabLst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700" b="1" spc="1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title	|</a:t>
            </a:r>
            <a:r>
              <a:rPr sz="1700" b="1" spc="1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author	| year</a:t>
            </a:r>
            <a:r>
              <a:rPr sz="1700" b="1" spc="-7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+------------------------------+----------------+------+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  <a:tabLst>
                <a:tab pos="6234430" algn="l"/>
              </a:tabLst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 The Adventures of Tom Sawyer |</a:t>
            </a:r>
            <a:r>
              <a:rPr sz="1700" b="1" spc="12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Mark</a:t>
            </a:r>
            <a:r>
              <a:rPr sz="1700" b="1" spc="1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Twain	| 1876</a:t>
            </a:r>
            <a:r>
              <a:rPr sz="1700" b="1" spc="-7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  <a:tabLst>
                <a:tab pos="4034790" algn="l"/>
              </a:tabLst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 The Origin</a:t>
            </a:r>
            <a:r>
              <a:rPr sz="1700" b="1" spc="5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of</a:t>
            </a:r>
            <a:r>
              <a:rPr sz="1700" b="1" spc="1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Species	| Charles Darwin | 1856</a:t>
            </a:r>
            <a:r>
              <a:rPr sz="1700" b="1" spc="-1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+------------------------------+----------------+------+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89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2 rows in set (0.00</a:t>
            </a:r>
            <a:r>
              <a:rPr sz="1700" b="1" spc="-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sec)</a:t>
            </a:r>
            <a:endParaRPr sz="1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75507" y="1636267"/>
            <a:ext cx="3697604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-5" dirty="0"/>
              <a:t>The LIKE</a:t>
            </a:r>
            <a:r>
              <a:rPr sz="4450" spc="-30" dirty="0"/>
              <a:t> </a:t>
            </a:r>
            <a:r>
              <a:rPr sz="4450" dirty="0"/>
              <a:t>clause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1048003" y="3012185"/>
            <a:ext cx="7357109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buSzPct val="171428"/>
              <a:buChar char="•"/>
              <a:tabLst>
                <a:tab pos="327025" algn="l"/>
              </a:tabLst>
            </a:pPr>
            <a:r>
              <a:rPr sz="2100" spc="-100" dirty="0">
                <a:solidFill>
                  <a:srgbClr val="FEFFFF"/>
                </a:solidFill>
                <a:latin typeface="Gill Sans MT"/>
                <a:cs typeface="Gill Sans MT"/>
              </a:rPr>
              <a:t>We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can do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wildcard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matching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in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a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WHERE clause using the</a:t>
            </a:r>
            <a:r>
              <a:rPr sz="2100" spc="27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LIKE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3472" y="3324605"/>
            <a:ext cx="1004569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operator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118" y="3946144"/>
            <a:ext cx="8703310" cy="2518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95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 </a:t>
            </a:r>
            <a:r>
              <a:rPr sz="1700" b="1" spc="-5" dirty="0">
                <a:solidFill>
                  <a:srgbClr val="FEFB00"/>
                </a:solidFill>
                <a:latin typeface="Courier New"/>
                <a:cs typeface="Courier New"/>
              </a:rPr>
              <a:t>SELECT title, author FROM classics WHERE title LIKE</a:t>
            </a:r>
            <a:r>
              <a:rPr sz="1700" b="1" spc="150" dirty="0">
                <a:solidFill>
                  <a:srgbClr val="FEFB00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B00"/>
                </a:solidFill>
                <a:latin typeface="Courier New"/>
                <a:cs typeface="Courier New"/>
              </a:rPr>
              <a:t>"%and%";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50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+---------------------+---------------------+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  <a:tabLst>
                <a:tab pos="2875915" algn="l"/>
                <a:tab pos="5739130" algn="l"/>
              </a:tabLst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700" b="1" spc="1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title	|</a:t>
            </a:r>
            <a:r>
              <a:rPr sz="1700" b="1" spc="1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author	|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+---------------------+---------------------+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  <a:tabLst>
                <a:tab pos="5720080" algn="l"/>
              </a:tabLst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 Pride and Prejudice |</a:t>
            </a:r>
            <a:r>
              <a:rPr sz="1700" b="1" spc="9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Jane</a:t>
            </a:r>
            <a:r>
              <a:rPr sz="17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Austen	|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  <a:tabLst>
                <a:tab pos="2865755" algn="l"/>
              </a:tabLst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 Romeo</a:t>
            </a:r>
            <a:r>
              <a:rPr sz="1700" b="1" spc="3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and</a:t>
            </a:r>
            <a:r>
              <a:rPr sz="1700" b="1" spc="1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Juliet	| William Shakespeare</a:t>
            </a:r>
            <a:r>
              <a:rPr sz="1700" b="1" spc="-2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+---------------------+---------------------+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89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2 rows in set (0.00</a:t>
            </a:r>
            <a:r>
              <a:rPr sz="1700" b="1" spc="-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sec)</a:t>
            </a:r>
            <a:endParaRPr sz="1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65473" y="1636267"/>
            <a:ext cx="2698115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-5" dirty="0"/>
              <a:t>ORDER</a:t>
            </a:r>
            <a:r>
              <a:rPr sz="4450" spc="-70" dirty="0"/>
              <a:t> </a:t>
            </a:r>
            <a:r>
              <a:rPr sz="4450" spc="-5" dirty="0"/>
              <a:t>BY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612140" y="2989834"/>
            <a:ext cx="8055609" cy="1035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95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 </a:t>
            </a:r>
            <a:r>
              <a:rPr sz="1700" b="1" spc="-5" dirty="0">
                <a:solidFill>
                  <a:srgbClr val="FEFB00"/>
                </a:solidFill>
                <a:latin typeface="Courier New"/>
                <a:cs typeface="Courier New"/>
              </a:rPr>
              <a:t>SELECT title, author, year FROM classics ORDER BY</a:t>
            </a:r>
            <a:r>
              <a:rPr sz="1700" b="1" spc="130" dirty="0">
                <a:solidFill>
                  <a:srgbClr val="FEFB00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B00"/>
                </a:solidFill>
                <a:latin typeface="Courier New"/>
                <a:cs typeface="Courier New"/>
              </a:rPr>
              <a:t>year;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50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+------------------------------+---------------------+------+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  <a:tabLst>
                <a:tab pos="4051935" algn="l"/>
                <a:tab pos="6915150" algn="l"/>
              </a:tabLst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700" b="1" spc="1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title	|</a:t>
            </a:r>
            <a:r>
              <a:rPr sz="1700" b="1" spc="1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author	| year</a:t>
            </a:r>
            <a:r>
              <a:rPr sz="1700" b="1" spc="-7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89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+------------------------------+---------------------+------+</a:t>
            </a:r>
            <a:endParaRPr sz="170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93090" y="4015286"/>
          <a:ext cx="7982944" cy="12333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960"/>
                <a:gridCol w="3756057"/>
                <a:gridCol w="265449"/>
                <a:gridCol w="2595353"/>
                <a:gridCol w="262009"/>
                <a:gridCol w="647649"/>
                <a:gridCol w="230467"/>
              </a:tblGrid>
              <a:tr h="245967">
                <a:tc>
                  <a:txBody>
                    <a:bodyPr/>
                    <a:lstStyle/>
                    <a:p>
                      <a:pPr marL="31750">
                        <a:lnSpc>
                          <a:spcPts val="1755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1755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Romeo and</a:t>
                      </a:r>
                      <a:r>
                        <a:rPr sz="1700" b="1" spc="-4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Juliet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ts val="1755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755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William</a:t>
                      </a:r>
                      <a:r>
                        <a:rPr sz="1700" b="1" spc="-3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Shakespeare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1594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ts val="1755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  <a:tr h="247270">
                <a:tc>
                  <a:txBody>
                    <a:bodyPr/>
                    <a:lstStyle/>
                    <a:p>
                      <a:pPr marL="31750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Pride and</a:t>
                      </a:r>
                      <a:r>
                        <a:rPr sz="1700" b="1" spc="-3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Prejudice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Jane</a:t>
                      </a:r>
                      <a:r>
                        <a:rPr sz="1700" b="1" spc="-6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Austen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1811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  <a:tr h="246893">
                <a:tc>
                  <a:txBody>
                    <a:bodyPr/>
                    <a:lstStyle/>
                    <a:p>
                      <a:pPr marL="31750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The Old Curiosity</a:t>
                      </a:r>
                      <a:r>
                        <a:rPr sz="1700" b="1" spc="-2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Shop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Charles</a:t>
                      </a:r>
                      <a:r>
                        <a:rPr sz="1700" b="1" spc="-50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Dickens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1841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  <a:tr h="247270">
                <a:tc>
                  <a:txBody>
                    <a:bodyPr/>
                    <a:lstStyle/>
                    <a:p>
                      <a:pPr marL="31750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The Origin of</a:t>
                      </a:r>
                      <a:r>
                        <a:rPr sz="1700" b="1" spc="-2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Species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Charles</a:t>
                      </a:r>
                      <a:r>
                        <a:rPr sz="1700" b="1" spc="-5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Darwin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1856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  <a:tr h="245967">
                <a:tc>
                  <a:txBody>
                    <a:bodyPr/>
                    <a:lstStyle/>
                    <a:p>
                      <a:pPr marL="31750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The Adventures of Tom</a:t>
                      </a: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Sawyer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Mark</a:t>
                      </a:r>
                      <a:r>
                        <a:rPr sz="1700" b="1" spc="-70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Twain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1876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12140" y="5214890"/>
            <a:ext cx="7926070" cy="1035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+------------------------------+---------------------+------+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89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5 rows in set (0.00</a:t>
            </a:r>
            <a:r>
              <a:rPr sz="1700" b="1" spc="-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sec)</a:t>
            </a:r>
            <a:endParaRPr sz="1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75379" y="1636267"/>
            <a:ext cx="2698115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-5" dirty="0"/>
              <a:t>ORDER</a:t>
            </a:r>
            <a:r>
              <a:rPr sz="4450" spc="-70" dirty="0"/>
              <a:t> </a:t>
            </a:r>
            <a:r>
              <a:rPr sz="4450" spc="-5" dirty="0"/>
              <a:t>BY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612118" y="2989834"/>
            <a:ext cx="8704580" cy="1035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95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 </a:t>
            </a:r>
            <a:r>
              <a:rPr sz="1700" b="1" spc="-5" dirty="0">
                <a:solidFill>
                  <a:srgbClr val="FEFB00"/>
                </a:solidFill>
                <a:latin typeface="Courier New"/>
                <a:cs typeface="Courier New"/>
              </a:rPr>
              <a:t>SELECT title, author, year FROM classics ORDER BY year</a:t>
            </a:r>
            <a:r>
              <a:rPr sz="1700" b="1" spc="160" dirty="0">
                <a:solidFill>
                  <a:srgbClr val="FEFB00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F40FF"/>
                </a:solidFill>
                <a:latin typeface="Courier New"/>
                <a:cs typeface="Courier New"/>
              </a:rPr>
              <a:t>DESC</a:t>
            </a:r>
            <a:r>
              <a:rPr sz="1700" b="1" spc="-5" dirty="0">
                <a:solidFill>
                  <a:srgbClr val="FEFB00"/>
                </a:solidFill>
                <a:latin typeface="Courier New"/>
                <a:cs typeface="Courier New"/>
              </a:rPr>
              <a:t>;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50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+------------------------------+---------------------+------+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  <a:tabLst>
                <a:tab pos="4051935" algn="l"/>
                <a:tab pos="6915150" algn="l"/>
              </a:tabLst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700" b="1" spc="1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title	|</a:t>
            </a:r>
            <a:r>
              <a:rPr sz="1700" b="1" spc="1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author	| year</a:t>
            </a:r>
            <a:r>
              <a:rPr sz="1700" b="1" spc="-7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89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+------------------------------+---------------------+------+</a:t>
            </a:r>
            <a:endParaRPr sz="170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93068" y="4015286"/>
          <a:ext cx="7982944" cy="12333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960"/>
                <a:gridCol w="3756057"/>
                <a:gridCol w="265449"/>
                <a:gridCol w="2595353"/>
                <a:gridCol w="262009"/>
                <a:gridCol w="647649"/>
                <a:gridCol w="230467"/>
              </a:tblGrid>
              <a:tr h="245967">
                <a:tc>
                  <a:txBody>
                    <a:bodyPr/>
                    <a:lstStyle/>
                    <a:p>
                      <a:pPr marL="31750">
                        <a:lnSpc>
                          <a:spcPts val="1755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1755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The Adventures of Tom</a:t>
                      </a: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Sawyer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755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Mark</a:t>
                      </a:r>
                      <a:r>
                        <a:rPr sz="1700" b="1" spc="-70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Twain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755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1876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ts val="1755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  <a:tr h="247270">
                <a:tc>
                  <a:txBody>
                    <a:bodyPr/>
                    <a:lstStyle/>
                    <a:p>
                      <a:pPr marL="31750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The Origin of</a:t>
                      </a:r>
                      <a:r>
                        <a:rPr sz="1700" b="1" spc="-2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Species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Charles</a:t>
                      </a:r>
                      <a:r>
                        <a:rPr sz="1700" b="1" spc="-5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Darwin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1856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  <a:tr h="246893">
                <a:tc>
                  <a:txBody>
                    <a:bodyPr/>
                    <a:lstStyle/>
                    <a:p>
                      <a:pPr marL="31750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The Old Curiosity</a:t>
                      </a:r>
                      <a:r>
                        <a:rPr sz="1700" b="1" spc="-2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Shop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Charles</a:t>
                      </a:r>
                      <a:r>
                        <a:rPr sz="1700" b="1" spc="-50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Dickens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1841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  <a:tr h="247270">
                <a:tc>
                  <a:txBody>
                    <a:bodyPr/>
                    <a:lstStyle/>
                    <a:p>
                      <a:pPr marL="31750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Pride and</a:t>
                      </a:r>
                      <a:r>
                        <a:rPr sz="1700" b="1" spc="-3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Prejudice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Jane</a:t>
                      </a:r>
                      <a:r>
                        <a:rPr sz="1700" b="1" spc="-6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Austen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1811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  <a:tr h="245967">
                <a:tc>
                  <a:txBody>
                    <a:bodyPr/>
                    <a:lstStyle/>
                    <a:p>
                      <a:pPr marL="31750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Romeo and</a:t>
                      </a:r>
                      <a:r>
                        <a:rPr sz="1700" b="1" spc="-4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Juliet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William</a:t>
                      </a:r>
                      <a:r>
                        <a:rPr sz="1700" b="1" spc="-3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Shakespeare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64"/>
                        </a:lnSpc>
                      </a:pPr>
                      <a:r>
                        <a:rPr sz="1700" b="1" spc="-5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1594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ts val="1764"/>
                        </a:lnSpc>
                      </a:pPr>
                      <a:r>
                        <a:rPr sz="1700" b="1" dirty="0">
                          <a:solidFill>
                            <a:srgbClr val="FEFFFF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12118" y="5214890"/>
            <a:ext cx="7926070" cy="540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+------------------------------+---------------------+------+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89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5 rows in set (0.00</a:t>
            </a:r>
            <a:r>
              <a:rPr sz="1700" b="1" spc="-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sec)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140" y="5956300"/>
            <a:ext cx="802640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6015" y="6070344"/>
            <a:ext cx="3921125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spc="-15" dirty="0">
                <a:solidFill>
                  <a:srgbClr val="00F900"/>
                </a:solidFill>
                <a:latin typeface="Gill Sans MT"/>
                <a:cs typeface="Gill Sans MT"/>
              </a:rPr>
              <a:t>Indexes </a:t>
            </a:r>
            <a:r>
              <a:rPr sz="1750" spc="-20" dirty="0">
                <a:solidFill>
                  <a:srgbClr val="00F900"/>
                </a:solidFill>
                <a:latin typeface="Gill Sans MT"/>
                <a:cs typeface="Gill Sans MT"/>
              </a:rPr>
              <a:t>improve </a:t>
            </a:r>
            <a:r>
              <a:rPr sz="1750" spc="-5" dirty="0">
                <a:solidFill>
                  <a:srgbClr val="00F900"/>
                </a:solidFill>
                <a:latin typeface="Gill Sans MT"/>
                <a:cs typeface="Gill Sans MT"/>
              </a:rPr>
              <a:t>ORDER BY</a:t>
            </a:r>
            <a:r>
              <a:rPr sz="1750" spc="245" dirty="0">
                <a:solidFill>
                  <a:srgbClr val="00F900"/>
                </a:solidFill>
                <a:latin typeface="Gill Sans MT"/>
                <a:cs typeface="Gill Sans MT"/>
              </a:rPr>
              <a:t> </a:t>
            </a:r>
            <a:r>
              <a:rPr sz="1750" spc="5" dirty="0">
                <a:solidFill>
                  <a:srgbClr val="00F900"/>
                </a:solidFill>
                <a:latin typeface="Gill Sans MT"/>
                <a:cs typeface="Gill Sans MT"/>
              </a:rPr>
              <a:t>performance.</a:t>
            </a:r>
            <a:endParaRPr sz="175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66720" y="1636267"/>
            <a:ext cx="4118610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-5" dirty="0"/>
              <a:t>The LIMIT</a:t>
            </a:r>
            <a:r>
              <a:rPr sz="4450" spc="-15" dirty="0"/>
              <a:t> </a:t>
            </a:r>
            <a:r>
              <a:rPr sz="4450" spc="-5" dirty="0"/>
              <a:t>Clause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1048766" y="2841497"/>
            <a:ext cx="783272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buSzPct val="171428"/>
              <a:buChar char="•"/>
              <a:tabLst>
                <a:tab pos="327025" algn="l"/>
              </a:tabLst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The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LIMIT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clause can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request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the first "n" </a:t>
            </a:r>
            <a:r>
              <a:rPr sz="2100" spc="-20" dirty="0">
                <a:solidFill>
                  <a:srgbClr val="FEFFFF"/>
                </a:solidFill>
                <a:latin typeface="Gill Sans MT"/>
                <a:cs typeface="Gill Sans MT"/>
              </a:rPr>
              <a:t>rows,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or the first "n"</a:t>
            </a:r>
            <a:r>
              <a:rPr sz="2100" spc="44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-15" dirty="0">
                <a:solidFill>
                  <a:srgbClr val="FEFFFF"/>
                </a:solidFill>
                <a:latin typeface="Gill Sans MT"/>
                <a:cs typeface="Gill Sans MT"/>
              </a:rPr>
              <a:t>rows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2055" y="3170682"/>
            <a:ext cx="8402955" cy="1807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3735">
              <a:lnSpc>
                <a:spcPct val="100000"/>
              </a:lnSpc>
              <a:tabLst>
                <a:tab pos="3421379" algn="l"/>
              </a:tabLst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after some</a:t>
            </a:r>
            <a:r>
              <a:rPr sz="2100" spc="8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starting</a:t>
            </a:r>
            <a:r>
              <a:rPr sz="2100" spc="7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-50" dirty="0">
                <a:solidFill>
                  <a:srgbClr val="FEFFFF"/>
                </a:solidFill>
                <a:latin typeface="Gill Sans MT"/>
                <a:cs typeface="Gill Sans MT"/>
              </a:rPr>
              <a:t>row.	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Note: the first </a:t>
            </a:r>
            <a:r>
              <a:rPr sz="2100" spc="-25" dirty="0">
                <a:solidFill>
                  <a:srgbClr val="FEFFFF"/>
                </a:solidFill>
                <a:latin typeface="Gill Sans MT"/>
                <a:cs typeface="Gill Sans MT"/>
              </a:rPr>
              <a:t>row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is </a:t>
            </a:r>
            <a:r>
              <a:rPr sz="2100" spc="-25" dirty="0">
                <a:solidFill>
                  <a:srgbClr val="FEFFFF"/>
                </a:solidFill>
                <a:latin typeface="Gill Sans MT"/>
                <a:cs typeface="Gill Sans MT"/>
              </a:rPr>
              <a:t>zero,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not</a:t>
            </a:r>
            <a:r>
              <a:rPr sz="2100" spc="-15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one</a:t>
            </a:r>
            <a:endParaRPr sz="2100">
              <a:latin typeface="Gill Sans MT"/>
              <a:cs typeface="Gill Sans MT"/>
            </a:endParaRPr>
          </a:p>
          <a:p>
            <a:pPr marL="680085" indent="-314325">
              <a:lnSpc>
                <a:spcPct val="100000"/>
              </a:lnSpc>
              <a:spcBef>
                <a:spcPts val="1960"/>
              </a:spcBef>
              <a:buSzPct val="171428"/>
              <a:buChar char="•"/>
              <a:tabLst>
                <a:tab pos="680720" algn="l"/>
              </a:tabLst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WHERE and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ORDER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BY clauses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happen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*before*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the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LIMIT is</a:t>
            </a:r>
            <a:r>
              <a:rPr sz="2100" spc="55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applied</a:t>
            </a:r>
            <a:endParaRPr sz="2100">
              <a:latin typeface="Gill Sans MT"/>
              <a:cs typeface="Gill Sans MT"/>
            </a:endParaRPr>
          </a:p>
          <a:p>
            <a:pPr marL="12700">
              <a:lnSpc>
                <a:spcPts val="1730"/>
              </a:lnSpc>
              <a:spcBef>
                <a:spcPts val="3529"/>
              </a:spcBef>
            </a:pPr>
            <a:r>
              <a:rPr sz="145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 </a:t>
            </a:r>
            <a:r>
              <a:rPr sz="1450" b="1" spc="-5" dirty="0">
                <a:solidFill>
                  <a:srgbClr val="FEFB00"/>
                </a:solidFill>
                <a:latin typeface="Courier New"/>
                <a:cs typeface="Courier New"/>
              </a:rPr>
              <a:t>SELECT title, author, year FROM classics ORDER BY year DESC </a:t>
            </a:r>
            <a:r>
              <a:rPr sz="1450" b="1" spc="-5" dirty="0">
                <a:solidFill>
                  <a:srgbClr val="FF40FF"/>
                </a:solidFill>
                <a:latin typeface="Courier New"/>
                <a:cs typeface="Courier New"/>
              </a:rPr>
              <a:t>LIMIT</a:t>
            </a:r>
            <a:r>
              <a:rPr sz="1450" b="1" spc="735" dirty="0">
                <a:solidFill>
                  <a:srgbClr val="FF40FF"/>
                </a:solidFill>
                <a:latin typeface="Courier New"/>
                <a:cs typeface="Courier New"/>
              </a:rPr>
              <a:t> </a:t>
            </a:r>
            <a:r>
              <a:rPr sz="1450" b="1" spc="5" dirty="0">
                <a:solidFill>
                  <a:srgbClr val="FEFB00"/>
                </a:solidFill>
                <a:latin typeface="Courier New"/>
                <a:cs typeface="Courier New"/>
              </a:rPr>
              <a:t>2;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ts val="1730"/>
              </a:lnSpc>
            </a:pPr>
            <a:r>
              <a:rPr sz="1450" b="1" spc="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+------------------------------+----------------+------+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2051" y="4944106"/>
            <a:ext cx="6309360" cy="1339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5"/>
              </a:lnSpc>
              <a:tabLst>
                <a:tab pos="3495040" algn="l"/>
                <a:tab pos="5401310" algn="l"/>
              </a:tabLst>
            </a:pPr>
            <a:r>
              <a:rPr sz="145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50" b="1" spc="2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50" b="1" spc="-5" dirty="0">
                <a:solidFill>
                  <a:srgbClr val="FEFFFF"/>
                </a:solidFill>
                <a:latin typeface="Courier New"/>
                <a:cs typeface="Courier New"/>
              </a:rPr>
              <a:t>title	</a:t>
            </a:r>
            <a:r>
              <a:rPr sz="145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50" b="1" spc="2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50" b="1" spc="-5" dirty="0">
                <a:solidFill>
                  <a:srgbClr val="FEFFFF"/>
                </a:solidFill>
                <a:latin typeface="Courier New"/>
                <a:cs typeface="Courier New"/>
              </a:rPr>
              <a:t>author	</a:t>
            </a:r>
            <a:r>
              <a:rPr sz="145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450" b="1" spc="-5" dirty="0">
                <a:solidFill>
                  <a:srgbClr val="FEFFFF"/>
                </a:solidFill>
                <a:latin typeface="Courier New"/>
                <a:cs typeface="Courier New"/>
              </a:rPr>
              <a:t>year</a:t>
            </a:r>
            <a:r>
              <a:rPr sz="1450" b="1" spc="-2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5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ts val="1710"/>
              </a:lnSpc>
            </a:pPr>
            <a:r>
              <a:rPr sz="1450" b="1" spc="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+------------------------------+----------------+------+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ts val="1714"/>
              </a:lnSpc>
              <a:tabLst>
                <a:tab pos="5379085" algn="l"/>
              </a:tabLst>
            </a:pPr>
            <a:r>
              <a:rPr sz="145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450" b="1" spc="-5" dirty="0">
                <a:solidFill>
                  <a:srgbClr val="FEFFFF"/>
                </a:solidFill>
                <a:latin typeface="Courier New"/>
                <a:cs typeface="Courier New"/>
              </a:rPr>
              <a:t>The Adventures of Tom Sawyer </a:t>
            </a:r>
            <a:r>
              <a:rPr sz="145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50" b="1" spc="38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50" b="1" spc="-5" dirty="0">
                <a:solidFill>
                  <a:srgbClr val="FEFFFF"/>
                </a:solidFill>
                <a:latin typeface="Courier New"/>
                <a:cs typeface="Courier New"/>
              </a:rPr>
              <a:t>Mark</a:t>
            </a:r>
            <a:r>
              <a:rPr sz="1450" b="1" spc="5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50" b="1" spc="-5" dirty="0">
                <a:solidFill>
                  <a:srgbClr val="FEFFFF"/>
                </a:solidFill>
                <a:latin typeface="Courier New"/>
                <a:cs typeface="Courier New"/>
              </a:rPr>
              <a:t>Twain	</a:t>
            </a:r>
            <a:r>
              <a:rPr sz="145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450" b="1" spc="-5" dirty="0">
                <a:solidFill>
                  <a:srgbClr val="FEFFFF"/>
                </a:solidFill>
                <a:latin typeface="Courier New"/>
                <a:cs typeface="Courier New"/>
              </a:rPr>
              <a:t>1876</a:t>
            </a:r>
            <a:r>
              <a:rPr sz="1450" b="1" spc="-2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5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ts val="1714"/>
              </a:lnSpc>
              <a:tabLst>
                <a:tab pos="3481704" algn="l"/>
              </a:tabLst>
            </a:pPr>
            <a:r>
              <a:rPr sz="1450" b="1" dirty="0">
                <a:solidFill>
                  <a:srgbClr val="00FCFF"/>
                </a:solidFill>
                <a:latin typeface="Courier New"/>
                <a:cs typeface="Courier New"/>
              </a:rPr>
              <a:t>| </a:t>
            </a:r>
            <a:r>
              <a:rPr sz="1450" b="1" spc="-5" dirty="0">
                <a:solidFill>
                  <a:srgbClr val="00FCFF"/>
                </a:solidFill>
                <a:latin typeface="Courier New"/>
                <a:cs typeface="Courier New"/>
              </a:rPr>
              <a:t>The Origin</a:t>
            </a:r>
            <a:r>
              <a:rPr sz="1450" b="1" spc="145" dirty="0">
                <a:solidFill>
                  <a:srgbClr val="00FCFF"/>
                </a:solidFill>
                <a:latin typeface="Courier New"/>
                <a:cs typeface="Courier New"/>
              </a:rPr>
              <a:t> </a:t>
            </a:r>
            <a:r>
              <a:rPr sz="1450" b="1" spc="-5" dirty="0">
                <a:solidFill>
                  <a:srgbClr val="00FCFF"/>
                </a:solidFill>
                <a:latin typeface="Courier New"/>
                <a:cs typeface="Courier New"/>
              </a:rPr>
              <a:t>of</a:t>
            </a:r>
            <a:r>
              <a:rPr sz="1450" b="1" spc="30" dirty="0">
                <a:solidFill>
                  <a:srgbClr val="00FCFF"/>
                </a:solidFill>
                <a:latin typeface="Courier New"/>
                <a:cs typeface="Courier New"/>
              </a:rPr>
              <a:t> </a:t>
            </a:r>
            <a:r>
              <a:rPr sz="1450" b="1" spc="-5" dirty="0">
                <a:solidFill>
                  <a:srgbClr val="00FCFF"/>
                </a:solidFill>
                <a:latin typeface="Courier New"/>
                <a:cs typeface="Courier New"/>
              </a:rPr>
              <a:t>Species	</a:t>
            </a:r>
            <a:r>
              <a:rPr sz="1450" b="1" dirty="0">
                <a:solidFill>
                  <a:srgbClr val="00FCFF"/>
                </a:solidFill>
                <a:latin typeface="Courier New"/>
                <a:cs typeface="Courier New"/>
              </a:rPr>
              <a:t>| </a:t>
            </a:r>
            <a:r>
              <a:rPr sz="1450" b="1" spc="-5" dirty="0">
                <a:solidFill>
                  <a:srgbClr val="00FCFF"/>
                </a:solidFill>
                <a:latin typeface="Courier New"/>
                <a:cs typeface="Courier New"/>
              </a:rPr>
              <a:t>Charles Darwin </a:t>
            </a:r>
            <a:r>
              <a:rPr sz="1450" b="1" dirty="0">
                <a:solidFill>
                  <a:srgbClr val="00FCFF"/>
                </a:solidFill>
                <a:latin typeface="Courier New"/>
                <a:cs typeface="Courier New"/>
              </a:rPr>
              <a:t>| </a:t>
            </a:r>
            <a:r>
              <a:rPr sz="1450" b="1" spc="-5" dirty="0">
                <a:solidFill>
                  <a:srgbClr val="00FCFF"/>
                </a:solidFill>
                <a:latin typeface="Courier New"/>
                <a:cs typeface="Courier New"/>
              </a:rPr>
              <a:t>1856</a:t>
            </a:r>
            <a:r>
              <a:rPr sz="1450" b="1" spc="165" dirty="0">
                <a:solidFill>
                  <a:srgbClr val="00FCFF"/>
                </a:solidFill>
                <a:latin typeface="Courier New"/>
                <a:cs typeface="Courier New"/>
              </a:rPr>
              <a:t> </a:t>
            </a:r>
            <a:r>
              <a:rPr sz="1450" b="1" spc="5" dirty="0">
                <a:solidFill>
                  <a:srgbClr val="00FCFF"/>
                </a:solidFill>
                <a:latin typeface="Courier New"/>
                <a:cs typeface="Courier New"/>
              </a:rPr>
              <a:t>|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ts val="1714"/>
              </a:lnSpc>
            </a:pPr>
            <a:r>
              <a:rPr sz="1450" b="1" spc="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+------------------------------+----------------+------+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ts val="1730"/>
              </a:lnSpc>
            </a:pPr>
            <a:r>
              <a:rPr sz="1450" b="1" dirty="0">
                <a:solidFill>
                  <a:srgbClr val="FEFFFF"/>
                </a:solidFill>
                <a:latin typeface="Courier New"/>
                <a:cs typeface="Courier New"/>
              </a:rPr>
              <a:t>2 </a:t>
            </a:r>
            <a:r>
              <a:rPr sz="1450" b="1" spc="-5" dirty="0">
                <a:solidFill>
                  <a:srgbClr val="FEFFFF"/>
                </a:solidFill>
                <a:latin typeface="Courier New"/>
                <a:cs typeface="Courier New"/>
              </a:rPr>
              <a:t>rows in set (0.01</a:t>
            </a:r>
            <a:r>
              <a:rPr sz="1450" b="1" spc="14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50" b="1" spc="5" dirty="0">
                <a:solidFill>
                  <a:srgbClr val="FEFFFF"/>
                </a:solidFill>
                <a:latin typeface="Courier New"/>
                <a:cs typeface="Courier New"/>
              </a:rPr>
              <a:t>sec)</a:t>
            </a:r>
            <a:endParaRPr sz="14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66720" y="1636267"/>
            <a:ext cx="4118610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-5" dirty="0"/>
              <a:t>The LIMIT</a:t>
            </a:r>
            <a:r>
              <a:rPr sz="4450" spc="-15" dirty="0"/>
              <a:t> </a:t>
            </a:r>
            <a:r>
              <a:rPr sz="4450" spc="-5" dirty="0"/>
              <a:t>Clause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1048766" y="2841497"/>
            <a:ext cx="7832725" cy="455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buSzPct val="171428"/>
              <a:buChar char="•"/>
              <a:tabLst>
                <a:tab pos="327025" algn="l"/>
              </a:tabLst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The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LIMIT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clause can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request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the first "n" </a:t>
            </a:r>
            <a:r>
              <a:rPr sz="2100" spc="-20" dirty="0">
                <a:solidFill>
                  <a:srgbClr val="FEFFFF"/>
                </a:solidFill>
                <a:latin typeface="Gill Sans MT"/>
                <a:cs typeface="Gill Sans MT"/>
              </a:rPr>
              <a:t>rows,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or the first "n"</a:t>
            </a:r>
            <a:r>
              <a:rPr sz="2100" spc="44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-15" dirty="0">
                <a:solidFill>
                  <a:srgbClr val="FEFFFF"/>
                </a:solidFill>
                <a:latin typeface="Gill Sans MT"/>
                <a:cs typeface="Gill Sans MT"/>
              </a:rPr>
              <a:t>rows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2055" y="3170682"/>
            <a:ext cx="8626475" cy="1807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3735">
              <a:lnSpc>
                <a:spcPct val="100000"/>
              </a:lnSpc>
              <a:tabLst>
                <a:tab pos="3421379" algn="l"/>
              </a:tabLst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after some</a:t>
            </a:r>
            <a:r>
              <a:rPr sz="2100" spc="8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starting</a:t>
            </a:r>
            <a:r>
              <a:rPr sz="2100" spc="7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-50" dirty="0">
                <a:solidFill>
                  <a:srgbClr val="FEFFFF"/>
                </a:solidFill>
                <a:latin typeface="Gill Sans MT"/>
                <a:cs typeface="Gill Sans MT"/>
              </a:rPr>
              <a:t>row.	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Note: the first </a:t>
            </a:r>
            <a:r>
              <a:rPr sz="2100" spc="-25" dirty="0">
                <a:solidFill>
                  <a:srgbClr val="FEFFFF"/>
                </a:solidFill>
                <a:latin typeface="Gill Sans MT"/>
                <a:cs typeface="Gill Sans MT"/>
              </a:rPr>
              <a:t>row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is </a:t>
            </a:r>
            <a:r>
              <a:rPr sz="2100" spc="-25" dirty="0">
                <a:solidFill>
                  <a:srgbClr val="FEFFFF"/>
                </a:solidFill>
                <a:latin typeface="Gill Sans MT"/>
                <a:cs typeface="Gill Sans MT"/>
              </a:rPr>
              <a:t>zero,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not</a:t>
            </a:r>
            <a:r>
              <a:rPr sz="2100" spc="-15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one</a:t>
            </a:r>
            <a:endParaRPr sz="2100">
              <a:latin typeface="Gill Sans MT"/>
              <a:cs typeface="Gill Sans MT"/>
            </a:endParaRPr>
          </a:p>
          <a:p>
            <a:pPr marL="680085" indent="-314325">
              <a:lnSpc>
                <a:spcPct val="100000"/>
              </a:lnSpc>
              <a:spcBef>
                <a:spcPts val="1960"/>
              </a:spcBef>
              <a:buSzPct val="171428"/>
              <a:buChar char="•"/>
              <a:tabLst>
                <a:tab pos="680720" algn="l"/>
              </a:tabLst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WHERE and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ORDER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BY clauses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happen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*before*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the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LIMIT is</a:t>
            </a:r>
            <a:r>
              <a:rPr sz="2100" spc="55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applied</a:t>
            </a:r>
            <a:endParaRPr sz="2100">
              <a:latin typeface="Gill Sans MT"/>
              <a:cs typeface="Gill Sans MT"/>
            </a:endParaRPr>
          </a:p>
          <a:p>
            <a:pPr marL="12700">
              <a:lnSpc>
                <a:spcPts val="1730"/>
              </a:lnSpc>
              <a:spcBef>
                <a:spcPts val="3529"/>
              </a:spcBef>
            </a:pPr>
            <a:r>
              <a:rPr sz="145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 </a:t>
            </a:r>
            <a:r>
              <a:rPr sz="1450" b="1" spc="-5" dirty="0">
                <a:solidFill>
                  <a:srgbClr val="FEFB00"/>
                </a:solidFill>
                <a:latin typeface="Courier New"/>
                <a:cs typeface="Courier New"/>
              </a:rPr>
              <a:t>SELECT title, author, year FROM classics ORDER BY year DESC </a:t>
            </a:r>
            <a:r>
              <a:rPr sz="1450" b="1" spc="-5" dirty="0">
                <a:solidFill>
                  <a:srgbClr val="00F900"/>
                </a:solidFill>
                <a:latin typeface="Courier New"/>
                <a:cs typeface="Courier New"/>
              </a:rPr>
              <a:t>LIMIT</a:t>
            </a:r>
            <a:r>
              <a:rPr sz="1450" b="1" spc="735" dirty="0">
                <a:solidFill>
                  <a:srgbClr val="00F900"/>
                </a:solidFill>
                <a:latin typeface="Courier New"/>
                <a:cs typeface="Courier New"/>
              </a:rPr>
              <a:t> </a:t>
            </a:r>
            <a:r>
              <a:rPr sz="1450" b="1" spc="5" dirty="0">
                <a:solidFill>
                  <a:srgbClr val="00F900"/>
                </a:solidFill>
                <a:latin typeface="Courier New"/>
                <a:cs typeface="Courier New"/>
              </a:rPr>
              <a:t>1,2</a:t>
            </a:r>
            <a:r>
              <a:rPr sz="1450" b="1" spc="5" dirty="0">
                <a:solidFill>
                  <a:srgbClr val="FEFB00"/>
                </a:solidFill>
                <a:latin typeface="Courier New"/>
                <a:cs typeface="Courier New"/>
              </a:rPr>
              <a:t>;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ts val="1730"/>
              </a:lnSpc>
            </a:pPr>
            <a:r>
              <a:rPr sz="1450" b="1" spc="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+------------------------+-----------------+------+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2047" y="4944106"/>
            <a:ext cx="5746115" cy="1339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5"/>
              </a:lnSpc>
              <a:tabLst>
                <a:tab pos="2820035" algn="l"/>
                <a:tab pos="4838065" algn="l"/>
              </a:tabLst>
            </a:pPr>
            <a:r>
              <a:rPr sz="145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50" b="1" spc="2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50" b="1" spc="-5" dirty="0">
                <a:solidFill>
                  <a:srgbClr val="FEFFFF"/>
                </a:solidFill>
                <a:latin typeface="Courier New"/>
                <a:cs typeface="Courier New"/>
              </a:rPr>
              <a:t>title	</a:t>
            </a:r>
            <a:r>
              <a:rPr sz="1450" b="1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450" b="1" spc="2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50" b="1" spc="-5" dirty="0">
                <a:solidFill>
                  <a:srgbClr val="FEFFFF"/>
                </a:solidFill>
                <a:latin typeface="Courier New"/>
                <a:cs typeface="Courier New"/>
              </a:rPr>
              <a:t>author	</a:t>
            </a:r>
            <a:r>
              <a:rPr sz="145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450" b="1" spc="-5" dirty="0">
                <a:solidFill>
                  <a:srgbClr val="FEFFFF"/>
                </a:solidFill>
                <a:latin typeface="Courier New"/>
                <a:cs typeface="Courier New"/>
              </a:rPr>
              <a:t>year</a:t>
            </a:r>
            <a:r>
              <a:rPr sz="1450" b="1" spc="-2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5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ts val="1710"/>
              </a:lnSpc>
            </a:pPr>
            <a:r>
              <a:rPr sz="1450" b="1" spc="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+------------------------+-----------------+------+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ts val="1714"/>
              </a:lnSpc>
              <a:tabLst>
                <a:tab pos="2806065" algn="l"/>
                <a:tab pos="4817745" algn="l"/>
              </a:tabLst>
            </a:pPr>
            <a:r>
              <a:rPr sz="1450" b="1" dirty="0">
                <a:solidFill>
                  <a:srgbClr val="00FCFF"/>
                </a:solidFill>
                <a:latin typeface="Courier New"/>
                <a:cs typeface="Courier New"/>
              </a:rPr>
              <a:t>| </a:t>
            </a:r>
            <a:r>
              <a:rPr sz="1450" b="1" spc="-5" dirty="0">
                <a:solidFill>
                  <a:srgbClr val="00FCFF"/>
                </a:solidFill>
                <a:latin typeface="Courier New"/>
                <a:cs typeface="Courier New"/>
              </a:rPr>
              <a:t>The Origin</a:t>
            </a:r>
            <a:r>
              <a:rPr sz="1450" b="1" spc="145" dirty="0">
                <a:solidFill>
                  <a:srgbClr val="00FCFF"/>
                </a:solidFill>
                <a:latin typeface="Courier New"/>
                <a:cs typeface="Courier New"/>
              </a:rPr>
              <a:t> </a:t>
            </a:r>
            <a:r>
              <a:rPr sz="1450" b="1" spc="-5" dirty="0">
                <a:solidFill>
                  <a:srgbClr val="00FCFF"/>
                </a:solidFill>
                <a:latin typeface="Courier New"/>
                <a:cs typeface="Courier New"/>
              </a:rPr>
              <a:t>of</a:t>
            </a:r>
            <a:r>
              <a:rPr sz="1450" b="1" spc="25" dirty="0">
                <a:solidFill>
                  <a:srgbClr val="00FCFF"/>
                </a:solidFill>
                <a:latin typeface="Courier New"/>
                <a:cs typeface="Courier New"/>
              </a:rPr>
              <a:t> </a:t>
            </a:r>
            <a:r>
              <a:rPr sz="1450" b="1" spc="-5" dirty="0">
                <a:solidFill>
                  <a:srgbClr val="00FCFF"/>
                </a:solidFill>
                <a:latin typeface="Courier New"/>
                <a:cs typeface="Courier New"/>
              </a:rPr>
              <a:t>Species	</a:t>
            </a:r>
            <a:r>
              <a:rPr sz="1450" b="1" dirty="0">
                <a:solidFill>
                  <a:srgbClr val="00FCFF"/>
                </a:solidFill>
                <a:latin typeface="Courier New"/>
                <a:cs typeface="Courier New"/>
              </a:rPr>
              <a:t>|</a:t>
            </a:r>
            <a:r>
              <a:rPr sz="1450" b="1" spc="25" dirty="0">
                <a:solidFill>
                  <a:srgbClr val="00FCFF"/>
                </a:solidFill>
                <a:latin typeface="Courier New"/>
                <a:cs typeface="Courier New"/>
              </a:rPr>
              <a:t> </a:t>
            </a:r>
            <a:r>
              <a:rPr sz="1450" b="1" spc="-5" dirty="0">
                <a:solidFill>
                  <a:srgbClr val="00FCFF"/>
                </a:solidFill>
                <a:latin typeface="Courier New"/>
                <a:cs typeface="Courier New"/>
              </a:rPr>
              <a:t>Charles</a:t>
            </a:r>
            <a:r>
              <a:rPr sz="1450" b="1" spc="80" dirty="0">
                <a:solidFill>
                  <a:srgbClr val="00FCFF"/>
                </a:solidFill>
                <a:latin typeface="Courier New"/>
                <a:cs typeface="Courier New"/>
              </a:rPr>
              <a:t> </a:t>
            </a:r>
            <a:r>
              <a:rPr sz="1450" b="1" spc="-5" dirty="0">
                <a:solidFill>
                  <a:srgbClr val="00FCFF"/>
                </a:solidFill>
                <a:latin typeface="Courier New"/>
                <a:cs typeface="Courier New"/>
              </a:rPr>
              <a:t>Darwin	</a:t>
            </a:r>
            <a:r>
              <a:rPr sz="1450" b="1" dirty="0">
                <a:solidFill>
                  <a:srgbClr val="00FCFF"/>
                </a:solidFill>
                <a:latin typeface="Courier New"/>
                <a:cs typeface="Courier New"/>
              </a:rPr>
              <a:t>| </a:t>
            </a:r>
            <a:r>
              <a:rPr sz="1450" b="1" spc="-5" dirty="0">
                <a:solidFill>
                  <a:srgbClr val="00FCFF"/>
                </a:solidFill>
                <a:latin typeface="Courier New"/>
                <a:cs typeface="Courier New"/>
              </a:rPr>
              <a:t>1856</a:t>
            </a:r>
            <a:r>
              <a:rPr sz="1450" b="1" spc="-25" dirty="0">
                <a:solidFill>
                  <a:srgbClr val="00FCFF"/>
                </a:solidFill>
                <a:latin typeface="Courier New"/>
                <a:cs typeface="Courier New"/>
              </a:rPr>
              <a:t> </a:t>
            </a:r>
            <a:r>
              <a:rPr sz="1450" b="1" spc="5" dirty="0">
                <a:solidFill>
                  <a:srgbClr val="00FCFF"/>
                </a:solidFill>
                <a:latin typeface="Courier New"/>
                <a:cs typeface="Courier New"/>
              </a:rPr>
              <a:t>|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ts val="1714"/>
              </a:lnSpc>
            </a:pPr>
            <a:r>
              <a:rPr sz="145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450" b="1" spc="-5" dirty="0">
                <a:solidFill>
                  <a:srgbClr val="FEFFFF"/>
                </a:solidFill>
                <a:latin typeface="Courier New"/>
                <a:cs typeface="Courier New"/>
              </a:rPr>
              <a:t>The Old Curiosity Shop </a:t>
            </a:r>
            <a:r>
              <a:rPr sz="145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450" b="1" spc="-5" dirty="0">
                <a:solidFill>
                  <a:srgbClr val="FEFFFF"/>
                </a:solidFill>
                <a:latin typeface="Courier New"/>
                <a:cs typeface="Courier New"/>
              </a:rPr>
              <a:t>Charles Dickens </a:t>
            </a:r>
            <a:r>
              <a:rPr sz="1450" b="1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450" b="1" spc="-5" dirty="0">
                <a:solidFill>
                  <a:srgbClr val="FEFFFF"/>
                </a:solidFill>
                <a:latin typeface="Courier New"/>
                <a:cs typeface="Courier New"/>
              </a:rPr>
              <a:t>1841</a:t>
            </a:r>
            <a:r>
              <a:rPr sz="1450" b="1" spc="48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50" b="1" spc="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ts val="1714"/>
              </a:lnSpc>
            </a:pPr>
            <a:r>
              <a:rPr sz="1450" b="1" spc="5" dirty="0">
                <a:solidFill>
                  <a:srgbClr val="FEFFFF"/>
                </a:solidFill>
                <a:latin typeface="Courier New"/>
                <a:cs typeface="Courier New"/>
              </a:rPr>
              <a:t>+------------------------+-----------------+------+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ts val="1730"/>
              </a:lnSpc>
            </a:pPr>
            <a:r>
              <a:rPr sz="1450" b="1" dirty="0">
                <a:solidFill>
                  <a:srgbClr val="FEFFFF"/>
                </a:solidFill>
                <a:latin typeface="Courier New"/>
                <a:cs typeface="Courier New"/>
              </a:rPr>
              <a:t>2 </a:t>
            </a:r>
            <a:r>
              <a:rPr sz="1450" b="1" spc="-5" dirty="0">
                <a:solidFill>
                  <a:srgbClr val="FEFFFF"/>
                </a:solidFill>
                <a:latin typeface="Courier New"/>
                <a:cs typeface="Courier New"/>
              </a:rPr>
              <a:t>rows in set (0.00</a:t>
            </a:r>
            <a:r>
              <a:rPr sz="1450" b="1" spc="14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450" b="1" spc="5" dirty="0">
                <a:solidFill>
                  <a:srgbClr val="FEFFFF"/>
                </a:solidFill>
                <a:latin typeface="Courier New"/>
                <a:cs typeface="Courier New"/>
              </a:rPr>
              <a:t>sec)</a:t>
            </a:r>
            <a:endParaRPr sz="14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91332" y="1636267"/>
            <a:ext cx="3445510" cy="678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-120" dirty="0"/>
              <a:t>UPDATE </a:t>
            </a:r>
            <a:r>
              <a:rPr sz="4450" spc="-5" dirty="0"/>
              <a:t>..</a:t>
            </a:r>
            <a:r>
              <a:rPr sz="4450" spc="-360" dirty="0"/>
              <a:t> </a:t>
            </a:r>
            <a:r>
              <a:rPr sz="4450" spc="-5" dirty="0"/>
              <a:t>SET</a:t>
            </a:r>
            <a:endParaRPr sz="445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3375" indent="-314325">
              <a:lnSpc>
                <a:spcPct val="100000"/>
              </a:lnSpc>
              <a:buSzPct val="171428"/>
              <a:buChar char="•"/>
              <a:tabLst>
                <a:tab pos="334010" algn="l"/>
              </a:tabLst>
            </a:pPr>
            <a:r>
              <a:rPr sz="2100" spc="-10" dirty="0"/>
              <a:t>Allows </a:t>
            </a:r>
            <a:r>
              <a:rPr sz="2100" dirty="0"/>
              <a:t>the updating of one or </a:t>
            </a:r>
            <a:r>
              <a:rPr sz="2100" spc="-15" dirty="0"/>
              <a:t>more </a:t>
            </a:r>
            <a:r>
              <a:rPr sz="2100" dirty="0"/>
              <a:t>columns </a:t>
            </a:r>
            <a:r>
              <a:rPr sz="2100" spc="-5" dirty="0"/>
              <a:t>in </a:t>
            </a:r>
            <a:r>
              <a:rPr sz="2100" dirty="0"/>
              <a:t>a </a:t>
            </a:r>
            <a:r>
              <a:rPr sz="2100" spc="-25" dirty="0"/>
              <a:t>row </a:t>
            </a:r>
            <a:r>
              <a:rPr sz="2100" dirty="0"/>
              <a:t>or set of</a:t>
            </a:r>
            <a:r>
              <a:rPr sz="2100" spc="530" dirty="0"/>
              <a:t> </a:t>
            </a:r>
            <a:r>
              <a:rPr sz="2100" spc="-10" dirty="0"/>
              <a:t>rows</a:t>
            </a:r>
            <a:endParaRPr sz="2100"/>
          </a:p>
          <a:p>
            <a:pPr marL="326390" indent="-313690">
              <a:lnSpc>
                <a:spcPct val="100000"/>
              </a:lnSpc>
              <a:spcBef>
                <a:spcPts val="1964"/>
              </a:spcBef>
              <a:buSzPct val="171428"/>
              <a:buChar char="•"/>
              <a:tabLst>
                <a:tab pos="327025" algn="l"/>
              </a:tabLst>
            </a:pPr>
            <a:r>
              <a:rPr sz="2100" spc="-10" dirty="0"/>
              <a:t>Usually </a:t>
            </a:r>
            <a:r>
              <a:rPr sz="2100" spc="-5" dirty="0"/>
              <a:t>used with </a:t>
            </a:r>
            <a:r>
              <a:rPr sz="2100" spc="5" dirty="0"/>
              <a:t>a </a:t>
            </a:r>
            <a:r>
              <a:rPr sz="2100" spc="-5" dirty="0"/>
              <a:t>WHERE</a:t>
            </a:r>
            <a:r>
              <a:rPr sz="2100" spc="-55" dirty="0"/>
              <a:t> </a:t>
            </a:r>
            <a:r>
              <a:rPr sz="2100" spc="5" dirty="0"/>
              <a:t>clause</a:t>
            </a:r>
            <a:endParaRPr sz="2100"/>
          </a:p>
          <a:p>
            <a:pPr marL="2194560">
              <a:lnSpc>
                <a:spcPts val="1995"/>
              </a:lnSpc>
              <a:spcBef>
                <a:spcPts val="2155"/>
              </a:spcBef>
            </a:pPr>
            <a:r>
              <a:rPr sz="1700" b="1" spc="-5" dirty="0">
                <a:latin typeface="Courier New"/>
                <a:cs typeface="Courier New"/>
              </a:rPr>
              <a:t>mysql&gt; </a:t>
            </a:r>
            <a:r>
              <a:rPr sz="1700" b="1" spc="-5" dirty="0">
                <a:solidFill>
                  <a:srgbClr val="FEFB00"/>
                </a:solidFill>
                <a:latin typeface="Courier New"/>
                <a:cs typeface="Courier New"/>
              </a:rPr>
              <a:t>SELECT * FROM tweet;</a:t>
            </a:r>
            <a:endParaRPr sz="1700">
              <a:latin typeface="Courier New"/>
              <a:cs typeface="Courier New"/>
            </a:endParaRPr>
          </a:p>
          <a:p>
            <a:pPr marL="2194560">
              <a:lnSpc>
                <a:spcPts val="1950"/>
              </a:lnSpc>
            </a:pPr>
            <a:r>
              <a:rPr sz="1700" b="1" spc="-5" dirty="0">
                <a:latin typeface="Courier New"/>
                <a:cs typeface="Courier New"/>
              </a:rPr>
              <a:t>+----------------+-------+</a:t>
            </a:r>
            <a:endParaRPr sz="1700">
              <a:latin typeface="Courier New"/>
              <a:cs typeface="Courier New"/>
            </a:endParaRPr>
          </a:p>
          <a:p>
            <a:pPr marL="2194560">
              <a:lnSpc>
                <a:spcPts val="1945"/>
              </a:lnSpc>
              <a:tabLst>
                <a:tab pos="4406900" algn="l"/>
                <a:tab pos="5446395" algn="l"/>
              </a:tabLst>
            </a:pPr>
            <a:r>
              <a:rPr sz="1700" b="1" spc="-5" dirty="0">
                <a:latin typeface="Courier New"/>
                <a:cs typeface="Courier New"/>
              </a:rPr>
              <a:t>|</a:t>
            </a:r>
            <a:r>
              <a:rPr sz="1700" b="1" spc="5" dirty="0">
                <a:latin typeface="Courier New"/>
                <a:cs typeface="Courier New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text	|</a:t>
            </a:r>
            <a:r>
              <a:rPr sz="1700" b="1" spc="5" dirty="0">
                <a:latin typeface="Courier New"/>
                <a:cs typeface="Courier New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zip	|</a:t>
            </a:r>
            <a:endParaRPr sz="1700">
              <a:latin typeface="Courier New"/>
              <a:cs typeface="Courier New"/>
            </a:endParaRPr>
          </a:p>
          <a:p>
            <a:pPr marL="2194560">
              <a:lnSpc>
                <a:spcPts val="1989"/>
              </a:lnSpc>
            </a:pPr>
            <a:r>
              <a:rPr sz="1700" b="1" spc="-5" dirty="0">
                <a:latin typeface="Courier New"/>
                <a:cs typeface="Courier New"/>
              </a:rPr>
              <a:t>+----------------+-------+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31112" y="5092197"/>
            <a:ext cx="1709420" cy="788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 Had</a:t>
            </a:r>
            <a:r>
              <a:rPr sz="1700" b="1" spc="-6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pizza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 Had Chi</a:t>
            </a:r>
            <a:r>
              <a:rPr sz="1700" b="1" spc="-5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Dog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95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 Went to</a:t>
            </a:r>
            <a:r>
              <a:rPr sz="1700" b="1" spc="-5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572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36718" y="5092197"/>
            <a:ext cx="1193800" cy="788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ts val="1989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700" b="1" spc="-5" dirty="0">
                <a:solidFill>
                  <a:srgbClr val="FF40FF"/>
                </a:solidFill>
                <a:latin typeface="Courier New"/>
                <a:cs typeface="Courier New"/>
              </a:rPr>
              <a:t>48842</a:t>
            </a:r>
            <a:r>
              <a:rPr sz="1700" b="1" spc="-70" dirty="0">
                <a:solidFill>
                  <a:srgbClr val="FF40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 48109</a:t>
            </a:r>
            <a:r>
              <a:rPr sz="17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95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 48109</a:t>
            </a:r>
            <a:r>
              <a:rPr sz="17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1112" y="5833632"/>
            <a:ext cx="3393440" cy="540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 Coding at home | 48842 |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89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+----------------+-------+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1322" y="2314448"/>
            <a:ext cx="7926705" cy="2004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939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 </a:t>
            </a:r>
            <a:r>
              <a:rPr sz="1700" b="1" spc="-5" dirty="0">
                <a:solidFill>
                  <a:srgbClr val="FEFB00"/>
                </a:solidFill>
                <a:latin typeface="Courier New"/>
                <a:cs typeface="Courier New"/>
              </a:rPr>
              <a:t>UPDATE tweet SET zip='49277' WHERE text = 'Had pizza'; 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Query OK, 1 row affected (0.00</a:t>
            </a:r>
            <a:r>
              <a:rPr sz="1700" b="1" spc="3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sec)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895"/>
              </a:lnSpc>
              <a:tabLst>
                <a:tab pos="2216150" algn="l"/>
                <a:tab pos="3773170" algn="l"/>
              </a:tabLst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Rows</a:t>
            </a:r>
            <a:r>
              <a:rPr sz="17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matched:</a:t>
            </a:r>
            <a:r>
              <a:rPr sz="17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1	Changed:</a:t>
            </a:r>
            <a:r>
              <a:rPr sz="1700" b="1" spc="1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1	Warnings:</a:t>
            </a:r>
            <a:r>
              <a:rPr sz="1700" b="1" spc="-6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0</a:t>
            </a:r>
            <a:endParaRPr sz="1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995"/>
              </a:lnSpc>
              <a:spcBef>
                <a:spcPts val="5"/>
              </a:spcBef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mysql&gt; </a:t>
            </a:r>
            <a:r>
              <a:rPr sz="1700" b="1" spc="-5" dirty="0">
                <a:solidFill>
                  <a:srgbClr val="FEFB00"/>
                </a:solidFill>
                <a:latin typeface="Courier New"/>
                <a:cs typeface="Courier New"/>
              </a:rPr>
              <a:t>SELECT * FROM tweet;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50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+----------------+-------+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  <a:tabLst>
                <a:tab pos="2225040" algn="l"/>
                <a:tab pos="3263900" algn="l"/>
              </a:tabLst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r>
              <a:rPr sz="1700" b="1" spc="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text	|</a:t>
            </a:r>
            <a:r>
              <a:rPr sz="1700" b="1" spc="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zip	|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89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+----------------+-------+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322" y="4272286"/>
            <a:ext cx="1709420" cy="788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95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 Had</a:t>
            </a:r>
            <a:r>
              <a:rPr sz="1700" b="1" spc="-6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pizza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 Had Chi</a:t>
            </a:r>
            <a:r>
              <a:rPr sz="1700" b="1" spc="-5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Dog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89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 Went to</a:t>
            </a:r>
            <a:r>
              <a:rPr sz="1700" b="1" spc="-55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572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06928" y="4272286"/>
            <a:ext cx="1193800" cy="788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ts val="1995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 </a:t>
            </a:r>
            <a:r>
              <a:rPr sz="1700" b="1" spc="-5" dirty="0">
                <a:solidFill>
                  <a:srgbClr val="FF40FF"/>
                </a:solidFill>
                <a:latin typeface="Courier New"/>
                <a:cs typeface="Courier New"/>
              </a:rPr>
              <a:t>49277</a:t>
            </a:r>
            <a:r>
              <a:rPr sz="1700" b="1" spc="-70" dirty="0">
                <a:solidFill>
                  <a:srgbClr val="FF40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45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 48109</a:t>
            </a:r>
            <a:r>
              <a:rPr sz="17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89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 48109</a:t>
            </a:r>
            <a:r>
              <a:rPr sz="1700" b="1" spc="-70" dirty="0">
                <a:solidFill>
                  <a:srgbClr val="FEFFFF"/>
                </a:solidFill>
                <a:latin typeface="Courier New"/>
                <a:cs typeface="Courier New"/>
              </a:rPr>
              <a:t> </a:t>
            </a: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322" y="5013719"/>
            <a:ext cx="3393440" cy="540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| Coding at home | 48842 |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1989"/>
              </a:lnSpc>
            </a:pPr>
            <a:r>
              <a:rPr sz="1700" b="1" spc="-5" dirty="0">
                <a:solidFill>
                  <a:srgbClr val="FEFFFF"/>
                </a:solidFill>
                <a:latin typeface="Courier New"/>
                <a:cs typeface="Courier New"/>
              </a:rPr>
              <a:t>+----------------+-------+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184147"/>
            <a:ext cx="9595485" cy="5404485"/>
          </a:xfrm>
          <a:custGeom>
            <a:avLst/>
            <a:gdLst/>
            <a:ahLst/>
            <a:cxnLst/>
            <a:rect l="l" t="t" r="r" b="b"/>
            <a:pathLst>
              <a:path w="9595485" h="5404484">
                <a:moveTo>
                  <a:pt x="0" y="0"/>
                </a:moveTo>
                <a:lnTo>
                  <a:pt x="0" y="5404104"/>
                </a:lnTo>
                <a:lnTo>
                  <a:pt x="9595104" y="5404104"/>
                </a:lnTo>
                <a:lnTo>
                  <a:pt x="9595104" y="0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32173" y="1636267"/>
            <a:ext cx="2190750" cy="708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-5" dirty="0"/>
              <a:t>Summa</a:t>
            </a:r>
            <a:r>
              <a:rPr sz="4450" spc="150" dirty="0"/>
              <a:t>ry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1048766" y="3089147"/>
            <a:ext cx="6144895" cy="2733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buSzPct val="171428"/>
              <a:buChar char="•"/>
              <a:tabLst>
                <a:tab pos="327025" algn="l"/>
              </a:tabLst>
            </a:pPr>
            <a:r>
              <a:rPr sz="2100" spc="-100" dirty="0">
                <a:solidFill>
                  <a:srgbClr val="FEFFFF"/>
                </a:solidFill>
                <a:latin typeface="Gill Sans MT"/>
                <a:cs typeface="Gill Sans MT"/>
              </a:rPr>
              <a:t>We </a:t>
            </a:r>
            <a:r>
              <a:rPr sz="2100" spc="-35" dirty="0">
                <a:solidFill>
                  <a:srgbClr val="FEFFFF"/>
                </a:solidFill>
                <a:latin typeface="Gill Sans MT"/>
                <a:cs typeface="Gill Sans MT"/>
              </a:rPr>
              <a:t>have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whipped </a:t>
            </a:r>
            <a:r>
              <a:rPr sz="2100" spc="-10" dirty="0">
                <a:solidFill>
                  <a:srgbClr val="FEFFFF"/>
                </a:solidFill>
                <a:latin typeface="Gill Sans MT"/>
                <a:cs typeface="Gill Sans MT"/>
              </a:rPr>
              <a:t>through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the basics of using</a:t>
            </a:r>
            <a:r>
              <a:rPr sz="2100" spc="484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10" dirty="0">
                <a:solidFill>
                  <a:srgbClr val="FEFFFF"/>
                </a:solidFill>
                <a:latin typeface="Gill Sans MT"/>
                <a:cs typeface="Gill Sans MT"/>
              </a:rPr>
              <a:t>MySQL</a:t>
            </a:r>
            <a:endParaRPr sz="2100">
              <a:latin typeface="Gill Sans MT"/>
              <a:cs typeface="Gill Sans MT"/>
            </a:endParaRPr>
          </a:p>
          <a:p>
            <a:pPr marL="326390" indent="-313690">
              <a:lnSpc>
                <a:spcPct val="100000"/>
              </a:lnSpc>
              <a:spcBef>
                <a:spcPts val="1964"/>
              </a:spcBef>
              <a:buSzPct val="171428"/>
              <a:buChar char="•"/>
              <a:tabLst>
                <a:tab pos="327025" algn="l"/>
              </a:tabLst>
            </a:pPr>
            <a:r>
              <a:rPr sz="2100" spc="-55" dirty="0">
                <a:solidFill>
                  <a:srgbClr val="FEFFFF"/>
                </a:solidFill>
                <a:latin typeface="Gill Sans MT"/>
                <a:cs typeface="Gill Sans MT"/>
              </a:rPr>
              <a:t>Table </a:t>
            </a: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creating </a:t>
            </a: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and</a:t>
            </a:r>
            <a:r>
              <a:rPr sz="2100" spc="11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maintenance</a:t>
            </a:r>
            <a:endParaRPr sz="2100">
              <a:latin typeface="Gill Sans MT"/>
              <a:cs typeface="Gill Sans MT"/>
            </a:endParaRPr>
          </a:p>
          <a:p>
            <a:pPr marL="326390" indent="-313690">
              <a:lnSpc>
                <a:spcPct val="100000"/>
              </a:lnSpc>
              <a:spcBef>
                <a:spcPts val="1960"/>
              </a:spcBef>
              <a:buSzPct val="171428"/>
              <a:buChar char="•"/>
              <a:tabLst>
                <a:tab pos="327025" algn="l"/>
              </a:tabLst>
            </a:pP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Data</a:t>
            </a:r>
            <a:r>
              <a:rPr sz="2100" spc="-40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types</a:t>
            </a:r>
            <a:endParaRPr sz="2100">
              <a:latin typeface="Gill Sans MT"/>
              <a:cs typeface="Gill Sans MT"/>
            </a:endParaRPr>
          </a:p>
          <a:p>
            <a:pPr marL="326390" indent="-313690">
              <a:lnSpc>
                <a:spcPct val="100000"/>
              </a:lnSpc>
              <a:spcBef>
                <a:spcPts val="1964"/>
              </a:spcBef>
              <a:buSzPct val="171428"/>
              <a:buChar char="•"/>
              <a:tabLst>
                <a:tab pos="327025" algn="l"/>
              </a:tabLst>
            </a:pPr>
            <a:r>
              <a:rPr sz="2100" spc="-5" dirty="0">
                <a:solidFill>
                  <a:srgbClr val="FEFFFF"/>
                </a:solidFill>
                <a:latin typeface="Gill Sans MT"/>
                <a:cs typeface="Gill Sans MT"/>
              </a:rPr>
              <a:t>Indexes</a:t>
            </a:r>
            <a:endParaRPr sz="2100">
              <a:latin typeface="Gill Sans MT"/>
              <a:cs typeface="Gill Sans MT"/>
            </a:endParaRPr>
          </a:p>
          <a:p>
            <a:pPr marL="326390" indent="-313690">
              <a:lnSpc>
                <a:spcPct val="100000"/>
              </a:lnSpc>
              <a:spcBef>
                <a:spcPts val="1960"/>
              </a:spcBef>
              <a:buSzPct val="171428"/>
              <a:buChar char="•"/>
              <a:tabLst>
                <a:tab pos="327025" algn="l"/>
              </a:tabLst>
            </a:pPr>
            <a:r>
              <a:rPr sz="2100" dirty="0">
                <a:solidFill>
                  <a:srgbClr val="FEFFFF"/>
                </a:solidFill>
                <a:latin typeface="Gill Sans MT"/>
                <a:cs typeface="Gill Sans MT"/>
              </a:rPr>
              <a:t>SQL</a:t>
            </a:r>
            <a:r>
              <a:rPr sz="2100" spc="-25" dirty="0">
                <a:solidFill>
                  <a:srgbClr val="FEFFFF"/>
                </a:solidFill>
                <a:latin typeface="Gill Sans MT"/>
                <a:cs typeface="Gill Sans MT"/>
              </a:rPr>
              <a:t> </a:t>
            </a:r>
            <a:r>
              <a:rPr sz="2100" spc="5" dirty="0">
                <a:solidFill>
                  <a:srgbClr val="FEFFFF"/>
                </a:solidFill>
                <a:latin typeface="Gill Sans MT"/>
                <a:cs typeface="Gill Sans MT"/>
              </a:rPr>
              <a:t>operations</a:t>
            </a:r>
            <a:endParaRPr sz="21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3563</TotalTime>
  <Words>1510</Words>
  <Application>Microsoft Office PowerPoint</Application>
  <PresentationFormat>Custom</PresentationFormat>
  <Paragraphs>486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Calibri</vt:lpstr>
      <vt:lpstr>Courier New</vt:lpstr>
      <vt:lpstr>Gill Sans MT</vt:lpstr>
      <vt:lpstr>Times New Roman</vt:lpstr>
      <vt:lpstr>Office Theme</vt:lpstr>
      <vt:lpstr>PowerPoint Presentation</vt:lpstr>
      <vt:lpstr>Relational Databases</vt:lpstr>
      <vt:lpstr>Terminology</vt:lpstr>
      <vt:lpstr>PowerPoint Presentation</vt:lpstr>
      <vt:lpstr>Application Structure</vt:lpstr>
      <vt:lpstr>PowerPoint Presentation</vt:lpstr>
      <vt:lpstr>Creating a Table</vt:lpstr>
      <vt:lpstr>Text Fields</vt:lpstr>
      <vt:lpstr>Text Fields</vt:lpstr>
      <vt:lpstr>Binary Large Object (BLOB)</vt:lpstr>
      <vt:lpstr>Numbers</vt:lpstr>
      <vt:lpstr>Dates</vt:lpstr>
      <vt:lpstr>AUTO_INCREMENT</vt:lpstr>
      <vt:lpstr>Inserting...</vt:lpstr>
      <vt:lpstr>Inserted...</vt:lpstr>
      <vt:lpstr>PowerPoint Presentation</vt:lpstr>
      <vt:lpstr>PowerPoint Presentation</vt:lpstr>
      <vt:lpstr>Indexes</vt:lpstr>
      <vt:lpstr>MySQL Index Types</vt:lpstr>
      <vt:lpstr>Retrieving rows with SELECT</vt:lpstr>
      <vt:lpstr>Retrieving rows with SELECT</vt:lpstr>
      <vt:lpstr>Counting with SELECT</vt:lpstr>
      <vt:lpstr>WHERE Clause</vt:lpstr>
      <vt:lpstr>The LIKE clause</vt:lpstr>
      <vt:lpstr>ORDER BY</vt:lpstr>
      <vt:lpstr>ORDER BY</vt:lpstr>
      <vt:lpstr>The LIMIT Clause</vt:lpstr>
      <vt:lpstr>The LIMIT Clause</vt:lpstr>
      <vt:lpstr>UPDATE .. SET</vt:lpstr>
      <vt:lpstr>PowerPoint Presentation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PHP-08-MySQL.doc</dc:title>
  <dc:creator>UzairX</dc:creator>
  <cp:lastModifiedBy>Microsoft account</cp:lastModifiedBy>
  <cp:revision>6</cp:revision>
  <dcterms:created xsi:type="dcterms:W3CDTF">2019-05-05T07:53:59Z</dcterms:created>
  <dcterms:modified xsi:type="dcterms:W3CDTF">2023-04-29T07:41:49Z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2014-05-29T00:00:00Z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2019-05-05T00:00:00Z</vt:filetime>
  </property>
</Properties>
</file>
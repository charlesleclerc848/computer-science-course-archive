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053328"/>
            <a:ext cx="2240280" cy="713740"/>
          </a:xfrm>
          <a:custGeom>
            <a:avLst/>
            <a:gdLst/>
            <a:ahLst/>
            <a:cxnLst/>
            <a:rect l="l" t="t" r="r" b="b"/>
            <a:pathLst>
              <a:path w="2240280" h="713740">
                <a:moveTo>
                  <a:pt x="2240280" y="0"/>
                </a:moveTo>
                <a:lnTo>
                  <a:pt x="0" y="0"/>
                </a:lnTo>
                <a:lnTo>
                  <a:pt x="0" y="713232"/>
                </a:lnTo>
                <a:lnTo>
                  <a:pt x="2240280" y="713232"/>
                </a:lnTo>
                <a:lnTo>
                  <a:pt x="2240280" y="0"/>
                </a:lnTo>
                <a:close/>
              </a:path>
            </a:pathLst>
          </a:custGeom>
          <a:solidFill>
            <a:srgbClr val="9631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59151" y="6044184"/>
            <a:ext cx="6784975" cy="713740"/>
          </a:xfrm>
          <a:custGeom>
            <a:avLst/>
            <a:gdLst/>
            <a:ahLst/>
            <a:cxnLst/>
            <a:rect l="l" t="t" r="r" b="b"/>
            <a:pathLst>
              <a:path w="6784975" h="713740">
                <a:moveTo>
                  <a:pt x="6784848" y="0"/>
                </a:moveTo>
                <a:lnTo>
                  <a:pt x="0" y="0"/>
                </a:lnTo>
                <a:lnTo>
                  <a:pt x="0" y="713231"/>
                </a:lnTo>
                <a:lnTo>
                  <a:pt x="6784848" y="713231"/>
                </a:lnTo>
                <a:lnTo>
                  <a:pt x="6784848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09465" y="1616709"/>
            <a:ext cx="925068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96313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6313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96313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96313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9631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90550" y="1280160"/>
            <a:ext cx="8553450" cy="228600"/>
          </a:xfrm>
          <a:custGeom>
            <a:avLst/>
            <a:gdLst/>
            <a:ahLst/>
            <a:cxnLst/>
            <a:rect l="l" t="t" r="r" b="b"/>
            <a:pathLst>
              <a:path w="8553450" h="228600">
                <a:moveTo>
                  <a:pt x="8553450" y="0"/>
                </a:moveTo>
                <a:lnTo>
                  <a:pt x="0" y="0"/>
                </a:lnTo>
                <a:lnTo>
                  <a:pt x="0" y="228600"/>
                </a:lnTo>
                <a:lnTo>
                  <a:pt x="8553450" y="228600"/>
                </a:lnTo>
                <a:lnTo>
                  <a:pt x="8553450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94203" y="1525270"/>
            <a:ext cx="3355593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96313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540" y="1709420"/>
            <a:ext cx="8351520" cy="139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96313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xkcd.com/" TargetMode="Externa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facebook.com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php/php_ref_string.as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rdomain.com/yourpage.php?firstparam=firstvalue&amp;secondparam=secondvalue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hp.net/manual/en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53328"/>
            <a:ext cx="2240280" cy="713740"/>
          </a:xfrm>
          <a:custGeom>
            <a:avLst/>
            <a:gdLst/>
            <a:ahLst/>
            <a:cxnLst/>
            <a:rect l="l" t="t" r="r" b="b"/>
            <a:pathLst>
              <a:path w="2240280" h="713740">
                <a:moveTo>
                  <a:pt x="2240280" y="0"/>
                </a:moveTo>
                <a:lnTo>
                  <a:pt x="0" y="0"/>
                </a:lnTo>
                <a:lnTo>
                  <a:pt x="0" y="713232"/>
                </a:lnTo>
                <a:lnTo>
                  <a:pt x="2240280" y="713232"/>
                </a:lnTo>
                <a:lnTo>
                  <a:pt x="2240280" y="0"/>
                </a:lnTo>
                <a:close/>
              </a:path>
            </a:pathLst>
          </a:custGeom>
          <a:solidFill>
            <a:srgbClr val="9631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59151" y="6044184"/>
            <a:ext cx="6784975" cy="713740"/>
          </a:xfrm>
          <a:custGeom>
            <a:avLst/>
            <a:gdLst/>
            <a:ahLst/>
            <a:cxnLst/>
            <a:rect l="l" t="t" r="r" b="b"/>
            <a:pathLst>
              <a:path w="6784975" h="713740">
                <a:moveTo>
                  <a:pt x="6784848" y="0"/>
                </a:moveTo>
                <a:lnTo>
                  <a:pt x="0" y="0"/>
                </a:lnTo>
                <a:lnTo>
                  <a:pt x="0" y="713231"/>
                </a:lnTo>
                <a:lnTo>
                  <a:pt x="6784848" y="713231"/>
                </a:lnTo>
                <a:lnTo>
                  <a:pt x="6784848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09465" y="1616709"/>
            <a:ext cx="9226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65" dirty="0"/>
              <a:t>PHP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82064" y="2632075"/>
            <a:ext cx="65805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Introduction</a:t>
            </a:r>
            <a:r>
              <a:rPr sz="32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32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Server-Side</a:t>
            </a:r>
            <a:r>
              <a:rPr sz="32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Programming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51485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5" dirty="0"/>
              <a:t>R</a:t>
            </a:r>
            <a:r>
              <a:rPr spc="-300" dirty="0"/>
              <a:t>equest</a:t>
            </a:r>
            <a:r>
              <a:rPr spc="-5" dirty="0"/>
              <a:t> </a:t>
            </a:r>
            <a:r>
              <a:rPr spc="-140" dirty="0"/>
              <a:t>to</a:t>
            </a:r>
            <a:r>
              <a:rPr spc="45" dirty="0"/>
              <a:t> </a:t>
            </a:r>
            <a:r>
              <a:rPr spc="-20" dirty="0"/>
              <a:t>a</a:t>
            </a:r>
            <a:r>
              <a:rPr spc="35" dirty="0"/>
              <a:t> </a:t>
            </a:r>
            <a:r>
              <a:rPr spc="-245" dirty="0"/>
              <a:t>St</a:t>
            </a:r>
            <a:r>
              <a:rPr spc="-305" dirty="0"/>
              <a:t>a</a:t>
            </a:r>
            <a:r>
              <a:rPr spc="-195" dirty="0"/>
              <a:t>tic</a:t>
            </a:r>
            <a:r>
              <a:rPr spc="10" dirty="0"/>
              <a:t> </a:t>
            </a:r>
            <a:r>
              <a:rPr spc="-265" dirty="0"/>
              <a:t>Site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0825" y="4267200"/>
            <a:ext cx="638175" cy="8763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276475" y="2895600"/>
            <a:ext cx="4496435" cy="1914525"/>
            <a:chOff x="2276475" y="2895600"/>
            <a:chExt cx="4496435" cy="19145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7800" y="2895600"/>
              <a:ext cx="1514928" cy="13248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62600" y="3200400"/>
              <a:ext cx="1013459" cy="4572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86000" y="4267200"/>
              <a:ext cx="3505200" cy="533400"/>
            </a:xfrm>
            <a:custGeom>
              <a:avLst/>
              <a:gdLst/>
              <a:ahLst/>
              <a:cxnLst/>
              <a:rect l="l" t="t" r="r" b="b"/>
              <a:pathLst>
                <a:path w="3505200" h="533400">
                  <a:moveTo>
                    <a:pt x="3238500" y="0"/>
                  </a:moveTo>
                  <a:lnTo>
                    <a:pt x="3238500" y="133350"/>
                  </a:lnTo>
                  <a:lnTo>
                    <a:pt x="0" y="133350"/>
                  </a:lnTo>
                  <a:lnTo>
                    <a:pt x="0" y="400050"/>
                  </a:lnTo>
                  <a:lnTo>
                    <a:pt x="3238500" y="400050"/>
                  </a:lnTo>
                  <a:lnTo>
                    <a:pt x="3238500" y="533400"/>
                  </a:lnTo>
                  <a:lnTo>
                    <a:pt x="3505200" y="266700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9631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86000" y="4267200"/>
              <a:ext cx="3505200" cy="533400"/>
            </a:xfrm>
            <a:custGeom>
              <a:avLst/>
              <a:gdLst/>
              <a:ahLst/>
              <a:cxnLst/>
              <a:rect l="l" t="t" r="r" b="b"/>
              <a:pathLst>
                <a:path w="3505200" h="533400">
                  <a:moveTo>
                    <a:pt x="0" y="133350"/>
                  </a:moveTo>
                  <a:lnTo>
                    <a:pt x="3238500" y="133350"/>
                  </a:lnTo>
                  <a:lnTo>
                    <a:pt x="3238500" y="0"/>
                  </a:lnTo>
                  <a:lnTo>
                    <a:pt x="3505200" y="266700"/>
                  </a:lnTo>
                  <a:lnTo>
                    <a:pt x="3238500" y="533400"/>
                  </a:lnTo>
                  <a:lnTo>
                    <a:pt x="3238500" y="400050"/>
                  </a:lnTo>
                  <a:lnTo>
                    <a:pt x="0" y="400050"/>
                  </a:lnTo>
                  <a:lnTo>
                    <a:pt x="0" y="13335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40739" y="5203393"/>
            <a:ext cx="1002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1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ou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(</a:t>
            </a:r>
            <a:r>
              <a:rPr sz="18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18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lie</a:t>
            </a:r>
            <a:r>
              <a:rPr sz="18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18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t)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75628" y="5096682"/>
            <a:ext cx="1591945" cy="7880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R="29845" algn="ctr">
              <a:lnSpc>
                <a:spcPct val="100000"/>
              </a:lnSpc>
              <a:spcBef>
                <a:spcPts val="940"/>
              </a:spcBef>
            </a:pPr>
            <a:r>
              <a:rPr sz="18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Web</a:t>
            </a:r>
            <a:r>
              <a:rPr sz="18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</a:t>
            </a:r>
            <a:endParaRPr sz="18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1800" b="1" spc="-140" dirty="0">
                <a:solidFill>
                  <a:srgbClr val="963139"/>
                </a:solidFill>
                <a:latin typeface="Arial"/>
                <a:cs typeface="Arial"/>
              </a:rPr>
              <a:t>IP:</a:t>
            </a:r>
            <a:r>
              <a:rPr sz="1800" b="1" spc="-40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963139"/>
                </a:solidFill>
                <a:latin typeface="Arial"/>
                <a:cs typeface="Arial"/>
              </a:rPr>
              <a:t>7</a:t>
            </a:r>
            <a:r>
              <a:rPr sz="1800" b="1" spc="-45" dirty="0">
                <a:solidFill>
                  <a:srgbClr val="963139"/>
                </a:solidFill>
                <a:latin typeface="Arial"/>
                <a:cs typeface="Arial"/>
              </a:rPr>
              <a:t>2</a:t>
            </a:r>
            <a:r>
              <a:rPr sz="1800" b="1" spc="-40" dirty="0">
                <a:solidFill>
                  <a:srgbClr val="963139"/>
                </a:solidFill>
                <a:latin typeface="Arial"/>
                <a:cs typeface="Arial"/>
              </a:rPr>
              <a:t>.26.</a:t>
            </a:r>
            <a:r>
              <a:rPr sz="1800" b="1" spc="-70" dirty="0">
                <a:solidFill>
                  <a:srgbClr val="963139"/>
                </a:solidFill>
                <a:latin typeface="Arial"/>
                <a:cs typeface="Arial"/>
              </a:rPr>
              <a:t>2</a:t>
            </a:r>
            <a:r>
              <a:rPr sz="1800" b="1" spc="-60" dirty="0">
                <a:solidFill>
                  <a:srgbClr val="963139"/>
                </a:solidFill>
                <a:latin typeface="Arial"/>
                <a:cs typeface="Arial"/>
              </a:rPr>
              <a:t>03</a:t>
            </a:r>
            <a:r>
              <a:rPr sz="1800" b="1" spc="-30" dirty="0">
                <a:solidFill>
                  <a:srgbClr val="963139"/>
                </a:solidFill>
                <a:latin typeface="Arial"/>
                <a:cs typeface="Arial"/>
              </a:rPr>
              <a:t>.</a:t>
            </a:r>
            <a:r>
              <a:rPr sz="1800" b="1" spc="-65" dirty="0">
                <a:solidFill>
                  <a:srgbClr val="963139"/>
                </a:solidFill>
                <a:latin typeface="Arial"/>
                <a:cs typeface="Arial"/>
              </a:rPr>
              <a:t>9</a:t>
            </a:r>
            <a:r>
              <a:rPr sz="1800" b="1" spc="-50" dirty="0">
                <a:solidFill>
                  <a:srgbClr val="963139"/>
                </a:solidFill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400" y="4267263"/>
            <a:ext cx="927722" cy="99079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364994" y="3984117"/>
            <a:ext cx="3122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TP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45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18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equ</a:t>
            </a:r>
            <a:r>
              <a:rPr sz="18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est:</a:t>
            </a:r>
            <a:r>
              <a:rPr sz="18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18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963139"/>
                </a:solidFill>
                <a:latin typeface="Microsoft Sans Serif"/>
                <a:cs typeface="Microsoft Sans Serif"/>
                <a:hlinkClick r:id="rId6"/>
              </a:rPr>
              <a:t>ww</a:t>
            </a:r>
            <a:r>
              <a:rPr sz="1800" spc="-210" dirty="0">
                <a:solidFill>
                  <a:srgbClr val="963139"/>
                </a:solidFill>
                <a:latin typeface="Microsoft Sans Serif"/>
                <a:cs typeface="Microsoft Sans Serif"/>
                <a:hlinkClick r:id="rId6"/>
              </a:rPr>
              <a:t>w</a:t>
            </a:r>
            <a:r>
              <a:rPr sz="1800" spc="-75" dirty="0">
                <a:solidFill>
                  <a:srgbClr val="963139"/>
                </a:solidFill>
                <a:latin typeface="Microsoft Sans Serif"/>
                <a:cs typeface="Microsoft Sans Serif"/>
                <a:hlinkClick r:id="rId6"/>
              </a:rPr>
              <a:t>.x</a:t>
            </a:r>
            <a:r>
              <a:rPr sz="1800" spc="-85" dirty="0">
                <a:solidFill>
                  <a:srgbClr val="963139"/>
                </a:solidFill>
                <a:latin typeface="Microsoft Sans Serif"/>
                <a:cs typeface="Microsoft Sans Serif"/>
                <a:hlinkClick r:id="rId6"/>
              </a:rPr>
              <a:t>k</a:t>
            </a:r>
            <a:r>
              <a:rPr sz="1800" spc="-110" dirty="0">
                <a:solidFill>
                  <a:srgbClr val="963139"/>
                </a:solidFill>
                <a:latin typeface="Microsoft Sans Serif"/>
                <a:cs typeface="Microsoft Sans Serif"/>
                <a:hlinkClick r:id="rId6"/>
              </a:rPr>
              <a:t>cd</a:t>
            </a:r>
            <a:r>
              <a:rPr sz="1800" spc="-185" dirty="0">
                <a:solidFill>
                  <a:srgbClr val="963139"/>
                </a:solidFill>
                <a:latin typeface="Microsoft Sans Serif"/>
                <a:cs typeface="Microsoft Sans Serif"/>
                <a:hlinkClick r:id="rId6"/>
              </a:rPr>
              <a:t>.com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276475" y="5019675"/>
            <a:ext cx="3524250" cy="552450"/>
            <a:chOff x="2276475" y="5019675"/>
            <a:chExt cx="3524250" cy="552450"/>
          </a:xfrm>
        </p:grpSpPr>
        <p:sp>
          <p:nvSpPr>
            <p:cNvPr id="14" name="object 14"/>
            <p:cNvSpPr/>
            <p:nvPr/>
          </p:nvSpPr>
          <p:spPr>
            <a:xfrm>
              <a:off x="2286000" y="5029200"/>
              <a:ext cx="3505200" cy="533400"/>
            </a:xfrm>
            <a:custGeom>
              <a:avLst/>
              <a:gdLst/>
              <a:ahLst/>
              <a:cxnLst/>
              <a:rect l="l" t="t" r="r" b="b"/>
              <a:pathLst>
                <a:path w="3505200" h="533400">
                  <a:moveTo>
                    <a:pt x="266700" y="0"/>
                  </a:moveTo>
                  <a:lnTo>
                    <a:pt x="0" y="266700"/>
                  </a:lnTo>
                  <a:lnTo>
                    <a:pt x="266700" y="533400"/>
                  </a:lnTo>
                  <a:lnTo>
                    <a:pt x="266700" y="400050"/>
                  </a:lnTo>
                  <a:lnTo>
                    <a:pt x="3505200" y="400050"/>
                  </a:lnTo>
                  <a:lnTo>
                    <a:pt x="3505200" y="133350"/>
                  </a:lnTo>
                  <a:lnTo>
                    <a:pt x="266700" y="133350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86000" y="5029200"/>
              <a:ext cx="3505200" cy="533400"/>
            </a:xfrm>
            <a:custGeom>
              <a:avLst/>
              <a:gdLst/>
              <a:ahLst/>
              <a:cxnLst/>
              <a:rect l="l" t="t" r="r" b="b"/>
              <a:pathLst>
                <a:path w="3505200" h="533400">
                  <a:moveTo>
                    <a:pt x="3505200" y="133350"/>
                  </a:moveTo>
                  <a:lnTo>
                    <a:pt x="266700" y="133350"/>
                  </a:lnTo>
                  <a:lnTo>
                    <a:pt x="266700" y="0"/>
                  </a:lnTo>
                  <a:lnTo>
                    <a:pt x="0" y="266700"/>
                  </a:lnTo>
                  <a:lnTo>
                    <a:pt x="266700" y="533400"/>
                  </a:lnTo>
                  <a:lnTo>
                    <a:pt x="266700" y="400050"/>
                  </a:lnTo>
                  <a:lnTo>
                    <a:pt x="3505200" y="400050"/>
                  </a:lnTo>
                  <a:lnTo>
                    <a:pt x="3505200" y="13335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288794" y="5660847"/>
            <a:ext cx="3644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85" dirty="0">
                <a:solidFill>
                  <a:srgbClr val="00AF50"/>
                </a:solidFill>
                <a:latin typeface="Microsoft Sans Serif"/>
                <a:cs typeface="Microsoft Sans Serif"/>
              </a:rPr>
              <a:t>H</a:t>
            </a:r>
            <a:r>
              <a:rPr sz="1800" spc="-235" dirty="0">
                <a:solidFill>
                  <a:srgbClr val="00AF50"/>
                </a:solidFill>
                <a:latin typeface="Microsoft Sans Serif"/>
                <a:cs typeface="Microsoft Sans Serif"/>
              </a:rPr>
              <a:t>T</a:t>
            </a:r>
            <a:r>
              <a:rPr sz="1800" spc="-310" dirty="0">
                <a:solidFill>
                  <a:srgbClr val="00AF50"/>
                </a:solidFill>
                <a:latin typeface="Microsoft Sans Serif"/>
                <a:cs typeface="Microsoft Sans Serif"/>
              </a:rPr>
              <a:t>TP</a:t>
            </a:r>
            <a:r>
              <a:rPr sz="18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450" dirty="0">
                <a:solidFill>
                  <a:srgbClr val="00AF50"/>
                </a:solidFill>
                <a:latin typeface="Microsoft Sans Serif"/>
                <a:cs typeface="Microsoft Sans Serif"/>
              </a:rPr>
              <a:t>R</a:t>
            </a:r>
            <a:r>
              <a:rPr sz="1800" spc="-145" dirty="0">
                <a:solidFill>
                  <a:srgbClr val="00AF50"/>
                </a:solidFill>
                <a:latin typeface="Microsoft Sans Serif"/>
                <a:cs typeface="Microsoft Sans Serif"/>
              </a:rPr>
              <a:t>espon</a:t>
            </a:r>
            <a:r>
              <a:rPr sz="1800" spc="-170" dirty="0">
                <a:solidFill>
                  <a:srgbClr val="00AF50"/>
                </a:solidFill>
                <a:latin typeface="Microsoft Sans Serif"/>
                <a:cs typeface="Microsoft Sans Serif"/>
              </a:rPr>
              <a:t>se:</a:t>
            </a:r>
            <a:r>
              <a:rPr sz="180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40" dirty="0">
                <a:solidFill>
                  <a:srgbClr val="00AF50"/>
                </a:solidFill>
                <a:latin typeface="Microsoft Sans Serif"/>
                <a:cs typeface="Microsoft Sans Serif"/>
              </a:rPr>
              <a:t>w</a:t>
            </a:r>
            <a:r>
              <a:rPr sz="1800" spc="-145" dirty="0">
                <a:solidFill>
                  <a:srgbClr val="00AF50"/>
                </a:solidFill>
                <a:latin typeface="Microsoft Sans Serif"/>
                <a:cs typeface="Microsoft Sans Serif"/>
              </a:rPr>
              <a:t>e</a:t>
            </a:r>
            <a:r>
              <a:rPr sz="1800" spc="-10" dirty="0">
                <a:solidFill>
                  <a:srgbClr val="00AF50"/>
                </a:solidFill>
                <a:latin typeface="Microsoft Sans Serif"/>
                <a:cs typeface="Microsoft Sans Serif"/>
              </a:rPr>
              <a:t>b</a:t>
            </a:r>
            <a:r>
              <a:rPr sz="18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AF50"/>
                </a:solidFill>
                <a:latin typeface="Microsoft Sans Serif"/>
                <a:cs typeface="Microsoft Sans Serif"/>
              </a:rPr>
              <a:t>con</a:t>
            </a:r>
            <a:r>
              <a:rPr sz="1800" spc="-75" dirty="0">
                <a:solidFill>
                  <a:srgbClr val="00AF50"/>
                </a:solidFill>
                <a:latin typeface="Microsoft Sans Serif"/>
                <a:cs typeface="Microsoft Sans Serif"/>
              </a:rPr>
              <a:t>t</a:t>
            </a:r>
            <a:r>
              <a:rPr sz="18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ent</a:t>
            </a:r>
            <a:r>
              <a:rPr sz="1800" spc="-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AF50"/>
                </a:solidFill>
                <a:latin typeface="Microsoft Sans Serif"/>
                <a:cs typeface="Microsoft Sans Serif"/>
              </a:rPr>
              <a:t>(</a:t>
            </a:r>
            <a:r>
              <a:rPr sz="1800" spc="-220" dirty="0">
                <a:solidFill>
                  <a:srgbClr val="00AF50"/>
                </a:solidFill>
                <a:latin typeface="Microsoft Sans Serif"/>
                <a:cs typeface="Microsoft Sans Serif"/>
              </a:rPr>
              <a:t>H</a:t>
            </a:r>
            <a:r>
              <a:rPr sz="1800" spc="-180" dirty="0">
                <a:solidFill>
                  <a:srgbClr val="00AF50"/>
                </a:solidFill>
                <a:latin typeface="Microsoft Sans Serif"/>
                <a:cs typeface="Microsoft Sans Serif"/>
              </a:rPr>
              <a:t>T</a:t>
            </a:r>
            <a:r>
              <a:rPr sz="1800" spc="-240" dirty="0">
                <a:solidFill>
                  <a:srgbClr val="00AF50"/>
                </a:solidFill>
                <a:latin typeface="Microsoft Sans Serif"/>
                <a:cs typeface="Microsoft Sans Serif"/>
              </a:rPr>
              <a:t>M</a:t>
            </a:r>
            <a:r>
              <a:rPr sz="1800" spc="-310" dirty="0">
                <a:solidFill>
                  <a:srgbClr val="00AF50"/>
                </a:solidFill>
                <a:latin typeface="Microsoft Sans Serif"/>
                <a:cs typeface="Microsoft Sans Serif"/>
              </a:rPr>
              <a:t>L</a:t>
            </a:r>
            <a:r>
              <a:rPr sz="1800" spc="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00AF50"/>
                </a:solidFill>
                <a:latin typeface="Microsoft Sans Serif"/>
                <a:cs typeface="Microsoft Sans Serif"/>
              </a:rPr>
              <a:t>file)  </a:t>
            </a:r>
            <a:r>
              <a:rPr sz="1800" spc="-175" dirty="0">
                <a:solidFill>
                  <a:srgbClr val="00AF50"/>
                </a:solidFill>
                <a:latin typeface="Microsoft Sans Serif"/>
                <a:cs typeface="Microsoft Sans Serif"/>
              </a:rPr>
              <a:t>C</a:t>
            </a:r>
            <a:r>
              <a:rPr sz="1800" spc="-50" dirty="0">
                <a:solidFill>
                  <a:srgbClr val="00AF50"/>
                </a:solidFill>
                <a:latin typeface="Microsoft Sans Serif"/>
                <a:cs typeface="Microsoft Sans Serif"/>
              </a:rPr>
              <a:t>l</a:t>
            </a:r>
            <a:r>
              <a:rPr sz="1800" spc="-105" dirty="0">
                <a:solidFill>
                  <a:srgbClr val="00AF50"/>
                </a:solidFill>
                <a:latin typeface="Microsoft Sans Serif"/>
                <a:cs typeface="Microsoft Sans Serif"/>
              </a:rPr>
              <a:t>ie</a:t>
            </a:r>
            <a:r>
              <a:rPr sz="1800" spc="-140" dirty="0">
                <a:solidFill>
                  <a:srgbClr val="00AF50"/>
                </a:solidFill>
                <a:latin typeface="Microsoft Sans Serif"/>
                <a:cs typeface="Microsoft Sans Serif"/>
              </a:rPr>
              <a:t>n</a:t>
            </a:r>
            <a:r>
              <a:rPr sz="1800" spc="-10" dirty="0">
                <a:solidFill>
                  <a:srgbClr val="00AF50"/>
                </a:solidFill>
                <a:latin typeface="Microsoft Sans Serif"/>
                <a:cs typeface="Microsoft Sans Serif"/>
              </a:rPr>
              <a:t>t</a:t>
            </a:r>
            <a:r>
              <a:rPr sz="1800" dirty="0">
                <a:solidFill>
                  <a:srgbClr val="00AF50"/>
                </a:solidFill>
                <a:latin typeface="Microsoft Sans Serif"/>
                <a:cs typeface="Microsoft Sans Serif"/>
              </a:rPr>
              <a:t>-</a:t>
            </a:r>
            <a:r>
              <a:rPr sz="18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side</a:t>
            </a:r>
            <a:r>
              <a:rPr sz="18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cod</a:t>
            </a:r>
            <a:r>
              <a:rPr sz="1800" spc="-105" dirty="0">
                <a:solidFill>
                  <a:srgbClr val="00AF50"/>
                </a:solidFill>
                <a:latin typeface="Microsoft Sans Serif"/>
                <a:cs typeface="Microsoft Sans Serif"/>
              </a:rPr>
              <a:t>e:</a:t>
            </a:r>
            <a:r>
              <a:rPr sz="180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285" dirty="0">
                <a:solidFill>
                  <a:srgbClr val="00AF50"/>
                </a:solidFill>
                <a:latin typeface="Microsoft Sans Serif"/>
                <a:cs typeface="Microsoft Sans Serif"/>
              </a:rPr>
              <a:t>H</a:t>
            </a:r>
            <a:r>
              <a:rPr sz="1800" spc="-235" dirty="0">
                <a:solidFill>
                  <a:srgbClr val="00AF50"/>
                </a:solidFill>
                <a:latin typeface="Microsoft Sans Serif"/>
                <a:cs typeface="Microsoft Sans Serif"/>
              </a:rPr>
              <a:t>T</a:t>
            </a:r>
            <a:r>
              <a:rPr sz="1800" spc="-254" dirty="0">
                <a:solidFill>
                  <a:srgbClr val="00AF50"/>
                </a:solidFill>
                <a:latin typeface="Microsoft Sans Serif"/>
                <a:cs typeface="Microsoft Sans Serif"/>
              </a:rPr>
              <a:t>M</a:t>
            </a:r>
            <a:r>
              <a:rPr sz="1800" spc="-165" dirty="0">
                <a:solidFill>
                  <a:srgbClr val="00AF50"/>
                </a:solidFill>
                <a:latin typeface="Microsoft Sans Serif"/>
                <a:cs typeface="Microsoft Sans Serif"/>
              </a:rPr>
              <a:t>L</a:t>
            </a:r>
            <a:r>
              <a:rPr sz="18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,</a:t>
            </a:r>
            <a:r>
              <a:rPr sz="18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275" dirty="0">
                <a:solidFill>
                  <a:srgbClr val="00AF50"/>
                </a:solidFill>
                <a:latin typeface="Microsoft Sans Serif"/>
                <a:cs typeface="Microsoft Sans Serif"/>
              </a:rPr>
              <a:t>CS</a:t>
            </a:r>
            <a:r>
              <a:rPr sz="1800" spc="-315" dirty="0">
                <a:solidFill>
                  <a:srgbClr val="00AF50"/>
                </a:solidFill>
                <a:latin typeface="Microsoft Sans Serif"/>
                <a:cs typeface="Microsoft Sans Serif"/>
              </a:rPr>
              <a:t>S</a:t>
            </a:r>
            <a:r>
              <a:rPr sz="18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,</a:t>
            </a:r>
            <a:r>
              <a:rPr sz="18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225" dirty="0">
                <a:solidFill>
                  <a:srgbClr val="00AF50"/>
                </a:solidFill>
                <a:latin typeface="Microsoft Sans Serif"/>
                <a:cs typeface="Microsoft Sans Serif"/>
              </a:rPr>
              <a:t>J</a:t>
            </a:r>
            <a:r>
              <a:rPr sz="1800" spc="-65" dirty="0">
                <a:solidFill>
                  <a:srgbClr val="00AF50"/>
                </a:solidFill>
                <a:latin typeface="Microsoft Sans Serif"/>
                <a:cs typeface="Microsoft Sans Serif"/>
              </a:rPr>
              <a:t>a</a:t>
            </a:r>
            <a:r>
              <a:rPr sz="1800" spc="-95" dirty="0">
                <a:solidFill>
                  <a:srgbClr val="00AF50"/>
                </a:solidFill>
                <a:latin typeface="Microsoft Sans Serif"/>
                <a:cs typeface="Microsoft Sans Serif"/>
              </a:rPr>
              <a:t>v</a:t>
            </a:r>
            <a:r>
              <a:rPr sz="1800" spc="-185" dirty="0">
                <a:solidFill>
                  <a:srgbClr val="00AF50"/>
                </a:solidFill>
                <a:latin typeface="Microsoft Sans Serif"/>
                <a:cs typeface="Microsoft Sans Serif"/>
              </a:rPr>
              <a:t>aS</a:t>
            </a:r>
            <a:r>
              <a:rPr sz="1800" spc="-160" dirty="0">
                <a:solidFill>
                  <a:srgbClr val="00AF50"/>
                </a:solidFill>
                <a:latin typeface="Microsoft Sans Serif"/>
                <a:cs typeface="Microsoft Sans Serif"/>
              </a:rPr>
              <a:t>c</a:t>
            </a:r>
            <a:r>
              <a:rPr sz="1800" spc="-10" dirty="0">
                <a:solidFill>
                  <a:srgbClr val="00AF50"/>
                </a:solidFill>
                <a:latin typeface="Microsoft Sans Serif"/>
                <a:cs typeface="Microsoft Sans Serif"/>
              </a:rPr>
              <a:t>ript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90029" y="2459863"/>
            <a:ext cx="160845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Server:</a:t>
            </a:r>
            <a:endParaRPr sz="1800">
              <a:latin typeface="Microsoft Sans Serif"/>
              <a:cs typeface="Microsoft Sans Serif"/>
            </a:endParaRPr>
          </a:p>
          <a:p>
            <a:pPr marL="355600" marR="233679" indent="-343535">
              <a:lnSpc>
                <a:spcPct val="100000"/>
              </a:lnSpc>
              <a:buAutoNum type="arabicPeriod"/>
              <a:tabLst>
                <a:tab pos="355600" algn="l"/>
                <a:tab pos="356235" algn="l"/>
              </a:tabLst>
            </a:pPr>
            <a:r>
              <a:rPr sz="18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om</a:t>
            </a:r>
            <a:r>
              <a:rPr sz="18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1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18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18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e  </a:t>
            </a:r>
            <a:r>
              <a:rPr sz="18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lookup</a:t>
            </a:r>
            <a:endParaRPr sz="1800">
              <a:latin typeface="Microsoft Sans Serif"/>
              <a:cs typeface="Microsoft Sans Serif"/>
            </a:endParaRPr>
          </a:p>
          <a:p>
            <a:pPr marL="355600" marR="5080" indent="-343535">
              <a:lnSpc>
                <a:spcPct val="100000"/>
              </a:lnSpc>
              <a:buAutoNum type="arabicPeriod"/>
              <a:tabLst>
                <a:tab pos="355600" algn="l"/>
                <a:tab pos="356235" algn="l"/>
              </a:tabLst>
            </a:pPr>
            <a:r>
              <a:rPr sz="18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18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as</a:t>
            </a:r>
            <a:r>
              <a:rPr sz="18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P  </a:t>
            </a:r>
            <a:r>
              <a:rPr sz="18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Response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58032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5" dirty="0"/>
              <a:t>R</a:t>
            </a:r>
            <a:r>
              <a:rPr spc="-300" dirty="0"/>
              <a:t>equest</a:t>
            </a:r>
            <a:r>
              <a:rPr spc="-5" dirty="0"/>
              <a:t> </a:t>
            </a:r>
            <a:r>
              <a:rPr spc="-140" dirty="0"/>
              <a:t>to</a:t>
            </a:r>
            <a:r>
              <a:rPr spc="45" dirty="0"/>
              <a:t> </a:t>
            </a:r>
            <a:r>
              <a:rPr spc="-20" dirty="0"/>
              <a:t>a</a:t>
            </a:r>
            <a:r>
              <a:rPr spc="35" dirty="0"/>
              <a:t> </a:t>
            </a:r>
            <a:r>
              <a:rPr spc="-335" dirty="0"/>
              <a:t>Dynamic</a:t>
            </a:r>
            <a:r>
              <a:rPr spc="10" dirty="0"/>
              <a:t> </a:t>
            </a:r>
            <a:r>
              <a:rPr spc="-265" dirty="0"/>
              <a:t>Site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16709"/>
            <a:ext cx="7435215" cy="2083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SzPct val="6041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400" spc="-37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4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4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4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4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4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er</a:t>
            </a:r>
            <a:r>
              <a:rPr sz="24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36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400" spc="-365" dirty="0">
                <a:solidFill>
                  <a:srgbClr val="963139"/>
                </a:solidFill>
                <a:latin typeface="Microsoft Sans Serif"/>
                <a:cs typeface="Microsoft Sans Serif"/>
              </a:rPr>
              <a:t>u</a:t>
            </a:r>
            <a:r>
              <a:rPr sz="24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4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respond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ynamic</a:t>
            </a:r>
            <a:r>
              <a:rPr sz="24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4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ll</a:t>
            </a:r>
            <a:r>
              <a:rPr sz="24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400" spc="6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4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it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needs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4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4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ovi</a:t>
            </a:r>
            <a:r>
              <a:rPr sz="24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de  </a:t>
            </a:r>
            <a:r>
              <a:rPr sz="24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different</a:t>
            </a:r>
            <a:r>
              <a:rPr sz="24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client-side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code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depending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situation</a:t>
            </a:r>
            <a:endParaRPr sz="24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00"/>
              </a:spcBef>
            </a:pPr>
            <a:r>
              <a:rPr sz="1650" spc="-4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650" spc="204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Date</a:t>
            </a:r>
            <a:r>
              <a:rPr sz="24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time</a:t>
            </a:r>
            <a:endParaRPr sz="24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00"/>
              </a:spcBef>
            </a:pPr>
            <a:r>
              <a:rPr sz="1650" spc="-1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 </a:t>
            </a:r>
            <a:r>
              <a:rPr sz="1650" spc="-21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Specifics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400" spc="8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365" dirty="0">
                <a:solidFill>
                  <a:srgbClr val="963139"/>
                </a:solidFill>
                <a:latin typeface="Microsoft Sans Serif"/>
                <a:cs typeface="Microsoft Sans Serif"/>
              </a:rPr>
              <a:t>u</a:t>
            </a:r>
            <a:r>
              <a:rPr sz="24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4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er</a:t>
            </a:r>
            <a:r>
              <a:rPr sz="24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’</a:t>
            </a:r>
            <a:r>
              <a:rPr sz="2400" spc="-40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4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reque</a:t>
            </a:r>
            <a:r>
              <a:rPr sz="24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4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endParaRPr sz="24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00"/>
              </a:spcBef>
            </a:pPr>
            <a:r>
              <a:rPr sz="1650" spc="-1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 </a:t>
            </a:r>
            <a:r>
              <a:rPr sz="1650" spc="-21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Dat</a:t>
            </a:r>
            <a:r>
              <a:rPr sz="24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4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4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4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4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conte</a:t>
            </a:r>
            <a:r>
              <a:rPr sz="24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4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ts</a:t>
            </a:r>
            <a:r>
              <a:rPr sz="24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495" dirty="0">
                <a:solidFill>
                  <a:srgbClr val="963139"/>
                </a:solidFill>
                <a:latin typeface="Microsoft Sans Serif"/>
                <a:cs typeface="Microsoft Sans Serif"/>
              </a:rPr>
              <a:t>–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8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4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4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400" spc="-400" dirty="0">
                <a:solidFill>
                  <a:srgbClr val="963139"/>
                </a:solidFill>
                <a:latin typeface="Microsoft Sans Serif"/>
                <a:cs typeface="Microsoft Sans Serif"/>
              </a:rPr>
              <a:t>ms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4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nd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4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uth</a:t>
            </a:r>
            <a:r>
              <a:rPr sz="24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entication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8300" y="4267200"/>
            <a:ext cx="638175" cy="876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7340" y="5203393"/>
            <a:ext cx="100139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1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ou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(clien</a:t>
            </a:r>
            <a:r>
              <a:rPr sz="18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t)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61228" y="5203393"/>
            <a:ext cx="10972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Web</a:t>
            </a:r>
            <a:r>
              <a:rPr sz="18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7677" y="4267263"/>
            <a:ext cx="927722" cy="99079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666875" y="4257675"/>
            <a:ext cx="3524250" cy="552450"/>
            <a:chOff x="1666875" y="4257675"/>
            <a:chExt cx="3524250" cy="552450"/>
          </a:xfrm>
        </p:grpSpPr>
        <p:sp>
          <p:nvSpPr>
            <p:cNvPr id="9" name="object 9"/>
            <p:cNvSpPr/>
            <p:nvPr/>
          </p:nvSpPr>
          <p:spPr>
            <a:xfrm>
              <a:off x="1676400" y="4267200"/>
              <a:ext cx="3505200" cy="533400"/>
            </a:xfrm>
            <a:custGeom>
              <a:avLst/>
              <a:gdLst/>
              <a:ahLst/>
              <a:cxnLst/>
              <a:rect l="l" t="t" r="r" b="b"/>
              <a:pathLst>
                <a:path w="3505200" h="533400">
                  <a:moveTo>
                    <a:pt x="3238500" y="0"/>
                  </a:moveTo>
                  <a:lnTo>
                    <a:pt x="3238500" y="133350"/>
                  </a:lnTo>
                  <a:lnTo>
                    <a:pt x="0" y="133350"/>
                  </a:lnTo>
                  <a:lnTo>
                    <a:pt x="0" y="400050"/>
                  </a:lnTo>
                  <a:lnTo>
                    <a:pt x="3238500" y="400050"/>
                  </a:lnTo>
                  <a:lnTo>
                    <a:pt x="3238500" y="533400"/>
                  </a:lnTo>
                  <a:lnTo>
                    <a:pt x="3505200" y="266700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9631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76400" y="4267200"/>
              <a:ext cx="3505200" cy="533400"/>
            </a:xfrm>
            <a:custGeom>
              <a:avLst/>
              <a:gdLst/>
              <a:ahLst/>
              <a:cxnLst/>
              <a:rect l="l" t="t" r="r" b="b"/>
              <a:pathLst>
                <a:path w="3505200" h="533400">
                  <a:moveTo>
                    <a:pt x="0" y="133350"/>
                  </a:moveTo>
                  <a:lnTo>
                    <a:pt x="3238500" y="133350"/>
                  </a:lnTo>
                  <a:lnTo>
                    <a:pt x="3238500" y="0"/>
                  </a:lnTo>
                  <a:lnTo>
                    <a:pt x="3505200" y="266700"/>
                  </a:lnTo>
                  <a:lnTo>
                    <a:pt x="3238500" y="533400"/>
                  </a:lnTo>
                  <a:lnTo>
                    <a:pt x="3238500" y="400050"/>
                  </a:lnTo>
                  <a:lnTo>
                    <a:pt x="0" y="400050"/>
                  </a:lnTo>
                  <a:lnTo>
                    <a:pt x="0" y="13335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02994" y="3984117"/>
            <a:ext cx="35483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TP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45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18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equ</a:t>
            </a:r>
            <a:r>
              <a:rPr sz="18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est:</a:t>
            </a:r>
            <a:r>
              <a:rPr sz="18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18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963139"/>
                </a:solidFill>
                <a:latin typeface="Microsoft Sans Serif"/>
                <a:cs typeface="Microsoft Sans Serif"/>
                <a:hlinkClick r:id="rId4"/>
              </a:rPr>
              <a:t>ww</a:t>
            </a:r>
            <a:r>
              <a:rPr sz="1800" spc="-210" dirty="0">
                <a:solidFill>
                  <a:srgbClr val="963139"/>
                </a:solidFill>
                <a:latin typeface="Microsoft Sans Serif"/>
                <a:cs typeface="Microsoft Sans Serif"/>
                <a:hlinkClick r:id="rId4"/>
              </a:rPr>
              <a:t>w</a:t>
            </a:r>
            <a:r>
              <a:rPr sz="1800" spc="-60" dirty="0">
                <a:solidFill>
                  <a:srgbClr val="963139"/>
                </a:solidFill>
                <a:latin typeface="Microsoft Sans Serif"/>
                <a:cs typeface="Microsoft Sans Serif"/>
                <a:hlinkClick r:id="rId4"/>
              </a:rPr>
              <a:t>.fa</a:t>
            </a:r>
            <a:r>
              <a:rPr sz="1800" spc="-65" dirty="0">
                <a:solidFill>
                  <a:srgbClr val="963139"/>
                </a:solidFill>
                <a:latin typeface="Microsoft Sans Serif"/>
                <a:cs typeface="Microsoft Sans Serif"/>
                <a:hlinkClick r:id="rId4"/>
              </a:rPr>
              <a:t>c</a:t>
            </a:r>
            <a:r>
              <a:rPr sz="1800" spc="-145" dirty="0">
                <a:solidFill>
                  <a:srgbClr val="963139"/>
                </a:solidFill>
                <a:latin typeface="Microsoft Sans Serif"/>
                <a:cs typeface="Microsoft Sans Serif"/>
                <a:hlinkClick r:id="rId4"/>
              </a:rPr>
              <a:t>e</a:t>
            </a:r>
            <a:r>
              <a:rPr sz="1800" spc="-85" dirty="0">
                <a:solidFill>
                  <a:srgbClr val="963139"/>
                </a:solidFill>
                <a:latin typeface="Microsoft Sans Serif"/>
                <a:cs typeface="Microsoft Sans Serif"/>
                <a:hlinkClick r:id="rId4"/>
              </a:rPr>
              <a:t>book</a:t>
            </a:r>
            <a:r>
              <a:rPr sz="1800" spc="-185" dirty="0">
                <a:solidFill>
                  <a:srgbClr val="963139"/>
                </a:solidFill>
                <a:latin typeface="Microsoft Sans Serif"/>
                <a:cs typeface="Microsoft Sans Serif"/>
                <a:hlinkClick r:id="rId4"/>
              </a:rPr>
              <a:t>.com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90675" y="5019675"/>
            <a:ext cx="3524250" cy="552450"/>
            <a:chOff x="1590675" y="5019675"/>
            <a:chExt cx="3524250" cy="552450"/>
          </a:xfrm>
        </p:grpSpPr>
        <p:sp>
          <p:nvSpPr>
            <p:cNvPr id="13" name="object 13"/>
            <p:cNvSpPr/>
            <p:nvPr/>
          </p:nvSpPr>
          <p:spPr>
            <a:xfrm>
              <a:off x="1600200" y="5029200"/>
              <a:ext cx="3505200" cy="533400"/>
            </a:xfrm>
            <a:custGeom>
              <a:avLst/>
              <a:gdLst/>
              <a:ahLst/>
              <a:cxnLst/>
              <a:rect l="l" t="t" r="r" b="b"/>
              <a:pathLst>
                <a:path w="3505200" h="533400">
                  <a:moveTo>
                    <a:pt x="266700" y="0"/>
                  </a:moveTo>
                  <a:lnTo>
                    <a:pt x="0" y="266700"/>
                  </a:lnTo>
                  <a:lnTo>
                    <a:pt x="266700" y="533400"/>
                  </a:lnTo>
                  <a:lnTo>
                    <a:pt x="266700" y="400050"/>
                  </a:lnTo>
                  <a:lnTo>
                    <a:pt x="3505200" y="400050"/>
                  </a:lnTo>
                  <a:lnTo>
                    <a:pt x="3505200" y="133350"/>
                  </a:lnTo>
                  <a:lnTo>
                    <a:pt x="266700" y="133350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00200" y="5029200"/>
              <a:ext cx="3505200" cy="533400"/>
            </a:xfrm>
            <a:custGeom>
              <a:avLst/>
              <a:gdLst/>
              <a:ahLst/>
              <a:cxnLst/>
              <a:rect l="l" t="t" r="r" b="b"/>
              <a:pathLst>
                <a:path w="3505200" h="533400">
                  <a:moveTo>
                    <a:pt x="3505200" y="133350"/>
                  </a:moveTo>
                  <a:lnTo>
                    <a:pt x="266700" y="133350"/>
                  </a:lnTo>
                  <a:lnTo>
                    <a:pt x="266700" y="0"/>
                  </a:lnTo>
                  <a:lnTo>
                    <a:pt x="0" y="266700"/>
                  </a:lnTo>
                  <a:lnTo>
                    <a:pt x="266700" y="533400"/>
                  </a:lnTo>
                  <a:lnTo>
                    <a:pt x="266700" y="400050"/>
                  </a:lnTo>
                  <a:lnTo>
                    <a:pt x="3505200" y="400050"/>
                  </a:lnTo>
                  <a:lnTo>
                    <a:pt x="3505200" y="13335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02994" y="5660847"/>
            <a:ext cx="36449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285" dirty="0">
                <a:solidFill>
                  <a:srgbClr val="00AF50"/>
                </a:solidFill>
                <a:latin typeface="Microsoft Sans Serif"/>
                <a:cs typeface="Microsoft Sans Serif"/>
              </a:rPr>
              <a:t>H</a:t>
            </a:r>
            <a:r>
              <a:rPr sz="1800" spc="-235" dirty="0">
                <a:solidFill>
                  <a:srgbClr val="00AF50"/>
                </a:solidFill>
                <a:latin typeface="Microsoft Sans Serif"/>
                <a:cs typeface="Microsoft Sans Serif"/>
              </a:rPr>
              <a:t>T</a:t>
            </a:r>
            <a:r>
              <a:rPr sz="1800" spc="-310" dirty="0">
                <a:solidFill>
                  <a:srgbClr val="00AF50"/>
                </a:solidFill>
                <a:latin typeface="Microsoft Sans Serif"/>
                <a:cs typeface="Microsoft Sans Serif"/>
              </a:rPr>
              <a:t>TP</a:t>
            </a:r>
            <a:r>
              <a:rPr sz="18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450" dirty="0">
                <a:solidFill>
                  <a:srgbClr val="00AF50"/>
                </a:solidFill>
                <a:latin typeface="Microsoft Sans Serif"/>
                <a:cs typeface="Microsoft Sans Serif"/>
              </a:rPr>
              <a:t>R</a:t>
            </a:r>
            <a:r>
              <a:rPr sz="1800" spc="-145" dirty="0">
                <a:solidFill>
                  <a:srgbClr val="00AF50"/>
                </a:solidFill>
                <a:latin typeface="Microsoft Sans Serif"/>
                <a:cs typeface="Microsoft Sans Serif"/>
              </a:rPr>
              <a:t>espon</a:t>
            </a:r>
            <a:r>
              <a:rPr sz="1800" spc="-170" dirty="0">
                <a:solidFill>
                  <a:srgbClr val="00AF50"/>
                </a:solidFill>
                <a:latin typeface="Microsoft Sans Serif"/>
                <a:cs typeface="Microsoft Sans Serif"/>
              </a:rPr>
              <a:t>se:</a:t>
            </a:r>
            <a:r>
              <a:rPr sz="180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40" dirty="0">
                <a:solidFill>
                  <a:srgbClr val="00AF50"/>
                </a:solidFill>
                <a:latin typeface="Microsoft Sans Serif"/>
                <a:cs typeface="Microsoft Sans Serif"/>
              </a:rPr>
              <a:t>w</a:t>
            </a:r>
            <a:r>
              <a:rPr sz="1800" spc="-145" dirty="0">
                <a:solidFill>
                  <a:srgbClr val="00AF50"/>
                </a:solidFill>
                <a:latin typeface="Microsoft Sans Serif"/>
                <a:cs typeface="Microsoft Sans Serif"/>
              </a:rPr>
              <a:t>e</a:t>
            </a:r>
            <a:r>
              <a:rPr sz="1800" spc="-10" dirty="0">
                <a:solidFill>
                  <a:srgbClr val="00AF50"/>
                </a:solidFill>
                <a:latin typeface="Microsoft Sans Serif"/>
                <a:cs typeface="Microsoft Sans Serif"/>
              </a:rPr>
              <a:t>b</a:t>
            </a:r>
            <a:r>
              <a:rPr sz="18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00AF50"/>
                </a:solidFill>
                <a:latin typeface="Microsoft Sans Serif"/>
                <a:cs typeface="Microsoft Sans Serif"/>
              </a:rPr>
              <a:t>con</a:t>
            </a:r>
            <a:r>
              <a:rPr sz="1800" spc="-75" dirty="0">
                <a:solidFill>
                  <a:srgbClr val="00AF50"/>
                </a:solidFill>
                <a:latin typeface="Microsoft Sans Serif"/>
                <a:cs typeface="Microsoft Sans Serif"/>
              </a:rPr>
              <a:t>t</a:t>
            </a:r>
            <a:r>
              <a:rPr sz="18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ent</a:t>
            </a:r>
            <a:r>
              <a:rPr sz="1800" spc="-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00AF50"/>
                </a:solidFill>
                <a:latin typeface="Microsoft Sans Serif"/>
                <a:cs typeface="Microsoft Sans Serif"/>
              </a:rPr>
              <a:t>(</a:t>
            </a:r>
            <a:r>
              <a:rPr sz="1800" spc="-220" dirty="0">
                <a:solidFill>
                  <a:srgbClr val="00AF50"/>
                </a:solidFill>
                <a:latin typeface="Microsoft Sans Serif"/>
                <a:cs typeface="Microsoft Sans Serif"/>
              </a:rPr>
              <a:t>H</a:t>
            </a:r>
            <a:r>
              <a:rPr sz="1800" spc="-180" dirty="0">
                <a:solidFill>
                  <a:srgbClr val="00AF50"/>
                </a:solidFill>
                <a:latin typeface="Microsoft Sans Serif"/>
                <a:cs typeface="Microsoft Sans Serif"/>
              </a:rPr>
              <a:t>T</a:t>
            </a:r>
            <a:r>
              <a:rPr sz="1800" spc="-240" dirty="0">
                <a:solidFill>
                  <a:srgbClr val="00AF50"/>
                </a:solidFill>
                <a:latin typeface="Microsoft Sans Serif"/>
                <a:cs typeface="Microsoft Sans Serif"/>
              </a:rPr>
              <a:t>M</a:t>
            </a:r>
            <a:r>
              <a:rPr sz="1800" spc="-310" dirty="0">
                <a:solidFill>
                  <a:srgbClr val="00AF50"/>
                </a:solidFill>
                <a:latin typeface="Microsoft Sans Serif"/>
                <a:cs typeface="Microsoft Sans Serif"/>
              </a:rPr>
              <a:t>L</a:t>
            </a:r>
            <a:r>
              <a:rPr sz="1800" spc="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00AF50"/>
                </a:solidFill>
                <a:latin typeface="Microsoft Sans Serif"/>
                <a:cs typeface="Microsoft Sans Serif"/>
              </a:rPr>
              <a:t>file)  </a:t>
            </a:r>
            <a:r>
              <a:rPr sz="1800" spc="-175" dirty="0">
                <a:solidFill>
                  <a:srgbClr val="00AF50"/>
                </a:solidFill>
                <a:latin typeface="Microsoft Sans Serif"/>
                <a:cs typeface="Microsoft Sans Serif"/>
              </a:rPr>
              <a:t>C</a:t>
            </a:r>
            <a:r>
              <a:rPr sz="1800" spc="-50" dirty="0">
                <a:solidFill>
                  <a:srgbClr val="00AF50"/>
                </a:solidFill>
                <a:latin typeface="Microsoft Sans Serif"/>
                <a:cs typeface="Microsoft Sans Serif"/>
              </a:rPr>
              <a:t>l</a:t>
            </a:r>
            <a:r>
              <a:rPr sz="1800" spc="-105" dirty="0">
                <a:solidFill>
                  <a:srgbClr val="00AF50"/>
                </a:solidFill>
                <a:latin typeface="Microsoft Sans Serif"/>
                <a:cs typeface="Microsoft Sans Serif"/>
              </a:rPr>
              <a:t>ie</a:t>
            </a:r>
            <a:r>
              <a:rPr sz="1800" spc="-140" dirty="0">
                <a:solidFill>
                  <a:srgbClr val="00AF50"/>
                </a:solidFill>
                <a:latin typeface="Microsoft Sans Serif"/>
                <a:cs typeface="Microsoft Sans Serif"/>
              </a:rPr>
              <a:t>n</a:t>
            </a:r>
            <a:r>
              <a:rPr sz="1800" spc="-10" dirty="0">
                <a:solidFill>
                  <a:srgbClr val="00AF50"/>
                </a:solidFill>
                <a:latin typeface="Microsoft Sans Serif"/>
                <a:cs typeface="Microsoft Sans Serif"/>
              </a:rPr>
              <a:t>t</a:t>
            </a:r>
            <a:r>
              <a:rPr sz="1800" dirty="0">
                <a:solidFill>
                  <a:srgbClr val="00AF50"/>
                </a:solidFill>
                <a:latin typeface="Microsoft Sans Serif"/>
                <a:cs typeface="Microsoft Sans Serif"/>
              </a:rPr>
              <a:t>-</a:t>
            </a:r>
            <a:r>
              <a:rPr sz="18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side</a:t>
            </a:r>
            <a:r>
              <a:rPr sz="18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cod</a:t>
            </a:r>
            <a:r>
              <a:rPr sz="1800" spc="-105" dirty="0">
                <a:solidFill>
                  <a:srgbClr val="00AF50"/>
                </a:solidFill>
                <a:latin typeface="Microsoft Sans Serif"/>
                <a:cs typeface="Microsoft Sans Serif"/>
              </a:rPr>
              <a:t>e:</a:t>
            </a:r>
            <a:r>
              <a:rPr sz="180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285" dirty="0">
                <a:solidFill>
                  <a:srgbClr val="00AF50"/>
                </a:solidFill>
                <a:latin typeface="Microsoft Sans Serif"/>
                <a:cs typeface="Microsoft Sans Serif"/>
              </a:rPr>
              <a:t>H</a:t>
            </a:r>
            <a:r>
              <a:rPr sz="1800" spc="-235" dirty="0">
                <a:solidFill>
                  <a:srgbClr val="00AF50"/>
                </a:solidFill>
                <a:latin typeface="Microsoft Sans Serif"/>
                <a:cs typeface="Microsoft Sans Serif"/>
              </a:rPr>
              <a:t>T</a:t>
            </a:r>
            <a:r>
              <a:rPr sz="1800" spc="-254" dirty="0">
                <a:solidFill>
                  <a:srgbClr val="00AF50"/>
                </a:solidFill>
                <a:latin typeface="Microsoft Sans Serif"/>
                <a:cs typeface="Microsoft Sans Serif"/>
              </a:rPr>
              <a:t>M</a:t>
            </a:r>
            <a:r>
              <a:rPr sz="1800" spc="-165" dirty="0">
                <a:solidFill>
                  <a:srgbClr val="00AF50"/>
                </a:solidFill>
                <a:latin typeface="Microsoft Sans Serif"/>
                <a:cs typeface="Microsoft Sans Serif"/>
              </a:rPr>
              <a:t>L</a:t>
            </a:r>
            <a:r>
              <a:rPr sz="18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,</a:t>
            </a:r>
            <a:r>
              <a:rPr sz="18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275" dirty="0">
                <a:solidFill>
                  <a:srgbClr val="00AF50"/>
                </a:solidFill>
                <a:latin typeface="Microsoft Sans Serif"/>
                <a:cs typeface="Microsoft Sans Serif"/>
              </a:rPr>
              <a:t>CS</a:t>
            </a:r>
            <a:r>
              <a:rPr sz="1800" spc="-315" dirty="0">
                <a:solidFill>
                  <a:srgbClr val="00AF50"/>
                </a:solidFill>
                <a:latin typeface="Microsoft Sans Serif"/>
                <a:cs typeface="Microsoft Sans Serif"/>
              </a:rPr>
              <a:t>S</a:t>
            </a:r>
            <a:r>
              <a:rPr sz="1800" spc="-110" dirty="0">
                <a:solidFill>
                  <a:srgbClr val="00AF50"/>
                </a:solidFill>
                <a:latin typeface="Microsoft Sans Serif"/>
                <a:cs typeface="Microsoft Sans Serif"/>
              </a:rPr>
              <a:t>,</a:t>
            </a:r>
            <a:r>
              <a:rPr sz="1800" spc="15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225" dirty="0">
                <a:solidFill>
                  <a:srgbClr val="00AF50"/>
                </a:solidFill>
                <a:latin typeface="Microsoft Sans Serif"/>
                <a:cs typeface="Microsoft Sans Serif"/>
              </a:rPr>
              <a:t>J</a:t>
            </a:r>
            <a:r>
              <a:rPr sz="1800" spc="-65" dirty="0">
                <a:solidFill>
                  <a:srgbClr val="00AF50"/>
                </a:solidFill>
                <a:latin typeface="Microsoft Sans Serif"/>
                <a:cs typeface="Microsoft Sans Serif"/>
              </a:rPr>
              <a:t>a</a:t>
            </a:r>
            <a:r>
              <a:rPr sz="1800" spc="-95" dirty="0">
                <a:solidFill>
                  <a:srgbClr val="00AF50"/>
                </a:solidFill>
                <a:latin typeface="Microsoft Sans Serif"/>
                <a:cs typeface="Microsoft Sans Serif"/>
              </a:rPr>
              <a:t>v</a:t>
            </a:r>
            <a:r>
              <a:rPr sz="1800" spc="-185" dirty="0">
                <a:solidFill>
                  <a:srgbClr val="00AF50"/>
                </a:solidFill>
                <a:latin typeface="Microsoft Sans Serif"/>
                <a:cs typeface="Microsoft Sans Serif"/>
              </a:rPr>
              <a:t>aS</a:t>
            </a:r>
            <a:r>
              <a:rPr sz="1800" spc="-160" dirty="0">
                <a:solidFill>
                  <a:srgbClr val="00AF50"/>
                </a:solidFill>
                <a:latin typeface="Microsoft Sans Serif"/>
                <a:cs typeface="Microsoft Sans Serif"/>
              </a:rPr>
              <a:t>c</a:t>
            </a:r>
            <a:r>
              <a:rPr sz="1800" spc="-10" dirty="0">
                <a:solidFill>
                  <a:srgbClr val="00AF50"/>
                </a:solidFill>
                <a:latin typeface="Microsoft Sans Serif"/>
                <a:cs typeface="Microsoft Sans Serif"/>
              </a:rPr>
              <a:t>ript  </a:t>
            </a:r>
            <a:r>
              <a:rPr sz="1800" spc="-85" dirty="0">
                <a:solidFill>
                  <a:srgbClr val="00AF50"/>
                </a:solidFill>
                <a:latin typeface="Microsoft Sans Serif"/>
                <a:cs typeface="Microsoft Sans Serif"/>
              </a:rPr>
              <a:t>(dynamically</a:t>
            </a:r>
            <a:r>
              <a:rPr sz="1800" spc="-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00AF50"/>
                </a:solidFill>
                <a:latin typeface="Microsoft Sans Serif"/>
                <a:cs typeface="Microsoft Sans Serif"/>
              </a:rPr>
              <a:t>generated</a:t>
            </a:r>
            <a:r>
              <a:rPr sz="1800" spc="-1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00AF50"/>
                </a:solidFill>
                <a:latin typeface="Microsoft Sans Serif"/>
                <a:cs typeface="Microsoft Sans Serif"/>
              </a:rPr>
              <a:t>by</a:t>
            </a:r>
            <a:r>
              <a:rPr sz="1800" dirty="0">
                <a:solidFill>
                  <a:srgbClr val="00AF50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00AF50"/>
                </a:solidFill>
                <a:latin typeface="Microsoft Sans Serif"/>
                <a:cs typeface="Microsoft Sans Serif"/>
              </a:rPr>
              <a:t>server)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80428" y="3909440"/>
            <a:ext cx="6019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Server: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80428" y="4153280"/>
            <a:ext cx="2393315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Lo</a:t>
            </a:r>
            <a:r>
              <a:rPr sz="16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16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1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up</a:t>
            </a:r>
            <a:r>
              <a:rPr sz="1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th</a:t>
            </a:r>
            <a:r>
              <a:rPr sz="1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16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1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16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16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th</a:t>
            </a:r>
            <a:r>
              <a:rPr sz="1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1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6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1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1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16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n  </a:t>
            </a:r>
            <a:r>
              <a:rPr sz="16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u</a:t>
            </a:r>
            <a:r>
              <a:rPr sz="1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1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16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’</a:t>
            </a:r>
            <a:r>
              <a:rPr sz="16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16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16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1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16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1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16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1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16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16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u</a:t>
            </a:r>
            <a:r>
              <a:rPr sz="16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16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16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s  </a:t>
            </a:r>
            <a:r>
              <a:rPr sz="1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1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1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1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1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posts</a:t>
            </a:r>
            <a:r>
              <a:rPr sz="16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16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nd</a:t>
            </a:r>
            <a:r>
              <a:rPr sz="16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fr</a:t>
            </a:r>
            <a:r>
              <a:rPr sz="1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iends</a:t>
            </a:r>
            <a:r>
              <a:rPr sz="1600" spc="5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Wingdings"/>
                <a:cs typeface="Wingdings"/>
              </a:rPr>
              <a:t></a:t>
            </a:r>
            <a:r>
              <a:rPr sz="1600" spc="-5" dirty="0">
                <a:solidFill>
                  <a:srgbClr val="963139"/>
                </a:solidFill>
                <a:latin typeface="Times New Roman"/>
                <a:cs typeface="Times New Roman"/>
              </a:rPr>
              <a:t> </a:t>
            </a:r>
            <a:r>
              <a:rPr sz="1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1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16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16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he</a:t>
            </a:r>
            <a:r>
              <a:rPr sz="16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1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16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da</a:t>
            </a:r>
            <a:r>
              <a:rPr sz="1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1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1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1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se  </a:t>
            </a:r>
            <a:r>
              <a:rPr sz="1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lookups</a:t>
            </a:r>
            <a:endParaRPr sz="1600">
              <a:latin typeface="Microsoft Sans Serif"/>
              <a:cs typeface="Microsoft Sans Serif"/>
            </a:endParaRPr>
          </a:p>
          <a:p>
            <a:pPr marL="355600" marR="29464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Generate</a:t>
            </a:r>
            <a:r>
              <a:rPr sz="1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client-side </a:t>
            </a:r>
            <a:r>
              <a:rPr sz="1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code</a:t>
            </a:r>
            <a:r>
              <a:rPr sz="1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containing</a:t>
            </a:r>
            <a:r>
              <a:rPr sz="1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these </a:t>
            </a:r>
            <a:r>
              <a:rPr sz="1600" spc="-409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things</a:t>
            </a:r>
            <a:endParaRPr sz="16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1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6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nd</a:t>
            </a:r>
            <a:r>
              <a:rPr sz="1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as</a:t>
            </a:r>
            <a:r>
              <a:rPr sz="1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6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TP</a:t>
            </a:r>
            <a:r>
              <a:rPr sz="1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res</a:t>
            </a:r>
            <a:r>
              <a:rPr sz="1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1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16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1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1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53328"/>
            <a:ext cx="2240280" cy="713740"/>
          </a:xfrm>
          <a:custGeom>
            <a:avLst/>
            <a:gdLst/>
            <a:ahLst/>
            <a:cxnLst/>
            <a:rect l="l" t="t" r="r" b="b"/>
            <a:pathLst>
              <a:path w="2240280" h="713740">
                <a:moveTo>
                  <a:pt x="2240280" y="0"/>
                </a:moveTo>
                <a:lnTo>
                  <a:pt x="0" y="0"/>
                </a:lnTo>
                <a:lnTo>
                  <a:pt x="0" y="713232"/>
                </a:lnTo>
                <a:lnTo>
                  <a:pt x="2240280" y="713232"/>
                </a:lnTo>
                <a:lnTo>
                  <a:pt x="2240280" y="0"/>
                </a:lnTo>
                <a:close/>
              </a:path>
            </a:pathLst>
          </a:custGeom>
          <a:solidFill>
            <a:srgbClr val="9631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59151" y="6044184"/>
            <a:ext cx="6784975" cy="713740"/>
          </a:xfrm>
          <a:custGeom>
            <a:avLst/>
            <a:gdLst/>
            <a:ahLst/>
            <a:cxnLst/>
            <a:rect l="l" t="t" r="r" b="b"/>
            <a:pathLst>
              <a:path w="6784975" h="713740">
                <a:moveTo>
                  <a:pt x="6784848" y="0"/>
                </a:moveTo>
                <a:lnTo>
                  <a:pt x="0" y="0"/>
                </a:lnTo>
                <a:lnTo>
                  <a:pt x="0" y="713231"/>
                </a:lnTo>
                <a:lnTo>
                  <a:pt x="6784848" y="713231"/>
                </a:lnTo>
                <a:lnTo>
                  <a:pt x="6784848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09465" y="1616709"/>
            <a:ext cx="9226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65" dirty="0"/>
              <a:t>PHP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88845" y="2632075"/>
            <a:ext cx="47669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Int</a:t>
            </a:r>
            <a:r>
              <a:rPr sz="32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roduction</a:t>
            </a:r>
            <a:r>
              <a:rPr sz="32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32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Basic</a:t>
            </a:r>
            <a:r>
              <a:rPr sz="32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32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32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ntax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30181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What</a:t>
            </a:r>
            <a:r>
              <a:rPr spc="20" dirty="0"/>
              <a:t> </a:t>
            </a:r>
            <a:r>
              <a:rPr spc="-250" dirty="0"/>
              <a:t>i</a:t>
            </a:r>
            <a:r>
              <a:rPr spc="-530" dirty="0"/>
              <a:t>s</a:t>
            </a:r>
            <a:r>
              <a:rPr spc="45" dirty="0"/>
              <a:t> </a:t>
            </a:r>
            <a:r>
              <a:rPr spc="-685" dirty="0"/>
              <a:t>PHP?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2053246"/>
            <a:ext cx="7791450" cy="337439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1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434" dirty="0">
                <a:solidFill>
                  <a:srgbClr val="963139"/>
                </a:solidFill>
                <a:latin typeface="Microsoft Sans Serif"/>
                <a:cs typeface="Microsoft Sans Serif"/>
              </a:rPr>
              <a:t>PHP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245" dirty="0">
                <a:solidFill>
                  <a:srgbClr val="963139"/>
                </a:solidFill>
                <a:latin typeface="Microsoft Sans Serif"/>
                <a:cs typeface="Microsoft Sans Serif"/>
              </a:rPr>
              <a:t>=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9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900" spc="-440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900" spc="-325" dirty="0">
                <a:solidFill>
                  <a:srgbClr val="963139"/>
                </a:solidFill>
                <a:latin typeface="Microsoft Sans Serif"/>
                <a:cs typeface="Microsoft Sans Serif"/>
              </a:rPr>
              <a:t>P: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Hype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xt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Prepr</a:t>
            </a:r>
            <a:r>
              <a:rPr sz="29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oce</a:t>
            </a:r>
            <a:r>
              <a:rPr sz="29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35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endParaRPr sz="2900">
              <a:latin typeface="Microsoft Sans Serif"/>
              <a:cs typeface="Microsoft Sans Serif"/>
            </a:endParaRPr>
          </a:p>
          <a:p>
            <a:pPr marL="332740" marR="1087755" indent="-320040">
              <a:lnSpc>
                <a:spcPct val="100000"/>
              </a:lnSpc>
              <a:spcBef>
                <a:spcPts val="70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Server-side</a:t>
            </a:r>
            <a:r>
              <a:rPr sz="29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scripting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language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that</a:t>
            </a:r>
            <a:r>
              <a:rPr sz="29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may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be </a:t>
            </a:r>
            <a:r>
              <a:rPr sz="2900" spc="-7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embedded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into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80" dirty="0">
                <a:solidFill>
                  <a:srgbClr val="963139"/>
                </a:solidFill>
                <a:latin typeface="Microsoft Sans Serif"/>
                <a:cs typeface="Microsoft Sans Serif"/>
              </a:rPr>
              <a:t>HTML</a:t>
            </a:r>
            <a:endParaRPr sz="2900">
              <a:latin typeface="Microsoft Sans Serif"/>
              <a:cs typeface="Microsoft Sans Serif"/>
            </a:endParaRPr>
          </a:p>
          <a:p>
            <a:pPr marL="332740" marR="5080" indent="-320040">
              <a:lnSpc>
                <a:spcPct val="100000"/>
              </a:lnSpc>
              <a:spcBef>
                <a:spcPts val="70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Ultimate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goal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is</a:t>
            </a:r>
            <a:r>
              <a:rPr sz="29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get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440" dirty="0">
                <a:solidFill>
                  <a:srgbClr val="963139"/>
                </a:solidFill>
                <a:latin typeface="Microsoft Sans Serif"/>
                <a:cs typeface="Microsoft Sans Serif"/>
              </a:rPr>
              <a:t>PHP</a:t>
            </a:r>
            <a:r>
              <a:rPr sz="29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files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b="1" spc="-200" dirty="0">
                <a:solidFill>
                  <a:srgbClr val="963139"/>
                </a:solidFill>
                <a:latin typeface="Arial"/>
                <a:cs typeface="Arial"/>
              </a:rPr>
              <a:t>generate</a:t>
            </a:r>
            <a:r>
              <a:rPr sz="2900" b="1" spc="-15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9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client- </a:t>
            </a:r>
            <a:r>
              <a:rPr sz="2900" spc="-76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side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code</a:t>
            </a:r>
            <a:endParaRPr sz="2900">
              <a:latin typeface="Microsoft Sans Serif"/>
              <a:cs typeface="Microsoft Sans Serif"/>
            </a:endParaRPr>
          </a:p>
          <a:p>
            <a:pPr marL="652780" marR="194310" indent="-274320">
              <a:lnSpc>
                <a:spcPct val="100000"/>
              </a:lnSpc>
              <a:spcBef>
                <a:spcPts val="610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 </a:t>
            </a:r>
            <a:r>
              <a:rPr sz="26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must</a:t>
            </a:r>
            <a:r>
              <a:rPr sz="2600" spc="-28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end</a:t>
            </a:r>
            <a:r>
              <a:rPr sz="26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up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with </a:t>
            </a:r>
            <a:r>
              <a:rPr sz="26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HTML,</a:t>
            </a:r>
            <a:r>
              <a:rPr sz="26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350" dirty="0">
                <a:solidFill>
                  <a:srgbClr val="963139"/>
                </a:solidFill>
                <a:latin typeface="Microsoft Sans Serif"/>
                <a:cs typeface="Microsoft Sans Serif"/>
              </a:rPr>
              <a:t>CSS,</a:t>
            </a:r>
            <a:r>
              <a:rPr sz="2600" spc="-3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JavaScript, </a:t>
            </a:r>
            <a:r>
              <a:rPr sz="26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other </a:t>
            </a:r>
            <a:r>
              <a:rPr sz="2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client-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side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code!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2844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0" dirty="0"/>
              <a:t>Sid</a:t>
            </a:r>
            <a:r>
              <a:rPr spc="-290" dirty="0"/>
              <a:t>e</a:t>
            </a:r>
            <a:r>
              <a:rPr spc="-5" dirty="0"/>
              <a:t>-</a:t>
            </a:r>
            <a:r>
              <a:rPr spc="-235" dirty="0"/>
              <a:t>b</a:t>
            </a:r>
            <a:r>
              <a:rPr spc="-10" dirty="0"/>
              <a:t>y</a:t>
            </a:r>
            <a:r>
              <a:rPr spc="-5" dirty="0"/>
              <a:t>-</a:t>
            </a:r>
            <a:r>
              <a:rPr spc="-225" dirty="0"/>
              <a:t>si</a:t>
            </a:r>
            <a:r>
              <a:rPr spc="-365" dirty="0"/>
              <a:t>d</a:t>
            </a:r>
            <a:r>
              <a:rPr spc="-24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94738"/>
            <a:ext cx="3538220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425" dirty="0">
                <a:solidFill>
                  <a:srgbClr val="963139"/>
                </a:solidFill>
                <a:latin typeface="Microsoft Sans Serif"/>
                <a:cs typeface="Microsoft Sans Serif"/>
              </a:rPr>
              <a:t>PHP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File: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&lt;html&gt;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&lt;head&gt;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&lt;title&gt;</a:t>
            </a:r>
            <a:r>
              <a:rPr sz="14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PHP</a:t>
            </a:r>
            <a:r>
              <a:rPr sz="1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Introduction</a:t>
            </a:r>
            <a:r>
              <a:rPr sz="14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&lt;/title&gt;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&lt;/head&gt;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&lt;body&gt;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This</a:t>
            </a:r>
            <a:r>
              <a:rPr sz="14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HTML!</a:t>
            </a:r>
            <a:r>
              <a:rPr sz="14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&lt;br</a:t>
            </a:r>
            <a:r>
              <a:rPr sz="14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/&gt;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400" b="1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'This</a:t>
            </a:r>
            <a:r>
              <a:rPr sz="1400" b="1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400" b="1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PHP!</a:t>
            </a:r>
            <a:r>
              <a:rPr sz="1400" b="1" spc="-10" dirty="0">
                <a:solidFill>
                  <a:srgbClr val="963139"/>
                </a:solidFill>
                <a:latin typeface="Courier New"/>
                <a:cs typeface="Courier New"/>
              </a:rPr>
              <a:t> &lt;br /&gt;';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&lt;/body&gt;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&lt;/html&gt;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03775" y="1994738"/>
            <a:ext cx="3538220" cy="2372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Output:</a:t>
            </a:r>
            <a:r>
              <a:rPr sz="28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resulting</a:t>
            </a:r>
            <a:r>
              <a:rPr sz="28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370" dirty="0">
                <a:solidFill>
                  <a:srgbClr val="963139"/>
                </a:solidFill>
                <a:latin typeface="Microsoft Sans Serif"/>
                <a:cs typeface="Microsoft Sans Serif"/>
              </a:rPr>
              <a:t>HTML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&lt;html&gt;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&lt;head&gt;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&lt;title&gt;</a:t>
            </a:r>
            <a:r>
              <a:rPr sz="14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PHP</a:t>
            </a:r>
            <a:r>
              <a:rPr sz="1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Introduction</a:t>
            </a:r>
            <a:r>
              <a:rPr sz="14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&lt;/title&gt;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&lt;/head&gt;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&lt;body&gt;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This</a:t>
            </a:r>
            <a:r>
              <a:rPr sz="14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HTML!</a:t>
            </a:r>
            <a:r>
              <a:rPr sz="14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&lt;br</a:t>
            </a:r>
            <a:r>
              <a:rPr sz="14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/&gt;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This</a:t>
            </a:r>
            <a:r>
              <a:rPr sz="1400" b="1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400" b="1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963139"/>
                </a:solidFill>
                <a:latin typeface="Courier New"/>
                <a:cs typeface="Courier New"/>
              </a:rPr>
              <a:t>PHP!</a:t>
            </a: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963139"/>
                </a:solidFill>
                <a:latin typeface="Courier New"/>
                <a:cs typeface="Courier New"/>
              </a:rPr>
              <a:t>&lt;br</a:t>
            </a: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963139"/>
                </a:solidFill>
                <a:latin typeface="Courier New"/>
                <a:cs typeface="Courier New"/>
              </a:rPr>
              <a:t>/&gt;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&lt;/body&gt;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&lt;/html&gt;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28670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75" dirty="0"/>
              <a:t>A</a:t>
            </a:r>
            <a:r>
              <a:rPr spc="45" dirty="0"/>
              <a:t> </a:t>
            </a:r>
            <a:r>
              <a:rPr spc="-295" dirty="0"/>
              <a:t>closer</a:t>
            </a:r>
            <a:r>
              <a:rPr spc="10" dirty="0"/>
              <a:t> </a:t>
            </a:r>
            <a:r>
              <a:rPr spc="-204" dirty="0"/>
              <a:t>look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41775" y="4483988"/>
            <a:ext cx="4408805" cy="186118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05"/>
              </a:spcBef>
              <a:buSzPct val="6041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400" spc="-365" dirty="0">
                <a:solidFill>
                  <a:srgbClr val="963139"/>
                </a:solidFill>
                <a:latin typeface="Microsoft Sans Serif"/>
                <a:cs typeface="Microsoft Sans Serif"/>
              </a:rPr>
              <a:t>PHP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4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4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gs:</a:t>
            </a:r>
            <a:r>
              <a:rPr sz="24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&lt;?ph</a:t>
            </a: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p</a:t>
            </a:r>
            <a:r>
              <a:rPr sz="2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an</a:t>
            </a: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d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 ?&gt;</a:t>
            </a:r>
            <a:endParaRPr sz="2400">
              <a:latin typeface="Courier New"/>
              <a:cs typeface="Courier New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SzPct val="6041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400" spc="-37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4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4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ech</a:t>
            </a: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o</a:t>
            </a:r>
            <a:r>
              <a:rPr sz="2400" spc="-78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280" dirty="0">
                <a:solidFill>
                  <a:srgbClr val="963139"/>
                </a:solidFill>
                <a:latin typeface="Microsoft Sans Serif"/>
                <a:cs typeface="Microsoft Sans Serif"/>
              </a:rPr>
              <a:t>com</a:t>
            </a:r>
            <a:r>
              <a:rPr sz="2400" spc="-38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4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endParaRPr sz="24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805"/>
              </a:spcBef>
              <a:buSzPct val="6041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4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Sin</a:t>
            </a:r>
            <a:r>
              <a:rPr sz="24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gle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lin</a:t>
            </a:r>
            <a:r>
              <a:rPr sz="24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80" dirty="0">
                <a:solidFill>
                  <a:srgbClr val="963139"/>
                </a:solidFill>
                <a:latin typeface="Microsoft Sans Serif"/>
                <a:cs typeface="Microsoft Sans Serif"/>
              </a:rPr>
              <a:t>com</a:t>
            </a:r>
            <a:r>
              <a:rPr sz="2400" spc="-38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ent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(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530" dirty="0">
                <a:solidFill>
                  <a:srgbClr val="963139"/>
                </a:solidFill>
                <a:latin typeface="Microsoft Sans Serif"/>
                <a:cs typeface="Microsoft Sans Serif"/>
              </a:rPr>
              <a:t>//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)</a:t>
            </a:r>
            <a:endParaRPr sz="24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SzPct val="6041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4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Multiple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li</a:t>
            </a:r>
            <a:r>
              <a:rPr sz="24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4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80" dirty="0">
                <a:solidFill>
                  <a:srgbClr val="963139"/>
                </a:solidFill>
                <a:latin typeface="Microsoft Sans Serif"/>
                <a:cs typeface="Microsoft Sans Serif"/>
              </a:rPr>
              <a:t>com</a:t>
            </a:r>
            <a:r>
              <a:rPr sz="2400" spc="-38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ent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165" dirty="0">
                <a:solidFill>
                  <a:srgbClr val="963139"/>
                </a:solidFill>
                <a:latin typeface="Microsoft Sans Serif"/>
                <a:cs typeface="Microsoft Sans Serif"/>
              </a:rPr>
              <a:t>(/*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120" dirty="0">
                <a:solidFill>
                  <a:srgbClr val="963139"/>
                </a:solidFill>
                <a:latin typeface="Microsoft Sans Serif"/>
                <a:cs typeface="Microsoft Sans Serif"/>
              </a:rPr>
              <a:t>*</a:t>
            </a:r>
            <a:r>
              <a:rPr sz="2400" spc="190" dirty="0">
                <a:solidFill>
                  <a:srgbClr val="963139"/>
                </a:solidFill>
                <a:latin typeface="Microsoft Sans Serif"/>
                <a:cs typeface="Microsoft Sans Serif"/>
              </a:rPr>
              <a:t>/)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2994" y="1542669"/>
            <a:ext cx="5484495" cy="3013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&lt;html&gt;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&lt;head&gt;</a:t>
            </a:r>
            <a:endParaRPr sz="14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&lt;title&gt;</a:t>
            </a:r>
            <a:r>
              <a:rPr sz="14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PHP</a:t>
            </a:r>
            <a:r>
              <a:rPr sz="1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Introduction</a:t>
            </a:r>
            <a:r>
              <a:rPr sz="14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&lt;/title&gt;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&lt;/head&gt;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&lt;body&gt;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This</a:t>
            </a:r>
            <a:r>
              <a:rPr sz="14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HTML!</a:t>
            </a:r>
            <a:r>
              <a:rPr sz="14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&lt;br</a:t>
            </a:r>
            <a:r>
              <a:rPr sz="14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/&gt;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echo 'This</a:t>
            </a:r>
            <a:r>
              <a:rPr sz="1400" b="1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400" b="1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PHP! </a:t>
            </a:r>
            <a:r>
              <a:rPr sz="1400" b="1" spc="-10" dirty="0">
                <a:solidFill>
                  <a:srgbClr val="963139"/>
                </a:solidFill>
                <a:latin typeface="Courier New"/>
                <a:cs typeface="Courier New"/>
              </a:rPr>
              <a:t>&lt;br</a:t>
            </a:r>
            <a:r>
              <a:rPr sz="1400" b="1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963139"/>
                </a:solidFill>
                <a:latin typeface="Courier New"/>
                <a:cs typeface="Courier New"/>
              </a:rPr>
              <a:t>/&gt;';</a:t>
            </a:r>
            <a:r>
              <a:rPr sz="1400" b="1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// prints </a:t>
            </a:r>
            <a:r>
              <a:rPr sz="1400" b="1" spc="-10" dirty="0">
                <a:solidFill>
                  <a:srgbClr val="963139"/>
                </a:solidFill>
                <a:latin typeface="Courier New"/>
                <a:cs typeface="Courier New"/>
              </a:rPr>
              <a:t>to</a:t>
            </a:r>
            <a:r>
              <a:rPr sz="1400" b="1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screen</a:t>
            </a:r>
            <a:endParaRPr sz="1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/*</a:t>
            </a:r>
            <a:endParaRPr sz="1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Here's</a:t>
            </a:r>
            <a:r>
              <a:rPr sz="1400" b="1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963139"/>
                </a:solidFill>
                <a:latin typeface="Courier New"/>
                <a:cs typeface="Courier New"/>
              </a:rPr>
              <a:t>a</a:t>
            </a:r>
            <a:r>
              <a:rPr sz="1400" b="1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963139"/>
                </a:solidFill>
                <a:latin typeface="Courier New"/>
                <a:cs typeface="Courier New"/>
              </a:rPr>
              <a:t>longer</a:t>
            </a:r>
            <a:endParaRPr sz="1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comment</a:t>
            </a:r>
            <a:endParaRPr sz="1400">
              <a:latin typeface="Courier New"/>
              <a:cs typeface="Courier New"/>
            </a:endParaRPr>
          </a:p>
          <a:p>
            <a:pPr marL="469900" marR="2983230">
              <a:lnSpc>
                <a:spcPct val="100000"/>
              </a:lnSpc>
            </a:pP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that</a:t>
            </a:r>
            <a:r>
              <a:rPr sz="1400" b="1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spans</a:t>
            </a:r>
            <a:r>
              <a:rPr sz="1400" b="1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multiple </a:t>
            </a:r>
            <a:r>
              <a:rPr sz="1400" b="1" spc="-8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lines.</a:t>
            </a:r>
            <a:endParaRPr sz="1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*/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2994" y="4530344"/>
            <a:ext cx="77216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963139"/>
                </a:solidFill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&lt;/body&gt;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&lt;/html&gt;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39039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75" dirty="0"/>
              <a:t>Vi</a:t>
            </a:r>
            <a:r>
              <a:rPr spc="-295" dirty="0"/>
              <a:t>e</a:t>
            </a:r>
            <a:r>
              <a:rPr spc="-204" dirty="0"/>
              <a:t>wing</a:t>
            </a:r>
            <a:r>
              <a:rPr spc="25" dirty="0"/>
              <a:t> </a:t>
            </a:r>
            <a:r>
              <a:rPr spc="-660" dirty="0"/>
              <a:t>PHP</a:t>
            </a:r>
            <a:r>
              <a:rPr spc="25" dirty="0"/>
              <a:t> </a:t>
            </a:r>
            <a:r>
              <a:rPr spc="55" dirty="0"/>
              <a:t>fi</a:t>
            </a:r>
            <a:r>
              <a:rPr spc="35" dirty="0"/>
              <a:t>l</a:t>
            </a:r>
            <a:r>
              <a:rPr spc="-490"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524660"/>
            <a:ext cx="7909559" cy="425259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39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800" spc="-41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800" spc="-47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file</a:t>
            </a:r>
            <a:r>
              <a:rPr sz="2800" spc="-47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x</a:t>
            </a:r>
            <a:r>
              <a:rPr sz="28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8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uted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800" spc="-33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8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800" spc="5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8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8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er</a:t>
            </a:r>
            <a:endParaRPr sz="2800">
              <a:latin typeface="Microsoft Sans Serif"/>
              <a:cs typeface="Microsoft Sans Serif"/>
            </a:endParaRPr>
          </a:p>
          <a:p>
            <a:pPr marL="332740" marR="296545" indent="-320040">
              <a:lnSpc>
                <a:spcPct val="100000"/>
              </a:lnSpc>
              <a:spcBef>
                <a:spcPts val="700"/>
              </a:spcBef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Ther</a:t>
            </a:r>
            <a:r>
              <a:rPr sz="28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9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8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cannot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sa</a:t>
            </a:r>
            <a:r>
              <a:rPr sz="28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them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8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ywhere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8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vi</a:t>
            </a:r>
            <a:r>
              <a:rPr sz="28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w  </a:t>
            </a:r>
            <a:r>
              <a:rPr sz="28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them,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47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with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370" dirty="0">
                <a:solidFill>
                  <a:srgbClr val="963139"/>
                </a:solidFill>
                <a:latin typeface="Microsoft Sans Serif"/>
                <a:cs typeface="Microsoft Sans Serif"/>
              </a:rPr>
              <a:t>HTML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16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8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iles</a:t>
            </a:r>
            <a:endParaRPr sz="28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360" dirty="0">
                <a:solidFill>
                  <a:srgbClr val="963139"/>
                </a:solidFill>
                <a:latin typeface="Microsoft Sans Serif"/>
                <a:cs typeface="Microsoft Sans Serif"/>
              </a:rPr>
              <a:t>Mu</a:t>
            </a:r>
            <a:r>
              <a:rPr sz="28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8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8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8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.</a:t>
            </a:r>
            <a:r>
              <a:rPr sz="28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php</a:t>
            </a:r>
            <a:r>
              <a:rPr sz="2800" spc="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fil</a:t>
            </a:r>
            <a:r>
              <a:rPr sz="28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47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8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8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su</a:t>
            </a:r>
            <a:r>
              <a:rPr sz="2800" spc="-280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di</a:t>
            </a:r>
            <a:r>
              <a:rPr sz="2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8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8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800" spc="1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8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8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8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8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er</a:t>
            </a:r>
            <a:endParaRPr sz="28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20"/>
              </a:spcBef>
            </a:pPr>
            <a:r>
              <a:rPr sz="1650" spc="-1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 </a:t>
            </a:r>
            <a:r>
              <a:rPr sz="1650" spc="-21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530" dirty="0">
                <a:solidFill>
                  <a:srgbClr val="963139"/>
                </a:solidFill>
                <a:latin typeface="Microsoft Sans Serif"/>
                <a:cs typeface="Microsoft Sans Serif"/>
              </a:rPr>
              <a:t>/</a:t>
            </a:r>
            <a:r>
              <a:rPr sz="24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4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ar</a:t>
            </a:r>
            <a:r>
              <a:rPr sz="2400" spc="75" dirty="0">
                <a:solidFill>
                  <a:srgbClr val="963139"/>
                </a:solidFill>
                <a:latin typeface="Microsoft Sans Serif"/>
                <a:cs typeface="Microsoft Sans Serif"/>
              </a:rPr>
              <a:t>/w</a:t>
            </a:r>
            <a:r>
              <a:rPr sz="24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400" spc="200" dirty="0">
                <a:solidFill>
                  <a:srgbClr val="963139"/>
                </a:solidFill>
                <a:latin typeface="Microsoft Sans Serif"/>
                <a:cs typeface="Microsoft Sans Serif"/>
              </a:rPr>
              <a:t>w/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4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400" spc="-35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Lin</a:t>
            </a:r>
            <a:r>
              <a:rPr sz="24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u</a:t>
            </a:r>
            <a:r>
              <a:rPr sz="2400" dirty="0">
                <a:solidFill>
                  <a:srgbClr val="963139"/>
                </a:solidFill>
                <a:latin typeface="Microsoft Sans Serif"/>
                <a:cs typeface="Microsoft Sans Serif"/>
              </a:rPr>
              <a:t>x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con</a:t>
            </a:r>
            <a:r>
              <a:rPr sz="24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4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igu</a:t>
            </a:r>
            <a:r>
              <a:rPr sz="24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ations</a:t>
            </a:r>
            <a:endParaRPr sz="24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00"/>
              </a:spcBef>
            </a:pPr>
            <a:r>
              <a:rPr sz="1650" spc="-4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650" spc="22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www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directory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4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your</a:t>
            </a:r>
            <a:r>
              <a:rPr sz="24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user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directory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Athena</a:t>
            </a:r>
            <a:endParaRPr sz="2400">
              <a:latin typeface="Microsoft Sans Serif"/>
              <a:cs typeface="Microsoft Sans Serif"/>
            </a:endParaRPr>
          </a:p>
          <a:p>
            <a:pPr marL="332740" marR="5080" indent="-320040">
              <a:lnSpc>
                <a:spcPct val="100000"/>
              </a:lnSpc>
              <a:spcBef>
                <a:spcPts val="680"/>
              </a:spcBef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Make</a:t>
            </a:r>
            <a:r>
              <a:rPr sz="28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call </a:t>
            </a:r>
            <a:r>
              <a:rPr sz="28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 </a:t>
            </a:r>
            <a:r>
              <a:rPr sz="28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web</a:t>
            </a:r>
            <a:r>
              <a:rPr sz="28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</a:t>
            </a:r>
            <a:r>
              <a:rPr sz="28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via </a:t>
            </a:r>
            <a:r>
              <a:rPr sz="28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domain</a:t>
            </a:r>
            <a:r>
              <a:rPr sz="28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name </a:t>
            </a:r>
            <a:r>
              <a:rPr sz="28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(google.com),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IP</a:t>
            </a:r>
            <a:r>
              <a:rPr sz="28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address</a:t>
            </a:r>
            <a:r>
              <a:rPr sz="28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(72.26.203.99),</a:t>
            </a:r>
            <a:r>
              <a:rPr sz="2800" spc="7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r>
              <a:rPr sz="28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localhost </a:t>
            </a:r>
            <a:r>
              <a:rPr sz="2800" spc="-7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5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800" spc="7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800" spc="1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800" spc="-33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8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our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8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wn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computer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53328"/>
            <a:ext cx="2240280" cy="713740"/>
          </a:xfrm>
          <a:custGeom>
            <a:avLst/>
            <a:gdLst/>
            <a:ahLst/>
            <a:cxnLst/>
            <a:rect l="l" t="t" r="r" b="b"/>
            <a:pathLst>
              <a:path w="2240280" h="713740">
                <a:moveTo>
                  <a:pt x="2240280" y="0"/>
                </a:moveTo>
                <a:lnTo>
                  <a:pt x="0" y="0"/>
                </a:lnTo>
                <a:lnTo>
                  <a:pt x="0" y="713232"/>
                </a:lnTo>
                <a:lnTo>
                  <a:pt x="2240280" y="713232"/>
                </a:lnTo>
                <a:lnTo>
                  <a:pt x="2240280" y="0"/>
                </a:lnTo>
                <a:close/>
              </a:path>
            </a:pathLst>
          </a:custGeom>
          <a:solidFill>
            <a:srgbClr val="9631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59151" y="6044184"/>
            <a:ext cx="6784975" cy="713740"/>
          </a:xfrm>
          <a:custGeom>
            <a:avLst/>
            <a:gdLst/>
            <a:ahLst/>
            <a:cxnLst/>
            <a:rect l="l" t="t" r="r" b="b"/>
            <a:pathLst>
              <a:path w="6784975" h="713740">
                <a:moveTo>
                  <a:pt x="6784848" y="0"/>
                </a:moveTo>
                <a:lnTo>
                  <a:pt x="0" y="0"/>
                </a:lnTo>
                <a:lnTo>
                  <a:pt x="0" y="713231"/>
                </a:lnTo>
                <a:lnTo>
                  <a:pt x="6784848" y="713231"/>
                </a:lnTo>
                <a:lnTo>
                  <a:pt x="6784848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09465" y="1616709"/>
            <a:ext cx="9226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65" dirty="0"/>
              <a:t>PHP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7602" y="2632075"/>
            <a:ext cx="67691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Syntax:</a:t>
            </a:r>
            <a:r>
              <a:rPr sz="32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Variables,</a:t>
            </a:r>
            <a:r>
              <a:rPr sz="32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Operators,</a:t>
            </a:r>
            <a:r>
              <a:rPr sz="32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32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Strings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21443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12138"/>
            <a:ext cx="7977505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Store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values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for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future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reference,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use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variable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name </a:t>
            </a:r>
            <a:r>
              <a:rPr sz="2900" spc="-7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refer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value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stored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it</a:t>
            </a:r>
            <a:endParaRPr sz="29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1387" y="4089967"/>
            <a:ext cx="6732905" cy="150431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434" dirty="0">
                <a:solidFill>
                  <a:srgbClr val="963139"/>
                </a:solidFill>
                <a:latin typeface="Microsoft Sans Serif"/>
                <a:cs typeface="Microsoft Sans Serif"/>
              </a:rPr>
              <a:t>PHP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900" spc="-35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loosel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-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typ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ed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lan</a:t>
            </a:r>
            <a:r>
              <a:rPr sz="29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9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ua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20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Do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not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ne</a:t>
            </a:r>
            <a:r>
              <a:rPr sz="26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clare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pe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of</a:t>
            </a:r>
            <a:r>
              <a:rPr sz="2600" spc="9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ariab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le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05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56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6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ype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can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han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th</a:t>
            </a:r>
            <a:r>
              <a:rPr sz="26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oughout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ogr</a:t>
            </a:r>
            <a:r>
              <a:rPr sz="26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am</a:t>
            </a:r>
            <a:endParaRPr sz="2600">
              <a:latin typeface="Microsoft Sans Serif"/>
              <a:cs typeface="Microsoft Sans Serif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55344" y="2800409"/>
          <a:ext cx="6942454" cy="1081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6430"/>
                <a:gridCol w="1187450"/>
                <a:gridCol w="369569"/>
                <a:gridCol w="4739005"/>
              </a:tblGrid>
              <a:tr h="266640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$x</a:t>
                      </a:r>
                      <a:r>
                        <a:rPr sz="1800" spc="-8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42;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1860"/>
                        </a:lnSpc>
                      </a:pP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store</a:t>
                      </a:r>
                      <a:r>
                        <a:rPr sz="1800" spc="-3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800" spc="-1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value</a:t>
                      </a:r>
                      <a:r>
                        <a:rPr sz="1800" spc="-2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42</a:t>
                      </a:r>
                      <a:r>
                        <a:rPr sz="1800" spc="-4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sz="1800" spc="-2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$x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920"/>
                        </a:lnSpc>
                      </a:pP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echo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$x;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1920"/>
                        </a:lnSpc>
                      </a:pP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prints</a:t>
                      </a:r>
                      <a:r>
                        <a:rPr sz="1800" spc="-7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42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920"/>
                        </a:lnSpc>
                      </a:pP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echo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$x+1;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1920"/>
                        </a:lnSpc>
                      </a:pP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prints</a:t>
                      </a:r>
                      <a:r>
                        <a:rPr sz="1800" spc="-2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43,</a:t>
                      </a:r>
                      <a:r>
                        <a:rPr sz="1800" spc="-2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value</a:t>
                      </a:r>
                      <a:r>
                        <a:rPr sz="1800" spc="-2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of</a:t>
                      </a:r>
                      <a:r>
                        <a:rPr sz="1800" spc="-2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$x</a:t>
                      </a:r>
                      <a:r>
                        <a:rPr sz="1800" spc="-2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is still 42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66640">
                <a:tc>
                  <a:txBody>
                    <a:bodyPr/>
                    <a:lstStyle/>
                    <a:p>
                      <a:pPr marL="31750">
                        <a:lnSpc>
                          <a:spcPts val="1920"/>
                        </a:lnSpc>
                      </a:pP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$x</a:t>
                      </a:r>
                      <a:r>
                        <a:rPr sz="1800" spc="-8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‘hello!’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1920"/>
                        </a:lnSpc>
                      </a:pP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type</a:t>
                      </a:r>
                      <a:r>
                        <a:rPr sz="1800" spc="-3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of</a:t>
                      </a:r>
                      <a:r>
                        <a:rPr sz="1800" spc="-4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$x</a:t>
                      </a:r>
                      <a:r>
                        <a:rPr sz="1800" spc="-3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can</a:t>
                      </a:r>
                      <a:r>
                        <a:rPr sz="1800" spc="-2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change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2336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Ope</a:t>
            </a:r>
            <a:r>
              <a:rPr spc="-100" dirty="0"/>
              <a:t>r</a:t>
            </a:r>
            <a:r>
              <a:rPr spc="-30" dirty="0"/>
              <a:t>at</a:t>
            </a:r>
            <a:r>
              <a:rPr spc="-325" dirty="0"/>
              <a:t>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526134"/>
            <a:ext cx="7256145" cy="39624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8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Arithmetic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operators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15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+,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-,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*,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210" dirty="0">
                <a:solidFill>
                  <a:srgbClr val="963139"/>
                </a:solidFill>
                <a:latin typeface="Microsoft Sans Serif"/>
                <a:cs typeface="Microsoft Sans Serif"/>
              </a:rPr>
              <a:t>/,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%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(modulus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540" dirty="0">
                <a:solidFill>
                  <a:srgbClr val="963139"/>
                </a:solidFill>
                <a:latin typeface="Microsoft Sans Serif"/>
                <a:cs typeface="Microsoft Sans Serif"/>
              </a:rPr>
              <a:t>–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remainder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after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division)</a:t>
            </a:r>
            <a:endParaRPr sz="26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Logical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(&amp;&amp;),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spc="-64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204" dirty="0">
                <a:solidFill>
                  <a:srgbClr val="963139"/>
                </a:solidFill>
                <a:latin typeface="Microsoft Sans Serif"/>
                <a:cs typeface="Microsoft Sans Serif"/>
              </a:rPr>
              <a:t>(||),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spc="-50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(!)</a:t>
            </a:r>
            <a:endParaRPr sz="29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Assi</a:t>
            </a:r>
            <a:r>
              <a:rPr sz="2900" spc="-265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9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nment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ope</a:t>
            </a:r>
            <a:r>
              <a:rPr sz="29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rs</a:t>
            </a:r>
            <a:endParaRPr sz="29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Sho</a:t>
            </a:r>
            <a:r>
              <a:rPr sz="29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thand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9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assignment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ope</a:t>
            </a:r>
            <a:r>
              <a:rPr sz="29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ator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: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490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5" dirty="0">
                <a:solidFill>
                  <a:srgbClr val="963139"/>
                </a:solidFill>
                <a:latin typeface="Courier New"/>
                <a:cs typeface="Courier New"/>
              </a:rPr>
              <a:t>$</a:t>
            </a:r>
            <a:r>
              <a:rPr sz="2600" dirty="0">
                <a:solidFill>
                  <a:srgbClr val="963139"/>
                </a:solidFill>
                <a:latin typeface="Courier New"/>
                <a:cs typeface="Courier New"/>
              </a:rPr>
              <a:t>x </a:t>
            </a:r>
            <a:r>
              <a:rPr sz="2600" spc="-5" dirty="0">
                <a:solidFill>
                  <a:srgbClr val="963139"/>
                </a:solidFill>
                <a:latin typeface="Courier New"/>
                <a:cs typeface="Courier New"/>
              </a:rPr>
              <a:t>+</a:t>
            </a:r>
            <a:r>
              <a:rPr sz="2600" dirty="0">
                <a:solidFill>
                  <a:srgbClr val="963139"/>
                </a:solidFill>
                <a:latin typeface="Courier New"/>
                <a:cs typeface="Courier New"/>
              </a:rPr>
              <a:t>= </a:t>
            </a:r>
            <a:r>
              <a:rPr sz="2600" spc="-5" dirty="0">
                <a:solidFill>
                  <a:srgbClr val="963139"/>
                </a:solidFill>
                <a:latin typeface="Courier New"/>
                <a:cs typeface="Courier New"/>
              </a:rPr>
              <a:t>$</a:t>
            </a:r>
            <a:r>
              <a:rPr sz="2600" dirty="0">
                <a:solidFill>
                  <a:srgbClr val="963139"/>
                </a:solidFill>
                <a:latin typeface="Courier New"/>
                <a:cs typeface="Courier New"/>
              </a:rPr>
              <a:t>y</a:t>
            </a:r>
            <a:r>
              <a:rPr sz="2600" spc="-8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q</a:t>
            </a:r>
            <a:r>
              <a:rPr sz="26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ui</a:t>
            </a:r>
            <a:r>
              <a:rPr sz="26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ent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" dirty="0">
                <a:solidFill>
                  <a:srgbClr val="963139"/>
                </a:solidFill>
                <a:latin typeface="Courier New"/>
                <a:cs typeface="Courier New"/>
              </a:rPr>
              <a:t>$</a:t>
            </a:r>
            <a:r>
              <a:rPr sz="2600" dirty="0">
                <a:solidFill>
                  <a:srgbClr val="963139"/>
                </a:solidFill>
                <a:latin typeface="Courier New"/>
                <a:cs typeface="Courier New"/>
              </a:rPr>
              <a:t>x = </a:t>
            </a:r>
            <a:r>
              <a:rPr sz="2600" spc="-5" dirty="0">
                <a:solidFill>
                  <a:srgbClr val="963139"/>
                </a:solidFill>
                <a:latin typeface="Courier New"/>
                <a:cs typeface="Courier New"/>
              </a:rPr>
              <a:t>$</a:t>
            </a:r>
            <a:r>
              <a:rPr sz="2600" dirty="0">
                <a:solidFill>
                  <a:srgbClr val="963139"/>
                </a:solidFill>
                <a:latin typeface="Courier New"/>
                <a:cs typeface="Courier New"/>
              </a:rPr>
              <a:t>x + </a:t>
            </a:r>
            <a:r>
              <a:rPr sz="2600" spc="-5" dirty="0">
                <a:solidFill>
                  <a:srgbClr val="963139"/>
                </a:solidFill>
                <a:latin typeface="Courier New"/>
                <a:cs typeface="Courier New"/>
              </a:rPr>
              <a:t>$y</a:t>
            </a:r>
            <a:endParaRPr sz="2600">
              <a:latin typeface="Courier New"/>
              <a:cs typeface="Courier New"/>
            </a:endParaRPr>
          </a:p>
          <a:p>
            <a:pPr marL="652780" marR="5080" indent="-274320">
              <a:lnSpc>
                <a:spcPct val="100000"/>
              </a:lnSpc>
              <a:spcBef>
                <a:spcPts val="720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Also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ks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6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subt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acti</a:t>
            </a:r>
            <a:r>
              <a:rPr sz="26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n,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385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6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ult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icat</a:t>
            </a:r>
            <a:r>
              <a:rPr sz="26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on,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visi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n,  </a:t>
            </a:r>
            <a:r>
              <a:rPr sz="2600" spc="-345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dulu</a:t>
            </a:r>
            <a:r>
              <a:rPr sz="26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45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tring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concatenat</a:t>
            </a:r>
            <a:r>
              <a:rPr sz="26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35140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65" dirty="0"/>
              <a:t>==</a:t>
            </a:r>
            <a:r>
              <a:rPr spc="45" dirty="0"/>
              <a:t> </a:t>
            </a:r>
            <a:r>
              <a:rPr spc="-355" dirty="0"/>
              <a:t>v</a:t>
            </a:r>
            <a:r>
              <a:rPr spc="-445" dirty="0"/>
              <a:t>ersus</a:t>
            </a:r>
            <a:r>
              <a:rPr dirty="0"/>
              <a:t> </a:t>
            </a:r>
            <a:r>
              <a:rPr spc="365" dirty="0"/>
              <a:t>===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526086"/>
            <a:ext cx="7951470" cy="43865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3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65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“equ</a:t>
            </a:r>
            <a:r>
              <a:rPr sz="29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lity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”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ope</a:t>
            </a:r>
            <a:r>
              <a:rPr sz="29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ors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305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220" dirty="0">
                <a:solidFill>
                  <a:srgbClr val="963139"/>
                </a:solidFill>
                <a:latin typeface="Microsoft Sans Serif"/>
                <a:cs typeface="Microsoft Sans Serif"/>
              </a:rPr>
              <a:t>==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tests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9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“equal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ty”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alue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but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not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necessa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type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290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215" dirty="0">
                <a:solidFill>
                  <a:srgbClr val="963139"/>
                </a:solidFill>
                <a:latin typeface="Microsoft Sans Serif"/>
                <a:cs typeface="Microsoft Sans Serif"/>
              </a:rPr>
              <a:t>===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tests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for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“identity”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value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type</a:t>
            </a: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750" spc="-10" dirty="0">
                <a:solidFill>
                  <a:srgbClr val="963139"/>
                </a:solidFill>
                <a:latin typeface="Wingdings"/>
                <a:cs typeface="Wingdings"/>
              </a:rPr>
              <a:t></a:t>
            </a:r>
            <a:r>
              <a:rPr sz="1750" spc="95" dirty="0">
                <a:solidFill>
                  <a:srgbClr val="963139"/>
                </a:solidFill>
                <a:latin typeface="Times New Roman"/>
                <a:cs typeface="Times New Roman"/>
              </a:rPr>
              <a:t> </a:t>
            </a:r>
            <a:r>
              <a:rPr sz="2900" spc="240" dirty="0">
                <a:solidFill>
                  <a:srgbClr val="963139"/>
                </a:solidFill>
                <a:latin typeface="Microsoft Sans Serif"/>
                <a:cs typeface="Microsoft Sans Serif"/>
              </a:rPr>
              <a:t>==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ignores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distinction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between:</a:t>
            </a:r>
            <a:endParaRPr sz="2900">
              <a:latin typeface="Microsoft Sans Serif"/>
              <a:cs typeface="Microsoft Sans Serif"/>
            </a:endParaRPr>
          </a:p>
          <a:p>
            <a:pPr marL="652780" marR="180975" indent="-274320">
              <a:lnSpc>
                <a:spcPts val="2810"/>
              </a:lnSpc>
              <a:spcBef>
                <a:spcPts val="665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Integers,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floating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point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numbers,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6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strings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containing </a:t>
            </a:r>
            <a:r>
              <a:rPr sz="2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same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numerical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alue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245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nze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numb</a:t>
            </a:r>
            <a:r>
              <a:rPr sz="26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rs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484" dirty="0">
                <a:solidFill>
                  <a:srgbClr val="963139"/>
                </a:solidFill>
                <a:latin typeface="Microsoft Sans Serif"/>
                <a:cs typeface="Microsoft Sans Serif"/>
              </a:rPr>
              <a:t>TRUE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285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4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Zero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boolean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434" dirty="0">
                <a:solidFill>
                  <a:srgbClr val="963139"/>
                </a:solidFill>
                <a:latin typeface="Microsoft Sans Serif"/>
                <a:cs typeface="Microsoft Sans Serif"/>
              </a:rPr>
              <a:t>FALSE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295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Empty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string,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string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‘0’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6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boolean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434" dirty="0">
                <a:solidFill>
                  <a:srgbClr val="963139"/>
                </a:solidFill>
                <a:latin typeface="Microsoft Sans Serif"/>
                <a:cs typeface="Microsoft Sans Serif"/>
              </a:rPr>
              <a:t>FALSE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285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Any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other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non-empty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string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boolean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484" dirty="0">
                <a:solidFill>
                  <a:srgbClr val="963139"/>
                </a:solidFill>
                <a:latin typeface="Microsoft Sans Serif"/>
                <a:cs typeface="Microsoft Sans Serif"/>
              </a:rPr>
              <a:t>TRUE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15043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Strin</a:t>
            </a:r>
            <a:r>
              <a:rPr spc="-305" dirty="0"/>
              <a:t>g</a:t>
            </a:r>
            <a:r>
              <a:rPr spc="-73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524352"/>
            <a:ext cx="7787005" cy="338391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9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q</a:t>
            </a:r>
            <a:r>
              <a:rPr sz="29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uence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900" spc="1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ha</a:t>
            </a:r>
            <a:r>
              <a:rPr sz="29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acters</a:t>
            </a:r>
            <a:endParaRPr sz="29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Single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double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quotes: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550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Su</a:t>
            </a:r>
            <a:r>
              <a:rPr sz="2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$st</a:t>
            </a: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r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24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42;</a:t>
            </a:r>
            <a:endParaRPr sz="24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535"/>
              </a:spcBef>
            </a:pPr>
            <a:r>
              <a:rPr sz="1650" spc="-4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650" spc="22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 ‘With single quotes,</a:t>
            </a: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str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 is</a:t>
            </a:r>
            <a:r>
              <a:rPr sz="24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$str’;</a:t>
            </a:r>
            <a:endParaRPr sz="2400">
              <a:latin typeface="Courier New"/>
              <a:cs typeface="Courier New"/>
            </a:endParaRPr>
          </a:p>
          <a:p>
            <a:pPr marR="71755" algn="r">
              <a:lnSpc>
                <a:spcPct val="100000"/>
              </a:lnSpc>
              <a:spcBef>
                <a:spcPts val="680"/>
              </a:spcBef>
            </a:pPr>
            <a:r>
              <a:rPr sz="2600" dirty="0">
                <a:solidFill>
                  <a:srgbClr val="963139"/>
                </a:solidFill>
                <a:latin typeface="Wingdings"/>
                <a:cs typeface="Wingdings"/>
              </a:rPr>
              <a:t></a:t>
            </a:r>
            <a:r>
              <a:rPr sz="2600" spc="55" dirty="0">
                <a:solidFill>
                  <a:srgbClr val="963139"/>
                </a:solidFill>
                <a:latin typeface="Times New Roman"/>
                <a:cs typeface="Times New Roman"/>
              </a:rPr>
              <a:t> </a:t>
            </a:r>
            <a:r>
              <a:rPr sz="26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output: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With</a:t>
            </a:r>
            <a:r>
              <a:rPr sz="2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single</a:t>
            </a:r>
            <a:r>
              <a:rPr sz="24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quotes,</a:t>
            </a:r>
            <a:r>
              <a:rPr sz="24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str</a:t>
            </a:r>
            <a:r>
              <a:rPr sz="24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2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$str</a:t>
            </a:r>
            <a:endParaRPr sz="24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525"/>
              </a:spcBef>
            </a:pPr>
            <a:r>
              <a:rPr sz="1650" spc="-4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650" spc="22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 “With double quotes,</a:t>
            </a: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str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 is</a:t>
            </a:r>
            <a:r>
              <a:rPr sz="24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$str”;</a:t>
            </a:r>
            <a:endParaRPr sz="2400">
              <a:latin typeface="Courier New"/>
              <a:cs typeface="Courier New"/>
            </a:endParaRPr>
          </a:p>
          <a:p>
            <a:pPr marL="652780">
              <a:lnSpc>
                <a:spcPct val="100000"/>
              </a:lnSpc>
              <a:spcBef>
                <a:spcPts val="675"/>
              </a:spcBef>
            </a:pPr>
            <a:r>
              <a:rPr sz="2600" dirty="0">
                <a:solidFill>
                  <a:srgbClr val="963139"/>
                </a:solidFill>
                <a:latin typeface="Wingdings"/>
                <a:cs typeface="Wingdings"/>
              </a:rPr>
              <a:t></a:t>
            </a:r>
            <a:r>
              <a:rPr sz="2600" spc="50" dirty="0">
                <a:solidFill>
                  <a:srgbClr val="963139"/>
                </a:solidFill>
                <a:latin typeface="Times New Roman"/>
                <a:cs typeface="Times New Roman"/>
              </a:rPr>
              <a:t> </a:t>
            </a:r>
            <a:r>
              <a:rPr sz="26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output: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With</a:t>
            </a:r>
            <a:r>
              <a:rPr sz="2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double</a:t>
            </a:r>
            <a:r>
              <a:rPr sz="24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quotes,</a:t>
            </a:r>
            <a:r>
              <a:rPr sz="24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str</a:t>
            </a:r>
            <a:r>
              <a:rPr sz="24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2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42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15043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Strin</a:t>
            </a:r>
            <a:r>
              <a:rPr spc="-305" dirty="0"/>
              <a:t>g</a:t>
            </a:r>
            <a:r>
              <a:rPr spc="-73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12138"/>
            <a:ext cx="629031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Concatenation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of</a:t>
            </a:r>
            <a:r>
              <a:rPr sz="2900" spc="9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strings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600" dirty="0">
                <a:solidFill>
                  <a:srgbClr val="963139"/>
                </a:solidFill>
                <a:latin typeface="Microsoft Sans Serif"/>
                <a:cs typeface="Microsoft Sans Serif"/>
              </a:rPr>
              <a:t>–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.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operator</a:t>
            </a:r>
            <a:endParaRPr sz="29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1387" y="3647697"/>
            <a:ext cx="7498080" cy="237299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String</a:t>
            </a:r>
            <a:r>
              <a:rPr sz="29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functions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25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Length: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st</a:t>
            </a:r>
            <a:r>
              <a:rPr sz="2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()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00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56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6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os</a:t>
            </a:r>
            <a:r>
              <a:rPr sz="26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600" spc="9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substring: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strpos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()</a:t>
            </a:r>
            <a:endParaRPr sz="2600">
              <a:latin typeface="Microsoft Sans Serif"/>
              <a:cs typeface="Microsoft Sans Serif"/>
            </a:endParaRPr>
          </a:p>
          <a:p>
            <a:pPr marL="652780" marR="5080" indent="-274320">
              <a:lnSpc>
                <a:spcPct val="100000"/>
              </a:lnSpc>
              <a:spcBef>
                <a:spcPts val="600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More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string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fun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6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ti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ns:  </a:t>
            </a:r>
            <a:r>
              <a:rPr sz="2600" u="heavy" spc="-9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Microsoft Sans Serif"/>
                <a:cs typeface="Microsoft Sans Serif"/>
                <a:hlinkClick r:id="rId2"/>
              </a:rPr>
              <a:t>http://www.w3schools.com/php/php_ref_string.asp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444" y="2368422"/>
            <a:ext cx="34385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$a</a:t>
            </a:r>
            <a:r>
              <a:rPr sz="1800" spc="-6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5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‘hello’;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$b</a:t>
            </a:r>
            <a:r>
              <a:rPr sz="1800" spc="-6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5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‘world’;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$a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.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‘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‘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.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$b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.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‘!’;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51375" y="2917063"/>
            <a:ext cx="3301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prints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‘hello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world!’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53328"/>
            <a:ext cx="2240280" cy="713740"/>
          </a:xfrm>
          <a:custGeom>
            <a:avLst/>
            <a:gdLst/>
            <a:ahLst/>
            <a:cxnLst/>
            <a:rect l="l" t="t" r="r" b="b"/>
            <a:pathLst>
              <a:path w="2240280" h="713740">
                <a:moveTo>
                  <a:pt x="2240280" y="0"/>
                </a:moveTo>
                <a:lnTo>
                  <a:pt x="0" y="0"/>
                </a:lnTo>
                <a:lnTo>
                  <a:pt x="0" y="713232"/>
                </a:lnTo>
                <a:lnTo>
                  <a:pt x="2240280" y="713232"/>
                </a:lnTo>
                <a:lnTo>
                  <a:pt x="2240280" y="0"/>
                </a:lnTo>
                <a:close/>
              </a:path>
            </a:pathLst>
          </a:custGeom>
          <a:solidFill>
            <a:srgbClr val="9631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59151" y="6044184"/>
            <a:ext cx="6784975" cy="713740"/>
          </a:xfrm>
          <a:custGeom>
            <a:avLst/>
            <a:gdLst/>
            <a:ahLst/>
            <a:cxnLst/>
            <a:rect l="l" t="t" r="r" b="b"/>
            <a:pathLst>
              <a:path w="6784975" h="713740">
                <a:moveTo>
                  <a:pt x="6784848" y="0"/>
                </a:moveTo>
                <a:lnTo>
                  <a:pt x="0" y="0"/>
                </a:lnTo>
                <a:lnTo>
                  <a:pt x="0" y="713231"/>
                </a:lnTo>
                <a:lnTo>
                  <a:pt x="6784848" y="713231"/>
                </a:lnTo>
                <a:lnTo>
                  <a:pt x="6784848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09465" y="1616709"/>
            <a:ext cx="9226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65" dirty="0"/>
              <a:t>PHP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86434" y="2632075"/>
            <a:ext cx="71735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Syntax:</a:t>
            </a:r>
            <a:r>
              <a:rPr sz="32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Conditional</a:t>
            </a:r>
            <a:r>
              <a:rPr sz="32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32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Looping</a:t>
            </a:r>
            <a:r>
              <a:rPr sz="32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Statements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5105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4" dirty="0"/>
              <a:t>Conditional</a:t>
            </a:r>
            <a:r>
              <a:rPr spc="-20" dirty="0"/>
              <a:t> </a:t>
            </a:r>
            <a:r>
              <a:rPr spc="-335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9644" y="1682241"/>
            <a:ext cx="589470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 marR="822960" indent="-9144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if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(condition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/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boolean expression)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 </a:t>
            </a:r>
            <a:r>
              <a:rPr sz="1800" spc="-10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statements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926465" marR="1915160" indent="-9144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else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if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(another condition)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 </a:t>
            </a:r>
            <a:r>
              <a:rPr sz="1800" spc="-10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statements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there may be more than one else if block </a:t>
            </a:r>
            <a:r>
              <a:rPr sz="1800" spc="-10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else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statements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$x</a:t>
            </a:r>
            <a:r>
              <a:rPr sz="1800" spc="-5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5;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if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($x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==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5)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‘The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variable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x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has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value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5!’;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32340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9" dirty="0"/>
              <a:t>The</a:t>
            </a:r>
            <a:r>
              <a:rPr spc="25" dirty="0"/>
              <a:t> </a:t>
            </a:r>
            <a:r>
              <a:rPr spc="-215" dirty="0"/>
              <a:t>while</a:t>
            </a:r>
            <a:r>
              <a:rPr spc="25" dirty="0"/>
              <a:t> </a:t>
            </a:r>
            <a:r>
              <a:rPr spc="-145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9644" y="1682241"/>
            <a:ext cx="653732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while</a:t>
            </a:r>
            <a:r>
              <a:rPr sz="18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(condition)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statements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$x</a:t>
            </a:r>
            <a:r>
              <a:rPr sz="1800" spc="-5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2;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while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($x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&lt;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1000)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$x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.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“n”;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\n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is newline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character</a:t>
            </a:r>
            <a:endParaRPr sz="18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$x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$x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*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$x;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93850" y="4260850"/>
          <a:ext cx="6096000" cy="2225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/>
                <a:gridCol w="2032000"/>
                <a:gridCol w="2032000"/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800" b="1" spc="-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alue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800" b="1" spc="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$x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7676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$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x</a:t>
                      </a:r>
                      <a:r>
                        <a:rPr sz="1800" b="1" spc="-61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&lt;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?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7676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Result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7676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33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TRUE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9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prints</a:t>
                      </a:r>
                      <a:r>
                        <a:rPr sz="1800" spc="-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4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33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TRUE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9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prints</a:t>
                      </a:r>
                      <a:r>
                        <a:rPr sz="1800" spc="-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4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16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33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TRUE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9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prints</a:t>
                      </a:r>
                      <a:r>
                        <a:rPr sz="1800" spc="-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16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256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33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TRUE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prin</a:t>
                      </a:r>
                      <a:r>
                        <a:rPr sz="18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t</a:t>
                      </a:r>
                      <a:r>
                        <a:rPr sz="18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1800" spc="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256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65536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3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FALSE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exits</a:t>
                      </a:r>
                      <a:r>
                        <a:rPr sz="1800" spc="-1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800" spc="-6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loop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40087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9" dirty="0"/>
              <a:t>The</a:t>
            </a:r>
            <a:r>
              <a:rPr spc="25" dirty="0"/>
              <a:t> </a:t>
            </a:r>
            <a:r>
              <a:rPr spc="-130" dirty="0"/>
              <a:t>d</a:t>
            </a:r>
            <a:r>
              <a:rPr spc="-135" dirty="0"/>
              <a:t>o</a:t>
            </a:r>
            <a:r>
              <a:rPr spc="-5" dirty="0"/>
              <a:t>-</a:t>
            </a:r>
            <a:r>
              <a:rPr spc="-215" dirty="0"/>
              <a:t>while</a:t>
            </a:r>
            <a:r>
              <a:rPr spc="25" dirty="0"/>
              <a:t> </a:t>
            </a:r>
            <a:r>
              <a:rPr spc="-145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12138"/>
            <a:ext cx="7668259" cy="4546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33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code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within</a:t>
            </a:r>
            <a:r>
              <a:rPr sz="29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loop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is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executed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at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least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once, </a:t>
            </a:r>
            <a:r>
              <a:rPr sz="2900" spc="-7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regardless</a:t>
            </a:r>
            <a:r>
              <a:rPr sz="29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900" spc="1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whether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condition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is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true</a:t>
            </a:r>
            <a:endParaRPr sz="2900">
              <a:latin typeface="Microsoft Sans Serif"/>
              <a:cs typeface="Microsoft Sans Serif"/>
            </a:endParaRPr>
          </a:p>
          <a:p>
            <a:pPr marL="542925">
              <a:lnSpc>
                <a:spcPct val="100000"/>
              </a:lnSpc>
              <a:spcBef>
                <a:spcPts val="1990"/>
              </a:spcBef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do</a:t>
            </a:r>
            <a:r>
              <a:rPr sz="1800" spc="-8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45732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statements</a:t>
            </a:r>
            <a:endParaRPr sz="1800">
              <a:latin typeface="Courier New"/>
              <a:cs typeface="Courier New"/>
            </a:endParaRPr>
          </a:p>
          <a:p>
            <a:pPr marL="542925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while</a:t>
            </a:r>
            <a:r>
              <a:rPr sz="18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(condition);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Courier New"/>
              <a:cs typeface="Courier New"/>
            </a:endParaRPr>
          </a:p>
          <a:p>
            <a:pPr marL="542925">
              <a:lnSpc>
                <a:spcPct val="100000"/>
              </a:lnSpc>
              <a:spcBef>
                <a:spcPts val="5"/>
              </a:spcBef>
            </a:pPr>
            <a:r>
              <a:rPr sz="24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equivalent</a:t>
            </a:r>
            <a:r>
              <a:rPr sz="24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to: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700">
              <a:latin typeface="Microsoft Sans Serif"/>
              <a:cs typeface="Microsoft Sans Serif"/>
            </a:endParaRPr>
          </a:p>
          <a:p>
            <a:pPr marL="54292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statements</a:t>
            </a:r>
            <a:endParaRPr sz="1800">
              <a:latin typeface="Courier New"/>
              <a:cs typeface="Courier New"/>
            </a:endParaRPr>
          </a:p>
          <a:p>
            <a:pPr marL="54292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while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(condition)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45732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statements</a:t>
            </a:r>
            <a:endParaRPr sz="1800">
              <a:latin typeface="Courier New"/>
              <a:cs typeface="Courier New"/>
            </a:endParaRPr>
          </a:p>
          <a:p>
            <a:pPr marL="542925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27324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9" dirty="0"/>
              <a:t>The</a:t>
            </a:r>
            <a:r>
              <a:rPr spc="25" dirty="0"/>
              <a:t> </a:t>
            </a:r>
            <a:r>
              <a:rPr spc="150" dirty="0"/>
              <a:t>f</a:t>
            </a:r>
            <a:r>
              <a:rPr spc="-125" dirty="0"/>
              <a:t>or</a:t>
            </a:r>
            <a:r>
              <a:rPr spc="30" dirty="0"/>
              <a:t> </a:t>
            </a:r>
            <a:r>
              <a:rPr spc="-145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394" y="1606041"/>
            <a:ext cx="4970780" cy="495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310515" indent="-9144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for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(init; condition; increment)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 </a:t>
            </a:r>
            <a:r>
              <a:rPr sz="1800" spc="-10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statements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equivalent</a:t>
            </a:r>
            <a:r>
              <a:rPr sz="24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to: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init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while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(condition)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927100" marR="2668905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st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a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t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e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me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n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ts 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increment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0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0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0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int</a:t>
            </a:r>
            <a:r>
              <a:rPr sz="20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0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0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000" spc="5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0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0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0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0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0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10</a:t>
            </a:r>
            <a:r>
              <a:rPr sz="20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0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0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0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iti</a:t>
            </a:r>
            <a:r>
              <a:rPr sz="20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ve</a:t>
            </a:r>
            <a:r>
              <a:rPr sz="20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int</a:t>
            </a:r>
            <a:r>
              <a:rPr sz="20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0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0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0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000" spc="-33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0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0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thei</a:t>
            </a:r>
            <a:r>
              <a:rPr sz="20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squares: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for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($i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1;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$i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&lt;=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10;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$i++)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 {</a:t>
            </a:r>
            <a:endParaRPr sz="16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$i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.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“:”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 . ($i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*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$i)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 . “\n”;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53328"/>
            <a:ext cx="2240280" cy="713740"/>
          </a:xfrm>
          <a:custGeom>
            <a:avLst/>
            <a:gdLst/>
            <a:ahLst/>
            <a:cxnLst/>
            <a:rect l="l" t="t" r="r" b="b"/>
            <a:pathLst>
              <a:path w="2240280" h="713740">
                <a:moveTo>
                  <a:pt x="2240280" y="0"/>
                </a:moveTo>
                <a:lnTo>
                  <a:pt x="0" y="0"/>
                </a:lnTo>
                <a:lnTo>
                  <a:pt x="0" y="713232"/>
                </a:lnTo>
                <a:lnTo>
                  <a:pt x="2240280" y="713232"/>
                </a:lnTo>
                <a:lnTo>
                  <a:pt x="2240280" y="0"/>
                </a:lnTo>
                <a:close/>
              </a:path>
            </a:pathLst>
          </a:custGeom>
          <a:solidFill>
            <a:srgbClr val="9631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59151" y="6044184"/>
            <a:ext cx="6784975" cy="713740"/>
          </a:xfrm>
          <a:custGeom>
            <a:avLst/>
            <a:gdLst/>
            <a:ahLst/>
            <a:cxnLst/>
            <a:rect l="l" t="t" r="r" b="b"/>
            <a:pathLst>
              <a:path w="6784975" h="713740">
                <a:moveTo>
                  <a:pt x="6784848" y="0"/>
                </a:moveTo>
                <a:lnTo>
                  <a:pt x="0" y="0"/>
                </a:lnTo>
                <a:lnTo>
                  <a:pt x="0" y="713231"/>
                </a:lnTo>
                <a:lnTo>
                  <a:pt x="6784848" y="713231"/>
                </a:lnTo>
                <a:lnTo>
                  <a:pt x="6784848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09465" y="1616709"/>
            <a:ext cx="9226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65" dirty="0"/>
              <a:t>PHP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0457" y="2632075"/>
            <a:ext cx="64014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32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32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ntax:</a:t>
            </a:r>
            <a:r>
              <a:rPr sz="32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265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</a:t>
            </a:r>
            <a:r>
              <a:rPr sz="32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3200" spc="-455" dirty="0">
                <a:solidFill>
                  <a:srgbClr val="963139"/>
                </a:solidFill>
                <a:latin typeface="Microsoft Sans Serif"/>
                <a:cs typeface="Microsoft Sans Serif"/>
              </a:rPr>
              <a:t>ns</a:t>
            </a:r>
            <a:r>
              <a:rPr sz="32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32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Glo</a:t>
            </a:r>
            <a:r>
              <a:rPr sz="32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bal</a:t>
            </a:r>
            <a:r>
              <a:rPr sz="32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434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32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ariables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52675" y="4333875"/>
            <a:ext cx="1085850" cy="400050"/>
            <a:chOff x="2352675" y="4333875"/>
            <a:chExt cx="1085850" cy="400050"/>
          </a:xfrm>
        </p:grpSpPr>
        <p:sp>
          <p:nvSpPr>
            <p:cNvPr id="3" name="object 3"/>
            <p:cNvSpPr/>
            <p:nvPr/>
          </p:nvSpPr>
          <p:spPr>
            <a:xfrm>
              <a:off x="2362200" y="4343400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8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066800" y="38100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62200" y="4343400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0" y="381000"/>
                  </a:moveTo>
                  <a:lnTo>
                    <a:pt x="1066800" y="381000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352675" y="5172075"/>
            <a:ext cx="1085850" cy="400050"/>
            <a:chOff x="2352675" y="5172075"/>
            <a:chExt cx="1085850" cy="400050"/>
          </a:xfrm>
        </p:grpSpPr>
        <p:sp>
          <p:nvSpPr>
            <p:cNvPr id="6" name="object 6"/>
            <p:cNvSpPr/>
            <p:nvPr/>
          </p:nvSpPr>
          <p:spPr>
            <a:xfrm>
              <a:off x="2362200" y="5181600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8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066800" y="38100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62200" y="5181600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0" y="381000"/>
                  </a:moveTo>
                  <a:lnTo>
                    <a:pt x="1066800" y="381000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571875" y="3267075"/>
            <a:ext cx="1085850" cy="400050"/>
            <a:chOff x="3571875" y="3267075"/>
            <a:chExt cx="1085850" cy="400050"/>
          </a:xfrm>
        </p:grpSpPr>
        <p:sp>
          <p:nvSpPr>
            <p:cNvPr id="9" name="object 9"/>
            <p:cNvSpPr/>
            <p:nvPr/>
          </p:nvSpPr>
          <p:spPr>
            <a:xfrm>
              <a:off x="3581400" y="3276600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10668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066800" y="38100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81400" y="3276600"/>
              <a:ext cx="1066800" cy="381000"/>
            </a:xfrm>
            <a:custGeom>
              <a:avLst/>
              <a:gdLst/>
              <a:ahLst/>
              <a:cxnLst/>
              <a:rect l="l" t="t" r="r" b="b"/>
              <a:pathLst>
                <a:path w="1066800" h="381000">
                  <a:moveTo>
                    <a:pt x="0" y="381000"/>
                  </a:moveTo>
                  <a:lnTo>
                    <a:pt x="1066800" y="381000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6061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4" dirty="0"/>
              <a:t>Defining</a:t>
            </a:r>
            <a:r>
              <a:rPr spc="10" dirty="0"/>
              <a:t> </a:t>
            </a:r>
            <a:r>
              <a:rPr spc="-130" dirty="0"/>
              <a:t>y</a:t>
            </a:r>
            <a:r>
              <a:rPr spc="-254" dirty="0"/>
              <a:t>our</a:t>
            </a:r>
            <a:r>
              <a:rPr spc="45" dirty="0"/>
              <a:t> </a:t>
            </a:r>
            <a:r>
              <a:rPr spc="-390" dirty="0"/>
              <a:t>o</a:t>
            </a:r>
            <a:r>
              <a:rPr spc="-380" dirty="0"/>
              <a:t>wn</a:t>
            </a:r>
            <a:r>
              <a:rPr spc="25" dirty="0"/>
              <a:t> </a:t>
            </a:r>
            <a:r>
              <a:rPr spc="-250" dirty="0"/>
              <a:t>funct</a:t>
            </a:r>
            <a:r>
              <a:rPr spc="-145" dirty="0"/>
              <a:t>i</a:t>
            </a:r>
            <a:r>
              <a:rPr spc="-500" dirty="0"/>
              <a:t>ons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22044" y="1606041"/>
            <a:ext cx="5349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function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i="1" spc="-10" dirty="0">
                <a:solidFill>
                  <a:srgbClr val="963139"/>
                </a:solidFill>
                <a:latin typeface="Courier New"/>
                <a:cs typeface="Courier New"/>
              </a:rPr>
              <a:t>function_name</a:t>
            </a:r>
            <a:r>
              <a:rPr sz="1800" i="1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($</a:t>
            </a:r>
            <a:r>
              <a:rPr sz="1800" i="1" spc="-10" dirty="0">
                <a:solidFill>
                  <a:srgbClr val="963139"/>
                </a:solidFill>
                <a:latin typeface="Courier New"/>
                <a:cs typeface="Courier New"/>
              </a:rPr>
              <a:t>arg1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,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</a:t>
            </a:r>
            <a:r>
              <a:rPr sz="1800" i="1" spc="-10" dirty="0">
                <a:solidFill>
                  <a:srgbClr val="963139"/>
                </a:solidFill>
                <a:latin typeface="Courier New"/>
                <a:cs typeface="Courier New"/>
              </a:rPr>
              <a:t>arg2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)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36394" y="1880361"/>
            <a:ext cx="18008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function</a:t>
            </a:r>
            <a:r>
              <a:rPr sz="1800" spc="-8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code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return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</a:t>
            </a:r>
            <a:r>
              <a:rPr sz="1800" i="1" spc="-10" dirty="0">
                <a:solidFill>
                  <a:srgbClr val="963139"/>
                </a:solidFill>
                <a:latin typeface="Courier New"/>
                <a:cs typeface="Courier New"/>
              </a:rPr>
              <a:t>var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8340" y="2397265"/>
            <a:ext cx="5156835" cy="826769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350"/>
              </a:spcBef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29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Example: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simple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multiply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</a:t>
            </a:r>
            <a:endParaRPr sz="29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65575" y="1819366"/>
            <a:ext cx="2362200" cy="63563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340"/>
              </a:spcBef>
            </a:pPr>
            <a:r>
              <a:rPr sz="1800" spc="-100" dirty="0">
                <a:solidFill>
                  <a:srgbClr val="1B731F"/>
                </a:solidFill>
                <a:latin typeface="Microsoft Sans Serif"/>
                <a:cs typeface="Microsoft Sans Serif"/>
              </a:rPr>
              <a:t>fu</a:t>
            </a:r>
            <a:r>
              <a:rPr sz="1800" spc="-130" dirty="0">
                <a:solidFill>
                  <a:srgbClr val="1B731F"/>
                </a:solidFill>
                <a:latin typeface="Microsoft Sans Serif"/>
                <a:cs typeface="Microsoft Sans Serif"/>
              </a:rPr>
              <a:t>n</a:t>
            </a:r>
            <a:r>
              <a:rPr sz="1800" spc="-145" dirty="0">
                <a:solidFill>
                  <a:srgbClr val="1B731F"/>
                </a:solidFill>
                <a:latin typeface="Microsoft Sans Serif"/>
                <a:cs typeface="Microsoft Sans Serif"/>
              </a:rPr>
              <a:t>c</a:t>
            </a:r>
            <a:r>
              <a:rPr sz="1800" spc="-75" dirty="0">
                <a:solidFill>
                  <a:srgbClr val="1B731F"/>
                </a:solidFill>
                <a:latin typeface="Microsoft Sans Serif"/>
                <a:cs typeface="Microsoft Sans Serif"/>
              </a:rPr>
              <a:t>t</a:t>
            </a:r>
            <a:r>
              <a:rPr sz="1800" spc="-105" dirty="0">
                <a:solidFill>
                  <a:srgbClr val="1B731F"/>
                </a:solidFill>
                <a:latin typeface="Microsoft Sans Serif"/>
                <a:cs typeface="Microsoft Sans Serif"/>
              </a:rPr>
              <a:t>io</a:t>
            </a:r>
            <a:r>
              <a:rPr sz="1800" spc="-140" dirty="0">
                <a:solidFill>
                  <a:srgbClr val="1B731F"/>
                </a:solidFill>
                <a:latin typeface="Microsoft Sans Serif"/>
                <a:cs typeface="Microsoft Sans Serif"/>
              </a:rPr>
              <a:t>n</a:t>
            </a:r>
            <a:r>
              <a:rPr sz="1800" spc="5" dirty="0">
                <a:solidFill>
                  <a:srgbClr val="1B73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1B731F"/>
                </a:solidFill>
                <a:latin typeface="Microsoft Sans Serif"/>
                <a:cs typeface="Microsoft Sans Serif"/>
              </a:rPr>
              <a:t>pa</a:t>
            </a:r>
            <a:r>
              <a:rPr sz="1800" spc="-15" dirty="0">
                <a:solidFill>
                  <a:srgbClr val="1B731F"/>
                </a:solidFill>
                <a:latin typeface="Microsoft Sans Serif"/>
                <a:cs typeface="Microsoft Sans Serif"/>
              </a:rPr>
              <a:t>r</a:t>
            </a:r>
            <a:r>
              <a:rPr sz="1800" spc="-105" dirty="0">
                <a:solidFill>
                  <a:srgbClr val="1B731F"/>
                </a:solidFill>
                <a:latin typeface="Microsoft Sans Serif"/>
                <a:cs typeface="Microsoft Sans Serif"/>
              </a:rPr>
              <a:t>amet</a:t>
            </a:r>
            <a:r>
              <a:rPr sz="1800" spc="-135" dirty="0">
                <a:solidFill>
                  <a:srgbClr val="1B731F"/>
                </a:solidFill>
                <a:latin typeface="Microsoft Sans Serif"/>
                <a:cs typeface="Microsoft Sans Serif"/>
              </a:rPr>
              <a:t>ers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optional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22044" y="3282822"/>
            <a:ext cx="3848735" cy="3324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 marR="142240" indent="-9144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function multiply($x,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$y)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 </a:t>
            </a:r>
            <a:r>
              <a:rPr sz="1800" spc="-10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$x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*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$y;</a:t>
            </a:r>
            <a:endParaRPr sz="18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“\n”;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35"/>
              </a:lnSpc>
              <a:spcBef>
                <a:spcPts val="5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multiply(5,</a:t>
            </a:r>
            <a:r>
              <a:rPr sz="1800" spc="-5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1.2);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Wingdings"/>
                <a:cs typeface="Wingdings"/>
              </a:rPr>
              <a:t></a:t>
            </a:r>
            <a:r>
              <a:rPr sz="1800" spc="100" dirty="0">
                <a:solidFill>
                  <a:srgbClr val="963139"/>
                </a:solidFill>
                <a:latin typeface="Times New Roman"/>
                <a:cs typeface="Times New Roman"/>
              </a:rPr>
              <a:t> </a:t>
            </a:r>
            <a:r>
              <a:rPr sz="18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prints</a:t>
            </a:r>
            <a:r>
              <a:rPr sz="18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6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135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$a</a:t>
            </a:r>
            <a:r>
              <a:rPr sz="1800" spc="-5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5;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$b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1.2;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35"/>
              </a:lnSpc>
              <a:spcBef>
                <a:spcPts val="50"/>
              </a:spcBef>
              <a:tabLst>
                <a:tab pos="2830830" algn="l"/>
              </a:tabLst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multiply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(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a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,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$b)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;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Wingdings"/>
                <a:cs typeface="Wingdings"/>
              </a:rPr>
              <a:t></a:t>
            </a:r>
            <a:r>
              <a:rPr sz="1800" dirty="0">
                <a:solidFill>
                  <a:srgbClr val="963139"/>
                </a:solidFill>
                <a:latin typeface="Times New Roman"/>
                <a:cs typeface="Times New Roman"/>
              </a:rPr>
              <a:t>	</a:t>
            </a:r>
            <a:r>
              <a:rPr sz="18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prin</a:t>
            </a:r>
            <a:r>
              <a:rPr sz="18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18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6</a:t>
            </a:r>
            <a:endParaRPr sz="1800">
              <a:latin typeface="Microsoft Sans Serif"/>
              <a:cs typeface="Microsoft Sans Serif"/>
            </a:endParaRPr>
          </a:p>
          <a:p>
            <a:pPr marL="12700" marR="556895">
              <a:lnSpc>
                <a:spcPts val="2210"/>
              </a:lnSpc>
              <a:spcBef>
                <a:spcPts val="5"/>
              </a:spcBef>
              <a:tabLst>
                <a:tab pos="2830830" algn="l"/>
              </a:tabLst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$a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array(1,2,3);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multiply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(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a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,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$b)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;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Wingdings"/>
                <a:cs typeface="Wingdings"/>
              </a:rPr>
              <a:t></a:t>
            </a:r>
            <a:r>
              <a:rPr sz="1800" dirty="0">
                <a:solidFill>
                  <a:srgbClr val="963139"/>
                </a:solidFill>
                <a:latin typeface="Times New Roman"/>
                <a:cs typeface="Times New Roman"/>
              </a:rPr>
              <a:t>	</a:t>
            </a:r>
            <a:r>
              <a:rPr sz="18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er</a:t>
            </a:r>
            <a:r>
              <a:rPr sz="18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18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3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$a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“string”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  <a:tabLst>
                <a:tab pos="2830830" algn="l"/>
              </a:tabLst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multiply($a,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$b); </a:t>
            </a:r>
            <a:r>
              <a:rPr sz="1800" dirty="0">
                <a:solidFill>
                  <a:srgbClr val="963139"/>
                </a:solidFill>
                <a:latin typeface="Wingdings"/>
                <a:cs typeface="Wingdings"/>
              </a:rPr>
              <a:t></a:t>
            </a:r>
            <a:r>
              <a:rPr sz="1800" dirty="0">
                <a:solidFill>
                  <a:srgbClr val="963139"/>
                </a:solidFill>
                <a:latin typeface="Times New Roman"/>
                <a:cs typeface="Times New Roman"/>
              </a:rPr>
              <a:t>	</a:t>
            </a:r>
            <a:r>
              <a:rPr sz="18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prints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0</a:t>
            </a:r>
            <a:r>
              <a:rPr sz="18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(?!)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2933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5" dirty="0"/>
              <a:t>R</a:t>
            </a:r>
            <a:r>
              <a:rPr spc="-215" dirty="0"/>
              <a:t>etu</a:t>
            </a:r>
            <a:r>
              <a:rPr spc="-85" dirty="0"/>
              <a:t>r</a:t>
            </a:r>
            <a:r>
              <a:rPr spc="-520" dirty="0"/>
              <a:t>n</a:t>
            </a:r>
            <a:r>
              <a:rPr spc="20" dirty="0"/>
              <a:t> </a:t>
            </a:r>
            <a:r>
              <a:rPr spc="-360" dirty="0"/>
              <a:t>v</a:t>
            </a:r>
            <a:r>
              <a:rPr spc="-40" dirty="0"/>
              <a:t>a</a:t>
            </a:r>
            <a:r>
              <a:rPr spc="-35" dirty="0"/>
              <a:t>l</a:t>
            </a:r>
            <a:r>
              <a:rPr spc="-500" dirty="0"/>
              <a:t>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526134"/>
            <a:ext cx="8051800" cy="445008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411480" indent="-320675">
              <a:lnSpc>
                <a:spcPct val="100000"/>
              </a:lnSpc>
              <a:spcBef>
                <a:spcPts val="780"/>
              </a:spcBef>
              <a:buSzPct val="60344"/>
              <a:buFont typeface="Wingdings"/>
              <a:buChar char=""/>
              <a:tabLst>
                <a:tab pos="412115" algn="l"/>
              </a:tabLst>
            </a:pP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can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retu</a:t>
            </a:r>
            <a:r>
              <a:rPr sz="29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34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alue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7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900" spc="7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er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it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900" spc="-35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done</a:t>
            </a:r>
            <a:endParaRPr sz="2900">
              <a:latin typeface="Microsoft Sans Serif"/>
              <a:cs typeface="Microsoft Sans Serif"/>
            </a:endParaRPr>
          </a:p>
          <a:p>
            <a:pPr marL="732155" marR="48260" indent="-274320">
              <a:lnSpc>
                <a:spcPct val="100000"/>
              </a:lnSpc>
              <a:spcBef>
                <a:spcPts val="615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 </a:t>
            </a:r>
            <a:r>
              <a:rPr sz="26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Use</a:t>
            </a:r>
            <a:r>
              <a:rPr sz="26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this</a:t>
            </a:r>
            <a:r>
              <a:rPr sz="26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value </a:t>
            </a:r>
            <a:r>
              <a:rPr sz="26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future 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computation, </a:t>
            </a:r>
            <a:r>
              <a:rPr sz="26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use</a:t>
            </a:r>
            <a:r>
              <a:rPr sz="26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like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 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variable, </a:t>
            </a:r>
            <a:r>
              <a:rPr sz="26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assign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ue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ariab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le</a:t>
            </a:r>
            <a:endParaRPr sz="2600">
              <a:latin typeface="Microsoft Sans Serif"/>
              <a:cs typeface="Microsoft Sans Serif"/>
            </a:endParaRPr>
          </a:p>
          <a:p>
            <a:pPr marL="411480" indent="-320675">
              <a:lnSpc>
                <a:spcPct val="100000"/>
              </a:lnSpc>
              <a:spcBef>
                <a:spcPts val="685"/>
              </a:spcBef>
              <a:buSzPct val="60344"/>
              <a:buFont typeface="Wingdings"/>
              <a:buChar char=""/>
              <a:tabLst>
                <a:tab pos="412115" algn="l"/>
              </a:tabLst>
            </a:pP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modified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multiply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</a:t>
            </a:r>
            <a:endParaRPr sz="2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25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function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multiply($x,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$y)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return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$x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*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$y;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multiply(2,3);</a:t>
            </a:r>
            <a:r>
              <a:rPr sz="18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Wingdings"/>
                <a:cs typeface="Wingdings"/>
              </a:rPr>
              <a:t></a:t>
            </a:r>
            <a:r>
              <a:rPr sz="1800" spc="110" dirty="0">
                <a:solidFill>
                  <a:srgbClr val="963139"/>
                </a:solidFill>
                <a:latin typeface="Times New Roman"/>
                <a:cs typeface="Times New Roman"/>
              </a:rPr>
              <a:t> </a:t>
            </a:r>
            <a:r>
              <a:rPr sz="18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prints</a:t>
            </a:r>
            <a:r>
              <a:rPr sz="18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nothing!</a:t>
            </a:r>
            <a:r>
              <a:rPr sz="18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returns</a:t>
            </a:r>
            <a:r>
              <a:rPr sz="18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value,</a:t>
            </a:r>
            <a:r>
              <a:rPr sz="18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but</a:t>
            </a:r>
            <a:r>
              <a:rPr sz="18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we</a:t>
            </a:r>
            <a:r>
              <a:rPr sz="1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don’t</a:t>
            </a:r>
            <a:r>
              <a:rPr sz="18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store</a:t>
            </a:r>
            <a:r>
              <a:rPr sz="1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anywhere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3103880" algn="l"/>
              </a:tabLst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 multiply(2,3);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Wingdings"/>
                <a:cs typeface="Wingdings"/>
              </a:rPr>
              <a:t></a:t>
            </a:r>
            <a:r>
              <a:rPr sz="1800" dirty="0">
                <a:solidFill>
                  <a:srgbClr val="963139"/>
                </a:solidFill>
                <a:latin typeface="Times New Roman"/>
                <a:cs typeface="Times New Roman"/>
              </a:rPr>
              <a:t>	</a:t>
            </a:r>
            <a:r>
              <a:rPr sz="18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prints</a:t>
            </a:r>
            <a:r>
              <a:rPr sz="1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6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3103880" algn="l"/>
              </a:tabLst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a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multiply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(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2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,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3)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;</a:t>
            </a:r>
            <a:r>
              <a:rPr sz="18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Wingdings"/>
                <a:cs typeface="Wingdings"/>
              </a:rPr>
              <a:t></a:t>
            </a:r>
            <a:r>
              <a:rPr sz="1800" dirty="0">
                <a:solidFill>
                  <a:srgbClr val="963139"/>
                </a:solidFill>
                <a:latin typeface="Times New Roman"/>
                <a:cs typeface="Times New Roman"/>
              </a:rPr>
              <a:t>	</a:t>
            </a:r>
            <a:r>
              <a:rPr sz="1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assi</a:t>
            </a:r>
            <a:r>
              <a:rPr sz="18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gn</a:t>
            </a:r>
            <a:r>
              <a:rPr sz="18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18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18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al</a:t>
            </a:r>
            <a:r>
              <a:rPr sz="18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u</a:t>
            </a:r>
            <a:r>
              <a:rPr sz="1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6</a:t>
            </a:r>
            <a:r>
              <a:rPr sz="18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aria</a:t>
            </a:r>
            <a:r>
              <a:rPr sz="18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ble</a:t>
            </a:r>
            <a:r>
              <a:rPr sz="18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$a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6518275" algn="l"/>
              </a:tabLst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b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multiply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(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m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u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lt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i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p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l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y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(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2,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3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)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,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multiply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(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3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,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4)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)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;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Wingdings"/>
                <a:cs typeface="Wingdings"/>
              </a:rPr>
              <a:t></a:t>
            </a:r>
            <a:r>
              <a:rPr sz="1800" dirty="0">
                <a:solidFill>
                  <a:srgbClr val="963139"/>
                </a:solidFill>
                <a:latin typeface="Times New Roman"/>
                <a:cs typeface="Times New Roman"/>
              </a:rPr>
              <a:t>	</a:t>
            </a:r>
            <a:r>
              <a:rPr sz="1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assi</a:t>
            </a:r>
            <a:r>
              <a:rPr sz="18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gn</a:t>
            </a:r>
            <a:r>
              <a:rPr sz="18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18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18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al</a:t>
            </a:r>
            <a:r>
              <a:rPr sz="18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u</a:t>
            </a:r>
            <a:r>
              <a:rPr sz="1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endParaRPr sz="1800">
              <a:latin typeface="Microsoft Sans Serif"/>
              <a:cs typeface="Microsoft Sans Serif"/>
            </a:endParaRPr>
          </a:p>
          <a:p>
            <a:pPr marR="570865" algn="r">
              <a:lnSpc>
                <a:spcPct val="100000"/>
              </a:lnSpc>
              <a:spcBef>
                <a:spcPts val="70"/>
              </a:spcBef>
            </a:pP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72</a:t>
            </a:r>
            <a:r>
              <a:rPr sz="18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1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aria</a:t>
            </a:r>
            <a:r>
              <a:rPr sz="18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ble</a:t>
            </a:r>
            <a:r>
              <a:rPr sz="18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$b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2933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5" dirty="0"/>
              <a:t>R</a:t>
            </a:r>
            <a:r>
              <a:rPr spc="-215" dirty="0"/>
              <a:t>etu</a:t>
            </a:r>
            <a:r>
              <a:rPr spc="-85" dirty="0"/>
              <a:t>r</a:t>
            </a:r>
            <a:r>
              <a:rPr spc="-520" dirty="0"/>
              <a:t>n</a:t>
            </a:r>
            <a:r>
              <a:rPr spc="20" dirty="0"/>
              <a:t> </a:t>
            </a:r>
            <a:r>
              <a:rPr spc="-360" dirty="0"/>
              <a:t>v</a:t>
            </a:r>
            <a:r>
              <a:rPr spc="-40" dirty="0"/>
              <a:t>a</a:t>
            </a:r>
            <a:r>
              <a:rPr spc="-35" dirty="0"/>
              <a:t>l</a:t>
            </a:r>
            <a:r>
              <a:rPr spc="-500" dirty="0"/>
              <a:t>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16709"/>
            <a:ext cx="7780655" cy="227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103505" indent="-320040">
              <a:lnSpc>
                <a:spcPct val="100000"/>
              </a:lnSpc>
              <a:spcBef>
                <a:spcPts val="100"/>
              </a:spcBef>
              <a:buSzPct val="6041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4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can</a:t>
            </a:r>
            <a:r>
              <a:rPr sz="24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return</a:t>
            </a:r>
            <a:r>
              <a:rPr sz="24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at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most</a:t>
            </a:r>
            <a:r>
              <a:rPr sz="24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once,</a:t>
            </a:r>
            <a:r>
              <a:rPr sz="24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it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can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only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return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one </a:t>
            </a:r>
            <a:r>
              <a:rPr sz="2400" spc="-6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value</a:t>
            </a:r>
            <a:endParaRPr sz="24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10"/>
              </a:spcBef>
            </a:pPr>
            <a:r>
              <a:rPr sz="1500" spc="-40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500" spc="4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If</a:t>
            </a:r>
            <a:r>
              <a:rPr sz="2200" spc="1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it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does</a:t>
            </a:r>
            <a:r>
              <a:rPr sz="22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not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return</a:t>
            </a:r>
            <a:r>
              <a:rPr sz="22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anything,</a:t>
            </a:r>
            <a:r>
              <a:rPr sz="22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assignments</a:t>
            </a:r>
            <a:r>
              <a:rPr sz="2200" spc="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will</a:t>
            </a:r>
            <a:r>
              <a:rPr sz="2200" spc="5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result</a:t>
            </a:r>
            <a:r>
              <a:rPr sz="2200" spc="5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2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NULL</a:t>
            </a:r>
            <a:endParaRPr sz="2200">
              <a:latin typeface="Microsoft Sans Serif"/>
              <a:cs typeface="Microsoft Sans Serif"/>
            </a:endParaRPr>
          </a:p>
          <a:p>
            <a:pPr marL="332740" marR="5080" indent="-320040">
              <a:lnSpc>
                <a:spcPct val="100000"/>
              </a:lnSpc>
              <a:spcBef>
                <a:spcPts val="690"/>
              </a:spcBef>
              <a:buSzPct val="6041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4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ends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after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it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returns,</a:t>
            </a:r>
            <a:r>
              <a:rPr sz="24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even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50" dirty="0">
                <a:solidFill>
                  <a:srgbClr val="963139"/>
                </a:solidFill>
                <a:latin typeface="Microsoft Sans Serif"/>
                <a:cs typeface="Microsoft Sans Serif"/>
              </a:rPr>
              <a:t>if</a:t>
            </a:r>
            <a:r>
              <a:rPr sz="2400" spc="9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there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is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code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following </a:t>
            </a:r>
            <a:r>
              <a:rPr sz="2400" spc="-6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4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return</a:t>
            </a:r>
            <a:r>
              <a:rPr sz="24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statement</a:t>
            </a:r>
            <a:endParaRPr sz="2400">
              <a:latin typeface="Microsoft Sans Serif"/>
              <a:cs typeface="Microsoft Sans Serif"/>
            </a:endParaRPr>
          </a:p>
          <a:p>
            <a:pPr marL="85725">
              <a:lnSpc>
                <a:spcPct val="100000"/>
              </a:lnSpc>
              <a:spcBef>
                <a:spcPts val="6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function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do_stuff($x)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2775" y="3862196"/>
            <a:ext cx="42570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if</a:t>
            </a:r>
            <a:r>
              <a:rPr sz="18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even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exits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function at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this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point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9194" y="3862196"/>
            <a:ext cx="24834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if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($x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%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2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==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0)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R="45720" algn="r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return</a:t>
            </a:r>
            <a:r>
              <a:rPr sz="1800" spc="-6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$x/2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4685157"/>
            <a:ext cx="585406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this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ONLY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executed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if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x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odd</a:t>
            </a:r>
            <a:endParaRPr sz="18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$x</a:t>
            </a:r>
            <a:r>
              <a:rPr sz="1800" spc="-5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+=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5;</a:t>
            </a:r>
            <a:endParaRPr sz="18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if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($x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&lt;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10)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$x</a:t>
            </a:r>
            <a:r>
              <a:rPr sz="1800" spc="-5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+=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3;</a:t>
            </a:r>
            <a:endParaRPr sz="18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return</a:t>
            </a:r>
            <a:r>
              <a:rPr sz="1800" spc="-6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x;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4630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0" dirty="0"/>
              <a:t>Making</a:t>
            </a:r>
            <a:r>
              <a:rPr spc="-10" dirty="0"/>
              <a:t> </a:t>
            </a:r>
            <a:r>
              <a:rPr spc="-270" dirty="0"/>
              <a:t>function</a:t>
            </a:r>
            <a:r>
              <a:rPr spc="-15" dirty="0"/>
              <a:t> </a:t>
            </a:r>
            <a:r>
              <a:rPr spc="-275" dirty="0"/>
              <a:t>calls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16709"/>
            <a:ext cx="7912734" cy="2125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172085" indent="-320040">
              <a:lnSpc>
                <a:spcPct val="100000"/>
              </a:lnSpc>
              <a:spcBef>
                <a:spcPts val="100"/>
              </a:spcBef>
              <a:buSzPct val="6041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Code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inside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400" spc="9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</a:t>
            </a:r>
            <a:r>
              <a:rPr sz="24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is</a:t>
            </a:r>
            <a:r>
              <a:rPr sz="24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not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executed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unless</a:t>
            </a:r>
            <a:r>
              <a:rPr sz="24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is </a:t>
            </a:r>
            <a:r>
              <a:rPr sz="2400" spc="-6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called.</a:t>
            </a:r>
            <a:endParaRPr sz="2400">
              <a:latin typeface="Microsoft Sans Serif"/>
              <a:cs typeface="Microsoft Sans Serif"/>
            </a:endParaRPr>
          </a:p>
          <a:p>
            <a:pPr marL="332740" marR="5080" indent="-320040">
              <a:lnSpc>
                <a:spcPct val="100000"/>
              </a:lnSpc>
              <a:spcBef>
                <a:spcPts val="700"/>
              </a:spcBef>
              <a:buSzPct val="6041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Code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outside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400" spc="9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functions</a:t>
            </a:r>
            <a:r>
              <a:rPr sz="24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is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executed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whenever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program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is </a:t>
            </a:r>
            <a:r>
              <a:rPr sz="2400" spc="-6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executed.</a:t>
            </a:r>
            <a:endParaRPr sz="2400">
              <a:latin typeface="Microsoft Sans Serif"/>
              <a:cs typeface="Microsoft Sans Serif"/>
            </a:endParaRPr>
          </a:p>
          <a:p>
            <a:pPr marL="390525">
              <a:lnSpc>
                <a:spcPct val="100000"/>
              </a:lnSpc>
              <a:spcBef>
                <a:spcPts val="950"/>
              </a:spcBef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390525">
              <a:lnSpc>
                <a:spcPct val="100000"/>
              </a:lnSpc>
            </a:pPr>
            <a:r>
              <a:rPr sz="1400" dirty="0">
                <a:solidFill>
                  <a:srgbClr val="963139"/>
                </a:solidFill>
                <a:latin typeface="Courier New"/>
                <a:cs typeface="Courier New"/>
              </a:rPr>
              <a:t>…</a:t>
            </a:r>
            <a:r>
              <a:rPr sz="1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some</a:t>
            </a:r>
            <a:r>
              <a:rPr sz="14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code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644" y="3715588"/>
            <a:ext cx="13036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f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u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n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c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t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i</a:t>
            </a:r>
            <a:r>
              <a:rPr sz="1400" spc="-20" dirty="0">
                <a:solidFill>
                  <a:srgbClr val="963139"/>
                </a:solidFill>
                <a:latin typeface="Courier New"/>
                <a:cs typeface="Courier New"/>
              </a:rPr>
              <a:t>o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n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1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(</a:t>
            </a:r>
            <a:r>
              <a:rPr sz="1400" spc="-20" dirty="0">
                <a:solidFill>
                  <a:srgbClr val="963139"/>
                </a:solidFill>
                <a:latin typeface="Courier New"/>
                <a:cs typeface="Courier New"/>
              </a:rPr>
              <a:t>)</a:t>
            </a:r>
            <a:r>
              <a:rPr sz="1400" dirty="0">
                <a:solidFill>
                  <a:srgbClr val="963139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8394" y="3715588"/>
            <a:ext cx="470852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963139"/>
                </a:solidFill>
                <a:latin typeface="Courier New"/>
                <a:cs typeface="Courier New"/>
              </a:rPr>
              <a:t>// 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makes</a:t>
            </a:r>
            <a:r>
              <a:rPr sz="14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function</a:t>
            </a:r>
            <a:r>
              <a:rPr sz="14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call</a:t>
            </a:r>
            <a:r>
              <a:rPr sz="1400" dirty="0">
                <a:solidFill>
                  <a:srgbClr val="963139"/>
                </a:solidFill>
                <a:latin typeface="Courier New"/>
                <a:cs typeface="Courier New"/>
              </a:rPr>
              <a:t> to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 function1(),</a:t>
            </a:r>
            <a:r>
              <a:rPr sz="14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which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4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in</a:t>
            </a:r>
            <a:r>
              <a:rPr sz="14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turn</a:t>
            </a:r>
            <a:r>
              <a:rPr sz="14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calls</a:t>
            </a:r>
            <a:r>
              <a:rPr sz="14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function3()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9644" y="4355972"/>
            <a:ext cx="2431415" cy="2373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function</a:t>
            </a:r>
            <a:r>
              <a:rPr sz="14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function1()</a:t>
            </a:r>
            <a:r>
              <a:rPr sz="14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926465" marR="508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963139"/>
                </a:solidFill>
                <a:latin typeface="Courier New"/>
                <a:cs typeface="Courier New"/>
              </a:rPr>
              <a:t>…</a:t>
            </a:r>
            <a:r>
              <a:rPr sz="14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some</a:t>
            </a:r>
            <a:r>
              <a:rPr sz="1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code </a:t>
            </a:r>
            <a:r>
              <a:rPr sz="1400" spc="-8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function3();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function</a:t>
            </a:r>
            <a:r>
              <a:rPr sz="14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function2()</a:t>
            </a:r>
            <a:r>
              <a:rPr sz="1400" spc="-5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</a:pPr>
            <a:r>
              <a:rPr sz="1400" dirty="0">
                <a:solidFill>
                  <a:srgbClr val="963139"/>
                </a:solidFill>
                <a:latin typeface="Courier New"/>
                <a:cs typeface="Courier New"/>
              </a:rPr>
              <a:t>…</a:t>
            </a:r>
            <a:r>
              <a:rPr sz="14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some</a:t>
            </a:r>
            <a:r>
              <a:rPr sz="1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code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function</a:t>
            </a:r>
            <a:r>
              <a:rPr sz="14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function3()</a:t>
            </a:r>
            <a:r>
              <a:rPr sz="14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</a:pPr>
            <a:r>
              <a:rPr sz="1400" dirty="0">
                <a:solidFill>
                  <a:srgbClr val="963139"/>
                </a:solidFill>
                <a:latin typeface="Courier New"/>
                <a:cs typeface="Courier New"/>
              </a:rPr>
              <a:t>…</a:t>
            </a:r>
            <a:r>
              <a:rPr sz="14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some</a:t>
            </a:r>
            <a:r>
              <a:rPr sz="1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code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3175" y="4782692"/>
            <a:ext cx="39636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makes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 function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call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to</a:t>
            </a:r>
            <a:r>
              <a:rPr sz="14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function3()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13175" y="5209489"/>
            <a:ext cx="353885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4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this</a:t>
            </a:r>
            <a:r>
              <a:rPr sz="14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function</a:t>
            </a:r>
            <a:r>
              <a:rPr sz="14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4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never</a:t>
            </a:r>
            <a:r>
              <a:rPr sz="14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63139"/>
                </a:solidFill>
                <a:latin typeface="Courier New"/>
                <a:cs typeface="Courier New"/>
              </a:rPr>
              <a:t>called!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338010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Variable</a:t>
            </a:r>
            <a:r>
              <a:rPr spc="-30" dirty="0"/>
              <a:t> </a:t>
            </a:r>
            <a:r>
              <a:rPr spc="-355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505330"/>
            <a:ext cx="7830820" cy="185293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50"/>
              </a:spcBef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Variables</a:t>
            </a:r>
            <a:r>
              <a:rPr sz="28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declared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within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have</a:t>
            </a:r>
            <a:r>
              <a:rPr sz="2800" spc="7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i="1" spc="-135" dirty="0">
                <a:solidFill>
                  <a:srgbClr val="963139"/>
                </a:solidFill>
                <a:latin typeface="Arial"/>
                <a:cs typeface="Arial"/>
              </a:rPr>
              <a:t>local</a:t>
            </a:r>
            <a:r>
              <a:rPr sz="2800" i="1" spc="-20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800" i="1" spc="-290" dirty="0">
                <a:solidFill>
                  <a:srgbClr val="963139"/>
                </a:solidFill>
                <a:latin typeface="Arial"/>
                <a:cs typeface="Arial"/>
              </a:rPr>
              <a:t>scope</a:t>
            </a:r>
            <a:endParaRPr sz="2800">
              <a:latin typeface="Arial"/>
              <a:cs typeface="Arial"/>
            </a:endParaRPr>
          </a:p>
          <a:p>
            <a:pPr marL="378460">
              <a:lnSpc>
                <a:spcPct val="100000"/>
              </a:lnSpc>
              <a:spcBef>
                <a:spcPts val="640"/>
              </a:spcBef>
            </a:pPr>
            <a:r>
              <a:rPr sz="1450" spc="-40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450" spc="12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1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Can</a:t>
            </a:r>
            <a:r>
              <a:rPr sz="21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1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only</a:t>
            </a:r>
            <a:r>
              <a:rPr sz="21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1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be</a:t>
            </a:r>
            <a:r>
              <a:rPr sz="21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1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accessed</a:t>
            </a:r>
            <a:r>
              <a:rPr sz="21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1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from</a:t>
            </a:r>
            <a:r>
              <a:rPr sz="21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1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within</a:t>
            </a:r>
            <a:r>
              <a:rPr sz="21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1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1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1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</a:t>
            </a:r>
            <a:endParaRPr sz="2100">
              <a:latin typeface="Microsoft Sans Serif"/>
              <a:cs typeface="Microsoft Sans Serif"/>
            </a:endParaRPr>
          </a:p>
          <a:p>
            <a:pPr marL="390525">
              <a:lnSpc>
                <a:spcPct val="100000"/>
              </a:lnSpc>
              <a:spcBef>
                <a:spcPts val="125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&lt;?php</a:t>
            </a:r>
            <a:endParaRPr sz="1600">
              <a:latin typeface="Courier New"/>
              <a:cs typeface="Courier New"/>
            </a:endParaRPr>
          </a:p>
          <a:p>
            <a:pPr marL="390525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function</a:t>
            </a:r>
            <a:r>
              <a:rPr sz="16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function1()</a:t>
            </a:r>
            <a:r>
              <a:rPr sz="16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1304925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…</a:t>
            </a:r>
            <a:r>
              <a:rPr sz="16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6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some</a:t>
            </a:r>
            <a:r>
              <a:rPr sz="16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code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3994" y="3333115"/>
            <a:ext cx="18573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$local_var</a:t>
            </a:r>
            <a:r>
              <a:rPr sz="16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6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5;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7575" y="3333115"/>
            <a:ext cx="344170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this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variable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LOCAL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to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6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function1()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6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prints</a:t>
            </a:r>
            <a:r>
              <a:rPr sz="16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8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3994" y="3821048"/>
            <a:ext cx="24682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6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$local_var +</a:t>
            </a:r>
            <a:r>
              <a:rPr sz="16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3;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9644" y="4064889"/>
            <a:ext cx="147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9644" y="4552569"/>
            <a:ext cx="197929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… // some code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function1();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6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$local_var;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3175" y="5040248"/>
            <a:ext cx="44227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6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does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nothing,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since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$local_var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6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out</a:t>
            </a:r>
            <a:r>
              <a:rPr sz="16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of</a:t>
            </a:r>
            <a:r>
              <a:rPr sz="16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scope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9644" y="5772099"/>
            <a:ext cx="269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?&gt;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50393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Global</a:t>
            </a:r>
            <a:r>
              <a:rPr spc="5" dirty="0"/>
              <a:t> </a:t>
            </a:r>
            <a:r>
              <a:rPr spc="-100" dirty="0"/>
              <a:t>variable</a:t>
            </a:r>
            <a:r>
              <a:rPr spc="10" dirty="0"/>
              <a:t> </a:t>
            </a:r>
            <a:r>
              <a:rPr spc="-35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570990"/>
            <a:ext cx="7437120" cy="17722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32740" marR="5080" indent="-320040">
              <a:lnSpc>
                <a:spcPts val="3030"/>
              </a:lnSpc>
              <a:spcBef>
                <a:spcPts val="470"/>
              </a:spcBef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Variables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declared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outside</a:t>
            </a:r>
            <a:r>
              <a:rPr sz="28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have</a:t>
            </a:r>
            <a:r>
              <a:rPr sz="28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global </a:t>
            </a:r>
            <a:r>
              <a:rPr sz="2800" spc="-7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scope</a:t>
            </a:r>
            <a:endParaRPr sz="28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340"/>
              </a:spcBef>
            </a:pPr>
            <a:r>
              <a:rPr sz="1450" spc="-40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450" spc="12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1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Must</a:t>
            </a:r>
            <a:r>
              <a:rPr sz="21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1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use</a:t>
            </a:r>
            <a:r>
              <a:rPr sz="21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1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global</a:t>
            </a:r>
            <a:r>
              <a:rPr sz="21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1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keyword</a:t>
            </a:r>
            <a:r>
              <a:rPr sz="21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1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1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1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gain</a:t>
            </a:r>
            <a:r>
              <a:rPr sz="21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1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access</a:t>
            </a:r>
            <a:r>
              <a:rPr sz="21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1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within</a:t>
            </a:r>
            <a:r>
              <a:rPr sz="21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1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functions</a:t>
            </a:r>
            <a:endParaRPr sz="2100">
              <a:latin typeface="Microsoft Sans Serif"/>
              <a:cs typeface="Microsoft Sans Serif"/>
            </a:endParaRPr>
          </a:p>
          <a:p>
            <a:pPr marL="314325">
              <a:lnSpc>
                <a:spcPct val="100000"/>
              </a:lnSpc>
              <a:spcBef>
                <a:spcPts val="620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&lt;?php</a:t>
            </a:r>
            <a:endParaRPr sz="1600">
              <a:latin typeface="Courier New"/>
              <a:cs typeface="Courier New"/>
            </a:endParaRPr>
          </a:p>
          <a:p>
            <a:pPr marL="314325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function</a:t>
            </a:r>
            <a:r>
              <a:rPr sz="16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function1()</a:t>
            </a:r>
            <a:r>
              <a:rPr sz="16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7794" y="3317875"/>
            <a:ext cx="124523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echo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$a; 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global</a:t>
            </a:r>
            <a:r>
              <a:rPr sz="1600" spc="-8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$a; </a:t>
            </a:r>
            <a:r>
              <a:rPr sz="1600" spc="-944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6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$a;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36975" y="3317875"/>
            <a:ext cx="441769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does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nothing, $a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is out of scope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gain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access to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$a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 within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function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6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prints</a:t>
            </a:r>
            <a:r>
              <a:rPr sz="16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4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444" y="4049648"/>
            <a:ext cx="147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444" y="4537328"/>
            <a:ext cx="173355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…</a:t>
            </a:r>
            <a:r>
              <a:rPr sz="16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6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some</a:t>
            </a:r>
            <a:r>
              <a:rPr sz="16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code</a:t>
            </a:r>
            <a:endParaRPr sz="1600">
              <a:latin typeface="Courier New"/>
              <a:cs typeface="Courier New"/>
            </a:endParaRPr>
          </a:p>
          <a:p>
            <a:pPr marL="12700" marR="249554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$a = 4;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f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u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n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c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t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i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o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n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1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(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22194" y="4781169"/>
            <a:ext cx="31978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$a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a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global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variable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444" y="5513019"/>
            <a:ext cx="2692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?&gt;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53328"/>
            <a:ext cx="2240280" cy="713740"/>
          </a:xfrm>
          <a:custGeom>
            <a:avLst/>
            <a:gdLst/>
            <a:ahLst/>
            <a:cxnLst/>
            <a:rect l="l" t="t" r="r" b="b"/>
            <a:pathLst>
              <a:path w="2240280" h="713740">
                <a:moveTo>
                  <a:pt x="2240280" y="0"/>
                </a:moveTo>
                <a:lnTo>
                  <a:pt x="0" y="0"/>
                </a:lnTo>
                <a:lnTo>
                  <a:pt x="0" y="713232"/>
                </a:lnTo>
                <a:lnTo>
                  <a:pt x="2240280" y="713232"/>
                </a:lnTo>
                <a:lnTo>
                  <a:pt x="2240280" y="0"/>
                </a:lnTo>
                <a:close/>
              </a:path>
            </a:pathLst>
          </a:custGeom>
          <a:solidFill>
            <a:srgbClr val="9631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59151" y="6044184"/>
            <a:ext cx="6784975" cy="713740"/>
          </a:xfrm>
          <a:custGeom>
            <a:avLst/>
            <a:gdLst/>
            <a:ahLst/>
            <a:cxnLst/>
            <a:rect l="l" t="t" r="r" b="b"/>
            <a:pathLst>
              <a:path w="6784975" h="713740">
                <a:moveTo>
                  <a:pt x="6784848" y="0"/>
                </a:moveTo>
                <a:lnTo>
                  <a:pt x="0" y="0"/>
                </a:lnTo>
                <a:lnTo>
                  <a:pt x="0" y="713231"/>
                </a:lnTo>
                <a:lnTo>
                  <a:pt x="6784848" y="713231"/>
                </a:lnTo>
                <a:lnTo>
                  <a:pt x="6784848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09465" y="1616709"/>
            <a:ext cx="9226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65" dirty="0"/>
              <a:t>PHP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64229" y="2632075"/>
            <a:ext cx="24155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32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32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ntax:</a:t>
            </a:r>
            <a:r>
              <a:rPr sz="32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Ar</a:t>
            </a:r>
            <a:r>
              <a:rPr sz="32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32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32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ys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6045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5" dirty="0"/>
              <a:t>Ar</a:t>
            </a:r>
            <a:r>
              <a:rPr spc="-120" dirty="0"/>
              <a:t>r</a:t>
            </a:r>
            <a:r>
              <a:rPr spc="-114" dirty="0"/>
              <a:t>a</a:t>
            </a:r>
            <a:r>
              <a:rPr spc="-365" dirty="0"/>
              <a:t>ys</a:t>
            </a:r>
            <a:r>
              <a:rPr spc="30" dirty="0"/>
              <a:t> </a:t>
            </a:r>
            <a:r>
              <a:rPr spc="-375" dirty="0"/>
              <a:t>as</a:t>
            </a:r>
            <a:r>
              <a:rPr spc="30" dirty="0"/>
              <a:t> </a:t>
            </a:r>
            <a:r>
              <a:rPr spc="-20" dirty="0"/>
              <a:t>a</a:t>
            </a:r>
            <a:r>
              <a:rPr spc="45" dirty="0"/>
              <a:t> </a:t>
            </a:r>
            <a:r>
              <a:rPr spc="-60" dirty="0"/>
              <a:t>l</a:t>
            </a:r>
            <a:r>
              <a:rPr spc="-295" dirty="0"/>
              <a:t>is</a:t>
            </a:r>
            <a:r>
              <a:rPr spc="-225" dirty="0"/>
              <a:t>t</a:t>
            </a:r>
            <a:r>
              <a:rPr spc="30" dirty="0"/>
              <a:t> </a:t>
            </a:r>
            <a:r>
              <a:rPr dirty="0"/>
              <a:t>of</a:t>
            </a:r>
            <a:r>
              <a:rPr spc="170" dirty="0"/>
              <a:t> </a:t>
            </a:r>
            <a:r>
              <a:rPr spc="-350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613661"/>
            <a:ext cx="8092440" cy="3930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3880" marR="5080" indent="-320040">
              <a:lnSpc>
                <a:spcPct val="100000"/>
              </a:lnSpc>
              <a:spcBef>
                <a:spcPts val="95"/>
              </a:spcBef>
              <a:buSzPct val="58928"/>
              <a:buFont typeface="Wingdings"/>
              <a:buChar char=""/>
              <a:tabLst>
                <a:tab pos="563880" algn="l"/>
                <a:tab pos="564515" algn="l"/>
              </a:tabLst>
            </a:pPr>
            <a:r>
              <a:rPr sz="2800" spc="-325" dirty="0">
                <a:solidFill>
                  <a:srgbClr val="963139"/>
                </a:solidFill>
                <a:latin typeface="Microsoft Sans Serif"/>
                <a:cs typeface="Microsoft Sans Serif"/>
              </a:rPr>
              <a:t>Use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ar</a:t>
            </a:r>
            <a:r>
              <a:rPr sz="28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ys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8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8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800" spc="15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800" spc="1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lis</a:t>
            </a:r>
            <a:r>
              <a:rPr sz="28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800" spc="1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lement</a:t>
            </a:r>
            <a:r>
              <a:rPr sz="28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8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using  </a:t>
            </a:r>
            <a:r>
              <a:rPr sz="28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80" dirty="0">
                <a:solidFill>
                  <a:srgbClr val="963139"/>
                </a:solidFill>
                <a:latin typeface="Microsoft Sans Serif"/>
                <a:cs typeface="Microsoft Sans Serif"/>
              </a:rPr>
              <a:t>same</a:t>
            </a:r>
            <a:r>
              <a:rPr sz="28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variable</a:t>
            </a:r>
            <a:r>
              <a:rPr sz="28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name,</a:t>
            </a:r>
            <a:r>
              <a:rPr sz="28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identifying</a:t>
            </a:r>
            <a:r>
              <a:rPr sz="2800" spc="5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each</a:t>
            </a:r>
            <a:r>
              <a:rPr sz="28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element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by </a:t>
            </a:r>
            <a:r>
              <a:rPr sz="2800" spc="-7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its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i="1" spc="-175" dirty="0">
                <a:solidFill>
                  <a:srgbClr val="963139"/>
                </a:solidFill>
                <a:latin typeface="Arial"/>
                <a:cs typeface="Arial"/>
              </a:rPr>
              <a:t>index</a:t>
            </a:r>
            <a:r>
              <a:rPr sz="28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starting</a:t>
            </a:r>
            <a:r>
              <a:rPr sz="28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with</a:t>
            </a:r>
            <a:r>
              <a:rPr sz="28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0</a:t>
            </a:r>
            <a:endParaRPr sz="2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$colors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array(‘red’,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‘blue’,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‘green’, ‘black’,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‘yellow’);</a:t>
            </a:r>
            <a:endParaRPr sz="1800">
              <a:latin typeface="Courier New"/>
              <a:cs typeface="Courier New"/>
            </a:endParaRPr>
          </a:p>
          <a:p>
            <a:pPr marL="561340" indent="-320040">
              <a:lnSpc>
                <a:spcPct val="100000"/>
              </a:lnSpc>
              <a:spcBef>
                <a:spcPts val="670"/>
              </a:spcBef>
              <a:buSzPct val="58928"/>
              <a:buFont typeface="Wingdings"/>
              <a:buChar char=""/>
              <a:tabLst>
                <a:tab pos="560705" algn="l"/>
                <a:tab pos="561340" algn="l"/>
              </a:tabLst>
            </a:pPr>
            <a:r>
              <a:rPr sz="2800" spc="-71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add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33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lemen</a:t>
            </a:r>
            <a:r>
              <a:rPr sz="28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y:</a:t>
            </a:r>
            <a:endParaRPr sz="2800">
              <a:latin typeface="Microsoft Sans Serif"/>
              <a:cs typeface="Microsoft Sans Serif"/>
            </a:endParaRPr>
          </a:p>
          <a:p>
            <a:pPr marL="1155700">
              <a:lnSpc>
                <a:spcPct val="100000"/>
              </a:lnSpc>
              <a:spcBef>
                <a:spcPts val="525"/>
              </a:spcBef>
            </a:pP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$colors[]</a:t>
            </a:r>
            <a:r>
              <a:rPr sz="20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20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‘purple’;</a:t>
            </a:r>
            <a:endParaRPr sz="2000">
              <a:latin typeface="Courier New"/>
              <a:cs typeface="Courier New"/>
            </a:endParaRPr>
          </a:p>
          <a:p>
            <a:pPr marL="561340" indent="-320040">
              <a:lnSpc>
                <a:spcPct val="100000"/>
              </a:lnSpc>
              <a:spcBef>
                <a:spcPts val="770"/>
              </a:spcBef>
              <a:buSzPct val="58928"/>
              <a:buFont typeface="Wingdings"/>
              <a:buChar char=""/>
              <a:tabLst>
                <a:tab pos="560705" algn="l"/>
                <a:tab pos="561340" algn="l"/>
              </a:tabLst>
            </a:pPr>
            <a:r>
              <a:rPr sz="2800" spc="-72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mo</a:t>
            </a:r>
            <a:r>
              <a:rPr sz="28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an</a:t>
            </a:r>
            <a:r>
              <a:rPr sz="28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el</a:t>
            </a:r>
            <a:r>
              <a:rPr sz="28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ment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6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8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om</a:t>
            </a:r>
            <a:r>
              <a:rPr sz="28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y:</a:t>
            </a:r>
            <a:endParaRPr sz="2800">
              <a:latin typeface="Microsoft Sans Serif"/>
              <a:cs typeface="Microsoft Sans Serif"/>
            </a:endParaRPr>
          </a:p>
          <a:p>
            <a:pPr marL="1155700">
              <a:lnSpc>
                <a:spcPct val="100000"/>
              </a:lnSpc>
              <a:spcBef>
                <a:spcPts val="525"/>
              </a:spcBef>
            </a:pP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unset($colors[2]);</a:t>
            </a:r>
            <a:endParaRPr sz="2000">
              <a:latin typeface="Courier New"/>
              <a:cs typeface="Courier New"/>
            </a:endParaRPr>
          </a:p>
          <a:p>
            <a:pPr marL="1155700">
              <a:lnSpc>
                <a:spcPct val="100000"/>
              </a:lnSpc>
              <a:spcBef>
                <a:spcPts val="605"/>
              </a:spcBef>
            </a:pP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$colors</a:t>
            </a:r>
            <a:r>
              <a:rPr sz="2000" dirty="0">
                <a:solidFill>
                  <a:srgbClr val="963139"/>
                </a:solidFill>
                <a:latin typeface="Courier New"/>
                <a:cs typeface="Courier New"/>
              </a:rPr>
              <a:t> =</a:t>
            </a:r>
            <a:r>
              <a:rPr sz="2000" spc="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array_values($colors);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67506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5" dirty="0"/>
              <a:t>Ar</a:t>
            </a:r>
            <a:r>
              <a:rPr spc="-120" dirty="0"/>
              <a:t>r</a:t>
            </a:r>
            <a:r>
              <a:rPr spc="-114" dirty="0"/>
              <a:t>a</a:t>
            </a:r>
            <a:r>
              <a:rPr spc="-365" dirty="0"/>
              <a:t>ys</a:t>
            </a:r>
            <a:r>
              <a:rPr spc="30" dirty="0"/>
              <a:t> </a:t>
            </a:r>
            <a:r>
              <a:rPr spc="-375" dirty="0"/>
              <a:t>as</a:t>
            </a:r>
            <a:r>
              <a:rPr spc="30" dirty="0"/>
              <a:t> </a:t>
            </a:r>
            <a:r>
              <a:rPr spc="-360" dirty="0"/>
              <a:t>k</a:t>
            </a:r>
            <a:r>
              <a:rPr spc="-425" dirty="0"/>
              <a:t>e</a:t>
            </a:r>
            <a:r>
              <a:rPr spc="5" dirty="0"/>
              <a:t>y</a:t>
            </a:r>
            <a:r>
              <a:rPr spc="-5" dirty="0"/>
              <a:t>-</a:t>
            </a:r>
            <a:r>
              <a:rPr spc="-360" dirty="0"/>
              <a:t>v</a:t>
            </a:r>
            <a:r>
              <a:rPr spc="-40" dirty="0"/>
              <a:t>a</a:t>
            </a:r>
            <a:r>
              <a:rPr spc="-35" dirty="0"/>
              <a:t>l</a:t>
            </a:r>
            <a:r>
              <a:rPr spc="-385" dirty="0"/>
              <a:t>ue</a:t>
            </a:r>
            <a:r>
              <a:rPr dirty="0"/>
              <a:t> </a:t>
            </a:r>
            <a:r>
              <a:rPr spc="-275" dirty="0"/>
              <a:t>ma</a:t>
            </a:r>
            <a:r>
              <a:rPr spc="-235" dirty="0"/>
              <a:t>p</a:t>
            </a:r>
            <a:r>
              <a:rPr spc="-40" dirty="0"/>
              <a:t>p</a:t>
            </a:r>
            <a:r>
              <a:rPr spc="-35" dirty="0"/>
              <a:t>i</a:t>
            </a:r>
            <a:r>
              <a:rPr spc="-425" dirty="0"/>
              <a:t>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613662"/>
            <a:ext cx="8402955" cy="4168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3880" indent="-320675">
              <a:lnSpc>
                <a:spcPct val="100000"/>
              </a:lnSpc>
              <a:spcBef>
                <a:spcPts val="105"/>
              </a:spcBef>
              <a:buSzPct val="59615"/>
              <a:buFont typeface="Wingdings"/>
              <a:buChar char=""/>
              <a:tabLst>
                <a:tab pos="563880" algn="l"/>
                <a:tab pos="564515" algn="l"/>
              </a:tabLst>
            </a:pPr>
            <a:r>
              <a:rPr sz="26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Use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ar</a:t>
            </a:r>
            <a:r>
              <a:rPr sz="26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ys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6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of</a:t>
            </a:r>
            <a:r>
              <a:rPr sz="2600" spc="9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set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6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uni</a:t>
            </a:r>
            <a:r>
              <a:rPr sz="26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q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ue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i="1" spc="-210" dirty="0">
                <a:solidFill>
                  <a:srgbClr val="963139"/>
                </a:solidFill>
                <a:latin typeface="Arial"/>
                <a:cs typeface="Arial"/>
              </a:rPr>
              <a:t>k</a:t>
            </a:r>
            <a:r>
              <a:rPr sz="2600" i="1" spc="-335" dirty="0">
                <a:solidFill>
                  <a:srgbClr val="963139"/>
                </a:solidFill>
                <a:latin typeface="Arial"/>
                <a:cs typeface="Arial"/>
              </a:rPr>
              <a:t>e</a:t>
            </a:r>
            <a:r>
              <a:rPr sz="2600" i="1" spc="-300" dirty="0">
                <a:solidFill>
                  <a:srgbClr val="963139"/>
                </a:solidFill>
                <a:latin typeface="Arial"/>
                <a:cs typeface="Arial"/>
              </a:rPr>
              <a:t>ys</a:t>
            </a:r>
            <a:r>
              <a:rPr sz="2600" i="1" spc="-30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endParaRPr sz="2600">
              <a:latin typeface="Microsoft Sans Serif"/>
              <a:cs typeface="Microsoft Sans Serif"/>
            </a:endParaRPr>
          </a:p>
          <a:p>
            <a:pPr marL="563880">
              <a:lnSpc>
                <a:spcPct val="100000"/>
              </a:lnSpc>
            </a:pPr>
            <a:r>
              <a:rPr sz="2600" i="1" spc="-229" dirty="0">
                <a:solidFill>
                  <a:srgbClr val="963139"/>
                </a:solidFill>
                <a:latin typeface="Arial"/>
                <a:cs typeface="Arial"/>
              </a:rPr>
              <a:t>values</a:t>
            </a:r>
            <a:r>
              <a:rPr sz="2600" i="1" spc="-30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that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they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map</a:t>
            </a:r>
            <a:r>
              <a:rPr sz="26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540" dirty="0">
                <a:solidFill>
                  <a:srgbClr val="963139"/>
                </a:solidFill>
                <a:latin typeface="Microsoft Sans Serif"/>
                <a:cs typeface="Microsoft Sans Serif"/>
              </a:rPr>
              <a:t>–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called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an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i="1" spc="-190" dirty="0">
                <a:solidFill>
                  <a:srgbClr val="963139"/>
                </a:solidFill>
                <a:latin typeface="Arial"/>
                <a:cs typeface="Arial"/>
              </a:rPr>
              <a:t>associative</a:t>
            </a:r>
            <a:r>
              <a:rPr sz="2600" i="1" spc="-55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600" i="1" spc="-90" dirty="0">
                <a:solidFill>
                  <a:srgbClr val="963139"/>
                </a:solidFill>
                <a:latin typeface="Arial"/>
                <a:cs typeface="Arial"/>
              </a:rPr>
              <a:t>array</a:t>
            </a:r>
            <a:endParaRPr sz="2600">
              <a:latin typeface="Arial"/>
              <a:cs typeface="Arial"/>
            </a:endParaRPr>
          </a:p>
          <a:p>
            <a:pPr marL="149225" marR="57150" indent="-137160">
              <a:lnSpc>
                <a:spcPct val="100000"/>
              </a:lnSpc>
              <a:spcBef>
                <a:spcPts val="149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$favorite_colors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array(‘Joe’ =&gt; ‘blue’, ‘Elena’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=&gt;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‘green’, </a:t>
            </a:r>
            <a:r>
              <a:rPr sz="1800" spc="-10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‘Mark’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=&gt;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‘brown’,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‘Adrian’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=&gt;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‘black’,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‘Charles’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=&gt;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‘red’);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Courier New"/>
              <a:cs typeface="Courier New"/>
            </a:endParaRPr>
          </a:p>
          <a:p>
            <a:pPr marL="561340" indent="-320040">
              <a:lnSpc>
                <a:spcPct val="100000"/>
              </a:lnSpc>
              <a:buSzPct val="59615"/>
              <a:buFont typeface="Wingdings"/>
              <a:buChar char=""/>
              <a:tabLst>
                <a:tab pos="560705" algn="l"/>
                <a:tab pos="561340" algn="l"/>
              </a:tabLst>
            </a:pPr>
            <a:r>
              <a:rPr sz="2600" spc="-66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add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an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34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ent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ar</a:t>
            </a:r>
            <a:r>
              <a:rPr sz="26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y:</a:t>
            </a:r>
            <a:endParaRPr sz="2600">
              <a:latin typeface="Microsoft Sans Serif"/>
              <a:cs typeface="Microsoft Sans Serif"/>
            </a:endParaRPr>
          </a:p>
          <a:p>
            <a:pPr marL="1155700">
              <a:lnSpc>
                <a:spcPct val="100000"/>
              </a:lnSpc>
              <a:spcBef>
                <a:spcPts val="355"/>
              </a:spcBef>
            </a:pPr>
            <a:r>
              <a:rPr sz="1900" spc="-10" dirty="0">
                <a:solidFill>
                  <a:srgbClr val="963139"/>
                </a:solidFill>
                <a:latin typeface="Courier New"/>
                <a:cs typeface="Courier New"/>
              </a:rPr>
              <a:t>$favorite_colors[‘Bob’]</a:t>
            </a:r>
            <a:r>
              <a:rPr sz="19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900" spc="-5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9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963139"/>
                </a:solidFill>
                <a:latin typeface="Courier New"/>
                <a:cs typeface="Courier New"/>
              </a:rPr>
              <a:t>‘purple’;</a:t>
            </a:r>
            <a:endParaRPr sz="1900">
              <a:latin typeface="Courier New"/>
              <a:cs typeface="Courier New"/>
            </a:endParaRPr>
          </a:p>
          <a:p>
            <a:pPr marL="561340" indent="-320040">
              <a:lnSpc>
                <a:spcPct val="100000"/>
              </a:lnSpc>
              <a:spcBef>
                <a:spcPts val="415"/>
              </a:spcBef>
              <a:buSzPct val="59615"/>
              <a:buFont typeface="Wingdings"/>
              <a:buChar char=""/>
              <a:tabLst>
                <a:tab pos="560705" algn="l"/>
                <a:tab pos="561340" algn="l"/>
              </a:tabLst>
            </a:pPr>
            <a:r>
              <a:rPr sz="2600" spc="-66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rem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an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34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ent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6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om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ar</a:t>
            </a:r>
            <a:r>
              <a:rPr sz="26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y:</a:t>
            </a:r>
            <a:endParaRPr sz="2600">
              <a:latin typeface="Microsoft Sans Serif"/>
              <a:cs typeface="Microsoft Sans Serif"/>
            </a:endParaRPr>
          </a:p>
          <a:p>
            <a:pPr marL="1155700">
              <a:lnSpc>
                <a:spcPct val="100000"/>
              </a:lnSpc>
              <a:spcBef>
                <a:spcPts val="355"/>
              </a:spcBef>
            </a:pPr>
            <a:r>
              <a:rPr sz="1900" spc="-10" dirty="0">
                <a:solidFill>
                  <a:srgbClr val="963139"/>
                </a:solidFill>
                <a:latin typeface="Courier New"/>
                <a:cs typeface="Courier New"/>
              </a:rPr>
              <a:t>unset($favorite_colors[‘Charles’]);</a:t>
            </a:r>
            <a:endParaRPr sz="1900">
              <a:latin typeface="Courier New"/>
              <a:cs typeface="Courier New"/>
            </a:endParaRPr>
          </a:p>
          <a:p>
            <a:pPr marL="561340" indent="-320040">
              <a:lnSpc>
                <a:spcPct val="100000"/>
              </a:lnSpc>
              <a:spcBef>
                <a:spcPts val="400"/>
              </a:spcBef>
              <a:buSzPct val="59615"/>
              <a:buFont typeface="Wingdings"/>
              <a:buChar char=""/>
              <a:tabLst>
                <a:tab pos="560705" algn="l"/>
                <a:tab pos="561340" algn="l"/>
              </a:tabLst>
            </a:pPr>
            <a:r>
              <a:rPr sz="2600" spc="-325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6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ys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385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6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ust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be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uniqu</a:t>
            </a:r>
            <a:r>
              <a:rPr sz="26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:</a:t>
            </a:r>
            <a:endParaRPr sz="2600">
              <a:latin typeface="Microsoft Sans Serif"/>
              <a:cs typeface="Microsoft Sans Serif"/>
            </a:endParaRPr>
          </a:p>
          <a:p>
            <a:pPr marL="1155700">
              <a:lnSpc>
                <a:spcPct val="100000"/>
              </a:lnSpc>
              <a:spcBef>
                <a:spcPts val="315"/>
              </a:spcBef>
            </a:pP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$favorite_colors[‘Joe’]</a:t>
            </a:r>
            <a:r>
              <a:rPr sz="20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20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‘purple’</a:t>
            </a:r>
            <a:r>
              <a:rPr sz="2000" spc="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3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overwrites</a:t>
            </a:r>
            <a:r>
              <a:rPr sz="23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‘blue’</a:t>
            </a:r>
            <a:endParaRPr sz="2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31108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5" dirty="0"/>
              <a:t>R</a:t>
            </a:r>
            <a:r>
              <a:rPr spc="-195" dirty="0"/>
              <a:t>eca</a:t>
            </a:r>
            <a:r>
              <a:rPr spc="-225" dirty="0"/>
              <a:t>p</a:t>
            </a:r>
            <a:r>
              <a:rPr spc="-260" dirty="0"/>
              <a:t>:</a:t>
            </a:r>
            <a:r>
              <a:rPr spc="20" dirty="0"/>
              <a:t> </a:t>
            </a:r>
            <a:r>
              <a:rPr spc="-5" dirty="0"/>
              <a:t>ar</a:t>
            </a:r>
            <a:r>
              <a:rPr spc="-70" dirty="0"/>
              <a:t>r</a:t>
            </a:r>
            <a:r>
              <a:rPr spc="-114" dirty="0"/>
              <a:t>a</a:t>
            </a:r>
            <a:r>
              <a:rPr spc="-365" dirty="0"/>
              <a:t>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548" y="1609090"/>
            <a:ext cx="8352790" cy="45688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76580" marR="850900" indent="-320040">
              <a:lnSpc>
                <a:spcPct val="101200"/>
              </a:lnSpc>
              <a:spcBef>
                <a:spcPts val="55"/>
              </a:spcBef>
              <a:buSzPct val="60416"/>
              <a:buFont typeface="Wingdings"/>
              <a:buChar char=""/>
              <a:tabLst>
                <a:tab pos="575945" algn="l"/>
                <a:tab pos="576580" algn="l"/>
              </a:tabLst>
            </a:pP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print_</a:t>
            </a: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r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($array_n</a:t>
            </a:r>
            <a:r>
              <a:rPr sz="2400" spc="-15" dirty="0">
                <a:solidFill>
                  <a:srgbClr val="963139"/>
                </a:solidFill>
                <a:latin typeface="Courier New"/>
                <a:cs typeface="Courier New"/>
              </a:rPr>
              <a:t>a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m</a:t>
            </a: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e)</a:t>
            </a:r>
            <a:r>
              <a:rPr sz="2400" spc="-7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8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</a:t>
            </a:r>
            <a:r>
              <a:rPr sz="28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800" spc="-33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8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ts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8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ou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sily  </a:t>
            </a:r>
            <a:r>
              <a:rPr sz="2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vi</a:t>
            </a:r>
            <a:r>
              <a:rPr sz="28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8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contents</a:t>
            </a:r>
            <a:r>
              <a:rPr sz="28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800" spc="114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an</a:t>
            </a:r>
            <a:r>
              <a:rPr sz="28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endParaRPr sz="2800">
              <a:latin typeface="Microsoft Sans Serif"/>
              <a:cs typeface="Microsoft Sans Serif"/>
            </a:endParaRPr>
          </a:p>
          <a:p>
            <a:pPr marL="576580" indent="-320675">
              <a:lnSpc>
                <a:spcPts val="3254"/>
              </a:lnSpc>
              <a:spcBef>
                <a:spcPts val="695"/>
              </a:spcBef>
              <a:buSzPct val="58928"/>
              <a:buFont typeface="Wingdings"/>
              <a:buChar char=""/>
              <a:tabLst>
                <a:tab pos="575945" algn="l"/>
                <a:tab pos="576580" algn="l"/>
              </a:tabLst>
            </a:pPr>
            <a:r>
              <a:rPr sz="2800" spc="-39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800" spc="-41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800" spc="-47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ys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47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list</a:t>
            </a:r>
            <a:endParaRPr sz="2800">
              <a:latin typeface="Microsoft Sans Serif"/>
              <a:cs typeface="Microsoft Sans Serif"/>
            </a:endParaRPr>
          </a:p>
          <a:p>
            <a:pPr marL="24765">
              <a:lnSpc>
                <a:spcPts val="2055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$colors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array(‘red’,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‘blue’,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‘green’, ‘black’,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‘yellow’);</a:t>
            </a:r>
            <a:endParaRPr sz="1800">
              <a:latin typeface="Courier New"/>
              <a:cs typeface="Courier New"/>
            </a:endParaRPr>
          </a:p>
          <a:p>
            <a:pPr marL="2476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$colors[]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purple;</a:t>
            </a:r>
            <a:r>
              <a:rPr sz="1800" spc="9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add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to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the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list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Courier New"/>
              <a:cs typeface="Courier New"/>
            </a:endParaRPr>
          </a:p>
          <a:p>
            <a:pPr marL="2476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//remove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‘blue’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from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list</a:t>
            </a:r>
            <a:endParaRPr sz="1800">
              <a:latin typeface="Courier New"/>
              <a:cs typeface="Courier New"/>
            </a:endParaRPr>
          </a:p>
          <a:p>
            <a:pPr marL="2476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unset($colors[1]);</a:t>
            </a:r>
            <a:endParaRPr sz="1800">
              <a:latin typeface="Courier New"/>
              <a:cs typeface="Courier New"/>
            </a:endParaRPr>
          </a:p>
          <a:p>
            <a:pPr marL="2476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$colors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array_values($colors);</a:t>
            </a:r>
            <a:endParaRPr sz="1800">
              <a:latin typeface="Courier New"/>
              <a:cs typeface="Courier New"/>
            </a:endParaRPr>
          </a:p>
          <a:p>
            <a:pPr marL="576580" indent="-320675">
              <a:lnSpc>
                <a:spcPct val="100000"/>
              </a:lnSpc>
              <a:spcBef>
                <a:spcPts val="135"/>
              </a:spcBef>
              <a:buSzPct val="58928"/>
              <a:buFont typeface="Wingdings"/>
              <a:buChar char=""/>
              <a:tabLst>
                <a:tab pos="575945" algn="l"/>
                <a:tab pos="576580" algn="l"/>
              </a:tabLst>
            </a:pPr>
            <a:r>
              <a:rPr sz="2800" spc="-39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800" spc="-41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800" spc="-47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8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ys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47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map</a:t>
            </a:r>
            <a:endParaRPr sz="2800">
              <a:latin typeface="Microsoft Sans Serif"/>
              <a:cs typeface="Microsoft Sans Serif"/>
            </a:endParaRPr>
          </a:p>
          <a:p>
            <a:pPr marR="7620" algn="r">
              <a:lnSpc>
                <a:spcPct val="100000"/>
              </a:lnSpc>
              <a:spcBef>
                <a:spcPts val="7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$favorite_colors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array(‘Joe’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=&gt;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‘blue’,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‘Elena’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=&gt;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‘green’,</a:t>
            </a:r>
            <a:endParaRPr sz="18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‘Mark’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=&gt;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‘brown’,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‘Adrian’</a:t>
            </a:r>
            <a:r>
              <a:rPr sz="18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=&gt; ‘black’,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‘Charles’</a:t>
            </a:r>
            <a:r>
              <a:rPr sz="18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=&gt; ‘red’);</a:t>
            </a:r>
            <a:endParaRPr sz="1800">
              <a:latin typeface="Courier New"/>
              <a:cs typeface="Courier New"/>
            </a:endParaRPr>
          </a:p>
          <a:p>
            <a:pPr marL="12700" marR="355536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$colors[‘random person’]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‘white’; </a:t>
            </a:r>
            <a:r>
              <a:rPr sz="1800" spc="-10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unset($colors[‘Adrian’]);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53328"/>
            <a:ext cx="2240280" cy="713740"/>
          </a:xfrm>
          <a:custGeom>
            <a:avLst/>
            <a:gdLst/>
            <a:ahLst/>
            <a:cxnLst/>
            <a:rect l="l" t="t" r="r" b="b"/>
            <a:pathLst>
              <a:path w="2240280" h="713740">
                <a:moveTo>
                  <a:pt x="2240280" y="0"/>
                </a:moveTo>
                <a:lnTo>
                  <a:pt x="0" y="0"/>
                </a:lnTo>
                <a:lnTo>
                  <a:pt x="0" y="713232"/>
                </a:lnTo>
                <a:lnTo>
                  <a:pt x="2240280" y="713232"/>
                </a:lnTo>
                <a:lnTo>
                  <a:pt x="2240280" y="0"/>
                </a:lnTo>
                <a:close/>
              </a:path>
            </a:pathLst>
          </a:custGeom>
          <a:solidFill>
            <a:srgbClr val="9631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59151" y="6044184"/>
            <a:ext cx="6784975" cy="713740"/>
          </a:xfrm>
          <a:custGeom>
            <a:avLst/>
            <a:gdLst/>
            <a:ahLst/>
            <a:cxnLst/>
            <a:rect l="l" t="t" r="r" b="b"/>
            <a:pathLst>
              <a:path w="6784975" h="713740">
                <a:moveTo>
                  <a:pt x="6784848" y="0"/>
                </a:moveTo>
                <a:lnTo>
                  <a:pt x="0" y="0"/>
                </a:lnTo>
                <a:lnTo>
                  <a:pt x="0" y="713231"/>
                </a:lnTo>
                <a:lnTo>
                  <a:pt x="6784848" y="713231"/>
                </a:lnTo>
                <a:lnTo>
                  <a:pt x="6784848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09465" y="1616709"/>
            <a:ext cx="9226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65" dirty="0"/>
              <a:t>PHP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01318" y="2632075"/>
            <a:ext cx="674115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More</a:t>
            </a:r>
            <a:r>
              <a:rPr sz="32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about</a:t>
            </a:r>
            <a:r>
              <a:rPr sz="32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arrays</a:t>
            </a:r>
            <a:r>
              <a:rPr sz="32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32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32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for-each</a:t>
            </a:r>
            <a:r>
              <a:rPr sz="32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loop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56730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All</a:t>
            </a:r>
            <a:r>
              <a:rPr spc="30" dirty="0"/>
              <a:t> </a:t>
            </a:r>
            <a:r>
              <a:rPr spc="-155" dirty="0"/>
              <a:t>arrays</a:t>
            </a:r>
            <a:r>
              <a:rPr spc="30" dirty="0"/>
              <a:t> </a:t>
            </a:r>
            <a:r>
              <a:rPr spc="-95" dirty="0"/>
              <a:t>are</a:t>
            </a:r>
            <a:r>
              <a:rPr spc="30" dirty="0"/>
              <a:t> </a:t>
            </a:r>
            <a:r>
              <a:rPr spc="-275" dirty="0"/>
              <a:t>associative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613661"/>
            <a:ext cx="8079740" cy="4841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3880" indent="-320675">
              <a:lnSpc>
                <a:spcPct val="100000"/>
              </a:lnSpc>
              <a:spcBef>
                <a:spcPts val="95"/>
              </a:spcBef>
              <a:buSzPct val="58928"/>
              <a:buFont typeface="Wingdings"/>
              <a:buChar char=""/>
              <a:tabLst>
                <a:tab pos="563880" algn="l"/>
                <a:tab pos="564515" algn="l"/>
              </a:tabLst>
            </a:pPr>
            <a:r>
              <a:rPr sz="2800" spc="-72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our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x</a:t>
            </a:r>
            <a:r>
              <a:rPr sz="2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mple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800" spc="1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list:</a:t>
            </a:r>
            <a:endParaRPr sz="28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$colors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array(‘red’, ‘blue’,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‘green’,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‘black’, ‘yellow’);</a:t>
            </a:r>
            <a:endParaRPr sz="1800" dirty="0">
              <a:latin typeface="Courier New"/>
              <a:cs typeface="Courier New"/>
            </a:endParaRPr>
          </a:p>
          <a:p>
            <a:pPr marL="774700" indent="-534035">
              <a:lnSpc>
                <a:spcPct val="100000"/>
              </a:lnSpc>
              <a:spcBef>
                <a:spcPts val="1025"/>
              </a:spcBef>
              <a:buSzPct val="82500"/>
              <a:buFont typeface="Wingdings"/>
              <a:buChar char=""/>
              <a:tabLst>
                <a:tab pos="774700" algn="l"/>
                <a:tab pos="775335" algn="l"/>
              </a:tabLst>
            </a:pP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print_r($colors</a:t>
            </a:r>
            <a:r>
              <a:rPr sz="2000" dirty="0">
                <a:solidFill>
                  <a:srgbClr val="963139"/>
                </a:solidFill>
                <a:latin typeface="Courier New"/>
                <a:cs typeface="Courier New"/>
              </a:rPr>
              <a:t>)</a:t>
            </a:r>
            <a:r>
              <a:rPr sz="2000" spc="-49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es:</a:t>
            </a:r>
            <a:endParaRPr sz="2600" dirty="0">
              <a:latin typeface="Microsoft Sans Serif"/>
              <a:cs typeface="Microsoft Sans Serif"/>
            </a:endParaRPr>
          </a:p>
          <a:p>
            <a:pPr marL="1155700">
              <a:lnSpc>
                <a:spcPts val="2020"/>
              </a:lnSpc>
              <a:spcBef>
                <a:spcPts val="27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Array(</a:t>
            </a:r>
            <a:endParaRPr sz="1800" dirty="0">
              <a:latin typeface="Courier New"/>
              <a:cs typeface="Courier New"/>
            </a:endParaRPr>
          </a:p>
          <a:p>
            <a:pPr marL="2070100">
              <a:lnSpc>
                <a:spcPts val="1805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[0]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=&gt;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red</a:t>
            </a:r>
            <a:endParaRPr sz="1800" dirty="0">
              <a:latin typeface="Courier New"/>
              <a:cs typeface="Courier New"/>
            </a:endParaRPr>
          </a:p>
          <a:p>
            <a:pPr marL="2070100">
              <a:lnSpc>
                <a:spcPts val="173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[1]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=&gt;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blue</a:t>
            </a:r>
            <a:endParaRPr sz="1800" dirty="0">
              <a:latin typeface="Courier New"/>
              <a:cs typeface="Courier New"/>
            </a:endParaRPr>
          </a:p>
          <a:p>
            <a:pPr marL="2070100">
              <a:lnSpc>
                <a:spcPts val="173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[2]</a:t>
            </a:r>
            <a:r>
              <a:rPr sz="1800" spc="-6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=&gt;</a:t>
            </a:r>
            <a:r>
              <a:rPr sz="18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green</a:t>
            </a:r>
            <a:endParaRPr sz="1800" dirty="0">
              <a:latin typeface="Courier New"/>
              <a:cs typeface="Courier New"/>
            </a:endParaRPr>
          </a:p>
          <a:p>
            <a:pPr marL="2070100">
              <a:lnSpc>
                <a:spcPts val="173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[3]</a:t>
            </a:r>
            <a:r>
              <a:rPr sz="1800" spc="-6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=&gt;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black</a:t>
            </a:r>
            <a:endParaRPr sz="1800" dirty="0">
              <a:latin typeface="Courier New"/>
              <a:cs typeface="Courier New"/>
            </a:endParaRPr>
          </a:p>
          <a:p>
            <a:pPr marL="2070100">
              <a:lnSpc>
                <a:spcPts val="1745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[4]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=&gt;</a:t>
            </a:r>
            <a:r>
              <a:rPr sz="18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yellow</a:t>
            </a:r>
            <a:endParaRPr sz="1800" dirty="0">
              <a:latin typeface="Courier New"/>
              <a:cs typeface="Courier New"/>
            </a:endParaRPr>
          </a:p>
          <a:p>
            <a:pPr marL="1155700">
              <a:lnSpc>
                <a:spcPts val="196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)</a:t>
            </a:r>
            <a:endParaRPr sz="1800" dirty="0">
              <a:latin typeface="Courier New"/>
              <a:cs typeface="Courier New"/>
            </a:endParaRPr>
          </a:p>
          <a:p>
            <a:pPr marL="561340" indent="-320040">
              <a:lnSpc>
                <a:spcPct val="100000"/>
              </a:lnSpc>
              <a:spcBef>
                <a:spcPts val="40"/>
              </a:spcBef>
              <a:buSzPct val="59615"/>
              <a:buFont typeface="Wingdings"/>
              <a:buChar char=""/>
              <a:tabLst>
                <a:tab pos="560705" algn="l"/>
                <a:tab pos="561340" algn="l"/>
              </a:tabLst>
            </a:pPr>
            <a:r>
              <a:rPr sz="26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Turns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out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all</a:t>
            </a:r>
            <a:r>
              <a:rPr sz="26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arrays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6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390" dirty="0">
                <a:solidFill>
                  <a:srgbClr val="963139"/>
                </a:solidFill>
                <a:latin typeface="Microsoft Sans Serif"/>
                <a:cs typeface="Microsoft Sans Serif"/>
              </a:rPr>
              <a:t>PHP</a:t>
            </a:r>
            <a:r>
              <a:rPr sz="26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are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associative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arrays</a:t>
            </a:r>
            <a:endParaRPr sz="2600" dirty="0">
              <a:latin typeface="Microsoft Sans Serif"/>
              <a:cs typeface="Microsoft Sans Serif"/>
            </a:endParaRPr>
          </a:p>
          <a:p>
            <a:pPr marL="881380" marR="464820" indent="-274320">
              <a:lnSpc>
                <a:spcPts val="2210"/>
              </a:lnSpc>
              <a:spcBef>
                <a:spcPts val="590"/>
              </a:spcBef>
            </a:pPr>
            <a:r>
              <a:rPr sz="16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🞑</a:t>
            </a:r>
            <a:r>
              <a:rPr sz="1600" spc="3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3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3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example</a:t>
            </a:r>
            <a:r>
              <a:rPr sz="23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above,</a:t>
            </a:r>
            <a:r>
              <a:rPr sz="23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keys</a:t>
            </a:r>
            <a:r>
              <a:rPr sz="23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were</a:t>
            </a:r>
            <a:r>
              <a:rPr sz="23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simply</a:t>
            </a:r>
            <a:r>
              <a:rPr sz="23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3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index</a:t>
            </a:r>
            <a:r>
              <a:rPr sz="23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into</a:t>
            </a:r>
            <a:r>
              <a:rPr sz="23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the </a:t>
            </a:r>
            <a:r>
              <a:rPr sz="23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list</a:t>
            </a:r>
            <a:endParaRPr sz="2300" dirty="0">
              <a:latin typeface="Microsoft Sans Serif"/>
              <a:cs typeface="Microsoft Sans Serif"/>
            </a:endParaRPr>
          </a:p>
          <a:p>
            <a:pPr marL="561340" marR="1166495" indent="-320040">
              <a:lnSpc>
                <a:spcPct val="80000"/>
              </a:lnSpc>
              <a:spcBef>
                <a:spcPts val="715"/>
              </a:spcBef>
              <a:buSzPct val="59615"/>
              <a:buFont typeface="Wingdings"/>
              <a:buChar char=""/>
              <a:tabLst>
                <a:tab pos="560705" algn="l"/>
                <a:tab pos="561340" algn="l"/>
              </a:tabLst>
            </a:pPr>
            <a:r>
              <a:rPr sz="26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Ea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6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34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ent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an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ar</a:t>
            </a:r>
            <a:r>
              <a:rPr sz="26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6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ha</a:t>
            </a:r>
            <a:r>
              <a:rPr sz="26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unique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6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6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, 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wh</a:t>
            </a:r>
            <a:r>
              <a:rPr sz="26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ther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ou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specify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it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not.</a:t>
            </a:r>
            <a:endParaRPr sz="2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5622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0" dirty="0"/>
              <a:t>Specifying</a:t>
            </a:r>
            <a:r>
              <a:rPr spc="-10" dirty="0"/>
              <a:t> </a:t>
            </a:r>
            <a:r>
              <a:rPr spc="-265" dirty="0"/>
              <a:t>the</a:t>
            </a:r>
            <a:r>
              <a:rPr spc="10" dirty="0"/>
              <a:t> </a:t>
            </a:r>
            <a:r>
              <a:rPr spc="-85" dirty="0"/>
              <a:t>key/index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613661"/>
            <a:ext cx="8076565" cy="2369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3880" marR="923925" indent="-320040">
              <a:lnSpc>
                <a:spcPct val="100000"/>
              </a:lnSpc>
              <a:spcBef>
                <a:spcPts val="95"/>
              </a:spcBef>
              <a:buSzPct val="58928"/>
              <a:buFont typeface="Wingdings"/>
              <a:buChar char=""/>
              <a:tabLst>
                <a:tab pos="563880" algn="l"/>
                <a:tab pos="564515" algn="l"/>
              </a:tabLst>
            </a:pPr>
            <a:r>
              <a:rPr sz="2800" spc="-420" dirty="0">
                <a:solidFill>
                  <a:srgbClr val="963139"/>
                </a:solidFill>
                <a:latin typeface="Microsoft Sans Serif"/>
                <a:cs typeface="Microsoft Sans Serif"/>
              </a:rPr>
              <a:t>Thu</a:t>
            </a:r>
            <a:r>
              <a:rPr sz="2800" spc="-42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8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can</a:t>
            </a:r>
            <a:r>
              <a:rPr sz="28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8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lis</a:t>
            </a:r>
            <a:r>
              <a:rPr sz="28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8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800" spc="1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eleme</a:t>
            </a:r>
            <a:r>
              <a:rPr sz="28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nts</a:t>
            </a:r>
            <a:r>
              <a:rPr sz="2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with</a:t>
            </a:r>
            <a:r>
              <a:rPr sz="28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8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y  </a:t>
            </a:r>
            <a:r>
              <a:rPr sz="2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arbitrary</a:t>
            </a:r>
            <a:r>
              <a:rPr sz="28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8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index</a:t>
            </a:r>
            <a:endParaRPr sz="2800">
              <a:latin typeface="Microsoft Sans Serif"/>
              <a:cs typeface="Microsoft Sans Serif"/>
            </a:endParaRPr>
          </a:p>
          <a:p>
            <a:pPr marL="884555" marR="372745" indent="-274320">
              <a:lnSpc>
                <a:spcPct val="100000"/>
              </a:lnSpc>
              <a:spcBef>
                <a:spcPts val="610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 </a:t>
            </a:r>
            <a:r>
              <a:rPr sz="26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Using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an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index 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that </a:t>
            </a:r>
            <a:r>
              <a:rPr sz="26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already </a:t>
            </a:r>
            <a:r>
              <a:rPr sz="26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exists</a:t>
            </a:r>
            <a:r>
              <a:rPr sz="26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will 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overwrite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 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value</a:t>
            </a:r>
            <a:endParaRPr sz="2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$colors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array(‘red’,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‘blue’,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‘green’, ‘black’,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‘yellow’);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40690" y="4008306"/>
          <a:ext cx="7721600" cy="80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5580"/>
                <a:gridCol w="273050"/>
                <a:gridCol w="5982970"/>
              </a:tblGrid>
              <a:tr h="266640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$colors[5]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860"/>
                        </a:lnSpc>
                      </a:pP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‘gray’;</a:t>
                      </a:r>
                      <a:r>
                        <a:rPr sz="1800" spc="-2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// the</a:t>
                      </a:r>
                      <a:r>
                        <a:rPr sz="1800" spc="-1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next</a:t>
                      </a:r>
                      <a:r>
                        <a:rPr sz="1800" spc="-3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element</a:t>
                      </a:r>
                      <a:r>
                        <a:rPr sz="1800" spc="-2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1800" spc="-3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gray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1920"/>
                        </a:lnSpc>
                      </a:pP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$colors[8]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80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20"/>
                        </a:lnSpc>
                      </a:pPr>
                      <a:r>
                        <a:rPr sz="180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‘pink’;//</a:t>
                      </a:r>
                      <a:r>
                        <a:rPr sz="1800" spc="-1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800" spc="-3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next</a:t>
                      </a:r>
                      <a:r>
                        <a:rPr sz="1800" spc="-1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index,</a:t>
                      </a:r>
                      <a:r>
                        <a:rPr sz="1800" spc="-1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works</a:t>
                      </a: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anyways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66640">
                <a:tc>
                  <a:txBody>
                    <a:bodyPr/>
                    <a:lstStyle/>
                    <a:p>
                      <a:pPr marL="31750">
                        <a:lnSpc>
                          <a:spcPts val="1920"/>
                        </a:lnSpc>
                      </a:pP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$colors[7]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sz="180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20"/>
                        </a:lnSpc>
                      </a:pP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‘orange’</a:t>
                      </a:r>
                      <a:r>
                        <a:rPr sz="1800" spc="-3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1800" spc="-2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out</a:t>
                      </a: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of</a:t>
                      </a:r>
                      <a:r>
                        <a:rPr sz="1800" spc="-2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order</a:t>
                      </a:r>
                      <a:r>
                        <a:rPr sz="1800" spc="-1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works</a:t>
                      </a:r>
                      <a:r>
                        <a:rPr sz="1800" spc="-3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sz="1800" spc="-15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963139"/>
                          </a:solidFill>
                          <a:latin typeface="Courier New"/>
                          <a:cs typeface="Courier New"/>
                        </a:rPr>
                        <a:t>well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33375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Array</a:t>
            </a:r>
            <a:r>
              <a:rPr spc="-15" dirty="0"/>
              <a:t> </a:t>
            </a:r>
            <a:r>
              <a:rPr spc="-32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13662"/>
            <a:ext cx="7992745" cy="4563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SzPct val="6052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1900" spc="-5" dirty="0">
                <a:solidFill>
                  <a:srgbClr val="963139"/>
                </a:solidFill>
                <a:latin typeface="Courier New"/>
                <a:cs typeface="Courier New"/>
              </a:rPr>
              <a:t>isset($array_name[$key_value])</a:t>
            </a:r>
            <a:r>
              <a:rPr sz="1900" spc="-5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6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tells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whether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mapping </a:t>
            </a:r>
            <a:r>
              <a:rPr sz="2600" spc="-67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x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sts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no</a:t>
            </a:r>
            <a:r>
              <a:rPr sz="26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-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null</a:t>
            </a:r>
            <a:endParaRPr sz="2600" dirty="0">
              <a:latin typeface="Microsoft Sans Serif"/>
              <a:cs typeface="Microsoft Sans Serif"/>
            </a:endParaRPr>
          </a:p>
          <a:p>
            <a:pPr marL="332740" marR="248285" indent="-320040">
              <a:lnSpc>
                <a:spcPct val="100000"/>
              </a:lnSpc>
              <a:spcBef>
                <a:spcPts val="710"/>
              </a:spcBef>
              <a:buSzPct val="6052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1900" spc="-5" dirty="0">
                <a:solidFill>
                  <a:srgbClr val="963139"/>
                </a:solidFill>
                <a:latin typeface="Courier New"/>
                <a:cs typeface="Courier New"/>
              </a:rPr>
              <a:t>unset($array_nam</a:t>
            </a:r>
            <a:r>
              <a:rPr sz="1900" spc="-15" dirty="0">
                <a:solidFill>
                  <a:srgbClr val="963139"/>
                </a:solidFill>
                <a:latin typeface="Courier New"/>
                <a:cs typeface="Courier New"/>
              </a:rPr>
              <a:t>e</a:t>
            </a:r>
            <a:r>
              <a:rPr sz="1900" spc="-5" dirty="0">
                <a:solidFill>
                  <a:srgbClr val="963139"/>
                </a:solidFill>
                <a:latin typeface="Courier New"/>
                <a:cs typeface="Courier New"/>
              </a:rPr>
              <a:t>[$</a:t>
            </a:r>
            <a:r>
              <a:rPr sz="1900" spc="-10" dirty="0">
                <a:solidFill>
                  <a:srgbClr val="963139"/>
                </a:solidFill>
                <a:latin typeface="Courier New"/>
                <a:cs typeface="Courier New"/>
              </a:rPr>
              <a:t>key_value</a:t>
            </a:r>
            <a:r>
              <a:rPr sz="1900" spc="-5" dirty="0">
                <a:solidFill>
                  <a:srgbClr val="963139"/>
                </a:solidFill>
                <a:latin typeface="Courier New"/>
                <a:cs typeface="Courier New"/>
              </a:rPr>
              <a:t>])</a:t>
            </a:r>
            <a:r>
              <a:rPr sz="19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6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rem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es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6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-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ue  </a:t>
            </a:r>
            <a:r>
              <a:rPr sz="2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mapping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associated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with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900" spc="-5" dirty="0">
                <a:solidFill>
                  <a:srgbClr val="963139"/>
                </a:solidFill>
                <a:latin typeface="Courier New"/>
                <a:cs typeface="Courier New"/>
              </a:rPr>
              <a:t>$key_value</a:t>
            </a:r>
            <a:r>
              <a:rPr sz="1900" spc="-4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6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array</a:t>
            </a:r>
            <a:endParaRPr sz="2600" dirty="0">
              <a:latin typeface="Microsoft Sans Serif"/>
              <a:cs typeface="Microsoft Sans Serif"/>
            </a:endParaRPr>
          </a:p>
          <a:p>
            <a:pPr marL="652780" marR="419734" indent="-274320">
              <a:lnSpc>
                <a:spcPct val="100000"/>
              </a:lnSpc>
              <a:spcBef>
                <a:spcPts val="605"/>
              </a:spcBef>
            </a:pPr>
            <a:r>
              <a:rPr sz="1650" spc="-4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650" spc="-4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-28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4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900" spc="-5" dirty="0">
                <a:solidFill>
                  <a:srgbClr val="963139"/>
                </a:solidFill>
                <a:latin typeface="Courier New"/>
                <a:cs typeface="Courier New"/>
              </a:rPr>
              <a:t>unset() </a:t>
            </a:r>
            <a:r>
              <a:rPr sz="24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does</a:t>
            </a:r>
            <a:r>
              <a:rPr sz="24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not</a:t>
            </a:r>
            <a:r>
              <a:rPr sz="24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“re-index” </a:t>
            </a:r>
            <a:r>
              <a:rPr sz="24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and </a:t>
            </a:r>
            <a:r>
              <a:rPr sz="24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will </a:t>
            </a:r>
            <a:r>
              <a:rPr sz="24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leave </a:t>
            </a:r>
            <a:r>
              <a:rPr sz="24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gaps</a:t>
            </a:r>
            <a:r>
              <a:rPr sz="24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4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4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indices</a:t>
            </a:r>
            <a:r>
              <a:rPr sz="24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 </a:t>
            </a:r>
            <a:r>
              <a:rPr sz="24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 </a:t>
            </a:r>
            <a:r>
              <a:rPr sz="24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list </a:t>
            </a:r>
            <a:r>
              <a:rPr sz="24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 </a:t>
            </a:r>
            <a:r>
              <a:rPr sz="24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elements</a:t>
            </a:r>
            <a:r>
              <a:rPr sz="24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since</a:t>
            </a:r>
            <a:r>
              <a:rPr sz="24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it 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simply </a:t>
            </a:r>
            <a:r>
              <a:rPr sz="24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remo</a:t>
            </a:r>
            <a:r>
              <a:rPr sz="24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4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es</a:t>
            </a:r>
            <a:r>
              <a:rPr sz="24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4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400" dirty="0">
                <a:solidFill>
                  <a:srgbClr val="963139"/>
                </a:solidFill>
                <a:latin typeface="Microsoft Sans Serif"/>
                <a:cs typeface="Microsoft Sans Serif"/>
              </a:rPr>
              <a:t>y-</a:t>
            </a:r>
            <a:r>
              <a:rPr sz="24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4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alue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4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4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ir</a:t>
            </a:r>
            <a:r>
              <a:rPr sz="24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4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without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tou</a:t>
            </a:r>
            <a:r>
              <a:rPr sz="24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4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hi</a:t>
            </a:r>
            <a:r>
              <a:rPr sz="24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4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4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4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40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other  </a:t>
            </a:r>
            <a:r>
              <a:rPr sz="24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elements</a:t>
            </a:r>
            <a:endParaRPr sz="2400" dirty="0">
              <a:latin typeface="Microsoft Sans Serif"/>
              <a:cs typeface="Microsoft Sans Serif"/>
            </a:endParaRPr>
          </a:p>
          <a:p>
            <a:pPr marL="332740" marR="55244" indent="-320040">
              <a:lnSpc>
                <a:spcPct val="100000"/>
              </a:lnSpc>
              <a:spcBef>
                <a:spcPts val="685"/>
              </a:spcBef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array_keys($array_name) </a:t>
            </a:r>
            <a:r>
              <a:rPr sz="27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and </a:t>
            </a:r>
            <a:r>
              <a:rPr sz="27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array_values($array_name)</a:t>
            </a:r>
            <a:r>
              <a:rPr sz="2000" spc="-4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7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returns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lists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700" spc="114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7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keys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and </a:t>
            </a:r>
            <a:r>
              <a:rPr sz="2700" spc="-7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values</a:t>
            </a:r>
            <a:r>
              <a:rPr sz="27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700" spc="1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array</a:t>
            </a:r>
            <a:endParaRPr sz="27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72643"/>
            <a:ext cx="7893684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spc="-140" dirty="0"/>
              <a:t>Adding</a:t>
            </a:r>
            <a:r>
              <a:rPr sz="4000" spc="55" dirty="0"/>
              <a:t> </a:t>
            </a:r>
            <a:r>
              <a:rPr sz="4000" spc="-145" dirty="0"/>
              <a:t>el</a:t>
            </a:r>
            <a:r>
              <a:rPr sz="4000" spc="-200" dirty="0"/>
              <a:t>e</a:t>
            </a:r>
            <a:r>
              <a:rPr sz="4000" spc="-415" dirty="0"/>
              <a:t>ments</a:t>
            </a:r>
            <a:r>
              <a:rPr sz="4000" spc="40" dirty="0"/>
              <a:t> </a:t>
            </a:r>
            <a:r>
              <a:rPr sz="4000" spc="-215" dirty="0"/>
              <a:t>without</a:t>
            </a:r>
            <a:r>
              <a:rPr sz="4000" spc="40" dirty="0"/>
              <a:t> </a:t>
            </a:r>
            <a:r>
              <a:rPr sz="4000" spc="-300" dirty="0"/>
              <a:t>sp</a:t>
            </a:r>
            <a:r>
              <a:rPr sz="4000" spc="-315" dirty="0"/>
              <a:t>e</a:t>
            </a:r>
            <a:r>
              <a:rPr sz="4000" spc="-120" dirty="0"/>
              <a:t>cifying</a:t>
            </a:r>
            <a:r>
              <a:rPr sz="4000" spc="40" dirty="0"/>
              <a:t> </a:t>
            </a:r>
            <a:r>
              <a:rPr sz="4000" spc="-204" dirty="0"/>
              <a:t>the  </a:t>
            </a:r>
            <a:r>
              <a:rPr sz="4000" spc="-240" dirty="0"/>
              <a:t>key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91387" y="1555749"/>
            <a:ext cx="7898130" cy="452120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32740" marR="655320" indent="-320040">
              <a:lnSpc>
                <a:spcPct val="80000"/>
              </a:lnSpc>
              <a:spcBef>
                <a:spcPts val="620"/>
              </a:spcBef>
              <a:buSzPct val="5909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200" spc="-55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2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ecall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that</a:t>
            </a:r>
            <a:r>
              <a:rPr sz="22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2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did</a:t>
            </a:r>
            <a:r>
              <a:rPr sz="22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not</a:t>
            </a:r>
            <a:r>
              <a:rPr sz="22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37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2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pecify</a:t>
            </a:r>
            <a:r>
              <a:rPr sz="2200" spc="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2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2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2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2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when</a:t>
            </a:r>
            <a:r>
              <a:rPr sz="22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adding</a:t>
            </a:r>
            <a:r>
              <a:rPr sz="22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lis</a:t>
            </a:r>
            <a:r>
              <a:rPr sz="22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200" spc="5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  </a:t>
            </a:r>
            <a:r>
              <a:rPr sz="22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elements:</a:t>
            </a:r>
            <a:endParaRPr sz="2200">
              <a:latin typeface="Microsoft Sans Serif"/>
              <a:cs typeface="Microsoft Sans Serif"/>
            </a:endParaRPr>
          </a:p>
          <a:p>
            <a:pPr marL="509905" algn="ctr">
              <a:lnSpc>
                <a:spcPts val="1950"/>
              </a:lnSpc>
              <a:spcBef>
                <a:spcPts val="33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$colors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array('red',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'blue',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'green',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'black',</a:t>
            </a:r>
            <a:endParaRPr sz="1800">
              <a:latin typeface="Courier New"/>
              <a:cs typeface="Courier New"/>
            </a:endParaRPr>
          </a:p>
          <a:p>
            <a:pPr marL="810895" algn="ctr">
              <a:lnSpc>
                <a:spcPts val="195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'yellow');</a:t>
            </a:r>
            <a:endParaRPr sz="1800">
              <a:latin typeface="Courier New"/>
              <a:cs typeface="Courier New"/>
            </a:endParaRPr>
          </a:p>
          <a:p>
            <a:pPr marR="3166110" algn="ctr">
              <a:lnSpc>
                <a:spcPct val="100000"/>
              </a:lnSpc>
              <a:spcBef>
                <a:spcPts val="16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$colors[]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'purple';</a:t>
            </a:r>
            <a:endParaRPr sz="1800">
              <a:latin typeface="Courier New"/>
              <a:cs typeface="Courier New"/>
            </a:endParaRPr>
          </a:p>
          <a:p>
            <a:pPr marL="332740" marR="146050" indent="-320040">
              <a:lnSpc>
                <a:spcPct val="80000"/>
              </a:lnSpc>
              <a:spcBef>
                <a:spcPts val="720"/>
              </a:spcBef>
              <a:buSzPct val="5909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200" spc="-335" dirty="0">
                <a:solidFill>
                  <a:srgbClr val="963139"/>
                </a:solidFill>
                <a:latin typeface="Microsoft Sans Serif"/>
                <a:cs typeface="Microsoft Sans Serif"/>
              </a:rPr>
              <a:t>PHP</a:t>
            </a:r>
            <a:r>
              <a:rPr sz="22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automatically</a:t>
            </a:r>
            <a:r>
              <a:rPr sz="2200" spc="5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takes</a:t>
            </a:r>
            <a:r>
              <a:rPr sz="22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2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largest</a:t>
            </a:r>
            <a:r>
              <a:rPr sz="22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integer</a:t>
            </a:r>
            <a:r>
              <a:rPr sz="22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key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that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has</a:t>
            </a:r>
            <a:r>
              <a:rPr sz="22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ever</a:t>
            </a:r>
            <a:r>
              <a:rPr sz="22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been </a:t>
            </a:r>
            <a:r>
              <a:rPr sz="2200" spc="-57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2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2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ar</a:t>
            </a:r>
            <a:r>
              <a:rPr sz="22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2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2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2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2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2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adds</a:t>
            </a:r>
            <a:r>
              <a:rPr sz="22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1</a:t>
            </a:r>
            <a:r>
              <a:rPr sz="22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2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2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et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2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he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2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2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2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2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2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endParaRPr sz="2200">
              <a:latin typeface="Microsoft Sans Serif"/>
              <a:cs typeface="Microsoft Sans Serif"/>
            </a:endParaRPr>
          </a:p>
          <a:p>
            <a:pPr marL="378460">
              <a:lnSpc>
                <a:spcPts val="1945"/>
              </a:lnSpc>
              <a:spcBef>
                <a:spcPts val="16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$favorite_colors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array(“Joe”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=&gt;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“blue”,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“Elena”</a:t>
            </a:r>
            <a:endParaRPr sz="1800">
              <a:latin typeface="Courier New"/>
              <a:cs typeface="Courier New"/>
            </a:endParaRPr>
          </a:p>
          <a:p>
            <a:pPr marL="927100" marR="1229360">
              <a:lnSpc>
                <a:spcPct val="80000"/>
              </a:lnSpc>
              <a:spcBef>
                <a:spcPts val="215"/>
              </a:spcBef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=&gt;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“green”, “Mark”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=&gt;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“brown”, “Adrian” =&gt; </a:t>
            </a:r>
            <a:r>
              <a:rPr sz="1800" spc="-10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“black”,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“Charles”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=&gt;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“red”);</a:t>
            </a:r>
            <a:endParaRPr sz="18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7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$favorite_colors[]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'new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color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1';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key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800" spc="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6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$favorite_colors[7]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'another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new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color';</a:t>
            </a:r>
            <a:endParaRPr sz="18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70"/>
              </a:spcBef>
              <a:tabLst>
                <a:tab pos="6246495" algn="l"/>
              </a:tabLst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$favorite_colors[]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 =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'yet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another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color';	//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key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8</a:t>
            </a:r>
            <a:endParaRPr sz="18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7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unset($favorite_colors[8]);</a:t>
            </a:r>
            <a:endParaRPr sz="1800">
              <a:latin typeface="Courier New"/>
              <a:cs typeface="Courier New"/>
            </a:endParaRPr>
          </a:p>
          <a:p>
            <a:pPr marL="378460">
              <a:lnSpc>
                <a:spcPts val="1945"/>
              </a:lnSpc>
              <a:spcBef>
                <a:spcPts val="16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$favorite_colors[]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'color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nine';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key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9,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the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old</a:t>
            </a:r>
            <a:endParaRPr sz="1800">
              <a:latin typeface="Courier New"/>
              <a:cs typeface="Courier New"/>
            </a:endParaRPr>
          </a:p>
          <a:p>
            <a:pPr marL="927100">
              <a:lnSpc>
                <a:spcPts val="1945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maximum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8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even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though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it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no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longer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exists!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39687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9" dirty="0"/>
              <a:t>The</a:t>
            </a:r>
            <a:r>
              <a:rPr spc="25" dirty="0"/>
              <a:t> </a:t>
            </a:r>
            <a:r>
              <a:rPr spc="150" dirty="0"/>
              <a:t>f</a:t>
            </a:r>
            <a:r>
              <a:rPr spc="-245" dirty="0"/>
              <a:t>o</a:t>
            </a:r>
            <a:r>
              <a:rPr spc="-130" dirty="0"/>
              <a:t>r</a:t>
            </a:r>
            <a:r>
              <a:rPr spc="-5" dirty="0"/>
              <a:t>-</a:t>
            </a:r>
            <a:r>
              <a:rPr spc="-265" dirty="0"/>
              <a:t>ea</a:t>
            </a:r>
            <a:r>
              <a:rPr spc="-75" dirty="0"/>
              <a:t>c</a:t>
            </a:r>
            <a:r>
              <a:rPr spc="-520" dirty="0"/>
              <a:t>h</a:t>
            </a:r>
            <a:r>
              <a:rPr spc="5" dirty="0"/>
              <a:t> </a:t>
            </a:r>
            <a:r>
              <a:rPr spc="-145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612138"/>
            <a:ext cx="8037195" cy="49789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1480" marR="162560" indent="-320040">
              <a:lnSpc>
                <a:spcPct val="100000"/>
              </a:lnSpc>
              <a:spcBef>
                <a:spcPts val="105"/>
              </a:spcBef>
              <a:buSzPct val="60344"/>
              <a:buFont typeface="Wingdings"/>
              <a:buChar char=""/>
              <a:tabLst>
                <a:tab pos="412115" algn="l"/>
              </a:tabLst>
            </a:pPr>
            <a:r>
              <a:rPr sz="2900" spc="-33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10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9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-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ea</a:t>
            </a:r>
            <a:r>
              <a:rPr sz="29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900" spc="-34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loop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all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ow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9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ea</a:t>
            </a:r>
            <a:r>
              <a:rPr sz="29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ite</a:t>
            </a:r>
            <a:r>
              <a:rPr sz="29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io</a:t>
            </a:r>
            <a:r>
              <a:rPr sz="29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er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all 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ele</a:t>
            </a:r>
            <a:r>
              <a:rPr sz="2900" spc="-325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ents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9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an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ar</a:t>
            </a:r>
            <a:r>
              <a:rPr sz="29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.</a:t>
            </a:r>
            <a:endParaRPr sz="2900" dirty="0">
              <a:latin typeface="Microsoft Sans Serif"/>
              <a:cs typeface="Microsoft Sans Serif"/>
            </a:endParaRPr>
          </a:p>
          <a:p>
            <a:pPr marL="927100" marR="3510915" indent="-915035">
              <a:lnSpc>
                <a:spcPct val="100000"/>
              </a:lnSpc>
              <a:spcBef>
                <a:spcPts val="139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foreach ($</a:t>
            </a:r>
            <a:r>
              <a:rPr sz="1800" i="1" spc="-10" dirty="0">
                <a:solidFill>
                  <a:srgbClr val="963139"/>
                </a:solidFill>
                <a:latin typeface="Courier New"/>
                <a:cs typeface="Courier New"/>
              </a:rPr>
              <a:t>array_name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as $value)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 </a:t>
            </a:r>
            <a:r>
              <a:rPr sz="1800" spc="-10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code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here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foreach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($</a:t>
            </a:r>
            <a:r>
              <a:rPr sz="1800" i="1" spc="-10" dirty="0">
                <a:solidFill>
                  <a:srgbClr val="963139"/>
                </a:solidFill>
                <a:latin typeface="Courier New"/>
                <a:cs typeface="Courier New"/>
              </a:rPr>
              <a:t>array_name</a:t>
            </a:r>
            <a:r>
              <a:rPr sz="1800" i="1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as $key =&gt;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$value)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code</a:t>
            </a:r>
            <a:r>
              <a:rPr sz="1800" spc="-6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here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foreach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($colors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as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$color)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$color;</a:t>
            </a:r>
            <a:r>
              <a:rPr sz="1800" spc="4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simply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prints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each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color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foreach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($colors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as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$number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=&gt;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 smtClean="0">
                <a:solidFill>
                  <a:srgbClr val="963139"/>
                </a:solidFill>
                <a:latin typeface="Courier New"/>
                <a:cs typeface="Courier New"/>
              </a:rPr>
              <a:t>color</a:t>
            </a:r>
            <a:r>
              <a:rPr lang="en-US" sz="1800" spc="-10" dirty="0" smtClean="0">
                <a:solidFill>
                  <a:srgbClr val="963139"/>
                </a:solidFill>
                <a:latin typeface="Courier New"/>
                <a:cs typeface="Courier New"/>
              </a:rPr>
              <a:t>[]</a:t>
            </a:r>
            <a:r>
              <a:rPr sz="1800" spc="-10" dirty="0" smtClean="0">
                <a:solidFill>
                  <a:srgbClr val="963139"/>
                </a:solidFill>
                <a:latin typeface="Courier New"/>
                <a:cs typeface="Courier New"/>
              </a:rPr>
              <a:t>)</a:t>
            </a:r>
            <a:r>
              <a:rPr sz="1800" spc="-20" dirty="0" smtClean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“$number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=&gt;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$color”;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prints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color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with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index</a:t>
            </a:r>
            <a:endParaRPr sz="1800" dirty="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to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change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an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element:</a:t>
            </a:r>
            <a:endParaRPr sz="1800" dirty="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$colors[$number]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$new_color;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53328"/>
            <a:ext cx="2240280" cy="713740"/>
          </a:xfrm>
          <a:custGeom>
            <a:avLst/>
            <a:gdLst/>
            <a:ahLst/>
            <a:cxnLst/>
            <a:rect l="l" t="t" r="r" b="b"/>
            <a:pathLst>
              <a:path w="2240280" h="713740">
                <a:moveTo>
                  <a:pt x="2240280" y="0"/>
                </a:moveTo>
                <a:lnTo>
                  <a:pt x="0" y="0"/>
                </a:lnTo>
                <a:lnTo>
                  <a:pt x="0" y="713232"/>
                </a:lnTo>
                <a:lnTo>
                  <a:pt x="2240280" y="713232"/>
                </a:lnTo>
                <a:lnTo>
                  <a:pt x="2240280" y="0"/>
                </a:lnTo>
                <a:close/>
              </a:path>
            </a:pathLst>
          </a:custGeom>
          <a:solidFill>
            <a:srgbClr val="9631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59151" y="6044184"/>
            <a:ext cx="6784975" cy="713740"/>
          </a:xfrm>
          <a:custGeom>
            <a:avLst/>
            <a:gdLst/>
            <a:ahLst/>
            <a:cxnLst/>
            <a:rect l="l" t="t" r="r" b="b"/>
            <a:pathLst>
              <a:path w="6784975" h="713740">
                <a:moveTo>
                  <a:pt x="6784848" y="0"/>
                </a:moveTo>
                <a:lnTo>
                  <a:pt x="0" y="0"/>
                </a:lnTo>
                <a:lnTo>
                  <a:pt x="0" y="713231"/>
                </a:lnTo>
                <a:lnTo>
                  <a:pt x="6784848" y="713231"/>
                </a:lnTo>
                <a:lnTo>
                  <a:pt x="6784848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09465" y="1616709"/>
            <a:ext cx="9226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65" dirty="0"/>
              <a:t>PHP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21076" y="2632075"/>
            <a:ext cx="41014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05" dirty="0">
                <a:solidFill>
                  <a:srgbClr val="963139"/>
                </a:solidFill>
                <a:latin typeface="Microsoft Sans Serif"/>
                <a:cs typeface="Microsoft Sans Serif"/>
              </a:rPr>
              <a:t>HTTP</a:t>
            </a:r>
            <a:r>
              <a:rPr sz="3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80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3200" spc="-265" dirty="0">
                <a:solidFill>
                  <a:srgbClr val="963139"/>
                </a:solidFill>
                <a:latin typeface="Microsoft Sans Serif"/>
                <a:cs typeface="Microsoft Sans Serif"/>
              </a:rPr>
              <a:t>equests</a:t>
            </a:r>
            <a:r>
              <a:rPr sz="32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32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59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32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32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3200" spc="-535" dirty="0">
                <a:solidFill>
                  <a:srgbClr val="963139"/>
                </a:solidFill>
                <a:latin typeface="Microsoft Sans Serif"/>
                <a:cs typeface="Microsoft Sans Serif"/>
              </a:rPr>
              <a:t>ms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29597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45" dirty="0"/>
              <a:t>Superg</a:t>
            </a:r>
            <a:r>
              <a:rPr spc="-120" dirty="0"/>
              <a:t>l</a:t>
            </a:r>
            <a:r>
              <a:rPr spc="-95" dirty="0"/>
              <a:t>oba</a:t>
            </a:r>
            <a:r>
              <a:rPr spc="-60" dirty="0"/>
              <a:t>l</a:t>
            </a:r>
            <a:r>
              <a:rPr spc="-73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12138"/>
            <a:ext cx="7836534" cy="4230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1021080" indent="-320040">
              <a:lnSpc>
                <a:spcPct val="100000"/>
              </a:lnSpc>
              <a:spcBef>
                <a:spcPts val="10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9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speci</a:t>
            </a:r>
            <a:r>
              <a:rPr sz="29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socia</a:t>
            </a:r>
            <a:r>
              <a:rPr sz="29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9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ys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th</a:t>
            </a:r>
            <a:r>
              <a:rPr sz="29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can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be  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accessed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7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om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yw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9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ere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900" spc="-34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9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900" spc="-44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900" spc="-484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file</a:t>
            </a:r>
            <a:endParaRPr sz="29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Always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$_ALLCAPS</a:t>
            </a:r>
            <a:endParaRPr sz="2900">
              <a:latin typeface="Microsoft Sans Serif"/>
              <a:cs typeface="Microsoft Sans Serif"/>
            </a:endParaRPr>
          </a:p>
          <a:p>
            <a:pPr marL="332740" marR="5080" indent="-320040">
              <a:lnSpc>
                <a:spcPct val="100000"/>
              </a:lnSpc>
              <a:spcBef>
                <a:spcPts val="71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33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440" dirty="0">
                <a:solidFill>
                  <a:srgbClr val="963139"/>
                </a:solidFill>
                <a:latin typeface="Microsoft Sans Serif"/>
                <a:cs typeface="Microsoft Sans Serif"/>
              </a:rPr>
              <a:t>$_SERVER</a:t>
            </a:r>
            <a:r>
              <a:rPr sz="29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superglobal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gives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information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about </a:t>
            </a:r>
            <a:r>
              <a:rPr sz="2900" spc="-76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client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25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335" dirty="0">
                <a:solidFill>
                  <a:srgbClr val="963139"/>
                </a:solidFill>
                <a:latin typeface="Microsoft Sans Serif"/>
                <a:cs typeface="Microsoft Sans Serif"/>
              </a:rPr>
              <a:t>$_SERVER[‘SERVER_ADDR’]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963139"/>
                </a:solidFill>
                <a:latin typeface="Wingdings"/>
                <a:cs typeface="Wingdings"/>
              </a:rPr>
              <a:t></a:t>
            </a:r>
            <a:r>
              <a:rPr sz="2600" spc="70" dirty="0">
                <a:solidFill>
                  <a:srgbClr val="963139"/>
                </a:solidFill>
                <a:latin typeface="Times New Roman"/>
                <a:cs typeface="Times New Roman"/>
              </a:rPr>
              <a:t> </a:t>
            </a:r>
            <a:r>
              <a:rPr sz="2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IP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00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$</a:t>
            </a:r>
            <a:r>
              <a:rPr sz="26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_</a:t>
            </a:r>
            <a:r>
              <a:rPr sz="2600" spc="-520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600" spc="-60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VER[‘RE</a:t>
            </a:r>
            <a:r>
              <a:rPr sz="2600" spc="-484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TE_</a:t>
            </a:r>
            <a:r>
              <a:rPr sz="2600" spc="-37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-365" dirty="0">
                <a:solidFill>
                  <a:srgbClr val="963139"/>
                </a:solidFill>
                <a:latin typeface="Microsoft Sans Serif"/>
                <a:cs typeface="Microsoft Sans Serif"/>
              </a:rPr>
              <a:t>DDR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’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]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963139"/>
                </a:solidFill>
                <a:latin typeface="Wingdings"/>
                <a:cs typeface="Wingdings"/>
              </a:rPr>
              <a:t></a:t>
            </a:r>
            <a:r>
              <a:rPr sz="2600" spc="65" dirty="0">
                <a:solidFill>
                  <a:srgbClr val="963139"/>
                </a:solidFill>
                <a:latin typeface="Times New Roman"/>
                <a:cs typeface="Times New Roman"/>
              </a:rPr>
              <a:t> </a:t>
            </a:r>
            <a:r>
              <a:rPr sz="26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cli</a:t>
            </a:r>
            <a:r>
              <a:rPr sz="26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nt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IP</a:t>
            </a:r>
            <a:endParaRPr sz="2600">
              <a:latin typeface="Microsoft Sans Serif"/>
              <a:cs typeface="Microsoft Sans Serif"/>
            </a:endParaRPr>
          </a:p>
          <a:p>
            <a:pPr marL="652780" marR="626745" indent="-274320">
              <a:lnSpc>
                <a:spcPct val="100000"/>
              </a:lnSpc>
              <a:spcBef>
                <a:spcPts val="600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$</a:t>
            </a:r>
            <a:r>
              <a:rPr sz="26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_</a:t>
            </a:r>
            <a:r>
              <a:rPr sz="2600" spc="-520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600" spc="-60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VER[‘HTTP</a:t>
            </a:r>
            <a:r>
              <a:rPr sz="26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_</a:t>
            </a:r>
            <a:r>
              <a:rPr sz="2600" spc="-370" dirty="0">
                <a:solidFill>
                  <a:srgbClr val="963139"/>
                </a:solidFill>
                <a:latin typeface="Microsoft Sans Serif"/>
                <a:cs typeface="Microsoft Sans Serif"/>
              </a:rPr>
              <a:t>USER_</a:t>
            </a:r>
            <a:r>
              <a:rPr sz="2600" spc="-45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GE</a:t>
            </a:r>
            <a:r>
              <a:rPr sz="2600" spc="-26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T’]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963139"/>
                </a:solidFill>
                <a:latin typeface="Wingdings"/>
                <a:cs typeface="Wingdings"/>
              </a:rPr>
              <a:t></a:t>
            </a:r>
            <a:r>
              <a:rPr sz="2600" spc="60" dirty="0">
                <a:solidFill>
                  <a:srgbClr val="963139"/>
                </a:solidFill>
                <a:latin typeface="Times New Roman"/>
                <a:cs typeface="Times New Roman"/>
              </a:rPr>
              <a:t> </a:t>
            </a:r>
            <a:r>
              <a:rPr sz="26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cli</a:t>
            </a:r>
            <a:r>
              <a:rPr sz="26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nt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OS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and  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browser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7216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94" dirty="0"/>
              <a:t>P</a:t>
            </a:r>
            <a:r>
              <a:rPr spc="-505" dirty="0"/>
              <a:t>as</a:t>
            </a:r>
            <a:r>
              <a:rPr spc="-495" dirty="0"/>
              <a:t>s</a:t>
            </a:r>
            <a:r>
              <a:rPr spc="-175" dirty="0"/>
              <a:t>in</a:t>
            </a:r>
            <a:r>
              <a:rPr spc="-240" dirty="0"/>
              <a:t>g</a:t>
            </a:r>
            <a:r>
              <a:rPr spc="15" dirty="0"/>
              <a:t> </a:t>
            </a:r>
            <a:r>
              <a:rPr spc="-120" dirty="0"/>
              <a:t>in</a:t>
            </a:r>
            <a:r>
              <a:rPr spc="-180" dirty="0"/>
              <a:t>f</a:t>
            </a:r>
            <a:r>
              <a:rPr spc="-155" dirty="0"/>
              <a:t>o</a:t>
            </a:r>
            <a:r>
              <a:rPr spc="-20" dirty="0"/>
              <a:t>r</a:t>
            </a:r>
            <a:r>
              <a:rPr spc="-240" dirty="0"/>
              <a:t>mat</a:t>
            </a:r>
            <a:r>
              <a:rPr spc="-120" dirty="0"/>
              <a:t>i</a:t>
            </a:r>
            <a:r>
              <a:rPr spc="-385" dirty="0"/>
              <a:t>on</a:t>
            </a:r>
            <a:r>
              <a:rPr spc="10" dirty="0"/>
              <a:t> </a:t>
            </a:r>
            <a:r>
              <a:rPr spc="-140" dirty="0"/>
              <a:t>to</a:t>
            </a:r>
            <a:r>
              <a:rPr spc="45" dirty="0"/>
              <a:t> </a:t>
            </a:r>
            <a:r>
              <a:rPr spc="-265" dirty="0"/>
              <a:t>the</a:t>
            </a:r>
            <a:r>
              <a:rPr spc="25" dirty="0"/>
              <a:t> </a:t>
            </a:r>
            <a:r>
              <a:rPr spc="-375" dirty="0"/>
              <a:t>se</a:t>
            </a:r>
            <a:r>
              <a:rPr spc="-65" dirty="0"/>
              <a:t>r</a:t>
            </a:r>
            <a:r>
              <a:rPr spc="-360" dirty="0"/>
              <a:t>v</a:t>
            </a:r>
            <a:r>
              <a:rPr spc="-125" dirty="0"/>
              <a:t>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567941"/>
            <a:ext cx="7937500" cy="420433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32740" marR="62230" indent="-320040">
              <a:lnSpc>
                <a:spcPts val="3140"/>
              </a:lnSpc>
              <a:spcBef>
                <a:spcPts val="49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80" dirty="0">
                <a:solidFill>
                  <a:srgbClr val="963139"/>
                </a:solidFill>
                <a:latin typeface="Microsoft Sans Serif"/>
                <a:cs typeface="Microsoft Sans Serif"/>
              </a:rPr>
              <a:t>Sometime</a:t>
            </a:r>
            <a:r>
              <a:rPr sz="29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re</a:t>
            </a:r>
            <a:r>
              <a:rPr sz="29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q</a:t>
            </a: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uire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9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di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iona</a:t>
            </a:r>
            <a:r>
              <a:rPr sz="29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alues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be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pa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sed  </a:t>
            </a: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from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client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245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Login: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use</a:t>
            </a:r>
            <a:r>
              <a:rPr sz="2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name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pas</a:t>
            </a:r>
            <a:r>
              <a:rPr sz="26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6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ord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290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47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43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6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ma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be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stor</a:t>
            </a:r>
            <a:r>
              <a:rPr sz="26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6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er</a:t>
            </a:r>
            <a:endParaRPr sz="26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33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395" dirty="0">
                <a:solidFill>
                  <a:srgbClr val="963139"/>
                </a:solidFill>
                <a:latin typeface="Microsoft Sans Serif"/>
                <a:cs typeface="Microsoft Sans Serif"/>
              </a:rPr>
              <a:t>GET</a:t>
            </a:r>
            <a:r>
              <a:rPr sz="2900" spc="-3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request: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pass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information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via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495" dirty="0">
                <a:solidFill>
                  <a:srgbClr val="963139"/>
                </a:solidFill>
                <a:latin typeface="Microsoft Sans Serif"/>
                <a:cs typeface="Microsoft Sans Serif"/>
              </a:rPr>
              <a:t>URL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ts val="2965"/>
              </a:lnSpc>
              <a:spcBef>
                <a:spcPts val="315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4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u="heavy" spc="-9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Microsoft Sans Serif"/>
                <a:cs typeface="Microsoft Sans Serif"/>
                <a:hlinkClick r:id="rId2"/>
              </a:rPr>
              <a:t>http://www.yourdomain.com/yourpage.php?firstparam</a:t>
            </a:r>
            <a:endParaRPr sz="2600">
              <a:latin typeface="Microsoft Sans Serif"/>
              <a:cs typeface="Microsoft Sans Serif"/>
            </a:endParaRPr>
          </a:p>
          <a:p>
            <a:pPr marL="652780">
              <a:lnSpc>
                <a:spcPts val="2965"/>
              </a:lnSpc>
            </a:pPr>
            <a:r>
              <a:rPr sz="2600" u="heavy" spc="-13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Microsoft Sans Serif"/>
                <a:cs typeface="Microsoft Sans Serif"/>
                <a:hlinkClick r:id="rId2"/>
              </a:rPr>
              <a:t>=firstvalue&amp;secondparam=secondvalue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290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Ac</a:t>
            </a:r>
            <a:r>
              <a:rPr sz="26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600" spc="-340" dirty="0">
                <a:solidFill>
                  <a:srgbClr val="963139"/>
                </a:solidFill>
                <a:latin typeface="Microsoft Sans Serif"/>
                <a:cs typeface="Microsoft Sans Serif"/>
              </a:rPr>
              <a:t>ess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ues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6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-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side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using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$_GET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superg</a:t>
            </a:r>
            <a:r>
              <a:rPr sz="26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al</a:t>
            </a:r>
            <a:endParaRPr sz="2600">
              <a:latin typeface="Microsoft Sans Serif"/>
              <a:cs typeface="Microsoft Sans Serif"/>
            </a:endParaRPr>
          </a:p>
          <a:p>
            <a:pPr marL="927100" lvl="1" indent="-229235">
              <a:lnSpc>
                <a:spcPct val="100000"/>
              </a:lnSpc>
              <a:spcBef>
                <a:spcPts val="240"/>
              </a:spcBef>
              <a:buSzPct val="73913"/>
              <a:buFont typeface="Wingdings"/>
              <a:buChar char=""/>
              <a:tabLst>
                <a:tab pos="927735" algn="l"/>
              </a:tabLst>
            </a:pPr>
            <a:r>
              <a:rPr sz="23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$_GET[‘firstparam’]</a:t>
            </a:r>
            <a:r>
              <a:rPr sz="23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190" dirty="0">
                <a:solidFill>
                  <a:srgbClr val="963139"/>
                </a:solidFill>
                <a:latin typeface="Microsoft Sans Serif"/>
                <a:cs typeface="Microsoft Sans Serif"/>
              </a:rPr>
              <a:t>=&gt;</a:t>
            </a:r>
            <a:r>
              <a:rPr sz="23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‘firstvalue’</a:t>
            </a:r>
            <a:endParaRPr sz="2300">
              <a:latin typeface="Microsoft Sans Serif"/>
              <a:cs typeface="Microsoft Sans Serif"/>
            </a:endParaRPr>
          </a:p>
          <a:p>
            <a:pPr marL="927100" lvl="1" indent="-229235">
              <a:lnSpc>
                <a:spcPct val="100000"/>
              </a:lnSpc>
              <a:spcBef>
                <a:spcPts val="229"/>
              </a:spcBef>
              <a:buSzPct val="73913"/>
              <a:buFont typeface="Wingdings"/>
              <a:buChar char=""/>
              <a:tabLst>
                <a:tab pos="927735" algn="l"/>
              </a:tabLst>
            </a:pPr>
            <a:r>
              <a:rPr sz="23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$_GET[‘secondparam’]</a:t>
            </a:r>
            <a:r>
              <a:rPr sz="23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195" dirty="0">
                <a:solidFill>
                  <a:srgbClr val="963139"/>
                </a:solidFill>
                <a:latin typeface="Microsoft Sans Serif"/>
                <a:cs typeface="Microsoft Sans Serif"/>
              </a:rPr>
              <a:t>=&gt;</a:t>
            </a:r>
            <a:r>
              <a:rPr sz="23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‘secondvalue’</a:t>
            </a:r>
            <a:endParaRPr sz="2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7141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60" dirty="0"/>
              <a:t>When</a:t>
            </a:r>
            <a:r>
              <a:rPr spc="25" dirty="0"/>
              <a:t> </a:t>
            </a:r>
            <a:r>
              <a:rPr spc="-140" dirty="0"/>
              <a:t>to</a:t>
            </a:r>
            <a:r>
              <a:rPr spc="25" dirty="0"/>
              <a:t> </a:t>
            </a:r>
            <a:r>
              <a:rPr spc="-500" dirty="0"/>
              <a:t>use</a:t>
            </a:r>
            <a:r>
              <a:rPr spc="45" dirty="0"/>
              <a:t> </a:t>
            </a:r>
            <a:r>
              <a:rPr spc="-45" dirty="0"/>
              <a:t>$</a:t>
            </a:r>
            <a:r>
              <a:rPr spc="-505" dirty="0"/>
              <a:t>_GET</a:t>
            </a:r>
            <a:r>
              <a:rPr spc="15" dirty="0"/>
              <a:t> </a:t>
            </a:r>
            <a:r>
              <a:rPr spc="-505" dirty="0"/>
              <a:t>v</a:t>
            </a:r>
            <a:r>
              <a:rPr spc="-555" dirty="0"/>
              <a:t>s</a:t>
            </a:r>
            <a:r>
              <a:rPr spc="-260" dirty="0"/>
              <a:t>.</a:t>
            </a:r>
            <a:r>
              <a:rPr spc="45" dirty="0"/>
              <a:t> </a:t>
            </a:r>
            <a:r>
              <a:rPr spc="-40" dirty="0"/>
              <a:t>$</a:t>
            </a:r>
            <a:r>
              <a:rPr spc="-430" dirty="0"/>
              <a:t>_PO</a:t>
            </a:r>
            <a:r>
              <a:rPr spc="-420" dirty="0"/>
              <a:t>S</a:t>
            </a:r>
            <a:r>
              <a:rPr spc="-760"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12138"/>
            <a:ext cx="7776209" cy="3387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395" dirty="0">
                <a:solidFill>
                  <a:srgbClr val="963139"/>
                </a:solidFill>
                <a:latin typeface="Microsoft Sans Serif"/>
                <a:cs typeface="Microsoft Sans Serif"/>
              </a:rPr>
              <a:t>GET</a:t>
            </a:r>
            <a:r>
              <a:rPr sz="2900" spc="-3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requests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are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sent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via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415" dirty="0">
                <a:solidFill>
                  <a:srgbClr val="963139"/>
                </a:solidFill>
                <a:latin typeface="Microsoft Sans Serif"/>
                <a:cs typeface="Microsoft Sans Serif"/>
              </a:rPr>
              <a:t>URL,</a:t>
            </a:r>
            <a:r>
              <a:rPr sz="2900" spc="-3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can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thus</a:t>
            </a:r>
            <a:r>
              <a:rPr sz="29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be </a:t>
            </a:r>
            <a:r>
              <a:rPr sz="2900" spc="-76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cached,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bookmarked,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shared,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etc</a:t>
            </a:r>
            <a:endParaRPr sz="29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395" dirty="0">
                <a:solidFill>
                  <a:srgbClr val="963139"/>
                </a:solidFill>
                <a:latin typeface="Microsoft Sans Serif"/>
                <a:cs typeface="Microsoft Sans Serif"/>
              </a:rPr>
              <a:t>GET</a:t>
            </a:r>
            <a:r>
              <a:rPr sz="2900" spc="-3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requests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are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limited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by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length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9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495" dirty="0">
                <a:solidFill>
                  <a:srgbClr val="963139"/>
                </a:solidFill>
                <a:latin typeface="Microsoft Sans Serif"/>
                <a:cs typeface="Microsoft Sans Serif"/>
              </a:rPr>
              <a:t>URL</a:t>
            </a:r>
            <a:endParaRPr sz="2900">
              <a:latin typeface="Microsoft Sans Serif"/>
              <a:cs typeface="Microsoft Sans Serif"/>
            </a:endParaRPr>
          </a:p>
          <a:p>
            <a:pPr marL="332740" marR="594995" indent="-320040">
              <a:lnSpc>
                <a:spcPct val="100000"/>
              </a:lnSpc>
              <a:spcBef>
                <a:spcPts val="71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375" dirty="0">
                <a:solidFill>
                  <a:srgbClr val="963139"/>
                </a:solidFill>
                <a:latin typeface="Microsoft Sans Serif"/>
                <a:cs typeface="Microsoft Sans Serif"/>
              </a:rPr>
              <a:t>POST</a:t>
            </a:r>
            <a:r>
              <a:rPr sz="2900" spc="-36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requests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are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not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exposed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495" dirty="0">
                <a:solidFill>
                  <a:srgbClr val="963139"/>
                </a:solidFill>
                <a:latin typeface="Microsoft Sans Serif"/>
                <a:cs typeface="Microsoft Sans Serif"/>
              </a:rPr>
              <a:t>URL</a:t>
            </a:r>
            <a:r>
              <a:rPr sz="29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and </a:t>
            </a:r>
            <a:r>
              <a:rPr sz="2900" spc="-76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should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be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used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9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9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sensi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9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da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endParaRPr sz="2900">
              <a:latin typeface="Microsoft Sans Serif"/>
              <a:cs typeface="Microsoft Sans Serif"/>
            </a:endParaRPr>
          </a:p>
          <a:p>
            <a:pPr marL="332740" marR="915669" indent="-320040">
              <a:lnSpc>
                <a:spcPct val="100000"/>
              </a:lnSpc>
              <a:spcBef>
                <a:spcPts val="69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There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is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no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limit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amount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900" spc="1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information </a:t>
            </a:r>
            <a:r>
              <a:rPr sz="2900" spc="-76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484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48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ed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via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75" dirty="0">
                <a:solidFill>
                  <a:srgbClr val="963139"/>
                </a:solidFill>
                <a:latin typeface="Microsoft Sans Serif"/>
                <a:cs typeface="Microsoft Sans Serif"/>
              </a:rPr>
              <a:t>POST</a:t>
            </a:r>
            <a:endParaRPr sz="2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41592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Dealing</a:t>
            </a:r>
            <a:r>
              <a:rPr spc="-10" dirty="0"/>
              <a:t> </a:t>
            </a:r>
            <a:r>
              <a:rPr spc="-210" dirty="0"/>
              <a:t>with</a:t>
            </a:r>
            <a:r>
              <a:rPr spc="25" dirty="0"/>
              <a:t> </a:t>
            </a:r>
            <a:r>
              <a:rPr spc="-300" dirty="0"/>
              <a:t>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12138"/>
            <a:ext cx="7927340" cy="434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288925" indent="-320040">
              <a:lnSpc>
                <a:spcPct val="100000"/>
              </a:lnSpc>
              <a:spcBef>
                <a:spcPts val="10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52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9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484" dirty="0">
                <a:solidFill>
                  <a:srgbClr val="963139"/>
                </a:solidFill>
                <a:latin typeface="Microsoft Sans Serif"/>
                <a:cs typeface="Microsoft Sans Serif"/>
              </a:rPr>
              <a:t>ms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ene</a:t>
            </a: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ally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used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collect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at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whether 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data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needs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be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sto</a:t>
            </a:r>
            <a:r>
              <a:rPr sz="29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ed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9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er  </a:t>
            </a:r>
            <a:r>
              <a:rPr sz="29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(registration)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checked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against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(login)</a:t>
            </a:r>
            <a:endParaRPr sz="29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2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co</a:t>
            </a:r>
            <a:r>
              <a:rPr sz="2900" spc="-445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9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ponen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484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9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325" dirty="0">
                <a:solidFill>
                  <a:srgbClr val="963139"/>
                </a:solidFill>
                <a:latin typeface="Microsoft Sans Serif"/>
                <a:cs typeface="Microsoft Sans Serif"/>
              </a:rPr>
              <a:t>m: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25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340" dirty="0">
                <a:solidFill>
                  <a:srgbClr val="963139"/>
                </a:solidFill>
                <a:latin typeface="Microsoft Sans Serif"/>
                <a:cs typeface="Microsoft Sans Serif"/>
              </a:rPr>
              <a:t>HTML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6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en</a:t>
            </a:r>
            <a:r>
              <a:rPr sz="26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ating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8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43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it</a:t>
            </a:r>
            <a:r>
              <a:rPr sz="26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6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14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endParaRPr sz="2600">
              <a:latin typeface="Microsoft Sans Serif"/>
              <a:cs typeface="Microsoft Sans Serif"/>
            </a:endParaRPr>
          </a:p>
          <a:p>
            <a:pPr marL="652780" marR="198120" indent="-274320">
              <a:lnSpc>
                <a:spcPct val="100000"/>
              </a:lnSpc>
              <a:spcBef>
                <a:spcPts val="600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 </a:t>
            </a:r>
            <a:r>
              <a:rPr sz="26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server-side </a:t>
            </a:r>
            <a:r>
              <a:rPr sz="26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script 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that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form 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data </a:t>
            </a:r>
            <a:r>
              <a:rPr sz="2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is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 sent</a:t>
            </a:r>
            <a:r>
              <a:rPr sz="26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 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(via 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355" dirty="0">
                <a:solidFill>
                  <a:srgbClr val="963139"/>
                </a:solidFill>
                <a:latin typeface="Microsoft Sans Serif"/>
                <a:cs typeface="Microsoft Sans Serif"/>
              </a:rPr>
              <a:t>GET</a:t>
            </a:r>
            <a:r>
              <a:rPr sz="26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POST),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taking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care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6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processing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involved</a:t>
            </a:r>
            <a:endParaRPr sz="2600">
              <a:latin typeface="Microsoft Sans Serif"/>
              <a:cs typeface="Microsoft Sans Serif"/>
            </a:endParaRPr>
          </a:p>
          <a:p>
            <a:pPr marL="927100" marR="5080" lvl="1" indent="-228600">
              <a:lnSpc>
                <a:spcPct val="100000"/>
              </a:lnSpc>
              <a:spcBef>
                <a:spcPts val="520"/>
              </a:spcBef>
              <a:buSzPct val="73913"/>
              <a:buFont typeface="Wingdings"/>
              <a:buChar char=""/>
              <a:tabLst>
                <a:tab pos="927735" algn="l"/>
              </a:tabLst>
            </a:pPr>
            <a:r>
              <a:rPr sz="23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3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3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3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er</a:t>
            </a:r>
            <a:r>
              <a:rPr sz="23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should</a:t>
            </a:r>
            <a:r>
              <a:rPr sz="23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respond</a:t>
            </a:r>
            <a:r>
              <a:rPr sz="23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app</a:t>
            </a:r>
            <a:r>
              <a:rPr sz="23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3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opriatel</a:t>
            </a:r>
            <a:r>
              <a:rPr sz="23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3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3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redirecting</a:t>
            </a:r>
            <a:r>
              <a:rPr sz="23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3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user</a:t>
            </a:r>
            <a:r>
              <a:rPr sz="23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to  </a:t>
            </a:r>
            <a:r>
              <a:rPr sz="23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3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appropriate </a:t>
            </a:r>
            <a:r>
              <a:rPr sz="23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destination </a:t>
            </a:r>
            <a:r>
              <a:rPr sz="23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or </a:t>
            </a:r>
            <a:r>
              <a:rPr sz="23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generating </a:t>
            </a:r>
            <a:r>
              <a:rPr sz="23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3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appropriate </a:t>
            </a:r>
            <a:r>
              <a:rPr sz="23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3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page</a:t>
            </a:r>
            <a:endParaRPr sz="2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62075" y="2733675"/>
            <a:ext cx="6343650" cy="857250"/>
            <a:chOff x="1362075" y="2733675"/>
            <a:chExt cx="6343650" cy="857250"/>
          </a:xfrm>
        </p:grpSpPr>
        <p:sp>
          <p:nvSpPr>
            <p:cNvPr id="3" name="object 3"/>
            <p:cNvSpPr/>
            <p:nvPr/>
          </p:nvSpPr>
          <p:spPr>
            <a:xfrm>
              <a:off x="6096000" y="3276600"/>
              <a:ext cx="1600200" cy="304800"/>
            </a:xfrm>
            <a:custGeom>
              <a:avLst/>
              <a:gdLst/>
              <a:ahLst/>
              <a:cxnLst/>
              <a:rect l="l" t="t" r="r" b="b"/>
              <a:pathLst>
                <a:path w="1600200" h="304800">
                  <a:moveTo>
                    <a:pt x="1549400" y="0"/>
                  </a:moveTo>
                  <a:lnTo>
                    <a:pt x="50800" y="0"/>
                  </a:lnTo>
                  <a:lnTo>
                    <a:pt x="31021" y="3990"/>
                  </a:lnTo>
                  <a:lnTo>
                    <a:pt x="14874" y="14874"/>
                  </a:lnTo>
                  <a:lnTo>
                    <a:pt x="3990" y="31021"/>
                  </a:lnTo>
                  <a:lnTo>
                    <a:pt x="0" y="50800"/>
                  </a:lnTo>
                  <a:lnTo>
                    <a:pt x="0" y="254000"/>
                  </a:lnTo>
                  <a:lnTo>
                    <a:pt x="3990" y="273778"/>
                  </a:lnTo>
                  <a:lnTo>
                    <a:pt x="14874" y="289925"/>
                  </a:lnTo>
                  <a:lnTo>
                    <a:pt x="31021" y="300809"/>
                  </a:lnTo>
                  <a:lnTo>
                    <a:pt x="50800" y="304800"/>
                  </a:lnTo>
                  <a:lnTo>
                    <a:pt x="1549400" y="304800"/>
                  </a:lnTo>
                  <a:lnTo>
                    <a:pt x="1569178" y="300809"/>
                  </a:lnTo>
                  <a:lnTo>
                    <a:pt x="1585325" y="289925"/>
                  </a:lnTo>
                  <a:lnTo>
                    <a:pt x="1596209" y="273778"/>
                  </a:lnTo>
                  <a:lnTo>
                    <a:pt x="1600200" y="254000"/>
                  </a:lnTo>
                  <a:lnTo>
                    <a:pt x="1600200" y="50800"/>
                  </a:lnTo>
                  <a:lnTo>
                    <a:pt x="1596209" y="31021"/>
                  </a:lnTo>
                  <a:lnTo>
                    <a:pt x="1585325" y="14874"/>
                  </a:lnTo>
                  <a:lnTo>
                    <a:pt x="1569178" y="3990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96000" y="3276600"/>
              <a:ext cx="1600200" cy="304800"/>
            </a:xfrm>
            <a:custGeom>
              <a:avLst/>
              <a:gdLst/>
              <a:ahLst/>
              <a:cxnLst/>
              <a:rect l="l" t="t" r="r" b="b"/>
              <a:pathLst>
                <a:path w="1600200" h="304800">
                  <a:moveTo>
                    <a:pt x="0" y="50800"/>
                  </a:moveTo>
                  <a:lnTo>
                    <a:pt x="3990" y="31021"/>
                  </a:lnTo>
                  <a:lnTo>
                    <a:pt x="14874" y="14874"/>
                  </a:lnTo>
                  <a:lnTo>
                    <a:pt x="31021" y="3990"/>
                  </a:lnTo>
                  <a:lnTo>
                    <a:pt x="50800" y="0"/>
                  </a:lnTo>
                  <a:lnTo>
                    <a:pt x="1549400" y="0"/>
                  </a:lnTo>
                  <a:lnTo>
                    <a:pt x="1569178" y="3990"/>
                  </a:lnTo>
                  <a:lnTo>
                    <a:pt x="1585325" y="14874"/>
                  </a:lnTo>
                  <a:lnTo>
                    <a:pt x="1596209" y="31021"/>
                  </a:lnTo>
                  <a:lnTo>
                    <a:pt x="1600200" y="50800"/>
                  </a:lnTo>
                  <a:lnTo>
                    <a:pt x="1600200" y="254000"/>
                  </a:lnTo>
                  <a:lnTo>
                    <a:pt x="1596209" y="273778"/>
                  </a:lnTo>
                  <a:lnTo>
                    <a:pt x="1585325" y="289925"/>
                  </a:lnTo>
                  <a:lnTo>
                    <a:pt x="1569178" y="300809"/>
                  </a:lnTo>
                  <a:lnTo>
                    <a:pt x="1549400" y="304800"/>
                  </a:lnTo>
                  <a:lnTo>
                    <a:pt x="50800" y="304800"/>
                  </a:lnTo>
                  <a:lnTo>
                    <a:pt x="31021" y="300809"/>
                  </a:lnTo>
                  <a:lnTo>
                    <a:pt x="14874" y="289925"/>
                  </a:lnTo>
                  <a:lnTo>
                    <a:pt x="3990" y="273778"/>
                  </a:lnTo>
                  <a:lnTo>
                    <a:pt x="0" y="254000"/>
                  </a:lnTo>
                  <a:lnTo>
                    <a:pt x="0" y="5080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53000" y="3048000"/>
              <a:ext cx="1524000" cy="228600"/>
            </a:xfrm>
            <a:custGeom>
              <a:avLst/>
              <a:gdLst/>
              <a:ahLst/>
              <a:cxnLst/>
              <a:rect l="l" t="t" r="r" b="b"/>
              <a:pathLst>
                <a:path w="1524000" h="228600">
                  <a:moveTo>
                    <a:pt x="1485900" y="0"/>
                  </a:moveTo>
                  <a:lnTo>
                    <a:pt x="38100" y="0"/>
                  </a:ln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0" y="190500"/>
                  </a:lnTo>
                  <a:lnTo>
                    <a:pt x="2988" y="205347"/>
                  </a:lnTo>
                  <a:lnTo>
                    <a:pt x="11144" y="217455"/>
                  </a:lnTo>
                  <a:lnTo>
                    <a:pt x="23252" y="225611"/>
                  </a:lnTo>
                  <a:lnTo>
                    <a:pt x="38100" y="228600"/>
                  </a:lnTo>
                  <a:lnTo>
                    <a:pt x="1485900" y="228600"/>
                  </a:lnTo>
                  <a:lnTo>
                    <a:pt x="1500747" y="225611"/>
                  </a:lnTo>
                  <a:lnTo>
                    <a:pt x="1512855" y="217455"/>
                  </a:lnTo>
                  <a:lnTo>
                    <a:pt x="1521011" y="205347"/>
                  </a:lnTo>
                  <a:lnTo>
                    <a:pt x="1524000" y="190500"/>
                  </a:lnTo>
                  <a:lnTo>
                    <a:pt x="1524000" y="38100"/>
                  </a:lnTo>
                  <a:lnTo>
                    <a:pt x="1521011" y="23252"/>
                  </a:lnTo>
                  <a:lnTo>
                    <a:pt x="1512855" y="11144"/>
                  </a:lnTo>
                  <a:lnTo>
                    <a:pt x="1500747" y="2988"/>
                  </a:lnTo>
                  <a:lnTo>
                    <a:pt x="14859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53000" y="3048000"/>
              <a:ext cx="1524000" cy="228600"/>
            </a:xfrm>
            <a:custGeom>
              <a:avLst/>
              <a:gdLst/>
              <a:ahLst/>
              <a:cxnLst/>
              <a:rect l="l" t="t" r="r" b="b"/>
              <a:pathLst>
                <a:path w="1524000" h="2286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1485900" y="0"/>
                  </a:lnTo>
                  <a:lnTo>
                    <a:pt x="1500747" y="2988"/>
                  </a:lnTo>
                  <a:lnTo>
                    <a:pt x="1512855" y="11144"/>
                  </a:lnTo>
                  <a:lnTo>
                    <a:pt x="1521011" y="23252"/>
                  </a:lnTo>
                  <a:lnTo>
                    <a:pt x="1524000" y="38100"/>
                  </a:lnTo>
                  <a:lnTo>
                    <a:pt x="1524000" y="190500"/>
                  </a:lnTo>
                  <a:lnTo>
                    <a:pt x="1521011" y="205347"/>
                  </a:lnTo>
                  <a:lnTo>
                    <a:pt x="1512855" y="217455"/>
                  </a:lnTo>
                  <a:lnTo>
                    <a:pt x="1500747" y="225611"/>
                  </a:lnTo>
                  <a:lnTo>
                    <a:pt x="1485900" y="228600"/>
                  </a:lnTo>
                  <a:lnTo>
                    <a:pt x="38100" y="228600"/>
                  </a:lnTo>
                  <a:lnTo>
                    <a:pt x="23252" y="225611"/>
                  </a:lnTo>
                  <a:lnTo>
                    <a:pt x="11144" y="217455"/>
                  </a:lnTo>
                  <a:lnTo>
                    <a:pt x="2988" y="205347"/>
                  </a:lnTo>
                  <a:lnTo>
                    <a:pt x="0" y="190500"/>
                  </a:lnTo>
                  <a:lnTo>
                    <a:pt x="0" y="3810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67200" y="2743200"/>
              <a:ext cx="1905000" cy="304800"/>
            </a:xfrm>
            <a:custGeom>
              <a:avLst/>
              <a:gdLst/>
              <a:ahLst/>
              <a:cxnLst/>
              <a:rect l="l" t="t" r="r" b="b"/>
              <a:pathLst>
                <a:path w="1905000" h="304800">
                  <a:moveTo>
                    <a:pt x="1854200" y="0"/>
                  </a:moveTo>
                  <a:lnTo>
                    <a:pt x="50800" y="0"/>
                  </a:lnTo>
                  <a:lnTo>
                    <a:pt x="31021" y="3990"/>
                  </a:lnTo>
                  <a:lnTo>
                    <a:pt x="14874" y="14874"/>
                  </a:lnTo>
                  <a:lnTo>
                    <a:pt x="3990" y="31021"/>
                  </a:lnTo>
                  <a:lnTo>
                    <a:pt x="0" y="50800"/>
                  </a:lnTo>
                  <a:lnTo>
                    <a:pt x="0" y="254000"/>
                  </a:lnTo>
                  <a:lnTo>
                    <a:pt x="3990" y="273778"/>
                  </a:lnTo>
                  <a:lnTo>
                    <a:pt x="14874" y="289925"/>
                  </a:lnTo>
                  <a:lnTo>
                    <a:pt x="31021" y="300809"/>
                  </a:lnTo>
                  <a:lnTo>
                    <a:pt x="50800" y="304800"/>
                  </a:lnTo>
                  <a:lnTo>
                    <a:pt x="1854200" y="304800"/>
                  </a:lnTo>
                  <a:lnTo>
                    <a:pt x="1873978" y="300809"/>
                  </a:lnTo>
                  <a:lnTo>
                    <a:pt x="1890125" y="289925"/>
                  </a:lnTo>
                  <a:lnTo>
                    <a:pt x="1901009" y="273778"/>
                  </a:lnTo>
                  <a:lnTo>
                    <a:pt x="1905000" y="254000"/>
                  </a:lnTo>
                  <a:lnTo>
                    <a:pt x="1905000" y="50800"/>
                  </a:lnTo>
                  <a:lnTo>
                    <a:pt x="1901009" y="31021"/>
                  </a:lnTo>
                  <a:lnTo>
                    <a:pt x="1890125" y="14874"/>
                  </a:lnTo>
                  <a:lnTo>
                    <a:pt x="1873978" y="3990"/>
                  </a:lnTo>
                  <a:lnTo>
                    <a:pt x="1854200" y="0"/>
                  </a:lnTo>
                  <a:close/>
                </a:path>
              </a:pathLst>
            </a:custGeom>
            <a:solidFill>
              <a:srgbClr val="EFD1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67200" y="2743200"/>
              <a:ext cx="1905000" cy="304800"/>
            </a:xfrm>
            <a:custGeom>
              <a:avLst/>
              <a:gdLst/>
              <a:ahLst/>
              <a:cxnLst/>
              <a:rect l="l" t="t" r="r" b="b"/>
              <a:pathLst>
                <a:path w="1905000" h="304800">
                  <a:moveTo>
                    <a:pt x="0" y="50800"/>
                  </a:moveTo>
                  <a:lnTo>
                    <a:pt x="3990" y="31021"/>
                  </a:lnTo>
                  <a:lnTo>
                    <a:pt x="14874" y="14874"/>
                  </a:lnTo>
                  <a:lnTo>
                    <a:pt x="31021" y="3990"/>
                  </a:lnTo>
                  <a:lnTo>
                    <a:pt x="50800" y="0"/>
                  </a:lnTo>
                  <a:lnTo>
                    <a:pt x="1854200" y="0"/>
                  </a:lnTo>
                  <a:lnTo>
                    <a:pt x="1873978" y="3990"/>
                  </a:lnTo>
                  <a:lnTo>
                    <a:pt x="1890125" y="14874"/>
                  </a:lnTo>
                  <a:lnTo>
                    <a:pt x="1901009" y="31021"/>
                  </a:lnTo>
                  <a:lnTo>
                    <a:pt x="1905000" y="50800"/>
                  </a:lnTo>
                  <a:lnTo>
                    <a:pt x="1905000" y="254000"/>
                  </a:lnTo>
                  <a:lnTo>
                    <a:pt x="1901009" y="273778"/>
                  </a:lnTo>
                  <a:lnTo>
                    <a:pt x="1890125" y="289925"/>
                  </a:lnTo>
                  <a:lnTo>
                    <a:pt x="1873978" y="300809"/>
                  </a:lnTo>
                  <a:lnTo>
                    <a:pt x="1854200" y="304800"/>
                  </a:lnTo>
                  <a:lnTo>
                    <a:pt x="50800" y="304800"/>
                  </a:lnTo>
                  <a:lnTo>
                    <a:pt x="31021" y="300809"/>
                  </a:lnTo>
                  <a:lnTo>
                    <a:pt x="14874" y="289925"/>
                  </a:lnTo>
                  <a:lnTo>
                    <a:pt x="3990" y="273778"/>
                  </a:lnTo>
                  <a:lnTo>
                    <a:pt x="0" y="254000"/>
                  </a:lnTo>
                  <a:lnTo>
                    <a:pt x="0" y="5080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1600" y="2743200"/>
              <a:ext cx="2895600" cy="304800"/>
            </a:xfrm>
            <a:custGeom>
              <a:avLst/>
              <a:gdLst/>
              <a:ahLst/>
              <a:cxnLst/>
              <a:rect l="l" t="t" r="r" b="b"/>
              <a:pathLst>
                <a:path w="2895600" h="304800">
                  <a:moveTo>
                    <a:pt x="2844800" y="0"/>
                  </a:moveTo>
                  <a:lnTo>
                    <a:pt x="50800" y="0"/>
                  </a:lnTo>
                  <a:lnTo>
                    <a:pt x="31021" y="3990"/>
                  </a:lnTo>
                  <a:lnTo>
                    <a:pt x="14874" y="14874"/>
                  </a:lnTo>
                  <a:lnTo>
                    <a:pt x="3990" y="31021"/>
                  </a:lnTo>
                  <a:lnTo>
                    <a:pt x="0" y="50800"/>
                  </a:lnTo>
                  <a:lnTo>
                    <a:pt x="0" y="254000"/>
                  </a:lnTo>
                  <a:lnTo>
                    <a:pt x="3990" y="273778"/>
                  </a:lnTo>
                  <a:lnTo>
                    <a:pt x="14874" y="289925"/>
                  </a:lnTo>
                  <a:lnTo>
                    <a:pt x="31021" y="300809"/>
                  </a:lnTo>
                  <a:lnTo>
                    <a:pt x="50800" y="304800"/>
                  </a:lnTo>
                  <a:lnTo>
                    <a:pt x="2844800" y="304800"/>
                  </a:lnTo>
                  <a:lnTo>
                    <a:pt x="2864578" y="300809"/>
                  </a:lnTo>
                  <a:lnTo>
                    <a:pt x="2880725" y="289925"/>
                  </a:lnTo>
                  <a:lnTo>
                    <a:pt x="2891609" y="273778"/>
                  </a:lnTo>
                  <a:lnTo>
                    <a:pt x="2895600" y="254000"/>
                  </a:lnTo>
                  <a:lnTo>
                    <a:pt x="2895600" y="50800"/>
                  </a:lnTo>
                  <a:lnTo>
                    <a:pt x="2891609" y="31021"/>
                  </a:lnTo>
                  <a:lnTo>
                    <a:pt x="2880725" y="14874"/>
                  </a:lnTo>
                  <a:lnTo>
                    <a:pt x="2864578" y="3990"/>
                  </a:lnTo>
                  <a:lnTo>
                    <a:pt x="2844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71600" y="2743200"/>
              <a:ext cx="2895600" cy="304800"/>
            </a:xfrm>
            <a:custGeom>
              <a:avLst/>
              <a:gdLst/>
              <a:ahLst/>
              <a:cxnLst/>
              <a:rect l="l" t="t" r="r" b="b"/>
              <a:pathLst>
                <a:path w="2895600" h="304800">
                  <a:moveTo>
                    <a:pt x="0" y="50800"/>
                  </a:moveTo>
                  <a:lnTo>
                    <a:pt x="3990" y="31021"/>
                  </a:lnTo>
                  <a:lnTo>
                    <a:pt x="14874" y="14874"/>
                  </a:lnTo>
                  <a:lnTo>
                    <a:pt x="31021" y="3990"/>
                  </a:lnTo>
                  <a:lnTo>
                    <a:pt x="50800" y="0"/>
                  </a:lnTo>
                  <a:lnTo>
                    <a:pt x="2844800" y="0"/>
                  </a:lnTo>
                  <a:lnTo>
                    <a:pt x="2864578" y="3990"/>
                  </a:lnTo>
                  <a:lnTo>
                    <a:pt x="2880725" y="14874"/>
                  </a:lnTo>
                  <a:lnTo>
                    <a:pt x="2891609" y="31021"/>
                  </a:lnTo>
                  <a:lnTo>
                    <a:pt x="2895600" y="50800"/>
                  </a:lnTo>
                  <a:lnTo>
                    <a:pt x="2895600" y="254000"/>
                  </a:lnTo>
                  <a:lnTo>
                    <a:pt x="2891609" y="273778"/>
                  </a:lnTo>
                  <a:lnTo>
                    <a:pt x="2880725" y="289925"/>
                  </a:lnTo>
                  <a:lnTo>
                    <a:pt x="2864578" y="300809"/>
                  </a:lnTo>
                  <a:lnTo>
                    <a:pt x="2844800" y="304800"/>
                  </a:lnTo>
                  <a:lnTo>
                    <a:pt x="50800" y="304800"/>
                  </a:lnTo>
                  <a:lnTo>
                    <a:pt x="31021" y="300809"/>
                  </a:lnTo>
                  <a:lnTo>
                    <a:pt x="14874" y="289925"/>
                  </a:lnTo>
                  <a:lnTo>
                    <a:pt x="3990" y="273778"/>
                  </a:lnTo>
                  <a:lnTo>
                    <a:pt x="0" y="254000"/>
                  </a:lnTo>
                  <a:lnTo>
                    <a:pt x="0" y="5080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37928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5" dirty="0"/>
              <a:t>F</a:t>
            </a:r>
            <a:r>
              <a:rPr spc="-155" dirty="0"/>
              <a:t>o</a:t>
            </a:r>
            <a:r>
              <a:rPr spc="-20" dirty="0"/>
              <a:t>r</a:t>
            </a:r>
            <a:r>
              <a:rPr spc="-575" dirty="0"/>
              <a:t>ms:</a:t>
            </a:r>
            <a:r>
              <a:rPr spc="25" dirty="0"/>
              <a:t> </a:t>
            </a:r>
            <a:r>
              <a:rPr spc="-225" dirty="0"/>
              <a:t>cl</a:t>
            </a:r>
            <a:r>
              <a:rPr spc="-155" dirty="0"/>
              <a:t>i</a:t>
            </a:r>
            <a:r>
              <a:rPr spc="-265" dirty="0"/>
              <a:t>ent</a:t>
            </a:r>
            <a:r>
              <a:rPr spc="-5" dirty="0"/>
              <a:t>-</a:t>
            </a:r>
            <a:r>
              <a:rPr spc="-225" dirty="0"/>
              <a:t>si</a:t>
            </a:r>
            <a:r>
              <a:rPr spc="-365" dirty="0"/>
              <a:t>d</a:t>
            </a:r>
            <a:r>
              <a:rPr spc="-245" dirty="0"/>
              <a:t>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12140" y="1588084"/>
            <a:ext cx="8350884" cy="491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&lt;html&gt;</a:t>
            </a:r>
            <a:endParaRPr sz="1800">
              <a:latin typeface="Courier New"/>
              <a:cs typeface="Courier New"/>
            </a:endParaRPr>
          </a:p>
          <a:p>
            <a:pPr marL="56007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&lt;head&gt;</a:t>
            </a:r>
            <a:endParaRPr sz="1800">
              <a:latin typeface="Courier New"/>
              <a:cs typeface="Courier New"/>
            </a:endParaRPr>
          </a:p>
          <a:p>
            <a:pPr marL="110553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&lt;title&gt;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A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Form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Example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&lt;/title&gt;</a:t>
            </a:r>
            <a:endParaRPr sz="1800">
              <a:latin typeface="Courier New"/>
              <a:cs typeface="Courier New"/>
            </a:endParaRPr>
          </a:p>
          <a:p>
            <a:pPr marL="56007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&lt;/head&gt;&lt;body&gt;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&lt;form</a:t>
            </a:r>
            <a:r>
              <a:rPr sz="1800" b="1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action="welcome.php"</a:t>
            </a:r>
            <a:r>
              <a:rPr sz="1800" b="1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method="post"&gt;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Name:</a:t>
            </a:r>
            <a:r>
              <a:rPr sz="1800" b="1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963139"/>
                </a:solidFill>
                <a:latin typeface="Courier New"/>
                <a:cs typeface="Courier New"/>
              </a:rPr>
              <a:t>&lt;br</a:t>
            </a:r>
            <a:r>
              <a:rPr sz="1800" b="1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/&gt;</a:t>
            </a:r>
            <a:r>
              <a:rPr sz="1800" b="1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&lt;input</a:t>
            </a:r>
            <a:r>
              <a:rPr sz="1800" b="1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type="text"</a:t>
            </a:r>
            <a:r>
              <a:rPr sz="1800" b="1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name="name"</a:t>
            </a:r>
            <a:r>
              <a:rPr sz="1800" b="1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963139"/>
                </a:solidFill>
                <a:latin typeface="Courier New"/>
                <a:cs typeface="Courier New"/>
              </a:rPr>
              <a:t>/&gt;&lt;br</a:t>
            </a: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963139"/>
                </a:solidFill>
                <a:latin typeface="Courier New"/>
                <a:cs typeface="Courier New"/>
              </a:rPr>
              <a:t>/&gt;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Phone</a:t>
            </a:r>
            <a:r>
              <a:rPr sz="1800" b="1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Number:</a:t>
            </a:r>
            <a:r>
              <a:rPr sz="1800" b="1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963139"/>
                </a:solidFill>
                <a:latin typeface="Courier New"/>
                <a:cs typeface="Courier New"/>
              </a:rPr>
              <a:t>&lt;br </a:t>
            </a: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/&gt;</a:t>
            </a:r>
            <a:r>
              <a:rPr sz="1800" b="1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&lt;input</a:t>
            </a:r>
            <a:r>
              <a:rPr sz="1800" b="1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type="text" name="phone"</a:t>
            </a:r>
            <a:r>
              <a:rPr sz="1800" b="1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963139"/>
                </a:solidFill>
                <a:latin typeface="Courier New"/>
                <a:cs typeface="Courier New"/>
              </a:rPr>
              <a:t>/&gt;&lt;br</a:t>
            </a:r>
            <a:r>
              <a:rPr sz="1800" b="1" spc="-15" dirty="0">
                <a:solidFill>
                  <a:srgbClr val="963139"/>
                </a:solidFill>
                <a:latin typeface="Courier New"/>
                <a:cs typeface="Courier New"/>
              </a:rPr>
              <a:t> /&gt;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&lt;input</a:t>
            </a:r>
            <a:r>
              <a:rPr sz="1800" b="1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type="submit"</a:t>
            </a:r>
            <a:r>
              <a:rPr sz="1800" b="1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value="Submit"&gt;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&lt;/form&gt;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&lt;/body&gt;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&lt;/html&gt;</a:t>
            </a:r>
            <a:endParaRPr sz="1800">
              <a:latin typeface="Courier New"/>
              <a:cs typeface="Courier New"/>
            </a:endParaRPr>
          </a:p>
          <a:p>
            <a:pPr marL="411480" indent="-320675">
              <a:lnSpc>
                <a:spcPct val="100000"/>
              </a:lnSpc>
              <a:spcBef>
                <a:spcPts val="1315"/>
              </a:spcBef>
              <a:buSzPct val="59259"/>
              <a:buFont typeface="Wingdings"/>
              <a:buChar char=""/>
              <a:tabLst>
                <a:tab pos="411480" algn="l"/>
                <a:tab pos="412115" algn="l"/>
              </a:tabLst>
            </a:pPr>
            <a:r>
              <a:rPr sz="2700" spc="9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7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7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700" spc="-45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action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555" dirty="0">
                <a:solidFill>
                  <a:srgbClr val="963139"/>
                </a:solidFill>
                <a:latin typeface="Microsoft Sans Serif"/>
                <a:cs typeface="Microsoft Sans Serif"/>
              </a:rPr>
              <a:t>–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wh</a:t>
            </a:r>
            <a:r>
              <a:rPr sz="27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7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re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7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7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9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7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7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700" spc="-45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data</a:t>
            </a:r>
            <a:endParaRPr sz="2700">
              <a:latin typeface="Microsoft Sans Serif"/>
              <a:cs typeface="Microsoft Sans Serif"/>
            </a:endParaRPr>
          </a:p>
          <a:p>
            <a:pPr marL="411480" indent="-320675">
              <a:lnSpc>
                <a:spcPct val="100000"/>
              </a:lnSpc>
              <a:spcBef>
                <a:spcPts val="385"/>
              </a:spcBef>
              <a:buSzPct val="59259"/>
              <a:buFont typeface="Wingdings"/>
              <a:buChar char=""/>
              <a:tabLst>
                <a:tab pos="411480" algn="l"/>
                <a:tab pos="412115" algn="l"/>
              </a:tabLst>
            </a:pPr>
            <a:r>
              <a:rPr sz="27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meth</a:t>
            </a:r>
            <a:r>
              <a:rPr sz="27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7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560" dirty="0">
                <a:solidFill>
                  <a:srgbClr val="963139"/>
                </a:solidFill>
                <a:latin typeface="Microsoft Sans Serif"/>
                <a:cs typeface="Microsoft Sans Serif"/>
              </a:rPr>
              <a:t>–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7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7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7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7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data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(GET</a:t>
            </a:r>
            <a:r>
              <a:rPr sz="27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360" dirty="0">
                <a:solidFill>
                  <a:srgbClr val="963139"/>
                </a:solidFill>
                <a:latin typeface="Microsoft Sans Serif"/>
                <a:cs typeface="Microsoft Sans Serif"/>
              </a:rPr>
              <a:t>POS</a:t>
            </a:r>
            <a:r>
              <a:rPr sz="27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7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)</a:t>
            </a:r>
            <a:endParaRPr sz="2700">
              <a:latin typeface="Microsoft Sans Serif"/>
              <a:cs typeface="Microsoft Sans Serif"/>
            </a:endParaRPr>
          </a:p>
          <a:p>
            <a:pPr marL="411480" marR="738505" indent="-320040">
              <a:lnSpc>
                <a:spcPts val="2920"/>
              </a:lnSpc>
              <a:spcBef>
                <a:spcPts val="740"/>
              </a:spcBef>
              <a:buSzPct val="59259"/>
              <a:buFont typeface="Wingdings"/>
              <a:buChar char=""/>
              <a:tabLst>
                <a:tab pos="411480" algn="l"/>
                <a:tab pos="412115" algn="l"/>
              </a:tabLst>
            </a:pPr>
            <a:r>
              <a:rPr sz="27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Name </a:t>
            </a:r>
            <a:r>
              <a:rPr sz="27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attributes </a:t>
            </a:r>
            <a:r>
              <a:rPr sz="27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become</a:t>
            </a:r>
            <a:r>
              <a:rPr sz="27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 </a:t>
            </a:r>
            <a:r>
              <a:rPr sz="27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keys</a:t>
            </a:r>
            <a:r>
              <a:rPr sz="27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used</a:t>
            </a:r>
            <a:r>
              <a:rPr sz="27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 </a:t>
            </a:r>
            <a:r>
              <a:rPr sz="27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access</a:t>
            </a:r>
            <a:r>
              <a:rPr sz="2700" spc="-28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 </a:t>
            </a:r>
            <a:r>
              <a:rPr sz="27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corresponding</a:t>
            </a:r>
            <a:r>
              <a:rPr sz="27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fields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7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7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$_GET</a:t>
            </a:r>
            <a:r>
              <a:rPr sz="2700" spc="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$_POST</a:t>
            </a:r>
            <a:r>
              <a:rPr sz="27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arrays</a:t>
            </a:r>
            <a:endParaRPr sz="2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40170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5" dirty="0"/>
              <a:t>F</a:t>
            </a:r>
            <a:r>
              <a:rPr spc="-155" dirty="0"/>
              <a:t>o</a:t>
            </a:r>
            <a:r>
              <a:rPr spc="-20" dirty="0"/>
              <a:t>r</a:t>
            </a:r>
            <a:r>
              <a:rPr spc="-575" dirty="0"/>
              <a:t>ms:</a:t>
            </a:r>
            <a:r>
              <a:rPr spc="25" dirty="0"/>
              <a:t> </a:t>
            </a:r>
            <a:r>
              <a:rPr spc="-375" dirty="0"/>
              <a:t>se</a:t>
            </a:r>
            <a:r>
              <a:rPr spc="-65" dirty="0"/>
              <a:t>r</a:t>
            </a:r>
            <a:r>
              <a:rPr spc="-360" dirty="0"/>
              <a:t>v</a:t>
            </a:r>
            <a:r>
              <a:rPr spc="-245" dirty="0"/>
              <a:t>e</a:t>
            </a:r>
            <a:r>
              <a:rPr spc="-120" dirty="0"/>
              <a:t>r</a:t>
            </a:r>
            <a:r>
              <a:rPr spc="-5" dirty="0"/>
              <a:t>-</a:t>
            </a:r>
            <a:r>
              <a:rPr spc="-225" dirty="0"/>
              <a:t>si</a:t>
            </a:r>
            <a:r>
              <a:rPr spc="-365" dirty="0"/>
              <a:t>d</a:t>
            </a:r>
            <a:r>
              <a:rPr spc="-24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840229"/>
            <a:ext cx="7612380" cy="4515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912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&lt;html&gt;</a:t>
            </a:r>
            <a:endParaRPr sz="1800">
              <a:latin typeface="Courier New"/>
              <a:cs typeface="Courier New"/>
            </a:endParaRPr>
          </a:p>
          <a:p>
            <a:pPr marL="61912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&lt;head&gt;&lt;title&gt;This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welcome.php&lt;/title&gt;&lt;/head&gt;</a:t>
            </a:r>
            <a:endParaRPr sz="1800">
              <a:latin typeface="Courier New"/>
              <a:cs typeface="Courier New"/>
            </a:endParaRPr>
          </a:p>
          <a:p>
            <a:pPr marL="61912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&lt;body&gt;</a:t>
            </a:r>
            <a:endParaRPr sz="1800">
              <a:latin typeface="Courier New"/>
              <a:cs typeface="Courier New"/>
            </a:endParaRPr>
          </a:p>
          <a:p>
            <a:pPr marL="619125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The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name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that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was submitted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was: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&amp;nbsp;</a:t>
            </a:r>
            <a:endParaRPr sz="1800">
              <a:latin typeface="Courier New"/>
              <a:cs typeface="Courier New"/>
            </a:endParaRPr>
          </a:p>
          <a:p>
            <a:pPr marL="61912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&lt;?php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$_POST['name']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;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?&gt;&lt;br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/&gt;</a:t>
            </a:r>
            <a:endParaRPr sz="1800">
              <a:latin typeface="Courier New"/>
              <a:cs typeface="Courier New"/>
            </a:endParaRPr>
          </a:p>
          <a:p>
            <a:pPr marL="619125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The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phone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number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that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was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submitted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was: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&amp;nbsp;</a:t>
            </a:r>
            <a:endParaRPr sz="1800">
              <a:latin typeface="Courier New"/>
              <a:cs typeface="Courier New"/>
            </a:endParaRPr>
          </a:p>
          <a:p>
            <a:pPr marL="61912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&lt;?php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963139"/>
                </a:solidFill>
                <a:latin typeface="Courier New"/>
                <a:cs typeface="Courier New"/>
              </a:rPr>
              <a:t>$_POST['phone']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;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?&gt;&lt;br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/&gt;</a:t>
            </a:r>
            <a:endParaRPr sz="1800">
              <a:latin typeface="Courier New"/>
              <a:cs typeface="Courier New"/>
            </a:endParaRPr>
          </a:p>
          <a:p>
            <a:pPr marL="61912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&lt;/body&gt;</a:t>
            </a:r>
            <a:endParaRPr sz="1800">
              <a:latin typeface="Courier New"/>
              <a:cs typeface="Courier New"/>
            </a:endParaRPr>
          </a:p>
          <a:p>
            <a:pPr marL="61912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&lt;/html&gt;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50">
              <a:latin typeface="Courier New"/>
              <a:cs typeface="Courier New"/>
            </a:endParaRPr>
          </a:p>
          <a:p>
            <a:pPr marL="332740" marR="5080" indent="-320040">
              <a:lnSpc>
                <a:spcPct val="80000"/>
              </a:lnSpc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simple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409" dirty="0">
                <a:solidFill>
                  <a:srgbClr val="963139"/>
                </a:solidFill>
                <a:latin typeface="Microsoft Sans Serif"/>
                <a:cs typeface="Microsoft Sans Serif"/>
              </a:rPr>
              <a:t>PHP</a:t>
            </a:r>
            <a:r>
              <a:rPr sz="27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file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that</a:t>
            </a:r>
            <a:r>
              <a:rPr sz="27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displays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what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was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entered</a:t>
            </a:r>
            <a:r>
              <a:rPr sz="27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into </a:t>
            </a:r>
            <a:r>
              <a:rPr sz="2700" spc="-7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form</a:t>
            </a:r>
            <a:endParaRPr sz="2700">
              <a:latin typeface="Microsoft Sans Serif"/>
              <a:cs typeface="Microsoft Sans Serif"/>
            </a:endParaRPr>
          </a:p>
          <a:p>
            <a:pPr marL="378460">
              <a:lnSpc>
                <a:spcPts val="2590"/>
              </a:lnSpc>
              <a:spcBef>
                <a:spcPts val="40"/>
              </a:spcBef>
            </a:pPr>
            <a:r>
              <a:rPr sz="1650" spc="-4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650" spc="22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Can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do</a:t>
            </a:r>
            <a:r>
              <a:rPr sz="24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many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other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things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server-side</a:t>
            </a:r>
            <a:r>
              <a:rPr sz="24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depending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4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endParaRPr sz="2400">
              <a:latin typeface="Microsoft Sans Serif"/>
              <a:cs typeface="Microsoft Sans Serif"/>
            </a:endParaRPr>
          </a:p>
          <a:p>
            <a:pPr marL="652780">
              <a:lnSpc>
                <a:spcPts val="2590"/>
              </a:lnSpc>
            </a:pPr>
            <a:r>
              <a:rPr sz="24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situation</a:t>
            </a:r>
            <a:endParaRPr sz="24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35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Note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use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700" spc="1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$_</a:t>
            </a:r>
            <a:r>
              <a:rPr sz="27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7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OST</a:t>
            </a:r>
            <a:endParaRPr sz="2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53328"/>
            <a:ext cx="2240280" cy="713740"/>
          </a:xfrm>
          <a:custGeom>
            <a:avLst/>
            <a:gdLst/>
            <a:ahLst/>
            <a:cxnLst/>
            <a:rect l="l" t="t" r="r" b="b"/>
            <a:pathLst>
              <a:path w="2240280" h="713740">
                <a:moveTo>
                  <a:pt x="2240280" y="0"/>
                </a:moveTo>
                <a:lnTo>
                  <a:pt x="0" y="0"/>
                </a:lnTo>
                <a:lnTo>
                  <a:pt x="0" y="713232"/>
                </a:lnTo>
                <a:lnTo>
                  <a:pt x="2240280" y="713232"/>
                </a:lnTo>
                <a:lnTo>
                  <a:pt x="2240280" y="0"/>
                </a:lnTo>
                <a:close/>
              </a:path>
            </a:pathLst>
          </a:custGeom>
          <a:solidFill>
            <a:srgbClr val="9631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59151" y="6044184"/>
            <a:ext cx="6784975" cy="713740"/>
          </a:xfrm>
          <a:custGeom>
            <a:avLst/>
            <a:gdLst/>
            <a:ahLst/>
            <a:cxnLst/>
            <a:rect l="l" t="t" r="r" b="b"/>
            <a:pathLst>
              <a:path w="6784975" h="713740">
                <a:moveTo>
                  <a:pt x="6784848" y="0"/>
                </a:moveTo>
                <a:lnTo>
                  <a:pt x="0" y="0"/>
                </a:lnTo>
                <a:lnTo>
                  <a:pt x="0" y="713231"/>
                </a:lnTo>
                <a:lnTo>
                  <a:pt x="6784848" y="713231"/>
                </a:lnTo>
                <a:lnTo>
                  <a:pt x="6784848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09465" y="1616709"/>
            <a:ext cx="9226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65" dirty="0"/>
              <a:t>PHP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62833" y="2632075"/>
            <a:ext cx="34188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Cook</a:t>
            </a:r>
            <a:r>
              <a:rPr sz="32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3200" spc="-360" dirty="0">
                <a:solidFill>
                  <a:srgbClr val="963139"/>
                </a:solidFill>
                <a:latin typeface="Microsoft Sans Serif"/>
                <a:cs typeface="Microsoft Sans Serif"/>
              </a:rPr>
              <a:t>es</a:t>
            </a:r>
            <a:r>
              <a:rPr sz="32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32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3200" spc="-39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32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32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ssi</a:t>
            </a:r>
            <a:r>
              <a:rPr sz="3200" spc="-39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3200" spc="-39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3200" spc="-53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45948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0" dirty="0"/>
              <a:t>Co</a:t>
            </a:r>
            <a:r>
              <a:rPr spc="-300" dirty="0"/>
              <a:t>o</a:t>
            </a:r>
            <a:r>
              <a:rPr spc="-325" dirty="0"/>
              <a:t>kies</a:t>
            </a:r>
            <a:r>
              <a:rPr spc="5" dirty="0"/>
              <a:t> </a:t>
            </a:r>
            <a:r>
              <a:rPr spc="-185" dirty="0"/>
              <a:t>and</a:t>
            </a:r>
            <a:r>
              <a:rPr spc="35" dirty="0"/>
              <a:t> </a:t>
            </a:r>
            <a:r>
              <a:rPr spc="-560" dirty="0"/>
              <a:t>sess</a:t>
            </a:r>
            <a:r>
              <a:rPr spc="-265" dirty="0"/>
              <a:t>i</a:t>
            </a:r>
            <a:r>
              <a:rPr spc="-500" dirty="0"/>
              <a:t>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764538"/>
            <a:ext cx="7241540" cy="4306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459" dirty="0">
                <a:solidFill>
                  <a:srgbClr val="963139"/>
                </a:solidFill>
                <a:latin typeface="Microsoft Sans Serif"/>
                <a:cs typeface="Microsoft Sans Serif"/>
              </a:rPr>
              <a:t>HTTP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900" spc="-35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st</a:t>
            </a:r>
            <a:r>
              <a:rPr sz="29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tele</a:t>
            </a:r>
            <a:r>
              <a:rPr sz="29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484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600" dirty="0">
                <a:solidFill>
                  <a:srgbClr val="963139"/>
                </a:solidFill>
                <a:latin typeface="Microsoft Sans Serif"/>
                <a:cs typeface="Microsoft Sans Serif"/>
              </a:rPr>
              <a:t>–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it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does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not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9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eep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900" spc="1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the  </a:t>
            </a:r>
            <a:r>
              <a:rPr sz="29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client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between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requests</a:t>
            </a:r>
            <a:endParaRPr sz="2900">
              <a:latin typeface="Microsoft Sans Serif"/>
              <a:cs typeface="Microsoft Sans Serif"/>
            </a:endParaRPr>
          </a:p>
          <a:p>
            <a:pPr marL="332740" marR="490855" indent="-320040">
              <a:lnSpc>
                <a:spcPct val="100000"/>
              </a:lnSpc>
              <a:spcBef>
                <a:spcPts val="69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But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sometimes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need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9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eep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900" spc="1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this  </a:t>
            </a:r>
            <a:r>
              <a:rPr sz="29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information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25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Sh</a:t>
            </a:r>
            <a:r>
              <a:rPr sz="26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pping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ca</a:t>
            </a:r>
            <a:r>
              <a:rPr sz="26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00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“</a:t>
            </a:r>
            <a:r>
              <a:rPr sz="2600" spc="-38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34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34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345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135" dirty="0">
                <a:solidFill>
                  <a:srgbClr val="963139"/>
                </a:solidFill>
                <a:latin typeface="Microsoft Sans Serif"/>
                <a:cs typeface="Microsoft Sans Serif"/>
              </a:rPr>
              <a:t>”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sit</a:t>
            </a:r>
            <a:r>
              <a:rPr sz="26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434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endParaRPr sz="26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2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solutions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this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issue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15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Cook</a:t>
            </a:r>
            <a:r>
              <a:rPr sz="26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es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540" dirty="0">
                <a:solidFill>
                  <a:srgbClr val="963139"/>
                </a:solidFill>
                <a:latin typeface="Microsoft Sans Serif"/>
                <a:cs typeface="Microsoft Sans Serif"/>
              </a:rPr>
              <a:t>–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small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file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stored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clien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-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side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00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6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ssions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540" dirty="0">
                <a:solidFill>
                  <a:srgbClr val="963139"/>
                </a:solidFill>
                <a:latin typeface="Microsoft Sans Serif"/>
                <a:cs typeface="Microsoft Sans Serif"/>
              </a:rPr>
              <a:t>–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re</a:t>
            </a:r>
            <a:r>
              <a:rPr sz="26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ant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data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stor</a:t>
            </a:r>
            <a:r>
              <a:rPr sz="26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6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er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175831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0" dirty="0"/>
              <a:t>Co</a:t>
            </a:r>
            <a:r>
              <a:rPr spc="-300" dirty="0"/>
              <a:t>o</a:t>
            </a:r>
            <a:r>
              <a:rPr spc="-325" dirty="0"/>
              <a:t>kies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764538"/>
            <a:ext cx="7949565" cy="3623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351790" indent="-320040">
              <a:lnSpc>
                <a:spcPct val="100000"/>
              </a:lnSpc>
              <a:spcBef>
                <a:spcPts val="10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Cookies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are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2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ored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user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’</a:t>
            </a:r>
            <a:r>
              <a:rPr sz="2900" spc="-484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9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wse</a:t>
            </a:r>
            <a:r>
              <a:rPr sz="29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e  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sent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9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er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ery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rele</a:t>
            </a:r>
            <a:r>
              <a:rPr sz="29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ant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request</a:t>
            </a:r>
            <a:endParaRPr sz="2900">
              <a:latin typeface="Microsoft Sans Serif"/>
              <a:cs typeface="Microsoft Sans Serif"/>
            </a:endParaRPr>
          </a:p>
          <a:p>
            <a:pPr marL="332740" marR="131445" indent="-320040">
              <a:lnSpc>
                <a:spcPct val="100000"/>
              </a:lnSpc>
              <a:spcBef>
                <a:spcPts val="69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33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$_C</a:t>
            </a:r>
            <a:r>
              <a:rPr sz="29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900" spc="-59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su</a:t>
            </a:r>
            <a:r>
              <a:rPr sz="29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9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er</a:t>
            </a:r>
            <a:r>
              <a:rPr sz="29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9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loba</a:t>
            </a:r>
            <a:r>
              <a:rPr sz="29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ma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900" spc="-325" dirty="0">
                <a:solidFill>
                  <a:srgbClr val="963139"/>
                </a:solidFill>
                <a:latin typeface="Microsoft Sans Serif"/>
                <a:cs typeface="Microsoft Sans Serif"/>
              </a:rPr>
              <a:t>es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9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-  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value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pairing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25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St</a:t>
            </a:r>
            <a:r>
              <a:rPr sz="26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re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user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6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mat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as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alue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wi</a:t>
            </a:r>
            <a:r>
              <a:rPr sz="26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6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kn</a:t>
            </a:r>
            <a:r>
              <a:rPr sz="26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wn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6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endParaRPr sz="2600">
              <a:latin typeface="Microsoft Sans Serif"/>
              <a:cs typeface="Microsoft Sans Serif"/>
            </a:endParaRPr>
          </a:p>
          <a:p>
            <a:pPr marL="652780" marR="5080" indent="-274320">
              <a:lnSpc>
                <a:spcPct val="100000"/>
              </a:lnSpc>
              <a:spcBef>
                <a:spcPts val="600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 </a:t>
            </a:r>
            <a:r>
              <a:rPr sz="26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Never </a:t>
            </a:r>
            <a:r>
              <a:rPr sz="26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assume</a:t>
            </a:r>
            <a:r>
              <a:rPr sz="26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 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 </a:t>
            </a:r>
            <a:r>
              <a:rPr sz="26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has</a:t>
            </a:r>
            <a:r>
              <a:rPr sz="26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been </a:t>
            </a:r>
            <a:r>
              <a:rPr sz="26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set.</a:t>
            </a:r>
            <a:r>
              <a:rPr sz="26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Always </a:t>
            </a:r>
            <a:r>
              <a:rPr sz="26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check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with </a:t>
            </a:r>
            <a:r>
              <a:rPr sz="2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isset($_COOKIE[$cookie_name]) </a:t>
            </a:r>
            <a:r>
              <a:rPr sz="26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before trying 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 </a:t>
            </a:r>
            <a:r>
              <a:rPr sz="26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use </a:t>
            </a:r>
            <a:r>
              <a:rPr sz="26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cook</a:t>
            </a:r>
            <a:r>
              <a:rPr sz="26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’</a:t>
            </a:r>
            <a:r>
              <a:rPr sz="2600" spc="-434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ue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51295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9" dirty="0"/>
              <a:t>The</a:t>
            </a:r>
            <a:r>
              <a:rPr spc="25" dirty="0"/>
              <a:t> </a:t>
            </a:r>
            <a:r>
              <a:rPr spc="-280" dirty="0"/>
              <a:t>setcooki</a:t>
            </a:r>
            <a:r>
              <a:rPr spc="-330" dirty="0"/>
              <a:t>e</a:t>
            </a:r>
            <a:r>
              <a:rPr spc="-275" dirty="0"/>
              <a:t>()</a:t>
            </a:r>
            <a:r>
              <a:rPr spc="-10" dirty="0"/>
              <a:t> </a:t>
            </a:r>
            <a:r>
              <a:rPr spc="-250" dirty="0"/>
              <a:t>funct</a:t>
            </a:r>
            <a:r>
              <a:rPr spc="-145" dirty="0"/>
              <a:t>i</a:t>
            </a:r>
            <a:r>
              <a:rPr spc="-385" dirty="0"/>
              <a:t>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97481"/>
            <a:ext cx="7852409" cy="4456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5"/>
              </a:spcBef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500" spc="-64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5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5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set</a:t>
            </a:r>
            <a:r>
              <a:rPr sz="25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5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5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325" dirty="0">
                <a:solidFill>
                  <a:srgbClr val="963139"/>
                </a:solidFill>
                <a:latin typeface="Microsoft Sans Serif"/>
                <a:cs typeface="Microsoft Sans Serif"/>
              </a:rPr>
              <a:t>PHP:</a:t>
            </a:r>
            <a:endParaRPr sz="25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setcookie(name,</a:t>
            </a:r>
            <a:r>
              <a:rPr sz="2000" spc="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value,</a:t>
            </a:r>
            <a:r>
              <a:rPr sz="2000" spc="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expire,</a:t>
            </a:r>
            <a:r>
              <a:rPr sz="2000" spc="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path,</a:t>
            </a:r>
            <a:r>
              <a:rPr sz="2000" spc="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domain);</a:t>
            </a:r>
            <a:endParaRPr sz="2000">
              <a:latin typeface="Courier New"/>
              <a:cs typeface="Courier New"/>
            </a:endParaRPr>
          </a:p>
          <a:p>
            <a:pPr marL="332740" indent="-320040">
              <a:lnSpc>
                <a:spcPts val="2750"/>
              </a:lnSpc>
              <a:spcBef>
                <a:spcPts val="114"/>
              </a:spcBef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5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Name</a:t>
            </a:r>
            <a:r>
              <a:rPr sz="25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value</a:t>
            </a:r>
            <a:r>
              <a:rPr sz="25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correspond</a:t>
            </a:r>
            <a:r>
              <a:rPr sz="2500" spc="7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5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$_COOKIE[$name]</a:t>
            </a:r>
            <a:r>
              <a:rPr sz="20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endParaRPr sz="2000">
              <a:latin typeface="Courier New"/>
              <a:cs typeface="Courier New"/>
            </a:endParaRPr>
          </a:p>
          <a:p>
            <a:pPr marL="332740">
              <a:lnSpc>
                <a:spcPts val="2150"/>
              </a:lnSpc>
            </a:pPr>
            <a:r>
              <a:rPr sz="2000" spc="-5" dirty="0">
                <a:solidFill>
                  <a:srgbClr val="963139"/>
                </a:solidFill>
                <a:latin typeface="Courier New"/>
                <a:cs typeface="Courier New"/>
              </a:rPr>
              <a:t>$value</a:t>
            </a:r>
            <a:endParaRPr sz="2000">
              <a:latin typeface="Courier New"/>
              <a:cs typeface="Courier New"/>
            </a:endParaRPr>
          </a:p>
          <a:p>
            <a:pPr marL="332740" marR="1001394" indent="-320040">
              <a:lnSpc>
                <a:spcPts val="2400"/>
              </a:lnSpc>
              <a:spcBef>
                <a:spcPts val="700"/>
              </a:spcBef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5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Expiration</a:t>
            </a:r>
            <a:r>
              <a:rPr sz="25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515" dirty="0">
                <a:solidFill>
                  <a:srgbClr val="963139"/>
                </a:solidFill>
                <a:latin typeface="Microsoft Sans Serif"/>
                <a:cs typeface="Microsoft Sans Serif"/>
              </a:rPr>
              <a:t>–</a:t>
            </a:r>
            <a:r>
              <a:rPr sz="25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</a:t>
            </a:r>
            <a:r>
              <a:rPr sz="25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will</a:t>
            </a:r>
            <a:r>
              <a:rPr sz="25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no</a:t>
            </a:r>
            <a:r>
              <a:rPr sz="25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longer</a:t>
            </a:r>
            <a:r>
              <a:rPr sz="25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be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read</a:t>
            </a:r>
            <a:r>
              <a:rPr sz="25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after</a:t>
            </a:r>
            <a:r>
              <a:rPr sz="25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the </a:t>
            </a:r>
            <a:r>
              <a:rPr sz="2500" spc="-65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expiration</a:t>
            </a:r>
            <a:endParaRPr sz="25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110"/>
              </a:spcBef>
            </a:pPr>
            <a:r>
              <a:rPr sz="1500" spc="-40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500" spc="3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2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Useful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2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use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time</a:t>
            </a:r>
            <a:r>
              <a:rPr sz="22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2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seconds</a:t>
            </a:r>
            <a:r>
              <a:rPr sz="22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relative</a:t>
            </a:r>
            <a:r>
              <a:rPr sz="2200" spc="5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2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present:</a:t>
            </a:r>
            <a:endParaRPr sz="2200">
              <a:latin typeface="Microsoft Sans Serif"/>
              <a:cs typeface="Microsoft Sans Serif"/>
            </a:endParaRPr>
          </a:p>
          <a:p>
            <a:pPr marL="927100" lvl="1" indent="-229235">
              <a:lnSpc>
                <a:spcPct val="100000"/>
              </a:lnSpc>
              <a:spcBef>
                <a:spcPts val="20"/>
              </a:spcBef>
              <a:buSzPct val="75000"/>
              <a:buFont typeface="Wingdings"/>
              <a:buChar char=""/>
              <a:tabLst>
                <a:tab pos="927735" algn="l"/>
              </a:tabLst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time()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000" spc="165" dirty="0">
                <a:solidFill>
                  <a:srgbClr val="963139"/>
                </a:solidFill>
                <a:latin typeface="Microsoft Sans Serif"/>
                <a:cs typeface="Microsoft Sans Serif"/>
              </a:rPr>
              <a:t>+</a:t>
            </a:r>
            <a:r>
              <a:rPr sz="20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time</a:t>
            </a:r>
            <a:r>
              <a:rPr sz="20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0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0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seconds</a:t>
            </a:r>
            <a:r>
              <a:rPr sz="20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until</a:t>
            </a:r>
            <a:r>
              <a:rPr sz="20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expiration</a:t>
            </a:r>
            <a:endParaRPr sz="2000">
              <a:latin typeface="Microsoft Sans Serif"/>
              <a:cs typeface="Microsoft Sans Serif"/>
            </a:endParaRPr>
          </a:p>
          <a:p>
            <a:pPr marL="332740" marR="468630" indent="-320040">
              <a:lnSpc>
                <a:spcPts val="2400"/>
              </a:lnSpc>
              <a:spcBef>
                <a:spcPts val="665"/>
              </a:spcBef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5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Path</a:t>
            </a:r>
            <a:r>
              <a:rPr sz="25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domain</a:t>
            </a:r>
            <a:r>
              <a:rPr sz="25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refer</a:t>
            </a:r>
            <a:r>
              <a:rPr sz="25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5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where</a:t>
            </a:r>
            <a:r>
              <a:rPr sz="25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5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5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site</a:t>
            </a:r>
            <a:r>
              <a:rPr sz="25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5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is </a:t>
            </a:r>
            <a:r>
              <a:rPr sz="2500" spc="-65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valid</a:t>
            </a:r>
            <a:endParaRPr sz="25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110"/>
              </a:spcBef>
            </a:pPr>
            <a:r>
              <a:rPr sz="1500" spc="-40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500" spc="3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Usually</a:t>
            </a:r>
            <a:r>
              <a:rPr sz="22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150" dirty="0">
                <a:solidFill>
                  <a:srgbClr val="963139"/>
                </a:solidFill>
                <a:latin typeface="Microsoft Sans Serif"/>
                <a:cs typeface="Microsoft Sans Serif"/>
              </a:rPr>
              <a:t>‘/’</a:t>
            </a:r>
            <a:r>
              <a:rPr sz="22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for</a:t>
            </a:r>
            <a:r>
              <a:rPr sz="22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path</a:t>
            </a:r>
            <a:r>
              <a:rPr sz="22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2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top-level</a:t>
            </a:r>
            <a:r>
              <a:rPr sz="22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domain</a:t>
            </a:r>
            <a:r>
              <a:rPr sz="22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(yoursitename.com)</a:t>
            </a:r>
            <a:endParaRPr sz="2200">
              <a:latin typeface="Microsoft Sans Serif"/>
              <a:cs typeface="Microsoft Sans Serif"/>
            </a:endParaRPr>
          </a:p>
          <a:p>
            <a:pPr marL="332740" marR="229870" indent="-320040">
              <a:lnSpc>
                <a:spcPct val="80000"/>
              </a:lnSpc>
              <a:spcBef>
                <a:spcPts val="680"/>
              </a:spcBef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500" spc="-64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5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5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5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elete</a:t>
            </a:r>
            <a:r>
              <a:rPr sz="25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5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</a:t>
            </a:r>
            <a:r>
              <a:rPr sz="25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5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set</a:t>
            </a:r>
            <a:r>
              <a:rPr sz="25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5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5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5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5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</a:t>
            </a:r>
            <a:r>
              <a:rPr sz="25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same</a:t>
            </a:r>
            <a:r>
              <a:rPr sz="25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arguments  </a:t>
            </a:r>
            <a:r>
              <a:rPr sz="25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but</a:t>
            </a:r>
            <a:r>
              <a:rPr sz="25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expiration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5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past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33242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Setting</a:t>
            </a:r>
            <a:r>
              <a:rPr spc="-50" dirty="0"/>
              <a:t> </a:t>
            </a:r>
            <a:r>
              <a:rPr spc="-330" dirty="0"/>
              <a:t>cookies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78534"/>
            <a:ext cx="7929880" cy="475488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8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Cookies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are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set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via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459" dirty="0">
                <a:solidFill>
                  <a:srgbClr val="963139"/>
                </a:solidFill>
                <a:latin typeface="Microsoft Sans Serif"/>
                <a:cs typeface="Microsoft Sans Serif"/>
              </a:rPr>
              <a:t>HTTP</a:t>
            </a:r>
            <a:r>
              <a:rPr sz="29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header</a:t>
            </a:r>
            <a:endParaRPr sz="2900">
              <a:latin typeface="Microsoft Sans Serif"/>
              <a:cs typeface="Microsoft Sans Serif"/>
            </a:endParaRPr>
          </a:p>
          <a:p>
            <a:pPr marL="652780" marR="5080" indent="-274320">
              <a:lnSpc>
                <a:spcPct val="100000"/>
              </a:lnSpc>
              <a:spcBef>
                <a:spcPts val="615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 </a:t>
            </a:r>
            <a:r>
              <a:rPr sz="26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Must</a:t>
            </a:r>
            <a:r>
              <a:rPr sz="2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be </a:t>
            </a:r>
            <a:r>
              <a:rPr sz="2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sent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before 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the </a:t>
            </a:r>
            <a:r>
              <a:rPr sz="26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body </a:t>
            </a:r>
            <a:r>
              <a:rPr sz="2600" spc="540" dirty="0">
                <a:solidFill>
                  <a:srgbClr val="963139"/>
                </a:solidFill>
                <a:latin typeface="Microsoft Sans Serif"/>
                <a:cs typeface="Microsoft Sans Serif"/>
              </a:rPr>
              <a:t>– </a:t>
            </a:r>
            <a:r>
              <a:rPr sz="26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before </a:t>
            </a:r>
            <a:r>
              <a:rPr sz="26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any </a:t>
            </a:r>
            <a:r>
              <a:rPr sz="26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HTML,</a:t>
            </a:r>
            <a:r>
              <a:rPr sz="26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350" dirty="0">
                <a:solidFill>
                  <a:srgbClr val="963139"/>
                </a:solidFill>
                <a:latin typeface="Microsoft Sans Serif"/>
                <a:cs typeface="Microsoft Sans Serif"/>
              </a:rPr>
              <a:t>CSS, </a:t>
            </a:r>
            <a:r>
              <a:rPr sz="2600" spc="-3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J</a:t>
            </a:r>
            <a:r>
              <a:rPr sz="2600" spc="-49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c.</a:t>
            </a:r>
            <a:endParaRPr sz="26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340" dirty="0">
                <a:solidFill>
                  <a:srgbClr val="963139"/>
                </a:solidFill>
                <a:latin typeface="Microsoft Sans Serif"/>
                <a:cs typeface="Microsoft Sans Serif"/>
              </a:rPr>
              <a:t>This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code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will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not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9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k:</a:t>
            </a:r>
            <a:endParaRPr sz="2900">
              <a:latin typeface="Microsoft Sans Serif"/>
              <a:cs typeface="Microsoft Sans Serif"/>
            </a:endParaRPr>
          </a:p>
          <a:p>
            <a:pPr marL="466725">
              <a:lnSpc>
                <a:spcPct val="100000"/>
              </a:lnSpc>
              <a:spcBef>
                <a:spcPts val="261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if(isset($_COOKIE["6470"]))</a:t>
            </a:r>
            <a:r>
              <a:rPr sz="1800" spc="-6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381125" marR="230886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$value</a:t>
            </a:r>
            <a:r>
              <a:rPr sz="1800" spc="106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108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$_COOKIE['6470'];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"Cookie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set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to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$value";</a:t>
            </a:r>
            <a:endParaRPr sz="1800">
              <a:latin typeface="Courier New"/>
              <a:cs typeface="Courier New"/>
            </a:endParaRPr>
          </a:p>
          <a:p>
            <a:pPr marL="466725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46672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else</a:t>
            </a:r>
            <a:r>
              <a:rPr sz="1800" spc="-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38112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$value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0;</a:t>
            </a:r>
            <a:endParaRPr sz="1800">
              <a:latin typeface="Courier New"/>
              <a:cs typeface="Courier New"/>
            </a:endParaRPr>
          </a:p>
          <a:p>
            <a:pPr marL="466725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466725" marR="14478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after echo statement: will not work!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setcookie("6470",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$value+1,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time()+60*60);?&gt;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56203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5" dirty="0"/>
              <a:t>Example</a:t>
            </a:r>
            <a:r>
              <a:rPr spc="10" dirty="0"/>
              <a:t> </a:t>
            </a:r>
            <a:r>
              <a:rPr dirty="0"/>
              <a:t>of</a:t>
            </a:r>
            <a:r>
              <a:rPr spc="155" dirty="0"/>
              <a:t> </a:t>
            </a:r>
            <a:r>
              <a:rPr spc="-260" dirty="0"/>
              <a:t>cookie</a:t>
            </a:r>
            <a:r>
              <a:rPr spc="25" dirty="0"/>
              <a:t> </a:t>
            </a:r>
            <a:r>
              <a:rPr spc="-425" dirty="0"/>
              <a:t>usa</a:t>
            </a:r>
            <a:r>
              <a:rPr spc="-125" dirty="0"/>
              <a:t>g</a:t>
            </a:r>
            <a:r>
              <a:rPr spc="-24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676752"/>
            <a:ext cx="7819390" cy="350583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First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visit: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form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with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text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field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for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user’s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name</a:t>
            </a:r>
            <a:endParaRPr sz="29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Subsequent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visit</a:t>
            </a:r>
            <a:r>
              <a:rPr sz="29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: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9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elco</a:t>
            </a:r>
            <a:r>
              <a:rPr sz="2900" spc="-375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messa</a:t>
            </a:r>
            <a:r>
              <a:rPr sz="29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with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name</a:t>
            </a:r>
            <a:endParaRPr sz="29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Sto</a:t>
            </a:r>
            <a:r>
              <a:rPr sz="29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name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field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9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cookie: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15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Key: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“name”;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value: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user’s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name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input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into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form</a:t>
            </a:r>
            <a:endParaRPr sz="2600">
              <a:latin typeface="Microsoft Sans Serif"/>
              <a:cs typeface="Microsoft Sans Serif"/>
            </a:endParaRPr>
          </a:p>
          <a:p>
            <a:pPr marL="332740" marR="748030" indent="-320040">
              <a:lnSpc>
                <a:spcPct val="100000"/>
              </a:lnSpc>
              <a:spcBef>
                <a:spcPts val="68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65" dirty="0">
                <a:solidFill>
                  <a:srgbClr val="963139"/>
                </a:solidFill>
                <a:latin typeface="Microsoft Sans Serif"/>
                <a:cs typeface="Microsoft Sans Serif"/>
              </a:rPr>
              <a:t>Remember: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when</a:t>
            </a:r>
            <a:r>
              <a:rPr sz="29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is</a:t>
            </a:r>
            <a:r>
              <a:rPr sz="29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set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(the</a:t>
            </a:r>
            <a:r>
              <a:rPr sz="29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setcookie </a:t>
            </a:r>
            <a:r>
              <a:rPr sz="2900" spc="-76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call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900" spc="-35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made</a:t>
            </a:r>
            <a:r>
              <a:rPr sz="29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)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can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only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be  </a:t>
            </a:r>
            <a:r>
              <a:rPr sz="29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acces</a:t>
            </a:r>
            <a:r>
              <a:rPr sz="29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ed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b="1" spc="-240" dirty="0">
                <a:solidFill>
                  <a:srgbClr val="963139"/>
                </a:solidFill>
                <a:latin typeface="Arial"/>
                <a:cs typeface="Arial"/>
              </a:rPr>
              <a:t>n</a:t>
            </a:r>
            <a:r>
              <a:rPr sz="2900" b="1" spc="-285" dirty="0">
                <a:solidFill>
                  <a:srgbClr val="963139"/>
                </a:solidFill>
                <a:latin typeface="Arial"/>
                <a:cs typeface="Arial"/>
              </a:rPr>
              <a:t>e</a:t>
            </a:r>
            <a:r>
              <a:rPr sz="2900" b="1" spc="-145" dirty="0">
                <a:solidFill>
                  <a:srgbClr val="963139"/>
                </a:solidFill>
                <a:latin typeface="Arial"/>
                <a:cs typeface="Arial"/>
              </a:rPr>
              <a:t>xt</a:t>
            </a:r>
            <a:r>
              <a:rPr sz="2900" b="1" spc="-45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9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re</a:t>
            </a:r>
            <a:r>
              <a:rPr sz="29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q</a:t>
            </a:r>
            <a:r>
              <a:rPr sz="29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uest</a:t>
            </a:r>
            <a:endParaRPr sz="2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77393"/>
            <a:ext cx="7860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25" dirty="0"/>
              <a:t>Contents</a:t>
            </a:r>
            <a:r>
              <a:rPr sz="4000" spc="40" dirty="0"/>
              <a:t> </a:t>
            </a:r>
            <a:r>
              <a:rPr sz="4000" spc="-5" dirty="0"/>
              <a:t>of</a:t>
            </a:r>
            <a:r>
              <a:rPr sz="4000" spc="165" dirty="0"/>
              <a:t> </a:t>
            </a:r>
            <a:r>
              <a:rPr sz="4000" spc="-245" dirty="0"/>
              <a:t>the</a:t>
            </a:r>
            <a:r>
              <a:rPr sz="4000" spc="40" dirty="0"/>
              <a:t> </a:t>
            </a:r>
            <a:r>
              <a:rPr sz="4000" spc="-635" dirty="0"/>
              <a:t>HTTP</a:t>
            </a:r>
            <a:r>
              <a:rPr sz="4000" spc="40" dirty="0"/>
              <a:t> </a:t>
            </a:r>
            <a:r>
              <a:rPr sz="4000" spc="-100" dirty="0"/>
              <a:t>request/r</a:t>
            </a:r>
            <a:r>
              <a:rPr sz="4000" spc="-120" dirty="0"/>
              <a:t>e</a:t>
            </a:r>
            <a:r>
              <a:rPr sz="4000" spc="-380" dirty="0"/>
              <a:t>sponse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2200275" y="2047875"/>
            <a:ext cx="3752850" cy="476250"/>
            <a:chOff x="2200275" y="2047875"/>
            <a:chExt cx="3752850" cy="476250"/>
          </a:xfrm>
        </p:grpSpPr>
        <p:sp>
          <p:nvSpPr>
            <p:cNvPr id="4" name="object 4"/>
            <p:cNvSpPr/>
            <p:nvPr/>
          </p:nvSpPr>
          <p:spPr>
            <a:xfrm>
              <a:off x="2209800" y="2057400"/>
              <a:ext cx="3733800" cy="457200"/>
            </a:xfrm>
            <a:custGeom>
              <a:avLst/>
              <a:gdLst/>
              <a:ahLst/>
              <a:cxnLst/>
              <a:rect l="l" t="t" r="r" b="b"/>
              <a:pathLst>
                <a:path w="3733800" h="457200">
                  <a:moveTo>
                    <a:pt x="3505200" y="0"/>
                  </a:moveTo>
                  <a:lnTo>
                    <a:pt x="3505200" y="114300"/>
                  </a:lnTo>
                  <a:lnTo>
                    <a:pt x="0" y="114300"/>
                  </a:lnTo>
                  <a:lnTo>
                    <a:pt x="0" y="342900"/>
                  </a:lnTo>
                  <a:lnTo>
                    <a:pt x="3505200" y="342900"/>
                  </a:lnTo>
                  <a:lnTo>
                    <a:pt x="3505200" y="457200"/>
                  </a:lnTo>
                  <a:lnTo>
                    <a:pt x="3733800" y="228600"/>
                  </a:lnTo>
                  <a:lnTo>
                    <a:pt x="3505200" y="0"/>
                  </a:lnTo>
                  <a:close/>
                </a:path>
              </a:pathLst>
            </a:custGeom>
            <a:solidFill>
              <a:srgbClr val="9631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09800" y="2057400"/>
              <a:ext cx="3733800" cy="457200"/>
            </a:xfrm>
            <a:custGeom>
              <a:avLst/>
              <a:gdLst/>
              <a:ahLst/>
              <a:cxnLst/>
              <a:rect l="l" t="t" r="r" b="b"/>
              <a:pathLst>
                <a:path w="3733800" h="457200">
                  <a:moveTo>
                    <a:pt x="0" y="114300"/>
                  </a:moveTo>
                  <a:lnTo>
                    <a:pt x="3505200" y="114300"/>
                  </a:lnTo>
                  <a:lnTo>
                    <a:pt x="3505200" y="0"/>
                  </a:lnTo>
                  <a:lnTo>
                    <a:pt x="3733800" y="228600"/>
                  </a:lnTo>
                  <a:lnTo>
                    <a:pt x="3505200" y="457200"/>
                  </a:lnTo>
                  <a:lnTo>
                    <a:pt x="3505200" y="342900"/>
                  </a:lnTo>
                  <a:lnTo>
                    <a:pt x="0" y="342900"/>
                  </a:lnTo>
                  <a:lnTo>
                    <a:pt x="0" y="11430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124075" y="2785872"/>
            <a:ext cx="3752850" cy="476250"/>
            <a:chOff x="2124075" y="2785872"/>
            <a:chExt cx="3752850" cy="476250"/>
          </a:xfrm>
        </p:grpSpPr>
        <p:sp>
          <p:nvSpPr>
            <p:cNvPr id="7" name="object 7"/>
            <p:cNvSpPr/>
            <p:nvPr/>
          </p:nvSpPr>
          <p:spPr>
            <a:xfrm>
              <a:off x="2133600" y="2795397"/>
              <a:ext cx="3733800" cy="457200"/>
            </a:xfrm>
            <a:custGeom>
              <a:avLst/>
              <a:gdLst/>
              <a:ahLst/>
              <a:cxnLst/>
              <a:rect l="l" t="t" r="r" b="b"/>
              <a:pathLst>
                <a:path w="3733800" h="457200">
                  <a:moveTo>
                    <a:pt x="228600" y="0"/>
                  </a:moveTo>
                  <a:lnTo>
                    <a:pt x="0" y="228600"/>
                  </a:lnTo>
                  <a:lnTo>
                    <a:pt x="228600" y="457200"/>
                  </a:lnTo>
                  <a:lnTo>
                    <a:pt x="228600" y="342900"/>
                  </a:lnTo>
                  <a:lnTo>
                    <a:pt x="3733800" y="342900"/>
                  </a:lnTo>
                  <a:lnTo>
                    <a:pt x="3733800" y="114300"/>
                  </a:lnTo>
                  <a:lnTo>
                    <a:pt x="228600" y="1143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AD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33600" y="2795397"/>
              <a:ext cx="3733800" cy="457200"/>
            </a:xfrm>
            <a:custGeom>
              <a:avLst/>
              <a:gdLst/>
              <a:ahLst/>
              <a:cxnLst/>
              <a:rect l="l" t="t" r="r" b="b"/>
              <a:pathLst>
                <a:path w="3733800" h="457200">
                  <a:moveTo>
                    <a:pt x="0" y="228600"/>
                  </a:moveTo>
                  <a:lnTo>
                    <a:pt x="228600" y="0"/>
                  </a:lnTo>
                  <a:lnTo>
                    <a:pt x="228600" y="114300"/>
                  </a:lnTo>
                  <a:lnTo>
                    <a:pt x="3733800" y="114300"/>
                  </a:lnTo>
                  <a:lnTo>
                    <a:pt x="3733800" y="342900"/>
                  </a:lnTo>
                  <a:lnTo>
                    <a:pt x="228600" y="342900"/>
                  </a:lnTo>
                  <a:lnTo>
                    <a:pt x="228600" y="45720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200275" y="3576192"/>
            <a:ext cx="3752850" cy="476250"/>
            <a:chOff x="2200275" y="3576192"/>
            <a:chExt cx="3752850" cy="476250"/>
          </a:xfrm>
        </p:grpSpPr>
        <p:sp>
          <p:nvSpPr>
            <p:cNvPr id="10" name="object 10"/>
            <p:cNvSpPr/>
            <p:nvPr/>
          </p:nvSpPr>
          <p:spPr>
            <a:xfrm>
              <a:off x="2209800" y="3585717"/>
              <a:ext cx="3733800" cy="457200"/>
            </a:xfrm>
            <a:custGeom>
              <a:avLst/>
              <a:gdLst/>
              <a:ahLst/>
              <a:cxnLst/>
              <a:rect l="l" t="t" r="r" b="b"/>
              <a:pathLst>
                <a:path w="3733800" h="457200">
                  <a:moveTo>
                    <a:pt x="3505200" y="0"/>
                  </a:moveTo>
                  <a:lnTo>
                    <a:pt x="3505200" y="114300"/>
                  </a:lnTo>
                  <a:lnTo>
                    <a:pt x="0" y="114300"/>
                  </a:lnTo>
                  <a:lnTo>
                    <a:pt x="0" y="342900"/>
                  </a:lnTo>
                  <a:lnTo>
                    <a:pt x="3505200" y="342900"/>
                  </a:lnTo>
                  <a:lnTo>
                    <a:pt x="3505200" y="457200"/>
                  </a:lnTo>
                  <a:lnTo>
                    <a:pt x="3733800" y="228600"/>
                  </a:lnTo>
                  <a:lnTo>
                    <a:pt x="3505200" y="0"/>
                  </a:lnTo>
                  <a:close/>
                </a:path>
              </a:pathLst>
            </a:custGeom>
            <a:solidFill>
              <a:srgbClr val="9631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09800" y="3585717"/>
              <a:ext cx="3733800" cy="457200"/>
            </a:xfrm>
            <a:custGeom>
              <a:avLst/>
              <a:gdLst/>
              <a:ahLst/>
              <a:cxnLst/>
              <a:rect l="l" t="t" r="r" b="b"/>
              <a:pathLst>
                <a:path w="3733800" h="457200">
                  <a:moveTo>
                    <a:pt x="0" y="114300"/>
                  </a:moveTo>
                  <a:lnTo>
                    <a:pt x="3505200" y="114300"/>
                  </a:lnTo>
                  <a:lnTo>
                    <a:pt x="3505200" y="0"/>
                  </a:lnTo>
                  <a:lnTo>
                    <a:pt x="3733800" y="228600"/>
                  </a:lnTo>
                  <a:lnTo>
                    <a:pt x="3505200" y="457200"/>
                  </a:lnTo>
                  <a:lnTo>
                    <a:pt x="3505200" y="342900"/>
                  </a:lnTo>
                  <a:lnTo>
                    <a:pt x="0" y="342900"/>
                  </a:lnTo>
                  <a:lnTo>
                    <a:pt x="0" y="11430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276475" y="5019675"/>
            <a:ext cx="3752850" cy="476250"/>
            <a:chOff x="2276475" y="5019675"/>
            <a:chExt cx="3752850" cy="476250"/>
          </a:xfrm>
        </p:grpSpPr>
        <p:sp>
          <p:nvSpPr>
            <p:cNvPr id="13" name="object 13"/>
            <p:cNvSpPr/>
            <p:nvPr/>
          </p:nvSpPr>
          <p:spPr>
            <a:xfrm>
              <a:off x="2286000" y="5029200"/>
              <a:ext cx="3733800" cy="457200"/>
            </a:xfrm>
            <a:custGeom>
              <a:avLst/>
              <a:gdLst/>
              <a:ahLst/>
              <a:cxnLst/>
              <a:rect l="l" t="t" r="r" b="b"/>
              <a:pathLst>
                <a:path w="3733800" h="457200">
                  <a:moveTo>
                    <a:pt x="3505200" y="0"/>
                  </a:moveTo>
                  <a:lnTo>
                    <a:pt x="3505200" y="114300"/>
                  </a:lnTo>
                  <a:lnTo>
                    <a:pt x="0" y="114300"/>
                  </a:lnTo>
                  <a:lnTo>
                    <a:pt x="0" y="342900"/>
                  </a:lnTo>
                  <a:lnTo>
                    <a:pt x="3505200" y="342900"/>
                  </a:lnTo>
                  <a:lnTo>
                    <a:pt x="3505200" y="457200"/>
                  </a:lnTo>
                  <a:lnTo>
                    <a:pt x="3733800" y="228600"/>
                  </a:lnTo>
                  <a:lnTo>
                    <a:pt x="3505200" y="0"/>
                  </a:lnTo>
                  <a:close/>
                </a:path>
              </a:pathLst>
            </a:custGeom>
            <a:solidFill>
              <a:srgbClr val="9631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86000" y="5029200"/>
              <a:ext cx="3733800" cy="457200"/>
            </a:xfrm>
            <a:custGeom>
              <a:avLst/>
              <a:gdLst/>
              <a:ahLst/>
              <a:cxnLst/>
              <a:rect l="l" t="t" r="r" b="b"/>
              <a:pathLst>
                <a:path w="3733800" h="457200">
                  <a:moveTo>
                    <a:pt x="0" y="114300"/>
                  </a:moveTo>
                  <a:lnTo>
                    <a:pt x="3505200" y="114300"/>
                  </a:lnTo>
                  <a:lnTo>
                    <a:pt x="3505200" y="0"/>
                  </a:lnTo>
                  <a:lnTo>
                    <a:pt x="3733800" y="228600"/>
                  </a:lnTo>
                  <a:lnTo>
                    <a:pt x="3505200" y="457200"/>
                  </a:lnTo>
                  <a:lnTo>
                    <a:pt x="3505200" y="342900"/>
                  </a:lnTo>
                  <a:lnTo>
                    <a:pt x="0" y="342900"/>
                  </a:lnTo>
                  <a:lnTo>
                    <a:pt x="0" y="11430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124075" y="4333875"/>
            <a:ext cx="3752850" cy="476250"/>
            <a:chOff x="2124075" y="4333875"/>
            <a:chExt cx="3752850" cy="476250"/>
          </a:xfrm>
        </p:grpSpPr>
        <p:sp>
          <p:nvSpPr>
            <p:cNvPr id="16" name="object 16"/>
            <p:cNvSpPr/>
            <p:nvPr/>
          </p:nvSpPr>
          <p:spPr>
            <a:xfrm>
              <a:off x="2133600" y="4343400"/>
              <a:ext cx="3733800" cy="457200"/>
            </a:xfrm>
            <a:custGeom>
              <a:avLst/>
              <a:gdLst/>
              <a:ahLst/>
              <a:cxnLst/>
              <a:rect l="l" t="t" r="r" b="b"/>
              <a:pathLst>
                <a:path w="3733800" h="457200">
                  <a:moveTo>
                    <a:pt x="228600" y="0"/>
                  </a:moveTo>
                  <a:lnTo>
                    <a:pt x="0" y="228600"/>
                  </a:lnTo>
                  <a:lnTo>
                    <a:pt x="228600" y="457200"/>
                  </a:lnTo>
                  <a:lnTo>
                    <a:pt x="228600" y="342900"/>
                  </a:lnTo>
                  <a:lnTo>
                    <a:pt x="3733800" y="342900"/>
                  </a:lnTo>
                  <a:lnTo>
                    <a:pt x="3733800" y="114300"/>
                  </a:lnTo>
                  <a:lnTo>
                    <a:pt x="228600" y="1143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AD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33600" y="4343400"/>
              <a:ext cx="3733800" cy="457200"/>
            </a:xfrm>
            <a:custGeom>
              <a:avLst/>
              <a:gdLst/>
              <a:ahLst/>
              <a:cxnLst/>
              <a:rect l="l" t="t" r="r" b="b"/>
              <a:pathLst>
                <a:path w="3733800" h="457200">
                  <a:moveTo>
                    <a:pt x="0" y="228600"/>
                  </a:moveTo>
                  <a:lnTo>
                    <a:pt x="228600" y="0"/>
                  </a:lnTo>
                  <a:lnTo>
                    <a:pt x="228600" y="114300"/>
                  </a:lnTo>
                  <a:lnTo>
                    <a:pt x="3733800" y="114300"/>
                  </a:lnTo>
                  <a:lnTo>
                    <a:pt x="3733800" y="342900"/>
                  </a:lnTo>
                  <a:lnTo>
                    <a:pt x="228600" y="342900"/>
                  </a:lnTo>
                  <a:lnTo>
                    <a:pt x="228600" y="45720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124075" y="5781675"/>
            <a:ext cx="3752850" cy="476250"/>
            <a:chOff x="2124075" y="5781675"/>
            <a:chExt cx="3752850" cy="476250"/>
          </a:xfrm>
        </p:grpSpPr>
        <p:sp>
          <p:nvSpPr>
            <p:cNvPr id="19" name="object 19"/>
            <p:cNvSpPr/>
            <p:nvPr/>
          </p:nvSpPr>
          <p:spPr>
            <a:xfrm>
              <a:off x="2133600" y="5791200"/>
              <a:ext cx="3733800" cy="457200"/>
            </a:xfrm>
            <a:custGeom>
              <a:avLst/>
              <a:gdLst/>
              <a:ahLst/>
              <a:cxnLst/>
              <a:rect l="l" t="t" r="r" b="b"/>
              <a:pathLst>
                <a:path w="3733800" h="457200">
                  <a:moveTo>
                    <a:pt x="228600" y="0"/>
                  </a:moveTo>
                  <a:lnTo>
                    <a:pt x="0" y="228600"/>
                  </a:lnTo>
                  <a:lnTo>
                    <a:pt x="228600" y="457200"/>
                  </a:lnTo>
                  <a:lnTo>
                    <a:pt x="228600" y="342900"/>
                  </a:lnTo>
                  <a:lnTo>
                    <a:pt x="3733800" y="342900"/>
                  </a:lnTo>
                  <a:lnTo>
                    <a:pt x="3733800" y="114300"/>
                  </a:lnTo>
                  <a:lnTo>
                    <a:pt x="228600" y="1143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AD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33600" y="5791200"/>
              <a:ext cx="3733800" cy="457200"/>
            </a:xfrm>
            <a:custGeom>
              <a:avLst/>
              <a:gdLst/>
              <a:ahLst/>
              <a:cxnLst/>
              <a:rect l="l" t="t" r="r" b="b"/>
              <a:pathLst>
                <a:path w="3733800" h="457200">
                  <a:moveTo>
                    <a:pt x="0" y="228600"/>
                  </a:moveTo>
                  <a:lnTo>
                    <a:pt x="228600" y="0"/>
                  </a:lnTo>
                  <a:lnTo>
                    <a:pt x="228600" y="114300"/>
                  </a:lnTo>
                  <a:lnTo>
                    <a:pt x="3733800" y="114300"/>
                  </a:lnTo>
                  <a:lnTo>
                    <a:pt x="3733800" y="342900"/>
                  </a:lnTo>
                  <a:lnTo>
                    <a:pt x="228600" y="342900"/>
                  </a:lnTo>
                  <a:lnTo>
                    <a:pt x="228600" y="457200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593594" y="1861820"/>
            <a:ext cx="2748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TP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requ</a:t>
            </a:r>
            <a:r>
              <a:rPr sz="18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est:</a:t>
            </a:r>
            <a:r>
              <a:rPr sz="18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18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coo</a:t>
            </a:r>
            <a:r>
              <a:rPr sz="18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18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1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.p</a:t>
            </a:r>
            <a:r>
              <a:rPr sz="18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22194" y="2623820"/>
            <a:ext cx="2360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TP</a:t>
            </a:r>
            <a:r>
              <a:rPr sz="18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repo</a:t>
            </a:r>
            <a:r>
              <a:rPr sz="18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18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18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:</a:t>
            </a:r>
            <a:r>
              <a:rPr sz="18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ML</a:t>
            </a:r>
            <a:r>
              <a:rPr sz="18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5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18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18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55494" y="3386073"/>
            <a:ext cx="34499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TP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requ</a:t>
            </a:r>
            <a:r>
              <a:rPr sz="18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est:</a:t>
            </a:r>
            <a:r>
              <a:rPr sz="18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18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name=</a:t>
            </a:r>
            <a:r>
              <a:rPr sz="18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“</a:t>
            </a:r>
            <a:r>
              <a:rPr sz="18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use</a:t>
            </a:r>
            <a:r>
              <a:rPr sz="18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18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18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1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me”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98394" y="4148073"/>
            <a:ext cx="2353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TT</a:t>
            </a:r>
            <a:r>
              <a:rPr sz="18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res</a:t>
            </a:r>
            <a:r>
              <a:rPr sz="18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18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18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18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18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:</a:t>
            </a:r>
            <a:r>
              <a:rPr sz="18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1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18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oo</a:t>
            </a:r>
            <a:r>
              <a:rPr sz="18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18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ie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60194" y="4822317"/>
            <a:ext cx="395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HTTP</a:t>
            </a:r>
            <a:r>
              <a:rPr sz="18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request:</a:t>
            </a:r>
            <a:r>
              <a:rPr sz="18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</a:t>
            </a:r>
            <a:r>
              <a:rPr sz="18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“name”</a:t>
            </a:r>
            <a:r>
              <a:rPr sz="1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145" dirty="0">
                <a:solidFill>
                  <a:srgbClr val="963139"/>
                </a:solidFill>
                <a:latin typeface="Microsoft Sans Serif"/>
                <a:cs typeface="Microsoft Sans Serif"/>
              </a:rPr>
              <a:t>=</a:t>
            </a:r>
            <a:r>
              <a:rPr sz="18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“username”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69794" y="5584647"/>
            <a:ext cx="2875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TP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respon</a:t>
            </a:r>
            <a:r>
              <a:rPr sz="18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se:</a:t>
            </a:r>
            <a:r>
              <a:rPr sz="18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up</a:t>
            </a:r>
            <a:r>
              <a:rPr sz="1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da</a:t>
            </a:r>
            <a:r>
              <a:rPr sz="1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ed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coo</a:t>
            </a:r>
            <a:r>
              <a:rPr sz="18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18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ie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5940" y="1623771"/>
            <a:ext cx="10033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80" dirty="0">
                <a:solidFill>
                  <a:srgbClr val="963139"/>
                </a:solidFill>
                <a:latin typeface="Microsoft Sans Serif"/>
                <a:cs typeface="Microsoft Sans Serif"/>
              </a:rPr>
              <a:t>CLIENT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99428" y="1613661"/>
            <a:ext cx="2804160" cy="1542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74700">
              <a:lnSpc>
                <a:spcPct val="100000"/>
              </a:lnSpc>
              <a:spcBef>
                <a:spcPts val="95"/>
              </a:spcBef>
            </a:pPr>
            <a:r>
              <a:rPr sz="2800" spc="-540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</a:t>
            </a:r>
            <a:endParaRPr sz="28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2105"/>
              </a:spcBef>
            </a:pPr>
            <a:r>
              <a:rPr sz="18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isse</a:t>
            </a:r>
            <a:r>
              <a:rPr sz="18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(</a:t>
            </a:r>
            <a:r>
              <a:rPr sz="18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$</a:t>
            </a:r>
            <a:r>
              <a:rPr sz="1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_C</a:t>
            </a:r>
            <a:r>
              <a:rPr sz="18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OO</a:t>
            </a:r>
            <a:r>
              <a:rPr sz="1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18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IE</a:t>
            </a:r>
            <a:r>
              <a:rPr sz="18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[</a:t>
            </a:r>
            <a:r>
              <a:rPr sz="1800" spc="80" dirty="0">
                <a:solidFill>
                  <a:srgbClr val="963139"/>
                </a:solidFill>
                <a:latin typeface="Microsoft Sans Serif"/>
                <a:cs typeface="Microsoft Sans Serif"/>
              </a:rPr>
              <a:t>“</a:t>
            </a:r>
            <a:r>
              <a:rPr sz="18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18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ame</a:t>
            </a:r>
            <a:r>
              <a:rPr sz="18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”</a:t>
            </a:r>
            <a:r>
              <a:rPr sz="18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])?</a:t>
            </a:r>
            <a:r>
              <a:rPr sz="18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NO  </a:t>
            </a:r>
            <a:r>
              <a:rPr sz="18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isse</a:t>
            </a:r>
            <a:r>
              <a:rPr sz="18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(</a:t>
            </a:r>
            <a:r>
              <a:rPr sz="18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$</a:t>
            </a:r>
            <a:r>
              <a:rPr sz="18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_G</a:t>
            </a:r>
            <a:r>
              <a:rPr sz="18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[</a:t>
            </a:r>
            <a:r>
              <a:rPr sz="18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“name</a:t>
            </a:r>
            <a:r>
              <a:rPr sz="18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”</a:t>
            </a:r>
            <a:r>
              <a:rPr sz="18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])?</a:t>
            </a:r>
            <a:r>
              <a:rPr sz="18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NO  </a:t>
            </a:r>
            <a:r>
              <a:rPr sz="18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18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espon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18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wit</a:t>
            </a:r>
            <a:r>
              <a:rPr sz="18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18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ML</a:t>
            </a:r>
            <a:r>
              <a:rPr sz="18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5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18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18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75628" y="3450463"/>
            <a:ext cx="280416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isse</a:t>
            </a:r>
            <a:r>
              <a:rPr sz="18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(</a:t>
            </a:r>
            <a:r>
              <a:rPr sz="18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$</a:t>
            </a:r>
            <a:r>
              <a:rPr sz="1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_C</a:t>
            </a:r>
            <a:r>
              <a:rPr sz="18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OO</a:t>
            </a:r>
            <a:r>
              <a:rPr sz="1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18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IE</a:t>
            </a:r>
            <a:r>
              <a:rPr sz="18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[</a:t>
            </a:r>
            <a:r>
              <a:rPr sz="1800" spc="80" dirty="0">
                <a:solidFill>
                  <a:srgbClr val="963139"/>
                </a:solidFill>
                <a:latin typeface="Microsoft Sans Serif"/>
                <a:cs typeface="Microsoft Sans Serif"/>
              </a:rPr>
              <a:t>“</a:t>
            </a:r>
            <a:r>
              <a:rPr sz="18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18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ame</a:t>
            </a:r>
            <a:r>
              <a:rPr sz="18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”</a:t>
            </a:r>
            <a:r>
              <a:rPr sz="18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])?</a:t>
            </a:r>
            <a:r>
              <a:rPr sz="18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NO</a:t>
            </a:r>
            <a:endParaRPr sz="1800">
              <a:latin typeface="Microsoft Sans Serif"/>
              <a:cs typeface="Microsoft Sans Serif"/>
            </a:endParaRPr>
          </a:p>
          <a:p>
            <a:pPr marL="12700" marR="250190">
              <a:lnSpc>
                <a:spcPct val="100000"/>
              </a:lnSpc>
            </a:pPr>
            <a:r>
              <a:rPr sz="18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isse</a:t>
            </a:r>
            <a:r>
              <a:rPr sz="1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($_G</a:t>
            </a:r>
            <a:r>
              <a:rPr sz="18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ET</a:t>
            </a:r>
            <a:r>
              <a:rPr sz="18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[</a:t>
            </a:r>
            <a:r>
              <a:rPr sz="18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“</a:t>
            </a:r>
            <a:r>
              <a:rPr sz="18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18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ame</a:t>
            </a:r>
            <a:r>
              <a:rPr sz="18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”</a:t>
            </a:r>
            <a:r>
              <a:rPr sz="18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])?</a:t>
            </a:r>
            <a:r>
              <a:rPr sz="1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YES  </a:t>
            </a:r>
            <a:r>
              <a:rPr sz="18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set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coo</a:t>
            </a:r>
            <a:r>
              <a:rPr sz="18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18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18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clien</a:t>
            </a:r>
            <a:r>
              <a:rPr sz="1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t  </a:t>
            </a:r>
            <a:r>
              <a:rPr sz="18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welcome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messa</a:t>
            </a:r>
            <a:r>
              <a:rPr sz="18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1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based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on  </a:t>
            </a:r>
            <a:r>
              <a:rPr sz="18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user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18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18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ut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175628" y="5050916"/>
            <a:ext cx="281622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isse</a:t>
            </a:r>
            <a:r>
              <a:rPr sz="18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(</a:t>
            </a:r>
            <a:r>
              <a:rPr sz="18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$</a:t>
            </a:r>
            <a:r>
              <a:rPr sz="1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_C</a:t>
            </a:r>
            <a:r>
              <a:rPr sz="18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OO</a:t>
            </a:r>
            <a:r>
              <a:rPr sz="1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18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IE</a:t>
            </a:r>
            <a:r>
              <a:rPr sz="18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[</a:t>
            </a:r>
            <a:r>
              <a:rPr sz="1800" spc="80" dirty="0">
                <a:solidFill>
                  <a:srgbClr val="963139"/>
                </a:solidFill>
                <a:latin typeface="Microsoft Sans Serif"/>
                <a:cs typeface="Microsoft Sans Serif"/>
              </a:rPr>
              <a:t>“</a:t>
            </a:r>
            <a:r>
              <a:rPr sz="18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18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ame</a:t>
            </a:r>
            <a:r>
              <a:rPr sz="18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”</a:t>
            </a:r>
            <a:r>
              <a:rPr sz="18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])?</a:t>
            </a:r>
            <a:r>
              <a:rPr sz="18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YE</a:t>
            </a:r>
            <a:r>
              <a:rPr sz="18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S  </a:t>
            </a:r>
            <a:r>
              <a:rPr sz="18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isse</a:t>
            </a:r>
            <a:r>
              <a:rPr sz="18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($_G</a:t>
            </a:r>
            <a:r>
              <a:rPr sz="18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ET</a:t>
            </a:r>
            <a:r>
              <a:rPr sz="18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[</a:t>
            </a:r>
            <a:r>
              <a:rPr sz="18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“</a:t>
            </a:r>
            <a:r>
              <a:rPr sz="18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18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ame</a:t>
            </a:r>
            <a:r>
              <a:rPr sz="18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”</a:t>
            </a:r>
            <a:r>
              <a:rPr sz="18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])?</a:t>
            </a:r>
            <a:r>
              <a:rPr sz="1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NO  </a:t>
            </a:r>
            <a:r>
              <a:rPr sz="18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up</a:t>
            </a:r>
            <a:r>
              <a:rPr sz="1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da</a:t>
            </a:r>
            <a:r>
              <a:rPr sz="18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1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coo</a:t>
            </a:r>
            <a:r>
              <a:rPr sz="18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18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18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clien</a:t>
            </a:r>
            <a:r>
              <a:rPr sz="18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t  </a:t>
            </a:r>
            <a:r>
              <a:rPr sz="18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welcome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messa</a:t>
            </a:r>
            <a:r>
              <a:rPr sz="18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18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based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on  </a:t>
            </a:r>
            <a:r>
              <a:rPr sz="18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42875" y="4181526"/>
            <a:ext cx="1847850" cy="102870"/>
            <a:chOff x="142875" y="4181526"/>
            <a:chExt cx="1847850" cy="102870"/>
          </a:xfrm>
        </p:grpSpPr>
        <p:sp>
          <p:nvSpPr>
            <p:cNvPr id="32" name="object 32"/>
            <p:cNvSpPr/>
            <p:nvPr/>
          </p:nvSpPr>
          <p:spPr>
            <a:xfrm>
              <a:off x="152400" y="4191051"/>
              <a:ext cx="1828800" cy="83820"/>
            </a:xfrm>
            <a:custGeom>
              <a:avLst/>
              <a:gdLst/>
              <a:ahLst/>
              <a:cxnLst/>
              <a:rect l="l" t="t" r="r" b="b"/>
              <a:pathLst>
                <a:path w="1828800" h="83820">
                  <a:moveTo>
                    <a:pt x="1828800" y="0"/>
                  </a:moveTo>
                  <a:lnTo>
                    <a:pt x="0" y="0"/>
                  </a:lnTo>
                  <a:lnTo>
                    <a:pt x="0" y="83513"/>
                  </a:lnTo>
                  <a:lnTo>
                    <a:pt x="1828800" y="83513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9631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2400" y="4191051"/>
              <a:ext cx="1828800" cy="83820"/>
            </a:xfrm>
            <a:custGeom>
              <a:avLst/>
              <a:gdLst/>
              <a:ahLst/>
              <a:cxnLst/>
              <a:rect l="l" t="t" r="r" b="b"/>
              <a:pathLst>
                <a:path w="1828800" h="83820">
                  <a:moveTo>
                    <a:pt x="0" y="83513"/>
                  </a:moveTo>
                  <a:lnTo>
                    <a:pt x="1828800" y="83513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83513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11530" y="2950845"/>
            <a:ext cx="910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686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NO </a:t>
            </a:r>
            <a:r>
              <a:rPr sz="18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18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18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OO</a:t>
            </a:r>
            <a:r>
              <a:rPr sz="18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18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1800" spc="-41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18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1530" y="5050916"/>
            <a:ext cx="910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COOKIES</a:t>
            </a:r>
            <a:endParaRPr sz="1800">
              <a:latin typeface="Microsoft Sans Serif"/>
              <a:cs typeface="Microsoft Sans Serif"/>
            </a:endParaRPr>
          </a:p>
          <a:p>
            <a:pPr marL="635" algn="ctr">
              <a:lnSpc>
                <a:spcPct val="100000"/>
              </a:lnSpc>
            </a:pPr>
            <a:r>
              <a:rPr sz="1800" spc="-345" dirty="0">
                <a:solidFill>
                  <a:srgbClr val="963139"/>
                </a:solidFill>
                <a:latin typeface="Microsoft Sans Serif"/>
                <a:cs typeface="Microsoft Sans Serif"/>
              </a:rPr>
              <a:t>SET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61798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80" dirty="0"/>
              <a:t>Case</a:t>
            </a:r>
            <a:r>
              <a:rPr spc="25" dirty="0"/>
              <a:t> </a:t>
            </a:r>
            <a:r>
              <a:rPr spc="-140" dirty="0"/>
              <a:t>1:</a:t>
            </a:r>
            <a:r>
              <a:rPr spc="35" dirty="0"/>
              <a:t> </a:t>
            </a:r>
            <a:r>
              <a:rPr spc="-325" dirty="0"/>
              <a:t>coo</a:t>
            </a:r>
            <a:r>
              <a:rPr spc="-295" dirty="0"/>
              <a:t>k</a:t>
            </a:r>
            <a:r>
              <a:rPr spc="-315" dirty="0"/>
              <a:t>ie</a:t>
            </a:r>
            <a:r>
              <a:rPr spc="-395" dirty="0"/>
              <a:t>s</a:t>
            </a:r>
            <a:r>
              <a:rPr dirty="0"/>
              <a:t> </a:t>
            </a:r>
            <a:r>
              <a:rPr spc="-40" dirty="0"/>
              <a:t>a</a:t>
            </a:r>
            <a:r>
              <a:rPr spc="-35" dirty="0"/>
              <a:t>l</a:t>
            </a:r>
            <a:r>
              <a:rPr spc="-90" dirty="0"/>
              <a:t>rea</a:t>
            </a:r>
            <a:r>
              <a:rPr spc="-170" dirty="0"/>
              <a:t>d</a:t>
            </a:r>
            <a:r>
              <a:rPr dirty="0"/>
              <a:t>y</a:t>
            </a:r>
            <a:r>
              <a:rPr spc="45" dirty="0"/>
              <a:t> </a:t>
            </a:r>
            <a:r>
              <a:rPr spc="-750" dirty="0"/>
              <a:t>s</a:t>
            </a:r>
            <a:r>
              <a:rPr spc="-140" dirty="0"/>
              <a:t>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875282"/>
            <a:ext cx="8134350" cy="3592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if(isset($_COOKIE["name"]))</a:t>
            </a:r>
            <a:r>
              <a:rPr sz="1800" spc="-6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$cookie_exp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time()+60*60;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one hour</a:t>
            </a:r>
            <a:endParaRPr sz="1800">
              <a:latin typeface="Courier New"/>
              <a:cs typeface="Courier New"/>
            </a:endParaRPr>
          </a:p>
          <a:p>
            <a:pPr marL="927100" marR="2011045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$name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$_COOKIE["name"];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setcookie("name", $name, $cookie_exp); </a:t>
            </a:r>
            <a:r>
              <a:rPr sz="1800" spc="-10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if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(isset($_COOKIE["visits"]))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841500" marR="508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$num_visits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$_COOKIE["visits"]+1;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setcookie("visits",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$num_visits,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$cookie_exp);</a:t>
            </a:r>
            <a:endParaRPr sz="18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"Welcome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$name!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";</a:t>
            </a:r>
            <a:endParaRPr sz="18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if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(isset($_COOKIE["visits"]))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"You've visited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$num_visits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times";</a:t>
            </a:r>
            <a:endParaRPr sz="18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74180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0" dirty="0"/>
              <a:t>Cases</a:t>
            </a:r>
            <a:r>
              <a:rPr spc="25" dirty="0"/>
              <a:t> </a:t>
            </a:r>
            <a:r>
              <a:rPr spc="-10" dirty="0"/>
              <a:t>2&amp;</a:t>
            </a:r>
            <a:r>
              <a:rPr spc="-25" dirty="0"/>
              <a:t>3</a:t>
            </a:r>
            <a:r>
              <a:rPr spc="-260" dirty="0"/>
              <a:t>:</a:t>
            </a:r>
            <a:r>
              <a:rPr spc="45" dirty="0"/>
              <a:t> </a:t>
            </a:r>
            <a:r>
              <a:rPr spc="110" dirty="0"/>
              <a:t>f</a:t>
            </a:r>
            <a:r>
              <a:rPr spc="70" dirty="0"/>
              <a:t>i</a:t>
            </a:r>
            <a:r>
              <a:rPr spc="-290" dirty="0"/>
              <a:t>rs</a:t>
            </a:r>
            <a:r>
              <a:rPr spc="-190" dirty="0"/>
              <a:t>t</a:t>
            </a:r>
            <a:r>
              <a:rPr spc="25" dirty="0"/>
              <a:t> </a:t>
            </a:r>
            <a:r>
              <a:rPr spc="-185" dirty="0"/>
              <a:t>and</a:t>
            </a:r>
            <a:r>
              <a:rPr spc="35" dirty="0"/>
              <a:t> </a:t>
            </a:r>
            <a:r>
              <a:rPr spc="-380" dirty="0"/>
              <a:t>secon</a:t>
            </a:r>
            <a:r>
              <a:rPr spc="-390" dirty="0"/>
              <a:t>d</a:t>
            </a:r>
            <a:r>
              <a:rPr spc="-5" dirty="0"/>
              <a:t> </a:t>
            </a:r>
            <a:r>
              <a:rPr spc="-235" dirty="0"/>
              <a:t>visi</a:t>
            </a:r>
            <a:r>
              <a:rPr spc="-200" dirty="0"/>
              <a:t>t</a:t>
            </a:r>
            <a:r>
              <a:rPr spc="-73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987041"/>
            <a:ext cx="8399145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38879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case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2: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upon submission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of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form </a:t>
            </a:r>
            <a:r>
              <a:rPr sz="1800" spc="-107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else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if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(isset($_GET["name"]))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69900" marR="273240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$name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$_GET["name"];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setcookie("name", $name, $cookie_exp); </a:t>
            </a:r>
            <a:r>
              <a:rPr sz="1800" spc="-10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setcookie("visits",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2,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$cookie_exp);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"Welcome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$name!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This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is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your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second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visit.";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Courier New"/>
              <a:cs typeface="Courier New"/>
            </a:endParaRPr>
          </a:p>
          <a:p>
            <a:pPr marL="12700" marR="2781935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case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3: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first visit: need to show form </a:t>
            </a:r>
            <a:r>
              <a:rPr sz="1800" spc="-10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else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69900" marR="508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&lt;form action="&lt;?php $_SERVER["PHP_SELF"] ?&gt;" method="get"&gt; </a:t>
            </a:r>
            <a:r>
              <a:rPr sz="1800" spc="-10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Enter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your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name here: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&lt;input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type="text" name="name"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/&gt;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&lt;br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/&gt;&lt;input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type="submit"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/&gt;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&lt;/form&gt;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17919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0" dirty="0"/>
              <a:t>Sessions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76870"/>
            <a:ext cx="7416800" cy="459613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75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Two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main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disadvantages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700" spc="9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cookies</a:t>
            </a:r>
            <a:endParaRPr sz="27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340"/>
              </a:spcBef>
            </a:pPr>
            <a:r>
              <a:rPr sz="1650" spc="-1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 </a:t>
            </a:r>
            <a:r>
              <a:rPr sz="1650" spc="-22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Limit</a:t>
            </a:r>
            <a:r>
              <a:rPr sz="24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4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4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4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si</a:t>
            </a:r>
            <a:r>
              <a:rPr sz="24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z</a:t>
            </a:r>
            <a:r>
              <a:rPr sz="24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4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40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4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4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4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wser</a:t>
            </a:r>
            <a:endParaRPr sz="24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325"/>
              </a:spcBef>
            </a:pPr>
            <a:r>
              <a:rPr sz="1650" spc="-4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650" spc="22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Stored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client-side</a:t>
            </a:r>
            <a:r>
              <a:rPr sz="24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963139"/>
                </a:solidFill>
                <a:latin typeface="Wingdings"/>
                <a:cs typeface="Wingdings"/>
              </a:rPr>
              <a:t></a:t>
            </a:r>
            <a:r>
              <a:rPr sz="2400" spc="60" dirty="0">
                <a:solidFill>
                  <a:srgbClr val="963139"/>
                </a:solidFill>
                <a:latin typeface="Times New Roman"/>
                <a:cs typeface="Times New Roman"/>
              </a:rPr>
              <a:t> </a:t>
            </a:r>
            <a:r>
              <a:rPr sz="24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can</a:t>
            </a:r>
            <a:r>
              <a:rPr sz="24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be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tampered</a:t>
            </a:r>
            <a:r>
              <a:rPr sz="24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with</a:t>
            </a:r>
            <a:endParaRPr sz="24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350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7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essio</a:t>
            </a:r>
            <a:r>
              <a:rPr sz="27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700" spc="-45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7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sto</a:t>
            </a:r>
            <a:r>
              <a:rPr sz="27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7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u</a:t>
            </a:r>
            <a:r>
              <a:rPr sz="27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ser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data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7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7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7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er</a:t>
            </a:r>
            <a:endParaRPr sz="27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320"/>
              </a:spcBef>
            </a:pPr>
            <a:r>
              <a:rPr sz="1650" spc="-4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650" spc="21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Limited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only</a:t>
            </a:r>
            <a:r>
              <a:rPr sz="24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by</a:t>
            </a:r>
            <a:r>
              <a:rPr sz="24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</a:t>
            </a:r>
            <a:r>
              <a:rPr sz="24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space</a:t>
            </a:r>
            <a:endParaRPr sz="24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315"/>
              </a:spcBef>
            </a:pPr>
            <a:r>
              <a:rPr sz="1650" spc="-4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650" spc="21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Cannot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be</a:t>
            </a:r>
            <a:r>
              <a:rPr sz="24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modified</a:t>
            </a:r>
            <a:r>
              <a:rPr sz="24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by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users</a:t>
            </a:r>
            <a:endParaRPr sz="2400">
              <a:latin typeface="Microsoft Sans Serif"/>
              <a:cs typeface="Microsoft Sans Serif"/>
            </a:endParaRPr>
          </a:p>
          <a:p>
            <a:pPr marL="332740" marR="158750" indent="-320040">
              <a:lnSpc>
                <a:spcPts val="2920"/>
              </a:lnSpc>
              <a:spcBef>
                <a:spcPts val="725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potential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downside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sessions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is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that</a:t>
            </a:r>
            <a:r>
              <a:rPr sz="27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they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expire </a:t>
            </a:r>
            <a:r>
              <a:rPr sz="2700" spc="-7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wh</a:t>
            </a:r>
            <a:r>
              <a:rPr sz="27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7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7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7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7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7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7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wser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7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cl</a:t>
            </a:r>
            <a:r>
              <a:rPr sz="27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7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sed</a:t>
            </a:r>
            <a:endParaRPr sz="2700">
              <a:latin typeface="Microsoft Sans Serif"/>
              <a:cs typeface="Microsoft Sans Serif"/>
            </a:endParaRPr>
          </a:p>
          <a:p>
            <a:pPr marL="332740" marR="5080" indent="-320040">
              <a:lnSpc>
                <a:spcPts val="2920"/>
              </a:lnSpc>
              <a:spcBef>
                <a:spcPts val="690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7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7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ssions</a:t>
            </a:r>
            <a:r>
              <a:rPr sz="27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are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7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7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7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7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tified</a:t>
            </a:r>
            <a:r>
              <a:rPr sz="27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70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7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7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700" spc="-280" dirty="0">
                <a:solidFill>
                  <a:srgbClr val="963139"/>
                </a:solidFill>
                <a:latin typeface="Microsoft Sans Serif"/>
                <a:cs typeface="Microsoft Sans Serif"/>
              </a:rPr>
              <a:t>ssion</a:t>
            </a:r>
            <a:r>
              <a:rPr sz="27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id</a:t>
            </a:r>
            <a:r>
              <a:rPr sz="27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: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oft</a:t>
            </a:r>
            <a:r>
              <a:rPr sz="27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7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325" dirty="0">
                <a:solidFill>
                  <a:srgbClr val="963139"/>
                </a:solidFill>
                <a:latin typeface="Microsoft Sans Serif"/>
                <a:cs typeface="Microsoft Sans Serif"/>
              </a:rPr>
              <a:t>sm</a:t>
            </a:r>
            <a:r>
              <a:rPr sz="2700" spc="-28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7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ll  </a:t>
            </a:r>
            <a:r>
              <a:rPr sz="27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7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7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7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7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ie</a:t>
            </a:r>
            <a:r>
              <a:rPr sz="27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!</a:t>
            </a:r>
            <a:r>
              <a:rPr sz="27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420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700" spc="-350" dirty="0">
                <a:solidFill>
                  <a:srgbClr val="963139"/>
                </a:solidFill>
                <a:latin typeface="Microsoft Sans Serif"/>
                <a:cs typeface="Microsoft Sans Serif"/>
              </a:rPr>
              <a:t>u</a:t>
            </a:r>
            <a:r>
              <a:rPr sz="27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rest</a:t>
            </a:r>
            <a:r>
              <a:rPr sz="27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7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7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data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7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still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sto</a:t>
            </a:r>
            <a:r>
              <a:rPr sz="27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7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ed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7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7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7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e  </a:t>
            </a:r>
            <a:r>
              <a:rPr sz="27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</a:t>
            </a:r>
            <a:endParaRPr sz="2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30505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65" dirty="0"/>
              <a:t>Using</a:t>
            </a:r>
            <a:r>
              <a:rPr spc="20" dirty="0"/>
              <a:t> </a:t>
            </a:r>
            <a:r>
              <a:rPr spc="-500" dirty="0"/>
              <a:t>sessions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697481"/>
            <a:ext cx="7991475" cy="4994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9405" marR="518795" indent="-319405" algn="r">
              <a:lnSpc>
                <a:spcPct val="100000"/>
              </a:lnSpc>
              <a:spcBef>
                <a:spcPts val="95"/>
              </a:spcBef>
              <a:buSzPct val="60000"/>
              <a:buFont typeface="Wingdings"/>
              <a:buChar char=""/>
              <a:tabLst>
                <a:tab pos="319405" algn="l"/>
                <a:tab pos="320040" algn="l"/>
              </a:tabLst>
            </a:pPr>
            <a:r>
              <a:rPr sz="25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Call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session_start()</a:t>
            </a:r>
            <a:r>
              <a:rPr sz="2500" spc="8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at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top</a:t>
            </a:r>
            <a:r>
              <a:rPr sz="25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500" spc="1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b="1" spc="-150" dirty="0">
                <a:solidFill>
                  <a:srgbClr val="963139"/>
                </a:solidFill>
                <a:latin typeface="Arial"/>
                <a:cs typeface="Arial"/>
              </a:rPr>
              <a:t>every</a:t>
            </a:r>
            <a:r>
              <a:rPr sz="2500" b="1" spc="15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5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page</a:t>
            </a:r>
            <a:r>
              <a:rPr sz="25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start</a:t>
            </a:r>
            <a:r>
              <a:rPr sz="25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session</a:t>
            </a:r>
            <a:endParaRPr sz="2500">
              <a:latin typeface="Microsoft Sans Serif"/>
              <a:cs typeface="Microsoft Sans Serif"/>
            </a:endParaRPr>
          </a:p>
          <a:p>
            <a:pPr marR="558800" algn="r">
              <a:lnSpc>
                <a:spcPts val="2375"/>
              </a:lnSpc>
              <a:spcBef>
                <a:spcPts val="85"/>
              </a:spcBef>
            </a:pPr>
            <a:r>
              <a:rPr sz="1500" spc="-130" dirty="0">
                <a:solidFill>
                  <a:srgbClr val="676767"/>
                </a:solidFill>
                <a:latin typeface="Microsoft Sans Serif"/>
                <a:cs typeface="Microsoft Sans Serif"/>
              </a:rPr>
              <a:t>🞑 </a:t>
            </a:r>
            <a:r>
              <a:rPr sz="1500" spc="-1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2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2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2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ts</a:t>
            </a:r>
            <a:r>
              <a:rPr sz="22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2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coo</a:t>
            </a:r>
            <a:r>
              <a:rPr sz="22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kie</a:t>
            </a:r>
            <a:r>
              <a:rPr sz="22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2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2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26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2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lient</a:t>
            </a:r>
            <a:r>
              <a:rPr sz="22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:</a:t>
            </a:r>
            <a:r>
              <a:rPr sz="2200" spc="6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2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ust</a:t>
            </a:r>
            <a:r>
              <a:rPr sz="22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7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2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oll</a:t>
            </a:r>
            <a:r>
              <a:rPr sz="22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2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2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same</a:t>
            </a:r>
            <a:r>
              <a:rPr sz="22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2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ules</a:t>
            </a:r>
            <a:r>
              <a:rPr sz="22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as</a:t>
            </a:r>
            <a:r>
              <a:rPr sz="22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cookies</a:t>
            </a:r>
            <a:endParaRPr sz="2200">
              <a:latin typeface="Microsoft Sans Serif"/>
              <a:cs typeface="Microsoft Sans Serif"/>
            </a:endParaRPr>
          </a:p>
          <a:p>
            <a:pPr marL="732155">
              <a:lnSpc>
                <a:spcPts val="2375"/>
              </a:lnSpc>
            </a:pPr>
            <a:r>
              <a:rPr sz="22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(b</a:t>
            </a:r>
            <a:r>
              <a:rPr sz="22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200" spc="7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2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r>
              <a:rPr sz="22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2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2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2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HTML,</a:t>
            </a:r>
            <a:r>
              <a:rPr sz="22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2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200" spc="-42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2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2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J</a:t>
            </a:r>
            <a:r>
              <a:rPr sz="2200" spc="-42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2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2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2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2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ho</a:t>
            </a:r>
            <a:r>
              <a:rPr sz="22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r>
              <a:rPr sz="22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print</a:t>
            </a:r>
            <a:r>
              <a:rPr sz="2200" spc="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2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sta</a:t>
            </a:r>
            <a:r>
              <a:rPr sz="22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2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em</a:t>
            </a:r>
            <a:r>
              <a:rPr sz="22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2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nts)</a:t>
            </a:r>
            <a:endParaRPr sz="2200">
              <a:latin typeface="Microsoft Sans Serif"/>
              <a:cs typeface="Microsoft Sans Serif"/>
            </a:endParaRPr>
          </a:p>
          <a:p>
            <a:pPr marL="411480" indent="-320675">
              <a:lnSpc>
                <a:spcPts val="2700"/>
              </a:lnSpc>
              <a:spcBef>
                <a:spcPts val="85"/>
              </a:spcBef>
              <a:buSzPct val="60000"/>
              <a:buFont typeface="Wingdings"/>
              <a:buChar char=""/>
              <a:tabLst>
                <a:tab pos="411480" algn="l"/>
                <a:tab pos="412115" algn="l"/>
              </a:tabLst>
            </a:pPr>
            <a:r>
              <a:rPr sz="25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Access</a:t>
            </a:r>
            <a:r>
              <a:rPr sz="25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data</a:t>
            </a:r>
            <a:r>
              <a:rPr sz="25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using</a:t>
            </a:r>
            <a:r>
              <a:rPr sz="25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5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$_SESS</a:t>
            </a:r>
            <a:r>
              <a:rPr sz="25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5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5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supergloba</a:t>
            </a:r>
            <a:r>
              <a:rPr sz="25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5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jus</a:t>
            </a:r>
            <a:r>
              <a:rPr sz="25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5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5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5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5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endParaRPr sz="2500">
              <a:latin typeface="Microsoft Sans Serif"/>
              <a:cs typeface="Microsoft Sans Serif"/>
            </a:endParaRPr>
          </a:p>
          <a:p>
            <a:pPr marL="411480">
              <a:lnSpc>
                <a:spcPts val="2700"/>
              </a:lnSpc>
            </a:pPr>
            <a:r>
              <a:rPr sz="25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$_COOKIE,</a:t>
            </a:r>
            <a:r>
              <a:rPr sz="25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$</a:t>
            </a:r>
            <a:r>
              <a:rPr sz="25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_GE</a:t>
            </a:r>
            <a:r>
              <a:rPr sz="2500" spc="-65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5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5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r>
              <a:rPr sz="25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5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$_POST</a:t>
            </a:r>
            <a:endParaRPr sz="2500">
              <a:latin typeface="Microsoft Sans Serif"/>
              <a:cs typeface="Microsoft Sans Serif"/>
            </a:endParaRPr>
          </a:p>
          <a:p>
            <a:pPr marL="12700" marR="5784850">
              <a:lnSpc>
                <a:spcPct val="100000"/>
              </a:lnSpc>
              <a:spcBef>
                <a:spcPts val="204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&lt;?php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se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s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s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i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on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_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s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ta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r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t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(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if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(isset($_SESSION["count"]))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$_SESSION["count"]</a:t>
            </a:r>
            <a:r>
              <a:rPr sz="18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+=</a:t>
            </a:r>
            <a:r>
              <a:rPr sz="1800" spc="-5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1;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 "You\'ve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visited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here {$_SESSION['count']} times";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else</a:t>
            </a:r>
            <a:r>
              <a:rPr sz="1800" spc="-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69900" marR="3691254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$_SESSION["count"]</a:t>
            </a:r>
            <a:r>
              <a:rPr sz="1800" spc="106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108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1;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"You\'ve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visited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once";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?&gt;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3964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5" dirty="0"/>
              <a:t>R</a:t>
            </a:r>
            <a:r>
              <a:rPr spc="-395" dirty="0"/>
              <a:t>emo</a:t>
            </a:r>
            <a:r>
              <a:rPr spc="-300" dirty="0"/>
              <a:t>v</a:t>
            </a:r>
            <a:r>
              <a:rPr spc="-175" dirty="0"/>
              <a:t>in</a:t>
            </a:r>
            <a:r>
              <a:rPr spc="-240" dirty="0"/>
              <a:t>g</a:t>
            </a:r>
            <a:r>
              <a:rPr spc="-10" dirty="0"/>
              <a:t> </a:t>
            </a:r>
            <a:r>
              <a:rPr spc="-500" dirty="0"/>
              <a:t>sessions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764538"/>
            <a:ext cx="7626984" cy="3806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147320" indent="-320040">
              <a:lnSpc>
                <a:spcPct val="100000"/>
              </a:lnSpc>
              <a:spcBef>
                <a:spcPts val="10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73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emo</a:t>
            </a:r>
            <a:r>
              <a:rPr sz="29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an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individu</a:t>
            </a:r>
            <a:r>
              <a:rPr sz="29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element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900" spc="1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$</a:t>
            </a:r>
            <a:r>
              <a:rPr sz="29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_SESSION  </a:t>
            </a:r>
            <a:r>
              <a:rPr sz="29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superglobal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10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2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unset($_SESSION[‘key_name’]);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00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sessi</a:t>
            </a:r>
            <a:r>
              <a:rPr sz="26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sti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x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sts</a:t>
            </a:r>
            <a:r>
              <a:rPr sz="26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can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be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345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ifi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d.</a:t>
            </a:r>
            <a:endParaRPr sz="26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69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Destroy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entire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session,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remove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all</a:t>
            </a:r>
            <a:r>
              <a:rPr sz="29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data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20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Use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session_destroy()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00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$</a:t>
            </a:r>
            <a:r>
              <a:rPr sz="26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_</a:t>
            </a:r>
            <a:r>
              <a:rPr sz="2600" spc="-490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600" spc="-484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600" spc="-41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3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no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er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id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05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Will </a:t>
            </a:r>
            <a:r>
              <a:rPr sz="26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need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call</a:t>
            </a:r>
            <a:r>
              <a:rPr sz="2600" spc="5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session_start()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start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new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session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4639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5" dirty="0"/>
              <a:t>R</a:t>
            </a:r>
            <a:r>
              <a:rPr spc="-195" dirty="0"/>
              <a:t>eca</a:t>
            </a:r>
            <a:r>
              <a:rPr spc="-225" dirty="0"/>
              <a:t>p</a:t>
            </a:r>
            <a:r>
              <a:rPr spc="-260" dirty="0"/>
              <a:t>:</a:t>
            </a:r>
            <a:r>
              <a:rPr spc="20" dirty="0"/>
              <a:t> </a:t>
            </a:r>
            <a:r>
              <a:rPr spc="-20" dirty="0"/>
              <a:t>a</a:t>
            </a:r>
            <a:r>
              <a:rPr spc="45" dirty="0"/>
              <a:t> </a:t>
            </a:r>
            <a:r>
              <a:rPr spc="-525" dirty="0"/>
              <a:t>c</a:t>
            </a:r>
            <a:r>
              <a:rPr spc="-195" dirty="0"/>
              <a:t>ompar</a:t>
            </a:r>
            <a:r>
              <a:rPr spc="-100" dirty="0"/>
              <a:t>i</a:t>
            </a:r>
            <a:r>
              <a:rPr spc="-500" dirty="0"/>
              <a:t>son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6425" y="1746250"/>
          <a:ext cx="8153400" cy="58089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7800"/>
                <a:gridCol w="2717800"/>
                <a:gridCol w="2717800"/>
              </a:tblGrid>
              <a:tr h="4114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7676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100" b="1" spc="-2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COOKIES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7676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100" b="1" spc="-2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SESSIONS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7676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Where</a:t>
                      </a:r>
                      <a:r>
                        <a:rPr sz="2100" spc="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2100" spc="1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data</a:t>
                      </a:r>
                      <a:r>
                        <a:rPr sz="2100" spc="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stored?</a:t>
                      </a:r>
                      <a:endParaRPr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Loca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l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l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sz="2100" spc="2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on</a:t>
                      </a:r>
                      <a:r>
                        <a:rPr sz="2100" spc="2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c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l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n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t</a:t>
                      </a:r>
                      <a:endParaRPr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100" spc="-5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emotely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on</a:t>
                      </a:r>
                      <a:r>
                        <a:rPr sz="2100" spc="2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2100" spc="8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100" spc="-3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v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er</a:t>
                      </a:r>
                      <a:endParaRPr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</a:tr>
              <a:tr h="10515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100" spc="-1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Expiration?</a:t>
                      </a:r>
                      <a:endParaRPr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9875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100" spc="-6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Variable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spc="43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spc="-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determined </a:t>
                      </a:r>
                      <a:r>
                        <a:rPr sz="2100" spc="-54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w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h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en</a:t>
                      </a:r>
                      <a:r>
                        <a:rPr sz="2100" spc="1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co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kie</a:t>
                      </a:r>
                      <a:r>
                        <a:rPr sz="2100" spc="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2100" spc="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set</a:t>
                      </a:r>
                      <a:endParaRPr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06095" algn="just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2100" spc="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io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n</a:t>
                      </a:r>
                      <a:r>
                        <a:rPr sz="2100" spc="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2100" spc="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d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t</a:t>
                      </a:r>
                      <a:r>
                        <a:rPr sz="2100" spc="-4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100" spc="-3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oy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ed  w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h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en</a:t>
                      </a:r>
                      <a:r>
                        <a:rPr sz="2100" spc="1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2100" spc="3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r>
                        <a:rPr sz="2100" spc="-3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100" spc="-5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wser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is  </a:t>
                      </a:r>
                      <a:r>
                        <a:rPr sz="2100" spc="-14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closed</a:t>
                      </a:r>
                      <a:endParaRPr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Size</a:t>
                      </a:r>
                      <a:r>
                        <a:rPr sz="2100" spc="2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l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im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t?</a:t>
                      </a:r>
                      <a:endParaRPr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Dep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nds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on</a:t>
                      </a:r>
                      <a:r>
                        <a:rPr sz="2100" spc="2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r>
                        <a:rPr sz="2100" spc="-4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100" spc="-5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wser</a:t>
                      </a:r>
                      <a:endParaRPr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20014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Dep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nds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n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l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sz="2100" spc="2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on</a:t>
                      </a:r>
                      <a:r>
                        <a:rPr sz="2100" spc="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se</a:t>
                      </a:r>
                      <a:r>
                        <a:rPr sz="2100" spc="7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100" spc="-3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v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er  (p</a:t>
                      </a:r>
                      <a:r>
                        <a:rPr sz="2100" spc="-3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act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cal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l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y</a:t>
                      </a:r>
                      <a:r>
                        <a:rPr sz="2100" spc="8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2100" spc="1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ze  </a:t>
                      </a:r>
                      <a:r>
                        <a:rPr sz="2100" spc="-9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limit)</a:t>
                      </a:r>
                      <a:endParaRPr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Access</a:t>
                      </a:r>
                      <a:r>
                        <a:rPr sz="2100" spc="-1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ng</a:t>
                      </a:r>
                      <a:r>
                        <a:rPr sz="2100" spc="3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2100" spc="-4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f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2100" spc="3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m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t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n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?</a:t>
                      </a:r>
                      <a:endParaRPr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100" spc="-16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$_COOKIE</a:t>
                      </a:r>
                      <a:endParaRPr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100" spc="-21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$_SESSION</a:t>
                      </a:r>
                      <a:endParaRPr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</a:tr>
              <a:tr h="16916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100" spc="-8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General</a:t>
                      </a:r>
                      <a:r>
                        <a:rPr sz="2100" spc="-1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spc="-27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use?</a:t>
                      </a:r>
                      <a:endParaRPr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70180" algn="just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100" spc="-5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ememb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100" spc="-2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small</a:t>
                      </a:r>
                      <a:r>
                        <a:rPr sz="2100" spc="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th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ngs  a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u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t</a:t>
                      </a:r>
                      <a:r>
                        <a:rPr sz="2100" spc="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2100" spc="3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use</a:t>
                      </a:r>
                      <a:r>
                        <a:rPr sz="2100" spc="-15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sz="2100" spc="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su</a:t>
                      </a:r>
                      <a:r>
                        <a:rPr sz="2100" spc="7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c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h</a:t>
                      </a:r>
                      <a:r>
                        <a:rPr sz="2100" spc="3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as  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lo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g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n</a:t>
                      </a:r>
                      <a:r>
                        <a:rPr sz="2100" spc="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na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m</a:t>
                      </a:r>
                      <a:r>
                        <a:rPr sz="2100" spc="-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sz="2100" spc="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spc="-5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m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m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b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  things</a:t>
                      </a:r>
                      <a:r>
                        <a:rPr sz="2100" spc="4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after</a:t>
                      </a:r>
                      <a:r>
                        <a:rPr sz="2100" spc="2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re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p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n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ing  </a:t>
                      </a:r>
                      <a:r>
                        <a:rPr sz="2100" spc="-114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browser</a:t>
                      </a:r>
                      <a:endParaRPr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679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100" spc="-5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ememb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100" spc="-1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ng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spc="-3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v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arying  a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m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u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nt</a:t>
                      </a:r>
                      <a:r>
                        <a:rPr sz="2100" spc="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2100" spc="7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data</a:t>
                      </a:r>
                      <a:r>
                        <a:rPr sz="2100" spc="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ab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ut  the</a:t>
                      </a:r>
                      <a:r>
                        <a:rPr sz="2100" spc="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us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e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100" spc="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n</a:t>
                      </a:r>
                      <a:r>
                        <a:rPr sz="2100" spc="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spc="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sz="210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ne  </a:t>
                      </a:r>
                      <a:r>
                        <a:rPr sz="2100" spc="-12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browsing</a:t>
                      </a:r>
                      <a:r>
                        <a:rPr sz="2100" spc="-5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00" spc="-150" dirty="0">
                          <a:solidFill>
                            <a:srgbClr val="963139"/>
                          </a:solidFill>
                          <a:latin typeface="Microsoft Sans Serif"/>
                          <a:cs typeface="Microsoft Sans Serif"/>
                        </a:rPr>
                        <a:t>“session”</a:t>
                      </a:r>
                      <a:endParaRPr sz="21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2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53328"/>
            <a:ext cx="2240280" cy="713740"/>
          </a:xfrm>
          <a:custGeom>
            <a:avLst/>
            <a:gdLst/>
            <a:ahLst/>
            <a:cxnLst/>
            <a:rect l="l" t="t" r="r" b="b"/>
            <a:pathLst>
              <a:path w="2240280" h="713740">
                <a:moveTo>
                  <a:pt x="2240280" y="0"/>
                </a:moveTo>
                <a:lnTo>
                  <a:pt x="0" y="0"/>
                </a:lnTo>
                <a:lnTo>
                  <a:pt x="0" y="713232"/>
                </a:lnTo>
                <a:lnTo>
                  <a:pt x="2240280" y="713232"/>
                </a:lnTo>
                <a:lnTo>
                  <a:pt x="2240280" y="0"/>
                </a:lnTo>
                <a:close/>
              </a:path>
            </a:pathLst>
          </a:custGeom>
          <a:solidFill>
            <a:srgbClr val="9631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59151" y="6044184"/>
            <a:ext cx="6784975" cy="713740"/>
          </a:xfrm>
          <a:custGeom>
            <a:avLst/>
            <a:gdLst/>
            <a:ahLst/>
            <a:cxnLst/>
            <a:rect l="l" t="t" r="r" b="b"/>
            <a:pathLst>
              <a:path w="6784975" h="713740">
                <a:moveTo>
                  <a:pt x="6784848" y="0"/>
                </a:moveTo>
                <a:lnTo>
                  <a:pt x="0" y="0"/>
                </a:lnTo>
                <a:lnTo>
                  <a:pt x="0" y="713231"/>
                </a:lnTo>
                <a:lnTo>
                  <a:pt x="6784848" y="713231"/>
                </a:lnTo>
                <a:lnTo>
                  <a:pt x="6784848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09465" y="1616709"/>
            <a:ext cx="9226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65" dirty="0"/>
              <a:t>PHP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63161" y="2632075"/>
            <a:ext cx="12179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My</a:t>
            </a:r>
            <a:r>
              <a:rPr sz="32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32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QL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52044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65" dirty="0"/>
              <a:t>Databases</a:t>
            </a:r>
            <a:r>
              <a:rPr spc="-10" dirty="0"/>
              <a:t> </a:t>
            </a:r>
            <a:r>
              <a:rPr spc="-185" dirty="0"/>
              <a:t>and</a:t>
            </a:r>
            <a:r>
              <a:rPr dirty="0"/>
              <a:t> </a:t>
            </a:r>
            <a:r>
              <a:rPr spc="-355" dirty="0"/>
              <a:t>MySQL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78534"/>
            <a:ext cx="7990840" cy="468249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8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Recall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basic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reason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for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server-side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programming</a:t>
            </a:r>
            <a:endParaRPr sz="2900">
              <a:latin typeface="Microsoft Sans Serif"/>
              <a:cs typeface="Microsoft Sans Serif"/>
            </a:endParaRPr>
          </a:p>
          <a:p>
            <a:pPr marL="652780" marR="89535" indent="-274320">
              <a:lnSpc>
                <a:spcPct val="100000"/>
              </a:lnSpc>
              <a:spcBef>
                <a:spcPts val="615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4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We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need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store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client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data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look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up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data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stored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on </a:t>
            </a:r>
            <a:r>
              <a:rPr sz="26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</a:t>
            </a:r>
            <a:endParaRPr sz="2600">
              <a:latin typeface="Microsoft Sans Serif"/>
              <a:cs typeface="Microsoft Sans Serif"/>
            </a:endParaRPr>
          </a:p>
          <a:p>
            <a:pPr marL="332740" marR="205104" indent="-320040">
              <a:lnSpc>
                <a:spcPct val="100000"/>
              </a:lnSpc>
              <a:spcBef>
                <a:spcPts val="68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Dat</a:t>
            </a:r>
            <a:r>
              <a:rPr sz="29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380" dirty="0">
                <a:solidFill>
                  <a:srgbClr val="963139"/>
                </a:solidFill>
                <a:latin typeface="Microsoft Sans Serif"/>
                <a:cs typeface="Microsoft Sans Serif"/>
              </a:rPr>
              <a:t>ses</a:t>
            </a:r>
            <a:r>
              <a:rPr sz="29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gi</a:t>
            </a:r>
            <a:r>
              <a:rPr sz="29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415" dirty="0">
                <a:solidFill>
                  <a:srgbClr val="963139"/>
                </a:solidFill>
                <a:latin typeface="Microsoft Sans Serif"/>
                <a:cs typeface="Microsoft Sans Serif"/>
              </a:rPr>
              <a:t>us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an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ea</a:t>
            </a:r>
            <a:r>
              <a:rPr sz="29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9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issue  </a:t>
            </a:r>
            <a:r>
              <a:rPr sz="29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“commands”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insert,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select,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organize,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9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remove </a:t>
            </a:r>
            <a:r>
              <a:rPr sz="2900" spc="-7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data</a:t>
            </a:r>
            <a:endParaRPr sz="2900">
              <a:latin typeface="Microsoft Sans Serif"/>
              <a:cs typeface="Microsoft Sans Serif"/>
            </a:endParaRPr>
          </a:p>
          <a:p>
            <a:pPr marL="332740" marR="371475" indent="-320040">
              <a:lnSpc>
                <a:spcPct val="100000"/>
              </a:lnSpc>
              <a:spcBef>
                <a:spcPts val="71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MySQL: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open-source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database,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relatively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easy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 </a:t>
            </a:r>
            <a:r>
              <a:rPr sz="2900" spc="-7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set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40" dirty="0">
                <a:solidFill>
                  <a:srgbClr val="963139"/>
                </a:solidFill>
                <a:latin typeface="Microsoft Sans Serif"/>
                <a:cs typeface="Microsoft Sans Serif"/>
              </a:rPr>
              <a:t>u</a:t>
            </a:r>
            <a:r>
              <a:rPr sz="29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easy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use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with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434" dirty="0">
                <a:solidFill>
                  <a:srgbClr val="963139"/>
                </a:solidFill>
                <a:latin typeface="Microsoft Sans Serif"/>
                <a:cs typeface="Microsoft Sans Serif"/>
              </a:rPr>
              <a:t>PHP</a:t>
            </a:r>
            <a:endParaRPr sz="2900">
              <a:latin typeface="Microsoft Sans Serif"/>
              <a:cs typeface="Microsoft Sans Serif"/>
            </a:endParaRPr>
          </a:p>
          <a:p>
            <a:pPr marL="652780" marR="158115" indent="-274320">
              <a:lnSpc>
                <a:spcPct val="100000"/>
              </a:lnSpc>
              <a:spcBef>
                <a:spcPts val="615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 </a:t>
            </a:r>
            <a:r>
              <a:rPr sz="26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Other </a:t>
            </a:r>
            <a:r>
              <a:rPr sz="26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SQL</a:t>
            </a:r>
            <a:r>
              <a:rPr sz="26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databases,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as</a:t>
            </a:r>
            <a:r>
              <a:rPr sz="26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well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as</a:t>
            </a:r>
            <a:r>
              <a:rPr sz="2600" spc="2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non-SQL</a:t>
            </a:r>
            <a:r>
              <a:rPr sz="2600" spc="2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options </a:t>
            </a:r>
            <a:r>
              <a:rPr sz="26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such </a:t>
            </a:r>
            <a:r>
              <a:rPr sz="26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as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Mong</a:t>
            </a:r>
            <a:r>
              <a:rPr sz="26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370" dirty="0">
                <a:solidFill>
                  <a:srgbClr val="963139"/>
                </a:solidFill>
                <a:latin typeface="Microsoft Sans Serif"/>
                <a:cs typeface="Microsoft Sans Serif"/>
              </a:rPr>
              <a:t>DB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48266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9" dirty="0"/>
              <a:t>Con</a:t>
            </a:r>
            <a:r>
              <a:rPr spc="-415" dirty="0"/>
              <a:t>n</a:t>
            </a:r>
            <a:r>
              <a:rPr spc="-225" dirty="0"/>
              <a:t>ecting</a:t>
            </a:r>
            <a:r>
              <a:rPr spc="-10" dirty="0"/>
              <a:t> </a:t>
            </a:r>
            <a:r>
              <a:rPr spc="-140" dirty="0"/>
              <a:t>to</a:t>
            </a:r>
            <a:r>
              <a:rPr spc="25" dirty="0"/>
              <a:t> </a:t>
            </a:r>
            <a:r>
              <a:rPr spc="-355" dirty="0"/>
              <a:t>MySQL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764538"/>
            <a:ext cx="7725409" cy="4008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MyS</a:t>
            </a: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Q</a:t>
            </a:r>
            <a:r>
              <a:rPr sz="2900" spc="-50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at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ba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9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er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can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contain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495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y 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da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aba</a:t>
            </a:r>
            <a:r>
              <a:rPr sz="29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34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-36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ea</a:t>
            </a:r>
            <a:r>
              <a:rPr sz="29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900" spc="-340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900" spc="1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whi</a:t>
            </a:r>
            <a:r>
              <a:rPr sz="29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900" spc="-340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can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contain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ma</a:t>
            </a:r>
            <a:r>
              <a:rPr sz="29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ta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les</a:t>
            </a:r>
            <a:endParaRPr sz="29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Connecting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via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70" dirty="0">
                <a:solidFill>
                  <a:srgbClr val="963139"/>
                </a:solidFill>
                <a:latin typeface="Microsoft Sans Serif"/>
                <a:cs typeface="Microsoft Sans Serif"/>
              </a:rPr>
              <a:t>PHP:</a:t>
            </a:r>
            <a:endParaRPr sz="2900">
              <a:latin typeface="Microsoft Sans Serif"/>
              <a:cs typeface="Microsoft Sans Serif"/>
            </a:endParaRPr>
          </a:p>
          <a:p>
            <a:pPr marL="390525" marR="775335">
              <a:lnSpc>
                <a:spcPct val="100000"/>
              </a:lnSpc>
              <a:spcBef>
                <a:spcPts val="215"/>
              </a:spcBef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$db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mysql_connect(server, username, password); </a:t>
            </a:r>
            <a:r>
              <a:rPr sz="1800" spc="-10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if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(!$db)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304925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terminate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and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give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error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message</a:t>
            </a:r>
            <a:endParaRPr sz="1800">
              <a:latin typeface="Courier New"/>
              <a:cs typeface="Courier New"/>
            </a:endParaRPr>
          </a:p>
          <a:p>
            <a:pPr marL="130492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die(mysql_error());</a:t>
            </a:r>
            <a:endParaRPr sz="1800">
              <a:latin typeface="Courier New"/>
              <a:cs typeface="Courier New"/>
            </a:endParaRPr>
          </a:p>
          <a:p>
            <a:pPr marL="390525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39052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mysql_select_db(database_name,</a:t>
            </a:r>
            <a:r>
              <a:rPr sz="18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$db);</a:t>
            </a:r>
            <a:endParaRPr sz="1800">
              <a:latin typeface="Courier New"/>
              <a:cs typeface="Courier New"/>
            </a:endParaRPr>
          </a:p>
          <a:p>
            <a:pPr marL="332740" marR="812165" indent="-320040">
              <a:lnSpc>
                <a:spcPct val="100000"/>
              </a:lnSpc>
              <a:spcBef>
                <a:spcPts val="7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$d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900" spc="-35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at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ba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i="1" spc="-265" dirty="0">
                <a:solidFill>
                  <a:srgbClr val="963139"/>
                </a:solidFill>
                <a:latin typeface="Arial"/>
                <a:cs typeface="Arial"/>
              </a:rPr>
              <a:t>re</a:t>
            </a:r>
            <a:r>
              <a:rPr sz="2900" i="1" spc="-295" dirty="0">
                <a:solidFill>
                  <a:srgbClr val="963139"/>
                </a:solidFill>
                <a:latin typeface="Arial"/>
                <a:cs typeface="Arial"/>
              </a:rPr>
              <a:t>s</a:t>
            </a:r>
            <a:r>
              <a:rPr sz="2900" i="1" spc="-195" dirty="0">
                <a:solidFill>
                  <a:srgbClr val="963139"/>
                </a:solidFill>
                <a:latin typeface="Arial"/>
                <a:cs typeface="Arial"/>
              </a:rPr>
              <a:t>ou</a:t>
            </a:r>
            <a:r>
              <a:rPr sz="2900" i="1" spc="-145" dirty="0">
                <a:solidFill>
                  <a:srgbClr val="963139"/>
                </a:solidFill>
                <a:latin typeface="Arial"/>
                <a:cs typeface="Arial"/>
              </a:rPr>
              <a:t>r</a:t>
            </a:r>
            <a:r>
              <a:rPr sz="2900" i="1" spc="-340" dirty="0">
                <a:solidFill>
                  <a:srgbClr val="963139"/>
                </a:solidFill>
                <a:latin typeface="Arial"/>
                <a:cs typeface="Arial"/>
              </a:rPr>
              <a:t>ce</a:t>
            </a:r>
            <a:r>
              <a:rPr sz="2900" i="1" spc="-40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900" i="1" spc="-165" dirty="0">
                <a:solidFill>
                  <a:srgbClr val="963139"/>
                </a:solidFill>
                <a:latin typeface="Arial"/>
                <a:cs typeface="Arial"/>
              </a:rPr>
              <a:t>typ</a:t>
            </a:r>
            <a:r>
              <a:rPr sz="2900" i="1" spc="-200" dirty="0">
                <a:solidFill>
                  <a:srgbClr val="963139"/>
                </a:solidFill>
                <a:latin typeface="Arial"/>
                <a:cs typeface="Arial"/>
              </a:rPr>
              <a:t>e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.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use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this  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aria</a:t>
            </a:r>
            <a:r>
              <a:rPr sz="29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ble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efer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he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conne</a:t>
            </a:r>
            <a:r>
              <a:rPr sz="29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9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tion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50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9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rea</a:t>
            </a:r>
            <a:r>
              <a:rPr sz="29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ed</a:t>
            </a:r>
            <a:endParaRPr sz="2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45250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0" dirty="0"/>
              <a:t>Making</a:t>
            </a:r>
            <a:r>
              <a:rPr spc="10" dirty="0"/>
              <a:t> </a:t>
            </a:r>
            <a:r>
              <a:rPr spc="-505" dirty="0"/>
              <a:t>SQL</a:t>
            </a:r>
            <a:r>
              <a:rPr spc="20" dirty="0"/>
              <a:t> </a:t>
            </a:r>
            <a:r>
              <a:rPr spc="-260" dirty="0"/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52447"/>
            <a:ext cx="7959725" cy="423100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8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434" dirty="0">
                <a:solidFill>
                  <a:srgbClr val="963139"/>
                </a:solidFill>
                <a:latin typeface="Microsoft Sans Serif"/>
                <a:cs typeface="Microsoft Sans Serif"/>
              </a:rPr>
              <a:t>PHP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9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making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q</a:t>
            </a:r>
            <a:r>
              <a:rPr sz="29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uerie</a:t>
            </a:r>
            <a:r>
              <a:rPr sz="29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:</a:t>
            </a:r>
            <a:endParaRPr sz="29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55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mysql_query(query_string,</a:t>
            </a:r>
            <a:r>
              <a:rPr sz="1800" spc="-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db_resource);</a:t>
            </a:r>
            <a:endParaRPr sz="1800">
              <a:latin typeface="Courier New"/>
              <a:cs typeface="Courier New"/>
            </a:endParaRPr>
          </a:p>
          <a:p>
            <a:pPr marL="332740" marR="689610" indent="-320040">
              <a:lnSpc>
                <a:spcPct val="100000"/>
              </a:lnSpc>
              <a:spcBef>
                <a:spcPts val="75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Queries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that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return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information,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50" dirty="0">
                <a:solidFill>
                  <a:srgbClr val="963139"/>
                </a:solidFill>
                <a:latin typeface="Microsoft Sans Serif"/>
                <a:cs typeface="Microsoft Sans Serif"/>
              </a:rPr>
              <a:t>such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as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490" dirty="0">
                <a:solidFill>
                  <a:srgbClr val="963139"/>
                </a:solidFill>
                <a:latin typeface="Microsoft Sans Serif"/>
                <a:cs typeface="Microsoft Sans Serif"/>
              </a:rPr>
              <a:t>SELECT: </a:t>
            </a:r>
            <a:r>
              <a:rPr sz="2900" spc="-7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returns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resource</a:t>
            </a:r>
            <a:endParaRPr sz="29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56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$result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mysql_query(query_string,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$db);</a:t>
            </a:r>
            <a:endParaRPr sz="18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665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this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case,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this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resource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is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stored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variable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$result</a:t>
            </a:r>
            <a:endParaRPr sz="26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68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Other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queries,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returns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540" dirty="0">
                <a:solidFill>
                  <a:srgbClr val="963139"/>
                </a:solidFill>
                <a:latin typeface="Microsoft Sans Serif"/>
                <a:cs typeface="Microsoft Sans Serif"/>
              </a:rPr>
              <a:t>TRUE</a:t>
            </a:r>
            <a:r>
              <a:rPr sz="2900" spc="-4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upon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55" dirty="0">
                <a:solidFill>
                  <a:srgbClr val="963139"/>
                </a:solidFill>
                <a:latin typeface="Microsoft Sans Serif"/>
                <a:cs typeface="Microsoft Sans Serif"/>
              </a:rPr>
              <a:t>success.</a:t>
            </a:r>
            <a:endParaRPr sz="2900">
              <a:latin typeface="Microsoft Sans Serif"/>
              <a:cs typeface="Microsoft Sans Serif"/>
            </a:endParaRPr>
          </a:p>
          <a:p>
            <a:pPr marL="332740" marR="299085" indent="-320040">
              <a:lnSpc>
                <a:spcPct val="100000"/>
              </a:lnSpc>
              <a:spcBef>
                <a:spcPts val="69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All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queries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return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484" dirty="0">
                <a:solidFill>
                  <a:srgbClr val="963139"/>
                </a:solidFill>
                <a:latin typeface="Microsoft Sans Serif"/>
                <a:cs typeface="Microsoft Sans Serif"/>
              </a:rPr>
              <a:t>FALSE</a:t>
            </a:r>
            <a:r>
              <a:rPr sz="29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r>
              <a:rPr sz="29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failure.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Best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practice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is </a:t>
            </a:r>
            <a:r>
              <a:rPr sz="2900" spc="-76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handle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error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(e.g.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000" spc="-15" dirty="0">
                <a:solidFill>
                  <a:srgbClr val="963139"/>
                </a:solidFill>
                <a:latin typeface="Courier New"/>
                <a:cs typeface="Courier New"/>
              </a:rPr>
              <a:t>die(mysql_error())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)</a:t>
            </a:r>
            <a:endParaRPr sz="2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47345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75" dirty="0"/>
              <a:t>Ne</a:t>
            </a:r>
            <a:r>
              <a:rPr spc="-290" dirty="0"/>
              <a:t>v</a:t>
            </a:r>
            <a:r>
              <a:rPr spc="-125" dirty="0"/>
              <a:t>er</a:t>
            </a:r>
            <a:r>
              <a:rPr spc="5" dirty="0"/>
              <a:t> </a:t>
            </a:r>
            <a:r>
              <a:rPr spc="-15" dirty="0"/>
              <a:t>t</a:t>
            </a:r>
            <a:r>
              <a:rPr spc="55" dirty="0"/>
              <a:t>r</a:t>
            </a:r>
            <a:r>
              <a:rPr spc="-430" dirty="0"/>
              <a:t>ust</a:t>
            </a:r>
            <a:r>
              <a:rPr spc="45" dirty="0"/>
              <a:t> </a:t>
            </a:r>
            <a:r>
              <a:rPr spc="-375" dirty="0"/>
              <a:t>user</a:t>
            </a:r>
            <a:r>
              <a:rPr spc="5" dirty="0"/>
              <a:t> </a:t>
            </a:r>
            <a:r>
              <a:rPr spc="-229" dirty="0"/>
              <a:t>input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209800"/>
            <a:ext cx="8416925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28854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5" dirty="0"/>
              <a:t>SQL</a:t>
            </a:r>
            <a:r>
              <a:rPr spc="20" dirty="0"/>
              <a:t> </a:t>
            </a:r>
            <a:r>
              <a:rPr spc="-250" dirty="0"/>
              <a:t>injec</a:t>
            </a:r>
            <a:r>
              <a:rPr spc="-180" dirty="0"/>
              <a:t>t</a:t>
            </a:r>
            <a:r>
              <a:rPr spc="-275" dirty="0"/>
              <a:t>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764538"/>
            <a:ext cx="7781290" cy="3148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932815" indent="-320040">
              <a:lnSpc>
                <a:spcPct val="100000"/>
              </a:lnSpc>
              <a:spcBef>
                <a:spcPts val="10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Att</a:t>
            </a:r>
            <a:r>
              <a:rPr sz="29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280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9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er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gue</a:t>
            </a:r>
            <a:r>
              <a:rPr sz="29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380" dirty="0">
                <a:solidFill>
                  <a:srgbClr val="963139"/>
                </a:solidFill>
                <a:latin typeface="Microsoft Sans Serif"/>
                <a:cs typeface="Microsoft Sans Serif"/>
              </a:rPr>
              <a:t>ses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9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mat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of</a:t>
            </a:r>
            <a:r>
              <a:rPr sz="2900" spc="1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quer</a:t>
            </a:r>
            <a:r>
              <a:rPr sz="29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then  </a:t>
            </a:r>
            <a:r>
              <a:rPr sz="29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exploits</a:t>
            </a:r>
            <a:endParaRPr sz="2900">
              <a:latin typeface="Microsoft Sans Serif"/>
              <a:cs typeface="Microsoft Sans Serif"/>
            </a:endParaRPr>
          </a:p>
          <a:p>
            <a:pPr marL="652780" marR="5080" indent="-274320">
              <a:lnSpc>
                <a:spcPct val="100000"/>
              </a:lnSpc>
              <a:spcBef>
                <a:spcPts val="610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If</a:t>
            </a:r>
            <a:r>
              <a:rPr sz="26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attacker</a:t>
            </a:r>
            <a:r>
              <a:rPr sz="26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is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able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form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valid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300" dirty="0">
                <a:solidFill>
                  <a:srgbClr val="963139"/>
                </a:solidFill>
                <a:latin typeface="Microsoft Sans Serif"/>
                <a:cs typeface="Microsoft Sans Serif"/>
              </a:rPr>
              <a:t>SQL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query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using </a:t>
            </a:r>
            <a:r>
              <a:rPr sz="26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one</a:t>
            </a:r>
            <a:r>
              <a:rPr sz="26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963139"/>
                </a:solidFill>
                <a:latin typeface="Microsoft Sans Serif"/>
                <a:cs typeface="Microsoft Sans Serif"/>
              </a:rPr>
              <a:t>of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input </a:t>
            </a:r>
            <a:r>
              <a:rPr sz="26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fields, </a:t>
            </a:r>
            <a:r>
              <a:rPr sz="26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then</a:t>
            </a:r>
            <a:r>
              <a:rPr sz="26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there 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may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be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unintended </a:t>
            </a:r>
            <a:r>
              <a:rPr sz="26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results</a:t>
            </a:r>
            <a:endParaRPr sz="2600">
              <a:latin typeface="Microsoft Sans Serif"/>
              <a:cs typeface="Microsoft Sans Serif"/>
            </a:endParaRPr>
          </a:p>
          <a:p>
            <a:pPr marL="332740" marR="215900" indent="-320040">
              <a:lnSpc>
                <a:spcPct val="100000"/>
              </a:lnSpc>
              <a:spcBef>
                <a:spcPts val="69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Look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at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this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code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whi</a:t>
            </a:r>
            <a:r>
              <a:rPr sz="29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900" spc="-34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simply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dis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9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9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ys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9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hone  </a:t>
            </a:r>
            <a:r>
              <a:rPr sz="29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number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gi</a:t>
            </a:r>
            <a:r>
              <a:rPr sz="29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en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correct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use</a:t>
            </a:r>
            <a:r>
              <a:rPr sz="29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name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484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50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9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ord</a:t>
            </a:r>
            <a:endParaRPr sz="2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48075" y="3549015"/>
            <a:ext cx="2457450" cy="400050"/>
            <a:chOff x="3648075" y="3549015"/>
            <a:chExt cx="2457450" cy="400050"/>
          </a:xfrm>
        </p:grpSpPr>
        <p:sp>
          <p:nvSpPr>
            <p:cNvPr id="3" name="object 3"/>
            <p:cNvSpPr/>
            <p:nvPr/>
          </p:nvSpPr>
          <p:spPr>
            <a:xfrm>
              <a:off x="3657600" y="3558540"/>
              <a:ext cx="2438400" cy="381000"/>
            </a:xfrm>
            <a:custGeom>
              <a:avLst/>
              <a:gdLst/>
              <a:ahLst/>
              <a:cxnLst/>
              <a:rect l="l" t="t" r="r" b="b"/>
              <a:pathLst>
                <a:path w="2438400" h="381000">
                  <a:moveTo>
                    <a:pt x="2374900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500"/>
                  </a:lnTo>
                  <a:lnTo>
                    <a:pt x="0" y="317500"/>
                  </a:lnTo>
                  <a:lnTo>
                    <a:pt x="4992" y="342209"/>
                  </a:lnTo>
                  <a:lnTo>
                    <a:pt x="18605" y="362394"/>
                  </a:lnTo>
                  <a:lnTo>
                    <a:pt x="38790" y="376007"/>
                  </a:lnTo>
                  <a:lnTo>
                    <a:pt x="63500" y="381000"/>
                  </a:lnTo>
                  <a:lnTo>
                    <a:pt x="2374900" y="381000"/>
                  </a:lnTo>
                  <a:lnTo>
                    <a:pt x="2399609" y="376007"/>
                  </a:lnTo>
                  <a:lnTo>
                    <a:pt x="2419794" y="362394"/>
                  </a:lnTo>
                  <a:lnTo>
                    <a:pt x="2433407" y="342209"/>
                  </a:lnTo>
                  <a:lnTo>
                    <a:pt x="2438400" y="317500"/>
                  </a:lnTo>
                  <a:lnTo>
                    <a:pt x="2438400" y="63500"/>
                  </a:lnTo>
                  <a:lnTo>
                    <a:pt x="2433407" y="38790"/>
                  </a:lnTo>
                  <a:lnTo>
                    <a:pt x="2419794" y="18605"/>
                  </a:lnTo>
                  <a:lnTo>
                    <a:pt x="2399609" y="4992"/>
                  </a:lnTo>
                  <a:lnTo>
                    <a:pt x="23749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57600" y="3558540"/>
              <a:ext cx="2438400" cy="381000"/>
            </a:xfrm>
            <a:custGeom>
              <a:avLst/>
              <a:gdLst/>
              <a:ahLst/>
              <a:cxnLst/>
              <a:rect l="l" t="t" r="r" b="b"/>
              <a:pathLst>
                <a:path w="2438400" h="381000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2374900" y="0"/>
                  </a:lnTo>
                  <a:lnTo>
                    <a:pt x="2399609" y="4992"/>
                  </a:lnTo>
                  <a:lnTo>
                    <a:pt x="2419794" y="18605"/>
                  </a:lnTo>
                  <a:lnTo>
                    <a:pt x="2433407" y="38790"/>
                  </a:lnTo>
                  <a:lnTo>
                    <a:pt x="2438400" y="63500"/>
                  </a:lnTo>
                  <a:lnTo>
                    <a:pt x="2438400" y="317500"/>
                  </a:lnTo>
                  <a:lnTo>
                    <a:pt x="2433407" y="342209"/>
                  </a:lnTo>
                  <a:lnTo>
                    <a:pt x="2419794" y="362394"/>
                  </a:lnTo>
                  <a:lnTo>
                    <a:pt x="2399609" y="376007"/>
                  </a:lnTo>
                  <a:lnTo>
                    <a:pt x="2374900" y="381000"/>
                  </a:lnTo>
                  <a:lnTo>
                    <a:pt x="63500" y="381000"/>
                  </a:lnTo>
                  <a:lnTo>
                    <a:pt x="38790" y="376007"/>
                  </a:lnTo>
                  <a:lnTo>
                    <a:pt x="18605" y="362394"/>
                  </a:lnTo>
                  <a:lnTo>
                    <a:pt x="4992" y="342209"/>
                  </a:lnTo>
                  <a:lnTo>
                    <a:pt x="0" y="317500"/>
                  </a:lnTo>
                  <a:lnTo>
                    <a:pt x="0" y="6350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153275" y="3343275"/>
            <a:ext cx="1695450" cy="400050"/>
            <a:chOff x="7153275" y="3343275"/>
            <a:chExt cx="1695450" cy="400050"/>
          </a:xfrm>
        </p:grpSpPr>
        <p:sp>
          <p:nvSpPr>
            <p:cNvPr id="6" name="object 6"/>
            <p:cNvSpPr/>
            <p:nvPr/>
          </p:nvSpPr>
          <p:spPr>
            <a:xfrm>
              <a:off x="7162800" y="3352800"/>
              <a:ext cx="1676400" cy="381000"/>
            </a:xfrm>
            <a:custGeom>
              <a:avLst/>
              <a:gdLst/>
              <a:ahLst/>
              <a:cxnLst/>
              <a:rect l="l" t="t" r="r" b="b"/>
              <a:pathLst>
                <a:path w="1676400" h="381000">
                  <a:moveTo>
                    <a:pt x="1612900" y="0"/>
                  </a:moveTo>
                  <a:lnTo>
                    <a:pt x="63500" y="0"/>
                  </a:lnTo>
                  <a:lnTo>
                    <a:pt x="38790" y="4992"/>
                  </a:lnTo>
                  <a:lnTo>
                    <a:pt x="18605" y="18605"/>
                  </a:lnTo>
                  <a:lnTo>
                    <a:pt x="4992" y="38790"/>
                  </a:lnTo>
                  <a:lnTo>
                    <a:pt x="0" y="63500"/>
                  </a:lnTo>
                  <a:lnTo>
                    <a:pt x="0" y="317500"/>
                  </a:lnTo>
                  <a:lnTo>
                    <a:pt x="4992" y="342209"/>
                  </a:lnTo>
                  <a:lnTo>
                    <a:pt x="18605" y="362394"/>
                  </a:lnTo>
                  <a:lnTo>
                    <a:pt x="38790" y="376007"/>
                  </a:lnTo>
                  <a:lnTo>
                    <a:pt x="63500" y="381000"/>
                  </a:lnTo>
                  <a:lnTo>
                    <a:pt x="1612900" y="381000"/>
                  </a:lnTo>
                  <a:lnTo>
                    <a:pt x="1637609" y="376007"/>
                  </a:lnTo>
                  <a:lnTo>
                    <a:pt x="1657794" y="362394"/>
                  </a:lnTo>
                  <a:lnTo>
                    <a:pt x="1671407" y="342209"/>
                  </a:lnTo>
                  <a:lnTo>
                    <a:pt x="1676400" y="317500"/>
                  </a:lnTo>
                  <a:lnTo>
                    <a:pt x="1676400" y="63500"/>
                  </a:lnTo>
                  <a:lnTo>
                    <a:pt x="1671407" y="38790"/>
                  </a:lnTo>
                  <a:lnTo>
                    <a:pt x="1657794" y="18605"/>
                  </a:lnTo>
                  <a:lnTo>
                    <a:pt x="1637609" y="4992"/>
                  </a:lnTo>
                  <a:lnTo>
                    <a:pt x="16129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62800" y="3352800"/>
              <a:ext cx="1676400" cy="381000"/>
            </a:xfrm>
            <a:custGeom>
              <a:avLst/>
              <a:gdLst/>
              <a:ahLst/>
              <a:cxnLst/>
              <a:rect l="l" t="t" r="r" b="b"/>
              <a:pathLst>
                <a:path w="1676400" h="381000">
                  <a:moveTo>
                    <a:pt x="0" y="63500"/>
                  </a:moveTo>
                  <a:lnTo>
                    <a:pt x="4992" y="38790"/>
                  </a:lnTo>
                  <a:lnTo>
                    <a:pt x="18605" y="18605"/>
                  </a:lnTo>
                  <a:lnTo>
                    <a:pt x="38790" y="4992"/>
                  </a:lnTo>
                  <a:lnTo>
                    <a:pt x="63500" y="0"/>
                  </a:lnTo>
                  <a:lnTo>
                    <a:pt x="1612900" y="0"/>
                  </a:lnTo>
                  <a:lnTo>
                    <a:pt x="1637609" y="4992"/>
                  </a:lnTo>
                  <a:lnTo>
                    <a:pt x="1657794" y="18605"/>
                  </a:lnTo>
                  <a:lnTo>
                    <a:pt x="1671407" y="38790"/>
                  </a:lnTo>
                  <a:lnTo>
                    <a:pt x="1676400" y="63500"/>
                  </a:lnTo>
                  <a:lnTo>
                    <a:pt x="1676400" y="317500"/>
                  </a:lnTo>
                  <a:lnTo>
                    <a:pt x="1671407" y="342209"/>
                  </a:lnTo>
                  <a:lnTo>
                    <a:pt x="1657794" y="362394"/>
                  </a:lnTo>
                  <a:lnTo>
                    <a:pt x="1637609" y="376007"/>
                  </a:lnTo>
                  <a:lnTo>
                    <a:pt x="1612900" y="381000"/>
                  </a:lnTo>
                  <a:lnTo>
                    <a:pt x="63500" y="381000"/>
                  </a:lnTo>
                  <a:lnTo>
                    <a:pt x="38790" y="376007"/>
                  </a:lnTo>
                  <a:lnTo>
                    <a:pt x="18605" y="362394"/>
                  </a:lnTo>
                  <a:lnTo>
                    <a:pt x="4992" y="342209"/>
                  </a:lnTo>
                  <a:lnTo>
                    <a:pt x="0" y="317500"/>
                  </a:lnTo>
                  <a:lnTo>
                    <a:pt x="0" y="63500"/>
                  </a:lnTo>
                  <a:close/>
                </a:path>
              </a:pathLst>
            </a:custGeom>
            <a:ln w="19050">
              <a:solidFill>
                <a:srgbClr val="4949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5092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5" dirty="0"/>
              <a:t>SQL</a:t>
            </a:r>
            <a:r>
              <a:rPr spc="20" dirty="0"/>
              <a:t> </a:t>
            </a:r>
            <a:r>
              <a:rPr spc="-250" dirty="0"/>
              <a:t>injec</a:t>
            </a:r>
            <a:r>
              <a:rPr spc="-180" dirty="0"/>
              <a:t>t</a:t>
            </a:r>
            <a:r>
              <a:rPr spc="-300" dirty="0"/>
              <a:t>ion</a:t>
            </a:r>
            <a:r>
              <a:rPr spc="-185" dirty="0"/>
              <a:t>:</a:t>
            </a:r>
            <a:r>
              <a:rPr spc="10" dirty="0"/>
              <a:t> </a:t>
            </a:r>
            <a:r>
              <a:rPr spc="-375" dirty="0"/>
              <a:t>e</a:t>
            </a:r>
            <a:r>
              <a:rPr spc="-185" dirty="0"/>
              <a:t>xamp</a:t>
            </a:r>
            <a:r>
              <a:rPr spc="-85" dirty="0"/>
              <a:t>l</a:t>
            </a:r>
            <a:r>
              <a:rPr spc="-245" dirty="0"/>
              <a:t>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823594" indent="-91503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$db </a:t>
            </a:r>
            <a:r>
              <a:rPr dirty="0"/>
              <a:t>= </a:t>
            </a:r>
            <a:r>
              <a:rPr spc="-10" dirty="0"/>
              <a:t>mysql_connect("localhost", "6470user", "6470") or </a:t>
            </a:r>
            <a:r>
              <a:rPr spc="-1070" dirty="0"/>
              <a:t> </a:t>
            </a:r>
            <a:r>
              <a:rPr spc="-10" dirty="0"/>
              <a:t>die(mysql_error());</a:t>
            </a:r>
          </a:p>
          <a:p>
            <a:pPr marL="12700">
              <a:lnSpc>
                <a:spcPct val="100000"/>
              </a:lnSpc>
            </a:pPr>
            <a:r>
              <a:rPr spc="-10" dirty="0"/>
              <a:t>mysql_select_db("6470example",</a:t>
            </a:r>
            <a:r>
              <a:rPr spc="-25" dirty="0"/>
              <a:t> </a:t>
            </a:r>
            <a:r>
              <a:rPr spc="-10" dirty="0"/>
              <a:t>$db)</a:t>
            </a:r>
            <a:r>
              <a:rPr spc="-15" dirty="0"/>
              <a:t> </a:t>
            </a:r>
            <a:r>
              <a:rPr spc="-5" dirty="0"/>
              <a:t>or</a:t>
            </a:r>
            <a:r>
              <a:rPr spc="-15" dirty="0"/>
              <a:t> </a:t>
            </a:r>
            <a:r>
              <a:rPr spc="-10" dirty="0"/>
              <a:t>die(mysql_error());</a:t>
            </a:r>
          </a:p>
          <a:p>
            <a:pPr marL="12700">
              <a:lnSpc>
                <a:spcPct val="100000"/>
              </a:lnSpc>
            </a:pPr>
            <a:r>
              <a:rPr spc="-5" dirty="0"/>
              <a:t>if</a:t>
            </a:r>
            <a:r>
              <a:rPr spc="-25" dirty="0"/>
              <a:t> </a:t>
            </a:r>
            <a:r>
              <a:rPr spc="-10" dirty="0"/>
              <a:t>(isset($_POST["username"])</a:t>
            </a:r>
            <a:r>
              <a:rPr spc="-20" dirty="0"/>
              <a:t> </a:t>
            </a:r>
            <a:r>
              <a:rPr spc="-5" dirty="0"/>
              <a:t>&amp;&amp;</a:t>
            </a:r>
            <a:r>
              <a:rPr spc="-20" dirty="0"/>
              <a:t> </a:t>
            </a:r>
            <a:r>
              <a:rPr spc="-10" dirty="0"/>
              <a:t>isset($_POST["password"]))</a:t>
            </a:r>
            <a:r>
              <a:rPr spc="-20" dirty="0"/>
              <a:t> </a:t>
            </a:r>
            <a:r>
              <a:rPr dirty="0"/>
              <a:t>{</a:t>
            </a:r>
          </a:p>
          <a:p>
            <a:pPr marL="927100">
              <a:lnSpc>
                <a:spcPct val="100000"/>
              </a:lnSpc>
            </a:pPr>
            <a:r>
              <a:rPr spc="-10" dirty="0"/>
              <a:t>$user</a:t>
            </a:r>
            <a:r>
              <a:rPr spc="-45" dirty="0"/>
              <a:t> </a:t>
            </a:r>
            <a:r>
              <a:rPr dirty="0"/>
              <a:t>=</a:t>
            </a:r>
            <a:r>
              <a:rPr spc="-40" dirty="0"/>
              <a:t> </a:t>
            </a:r>
            <a:r>
              <a:rPr spc="-10" dirty="0"/>
              <a:t>$_POST["username"];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98194" y="3081273"/>
            <a:ext cx="575945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$pass</a:t>
            </a:r>
            <a:r>
              <a:rPr sz="18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$_POST["password"];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$query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"SELECT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PHONE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FROM userinfo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WHERE</a:t>
            </a:r>
            <a:endParaRPr sz="18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and</a:t>
            </a:r>
            <a:r>
              <a:rPr sz="1800" spc="-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PASSWORD='$pass'";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$query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.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"&lt;br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/&gt;";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$result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mysql_query($query,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$db);</a:t>
            </a:r>
            <a:endParaRPr sz="1800">
              <a:latin typeface="Courier New"/>
              <a:cs typeface="Courier New"/>
            </a:endParaRPr>
          </a:p>
          <a:p>
            <a:pPr marL="12700" marR="109791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$row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mysql_fetch_assoc($result); </a:t>
            </a:r>
            <a:r>
              <a:rPr sz="1800" spc="-10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if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($row)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80202" y="3355594"/>
            <a:ext cx="1640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U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SE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R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'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$u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s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e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r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'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3540" y="5001895"/>
            <a:ext cx="731393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"Phone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number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is: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{$row['PHONE']}";</a:t>
            </a:r>
            <a:endParaRPr sz="18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else</a:t>
            </a:r>
            <a:r>
              <a:rPr sz="1800" spc="-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8415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"Invalid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user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or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password";</a:t>
            </a:r>
            <a:endParaRPr sz="18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5092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5" dirty="0"/>
              <a:t>SQL</a:t>
            </a:r>
            <a:r>
              <a:rPr spc="20" dirty="0"/>
              <a:t> </a:t>
            </a:r>
            <a:r>
              <a:rPr spc="-250" dirty="0"/>
              <a:t>injec</a:t>
            </a:r>
            <a:r>
              <a:rPr spc="-180" dirty="0"/>
              <a:t>t</a:t>
            </a:r>
            <a:r>
              <a:rPr spc="-300" dirty="0"/>
              <a:t>ion</a:t>
            </a:r>
            <a:r>
              <a:rPr spc="-185" dirty="0"/>
              <a:t>:</a:t>
            </a:r>
            <a:r>
              <a:rPr spc="10" dirty="0"/>
              <a:t> </a:t>
            </a:r>
            <a:r>
              <a:rPr spc="-375" dirty="0"/>
              <a:t>e</a:t>
            </a:r>
            <a:r>
              <a:rPr spc="-185" dirty="0"/>
              <a:t>xamp</a:t>
            </a:r>
            <a:r>
              <a:rPr spc="-85" dirty="0"/>
              <a:t>l</a:t>
            </a:r>
            <a:r>
              <a:rPr spc="-24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89861"/>
            <a:ext cx="7875905" cy="449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41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700" spc="-370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7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iss</a:t>
            </a:r>
            <a:r>
              <a:rPr sz="2700" spc="-390" dirty="0">
                <a:solidFill>
                  <a:srgbClr val="963139"/>
                </a:solidFill>
                <a:latin typeface="Microsoft Sans Serif"/>
                <a:cs typeface="Microsoft Sans Serif"/>
              </a:rPr>
              <a:t>u</a:t>
            </a:r>
            <a:r>
              <a:rPr sz="27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h</a:t>
            </a:r>
            <a:r>
              <a:rPr sz="27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ere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700" spc="-33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that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7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are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“t</a:t>
            </a:r>
            <a:r>
              <a:rPr sz="2700" spc="8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7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usti</a:t>
            </a:r>
            <a:r>
              <a:rPr sz="27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700" spc="60" dirty="0">
                <a:solidFill>
                  <a:srgbClr val="963139"/>
                </a:solidFill>
                <a:latin typeface="Microsoft Sans Serif"/>
                <a:cs typeface="Microsoft Sans Serif"/>
              </a:rPr>
              <a:t>g”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us</a:t>
            </a:r>
            <a:r>
              <a:rPr sz="27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7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input.</a:t>
            </a:r>
            <a:endParaRPr sz="27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50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What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5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700" spc="6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700" spc="1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u</a:t>
            </a:r>
            <a:r>
              <a:rPr sz="27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ser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ins</a:t>
            </a:r>
            <a:r>
              <a:rPr sz="27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7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7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ts</a:t>
            </a:r>
            <a:r>
              <a:rPr sz="27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7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string</a:t>
            </a:r>
            <a:endParaRPr sz="2700">
              <a:latin typeface="Microsoft Sans Serif"/>
              <a:cs typeface="Microsoft Sans Serif"/>
            </a:endParaRPr>
          </a:p>
          <a:p>
            <a:pPr marL="927100">
              <a:lnSpc>
                <a:spcPts val="2870"/>
              </a:lnSpc>
            </a:pP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randompass’</a:t>
            </a:r>
            <a:r>
              <a:rPr sz="24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OR</a:t>
            </a:r>
            <a:r>
              <a:rPr sz="24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‘1=1</a:t>
            </a:r>
            <a:endParaRPr sz="2400">
              <a:latin typeface="Courier New"/>
              <a:cs typeface="Courier New"/>
            </a:endParaRPr>
          </a:p>
          <a:p>
            <a:pPr marL="378460">
              <a:lnSpc>
                <a:spcPts val="3229"/>
              </a:lnSpc>
            </a:pPr>
            <a:r>
              <a:rPr sz="27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700" spc="-45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7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pas</a:t>
            </a:r>
            <a:r>
              <a:rPr sz="27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7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7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ord?</a:t>
            </a:r>
            <a:endParaRPr sz="2700">
              <a:latin typeface="Microsoft Sans Serif"/>
              <a:cs typeface="Microsoft Sans Serif"/>
            </a:endParaRPr>
          </a:p>
          <a:p>
            <a:pPr marL="332740" indent="-320040">
              <a:lnSpc>
                <a:spcPts val="3235"/>
              </a:lnSpc>
              <a:spcBef>
                <a:spcPts val="60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68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7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es</a:t>
            </a:r>
            <a:r>
              <a:rPr sz="27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u</a:t>
            </a:r>
            <a:r>
              <a:rPr sz="27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ltin</a:t>
            </a:r>
            <a:r>
              <a:rPr sz="27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quer</a:t>
            </a:r>
            <a:r>
              <a:rPr sz="27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7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:</a:t>
            </a:r>
            <a:endParaRPr sz="2700">
              <a:latin typeface="Microsoft Sans Serif"/>
              <a:cs typeface="Microsoft Sans Serif"/>
            </a:endParaRPr>
          </a:p>
          <a:p>
            <a:pPr marL="378460">
              <a:lnSpc>
                <a:spcPts val="2585"/>
              </a:lnSpc>
            </a:pP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SELECT</a:t>
            </a:r>
            <a:r>
              <a:rPr sz="24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PHONE 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FROM</a:t>
            </a: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userinfo WHERE</a:t>
            </a:r>
            <a:endParaRPr sz="2400">
              <a:latin typeface="Courier New"/>
              <a:cs typeface="Courier New"/>
            </a:endParaRPr>
          </a:p>
          <a:p>
            <a:pPr marL="378460" marR="5080">
              <a:lnSpc>
                <a:spcPct val="80000"/>
              </a:lnSpc>
              <a:spcBef>
                <a:spcPts val="290"/>
              </a:spcBef>
            </a:pP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USER=‘username’</a:t>
            </a:r>
            <a:r>
              <a:rPr sz="24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and</a:t>
            </a:r>
            <a:r>
              <a:rPr sz="2400" spc="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PASSWORD=‘randompass’ </a:t>
            </a:r>
            <a:r>
              <a:rPr sz="2400" spc="-14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OR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 ‘1=1’</a:t>
            </a:r>
            <a:endParaRPr sz="2400">
              <a:latin typeface="Courier New"/>
              <a:cs typeface="Courier New"/>
            </a:endParaRPr>
          </a:p>
          <a:p>
            <a:pPr marL="332740" marR="349885" indent="-320040">
              <a:lnSpc>
                <a:spcPts val="2600"/>
              </a:lnSpc>
              <a:spcBef>
                <a:spcPts val="700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‘1=1’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always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true.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We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can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get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7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give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 </a:t>
            </a:r>
            <a:r>
              <a:rPr sz="2700" spc="-7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phone</a:t>
            </a:r>
            <a:r>
              <a:rPr sz="27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number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regardless</a:t>
            </a:r>
            <a:r>
              <a:rPr sz="27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700" spc="114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username/password!</a:t>
            </a:r>
            <a:endParaRPr sz="2700">
              <a:latin typeface="Microsoft Sans Serif"/>
              <a:cs typeface="Microsoft Sans Serif"/>
            </a:endParaRPr>
          </a:p>
          <a:p>
            <a:pPr marL="332740" marR="396875" indent="-320040">
              <a:lnSpc>
                <a:spcPct val="80000"/>
              </a:lnSpc>
              <a:spcBef>
                <a:spcPts val="710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b="1" spc="-175" dirty="0">
                <a:solidFill>
                  <a:srgbClr val="963139"/>
                </a:solidFill>
                <a:latin typeface="Arial"/>
                <a:cs typeface="Arial"/>
              </a:rPr>
              <a:t>Fix:</a:t>
            </a:r>
            <a:r>
              <a:rPr sz="2700" b="1" spc="-35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700" b="1" spc="-265" dirty="0">
                <a:solidFill>
                  <a:srgbClr val="963139"/>
                </a:solidFill>
                <a:latin typeface="Arial"/>
                <a:cs typeface="Arial"/>
              </a:rPr>
              <a:t>must</a:t>
            </a:r>
            <a:r>
              <a:rPr sz="2700" b="1" spc="-35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700" b="1" spc="-250" dirty="0">
                <a:solidFill>
                  <a:srgbClr val="963139"/>
                </a:solidFill>
                <a:latin typeface="Arial"/>
                <a:cs typeface="Arial"/>
              </a:rPr>
              <a:t>pass</a:t>
            </a:r>
            <a:r>
              <a:rPr sz="2700" b="1" spc="-35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700" b="1" spc="-365" dirty="0">
                <a:solidFill>
                  <a:srgbClr val="963139"/>
                </a:solidFill>
                <a:latin typeface="Arial"/>
                <a:cs typeface="Arial"/>
              </a:rPr>
              <a:t>ALL</a:t>
            </a:r>
            <a:r>
              <a:rPr sz="2700" b="1" spc="-45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700" b="1" spc="-245" dirty="0">
                <a:solidFill>
                  <a:srgbClr val="963139"/>
                </a:solidFill>
                <a:latin typeface="Arial"/>
                <a:cs typeface="Arial"/>
              </a:rPr>
              <a:t>user</a:t>
            </a:r>
            <a:r>
              <a:rPr sz="2700" b="1" spc="-25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700" b="1" spc="-185" dirty="0">
                <a:solidFill>
                  <a:srgbClr val="963139"/>
                </a:solidFill>
                <a:latin typeface="Arial"/>
                <a:cs typeface="Arial"/>
              </a:rPr>
              <a:t>input</a:t>
            </a:r>
            <a:r>
              <a:rPr sz="2700" b="1" spc="-15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700" b="1" spc="-220" dirty="0">
                <a:solidFill>
                  <a:srgbClr val="963139"/>
                </a:solidFill>
                <a:latin typeface="Arial"/>
                <a:cs typeface="Arial"/>
              </a:rPr>
              <a:t>through</a:t>
            </a:r>
            <a:r>
              <a:rPr sz="2700" b="1" spc="-10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700" b="1" spc="-215" dirty="0">
                <a:solidFill>
                  <a:srgbClr val="963139"/>
                </a:solidFill>
                <a:latin typeface="Arial"/>
                <a:cs typeface="Arial"/>
              </a:rPr>
              <a:t>the</a:t>
            </a:r>
            <a:r>
              <a:rPr sz="2700" b="1" spc="-30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700" b="1" spc="-204" dirty="0">
                <a:solidFill>
                  <a:srgbClr val="963139"/>
                </a:solidFill>
                <a:latin typeface="Arial"/>
                <a:cs typeface="Arial"/>
              </a:rPr>
              <a:t>function </a:t>
            </a:r>
            <a:r>
              <a:rPr sz="2700" b="1" spc="-735" dirty="0">
                <a:solidFill>
                  <a:srgbClr val="963139"/>
                </a:solidFill>
                <a:latin typeface="Arial"/>
                <a:cs typeface="Arial"/>
              </a:rPr>
              <a:t> </a:t>
            </a:r>
            <a:r>
              <a:rPr sz="2700" b="1" spc="-190" dirty="0">
                <a:solidFill>
                  <a:srgbClr val="963139"/>
                </a:solidFill>
                <a:latin typeface="Arial"/>
                <a:cs typeface="Arial"/>
              </a:rPr>
              <a:t>mysql_real_escape_string()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79578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0" dirty="0"/>
              <a:t>Retrieving</a:t>
            </a:r>
            <a:r>
              <a:rPr spc="-25" dirty="0"/>
              <a:t> </a:t>
            </a:r>
            <a:r>
              <a:rPr spc="-200" dirty="0"/>
              <a:t>information</a:t>
            </a:r>
            <a:r>
              <a:rPr spc="10" dirty="0"/>
              <a:t> </a:t>
            </a:r>
            <a:r>
              <a:rPr spc="-204" dirty="0"/>
              <a:t>from</a:t>
            </a:r>
            <a:r>
              <a:rPr spc="10" dirty="0"/>
              <a:t> </a:t>
            </a:r>
            <a:r>
              <a:rPr spc="-20" dirty="0"/>
              <a:t>a</a:t>
            </a:r>
            <a:r>
              <a:rPr spc="35" dirty="0"/>
              <a:t> </a:t>
            </a:r>
            <a:r>
              <a:rPr spc="-155" dirty="0"/>
              <a:t>query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676752"/>
            <a:ext cx="7988300" cy="470979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11480" indent="-320675">
              <a:lnSpc>
                <a:spcPct val="100000"/>
              </a:lnSpc>
              <a:spcBef>
                <a:spcPts val="795"/>
              </a:spcBef>
              <a:buSzPct val="60344"/>
              <a:buFont typeface="Wingdings"/>
              <a:buChar char=""/>
              <a:tabLst>
                <a:tab pos="412115" algn="l"/>
              </a:tabLst>
            </a:pPr>
            <a:r>
              <a:rPr sz="29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Loop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over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returned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$result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resource,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row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by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row</a:t>
            </a:r>
            <a:endParaRPr sz="2900">
              <a:latin typeface="Microsoft Sans Serif"/>
              <a:cs typeface="Microsoft Sans Serif"/>
            </a:endParaRPr>
          </a:p>
          <a:p>
            <a:pPr marL="411480" marR="692150" indent="-320040">
              <a:lnSpc>
                <a:spcPct val="100000"/>
              </a:lnSpc>
              <a:spcBef>
                <a:spcPts val="700"/>
              </a:spcBef>
              <a:buSzPct val="60344"/>
              <a:buFont typeface="Wingdings"/>
              <a:buChar char=""/>
              <a:tabLst>
                <a:tab pos="412115" algn="l"/>
              </a:tabLst>
            </a:pPr>
            <a:r>
              <a:rPr sz="2900" spc="-55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ysql_</a:t>
            </a:r>
            <a:r>
              <a:rPr sz="29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et</a:t>
            </a:r>
            <a:r>
              <a:rPr sz="29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h_</a:t>
            </a: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370" dirty="0">
                <a:solidFill>
                  <a:srgbClr val="963139"/>
                </a:solidFill>
                <a:latin typeface="Microsoft Sans Serif"/>
                <a:cs typeface="Microsoft Sans Serif"/>
              </a:rPr>
              <a:t>sso</a:t>
            </a:r>
            <a:r>
              <a:rPr sz="2900" spc="-360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()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function: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tu</a:t>
            </a:r>
            <a:r>
              <a:rPr sz="2900" spc="-4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415" dirty="0">
                <a:solidFill>
                  <a:srgbClr val="963139"/>
                </a:solidFill>
                <a:latin typeface="Microsoft Sans Serif"/>
                <a:cs typeface="Microsoft Sans Serif"/>
              </a:rPr>
              <a:t>ns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900" spc="8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the  </a:t>
            </a:r>
            <a:r>
              <a:rPr sz="29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re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ult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int</a:t>
            </a:r>
            <a:r>
              <a:rPr sz="29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9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y-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alue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ai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545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where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9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ys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are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the  </a:t>
            </a:r>
            <a:r>
              <a:rPr sz="2900" spc="-295" dirty="0">
                <a:solidFill>
                  <a:srgbClr val="963139"/>
                </a:solidFill>
                <a:latin typeface="Microsoft Sans Serif"/>
                <a:cs typeface="Microsoft Sans Serif"/>
              </a:rPr>
              <a:t>names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9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fields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9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their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alues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the  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corresponding</a:t>
            </a:r>
            <a:r>
              <a:rPr sz="29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values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table</a:t>
            </a:r>
            <a:endParaRPr sz="2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$result</a:t>
            </a:r>
            <a:r>
              <a:rPr sz="24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= 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mysql_query(query,</a:t>
            </a: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$db);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while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 ($row </a:t>
            </a: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= </a:t>
            </a:r>
            <a:r>
              <a:rPr sz="2400" b="1" spc="-10" dirty="0">
                <a:solidFill>
                  <a:srgbClr val="963139"/>
                </a:solidFill>
                <a:latin typeface="Courier New"/>
                <a:cs typeface="Courier New"/>
              </a:rPr>
              <a:t>mysql_fetch_assoc($result)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) </a:t>
            </a: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$col1</a:t>
            </a:r>
            <a:r>
              <a:rPr sz="24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24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$row['column_1_name'];</a:t>
            </a:r>
            <a:endParaRPr sz="2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$col2</a:t>
            </a:r>
            <a:r>
              <a:rPr sz="24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24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$row['column_2_name'];</a:t>
            </a:r>
            <a:endParaRPr sz="2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24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963139"/>
                </a:solidFill>
                <a:latin typeface="Courier New"/>
                <a:cs typeface="Courier New"/>
              </a:rPr>
              <a:t>and</a:t>
            </a:r>
            <a:r>
              <a:rPr sz="24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so</a:t>
            </a:r>
            <a:r>
              <a:rPr sz="24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963139"/>
                </a:solidFill>
                <a:latin typeface="Courier New"/>
                <a:cs typeface="Courier New"/>
              </a:rPr>
              <a:t>forth...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63868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75" dirty="0"/>
              <a:t>A</a:t>
            </a:r>
            <a:r>
              <a:rPr dirty="0"/>
              <a:t> </a:t>
            </a:r>
            <a:r>
              <a:rPr spc="-160" dirty="0"/>
              <a:t>registration-login</a:t>
            </a:r>
            <a:r>
              <a:rPr spc="-20" dirty="0"/>
              <a:t> </a:t>
            </a:r>
            <a:r>
              <a:rPr spc="-204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78486"/>
            <a:ext cx="7840345" cy="48361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3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Login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pa</a:t>
            </a:r>
            <a:r>
              <a:rPr sz="29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305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275" dirty="0">
                <a:solidFill>
                  <a:srgbClr val="963139"/>
                </a:solidFill>
                <a:latin typeface="Microsoft Sans Serif"/>
                <a:cs typeface="Microsoft Sans Serif"/>
              </a:rPr>
              <a:t>Che</a:t>
            </a:r>
            <a:r>
              <a:rPr sz="26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use</a:t>
            </a:r>
            <a:r>
              <a:rPr sz="2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name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pas</a:t>
            </a:r>
            <a:r>
              <a:rPr sz="26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6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6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ord</a:t>
            </a:r>
            <a:endParaRPr sz="2600">
              <a:latin typeface="Microsoft Sans Serif"/>
              <a:cs typeface="Microsoft Sans Serif"/>
            </a:endParaRPr>
          </a:p>
          <a:p>
            <a:pPr marL="652780" marR="265430" indent="-274320">
              <a:lnSpc>
                <a:spcPts val="2810"/>
              </a:lnSpc>
              <a:spcBef>
                <a:spcPts val="640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If </a:t>
            </a:r>
            <a:r>
              <a:rPr sz="2600" spc="-40" dirty="0">
                <a:solidFill>
                  <a:srgbClr val="963139"/>
                </a:solidFill>
                <a:latin typeface="Microsoft Sans Serif"/>
                <a:cs typeface="Microsoft Sans Serif"/>
              </a:rPr>
              <a:t>already </a:t>
            </a:r>
            <a:r>
              <a:rPr sz="26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logged </a:t>
            </a:r>
            <a:r>
              <a:rPr sz="26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65" dirty="0">
                <a:solidFill>
                  <a:srgbClr val="963139"/>
                </a:solidFill>
                <a:latin typeface="Microsoft Sans Serif"/>
                <a:cs typeface="Microsoft Sans Serif"/>
              </a:rPr>
              <a:t>(use</a:t>
            </a:r>
            <a:r>
              <a:rPr sz="26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sessions!),</a:t>
            </a:r>
            <a:r>
              <a:rPr sz="2600" spc="18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welcome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user </a:t>
            </a:r>
            <a:r>
              <a:rPr sz="26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by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name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245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Link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reg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ster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pa</a:t>
            </a:r>
            <a:r>
              <a:rPr sz="26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endParaRPr sz="26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33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73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egi</a:t>
            </a:r>
            <a:r>
              <a:rPr sz="29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ter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315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47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6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430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85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6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or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reg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st</a:t>
            </a:r>
            <a:r>
              <a:rPr sz="26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6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at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i</a:t>
            </a:r>
            <a:r>
              <a:rPr sz="26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on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285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If</a:t>
            </a:r>
            <a:r>
              <a:rPr sz="26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95" dirty="0">
                <a:solidFill>
                  <a:srgbClr val="963139"/>
                </a:solidFill>
                <a:latin typeface="Microsoft Sans Serif"/>
                <a:cs typeface="Microsoft Sans Serif"/>
              </a:rPr>
              <a:t>registration</a:t>
            </a:r>
            <a:r>
              <a:rPr sz="26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is</a:t>
            </a:r>
            <a:r>
              <a:rPr sz="26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successful,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confirm</a:t>
            </a:r>
            <a:r>
              <a:rPr sz="26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6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username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295"/>
              </a:spcBef>
            </a:pPr>
            <a:r>
              <a:rPr sz="1800" spc="-17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5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Link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ba</a:t>
            </a:r>
            <a:r>
              <a:rPr sz="26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c</a:t>
            </a:r>
            <a:r>
              <a:rPr sz="26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k</a:t>
            </a:r>
            <a:r>
              <a:rPr sz="26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r>
              <a:rPr sz="26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ogin</a:t>
            </a:r>
            <a:r>
              <a:rPr sz="26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pa</a:t>
            </a:r>
            <a:r>
              <a:rPr sz="26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6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endParaRPr sz="2600">
              <a:latin typeface="Microsoft Sans Serif"/>
              <a:cs typeface="Microsoft Sans Serif"/>
            </a:endParaRPr>
          </a:p>
          <a:p>
            <a:pPr marL="332740" marR="5080" indent="-320040">
              <a:lnSpc>
                <a:spcPts val="3130"/>
              </a:lnSpc>
              <a:spcBef>
                <a:spcPts val="73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Complete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code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can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be</a:t>
            </a:r>
            <a:r>
              <a:rPr sz="29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wnloaded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7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9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320" dirty="0">
                <a:solidFill>
                  <a:srgbClr val="963139"/>
                </a:solidFill>
                <a:latin typeface="Microsoft Sans Serif"/>
                <a:cs typeface="Microsoft Sans Serif"/>
              </a:rPr>
              <a:t>om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vi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d</a:t>
            </a:r>
            <a:r>
              <a:rPr sz="29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eo  </a:t>
            </a:r>
            <a:r>
              <a:rPr sz="29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lecture</a:t>
            </a:r>
            <a:r>
              <a:rPr sz="29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w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-260" dirty="0">
                <a:solidFill>
                  <a:srgbClr val="963139"/>
                </a:solidFill>
                <a:latin typeface="Microsoft Sans Serif"/>
                <a:cs typeface="Microsoft Sans Serif"/>
              </a:rPr>
              <a:t>b</a:t>
            </a:r>
            <a:r>
              <a:rPr sz="29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ite</a:t>
            </a:r>
            <a:endParaRPr sz="2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63512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75" dirty="0"/>
              <a:t>A</a:t>
            </a:r>
            <a:r>
              <a:rPr spc="30" dirty="0"/>
              <a:t> </a:t>
            </a:r>
            <a:r>
              <a:rPr spc="-254" dirty="0"/>
              <a:t>shared</a:t>
            </a:r>
            <a:r>
              <a:rPr dirty="0"/>
              <a:t> </a:t>
            </a:r>
            <a:r>
              <a:rPr spc="-145" dirty="0"/>
              <a:t>database</a:t>
            </a:r>
            <a:r>
              <a:rPr spc="15" dirty="0"/>
              <a:t> </a:t>
            </a:r>
            <a:r>
              <a:rPr spc="-315" dirty="0"/>
              <a:t>resource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724914"/>
            <a:ext cx="7874000" cy="467233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32740" marR="228600" indent="-320040">
              <a:lnSpc>
                <a:spcPts val="2920"/>
              </a:lnSpc>
              <a:spcBef>
                <a:spcPts val="459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Both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login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register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pages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use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7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same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database </a:t>
            </a:r>
            <a:r>
              <a:rPr sz="2700" spc="-7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connection</a:t>
            </a:r>
            <a:endParaRPr sz="2700">
              <a:latin typeface="Microsoft Sans Serif"/>
              <a:cs typeface="Microsoft Sans Serif"/>
            </a:endParaRPr>
          </a:p>
          <a:p>
            <a:pPr marL="332740" marR="5080" indent="-320040">
              <a:lnSpc>
                <a:spcPts val="2920"/>
              </a:lnSpc>
              <a:spcBef>
                <a:spcPts val="705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265" dirty="0">
                <a:solidFill>
                  <a:srgbClr val="963139"/>
                </a:solidFill>
                <a:latin typeface="Microsoft Sans Serif"/>
                <a:cs typeface="Microsoft Sans Serif"/>
              </a:rPr>
              <a:t>Put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database</a:t>
            </a:r>
            <a:r>
              <a:rPr sz="27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connection,</a:t>
            </a:r>
            <a:r>
              <a:rPr sz="27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select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database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code</a:t>
            </a:r>
            <a:r>
              <a:rPr sz="27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into</a:t>
            </a:r>
            <a:r>
              <a:rPr sz="27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 </a:t>
            </a:r>
            <a:r>
              <a:rPr sz="2700" spc="-7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same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file</a:t>
            </a:r>
            <a:endParaRPr sz="27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325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Reference</a:t>
            </a:r>
            <a:r>
              <a:rPr sz="27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the</a:t>
            </a:r>
            <a:r>
              <a:rPr sz="2700" spc="4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connection</a:t>
            </a:r>
            <a:r>
              <a:rPr sz="27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resource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75" dirty="0">
                <a:solidFill>
                  <a:srgbClr val="963139"/>
                </a:solidFill>
                <a:latin typeface="Microsoft Sans Serif"/>
                <a:cs typeface="Microsoft Sans Serif"/>
              </a:rPr>
              <a:t>($db)</a:t>
            </a:r>
            <a:r>
              <a:rPr sz="27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75" dirty="0">
                <a:solidFill>
                  <a:srgbClr val="963139"/>
                </a:solidFill>
                <a:latin typeface="Microsoft Sans Serif"/>
                <a:cs typeface="Microsoft Sans Serif"/>
              </a:rPr>
              <a:t>in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other</a:t>
            </a:r>
            <a:r>
              <a:rPr sz="27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05" dirty="0">
                <a:solidFill>
                  <a:srgbClr val="963139"/>
                </a:solidFill>
                <a:latin typeface="Microsoft Sans Serif"/>
                <a:cs typeface="Microsoft Sans Serif"/>
              </a:rPr>
              <a:t>files</a:t>
            </a:r>
            <a:endParaRPr sz="2700">
              <a:latin typeface="Microsoft Sans Serif"/>
              <a:cs typeface="Microsoft Sans Serif"/>
            </a:endParaRPr>
          </a:p>
          <a:p>
            <a:pPr marL="161925">
              <a:lnSpc>
                <a:spcPct val="100000"/>
              </a:lnSpc>
              <a:spcBef>
                <a:spcPts val="107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&lt;?php</a:t>
            </a:r>
            <a:endParaRPr sz="1600">
              <a:latin typeface="Courier New"/>
              <a:cs typeface="Courier New"/>
            </a:endParaRPr>
          </a:p>
          <a:p>
            <a:pPr marL="1076325" marR="982344" indent="-915035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$db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600" spc="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mysql_connect("localhost",</a:t>
            </a:r>
            <a:r>
              <a:rPr sz="1600" spc="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"6470user",</a:t>
            </a:r>
            <a:r>
              <a:rPr sz="1600" spc="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"6470")</a:t>
            </a:r>
            <a:r>
              <a:rPr sz="1600" spc="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or </a:t>
            </a:r>
            <a:r>
              <a:rPr sz="1600" spc="-944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die(mysql_error());</a:t>
            </a:r>
            <a:endParaRPr sz="1600">
              <a:latin typeface="Courier New"/>
              <a:cs typeface="Courier New"/>
            </a:endParaRPr>
          </a:p>
          <a:p>
            <a:pPr marL="1076325" marR="490855" indent="-915035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mysql_query("CREATE</a:t>
            </a:r>
            <a:r>
              <a:rPr sz="1600" spc="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DATABASE</a:t>
            </a:r>
            <a:r>
              <a:rPr sz="1600" spc="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IF</a:t>
            </a:r>
            <a:r>
              <a:rPr sz="1600" spc="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NOT</a:t>
            </a:r>
            <a:r>
              <a:rPr sz="1600" spc="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EXISTS</a:t>
            </a:r>
            <a:r>
              <a:rPr sz="1600" spc="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6470example")</a:t>
            </a:r>
            <a:r>
              <a:rPr sz="1600" spc="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or </a:t>
            </a:r>
            <a:r>
              <a:rPr sz="1600" spc="-944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die(mysql_error());</a:t>
            </a:r>
            <a:endParaRPr sz="1600">
              <a:latin typeface="Courier New"/>
              <a:cs typeface="Courier New"/>
            </a:endParaRPr>
          </a:p>
          <a:p>
            <a:pPr marL="161925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mysql_select_db("6470example",</a:t>
            </a:r>
            <a:r>
              <a:rPr sz="1600" spc="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$db)</a:t>
            </a:r>
            <a:r>
              <a:rPr sz="1600" spc="5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or</a:t>
            </a:r>
            <a:r>
              <a:rPr sz="1600" spc="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die(mysql_error());</a:t>
            </a:r>
            <a:endParaRPr sz="1600">
              <a:latin typeface="Courier New"/>
              <a:cs typeface="Courier New"/>
            </a:endParaRPr>
          </a:p>
          <a:p>
            <a:pPr marL="161925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mysql_query("CREATE</a:t>
            </a:r>
            <a:r>
              <a:rPr sz="1600" spc="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TABLE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IF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NOT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EXISTS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users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(USERNAME</a:t>
            </a:r>
            <a:endParaRPr sz="1600">
              <a:latin typeface="Courier New"/>
              <a:cs typeface="Courier New"/>
            </a:endParaRPr>
          </a:p>
          <a:p>
            <a:pPr marL="1076325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VARCHAR(2000),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PASSWORD</a:t>
            </a:r>
            <a:r>
              <a:rPr sz="1600" spc="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VARCHAR(2000))")</a:t>
            </a:r>
            <a:r>
              <a:rPr sz="1600" spc="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or</a:t>
            </a:r>
            <a:endParaRPr sz="1600">
              <a:latin typeface="Courier New"/>
              <a:cs typeface="Courier New"/>
            </a:endParaRPr>
          </a:p>
          <a:p>
            <a:pPr marL="1076325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die(mysql_error());</a:t>
            </a:r>
            <a:endParaRPr sz="1600">
              <a:latin typeface="Courier New"/>
              <a:cs typeface="Courier New"/>
            </a:endParaRPr>
          </a:p>
          <a:p>
            <a:pPr marL="161925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?&gt;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77393"/>
            <a:ext cx="7720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65" dirty="0"/>
              <a:t>The</a:t>
            </a:r>
            <a:r>
              <a:rPr sz="4000" spc="40" dirty="0"/>
              <a:t> </a:t>
            </a:r>
            <a:r>
              <a:rPr sz="4000" spc="-155" dirty="0"/>
              <a:t>logi</a:t>
            </a:r>
            <a:r>
              <a:rPr sz="4000" spc="-210" dirty="0"/>
              <a:t>n</a:t>
            </a:r>
            <a:r>
              <a:rPr sz="4000" spc="35" dirty="0"/>
              <a:t> </a:t>
            </a:r>
            <a:r>
              <a:rPr sz="4000" spc="-20" dirty="0"/>
              <a:t>pa</a:t>
            </a:r>
            <a:r>
              <a:rPr sz="4000" spc="-114" dirty="0"/>
              <a:t>g</a:t>
            </a:r>
            <a:r>
              <a:rPr sz="4000" spc="-229" dirty="0"/>
              <a:t>e</a:t>
            </a:r>
            <a:r>
              <a:rPr sz="4000" spc="70" dirty="0"/>
              <a:t> </a:t>
            </a:r>
            <a:r>
              <a:rPr sz="4000" spc="825" dirty="0"/>
              <a:t>–</a:t>
            </a:r>
            <a:r>
              <a:rPr sz="4000" spc="45" dirty="0"/>
              <a:t> </a:t>
            </a:r>
            <a:r>
              <a:rPr sz="4000" spc="-210" dirty="0"/>
              <a:t>handle</a:t>
            </a:r>
            <a:r>
              <a:rPr sz="4000" spc="40" dirty="0"/>
              <a:t> </a:t>
            </a:r>
            <a:r>
              <a:rPr sz="4000" spc="-155" dirty="0"/>
              <a:t>logi</a:t>
            </a:r>
            <a:r>
              <a:rPr sz="4000" spc="-210" dirty="0"/>
              <a:t>n</a:t>
            </a:r>
            <a:r>
              <a:rPr sz="4000" spc="35" dirty="0"/>
              <a:t> </a:t>
            </a:r>
            <a:r>
              <a:rPr sz="4000" spc="-185" dirty="0"/>
              <a:t>requ</a:t>
            </a:r>
            <a:r>
              <a:rPr sz="4000" spc="-200" dirty="0"/>
              <a:t>e</a:t>
            </a:r>
            <a:r>
              <a:rPr sz="4000" spc="-350" dirty="0"/>
              <a:t>st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59740" y="2067890"/>
            <a:ext cx="7478395" cy="3683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if</a:t>
            </a:r>
            <a:r>
              <a:rPr sz="1600" spc="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(isset($_POST["username"])</a:t>
            </a:r>
            <a:r>
              <a:rPr sz="1600" spc="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&amp;&amp;</a:t>
            </a:r>
            <a:r>
              <a:rPr sz="1600" spc="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isset($_POST["password"]))</a:t>
            </a:r>
            <a:r>
              <a:rPr sz="1600" spc="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600" b="1" spc="-5" dirty="0">
                <a:solidFill>
                  <a:srgbClr val="963139"/>
                </a:solidFill>
                <a:latin typeface="Courier New"/>
                <a:cs typeface="Courier New"/>
              </a:rPr>
              <a:t>require("db.php");</a:t>
            </a:r>
            <a:r>
              <a:rPr sz="1600" b="1" spc="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600" b="1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63139"/>
                </a:solidFill>
                <a:latin typeface="Courier New"/>
                <a:cs typeface="Courier New"/>
              </a:rPr>
              <a:t>establish</a:t>
            </a:r>
            <a:r>
              <a:rPr sz="1600" b="1" spc="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63139"/>
                </a:solidFill>
                <a:latin typeface="Courier New"/>
                <a:cs typeface="Courier New"/>
              </a:rPr>
              <a:t>DB</a:t>
            </a:r>
            <a:r>
              <a:rPr sz="1600" b="1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63139"/>
                </a:solidFill>
                <a:latin typeface="Courier New"/>
                <a:cs typeface="Courier New"/>
              </a:rPr>
              <a:t>connection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$user</a:t>
            </a:r>
            <a:r>
              <a:rPr sz="16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$_POST["username"];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$pass</a:t>
            </a:r>
            <a:r>
              <a:rPr sz="16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$_POST["password"];</a:t>
            </a:r>
            <a:endParaRPr sz="1600">
              <a:latin typeface="Courier New"/>
              <a:cs typeface="Courier New"/>
            </a:endParaRPr>
          </a:p>
          <a:p>
            <a:pPr marL="927100" marR="165100" indent="-4572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$query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= "SELECT PASSWORD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from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users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WHERE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USERNAME='"</a:t>
            </a:r>
            <a:r>
              <a:rPr sz="1600" spc="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. </a:t>
            </a:r>
            <a:r>
              <a:rPr sz="1600" spc="-944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mysql_real_escape_string($user)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.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"'";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$result</a:t>
            </a:r>
            <a:r>
              <a:rPr sz="1600" spc="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600" spc="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mysql_query($query,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$db)</a:t>
            </a:r>
            <a:r>
              <a:rPr sz="1600" spc="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or</a:t>
            </a:r>
            <a:r>
              <a:rPr sz="1600" spc="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die(mysql_error());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$row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mysql_fetch_assoc($result);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if</a:t>
            </a:r>
            <a:r>
              <a:rPr sz="16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($pass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==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$row["PASSWORD"])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$_SESSION["username"]</a:t>
            </a:r>
            <a:r>
              <a:rPr sz="16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963139"/>
                </a:solidFill>
                <a:latin typeface="Courier New"/>
                <a:cs typeface="Courier New"/>
              </a:rPr>
              <a:t>$user;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else</a:t>
            </a:r>
            <a:r>
              <a:rPr sz="1600" spc="-6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echo "Invalid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username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 or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password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10" dirty="0">
                <a:solidFill>
                  <a:srgbClr val="963139"/>
                </a:solidFill>
                <a:latin typeface="Courier New"/>
                <a:cs typeface="Courier New"/>
              </a:rPr>
              <a:t>&lt;br</a:t>
            </a:r>
            <a:r>
              <a:rPr sz="160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/&gt;";</a:t>
            </a:r>
            <a:endParaRPr sz="16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3992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9" dirty="0"/>
              <a:t>The</a:t>
            </a:r>
            <a:r>
              <a:rPr spc="25" dirty="0"/>
              <a:t> </a:t>
            </a:r>
            <a:r>
              <a:rPr spc="-200" dirty="0"/>
              <a:t>regi</a:t>
            </a:r>
            <a:r>
              <a:rPr spc="-254" dirty="0"/>
              <a:t>s</a:t>
            </a:r>
            <a:r>
              <a:rPr spc="-90" dirty="0"/>
              <a:t>ter</a:t>
            </a:r>
            <a:r>
              <a:rPr spc="25" dirty="0"/>
              <a:t> </a:t>
            </a:r>
            <a:r>
              <a:rPr spc="-20" dirty="0"/>
              <a:t>p</a:t>
            </a:r>
            <a:r>
              <a:rPr spc="-40" dirty="0"/>
              <a:t>a</a:t>
            </a:r>
            <a:r>
              <a:rPr spc="-114" dirty="0"/>
              <a:t>g</a:t>
            </a:r>
            <a:r>
              <a:rPr spc="-24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2063318"/>
            <a:ext cx="840232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if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(isset($_POST["username"])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&amp;&amp;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isset($_POST["password"]))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require("db.php");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$user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mysql_real_escape_string($_POST["username"]);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$pass</a:t>
            </a:r>
            <a:r>
              <a:rPr sz="1800" spc="-3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</a:t>
            </a:r>
            <a:r>
              <a:rPr sz="1800" spc="-3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mysql_real_escape_string($_POST["password"]);</a:t>
            </a:r>
            <a:endParaRPr sz="1800">
              <a:latin typeface="Courier New"/>
              <a:cs typeface="Courier New"/>
            </a:endParaRPr>
          </a:p>
          <a:p>
            <a:pPr marL="469900" marR="418465">
              <a:lnSpc>
                <a:spcPct val="100000"/>
              </a:lnSpc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$query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=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"INSERT INTO users VALUES ('$user', '$pass')"; </a:t>
            </a:r>
            <a:r>
              <a:rPr sz="1800" spc="-107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mysql_query($query,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$db)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or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die(mysql_error());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echo "Registration</a:t>
            </a:r>
            <a:r>
              <a:rPr sz="1800" spc="-1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for $user</a:t>
            </a:r>
            <a:r>
              <a:rPr sz="1800" spc="1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was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successful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&lt;br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 /&gt;&lt;br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/&gt;";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HTML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login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&lt;a</a:t>
            </a:r>
            <a:r>
              <a:rPr sz="1800" spc="-2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href&gt;</a:t>
            </a:r>
            <a:r>
              <a:rPr sz="1800" spc="-2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tag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r>
              <a:rPr sz="18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else</a:t>
            </a:r>
            <a:r>
              <a:rPr sz="1800" spc="-40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solidFill>
                  <a:srgbClr val="963139"/>
                </a:solidFill>
                <a:latin typeface="Courier New"/>
                <a:cs typeface="Courier New"/>
              </a:rPr>
              <a:t>//</a:t>
            </a:r>
            <a:r>
              <a:rPr sz="18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HTML</a:t>
            </a:r>
            <a:r>
              <a:rPr sz="1800" spc="-45" dirty="0">
                <a:solidFill>
                  <a:srgbClr val="96313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963139"/>
                </a:solidFill>
                <a:latin typeface="Courier New"/>
                <a:cs typeface="Courier New"/>
              </a:rPr>
              <a:t>form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963139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31134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5" dirty="0"/>
              <a:t>MySQL</a:t>
            </a:r>
            <a:r>
              <a:rPr spc="15" dirty="0"/>
              <a:t> </a:t>
            </a:r>
            <a:r>
              <a:rPr spc="-160" dirty="0"/>
              <a:t>recap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76870"/>
            <a:ext cx="6887209" cy="42227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75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280" dirty="0">
                <a:solidFill>
                  <a:srgbClr val="963139"/>
                </a:solidFill>
                <a:latin typeface="Microsoft Sans Serif"/>
                <a:cs typeface="Microsoft Sans Serif"/>
              </a:rPr>
              <a:t>Co</a:t>
            </a:r>
            <a:r>
              <a:rPr sz="2700" spc="-229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7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700" spc="-23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700" spc="-140" dirty="0">
                <a:solidFill>
                  <a:srgbClr val="963139"/>
                </a:solidFill>
                <a:latin typeface="Microsoft Sans Serif"/>
                <a:cs typeface="Microsoft Sans Serif"/>
              </a:rPr>
              <a:t>cting</a:t>
            </a:r>
            <a:r>
              <a:rPr sz="2700" spc="2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database</a:t>
            </a:r>
            <a:endParaRPr sz="27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340"/>
              </a:spcBef>
            </a:pPr>
            <a:r>
              <a:rPr sz="1650" spc="-4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650" spc="21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$db=</a:t>
            </a:r>
            <a:r>
              <a:rPr sz="24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mysql_connect(location,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username,</a:t>
            </a:r>
            <a:r>
              <a:rPr sz="24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password)</a:t>
            </a:r>
            <a:endParaRPr sz="24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315"/>
              </a:spcBef>
            </a:pPr>
            <a:r>
              <a:rPr sz="1650" spc="-4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650" spc="21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963139"/>
                </a:solidFill>
                <a:latin typeface="Microsoft Sans Serif"/>
                <a:cs typeface="Microsoft Sans Serif"/>
              </a:rPr>
              <a:t>mysql_select_db(db_name,</a:t>
            </a:r>
            <a:r>
              <a:rPr sz="2400" spc="3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$db)</a:t>
            </a:r>
            <a:endParaRPr sz="24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359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120" dirty="0">
                <a:solidFill>
                  <a:srgbClr val="963139"/>
                </a:solidFill>
                <a:latin typeface="Microsoft Sans Serif"/>
                <a:cs typeface="Microsoft Sans Serif"/>
              </a:rPr>
              <a:t>Making</a:t>
            </a:r>
            <a:r>
              <a:rPr sz="2700" spc="1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7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query</a:t>
            </a:r>
            <a:endParaRPr sz="27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320"/>
              </a:spcBef>
            </a:pPr>
            <a:r>
              <a:rPr sz="1650" spc="-4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650" spc="22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$result</a:t>
            </a:r>
            <a:r>
              <a:rPr sz="24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195" dirty="0">
                <a:solidFill>
                  <a:srgbClr val="963139"/>
                </a:solidFill>
                <a:latin typeface="Microsoft Sans Serif"/>
                <a:cs typeface="Microsoft Sans Serif"/>
              </a:rPr>
              <a:t>=</a:t>
            </a:r>
            <a:r>
              <a:rPr sz="24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mysql_query(query_string,</a:t>
            </a:r>
            <a:r>
              <a:rPr sz="24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963139"/>
                </a:solidFill>
                <a:latin typeface="Microsoft Sans Serif"/>
                <a:cs typeface="Microsoft Sans Serif"/>
              </a:rPr>
              <a:t>$db)</a:t>
            </a:r>
            <a:endParaRPr sz="24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365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Getting</a:t>
            </a:r>
            <a:r>
              <a:rPr sz="2700" spc="4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res</a:t>
            </a:r>
            <a:r>
              <a:rPr sz="27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u</a:t>
            </a:r>
            <a:r>
              <a:rPr sz="27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lt</a:t>
            </a:r>
            <a:r>
              <a:rPr sz="27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of</a:t>
            </a:r>
            <a:r>
              <a:rPr sz="2700" spc="1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que</a:t>
            </a:r>
            <a:r>
              <a:rPr sz="2700" spc="-8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70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endParaRPr sz="27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325"/>
              </a:spcBef>
            </a:pPr>
            <a:r>
              <a:rPr sz="1650" spc="-4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650" spc="20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-114" dirty="0">
                <a:solidFill>
                  <a:srgbClr val="963139"/>
                </a:solidFill>
                <a:latin typeface="Microsoft Sans Serif"/>
                <a:cs typeface="Microsoft Sans Serif"/>
              </a:rPr>
              <a:t>while($row</a:t>
            </a:r>
            <a:r>
              <a:rPr sz="24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195" dirty="0">
                <a:solidFill>
                  <a:srgbClr val="963139"/>
                </a:solidFill>
                <a:latin typeface="Microsoft Sans Serif"/>
                <a:cs typeface="Microsoft Sans Serif"/>
              </a:rPr>
              <a:t>=</a:t>
            </a:r>
            <a:r>
              <a:rPr sz="240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mysql_fetch_assoc($result))</a:t>
            </a:r>
            <a:endParaRPr sz="24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359"/>
              </a:spcBef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Sa</a:t>
            </a:r>
            <a:r>
              <a:rPr sz="27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n</a:t>
            </a:r>
            <a:r>
              <a:rPr sz="27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itizin</a:t>
            </a:r>
            <a:r>
              <a:rPr sz="2700" spc="-130" dirty="0">
                <a:solidFill>
                  <a:srgbClr val="963139"/>
                </a:solidFill>
                <a:latin typeface="Microsoft Sans Serif"/>
                <a:cs typeface="Microsoft Sans Serif"/>
              </a:rPr>
              <a:t>g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us</a:t>
            </a:r>
            <a:r>
              <a:rPr sz="27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7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7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7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input</a:t>
            </a:r>
            <a:endParaRPr sz="2700">
              <a:latin typeface="Microsoft Sans Serif"/>
              <a:cs typeface="Microsoft Sans Serif"/>
            </a:endParaRPr>
          </a:p>
          <a:p>
            <a:pPr marL="378460">
              <a:lnSpc>
                <a:spcPts val="2735"/>
              </a:lnSpc>
              <a:spcBef>
                <a:spcPts val="335"/>
              </a:spcBef>
            </a:pPr>
            <a:r>
              <a:rPr sz="1650" spc="-1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 </a:t>
            </a:r>
            <a:r>
              <a:rPr sz="1650" spc="-215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400" spc="-180" dirty="0">
                <a:solidFill>
                  <a:srgbClr val="963139"/>
                </a:solidFill>
                <a:latin typeface="Microsoft Sans Serif"/>
                <a:cs typeface="Microsoft Sans Serif"/>
              </a:rPr>
              <a:t>$use</a:t>
            </a:r>
            <a:r>
              <a:rPr sz="24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4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na</a:t>
            </a:r>
            <a:r>
              <a:rPr sz="2400" spc="-305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400" spc="-13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4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400" spc="200" dirty="0">
                <a:solidFill>
                  <a:srgbClr val="963139"/>
                </a:solidFill>
                <a:latin typeface="Microsoft Sans Serif"/>
                <a:cs typeface="Microsoft Sans Serif"/>
              </a:rPr>
              <a:t>=</a:t>
            </a:r>
            <a:endParaRPr sz="2400">
              <a:latin typeface="Microsoft Sans Serif"/>
              <a:cs typeface="Microsoft Sans Serif"/>
            </a:endParaRPr>
          </a:p>
          <a:p>
            <a:pPr marL="652780">
              <a:lnSpc>
                <a:spcPts val="2735"/>
              </a:lnSpc>
            </a:pPr>
            <a:r>
              <a:rPr sz="24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mysql_real_escape_string($_POST[“username”])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9465" y="1616709"/>
            <a:ext cx="9226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665" dirty="0">
                <a:solidFill>
                  <a:srgbClr val="963139"/>
                </a:solidFill>
                <a:latin typeface="Microsoft Sans Serif"/>
                <a:cs typeface="Microsoft Sans Serif"/>
              </a:rPr>
              <a:t>PHP</a:t>
            </a:r>
            <a:endParaRPr sz="4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29990" y="2632075"/>
            <a:ext cx="16859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85" dirty="0">
                <a:solidFill>
                  <a:srgbClr val="963139"/>
                </a:solidFill>
                <a:latin typeface="Microsoft Sans Serif"/>
                <a:cs typeface="Microsoft Sans Serif"/>
              </a:rPr>
              <a:t>Conclusion</a:t>
            </a:r>
            <a:endParaRPr sz="32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3865"/>
            <a:ext cx="62795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What</a:t>
            </a:r>
            <a:r>
              <a:rPr spc="10" dirty="0"/>
              <a:t> </a:t>
            </a:r>
            <a:r>
              <a:rPr spc="-235" dirty="0"/>
              <a:t>we’ve</a:t>
            </a:r>
            <a:r>
              <a:rPr spc="15" dirty="0"/>
              <a:t> </a:t>
            </a:r>
            <a:r>
              <a:rPr spc="-125" dirty="0"/>
              <a:t>talked</a:t>
            </a:r>
            <a:r>
              <a:rPr spc="5" dirty="0"/>
              <a:t> </a:t>
            </a:r>
            <a:r>
              <a:rPr spc="175" dirty="0"/>
              <a:t>about…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676752"/>
            <a:ext cx="6741795" cy="450850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Pur</a:t>
            </a:r>
            <a:r>
              <a:rPr sz="2900" spc="-215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9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ose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 of</a:t>
            </a:r>
            <a:r>
              <a:rPr sz="2900" spc="10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se</a:t>
            </a:r>
            <a:r>
              <a:rPr sz="2900" spc="-3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-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side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p</a:t>
            </a:r>
            <a:r>
              <a:rPr sz="29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70" dirty="0">
                <a:solidFill>
                  <a:srgbClr val="963139"/>
                </a:solidFill>
                <a:latin typeface="Microsoft Sans Serif"/>
                <a:cs typeface="Microsoft Sans Serif"/>
              </a:rPr>
              <a:t>ogr</a:t>
            </a:r>
            <a:r>
              <a:rPr sz="2900" spc="-225" dirty="0">
                <a:solidFill>
                  <a:srgbClr val="963139"/>
                </a:solidFill>
                <a:latin typeface="Microsoft Sans Serif"/>
                <a:cs typeface="Microsoft Sans Serif"/>
              </a:rPr>
              <a:t>amming</a:t>
            </a:r>
            <a:endParaRPr sz="29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70" dirty="0">
                <a:solidFill>
                  <a:srgbClr val="963139"/>
                </a:solidFill>
                <a:latin typeface="Microsoft Sans Serif"/>
                <a:cs typeface="Microsoft Sans Serif"/>
              </a:rPr>
              <a:t>Basic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434" dirty="0">
                <a:solidFill>
                  <a:srgbClr val="963139"/>
                </a:solidFill>
                <a:latin typeface="Microsoft Sans Serif"/>
                <a:cs typeface="Microsoft Sans Serif"/>
              </a:rPr>
              <a:t>PHP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synt</a:t>
            </a:r>
            <a:r>
              <a:rPr sz="2900" spc="-19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85" dirty="0">
                <a:solidFill>
                  <a:srgbClr val="963139"/>
                </a:solidFill>
                <a:latin typeface="Microsoft Sans Serif"/>
                <a:cs typeface="Microsoft Sans Serif"/>
              </a:rPr>
              <a:t>x,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ar</a:t>
            </a:r>
            <a:r>
              <a:rPr sz="2900" spc="-2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a</a:t>
            </a:r>
            <a:r>
              <a:rPr sz="2900" spc="-240" dirty="0">
                <a:solidFill>
                  <a:srgbClr val="963139"/>
                </a:solidFill>
                <a:latin typeface="Microsoft Sans Serif"/>
                <a:cs typeface="Microsoft Sans Serif"/>
              </a:rPr>
              <a:t>y</a:t>
            </a:r>
            <a:r>
              <a:rPr sz="2900" spc="-31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10" dirty="0">
                <a:solidFill>
                  <a:srgbClr val="963139"/>
                </a:solidFill>
                <a:latin typeface="Microsoft Sans Serif"/>
                <a:cs typeface="Microsoft Sans Serif"/>
              </a:rPr>
              <a:t>functions</a:t>
            </a:r>
            <a:endParaRPr sz="2900">
              <a:latin typeface="Microsoft Sans Serif"/>
              <a:cs typeface="Microsoft Sans Serif"/>
            </a:endParaRPr>
          </a:p>
          <a:p>
            <a:pPr marL="332740" marR="5080" indent="-320040">
              <a:lnSpc>
                <a:spcPct val="100000"/>
              </a:lnSpc>
              <a:spcBef>
                <a:spcPts val="70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90" dirty="0">
                <a:solidFill>
                  <a:srgbClr val="963139"/>
                </a:solidFill>
                <a:latin typeface="Microsoft Sans Serif"/>
                <a:cs typeface="Microsoft Sans Serif"/>
              </a:rPr>
              <a:t>Specifics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90" dirty="0">
                <a:solidFill>
                  <a:srgbClr val="963139"/>
                </a:solidFill>
                <a:latin typeface="Microsoft Sans Serif"/>
                <a:cs typeface="Microsoft Sans Serif"/>
              </a:rPr>
              <a:t>to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04" dirty="0">
                <a:solidFill>
                  <a:srgbClr val="963139"/>
                </a:solidFill>
                <a:latin typeface="Microsoft Sans Serif"/>
                <a:cs typeface="Microsoft Sans Serif"/>
              </a:rPr>
              <a:t>websites:</a:t>
            </a:r>
            <a:r>
              <a:rPr sz="2900" spc="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cookies,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315" dirty="0">
                <a:solidFill>
                  <a:srgbClr val="963139"/>
                </a:solidFill>
                <a:latin typeface="Microsoft Sans Serif"/>
                <a:cs typeface="Microsoft Sans Serif"/>
              </a:rPr>
              <a:t>sessions,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459" dirty="0">
                <a:solidFill>
                  <a:srgbClr val="963139"/>
                </a:solidFill>
                <a:latin typeface="Microsoft Sans Serif"/>
                <a:cs typeface="Microsoft Sans Serif"/>
              </a:rPr>
              <a:t>HTTP </a:t>
            </a:r>
            <a:r>
              <a:rPr sz="2900" spc="-75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55" dirty="0">
                <a:solidFill>
                  <a:srgbClr val="963139"/>
                </a:solidFill>
                <a:latin typeface="Microsoft Sans Serif"/>
                <a:cs typeface="Microsoft Sans Serif"/>
              </a:rPr>
              <a:t>re</a:t>
            </a:r>
            <a:r>
              <a:rPr sz="2900" spc="-65" dirty="0">
                <a:solidFill>
                  <a:srgbClr val="963139"/>
                </a:solidFill>
                <a:latin typeface="Microsoft Sans Serif"/>
                <a:cs typeface="Microsoft Sans Serif"/>
              </a:rPr>
              <a:t>q</a:t>
            </a:r>
            <a:r>
              <a:rPr sz="2900" spc="-290" dirty="0">
                <a:solidFill>
                  <a:srgbClr val="963139"/>
                </a:solidFill>
                <a:latin typeface="Microsoft Sans Serif"/>
                <a:cs typeface="Microsoft Sans Serif"/>
              </a:rPr>
              <a:t>ues</a:t>
            </a:r>
            <a:r>
              <a:rPr sz="2900" spc="-145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484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1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25" dirty="0">
                <a:solidFill>
                  <a:srgbClr val="963139"/>
                </a:solidFill>
                <a:latin typeface="Microsoft Sans Serif"/>
                <a:cs typeface="Microsoft Sans Serif"/>
              </a:rPr>
              <a:t>and</a:t>
            </a:r>
            <a:r>
              <a:rPr sz="2900" spc="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100" dirty="0">
                <a:solidFill>
                  <a:srgbClr val="963139"/>
                </a:solidFill>
                <a:latin typeface="Microsoft Sans Serif"/>
                <a:cs typeface="Microsoft Sans Serif"/>
              </a:rPr>
              <a:t>f</a:t>
            </a:r>
            <a:r>
              <a:rPr sz="2900" spc="-100" dirty="0">
                <a:solidFill>
                  <a:srgbClr val="963139"/>
                </a:solidFill>
                <a:latin typeface="Microsoft Sans Serif"/>
                <a:cs typeface="Microsoft Sans Serif"/>
              </a:rPr>
              <a:t>o</a:t>
            </a:r>
            <a:r>
              <a:rPr sz="2900" dirty="0">
                <a:solidFill>
                  <a:srgbClr val="963139"/>
                </a:solidFill>
                <a:latin typeface="Microsoft Sans Serif"/>
                <a:cs typeface="Microsoft Sans Serif"/>
              </a:rPr>
              <a:t>r</a:t>
            </a:r>
            <a:r>
              <a:rPr sz="2900" spc="-605" dirty="0">
                <a:solidFill>
                  <a:srgbClr val="963139"/>
                </a:solidFill>
                <a:latin typeface="Microsoft Sans Serif"/>
                <a:cs typeface="Microsoft Sans Serif"/>
              </a:rPr>
              <a:t>m</a:t>
            </a:r>
            <a:r>
              <a:rPr sz="2900" spc="-430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,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65" dirty="0">
                <a:solidFill>
                  <a:srgbClr val="963139"/>
                </a:solidFill>
                <a:latin typeface="Microsoft Sans Serif"/>
                <a:cs typeface="Microsoft Sans Serif"/>
              </a:rPr>
              <a:t>MyS</a:t>
            </a:r>
            <a:r>
              <a:rPr sz="2900" spc="-185" dirty="0">
                <a:solidFill>
                  <a:srgbClr val="963139"/>
                </a:solidFill>
                <a:latin typeface="Microsoft Sans Serif"/>
                <a:cs typeface="Microsoft Sans Serif"/>
              </a:rPr>
              <a:t>Q</a:t>
            </a:r>
            <a:r>
              <a:rPr sz="2900" spc="-500" dirty="0">
                <a:solidFill>
                  <a:srgbClr val="963139"/>
                </a:solidFill>
                <a:latin typeface="Microsoft Sans Serif"/>
                <a:cs typeface="Microsoft Sans Serif"/>
              </a:rPr>
              <a:t>L</a:t>
            </a:r>
            <a:endParaRPr sz="2900">
              <a:latin typeface="Microsoft Sans Serif"/>
              <a:cs typeface="Microsoft Sans Serif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Other</a:t>
            </a:r>
            <a:r>
              <a:rPr sz="2900" spc="-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155" dirty="0">
                <a:solidFill>
                  <a:srgbClr val="963139"/>
                </a:solidFill>
                <a:latin typeface="Microsoft Sans Serif"/>
                <a:cs typeface="Microsoft Sans Serif"/>
              </a:rPr>
              <a:t>server-side</a:t>
            </a:r>
            <a:r>
              <a:rPr sz="2900" spc="-2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20" dirty="0">
                <a:solidFill>
                  <a:srgbClr val="963139"/>
                </a:solidFill>
                <a:latin typeface="Microsoft Sans Serif"/>
                <a:cs typeface="Microsoft Sans Serif"/>
              </a:rPr>
              <a:t>solutions:</a:t>
            </a:r>
            <a:endParaRPr sz="29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10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1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385" dirty="0">
                <a:solidFill>
                  <a:srgbClr val="963139"/>
                </a:solidFill>
                <a:latin typeface="Microsoft Sans Serif"/>
                <a:cs typeface="Microsoft Sans Serif"/>
              </a:rPr>
              <a:t>ASP.NET</a:t>
            </a:r>
            <a:endParaRPr sz="2600">
              <a:latin typeface="Microsoft Sans Serif"/>
              <a:cs typeface="Microsoft Sans Serif"/>
            </a:endParaRPr>
          </a:p>
          <a:p>
            <a:pPr marL="378460">
              <a:lnSpc>
                <a:spcPct val="100000"/>
              </a:lnSpc>
              <a:spcBef>
                <a:spcPts val="600"/>
              </a:spcBef>
            </a:pPr>
            <a:r>
              <a:rPr sz="1800" spc="-55" dirty="0">
                <a:solidFill>
                  <a:srgbClr val="676767"/>
                </a:solidFill>
                <a:latin typeface="Microsoft Sans Serif"/>
                <a:cs typeface="Microsoft Sans Serif"/>
              </a:rPr>
              <a:t>🞑</a:t>
            </a:r>
            <a:r>
              <a:rPr sz="1800" spc="10" dirty="0">
                <a:solidFill>
                  <a:srgbClr val="676767"/>
                </a:solidFill>
                <a:latin typeface="Microsoft Sans Serif"/>
                <a:cs typeface="Microsoft Sans Serif"/>
              </a:rPr>
              <a:t> </a:t>
            </a:r>
            <a:r>
              <a:rPr sz="26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Python</a:t>
            </a:r>
            <a:endParaRPr sz="2600">
              <a:latin typeface="Microsoft Sans Serif"/>
              <a:cs typeface="Microsoft Sans Serif"/>
            </a:endParaRPr>
          </a:p>
          <a:p>
            <a:pPr marL="332740" marR="1728470" indent="-320040">
              <a:lnSpc>
                <a:spcPct val="100000"/>
              </a:lnSpc>
              <a:spcBef>
                <a:spcPts val="685"/>
              </a:spcBef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395" dirty="0">
                <a:solidFill>
                  <a:srgbClr val="963139"/>
                </a:solidFill>
                <a:latin typeface="Microsoft Sans Serif"/>
                <a:cs typeface="Microsoft Sans Serif"/>
              </a:rPr>
              <a:t>PHP</a:t>
            </a:r>
            <a:r>
              <a:rPr sz="2900" spc="-200" dirty="0">
                <a:solidFill>
                  <a:srgbClr val="963139"/>
                </a:solidFill>
                <a:latin typeface="Microsoft Sans Serif"/>
                <a:cs typeface="Microsoft Sans Serif"/>
              </a:rPr>
              <a:t>’</a:t>
            </a:r>
            <a:r>
              <a:rPr sz="2900" spc="-484" dirty="0">
                <a:solidFill>
                  <a:srgbClr val="963139"/>
                </a:solidFill>
                <a:latin typeface="Microsoft Sans Serif"/>
                <a:cs typeface="Microsoft Sans Serif"/>
              </a:rPr>
              <a:t>s</a:t>
            </a:r>
            <a:r>
              <a:rPr sz="2900" spc="30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-170" dirty="0">
                <a:solidFill>
                  <a:srgbClr val="963139"/>
                </a:solidFill>
                <a:latin typeface="Microsoft Sans Serif"/>
                <a:cs typeface="Microsoft Sans Serif"/>
              </a:rPr>
              <a:t>xtensi</a:t>
            </a:r>
            <a:r>
              <a:rPr sz="2900" spc="-254" dirty="0">
                <a:solidFill>
                  <a:srgbClr val="963139"/>
                </a:solidFill>
                <a:latin typeface="Microsoft Sans Serif"/>
                <a:cs typeface="Microsoft Sans Serif"/>
              </a:rPr>
              <a:t>v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5" dirty="0">
                <a:solidFill>
                  <a:srgbClr val="963139"/>
                </a:solidFill>
                <a:latin typeface="Microsoft Sans Serif"/>
                <a:cs typeface="Microsoft Sans Serif"/>
              </a:rPr>
              <a:t> </a:t>
            </a:r>
            <a:r>
              <a:rPr sz="2900" spc="-250" dirty="0">
                <a:solidFill>
                  <a:srgbClr val="963139"/>
                </a:solidFill>
                <a:latin typeface="Microsoft Sans Serif"/>
                <a:cs typeface="Microsoft Sans Serif"/>
              </a:rPr>
              <a:t>docum</a:t>
            </a:r>
            <a:r>
              <a:rPr sz="2900" spc="-245" dirty="0">
                <a:solidFill>
                  <a:srgbClr val="963139"/>
                </a:solidFill>
                <a:latin typeface="Microsoft Sans Serif"/>
                <a:cs typeface="Microsoft Sans Serif"/>
              </a:rPr>
              <a:t>e</a:t>
            </a:r>
            <a:r>
              <a:rPr sz="2900" spc="-110" dirty="0">
                <a:solidFill>
                  <a:srgbClr val="963139"/>
                </a:solidFill>
                <a:latin typeface="Microsoft Sans Serif"/>
                <a:cs typeface="Microsoft Sans Serif"/>
              </a:rPr>
              <a:t>nta</a:t>
            </a:r>
            <a:r>
              <a:rPr sz="2900" spc="-60" dirty="0">
                <a:solidFill>
                  <a:srgbClr val="963139"/>
                </a:solidFill>
                <a:latin typeface="Microsoft Sans Serif"/>
                <a:cs typeface="Microsoft Sans Serif"/>
              </a:rPr>
              <a:t>t</a:t>
            </a:r>
            <a:r>
              <a:rPr sz="2900" spc="-160" dirty="0">
                <a:solidFill>
                  <a:srgbClr val="963139"/>
                </a:solidFill>
                <a:latin typeface="Microsoft Sans Serif"/>
                <a:cs typeface="Microsoft Sans Serif"/>
              </a:rPr>
              <a:t>ion:  </a:t>
            </a:r>
            <a:r>
              <a:rPr sz="2900" u="heavy" spc="-14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Microsoft Sans Serif"/>
                <a:cs typeface="Microsoft Sans Serif"/>
                <a:hlinkClick r:id="rId2"/>
              </a:rPr>
              <a:t>ht</a:t>
            </a:r>
            <a:r>
              <a:rPr sz="2900" u="heavy" spc="-9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Microsoft Sans Serif"/>
                <a:cs typeface="Microsoft Sans Serif"/>
                <a:hlinkClick r:id="rId2"/>
              </a:rPr>
              <a:t>t</a:t>
            </a:r>
            <a:r>
              <a:rPr sz="2900" u="heavy" spc="13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Microsoft Sans Serif"/>
                <a:cs typeface="Microsoft Sans Serif"/>
                <a:hlinkClick r:id="rId2"/>
              </a:rPr>
              <a:t>p://ww</a:t>
            </a:r>
            <a:r>
              <a:rPr sz="2900" u="heavy" spc="-34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Microsoft Sans Serif"/>
                <a:cs typeface="Microsoft Sans Serif"/>
                <a:hlinkClick r:id="rId2"/>
              </a:rPr>
              <a:t>w</a:t>
            </a:r>
            <a:r>
              <a:rPr sz="2900" u="heavy" spc="-13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Microsoft Sans Serif"/>
                <a:cs typeface="Microsoft Sans Serif"/>
                <a:hlinkClick r:id="rId2"/>
              </a:rPr>
              <a:t>.ph</a:t>
            </a:r>
            <a:r>
              <a:rPr sz="2900" u="heavy" spc="-21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Microsoft Sans Serif"/>
                <a:cs typeface="Microsoft Sans Serif"/>
                <a:hlinkClick r:id="rId2"/>
              </a:rPr>
              <a:t>p</a:t>
            </a:r>
            <a:r>
              <a:rPr sz="2900" u="heavy" spc="-13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Microsoft Sans Serif"/>
                <a:cs typeface="Microsoft Sans Serif"/>
                <a:hlinkClick r:id="rId2"/>
              </a:rPr>
              <a:t>.net/manu</a:t>
            </a:r>
            <a:r>
              <a:rPr sz="2900" u="heavy" spc="-13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Microsoft Sans Serif"/>
                <a:cs typeface="Microsoft Sans Serif"/>
                <a:hlinkClick r:id="rId2"/>
              </a:rPr>
              <a:t>a</a:t>
            </a:r>
            <a:r>
              <a:rPr sz="2900" u="heavy" spc="2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Microsoft Sans Serif"/>
                <a:cs typeface="Microsoft Sans Serif"/>
                <a:hlinkClick r:id="rId2"/>
              </a:rPr>
              <a:t>l/en</a:t>
            </a:r>
            <a:endParaRPr sz="2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53328"/>
            <a:ext cx="2240280" cy="713740"/>
          </a:xfrm>
          <a:custGeom>
            <a:avLst/>
            <a:gdLst/>
            <a:ahLst/>
            <a:cxnLst/>
            <a:rect l="l" t="t" r="r" b="b"/>
            <a:pathLst>
              <a:path w="2240280" h="713740">
                <a:moveTo>
                  <a:pt x="2240280" y="0"/>
                </a:moveTo>
                <a:lnTo>
                  <a:pt x="0" y="0"/>
                </a:lnTo>
                <a:lnTo>
                  <a:pt x="0" y="713232"/>
                </a:lnTo>
                <a:lnTo>
                  <a:pt x="2240280" y="713232"/>
                </a:lnTo>
                <a:lnTo>
                  <a:pt x="2240280" y="0"/>
                </a:lnTo>
                <a:close/>
              </a:path>
            </a:pathLst>
          </a:custGeom>
          <a:solidFill>
            <a:srgbClr val="9631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847454" y="3048000"/>
            <a:ext cx="3355593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GOOD</a:t>
            </a:r>
            <a:r>
              <a:rPr spc="-50" dirty="0"/>
              <a:t> </a:t>
            </a:r>
            <a:r>
              <a:rPr spc="-525" dirty="0"/>
              <a:t>LUCK</a:t>
            </a:r>
            <a:r>
              <a:rPr spc="-525" dirty="0" smtClean="0"/>
              <a:t>!</a:t>
            </a:r>
            <a:r>
              <a:rPr lang="en-US" spc="-525" dirty="0" smtClean="0"/>
              <a:t/>
            </a:r>
            <a:br>
              <a:rPr lang="en-US" spc="-525" dirty="0" smtClean="0"/>
            </a:br>
            <a:r>
              <a:rPr lang="en-US" spc="-525" dirty="0" smtClean="0"/>
              <a:t>    Thank You</a:t>
            </a:r>
            <a:endParaRPr spc="-525" dirty="0"/>
          </a:p>
        </p:txBody>
      </p:sp>
      <p:sp>
        <p:nvSpPr>
          <p:cNvPr id="9" name="object 3"/>
          <p:cNvSpPr/>
          <p:nvPr/>
        </p:nvSpPr>
        <p:spPr>
          <a:xfrm>
            <a:off x="2209800" y="6019800"/>
            <a:ext cx="6784975" cy="713740"/>
          </a:xfrm>
          <a:custGeom>
            <a:avLst/>
            <a:gdLst/>
            <a:ahLst/>
            <a:cxnLst/>
            <a:rect l="l" t="t" r="r" b="b"/>
            <a:pathLst>
              <a:path w="6784975" h="713740">
                <a:moveTo>
                  <a:pt x="6784848" y="0"/>
                </a:moveTo>
                <a:lnTo>
                  <a:pt x="0" y="0"/>
                </a:lnTo>
                <a:lnTo>
                  <a:pt x="0" y="713231"/>
                </a:lnTo>
                <a:lnTo>
                  <a:pt x="6784848" y="713231"/>
                </a:lnTo>
                <a:lnTo>
                  <a:pt x="6784848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1541</TotalTime>
  <Words>5068</Words>
  <Application>Microsoft Office PowerPoint</Application>
  <PresentationFormat>On-screen Show (4:3)</PresentationFormat>
  <Paragraphs>737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0" baseType="lpstr">
      <vt:lpstr>Arial</vt:lpstr>
      <vt:lpstr>Calibri</vt:lpstr>
      <vt:lpstr>Courier New</vt:lpstr>
      <vt:lpstr>Microsoft Sans Serif</vt:lpstr>
      <vt:lpstr>Times New Roman</vt:lpstr>
      <vt:lpstr>Wingdings</vt:lpstr>
      <vt:lpstr>Office Theme</vt:lpstr>
      <vt:lpstr>PHP</vt:lpstr>
      <vt:lpstr>Request to a Static Site</vt:lpstr>
      <vt:lpstr>Request to a Dynamic Site</vt:lpstr>
      <vt:lpstr>PHP</vt:lpstr>
      <vt:lpstr>What is PHP?</vt:lpstr>
      <vt:lpstr>Side-by-side</vt:lpstr>
      <vt:lpstr>A closer look</vt:lpstr>
      <vt:lpstr>Viewing PHP files</vt:lpstr>
      <vt:lpstr>PHP</vt:lpstr>
      <vt:lpstr>Variables</vt:lpstr>
      <vt:lpstr>Operators</vt:lpstr>
      <vt:lpstr>== versus ===</vt:lpstr>
      <vt:lpstr>Strings</vt:lpstr>
      <vt:lpstr>Strings</vt:lpstr>
      <vt:lpstr>PHP</vt:lpstr>
      <vt:lpstr>Conditional Statements</vt:lpstr>
      <vt:lpstr>The while loop</vt:lpstr>
      <vt:lpstr>The do-while loop</vt:lpstr>
      <vt:lpstr>The for loop</vt:lpstr>
      <vt:lpstr>PHP</vt:lpstr>
      <vt:lpstr>Defining your own functions</vt:lpstr>
      <vt:lpstr>Return values</vt:lpstr>
      <vt:lpstr>Return values</vt:lpstr>
      <vt:lpstr>Making function calls</vt:lpstr>
      <vt:lpstr>Variable scope</vt:lpstr>
      <vt:lpstr>Global variable scope</vt:lpstr>
      <vt:lpstr>PHP</vt:lpstr>
      <vt:lpstr>Arrays as a list of elements</vt:lpstr>
      <vt:lpstr>Arrays as key-value mappings</vt:lpstr>
      <vt:lpstr>Recap: arrays</vt:lpstr>
      <vt:lpstr>PHP</vt:lpstr>
      <vt:lpstr>All arrays are associative</vt:lpstr>
      <vt:lpstr>Specifying the key/index</vt:lpstr>
      <vt:lpstr>Array functions</vt:lpstr>
      <vt:lpstr>Adding elements without specifying the  key</vt:lpstr>
      <vt:lpstr>The for-each loop</vt:lpstr>
      <vt:lpstr>PHP</vt:lpstr>
      <vt:lpstr>Superglobals</vt:lpstr>
      <vt:lpstr>Passing information to the server</vt:lpstr>
      <vt:lpstr>When to use $_GET vs. $_POST</vt:lpstr>
      <vt:lpstr>Dealing with forms</vt:lpstr>
      <vt:lpstr>Forms: client-side</vt:lpstr>
      <vt:lpstr>Forms: server-side</vt:lpstr>
      <vt:lpstr>PHP</vt:lpstr>
      <vt:lpstr>Cookies and sessions</vt:lpstr>
      <vt:lpstr>Cookies</vt:lpstr>
      <vt:lpstr>The setcookie() function</vt:lpstr>
      <vt:lpstr>Setting cookies</vt:lpstr>
      <vt:lpstr>Example of cookie usage</vt:lpstr>
      <vt:lpstr>Contents of the HTTP request/response</vt:lpstr>
      <vt:lpstr>Case 1: cookies already set</vt:lpstr>
      <vt:lpstr>Cases 2&amp;3: first and second visits</vt:lpstr>
      <vt:lpstr>Sessions</vt:lpstr>
      <vt:lpstr>Using sessions</vt:lpstr>
      <vt:lpstr>Removing sessions</vt:lpstr>
      <vt:lpstr>Recap: a comparison</vt:lpstr>
      <vt:lpstr>PHP</vt:lpstr>
      <vt:lpstr>Databases and MySQL</vt:lpstr>
      <vt:lpstr>Connecting to MySQL</vt:lpstr>
      <vt:lpstr>Making SQL queries</vt:lpstr>
      <vt:lpstr>Never trust user input</vt:lpstr>
      <vt:lpstr>SQL injection</vt:lpstr>
      <vt:lpstr>SQL injection: example</vt:lpstr>
      <vt:lpstr>SQL injection: example</vt:lpstr>
      <vt:lpstr>Retrieving information from a query</vt:lpstr>
      <vt:lpstr>A registration-login example</vt:lpstr>
      <vt:lpstr>A shared database resource</vt:lpstr>
      <vt:lpstr>The login page – handle login request</vt:lpstr>
      <vt:lpstr>The register page</vt:lpstr>
      <vt:lpstr>MySQL recap</vt:lpstr>
      <vt:lpstr>PowerPoint Presentation</vt:lpstr>
      <vt:lpstr>What we’ve talked about…</vt:lpstr>
      <vt:lpstr>GOOD LUCK!     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Web Programming</dc:title>
  <dc:creator>Charles Liu</dc:creator>
  <cp:lastModifiedBy>SAQIB</cp:lastModifiedBy>
  <cp:revision>3</cp:revision>
  <dcterms:created xsi:type="dcterms:W3CDTF">2022-11-24T06:31:05Z</dcterms:created>
  <dcterms:modified xsi:type="dcterms:W3CDTF">2022-11-26T08:12:15Z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2012-01-18T00:00:00Z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2022-11-24T00:00:00Z</vt:filetime>
  </property>
</Properties>
</file>
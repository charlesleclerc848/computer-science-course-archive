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97" r:id="rId4"/>
    <p:sldId id="298"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99" r:id="rId22"/>
    <p:sldId id="300" r:id="rId23"/>
    <p:sldId id="301" r:id="rId24"/>
    <p:sldId id="302" r:id="rId25"/>
    <p:sldId id="296" r:id="rId26"/>
    <p:sldId id="274" r:id="rId27"/>
    <p:sldId id="275" r:id="rId28"/>
    <p:sldId id="277" r:id="rId29"/>
    <p:sldId id="278" r:id="rId30"/>
    <p:sldId id="279" r:id="rId31"/>
    <p:sldId id="280" r:id="rId32"/>
    <p:sldId id="281" r:id="rId33"/>
    <p:sldId id="282" r:id="rId34"/>
    <p:sldId id="303" r:id="rId35"/>
    <p:sldId id="304" r:id="rId36"/>
    <p:sldId id="313" r:id="rId37"/>
    <p:sldId id="305" r:id="rId38"/>
    <p:sldId id="306" r:id="rId39"/>
    <p:sldId id="307" r:id="rId40"/>
    <p:sldId id="308" r:id="rId41"/>
    <p:sldId id="309" r:id="rId42"/>
    <p:sldId id="310" r:id="rId43"/>
    <p:sldId id="311" r:id="rId44"/>
    <p:sldId id="312" r:id="rId45"/>
    <p:sldId id="286" r:id="rId46"/>
    <p:sldId id="287" r:id="rId47"/>
    <p:sldId id="288" r:id="rId48"/>
    <p:sldId id="289" r:id="rId49"/>
    <p:sldId id="290" r:id="rId50"/>
    <p:sldId id="291" r:id="rId51"/>
    <p:sldId id="292" r:id="rId52"/>
    <p:sldId id="293" r:id="rId53"/>
    <p:sldId id="294" r:id="rId54"/>
    <p:sldId id="295"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p:cViewPr varScale="1">
        <p:scale>
          <a:sx n="74" d="100"/>
          <a:sy n="74" d="100"/>
        </p:scale>
        <p:origin x="116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8DECAC-2210-4617-BF02-C90DCB99DBC0}"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8DECAC-2210-4617-BF02-C90DCB99DBC0}"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8DECAC-2210-4617-BF02-C90DCB99DBC0}"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8DECAC-2210-4617-BF02-C90DCB99DBC0}"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8DECAC-2210-4617-BF02-C90DCB99DBC0}"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8DECAC-2210-4617-BF02-C90DCB99DBC0}"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8DECAC-2210-4617-BF02-C90DCB99DBC0}"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8DECAC-2210-4617-BF02-C90DCB99DBC0}"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022D5-18A7-4BAD-8474-722434953A1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7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081" y="1152525"/>
            <a:ext cx="7836694" cy="2314575"/>
          </a:xfrm>
          <a:prstGeom prst="rect">
            <a:avLst/>
          </a:prstGeom>
        </p:spPr>
        <p:txBody>
          <a:bodyPr lIns="64191" tIns="32095" rIns="64191" bIns="32095"/>
          <a:lstStyle/>
          <a:p>
            <a:r>
              <a:rPr lang="en-US" smtClean="0"/>
              <a:t>Click to edit Master title style</a:t>
            </a:r>
            <a:endParaRPr lang="en-US"/>
          </a:p>
        </p:txBody>
      </p:sp>
      <p:sp>
        <p:nvSpPr>
          <p:cNvPr id="3" name="Content Placeholder 2"/>
          <p:cNvSpPr>
            <a:spLocks noGrp="1"/>
          </p:cNvSpPr>
          <p:nvPr>
            <p:ph idx="1"/>
          </p:nvPr>
        </p:nvSpPr>
        <p:spPr>
          <a:xfrm>
            <a:off x="650081" y="3533775"/>
            <a:ext cx="7836694" cy="790575"/>
          </a:xfrm>
          <a:prstGeom prst="rect">
            <a:avLst/>
          </a:prstGeom>
        </p:spPr>
        <p:txBody>
          <a:bodyPr lIns="64191" tIns="32095" rIns="64191" bIns="32095"/>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020835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8DECAC-2210-4617-BF02-C90DCB99DBC0}"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022D5-18A7-4BAD-8474-722434953A1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3743509"/>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806867" rtl="0" eaLnBrk="1" latinLnBrk="0" hangingPunct="1">
        <a:spcBef>
          <a:spcPct val="0"/>
        </a:spcBef>
        <a:buNone/>
        <a:defRPr sz="3883" kern="1200">
          <a:solidFill>
            <a:schemeClr val="tx1"/>
          </a:solidFill>
          <a:latin typeface="+mj-lt"/>
          <a:ea typeface="+mj-ea"/>
          <a:cs typeface="+mj-cs"/>
        </a:defRPr>
      </a:lvl1pPr>
    </p:titleStyle>
    <p:bodyStyle>
      <a:lvl1pPr marL="302575" indent="-302575" algn="l" defTabSz="806867" rtl="0" eaLnBrk="1" latinLnBrk="0" hangingPunct="1">
        <a:spcBef>
          <a:spcPct val="20000"/>
        </a:spcBef>
        <a:buFont typeface="Arial" pitchFamily="34" charset="0"/>
        <a:buChar char="•"/>
        <a:defRPr sz="2824" kern="1200">
          <a:solidFill>
            <a:schemeClr val="tx1"/>
          </a:solidFill>
          <a:latin typeface="+mn-lt"/>
          <a:ea typeface="+mn-ea"/>
          <a:cs typeface="+mn-cs"/>
        </a:defRPr>
      </a:lvl1pPr>
      <a:lvl2pPr marL="655579" indent="-252146" algn="l" defTabSz="806867" rtl="0" eaLnBrk="1" latinLnBrk="0" hangingPunct="1">
        <a:spcBef>
          <a:spcPct val="20000"/>
        </a:spcBef>
        <a:buFont typeface="Arial" pitchFamily="34" charset="0"/>
        <a:buChar char="–"/>
        <a:defRPr sz="2471" kern="1200">
          <a:solidFill>
            <a:schemeClr val="tx1"/>
          </a:solidFill>
          <a:latin typeface="+mn-lt"/>
          <a:ea typeface="+mn-ea"/>
          <a:cs typeface="+mn-cs"/>
        </a:defRPr>
      </a:lvl2pPr>
      <a:lvl3pPr marL="1008583" indent="-201717" algn="l" defTabSz="806867" rtl="0" eaLnBrk="1" latinLnBrk="0" hangingPunct="1">
        <a:spcBef>
          <a:spcPct val="20000"/>
        </a:spcBef>
        <a:buFont typeface="Arial" pitchFamily="34" charset="0"/>
        <a:buChar char="•"/>
        <a:defRPr sz="2118" kern="1200">
          <a:solidFill>
            <a:schemeClr val="tx1"/>
          </a:solidFill>
          <a:latin typeface="+mn-lt"/>
          <a:ea typeface="+mn-ea"/>
          <a:cs typeface="+mn-cs"/>
        </a:defRPr>
      </a:lvl3pPr>
      <a:lvl4pPr marL="1412016"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4pPr>
      <a:lvl5pPr marL="1815450"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5pPr>
      <a:lvl6pPr marL="2218883"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6pPr>
      <a:lvl7pPr marL="2622316"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7pPr>
      <a:lvl8pPr marL="3025750"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8pPr>
      <a:lvl9pPr marL="3429183" indent="-201717" algn="l" defTabSz="806867" rtl="0" eaLnBrk="1" latinLnBrk="0" hangingPunct="1">
        <a:spcBef>
          <a:spcPct val="20000"/>
        </a:spcBef>
        <a:buFont typeface="Arial" pitchFamily="34" charset="0"/>
        <a:buChar char="•"/>
        <a:defRPr sz="1765" kern="1200">
          <a:solidFill>
            <a:schemeClr val="tx1"/>
          </a:solidFill>
          <a:latin typeface="+mn-lt"/>
          <a:ea typeface="+mn-ea"/>
          <a:cs typeface="+mn-cs"/>
        </a:defRPr>
      </a:lvl9pPr>
    </p:bodyStyle>
    <p:otherStyle>
      <a:defPPr>
        <a:defRPr lang="en-US"/>
      </a:defPPr>
      <a:lvl1pPr marL="0" algn="l" defTabSz="806867" rtl="0" eaLnBrk="1" latinLnBrk="0" hangingPunct="1">
        <a:defRPr sz="1588" kern="1200">
          <a:solidFill>
            <a:schemeClr val="tx1"/>
          </a:solidFill>
          <a:latin typeface="+mn-lt"/>
          <a:ea typeface="+mn-ea"/>
          <a:cs typeface="+mn-cs"/>
        </a:defRPr>
      </a:lvl1pPr>
      <a:lvl2pPr marL="403433" algn="l" defTabSz="806867" rtl="0" eaLnBrk="1" latinLnBrk="0" hangingPunct="1">
        <a:defRPr sz="1588" kern="1200">
          <a:solidFill>
            <a:schemeClr val="tx1"/>
          </a:solidFill>
          <a:latin typeface="+mn-lt"/>
          <a:ea typeface="+mn-ea"/>
          <a:cs typeface="+mn-cs"/>
        </a:defRPr>
      </a:lvl2pPr>
      <a:lvl3pPr marL="806867" algn="l" defTabSz="806867" rtl="0" eaLnBrk="1" latinLnBrk="0" hangingPunct="1">
        <a:defRPr sz="1588" kern="1200">
          <a:solidFill>
            <a:schemeClr val="tx1"/>
          </a:solidFill>
          <a:latin typeface="+mn-lt"/>
          <a:ea typeface="+mn-ea"/>
          <a:cs typeface="+mn-cs"/>
        </a:defRPr>
      </a:lvl3pPr>
      <a:lvl4pPr marL="1210300" algn="l" defTabSz="806867" rtl="0" eaLnBrk="1" latinLnBrk="0" hangingPunct="1">
        <a:defRPr sz="1588" kern="1200">
          <a:solidFill>
            <a:schemeClr val="tx1"/>
          </a:solidFill>
          <a:latin typeface="+mn-lt"/>
          <a:ea typeface="+mn-ea"/>
          <a:cs typeface="+mn-cs"/>
        </a:defRPr>
      </a:lvl4pPr>
      <a:lvl5pPr marL="1613733" algn="l" defTabSz="806867" rtl="0" eaLnBrk="1" latinLnBrk="0" hangingPunct="1">
        <a:defRPr sz="1588" kern="1200">
          <a:solidFill>
            <a:schemeClr val="tx1"/>
          </a:solidFill>
          <a:latin typeface="+mn-lt"/>
          <a:ea typeface="+mn-ea"/>
          <a:cs typeface="+mn-cs"/>
        </a:defRPr>
      </a:lvl5pPr>
      <a:lvl6pPr marL="2017166" algn="l" defTabSz="806867" rtl="0" eaLnBrk="1" latinLnBrk="0" hangingPunct="1">
        <a:defRPr sz="1588" kern="1200">
          <a:solidFill>
            <a:schemeClr val="tx1"/>
          </a:solidFill>
          <a:latin typeface="+mn-lt"/>
          <a:ea typeface="+mn-ea"/>
          <a:cs typeface="+mn-cs"/>
        </a:defRPr>
      </a:lvl6pPr>
      <a:lvl7pPr marL="2420600" algn="l" defTabSz="806867" rtl="0" eaLnBrk="1" latinLnBrk="0" hangingPunct="1">
        <a:defRPr sz="1588" kern="1200">
          <a:solidFill>
            <a:schemeClr val="tx1"/>
          </a:solidFill>
          <a:latin typeface="+mn-lt"/>
          <a:ea typeface="+mn-ea"/>
          <a:cs typeface="+mn-cs"/>
        </a:defRPr>
      </a:lvl7pPr>
      <a:lvl8pPr marL="2824033" algn="l" defTabSz="806867" rtl="0" eaLnBrk="1" latinLnBrk="0" hangingPunct="1">
        <a:defRPr sz="1588" kern="1200">
          <a:solidFill>
            <a:schemeClr val="tx1"/>
          </a:solidFill>
          <a:latin typeface="+mn-lt"/>
          <a:ea typeface="+mn-ea"/>
          <a:cs typeface="+mn-cs"/>
        </a:defRPr>
      </a:lvl8pPr>
      <a:lvl9pPr marL="3227466" algn="l" defTabSz="806867" rtl="0" eaLnBrk="1" latinLnBrk="0" hangingPunct="1">
        <a:defRPr sz="15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www.xkcd.com/" TargetMode="Externa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www.facebook.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php.ne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w3schools.com/php/php_ref_string.as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hyperlink" Target="http://stackoverflow.com/questions/3406171/php-var-dump-vs-print-r" TargetMode="Externa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hyperlink" Target="http://stackoverflow.com/questions/3406171/php-var-dump-vs-print-r" TargetMode="Externa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PHP</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514858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300" dirty="0"/>
              <a:t>equest</a:t>
            </a:r>
            <a:r>
              <a:rPr spc="-5" dirty="0"/>
              <a:t> </a:t>
            </a:r>
            <a:r>
              <a:rPr spc="-140" dirty="0"/>
              <a:t>to</a:t>
            </a:r>
            <a:r>
              <a:rPr spc="45" dirty="0"/>
              <a:t> </a:t>
            </a:r>
            <a:r>
              <a:rPr spc="-20" dirty="0"/>
              <a:t>a</a:t>
            </a:r>
            <a:r>
              <a:rPr spc="35" dirty="0"/>
              <a:t> </a:t>
            </a:r>
            <a:r>
              <a:rPr spc="-245" dirty="0"/>
              <a:t>St</a:t>
            </a:r>
            <a:r>
              <a:rPr spc="-305" dirty="0"/>
              <a:t>a</a:t>
            </a:r>
            <a:r>
              <a:rPr spc="-195" dirty="0"/>
              <a:t>tic</a:t>
            </a:r>
            <a:r>
              <a:rPr spc="10" dirty="0"/>
              <a:t> </a:t>
            </a:r>
            <a:r>
              <a:rPr spc="-265" dirty="0"/>
              <a:t>Site</a:t>
            </a:r>
          </a:p>
        </p:txBody>
      </p:sp>
      <p:pic>
        <p:nvPicPr>
          <p:cNvPr id="3" name="object 3"/>
          <p:cNvPicPr/>
          <p:nvPr/>
        </p:nvPicPr>
        <p:blipFill>
          <a:blip r:embed="rId2" cstate="print"/>
          <a:stretch>
            <a:fillRect/>
          </a:stretch>
        </p:blipFill>
        <p:spPr>
          <a:xfrm>
            <a:off x="6600825" y="4267200"/>
            <a:ext cx="638175" cy="876300"/>
          </a:xfrm>
          <a:prstGeom prst="rect">
            <a:avLst/>
          </a:prstGeom>
        </p:spPr>
      </p:pic>
      <p:grpSp>
        <p:nvGrpSpPr>
          <p:cNvPr id="4" name="object 4"/>
          <p:cNvGrpSpPr/>
          <p:nvPr/>
        </p:nvGrpSpPr>
        <p:grpSpPr>
          <a:xfrm>
            <a:off x="2276475" y="2895600"/>
            <a:ext cx="4496435" cy="1914525"/>
            <a:chOff x="2276475" y="2895600"/>
            <a:chExt cx="4496435" cy="1914525"/>
          </a:xfrm>
        </p:grpSpPr>
        <p:pic>
          <p:nvPicPr>
            <p:cNvPr id="5" name="object 5"/>
            <p:cNvPicPr/>
            <p:nvPr/>
          </p:nvPicPr>
          <p:blipFill>
            <a:blip r:embed="rId3" cstate="print"/>
            <a:stretch>
              <a:fillRect/>
            </a:stretch>
          </p:blipFill>
          <p:spPr>
            <a:xfrm>
              <a:off x="5257800" y="2895600"/>
              <a:ext cx="1514928" cy="1324876"/>
            </a:xfrm>
            <a:prstGeom prst="rect">
              <a:avLst/>
            </a:prstGeom>
          </p:spPr>
        </p:pic>
        <p:pic>
          <p:nvPicPr>
            <p:cNvPr id="6" name="object 6"/>
            <p:cNvPicPr/>
            <p:nvPr/>
          </p:nvPicPr>
          <p:blipFill>
            <a:blip r:embed="rId4" cstate="print"/>
            <a:stretch>
              <a:fillRect/>
            </a:stretch>
          </p:blipFill>
          <p:spPr>
            <a:xfrm>
              <a:off x="5562600" y="3200400"/>
              <a:ext cx="1013459" cy="457200"/>
            </a:xfrm>
            <a:prstGeom prst="rect">
              <a:avLst/>
            </a:prstGeom>
          </p:spPr>
        </p:pic>
        <p:sp>
          <p:nvSpPr>
            <p:cNvPr id="7" name="object 7"/>
            <p:cNvSpPr/>
            <p:nvPr/>
          </p:nvSpPr>
          <p:spPr>
            <a:xfrm>
              <a:off x="2286000" y="4267200"/>
              <a:ext cx="3505200" cy="533400"/>
            </a:xfrm>
            <a:custGeom>
              <a:avLst/>
              <a:gdLst/>
              <a:ahLst/>
              <a:cxnLst/>
              <a:rect l="l" t="t" r="r" b="b"/>
              <a:pathLst>
                <a:path w="3505200" h="533400">
                  <a:moveTo>
                    <a:pt x="3238500" y="0"/>
                  </a:moveTo>
                  <a:lnTo>
                    <a:pt x="3238500" y="133350"/>
                  </a:lnTo>
                  <a:lnTo>
                    <a:pt x="0" y="133350"/>
                  </a:lnTo>
                  <a:lnTo>
                    <a:pt x="0" y="400050"/>
                  </a:lnTo>
                  <a:lnTo>
                    <a:pt x="3238500" y="400050"/>
                  </a:lnTo>
                  <a:lnTo>
                    <a:pt x="3238500" y="533400"/>
                  </a:lnTo>
                  <a:lnTo>
                    <a:pt x="3505200" y="266700"/>
                  </a:lnTo>
                  <a:lnTo>
                    <a:pt x="3238500" y="0"/>
                  </a:lnTo>
                  <a:close/>
                </a:path>
              </a:pathLst>
            </a:custGeom>
            <a:solidFill>
              <a:srgbClr val="963139"/>
            </a:solidFill>
          </p:spPr>
          <p:txBody>
            <a:bodyPr wrap="square" lIns="0" tIns="0" rIns="0" bIns="0" rtlCol="0"/>
            <a:lstStyle/>
            <a:p>
              <a:endParaRPr/>
            </a:p>
          </p:txBody>
        </p:sp>
        <p:sp>
          <p:nvSpPr>
            <p:cNvPr id="8" name="object 8"/>
            <p:cNvSpPr/>
            <p:nvPr/>
          </p:nvSpPr>
          <p:spPr>
            <a:xfrm>
              <a:off x="2286000" y="4267200"/>
              <a:ext cx="3505200" cy="533400"/>
            </a:xfrm>
            <a:custGeom>
              <a:avLst/>
              <a:gdLst/>
              <a:ahLst/>
              <a:cxnLst/>
              <a:rect l="l" t="t" r="r" b="b"/>
              <a:pathLst>
                <a:path w="3505200" h="533400">
                  <a:moveTo>
                    <a:pt x="0" y="133350"/>
                  </a:moveTo>
                  <a:lnTo>
                    <a:pt x="3238500" y="133350"/>
                  </a:lnTo>
                  <a:lnTo>
                    <a:pt x="3238500" y="0"/>
                  </a:lnTo>
                  <a:lnTo>
                    <a:pt x="3505200" y="266700"/>
                  </a:lnTo>
                  <a:lnTo>
                    <a:pt x="3238500" y="533400"/>
                  </a:lnTo>
                  <a:lnTo>
                    <a:pt x="3238500" y="400050"/>
                  </a:lnTo>
                  <a:lnTo>
                    <a:pt x="0" y="400050"/>
                  </a:lnTo>
                  <a:lnTo>
                    <a:pt x="0" y="133350"/>
                  </a:lnTo>
                  <a:close/>
                </a:path>
              </a:pathLst>
            </a:custGeom>
            <a:ln w="19050">
              <a:solidFill>
                <a:srgbClr val="494949"/>
              </a:solidFill>
            </a:ln>
          </p:spPr>
          <p:txBody>
            <a:bodyPr wrap="square" lIns="0" tIns="0" rIns="0" bIns="0" rtlCol="0"/>
            <a:lstStyle/>
            <a:p>
              <a:endParaRPr/>
            </a:p>
          </p:txBody>
        </p:sp>
      </p:grpSp>
      <p:sp>
        <p:nvSpPr>
          <p:cNvPr id="9" name="object 9"/>
          <p:cNvSpPr txBox="1"/>
          <p:nvPr/>
        </p:nvSpPr>
        <p:spPr>
          <a:xfrm>
            <a:off x="840739" y="5203393"/>
            <a:ext cx="1002665" cy="300355"/>
          </a:xfrm>
          <a:prstGeom prst="rect">
            <a:avLst/>
          </a:prstGeom>
        </p:spPr>
        <p:txBody>
          <a:bodyPr vert="horz" wrap="square" lIns="0" tIns="12700" rIns="0" bIns="0" rtlCol="0">
            <a:spAutoFit/>
          </a:bodyPr>
          <a:lstStyle/>
          <a:p>
            <a:pPr marL="12700">
              <a:lnSpc>
                <a:spcPct val="100000"/>
              </a:lnSpc>
              <a:spcBef>
                <a:spcPts val="100"/>
              </a:spcBef>
            </a:pPr>
            <a:r>
              <a:rPr sz="1800" spc="-355" dirty="0">
                <a:solidFill>
                  <a:srgbClr val="963139"/>
                </a:solidFill>
                <a:latin typeface="Microsoft Sans Serif"/>
                <a:cs typeface="Microsoft Sans Serif"/>
              </a:rPr>
              <a:t>Y</a:t>
            </a:r>
            <a:r>
              <a:rPr sz="1800" spc="-160" dirty="0">
                <a:solidFill>
                  <a:srgbClr val="963139"/>
                </a:solidFill>
                <a:latin typeface="Microsoft Sans Serif"/>
                <a:cs typeface="Microsoft Sans Serif"/>
              </a:rPr>
              <a:t>ou</a:t>
            </a:r>
            <a:r>
              <a:rPr sz="1800" spc="15" dirty="0">
                <a:solidFill>
                  <a:srgbClr val="963139"/>
                </a:solidFill>
                <a:latin typeface="Microsoft Sans Serif"/>
                <a:cs typeface="Microsoft Sans Serif"/>
              </a:rPr>
              <a:t> </a:t>
            </a:r>
            <a:r>
              <a:rPr sz="1800" spc="-130" dirty="0">
                <a:solidFill>
                  <a:srgbClr val="963139"/>
                </a:solidFill>
                <a:latin typeface="Microsoft Sans Serif"/>
                <a:cs typeface="Microsoft Sans Serif"/>
              </a:rPr>
              <a:t>(</a:t>
            </a:r>
            <a:r>
              <a:rPr sz="1800" spc="-190" dirty="0">
                <a:solidFill>
                  <a:srgbClr val="963139"/>
                </a:solidFill>
                <a:latin typeface="Microsoft Sans Serif"/>
                <a:cs typeface="Microsoft Sans Serif"/>
              </a:rPr>
              <a:t>c</a:t>
            </a:r>
            <a:r>
              <a:rPr sz="1800" spc="-80" dirty="0">
                <a:solidFill>
                  <a:srgbClr val="963139"/>
                </a:solidFill>
                <a:latin typeface="Microsoft Sans Serif"/>
                <a:cs typeface="Microsoft Sans Serif"/>
              </a:rPr>
              <a:t>lie</a:t>
            </a:r>
            <a:r>
              <a:rPr sz="1800" spc="-120" dirty="0">
                <a:solidFill>
                  <a:srgbClr val="963139"/>
                </a:solidFill>
                <a:latin typeface="Microsoft Sans Serif"/>
                <a:cs typeface="Microsoft Sans Serif"/>
              </a:rPr>
              <a:t>n</a:t>
            </a:r>
            <a:r>
              <a:rPr sz="1800" spc="-65" dirty="0">
                <a:solidFill>
                  <a:srgbClr val="963139"/>
                </a:solidFill>
                <a:latin typeface="Microsoft Sans Serif"/>
                <a:cs typeface="Microsoft Sans Serif"/>
              </a:rPr>
              <a:t>t)</a:t>
            </a:r>
            <a:endParaRPr sz="1800">
              <a:latin typeface="Microsoft Sans Serif"/>
              <a:cs typeface="Microsoft Sans Serif"/>
            </a:endParaRPr>
          </a:p>
        </p:txBody>
      </p:sp>
      <p:sp>
        <p:nvSpPr>
          <p:cNvPr id="10" name="object 10"/>
          <p:cNvSpPr txBox="1"/>
          <p:nvPr/>
        </p:nvSpPr>
        <p:spPr>
          <a:xfrm>
            <a:off x="6175628" y="5096682"/>
            <a:ext cx="1591945" cy="788035"/>
          </a:xfrm>
          <a:prstGeom prst="rect">
            <a:avLst/>
          </a:prstGeom>
        </p:spPr>
        <p:txBody>
          <a:bodyPr vert="horz" wrap="square" lIns="0" tIns="119380" rIns="0" bIns="0" rtlCol="0">
            <a:spAutoFit/>
          </a:bodyPr>
          <a:lstStyle/>
          <a:p>
            <a:pPr marR="29845" algn="ctr">
              <a:lnSpc>
                <a:spcPct val="100000"/>
              </a:lnSpc>
              <a:spcBef>
                <a:spcPts val="940"/>
              </a:spcBef>
            </a:pPr>
            <a:r>
              <a:rPr sz="1800" spc="-65" dirty="0">
                <a:solidFill>
                  <a:srgbClr val="963139"/>
                </a:solidFill>
                <a:latin typeface="Microsoft Sans Serif"/>
                <a:cs typeface="Microsoft Sans Serif"/>
              </a:rPr>
              <a:t>Web</a:t>
            </a:r>
            <a:r>
              <a:rPr sz="1800" spc="-20" dirty="0">
                <a:solidFill>
                  <a:srgbClr val="963139"/>
                </a:solidFill>
                <a:latin typeface="Microsoft Sans Serif"/>
                <a:cs typeface="Microsoft Sans Serif"/>
              </a:rPr>
              <a:t> </a:t>
            </a:r>
            <a:r>
              <a:rPr sz="1800" spc="-100" dirty="0">
                <a:solidFill>
                  <a:srgbClr val="963139"/>
                </a:solidFill>
                <a:latin typeface="Microsoft Sans Serif"/>
                <a:cs typeface="Microsoft Sans Serif"/>
              </a:rPr>
              <a:t>server</a:t>
            </a:r>
            <a:endParaRPr sz="1800">
              <a:latin typeface="Microsoft Sans Serif"/>
              <a:cs typeface="Microsoft Sans Serif"/>
            </a:endParaRPr>
          </a:p>
          <a:p>
            <a:pPr algn="ctr">
              <a:lnSpc>
                <a:spcPct val="100000"/>
              </a:lnSpc>
              <a:spcBef>
                <a:spcPts val="840"/>
              </a:spcBef>
            </a:pPr>
            <a:r>
              <a:rPr sz="1800" b="1" spc="-140" dirty="0">
                <a:solidFill>
                  <a:srgbClr val="963139"/>
                </a:solidFill>
                <a:latin typeface="Arial"/>
                <a:cs typeface="Arial"/>
              </a:rPr>
              <a:t>IP:</a:t>
            </a:r>
            <a:r>
              <a:rPr sz="1800" b="1" spc="-40" dirty="0">
                <a:solidFill>
                  <a:srgbClr val="963139"/>
                </a:solidFill>
                <a:latin typeface="Arial"/>
                <a:cs typeface="Arial"/>
              </a:rPr>
              <a:t> </a:t>
            </a:r>
            <a:r>
              <a:rPr sz="1800" b="1" spc="-50" dirty="0">
                <a:solidFill>
                  <a:srgbClr val="963139"/>
                </a:solidFill>
                <a:latin typeface="Arial"/>
                <a:cs typeface="Arial"/>
              </a:rPr>
              <a:t>7</a:t>
            </a:r>
            <a:r>
              <a:rPr sz="1800" b="1" spc="-45" dirty="0">
                <a:solidFill>
                  <a:srgbClr val="963139"/>
                </a:solidFill>
                <a:latin typeface="Arial"/>
                <a:cs typeface="Arial"/>
              </a:rPr>
              <a:t>2</a:t>
            </a:r>
            <a:r>
              <a:rPr sz="1800" b="1" spc="-40" dirty="0">
                <a:solidFill>
                  <a:srgbClr val="963139"/>
                </a:solidFill>
                <a:latin typeface="Arial"/>
                <a:cs typeface="Arial"/>
              </a:rPr>
              <a:t>.26.</a:t>
            </a:r>
            <a:r>
              <a:rPr sz="1800" b="1" spc="-70" dirty="0">
                <a:solidFill>
                  <a:srgbClr val="963139"/>
                </a:solidFill>
                <a:latin typeface="Arial"/>
                <a:cs typeface="Arial"/>
              </a:rPr>
              <a:t>2</a:t>
            </a:r>
            <a:r>
              <a:rPr sz="1800" b="1" spc="-60" dirty="0">
                <a:solidFill>
                  <a:srgbClr val="963139"/>
                </a:solidFill>
                <a:latin typeface="Arial"/>
                <a:cs typeface="Arial"/>
              </a:rPr>
              <a:t>03</a:t>
            </a:r>
            <a:r>
              <a:rPr sz="1800" b="1" spc="-30" dirty="0">
                <a:solidFill>
                  <a:srgbClr val="963139"/>
                </a:solidFill>
                <a:latin typeface="Arial"/>
                <a:cs typeface="Arial"/>
              </a:rPr>
              <a:t>.</a:t>
            </a:r>
            <a:r>
              <a:rPr sz="1800" b="1" spc="-65" dirty="0">
                <a:solidFill>
                  <a:srgbClr val="963139"/>
                </a:solidFill>
                <a:latin typeface="Arial"/>
                <a:cs typeface="Arial"/>
              </a:rPr>
              <a:t>9</a:t>
            </a:r>
            <a:r>
              <a:rPr sz="1800" b="1" spc="-50" dirty="0">
                <a:solidFill>
                  <a:srgbClr val="963139"/>
                </a:solidFill>
                <a:latin typeface="Arial"/>
                <a:cs typeface="Arial"/>
              </a:rPr>
              <a:t>9</a:t>
            </a:r>
            <a:endParaRPr sz="1800">
              <a:latin typeface="Arial"/>
              <a:cs typeface="Arial"/>
            </a:endParaRPr>
          </a:p>
        </p:txBody>
      </p:sp>
      <p:pic>
        <p:nvPicPr>
          <p:cNvPr id="11" name="object 11"/>
          <p:cNvPicPr/>
          <p:nvPr/>
        </p:nvPicPr>
        <p:blipFill>
          <a:blip r:embed="rId5" cstate="print"/>
          <a:stretch>
            <a:fillRect/>
          </a:stretch>
        </p:blipFill>
        <p:spPr>
          <a:xfrm>
            <a:off x="914400" y="4267263"/>
            <a:ext cx="927722" cy="990790"/>
          </a:xfrm>
          <a:prstGeom prst="rect">
            <a:avLst/>
          </a:prstGeom>
        </p:spPr>
      </p:pic>
      <p:sp>
        <p:nvSpPr>
          <p:cNvPr id="12" name="object 12"/>
          <p:cNvSpPr txBox="1"/>
          <p:nvPr/>
        </p:nvSpPr>
        <p:spPr>
          <a:xfrm>
            <a:off x="2364994" y="3984117"/>
            <a:ext cx="3122295" cy="299720"/>
          </a:xfrm>
          <a:prstGeom prst="rect">
            <a:avLst/>
          </a:prstGeom>
        </p:spPr>
        <p:txBody>
          <a:bodyPr vert="horz" wrap="square" lIns="0" tIns="12700" rIns="0" bIns="0" rtlCol="0">
            <a:spAutoFit/>
          </a:bodyPr>
          <a:lstStyle/>
          <a:p>
            <a:pPr marL="12700">
              <a:lnSpc>
                <a:spcPct val="100000"/>
              </a:lnSpc>
              <a:spcBef>
                <a:spcPts val="100"/>
              </a:spcBef>
            </a:pP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0" dirty="0">
                <a:solidFill>
                  <a:srgbClr val="963139"/>
                </a:solidFill>
                <a:latin typeface="Microsoft Sans Serif"/>
                <a:cs typeface="Microsoft Sans Serif"/>
              </a:rPr>
              <a:t>TP</a:t>
            </a:r>
            <a:r>
              <a:rPr sz="1800" spc="15" dirty="0">
                <a:solidFill>
                  <a:srgbClr val="963139"/>
                </a:solidFill>
                <a:latin typeface="Microsoft Sans Serif"/>
                <a:cs typeface="Microsoft Sans Serif"/>
              </a:rPr>
              <a:t> </a:t>
            </a:r>
            <a:r>
              <a:rPr sz="1800" spc="-450" dirty="0">
                <a:solidFill>
                  <a:srgbClr val="963139"/>
                </a:solidFill>
                <a:latin typeface="Microsoft Sans Serif"/>
                <a:cs typeface="Microsoft Sans Serif"/>
              </a:rPr>
              <a:t>R</a:t>
            </a:r>
            <a:r>
              <a:rPr sz="1800" spc="-110" dirty="0">
                <a:solidFill>
                  <a:srgbClr val="963139"/>
                </a:solidFill>
                <a:latin typeface="Microsoft Sans Serif"/>
                <a:cs typeface="Microsoft Sans Serif"/>
              </a:rPr>
              <a:t>equ</a:t>
            </a:r>
            <a:r>
              <a:rPr sz="1800" spc="-130" dirty="0">
                <a:solidFill>
                  <a:srgbClr val="963139"/>
                </a:solidFill>
                <a:latin typeface="Microsoft Sans Serif"/>
                <a:cs typeface="Microsoft Sans Serif"/>
              </a:rPr>
              <a:t>est:</a:t>
            </a:r>
            <a:r>
              <a:rPr sz="1800" spc="5" dirty="0">
                <a:solidFill>
                  <a:srgbClr val="963139"/>
                </a:solidFill>
                <a:latin typeface="Microsoft Sans Serif"/>
                <a:cs typeface="Microsoft Sans Serif"/>
              </a:rPr>
              <a:t> </a:t>
            </a:r>
            <a:r>
              <a:rPr sz="1800" spc="-229" dirty="0">
                <a:solidFill>
                  <a:srgbClr val="963139"/>
                </a:solidFill>
                <a:latin typeface="Microsoft Sans Serif"/>
                <a:cs typeface="Microsoft Sans Serif"/>
              </a:rPr>
              <a:t>G</a:t>
            </a:r>
            <a:r>
              <a:rPr sz="1800" spc="-195" dirty="0">
                <a:solidFill>
                  <a:srgbClr val="963139"/>
                </a:solidFill>
                <a:latin typeface="Microsoft Sans Serif"/>
                <a:cs typeface="Microsoft Sans Serif"/>
              </a:rPr>
              <a:t>E</a:t>
            </a:r>
            <a:r>
              <a:rPr sz="1800" spc="-315" dirty="0">
                <a:solidFill>
                  <a:srgbClr val="963139"/>
                </a:solidFill>
                <a:latin typeface="Microsoft Sans Serif"/>
                <a:cs typeface="Microsoft Sans Serif"/>
              </a:rPr>
              <a:t>T</a:t>
            </a:r>
            <a:r>
              <a:rPr sz="1800" spc="5" dirty="0">
                <a:solidFill>
                  <a:srgbClr val="963139"/>
                </a:solidFill>
                <a:latin typeface="Microsoft Sans Serif"/>
                <a:cs typeface="Microsoft Sans Serif"/>
              </a:rPr>
              <a:t> </a:t>
            </a:r>
            <a:r>
              <a:rPr sz="1800" spc="-100" dirty="0">
                <a:solidFill>
                  <a:srgbClr val="963139"/>
                </a:solidFill>
                <a:latin typeface="Microsoft Sans Serif"/>
                <a:cs typeface="Microsoft Sans Serif"/>
                <a:hlinkClick r:id="rId6"/>
              </a:rPr>
              <a:t>ww</a:t>
            </a:r>
            <a:r>
              <a:rPr sz="1800" spc="-210" dirty="0">
                <a:solidFill>
                  <a:srgbClr val="963139"/>
                </a:solidFill>
                <a:latin typeface="Microsoft Sans Serif"/>
                <a:cs typeface="Microsoft Sans Serif"/>
                <a:hlinkClick r:id="rId6"/>
              </a:rPr>
              <a:t>w</a:t>
            </a:r>
            <a:r>
              <a:rPr sz="1800" spc="-75" dirty="0">
                <a:solidFill>
                  <a:srgbClr val="963139"/>
                </a:solidFill>
                <a:latin typeface="Microsoft Sans Serif"/>
                <a:cs typeface="Microsoft Sans Serif"/>
                <a:hlinkClick r:id="rId6"/>
              </a:rPr>
              <a:t>.x</a:t>
            </a:r>
            <a:r>
              <a:rPr sz="1800" spc="-85" dirty="0">
                <a:solidFill>
                  <a:srgbClr val="963139"/>
                </a:solidFill>
                <a:latin typeface="Microsoft Sans Serif"/>
                <a:cs typeface="Microsoft Sans Serif"/>
                <a:hlinkClick r:id="rId6"/>
              </a:rPr>
              <a:t>k</a:t>
            </a:r>
            <a:r>
              <a:rPr sz="1800" spc="-110" dirty="0">
                <a:solidFill>
                  <a:srgbClr val="963139"/>
                </a:solidFill>
                <a:latin typeface="Microsoft Sans Serif"/>
                <a:cs typeface="Microsoft Sans Serif"/>
                <a:hlinkClick r:id="rId6"/>
              </a:rPr>
              <a:t>cd</a:t>
            </a:r>
            <a:r>
              <a:rPr sz="1800" spc="-185" dirty="0">
                <a:solidFill>
                  <a:srgbClr val="963139"/>
                </a:solidFill>
                <a:latin typeface="Microsoft Sans Serif"/>
                <a:cs typeface="Microsoft Sans Serif"/>
                <a:hlinkClick r:id="rId6"/>
              </a:rPr>
              <a:t>.com</a:t>
            </a:r>
            <a:endParaRPr sz="1800">
              <a:latin typeface="Microsoft Sans Serif"/>
              <a:cs typeface="Microsoft Sans Serif"/>
            </a:endParaRPr>
          </a:p>
        </p:txBody>
      </p:sp>
      <p:grpSp>
        <p:nvGrpSpPr>
          <p:cNvPr id="13" name="object 13"/>
          <p:cNvGrpSpPr/>
          <p:nvPr/>
        </p:nvGrpSpPr>
        <p:grpSpPr>
          <a:xfrm>
            <a:off x="2276475" y="5019675"/>
            <a:ext cx="3524250" cy="552450"/>
            <a:chOff x="2276475" y="5019675"/>
            <a:chExt cx="3524250" cy="552450"/>
          </a:xfrm>
        </p:grpSpPr>
        <p:sp>
          <p:nvSpPr>
            <p:cNvPr id="14" name="object 14"/>
            <p:cNvSpPr/>
            <p:nvPr/>
          </p:nvSpPr>
          <p:spPr>
            <a:xfrm>
              <a:off x="2286000" y="5029200"/>
              <a:ext cx="3505200" cy="533400"/>
            </a:xfrm>
            <a:custGeom>
              <a:avLst/>
              <a:gdLst/>
              <a:ahLst/>
              <a:cxnLst/>
              <a:rect l="l" t="t" r="r" b="b"/>
              <a:pathLst>
                <a:path w="3505200" h="533400">
                  <a:moveTo>
                    <a:pt x="266700" y="0"/>
                  </a:moveTo>
                  <a:lnTo>
                    <a:pt x="0" y="266700"/>
                  </a:lnTo>
                  <a:lnTo>
                    <a:pt x="266700" y="533400"/>
                  </a:lnTo>
                  <a:lnTo>
                    <a:pt x="266700" y="400050"/>
                  </a:lnTo>
                  <a:lnTo>
                    <a:pt x="3505200" y="400050"/>
                  </a:lnTo>
                  <a:lnTo>
                    <a:pt x="3505200" y="133350"/>
                  </a:lnTo>
                  <a:lnTo>
                    <a:pt x="266700" y="133350"/>
                  </a:lnTo>
                  <a:lnTo>
                    <a:pt x="266700" y="0"/>
                  </a:lnTo>
                  <a:close/>
                </a:path>
              </a:pathLst>
            </a:custGeom>
            <a:solidFill>
              <a:srgbClr val="00AF50"/>
            </a:solidFill>
          </p:spPr>
          <p:txBody>
            <a:bodyPr wrap="square" lIns="0" tIns="0" rIns="0" bIns="0" rtlCol="0"/>
            <a:lstStyle/>
            <a:p>
              <a:endParaRPr/>
            </a:p>
          </p:txBody>
        </p:sp>
        <p:sp>
          <p:nvSpPr>
            <p:cNvPr id="15" name="object 15"/>
            <p:cNvSpPr/>
            <p:nvPr/>
          </p:nvSpPr>
          <p:spPr>
            <a:xfrm>
              <a:off x="2286000" y="5029200"/>
              <a:ext cx="3505200" cy="533400"/>
            </a:xfrm>
            <a:custGeom>
              <a:avLst/>
              <a:gdLst/>
              <a:ahLst/>
              <a:cxnLst/>
              <a:rect l="l" t="t" r="r" b="b"/>
              <a:pathLst>
                <a:path w="3505200" h="533400">
                  <a:moveTo>
                    <a:pt x="3505200" y="133350"/>
                  </a:moveTo>
                  <a:lnTo>
                    <a:pt x="266700" y="133350"/>
                  </a:lnTo>
                  <a:lnTo>
                    <a:pt x="266700" y="0"/>
                  </a:lnTo>
                  <a:lnTo>
                    <a:pt x="0" y="266700"/>
                  </a:lnTo>
                  <a:lnTo>
                    <a:pt x="266700" y="533400"/>
                  </a:lnTo>
                  <a:lnTo>
                    <a:pt x="266700" y="400050"/>
                  </a:lnTo>
                  <a:lnTo>
                    <a:pt x="3505200" y="400050"/>
                  </a:lnTo>
                  <a:lnTo>
                    <a:pt x="3505200" y="133350"/>
                  </a:lnTo>
                  <a:close/>
                </a:path>
              </a:pathLst>
            </a:custGeom>
            <a:ln w="19050">
              <a:solidFill>
                <a:srgbClr val="494949"/>
              </a:solidFill>
            </a:ln>
          </p:spPr>
          <p:txBody>
            <a:bodyPr wrap="square" lIns="0" tIns="0" rIns="0" bIns="0" rtlCol="0"/>
            <a:lstStyle/>
            <a:p>
              <a:endParaRPr/>
            </a:p>
          </p:txBody>
        </p:sp>
      </p:grpSp>
      <p:sp>
        <p:nvSpPr>
          <p:cNvPr id="16" name="object 16"/>
          <p:cNvSpPr txBox="1"/>
          <p:nvPr/>
        </p:nvSpPr>
        <p:spPr>
          <a:xfrm>
            <a:off x="2288794" y="5660847"/>
            <a:ext cx="3644900" cy="574040"/>
          </a:xfrm>
          <a:prstGeom prst="rect">
            <a:avLst/>
          </a:prstGeom>
        </p:spPr>
        <p:txBody>
          <a:bodyPr vert="horz" wrap="square" lIns="0" tIns="12700" rIns="0" bIns="0" rtlCol="0">
            <a:spAutoFit/>
          </a:bodyPr>
          <a:lstStyle/>
          <a:p>
            <a:pPr marL="12700" marR="5080">
              <a:lnSpc>
                <a:spcPct val="100000"/>
              </a:lnSpc>
              <a:spcBef>
                <a:spcPts val="100"/>
              </a:spcBef>
            </a:pP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310" dirty="0">
                <a:solidFill>
                  <a:srgbClr val="00AF50"/>
                </a:solidFill>
                <a:latin typeface="Microsoft Sans Serif"/>
                <a:cs typeface="Microsoft Sans Serif"/>
              </a:rPr>
              <a:t>TP</a:t>
            </a:r>
            <a:r>
              <a:rPr sz="1800" spc="15" dirty="0">
                <a:solidFill>
                  <a:srgbClr val="00AF50"/>
                </a:solidFill>
                <a:latin typeface="Microsoft Sans Serif"/>
                <a:cs typeface="Microsoft Sans Serif"/>
              </a:rPr>
              <a:t> </a:t>
            </a:r>
            <a:r>
              <a:rPr sz="1800" spc="-450" dirty="0">
                <a:solidFill>
                  <a:srgbClr val="00AF50"/>
                </a:solidFill>
                <a:latin typeface="Microsoft Sans Serif"/>
                <a:cs typeface="Microsoft Sans Serif"/>
              </a:rPr>
              <a:t>R</a:t>
            </a:r>
            <a:r>
              <a:rPr sz="1800" spc="-145" dirty="0">
                <a:solidFill>
                  <a:srgbClr val="00AF50"/>
                </a:solidFill>
                <a:latin typeface="Microsoft Sans Serif"/>
                <a:cs typeface="Microsoft Sans Serif"/>
              </a:rPr>
              <a:t>espon</a:t>
            </a:r>
            <a:r>
              <a:rPr sz="1800" spc="-170" dirty="0">
                <a:solidFill>
                  <a:srgbClr val="00AF50"/>
                </a:solidFill>
                <a:latin typeface="Microsoft Sans Serif"/>
                <a:cs typeface="Microsoft Sans Serif"/>
              </a:rPr>
              <a:t>se:</a:t>
            </a:r>
            <a:r>
              <a:rPr sz="1800" dirty="0">
                <a:solidFill>
                  <a:srgbClr val="00AF50"/>
                </a:solidFill>
                <a:latin typeface="Microsoft Sans Serif"/>
                <a:cs typeface="Microsoft Sans Serif"/>
              </a:rPr>
              <a:t> </a:t>
            </a:r>
            <a:r>
              <a:rPr sz="1800" spc="-140" dirty="0">
                <a:solidFill>
                  <a:srgbClr val="00AF50"/>
                </a:solidFill>
                <a:latin typeface="Microsoft Sans Serif"/>
                <a:cs typeface="Microsoft Sans Serif"/>
              </a:rPr>
              <a:t>w</a:t>
            </a:r>
            <a:r>
              <a:rPr sz="1800" spc="-145" dirty="0">
                <a:solidFill>
                  <a:srgbClr val="00AF50"/>
                </a:solidFill>
                <a:latin typeface="Microsoft Sans Serif"/>
                <a:cs typeface="Microsoft Sans Serif"/>
              </a:rPr>
              <a:t>e</a:t>
            </a:r>
            <a:r>
              <a:rPr sz="1800" spc="-10" dirty="0">
                <a:solidFill>
                  <a:srgbClr val="00AF50"/>
                </a:solidFill>
                <a:latin typeface="Microsoft Sans Serif"/>
                <a:cs typeface="Microsoft Sans Serif"/>
              </a:rPr>
              <a:t>b</a:t>
            </a:r>
            <a:r>
              <a:rPr sz="1800" spc="15" dirty="0">
                <a:solidFill>
                  <a:srgbClr val="00AF50"/>
                </a:solidFill>
                <a:latin typeface="Microsoft Sans Serif"/>
                <a:cs typeface="Microsoft Sans Serif"/>
              </a:rPr>
              <a:t> </a:t>
            </a:r>
            <a:r>
              <a:rPr sz="1800" spc="-155" dirty="0">
                <a:solidFill>
                  <a:srgbClr val="00AF50"/>
                </a:solidFill>
                <a:latin typeface="Microsoft Sans Serif"/>
                <a:cs typeface="Microsoft Sans Serif"/>
              </a:rPr>
              <a:t>con</a:t>
            </a:r>
            <a:r>
              <a:rPr sz="1800" spc="-75" dirty="0">
                <a:solidFill>
                  <a:srgbClr val="00AF50"/>
                </a:solidFill>
                <a:latin typeface="Microsoft Sans Serif"/>
                <a:cs typeface="Microsoft Sans Serif"/>
              </a:rPr>
              <a:t>t</a:t>
            </a:r>
            <a:r>
              <a:rPr sz="1800" spc="-110" dirty="0">
                <a:solidFill>
                  <a:srgbClr val="00AF50"/>
                </a:solidFill>
                <a:latin typeface="Microsoft Sans Serif"/>
                <a:cs typeface="Microsoft Sans Serif"/>
              </a:rPr>
              <a:t>ent</a:t>
            </a:r>
            <a:r>
              <a:rPr sz="1800" spc="-5" dirty="0">
                <a:solidFill>
                  <a:srgbClr val="00AF50"/>
                </a:solidFill>
                <a:latin typeface="Microsoft Sans Serif"/>
                <a:cs typeface="Microsoft Sans Serif"/>
              </a:rPr>
              <a:t> </a:t>
            </a:r>
            <a:r>
              <a:rPr sz="1800" spc="-105" dirty="0">
                <a:solidFill>
                  <a:srgbClr val="00AF50"/>
                </a:solidFill>
                <a:latin typeface="Microsoft Sans Serif"/>
                <a:cs typeface="Microsoft Sans Serif"/>
              </a:rPr>
              <a:t>(</a:t>
            </a:r>
            <a:r>
              <a:rPr sz="1800" spc="-220" dirty="0">
                <a:solidFill>
                  <a:srgbClr val="00AF50"/>
                </a:solidFill>
                <a:latin typeface="Microsoft Sans Serif"/>
                <a:cs typeface="Microsoft Sans Serif"/>
              </a:rPr>
              <a:t>H</a:t>
            </a:r>
            <a:r>
              <a:rPr sz="1800" spc="-180" dirty="0">
                <a:solidFill>
                  <a:srgbClr val="00AF50"/>
                </a:solidFill>
                <a:latin typeface="Microsoft Sans Serif"/>
                <a:cs typeface="Microsoft Sans Serif"/>
              </a:rPr>
              <a:t>T</a:t>
            </a:r>
            <a:r>
              <a:rPr sz="1800" spc="-240" dirty="0">
                <a:solidFill>
                  <a:srgbClr val="00AF50"/>
                </a:solidFill>
                <a:latin typeface="Microsoft Sans Serif"/>
                <a:cs typeface="Microsoft Sans Serif"/>
              </a:rPr>
              <a:t>M</a:t>
            </a:r>
            <a:r>
              <a:rPr sz="1800" spc="-310" dirty="0">
                <a:solidFill>
                  <a:srgbClr val="00AF50"/>
                </a:solidFill>
                <a:latin typeface="Microsoft Sans Serif"/>
                <a:cs typeface="Microsoft Sans Serif"/>
              </a:rPr>
              <a:t>L</a:t>
            </a:r>
            <a:r>
              <a:rPr sz="1800" spc="5" dirty="0">
                <a:solidFill>
                  <a:srgbClr val="00AF50"/>
                </a:solidFill>
                <a:latin typeface="Microsoft Sans Serif"/>
                <a:cs typeface="Microsoft Sans Serif"/>
              </a:rPr>
              <a:t> </a:t>
            </a:r>
            <a:r>
              <a:rPr sz="1800" spc="-30" dirty="0">
                <a:solidFill>
                  <a:srgbClr val="00AF50"/>
                </a:solidFill>
                <a:latin typeface="Microsoft Sans Serif"/>
                <a:cs typeface="Microsoft Sans Serif"/>
              </a:rPr>
              <a:t>file)  </a:t>
            </a:r>
            <a:r>
              <a:rPr sz="1800" spc="-175" dirty="0">
                <a:solidFill>
                  <a:srgbClr val="00AF50"/>
                </a:solidFill>
                <a:latin typeface="Microsoft Sans Serif"/>
                <a:cs typeface="Microsoft Sans Serif"/>
              </a:rPr>
              <a:t>C</a:t>
            </a:r>
            <a:r>
              <a:rPr sz="1800" spc="-50" dirty="0">
                <a:solidFill>
                  <a:srgbClr val="00AF50"/>
                </a:solidFill>
                <a:latin typeface="Microsoft Sans Serif"/>
                <a:cs typeface="Microsoft Sans Serif"/>
              </a:rPr>
              <a:t>l</a:t>
            </a:r>
            <a:r>
              <a:rPr sz="1800" spc="-105" dirty="0">
                <a:solidFill>
                  <a:srgbClr val="00AF50"/>
                </a:solidFill>
                <a:latin typeface="Microsoft Sans Serif"/>
                <a:cs typeface="Microsoft Sans Serif"/>
              </a:rPr>
              <a:t>ie</a:t>
            </a:r>
            <a:r>
              <a:rPr sz="1800" spc="-140" dirty="0">
                <a:solidFill>
                  <a:srgbClr val="00AF50"/>
                </a:solidFill>
                <a:latin typeface="Microsoft Sans Serif"/>
                <a:cs typeface="Microsoft Sans Serif"/>
              </a:rPr>
              <a:t>n</a:t>
            </a:r>
            <a:r>
              <a:rPr sz="1800" spc="-10" dirty="0">
                <a:solidFill>
                  <a:srgbClr val="00AF50"/>
                </a:solidFill>
                <a:latin typeface="Microsoft Sans Serif"/>
                <a:cs typeface="Microsoft Sans Serif"/>
              </a:rPr>
              <a:t>t</a:t>
            </a:r>
            <a:r>
              <a:rPr sz="1800" dirty="0">
                <a:solidFill>
                  <a:srgbClr val="00AF50"/>
                </a:solidFill>
                <a:latin typeface="Microsoft Sans Serif"/>
                <a:cs typeface="Microsoft Sans Serif"/>
              </a:rPr>
              <a:t>-</a:t>
            </a:r>
            <a:r>
              <a:rPr sz="1800" spc="-110" dirty="0">
                <a:solidFill>
                  <a:srgbClr val="00AF50"/>
                </a:solidFill>
                <a:latin typeface="Microsoft Sans Serif"/>
                <a:cs typeface="Microsoft Sans Serif"/>
              </a:rPr>
              <a:t>side</a:t>
            </a:r>
            <a:r>
              <a:rPr sz="1800" spc="15" dirty="0">
                <a:solidFill>
                  <a:srgbClr val="00AF50"/>
                </a:solidFill>
                <a:latin typeface="Microsoft Sans Serif"/>
                <a:cs typeface="Microsoft Sans Serif"/>
              </a:rPr>
              <a:t> </a:t>
            </a:r>
            <a:r>
              <a:rPr sz="1800" spc="-110" dirty="0">
                <a:solidFill>
                  <a:srgbClr val="00AF50"/>
                </a:solidFill>
                <a:latin typeface="Microsoft Sans Serif"/>
                <a:cs typeface="Microsoft Sans Serif"/>
              </a:rPr>
              <a:t>cod</a:t>
            </a:r>
            <a:r>
              <a:rPr sz="1800" spc="-105" dirty="0">
                <a:solidFill>
                  <a:srgbClr val="00AF50"/>
                </a:solidFill>
                <a:latin typeface="Microsoft Sans Serif"/>
                <a:cs typeface="Microsoft Sans Serif"/>
              </a:rPr>
              <a:t>e:</a:t>
            </a:r>
            <a:r>
              <a:rPr sz="1800" dirty="0">
                <a:solidFill>
                  <a:srgbClr val="00AF50"/>
                </a:solidFill>
                <a:latin typeface="Microsoft Sans Serif"/>
                <a:cs typeface="Microsoft Sans Serif"/>
              </a:rPr>
              <a:t> </a:t>
            </a: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254" dirty="0">
                <a:solidFill>
                  <a:srgbClr val="00AF50"/>
                </a:solidFill>
                <a:latin typeface="Microsoft Sans Serif"/>
                <a:cs typeface="Microsoft Sans Serif"/>
              </a:rPr>
              <a:t>M</a:t>
            </a:r>
            <a:r>
              <a:rPr sz="1800" spc="-165" dirty="0">
                <a:solidFill>
                  <a:srgbClr val="00AF50"/>
                </a:solidFill>
                <a:latin typeface="Microsoft Sans Serif"/>
                <a:cs typeface="Microsoft Sans Serif"/>
              </a:rPr>
              <a:t>L</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75" dirty="0">
                <a:solidFill>
                  <a:srgbClr val="00AF50"/>
                </a:solidFill>
                <a:latin typeface="Microsoft Sans Serif"/>
                <a:cs typeface="Microsoft Sans Serif"/>
              </a:rPr>
              <a:t>CS</a:t>
            </a:r>
            <a:r>
              <a:rPr sz="1800" spc="-315" dirty="0">
                <a:solidFill>
                  <a:srgbClr val="00AF50"/>
                </a:solidFill>
                <a:latin typeface="Microsoft Sans Serif"/>
                <a:cs typeface="Microsoft Sans Serif"/>
              </a:rPr>
              <a:t>S</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25" dirty="0">
                <a:solidFill>
                  <a:srgbClr val="00AF50"/>
                </a:solidFill>
                <a:latin typeface="Microsoft Sans Serif"/>
                <a:cs typeface="Microsoft Sans Serif"/>
              </a:rPr>
              <a:t>J</a:t>
            </a:r>
            <a:r>
              <a:rPr sz="1800" spc="-65" dirty="0">
                <a:solidFill>
                  <a:srgbClr val="00AF50"/>
                </a:solidFill>
                <a:latin typeface="Microsoft Sans Serif"/>
                <a:cs typeface="Microsoft Sans Serif"/>
              </a:rPr>
              <a:t>a</a:t>
            </a:r>
            <a:r>
              <a:rPr sz="1800" spc="-95" dirty="0">
                <a:solidFill>
                  <a:srgbClr val="00AF50"/>
                </a:solidFill>
                <a:latin typeface="Microsoft Sans Serif"/>
                <a:cs typeface="Microsoft Sans Serif"/>
              </a:rPr>
              <a:t>v</a:t>
            </a:r>
            <a:r>
              <a:rPr sz="1800" spc="-185" dirty="0">
                <a:solidFill>
                  <a:srgbClr val="00AF50"/>
                </a:solidFill>
                <a:latin typeface="Microsoft Sans Serif"/>
                <a:cs typeface="Microsoft Sans Serif"/>
              </a:rPr>
              <a:t>aS</a:t>
            </a:r>
            <a:r>
              <a:rPr sz="1800" spc="-160" dirty="0">
                <a:solidFill>
                  <a:srgbClr val="00AF50"/>
                </a:solidFill>
                <a:latin typeface="Microsoft Sans Serif"/>
                <a:cs typeface="Microsoft Sans Serif"/>
              </a:rPr>
              <a:t>c</a:t>
            </a:r>
            <a:r>
              <a:rPr sz="1800" spc="-10" dirty="0">
                <a:solidFill>
                  <a:srgbClr val="00AF50"/>
                </a:solidFill>
                <a:latin typeface="Microsoft Sans Serif"/>
                <a:cs typeface="Microsoft Sans Serif"/>
              </a:rPr>
              <a:t>ript</a:t>
            </a:r>
            <a:endParaRPr sz="1800">
              <a:latin typeface="Microsoft Sans Serif"/>
              <a:cs typeface="Microsoft Sans Serif"/>
            </a:endParaRPr>
          </a:p>
        </p:txBody>
      </p:sp>
      <p:sp>
        <p:nvSpPr>
          <p:cNvPr id="17" name="object 17"/>
          <p:cNvSpPr txBox="1"/>
          <p:nvPr/>
        </p:nvSpPr>
        <p:spPr>
          <a:xfrm>
            <a:off x="7090029" y="2459863"/>
            <a:ext cx="1608455" cy="139700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963139"/>
                </a:solidFill>
                <a:latin typeface="Microsoft Sans Serif"/>
                <a:cs typeface="Microsoft Sans Serif"/>
              </a:rPr>
              <a:t>Server:</a:t>
            </a:r>
            <a:endParaRPr sz="1800">
              <a:latin typeface="Microsoft Sans Serif"/>
              <a:cs typeface="Microsoft Sans Serif"/>
            </a:endParaRPr>
          </a:p>
          <a:p>
            <a:pPr marL="355600" marR="233679" indent="-343535">
              <a:lnSpc>
                <a:spcPct val="100000"/>
              </a:lnSpc>
              <a:buAutoNum type="arabicPeriod"/>
              <a:tabLst>
                <a:tab pos="355600" algn="l"/>
                <a:tab pos="356235" algn="l"/>
              </a:tabLst>
            </a:pPr>
            <a:r>
              <a:rPr sz="1800" spc="-210" dirty="0">
                <a:solidFill>
                  <a:srgbClr val="963139"/>
                </a:solidFill>
                <a:latin typeface="Microsoft Sans Serif"/>
                <a:cs typeface="Microsoft Sans Serif"/>
              </a:rPr>
              <a:t>H</a:t>
            </a:r>
            <a:r>
              <a:rPr sz="1800" spc="-180" dirty="0">
                <a:solidFill>
                  <a:srgbClr val="963139"/>
                </a:solidFill>
                <a:latin typeface="Microsoft Sans Serif"/>
                <a:cs typeface="Microsoft Sans Serif"/>
              </a:rPr>
              <a:t>om</a:t>
            </a:r>
            <a:r>
              <a:rPr sz="1800" spc="-140" dirty="0">
                <a:solidFill>
                  <a:srgbClr val="963139"/>
                </a:solidFill>
                <a:latin typeface="Microsoft Sans Serif"/>
                <a:cs typeface="Microsoft Sans Serif"/>
              </a:rPr>
              <a:t>e</a:t>
            </a:r>
            <a:r>
              <a:rPr sz="1800" spc="-10" dirty="0">
                <a:solidFill>
                  <a:srgbClr val="963139"/>
                </a:solidFill>
                <a:latin typeface="Microsoft Sans Serif"/>
                <a:cs typeface="Microsoft Sans Serif"/>
              </a:rPr>
              <a:t>p</a:t>
            </a:r>
            <a:r>
              <a:rPr sz="1800" spc="-5" dirty="0">
                <a:solidFill>
                  <a:srgbClr val="963139"/>
                </a:solidFill>
                <a:latin typeface="Microsoft Sans Serif"/>
                <a:cs typeface="Microsoft Sans Serif"/>
              </a:rPr>
              <a:t>a</a:t>
            </a:r>
            <a:r>
              <a:rPr sz="1800" spc="-45" dirty="0">
                <a:solidFill>
                  <a:srgbClr val="963139"/>
                </a:solidFill>
                <a:latin typeface="Microsoft Sans Serif"/>
                <a:cs typeface="Microsoft Sans Serif"/>
              </a:rPr>
              <a:t>g</a:t>
            </a:r>
            <a:r>
              <a:rPr sz="1800" spc="-70" dirty="0">
                <a:solidFill>
                  <a:srgbClr val="963139"/>
                </a:solidFill>
                <a:latin typeface="Microsoft Sans Serif"/>
                <a:cs typeface="Microsoft Sans Serif"/>
              </a:rPr>
              <a:t>e  </a:t>
            </a:r>
            <a:r>
              <a:rPr sz="1800" spc="-95" dirty="0">
                <a:solidFill>
                  <a:srgbClr val="963139"/>
                </a:solidFill>
                <a:latin typeface="Microsoft Sans Serif"/>
                <a:cs typeface="Microsoft Sans Serif"/>
              </a:rPr>
              <a:t>lookup</a:t>
            </a:r>
            <a:endParaRPr sz="1800">
              <a:latin typeface="Microsoft Sans Serif"/>
              <a:cs typeface="Microsoft Sans Serif"/>
            </a:endParaRPr>
          </a:p>
          <a:p>
            <a:pPr marL="355600" marR="5080" indent="-343535">
              <a:lnSpc>
                <a:spcPct val="100000"/>
              </a:lnSpc>
              <a:buAutoNum type="arabicPeriod"/>
              <a:tabLst>
                <a:tab pos="355600" algn="l"/>
                <a:tab pos="356235" algn="l"/>
              </a:tabLst>
            </a:pPr>
            <a:r>
              <a:rPr sz="1800" spc="-215" dirty="0">
                <a:solidFill>
                  <a:srgbClr val="963139"/>
                </a:solidFill>
                <a:latin typeface="Microsoft Sans Serif"/>
                <a:cs typeface="Microsoft Sans Serif"/>
              </a:rPr>
              <a:t>Se</a:t>
            </a:r>
            <a:r>
              <a:rPr sz="1800" spc="-190" dirty="0">
                <a:solidFill>
                  <a:srgbClr val="963139"/>
                </a:solidFill>
                <a:latin typeface="Microsoft Sans Serif"/>
                <a:cs typeface="Microsoft Sans Serif"/>
              </a:rPr>
              <a:t>n</a:t>
            </a:r>
            <a:r>
              <a:rPr sz="1800" spc="-10" dirty="0">
                <a:solidFill>
                  <a:srgbClr val="963139"/>
                </a:solidFill>
                <a:latin typeface="Microsoft Sans Serif"/>
                <a:cs typeface="Microsoft Sans Serif"/>
              </a:rPr>
              <a:t>d</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as</a:t>
            </a:r>
            <a:r>
              <a:rPr sz="1800" spc="20" dirty="0">
                <a:solidFill>
                  <a:srgbClr val="963139"/>
                </a:solidFill>
                <a:latin typeface="Microsoft Sans Serif"/>
                <a:cs typeface="Microsoft Sans Serif"/>
              </a:rPr>
              <a:t> </a:t>
            </a: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5" dirty="0">
                <a:solidFill>
                  <a:srgbClr val="963139"/>
                </a:solidFill>
                <a:latin typeface="Microsoft Sans Serif"/>
                <a:cs typeface="Microsoft Sans Serif"/>
              </a:rPr>
              <a:t>T</a:t>
            </a:r>
            <a:r>
              <a:rPr sz="1800" spc="-180" dirty="0">
                <a:solidFill>
                  <a:srgbClr val="963139"/>
                </a:solidFill>
                <a:latin typeface="Microsoft Sans Serif"/>
                <a:cs typeface="Microsoft Sans Serif"/>
              </a:rPr>
              <a:t>P  </a:t>
            </a:r>
            <a:r>
              <a:rPr sz="1800" spc="-200" dirty="0">
                <a:solidFill>
                  <a:srgbClr val="963139"/>
                </a:solidFill>
                <a:latin typeface="Microsoft Sans Serif"/>
                <a:cs typeface="Microsoft Sans Serif"/>
              </a:rPr>
              <a:t>Response</a:t>
            </a:r>
            <a:endParaRPr sz="1800">
              <a:latin typeface="Microsoft Sans Serif"/>
              <a:cs typeface="Microsoft Sans Serif"/>
            </a:endParaRPr>
          </a:p>
        </p:txBody>
      </p:sp>
    </p:spTree>
    <p:extLst>
      <p:ext uri="{BB962C8B-B14F-4D97-AF65-F5344CB8AC3E}">
        <p14:creationId xmlns:p14="http://schemas.microsoft.com/office/powerpoint/2010/main" val="3776509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5803265"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300" dirty="0"/>
              <a:t>equest</a:t>
            </a:r>
            <a:r>
              <a:rPr spc="-5" dirty="0"/>
              <a:t> </a:t>
            </a:r>
            <a:r>
              <a:rPr spc="-140" dirty="0"/>
              <a:t>to</a:t>
            </a:r>
            <a:r>
              <a:rPr spc="45" dirty="0"/>
              <a:t> </a:t>
            </a:r>
            <a:r>
              <a:rPr spc="-20" dirty="0"/>
              <a:t>a</a:t>
            </a:r>
            <a:r>
              <a:rPr spc="35" dirty="0"/>
              <a:t> </a:t>
            </a:r>
            <a:r>
              <a:rPr spc="-335" dirty="0"/>
              <a:t>Dynamic</a:t>
            </a:r>
            <a:r>
              <a:rPr spc="10" dirty="0"/>
              <a:t> </a:t>
            </a:r>
            <a:r>
              <a:rPr spc="-265" dirty="0"/>
              <a:t>Site</a:t>
            </a:r>
          </a:p>
        </p:txBody>
      </p:sp>
      <p:sp>
        <p:nvSpPr>
          <p:cNvPr id="3" name="object 3"/>
          <p:cNvSpPr txBox="1"/>
          <p:nvPr/>
        </p:nvSpPr>
        <p:spPr>
          <a:xfrm>
            <a:off x="691387" y="1616709"/>
            <a:ext cx="7435215" cy="2083435"/>
          </a:xfrm>
          <a:prstGeom prst="rect">
            <a:avLst/>
          </a:prstGeom>
        </p:spPr>
        <p:txBody>
          <a:bodyPr vert="horz" wrap="square" lIns="0" tIns="12700" rIns="0" bIns="0" rtlCol="0">
            <a:spAutoFit/>
          </a:bodyPr>
          <a:lstStyle/>
          <a:p>
            <a:pPr marL="332740" marR="5080" indent="-320040">
              <a:lnSpc>
                <a:spcPct val="100000"/>
              </a:lnSpc>
              <a:spcBef>
                <a:spcPts val="100"/>
              </a:spcBef>
              <a:buSzPct val="60416"/>
              <a:buFont typeface="Wingdings"/>
              <a:buChar char=""/>
              <a:tabLst>
                <a:tab pos="332105" algn="l"/>
                <a:tab pos="332740" algn="l"/>
              </a:tabLst>
            </a:pPr>
            <a:r>
              <a:rPr sz="2400" spc="-370" dirty="0">
                <a:solidFill>
                  <a:srgbClr val="963139"/>
                </a:solidFill>
                <a:latin typeface="Microsoft Sans Serif"/>
                <a:cs typeface="Microsoft Sans Serif"/>
              </a:rPr>
              <a:t>T</a:t>
            </a:r>
            <a:r>
              <a:rPr sz="2400" spc="-330" dirty="0">
                <a:solidFill>
                  <a:srgbClr val="963139"/>
                </a:solidFill>
                <a:latin typeface="Microsoft Sans Serif"/>
                <a:cs typeface="Microsoft Sans Serif"/>
              </a:rPr>
              <a:t>h</a:t>
            </a:r>
            <a:r>
              <a:rPr sz="2400" spc="-135" dirty="0">
                <a:solidFill>
                  <a:srgbClr val="963139"/>
                </a:solidFill>
                <a:latin typeface="Microsoft Sans Serif"/>
                <a:cs typeface="Microsoft Sans Serif"/>
              </a:rPr>
              <a:t>e</a:t>
            </a:r>
            <a:r>
              <a:rPr sz="2400" spc="10" dirty="0">
                <a:solidFill>
                  <a:srgbClr val="963139"/>
                </a:solidFill>
                <a:latin typeface="Microsoft Sans Serif"/>
                <a:cs typeface="Microsoft Sans Serif"/>
              </a:rPr>
              <a:t> </a:t>
            </a:r>
            <a:r>
              <a:rPr sz="2400" spc="-204" dirty="0">
                <a:solidFill>
                  <a:srgbClr val="963139"/>
                </a:solidFill>
                <a:latin typeface="Microsoft Sans Serif"/>
                <a:cs typeface="Microsoft Sans Serif"/>
              </a:rPr>
              <a:t>se</a:t>
            </a:r>
            <a:r>
              <a:rPr sz="2400" spc="-30" dirty="0">
                <a:solidFill>
                  <a:srgbClr val="963139"/>
                </a:solidFill>
                <a:latin typeface="Microsoft Sans Serif"/>
                <a:cs typeface="Microsoft Sans Serif"/>
              </a:rPr>
              <a:t>r</a:t>
            </a:r>
            <a:r>
              <a:rPr sz="2400" spc="-195" dirty="0">
                <a:solidFill>
                  <a:srgbClr val="963139"/>
                </a:solidFill>
                <a:latin typeface="Microsoft Sans Serif"/>
                <a:cs typeface="Microsoft Sans Serif"/>
              </a:rPr>
              <a:t>v</a:t>
            </a:r>
            <a:r>
              <a:rPr sz="2400" spc="-70" dirty="0">
                <a:solidFill>
                  <a:srgbClr val="963139"/>
                </a:solidFill>
                <a:latin typeface="Microsoft Sans Serif"/>
                <a:cs typeface="Microsoft Sans Serif"/>
              </a:rPr>
              <a:t>er</a:t>
            </a:r>
            <a:r>
              <a:rPr sz="2400" spc="15" dirty="0">
                <a:solidFill>
                  <a:srgbClr val="963139"/>
                </a:solidFill>
                <a:latin typeface="Microsoft Sans Serif"/>
                <a:cs typeface="Microsoft Sans Serif"/>
              </a:rPr>
              <a:t> </a:t>
            </a:r>
            <a:r>
              <a:rPr sz="2400" spc="-360" dirty="0">
                <a:solidFill>
                  <a:srgbClr val="963139"/>
                </a:solidFill>
                <a:latin typeface="Microsoft Sans Serif"/>
                <a:cs typeface="Microsoft Sans Serif"/>
              </a:rPr>
              <a:t>m</a:t>
            </a:r>
            <a:r>
              <a:rPr sz="2400" spc="-365" dirty="0">
                <a:solidFill>
                  <a:srgbClr val="963139"/>
                </a:solidFill>
                <a:latin typeface="Microsoft Sans Serif"/>
                <a:cs typeface="Microsoft Sans Serif"/>
              </a:rPr>
              <a:t>u</a:t>
            </a:r>
            <a:r>
              <a:rPr sz="2400" spc="-320" dirty="0">
                <a:solidFill>
                  <a:srgbClr val="963139"/>
                </a:solidFill>
                <a:latin typeface="Microsoft Sans Serif"/>
                <a:cs typeface="Microsoft Sans Serif"/>
              </a:rPr>
              <a:t>s</a:t>
            </a:r>
            <a:r>
              <a:rPr sz="2400" spc="-20" dirty="0">
                <a:solidFill>
                  <a:srgbClr val="963139"/>
                </a:solidFill>
                <a:latin typeface="Microsoft Sans Serif"/>
                <a:cs typeface="Microsoft Sans Serif"/>
              </a:rPr>
              <a:t>t</a:t>
            </a:r>
            <a:r>
              <a:rPr sz="2400" spc="20" dirty="0">
                <a:solidFill>
                  <a:srgbClr val="963139"/>
                </a:solidFill>
                <a:latin typeface="Microsoft Sans Serif"/>
                <a:cs typeface="Microsoft Sans Serif"/>
              </a:rPr>
              <a:t> </a:t>
            </a:r>
            <a:r>
              <a:rPr sz="2400" spc="-140" dirty="0">
                <a:solidFill>
                  <a:srgbClr val="963139"/>
                </a:solidFill>
                <a:latin typeface="Microsoft Sans Serif"/>
                <a:cs typeface="Microsoft Sans Serif"/>
              </a:rPr>
              <a:t>respond</a:t>
            </a:r>
            <a:r>
              <a:rPr sz="2400" spc="20" dirty="0">
                <a:solidFill>
                  <a:srgbClr val="963139"/>
                </a:solidFill>
                <a:latin typeface="Microsoft Sans Serif"/>
                <a:cs typeface="Microsoft Sans Serif"/>
              </a:rPr>
              <a:t> </a:t>
            </a:r>
            <a:r>
              <a:rPr sz="2400" spc="-95" dirty="0">
                <a:solidFill>
                  <a:srgbClr val="963139"/>
                </a:solidFill>
                <a:latin typeface="Microsoft Sans Serif"/>
                <a:cs typeface="Microsoft Sans Serif"/>
              </a:rPr>
              <a:t>d</a:t>
            </a:r>
            <a:r>
              <a:rPr sz="2400" spc="-145" dirty="0">
                <a:solidFill>
                  <a:srgbClr val="963139"/>
                </a:solidFill>
                <a:latin typeface="Microsoft Sans Serif"/>
                <a:cs typeface="Microsoft Sans Serif"/>
              </a:rPr>
              <a:t>ynamic</a:t>
            </a:r>
            <a:r>
              <a:rPr sz="2400" spc="-160" dirty="0">
                <a:solidFill>
                  <a:srgbClr val="963139"/>
                </a:solidFill>
                <a:latin typeface="Microsoft Sans Serif"/>
                <a:cs typeface="Microsoft Sans Serif"/>
              </a:rPr>
              <a:t>a</a:t>
            </a:r>
            <a:r>
              <a:rPr sz="2400" spc="-20" dirty="0">
                <a:solidFill>
                  <a:srgbClr val="963139"/>
                </a:solidFill>
                <a:latin typeface="Microsoft Sans Serif"/>
                <a:cs typeface="Microsoft Sans Serif"/>
              </a:rPr>
              <a:t>ll</a:t>
            </a:r>
            <a:r>
              <a:rPr sz="2400" spc="-25" dirty="0">
                <a:solidFill>
                  <a:srgbClr val="963139"/>
                </a:solidFill>
                <a:latin typeface="Microsoft Sans Serif"/>
                <a:cs typeface="Microsoft Sans Serif"/>
              </a:rPr>
              <a:t>y</a:t>
            </a:r>
            <a:r>
              <a:rPr sz="2400" spc="20" dirty="0">
                <a:solidFill>
                  <a:srgbClr val="963139"/>
                </a:solidFill>
                <a:latin typeface="Microsoft Sans Serif"/>
                <a:cs typeface="Microsoft Sans Serif"/>
              </a:rPr>
              <a:t> </a:t>
            </a:r>
            <a:r>
              <a:rPr sz="2400" spc="45" dirty="0">
                <a:solidFill>
                  <a:srgbClr val="963139"/>
                </a:solidFill>
                <a:latin typeface="Microsoft Sans Serif"/>
                <a:cs typeface="Microsoft Sans Serif"/>
              </a:rPr>
              <a:t>i</a:t>
            </a:r>
            <a:r>
              <a:rPr sz="2400" spc="60" dirty="0">
                <a:solidFill>
                  <a:srgbClr val="963139"/>
                </a:solidFill>
                <a:latin typeface="Microsoft Sans Serif"/>
                <a:cs typeface="Microsoft Sans Serif"/>
              </a:rPr>
              <a:t>f</a:t>
            </a:r>
            <a:r>
              <a:rPr sz="2400" spc="10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0" dirty="0">
                <a:solidFill>
                  <a:srgbClr val="963139"/>
                </a:solidFill>
                <a:latin typeface="Microsoft Sans Serif"/>
                <a:cs typeface="Microsoft Sans Serif"/>
              </a:rPr>
              <a:t> </a:t>
            </a:r>
            <a:r>
              <a:rPr sz="2400" spc="-195" dirty="0">
                <a:solidFill>
                  <a:srgbClr val="963139"/>
                </a:solidFill>
                <a:latin typeface="Microsoft Sans Serif"/>
                <a:cs typeface="Microsoft Sans Serif"/>
              </a:rPr>
              <a:t>needs</a:t>
            </a:r>
            <a:r>
              <a:rPr sz="2400" spc="25" dirty="0">
                <a:solidFill>
                  <a:srgbClr val="963139"/>
                </a:solidFill>
                <a:latin typeface="Microsoft Sans Serif"/>
                <a:cs typeface="Microsoft Sans Serif"/>
              </a:rPr>
              <a:t> </a:t>
            </a:r>
            <a:r>
              <a:rPr sz="2400" spc="-80" dirty="0">
                <a:solidFill>
                  <a:srgbClr val="963139"/>
                </a:solidFill>
                <a:latin typeface="Microsoft Sans Serif"/>
                <a:cs typeface="Microsoft Sans Serif"/>
              </a:rPr>
              <a:t>to</a:t>
            </a:r>
            <a:r>
              <a:rPr sz="2400" spc="20" dirty="0">
                <a:solidFill>
                  <a:srgbClr val="963139"/>
                </a:solidFill>
                <a:latin typeface="Microsoft Sans Serif"/>
                <a:cs typeface="Microsoft Sans Serif"/>
              </a:rPr>
              <a:t> </a:t>
            </a:r>
            <a:r>
              <a:rPr sz="2400" spc="-30" dirty="0">
                <a:solidFill>
                  <a:srgbClr val="963139"/>
                </a:solidFill>
                <a:latin typeface="Microsoft Sans Serif"/>
                <a:cs typeface="Microsoft Sans Serif"/>
              </a:rPr>
              <a:t>p</a:t>
            </a:r>
            <a:r>
              <a:rPr sz="2400" spc="-45" dirty="0">
                <a:solidFill>
                  <a:srgbClr val="963139"/>
                </a:solidFill>
                <a:latin typeface="Microsoft Sans Serif"/>
                <a:cs typeface="Microsoft Sans Serif"/>
              </a:rPr>
              <a:t>r</a:t>
            </a:r>
            <a:r>
              <a:rPr sz="2400" spc="-105" dirty="0">
                <a:solidFill>
                  <a:srgbClr val="963139"/>
                </a:solidFill>
                <a:latin typeface="Microsoft Sans Serif"/>
                <a:cs typeface="Microsoft Sans Serif"/>
              </a:rPr>
              <a:t>ovi</a:t>
            </a:r>
            <a:r>
              <a:rPr sz="2400" spc="-55" dirty="0">
                <a:solidFill>
                  <a:srgbClr val="963139"/>
                </a:solidFill>
                <a:latin typeface="Microsoft Sans Serif"/>
                <a:cs typeface="Microsoft Sans Serif"/>
              </a:rPr>
              <a:t>de  </a:t>
            </a:r>
            <a:r>
              <a:rPr sz="2400" spc="-40" dirty="0">
                <a:solidFill>
                  <a:srgbClr val="963139"/>
                </a:solidFill>
                <a:latin typeface="Microsoft Sans Serif"/>
                <a:cs typeface="Microsoft Sans Serif"/>
              </a:rPr>
              <a:t>different</a:t>
            </a:r>
            <a:r>
              <a:rPr sz="2400" spc="5" dirty="0">
                <a:solidFill>
                  <a:srgbClr val="963139"/>
                </a:solidFill>
                <a:latin typeface="Microsoft Sans Serif"/>
                <a:cs typeface="Microsoft Sans Serif"/>
              </a:rPr>
              <a:t> </a:t>
            </a:r>
            <a:r>
              <a:rPr sz="2400" spc="-120" dirty="0">
                <a:solidFill>
                  <a:srgbClr val="963139"/>
                </a:solidFill>
                <a:latin typeface="Microsoft Sans Serif"/>
                <a:cs typeface="Microsoft Sans Serif"/>
              </a:rPr>
              <a:t>client-side</a:t>
            </a:r>
            <a:r>
              <a:rPr sz="2400" spc="10" dirty="0">
                <a:solidFill>
                  <a:srgbClr val="963139"/>
                </a:solidFill>
                <a:latin typeface="Microsoft Sans Serif"/>
                <a:cs typeface="Microsoft Sans Serif"/>
              </a:rPr>
              <a:t> </a:t>
            </a:r>
            <a:r>
              <a:rPr sz="2400" spc="-145" dirty="0">
                <a:solidFill>
                  <a:srgbClr val="963139"/>
                </a:solidFill>
                <a:latin typeface="Microsoft Sans Serif"/>
                <a:cs typeface="Microsoft Sans Serif"/>
              </a:rPr>
              <a:t>code</a:t>
            </a:r>
            <a:r>
              <a:rPr sz="2400" spc="30" dirty="0">
                <a:solidFill>
                  <a:srgbClr val="963139"/>
                </a:solidFill>
                <a:latin typeface="Microsoft Sans Serif"/>
                <a:cs typeface="Microsoft Sans Serif"/>
              </a:rPr>
              <a:t> </a:t>
            </a:r>
            <a:r>
              <a:rPr sz="2400" spc="-105" dirty="0">
                <a:solidFill>
                  <a:srgbClr val="963139"/>
                </a:solidFill>
                <a:latin typeface="Microsoft Sans Serif"/>
                <a:cs typeface="Microsoft Sans Serif"/>
              </a:rPr>
              <a:t>depending</a:t>
            </a:r>
            <a:r>
              <a:rPr sz="2400" spc="30" dirty="0">
                <a:solidFill>
                  <a:srgbClr val="963139"/>
                </a:solidFill>
                <a:latin typeface="Microsoft Sans Serif"/>
                <a:cs typeface="Microsoft Sans Serif"/>
              </a:rPr>
              <a:t> </a:t>
            </a:r>
            <a:r>
              <a:rPr sz="2400" spc="-210" dirty="0">
                <a:solidFill>
                  <a:srgbClr val="963139"/>
                </a:solidFill>
                <a:latin typeface="Microsoft Sans Serif"/>
                <a:cs typeface="Microsoft Sans Serif"/>
              </a:rPr>
              <a:t>on</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the</a:t>
            </a:r>
            <a:r>
              <a:rPr sz="2400" spc="30" dirty="0">
                <a:solidFill>
                  <a:srgbClr val="963139"/>
                </a:solidFill>
                <a:latin typeface="Microsoft Sans Serif"/>
                <a:cs typeface="Microsoft Sans Serif"/>
              </a:rPr>
              <a:t> </a:t>
            </a:r>
            <a:r>
              <a:rPr sz="2400" spc="-135" dirty="0">
                <a:solidFill>
                  <a:srgbClr val="963139"/>
                </a:solidFill>
                <a:latin typeface="Microsoft Sans Serif"/>
                <a:cs typeface="Microsoft Sans Serif"/>
              </a:rPr>
              <a:t>situation</a:t>
            </a:r>
            <a:endParaRPr sz="2400">
              <a:latin typeface="Microsoft Sans Serif"/>
              <a:cs typeface="Microsoft Sans Serif"/>
            </a:endParaRPr>
          </a:p>
          <a:p>
            <a:pPr marL="378460">
              <a:lnSpc>
                <a:spcPct val="100000"/>
              </a:lnSpc>
              <a:spcBef>
                <a:spcPts val="600"/>
              </a:spcBef>
            </a:pPr>
            <a:r>
              <a:rPr sz="1650" spc="-45" dirty="0">
                <a:solidFill>
                  <a:srgbClr val="676767"/>
                </a:solidFill>
                <a:latin typeface="Microsoft Sans Serif"/>
                <a:cs typeface="Microsoft Sans Serif"/>
              </a:rPr>
              <a:t>🞑</a:t>
            </a:r>
            <a:r>
              <a:rPr sz="1650" spc="204" dirty="0">
                <a:solidFill>
                  <a:srgbClr val="676767"/>
                </a:solidFill>
                <a:latin typeface="Microsoft Sans Serif"/>
                <a:cs typeface="Microsoft Sans Serif"/>
              </a:rPr>
              <a:t> </a:t>
            </a:r>
            <a:r>
              <a:rPr sz="2400" spc="-114" dirty="0">
                <a:solidFill>
                  <a:srgbClr val="963139"/>
                </a:solidFill>
                <a:latin typeface="Microsoft Sans Serif"/>
                <a:cs typeface="Microsoft Sans Serif"/>
              </a:rPr>
              <a:t>Date</a:t>
            </a:r>
            <a:r>
              <a:rPr sz="2400" dirty="0">
                <a:solidFill>
                  <a:srgbClr val="963139"/>
                </a:solidFill>
                <a:latin typeface="Microsoft Sans Serif"/>
                <a:cs typeface="Microsoft Sans Serif"/>
              </a:rPr>
              <a:t> </a:t>
            </a:r>
            <a:r>
              <a:rPr sz="2400" spc="-105" dirty="0">
                <a:solidFill>
                  <a:srgbClr val="963139"/>
                </a:solidFill>
                <a:latin typeface="Microsoft Sans Serif"/>
                <a:cs typeface="Microsoft Sans Serif"/>
              </a:rPr>
              <a:t>and</a:t>
            </a:r>
            <a:r>
              <a:rPr sz="2400" spc="1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time</a:t>
            </a:r>
            <a:endParaRPr sz="2400">
              <a:latin typeface="Microsoft Sans Serif"/>
              <a:cs typeface="Microsoft Sans Serif"/>
            </a:endParaRPr>
          </a:p>
          <a:p>
            <a:pPr marL="378460">
              <a:lnSpc>
                <a:spcPct val="100000"/>
              </a:lnSpc>
              <a:spcBef>
                <a:spcPts val="600"/>
              </a:spcBef>
            </a:pPr>
            <a:r>
              <a:rPr sz="1650" spc="-155" dirty="0">
                <a:solidFill>
                  <a:srgbClr val="676767"/>
                </a:solidFill>
                <a:latin typeface="Microsoft Sans Serif"/>
                <a:cs typeface="Microsoft Sans Serif"/>
              </a:rPr>
              <a:t>🞑 </a:t>
            </a:r>
            <a:r>
              <a:rPr sz="1650" spc="-215" dirty="0">
                <a:solidFill>
                  <a:srgbClr val="676767"/>
                </a:solidFill>
                <a:latin typeface="Microsoft Sans Serif"/>
                <a:cs typeface="Microsoft Sans Serif"/>
              </a:rPr>
              <a:t> </a:t>
            </a:r>
            <a:r>
              <a:rPr sz="2400" spc="-160" dirty="0">
                <a:solidFill>
                  <a:srgbClr val="963139"/>
                </a:solidFill>
                <a:latin typeface="Microsoft Sans Serif"/>
                <a:cs typeface="Microsoft Sans Serif"/>
              </a:rPr>
              <a:t>Specifics</a:t>
            </a:r>
            <a:r>
              <a:rPr sz="2400" spc="30"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8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0" dirty="0">
                <a:solidFill>
                  <a:srgbClr val="963139"/>
                </a:solidFill>
                <a:latin typeface="Microsoft Sans Serif"/>
                <a:cs typeface="Microsoft Sans Serif"/>
              </a:rPr>
              <a:t> </a:t>
            </a:r>
            <a:r>
              <a:rPr sz="2400" spc="-365" dirty="0">
                <a:solidFill>
                  <a:srgbClr val="963139"/>
                </a:solidFill>
                <a:latin typeface="Microsoft Sans Serif"/>
                <a:cs typeface="Microsoft Sans Serif"/>
              </a:rPr>
              <a:t>u</a:t>
            </a:r>
            <a:r>
              <a:rPr sz="2400" spc="-320" dirty="0">
                <a:solidFill>
                  <a:srgbClr val="963139"/>
                </a:solidFill>
                <a:latin typeface="Microsoft Sans Serif"/>
                <a:cs typeface="Microsoft Sans Serif"/>
              </a:rPr>
              <a:t>s</a:t>
            </a:r>
            <a:r>
              <a:rPr sz="2400" spc="-60" dirty="0">
                <a:solidFill>
                  <a:srgbClr val="963139"/>
                </a:solidFill>
                <a:latin typeface="Microsoft Sans Serif"/>
                <a:cs typeface="Microsoft Sans Serif"/>
              </a:rPr>
              <a:t>er</a:t>
            </a:r>
            <a:r>
              <a:rPr sz="2400" spc="-75" dirty="0">
                <a:solidFill>
                  <a:srgbClr val="963139"/>
                </a:solidFill>
                <a:latin typeface="Microsoft Sans Serif"/>
                <a:cs typeface="Microsoft Sans Serif"/>
              </a:rPr>
              <a:t>’</a:t>
            </a:r>
            <a:r>
              <a:rPr sz="2400" spc="-405" dirty="0">
                <a:solidFill>
                  <a:srgbClr val="963139"/>
                </a:solidFill>
                <a:latin typeface="Microsoft Sans Serif"/>
                <a:cs typeface="Microsoft Sans Serif"/>
              </a:rPr>
              <a:t>s</a:t>
            </a:r>
            <a:r>
              <a:rPr sz="2400" spc="15" dirty="0">
                <a:solidFill>
                  <a:srgbClr val="963139"/>
                </a:solidFill>
                <a:latin typeface="Microsoft Sans Serif"/>
                <a:cs typeface="Microsoft Sans Serif"/>
              </a:rPr>
              <a:t> </a:t>
            </a:r>
            <a:r>
              <a:rPr sz="2400" spc="-165" dirty="0">
                <a:solidFill>
                  <a:srgbClr val="963139"/>
                </a:solidFill>
                <a:latin typeface="Microsoft Sans Serif"/>
                <a:cs typeface="Microsoft Sans Serif"/>
              </a:rPr>
              <a:t>reque</a:t>
            </a:r>
            <a:r>
              <a:rPr sz="2400" spc="-155" dirty="0">
                <a:solidFill>
                  <a:srgbClr val="963139"/>
                </a:solidFill>
                <a:latin typeface="Microsoft Sans Serif"/>
                <a:cs typeface="Microsoft Sans Serif"/>
              </a:rPr>
              <a:t>s</a:t>
            </a:r>
            <a:r>
              <a:rPr sz="2400" spc="-20" dirty="0">
                <a:solidFill>
                  <a:srgbClr val="963139"/>
                </a:solidFill>
                <a:latin typeface="Microsoft Sans Serif"/>
                <a:cs typeface="Microsoft Sans Serif"/>
              </a:rPr>
              <a:t>t</a:t>
            </a:r>
            <a:endParaRPr sz="2400">
              <a:latin typeface="Microsoft Sans Serif"/>
              <a:cs typeface="Microsoft Sans Serif"/>
            </a:endParaRPr>
          </a:p>
          <a:p>
            <a:pPr marL="378460">
              <a:lnSpc>
                <a:spcPct val="100000"/>
              </a:lnSpc>
              <a:spcBef>
                <a:spcPts val="600"/>
              </a:spcBef>
            </a:pPr>
            <a:r>
              <a:rPr sz="1650" spc="-155" dirty="0">
                <a:solidFill>
                  <a:srgbClr val="676767"/>
                </a:solidFill>
                <a:latin typeface="Microsoft Sans Serif"/>
                <a:cs typeface="Microsoft Sans Serif"/>
              </a:rPr>
              <a:t>🞑 </a:t>
            </a:r>
            <a:r>
              <a:rPr sz="1650" spc="-215" dirty="0">
                <a:solidFill>
                  <a:srgbClr val="676767"/>
                </a:solidFill>
                <a:latin typeface="Microsoft Sans Serif"/>
                <a:cs typeface="Microsoft Sans Serif"/>
              </a:rPr>
              <a:t> </a:t>
            </a:r>
            <a:r>
              <a:rPr sz="2400" spc="-80" dirty="0">
                <a:solidFill>
                  <a:srgbClr val="963139"/>
                </a:solidFill>
                <a:latin typeface="Microsoft Sans Serif"/>
                <a:cs typeface="Microsoft Sans Serif"/>
              </a:rPr>
              <a:t>Dat</a:t>
            </a:r>
            <a:r>
              <a:rPr sz="2400" spc="-95" dirty="0">
                <a:solidFill>
                  <a:srgbClr val="963139"/>
                </a:solidFill>
                <a:latin typeface="Microsoft Sans Serif"/>
                <a:cs typeface="Microsoft Sans Serif"/>
              </a:rPr>
              <a:t>a</a:t>
            </a:r>
            <a:r>
              <a:rPr sz="2400" spc="-15" dirty="0">
                <a:solidFill>
                  <a:srgbClr val="963139"/>
                </a:solidFill>
                <a:latin typeface="Microsoft Sans Serif"/>
                <a:cs typeface="Microsoft Sans Serif"/>
              </a:rPr>
              <a:t>b</a:t>
            </a:r>
            <a:r>
              <a:rPr sz="2400" spc="-25" dirty="0">
                <a:solidFill>
                  <a:srgbClr val="963139"/>
                </a:solidFill>
                <a:latin typeface="Microsoft Sans Serif"/>
                <a:cs typeface="Microsoft Sans Serif"/>
              </a:rPr>
              <a:t>a</a:t>
            </a:r>
            <a:r>
              <a:rPr sz="2400" spc="-270" dirty="0">
                <a:solidFill>
                  <a:srgbClr val="963139"/>
                </a:solidFill>
                <a:latin typeface="Microsoft Sans Serif"/>
                <a:cs typeface="Microsoft Sans Serif"/>
              </a:rPr>
              <a:t>se</a:t>
            </a:r>
            <a:r>
              <a:rPr sz="2400" spc="45" dirty="0">
                <a:solidFill>
                  <a:srgbClr val="963139"/>
                </a:solidFill>
                <a:latin typeface="Microsoft Sans Serif"/>
                <a:cs typeface="Microsoft Sans Serif"/>
              </a:rPr>
              <a:t> </a:t>
            </a:r>
            <a:r>
              <a:rPr sz="2400" spc="-185" dirty="0">
                <a:solidFill>
                  <a:srgbClr val="963139"/>
                </a:solidFill>
                <a:latin typeface="Microsoft Sans Serif"/>
                <a:cs typeface="Microsoft Sans Serif"/>
              </a:rPr>
              <a:t>conte</a:t>
            </a:r>
            <a:r>
              <a:rPr sz="2400" spc="-204" dirty="0">
                <a:solidFill>
                  <a:srgbClr val="963139"/>
                </a:solidFill>
                <a:latin typeface="Microsoft Sans Serif"/>
                <a:cs typeface="Microsoft Sans Serif"/>
              </a:rPr>
              <a:t>n</a:t>
            </a:r>
            <a:r>
              <a:rPr sz="2400" spc="-210" dirty="0">
                <a:solidFill>
                  <a:srgbClr val="963139"/>
                </a:solidFill>
                <a:latin typeface="Microsoft Sans Serif"/>
                <a:cs typeface="Microsoft Sans Serif"/>
              </a:rPr>
              <a:t>ts</a:t>
            </a:r>
            <a:r>
              <a:rPr sz="2400" spc="15" dirty="0">
                <a:solidFill>
                  <a:srgbClr val="963139"/>
                </a:solidFill>
                <a:latin typeface="Microsoft Sans Serif"/>
                <a:cs typeface="Microsoft Sans Serif"/>
              </a:rPr>
              <a:t> </a:t>
            </a:r>
            <a:r>
              <a:rPr sz="2400" spc="495" dirty="0">
                <a:solidFill>
                  <a:srgbClr val="963139"/>
                </a:solidFill>
                <a:latin typeface="Microsoft Sans Serif"/>
                <a:cs typeface="Microsoft Sans Serif"/>
              </a:rPr>
              <a:t>–</a:t>
            </a:r>
            <a:r>
              <a:rPr sz="2400" spc="20" dirty="0">
                <a:solidFill>
                  <a:srgbClr val="963139"/>
                </a:solidFill>
                <a:latin typeface="Microsoft Sans Serif"/>
                <a:cs typeface="Microsoft Sans Serif"/>
              </a:rPr>
              <a:t> </a:t>
            </a:r>
            <a:r>
              <a:rPr sz="2400" spc="85" dirty="0">
                <a:solidFill>
                  <a:srgbClr val="963139"/>
                </a:solidFill>
                <a:latin typeface="Microsoft Sans Serif"/>
                <a:cs typeface="Microsoft Sans Serif"/>
              </a:rPr>
              <a:t>f</a:t>
            </a:r>
            <a:r>
              <a:rPr sz="2400" spc="-85" dirty="0">
                <a:solidFill>
                  <a:srgbClr val="963139"/>
                </a:solidFill>
                <a:latin typeface="Microsoft Sans Serif"/>
                <a:cs typeface="Microsoft Sans Serif"/>
              </a:rPr>
              <a:t>o</a:t>
            </a:r>
            <a:r>
              <a:rPr sz="2400" spc="-5" dirty="0">
                <a:solidFill>
                  <a:srgbClr val="963139"/>
                </a:solidFill>
                <a:latin typeface="Microsoft Sans Serif"/>
                <a:cs typeface="Microsoft Sans Serif"/>
              </a:rPr>
              <a:t>r</a:t>
            </a:r>
            <a:r>
              <a:rPr sz="2400" spc="-400" dirty="0">
                <a:solidFill>
                  <a:srgbClr val="963139"/>
                </a:solidFill>
                <a:latin typeface="Microsoft Sans Serif"/>
                <a:cs typeface="Microsoft Sans Serif"/>
              </a:rPr>
              <a:t>ms</a:t>
            </a:r>
            <a:r>
              <a:rPr sz="2400" spc="20" dirty="0">
                <a:solidFill>
                  <a:srgbClr val="963139"/>
                </a:solidFill>
                <a:latin typeface="Microsoft Sans Serif"/>
                <a:cs typeface="Microsoft Sans Serif"/>
              </a:rPr>
              <a:t> </a:t>
            </a:r>
            <a:r>
              <a:rPr sz="2400" spc="-25" dirty="0">
                <a:solidFill>
                  <a:srgbClr val="963139"/>
                </a:solidFill>
                <a:latin typeface="Microsoft Sans Serif"/>
                <a:cs typeface="Microsoft Sans Serif"/>
              </a:rPr>
              <a:t>a</a:t>
            </a:r>
            <a:r>
              <a:rPr sz="2400" spc="-150" dirty="0">
                <a:solidFill>
                  <a:srgbClr val="963139"/>
                </a:solidFill>
                <a:latin typeface="Microsoft Sans Serif"/>
                <a:cs typeface="Microsoft Sans Serif"/>
              </a:rPr>
              <a:t>nd</a:t>
            </a:r>
            <a:r>
              <a:rPr sz="2400" spc="25" dirty="0">
                <a:solidFill>
                  <a:srgbClr val="963139"/>
                </a:solidFill>
                <a:latin typeface="Microsoft Sans Serif"/>
                <a:cs typeface="Microsoft Sans Serif"/>
              </a:rPr>
              <a:t> </a:t>
            </a:r>
            <a:r>
              <a:rPr sz="2400" spc="-25" dirty="0">
                <a:solidFill>
                  <a:srgbClr val="963139"/>
                </a:solidFill>
                <a:latin typeface="Microsoft Sans Serif"/>
                <a:cs typeface="Microsoft Sans Serif"/>
              </a:rPr>
              <a:t>a</a:t>
            </a:r>
            <a:r>
              <a:rPr sz="2400" spc="-195" dirty="0">
                <a:solidFill>
                  <a:srgbClr val="963139"/>
                </a:solidFill>
                <a:latin typeface="Microsoft Sans Serif"/>
                <a:cs typeface="Microsoft Sans Serif"/>
              </a:rPr>
              <a:t>uth</a:t>
            </a:r>
            <a:r>
              <a:rPr sz="2400" spc="-120" dirty="0">
                <a:solidFill>
                  <a:srgbClr val="963139"/>
                </a:solidFill>
                <a:latin typeface="Microsoft Sans Serif"/>
                <a:cs typeface="Microsoft Sans Serif"/>
              </a:rPr>
              <a:t>entication</a:t>
            </a:r>
            <a:endParaRPr sz="2400">
              <a:latin typeface="Microsoft Sans Serif"/>
              <a:cs typeface="Microsoft Sans Serif"/>
            </a:endParaRPr>
          </a:p>
        </p:txBody>
      </p:sp>
      <p:pic>
        <p:nvPicPr>
          <p:cNvPr id="4" name="object 4"/>
          <p:cNvPicPr/>
          <p:nvPr/>
        </p:nvPicPr>
        <p:blipFill>
          <a:blip r:embed="rId2" cstate="print"/>
          <a:stretch>
            <a:fillRect/>
          </a:stretch>
        </p:blipFill>
        <p:spPr>
          <a:xfrm>
            <a:off x="5448300" y="4267200"/>
            <a:ext cx="638175" cy="876300"/>
          </a:xfrm>
          <a:prstGeom prst="rect">
            <a:avLst/>
          </a:prstGeom>
        </p:spPr>
      </p:pic>
      <p:sp>
        <p:nvSpPr>
          <p:cNvPr id="5" name="object 5"/>
          <p:cNvSpPr txBox="1"/>
          <p:nvPr/>
        </p:nvSpPr>
        <p:spPr>
          <a:xfrm>
            <a:off x="307340" y="5203393"/>
            <a:ext cx="1001394" cy="300355"/>
          </a:xfrm>
          <a:prstGeom prst="rect">
            <a:avLst/>
          </a:prstGeom>
        </p:spPr>
        <p:txBody>
          <a:bodyPr vert="horz" wrap="square" lIns="0" tIns="12700" rIns="0" bIns="0" rtlCol="0">
            <a:spAutoFit/>
          </a:bodyPr>
          <a:lstStyle/>
          <a:p>
            <a:pPr marL="12700">
              <a:lnSpc>
                <a:spcPct val="100000"/>
              </a:lnSpc>
              <a:spcBef>
                <a:spcPts val="100"/>
              </a:spcBef>
            </a:pPr>
            <a:r>
              <a:rPr sz="1800" spc="-355" dirty="0">
                <a:solidFill>
                  <a:srgbClr val="963139"/>
                </a:solidFill>
                <a:latin typeface="Microsoft Sans Serif"/>
                <a:cs typeface="Microsoft Sans Serif"/>
              </a:rPr>
              <a:t>Y</a:t>
            </a:r>
            <a:r>
              <a:rPr sz="1800" spc="-160" dirty="0">
                <a:solidFill>
                  <a:srgbClr val="963139"/>
                </a:solidFill>
                <a:latin typeface="Microsoft Sans Serif"/>
                <a:cs typeface="Microsoft Sans Serif"/>
              </a:rPr>
              <a:t>ou</a:t>
            </a:r>
            <a:r>
              <a:rPr sz="1800" spc="15" dirty="0">
                <a:solidFill>
                  <a:srgbClr val="963139"/>
                </a:solidFill>
                <a:latin typeface="Microsoft Sans Serif"/>
                <a:cs typeface="Microsoft Sans Serif"/>
              </a:rPr>
              <a:t> </a:t>
            </a:r>
            <a:r>
              <a:rPr sz="1800" spc="-110" dirty="0">
                <a:solidFill>
                  <a:srgbClr val="963139"/>
                </a:solidFill>
                <a:latin typeface="Microsoft Sans Serif"/>
                <a:cs typeface="Microsoft Sans Serif"/>
              </a:rPr>
              <a:t>(clien</a:t>
            </a:r>
            <a:r>
              <a:rPr sz="1800" spc="-65" dirty="0">
                <a:solidFill>
                  <a:srgbClr val="963139"/>
                </a:solidFill>
                <a:latin typeface="Microsoft Sans Serif"/>
                <a:cs typeface="Microsoft Sans Serif"/>
              </a:rPr>
              <a:t>t)</a:t>
            </a:r>
            <a:endParaRPr sz="1800">
              <a:latin typeface="Microsoft Sans Serif"/>
              <a:cs typeface="Microsoft Sans Serif"/>
            </a:endParaRPr>
          </a:p>
        </p:txBody>
      </p:sp>
      <p:sp>
        <p:nvSpPr>
          <p:cNvPr id="6" name="object 6"/>
          <p:cNvSpPr txBox="1"/>
          <p:nvPr/>
        </p:nvSpPr>
        <p:spPr>
          <a:xfrm>
            <a:off x="5261228" y="5203393"/>
            <a:ext cx="1097280" cy="300355"/>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963139"/>
                </a:solidFill>
                <a:latin typeface="Microsoft Sans Serif"/>
                <a:cs typeface="Microsoft Sans Serif"/>
              </a:rPr>
              <a:t>Web</a:t>
            </a:r>
            <a:r>
              <a:rPr sz="1800" spc="-50" dirty="0">
                <a:solidFill>
                  <a:srgbClr val="963139"/>
                </a:solidFill>
                <a:latin typeface="Microsoft Sans Serif"/>
                <a:cs typeface="Microsoft Sans Serif"/>
              </a:rPr>
              <a:t> </a:t>
            </a:r>
            <a:r>
              <a:rPr sz="1800" spc="-100" dirty="0">
                <a:solidFill>
                  <a:srgbClr val="963139"/>
                </a:solidFill>
                <a:latin typeface="Microsoft Sans Serif"/>
                <a:cs typeface="Microsoft Sans Serif"/>
              </a:rPr>
              <a:t>server</a:t>
            </a:r>
            <a:endParaRPr sz="1800">
              <a:latin typeface="Microsoft Sans Serif"/>
              <a:cs typeface="Microsoft Sans Serif"/>
            </a:endParaRPr>
          </a:p>
        </p:txBody>
      </p:sp>
      <p:pic>
        <p:nvPicPr>
          <p:cNvPr id="7" name="object 7"/>
          <p:cNvPicPr/>
          <p:nvPr/>
        </p:nvPicPr>
        <p:blipFill>
          <a:blip r:embed="rId3" cstate="print"/>
          <a:stretch>
            <a:fillRect/>
          </a:stretch>
        </p:blipFill>
        <p:spPr>
          <a:xfrm>
            <a:off x="367677" y="4267263"/>
            <a:ext cx="927722" cy="990790"/>
          </a:xfrm>
          <a:prstGeom prst="rect">
            <a:avLst/>
          </a:prstGeom>
        </p:spPr>
      </p:pic>
      <p:grpSp>
        <p:nvGrpSpPr>
          <p:cNvPr id="8" name="object 8"/>
          <p:cNvGrpSpPr/>
          <p:nvPr/>
        </p:nvGrpSpPr>
        <p:grpSpPr>
          <a:xfrm>
            <a:off x="1666875" y="4257675"/>
            <a:ext cx="3524250" cy="552450"/>
            <a:chOff x="1666875" y="4257675"/>
            <a:chExt cx="3524250" cy="552450"/>
          </a:xfrm>
        </p:grpSpPr>
        <p:sp>
          <p:nvSpPr>
            <p:cNvPr id="9" name="object 9"/>
            <p:cNvSpPr/>
            <p:nvPr/>
          </p:nvSpPr>
          <p:spPr>
            <a:xfrm>
              <a:off x="1676400" y="4267200"/>
              <a:ext cx="3505200" cy="533400"/>
            </a:xfrm>
            <a:custGeom>
              <a:avLst/>
              <a:gdLst/>
              <a:ahLst/>
              <a:cxnLst/>
              <a:rect l="l" t="t" r="r" b="b"/>
              <a:pathLst>
                <a:path w="3505200" h="533400">
                  <a:moveTo>
                    <a:pt x="3238500" y="0"/>
                  </a:moveTo>
                  <a:lnTo>
                    <a:pt x="3238500" y="133350"/>
                  </a:lnTo>
                  <a:lnTo>
                    <a:pt x="0" y="133350"/>
                  </a:lnTo>
                  <a:lnTo>
                    <a:pt x="0" y="400050"/>
                  </a:lnTo>
                  <a:lnTo>
                    <a:pt x="3238500" y="400050"/>
                  </a:lnTo>
                  <a:lnTo>
                    <a:pt x="3238500" y="533400"/>
                  </a:lnTo>
                  <a:lnTo>
                    <a:pt x="3505200" y="266700"/>
                  </a:lnTo>
                  <a:lnTo>
                    <a:pt x="3238500" y="0"/>
                  </a:lnTo>
                  <a:close/>
                </a:path>
              </a:pathLst>
            </a:custGeom>
            <a:solidFill>
              <a:srgbClr val="963139"/>
            </a:solidFill>
          </p:spPr>
          <p:txBody>
            <a:bodyPr wrap="square" lIns="0" tIns="0" rIns="0" bIns="0" rtlCol="0"/>
            <a:lstStyle/>
            <a:p>
              <a:endParaRPr/>
            </a:p>
          </p:txBody>
        </p:sp>
        <p:sp>
          <p:nvSpPr>
            <p:cNvPr id="10" name="object 10"/>
            <p:cNvSpPr/>
            <p:nvPr/>
          </p:nvSpPr>
          <p:spPr>
            <a:xfrm>
              <a:off x="1676400" y="4267200"/>
              <a:ext cx="3505200" cy="533400"/>
            </a:xfrm>
            <a:custGeom>
              <a:avLst/>
              <a:gdLst/>
              <a:ahLst/>
              <a:cxnLst/>
              <a:rect l="l" t="t" r="r" b="b"/>
              <a:pathLst>
                <a:path w="3505200" h="533400">
                  <a:moveTo>
                    <a:pt x="0" y="133350"/>
                  </a:moveTo>
                  <a:lnTo>
                    <a:pt x="3238500" y="133350"/>
                  </a:lnTo>
                  <a:lnTo>
                    <a:pt x="3238500" y="0"/>
                  </a:lnTo>
                  <a:lnTo>
                    <a:pt x="3505200" y="266700"/>
                  </a:lnTo>
                  <a:lnTo>
                    <a:pt x="3238500" y="533400"/>
                  </a:lnTo>
                  <a:lnTo>
                    <a:pt x="3238500" y="400050"/>
                  </a:lnTo>
                  <a:lnTo>
                    <a:pt x="0" y="400050"/>
                  </a:lnTo>
                  <a:lnTo>
                    <a:pt x="0" y="133350"/>
                  </a:lnTo>
                  <a:close/>
                </a:path>
              </a:pathLst>
            </a:custGeom>
            <a:ln w="19050">
              <a:solidFill>
                <a:srgbClr val="494949"/>
              </a:solidFill>
            </a:ln>
          </p:spPr>
          <p:txBody>
            <a:bodyPr wrap="square" lIns="0" tIns="0" rIns="0" bIns="0" rtlCol="0"/>
            <a:lstStyle/>
            <a:p>
              <a:endParaRPr/>
            </a:p>
          </p:txBody>
        </p:sp>
      </p:grpSp>
      <p:sp>
        <p:nvSpPr>
          <p:cNvPr id="11" name="object 11"/>
          <p:cNvSpPr txBox="1"/>
          <p:nvPr/>
        </p:nvSpPr>
        <p:spPr>
          <a:xfrm>
            <a:off x="1602994" y="3984117"/>
            <a:ext cx="3548379" cy="299720"/>
          </a:xfrm>
          <a:prstGeom prst="rect">
            <a:avLst/>
          </a:prstGeom>
        </p:spPr>
        <p:txBody>
          <a:bodyPr vert="horz" wrap="square" lIns="0" tIns="12700" rIns="0" bIns="0" rtlCol="0">
            <a:spAutoFit/>
          </a:bodyPr>
          <a:lstStyle/>
          <a:p>
            <a:pPr marL="12700">
              <a:lnSpc>
                <a:spcPct val="100000"/>
              </a:lnSpc>
              <a:spcBef>
                <a:spcPts val="100"/>
              </a:spcBef>
            </a:pPr>
            <a:r>
              <a:rPr sz="1800" spc="-285" dirty="0">
                <a:solidFill>
                  <a:srgbClr val="963139"/>
                </a:solidFill>
                <a:latin typeface="Microsoft Sans Serif"/>
                <a:cs typeface="Microsoft Sans Serif"/>
              </a:rPr>
              <a:t>H</a:t>
            </a:r>
            <a:r>
              <a:rPr sz="1800" spc="-235" dirty="0">
                <a:solidFill>
                  <a:srgbClr val="963139"/>
                </a:solidFill>
                <a:latin typeface="Microsoft Sans Serif"/>
                <a:cs typeface="Microsoft Sans Serif"/>
              </a:rPr>
              <a:t>T</a:t>
            </a:r>
            <a:r>
              <a:rPr sz="1800" spc="-310" dirty="0">
                <a:solidFill>
                  <a:srgbClr val="963139"/>
                </a:solidFill>
                <a:latin typeface="Microsoft Sans Serif"/>
                <a:cs typeface="Microsoft Sans Serif"/>
              </a:rPr>
              <a:t>TP</a:t>
            </a:r>
            <a:r>
              <a:rPr sz="1800" spc="15" dirty="0">
                <a:solidFill>
                  <a:srgbClr val="963139"/>
                </a:solidFill>
                <a:latin typeface="Microsoft Sans Serif"/>
                <a:cs typeface="Microsoft Sans Serif"/>
              </a:rPr>
              <a:t> </a:t>
            </a:r>
            <a:r>
              <a:rPr sz="1800" spc="-450" dirty="0">
                <a:solidFill>
                  <a:srgbClr val="963139"/>
                </a:solidFill>
                <a:latin typeface="Microsoft Sans Serif"/>
                <a:cs typeface="Microsoft Sans Serif"/>
              </a:rPr>
              <a:t>R</a:t>
            </a:r>
            <a:r>
              <a:rPr sz="1800" spc="-110" dirty="0">
                <a:solidFill>
                  <a:srgbClr val="963139"/>
                </a:solidFill>
                <a:latin typeface="Microsoft Sans Serif"/>
                <a:cs typeface="Microsoft Sans Serif"/>
              </a:rPr>
              <a:t>equ</a:t>
            </a:r>
            <a:r>
              <a:rPr sz="1800" spc="-130" dirty="0">
                <a:solidFill>
                  <a:srgbClr val="963139"/>
                </a:solidFill>
                <a:latin typeface="Microsoft Sans Serif"/>
                <a:cs typeface="Microsoft Sans Serif"/>
              </a:rPr>
              <a:t>est:</a:t>
            </a:r>
            <a:r>
              <a:rPr sz="1800" spc="5" dirty="0">
                <a:solidFill>
                  <a:srgbClr val="963139"/>
                </a:solidFill>
                <a:latin typeface="Microsoft Sans Serif"/>
                <a:cs typeface="Microsoft Sans Serif"/>
              </a:rPr>
              <a:t> </a:t>
            </a:r>
            <a:r>
              <a:rPr sz="1800" spc="-229" dirty="0">
                <a:solidFill>
                  <a:srgbClr val="963139"/>
                </a:solidFill>
                <a:latin typeface="Microsoft Sans Serif"/>
                <a:cs typeface="Microsoft Sans Serif"/>
              </a:rPr>
              <a:t>G</a:t>
            </a:r>
            <a:r>
              <a:rPr sz="1800" spc="-195" dirty="0">
                <a:solidFill>
                  <a:srgbClr val="963139"/>
                </a:solidFill>
                <a:latin typeface="Microsoft Sans Serif"/>
                <a:cs typeface="Microsoft Sans Serif"/>
              </a:rPr>
              <a:t>E</a:t>
            </a:r>
            <a:r>
              <a:rPr sz="1800" spc="-315" dirty="0">
                <a:solidFill>
                  <a:srgbClr val="963139"/>
                </a:solidFill>
                <a:latin typeface="Microsoft Sans Serif"/>
                <a:cs typeface="Microsoft Sans Serif"/>
              </a:rPr>
              <a:t>T</a:t>
            </a:r>
            <a:r>
              <a:rPr sz="1800" spc="5" dirty="0">
                <a:solidFill>
                  <a:srgbClr val="963139"/>
                </a:solidFill>
                <a:latin typeface="Microsoft Sans Serif"/>
                <a:cs typeface="Microsoft Sans Serif"/>
              </a:rPr>
              <a:t> </a:t>
            </a:r>
            <a:r>
              <a:rPr sz="1800" spc="-100" dirty="0">
                <a:solidFill>
                  <a:srgbClr val="963139"/>
                </a:solidFill>
                <a:latin typeface="Microsoft Sans Serif"/>
                <a:cs typeface="Microsoft Sans Serif"/>
                <a:hlinkClick r:id="rId4"/>
              </a:rPr>
              <a:t>ww</a:t>
            </a:r>
            <a:r>
              <a:rPr sz="1800" spc="-210" dirty="0">
                <a:solidFill>
                  <a:srgbClr val="963139"/>
                </a:solidFill>
                <a:latin typeface="Microsoft Sans Serif"/>
                <a:cs typeface="Microsoft Sans Serif"/>
                <a:hlinkClick r:id="rId4"/>
              </a:rPr>
              <a:t>w</a:t>
            </a:r>
            <a:r>
              <a:rPr sz="1800" spc="-60" dirty="0">
                <a:solidFill>
                  <a:srgbClr val="963139"/>
                </a:solidFill>
                <a:latin typeface="Microsoft Sans Serif"/>
                <a:cs typeface="Microsoft Sans Serif"/>
                <a:hlinkClick r:id="rId4"/>
              </a:rPr>
              <a:t>.fa</a:t>
            </a:r>
            <a:r>
              <a:rPr sz="1800" spc="-65" dirty="0">
                <a:solidFill>
                  <a:srgbClr val="963139"/>
                </a:solidFill>
                <a:latin typeface="Microsoft Sans Serif"/>
                <a:cs typeface="Microsoft Sans Serif"/>
                <a:hlinkClick r:id="rId4"/>
              </a:rPr>
              <a:t>c</a:t>
            </a:r>
            <a:r>
              <a:rPr sz="1800" spc="-145" dirty="0">
                <a:solidFill>
                  <a:srgbClr val="963139"/>
                </a:solidFill>
                <a:latin typeface="Microsoft Sans Serif"/>
                <a:cs typeface="Microsoft Sans Serif"/>
                <a:hlinkClick r:id="rId4"/>
              </a:rPr>
              <a:t>e</a:t>
            </a:r>
            <a:r>
              <a:rPr sz="1800" spc="-85" dirty="0">
                <a:solidFill>
                  <a:srgbClr val="963139"/>
                </a:solidFill>
                <a:latin typeface="Microsoft Sans Serif"/>
                <a:cs typeface="Microsoft Sans Serif"/>
                <a:hlinkClick r:id="rId4"/>
              </a:rPr>
              <a:t>book</a:t>
            </a:r>
            <a:r>
              <a:rPr sz="1800" spc="-185" dirty="0">
                <a:solidFill>
                  <a:srgbClr val="963139"/>
                </a:solidFill>
                <a:latin typeface="Microsoft Sans Serif"/>
                <a:cs typeface="Microsoft Sans Serif"/>
                <a:hlinkClick r:id="rId4"/>
              </a:rPr>
              <a:t>.com</a:t>
            </a:r>
            <a:endParaRPr sz="1800">
              <a:latin typeface="Microsoft Sans Serif"/>
              <a:cs typeface="Microsoft Sans Serif"/>
            </a:endParaRPr>
          </a:p>
        </p:txBody>
      </p:sp>
      <p:grpSp>
        <p:nvGrpSpPr>
          <p:cNvPr id="12" name="object 12"/>
          <p:cNvGrpSpPr/>
          <p:nvPr/>
        </p:nvGrpSpPr>
        <p:grpSpPr>
          <a:xfrm>
            <a:off x="1590675" y="5019675"/>
            <a:ext cx="3524250" cy="552450"/>
            <a:chOff x="1590675" y="5019675"/>
            <a:chExt cx="3524250" cy="552450"/>
          </a:xfrm>
        </p:grpSpPr>
        <p:sp>
          <p:nvSpPr>
            <p:cNvPr id="13" name="object 13"/>
            <p:cNvSpPr/>
            <p:nvPr/>
          </p:nvSpPr>
          <p:spPr>
            <a:xfrm>
              <a:off x="1600200" y="5029200"/>
              <a:ext cx="3505200" cy="533400"/>
            </a:xfrm>
            <a:custGeom>
              <a:avLst/>
              <a:gdLst/>
              <a:ahLst/>
              <a:cxnLst/>
              <a:rect l="l" t="t" r="r" b="b"/>
              <a:pathLst>
                <a:path w="3505200" h="533400">
                  <a:moveTo>
                    <a:pt x="266700" y="0"/>
                  </a:moveTo>
                  <a:lnTo>
                    <a:pt x="0" y="266700"/>
                  </a:lnTo>
                  <a:lnTo>
                    <a:pt x="266700" y="533400"/>
                  </a:lnTo>
                  <a:lnTo>
                    <a:pt x="266700" y="400050"/>
                  </a:lnTo>
                  <a:lnTo>
                    <a:pt x="3505200" y="400050"/>
                  </a:lnTo>
                  <a:lnTo>
                    <a:pt x="3505200" y="133350"/>
                  </a:lnTo>
                  <a:lnTo>
                    <a:pt x="266700" y="133350"/>
                  </a:lnTo>
                  <a:lnTo>
                    <a:pt x="266700" y="0"/>
                  </a:lnTo>
                  <a:close/>
                </a:path>
              </a:pathLst>
            </a:custGeom>
            <a:solidFill>
              <a:srgbClr val="00AF50"/>
            </a:solidFill>
          </p:spPr>
          <p:txBody>
            <a:bodyPr wrap="square" lIns="0" tIns="0" rIns="0" bIns="0" rtlCol="0"/>
            <a:lstStyle/>
            <a:p>
              <a:endParaRPr/>
            </a:p>
          </p:txBody>
        </p:sp>
        <p:sp>
          <p:nvSpPr>
            <p:cNvPr id="14" name="object 14"/>
            <p:cNvSpPr/>
            <p:nvPr/>
          </p:nvSpPr>
          <p:spPr>
            <a:xfrm>
              <a:off x="1600200" y="5029200"/>
              <a:ext cx="3505200" cy="533400"/>
            </a:xfrm>
            <a:custGeom>
              <a:avLst/>
              <a:gdLst/>
              <a:ahLst/>
              <a:cxnLst/>
              <a:rect l="l" t="t" r="r" b="b"/>
              <a:pathLst>
                <a:path w="3505200" h="533400">
                  <a:moveTo>
                    <a:pt x="3505200" y="133350"/>
                  </a:moveTo>
                  <a:lnTo>
                    <a:pt x="266700" y="133350"/>
                  </a:lnTo>
                  <a:lnTo>
                    <a:pt x="266700" y="0"/>
                  </a:lnTo>
                  <a:lnTo>
                    <a:pt x="0" y="266700"/>
                  </a:lnTo>
                  <a:lnTo>
                    <a:pt x="266700" y="533400"/>
                  </a:lnTo>
                  <a:lnTo>
                    <a:pt x="266700" y="400050"/>
                  </a:lnTo>
                  <a:lnTo>
                    <a:pt x="3505200" y="400050"/>
                  </a:lnTo>
                  <a:lnTo>
                    <a:pt x="3505200" y="133350"/>
                  </a:lnTo>
                  <a:close/>
                </a:path>
              </a:pathLst>
            </a:custGeom>
            <a:ln w="19050">
              <a:solidFill>
                <a:srgbClr val="494949"/>
              </a:solidFill>
            </a:ln>
          </p:spPr>
          <p:txBody>
            <a:bodyPr wrap="square" lIns="0" tIns="0" rIns="0" bIns="0" rtlCol="0"/>
            <a:lstStyle/>
            <a:p>
              <a:endParaRPr/>
            </a:p>
          </p:txBody>
        </p:sp>
      </p:grpSp>
      <p:sp>
        <p:nvSpPr>
          <p:cNvPr id="15" name="object 15"/>
          <p:cNvSpPr txBox="1"/>
          <p:nvPr/>
        </p:nvSpPr>
        <p:spPr>
          <a:xfrm>
            <a:off x="1602994" y="5660847"/>
            <a:ext cx="36449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310" dirty="0">
                <a:solidFill>
                  <a:srgbClr val="00AF50"/>
                </a:solidFill>
                <a:latin typeface="Microsoft Sans Serif"/>
                <a:cs typeface="Microsoft Sans Serif"/>
              </a:rPr>
              <a:t>TP</a:t>
            </a:r>
            <a:r>
              <a:rPr sz="1800" spc="15" dirty="0">
                <a:solidFill>
                  <a:srgbClr val="00AF50"/>
                </a:solidFill>
                <a:latin typeface="Microsoft Sans Serif"/>
                <a:cs typeface="Microsoft Sans Serif"/>
              </a:rPr>
              <a:t> </a:t>
            </a:r>
            <a:r>
              <a:rPr sz="1800" spc="-450" dirty="0">
                <a:solidFill>
                  <a:srgbClr val="00AF50"/>
                </a:solidFill>
                <a:latin typeface="Microsoft Sans Serif"/>
                <a:cs typeface="Microsoft Sans Serif"/>
              </a:rPr>
              <a:t>R</a:t>
            </a:r>
            <a:r>
              <a:rPr sz="1800" spc="-145" dirty="0">
                <a:solidFill>
                  <a:srgbClr val="00AF50"/>
                </a:solidFill>
                <a:latin typeface="Microsoft Sans Serif"/>
                <a:cs typeface="Microsoft Sans Serif"/>
              </a:rPr>
              <a:t>espon</a:t>
            </a:r>
            <a:r>
              <a:rPr sz="1800" spc="-170" dirty="0">
                <a:solidFill>
                  <a:srgbClr val="00AF50"/>
                </a:solidFill>
                <a:latin typeface="Microsoft Sans Serif"/>
                <a:cs typeface="Microsoft Sans Serif"/>
              </a:rPr>
              <a:t>se:</a:t>
            </a:r>
            <a:r>
              <a:rPr sz="1800" dirty="0">
                <a:solidFill>
                  <a:srgbClr val="00AF50"/>
                </a:solidFill>
                <a:latin typeface="Microsoft Sans Serif"/>
                <a:cs typeface="Microsoft Sans Serif"/>
              </a:rPr>
              <a:t> </a:t>
            </a:r>
            <a:r>
              <a:rPr sz="1800" spc="-140" dirty="0">
                <a:solidFill>
                  <a:srgbClr val="00AF50"/>
                </a:solidFill>
                <a:latin typeface="Microsoft Sans Serif"/>
                <a:cs typeface="Microsoft Sans Serif"/>
              </a:rPr>
              <a:t>w</a:t>
            </a:r>
            <a:r>
              <a:rPr sz="1800" spc="-145" dirty="0">
                <a:solidFill>
                  <a:srgbClr val="00AF50"/>
                </a:solidFill>
                <a:latin typeface="Microsoft Sans Serif"/>
                <a:cs typeface="Microsoft Sans Serif"/>
              </a:rPr>
              <a:t>e</a:t>
            </a:r>
            <a:r>
              <a:rPr sz="1800" spc="-10" dirty="0">
                <a:solidFill>
                  <a:srgbClr val="00AF50"/>
                </a:solidFill>
                <a:latin typeface="Microsoft Sans Serif"/>
                <a:cs typeface="Microsoft Sans Serif"/>
              </a:rPr>
              <a:t>b</a:t>
            </a:r>
            <a:r>
              <a:rPr sz="1800" spc="15" dirty="0">
                <a:solidFill>
                  <a:srgbClr val="00AF50"/>
                </a:solidFill>
                <a:latin typeface="Microsoft Sans Serif"/>
                <a:cs typeface="Microsoft Sans Serif"/>
              </a:rPr>
              <a:t> </a:t>
            </a:r>
            <a:r>
              <a:rPr sz="1800" spc="-155" dirty="0">
                <a:solidFill>
                  <a:srgbClr val="00AF50"/>
                </a:solidFill>
                <a:latin typeface="Microsoft Sans Serif"/>
                <a:cs typeface="Microsoft Sans Serif"/>
              </a:rPr>
              <a:t>con</a:t>
            </a:r>
            <a:r>
              <a:rPr sz="1800" spc="-75" dirty="0">
                <a:solidFill>
                  <a:srgbClr val="00AF50"/>
                </a:solidFill>
                <a:latin typeface="Microsoft Sans Serif"/>
                <a:cs typeface="Microsoft Sans Serif"/>
              </a:rPr>
              <a:t>t</a:t>
            </a:r>
            <a:r>
              <a:rPr sz="1800" spc="-110" dirty="0">
                <a:solidFill>
                  <a:srgbClr val="00AF50"/>
                </a:solidFill>
                <a:latin typeface="Microsoft Sans Serif"/>
                <a:cs typeface="Microsoft Sans Serif"/>
              </a:rPr>
              <a:t>ent</a:t>
            </a:r>
            <a:r>
              <a:rPr sz="1800" spc="-5" dirty="0">
                <a:solidFill>
                  <a:srgbClr val="00AF50"/>
                </a:solidFill>
                <a:latin typeface="Microsoft Sans Serif"/>
                <a:cs typeface="Microsoft Sans Serif"/>
              </a:rPr>
              <a:t> </a:t>
            </a:r>
            <a:r>
              <a:rPr sz="1800" spc="-105" dirty="0">
                <a:solidFill>
                  <a:srgbClr val="00AF50"/>
                </a:solidFill>
                <a:latin typeface="Microsoft Sans Serif"/>
                <a:cs typeface="Microsoft Sans Serif"/>
              </a:rPr>
              <a:t>(</a:t>
            </a:r>
            <a:r>
              <a:rPr sz="1800" spc="-220" dirty="0">
                <a:solidFill>
                  <a:srgbClr val="00AF50"/>
                </a:solidFill>
                <a:latin typeface="Microsoft Sans Serif"/>
                <a:cs typeface="Microsoft Sans Serif"/>
              </a:rPr>
              <a:t>H</a:t>
            </a:r>
            <a:r>
              <a:rPr sz="1800" spc="-180" dirty="0">
                <a:solidFill>
                  <a:srgbClr val="00AF50"/>
                </a:solidFill>
                <a:latin typeface="Microsoft Sans Serif"/>
                <a:cs typeface="Microsoft Sans Serif"/>
              </a:rPr>
              <a:t>T</a:t>
            </a:r>
            <a:r>
              <a:rPr sz="1800" spc="-240" dirty="0">
                <a:solidFill>
                  <a:srgbClr val="00AF50"/>
                </a:solidFill>
                <a:latin typeface="Microsoft Sans Serif"/>
                <a:cs typeface="Microsoft Sans Serif"/>
              </a:rPr>
              <a:t>M</a:t>
            </a:r>
            <a:r>
              <a:rPr sz="1800" spc="-310" dirty="0">
                <a:solidFill>
                  <a:srgbClr val="00AF50"/>
                </a:solidFill>
                <a:latin typeface="Microsoft Sans Serif"/>
                <a:cs typeface="Microsoft Sans Serif"/>
              </a:rPr>
              <a:t>L</a:t>
            </a:r>
            <a:r>
              <a:rPr sz="1800" spc="5" dirty="0">
                <a:solidFill>
                  <a:srgbClr val="00AF50"/>
                </a:solidFill>
                <a:latin typeface="Microsoft Sans Serif"/>
                <a:cs typeface="Microsoft Sans Serif"/>
              </a:rPr>
              <a:t> </a:t>
            </a:r>
            <a:r>
              <a:rPr sz="1800" spc="-30" dirty="0">
                <a:solidFill>
                  <a:srgbClr val="00AF50"/>
                </a:solidFill>
                <a:latin typeface="Microsoft Sans Serif"/>
                <a:cs typeface="Microsoft Sans Serif"/>
              </a:rPr>
              <a:t>file)  </a:t>
            </a:r>
            <a:r>
              <a:rPr sz="1800" spc="-175" dirty="0">
                <a:solidFill>
                  <a:srgbClr val="00AF50"/>
                </a:solidFill>
                <a:latin typeface="Microsoft Sans Serif"/>
                <a:cs typeface="Microsoft Sans Serif"/>
              </a:rPr>
              <a:t>C</a:t>
            </a:r>
            <a:r>
              <a:rPr sz="1800" spc="-50" dirty="0">
                <a:solidFill>
                  <a:srgbClr val="00AF50"/>
                </a:solidFill>
                <a:latin typeface="Microsoft Sans Serif"/>
                <a:cs typeface="Microsoft Sans Serif"/>
              </a:rPr>
              <a:t>l</a:t>
            </a:r>
            <a:r>
              <a:rPr sz="1800" spc="-105" dirty="0">
                <a:solidFill>
                  <a:srgbClr val="00AF50"/>
                </a:solidFill>
                <a:latin typeface="Microsoft Sans Serif"/>
                <a:cs typeface="Microsoft Sans Serif"/>
              </a:rPr>
              <a:t>ie</a:t>
            </a:r>
            <a:r>
              <a:rPr sz="1800" spc="-140" dirty="0">
                <a:solidFill>
                  <a:srgbClr val="00AF50"/>
                </a:solidFill>
                <a:latin typeface="Microsoft Sans Serif"/>
                <a:cs typeface="Microsoft Sans Serif"/>
              </a:rPr>
              <a:t>n</a:t>
            </a:r>
            <a:r>
              <a:rPr sz="1800" spc="-10" dirty="0">
                <a:solidFill>
                  <a:srgbClr val="00AF50"/>
                </a:solidFill>
                <a:latin typeface="Microsoft Sans Serif"/>
                <a:cs typeface="Microsoft Sans Serif"/>
              </a:rPr>
              <a:t>t</a:t>
            </a:r>
            <a:r>
              <a:rPr sz="1800" dirty="0">
                <a:solidFill>
                  <a:srgbClr val="00AF50"/>
                </a:solidFill>
                <a:latin typeface="Microsoft Sans Serif"/>
                <a:cs typeface="Microsoft Sans Serif"/>
              </a:rPr>
              <a:t>-</a:t>
            </a:r>
            <a:r>
              <a:rPr sz="1800" spc="-110" dirty="0">
                <a:solidFill>
                  <a:srgbClr val="00AF50"/>
                </a:solidFill>
                <a:latin typeface="Microsoft Sans Serif"/>
                <a:cs typeface="Microsoft Sans Serif"/>
              </a:rPr>
              <a:t>side</a:t>
            </a:r>
            <a:r>
              <a:rPr sz="1800" spc="15" dirty="0">
                <a:solidFill>
                  <a:srgbClr val="00AF50"/>
                </a:solidFill>
                <a:latin typeface="Microsoft Sans Serif"/>
                <a:cs typeface="Microsoft Sans Serif"/>
              </a:rPr>
              <a:t> </a:t>
            </a:r>
            <a:r>
              <a:rPr sz="1800" spc="-110" dirty="0">
                <a:solidFill>
                  <a:srgbClr val="00AF50"/>
                </a:solidFill>
                <a:latin typeface="Microsoft Sans Serif"/>
                <a:cs typeface="Microsoft Sans Serif"/>
              </a:rPr>
              <a:t>cod</a:t>
            </a:r>
            <a:r>
              <a:rPr sz="1800" spc="-105" dirty="0">
                <a:solidFill>
                  <a:srgbClr val="00AF50"/>
                </a:solidFill>
                <a:latin typeface="Microsoft Sans Serif"/>
                <a:cs typeface="Microsoft Sans Serif"/>
              </a:rPr>
              <a:t>e:</a:t>
            </a:r>
            <a:r>
              <a:rPr sz="1800" dirty="0">
                <a:solidFill>
                  <a:srgbClr val="00AF50"/>
                </a:solidFill>
                <a:latin typeface="Microsoft Sans Serif"/>
                <a:cs typeface="Microsoft Sans Serif"/>
              </a:rPr>
              <a:t> </a:t>
            </a:r>
            <a:r>
              <a:rPr sz="1800" spc="-285" dirty="0">
                <a:solidFill>
                  <a:srgbClr val="00AF50"/>
                </a:solidFill>
                <a:latin typeface="Microsoft Sans Serif"/>
                <a:cs typeface="Microsoft Sans Serif"/>
              </a:rPr>
              <a:t>H</a:t>
            </a:r>
            <a:r>
              <a:rPr sz="1800" spc="-235" dirty="0">
                <a:solidFill>
                  <a:srgbClr val="00AF50"/>
                </a:solidFill>
                <a:latin typeface="Microsoft Sans Serif"/>
                <a:cs typeface="Microsoft Sans Serif"/>
              </a:rPr>
              <a:t>T</a:t>
            </a:r>
            <a:r>
              <a:rPr sz="1800" spc="-254" dirty="0">
                <a:solidFill>
                  <a:srgbClr val="00AF50"/>
                </a:solidFill>
                <a:latin typeface="Microsoft Sans Serif"/>
                <a:cs typeface="Microsoft Sans Serif"/>
              </a:rPr>
              <a:t>M</a:t>
            </a:r>
            <a:r>
              <a:rPr sz="1800" spc="-165" dirty="0">
                <a:solidFill>
                  <a:srgbClr val="00AF50"/>
                </a:solidFill>
                <a:latin typeface="Microsoft Sans Serif"/>
                <a:cs typeface="Microsoft Sans Serif"/>
              </a:rPr>
              <a:t>L</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75" dirty="0">
                <a:solidFill>
                  <a:srgbClr val="00AF50"/>
                </a:solidFill>
                <a:latin typeface="Microsoft Sans Serif"/>
                <a:cs typeface="Microsoft Sans Serif"/>
              </a:rPr>
              <a:t>CS</a:t>
            </a:r>
            <a:r>
              <a:rPr sz="1800" spc="-315" dirty="0">
                <a:solidFill>
                  <a:srgbClr val="00AF50"/>
                </a:solidFill>
                <a:latin typeface="Microsoft Sans Serif"/>
                <a:cs typeface="Microsoft Sans Serif"/>
              </a:rPr>
              <a:t>S</a:t>
            </a:r>
            <a:r>
              <a:rPr sz="1800" spc="-110" dirty="0">
                <a:solidFill>
                  <a:srgbClr val="00AF50"/>
                </a:solidFill>
                <a:latin typeface="Microsoft Sans Serif"/>
                <a:cs typeface="Microsoft Sans Serif"/>
              </a:rPr>
              <a:t>,</a:t>
            </a:r>
            <a:r>
              <a:rPr sz="1800" spc="15" dirty="0">
                <a:solidFill>
                  <a:srgbClr val="00AF50"/>
                </a:solidFill>
                <a:latin typeface="Microsoft Sans Serif"/>
                <a:cs typeface="Microsoft Sans Serif"/>
              </a:rPr>
              <a:t> </a:t>
            </a:r>
            <a:r>
              <a:rPr sz="1800" spc="-225" dirty="0">
                <a:solidFill>
                  <a:srgbClr val="00AF50"/>
                </a:solidFill>
                <a:latin typeface="Microsoft Sans Serif"/>
                <a:cs typeface="Microsoft Sans Serif"/>
              </a:rPr>
              <a:t>J</a:t>
            </a:r>
            <a:r>
              <a:rPr sz="1800" spc="-65" dirty="0">
                <a:solidFill>
                  <a:srgbClr val="00AF50"/>
                </a:solidFill>
                <a:latin typeface="Microsoft Sans Serif"/>
                <a:cs typeface="Microsoft Sans Serif"/>
              </a:rPr>
              <a:t>a</a:t>
            </a:r>
            <a:r>
              <a:rPr sz="1800" spc="-95" dirty="0">
                <a:solidFill>
                  <a:srgbClr val="00AF50"/>
                </a:solidFill>
                <a:latin typeface="Microsoft Sans Serif"/>
                <a:cs typeface="Microsoft Sans Serif"/>
              </a:rPr>
              <a:t>v</a:t>
            </a:r>
            <a:r>
              <a:rPr sz="1800" spc="-185" dirty="0">
                <a:solidFill>
                  <a:srgbClr val="00AF50"/>
                </a:solidFill>
                <a:latin typeface="Microsoft Sans Serif"/>
                <a:cs typeface="Microsoft Sans Serif"/>
              </a:rPr>
              <a:t>aS</a:t>
            </a:r>
            <a:r>
              <a:rPr sz="1800" spc="-160" dirty="0">
                <a:solidFill>
                  <a:srgbClr val="00AF50"/>
                </a:solidFill>
                <a:latin typeface="Microsoft Sans Serif"/>
                <a:cs typeface="Microsoft Sans Serif"/>
              </a:rPr>
              <a:t>c</a:t>
            </a:r>
            <a:r>
              <a:rPr sz="1800" spc="-10" dirty="0">
                <a:solidFill>
                  <a:srgbClr val="00AF50"/>
                </a:solidFill>
                <a:latin typeface="Microsoft Sans Serif"/>
                <a:cs typeface="Microsoft Sans Serif"/>
              </a:rPr>
              <a:t>ript  </a:t>
            </a:r>
            <a:r>
              <a:rPr sz="1800" spc="-85" dirty="0">
                <a:solidFill>
                  <a:srgbClr val="00AF50"/>
                </a:solidFill>
                <a:latin typeface="Microsoft Sans Serif"/>
                <a:cs typeface="Microsoft Sans Serif"/>
              </a:rPr>
              <a:t>(dynamically</a:t>
            </a:r>
            <a:r>
              <a:rPr sz="1800" spc="-10" dirty="0">
                <a:solidFill>
                  <a:srgbClr val="00AF50"/>
                </a:solidFill>
                <a:latin typeface="Microsoft Sans Serif"/>
                <a:cs typeface="Microsoft Sans Serif"/>
              </a:rPr>
              <a:t> </a:t>
            </a:r>
            <a:r>
              <a:rPr sz="1800" spc="-70" dirty="0">
                <a:solidFill>
                  <a:srgbClr val="00AF50"/>
                </a:solidFill>
                <a:latin typeface="Microsoft Sans Serif"/>
                <a:cs typeface="Microsoft Sans Serif"/>
              </a:rPr>
              <a:t>generated</a:t>
            </a:r>
            <a:r>
              <a:rPr sz="1800" spc="-10" dirty="0">
                <a:solidFill>
                  <a:srgbClr val="00AF50"/>
                </a:solidFill>
                <a:latin typeface="Microsoft Sans Serif"/>
                <a:cs typeface="Microsoft Sans Serif"/>
              </a:rPr>
              <a:t> </a:t>
            </a:r>
            <a:r>
              <a:rPr sz="1800" spc="-50" dirty="0">
                <a:solidFill>
                  <a:srgbClr val="00AF50"/>
                </a:solidFill>
                <a:latin typeface="Microsoft Sans Serif"/>
                <a:cs typeface="Microsoft Sans Serif"/>
              </a:rPr>
              <a:t>by</a:t>
            </a:r>
            <a:r>
              <a:rPr sz="1800" dirty="0">
                <a:solidFill>
                  <a:srgbClr val="00AF50"/>
                </a:solidFill>
                <a:latin typeface="Microsoft Sans Serif"/>
                <a:cs typeface="Microsoft Sans Serif"/>
              </a:rPr>
              <a:t> </a:t>
            </a:r>
            <a:r>
              <a:rPr sz="1800" spc="-100" dirty="0">
                <a:solidFill>
                  <a:srgbClr val="00AF50"/>
                </a:solidFill>
                <a:latin typeface="Microsoft Sans Serif"/>
                <a:cs typeface="Microsoft Sans Serif"/>
              </a:rPr>
              <a:t>server)</a:t>
            </a:r>
            <a:endParaRPr sz="1800">
              <a:latin typeface="Microsoft Sans Serif"/>
              <a:cs typeface="Microsoft Sans Serif"/>
            </a:endParaRPr>
          </a:p>
        </p:txBody>
      </p:sp>
      <p:sp>
        <p:nvSpPr>
          <p:cNvPr id="16" name="object 16"/>
          <p:cNvSpPr txBox="1"/>
          <p:nvPr/>
        </p:nvSpPr>
        <p:spPr>
          <a:xfrm>
            <a:off x="6480428" y="3909440"/>
            <a:ext cx="601980" cy="269240"/>
          </a:xfrm>
          <a:prstGeom prst="rect">
            <a:avLst/>
          </a:prstGeom>
        </p:spPr>
        <p:txBody>
          <a:bodyPr vert="horz" wrap="square" lIns="0" tIns="12065" rIns="0" bIns="0" rtlCol="0">
            <a:spAutoFit/>
          </a:bodyPr>
          <a:lstStyle/>
          <a:p>
            <a:pPr marL="12700">
              <a:lnSpc>
                <a:spcPct val="100000"/>
              </a:lnSpc>
              <a:spcBef>
                <a:spcPts val="95"/>
              </a:spcBef>
            </a:pPr>
            <a:r>
              <a:rPr sz="1600" spc="-95" dirty="0">
                <a:solidFill>
                  <a:srgbClr val="963139"/>
                </a:solidFill>
                <a:latin typeface="Microsoft Sans Serif"/>
                <a:cs typeface="Microsoft Sans Serif"/>
              </a:rPr>
              <a:t>Server:</a:t>
            </a:r>
            <a:endParaRPr sz="1600">
              <a:latin typeface="Microsoft Sans Serif"/>
              <a:cs typeface="Microsoft Sans Serif"/>
            </a:endParaRPr>
          </a:p>
        </p:txBody>
      </p:sp>
      <p:sp>
        <p:nvSpPr>
          <p:cNvPr id="17" name="object 17"/>
          <p:cNvSpPr txBox="1"/>
          <p:nvPr/>
        </p:nvSpPr>
        <p:spPr>
          <a:xfrm>
            <a:off x="6480428" y="4153280"/>
            <a:ext cx="2393315" cy="2219960"/>
          </a:xfrm>
          <a:prstGeom prst="rect">
            <a:avLst/>
          </a:prstGeom>
        </p:spPr>
        <p:txBody>
          <a:bodyPr vert="horz" wrap="square" lIns="0" tIns="12065" rIns="0" bIns="0" rtlCol="0">
            <a:spAutoFit/>
          </a:bodyPr>
          <a:lstStyle/>
          <a:p>
            <a:pPr marL="355600" marR="5080" indent="-342900">
              <a:lnSpc>
                <a:spcPct val="100000"/>
              </a:lnSpc>
              <a:spcBef>
                <a:spcPts val="95"/>
              </a:spcBef>
              <a:buAutoNum type="arabicPeriod"/>
              <a:tabLst>
                <a:tab pos="354965" algn="l"/>
                <a:tab pos="355600" algn="l"/>
              </a:tabLst>
            </a:pPr>
            <a:r>
              <a:rPr sz="1600" spc="-155" dirty="0">
                <a:solidFill>
                  <a:srgbClr val="963139"/>
                </a:solidFill>
                <a:latin typeface="Microsoft Sans Serif"/>
                <a:cs typeface="Microsoft Sans Serif"/>
              </a:rPr>
              <a:t>Lo</a:t>
            </a:r>
            <a:r>
              <a:rPr sz="1600" spc="-150" dirty="0">
                <a:solidFill>
                  <a:srgbClr val="963139"/>
                </a:solidFill>
                <a:latin typeface="Microsoft Sans Serif"/>
                <a:cs typeface="Microsoft Sans Serif"/>
              </a:rPr>
              <a:t>o</a:t>
            </a:r>
            <a:r>
              <a:rPr sz="1600" spc="-105" dirty="0">
                <a:solidFill>
                  <a:srgbClr val="963139"/>
                </a:solidFill>
                <a:latin typeface="Microsoft Sans Serif"/>
                <a:cs typeface="Microsoft Sans Serif"/>
              </a:rPr>
              <a:t>k</a:t>
            </a:r>
            <a:r>
              <a:rPr sz="1600" dirty="0">
                <a:solidFill>
                  <a:srgbClr val="963139"/>
                </a:solidFill>
                <a:latin typeface="Microsoft Sans Serif"/>
                <a:cs typeface="Microsoft Sans Serif"/>
              </a:rPr>
              <a:t> </a:t>
            </a:r>
            <a:r>
              <a:rPr sz="1600" spc="-100" dirty="0">
                <a:solidFill>
                  <a:srgbClr val="963139"/>
                </a:solidFill>
                <a:latin typeface="Microsoft Sans Serif"/>
                <a:cs typeface="Microsoft Sans Serif"/>
              </a:rPr>
              <a:t>up</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th</a:t>
            </a:r>
            <a:r>
              <a:rPr sz="1600" spc="-55" dirty="0">
                <a:solidFill>
                  <a:srgbClr val="963139"/>
                </a:solidFill>
                <a:latin typeface="Microsoft Sans Serif"/>
                <a:cs typeface="Microsoft Sans Serif"/>
              </a:rPr>
              <a:t>i</a:t>
            </a:r>
            <a:r>
              <a:rPr sz="1600" spc="-100" dirty="0">
                <a:solidFill>
                  <a:srgbClr val="963139"/>
                </a:solidFill>
                <a:latin typeface="Microsoft Sans Serif"/>
                <a:cs typeface="Microsoft Sans Serif"/>
              </a:rPr>
              <a:t>n</a:t>
            </a:r>
            <a:r>
              <a:rPr sz="1600" spc="-110" dirty="0">
                <a:solidFill>
                  <a:srgbClr val="963139"/>
                </a:solidFill>
                <a:latin typeface="Microsoft Sans Serif"/>
                <a:cs typeface="Microsoft Sans Serif"/>
              </a:rPr>
              <a:t>g</a:t>
            </a:r>
            <a:r>
              <a:rPr sz="1600" spc="-270" dirty="0">
                <a:solidFill>
                  <a:srgbClr val="963139"/>
                </a:solidFill>
                <a:latin typeface="Microsoft Sans Serif"/>
                <a:cs typeface="Microsoft Sans Serif"/>
              </a:rPr>
              <a:t>s</a:t>
            </a:r>
            <a:r>
              <a:rPr sz="1600" spc="35" dirty="0">
                <a:solidFill>
                  <a:srgbClr val="963139"/>
                </a:solidFill>
                <a:latin typeface="Microsoft Sans Serif"/>
                <a:cs typeface="Microsoft Sans Serif"/>
              </a:rPr>
              <a:t> </a:t>
            </a:r>
            <a:r>
              <a:rPr sz="1600" spc="-65" dirty="0">
                <a:solidFill>
                  <a:srgbClr val="963139"/>
                </a:solidFill>
                <a:latin typeface="Microsoft Sans Serif"/>
                <a:cs typeface="Microsoft Sans Serif"/>
              </a:rPr>
              <a:t>th</a:t>
            </a:r>
            <a:r>
              <a:rPr sz="1600" spc="-95" dirty="0">
                <a:solidFill>
                  <a:srgbClr val="963139"/>
                </a:solidFill>
                <a:latin typeface="Microsoft Sans Serif"/>
                <a:cs typeface="Microsoft Sans Serif"/>
              </a:rPr>
              <a:t>a</a:t>
            </a:r>
            <a:r>
              <a:rPr sz="1600" spc="-15" dirty="0">
                <a:solidFill>
                  <a:srgbClr val="963139"/>
                </a:solidFill>
                <a:latin typeface="Microsoft Sans Serif"/>
                <a:cs typeface="Microsoft Sans Serif"/>
              </a:rPr>
              <a:t>t</a:t>
            </a:r>
            <a:r>
              <a:rPr sz="1600" spc="40" dirty="0">
                <a:solidFill>
                  <a:srgbClr val="963139"/>
                </a:solidFill>
                <a:latin typeface="Microsoft Sans Serif"/>
                <a:cs typeface="Microsoft Sans Serif"/>
              </a:rPr>
              <a:t> </a:t>
            </a:r>
            <a:r>
              <a:rPr sz="1600" spc="-15" dirty="0">
                <a:solidFill>
                  <a:srgbClr val="963139"/>
                </a:solidFill>
                <a:latin typeface="Microsoft Sans Serif"/>
                <a:cs typeface="Microsoft Sans Serif"/>
              </a:rPr>
              <a:t>g</a:t>
            </a:r>
            <a:r>
              <a:rPr sz="1600" spc="-95" dirty="0">
                <a:solidFill>
                  <a:srgbClr val="963139"/>
                </a:solidFill>
                <a:latin typeface="Microsoft Sans Serif"/>
                <a:cs typeface="Microsoft Sans Serif"/>
              </a:rPr>
              <a:t>o</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o</a:t>
            </a:r>
            <a:r>
              <a:rPr sz="1600" spc="-125" dirty="0">
                <a:solidFill>
                  <a:srgbClr val="963139"/>
                </a:solidFill>
                <a:latin typeface="Microsoft Sans Serif"/>
                <a:cs typeface="Microsoft Sans Serif"/>
              </a:rPr>
              <a:t>n  </a:t>
            </a:r>
            <a:r>
              <a:rPr sz="1600" spc="-245" dirty="0">
                <a:solidFill>
                  <a:srgbClr val="963139"/>
                </a:solidFill>
                <a:latin typeface="Microsoft Sans Serif"/>
                <a:cs typeface="Microsoft Sans Serif"/>
              </a:rPr>
              <a:t>u</a:t>
            </a:r>
            <a:r>
              <a:rPr sz="1600" spc="-229"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r>
              <a:rPr sz="1600" spc="-5" dirty="0">
                <a:solidFill>
                  <a:srgbClr val="963139"/>
                </a:solidFill>
                <a:latin typeface="Microsoft Sans Serif"/>
                <a:cs typeface="Microsoft Sans Serif"/>
              </a:rPr>
              <a:t>r</a:t>
            </a:r>
            <a:r>
              <a:rPr sz="1600" spc="-50" dirty="0">
                <a:solidFill>
                  <a:srgbClr val="963139"/>
                </a:solidFill>
                <a:latin typeface="Microsoft Sans Serif"/>
                <a:cs typeface="Microsoft Sans Serif"/>
              </a:rPr>
              <a:t>’</a:t>
            </a:r>
            <a:r>
              <a:rPr sz="1600" spc="-270" dirty="0">
                <a:solidFill>
                  <a:srgbClr val="963139"/>
                </a:solidFill>
                <a:latin typeface="Microsoft Sans Serif"/>
                <a:cs typeface="Microsoft Sans Serif"/>
              </a:rPr>
              <a:t>s</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p</a:t>
            </a:r>
            <a:r>
              <a:rPr sz="1600" spc="-45" dirty="0">
                <a:solidFill>
                  <a:srgbClr val="963139"/>
                </a:solidFill>
                <a:latin typeface="Microsoft Sans Serif"/>
                <a:cs typeface="Microsoft Sans Serif"/>
              </a:rPr>
              <a:t>r</a:t>
            </a:r>
            <a:r>
              <a:rPr sz="1600" spc="-95" dirty="0">
                <a:solidFill>
                  <a:srgbClr val="963139"/>
                </a:solidFill>
                <a:latin typeface="Microsoft Sans Serif"/>
                <a:cs typeface="Microsoft Sans Serif"/>
              </a:rPr>
              <a:t>o</a:t>
            </a:r>
            <a:r>
              <a:rPr sz="1600" spc="35" dirty="0">
                <a:solidFill>
                  <a:srgbClr val="963139"/>
                </a:solidFill>
                <a:latin typeface="Microsoft Sans Serif"/>
                <a:cs typeface="Microsoft Sans Serif"/>
              </a:rPr>
              <a:t>f</a:t>
            </a:r>
            <a:r>
              <a:rPr sz="1600" spc="25" dirty="0">
                <a:solidFill>
                  <a:srgbClr val="963139"/>
                </a:solidFill>
                <a:latin typeface="Microsoft Sans Serif"/>
                <a:cs typeface="Microsoft Sans Serif"/>
              </a:rPr>
              <a:t>i</a:t>
            </a:r>
            <a:r>
              <a:rPr sz="1600" spc="-40" dirty="0">
                <a:solidFill>
                  <a:srgbClr val="963139"/>
                </a:solidFill>
                <a:latin typeface="Microsoft Sans Serif"/>
                <a:cs typeface="Microsoft Sans Serif"/>
              </a:rPr>
              <a:t>l</a:t>
            </a:r>
            <a:r>
              <a:rPr sz="1600" spc="-140" dirty="0">
                <a:solidFill>
                  <a:srgbClr val="963139"/>
                </a:solidFill>
                <a:latin typeface="Microsoft Sans Serif"/>
                <a:cs typeface="Microsoft Sans Serif"/>
              </a:rPr>
              <a:t>e</a:t>
            </a:r>
            <a:r>
              <a:rPr sz="1600" spc="-95" dirty="0">
                <a:solidFill>
                  <a:srgbClr val="963139"/>
                </a:solidFill>
                <a:latin typeface="Microsoft Sans Serif"/>
                <a:cs typeface="Microsoft Sans Serif"/>
              </a:rPr>
              <a:t>,</a:t>
            </a:r>
            <a:r>
              <a:rPr sz="1600" spc="35" dirty="0">
                <a:solidFill>
                  <a:srgbClr val="963139"/>
                </a:solidFill>
                <a:latin typeface="Microsoft Sans Serif"/>
                <a:cs typeface="Microsoft Sans Serif"/>
              </a:rPr>
              <a:t> </a:t>
            </a:r>
            <a:r>
              <a:rPr sz="1600" spc="-220" dirty="0">
                <a:solidFill>
                  <a:srgbClr val="963139"/>
                </a:solidFill>
                <a:latin typeface="Microsoft Sans Serif"/>
                <a:cs typeface="Microsoft Sans Serif"/>
              </a:rPr>
              <a:t>s</a:t>
            </a:r>
            <a:r>
              <a:rPr sz="1600" spc="-254" dirty="0">
                <a:solidFill>
                  <a:srgbClr val="963139"/>
                </a:solidFill>
                <a:latin typeface="Microsoft Sans Serif"/>
                <a:cs typeface="Microsoft Sans Serif"/>
              </a:rPr>
              <a:t>u</a:t>
            </a:r>
            <a:r>
              <a:rPr sz="1600" spc="-135" dirty="0">
                <a:solidFill>
                  <a:srgbClr val="963139"/>
                </a:solidFill>
                <a:latin typeface="Microsoft Sans Serif"/>
                <a:cs typeface="Microsoft Sans Serif"/>
              </a:rPr>
              <a:t>c</a:t>
            </a:r>
            <a:r>
              <a:rPr sz="1600" spc="-195" dirty="0">
                <a:solidFill>
                  <a:srgbClr val="963139"/>
                </a:solidFill>
                <a:latin typeface="Microsoft Sans Serif"/>
                <a:cs typeface="Microsoft Sans Serif"/>
              </a:rPr>
              <a:t>h</a:t>
            </a:r>
            <a:r>
              <a:rPr sz="1600" spc="25" dirty="0">
                <a:solidFill>
                  <a:srgbClr val="963139"/>
                </a:solidFill>
                <a:latin typeface="Microsoft Sans Serif"/>
                <a:cs typeface="Microsoft Sans Serif"/>
              </a:rPr>
              <a:t> </a:t>
            </a:r>
            <a:r>
              <a:rPr sz="1600" spc="-15" dirty="0">
                <a:solidFill>
                  <a:srgbClr val="963139"/>
                </a:solidFill>
                <a:latin typeface="Microsoft Sans Serif"/>
                <a:cs typeface="Microsoft Sans Serif"/>
              </a:rPr>
              <a:t>a</a:t>
            </a:r>
            <a:r>
              <a:rPr sz="1600" spc="-185" dirty="0">
                <a:solidFill>
                  <a:srgbClr val="963139"/>
                </a:solidFill>
                <a:latin typeface="Microsoft Sans Serif"/>
                <a:cs typeface="Microsoft Sans Serif"/>
              </a:rPr>
              <a:t>s  </a:t>
            </a:r>
            <a:r>
              <a:rPr sz="1600" spc="-155" dirty="0">
                <a:solidFill>
                  <a:srgbClr val="963139"/>
                </a:solidFill>
                <a:latin typeface="Microsoft Sans Serif"/>
                <a:cs typeface="Microsoft Sans Serif"/>
              </a:rPr>
              <a:t>w</a:t>
            </a:r>
            <a:r>
              <a:rPr sz="1600" spc="-15" dirty="0">
                <a:solidFill>
                  <a:srgbClr val="963139"/>
                </a:solidFill>
                <a:latin typeface="Microsoft Sans Serif"/>
                <a:cs typeface="Microsoft Sans Serif"/>
              </a:rPr>
              <a:t>a</a:t>
            </a:r>
            <a:r>
              <a:rPr sz="1600" spc="-20" dirty="0">
                <a:solidFill>
                  <a:srgbClr val="963139"/>
                </a:solidFill>
                <a:latin typeface="Microsoft Sans Serif"/>
                <a:cs typeface="Microsoft Sans Serif"/>
              </a:rPr>
              <a:t>l</a:t>
            </a:r>
            <a:r>
              <a:rPr sz="1600" spc="-15" dirty="0">
                <a:solidFill>
                  <a:srgbClr val="963139"/>
                </a:solidFill>
                <a:latin typeface="Microsoft Sans Serif"/>
                <a:cs typeface="Microsoft Sans Serif"/>
              </a:rPr>
              <a:t>l</a:t>
            </a:r>
            <a:r>
              <a:rPr sz="1600" spc="10" dirty="0">
                <a:solidFill>
                  <a:srgbClr val="963139"/>
                </a:solidFill>
                <a:latin typeface="Microsoft Sans Serif"/>
                <a:cs typeface="Microsoft Sans Serif"/>
              </a:rPr>
              <a:t> </a:t>
            </a:r>
            <a:r>
              <a:rPr sz="1600" spc="-130" dirty="0">
                <a:solidFill>
                  <a:srgbClr val="963139"/>
                </a:solidFill>
                <a:latin typeface="Microsoft Sans Serif"/>
                <a:cs typeface="Microsoft Sans Serif"/>
              </a:rPr>
              <a:t>posts</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a</a:t>
            </a:r>
            <a:r>
              <a:rPr sz="1600" spc="-100" dirty="0">
                <a:solidFill>
                  <a:srgbClr val="963139"/>
                </a:solidFill>
                <a:latin typeface="Microsoft Sans Serif"/>
                <a:cs typeface="Microsoft Sans Serif"/>
              </a:rPr>
              <a:t>nd</a:t>
            </a:r>
            <a:r>
              <a:rPr sz="1600" spc="30" dirty="0">
                <a:solidFill>
                  <a:srgbClr val="963139"/>
                </a:solidFill>
                <a:latin typeface="Microsoft Sans Serif"/>
                <a:cs typeface="Microsoft Sans Serif"/>
              </a:rPr>
              <a:t> </a:t>
            </a:r>
            <a:r>
              <a:rPr sz="1600" spc="35" dirty="0">
                <a:solidFill>
                  <a:srgbClr val="963139"/>
                </a:solidFill>
                <a:latin typeface="Microsoft Sans Serif"/>
                <a:cs typeface="Microsoft Sans Serif"/>
              </a:rPr>
              <a:t>fr</a:t>
            </a:r>
            <a:r>
              <a:rPr sz="1600" spc="-120" dirty="0">
                <a:solidFill>
                  <a:srgbClr val="963139"/>
                </a:solidFill>
                <a:latin typeface="Microsoft Sans Serif"/>
                <a:cs typeface="Microsoft Sans Serif"/>
              </a:rPr>
              <a:t>iends</a:t>
            </a:r>
            <a:r>
              <a:rPr sz="1600" spc="50" dirty="0">
                <a:solidFill>
                  <a:srgbClr val="963139"/>
                </a:solidFill>
                <a:latin typeface="Microsoft Sans Serif"/>
                <a:cs typeface="Microsoft Sans Serif"/>
              </a:rPr>
              <a:t> </a:t>
            </a:r>
            <a:r>
              <a:rPr sz="1600" spc="-5" dirty="0">
                <a:solidFill>
                  <a:srgbClr val="963139"/>
                </a:solidFill>
                <a:latin typeface="Wingdings"/>
                <a:cs typeface="Wingdings"/>
              </a:rPr>
              <a:t></a:t>
            </a:r>
            <a:r>
              <a:rPr sz="1600" spc="-5" dirty="0">
                <a:solidFill>
                  <a:srgbClr val="963139"/>
                </a:solidFill>
                <a:latin typeface="Times New Roman"/>
                <a:cs typeface="Times New Roman"/>
              </a:rPr>
              <a:t> </a:t>
            </a:r>
            <a:r>
              <a:rPr sz="1600" spc="-95" dirty="0">
                <a:solidFill>
                  <a:srgbClr val="963139"/>
                </a:solidFill>
                <a:latin typeface="Microsoft Sans Serif"/>
                <a:cs typeface="Microsoft Sans Serif"/>
              </a:rPr>
              <a:t>c</a:t>
            </a:r>
            <a:r>
              <a:rPr sz="1600" spc="-114" dirty="0">
                <a:solidFill>
                  <a:srgbClr val="963139"/>
                </a:solidFill>
                <a:latin typeface="Microsoft Sans Serif"/>
                <a:cs typeface="Microsoft Sans Serif"/>
              </a:rPr>
              <a:t>a</a:t>
            </a:r>
            <a:r>
              <a:rPr sz="1600" spc="-135" dirty="0">
                <a:solidFill>
                  <a:srgbClr val="963139"/>
                </a:solidFill>
                <a:latin typeface="Microsoft Sans Serif"/>
                <a:cs typeface="Microsoft Sans Serif"/>
              </a:rPr>
              <a:t>c</a:t>
            </a:r>
            <a:r>
              <a:rPr sz="1600" spc="-195" dirty="0">
                <a:solidFill>
                  <a:srgbClr val="963139"/>
                </a:solidFill>
                <a:latin typeface="Microsoft Sans Serif"/>
                <a:cs typeface="Microsoft Sans Serif"/>
              </a:rPr>
              <a:t>he</a:t>
            </a:r>
            <a:r>
              <a:rPr sz="1600" spc="-215" dirty="0">
                <a:solidFill>
                  <a:srgbClr val="963139"/>
                </a:solidFill>
                <a:latin typeface="Microsoft Sans Serif"/>
                <a:cs typeface="Microsoft Sans Serif"/>
              </a:rPr>
              <a:t>s</a:t>
            </a:r>
            <a:r>
              <a:rPr sz="1600" spc="-95" dirty="0">
                <a:solidFill>
                  <a:srgbClr val="963139"/>
                </a:solidFill>
                <a:latin typeface="Microsoft Sans Serif"/>
                <a:cs typeface="Microsoft Sans Serif"/>
              </a:rPr>
              <a:t>,</a:t>
            </a:r>
            <a:r>
              <a:rPr sz="1600" spc="35" dirty="0">
                <a:solidFill>
                  <a:srgbClr val="963139"/>
                </a:solidFill>
                <a:latin typeface="Microsoft Sans Serif"/>
                <a:cs typeface="Microsoft Sans Serif"/>
              </a:rPr>
              <a:t> </a:t>
            </a:r>
            <a:r>
              <a:rPr sz="1600" spc="-15" dirty="0">
                <a:solidFill>
                  <a:srgbClr val="963139"/>
                </a:solidFill>
                <a:latin typeface="Microsoft Sans Serif"/>
                <a:cs typeface="Microsoft Sans Serif"/>
              </a:rPr>
              <a:t>da</a:t>
            </a:r>
            <a:r>
              <a:rPr sz="1600" spc="-10" dirty="0">
                <a:solidFill>
                  <a:srgbClr val="963139"/>
                </a:solidFill>
                <a:latin typeface="Microsoft Sans Serif"/>
                <a:cs typeface="Microsoft Sans Serif"/>
              </a:rPr>
              <a:t>t</a:t>
            </a:r>
            <a:r>
              <a:rPr sz="1600" spc="-20" dirty="0">
                <a:solidFill>
                  <a:srgbClr val="963139"/>
                </a:solidFill>
                <a:latin typeface="Microsoft Sans Serif"/>
                <a:cs typeface="Microsoft Sans Serif"/>
              </a:rPr>
              <a:t>a</a:t>
            </a:r>
            <a:r>
              <a:rPr sz="1600" spc="-15" dirty="0">
                <a:solidFill>
                  <a:srgbClr val="963139"/>
                </a:solidFill>
                <a:latin typeface="Microsoft Sans Serif"/>
                <a:cs typeface="Microsoft Sans Serif"/>
              </a:rPr>
              <a:t>b</a:t>
            </a:r>
            <a:r>
              <a:rPr sz="1600" spc="-5" dirty="0">
                <a:solidFill>
                  <a:srgbClr val="963139"/>
                </a:solidFill>
                <a:latin typeface="Microsoft Sans Serif"/>
                <a:cs typeface="Microsoft Sans Serif"/>
              </a:rPr>
              <a:t>a</a:t>
            </a:r>
            <a:r>
              <a:rPr sz="1600" spc="-140" dirty="0">
                <a:solidFill>
                  <a:srgbClr val="963139"/>
                </a:solidFill>
                <a:latin typeface="Microsoft Sans Serif"/>
                <a:cs typeface="Microsoft Sans Serif"/>
              </a:rPr>
              <a:t>se  </a:t>
            </a:r>
            <a:r>
              <a:rPr sz="1600" spc="-114" dirty="0">
                <a:solidFill>
                  <a:srgbClr val="963139"/>
                </a:solidFill>
                <a:latin typeface="Microsoft Sans Serif"/>
                <a:cs typeface="Microsoft Sans Serif"/>
              </a:rPr>
              <a:t>lookups</a:t>
            </a:r>
            <a:endParaRPr sz="1600">
              <a:latin typeface="Microsoft Sans Serif"/>
              <a:cs typeface="Microsoft Sans Serif"/>
            </a:endParaRPr>
          </a:p>
          <a:p>
            <a:pPr marL="355600" marR="294640" indent="-342900">
              <a:lnSpc>
                <a:spcPct val="100000"/>
              </a:lnSpc>
              <a:buAutoNum type="arabicPeriod"/>
              <a:tabLst>
                <a:tab pos="354965" algn="l"/>
                <a:tab pos="355600" algn="l"/>
              </a:tabLst>
            </a:pPr>
            <a:r>
              <a:rPr sz="1600" spc="-65" dirty="0">
                <a:solidFill>
                  <a:srgbClr val="963139"/>
                </a:solidFill>
                <a:latin typeface="Microsoft Sans Serif"/>
                <a:cs typeface="Microsoft Sans Serif"/>
              </a:rPr>
              <a:t>Generate</a:t>
            </a:r>
            <a:r>
              <a:rPr sz="1600" spc="-10" dirty="0">
                <a:solidFill>
                  <a:srgbClr val="963139"/>
                </a:solidFill>
                <a:latin typeface="Microsoft Sans Serif"/>
                <a:cs typeface="Microsoft Sans Serif"/>
              </a:rPr>
              <a:t> </a:t>
            </a:r>
            <a:r>
              <a:rPr sz="1600" spc="-85" dirty="0">
                <a:solidFill>
                  <a:srgbClr val="963139"/>
                </a:solidFill>
                <a:latin typeface="Microsoft Sans Serif"/>
                <a:cs typeface="Microsoft Sans Serif"/>
              </a:rPr>
              <a:t>client-side </a:t>
            </a:r>
            <a:r>
              <a:rPr sz="1600" spc="-80" dirty="0">
                <a:solidFill>
                  <a:srgbClr val="963139"/>
                </a:solidFill>
                <a:latin typeface="Microsoft Sans Serif"/>
                <a:cs typeface="Microsoft Sans Serif"/>
              </a:rPr>
              <a:t> </a:t>
            </a:r>
            <a:r>
              <a:rPr sz="1600" spc="-95" dirty="0">
                <a:solidFill>
                  <a:srgbClr val="963139"/>
                </a:solidFill>
                <a:latin typeface="Microsoft Sans Serif"/>
                <a:cs typeface="Microsoft Sans Serif"/>
              </a:rPr>
              <a:t>code</a:t>
            </a:r>
            <a:r>
              <a:rPr sz="1600" spc="-15" dirty="0">
                <a:solidFill>
                  <a:srgbClr val="963139"/>
                </a:solidFill>
                <a:latin typeface="Microsoft Sans Serif"/>
                <a:cs typeface="Microsoft Sans Serif"/>
              </a:rPr>
              <a:t> </a:t>
            </a:r>
            <a:r>
              <a:rPr sz="1600" spc="-95" dirty="0">
                <a:solidFill>
                  <a:srgbClr val="963139"/>
                </a:solidFill>
                <a:latin typeface="Microsoft Sans Serif"/>
                <a:cs typeface="Microsoft Sans Serif"/>
              </a:rPr>
              <a:t>containing</a:t>
            </a:r>
            <a:r>
              <a:rPr sz="1600" spc="15" dirty="0">
                <a:solidFill>
                  <a:srgbClr val="963139"/>
                </a:solidFill>
                <a:latin typeface="Microsoft Sans Serif"/>
                <a:cs typeface="Microsoft Sans Serif"/>
              </a:rPr>
              <a:t> </a:t>
            </a:r>
            <a:r>
              <a:rPr sz="1600" spc="-135" dirty="0">
                <a:solidFill>
                  <a:srgbClr val="963139"/>
                </a:solidFill>
                <a:latin typeface="Microsoft Sans Serif"/>
                <a:cs typeface="Microsoft Sans Serif"/>
              </a:rPr>
              <a:t>these </a:t>
            </a:r>
            <a:r>
              <a:rPr sz="1600" spc="-409" dirty="0">
                <a:solidFill>
                  <a:srgbClr val="963139"/>
                </a:solidFill>
                <a:latin typeface="Microsoft Sans Serif"/>
                <a:cs typeface="Microsoft Sans Serif"/>
              </a:rPr>
              <a:t> </a:t>
            </a:r>
            <a:r>
              <a:rPr sz="1600" spc="-120" dirty="0">
                <a:solidFill>
                  <a:srgbClr val="963139"/>
                </a:solidFill>
                <a:latin typeface="Microsoft Sans Serif"/>
                <a:cs typeface="Microsoft Sans Serif"/>
              </a:rPr>
              <a:t>things</a:t>
            </a:r>
            <a:endParaRPr sz="1600">
              <a:latin typeface="Microsoft Sans Serif"/>
              <a:cs typeface="Microsoft Sans Serif"/>
            </a:endParaRPr>
          </a:p>
          <a:p>
            <a:pPr marL="355600" indent="-342900">
              <a:lnSpc>
                <a:spcPct val="100000"/>
              </a:lnSpc>
              <a:buAutoNum type="arabicPeriod"/>
              <a:tabLst>
                <a:tab pos="354965" algn="l"/>
                <a:tab pos="355600" algn="l"/>
              </a:tabLst>
            </a:pPr>
            <a:r>
              <a:rPr sz="1600" spc="-270"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r>
              <a:rPr sz="1600" spc="-100" dirty="0">
                <a:solidFill>
                  <a:srgbClr val="963139"/>
                </a:solidFill>
                <a:latin typeface="Microsoft Sans Serif"/>
                <a:cs typeface="Microsoft Sans Serif"/>
              </a:rPr>
              <a:t>nd</a:t>
            </a:r>
            <a:r>
              <a:rPr sz="1600" spc="5" dirty="0">
                <a:solidFill>
                  <a:srgbClr val="963139"/>
                </a:solidFill>
                <a:latin typeface="Microsoft Sans Serif"/>
                <a:cs typeface="Microsoft Sans Serif"/>
              </a:rPr>
              <a:t> </a:t>
            </a:r>
            <a:r>
              <a:rPr sz="1600" spc="-140" dirty="0">
                <a:solidFill>
                  <a:srgbClr val="963139"/>
                </a:solidFill>
                <a:latin typeface="Microsoft Sans Serif"/>
                <a:cs typeface="Microsoft Sans Serif"/>
              </a:rPr>
              <a:t>as</a:t>
            </a:r>
            <a:r>
              <a:rPr sz="1600" spc="25" dirty="0">
                <a:solidFill>
                  <a:srgbClr val="963139"/>
                </a:solidFill>
                <a:latin typeface="Microsoft Sans Serif"/>
                <a:cs typeface="Microsoft Sans Serif"/>
              </a:rPr>
              <a:t> </a:t>
            </a:r>
            <a:r>
              <a:rPr sz="1600" spc="-254" dirty="0">
                <a:solidFill>
                  <a:srgbClr val="963139"/>
                </a:solidFill>
                <a:latin typeface="Microsoft Sans Serif"/>
                <a:cs typeface="Microsoft Sans Serif"/>
              </a:rPr>
              <a:t>H</a:t>
            </a:r>
            <a:r>
              <a:rPr sz="1600" spc="-229" dirty="0">
                <a:solidFill>
                  <a:srgbClr val="963139"/>
                </a:solidFill>
                <a:latin typeface="Microsoft Sans Serif"/>
                <a:cs typeface="Microsoft Sans Serif"/>
              </a:rPr>
              <a:t>T</a:t>
            </a:r>
            <a:r>
              <a:rPr sz="1600" spc="-275" dirty="0">
                <a:solidFill>
                  <a:srgbClr val="963139"/>
                </a:solidFill>
                <a:latin typeface="Microsoft Sans Serif"/>
                <a:cs typeface="Microsoft Sans Serif"/>
              </a:rPr>
              <a:t>TP</a:t>
            </a:r>
            <a:r>
              <a:rPr sz="1600" spc="20" dirty="0">
                <a:solidFill>
                  <a:srgbClr val="963139"/>
                </a:solidFill>
                <a:latin typeface="Microsoft Sans Serif"/>
                <a:cs typeface="Microsoft Sans Serif"/>
              </a:rPr>
              <a:t> </a:t>
            </a:r>
            <a:r>
              <a:rPr sz="1600" spc="-90" dirty="0">
                <a:solidFill>
                  <a:srgbClr val="963139"/>
                </a:solidFill>
                <a:latin typeface="Microsoft Sans Serif"/>
                <a:cs typeface="Microsoft Sans Serif"/>
              </a:rPr>
              <a:t>res</a:t>
            </a:r>
            <a:r>
              <a:rPr sz="1600" spc="-120" dirty="0">
                <a:solidFill>
                  <a:srgbClr val="963139"/>
                </a:solidFill>
                <a:latin typeface="Microsoft Sans Serif"/>
                <a:cs typeface="Microsoft Sans Serif"/>
              </a:rPr>
              <a:t>p</a:t>
            </a:r>
            <a:r>
              <a:rPr sz="1600" spc="-95" dirty="0">
                <a:solidFill>
                  <a:srgbClr val="963139"/>
                </a:solidFill>
                <a:latin typeface="Microsoft Sans Serif"/>
                <a:cs typeface="Microsoft Sans Serif"/>
              </a:rPr>
              <a:t>o</a:t>
            </a:r>
            <a:r>
              <a:rPr sz="1600" spc="-245" dirty="0">
                <a:solidFill>
                  <a:srgbClr val="963139"/>
                </a:solidFill>
                <a:latin typeface="Microsoft Sans Serif"/>
                <a:cs typeface="Microsoft Sans Serif"/>
              </a:rPr>
              <a:t>n</a:t>
            </a:r>
            <a:r>
              <a:rPr sz="1600" spc="-229" dirty="0">
                <a:solidFill>
                  <a:srgbClr val="963139"/>
                </a:solidFill>
                <a:latin typeface="Microsoft Sans Serif"/>
                <a:cs typeface="Microsoft Sans Serif"/>
              </a:rPr>
              <a:t>s</a:t>
            </a:r>
            <a:r>
              <a:rPr sz="1600" spc="-95" dirty="0">
                <a:solidFill>
                  <a:srgbClr val="963139"/>
                </a:solidFill>
                <a:latin typeface="Microsoft Sans Serif"/>
                <a:cs typeface="Microsoft Sans Serif"/>
              </a:rPr>
              <a:t>e</a:t>
            </a:r>
            <a:endParaRPr sz="1600">
              <a:latin typeface="Microsoft Sans Serif"/>
              <a:cs typeface="Microsoft Sans Serif"/>
            </a:endParaRPr>
          </a:p>
        </p:txBody>
      </p:sp>
    </p:spTree>
    <p:extLst>
      <p:ext uri="{BB962C8B-B14F-4D97-AF65-F5344CB8AC3E}">
        <p14:creationId xmlns:p14="http://schemas.microsoft.com/office/powerpoint/2010/main" val="3069625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a:t>
            </a:r>
            <a:endParaRPr lang="en-US" dirty="0"/>
          </a:p>
        </p:txBody>
      </p:sp>
      <p:sp>
        <p:nvSpPr>
          <p:cNvPr id="3" name="Content Placeholder 2"/>
          <p:cNvSpPr>
            <a:spLocks noGrp="1"/>
          </p:cNvSpPr>
          <p:nvPr>
            <p:ph idx="1"/>
          </p:nvPr>
        </p:nvSpPr>
        <p:spPr>
          <a:xfrm>
            <a:off x="457200" y="1143000"/>
            <a:ext cx="8229600" cy="4525963"/>
          </a:xfrm>
        </p:spPr>
        <p:txBody>
          <a:bodyPr/>
          <a:lstStyle/>
          <a:p>
            <a:pPr algn="just"/>
            <a:r>
              <a:rPr lang="en-US" sz="2400" dirty="0"/>
              <a:t>PHP is a server scripting language, and a powerful tool for making dynamic and interactive Web pages.</a:t>
            </a:r>
          </a:p>
          <a:p>
            <a:pPr algn="just"/>
            <a:r>
              <a:rPr lang="en-US" sz="2400" dirty="0"/>
              <a:t>PHP is a widely-used, free, and efficient alternative to competitors such as Microsoft's ASP</a:t>
            </a:r>
            <a:r>
              <a:rPr lang="en-US" sz="2400" dirty="0" smtClean="0"/>
              <a:t>.</a:t>
            </a:r>
          </a:p>
          <a:p>
            <a:pPr algn="just"/>
            <a:endParaRPr lang="en-US" dirty="0"/>
          </a:p>
          <a:p>
            <a:endParaRPr lang="en-US" dirty="0"/>
          </a:p>
        </p:txBody>
      </p:sp>
      <p:graphicFrame>
        <p:nvGraphicFramePr>
          <p:cNvPr id="4" name="Table 3"/>
          <p:cNvGraphicFramePr>
            <a:graphicFrameLocks noGrp="1"/>
          </p:cNvGraphicFramePr>
          <p:nvPr/>
        </p:nvGraphicFramePr>
        <p:xfrm>
          <a:off x="4419600" y="3733800"/>
          <a:ext cx="4648200" cy="2834640"/>
        </p:xfrm>
        <a:graphic>
          <a:graphicData uri="http://schemas.openxmlformats.org/drawingml/2006/table">
            <a:tbl>
              <a:tblPr firstRow="1" bandRow="1">
                <a:tableStyleId>{5C22544A-7EE6-4342-B048-85BDC9FD1C3A}</a:tableStyleId>
              </a:tblPr>
              <a:tblGrid>
                <a:gridCol w="4648200"/>
              </a:tblGrid>
              <a:tr h="2133600">
                <a:tc>
                  <a:txBody>
                    <a:bodyPr/>
                    <a:lstStyle/>
                    <a:p>
                      <a:r>
                        <a:rPr lang="en-US" sz="1800" b="0" i="0" kern="1200" dirty="0" smtClean="0">
                          <a:solidFill>
                            <a:schemeClr val="lt1"/>
                          </a:solidFill>
                          <a:latin typeface="+mn-lt"/>
                          <a:ea typeface="+mn-ea"/>
                          <a:cs typeface="+mn-cs"/>
                        </a:rPr>
                        <a:t>&lt;!DOCTYPE html&gt;</a:t>
                      </a:r>
                      <a:r>
                        <a:rPr lang="en-US" dirty="0" smtClean="0"/>
                        <a:t/>
                      </a:r>
                      <a:br>
                        <a:rPr lang="en-US" dirty="0" smtClean="0"/>
                      </a:br>
                      <a:r>
                        <a:rPr lang="en-US" sz="1800" b="0" i="0" kern="1200" dirty="0" smtClean="0">
                          <a:solidFill>
                            <a:schemeClr val="lt1"/>
                          </a:solidFill>
                          <a:latin typeface="+mn-lt"/>
                          <a:ea typeface="+mn-ea"/>
                          <a:cs typeface="+mn-cs"/>
                        </a:rPr>
                        <a:t>&lt;html&gt;</a:t>
                      </a:r>
                      <a:r>
                        <a:rPr lang="en-US" dirty="0" smtClean="0"/>
                        <a:t/>
                      </a:r>
                      <a:br>
                        <a:rPr lang="en-US" dirty="0" smtClean="0"/>
                      </a:br>
                      <a:r>
                        <a:rPr lang="en-US" sz="1800" b="0" i="0" kern="1200" dirty="0" smtClean="0">
                          <a:solidFill>
                            <a:schemeClr val="lt1"/>
                          </a:solidFill>
                          <a:latin typeface="+mn-lt"/>
                          <a:ea typeface="+mn-ea"/>
                          <a:cs typeface="+mn-cs"/>
                        </a:rPr>
                        <a:t>&lt;body&gt;</a:t>
                      </a:r>
                      <a:r>
                        <a:rPr lang="en-US" dirty="0" smtClean="0"/>
                        <a:t/>
                      </a:r>
                      <a:br>
                        <a:rPr lang="en-US" dirty="0" smtClean="0"/>
                      </a:br>
                      <a:r>
                        <a:rPr lang="en-US" dirty="0" smtClean="0"/>
                        <a:t/>
                      </a:r>
                      <a:br>
                        <a:rPr lang="en-US" dirty="0" smtClean="0"/>
                      </a:br>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first PHP script!";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r>
                        <a:rPr lang="en-US" dirty="0" smtClean="0"/>
                        <a:t/>
                      </a:r>
                      <a:br>
                        <a:rPr lang="en-US" dirty="0" smtClean="0"/>
                      </a:br>
                      <a:r>
                        <a:rPr lang="en-US" dirty="0" smtClean="0"/>
                        <a:t/>
                      </a:r>
                      <a:br>
                        <a:rPr lang="en-US" dirty="0" smtClean="0"/>
                      </a:br>
                      <a:r>
                        <a:rPr lang="en-US" sz="1800" b="0" i="0" kern="1200" dirty="0" smtClean="0">
                          <a:solidFill>
                            <a:schemeClr val="lt1"/>
                          </a:solidFill>
                          <a:latin typeface="+mn-lt"/>
                          <a:ea typeface="+mn-ea"/>
                          <a:cs typeface="+mn-cs"/>
                        </a:rPr>
                        <a:t>&lt;/body&gt;</a:t>
                      </a:r>
                      <a:r>
                        <a:rPr lang="en-US" dirty="0" smtClean="0"/>
                        <a:t/>
                      </a:r>
                      <a:br>
                        <a:rPr lang="en-US" dirty="0" smtClean="0"/>
                      </a:br>
                      <a:r>
                        <a:rPr lang="en-US" sz="1800" b="0" i="0" kern="1200" dirty="0" smtClean="0">
                          <a:solidFill>
                            <a:schemeClr val="lt1"/>
                          </a:solidFill>
                          <a:latin typeface="+mn-lt"/>
                          <a:ea typeface="+mn-ea"/>
                          <a:cs typeface="+mn-cs"/>
                        </a:rPr>
                        <a:t>&lt;/html&gt;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sz="2400" dirty="0">
                <a:latin typeface="Times New Roman" pitchFamily="18" charset="0"/>
                <a:cs typeface="Times New Roman" pitchFamily="18" charset="0"/>
              </a:rPr>
              <a:t>PHP scripts are executed on the server</a:t>
            </a:r>
            <a:r>
              <a:rPr lang="en-US" sz="2400" dirty="0" smtClean="0">
                <a:latin typeface="Times New Roman" pitchFamily="18" charset="0"/>
                <a:cs typeface="Times New Roman" pitchFamily="18" charset="0"/>
              </a:rPr>
              <a:t>.</a:t>
            </a:r>
          </a:p>
          <a:p>
            <a:r>
              <a:rPr lang="en-US" sz="2400" dirty="0">
                <a:latin typeface="Times New Roman" pitchFamily="18" charset="0"/>
                <a:cs typeface="Times New Roman" pitchFamily="18" charset="0"/>
              </a:rPr>
              <a:t>What is PHP?</a:t>
            </a:r>
          </a:p>
          <a:p>
            <a:pPr lvl="1"/>
            <a:r>
              <a:rPr lang="en-US" sz="2000" dirty="0">
                <a:latin typeface="Times New Roman" pitchFamily="18" charset="0"/>
                <a:cs typeface="Times New Roman" pitchFamily="18" charset="0"/>
              </a:rPr>
              <a:t>PHP is an acronym for "PHP: Hypertext </a:t>
            </a:r>
            <a:r>
              <a:rPr lang="en-US" sz="2000" dirty="0" smtClean="0">
                <a:latin typeface="Times New Roman" pitchFamily="18" charset="0"/>
                <a:cs typeface="Times New Roman" pitchFamily="18" charset="0"/>
              </a:rPr>
              <a:t>Preprocessor” or “</a:t>
            </a:r>
            <a:r>
              <a:rPr lang="en-US" sz="2000" dirty="0" err="1" smtClean="0">
                <a:latin typeface="Times New Roman" pitchFamily="18" charset="0"/>
                <a:cs typeface="Times New Roman" pitchFamily="18" charset="0"/>
              </a:rPr>
              <a:t>Personel</a:t>
            </a:r>
            <a:r>
              <a:rPr lang="en-US" sz="2000" dirty="0" smtClean="0">
                <a:latin typeface="Times New Roman" pitchFamily="18" charset="0"/>
                <a:cs typeface="Times New Roman" pitchFamily="18" charset="0"/>
              </a:rPr>
              <a:t> Home Page”.</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is a widely-used, open source scripting </a:t>
            </a:r>
            <a:r>
              <a:rPr lang="en-US" sz="2000" dirty="0" smtClean="0">
                <a:latin typeface="Times New Roman" pitchFamily="18" charset="0"/>
                <a:cs typeface="Times New Roman" pitchFamily="18" charset="0"/>
              </a:rPr>
              <a:t>language.</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scripts are </a:t>
            </a:r>
            <a:r>
              <a:rPr lang="en-US" sz="2000" dirty="0" smtClean="0">
                <a:latin typeface="Times New Roman" pitchFamily="18" charset="0"/>
                <a:cs typeface="Times New Roman" pitchFamily="18" charset="0"/>
              </a:rPr>
              <a:t>executed </a:t>
            </a:r>
            <a:r>
              <a:rPr lang="en-US" sz="2000" dirty="0">
                <a:latin typeface="Times New Roman" pitchFamily="18" charset="0"/>
                <a:cs typeface="Times New Roman" pitchFamily="18" charset="0"/>
              </a:rPr>
              <a:t>on the </a:t>
            </a:r>
            <a:r>
              <a:rPr lang="en-US" sz="2000" dirty="0" smtClean="0">
                <a:latin typeface="Times New Roman" pitchFamily="18" charset="0"/>
                <a:cs typeface="Times New Roman" pitchFamily="18" charset="0"/>
              </a:rPr>
              <a:t>server. </a:t>
            </a:r>
          </a:p>
          <a:p>
            <a:pPr lvl="1"/>
            <a:r>
              <a:rPr lang="en-US" sz="2000" dirty="0" smtClean="0">
                <a:latin typeface="Times New Roman" pitchFamily="18" charset="0"/>
                <a:cs typeface="Times New Roman" pitchFamily="18" charset="0"/>
              </a:rPr>
              <a:t>PHP </a:t>
            </a:r>
            <a:r>
              <a:rPr lang="en-US" sz="2000" dirty="0">
                <a:latin typeface="Times New Roman" pitchFamily="18" charset="0"/>
                <a:cs typeface="Times New Roman" pitchFamily="18" charset="0"/>
              </a:rPr>
              <a:t>is free to download and </a:t>
            </a:r>
            <a:r>
              <a:rPr lang="en-US" sz="2000" dirty="0" smtClean="0">
                <a:latin typeface="Times New Roman" pitchFamily="18" charset="0"/>
                <a:cs typeface="Times New Roman" pitchFamily="18" charset="0"/>
              </a:rPr>
              <a:t>use.</a:t>
            </a:r>
            <a:endParaRPr lang="en-US" sz="2000" dirty="0">
              <a:latin typeface="Times New Roman" pitchFamily="18" charset="0"/>
              <a:cs typeface="Times New Roman" pitchFamily="18" charset="0"/>
            </a:endParaRPr>
          </a:p>
          <a:p>
            <a:pPr>
              <a:buNone/>
            </a:pPr>
            <a:endParaRPr lang="en-US" sz="2400" dirty="0"/>
          </a:p>
          <a:p>
            <a:pPr lvl="1"/>
            <a:endParaRPr lang="en-US" sz="2000" dirty="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PHP File</a:t>
            </a:r>
            <a:r>
              <a:rPr lang="en-US" dirty="0" smtClean="0"/>
              <a:t>?</a:t>
            </a:r>
            <a:endParaRPr lang="en-US" dirty="0"/>
          </a:p>
        </p:txBody>
      </p:sp>
      <p:sp>
        <p:nvSpPr>
          <p:cNvPr id="3" name="Content Placeholder 2"/>
          <p:cNvSpPr>
            <a:spLocks noGrp="1"/>
          </p:cNvSpPr>
          <p:nvPr>
            <p:ph idx="1"/>
          </p:nvPr>
        </p:nvSpPr>
        <p:spPr/>
        <p:txBody>
          <a:bodyPr/>
          <a:lstStyle/>
          <a:p>
            <a:pPr algn="just"/>
            <a:r>
              <a:rPr lang="en-US" sz="2800" dirty="0">
                <a:latin typeface="Times New Roman" pitchFamily="18" charset="0"/>
                <a:cs typeface="Times New Roman" pitchFamily="18" charset="0"/>
              </a:rPr>
              <a:t>PHP files can contain text, HTML, CSS, JavaScript, and PHP code</a:t>
            </a:r>
          </a:p>
          <a:p>
            <a:pPr algn="just"/>
            <a:r>
              <a:rPr lang="en-US" sz="2800" dirty="0">
                <a:latin typeface="Times New Roman" pitchFamily="18" charset="0"/>
                <a:cs typeface="Times New Roman" pitchFamily="18" charset="0"/>
              </a:rPr>
              <a:t>PHP code are executed on the server, and the result is returned to the browser as plain </a:t>
            </a:r>
            <a:r>
              <a:rPr lang="en-US" sz="2800" dirty="0" smtClean="0">
                <a:latin typeface="Times New Roman" pitchFamily="18" charset="0"/>
                <a:cs typeface="Times New Roman" pitchFamily="18" charset="0"/>
              </a:rPr>
              <a:t>HTML.</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PHP files have extension ".</a:t>
            </a:r>
            <a:r>
              <a:rPr lang="en-US" sz="2800" dirty="0" err="1" smtClean="0">
                <a:latin typeface="Times New Roman" pitchFamily="18" charset="0"/>
                <a:cs typeface="Times New Roman" pitchFamily="18" charset="0"/>
              </a:rPr>
              <a:t>php</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Can PHP Do</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ü"/>
            </a:pPr>
            <a:r>
              <a:rPr lang="en-US" dirty="0">
                <a:latin typeface="Times New Roman" pitchFamily="18" charset="0"/>
                <a:cs typeface="Times New Roman" pitchFamily="18" charset="0"/>
              </a:rPr>
              <a:t>PHP can generate dynamic page </a:t>
            </a:r>
            <a:r>
              <a:rPr lang="en-US" dirty="0" smtClean="0">
                <a:latin typeface="Times New Roman" pitchFamily="18" charset="0"/>
                <a:cs typeface="Times New Roman" pitchFamily="18" charset="0"/>
              </a:rPr>
              <a:t>content.</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create, open, read, write, delete, and close files on the </a:t>
            </a:r>
            <a:r>
              <a:rPr lang="en-US" dirty="0" smtClean="0">
                <a:latin typeface="Times New Roman" pitchFamily="18" charset="0"/>
                <a:cs typeface="Times New Roman" pitchFamily="18" charset="0"/>
              </a:rPr>
              <a:t>server.</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collect form </a:t>
            </a:r>
            <a:r>
              <a:rPr lang="en-US" dirty="0" smtClean="0">
                <a:latin typeface="Times New Roman" pitchFamily="18" charset="0"/>
                <a:cs typeface="Times New Roman" pitchFamily="18" charset="0"/>
              </a:rPr>
              <a:t>data.</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send and receive </a:t>
            </a:r>
            <a:r>
              <a:rPr lang="en-US" dirty="0" smtClean="0">
                <a:latin typeface="Times New Roman" pitchFamily="18" charset="0"/>
                <a:cs typeface="Times New Roman" pitchFamily="18" charset="0"/>
              </a:rPr>
              <a:t>cookies.</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add, delete, modify data in your </a:t>
            </a:r>
            <a:r>
              <a:rPr lang="en-US" dirty="0" smtClean="0">
                <a:latin typeface="Times New Roman" pitchFamily="18" charset="0"/>
                <a:cs typeface="Times New Roman" pitchFamily="18" charset="0"/>
              </a:rPr>
              <a:t>database.</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be used to control </a:t>
            </a:r>
            <a:r>
              <a:rPr lang="en-US" dirty="0" smtClean="0">
                <a:latin typeface="Times New Roman" pitchFamily="18" charset="0"/>
                <a:cs typeface="Times New Roman" pitchFamily="18" charset="0"/>
              </a:rPr>
              <a:t>user-access.</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PHP can encrypt </a:t>
            </a:r>
            <a:r>
              <a:rPr lang="en-US" dirty="0" smtClean="0">
                <a:latin typeface="Times New Roman" pitchFamily="18" charset="0"/>
                <a:cs typeface="Times New Roman" pitchFamily="18" charset="0"/>
              </a:rPr>
              <a:t>data.</a:t>
            </a:r>
            <a:endParaRPr lang="en-US" dirty="0">
              <a:latin typeface="Times New Roman" pitchFamily="18" charset="0"/>
              <a:cs typeface="Times New Roman" pitchFamily="18" charset="0"/>
            </a:endParaRPr>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PHP</a:t>
            </a:r>
            <a:r>
              <a:rPr lang="en-US" dirty="0" smtClean="0"/>
              <a:t>?</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2800" dirty="0">
                <a:latin typeface="Times New Roman" pitchFamily="18" charset="0"/>
                <a:cs typeface="Times New Roman" pitchFamily="18" charset="0"/>
              </a:rPr>
              <a:t>PHP runs on various platforms (Windows, Linux, Unix, Mac OS X, etc.)</a:t>
            </a:r>
          </a:p>
          <a:p>
            <a:pPr algn="just">
              <a:buFont typeface="Wingdings" pitchFamily="2" charset="2"/>
              <a:buChar char="Ø"/>
            </a:pPr>
            <a:r>
              <a:rPr lang="en-US" sz="2800" dirty="0">
                <a:latin typeface="Times New Roman" pitchFamily="18" charset="0"/>
                <a:cs typeface="Times New Roman" pitchFamily="18" charset="0"/>
              </a:rPr>
              <a:t>PHP is compatible with almost all servers used today </a:t>
            </a:r>
            <a:r>
              <a:rPr lang="en-US" sz="2800" dirty="0" smtClean="0">
                <a:latin typeface="Times New Roman" pitchFamily="18" charset="0"/>
                <a:cs typeface="Times New Roman" pitchFamily="18" charset="0"/>
              </a:rPr>
              <a:t>for example (Apache</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IIS).</a:t>
            </a:r>
            <a:endParaRPr lang="en-US" sz="2800" dirty="0">
              <a:latin typeface="Times New Roman" pitchFamily="18" charset="0"/>
              <a:cs typeface="Times New Roman" pitchFamily="18" charset="0"/>
            </a:endParaRPr>
          </a:p>
          <a:p>
            <a:pPr algn="just">
              <a:buFont typeface="Wingdings" pitchFamily="2" charset="2"/>
              <a:buChar char="Ø"/>
            </a:pPr>
            <a:r>
              <a:rPr lang="en-US" sz="2800" dirty="0">
                <a:latin typeface="Times New Roman" pitchFamily="18" charset="0"/>
                <a:cs typeface="Times New Roman" pitchFamily="18" charset="0"/>
              </a:rPr>
              <a:t>PHP supports a wide range of databases</a:t>
            </a:r>
          </a:p>
          <a:p>
            <a:pPr algn="just">
              <a:buFont typeface="Wingdings" pitchFamily="2" charset="2"/>
              <a:buChar char="Ø"/>
            </a:pPr>
            <a:r>
              <a:rPr lang="en-US" sz="2800" dirty="0">
                <a:latin typeface="Times New Roman" pitchFamily="18" charset="0"/>
                <a:cs typeface="Times New Roman" pitchFamily="18" charset="0"/>
              </a:rPr>
              <a:t>PHP is free. Download it from the official PHP resource: </a:t>
            </a:r>
            <a:r>
              <a:rPr lang="en-US" sz="2800" dirty="0">
                <a:latin typeface="Times New Roman" pitchFamily="18" charset="0"/>
                <a:cs typeface="Times New Roman" pitchFamily="18" charset="0"/>
                <a:hlinkClick r:id="rId2"/>
              </a:rPr>
              <a:t>www.php.net</a:t>
            </a:r>
            <a:endParaRPr lang="en-US" sz="2800" dirty="0">
              <a:latin typeface="Times New Roman" pitchFamily="18" charset="0"/>
              <a:cs typeface="Times New Roman" pitchFamily="18" charset="0"/>
            </a:endParaRPr>
          </a:p>
          <a:p>
            <a:pPr algn="just">
              <a:buFont typeface="Wingdings" pitchFamily="2" charset="2"/>
              <a:buChar char="Ø"/>
            </a:pPr>
            <a:r>
              <a:rPr lang="en-US" sz="2800" dirty="0">
                <a:latin typeface="Times New Roman" pitchFamily="18" charset="0"/>
                <a:cs typeface="Times New Roman" pitchFamily="18" charset="0"/>
              </a:rPr>
              <a:t>PHP is easy to learn and runs efficiently on the server side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Do I Need</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ü"/>
            </a:pPr>
            <a:r>
              <a:rPr lang="en-US" dirty="0">
                <a:latin typeface="Times New Roman" pitchFamily="18" charset="0"/>
                <a:cs typeface="Times New Roman" pitchFamily="18" charset="0"/>
              </a:rPr>
              <a:t>To start using PHP, you can:</a:t>
            </a:r>
          </a:p>
          <a:p>
            <a:pPr lvl="1"/>
            <a:r>
              <a:rPr lang="en-US" sz="3200" dirty="0">
                <a:latin typeface="Times New Roman" pitchFamily="18" charset="0"/>
                <a:cs typeface="Times New Roman" pitchFamily="18" charset="0"/>
              </a:rPr>
              <a:t>Find a web host with PHP and </a:t>
            </a:r>
            <a:r>
              <a:rPr lang="en-US" sz="3200" dirty="0" err="1">
                <a:latin typeface="Times New Roman" pitchFamily="18" charset="0"/>
                <a:cs typeface="Times New Roman" pitchFamily="18" charset="0"/>
              </a:rPr>
              <a:t>MySQL</a:t>
            </a:r>
            <a:r>
              <a:rPr lang="en-US" sz="3200" dirty="0">
                <a:latin typeface="Times New Roman" pitchFamily="18" charset="0"/>
                <a:cs typeface="Times New Roman" pitchFamily="18" charset="0"/>
              </a:rPr>
              <a:t> support</a:t>
            </a:r>
          </a:p>
          <a:p>
            <a:pPr lvl="1"/>
            <a:r>
              <a:rPr lang="en-US" sz="3200" dirty="0">
                <a:latin typeface="Times New Roman" pitchFamily="18" charset="0"/>
                <a:cs typeface="Times New Roman" pitchFamily="18" charset="0"/>
              </a:rPr>
              <a:t>Install a web server on your own PC, and then install PHP and </a:t>
            </a:r>
            <a:r>
              <a:rPr lang="en-US" sz="3200" dirty="0" err="1">
                <a:latin typeface="Times New Roman" pitchFamily="18" charset="0"/>
                <a:cs typeface="Times New Roman" pitchFamily="18" charset="0"/>
              </a:rPr>
              <a:t>MySQL</a:t>
            </a:r>
            <a:endParaRPr lang="en-US" sz="3200" dirty="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Use a Web Host With PHP Support</a:t>
            </a:r>
          </a:p>
          <a:p>
            <a:pPr algn="just">
              <a:buFont typeface="Wingdings" pitchFamily="2" charset="2"/>
              <a:buChar char="Ø"/>
            </a:pPr>
            <a:r>
              <a:rPr lang="en-US" dirty="0">
                <a:latin typeface="Times New Roman" pitchFamily="18" charset="0"/>
                <a:cs typeface="Times New Roman" pitchFamily="18" charset="0"/>
              </a:rPr>
              <a:t>If your server has activated support for PHP you do not need to do anything.</a:t>
            </a:r>
          </a:p>
          <a:p>
            <a:pPr algn="just">
              <a:buFont typeface="Wingdings" pitchFamily="2" charset="2"/>
              <a:buChar char="Ø"/>
            </a:pPr>
            <a:r>
              <a:rPr lang="en-US" dirty="0">
                <a:latin typeface="Times New Roman" pitchFamily="18" charset="0"/>
                <a:cs typeface="Times New Roman" pitchFamily="18" charset="0"/>
              </a:rPr>
              <a:t>Just create some .</a:t>
            </a:r>
            <a:r>
              <a:rPr lang="en-US" dirty="0" err="1">
                <a:latin typeface="Times New Roman" pitchFamily="18" charset="0"/>
                <a:cs typeface="Times New Roman" pitchFamily="18" charset="0"/>
              </a:rPr>
              <a:t>php</a:t>
            </a:r>
            <a:r>
              <a:rPr lang="en-US" dirty="0">
                <a:latin typeface="Times New Roman" pitchFamily="18" charset="0"/>
                <a:cs typeface="Times New Roman" pitchFamily="18" charset="0"/>
              </a:rPr>
              <a:t> files, place them in your web directory, and the server will automatically parse them for you.</a:t>
            </a:r>
          </a:p>
          <a:p>
            <a:pPr algn="just">
              <a:buFont typeface="Wingdings" pitchFamily="2" charset="2"/>
              <a:buChar char="Ø"/>
            </a:pPr>
            <a:r>
              <a:rPr lang="en-US" dirty="0">
                <a:latin typeface="Times New Roman" pitchFamily="18" charset="0"/>
                <a:cs typeface="Times New Roman" pitchFamily="18" charset="0"/>
              </a:rPr>
              <a:t>You do not need to compile anything or install any extra tools.</a:t>
            </a:r>
          </a:p>
          <a:p>
            <a:pPr algn="just">
              <a:buFont typeface="Wingdings" pitchFamily="2" charset="2"/>
              <a:buChar char="Ø"/>
            </a:pPr>
            <a:r>
              <a:rPr lang="en-US" dirty="0">
                <a:latin typeface="Times New Roman" pitchFamily="18" charset="0"/>
                <a:cs typeface="Times New Roman" pitchFamily="18" charset="0"/>
              </a:rPr>
              <a:t>Because PHP is free, most web hosts offer PHP support</a:t>
            </a:r>
            <a:r>
              <a:rPr lang="en-US" dirty="0" smtClean="0">
                <a:latin typeface="Times New Roman" pitchFamily="18" charset="0"/>
                <a:cs typeface="Times New Roman" pitchFamily="18" charset="0"/>
              </a:rPr>
              <a:t>.</a:t>
            </a:r>
          </a:p>
          <a:p>
            <a:pPr algn="just">
              <a:buFont typeface="Wingdings" pitchFamily="2" charset="2"/>
              <a:buChar char="Ø"/>
            </a:pPr>
            <a:r>
              <a:rPr lang="en-US" dirty="0" smtClean="0">
                <a:latin typeface="Times New Roman" pitchFamily="18" charset="0"/>
                <a:cs typeface="Times New Roman" pitchFamily="18" charset="0"/>
              </a:rPr>
              <a:t>PHP &amp; MYSQL is fully free available in  following:</a:t>
            </a:r>
          </a:p>
          <a:p>
            <a:pPr lvl="1" algn="just">
              <a:buFont typeface="Wingdings" pitchFamily="2" charset="2"/>
              <a:buChar char="q"/>
            </a:pPr>
            <a:r>
              <a:rPr lang="en-US" b="1" u="sng" dirty="0" err="1">
                <a:solidFill>
                  <a:srgbClr val="FF0000"/>
                </a:solidFill>
                <a:latin typeface="Times New Roman" pitchFamily="18" charset="0"/>
                <a:cs typeface="Times New Roman" pitchFamily="18" charset="0"/>
              </a:rPr>
              <a:t>W</a:t>
            </a:r>
            <a:r>
              <a:rPr lang="en-US" b="1" u="sng" dirty="0" err="1" smtClean="0">
                <a:solidFill>
                  <a:srgbClr val="FF0000"/>
                </a:solidFill>
                <a:latin typeface="Times New Roman" pitchFamily="18" charset="0"/>
                <a:cs typeface="Times New Roman" pitchFamily="18" charset="0"/>
              </a:rPr>
              <a:t>amp</a:t>
            </a:r>
            <a:r>
              <a:rPr lang="en-US" b="1" u="sng" dirty="0" smtClean="0">
                <a:solidFill>
                  <a:srgbClr val="FF0000"/>
                </a:solidFill>
                <a:latin typeface="Times New Roman" pitchFamily="18" charset="0"/>
                <a:cs typeface="Times New Roman" pitchFamily="18" charset="0"/>
              </a:rPr>
              <a:t> server </a:t>
            </a:r>
          </a:p>
          <a:p>
            <a:pPr lvl="1" algn="just">
              <a:buFont typeface="Wingdings" pitchFamily="2" charset="2"/>
              <a:buChar char="q"/>
            </a:pPr>
            <a:r>
              <a:rPr lang="en-US" b="1" u="sng" dirty="0" err="1" smtClean="0">
                <a:solidFill>
                  <a:srgbClr val="FF0000"/>
                </a:solidFill>
                <a:latin typeface="Times New Roman" pitchFamily="18" charset="0"/>
                <a:cs typeface="Times New Roman" pitchFamily="18" charset="0"/>
              </a:rPr>
              <a:t>Xampp</a:t>
            </a:r>
            <a:r>
              <a:rPr lang="en-US" b="1" u="sng" dirty="0" smtClean="0">
                <a:solidFill>
                  <a:srgbClr val="FF0000"/>
                </a:solidFill>
                <a:latin typeface="Times New Roman" pitchFamily="18" charset="0"/>
                <a:cs typeface="Times New Roman" pitchFamily="18" charset="0"/>
              </a:rPr>
              <a:t> Server</a:t>
            </a:r>
            <a:endParaRPr lang="en-US" b="1" u="sng" dirty="0">
              <a:solidFill>
                <a:srgbClr val="FF0000"/>
              </a:solidFill>
              <a:latin typeface="Times New Roman" pitchFamily="18" charset="0"/>
              <a:cs typeface="Times New Roman" pitchFamily="18" charset="0"/>
            </a:endParaRPr>
          </a:p>
          <a:p>
            <a:pPr algn="just">
              <a:buFont typeface="Wingdings" pitchFamily="2" charset="2"/>
              <a:buChar char="Ø"/>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PHP</a:t>
            </a:r>
            <a:r>
              <a:rPr lang="en-US" dirty="0"/>
              <a:t> </a:t>
            </a:r>
            <a:r>
              <a:rPr lang="en-US" dirty="0" smtClean="0"/>
              <a:t>Syntax</a:t>
            </a:r>
            <a:endParaRPr lang="en-US" dirty="0"/>
          </a:p>
        </p:txBody>
      </p:sp>
      <p:sp>
        <p:nvSpPr>
          <p:cNvPr id="3" name="Content Placeholder 2"/>
          <p:cNvSpPr>
            <a:spLocks noGrp="1"/>
          </p:cNvSpPr>
          <p:nvPr>
            <p:ph idx="1"/>
          </p:nvPr>
        </p:nvSpPr>
        <p:spPr/>
        <p:txBody>
          <a:bodyPr/>
          <a:lstStyle/>
          <a:p>
            <a:pPr algn="just">
              <a:buFont typeface="Wingdings" pitchFamily="2" charset="2"/>
              <a:buChar char="§"/>
            </a:pPr>
            <a:r>
              <a:rPr lang="en-US" sz="2400" dirty="0">
                <a:latin typeface="Times New Roman" pitchFamily="18" charset="0"/>
                <a:cs typeface="Times New Roman" pitchFamily="18" charset="0"/>
              </a:rPr>
              <a:t>A PHP script is executed on the server, and the plain HTML result is sent back to the browser</a:t>
            </a:r>
            <a:r>
              <a:rPr lang="en-US" sz="2400" dirty="0" smtClean="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A PHP script can be placed anywhere in the document.</a:t>
            </a:r>
          </a:p>
          <a:p>
            <a:pPr algn="just">
              <a:buFont typeface="Wingdings" pitchFamily="2" charset="2"/>
              <a:buChar char="§"/>
            </a:pPr>
            <a:r>
              <a:rPr lang="en-US" sz="2400" dirty="0">
                <a:latin typeface="Times New Roman" pitchFamily="18" charset="0"/>
                <a:cs typeface="Times New Roman" pitchFamily="18" charset="0"/>
              </a:rPr>
              <a:t>A PHP script starts with </a:t>
            </a:r>
            <a:r>
              <a:rPr lang="en-US" sz="2400" b="1" dirty="0">
                <a:latin typeface="Times New Roman" pitchFamily="18" charset="0"/>
                <a:cs typeface="Times New Roman" pitchFamily="18" charset="0"/>
              </a:rPr>
              <a:t>&lt;?</a:t>
            </a:r>
            <a:r>
              <a:rPr lang="en-US" sz="2400" b="1" dirty="0" err="1">
                <a:latin typeface="Times New Roman" pitchFamily="18" charset="0"/>
                <a:cs typeface="Times New Roman" pitchFamily="18" charset="0"/>
              </a:rPr>
              <a:t>php</a:t>
            </a:r>
            <a:r>
              <a:rPr lang="en-US" sz="2400" dirty="0">
                <a:latin typeface="Times New Roman" pitchFamily="18" charset="0"/>
                <a:cs typeface="Times New Roman" pitchFamily="18" charset="0"/>
              </a:rPr>
              <a:t> and ends with </a:t>
            </a:r>
            <a:r>
              <a:rPr lang="en-US" sz="2400" b="1" dirty="0" smtClean="0">
                <a:latin typeface="Times New Roman" pitchFamily="18" charset="0"/>
                <a:cs typeface="Times New Roman" pitchFamily="18" charset="0"/>
              </a:rPr>
              <a:t>?&gt;</a:t>
            </a:r>
            <a:r>
              <a:rPr lang="en-US" sz="2400" dirty="0" smtClean="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The default file extension for PHP files is ".</a:t>
            </a:r>
            <a:r>
              <a:rPr lang="en-US" sz="2400" dirty="0" err="1">
                <a:latin typeface="Times New Roman" pitchFamily="18" charset="0"/>
                <a:cs typeface="Times New Roman" pitchFamily="18" charset="0"/>
              </a:rPr>
              <a:t>php</a:t>
            </a:r>
            <a:r>
              <a:rPr lang="en-US" sz="2400" dirty="0">
                <a:latin typeface="Times New Roman" pitchFamily="18" charset="0"/>
                <a:cs typeface="Times New Roman" pitchFamily="18" charset="0"/>
              </a:rPr>
              <a:t>".</a:t>
            </a:r>
          </a:p>
          <a:p>
            <a:pPr algn="just">
              <a:buFont typeface="Wingdings" pitchFamily="2" charset="2"/>
              <a:buChar char="§"/>
            </a:pPr>
            <a:r>
              <a:rPr lang="en-US" sz="2400" dirty="0">
                <a:latin typeface="Times New Roman" pitchFamily="18" charset="0"/>
                <a:cs typeface="Times New Roman" pitchFamily="18" charset="0"/>
              </a:rPr>
              <a:t>A PHP file normally contains HTML tags, and some PHP scripting code.</a:t>
            </a:r>
          </a:p>
          <a:p>
            <a:pPr algn="just"/>
            <a:endParaRPr lang="en-US" sz="2400" dirty="0">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5867400" y="4876800"/>
          <a:ext cx="2590800" cy="1219200"/>
        </p:xfrm>
        <a:graphic>
          <a:graphicData uri="http://schemas.openxmlformats.org/drawingml/2006/table">
            <a:tbl>
              <a:tblPr firstRow="1" bandRow="1">
                <a:tableStyleId>{5C22544A-7EE6-4342-B048-85BDC9FD1C3A}</a:tableStyleId>
              </a:tblPr>
              <a:tblGrid>
                <a:gridCol w="2590800"/>
              </a:tblGrid>
              <a:tr h="121920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dirty="0" smtClean="0"/>
                        <a:t/>
                      </a:r>
                      <a:br>
                        <a:rPr lang="en-US" dirty="0" smtClean="0"/>
                      </a:br>
                      <a:r>
                        <a:rPr lang="en-US" sz="1800" b="0" i="0" kern="1200" dirty="0" smtClean="0">
                          <a:solidFill>
                            <a:schemeClr val="lt1"/>
                          </a:solidFill>
                          <a:latin typeface="+mn-lt"/>
                          <a:ea typeface="+mn-ea"/>
                          <a:cs typeface="+mn-cs"/>
                        </a:rPr>
                        <a:t>// PHP code goes here</a:t>
                      </a:r>
                      <a:r>
                        <a:rPr lang="en-US" dirty="0" smtClean="0"/>
                        <a:t/>
                      </a:r>
                      <a:br>
                        <a:rPr lang="en-US" dirty="0" smtClean="0"/>
                      </a:br>
                      <a:r>
                        <a:rPr lang="en-US" sz="1800" b="0" i="0" kern="1200" dirty="0" smtClean="0">
                          <a:solidFill>
                            <a:schemeClr val="lt1"/>
                          </a:solidFill>
                          <a:latin typeface="+mn-lt"/>
                          <a:ea typeface="+mn-ea"/>
                          <a:cs typeface="+mn-cs"/>
                        </a:rPr>
                        <a:t>?&gt;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2800" dirty="0">
                <a:latin typeface="Times New Roman" pitchFamily="18" charset="0"/>
                <a:cs typeface="Times New Roman" pitchFamily="18" charset="0"/>
              </a:rPr>
              <a:t>Comments in </a:t>
            </a:r>
            <a:r>
              <a:rPr lang="en-US" sz="2800" dirty="0" smtClean="0">
                <a:latin typeface="Times New Roman" pitchFamily="18" charset="0"/>
                <a:cs typeface="Times New Roman" pitchFamily="18" charset="0"/>
              </a:rPr>
              <a:t>PHP</a:t>
            </a:r>
            <a:endParaRPr lang="en-US" sz="28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447800" y="990600"/>
          <a:ext cx="6400800" cy="5440680"/>
        </p:xfrm>
        <a:graphic>
          <a:graphicData uri="http://schemas.openxmlformats.org/drawingml/2006/table">
            <a:tbl>
              <a:tblPr firstRow="1" bandRow="1">
                <a:tableStyleId>{5C22544A-7EE6-4342-B048-85BDC9FD1C3A}</a:tableStyleId>
              </a:tblPr>
              <a:tblGrid>
                <a:gridCol w="6400800"/>
              </a:tblGrid>
              <a:tr h="5440680">
                <a:tc>
                  <a:txBody>
                    <a:bodyPr/>
                    <a:lstStyle/>
                    <a:p>
                      <a:r>
                        <a:rPr lang="en-US" sz="1800" b="1" i="0" kern="1200" dirty="0" smtClean="0">
                          <a:solidFill>
                            <a:schemeClr val="lt1"/>
                          </a:solidFill>
                          <a:latin typeface="+mn-lt"/>
                          <a:ea typeface="+mn-ea"/>
                          <a:cs typeface="+mn-cs"/>
                        </a:rPr>
                        <a:t>&lt;!DOCTYPE html&gt;</a:t>
                      </a:r>
                      <a:r>
                        <a:rPr lang="en-US" b="1" dirty="0" smtClean="0"/>
                        <a:t/>
                      </a:r>
                      <a:br>
                        <a:rPr lang="en-US" b="1" dirty="0" smtClean="0"/>
                      </a:br>
                      <a:r>
                        <a:rPr lang="en-US" sz="1800" b="1" i="0" kern="1200" dirty="0" smtClean="0">
                          <a:solidFill>
                            <a:schemeClr val="lt1"/>
                          </a:solidFill>
                          <a:latin typeface="+mn-lt"/>
                          <a:ea typeface="+mn-ea"/>
                          <a:cs typeface="+mn-cs"/>
                        </a:rPr>
                        <a:t>&lt;html&gt;</a:t>
                      </a:r>
                      <a:r>
                        <a:rPr lang="en-US" b="1" dirty="0" smtClean="0"/>
                        <a:t/>
                      </a:r>
                      <a:br>
                        <a:rPr lang="en-US" b="1" dirty="0" smtClean="0"/>
                      </a:br>
                      <a:r>
                        <a:rPr lang="en-US" sz="1800" b="1" i="0" kern="1200" dirty="0" smtClean="0">
                          <a:solidFill>
                            <a:schemeClr val="lt1"/>
                          </a:solidFill>
                          <a:latin typeface="+mn-lt"/>
                          <a:ea typeface="+mn-ea"/>
                          <a:cs typeface="+mn-cs"/>
                        </a:rPr>
                        <a:t>&lt;body&gt;</a:t>
                      </a:r>
                      <a:r>
                        <a:rPr lang="en-US" b="1" dirty="0" smtClean="0"/>
                        <a:t/>
                      </a:r>
                      <a:br>
                        <a:rPr lang="en-US" b="1" dirty="0" smtClean="0"/>
                      </a:br>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sz="1800" b="1" i="0" kern="1200" dirty="0" smtClean="0">
                          <a:solidFill>
                            <a:schemeClr val="lt1"/>
                          </a:solidFill>
                          <a:latin typeface="+mn-lt"/>
                          <a:ea typeface="+mn-ea"/>
                          <a:cs typeface="+mn-cs"/>
                        </a:rPr>
                        <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This is a single-line comment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This is also a single-line comment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This is a multiple-lines comment block</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that spans over multiple</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lines</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 You can also use comments to leave out parts of a code line</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$x = 5 /* + 15 */ + 5;</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echo $x;</a:t>
                      </a:r>
                      <a:br>
                        <a:rPr lang="en-US" sz="1800" b="1" i="0" kern="1200" dirty="0" smtClean="0">
                          <a:solidFill>
                            <a:schemeClr val="lt1"/>
                          </a:solidFill>
                          <a:latin typeface="+mn-lt"/>
                          <a:ea typeface="+mn-ea"/>
                          <a:cs typeface="+mn-cs"/>
                        </a:rPr>
                      </a:br>
                      <a:r>
                        <a:rPr lang="en-US" sz="1800" b="1" i="0" kern="1200" dirty="0" smtClean="0">
                          <a:solidFill>
                            <a:schemeClr val="lt1"/>
                          </a:solidFill>
                          <a:latin typeface="+mn-lt"/>
                          <a:ea typeface="+mn-ea"/>
                          <a:cs typeface="+mn-cs"/>
                        </a:rPr>
                        <a:t>?&gt;</a:t>
                      </a:r>
                      <a:r>
                        <a:rPr lang="en-US" b="1" dirty="0" smtClean="0"/>
                        <a:t/>
                      </a:r>
                      <a:br>
                        <a:rPr lang="en-US" b="1" dirty="0" smtClean="0"/>
                      </a:br>
                      <a:r>
                        <a:rPr lang="en-US" b="1" dirty="0" smtClean="0"/>
                        <a:t/>
                      </a:r>
                      <a:br>
                        <a:rPr lang="en-US" b="1" dirty="0" smtClean="0"/>
                      </a:br>
                      <a:r>
                        <a:rPr lang="en-US" sz="1800" b="1" i="0" kern="1200" dirty="0" smtClean="0">
                          <a:solidFill>
                            <a:schemeClr val="lt1"/>
                          </a:solidFill>
                          <a:latin typeface="+mn-lt"/>
                          <a:ea typeface="+mn-ea"/>
                          <a:cs typeface="+mn-cs"/>
                        </a:rPr>
                        <a:t>&lt;/body&gt;</a:t>
                      </a:r>
                      <a:r>
                        <a:rPr lang="en-US" b="1" dirty="0" smtClean="0"/>
                        <a:t/>
                      </a:r>
                      <a:br>
                        <a:rPr lang="en-US" b="1" dirty="0" smtClean="0"/>
                      </a:br>
                      <a:r>
                        <a:rPr lang="en-US" sz="1800" b="1" i="0" kern="1200" dirty="0" smtClean="0">
                          <a:solidFill>
                            <a:schemeClr val="lt1"/>
                          </a:solidFill>
                          <a:latin typeface="+mn-lt"/>
                          <a:ea typeface="+mn-ea"/>
                          <a:cs typeface="+mn-cs"/>
                        </a:rPr>
                        <a:t>&lt;/html&gt;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Case </a:t>
            </a:r>
            <a:r>
              <a:rPr lang="en-US" dirty="0" smtClean="0"/>
              <a:t>Sensitivity</a:t>
            </a:r>
            <a:endParaRPr lang="en-US" dirty="0"/>
          </a:p>
        </p:txBody>
      </p:sp>
      <p:sp>
        <p:nvSpPr>
          <p:cNvPr id="3" name="Content Placeholder 2"/>
          <p:cNvSpPr>
            <a:spLocks noGrp="1"/>
          </p:cNvSpPr>
          <p:nvPr>
            <p:ph idx="1"/>
          </p:nvPr>
        </p:nvSpPr>
        <p:spPr/>
        <p:txBody>
          <a:bodyPr/>
          <a:lstStyle/>
          <a:p>
            <a:pPr algn="just"/>
            <a:r>
              <a:rPr lang="en-US" sz="2400" dirty="0">
                <a:latin typeface="Times New Roman" pitchFamily="18" charset="0"/>
                <a:cs typeface="Times New Roman" pitchFamily="18" charset="0"/>
              </a:rPr>
              <a:t>In PHP, all keywords (e.g. if, else, while, echo, etc.), classes, functions, and user-defined functions are NOT case-sensitive.</a:t>
            </a:r>
          </a:p>
          <a:p>
            <a:pPr algn="just"/>
            <a:r>
              <a:rPr lang="en-US" sz="2400" dirty="0">
                <a:latin typeface="Times New Roman" pitchFamily="18" charset="0"/>
                <a:cs typeface="Times New Roman" pitchFamily="18" charset="0"/>
              </a:rPr>
              <a:t>In the example below, all three echo statements below are legal (and equal</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However; all variable names are case-sensitive.</a:t>
            </a:r>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4876800" y="3886200"/>
          <a:ext cx="2819400" cy="1737360"/>
        </p:xfrm>
        <a:graphic>
          <a:graphicData uri="http://schemas.openxmlformats.org/drawingml/2006/table">
            <a:tbl>
              <a:tblPr firstRow="1" bandRow="1">
                <a:tableStyleId>{5C22544A-7EE6-4342-B048-85BDC9FD1C3A}</a:tableStyleId>
              </a:tblPr>
              <a:tblGrid>
                <a:gridCol w="2819400"/>
              </a:tblGrid>
              <a:tr h="37084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err="1" smtClean="0">
                          <a:solidFill>
                            <a:schemeClr val="lt1"/>
                          </a:solidFill>
                          <a:latin typeface="+mn-lt"/>
                          <a:ea typeface="+mn-ea"/>
                          <a:cs typeface="+mn-cs"/>
                        </a:rPr>
                        <a:t>EcHo</a:t>
                      </a:r>
                      <a:r>
                        <a:rPr lang="en-US" sz="1800" b="0" i="0" kern="1200" dirty="0" smtClean="0">
                          <a:solidFill>
                            <a:schemeClr val="lt1"/>
                          </a:solidFill>
                          <a:latin typeface="+mn-lt"/>
                          <a:ea typeface="+mn-ea"/>
                          <a:cs typeface="+mn-cs"/>
                        </a:rPr>
                        <a:t> "Hello World!&lt;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r>
                        <a:rPr lang="en-US" dirty="0" smtClean="0"/>
                        <a:t/>
                      </a:r>
                      <a:br>
                        <a:rPr lang="en-US" dirty="0" smtClean="0"/>
                      </a:br>
                      <a:endParaRPr lang="en-US" dirty="0"/>
                    </a:p>
                  </a:txBody>
                  <a:tcPr/>
                </a:tc>
              </a:tr>
            </a:tbl>
          </a:graphicData>
        </a:graphic>
      </p:graphicFrame>
      <p:graphicFrame>
        <p:nvGraphicFramePr>
          <p:cNvPr id="5" name="Table 4"/>
          <p:cNvGraphicFramePr>
            <a:graphicFrameLocks noGrp="1"/>
          </p:cNvGraphicFramePr>
          <p:nvPr/>
        </p:nvGraphicFramePr>
        <p:xfrm>
          <a:off x="838200" y="3886200"/>
          <a:ext cx="3886200" cy="1737360"/>
        </p:xfrm>
        <a:graphic>
          <a:graphicData uri="http://schemas.openxmlformats.org/drawingml/2006/table">
            <a:tbl>
              <a:tblPr firstRow="1" bandRow="1">
                <a:tableStyleId>{5C22544A-7EE6-4342-B048-85BDC9FD1C3A}</a:tableStyleId>
              </a:tblPr>
              <a:tblGrid>
                <a:gridCol w="3886200"/>
              </a:tblGrid>
              <a:tr h="370840">
                <a:tc>
                  <a:txBody>
                    <a:bodyPr/>
                    <a:lstStyle/>
                    <a:p>
                      <a:r>
                        <a:rPr lang="en-US" sz="1800" b="0" i="0" kern="1200" dirty="0" smtClean="0">
                          <a:solidFill>
                            <a:schemeClr val="lt1"/>
                          </a:solidFill>
                          <a:latin typeface="+mn-lt"/>
                          <a:ea typeface="+mn-ea"/>
                          <a:cs typeface="+mn-cs"/>
                        </a:rPr>
                        <a:t>&lt;?</a:t>
                      </a:r>
                      <a:r>
                        <a:rPr lang="en-US" sz="1800" b="0" i="0" kern="1200" dirty="0" err="1" smtClean="0">
                          <a:solidFill>
                            <a:schemeClr val="lt1"/>
                          </a:solidFill>
                          <a:latin typeface="+mn-lt"/>
                          <a:ea typeface="+mn-ea"/>
                          <a:cs typeface="+mn-cs"/>
                        </a:rPr>
                        <a:t>php</a:t>
                      </a:r>
                      <a:r>
                        <a:rPr lang="en-US" sz="1800" b="0" i="0" kern="1200" dirty="0" smtClean="0">
                          <a:solidFill>
                            <a:schemeClr val="lt1"/>
                          </a:solidFill>
                          <a:latin typeface="+mn-lt"/>
                          <a:ea typeface="+mn-ea"/>
                          <a:cs typeface="+mn-cs"/>
                        </a:rPr>
                        <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$color = "red";</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car is " . $color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house is " . $COLOR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echo "My boat is " . $</a:t>
                      </a:r>
                      <a:r>
                        <a:rPr lang="en-US" sz="1800" b="0" i="0" kern="1200" dirty="0" err="1" smtClean="0">
                          <a:solidFill>
                            <a:schemeClr val="lt1"/>
                          </a:solidFill>
                          <a:latin typeface="+mn-lt"/>
                          <a:ea typeface="+mn-ea"/>
                          <a:cs typeface="+mn-cs"/>
                        </a:rPr>
                        <a:t>coLOR</a:t>
                      </a:r>
                      <a:r>
                        <a:rPr lang="en-US" sz="1800" b="0" i="0" kern="1200" dirty="0" smtClean="0">
                          <a:solidFill>
                            <a:schemeClr val="lt1"/>
                          </a:solidFill>
                          <a:latin typeface="+mn-lt"/>
                          <a:ea typeface="+mn-ea"/>
                          <a:cs typeface="+mn-cs"/>
                        </a:rPr>
                        <a:t> . "&lt;</a:t>
                      </a:r>
                      <a:r>
                        <a:rPr lang="en-US" sz="1800" b="0" i="0" kern="1200" dirty="0" err="1" smtClean="0">
                          <a:solidFill>
                            <a:schemeClr val="lt1"/>
                          </a:solidFill>
                          <a:latin typeface="+mn-lt"/>
                          <a:ea typeface="+mn-ea"/>
                          <a:cs typeface="+mn-cs"/>
                        </a:rPr>
                        <a:t>br</a:t>
                      </a:r>
                      <a:r>
                        <a:rPr lang="en-US" sz="1800" b="0" i="0" kern="1200" dirty="0" smtClean="0">
                          <a:solidFill>
                            <a:schemeClr val="lt1"/>
                          </a:solidFill>
                          <a:latin typeface="+mn-lt"/>
                          <a:ea typeface="+mn-ea"/>
                          <a:cs typeface="+mn-cs"/>
                        </a:rPr>
                        <a:t>&gt;";</a:t>
                      </a:r>
                      <a:br>
                        <a:rPr lang="en-US" sz="1800" b="0" i="0" kern="1200" dirty="0" smtClean="0">
                          <a:solidFill>
                            <a:schemeClr val="lt1"/>
                          </a:solidFill>
                          <a:latin typeface="+mn-lt"/>
                          <a:ea typeface="+mn-ea"/>
                          <a:cs typeface="+mn-cs"/>
                        </a:rPr>
                      </a:br>
                      <a:r>
                        <a:rPr lang="en-US" sz="1800" b="0" i="0" kern="1200" dirty="0" smtClean="0">
                          <a:solidFill>
                            <a:schemeClr val="lt1"/>
                          </a:solidFill>
                          <a:latin typeface="+mn-lt"/>
                          <a:ea typeface="+mn-ea"/>
                          <a:cs typeface="+mn-cs"/>
                        </a:rPr>
                        <a:t>?&gt;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5 </a:t>
            </a:r>
            <a:r>
              <a:rPr lang="en-US" dirty="0" smtClean="0"/>
              <a:t>Variables</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Variables are "containers" for storing information</a:t>
            </a:r>
            <a:r>
              <a:rPr lang="en-US" dirty="0" smtClean="0">
                <a:latin typeface="Times New Roman" pitchFamily="18" charset="0"/>
                <a:cs typeface="Times New Roman" pitchFamily="18" charset="0"/>
              </a:rPr>
              <a:t>. </a:t>
            </a:r>
          </a:p>
          <a:p>
            <a:pPr algn="just"/>
            <a:r>
              <a:rPr lang="en-US" dirty="0">
                <a:latin typeface="Times New Roman" pitchFamily="18" charset="0"/>
                <a:cs typeface="Times New Roman" pitchFamily="18" charset="0"/>
              </a:rPr>
              <a:t>In PHP, a variable starts with the $ sign, followed by the name of the </a:t>
            </a:r>
            <a:r>
              <a:rPr lang="en-US" dirty="0" smtClean="0">
                <a:latin typeface="Times New Roman" pitchFamily="18" charset="0"/>
                <a:cs typeface="Times New Roman" pitchFamily="18" charset="0"/>
              </a:rPr>
              <a:t>variable.</a:t>
            </a:r>
          </a:p>
          <a:p>
            <a:pPr algn="just"/>
            <a:r>
              <a:rPr lang="en-US" dirty="0">
                <a:latin typeface="Times New Roman" pitchFamily="18" charset="0"/>
                <a:cs typeface="Times New Roman" pitchFamily="18" charset="0"/>
              </a:rPr>
              <a:t>Rules for PHP variables:</a:t>
            </a:r>
          </a:p>
          <a:p>
            <a:pPr lvl="1" algn="just">
              <a:buFont typeface="Wingdings" pitchFamily="2" charset="2"/>
              <a:buChar char="v"/>
            </a:pPr>
            <a:r>
              <a:rPr lang="en-US" dirty="0">
                <a:latin typeface="Times New Roman" pitchFamily="18" charset="0"/>
                <a:cs typeface="Times New Roman" pitchFamily="18" charset="0"/>
              </a:rPr>
              <a:t>A variable starts with the $ sign, followed by the name of the variable</a:t>
            </a:r>
          </a:p>
          <a:p>
            <a:pPr lvl="1" algn="just">
              <a:buFont typeface="Wingdings" pitchFamily="2" charset="2"/>
              <a:buChar char="v"/>
            </a:pPr>
            <a:r>
              <a:rPr lang="en-US" dirty="0">
                <a:latin typeface="Times New Roman" pitchFamily="18" charset="0"/>
                <a:cs typeface="Times New Roman" pitchFamily="18" charset="0"/>
              </a:rPr>
              <a:t>A variable name must start with a letter or the underscore character</a:t>
            </a:r>
          </a:p>
          <a:p>
            <a:pPr lvl="1" algn="just">
              <a:buFont typeface="Wingdings" pitchFamily="2" charset="2"/>
              <a:buChar char="v"/>
            </a:pPr>
            <a:r>
              <a:rPr lang="en-US" dirty="0">
                <a:latin typeface="Times New Roman" pitchFamily="18" charset="0"/>
                <a:cs typeface="Times New Roman" pitchFamily="18" charset="0"/>
              </a:rPr>
              <a:t>A variable name cannot start with a number</a:t>
            </a:r>
          </a:p>
          <a:p>
            <a:pPr lvl="1" algn="just">
              <a:buFont typeface="Wingdings" pitchFamily="2" charset="2"/>
              <a:buChar char="v"/>
            </a:pPr>
            <a:r>
              <a:rPr lang="en-US" dirty="0">
                <a:latin typeface="Times New Roman" pitchFamily="18" charset="0"/>
                <a:cs typeface="Times New Roman" pitchFamily="18" charset="0"/>
              </a:rPr>
              <a:t>A variable name can only contain alpha-numeric characters and underscores (A-z, 0-9, and _ )</a:t>
            </a:r>
          </a:p>
          <a:p>
            <a:pPr lvl="1" algn="just">
              <a:buFont typeface="Wingdings" pitchFamily="2" charset="2"/>
              <a:buChar char="v"/>
            </a:pPr>
            <a:r>
              <a:rPr lang="en-US" dirty="0">
                <a:latin typeface="Times New Roman" pitchFamily="18" charset="0"/>
                <a:cs typeface="Times New Roman" pitchFamily="18" charset="0"/>
              </a:rPr>
              <a:t>Variable names are case-sensitive ($age and $AGE are two different variables)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variable</a:t>
            </a:r>
            <a:endParaRPr lang="en-US" dirty="0"/>
          </a:p>
        </p:txBody>
      </p:sp>
      <p:sp>
        <p:nvSpPr>
          <p:cNvPr id="3" name="Content Placeholder 2"/>
          <p:cNvSpPr>
            <a:spLocks noGrp="1"/>
          </p:cNvSpPr>
          <p:nvPr>
            <p:ph idx="1"/>
          </p:nvPr>
        </p:nvSpPr>
        <p:spPr/>
        <p:txBody>
          <a:bodyPr/>
          <a:lstStyle/>
          <a:p>
            <a:r>
              <a:rPr lang="en-US" dirty="0"/>
              <a:t>The PHP echo statement is often used to output data to the screen</a:t>
            </a:r>
            <a:r>
              <a:rPr lang="en-US" dirty="0" smtClean="0"/>
              <a:t>.</a:t>
            </a:r>
          </a:p>
          <a:p>
            <a:endParaRPr lang="en-US" dirty="0"/>
          </a:p>
        </p:txBody>
      </p:sp>
      <p:graphicFrame>
        <p:nvGraphicFramePr>
          <p:cNvPr id="4" name="Table 3"/>
          <p:cNvGraphicFramePr>
            <a:graphicFrameLocks noGrp="1"/>
          </p:cNvGraphicFramePr>
          <p:nvPr/>
        </p:nvGraphicFramePr>
        <p:xfrm>
          <a:off x="838200" y="4648200"/>
          <a:ext cx="2514600" cy="1188720"/>
        </p:xfrm>
        <a:graphic>
          <a:graphicData uri="http://schemas.openxmlformats.org/drawingml/2006/table">
            <a:tbl>
              <a:tblPr firstRow="1" bandRow="1">
                <a:tableStyleId>{5C22544A-7EE6-4342-B048-85BDC9FD1C3A}</a:tableStyleId>
              </a:tblPr>
              <a:tblGrid>
                <a:gridCol w="2514600"/>
              </a:tblGrid>
              <a:tr h="22352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$txt = W3Schools.com";</a:t>
                      </a:r>
                      <a:r>
                        <a:rPr lang="en-US" b="1" dirty="0" smtClean="0"/>
                        <a:t/>
                      </a:r>
                      <a:br>
                        <a:rPr lang="en-US" b="1" dirty="0" smtClean="0"/>
                      </a:br>
                      <a:r>
                        <a:rPr lang="en-US" sz="1800" b="1" i="0" kern="1200" dirty="0" smtClean="0">
                          <a:solidFill>
                            <a:schemeClr val="lt1"/>
                          </a:solidFill>
                          <a:latin typeface="+mn-lt"/>
                          <a:ea typeface="+mn-ea"/>
                          <a:cs typeface="+mn-cs"/>
                        </a:rPr>
                        <a:t>echo "I love $txt!";</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graphicFrame>
        <p:nvGraphicFramePr>
          <p:cNvPr id="5" name="Table 4"/>
          <p:cNvGraphicFramePr>
            <a:graphicFrameLocks noGrp="1"/>
          </p:cNvGraphicFramePr>
          <p:nvPr/>
        </p:nvGraphicFramePr>
        <p:xfrm>
          <a:off x="3886200" y="4648200"/>
          <a:ext cx="2667000" cy="1188720"/>
        </p:xfrm>
        <a:graphic>
          <a:graphicData uri="http://schemas.openxmlformats.org/drawingml/2006/table">
            <a:tbl>
              <a:tblPr firstRow="1" bandRow="1">
                <a:tableStyleId>{5C22544A-7EE6-4342-B048-85BDC9FD1C3A}</a:tableStyleId>
              </a:tblPr>
              <a:tblGrid>
                <a:gridCol w="2667000"/>
              </a:tblGrid>
              <a:tr h="37084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$txt = "W3Schools.com";</a:t>
                      </a:r>
                      <a:r>
                        <a:rPr lang="en-US" b="1" dirty="0" smtClean="0"/>
                        <a:t/>
                      </a:r>
                      <a:br>
                        <a:rPr lang="en-US" b="1" dirty="0" smtClean="0"/>
                      </a:br>
                      <a:r>
                        <a:rPr lang="en-US" sz="1800" b="1" i="0" kern="1200" dirty="0" smtClean="0">
                          <a:solidFill>
                            <a:schemeClr val="lt1"/>
                          </a:solidFill>
                          <a:latin typeface="+mn-lt"/>
                          <a:ea typeface="+mn-ea"/>
                          <a:cs typeface="+mn-cs"/>
                        </a:rPr>
                        <a:t>echo "I love " . $txt . "!";</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Variables </a:t>
            </a:r>
            <a:r>
              <a:rPr lang="en-US" dirty="0" smtClean="0"/>
              <a:t>Scope</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PHP has three different variable scopes:</a:t>
            </a:r>
          </a:p>
          <a:p>
            <a:pPr lvl="1" algn="just"/>
            <a:r>
              <a:rPr lang="en-US" dirty="0" smtClean="0">
                <a:latin typeface="Times New Roman" pitchFamily="18" charset="0"/>
                <a:cs typeface="Times New Roman" pitchFamily="18" charset="0"/>
              </a:rPr>
              <a:t>Local</a:t>
            </a:r>
            <a:endParaRPr lang="en-US" dirty="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Global</a:t>
            </a:r>
            <a:endParaRPr lang="en-US" dirty="0">
              <a:latin typeface="Times New Roman" pitchFamily="18" charset="0"/>
              <a:cs typeface="Times New Roman" pitchFamily="18" charset="0"/>
            </a:endParaRPr>
          </a:p>
          <a:p>
            <a:pPr lvl="1" algn="just"/>
            <a:r>
              <a:rPr lang="en-US" dirty="0">
                <a:latin typeface="Times New Roman" pitchFamily="18" charset="0"/>
                <a:cs typeface="Times New Roman" pitchFamily="18" charset="0"/>
              </a:rPr>
              <a:t>S</a:t>
            </a:r>
            <a:r>
              <a:rPr lang="en-US" dirty="0" smtClean="0">
                <a:latin typeface="Times New Roman" pitchFamily="18" charset="0"/>
                <a:cs typeface="Times New Roman" pitchFamily="18" charset="0"/>
              </a:rPr>
              <a:t>tatic</a:t>
            </a: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A variable declared </a:t>
            </a:r>
            <a:r>
              <a:rPr lang="en-US" b="1" dirty="0">
                <a:latin typeface="Times New Roman" pitchFamily="18" charset="0"/>
                <a:cs typeface="Times New Roman" pitchFamily="18" charset="0"/>
              </a:rPr>
              <a:t>outside</a:t>
            </a:r>
            <a:r>
              <a:rPr lang="en-US" dirty="0">
                <a:latin typeface="Times New Roman" pitchFamily="18" charset="0"/>
                <a:cs typeface="Times New Roman" pitchFamily="18" charset="0"/>
              </a:rPr>
              <a:t> a function has a GLOBAL SCOPE and can only be accessed outside a function </a:t>
            </a:r>
            <a:r>
              <a:rPr lang="en-US" dirty="0" smtClean="0">
                <a:latin typeface="Times New Roman" pitchFamily="18" charset="0"/>
                <a:cs typeface="Times New Roman" pitchFamily="18" charset="0"/>
              </a:rPr>
              <a:t>.</a:t>
            </a:r>
          </a:p>
          <a:p>
            <a:pPr algn="just">
              <a:buFont typeface="Wingdings" pitchFamily="2" charset="2"/>
              <a:buChar char="ü"/>
            </a:pPr>
            <a:r>
              <a:rPr lang="en-US" dirty="0">
                <a:latin typeface="Times New Roman" pitchFamily="18" charset="0"/>
                <a:cs typeface="Times New Roman" pitchFamily="18" charset="0"/>
              </a:rPr>
              <a:t>A variable declared </a:t>
            </a:r>
            <a:r>
              <a:rPr lang="en-US" b="1" dirty="0">
                <a:latin typeface="Times New Roman" pitchFamily="18" charset="0"/>
                <a:cs typeface="Times New Roman" pitchFamily="18" charset="0"/>
              </a:rPr>
              <a:t>within</a:t>
            </a:r>
            <a:r>
              <a:rPr lang="en-US" dirty="0">
                <a:latin typeface="Times New Roman" pitchFamily="18" charset="0"/>
                <a:cs typeface="Times New Roman" pitchFamily="18" charset="0"/>
              </a:rPr>
              <a:t> a function has a LOCAL SCOPE and can only be accessed within that function </a:t>
            </a:r>
            <a:endParaRPr lang="en-US" dirty="0" smtClean="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The global keyword is used to access a global variable from within a function.</a:t>
            </a:r>
          </a:p>
          <a:p>
            <a:pPr algn="just">
              <a:buFont typeface="Wingdings" pitchFamily="2" charset="2"/>
              <a:buChar char="ü"/>
            </a:pPr>
            <a:r>
              <a:rPr lang="en-US" dirty="0">
                <a:latin typeface="Times New Roman" pitchFamily="18" charset="0"/>
                <a:cs typeface="Times New Roman" pitchFamily="18" charset="0"/>
              </a:rPr>
              <a:t>To do this, use the global keyword before the variables (inside the function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Examples</a:t>
            </a:r>
            <a:endParaRPr lang="en-US" dirty="0"/>
          </a:p>
        </p:txBody>
      </p:sp>
      <p:graphicFrame>
        <p:nvGraphicFramePr>
          <p:cNvPr id="4" name="Content Placeholder 3"/>
          <p:cNvGraphicFramePr>
            <a:graphicFrameLocks noGrp="1"/>
          </p:cNvGraphicFramePr>
          <p:nvPr>
            <p:ph idx="1"/>
          </p:nvPr>
        </p:nvGraphicFramePr>
        <p:xfrm>
          <a:off x="152400" y="990600"/>
          <a:ext cx="8839200" cy="5577840"/>
        </p:xfrm>
        <a:graphic>
          <a:graphicData uri="http://schemas.openxmlformats.org/drawingml/2006/table">
            <a:tbl>
              <a:tblPr firstRow="1" bandRow="1">
                <a:tableStyleId>{5C22544A-7EE6-4342-B048-85BDC9FD1C3A}</a:tableStyleId>
              </a:tblPr>
              <a:tblGrid>
                <a:gridCol w="2971800"/>
                <a:gridCol w="3200400"/>
                <a:gridCol w="2667000"/>
              </a:tblGrid>
              <a:tr h="5029200">
                <a:tc>
                  <a:txBody>
                    <a:bodyPr/>
                    <a:lstStyle/>
                    <a:p>
                      <a:r>
                        <a:rPr lang="en-US" sz="2000" b="1" i="0" kern="1200" dirty="0" smtClean="0">
                          <a:solidFill>
                            <a:schemeClr val="lt1"/>
                          </a:solidFill>
                          <a:latin typeface="Times New Roman" pitchFamily="18" charset="0"/>
                          <a:ea typeface="+mn-ea"/>
                          <a:cs typeface="Times New Roman" pitchFamily="18" charset="0"/>
                        </a:rPr>
                        <a:t>&lt;?</a:t>
                      </a:r>
                      <a:r>
                        <a:rPr lang="en-US" sz="2000" b="1" i="0" kern="1200" dirty="0" err="1" smtClean="0">
                          <a:solidFill>
                            <a:schemeClr val="lt1"/>
                          </a:solidFill>
                          <a:latin typeface="Times New Roman" pitchFamily="18" charset="0"/>
                          <a:ea typeface="+mn-ea"/>
                          <a:cs typeface="Times New Roman" pitchFamily="18" charset="0"/>
                        </a:rPr>
                        <a:t>php</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$x = 5; // global scope</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function </a:t>
                      </a: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 </a:t>
                      </a:r>
                    </a:p>
                    <a:p>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 using x inside this function will generate an error</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echo "&lt;p&gt;Variable x inside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echo "&lt;p&gt;Variable x outside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c>
                  <a:txBody>
                    <a:bodyPr/>
                    <a:lstStyle/>
                    <a:p>
                      <a:r>
                        <a:rPr lang="en-US" sz="2000" b="1" i="0" kern="1200" dirty="0" smtClean="0">
                          <a:solidFill>
                            <a:schemeClr val="lt1"/>
                          </a:solidFill>
                          <a:latin typeface="Times New Roman" pitchFamily="18" charset="0"/>
                          <a:ea typeface="+mn-ea"/>
                          <a:cs typeface="Times New Roman" pitchFamily="18" charset="0"/>
                        </a:rPr>
                        <a:t>&lt;?</a:t>
                      </a:r>
                      <a:r>
                        <a:rPr lang="en-US" sz="2000" b="1" i="0" kern="1200" dirty="0" err="1" smtClean="0">
                          <a:solidFill>
                            <a:schemeClr val="lt1"/>
                          </a:solidFill>
                          <a:latin typeface="Times New Roman" pitchFamily="18" charset="0"/>
                          <a:ea typeface="+mn-ea"/>
                          <a:cs typeface="Times New Roman" pitchFamily="18" charset="0"/>
                        </a:rPr>
                        <a:t>php</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function </a:t>
                      </a: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 </a:t>
                      </a:r>
                    </a:p>
                    <a:p>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$x = 5; // local scope</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echo "&lt;p&gt;Variable x inside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err="1" smtClean="0">
                          <a:solidFill>
                            <a:schemeClr val="lt1"/>
                          </a:solidFill>
                          <a:latin typeface="Times New Roman" pitchFamily="18" charset="0"/>
                          <a:ea typeface="+mn-ea"/>
                          <a:cs typeface="Times New Roman" pitchFamily="18" charset="0"/>
                        </a:rPr>
                        <a:t>myTest</a:t>
                      </a:r>
                      <a:r>
                        <a:rPr lang="en-US" sz="2000" b="1" i="0" kern="1200" dirty="0" smtClean="0">
                          <a:solidFill>
                            <a:schemeClr val="lt1"/>
                          </a:solidFill>
                          <a:latin typeface="Times New Roman" pitchFamily="18" charset="0"/>
                          <a:ea typeface="+mn-ea"/>
                          <a:cs typeface="Times New Roman" pitchFamily="18" charset="0"/>
                        </a:rPr>
                        <a: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 using x outside the function will generate an error</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echo "&lt;p&gt;Variable x outside function is: $x&lt;/p&gt;";</a:t>
                      </a:r>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c>
                  <a:txBody>
                    <a:bodyPr/>
                    <a:lstStyle/>
                    <a:p>
                      <a:r>
                        <a:rPr lang="es-ES" sz="2000" b="1" i="0" kern="1200" dirty="0" smtClean="0">
                          <a:solidFill>
                            <a:schemeClr val="lt1"/>
                          </a:solidFill>
                          <a:latin typeface="Times New Roman" pitchFamily="18" charset="0"/>
                          <a:ea typeface="+mn-ea"/>
                          <a:cs typeface="Times New Roman" pitchFamily="18" charset="0"/>
                        </a:rPr>
                        <a:t>&lt;?</a:t>
                      </a:r>
                      <a:r>
                        <a:rPr lang="es-ES" sz="2000" b="1" i="0" kern="1200" dirty="0" err="1" smtClean="0">
                          <a:solidFill>
                            <a:schemeClr val="lt1"/>
                          </a:solidFill>
                          <a:latin typeface="Times New Roman" pitchFamily="18" charset="0"/>
                          <a:ea typeface="+mn-ea"/>
                          <a:cs typeface="Times New Roman" pitchFamily="18" charset="0"/>
                        </a:rPr>
                        <a:t>php</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$x = 5;</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$y = 10;</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err="1" smtClean="0">
                          <a:solidFill>
                            <a:schemeClr val="lt1"/>
                          </a:solidFill>
                          <a:latin typeface="Times New Roman" pitchFamily="18" charset="0"/>
                          <a:ea typeface="+mn-ea"/>
                          <a:cs typeface="Times New Roman" pitchFamily="18" charset="0"/>
                        </a:rPr>
                        <a:t>function</a:t>
                      </a:r>
                      <a:r>
                        <a:rPr lang="es-ES" sz="2000" b="1" i="0" kern="1200" dirty="0" smtClean="0">
                          <a:solidFill>
                            <a:schemeClr val="lt1"/>
                          </a:solidFill>
                          <a:latin typeface="Times New Roman" pitchFamily="18" charset="0"/>
                          <a:ea typeface="+mn-ea"/>
                          <a:cs typeface="Times New Roman" pitchFamily="18" charset="0"/>
                        </a:rPr>
                        <a:t> </a:t>
                      </a:r>
                      <a:r>
                        <a:rPr lang="es-ES" sz="2000" b="1" i="0" kern="1200" dirty="0" err="1" smtClean="0">
                          <a:solidFill>
                            <a:schemeClr val="lt1"/>
                          </a:solidFill>
                          <a:latin typeface="Times New Roman" pitchFamily="18" charset="0"/>
                          <a:ea typeface="+mn-ea"/>
                          <a:cs typeface="Times New Roman" pitchFamily="18" charset="0"/>
                        </a:rPr>
                        <a:t>myTest</a:t>
                      </a:r>
                      <a:r>
                        <a:rPr lang="es-ES" sz="2000" b="1" i="0" kern="1200" dirty="0" smtClean="0">
                          <a:solidFill>
                            <a:schemeClr val="lt1"/>
                          </a:solidFill>
                          <a:latin typeface="Times New Roman" pitchFamily="18" charset="0"/>
                          <a:ea typeface="+mn-ea"/>
                          <a:cs typeface="Times New Roman" pitchFamily="18" charset="0"/>
                        </a:rPr>
                        <a:t>() </a:t>
                      </a:r>
                    </a:p>
                    <a:p>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    global $x, $y;</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    $y = $x + $y;</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err="1" smtClean="0">
                          <a:solidFill>
                            <a:schemeClr val="lt1"/>
                          </a:solidFill>
                          <a:latin typeface="Times New Roman" pitchFamily="18" charset="0"/>
                          <a:ea typeface="+mn-ea"/>
                          <a:cs typeface="Times New Roman" pitchFamily="18" charset="0"/>
                        </a:rPr>
                        <a:t>myTest</a:t>
                      </a:r>
                      <a:r>
                        <a:rPr lang="es-ES" sz="2000" b="1" i="0" kern="1200" dirty="0" smtClean="0">
                          <a:solidFill>
                            <a:schemeClr val="lt1"/>
                          </a:solidFill>
                          <a:latin typeface="Times New Roman" pitchFamily="18" charset="0"/>
                          <a:ea typeface="+mn-ea"/>
                          <a:cs typeface="Times New Roman" pitchFamily="18" charset="0"/>
                        </a:rPr>
                        <a:t>();</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echo $y; // outputs 15</a:t>
                      </a:r>
                      <a:r>
                        <a:rPr lang="es-ES" sz="2000" b="1" dirty="0" smtClean="0">
                          <a:latin typeface="Times New Roman" pitchFamily="18" charset="0"/>
                          <a:cs typeface="Times New Roman" pitchFamily="18" charset="0"/>
                        </a:rPr>
                        <a:t/>
                      </a:r>
                      <a:br>
                        <a:rPr lang="es-ES" sz="2000" b="1" dirty="0" smtClean="0">
                          <a:latin typeface="Times New Roman" pitchFamily="18" charset="0"/>
                          <a:cs typeface="Times New Roman" pitchFamily="18" charset="0"/>
                        </a:rPr>
                      </a:br>
                      <a:r>
                        <a:rPr lang="es-ES" sz="2000" b="1" i="0" kern="1200" dirty="0" smtClean="0">
                          <a:solidFill>
                            <a:schemeClr val="lt1"/>
                          </a:solidFill>
                          <a:latin typeface="Times New Roman" pitchFamily="18" charset="0"/>
                          <a:ea typeface="+mn-ea"/>
                          <a:cs typeface="Times New Roman" pitchFamily="18" charset="0"/>
                        </a:rPr>
                        <a:t>?&gt;</a:t>
                      </a:r>
                      <a:endParaRPr lang="en-US" sz="2000" b="1"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$GLOBALS[</a:t>
            </a:r>
            <a:r>
              <a:rPr lang="en-US" i="1" dirty="0" smtClean="0"/>
              <a:t>index</a:t>
            </a:r>
            <a:r>
              <a:rPr lang="en-US" dirty="0" smtClean="0"/>
              <a:t>] array</a:t>
            </a:r>
            <a:endParaRPr lang="en-US" dirty="0"/>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PHP also stores all global variables in an array called $GLOBALS[</a:t>
            </a:r>
            <a:r>
              <a:rPr lang="en-US" sz="2400" i="1" dirty="0">
                <a:latin typeface="Times New Roman" pitchFamily="18" charset="0"/>
                <a:cs typeface="Times New Roman" pitchFamily="18" charset="0"/>
              </a:rPr>
              <a:t>index</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index</a:t>
            </a:r>
            <a:r>
              <a:rPr lang="en-US" sz="2400" dirty="0">
                <a:latin typeface="Times New Roman" pitchFamily="18" charset="0"/>
                <a:cs typeface="Times New Roman" pitchFamily="18" charset="0"/>
              </a:rPr>
              <a:t> holds the name of the variable. This array is also accessible from within functions and can be used to update global variables directly.</a:t>
            </a:r>
          </a:p>
        </p:txBody>
      </p:sp>
      <p:graphicFrame>
        <p:nvGraphicFramePr>
          <p:cNvPr id="4" name="Table 3"/>
          <p:cNvGraphicFramePr>
            <a:graphicFrameLocks noGrp="1"/>
          </p:cNvGraphicFramePr>
          <p:nvPr/>
        </p:nvGraphicFramePr>
        <p:xfrm>
          <a:off x="3886200" y="3581400"/>
          <a:ext cx="5029200" cy="3108960"/>
        </p:xfrm>
        <a:graphic>
          <a:graphicData uri="http://schemas.openxmlformats.org/drawingml/2006/table">
            <a:tbl>
              <a:tblPr firstRow="1" bandRow="1">
                <a:tableStyleId>{5C22544A-7EE6-4342-B048-85BDC9FD1C3A}</a:tableStyleId>
              </a:tblPr>
              <a:tblGrid>
                <a:gridCol w="5029200"/>
              </a:tblGrid>
              <a:tr h="370840">
                <a:tc>
                  <a:txBody>
                    <a:bodyPr/>
                    <a:lstStyle/>
                    <a:p>
                      <a:r>
                        <a:rPr lang="en-US" sz="1800" b="1" i="0" kern="1200" dirty="0" smtClean="0">
                          <a:solidFill>
                            <a:schemeClr val="lt1"/>
                          </a:solidFill>
                          <a:latin typeface="+mn-lt"/>
                          <a:ea typeface="+mn-ea"/>
                          <a:cs typeface="+mn-cs"/>
                        </a:rPr>
                        <a:t>&lt;?</a:t>
                      </a:r>
                      <a:r>
                        <a:rPr lang="en-US" sz="1800" b="1" i="0" kern="1200" dirty="0" err="1" smtClean="0">
                          <a:solidFill>
                            <a:schemeClr val="lt1"/>
                          </a:solidFill>
                          <a:latin typeface="+mn-lt"/>
                          <a:ea typeface="+mn-ea"/>
                          <a:cs typeface="+mn-cs"/>
                        </a:rPr>
                        <a:t>php</a:t>
                      </a:r>
                      <a:r>
                        <a:rPr lang="en-US" b="1" dirty="0" smtClean="0"/>
                        <a:t/>
                      </a:r>
                      <a:br>
                        <a:rPr lang="en-US" b="1" dirty="0" smtClean="0"/>
                      </a:br>
                      <a:r>
                        <a:rPr lang="en-US" sz="1800" b="1" i="0" kern="1200" dirty="0" smtClean="0">
                          <a:solidFill>
                            <a:schemeClr val="lt1"/>
                          </a:solidFill>
                          <a:latin typeface="+mn-lt"/>
                          <a:ea typeface="+mn-ea"/>
                          <a:cs typeface="+mn-cs"/>
                        </a:rPr>
                        <a:t>$x = 5;</a:t>
                      </a:r>
                      <a:r>
                        <a:rPr lang="en-US" b="1" dirty="0" smtClean="0"/>
                        <a:t/>
                      </a:r>
                      <a:br>
                        <a:rPr lang="en-US" b="1" dirty="0" smtClean="0"/>
                      </a:br>
                      <a:r>
                        <a:rPr lang="en-US" sz="1800" b="1" i="0" kern="1200" dirty="0" smtClean="0">
                          <a:solidFill>
                            <a:schemeClr val="lt1"/>
                          </a:solidFill>
                          <a:latin typeface="+mn-lt"/>
                          <a:ea typeface="+mn-ea"/>
                          <a:cs typeface="+mn-cs"/>
                        </a:rPr>
                        <a:t>$y = 10;</a:t>
                      </a:r>
                      <a:r>
                        <a:rPr lang="en-US" b="1" dirty="0" smtClean="0"/>
                        <a:t/>
                      </a:r>
                      <a:br>
                        <a:rPr lang="en-US" b="1" dirty="0" smtClean="0"/>
                      </a:br>
                      <a:r>
                        <a:rPr lang="en-US" b="1" dirty="0" smtClean="0"/>
                        <a:t/>
                      </a:r>
                      <a:br>
                        <a:rPr lang="en-US" b="1" dirty="0" smtClean="0"/>
                      </a:br>
                      <a:r>
                        <a:rPr lang="en-US" sz="1800" b="1" i="0" kern="1200" dirty="0" smtClean="0">
                          <a:solidFill>
                            <a:schemeClr val="lt1"/>
                          </a:solidFill>
                          <a:latin typeface="+mn-lt"/>
                          <a:ea typeface="+mn-ea"/>
                          <a:cs typeface="+mn-cs"/>
                        </a:rPr>
                        <a:t>function </a:t>
                      </a:r>
                      <a:r>
                        <a:rPr lang="en-US" sz="1800" b="1" i="0" kern="1200" dirty="0" err="1" smtClean="0">
                          <a:solidFill>
                            <a:schemeClr val="lt1"/>
                          </a:solidFill>
                          <a:latin typeface="+mn-lt"/>
                          <a:ea typeface="+mn-ea"/>
                          <a:cs typeface="+mn-cs"/>
                        </a:rPr>
                        <a:t>myTest</a:t>
                      </a:r>
                      <a:r>
                        <a:rPr lang="en-US" sz="1800" b="1" i="0" kern="1200" dirty="0" smtClean="0">
                          <a:solidFill>
                            <a:schemeClr val="lt1"/>
                          </a:solidFill>
                          <a:latin typeface="+mn-lt"/>
                          <a:ea typeface="+mn-ea"/>
                          <a:cs typeface="+mn-cs"/>
                        </a:rPr>
                        <a:t>() {</a:t>
                      </a:r>
                      <a:r>
                        <a:rPr lang="en-US" b="1" dirty="0" smtClean="0"/>
                        <a:t/>
                      </a:r>
                      <a:br>
                        <a:rPr lang="en-US" b="1" dirty="0" smtClean="0"/>
                      </a:br>
                      <a:r>
                        <a:rPr lang="en-US" sz="1800" b="1" i="0" kern="1200" dirty="0" smtClean="0">
                          <a:solidFill>
                            <a:schemeClr val="lt1"/>
                          </a:solidFill>
                          <a:latin typeface="+mn-lt"/>
                          <a:ea typeface="+mn-ea"/>
                          <a:cs typeface="+mn-cs"/>
                        </a:rPr>
                        <a:t>    $GLOBALS['y'] = $GLOBALS['x'] + $GLOBALS['y'];</a:t>
                      </a:r>
                      <a:r>
                        <a:rPr lang="en-US" b="1" dirty="0" smtClean="0"/>
                        <a:t/>
                      </a:r>
                      <a:br>
                        <a:rPr lang="en-US" b="1" dirty="0" smtClean="0"/>
                      </a:br>
                      <a:r>
                        <a:rPr lang="en-US" sz="1800" b="1" i="0" kern="1200" dirty="0" smtClean="0">
                          <a:solidFill>
                            <a:schemeClr val="lt1"/>
                          </a:solidFill>
                          <a:latin typeface="+mn-lt"/>
                          <a:ea typeface="+mn-ea"/>
                          <a:cs typeface="+mn-cs"/>
                        </a:rPr>
                        <a:t>} </a:t>
                      </a:r>
                      <a:r>
                        <a:rPr lang="en-US" b="1" dirty="0" smtClean="0"/>
                        <a:t/>
                      </a:r>
                      <a:br>
                        <a:rPr lang="en-US" b="1" dirty="0" smtClean="0"/>
                      </a:br>
                      <a:r>
                        <a:rPr lang="en-US" b="1" dirty="0" smtClean="0"/>
                        <a:t/>
                      </a:r>
                      <a:br>
                        <a:rPr lang="en-US" b="1" dirty="0" smtClean="0"/>
                      </a:br>
                      <a:r>
                        <a:rPr lang="en-US" sz="1800" b="1" i="0" kern="1200" dirty="0" err="1" smtClean="0">
                          <a:solidFill>
                            <a:schemeClr val="lt1"/>
                          </a:solidFill>
                          <a:latin typeface="+mn-lt"/>
                          <a:ea typeface="+mn-ea"/>
                          <a:cs typeface="+mn-cs"/>
                        </a:rPr>
                        <a:t>myTest</a:t>
                      </a:r>
                      <a:r>
                        <a:rPr lang="en-US" sz="1800" b="1" i="0" kern="1200" dirty="0" smtClean="0">
                          <a:solidFill>
                            <a:schemeClr val="lt1"/>
                          </a:solidFill>
                          <a:latin typeface="+mn-lt"/>
                          <a:ea typeface="+mn-ea"/>
                          <a:cs typeface="+mn-cs"/>
                        </a:rPr>
                        <a:t>();</a:t>
                      </a:r>
                      <a:r>
                        <a:rPr lang="en-US" b="1" dirty="0" smtClean="0"/>
                        <a:t/>
                      </a:r>
                      <a:br>
                        <a:rPr lang="en-US" b="1" dirty="0" smtClean="0"/>
                      </a:br>
                      <a:r>
                        <a:rPr lang="en-US" sz="1800" b="1" i="0" kern="1200" dirty="0" smtClean="0">
                          <a:solidFill>
                            <a:schemeClr val="lt1"/>
                          </a:solidFill>
                          <a:latin typeface="+mn-lt"/>
                          <a:ea typeface="+mn-ea"/>
                          <a:cs typeface="+mn-cs"/>
                        </a:rPr>
                        <a:t>echo $y; // outputs 15</a:t>
                      </a:r>
                      <a:r>
                        <a:rPr lang="en-US" b="1" dirty="0" smtClean="0"/>
                        <a:t/>
                      </a:r>
                      <a:br>
                        <a:rPr lang="en-US" b="1" dirty="0" smtClean="0"/>
                      </a:br>
                      <a:r>
                        <a:rPr lang="en-US" sz="1800" b="1" i="0" kern="1200" dirty="0" smtClean="0">
                          <a:solidFill>
                            <a:schemeClr val="lt1"/>
                          </a:solidFill>
                          <a:latin typeface="+mn-lt"/>
                          <a:ea typeface="+mn-ea"/>
                          <a:cs typeface="+mn-cs"/>
                        </a:rPr>
                        <a:t>?&gt;</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The static </a:t>
            </a:r>
            <a:r>
              <a:rPr lang="en-US" dirty="0" smtClean="0"/>
              <a:t>Keyword</a:t>
            </a:r>
            <a:endParaRPr lang="en-US" dirty="0"/>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Normally, when a function </a:t>
            </a:r>
            <a:r>
              <a:rPr lang="en-US" sz="2800" dirty="0" smtClean="0">
                <a:latin typeface="Times New Roman" pitchFamily="18" charset="0"/>
                <a:cs typeface="Times New Roman" pitchFamily="18" charset="0"/>
              </a:rPr>
              <a:t>is  completed/executed</a:t>
            </a:r>
            <a:r>
              <a:rPr lang="en-US" sz="2800" dirty="0">
                <a:latin typeface="Times New Roman" pitchFamily="18" charset="0"/>
                <a:cs typeface="Times New Roman" pitchFamily="18" charset="0"/>
              </a:rPr>
              <a:t>, all of its variables are deleted. However, sometimes we want a local variable NOT to be deleted. We need it for a further job.</a:t>
            </a:r>
          </a:p>
          <a:p>
            <a:pPr algn="just"/>
            <a:r>
              <a:rPr lang="en-US" sz="2800" dirty="0">
                <a:latin typeface="Times New Roman" pitchFamily="18" charset="0"/>
                <a:cs typeface="Times New Roman" pitchFamily="18" charset="0"/>
              </a:rPr>
              <a:t>To do this, use the </a:t>
            </a:r>
            <a:r>
              <a:rPr lang="en-US" sz="2800" b="1" dirty="0">
                <a:latin typeface="Times New Roman" pitchFamily="18" charset="0"/>
                <a:cs typeface="Times New Roman" pitchFamily="18" charset="0"/>
              </a:rPr>
              <a:t>static</a:t>
            </a:r>
            <a:r>
              <a:rPr lang="en-US" sz="2800" dirty="0">
                <a:latin typeface="Times New Roman" pitchFamily="18" charset="0"/>
                <a:cs typeface="Times New Roman" pitchFamily="18" charset="0"/>
              </a:rPr>
              <a:t> keyword when you first declare the variable:</a:t>
            </a:r>
          </a:p>
          <a:p>
            <a:pPr algn="just"/>
            <a:r>
              <a:rPr lang="en-US" sz="2800" dirty="0">
                <a:latin typeface="Times New Roman" pitchFamily="18" charset="0"/>
                <a:cs typeface="Times New Roman" pitchFamily="18" charset="0"/>
              </a:rPr>
              <a:t>Then, each time the function is called, that variable will still have the information it contained from the last time the function was called.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nvPr>
        </p:nvGraphicFramePr>
        <p:xfrm>
          <a:off x="457200" y="1600200"/>
          <a:ext cx="2743200" cy="4480560"/>
        </p:xfrm>
        <a:graphic>
          <a:graphicData uri="http://schemas.openxmlformats.org/drawingml/2006/table">
            <a:tbl>
              <a:tblPr firstRow="1" bandRow="1">
                <a:tableStyleId>{5C22544A-7EE6-4342-B048-85BDC9FD1C3A}</a:tableStyleId>
              </a:tblPr>
              <a:tblGrid>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&lt;?</a:t>
                      </a:r>
                      <a:r>
                        <a:rPr lang="en-US" sz="2400" dirty="0" err="1" smtClean="0">
                          <a:latin typeface="Times New Roman" pitchFamily="18" charset="0"/>
                          <a:cs typeface="Times New Roman" pitchFamily="18" charset="0"/>
                        </a:rPr>
                        <a:t>php</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function </a:t>
                      </a: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static $x = 0;</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echo $x;</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$x++;</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err="1" smtClean="0">
                          <a:latin typeface="Times New Roman" pitchFamily="18" charset="0"/>
                          <a:cs typeface="Times New Roman" pitchFamily="18" charset="0"/>
                        </a:rPr>
                        <a:t>myTest</a:t>
                      </a:r>
                      <a:r>
                        <a:rPr lang="en-US" sz="2400" dirty="0" smtClean="0">
                          <a:latin typeface="Times New Roman" pitchFamily="18" charset="0"/>
                          <a:cs typeface="Times New Roman" pitchFamily="18" charset="0"/>
                        </a:rPr>
                        <a:t>();</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?&gt;</a:t>
                      </a:r>
                    </a:p>
                    <a:p>
                      <a:endParaRPr lang="en-US" sz="2400" dirty="0"/>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336800" cy="697230"/>
          </a:xfrm>
          <a:prstGeom prst="rect">
            <a:avLst/>
          </a:prstGeom>
        </p:spPr>
        <p:txBody>
          <a:bodyPr vert="horz" wrap="square" lIns="0" tIns="13335" rIns="0" bIns="0" rtlCol="0">
            <a:spAutoFit/>
          </a:bodyPr>
          <a:lstStyle/>
          <a:p>
            <a:pPr marL="12700">
              <a:lnSpc>
                <a:spcPct val="100000"/>
              </a:lnSpc>
              <a:spcBef>
                <a:spcPts val="105"/>
              </a:spcBef>
            </a:pPr>
            <a:r>
              <a:rPr spc="-85" dirty="0"/>
              <a:t>Ope</a:t>
            </a:r>
            <a:r>
              <a:rPr spc="-100" dirty="0"/>
              <a:t>r</a:t>
            </a:r>
            <a:r>
              <a:rPr spc="-30" dirty="0"/>
              <a:t>at</a:t>
            </a:r>
            <a:r>
              <a:rPr spc="-325" dirty="0"/>
              <a:t>ors</a:t>
            </a:r>
          </a:p>
        </p:txBody>
      </p:sp>
      <p:sp>
        <p:nvSpPr>
          <p:cNvPr id="3" name="object 3"/>
          <p:cNvSpPr txBox="1"/>
          <p:nvPr/>
        </p:nvSpPr>
        <p:spPr>
          <a:xfrm>
            <a:off x="691387" y="1526134"/>
            <a:ext cx="7256145" cy="3962400"/>
          </a:xfrm>
          <a:prstGeom prst="rect">
            <a:avLst/>
          </a:prstGeom>
        </p:spPr>
        <p:txBody>
          <a:bodyPr vert="horz" wrap="square" lIns="0" tIns="99060" rIns="0" bIns="0" rtlCol="0">
            <a:spAutoFit/>
          </a:bodyPr>
          <a:lstStyle/>
          <a:p>
            <a:pPr marL="332740" indent="-320040">
              <a:lnSpc>
                <a:spcPct val="100000"/>
              </a:lnSpc>
              <a:spcBef>
                <a:spcPts val="780"/>
              </a:spcBef>
              <a:buSzPct val="60344"/>
              <a:buFont typeface="Wingdings"/>
              <a:buChar char=""/>
              <a:tabLst>
                <a:tab pos="332740" algn="l"/>
              </a:tabLst>
            </a:pPr>
            <a:r>
              <a:rPr sz="2900" spc="-160" dirty="0">
                <a:latin typeface="Microsoft Sans Serif"/>
                <a:cs typeface="Microsoft Sans Serif"/>
              </a:rPr>
              <a:t>Arithmetic</a:t>
            </a:r>
            <a:r>
              <a:rPr sz="2900" spc="-15" dirty="0">
                <a:latin typeface="Microsoft Sans Serif"/>
                <a:cs typeface="Microsoft Sans Serif"/>
              </a:rPr>
              <a:t> </a:t>
            </a:r>
            <a:r>
              <a:rPr sz="2900" spc="-114" dirty="0">
                <a:latin typeface="Microsoft Sans Serif"/>
                <a:cs typeface="Microsoft Sans Serif"/>
              </a:rPr>
              <a:t>operators</a:t>
            </a:r>
            <a:endParaRPr sz="2900" dirty="0">
              <a:latin typeface="Microsoft Sans Serif"/>
              <a:cs typeface="Microsoft Sans Serif"/>
            </a:endParaRPr>
          </a:p>
          <a:p>
            <a:pPr marL="378460">
              <a:lnSpc>
                <a:spcPct val="100000"/>
              </a:lnSpc>
              <a:spcBef>
                <a:spcPts val="615"/>
              </a:spcBef>
            </a:pPr>
            <a:r>
              <a:rPr sz="1800" spc="-55" dirty="0">
                <a:latin typeface="Microsoft Sans Serif"/>
                <a:cs typeface="Microsoft Sans Serif"/>
              </a:rPr>
              <a:t>🞑</a:t>
            </a:r>
            <a:r>
              <a:rPr sz="1800" spc="55" dirty="0">
                <a:latin typeface="Microsoft Sans Serif"/>
                <a:cs typeface="Microsoft Sans Serif"/>
              </a:rPr>
              <a:t> </a:t>
            </a:r>
            <a:r>
              <a:rPr sz="2600" spc="30" dirty="0">
                <a:latin typeface="Microsoft Sans Serif"/>
                <a:cs typeface="Microsoft Sans Serif"/>
              </a:rPr>
              <a:t>+,</a:t>
            </a:r>
            <a:r>
              <a:rPr sz="2600" spc="25" dirty="0">
                <a:latin typeface="Microsoft Sans Serif"/>
                <a:cs typeface="Microsoft Sans Serif"/>
              </a:rPr>
              <a:t> </a:t>
            </a:r>
            <a:r>
              <a:rPr sz="2600" spc="-80" dirty="0">
                <a:latin typeface="Microsoft Sans Serif"/>
                <a:cs typeface="Microsoft Sans Serif"/>
              </a:rPr>
              <a:t>-,</a:t>
            </a:r>
            <a:r>
              <a:rPr sz="2600" spc="25" dirty="0">
                <a:latin typeface="Microsoft Sans Serif"/>
                <a:cs typeface="Microsoft Sans Serif"/>
              </a:rPr>
              <a:t> </a:t>
            </a:r>
            <a:r>
              <a:rPr sz="2600" spc="-15" dirty="0">
                <a:latin typeface="Microsoft Sans Serif"/>
                <a:cs typeface="Microsoft Sans Serif"/>
              </a:rPr>
              <a:t>*,</a:t>
            </a:r>
            <a:r>
              <a:rPr sz="2600" spc="20" dirty="0">
                <a:latin typeface="Microsoft Sans Serif"/>
                <a:cs typeface="Microsoft Sans Serif"/>
              </a:rPr>
              <a:t> </a:t>
            </a:r>
            <a:r>
              <a:rPr sz="2600" spc="210" dirty="0">
                <a:latin typeface="Microsoft Sans Serif"/>
                <a:cs typeface="Microsoft Sans Serif"/>
              </a:rPr>
              <a:t>/,</a:t>
            </a:r>
            <a:r>
              <a:rPr sz="2600" spc="25" dirty="0">
                <a:latin typeface="Microsoft Sans Serif"/>
                <a:cs typeface="Microsoft Sans Serif"/>
              </a:rPr>
              <a:t> </a:t>
            </a:r>
            <a:r>
              <a:rPr sz="2600" spc="-145" dirty="0">
                <a:latin typeface="Microsoft Sans Serif"/>
                <a:cs typeface="Microsoft Sans Serif"/>
              </a:rPr>
              <a:t>%</a:t>
            </a:r>
            <a:r>
              <a:rPr sz="2600" spc="20" dirty="0">
                <a:latin typeface="Microsoft Sans Serif"/>
                <a:cs typeface="Microsoft Sans Serif"/>
              </a:rPr>
              <a:t> </a:t>
            </a:r>
            <a:r>
              <a:rPr sz="2600" spc="-225" dirty="0">
                <a:latin typeface="Microsoft Sans Serif"/>
                <a:cs typeface="Microsoft Sans Serif"/>
              </a:rPr>
              <a:t>(modulus</a:t>
            </a:r>
            <a:r>
              <a:rPr sz="2600" spc="-10" dirty="0">
                <a:latin typeface="Microsoft Sans Serif"/>
                <a:cs typeface="Microsoft Sans Serif"/>
              </a:rPr>
              <a:t> </a:t>
            </a:r>
            <a:r>
              <a:rPr sz="2600" spc="540" dirty="0">
                <a:latin typeface="Microsoft Sans Serif"/>
                <a:cs typeface="Microsoft Sans Serif"/>
              </a:rPr>
              <a:t>–</a:t>
            </a:r>
            <a:r>
              <a:rPr sz="2600" spc="15" dirty="0">
                <a:latin typeface="Microsoft Sans Serif"/>
                <a:cs typeface="Microsoft Sans Serif"/>
              </a:rPr>
              <a:t> </a:t>
            </a:r>
            <a:r>
              <a:rPr sz="2600" spc="-120" dirty="0">
                <a:latin typeface="Microsoft Sans Serif"/>
                <a:cs typeface="Microsoft Sans Serif"/>
              </a:rPr>
              <a:t>remainder</a:t>
            </a:r>
            <a:r>
              <a:rPr sz="2600" spc="-10" dirty="0">
                <a:latin typeface="Microsoft Sans Serif"/>
                <a:cs typeface="Microsoft Sans Serif"/>
              </a:rPr>
              <a:t> </a:t>
            </a:r>
            <a:r>
              <a:rPr sz="2600" spc="-5" dirty="0">
                <a:latin typeface="Microsoft Sans Serif"/>
                <a:cs typeface="Microsoft Sans Serif"/>
              </a:rPr>
              <a:t>after</a:t>
            </a:r>
            <a:r>
              <a:rPr sz="2600" spc="10" dirty="0">
                <a:latin typeface="Microsoft Sans Serif"/>
                <a:cs typeface="Microsoft Sans Serif"/>
              </a:rPr>
              <a:t> </a:t>
            </a:r>
            <a:r>
              <a:rPr sz="2600" spc="-145" dirty="0">
                <a:latin typeface="Microsoft Sans Serif"/>
                <a:cs typeface="Microsoft Sans Serif"/>
              </a:rPr>
              <a:t>division)</a:t>
            </a:r>
            <a:endParaRPr sz="2600" dirty="0">
              <a:latin typeface="Microsoft Sans Serif"/>
              <a:cs typeface="Microsoft Sans Serif"/>
            </a:endParaRPr>
          </a:p>
          <a:p>
            <a:pPr marL="332740" indent="-320040">
              <a:lnSpc>
                <a:spcPct val="100000"/>
              </a:lnSpc>
              <a:spcBef>
                <a:spcPts val="685"/>
              </a:spcBef>
              <a:buSzPct val="60344"/>
              <a:buFont typeface="Wingdings"/>
              <a:buChar char=""/>
              <a:tabLst>
                <a:tab pos="332740" algn="l"/>
              </a:tabLst>
            </a:pPr>
            <a:r>
              <a:rPr sz="2900" spc="-155" dirty="0">
                <a:latin typeface="Microsoft Sans Serif"/>
                <a:cs typeface="Microsoft Sans Serif"/>
              </a:rPr>
              <a:t>Logical</a:t>
            </a:r>
            <a:r>
              <a:rPr sz="2900" spc="15" dirty="0">
                <a:latin typeface="Microsoft Sans Serif"/>
                <a:cs typeface="Microsoft Sans Serif"/>
              </a:rPr>
              <a:t> </a:t>
            </a:r>
            <a:r>
              <a:rPr sz="2900" spc="-229" dirty="0">
                <a:latin typeface="Microsoft Sans Serif"/>
                <a:cs typeface="Microsoft Sans Serif"/>
              </a:rPr>
              <a:t>AND</a:t>
            </a:r>
            <a:r>
              <a:rPr sz="2900" spc="20" dirty="0">
                <a:latin typeface="Microsoft Sans Serif"/>
                <a:cs typeface="Microsoft Sans Serif"/>
              </a:rPr>
              <a:t> </a:t>
            </a:r>
            <a:r>
              <a:rPr sz="2900" spc="-105" dirty="0">
                <a:latin typeface="Microsoft Sans Serif"/>
                <a:cs typeface="Microsoft Sans Serif"/>
              </a:rPr>
              <a:t>(&amp;&amp;),</a:t>
            </a:r>
            <a:r>
              <a:rPr sz="2900" spc="30" dirty="0">
                <a:latin typeface="Microsoft Sans Serif"/>
                <a:cs typeface="Microsoft Sans Serif"/>
              </a:rPr>
              <a:t> </a:t>
            </a:r>
            <a:r>
              <a:rPr sz="2900" spc="-15" dirty="0">
                <a:latin typeface="Microsoft Sans Serif"/>
                <a:cs typeface="Microsoft Sans Serif"/>
              </a:rPr>
              <a:t>O</a:t>
            </a:r>
            <a:r>
              <a:rPr sz="2900" spc="-645" dirty="0">
                <a:latin typeface="Microsoft Sans Serif"/>
                <a:cs typeface="Microsoft Sans Serif"/>
              </a:rPr>
              <a:t>R</a:t>
            </a:r>
            <a:r>
              <a:rPr sz="2900" spc="20" dirty="0">
                <a:latin typeface="Microsoft Sans Serif"/>
                <a:cs typeface="Microsoft Sans Serif"/>
              </a:rPr>
              <a:t> </a:t>
            </a:r>
            <a:r>
              <a:rPr sz="2900" spc="204" dirty="0">
                <a:latin typeface="Microsoft Sans Serif"/>
                <a:cs typeface="Microsoft Sans Serif"/>
              </a:rPr>
              <a:t>(||),</a:t>
            </a:r>
            <a:r>
              <a:rPr sz="2900" spc="15" dirty="0">
                <a:latin typeface="Microsoft Sans Serif"/>
                <a:cs typeface="Microsoft Sans Serif"/>
              </a:rPr>
              <a:t> </a:t>
            </a:r>
            <a:r>
              <a:rPr sz="2900" spc="-85" dirty="0">
                <a:latin typeface="Microsoft Sans Serif"/>
                <a:cs typeface="Microsoft Sans Serif"/>
              </a:rPr>
              <a:t>N</a:t>
            </a:r>
            <a:r>
              <a:rPr sz="2900" spc="-160" dirty="0">
                <a:latin typeface="Microsoft Sans Serif"/>
                <a:cs typeface="Microsoft Sans Serif"/>
              </a:rPr>
              <a:t>O</a:t>
            </a:r>
            <a:r>
              <a:rPr sz="2900" spc="-500" dirty="0">
                <a:latin typeface="Microsoft Sans Serif"/>
                <a:cs typeface="Microsoft Sans Serif"/>
              </a:rPr>
              <a:t>T</a:t>
            </a:r>
            <a:r>
              <a:rPr sz="2900" spc="30" dirty="0">
                <a:latin typeface="Microsoft Sans Serif"/>
                <a:cs typeface="Microsoft Sans Serif"/>
              </a:rPr>
              <a:t> </a:t>
            </a:r>
            <a:r>
              <a:rPr sz="2900" spc="-180" dirty="0">
                <a:latin typeface="Microsoft Sans Serif"/>
                <a:cs typeface="Microsoft Sans Serif"/>
              </a:rPr>
              <a:t>(!)</a:t>
            </a:r>
            <a:endParaRPr sz="2900" dirty="0">
              <a:latin typeface="Microsoft Sans Serif"/>
              <a:cs typeface="Microsoft Sans Serif"/>
            </a:endParaRPr>
          </a:p>
          <a:p>
            <a:pPr marL="332740" indent="-320040">
              <a:lnSpc>
                <a:spcPct val="100000"/>
              </a:lnSpc>
              <a:spcBef>
                <a:spcPts val="705"/>
              </a:spcBef>
              <a:buSzPct val="60344"/>
              <a:buFont typeface="Wingdings"/>
              <a:buChar char=""/>
              <a:tabLst>
                <a:tab pos="332740" algn="l"/>
              </a:tabLst>
            </a:pPr>
            <a:r>
              <a:rPr sz="2900" spc="-229" dirty="0">
                <a:latin typeface="Microsoft Sans Serif"/>
                <a:cs typeface="Microsoft Sans Serif"/>
              </a:rPr>
              <a:t>Assi</a:t>
            </a:r>
            <a:r>
              <a:rPr sz="2900" spc="-265" dirty="0">
                <a:latin typeface="Microsoft Sans Serif"/>
                <a:cs typeface="Microsoft Sans Serif"/>
              </a:rPr>
              <a:t>g</a:t>
            </a:r>
            <a:r>
              <a:rPr sz="2900" spc="-270" dirty="0">
                <a:latin typeface="Microsoft Sans Serif"/>
                <a:cs typeface="Microsoft Sans Serif"/>
              </a:rPr>
              <a:t>nment</a:t>
            </a:r>
            <a:r>
              <a:rPr sz="2900" spc="1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20" dirty="0">
                <a:latin typeface="Microsoft Sans Serif"/>
                <a:cs typeface="Microsoft Sans Serif"/>
              </a:rPr>
              <a:t>a</a:t>
            </a:r>
            <a:r>
              <a:rPr sz="2900" spc="-5" dirty="0">
                <a:latin typeface="Microsoft Sans Serif"/>
                <a:cs typeface="Microsoft Sans Serif"/>
              </a:rPr>
              <a:t>t</a:t>
            </a:r>
            <a:r>
              <a:rPr sz="2900" spc="-180" dirty="0">
                <a:latin typeface="Microsoft Sans Serif"/>
                <a:cs typeface="Microsoft Sans Serif"/>
              </a:rPr>
              <a:t>o</a:t>
            </a:r>
            <a:r>
              <a:rPr sz="2900" spc="-245" dirty="0">
                <a:latin typeface="Microsoft Sans Serif"/>
                <a:cs typeface="Microsoft Sans Serif"/>
              </a:rPr>
              <a:t>rs</a:t>
            </a:r>
            <a:endParaRPr sz="2900" dirty="0">
              <a:latin typeface="Microsoft Sans Serif"/>
              <a:cs typeface="Microsoft Sans Serif"/>
            </a:endParaRPr>
          </a:p>
          <a:p>
            <a:pPr marL="332740" indent="-320040">
              <a:lnSpc>
                <a:spcPct val="100000"/>
              </a:lnSpc>
              <a:spcBef>
                <a:spcPts val="700"/>
              </a:spcBef>
              <a:buSzPct val="60344"/>
              <a:buFont typeface="Wingdings"/>
              <a:buChar char=""/>
              <a:tabLst>
                <a:tab pos="332740" algn="l"/>
              </a:tabLst>
            </a:pPr>
            <a:r>
              <a:rPr sz="2900" spc="-275" dirty="0">
                <a:latin typeface="Microsoft Sans Serif"/>
                <a:cs typeface="Microsoft Sans Serif"/>
              </a:rPr>
              <a:t>Sho</a:t>
            </a:r>
            <a:r>
              <a:rPr sz="2900" spc="-100" dirty="0">
                <a:latin typeface="Microsoft Sans Serif"/>
                <a:cs typeface="Microsoft Sans Serif"/>
              </a:rPr>
              <a:t>r</a:t>
            </a:r>
            <a:r>
              <a:rPr sz="2900" spc="-145" dirty="0">
                <a:latin typeface="Microsoft Sans Serif"/>
                <a:cs typeface="Microsoft Sans Serif"/>
              </a:rPr>
              <a:t>thand</a:t>
            </a:r>
            <a:r>
              <a:rPr sz="2900" dirty="0">
                <a:latin typeface="Microsoft Sans Serif"/>
                <a:cs typeface="Microsoft Sans Serif"/>
              </a:rPr>
              <a:t> </a:t>
            </a:r>
            <a:r>
              <a:rPr sz="2900" spc="100" dirty="0">
                <a:latin typeface="Microsoft Sans Serif"/>
                <a:cs typeface="Microsoft Sans Serif"/>
              </a:rPr>
              <a:t>f</a:t>
            </a:r>
            <a:r>
              <a:rPr sz="2900" spc="-80" dirty="0">
                <a:latin typeface="Microsoft Sans Serif"/>
                <a:cs typeface="Microsoft Sans Serif"/>
              </a:rPr>
              <a:t>or</a:t>
            </a:r>
            <a:r>
              <a:rPr sz="2900" spc="30" dirty="0">
                <a:latin typeface="Microsoft Sans Serif"/>
                <a:cs typeface="Microsoft Sans Serif"/>
              </a:rPr>
              <a:t> </a:t>
            </a:r>
            <a:r>
              <a:rPr sz="2900" spc="-235" dirty="0">
                <a:latin typeface="Microsoft Sans Serif"/>
                <a:cs typeface="Microsoft Sans Serif"/>
              </a:rPr>
              <a:t>assignment</a:t>
            </a:r>
            <a:r>
              <a:rPr sz="290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130" dirty="0">
                <a:latin typeface="Microsoft Sans Serif"/>
                <a:cs typeface="Microsoft Sans Serif"/>
              </a:rPr>
              <a:t>ator</a:t>
            </a:r>
            <a:r>
              <a:rPr sz="2900" spc="-160" dirty="0">
                <a:latin typeface="Microsoft Sans Serif"/>
                <a:cs typeface="Microsoft Sans Serif"/>
              </a:rPr>
              <a:t>s</a:t>
            </a:r>
            <a:r>
              <a:rPr sz="2900" spc="-170" dirty="0">
                <a:latin typeface="Microsoft Sans Serif"/>
                <a:cs typeface="Microsoft Sans Serif"/>
              </a:rPr>
              <a:t>:</a:t>
            </a:r>
            <a:endParaRPr sz="2900" dirty="0">
              <a:latin typeface="Microsoft Sans Serif"/>
              <a:cs typeface="Microsoft Sans Serif"/>
            </a:endParaRPr>
          </a:p>
          <a:p>
            <a:pPr marL="378460">
              <a:lnSpc>
                <a:spcPct val="100000"/>
              </a:lnSpc>
              <a:spcBef>
                <a:spcPts val="490"/>
              </a:spcBef>
            </a:pPr>
            <a:r>
              <a:rPr sz="1800" spc="-175" dirty="0">
                <a:latin typeface="Microsoft Sans Serif"/>
                <a:cs typeface="Microsoft Sans Serif"/>
              </a:rPr>
              <a:t>🞑</a:t>
            </a:r>
            <a:r>
              <a:rPr sz="1800" spc="55" dirty="0">
                <a:latin typeface="Microsoft Sans Serif"/>
                <a:cs typeface="Microsoft Sans Serif"/>
              </a:rPr>
              <a:t> </a:t>
            </a:r>
            <a:r>
              <a:rPr sz="2600" spc="-5" dirty="0">
                <a:latin typeface="Courier New"/>
                <a:cs typeface="Courier New"/>
              </a:rPr>
              <a:t>$</a:t>
            </a:r>
            <a:r>
              <a:rPr sz="2600" dirty="0">
                <a:latin typeface="Courier New"/>
                <a:cs typeface="Courier New"/>
              </a:rPr>
              <a:t>x </a:t>
            </a:r>
            <a:r>
              <a:rPr sz="2600" spc="-5" dirty="0">
                <a:latin typeface="Courier New"/>
                <a:cs typeface="Courier New"/>
              </a:rPr>
              <a:t>+</a:t>
            </a:r>
            <a:r>
              <a:rPr sz="2600" dirty="0">
                <a:latin typeface="Courier New"/>
                <a:cs typeface="Courier New"/>
              </a:rPr>
              <a:t>= </a:t>
            </a:r>
            <a:r>
              <a:rPr sz="2600" spc="-5" dirty="0">
                <a:latin typeface="Courier New"/>
                <a:cs typeface="Courier New"/>
              </a:rPr>
              <a:t>$</a:t>
            </a:r>
            <a:r>
              <a:rPr sz="2600" dirty="0">
                <a:latin typeface="Courier New"/>
                <a:cs typeface="Courier New"/>
              </a:rPr>
              <a:t>y</a:t>
            </a:r>
            <a:r>
              <a:rPr sz="2600" spc="-850" dirty="0">
                <a:latin typeface="Courier New"/>
                <a:cs typeface="Courier New"/>
              </a:rPr>
              <a:t> </a:t>
            </a:r>
            <a:r>
              <a:rPr sz="2600" spc="-80" dirty="0">
                <a:latin typeface="Microsoft Sans Serif"/>
                <a:cs typeface="Microsoft Sans Serif"/>
              </a:rPr>
              <a:t>e</a:t>
            </a:r>
            <a:r>
              <a:rPr sz="2600" spc="-75" dirty="0">
                <a:latin typeface="Microsoft Sans Serif"/>
                <a:cs typeface="Microsoft Sans Serif"/>
              </a:rPr>
              <a:t>q</a:t>
            </a:r>
            <a:r>
              <a:rPr sz="2600" spc="-150" dirty="0">
                <a:latin typeface="Microsoft Sans Serif"/>
                <a:cs typeface="Microsoft Sans Serif"/>
              </a:rPr>
              <a:t>ui</a:t>
            </a:r>
            <a:r>
              <a:rPr sz="2600" spc="-235" dirty="0">
                <a:latin typeface="Microsoft Sans Serif"/>
                <a:cs typeface="Microsoft Sans Serif"/>
              </a:rPr>
              <a:t>v</a:t>
            </a:r>
            <a:r>
              <a:rPr sz="2600" spc="-25" dirty="0">
                <a:latin typeface="Microsoft Sans Serif"/>
                <a:cs typeface="Microsoft Sans Serif"/>
              </a:rPr>
              <a:t>a</a:t>
            </a:r>
            <a:r>
              <a:rPr sz="2600" spc="-5" dirty="0">
                <a:latin typeface="Microsoft Sans Serif"/>
                <a:cs typeface="Microsoft Sans Serif"/>
              </a:rPr>
              <a:t>l</a:t>
            </a:r>
            <a:r>
              <a:rPr sz="2600" spc="-160" dirty="0">
                <a:latin typeface="Microsoft Sans Serif"/>
                <a:cs typeface="Microsoft Sans Serif"/>
              </a:rPr>
              <a:t>ent</a:t>
            </a:r>
            <a:r>
              <a:rPr sz="2600" spc="-15" dirty="0">
                <a:latin typeface="Microsoft Sans Serif"/>
                <a:cs typeface="Microsoft Sans Serif"/>
              </a:rPr>
              <a:t> </a:t>
            </a:r>
            <a:r>
              <a:rPr sz="2600" spc="-85" dirty="0">
                <a:latin typeface="Microsoft Sans Serif"/>
                <a:cs typeface="Microsoft Sans Serif"/>
              </a:rPr>
              <a:t>to</a:t>
            </a:r>
            <a:r>
              <a:rPr sz="2600" spc="20" dirty="0">
                <a:latin typeface="Microsoft Sans Serif"/>
                <a:cs typeface="Microsoft Sans Serif"/>
              </a:rPr>
              <a:t> </a:t>
            </a:r>
            <a:r>
              <a:rPr sz="2600" spc="-5" dirty="0">
                <a:latin typeface="Courier New"/>
                <a:cs typeface="Courier New"/>
              </a:rPr>
              <a:t>$</a:t>
            </a:r>
            <a:r>
              <a:rPr sz="2600" dirty="0">
                <a:latin typeface="Courier New"/>
                <a:cs typeface="Courier New"/>
              </a:rPr>
              <a:t>x = </a:t>
            </a:r>
            <a:r>
              <a:rPr sz="2600" spc="-5" dirty="0">
                <a:latin typeface="Courier New"/>
                <a:cs typeface="Courier New"/>
              </a:rPr>
              <a:t>$</a:t>
            </a:r>
            <a:r>
              <a:rPr sz="2600" dirty="0">
                <a:latin typeface="Courier New"/>
                <a:cs typeface="Courier New"/>
              </a:rPr>
              <a:t>x + </a:t>
            </a:r>
            <a:r>
              <a:rPr sz="2600" spc="-5" dirty="0">
                <a:latin typeface="Courier New"/>
                <a:cs typeface="Courier New"/>
              </a:rPr>
              <a:t>$y</a:t>
            </a:r>
            <a:endParaRPr sz="2600" dirty="0">
              <a:latin typeface="Courier New"/>
              <a:cs typeface="Courier New"/>
            </a:endParaRPr>
          </a:p>
          <a:p>
            <a:pPr marL="652780" marR="5080" indent="-274320">
              <a:lnSpc>
                <a:spcPct val="100000"/>
              </a:lnSpc>
              <a:spcBef>
                <a:spcPts val="720"/>
              </a:spcBef>
            </a:pPr>
            <a:r>
              <a:rPr sz="1800" spc="-175" dirty="0">
                <a:latin typeface="Microsoft Sans Serif"/>
                <a:cs typeface="Microsoft Sans Serif"/>
              </a:rPr>
              <a:t>🞑</a:t>
            </a:r>
            <a:r>
              <a:rPr sz="1800" spc="55" dirty="0">
                <a:latin typeface="Microsoft Sans Serif"/>
                <a:cs typeface="Microsoft Sans Serif"/>
              </a:rPr>
              <a:t> </a:t>
            </a:r>
            <a:r>
              <a:rPr sz="2600" spc="-190" dirty="0">
                <a:latin typeface="Microsoft Sans Serif"/>
                <a:cs typeface="Microsoft Sans Serif"/>
              </a:rPr>
              <a:t>Also</a:t>
            </a:r>
            <a:r>
              <a:rPr sz="2600" spc="25" dirty="0">
                <a:latin typeface="Microsoft Sans Serif"/>
                <a:cs typeface="Microsoft Sans Serif"/>
              </a:rPr>
              <a:t> </a:t>
            </a:r>
            <a:r>
              <a:rPr sz="2600" spc="-195" dirty="0">
                <a:latin typeface="Microsoft Sans Serif"/>
                <a:cs typeface="Microsoft Sans Serif"/>
              </a:rPr>
              <a:t>w</a:t>
            </a:r>
            <a:r>
              <a:rPr sz="2600" spc="-90" dirty="0">
                <a:latin typeface="Microsoft Sans Serif"/>
                <a:cs typeface="Microsoft Sans Serif"/>
              </a:rPr>
              <a:t>o</a:t>
            </a:r>
            <a:r>
              <a:rPr sz="2600" spc="-10" dirty="0">
                <a:latin typeface="Microsoft Sans Serif"/>
                <a:cs typeface="Microsoft Sans Serif"/>
              </a:rPr>
              <a:t>r</a:t>
            </a:r>
            <a:r>
              <a:rPr sz="2600" spc="-300" dirty="0">
                <a:latin typeface="Microsoft Sans Serif"/>
                <a:cs typeface="Microsoft Sans Serif"/>
              </a:rPr>
              <a:t>ks</a:t>
            </a:r>
            <a:r>
              <a:rPr sz="2600" dirty="0">
                <a:latin typeface="Microsoft Sans Serif"/>
                <a:cs typeface="Microsoft Sans Serif"/>
              </a:rPr>
              <a:t> </a:t>
            </a:r>
            <a:r>
              <a:rPr sz="2600" spc="-125" dirty="0">
                <a:latin typeface="Microsoft Sans Serif"/>
                <a:cs typeface="Microsoft Sans Serif"/>
              </a:rPr>
              <a:t>w</a:t>
            </a:r>
            <a:r>
              <a:rPr sz="2600" spc="-35" dirty="0">
                <a:latin typeface="Microsoft Sans Serif"/>
                <a:cs typeface="Microsoft Sans Serif"/>
              </a:rPr>
              <a:t>i</a:t>
            </a:r>
            <a:r>
              <a:rPr sz="2600" spc="-165" dirty="0">
                <a:latin typeface="Microsoft Sans Serif"/>
                <a:cs typeface="Microsoft Sans Serif"/>
              </a:rPr>
              <a:t>th</a:t>
            </a:r>
            <a:r>
              <a:rPr sz="2600" spc="5" dirty="0">
                <a:latin typeface="Microsoft Sans Serif"/>
                <a:cs typeface="Microsoft Sans Serif"/>
              </a:rPr>
              <a:t> </a:t>
            </a:r>
            <a:r>
              <a:rPr sz="2600" spc="-165" dirty="0">
                <a:latin typeface="Microsoft Sans Serif"/>
                <a:cs typeface="Microsoft Sans Serif"/>
              </a:rPr>
              <a:t>subt</a:t>
            </a:r>
            <a:r>
              <a:rPr sz="2600" spc="-145" dirty="0">
                <a:latin typeface="Microsoft Sans Serif"/>
                <a:cs typeface="Microsoft Sans Serif"/>
              </a:rPr>
              <a:t>r</a:t>
            </a:r>
            <a:r>
              <a:rPr sz="2600" spc="-95" dirty="0">
                <a:latin typeface="Microsoft Sans Serif"/>
                <a:cs typeface="Microsoft Sans Serif"/>
              </a:rPr>
              <a:t>acti</a:t>
            </a:r>
            <a:r>
              <a:rPr sz="2600" spc="-125" dirty="0">
                <a:latin typeface="Microsoft Sans Serif"/>
                <a:cs typeface="Microsoft Sans Serif"/>
              </a:rPr>
              <a:t>o</a:t>
            </a:r>
            <a:r>
              <a:rPr sz="2600" spc="-229" dirty="0">
                <a:latin typeface="Microsoft Sans Serif"/>
                <a:cs typeface="Microsoft Sans Serif"/>
              </a:rPr>
              <a:t>n,</a:t>
            </a:r>
            <a:r>
              <a:rPr sz="2600" spc="-15" dirty="0">
                <a:latin typeface="Microsoft Sans Serif"/>
                <a:cs typeface="Microsoft Sans Serif"/>
              </a:rPr>
              <a:t> </a:t>
            </a:r>
            <a:r>
              <a:rPr sz="2600" spc="-385" dirty="0">
                <a:latin typeface="Microsoft Sans Serif"/>
                <a:cs typeface="Microsoft Sans Serif"/>
              </a:rPr>
              <a:t>m</a:t>
            </a:r>
            <a:r>
              <a:rPr sz="2600" spc="-105" dirty="0">
                <a:latin typeface="Microsoft Sans Serif"/>
                <a:cs typeface="Microsoft Sans Serif"/>
              </a:rPr>
              <a:t>ult</a:t>
            </a:r>
            <a:r>
              <a:rPr sz="2600" spc="-55" dirty="0">
                <a:latin typeface="Microsoft Sans Serif"/>
                <a:cs typeface="Microsoft Sans Serif"/>
              </a:rPr>
              <a:t>i</a:t>
            </a:r>
            <a:r>
              <a:rPr sz="2600" spc="-25" dirty="0">
                <a:latin typeface="Microsoft Sans Serif"/>
                <a:cs typeface="Microsoft Sans Serif"/>
              </a:rPr>
              <a:t>p</a:t>
            </a:r>
            <a:r>
              <a:rPr sz="2600" spc="-5" dirty="0">
                <a:latin typeface="Microsoft Sans Serif"/>
                <a:cs typeface="Microsoft Sans Serif"/>
              </a:rPr>
              <a:t>l</a:t>
            </a:r>
            <a:r>
              <a:rPr sz="2600" spc="-90" dirty="0">
                <a:latin typeface="Microsoft Sans Serif"/>
                <a:cs typeface="Microsoft Sans Serif"/>
              </a:rPr>
              <a:t>icat</a:t>
            </a:r>
            <a:r>
              <a:rPr sz="2600" spc="-45" dirty="0">
                <a:latin typeface="Microsoft Sans Serif"/>
                <a:cs typeface="Microsoft Sans Serif"/>
              </a:rPr>
              <a:t>i</a:t>
            </a:r>
            <a:r>
              <a:rPr sz="2600" spc="-204" dirty="0">
                <a:latin typeface="Microsoft Sans Serif"/>
                <a:cs typeface="Microsoft Sans Serif"/>
              </a:rPr>
              <a:t>on,</a:t>
            </a:r>
            <a:r>
              <a:rPr sz="2600" dirty="0">
                <a:latin typeface="Microsoft Sans Serif"/>
                <a:cs typeface="Microsoft Sans Serif"/>
              </a:rPr>
              <a:t> </a:t>
            </a:r>
            <a:r>
              <a:rPr sz="2600" spc="-25" dirty="0">
                <a:latin typeface="Microsoft Sans Serif"/>
                <a:cs typeface="Microsoft Sans Serif"/>
              </a:rPr>
              <a:t>d</a:t>
            </a:r>
            <a:r>
              <a:rPr sz="2600" spc="-5" dirty="0">
                <a:latin typeface="Microsoft Sans Serif"/>
                <a:cs typeface="Microsoft Sans Serif"/>
              </a:rPr>
              <a:t>i</a:t>
            </a:r>
            <a:r>
              <a:rPr sz="2600" spc="-145" dirty="0">
                <a:latin typeface="Microsoft Sans Serif"/>
                <a:cs typeface="Microsoft Sans Serif"/>
              </a:rPr>
              <a:t>visi</a:t>
            </a:r>
            <a:r>
              <a:rPr sz="2600" spc="-210" dirty="0">
                <a:latin typeface="Microsoft Sans Serif"/>
                <a:cs typeface="Microsoft Sans Serif"/>
              </a:rPr>
              <a:t>o</a:t>
            </a:r>
            <a:r>
              <a:rPr sz="2600" spc="-190" dirty="0">
                <a:latin typeface="Microsoft Sans Serif"/>
                <a:cs typeface="Microsoft Sans Serif"/>
              </a:rPr>
              <a:t>n,  </a:t>
            </a:r>
            <a:r>
              <a:rPr sz="2600" spc="-345" dirty="0">
                <a:latin typeface="Microsoft Sans Serif"/>
                <a:cs typeface="Microsoft Sans Serif"/>
              </a:rPr>
              <a:t>m</a:t>
            </a:r>
            <a:r>
              <a:rPr sz="2600" spc="-225" dirty="0">
                <a:latin typeface="Microsoft Sans Serif"/>
                <a:cs typeface="Microsoft Sans Serif"/>
              </a:rPr>
              <a:t>o</a:t>
            </a:r>
            <a:r>
              <a:rPr sz="2600" spc="-215" dirty="0">
                <a:latin typeface="Microsoft Sans Serif"/>
                <a:cs typeface="Microsoft Sans Serif"/>
              </a:rPr>
              <a:t>dulu</a:t>
            </a:r>
            <a:r>
              <a:rPr sz="2600" spc="-270" dirty="0">
                <a:latin typeface="Microsoft Sans Serif"/>
                <a:cs typeface="Microsoft Sans Serif"/>
              </a:rPr>
              <a:t>s</a:t>
            </a:r>
            <a:r>
              <a:rPr sz="2600" spc="-155" dirty="0">
                <a:latin typeface="Microsoft Sans Serif"/>
                <a:cs typeface="Microsoft Sans Serif"/>
              </a:rPr>
              <a:t>,</a:t>
            </a:r>
            <a:r>
              <a:rPr sz="2600" spc="-5"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450" dirty="0">
                <a:latin typeface="Microsoft Sans Serif"/>
                <a:cs typeface="Microsoft Sans Serif"/>
              </a:rPr>
              <a:t>s</a:t>
            </a:r>
            <a:r>
              <a:rPr sz="2600" spc="-75" dirty="0">
                <a:latin typeface="Microsoft Sans Serif"/>
                <a:cs typeface="Microsoft Sans Serif"/>
              </a:rPr>
              <a:t>tring</a:t>
            </a:r>
            <a:r>
              <a:rPr sz="2600" spc="10" dirty="0">
                <a:latin typeface="Microsoft Sans Serif"/>
                <a:cs typeface="Microsoft Sans Serif"/>
              </a:rPr>
              <a:t> </a:t>
            </a:r>
            <a:r>
              <a:rPr sz="2600" spc="-150" dirty="0">
                <a:latin typeface="Microsoft Sans Serif"/>
                <a:cs typeface="Microsoft Sans Serif"/>
              </a:rPr>
              <a:t>concatenat</a:t>
            </a:r>
            <a:r>
              <a:rPr sz="2600" spc="-60" dirty="0">
                <a:latin typeface="Microsoft Sans Serif"/>
                <a:cs typeface="Microsoft Sans Serif"/>
              </a:rPr>
              <a:t>i</a:t>
            </a:r>
            <a:r>
              <a:rPr sz="2600" spc="-225" dirty="0">
                <a:latin typeface="Microsoft Sans Serif"/>
                <a:cs typeface="Microsoft Sans Serif"/>
              </a:rPr>
              <a:t>on</a:t>
            </a:r>
            <a:endParaRPr sz="2600" dirty="0">
              <a:latin typeface="Microsoft Sans Serif"/>
              <a:cs typeface="Microsoft Sans Serif"/>
            </a:endParaRPr>
          </a:p>
        </p:txBody>
      </p:sp>
    </p:spTree>
    <p:extLst>
      <p:ext uri="{BB962C8B-B14F-4D97-AF65-F5344CB8AC3E}">
        <p14:creationId xmlns:p14="http://schemas.microsoft.com/office/powerpoint/2010/main" val="2085408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3514090" cy="697230"/>
          </a:xfrm>
          <a:prstGeom prst="rect">
            <a:avLst/>
          </a:prstGeom>
        </p:spPr>
        <p:txBody>
          <a:bodyPr vert="horz" wrap="square" lIns="0" tIns="13335" rIns="0" bIns="0" rtlCol="0">
            <a:spAutoFit/>
          </a:bodyPr>
          <a:lstStyle/>
          <a:p>
            <a:pPr marL="12700">
              <a:lnSpc>
                <a:spcPct val="100000"/>
              </a:lnSpc>
              <a:spcBef>
                <a:spcPts val="105"/>
              </a:spcBef>
            </a:pPr>
            <a:r>
              <a:rPr spc="365" dirty="0"/>
              <a:t>==</a:t>
            </a:r>
            <a:r>
              <a:rPr spc="45" dirty="0"/>
              <a:t> </a:t>
            </a:r>
            <a:r>
              <a:rPr spc="-355" dirty="0"/>
              <a:t>v</a:t>
            </a:r>
            <a:r>
              <a:rPr spc="-445" dirty="0"/>
              <a:t>ersus</a:t>
            </a:r>
            <a:r>
              <a:rPr dirty="0"/>
              <a:t> </a:t>
            </a:r>
            <a:r>
              <a:rPr spc="365" dirty="0"/>
              <a:t>===</a:t>
            </a:r>
          </a:p>
        </p:txBody>
      </p:sp>
      <p:sp>
        <p:nvSpPr>
          <p:cNvPr id="3" name="object 3"/>
          <p:cNvSpPr txBox="1"/>
          <p:nvPr/>
        </p:nvSpPr>
        <p:spPr>
          <a:xfrm>
            <a:off x="691387" y="1526086"/>
            <a:ext cx="7951470" cy="4386580"/>
          </a:xfrm>
          <a:prstGeom prst="rect">
            <a:avLst/>
          </a:prstGeom>
        </p:spPr>
        <p:txBody>
          <a:bodyPr vert="horz" wrap="square" lIns="0" tIns="54610" rIns="0" bIns="0" rtlCol="0">
            <a:spAutoFit/>
          </a:bodyPr>
          <a:lstStyle/>
          <a:p>
            <a:pPr marL="332740" indent="-320040">
              <a:lnSpc>
                <a:spcPct val="100000"/>
              </a:lnSpc>
              <a:spcBef>
                <a:spcPts val="430"/>
              </a:spcBef>
              <a:buSzPct val="60344"/>
              <a:buFont typeface="Wingdings"/>
              <a:buChar char=""/>
              <a:tabLst>
                <a:tab pos="332740" algn="l"/>
              </a:tabLst>
            </a:pPr>
            <a:r>
              <a:rPr sz="2900" spc="-650" dirty="0">
                <a:latin typeface="Microsoft Sans Serif"/>
                <a:cs typeface="Microsoft Sans Serif"/>
              </a:rPr>
              <a:t>T</a:t>
            </a:r>
            <a:r>
              <a:rPr sz="2900" spc="-225" dirty="0">
                <a:latin typeface="Microsoft Sans Serif"/>
                <a:cs typeface="Microsoft Sans Serif"/>
              </a:rPr>
              <a:t>w</a:t>
            </a:r>
            <a:r>
              <a:rPr sz="2900" spc="-165" dirty="0">
                <a:latin typeface="Microsoft Sans Serif"/>
                <a:cs typeface="Microsoft Sans Serif"/>
              </a:rPr>
              <a:t>o</a:t>
            </a:r>
            <a:r>
              <a:rPr sz="2900" spc="30" dirty="0">
                <a:latin typeface="Microsoft Sans Serif"/>
                <a:cs typeface="Microsoft Sans Serif"/>
              </a:rPr>
              <a:t> </a:t>
            </a:r>
            <a:r>
              <a:rPr sz="2900" spc="-75" dirty="0">
                <a:latin typeface="Microsoft Sans Serif"/>
                <a:cs typeface="Microsoft Sans Serif"/>
              </a:rPr>
              <a:t>“equ</a:t>
            </a:r>
            <a:r>
              <a:rPr sz="2900" spc="-80" dirty="0">
                <a:latin typeface="Microsoft Sans Serif"/>
                <a:cs typeface="Microsoft Sans Serif"/>
              </a:rPr>
              <a:t>a</a:t>
            </a:r>
            <a:r>
              <a:rPr sz="2900" spc="10" dirty="0">
                <a:latin typeface="Microsoft Sans Serif"/>
                <a:cs typeface="Microsoft Sans Serif"/>
              </a:rPr>
              <a:t>lity</a:t>
            </a:r>
            <a:r>
              <a:rPr sz="2900" spc="15" dirty="0">
                <a:latin typeface="Microsoft Sans Serif"/>
                <a:cs typeface="Microsoft Sans Serif"/>
              </a:rPr>
              <a:t>”</a:t>
            </a:r>
            <a:r>
              <a:rPr sz="2900" spc="10" dirty="0">
                <a:latin typeface="Microsoft Sans Serif"/>
                <a:cs typeface="Microsoft Sans Serif"/>
              </a:rPr>
              <a:t> </a:t>
            </a:r>
            <a:r>
              <a:rPr sz="2900" spc="-95" dirty="0">
                <a:latin typeface="Microsoft Sans Serif"/>
                <a:cs typeface="Microsoft Sans Serif"/>
              </a:rPr>
              <a:t>ope</a:t>
            </a:r>
            <a:r>
              <a:rPr sz="2900" spc="-75" dirty="0">
                <a:latin typeface="Microsoft Sans Serif"/>
                <a:cs typeface="Microsoft Sans Serif"/>
              </a:rPr>
              <a:t>r</a:t>
            </a:r>
            <a:r>
              <a:rPr sz="2900" spc="-20" dirty="0">
                <a:latin typeface="Microsoft Sans Serif"/>
                <a:cs typeface="Microsoft Sans Serif"/>
              </a:rPr>
              <a:t>a</a:t>
            </a:r>
            <a:r>
              <a:rPr sz="2900" spc="-5" dirty="0">
                <a:latin typeface="Microsoft Sans Serif"/>
                <a:cs typeface="Microsoft Sans Serif"/>
              </a:rPr>
              <a:t>t</a:t>
            </a:r>
            <a:r>
              <a:rPr sz="2900" spc="-215" dirty="0">
                <a:latin typeface="Microsoft Sans Serif"/>
                <a:cs typeface="Microsoft Sans Serif"/>
              </a:rPr>
              <a:t>ors</a:t>
            </a:r>
            <a:endParaRPr sz="2900" dirty="0">
              <a:latin typeface="Microsoft Sans Serif"/>
              <a:cs typeface="Microsoft Sans Serif"/>
            </a:endParaRPr>
          </a:p>
          <a:p>
            <a:pPr marL="378460">
              <a:lnSpc>
                <a:spcPct val="100000"/>
              </a:lnSpc>
              <a:spcBef>
                <a:spcPts val="305"/>
              </a:spcBef>
            </a:pPr>
            <a:r>
              <a:rPr sz="1800" spc="-175" dirty="0">
                <a:latin typeface="Microsoft Sans Serif"/>
                <a:cs typeface="Microsoft Sans Serif"/>
              </a:rPr>
              <a:t>🞑</a:t>
            </a:r>
            <a:r>
              <a:rPr sz="1800" spc="55" dirty="0">
                <a:latin typeface="Microsoft Sans Serif"/>
                <a:cs typeface="Microsoft Sans Serif"/>
              </a:rPr>
              <a:t> </a:t>
            </a:r>
            <a:r>
              <a:rPr sz="2600" spc="220" dirty="0">
                <a:latin typeface="Microsoft Sans Serif"/>
                <a:cs typeface="Microsoft Sans Serif"/>
              </a:rPr>
              <a:t>==</a:t>
            </a:r>
            <a:r>
              <a:rPr sz="2600" spc="15" dirty="0">
                <a:latin typeface="Microsoft Sans Serif"/>
                <a:cs typeface="Microsoft Sans Serif"/>
              </a:rPr>
              <a:t> </a:t>
            </a:r>
            <a:r>
              <a:rPr sz="2600" spc="-210" dirty="0">
                <a:latin typeface="Microsoft Sans Serif"/>
                <a:cs typeface="Microsoft Sans Serif"/>
              </a:rPr>
              <a:t>tests</a:t>
            </a:r>
            <a:r>
              <a:rPr sz="2600" spc="-10" dirty="0">
                <a:latin typeface="Microsoft Sans Serif"/>
                <a:cs typeface="Microsoft Sans Serif"/>
              </a:rPr>
              <a:t> </a:t>
            </a:r>
            <a:r>
              <a:rPr sz="2600" spc="90" dirty="0">
                <a:latin typeface="Microsoft Sans Serif"/>
                <a:cs typeface="Microsoft Sans Serif"/>
              </a:rPr>
              <a:t>f</a:t>
            </a:r>
            <a:r>
              <a:rPr sz="2600" spc="-75" dirty="0">
                <a:latin typeface="Microsoft Sans Serif"/>
                <a:cs typeface="Microsoft Sans Serif"/>
              </a:rPr>
              <a:t>or</a:t>
            </a:r>
            <a:r>
              <a:rPr sz="2600" spc="5" dirty="0">
                <a:latin typeface="Microsoft Sans Serif"/>
                <a:cs typeface="Microsoft Sans Serif"/>
              </a:rPr>
              <a:t> </a:t>
            </a:r>
            <a:r>
              <a:rPr sz="2600" spc="-60" dirty="0">
                <a:latin typeface="Microsoft Sans Serif"/>
                <a:cs typeface="Microsoft Sans Serif"/>
              </a:rPr>
              <a:t>“equal</a:t>
            </a:r>
            <a:r>
              <a:rPr sz="2600" spc="-25" dirty="0">
                <a:latin typeface="Microsoft Sans Serif"/>
                <a:cs typeface="Microsoft Sans Serif"/>
              </a:rPr>
              <a:t>i</a:t>
            </a:r>
            <a:r>
              <a:rPr sz="2600" spc="40" dirty="0">
                <a:latin typeface="Microsoft Sans Serif"/>
                <a:cs typeface="Microsoft Sans Serif"/>
              </a:rPr>
              <a:t>ty”</a:t>
            </a:r>
            <a:r>
              <a:rPr sz="2600" spc="-10" dirty="0">
                <a:latin typeface="Microsoft Sans Serif"/>
                <a:cs typeface="Microsoft Sans Serif"/>
              </a:rPr>
              <a:t> </a:t>
            </a:r>
            <a:r>
              <a:rPr sz="2600" spc="-100" dirty="0">
                <a:latin typeface="Microsoft Sans Serif"/>
                <a:cs typeface="Microsoft Sans Serif"/>
              </a:rPr>
              <a:t>i</a:t>
            </a:r>
            <a:r>
              <a:rPr sz="2600" spc="-235" dirty="0">
                <a:latin typeface="Microsoft Sans Serif"/>
                <a:cs typeface="Microsoft Sans Serif"/>
              </a:rPr>
              <a:t>n</a:t>
            </a:r>
            <a:r>
              <a:rPr sz="2600" spc="25" dirty="0">
                <a:latin typeface="Microsoft Sans Serif"/>
                <a:cs typeface="Microsoft Sans Serif"/>
              </a:rPr>
              <a:t> </a:t>
            </a:r>
            <a:r>
              <a:rPr sz="2600" spc="-204" dirty="0">
                <a:latin typeface="Microsoft Sans Serif"/>
                <a:cs typeface="Microsoft Sans Serif"/>
              </a:rPr>
              <a:t>v</a:t>
            </a:r>
            <a:r>
              <a:rPr sz="2600" spc="-120" dirty="0">
                <a:latin typeface="Microsoft Sans Serif"/>
                <a:cs typeface="Microsoft Sans Serif"/>
              </a:rPr>
              <a:t>alue</a:t>
            </a:r>
            <a:r>
              <a:rPr sz="2600" dirty="0">
                <a:latin typeface="Microsoft Sans Serif"/>
                <a:cs typeface="Microsoft Sans Serif"/>
              </a:rPr>
              <a:t> </a:t>
            </a:r>
            <a:r>
              <a:rPr sz="2600" spc="-110" dirty="0">
                <a:latin typeface="Microsoft Sans Serif"/>
                <a:cs typeface="Microsoft Sans Serif"/>
              </a:rPr>
              <a:t>but</a:t>
            </a:r>
            <a:r>
              <a:rPr sz="2600" spc="15" dirty="0">
                <a:latin typeface="Microsoft Sans Serif"/>
                <a:cs typeface="Microsoft Sans Serif"/>
              </a:rPr>
              <a:t> </a:t>
            </a:r>
            <a:r>
              <a:rPr sz="2600" spc="-155" dirty="0">
                <a:latin typeface="Microsoft Sans Serif"/>
                <a:cs typeface="Microsoft Sans Serif"/>
              </a:rPr>
              <a:t>not</a:t>
            </a:r>
            <a:r>
              <a:rPr sz="2600" spc="-5" dirty="0">
                <a:latin typeface="Microsoft Sans Serif"/>
                <a:cs typeface="Microsoft Sans Serif"/>
              </a:rPr>
              <a:t> </a:t>
            </a:r>
            <a:r>
              <a:rPr sz="2600" spc="-235" dirty="0">
                <a:latin typeface="Microsoft Sans Serif"/>
                <a:cs typeface="Microsoft Sans Serif"/>
              </a:rPr>
              <a:t>necessa</a:t>
            </a:r>
            <a:r>
              <a:rPr sz="2600" spc="-160" dirty="0">
                <a:latin typeface="Microsoft Sans Serif"/>
                <a:cs typeface="Microsoft Sans Serif"/>
              </a:rPr>
              <a:t>r</a:t>
            </a:r>
            <a:r>
              <a:rPr sz="2600" spc="-30" dirty="0">
                <a:latin typeface="Microsoft Sans Serif"/>
                <a:cs typeface="Microsoft Sans Serif"/>
              </a:rPr>
              <a:t>i</a:t>
            </a:r>
            <a:r>
              <a:rPr sz="2600" spc="-20" dirty="0">
                <a:latin typeface="Microsoft Sans Serif"/>
                <a:cs typeface="Microsoft Sans Serif"/>
              </a:rPr>
              <a:t>l</a:t>
            </a:r>
            <a:r>
              <a:rPr sz="2600" dirty="0">
                <a:latin typeface="Microsoft Sans Serif"/>
                <a:cs typeface="Microsoft Sans Serif"/>
              </a:rPr>
              <a:t>y</a:t>
            </a:r>
            <a:r>
              <a:rPr sz="2600" spc="-5" dirty="0">
                <a:latin typeface="Microsoft Sans Serif"/>
                <a:cs typeface="Microsoft Sans Serif"/>
              </a:rPr>
              <a:t> </a:t>
            </a:r>
            <a:r>
              <a:rPr sz="2600" spc="-45" dirty="0">
                <a:latin typeface="Microsoft Sans Serif"/>
                <a:cs typeface="Microsoft Sans Serif"/>
              </a:rPr>
              <a:t>type</a:t>
            </a:r>
            <a:endParaRPr sz="2600" dirty="0">
              <a:latin typeface="Microsoft Sans Serif"/>
              <a:cs typeface="Microsoft Sans Serif"/>
            </a:endParaRPr>
          </a:p>
          <a:p>
            <a:pPr marL="378460">
              <a:lnSpc>
                <a:spcPct val="100000"/>
              </a:lnSpc>
              <a:spcBef>
                <a:spcPts val="290"/>
              </a:spcBef>
            </a:pPr>
            <a:r>
              <a:rPr sz="1800" spc="-55" dirty="0">
                <a:latin typeface="Microsoft Sans Serif"/>
                <a:cs typeface="Microsoft Sans Serif"/>
              </a:rPr>
              <a:t>🞑</a:t>
            </a:r>
            <a:r>
              <a:rPr sz="1800" spc="55" dirty="0">
                <a:latin typeface="Microsoft Sans Serif"/>
                <a:cs typeface="Microsoft Sans Serif"/>
              </a:rPr>
              <a:t> </a:t>
            </a:r>
            <a:r>
              <a:rPr sz="2600" spc="215" dirty="0">
                <a:latin typeface="Microsoft Sans Serif"/>
                <a:cs typeface="Microsoft Sans Serif"/>
              </a:rPr>
              <a:t>===</a:t>
            </a:r>
            <a:r>
              <a:rPr sz="2600" spc="25" dirty="0">
                <a:latin typeface="Microsoft Sans Serif"/>
                <a:cs typeface="Microsoft Sans Serif"/>
              </a:rPr>
              <a:t> </a:t>
            </a:r>
            <a:r>
              <a:rPr sz="2600" spc="-210" dirty="0">
                <a:latin typeface="Microsoft Sans Serif"/>
                <a:cs typeface="Microsoft Sans Serif"/>
              </a:rPr>
              <a:t>tests</a:t>
            </a:r>
            <a:r>
              <a:rPr sz="2600" spc="-15" dirty="0">
                <a:latin typeface="Microsoft Sans Serif"/>
                <a:cs typeface="Microsoft Sans Serif"/>
              </a:rPr>
              <a:t> </a:t>
            </a:r>
            <a:r>
              <a:rPr sz="2600" spc="-20" dirty="0">
                <a:latin typeface="Microsoft Sans Serif"/>
                <a:cs typeface="Microsoft Sans Serif"/>
              </a:rPr>
              <a:t>for</a:t>
            </a:r>
            <a:r>
              <a:rPr sz="2600" spc="10" dirty="0">
                <a:latin typeface="Microsoft Sans Serif"/>
                <a:cs typeface="Microsoft Sans Serif"/>
              </a:rPr>
              <a:t> </a:t>
            </a:r>
            <a:r>
              <a:rPr sz="2600" spc="-30" dirty="0">
                <a:latin typeface="Microsoft Sans Serif"/>
                <a:cs typeface="Microsoft Sans Serif"/>
              </a:rPr>
              <a:t>“identity”</a:t>
            </a:r>
            <a:r>
              <a:rPr sz="2600" spc="-10" dirty="0">
                <a:latin typeface="Microsoft Sans Serif"/>
                <a:cs typeface="Microsoft Sans Serif"/>
              </a:rPr>
              <a:t> </a:t>
            </a:r>
            <a:r>
              <a:rPr sz="2600" spc="-170" dirty="0">
                <a:latin typeface="Microsoft Sans Serif"/>
                <a:cs typeface="Microsoft Sans Serif"/>
              </a:rPr>
              <a:t>in</a:t>
            </a:r>
            <a:r>
              <a:rPr sz="2600" spc="25" dirty="0">
                <a:latin typeface="Microsoft Sans Serif"/>
                <a:cs typeface="Microsoft Sans Serif"/>
              </a:rPr>
              <a:t> </a:t>
            </a:r>
            <a:r>
              <a:rPr sz="2600" spc="-140" dirty="0">
                <a:latin typeface="Microsoft Sans Serif"/>
                <a:cs typeface="Microsoft Sans Serif"/>
              </a:rPr>
              <a:t>value</a:t>
            </a:r>
            <a:r>
              <a:rPr sz="2600" spc="10" dirty="0">
                <a:latin typeface="Microsoft Sans Serif"/>
                <a:cs typeface="Microsoft Sans Serif"/>
              </a:rPr>
              <a:t> </a:t>
            </a:r>
            <a:r>
              <a:rPr sz="2600" spc="-204" dirty="0">
                <a:latin typeface="Microsoft Sans Serif"/>
                <a:cs typeface="Microsoft Sans Serif"/>
              </a:rPr>
              <a:t>AND</a:t>
            </a:r>
            <a:r>
              <a:rPr sz="2600" spc="15" dirty="0">
                <a:latin typeface="Microsoft Sans Serif"/>
                <a:cs typeface="Microsoft Sans Serif"/>
              </a:rPr>
              <a:t> </a:t>
            </a:r>
            <a:r>
              <a:rPr sz="2600" spc="-45" dirty="0">
                <a:latin typeface="Microsoft Sans Serif"/>
                <a:cs typeface="Microsoft Sans Serif"/>
              </a:rPr>
              <a:t>type</a:t>
            </a:r>
            <a:endParaRPr sz="2600" dirty="0">
              <a:latin typeface="Microsoft Sans Serif"/>
              <a:cs typeface="Microsoft Sans Serif"/>
            </a:endParaRPr>
          </a:p>
          <a:p>
            <a:pPr marL="12700">
              <a:lnSpc>
                <a:spcPct val="100000"/>
              </a:lnSpc>
              <a:spcBef>
                <a:spcPts val="335"/>
              </a:spcBef>
            </a:pPr>
            <a:r>
              <a:rPr sz="1750" spc="-10" dirty="0">
                <a:latin typeface="Wingdings"/>
                <a:cs typeface="Wingdings"/>
              </a:rPr>
              <a:t></a:t>
            </a:r>
            <a:r>
              <a:rPr sz="1750" spc="95" dirty="0">
                <a:latin typeface="Times New Roman"/>
                <a:cs typeface="Times New Roman"/>
              </a:rPr>
              <a:t> </a:t>
            </a:r>
            <a:r>
              <a:rPr sz="2900" spc="240" dirty="0">
                <a:latin typeface="Microsoft Sans Serif"/>
                <a:cs typeface="Microsoft Sans Serif"/>
              </a:rPr>
              <a:t>==</a:t>
            </a:r>
            <a:r>
              <a:rPr sz="2900" spc="20" dirty="0">
                <a:latin typeface="Microsoft Sans Serif"/>
                <a:cs typeface="Microsoft Sans Serif"/>
              </a:rPr>
              <a:t> </a:t>
            </a:r>
            <a:r>
              <a:rPr sz="2900" spc="-175" dirty="0">
                <a:latin typeface="Microsoft Sans Serif"/>
                <a:cs typeface="Microsoft Sans Serif"/>
              </a:rPr>
              <a:t>ignores</a:t>
            </a:r>
            <a:r>
              <a:rPr sz="2900" spc="-10" dirty="0">
                <a:latin typeface="Microsoft Sans Serif"/>
                <a:cs typeface="Microsoft Sans Serif"/>
              </a:rPr>
              <a:t> </a:t>
            </a:r>
            <a:r>
              <a:rPr sz="2900" spc="-175" dirty="0">
                <a:latin typeface="Microsoft Sans Serif"/>
                <a:cs typeface="Microsoft Sans Serif"/>
              </a:rPr>
              <a:t>the</a:t>
            </a:r>
            <a:r>
              <a:rPr sz="2900" spc="25" dirty="0">
                <a:latin typeface="Microsoft Sans Serif"/>
                <a:cs typeface="Microsoft Sans Serif"/>
              </a:rPr>
              <a:t> </a:t>
            </a:r>
            <a:r>
              <a:rPr sz="2900" spc="-165" dirty="0">
                <a:latin typeface="Microsoft Sans Serif"/>
                <a:cs typeface="Microsoft Sans Serif"/>
              </a:rPr>
              <a:t>distinction</a:t>
            </a:r>
            <a:r>
              <a:rPr sz="2900" dirty="0">
                <a:latin typeface="Microsoft Sans Serif"/>
                <a:cs typeface="Microsoft Sans Serif"/>
              </a:rPr>
              <a:t> </a:t>
            </a:r>
            <a:r>
              <a:rPr sz="2900" spc="-155" dirty="0">
                <a:latin typeface="Microsoft Sans Serif"/>
                <a:cs typeface="Microsoft Sans Serif"/>
              </a:rPr>
              <a:t>between:</a:t>
            </a:r>
            <a:endParaRPr sz="2900" dirty="0">
              <a:latin typeface="Microsoft Sans Serif"/>
              <a:cs typeface="Microsoft Sans Serif"/>
            </a:endParaRPr>
          </a:p>
          <a:p>
            <a:pPr marL="652780" marR="180975" indent="-274320">
              <a:lnSpc>
                <a:spcPts val="2810"/>
              </a:lnSpc>
              <a:spcBef>
                <a:spcPts val="665"/>
              </a:spcBef>
            </a:pPr>
            <a:r>
              <a:rPr sz="1800" spc="-55" dirty="0">
                <a:latin typeface="Microsoft Sans Serif"/>
                <a:cs typeface="Microsoft Sans Serif"/>
              </a:rPr>
              <a:t>🞑</a:t>
            </a:r>
            <a:r>
              <a:rPr sz="1800" spc="55" dirty="0">
                <a:latin typeface="Microsoft Sans Serif"/>
                <a:cs typeface="Microsoft Sans Serif"/>
              </a:rPr>
              <a:t> </a:t>
            </a:r>
            <a:r>
              <a:rPr sz="2600" spc="-165" dirty="0">
                <a:latin typeface="Microsoft Sans Serif"/>
                <a:cs typeface="Microsoft Sans Serif"/>
              </a:rPr>
              <a:t>Integers,</a:t>
            </a:r>
            <a:r>
              <a:rPr sz="2600" spc="-10" dirty="0">
                <a:latin typeface="Microsoft Sans Serif"/>
                <a:cs typeface="Microsoft Sans Serif"/>
              </a:rPr>
              <a:t> </a:t>
            </a:r>
            <a:r>
              <a:rPr sz="2600" spc="-50" dirty="0">
                <a:latin typeface="Microsoft Sans Serif"/>
                <a:cs typeface="Microsoft Sans Serif"/>
              </a:rPr>
              <a:t>floating</a:t>
            </a:r>
            <a:r>
              <a:rPr sz="2600" spc="-5" dirty="0">
                <a:latin typeface="Microsoft Sans Serif"/>
                <a:cs typeface="Microsoft Sans Serif"/>
              </a:rPr>
              <a:t> </a:t>
            </a:r>
            <a:r>
              <a:rPr sz="2600" spc="-105" dirty="0">
                <a:latin typeface="Microsoft Sans Serif"/>
                <a:cs typeface="Microsoft Sans Serif"/>
              </a:rPr>
              <a:t>point</a:t>
            </a:r>
            <a:r>
              <a:rPr sz="2600" spc="15" dirty="0">
                <a:latin typeface="Microsoft Sans Serif"/>
                <a:cs typeface="Microsoft Sans Serif"/>
              </a:rPr>
              <a:t> </a:t>
            </a:r>
            <a:r>
              <a:rPr sz="2600" spc="-229" dirty="0">
                <a:latin typeface="Microsoft Sans Serif"/>
                <a:cs typeface="Microsoft Sans Serif"/>
              </a:rPr>
              <a:t>numbers,</a:t>
            </a:r>
            <a:r>
              <a:rPr sz="2600" dirty="0">
                <a:latin typeface="Microsoft Sans Serif"/>
                <a:cs typeface="Microsoft Sans Serif"/>
              </a:rPr>
              <a:t> </a:t>
            </a:r>
            <a:r>
              <a:rPr sz="2600" spc="-110" dirty="0">
                <a:latin typeface="Microsoft Sans Serif"/>
                <a:cs typeface="Microsoft Sans Serif"/>
              </a:rPr>
              <a:t>and</a:t>
            </a:r>
            <a:r>
              <a:rPr sz="2600" spc="30" dirty="0">
                <a:latin typeface="Microsoft Sans Serif"/>
                <a:cs typeface="Microsoft Sans Serif"/>
              </a:rPr>
              <a:t> </a:t>
            </a:r>
            <a:r>
              <a:rPr sz="2600" spc="-180" dirty="0">
                <a:latin typeface="Microsoft Sans Serif"/>
                <a:cs typeface="Microsoft Sans Serif"/>
              </a:rPr>
              <a:t>strings</a:t>
            </a:r>
            <a:r>
              <a:rPr sz="2600" dirty="0">
                <a:latin typeface="Microsoft Sans Serif"/>
                <a:cs typeface="Microsoft Sans Serif"/>
              </a:rPr>
              <a:t> </a:t>
            </a:r>
            <a:r>
              <a:rPr sz="2600" spc="-145" dirty="0">
                <a:latin typeface="Microsoft Sans Serif"/>
                <a:cs typeface="Microsoft Sans Serif"/>
              </a:rPr>
              <a:t>containing </a:t>
            </a:r>
            <a:r>
              <a:rPr sz="2600" spc="-140" dirty="0">
                <a:latin typeface="Microsoft Sans Serif"/>
                <a:cs typeface="Microsoft Sans Serif"/>
              </a:rPr>
              <a:t> </a:t>
            </a:r>
            <a:r>
              <a:rPr sz="2600" spc="-155" dirty="0">
                <a:latin typeface="Microsoft Sans Serif"/>
                <a:cs typeface="Microsoft Sans Serif"/>
              </a:rPr>
              <a:t>the</a:t>
            </a:r>
            <a:r>
              <a:rPr sz="2600" spc="10" dirty="0">
                <a:latin typeface="Microsoft Sans Serif"/>
                <a:cs typeface="Microsoft Sans Serif"/>
              </a:rPr>
              <a:t> </a:t>
            </a:r>
            <a:r>
              <a:rPr sz="2600" spc="-254" dirty="0">
                <a:latin typeface="Microsoft Sans Serif"/>
                <a:cs typeface="Microsoft Sans Serif"/>
              </a:rPr>
              <a:t>same</a:t>
            </a:r>
            <a:r>
              <a:rPr sz="2600" spc="5" dirty="0">
                <a:latin typeface="Microsoft Sans Serif"/>
                <a:cs typeface="Microsoft Sans Serif"/>
              </a:rPr>
              <a:t> </a:t>
            </a:r>
            <a:r>
              <a:rPr sz="2600" spc="-170" dirty="0">
                <a:latin typeface="Microsoft Sans Serif"/>
                <a:cs typeface="Microsoft Sans Serif"/>
              </a:rPr>
              <a:t>numerical</a:t>
            </a:r>
            <a:r>
              <a:rPr sz="2600" spc="5" dirty="0">
                <a:latin typeface="Microsoft Sans Serif"/>
                <a:cs typeface="Microsoft Sans Serif"/>
              </a:rPr>
              <a:t> </a:t>
            </a:r>
            <a:r>
              <a:rPr sz="2600" spc="-210" dirty="0">
                <a:latin typeface="Microsoft Sans Serif"/>
                <a:cs typeface="Microsoft Sans Serif"/>
              </a:rPr>
              <a:t>v</a:t>
            </a:r>
            <a:r>
              <a:rPr sz="2600" spc="-120" dirty="0">
                <a:latin typeface="Microsoft Sans Serif"/>
                <a:cs typeface="Microsoft Sans Serif"/>
              </a:rPr>
              <a:t>alue</a:t>
            </a:r>
            <a:endParaRPr sz="2600" dirty="0">
              <a:latin typeface="Microsoft Sans Serif"/>
              <a:cs typeface="Microsoft Sans Serif"/>
            </a:endParaRPr>
          </a:p>
          <a:p>
            <a:pPr marL="378460">
              <a:lnSpc>
                <a:spcPct val="100000"/>
              </a:lnSpc>
              <a:spcBef>
                <a:spcPts val="245"/>
              </a:spcBef>
            </a:pPr>
            <a:r>
              <a:rPr sz="1800" spc="-175" dirty="0">
                <a:latin typeface="Microsoft Sans Serif"/>
                <a:cs typeface="Microsoft Sans Serif"/>
              </a:rPr>
              <a:t>🞑</a:t>
            </a:r>
            <a:r>
              <a:rPr sz="1800" spc="55" dirty="0">
                <a:latin typeface="Microsoft Sans Serif"/>
                <a:cs typeface="Microsoft Sans Serif"/>
              </a:rPr>
              <a:t> </a:t>
            </a:r>
            <a:r>
              <a:rPr sz="2600" spc="-165" dirty="0">
                <a:latin typeface="Microsoft Sans Serif"/>
                <a:cs typeface="Microsoft Sans Serif"/>
              </a:rPr>
              <a:t>N</a:t>
            </a:r>
            <a:r>
              <a:rPr sz="2600" spc="-120" dirty="0">
                <a:latin typeface="Microsoft Sans Serif"/>
                <a:cs typeface="Microsoft Sans Serif"/>
              </a:rPr>
              <a:t>o</a:t>
            </a:r>
            <a:r>
              <a:rPr sz="2600" spc="-170" dirty="0">
                <a:latin typeface="Microsoft Sans Serif"/>
                <a:cs typeface="Microsoft Sans Serif"/>
              </a:rPr>
              <a:t>nze</a:t>
            </a:r>
            <a:r>
              <a:rPr sz="2600" spc="-155" dirty="0">
                <a:latin typeface="Microsoft Sans Serif"/>
                <a:cs typeface="Microsoft Sans Serif"/>
              </a:rPr>
              <a:t>r</a:t>
            </a:r>
            <a:r>
              <a:rPr sz="2600" spc="-145" dirty="0">
                <a:latin typeface="Microsoft Sans Serif"/>
                <a:cs typeface="Microsoft Sans Serif"/>
              </a:rPr>
              <a:t>o</a:t>
            </a:r>
            <a:r>
              <a:rPr sz="2600" spc="-15" dirty="0">
                <a:latin typeface="Microsoft Sans Serif"/>
                <a:cs typeface="Microsoft Sans Serif"/>
              </a:rPr>
              <a:t> </a:t>
            </a:r>
            <a:r>
              <a:rPr sz="2600" spc="-245" dirty="0">
                <a:latin typeface="Microsoft Sans Serif"/>
                <a:cs typeface="Microsoft Sans Serif"/>
              </a:rPr>
              <a:t>numb</a:t>
            </a:r>
            <a:r>
              <a:rPr sz="2600" spc="-215" dirty="0">
                <a:latin typeface="Microsoft Sans Serif"/>
                <a:cs typeface="Microsoft Sans Serif"/>
              </a:rPr>
              <a:t>e</a:t>
            </a:r>
            <a:r>
              <a:rPr sz="2600" spc="-220" dirty="0">
                <a:latin typeface="Microsoft Sans Serif"/>
                <a:cs typeface="Microsoft Sans Serif"/>
              </a:rPr>
              <a:t>rs</a:t>
            </a:r>
            <a:r>
              <a:rPr sz="2600" spc="-5"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80" dirty="0">
                <a:latin typeface="Microsoft Sans Serif"/>
                <a:cs typeface="Microsoft Sans Serif"/>
              </a:rPr>
              <a:t>b</a:t>
            </a:r>
            <a:r>
              <a:rPr sz="2600" spc="-75" dirty="0">
                <a:latin typeface="Microsoft Sans Serif"/>
                <a:cs typeface="Microsoft Sans Serif"/>
              </a:rPr>
              <a:t>o</a:t>
            </a:r>
            <a:r>
              <a:rPr sz="2600" spc="-120" dirty="0">
                <a:latin typeface="Microsoft Sans Serif"/>
                <a:cs typeface="Microsoft Sans Serif"/>
              </a:rPr>
              <a:t>o</a:t>
            </a:r>
            <a:r>
              <a:rPr sz="2600" spc="-40" dirty="0">
                <a:latin typeface="Microsoft Sans Serif"/>
                <a:cs typeface="Microsoft Sans Serif"/>
              </a:rPr>
              <a:t>l</a:t>
            </a:r>
            <a:r>
              <a:rPr sz="2600" spc="-80" dirty="0">
                <a:latin typeface="Microsoft Sans Serif"/>
                <a:cs typeface="Microsoft Sans Serif"/>
              </a:rPr>
              <a:t>e</a:t>
            </a:r>
            <a:r>
              <a:rPr sz="2600" spc="-75" dirty="0">
                <a:latin typeface="Microsoft Sans Serif"/>
                <a:cs typeface="Microsoft Sans Serif"/>
              </a:rPr>
              <a:t>a</a:t>
            </a:r>
            <a:r>
              <a:rPr sz="2600" spc="-310" dirty="0">
                <a:latin typeface="Microsoft Sans Serif"/>
                <a:cs typeface="Microsoft Sans Serif"/>
              </a:rPr>
              <a:t>n</a:t>
            </a:r>
            <a:r>
              <a:rPr sz="2600" spc="-10" dirty="0">
                <a:latin typeface="Microsoft Sans Serif"/>
                <a:cs typeface="Microsoft Sans Serif"/>
              </a:rPr>
              <a:t> </a:t>
            </a:r>
            <a:r>
              <a:rPr sz="2600" spc="-484" dirty="0">
                <a:latin typeface="Microsoft Sans Serif"/>
                <a:cs typeface="Microsoft Sans Serif"/>
              </a:rPr>
              <a:t>TRUE</a:t>
            </a:r>
            <a:endParaRPr sz="2600" dirty="0">
              <a:latin typeface="Microsoft Sans Serif"/>
              <a:cs typeface="Microsoft Sans Serif"/>
            </a:endParaRPr>
          </a:p>
          <a:p>
            <a:pPr marL="378460">
              <a:lnSpc>
                <a:spcPct val="100000"/>
              </a:lnSpc>
              <a:spcBef>
                <a:spcPts val="285"/>
              </a:spcBef>
            </a:pPr>
            <a:r>
              <a:rPr sz="1800" spc="-55" dirty="0">
                <a:latin typeface="Microsoft Sans Serif"/>
                <a:cs typeface="Microsoft Sans Serif"/>
              </a:rPr>
              <a:t>🞑</a:t>
            </a:r>
            <a:r>
              <a:rPr sz="1800" spc="45" dirty="0">
                <a:latin typeface="Microsoft Sans Serif"/>
                <a:cs typeface="Microsoft Sans Serif"/>
              </a:rPr>
              <a:t> </a:t>
            </a:r>
            <a:r>
              <a:rPr sz="2600" spc="-155" dirty="0">
                <a:latin typeface="Microsoft Sans Serif"/>
                <a:cs typeface="Microsoft Sans Serif"/>
              </a:rPr>
              <a:t>Zero</a:t>
            </a:r>
            <a:r>
              <a:rPr sz="2600" spc="-20" dirty="0">
                <a:latin typeface="Microsoft Sans Serif"/>
                <a:cs typeface="Microsoft Sans Serif"/>
              </a:rPr>
              <a:t> </a:t>
            </a:r>
            <a:r>
              <a:rPr sz="2600" spc="-110" dirty="0">
                <a:latin typeface="Microsoft Sans Serif"/>
                <a:cs typeface="Microsoft Sans Serif"/>
              </a:rPr>
              <a:t>and</a:t>
            </a:r>
            <a:r>
              <a:rPr sz="2600" spc="10" dirty="0">
                <a:latin typeface="Microsoft Sans Serif"/>
                <a:cs typeface="Microsoft Sans Serif"/>
              </a:rPr>
              <a:t> </a:t>
            </a:r>
            <a:r>
              <a:rPr sz="2600" spc="-110" dirty="0">
                <a:latin typeface="Microsoft Sans Serif"/>
                <a:cs typeface="Microsoft Sans Serif"/>
              </a:rPr>
              <a:t>boolean</a:t>
            </a:r>
            <a:r>
              <a:rPr sz="2600" spc="-20" dirty="0">
                <a:latin typeface="Microsoft Sans Serif"/>
                <a:cs typeface="Microsoft Sans Serif"/>
              </a:rPr>
              <a:t> </a:t>
            </a:r>
            <a:r>
              <a:rPr sz="2600" spc="-434" dirty="0">
                <a:latin typeface="Microsoft Sans Serif"/>
                <a:cs typeface="Microsoft Sans Serif"/>
              </a:rPr>
              <a:t>FALSE</a:t>
            </a:r>
            <a:endParaRPr sz="2600" dirty="0">
              <a:latin typeface="Microsoft Sans Serif"/>
              <a:cs typeface="Microsoft Sans Serif"/>
            </a:endParaRPr>
          </a:p>
          <a:p>
            <a:pPr marL="378460">
              <a:lnSpc>
                <a:spcPct val="100000"/>
              </a:lnSpc>
              <a:spcBef>
                <a:spcPts val="295"/>
              </a:spcBef>
            </a:pPr>
            <a:r>
              <a:rPr sz="1800" spc="-55" dirty="0">
                <a:latin typeface="Microsoft Sans Serif"/>
                <a:cs typeface="Microsoft Sans Serif"/>
              </a:rPr>
              <a:t>🞑</a:t>
            </a:r>
            <a:r>
              <a:rPr sz="1800" spc="55" dirty="0">
                <a:latin typeface="Microsoft Sans Serif"/>
                <a:cs typeface="Microsoft Sans Serif"/>
              </a:rPr>
              <a:t> </a:t>
            </a:r>
            <a:r>
              <a:rPr sz="2600" spc="-210" dirty="0">
                <a:latin typeface="Microsoft Sans Serif"/>
                <a:cs typeface="Microsoft Sans Serif"/>
              </a:rPr>
              <a:t>Empty</a:t>
            </a:r>
            <a:r>
              <a:rPr sz="2600" dirty="0">
                <a:latin typeface="Microsoft Sans Serif"/>
                <a:cs typeface="Microsoft Sans Serif"/>
              </a:rPr>
              <a:t> </a:t>
            </a:r>
            <a:r>
              <a:rPr sz="2600" spc="-145" dirty="0">
                <a:latin typeface="Microsoft Sans Serif"/>
                <a:cs typeface="Microsoft Sans Serif"/>
              </a:rPr>
              <a:t>string,</a:t>
            </a:r>
            <a:r>
              <a:rPr sz="2600" spc="10" dirty="0">
                <a:latin typeface="Microsoft Sans Serif"/>
                <a:cs typeface="Microsoft Sans Serif"/>
              </a:rPr>
              <a:t> </a:t>
            </a:r>
            <a:r>
              <a:rPr sz="2600" spc="-160" dirty="0">
                <a:latin typeface="Microsoft Sans Serif"/>
                <a:cs typeface="Microsoft Sans Serif"/>
              </a:rPr>
              <a:t>the</a:t>
            </a:r>
            <a:r>
              <a:rPr sz="2600" spc="10" dirty="0">
                <a:latin typeface="Microsoft Sans Serif"/>
                <a:cs typeface="Microsoft Sans Serif"/>
              </a:rPr>
              <a:t> </a:t>
            </a:r>
            <a:r>
              <a:rPr sz="2600" spc="-135" dirty="0">
                <a:latin typeface="Microsoft Sans Serif"/>
                <a:cs typeface="Microsoft Sans Serif"/>
              </a:rPr>
              <a:t>string</a:t>
            </a:r>
            <a:r>
              <a:rPr sz="2600" spc="10" dirty="0">
                <a:latin typeface="Microsoft Sans Serif"/>
                <a:cs typeface="Microsoft Sans Serif"/>
              </a:rPr>
              <a:t> </a:t>
            </a:r>
            <a:r>
              <a:rPr sz="2600" spc="-10" dirty="0">
                <a:latin typeface="Microsoft Sans Serif"/>
                <a:cs typeface="Microsoft Sans Serif"/>
              </a:rPr>
              <a:t>‘0’</a:t>
            </a:r>
            <a:r>
              <a:rPr sz="2600" spc="25" dirty="0">
                <a:latin typeface="Microsoft Sans Serif"/>
                <a:cs typeface="Microsoft Sans Serif"/>
              </a:rPr>
              <a:t> </a:t>
            </a:r>
            <a:r>
              <a:rPr sz="2600" spc="-110" dirty="0">
                <a:latin typeface="Microsoft Sans Serif"/>
                <a:cs typeface="Microsoft Sans Serif"/>
              </a:rPr>
              <a:t>and</a:t>
            </a:r>
            <a:r>
              <a:rPr sz="2600" spc="35" dirty="0">
                <a:latin typeface="Microsoft Sans Serif"/>
                <a:cs typeface="Microsoft Sans Serif"/>
              </a:rPr>
              <a:t> </a:t>
            </a:r>
            <a:r>
              <a:rPr sz="2600" spc="-110" dirty="0">
                <a:latin typeface="Microsoft Sans Serif"/>
                <a:cs typeface="Microsoft Sans Serif"/>
              </a:rPr>
              <a:t>boolean</a:t>
            </a:r>
            <a:r>
              <a:rPr sz="2600" spc="-15" dirty="0">
                <a:latin typeface="Microsoft Sans Serif"/>
                <a:cs typeface="Microsoft Sans Serif"/>
              </a:rPr>
              <a:t> </a:t>
            </a:r>
            <a:r>
              <a:rPr sz="2600" spc="-434" dirty="0">
                <a:latin typeface="Microsoft Sans Serif"/>
                <a:cs typeface="Microsoft Sans Serif"/>
              </a:rPr>
              <a:t>FALSE</a:t>
            </a:r>
            <a:endParaRPr sz="2600" dirty="0">
              <a:latin typeface="Microsoft Sans Serif"/>
              <a:cs typeface="Microsoft Sans Serif"/>
            </a:endParaRPr>
          </a:p>
          <a:p>
            <a:pPr marL="378460">
              <a:lnSpc>
                <a:spcPct val="100000"/>
              </a:lnSpc>
              <a:spcBef>
                <a:spcPts val="285"/>
              </a:spcBef>
            </a:pPr>
            <a:r>
              <a:rPr sz="1800" spc="-55" dirty="0">
                <a:latin typeface="Microsoft Sans Serif"/>
                <a:cs typeface="Microsoft Sans Serif"/>
              </a:rPr>
              <a:t>🞑</a:t>
            </a:r>
            <a:r>
              <a:rPr sz="1800" spc="50" dirty="0">
                <a:latin typeface="Microsoft Sans Serif"/>
                <a:cs typeface="Microsoft Sans Serif"/>
              </a:rPr>
              <a:t> </a:t>
            </a:r>
            <a:r>
              <a:rPr sz="2600" spc="-180" dirty="0">
                <a:latin typeface="Microsoft Sans Serif"/>
                <a:cs typeface="Microsoft Sans Serif"/>
              </a:rPr>
              <a:t>Any</a:t>
            </a:r>
            <a:r>
              <a:rPr sz="2600" spc="10" dirty="0">
                <a:latin typeface="Microsoft Sans Serif"/>
                <a:cs typeface="Microsoft Sans Serif"/>
              </a:rPr>
              <a:t> </a:t>
            </a:r>
            <a:r>
              <a:rPr sz="2600" spc="-125" dirty="0">
                <a:latin typeface="Microsoft Sans Serif"/>
                <a:cs typeface="Microsoft Sans Serif"/>
              </a:rPr>
              <a:t>other</a:t>
            </a:r>
            <a:r>
              <a:rPr sz="2600" spc="-5" dirty="0">
                <a:latin typeface="Microsoft Sans Serif"/>
                <a:cs typeface="Microsoft Sans Serif"/>
              </a:rPr>
              <a:t> </a:t>
            </a:r>
            <a:r>
              <a:rPr sz="2600" spc="-150" dirty="0">
                <a:latin typeface="Microsoft Sans Serif"/>
                <a:cs typeface="Microsoft Sans Serif"/>
              </a:rPr>
              <a:t>non-empty</a:t>
            </a:r>
            <a:r>
              <a:rPr sz="2600" spc="-15" dirty="0">
                <a:latin typeface="Microsoft Sans Serif"/>
                <a:cs typeface="Microsoft Sans Serif"/>
              </a:rPr>
              <a:t> </a:t>
            </a:r>
            <a:r>
              <a:rPr sz="2600" spc="-135" dirty="0">
                <a:latin typeface="Microsoft Sans Serif"/>
                <a:cs typeface="Microsoft Sans Serif"/>
              </a:rPr>
              <a:t>string</a:t>
            </a:r>
            <a:r>
              <a:rPr sz="2600" dirty="0">
                <a:latin typeface="Microsoft Sans Serif"/>
                <a:cs typeface="Microsoft Sans Serif"/>
              </a:rPr>
              <a:t> </a:t>
            </a:r>
            <a:r>
              <a:rPr sz="2600" spc="-110" dirty="0">
                <a:latin typeface="Microsoft Sans Serif"/>
                <a:cs typeface="Microsoft Sans Serif"/>
              </a:rPr>
              <a:t>and</a:t>
            </a:r>
            <a:r>
              <a:rPr sz="2600" spc="25" dirty="0">
                <a:latin typeface="Microsoft Sans Serif"/>
                <a:cs typeface="Microsoft Sans Serif"/>
              </a:rPr>
              <a:t> </a:t>
            </a:r>
            <a:r>
              <a:rPr sz="2600" spc="-110" dirty="0">
                <a:latin typeface="Microsoft Sans Serif"/>
                <a:cs typeface="Microsoft Sans Serif"/>
              </a:rPr>
              <a:t>boolean</a:t>
            </a:r>
            <a:r>
              <a:rPr sz="2600" spc="-15" dirty="0">
                <a:latin typeface="Microsoft Sans Serif"/>
                <a:cs typeface="Microsoft Sans Serif"/>
              </a:rPr>
              <a:t> </a:t>
            </a:r>
            <a:r>
              <a:rPr sz="2600" spc="-484" dirty="0">
                <a:latin typeface="Microsoft Sans Serif"/>
                <a:cs typeface="Microsoft Sans Serif"/>
              </a:rPr>
              <a:t>TRUE</a:t>
            </a:r>
            <a:endParaRPr sz="2600" dirty="0">
              <a:latin typeface="Microsoft Sans Serif"/>
              <a:cs typeface="Microsoft Sans Serif"/>
            </a:endParaRPr>
          </a:p>
        </p:txBody>
      </p:sp>
    </p:spTree>
    <p:extLst>
      <p:ext uri="{BB962C8B-B14F-4D97-AF65-F5344CB8AC3E}">
        <p14:creationId xmlns:p14="http://schemas.microsoft.com/office/powerpoint/2010/main" val="2107424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1504315" cy="697230"/>
          </a:xfrm>
          <a:prstGeom prst="rect">
            <a:avLst/>
          </a:prstGeom>
        </p:spPr>
        <p:txBody>
          <a:bodyPr vert="horz" wrap="square" lIns="0" tIns="13335" rIns="0" bIns="0" rtlCol="0">
            <a:spAutoFit/>
          </a:bodyPr>
          <a:lstStyle/>
          <a:p>
            <a:pPr marL="12700">
              <a:lnSpc>
                <a:spcPct val="100000"/>
              </a:lnSpc>
              <a:spcBef>
                <a:spcPts val="105"/>
              </a:spcBef>
            </a:pPr>
            <a:r>
              <a:rPr spc="-210" dirty="0"/>
              <a:t>Strin</a:t>
            </a:r>
            <a:r>
              <a:rPr spc="-305" dirty="0"/>
              <a:t>g</a:t>
            </a:r>
            <a:r>
              <a:rPr spc="-735" dirty="0"/>
              <a:t>s</a:t>
            </a:r>
          </a:p>
        </p:txBody>
      </p:sp>
      <p:sp>
        <p:nvSpPr>
          <p:cNvPr id="3" name="object 3"/>
          <p:cNvSpPr txBox="1"/>
          <p:nvPr/>
        </p:nvSpPr>
        <p:spPr>
          <a:xfrm>
            <a:off x="533400" y="1041095"/>
            <a:ext cx="8305800" cy="4669868"/>
          </a:xfrm>
          <a:prstGeom prst="rect">
            <a:avLst/>
          </a:prstGeom>
        </p:spPr>
        <p:txBody>
          <a:bodyPr vert="horz" wrap="square" lIns="0" tIns="100965" rIns="0" bIns="0" rtlCol="0">
            <a:spAutoFit/>
          </a:bodyPr>
          <a:lstStyle/>
          <a:p>
            <a:pPr marL="332740" indent="-320040">
              <a:lnSpc>
                <a:spcPct val="100000"/>
              </a:lnSpc>
              <a:spcBef>
                <a:spcPts val="795"/>
              </a:spcBef>
              <a:buSzPct val="60344"/>
              <a:buFont typeface="Wingdings"/>
              <a:buChar char=""/>
              <a:tabLst>
                <a:tab pos="332740" algn="l"/>
              </a:tabLst>
            </a:pPr>
            <a:r>
              <a:rPr sz="2400" spc="-185" dirty="0">
                <a:latin typeface="Microsoft Sans Serif"/>
                <a:cs typeface="Microsoft Sans Serif"/>
              </a:rPr>
              <a:t>A</a:t>
            </a:r>
            <a:r>
              <a:rPr sz="2400" spc="15" dirty="0">
                <a:latin typeface="Microsoft Sans Serif"/>
                <a:cs typeface="Microsoft Sans Serif"/>
              </a:rPr>
              <a:t> </a:t>
            </a:r>
            <a:r>
              <a:rPr sz="2400" spc="-215" dirty="0">
                <a:latin typeface="Microsoft Sans Serif"/>
                <a:cs typeface="Microsoft Sans Serif"/>
              </a:rPr>
              <a:t>se</a:t>
            </a:r>
            <a:r>
              <a:rPr sz="2400" spc="-225" dirty="0">
                <a:latin typeface="Microsoft Sans Serif"/>
                <a:cs typeface="Microsoft Sans Serif"/>
              </a:rPr>
              <a:t>q</a:t>
            </a:r>
            <a:r>
              <a:rPr sz="2400" spc="-270" dirty="0">
                <a:latin typeface="Microsoft Sans Serif"/>
                <a:cs typeface="Microsoft Sans Serif"/>
              </a:rPr>
              <a:t>uence</a:t>
            </a:r>
            <a:r>
              <a:rPr sz="2400" spc="5" dirty="0">
                <a:latin typeface="Microsoft Sans Serif"/>
                <a:cs typeface="Microsoft Sans Serif"/>
              </a:rPr>
              <a:t> </a:t>
            </a:r>
            <a:r>
              <a:rPr sz="2400" dirty="0">
                <a:latin typeface="Microsoft Sans Serif"/>
                <a:cs typeface="Microsoft Sans Serif"/>
              </a:rPr>
              <a:t>of</a:t>
            </a:r>
            <a:r>
              <a:rPr sz="2400" spc="105" dirty="0">
                <a:latin typeface="Microsoft Sans Serif"/>
                <a:cs typeface="Microsoft Sans Serif"/>
              </a:rPr>
              <a:t> </a:t>
            </a:r>
            <a:r>
              <a:rPr sz="2400" spc="-220" dirty="0" smtClean="0">
                <a:latin typeface="Microsoft Sans Serif"/>
                <a:cs typeface="Microsoft Sans Serif"/>
              </a:rPr>
              <a:t>c</a:t>
            </a:r>
            <a:r>
              <a:rPr sz="2400" spc="-135" dirty="0" smtClean="0">
                <a:latin typeface="Microsoft Sans Serif"/>
                <a:cs typeface="Microsoft Sans Serif"/>
              </a:rPr>
              <a:t>ha</a:t>
            </a:r>
            <a:r>
              <a:rPr sz="2400" spc="-100" dirty="0" smtClean="0">
                <a:latin typeface="Microsoft Sans Serif"/>
                <a:cs typeface="Microsoft Sans Serif"/>
              </a:rPr>
              <a:t>r</a:t>
            </a:r>
            <a:r>
              <a:rPr sz="2400" spc="-170" dirty="0" smtClean="0">
                <a:latin typeface="Microsoft Sans Serif"/>
                <a:cs typeface="Microsoft Sans Serif"/>
              </a:rPr>
              <a:t>acters</a:t>
            </a:r>
          </a:p>
          <a:p>
            <a:pPr marL="332740" indent="-320040">
              <a:lnSpc>
                <a:spcPct val="100000"/>
              </a:lnSpc>
              <a:spcBef>
                <a:spcPts val="795"/>
              </a:spcBef>
              <a:buSzPct val="60344"/>
              <a:buFont typeface="Wingdings"/>
              <a:buChar char=""/>
              <a:tabLst>
                <a:tab pos="332740" algn="l"/>
              </a:tabLst>
            </a:pPr>
            <a:r>
              <a:rPr lang="en-US" sz="2400" dirty="0">
                <a:latin typeface="Microsoft Sans Serif"/>
                <a:cs typeface="Microsoft Sans Serif"/>
              </a:rPr>
              <a:t>String literals can use single quotes or double quotes</a:t>
            </a:r>
          </a:p>
          <a:p>
            <a:pPr marL="332740" indent="-320040">
              <a:lnSpc>
                <a:spcPct val="100000"/>
              </a:lnSpc>
              <a:spcBef>
                <a:spcPts val="795"/>
              </a:spcBef>
              <a:buSzPct val="60344"/>
              <a:buFont typeface="Wingdings"/>
              <a:buChar char=""/>
              <a:tabLst>
                <a:tab pos="332740" algn="l"/>
              </a:tabLst>
            </a:pPr>
            <a:r>
              <a:rPr lang="en-US" sz="2400" dirty="0" smtClean="0">
                <a:latin typeface="Microsoft Sans Serif"/>
                <a:cs typeface="Microsoft Sans Serif"/>
              </a:rPr>
              <a:t>The </a:t>
            </a:r>
            <a:r>
              <a:rPr lang="en-US" sz="2400" dirty="0">
                <a:latin typeface="Microsoft Sans Serif"/>
                <a:cs typeface="Microsoft Sans Serif"/>
              </a:rPr>
              <a:t>backslash (\) is used as an "escape" character</a:t>
            </a:r>
          </a:p>
          <a:p>
            <a:pPr marL="332740" indent="-320040">
              <a:lnSpc>
                <a:spcPct val="100000"/>
              </a:lnSpc>
              <a:spcBef>
                <a:spcPts val="795"/>
              </a:spcBef>
              <a:buSzPct val="60344"/>
              <a:buFont typeface="Wingdings"/>
              <a:buChar char=""/>
              <a:tabLst>
                <a:tab pos="332740" algn="l"/>
              </a:tabLst>
            </a:pPr>
            <a:r>
              <a:rPr lang="en-US" sz="2400" dirty="0" smtClean="0">
                <a:latin typeface="Microsoft Sans Serif"/>
                <a:cs typeface="Microsoft Sans Serif"/>
              </a:rPr>
              <a:t>In </a:t>
            </a:r>
            <a:r>
              <a:rPr lang="en-US" sz="2400" dirty="0">
                <a:latin typeface="Microsoft Sans Serif"/>
                <a:cs typeface="Microsoft Sans Serif"/>
              </a:rPr>
              <a:t>double-quoted strings variable values are </a:t>
            </a:r>
            <a:r>
              <a:rPr lang="en-US" sz="2400" dirty="0" smtClean="0">
                <a:latin typeface="Microsoft Sans Serif"/>
                <a:cs typeface="Microsoft Sans Serif"/>
              </a:rPr>
              <a:t>expanded</a:t>
            </a:r>
            <a:endParaRPr sz="2400" dirty="0" smtClean="0">
              <a:latin typeface="Microsoft Sans Serif"/>
              <a:cs typeface="Microsoft Sans Serif"/>
            </a:endParaRPr>
          </a:p>
          <a:p>
            <a:pPr marL="332740" indent="-320040">
              <a:lnSpc>
                <a:spcPct val="100000"/>
              </a:lnSpc>
              <a:spcBef>
                <a:spcPts val="700"/>
              </a:spcBef>
              <a:buSzPct val="60344"/>
              <a:buFont typeface="Wingdings"/>
              <a:buChar char=""/>
              <a:tabLst>
                <a:tab pos="332740" algn="l"/>
              </a:tabLst>
            </a:pPr>
            <a:r>
              <a:rPr sz="2400" spc="-175" dirty="0" smtClean="0">
                <a:latin typeface="Microsoft Sans Serif"/>
                <a:cs typeface="Microsoft Sans Serif"/>
              </a:rPr>
              <a:t>Single</a:t>
            </a:r>
            <a:r>
              <a:rPr sz="2400" spc="10" dirty="0" smtClean="0">
                <a:latin typeface="Microsoft Sans Serif"/>
                <a:cs typeface="Microsoft Sans Serif"/>
              </a:rPr>
              <a:t> </a:t>
            </a:r>
            <a:r>
              <a:rPr sz="2400" spc="-120" dirty="0">
                <a:latin typeface="Microsoft Sans Serif"/>
                <a:cs typeface="Microsoft Sans Serif"/>
              </a:rPr>
              <a:t>and</a:t>
            </a:r>
            <a:r>
              <a:rPr sz="2400" spc="20" dirty="0">
                <a:latin typeface="Microsoft Sans Serif"/>
                <a:cs typeface="Microsoft Sans Serif"/>
              </a:rPr>
              <a:t> </a:t>
            </a:r>
            <a:r>
              <a:rPr sz="2400" spc="-120" dirty="0">
                <a:latin typeface="Microsoft Sans Serif"/>
                <a:cs typeface="Microsoft Sans Serif"/>
              </a:rPr>
              <a:t>double</a:t>
            </a:r>
            <a:r>
              <a:rPr sz="2400" spc="5" dirty="0">
                <a:latin typeface="Microsoft Sans Serif"/>
                <a:cs typeface="Microsoft Sans Serif"/>
              </a:rPr>
              <a:t> </a:t>
            </a:r>
            <a:r>
              <a:rPr sz="2400" spc="-195" dirty="0">
                <a:latin typeface="Microsoft Sans Serif"/>
                <a:cs typeface="Microsoft Sans Serif"/>
              </a:rPr>
              <a:t>quotes:</a:t>
            </a:r>
            <a:endParaRPr sz="2400" dirty="0">
              <a:latin typeface="Microsoft Sans Serif"/>
              <a:cs typeface="Microsoft Sans Serif"/>
            </a:endParaRPr>
          </a:p>
          <a:p>
            <a:pPr marL="378460">
              <a:lnSpc>
                <a:spcPct val="100000"/>
              </a:lnSpc>
              <a:spcBef>
                <a:spcPts val="550"/>
              </a:spcBef>
            </a:pPr>
            <a:r>
              <a:rPr sz="1800" spc="-175" dirty="0">
                <a:latin typeface="Microsoft Sans Serif"/>
                <a:cs typeface="Microsoft Sans Serif"/>
              </a:rPr>
              <a:t>🞑</a:t>
            </a:r>
            <a:r>
              <a:rPr sz="1800" spc="55" dirty="0">
                <a:latin typeface="Microsoft Sans Serif"/>
                <a:cs typeface="Microsoft Sans Serif"/>
              </a:rPr>
              <a:t> </a:t>
            </a:r>
            <a:r>
              <a:rPr sz="2600" spc="-260" dirty="0">
                <a:latin typeface="Microsoft Sans Serif"/>
                <a:cs typeface="Microsoft Sans Serif"/>
              </a:rPr>
              <a:t>Su</a:t>
            </a:r>
            <a:r>
              <a:rPr sz="2600" spc="-229" dirty="0">
                <a:latin typeface="Microsoft Sans Serif"/>
                <a:cs typeface="Microsoft Sans Serif"/>
              </a:rPr>
              <a:t>p</a:t>
            </a:r>
            <a:r>
              <a:rPr sz="2600" spc="-80" dirty="0">
                <a:latin typeface="Microsoft Sans Serif"/>
                <a:cs typeface="Microsoft Sans Serif"/>
              </a:rPr>
              <a:t>p</a:t>
            </a:r>
            <a:r>
              <a:rPr sz="2600" spc="-75" dirty="0">
                <a:latin typeface="Microsoft Sans Serif"/>
                <a:cs typeface="Microsoft Sans Serif"/>
              </a:rPr>
              <a:t>o</a:t>
            </a:r>
            <a:r>
              <a:rPr sz="2600" spc="-290" dirty="0">
                <a:latin typeface="Microsoft Sans Serif"/>
                <a:cs typeface="Microsoft Sans Serif"/>
              </a:rPr>
              <a:t>se</a:t>
            </a:r>
            <a:r>
              <a:rPr sz="2600" dirty="0">
                <a:latin typeface="Microsoft Sans Serif"/>
                <a:cs typeface="Microsoft Sans Serif"/>
              </a:rPr>
              <a:t> </a:t>
            </a:r>
            <a:r>
              <a:rPr sz="2400" spc="-5" dirty="0">
                <a:latin typeface="Courier New"/>
                <a:cs typeface="Courier New"/>
              </a:rPr>
              <a:t>$st</a:t>
            </a:r>
            <a:r>
              <a:rPr sz="2400" dirty="0">
                <a:latin typeface="Courier New"/>
                <a:cs typeface="Courier New"/>
              </a:rPr>
              <a:t>r</a:t>
            </a:r>
            <a:r>
              <a:rPr sz="2400" spc="-10" dirty="0">
                <a:latin typeface="Courier New"/>
                <a:cs typeface="Courier New"/>
              </a:rPr>
              <a:t> </a:t>
            </a:r>
            <a:r>
              <a:rPr sz="2400" dirty="0">
                <a:latin typeface="Courier New"/>
                <a:cs typeface="Courier New"/>
              </a:rPr>
              <a:t>=</a:t>
            </a:r>
            <a:r>
              <a:rPr sz="2400" spc="-15" dirty="0">
                <a:latin typeface="Courier New"/>
                <a:cs typeface="Courier New"/>
              </a:rPr>
              <a:t> </a:t>
            </a:r>
            <a:r>
              <a:rPr sz="2400" spc="-5" dirty="0">
                <a:latin typeface="Courier New"/>
                <a:cs typeface="Courier New"/>
              </a:rPr>
              <a:t>42</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1650" spc="-45" dirty="0" smtClean="0">
                <a:latin typeface="Microsoft Sans Serif"/>
                <a:cs typeface="Microsoft Sans Serif"/>
              </a:rPr>
              <a:t>🞑</a:t>
            </a:r>
            <a:r>
              <a:rPr sz="1650" spc="220" dirty="0" smtClean="0">
                <a:latin typeface="Microsoft Sans Serif"/>
                <a:cs typeface="Microsoft Sans Serif"/>
              </a:rPr>
              <a:t> </a:t>
            </a:r>
            <a:r>
              <a:rPr sz="2400" spc="-5" dirty="0">
                <a:latin typeface="Courier New"/>
                <a:cs typeface="Courier New"/>
              </a:rPr>
              <a:t>echo</a:t>
            </a:r>
            <a:r>
              <a:rPr sz="2400" spc="-10" dirty="0">
                <a:latin typeface="Courier New"/>
                <a:cs typeface="Courier New"/>
              </a:rPr>
              <a:t> ‘With single quotes,</a:t>
            </a:r>
            <a:r>
              <a:rPr sz="2400" dirty="0">
                <a:latin typeface="Courier New"/>
                <a:cs typeface="Courier New"/>
              </a:rPr>
              <a:t> </a:t>
            </a:r>
            <a:r>
              <a:rPr sz="2400" spc="-5" dirty="0">
                <a:latin typeface="Courier New"/>
                <a:cs typeface="Courier New"/>
              </a:rPr>
              <a:t>str</a:t>
            </a:r>
            <a:r>
              <a:rPr sz="2400" spc="-10" dirty="0">
                <a:latin typeface="Courier New"/>
                <a:cs typeface="Courier New"/>
              </a:rPr>
              <a:t> is</a:t>
            </a:r>
            <a:r>
              <a:rPr sz="2400" spc="-20" dirty="0">
                <a:latin typeface="Courier New"/>
                <a:cs typeface="Courier New"/>
              </a:rPr>
              <a:t> </a:t>
            </a:r>
            <a:r>
              <a:rPr sz="2400" spc="-5" dirty="0">
                <a:latin typeface="Courier New"/>
                <a:cs typeface="Courier New"/>
              </a:rPr>
              <a:t>$</a:t>
            </a:r>
            <a:r>
              <a:rPr sz="2400" spc="-5" dirty="0" err="1">
                <a:latin typeface="Courier New"/>
                <a:cs typeface="Courier New"/>
              </a:rPr>
              <a:t>str</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2600" dirty="0" smtClean="0">
                <a:latin typeface="Wingdings"/>
                <a:cs typeface="Wingdings"/>
              </a:rPr>
              <a:t></a:t>
            </a:r>
            <a:r>
              <a:rPr sz="2600" spc="55" dirty="0" smtClean="0">
                <a:latin typeface="Times New Roman"/>
                <a:cs typeface="Times New Roman"/>
              </a:rPr>
              <a:t> </a:t>
            </a:r>
            <a:r>
              <a:rPr sz="2600" spc="-135" dirty="0">
                <a:latin typeface="Microsoft Sans Serif"/>
                <a:cs typeface="Microsoft Sans Serif"/>
              </a:rPr>
              <a:t>output:</a:t>
            </a:r>
            <a:r>
              <a:rPr sz="2600" spc="-5" dirty="0">
                <a:latin typeface="Microsoft Sans Serif"/>
                <a:cs typeface="Microsoft Sans Serif"/>
              </a:rPr>
              <a:t> </a:t>
            </a:r>
            <a:r>
              <a:rPr sz="2400" spc="-5" dirty="0">
                <a:latin typeface="Courier New"/>
                <a:cs typeface="Courier New"/>
              </a:rPr>
              <a:t>With</a:t>
            </a:r>
            <a:r>
              <a:rPr sz="2400" spc="-25" dirty="0">
                <a:latin typeface="Courier New"/>
                <a:cs typeface="Courier New"/>
              </a:rPr>
              <a:t> </a:t>
            </a:r>
            <a:r>
              <a:rPr sz="2400" spc="-5" dirty="0">
                <a:latin typeface="Courier New"/>
                <a:cs typeface="Courier New"/>
              </a:rPr>
              <a:t>single</a:t>
            </a:r>
            <a:r>
              <a:rPr sz="2400" spc="-35" dirty="0">
                <a:latin typeface="Courier New"/>
                <a:cs typeface="Courier New"/>
              </a:rPr>
              <a:t> </a:t>
            </a:r>
            <a:r>
              <a:rPr sz="2400" spc="-5" dirty="0">
                <a:latin typeface="Courier New"/>
                <a:cs typeface="Courier New"/>
              </a:rPr>
              <a:t>quotes,</a:t>
            </a:r>
            <a:r>
              <a:rPr sz="2400" spc="-30" dirty="0">
                <a:latin typeface="Courier New"/>
                <a:cs typeface="Courier New"/>
              </a:rPr>
              <a:t> </a:t>
            </a:r>
            <a:r>
              <a:rPr sz="2400" spc="-5" dirty="0">
                <a:latin typeface="Courier New"/>
                <a:cs typeface="Courier New"/>
              </a:rPr>
              <a:t>str</a:t>
            </a:r>
            <a:r>
              <a:rPr sz="2400" spc="-15" dirty="0">
                <a:latin typeface="Courier New"/>
                <a:cs typeface="Courier New"/>
              </a:rPr>
              <a:t> </a:t>
            </a:r>
            <a:r>
              <a:rPr sz="2400" spc="-5" dirty="0">
                <a:latin typeface="Courier New"/>
                <a:cs typeface="Courier New"/>
              </a:rPr>
              <a:t>is</a:t>
            </a:r>
            <a:r>
              <a:rPr sz="2400" spc="-25" dirty="0">
                <a:latin typeface="Courier New"/>
                <a:cs typeface="Courier New"/>
              </a:rPr>
              <a:t> </a:t>
            </a:r>
            <a:r>
              <a:rPr sz="2400" spc="-5" dirty="0">
                <a:latin typeface="Courier New"/>
                <a:cs typeface="Courier New"/>
              </a:rPr>
              <a:t>$</a:t>
            </a:r>
            <a:r>
              <a:rPr sz="2400" spc="-5" dirty="0" err="1" smtClean="0">
                <a:latin typeface="Courier New"/>
                <a:cs typeface="Courier New"/>
              </a:rPr>
              <a:t>str</a:t>
            </a:r>
            <a:endParaRPr sz="2400" dirty="0">
              <a:latin typeface="Courier New"/>
              <a:cs typeface="Courier New"/>
            </a:endParaRPr>
          </a:p>
          <a:p>
            <a:pPr marL="378460">
              <a:lnSpc>
                <a:spcPct val="100000"/>
              </a:lnSpc>
              <a:spcBef>
                <a:spcPts val="550"/>
              </a:spcBef>
            </a:pPr>
            <a:r>
              <a:rPr sz="1650" spc="-45" dirty="0" smtClean="0">
                <a:latin typeface="Microsoft Sans Serif"/>
                <a:cs typeface="Microsoft Sans Serif"/>
              </a:rPr>
              <a:t>🞑</a:t>
            </a:r>
            <a:r>
              <a:rPr sz="1650" spc="220" dirty="0" smtClean="0">
                <a:latin typeface="Microsoft Sans Serif"/>
                <a:cs typeface="Microsoft Sans Serif"/>
              </a:rPr>
              <a:t> </a:t>
            </a:r>
            <a:r>
              <a:rPr sz="2400" spc="-5" dirty="0">
                <a:latin typeface="Courier New"/>
                <a:cs typeface="Courier New"/>
              </a:rPr>
              <a:t>echo</a:t>
            </a:r>
            <a:r>
              <a:rPr sz="2400" spc="-10" dirty="0">
                <a:latin typeface="Courier New"/>
                <a:cs typeface="Courier New"/>
              </a:rPr>
              <a:t> “With double quotes,</a:t>
            </a:r>
            <a:r>
              <a:rPr sz="2400" dirty="0">
                <a:latin typeface="Courier New"/>
                <a:cs typeface="Courier New"/>
              </a:rPr>
              <a:t> </a:t>
            </a:r>
            <a:r>
              <a:rPr sz="2400" spc="-5" dirty="0">
                <a:latin typeface="Courier New"/>
                <a:cs typeface="Courier New"/>
              </a:rPr>
              <a:t>str</a:t>
            </a:r>
            <a:r>
              <a:rPr sz="2400" spc="-10" dirty="0">
                <a:latin typeface="Courier New"/>
                <a:cs typeface="Courier New"/>
              </a:rPr>
              <a:t> is</a:t>
            </a:r>
            <a:r>
              <a:rPr sz="2400" spc="-20" dirty="0">
                <a:latin typeface="Courier New"/>
                <a:cs typeface="Courier New"/>
              </a:rPr>
              <a:t> </a:t>
            </a:r>
            <a:r>
              <a:rPr sz="2400" spc="-5" dirty="0">
                <a:latin typeface="Courier New"/>
                <a:cs typeface="Courier New"/>
              </a:rPr>
              <a:t>$</a:t>
            </a:r>
            <a:r>
              <a:rPr sz="2400" spc="-5" dirty="0" err="1">
                <a:latin typeface="Courier New"/>
                <a:cs typeface="Courier New"/>
              </a:rPr>
              <a:t>str</a:t>
            </a:r>
            <a:r>
              <a:rPr sz="2400" spc="-5" dirty="0" smtClean="0">
                <a:latin typeface="Courier New"/>
                <a:cs typeface="Courier New"/>
              </a:rPr>
              <a:t>”;</a:t>
            </a:r>
            <a:endParaRPr sz="2400" dirty="0">
              <a:latin typeface="Courier New"/>
              <a:cs typeface="Courier New"/>
            </a:endParaRPr>
          </a:p>
          <a:p>
            <a:pPr marL="378460">
              <a:lnSpc>
                <a:spcPct val="100000"/>
              </a:lnSpc>
              <a:spcBef>
                <a:spcPts val="550"/>
              </a:spcBef>
            </a:pPr>
            <a:r>
              <a:rPr sz="2600" dirty="0" smtClean="0">
                <a:latin typeface="Wingdings"/>
                <a:cs typeface="Wingdings"/>
              </a:rPr>
              <a:t></a:t>
            </a:r>
            <a:r>
              <a:rPr sz="2600" spc="50" dirty="0" smtClean="0">
                <a:latin typeface="Times New Roman"/>
                <a:cs typeface="Times New Roman"/>
              </a:rPr>
              <a:t> </a:t>
            </a:r>
            <a:r>
              <a:rPr sz="2600" spc="-135" dirty="0">
                <a:latin typeface="Microsoft Sans Serif"/>
                <a:cs typeface="Microsoft Sans Serif"/>
              </a:rPr>
              <a:t>output:</a:t>
            </a:r>
            <a:r>
              <a:rPr sz="2600" spc="-5" dirty="0">
                <a:latin typeface="Microsoft Sans Serif"/>
                <a:cs typeface="Microsoft Sans Serif"/>
              </a:rPr>
              <a:t> </a:t>
            </a:r>
            <a:r>
              <a:rPr sz="2400" spc="-5" dirty="0">
                <a:latin typeface="Courier New"/>
                <a:cs typeface="Courier New"/>
              </a:rPr>
              <a:t>With</a:t>
            </a:r>
            <a:r>
              <a:rPr sz="2400" spc="-25" dirty="0">
                <a:latin typeface="Courier New"/>
                <a:cs typeface="Courier New"/>
              </a:rPr>
              <a:t> </a:t>
            </a:r>
            <a:r>
              <a:rPr sz="2400" spc="-5" dirty="0">
                <a:latin typeface="Courier New"/>
                <a:cs typeface="Courier New"/>
              </a:rPr>
              <a:t>double</a:t>
            </a:r>
            <a:r>
              <a:rPr sz="2400" spc="-35" dirty="0">
                <a:latin typeface="Courier New"/>
                <a:cs typeface="Courier New"/>
              </a:rPr>
              <a:t> </a:t>
            </a:r>
            <a:r>
              <a:rPr sz="2400" spc="-5" dirty="0">
                <a:latin typeface="Courier New"/>
                <a:cs typeface="Courier New"/>
              </a:rPr>
              <a:t>quotes,</a:t>
            </a:r>
            <a:r>
              <a:rPr sz="2400" spc="-30" dirty="0">
                <a:latin typeface="Courier New"/>
                <a:cs typeface="Courier New"/>
              </a:rPr>
              <a:t> </a:t>
            </a:r>
            <a:r>
              <a:rPr sz="2400" spc="-5" dirty="0">
                <a:latin typeface="Courier New"/>
                <a:cs typeface="Courier New"/>
              </a:rPr>
              <a:t>str</a:t>
            </a:r>
            <a:r>
              <a:rPr sz="2400" spc="-15" dirty="0">
                <a:latin typeface="Courier New"/>
                <a:cs typeface="Courier New"/>
              </a:rPr>
              <a:t> </a:t>
            </a:r>
            <a:r>
              <a:rPr sz="2400" spc="-5" dirty="0">
                <a:latin typeface="Courier New"/>
                <a:cs typeface="Courier New"/>
              </a:rPr>
              <a:t>is</a:t>
            </a:r>
            <a:r>
              <a:rPr sz="2400" spc="-25" dirty="0">
                <a:latin typeface="Courier New"/>
                <a:cs typeface="Courier New"/>
              </a:rPr>
              <a:t> </a:t>
            </a:r>
            <a:r>
              <a:rPr sz="2400" spc="-5" dirty="0">
                <a:latin typeface="Courier New"/>
                <a:cs typeface="Courier New"/>
              </a:rPr>
              <a:t>42</a:t>
            </a:r>
            <a:endParaRPr sz="2400" dirty="0">
              <a:latin typeface="Courier New"/>
              <a:cs typeface="Courier New"/>
            </a:endParaRPr>
          </a:p>
        </p:txBody>
      </p:sp>
    </p:spTree>
    <p:extLst>
      <p:ext uri="{BB962C8B-B14F-4D97-AF65-F5344CB8AC3E}">
        <p14:creationId xmlns:p14="http://schemas.microsoft.com/office/powerpoint/2010/main" val="667550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1504315" cy="697230"/>
          </a:xfrm>
          <a:prstGeom prst="rect">
            <a:avLst/>
          </a:prstGeom>
        </p:spPr>
        <p:txBody>
          <a:bodyPr vert="horz" wrap="square" lIns="0" tIns="13335" rIns="0" bIns="0" rtlCol="0">
            <a:spAutoFit/>
          </a:bodyPr>
          <a:lstStyle/>
          <a:p>
            <a:pPr marL="12700">
              <a:lnSpc>
                <a:spcPct val="100000"/>
              </a:lnSpc>
              <a:spcBef>
                <a:spcPts val="105"/>
              </a:spcBef>
            </a:pPr>
            <a:r>
              <a:rPr spc="-210" dirty="0"/>
              <a:t>Strin</a:t>
            </a:r>
            <a:r>
              <a:rPr spc="-305" dirty="0"/>
              <a:t>g</a:t>
            </a:r>
            <a:r>
              <a:rPr spc="-735" dirty="0"/>
              <a:t>s</a:t>
            </a:r>
          </a:p>
        </p:txBody>
      </p:sp>
      <p:sp>
        <p:nvSpPr>
          <p:cNvPr id="3" name="object 3"/>
          <p:cNvSpPr txBox="1"/>
          <p:nvPr/>
        </p:nvSpPr>
        <p:spPr>
          <a:xfrm>
            <a:off x="691387" y="1612138"/>
            <a:ext cx="6290310" cy="467995"/>
          </a:xfrm>
          <a:prstGeom prst="rect">
            <a:avLst/>
          </a:prstGeom>
        </p:spPr>
        <p:txBody>
          <a:bodyPr vert="horz" wrap="square" lIns="0" tIns="13335" rIns="0" bIns="0" rtlCol="0">
            <a:spAutoFit/>
          </a:bodyPr>
          <a:lstStyle/>
          <a:p>
            <a:pPr marL="332740" indent="-320040">
              <a:lnSpc>
                <a:spcPct val="100000"/>
              </a:lnSpc>
              <a:spcBef>
                <a:spcPts val="105"/>
              </a:spcBef>
              <a:buSzPct val="60344"/>
              <a:buFont typeface="Wingdings"/>
              <a:buChar char=""/>
              <a:tabLst>
                <a:tab pos="332740" algn="l"/>
              </a:tabLst>
            </a:pPr>
            <a:r>
              <a:rPr sz="2900" spc="-175" dirty="0">
                <a:latin typeface="Microsoft Sans Serif"/>
                <a:cs typeface="Microsoft Sans Serif"/>
              </a:rPr>
              <a:t>Concatenation</a:t>
            </a:r>
            <a:r>
              <a:rPr sz="2900" dirty="0">
                <a:latin typeface="Microsoft Sans Serif"/>
                <a:cs typeface="Microsoft Sans Serif"/>
              </a:rPr>
              <a:t> of</a:t>
            </a:r>
            <a:r>
              <a:rPr sz="2900" spc="90" dirty="0">
                <a:latin typeface="Microsoft Sans Serif"/>
                <a:cs typeface="Microsoft Sans Serif"/>
              </a:rPr>
              <a:t> </a:t>
            </a:r>
            <a:r>
              <a:rPr sz="2900" spc="-195" dirty="0">
                <a:latin typeface="Microsoft Sans Serif"/>
                <a:cs typeface="Microsoft Sans Serif"/>
              </a:rPr>
              <a:t>strings</a:t>
            </a:r>
            <a:r>
              <a:rPr sz="2900" spc="10" dirty="0">
                <a:latin typeface="Microsoft Sans Serif"/>
                <a:cs typeface="Microsoft Sans Serif"/>
              </a:rPr>
              <a:t> </a:t>
            </a:r>
            <a:r>
              <a:rPr sz="2900" spc="600" dirty="0">
                <a:latin typeface="Microsoft Sans Serif"/>
                <a:cs typeface="Microsoft Sans Serif"/>
              </a:rPr>
              <a:t>–</a:t>
            </a:r>
            <a:r>
              <a:rPr sz="2900" spc="25" dirty="0">
                <a:latin typeface="Microsoft Sans Serif"/>
                <a:cs typeface="Microsoft Sans Serif"/>
              </a:rPr>
              <a:t> </a:t>
            </a:r>
            <a:r>
              <a:rPr sz="2900" spc="-175" dirty="0">
                <a:latin typeface="Microsoft Sans Serif"/>
                <a:cs typeface="Microsoft Sans Serif"/>
              </a:rPr>
              <a:t>the</a:t>
            </a:r>
            <a:r>
              <a:rPr sz="2900" spc="25" dirty="0">
                <a:latin typeface="Microsoft Sans Serif"/>
                <a:cs typeface="Microsoft Sans Serif"/>
              </a:rPr>
              <a:t> </a:t>
            </a:r>
            <a:r>
              <a:rPr sz="2900" spc="-170" dirty="0">
                <a:latin typeface="Microsoft Sans Serif"/>
                <a:cs typeface="Microsoft Sans Serif"/>
              </a:rPr>
              <a:t>.</a:t>
            </a:r>
            <a:r>
              <a:rPr sz="2900" spc="15" dirty="0">
                <a:latin typeface="Microsoft Sans Serif"/>
                <a:cs typeface="Microsoft Sans Serif"/>
              </a:rPr>
              <a:t> </a:t>
            </a:r>
            <a:r>
              <a:rPr sz="2900" spc="-70" dirty="0">
                <a:latin typeface="Microsoft Sans Serif"/>
                <a:cs typeface="Microsoft Sans Serif"/>
              </a:rPr>
              <a:t>operator</a:t>
            </a:r>
            <a:endParaRPr sz="2900" dirty="0">
              <a:latin typeface="Microsoft Sans Serif"/>
              <a:cs typeface="Microsoft Sans Serif"/>
            </a:endParaRPr>
          </a:p>
        </p:txBody>
      </p:sp>
      <p:sp>
        <p:nvSpPr>
          <p:cNvPr id="4" name="object 4"/>
          <p:cNvSpPr txBox="1"/>
          <p:nvPr/>
        </p:nvSpPr>
        <p:spPr>
          <a:xfrm>
            <a:off x="691387" y="3647697"/>
            <a:ext cx="7498080" cy="2372995"/>
          </a:xfrm>
          <a:prstGeom prst="rect">
            <a:avLst/>
          </a:prstGeom>
        </p:spPr>
        <p:txBody>
          <a:bodyPr vert="horz" wrap="square" lIns="0" tIns="100965" rIns="0" bIns="0" rtlCol="0">
            <a:spAutoFit/>
          </a:bodyPr>
          <a:lstStyle/>
          <a:p>
            <a:pPr marL="332740" indent="-320040">
              <a:lnSpc>
                <a:spcPct val="100000"/>
              </a:lnSpc>
              <a:spcBef>
                <a:spcPts val="795"/>
              </a:spcBef>
              <a:buSzPct val="60344"/>
              <a:buFont typeface="Wingdings"/>
              <a:buChar char=""/>
              <a:tabLst>
                <a:tab pos="332740" algn="l"/>
              </a:tabLst>
            </a:pPr>
            <a:r>
              <a:rPr sz="2900" spc="-145" dirty="0">
                <a:latin typeface="Microsoft Sans Serif"/>
                <a:cs typeface="Microsoft Sans Serif"/>
              </a:rPr>
              <a:t>String</a:t>
            </a:r>
            <a:r>
              <a:rPr sz="2900" spc="-30" dirty="0">
                <a:latin typeface="Microsoft Sans Serif"/>
                <a:cs typeface="Microsoft Sans Serif"/>
              </a:rPr>
              <a:t> </a:t>
            </a:r>
            <a:r>
              <a:rPr sz="2900" spc="-210" dirty="0">
                <a:latin typeface="Microsoft Sans Serif"/>
                <a:cs typeface="Microsoft Sans Serif"/>
              </a:rPr>
              <a:t>functions</a:t>
            </a:r>
            <a:endParaRPr sz="2900" dirty="0">
              <a:latin typeface="Microsoft Sans Serif"/>
              <a:cs typeface="Microsoft Sans Serif"/>
            </a:endParaRPr>
          </a:p>
          <a:p>
            <a:pPr marL="378460">
              <a:lnSpc>
                <a:spcPct val="100000"/>
              </a:lnSpc>
              <a:spcBef>
                <a:spcPts val="625"/>
              </a:spcBef>
            </a:pPr>
            <a:r>
              <a:rPr sz="1800" spc="-175" dirty="0">
                <a:latin typeface="Microsoft Sans Serif"/>
                <a:cs typeface="Microsoft Sans Serif"/>
              </a:rPr>
              <a:t>🞑</a:t>
            </a:r>
            <a:r>
              <a:rPr sz="1800" spc="55" dirty="0">
                <a:latin typeface="Microsoft Sans Serif"/>
                <a:cs typeface="Microsoft Sans Serif"/>
              </a:rPr>
              <a:t> </a:t>
            </a:r>
            <a:r>
              <a:rPr sz="2600" spc="-200" dirty="0">
                <a:latin typeface="Microsoft Sans Serif"/>
                <a:cs typeface="Microsoft Sans Serif"/>
              </a:rPr>
              <a:t>Length:</a:t>
            </a:r>
            <a:r>
              <a:rPr sz="2600" spc="10" dirty="0">
                <a:latin typeface="Microsoft Sans Serif"/>
                <a:cs typeface="Microsoft Sans Serif"/>
              </a:rPr>
              <a:t> </a:t>
            </a:r>
            <a:r>
              <a:rPr sz="2600" spc="-160" dirty="0">
                <a:latin typeface="Microsoft Sans Serif"/>
                <a:cs typeface="Microsoft Sans Serif"/>
              </a:rPr>
              <a:t>st</a:t>
            </a:r>
            <a:r>
              <a:rPr sz="2600" spc="-95" dirty="0">
                <a:latin typeface="Microsoft Sans Serif"/>
                <a:cs typeface="Microsoft Sans Serif"/>
              </a:rPr>
              <a:t>r</a:t>
            </a:r>
            <a:r>
              <a:rPr sz="2600" spc="-55" dirty="0">
                <a:latin typeface="Microsoft Sans Serif"/>
                <a:cs typeface="Microsoft Sans Serif"/>
              </a:rPr>
              <a:t>l</a:t>
            </a:r>
            <a:r>
              <a:rPr sz="2600" spc="-114" dirty="0">
                <a:latin typeface="Microsoft Sans Serif"/>
                <a:cs typeface="Microsoft Sans Serif"/>
              </a:rPr>
              <a:t>e</a:t>
            </a:r>
            <a:r>
              <a:rPr sz="2600" spc="-310" dirty="0">
                <a:latin typeface="Microsoft Sans Serif"/>
                <a:cs typeface="Microsoft Sans Serif"/>
              </a:rPr>
              <a:t>n</a:t>
            </a:r>
            <a:r>
              <a:rPr sz="2600" spc="-165" dirty="0">
                <a:latin typeface="Microsoft Sans Serif"/>
                <a:cs typeface="Microsoft Sans Serif"/>
              </a:rPr>
              <a:t>()</a:t>
            </a:r>
            <a:endParaRPr sz="2600" dirty="0">
              <a:latin typeface="Microsoft Sans Serif"/>
              <a:cs typeface="Microsoft Sans Serif"/>
            </a:endParaRPr>
          </a:p>
          <a:p>
            <a:pPr marL="378460">
              <a:lnSpc>
                <a:spcPct val="100000"/>
              </a:lnSpc>
              <a:spcBef>
                <a:spcPts val="600"/>
              </a:spcBef>
            </a:pPr>
            <a:r>
              <a:rPr sz="1800" spc="-175" dirty="0">
                <a:latin typeface="Microsoft Sans Serif"/>
                <a:cs typeface="Microsoft Sans Serif"/>
              </a:rPr>
              <a:t>🞑</a:t>
            </a:r>
            <a:r>
              <a:rPr sz="1800" spc="55" dirty="0">
                <a:latin typeface="Microsoft Sans Serif"/>
                <a:cs typeface="Microsoft Sans Serif"/>
              </a:rPr>
              <a:t> </a:t>
            </a:r>
            <a:r>
              <a:rPr sz="2600" spc="-560" dirty="0">
                <a:latin typeface="Microsoft Sans Serif"/>
                <a:cs typeface="Microsoft Sans Serif"/>
              </a:rPr>
              <a:t>P</a:t>
            </a:r>
            <a:r>
              <a:rPr sz="2600" spc="-250" dirty="0">
                <a:latin typeface="Microsoft Sans Serif"/>
                <a:cs typeface="Microsoft Sans Serif"/>
              </a:rPr>
              <a:t>os</a:t>
            </a:r>
            <a:r>
              <a:rPr sz="2600" spc="-105" dirty="0">
                <a:latin typeface="Microsoft Sans Serif"/>
                <a:cs typeface="Microsoft Sans Serif"/>
              </a:rPr>
              <a:t>i</a:t>
            </a:r>
            <a:r>
              <a:rPr sz="2600" spc="-25" dirty="0">
                <a:latin typeface="Microsoft Sans Serif"/>
                <a:cs typeface="Microsoft Sans Serif"/>
              </a:rPr>
              <a:t>t</a:t>
            </a:r>
            <a:r>
              <a:rPr sz="2600" spc="-15" dirty="0">
                <a:latin typeface="Microsoft Sans Serif"/>
                <a:cs typeface="Microsoft Sans Serif"/>
              </a:rPr>
              <a:t>i</a:t>
            </a:r>
            <a:r>
              <a:rPr sz="2600" spc="-225" dirty="0">
                <a:latin typeface="Microsoft Sans Serif"/>
                <a:cs typeface="Microsoft Sans Serif"/>
              </a:rPr>
              <a:t>on</a:t>
            </a:r>
            <a:r>
              <a:rPr sz="2600" spc="-15" dirty="0">
                <a:latin typeface="Microsoft Sans Serif"/>
                <a:cs typeface="Microsoft Sans Serif"/>
              </a:rPr>
              <a:t> </a:t>
            </a:r>
            <a:r>
              <a:rPr sz="2600" dirty="0">
                <a:latin typeface="Microsoft Sans Serif"/>
                <a:cs typeface="Microsoft Sans Serif"/>
              </a:rPr>
              <a:t>of</a:t>
            </a:r>
            <a:r>
              <a:rPr sz="2600" spc="90" dirty="0">
                <a:latin typeface="Microsoft Sans Serif"/>
                <a:cs typeface="Microsoft Sans Serif"/>
              </a:rPr>
              <a:t> </a:t>
            </a:r>
            <a:r>
              <a:rPr sz="2600" spc="-170" dirty="0">
                <a:latin typeface="Microsoft Sans Serif"/>
                <a:cs typeface="Microsoft Sans Serif"/>
              </a:rPr>
              <a:t>substring:</a:t>
            </a:r>
            <a:r>
              <a:rPr sz="2600" spc="20" dirty="0">
                <a:latin typeface="Microsoft Sans Serif"/>
                <a:cs typeface="Microsoft Sans Serif"/>
              </a:rPr>
              <a:t> </a:t>
            </a:r>
            <a:r>
              <a:rPr sz="2600" spc="-175" dirty="0">
                <a:latin typeface="Microsoft Sans Serif"/>
                <a:cs typeface="Microsoft Sans Serif"/>
              </a:rPr>
              <a:t>strpos</a:t>
            </a:r>
            <a:r>
              <a:rPr sz="2600" spc="-165" dirty="0">
                <a:latin typeface="Microsoft Sans Serif"/>
                <a:cs typeface="Microsoft Sans Serif"/>
              </a:rPr>
              <a:t>()</a:t>
            </a:r>
            <a:endParaRPr sz="2600" dirty="0">
              <a:latin typeface="Microsoft Sans Serif"/>
              <a:cs typeface="Microsoft Sans Serif"/>
            </a:endParaRPr>
          </a:p>
          <a:p>
            <a:pPr marL="652780" marR="5080" indent="-274320">
              <a:lnSpc>
                <a:spcPct val="100000"/>
              </a:lnSpc>
              <a:spcBef>
                <a:spcPts val="600"/>
              </a:spcBef>
            </a:pPr>
            <a:r>
              <a:rPr sz="1800" spc="-175" dirty="0">
                <a:latin typeface="Microsoft Sans Serif"/>
                <a:cs typeface="Microsoft Sans Serif"/>
              </a:rPr>
              <a:t>🞑</a:t>
            </a:r>
            <a:r>
              <a:rPr sz="1800" spc="55" dirty="0">
                <a:latin typeface="Microsoft Sans Serif"/>
                <a:cs typeface="Microsoft Sans Serif"/>
              </a:rPr>
              <a:t> </a:t>
            </a:r>
            <a:r>
              <a:rPr sz="2600" spc="-110" dirty="0">
                <a:latin typeface="Microsoft Sans Serif"/>
                <a:cs typeface="Microsoft Sans Serif"/>
              </a:rPr>
              <a:t>More</a:t>
            </a:r>
            <a:r>
              <a:rPr sz="2600" spc="5" dirty="0">
                <a:latin typeface="Microsoft Sans Serif"/>
                <a:cs typeface="Microsoft Sans Serif"/>
              </a:rPr>
              <a:t> </a:t>
            </a:r>
            <a:r>
              <a:rPr sz="2600" spc="-225" dirty="0">
                <a:latin typeface="Microsoft Sans Serif"/>
                <a:cs typeface="Microsoft Sans Serif"/>
              </a:rPr>
              <a:t>on</a:t>
            </a:r>
            <a:r>
              <a:rPr sz="2600" spc="5" dirty="0">
                <a:latin typeface="Microsoft Sans Serif"/>
                <a:cs typeface="Microsoft Sans Serif"/>
              </a:rPr>
              <a:t> </a:t>
            </a:r>
            <a:r>
              <a:rPr sz="2600" spc="-130" dirty="0">
                <a:latin typeface="Microsoft Sans Serif"/>
                <a:cs typeface="Microsoft Sans Serif"/>
              </a:rPr>
              <a:t>string</a:t>
            </a:r>
            <a:r>
              <a:rPr sz="2600" spc="5" dirty="0">
                <a:latin typeface="Microsoft Sans Serif"/>
                <a:cs typeface="Microsoft Sans Serif"/>
              </a:rPr>
              <a:t> </a:t>
            </a:r>
            <a:r>
              <a:rPr sz="2600" spc="-190" dirty="0">
                <a:latin typeface="Microsoft Sans Serif"/>
                <a:cs typeface="Microsoft Sans Serif"/>
              </a:rPr>
              <a:t>fun</a:t>
            </a:r>
            <a:r>
              <a:rPr sz="2600" spc="-225" dirty="0">
                <a:latin typeface="Microsoft Sans Serif"/>
                <a:cs typeface="Microsoft Sans Serif"/>
              </a:rPr>
              <a:t>c</a:t>
            </a:r>
            <a:r>
              <a:rPr sz="2600" spc="-45" dirty="0">
                <a:latin typeface="Microsoft Sans Serif"/>
                <a:cs typeface="Microsoft Sans Serif"/>
              </a:rPr>
              <a:t>ti</a:t>
            </a:r>
            <a:r>
              <a:rPr sz="2600" spc="-90" dirty="0">
                <a:latin typeface="Microsoft Sans Serif"/>
                <a:cs typeface="Microsoft Sans Serif"/>
              </a:rPr>
              <a:t>o</a:t>
            </a:r>
            <a:r>
              <a:rPr sz="2600" spc="-250" dirty="0">
                <a:latin typeface="Microsoft Sans Serif"/>
                <a:cs typeface="Microsoft Sans Serif"/>
              </a:rPr>
              <a:t>ns:  </a:t>
            </a:r>
            <a:r>
              <a:rPr sz="2600" u="heavy" spc="-95" dirty="0">
                <a:uFill>
                  <a:solidFill>
                    <a:srgbClr val="F7B615"/>
                  </a:solidFill>
                </a:uFill>
                <a:latin typeface="Microsoft Sans Serif"/>
                <a:cs typeface="Microsoft Sans Serif"/>
                <a:hlinkClick r:id="rId2"/>
              </a:rPr>
              <a:t>http://www.w3schools.com/php/php_ref_string.asp</a:t>
            </a:r>
            <a:endParaRPr sz="2600" dirty="0">
              <a:latin typeface="Microsoft Sans Serif"/>
              <a:cs typeface="Microsoft Sans Serif"/>
            </a:endParaRPr>
          </a:p>
        </p:txBody>
      </p:sp>
      <p:sp>
        <p:nvSpPr>
          <p:cNvPr id="5" name="object 5"/>
          <p:cNvSpPr txBox="1"/>
          <p:nvPr/>
        </p:nvSpPr>
        <p:spPr>
          <a:xfrm>
            <a:off x="993444" y="2368422"/>
            <a:ext cx="3438525" cy="84836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ourier New"/>
                <a:cs typeface="Courier New"/>
              </a:rPr>
              <a:t>$a</a:t>
            </a:r>
            <a:r>
              <a:rPr sz="1800" spc="-60" dirty="0">
                <a:latin typeface="Courier New"/>
                <a:cs typeface="Courier New"/>
              </a:rPr>
              <a:t> </a:t>
            </a:r>
            <a:r>
              <a:rPr sz="1800" dirty="0">
                <a:latin typeface="Courier New"/>
                <a:cs typeface="Courier New"/>
              </a:rPr>
              <a:t>=</a:t>
            </a:r>
            <a:r>
              <a:rPr sz="1800" spc="-55" dirty="0">
                <a:latin typeface="Courier New"/>
                <a:cs typeface="Courier New"/>
              </a:rPr>
              <a:t> </a:t>
            </a:r>
            <a:r>
              <a:rPr sz="1800" spc="-10" dirty="0">
                <a:latin typeface="Courier New"/>
                <a:cs typeface="Courier New"/>
              </a:rPr>
              <a:t>‘hello’;</a:t>
            </a:r>
            <a:endParaRPr sz="1800" dirty="0">
              <a:latin typeface="Courier New"/>
              <a:cs typeface="Courier New"/>
            </a:endParaRPr>
          </a:p>
          <a:p>
            <a:pPr marL="12700">
              <a:lnSpc>
                <a:spcPct val="100000"/>
              </a:lnSpc>
            </a:pPr>
            <a:r>
              <a:rPr sz="1800" spc="-5" dirty="0">
                <a:latin typeface="Courier New"/>
                <a:cs typeface="Courier New"/>
              </a:rPr>
              <a:t>$b</a:t>
            </a:r>
            <a:r>
              <a:rPr sz="1800" spc="-60" dirty="0">
                <a:latin typeface="Courier New"/>
                <a:cs typeface="Courier New"/>
              </a:rPr>
              <a:t> </a:t>
            </a:r>
            <a:r>
              <a:rPr sz="1800" dirty="0">
                <a:latin typeface="Courier New"/>
                <a:cs typeface="Courier New"/>
              </a:rPr>
              <a:t>=</a:t>
            </a:r>
            <a:r>
              <a:rPr sz="1800" spc="-55" dirty="0">
                <a:latin typeface="Courier New"/>
                <a:cs typeface="Courier New"/>
              </a:rPr>
              <a:t> </a:t>
            </a:r>
            <a:r>
              <a:rPr sz="1800" spc="-10" dirty="0">
                <a:latin typeface="Courier New"/>
                <a:cs typeface="Courier New"/>
              </a:rPr>
              <a:t>‘world’;</a:t>
            </a:r>
            <a:endParaRPr sz="1800" dirty="0">
              <a:latin typeface="Courier New"/>
              <a:cs typeface="Courier New"/>
            </a:endParaRPr>
          </a:p>
          <a:p>
            <a:pPr marL="12700">
              <a:lnSpc>
                <a:spcPct val="100000"/>
              </a:lnSpc>
            </a:pPr>
            <a:r>
              <a:rPr sz="1800" spc="-10" dirty="0">
                <a:latin typeface="Courier New"/>
                <a:cs typeface="Courier New"/>
              </a:rPr>
              <a:t>echo</a:t>
            </a:r>
            <a:r>
              <a:rPr sz="1800" spc="-25" dirty="0">
                <a:latin typeface="Courier New"/>
                <a:cs typeface="Courier New"/>
              </a:rPr>
              <a:t> </a:t>
            </a:r>
            <a:r>
              <a:rPr sz="1800" spc="-5" dirty="0">
                <a:latin typeface="Courier New"/>
                <a:cs typeface="Courier New"/>
              </a:rPr>
              <a:t>$a</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dirty="0">
                <a:latin typeface="Courier New"/>
                <a:cs typeface="Courier New"/>
              </a:rPr>
              <a:t>‘</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dirty="0">
                <a:latin typeface="Courier New"/>
                <a:cs typeface="Courier New"/>
              </a:rPr>
              <a:t>.</a:t>
            </a:r>
            <a:r>
              <a:rPr sz="1800" spc="-25" dirty="0">
                <a:latin typeface="Courier New"/>
                <a:cs typeface="Courier New"/>
              </a:rPr>
              <a:t> </a:t>
            </a:r>
            <a:r>
              <a:rPr sz="1800" spc="-5" dirty="0">
                <a:latin typeface="Courier New"/>
                <a:cs typeface="Courier New"/>
              </a:rPr>
              <a:t>$b</a:t>
            </a:r>
            <a:r>
              <a:rPr sz="1800" spc="-25" dirty="0">
                <a:latin typeface="Courier New"/>
                <a:cs typeface="Courier New"/>
              </a:rPr>
              <a:t> </a:t>
            </a:r>
            <a:r>
              <a:rPr sz="1800" dirty="0">
                <a:latin typeface="Courier New"/>
                <a:cs typeface="Courier New"/>
              </a:rPr>
              <a:t>.</a:t>
            </a:r>
            <a:r>
              <a:rPr sz="1800" spc="-20" dirty="0">
                <a:latin typeface="Courier New"/>
                <a:cs typeface="Courier New"/>
              </a:rPr>
              <a:t> </a:t>
            </a:r>
            <a:r>
              <a:rPr sz="1800" spc="-10" dirty="0">
                <a:latin typeface="Courier New"/>
                <a:cs typeface="Courier New"/>
              </a:rPr>
              <a:t>‘!’;</a:t>
            </a:r>
            <a:endParaRPr sz="1800" dirty="0">
              <a:latin typeface="Courier New"/>
              <a:cs typeface="Courier New"/>
            </a:endParaRPr>
          </a:p>
        </p:txBody>
      </p:sp>
      <p:sp>
        <p:nvSpPr>
          <p:cNvPr id="6" name="object 6"/>
          <p:cNvSpPr txBox="1"/>
          <p:nvPr/>
        </p:nvSpPr>
        <p:spPr>
          <a:xfrm>
            <a:off x="4651375" y="2917063"/>
            <a:ext cx="33013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prints</a:t>
            </a:r>
            <a:r>
              <a:rPr sz="1800" spc="-35" dirty="0">
                <a:solidFill>
                  <a:srgbClr val="963139"/>
                </a:solidFill>
                <a:latin typeface="Courier New"/>
                <a:cs typeface="Courier New"/>
              </a:rPr>
              <a:t> </a:t>
            </a:r>
            <a:r>
              <a:rPr sz="1800" spc="-10" dirty="0">
                <a:solidFill>
                  <a:srgbClr val="963139"/>
                </a:solidFill>
                <a:latin typeface="Courier New"/>
                <a:cs typeface="Courier New"/>
              </a:rPr>
              <a:t>‘hello</a:t>
            </a:r>
            <a:r>
              <a:rPr sz="1800" spc="-35" dirty="0">
                <a:solidFill>
                  <a:srgbClr val="963139"/>
                </a:solidFill>
                <a:latin typeface="Courier New"/>
                <a:cs typeface="Courier New"/>
              </a:rPr>
              <a:t> </a:t>
            </a:r>
            <a:r>
              <a:rPr sz="1800" spc="-10" dirty="0">
                <a:solidFill>
                  <a:srgbClr val="963139"/>
                </a:solidFill>
                <a:latin typeface="Courier New"/>
                <a:cs typeface="Courier New"/>
              </a:rPr>
              <a:t>world!’</a:t>
            </a:r>
            <a:endParaRPr sz="1800">
              <a:latin typeface="Courier New"/>
              <a:cs typeface="Courier New"/>
            </a:endParaRPr>
          </a:p>
        </p:txBody>
      </p:sp>
    </p:spTree>
    <p:extLst>
      <p:ext uri="{BB962C8B-B14F-4D97-AF65-F5344CB8AC3E}">
        <p14:creationId xmlns:p14="http://schemas.microsoft.com/office/powerpoint/2010/main" val="1104628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5 Data </a:t>
            </a:r>
            <a:r>
              <a:rPr lang="en-US" dirty="0" smtClean="0"/>
              <a:t>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PHP supports the following data types:</a:t>
            </a:r>
          </a:p>
          <a:p>
            <a:pPr lvl="1"/>
            <a:r>
              <a:rPr lang="en-US" dirty="0">
                <a:latin typeface="Times New Roman" pitchFamily="18" charset="0"/>
                <a:cs typeface="Times New Roman" pitchFamily="18" charset="0"/>
              </a:rPr>
              <a:t>String</a:t>
            </a:r>
          </a:p>
          <a:p>
            <a:pPr lvl="1"/>
            <a:r>
              <a:rPr lang="en-US" dirty="0">
                <a:latin typeface="Times New Roman" pitchFamily="18" charset="0"/>
                <a:cs typeface="Times New Roman" pitchFamily="18" charset="0"/>
              </a:rPr>
              <a:t>Integer</a:t>
            </a:r>
          </a:p>
          <a:p>
            <a:pPr lvl="1"/>
            <a:r>
              <a:rPr lang="en-US" dirty="0">
                <a:latin typeface="Times New Roman" pitchFamily="18" charset="0"/>
                <a:cs typeface="Times New Roman" pitchFamily="18" charset="0"/>
              </a:rPr>
              <a:t>Float (floating point numbers - also called double)</a:t>
            </a:r>
          </a:p>
          <a:p>
            <a:pPr lvl="1"/>
            <a:r>
              <a:rPr lang="en-US" dirty="0">
                <a:latin typeface="Times New Roman" pitchFamily="18" charset="0"/>
                <a:cs typeface="Times New Roman" pitchFamily="18" charset="0"/>
              </a:rPr>
              <a:t>Boolean</a:t>
            </a:r>
          </a:p>
          <a:p>
            <a:pPr lvl="1"/>
            <a:r>
              <a:rPr lang="en-US" dirty="0">
                <a:latin typeface="Times New Roman" pitchFamily="18" charset="0"/>
                <a:cs typeface="Times New Roman" pitchFamily="18" charset="0"/>
              </a:rPr>
              <a:t>Array</a:t>
            </a:r>
          </a:p>
          <a:p>
            <a:pPr lvl="1"/>
            <a:r>
              <a:rPr lang="en-US" dirty="0">
                <a:latin typeface="Times New Roman" pitchFamily="18" charset="0"/>
                <a:cs typeface="Times New Roman" pitchFamily="18" charset="0"/>
              </a:rPr>
              <a:t>Object</a:t>
            </a:r>
          </a:p>
          <a:p>
            <a:pPr lvl="1"/>
            <a:r>
              <a:rPr lang="en-US" dirty="0">
                <a:latin typeface="Times New Roman" pitchFamily="18" charset="0"/>
                <a:cs typeface="Times New Roman" pitchFamily="18" charset="0"/>
              </a:rPr>
              <a:t>NULL</a:t>
            </a:r>
          </a:p>
          <a:p>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Resource (The </a:t>
            </a:r>
            <a:r>
              <a:rPr lang="en-US" dirty="0">
                <a:latin typeface="Times New Roman" pitchFamily="18" charset="0"/>
                <a:cs typeface="Times New Roman" pitchFamily="18" charset="0"/>
              </a:rPr>
              <a:t>special resource type is not an actual data type. It is the storing of a reference to functions and resources external to PHP</a:t>
            </a:r>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common example of using the resource data type is a database call</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3200400" y="3093720"/>
          <a:ext cx="5334000" cy="1554480"/>
        </p:xfrm>
        <a:graphic>
          <a:graphicData uri="http://schemas.openxmlformats.org/drawingml/2006/table">
            <a:tbl>
              <a:tblPr firstRow="1" bandRow="1">
                <a:tableStyleId>{5C22544A-7EE6-4342-B048-85BDC9FD1C3A}</a:tableStyleId>
              </a:tblPr>
              <a:tblGrid>
                <a:gridCol w="5334000"/>
              </a:tblGrid>
              <a:tr h="370840">
                <a:tc>
                  <a:txBody>
                    <a:bodyPr/>
                    <a:lstStyle/>
                    <a:p>
                      <a:r>
                        <a:rPr lang="en-US" sz="2400" b="0" i="0" kern="1200" dirty="0" smtClean="0">
                          <a:solidFill>
                            <a:schemeClr val="lt1"/>
                          </a:solidFill>
                          <a:latin typeface="Times New Roman" pitchFamily="18" charset="0"/>
                          <a:ea typeface="+mn-ea"/>
                          <a:cs typeface="Times New Roman" pitchFamily="18" charset="0"/>
                        </a:rPr>
                        <a:t>The PHP </a:t>
                      </a:r>
                      <a:r>
                        <a:rPr lang="en-US" sz="2400" b="0" i="0" kern="1200" dirty="0" err="1" smtClean="0">
                          <a:solidFill>
                            <a:schemeClr val="lt1"/>
                          </a:solidFill>
                          <a:latin typeface="Times New Roman" pitchFamily="18" charset="0"/>
                          <a:ea typeface="+mn-ea"/>
                          <a:cs typeface="Times New Roman" pitchFamily="18" charset="0"/>
                        </a:rPr>
                        <a:t>var_dump</a:t>
                      </a:r>
                      <a:r>
                        <a:rPr lang="en-US" sz="2400" b="0" i="0" kern="1200" dirty="0" smtClean="0">
                          <a:solidFill>
                            <a:schemeClr val="lt1"/>
                          </a:solidFill>
                          <a:latin typeface="Times New Roman" pitchFamily="18" charset="0"/>
                          <a:ea typeface="+mn-ea"/>
                          <a:cs typeface="Times New Roman" pitchFamily="18" charset="0"/>
                        </a:rPr>
                        <a:t>() function returns the data type and value.</a:t>
                      </a:r>
                      <a:endParaRPr lang="en-US" sz="2400" b="1" i="0" kern="1200" dirty="0" smtClean="0">
                        <a:solidFill>
                          <a:schemeClr val="lt1"/>
                        </a:solidFill>
                        <a:latin typeface="Times New Roman" pitchFamily="18" charset="0"/>
                        <a:ea typeface="+mn-ea"/>
                        <a:cs typeface="Times New Roman" pitchFamily="18" charset="0"/>
                      </a:endParaRPr>
                    </a:p>
                    <a:p>
                      <a:endParaRPr lang="en-US" sz="2400" b="1" i="0" kern="1200" dirty="0" smtClean="0">
                        <a:solidFill>
                          <a:schemeClr val="lt1"/>
                        </a:solidFill>
                        <a:latin typeface="Times New Roman" pitchFamily="18" charset="0"/>
                        <a:ea typeface="+mn-ea"/>
                        <a:cs typeface="Times New Roman" pitchFamily="18" charset="0"/>
                      </a:endParaRPr>
                    </a:p>
                    <a:p>
                      <a:r>
                        <a:rPr lang="en-US" sz="2400" b="1" i="0" kern="1200" dirty="0" err="1" smtClean="0">
                          <a:solidFill>
                            <a:schemeClr val="lt1"/>
                          </a:solidFill>
                          <a:latin typeface="Times New Roman" pitchFamily="18" charset="0"/>
                          <a:ea typeface="+mn-ea"/>
                          <a:cs typeface="Times New Roman" pitchFamily="18" charset="0"/>
                        </a:rPr>
                        <a:t>var_dump</a:t>
                      </a:r>
                      <a:r>
                        <a:rPr lang="en-US" sz="2400" b="1" i="0" kern="1200" dirty="0" smtClean="0">
                          <a:solidFill>
                            <a:schemeClr val="lt1"/>
                          </a:solidFill>
                          <a:latin typeface="Times New Roman" pitchFamily="18" charset="0"/>
                          <a:ea typeface="+mn-ea"/>
                          <a:cs typeface="Times New Roman" pitchFamily="18" charset="0"/>
                        </a:rPr>
                        <a:t>($x);</a:t>
                      </a:r>
                      <a:endParaRPr lang="en-US" sz="2400" b="1"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23424352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38917" y="4633052"/>
            <a:ext cx="1696174" cy="0"/>
          </a:xfrm>
          <a:custGeom>
            <a:avLst/>
            <a:gdLst/>
            <a:ahLst/>
            <a:cxnLst/>
            <a:rect l="l" t="t" r="r" b="b"/>
            <a:pathLst>
              <a:path w="1922331">
                <a:moveTo>
                  <a:pt x="1922331" y="0"/>
                </a:moveTo>
                <a:lnTo>
                  <a:pt x="1899829" y="0"/>
                </a:lnTo>
                <a:lnTo>
                  <a:pt x="0" y="0"/>
                </a:lnTo>
              </a:path>
            </a:pathLst>
          </a:custGeom>
          <a:ln w="45005">
            <a:solidFill>
              <a:srgbClr val="FF40FF"/>
            </a:solidFill>
          </a:ln>
        </p:spPr>
        <p:txBody>
          <a:bodyPr wrap="square" lIns="0" tIns="0" rIns="0" bIns="0" rtlCol="0">
            <a:noAutofit/>
          </a:bodyPr>
          <a:lstStyle/>
          <a:p>
            <a:endParaRPr sz="1588">
              <a:solidFill>
                <a:prstClr val="white"/>
              </a:solidFill>
            </a:endParaRPr>
          </a:p>
        </p:txBody>
      </p:sp>
      <p:sp>
        <p:nvSpPr>
          <p:cNvPr id="6" name="object 6"/>
          <p:cNvSpPr/>
          <p:nvPr/>
        </p:nvSpPr>
        <p:spPr>
          <a:xfrm>
            <a:off x="4975526" y="4553629"/>
            <a:ext cx="158843" cy="158843"/>
          </a:xfrm>
          <a:custGeom>
            <a:avLst/>
            <a:gdLst/>
            <a:ahLst/>
            <a:cxnLst/>
            <a:rect l="l" t="t" r="r" b="b"/>
            <a:pathLst>
              <a:path w="180022" h="180022">
                <a:moveTo>
                  <a:pt x="180022" y="90011"/>
                </a:moveTo>
                <a:lnTo>
                  <a:pt x="0" y="0"/>
                </a:lnTo>
                <a:lnTo>
                  <a:pt x="45004" y="90011"/>
                </a:lnTo>
                <a:lnTo>
                  <a:pt x="0" y="180022"/>
                </a:lnTo>
                <a:lnTo>
                  <a:pt x="180022" y="90011"/>
                </a:lnTo>
                <a:close/>
              </a:path>
            </a:pathLst>
          </a:custGeom>
          <a:solidFill>
            <a:srgbClr val="FF40FF"/>
          </a:solidFill>
        </p:spPr>
        <p:txBody>
          <a:bodyPr wrap="square" lIns="0" tIns="0" rIns="0" bIns="0" rtlCol="0">
            <a:noAutofit/>
          </a:bodyPr>
          <a:lstStyle/>
          <a:p>
            <a:endParaRPr sz="1588">
              <a:solidFill>
                <a:prstClr val="white"/>
              </a:solidFill>
            </a:endParaRPr>
          </a:p>
        </p:txBody>
      </p:sp>
      <p:sp>
        <p:nvSpPr>
          <p:cNvPr id="7" name="object 7"/>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1968838" y="4738087"/>
            <a:ext cx="1497152"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EFB00"/>
                </a:solidFill>
                <a:latin typeface="Courier New"/>
                <a:cs typeface="Courier New"/>
              </a:rPr>
              <a:t>echo("\n");</a:t>
            </a:r>
            <a:endParaRPr sz="1721">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949368" marR="2949321" algn="ctr">
              <a:lnSpc>
                <a:spcPct val="95825"/>
              </a:lnSpc>
              <a:spcBef>
                <a:spcPts val="2647"/>
              </a:spcBef>
            </a:pPr>
            <a:r>
              <a:rPr sz="4059" dirty="0">
                <a:solidFill>
                  <a:srgbClr val="00F900"/>
                </a:solidFill>
                <a:latin typeface="+mj-lt"/>
                <a:cs typeface="Times New Roman"/>
              </a:rPr>
              <a:t>Exp</a:t>
            </a:r>
            <a:r>
              <a:rPr sz="4059" spc="-79" dirty="0">
                <a:solidFill>
                  <a:srgbClr val="00F900"/>
                </a:solidFill>
                <a:latin typeface="+mj-lt"/>
                <a:cs typeface="Times New Roman"/>
              </a:rPr>
              <a:t>r</a:t>
            </a:r>
            <a:r>
              <a:rPr sz="4059" dirty="0">
                <a:solidFill>
                  <a:srgbClr val="00F900"/>
                </a:solidFill>
                <a:latin typeface="+mj-lt"/>
                <a:cs typeface="Times New Roman"/>
              </a:rPr>
              <a:t>essions</a:t>
            </a:r>
            <a:endParaRPr sz="4059" dirty="0">
              <a:solidFill>
                <a:prstClr val="white"/>
              </a:solidFill>
              <a:latin typeface="+mj-lt"/>
              <a:cs typeface="Times New Roman"/>
            </a:endParaRPr>
          </a:p>
          <a:p>
            <a:pPr marL="976784">
              <a:lnSpc>
                <a:spcPts val="3370"/>
              </a:lnSpc>
              <a:spcBef>
                <a:spcPts val="5389"/>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Complete</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46" dirty="0">
                <a:solidFill>
                  <a:srgbClr val="FEFFFF"/>
                </a:solidFill>
                <a:latin typeface="Times New Roman"/>
                <a:cs typeface="Times New Roman"/>
              </a:rPr>
              <a:t> </a:t>
            </a:r>
            <a:r>
              <a:rPr sz="1985" dirty="0">
                <a:solidFill>
                  <a:srgbClr val="FEFFFF"/>
                </a:solidFill>
                <a:latin typeface="Times New Roman"/>
                <a:cs typeface="Times New Roman"/>
              </a:rPr>
              <a:t>normal</a:t>
            </a:r>
            <a:r>
              <a:rPr sz="1985" spc="52"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other</a:t>
            </a:r>
            <a:r>
              <a:rPr sz="1985" spc="429" dirty="0">
                <a:solidFill>
                  <a:srgbClr val="FEFFFF"/>
                </a:solidFill>
                <a:latin typeface="Times New Roman"/>
                <a:cs typeface="Times New Roman"/>
              </a:rPr>
              <a:t> </a:t>
            </a:r>
            <a:r>
              <a:rPr sz="1985" dirty="0">
                <a:solidFill>
                  <a:srgbClr val="FEFFFF"/>
                </a:solidFill>
                <a:latin typeface="Times New Roman"/>
                <a:cs typeface="Times New Roman"/>
              </a:rPr>
              <a:t>languages</a:t>
            </a:r>
            <a:r>
              <a:rPr sz="1985" spc="52"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a:t>
            </a:r>
            <a:r>
              <a:rPr sz="1985" spc="86"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a:t>
            </a:r>
            <a:r>
              <a:rPr sz="1985" spc="58" dirty="0">
                <a:solidFill>
                  <a:srgbClr val="FEFFFF"/>
                </a:solidFill>
                <a:latin typeface="Times New Roman"/>
                <a:cs typeface="Times New Roman"/>
              </a:rPr>
              <a:t> </a:t>
            </a:r>
            <a:r>
              <a:rPr sz="1985" dirty="0">
                <a:solidFill>
                  <a:srgbClr val="FEFFFF"/>
                </a:solidFill>
                <a:latin typeface="Times New Roman"/>
                <a:cs typeface="Times New Roman"/>
              </a:rPr>
              <a:t>*</a:t>
            </a:r>
            <a:r>
              <a:rPr sz="1985" spc="137" dirty="0">
                <a:solidFill>
                  <a:srgbClr val="FEFFFF"/>
                </a:solidFill>
                <a:latin typeface="Times New Roman"/>
                <a:cs typeface="Times New Roman"/>
              </a:rPr>
              <a:t> </a:t>
            </a:r>
            <a:r>
              <a:rPr sz="1985" dirty="0">
                <a:solidFill>
                  <a:srgbClr val="FEFFFF"/>
                </a:solidFill>
                <a:latin typeface="Times New Roman"/>
                <a:cs typeface="Times New Roman"/>
              </a:rPr>
              <a:t>)</a:t>
            </a:r>
            <a:endParaRPr sz="1985" dirty="0">
              <a:solidFill>
                <a:prstClr val="white"/>
              </a:solidFill>
              <a:latin typeface="Times New Roman"/>
              <a:cs typeface="Times New Roman"/>
            </a:endParaRPr>
          </a:p>
          <a:p>
            <a:pPr marL="976784">
              <a:lnSpc>
                <a:spcPts val="3489"/>
              </a:lnSpc>
              <a:spcBef>
                <a:spcPts val="659"/>
              </a:spcBef>
            </a:pPr>
            <a:r>
              <a:rPr sz="3353" dirty="0">
                <a:solidFill>
                  <a:srgbClr val="FEFFFF"/>
                </a:solidFill>
                <a:latin typeface="Times New Roman"/>
                <a:cs typeface="Times New Roman"/>
              </a:rPr>
              <a:t>• </a:t>
            </a:r>
            <a:r>
              <a:rPr sz="3353" spc="380" dirty="0">
                <a:solidFill>
                  <a:srgbClr val="FEFFFF"/>
                </a:solidFill>
                <a:latin typeface="Times New Roman"/>
                <a:cs typeface="Times New Roman"/>
              </a:rPr>
              <a:t> </a:t>
            </a:r>
            <a:r>
              <a:rPr sz="2978" baseline="15460" dirty="0">
                <a:solidFill>
                  <a:srgbClr val="FEFFFF"/>
                </a:solidFill>
                <a:latin typeface="Times New Roman"/>
                <a:cs typeface="Times New Roman"/>
              </a:rPr>
              <a:t>Mo</a:t>
            </a:r>
            <a:r>
              <a:rPr sz="2978" spc="-39" baseline="15460" dirty="0">
                <a:solidFill>
                  <a:srgbClr val="FEFFFF"/>
                </a:solidFill>
                <a:latin typeface="Times New Roman"/>
                <a:cs typeface="Times New Roman"/>
              </a:rPr>
              <a:t>r</a:t>
            </a:r>
            <a:r>
              <a:rPr sz="2978" baseline="15460" dirty="0">
                <a:solidFill>
                  <a:srgbClr val="FEFFFF"/>
                </a:solidFill>
                <a:latin typeface="Times New Roman"/>
                <a:cs typeface="Times New Roman"/>
              </a:rPr>
              <a:t>e</a:t>
            </a:r>
            <a:r>
              <a:rPr sz="2978" spc="10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ag</a:t>
            </a:r>
            <a:r>
              <a:rPr sz="2978" spc="-39" baseline="15460" dirty="0">
                <a:solidFill>
                  <a:srgbClr val="FEFFFF"/>
                </a:solidFill>
                <a:latin typeface="Times New Roman"/>
                <a:cs typeface="Times New Roman"/>
              </a:rPr>
              <a:t>r</a:t>
            </a:r>
            <a:r>
              <a:rPr sz="2978" baseline="15460" dirty="0">
                <a:solidFill>
                  <a:srgbClr val="FEFFFF"/>
                </a:solidFill>
                <a:latin typeface="Times New Roman"/>
                <a:cs typeface="Times New Roman"/>
              </a:rPr>
              <a:t>essi</a:t>
            </a:r>
            <a:r>
              <a:rPr sz="2978" spc="-39" baseline="15460" dirty="0">
                <a:solidFill>
                  <a:srgbClr val="FEFFFF"/>
                </a:solidFill>
                <a:latin typeface="Times New Roman"/>
                <a:cs typeface="Times New Roman"/>
              </a:rPr>
              <a:t>v</a:t>
            </a:r>
            <a:r>
              <a:rPr sz="2978" baseline="15460" dirty="0">
                <a:solidFill>
                  <a:srgbClr val="FEFFFF"/>
                </a:solidFill>
                <a:latin typeface="Times New Roman"/>
                <a:cs typeface="Times New Roman"/>
              </a:rPr>
              <a:t>e</a:t>
            </a:r>
            <a:r>
              <a:rPr sz="2978" spc="5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implicit</a:t>
            </a:r>
            <a:r>
              <a:rPr sz="2978" spc="52" baseline="15460" dirty="0">
                <a:solidFill>
                  <a:srgbClr val="FEFFFF"/>
                </a:solidFill>
                <a:latin typeface="Times New Roman"/>
                <a:cs typeface="Times New Roman"/>
              </a:rPr>
              <a:t> </a:t>
            </a:r>
            <a:r>
              <a:rPr sz="2978" baseline="15460" dirty="0">
                <a:solidFill>
                  <a:srgbClr val="FEFFFF"/>
                </a:solidFill>
                <a:latin typeface="Times New Roman"/>
                <a:cs typeface="Times New Roman"/>
              </a:rPr>
              <a:t>type</a:t>
            </a:r>
            <a:r>
              <a:rPr sz="2978" spc="86" baseline="15460" dirty="0">
                <a:solidFill>
                  <a:srgbClr val="FEFFFF"/>
                </a:solidFill>
                <a:latin typeface="Times New Roman"/>
                <a:cs typeface="Times New Roman"/>
              </a:rPr>
              <a:t> </a:t>
            </a:r>
            <a:r>
              <a:rPr sz="2978" baseline="15460" dirty="0">
                <a:solidFill>
                  <a:srgbClr val="FEFFFF"/>
                </a:solidFill>
                <a:latin typeface="Times New Roman"/>
                <a:cs typeface="Times New Roman"/>
              </a:rPr>
              <a:t>co</a:t>
            </a:r>
            <a:r>
              <a:rPr sz="2978" spc="-30" baseline="15460" dirty="0">
                <a:solidFill>
                  <a:srgbClr val="FEFFFF"/>
                </a:solidFill>
                <a:latin typeface="Times New Roman"/>
                <a:cs typeface="Times New Roman"/>
              </a:rPr>
              <a:t>n</a:t>
            </a:r>
            <a:r>
              <a:rPr sz="2978" spc="-39" baseline="15460" dirty="0">
                <a:solidFill>
                  <a:srgbClr val="FEFFFF"/>
                </a:solidFill>
                <a:latin typeface="Times New Roman"/>
                <a:cs typeface="Times New Roman"/>
              </a:rPr>
              <a:t>v</a:t>
            </a:r>
            <a:r>
              <a:rPr sz="2978" baseline="15460" dirty="0">
                <a:solidFill>
                  <a:srgbClr val="FEFFFF"/>
                </a:solidFill>
                <a:latin typeface="Times New Roman"/>
                <a:cs typeface="Times New Roman"/>
              </a:rPr>
              <a:t>ersion</a:t>
            </a:r>
            <a:endParaRPr sz="1985" dirty="0">
              <a:solidFill>
                <a:prstClr val="white"/>
              </a:solidFill>
              <a:latin typeface="Times New Roman"/>
              <a:cs typeface="Times New Roman"/>
            </a:endParaRPr>
          </a:p>
          <a:p>
            <a:pPr marL="1247930">
              <a:lnSpc>
                <a:spcPct val="94401"/>
              </a:lnSpc>
              <a:spcBef>
                <a:spcPts val="1925"/>
              </a:spcBef>
            </a:pPr>
            <a:r>
              <a:rPr sz="1721" dirty="0">
                <a:solidFill>
                  <a:srgbClr val="FEFB00"/>
                </a:solidFill>
                <a:latin typeface="Courier New"/>
                <a:cs typeface="Courier New"/>
              </a:rPr>
              <a:t>&lt;?php</a:t>
            </a:r>
            <a:endParaRPr sz="1721" dirty="0">
              <a:solidFill>
                <a:prstClr val="white"/>
              </a:solidFill>
              <a:latin typeface="Courier New"/>
              <a:cs typeface="Courier New"/>
            </a:endParaRPr>
          </a:p>
          <a:p>
            <a:pPr marL="1641154">
              <a:lnSpc>
                <a:spcPct val="94401"/>
              </a:lnSpc>
              <a:spcBef>
                <a:spcPts val="132"/>
              </a:spcBef>
            </a:pPr>
            <a:r>
              <a:rPr sz="1721" dirty="0">
                <a:solidFill>
                  <a:srgbClr val="FEFB00"/>
                </a:solidFill>
                <a:latin typeface="Courier New"/>
                <a:cs typeface="Courier New"/>
              </a:rPr>
              <a:t>$x = "15" + 27;</a:t>
            </a:r>
            <a:endParaRPr sz="1721" dirty="0">
              <a:solidFill>
                <a:prstClr val="white"/>
              </a:solidFill>
              <a:latin typeface="Courier New"/>
              <a:cs typeface="Courier New"/>
            </a:endParaRPr>
          </a:p>
          <a:p>
            <a:pPr marL="1641154">
              <a:lnSpc>
                <a:spcPts val="2248"/>
              </a:lnSpc>
              <a:spcBef>
                <a:spcPts val="132"/>
              </a:spcBef>
            </a:pPr>
            <a:r>
              <a:rPr sz="1721" dirty="0">
                <a:solidFill>
                  <a:srgbClr val="FEFB00"/>
                </a:solidFill>
                <a:latin typeface="Courier New"/>
                <a:cs typeface="Courier New"/>
              </a:rPr>
              <a:t>echo($x); </a:t>
            </a:r>
            <a:r>
              <a:rPr lang="en-US" sz="1721" dirty="0" smtClean="0">
                <a:solidFill>
                  <a:srgbClr val="FEFB00"/>
                </a:solidFill>
                <a:latin typeface="Courier New"/>
                <a:cs typeface="Courier New"/>
              </a:rPr>
              <a:t>  </a:t>
            </a:r>
            <a:r>
              <a:rPr sz="1721" dirty="0" smtClean="0">
                <a:solidFill>
                  <a:srgbClr val="FEFB00"/>
                </a:solidFill>
                <a:latin typeface="Courier New"/>
                <a:cs typeface="Courier New"/>
              </a:rPr>
              <a:t>             </a:t>
            </a:r>
            <a:r>
              <a:rPr sz="1721" spc="794" dirty="0" smtClean="0">
                <a:solidFill>
                  <a:srgbClr val="FEFB00"/>
                </a:solidFill>
                <a:latin typeface="Courier New"/>
                <a:cs typeface="Courier New"/>
              </a:rPr>
              <a:t> </a:t>
            </a:r>
            <a:r>
              <a:rPr lang="en-US" sz="1721" spc="794" dirty="0" smtClean="0">
                <a:solidFill>
                  <a:srgbClr val="FEFB00"/>
                </a:solidFill>
                <a:latin typeface="Courier New"/>
                <a:cs typeface="Courier New"/>
              </a:rPr>
              <a:t> </a:t>
            </a:r>
            <a:r>
              <a:rPr sz="3574" baseline="-18527" dirty="0" smtClean="0">
                <a:solidFill>
                  <a:srgbClr val="FF40FF"/>
                </a:solidFill>
                <a:latin typeface="Courier New"/>
                <a:cs typeface="Courier New"/>
              </a:rPr>
              <a:t>42</a:t>
            </a:r>
            <a:endParaRPr sz="2382" dirty="0">
              <a:solidFill>
                <a:prstClr val="white"/>
              </a:solidFill>
              <a:latin typeface="Courier New"/>
              <a:cs typeface="Courier New"/>
            </a:endParaRPr>
          </a:p>
          <a:p>
            <a:pPr marL="1247930">
              <a:lnSpc>
                <a:spcPct val="94401"/>
              </a:lnSpc>
              <a:spcBef>
                <a:spcPts val="2021"/>
              </a:spcBef>
            </a:pPr>
            <a:r>
              <a:rPr sz="1721" dirty="0">
                <a:solidFill>
                  <a:srgbClr val="FEFB00"/>
                </a:solidFill>
                <a:latin typeface="Courier New"/>
                <a:cs typeface="Courier New"/>
              </a:rPr>
              <a:t>?&gt;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11763086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13" name="object 13"/>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11" name="object 11"/>
          <p:cNvSpPr txBox="1"/>
          <p:nvPr/>
        </p:nvSpPr>
        <p:spPr>
          <a:xfrm>
            <a:off x="6489255" y="2587084"/>
            <a:ext cx="579529" cy="505560"/>
          </a:xfrm>
          <a:prstGeom prst="rect">
            <a:avLst/>
          </a:prstGeom>
        </p:spPr>
        <p:txBody>
          <a:bodyPr wrap="square" lIns="0" tIns="0" rIns="0" bIns="0" rtlCol="0">
            <a:noAutofit/>
          </a:bodyPr>
          <a:lstStyle/>
          <a:p>
            <a:pPr marL="11207" marR="84">
              <a:lnSpc>
                <a:spcPts val="1902"/>
              </a:lnSpc>
              <a:spcBef>
                <a:spcPts val="94"/>
              </a:spcBef>
            </a:pPr>
            <a:r>
              <a:rPr sz="2581" baseline="4526" dirty="0">
                <a:solidFill>
                  <a:srgbClr val="FEFB00"/>
                </a:solidFill>
                <a:latin typeface="Courier New"/>
                <a:cs typeface="Courier New"/>
              </a:rPr>
              <a:t>$x =</a:t>
            </a:r>
            <a:endParaRPr sz="1721">
              <a:solidFill>
                <a:prstClr val="white"/>
              </a:solidFill>
              <a:latin typeface="Courier New"/>
              <a:cs typeface="Courier New"/>
            </a:endParaRPr>
          </a:p>
          <a:p>
            <a:pPr marL="11206">
              <a:lnSpc>
                <a:spcPts val="1946"/>
              </a:lnSpc>
              <a:spcBef>
                <a:spcPts val="134"/>
              </a:spcBef>
            </a:pPr>
            <a:r>
              <a:rPr sz="2581" baseline="4526" dirty="0">
                <a:solidFill>
                  <a:srgbClr val="FF40FF"/>
                </a:solidFill>
                <a:latin typeface="Courier New"/>
                <a:cs typeface="Courier New"/>
              </a:rPr>
              <a:t>echo</a:t>
            </a:r>
            <a:endParaRPr sz="1721">
              <a:solidFill>
                <a:prstClr val="white"/>
              </a:solidFill>
              <a:latin typeface="Courier New"/>
              <a:cs typeface="Courier New"/>
            </a:endParaRPr>
          </a:p>
        </p:txBody>
      </p:sp>
      <p:sp>
        <p:nvSpPr>
          <p:cNvPr id="10" name="object 10"/>
          <p:cNvSpPr txBox="1"/>
          <p:nvPr/>
        </p:nvSpPr>
        <p:spPr>
          <a:xfrm>
            <a:off x="7144591" y="2587084"/>
            <a:ext cx="1365917" cy="505560"/>
          </a:xfrm>
          <a:prstGeom prst="rect">
            <a:avLst/>
          </a:prstGeom>
        </p:spPr>
        <p:txBody>
          <a:bodyPr wrap="square" lIns="0" tIns="0" rIns="0" bIns="0" rtlCol="0">
            <a:noAutofit/>
          </a:bodyPr>
          <a:lstStyle/>
          <a:p>
            <a:pPr marL="11209">
              <a:lnSpc>
                <a:spcPts val="1902"/>
              </a:lnSpc>
              <a:spcBef>
                <a:spcPts val="94"/>
              </a:spcBef>
            </a:pPr>
            <a:r>
              <a:rPr sz="2581" baseline="4526" dirty="0">
                <a:solidFill>
                  <a:srgbClr val="FEFB00"/>
                </a:solidFill>
                <a:latin typeface="Courier New"/>
                <a:cs typeface="Courier New"/>
              </a:rPr>
              <a:t>"15" + 27;</a:t>
            </a:r>
            <a:endParaRPr sz="1721">
              <a:solidFill>
                <a:prstClr val="white"/>
              </a:solidFill>
              <a:latin typeface="Courier New"/>
              <a:cs typeface="Courier New"/>
            </a:endParaRPr>
          </a:p>
          <a:p>
            <a:pPr marL="11206" marR="32763">
              <a:lnSpc>
                <a:spcPts val="1946"/>
              </a:lnSpc>
              <a:spcBef>
                <a:spcPts val="134"/>
              </a:spcBef>
            </a:pPr>
            <a:r>
              <a:rPr sz="2581" baseline="4526" dirty="0">
                <a:solidFill>
                  <a:srgbClr val="FEFB00"/>
                </a:solidFill>
                <a:latin typeface="Courier New"/>
                <a:cs typeface="Courier New"/>
              </a:rPr>
              <a:t>$x;</a:t>
            </a:r>
            <a:endParaRPr sz="1721">
              <a:solidFill>
                <a:prstClr val="white"/>
              </a:solidFill>
              <a:latin typeface="Courier New"/>
              <a:cs typeface="Courier New"/>
            </a:endParaRPr>
          </a:p>
        </p:txBody>
      </p:sp>
      <p:sp>
        <p:nvSpPr>
          <p:cNvPr id="9" name="object 9"/>
          <p:cNvSpPr txBox="1"/>
          <p:nvPr/>
        </p:nvSpPr>
        <p:spPr>
          <a:xfrm>
            <a:off x="1714850" y="2729413"/>
            <a:ext cx="3118755"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be</a:t>
            </a:r>
            <a:r>
              <a:rPr sz="1985" spc="109" dirty="0">
                <a:solidFill>
                  <a:srgbClr val="FEFFFF"/>
                </a:solidFill>
                <a:latin typeface="Times New Roman"/>
                <a:cs typeface="Times New Roman"/>
              </a:rPr>
              <a:t> </a:t>
            </a:r>
            <a:r>
              <a:rPr sz="1985" dirty="0">
                <a:solidFill>
                  <a:srgbClr val="FEFFFF"/>
                </a:solidFill>
                <a:latin typeface="Times New Roman"/>
                <a:cs typeface="Times New Roman"/>
              </a:rPr>
              <a:t>t</a:t>
            </a:r>
            <a:r>
              <a:rPr sz="1985" spc="-39" dirty="0">
                <a:solidFill>
                  <a:srgbClr val="FEFFFF"/>
                </a:solidFill>
                <a:latin typeface="Times New Roman"/>
                <a:cs typeface="Times New Roman"/>
              </a:rPr>
              <a:t>r</a:t>
            </a:r>
            <a:r>
              <a:rPr sz="1985" dirty="0">
                <a:solidFill>
                  <a:srgbClr val="FEFFFF"/>
                </a:solidFill>
                <a:latin typeface="Times New Roman"/>
                <a:cs typeface="Times New Roman"/>
              </a:rPr>
              <a:t>eated</a:t>
            </a:r>
            <a:r>
              <a:rPr sz="1985" spc="494"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with</a:t>
            </a:r>
            <a:endParaRPr sz="1985">
              <a:solidFill>
                <a:prstClr val="white"/>
              </a:solidFill>
              <a:latin typeface="Times New Roman"/>
              <a:cs typeface="Times New Roman"/>
            </a:endParaRPr>
          </a:p>
        </p:txBody>
      </p:sp>
      <p:sp>
        <p:nvSpPr>
          <p:cNvPr id="8" name="object 8"/>
          <p:cNvSpPr txBox="1"/>
          <p:nvPr/>
        </p:nvSpPr>
        <p:spPr>
          <a:xfrm>
            <a:off x="1714850" y="3311838"/>
            <a:ext cx="3158064"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pa</a:t>
            </a:r>
            <a:r>
              <a:rPr sz="1985" spc="-39" dirty="0">
                <a:solidFill>
                  <a:srgbClr val="FEFFFF"/>
                </a:solidFill>
                <a:latin typeface="Times New Roman"/>
                <a:cs typeface="Times New Roman"/>
              </a:rPr>
              <a:t>r</a:t>
            </a:r>
            <a:r>
              <a:rPr sz="1985" dirty="0">
                <a:solidFill>
                  <a:srgbClr val="FEFFFF"/>
                </a:solidFill>
                <a:latin typeface="Times New Roman"/>
                <a:cs typeface="Times New Roman"/>
              </a:rPr>
              <a:t>enthesis,</a:t>
            </a:r>
            <a:r>
              <a:rPr sz="1985" spc="-145"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accepts</a:t>
            </a:r>
            <a:r>
              <a:rPr sz="1985" spc="116" dirty="0">
                <a:solidFill>
                  <a:srgbClr val="FEFFFF"/>
                </a:solidFill>
                <a:latin typeface="Times New Roman"/>
                <a:cs typeface="Times New Roman"/>
              </a:rPr>
              <a:t> </a:t>
            </a:r>
            <a:r>
              <a:rPr sz="1985" spc="-17" dirty="0">
                <a:solidFill>
                  <a:srgbClr val="FEFFFF"/>
                </a:solidFill>
                <a:latin typeface="Times New Roman"/>
                <a:cs typeface="Times New Roman"/>
              </a:rPr>
              <a:t>m</a:t>
            </a:r>
            <a:r>
              <a:rPr sz="1985" dirty="0">
                <a:solidFill>
                  <a:srgbClr val="FEFFFF"/>
                </a:solidFill>
                <a:latin typeface="Times New Roman"/>
                <a:cs typeface="Times New Roman"/>
              </a:rPr>
              <a:t>ultiple</a:t>
            </a:r>
            <a:endParaRPr sz="1985">
              <a:solidFill>
                <a:prstClr val="white"/>
              </a:solidFill>
              <a:latin typeface="Times New Roman"/>
              <a:cs typeface="Times New Roman"/>
            </a:endParaRPr>
          </a:p>
        </p:txBody>
      </p:sp>
      <p:sp>
        <p:nvSpPr>
          <p:cNvPr id="7" name="object 7"/>
          <p:cNvSpPr txBox="1"/>
          <p:nvPr/>
        </p:nvSpPr>
        <p:spPr>
          <a:xfrm>
            <a:off x="6489255" y="3381301"/>
            <a:ext cx="579529"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echo</a:t>
            </a:r>
            <a:endParaRPr sz="1721">
              <a:solidFill>
                <a:prstClr val="white"/>
              </a:solidFill>
              <a:latin typeface="Courier New"/>
              <a:cs typeface="Courier New"/>
            </a:endParaRPr>
          </a:p>
        </p:txBody>
      </p:sp>
      <p:sp>
        <p:nvSpPr>
          <p:cNvPr id="6" name="object 6"/>
          <p:cNvSpPr txBox="1"/>
          <p:nvPr/>
        </p:nvSpPr>
        <p:spPr>
          <a:xfrm>
            <a:off x="7144591" y="3381301"/>
            <a:ext cx="1234888"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EFB00"/>
                </a:solidFill>
                <a:latin typeface="Courier New"/>
                <a:cs typeface="Courier New"/>
              </a:rPr>
              <a:t>$x, "\n";</a:t>
            </a:r>
            <a:endParaRPr sz="1721">
              <a:solidFill>
                <a:prstClr val="white"/>
              </a:solidFill>
              <a:latin typeface="Courier New"/>
              <a:cs typeface="Courier New"/>
            </a:endParaRPr>
          </a:p>
        </p:txBody>
      </p:sp>
      <p:sp>
        <p:nvSpPr>
          <p:cNvPr id="5" name="object 5"/>
          <p:cNvSpPr txBox="1"/>
          <p:nvPr/>
        </p:nvSpPr>
        <p:spPr>
          <a:xfrm>
            <a:off x="6489255" y="4175517"/>
            <a:ext cx="1628131" cy="505560"/>
          </a:xfrm>
          <a:prstGeom prst="rect">
            <a:avLst/>
          </a:prstGeom>
        </p:spPr>
        <p:txBody>
          <a:bodyPr wrap="square" lIns="0" tIns="0" rIns="0" bIns="0" rtlCol="0">
            <a:noAutofit/>
          </a:bodyPr>
          <a:lstStyle/>
          <a:p>
            <a:pPr marL="11206" marR="32763">
              <a:lnSpc>
                <a:spcPts val="1902"/>
              </a:lnSpc>
              <a:spcBef>
                <a:spcPts val="94"/>
              </a:spcBef>
            </a:pPr>
            <a:r>
              <a:rPr sz="2581" baseline="4526" dirty="0">
                <a:solidFill>
                  <a:srgbClr val="FF9200"/>
                </a:solidFill>
                <a:latin typeface="Courier New"/>
                <a:cs typeface="Courier New"/>
              </a:rPr>
              <a:t>print</a:t>
            </a:r>
            <a:r>
              <a:rPr sz="2581" baseline="4526" dirty="0">
                <a:solidFill>
                  <a:srgbClr val="FEFB00"/>
                </a:solidFill>
                <a:latin typeface="Courier New"/>
                <a:cs typeface="Courier New"/>
              </a:rPr>
              <a:t>($x);</a:t>
            </a:r>
            <a:endParaRPr sz="1721">
              <a:solidFill>
                <a:prstClr val="white"/>
              </a:solidFill>
              <a:latin typeface="Courier New"/>
              <a:cs typeface="Courier New"/>
            </a:endParaRPr>
          </a:p>
          <a:p>
            <a:pPr marL="11206">
              <a:lnSpc>
                <a:spcPts val="1946"/>
              </a:lnSpc>
              <a:spcBef>
                <a:spcPts val="134"/>
              </a:spcBef>
            </a:pPr>
            <a:r>
              <a:rPr sz="2581" baseline="4526" dirty="0">
                <a:solidFill>
                  <a:srgbClr val="FF9200"/>
                </a:solidFill>
                <a:latin typeface="Courier New"/>
                <a:cs typeface="Courier New"/>
              </a:rPr>
              <a:t>print</a:t>
            </a:r>
            <a:r>
              <a:rPr sz="2581" baseline="4526" dirty="0">
                <a:solidFill>
                  <a:srgbClr val="FEFB00"/>
                </a:solidFill>
                <a:latin typeface="Courier New"/>
                <a:cs typeface="Courier New"/>
              </a:rPr>
              <a:t>("\n");</a:t>
            </a:r>
            <a:endParaRPr sz="1721">
              <a:solidFill>
                <a:prstClr val="white"/>
              </a:solidFill>
              <a:latin typeface="Courier New"/>
              <a:cs typeface="Courier New"/>
            </a:endParaRPr>
          </a:p>
        </p:txBody>
      </p:sp>
      <p:sp>
        <p:nvSpPr>
          <p:cNvPr id="4" name="object 4"/>
          <p:cNvSpPr txBox="1"/>
          <p:nvPr/>
        </p:nvSpPr>
        <p:spPr>
          <a:xfrm>
            <a:off x="1714849" y="4337702"/>
            <a:ext cx="3138120"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parameter</a:t>
            </a:r>
            <a:r>
              <a:rPr sz="1985" spc="408" dirty="0">
                <a:solidFill>
                  <a:srgbClr val="FEFFFF"/>
                </a:solidFill>
                <a:latin typeface="Times New Roman"/>
                <a:cs typeface="Times New Roman"/>
              </a:rPr>
              <a:t> </a:t>
            </a:r>
            <a:r>
              <a:rPr sz="1985" dirty="0">
                <a:solidFill>
                  <a:srgbClr val="FEFFFF"/>
                </a:solidFill>
                <a:latin typeface="Times New Roman"/>
                <a:cs typeface="Times New Roman"/>
              </a:rPr>
              <a:t>but</a:t>
            </a:r>
            <a:r>
              <a:rPr sz="1985" spc="154" dirty="0">
                <a:solidFill>
                  <a:srgbClr val="FEFFFF"/>
                </a:solidFill>
                <a:latin typeface="Times New Roman"/>
                <a:cs typeface="Times New Roman"/>
              </a:rPr>
              <a:t> </a:t>
            </a:r>
            <a:r>
              <a:rPr sz="1985" dirty="0">
                <a:solidFill>
                  <a:srgbClr val="FEFFFF"/>
                </a:solidFill>
                <a:latin typeface="Times New Roman"/>
                <a:cs typeface="Times New Roman"/>
              </a:rPr>
              <a:t>pa</a:t>
            </a:r>
            <a:r>
              <a:rPr sz="1985" spc="-39" dirty="0">
                <a:solidFill>
                  <a:srgbClr val="FEFFFF"/>
                </a:solidFill>
                <a:latin typeface="Times New Roman"/>
                <a:cs typeface="Times New Roman"/>
              </a:rPr>
              <a:t>r</a:t>
            </a:r>
            <a:r>
              <a:rPr sz="1985" dirty="0">
                <a:solidFill>
                  <a:srgbClr val="FEFFFF"/>
                </a:solidFill>
                <a:latin typeface="Times New Roman"/>
                <a:cs typeface="Times New Roman"/>
              </a:rPr>
              <a:t>enthesis</a:t>
            </a:r>
            <a:r>
              <a:rPr sz="1985" spc="52" dirty="0">
                <a:solidFill>
                  <a:srgbClr val="FEFFFF"/>
                </a:solidFill>
                <a:latin typeface="Times New Roman"/>
                <a:cs typeface="Times New Roman"/>
              </a:rPr>
              <a:t> </a:t>
            </a:r>
            <a:r>
              <a:rPr sz="1985" dirty="0">
                <a:solidFill>
                  <a:srgbClr val="FEFFFF"/>
                </a:solidFill>
                <a:latin typeface="Times New Roman"/>
                <a:cs typeface="Times New Roman"/>
              </a:rPr>
              <a:t>a</a:t>
            </a:r>
            <a:r>
              <a:rPr sz="1985" spc="-39" dirty="0">
                <a:solidFill>
                  <a:srgbClr val="FEFFFF"/>
                </a:solidFill>
                <a:latin typeface="Times New Roman"/>
                <a:cs typeface="Times New Roman"/>
              </a:rPr>
              <a:t>r</a:t>
            </a:r>
            <a:r>
              <a:rPr sz="1985" dirty="0">
                <a:solidFill>
                  <a:srgbClr val="FEFFFF"/>
                </a:solidFill>
                <a:latin typeface="Times New Roman"/>
                <a:cs typeface="Times New Roman"/>
              </a:rPr>
              <a:t>e</a:t>
            </a:r>
            <a:endParaRPr sz="1985">
              <a:solidFill>
                <a:prstClr val="white"/>
              </a:solidFill>
              <a:latin typeface="Times New Roman"/>
              <a:cs typeface="Times New Roman"/>
            </a:endParaRPr>
          </a:p>
        </p:txBody>
      </p:sp>
      <p:sp>
        <p:nvSpPr>
          <p:cNvPr id="3" name="object 3"/>
          <p:cNvSpPr txBox="1"/>
          <p:nvPr/>
        </p:nvSpPr>
        <p:spPr>
          <a:xfrm>
            <a:off x="1714850" y="4920128"/>
            <a:ext cx="1960939"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language</a:t>
            </a:r>
            <a:r>
              <a:rPr sz="1985" spc="148" dirty="0">
                <a:solidFill>
                  <a:srgbClr val="FEFFFF"/>
                </a:solidFill>
                <a:latin typeface="Times New Roman"/>
                <a:cs typeface="Times New Roman"/>
              </a:rPr>
              <a:t> </a:t>
            </a:r>
            <a:r>
              <a:rPr sz="1985" dirty="0">
                <a:solidFill>
                  <a:srgbClr val="FEFFFF"/>
                </a:solidFill>
                <a:latin typeface="Times New Roman"/>
                <a:cs typeface="Times New Roman"/>
              </a:rPr>
              <a:t>construct</a:t>
            </a:r>
            <a:endParaRPr sz="1985">
              <a:solidFill>
                <a:prstClr val="white"/>
              </a:solidFill>
              <a:latin typeface="Times New Roman"/>
              <a:cs typeface="Times New Roman"/>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3411690" marR="3411713" algn="ctr">
              <a:lnSpc>
                <a:spcPct val="95825"/>
              </a:lnSpc>
              <a:spcBef>
                <a:spcPts val="2647"/>
              </a:spcBef>
            </a:pPr>
            <a:r>
              <a:rPr sz="4059" dirty="0">
                <a:solidFill>
                  <a:srgbClr val="00F900"/>
                </a:solidFill>
                <a:latin typeface="Times New Roman"/>
                <a:cs typeface="Times New Roman"/>
              </a:rPr>
              <a:t>Output</a:t>
            </a:r>
            <a:endParaRPr sz="4059">
              <a:solidFill>
                <a:prstClr val="white"/>
              </a:solidFill>
              <a:latin typeface="Times New Roman"/>
              <a:cs typeface="Times New Roman"/>
            </a:endParaRPr>
          </a:p>
          <a:p>
            <a:pPr marL="976784">
              <a:lnSpc>
                <a:spcPts val="3370"/>
              </a:lnSpc>
              <a:spcBef>
                <a:spcPts val="2053"/>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F40FF"/>
                </a:solidFill>
                <a:latin typeface="Times New Roman"/>
                <a:cs typeface="Times New Roman"/>
              </a:rPr>
              <a:t>echo</a:t>
            </a:r>
            <a:r>
              <a:rPr sz="1985" spc="202" dirty="0">
                <a:solidFill>
                  <a:srgbClr val="FF40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language</a:t>
            </a:r>
            <a:r>
              <a:rPr sz="1985" spc="148" dirty="0">
                <a:solidFill>
                  <a:srgbClr val="FEFFFF"/>
                </a:solidFill>
                <a:latin typeface="Times New Roman"/>
                <a:cs typeface="Times New Roman"/>
              </a:rPr>
              <a:t> </a:t>
            </a:r>
            <a:r>
              <a:rPr sz="1985" dirty="0">
                <a:solidFill>
                  <a:srgbClr val="FEFFFF"/>
                </a:solidFill>
                <a:latin typeface="Times New Roman"/>
                <a:cs typeface="Times New Roman"/>
              </a:rPr>
              <a:t>construct</a:t>
            </a:r>
            <a:r>
              <a:rPr sz="1985" spc="437"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can             </a:t>
            </a:r>
            <a:r>
              <a:rPr sz="1985" spc="486" dirty="0">
                <a:solidFill>
                  <a:srgbClr val="FEFFFF"/>
                </a:solidFill>
                <a:latin typeface="Times New Roman"/>
                <a:cs typeface="Times New Roman"/>
              </a:rPr>
              <a:t> </a:t>
            </a:r>
            <a:r>
              <a:rPr sz="2581" baseline="40742" dirty="0">
                <a:solidFill>
                  <a:srgbClr val="FEFB00"/>
                </a:solidFill>
                <a:latin typeface="Courier New"/>
                <a:cs typeface="Courier New"/>
              </a:rPr>
              <a:t>&lt;?php</a:t>
            </a:r>
            <a:endParaRPr sz="1721">
              <a:solidFill>
                <a:prstClr val="white"/>
              </a:solidFill>
              <a:latin typeface="Courier New"/>
              <a:cs typeface="Courier New"/>
            </a:endParaRPr>
          </a:p>
          <a:p>
            <a:pPr marL="1387151">
              <a:lnSpc>
                <a:spcPts val="2529"/>
              </a:lnSpc>
              <a:spcBef>
                <a:spcPts val="2007"/>
              </a:spcBef>
            </a:pPr>
            <a:r>
              <a:rPr sz="1985" dirty="0">
                <a:solidFill>
                  <a:srgbClr val="FEFFFF"/>
                </a:solidFill>
                <a:latin typeface="Times New Roman"/>
                <a:cs typeface="Times New Roman"/>
              </a:rPr>
              <a:t>one</a:t>
            </a:r>
            <a:r>
              <a:rPr sz="1985" spc="208" dirty="0">
                <a:solidFill>
                  <a:srgbClr val="FEFFFF"/>
                </a:solidFill>
                <a:latin typeface="Times New Roman"/>
                <a:cs typeface="Times New Roman"/>
              </a:rPr>
              <a:t> </a:t>
            </a:r>
            <a:r>
              <a:rPr sz="1985" dirty="0">
                <a:solidFill>
                  <a:srgbClr val="FEFFFF"/>
                </a:solidFill>
                <a:latin typeface="Times New Roman"/>
                <a:cs typeface="Times New Roman"/>
              </a:rPr>
              <a:t>paramete</a:t>
            </a:r>
            <a:r>
              <a:rPr sz="1985" spc="-199" dirty="0">
                <a:solidFill>
                  <a:srgbClr val="FEFFFF"/>
                </a:solidFill>
                <a:latin typeface="Times New Roman"/>
                <a:cs typeface="Times New Roman"/>
              </a:rPr>
              <a:t>r</a:t>
            </a:r>
            <a:r>
              <a:rPr sz="1985" dirty="0">
                <a:solidFill>
                  <a:srgbClr val="FEFFFF"/>
                </a:solidFill>
                <a:latin typeface="Times New Roman"/>
                <a:cs typeface="Times New Roman"/>
              </a:rPr>
              <a:t>.</a:t>
            </a:r>
            <a:r>
              <a:rPr sz="1985" spc="484" dirty="0">
                <a:solidFill>
                  <a:srgbClr val="FEFFFF"/>
                </a:solidFill>
                <a:latin typeface="Times New Roman"/>
                <a:cs typeface="Times New Roman"/>
              </a:rPr>
              <a:t> </a:t>
            </a:r>
            <a:r>
              <a:rPr sz="1985" dirty="0">
                <a:solidFill>
                  <a:srgbClr val="FEFFFF"/>
                </a:solidFill>
                <a:latin typeface="Times New Roman"/>
                <a:cs typeface="Times New Roman"/>
              </a:rPr>
              <a:t>Without                                   </a:t>
            </a:r>
            <a:r>
              <a:rPr sz="1985" spc="399" dirty="0">
                <a:solidFill>
                  <a:srgbClr val="FEFFFF"/>
                </a:solidFill>
                <a:latin typeface="Times New Roman"/>
                <a:cs typeface="Times New Roman"/>
              </a:rPr>
              <a:t> </a:t>
            </a:r>
            <a:r>
              <a:rPr sz="2581" baseline="-16598" dirty="0">
                <a:solidFill>
                  <a:srgbClr val="FF40FF"/>
                </a:solidFill>
                <a:latin typeface="Courier New"/>
                <a:cs typeface="Courier New"/>
              </a:rPr>
              <a:t>echo</a:t>
            </a:r>
            <a:r>
              <a:rPr sz="2581" baseline="-16598" dirty="0">
                <a:solidFill>
                  <a:srgbClr val="FEFB00"/>
                </a:solidFill>
                <a:latin typeface="Courier New"/>
                <a:cs typeface="Courier New"/>
              </a:rPr>
              <a:t>("\n");</a:t>
            </a:r>
            <a:endParaRPr sz="1721">
              <a:solidFill>
                <a:prstClr val="white"/>
              </a:solidFill>
              <a:latin typeface="Courier New"/>
              <a:cs typeface="Courier New"/>
            </a:endParaRPr>
          </a:p>
          <a:p>
            <a:pPr marL="1387151">
              <a:lnSpc>
                <a:spcPts val="2573"/>
              </a:lnSpc>
              <a:spcBef>
                <a:spcPts val="2224"/>
              </a:spcBef>
            </a:pPr>
            <a:r>
              <a:rPr sz="2978" baseline="1288" dirty="0">
                <a:solidFill>
                  <a:srgbClr val="FEFFFF"/>
                </a:solidFill>
                <a:latin typeface="Times New Roman"/>
                <a:cs typeface="Times New Roman"/>
              </a:rPr>
              <a:t>parameters.                                                        </a:t>
            </a:r>
            <a:r>
              <a:rPr sz="2978" spc="67" baseline="1288" dirty="0">
                <a:solidFill>
                  <a:srgbClr val="FEFFFF"/>
                </a:solidFill>
                <a:latin typeface="Times New Roman"/>
                <a:cs typeface="Times New Roman"/>
              </a:rPr>
              <a:t> </a:t>
            </a:r>
            <a:r>
              <a:rPr sz="1721" dirty="0">
                <a:solidFill>
                  <a:srgbClr val="FF9200"/>
                </a:solidFill>
                <a:latin typeface="Courier New"/>
                <a:cs typeface="Courier New"/>
              </a:rPr>
              <a:t>print </a:t>
            </a:r>
            <a:r>
              <a:rPr sz="1721" dirty="0">
                <a:solidFill>
                  <a:srgbClr val="FEFB00"/>
                </a:solidFill>
                <a:latin typeface="Courier New"/>
                <a:cs typeface="Courier New"/>
              </a:rPr>
              <a:t>$x;</a:t>
            </a:r>
            <a:endParaRPr sz="1721">
              <a:solidFill>
                <a:prstClr val="white"/>
              </a:solidFill>
              <a:latin typeface="Courier New"/>
              <a:cs typeface="Courier New"/>
            </a:endParaRPr>
          </a:p>
          <a:p>
            <a:pPr marL="976784">
              <a:lnSpc>
                <a:spcPts val="3437"/>
              </a:lnSpc>
              <a:spcBef>
                <a:spcPts val="124"/>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F9200"/>
                </a:solidFill>
                <a:latin typeface="Times New Roman"/>
                <a:cs typeface="Times New Roman"/>
              </a:rPr>
              <a:t>print</a:t>
            </a:r>
            <a:r>
              <a:rPr sz="1985" spc="145" dirty="0">
                <a:solidFill>
                  <a:srgbClr val="FF9200"/>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a</a:t>
            </a:r>
            <a:r>
              <a:rPr sz="1985" spc="18"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on</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100" dirty="0">
                <a:solidFill>
                  <a:srgbClr val="FEFFFF"/>
                </a:solidFill>
                <a:latin typeface="Times New Roman"/>
                <a:cs typeface="Times New Roman"/>
              </a:rPr>
              <a:t> </a:t>
            </a:r>
            <a:r>
              <a:rPr sz="1985" dirty="0">
                <a:solidFill>
                  <a:srgbClr val="FEFFFF"/>
                </a:solidFill>
                <a:latin typeface="Times New Roman"/>
                <a:cs typeface="Times New Roman"/>
              </a:rPr>
              <a:t>one                             </a:t>
            </a:r>
            <a:r>
              <a:rPr sz="1985" spc="102" dirty="0">
                <a:solidFill>
                  <a:srgbClr val="FEFFFF"/>
                </a:solidFill>
                <a:latin typeface="Times New Roman"/>
                <a:cs typeface="Times New Roman"/>
              </a:rPr>
              <a:t> </a:t>
            </a:r>
            <a:r>
              <a:rPr sz="2581" baseline="46778" dirty="0">
                <a:solidFill>
                  <a:srgbClr val="FF9200"/>
                </a:solidFill>
                <a:latin typeface="Courier New"/>
                <a:cs typeface="Courier New"/>
              </a:rPr>
              <a:t>print </a:t>
            </a:r>
            <a:r>
              <a:rPr sz="2581" baseline="46778" dirty="0">
                <a:solidFill>
                  <a:srgbClr val="FEFB00"/>
                </a:solidFill>
                <a:latin typeface="Courier New"/>
                <a:cs typeface="Courier New"/>
              </a:rPr>
              <a:t>"\n";</a:t>
            </a:r>
            <a:endParaRPr sz="1721">
              <a:solidFill>
                <a:prstClr val="white"/>
              </a:solidFill>
              <a:latin typeface="Courier New"/>
              <a:cs typeface="Courier New"/>
            </a:endParaRPr>
          </a:p>
          <a:p>
            <a:pPr marL="1387151">
              <a:lnSpc>
                <a:spcPts val="2529"/>
              </a:lnSpc>
              <a:spcBef>
                <a:spcPts val="2007"/>
              </a:spcBef>
            </a:pPr>
            <a:r>
              <a:rPr sz="1985" dirty="0">
                <a:solidFill>
                  <a:srgbClr val="FEFFFF"/>
                </a:solidFill>
                <a:latin typeface="Times New Roman"/>
                <a:cs typeface="Times New Roman"/>
              </a:rPr>
              <a:t>optional</a:t>
            </a:r>
            <a:r>
              <a:rPr sz="1985" spc="52" dirty="0">
                <a:solidFill>
                  <a:srgbClr val="FEFFFF"/>
                </a:solidFill>
                <a:latin typeface="Times New Roman"/>
                <a:cs typeface="Times New Roman"/>
              </a:rPr>
              <a:t> </a:t>
            </a:r>
            <a:r>
              <a:rPr sz="1985" dirty="0">
                <a:solidFill>
                  <a:srgbClr val="FEFFFF"/>
                </a:solidFill>
                <a:latin typeface="Times New Roman"/>
                <a:cs typeface="Times New Roman"/>
              </a:rPr>
              <a:t>so</a:t>
            </a:r>
            <a:r>
              <a:rPr sz="1985" spc="13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can</a:t>
            </a:r>
            <a:r>
              <a:rPr sz="1985" spc="-10" dirty="0">
                <a:solidFill>
                  <a:srgbClr val="FEFFFF"/>
                </a:solidFill>
                <a:latin typeface="Times New Roman"/>
                <a:cs typeface="Times New Roman"/>
              </a:rPr>
              <a:t> </a:t>
            </a:r>
            <a:r>
              <a:rPr sz="1985" dirty="0">
                <a:solidFill>
                  <a:srgbClr val="FEFFFF"/>
                </a:solidFill>
                <a:latin typeface="Times New Roman"/>
                <a:cs typeface="Times New Roman"/>
              </a:rPr>
              <a:t>look</a:t>
            </a:r>
            <a:r>
              <a:rPr sz="1985" spc="52" dirty="0">
                <a:solidFill>
                  <a:srgbClr val="FEFFFF"/>
                </a:solidFill>
                <a:latin typeface="Times New Roman"/>
                <a:cs typeface="Times New Roman"/>
              </a:rPr>
              <a:t> </a:t>
            </a:r>
            <a:r>
              <a:rPr sz="1985" dirty="0">
                <a:solidFill>
                  <a:srgbClr val="FEFFFF"/>
                </a:solidFill>
                <a:latin typeface="Times New Roman"/>
                <a:cs typeface="Times New Roman"/>
              </a:rPr>
              <a:t>li</a:t>
            </a:r>
            <a:r>
              <a:rPr sz="1985" spc="-52" dirty="0">
                <a:solidFill>
                  <a:srgbClr val="FEFFFF"/>
                </a:solidFill>
                <a:latin typeface="Times New Roman"/>
                <a:cs typeface="Times New Roman"/>
              </a:rPr>
              <a:t>k</a:t>
            </a:r>
            <a:r>
              <a:rPr sz="1985" dirty="0">
                <a:solidFill>
                  <a:srgbClr val="FEFFFF"/>
                </a:solidFill>
                <a:latin typeface="Times New Roman"/>
                <a:cs typeface="Times New Roman"/>
              </a:rPr>
              <a:t>e</a:t>
            </a:r>
            <a:r>
              <a:rPr sz="1985" spc="95" dirty="0">
                <a:solidFill>
                  <a:srgbClr val="FEFFFF"/>
                </a:solidFill>
                <a:latin typeface="Times New Roman"/>
                <a:cs typeface="Times New Roman"/>
              </a:rPr>
              <a:t> </a:t>
            </a:r>
            <a:r>
              <a:rPr sz="1985" dirty="0">
                <a:solidFill>
                  <a:srgbClr val="FEFFFF"/>
                </a:solidFill>
                <a:latin typeface="Times New Roman"/>
                <a:cs typeface="Times New Roman"/>
              </a:rPr>
              <a:t>a                      </a:t>
            </a:r>
            <a:r>
              <a:rPr sz="1985" spc="439" dirty="0">
                <a:solidFill>
                  <a:srgbClr val="FEFFFF"/>
                </a:solidFill>
                <a:latin typeface="Times New Roman"/>
                <a:cs typeface="Times New Roman"/>
              </a:rPr>
              <a:t> </a:t>
            </a:r>
            <a:r>
              <a:rPr sz="2581" baseline="-10562" dirty="0">
                <a:solidFill>
                  <a:srgbClr val="FEFB00"/>
                </a:solidFill>
                <a:latin typeface="Courier New"/>
                <a:cs typeface="Courier New"/>
              </a:rPr>
              <a:t>?&gt;</a:t>
            </a:r>
            <a:endParaRPr sz="1721">
              <a:solidFill>
                <a:prstClr val="white"/>
              </a:solidFill>
              <a:latin typeface="Courier New"/>
              <a:cs typeface="Courier New"/>
            </a:endParaRPr>
          </a:p>
        </p:txBody>
      </p:sp>
    </p:spTree>
    <p:extLst>
      <p:ext uri="{BB962C8B-B14F-4D97-AF65-F5344CB8AC3E}">
        <p14:creationId xmlns:p14="http://schemas.microsoft.com/office/powerpoint/2010/main" val="32131429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217185">
              <a:lnSpc>
                <a:spcPct val="95825"/>
              </a:lnSpc>
              <a:spcBef>
                <a:spcPts val="2647"/>
              </a:spcBef>
            </a:pPr>
            <a:r>
              <a:rPr sz="4059" dirty="0">
                <a:solidFill>
                  <a:srgbClr val="00F900"/>
                </a:solidFill>
                <a:latin typeface="Times New Roman"/>
                <a:cs typeface="Times New Roman"/>
              </a:rPr>
              <a:t>Whitespace</a:t>
            </a:r>
            <a:r>
              <a:rPr sz="4059" spc="645" dirty="0">
                <a:solidFill>
                  <a:srgbClr val="00F900"/>
                </a:solidFill>
                <a:latin typeface="Times New Roman"/>
                <a:cs typeface="Times New Roman"/>
              </a:rPr>
              <a:t> </a:t>
            </a:r>
            <a:r>
              <a:rPr sz="4059" dirty="0">
                <a:solidFill>
                  <a:srgbClr val="00F900"/>
                </a:solidFill>
                <a:latin typeface="Times New Roman"/>
                <a:cs typeface="Times New Roman"/>
              </a:rPr>
              <a:t>does</a:t>
            </a:r>
            <a:r>
              <a:rPr sz="4059" spc="459" dirty="0">
                <a:solidFill>
                  <a:srgbClr val="00F900"/>
                </a:solidFill>
                <a:latin typeface="Times New Roman"/>
                <a:cs typeface="Times New Roman"/>
              </a:rPr>
              <a:t> </a:t>
            </a:r>
            <a:r>
              <a:rPr sz="4059" dirty="0">
                <a:solidFill>
                  <a:srgbClr val="00F900"/>
                </a:solidFill>
                <a:latin typeface="Times New Roman"/>
                <a:cs typeface="Times New Roman"/>
              </a:rPr>
              <a:t>not</a:t>
            </a:r>
            <a:r>
              <a:rPr sz="4059" spc="542" dirty="0">
                <a:solidFill>
                  <a:srgbClr val="00F900"/>
                </a:solidFill>
                <a:latin typeface="Times New Roman"/>
                <a:cs typeface="Times New Roman"/>
              </a:rPr>
              <a:t> </a:t>
            </a:r>
            <a:r>
              <a:rPr sz="4059" dirty="0">
                <a:solidFill>
                  <a:srgbClr val="00F900"/>
                </a:solidFill>
                <a:latin typeface="Times New Roman"/>
                <a:cs typeface="Times New Roman"/>
              </a:rPr>
              <a:t>matter</a:t>
            </a:r>
            <a:endParaRPr sz="4059">
              <a:solidFill>
                <a:prstClr val="white"/>
              </a:solidFill>
              <a:latin typeface="Times New Roman"/>
              <a:cs typeface="Times New Roman"/>
            </a:endParaRPr>
          </a:p>
          <a:p>
            <a:pPr marL="645617">
              <a:lnSpc>
                <a:spcPct val="94401"/>
              </a:lnSpc>
              <a:spcBef>
                <a:spcPts val="2067"/>
              </a:spcBef>
            </a:pPr>
            <a:r>
              <a:rPr sz="1721" dirty="0">
                <a:solidFill>
                  <a:srgbClr val="FEFB00"/>
                </a:solidFill>
                <a:latin typeface="Courier New"/>
                <a:cs typeface="Courier New"/>
              </a:rPr>
              <a:t>&lt;?php</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$ans = 42;</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if ( $ans == 42 ) {</a:t>
            </a:r>
            <a:endParaRPr sz="1721">
              <a:solidFill>
                <a:prstClr val="white"/>
              </a:solidFill>
              <a:latin typeface="Courier New"/>
              <a:cs typeface="Courier New"/>
            </a:endParaRPr>
          </a:p>
          <a:p>
            <a:pPr marL="1563139">
              <a:lnSpc>
                <a:spcPct val="94401"/>
              </a:lnSpc>
              <a:spcBef>
                <a:spcPts val="132"/>
              </a:spcBef>
            </a:pPr>
            <a:r>
              <a:rPr sz="1721" dirty="0">
                <a:solidFill>
                  <a:srgbClr val="FEFB00"/>
                </a:solidFill>
                <a:latin typeface="Courier New"/>
                <a:cs typeface="Courier New"/>
              </a:rPr>
              <a:t>print "Hello world!\n";</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 else {</a:t>
            </a:r>
            <a:endParaRPr sz="1721">
              <a:solidFill>
                <a:prstClr val="white"/>
              </a:solidFill>
              <a:latin typeface="Courier New"/>
              <a:cs typeface="Courier New"/>
            </a:endParaRPr>
          </a:p>
          <a:p>
            <a:pPr marL="1563139">
              <a:lnSpc>
                <a:spcPct val="94401"/>
              </a:lnSpc>
              <a:spcBef>
                <a:spcPts val="132"/>
              </a:spcBef>
            </a:pPr>
            <a:r>
              <a:rPr sz="1721" dirty="0">
                <a:solidFill>
                  <a:srgbClr val="FEFB00"/>
                </a:solidFill>
                <a:latin typeface="Courier New"/>
                <a:cs typeface="Courier New"/>
              </a:rPr>
              <a:t>print "Wrong answer\n";</a:t>
            </a:r>
            <a:endParaRPr sz="1721">
              <a:solidFill>
                <a:prstClr val="white"/>
              </a:solidFill>
              <a:latin typeface="Courier New"/>
              <a:cs typeface="Courier New"/>
            </a:endParaRPr>
          </a:p>
          <a:p>
            <a:pPr marL="1169915">
              <a:lnSpc>
                <a:spcPct val="94401"/>
              </a:lnSpc>
              <a:spcBef>
                <a:spcPts val="132"/>
              </a:spcBef>
            </a:pPr>
            <a:r>
              <a:rPr sz="1721" dirty="0">
                <a:solidFill>
                  <a:srgbClr val="FEFB00"/>
                </a:solidFill>
                <a:latin typeface="Courier New"/>
                <a:cs typeface="Courier New"/>
              </a:rPr>
              <a:t>}</a:t>
            </a:r>
            <a:endParaRPr sz="1721">
              <a:solidFill>
                <a:prstClr val="white"/>
              </a:solidFill>
              <a:latin typeface="Courier New"/>
              <a:cs typeface="Courier New"/>
            </a:endParaRPr>
          </a:p>
          <a:p>
            <a:pPr marL="645617">
              <a:lnSpc>
                <a:spcPct val="94401"/>
              </a:lnSpc>
              <a:spcBef>
                <a:spcPts val="132"/>
              </a:spcBef>
            </a:pPr>
            <a:r>
              <a:rPr sz="1721" dirty="0">
                <a:solidFill>
                  <a:srgbClr val="FEFB00"/>
                </a:solidFill>
                <a:latin typeface="Courier New"/>
                <a:cs typeface="Courier New"/>
              </a:rPr>
              <a:t>?&gt;</a:t>
            </a:r>
            <a:endParaRPr sz="1721">
              <a:solidFill>
                <a:prstClr val="white"/>
              </a:solidFill>
              <a:latin typeface="Courier New"/>
              <a:cs typeface="Courier New"/>
            </a:endParaRPr>
          </a:p>
          <a:p>
            <a:pPr marL="625986">
              <a:lnSpc>
                <a:spcPct val="94401"/>
              </a:lnSpc>
              <a:spcBef>
                <a:spcPts val="2428"/>
              </a:spcBef>
            </a:pPr>
            <a:r>
              <a:rPr sz="1721" dirty="0">
                <a:solidFill>
                  <a:srgbClr val="FF9200"/>
                </a:solidFill>
                <a:latin typeface="Courier New"/>
                <a:cs typeface="Courier New"/>
              </a:rPr>
              <a:t>&lt;?php $ans = 42; if ( $ans == 42 ) { print</a:t>
            </a:r>
            <a:endParaRPr sz="1721">
              <a:solidFill>
                <a:prstClr val="white"/>
              </a:solidFill>
              <a:latin typeface="Courier New"/>
              <a:cs typeface="Courier New"/>
            </a:endParaRPr>
          </a:p>
          <a:p>
            <a:pPr marL="625986">
              <a:lnSpc>
                <a:spcPct val="94401"/>
              </a:lnSpc>
              <a:spcBef>
                <a:spcPts val="132"/>
              </a:spcBef>
            </a:pPr>
            <a:r>
              <a:rPr sz="1721" dirty="0">
                <a:solidFill>
                  <a:srgbClr val="FF9200"/>
                </a:solidFill>
                <a:latin typeface="Courier New"/>
                <a:cs typeface="Courier New"/>
              </a:rPr>
              <a:t>"Hello world!\n"; } else { print "Wrong answer\n"; }</a:t>
            </a:r>
            <a:endParaRPr sz="1721">
              <a:solidFill>
                <a:prstClr val="white"/>
              </a:solidFill>
              <a:latin typeface="Courier New"/>
              <a:cs typeface="Courier New"/>
            </a:endParaRPr>
          </a:p>
          <a:p>
            <a:pPr marL="625986">
              <a:lnSpc>
                <a:spcPct val="94401"/>
              </a:lnSpc>
              <a:spcBef>
                <a:spcPts val="132"/>
              </a:spcBef>
            </a:pPr>
            <a:r>
              <a:rPr sz="1721" dirty="0">
                <a:solidFill>
                  <a:srgbClr val="FF9200"/>
                </a:solidFill>
                <a:latin typeface="Courier New"/>
                <a:cs typeface="Courier New"/>
              </a:rPr>
              <a:t>?&gt;</a:t>
            </a:r>
            <a:endParaRPr sz="1721">
              <a:solidFill>
                <a:prstClr val="white"/>
              </a:solidFill>
              <a:latin typeface="Courier New"/>
              <a:cs typeface="Courier New"/>
            </a:endParaRPr>
          </a:p>
        </p:txBody>
      </p:sp>
    </p:spTree>
    <p:extLst>
      <p:ext uri="{BB962C8B-B14F-4D97-AF65-F5344CB8AC3E}">
        <p14:creationId xmlns:p14="http://schemas.microsoft.com/office/powerpoint/2010/main" val="64940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502041">
              <a:lnSpc>
                <a:spcPct val="95825"/>
              </a:lnSpc>
              <a:spcBef>
                <a:spcPts val="2647"/>
              </a:spcBef>
            </a:pPr>
            <a:r>
              <a:rPr sz="4059" dirty="0">
                <a:solidFill>
                  <a:srgbClr val="00F900"/>
                </a:solidFill>
                <a:latin typeface="Times New Roman"/>
                <a:cs typeface="Times New Roman"/>
              </a:rPr>
              <a:t>What</a:t>
            </a:r>
            <a:r>
              <a:rPr sz="4059" spc="645" dirty="0">
                <a:solidFill>
                  <a:srgbClr val="00F900"/>
                </a:solidFill>
                <a:latin typeface="Times New Roman"/>
                <a:cs typeface="Times New Roman"/>
              </a:rPr>
              <a:t> </a:t>
            </a:r>
            <a:r>
              <a:rPr sz="4059" dirty="0">
                <a:solidFill>
                  <a:srgbClr val="00F900"/>
                </a:solidFill>
                <a:latin typeface="Times New Roman"/>
                <a:cs typeface="Times New Roman"/>
              </a:rPr>
              <a:t>Style</a:t>
            </a:r>
            <a:r>
              <a:rPr sz="4059" spc="-394" dirty="0">
                <a:solidFill>
                  <a:srgbClr val="00F900"/>
                </a:solidFill>
                <a:latin typeface="Times New Roman"/>
                <a:cs typeface="Times New Roman"/>
              </a:rPr>
              <a:t> </a:t>
            </a:r>
            <a:r>
              <a:rPr sz="4059" dirty="0">
                <a:solidFill>
                  <a:srgbClr val="00F900"/>
                </a:solidFill>
                <a:latin typeface="Times New Roman"/>
                <a:cs typeface="Times New Roman"/>
              </a:rPr>
              <a:t>do</a:t>
            </a:r>
            <a:r>
              <a:rPr sz="4059" spc="-250" dirty="0">
                <a:solidFill>
                  <a:srgbClr val="00F900"/>
                </a:solidFill>
                <a:latin typeface="Times New Roman"/>
                <a:cs typeface="Times New Roman"/>
              </a:rPr>
              <a:t> </a:t>
            </a:r>
            <a:r>
              <a:rPr sz="4059" spc="-540" dirty="0">
                <a:solidFill>
                  <a:srgbClr val="00F900"/>
                </a:solidFill>
                <a:latin typeface="Times New Roman"/>
                <a:cs typeface="Times New Roman"/>
              </a:rPr>
              <a:t>Y</a:t>
            </a:r>
            <a:r>
              <a:rPr sz="4059" dirty="0">
                <a:solidFill>
                  <a:srgbClr val="00F900"/>
                </a:solidFill>
                <a:latin typeface="Times New Roman"/>
                <a:cs typeface="Times New Roman"/>
              </a:rPr>
              <a:t>ou</a:t>
            </a:r>
            <a:r>
              <a:rPr sz="4059" spc="191" dirty="0">
                <a:solidFill>
                  <a:srgbClr val="00F900"/>
                </a:solidFill>
                <a:latin typeface="Times New Roman"/>
                <a:cs typeface="Times New Roman"/>
              </a:rPr>
              <a:t> </a:t>
            </a:r>
            <a:r>
              <a:rPr sz="4059" dirty="0">
                <a:solidFill>
                  <a:srgbClr val="00F900"/>
                </a:solidFill>
                <a:latin typeface="Times New Roman"/>
                <a:cs typeface="Times New Roman"/>
              </a:rPr>
              <a:t>P</a:t>
            </a:r>
            <a:r>
              <a:rPr sz="4059" spc="-79" dirty="0">
                <a:solidFill>
                  <a:srgbClr val="00F900"/>
                </a:solidFill>
                <a:latin typeface="Times New Roman"/>
                <a:cs typeface="Times New Roman"/>
              </a:rPr>
              <a:t>r</a:t>
            </a:r>
            <a:r>
              <a:rPr sz="4059" dirty="0">
                <a:solidFill>
                  <a:srgbClr val="00F900"/>
                </a:solidFill>
                <a:latin typeface="Times New Roman"/>
                <a:cs typeface="Times New Roman"/>
              </a:rPr>
              <a:t>e</a:t>
            </a:r>
            <a:r>
              <a:rPr sz="4059" spc="-39" dirty="0">
                <a:solidFill>
                  <a:srgbClr val="00F900"/>
                </a:solidFill>
                <a:latin typeface="Times New Roman"/>
                <a:cs typeface="Times New Roman"/>
              </a:rPr>
              <a:t>f</a:t>
            </a:r>
            <a:r>
              <a:rPr sz="4059" dirty="0">
                <a:solidFill>
                  <a:srgbClr val="00F900"/>
                </a:solidFill>
                <a:latin typeface="Times New Roman"/>
                <a:cs typeface="Times New Roman"/>
              </a:rPr>
              <a:t>er?</a:t>
            </a:r>
            <a:endParaRPr sz="4059">
              <a:solidFill>
                <a:prstClr val="white"/>
              </a:solidFill>
              <a:latin typeface="Times New Roman"/>
              <a:cs typeface="Times New Roman"/>
            </a:endParaRPr>
          </a:p>
          <a:p>
            <a:pPr marL="4278241" marR="3477598" algn="ctr">
              <a:lnSpc>
                <a:spcPct val="94401"/>
              </a:lnSpc>
              <a:spcBef>
                <a:spcPts val="3630"/>
              </a:spcBef>
            </a:pPr>
            <a:r>
              <a:rPr sz="1721" dirty="0">
                <a:solidFill>
                  <a:srgbClr val="FEFB00"/>
                </a:solidFill>
                <a:latin typeface="Courier New"/>
                <a:cs typeface="Courier New"/>
              </a:rPr>
              <a:t>&lt;?php</a:t>
            </a:r>
            <a:endParaRPr sz="1721">
              <a:solidFill>
                <a:prstClr val="white"/>
              </a:solidFill>
              <a:latin typeface="Courier New"/>
              <a:cs typeface="Courier New"/>
            </a:endParaRPr>
          </a:p>
          <a:p>
            <a:pPr marL="4830127">
              <a:lnSpc>
                <a:spcPct val="94401"/>
              </a:lnSpc>
              <a:spcBef>
                <a:spcPts val="132"/>
              </a:spcBef>
            </a:pPr>
            <a:r>
              <a:rPr sz="1721" dirty="0">
                <a:solidFill>
                  <a:srgbClr val="FEFB00"/>
                </a:solidFill>
                <a:latin typeface="Courier New"/>
                <a:cs typeface="Courier New"/>
              </a:rPr>
              <a:t>$ans = 42;</a:t>
            </a:r>
            <a:endParaRPr sz="1721">
              <a:solidFill>
                <a:prstClr val="white"/>
              </a:solidFill>
              <a:latin typeface="Courier New"/>
              <a:cs typeface="Courier New"/>
            </a:endParaRPr>
          </a:p>
          <a:p>
            <a:pPr marL="116111">
              <a:lnSpc>
                <a:spcPts val="2087"/>
              </a:lnSpc>
              <a:spcBef>
                <a:spcPts val="104"/>
              </a:spcBef>
            </a:pPr>
            <a:r>
              <a:rPr sz="2581" baseline="10562" dirty="0">
                <a:solidFill>
                  <a:srgbClr val="FEFB00"/>
                </a:solidFill>
                <a:latin typeface="Courier New"/>
                <a:cs typeface="Courier New"/>
              </a:rPr>
              <a:t>&lt;?php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if ( $ans == 42 )</a:t>
            </a:r>
            <a:endParaRPr sz="1721">
              <a:solidFill>
                <a:prstClr val="white"/>
              </a:solidFill>
              <a:latin typeface="Courier New"/>
              <a:cs typeface="Courier New"/>
            </a:endParaRPr>
          </a:p>
          <a:p>
            <a:pPr marL="640409">
              <a:lnSpc>
                <a:spcPts val="2096"/>
              </a:lnSpc>
            </a:pPr>
            <a:r>
              <a:rPr sz="2581" baseline="10562" dirty="0">
                <a:solidFill>
                  <a:srgbClr val="FEFB00"/>
                </a:solidFill>
                <a:latin typeface="Courier New"/>
                <a:cs typeface="Courier New"/>
              </a:rPr>
              <a:t>$ans = 42;                    </a:t>
            </a:r>
            <a:r>
              <a:rPr sz="2581" spc="987"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640409">
              <a:lnSpc>
                <a:spcPts val="2074"/>
              </a:lnSpc>
            </a:pPr>
            <a:r>
              <a:rPr sz="2581" baseline="10562" dirty="0">
                <a:solidFill>
                  <a:srgbClr val="FEFB00"/>
                </a:solidFill>
                <a:latin typeface="Courier New"/>
                <a:cs typeface="Courier New"/>
              </a:rPr>
              <a:t>if ( $ans == 42 ) {              </a:t>
            </a:r>
            <a:r>
              <a:rPr sz="2581" spc="987" baseline="10562" dirty="0">
                <a:solidFill>
                  <a:srgbClr val="FEFB00"/>
                </a:solidFill>
                <a:latin typeface="Courier New"/>
                <a:cs typeface="Courier New"/>
              </a:rPr>
              <a:t> </a:t>
            </a:r>
            <a:r>
              <a:rPr sz="2581" baseline="3017" dirty="0">
                <a:solidFill>
                  <a:srgbClr val="FEFB00"/>
                </a:solidFill>
                <a:latin typeface="Courier New"/>
                <a:cs typeface="Courier New"/>
              </a:rPr>
              <a:t>print "Hello world!\n";</a:t>
            </a:r>
            <a:endParaRPr sz="1721">
              <a:solidFill>
                <a:prstClr val="white"/>
              </a:solidFill>
              <a:latin typeface="Courier New"/>
              <a:cs typeface="Courier New"/>
            </a:endParaRPr>
          </a:p>
          <a:p>
            <a:pPr marL="1004059" marR="3475720" algn="ctr">
              <a:lnSpc>
                <a:spcPts val="2096"/>
              </a:lnSpc>
              <a:spcBef>
                <a:spcPts val="1"/>
              </a:spcBef>
            </a:pPr>
            <a:r>
              <a:rPr sz="2581" baseline="10562" dirty="0">
                <a:solidFill>
                  <a:srgbClr val="FEFB00"/>
                </a:solidFill>
                <a:latin typeface="Courier New"/>
                <a:cs typeface="Courier New"/>
              </a:rPr>
              <a:t>print "Hello world!\n";    </a:t>
            </a:r>
            <a:r>
              <a:rPr sz="2581" spc="993"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640409">
              <a:lnSpc>
                <a:spcPts val="2087"/>
              </a:lnSpc>
            </a:pPr>
            <a:r>
              <a:rPr sz="2581" baseline="10562" dirty="0">
                <a:solidFill>
                  <a:srgbClr val="FEFB00"/>
                </a:solidFill>
                <a:latin typeface="Courier New"/>
                <a:cs typeface="Courier New"/>
              </a:rPr>
              <a:t>} else {                      </a:t>
            </a:r>
            <a:r>
              <a:rPr sz="2581" spc="987" baseline="10562" dirty="0">
                <a:solidFill>
                  <a:srgbClr val="FEFB00"/>
                </a:solidFill>
                <a:latin typeface="Courier New"/>
                <a:cs typeface="Courier New"/>
              </a:rPr>
              <a:t> </a:t>
            </a:r>
            <a:r>
              <a:rPr sz="2581" baseline="4526" dirty="0">
                <a:solidFill>
                  <a:srgbClr val="FEFB00"/>
                </a:solidFill>
                <a:latin typeface="Courier New"/>
                <a:cs typeface="Courier New"/>
              </a:rPr>
              <a:t>else</a:t>
            </a:r>
            <a:endParaRPr sz="1721">
              <a:solidFill>
                <a:prstClr val="white"/>
              </a:solidFill>
              <a:latin typeface="Courier New"/>
              <a:cs typeface="Courier New"/>
            </a:endParaRPr>
          </a:p>
          <a:p>
            <a:pPr marL="1004059" marR="3511528" algn="ctr">
              <a:lnSpc>
                <a:spcPts val="2087"/>
              </a:lnSpc>
            </a:pPr>
            <a:r>
              <a:rPr sz="2581" baseline="10562" dirty="0">
                <a:solidFill>
                  <a:srgbClr val="FEFB00"/>
                </a:solidFill>
                <a:latin typeface="Courier New"/>
                <a:cs typeface="Courier New"/>
              </a:rPr>
              <a:t>print "Wrong answer\n";    </a:t>
            </a:r>
            <a:r>
              <a:rPr sz="2581" spc="709" baseline="10562" dirty="0">
                <a:solidFill>
                  <a:srgbClr val="FEFB00"/>
                </a:solidFill>
                <a:latin typeface="Courier New"/>
                <a:cs typeface="Courier New"/>
              </a:rPr>
              <a:t> </a:t>
            </a:r>
            <a:r>
              <a:rPr sz="2581" baseline="4526" dirty="0">
                <a:solidFill>
                  <a:srgbClr val="FEFB00"/>
                </a:solidFill>
                <a:latin typeface="Courier New"/>
                <a:cs typeface="Courier New"/>
              </a:rPr>
              <a:t>{</a:t>
            </a:r>
            <a:endParaRPr sz="1721">
              <a:solidFill>
                <a:prstClr val="white"/>
              </a:solidFill>
              <a:latin typeface="Courier New"/>
              <a:cs typeface="Courier New"/>
            </a:endParaRPr>
          </a:p>
          <a:p>
            <a:pPr marL="640409">
              <a:lnSpc>
                <a:spcPts val="2074"/>
              </a:lnSpc>
            </a:pPr>
            <a:r>
              <a:rPr sz="2581" baseline="10562" dirty="0">
                <a:solidFill>
                  <a:srgbClr val="FEFB00"/>
                </a:solidFill>
                <a:latin typeface="Courier New"/>
                <a:cs typeface="Courier New"/>
              </a:rPr>
              <a:t>}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print "Wrong answer\n";</a:t>
            </a:r>
            <a:endParaRPr sz="1721">
              <a:solidFill>
                <a:prstClr val="white"/>
              </a:solidFill>
              <a:latin typeface="Courier New"/>
              <a:cs typeface="Courier New"/>
            </a:endParaRPr>
          </a:p>
          <a:p>
            <a:pPr marL="116111">
              <a:lnSpc>
                <a:spcPts val="2096"/>
              </a:lnSpc>
              <a:spcBef>
                <a:spcPts val="1"/>
              </a:spcBef>
            </a:pPr>
            <a:r>
              <a:rPr sz="2581" baseline="10562" dirty="0">
                <a:solidFill>
                  <a:srgbClr val="FEFB00"/>
                </a:solidFill>
                <a:latin typeface="Courier New"/>
                <a:cs typeface="Courier New"/>
              </a:rPr>
              <a:t>?&gt;                                </a:t>
            </a:r>
            <a:r>
              <a:rPr sz="2581" spc="983" baseline="10562" dirty="0">
                <a:solidFill>
                  <a:srgbClr val="FEFB00"/>
                </a:solidFill>
                <a:latin typeface="Courier New"/>
                <a:cs typeface="Courier New"/>
              </a:rPr>
              <a:t> </a:t>
            </a:r>
            <a:r>
              <a:rPr sz="2581" baseline="3017" dirty="0">
                <a:solidFill>
                  <a:srgbClr val="FEFB00"/>
                </a:solidFill>
                <a:latin typeface="Courier New"/>
                <a:cs typeface="Courier New"/>
              </a:rPr>
              <a:t>}</a:t>
            </a:r>
            <a:endParaRPr sz="1721">
              <a:solidFill>
                <a:prstClr val="white"/>
              </a:solidFill>
              <a:latin typeface="Courier New"/>
              <a:cs typeface="Courier New"/>
            </a:endParaRPr>
          </a:p>
          <a:p>
            <a:pPr marL="4272876" marR="3865523" algn="ctr">
              <a:lnSpc>
                <a:spcPct val="94401"/>
              </a:lnSpc>
              <a:spcBef>
                <a:spcPts val="19"/>
              </a:spcBef>
            </a:pPr>
            <a:r>
              <a:rPr sz="1721" dirty="0">
                <a:solidFill>
                  <a:srgbClr val="FEFB00"/>
                </a:solidFill>
                <a:latin typeface="Courier New"/>
                <a:cs typeface="Courier New"/>
              </a:rPr>
              <a:t>?&gt;</a:t>
            </a:r>
            <a:endParaRPr sz="1721">
              <a:solidFill>
                <a:prstClr val="white"/>
              </a:solidFill>
              <a:latin typeface="Courier New"/>
              <a:cs typeface="Courier New"/>
            </a:endParaRPr>
          </a:p>
          <a:p>
            <a:pPr marL="1108621">
              <a:lnSpc>
                <a:spcPts val="2100"/>
              </a:lnSpc>
              <a:spcBef>
                <a:spcPts val="105"/>
              </a:spcBef>
            </a:pPr>
            <a:r>
              <a:rPr sz="1985" dirty="0">
                <a:solidFill>
                  <a:srgbClr val="FEFFFF"/>
                </a:solidFill>
                <a:latin typeface="Times New Roman"/>
                <a:cs typeface="Times New Roman"/>
              </a:rPr>
              <a:t>Aesthetics</a:t>
            </a:r>
            <a:endParaRPr sz="1985">
              <a:solidFill>
                <a:prstClr val="white"/>
              </a:solidFill>
              <a:latin typeface="Times New Roman"/>
              <a:cs typeface="Times New Roman"/>
            </a:endParaRPr>
          </a:p>
        </p:txBody>
      </p:sp>
    </p:spTree>
    <p:extLst>
      <p:ext uri="{BB962C8B-B14F-4D97-AF65-F5344CB8AC3E}">
        <p14:creationId xmlns:p14="http://schemas.microsoft.com/office/powerpoint/2010/main" val="1649506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1714850" y="2835309"/>
            <a:ext cx="2177798"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most</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26" dirty="0">
                <a:solidFill>
                  <a:srgbClr val="FEFFFF"/>
                </a:solidFill>
                <a:latin typeface="Times New Roman"/>
                <a:cs typeface="Times New Roman"/>
              </a:rPr>
              <a:t> </a:t>
            </a:r>
            <a:r>
              <a:rPr sz="1985" spc="-17" dirty="0">
                <a:solidFill>
                  <a:srgbClr val="FEFFFF"/>
                </a:solidFill>
                <a:latin typeface="Times New Roman"/>
                <a:cs typeface="Times New Roman"/>
              </a:rPr>
              <a:t>f</a:t>
            </a:r>
            <a:r>
              <a:rPr sz="1985" dirty="0">
                <a:solidFill>
                  <a:srgbClr val="FEFFFF"/>
                </a:solidFill>
                <a:latin typeface="Times New Roman"/>
                <a:cs typeface="Times New Roman"/>
              </a:rPr>
              <a:t>or</a:t>
            </a:r>
            <a:r>
              <a:rPr sz="1985" spc="52" dirty="0">
                <a:solidFill>
                  <a:srgbClr val="FEFFFF"/>
                </a:solidFill>
                <a:latin typeface="Times New Roman"/>
                <a:cs typeface="Times New Roman"/>
              </a:rPr>
              <a:t> </a:t>
            </a:r>
            <a:r>
              <a:rPr sz="1985" dirty="0">
                <a:solidFill>
                  <a:srgbClr val="FEFFFF"/>
                </a:solidFill>
                <a:latin typeface="Times New Roman"/>
                <a:cs typeface="Times New Roman"/>
              </a:rPr>
              <a:t>debugging</a:t>
            </a:r>
            <a:endParaRPr sz="1985">
              <a:solidFill>
                <a:prstClr val="white"/>
              </a:solidFill>
              <a:latin typeface="Times New Roman"/>
              <a:cs typeface="Times New Roman"/>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342868">
              <a:lnSpc>
                <a:spcPct val="95825"/>
              </a:lnSpc>
              <a:spcBef>
                <a:spcPts val="2647"/>
              </a:spcBef>
            </a:pPr>
            <a:r>
              <a:rPr sz="4059" dirty="0">
                <a:solidFill>
                  <a:srgbClr val="00F900"/>
                </a:solidFill>
                <a:latin typeface="Times New Roman"/>
                <a:cs typeface="Times New Roman"/>
              </a:rPr>
              <a:t>Dumping</a:t>
            </a:r>
            <a:r>
              <a:rPr sz="4059" spc="218" dirty="0">
                <a:solidFill>
                  <a:srgbClr val="00F900"/>
                </a:solidFill>
                <a:latin typeface="Times New Roman"/>
                <a:cs typeface="Times New Roman"/>
              </a:rPr>
              <a:t> </a:t>
            </a:r>
            <a:r>
              <a:rPr sz="4059" dirty="0">
                <a:solidFill>
                  <a:srgbClr val="00F900"/>
                </a:solidFill>
                <a:latin typeface="Times New Roman"/>
                <a:cs typeface="Times New Roman"/>
              </a:rPr>
              <a:t>an</a:t>
            </a:r>
            <a:r>
              <a:rPr sz="4059" spc="-363" dirty="0">
                <a:solidFill>
                  <a:srgbClr val="00F900"/>
                </a:solidFill>
                <a:latin typeface="Times New Roman"/>
                <a:cs typeface="Times New Roman"/>
              </a:rPr>
              <a:t> </a:t>
            </a:r>
            <a:r>
              <a:rPr sz="4059" dirty="0">
                <a:solidFill>
                  <a:srgbClr val="00F900"/>
                </a:solidFill>
                <a:latin typeface="Times New Roman"/>
                <a:cs typeface="Times New Roman"/>
              </a:rPr>
              <a:t>A</a:t>
            </a:r>
            <a:r>
              <a:rPr sz="4059" spc="-39" dirty="0">
                <a:solidFill>
                  <a:srgbClr val="00F900"/>
                </a:solidFill>
                <a:latin typeface="Times New Roman"/>
                <a:cs typeface="Times New Roman"/>
              </a:rPr>
              <a:t>r</a:t>
            </a:r>
            <a:r>
              <a:rPr sz="4059" dirty="0">
                <a:solidFill>
                  <a:srgbClr val="00F900"/>
                </a:solidFill>
                <a:latin typeface="Times New Roman"/>
                <a:cs typeface="Times New Roman"/>
              </a:rPr>
              <a:t>r</a:t>
            </a:r>
            <a:r>
              <a:rPr sz="4059" spc="-162" dirty="0">
                <a:solidFill>
                  <a:srgbClr val="00F900"/>
                </a:solidFill>
                <a:latin typeface="Times New Roman"/>
                <a:cs typeface="Times New Roman"/>
              </a:rPr>
              <a:t>a</a:t>
            </a:r>
            <a:r>
              <a:rPr sz="4059" dirty="0">
                <a:solidFill>
                  <a:srgbClr val="00F900"/>
                </a:solidFill>
                <a:latin typeface="Times New Roman"/>
                <a:cs typeface="Times New Roman"/>
              </a:rPr>
              <a:t>y</a:t>
            </a:r>
            <a:endParaRPr sz="4059" dirty="0">
              <a:solidFill>
                <a:prstClr val="white"/>
              </a:solidFill>
              <a:latin typeface="Times New Roman"/>
              <a:cs typeface="Times New Roman"/>
            </a:endParaRPr>
          </a:p>
          <a:p>
            <a:pPr marL="976784">
              <a:lnSpc>
                <a:spcPts val="3370"/>
              </a:lnSpc>
              <a:spcBef>
                <a:spcPts val="2887"/>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The</a:t>
            </a:r>
            <a:r>
              <a:rPr sz="1985" spc="83"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print_r()</a:t>
            </a:r>
            <a:r>
              <a:rPr sz="1985" spc="321" dirty="0">
                <a:solidFill>
                  <a:srgbClr val="FEFFFF"/>
                </a:solidFill>
                <a:latin typeface="Times New Roman"/>
                <a:cs typeface="Times New Roman"/>
              </a:rPr>
              <a:t> </a:t>
            </a:r>
            <a:r>
              <a:rPr sz="1985" dirty="0">
                <a:solidFill>
                  <a:srgbClr val="FEFFFF"/>
                </a:solidFill>
                <a:latin typeface="Times New Roman"/>
                <a:cs typeface="Times New Roman"/>
              </a:rPr>
              <a:t>dumps</a:t>
            </a:r>
            <a:r>
              <a:rPr sz="1985" spc="19" dirty="0">
                <a:solidFill>
                  <a:srgbClr val="FEFFFF"/>
                </a:solidFill>
                <a:latin typeface="Times New Roman"/>
                <a:cs typeface="Times New Roman"/>
              </a:rPr>
              <a:t> </a:t>
            </a:r>
            <a:r>
              <a:rPr sz="1985" dirty="0">
                <a:solidFill>
                  <a:srgbClr val="FEFFFF"/>
                </a:solidFill>
                <a:latin typeface="Times New Roman"/>
                <a:cs typeface="Times New Roman"/>
              </a:rPr>
              <a:t>out</a:t>
            </a:r>
            <a:r>
              <a:rPr sz="1985" spc="244" dirty="0">
                <a:solidFill>
                  <a:srgbClr val="FEFFFF"/>
                </a:solidFill>
                <a:latin typeface="Times New Roman"/>
                <a:cs typeface="Times New Roman"/>
              </a:rPr>
              <a:t> </a:t>
            </a:r>
            <a:r>
              <a:rPr sz="1985" dirty="0">
                <a:solidFill>
                  <a:srgbClr val="FEFFFF"/>
                </a:solidFill>
                <a:latin typeface="Times New Roman"/>
                <a:cs typeface="Times New Roman"/>
              </a:rPr>
              <a:t>PHP</a:t>
            </a:r>
            <a:r>
              <a:rPr sz="1985" spc="-147" dirty="0">
                <a:solidFill>
                  <a:srgbClr val="FEFFFF"/>
                </a:solidFill>
                <a:latin typeface="Times New Roman"/>
                <a:cs typeface="Times New Roman"/>
              </a:rPr>
              <a:t> </a:t>
            </a:r>
            <a:r>
              <a:rPr sz="1985" dirty="0">
                <a:solidFill>
                  <a:srgbClr val="FEFFFF"/>
                </a:solidFill>
                <a:latin typeface="Times New Roman"/>
                <a:cs typeface="Times New Roman"/>
              </a:rPr>
              <a:t>data</a:t>
            </a:r>
            <a:r>
              <a:rPr sz="1985" spc="99"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used</a:t>
            </a:r>
            <a:endParaRPr sz="1985" dirty="0">
              <a:solidFill>
                <a:prstClr val="white"/>
              </a:solidFill>
              <a:latin typeface="Times New Roman"/>
              <a:cs typeface="Times New Roman"/>
            </a:endParaRPr>
          </a:p>
          <a:p>
            <a:pPr marL="513240">
              <a:lnSpc>
                <a:spcPct val="94401"/>
              </a:lnSpc>
              <a:spcBef>
                <a:spcPts val="3868"/>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3003658" marR="2672945" indent="-2097194">
              <a:lnSpc>
                <a:spcPts val="1948"/>
              </a:lnSpc>
              <a:spcBef>
                <a:spcPts val="172"/>
              </a:spcBef>
              <a:tabLst>
                <a:tab pos="1815450" algn="l"/>
                <a:tab pos="4180017" algn="l"/>
              </a:tabLst>
            </a:pPr>
            <a:r>
              <a:rPr sz="1721" dirty="0">
                <a:solidFill>
                  <a:srgbClr val="FEFB00"/>
                </a:solidFill>
                <a:latin typeface="Courier New"/>
                <a:cs typeface="Courier New"/>
              </a:rPr>
              <a:t>$stuff	= array("name" =&gt; "</a:t>
            </a:r>
            <a:r>
              <a:rPr lang="en-US" sz="1721" dirty="0" err="1">
                <a:solidFill>
                  <a:srgbClr val="FEFB00"/>
                </a:solidFill>
                <a:latin typeface="Courier New"/>
                <a:cs typeface="Courier New"/>
              </a:rPr>
              <a:t>Saqib</a:t>
            </a:r>
            <a:r>
              <a:rPr sz="1721" dirty="0">
                <a:solidFill>
                  <a:srgbClr val="FEFB00"/>
                </a:solidFill>
                <a:latin typeface="Courier New"/>
                <a:cs typeface="Courier New"/>
              </a:rPr>
              <a:t>", </a:t>
            </a:r>
            <a:endParaRPr sz="1721" dirty="0">
              <a:solidFill>
                <a:prstClr val="white"/>
              </a:solidFill>
              <a:latin typeface="Courier New"/>
              <a:cs typeface="Courier New"/>
            </a:endParaRPr>
          </a:p>
          <a:p>
            <a:pPr marL="3003658" marR="2672945">
              <a:lnSpc>
                <a:spcPts val="1948"/>
              </a:lnSpc>
              <a:spcBef>
                <a:spcPts val="134"/>
              </a:spcBef>
              <a:tabLst>
                <a:tab pos="1815450" algn="l"/>
                <a:tab pos="4180017" algn="l"/>
              </a:tabLst>
            </a:pPr>
            <a:r>
              <a:rPr sz="1721" dirty="0">
                <a:solidFill>
                  <a:srgbClr val="FEFB00"/>
                </a:solidFill>
                <a:latin typeface="Courier New"/>
                <a:cs typeface="Courier New"/>
              </a:rPr>
              <a:t>"course"	=&gt; "</a:t>
            </a:r>
            <a:r>
              <a:rPr lang="en-US" sz="1721" dirty="0">
                <a:solidFill>
                  <a:srgbClr val="FEFB00"/>
                </a:solidFill>
                <a:latin typeface="Courier New"/>
                <a:cs typeface="Courier New"/>
              </a:rPr>
              <a:t>Web Programming</a:t>
            </a:r>
            <a:r>
              <a:rPr sz="1721" dirty="0">
                <a:solidFill>
                  <a:srgbClr val="FEFB00"/>
                </a:solidFill>
                <a:latin typeface="Courier New"/>
                <a:cs typeface="Courier New"/>
              </a:rPr>
              <a:t>");</a:t>
            </a:r>
            <a:endParaRPr sz="1721" dirty="0">
              <a:solidFill>
                <a:prstClr val="white"/>
              </a:solidFill>
              <a:latin typeface="Courier New"/>
              <a:cs typeface="Courier New"/>
            </a:endParaRPr>
          </a:p>
          <a:p>
            <a:pPr marL="1005761">
              <a:lnSpc>
                <a:spcPts val="1755"/>
              </a:lnSpc>
              <a:spcBef>
                <a:spcPts val="221"/>
              </a:spcBef>
            </a:pPr>
            <a:r>
              <a:rPr sz="2382" baseline="4904" dirty="0">
                <a:solidFill>
                  <a:srgbClr val="FF40FF"/>
                </a:solidFill>
                <a:latin typeface="Courier New"/>
                <a:cs typeface="Courier New"/>
              </a:rPr>
              <a:t>print_r($stuff</a:t>
            </a:r>
            <a:r>
              <a:rPr sz="2382" spc="-4" baseline="4904" dirty="0">
                <a:solidFill>
                  <a:srgbClr val="FF40FF"/>
                </a:solidFill>
                <a:latin typeface="Courier New"/>
                <a:cs typeface="Courier New"/>
              </a:rPr>
              <a:t>)</a:t>
            </a:r>
            <a:r>
              <a:rPr sz="2382" baseline="4904" dirty="0">
                <a:solidFill>
                  <a:srgbClr val="FEFB00"/>
                </a:solidFill>
                <a:latin typeface="Courier New"/>
                <a:cs typeface="Courier New"/>
              </a:rPr>
              <a:t>;</a:t>
            </a:r>
            <a:endParaRPr sz="1588" dirty="0">
              <a:solidFill>
                <a:prstClr val="white"/>
              </a:solidFill>
              <a:latin typeface="Courier New"/>
              <a:cs typeface="Courier New"/>
            </a:endParaRPr>
          </a:p>
          <a:p>
            <a:pPr marL="513240">
              <a:lnSpc>
                <a:spcPts val="2300"/>
              </a:lnSpc>
              <a:spcBef>
                <a:spcPts val="40"/>
              </a:spcBef>
            </a:pPr>
            <a:r>
              <a:rPr sz="2382" baseline="16347" dirty="0">
                <a:solidFill>
                  <a:srgbClr val="FEFB00"/>
                </a:solidFill>
                <a:latin typeface="Courier New"/>
                <a:cs typeface="Courier New"/>
              </a:rPr>
              <a:t>?&gt;                                  </a:t>
            </a:r>
            <a:r>
              <a:rPr sz="2382" spc="164" baseline="16347" dirty="0">
                <a:solidFill>
                  <a:srgbClr val="FEFB00"/>
                </a:solidFill>
                <a:latin typeface="Courier New"/>
                <a:cs typeface="Courier New"/>
              </a:rPr>
              <a:t> </a:t>
            </a:r>
            <a:r>
              <a:rPr sz="1721" dirty="0">
                <a:solidFill>
                  <a:srgbClr val="FF40FF"/>
                </a:solidFill>
                <a:latin typeface="Courier New"/>
                <a:cs typeface="Courier New"/>
              </a:rPr>
              <a:t>Array</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[name] =&gt; </a:t>
            </a:r>
            <a:r>
              <a:rPr lang="en-US" sz="1721" dirty="0" err="1">
                <a:solidFill>
                  <a:srgbClr val="FF40FF"/>
                </a:solidFill>
                <a:latin typeface="Courier New"/>
                <a:cs typeface="Courier New"/>
              </a:rPr>
              <a:t>Saqib</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[course] =&gt; </a:t>
            </a:r>
            <a:r>
              <a:rPr lang="en-US" sz="1721" dirty="0">
                <a:solidFill>
                  <a:srgbClr val="FF40FF"/>
                </a:solidFill>
                <a:latin typeface="Courier New"/>
                <a:cs typeface="Courier New"/>
              </a:rPr>
              <a:t>Web Programming</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4050186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7" name="object 7"/>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5" name="object 5"/>
          <p:cNvSpPr txBox="1"/>
          <p:nvPr/>
        </p:nvSpPr>
        <p:spPr>
          <a:xfrm>
            <a:off x="1714850" y="2835309"/>
            <a:ext cx="2177798" cy="273913"/>
          </a:xfrm>
          <a:prstGeom prst="rect">
            <a:avLst/>
          </a:prstGeom>
        </p:spPr>
        <p:txBody>
          <a:bodyPr wrap="square" lIns="0" tIns="0" rIns="0" bIns="0" rtlCol="0">
            <a:noAutofit/>
          </a:bodyPr>
          <a:lstStyle/>
          <a:p>
            <a:pPr marL="11206">
              <a:lnSpc>
                <a:spcPts val="2100"/>
              </a:lnSpc>
              <a:spcBef>
                <a:spcPts val="105"/>
              </a:spcBef>
            </a:pPr>
            <a:r>
              <a:rPr sz="1985" dirty="0">
                <a:solidFill>
                  <a:srgbClr val="FEFFFF"/>
                </a:solidFill>
                <a:latin typeface="Times New Roman"/>
                <a:cs typeface="Times New Roman"/>
              </a:rPr>
              <a:t>most</a:t>
            </a:r>
            <a:r>
              <a:rPr sz="1985" spc="-17" dirty="0">
                <a:solidFill>
                  <a:srgbClr val="FEFFFF"/>
                </a:solidFill>
                <a:latin typeface="Times New Roman"/>
                <a:cs typeface="Times New Roman"/>
              </a:rPr>
              <a:t>l</a:t>
            </a:r>
            <a:r>
              <a:rPr sz="1985" dirty="0">
                <a:solidFill>
                  <a:srgbClr val="FEFFFF"/>
                </a:solidFill>
                <a:latin typeface="Times New Roman"/>
                <a:cs typeface="Times New Roman"/>
              </a:rPr>
              <a:t>y</a:t>
            </a:r>
            <a:r>
              <a:rPr sz="1985" spc="-26" dirty="0">
                <a:solidFill>
                  <a:srgbClr val="FEFFFF"/>
                </a:solidFill>
                <a:latin typeface="Times New Roman"/>
                <a:cs typeface="Times New Roman"/>
              </a:rPr>
              <a:t> </a:t>
            </a:r>
            <a:r>
              <a:rPr sz="1985" spc="-17" dirty="0">
                <a:solidFill>
                  <a:srgbClr val="FEFFFF"/>
                </a:solidFill>
                <a:latin typeface="Times New Roman"/>
                <a:cs typeface="Times New Roman"/>
              </a:rPr>
              <a:t>f</a:t>
            </a:r>
            <a:r>
              <a:rPr sz="1985" dirty="0">
                <a:solidFill>
                  <a:srgbClr val="FEFFFF"/>
                </a:solidFill>
                <a:latin typeface="Times New Roman"/>
                <a:cs typeface="Times New Roman"/>
              </a:rPr>
              <a:t>or</a:t>
            </a:r>
            <a:r>
              <a:rPr sz="1985" spc="52" dirty="0">
                <a:solidFill>
                  <a:srgbClr val="FEFFFF"/>
                </a:solidFill>
                <a:latin typeface="Times New Roman"/>
                <a:cs typeface="Times New Roman"/>
              </a:rPr>
              <a:t> </a:t>
            </a:r>
            <a:r>
              <a:rPr sz="1985" dirty="0">
                <a:solidFill>
                  <a:srgbClr val="FEFFFF"/>
                </a:solidFill>
                <a:latin typeface="Times New Roman"/>
                <a:cs typeface="Times New Roman"/>
              </a:rPr>
              <a:t>debugging</a:t>
            </a:r>
            <a:endParaRPr sz="1985">
              <a:solidFill>
                <a:prstClr val="white"/>
              </a:solidFill>
              <a:latin typeface="Times New Roman"/>
              <a:cs typeface="Times New Roman"/>
            </a:endParaRPr>
          </a:p>
        </p:txBody>
      </p:sp>
      <p:sp>
        <p:nvSpPr>
          <p:cNvPr id="4" name="object 4"/>
          <p:cNvSpPr txBox="1"/>
          <p:nvPr/>
        </p:nvSpPr>
        <p:spPr>
          <a:xfrm>
            <a:off x="5341775" y="4407164"/>
            <a:ext cx="710618"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Array</a:t>
            </a:r>
            <a:endParaRPr sz="1721">
              <a:solidFill>
                <a:prstClr val="white"/>
              </a:solidFill>
              <a:latin typeface="Courier New"/>
              <a:cs typeface="Courier New"/>
            </a:endParaRPr>
          </a:p>
        </p:txBody>
      </p:sp>
      <p:sp>
        <p:nvSpPr>
          <p:cNvPr id="3" name="object 3"/>
          <p:cNvSpPr txBox="1"/>
          <p:nvPr/>
        </p:nvSpPr>
        <p:spPr>
          <a:xfrm>
            <a:off x="840985" y="4493257"/>
            <a:ext cx="299476" cy="227584"/>
          </a:xfrm>
          <a:prstGeom prst="rect">
            <a:avLst/>
          </a:prstGeom>
        </p:spPr>
        <p:txBody>
          <a:bodyPr wrap="square" lIns="0" tIns="0" rIns="0" bIns="0" rtlCol="0">
            <a:noAutofit/>
          </a:bodyPr>
          <a:lstStyle/>
          <a:p>
            <a:pPr marL="11206">
              <a:lnSpc>
                <a:spcPts val="1782"/>
              </a:lnSpc>
              <a:spcBef>
                <a:spcPts val="89"/>
              </a:spcBef>
            </a:pPr>
            <a:r>
              <a:rPr sz="2382" baseline="4904" dirty="0">
                <a:solidFill>
                  <a:srgbClr val="FEFB00"/>
                </a:solidFill>
                <a:latin typeface="Courier New"/>
                <a:cs typeface="Courier New"/>
              </a:rPr>
              <a:t>?&gt;</a:t>
            </a:r>
            <a:endParaRPr sz="1588">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2342868">
              <a:lnSpc>
                <a:spcPct val="95825"/>
              </a:lnSpc>
              <a:spcBef>
                <a:spcPts val="2647"/>
              </a:spcBef>
            </a:pPr>
            <a:r>
              <a:rPr sz="4059" dirty="0">
                <a:solidFill>
                  <a:srgbClr val="00F900"/>
                </a:solidFill>
                <a:latin typeface="Times New Roman"/>
                <a:cs typeface="Times New Roman"/>
              </a:rPr>
              <a:t>Dumping</a:t>
            </a:r>
            <a:r>
              <a:rPr sz="4059" spc="218" dirty="0">
                <a:solidFill>
                  <a:srgbClr val="00F900"/>
                </a:solidFill>
                <a:latin typeface="Times New Roman"/>
                <a:cs typeface="Times New Roman"/>
              </a:rPr>
              <a:t> </a:t>
            </a:r>
            <a:r>
              <a:rPr sz="4059" dirty="0">
                <a:solidFill>
                  <a:srgbClr val="00F900"/>
                </a:solidFill>
                <a:latin typeface="Times New Roman"/>
                <a:cs typeface="Times New Roman"/>
              </a:rPr>
              <a:t>an</a:t>
            </a:r>
            <a:r>
              <a:rPr sz="4059" spc="-363" dirty="0">
                <a:solidFill>
                  <a:srgbClr val="00F900"/>
                </a:solidFill>
                <a:latin typeface="Times New Roman"/>
                <a:cs typeface="Times New Roman"/>
              </a:rPr>
              <a:t> </a:t>
            </a:r>
            <a:r>
              <a:rPr sz="4059" dirty="0">
                <a:solidFill>
                  <a:srgbClr val="00F900"/>
                </a:solidFill>
                <a:latin typeface="Times New Roman"/>
                <a:cs typeface="Times New Roman"/>
              </a:rPr>
              <a:t>A</a:t>
            </a:r>
            <a:r>
              <a:rPr sz="4059" spc="-39" dirty="0">
                <a:solidFill>
                  <a:srgbClr val="00F900"/>
                </a:solidFill>
                <a:latin typeface="Times New Roman"/>
                <a:cs typeface="Times New Roman"/>
              </a:rPr>
              <a:t>r</a:t>
            </a:r>
            <a:r>
              <a:rPr sz="4059" dirty="0">
                <a:solidFill>
                  <a:srgbClr val="00F900"/>
                </a:solidFill>
                <a:latin typeface="Times New Roman"/>
                <a:cs typeface="Times New Roman"/>
              </a:rPr>
              <a:t>r</a:t>
            </a:r>
            <a:r>
              <a:rPr sz="4059" spc="-162" dirty="0">
                <a:solidFill>
                  <a:srgbClr val="00F900"/>
                </a:solidFill>
                <a:latin typeface="Times New Roman"/>
                <a:cs typeface="Times New Roman"/>
              </a:rPr>
              <a:t>a</a:t>
            </a:r>
            <a:r>
              <a:rPr sz="4059" dirty="0">
                <a:solidFill>
                  <a:srgbClr val="00F900"/>
                </a:solidFill>
                <a:latin typeface="Times New Roman"/>
                <a:cs typeface="Times New Roman"/>
              </a:rPr>
              <a:t>y</a:t>
            </a:r>
            <a:endParaRPr sz="4059" dirty="0">
              <a:solidFill>
                <a:prstClr val="white"/>
              </a:solidFill>
              <a:latin typeface="Times New Roman"/>
              <a:cs typeface="Times New Roman"/>
            </a:endParaRPr>
          </a:p>
          <a:p>
            <a:pPr marL="976784">
              <a:lnSpc>
                <a:spcPts val="3370"/>
              </a:lnSpc>
              <a:spcBef>
                <a:spcPts val="2887"/>
              </a:spcBef>
            </a:pPr>
            <a:r>
              <a:rPr sz="5030" baseline="-8391" dirty="0">
                <a:solidFill>
                  <a:srgbClr val="FEFFFF"/>
                </a:solidFill>
                <a:latin typeface="Times New Roman"/>
                <a:cs typeface="Times New Roman"/>
              </a:rPr>
              <a:t>• </a:t>
            </a:r>
            <a:r>
              <a:rPr sz="5030" spc="380" baseline="-8391" dirty="0">
                <a:solidFill>
                  <a:srgbClr val="FEFFFF"/>
                </a:solidFill>
                <a:latin typeface="Times New Roman"/>
                <a:cs typeface="Times New Roman"/>
              </a:rPr>
              <a:t> </a:t>
            </a:r>
            <a:r>
              <a:rPr sz="1985" dirty="0">
                <a:solidFill>
                  <a:srgbClr val="FEFFFF"/>
                </a:solidFill>
                <a:latin typeface="Times New Roman"/>
                <a:cs typeface="Times New Roman"/>
              </a:rPr>
              <a:t>The</a:t>
            </a:r>
            <a:r>
              <a:rPr sz="1985" spc="83" dirty="0">
                <a:solidFill>
                  <a:srgbClr val="FEFFFF"/>
                </a:solidFill>
                <a:latin typeface="Times New Roman"/>
                <a:cs typeface="Times New Roman"/>
              </a:rPr>
              <a:t> </a:t>
            </a:r>
            <a:r>
              <a:rPr sz="1985" dirty="0">
                <a:solidFill>
                  <a:srgbClr val="FEFFFF"/>
                </a:solidFill>
                <a:latin typeface="Times New Roman"/>
                <a:cs typeface="Times New Roman"/>
              </a:rPr>
              <a:t>function</a:t>
            </a:r>
            <a:r>
              <a:rPr sz="1985" spc="-88" dirty="0">
                <a:solidFill>
                  <a:srgbClr val="FEFFFF"/>
                </a:solidFill>
                <a:latin typeface="Times New Roman"/>
                <a:cs typeface="Times New Roman"/>
              </a:rPr>
              <a:t> </a:t>
            </a:r>
            <a:r>
              <a:rPr sz="1985" dirty="0">
                <a:solidFill>
                  <a:srgbClr val="FEFFFF"/>
                </a:solidFill>
                <a:latin typeface="Times New Roman"/>
                <a:cs typeface="Times New Roman"/>
              </a:rPr>
              <a:t>print_r()</a:t>
            </a:r>
            <a:r>
              <a:rPr sz="1985" spc="321" dirty="0">
                <a:solidFill>
                  <a:srgbClr val="FEFFFF"/>
                </a:solidFill>
                <a:latin typeface="Times New Roman"/>
                <a:cs typeface="Times New Roman"/>
              </a:rPr>
              <a:t> </a:t>
            </a:r>
            <a:r>
              <a:rPr sz="1985" dirty="0">
                <a:solidFill>
                  <a:srgbClr val="FEFFFF"/>
                </a:solidFill>
                <a:latin typeface="Times New Roman"/>
                <a:cs typeface="Times New Roman"/>
              </a:rPr>
              <a:t>dumps</a:t>
            </a:r>
            <a:r>
              <a:rPr sz="1985" spc="19" dirty="0">
                <a:solidFill>
                  <a:srgbClr val="FEFFFF"/>
                </a:solidFill>
                <a:latin typeface="Times New Roman"/>
                <a:cs typeface="Times New Roman"/>
              </a:rPr>
              <a:t> </a:t>
            </a:r>
            <a:r>
              <a:rPr sz="1985" dirty="0">
                <a:solidFill>
                  <a:srgbClr val="FEFFFF"/>
                </a:solidFill>
                <a:latin typeface="Times New Roman"/>
                <a:cs typeface="Times New Roman"/>
              </a:rPr>
              <a:t>out</a:t>
            </a:r>
            <a:r>
              <a:rPr sz="1985" spc="244" dirty="0">
                <a:solidFill>
                  <a:srgbClr val="FEFFFF"/>
                </a:solidFill>
                <a:latin typeface="Times New Roman"/>
                <a:cs typeface="Times New Roman"/>
              </a:rPr>
              <a:t> </a:t>
            </a:r>
            <a:r>
              <a:rPr sz="1985" dirty="0">
                <a:solidFill>
                  <a:srgbClr val="FEFFFF"/>
                </a:solidFill>
                <a:latin typeface="Times New Roman"/>
                <a:cs typeface="Times New Roman"/>
              </a:rPr>
              <a:t>PHP</a:t>
            </a:r>
            <a:r>
              <a:rPr sz="1985" spc="-147" dirty="0">
                <a:solidFill>
                  <a:srgbClr val="FEFFFF"/>
                </a:solidFill>
                <a:latin typeface="Times New Roman"/>
                <a:cs typeface="Times New Roman"/>
              </a:rPr>
              <a:t> </a:t>
            </a:r>
            <a:r>
              <a:rPr sz="1985" dirty="0">
                <a:solidFill>
                  <a:srgbClr val="FEFFFF"/>
                </a:solidFill>
                <a:latin typeface="Times New Roman"/>
                <a:cs typeface="Times New Roman"/>
              </a:rPr>
              <a:t>data</a:t>
            </a:r>
            <a:r>
              <a:rPr sz="1985" spc="99" dirty="0">
                <a:solidFill>
                  <a:srgbClr val="FEFFFF"/>
                </a:solidFill>
                <a:latin typeface="Times New Roman"/>
                <a:cs typeface="Times New Roman"/>
              </a:rPr>
              <a:t> </a:t>
            </a:r>
            <a:r>
              <a:rPr sz="1985" dirty="0">
                <a:solidFill>
                  <a:srgbClr val="FEFFFF"/>
                </a:solidFill>
                <a:latin typeface="Times New Roman"/>
                <a:cs typeface="Times New Roman"/>
              </a:rPr>
              <a:t>-</a:t>
            </a:r>
            <a:r>
              <a:rPr sz="1985" spc="26" dirty="0">
                <a:solidFill>
                  <a:srgbClr val="FEFFFF"/>
                </a:solidFill>
                <a:latin typeface="Times New Roman"/>
                <a:cs typeface="Times New Roman"/>
              </a:rPr>
              <a:t> </a:t>
            </a:r>
            <a:r>
              <a:rPr sz="1985" dirty="0">
                <a:solidFill>
                  <a:srgbClr val="FEFFFF"/>
                </a:solidFill>
                <a:latin typeface="Times New Roman"/>
                <a:cs typeface="Times New Roman"/>
              </a:rPr>
              <a:t>it</a:t>
            </a:r>
            <a:r>
              <a:rPr sz="1985" spc="52" dirty="0">
                <a:solidFill>
                  <a:srgbClr val="FEFFFF"/>
                </a:solidFill>
                <a:latin typeface="Times New Roman"/>
                <a:cs typeface="Times New Roman"/>
              </a:rPr>
              <a:t> </a:t>
            </a:r>
            <a:r>
              <a:rPr sz="1985" dirty="0">
                <a:solidFill>
                  <a:srgbClr val="FEFFFF"/>
                </a:solidFill>
                <a:latin typeface="Times New Roman"/>
                <a:cs typeface="Times New Roman"/>
              </a:rPr>
              <a:t>is</a:t>
            </a:r>
            <a:r>
              <a:rPr sz="1985" spc="116" dirty="0">
                <a:solidFill>
                  <a:srgbClr val="FEFFFF"/>
                </a:solidFill>
                <a:latin typeface="Times New Roman"/>
                <a:cs typeface="Times New Roman"/>
              </a:rPr>
              <a:t> </a:t>
            </a:r>
            <a:r>
              <a:rPr sz="1985" dirty="0">
                <a:solidFill>
                  <a:srgbClr val="FEFFFF"/>
                </a:solidFill>
                <a:latin typeface="Times New Roman"/>
                <a:cs typeface="Times New Roman"/>
              </a:rPr>
              <a:t>used</a:t>
            </a:r>
            <a:endParaRPr sz="1985" dirty="0">
              <a:solidFill>
                <a:prstClr val="white"/>
              </a:solidFill>
              <a:latin typeface="Times New Roman"/>
              <a:cs typeface="Times New Roman"/>
            </a:endParaRPr>
          </a:p>
          <a:p>
            <a:pPr marL="513240">
              <a:lnSpc>
                <a:spcPct val="94401"/>
              </a:lnSpc>
              <a:spcBef>
                <a:spcPts val="2825"/>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1037538">
              <a:lnSpc>
                <a:spcPct val="94401"/>
              </a:lnSpc>
              <a:spcBef>
                <a:spcPts val="172"/>
              </a:spcBef>
            </a:pPr>
            <a:r>
              <a:rPr sz="1721" dirty="0">
                <a:solidFill>
                  <a:srgbClr val="FEFB00"/>
                </a:solidFill>
                <a:latin typeface="Courier New"/>
                <a:cs typeface="Courier New"/>
              </a:rPr>
              <a:t>$stuff = Array();</a:t>
            </a:r>
            <a:endParaRPr sz="1721" dirty="0">
              <a:solidFill>
                <a:prstClr val="white"/>
              </a:solidFill>
              <a:latin typeface="Courier New"/>
              <a:cs typeface="Courier New"/>
            </a:endParaRPr>
          </a:p>
          <a:p>
            <a:pPr marL="1037538">
              <a:lnSpc>
                <a:spcPct val="94401"/>
              </a:lnSpc>
              <a:spcBef>
                <a:spcPts val="132"/>
              </a:spcBef>
            </a:pPr>
            <a:r>
              <a:rPr sz="1721" dirty="0">
                <a:solidFill>
                  <a:srgbClr val="FEFB00"/>
                </a:solidFill>
                <a:latin typeface="Courier New"/>
                <a:cs typeface="Courier New"/>
              </a:rPr>
              <a:t>$stuff[2] = "Hello";</a:t>
            </a:r>
            <a:endParaRPr sz="1721" dirty="0">
              <a:solidFill>
                <a:prstClr val="white"/>
              </a:solidFill>
              <a:latin typeface="Courier New"/>
              <a:cs typeface="Courier New"/>
            </a:endParaRPr>
          </a:p>
          <a:p>
            <a:pPr marL="1037538">
              <a:lnSpc>
                <a:spcPct val="94401"/>
              </a:lnSpc>
              <a:spcBef>
                <a:spcPts val="132"/>
              </a:spcBef>
            </a:pPr>
            <a:r>
              <a:rPr sz="1721" dirty="0">
                <a:solidFill>
                  <a:srgbClr val="FEFB00"/>
                </a:solidFill>
                <a:latin typeface="Courier New"/>
                <a:cs typeface="Courier New"/>
              </a:rPr>
              <a:t>$stuff[9] = "World";</a:t>
            </a:r>
            <a:endParaRPr sz="1721" dirty="0">
              <a:solidFill>
                <a:prstClr val="white"/>
              </a:solidFill>
              <a:latin typeface="Courier New"/>
              <a:cs typeface="Courier New"/>
            </a:endParaRPr>
          </a:p>
          <a:p>
            <a:pPr marL="1005761">
              <a:lnSpc>
                <a:spcPct val="94401"/>
              </a:lnSpc>
              <a:spcBef>
                <a:spcPts val="88"/>
              </a:spcBef>
            </a:pPr>
            <a:r>
              <a:rPr sz="1588" dirty="0">
                <a:solidFill>
                  <a:srgbClr val="FF40FF"/>
                </a:solidFill>
                <a:latin typeface="Courier New"/>
                <a:cs typeface="Courier New"/>
              </a:rPr>
              <a:t>print_r($stuff</a:t>
            </a:r>
            <a:r>
              <a:rPr sz="1588" spc="-4" dirty="0">
                <a:solidFill>
                  <a:srgbClr val="FF40FF"/>
                </a:solidFill>
                <a:latin typeface="Courier New"/>
                <a:cs typeface="Courier New"/>
              </a:rPr>
              <a:t>)</a:t>
            </a:r>
            <a:r>
              <a:rPr sz="1588" dirty="0">
                <a:solidFill>
                  <a:srgbClr val="FEFB00"/>
                </a:solidFill>
                <a:latin typeface="Courier New"/>
                <a:cs typeface="Courier New"/>
              </a:rPr>
              <a:t>;</a:t>
            </a:r>
            <a:endParaRPr sz="1588" dirty="0">
              <a:solidFill>
                <a:prstClr val="white"/>
              </a:solidFill>
              <a:latin typeface="Courier New"/>
              <a:cs typeface="Courier New"/>
            </a:endParaRPr>
          </a:p>
          <a:p>
            <a:pPr marL="4986682" marR="3293563" algn="ctr">
              <a:lnSpc>
                <a:spcPct val="94401"/>
              </a:lnSpc>
              <a:spcBef>
                <a:spcPts val="1504"/>
              </a:spcBef>
            </a:pPr>
            <a:r>
              <a:rPr sz="1721" dirty="0">
                <a:solidFill>
                  <a:srgbClr val="FF40FF"/>
                </a:solidFill>
                <a:latin typeface="Courier New"/>
                <a:cs typeface="Courier New"/>
              </a:rPr>
              <a:t>(</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[2] =&gt; </a:t>
            </a:r>
            <a:r>
              <a:rPr lang="en-US" sz="1721" dirty="0">
                <a:solidFill>
                  <a:srgbClr val="FF40FF"/>
                </a:solidFill>
                <a:latin typeface="Courier New"/>
                <a:cs typeface="Courier New"/>
              </a:rPr>
              <a:t>Hello</a:t>
            </a:r>
            <a:endParaRPr sz="1721" dirty="0">
              <a:solidFill>
                <a:prstClr val="white"/>
              </a:solidFill>
              <a:latin typeface="Courier New"/>
              <a:cs typeface="Courier New"/>
            </a:endParaRPr>
          </a:p>
          <a:p>
            <a:pPr marL="5538568">
              <a:lnSpc>
                <a:spcPct val="94401"/>
              </a:lnSpc>
              <a:spcBef>
                <a:spcPts val="132"/>
              </a:spcBef>
            </a:pPr>
            <a:r>
              <a:rPr sz="1721" dirty="0">
                <a:solidFill>
                  <a:srgbClr val="FF40FF"/>
                </a:solidFill>
                <a:latin typeface="Courier New"/>
                <a:cs typeface="Courier New"/>
              </a:rPr>
              <a:t>[9] =&gt; </a:t>
            </a:r>
            <a:r>
              <a:rPr lang="en-US" sz="1721" dirty="0">
                <a:solidFill>
                  <a:srgbClr val="FF40FF"/>
                </a:solidFill>
                <a:latin typeface="Courier New"/>
                <a:cs typeface="Courier New"/>
              </a:rPr>
              <a:t>World</a:t>
            </a:r>
            <a:endParaRPr sz="1721" dirty="0">
              <a:solidFill>
                <a:prstClr val="white"/>
              </a:solidFill>
              <a:latin typeface="Courier New"/>
              <a:cs typeface="Courier New"/>
            </a:endParaRPr>
          </a:p>
          <a:p>
            <a:pPr marL="4986682" marR="3293563" algn="ctr">
              <a:lnSpc>
                <a:spcPct val="94401"/>
              </a:lnSpc>
              <a:spcBef>
                <a:spcPts val="132"/>
              </a:spcBef>
            </a:pPr>
            <a:r>
              <a:rPr sz="1721" dirty="0">
                <a:solidFill>
                  <a:srgbClr val="FF40FF"/>
                </a:solidFill>
                <a:latin typeface="Courier New"/>
                <a:cs typeface="Courier New"/>
              </a:rPr>
              <a:t>)</a:t>
            </a:r>
            <a:endParaRPr sz="1721" dirty="0">
              <a:solidFill>
                <a:prstClr val="white"/>
              </a:solidFill>
              <a:latin typeface="Courier New"/>
              <a:cs typeface="Courier New"/>
            </a:endParaRPr>
          </a:p>
        </p:txBody>
      </p:sp>
    </p:spTree>
    <p:extLst>
      <p:ext uri="{BB962C8B-B14F-4D97-AF65-F5344CB8AC3E}">
        <p14:creationId xmlns:p14="http://schemas.microsoft.com/office/powerpoint/2010/main" val="29662197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5" name="object 5"/>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3" name="object 3"/>
          <p:cNvSpPr txBox="1"/>
          <p:nvPr/>
        </p:nvSpPr>
        <p:spPr>
          <a:xfrm>
            <a:off x="5255733" y="3526907"/>
            <a:ext cx="1365849" cy="240821"/>
          </a:xfrm>
          <a:prstGeom prst="rect">
            <a:avLst/>
          </a:prstGeom>
        </p:spPr>
        <p:txBody>
          <a:bodyPr wrap="square" lIns="0" tIns="0" rIns="0" bIns="0" rtlCol="0">
            <a:noAutofit/>
          </a:bodyPr>
          <a:lstStyle/>
          <a:p>
            <a:pPr marL="11206">
              <a:lnSpc>
                <a:spcPts val="1897"/>
              </a:lnSpc>
              <a:spcBef>
                <a:spcPts val="94"/>
              </a:spcBef>
            </a:pPr>
            <a:r>
              <a:rPr sz="2581" baseline="4526" dirty="0">
                <a:solidFill>
                  <a:srgbClr val="FF40FF"/>
                </a:solidFill>
                <a:latin typeface="Courier New"/>
                <a:cs typeface="Courier New"/>
              </a:rPr>
              <a:t>array(2) {</a:t>
            </a:r>
            <a:endParaRPr sz="1721">
              <a:solidFill>
                <a:prstClr val="white"/>
              </a:solidFill>
              <a:latin typeface="Courier New"/>
              <a:cs typeface="Courier New"/>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dirty="0">
              <a:solidFill>
                <a:prstClr val="white"/>
              </a:solidFill>
            </a:endParaRPr>
          </a:p>
          <a:p>
            <a:pPr marL="1935990" marR="1935968" algn="ctr">
              <a:lnSpc>
                <a:spcPct val="95825"/>
              </a:lnSpc>
              <a:spcBef>
                <a:spcPts val="2647"/>
              </a:spcBef>
            </a:pPr>
            <a:r>
              <a:rPr sz="4059" dirty="0">
                <a:solidFill>
                  <a:srgbClr val="00F900"/>
                </a:solidFill>
                <a:latin typeface="Times New Roman"/>
                <a:cs typeface="Times New Roman"/>
              </a:rPr>
              <a:t>var_dump</a:t>
            </a:r>
            <a:r>
              <a:rPr sz="4059" spc="177" dirty="0">
                <a:solidFill>
                  <a:srgbClr val="00F900"/>
                </a:solidFill>
                <a:latin typeface="Times New Roman"/>
                <a:cs typeface="Times New Roman"/>
              </a:rPr>
              <a:t> </a:t>
            </a:r>
            <a:r>
              <a:rPr sz="4059" dirty="0">
                <a:solidFill>
                  <a:srgbClr val="00F900"/>
                </a:solidFill>
                <a:latin typeface="Times New Roman"/>
                <a:cs typeface="Times New Roman"/>
              </a:rPr>
              <a:t>.vs.</a:t>
            </a:r>
            <a:r>
              <a:rPr sz="4059" spc="-178" dirty="0">
                <a:solidFill>
                  <a:srgbClr val="00F900"/>
                </a:solidFill>
                <a:latin typeface="Times New Roman"/>
                <a:cs typeface="Times New Roman"/>
              </a:rPr>
              <a:t> </a:t>
            </a:r>
            <a:r>
              <a:rPr sz="4059" dirty="0">
                <a:solidFill>
                  <a:srgbClr val="00F900"/>
                </a:solidFill>
                <a:latin typeface="Times New Roman"/>
                <a:cs typeface="Times New Roman"/>
              </a:rPr>
              <a:t>print_r</a:t>
            </a:r>
            <a:endParaRPr sz="4059" dirty="0">
              <a:solidFill>
                <a:prstClr val="white"/>
              </a:solidFill>
              <a:latin typeface="Times New Roman"/>
              <a:cs typeface="Times New Roman"/>
            </a:endParaRPr>
          </a:p>
          <a:p>
            <a:pPr marL="533097">
              <a:lnSpc>
                <a:spcPct val="94401"/>
              </a:lnSpc>
              <a:spcBef>
                <a:spcPts val="1994"/>
              </a:spcBef>
            </a:pPr>
            <a:r>
              <a:rPr sz="1588" dirty="0">
                <a:solidFill>
                  <a:srgbClr val="FEFB00"/>
                </a:solidFill>
                <a:latin typeface="Courier New"/>
                <a:cs typeface="Courier New"/>
              </a:rPr>
              <a:t>&lt;?php</a:t>
            </a:r>
            <a:endParaRPr sz="1588" dirty="0">
              <a:solidFill>
                <a:prstClr val="white"/>
              </a:solidFill>
              <a:latin typeface="Courier New"/>
              <a:cs typeface="Courier New"/>
            </a:endParaRPr>
          </a:p>
          <a:p>
            <a:pPr marL="3023514" marR="2653089" indent="-2097194">
              <a:lnSpc>
                <a:spcPts val="1948"/>
              </a:lnSpc>
              <a:spcBef>
                <a:spcPts val="172"/>
              </a:spcBef>
              <a:tabLst>
                <a:tab pos="1837863" algn="l"/>
                <a:tab pos="4202430" algn="l"/>
              </a:tabLst>
            </a:pPr>
            <a:r>
              <a:rPr sz="1721" dirty="0">
                <a:solidFill>
                  <a:srgbClr val="FEFB00"/>
                </a:solidFill>
                <a:latin typeface="Courier New"/>
                <a:cs typeface="Courier New"/>
              </a:rPr>
              <a:t>$stuff	= array("name" =&gt; "</a:t>
            </a:r>
            <a:r>
              <a:rPr lang="en-US" sz="1721" dirty="0" err="1">
                <a:solidFill>
                  <a:srgbClr val="FEFB00"/>
                </a:solidFill>
                <a:latin typeface="Courier New"/>
                <a:cs typeface="Courier New"/>
              </a:rPr>
              <a:t>Saqib</a:t>
            </a:r>
            <a:r>
              <a:rPr sz="1721" dirty="0">
                <a:solidFill>
                  <a:srgbClr val="FEFB00"/>
                </a:solidFill>
                <a:latin typeface="Courier New"/>
                <a:cs typeface="Courier New"/>
              </a:rPr>
              <a:t>", </a:t>
            </a:r>
            <a:endParaRPr sz="1721" dirty="0">
              <a:solidFill>
                <a:prstClr val="white"/>
              </a:solidFill>
              <a:latin typeface="Courier New"/>
              <a:cs typeface="Courier New"/>
            </a:endParaRPr>
          </a:p>
          <a:p>
            <a:pPr marL="3023514" marR="2653089">
              <a:lnSpc>
                <a:spcPts val="1948"/>
              </a:lnSpc>
              <a:spcBef>
                <a:spcPts val="134"/>
              </a:spcBef>
              <a:tabLst>
                <a:tab pos="1837863" algn="l"/>
                <a:tab pos="4202430" algn="l"/>
              </a:tabLst>
            </a:pPr>
            <a:r>
              <a:rPr sz="1721" dirty="0">
                <a:solidFill>
                  <a:srgbClr val="FEFB00"/>
                </a:solidFill>
                <a:latin typeface="Courier New"/>
                <a:cs typeface="Courier New"/>
              </a:rPr>
              <a:t>"course"	=&gt; "</a:t>
            </a:r>
            <a:r>
              <a:rPr lang="en-US" sz="1721" dirty="0">
                <a:solidFill>
                  <a:srgbClr val="FEFB00"/>
                </a:solidFill>
                <a:latin typeface="Courier New"/>
                <a:cs typeface="Courier New"/>
              </a:rPr>
              <a:t>Web Programming</a:t>
            </a:r>
            <a:r>
              <a:rPr sz="1721" dirty="0">
                <a:solidFill>
                  <a:srgbClr val="FEFB00"/>
                </a:solidFill>
                <a:latin typeface="Courier New"/>
                <a:cs typeface="Courier New"/>
              </a:rPr>
              <a:t>");</a:t>
            </a:r>
            <a:endParaRPr sz="1721" dirty="0">
              <a:solidFill>
                <a:prstClr val="white"/>
              </a:solidFill>
              <a:latin typeface="Courier New"/>
              <a:cs typeface="Courier New"/>
            </a:endParaRPr>
          </a:p>
          <a:p>
            <a:pPr marL="1025618">
              <a:lnSpc>
                <a:spcPts val="1755"/>
              </a:lnSpc>
              <a:spcBef>
                <a:spcPts val="221"/>
              </a:spcBef>
            </a:pPr>
            <a:r>
              <a:rPr sz="2382" baseline="4904" dirty="0">
                <a:solidFill>
                  <a:srgbClr val="FF40FF"/>
                </a:solidFill>
                <a:latin typeface="Courier New"/>
                <a:cs typeface="Courier New"/>
              </a:rPr>
              <a:t>var_dump($stuff</a:t>
            </a:r>
            <a:r>
              <a:rPr sz="2382" spc="-4" baseline="4904" dirty="0">
                <a:solidFill>
                  <a:srgbClr val="FF40FF"/>
                </a:solidFill>
                <a:latin typeface="Courier New"/>
                <a:cs typeface="Courier New"/>
              </a:rPr>
              <a:t>)</a:t>
            </a:r>
            <a:r>
              <a:rPr sz="2382" baseline="4904" dirty="0">
                <a:solidFill>
                  <a:srgbClr val="FEFB00"/>
                </a:solidFill>
                <a:latin typeface="Courier New"/>
                <a:cs typeface="Courier New"/>
              </a:rPr>
              <a:t>;</a:t>
            </a:r>
            <a:endParaRPr sz="1588" dirty="0">
              <a:solidFill>
                <a:prstClr val="white"/>
              </a:solidFill>
              <a:latin typeface="Courier New"/>
              <a:cs typeface="Courier New"/>
            </a:endParaRPr>
          </a:p>
          <a:p>
            <a:pPr marL="533097">
              <a:lnSpc>
                <a:spcPct val="94401"/>
              </a:lnSpc>
              <a:spcBef>
                <a:spcPts val="40"/>
              </a:spcBef>
            </a:pPr>
            <a:r>
              <a:rPr sz="1588" dirty="0">
                <a:solidFill>
                  <a:srgbClr val="FEFB00"/>
                </a:solidFill>
                <a:latin typeface="Courier New"/>
                <a:cs typeface="Courier New"/>
              </a:rPr>
              <a:t>?&gt;</a:t>
            </a:r>
            <a:endParaRPr sz="1588" dirty="0">
              <a:solidFill>
                <a:schemeClr val="bg1"/>
              </a:solidFill>
              <a:latin typeface="Courier New"/>
              <a:cs typeface="Courier New"/>
            </a:endParaRPr>
          </a:p>
          <a:p>
            <a:pPr marL="5190373" marR="1010571">
              <a:lnSpc>
                <a:spcPts val="1948"/>
              </a:lnSpc>
              <a:spcBef>
                <a:spcPts val="1817"/>
              </a:spcBef>
            </a:pPr>
            <a:r>
              <a:rPr sz="1721" dirty="0">
                <a:solidFill>
                  <a:schemeClr val="bg1"/>
                </a:solidFill>
                <a:latin typeface="Courier New"/>
                <a:cs typeface="Courier New"/>
              </a:rPr>
              <a:t>["name"]=&gt; </a:t>
            </a:r>
          </a:p>
          <a:p>
            <a:pPr marL="5190373" marR="1010571">
              <a:lnSpc>
                <a:spcPts val="1948"/>
              </a:lnSpc>
              <a:spcBef>
                <a:spcPts val="134"/>
              </a:spcBef>
            </a:pPr>
            <a:r>
              <a:rPr sz="1721" dirty="0">
                <a:solidFill>
                  <a:schemeClr val="bg1"/>
                </a:solidFill>
                <a:latin typeface="Courier New"/>
                <a:cs typeface="Courier New"/>
              </a:rPr>
              <a:t>string(5) "</a:t>
            </a:r>
            <a:r>
              <a:rPr lang="en-US" sz="1721" dirty="0" err="1">
                <a:solidFill>
                  <a:schemeClr val="bg1"/>
                </a:solidFill>
                <a:latin typeface="Courier New"/>
                <a:cs typeface="Courier New"/>
              </a:rPr>
              <a:t>Saqib</a:t>
            </a:r>
            <a:r>
              <a:rPr sz="1721" dirty="0">
                <a:solidFill>
                  <a:schemeClr val="bg1"/>
                </a:solidFill>
                <a:latin typeface="Courier New"/>
                <a:cs typeface="Courier New"/>
              </a:rPr>
              <a:t>" </a:t>
            </a:r>
          </a:p>
          <a:p>
            <a:pPr marL="5190373" marR="1010571">
              <a:lnSpc>
                <a:spcPts val="1948"/>
              </a:lnSpc>
              <a:spcBef>
                <a:spcPts val="134"/>
              </a:spcBef>
            </a:pPr>
            <a:r>
              <a:rPr sz="1721" dirty="0">
                <a:solidFill>
                  <a:schemeClr val="bg1"/>
                </a:solidFill>
                <a:latin typeface="Courier New"/>
                <a:cs typeface="Courier New"/>
              </a:rPr>
              <a:t>["course"]=&gt; </a:t>
            </a:r>
          </a:p>
          <a:p>
            <a:pPr marL="5190373" marR="1010571">
              <a:lnSpc>
                <a:spcPts val="1948"/>
              </a:lnSpc>
              <a:spcBef>
                <a:spcPts val="134"/>
              </a:spcBef>
            </a:pPr>
            <a:r>
              <a:rPr sz="1721" dirty="0">
                <a:solidFill>
                  <a:schemeClr val="bg1"/>
                </a:solidFill>
                <a:latin typeface="Courier New"/>
                <a:cs typeface="Courier New"/>
              </a:rPr>
              <a:t>string(</a:t>
            </a:r>
            <a:r>
              <a:rPr lang="en-US" sz="1721" dirty="0">
                <a:solidFill>
                  <a:schemeClr val="bg1"/>
                </a:solidFill>
                <a:latin typeface="Courier New"/>
                <a:cs typeface="Courier New"/>
              </a:rPr>
              <a:t>1</a:t>
            </a:r>
            <a:r>
              <a:rPr sz="1721" dirty="0">
                <a:solidFill>
                  <a:schemeClr val="bg1"/>
                </a:solidFill>
                <a:latin typeface="Courier New"/>
                <a:cs typeface="Courier New"/>
              </a:rPr>
              <a:t>5) "</a:t>
            </a:r>
            <a:r>
              <a:rPr lang="en-US" sz="1721" dirty="0">
                <a:solidFill>
                  <a:schemeClr val="bg1"/>
                </a:solidFill>
                <a:latin typeface="Courier New"/>
                <a:cs typeface="Courier New"/>
              </a:rPr>
              <a:t>Web Programming</a:t>
            </a:r>
            <a:r>
              <a:rPr sz="1721" dirty="0">
                <a:solidFill>
                  <a:schemeClr val="bg1"/>
                </a:solidFill>
                <a:latin typeface="Courier New"/>
                <a:cs typeface="Courier New"/>
              </a:rPr>
              <a:t>"</a:t>
            </a:r>
          </a:p>
          <a:p>
            <a:pPr marL="4900636" marR="3379609" algn="ctr">
              <a:lnSpc>
                <a:spcPct val="94401"/>
              </a:lnSpc>
              <a:spcBef>
                <a:spcPts val="134"/>
              </a:spcBef>
            </a:pPr>
            <a:r>
              <a:rPr sz="1721" dirty="0">
                <a:solidFill>
                  <a:schemeClr val="bg1"/>
                </a:solidFill>
                <a:latin typeface="Courier New"/>
                <a:cs typeface="Courier New"/>
              </a:rPr>
              <a:t>}</a:t>
            </a:r>
          </a:p>
          <a:p>
            <a:pPr marL="691889" marR="688559" algn="ctr">
              <a:lnSpc>
                <a:spcPct val="95825"/>
              </a:lnSpc>
              <a:spcBef>
                <a:spcPts val="1850"/>
              </a:spcBef>
            </a:pPr>
            <a:r>
              <a:rPr sz="1985" dirty="0">
                <a:solidFill>
                  <a:srgbClr val="FEFFFF"/>
                </a:solidFill>
                <a:latin typeface="Times New Roman"/>
                <a:cs typeface="Times New Roman"/>
                <a:hlinkClick r:id="rId2"/>
              </a:rPr>
              <a:t>http://stac</a:t>
            </a:r>
            <a:r>
              <a:rPr sz="1985" spc="-56" dirty="0">
                <a:solidFill>
                  <a:srgbClr val="FEFFFF"/>
                </a:solidFill>
                <a:latin typeface="Times New Roman"/>
                <a:cs typeface="Times New Roman"/>
                <a:hlinkClick r:id="rId2"/>
              </a:rPr>
              <a:t>k</a:t>
            </a:r>
            <a:r>
              <a:rPr sz="1985" spc="-17" dirty="0">
                <a:solidFill>
                  <a:srgbClr val="FEFFFF"/>
                </a:solidFill>
                <a:latin typeface="Times New Roman"/>
                <a:cs typeface="Times New Roman"/>
                <a:hlinkClick r:id="rId2"/>
              </a:rPr>
              <a:t>o</a:t>
            </a:r>
            <a:r>
              <a:rPr sz="1985" spc="-39" dirty="0">
                <a:solidFill>
                  <a:srgbClr val="FEFFFF"/>
                </a:solidFill>
                <a:latin typeface="Times New Roman"/>
                <a:cs typeface="Times New Roman"/>
                <a:hlinkClick r:id="rId2"/>
              </a:rPr>
              <a:t>v</a:t>
            </a:r>
            <a:r>
              <a:rPr sz="1985" dirty="0">
                <a:solidFill>
                  <a:srgbClr val="FEFFFF"/>
                </a:solidFill>
                <a:latin typeface="Times New Roman"/>
                <a:cs typeface="Times New Roman"/>
                <a:hlinkClick r:id="rId2"/>
              </a:rPr>
              <a:t>erfl</a:t>
            </a:r>
            <a:r>
              <a:rPr sz="1985" spc="-17" dirty="0">
                <a:solidFill>
                  <a:srgbClr val="FEFFFF"/>
                </a:solidFill>
                <a:latin typeface="Times New Roman"/>
                <a:cs typeface="Times New Roman"/>
                <a:hlinkClick r:id="rId2"/>
              </a:rPr>
              <a:t>o</a:t>
            </a:r>
            <a:r>
              <a:rPr sz="1985" spc="-118" dirty="0">
                <a:solidFill>
                  <a:srgbClr val="FEFFFF"/>
                </a:solidFill>
                <a:latin typeface="Times New Roman"/>
                <a:cs typeface="Times New Roman"/>
                <a:hlinkClick r:id="rId2"/>
              </a:rPr>
              <a:t>w</a:t>
            </a:r>
            <a:r>
              <a:rPr sz="1985" dirty="0">
                <a:solidFill>
                  <a:srgbClr val="FEFFFF"/>
                </a:solidFill>
                <a:latin typeface="Times New Roman"/>
                <a:cs typeface="Times New Roman"/>
                <a:hlinkClick r:id="rId2"/>
              </a:rPr>
              <a:t>.com/questions/3406171/php-va</a:t>
            </a:r>
            <a:r>
              <a:rPr sz="1985" spc="-158" dirty="0">
                <a:solidFill>
                  <a:srgbClr val="FEFFFF"/>
                </a:solidFill>
                <a:latin typeface="Times New Roman"/>
                <a:cs typeface="Times New Roman"/>
                <a:hlinkClick r:id="rId2"/>
              </a:rPr>
              <a:t>r</a:t>
            </a:r>
            <a:r>
              <a:rPr sz="1985" dirty="0">
                <a:solidFill>
                  <a:srgbClr val="FEFFFF"/>
                </a:solidFill>
                <a:latin typeface="Times New Roman"/>
                <a:cs typeface="Times New Roman"/>
                <a:hlinkClick r:id="rId2"/>
              </a:rPr>
              <a:t>-dump-vs-print-r</a:t>
            </a:r>
            <a:endParaRPr sz="1985" dirty="0">
              <a:solidFill>
                <a:prstClr val="white"/>
              </a:solidFill>
              <a:latin typeface="Times New Roman"/>
              <a:cs typeface="Times New Roman"/>
            </a:endParaRPr>
          </a:p>
        </p:txBody>
      </p:sp>
    </p:spTree>
    <p:extLst>
      <p:ext uri="{BB962C8B-B14F-4D97-AF65-F5344CB8AC3E}">
        <p14:creationId xmlns:p14="http://schemas.microsoft.com/office/powerpoint/2010/main" val="27607077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36177" y="1042147"/>
            <a:ext cx="8471647" cy="4765301"/>
          </a:xfrm>
          <a:custGeom>
            <a:avLst/>
            <a:gdLst/>
            <a:ahLst/>
            <a:cxnLst/>
            <a:rect l="l" t="t" r="r" b="b"/>
            <a:pathLst>
              <a:path w="9601200" h="5400674">
                <a:moveTo>
                  <a:pt x="0" y="0"/>
                </a:moveTo>
                <a:lnTo>
                  <a:pt x="0" y="5400674"/>
                </a:lnTo>
                <a:lnTo>
                  <a:pt x="9601200" y="5400674"/>
                </a:lnTo>
                <a:lnTo>
                  <a:pt x="9601200" y="0"/>
                </a:lnTo>
                <a:lnTo>
                  <a:pt x="0" y="0"/>
                </a:lnTo>
                <a:close/>
              </a:path>
            </a:pathLst>
          </a:custGeom>
          <a:solidFill>
            <a:srgbClr val="000000"/>
          </a:solidFill>
        </p:spPr>
        <p:txBody>
          <a:bodyPr wrap="square" lIns="0" tIns="0" rIns="0" bIns="0" rtlCol="0">
            <a:noAutofit/>
          </a:bodyPr>
          <a:lstStyle/>
          <a:p>
            <a:endParaRPr sz="1588">
              <a:solidFill>
                <a:prstClr val="white"/>
              </a:solidFill>
            </a:endParaRPr>
          </a:p>
        </p:txBody>
      </p:sp>
      <p:sp>
        <p:nvSpPr>
          <p:cNvPr id="4" name="object 4"/>
          <p:cNvSpPr/>
          <p:nvPr/>
        </p:nvSpPr>
        <p:spPr>
          <a:xfrm>
            <a:off x="338978" y="1044949"/>
            <a:ext cx="8466044" cy="4768103"/>
          </a:xfrm>
          <a:custGeom>
            <a:avLst/>
            <a:gdLst/>
            <a:ahLst/>
            <a:cxnLst/>
            <a:rect l="l" t="t" r="r" b="b"/>
            <a:pathLst>
              <a:path w="9594850" h="5403850">
                <a:moveTo>
                  <a:pt x="0" y="5403850"/>
                </a:moveTo>
                <a:lnTo>
                  <a:pt x="9594850" y="5403850"/>
                </a:lnTo>
                <a:lnTo>
                  <a:pt x="9594850" y="0"/>
                </a:lnTo>
                <a:lnTo>
                  <a:pt x="0" y="0"/>
                </a:lnTo>
                <a:lnTo>
                  <a:pt x="0" y="5403850"/>
                </a:lnTo>
                <a:close/>
              </a:path>
            </a:pathLst>
          </a:custGeom>
          <a:ln w="6350">
            <a:solidFill>
              <a:srgbClr val="000000"/>
            </a:solidFill>
          </a:ln>
        </p:spPr>
        <p:txBody>
          <a:bodyPr wrap="square" lIns="0" tIns="0" rIns="0" bIns="0" rtlCol="0">
            <a:noAutofit/>
          </a:bodyPr>
          <a:lstStyle/>
          <a:p>
            <a:endParaRPr sz="1588">
              <a:solidFill>
                <a:prstClr val="white"/>
              </a:solidFill>
            </a:endParaRPr>
          </a:p>
        </p:txBody>
      </p:sp>
      <p:sp>
        <p:nvSpPr>
          <p:cNvPr id="2" name="object 2"/>
          <p:cNvSpPr txBox="1"/>
          <p:nvPr/>
        </p:nvSpPr>
        <p:spPr>
          <a:xfrm>
            <a:off x="338978" y="1044948"/>
            <a:ext cx="8466044" cy="4766702"/>
          </a:xfrm>
          <a:prstGeom prst="rect">
            <a:avLst/>
          </a:prstGeom>
        </p:spPr>
        <p:txBody>
          <a:bodyPr wrap="square" lIns="0" tIns="0" rIns="0" bIns="0" rtlCol="0">
            <a:noAutofit/>
          </a:bodyPr>
          <a:lstStyle/>
          <a:p>
            <a:pPr>
              <a:lnSpc>
                <a:spcPts val="618"/>
              </a:lnSpc>
              <a:spcBef>
                <a:spcPts val="11"/>
              </a:spcBef>
            </a:pPr>
            <a:endParaRPr sz="618">
              <a:solidFill>
                <a:prstClr val="white"/>
              </a:solidFill>
            </a:endParaRPr>
          </a:p>
          <a:p>
            <a:pPr marL="1198391" marR="1198326" algn="ctr">
              <a:lnSpc>
                <a:spcPct val="95825"/>
              </a:lnSpc>
              <a:spcBef>
                <a:spcPts val="2647"/>
              </a:spcBef>
            </a:pPr>
            <a:r>
              <a:rPr sz="4059" dirty="0">
                <a:solidFill>
                  <a:srgbClr val="00F900"/>
                </a:solidFill>
                <a:latin typeface="Times New Roman"/>
                <a:cs typeface="Times New Roman"/>
              </a:rPr>
              <a:t>var_dump()</a:t>
            </a:r>
            <a:r>
              <a:rPr sz="4059" spc="124" dirty="0">
                <a:solidFill>
                  <a:srgbClr val="00F900"/>
                </a:solidFill>
                <a:latin typeface="Times New Roman"/>
                <a:cs typeface="Times New Roman"/>
              </a:rPr>
              <a:t> </a:t>
            </a:r>
            <a:r>
              <a:rPr sz="4059" dirty="0">
                <a:solidFill>
                  <a:srgbClr val="00F900"/>
                </a:solidFill>
                <a:latin typeface="Times New Roman"/>
                <a:cs typeface="Times New Roman"/>
              </a:rPr>
              <a:t>is</a:t>
            </a:r>
            <a:r>
              <a:rPr sz="4059" spc="234" dirty="0">
                <a:solidFill>
                  <a:srgbClr val="00F900"/>
                </a:solidFill>
                <a:latin typeface="Times New Roman"/>
                <a:cs typeface="Times New Roman"/>
              </a:rPr>
              <a:t> </a:t>
            </a:r>
            <a:r>
              <a:rPr sz="4059" dirty="0">
                <a:solidFill>
                  <a:srgbClr val="00F900"/>
                </a:solidFill>
                <a:latin typeface="Times New Roman"/>
                <a:cs typeface="Times New Roman"/>
              </a:rPr>
              <a:t>mo</a:t>
            </a:r>
            <a:r>
              <a:rPr sz="4059" spc="-79" dirty="0">
                <a:solidFill>
                  <a:srgbClr val="00F900"/>
                </a:solidFill>
                <a:latin typeface="Times New Roman"/>
                <a:cs typeface="Times New Roman"/>
              </a:rPr>
              <a:t>r</a:t>
            </a:r>
            <a:r>
              <a:rPr sz="4059" dirty="0">
                <a:solidFill>
                  <a:srgbClr val="00F900"/>
                </a:solidFill>
                <a:latin typeface="Times New Roman"/>
                <a:cs typeface="Times New Roman"/>
              </a:rPr>
              <a:t>e</a:t>
            </a:r>
            <a:r>
              <a:rPr sz="4059" spc="671" dirty="0">
                <a:solidFill>
                  <a:srgbClr val="00F900"/>
                </a:solidFill>
                <a:latin typeface="Times New Roman"/>
                <a:cs typeface="Times New Roman"/>
              </a:rPr>
              <a:t> </a:t>
            </a:r>
            <a:r>
              <a:rPr sz="4059" spc="-79" dirty="0">
                <a:solidFill>
                  <a:srgbClr val="00F900"/>
                </a:solidFill>
                <a:latin typeface="Times New Roman"/>
                <a:cs typeface="Times New Roman"/>
              </a:rPr>
              <a:t>v</a:t>
            </a:r>
            <a:r>
              <a:rPr sz="4059" dirty="0">
                <a:solidFill>
                  <a:srgbClr val="00F900"/>
                </a:solidFill>
                <a:latin typeface="Times New Roman"/>
                <a:cs typeface="Times New Roman"/>
              </a:rPr>
              <a:t>erbose</a:t>
            </a:r>
            <a:endParaRPr sz="4059">
              <a:solidFill>
                <a:prstClr val="white"/>
              </a:solidFill>
              <a:latin typeface="Times New Roman"/>
              <a:cs typeface="Times New Roman"/>
            </a:endParaRPr>
          </a:p>
          <a:p>
            <a:pPr marL="969939">
              <a:lnSpc>
                <a:spcPct val="94401"/>
              </a:lnSpc>
              <a:spcBef>
                <a:spcPts val="5252"/>
              </a:spcBef>
            </a:pPr>
            <a:r>
              <a:rPr sz="1588" dirty="0">
                <a:solidFill>
                  <a:srgbClr val="FEFB00"/>
                </a:solidFill>
                <a:latin typeface="Courier New"/>
                <a:cs typeface="Courier New"/>
              </a:rPr>
              <a:t>&lt;?php</a:t>
            </a:r>
            <a:endParaRPr sz="1588">
              <a:solidFill>
                <a:prstClr val="white"/>
              </a:solidFill>
              <a:latin typeface="Courier New"/>
              <a:cs typeface="Courier New"/>
            </a:endParaRPr>
          </a:p>
          <a:p>
            <a:pPr marL="1327356" marR="5004471" indent="35807">
              <a:lnSpc>
                <a:spcPts val="1948"/>
              </a:lnSpc>
              <a:spcBef>
                <a:spcPts val="172"/>
              </a:spcBef>
            </a:pPr>
            <a:r>
              <a:rPr sz="1721" dirty="0">
                <a:solidFill>
                  <a:srgbClr val="FEFB00"/>
                </a:solidFill>
                <a:latin typeface="Courier New"/>
                <a:cs typeface="Courier New"/>
              </a:rPr>
              <a:t>$thing = FALSE; </a:t>
            </a:r>
            <a:endParaRPr sz="1721">
              <a:solidFill>
                <a:prstClr val="white"/>
              </a:solidFill>
              <a:latin typeface="Courier New"/>
              <a:cs typeface="Courier New"/>
            </a:endParaRPr>
          </a:p>
          <a:p>
            <a:pPr marL="1327356" marR="5004471">
              <a:lnSpc>
                <a:spcPts val="1948"/>
              </a:lnSpc>
              <a:spcBef>
                <a:spcPts val="134"/>
              </a:spcBef>
            </a:pPr>
            <a:r>
              <a:rPr sz="1721" dirty="0">
                <a:solidFill>
                  <a:srgbClr val="FEFB00"/>
                </a:solidFill>
                <a:latin typeface="Courier New"/>
                <a:cs typeface="Courier New"/>
              </a:rPr>
              <a:t>echo("One\n"); </a:t>
            </a:r>
            <a:endParaRPr sz="1721">
              <a:solidFill>
                <a:prstClr val="white"/>
              </a:solidFill>
              <a:latin typeface="Courier New"/>
              <a:cs typeface="Courier New"/>
            </a:endParaRPr>
          </a:p>
          <a:p>
            <a:pPr marL="1327356" marR="5004471">
              <a:lnSpc>
                <a:spcPts val="1948"/>
              </a:lnSpc>
              <a:spcBef>
                <a:spcPts val="134"/>
              </a:spcBef>
            </a:pPr>
            <a:r>
              <a:rPr sz="1721" dirty="0">
                <a:solidFill>
                  <a:srgbClr val="FEFB00"/>
                </a:solidFill>
                <a:latin typeface="Courier New"/>
                <a:cs typeface="Courier New"/>
              </a:rPr>
              <a:t>print_r($thing);</a:t>
            </a:r>
            <a:endParaRPr sz="1721">
              <a:solidFill>
                <a:prstClr val="white"/>
              </a:solidFill>
              <a:latin typeface="Courier New"/>
              <a:cs typeface="Courier New"/>
            </a:endParaRPr>
          </a:p>
          <a:p>
            <a:pPr marL="1327356">
              <a:lnSpc>
                <a:spcPts val="1950"/>
              </a:lnSpc>
              <a:spcBef>
                <a:spcPts val="231"/>
              </a:spcBef>
            </a:pPr>
            <a:r>
              <a:rPr sz="2581" baseline="4526" dirty="0">
                <a:solidFill>
                  <a:srgbClr val="FEFB00"/>
                </a:solidFill>
                <a:latin typeface="Courier New"/>
                <a:cs typeface="Courier New"/>
              </a:rPr>
              <a:t>echo("Two\n");            </a:t>
            </a:r>
            <a:r>
              <a:rPr sz="2581" spc="114" baseline="4526" dirty="0">
                <a:solidFill>
                  <a:srgbClr val="FEFB00"/>
                </a:solidFill>
                <a:latin typeface="Courier New"/>
                <a:cs typeface="Courier New"/>
              </a:rPr>
              <a:t> </a:t>
            </a:r>
            <a:r>
              <a:rPr sz="2581" baseline="9053" dirty="0">
                <a:solidFill>
                  <a:srgbClr val="FF40FF"/>
                </a:solidFill>
                <a:latin typeface="Courier New"/>
                <a:cs typeface="Courier New"/>
              </a:rPr>
              <a:t>One</a:t>
            </a:r>
            <a:endParaRPr sz="1721">
              <a:solidFill>
                <a:prstClr val="white"/>
              </a:solidFill>
              <a:latin typeface="Courier New"/>
              <a:cs typeface="Courier New"/>
            </a:endParaRPr>
          </a:p>
          <a:p>
            <a:pPr marL="1327356">
              <a:lnSpc>
                <a:spcPts val="2087"/>
              </a:lnSpc>
              <a:spcBef>
                <a:spcPts val="6"/>
              </a:spcBef>
            </a:pPr>
            <a:r>
              <a:rPr sz="2581" baseline="3017" dirty="0">
                <a:solidFill>
                  <a:srgbClr val="FEFB00"/>
                </a:solidFill>
                <a:latin typeface="Courier New"/>
                <a:cs typeface="Courier New"/>
              </a:rPr>
              <a:t>var_dump($thing);         </a:t>
            </a:r>
            <a:r>
              <a:rPr sz="2581" spc="114" baseline="3017" dirty="0">
                <a:solidFill>
                  <a:srgbClr val="FEFB00"/>
                </a:solidFill>
                <a:latin typeface="Courier New"/>
                <a:cs typeface="Courier New"/>
              </a:rPr>
              <a:t> </a:t>
            </a:r>
            <a:r>
              <a:rPr sz="2581" baseline="9053" dirty="0">
                <a:solidFill>
                  <a:srgbClr val="FF40FF"/>
                </a:solidFill>
                <a:latin typeface="Courier New"/>
                <a:cs typeface="Courier New"/>
              </a:rPr>
              <a:t>Two</a:t>
            </a:r>
            <a:endParaRPr sz="1721">
              <a:solidFill>
                <a:prstClr val="white"/>
              </a:solidFill>
              <a:latin typeface="Courier New"/>
              <a:cs typeface="Courier New"/>
            </a:endParaRPr>
          </a:p>
          <a:p>
            <a:pPr marL="969939">
              <a:lnSpc>
                <a:spcPts val="1928"/>
              </a:lnSpc>
            </a:pPr>
            <a:r>
              <a:rPr sz="2382" baseline="4904" dirty="0">
                <a:solidFill>
                  <a:srgbClr val="FEFB00"/>
                </a:solidFill>
                <a:latin typeface="Courier New"/>
                <a:cs typeface="Courier New"/>
              </a:rPr>
              <a:t>?&gt;                             </a:t>
            </a:r>
            <a:r>
              <a:rPr sz="2382" spc="292" baseline="4904" dirty="0">
                <a:solidFill>
                  <a:srgbClr val="FEFB00"/>
                </a:solidFill>
                <a:latin typeface="Courier New"/>
                <a:cs typeface="Courier New"/>
              </a:rPr>
              <a:t> </a:t>
            </a:r>
            <a:r>
              <a:rPr sz="2581" baseline="4526" dirty="0">
                <a:solidFill>
                  <a:srgbClr val="FF40FF"/>
                </a:solidFill>
                <a:latin typeface="Courier New"/>
                <a:cs typeface="Courier New"/>
              </a:rPr>
              <a:t>bool(false)</a:t>
            </a:r>
            <a:endParaRPr sz="1721">
              <a:solidFill>
                <a:prstClr val="white"/>
              </a:solidFill>
              <a:latin typeface="Courier New"/>
              <a:cs typeface="Courier New"/>
            </a:endParaRPr>
          </a:p>
          <a:p>
            <a:pPr marL="691889" marR="688559" algn="ctr">
              <a:lnSpc>
                <a:spcPct val="95825"/>
              </a:lnSpc>
              <a:spcBef>
                <a:spcPts val="6237"/>
              </a:spcBef>
            </a:pPr>
            <a:r>
              <a:rPr sz="1985" dirty="0">
                <a:solidFill>
                  <a:srgbClr val="FEFFFF"/>
                </a:solidFill>
                <a:latin typeface="Times New Roman"/>
                <a:cs typeface="Times New Roman"/>
                <a:hlinkClick r:id="rId2"/>
              </a:rPr>
              <a:t>http://stac</a:t>
            </a:r>
            <a:r>
              <a:rPr sz="1985" spc="-56" dirty="0">
                <a:solidFill>
                  <a:srgbClr val="FEFFFF"/>
                </a:solidFill>
                <a:latin typeface="Times New Roman"/>
                <a:cs typeface="Times New Roman"/>
                <a:hlinkClick r:id="rId2"/>
              </a:rPr>
              <a:t>k</a:t>
            </a:r>
            <a:r>
              <a:rPr sz="1985" spc="-17" dirty="0">
                <a:solidFill>
                  <a:srgbClr val="FEFFFF"/>
                </a:solidFill>
                <a:latin typeface="Times New Roman"/>
                <a:cs typeface="Times New Roman"/>
                <a:hlinkClick r:id="rId2"/>
              </a:rPr>
              <a:t>o</a:t>
            </a:r>
            <a:r>
              <a:rPr sz="1985" spc="-39" dirty="0">
                <a:solidFill>
                  <a:srgbClr val="FEFFFF"/>
                </a:solidFill>
                <a:latin typeface="Times New Roman"/>
                <a:cs typeface="Times New Roman"/>
                <a:hlinkClick r:id="rId2"/>
              </a:rPr>
              <a:t>v</a:t>
            </a:r>
            <a:r>
              <a:rPr sz="1985" dirty="0">
                <a:solidFill>
                  <a:srgbClr val="FEFFFF"/>
                </a:solidFill>
                <a:latin typeface="Times New Roman"/>
                <a:cs typeface="Times New Roman"/>
                <a:hlinkClick r:id="rId2"/>
              </a:rPr>
              <a:t>erfl</a:t>
            </a:r>
            <a:r>
              <a:rPr sz="1985" spc="-17" dirty="0">
                <a:solidFill>
                  <a:srgbClr val="FEFFFF"/>
                </a:solidFill>
                <a:latin typeface="Times New Roman"/>
                <a:cs typeface="Times New Roman"/>
                <a:hlinkClick r:id="rId2"/>
              </a:rPr>
              <a:t>o</a:t>
            </a:r>
            <a:r>
              <a:rPr sz="1985" spc="-118" dirty="0">
                <a:solidFill>
                  <a:srgbClr val="FEFFFF"/>
                </a:solidFill>
                <a:latin typeface="Times New Roman"/>
                <a:cs typeface="Times New Roman"/>
                <a:hlinkClick r:id="rId2"/>
              </a:rPr>
              <a:t>w</a:t>
            </a:r>
            <a:r>
              <a:rPr sz="1985" dirty="0">
                <a:solidFill>
                  <a:srgbClr val="FEFFFF"/>
                </a:solidFill>
                <a:latin typeface="Times New Roman"/>
                <a:cs typeface="Times New Roman"/>
                <a:hlinkClick r:id="rId2"/>
              </a:rPr>
              <a:t>.com/questions/3406171/php-va</a:t>
            </a:r>
            <a:r>
              <a:rPr sz="1985" spc="-158" dirty="0">
                <a:solidFill>
                  <a:srgbClr val="FEFFFF"/>
                </a:solidFill>
                <a:latin typeface="Times New Roman"/>
                <a:cs typeface="Times New Roman"/>
                <a:hlinkClick r:id="rId2"/>
              </a:rPr>
              <a:t>r</a:t>
            </a:r>
            <a:r>
              <a:rPr sz="1985" dirty="0">
                <a:solidFill>
                  <a:srgbClr val="FEFFFF"/>
                </a:solidFill>
                <a:latin typeface="Times New Roman"/>
                <a:cs typeface="Times New Roman"/>
                <a:hlinkClick r:id="rId2"/>
              </a:rPr>
              <a:t>-dump-vs-print-r</a:t>
            </a:r>
            <a:endParaRPr sz="1985">
              <a:solidFill>
                <a:prstClr val="white"/>
              </a:solidFill>
              <a:latin typeface="Times New Roman"/>
              <a:cs typeface="Times New Roman"/>
            </a:endParaRPr>
          </a:p>
        </p:txBody>
      </p:sp>
    </p:spTree>
    <p:extLst>
      <p:ext uri="{BB962C8B-B14F-4D97-AF65-F5344CB8AC3E}">
        <p14:creationId xmlns:p14="http://schemas.microsoft.com/office/powerpoint/2010/main" val="2783360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963139"/>
          </a:solidFill>
        </p:spPr>
        <p:txBody>
          <a:bodyPr wrap="square" lIns="0" tIns="0" rIns="0" bIns="0" rtlCol="0"/>
          <a:lstStyle/>
          <a:p>
            <a:endParaRPr/>
          </a:p>
        </p:txBody>
      </p:sp>
      <p:sp>
        <p:nvSpPr>
          <p:cNvPr id="3" name="object 3"/>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676767"/>
          </a:solidFill>
        </p:spPr>
        <p:txBody>
          <a:bodyPr wrap="square" lIns="0" tIns="0" rIns="0" bIns="0" rtlCol="0"/>
          <a:lstStyle/>
          <a:p>
            <a:endParaRPr/>
          </a:p>
        </p:txBody>
      </p:sp>
      <p:sp>
        <p:nvSpPr>
          <p:cNvPr id="4" name="object 4"/>
          <p:cNvSpPr txBox="1">
            <a:spLocks noGrp="1"/>
          </p:cNvSpPr>
          <p:nvPr>
            <p:ph type="title"/>
          </p:nvPr>
        </p:nvSpPr>
        <p:spPr>
          <a:xfrm>
            <a:off x="4109465" y="1616709"/>
            <a:ext cx="922655" cy="696595"/>
          </a:xfrm>
          <a:prstGeom prst="rect">
            <a:avLst/>
          </a:prstGeom>
        </p:spPr>
        <p:txBody>
          <a:bodyPr vert="horz" wrap="square" lIns="0" tIns="13335" rIns="0" bIns="0" rtlCol="0">
            <a:spAutoFit/>
          </a:bodyPr>
          <a:lstStyle/>
          <a:p>
            <a:pPr marL="12700">
              <a:lnSpc>
                <a:spcPct val="100000"/>
              </a:lnSpc>
              <a:spcBef>
                <a:spcPts val="105"/>
              </a:spcBef>
            </a:pPr>
            <a:r>
              <a:rPr spc="-665" dirty="0"/>
              <a:t>PHP</a:t>
            </a:r>
          </a:p>
        </p:txBody>
      </p:sp>
      <p:sp>
        <p:nvSpPr>
          <p:cNvPr id="5" name="object 5"/>
          <p:cNvSpPr txBox="1"/>
          <p:nvPr/>
        </p:nvSpPr>
        <p:spPr>
          <a:xfrm>
            <a:off x="986434" y="2632075"/>
            <a:ext cx="7173595" cy="513715"/>
          </a:xfrm>
          <a:prstGeom prst="rect">
            <a:avLst/>
          </a:prstGeom>
        </p:spPr>
        <p:txBody>
          <a:bodyPr vert="horz" wrap="square" lIns="0" tIns="13335" rIns="0" bIns="0" rtlCol="0">
            <a:spAutoFit/>
          </a:bodyPr>
          <a:lstStyle/>
          <a:p>
            <a:pPr marL="12700">
              <a:lnSpc>
                <a:spcPct val="100000"/>
              </a:lnSpc>
              <a:spcBef>
                <a:spcPts val="105"/>
              </a:spcBef>
            </a:pPr>
            <a:r>
              <a:rPr sz="3200" spc="-160" dirty="0">
                <a:solidFill>
                  <a:srgbClr val="963139"/>
                </a:solidFill>
                <a:latin typeface="Microsoft Sans Serif"/>
                <a:cs typeface="Microsoft Sans Serif"/>
              </a:rPr>
              <a:t>Syntax:</a:t>
            </a:r>
            <a:r>
              <a:rPr sz="3200" spc="-10" dirty="0">
                <a:solidFill>
                  <a:srgbClr val="963139"/>
                </a:solidFill>
                <a:latin typeface="Microsoft Sans Serif"/>
                <a:cs typeface="Microsoft Sans Serif"/>
              </a:rPr>
              <a:t> </a:t>
            </a:r>
            <a:r>
              <a:rPr sz="3200" spc="-150" dirty="0">
                <a:solidFill>
                  <a:srgbClr val="963139"/>
                </a:solidFill>
                <a:latin typeface="Microsoft Sans Serif"/>
                <a:cs typeface="Microsoft Sans Serif"/>
              </a:rPr>
              <a:t>Conditional</a:t>
            </a:r>
            <a:r>
              <a:rPr sz="3200" spc="-10" dirty="0">
                <a:solidFill>
                  <a:srgbClr val="963139"/>
                </a:solidFill>
                <a:latin typeface="Microsoft Sans Serif"/>
                <a:cs typeface="Microsoft Sans Serif"/>
              </a:rPr>
              <a:t> </a:t>
            </a:r>
            <a:r>
              <a:rPr sz="3200" spc="-135" dirty="0">
                <a:solidFill>
                  <a:srgbClr val="963139"/>
                </a:solidFill>
                <a:latin typeface="Microsoft Sans Serif"/>
                <a:cs typeface="Microsoft Sans Serif"/>
              </a:rPr>
              <a:t>and</a:t>
            </a:r>
            <a:r>
              <a:rPr sz="3200" dirty="0">
                <a:solidFill>
                  <a:srgbClr val="963139"/>
                </a:solidFill>
                <a:latin typeface="Microsoft Sans Serif"/>
                <a:cs typeface="Microsoft Sans Serif"/>
              </a:rPr>
              <a:t> </a:t>
            </a:r>
            <a:r>
              <a:rPr sz="3200" spc="-190" dirty="0">
                <a:solidFill>
                  <a:srgbClr val="963139"/>
                </a:solidFill>
                <a:latin typeface="Microsoft Sans Serif"/>
                <a:cs typeface="Microsoft Sans Serif"/>
              </a:rPr>
              <a:t>Looping</a:t>
            </a:r>
            <a:r>
              <a:rPr sz="3200" spc="-5" dirty="0">
                <a:solidFill>
                  <a:srgbClr val="963139"/>
                </a:solidFill>
                <a:latin typeface="Microsoft Sans Serif"/>
                <a:cs typeface="Microsoft Sans Serif"/>
              </a:rPr>
              <a:t> </a:t>
            </a:r>
            <a:r>
              <a:rPr sz="3200" spc="-240" dirty="0">
                <a:solidFill>
                  <a:srgbClr val="963139"/>
                </a:solidFill>
                <a:latin typeface="Microsoft Sans Serif"/>
                <a:cs typeface="Microsoft Sans Serif"/>
              </a:rPr>
              <a:t>Statements</a:t>
            </a:r>
            <a:endParaRPr sz="3200">
              <a:latin typeface="Microsoft Sans Serif"/>
              <a:cs typeface="Microsoft Sans Serif"/>
            </a:endParaRPr>
          </a:p>
        </p:txBody>
      </p:sp>
    </p:spTree>
    <p:extLst>
      <p:ext uri="{BB962C8B-B14F-4D97-AF65-F5344CB8AC3E}">
        <p14:creationId xmlns:p14="http://schemas.microsoft.com/office/powerpoint/2010/main" val="25896107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5105400" cy="697230"/>
          </a:xfrm>
          <a:prstGeom prst="rect">
            <a:avLst/>
          </a:prstGeom>
        </p:spPr>
        <p:txBody>
          <a:bodyPr vert="horz" wrap="square" lIns="0" tIns="13335" rIns="0" bIns="0" rtlCol="0">
            <a:spAutoFit/>
          </a:bodyPr>
          <a:lstStyle/>
          <a:p>
            <a:pPr marL="12700">
              <a:lnSpc>
                <a:spcPct val="100000"/>
              </a:lnSpc>
              <a:spcBef>
                <a:spcPts val="105"/>
              </a:spcBef>
            </a:pPr>
            <a:r>
              <a:rPr spc="-204" dirty="0"/>
              <a:t>Conditional</a:t>
            </a:r>
            <a:r>
              <a:rPr spc="-20" dirty="0"/>
              <a:t> </a:t>
            </a:r>
            <a:r>
              <a:rPr spc="-335" dirty="0"/>
              <a:t>Statements</a:t>
            </a:r>
          </a:p>
        </p:txBody>
      </p:sp>
      <p:sp>
        <p:nvSpPr>
          <p:cNvPr id="3" name="object 3"/>
          <p:cNvSpPr txBox="1"/>
          <p:nvPr/>
        </p:nvSpPr>
        <p:spPr>
          <a:xfrm>
            <a:off x="533400" y="1143000"/>
            <a:ext cx="8153400" cy="4655121"/>
          </a:xfrm>
          <a:prstGeom prst="rect">
            <a:avLst/>
          </a:prstGeom>
        </p:spPr>
        <p:txBody>
          <a:bodyPr vert="horz" wrap="square" lIns="0" tIns="12700" rIns="0" bIns="0" rtlCol="0">
            <a:spAutoFit/>
          </a:bodyPr>
          <a:lstStyle/>
          <a:p>
            <a:pPr marL="926465" marR="822960" indent="-914400">
              <a:lnSpc>
                <a:spcPct val="100000"/>
              </a:lnSpc>
              <a:spcBef>
                <a:spcPts val="100"/>
              </a:spcBef>
            </a:pPr>
            <a:r>
              <a:rPr lang="en-US" sz="2000" spc="-5" dirty="0">
                <a:latin typeface="Courier New"/>
                <a:cs typeface="Courier New"/>
              </a:rPr>
              <a:t>•  Logical operators  ( ==  !=  &lt;  &gt;  &lt;=  &gt;=  and  or  ! )</a:t>
            </a:r>
          </a:p>
          <a:p>
            <a:pPr marL="926465" marR="822960" indent="-914400">
              <a:lnSpc>
                <a:spcPct val="100000"/>
              </a:lnSpc>
              <a:spcBef>
                <a:spcPts val="100"/>
              </a:spcBef>
            </a:pPr>
            <a:r>
              <a:rPr lang="en-US" sz="2000" spc="-5" dirty="0">
                <a:latin typeface="Courier New"/>
                <a:cs typeface="Courier New"/>
              </a:rPr>
              <a:t>•  Curly </a:t>
            </a:r>
            <a:r>
              <a:rPr lang="en-US" sz="2000" spc="-5" dirty="0" smtClean="0">
                <a:latin typeface="Courier New"/>
                <a:cs typeface="Courier New"/>
              </a:rPr>
              <a:t>braces</a:t>
            </a:r>
            <a:endParaRPr sz="2000" spc="-5" dirty="0" smtClean="0">
              <a:latin typeface="Courier New"/>
              <a:cs typeface="Courier New"/>
            </a:endParaRPr>
          </a:p>
          <a:p>
            <a:pPr marL="926465" marR="822960" indent="-914400">
              <a:lnSpc>
                <a:spcPct val="100000"/>
              </a:lnSpc>
              <a:spcBef>
                <a:spcPts val="100"/>
              </a:spcBef>
            </a:pPr>
            <a:r>
              <a:rPr sz="2000" spc="-5" dirty="0" smtClean="0">
                <a:latin typeface="Courier New"/>
                <a:cs typeface="Courier New"/>
              </a:rPr>
              <a:t>if </a:t>
            </a:r>
            <a:r>
              <a:rPr sz="2000" spc="-10" dirty="0">
                <a:latin typeface="Courier New"/>
                <a:cs typeface="Courier New"/>
              </a:rPr>
              <a:t>(condition </a:t>
            </a:r>
            <a:r>
              <a:rPr sz="2000" dirty="0">
                <a:latin typeface="Courier New"/>
                <a:cs typeface="Courier New"/>
              </a:rPr>
              <a:t>/ </a:t>
            </a:r>
            <a:r>
              <a:rPr sz="2000" spc="-10" dirty="0">
                <a:latin typeface="Courier New"/>
                <a:cs typeface="Courier New"/>
              </a:rPr>
              <a:t>boolean expression) </a:t>
            </a:r>
            <a:r>
              <a:rPr sz="2000" dirty="0">
                <a:latin typeface="Courier New"/>
                <a:cs typeface="Courier New"/>
              </a:rPr>
              <a:t>{ </a:t>
            </a:r>
            <a:r>
              <a:rPr sz="2000" spc="-1070" dirty="0">
                <a:latin typeface="Courier New"/>
                <a:cs typeface="Courier New"/>
              </a:rPr>
              <a:t> </a:t>
            </a: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marL="926465" marR="1915160" indent="-914400">
              <a:lnSpc>
                <a:spcPct val="100000"/>
              </a:lnSpc>
            </a:pPr>
            <a:r>
              <a:rPr sz="2000" spc="-10" dirty="0">
                <a:latin typeface="Courier New"/>
                <a:cs typeface="Courier New"/>
              </a:rPr>
              <a:t>else </a:t>
            </a:r>
            <a:r>
              <a:rPr sz="2000" spc="-5" dirty="0">
                <a:latin typeface="Courier New"/>
                <a:cs typeface="Courier New"/>
              </a:rPr>
              <a:t>if </a:t>
            </a:r>
            <a:r>
              <a:rPr sz="2000" spc="-10" dirty="0">
                <a:latin typeface="Courier New"/>
                <a:cs typeface="Courier New"/>
              </a:rPr>
              <a:t>(another condition) </a:t>
            </a:r>
            <a:r>
              <a:rPr sz="2000" dirty="0">
                <a:latin typeface="Courier New"/>
                <a:cs typeface="Courier New"/>
              </a:rPr>
              <a:t>{ </a:t>
            </a:r>
            <a:r>
              <a:rPr sz="2000" spc="-1070" dirty="0">
                <a:latin typeface="Courier New"/>
                <a:cs typeface="Courier New"/>
              </a:rPr>
              <a:t> </a:t>
            </a: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marL="12700" marR="5080">
              <a:lnSpc>
                <a:spcPct val="100000"/>
              </a:lnSpc>
            </a:pPr>
            <a:r>
              <a:rPr sz="2000" spc="-5" dirty="0">
                <a:latin typeface="Courier New"/>
                <a:cs typeface="Courier New"/>
              </a:rPr>
              <a:t>// </a:t>
            </a:r>
            <a:r>
              <a:rPr sz="2000" spc="-10" dirty="0">
                <a:latin typeface="Courier New"/>
                <a:cs typeface="Courier New"/>
              </a:rPr>
              <a:t>there may be more than one else if block </a:t>
            </a:r>
            <a:r>
              <a:rPr sz="2000" spc="-1070" dirty="0">
                <a:latin typeface="Courier New"/>
                <a:cs typeface="Courier New"/>
              </a:rPr>
              <a:t> </a:t>
            </a:r>
            <a:r>
              <a:rPr sz="2000" spc="-10" dirty="0">
                <a:latin typeface="Courier New"/>
                <a:cs typeface="Courier New"/>
              </a:rPr>
              <a:t>else</a:t>
            </a:r>
            <a:r>
              <a:rPr sz="2000" spc="-20" dirty="0">
                <a:latin typeface="Courier New"/>
                <a:cs typeface="Courier New"/>
              </a:rPr>
              <a:t> </a:t>
            </a:r>
            <a:r>
              <a:rPr sz="2000" dirty="0">
                <a:latin typeface="Courier New"/>
                <a:cs typeface="Courier New"/>
              </a:rPr>
              <a:t>{</a:t>
            </a:r>
          </a:p>
          <a:p>
            <a:pPr marL="926465">
              <a:lnSpc>
                <a:spcPct val="100000"/>
              </a:lnSpc>
              <a:spcBef>
                <a:spcPts val="5"/>
              </a:spcBef>
            </a:pPr>
            <a:r>
              <a:rPr sz="2000" spc="-10" dirty="0">
                <a:latin typeface="Courier New"/>
                <a:cs typeface="Courier New"/>
              </a:rPr>
              <a:t>statements</a:t>
            </a:r>
            <a:endParaRPr sz="2000" dirty="0">
              <a:latin typeface="Courier New"/>
              <a:cs typeface="Courier New"/>
            </a:endParaRPr>
          </a:p>
          <a:p>
            <a:pPr marL="12700">
              <a:lnSpc>
                <a:spcPct val="100000"/>
              </a:lnSpc>
            </a:pPr>
            <a:r>
              <a:rPr sz="2000" dirty="0">
                <a:latin typeface="Courier New"/>
                <a:cs typeface="Courier New"/>
              </a:rPr>
              <a:t>}</a:t>
            </a:r>
          </a:p>
          <a:p>
            <a:pPr>
              <a:lnSpc>
                <a:spcPct val="100000"/>
              </a:lnSpc>
              <a:spcBef>
                <a:spcPts val="15"/>
              </a:spcBef>
            </a:pPr>
            <a:endParaRPr sz="2000" dirty="0">
              <a:latin typeface="Courier New"/>
              <a:cs typeface="Courier New"/>
            </a:endParaRPr>
          </a:p>
          <a:p>
            <a:pPr marL="12700">
              <a:lnSpc>
                <a:spcPct val="100000"/>
              </a:lnSpc>
            </a:pPr>
            <a:r>
              <a:rPr sz="2000" spc="-5" dirty="0">
                <a:latin typeface="Courier New"/>
                <a:cs typeface="Courier New"/>
              </a:rPr>
              <a:t>$x</a:t>
            </a:r>
            <a:r>
              <a:rPr sz="2000" spc="-55" dirty="0">
                <a:latin typeface="Courier New"/>
                <a:cs typeface="Courier New"/>
              </a:rPr>
              <a:t> </a:t>
            </a:r>
            <a:r>
              <a:rPr sz="2000" dirty="0">
                <a:latin typeface="Courier New"/>
                <a:cs typeface="Courier New"/>
              </a:rPr>
              <a:t>=</a:t>
            </a:r>
            <a:r>
              <a:rPr sz="2000" spc="-50" dirty="0">
                <a:latin typeface="Courier New"/>
                <a:cs typeface="Courier New"/>
              </a:rPr>
              <a:t> </a:t>
            </a:r>
            <a:r>
              <a:rPr sz="2000" spc="-5" dirty="0">
                <a:latin typeface="Courier New"/>
                <a:cs typeface="Courier New"/>
              </a:rPr>
              <a:t>5;</a:t>
            </a:r>
            <a:endParaRPr sz="2000" dirty="0">
              <a:latin typeface="Courier New"/>
              <a:cs typeface="Courier New"/>
            </a:endParaRPr>
          </a:p>
          <a:p>
            <a:pPr marL="12700">
              <a:lnSpc>
                <a:spcPct val="100000"/>
              </a:lnSpc>
            </a:pPr>
            <a:r>
              <a:rPr sz="2000" spc="-5" dirty="0">
                <a:latin typeface="Courier New"/>
                <a:cs typeface="Courier New"/>
              </a:rPr>
              <a:t>if</a:t>
            </a:r>
            <a:r>
              <a:rPr sz="2000" spc="-35" dirty="0">
                <a:latin typeface="Courier New"/>
                <a:cs typeface="Courier New"/>
              </a:rPr>
              <a:t> </a:t>
            </a:r>
            <a:r>
              <a:rPr sz="2000" spc="-10" dirty="0">
                <a:latin typeface="Courier New"/>
                <a:cs typeface="Courier New"/>
              </a:rPr>
              <a:t>($x</a:t>
            </a:r>
            <a:r>
              <a:rPr sz="2000" spc="-15" dirty="0">
                <a:latin typeface="Courier New"/>
                <a:cs typeface="Courier New"/>
              </a:rPr>
              <a:t> </a:t>
            </a:r>
            <a:r>
              <a:rPr sz="2000" spc="-10" dirty="0">
                <a:latin typeface="Courier New"/>
                <a:cs typeface="Courier New"/>
              </a:rPr>
              <a:t>==</a:t>
            </a:r>
            <a:r>
              <a:rPr sz="2000" spc="-30" dirty="0">
                <a:latin typeface="Courier New"/>
                <a:cs typeface="Courier New"/>
              </a:rPr>
              <a:t> </a:t>
            </a:r>
            <a:r>
              <a:rPr sz="2000" spc="-10" dirty="0">
                <a:latin typeface="Courier New"/>
                <a:cs typeface="Courier New"/>
              </a:rPr>
              <a:t>5)</a:t>
            </a:r>
            <a:r>
              <a:rPr sz="2000" spc="-15" dirty="0">
                <a:latin typeface="Courier New"/>
                <a:cs typeface="Courier New"/>
              </a:rPr>
              <a:t> </a:t>
            </a:r>
            <a:r>
              <a:rPr sz="2000" dirty="0">
                <a:latin typeface="Courier New"/>
                <a:cs typeface="Courier New"/>
              </a:rPr>
              <a:t>{</a:t>
            </a:r>
          </a:p>
          <a:p>
            <a:pPr marL="926465">
              <a:lnSpc>
                <a:spcPct val="100000"/>
              </a:lnSpc>
            </a:pPr>
            <a:r>
              <a:rPr sz="2000" spc="-10" dirty="0">
                <a:latin typeface="Courier New"/>
                <a:cs typeface="Courier New"/>
              </a:rPr>
              <a:t>echo</a:t>
            </a:r>
            <a:r>
              <a:rPr sz="2000" spc="-20" dirty="0">
                <a:latin typeface="Courier New"/>
                <a:cs typeface="Courier New"/>
              </a:rPr>
              <a:t> </a:t>
            </a:r>
            <a:r>
              <a:rPr sz="2000" spc="-10" dirty="0">
                <a:latin typeface="Courier New"/>
                <a:cs typeface="Courier New"/>
              </a:rPr>
              <a:t>‘The</a:t>
            </a:r>
            <a:r>
              <a:rPr sz="2000" spc="-20" dirty="0">
                <a:latin typeface="Courier New"/>
                <a:cs typeface="Courier New"/>
              </a:rPr>
              <a:t> </a:t>
            </a:r>
            <a:r>
              <a:rPr sz="2000" spc="-10" dirty="0">
                <a:latin typeface="Courier New"/>
                <a:cs typeface="Courier New"/>
              </a:rPr>
              <a:t>variable</a:t>
            </a:r>
            <a:r>
              <a:rPr sz="2000" spc="-20" dirty="0">
                <a:latin typeface="Courier New"/>
                <a:cs typeface="Courier New"/>
              </a:rPr>
              <a:t> </a:t>
            </a:r>
            <a:r>
              <a:rPr sz="2000" dirty="0">
                <a:latin typeface="Courier New"/>
                <a:cs typeface="Courier New"/>
              </a:rPr>
              <a:t>x</a:t>
            </a:r>
            <a:r>
              <a:rPr sz="2000" spc="-20" dirty="0">
                <a:latin typeface="Courier New"/>
                <a:cs typeface="Courier New"/>
              </a:rPr>
              <a:t> </a:t>
            </a:r>
            <a:r>
              <a:rPr sz="2000" spc="-10" dirty="0">
                <a:latin typeface="Courier New"/>
                <a:cs typeface="Courier New"/>
              </a:rPr>
              <a:t>has</a:t>
            </a:r>
            <a:r>
              <a:rPr sz="2000" spc="-15" dirty="0">
                <a:latin typeface="Courier New"/>
                <a:cs typeface="Courier New"/>
              </a:rPr>
              <a:t> </a:t>
            </a:r>
            <a:r>
              <a:rPr sz="2000" spc="-10" dirty="0">
                <a:latin typeface="Courier New"/>
                <a:cs typeface="Courier New"/>
              </a:rPr>
              <a:t>value</a:t>
            </a:r>
            <a:r>
              <a:rPr sz="2000" spc="-20" dirty="0">
                <a:latin typeface="Courier New"/>
                <a:cs typeface="Courier New"/>
              </a:rPr>
              <a:t> </a:t>
            </a:r>
            <a:r>
              <a:rPr sz="2000" spc="-10" dirty="0">
                <a:latin typeface="Courier New"/>
                <a:cs typeface="Courier New"/>
              </a:rPr>
              <a:t>5!’;</a:t>
            </a:r>
            <a:endParaRPr sz="2000" dirty="0">
              <a:latin typeface="Courier New"/>
              <a:cs typeface="Courier New"/>
            </a:endParaRPr>
          </a:p>
          <a:p>
            <a:pPr marL="12700">
              <a:lnSpc>
                <a:spcPct val="100000"/>
              </a:lnSpc>
            </a:pPr>
            <a:r>
              <a:rPr sz="2000" dirty="0">
                <a:latin typeface="Courier New"/>
                <a:cs typeface="Courier New"/>
              </a:rPr>
              <a:t>}</a:t>
            </a:r>
          </a:p>
        </p:txBody>
      </p:sp>
    </p:spTree>
    <p:extLst>
      <p:ext uri="{BB962C8B-B14F-4D97-AF65-F5344CB8AC3E}">
        <p14:creationId xmlns:p14="http://schemas.microsoft.com/office/powerpoint/2010/main" val="233317970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a:t>
            </a:r>
            <a:r>
              <a:rPr lang="en-US" dirty="0" err="1"/>
              <a:t>php</a:t>
            </a:r>
            <a:endParaRPr lang="en-US" dirty="0"/>
          </a:p>
          <a:p>
            <a:r>
              <a:rPr lang="en-US" dirty="0"/>
              <a:t>$</a:t>
            </a:r>
            <a:r>
              <a:rPr lang="en-US" dirty="0" err="1"/>
              <a:t>ans</a:t>
            </a:r>
            <a:r>
              <a:rPr lang="en-US" dirty="0"/>
              <a:t> = 42;</a:t>
            </a:r>
          </a:p>
          <a:p>
            <a:r>
              <a:rPr lang="en-US" dirty="0"/>
              <a:t>if ( $</a:t>
            </a:r>
            <a:r>
              <a:rPr lang="en-US" dirty="0" err="1"/>
              <a:t>ans</a:t>
            </a:r>
            <a:r>
              <a:rPr lang="en-US" dirty="0"/>
              <a:t> == 42 ) {</a:t>
            </a:r>
          </a:p>
          <a:p>
            <a:r>
              <a:rPr lang="en-US" dirty="0"/>
              <a:t>print "Hello world!\n";</a:t>
            </a:r>
          </a:p>
          <a:p>
            <a:r>
              <a:rPr lang="en-US" dirty="0"/>
              <a:t>} else {                          Hello World!</a:t>
            </a:r>
          </a:p>
          <a:p>
            <a:r>
              <a:rPr lang="en-US" dirty="0"/>
              <a:t>}</a:t>
            </a:r>
          </a:p>
          <a:p>
            <a:r>
              <a:rPr lang="en-US" dirty="0" smtClean="0"/>
              <a:t>?&gt;</a:t>
            </a:r>
            <a:endParaRPr lang="en-US" dirty="0"/>
          </a:p>
        </p:txBody>
      </p:sp>
    </p:spTree>
    <p:extLst>
      <p:ext uri="{BB962C8B-B14F-4D97-AF65-F5344CB8AC3E}">
        <p14:creationId xmlns:p14="http://schemas.microsoft.com/office/powerpoint/2010/main" val="5937769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3234055"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215" dirty="0"/>
              <a:t>while</a:t>
            </a:r>
            <a:r>
              <a:rPr spc="25" dirty="0"/>
              <a:t> </a:t>
            </a:r>
            <a:r>
              <a:rPr spc="-145" dirty="0"/>
              <a:t>loop</a:t>
            </a:r>
          </a:p>
        </p:txBody>
      </p:sp>
      <p:sp>
        <p:nvSpPr>
          <p:cNvPr id="3" name="object 3"/>
          <p:cNvSpPr txBox="1"/>
          <p:nvPr/>
        </p:nvSpPr>
        <p:spPr>
          <a:xfrm>
            <a:off x="1069644" y="1682241"/>
            <a:ext cx="6537325" cy="249491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while</a:t>
            </a:r>
            <a:r>
              <a:rPr sz="1800" spc="-45" dirty="0">
                <a:solidFill>
                  <a:srgbClr val="963139"/>
                </a:solidFill>
                <a:latin typeface="Courier New"/>
                <a:cs typeface="Courier New"/>
              </a:rPr>
              <a:t> </a:t>
            </a:r>
            <a:r>
              <a:rPr sz="1800" spc="-10" dirty="0">
                <a:solidFill>
                  <a:srgbClr val="963139"/>
                </a:solidFill>
                <a:latin typeface="Courier New"/>
                <a:cs typeface="Courier New"/>
              </a:rPr>
              <a:t>(condition)</a:t>
            </a:r>
            <a:r>
              <a:rPr sz="1800" spc="-3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6465">
              <a:lnSpc>
                <a:spcPct val="100000"/>
              </a:lnSpc>
            </a:pPr>
            <a:r>
              <a:rPr sz="1800" spc="-10" dirty="0">
                <a:solidFill>
                  <a:srgbClr val="963139"/>
                </a:solidFill>
                <a:latin typeface="Courier New"/>
                <a:cs typeface="Courier New"/>
              </a:rPr>
              <a:t>statements</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a:lnSpc>
                <a:spcPct val="100000"/>
              </a:lnSpc>
              <a:spcBef>
                <a:spcPts val="10"/>
              </a:spcBef>
            </a:pPr>
            <a:endParaRPr sz="1900">
              <a:latin typeface="Courier New"/>
              <a:cs typeface="Courier New"/>
            </a:endParaRPr>
          </a:p>
          <a:p>
            <a:pPr marL="127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2;</a:t>
            </a:r>
            <a:endParaRPr sz="1800">
              <a:latin typeface="Courier New"/>
              <a:cs typeface="Courier New"/>
            </a:endParaRPr>
          </a:p>
          <a:p>
            <a:pPr marL="12700">
              <a:lnSpc>
                <a:spcPct val="100000"/>
              </a:lnSpc>
            </a:pPr>
            <a:r>
              <a:rPr sz="1800" spc="-10" dirty="0">
                <a:solidFill>
                  <a:srgbClr val="963139"/>
                </a:solidFill>
                <a:latin typeface="Courier New"/>
                <a:cs typeface="Courier New"/>
              </a:rPr>
              <a:t>while</a:t>
            </a:r>
            <a:r>
              <a:rPr sz="1800" spc="-30" dirty="0">
                <a:solidFill>
                  <a:srgbClr val="963139"/>
                </a:solidFill>
                <a:latin typeface="Courier New"/>
                <a:cs typeface="Courier New"/>
              </a:rPr>
              <a:t> </a:t>
            </a:r>
            <a:r>
              <a:rPr sz="1800" spc="-10" dirty="0">
                <a:solidFill>
                  <a:srgbClr val="963139"/>
                </a:solidFill>
                <a:latin typeface="Courier New"/>
                <a:cs typeface="Courier New"/>
              </a:rPr>
              <a:t>($x</a:t>
            </a:r>
            <a:r>
              <a:rPr sz="1800" spc="-30" dirty="0">
                <a:solidFill>
                  <a:srgbClr val="963139"/>
                </a:solidFill>
                <a:latin typeface="Courier New"/>
                <a:cs typeface="Courier New"/>
              </a:rPr>
              <a:t> </a:t>
            </a:r>
            <a:r>
              <a:rPr sz="1800" dirty="0">
                <a:solidFill>
                  <a:srgbClr val="963139"/>
                </a:solidFill>
                <a:latin typeface="Courier New"/>
                <a:cs typeface="Courier New"/>
              </a:rPr>
              <a:t>&lt;</a:t>
            </a:r>
            <a:r>
              <a:rPr sz="1800" spc="-25" dirty="0">
                <a:solidFill>
                  <a:srgbClr val="963139"/>
                </a:solidFill>
                <a:latin typeface="Courier New"/>
                <a:cs typeface="Courier New"/>
              </a:rPr>
              <a:t> </a:t>
            </a:r>
            <a:r>
              <a:rPr sz="1800" spc="-10" dirty="0">
                <a:solidFill>
                  <a:srgbClr val="963139"/>
                </a:solidFill>
                <a:latin typeface="Courier New"/>
                <a:cs typeface="Courier New"/>
              </a:rPr>
              <a:t>1000)</a:t>
            </a:r>
            <a:r>
              <a:rPr sz="1800" spc="-2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6465">
              <a:lnSpc>
                <a:spcPct val="100000"/>
              </a:lnSpc>
            </a:pPr>
            <a:r>
              <a:rPr sz="1800" spc="-10" dirty="0">
                <a:solidFill>
                  <a:srgbClr val="963139"/>
                </a:solidFill>
                <a:latin typeface="Courier New"/>
                <a:cs typeface="Courier New"/>
              </a:rPr>
              <a:t>echo</a:t>
            </a:r>
            <a:r>
              <a:rPr sz="1800" spc="-20" dirty="0">
                <a:solidFill>
                  <a:srgbClr val="963139"/>
                </a:solidFill>
                <a:latin typeface="Courier New"/>
                <a:cs typeface="Courier New"/>
              </a:rPr>
              <a:t> </a:t>
            </a:r>
            <a:r>
              <a:rPr sz="1800" spc="-5" dirty="0">
                <a:solidFill>
                  <a:srgbClr val="963139"/>
                </a:solidFill>
                <a:latin typeface="Courier New"/>
                <a:cs typeface="Courier New"/>
              </a:rPr>
              <a:t>$x</a:t>
            </a:r>
            <a:r>
              <a:rPr sz="1800" spc="-20"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10" dirty="0">
                <a:solidFill>
                  <a:srgbClr val="963139"/>
                </a:solidFill>
                <a:latin typeface="Courier New"/>
                <a:cs typeface="Courier New"/>
              </a:rPr>
              <a:t>“n”;</a:t>
            </a:r>
            <a:r>
              <a:rPr sz="1800" spc="-20" dirty="0">
                <a:solidFill>
                  <a:srgbClr val="963139"/>
                </a:solidFill>
                <a:latin typeface="Courier New"/>
                <a:cs typeface="Courier New"/>
              </a:rPr>
              <a:t> </a:t>
            </a:r>
            <a:r>
              <a:rPr sz="1800" spc="-10" dirty="0">
                <a:solidFill>
                  <a:srgbClr val="963139"/>
                </a:solidFill>
                <a:latin typeface="Courier New"/>
                <a:cs typeface="Courier New"/>
              </a:rPr>
              <a:t>//</a:t>
            </a:r>
            <a:r>
              <a:rPr sz="1800" dirty="0">
                <a:solidFill>
                  <a:srgbClr val="963139"/>
                </a:solidFill>
                <a:latin typeface="Courier New"/>
                <a:cs typeface="Courier New"/>
              </a:rPr>
              <a:t> </a:t>
            </a:r>
            <a:r>
              <a:rPr sz="1800" spc="-10" dirty="0">
                <a:solidFill>
                  <a:srgbClr val="963139"/>
                </a:solidFill>
                <a:latin typeface="Courier New"/>
                <a:cs typeface="Courier New"/>
              </a:rPr>
              <a:t>\n</a:t>
            </a:r>
            <a:r>
              <a:rPr sz="1800" spc="-15" dirty="0">
                <a:solidFill>
                  <a:srgbClr val="963139"/>
                </a:solidFill>
                <a:latin typeface="Courier New"/>
                <a:cs typeface="Courier New"/>
              </a:rPr>
              <a:t> </a:t>
            </a:r>
            <a:r>
              <a:rPr sz="1800" spc="-10" dirty="0">
                <a:solidFill>
                  <a:srgbClr val="963139"/>
                </a:solidFill>
                <a:latin typeface="Courier New"/>
                <a:cs typeface="Courier New"/>
              </a:rPr>
              <a:t>is newline</a:t>
            </a:r>
            <a:r>
              <a:rPr sz="1800" spc="-15" dirty="0">
                <a:solidFill>
                  <a:srgbClr val="963139"/>
                </a:solidFill>
                <a:latin typeface="Courier New"/>
                <a:cs typeface="Courier New"/>
              </a:rPr>
              <a:t> </a:t>
            </a:r>
            <a:r>
              <a:rPr sz="1800" spc="-10" dirty="0">
                <a:solidFill>
                  <a:srgbClr val="963139"/>
                </a:solidFill>
                <a:latin typeface="Courier New"/>
                <a:cs typeface="Courier New"/>
              </a:rPr>
              <a:t>character</a:t>
            </a:r>
            <a:endParaRPr sz="1800">
              <a:latin typeface="Courier New"/>
              <a:cs typeface="Courier New"/>
            </a:endParaRPr>
          </a:p>
          <a:p>
            <a:pPr marL="926465">
              <a:lnSpc>
                <a:spcPct val="100000"/>
              </a:lnSpc>
            </a:pPr>
            <a:r>
              <a:rPr sz="1800" spc="-5"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5"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0" dirty="0">
                <a:solidFill>
                  <a:srgbClr val="963139"/>
                </a:solidFill>
                <a:latin typeface="Courier New"/>
                <a:cs typeface="Courier New"/>
              </a:rPr>
              <a:t> </a:t>
            </a:r>
            <a:r>
              <a:rPr sz="1800" spc="-10" dirty="0">
                <a:solidFill>
                  <a:srgbClr val="963139"/>
                </a:solidFill>
                <a:latin typeface="Courier New"/>
                <a:cs typeface="Courier New"/>
              </a:rPr>
              <a:t>$x;</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graphicFrame>
        <p:nvGraphicFramePr>
          <p:cNvPr id="4" name="object 4"/>
          <p:cNvGraphicFramePr>
            <a:graphicFrameLocks noGrp="1"/>
          </p:cNvGraphicFramePr>
          <p:nvPr/>
        </p:nvGraphicFramePr>
        <p:xfrm>
          <a:off x="1593850" y="4260850"/>
          <a:ext cx="6096000" cy="2225038"/>
        </p:xfrm>
        <a:graphic>
          <a:graphicData uri="http://schemas.openxmlformats.org/drawingml/2006/table">
            <a:tbl>
              <a:tblPr firstRow="1" bandRow="1">
                <a:tableStyleId>{2D5ABB26-0587-4C30-8999-92F81FD0307C}</a:tableStyleId>
              </a:tblPr>
              <a:tblGrid>
                <a:gridCol w="2032000"/>
                <a:gridCol w="2032000"/>
                <a:gridCol w="2032000"/>
              </a:tblGrid>
              <a:tr h="370839">
                <a:tc>
                  <a:txBody>
                    <a:bodyPr/>
                    <a:lstStyle/>
                    <a:p>
                      <a:pPr marL="91440">
                        <a:lnSpc>
                          <a:spcPct val="100000"/>
                        </a:lnSpc>
                        <a:spcBef>
                          <a:spcPts val="185"/>
                        </a:spcBef>
                      </a:pPr>
                      <a:r>
                        <a:rPr sz="1800" b="1" spc="-80" dirty="0">
                          <a:solidFill>
                            <a:srgbClr val="FFFFFF"/>
                          </a:solidFill>
                          <a:latin typeface="Arial"/>
                          <a:cs typeface="Arial"/>
                        </a:rPr>
                        <a:t>V</a:t>
                      </a:r>
                      <a:r>
                        <a:rPr sz="1800" b="1" dirty="0">
                          <a:solidFill>
                            <a:srgbClr val="FFFFFF"/>
                          </a:solidFill>
                          <a:latin typeface="Arial"/>
                          <a:cs typeface="Arial"/>
                        </a:rPr>
                        <a:t>alue</a:t>
                      </a:r>
                      <a:r>
                        <a:rPr sz="1800" b="1" spc="-45" dirty="0">
                          <a:solidFill>
                            <a:srgbClr val="FFFFFF"/>
                          </a:solidFill>
                          <a:latin typeface="Arial"/>
                          <a:cs typeface="Arial"/>
                        </a:rPr>
                        <a:t> </a:t>
                      </a:r>
                      <a:r>
                        <a:rPr sz="1800" b="1" dirty="0">
                          <a:solidFill>
                            <a:srgbClr val="FFFFFF"/>
                          </a:solidFill>
                          <a:latin typeface="Arial"/>
                          <a:cs typeface="Arial"/>
                        </a:rPr>
                        <a:t>of</a:t>
                      </a:r>
                      <a:r>
                        <a:rPr sz="1800" b="1" spc="90" dirty="0">
                          <a:solidFill>
                            <a:srgbClr val="FFFFFF"/>
                          </a:solidFill>
                          <a:latin typeface="Arial"/>
                          <a:cs typeface="Arial"/>
                        </a:rPr>
                        <a:t> </a:t>
                      </a:r>
                      <a:r>
                        <a:rPr sz="1800" b="1" spc="-5" dirty="0">
                          <a:solidFill>
                            <a:srgbClr val="FFFFFF"/>
                          </a:solidFill>
                          <a:latin typeface="Courier New"/>
                          <a:cs typeface="Courier New"/>
                        </a:rPr>
                        <a:t>$x</a:t>
                      </a:r>
                      <a:endParaRPr sz="1800">
                        <a:latin typeface="Courier New"/>
                        <a:cs typeface="Courier New"/>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c>
                  <a:txBody>
                    <a:bodyPr/>
                    <a:lstStyle/>
                    <a:p>
                      <a:pPr marL="92075">
                        <a:lnSpc>
                          <a:spcPct val="100000"/>
                        </a:lnSpc>
                        <a:spcBef>
                          <a:spcPts val="185"/>
                        </a:spcBef>
                      </a:pPr>
                      <a:r>
                        <a:rPr sz="1800" b="1" spc="-5" dirty="0">
                          <a:solidFill>
                            <a:srgbClr val="FFFFFF"/>
                          </a:solidFill>
                          <a:latin typeface="Courier New"/>
                          <a:cs typeface="Courier New"/>
                        </a:rPr>
                        <a:t>$</a:t>
                      </a:r>
                      <a:r>
                        <a:rPr sz="1800" b="1" dirty="0">
                          <a:solidFill>
                            <a:srgbClr val="FFFFFF"/>
                          </a:solidFill>
                          <a:latin typeface="Courier New"/>
                          <a:cs typeface="Courier New"/>
                        </a:rPr>
                        <a:t>x</a:t>
                      </a:r>
                      <a:r>
                        <a:rPr sz="1800" b="1" spc="-615" dirty="0">
                          <a:solidFill>
                            <a:srgbClr val="FFFFFF"/>
                          </a:solidFill>
                          <a:latin typeface="Courier New"/>
                          <a:cs typeface="Courier New"/>
                        </a:rPr>
                        <a:t> </a:t>
                      </a:r>
                      <a:r>
                        <a:rPr sz="1800" b="1" dirty="0">
                          <a:solidFill>
                            <a:srgbClr val="FFFFFF"/>
                          </a:solidFill>
                          <a:latin typeface="Arial"/>
                          <a:cs typeface="Arial"/>
                        </a:rPr>
                        <a:t>&lt;</a:t>
                      </a:r>
                      <a:r>
                        <a:rPr sz="1800" b="1" spc="-35" dirty="0">
                          <a:solidFill>
                            <a:srgbClr val="FFFFFF"/>
                          </a:solidFill>
                          <a:latin typeface="Arial"/>
                          <a:cs typeface="Arial"/>
                        </a:rPr>
                        <a:t> </a:t>
                      </a:r>
                      <a:r>
                        <a:rPr sz="1800" b="1" dirty="0">
                          <a:solidFill>
                            <a:srgbClr val="FFFFFF"/>
                          </a:solidFill>
                          <a:latin typeface="Arial"/>
                          <a:cs typeface="Arial"/>
                        </a:rPr>
                        <a:t>1</a:t>
                      </a:r>
                      <a:r>
                        <a:rPr sz="1800" b="1" spc="5" dirty="0">
                          <a:solidFill>
                            <a:srgbClr val="FFFFFF"/>
                          </a:solidFill>
                          <a:latin typeface="Arial"/>
                          <a:cs typeface="Arial"/>
                        </a:rPr>
                        <a:t>0</a:t>
                      </a:r>
                      <a:r>
                        <a:rPr sz="1800" b="1" dirty="0">
                          <a:solidFill>
                            <a:srgbClr val="FFFFFF"/>
                          </a:solidFill>
                          <a:latin typeface="Arial"/>
                          <a:cs typeface="Arial"/>
                        </a:rPr>
                        <a:t>0</a:t>
                      </a:r>
                      <a:r>
                        <a:rPr sz="1800" b="1" spc="5" dirty="0">
                          <a:solidFill>
                            <a:srgbClr val="FFFFFF"/>
                          </a:solidFill>
                          <a:latin typeface="Arial"/>
                          <a:cs typeface="Arial"/>
                        </a:rPr>
                        <a:t>0</a:t>
                      </a:r>
                      <a:r>
                        <a:rPr sz="1800" b="1" dirty="0">
                          <a:solidFill>
                            <a:srgbClr val="FFFFFF"/>
                          </a:solidFill>
                          <a:latin typeface="Arial"/>
                          <a:cs typeface="Arial"/>
                        </a:rPr>
                        <a:t>?</a:t>
                      </a:r>
                      <a:endParaRPr sz="1800">
                        <a:latin typeface="Arial"/>
                        <a:cs typeface="Arial"/>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c>
                  <a:txBody>
                    <a:bodyPr/>
                    <a:lstStyle/>
                    <a:p>
                      <a:pPr marL="92075">
                        <a:lnSpc>
                          <a:spcPct val="100000"/>
                        </a:lnSpc>
                        <a:spcBef>
                          <a:spcPts val="270"/>
                        </a:spcBef>
                      </a:pPr>
                      <a:r>
                        <a:rPr sz="1800" b="1" spc="-165" dirty="0">
                          <a:solidFill>
                            <a:srgbClr val="FFFFFF"/>
                          </a:solidFill>
                          <a:latin typeface="Arial"/>
                          <a:cs typeface="Arial"/>
                        </a:rPr>
                        <a:t>Result</a:t>
                      </a:r>
                      <a:endParaRPr sz="1800">
                        <a:latin typeface="Arial"/>
                        <a:cs typeface="Aria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76767"/>
                    </a:solidFill>
                  </a:tcPr>
                </a:tc>
              </a:tr>
              <a:tr h="370840">
                <a:tc>
                  <a:txBody>
                    <a:bodyPr/>
                    <a:lstStyle/>
                    <a:p>
                      <a:pPr marL="91440">
                        <a:lnSpc>
                          <a:spcPct val="100000"/>
                        </a:lnSpc>
                        <a:spcBef>
                          <a:spcPts val="270"/>
                        </a:spcBef>
                      </a:pPr>
                      <a:r>
                        <a:rPr sz="1800" dirty="0">
                          <a:solidFill>
                            <a:srgbClr val="963139"/>
                          </a:solidFill>
                          <a:latin typeface="Microsoft Sans Serif"/>
                          <a:cs typeface="Microsoft Sans Serif"/>
                        </a:rPr>
                        <a:t>2</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2</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2D2"/>
                    </a:solidFill>
                  </a:tcPr>
                </a:tc>
              </a:tr>
              <a:tr h="370839">
                <a:tc>
                  <a:txBody>
                    <a:bodyPr/>
                    <a:lstStyle/>
                    <a:p>
                      <a:pPr marL="91440">
                        <a:lnSpc>
                          <a:spcPct val="100000"/>
                        </a:lnSpc>
                        <a:spcBef>
                          <a:spcPts val="270"/>
                        </a:spcBef>
                      </a:pPr>
                      <a:r>
                        <a:rPr sz="1800" dirty="0">
                          <a:solidFill>
                            <a:srgbClr val="963139"/>
                          </a:solidFill>
                          <a:latin typeface="Microsoft Sans Serif"/>
                          <a:cs typeface="Microsoft Sans Serif"/>
                        </a:rPr>
                        <a:t>4</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4</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r>
              <a:tr h="370840">
                <a:tc>
                  <a:txBody>
                    <a:bodyPr/>
                    <a:lstStyle/>
                    <a:p>
                      <a:pPr marL="91440">
                        <a:lnSpc>
                          <a:spcPct val="100000"/>
                        </a:lnSpc>
                        <a:spcBef>
                          <a:spcPts val="270"/>
                        </a:spcBef>
                      </a:pPr>
                      <a:r>
                        <a:rPr sz="1800" spc="-10" dirty="0">
                          <a:solidFill>
                            <a:srgbClr val="963139"/>
                          </a:solidFill>
                          <a:latin typeface="Microsoft Sans Serif"/>
                          <a:cs typeface="Microsoft Sans Serif"/>
                        </a:rPr>
                        <a:t>16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0" dirty="0">
                          <a:solidFill>
                            <a:srgbClr val="963139"/>
                          </a:solidFill>
                          <a:latin typeface="Microsoft Sans Serif"/>
                          <a:cs typeface="Microsoft Sans Serif"/>
                        </a:rPr>
                        <a:t>16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r>
              <a:tr h="370840">
                <a:tc>
                  <a:txBody>
                    <a:bodyPr/>
                    <a:lstStyle/>
                    <a:p>
                      <a:pPr marL="91440">
                        <a:lnSpc>
                          <a:spcPct val="100000"/>
                        </a:lnSpc>
                        <a:spcBef>
                          <a:spcPts val="275"/>
                        </a:spcBef>
                      </a:pPr>
                      <a:r>
                        <a:rPr sz="1800" spc="-10" dirty="0">
                          <a:solidFill>
                            <a:srgbClr val="963139"/>
                          </a:solidFill>
                          <a:latin typeface="Microsoft Sans Serif"/>
                          <a:cs typeface="Microsoft Sans Serif"/>
                        </a:rPr>
                        <a:t>256</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5"/>
                        </a:spcBef>
                      </a:pPr>
                      <a:r>
                        <a:rPr sz="1800" spc="-335" dirty="0">
                          <a:solidFill>
                            <a:srgbClr val="963139"/>
                          </a:solidFill>
                          <a:latin typeface="Microsoft Sans Serif"/>
                          <a:cs typeface="Microsoft Sans Serif"/>
                        </a:rPr>
                        <a:t>TRUE</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075">
                        <a:lnSpc>
                          <a:spcPct val="100000"/>
                        </a:lnSpc>
                        <a:spcBef>
                          <a:spcPts val="275"/>
                        </a:spcBef>
                      </a:pPr>
                      <a:r>
                        <a:rPr sz="1800" dirty="0">
                          <a:solidFill>
                            <a:srgbClr val="963139"/>
                          </a:solidFill>
                          <a:latin typeface="Microsoft Sans Serif"/>
                          <a:cs typeface="Microsoft Sans Serif"/>
                        </a:rPr>
                        <a:t>prin</a:t>
                      </a:r>
                      <a:r>
                        <a:rPr sz="1800" spc="5" dirty="0">
                          <a:solidFill>
                            <a:srgbClr val="963139"/>
                          </a:solidFill>
                          <a:latin typeface="Microsoft Sans Serif"/>
                          <a:cs typeface="Microsoft Sans Serif"/>
                        </a:rPr>
                        <a:t>t</a:t>
                      </a:r>
                      <a:r>
                        <a:rPr sz="1800" dirty="0">
                          <a:solidFill>
                            <a:srgbClr val="963139"/>
                          </a:solidFill>
                          <a:latin typeface="Microsoft Sans Serif"/>
                          <a:cs typeface="Microsoft Sans Serif"/>
                        </a:rPr>
                        <a:t>s</a:t>
                      </a:r>
                      <a:r>
                        <a:rPr sz="1800" spc="10" dirty="0">
                          <a:solidFill>
                            <a:srgbClr val="963139"/>
                          </a:solidFill>
                          <a:latin typeface="Microsoft Sans Serif"/>
                          <a:cs typeface="Microsoft Sans Serif"/>
                        </a:rPr>
                        <a:t> </a:t>
                      </a:r>
                      <a:r>
                        <a:rPr sz="1800" dirty="0">
                          <a:solidFill>
                            <a:srgbClr val="963139"/>
                          </a:solidFill>
                          <a:latin typeface="Microsoft Sans Serif"/>
                          <a:cs typeface="Microsoft Sans Serif"/>
                        </a:rPr>
                        <a:t>256</a:t>
                      </a:r>
                      <a:endParaRPr sz="1800">
                        <a:latin typeface="Microsoft Sans Serif"/>
                        <a:cs typeface="Microsoft Sans Serif"/>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r>
              <a:tr h="370840">
                <a:tc>
                  <a:txBody>
                    <a:bodyPr/>
                    <a:lstStyle/>
                    <a:p>
                      <a:pPr marL="91440">
                        <a:lnSpc>
                          <a:spcPct val="100000"/>
                        </a:lnSpc>
                        <a:spcBef>
                          <a:spcPts val="270"/>
                        </a:spcBef>
                      </a:pPr>
                      <a:r>
                        <a:rPr sz="1800" spc="-10" dirty="0">
                          <a:solidFill>
                            <a:srgbClr val="963139"/>
                          </a:solidFill>
                          <a:latin typeface="Microsoft Sans Serif"/>
                          <a:cs typeface="Microsoft Sans Serif"/>
                        </a:rPr>
                        <a:t>65536</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300" dirty="0">
                          <a:solidFill>
                            <a:srgbClr val="963139"/>
                          </a:solidFill>
                          <a:latin typeface="Microsoft Sans Serif"/>
                          <a:cs typeface="Microsoft Sans Serif"/>
                        </a:rPr>
                        <a:t>FALSE</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c>
                  <a:txBody>
                    <a:bodyPr/>
                    <a:lstStyle/>
                    <a:p>
                      <a:pPr marL="92075">
                        <a:lnSpc>
                          <a:spcPct val="100000"/>
                        </a:lnSpc>
                        <a:spcBef>
                          <a:spcPts val="270"/>
                        </a:spcBef>
                      </a:pPr>
                      <a:r>
                        <a:rPr sz="1800" spc="-100" dirty="0">
                          <a:solidFill>
                            <a:srgbClr val="963139"/>
                          </a:solidFill>
                          <a:latin typeface="Microsoft Sans Serif"/>
                          <a:cs typeface="Microsoft Sans Serif"/>
                        </a:rPr>
                        <a:t>exits</a:t>
                      </a:r>
                      <a:r>
                        <a:rPr sz="1800" spc="-15" dirty="0">
                          <a:solidFill>
                            <a:srgbClr val="963139"/>
                          </a:solidFill>
                          <a:latin typeface="Microsoft Sans Serif"/>
                          <a:cs typeface="Microsoft Sans Serif"/>
                        </a:rPr>
                        <a:t> </a:t>
                      </a:r>
                      <a:r>
                        <a:rPr sz="1800" spc="-65" dirty="0">
                          <a:solidFill>
                            <a:srgbClr val="963139"/>
                          </a:solidFill>
                          <a:latin typeface="Microsoft Sans Serif"/>
                          <a:cs typeface="Microsoft Sans Serif"/>
                        </a:rPr>
                        <a:t>loop</a:t>
                      </a:r>
                      <a:endParaRPr sz="1800">
                        <a:latin typeface="Microsoft Sans Serif"/>
                        <a:cs typeface="Microsoft Sans Serif"/>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2D2"/>
                    </a:solidFill>
                  </a:tcPr>
                </a:tc>
              </a:tr>
            </a:tbl>
          </a:graphicData>
        </a:graphic>
      </p:graphicFrame>
    </p:spTree>
    <p:extLst>
      <p:ext uri="{BB962C8B-B14F-4D97-AF65-F5344CB8AC3E}">
        <p14:creationId xmlns:p14="http://schemas.microsoft.com/office/powerpoint/2010/main" val="331031136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4008754"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130" dirty="0"/>
              <a:t>d</a:t>
            </a:r>
            <a:r>
              <a:rPr spc="-135" dirty="0"/>
              <a:t>o</a:t>
            </a:r>
            <a:r>
              <a:rPr spc="-5" dirty="0"/>
              <a:t>-</a:t>
            </a:r>
            <a:r>
              <a:rPr spc="-215" dirty="0"/>
              <a:t>while</a:t>
            </a:r>
            <a:r>
              <a:rPr spc="25" dirty="0"/>
              <a:t> </a:t>
            </a:r>
            <a:r>
              <a:rPr spc="-145" dirty="0"/>
              <a:t>loop</a:t>
            </a:r>
          </a:p>
        </p:txBody>
      </p:sp>
      <p:sp>
        <p:nvSpPr>
          <p:cNvPr id="3" name="object 3"/>
          <p:cNvSpPr txBox="1"/>
          <p:nvPr/>
        </p:nvSpPr>
        <p:spPr>
          <a:xfrm>
            <a:off x="691387" y="1612138"/>
            <a:ext cx="7668259" cy="4546600"/>
          </a:xfrm>
          <a:prstGeom prst="rect">
            <a:avLst/>
          </a:prstGeom>
        </p:spPr>
        <p:txBody>
          <a:bodyPr vert="horz" wrap="square" lIns="0" tIns="13335" rIns="0" bIns="0" rtlCol="0">
            <a:spAutoFit/>
          </a:bodyPr>
          <a:lstStyle/>
          <a:p>
            <a:pPr marL="332740" marR="5080" indent="-320040">
              <a:lnSpc>
                <a:spcPct val="100000"/>
              </a:lnSpc>
              <a:spcBef>
                <a:spcPts val="105"/>
              </a:spcBef>
              <a:buSzPct val="60344"/>
              <a:buFont typeface="Wingdings"/>
              <a:buChar char=""/>
              <a:tabLst>
                <a:tab pos="332740" algn="l"/>
              </a:tabLst>
            </a:pPr>
            <a:r>
              <a:rPr sz="2900" spc="-335" dirty="0">
                <a:solidFill>
                  <a:srgbClr val="963139"/>
                </a:solidFill>
                <a:latin typeface="Microsoft Sans Serif"/>
                <a:cs typeface="Microsoft Sans Serif"/>
              </a:rPr>
              <a:t>The</a:t>
            </a:r>
            <a:r>
              <a:rPr sz="2900" spc="30" dirty="0">
                <a:solidFill>
                  <a:srgbClr val="963139"/>
                </a:solidFill>
                <a:latin typeface="Microsoft Sans Serif"/>
                <a:cs typeface="Microsoft Sans Serif"/>
              </a:rPr>
              <a:t> </a:t>
            </a:r>
            <a:r>
              <a:rPr sz="2900" spc="-170" dirty="0">
                <a:solidFill>
                  <a:srgbClr val="963139"/>
                </a:solidFill>
                <a:latin typeface="Microsoft Sans Serif"/>
                <a:cs typeface="Microsoft Sans Serif"/>
              </a:rPr>
              <a:t>code</a:t>
            </a:r>
            <a:r>
              <a:rPr sz="2900" spc="15" dirty="0">
                <a:solidFill>
                  <a:srgbClr val="963139"/>
                </a:solidFill>
                <a:latin typeface="Microsoft Sans Serif"/>
                <a:cs typeface="Microsoft Sans Serif"/>
              </a:rPr>
              <a:t> </a:t>
            </a:r>
            <a:r>
              <a:rPr sz="2900" spc="-155" dirty="0">
                <a:solidFill>
                  <a:srgbClr val="963139"/>
                </a:solidFill>
                <a:latin typeface="Microsoft Sans Serif"/>
                <a:cs typeface="Microsoft Sans Serif"/>
              </a:rPr>
              <a:t>within</a:t>
            </a:r>
            <a:r>
              <a:rPr sz="2900" spc="40" dirty="0">
                <a:solidFill>
                  <a:srgbClr val="963139"/>
                </a:solidFill>
                <a:latin typeface="Microsoft Sans Serif"/>
                <a:cs typeface="Microsoft Sans Serif"/>
              </a:rPr>
              <a:t> </a:t>
            </a:r>
            <a:r>
              <a:rPr sz="2900" spc="-175" dirty="0">
                <a:solidFill>
                  <a:srgbClr val="963139"/>
                </a:solidFill>
                <a:latin typeface="Microsoft Sans Serif"/>
                <a:cs typeface="Microsoft Sans Serif"/>
              </a:rPr>
              <a:t>the</a:t>
            </a:r>
            <a:r>
              <a:rPr sz="2900" spc="35" dirty="0">
                <a:solidFill>
                  <a:srgbClr val="963139"/>
                </a:solidFill>
                <a:latin typeface="Microsoft Sans Serif"/>
                <a:cs typeface="Microsoft Sans Serif"/>
              </a:rPr>
              <a:t> </a:t>
            </a:r>
            <a:r>
              <a:rPr sz="2900" spc="-95" dirty="0">
                <a:solidFill>
                  <a:srgbClr val="963139"/>
                </a:solidFill>
                <a:latin typeface="Microsoft Sans Serif"/>
                <a:cs typeface="Microsoft Sans Serif"/>
              </a:rPr>
              <a:t>loop</a:t>
            </a:r>
            <a:r>
              <a:rPr sz="2900" spc="20" dirty="0">
                <a:solidFill>
                  <a:srgbClr val="963139"/>
                </a:solidFill>
                <a:latin typeface="Microsoft Sans Serif"/>
                <a:cs typeface="Microsoft Sans Serif"/>
              </a:rPr>
              <a:t> </a:t>
            </a:r>
            <a:r>
              <a:rPr sz="2900" spc="-260" dirty="0">
                <a:solidFill>
                  <a:srgbClr val="963139"/>
                </a:solidFill>
                <a:latin typeface="Microsoft Sans Serif"/>
                <a:cs typeface="Microsoft Sans Serif"/>
              </a:rPr>
              <a:t>is</a:t>
            </a:r>
            <a:r>
              <a:rPr sz="2900" spc="25" dirty="0">
                <a:solidFill>
                  <a:srgbClr val="963139"/>
                </a:solidFill>
                <a:latin typeface="Microsoft Sans Serif"/>
                <a:cs typeface="Microsoft Sans Serif"/>
              </a:rPr>
              <a:t> </a:t>
            </a:r>
            <a:r>
              <a:rPr sz="2900" spc="-170" dirty="0">
                <a:solidFill>
                  <a:srgbClr val="963139"/>
                </a:solidFill>
                <a:latin typeface="Microsoft Sans Serif"/>
                <a:cs typeface="Microsoft Sans Serif"/>
              </a:rPr>
              <a:t>executed</a:t>
            </a:r>
            <a:r>
              <a:rPr sz="2900" spc="15" dirty="0">
                <a:solidFill>
                  <a:srgbClr val="963139"/>
                </a:solidFill>
                <a:latin typeface="Microsoft Sans Serif"/>
                <a:cs typeface="Microsoft Sans Serif"/>
              </a:rPr>
              <a:t> </a:t>
            </a:r>
            <a:r>
              <a:rPr sz="2900" spc="-15" dirty="0">
                <a:solidFill>
                  <a:srgbClr val="963139"/>
                </a:solidFill>
                <a:latin typeface="Microsoft Sans Serif"/>
                <a:cs typeface="Microsoft Sans Serif"/>
              </a:rPr>
              <a:t>at</a:t>
            </a:r>
            <a:r>
              <a:rPr sz="2900" spc="30" dirty="0">
                <a:solidFill>
                  <a:srgbClr val="963139"/>
                </a:solidFill>
                <a:latin typeface="Microsoft Sans Serif"/>
                <a:cs typeface="Microsoft Sans Serif"/>
              </a:rPr>
              <a:t> </a:t>
            </a:r>
            <a:r>
              <a:rPr sz="2900" spc="-145" dirty="0">
                <a:solidFill>
                  <a:srgbClr val="963139"/>
                </a:solidFill>
                <a:latin typeface="Microsoft Sans Serif"/>
                <a:cs typeface="Microsoft Sans Serif"/>
              </a:rPr>
              <a:t>least</a:t>
            </a:r>
            <a:r>
              <a:rPr sz="2900" dirty="0">
                <a:solidFill>
                  <a:srgbClr val="963139"/>
                </a:solidFill>
                <a:latin typeface="Microsoft Sans Serif"/>
                <a:cs typeface="Microsoft Sans Serif"/>
              </a:rPr>
              <a:t> </a:t>
            </a:r>
            <a:r>
              <a:rPr sz="2900" spc="-260" dirty="0">
                <a:solidFill>
                  <a:srgbClr val="963139"/>
                </a:solidFill>
                <a:latin typeface="Microsoft Sans Serif"/>
                <a:cs typeface="Microsoft Sans Serif"/>
              </a:rPr>
              <a:t>once, </a:t>
            </a:r>
            <a:r>
              <a:rPr sz="2900" spc="-755" dirty="0">
                <a:solidFill>
                  <a:srgbClr val="963139"/>
                </a:solidFill>
                <a:latin typeface="Microsoft Sans Serif"/>
                <a:cs typeface="Microsoft Sans Serif"/>
              </a:rPr>
              <a:t> </a:t>
            </a:r>
            <a:r>
              <a:rPr sz="2900" spc="-140" dirty="0">
                <a:solidFill>
                  <a:srgbClr val="963139"/>
                </a:solidFill>
                <a:latin typeface="Microsoft Sans Serif"/>
                <a:cs typeface="Microsoft Sans Serif"/>
              </a:rPr>
              <a:t>regardless</a:t>
            </a:r>
            <a:r>
              <a:rPr sz="2900" spc="-20" dirty="0">
                <a:solidFill>
                  <a:srgbClr val="963139"/>
                </a:solidFill>
                <a:latin typeface="Microsoft Sans Serif"/>
                <a:cs typeface="Microsoft Sans Serif"/>
              </a:rPr>
              <a:t> </a:t>
            </a:r>
            <a:r>
              <a:rPr sz="2900" dirty="0">
                <a:solidFill>
                  <a:srgbClr val="963139"/>
                </a:solidFill>
                <a:latin typeface="Microsoft Sans Serif"/>
                <a:cs typeface="Microsoft Sans Serif"/>
              </a:rPr>
              <a:t>of</a:t>
            </a:r>
            <a:r>
              <a:rPr sz="2900" spc="105" dirty="0">
                <a:solidFill>
                  <a:srgbClr val="963139"/>
                </a:solidFill>
                <a:latin typeface="Microsoft Sans Serif"/>
                <a:cs typeface="Microsoft Sans Serif"/>
              </a:rPr>
              <a:t> </a:t>
            </a:r>
            <a:r>
              <a:rPr sz="2900" spc="-170" dirty="0">
                <a:solidFill>
                  <a:srgbClr val="963139"/>
                </a:solidFill>
                <a:latin typeface="Microsoft Sans Serif"/>
                <a:cs typeface="Microsoft Sans Serif"/>
              </a:rPr>
              <a:t>whether</a:t>
            </a:r>
            <a:r>
              <a:rPr sz="2900" spc="30" dirty="0">
                <a:solidFill>
                  <a:srgbClr val="963139"/>
                </a:solidFill>
                <a:latin typeface="Microsoft Sans Serif"/>
                <a:cs typeface="Microsoft Sans Serif"/>
              </a:rPr>
              <a:t> </a:t>
            </a:r>
            <a:r>
              <a:rPr sz="2900" spc="-175" dirty="0">
                <a:solidFill>
                  <a:srgbClr val="963139"/>
                </a:solidFill>
                <a:latin typeface="Microsoft Sans Serif"/>
                <a:cs typeface="Microsoft Sans Serif"/>
              </a:rPr>
              <a:t>the</a:t>
            </a:r>
            <a:r>
              <a:rPr sz="2900" spc="20" dirty="0">
                <a:solidFill>
                  <a:srgbClr val="963139"/>
                </a:solidFill>
                <a:latin typeface="Microsoft Sans Serif"/>
                <a:cs typeface="Microsoft Sans Serif"/>
              </a:rPr>
              <a:t> </a:t>
            </a:r>
            <a:r>
              <a:rPr sz="2900" spc="-160" dirty="0">
                <a:solidFill>
                  <a:srgbClr val="963139"/>
                </a:solidFill>
                <a:latin typeface="Microsoft Sans Serif"/>
                <a:cs typeface="Microsoft Sans Serif"/>
              </a:rPr>
              <a:t>condition</a:t>
            </a:r>
            <a:r>
              <a:rPr sz="2900" spc="20" dirty="0">
                <a:solidFill>
                  <a:srgbClr val="963139"/>
                </a:solidFill>
                <a:latin typeface="Microsoft Sans Serif"/>
                <a:cs typeface="Microsoft Sans Serif"/>
              </a:rPr>
              <a:t> </a:t>
            </a:r>
            <a:r>
              <a:rPr sz="2900" spc="-260" dirty="0">
                <a:solidFill>
                  <a:srgbClr val="963139"/>
                </a:solidFill>
                <a:latin typeface="Microsoft Sans Serif"/>
                <a:cs typeface="Microsoft Sans Serif"/>
              </a:rPr>
              <a:t>is</a:t>
            </a:r>
            <a:r>
              <a:rPr sz="2900" spc="30" dirty="0">
                <a:solidFill>
                  <a:srgbClr val="963139"/>
                </a:solidFill>
                <a:latin typeface="Microsoft Sans Serif"/>
                <a:cs typeface="Microsoft Sans Serif"/>
              </a:rPr>
              <a:t> </a:t>
            </a:r>
            <a:r>
              <a:rPr sz="2900" spc="-120" dirty="0">
                <a:solidFill>
                  <a:srgbClr val="963139"/>
                </a:solidFill>
                <a:latin typeface="Microsoft Sans Serif"/>
                <a:cs typeface="Microsoft Sans Serif"/>
              </a:rPr>
              <a:t>true</a:t>
            </a:r>
            <a:endParaRPr sz="2900">
              <a:latin typeface="Microsoft Sans Serif"/>
              <a:cs typeface="Microsoft Sans Serif"/>
            </a:endParaRPr>
          </a:p>
          <a:p>
            <a:pPr marL="542925">
              <a:lnSpc>
                <a:spcPct val="100000"/>
              </a:lnSpc>
              <a:spcBef>
                <a:spcPts val="1990"/>
              </a:spcBef>
            </a:pPr>
            <a:r>
              <a:rPr sz="1800" spc="-5" dirty="0">
                <a:solidFill>
                  <a:srgbClr val="963139"/>
                </a:solidFill>
                <a:latin typeface="Courier New"/>
                <a:cs typeface="Courier New"/>
              </a:rPr>
              <a:t>do</a:t>
            </a:r>
            <a:r>
              <a:rPr sz="1800" spc="-8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4573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pP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while</a:t>
            </a:r>
            <a:r>
              <a:rPr sz="1800" spc="-45" dirty="0">
                <a:solidFill>
                  <a:srgbClr val="963139"/>
                </a:solidFill>
                <a:latin typeface="Courier New"/>
                <a:cs typeface="Courier New"/>
              </a:rPr>
              <a:t> </a:t>
            </a:r>
            <a:r>
              <a:rPr sz="1800" spc="-10" dirty="0">
                <a:solidFill>
                  <a:srgbClr val="963139"/>
                </a:solidFill>
                <a:latin typeface="Courier New"/>
                <a:cs typeface="Courier New"/>
              </a:rPr>
              <a:t>(condition);</a:t>
            </a:r>
            <a:endParaRPr sz="1800">
              <a:latin typeface="Courier New"/>
              <a:cs typeface="Courier New"/>
            </a:endParaRPr>
          </a:p>
          <a:p>
            <a:pPr>
              <a:lnSpc>
                <a:spcPct val="100000"/>
              </a:lnSpc>
            </a:pPr>
            <a:endParaRPr sz="2000">
              <a:latin typeface="Courier New"/>
              <a:cs typeface="Courier New"/>
            </a:endParaRPr>
          </a:p>
          <a:p>
            <a:pPr>
              <a:lnSpc>
                <a:spcPct val="100000"/>
              </a:lnSpc>
              <a:spcBef>
                <a:spcPts val="40"/>
              </a:spcBef>
            </a:pPr>
            <a:endParaRPr sz="1850">
              <a:latin typeface="Courier New"/>
              <a:cs typeface="Courier New"/>
            </a:endParaRPr>
          </a:p>
          <a:p>
            <a:pPr marL="542925">
              <a:lnSpc>
                <a:spcPct val="100000"/>
              </a:lnSpc>
              <a:spcBef>
                <a:spcPts val="5"/>
              </a:spcBef>
            </a:pPr>
            <a:r>
              <a:rPr sz="2400" spc="-114" dirty="0">
                <a:solidFill>
                  <a:srgbClr val="963139"/>
                </a:solidFill>
                <a:latin typeface="Microsoft Sans Serif"/>
                <a:cs typeface="Microsoft Sans Serif"/>
              </a:rPr>
              <a:t>equivalent</a:t>
            </a:r>
            <a:r>
              <a:rPr sz="2400" spc="-15" dirty="0">
                <a:solidFill>
                  <a:srgbClr val="963139"/>
                </a:solidFill>
                <a:latin typeface="Microsoft Sans Serif"/>
                <a:cs typeface="Microsoft Sans Serif"/>
              </a:rPr>
              <a:t> </a:t>
            </a:r>
            <a:r>
              <a:rPr sz="2400" spc="-100" dirty="0">
                <a:solidFill>
                  <a:srgbClr val="963139"/>
                </a:solidFill>
                <a:latin typeface="Microsoft Sans Serif"/>
                <a:cs typeface="Microsoft Sans Serif"/>
              </a:rPr>
              <a:t>to:</a:t>
            </a:r>
            <a:endParaRPr sz="2400">
              <a:latin typeface="Microsoft Sans Serif"/>
              <a:cs typeface="Microsoft Sans Serif"/>
            </a:endParaRPr>
          </a:p>
          <a:p>
            <a:pPr>
              <a:lnSpc>
                <a:spcPct val="100000"/>
              </a:lnSpc>
              <a:spcBef>
                <a:spcPts val="45"/>
              </a:spcBef>
            </a:pPr>
            <a:endParaRPr sz="3700">
              <a:latin typeface="Microsoft Sans Serif"/>
              <a:cs typeface="Microsoft Sans Serif"/>
            </a:endParaRPr>
          </a:p>
          <a:p>
            <a:pPr marL="5429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spcBef>
                <a:spcPts val="5"/>
              </a:spcBef>
            </a:pPr>
            <a:r>
              <a:rPr sz="1800" spc="-10" dirty="0">
                <a:solidFill>
                  <a:srgbClr val="963139"/>
                </a:solidFill>
                <a:latin typeface="Courier New"/>
                <a:cs typeface="Courier New"/>
              </a:rPr>
              <a:t>while</a:t>
            </a:r>
            <a:r>
              <a:rPr sz="1800" spc="-40" dirty="0">
                <a:solidFill>
                  <a:srgbClr val="963139"/>
                </a:solidFill>
                <a:latin typeface="Courier New"/>
                <a:cs typeface="Courier New"/>
              </a:rPr>
              <a:t> </a:t>
            </a:r>
            <a:r>
              <a:rPr sz="1800" spc="-10" dirty="0">
                <a:solidFill>
                  <a:srgbClr val="963139"/>
                </a:solidFill>
                <a:latin typeface="Courier New"/>
                <a:cs typeface="Courier New"/>
              </a:rPr>
              <a:t>(condition)</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457325">
              <a:lnSpc>
                <a:spcPct val="100000"/>
              </a:lnSpc>
            </a:pPr>
            <a:r>
              <a:rPr sz="1800" spc="-10" dirty="0">
                <a:solidFill>
                  <a:srgbClr val="963139"/>
                </a:solidFill>
                <a:latin typeface="Courier New"/>
                <a:cs typeface="Courier New"/>
              </a:rPr>
              <a:t>statements</a:t>
            </a:r>
            <a:endParaRPr sz="1800">
              <a:latin typeface="Courier New"/>
              <a:cs typeface="Courier New"/>
            </a:endParaRPr>
          </a:p>
          <a:p>
            <a:pPr marL="542925">
              <a:lnSpc>
                <a:spcPct val="100000"/>
              </a:lnSpc>
            </a:pPr>
            <a:r>
              <a:rPr sz="1800" dirty="0">
                <a:solidFill>
                  <a:srgbClr val="963139"/>
                </a:solidFill>
                <a:latin typeface="Courier New"/>
                <a:cs typeface="Courier New"/>
              </a:rPr>
              <a:t>}</a:t>
            </a:r>
            <a:endParaRPr sz="1800">
              <a:latin typeface="Courier New"/>
              <a:cs typeface="Courier New"/>
            </a:endParaRPr>
          </a:p>
        </p:txBody>
      </p:sp>
    </p:spTree>
    <p:extLst>
      <p:ext uri="{BB962C8B-B14F-4D97-AF65-F5344CB8AC3E}">
        <p14:creationId xmlns:p14="http://schemas.microsoft.com/office/powerpoint/2010/main" val="172002661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732405" cy="697230"/>
          </a:xfrm>
          <a:prstGeom prst="rect">
            <a:avLst/>
          </a:prstGeom>
        </p:spPr>
        <p:txBody>
          <a:bodyPr vert="horz" wrap="square" lIns="0" tIns="13335" rIns="0" bIns="0" rtlCol="0">
            <a:spAutoFit/>
          </a:bodyPr>
          <a:lstStyle/>
          <a:p>
            <a:pPr marL="12700">
              <a:lnSpc>
                <a:spcPct val="100000"/>
              </a:lnSpc>
              <a:spcBef>
                <a:spcPts val="105"/>
              </a:spcBef>
            </a:pPr>
            <a:r>
              <a:rPr spc="-509" dirty="0"/>
              <a:t>The</a:t>
            </a:r>
            <a:r>
              <a:rPr spc="25" dirty="0"/>
              <a:t> </a:t>
            </a:r>
            <a:r>
              <a:rPr spc="150" dirty="0"/>
              <a:t>f</a:t>
            </a:r>
            <a:r>
              <a:rPr spc="-125" dirty="0"/>
              <a:t>or</a:t>
            </a:r>
            <a:r>
              <a:rPr spc="30" dirty="0"/>
              <a:t> </a:t>
            </a:r>
            <a:r>
              <a:rPr spc="-145" dirty="0"/>
              <a:t>loop</a:t>
            </a:r>
          </a:p>
        </p:txBody>
      </p:sp>
      <p:sp>
        <p:nvSpPr>
          <p:cNvPr id="3" name="object 3"/>
          <p:cNvSpPr txBox="1"/>
          <p:nvPr/>
        </p:nvSpPr>
        <p:spPr>
          <a:xfrm>
            <a:off x="1374394" y="1606041"/>
            <a:ext cx="4970780" cy="4953000"/>
          </a:xfrm>
          <a:prstGeom prst="rect">
            <a:avLst/>
          </a:prstGeom>
        </p:spPr>
        <p:txBody>
          <a:bodyPr vert="horz" wrap="square" lIns="0" tIns="12700" rIns="0" bIns="0" rtlCol="0">
            <a:spAutoFit/>
          </a:bodyPr>
          <a:lstStyle/>
          <a:p>
            <a:pPr marL="927100" marR="310515" indent="-914400">
              <a:lnSpc>
                <a:spcPct val="100000"/>
              </a:lnSpc>
              <a:spcBef>
                <a:spcPts val="100"/>
              </a:spcBef>
            </a:pPr>
            <a:r>
              <a:rPr sz="1800" spc="-5" dirty="0">
                <a:solidFill>
                  <a:srgbClr val="963139"/>
                </a:solidFill>
                <a:latin typeface="Courier New"/>
                <a:cs typeface="Courier New"/>
              </a:rPr>
              <a:t>for </a:t>
            </a:r>
            <a:r>
              <a:rPr sz="1800" spc="-10" dirty="0">
                <a:solidFill>
                  <a:srgbClr val="963139"/>
                </a:solidFill>
                <a:latin typeface="Courier New"/>
                <a:cs typeface="Courier New"/>
              </a:rPr>
              <a:t>(init; condition; increment) </a:t>
            </a:r>
            <a:r>
              <a:rPr sz="1800" dirty="0">
                <a:solidFill>
                  <a:srgbClr val="963139"/>
                </a:solidFill>
                <a:latin typeface="Courier New"/>
                <a:cs typeface="Courier New"/>
              </a:rPr>
              <a:t>{ </a:t>
            </a:r>
            <a:r>
              <a:rPr sz="1800" spc="-1070" dirty="0">
                <a:solidFill>
                  <a:srgbClr val="963139"/>
                </a:solidFill>
                <a:latin typeface="Courier New"/>
                <a:cs typeface="Courier New"/>
              </a:rPr>
              <a:t> </a:t>
            </a:r>
            <a:r>
              <a:rPr sz="1800" spc="-10" dirty="0">
                <a:solidFill>
                  <a:srgbClr val="963139"/>
                </a:solidFill>
                <a:latin typeface="Courier New"/>
                <a:cs typeface="Courier New"/>
              </a:rPr>
              <a:t>statements</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a:lnSpc>
                <a:spcPct val="100000"/>
              </a:lnSpc>
              <a:spcBef>
                <a:spcPts val="35"/>
              </a:spcBef>
            </a:pPr>
            <a:endParaRPr sz="1950">
              <a:latin typeface="Courier New"/>
              <a:cs typeface="Courier New"/>
            </a:endParaRPr>
          </a:p>
          <a:p>
            <a:pPr marL="12700">
              <a:lnSpc>
                <a:spcPct val="100000"/>
              </a:lnSpc>
            </a:pPr>
            <a:r>
              <a:rPr sz="2400" spc="-114" dirty="0">
                <a:solidFill>
                  <a:srgbClr val="963139"/>
                </a:solidFill>
                <a:latin typeface="Microsoft Sans Serif"/>
                <a:cs typeface="Microsoft Sans Serif"/>
              </a:rPr>
              <a:t>equivalent</a:t>
            </a:r>
            <a:r>
              <a:rPr sz="2400" spc="-15" dirty="0">
                <a:solidFill>
                  <a:srgbClr val="963139"/>
                </a:solidFill>
                <a:latin typeface="Microsoft Sans Serif"/>
                <a:cs typeface="Microsoft Sans Serif"/>
              </a:rPr>
              <a:t> </a:t>
            </a:r>
            <a:r>
              <a:rPr sz="2400" spc="-100" dirty="0">
                <a:solidFill>
                  <a:srgbClr val="963139"/>
                </a:solidFill>
                <a:latin typeface="Microsoft Sans Serif"/>
                <a:cs typeface="Microsoft Sans Serif"/>
              </a:rPr>
              <a:t>to:</a:t>
            </a:r>
            <a:endParaRPr sz="2400">
              <a:latin typeface="Microsoft Sans Serif"/>
              <a:cs typeface="Microsoft Sans Serif"/>
            </a:endParaRPr>
          </a:p>
          <a:p>
            <a:pPr marL="12700">
              <a:lnSpc>
                <a:spcPct val="100000"/>
              </a:lnSpc>
              <a:spcBef>
                <a:spcPts val="2080"/>
              </a:spcBef>
            </a:pPr>
            <a:r>
              <a:rPr sz="1800" spc="-10" dirty="0">
                <a:solidFill>
                  <a:srgbClr val="963139"/>
                </a:solidFill>
                <a:latin typeface="Courier New"/>
                <a:cs typeface="Courier New"/>
              </a:rPr>
              <a:t>init</a:t>
            </a:r>
            <a:endParaRPr sz="1800">
              <a:latin typeface="Courier New"/>
              <a:cs typeface="Courier New"/>
            </a:endParaRPr>
          </a:p>
          <a:p>
            <a:pPr marL="12700">
              <a:lnSpc>
                <a:spcPct val="100000"/>
              </a:lnSpc>
            </a:pPr>
            <a:r>
              <a:rPr sz="1800" spc="-10" dirty="0">
                <a:solidFill>
                  <a:srgbClr val="963139"/>
                </a:solidFill>
                <a:latin typeface="Courier New"/>
                <a:cs typeface="Courier New"/>
              </a:rPr>
              <a:t>while</a:t>
            </a:r>
            <a:r>
              <a:rPr sz="1800" spc="-40" dirty="0">
                <a:solidFill>
                  <a:srgbClr val="963139"/>
                </a:solidFill>
                <a:latin typeface="Courier New"/>
                <a:cs typeface="Courier New"/>
              </a:rPr>
              <a:t> </a:t>
            </a:r>
            <a:r>
              <a:rPr sz="1800" spc="-10" dirty="0">
                <a:solidFill>
                  <a:srgbClr val="963139"/>
                </a:solidFill>
                <a:latin typeface="Courier New"/>
                <a:cs typeface="Courier New"/>
              </a:rPr>
              <a:t>(condition)</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7100" marR="2668905">
              <a:lnSpc>
                <a:spcPct val="100000"/>
              </a:lnSpc>
            </a:pPr>
            <a:r>
              <a:rPr sz="1800" spc="-5" dirty="0">
                <a:solidFill>
                  <a:srgbClr val="963139"/>
                </a:solidFill>
                <a:latin typeface="Courier New"/>
                <a:cs typeface="Courier New"/>
              </a:rPr>
              <a:t>st</a:t>
            </a:r>
            <a:r>
              <a:rPr sz="1800" spc="-15" dirty="0">
                <a:solidFill>
                  <a:srgbClr val="963139"/>
                </a:solidFill>
                <a:latin typeface="Courier New"/>
                <a:cs typeface="Courier New"/>
              </a:rPr>
              <a:t>a</a:t>
            </a:r>
            <a:r>
              <a:rPr sz="1800" spc="-5" dirty="0">
                <a:solidFill>
                  <a:srgbClr val="963139"/>
                </a:solidFill>
                <a:latin typeface="Courier New"/>
                <a:cs typeface="Courier New"/>
              </a:rPr>
              <a:t>t</a:t>
            </a:r>
            <a:r>
              <a:rPr sz="1800" spc="-15" dirty="0">
                <a:solidFill>
                  <a:srgbClr val="963139"/>
                </a:solidFill>
                <a:latin typeface="Courier New"/>
                <a:cs typeface="Courier New"/>
              </a:rPr>
              <a:t>e</a:t>
            </a:r>
            <a:r>
              <a:rPr sz="1800" spc="-5" dirty="0">
                <a:solidFill>
                  <a:srgbClr val="963139"/>
                </a:solidFill>
                <a:latin typeface="Courier New"/>
                <a:cs typeface="Courier New"/>
              </a:rPr>
              <a:t>me</a:t>
            </a:r>
            <a:r>
              <a:rPr sz="1800" spc="-15" dirty="0">
                <a:solidFill>
                  <a:srgbClr val="963139"/>
                </a:solidFill>
                <a:latin typeface="Courier New"/>
                <a:cs typeface="Courier New"/>
              </a:rPr>
              <a:t>n</a:t>
            </a:r>
            <a:r>
              <a:rPr sz="1800" spc="-5" dirty="0">
                <a:solidFill>
                  <a:srgbClr val="963139"/>
                </a:solidFill>
                <a:latin typeface="Courier New"/>
                <a:cs typeface="Courier New"/>
              </a:rPr>
              <a:t>ts  </a:t>
            </a:r>
            <a:r>
              <a:rPr sz="1800" spc="-10" dirty="0">
                <a:solidFill>
                  <a:srgbClr val="963139"/>
                </a:solidFill>
                <a:latin typeface="Courier New"/>
                <a:cs typeface="Courier New"/>
              </a:rPr>
              <a:t>increment</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1420"/>
              </a:spcBef>
            </a:pPr>
            <a:r>
              <a:rPr sz="2000" spc="-225" dirty="0">
                <a:solidFill>
                  <a:srgbClr val="963139"/>
                </a:solidFill>
                <a:latin typeface="Microsoft Sans Serif"/>
                <a:cs typeface="Microsoft Sans Serif"/>
              </a:rPr>
              <a:t>P</a:t>
            </a:r>
            <a:r>
              <a:rPr sz="2000" spc="-110" dirty="0">
                <a:solidFill>
                  <a:srgbClr val="963139"/>
                </a:solidFill>
                <a:latin typeface="Microsoft Sans Serif"/>
                <a:cs typeface="Microsoft Sans Serif"/>
              </a:rPr>
              <a:t>r</a:t>
            </a:r>
            <a:r>
              <a:rPr sz="2000" spc="-145" dirty="0">
                <a:solidFill>
                  <a:srgbClr val="963139"/>
                </a:solidFill>
                <a:latin typeface="Microsoft Sans Serif"/>
                <a:cs typeface="Microsoft Sans Serif"/>
              </a:rPr>
              <a:t>int</a:t>
            </a:r>
            <a:r>
              <a:rPr sz="2000" spc="-195" dirty="0">
                <a:solidFill>
                  <a:srgbClr val="963139"/>
                </a:solidFill>
                <a:latin typeface="Microsoft Sans Serif"/>
                <a:cs typeface="Microsoft Sans Serif"/>
              </a:rPr>
              <a:t>s</a:t>
            </a:r>
            <a:r>
              <a:rPr sz="2000" spc="-15" dirty="0">
                <a:solidFill>
                  <a:srgbClr val="963139"/>
                </a:solidFill>
                <a:latin typeface="Microsoft Sans Serif"/>
                <a:cs typeface="Microsoft Sans Serif"/>
              </a:rPr>
              <a:t> </a:t>
            </a:r>
            <a:r>
              <a:rPr sz="2000" spc="-120" dirty="0">
                <a:solidFill>
                  <a:srgbClr val="963139"/>
                </a:solidFill>
                <a:latin typeface="Microsoft Sans Serif"/>
                <a:cs typeface="Microsoft Sans Serif"/>
              </a:rPr>
              <a:t>the</a:t>
            </a:r>
            <a:r>
              <a:rPr sz="2000" spc="5" dirty="0">
                <a:solidFill>
                  <a:srgbClr val="963139"/>
                </a:solidFill>
                <a:latin typeface="Microsoft Sans Serif"/>
                <a:cs typeface="Microsoft Sans Serif"/>
              </a:rPr>
              <a:t> </a:t>
            </a:r>
            <a:r>
              <a:rPr sz="2000" spc="50" dirty="0">
                <a:solidFill>
                  <a:srgbClr val="963139"/>
                </a:solidFill>
                <a:latin typeface="Microsoft Sans Serif"/>
                <a:cs typeface="Microsoft Sans Serif"/>
              </a:rPr>
              <a:t>f</a:t>
            </a:r>
            <a:r>
              <a:rPr sz="2000" spc="45" dirty="0">
                <a:solidFill>
                  <a:srgbClr val="963139"/>
                </a:solidFill>
                <a:latin typeface="Microsoft Sans Serif"/>
                <a:cs typeface="Microsoft Sans Serif"/>
              </a:rPr>
              <a:t>i</a:t>
            </a:r>
            <a:r>
              <a:rPr sz="2000" spc="-135" dirty="0">
                <a:solidFill>
                  <a:srgbClr val="963139"/>
                </a:solidFill>
                <a:latin typeface="Microsoft Sans Serif"/>
                <a:cs typeface="Microsoft Sans Serif"/>
              </a:rPr>
              <a:t>r</a:t>
            </a:r>
            <a:r>
              <a:rPr sz="2000" spc="-195" dirty="0">
                <a:solidFill>
                  <a:srgbClr val="963139"/>
                </a:solidFill>
                <a:latin typeface="Microsoft Sans Serif"/>
                <a:cs typeface="Microsoft Sans Serif"/>
              </a:rPr>
              <a:t>s</a:t>
            </a:r>
            <a:r>
              <a:rPr sz="2000" spc="-15" dirty="0">
                <a:solidFill>
                  <a:srgbClr val="963139"/>
                </a:solidFill>
                <a:latin typeface="Microsoft Sans Serif"/>
                <a:cs typeface="Microsoft Sans Serif"/>
              </a:rPr>
              <a:t>t</a:t>
            </a:r>
            <a:r>
              <a:rPr sz="2000" spc="-35" dirty="0">
                <a:solidFill>
                  <a:srgbClr val="963139"/>
                </a:solidFill>
                <a:latin typeface="Microsoft Sans Serif"/>
                <a:cs typeface="Microsoft Sans Serif"/>
              </a:rPr>
              <a:t> </a:t>
            </a:r>
            <a:r>
              <a:rPr sz="2000" spc="-10" dirty="0">
                <a:solidFill>
                  <a:srgbClr val="963139"/>
                </a:solidFill>
                <a:latin typeface="Microsoft Sans Serif"/>
                <a:cs typeface="Microsoft Sans Serif"/>
              </a:rPr>
              <a:t>10</a:t>
            </a:r>
            <a:r>
              <a:rPr sz="2000" spc="20" dirty="0">
                <a:solidFill>
                  <a:srgbClr val="963139"/>
                </a:solidFill>
                <a:latin typeface="Microsoft Sans Serif"/>
                <a:cs typeface="Microsoft Sans Serif"/>
              </a:rPr>
              <a:t> </a:t>
            </a:r>
            <a:r>
              <a:rPr sz="2000" spc="-20" dirty="0">
                <a:solidFill>
                  <a:srgbClr val="963139"/>
                </a:solidFill>
                <a:latin typeface="Microsoft Sans Serif"/>
                <a:cs typeface="Microsoft Sans Serif"/>
              </a:rPr>
              <a:t>p</a:t>
            </a:r>
            <a:r>
              <a:rPr sz="2000" spc="-235" dirty="0">
                <a:solidFill>
                  <a:srgbClr val="963139"/>
                </a:solidFill>
                <a:latin typeface="Microsoft Sans Serif"/>
                <a:cs typeface="Microsoft Sans Serif"/>
              </a:rPr>
              <a:t>o</a:t>
            </a:r>
            <a:r>
              <a:rPr sz="2000" spc="-204" dirty="0">
                <a:solidFill>
                  <a:srgbClr val="963139"/>
                </a:solidFill>
                <a:latin typeface="Microsoft Sans Serif"/>
                <a:cs typeface="Microsoft Sans Serif"/>
              </a:rPr>
              <a:t>s</a:t>
            </a:r>
            <a:r>
              <a:rPr sz="2000" spc="-40" dirty="0">
                <a:solidFill>
                  <a:srgbClr val="963139"/>
                </a:solidFill>
                <a:latin typeface="Microsoft Sans Serif"/>
                <a:cs typeface="Microsoft Sans Serif"/>
              </a:rPr>
              <a:t>iti</a:t>
            </a:r>
            <a:r>
              <a:rPr sz="2000" spc="-114" dirty="0">
                <a:solidFill>
                  <a:srgbClr val="963139"/>
                </a:solidFill>
                <a:latin typeface="Microsoft Sans Serif"/>
                <a:cs typeface="Microsoft Sans Serif"/>
              </a:rPr>
              <a:t>ve</a:t>
            </a:r>
            <a:r>
              <a:rPr sz="2000" spc="-25" dirty="0">
                <a:solidFill>
                  <a:srgbClr val="963139"/>
                </a:solidFill>
                <a:latin typeface="Microsoft Sans Serif"/>
                <a:cs typeface="Microsoft Sans Serif"/>
              </a:rPr>
              <a:t> </a:t>
            </a:r>
            <a:r>
              <a:rPr sz="2000" spc="-90" dirty="0">
                <a:solidFill>
                  <a:srgbClr val="963139"/>
                </a:solidFill>
                <a:latin typeface="Microsoft Sans Serif"/>
                <a:cs typeface="Microsoft Sans Serif"/>
              </a:rPr>
              <a:t>int</a:t>
            </a:r>
            <a:r>
              <a:rPr sz="2000" spc="-130" dirty="0">
                <a:solidFill>
                  <a:srgbClr val="963139"/>
                </a:solidFill>
                <a:latin typeface="Microsoft Sans Serif"/>
                <a:cs typeface="Microsoft Sans Serif"/>
              </a:rPr>
              <a:t>e</a:t>
            </a:r>
            <a:r>
              <a:rPr sz="2000" spc="-50" dirty="0">
                <a:solidFill>
                  <a:srgbClr val="963139"/>
                </a:solidFill>
                <a:latin typeface="Microsoft Sans Serif"/>
                <a:cs typeface="Microsoft Sans Serif"/>
              </a:rPr>
              <a:t>g</a:t>
            </a:r>
            <a:r>
              <a:rPr sz="2000" spc="-70" dirty="0">
                <a:solidFill>
                  <a:srgbClr val="963139"/>
                </a:solidFill>
                <a:latin typeface="Microsoft Sans Serif"/>
                <a:cs typeface="Microsoft Sans Serif"/>
              </a:rPr>
              <a:t>e</a:t>
            </a:r>
            <a:r>
              <a:rPr sz="2000" spc="-40" dirty="0">
                <a:solidFill>
                  <a:srgbClr val="963139"/>
                </a:solidFill>
                <a:latin typeface="Microsoft Sans Serif"/>
                <a:cs typeface="Microsoft Sans Serif"/>
              </a:rPr>
              <a:t>r</a:t>
            </a:r>
            <a:r>
              <a:rPr sz="2000" spc="-335" dirty="0">
                <a:solidFill>
                  <a:srgbClr val="963139"/>
                </a:solidFill>
                <a:latin typeface="Microsoft Sans Serif"/>
                <a:cs typeface="Microsoft Sans Serif"/>
              </a:rPr>
              <a:t>s</a:t>
            </a:r>
            <a:r>
              <a:rPr sz="2000" spc="-25" dirty="0">
                <a:solidFill>
                  <a:srgbClr val="963139"/>
                </a:solidFill>
                <a:latin typeface="Microsoft Sans Serif"/>
                <a:cs typeface="Microsoft Sans Serif"/>
              </a:rPr>
              <a:t> </a:t>
            </a:r>
            <a:r>
              <a:rPr sz="2000" spc="-85" dirty="0">
                <a:solidFill>
                  <a:srgbClr val="963139"/>
                </a:solidFill>
                <a:latin typeface="Microsoft Sans Serif"/>
                <a:cs typeface="Microsoft Sans Serif"/>
              </a:rPr>
              <a:t>and</a:t>
            </a:r>
            <a:r>
              <a:rPr sz="2000" dirty="0">
                <a:solidFill>
                  <a:srgbClr val="963139"/>
                </a:solidFill>
                <a:latin typeface="Microsoft Sans Serif"/>
                <a:cs typeface="Microsoft Sans Serif"/>
              </a:rPr>
              <a:t> </a:t>
            </a:r>
            <a:r>
              <a:rPr sz="2000" spc="-95" dirty="0">
                <a:solidFill>
                  <a:srgbClr val="963139"/>
                </a:solidFill>
                <a:latin typeface="Microsoft Sans Serif"/>
                <a:cs typeface="Microsoft Sans Serif"/>
              </a:rPr>
              <a:t>thei</a:t>
            </a:r>
            <a:r>
              <a:rPr sz="2000" dirty="0">
                <a:solidFill>
                  <a:srgbClr val="963139"/>
                </a:solidFill>
                <a:latin typeface="Microsoft Sans Serif"/>
                <a:cs typeface="Microsoft Sans Serif"/>
              </a:rPr>
              <a:t>r</a:t>
            </a:r>
            <a:endParaRPr sz="2000">
              <a:latin typeface="Microsoft Sans Serif"/>
              <a:cs typeface="Microsoft Sans Serif"/>
            </a:endParaRPr>
          </a:p>
          <a:p>
            <a:pPr marL="12700">
              <a:lnSpc>
                <a:spcPct val="100000"/>
              </a:lnSpc>
              <a:spcBef>
                <a:spcPts val="5"/>
              </a:spcBef>
            </a:pPr>
            <a:r>
              <a:rPr sz="2000" spc="-145" dirty="0">
                <a:solidFill>
                  <a:srgbClr val="963139"/>
                </a:solidFill>
                <a:latin typeface="Microsoft Sans Serif"/>
                <a:cs typeface="Microsoft Sans Serif"/>
              </a:rPr>
              <a:t>squares:</a:t>
            </a:r>
            <a:endParaRPr sz="2000">
              <a:latin typeface="Microsoft Sans Serif"/>
              <a:cs typeface="Microsoft Sans Serif"/>
            </a:endParaRPr>
          </a:p>
          <a:p>
            <a:pPr>
              <a:lnSpc>
                <a:spcPct val="100000"/>
              </a:lnSpc>
              <a:spcBef>
                <a:spcPts val="10"/>
              </a:spcBef>
            </a:pPr>
            <a:endParaRPr sz="2050">
              <a:latin typeface="Microsoft Sans Serif"/>
              <a:cs typeface="Microsoft Sans Serif"/>
            </a:endParaRPr>
          </a:p>
          <a:p>
            <a:pPr marL="12700">
              <a:lnSpc>
                <a:spcPct val="100000"/>
              </a:lnSpc>
            </a:pPr>
            <a:r>
              <a:rPr sz="1600" spc="-5" dirty="0">
                <a:solidFill>
                  <a:srgbClr val="963139"/>
                </a:solidFill>
                <a:latin typeface="Courier New"/>
                <a:cs typeface="Courier New"/>
              </a:rPr>
              <a:t>for</a:t>
            </a:r>
            <a:r>
              <a:rPr sz="1600" spc="-10" dirty="0">
                <a:solidFill>
                  <a:srgbClr val="963139"/>
                </a:solidFill>
                <a:latin typeface="Courier New"/>
                <a:cs typeface="Courier New"/>
              </a:rPr>
              <a:t> </a:t>
            </a:r>
            <a:r>
              <a:rPr sz="1600" spc="-5" dirty="0">
                <a:solidFill>
                  <a:srgbClr val="963139"/>
                </a:solidFill>
                <a:latin typeface="Courier New"/>
                <a:cs typeface="Courier New"/>
              </a:rPr>
              <a:t>($i</a:t>
            </a:r>
            <a:r>
              <a:rPr sz="1600" spc="5" dirty="0">
                <a:solidFill>
                  <a:srgbClr val="963139"/>
                </a:solidFill>
                <a:latin typeface="Courier New"/>
                <a:cs typeface="Courier New"/>
              </a:rPr>
              <a:t> </a:t>
            </a:r>
            <a:r>
              <a:rPr sz="1600" spc="-5" dirty="0">
                <a:solidFill>
                  <a:srgbClr val="963139"/>
                </a:solidFill>
                <a:latin typeface="Courier New"/>
                <a:cs typeface="Courier New"/>
              </a:rPr>
              <a:t>=</a:t>
            </a:r>
            <a:r>
              <a:rPr sz="1600" spc="-10" dirty="0">
                <a:solidFill>
                  <a:srgbClr val="963139"/>
                </a:solidFill>
                <a:latin typeface="Courier New"/>
                <a:cs typeface="Courier New"/>
              </a:rPr>
              <a:t> </a:t>
            </a:r>
            <a:r>
              <a:rPr sz="1600" spc="-5" dirty="0">
                <a:solidFill>
                  <a:srgbClr val="963139"/>
                </a:solidFill>
                <a:latin typeface="Courier New"/>
                <a:cs typeface="Courier New"/>
              </a:rPr>
              <a:t>1;</a:t>
            </a:r>
            <a:r>
              <a:rPr sz="1600" spc="5" dirty="0">
                <a:solidFill>
                  <a:srgbClr val="963139"/>
                </a:solidFill>
                <a:latin typeface="Courier New"/>
                <a:cs typeface="Courier New"/>
              </a:rPr>
              <a:t> </a:t>
            </a:r>
            <a:r>
              <a:rPr sz="1600" dirty="0">
                <a:solidFill>
                  <a:srgbClr val="963139"/>
                </a:solidFill>
                <a:latin typeface="Courier New"/>
                <a:cs typeface="Courier New"/>
              </a:rPr>
              <a:t>$i</a:t>
            </a:r>
            <a:r>
              <a:rPr sz="1600" spc="-10" dirty="0">
                <a:solidFill>
                  <a:srgbClr val="963139"/>
                </a:solidFill>
                <a:latin typeface="Courier New"/>
                <a:cs typeface="Courier New"/>
              </a:rPr>
              <a:t> </a:t>
            </a:r>
            <a:r>
              <a:rPr sz="1600" spc="-5" dirty="0">
                <a:solidFill>
                  <a:srgbClr val="963139"/>
                </a:solidFill>
                <a:latin typeface="Courier New"/>
                <a:cs typeface="Courier New"/>
              </a:rPr>
              <a:t>&lt;=</a:t>
            </a:r>
            <a:r>
              <a:rPr sz="1600" spc="5" dirty="0">
                <a:solidFill>
                  <a:srgbClr val="963139"/>
                </a:solidFill>
                <a:latin typeface="Courier New"/>
                <a:cs typeface="Courier New"/>
              </a:rPr>
              <a:t> </a:t>
            </a:r>
            <a:r>
              <a:rPr sz="1600" spc="-5" dirty="0">
                <a:solidFill>
                  <a:srgbClr val="963139"/>
                </a:solidFill>
                <a:latin typeface="Courier New"/>
                <a:cs typeface="Courier New"/>
              </a:rPr>
              <a:t>10;</a:t>
            </a:r>
            <a:r>
              <a:rPr sz="1600" spc="-10"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a:t>
            </a:r>
            <a:endParaRPr sz="1600">
              <a:latin typeface="Courier New"/>
              <a:cs typeface="Courier New"/>
            </a:endParaRPr>
          </a:p>
          <a:p>
            <a:pPr marL="927100">
              <a:lnSpc>
                <a:spcPct val="100000"/>
              </a:lnSpc>
            </a:pPr>
            <a:r>
              <a:rPr sz="1600" spc="-5" dirty="0">
                <a:solidFill>
                  <a:srgbClr val="963139"/>
                </a:solidFill>
                <a:latin typeface="Courier New"/>
                <a:cs typeface="Courier New"/>
              </a:rPr>
              <a:t>echo</a:t>
            </a:r>
            <a:r>
              <a:rPr sz="1600" spc="-10"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a:t>
            </a:r>
            <a:r>
              <a:rPr sz="1600" spc="-5" dirty="0">
                <a:solidFill>
                  <a:srgbClr val="963139"/>
                </a:solidFill>
                <a:latin typeface="Courier New"/>
                <a:cs typeface="Courier New"/>
              </a:rPr>
              <a:t>. </a:t>
            </a:r>
            <a:r>
              <a:rPr sz="1600" dirty="0">
                <a:solidFill>
                  <a:srgbClr val="963139"/>
                </a:solidFill>
                <a:latin typeface="Courier New"/>
                <a:cs typeface="Courier New"/>
              </a:rPr>
              <a:t>“:”</a:t>
            </a:r>
            <a:r>
              <a:rPr sz="1600" spc="-5" dirty="0">
                <a:solidFill>
                  <a:srgbClr val="963139"/>
                </a:solidFill>
                <a:latin typeface="Courier New"/>
                <a:cs typeface="Courier New"/>
              </a:rPr>
              <a:t> . ($i</a:t>
            </a:r>
            <a:r>
              <a:rPr sz="1600" spc="5" dirty="0">
                <a:solidFill>
                  <a:srgbClr val="963139"/>
                </a:solidFill>
                <a:latin typeface="Courier New"/>
                <a:cs typeface="Courier New"/>
              </a:rPr>
              <a:t> </a:t>
            </a:r>
            <a:r>
              <a:rPr sz="1600" spc="-5" dirty="0">
                <a:solidFill>
                  <a:srgbClr val="963139"/>
                </a:solidFill>
                <a:latin typeface="Courier New"/>
                <a:cs typeface="Courier New"/>
              </a:rPr>
              <a:t>* </a:t>
            </a:r>
            <a:r>
              <a:rPr sz="1600" dirty="0">
                <a:solidFill>
                  <a:srgbClr val="963139"/>
                </a:solidFill>
                <a:latin typeface="Courier New"/>
                <a:cs typeface="Courier New"/>
              </a:rPr>
              <a:t>$i)</a:t>
            </a:r>
            <a:r>
              <a:rPr sz="1600" spc="-5" dirty="0">
                <a:solidFill>
                  <a:srgbClr val="963139"/>
                </a:solidFill>
                <a:latin typeface="Courier New"/>
                <a:cs typeface="Courier New"/>
              </a:rPr>
              <a:t> . “\n”;</a:t>
            </a:r>
            <a:endParaRPr sz="1600">
              <a:latin typeface="Courier New"/>
              <a:cs typeface="Courier New"/>
            </a:endParaRPr>
          </a:p>
          <a:p>
            <a:pPr marL="12700">
              <a:lnSpc>
                <a:spcPct val="100000"/>
              </a:lnSpc>
            </a:pPr>
            <a:r>
              <a:rPr sz="1600" spc="-5" dirty="0">
                <a:solidFill>
                  <a:srgbClr val="96313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344029373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963139"/>
          </a:solidFill>
        </p:spPr>
        <p:txBody>
          <a:bodyPr wrap="square" lIns="0" tIns="0" rIns="0" bIns="0" rtlCol="0"/>
          <a:lstStyle/>
          <a:p>
            <a:endParaRPr/>
          </a:p>
        </p:txBody>
      </p:sp>
      <p:sp>
        <p:nvSpPr>
          <p:cNvPr id="3" name="object 3"/>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676767"/>
          </a:solidFill>
        </p:spPr>
        <p:txBody>
          <a:bodyPr wrap="square" lIns="0" tIns="0" rIns="0" bIns="0" rtlCol="0"/>
          <a:lstStyle/>
          <a:p>
            <a:endParaRPr/>
          </a:p>
        </p:txBody>
      </p:sp>
      <p:sp>
        <p:nvSpPr>
          <p:cNvPr id="4" name="object 4"/>
          <p:cNvSpPr txBox="1">
            <a:spLocks noGrp="1"/>
          </p:cNvSpPr>
          <p:nvPr>
            <p:ph type="title"/>
          </p:nvPr>
        </p:nvSpPr>
        <p:spPr>
          <a:xfrm>
            <a:off x="4109465" y="1616709"/>
            <a:ext cx="922655" cy="696595"/>
          </a:xfrm>
          <a:prstGeom prst="rect">
            <a:avLst/>
          </a:prstGeom>
        </p:spPr>
        <p:txBody>
          <a:bodyPr vert="horz" wrap="square" lIns="0" tIns="13335" rIns="0" bIns="0" rtlCol="0">
            <a:spAutoFit/>
          </a:bodyPr>
          <a:lstStyle/>
          <a:p>
            <a:pPr marL="12700">
              <a:lnSpc>
                <a:spcPct val="100000"/>
              </a:lnSpc>
              <a:spcBef>
                <a:spcPts val="105"/>
              </a:spcBef>
            </a:pPr>
            <a:r>
              <a:rPr spc="-665" dirty="0"/>
              <a:t>PHP</a:t>
            </a:r>
          </a:p>
        </p:txBody>
      </p:sp>
      <p:sp>
        <p:nvSpPr>
          <p:cNvPr id="5" name="object 5"/>
          <p:cNvSpPr txBox="1"/>
          <p:nvPr/>
        </p:nvSpPr>
        <p:spPr>
          <a:xfrm>
            <a:off x="1370457" y="2632075"/>
            <a:ext cx="6401435" cy="513715"/>
          </a:xfrm>
          <a:prstGeom prst="rect">
            <a:avLst/>
          </a:prstGeom>
        </p:spPr>
        <p:txBody>
          <a:bodyPr vert="horz" wrap="square" lIns="0" tIns="13335" rIns="0" bIns="0" rtlCol="0">
            <a:spAutoFit/>
          </a:bodyPr>
          <a:lstStyle/>
          <a:p>
            <a:pPr marL="12700" algn="ctr">
              <a:lnSpc>
                <a:spcPct val="100000"/>
              </a:lnSpc>
              <a:spcBef>
                <a:spcPts val="105"/>
              </a:spcBef>
            </a:pPr>
            <a:r>
              <a:rPr sz="3200" spc="-305" dirty="0">
                <a:solidFill>
                  <a:srgbClr val="963139"/>
                </a:solidFill>
                <a:latin typeface="Microsoft Sans Serif"/>
                <a:cs typeface="Microsoft Sans Serif"/>
              </a:rPr>
              <a:t>S</a:t>
            </a:r>
            <a:r>
              <a:rPr sz="3200" spc="-225" dirty="0">
                <a:solidFill>
                  <a:srgbClr val="963139"/>
                </a:solidFill>
                <a:latin typeface="Microsoft Sans Serif"/>
                <a:cs typeface="Microsoft Sans Serif"/>
              </a:rPr>
              <a:t>y</a:t>
            </a:r>
            <a:r>
              <a:rPr sz="3200" spc="-120" dirty="0">
                <a:solidFill>
                  <a:srgbClr val="963139"/>
                </a:solidFill>
                <a:latin typeface="Microsoft Sans Serif"/>
                <a:cs typeface="Microsoft Sans Serif"/>
              </a:rPr>
              <a:t>ntax:</a:t>
            </a:r>
            <a:r>
              <a:rPr sz="3200" spc="5" dirty="0">
                <a:solidFill>
                  <a:srgbClr val="963139"/>
                </a:solidFill>
                <a:latin typeface="Microsoft Sans Serif"/>
                <a:cs typeface="Microsoft Sans Serif"/>
              </a:rPr>
              <a:t> </a:t>
            </a:r>
            <a:r>
              <a:rPr sz="3200" spc="-265" dirty="0" smtClean="0">
                <a:solidFill>
                  <a:srgbClr val="963139"/>
                </a:solidFill>
                <a:latin typeface="Microsoft Sans Serif"/>
                <a:cs typeface="Microsoft Sans Serif"/>
              </a:rPr>
              <a:t>Functi</a:t>
            </a:r>
            <a:r>
              <a:rPr sz="3200" spc="-320" dirty="0" smtClean="0">
                <a:solidFill>
                  <a:srgbClr val="963139"/>
                </a:solidFill>
                <a:latin typeface="Microsoft Sans Serif"/>
                <a:cs typeface="Microsoft Sans Serif"/>
              </a:rPr>
              <a:t>o</a:t>
            </a:r>
            <a:r>
              <a:rPr sz="3200" spc="-455" dirty="0" smtClean="0">
                <a:solidFill>
                  <a:srgbClr val="963139"/>
                </a:solidFill>
                <a:latin typeface="Microsoft Sans Serif"/>
                <a:cs typeface="Microsoft Sans Serif"/>
              </a:rPr>
              <a:t>ns</a:t>
            </a:r>
            <a:endParaRPr sz="3200" dirty="0">
              <a:latin typeface="Microsoft Sans Serif"/>
              <a:cs typeface="Microsoft Sans Serif"/>
            </a:endParaRPr>
          </a:p>
        </p:txBody>
      </p:sp>
    </p:spTree>
    <p:extLst>
      <p:ext uri="{BB962C8B-B14F-4D97-AF65-F5344CB8AC3E}">
        <p14:creationId xmlns:p14="http://schemas.microsoft.com/office/powerpoint/2010/main" val="1506809702"/>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52675" y="4333875"/>
            <a:ext cx="1085850" cy="400050"/>
            <a:chOff x="2352675" y="4333875"/>
            <a:chExt cx="1085850" cy="400050"/>
          </a:xfrm>
        </p:grpSpPr>
        <p:sp>
          <p:nvSpPr>
            <p:cNvPr id="3" name="object 3"/>
            <p:cNvSpPr/>
            <p:nvPr/>
          </p:nvSpPr>
          <p:spPr>
            <a:xfrm>
              <a:off x="2362200" y="43434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4" name="object 4"/>
            <p:cNvSpPr/>
            <p:nvPr/>
          </p:nvSpPr>
          <p:spPr>
            <a:xfrm>
              <a:off x="2362200" y="43434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494949"/>
              </a:solidFill>
            </a:ln>
          </p:spPr>
          <p:txBody>
            <a:bodyPr wrap="square" lIns="0" tIns="0" rIns="0" bIns="0" rtlCol="0"/>
            <a:lstStyle/>
            <a:p>
              <a:endParaRPr/>
            </a:p>
          </p:txBody>
        </p:sp>
      </p:grpSp>
      <p:grpSp>
        <p:nvGrpSpPr>
          <p:cNvPr id="5" name="object 5"/>
          <p:cNvGrpSpPr/>
          <p:nvPr/>
        </p:nvGrpSpPr>
        <p:grpSpPr>
          <a:xfrm>
            <a:off x="2352675" y="5172075"/>
            <a:ext cx="1085850" cy="400050"/>
            <a:chOff x="2352675" y="5172075"/>
            <a:chExt cx="1085850" cy="400050"/>
          </a:xfrm>
        </p:grpSpPr>
        <p:sp>
          <p:nvSpPr>
            <p:cNvPr id="6" name="object 6"/>
            <p:cNvSpPr/>
            <p:nvPr/>
          </p:nvSpPr>
          <p:spPr>
            <a:xfrm>
              <a:off x="2362200" y="51816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7" name="object 7"/>
            <p:cNvSpPr/>
            <p:nvPr/>
          </p:nvSpPr>
          <p:spPr>
            <a:xfrm>
              <a:off x="2362200" y="51816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494949"/>
              </a:solidFill>
            </a:ln>
          </p:spPr>
          <p:txBody>
            <a:bodyPr wrap="square" lIns="0" tIns="0" rIns="0" bIns="0" rtlCol="0"/>
            <a:lstStyle/>
            <a:p>
              <a:endParaRPr/>
            </a:p>
          </p:txBody>
        </p:sp>
      </p:grpSp>
      <p:grpSp>
        <p:nvGrpSpPr>
          <p:cNvPr id="8" name="object 8"/>
          <p:cNvGrpSpPr/>
          <p:nvPr/>
        </p:nvGrpSpPr>
        <p:grpSpPr>
          <a:xfrm>
            <a:off x="3571875" y="3267075"/>
            <a:ext cx="1085850" cy="400050"/>
            <a:chOff x="3571875" y="3267075"/>
            <a:chExt cx="1085850" cy="400050"/>
          </a:xfrm>
        </p:grpSpPr>
        <p:sp>
          <p:nvSpPr>
            <p:cNvPr id="9" name="object 9"/>
            <p:cNvSpPr/>
            <p:nvPr/>
          </p:nvSpPr>
          <p:spPr>
            <a:xfrm>
              <a:off x="3581400" y="3276600"/>
              <a:ext cx="1066800" cy="381000"/>
            </a:xfrm>
            <a:custGeom>
              <a:avLst/>
              <a:gdLst/>
              <a:ahLst/>
              <a:cxnLst/>
              <a:rect l="l" t="t" r="r" b="b"/>
              <a:pathLst>
                <a:path w="1066800" h="381000">
                  <a:moveTo>
                    <a:pt x="1066800" y="0"/>
                  </a:moveTo>
                  <a:lnTo>
                    <a:pt x="0" y="0"/>
                  </a:lnTo>
                  <a:lnTo>
                    <a:pt x="0" y="381000"/>
                  </a:lnTo>
                  <a:lnTo>
                    <a:pt x="1066800" y="381000"/>
                  </a:lnTo>
                  <a:lnTo>
                    <a:pt x="1066800" y="0"/>
                  </a:lnTo>
                  <a:close/>
                </a:path>
              </a:pathLst>
            </a:custGeom>
            <a:solidFill>
              <a:srgbClr val="92D050"/>
            </a:solidFill>
          </p:spPr>
          <p:txBody>
            <a:bodyPr wrap="square" lIns="0" tIns="0" rIns="0" bIns="0" rtlCol="0"/>
            <a:lstStyle/>
            <a:p>
              <a:endParaRPr/>
            </a:p>
          </p:txBody>
        </p:sp>
        <p:sp>
          <p:nvSpPr>
            <p:cNvPr id="10" name="object 10"/>
            <p:cNvSpPr/>
            <p:nvPr/>
          </p:nvSpPr>
          <p:spPr>
            <a:xfrm>
              <a:off x="3581400" y="3276600"/>
              <a:ext cx="1066800" cy="381000"/>
            </a:xfrm>
            <a:custGeom>
              <a:avLst/>
              <a:gdLst/>
              <a:ahLst/>
              <a:cxnLst/>
              <a:rect l="l" t="t" r="r" b="b"/>
              <a:pathLst>
                <a:path w="1066800" h="381000">
                  <a:moveTo>
                    <a:pt x="0" y="381000"/>
                  </a:moveTo>
                  <a:lnTo>
                    <a:pt x="1066800" y="381000"/>
                  </a:lnTo>
                  <a:lnTo>
                    <a:pt x="1066800" y="0"/>
                  </a:lnTo>
                  <a:lnTo>
                    <a:pt x="0" y="0"/>
                  </a:lnTo>
                  <a:lnTo>
                    <a:pt x="0" y="381000"/>
                  </a:lnTo>
                  <a:close/>
                </a:path>
              </a:pathLst>
            </a:custGeom>
            <a:ln w="19050">
              <a:solidFill>
                <a:srgbClr val="E0E0E0"/>
              </a:solidFill>
            </a:ln>
          </p:spPr>
          <p:txBody>
            <a:bodyPr wrap="square" lIns="0" tIns="0" rIns="0" bIns="0" rtlCol="0"/>
            <a:lstStyle/>
            <a:p>
              <a:endParaRPr/>
            </a:p>
          </p:txBody>
        </p:sp>
      </p:grpSp>
      <p:sp>
        <p:nvSpPr>
          <p:cNvPr id="11" name="object 11"/>
          <p:cNvSpPr txBox="1">
            <a:spLocks noGrp="1"/>
          </p:cNvSpPr>
          <p:nvPr>
            <p:ph type="title"/>
          </p:nvPr>
        </p:nvSpPr>
        <p:spPr>
          <a:xfrm>
            <a:off x="691387" y="343865"/>
            <a:ext cx="6061075" cy="697230"/>
          </a:xfrm>
          <a:prstGeom prst="rect">
            <a:avLst/>
          </a:prstGeom>
        </p:spPr>
        <p:txBody>
          <a:bodyPr vert="horz" wrap="square" lIns="0" tIns="13335" rIns="0" bIns="0" rtlCol="0">
            <a:spAutoFit/>
          </a:bodyPr>
          <a:lstStyle/>
          <a:p>
            <a:pPr marL="12700">
              <a:lnSpc>
                <a:spcPct val="100000"/>
              </a:lnSpc>
              <a:spcBef>
                <a:spcPts val="105"/>
              </a:spcBef>
            </a:pPr>
            <a:r>
              <a:rPr spc="-204" dirty="0"/>
              <a:t>Defining</a:t>
            </a:r>
            <a:r>
              <a:rPr spc="10" dirty="0"/>
              <a:t> </a:t>
            </a:r>
            <a:r>
              <a:rPr spc="-130" dirty="0"/>
              <a:t>y</a:t>
            </a:r>
            <a:r>
              <a:rPr spc="-254" dirty="0"/>
              <a:t>our</a:t>
            </a:r>
            <a:r>
              <a:rPr spc="45" dirty="0"/>
              <a:t> </a:t>
            </a:r>
            <a:r>
              <a:rPr spc="-390" dirty="0"/>
              <a:t>o</a:t>
            </a:r>
            <a:r>
              <a:rPr spc="-380" dirty="0"/>
              <a:t>wn</a:t>
            </a:r>
            <a:r>
              <a:rPr spc="25" dirty="0"/>
              <a:t> </a:t>
            </a:r>
            <a:r>
              <a:rPr spc="-250" dirty="0"/>
              <a:t>funct</a:t>
            </a:r>
            <a:r>
              <a:rPr spc="-145" dirty="0"/>
              <a:t>i</a:t>
            </a:r>
            <a:r>
              <a:rPr spc="-500" dirty="0"/>
              <a:t>ons</a:t>
            </a:r>
          </a:p>
        </p:txBody>
      </p:sp>
      <p:sp>
        <p:nvSpPr>
          <p:cNvPr id="12" name="object 12"/>
          <p:cNvSpPr txBox="1"/>
          <p:nvPr/>
        </p:nvSpPr>
        <p:spPr>
          <a:xfrm>
            <a:off x="1222044" y="1606041"/>
            <a:ext cx="534924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function</a:t>
            </a:r>
            <a:r>
              <a:rPr sz="1800" spc="-25" dirty="0">
                <a:solidFill>
                  <a:srgbClr val="963139"/>
                </a:solidFill>
                <a:latin typeface="Courier New"/>
                <a:cs typeface="Courier New"/>
              </a:rPr>
              <a:t> </a:t>
            </a:r>
            <a:r>
              <a:rPr sz="1800" i="1" spc="-10" dirty="0">
                <a:solidFill>
                  <a:srgbClr val="963139"/>
                </a:solidFill>
                <a:latin typeface="Courier New"/>
                <a:cs typeface="Courier New"/>
              </a:rPr>
              <a:t>function_name</a:t>
            </a:r>
            <a:r>
              <a:rPr sz="1800" i="1" spc="-2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arg1</a:t>
            </a:r>
            <a:r>
              <a:rPr sz="1800" spc="-10" dirty="0">
                <a:solidFill>
                  <a:srgbClr val="963139"/>
                </a:solidFill>
                <a:latin typeface="Courier New"/>
                <a:cs typeface="Courier New"/>
              </a:rPr>
              <a:t>,</a:t>
            </a:r>
            <a:r>
              <a:rPr sz="1800" spc="-2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arg2</a:t>
            </a:r>
            <a:r>
              <a:rPr sz="1800" spc="-10" dirty="0">
                <a:solidFill>
                  <a:srgbClr val="963139"/>
                </a:solidFill>
                <a:latin typeface="Courier New"/>
                <a:cs typeface="Courier New"/>
              </a:rPr>
              <a:t>)</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p:txBody>
      </p:sp>
      <p:sp>
        <p:nvSpPr>
          <p:cNvPr id="13" name="object 13"/>
          <p:cNvSpPr txBox="1"/>
          <p:nvPr/>
        </p:nvSpPr>
        <p:spPr>
          <a:xfrm>
            <a:off x="2136394" y="1880361"/>
            <a:ext cx="1800860" cy="57467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963139"/>
                </a:solidFill>
                <a:latin typeface="Courier New"/>
                <a:cs typeface="Courier New"/>
              </a:rPr>
              <a:t>function</a:t>
            </a:r>
            <a:r>
              <a:rPr sz="1800" spc="-85" dirty="0">
                <a:solidFill>
                  <a:srgbClr val="963139"/>
                </a:solidFill>
                <a:latin typeface="Courier New"/>
                <a:cs typeface="Courier New"/>
              </a:rPr>
              <a:t> </a:t>
            </a:r>
            <a:r>
              <a:rPr sz="1800" spc="-10" dirty="0">
                <a:solidFill>
                  <a:srgbClr val="963139"/>
                </a:solidFill>
                <a:latin typeface="Courier New"/>
                <a:cs typeface="Courier New"/>
              </a:rPr>
              <a:t>code</a:t>
            </a:r>
            <a:endParaRPr sz="1800">
              <a:latin typeface="Courier New"/>
              <a:cs typeface="Courier New"/>
            </a:endParaRPr>
          </a:p>
          <a:p>
            <a:pPr marL="12700">
              <a:lnSpc>
                <a:spcPct val="100000"/>
              </a:lnSpc>
            </a:pPr>
            <a:r>
              <a:rPr sz="1800" spc="-10" dirty="0">
                <a:solidFill>
                  <a:srgbClr val="963139"/>
                </a:solidFill>
                <a:latin typeface="Courier New"/>
                <a:cs typeface="Courier New"/>
              </a:rPr>
              <a:t>return</a:t>
            </a:r>
            <a:r>
              <a:rPr sz="1800" spc="-50" dirty="0">
                <a:solidFill>
                  <a:srgbClr val="963139"/>
                </a:solidFill>
                <a:latin typeface="Courier New"/>
                <a:cs typeface="Courier New"/>
              </a:rPr>
              <a:t> </a:t>
            </a:r>
            <a:r>
              <a:rPr sz="1800" spc="-10" dirty="0">
                <a:solidFill>
                  <a:srgbClr val="963139"/>
                </a:solidFill>
                <a:latin typeface="Courier New"/>
                <a:cs typeface="Courier New"/>
              </a:rPr>
              <a:t>$</a:t>
            </a:r>
            <a:r>
              <a:rPr sz="1800" i="1" spc="-10" dirty="0">
                <a:solidFill>
                  <a:srgbClr val="963139"/>
                </a:solidFill>
                <a:latin typeface="Courier New"/>
                <a:cs typeface="Courier New"/>
              </a:rPr>
              <a:t>var</a:t>
            </a:r>
            <a:endParaRPr sz="1800">
              <a:latin typeface="Courier New"/>
              <a:cs typeface="Courier New"/>
            </a:endParaRPr>
          </a:p>
        </p:txBody>
      </p:sp>
      <p:sp>
        <p:nvSpPr>
          <p:cNvPr id="14" name="object 14"/>
          <p:cNvSpPr txBox="1"/>
          <p:nvPr/>
        </p:nvSpPr>
        <p:spPr>
          <a:xfrm>
            <a:off x="688340" y="2397265"/>
            <a:ext cx="5156835" cy="826769"/>
          </a:xfrm>
          <a:prstGeom prst="rect">
            <a:avLst/>
          </a:prstGeom>
        </p:spPr>
        <p:txBody>
          <a:bodyPr vert="horz" wrap="square" lIns="0" tIns="44450" rIns="0" bIns="0" rtlCol="0">
            <a:spAutoFit/>
          </a:bodyPr>
          <a:lstStyle/>
          <a:p>
            <a:pPr marL="546100">
              <a:lnSpc>
                <a:spcPct val="100000"/>
              </a:lnSpc>
              <a:spcBef>
                <a:spcPts val="350"/>
              </a:spcBef>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414"/>
              </a:spcBef>
            </a:pPr>
            <a:r>
              <a:rPr sz="2900" spc="-190" dirty="0">
                <a:solidFill>
                  <a:srgbClr val="963139"/>
                </a:solidFill>
                <a:latin typeface="Microsoft Sans Serif"/>
                <a:cs typeface="Microsoft Sans Serif"/>
              </a:rPr>
              <a:t>Example:</a:t>
            </a:r>
            <a:r>
              <a:rPr sz="2900" spc="10" dirty="0">
                <a:solidFill>
                  <a:srgbClr val="963139"/>
                </a:solidFill>
                <a:latin typeface="Microsoft Sans Serif"/>
                <a:cs typeface="Microsoft Sans Serif"/>
              </a:rPr>
              <a:t> </a:t>
            </a:r>
            <a:r>
              <a:rPr sz="2900" spc="-15" dirty="0">
                <a:solidFill>
                  <a:srgbClr val="963139"/>
                </a:solidFill>
                <a:latin typeface="Microsoft Sans Serif"/>
                <a:cs typeface="Microsoft Sans Serif"/>
              </a:rPr>
              <a:t>a</a:t>
            </a:r>
            <a:r>
              <a:rPr sz="2900" spc="5" dirty="0">
                <a:solidFill>
                  <a:srgbClr val="963139"/>
                </a:solidFill>
                <a:latin typeface="Microsoft Sans Serif"/>
                <a:cs typeface="Microsoft Sans Serif"/>
              </a:rPr>
              <a:t> </a:t>
            </a:r>
            <a:r>
              <a:rPr sz="2900" spc="-200" dirty="0">
                <a:solidFill>
                  <a:srgbClr val="963139"/>
                </a:solidFill>
                <a:latin typeface="Microsoft Sans Serif"/>
                <a:cs typeface="Microsoft Sans Serif"/>
              </a:rPr>
              <a:t>simple</a:t>
            </a:r>
            <a:r>
              <a:rPr sz="2900" spc="15" dirty="0">
                <a:solidFill>
                  <a:srgbClr val="963139"/>
                </a:solidFill>
                <a:latin typeface="Microsoft Sans Serif"/>
                <a:cs typeface="Microsoft Sans Serif"/>
              </a:rPr>
              <a:t> </a:t>
            </a:r>
            <a:r>
              <a:rPr sz="2900" spc="-110" dirty="0">
                <a:solidFill>
                  <a:srgbClr val="963139"/>
                </a:solidFill>
                <a:latin typeface="Microsoft Sans Serif"/>
                <a:cs typeface="Microsoft Sans Serif"/>
              </a:rPr>
              <a:t>multiply</a:t>
            </a:r>
            <a:r>
              <a:rPr sz="2900" spc="5" dirty="0">
                <a:solidFill>
                  <a:srgbClr val="963139"/>
                </a:solidFill>
                <a:latin typeface="Microsoft Sans Serif"/>
                <a:cs typeface="Microsoft Sans Serif"/>
              </a:rPr>
              <a:t> </a:t>
            </a:r>
            <a:r>
              <a:rPr sz="2900" spc="-175" dirty="0">
                <a:solidFill>
                  <a:srgbClr val="963139"/>
                </a:solidFill>
                <a:latin typeface="Microsoft Sans Serif"/>
                <a:cs typeface="Microsoft Sans Serif"/>
              </a:rPr>
              <a:t>function</a:t>
            </a:r>
            <a:endParaRPr sz="2900">
              <a:latin typeface="Microsoft Sans Serif"/>
              <a:cs typeface="Microsoft Sans Serif"/>
            </a:endParaRPr>
          </a:p>
        </p:txBody>
      </p:sp>
      <p:sp>
        <p:nvSpPr>
          <p:cNvPr id="15" name="object 15"/>
          <p:cNvSpPr txBox="1"/>
          <p:nvPr/>
        </p:nvSpPr>
        <p:spPr>
          <a:xfrm>
            <a:off x="3965575" y="1819366"/>
            <a:ext cx="2362200" cy="635635"/>
          </a:xfrm>
          <a:prstGeom prst="rect">
            <a:avLst/>
          </a:prstGeom>
        </p:spPr>
        <p:txBody>
          <a:bodyPr vert="horz" wrap="square" lIns="0" tIns="43180" rIns="0" bIns="0" rtlCol="0">
            <a:spAutoFit/>
          </a:bodyPr>
          <a:lstStyle/>
          <a:p>
            <a:pPr marL="546100">
              <a:lnSpc>
                <a:spcPct val="100000"/>
              </a:lnSpc>
              <a:spcBef>
                <a:spcPts val="340"/>
              </a:spcBef>
            </a:pPr>
            <a:r>
              <a:rPr sz="1800" spc="-100" dirty="0">
                <a:solidFill>
                  <a:srgbClr val="1B731F"/>
                </a:solidFill>
                <a:latin typeface="Microsoft Sans Serif"/>
                <a:cs typeface="Microsoft Sans Serif"/>
              </a:rPr>
              <a:t>fu</a:t>
            </a:r>
            <a:r>
              <a:rPr sz="1800" spc="-130" dirty="0">
                <a:solidFill>
                  <a:srgbClr val="1B731F"/>
                </a:solidFill>
                <a:latin typeface="Microsoft Sans Serif"/>
                <a:cs typeface="Microsoft Sans Serif"/>
              </a:rPr>
              <a:t>n</a:t>
            </a:r>
            <a:r>
              <a:rPr sz="1800" spc="-145" dirty="0">
                <a:solidFill>
                  <a:srgbClr val="1B731F"/>
                </a:solidFill>
                <a:latin typeface="Microsoft Sans Serif"/>
                <a:cs typeface="Microsoft Sans Serif"/>
              </a:rPr>
              <a:t>c</a:t>
            </a:r>
            <a:r>
              <a:rPr sz="1800" spc="-75" dirty="0">
                <a:solidFill>
                  <a:srgbClr val="1B731F"/>
                </a:solidFill>
                <a:latin typeface="Microsoft Sans Serif"/>
                <a:cs typeface="Microsoft Sans Serif"/>
              </a:rPr>
              <a:t>t</a:t>
            </a:r>
            <a:r>
              <a:rPr sz="1800" spc="-105" dirty="0">
                <a:solidFill>
                  <a:srgbClr val="1B731F"/>
                </a:solidFill>
                <a:latin typeface="Microsoft Sans Serif"/>
                <a:cs typeface="Microsoft Sans Serif"/>
              </a:rPr>
              <a:t>io</a:t>
            </a:r>
            <a:r>
              <a:rPr sz="1800" spc="-140" dirty="0">
                <a:solidFill>
                  <a:srgbClr val="1B731F"/>
                </a:solidFill>
                <a:latin typeface="Microsoft Sans Serif"/>
                <a:cs typeface="Microsoft Sans Serif"/>
              </a:rPr>
              <a:t>n</a:t>
            </a:r>
            <a:r>
              <a:rPr sz="1800" spc="5" dirty="0">
                <a:solidFill>
                  <a:srgbClr val="1B731F"/>
                </a:solidFill>
                <a:latin typeface="Microsoft Sans Serif"/>
                <a:cs typeface="Microsoft Sans Serif"/>
              </a:rPr>
              <a:t> </a:t>
            </a:r>
            <a:r>
              <a:rPr sz="1800" spc="-10" dirty="0">
                <a:solidFill>
                  <a:srgbClr val="1B731F"/>
                </a:solidFill>
                <a:latin typeface="Microsoft Sans Serif"/>
                <a:cs typeface="Microsoft Sans Serif"/>
              </a:rPr>
              <a:t>pa</a:t>
            </a:r>
            <a:r>
              <a:rPr sz="1800" spc="-15" dirty="0">
                <a:solidFill>
                  <a:srgbClr val="1B731F"/>
                </a:solidFill>
                <a:latin typeface="Microsoft Sans Serif"/>
                <a:cs typeface="Microsoft Sans Serif"/>
              </a:rPr>
              <a:t>r</a:t>
            </a:r>
            <a:r>
              <a:rPr sz="1800" spc="-105" dirty="0">
                <a:solidFill>
                  <a:srgbClr val="1B731F"/>
                </a:solidFill>
                <a:latin typeface="Microsoft Sans Serif"/>
                <a:cs typeface="Microsoft Sans Serif"/>
              </a:rPr>
              <a:t>amet</a:t>
            </a:r>
            <a:r>
              <a:rPr sz="1800" spc="-135" dirty="0">
                <a:solidFill>
                  <a:srgbClr val="1B731F"/>
                </a:solidFill>
                <a:latin typeface="Microsoft Sans Serif"/>
                <a:cs typeface="Microsoft Sans Serif"/>
              </a:rPr>
              <a:t>ers</a:t>
            </a:r>
            <a:endParaRPr sz="1800">
              <a:latin typeface="Microsoft Sans Serif"/>
              <a:cs typeface="Microsoft Sans Serif"/>
            </a:endParaRPr>
          </a:p>
          <a:p>
            <a:pPr marL="12700">
              <a:lnSpc>
                <a:spcPct val="100000"/>
              </a:lnSpc>
              <a:spcBef>
                <a:spcPts val="240"/>
              </a:spcBef>
            </a:pPr>
            <a:r>
              <a:rPr sz="1800" spc="-5" dirty="0">
                <a:solidFill>
                  <a:srgbClr val="963139"/>
                </a:solidFill>
                <a:latin typeface="Courier New"/>
                <a:cs typeface="Courier New"/>
              </a:rPr>
              <a:t>//</a:t>
            </a:r>
            <a:r>
              <a:rPr sz="1800" spc="-70" dirty="0">
                <a:solidFill>
                  <a:srgbClr val="963139"/>
                </a:solidFill>
                <a:latin typeface="Courier New"/>
                <a:cs typeface="Courier New"/>
              </a:rPr>
              <a:t> </a:t>
            </a:r>
            <a:r>
              <a:rPr sz="1800" spc="-10" dirty="0">
                <a:solidFill>
                  <a:srgbClr val="963139"/>
                </a:solidFill>
                <a:latin typeface="Courier New"/>
                <a:cs typeface="Courier New"/>
              </a:rPr>
              <a:t>optional</a:t>
            </a:r>
            <a:endParaRPr sz="1800">
              <a:latin typeface="Courier New"/>
              <a:cs typeface="Courier New"/>
            </a:endParaRPr>
          </a:p>
        </p:txBody>
      </p:sp>
      <p:sp>
        <p:nvSpPr>
          <p:cNvPr id="16" name="object 16"/>
          <p:cNvSpPr txBox="1"/>
          <p:nvPr/>
        </p:nvSpPr>
        <p:spPr>
          <a:xfrm>
            <a:off x="1222044" y="3282822"/>
            <a:ext cx="3848735" cy="3324225"/>
          </a:xfrm>
          <a:prstGeom prst="rect">
            <a:avLst/>
          </a:prstGeom>
        </p:spPr>
        <p:txBody>
          <a:bodyPr vert="horz" wrap="square" lIns="0" tIns="12700" rIns="0" bIns="0" rtlCol="0">
            <a:spAutoFit/>
          </a:bodyPr>
          <a:lstStyle/>
          <a:p>
            <a:pPr marL="926465" marR="142240" indent="-914400">
              <a:lnSpc>
                <a:spcPct val="100000"/>
              </a:lnSpc>
              <a:spcBef>
                <a:spcPts val="100"/>
              </a:spcBef>
            </a:pPr>
            <a:r>
              <a:rPr sz="1800" spc="-10" dirty="0">
                <a:solidFill>
                  <a:srgbClr val="963139"/>
                </a:solidFill>
                <a:latin typeface="Courier New"/>
                <a:cs typeface="Courier New"/>
              </a:rPr>
              <a:t>function multiply($x, </a:t>
            </a:r>
            <a:r>
              <a:rPr sz="1800" spc="-5" dirty="0">
                <a:solidFill>
                  <a:srgbClr val="963139"/>
                </a:solidFill>
                <a:latin typeface="Courier New"/>
                <a:cs typeface="Courier New"/>
              </a:rPr>
              <a:t>$y) </a:t>
            </a:r>
            <a:r>
              <a:rPr sz="1800" dirty="0">
                <a:solidFill>
                  <a:srgbClr val="963139"/>
                </a:solidFill>
                <a:latin typeface="Courier New"/>
                <a:cs typeface="Courier New"/>
              </a:rPr>
              <a:t>{ </a:t>
            </a:r>
            <a:r>
              <a:rPr sz="1800" spc="-1070" dirty="0">
                <a:solidFill>
                  <a:srgbClr val="963139"/>
                </a:solidFill>
                <a:latin typeface="Courier New"/>
                <a:cs typeface="Courier New"/>
              </a:rPr>
              <a:t> </a:t>
            </a:r>
            <a:r>
              <a:rPr sz="1800" spc="-10" dirty="0">
                <a:solidFill>
                  <a:srgbClr val="963139"/>
                </a:solidFill>
                <a:latin typeface="Courier New"/>
                <a:cs typeface="Courier New"/>
              </a:rPr>
              <a:t>echo</a:t>
            </a:r>
            <a:r>
              <a:rPr sz="1800" spc="-25" dirty="0">
                <a:solidFill>
                  <a:srgbClr val="963139"/>
                </a:solidFill>
                <a:latin typeface="Courier New"/>
                <a:cs typeface="Courier New"/>
              </a:rPr>
              <a:t> </a:t>
            </a:r>
            <a:r>
              <a:rPr sz="1800" spc="-5" dirty="0">
                <a:solidFill>
                  <a:srgbClr val="963139"/>
                </a:solidFill>
                <a:latin typeface="Courier New"/>
                <a:cs typeface="Courier New"/>
              </a:rPr>
              <a:t>$x</a:t>
            </a:r>
            <a:r>
              <a:rPr sz="1800" spc="-20" dirty="0">
                <a:solidFill>
                  <a:srgbClr val="963139"/>
                </a:solidFill>
                <a:latin typeface="Courier New"/>
                <a:cs typeface="Courier New"/>
              </a:rPr>
              <a:t> </a:t>
            </a:r>
            <a:r>
              <a:rPr sz="1800" dirty="0">
                <a:solidFill>
                  <a:srgbClr val="963139"/>
                </a:solidFill>
                <a:latin typeface="Courier New"/>
                <a:cs typeface="Courier New"/>
              </a:rPr>
              <a:t>*</a:t>
            </a:r>
            <a:r>
              <a:rPr sz="1800" spc="-25" dirty="0">
                <a:solidFill>
                  <a:srgbClr val="963139"/>
                </a:solidFill>
                <a:latin typeface="Courier New"/>
                <a:cs typeface="Courier New"/>
              </a:rPr>
              <a:t> </a:t>
            </a:r>
            <a:r>
              <a:rPr sz="1800" spc="-10" dirty="0">
                <a:solidFill>
                  <a:srgbClr val="963139"/>
                </a:solidFill>
                <a:latin typeface="Courier New"/>
                <a:cs typeface="Courier New"/>
              </a:rPr>
              <a:t>$y;</a:t>
            </a:r>
            <a:endParaRPr sz="1800" dirty="0">
              <a:latin typeface="Courier New"/>
              <a:cs typeface="Courier New"/>
            </a:endParaRPr>
          </a:p>
          <a:p>
            <a:pPr marL="926465">
              <a:lnSpc>
                <a:spcPct val="100000"/>
              </a:lnSpc>
            </a:pPr>
            <a:r>
              <a:rPr sz="1800" spc="-10" dirty="0">
                <a:solidFill>
                  <a:srgbClr val="963139"/>
                </a:solidFill>
                <a:latin typeface="Courier New"/>
                <a:cs typeface="Courier New"/>
              </a:rPr>
              <a:t>echo</a:t>
            </a:r>
            <a:r>
              <a:rPr sz="1800" spc="-70" dirty="0">
                <a:solidFill>
                  <a:srgbClr val="963139"/>
                </a:solidFill>
                <a:latin typeface="Courier New"/>
                <a:cs typeface="Courier New"/>
              </a:rPr>
              <a:t> </a:t>
            </a:r>
            <a:r>
              <a:rPr sz="1800" spc="-5" dirty="0">
                <a:solidFill>
                  <a:srgbClr val="963139"/>
                </a:solidFill>
                <a:latin typeface="Courier New"/>
                <a:cs typeface="Courier New"/>
              </a:rPr>
              <a:t>“\n”;</a:t>
            </a:r>
            <a:endParaRPr sz="1800" dirty="0">
              <a:latin typeface="Courier New"/>
              <a:cs typeface="Courier New"/>
            </a:endParaRPr>
          </a:p>
          <a:p>
            <a:pPr marL="12700">
              <a:lnSpc>
                <a:spcPct val="100000"/>
              </a:lnSpc>
            </a:pPr>
            <a:r>
              <a:rPr sz="1800" dirty="0">
                <a:solidFill>
                  <a:srgbClr val="963139"/>
                </a:solidFill>
                <a:latin typeface="Courier New"/>
                <a:cs typeface="Courier New"/>
              </a:rPr>
              <a:t>}</a:t>
            </a:r>
            <a:endParaRPr sz="1800" dirty="0">
              <a:latin typeface="Courier New"/>
              <a:cs typeface="Courier New"/>
            </a:endParaRPr>
          </a:p>
          <a:p>
            <a:pPr marL="12700">
              <a:lnSpc>
                <a:spcPts val="2135"/>
              </a:lnSpc>
              <a:spcBef>
                <a:spcPts val="50"/>
              </a:spcBef>
            </a:pPr>
            <a:r>
              <a:rPr sz="1800" spc="-10" dirty="0">
                <a:solidFill>
                  <a:srgbClr val="963139"/>
                </a:solidFill>
                <a:latin typeface="Courier New"/>
                <a:cs typeface="Courier New"/>
              </a:rPr>
              <a:t>multiply(5,</a:t>
            </a:r>
            <a:r>
              <a:rPr sz="1800" spc="-55" dirty="0">
                <a:solidFill>
                  <a:srgbClr val="963139"/>
                </a:solidFill>
                <a:latin typeface="Courier New"/>
                <a:cs typeface="Courier New"/>
              </a:rPr>
              <a:t> </a:t>
            </a:r>
            <a:r>
              <a:rPr sz="1800" spc="-5" dirty="0">
                <a:solidFill>
                  <a:srgbClr val="963139"/>
                </a:solidFill>
                <a:latin typeface="Courier New"/>
                <a:cs typeface="Courier New"/>
              </a:rPr>
              <a:t>1.2);</a:t>
            </a:r>
            <a:r>
              <a:rPr sz="1800" spc="-25" dirty="0">
                <a:solidFill>
                  <a:srgbClr val="963139"/>
                </a:solidFill>
                <a:latin typeface="Courier New"/>
                <a:cs typeface="Courier New"/>
              </a:rPr>
              <a:t> </a:t>
            </a:r>
            <a:r>
              <a:rPr sz="1800" dirty="0">
                <a:solidFill>
                  <a:srgbClr val="963139"/>
                </a:solidFill>
                <a:latin typeface="Wingdings"/>
                <a:cs typeface="Wingdings"/>
              </a:rPr>
              <a:t></a:t>
            </a:r>
            <a:r>
              <a:rPr sz="1800" spc="1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dirty="0">
              <a:latin typeface="Microsoft Sans Serif"/>
              <a:cs typeface="Microsoft Sans Serif"/>
            </a:endParaRPr>
          </a:p>
          <a:p>
            <a:pPr marL="12700">
              <a:lnSpc>
                <a:spcPts val="2135"/>
              </a:lnSpc>
            </a:pPr>
            <a:r>
              <a:rPr sz="1800" spc="-5" dirty="0">
                <a:solidFill>
                  <a:srgbClr val="963139"/>
                </a:solidFill>
                <a:latin typeface="Courier New"/>
                <a:cs typeface="Courier New"/>
              </a:rPr>
              <a:t>$a</a:t>
            </a:r>
            <a:r>
              <a:rPr sz="1800" spc="-55"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5;</a:t>
            </a:r>
            <a:endParaRPr sz="1800" dirty="0">
              <a:latin typeface="Courier New"/>
              <a:cs typeface="Courier New"/>
            </a:endParaRPr>
          </a:p>
          <a:p>
            <a:pPr marL="12700">
              <a:lnSpc>
                <a:spcPct val="100000"/>
              </a:lnSpc>
            </a:pPr>
            <a:r>
              <a:rPr sz="1800" spc="-5" dirty="0">
                <a:solidFill>
                  <a:srgbClr val="963139"/>
                </a:solidFill>
                <a:latin typeface="Courier New"/>
                <a:cs typeface="Courier New"/>
              </a:rPr>
              <a:t>$b</a:t>
            </a:r>
            <a:r>
              <a:rPr sz="1800" spc="-50" dirty="0">
                <a:solidFill>
                  <a:srgbClr val="963139"/>
                </a:solidFill>
                <a:latin typeface="Courier New"/>
                <a:cs typeface="Courier New"/>
              </a:rPr>
              <a:t> </a:t>
            </a:r>
            <a:r>
              <a:rPr sz="1800" dirty="0">
                <a:solidFill>
                  <a:srgbClr val="963139"/>
                </a:solidFill>
                <a:latin typeface="Courier New"/>
                <a:cs typeface="Courier New"/>
              </a:rPr>
              <a:t>=</a:t>
            </a:r>
            <a:r>
              <a:rPr sz="1800" spc="-45" dirty="0">
                <a:solidFill>
                  <a:srgbClr val="963139"/>
                </a:solidFill>
                <a:latin typeface="Courier New"/>
                <a:cs typeface="Courier New"/>
              </a:rPr>
              <a:t> </a:t>
            </a:r>
            <a:r>
              <a:rPr sz="1800" spc="-10" dirty="0">
                <a:solidFill>
                  <a:srgbClr val="963139"/>
                </a:solidFill>
                <a:latin typeface="Courier New"/>
                <a:cs typeface="Courier New"/>
              </a:rPr>
              <a:t>1.2;</a:t>
            </a:r>
            <a:endParaRPr sz="1800" dirty="0">
              <a:latin typeface="Courier New"/>
              <a:cs typeface="Courier New"/>
            </a:endParaRPr>
          </a:p>
          <a:p>
            <a:pPr marL="12700">
              <a:lnSpc>
                <a:spcPts val="2135"/>
              </a:lnSpc>
              <a:spcBef>
                <a:spcPts val="50"/>
              </a:spcBef>
              <a:tabLst>
                <a:tab pos="2830830" algn="l"/>
              </a:tabLst>
            </a:pP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a:t>
            </a:r>
            <a:r>
              <a:rPr sz="1800" spc="-15" dirty="0">
                <a:solidFill>
                  <a:srgbClr val="963139"/>
                </a:solidFill>
                <a:latin typeface="Courier New"/>
                <a:cs typeface="Courier New"/>
              </a:rPr>
              <a:t>a</a:t>
            </a:r>
            <a:r>
              <a:rPr sz="1800" dirty="0">
                <a:solidFill>
                  <a:srgbClr val="963139"/>
                </a:solidFill>
                <a:latin typeface="Courier New"/>
                <a:cs typeface="Courier New"/>
              </a:rPr>
              <a:t>,</a:t>
            </a:r>
            <a:r>
              <a:rPr sz="1800" spc="-40" dirty="0">
                <a:solidFill>
                  <a:srgbClr val="963139"/>
                </a:solidFill>
                <a:latin typeface="Courier New"/>
                <a:cs typeface="Courier New"/>
              </a:rPr>
              <a:t> </a:t>
            </a:r>
            <a:r>
              <a:rPr sz="1800" spc="-5" dirty="0">
                <a:solidFill>
                  <a:srgbClr val="963139"/>
                </a:solidFill>
                <a:latin typeface="Courier New"/>
                <a:cs typeface="Courier New"/>
              </a:rPr>
              <a:t>$b)</a:t>
            </a:r>
            <a:r>
              <a:rPr sz="1800" dirty="0">
                <a:solidFill>
                  <a:srgbClr val="963139"/>
                </a:solidFill>
                <a:latin typeface="Courier New"/>
                <a:cs typeface="Courier New"/>
              </a:rPr>
              <a:t>;</a:t>
            </a:r>
            <a:r>
              <a:rPr sz="1800" spc="-2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55" dirty="0">
                <a:solidFill>
                  <a:srgbClr val="963139"/>
                </a:solidFill>
                <a:latin typeface="Microsoft Sans Serif"/>
                <a:cs typeface="Microsoft Sans Serif"/>
              </a:rPr>
              <a:t>prin</a:t>
            </a:r>
            <a:r>
              <a:rPr sz="1800" spc="-30" dirty="0">
                <a:solidFill>
                  <a:srgbClr val="963139"/>
                </a:solidFill>
                <a:latin typeface="Microsoft Sans Serif"/>
                <a:cs typeface="Microsoft Sans Serif"/>
              </a:rPr>
              <a:t>t</a:t>
            </a:r>
            <a:r>
              <a:rPr sz="1800" spc="-300" dirty="0">
                <a:solidFill>
                  <a:srgbClr val="963139"/>
                </a:solidFill>
                <a:latin typeface="Microsoft Sans Serif"/>
                <a:cs typeface="Microsoft Sans Serif"/>
              </a:rPr>
              <a:t>s</a:t>
            </a:r>
            <a:r>
              <a:rPr sz="1800" spc="10"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dirty="0">
              <a:latin typeface="Microsoft Sans Serif"/>
              <a:cs typeface="Microsoft Sans Serif"/>
            </a:endParaRPr>
          </a:p>
          <a:p>
            <a:pPr marL="12700" marR="556895">
              <a:lnSpc>
                <a:spcPts val="2210"/>
              </a:lnSpc>
              <a:spcBef>
                <a:spcPts val="5"/>
              </a:spcBef>
              <a:tabLst>
                <a:tab pos="2830830" algn="l"/>
              </a:tabLst>
            </a:pPr>
            <a:r>
              <a:rPr sz="1800" spc="-5" dirty="0">
                <a:solidFill>
                  <a:srgbClr val="963139"/>
                </a:solidFill>
                <a:latin typeface="Courier New"/>
                <a:cs typeface="Courier New"/>
              </a:rPr>
              <a:t>$a </a:t>
            </a:r>
            <a:r>
              <a:rPr sz="1800" dirty="0">
                <a:solidFill>
                  <a:srgbClr val="963139"/>
                </a:solidFill>
                <a:latin typeface="Courier New"/>
                <a:cs typeface="Courier New"/>
              </a:rPr>
              <a:t>= </a:t>
            </a:r>
            <a:r>
              <a:rPr sz="1800" spc="-10" dirty="0">
                <a:solidFill>
                  <a:srgbClr val="963139"/>
                </a:solidFill>
                <a:latin typeface="Courier New"/>
                <a:cs typeface="Courier New"/>
              </a:rPr>
              <a:t>array(1,2,3); </a:t>
            </a:r>
            <a:r>
              <a:rPr sz="1800" spc="-5" dirty="0">
                <a:solidFill>
                  <a:srgbClr val="963139"/>
                </a:solidFill>
                <a:latin typeface="Courier New"/>
                <a:cs typeface="Courier New"/>
              </a:rPr>
              <a:t> multiply</a:t>
            </a:r>
            <a:r>
              <a:rPr sz="1800" spc="-15" dirty="0">
                <a:solidFill>
                  <a:srgbClr val="963139"/>
                </a:solidFill>
                <a:latin typeface="Courier New"/>
                <a:cs typeface="Courier New"/>
              </a:rPr>
              <a:t>(</a:t>
            </a:r>
            <a:r>
              <a:rPr sz="1800" spc="-5" dirty="0">
                <a:solidFill>
                  <a:srgbClr val="963139"/>
                </a:solidFill>
                <a:latin typeface="Courier New"/>
                <a:cs typeface="Courier New"/>
              </a:rPr>
              <a:t>$</a:t>
            </a:r>
            <a:r>
              <a:rPr sz="1800" spc="-15" dirty="0">
                <a:solidFill>
                  <a:srgbClr val="963139"/>
                </a:solidFill>
                <a:latin typeface="Courier New"/>
                <a:cs typeface="Courier New"/>
              </a:rPr>
              <a:t>a</a:t>
            </a:r>
            <a:r>
              <a:rPr sz="1800" dirty="0">
                <a:solidFill>
                  <a:srgbClr val="963139"/>
                </a:solidFill>
                <a:latin typeface="Courier New"/>
                <a:cs typeface="Courier New"/>
              </a:rPr>
              <a:t>,</a:t>
            </a:r>
            <a:r>
              <a:rPr sz="1800" spc="-40" dirty="0">
                <a:solidFill>
                  <a:srgbClr val="963139"/>
                </a:solidFill>
                <a:latin typeface="Courier New"/>
                <a:cs typeface="Courier New"/>
              </a:rPr>
              <a:t> </a:t>
            </a:r>
            <a:r>
              <a:rPr sz="1800" spc="-5" dirty="0">
                <a:solidFill>
                  <a:srgbClr val="963139"/>
                </a:solidFill>
                <a:latin typeface="Courier New"/>
                <a:cs typeface="Courier New"/>
              </a:rPr>
              <a:t>$b)</a:t>
            </a:r>
            <a:r>
              <a:rPr sz="1800" dirty="0">
                <a:solidFill>
                  <a:srgbClr val="963139"/>
                </a:solidFill>
                <a:latin typeface="Courier New"/>
                <a:cs typeface="Courier New"/>
              </a:rPr>
              <a:t>;</a:t>
            </a:r>
            <a:r>
              <a:rPr sz="1800" spc="-20"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40" dirty="0">
                <a:solidFill>
                  <a:srgbClr val="963139"/>
                </a:solidFill>
                <a:latin typeface="Microsoft Sans Serif"/>
                <a:cs typeface="Microsoft Sans Serif"/>
              </a:rPr>
              <a:t>er</a:t>
            </a:r>
            <a:r>
              <a:rPr sz="1800" spc="-65" dirty="0">
                <a:solidFill>
                  <a:srgbClr val="963139"/>
                </a:solidFill>
                <a:latin typeface="Microsoft Sans Serif"/>
                <a:cs typeface="Microsoft Sans Serif"/>
              </a:rPr>
              <a:t>r</a:t>
            </a:r>
            <a:r>
              <a:rPr sz="1800" spc="-55" dirty="0">
                <a:solidFill>
                  <a:srgbClr val="963139"/>
                </a:solidFill>
                <a:latin typeface="Microsoft Sans Serif"/>
                <a:cs typeface="Microsoft Sans Serif"/>
              </a:rPr>
              <a:t>or</a:t>
            </a:r>
            <a:endParaRPr sz="1800" dirty="0">
              <a:latin typeface="Microsoft Sans Serif"/>
              <a:cs typeface="Microsoft Sans Serif"/>
            </a:endParaRPr>
          </a:p>
          <a:p>
            <a:pPr marL="12700">
              <a:lnSpc>
                <a:spcPts val="2030"/>
              </a:lnSpc>
            </a:pPr>
            <a:r>
              <a:rPr sz="1800" spc="-5" dirty="0">
                <a:solidFill>
                  <a:srgbClr val="963139"/>
                </a:solidFill>
                <a:latin typeface="Courier New"/>
                <a:cs typeface="Courier New"/>
              </a:rPr>
              <a:t>$a</a:t>
            </a:r>
            <a:r>
              <a:rPr sz="1800" spc="-50" dirty="0">
                <a:solidFill>
                  <a:srgbClr val="963139"/>
                </a:solidFill>
                <a:latin typeface="Courier New"/>
                <a:cs typeface="Courier New"/>
              </a:rPr>
              <a:t> </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10" dirty="0">
                <a:solidFill>
                  <a:srgbClr val="963139"/>
                </a:solidFill>
                <a:latin typeface="Courier New"/>
                <a:cs typeface="Courier New"/>
              </a:rPr>
              <a:t>“string”</a:t>
            </a:r>
            <a:endParaRPr sz="1800" dirty="0">
              <a:latin typeface="Courier New"/>
              <a:cs typeface="Courier New"/>
            </a:endParaRPr>
          </a:p>
          <a:p>
            <a:pPr marL="12700">
              <a:lnSpc>
                <a:spcPct val="100000"/>
              </a:lnSpc>
              <a:spcBef>
                <a:spcPts val="50"/>
              </a:spcBef>
              <a:tabLst>
                <a:tab pos="2830830" algn="l"/>
              </a:tabLst>
            </a:pPr>
            <a:r>
              <a:rPr sz="1800" spc="-10" dirty="0">
                <a:solidFill>
                  <a:srgbClr val="963139"/>
                </a:solidFill>
                <a:latin typeface="Courier New"/>
                <a:cs typeface="Courier New"/>
              </a:rPr>
              <a:t>multiply($a,</a:t>
            </a:r>
            <a:r>
              <a:rPr sz="1800" spc="-25" dirty="0">
                <a:solidFill>
                  <a:srgbClr val="963139"/>
                </a:solidFill>
                <a:latin typeface="Courier New"/>
                <a:cs typeface="Courier New"/>
              </a:rPr>
              <a:t> </a:t>
            </a:r>
            <a:r>
              <a:rPr sz="1800" spc="-5" dirty="0">
                <a:solidFill>
                  <a:srgbClr val="963139"/>
                </a:solidFill>
                <a:latin typeface="Courier New"/>
                <a:cs typeface="Courier New"/>
              </a:rPr>
              <a:t>$b);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10" dirty="0">
                <a:solidFill>
                  <a:srgbClr val="963139"/>
                </a:solidFill>
                <a:latin typeface="Microsoft Sans Serif"/>
                <a:cs typeface="Microsoft Sans Serif"/>
              </a:rPr>
              <a:t> 0</a:t>
            </a:r>
            <a:r>
              <a:rPr sz="1800" spc="-20" dirty="0">
                <a:solidFill>
                  <a:srgbClr val="963139"/>
                </a:solidFill>
                <a:latin typeface="Microsoft Sans Serif"/>
                <a:cs typeface="Microsoft Sans Serif"/>
              </a:rPr>
              <a:t> </a:t>
            </a:r>
            <a:r>
              <a:rPr sz="1800" spc="-165" dirty="0">
                <a:solidFill>
                  <a:srgbClr val="963139"/>
                </a:solidFill>
                <a:latin typeface="Microsoft Sans Serif"/>
                <a:cs typeface="Microsoft Sans Serif"/>
              </a:rPr>
              <a:t>(?!)</a:t>
            </a:r>
            <a:endParaRPr sz="1800" dirty="0">
              <a:latin typeface="Microsoft Sans Serif"/>
              <a:cs typeface="Microsoft Sans Serif"/>
            </a:endParaRPr>
          </a:p>
        </p:txBody>
      </p:sp>
    </p:spTree>
    <p:extLst>
      <p:ext uri="{BB962C8B-B14F-4D97-AF65-F5344CB8AC3E}">
        <p14:creationId xmlns:p14="http://schemas.microsoft.com/office/powerpoint/2010/main" val="131899803"/>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93370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215" dirty="0"/>
              <a:t>etu</a:t>
            </a:r>
            <a:r>
              <a:rPr spc="-85" dirty="0"/>
              <a:t>r</a:t>
            </a:r>
            <a:r>
              <a:rPr spc="-520" dirty="0"/>
              <a:t>n</a:t>
            </a:r>
            <a:r>
              <a:rPr spc="20" dirty="0"/>
              <a:t> </a:t>
            </a:r>
            <a:r>
              <a:rPr spc="-360" dirty="0"/>
              <a:t>v</a:t>
            </a:r>
            <a:r>
              <a:rPr spc="-40" dirty="0"/>
              <a:t>a</a:t>
            </a:r>
            <a:r>
              <a:rPr spc="-35" dirty="0"/>
              <a:t>l</a:t>
            </a:r>
            <a:r>
              <a:rPr spc="-500" dirty="0"/>
              <a:t>ues</a:t>
            </a:r>
          </a:p>
        </p:txBody>
      </p:sp>
      <p:sp>
        <p:nvSpPr>
          <p:cNvPr id="3" name="object 3"/>
          <p:cNvSpPr txBox="1"/>
          <p:nvPr/>
        </p:nvSpPr>
        <p:spPr>
          <a:xfrm>
            <a:off x="612140" y="1526134"/>
            <a:ext cx="8051800" cy="4450080"/>
          </a:xfrm>
          <a:prstGeom prst="rect">
            <a:avLst/>
          </a:prstGeom>
        </p:spPr>
        <p:txBody>
          <a:bodyPr vert="horz" wrap="square" lIns="0" tIns="99060" rIns="0" bIns="0" rtlCol="0">
            <a:spAutoFit/>
          </a:bodyPr>
          <a:lstStyle/>
          <a:p>
            <a:pPr marL="411480" indent="-320675">
              <a:lnSpc>
                <a:spcPct val="100000"/>
              </a:lnSpc>
              <a:spcBef>
                <a:spcPts val="780"/>
              </a:spcBef>
              <a:buSzPct val="60344"/>
              <a:buFont typeface="Wingdings"/>
              <a:buChar char=""/>
              <a:tabLst>
                <a:tab pos="412115" algn="l"/>
              </a:tabLst>
            </a:pPr>
            <a:r>
              <a:rPr sz="2900" spc="-185" dirty="0">
                <a:solidFill>
                  <a:srgbClr val="963139"/>
                </a:solidFill>
                <a:latin typeface="Microsoft Sans Serif"/>
                <a:cs typeface="Microsoft Sans Serif"/>
              </a:rPr>
              <a:t>A</a:t>
            </a:r>
            <a:r>
              <a:rPr sz="2900" spc="15" dirty="0">
                <a:solidFill>
                  <a:srgbClr val="963139"/>
                </a:solidFill>
                <a:latin typeface="Microsoft Sans Serif"/>
                <a:cs typeface="Microsoft Sans Serif"/>
              </a:rPr>
              <a:t> </a:t>
            </a:r>
            <a:r>
              <a:rPr sz="2900" spc="-175" dirty="0">
                <a:solidFill>
                  <a:srgbClr val="963139"/>
                </a:solidFill>
                <a:latin typeface="Microsoft Sans Serif"/>
                <a:cs typeface="Microsoft Sans Serif"/>
              </a:rPr>
              <a:t>function</a:t>
            </a:r>
            <a:r>
              <a:rPr sz="2900" spc="30" dirty="0">
                <a:solidFill>
                  <a:srgbClr val="963139"/>
                </a:solidFill>
                <a:latin typeface="Microsoft Sans Serif"/>
                <a:cs typeface="Microsoft Sans Serif"/>
              </a:rPr>
              <a:t> </a:t>
            </a:r>
            <a:r>
              <a:rPr sz="2900" spc="-229" dirty="0">
                <a:solidFill>
                  <a:srgbClr val="963139"/>
                </a:solidFill>
                <a:latin typeface="Microsoft Sans Serif"/>
                <a:cs typeface="Microsoft Sans Serif"/>
              </a:rPr>
              <a:t>can</a:t>
            </a:r>
            <a:r>
              <a:rPr sz="2900" spc="30" dirty="0">
                <a:solidFill>
                  <a:srgbClr val="963139"/>
                </a:solidFill>
                <a:latin typeface="Microsoft Sans Serif"/>
                <a:cs typeface="Microsoft Sans Serif"/>
              </a:rPr>
              <a:t> </a:t>
            </a:r>
            <a:r>
              <a:rPr sz="2900" spc="-110" dirty="0">
                <a:solidFill>
                  <a:srgbClr val="963139"/>
                </a:solidFill>
                <a:latin typeface="Microsoft Sans Serif"/>
                <a:cs typeface="Microsoft Sans Serif"/>
              </a:rPr>
              <a:t>retu</a:t>
            </a:r>
            <a:r>
              <a:rPr sz="2900" spc="-25" dirty="0">
                <a:solidFill>
                  <a:srgbClr val="963139"/>
                </a:solidFill>
                <a:latin typeface="Microsoft Sans Serif"/>
                <a:cs typeface="Microsoft Sans Serif"/>
              </a:rPr>
              <a:t>r</a:t>
            </a:r>
            <a:r>
              <a:rPr sz="2900" spc="-345" dirty="0">
                <a:solidFill>
                  <a:srgbClr val="963139"/>
                </a:solidFill>
                <a:latin typeface="Microsoft Sans Serif"/>
                <a:cs typeface="Microsoft Sans Serif"/>
              </a:rPr>
              <a:t>n</a:t>
            </a:r>
            <a:r>
              <a:rPr sz="2900" spc="10" dirty="0">
                <a:solidFill>
                  <a:srgbClr val="963139"/>
                </a:solidFill>
                <a:latin typeface="Microsoft Sans Serif"/>
                <a:cs typeface="Microsoft Sans Serif"/>
              </a:rPr>
              <a:t> </a:t>
            </a:r>
            <a:r>
              <a:rPr sz="2900" spc="-15" dirty="0">
                <a:solidFill>
                  <a:srgbClr val="963139"/>
                </a:solidFill>
                <a:latin typeface="Microsoft Sans Serif"/>
                <a:cs typeface="Microsoft Sans Serif"/>
              </a:rPr>
              <a:t>a</a:t>
            </a:r>
            <a:r>
              <a:rPr sz="2900" spc="30" dirty="0">
                <a:solidFill>
                  <a:srgbClr val="963139"/>
                </a:solidFill>
                <a:latin typeface="Microsoft Sans Serif"/>
                <a:cs typeface="Microsoft Sans Serif"/>
              </a:rPr>
              <a:t> </a:t>
            </a:r>
            <a:r>
              <a:rPr sz="2900" spc="-245" dirty="0">
                <a:solidFill>
                  <a:srgbClr val="963139"/>
                </a:solidFill>
                <a:latin typeface="Microsoft Sans Serif"/>
                <a:cs typeface="Microsoft Sans Serif"/>
              </a:rPr>
              <a:t>v</a:t>
            </a:r>
            <a:r>
              <a:rPr sz="2900" spc="-135" dirty="0">
                <a:solidFill>
                  <a:srgbClr val="963139"/>
                </a:solidFill>
                <a:latin typeface="Microsoft Sans Serif"/>
                <a:cs typeface="Microsoft Sans Serif"/>
              </a:rPr>
              <a:t>alue</a:t>
            </a:r>
            <a:r>
              <a:rPr sz="2900" spc="30" dirty="0">
                <a:solidFill>
                  <a:srgbClr val="963139"/>
                </a:solidFill>
                <a:latin typeface="Microsoft Sans Serif"/>
                <a:cs typeface="Microsoft Sans Serif"/>
              </a:rPr>
              <a:t> </a:t>
            </a:r>
            <a:r>
              <a:rPr sz="2900" spc="-10" dirty="0">
                <a:solidFill>
                  <a:srgbClr val="963139"/>
                </a:solidFill>
                <a:latin typeface="Microsoft Sans Serif"/>
                <a:cs typeface="Microsoft Sans Serif"/>
              </a:rPr>
              <a:t>a</a:t>
            </a:r>
            <a:r>
              <a:rPr sz="2900" spc="70" dirty="0">
                <a:solidFill>
                  <a:srgbClr val="963139"/>
                </a:solidFill>
                <a:latin typeface="Microsoft Sans Serif"/>
                <a:cs typeface="Microsoft Sans Serif"/>
              </a:rPr>
              <a:t>f</a:t>
            </a:r>
            <a:r>
              <a:rPr sz="2900" spc="75" dirty="0">
                <a:solidFill>
                  <a:srgbClr val="963139"/>
                </a:solidFill>
                <a:latin typeface="Microsoft Sans Serif"/>
                <a:cs typeface="Microsoft Sans Serif"/>
              </a:rPr>
              <a:t>t</a:t>
            </a:r>
            <a:r>
              <a:rPr sz="2900" spc="-80" dirty="0">
                <a:solidFill>
                  <a:srgbClr val="963139"/>
                </a:solidFill>
                <a:latin typeface="Microsoft Sans Serif"/>
                <a:cs typeface="Microsoft Sans Serif"/>
              </a:rPr>
              <a:t>er</a:t>
            </a:r>
            <a:r>
              <a:rPr sz="2900" dirty="0">
                <a:solidFill>
                  <a:srgbClr val="963139"/>
                </a:solidFill>
                <a:latin typeface="Microsoft Sans Serif"/>
                <a:cs typeface="Microsoft Sans Serif"/>
              </a:rPr>
              <a:t> </a:t>
            </a:r>
            <a:r>
              <a:rPr sz="2900" spc="-25" dirty="0">
                <a:solidFill>
                  <a:srgbClr val="963139"/>
                </a:solidFill>
                <a:latin typeface="Microsoft Sans Serif"/>
                <a:cs typeface="Microsoft Sans Serif"/>
              </a:rPr>
              <a:t>it</a:t>
            </a:r>
            <a:r>
              <a:rPr sz="2900" spc="25" dirty="0">
                <a:solidFill>
                  <a:srgbClr val="963139"/>
                </a:solidFill>
                <a:latin typeface="Microsoft Sans Serif"/>
                <a:cs typeface="Microsoft Sans Serif"/>
              </a:rPr>
              <a:t> </a:t>
            </a:r>
            <a:r>
              <a:rPr sz="2900" spc="-165" dirty="0">
                <a:solidFill>
                  <a:srgbClr val="963139"/>
                </a:solidFill>
                <a:latin typeface="Microsoft Sans Serif"/>
                <a:cs typeface="Microsoft Sans Serif"/>
              </a:rPr>
              <a:t>i</a:t>
            </a:r>
            <a:r>
              <a:rPr sz="2900" spc="-350" dirty="0">
                <a:solidFill>
                  <a:srgbClr val="963139"/>
                </a:solidFill>
                <a:latin typeface="Microsoft Sans Serif"/>
                <a:cs typeface="Microsoft Sans Serif"/>
              </a:rPr>
              <a:t>s</a:t>
            </a:r>
            <a:r>
              <a:rPr sz="2900" spc="20" dirty="0">
                <a:solidFill>
                  <a:srgbClr val="963139"/>
                </a:solidFill>
                <a:latin typeface="Microsoft Sans Serif"/>
                <a:cs typeface="Microsoft Sans Serif"/>
              </a:rPr>
              <a:t> </a:t>
            </a:r>
            <a:r>
              <a:rPr sz="2900" spc="-170" dirty="0">
                <a:solidFill>
                  <a:srgbClr val="963139"/>
                </a:solidFill>
                <a:latin typeface="Microsoft Sans Serif"/>
                <a:cs typeface="Microsoft Sans Serif"/>
              </a:rPr>
              <a:t>done</a:t>
            </a:r>
            <a:endParaRPr sz="2900">
              <a:latin typeface="Microsoft Sans Serif"/>
              <a:cs typeface="Microsoft Sans Serif"/>
            </a:endParaRPr>
          </a:p>
          <a:p>
            <a:pPr marL="732155" marR="48260" indent="-274320">
              <a:lnSpc>
                <a:spcPct val="100000"/>
              </a:lnSpc>
              <a:spcBef>
                <a:spcPts val="615"/>
              </a:spcBef>
            </a:pPr>
            <a:r>
              <a:rPr sz="1800" spc="-55" dirty="0">
                <a:solidFill>
                  <a:srgbClr val="676767"/>
                </a:solidFill>
                <a:latin typeface="Microsoft Sans Serif"/>
                <a:cs typeface="Microsoft Sans Serif"/>
              </a:rPr>
              <a:t>🞑 </a:t>
            </a:r>
            <a:r>
              <a:rPr sz="2600" spc="-295" dirty="0">
                <a:solidFill>
                  <a:srgbClr val="963139"/>
                </a:solidFill>
                <a:latin typeface="Microsoft Sans Serif"/>
                <a:cs typeface="Microsoft Sans Serif"/>
              </a:rPr>
              <a:t>Use</a:t>
            </a:r>
            <a:r>
              <a:rPr sz="2600" spc="-290" dirty="0">
                <a:solidFill>
                  <a:srgbClr val="963139"/>
                </a:solidFill>
                <a:latin typeface="Microsoft Sans Serif"/>
                <a:cs typeface="Microsoft Sans Serif"/>
              </a:rPr>
              <a:t> </a:t>
            </a:r>
            <a:r>
              <a:rPr sz="2600" spc="-195" dirty="0">
                <a:solidFill>
                  <a:srgbClr val="963139"/>
                </a:solidFill>
                <a:latin typeface="Microsoft Sans Serif"/>
                <a:cs typeface="Microsoft Sans Serif"/>
              </a:rPr>
              <a:t>this</a:t>
            </a:r>
            <a:r>
              <a:rPr sz="2600" spc="-190" dirty="0">
                <a:solidFill>
                  <a:srgbClr val="963139"/>
                </a:solidFill>
                <a:latin typeface="Microsoft Sans Serif"/>
                <a:cs typeface="Microsoft Sans Serif"/>
              </a:rPr>
              <a:t> </a:t>
            </a:r>
            <a:r>
              <a:rPr sz="2600" spc="-140" dirty="0">
                <a:solidFill>
                  <a:srgbClr val="963139"/>
                </a:solidFill>
                <a:latin typeface="Microsoft Sans Serif"/>
                <a:cs typeface="Microsoft Sans Serif"/>
              </a:rPr>
              <a:t>value </a:t>
            </a:r>
            <a:r>
              <a:rPr sz="2600" spc="-170" dirty="0">
                <a:solidFill>
                  <a:srgbClr val="963139"/>
                </a:solidFill>
                <a:latin typeface="Microsoft Sans Serif"/>
                <a:cs typeface="Microsoft Sans Serif"/>
              </a:rPr>
              <a:t>in</a:t>
            </a:r>
            <a:r>
              <a:rPr sz="2600" spc="-165" dirty="0">
                <a:solidFill>
                  <a:srgbClr val="963139"/>
                </a:solidFill>
                <a:latin typeface="Microsoft Sans Serif"/>
                <a:cs typeface="Microsoft Sans Serif"/>
              </a:rPr>
              <a:t> </a:t>
            </a:r>
            <a:r>
              <a:rPr sz="2600" spc="-110" dirty="0">
                <a:solidFill>
                  <a:srgbClr val="963139"/>
                </a:solidFill>
                <a:latin typeface="Microsoft Sans Serif"/>
                <a:cs typeface="Microsoft Sans Serif"/>
              </a:rPr>
              <a:t>future </a:t>
            </a:r>
            <a:r>
              <a:rPr sz="2600" spc="-155" dirty="0">
                <a:solidFill>
                  <a:srgbClr val="963139"/>
                </a:solidFill>
                <a:latin typeface="Microsoft Sans Serif"/>
                <a:cs typeface="Microsoft Sans Serif"/>
              </a:rPr>
              <a:t>computation, </a:t>
            </a:r>
            <a:r>
              <a:rPr sz="2600" spc="-295" dirty="0">
                <a:solidFill>
                  <a:srgbClr val="963139"/>
                </a:solidFill>
                <a:latin typeface="Microsoft Sans Serif"/>
                <a:cs typeface="Microsoft Sans Serif"/>
              </a:rPr>
              <a:t>use</a:t>
            </a:r>
            <a:r>
              <a:rPr sz="2600" spc="-290" dirty="0">
                <a:solidFill>
                  <a:srgbClr val="963139"/>
                </a:solidFill>
                <a:latin typeface="Microsoft Sans Serif"/>
                <a:cs typeface="Microsoft Sans Serif"/>
              </a:rPr>
              <a:t> </a:t>
            </a:r>
            <a:r>
              <a:rPr sz="2600" spc="-100" dirty="0">
                <a:solidFill>
                  <a:srgbClr val="963139"/>
                </a:solidFill>
                <a:latin typeface="Microsoft Sans Serif"/>
                <a:cs typeface="Microsoft Sans Serif"/>
              </a:rPr>
              <a:t>like </a:t>
            </a:r>
            <a:r>
              <a:rPr sz="2600" spc="-10" dirty="0">
                <a:solidFill>
                  <a:srgbClr val="963139"/>
                </a:solidFill>
                <a:latin typeface="Microsoft Sans Serif"/>
                <a:cs typeface="Microsoft Sans Serif"/>
              </a:rPr>
              <a:t>a </a:t>
            </a:r>
            <a:r>
              <a:rPr sz="2600" spc="-75" dirty="0">
                <a:solidFill>
                  <a:srgbClr val="963139"/>
                </a:solidFill>
                <a:latin typeface="Microsoft Sans Serif"/>
                <a:cs typeface="Microsoft Sans Serif"/>
              </a:rPr>
              <a:t>variable, </a:t>
            </a:r>
            <a:r>
              <a:rPr sz="2600" spc="-70" dirty="0">
                <a:solidFill>
                  <a:srgbClr val="963139"/>
                </a:solidFill>
                <a:latin typeface="Microsoft Sans Serif"/>
                <a:cs typeface="Microsoft Sans Serif"/>
              </a:rPr>
              <a:t> </a:t>
            </a:r>
            <a:r>
              <a:rPr sz="2600" spc="-204" dirty="0">
                <a:solidFill>
                  <a:srgbClr val="963139"/>
                </a:solidFill>
                <a:latin typeface="Microsoft Sans Serif"/>
                <a:cs typeface="Microsoft Sans Serif"/>
              </a:rPr>
              <a:t>assign</a:t>
            </a:r>
            <a:r>
              <a:rPr sz="2600" spc="10" dirty="0">
                <a:solidFill>
                  <a:srgbClr val="963139"/>
                </a:solidFill>
                <a:latin typeface="Microsoft Sans Serif"/>
                <a:cs typeface="Microsoft Sans Serif"/>
              </a:rPr>
              <a:t> </a:t>
            </a:r>
            <a:r>
              <a:rPr sz="2600" spc="-210" dirty="0">
                <a:solidFill>
                  <a:srgbClr val="963139"/>
                </a:solidFill>
                <a:latin typeface="Microsoft Sans Serif"/>
                <a:cs typeface="Microsoft Sans Serif"/>
              </a:rPr>
              <a:t>v</a:t>
            </a:r>
            <a:r>
              <a:rPr sz="2600" spc="-25" dirty="0">
                <a:solidFill>
                  <a:srgbClr val="963139"/>
                </a:solidFill>
                <a:latin typeface="Microsoft Sans Serif"/>
                <a:cs typeface="Microsoft Sans Serif"/>
              </a:rPr>
              <a:t>a</a:t>
            </a:r>
            <a:r>
              <a:rPr sz="2600" spc="-5" dirty="0">
                <a:solidFill>
                  <a:srgbClr val="963139"/>
                </a:solidFill>
                <a:latin typeface="Microsoft Sans Serif"/>
                <a:cs typeface="Microsoft Sans Serif"/>
              </a:rPr>
              <a:t>l</a:t>
            </a:r>
            <a:r>
              <a:rPr sz="2600" spc="-225" dirty="0">
                <a:solidFill>
                  <a:srgbClr val="963139"/>
                </a:solidFill>
                <a:latin typeface="Microsoft Sans Serif"/>
                <a:cs typeface="Microsoft Sans Serif"/>
              </a:rPr>
              <a:t>ue</a:t>
            </a:r>
            <a:r>
              <a:rPr sz="2600" spc="5" dirty="0">
                <a:solidFill>
                  <a:srgbClr val="963139"/>
                </a:solidFill>
                <a:latin typeface="Microsoft Sans Serif"/>
                <a:cs typeface="Microsoft Sans Serif"/>
              </a:rPr>
              <a:t> </a:t>
            </a:r>
            <a:r>
              <a:rPr sz="2600" spc="-85" dirty="0">
                <a:solidFill>
                  <a:srgbClr val="963139"/>
                </a:solidFill>
                <a:latin typeface="Microsoft Sans Serif"/>
                <a:cs typeface="Microsoft Sans Serif"/>
              </a:rPr>
              <a:t>to</a:t>
            </a:r>
            <a:r>
              <a:rPr sz="2600" spc="5" dirty="0">
                <a:solidFill>
                  <a:srgbClr val="963139"/>
                </a:solidFill>
                <a:latin typeface="Microsoft Sans Serif"/>
                <a:cs typeface="Microsoft Sans Serif"/>
              </a:rPr>
              <a:t> </a:t>
            </a:r>
            <a:r>
              <a:rPr sz="2600" spc="-10" dirty="0">
                <a:solidFill>
                  <a:srgbClr val="963139"/>
                </a:solidFill>
                <a:latin typeface="Microsoft Sans Serif"/>
                <a:cs typeface="Microsoft Sans Serif"/>
              </a:rPr>
              <a:t>a</a:t>
            </a:r>
            <a:r>
              <a:rPr sz="2600" spc="20" dirty="0">
                <a:solidFill>
                  <a:srgbClr val="963139"/>
                </a:solidFill>
                <a:latin typeface="Microsoft Sans Serif"/>
                <a:cs typeface="Microsoft Sans Serif"/>
              </a:rPr>
              <a:t> </a:t>
            </a:r>
            <a:r>
              <a:rPr sz="2600" spc="-210" dirty="0">
                <a:solidFill>
                  <a:srgbClr val="963139"/>
                </a:solidFill>
                <a:latin typeface="Microsoft Sans Serif"/>
                <a:cs typeface="Microsoft Sans Serif"/>
              </a:rPr>
              <a:t>v</a:t>
            </a:r>
            <a:r>
              <a:rPr sz="2600" spc="-10" dirty="0">
                <a:solidFill>
                  <a:srgbClr val="963139"/>
                </a:solidFill>
                <a:latin typeface="Microsoft Sans Serif"/>
                <a:cs typeface="Microsoft Sans Serif"/>
              </a:rPr>
              <a:t>ariab</a:t>
            </a:r>
            <a:r>
              <a:rPr sz="2600" spc="-90" dirty="0">
                <a:solidFill>
                  <a:srgbClr val="963139"/>
                </a:solidFill>
                <a:latin typeface="Microsoft Sans Serif"/>
                <a:cs typeface="Microsoft Sans Serif"/>
              </a:rPr>
              <a:t>le</a:t>
            </a:r>
            <a:endParaRPr sz="2600">
              <a:latin typeface="Microsoft Sans Serif"/>
              <a:cs typeface="Microsoft Sans Serif"/>
            </a:endParaRPr>
          </a:p>
          <a:p>
            <a:pPr marL="411480" indent="-320675">
              <a:lnSpc>
                <a:spcPct val="100000"/>
              </a:lnSpc>
              <a:spcBef>
                <a:spcPts val="685"/>
              </a:spcBef>
              <a:buSzPct val="60344"/>
              <a:buFont typeface="Wingdings"/>
              <a:buChar char=""/>
              <a:tabLst>
                <a:tab pos="412115" algn="l"/>
              </a:tabLst>
            </a:pPr>
            <a:r>
              <a:rPr sz="2900" spc="-185" dirty="0">
                <a:solidFill>
                  <a:srgbClr val="963139"/>
                </a:solidFill>
                <a:latin typeface="Microsoft Sans Serif"/>
                <a:cs typeface="Microsoft Sans Serif"/>
              </a:rPr>
              <a:t>A</a:t>
            </a:r>
            <a:r>
              <a:rPr sz="2900" dirty="0">
                <a:solidFill>
                  <a:srgbClr val="963139"/>
                </a:solidFill>
                <a:latin typeface="Microsoft Sans Serif"/>
                <a:cs typeface="Microsoft Sans Serif"/>
              </a:rPr>
              <a:t> </a:t>
            </a:r>
            <a:r>
              <a:rPr sz="2900" spc="-90" dirty="0">
                <a:solidFill>
                  <a:srgbClr val="963139"/>
                </a:solidFill>
                <a:latin typeface="Microsoft Sans Serif"/>
                <a:cs typeface="Microsoft Sans Serif"/>
              </a:rPr>
              <a:t>modified</a:t>
            </a:r>
            <a:r>
              <a:rPr sz="2900" spc="5" dirty="0">
                <a:solidFill>
                  <a:srgbClr val="963139"/>
                </a:solidFill>
                <a:latin typeface="Microsoft Sans Serif"/>
                <a:cs typeface="Microsoft Sans Serif"/>
              </a:rPr>
              <a:t> </a:t>
            </a:r>
            <a:r>
              <a:rPr sz="2900" spc="-110" dirty="0">
                <a:solidFill>
                  <a:srgbClr val="963139"/>
                </a:solidFill>
                <a:latin typeface="Microsoft Sans Serif"/>
                <a:cs typeface="Microsoft Sans Serif"/>
              </a:rPr>
              <a:t>multiply</a:t>
            </a:r>
            <a:r>
              <a:rPr sz="2900" spc="15" dirty="0">
                <a:solidFill>
                  <a:srgbClr val="963139"/>
                </a:solidFill>
                <a:latin typeface="Microsoft Sans Serif"/>
                <a:cs typeface="Microsoft Sans Serif"/>
              </a:rPr>
              <a:t> </a:t>
            </a:r>
            <a:r>
              <a:rPr sz="2900" spc="-180" dirty="0">
                <a:solidFill>
                  <a:srgbClr val="963139"/>
                </a:solidFill>
                <a:latin typeface="Microsoft Sans Serif"/>
                <a:cs typeface="Microsoft Sans Serif"/>
              </a:rPr>
              <a:t>function</a:t>
            </a:r>
            <a:endParaRPr sz="2900">
              <a:latin typeface="Microsoft Sans Serif"/>
              <a:cs typeface="Microsoft Sans Serif"/>
            </a:endParaRPr>
          </a:p>
          <a:p>
            <a:pPr marL="12700">
              <a:lnSpc>
                <a:spcPct val="100000"/>
              </a:lnSpc>
              <a:spcBef>
                <a:spcPts val="2255"/>
              </a:spcBef>
            </a:pPr>
            <a:r>
              <a:rPr sz="1800" spc="-10" dirty="0">
                <a:solidFill>
                  <a:srgbClr val="963139"/>
                </a:solidFill>
                <a:latin typeface="Courier New"/>
                <a:cs typeface="Courier New"/>
              </a:rPr>
              <a:t>function</a:t>
            </a:r>
            <a:r>
              <a:rPr sz="1800" spc="-30" dirty="0">
                <a:solidFill>
                  <a:srgbClr val="963139"/>
                </a:solidFill>
                <a:latin typeface="Courier New"/>
                <a:cs typeface="Courier New"/>
              </a:rPr>
              <a:t> </a:t>
            </a:r>
            <a:r>
              <a:rPr sz="1800" spc="-10" dirty="0">
                <a:solidFill>
                  <a:srgbClr val="963139"/>
                </a:solidFill>
                <a:latin typeface="Courier New"/>
                <a:cs typeface="Courier New"/>
              </a:rPr>
              <a:t>multiply($x,</a:t>
            </a:r>
            <a:r>
              <a:rPr sz="1800" spc="-40" dirty="0">
                <a:solidFill>
                  <a:srgbClr val="963139"/>
                </a:solidFill>
                <a:latin typeface="Courier New"/>
                <a:cs typeface="Courier New"/>
              </a:rPr>
              <a:t> </a:t>
            </a:r>
            <a:r>
              <a:rPr sz="1800" spc="-5" dirty="0">
                <a:solidFill>
                  <a:srgbClr val="963139"/>
                </a:solidFill>
                <a:latin typeface="Courier New"/>
                <a:cs typeface="Courier New"/>
              </a:rPr>
              <a:t>$y)</a:t>
            </a:r>
            <a:r>
              <a:rPr sz="1800" spc="-3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927100">
              <a:lnSpc>
                <a:spcPct val="100000"/>
              </a:lnSpc>
            </a:pPr>
            <a:r>
              <a:rPr sz="1800" spc="-10" dirty="0">
                <a:solidFill>
                  <a:srgbClr val="963139"/>
                </a:solidFill>
                <a:latin typeface="Courier New"/>
                <a:cs typeface="Courier New"/>
              </a:rPr>
              <a:t>return</a:t>
            </a:r>
            <a:r>
              <a:rPr sz="1800" spc="-25" dirty="0">
                <a:solidFill>
                  <a:srgbClr val="963139"/>
                </a:solidFill>
                <a:latin typeface="Courier New"/>
                <a:cs typeface="Courier New"/>
              </a:rPr>
              <a:t> </a:t>
            </a:r>
            <a:r>
              <a:rPr sz="1800" spc="-10" dirty="0">
                <a:solidFill>
                  <a:srgbClr val="963139"/>
                </a:solidFill>
                <a:latin typeface="Courier New"/>
                <a:cs typeface="Courier New"/>
              </a:rPr>
              <a:t>$x</a:t>
            </a:r>
            <a:r>
              <a:rPr sz="1800" spc="-35" dirty="0">
                <a:solidFill>
                  <a:srgbClr val="963139"/>
                </a:solidFill>
                <a:latin typeface="Courier New"/>
                <a:cs typeface="Courier New"/>
              </a:rPr>
              <a:t> </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spc="-10" dirty="0">
                <a:solidFill>
                  <a:srgbClr val="963139"/>
                </a:solidFill>
                <a:latin typeface="Courier New"/>
                <a:cs typeface="Courier New"/>
              </a:rPr>
              <a:t>$y;</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a:p>
            <a:pPr marL="12700">
              <a:lnSpc>
                <a:spcPct val="100000"/>
              </a:lnSpc>
              <a:spcBef>
                <a:spcPts val="45"/>
              </a:spcBef>
            </a:pPr>
            <a:r>
              <a:rPr sz="1800" spc="-10" dirty="0">
                <a:solidFill>
                  <a:srgbClr val="963139"/>
                </a:solidFill>
                <a:latin typeface="Courier New"/>
                <a:cs typeface="Courier New"/>
              </a:rPr>
              <a:t>multiply(2,3);</a:t>
            </a:r>
            <a:r>
              <a:rPr sz="1800" spc="-45" dirty="0">
                <a:solidFill>
                  <a:srgbClr val="963139"/>
                </a:solidFill>
                <a:latin typeface="Courier New"/>
                <a:cs typeface="Courier New"/>
              </a:rPr>
              <a:t> </a:t>
            </a:r>
            <a:r>
              <a:rPr sz="1800" dirty="0">
                <a:solidFill>
                  <a:srgbClr val="963139"/>
                </a:solidFill>
                <a:latin typeface="Wingdings"/>
                <a:cs typeface="Wingdings"/>
              </a:rPr>
              <a:t></a:t>
            </a:r>
            <a:r>
              <a:rPr sz="1800" spc="11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20" dirty="0">
                <a:solidFill>
                  <a:srgbClr val="963139"/>
                </a:solidFill>
                <a:latin typeface="Microsoft Sans Serif"/>
                <a:cs typeface="Microsoft Sans Serif"/>
              </a:rPr>
              <a:t> </a:t>
            </a:r>
            <a:r>
              <a:rPr sz="1800" spc="-110" dirty="0">
                <a:solidFill>
                  <a:srgbClr val="963139"/>
                </a:solidFill>
                <a:latin typeface="Microsoft Sans Serif"/>
                <a:cs typeface="Microsoft Sans Serif"/>
              </a:rPr>
              <a:t>nothing!</a:t>
            </a:r>
            <a:r>
              <a:rPr sz="1800" spc="10" dirty="0">
                <a:solidFill>
                  <a:srgbClr val="963139"/>
                </a:solidFill>
                <a:latin typeface="Microsoft Sans Serif"/>
                <a:cs typeface="Microsoft Sans Serif"/>
              </a:rPr>
              <a:t> </a:t>
            </a:r>
            <a:r>
              <a:rPr sz="1800" spc="-114" dirty="0">
                <a:solidFill>
                  <a:srgbClr val="963139"/>
                </a:solidFill>
                <a:latin typeface="Microsoft Sans Serif"/>
                <a:cs typeface="Microsoft Sans Serif"/>
              </a:rPr>
              <a:t>returns</a:t>
            </a:r>
            <a:r>
              <a:rPr sz="1800" spc="10" dirty="0">
                <a:solidFill>
                  <a:srgbClr val="963139"/>
                </a:solidFill>
                <a:latin typeface="Microsoft Sans Serif"/>
                <a:cs typeface="Microsoft Sans Serif"/>
              </a:rPr>
              <a:t> </a:t>
            </a:r>
            <a:r>
              <a:rPr sz="1800" spc="-110" dirty="0">
                <a:solidFill>
                  <a:srgbClr val="963139"/>
                </a:solidFill>
                <a:latin typeface="Microsoft Sans Serif"/>
                <a:cs typeface="Microsoft Sans Serif"/>
              </a:rPr>
              <a:t>value,</a:t>
            </a:r>
            <a:r>
              <a:rPr sz="1800" spc="20" dirty="0">
                <a:solidFill>
                  <a:srgbClr val="963139"/>
                </a:solidFill>
                <a:latin typeface="Microsoft Sans Serif"/>
                <a:cs typeface="Microsoft Sans Serif"/>
              </a:rPr>
              <a:t> </a:t>
            </a:r>
            <a:r>
              <a:rPr sz="1800" spc="-80" dirty="0">
                <a:solidFill>
                  <a:srgbClr val="963139"/>
                </a:solidFill>
                <a:latin typeface="Microsoft Sans Serif"/>
                <a:cs typeface="Microsoft Sans Serif"/>
              </a:rPr>
              <a:t>but</a:t>
            </a:r>
            <a:r>
              <a:rPr sz="1800" spc="10" dirty="0">
                <a:solidFill>
                  <a:srgbClr val="963139"/>
                </a:solidFill>
                <a:latin typeface="Microsoft Sans Serif"/>
                <a:cs typeface="Microsoft Sans Serif"/>
              </a:rPr>
              <a:t> </a:t>
            </a:r>
            <a:r>
              <a:rPr sz="1800" spc="-125" dirty="0">
                <a:solidFill>
                  <a:srgbClr val="963139"/>
                </a:solidFill>
                <a:latin typeface="Microsoft Sans Serif"/>
                <a:cs typeface="Microsoft Sans Serif"/>
              </a:rPr>
              <a:t>we</a:t>
            </a:r>
            <a:r>
              <a:rPr sz="1800" spc="25" dirty="0">
                <a:solidFill>
                  <a:srgbClr val="963139"/>
                </a:solidFill>
                <a:latin typeface="Microsoft Sans Serif"/>
                <a:cs typeface="Microsoft Sans Serif"/>
              </a:rPr>
              <a:t> </a:t>
            </a:r>
            <a:r>
              <a:rPr sz="1800" spc="-80" dirty="0">
                <a:solidFill>
                  <a:srgbClr val="963139"/>
                </a:solidFill>
                <a:latin typeface="Microsoft Sans Serif"/>
                <a:cs typeface="Microsoft Sans Serif"/>
              </a:rPr>
              <a:t>don’t</a:t>
            </a:r>
            <a:r>
              <a:rPr sz="1800" spc="5" dirty="0">
                <a:solidFill>
                  <a:srgbClr val="963139"/>
                </a:solidFill>
                <a:latin typeface="Microsoft Sans Serif"/>
                <a:cs typeface="Microsoft Sans Serif"/>
              </a:rPr>
              <a:t> </a:t>
            </a:r>
            <a:r>
              <a:rPr sz="1800" spc="-105" dirty="0">
                <a:solidFill>
                  <a:srgbClr val="963139"/>
                </a:solidFill>
                <a:latin typeface="Microsoft Sans Serif"/>
                <a:cs typeface="Microsoft Sans Serif"/>
              </a:rPr>
              <a:t>store</a:t>
            </a:r>
            <a:r>
              <a:rPr sz="1800" spc="25" dirty="0">
                <a:solidFill>
                  <a:srgbClr val="963139"/>
                </a:solidFill>
                <a:latin typeface="Microsoft Sans Serif"/>
                <a:cs typeface="Microsoft Sans Serif"/>
              </a:rPr>
              <a:t> </a:t>
            </a:r>
            <a:r>
              <a:rPr sz="1800" spc="-100" dirty="0">
                <a:solidFill>
                  <a:srgbClr val="963139"/>
                </a:solidFill>
                <a:latin typeface="Microsoft Sans Serif"/>
                <a:cs typeface="Microsoft Sans Serif"/>
              </a:rPr>
              <a:t>anywhere</a:t>
            </a:r>
            <a:endParaRPr sz="1800">
              <a:latin typeface="Microsoft Sans Serif"/>
              <a:cs typeface="Microsoft Sans Serif"/>
            </a:endParaRPr>
          </a:p>
          <a:p>
            <a:pPr marL="12700">
              <a:lnSpc>
                <a:spcPct val="100000"/>
              </a:lnSpc>
              <a:tabLst>
                <a:tab pos="3103880" algn="l"/>
              </a:tabLst>
            </a:pPr>
            <a:r>
              <a:rPr sz="1800" spc="-5" dirty="0">
                <a:solidFill>
                  <a:srgbClr val="963139"/>
                </a:solidFill>
                <a:latin typeface="Courier New"/>
                <a:cs typeface="Courier New"/>
              </a:rPr>
              <a:t>echo</a:t>
            </a:r>
            <a:r>
              <a:rPr sz="1800" spc="-10" dirty="0">
                <a:solidFill>
                  <a:srgbClr val="963139"/>
                </a:solidFill>
                <a:latin typeface="Courier New"/>
                <a:cs typeface="Courier New"/>
              </a:rPr>
              <a:t> multiply(2,3);</a:t>
            </a:r>
            <a:r>
              <a:rPr sz="1800" spc="-2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95" dirty="0">
                <a:solidFill>
                  <a:srgbClr val="963139"/>
                </a:solidFill>
                <a:latin typeface="Microsoft Sans Serif"/>
                <a:cs typeface="Microsoft Sans Serif"/>
              </a:rPr>
              <a:t>prints</a:t>
            </a:r>
            <a:r>
              <a:rPr sz="1800" spc="-15"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endParaRPr sz="1800">
              <a:latin typeface="Microsoft Sans Serif"/>
              <a:cs typeface="Microsoft Sans Serif"/>
            </a:endParaRPr>
          </a:p>
          <a:p>
            <a:pPr marL="12700">
              <a:lnSpc>
                <a:spcPct val="100000"/>
              </a:lnSpc>
              <a:tabLst>
                <a:tab pos="3103880" algn="l"/>
              </a:tabLst>
            </a:pPr>
            <a:r>
              <a:rPr sz="1800" spc="-5" dirty="0">
                <a:solidFill>
                  <a:srgbClr val="963139"/>
                </a:solidFill>
                <a:latin typeface="Courier New"/>
                <a:cs typeface="Courier New"/>
              </a:rPr>
              <a:t>$</a:t>
            </a:r>
            <a:r>
              <a:rPr sz="1800" dirty="0">
                <a:solidFill>
                  <a:srgbClr val="963139"/>
                </a:solidFill>
                <a:latin typeface="Courier New"/>
                <a:cs typeface="Courier New"/>
              </a:rPr>
              <a:t>a</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2</a:t>
            </a:r>
            <a:r>
              <a:rPr sz="1800" spc="-15" dirty="0">
                <a:solidFill>
                  <a:srgbClr val="963139"/>
                </a:solidFill>
                <a:latin typeface="Courier New"/>
                <a:cs typeface="Courier New"/>
              </a:rPr>
              <a:t>,</a:t>
            </a:r>
            <a:r>
              <a:rPr sz="1800" spc="-5" dirty="0">
                <a:solidFill>
                  <a:srgbClr val="963139"/>
                </a:solidFill>
                <a:latin typeface="Courier New"/>
                <a:cs typeface="Courier New"/>
              </a:rPr>
              <a:t>3)</a:t>
            </a:r>
            <a:r>
              <a:rPr sz="1800" dirty="0">
                <a:solidFill>
                  <a:srgbClr val="963139"/>
                </a:solidFill>
                <a:latin typeface="Courier New"/>
                <a:cs typeface="Courier New"/>
              </a:rPr>
              <a:t>;</a:t>
            </a:r>
            <a:r>
              <a:rPr sz="1800" spc="-4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160" dirty="0">
                <a:solidFill>
                  <a:srgbClr val="963139"/>
                </a:solidFill>
                <a:latin typeface="Microsoft Sans Serif"/>
                <a:cs typeface="Microsoft Sans Serif"/>
              </a:rPr>
              <a:t>assi</a:t>
            </a:r>
            <a:r>
              <a:rPr sz="1800" spc="-114" dirty="0">
                <a:solidFill>
                  <a:srgbClr val="963139"/>
                </a:solidFill>
                <a:latin typeface="Microsoft Sans Serif"/>
                <a:cs typeface="Microsoft Sans Serif"/>
              </a:rPr>
              <a:t>gn</a:t>
            </a:r>
            <a:r>
              <a:rPr sz="1800" spc="-305" dirty="0">
                <a:solidFill>
                  <a:srgbClr val="963139"/>
                </a:solidFill>
                <a:latin typeface="Microsoft Sans Serif"/>
                <a:cs typeface="Microsoft Sans Serif"/>
              </a:rPr>
              <a:t>s</a:t>
            </a:r>
            <a:r>
              <a:rPr sz="1800"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70" dirty="0">
                <a:solidFill>
                  <a:srgbClr val="963139"/>
                </a:solidFill>
                <a:latin typeface="Microsoft Sans Serif"/>
                <a:cs typeface="Microsoft Sans Serif"/>
              </a:rPr>
              <a:t>al</a:t>
            </a:r>
            <a:r>
              <a:rPr sz="1800" spc="-95" dirty="0">
                <a:solidFill>
                  <a:srgbClr val="963139"/>
                </a:solidFill>
                <a:latin typeface="Microsoft Sans Serif"/>
                <a:cs typeface="Microsoft Sans Serif"/>
              </a:rPr>
              <a:t>u</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0" dirty="0">
                <a:solidFill>
                  <a:srgbClr val="963139"/>
                </a:solidFill>
                <a:latin typeface="Microsoft Sans Serif"/>
                <a:cs typeface="Microsoft Sans Serif"/>
              </a:rPr>
              <a:t>6</a:t>
            </a:r>
            <a:r>
              <a:rPr sz="1800" spc="10" dirty="0">
                <a:solidFill>
                  <a:srgbClr val="963139"/>
                </a:solidFill>
                <a:latin typeface="Microsoft Sans Serif"/>
                <a:cs typeface="Microsoft Sans Serif"/>
              </a:rPr>
              <a:t> </a:t>
            </a:r>
            <a:r>
              <a:rPr sz="1800" spc="-60" dirty="0">
                <a:solidFill>
                  <a:srgbClr val="963139"/>
                </a:solidFill>
                <a:latin typeface="Microsoft Sans Serif"/>
                <a:cs typeface="Microsoft Sans Serif"/>
              </a:rPr>
              <a:t>to</a:t>
            </a:r>
            <a:r>
              <a:rPr sz="1800" spc="15"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10" dirty="0">
                <a:solidFill>
                  <a:srgbClr val="963139"/>
                </a:solidFill>
                <a:latin typeface="Microsoft Sans Serif"/>
                <a:cs typeface="Microsoft Sans Serif"/>
              </a:rPr>
              <a:t>aria</a:t>
            </a:r>
            <a:r>
              <a:rPr sz="1800" spc="-45" dirty="0">
                <a:solidFill>
                  <a:srgbClr val="963139"/>
                </a:solidFill>
                <a:latin typeface="Microsoft Sans Serif"/>
                <a:cs typeface="Microsoft Sans Serif"/>
              </a:rPr>
              <a:t>ble</a:t>
            </a:r>
            <a:r>
              <a:rPr sz="1800" spc="5" dirty="0">
                <a:solidFill>
                  <a:srgbClr val="963139"/>
                </a:solidFill>
                <a:latin typeface="Microsoft Sans Serif"/>
                <a:cs typeface="Microsoft Sans Serif"/>
              </a:rPr>
              <a:t> </a:t>
            </a:r>
            <a:r>
              <a:rPr sz="1800" spc="-10" dirty="0">
                <a:solidFill>
                  <a:srgbClr val="963139"/>
                </a:solidFill>
                <a:latin typeface="Microsoft Sans Serif"/>
                <a:cs typeface="Microsoft Sans Serif"/>
              </a:rPr>
              <a:t>$a</a:t>
            </a:r>
            <a:endParaRPr sz="1800">
              <a:latin typeface="Microsoft Sans Serif"/>
              <a:cs typeface="Microsoft Sans Serif"/>
            </a:endParaRPr>
          </a:p>
          <a:p>
            <a:pPr marL="12700">
              <a:lnSpc>
                <a:spcPct val="100000"/>
              </a:lnSpc>
              <a:spcBef>
                <a:spcPts val="5"/>
              </a:spcBef>
              <a:tabLst>
                <a:tab pos="6518275" algn="l"/>
              </a:tabLst>
            </a:pPr>
            <a:r>
              <a:rPr sz="1800" spc="-5" dirty="0">
                <a:solidFill>
                  <a:srgbClr val="963139"/>
                </a:solidFill>
                <a:latin typeface="Courier New"/>
                <a:cs typeface="Courier New"/>
              </a:rPr>
              <a:t>$</a:t>
            </a:r>
            <a:r>
              <a:rPr sz="1800" dirty="0">
                <a:solidFill>
                  <a:srgbClr val="963139"/>
                </a:solidFill>
                <a:latin typeface="Courier New"/>
                <a:cs typeface="Courier New"/>
              </a:rPr>
              <a:t>b</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15"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m</a:t>
            </a:r>
            <a:r>
              <a:rPr sz="1800" spc="-15" dirty="0">
                <a:solidFill>
                  <a:srgbClr val="963139"/>
                </a:solidFill>
                <a:latin typeface="Courier New"/>
                <a:cs typeface="Courier New"/>
              </a:rPr>
              <a:t>u</a:t>
            </a:r>
            <a:r>
              <a:rPr sz="1800" spc="-5" dirty="0">
                <a:solidFill>
                  <a:srgbClr val="963139"/>
                </a:solidFill>
                <a:latin typeface="Courier New"/>
                <a:cs typeface="Courier New"/>
              </a:rPr>
              <a:t>lt</a:t>
            </a:r>
            <a:r>
              <a:rPr sz="1800" spc="-15" dirty="0">
                <a:solidFill>
                  <a:srgbClr val="963139"/>
                </a:solidFill>
                <a:latin typeface="Courier New"/>
                <a:cs typeface="Courier New"/>
              </a:rPr>
              <a:t>i</a:t>
            </a:r>
            <a:r>
              <a:rPr sz="1800" spc="-5" dirty="0">
                <a:solidFill>
                  <a:srgbClr val="963139"/>
                </a:solidFill>
                <a:latin typeface="Courier New"/>
                <a:cs typeface="Courier New"/>
              </a:rPr>
              <a:t>p</a:t>
            </a:r>
            <a:r>
              <a:rPr sz="1800" spc="-15" dirty="0">
                <a:solidFill>
                  <a:srgbClr val="963139"/>
                </a:solidFill>
                <a:latin typeface="Courier New"/>
                <a:cs typeface="Courier New"/>
              </a:rPr>
              <a:t>l</a:t>
            </a:r>
            <a:r>
              <a:rPr sz="1800" spc="-5" dirty="0">
                <a:solidFill>
                  <a:srgbClr val="963139"/>
                </a:solidFill>
                <a:latin typeface="Courier New"/>
                <a:cs typeface="Courier New"/>
              </a:rPr>
              <a:t>y</a:t>
            </a:r>
            <a:r>
              <a:rPr sz="1800" spc="-15" dirty="0">
                <a:solidFill>
                  <a:srgbClr val="963139"/>
                </a:solidFill>
                <a:latin typeface="Courier New"/>
                <a:cs typeface="Courier New"/>
              </a:rPr>
              <a:t>(</a:t>
            </a:r>
            <a:r>
              <a:rPr sz="1800" spc="-5" dirty="0">
                <a:solidFill>
                  <a:srgbClr val="963139"/>
                </a:solidFill>
                <a:latin typeface="Courier New"/>
                <a:cs typeface="Courier New"/>
              </a:rPr>
              <a:t>2,</a:t>
            </a:r>
            <a:r>
              <a:rPr sz="1800" spc="-15" dirty="0">
                <a:solidFill>
                  <a:srgbClr val="963139"/>
                </a:solidFill>
                <a:latin typeface="Courier New"/>
                <a:cs typeface="Courier New"/>
              </a:rPr>
              <a:t>3</a:t>
            </a:r>
            <a:r>
              <a:rPr sz="1800" spc="-5" dirty="0">
                <a:solidFill>
                  <a:srgbClr val="963139"/>
                </a:solidFill>
                <a:latin typeface="Courier New"/>
                <a:cs typeface="Courier New"/>
              </a:rPr>
              <a:t>)</a:t>
            </a:r>
            <a:r>
              <a:rPr sz="1800"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multiply</a:t>
            </a:r>
            <a:r>
              <a:rPr sz="1800" spc="-15" dirty="0">
                <a:solidFill>
                  <a:srgbClr val="963139"/>
                </a:solidFill>
                <a:latin typeface="Courier New"/>
                <a:cs typeface="Courier New"/>
              </a:rPr>
              <a:t>(</a:t>
            </a:r>
            <a:r>
              <a:rPr sz="1800" spc="-5" dirty="0">
                <a:solidFill>
                  <a:srgbClr val="963139"/>
                </a:solidFill>
                <a:latin typeface="Courier New"/>
                <a:cs typeface="Courier New"/>
              </a:rPr>
              <a:t>3</a:t>
            </a:r>
            <a:r>
              <a:rPr sz="1800" spc="-15" dirty="0">
                <a:solidFill>
                  <a:srgbClr val="963139"/>
                </a:solidFill>
                <a:latin typeface="Courier New"/>
                <a:cs typeface="Courier New"/>
              </a:rPr>
              <a:t>,</a:t>
            </a:r>
            <a:r>
              <a:rPr sz="1800" spc="-5" dirty="0">
                <a:solidFill>
                  <a:srgbClr val="963139"/>
                </a:solidFill>
                <a:latin typeface="Courier New"/>
                <a:cs typeface="Courier New"/>
              </a:rPr>
              <a:t>4)</a:t>
            </a:r>
            <a:r>
              <a:rPr sz="1800" spc="-15" dirty="0">
                <a:solidFill>
                  <a:srgbClr val="963139"/>
                </a:solidFill>
                <a:latin typeface="Courier New"/>
                <a:cs typeface="Courier New"/>
              </a:rPr>
              <a:t>)</a:t>
            </a:r>
            <a:r>
              <a:rPr sz="1800" dirty="0">
                <a:solidFill>
                  <a:srgbClr val="963139"/>
                </a:solidFill>
                <a:latin typeface="Courier New"/>
                <a:cs typeface="Courier New"/>
              </a:rPr>
              <a:t>;</a:t>
            </a:r>
            <a:r>
              <a:rPr sz="1800" spc="-35" dirty="0">
                <a:solidFill>
                  <a:srgbClr val="963139"/>
                </a:solidFill>
                <a:latin typeface="Courier New"/>
                <a:cs typeface="Courier New"/>
              </a:rPr>
              <a:t> </a:t>
            </a:r>
            <a:r>
              <a:rPr sz="1800" dirty="0">
                <a:solidFill>
                  <a:srgbClr val="963139"/>
                </a:solidFill>
                <a:latin typeface="Wingdings"/>
                <a:cs typeface="Wingdings"/>
              </a:rPr>
              <a:t></a:t>
            </a:r>
            <a:r>
              <a:rPr sz="1800" dirty="0">
                <a:solidFill>
                  <a:srgbClr val="963139"/>
                </a:solidFill>
                <a:latin typeface="Times New Roman"/>
                <a:cs typeface="Times New Roman"/>
              </a:rPr>
              <a:t>	</a:t>
            </a:r>
            <a:r>
              <a:rPr sz="1800" spc="-160" dirty="0">
                <a:solidFill>
                  <a:srgbClr val="963139"/>
                </a:solidFill>
                <a:latin typeface="Microsoft Sans Serif"/>
                <a:cs typeface="Microsoft Sans Serif"/>
              </a:rPr>
              <a:t>assi</a:t>
            </a:r>
            <a:r>
              <a:rPr sz="1800" spc="-114" dirty="0">
                <a:solidFill>
                  <a:srgbClr val="963139"/>
                </a:solidFill>
                <a:latin typeface="Microsoft Sans Serif"/>
                <a:cs typeface="Microsoft Sans Serif"/>
              </a:rPr>
              <a:t>gn</a:t>
            </a:r>
            <a:r>
              <a:rPr sz="1800" spc="-305" dirty="0">
                <a:solidFill>
                  <a:srgbClr val="963139"/>
                </a:solidFill>
                <a:latin typeface="Microsoft Sans Serif"/>
                <a:cs typeface="Microsoft Sans Serif"/>
              </a:rPr>
              <a:t>s</a:t>
            </a:r>
            <a:r>
              <a:rPr sz="1800"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spc="15" dirty="0">
                <a:solidFill>
                  <a:srgbClr val="963139"/>
                </a:solidFill>
                <a:latin typeface="Microsoft Sans Serif"/>
                <a:cs typeface="Microsoft Sans Serif"/>
              </a:rPr>
              <a:t> </a:t>
            </a:r>
            <a:r>
              <a:rPr sz="1800" spc="-155" dirty="0">
                <a:solidFill>
                  <a:srgbClr val="963139"/>
                </a:solidFill>
                <a:latin typeface="Microsoft Sans Serif"/>
                <a:cs typeface="Microsoft Sans Serif"/>
              </a:rPr>
              <a:t>v</a:t>
            </a:r>
            <a:r>
              <a:rPr sz="1800" spc="-70" dirty="0">
                <a:solidFill>
                  <a:srgbClr val="963139"/>
                </a:solidFill>
                <a:latin typeface="Microsoft Sans Serif"/>
                <a:cs typeface="Microsoft Sans Serif"/>
              </a:rPr>
              <a:t>al</a:t>
            </a:r>
            <a:r>
              <a:rPr sz="1800" spc="-95" dirty="0">
                <a:solidFill>
                  <a:srgbClr val="963139"/>
                </a:solidFill>
                <a:latin typeface="Microsoft Sans Serif"/>
                <a:cs typeface="Microsoft Sans Serif"/>
              </a:rPr>
              <a:t>u</a:t>
            </a:r>
            <a:r>
              <a:rPr sz="1800" spc="-105" dirty="0">
                <a:solidFill>
                  <a:srgbClr val="963139"/>
                </a:solidFill>
                <a:latin typeface="Microsoft Sans Serif"/>
                <a:cs typeface="Microsoft Sans Serif"/>
              </a:rPr>
              <a:t>e</a:t>
            </a:r>
            <a:endParaRPr sz="1800">
              <a:latin typeface="Microsoft Sans Serif"/>
              <a:cs typeface="Microsoft Sans Serif"/>
            </a:endParaRPr>
          </a:p>
          <a:p>
            <a:pPr marR="570865" algn="r">
              <a:lnSpc>
                <a:spcPct val="100000"/>
              </a:lnSpc>
              <a:spcBef>
                <a:spcPts val="70"/>
              </a:spcBef>
            </a:pPr>
            <a:r>
              <a:rPr sz="1800" spc="-10" dirty="0">
                <a:solidFill>
                  <a:srgbClr val="963139"/>
                </a:solidFill>
                <a:latin typeface="Microsoft Sans Serif"/>
                <a:cs typeface="Microsoft Sans Serif"/>
              </a:rPr>
              <a:t>72</a:t>
            </a:r>
            <a:r>
              <a:rPr sz="1800" spc="5" dirty="0">
                <a:solidFill>
                  <a:srgbClr val="963139"/>
                </a:solidFill>
                <a:latin typeface="Microsoft Sans Serif"/>
                <a:cs typeface="Microsoft Sans Serif"/>
              </a:rPr>
              <a:t> </a:t>
            </a:r>
            <a:r>
              <a:rPr sz="1800" spc="-60" dirty="0">
                <a:solidFill>
                  <a:srgbClr val="963139"/>
                </a:solidFill>
                <a:latin typeface="Microsoft Sans Serif"/>
                <a:cs typeface="Microsoft Sans Serif"/>
              </a:rPr>
              <a:t>to</a:t>
            </a:r>
            <a:r>
              <a:rPr sz="1800" spc="25" dirty="0">
                <a:solidFill>
                  <a:srgbClr val="963139"/>
                </a:solidFill>
                <a:latin typeface="Microsoft Sans Serif"/>
                <a:cs typeface="Microsoft Sans Serif"/>
              </a:rPr>
              <a:t> </a:t>
            </a:r>
            <a:r>
              <a:rPr sz="1800" spc="-75" dirty="0">
                <a:solidFill>
                  <a:srgbClr val="963139"/>
                </a:solidFill>
                <a:latin typeface="Microsoft Sans Serif"/>
                <a:cs typeface="Microsoft Sans Serif"/>
              </a:rPr>
              <a:t>t</a:t>
            </a:r>
            <a:r>
              <a:rPr sz="1800" spc="-145" dirty="0">
                <a:solidFill>
                  <a:srgbClr val="963139"/>
                </a:solidFill>
                <a:latin typeface="Microsoft Sans Serif"/>
                <a:cs typeface="Microsoft Sans Serif"/>
              </a:rPr>
              <a:t>h</a:t>
            </a:r>
            <a:r>
              <a:rPr sz="1800" spc="-105" dirty="0">
                <a:solidFill>
                  <a:srgbClr val="963139"/>
                </a:solidFill>
                <a:latin typeface="Microsoft Sans Serif"/>
                <a:cs typeface="Microsoft Sans Serif"/>
              </a:rPr>
              <a:t>e</a:t>
            </a:r>
            <a:r>
              <a:rPr sz="1800" dirty="0">
                <a:solidFill>
                  <a:srgbClr val="963139"/>
                </a:solidFill>
                <a:latin typeface="Microsoft Sans Serif"/>
                <a:cs typeface="Microsoft Sans Serif"/>
              </a:rPr>
              <a:t> </a:t>
            </a:r>
            <a:r>
              <a:rPr sz="1800" spc="-150" dirty="0">
                <a:solidFill>
                  <a:srgbClr val="963139"/>
                </a:solidFill>
                <a:latin typeface="Microsoft Sans Serif"/>
                <a:cs typeface="Microsoft Sans Serif"/>
              </a:rPr>
              <a:t>v</a:t>
            </a:r>
            <a:r>
              <a:rPr sz="1800" spc="-10" dirty="0">
                <a:solidFill>
                  <a:srgbClr val="963139"/>
                </a:solidFill>
                <a:latin typeface="Microsoft Sans Serif"/>
                <a:cs typeface="Microsoft Sans Serif"/>
              </a:rPr>
              <a:t>aria</a:t>
            </a:r>
            <a:r>
              <a:rPr sz="1800" spc="-45" dirty="0">
                <a:solidFill>
                  <a:srgbClr val="963139"/>
                </a:solidFill>
                <a:latin typeface="Microsoft Sans Serif"/>
                <a:cs typeface="Microsoft Sans Serif"/>
              </a:rPr>
              <a:t>ble</a:t>
            </a:r>
            <a:r>
              <a:rPr sz="1800" spc="5" dirty="0">
                <a:solidFill>
                  <a:srgbClr val="963139"/>
                </a:solidFill>
                <a:latin typeface="Microsoft Sans Serif"/>
                <a:cs typeface="Microsoft Sans Serif"/>
              </a:rPr>
              <a:t> </a:t>
            </a:r>
            <a:r>
              <a:rPr sz="1800" spc="-10" dirty="0">
                <a:solidFill>
                  <a:srgbClr val="963139"/>
                </a:solidFill>
                <a:latin typeface="Microsoft Sans Serif"/>
                <a:cs typeface="Microsoft Sans Serif"/>
              </a:rPr>
              <a:t>$b</a:t>
            </a:r>
            <a:endParaRPr sz="1800">
              <a:latin typeface="Microsoft Sans Serif"/>
              <a:cs typeface="Microsoft Sans Serif"/>
            </a:endParaRPr>
          </a:p>
        </p:txBody>
      </p:sp>
    </p:spTree>
    <p:extLst>
      <p:ext uri="{BB962C8B-B14F-4D97-AF65-F5344CB8AC3E}">
        <p14:creationId xmlns:p14="http://schemas.microsoft.com/office/powerpoint/2010/main" val="384495353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2933700" cy="697230"/>
          </a:xfrm>
          <a:prstGeom prst="rect">
            <a:avLst/>
          </a:prstGeom>
        </p:spPr>
        <p:txBody>
          <a:bodyPr vert="horz" wrap="square" lIns="0" tIns="13335" rIns="0" bIns="0" rtlCol="0">
            <a:spAutoFit/>
          </a:bodyPr>
          <a:lstStyle/>
          <a:p>
            <a:pPr marL="12700">
              <a:lnSpc>
                <a:spcPct val="100000"/>
              </a:lnSpc>
              <a:spcBef>
                <a:spcPts val="105"/>
              </a:spcBef>
            </a:pPr>
            <a:r>
              <a:rPr spc="-1105" dirty="0"/>
              <a:t>R</a:t>
            </a:r>
            <a:r>
              <a:rPr spc="-215" dirty="0"/>
              <a:t>etu</a:t>
            </a:r>
            <a:r>
              <a:rPr spc="-85" dirty="0"/>
              <a:t>r</a:t>
            </a:r>
            <a:r>
              <a:rPr spc="-520" dirty="0"/>
              <a:t>n</a:t>
            </a:r>
            <a:r>
              <a:rPr spc="20" dirty="0"/>
              <a:t> </a:t>
            </a:r>
            <a:r>
              <a:rPr spc="-360" dirty="0"/>
              <a:t>v</a:t>
            </a:r>
            <a:r>
              <a:rPr spc="-40" dirty="0"/>
              <a:t>a</a:t>
            </a:r>
            <a:r>
              <a:rPr spc="-35" dirty="0"/>
              <a:t>l</a:t>
            </a:r>
            <a:r>
              <a:rPr spc="-500" dirty="0"/>
              <a:t>ues</a:t>
            </a:r>
          </a:p>
        </p:txBody>
      </p:sp>
      <p:sp>
        <p:nvSpPr>
          <p:cNvPr id="3" name="object 3"/>
          <p:cNvSpPr txBox="1"/>
          <p:nvPr/>
        </p:nvSpPr>
        <p:spPr>
          <a:xfrm>
            <a:off x="691387" y="1616709"/>
            <a:ext cx="7780655" cy="2270760"/>
          </a:xfrm>
          <a:prstGeom prst="rect">
            <a:avLst/>
          </a:prstGeom>
        </p:spPr>
        <p:txBody>
          <a:bodyPr vert="horz" wrap="square" lIns="0" tIns="12700" rIns="0" bIns="0" rtlCol="0">
            <a:spAutoFit/>
          </a:bodyPr>
          <a:lstStyle/>
          <a:p>
            <a:pPr marL="332740" marR="103505" indent="-320040">
              <a:lnSpc>
                <a:spcPct val="100000"/>
              </a:lnSpc>
              <a:spcBef>
                <a:spcPts val="100"/>
              </a:spcBef>
              <a:buSzPct val="60416"/>
              <a:buFont typeface="Wingdings"/>
              <a:buChar char=""/>
              <a:tabLst>
                <a:tab pos="332105" algn="l"/>
                <a:tab pos="332740" algn="l"/>
              </a:tabLst>
            </a:pPr>
            <a:r>
              <a:rPr sz="2400" spc="-155" dirty="0">
                <a:solidFill>
                  <a:srgbClr val="963139"/>
                </a:solidFill>
                <a:latin typeface="Microsoft Sans Serif"/>
                <a:cs typeface="Microsoft Sans Serif"/>
              </a:rPr>
              <a:t>A</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195" dirty="0">
                <a:solidFill>
                  <a:srgbClr val="963139"/>
                </a:solidFill>
                <a:latin typeface="Microsoft Sans Serif"/>
                <a:cs typeface="Microsoft Sans Serif"/>
              </a:rPr>
              <a:t>can</a:t>
            </a:r>
            <a:r>
              <a:rPr sz="2400" spc="35"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5" dirty="0">
                <a:solidFill>
                  <a:srgbClr val="963139"/>
                </a:solidFill>
                <a:latin typeface="Microsoft Sans Serif"/>
                <a:cs typeface="Microsoft Sans Serif"/>
              </a:rPr>
              <a:t> </a:t>
            </a:r>
            <a:r>
              <a:rPr sz="2400" spc="-15" dirty="0">
                <a:solidFill>
                  <a:srgbClr val="963139"/>
                </a:solidFill>
                <a:latin typeface="Microsoft Sans Serif"/>
                <a:cs typeface="Microsoft Sans Serif"/>
              </a:rPr>
              <a:t>at</a:t>
            </a:r>
            <a:r>
              <a:rPr sz="2400" spc="30" dirty="0">
                <a:solidFill>
                  <a:srgbClr val="963139"/>
                </a:solidFill>
                <a:latin typeface="Microsoft Sans Serif"/>
                <a:cs typeface="Microsoft Sans Serif"/>
              </a:rPr>
              <a:t> </a:t>
            </a:r>
            <a:r>
              <a:rPr sz="2400" spc="-240" dirty="0">
                <a:solidFill>
                  <a:srgbClr val="963139"/>
                </a:solidFill>
                <a:latin typeface="Microsoft Sans Serif"/>
                <a:cs typeface="Microsoft Sans Serif"/>
              </a:rPr>
              <a:t>most</a:t>
            </a:r>
            <a:r>
              <a:rPr sz="2400" spc="35" dirty="0">
                <a:solidFill>
                  <a:srgbClr val="963139"/>
                </a:solidFill>
                <a:latin typeface="Microsoft Sans Serif"/>
                <a:cs typeface="Microsoft Sans Serif"/>
              </a:rPr>
              <a:t> </a:t>
            </a:r>
            <a:r>
              <a:rPr sz="2400" spc="-215" dirty="0">
                <a:solidFill>
                  <a:srgbClr val="963139"/>
                </a:solidFill>
                <a:latin typeface="Microsoft Sans Serif"/>
                <a:cs typeface="Microsoft Sans Serif"/>
              </a:rPr>
              <a:t>once,</a:t>
            </a:r>
            <a:r>
              <a:rPr sz="2400" spc="15" dirty="0">
                <a:solidFill>
                  <a:srgbClr val="963139"/>
                </a:solidFill>
                <a:latin typeface="Microsoft Sans Serif"/>
                <a:cs typeface="Microsoft Sans Serif"/>
              </a:rPr>
              <a:t> </a:t>
            </a:r>
            <a:r>
              <a:rPr sz="2400" spc="-105" dirty="0">
                <a:solidFill>
                  <a:srgbClr val="963139"/>
                </a:solidFill>
                <a:latin typeface="Microsoft Sans Serif"/>
                <a:cs typeface="Microsoft Sans Serif"/>
              </a:rPr>
              <a:t>and</a:t>
            </a:r>
            <a:r>
              <a:rPr sz="2400" spc="3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5" dirty="0">
                <a:solidFill>
                  <a:srgbClr val="963139"/>
                </a:solidFill>
                <a:latin typeface="Microsoft Sans Serif"/>
                <a:cs typeface="Microsoft Sans Serif"/>
              </a:rPr>
              <a:t> </a:t>
            </a:r>
            <a:r>
              <a:rPr sz="2400" spc="-195" dirty="0">
                <a:solidFill>
                  <a:srgbClr val="963139"/>
                </a:solidFill>
                <a:latin typeface="Microsoft Sans Serif"/>
                <a:cs typeface="Microsoft Sans Serif"/>
              </a:rPr>
              <a:t>can</a:t>
            </a:r>
            <a:r>
              <a:rPr sz="2400" spc="30" dirty="0">
                <a:solidFill>
                  <a:srgbClr val="963139"/>
                </a:solidFill>
                <a:latin typeface="Microsoft Sans Serif"/>
                <a:cs typeface="Microsoft Sans Serif"/>
              </a:rPr>
              <a:t> </a:t>
            </a:r>
            <a:r>
              <a:rPr sz="2400" spc="-110" dirty="0">
                <a:solidFill>
                  <a:srgbClr val="963139"/>
                </a:solidFill>
                <a:latin typeface="Microsoft Sans Serif"/>
                <a:cs typeface="Microsoft Sans Serif"/>
              </a:rPr>
              <a:t>only</a:t>
            </a:r>
            <a:r>
              <a:rPr sz="2400" spc="20"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20" dirty="0">
                <a:solidFill>
                  <a:srgbClr val="963139"/>
                </a:solidFill>
                <a:latin typeface="Microsoft Sans Serif"/>
                <a:cs typeface="Microsoft Sans Serif"/>
              </a:rPr>
              <a:t> </a:t>
            </a:r>
            <a:r>
              <a:rPr sz="2400" spc="-185" dirty="0">
                <a:solidFill>
                  <a:srgbClr val="963139"/>
                </a:solidFill>
                <a:latin typeface="Microsoft Sans Serif"/>
                <a:cs typeface="Microsoft Sans Serif"/>
              </a:rPr>
              <a:t>one </a:t>
            </a:r>
            <a:r>
              <a:rPr sz="2400" spc="-625" dirty="0">
                <a:solidFill>
                  <a:srgbClr val="963139"/>
                </a:solidFill>
                <a:latin typeface="Microsoft Sans Serif"/>
                <a:cs typeface="Microsoft Sans Serif"/>
              </a:rPr>
              <a:t> </a:t>
            </a:r>
            <a:r>
              <a:rPr sz="2400" spc="-130" dirty="0">
                <a:solidFill>
                  <a:srgbClr val="963139"/>
                </a:solidFill>
                <a:latin typeface="Microsoft Sans Serif"/>
                <a:cs typeface="Microsoft Sans Serif"/>
              </a:rPr>
              <a:t>value</a:t>
            </a:r>
            <a:endParaRPr sz="2400">
              <a:latin typeface="Microsoft Sans Serif"/>
              <a:cs typeface="Microsoft Sans Serif"/>
            </a:endParaRPr>
          </a:p>
          <a:p>
            <a:pPr marL="378460">
              <a:lnSpc>
                <a:spcPct val="100000"/>
              </a:lnSpc>
              <a:spcBef>
                <a:spcPts val="610"/>
              </a:spcBef>
            </a:pPr>
            <a:r>
              <a:rPr sz="1500" spc="-40" dirty="0">
                <a:solidFill>
                  <a:srgbClr val="676767"/>
                </a:solidFill>
                <a:latin typeface="Microsoft Sans Serif"/>
                <a:cs typeface="Microsoft Sans Serif"/>
              </a:rPr>
              <a:t>🞑</a:t>
            </a:r>
            <a:r>
              <a:rPr sz="1500" spc="40" dirty="0">
                <a:solidFill>
                  <a:srgbClr val="676767"/>
                </a:solidFill>
                <a:latin typeface="Microsoft Sans Serif"/>
                <a:cs typeface="Microsoft Sans Serif"/>
              </a:rPr>
              <a:t> </a:t>
            </a:r>
            <a:r>
              <a:rPr sz="2200" spc="-10" dirty="0">
                <a:solidFill>
                  <a:srgbClr val="963139"/>
                </a:solidFill>
                <a:latin typeface="Microsoft Sans Serif"/>
                <a:cs typeface="Microsoft Sans Serif"/>
              </a:rPr>
              <a:t>If</a:t>
            </a:r>
            <a:r>
              <a:rPr sz="2200" spc="105" dirty="0">
                <a:solidFill>
                  <a:srgbClr val="963139"/>
                </a:solidFill>
                <a:latin typeface="Microsoft Sans Serif"/>
                <a:cs typeface="Microsoft Sans Serif"/>
              </a:rPr>
              <a:t> </a:t>
            </a:r>
            <a:r>
              <a:rPr sz="2200" spc="-25" dirty="0">
                <a:solidFill>
                  <a:srgbClr val="963139"/>
                </a:solidFill>
                <a:latin typeface="Microsoft Sans Serif"/>
                <a:cs typeface="Microsoft Sans Serif"/>
              </a:rPr>
              <a:t>it</a:t>
            </a:r>
            <a:r>
              <a:rPr sz="2200" spc="30" dirty="0">
                <a:solidFill>
                  <a:srgbClr val="963139"/>
                </a:solidFill>
                <a:latin typeface="Microsoft Sans Serif"/>
                <a:cs typeface="Microsoft Sans Serif"/>
              </a:rPr>
              <a:t> </a:t>
            </a:r>
            <a:r>
              <a:rPr sz="2200" spc="-160" dirty="0">
                <a:solidFill>
                  <a:srgbClr val="963139"/>
                </a:solidFill>
                <a:latin typeface="Microsoft Sans Serif"/>
                <a:cs typeface="Microsoft Sans Serif"/>
              </a:rPr>
              <a:t>does</a:t>
            </a:r>
            <a:r>
              <a:rPr sz="2200" spc="25" dirty="0">
                <a:solidFill>
                  <a:srgbClr val="963139"/>
                </a:solidFill>
                <a:latin typeface="Microsoft Sans Serif"/>
                <a:cs typeface="Microsoft Sans Serif"/>
              </a:rPr>
              <a:t> </a:t>
            </a:r>
            <a:r>
              <a:rPr sz="2200" spc="-135" dirty="0">
                <a:solidFill>
                  <a:srgbClr val="963139"/>
                </a:solidFill>
                <a:latin typeface="Microsoft Sans Serif"/>
                <a:cs typeface="Microsoft Sans Serif"/>
              </a:rPr>
              <a:t>not</a:t>
            </a:r>
            <a:r>
              <a:rPr sz="2200" spc="30" dirty="0">
                <a:solidFill>
                  <a:srgbClr val="963139"/>
                </a:solidFill>
                <a:latin typeface="Microsoft Sans Serif"/>
                <a:cs typeface="Microsoft Sans Serif"/>
              </a:rPr>
              <a:t> </a:t>
            </a:r>
            <a:r>
              <a:rPr sz="2200" spc="-105" dirty="0">
                <a:solidFill>
                  <a:srgbClr val="963139"/>
                </a:solidFill>
                <a:latin typeface="Microsoft Sans Serif"/>
                <a:cs typeface="Microsoft Sans Serif"/>
              </a:rPr>
              <a:t>return</a:t>
            </a:r>
            <a:r>
              <a:rPr sz="2200" spc="35" dirty="0">
                <a:solidFill>
                  <a:srgbClr val="963139"/>
                </a:solidFill>
                <a:latin typeface="Microsoft Sans Serif"/>
                <a:cs typeface="Microsoft Sans Serif"/>
              </a:rPr>
              <a:t> </a:t>
            </a:r>
            <a:r>
              <a:rPr sz="2200" spc="-125" dirty="0">
                <a:solidFill>
                  <a:srgbClr val="963139"/>
                </a:solidFill>
                <a:latin typeface="Microsoft Sans Serif"/>
                <a:cs typeface="Microsoft Sans Serif"/>
              </a:rPr>
              <a:t>anything,</a:t>
            </a:r>
            <a:r>
              <a:rPr sz="2200" spc="35" dirty="0">
                <a:solidFill>
                  <a:srgbClr val="963139"/>
                </a:solidFill>
                <a:latin typeface="Microsoft Sans Serif"/>
                <a:cs typeface="Microsoft Sans Serif"/>
              </a:rPr>
              <a:t> </a:t>
            </a:r>
            <a:r>
              <a:rPr sz="2200" spc="-200" dirty="0">
                <a:solidFill>
                  <a:srgbClr val="963139"/>
                </a:solidFill>
                <a:latin typeface="Microsoft Sans Serif"/>
                <a:cs typeface="Microsoft Sans Serif"/>
              </a:rPr>
              <a:t>assignments</a:t>
            </a:r>
            <a:r>
              <a:rPr sz="2200" spc="55" dirty="0">
                <a:solidFill>
                  <a:srgbClr val="963139"/>
                </a:solidFill>
                <a:latin typeface="Microsoft Sans Serif"/>
                <a:cs typeface="Microsoft Sans Serif"/>
              </a:rPr>
              <a:t> </a:t>
            </a:r>
            <a:r>
              <a:rPr sz="2200" spc="-50" dirty="0">
                <a:solidFill>
                  <a:srgbClr val="963139"/>
                </a:solidFill>
                <a:latin typeface="Microsoft Sans Serif"/>
                <a:cs typeface="Microsoft Sans Serif"/>
              </a:rPr>
              <a:t>will</a:t>
            </a:r>
            <a:r>
              <a:rPr sz="2200" spc="50" dirty="0">
                <a:solidFill>
                  <a:srgbClr val="963139"/>
                </a:solidFill>
                <a:latin typeface="Microsoft Sans Serif"/>
                <a:cs typeface="Microsoft Sans Serif"/>
              </a:rPr>
              <a:t> </a:t>
            </a:r>
            <a:r>
              <a:rPr sz="2200" spc="-135" dirty="0">
                <a:solidFill>
                  <a:srgbClr val="963139"/>
                </a:solidFill>
                <a:latin typeface="Microsoft Sans Serif"/>
                <a:cs typeface="Microsoft Sans Serif"/>
              </a:rPr>
              <a:t>result</a:t>
            </a:r>
            <a:r>
              <a:rPr sz="2200" spc="50" dirty="0">
                <a:solidFill>
                  <a:srgbClr val="963139"/>
                </a:solidFill>
                <a:latin typeface="Microsoft Sans Serif"/>
                <a:cs typeface="Microsoft Sans Serif"/>
              </a:rPr>
              <a:t> </a:t>
            </a:r>
            <a:r>
              <a:rPr sz="2200" spc="-145" dirty="0">
                <a:solidFill>
                  <a:srgbClr val="963139"/>
                </a:solidFill>
                <a:latin typeface="Microsoft Sans Serif"/>
                <a:cs typeface="Microsoft Sans Serif"/>
              </a:rPr>
              <a:t>in</a:t>
            </a:r>
            <a:r>
              <a:rPr sz="2200" spc="35" dirty="0">
                <a:solidFill>
                  <a:srgbClr val="963139"/>
                </a:solidFill>
                <a:latin typeface="Microsoft Sans Serif"/>
                <a:cs typeface="Microsoft Sans Serif"/>
              </a:rPr>
              <a:t> </a:t>
            </a:r>
            <a:r>
              <a:rPr sz="2200" spc="-290" dirty="0">
                <a:solidFill>
                  <a:srgbClr val="963139"/>
                </a:solidFill>
                <a:latin typeface="Microsoft Sans Serif"/>
                <a:cs typeface="Microsoft Sans Serif"/>
              </a:rPr>
              <a:t>NULL</a:t>
            </a:r>
            <a:endParaRPr sz="2200">
              <a:latin typeface="Microsoft Sans Serif"/>
              <a:cs typeface="Microsoft Sans Serif"/>
            </a:endParaRPr>
          </a:p>
          <a:p>
            <a:pPr marL="332740" marR="5080" indent="-320040">
              <a:lnSpc>
                <a:spcPct val="100000"/>
              </a:lnSpc>
              <a:spcBef>
                <a:spcPts val="690"/>
              </a:spcBef>
              <a:buSzPct val="60416"/>
              <a:buFont typeface="Wingdings"/>
              <a:buChar char=""/>
              <a:tabLst>
                <a:tab pos="332105" algn="l"/>
                <a:tab pos="332740" algn="l"/>
              </a:tabLst>
            </a:pPr>
            <a:r>
              <a:rPr sz="2400" spc="-155" dirty="0">
                <a:solidFill>
                  <a:srgbClr val="963139"/>
                </a:solidFill>
                <a:latin typeface="Microsoft Sans Serif"/>
                <a:cs typeface="Microsoft Sans Serif"/>
              </a:rPr>
              <a:t>A</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210" dirty="0">
                <a:solidFill>
                  <a:srgbClr val="963139"/>
                </a:solidFill>
                <a:latin typeface="Microsoft Sans Serif"/>
                <a:cs typeface="Microsoft Sans Serif"/>
              </a:rPr>
              <a:t>ends</a:t>
            </a:r>
            <a:r>
              <a:rPr sz="2400" spc="25" dirty="0">
                <a:solidFill>
                  <a:srgbClr val="963139"/>
                </a:solidFill>
                <a:latin typeface="Microsoft Sans Serif"/>
                <a:cs typeface="Microsoft Sans Serif"/>
              </a:rPr>
              <a:t> </a:t>
            </a:r>
            <a:r>
              <a:rPr sz="2400" spc="-10" dirty="0">
                <a:solidFill>
                  <a:srgbClr val="963139"/>
                </a:solidFill>
                <a:latin typeface="Microsoft Sans Serif"/>
                <a:cs typeface="Microsoft Sans Serif"/>
              </a:rPr>
              <a:t>after</a:t>
            </a:r>
            <a:r>
              <a:rPr sz="2400" spc="30" dirty="0">
                <a:solidFill>
                  <a:srgbClr val="963139"/>
                </a:solidFill>
                <a:latin typeface="Microsoft Sans Serif"/>
                <a:cs typeface="Microsoft Sans Serif"/>
              </a:rPr>
              <a:t> </a:t>
            </a:r>
            <a:r>
              <a:rPr sz="2400" spc="-25" dirty="0">
                <a:solidFill>
                  <a:srgbClr val="963139"/>
                </a:solidFill>
                <a:latin typeface="Microsoft Sans Serif"/>
                <a:cs typeface="Microsoft Sans Serif"/>
              </a:rPr>
              <a:t>it</a:t>
            </a:r>
            <a:r>
              <a:rPr sz="2400" spc="25" dirty="0">
                <a:solidFill>
                  <a:srgbClr val="963139"/>
                </a:solidFill>
                <a:latin typeface="Microsoft Sans Serif"/>
                <a:cs typeface="Microsoft Sans Serif"/>
              </a:rPr>
              <a:t> </a:t>
            </a:r>
            <a:r>
              <a:rPr sz="2400" spc="-160" dirty="0">
                <a:solidFill>
                  <a:srgbClr val="963139"/>
                </a:solidFill>
                <a:latin typeface="Microsoft Sans Serif"/>
                <a:cs typeface="Microsoft Sans Serif"/>
              </a:rPr>
              <a:t>returns,</a:t>
            </a:r>
            <a:r>
              <a:rPr sz="2400" spc="15" dirty="0">
                <a:solidFill>
                  <a:srgbClr val="963139"/>
                </a:solidFill>
                <a:latin typeface="Microsoft Sans Serif"/>
                <a:cs typeface="Microsoft Sans Serif"/>
              </a:rPr>
              <a:t> </a:t>
            </a:r>
            <a:r>
              <a:rPr sz="2400" spc="-190" dirty="0">
                <a:solidFill>
                  <a:srgbClr val="963139"/>
                </a:solidFill>
                <a:latin typeface="Microsoft Sans Serif"/>
                <a:cs typeface="Microsoft Sans Serif"/>
              </a:rPr>
              <a:t>even</a:t>
            </a:r>
            <a:r>
              <a:rPr sz="2400" spc="20" dirty="0">
                <a:solidFill>
                  <a:srgbClr val="963139"/>
                </a:solidFill>
                <a:latin typeface="Microsoft Sans Serif"/>
                <a:cs typeface="Microsoft Sans Serif"/>
              </a:rPr>
              <a:t> </a:t>
            </a:r>
            <a:r>
              <a:rPr sz="2400" spc="50" dirty="0">
                <a:solidFill>
                  <a:srgbClr val="963139"/>
                </a:solidFill>
                <a:latin typeface="Microsoft Sans Serif"/>
                <a:cs typeface="Microsoft Sans Serif"/>
              </a:rPr>
              <a:t>if</a:t>
            </a:r>
            <a:r>
              <a:rPr sz="2400" spc="90" dirty="0">
                <a:solidFill>
                  <a:srgbClr val="963139"/>
                </a:solidFill>
                <a:latin typeface="Microsoft Sans Serif"/>
                <a:cs typeface="Microsoft Sans Serif"/>
              </a:rPr>
              <a:t> </a:t>
            </a:r>
            <a:r>
              <a:rPr sz="2400" spc="-114" dirty="0">
                <a:solidFill>
                  <a:srgbClr val="963139"/>
                </a:solidFill>
                <a:latin typeface="Microsoft Sans Serif"/>
                <a:cs typeface="Microsoft Sans Serif"/>
              </a:rPr>
              <a:t>there</a:t>
            </a:r>
            <a:r>
              <a:rPr sz="2400" spc="25"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code</a:t>
            </a:r>
            <a:r>
              <a:rPr sz="2400" spc="30" dirty="0">
                <a:solidFill>
                  <a:srgbClr val="963139"/>
                </a:solidFill>
                <a:latin typeface="Microsoft Sans Serif"/>
                <a:cs typeface="Microsoft Sans Serif"/>
              </a:rPr>
              <a:t> </a:t>
            </a:r>
            <a:r>
              <a:rPr sz="2400" spc="-85" dirty="0">
                <a:solidFill>
                  <a:srgbClr val="963139"/>
                </a:solidFill>
                <a:latin typeface="Microsoft Sans Serif"/>
                <a:cs typeface="Microsoft Sans Serif"/>
              </a:rPr>
              <a:t>following </a:t>
            </a:r>
            <a:r>
              <a:rPr sz="2400" spc="-6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15" dirty="0">
                <a:solidFill>
                  <a:srgbClr val="963139"/>
                </a:solidFill>
                <a:latin typeface="Microsoft Sans Serif"/>
                <a:cs typeface="Microsoft Sans Serif"/>
              </a:rPr>
              <a:t> </a:t>
            </a:r>
            <a:r>
              <a:rPr sz="2400" spc="-114" dirty="0">
                <a:solidFill>
                  <a:srgbClr val="963139"/>
                </a:solidFill>
                <a:latin typeface="Microsoft Sans Serif"/>
                <a:cs typeface="Microsoft Sans Serif"/>
              </a:rPr>
              <a:t>return</a:t>
            </a:r>
            <a:r>
              <a:rPr sz="2400" spc="15" dirty="0">
                <a:solidFill>
                  <a:srgbClr val="963139"/>
                </a:solidFill>
                <a:latin typeface="Microsoft Sans Serif"/>
                <a:cs typeface="Microsoft Sans Serif"/>
              </a:rPr>
              <a:t> </a:t>
            </a:r>
            <a:r>
              <a:rPr sz="2400" spc="-160" dirty="0">
                <a:solidFill>
                  <a:srgbClr val="963139"/>
                </a:solidFill>
                <a:latin typeface="Microsoft Sans Serif"/>
                <a:cs typeface="Microsoft Sans Serif"/>
              </a:rPr>
              <a:t>statement</a:t>
            </a:r>
            <a:endParaRPr sz="2400">
              <a:latin typeface="Microsoft Sans Serif"/>
              <a:cs typeface="Microsoft Sans Serif"/>
            </a:endParaRPr>
          </a:p>
          <a:p>
            <a:pPr marL="85725">
              <a:lnSpc>
                <a:spcPct val="100000"/>
              </a:lnSpc>
              <a:spcBef>
                <a:spcPts val="60"/>
              </a:spcBef>
            </a:pPr>
            <a:r>
              <a:rPr sz="1800" spc="-10" dirty="0">
                <a:solidFill>
                  <a:srgbClr val="963139"/>
                </a:solidFill>
                <a:latin typeface="Courier New"/>
                <a:cs typeface="Courier New"/>
              </a:rPr>
              <a:t>function</a:t>
            </a:r>
            <a:r>
              <a:rPr sz="1800" spc="-30" dirty="0">
                <a:solidFill>
                  <a:srgbClr val="963139"/>
                </a:solidFill>
                <a:latin typeface="Courier New"/>
                <a:cs typeface="Courier New"/>
              </a:rPr>
              <a:t> </a:t>
            </a:r>
            <a:r>
              <a:rPr sz="1800" spc="-10" dirty="0">
                <a:solidFill>
                  <a:srgbClr val="963139"/>
                </a:solidFill>
                <a:latin typeface="Courier New"/>
                <a:cs typeface="Courier New"/>
              </a:rPr>
              <a:t>do_stuff($x)</a:t>
            </a:r>
            <a:r>
              <a:rPr sz="1800" spc="-50"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p:txBody>
      </p:sp>
      <p:sp>
        <p:nvSpPr>
          <p:cNvPr id="4" name="object 4"/>
          <p:cNvSpPr txBox="1"/>
          <p:nvPr/>
        </p:nvSpPr>
        <p:spPr>
          <a:xfrm>
            <a:off x="4422775" y="3862196"/>
            <a:ext cx="4257040" cy="57404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if</a:t>
            </a:r>
            <a:r>
              <a:rPr sz="1800" spc="-45" dirty="0">
                <a:solidFill>
                  <a:srgbClr val="963139"/>
                </a:solidFill>
                <a:latin typeface="Courier New"/>
                <a:cs typeface="Courier New"/>
              </a:rPr>
              <a:t> </a:t>
            </a:r>
            <a:r>
              <a:rPr sz="1800" spc="-10" dirty="0">
                <a:solidFill>
                  <a:srgbClr val="963139"/>
                </a:solidFill>
                <a:latin typeface="Courier New"/>
                <a:cs typeface="Courier New"/>
              </a:rPr>
              <a:t>even</a:t>
            </a:r>
            <a:endParaRPr sz="1800">
              <a:latin typeface="Courier New"/>
              <a:cs typeface="Courier New"/>
            </a:endParaRPr>
          </a:p>
          <a:p>
            <a:pPr marL="12700">
              <a:lnSpc>
                <a:spcPct val="100000"/>
              </a:lnSpc>
            </a:pPr>
            <a:r>
              <a:rPr sz="1800" spc="-5" dirty="0">
                <a:solidFill>
                  <a:srgbClr val="963139"/>
                </a:solidFill>
                <a:latin typeface="Courier New"/>
                <a:cs typeface="Courier New"/>
              </a:rPr>
              <a:t>//</a:t>
            </a:r>
            <a:r>
              <a:rPr sz="1800" spc="-25" dirty="0">
                <a:solidFill>
                  <a:srgbClr val="963139"/>
                </a:solidFill>
                <a:latin typeface="Courier New"/>
                <a:cs typeface="Courier New"/>
              </a:rPr>
              <a:t> </a:t>
            </a:r>
            <a:r>
              <a:rPr sz="1800" spc="-10" dirty="0">
                <a:solidFill>
                  <a:srgbClr val="963139"/>
                </a:solidFill>
                <a:latin typeface="Courier New"/>
                <a:cs typeface="Courier New"/>
              </a:rPr>
              <a:t>exits</a:t>
            </a:r>
            <a:r>
              <a:rPr sz="1800" spc="-25" dirty="0">
                <a:solidFill>
                  <a:srgbClr val="963139"/>
                </a:solidFill>
                <a:latin typeface="Courier New"/>
                <a:cs typeface="Courier New"/>
              </a:rPr>
              <a:t> </a:t>
            </a:r>
            <a:r>
              <a:rPr sz="1800" spc="-10" dirty="0">
                <a:solidFill>
                  <a:srgbClr val="963139"/>
                </a:solidFill>
                <a:latin typeface="Courier New"/>
                <a:cs typeface="Courier New"/>
              </a:rPr>
              <a:t>function at</a:t>
            </a:r>
            <a:r>
              <a:rPr sz="1800" spc="-25" dirty="0">
                <a:solidFill>
                  <a:srgbClr val="963139"/>
                </a:solidFill>
                <a:latin typeface="Courier New"/>
                <a:cs typeface="Courier New"/>
              </a:rPr>
              <a:t> </a:t>
            </a:r>
            <a:r>
              <a:rPr sz="1800" spc="-10" dirty="0">
                <a:solidFill>
                  <a:srgbClr val="963139"/>
                </a:solidFill>
                <a:latin typeface="Courier New"/>
                <a:cs typeface="Courier New"/>
              </a:rPr>
              <a:t>this</a:t>
            </a:r>
            <a:r>
              <a:rPr sz="1800" spc="-20" dirty="0">
                <a:solidFill>
                  <a:srgbClr val="963139"/>
                </a:solidFill>
                <a:latin typeface="Courier New"/>
                <a:cs typeface="Courier New"/>
              </a:rPr>
              <a:t> </a:t>
            </a:r>
            <a:r>
              <a:rPr sz="1800" spc="-10" dirty="0">
                <a:solidFill>
                  <a:srgbClr val="963139"/>
                </a:solidFill>
                <a:latin typeface="Courier New"/>
                <a:cs typeface="Courier New"/>
              </a:rPr>
              <a:t>point</a:t>
            </a:r>
            <a:endParaRPr sz="1800">
              <a:latin typeface="Courier New"/>
              <a:cs typeface="Courier New"/>
            </a:endParaRPr>
          </a:p>
        </p:txBody>
      </p:sp>
      <p:sp>
        <p:nvSpPr>
          <p:cNvPr id="5" name="object 5"/>
          <p:cNvSpPr txBox="1"/>
          <p:nvPr/>
        </p:nvSpPr>
        <p:spPr>
          <a:xfrm>
            <a:off x="1679194" y="3862196"/>
            <a:ext cx="2483485" cy="848360"/>
          </a:xfrm>
          <a:prstGeom prst="rect">
            <a:avLst/>
          </a:prstGeom>
        </p:spPr>
        <p:txBody>
          <a:bodyPr vert="horz" wrap="square" lIns="0" tIns="12700" rIns="0" bIns="0" rtlCol="0">
            <a:spAutoFit/>
          </a:bodyPr>
          <a:lstStyle/>
          <a:p>
            <a:pPr marR="5080" algn="r">
              <a:lnSpc>
                <a:spcPct val="100000"/>
              </a:lnSpc>
              <a:spcBef>
                <a:spcPts val="100"/>
              </a:spcBef>
            </a:pPr>
            <a:r>
              <a:rPr sz="1800" spc="-5" dirty="0">
                <a:solidFill>
                  <a:srgbClr val="963139"/>
                </a:solidFill>
                <a:latin typeface="Courier New"/>
                <a:cs typeface="Courier New"/>
              </a:rPr>
              <a:t>if</a:t>
            </a:r>
            <a:r>
              <a:rPr sz="1800" spc="-30" dirty="0">
                <a:solidFill>
                  <a:srgbClr val="963139"/>
                </a:solidFill>
                <a:latin typeface="Courier New"/>
                <a:cs typeface="Courier New"/>
              </a:rPr>
              <a:t> </a:t>
            </a:r>
            <a:r>
              <a:rPr sz="1800" spc="-10" dirty="0">
                <a:solidFill>
                  <a:srgbClr val="963139"/>
                </a:solidFill>
                <a:latin typeface="Courier New"/>
                <a:cs typeface="Courier New"/>
              </a:rPr>
              <a:t>($x</a:t>
            </a:r>
            <a:r>
              <a:rPr sz="1800" spc="-15" dirty="0">
                <a:solidFill>
                  <a:srgbClr val="963139"/>
                </a:solidFill>
                <a:latin typeface="Courier New"/>
                <a:cs typeface="Courier New"/>
              </a:rPr>
              <a:t> </a:t>
            </a:r>
            <a:r>
              <a:rPr sz="1800" dirty="0">
                <a:solidFill>
                  <a:srgbClr val="963139"/>
                </a:solidFill>
                <a:latin typeface="Courier New"/>
                <a:cs typeface="Courier New"/>
              </a:rPr>
              <a:t>%</a:t>
            </a:r>
            <a:r>
              <a:rPr sz="1800" spc="-30" dirty="0">
                <a:solidFill>
                  <a:srgbClr val="963139"/>
                </a:solidFill>
                <a:latin typeface="Courier New"/>
                <a:cs typeface="Courier New"/>
              </a:rPr>
              <a:t> </a:t>
            </a:r>
            <a:r>
              <a:rPr sz="1800" dirty="0">
                <a:solidFill>
                  <a:srgbClr val="963139"/>
                </a:solidFill>
                <a:latin typeface="Courier New"/>
                <a:cs typeface="Courier New"/>
              </a:rPr>
              <a:t>2</a:t>
            </a:r>
            <a:r>
              <a:rPr sz="1800" spc="-40" dirty="0">
                <a:solidFill>
                  <a:srgbClr val="963139"/>
                </a:solidFill>
                <a:latin typeface="Courier New"/>
                <a:cs typeface="Courier New"/>
              </a:rPr>
              <a:t> </a:t>
            </a:r>
            <a:r>
              <a:rPr sz="1800" spc="-5" dirty="0">
                <a:solidFill>
                  <a:srgbClr val="963139"/>
                </a:solidFill>
                <a:latin typeface="Courier New"/>
                <a:cs typeface="Courier New"/>
              </a:rPr>
              <a:t>==</a:t>
            </a:r>
            <a:r>
              <a:rPr sz="1800" spc="-30" dirty="0">
                <a:solidFill>
                  <a:srgbClr val="963139"/>
                </a:solidFill>
                <a:latin typeface="Courier New"/>
                <a:cs typeface="Courier New"/>
              </a:rPr>
              <a:t> </a:t>
            </a:r>
            <a:r>
              <a:rPr sz="1800" spc="-5" dirty="0">
                <a:solidFill>
                  <a:srgbClr val="963139"/>
                </a:solidFill>
                <a:latin typeface="Courier New"/>
                <a:cs typeface="Courier New"/>
              </a:rPr>
              <a:t>0)</a:t>
            </a:r>
            <a:r>
              <a:rPr sz="1800" spc="-2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R="45720" algn="r">
              <a:lnSpc>
                <a:spcPct val="100000"/>
              </a:lnSpc>
            </a:pPr>
            <a:r>
              <a:rPr sz="1800" spc="-10" dirty="0">
                <a:solidFill>
                  <a:srgbClr val="963139"/>
                </a:solidFill>
                <a:latin typeface="Courier New"/>
                <a:cs typeface="Courier New"/>
              </a:rPr>
              <a:t>return</a:t>
            </a:r>
            <a:r>
              <a:rPr sz="1800" spc="-60" dirty="0">
                <a:solidFill>
                  <a:srgbClr val="963139"/>
                </a:solidFill>
                <a:latin typeface="Courier New"/>
                <a:cs typeface="Courier New"/>
              </a:rPr>
              <a:t> </a:t>
            </a:r>
            <a:r>
              <a:rPr sz="1800" spc="-10" dirty="0">
                <a:solidFill>
                  <a:srgbClr val="963139"/>
                </a:solidFill>
                <a:latin typeface="Courier New"/>
                <a:cs typeface="Courier New"/>
              </a:rPr>
              <a:t>$x/2</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sp>
        <p:nvSpPr>
          <p:cNvPr id="6" name="object 6"/>
          <p:cNvSpPr txBox="1"/>
          <p:nvPr/>
        </p:nvSpPr>
        <p:spPr>
          <a:xfrm>
            <a:off x="764540" y="4685157"/>
            <a:ext cx="5854065" cy="1946275"/>
          </a:xfrm>
          <a:prstGeom prst="rect">
            <a:avLst/>
          </a:prstGeom>
        </p:spPr>
        <p:txBody>
          <a:bodyPr vert="horz" wrap="square" lIns="0" tIns="12700" rIns="0" bIns="0" rtlCol="0">
            <a:spAutoFit/>
          </a:bodyPr>
          <a:lstStyle/>
          <a:p>
            <a:pPr marL="927100">
              <a:lnSpc>
                <a:spcPct val="100000"/>
              </a:lnSpc>
              <a:spcBef>
                <a:spcPts val="100"/>
              </a:spcBef>
            </a:pPr>
            <a:r>
              <a:rPr sz="1800" spc="-5" dirty="0">
                <a:solidFill>
                  <a:srgbClr val="963139"/>
                </a:solidFill>
                <a:latin typeface="Courier New"/>
                <a:cs typeface="Courier New"/>
              </a:rPr>
              <a:t>//</a:t>
            </a:r>
            <a:r>
              <a:rPr sz="1800" spc="-20" dirty="0">
                <a:solidFill>
                  <a:srgbClr val="963139"/>
                </a:solidFill>
                <a:latin typeface="Courier New"/>
                <a:cs typeface="Courier New"/>
              </a:rPr>
              <a:t> </a:t>
            </a:r>
            <a:r>
              <a:rPr sz="1800" spc="-10" dirty="0">
                <a:solidFill>
                  <a:srgbClr val="963139"/>
                </a:solidFill>
                <a:latin typeface="Courier New"/>
                <a:cs typeface="Courier New"/>
              </a:rPr>
              <a:t>this</a:t>
            </a:r>
            <a:r>
              <a:rPr sz="1800" spc="-20" dirty="0">
                <a:solidFill>
                  <a:srgbClr val="963139"/>
                </a:solidFill>
                <a:latin typeface="Courier New"/>
                <a:cs typeface="Courier New"/>
              </a:rPr>
              <a:t> </a:t>
            </a:r>
            <a:r>
              <a:rPr sz="1800" spc="-5" dirty="0">
                <a:solidFill>
                  <a:srgbClr val="963139"/>
                </a:solidFill>
                <a:latin typeface="Courier New"/>
                <a:cs typeface="Courier New"/>
              </a:rPr>
              <a:t>is</a:t>
            </a:r>
            <a:r>
              <a:rPr sz="1800" spc="-35" dirty="0">
                <a:solidFill>
                  <a:srgbClr val="963139"/>
                </a:solidFill>
                <a:latin typeface="Courier New"/>
                <a:cs typeface="Courier New"/>
              </a:rPr>
              <a:t> </a:t>
            </a:r>
            <a:r>
              <a:rPr sz="1800" spc="-10" dirty="0">
                <a:solidFill>
                  <a:srgbClr val="963139"/>
                </a:solidFill>
                <a:latin typeface="Courier New"/>
                <a:cs typeface="Courier New"/>
              </a:rPr>
              <a:t>ONLY</a:t>
            </a:r>
            <a:r>
              <a:rPr sz="1800" spc="-20" dirty="0">
                <a:solidFill>
                  <a:srgbClr val="963139"/>
                </a:solidFill>
                <a:latin typeface="Courier New"/>
                <a:cs typeface="Courier New"/>
              </a:rPr>
              <a:t> </a:t>
            </a:r>
            <a:r>
              <a:rPr sz="1800" spc="-10" dirty="0">
                <a:solidFill>
                  <a:srgbClr val="963139"/>
                </a:solidFill>
                <a:latin typeface="Courier New"/>
                <a:cs typeface="Courier New"/>
              </a:rPr>
              <a:t>executed</a:t>
            </a:r>
            <a:r>
              <a:rPr sz="1800" spc="-20" dirty="0">
                <a:solidFill>
                  <a:srgbClr val="963139"/>
                </a:solidFill>
                <a:latin typeface="Courier New"/>
                <a:cs typeface="Courier New"/>
              </a:rPr>
              <a:t> </a:t>
            </a:r>
            <a:r>
              <a:rPr sz="1800" spc="-5" dirty="0">
                <a:solidFill>
                  <a:srgbClr val="963139"/>
                </a:solidFill>
                <a:latin typeface="Courier New"/>
                <a:cs typeface="Courier New"/>
              </a:rPr>
              <a:t>if</a:t>
            </a:r>
            <a:r>
              <a:rPr sz="1800" spc="-20" dirty="0">
                <a:solidFill>
                  <a:srgbClr val="963139"/>
                </a:solidFill>
                <a:latin typeface="Courier New"/>
                <a:cs typeface="Courier New"/>
              </a:rPr>
              <a:t> </a:t>
            </a:r>
            <a:r>
              <a:rPr sz="1800" dirty="0">
                <a:solidFill>
                  <a:srgbClr val="963139"/>
                </a:solidFill>
                <a:latin typeface="Courier New"/>
                <a:cs typeface="Courier New"/>
              </a:rPr>
              <a:t>x</a:t>
            </a:r>
            <a:r>
              <a:rPr sz="1800" spc="-15" dirty="0">
                <a:solidFill>
                  <a:srgbClr val="963139"/>
                </a:solidFill>
                <a:latin typeface="Courier New"/>
                <a:cs typeface="Courier New"/>
              </a:rPr>
              <a:t> </a:t>
            </a:r>
            <a:r>
              <a:rPr sz="1800" spc="-5" dirty="0">
                <a:solidFill>
                  <a:srgbClr val="963139"/>
                </a:solidFill>
                <a:latin typeface="Courier New"/>
                <a:cs typeface="Courier New"/>
              </a:rPr>
              <a:t>is</a:t>
            </a:r>
            <a:r>
              <a:rPr sz="1800" spc="-35" dirty="0">
                <a:solidFill>
                  <a:srgbClr val="963139"/>
                </a:solidFill>
                <a:latin typeface="Courier New"/>
                <a:cs typeface="Courier New"/>
              </a:rPr>
              <a:t> </a:t>
            </a:r>
            <a:r>
              <a:rPr sz="1800" spc="-5" dirty="0">
                <a:solidFill>
                  <a:srgbClr val="963139"/>
                </a:solidFill>
                <a:latin typeface="Courier New"/>
                <a:cs typeface="Courier New"/>
              </a:rPr>
              <a:t>odd</a:t>
            </a:r>
            <a:endParaRPr sz="1800">
              <a:latin typeface="Courier New"/>
              <a:cs typeface="Courier New"/>
            </a:endParaRPr>
          </a:p>
          <a:p>
            <a:pPr marL="9271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5;</a:t>
            </a:r>
            <a:endParaRPr sz="1800">
              <a:latin typeface="Courier New"/>
              <a:cs typeface="Courier New"/>
            </a:endParaRPr>
          </a:p>
          <a:p>
            <a:pPr marL="927100">
              <a:lnSpc>
                <a:spcPct val="100000"/>
              </a:lnSpc>
            </a:pPr>
            <a:r>
              <a:rPr sz="1800" spc="-5" dirty="0">
                <a:solidFill>
                  <a:srgbClr val="963139"/>
                </a:solidFill>
                <a:latin typeface="Courier New"/>
                <a:cs typeface="Courier New"/>
              </a:rPr>
              <a:t>if</a:t>
            </a:r>
            <a:r>
              <a:rPr sz="1800" spc="-40" dirty="0">
                <a:solidFill>
                  <a:srgbClr val="963139"/>
                </a:solidFill>
                <a:latin typeface="Courier New"/>
                <a:cs typeface="Courier New"/>
              </a:rPr>
              <a:t> </a:t>
            </a:r>
            <a:r>
              <a:rPr sz="1800" spc="-10" dirty="0">
                <a:solidFill>
                  <a:srgbClr val="963139"/>
                </a:solidFill>
                <a:latin typeface="Courier New"/>
                <a:cs typeface="Courier New"/>
              </a:rPr>
              <a:t>($x</a:t>
            </a:r>
            <a:r>
              <a:rPr sz="1800" spc="-15" dirty="0">
                <a:solidFill>
                  <a:srgbClr val="963139"/>
                </a:solidFill>
                <a:latin typeface="Courier New"/>
                <a:cs typeface="Courier New"/>
              </a:rPr>
              <a:t> </a:t>
            </a:r>
            <a:r>
              <a:rPr sz="1800" dirty="0">
                <a:solidFill>
                  <a:srgbClr val="963139"/>
                </a:solidFill>
                <a:latin typeface="Courier New"/>
                <a:cs typeface="Courier New"/>
              </a:rPr>
              <a:t>&lt;</a:t>
            </a:r>
            <a:r>
              <a:rPr sz="1800" spc="-35" dirty="0">
                <a:solidFill>
                  <a:srgbClr val="963139"/>
                </a:solidFill>
                <a:latin typeface="Courier New"/>
                <a:cs typeface="Courier New"/>
              </a:rPr>
              <a:t> </a:t>
            </a:r>
            <a:r>
              <a:rPr sz="1800" spc="-10" dirty="0">
                <a:solidFill>
                  <a:srgbClr val="963139"/>
                </a:solidFill>
                <a:latin typeface="Courier New"/>
                <a:cs typeface="Courier New"/>
              </a:rPr>
              <a:t>10)</a:t>
            </a:r>
            <a:r>
              <a:rPr sz="1800" spc="-15" dirty="0">
                <a:solidFill>
                  <a:srgbClr val="963139"/>
                </a:solidFill>
                <a:latin typeface="Courier New"/>
                <a:cs typeface="Courier New"/>
              </a:rPr>
              <a:t> </a:t>
            </a:r>
            <a:r>
              <a:rPr sz="1800" dirty="0">
                <a:solidFill>
                  <a:srgbClr val="963139"/>
                </a:solidFill>
                <a:latin typeface="Courier New"/>
                <a:cs typeface="Courier New"/>
              </a:rPr>
              <a:t>{</a:t>
            </a:r>
            <a:endParaRPr sz="1800">
              <a:latin typeface="Courier New"/>
              <a:cs typeface="Courier New"/>
            </a:endParaRPr>
          </a:p>
          <a:p>
            <a:pPr marL="1841500">
              <a:lnSpc>
                <a:spcPct val="100000"/>
              </a:lnSpc>
            </a:pPr>
            <a:r>
              <a:rPr sz="1800" spc="-5" dirty="0">
                <a:solidFill>
                  <a:srgbClr val="963139"/>
                </a:solidFill>
                <a:latin typeface="Courier New"/>
                <a:cs typeface="Courier New"/>
              </a:rPr>
              <a:t>$x</a:t>
            </a:r>
            <a:r>
              <a:rPr sz="1800" spc="-55" dirty="0">
                <a:solidFill>
                  <a:srgbClr val="963139"/>
                </a:solidFill>
                <a:latin typeface="Courier New"/>
                <a:cs typeface="Courier New"/>
              </a:rPr>
              <a:t> </a:t>
            </a:r>
            <a:r>
              <a:rPr sz="1800" spc="-5" dirty="0">
                <a:solidFill>
                  <a:srgbClr val="963139"/>
                </a:solidFill>
                <a:latin typeface="Courier New"/>
                <a:cs typeface="Courier New"/>
              </a:rPr>
              <a:t>+=</a:t>
            </a:r>
            <a:r>
              <a:rPr sz="1800" spc="-50" dirty="0">
                <a:solidFill>
                  <a:srgbClr val="963139"/>
                </a:solidFill>
                <a:latin typeface="Courier New"/>
                <a:cs typeface="Courier New"/>
              </a:rPr>
              <a:t> </a:t>
            </a:r>
            <a:r>
              <a:rPr sz="1800" spc="-5" dirty="0">
                <a:solidFill>
                  <a:srgbClr val="963139"/>
                </a:solidFill>
                <a:latin typeface="Courier New"/>
                <a:cs typeface="Courier New"/>
              </a:rPr>
              <a:t>3;</a:t>
            </a:r>
            <a:endParaRPr sz="1800">
              <a:latin typeface="Courier New"/>
              <a:cs typeface="Courier New"/>
            </a:endParaRPr>
          </a:p>
          <a:p>
            <a:pPr marL="927100">
              <a:lnSpc>
                <a:spcPct val="100000"/>
              </a:lnSpc>
            </a:pPr>
            <a:r>
              <a:rPr sz="1800" dirty="0">
                <a:solidFill>
                  <a:srgbClr val="963139"/>
                </a:solidFill>
                <a:latin typeface="Courier New"/>
                <a:cs typeface="Courier New"/>
              </a:rPr>
              <a:t>}</a:t>
            </a:r>
            <a:endParaRPr sz="1800">
              <a:latin typeface="Courier New"/>
              <a:cs typeface="Courier New"/>
            </a:endParaRPr>
          </a:p>
          <a:p>
            <a:pPr marL="927100">
              <a:lnSpc>
                <a:spcPct val="100000"/>
              </a:lnSpc>
            </a:pPr>
            <a:r>
              <a:rPr sz="1800" spc="-10" dirty="0">
                <a:solidFill>
                  <a:srgbClr val="963139"/>
                </a:solidFill>
                <a:latin typeface="Courier New"/>
                <a:cs typeface="Courier New"/>
              </a:rPr>
              <a:t>return</a:t>
            </a:r>
            <a:r>
              <a:rPr sz="1800" spc="-60" dirty="0">
                <a:solidFill>
                  <a:srgbClr val="963139"/>
                </a:solidFill>
                <a:latin typeface="Courier New"/>
                <a:cs typeface="Courier New"/>
              </a:rPr>
              <a:t> </a:t>
            </a:r>
            <a:r>
              <a:rPr sz="1800" spc="-10" dirty="0">
                <a:solidFill>
                  <a:srgbClr val="963139"/>
                </a:solidFill>
                <a:latin typeface="Courier New"/>
                <a:cs typeface="Courier New"/>
              </a:rPr>
              <a:t>x;</a:t>
            </a:r>
            <a:endParaRPr sz="1800">
              <a:latin typeface="Courier New"/>
              <a:cs typeface="Courier New"/>
            </a:endParaRPr>
          </a:p>
          <a:p>
            <a:pPr marL="12700">
              <a:lnSpc>
                <a:spcPct val="100000"/>
              </a:lnSpc>
            </a:pPr>
            <a:r>
              <a:rPr sz="1800" dirty="0">
                <a:solidFill>
                  <a:srgbClr val="963139"/>
                </a:solidFill>
                <a:latin typeface="Courier New"/>
                <a:cs typeface="Courier New"/>
              </a:rPr>
              <a:t>}</a:t>
            </a:r>
            <a:endParaRPr sz="1800">
              <a:latin typeface="Courier New"/>
              <a:cs typeface="Courier New"/>
            </a:endParaRPr>
          </a:p>
        </p:txBody>
      </p:sp>
    </p:spTree>
    <p:extLst>
      <p:ext uri="{BB962C8B-B14F-4D97-AF65-F5344CB8AC3E}">
        <p14:creationId xmlns:p14="http://schemas.microsoft.com/office/powerpoint/2010/main" val="207890073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43865"/>
            <a:ext cx="4630420" cy="697230"/>
          </a:xfrm>
          <a:prstGeom prst="rect">
            <a:avLst/>
          </a:prstGeom>
        </p:spPr>
        <p:txBody>
          <a:bodyPr vert="horz" wrap="square" lIns="0" tIns="13335" rIns="0" bIns="0" rtlCol="0">
            <a:spAutoFit/>
          </a:bodyPr>
          <a:lstStyle/>
          <a:p>
            <a:pPr marL="12700">
              <a:lnSpc>
                <a:spcPct val="100000"/>
              </a:lnSpc>
              <a:spcBef>
                <a:spcPts val="105"/>
              </a:spcBef>
            </a:pPr>
            <a:r>
              <a:rPr spc="-190" dirty="0"/>
              <a:t>Making</a:t>
            </a:r>
            <a:r>
              <a:rPr spc="-10" dirty="0"/>
              <a:t> </a:t>
            </a:r>
            <a:r>
              <a:rPr spc="-270" dirty="0"/>
              <a:t>function</a:t>
            </a:r>
            <a:r>
              <a:rPr spc="-15" dirty="0"/>
              <a:t> </a:t>
            </a:r>
            <a:r>
              <a:rPr spc="-275" dirty="0"/>
              <a:t>calls</a:t>
            </a:r>
          </a:p>
        </p:txBody>
      </p:sp>
      <p:sp>
        <p:nvSpPr>
          <p:cNvPr id="3" name="object 3"/>
          <p:cNvSpPr txBox="1"/>
          <p:nvPr/>
        </p:nvSpPr>
        <p:spPr>
          <a:xfrm>
            <a:off x="691387" y="1616709"/>
            <a:ext cx="7912734" cy="2125345"/>
          </a:xfrm>
          <a:prstGeom prst="rect">
            <a:avLst/>
          </a:prstGeom>
        </p:spPr>
        <p:txBody>
          <a:bodyPr vert="horz" wrap="square" lIns="0" tIns="12700" rIns="0" bIns="0" rtlCol="0">
            <a:spAutoFit/>
          </a:bodyPr>
          <a:lstStyle/>
          <a:p>
            <a:pPr marL="332740" marR="172085" indent="-320040">
              <a:lnSpc>
                <a:spcPct val="100000"/>
              </a:lnSpc>
              <a:spcBef>
                <a:spcPts val="100"/>
              </a:spcBef>
              <a:buSzPct val="60416"/>
              <a:buFont typeface="Wingdings"/>
              <a:buChar char=""/>
              <a:tabLst>
                <a:tab pos="332105" algn="l"/>
                <a:tab pos="332740" algn="l"/>
              </a:tabLst>
            </a:pPr>
            <a:r>
              <a:rPr sz="2400" spc="-145" dirty="0">
                <a:solidFill>
                  <a:srgbClr val="963139"/>
                </a:solidFill>
                <a:latin typeface="Microsoft Sans Serif"/>
                <a:cs typeface="Microsoft Sans Serif"/>
              </a:rPr>
              <a:t>Code</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inside</a:t>
            </a:r>
            <a:r>
              <a:rPr sz="2400" spc="25"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95" dirty="0">
                <a:solidFill>
                  <a:srgbClr val="963139"/>
                </a:solidFill>
                <a:latin typeface="Microsoft Sans Serif"/>
                <a:cs typeface="Microsoft Sans Serif"/>
              </a:rPr>
              <a:t> </a:t>
            </a:r>
            <a:r>
              <a:rPr sz="2400" spc="-15" dirty="0">
                <a:solidFill>
                  <a:srgbClr val="963139"/>
                </a:solidFill>
                <a:latin typeface="Microsoft Sans Serif"/>
                <a:cs typeface="Microsoft Sans Serif"/>
              </a:rPr>
              <a:t>a</a:t>
            </a:r>
            <a:r>
              <a:rPr sz="2400" spc="20"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5"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15" dirty="0">
                <a:solidFill>
                  <a:srgbClr val="963139"/>
                </a:solidFill>
                <a:latin typeface="Microsoft Sans Serif"/>
                <a:cs typeface="Microsoft Sans Serif"/>
              </a:rPr>
              <a:t> </a:t>
            </a:r>
            <a:r>
              <a:rPr sz="2400" spc="-145" dirty="0">
                <a:solidFill>
                  <a:srgbClr val="963139"/>
                </a:solidFill>
                <a:latin typeface="Microsoft Sans Serif"/>
                <a:cs typeface="Microsoft Sans Serif"/>
              </a:rPr>
              <a:t>not</a:t>
            </a:r>
            <a:r>
              <a:rPr sz="2400" spc="30"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r>
              <a:rPr sz="2400" spc="25" dirty="0">
                <a:solidFill>
                  <a:srgbClr val="963139"/>
                </a:solidFill>
                <a:latin typeface="Microsoft Sans Serif"/>
                <a:cs typeface="Microsoft Sans Serif"/>
              </a:rPr>
              <a:t> </a:t>
            </a:r>
            <a:r>
              <a:rPr sz="2400" spc="-254" dirty="0">
                <a:solidFill>
                  <a:srgbClr val="963139"/>
                </a:solidFill>
                <a:latin typeface="Microsoft Sans Serif"/>
                <a:cs typeface="Microsoft Sans Serif"/>
              </a:rPr>
              <a:t>unless</a:t>
            </a:r>
            <a:r>
              <a:rPr sz="240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5" dirty="0">
                <a:solidFill>
                  <a:srgbClr val="963139"/>
                </a:solidFill>
                <a:latin typeface="Microsoft Sans Serif"/>
                <a:cs typeface="Microsoft Sans Serif"/>
              </a:rPr>
              <a:t> </a:t>
            </a:r>
            <a:r>
              <a:rPr sz="2400" spc="-150" dirty="0">
                <a:solidFill>
                  <a:srgbClr val="963139"/>
                </a:solidFill>
                <a:latin typeface="Microsoft Sans Serif"/>
                <a:cs typeface="Microsoft Sans Serif"/>
              </a:rPr>
              <a:t>function</a:t>
            </a:r>
            <a:r>
              <a:rPr sz="2400" spc="10" dirty="0">
                <a:solidFill>
                  <a:srgbClr val="963139"/>
                </a:solidFill>
                <a:latin typeface="Microsoft Sans Serif"/>
                <a:cs typeface="Microsoft Sans Serif"/>
              </a:rPr>
              <a:t> </a:t>
            </a:r>
            <a:r>
              <a:rPr sz="2400" spc="-220" dirty="0">
                <a:solidFill>
                  <a:srgbClr val="963139"/>
                </a:solidFill>
                <a:latin typeface="Microsoft Sans Serif"/>
                <a:cs typeface="Microsoft Sans Serif"/>
              </a:rPr>
              <a:t>is </a:t>
            </a:r>
            <a:r>
              <a:rPr sz="2400" spc="-625" dirty="0">
                <a:solidFill>
                  <a:srgbClr val="963139"/>
                </a:solidFill>
                <a:latin typeface="Microsoft Sans Serif"/>
                <a:cs typeface="Microsoft Sans Serif"/>
              </a:rPr>
              <a:t> </a:t>
            </a:r>
            <a:r>
              <a:rPr sz="2400" spc="-90" dirty="0">
                <a:solidFill>
                  <a:srgbClr val="963139"/>
                </a:solidFill>
                <a:latin typeface="Microsoft Sans Serif"/>
                <a:cs typeface="Microsoft Sans Serif"/>
              </a:rPr>
              <a:t>called.</a:t>
            </a:r>
            <a:endParaRPr sz="2400">
              <a:latin typeface="Microsoft Sans Serif"/>
              <a:cs typeface="Microsoft Sans Serif"/>
            </a:endParaRPr>
          </a:p>
          <a:p>
            <a:pPr marL="332740" marR="5080" indent="-320040">
              <a:lnSpc>
                <a:spcPct val="100000"/>
              </a:lnSpc>
              <a:spcBef>
                <a:spcPts val="700"/>
              </a:spcBef>
              <a:buSzPct val="60416"/>
              <a:buFont typeface="Wingdings"/>
              <a:buChar char=""/>
              <a:tabLst>
                <a:tab pos="332105" algn="l"/>
                <a:tab pos="332740" algn="l"/>
              </a:tabLst>
            </a:pPr>
            <a:r>
              <a:rPr sz="2400" spc="-145" dirty="0">
                <a:solidFill>
                  <a:srgbClr val="963139"/>
                </a:solidFill>
                <a:latin typeface="Microsoft Sans Serif"/>
                <a:cs typeface="Microsoft Sans Serif"/>
              </a:rPr>
              <a:t>Code</a:t>
            </a:r>
            <a:r>
              <a:rPr sz="2400" spc="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outside</a:t>
            </a:r>
            <a:r>
              <a:rPr sz="2400" spc="20" dirty="0">
                <a:solidFill>
                  <a:srgbClr val="963139"/>
                </a:solidFill>
                <a:latin typeface="Microsoft Sans Serif"/>
                <a:cs typeface="Microsoft Sans Serif"/>
              </a:rPr>
              <a:t> </a:t>
            </a:r>
            <a:r>
              <a:rPr sz="2400" spc="-5" dirty="0">
                <a:solidFill>
                  <a:srgbClr val="963139"/>
                </a:solidFill>
                <a:latin typeface="Microsoft Sans Serif"/>
                <a:cs typeface="Microsoft Sans Serif"/>
              </a:rPr>
              <a:t>of</a:t>
            </a:r>
            <a:r>
              <a:rPr sz="2400" spc="95" dirty="0">
                <a:solidFill>
                  <a:srgbClr val="963139"/>
                </a:solidFill>
                <a:latin typeface="Microsoft Sans Serif"/>
                <a:cs typeface="Microsoft Sans Serif"/>
              </a:rPr>
              <a:t> </a:t>
            </a:r>
            <a:r>
              <a:rPr sz="2400" spc="-175" dirty="0">
                <a:solidFill>
                  <a:srgbClr val="963139"/>
                </a:solidFill>
                <a:latin typeface="Microsoft Sans Serif"/>
                <a:cs typeface="Microsoft Sans Serif"/>
              </a:rPr>
              <a:t>functions</a:t>
            </a:r>
            <a:r>
              <a:rPr sz="2400" dirty="0">
                <a:solidFill>
                  <a:srgbClr val="963139"/>
                </a:solidFill>
                <a:latin typeface="Microsoft Sans Serif"/>
                <a:cs typeface="Microsoft Sans Serif"/>
              </a:rPr>
              <a:t> </a:t>
            </a:r>
            <a:r>
              <a:rPr sz="2400" spc="-215" dirty="0">
                <a:solidFill>
                  <a:srgbClr val="963139"/>
                </a:solidFill>
                <a:latin typeface="Microsoft Sans Serif"/>
                <a:cs typeface="Microsoft Sans Serif"/>
              </a:rPr>
              <a:t>is</a:t>
            </a:r>
            <a:r>
              <a:rPr sz="2400" spc="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r>
              <a:rPr sz="2400" spc="20" dirty="0">
                <a:solidFill>
                  <a:srgbClr val="963139"/>
                </a:solidFill>
                <a:latin typeface="Microsoft Sans Serif"/>
                <a:cs typeface="Microsoft Sans Serif"/>
              </a:rPr>
              <a:t> </a:t>
            </a:r>
            <a:r>
              <a:rPr sz="2400" spc="-165" dirty="0">
                <a:solidFill>
                  <a:srgbClr val="963139"/>
                </a:solidFill>
                <a:latin typeface="Microsoft Sans Serif"/>
                <a:cs typeface="Microsoft Sans Serif"/>
              </a:rPr>
              <a:t>whenever</a:t>
            </a:r>
            <a:r>
              <a:rPr sz="2400" spc="20" dirty="0">
                <a:solidFill>
                  <a:srgbClr val="963139"/>
                </a:solidFill>
                <a:latin typeface="Microsoft Sans Serif"/>
                <a:cs typeface="Microsoft Sans Serif"/>
              </a:rPr>
              <a:t> </a:t>
            </a:r>
            <a:r>
              <a:rPr sz="2400" spc="-145" dirty="0">
                <a:solidFill>
                  <a:srgbClr val="963139"/>
                </a:solidFill>
                <a:latin typeface="Microsoft Sans Serif"/>
                <a:cs typeface="Microsoft Sans Serif"/>
              </a:rPr>
              <a:t>the</a:t>
            </a:r>
            <a:r>
              <a:rPr sz="2400" spc="20" dirty="0">
                <a:solidFill>
                  <a:srgbClr val="963139"/>
                </a:solidFill>
                <a:latin typeface="Microsoft Sans Serif"/>
                <a:cs typeface="Microsoft Sans Serif"/>
              </a:rPr>
              <a:t> </a:t>
            </a:r>
            <a:r>
              <a:rPr sz="2400" spc="-95" dirty="0">
                <a:solidFill>
                  <a:srgbClr val="963139"/>
                </a:solidFill>
                <a:latin typeface="Microsoft Sans Serif"/>
                <a:cs typeface="Microsoft Sans Serif"/>
              </a:rPr>
              <a:t>program</a:t>
            </a:r>
            <a:r>
              <a:rPr sz="2400" spc="20" dirty="0">
                <a:solidFill>
                  <a:srgbClr val="963139"/>
                </a:solidFill>
                <a:latin typeface="Microsoft Sans Serif"/>
                <a:cs typeface="Microsoft Sans Serif"/>
              </a:rPr>
              <a:t> </a:t>
            </a:r>
            <a:r>
              <a:rPr sz="2400" spc="-220" dirty="0">
                <a:solidFill>
                  <a:srgbClr val="963139"/>
                </a:solidFill>
                <a:latin typeface="Microsoft Sans Serif"/>
                <a:cs typeface="Microsoft Sans Serif"/>
              </a:rPr>
              <a:t>is </a:t>
            </a:r>
            <a:r>
              <a:rPr sz="2400" spc="-625" dirty="0">
                <a:solidFill>
                  <a:srgbClr val="963139"/>
                </a:solidFill>
                <a:latin typeface="Microsoft Sans Serif"/>
                <a:cs typeface="Microsoft Sans Serif"/>
              </a:rPr>
              <a:t> </a:t>
            </a:r>
            <a:r>
              <a:rPr sz="2400" spc="-140" dirty="0">
                <a:solidFill>
                  <a:srgbClr val="963139"/>
                </a:solidFill>
                <a:latin typeface="Microsoft Sans Serif"/>
                <a:cs typeface="Microsoft Sans Serif"/>
              </a:rPr>
              <a:t>executed.</a:t>
            </a:r>
            <a:endParaRPr sz="2400">
              <a:latin typeface="Microsoft Sans Serif"/>
              <a:cs typeface="Microsoft Sans Serif"/>
            </a:endParaRPr>
          </a:p>
          <a:p>
            <a:pPr marL="390525">
              <a:lnSpc>
                <a:spcPct val="100000"/>
              </a:lnSpc>
              <a:spcBef>
                <a:spcPts val="950"/>
              </a:spcBef>
            </a:pPr>
            <a:r>
              <a:rPr sz="1400" spc="-5" dirty="0">
                <a:solidFill>
                  <a:srgbClr val="963139"/>
                </a:solidFill>
                <a:latin typeface="Courier New"/>
                <a:cs typeface="Courier New"/>
              </a:rPr>
              <a:t>&lt;?php</a:t>
            </a:r>
            <a:endParaRPr sz="1400">
              <a:latin typeface="Courier New"/>
              <a:cs typeface="Courier New"/>
            </a:endParaRPr>
          </a:p>
          <a:p>
            <a:pPr marL="390525">
              <a:lnSpc>
                <a:spcPct val="100000"/>
              </a:lnSpc>
            </a:pPr>
            <a:r>
              <a:rPr sz="1400"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0"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p:txBody>
      </p:sp>
      <p:sp>
        <p:nvSpPr>
          <p:cNvPr id="4" name="object 4"/>
          <p:cNvSpPr txBox="1"/>
          <p:nvPr/>
        </p:nvSpPr>
        <p:spPr>
          <a:xfrm>
            <a:off x="1069644" y="3715588"/>
            <a:ext cx="1303655" cy="240029"/>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963139"/>
                </a:solidFill>
                <a:latin typeface="Courier New"/>
                <a:cs typeface="Courier New"/>
              </a:rPr>
              <a:t>f</a:t>
            </a:r>
            <a:r>
              <a:rPr sz="1400" spc="-10" dirty="0">
                <a:solidFill>
                  <a:srgbClr val="963139"/>
                </a:solidFill>
                <a:latin typeface="Courier New"/>
                <a:cs typeface="Courier New"/>
              </a:rPr>
              <a:t>u</a:t>
            </a:r>
            <a:r>
              <a:rPr sz="1400" spc="-5" dirty="0">
                <a:solidFill>
                  <a:srgbClr val="963139"/>
                </a:solidFill>
                <a:latin typeface="Courier New"/>
                <a:cs typeface="Courier New"/>
              </a:rPr>
              <a:t>n</a:t>
            </a:r>
            <a:r>
              <a:rPr sz="1400" spc="-10" dirty="0">
                <a:solidFill>
                  <a:srgbClr val="963139"/>
                </a:solidFill>
                <a:latin typeface="Courier New"/>
                <a:cs typeface="Courier New"/>
              </a:rPr>
              <a:t>c</a:t>
            </a:r>
            <a:r>
              <a:rPr sz="1400" spc="-5" dirty="0">
                <a:solidFill>
                  <a:srgbClr val="963139"/>
                </a:solidFill>
                <a:latin typeface="Courier New"/>
                <a:cs typeface="Courier New"/>
              </a:rPr>
              <a:t>t</a:t>
            </a:r>
            <a:r>
              <a:rPr sz="1400" spc="-10" dirty="0">
                <a:solidFill>
                  <a:srgbClr val="963139"/>
                </a:solidFill>
                <a:latin typeface="Courier New"/>
                <a:cs typeface="Courier New"/>
              </a:rPr>
              <a:t>i</a:t>
            </a:r>
            <a:r>
              <a:rPr sz="1400" spc="-20" dirty="0">
                <a:solidFill>
                  <a:srgbClr val="963139"/>
                </a:solidFill>
                <a:latin typeface="Courier New"/>
                <a:cs typeface="Courier New"/>
              </a:rPr>
              <a:t>o</a:t>
            </a:r>
            <a:r>
              <a:rPr sz="1400" spc="-5" dirty="0">
                <a:solidFill>
                  <a:srgbClr val="963139"/>
                </a:solidFill>
                <a:latin typeface="Courier New"/>
                <a:cs typeface="Courier New"/>
              </a:rPr>
              <a:t>n</a:t>
            </a:r>
            <a:r>
              <a:rPr sz="1400" spc="-10" dirty="0">
                <a:solidFill>
                  <a:srgbClr val="963139"/>
                </a:solidFill>
                <a:latin typeface="Courier New"/>
                <a:cs typeface="Courier New"/>
              </a:rPr>
              <a:t>1</a:t>
            </a:r>
            <a:r>
              <a:rPr sz="1400" spc="-5" dirty="0">
                <a:solidFill>
                  <a:srgbClr val="963139"/>
                </a:solidFill>
                <a:latin typeface="Courier New"/>
                <a:cs typeface="Courier New"/>
              </a:rPr>
              <a:t>(</a:t>
            </a:r>
            <a:r>
              <a:rPr sz="1400" spc="-20" dirty="0">
                <a:solidFill>
                  <a:srgbClr val="963139"/>
                </a:solidFill>
                <a:latin typeface="Courier New"/>
                <a:cs typeface="Courier New"/>
              </a:rPr>
              <a:t>)</a:t>
            </a:r>
            <a:r>
              <a:rPr sz="1400" dirty="0">
                <a:solidFill>
                  <a:srgbClr val="963139"/>
                </a:solidFill>
                <a:latin typeface="Courier New"/>
                <a:cs typeface="Courier New"/>
              </a:rPr>
              <a:t>;</a:t>
            </a:r>
            <a:endParaRPr sz="1400">
              <a:latin typeface="Courier New"/>
              <a:cs typeface="Courier New"/>
            </a:endParaRPr>
          </a:p>
        </p:txBody>
      </p:sp>
      <p:sp>
        <p:nvSpPr>
          <p:cNvPr id="5" name="object 5"/>
          <p:cNvSpPr txBox="1"/>
          <p:nvPr/>
        </p:nvSpPr>
        <p:spPr>
          <a:xfrm>
            <a:off x="2898394" y="3715588"/>
            <a:ext cx="4708525" cy="453390"/>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963139"/>
                </a:solidFill>
                <a:latin typeface="Courier New"/>
                <a:cs typeface="Courier New"/>
              </a:rPr>
              <a:t>// </a:t>
            </a:r>
            <a:r>
              <a:rPr sz="1400" spc="-10" dirty="0">
                <a:solidFill>
                  <a:srgbClr val="963139"/>
                </a:solidFill>
                <a:latin typeface="Courier New"/>
                <a:cs typeface="Courier New"/>
              </a:rPr>
              <a:t>makes</a:t>
            </a:r>
            <a:r>
              <a:rPr sz="1400" dirty="0">
                <a:solidFill>
                  <a:srgbClr val="963139"/>
                </a:solidFill>
                <a:latin typeface="Courier New"/>
                <a:cs typeface="Courier New"/>
              </a:rPr>
              <a:t> </a:t>
            </a:r>
            <a:r>
              <a:rPr sz="1400" spc="-10" dirty="0">
                <a:solidFill>
                  <a:srgbClr val="963139"/>
                </a:solidFill>
                <a:latin typeface="Courier New"/>
                <a:cs typeface="Courier New"/>
              </a:rPr>
              <a:t>function</a:t>
            </a:r>
            <a:r>
              <a:rPr sz="1400" spc="5" dirty="0">
                <a:solidFill>
                  <a:srgbClr val="963139"/>
                </a:solidFill>
                <a:latin typeface="Courier New"/>
                <a:cs typeface="Courier New"/>
              </a:rPr>
              <a:t> </a:t>
            </a:r>
            <a:r>
              <a:rPr sz="1400" spc="-5" dirty="0">
                <a:solidFill>
                  <a:srgbClr val="963139"/>
                </a:solidFill>
                <a:latin typeface="Courier New"/>
                <a:cs typeface="Courier New"/>
              </a:rPr>
              <a:t>call</a:t>
            </a:r>
            <a:r>
              <a:rPr sz="1400" dirty="0">
                <a:solidFill>
                  <a:srgbClr val="963139"/>
                </a:solidFill>
                <a:latin typeface="Courier New"/>
                <a:cs typeface="Courier New"/>
              </a:rPr>
              <a:t> to</a:t>
            </a:r>
            <a:r>
              <a:rPr sz="1400" spc="-10" dirty="0">
                <a:solidFill>
                  <a:srgbClr val="963139"/>
                </a:solidFill>
                <a:latin typeface="Courier New"/>
                <a:cs typeface="Courier New"/>
              </a:rPr>
              <a:t> function1(),</a:t>
            </a:r>
            <a:r>
              <a:rPr sz="1400" spc="-15" dirty="0">
                <a:solidFill>
                  <a:srgbClr val="963139"/>
                </a:solidFill>
                <a:latin typeface="Courier New"/>
                <a:cs typeface="Courier New"/>
              </a:rPr>
              <a:t> </a:t>
            </a:r>
            <a:r>
              <a:rPr sz="1400" spc="-10" dirty="0">
                <a:solidFill>
                  <a:srgbClr val="963139"/>
                </a:solidFill>
                <a:latin typeface="Courier New"/>
                <a:cs typeface="Courier New"/>
              </a:rPr>
              <a:t>which</a:t>
            </a:r>
            <a:endParaRPr sz="1400">
              <a:latin typeface="Courier New"/>
              <a:cs typeface="Courier New"/>
            </a:endParaRPr>
          </a:p>
          <a:p>
            <a:pPr marL="12700">
              <a:lnSpc>
                <a:spcPct val="100000"/>
              </a:lnSpc>
            </a:pPr>
            <a:r>
              <a:rPr sz="1400" spc="-5" dirty="0">
                <a:solidFill>
                  <a:srgbClr val="963139"/>
                </a:solidFill>
                <a:latin typeface="Courier New"/>
                <a:cs typeface="Courier New"/>
              </a:rPr>
              <a:t>//</a:t>
            </a:r>
            <a:r>
              <a:rPr sz="1400" spc="-20" dirty="0">
                <a:solidFill>
                  <a:srgbClr val="963139"/>
                </a:solidFill>
                <a:latin typeface="Courier New"/>
                <a:cs typeface="Courier New"/>
              </a:rPr>
              <a:t> </a:t>
            </a:r>
            <a:r>
              <a:rPr sz="1400" spc="-5" dirty="0">
                <a:solidFill>
                  <a:srgbClr val="963139"/>
                </a:solidFill>
                <a:latin typeface="Courier New"/>
                <a:cs typeface="Courier New"/>
              </a:rPr>
              <a:t>in</a:t>
            </a:r>
            <a:r>
              <a:rPr sz="1400" spc="-20" dirty="0">
                <a:solidFill>
                  <a:srgbClr val="963139"/>
                </a:solidFill>
                <a:latin typeface="Courier New"/>
                <a:cs typeface="Courier New"/>
              </a:rPr>
              <a:t> </a:t>
            </a:r>
            <a:r>
              <a:rPr sz="1400" spc="-5" dirty="0">
                <a:solidFill>
                  <a:srgbClr val="963139"/>
                </a:solidFill>
                <a:latin typeface="Courier New"/>
                <a:cs typeface="Courier New"/>
              </a:rPr>
              <a:t>turn</a:t>
            </a:r>
            <a:r>
              <a:rPr sz="1400" spc="-30" dirty="0">
                <a:solidFill>
                  <a:srgbClr val="963139"/>
                </a:solidFill>
                <a:latin typeface="Courier New"/>
                <a:cs typeface="Courier New"/>
              </a:rPr>
              <a:t> </a:t>
            </a:r>
            <a:r>
              <a:rPr sz="1400" spc="-5" dirty="0">
                <a:solidFill>
                  <a:srgbClr val="963139"/>
                </a:solidFill>
                <a:latin typeface="Courier New"/>
                <a:cs typeface="Courier New"/>
              </a:rPr>
              <a:t>calls</a:t>
            </a:r>
            <a:r>
              <a:rPr sz="1400" spc="-15"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p:txBody>
      </p:sp>
      <p:sp>
        <p:nvSpPr>
          <p:cNvPr id="6" name="object 6"/>
          <p:cNvSpPr txBox="1"/>
          <p:nvPr/>
        </p:nvSpPr>
        <p:spPr>
          <a:xfrm>
            <a:off x="1069644" y="4355972"/>
            <a:ext cx="2431415" cy="237363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function1()</a:t>
            </a:r>
            <a:r>
              <a:rPr sz="1400" spc="-4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marR="5080">
              <a:lnSpc>
                <a:spcPct val="100000"/>
              </a:lnSpc>
              <a:spcBef>
                <a:spcPts val="5"/>
              </a:spcBef>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 </a:t>
            </a:r>
            <a:r>
              <a:rPr sz="1400" spc="-825"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function2()</a:t>
            </a:r>
            <a:r>
              <a:rPr sz="1400" spc="-5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a:lnSpc>
                <a:spcPct val="100000"/>
              </a:lnSpc>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function</a:t>
            </a:r>
            <a:r>
              <a:rPr sz="1400" spc="-40" dirty="0">
                <a:solidFill>
                  <a:srgbClr val="963139"/>
                </a:solidFill>
                <a:latin typeface="Courier New"/>
                <a:cs typeface="Courier New"/>
              </a:rPr>
              <a:t> </a:t>
            </a:r>
            <a:r>
              <a:rPr sz="1400" spc="-5" dirty="0">
                <a:solidFill>
                  <a:srgbClr val="963139"/>
                </a:solidFill>
                <a:latin typeface="Courier New"/>
                <a:cs typeface="Courier New"/>
              </a:rPr>
              <a:t>function3()</a:t>
            </a:r>
            <a:r>
              <a:rPr sz="1400" spc="-45" dirty="0">
                <a:solidFill>
                  <a:srgbClr val="963139"/>
                </a:solidFill>
                <a:latin typeface="Courier New"/>
                <a:cs typeface="Courier New"/>
              </a:rPr>
              <a:t> </a:t>
            </a:r>
            <a:r>
              <a:rPr sz="1400" dirty="0">
                <a:solidFill>
                  <a:srgbClr val="963139"/>
                </a:solidFill>
                <a:latin typeface="Courier New"/>
                <a:cs typeface="Courier New"/>
              </a:rPr>
              <a:t>{</a:t>
            </a:r>
            <a:endParaRPr sz="1400">
              <a:latin typeface="Courier New"/>
              <a:cs typeface="Courier New"/>
            </a:endParaRPr>
          </a:p>
          <a:p>
            <a:pPr marL="926465">
              <a:lnSpc>
                <a:spcPct val="100000"/>
              </a:lnSpc>
            </a:pPr>
            <a:r>
              <a:rPr sz="1400" dirty="0">
                <a:solidFill>
                  <a:srgbClr val="963139"/>
                </a:solidFill>
                <a:latin typeface="Courier New"/>
                <a:cs typeface="Courier New"/>
              </a:rPr>
              <a:t>…</a:t>
            </a:r>
            <a:r>
              <a:rPr sz="1400" spc="-30" dirty="0">
                <a:solidFill>
                  <a:srgbClr val="963139"/>
                </a:solidFill>
                <a:latin typeface="Courier New"/>
                <a:cs typeface="Courier New"/>
              </a:rPr>
              <a:t> </a:t>
            </a:r>
            <a:r>
              <a:rPr sz="1400" spc="-5" dirty="0">
                <a:solidFill>
                  <a:srgbClr val="963139"/>
                </a:solidFill>
                <a:latin typeface="Courier New"/>
                <a:cs typeface="Courier New"/>
              </a:rPr>
              <a:t>//</a:t>
            </a:r>
            <a:r>
              <a:rPr sz="1400" spc="-25" dirty="0">
                <a:solidFill>
                  <a:srgbClr val="963139"/>
                </a:solidFill>
                <a:latin typeface="Courier New"/>
                <a:cs typeface="Courier New"/>
              </a:rPr>
              <a:t> </a:t>
            </a:r>
            <a:r>
              <a:rPr sz="1400" spc="-5" dirty="0">
                <a:solidFill>
                  <a:srgbClr val="963139"/>
                </a:solidFill>
                <a:latin typeface="Courier New"/>
                <a:cs typeface="Courier New"/>
              </a:rPr>
              <a:t>some</a:t>
            </a:r>
            <a:r>
              <a:rPr sz="1400" spc="-25" dirty="0">
                <a:solidFill>
                  <a:srgbClr val="963139"/>
                </a:solidFill>
                <a:latin typeface="Courier New"/>
                <a:cs typeface="Courier New"/>
              </a:rPr>
              <a:t> </a:t>
            </a:r>
            <a:r>
              <a:rPr sz="1400" spc="-10" dirty="0">
                <a:solidFill>
                  <a:srgbClr val="963139"/>
                </a:solidFill>
                <a:latin typeface="Courier New"/>
                <a:cs typeface="Courier New"/>
              </a:rPr>
              <a:t>code</a:t>
            </a:r>
            <a:endParaRPr sz="1400">
              <a:latin typeface="Courier New"/>
              <a:cs typeface="Courier New"/>
            </a:endParaRPr>
          </a:p>
          <a:p>
            <a:pPr marL="12700">
              <a:lnSpc>
                <a:spcPct val="100000"/>
              </a:lnSpc>
            </a:pPr>
            <a:r>
              <a:rPr sz="1400" dirty="0">
                <a:solidFill>
                  <a:srgbClr val="963139"/>
                </a:solidFill>
                <a:latin typeface="Courier New"/>
                <a:cs typeface="Courier New"/>
              </a:rPr>
              <a:t>}</a:t>
            </a:r>
            <a:endParaRPr sz="1400">
              <a:latin typeface="Courier New"/>
              <a:cs typeface="Courier New"/>
            </a:endParaRPr>
          </a:p>
          <a:p>
            <a:pPr marL="12700">
              <a:lnSpc>
                <a:spcPct val="100000"/>
              </a:lnSpc>
            </a:pPr>
            <a:r>
              <a:rPr sz="1400" spc="-5" dirty="0">
                <a:solidFill>
                  <a:srgbClr val="963139"/>
                </a:solidFill>
                <a:latin typeface="Courier New"/>
                <a:cs typeface="Courier New"/>
              </a:rPr>
              <a:t>?&gt;</a:t>
            </a:r>
            <a:endParaRPr sz="1400">
              <a:latin typeface="Courier New"/>
              <a:cs typeface="Courier New"/>
            </a:endParaRPr>
          </a:p>
        </p:txBody>
      </p:sp>
      <p:sp>
        <p:nvSpPr>
          <p:cNvPr id="7" name="object 7"/>
          <p:cNvSpPr txBox="1"/>
          <p:nvPr/>
        </p:nvSpPr>
        <p:spPr>
          <a:xfrm>
            <a:off x="3813175" y="4782692"/>
            <a:ext cx="396367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963139"/>
                </a:solidFill>
                <a:latin typeface="Courier New"/>
                <a:cs typeface="Courier New"/>
              </a:rPr>
              <a:t>//</a:t>
            </a:r>
            <a:r>
              <a:rPr sz="1400" spc="-10" dirty="0">
                <a:solidFill>
                  <a:srgbClr val="963139"/>
                </a:solidFill>
                <a:latin typeface="Courier New"/>
                <a:cs typeface="Courier New"/>
              </a:rPr>
              <a:t> </a:t>
            </a:r>
            <a:r>
              <a:rPr sz="1400" spc="-5" dirty="0">
                <a:solidFill>
                  <a:srgbClr val="963139"/>
                </a:solidFill>
                <a:latin typeface="Courier New"/>
                <a:cs typeface="Courier New"/>
              </a:rPr>
              <a:t>makes</a:t>
            </a:r>
            <a:r>
              <a:rPr sz="1400" spc="-10" dirty="0">
                <a:solidFill>
                  <a:srgbClr val="963139"/>
                </a:solidFill>
                <a:latin typeface="Courier New"/>
                <a:cs typeface="Courier New"/>
              </a:rPr>
              <a:t> function </a:t>
            </a:r>
            <a:r>
              <a:rPr sz="1400" spc="-5" dirty="0">
                <a:solidFill>
                  <a:srgbClr val="963139"/>
                </a:solidFill>
                <a:latin typeface="Courier New"/>
                <a:cs typeface="Courier New"/>
              </a:rPr>
              <a:t>call</a:t>
            </a:r>
            <a:r>
              <a:rPr sz="1400" spc="-10" dirty="0">
                <a:solidFill>
                  <a:srgbClr val="963139"/>
                </a:solidFill>
                <a:latin typeface="Courier New"/>
                <a:cs typeface="Courier New"/>
              </a:rPr>
              <a:t> </a:t>
            </a:r>
            <a:r>
              <a:rPr sz="1400" spc="-5" dirty="0">
                <a:solidFill>
                  <a:srgbClr val="963139"/>
                </a:solidFill>
                <a:latin typeface="Courier New"/>
                <a:cs typeface="Courier New"/>
              </a:rPr>
              <a:t>to</a:t>
            </a:r>
            <a:r>
              <a:rPr sz="1400" spc="-20" dirty="0">
                <a:solidFill>
                  <a:srgbClr val="963139"/>
                </a:solidFill>
                <a:latin typeface="Courier New"/>
                <a:cs typeface="Courier New"/>
              </a:rPr>
              <a:t> </a:t>
            </a:r>
            <a:r>
              <a:rPr sz="1400" spc="-5" dirty="0">
                <a:solidFill>
                  <a:srgbClr val="963139"/>
                </a:solidFill>
                <a:latin typeface="Courier New"/>
                <a:cs typeface="Courier New"/>
              </a:rPr>
              <a:t>function3()</a:t>
            </a:r>
            <a:endParaRPr sz="1400">
              <a:latin typeface="Courier New"/>
              <a:cs typeface="Courier New"/>
            </a:endParaRPr>
          </a:p>
        </p:txBody>
      </p:sp>
      <p:sp>
        <p:nvSpPr>
          <p:cNvPr id="8" name="object 8"/>
          <p:cNvSpPr txBox="1"/>
          <p:nvPr/>
        </p:nvSpPr>
        <p:spPr>
          <a:xfrm>
            <a:off x="3813175" y="5209489"/>
            <a:ext cx="3538854"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963139"/>
                </a:solidFill>
                <a:latin typeface="Courier New"/>
                <a:cs typeface="Courier New"/>
              </a:rPr>
              <a:t>//</a:t>
            </a:r>
            <a:r>
              <a:rPr sz="1400" spc="-15" dirty="0">
                <a:solidFill>
                  <a:srgbClr val="963139"/>
                </a:solidFill>
                <a:latin typeface="Courier New"/>
                <a:cs typeface="Courier New"/>
              </a:rPr>
              <a:t> </a:t>
            </a:r>
            <a:r>
              <a:rPr sz="1400" spc="-5" dirty="0">
                <a:solidFill>
                  <a:srgbClr val="963139"/>
                </a:solidFill>
                <a:latin typeface="Courier New"/>
                <a:cs typeface="Courier New"/>
              </a:rPr>
              <a:t>this</a:t>
            </a:r>
            <a:r>
              <a:rPr sz="1400" spc="-20" dirty="0">
                <a:solidFill>
                  <a:srgbClr val="963139"/>
                </a:solidFill>
                <a:latin typeface="Courier New"/>
                <a:cs typeface="Courier New"/>
              </a:rPr>
              <a:t> </a:t>
            </a:r>
            <a:r>
              <a:rPr sz="1400" spc="-10" dirty="0">
                <a:solidFill>
                  <a:srgbClr val="963139"/>
                </a:solidFill>
                <a:latin typeface="Courier New"/>
                <a:cs typeface="Courier New"/>
              </a:rPr>
              <a:t>function</a:t>
            </a:r>
            <a:r>
              <a:rPr sz="1400" spc="-15" dirty="0">
                <a:solidFill>
                  <a:srgbClr val="963139"/>
                </a:solidFill>
                <a:latin typeface="Courier New"/>
                <a:cs typeface="Courier New"/>
              </a:rPr>
              <a:t> </a:t>
            </a:r>
            <a:r>
              <a:rPr sz="1400" spc="-5" dirty="0">
                <a:solidFill>
                  <a:srgbClr val="963139"/>
                </a:solidFill>
                <a:latin typeface="Courier New"/>
                <a:cs typeface="Courier New"/>
              </a:rPr>
              <a:t>is</a:t>
            </a:r>
            <a:r>
              <a:rPr sz="1400" spc="-10" dirty="0">
                <a:solidFill>
                  <a:srgbClr val="963139"/>
                </a:solidFill>
                <a:latin typeface="Courier New"/>
                <a:cs typeface="Courier New"/>
              </a:rPr>
              <a:t> </a:t>
            </a:r>
            <a:r>
              <a:rPr sz="1400" spc="-5" dirty="0">
                <a:solidFill>
                  <a:srgbClr val="963139"/>
                </a:solidFill>
                <a:latin typeface="Courier New"/>
                <a:cs typeface="Courier New"/>
              </a:rPr>
              <a:t>never</a:t>
            </a:r>
            <a:r>
              <a:rPr sz="1400" spc="-30" dirty="0">
                <a:solidFill>
                  <a:srgbClr val="963139"/>
                </a:solidFill>
                <a:latin typeface="Courier New"/>
                <a:cs typeface="Courier New"/>
              </a:rPr>
              <a:t> </a:t>
            </a:r>
            <a:r>
              <a:rPr sz="1400" spc="-5" dirty="0">
                <a:solidFill>
                  <a:srgbClr val="963139"/>
                </a:solidFill>
                <a:latin typeface="Courier New"/>
                <a:cs typeface="Courier New"/>
              </a:rPr>
              <a:t>called!</a:t>
            </a:r>
            <a:endParaRPr sz="1400">
              <a:latin typeface="Courier New"/>
              <a:cs typeface="Courier New"/>
            </a:endParaRPr>
          </a:p>
        </p:txBody>
      </p:sp>
    </p:spTree>
    <p:extLst>
      <p:ext uri="{BB962C8B-B14F-4D97-AF65-F5344CB8AC3E}">
        <p14:creationId xmlns:p14="http://schemas.microsoft.com/office/powerpoint/2010/main" val="296210619"/>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432" y="1152525"/>
            <a:ext cx="7606203" cy="797299"/>
          </a:xfrm>
        </p:spPr>
        <p:txBody>
          <a:bodyPr/>
          <a:lstStyle/>
          <a:p>
            <a:r>
              <a:rPr lang="en-US" dirty="0" smtClean="0"/>
              <a:t>POST and Get </a:t>
            </a:r>
            <a:r>
              <a:rPr lang="en-US" dirty="0" err="1" smtClean="0"/>
              <a:t>MEthods</a:t>
            </a:r>
            <a:endParaRPr lang="en-US" dirty="0"/>
          </a:p>
        </p:txBody>
      </p:sp>
      <p:sp>
        <p:nvSpPr>
          <p:cNvPr id="3" name="Content Placeholder 2"/>
          <p:cNvSpPr>
            <a:spLocks noGrp="1"/>
          </p:cNvSpPr>
          <p:nvPr>
            <p:ph idx="1"/>
          </p:nvPr>
        </p:nvSpPr>
        <p:spPr>
          <a:xfrm>
            <a:off x="775688" y="1958940"/>
            <a:ext cx="7606203" cy="790575"/>
          </a:xfrm>
        </p:spPr>
        <p:txBody>
          <a:bodyPr/>
          <a:lstStyle/>
          <a:p>
            <a:r>
              <a:rPr lang="en-US" dirty="0"/>
              <a:t>There are two ways the browser client can send information to the web server.</a:t>
            </a:r>
          </a:p>
          <a:p>
            <a:r>
              <a:rPr lang="en-US" dirty="0"/>
              <a:t>The GET Method</a:t>
            </a:r>
          </a:p>
          <a:p>
            <a:r>
              <a:rPr lang="en-US" dirty="0"/>
              <a:t>The POST Method</a:t>
            </a:r>
          </a:p>
          <a:p>
            <a:r>
              <a:rPr lang="en-US" dirty="0"/>
              <a:t>Before the browser sends the information, it encodes it using a scheme called URL encoding. In this scheme, name/value pairs are joined with equal signs and different pairs are separated by the ampersand</a:t>
            </a:r>
          </a:p>
          <a:p>
            <a:endParaRPr lang="en-US" dirty="0"/>
          </a:p>
        </p:txBody>
      </p:sp>
    </p:spTree>
    <p:extLst>
      <p:ext uri="{BB962C8B-B14F-4D97-AF65-F5344CB8AC3E}">
        <p14:creationId xmlns:p14="http://schemas.microsoft.com/office/powerpoint/2010/main" val="42032467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589" y="941295"/>
            <a:ext cx="7606203" cy="790575"/>
          </a:xfrm>
        </p:spPr>
        <p:txBody>
          <a:bodyPr/>
          <a:lstStyle/>
          <a:p>
            <a:r>
              <a:rPr lang="en-US" dirty="0" smtClean="0"/>
              <a:t>Name1 = value1 &amp; name2 = value2 &amp; name3 = value3</a:t>
            </a:r>
          </a:p>
          <a:p>
            <a:r>
              <a:rPr lang="en-US" dirty="0"/>
              <a:t>The GET method sends the encoded user information appended to the page request. The page and the encoded information are separated by the </a:t>
            </a:r>
            <a:r>
              <a:rPr lang="en-US" b="1" dirty="0"/>
              <a:t>?</a:t>
            </a:r>
            <a:r>
              <a:rPr lang="en-US" dirty="0"/>
              <a:t> character</a:t>
            </a:r>
            <a:r>
              <a:rPr lang="en-US" dirty="0" smtClean="0"/>
              <a:t>.</a:t>
            </a:r>
          </a:p>
          <a:p>
            <a:r>
              <a:rPr lang="en-US" dirty="0" smtClean="0"/>
              <a:t>http://www.uol.edu.pk/index.php?name1= </a:t>
            </a:r>
            <a:r>
              <a:rPr lang="en-US" dirty="0"/>
              <a:t>value1 &amp; name2 = value2 &amp; name3 = value3</a:t>
            </a:r>
          </a:p>
          <a:p>
            <a:r>
              <a:rPr lang="en-US" dirty="0"/>
              <a:t>The GET method produces a long string that appears in your server logs, in the browser's Location: box.</a:t>
            </a:r>
          </a:p>
          <a:p>
            <a:endParaRPr lang="en-US" dirty="0"/>
          </a:p>
        </p:txBody>
      </p:sp>
    </p:spTree>
    <p:extLst>
      <p:ext uri="{BB962C8B-B14F-4D97-AF65-F5344CB8AC3E}">
        <p14:creationId xmlns:p14="http://schemas.microsoft.com/office/powerpoint/2010/main" val="188496413"/>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605118"/>
            <a:ext cx="7606203" cy="790575"/>
          </a:xfrm>
        </p:spPr>
        <p:txBody>
          <a:bodyPr/>
          <a:lstStyle/>
          <a:p>
            <a:r>
              <a:rPr lang="en-US" dirty="0"/>
              <a:t>The GET method is restricted to send </a:t>
            </a:r>
            <a:r>
              <a:rPr lang="en-US" dirty="0" err="1"/>
              <a:t>upto</a:t>
            </a:r>
            <a:r>
              <a:rPr lang="en-US" dirty="0"/>
              <a:t> 1024 characters only.</a:t>
            </a:r>
          </a:p>
          <a:p>
            <a:r>
              <a:rPr lang="en-US" dirty="0"/>
              <a:t>Never use GET method if you have password or other sensitive information to be sent to the server</a:t>
            </a:r>
            <a:r>
              <a:rPr lang="en-US" dirty="0" smtClean="0"/>
              <a:t>.</a:t>
            </a:r>
          </a:p>
          <a:p>
            <a:r>
              <a:rPr lang="en-US" dirty="0"/>
              <a:t>GET can't be used to send binary data, like images or word documents, to the server.</a:t>
            </a:r>
          </a:p>
          <a:p>
            <a:r>
              <a:rPr lang="en-US" dirty="0"/>
              <a:t>The data sent by GET method can be accessed using QUERY_STRING environment variable.</a:t>
            </a:r>
          </a:p>
          <a:p>
            <a:r>
              <a:rPr lang="en-US" dirty="0"/>
              <a:t>The PHP provides </a:t>
            </a:r>
            <a:r>
              <a:rPr lang="en-US" b="1" dirty="0"/>
              <a:t>$_GET</a:t>
            </a:r>
            <a:r>
              <a:rPr lang="en-US" dirty="0"/>
              <a:t> associative array to access all the sent information using GET method.</a:t>
            </a:r>
          </a:p>
          <a:p>
            <a:endParaRPr lang="en-US" dirty="0"/>
          </a:p>
          <a:p>
            <a:endParaRPr lang="en-US" dirty="0"/>
          </a:p>
        </p:txBody>
      </p:sp>
    </p:spTree>
    <p:extLst>
      <p:ext uri="{BB962C8B-B14F-4D97-AF65-F5344CB8AC3E}">
        <p14:creationId xmlns:p14="http://schemas.microsoft.com/office/powerpoint/2010/main" val="2799252340"/>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353" y="403412"/>
            <a:ext cx="7606203" cy="790575"/>
          </a:xfrm>
        </p:spPr>
        <p:txBody>
          <a:bodyPr/>
          <a:lstStyle/>
          <a:p>
            <a:r>
              <a:rPr lang="en-US" dirty="0"/>
              <a:t>The POST Method</a:t>
            </a:r>
          </a:p>
          <a:p>
            <a:r>
              <a:rPr lang="en-US" dirty="0"/>
              <a:t>The POST method transfers information via HTTP headers. The information is encoded as described in case of GET method and put into a header called QUERY_STRING.</a:t>
            </a:r>
          </a:p>
          <a:p>
            <a:r>
              <a:rPr lang="en-US" dirty="0"/>
              <a:t>The POST method does not have any restriction on data size to be sent.</a:t>
            </a:r>
          </a:p>
          <a:p>
            <a:r>
              <a:rPr lang="en-US" dirty="0"/>
              <a:t>The POST method can be used to send ASCII as well as binary data.</a:t>
            </a:r>
          </a:p>
          <a:p>
            <a:r>
              <a:rPr lang="en-US" dirty="0"/>
              <a:t>The data sent by POST method goes through HTTP header so security depends on HTTP protocol. By using Secure HTTP you can make sure that your information is secure.</a:t>
            </a:r>
          </a:p>
          <a:p>
            <a:endParaRPr lang="en-US" dirty="0"/>
          </a:p>
        </p:txBody>
      </p:sp>
    </p:spTree>
    <p:extLst>
      <p:ext uri="{BB962C8B-B14F-4D97-AF65-F5344CB8AC3E}">
        <p14:creationId xmlns:p14="http://schemas.microsoft.com/office/powerpoint/2010/main" val="1276657654"/>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134471"/>
            <a:ext cx="7606203" cy="790575"/>
          </a:xfrm>
        </p:spPr>
        <p:txBody>
          <a:bodyPr/>
          <a:lstStyle/>
          <a:p>
            <a:r>
              <a:rPr lang="en-US" dirty="0"/>
              <a:t>The $_REQUEST variable</a:t>
            </a:r>
          </a:p>
          <a:p>
            <a:r>
              <a:rPr lang="en-US" dirty="0"/>
              <a:t>The PHP $_REQUEST variable contains the contents of both $_GET, $_POST, and $_COOKIE. We will discuss $_COOKIE variable when we will explain about cookies.</a:t>
            </a:r>
          </a:p>
          <a:p>
            <a:r>
              <a:rPr lang="en-US" dirty="0"/>
              <a:t>The PHP $_REQUEST variable can be used to get the result from form data sent with both the GET and POST methods</a:t>
            </a:r>
            <a:r>
              <a:rPr lang="en-US" dirty="0" smtClean="0"/>
              <a:t>.</a:t>
            </a:r>
          </a:p>
          <a:p>
            <a:r>
              <a:rPr lang="en-US" dirty="0" smtClean="0"/>
              <a:t>&lt;?</a:t>
            </a:r>
            <a:r>
              <a:rPr lang="en-US" dirty="0" err="1" smtClean="0"/>
              <a:t>php</a:t>
            </a:r>
            <a:r>
              <a:rPr lang="en-US" dirty="0" smtClean="0"/>
              <a:t>  if($_REQUEST[“name”] || $_REQUEST[“age”])</a:t>
            </a:r>
          </a:p>
          <a:p>
            <a:r>
              <a:rPr lang="en-US" dirty="0" smtClean="0"/>
              <a:t>Echo “Name </a:t>
            </a:r>
            <a:r>
              <a:rPr lang="en-US" dirty="0" err="1" smtClean="0"/>
              <a:t>is”.$_REQUEST</a:t>
            </a:r>
            <a:r>
              <a:rPr lang="en-US" dirty="0" smtClean="0"/>
              <a:t>[‘name’]?&gt;</a:t>
            </a:r>
          </a:p>
          <a:p>
            <a:endParaRPr lang="en-US" dirty="0"/>
          </a:p>
          <a:p>
            <a:endParaRPr lang="en-US" dirty="0"/>
          </a:p>
        </p:txBody>
      </p:sp>
    </p:spTree>
    <p:extLst>
      <p:ext uri="{BB962C8B-B14F-4D97-AF65-F5344CB8AC3E}">
        <p14:creationId xmlns:p14="http://schemas.microsoft.com/office/powerpoint/2010/main" val="2061469569"/>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You can include the content of a PHP file into another PHP file before the server executes it. There are two PHP functions which can be used to included one PHP file into another PHP file.</a:t>
            </a:r>
          </a:p>
          <a:p>
            <a:r>
              <a:rPr lang="en-US" dirty="0"/>
              <a:t>The include() Function</a:t>
            </a:r>
          </a:p>
          <a:p>
            <a:r>
              <a:rPr lang="en-US" dirty="0"/>
              <a:t>The require() Function</a:t>
            </a:r>
          </a:p>
          <a:p>
            <a:endParaRPr lang="en-US" dirty="0"/>
          </a:p>
        </p:txBody>
      </p:sp>
    </p:spTree>
    <p:extLst>
      <p:ext uri="{BB962C8B-B14F-4D97-AF65-F5344CB8AC3E}">
        <p14:creationId xmlns:p14="http://schemas.microsoft.com/office/powerpoint/2010/main" val="3030871454"/>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This is a strong point of PHP which helps in creating functions, headers, footers, or elements that can be reused on multiple pages. This will help developers to make it easy to change the layout of complete website with minimal effort. If there is any change required then instead of changing thousand of files just change included file.</a:t>
            </a:r>
          </a:p>
        </p:txBody>
      </p:sp>
    </p:spTree>
    <p:extLst>
      <p:ext uri="{BB962C8B-B14F-4D97-AF65-F5344CB8AC3E}">
        <p14:creationId xmlns:p14="http://schemas.microsoft.com/office/powerpoint/2010/main" val="2325111028"/>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a:t>The include() Function</a:t>
            </a:r>
          </a:p>
          <a:p>
            <a:r>
              <a:rPr lang="en-US" dirty="0"/>
              <a:t>The include() function takes all the text in a specified file and copies it into the file that uses the include function. If there is any problem in loading a file then the </a:t>
            </a:r>
            <a:r>
              <a:rPr lang="en-US" b="1" dirty="0"/>
              <a:t>include()</a:t>
            </a:r>
            <a:r>
              <a:rPr lang="en-US" dirty="0"/>
              <a:t> function generates a warning but the script will continue execution.</a:t>
            </a:r>
          </a:p>
          <a:p>
            <a:r>
              <a:rPr lang="en-US" dirty="0"/>
              <a:t>Assume you want to create a common menu for your website. Then create a file </a:t>
            </a:r>
            <a:r>
              <a:rPr lang="en-US" dirty="0" err="1"/>
              <a:t>menu.php</a:t>
            </a:r>
            <a:r>
              <a:rPr lang="en-US" dirty="0"/>
              <a:t> with the following content.</a:t>
            </a:r>
          </a:p>
          <a:p>
            <a:endParaRPr lang="en-US" dirty="0"/>
          </a:p>
        </p:txBody>
      </p:sp>
    </p:spTree>
    <p:extLst>
      <p:ext uri="{BB962C8B-B14F-4D97-AF65-F5344CB8AC3E}">
        <p14:creationId xmlns:p14="http://schemas.microsoft.com/office/powerpoint/2010/main" val="1964864657"/>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824" y="874059"/>
            <a:ext cx="7606203" cy="790575"/>
          </a:xfrm>
        </p:spPr>
        <p:txBody>
          <a:bodyPr/>
          <a:lstStyle/>
          <a:p>
            <a:r>
              <a:rPr lang="en-US" dirty="0" smtClean="0"/>
              <a:t>&lt;a </a:t>
            </a:r>
            <a:r>
              <a:rPr lang="en-US" dirty="0" err="1" smtClean="0"/>
              <a:t>href</a:t>
            </a:r>
            <a:r>
              <a:rPr lang="en-US" dirty="0" smtClean="0"/>
              <a:t> = “</a:t>
            </a:r>
            <a:r>
              <a:rPr lang="en-US" dirty="0" err="1" smtClean="0"/>
              <a:t>abc.php</a:t>
            </a:r>
            <a:r>
              <a:rPr lang="en-US" dirty="0" smtClean="0"/>
              <a:t>”&gt;Home&lt;/a&gt;</a:t>
            </a:r>
          </a:p>
          <a:p>
            <a:r>
              <a:rPr lang="en-US" dirty="0"/>
              <a:t>&lt;a </a:t>
            </a:r>
            <a:r>
              <a:rPr lang="en-US" dirty="0" err="1"/>
              <a:t>href</a:t>
            </a:r>
            <a:r>
              <a:rPr lang="en-US" dirty="0"/>
              <a:t> = “</a:t>
            </a:r>
            <a:r>
              <a:rPr lang="en-US" dirty="0" err="1"/>
              <a:t>abc.php</a:t>
            </a:r>
            <a:r>
              <a:rPr lang="en-US" dirty="0" smtClean="0"/>
              <a:t>”&gt;About&lt;/</a:t>
            </a:r>
            <a:r>
              <a:rPr lang="en-US" dirty="0"/>
              <a:t>a</a:t>
            </a:r>
            <a:r>
              <a:rPr lang="en-US" dirty="0" smtClean="0"/>
              <a:t>&gt;</a:t>
            </a:r>
          </a:p>
          <a:p>
            <a:r>
              <a:rPr lang="en-US" dirty="0"/>
              <a:t>&lt;a </a:t>
            </a:r>
            <a:r>
              <a:rPr lang="en-US" dirty="0" err="1"/>
              <a:t>href</a:t>
            </a:r>
            <a:r>
              <a:rPr lang="en-US" dirty="0"/>
              <a:t> = “</a:t>
            </a:r>
            <a:r>
              <a:rPr lang="en-US" dirty="0" err="1"/>
              <a:t>abc.php</a:t>
            </a:r>
            <a:r>
              <a:rPr lang="en-US" dirty="0" smtClean="0"/>
              <a:t>”&gt;Contact&lt;/</a:t>
            </a:r>
            <a:r>
              <a:rPr lang="en-US" dirty="0"/>
              <a:t>a</a:t>
            </a:r>
            <a:r>
              <a:rPr lang="en-US" dirty="0" smtClean="0"/>
              <a:t>&gt;</a:t>
            </a:r>
          </a:p>
          <a:p>
            <a:r>
              <a:rPr lang="en-US" dirty="0"/>
              <a:t>&lt;a </a:t>
            </a:r>
            <a:r>
              <a:rPr lang="en-US" dirty="0" err="1"/>
              <a:t>href</a:t>
            </a:r>
            <a:r>
              <a:rPr lang="en-US" dirty="0"/>
              <a:t> = “</a:t>
            </a:r>
            <a:r>
              <a:rPr lang="en-US" dirty="0" err="1"/>
              <a:t>abc.php</a:t>
            </a:r>
            <a:r>
              <a:rPr lang="en-US" dirty="0" smtClean="0"/>
              <a:t>”&gt;Site Map&lt;/</a:t>
            </a:r>
            <a:r>
              <a:rPr lang="en-US" dirty="0"/>
              <a:t>a</a:t>
            </a:r>
            <a:r>
              <a:rPr lang="en-US" dirty="0" smtClean="0"/>
              <a:t>&gt;</a:t>
            </a:r>
          </a:p>
          <a:p>
            <a:pPr marL="0" indent="0">
              <a:buNone/>
            </a:pPr>
            <a:r>
              <a:rPr lang="en-US" dirty="0" smtClean="0"/>
              <a:t>Now </a:t>
            </a:r>
            <a:r>
              <a:rPr lang="en-US" dirty="0"/>
              <a:t>create as many pages as you like and include this file to create header. For example now your </a:t>
            </a:r>
            <a:r>
              <a:rPr lang="en-US" dirty="0" err="1"/>
              <a:t>test.php</a:t>
            </a:r>
            <a:r>
              <a:rPr lang="en-US" dirty="0"/>
              <a:t> file can have following content</a:t>
            </a:r>
            <a:r>
              <a:rPr lang="en-US" dirty="0" smtClean="0"/>
              <a:t>.</a:t>
            </a:r>
          </a:p>
          <a:p>
            <a:pPr marL="0" indent="0">
              <a:buNone/>
            </a:pPr>
            <a:r>
              <a:rPr lang="en-US" dirty="0" smtClean="0"/>
              <a:t>&lt;?</a:t>
            </a:r>
            <a:r>
              <a:rPr lang="en-US" dirty="0" err="1" smtClean="0"/>
              <a:t>php</a:t>
            </a:r>
            <a:r>
              <a:rPr lang="en-US" dirty="0" smtClean="0"/>
              <a:t>  include(“</a:t>
            </a:r>
            <a:r>
              <a:rPr lang="en-US" dirty="0" err="1" smtClean="0"/>
              <a:t>menu.php</a:t>
            </a:r>
            <a:r>
              <a:rPr lang="en-US" dirty="0" smtClean="0"/>
              <a:t>”)</a:t>
            </a:r>
          </a:p>
          <a:p>
            <a:pPr marL="0" indent="0">
              <a:buNone/>
            </a:pPr>
            <a:r>
              <a:rPr lang="en-US" dirty="0" smtClean="0"/>
              <a:t>&lt;h1&gt; Header is Same in All Pages?&gt;</a:t>
            </a:r>
            <a:endParaRPr lang="en-US" dirty="0"/>
          </a:p>
        </p:txBody>
      </p:sp>
    </p:spTree>
    <p:extLst>
      <p:ext uri="{BB962C8B-B14F-4D97-AF65-F5344CB8AC3E}">
        <p14:creationId xmlns:p14="http://schemas.microsoft.com/office/powerpoint/2010/main" val="2360242510"/>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589" y="403412"/>
            <a:ext cx="7606203" cy="790575"/>
          </a:xfrm>
        </p:spPr>
        <p:txBody>
          <a:bodyPr/>
          <a:lstStyle/>
          <a:p>
            <a:r>
              <a:rPr lang="en-US" dirty="0"/>
              <a:t>The require() Function</a:t>
            </a:r>
          </a:p>
          <a:p>
            <a:r>
              <a:rPr lang="en-US" dirty="0"/>
              <a:t>The require() function takes all the text in a specified file and copies it into the file that uses the include function. If there is any problem in loading a file then the </a:t>
            </a:r>
            <a:r>
              <a:rPr lang="en-US" b="1" dirty="0"/>
              <a:t>require()</a:t>
            </a:r>
            <a:r>
              <a:rPr lang="en-US" dirty="0"/>
              <a:t> function generates a fatal error and halt the execution of the script</a:t>
            </a:r>
            <a:r>
              <a:rPr lang="en-US" dirty="0" smtClean="0"/>
              <a:t>.</a:t>
            </a:r>
          </a:p>
          <a:p>
            <a:r>
              <a:rPr lang="en-US" dirty="0"/>
              <a:t>So there is no difference in require() and include() except they handle error conditions. It is recommended to use the require() function instead of include(), because scripts should not continue executing if files are missing or misnamed.</a:t>
            </a:r>
          </a:p>
          <a:p>
            <a:endParaRPr lang="en-US" dirty="0"/>
          </a:p>
        </p:txBody>
      </p:sp>
    </p:spTree>
    <p:extLst>
      <p:ext uri="{BB962C8B-B14F-4D97-AF65-F5344CB8AC3E}">
        <p14:creationId xmlns:p14="http://schemas.microsoft.com/office/powerpoint/2010/main" val="214896264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776</TotalTime>
  <Words>2898</Words>
  <Application>Microsoft Office PowerPoint</Application>
  <PresentationFormat>On-screen Show (4:3)</PresentationFormat>
  <Paragraphs>469</Paragraphs>
  <Slides>53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53</vt:i4>
      </vt:variant>
    </vt:vector>
  </HeadingPairs>
  <TitlesOfParts>
    <vt:vector size="61" baseType="lpstr">
      <vt:lpstr>Arial</vt:lpstr>
      <vt:lpstr>Calibri</vt:lpstr>
      <vt:lpstr>Courier New</vt:lpstr>
      <vt:lpstr>Microsoft Sans Serif</vt:lpstr>
      <vt:lpstr>Times New Roman</vt:lpstr>
      <vt:lpstr>Wingdings</vt:lpstr>
      <vt:lpstr>Office Theme</vt:lpstr>
      <vt:lpstr>1_Office Theme</vt:lpstr>
      <vt:lpstr>Introduction to PHP</vt:lpstr>
      <vt:lpstr>Request to a Static Site</vt:lpstr>
      <vt:lpstr>Request to a Dynamic Site</vt:lpstr>
      <vt:lpstr>PHP</vt:lpstr>
      <vt:lpstr>Introduction</vt:lpstr>
      <vt:lpstr>What is a PHP File?</vt:lpstr>
      <vt:lpstr>What Can PHP Do?</vt:lpstr>
      <vt:lpstr>Why PHP?</vt:lpstr>
      <vt:lpstr>What Do I Need?</vt:lpstr>
      <vt:lpstr>PHP Syntax</vt:lpstr>
      <vt:lpstr>Comments in PHP</vt:lpstr>
      <vt:lpstr>PHP Case Sensitivity</vt:lpstr>
      <vt:lpstr>PHP 5 Variables</vt:lpstr>
      <vt:lpstr>OUTPUT variable</vt:lpstr>
      <vt:lpstr>PHP Variables Scope</vt:lpstr>
      <vt:lpstr>Examples</vt:lpstr>
      <vt:lpstr>$GLOBALS[index] array</vt:lpstr>
      <vt:lpstr>PHP The static Keyword</vt:lpstr>
      <vt:lpstr>Example</vt:lpstr>
      <vt:lpstr>Operators</vt:lpstr>
      <vt:lpstr>== versus ===</vt:lpstr>
      <vt:lpstr>Strings</vt:lpstr>
      <vt:lpstr>Strings</vt:lpstr>
      <vt:lpstr>PHP 5 Data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PHP</vt:lpstr>
      <vt:lpstr>Conditional Statements</vt:lpstr>
      <vt:lpstr>PowerPoint Presentation</vt:lpstr>
      <vt:lpstr>The while loop</vt:lpstr>
      <vt:lpstr>The do-while loop</vt:lpstr>
      <vt:lpstr>The for loop</vt:lpstr>
      <vt:lpstr>PHP</vt:lpstr>
      <vt:lpstr>Defining your own functions</vt:lpstr>
      <vt:lpstr>Return values</vt:lpstr>
      <vt:lpstr>Return values</vt:lpstr>
      <vt:lpstr>Making function calls</vt:lpstr>
      <vt:lpstr>POST and Get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dc:title>
  <dc:creator>amil</dc:creator>
  <cp:lastModifiedBy>Microsoft account</cp:lastModifiedBy>
  <cp:revision>46</cp:revision>
  <dcterms:created xsi:type="dcterms:W3CDTF">2016-01-06T03:55:34Z</dcterms:created>
  <dcterms:modified xsi:type="dcterms:W3CDTF">2026-04-13T10:02:27Z</dcterms:modified>
</cp:coreProperties>
</file>
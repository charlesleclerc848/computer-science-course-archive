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74"/>
  </p:notesMasterIdLst>
  <p:sldIdLst>
    <p:sldId id="256" r:id="rId5"/>
    <p:sldId id="288" r:id="rId6"/>
    <p:sldId id="289" r:id="rId7"/>
    <p:sldId id="317" r:id="rId8"/>
    <p:sldId id="287" r:id="rId9"/>
    <p:sldId id="270" r:id="rId10"/>
    <p:sldId id="290" r:id="rId11"/>
    <p:sldId id="291" r:id="rId12"/>
    <p:sldId id="273" r:id="rId13"/>
    <p:sldId id="274" r:id="rId14"/>
    <p:sldId id="257" r:id="rId15"/>
    <p:sldId id="275" r:id="rId16"/>
    <p:sldId id="286" r:id="rId17"/>
    <p:sldId id="276" r:id="rId18"/>
    <p:sldId id="328" r:id="rId19"/>
    <p:sldId id="277" r:id="rId20"/>
    <p:sldId id="278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34" r:id="rId46"/>
    <p:sldId id="335" r:id="rId47"/>
    <p:sldId id="336" r:id="rId48"/>
    <p:sldId id="337" r:id="rId49"/>
    <p:sldId id="338" r:id="rId50"/>
    <p:sldId id="339" r:id="rId51"/>
    <p:sldId id="329" r:id="rId52"/>
    <p:sldId id="330" r:id="rId53"/>
    <p:sldId id="331" r:id="rId54"/>
    <p:sldId id="332" r:id="rId55"/>
    <p:sldId id="333" r:id="rId56"/>
    <p:sldId id="280" r:id="rId57"/>
    <p:sldId id="279" r:id="rId58"/>
    <p:sldId id="281" r:id="rId59"/>
    <p:sldId id="282" r:id="rId60"/>
    <p:sldId id="283" r:id="rId61"/>
    <p:sldId id="318" r:id="rId62"/>
    <p:sldId id="292" r:id="rId63"/>
    <p:sldId id="319" r:id="rId64"/>
    <p:sldId id="320" r:id="rId65"/>
    <p:sldId id="321" r:id="rId66"/>
    <p:sldId id="322" r:id="rId67"/>
    <p:sldId id="323" r:id="rId68"/>
    <p:sldId id="324" r:id="rId69"/>
    <p:sldId id="284" r:id="rId70"/>
    <p:sldId id="325" r:id="rId71"/>
    <p:sldId id="326" r:id="rId72"/>
    <p:sldId id="327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8" autoAdjust="0"/>
    <p:restoredTop sz="94660"/>
  </p:normalViewPr>
  <p:slideViewPr>
    <p:cSldViewPr>
      <p:cViewPr varScale="1">
        <p:scale>
          <a:sx n="74" d="100"/>
          <a:sy n="74" d="100"/>
        </p:scale>
        <p:origin x="14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C3D29-0DE9-44BE-ABE0-CEAB8C393D28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BF8E5-8D7F-438C-9A07-E19E6C42F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6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2ABAA026-CF0B-460B-9E0F-614330D64AEB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4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24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16085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122DCD4B-9B55-40CF-A3D1-1C55880A60C3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18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52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3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36314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EFAC4F17-24E4-481B-8DF3-7CC25CE6F609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19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734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7250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65695F3F-EC46-4E33-A8B9-2E91278A6CFE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20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593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63463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8758493C-B50C-43F7-9253-00217034D31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21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144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4105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CFB23A05-02E6-4159-B3FD-53C8745C479B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22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349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52510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F536594F-34A5-4AA0-8DBD-D9CBCB829F12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23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553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4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83441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E829B8CC-5201-4075-AD33-2BA17F0F62B1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24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758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71168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ACE37577-E795-47A4-8321-813440FFC389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25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6963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52577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85454CDB-ABE7-446B-A33E-52FCA2E109ED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26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7168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93125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051020FE-FDFC-4821-A144-2B243046FADE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27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7373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04429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7F3E4AC8-43A1-41B7-A1F3-13661278131A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28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7782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782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04484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1E89E97D-CDEC-4235-9BF0-0854A1A66905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29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7987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1302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C2F1CE73-9B2A-4DB0-A6DC-160AFEB3B3C9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30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8192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2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17320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9D3CF25B-CC9F-47E8-AE61-495E4DDFB71D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31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8397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397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89770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EF815987-D6D6-4DED-A127-BB1E2E7D60B1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32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8601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602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38252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F7E011E8-9559-400C-843B-02AA87C44D71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33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8806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2173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ADEB6659-82FE-44DC-A7E6-D9654B19D77B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34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9011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66294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7202023D-D284-4C4B-9446-5672CFC8457C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35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9216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6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62581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418CCA0F-C70A-4DEF-A7D0-DF36788CCE3E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36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9421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72633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3EBECA60-1548-48FD-9EE3-5CF3BD100031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37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035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56810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01DD72FE-7D46-4D1A-AA09-A0293B4F6705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38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240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056265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864D5DAE-9596-4D8A-9B5B-751B99DF43AC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39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44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723114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7EE28E73-AC6A-448E-A832-D6247E1CE361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40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64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5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73671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fld id="{4BD346D0-1E1B-47B2-9D07-9513200A5727}" type="slidenum">
              <a:rPr lang="en-US" sz="1200">
                <a:solidFill>
                  <a:srgbClr val="000000"/>
                </a:solidFill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41</a:t>
            </a:fld>
            <a:endParaRPr lang="en-US" sz="1200">
              <a:solidFill>
                <a:srgbClr val="000000"/>
              </a:solidFill>
              <a:ea typeface="DejaVu Sans" charset="0"/>
              <a:cs typeface="DejaVu Sans" charset="0"/>
            </a:endParaRPr>
          </a:p>
        </p:txBody>
      </p:sp>
      <p:sp>
        <p:nvSpPr>
          <p:cNvPr id="10854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20150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9B60FEE-92B2-484E-89D1-400B99903EF7}" type="slidenum">
              <a:rPr lang="en-US"/>
              <a:pPr/>
              <a:t>58</a:t>
            </a:fld>
            <a:endParaRPr lang="en-US"/>
          </a:p>
        </p:txBody>
      </p:sp>
      <p:sp>
        <p:nvSpPr>
          <p:cNvPr id="983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83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847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1DA2ED7-FA06-4A5E-9AAD-24BBDC988EB2}" type="slidenum">
              <a:rPr lang="en-US"/>
              <a:pPr/>
              <a:t>59</a:t>
            </a:fld>
            <a:endParaRPr lang="en-US"/>
          </a:p>
        </p:txBody>
      </p:sp>
      <p:sp>
        <p:nvSpPr>
          <p:cNvPr id="655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18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A1A646-250A-4D5F-A38F-9D993556560E}" type="slidenum">
              <a:rPr lang="en-US"/>
              <a:pPr/>
              <a:t>60</a:t>
            </a:fld>
            <a:endParaRPr lang="en-US"/>
          </a:p>
        </p:txBody>
      </p:sp>
      <p:sp>
        <p:nvSpPr>
          <p:cNvPr id="1003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03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120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903A5EA-3101-4C9A-AE25-901FFD2CD3FB}" type="slidenum">
              <a:rPr lang="en-US"/>
              <a:pPr/>
              <a:t>61</a:t>
            </a:fld>
            <a:endParaRPr lang="en-US"/>
          </a:p>
        </p:txBody>
      </p:sp>
      <p:sp>
        <p:nvSpPr>
          <p:cNvPr id="1013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13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225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8998205-458B-451F-80EC-60CD513118A3}" type="slidenum">
              <a:rPr lang="en-US"/>
              <a:pPr/>
              <a:t>62</a:t>
            </a:fld>
            <a:endParaRPr lang="en-US" dirty="0"/>
          </a:p>
        </p:txBody>
      </p:sp>
      <p:sp>
        <p:nvSpPr>
          <p:cNvPr id="1024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761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46B6DF4-A636-4247-961F-44357C2144A6}" type="slidenum">
              <a:rPr lang="en-US"/>
              <a:pPr/>
              <a:t>63</a:t>
            </a:fld>
            <a:endParaRPr lang="en-US"/>
          </a:p>
        </p:txBody>
      </p:sp>
      <p:sp>
        <p:nvSpPr>
          <p:cNvPr id="1034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34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166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4A4D31A-F52C-445A-AF6B-0FD888E9229C}" type="slidenum">
              <a:rPr lang="en-US"/>
              <a:pPr/>
              <a:t>64</a:t>
            </a:fld>
            <a:endParaRPr lang="en-US"/>
          </a:p>
        </p:txBody>
      </p:sp>
      <p:sp>
        <p:nvSpPr>
          <p:cNvPr id="1044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44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299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CC30685-5040-4C7E-AE80-4D4111D6AB4E}" type="slidenum">
              <a:rPr lang="en-US"/>
              <a:pPr/>
              <a:t>65</a:t>
            </a:fld>
            <a:endParaRPr lang="en-US"/>
          </a:p>
        </p:txBody>
      </p:sp>
      <p:sp>
        <p:nvSpPr>
          <p:cNvPr id="1054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424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86AC935-77B9-4DC1-87BD-2D0AF3B3A3E5}" type="slidenum">
              <a:rPr lang="en-US"/>
              <a:pPr/>
              <a:t>67</a:t>
            </a:fld>
            <a:endParaRPr lang="en-US"/>
          </a:p>
        </p:txBody>
      </p:sp>
      <p:sp>
        <p:nvSpPr>
          <p:cNvPr id="1064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64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701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370D2ED-D657-4359-BBC3-1A4A02DE0E11}" type="slidenum">
              <a:rPr lang="en-US"/>
              <a:pPr/>
              <a:t>68</a:t>
            </a:fld>
            <a:endParaRPr lang="en-US"/>
          </a:p>
        </p:txBody>
      </p:sp>
      <p:sp>
        <p:nvSpPr>
          <p:cNvPr id="1075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450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A3D4A9A-AE05-4C7B-B108-38E74F0CBC37}" type="slidenum">
              <a:rPr lang="en-US"/>
              <a:pPr/>
              <a:t>69</a:t>
            </a:fld>
            <a:endParaRPr lang="en-US"/>
          </a:p>
        </p:txBody>
      </p:sp>
      <p:sp>
        <p:nvSpPr>
          <p:cNvPr id="1085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97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6A461-A670-401B-A02A-4070D84BE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95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1D7F8-6FCC-4212-BFE3-431877E4F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11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955E1-91C7-4805-90DE-B948E3C483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8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3F506-BE0B-455C-8244-4B1364C27B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69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D2A60-DA9A-4689-A04E-2FC1664997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1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2D9D9-BF87-4961-B4C4-63D3192571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7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52C63-FF69-4C62-96E3-5370357FE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06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31D77-1668-4449-A075-13E823746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80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47B70-2263-416D-A61E-5A7EA91B7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104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92B50-85FA-4E12-B12D-D5011CE8C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10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1513" cy="54848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48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F1502-B1D1-4881-ABB0-1D43F7D10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40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6A461-A670-401B-A02A-4070D84BE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76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1D7F8-6FCC-4212-BFE3-431877E4F6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18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955E1-91C7-4805-90DE-B948E3C483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70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13" cy="4113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3810000" cy="41132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83F506-BE0B-455C-8244-4B1364C27B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D2A60-DA9A-4689-A04E-2FC1664997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921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2D9D9-BF87-4961-B4C4-63D3192571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205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52C63-FF69-4C62-96E3-5370357FE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24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31D77-1668-4449-A075-13E823746D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02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647B70-2263-416D-A61E-5A7EA91B7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44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392B50-85FA-4E12-B12D-D5011CE8C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564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1513" cy="54848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48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F1502-B1D1-4881-ABB0-1D43F7D10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03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86AA8-458E-4A4F-AD13-B0B04124F6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2533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3EB9-6B3E-4CC0-A2CB-6B1ED04CBA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665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72BE-3B88-4448-9D14-22C5EB54937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4757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0554-2FC9-4002-A79E-635AA29674D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992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03513-869C-4A96-8299-A1139FD2C5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5248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D81E-083C-45EE-B807-4E79B95778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2140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1299-554B-48CC-965A-BF4495463D1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460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80748-8DD1-475E-B624-BDEAED64B0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1455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5C81-ABA7-4EA6-9A2B-7847E819BF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4992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2C7A2-8CE1-4A33-83B2-49624AB38BC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097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54C9B-22E6-44DE-9981-73455F6EBE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2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0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172200" y="6248400"/>
            <a:ext cx="19034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ts val="13"/>
              </a:spcBef>
              <a:spcAft>
                <a:spcPts val="13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ea typeface="DejaVu Sans" charset="0"/>
                <a:cs typeface="DejaVu Sans" charset="0"/>
              </a:defRPr>
            </a:lvl1pPr>
          </a:lstStyle>
          <a:p>
            <a:pPr defTabSz="457200" eaLnBrk="0" fontAlgn="base" hangingPunct="0">
              <a:defRPr/>
            </a:pPr>
            <a:fld id="{BF2F555D-63AA-49BF-9FD4-A6F82F6812F7}" type="slidenum">
              <a:rPr lang="en-US"/>
              <a:pPr defTabSz="457200" eaLnBrk="0" fontAlgn="base" hangingPunct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2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2pPr>
      <a:lvl3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3pPr>
      <a:lvl4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4pPr>
      <a:lvl5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5pPr>
      <a:lvl6pPr marL="25146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6pPr>
      <a:lvl7pPr marL="29718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7pPr>
      <a:lvl8pPr marL="34290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8pPr>
      <a:lvl9pPr marL="38862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9pPr>
    </p:titleStyle>
    <p:bodyStyle>
      <a:lvl1pPr marL="342900" indent="-342900" algn="l" defTabSz="457200" rtl="0" eaLnBrk="0" fontAlgn="base" hangingPunct="0">
        <a:spcBef>
          <a:spcPts val="8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0813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0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172200" y="6248400"/>
            <a:ext cx="19034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ts val="13"/>
              </a:spcBef>
              <a:spcAft>
                <a:spcPts val="13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 smtClean="0">
                <a:solidFill>
                  <a:srgbClr val="FFFFFF"/>
                </a:solidFill>
                <a:ea typeface="DejaVu Sans" charset="0"/>
                <a:cs typeface="DejaVu Sans" charset="0"/>
              </a:defRPr>
            </a:lvl1pPr>
          </a:lstStyle>
          <a:p>
            <a:pPr defTabSz="457200" eaLnBrk="0" fontAlgn="base" hangingPunct="0">
              <a:defRPr/>
            </a:pPr>
            <a:fld id="{BF2F555D-63AA-49BF-9FD4-A6F82F6812F7}" type="slidenum">
              <a:rPr lang="en-US"/>
              <a:pPr defTabSz="457200" eaLnBrk="0" fontAlgn="base" hangingPunct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55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2pPr>
      <a:lvl3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3pPr>
      <a:lvl4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4pPr>
      <a:lvl5pPr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5pPr>
      <a:lvl6pPr marL="25146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6pPr>
      <a:lvl7pPr marL="29718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7pPr>
      <a:lvl8pPr marL="34290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8pPr>
      <a:lvl9pPr marL="3886200" indent="-228600" algn="ctr" defTabSz="457200" rtl="0" eaLnBrk="0" fontAlgn="base" hangingPunct="0"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00"/>
          </a:solidFill>
          <a:latin typeface="Arial" panose="020B0604020202020204" pitchFamily="34" charset="0"/>
          <a:ea typeface="AR PL SungtiL GB" charset="0"/>
          <a:cs typeface="AR PL SungtiL GB" charset="0"/>
        </a:defRPr>
      </a:lvl9pPr>
    </p:titleStyle>
    <p:bodyStyle>
      <a:lvl1pPr marL="342900" indent="-342900" algn="l" defTabSz="457200" rtl="0" eaLnBrk="0" fontAlgn="base" hangingPunct="0">
        <a:spcBef>
          <a:spcPts val="8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37246-9EE9-4ECB-8BB3-D1F347E5C3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EE78D-3A55-4166-9906-926CAD5E0D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50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Glossary/Falsy" TargetMode="External"/><Relationship Id="rId2" Type="http://schemas.openxmlformats.org/officeDocument/2006/relationships/hyperlink" Target="https://developer.mozilla.org/en-US/docs/Glossary/Truthy" TargetMode="External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1"/>
            <a:ext cx="7772400" cy="2000250"/>
          </a:xfrm>
        </p:spPr>
        <p:txBody>
          <a:bodyPr/>
          <a:lstStyle/>
          <a:p>
            <a:r>
              <a:rPr lang="en-US" dirty="0" smtClean="0"/>
              <a:t>Java script Basics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9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6589ED31-CED1-4A74-A7DA-29EB6D3633E8}" type="slidenum">
              <a:rPr lang="en-US" sz="1400">
                <a:solidFill>
                  <a:schemeClr val="tx1"/>
                </a:solidFill>
              </a:rPr>
              <a:pPr/>
              <a:t>2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dirty="0" smtClean="0"/>
              <a:t>What is JavaScript?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15060"/>
            <a:ext cx="9144000" cy="584293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A programming language of HTML specifically designed to work with Web browsers</a:t>
            </a:r>
          </a:p>
          <a:p>
            <a:pPr>
              <a:lnSpc>
                <a:spcPct val="90000"/>
              </a:lnSpc>
            </a:pPr>
            <a:r>
              <a:rPr lang="en-US" dirty="0"/>
              <a:t>It was developed to make interactive web frontend</a:t>
            </a:r>
            <a:r>
              <a:rPr lang="en-US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It is designed to be used for developing small programs – called scripts – that can be embedded in HTML Web pages</a:t>
            </a:r>
          </a:p>
          <a:p>
            <a:pPr>
              <a:lnSpc>
                <a:spcPct val="90000"/>
              </a:lnSpc>
            </a:pPr>
            <a:r>
              <a:rPr lang="en-US" dirty="0"/>
              <a:t>JavaScript is client side language, which was released in 1995 by Netscape with the help of Sun microsystems for Netscape-2 </a:t>
            </a:r>
            <a:r>
              <a:rPr lang="en-US" dirty="0" smtClean="0"/>
              <a:t>browser.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Who owns trademark of JS ----- Oracle</a:t>
            </a:r>
          </a:p>
          <a:p>
            <a:pPr>
              <a:lnSpc>
                <a:spcPct val="90000"/>
              </a:lnSpc>
            </a:pPr>
            <a:r>
              <a:rPr lang="en-US" dirty="0"/>
              <a:t>Java Script need a engine to convert code into machine language. </a:t>
            </a:r>
          </a:p>
          <a:p>
            <a:pPr>
              <a:lnSpc>
                <a:spcPct val="90000"/>
              </a:lnSpc>
            </a:pPr>
            <a:r>
              <a:rPr lang="en-US" dirty="0"/>
              <a:t>Every Browser has a </a:t>
            </a:r>
            <a:r>
              <a:rPr lang="en-US" dirty="0" err="1"/>
              <a:t>javascript</a:t>
            </a:r>
            <a:r>
              <a:rPr lang="en-US" dirty="0"/>
              <a:t> engine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JavaScript: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Is an interpreted language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Supports event-driven programming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Is object-based</a:t>
            </a:r>
          </a:p>
        </p:txBody>
      </p:sp>
    </p:spTree>
    <p:extLst>
      <p:ext uri="{BB962C8B-B14F-4D97-AF65-F5344CB8AC3E}">
        <p14:creationId xmlns:p14="http://schemas.microsoft.com/office/powerpoint/2010/main" val="392099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9DF51E81-65F0-4BC9-B007-6CA31E86AA10}" type="slidenum">
              <a:rPr lang="en-US" sz="1400">
                <a:solidFill>
                  <a:schemeClr val="tx1"/>
                </a:solidFill>
              </a:rPr>
              <a:pPr/>
              <a:t>3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r>
              <a:rPr lang="en-US" dirty="0" smtClean="0"/>
              <a:t>Object Based?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" y="1337256"/>
            <a:ext cx="8915400" cy="4572000"/>
          </a:xfrm>
        </p:spPr>
        <p:txBody>
          <a:bodyPr/>
          <a:lstStyle/>
          <a:p>
            <a:r>
              <a:rPr lang="en-US" dirty="0" smtClean="0"/>
              <a:t>Everything that JavaScript manipulates, it treats as an </a:t>
            </a:r>
            <a:r>
              <a:rPr lang="en-US" i="1" dirty="0" smtClean="0"/>
              <a:t>object – </a:t>
            </a:r>
            <a:r>
              <a:rPr lang="en-US" dirty="0" smtClean="0"/>
              <a:t>e.g. a links or a button etc.</a:t>
            </a:r>
          </a:p>
          <a:p>
            <a:endParaRPr lang="en-US" dirty="0" smtClean="0"/>
          </a:p>
          <a:p>
            <a:r>
              <a:rPr lang="en-US" dirty="0" smtClean="0"/>
              <a:t>An object has </a:t>
            </a:r>
            <a:r>
              <a:rPr lang="en-US" i="1" dirty="0" smtClean="0"/>
              <a:t>properties – </a:t>
            </a:r>
            <a:r>
              <a:rPr lang="en-US" dirty="0" smtClean="0"/>
              <a:t>e.g. a Margins, position, paddings, colors etc.</a:t>
            </a:r>
            <a:endParaRPr lang="en-US" i="1" dirty="0" smtClean="0"/>
          </a:p>
          <a:p>
            <a:endParaRPr lang="en-US" dirty="0" smtClean="0"/>
          </a:p>
          <a:p>
            <a:r>
              <a:rPr lang="en-US" dirty="0" smtClean="0"/>
              <a:t>Properties are modified with </a:t>
            </a:r>
            <a:r>
              <a:rPr lang="en-US" i="1" dirty="0" smtClean="0"/>
              <a:t>methods</a:t>
            </a:r>
            <a:r>
              <a:rPr lang="en-US" dirty="0" smtClean="0"/>
              <a:t>. 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415172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69065A3C-069C-4445-A9F9-50850D9A7F92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4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0" y="-37563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Object-Based, Not Object-Oriented!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8153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JavaScript is not a true object-oriented language like C++ or Java</a:t>
            </a:r>
          </a:p>
          <a:p>
            <a:pPr>
              <a:lnSpc>
                <a:spcPct val="90000"/>
              </a:lnSpc>
              <a:spcBef>
                <a:spcPts val="813"/>
              </a:spcBef>
              <a:buClr>
                <a:srgbClr val="00FF00"/>
              </a:buClr>
              <a:buFont typeface="Arial" panose="020B0604020202020204" pitchFamily="34" charset="0"/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It is so because it lacks two key features:</a:t>
            </a:r>
          </a:p>
          <a:p>
            <a:pPr lvl="1">
              <a:lnSpc>
                <a:spcPct val="90000"/>
              </a:lnSpc>
              <a:spcBef>
                <a:spcPts val="713"/>
              </a:spcBef>
              <a:buClr>
                <a:srgbClr val="FFFFFF"/>
              </a:buClr>
              <a:buFont typeface="Arial" panose="020B0604020202020204" pitchFamily="34" charset="0"/>
              <a:buChar char="–"/>
            </a:pPr>
            <a:r>
              <a:rPr lang="en-US" dirty="0">
                <a:solidFill>
                  <a:schemeClr val="tx1"/>
                </a:solidFill>
              </a:rPr>
              <a:t>A formal inheritance mechanism</a:t>
            </a:r>
          </a:p>
          <a:p>
            <a:pPr lvl="1">
              <a:lnSpc>
                <a:spcPct val="90000"/>
              </a:lnSpc>
              <a:spcBef>
                <a:spcPts val="713"/>
              </a:spcBef>
              <a:buClr>
                <a:srgbClr val="FFFFFF"/>
              </a:buClr>
              <a:buFont typeface="Arial" panose="020B0604020202020204" pitchFamily="34" charset="0"/>
              <a:buChar char="–"/>
            </a:pPr>
            <a:r>
              <a:rPr lang="en-US" dirty="0">
                <a:solidFill>
                  <a:schemeClr val="tx1"/>
                </a:solidFill>
              </a:rPr>
              <a:t>Strong typing</a:t>
            </a:r>
          </a:p>
          <a:p>
            <a:pPr>
              <a:lnSpc>
                <a:spcPct val="90000"/>
              </a:lnSpc>
              <a:spcBef>
                <a:spcPts val="813"/>
              </a:spcBef>
              <a:buClr>
                <a:srgbClr val="FFFF00"/>
              </a:buClr>
              <a:buFont typeface="Arial" panose="020B0604020202020204" pitchFamily="34" charset="0"/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Nevertheless, JavaScript shares many similarities with object-oriented languages, and therefore is called an object-based language</a:t>
            </a:r>
          </a:p>
        </p:txBody>
      </p:sp>
    </p:spTree>
    <p:extLst>
      <p:ext uri="{BB962C8B-B14F-4D97-AF65-F5344CB8AC3E}">
        <p14:creationId xmlns:p14="http://schemas.microsoft.com/office/powerpoint/2010/main" val="212183291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fld id="{119B97AA-2840-4759-920A-9A9CC7C4B445}" type="slidenum">
              <a:rPr lang="en-US" sz="1400">
                <a:solidFill>
                  <a:schemeClr val="tx1"/>
                </a:solidFill>
              </a:rPr>
              <a:pPr/>
              <a:t>5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44450"/>
            <a:ext cx="7772400" cy="1143000"/>
          </a:xfrm>
        </p:spPr>
        <p:txBody>
          <a:bodyPr/>
          <a:lstStyle/>
          <a:p>
            <a:r>
              <a:rPr lang="en-US" dirty="0" smtClean="0"/>
              <a:t>Why JavaScript?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915400" cy="4114800"/>
          </a:xfrm>
        </p:spPr>
        <p:txBody>
          <a:bodyPr/>
          <a:lstStyle/>
          <a:p>
            <a:r>
              <a:rPr lang="en-US" dirty="0" smtClean="0"/>
              <a:t>HTML is great for static Web pages; however, supports only rudimentary interactivity through forms and hyperlinks</a:t>
            </a:r>
          </a:p>
          <a:p>
            <a:endParaRPr lang="en-US" dirty="0" smtClean="0"/>
          </a:p>
          <a:p>
            <a:r>
              <a:rPr lang="en-US" dirty="0" smtClean="0"/>
              <a:t>JavaScript can be used (along with HTML) to develop interactive content for the Web</a:t>
            </a:r>
          </a:p>
        </p:txBody>
      </p:sp>
    </p:spTree>
    <p:extLst>
      <p:ext uri="{BB962C8B-B14F-4D97-AF65-F5344CB8AC3E}">
        <p14:creationId xmlns:p14="http://schemas.microsoft.com/office/powerpoint/2010/main" val="87799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java script can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Javascript</a:t>
            </a:r>
            <a:r>
              <a:rPr lang="en-US" b="1" dirty="0" smtClean="0"/>
              <a:t> Can Make Pages Alive</a:t>
            </a:r>
          </a:p>
          <a:p>
            <a:r>
              <a:rPr lang="en-US" b="1" dirty="0" smtClean="0"/>
              <a:t>JavaScript </a:t>
            </a:r>
            <a:r>
              <a:rPr lang="en-US" b="1" dirty="0"/>
              <a:t>Can Change HTML Content</a:t>
            </a:r>
          </a:p>
          <a:p>
            <a:r>
              <a:rPr lang="en-US" b="1" dirty="0"/>
              <a:t>JavaScript Can Change HTML Attributes</a:t>
            </a:r>
          </a:p>
          <a:p>
            <a:r>
              <a:rPr lang="en-US" b="1" dirty="0"/>
              <a:t>JavaScript Can Change HTML Styles (CSS)</a:t>
            </a:r>
          </a:p>
          <a:p>
            <a:r>
              <a:rPr lang="en-US" b="1" dirty="0"/>
              <a:t>JavaScript Can Validate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6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1BA2AE-2B57-4E9B-A4EE-F911D944B33B}" type="slidenum">
              <a:rPr 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sz="140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800" dirty="0" smtClean="0"/>
              <a:t>Some of things that JavaScript </a:t>
            </a:r>
            <a:r>
              <a:rPr lang="en-US" sz="3800" b="1" u="sng" dirty="0" smtClean="0">
                <a:solidFill>
                  <a:srgbClr val="FF0000"/>
                </a:solidFill>
              </a:rPr>
              <a:t>cannot</a:t>
            </a:r>
            <a:r>
              <a:rPr lang="en-US" sz="3800" dirty="0" smtClean="0">
                <a:solidFill>
                  <a:srgbClr val="FF0000"/>
                </a:solidFill>
              </a:rPr>
              <a:t> </a:t>
            </a:r>
            <a:r>
              <a:rPr lang="en-US" sz="3800" dirty="0" smtClean="0"/>
              <a:t>do!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94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The following file ops. on the client computer: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Read			-- Modify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Rename		-- Delete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Create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Create graphics (although, it does have the ability to format pages through HTML - including the placement of graphics)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Any network programming bar one function: the ability to download a file to the browser specified through an arbitrary URL</a:t>
            </a:r>
          </a:p>
        </p:txBody>
      </p:sp>
    </p:spTree>
    <p:extLst>
      <p:ext uri="{BB962C8B-B14F-4D97-AF65-F5344CB8AC3E}">
        <p14:creationId xmlns:p14="http://schemas.microsoft.com/office/powerpoint/2010/main" val="41068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E2DB1D-FA29-4530-8340-4A75E74BF015}" type="slidenum">
              <a:rPr 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sz="1400" smtClean="0"/>
          </a:p>
        </p:txBody>
      </p:sp>
      <p:sp>
        <p:nvSpPr>
          <p:cNvPr id="1433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/>
          <a:lstStyle/>
          <a:p>
            <a:r>
              <a:rPr lang="en-US" smtClean="0"/>
              <a:t>Case Sensitivity</a:t>
            </a:r>
          </a:p>
        </p:txBody>
      </p:sp>
      <p:sp>
        <p:nvSpPr>
          <p:cNvPr id="1434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839200" cy="571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HTML is </a:t>
            </a:r>
            <a:r>
              <a:rPr lang="en-US" i="1" dirty="0" smtClean="0"/>
              <a:t>not </a:t>
            </a:r>
            <a:r>
              <a:rPr lang="en-US" dirty="0" smtClean="0"/>
              <a:t>case sensitive.  The following mean the same to the browser: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&lt;HTML&gt;		-- &lt;html&gt;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&lt;Html&gt;			-- &lt;</a:t>
            </a:r>
            <a:r>
              <a:rPr lang="en-US" dirty="0" err="1" smtClean="0"/>
              <a:t>htMl</a:t>
            </a:r>
            <a:r>
              <a:rPr lang="en-US" dirty="0" smtClean="0"/>
              <a:t>&gt;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JavaScript </a:t>
            </a:r>
            <a:r>
              <a:rPr lang="en-US" i="1" dirty="0" smtClean="0"/>
              <a:t>is</a:t>
            </a:r>
            <a:r>
              <a:rPr lang="en-US" dirty="0" smtClean="0"/>
              <a:t> case sensitive.  Only the first of the following will result in the desired function – the rest will generate an error or some other undesirable event:</a:t>
            </a:r>
          </a:p>
          <a:p>
            <a:pPr lvl="1">
              <a:lnSpc>
                <a:spcPct val="90000"/>
              </a:lnSpc>
            </a:pPr>
            <a:r>
              <a:rPr lang="en-US" dirty="0" err="1" smtClean="0"/>
              <a:t>onMouseClick</a:t>
            </a:r>
            <a:r>
              <a:rPr lang="en-US" dirty="0" smtClean="0"/>
              <a:t>	-- </a:t>
            </a:r>
            <a:r>
              <a:rPr lang="en-US" dirty="0" err="1" smtClean="0"/>
              <a:t>OnMouseClick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err="1" smtClean="0"/>
              <a:t>onmouseclick</a:t>
            </a:r>
            <a:r>
              <a:rPr lang="en-US" dirty="0" smtClean="0"/>
              <a:t>	-- ONMOUSECLICK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1455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The Document Object</a:t>
            </a:r>
          </a:p>
          <a:p>
            <a:r>
              <a:rPr lang="en-US" dirty="0"/>
              <a:t>When an HTML document is loaded into a web browser, it becomes a </a:t>
            </a:r>
            <a:r>
              <a:rPr lang="en-US" b="1" dirty="0"/>
              <a:t>document object</a:t>
            </a:r>
            <a:r>
              <a:rPr lang="en-US" dirty="0"/>
              <a:t>.</a:t>
            </a:r>
          </a:p>
          <a:p>
            <a:r>
              <a:rPr lang="en-US" dirty="0"/>
              <a:t>The document object is the root node of the HTML document and the "owner" of all other nodes:</a:t>
            </a:r>
            <a:br>
              <a:rPr lang="en-US" dirty="0"/>
            </a:br>
            <a:r>
              <a:rPr lang="en-US" dirty="0"/>
              <a:t>(element nodes, text nodes, attribute nodes, and comment nodes).</a:t>
            </a:r>
          </a:p>
          <a:p>
            <a:r>
              <a:rPr lang="en-US" dirty="0"/>
              <a:t>The document object provides properties and methods to access all node objects, from within JavaScript.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1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Attr</a:t>
            </a:r>
            <a:r>
              <a:rPr lang="en-US" b="1" dirty="0"/>
              <a:t> Object</a:t>
            </a:r>
          </a:p>
          <a:p>
            <a:r>
              <a:rPr lang="en-US" dirty="0"/>
              <a:t>In the HTML DOM, the </a:t>
            </a:r>
            <a:r>
              <a:rPr lang="en-US" b="1" dirty="0" err="1"/>
              <a:t>Attr</a:t>
            </a:r>
            <a:r>
              <a:rPr lang="en-US" b="1" dirty="0"/>
              <a:t> object</a:t>
            </a:r>
            <a:r>
              <a:rPr lang="en-US" dirty="0"/>
              <a:t> represents an HTML attribute.</a:t>
            </a:r>
          </a:p>
          <a:p>
            <a:r>
              <a:rPr lang="en-US" dirty="0"/>
              <a:t>An HTML attribute always belongs to an HTML element.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0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"/>
            <a:ext cx="7772399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250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JavaScript Variables</a:t>
            </a:r>
            <a:endParaRPr lang="en-US" sz="48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738699"/>
            <a:ext cx="8229600" cy="4426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Variables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Variables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containers for storing data (storing data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values).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Ways to Declare a JavaScript Variable: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(can’t</a:t>
            </a:r>
            <a:r>
              <a:rPr kumimoji="0" lang="en-US" altLang="en-US" sz="2000" i="0" u="none" strike="noStrike" cap="none" normalizeH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block scope)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 let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have block scope)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(assigns constant value)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3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const</a:t>
            </a:r>
            <a:r>
              <a:rPr lang="en-US" dirty="0"/>
              <a:t> pi = 3.14;</a:t>
            </a:r>
          </a:p>
          <a:p>
            <a:r>
              <a:rPr lang="en-US" dirty="0" smtClean="0"/>
              <a:t>pi </a:t>
            </a:r>
            <a:r>
              <a:rPr lang="en-US" dirty="0"/>
              <a:t>= 3.14159; </a:t>
            </a:r>
            <a:r>
              <a:rPr lang="en-US" dirty="0" smtClean="0"/>
              <a:t>	Error</a:t>
            </a:r>
            <a:r>
              <a:rPr lang="en-US" dirty="0"/>
              <a:t>: Assignment to a constant variable</a:t>
            </a:r>
          </a:p>
          <a:p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person = { name: 'John' };</a:t>
            </a:r>
          </a:p>
          <a:p>
            <a:r>
              <a:rPr lang="en-US" dirty="0" err="1"/>
              <a:t>person.age</a:t>
            </a:r>
            <a:r>
              <a:rPr lang="en-US" dirty="0"/>
              <a:t> = 30; 	</a:t>
            </a:r>
            <a:r>
              <a:rPr lang="en-US" dirty="0" smtClean="0"/>
              <a:t>Valid</a:t>
            </a:r>
            <a:r>
              <a:rPr lang="en-US" dirty="0"/>
              <a:t>, as the object itself is still mutable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let counter = 0;</a:t>
            </a:r>
          </a:p>
          <a:p>
            <a:r>
              <a:rPr lang="en-US" dirty="0"/>
              <a:t>counter = 1; 	</a:t>
            </a:r>
            <a:r>
              <a:rPr lang="en-US" dirty="0" smtClean="0"/>
              <a:t>Valid</a:t>
            </a:r>
            <a:r>
              <a:rPr lang="en-US" dirty="0"/>
              <a:t>, as let allows reassignment</a:t>
            </a:r>
          </a:p>
          <a:p>
            <a:endParaRPr lang="en-US" dirty="0"/>
          </a:p>
          <a:p>
            <a:r>
              <a:rPr lang="en-US" dirty="0"/>
              <a:t>let message;</a:t>
            </a:r>
          </a:p>
          <a:p>
            <a:r>
              <a:rPr lang="en-US" dirty="0"/>
              <a:t>message = 'Hello, World!'; </a:t>
            </a:r>
            <a:r>
              <a:rPr lang="en-US" dirty="0" smtClean="0"/>
              <a:t>	Valid</a:t>
            </a:r>
            <a:r>
              <a:rPr lang="en-US" dirty="0"/>
              <a:t>, can be declared </a:t>
            </a:r>
            <a:r>
              <a:rPr lang="en-US" dirty="0" smtClean="0"/>
              <a:t>					without </a:t>
            </a:r>
            <a:r>
              <a:rPr lang="en-US" dirty="0"/>
              <a:t>an initial value</a:t>
            </a:r>
          </a:p>
        </p:txBody>
      </p:sp>
    </p:spTree>
    <p:extLst>
      <p:ext uri="{BB962C8B-B14F-4D97-AF65-F5344CB8AC3E}">
        <p14:creationId xmlns:p14="http://schemas.microsoft.com/office/powerpoint/2010/main" val="72498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JavaScript Variables</a:t>
            </a:r>
            <a:endParaRPr lang="en-US" sz="48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7700" y="1652764"/>
            <a:ext cx="7848600" cy="433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5;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= 6;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 = x + y;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("demo").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value of z is: " + z;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</a:t>
            </a: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01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Variable Type Conversion &amp; Operations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String(number):</a:t>
            </a:r>
            <a:r>
              <a:rPr lang="en-US" dirty="0" smtClean="0"/>
              <a:t> This will convert number into string.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Number(string):</a:t>
            </a:r>
            <a:r>
              <a:rPr lang="en-US" dirty="0" smtClean="0"/>
              <a:t> This will convert string into number.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Boolean(number):</a:t>
            </a:r>
            <a:r>
              <a:rPr lang="en-US" dirty="0" smtClean="0"/>
              <a:t> This will return true.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Boolean(!number):</a:t>
            </a:r>
            <a:r>
              <a:rPr lang="en-US" dirty="0" smtClean="0"/>
              <a:t> This will return false.</a:t>
            </a:r>
          </a:p>
          <a:p>
            <a:pPr marL="0" indent="0">
              <a:buNone/>
            </a:pPr>
            <a:r>
              <a:rPr lang="en-US" dirty="0" smtClean="0"/>
              <a:t>JavaScript use triple equal sign for comparison as </a:t>
            </a:r>
            <a:r>
              <a:rPr lang="en-US" dirty="0" smtClean="0">
                <a:solidFill>
                  <a:srgbClr val="FF0000"/>
                </a:solidFill>
              </a:rPr>
              <a:t>a===b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a!==b</a:t>
            </a:r>
            <a:r>
              <a:rPr lang="en-US" dirty="0" smtClean="0"/>
              <a:t> for not equal.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 Industry-Academia Bridge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8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Alerts and prompts and confirm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 </a:t>
            </a:r>
          </a:p>
          <a:p>
            <a:pPr marL="457200" lvl="1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only text on screen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</a:t>
            </a:r>
          </a:p>
          <a:p>
            <a:pPr marL="400050" lvl="1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message asking the user to input text. It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returns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 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message and waits for the user to press</a:t>
            </a:r>
          </a:p>
          <a:p>
            <a:pPr marL="0" indent="0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79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Alerts and prompts and confirm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</a:p>
          <a:p>
            <a:pPr lvl="1"/>
            <a:r>
              <a:rPr lang="en-US" dirty="0"/>
              <a:t>alert("Hello");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prompt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prompt('How old are you?', 100);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(`You are ${age} years old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!`);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Confirm</a:t>
            </a:r>
          </a:p>
          <a:p>
            <a:pPr lvl="1"/>
            <a:r>
              <a:rPr lang="en-US" sz="2400" dirty="0"/>
              <a:t>let </a:t>
            </a:r>
            <a:r>
              <a:rPr lang="en-US" sz="2400" dirty="0" err="1"/>
              <a:t>isBoss</a:t>
            </a:r>
            <a:r>
              <a:rPr lang="en-US" sz="2400" dirty="0"/>
              <a:t> = confirm("Are you the boss?"); </a:t>
            </a:r>
            <a:endParaRPr lang="en-US" sz="2400" dirty="0" smtClean="0"/>
          </a:p>
          <a:p>
            <a:pPr lvl="1"/>
            <a:r>
              <a:rPr lang="en-US" sz="2400" dirty="0" smtClean="0"/>
              <a:t>alert</a:t>
            </a:r>
            <a:r>
              <a:rPr lang="en-US" sz="2400" dirty="0"/>
              <a:t>( </a:t>
            </a:r>
            <a:r>
              <a:rPr lang="en-US" sz="2400" dirty="0" err="1"/>
              <a:t>isBoss</a:t>
            </a:r>
            <a:r>
              <a:rPr lang="en-US" sz="2400" dirty="0"/>
              <a:t> </a:t>
            </a:r>
            <a:r>
              <a:rPr lang="en-US" sz="2400" dirty="0" smtClean="0"/>
              <a:t>);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321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E6CCBB5B-FB11-4C67-A16A-B495B03479B0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18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54275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dirty="0" smtClean="0">
                <a:solidFill>
                  <a:srgbClr val="FFFF00"/>
                </a:solidFill>
              </a:rPr>
              <a:t>JavaScript Literals/primitives</a:t>
            </a:r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0" y="11430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 marL="1371600" indent="-4572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9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00FF00"/>
                </a:solidFill>
              </a:rPr>
              <a:t>data value that appears directly</a:t>
            </a:r>
            <a:r>
              <a:rPr lang="en-US" sz="3600" smtClean="0">
                <a:solidFill>
                  <a:srgbClr val="FFFFFF"/>
                </a:solidFill>
              </a:rPr>
              <a:t> in a statement</a:t>
            </a:r>
          </a:p>
          <a:p>
            <a:pPr defTabSz="457200" eaLnBrk="0" fontAlgn="base" hangingPunct="0">
              <a:spcBef>
                <a:spcPts val="9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9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600" smtClean="0">
                <a:solidFill>
                  <a:srgbClr val="FFFFFF"/>
                </a:solidFill>
              </a:rPr>
              <a:t>Literals can be of several types.  Some of them are:</a:t>
            </a:r>
          </a:p>
          <a:p>
            <a:pPr lvl="2" defTabSz="457200" eaLnBrk="0" fontAlgn="base" hangingPunct="0">
              <a:spcBef>
                <a:spcPts val="813"/>
              </a:spcBef>
              <a:buClr>
                <a:srgbClr val="FFFF00"/>
              </a:buClr>
              <a:buFont typeface="Arial" panose="020B0604020202020204" pitchFamily="34" charset="0"/>
              <a:buAutoNum type="arabicPeriod"/>
            </a:pPr>
            <a:r>
              <a:rPr lang="en-US" sz="3200" smtClean="0">
                <a:solidFill>
                  <a:srgbClr val="FFFF00"/>
                </a:solidFill>
              </a:rPr>
              <a:t>Number</a:t>
            </a:r>
          </a:p>
          <a:p>
            <a:pPr lvl="2" defTabSz="457200" eaLnBrk="0" fontAlgn="base" hangingPunct="0">
              <a:spcBef>
                <a:spcPts val="813"/>
              </a:spcBef>
              <a:buClr>
                <a:srgbClr val="FFFF00"/>
              </a:buClr>
              <a:buFont typeface="Arial" panose="020B0604020202020204" pitchFamily="34" charset="0"/>
              <a:buAutoNum type="arabicPeriod"/>
            </a:pPr>
            <a:r>
              <a:rPr lang="en-US" sz="3200" smtClean="0">
                <a:solidFill>
                  <a:srgbClr val="FFFF00"/>
                </a:solidFill>
              </a:rPr>
              <a:t>String</a:t>
            </a:r>
          </a:p>
          <a:p>
            <a:pPr lvl="2" defTabSz="457200" eaLnBrk="0" fontAlgn="base" hangingPunct="0">
              <a:spcBef>
                <a:spcPts val="813"/>
              </a:spcBef>
              <a:buClr>
                <a:srgbClr val="FFFF00"/>
              </a:buClr>
              <a:buFont typeface="Arial" panose="020B0604020202020204" pitchFamily="34" charset="0"/>
              <a:buAutoNum type="arabicPeriod"/>
            </a:pPr>
            <a:r>
              <a:rPr lang="en-US" sz="3200" smtClean="0">
                <a:solidFill>
                  <a:srgbClr val="FFFF00"/>
                </a:solidFill>
              </a:rPr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29393560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97AB03E4-0207-4FB7-B7C1-897B92FDE956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19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56323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Numeric Literals</a:t>
            </a:r>
          </a:p>
        </p:txBody>
      </p:sp>
      <p:sp>
        <p:nvSpPr>
          <p:cNvPr id="56324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534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24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-230000000000000000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9.80665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1.67e-27</a:t>
            </a:r>
          </a:p>
          <a:p>
            <a:pPr marL="742950" lvl="1" indent="-285750"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i="1" smtClean="0">
                <a:solidFill>
                  <a:srgbClr val="FFFFFF"/>
                </a:solidFill>
              </a:rPr>
              <a:t>JavaScript </a:t>
            </a:r>
            <a:r>
              <a:rPr lang="en-US" sz="3600" i="1" smtClean="0">
                <a:solidFill>
                  <a:srgbClr val="00FF00"/>
                </a:solidFill>
              </a:rPr>
              <a:t>stores</a:t>
            </a:r>
            <a:r>
              <a:rPr lang="en-US" sz="3600" i="1" smtClean="0">
                <a:solidFill>
                  <a:srgbClr val="FFFFFF"/>
                </a:solidFill>
              </a:rPr>
              <a:t> all numbers, even integers, as floating-point numbers</a:t>
            </a:r>
          </a:p>
          <a:p>
            <a:pPr marL="742950" lvl="1" indent="-285750"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2947433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DC6BD8A6-2A60-4ECF-9F44-646EC88E7051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20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58371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String Literals</a:t>
            </a:r>
          </a:p>
        </p:txBody>
      </p:sp>
      <p:sp>
        <p:nvSpPr>
          <p:cNvPr id="58372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534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“”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‘’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‘Bhola’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“Where is the Bhola Continental Hotel?”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i="1" smtClean="0">
                <a:solidFill>
                  <a:srgbClr val="FFFFFF"/>
                </a:solidFill>
              </a:rPr>
              <a:t>String literals are always </a:t>
            </a:r>
            <a:r>
              <a:rPr lang="en-US" sz="3600" i="1" smtClean="0">
                <a:solidFill>
                  <a:srgbClr val="00FF00"/>
                </a:solidFill>
              </a:rPr>
              <a:t>enclosed</a:t>
            </a:r>
            <a:r>
              <a:rPr lang="en-US" sz="3600" i="1" smtClean="0">
                <a:solidFill>
                  <a:srgbClr val="FFFFFF"/>
                </a:solidFill>
              </a:rPr>
              <a:t> in a </a:t>
            </a:r>
            <a:r>
              <a:rPr lang="en-US" sz="3600" i="1" smtClean="0">
                <a:solidFill>
                  <a:srgbClr val="00FF00"/>
                </a:solidFill>
              </a:rPr>
              <a:t>matching pair</a:t>
            </a:r>
            <a:r>
              <a:rPr lang="en-US" sz="3600" i="1" smtClean="0">
                <a:solidFill>
                  <a:srgbClr val="FFFFFF"/>
                </a:solidFill>
              </a:rPr>
              <a:t> of single or double </a:t>
            </a:r>
            <a:r>
              <a:rPr lang="en-US" sz="3600" i="1" smtClean="0">
                <a:solidFill>
                  <a:srgbClr val="00FF00"/>
                </a:solidFill>
              </a:rPr>
              <a:t>quotes</a:t>
            </a:r>
          </a:p>
        </p:txBody>
      </p:sp>
    </p:spTree>
    <p:extLst>
      <p:ext uri="{BB962C8B-B14F-4D97-AF65-F5344CB8AC3E}">
        <p14:creationId xmlns:p14="http://schemas.microsoft.com/office/powerpoint/2010/main" val="1274708293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90AD6B81-291E-4A33-B099-1688BEE934AD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21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60419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Boolean Literals</a:t>
            </a:r>
          </a:p>
        </p:txBody>
      </p:sp>
      <p:sp>
        <p:nvSpPr>
          <p:cNvPr id="60420" name="Text Box 3"/>
          <p:cNvSpPr txBox="1">
            <a:spLocks noChangeArrowheads="1"/>
          </p:cNvSpPr>
          <p:nvPr/>
        </p:nvSpPr>
        <p:spPr bwMode="auto">
          <a:xfrm>
            <a:off x="0" y="11430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true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false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if ( </a:t>
            </a:r>
            <a:r>
              <a:rPr lang="en-US" sz="3600" smtClean="0">
                <a:solidFill>
                  <a:srgbClr val="FFFFFF"/>
                </a:solidFill>
              </a:rPr>
              <a:t>tankFull</a:t>
            </a:r>
            <a:r>
              <a:rPr lang="en-US" sz="3600" smtClean="0">
                <a:solidFill>
                  <a:srgbClr val="FF66FF"/>
                </a:solidFill>
              </a:rPr>
              <a:t> == false)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		</a:t>
            </a:r>
            <a:r>
              <a:rPr lang="en-US" sz="3600" smtClean="0">
                <a:solidFill>
                  <a:srgbClr val="FFFFFF"/>
                </a:solidFill>
              </a:rPr>
              <a:t>addMoreWater</a:t>
            </a:r>
            <a:r>
              <a:rPr lang="en-US" sz="3600" smtClean="0">
                <a:solidFill>
                  <a:srgbClr val="FF66FF"/>
                </a:solidFill>
              </a:rPr>
              <a:t> = true</a:t>
            </a:r>
          </a:p>
          <a:p>
            <a:pPr algn="ctr"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73602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FF395D38-E5CC-4845-BD5D-7E400D2A8C26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22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62467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JavaScript Operators</a:t>
            </a:r>
          </a:p>
        </p:txBody>
      </p:sp>
      <p:sp>
        <p:nvSpPr>
          <p:cNvPr id="62468" name="Text Box 3"/>
          <p:cNvSpPr txBox="1">
            <a:spLocks noChangeArrowheads="1"/>
          </p:cNvSpPr>
          <p:nvPr/>
        </p:nvSpPr>
        <p:spPr bwMode="auto">
          <a:xfrm>
            <a:off x="0" y="838200"/>
            <a:ext cx="9144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Operators </a:t>
            </a:r>
            <a:r>
              <a:rPr lang="en-US" sz="3200" smtClean="0">
                <a:solidFill>
                  <a:srgbClr val="00FF00"/>
                </a:solidFill>
              </a:rPr>
              <a:t>operate</a:t>
            </a:r>
            <a:r>
              <a:rPr lang="en-US" sz="3200" smtClean="0">
                <a:solidFill>
                  <a:srgbClr val="FFFFFF"/>
                </a:solidFill>
              </a:rPr>
              <a:t> on </a:t>
            </a:r>
            <a:r>
              <a:rPr lang="en-US" sz="3200" smtClean="0">
                <a:solidFill>
                  <a:srgbClr val="00FF00"/>
                </a:solidFill>
              </a:rPr>
              <a:t>operands </a:t>
            </a:r>
            <a:r>
              <a:rPr lang="en-US" sz="3200" smtClean="0">
                <a:solidFill>
                  <a:srgbClr val="FFFFFF"/>
                </a:solidFill>
              </a:rPr>
              <a:t>to achieve the desired </a:t>
            </a:r>
            <a:r>
              <a:rPr lang="en-US" sz="3200" smtClean="0">
                <a:solidFill>
                  <a:srgbClr val="FFFF00"/>
                </a:solidFill>
              </a:rPr>
              <a:t>results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4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1600" smtClean="0">
              <a:solidFill>
                <a:srgbClr val="FFFFFF"/>
              </a:solidFill>
            </a:endParaRPr>
          </a:p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JavaScript has numerous operators, classified in many categories. We will look at only a few of them belonging to the following categories: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00FF00"/>
              </a:buClr>
              <a:buFont typeface="Arial" panose="020B0604020202020204" pitchFamily="34" charset="0"/>
              <a:buChar char="–"/>
            </a:pPr>
            <a:r>
              <a:rPr lang="en-US" smtClean="0">
                <a:solidFill>
                  <a:srgbClr val="00FF00"/>
                </a:solidFill>
              </a:rPr>
              <a:t>Assignment</a:t>
            </a:r>
            <a:r>
              <a:rPr lang="en-US" smtClean="0">
                <a:solidFill>
                  <a:srgbClr val="FFFFFF"/>
                </a:solidFill>
              </a:rPr>
              <a:t> operators	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00FF00"/>
              </a:buClr>
              <a:buFont typeface="Arial" panose="020B0604020202020204" pitchFamily="34" charset="0"/>
              <a:buChar char="–"/>
            </a:pPr>
            <a:r>
              <a:rPr lang="en-US" smtClean="0">
                <a:solidFill>
                  <a:srgbClr val="FFFFFF"/>
                </a:solidFill>
              </a:rPr>
              <a:t> </a:t>
            </a:r>
            <a:r>
              <a:rPr lang="en-US" smtClean="0">
                <a:solidFill>
                  <a:srgbClr val="FFFF00"/>
                </a:solidFill>
              </a:rPr>
              <a:t>Arithmetic</a:t>
            </a:r>
            <a:r>
              <a:rPr lang="en-US" smtClean="0">
                <a:solidFill>
                  <a:srgbClr val="FFFFFF"/>
                </a:solidFill>
              </a:rPr>
              <a:t> operators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FFFF00"/>
              </a:buClr>
              <a:buFont typeface="Arial" panose="020B0604020202020204" pitchFamily="34" charset="0"/>
              <a:buChar char="–"/>
            </a:pPr>
            <a:r>
              <a:rPr lang="en-US" smtClean="0">
                <a:solidFill>
                  <a:srgbClr val="FFFF00"/>
                </a:solidFill>
              </a:rPr>
              <a:t>Comparison</a:t>
            </a:r>
            <a:r>
              <a:rPr lang="en-US" smtClean="0">
                <a:solidFill>
                  <a:srgbClr val="FFFFFF"/>
                </a:solidFill>
              </a:rPr>
              <a:t> operators	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FFFF00"/>
              </a:buClr>
              <a:buFont typeface="Arial" panose="020B0604020202020204" pitchFamily="34" charset="0"/>
              <a:buChar char="–"/>
            </a:pPr>
            <a:r>
              <a:rPr lang="en-US" smtClean="0">
                <a:solidFill>
                  <a:srgbClr val="00FF00"/>
                </a:solidFill>
              </a:rPr>
              <a:t>String</a:t>
            </a:r>
            <a:r>
              <a:rPr lang="en-US" smtClean="0">
                <a:solidFill>
                  <a:srgbClr val="FFFFFF"/>
                </a:solidFill>
              </a:rPr>
              <a:t> operators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00FF00"/>
              </a:buClr>
              <a:buFont typeface="Arial" panose="020B0604020202020204" pitchFamily="34" charset="0"/>
              <a:buChar char="–"/>
            </a:pPr>
            <a:r>
              <a:rPr lang="en-US" smtClean="0">
                <a:solidFill>
                  <a:srgbClr val="00FF00"/>
                </a:solidFill>
              </a:rPr>
              <a:t>Logical</a:t>
            </a:r>
            <a:r>
              <a:rPr lang="en-US" smtClean="0">
                <a:solidFill>
                  <a:srgbClr val="FFFFFF"/>
                </a:solidFill>
              </a:rPr>
              <a:t> operators</a:t>
            </a:r>
          </a:p>
        </p:txBody>
      </p:sp>
    </p:spTree>
    <p:extLst>
      <p:ext uri="{BB962C8B-B14F-4D97-AF65-F5344CB8AC3E}">
        <p14:creationId xmlns:p14="http://schemas.microsoft.com/office/powerpoint/2010/main" val="3663242479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DC6C1E2F-DB0D-494B-ADC2-54AC6283443C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23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0" y="-762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Assignment Operator “=”</a:t>
            </a:r>
            <a:br>
              <a:rPr lang="en-US" sz="4400" smtClean="0">
                <a:solidFill>
                  <a:srgbClr val="FFFF00"/>
                </a:solidFill>
              </a:rPr>
            </a:br>
            <a:r>
              <a:rPr lang="en-US" sz="2300" smtClean="0">
                <a:solidFill>
                  <a:srgbClr val="FFFF00"/>
                </a:solidFill>
              </a:rPr>
              <a:t>Changes the value of what is on the LHS, w.r.t. what is on the RHS</a:t>
            </a:r>
          </a:p>
        </p:txBody>
      </p:sp>
      <p:sp>
        <p:nvSpPr>
          <p:cNvPr id="64516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77724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lnSpc>
                <a:spcPct val="90000"/>
              </a:lnSpc>
              <a:spcBef>
                <a:spcPts val="713"/>
              </a:spcBef>
              <a:buClrTx/>
              <a:buFontTx/>
              <a:buNone/>
            </a:pPr>
            <a:endParaRPr lang="en-US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total_number_of_students </a:t>
            </a:r>
            <a:r>
              <a:rPr lang="en-US" sz="3600" smtClean="0">
                <a:solidFill>
                  <a:srgbClr val="FFFF00"/>
                </a:solidFill>
              </a:rPr>
              <a:t>=</a:t>
            </a:r>
            <a:r>
              <a:rPr lang="en-US" sz="3600" smtClean="0">
                <a:solidFill>
                  <a:srgbClr val="FFFFFF"/>
                </a:solidFill>
              </a:rPr>
              <a:t> 984 ;</a:t>
            </a: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title </a:t>
            </a:r>
            <a:r>
              <a:rPr lang="en-US" sz="3600" smtClean="0">
                <a:solidFill>
                  <a:srgbClr val="FFFF00"/>
                </a:solidFill>
              </a:rPr>
              <a:t>=</a:t>
            </a:r>
            <a:r>
              <a:rPr lang="en-US" sz="3600" smtClean="0">
                <a:solidFill>
                  <a:srgbClr val="FFFFFF"/>
                </a:solidFill>
              </a:rPr>
              <a:t> “Understanding Computers” ;</a:t>
            </a: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swapFlag </a:t>
            </a:r>
            <a:r>
              <a:rPr lang="en-US" sz="3600" smtClean="0">
                <a:solidFill>
                  <a:srgbClr val="FFFF00"/>
                </a:solidFill>
              </a:rPr>
              <a:t>=</a:t>
            </a:r>
            <a:r>
              <a:rPr lang="en-US" sz="3600" smtClean="0">
                <a:solidFill>
                  <a:srgbClr val="FFFFFF"/>
                </a:solidFill>
              </a:rPr>
              <a:t> false ;</a:t>
            </a: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lnSpc>
                <a:spcPct val="90000"/>
              </a:lnSpc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x </a:t>
            </a:r>
            <a:r>
              <a:rPr lang="en-US" sz="3600" smtClean="0">
                <a:solidFill>
                  <a:srgbClr val="FFFF00"/>
                </a:solidFill>
              </a:rPr>
              <a:t>=</a:t>
            </a:r>
            <a:r>
              <a:rPr lang="en-US" sz="3600" smtClean="0">
                <a:solidFill>
                  <a:srgbClr val="FFFFFF"/>
                </a:solidFill>
              </a:rPr>
              <a:t> y + 33 ;</a:t>
            </a:r>
          </a:p>
        </p:txBody>
      </p:sp>
    </p:spTree>
    <p:extLst>
      <p:ext uri="{BB962C8B-B14F-4D97-AF65-F5344CB8AC3E}">
        <p14:creationId xmlns:p14="http://schemas.microsoft.com/office/powerpoint/2010/main" val="178236726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D43D3C32-A6A2-4EA4-9859-3D3DA1E58AE4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24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66563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Arithmetic Operators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1219200" y="1447800"/>
            <a:ext cx="6781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227513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5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Multiply</a:t>
            </a:r>
            <a:r>
              <a:rPr lang="en-US" sz="3600" smtClean="0">
                <a:solidFill>
                  <a:srgbClr val="FFFFFF"/>
                </a:solidFill>
              </a:rPr>
              <a:t>	2 </a:t>
            </a:r>
            <a:r>
              <a:rPr lang="en-US" sz="3600" smtClean="0">
                <a:solidFill>
                  <a:srgbClr val="FFFF00"/>
                </a:solidFill>
              </a:rPr>
              <a:t>*</a:t>
            </a:r>
            <a:r>
              <a:rPr lang="en-US" sz="3600" smtClean="0">
                <a:solidFill>
                  <a:srgbClr val="66FF66"/>
                </a:solidFill>
              </a:rPr>
              <a:t> </a:t>
            </a:r>
            <a:r>
              <a:rPr lang="en-US" sz="3600" smtClean="0">
                <a:solidFill>
                  <a:srgbClr val="FFFFFF"/>
                </a:solidFill>
              </a:rPr>
              <a:t>4 </a:t>
            </a:r>
            <a:r>
              <a:rPr lang="en-US" sz="3600" smtClean="0">
                <a:solidFill>
                  <a:srgbClr val="00FFFF"/>
                </a:solidFill>
              </a:rPr>
              <a:t>→</a:t>
            </a:r>
            <a:r>
              <a:rPr lang="en-US" sz="3600" smtClean="0">
                <a:solidFill>
                  <a:srgbClr val="FFFFFF"/>
                </a:solidFill>
              </a:rPr>
              <a:t> 8</a:t>
            </a:r>
          </a:p>
          <a:p>
            <a:pPr defTabSz="457200" eaLnBrk="0" fontAlgn="base" hangingPunct="0">
              <a:spcBef>
                <a:spcPts val="5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Divide </a:t>
            </a:r>
            <a:r>
              <a:rPr lang="en-US" sz="3600" smtClean="0">
                <a:solidFill>
                  <a:srgbClr val="FFFFFF"/>
                </a:solidFill>
              </a:rPr>
              <a:t>	2 </a:t>
            </a:r>
            <a:r>
              <a:rPr lang="en-US" sz="3600" smtClean="0">
                <a:solidFill>
                  <a:srgbClr val="FFFF00"/>
                </a:solidFill>
              </a:rPr>
              <a:t>/</a:t>
            </a:r>
            <a:r>
              <a:rPr lang="en-US" sz="3600" smtClean="0">
                <a:solidFill>
                  <a:srgbClr val="66FF66"/>
                </a:solidFill>
              </a:rPr>
              <a:t> </a:t>
            </a:r>
            <a:r>
              <a:rPr lang="en-US" sz="3600" smtClean="0">
                <a:solidFill>
                  <a:srgbClr val="FFFFFF"/>
                </a:solidFill>
              </a:rPr>
              <a:t>4 </a:t>
            </a:r>
            <a:r>
              <a:rPr lang="en-US" sz="3600" smtClean="0">
                <a:solidFill>
                  <a:srgbClr val="00FFFF"/>
                </a:solidFill>
              </a:rPr>
              <a:t>→</a:t>
            </a:r>
            <a:r>
              <a:rPr lang="en-US" sz="3600" smtClean="0">
                <a:solidFill>
                  <a:srgbClr val="FFFFFF"/>
                </a:solidFill>
              </a:rPr>
              <a:t> 0.5</a:t>
            </a:r>
          </a:p>
          <a:p>
            <a:pPr defTabSz="457200" eaLnBrk="0" fontAlgn="base" hangingPunct="0">
              <a:spcBef>
                <a:spcPts val="5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Modulus</a:t>
            </a:r>
            <a:r>
              <a:rPr lang="en-US" sz="3600" smtClean="0">
                <a:solidFill>
                  <a:srgbClr val="FFFFFF"/>
                </a:solidFill>
              </a:rPr>
              <a:t>	5 </a:t>
            </a:r>
            <a:r>
              <a:rPr lang="en-US" sz="3600" smtClean="0">
                <a:solidFill>
                  <a:srgbClr val="FFFF00"/>
                </a:solidFill>
              </a:rPr>
              <a:t>%</a:t>
            </a:r>
            <a:r>
              <a:rPr lang="en-US" sz="3600" smtClean="0">
                <a:solidFill>
                  <a:srgbClr val="FFFFFF"/>
                </a:solidFill>
              </a:rPr>
              <a:t> 2 </a:t>
            </a:r>
            <a:r>
              <a:rPr lang="en-US" sz="3600" smtClean="0">
                <a:solidFill>
                  <a:srgbClr val="00FFFF"/>
                </a:solidFill>
              </a:rPr>
              <a:t>→</a:t>
            </a:r>
            <a:r>
              <a:rPr lang="en-US" sz="3600" smtClean="0">
                <a:solidFill>
                  <a:srgbClr val="FFFFFF"/>
                </a:solidFill>
              </a:rPr>
              <a:t> 1</a:t>
            </a:r>
          </a:p>
          <a:p>
            <a:pPr defTabSz="457200" eaLnBrk="0" fontAlgn="base" hangingPunct="0">
              <a:spcBef>
                <a:spcPts val="5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Add</a:t>
            </a:r>
            <a:r>
              <a:rPr lang="en-US" sz="3600" smtClean="0">
                <a:solidFill>
                  <a:srgbClr val="FFFFFF"/>
                </a:solidFill>
              </a:rPr>
              <a:t>	2 </a:t>
            </a:r>
            <a:r>
              <a:rPr lang="en-US" sz="3600" smtClean="0">
                <a:solidFill>
                  <a:srgbClr val="FFFF00"/>
                </a:solidFill>
              </a:rPr>
              <a:t>+</a:t>
            </a:r>
            <a:r>
              <a:rPr lang="en-US" sz="3600" smtClean="0">
                <a:solidFill>
                  <a:srgbClr val="66FF66"/>
                </a:solidFill>
              </a:rPr>
              <a:t> </a:t>
            </a:r>
            <a:r>
              <a:rPr lang="en-US" sz="3600" smtClean="0">
                <a:solidFill>
                  <a:srgbClr val="FFFFFF"/>
                </a:solidFill>
              </a:rPr>
              <a:t>4 </a:t>
            </a:r>
            <a:r>
              <a:rPr lang="en-US" sz="3600" smtClean="0">
                <a:solidFill>
                  <a:srgbClr val="00FFFF"/>
                </a:solidFill>
              </a:rPr>
              <a:t>→</a:t>
            </a:r>
            <a:r>
              <a:rPr lang="en-US" sz="3600" smtClean="0">
                <a:solidFill>
                  <a:srgbClr val="FFFFFF"/>
                </a:solidFill>
              </a:rPr>
              <a:t> 6</a:t>
            </a:r>
          </a:p>
          <a:p>
            <a:pPr defTabSz="457200" eaLnBrk="0" fontAlgn="base" hangingPunct="0">
              <a:spcBef>
                <a:spcPts val="5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Subtract</a:t>
            </a:r>
            <a:r>
              <a:rPr lang="en-US" sz="3600" smtClean="0">
                <a:solidFill>
                  <a:srgbClr val="FFFFFF"/>
                </a:solidFill>
              </a:rPr>
              <a:t>	2 </a:t>
            </a:r>
            <a:r>
              <a:rPr lang="en-US" sz="3600" smtClean="0">
                <a:solidFill>
                  <a:srgbClr val="FFFF00"/>
                </a:solidFill>
              </a:rPr>
              <a:t>-</a:t>
            </a:r>
            <a:r>
              <a:rPr lang="en-US" sz="3600" smtClean="0">
                <a:solidFill>
                  <a:srgbClr val="66FF66"/>
                </a:solidFill>
              </a:rPr>
              <a:t> </a:t>
            </a:r>
            <a:r>
              <a:rPr lang="en-US" sz="3600" smtClean="0">
                <a:solidFill>
                  <a:srgbClr val="FFFFFF"/>
                </a:solidFill>
              </a:rPr>
              <a:t>4 </a:t>
            </a:r>
            <a:r>
              <a:rPr lang="en-US" sz="3600" smtClean="0">
                <a:solidFill>
                  <a:srgbClr val="00FFFF"/>
                </a:solidFill>
              </a:rPr>
              <a:t>→</a:t>
            </a:r>
            <a:r>
              <a:rPr lang="en-US" sz="3600" smtClean="0">
                <a:solidFill>
                  <a:srgbClr val="FFFFFF"/>
                </a:solidFill>
              </a:rPr>
              <a:t> -2</a:t>
            </a:r>
          </a:p>
          <a:p>
            <a:pPr defTabSz="457200" eaLnBrk="0" fontAlgn="base" hangingPunct="0">
              <a:spcBef>
                <a:spcPts val="5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Negate</a:t>
            </a:r>
            <a:r>
              <a:rPr lang="en-US" sz="3600" smtClean="0">
                <a:solidFill>
                  <a:srgbClr val="FFFFFF"/>
                </a:solidFill>
              </a:rPr>
              <a:t>	</a:t>
            </a:r>
            <a:r>
              <a:rPr lang="en-US" sz="3600" smtClean="0">
                <a:solidFill>
                  <a:srgbClr val="FFFF00"/>
                </a:solidFill>
              </a:rPr>
              <a:t>-</a:t>
            </a:r>
            <a:r>
              <a:rPr lang="en-US" sz="3600" smtClean="0">
                <a:solidFill>
                  <a:srgbClr val="FF66FF"/>
                </a:solidFill>
              </a:rPr>
              <a:t>(</a:t>
            </a:r>
            <a:r>
              <a:rPr lang="en-US" sz="3600" smtClean="0">
                <a:solidFill>
                  <a:srgbClr val="FFFFFF"/>
                </a:solidFill>
              </a:rPr>
              <a:t>5</a:t>
            </a:r>
            <a:r>
              <a:rPr lang="en-US" sz="3600" smtClean="0">
                <a:solidFill>
                  <a:srgbClr val="FF66FF"/>
                </a:solidFill>
              </a:rPr>
              <a:t>)</a:t>
            </a:r>
            <a:r>
              <a:rPr lang="en-US" sz="3600" smtClean="0">
                <a:solidFill>
                  <a:srgbClr val="FFFFFF"/>
                </a:solidFill>
              </a:rPr>
              <a:t> </a:t>
            </a:r>
            <a:r>
              <a:rPr lang="en-US" sz="3600" smtClean="0">
                <a:solidFill>
                  <a:srgbClr val="00FFFF"/>
                </a:solidFill>
              </a:rPr>
              <a:t>→</a:t>
            </a:r>
            <a:r>
              <a:rPr lang="en-US" sz="3600" smtClean="0">
                <a:solidFill>
                  <a:srgbClr val="FFFFFF"/>
                </a:solidFill>
              </a:rPr>
              <a:t> -5</a:t>
            </a:r>
          </a:p>
        </p:txBody>
      </p:sp>
    </p:spTree>
    <p:extLst>
      <p:ext uri="{BB962C8B-B14F-4D97-AF65-F5344CB8AC3E}">
        <p14:creationId xmlns:p14="http://schemas.microsoft.com/office/powerpoint/2010/main" val="3147437933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 additive="repl"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 additive="repl">
                                        <p:cTn id="11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 additive="repl"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 additive="repl">
                                        <p:cTn id="19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 additive="repl">
                                        <p:cTn id="23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5" presetID="14" presetClass="entr" presetSubtype="5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 additive="repl"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B98C06CA-D3AD-43FB-80D0-3D8CCC3DE990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25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68611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Comparison Operators</a:t>
            </a:r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152400" y="1143000"/>
            <a:ext cx="8915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lnSpc>
                <a:spcPct val="90000"/>
              </a:lnSpc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lnSpc>
                <a:spcPct val="90000"/>
              </a:lnSpc>
              <a:spcBef>
                <a:spcPts val="813"/>
              </a:spcBef>
              <a:buClrTx/>
              <a:buFontTx/>
              <a:buNone/>
            </a:pPr>
            <a:endParaRPr lang="en-US" sz="3200" i="1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lnSpc>
                <a:spcPct val="90000"/>
              </a:lnSpc>
              <a:spcBef>
                <a:spcPts val="813"/>
              </a:spcBef>
              <a:buClrTx/>
              <a:buFontTx/>
              <a:buNone/>
            </a:pPr>
            <a:r>
              <a:rPr lang="en-US" sz="3200" i="1" smtClean="0">
                <a:solidFill>
                  <a:srgbClr val="FFFFFF"/>
                </a:solidFill>
              </a:rPr>
              <a:t>The “equal to (</a:t>
            </a:r>
            <a:r>
              <a:rPr lang="en-US" sz="3200" i="1" smtClean="0">
                <a:solidFill>
                  <a:srgbClr val="FFFF00"/>
                </a:solidFill>
              </a:rPr>
              <a:t>==</a:t>
            </a:r>
            <a:r>
              <a:rPr lang="en-US" sz="3200" i="1" smtClean="0">
                <a:solidFill>
                  <a:srgbClr val="FFFFFF"/>
                </a:solidFill>
              </a:rPr>
              <a:t>)” Comparison Operator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</a:p>
          <a:p>
            <a:pPr algn="ctr" defTabSz="457200" eaLnBrk="0" fontAlgn="base" hangingPunct="0">
              <a:lnSpc>
                <a:spcPct val="90000"/>
              </a:lnSpc>
              <a:spcBef>
                <a:spcPts val="1113"/>
              </a:spcBef>
              <a:buClrTx/>
              <a:buFontTx/>
              <a:buNone/>
            </a:pPr>
            <a:endParaRPr lang="en-US" sz="4400" smtClean="0">
              <a:solidFill>
                <a:srgbClr val="FFFFFF"/>
              </a:solidFill>
            </a:endParaRPr>
          </a:p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66FF"/>
                </a:solidFill>
              </a:rPr>
              <a:t>if (</a:t>
            </a:r>
            <a:r>
              <a:rPr lang="en-US" sz="3200" smtClean="0">
                <a:solidFill>
                  <a:srgbClr val="FFFFFF"/>
                </a:solidFill>
              </a:rPr>
              <a:t> today</a:t>
            </a:r>
            <a:r>
              <a:rPr lang="en-US" sz="3200" smtClean="0">
                <a:solidFill>
                  <a:srgbClr val="FFFF00"/>
                </a:solidFill>
              </a:rPr>
              <a:t> ==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66FF"/>
                </a:solidFill>
              </a:rPr>
              <a:t>“</a:t>
            </a:r>
            <a:r>
              <a:rPr lang="en-US" sz="3200" smtClean="0">
                <a:solidFill>
                  <a:srgbClr val="FFFFFF"/>
                </a:solidFill>
              </a:rPr>
              <a:t>Sunday</a:t>
            </a:r>
            <a:r>
              <a:rPr lang="en-US" sz="3200" smtClean="0">
                <a:solidFill>
                  <a:srgbClr val="FF66FF"/>
                </a:solidFill>
              </a:rPr>
              <a:t>” )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	</a:t>
            </a:r>
            <a:r>
              <a:rPr lang="en-US" sz="3200" smtClean="0">
                <a:solidFill>
                  <a:srgbClr val="FF66FF"/>
                </a:solidFill>
              </a:rPr>
              <a:t>document.write(“</a:t>
            </a:r>
            <a:r>
              <a:rPr lang="en-US" sz="3200" smtClean="0">
                <a:solidFill>
                  <a:srgbClr val="FFFFFF"/>
                </a:solidFill>
              </a:rPr>
              <a:t>The shop is closed</a:t>
            </a:r>
            <a:r>
              <a:rPr lang="en-US" sz="3200" smtClean="0">
                <a:solidFill>
                  <a:srgbClr val="FF66FF"/>
                </a:solidFill>
              </a:rPr>
              <a:t>”);</a:t>
            </a:r>
          </a:p>
          <a:p>
            <a:pPr algn="ctr" defTabSz="457200" eaLnBrk="0" fontAlgn="base" hangingPunct="0">
              <a:lnSpc>
                <a:spcPct val="90000"/>
              </a:lnSpc>
              <a:spcBef>
                <a:spcPts val="1113"/>
              </a:spcBef>
              <a:buClrTx/>
              <a:buFontTx/>
              <a:buNone/>
            </a:pPr>
            <a:endParaRPr lang="en-US" sz="4400" smtClean="0">
              <a:solidFill>
                <a:srgbClr val="FFFFFF"/>
              </a:solidFill>
            </a:endParaRPr>
          </a:p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Tx/>
              <a:buFontTx/>
              <a:buNone/>
            </a:pPr>
            <a:r>
              <a:rPr lang="en-US" sz="3200" i="1" smtClean="0">
                <a:solidFill>
                  <a:srgbClr val="FFFFFF"/>
                </a:solidFill>
              </a:rPr>
              <a:t>The string “The shop is closed” will be written to the document only if the variable today has a value equal to “Sunday”</a:t>
            </a:r>
          </a:p>
        </p:txBody>
      </p:sp>
      <p:sp>
        <p:nvSpPr>
          <p:cNvPr id="68613" name="Rectangle 4"/>
          <p:cNvSpPr>
            <a:spLocks noChangeArrowheads="1"/>
          </p:cNvSpPr>
          <p:nvPr/>
        </p:nvSpPr>
        <p:spPr bwMode="auto">
          <a:xfrm>
            <a:off x="76200" y="3352800"/>
            <a:ext cx="9067800" cy="1371600"/>
          </a:xfrm>
          <a:prstGeom prst="rect">
            <a:avLst/>
          </a:prstGeom>
          <a:noFill/>
          <a:ln w="7632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  <p:sp>
        <p:nvSpPr>
          <p:cNvPr id="36869" name="AutoShape 5"/>
          <p:cNvSpPr>
            <a:spLocks noChangeArrowheads="1"/>
          </p:cNvSpPr>
          <p:nvPr/>
        </p:nvSpPr>
        <p:spPr bwMode="auto">
          <a:xfrm>
            <a:off x="6324600" y="685800"/>
            <a:ext cx="2819400" cy="1371600"/>
          </a:xfrm>
          <a:prstGeom prst="wedgeRectCallout">
            <a:avLst>
              <a:gd name="adj1" fmla="val -136824"/>
              <a:gd name="adj2" fmla="val 67014"/>
            </a:avLst>
          </a:prstGeom>
          <a:solidFill>
            <a:srgbClr val="FF9900"/>
          </a:solidFill>
          <a:ln w="9360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buClrTx/>
              <a:buFontTx/>
              <a:buNone/>
            </a:pPr>
            <a:r>
              <a:rPr lang="en-US" smtClean="0">
                <a:solidFill>
                  <a:srgbClr val="000000"/>
                </a:solidFill>
              </a:rPr>
              <a:t>Not the same as the assignment “=” operator</a:t>
            </a:r>
          </a:p>
        </p:txBody>
      </p:sp>
    </p:spTree>
    <p:extLst>
      <p:ext uri="{BB962C8B-B14F-4D97-AF65-F5344CB8AC3E}">
        <p14:creationId xmlns:p14="http://schemas.microsoft.com/office/powerpoint/2010/main" val="39359710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BF5D6714-E414-4205-9202-3D0D9F2CFB63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26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70659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Comparison Operators</a:t>
            </a:r>
          </a:p>
        </p:txBody>
      </p:sp>
      <p:sp>
        <p:nvSpPr>
          <p:cNvPr id="70660" name="Text Box 3"/>
          <p:cNvSpPr txBox="1">
            <a:spLocks noChangeArrowheads="1"/>
          </p:cNvSpPr>
          <p:nvPr/>
        </p:nvSpPr>
        <p:spPr bwMode="auto">
          <a:xfrm>
            <a:off x="152400" y="11430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2289175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8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==</a:t>
            </a:r>
            <a:r>
              <a:rPr lang="en-US" sz="3600" smtClean="0">
                <a:solidFill>
                  <a:srgbClr val="FFFFFF"/>
                </a:solidFill>
              </a:rPr>
              <a:t> b</a:t>
            </a:r>
            <a:r>
              <a:rPr lang="en-US" sz="34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FFFF"/>
                </a:solidFill>
              </a:rPr>
              <a:t>True if a and b are the same</a:t>
            </a:r>
          </a:p>
          <a:p>
            <a:pPr defTabSz="457200" eaLnBrk="0" fontAlgn="base" hangingPunct="0">
              <a:spcBef>
                <a:spcPts val="8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!=</a:t>
            </a:r>
            <a:r>
              <a:rPr lang="en-US" sz="3600" smtClean="0">
                <a:solidFill>
                  <a:srgbClr val="FFFFFF"/>
                </a:solidFill>
              </a:rPr>
              <a:t> b</a:t>
            </a:r>
            <a:r>
              <a:rPr lang="en-US" sz="34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FFFF"/>
                </a:solidFill>
              </a:rPr>
              <a:t>True if a and b are not the same</a:t>
            </a:r>
          </a:p>
          <a:p>
            <a:pPr defTabSz="457200" eaLnBrk="0" fontAlgn="base" hangingPunct="0">
              <a:spcBef>
                <a:spcPts val="8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&gt;</a:t>
            </a:r>
            <a:r>
              <a:rPr lang="en-US" sz="3600" smtClean="0">
                <a:solidFill>
                  <a:srgbClr val="FFFFFF"/>
                </a:solidFill>
              </a:rPr>
              <a:t> b</a:t>
            </a:r>
            <a:r>
              <a:rPr lang="en-US" sz="34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FFFF"/>
                </a:solidFill>
              </a:rPr>
              <a:t>True if a is greater than b</a:t>
            </a:r>
          </a:p>
          <a:p>
            <a:pPr defTabSz="457200" eaLnBrk="0" fontAlgn="base" hangingPunct="0">
              <a:spcBef>
                <a:spcPts val="8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&gt;=</a:t>
            </a:r>
            <a:r>
              <a:rPr lang="en-US" sz="3600" smtClean="0">
                <a:solidFill>
                  <a:srgbClr val="FFFFFF"/>
                </a:solidFill>
              </a:rPr>
              <a:t> b</a:t>
            </a:r>
            <a:r>
              <a:rPr lang="en-US" sz="34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FFFF"/>
                </a:solidFill>
              </a:rPr>
              <a:t>True if a is greater than or equal to b</a:t>
            </a:r>
          </a:p>
          <a:p>
            <a:pPr defTabSz="457200" eaLnBrk="0" fontAlgn="base" hangingPunct="0">
              <a:spcBef>
                <a:spcPts val="8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&lt;</a:t>
            </a:r>
            <a:r>
              <a:rPr lang="en-US" sz="3600" smtClean="0">
                <a:solidFill>
                  <a:srgbClr val="FFFFFF"/>
                </a:solidFill>
              </a:rPr>
              <a:t> b</a:t>
            </a:r>
            <a:r>
              <a:rPr lang="en-US" sz="34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FFFF"/>
                </a:solidFill>
              </a:rPr>
              <a:t>True if a is less than b</a:t>
            </a:r>
          </a:p>
          <a:p>
            <a:pPr defTabSz="457200" eaLnBrk="0" fontAlgn="base" hangingPunct="0">
              <a:spcBef>
                <a:spcPts val="813"/>
              </a:spcBef>
              <a:spcAft>
                <a:spcPts val="2013"/>
              </a:spcAft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&lt;=</a:t>
            </a:r>
            <a:r>
              <a:rPr lang="en-US" sz="3600" smtClean="0">
                <a:solidFill>
                  <a:srgbClr val="FFFFFF"/>
                </a:solidFill>
              </a:rPr>
              <a:t> b</a:t>
            </a:r>
            <a:r>
              <a:rPr lang="en-US" sz="34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FFFF"/>
                </a:solidFill>
              </a:rPr>
              <a:t>True if a is less than or equal to b</a:t>
            </a:r>
          </a:p>
        </p:txBody>
      </p:sp>
    </p:spTree>
    <p:extLst>
      <p:ext uri="{BB962C8B-B14F-4D97-AF65-F5344CB8AC3E}">
        <p14:creationId xmlns:p14="http://schemas.microsoft.com/office/powerpoint/2010/main" val="634127692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66823D44-AE00-4312-98A2-58B7086E98C8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27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72707" name="Text Box 2"/>
          <p:cNvSpPr txBox="1"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Example</a:t>
            </a:r>
          </a:p>
        </p:txBody>
      </p:sp>
      <p:sp>
        <p:nvSpPr>
          <p:cNvPr id="72708" name="Text Box 3"/>
          <p:cNvSpPr txBox="1">
            <a:spLocks noChangeArrowheads="1"/>
          </p:cNvSpPr>
          <p:nvPr/>
        </p:nvSpPr>
        <p:spPr bwMode="auto">
          <a:xfrm>
            <a:off x="1905000" y="1447800"/>
            <a:ext cx="5715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if (</a:t>
            </a:r>
            <a:r>
              <a:rPr lang="en-US" sz="3600" smtClean="0">
                <a:solidFill>
                  <a:srgbClr val="FFFFFF"/>
                </a:solidFill>
              </a:rPr>
              <a:t> x</a:t>
            </a:r>
            <a:r>
              <a:rPr lang="en-US" sz="3600" smtClean="0">
                <a:solidFill>
                  <a:srgbClr val="FFFF00"/>
                </a:solidFill>
              </a:rPr>
              <a:t> !=</a:t>
            </a:r>
            <a:r>
              <a:rPr lang="en-US" sz="3600" smtClean="0">
                <a:solidFill>
                  <a:srgbClr val="FFFFFF"/>
                </a:solidFill>
              </a:rPr>
              <a:t> 0</a:t>
            </a:r>
            <a:r>
              <a:rPr lang="en-US" sz="3600" smtClean="0">
                <a:solidFill>
                  <a:srgbClr val="FF66FF"/>
                </a:solidFill>
              </a:rPr>
              <a:t> )</a:t>
            </a: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	result </a:t>
            </a:r>
            <a:r>
              <a:rPr lang="en-US" sz="3600" smtClean="0">
                <a:solidFill>
                  <a:srgbClr val="FF66FF"/>
                </a:solidFill>
              </a:rPr>
              <a:t>=</a:t>
            </a:r>
            <a:r>
              <a:rPr lang="en-US" sz="3600" smtClean="0">
                <a:solidFill>
                  <a:srgbClr val="FFFFFF"/>
                </a:solidFill>
              </a:rPr>
              <a:t> y </a:t>
            </a:r>
            <a:r>
              <a:rPr lang="en-US" sz="3600" smtClean="0">
                <a:solidFill>
                  <a:srgbClr val="FF66FF"/>
                </a:solidFill>
              </a:rPr>
              <a:t>/</a:t>
            </a:r>
            <a:r>
              <a:rPr lang="en-US" sz="3600" smtClean="0">
                <a:solidFill>
                  <a:srgbClr val="FFFFFF"/>
                </a:solidFill>
              </a:rPr>
              <a:t> x</a:t>
            </a:r>
            <a:r>
              <a:rPr lang="en-US" sz="3600" smtClean="0">
                <a:solidFill>
                  <a:srgbClr val="FF66FF"/>
                </a:solidFill>
              </a:rPr>
              <a:t>;</a:t>
            </a: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else</a:t>
            </a: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	result </a:t>
            </a:r>
            <a:r>
              <a:rPr lang="en-US" sz="3600" smtClean="0">
                <a:solidFill>
                  <a:srgbClr val="FF66FF"/>
                </a:solidFill>
              </a:rPr>
              <a:t>= “</a:t>
            </a:r>
            <a:r>
              <a:rPr lang="en-US" sz="3600" smtClean="0">
                <a:solidFill>
                  <a:srgbClr val="FFFFFF"/>
                </a:solidFill>
              </a:rPr>
              <a:t>not defined</a:t>
            </a:r>
            <a:r>
              <a:rPr lang="en-US" sz="3600" smtClean="0">
                <a:solidFill>
                  <a:srgbClr val="FF66FF"/>
                </a:solidFill>
              </a:rPr>
              <a:t>”;</a:t>
            </a:r>
          </a:p>
        </p:txBody>
      </p:sp>
    </p:spTree>
    <p:extLst>
      <p:ext uri="{BB962C8B-B14F-4D97-AF65-F5344CB8AC3E}">
        <p14:creationId xmlns:p14="http://schemas.microsoft.com/office/powerpoint/2010/main" val="51651482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A375819C-E7B8-4283-837F-0345A7E0B9C2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28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76803" name="Text Box 2"/>
          <p:cNvSpPr txBox="1">
            <a:spLocks noChangeArrowheads="1"/>
          </p:cNvSpPr>
          <p:nvPr/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Logical Operators</a:t>
            </a:r>
            <a:br>
              <a:rPr lang="en-US" sz="4400" smtClean="0">
                <a:solidFill>
                  <a:srgbClr val="FFFF00"/>
                </a:solidFill>
              </a:rPr>
            </a:br>
            <a:r>
              <a:rPr lang="en-US" sz="2400" smtClean="0">
                <a:solidFill>
                  <a:srgbClr val="FFFF00"/>
                </a:solidFill>
              </a:rPr>
              <a:t>Operate on Boolean expressions or variables</a:t>
            </a:r>
          </a:p>
        </p:txBody>
      </p:sp>
      <p:sp>
        <p:nvSpPr>
          <p:cNvPr id="76804" name="Text Box 3"/>
          <p:cNvSpPr txBox="1">
            <a:spLocks noChangeArrowheads="1"/>
          </p:cNvSpPr>
          <p:nvPr/>
        </p:nvSpPr>
        <p:spPr bwMode="auto">
          <a:xfrm>
            <a:off x="152400" y="1143000"/>
            <a:ext cx="8915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i="1" smtClean="0">
                <a:solidFill>
                  <a:srgbClr val="FFFFFF"/>
                </a:solidFill>
              </a:rPr>
              <a:t>The “AND (</a:t>
            </a:r>
            <a:r>
              <a:rPr lang="en-US" sz="3200" i="1" smtClean="0">
                <a:solidFill>
                  <a:srgbClr val="FFFF00"/>
                </a:solidFill>
              </a:rPr>
              <a:t>&amp;&amp;</a:t>
            </a:r>
            <a:r>
              <a:rPr lang="en-US" sz="3200" i="1" smtClean="0">
                <a:solidFill>
                  <a:srgbClr val="FFFFFF"/>
                </a:solidFill>
              </a:rPr>
              <a:t>)” Logical Operator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</a:p>
          <a:p>
            <a:pPr algn="ctr" defTabSz="457200" eaLnBrk="0" fontAlgn="base" hangingPunct="0">
              <a:spcBef>
                <a:spcPts val="1213"/>
              </a:spcBef>
              <a:buClrTx/>
              <a:buFontTx/>
              <a:buNone/>
            </a:pPr>
            <a:endParaRPr lang="en-US" sz="48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66FF"/>
                </a:solidFill>
              </a:rPr>
              <a:t>    if (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66FF"/>
                </a:solidFill>
              </a:rPr>
              <a:t>(</a:t>
            </a:r>
            <a:r>
              <a:rPr lang="en-US" sz="3200" smtClean="0">
                <a:solidFill>
                  <a:srgbClr val="FFFFFF"/>
                </a:solidFill>
              </a:rPr>
              <a:t>pitch </a:t>
            </a:r>
            <a:r>
              <a:rPr lang="en-US" sz="3200" smtClean="0">
                <a:solidFill>
                  <a:srgbClr val="FF66FF"/>
                </a:solidFill>
              </a:rPr>
              <a:t>== “</a:t>
            </a:r>
            <a:r>
              <a:rPr lang="en-US" sz="3200" smtClean="0">
                <a:solidFill>
                  <a:srgbClr val="FFFFFF"/>
                </a:solidFill>
              </a:rPr>
              <a:t>hard</a:t>
            </a:r>
            <a:r>
              <a:rPr lang="en-US" sz="3200" smtClean="0">
                <a:solidFill>
                  <a:srgbClr val="FF66FF"/>
                </a:solidFill>
              </a:rPr>
              <a:t>”)</a:t>
            </a:r>
            <a:r>
              <a:rPr lang="en-US" sz="3200" smtClean="0">
                <a:solidFill>
                  <a:srgbClr val="FFFF00"/>
                </a:solidFill>
              </a:rPr>
              <a:t> &amp;&amp;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66FF"/>
                </a:solidFill>
              </a:rPr>
              <a:t>(</a:t>
            </a:r>
            <a:r>
              <a:rPr lang="en-US" sz="3200" smtClean="0">
                <a:solidFill>
                  <a:srgbClr val="FFFFFF"/>
                </a:solidFill>
              </a:rPr>
              <a:t>bowler </a:t>
            </a:r>
            <a:r>
              <a:rPr lang="en-US" sz="3200" smtClean="0">
                <a:solidFill>
                  <a:srgbClr val="FF66FF"/>
                </a:solidFill>
              </a:rPr>
              <a:t>== “</a:t>
            </a:r>
            <a:r>
              <a:rPr lang="en-US" sz="3200" smtClean="0">
                <a:solidFill>
                  <a:srgbClr val="FFFFFF"/>
                </a:solidFill>
              </a:rPr>
              <a:t>fast</a:t>
            </a:r>
            <a:r>
              <a:rPr lang="en-US" sz="3200" smtClean="0">
                <a:solidFill>
                  <a:srgbClr val="FF66FF"/>
                </a:solidFill>
              </a:rPr>
              <a:t>”) )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		myStatus</a:t>
            </a:r>
            <a:r>
              <a:rPr lang="en-US" sz="3200" smtClean="0">
                <a:solidFill>
                  <a:srgbClr val="FF66FF"/>
                </a:solidFill>
              </a:rPr>
              <a:t> = “</a:t>
            </a:r>
            <a:r>
              <a:rPr lang="en-US" sz="3200" smtClean="0">
                <a:solidFill>
                  <a:srgbClr val="FFFFFF"/>
                </a:solidFill>
              </a:rPr>
              <a:t>Pulled muscle</a:t>
            </a:r>
            <a:r>
              <a:rPr lang="en-US" sz="3200" smtClean="0">
                <a:solidFill>
                  <a:srgbClr val="FF66FF"/>
                </a:solidFill>
              </a:rPr>
              <a:t>”;</a:t>
            </a:r>
          </a:p>
          <a:p>
            <a:pPr algn="ctr" defTabSz="457200" eaLnBrk="0" fontAlgn="base" hangingPunct="0">
              <a:spcBef>
                <a:spcPts val="1213"/>
              </a:spcBef>
              <a:buClrTx/>
              <a:buFontTx/>
              <a:buNone/>
            </a:pPr>
            <a:endParaRPr lang="en-US" sz="48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i="1" smtClean="0">
                <a:solidFill>
                  <a:srgbClr val="FFFFFF"/>
                </a:solidFill>
              </a:rPr>
              <a:t>The value of the variable myStatus will be set to “Pulled muscle” if both of the conditions are true</a:t>
            </a:r>
          </a:p>
        </p:txBody>
      </p:sp>
      <p:sp>
        <p:nvSpPr>
          <p:cNvPr id="76805" name="Rectangle 4"/>
          <p:cNvSpPr>
            <a:spLocks noChangeArrowheads="1"/>
          </p:cNvSpPr>
          <p:nvPr/>
        </p:nvSpPr>
        <p:spPr bwMode="auto">
          <a:xfrm>
            <a:off x="76200" y="3124200"/>
            <a:ext cx="9067800" cy="1371600"/>
          </a:xfrm>
          <a:prstGeom prst="rect">
            <a:avLst/>
          </a:prstGeom>
          <a:noFill/>
          <a:ln w="7632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865126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9B6C18A1-0639-4C0C-909D-C003FE43E3D8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29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78851" name="Text Box 2"/>
          <p:cNvSpPr txBox="1"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Logical Operators</a:t>
            </a:r>
          </a:p>
        </p:txBody>
      </p:sp>
      <p:sp>
        <p:nvSpPr>
          <p:cNvPr id="78852" name="Text Box 3"/>
          <p:cNvSpPr txBox="1">
            <a:spLocks noChangeArrowheads="1"/>
          </p:cNvSpPr>
          <p:nvPr/>
        </p:nvSpPr>
        <p:spPr bwMode="auto">
          <a:xfrm>
            <a:off x="304800" y="1752600"/>
            <a:ext cx="876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720850" algn="l"/>
                <a:tab pos="3208338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&amp;&amp;</a:t>
            </a:r>
            <a:r>
              <a:rPr lang="en-US" sz="3600" smtClean="0">
                <a:solidFill>
                  <a:srgbClr val="FFFFFF"/>
                </a:solidFill>
              </a:rPr>
              <a:t> b	AND 	</a:t>
            </a:r>
            <a:r>
              <a:rPr lang="en-US" sz="3200" smtClean="0">
                <a:solidFill>
                  <a:srgbClr val="FFFFFF"/>
                </a:solidFill>
              </a:rPr>
              <a:t>True if both are true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a </a:t>
            </a:r>
            <a:r>
              <a:rPr lang="en-US" sz="3600" smtClean="0">
                <a:solidFill>
                  <a:srgbClr val="FFFF00"/>
                </a:solidFill>
              </a:rPr>
              <a:t>||</a:t>
            </a:r>
            <a:r>
              <a:rPr lang="en-US" sz="3600" smtClean="0">
                <a:solidFill>
                  <a:srgbClr val="FFFFFF"/>
                </a:solidFill>
              </a:rPr>
              <a:t> b	OR	</a:t>
            </a:r>
            <a:r>
              <a:rPr lang="en-US" sz="3200" smtClean="0">
                <a:solidFill>
                  <a:srgbClr val="FFFFFF"/>
                </a:solidFill>
              </a:rPr>
              <a:t>True of either or both are true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!</a:t>
            </a:r>
            <a:r>
              <a:rPr lang="en-US" sz="3600" smtClean="0">
                <a:solidFill>
                  <a:srgbClr val="FFFFFF"/>
                </a:solidFill>
              </a:rPr>
              <a:t>a	NOT	</a:t>
            </a:r>
            <a:r>
              <a:rPr lang="en-US" sz="3200" smtClean="0">
                <a:solidFill>
                  <a:srgbClr val="FFFFFF"/>
                </a:solidFill>
              </a:rPr>
              <a:t>True if a is false</a:t>
            </a:r>
          </a:p>
        </p:txBody>
      </p:sp>
    </p:spTree>
    <p:extLst>
      <p:ext uri="{BB962C8B-B14F-4D97-AF65-F5344CB8AC3E}">
        <p14:creationId xmlns:p14="http://schemas.microsoft.com/office/powerpoint/2010/main" val="3600356737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55F7F95B-C291-4E4C-AB0B-7BEECFB27586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30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80899" name="Text Box 2"/>
          <p:cNvSpPr txBox="1"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Example</a:t>
            </a:r>
          </a:p>
        </p:txBody>
      </p:sp>
      <p:sp>
        <p:nvSpPr>
          <p:cNvPr id="80900" name="Text Box 3"/>
          <p:cNvSpPr txBox="1">
            <a:spLocks noChangeArrowheads="1"/>
          </p:cNvSpPr>
          <p:nvPr/>
        </p:nvSpPr>
        <p:spPr bwMode="auto">
          <a:xfrm>
            <a:off x="304800" y="1447800"/>
            <a:ext cx="8763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66FF"/>
                </a:solidFill>
              </a:rPr>
              <a:t>if (</a:t>
            </a:r>
            <a:r>
              <a:rPr lang="en-US" sz="3200" smtClean="0">
                <a:solidFill>
                  <a:srgbClr val="FFFFFF"/>
                </a:solidFill>
              </a:rPr>
              <a:t> x</a:t>
            </a:r>
            <a:r>
              <a:rPr lang="en-US" sz="3200" smtClean="0">
                <a:solidFill>
                  <a:srgbClr val="FFFF00"/>
                </a:solidFill>
              </a:rPr>
              <a:t> ||</a:t>
            </a:r>
            <a:r>
              <a:rPr lang="en-US" sz="3200" smtClean="0">
                <a:solidFill>
                  <a:srgbClr val="FFFFFF"/>
                </a:solidFill>
              </a:rPr>
              <a:t> y</a:t>
            </a:r>
            <a:r>
              <a:rPr lang="en-US" sz="3200" smtClean="0">
                <a:solidFill>
                  <a:srgbClr val="FF66FF"/>
                </a:solidFill>
              </a:rPr>
              <a:t> )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66FF"/>
                </a:solidFill>
              </a:rPr>
              <a:t>document.write (“</a:t>
            </a:r>
            <a:r>
              <a:rPr lang="en-US" sz="3200" smtClean="0">
                <a:solidFill>
                  <a:srgbClr val="FFFFFF"/>
                </a:solidFill>
              </a:rPr>
              <a:t>Either or both are true</a:t>
            </a:r>
            <a:r>
              <a:rPr lang="en-US" sz="3200" smtClean="0">
                <a:solidFill>
                  <a:srgbClr val="FF66FF"/>
                </a:solidFill>
              </a:rPr>
              <a:t>”);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66FF"/>
                </a:solidFill>
              </a:rPr>
              <a:t>else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</a:t>
            </a:r>
            <a:r>
              <a:rPr lang="en-US" sz="3200" smtClean="0">
                <a:solidFill>
                  <a:srgbClr val="FF66FF"/>
                </a:solidFill>
              </a:rPr>
              <a:t>document.write (“</a:t>
            </a:r>
            <a:r>
              <a:rPr lang="en-US" sz="3200" smtClean="0">
                <a:solidFill>
                  <a:srgbClr val="FFFFFF"/>
                </a:solidFill>
              </a:rPr>
              <a:t>Both are false</a:t>
            </a:r>
            <a:r>
              <a:rPr lang="en-US" sz="3200" smtClean="0">
                <a:solidFill>
                  <a:srgbClr val="FF66FF"/>
                </a:solidFill>
              </a:rPr>
              <a:t>”);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82736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7839430E-570A-48AC-B082-DD447175AC78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31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82947" name="Text Box 2"/>
          <p:cNvSpPr txBox="1">
            <a:spLocks noChangeArrowheads="1"/>
          </p:cNvSpPr>
          <p:nvPr/>
        </p:nvSpPr>
        <p:spPr bwMode="auto">
          <a:xfrm>
            <a:off x="304800" y="2514600"/>
            <a:ext cx="8915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So far we have looked at the </a:t>
            </a:r>
            <a:r>
              <a:rPr lang="en-US" sz="3600" smtClean="0">
                <a:solidFill>
                  <a:srgbClr val="00FF00"/>
                </a:solidFill>
              </a:rPr>
              <a:t>assignment</a:t>
            </a:r>
            <a:r>
              <a:rPr lang="en-US" sz="3600" smtClean="0">
                <a:solidFill>
                  <a:srgbClr val="FFFFFF"/>
                </a:solidFill>
              </a:rPr>
              <a:t> operator, </a:t>
            </a:r>
            <a:r>
              <a:rPr lang="en-US" sz="3600" smtClean="0">
                <a:solidFill>
                  <a:srgbClr val="00FF00"/>
                </a:solidFill>
              </a:rPr>
              <a:t>arithmetic</a:t>
            </a:r>
            <a:r>
              <a:rPr lang="en-US" sz="3600" smtClean="0">
                <a:solidFill>
                  <a:srgbClr val="FFFFFF"/>
                </a:solidFill>
              </a:rPr>
              <a:t> operators, </a:t>
            </a:r>
            <a:r>
              <a:rPr lang="en-US" sz="3600" smtClean="0">
                <a:solidFill>
                  <a:srgbClr val="FFFF00"/>
                </a:solidFill>
              </a:rPr>
              <a:t>comparison</a:t>
            </a:r>
            <a:r>
              <a:rPr lang="en-US" sz="3600" smtClean="0">
                <a:solidFill>
                  <a:srgbClr val="FFFFFF"/>
                </a:solidFill>
              </a:rPr>
              <a:t> operators and </a:t>
            </a:r>
            <a:r>
              <a:rPr lang="en-US" sz="3600" smtClean="0">
                <a:solidFill>
                  <a:srgbClr val="FFFF00"/>
                </a:solidFill>
              </a:rPr>
              <a:t>logical</a:t>
            </a:r>
            <a:r>
              <a:rPr lang="en-US" sz="3600" smtClean="0">
                <a:solidFill>
                  <a:srgbClr val="FFFFFF"/>
                </a:solidFill>
              </a:rPr>
              <a:t> operators</a:t>
            </a:r>
            <a:br>
              <a:rPr lang="en-US" sz="3600" smtClean="0">
                <a:solidFill>
                  <a:srgbClr val="FFFFFF"/>
                </a:solidFill>
              </a:rPr>
            </a:br>
            <a:r>
              <a:rPr lang="en-US" sz="3600" smtClean="0">
                <a:solidFill>
                  <a:srgbClr val="FFFFFF"/>
                </a:solidFill>
              </a:rPr>
              <a:t/>
            </a:r>
            <a:br>
              <a:rPr lang="en-US" sz="3600" smtClean="0">
                <a:solidFill>
                  <a:srgbClr val="FFFFFF"/>
                </a:solidFill>
              </a:rPr>
            </a:br>
            <a:r>
              <a:rPr lang="en-US" sz="3600" smtClean="0">
                <a:solidFill>
                  <a:srgbClr val="FFFFFF"/>
                </a:solidFill>
              </a:rPr>
              <a:t>The </a:t>
            </a:r>
            <a:r>
              <a:rPr lang="en-US" sz="3600" smtClean="0">
                <a:solidFill>
                  <a:srgbClr val="00FF00"/>
                </a:solidFill>
              </a:rPr>
              <a:t>final category</a:t>
            </a:r>
            <a:r>
              <a:rPr lang="en-US" sz="3600" smtClean="0">
                <a:solidFill>
                  <a:srgbClr val="FFFFFF"/>
                </a:solidFill>
              </a:rPr>
              <a:t> that we are going to look at is </a:t>
            </a:r>
            <a:r>
              <a:rPr lang="en-US" sz="3600" smtClean="0">
                <a:solidFill>
                  <a:srgbClr val="00FF00"/>
                </a:solidFill>
              </a:rPr>
              <a:t>string operators</a:t>
            </a:r>
            <a:r>
              <a:rPr lang="en-US" sz="3600" smtClean="0">
                <a:solidFill>
                  <a:srgbClr val="FFFFFF"/>
                </a:solidFill>
              </a:rPr>
              <a:t/>
            </a:r>
            <a:br>
              <a:rPr lang="en-US" sz="3600" smtClean="0">
                <a:solidFill>
                  <a:srgbClr val="FFFFFF"/>
                </a:solidFill>
              </a:rPr>
            </a:br>
            <a:r>
              <a:rPr lang="en-US" sz="3600" smtClean="0">
                <a:solidFill>
                  <a:srgbClr val="FFFFFF"/>
                </a:solidFill>
              </a:rPr>
              <a:t/>
            </a:r>
            <a:br>
              <a:rPr lang="en-US" sz="3600" smtClean="0">
                <a:solidFill>
                  <a:srgbClr val="FFFFFF"/>
                </a:solidFill>
              </a:rPr>
            </a:br>
            <a:r>
              <a:rPr lang="en-US" sz="3600" smtClean="0">
                <a:solidFill>
                  <a:srgbClr val="FFFFFF"/>
                </a:solidFill>
              </a:rPr>
              <a:t>In that category, we look at only one, the </a:t>
            </a:r>
            <a:r>
              <a:rPr lang="en-US" sz="3600" smtClean="0">
                <a:solidFill>
                  <a:srgbClr val="FFFF00"/>
                </a:solidFill>
              </a:rPr>
              <a:t>concatenation</a:t>
            </a:r>
            <a:r>
              <a:rPr lang="en-US" sz="3600" smtClean="0">
                <a:solidFill>
                  <a:srgbClr val="FFFFFF"/>
                </a:solidFill>
              </a:rPr>
              <a:t> operator</a:t>
            </a:r>
          </a:p>
        </p:txBody>
      </p:sp>
    </p:spTree>
    <p:extLst>
      <p:ext uri="{BB962C8B-B14F-4D97-AF65-F5344CB8AC3E}">
        <p14:creationId xmlns:p14="http://schemas.microsoft.com/office/powerpoint/2010/main" val="3105777298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9CE246C9-5A24-45EE-A391-5E78BF43599A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32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The “+” String Operator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0" y="1524000"/>
            <a:ext cx="91440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i="1" smtClean="0">
                <a:solidFill>
                  <a:srgbClr val="FFFFFF"/>
                </a:solidFill>
              </a:rPr>
              <a:t>The “</a:t>
            </a:r>
            <a:r>
              <a:rPr lang="en-US" sz="3200" i="1" smtClean="0">
                <a:solidFill>
                  <a:srgbClr val="FFFF00"/>
                </a:solidFill>
              </a:rPr>
              <a:t>+</a:t>
            </a:r>
            <a:r>
              <a:rPr lang="en-US" sz="3200" i="1" smtClean="0">
                <a:solidFill>
                  <a:srgbClr val="FFFFFF"/>
                </a:solidFill>
              </a:rPr>
              <a:t>” operator can be used to concatenate two strings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i="1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	</a:t>
            </a:r>
            <a:r>
              <a:rPr lang="en-US" sz="3600" smtClean="0">
                <a:solidFill>
                  <a:srgbClr val="FFFFFF"/>
                </a:solidFill>
              </a:rPr>
              <a:t>title </a:t>
            </a:r>
            <a:r>
              <a:rPr lang="en-US" sz="3600" smtClean="0">
                <a:solidFill>
                  <a:srgbClr val="FF66FF"/>
                </a:solidFill>
              </a:rPr>
              <a:t>= “</a:t>
            </a:r>
            <a:r>
              <a:rPr lang="en-US" sz="3600" smtClean="0">
                <a:solidFill>
                  <a:srgbClr val="FFFFFF"/>
                </a:solidFill>
              </a:rPr>
              <a:t>bhola</a:t>
            </a:r>
            <a:r>
              <a:rPr lang="en-US" sz="3600" smtClean="0">
                <a:solidFill>
                  <a:srgbClr val="FF66FF"/>
                </a:solidFill>
              </a:rPr>
              <a:t>” </a:t>
            </a:r>
            <a:r>
              <a:rPr lang="en-US" sz="3600" smtClean="0">
                <a:solidFill>
                  <a:srgbClr val="FFFF00"/>
                </a:solidFill>
              </a:rPr>
              <a:t>+</a:t>
            </a:r>
            <a:r>
              <a:rPr lang="en-US" sz="3600" smtClean="0">
                <a:solidFill>
                  <a:srgbClr val="FF66FF"/>
                </a:solidFill>
              </a:rPr>
              <a:t> “</a:t>
            </a:r>
            <a:r>
              <a:rPr lang="en-US" sz="3600" smtClean="0">
                <a:solidFill>
                  <a:srgbClr val="FFFFFF"/>
                </a:solidFill>
              </a:rPr>
              <a:t>continental</a:t>
            </a:r>
            <a:r>
              <a:rPr lang="en-US" sz="3600" smtClean="0">
                <a:solidFill>
                  <a:srgbClr val="FF66FF"/>
                </a:solidFill>
              </a:rPr>
              <a:t>”</a:t>
            </a: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i="1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i="1" smtClean="0">
                <a:solidFill>
                  <a:srgbClr val="FFFFFF"/>
                </a:solidFill>
              </a:rPr>
              <a:t>The value of the variable title becomes “bholacontinental”</a:t>
            </a:r>
          </a:p>
        </p:txBody>
      </p:sp>
      <p:sp>
        <p:nvSpPr>
          <p:cNvPr id="84997" name="Rectangle 4"/>
          <p:cNvSpPr>
            <a:spLocks noChangeArrowheads="1"/>
          </p:cNvSpPr>
          <p:nvPr/>
        </p:nvSpPr>
        <p:spPr bwMode="auto">
          <a:xfrm>
            <a:off x="0" y="3352800"/>
            <a:ext cx="9067800" cy="1371600"/>
          </a:xfrm>
          <a:prstGeom prst="rect">
            <a:avLst/>
          </a:prstGeom>
          <a:noFill/>
          <a:ln w="7632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sz="280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59107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8C222142-A4B1-4742-8B64-6DAF16E86C74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33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87043" name="Text Box 2"/>
          <p:cNvSpPr txBox="1">
            <a:spLocks noChangeArrowheads="1"/>
          </p:cNvSpPr>
          <p:nvPr/>
        </p:nvSpPr>
        <p:spPr bwMode="auto">
          <a:xfrm>
            <a:off x="68580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Semicolon   </a:t>
            </a:r>
            <a:r>
              <a:rPr lang="en-US" sz="4400" b="1" smtClean="0">
                <a:solidFill>
                  <a:srgbClr val="FFFF00"/>
                </a:solidFill>
              </a:rPr>
              <a:t>;</a:t>
            </a:r>
          </a:p>
        </p:txBody>
      </p:sp>
      <p:sp>
        <p:nvSpPr>
          <p:cNvPr id="87044" name="Text Box 3"/>
          <p:cNvSpPr txBox="1">
            <a:spLocks noChangeArrowheads="1"/>
          </p:cNvSpPr>
          <p:nvPr/>
        </p:nvSpPr>
        <p:spPr bwMode="auto">
          <a:xfrm>
            <a:off x="838200" y="1219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00FF00"/>
                </a:solidFill>
              </a:rPr>
              <a:t>Terminate</a:t>
            </a:r>
            <a:r>
              <a:rPr lang="en-US" sz="3200" smtClean="0">
                <a:solidFill>
                  <a:srgbClr val="FFFFFF"/>
                </a:solidFill>
              </a:rPr>
              <a:t> all JavaScript statements with a semicolon.  It is </a:t>
            </a:r>
            <a:r>
              <a:rPr lang="en-US" sz="3200" smtClean="0">
                <a:solidFill>
                  <a:srgbClr val="00FF00"/>
                </a:solidFill>
              </a:rPr>
              <a:t>not always necessary</a:t>
            </a:r>
            <a:r>
              <a:rPr lang="en-US" sz="3200" smtClean="0">
                <a:solidFill>
                  <a:srgbClr val="FFFFFF"/>
                </a:solidFill>
              </a:rPr>
              <a:t>, but highly recommended.</a:t>
            </a:r>
          </a:p>
          <a:p>
            <a:pPr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200" smtClean="0">
                <a:solidFill>
                  <a:srgbClr val="FFFFFF"/>
                </a:solidFill>
              </a:rPr>
              <a:t>	</a:t>
            </a:r>
            <a:r>
              <a:rPr lang="en-US" sz="3600" smtClean="0">
                <a:solidFill>
                  <a:srgbClr val="FFFFFF"/>
                </a:solidFill>
              </a:rPr>
              <a:t>a = 23</a:t>
            </a:r>
            <a:r>
              <a:rPr lang="en-US" sz="3600" smtClean="0">
                <a:solidFill>
                  <a:srgbClr val="FF66FF"/>
                </a:solidFill>
              </a:rPr>
              <a:t> ;</a:t>
            </a: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	</a:t>
            </a:r>
            <a:r>
              <a:rPr lang="en-US" sz="3600" smtClean="0">
                <a:solidFill>
                  <a:srgbClr val="FFFFFF"/>
                </a:solidFill>
              </a:rPr>
              <a:t>quotient = floor( a / 2)</a:t>
            </a:r>
            <a:r>
              <a:rPr lang="en-US" sz="3600" smtClean="0">
                <a:solidFill>
                  <a:srgbClr val="FF66FF"/>
                </a:solidFill>
              </a:rPr>
              <a:t> ;</a:t>
            </a:r>
          </a:p>
          <a:p>
            <a:pPr defTabSz="457200" eaLnBrk="0" fontAlgn="base" hangingPunct="0">
              <a:spcBef>
                <a:spcPts val="913"/>
              </a:spcBef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	</a:t>
            </a:r>
            <a:r>
              <a:rPr lang="en-US" sz="3600" smtClean="0">
                <a:solidFill>
                  <a:srgbClr val="FFFFFF"/>
                </a:solidFill>
              </a:rPr>
              <a:t>remainder = a % 2</a:t>
            </a:r>
            <a:r>
              <a:rPr lang="en-US" sz="3600" smtClean="0">
                <a:solidFill>
                  <a:srgbClr val="FF66FF"/>
                </a:solidFill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197365813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724FA7C4-F1EB-4D0A-8864-D42D311EEFBB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34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0" y="-2286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Elements of JavaScript Statements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52400" y="1295400"/>
            <a:ext cx="6096000" cy="5105400"/>
          </a:xfrm>
          <a:prstGeom prst="rect">
            <a:avLst/>
          </a:prstGeom>
          <a:noFill/>
          <a:ln w="7632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00FF00"/>
                </a:solidFill>
              </a:rPr>
              <a:t>b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FF00"/>
                </a:solidFill>
              </a:rPr>
              <a:t>=</a:t>
            </a:r>
            <a:r>
              <a:rPr lang="en-US" sz="3200" smtClean="0">
                <a:solidFill>
                  <a:srgbClr val="FFFFFF"/>
                </a:solidFill>
              </a:rPr>
              <a:t> 2</a:t>
            </a:r>
            <a:r>
              <a:rPr lang="en-US" sz="3200" smtClean="0">
                <a:solidFill>
                  <a:srgbClr val="FF66FF"/>
                </a:solidFill>
              </a:rPr>
              <a:t>;</a:t>
            </a: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00FF00"/>
                </a:solidFill>
              </a:rPr>
              <a:t>sum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FF00"/>
                </a:solidFill>
              </a:rPr>
              <a:t>=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00FF00"/>
                </a:solidFill>
              </a:rPr>
              <a:t>sum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FF00"/>
                </a:solidFill>
              </a:rPr>
              <a:t>+</a:t>
            </a:r>
            <a:r>
              <a:rPr lang="en-US" sz="3200" smtClean="0">
                <a:solidFill>
                  <a:srgbClr val="FFFFFF"/>
                </a:solidFill>
              </a:rPr>
              <a:t> 49</a:t>
            </a:r>
            <a:r>
              <a:rPr lang="en-US" sz="3200" smtClean="0">
                <a:solidFill>
                  <a:srgbClr val="FF66FF"/>
                </a:solidFill>
              </a:rPr>
              <a:t>;</a:t>
            </a: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00FF00"/>
                </a:solidFill>
              </a:rPr>
              <a:t>name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FF00"/>
                </a:solidFill>
              </a:rPr>
              <a:t>=</a:t>
            </a:r>
            <a:r>
              <a:rPr lang="en-US" sz="3200" smtClean="0">
                <a:solidFill>
                  <a:srgbClr val="FFFFFF"/>
                </a:solidFill>
              </a:rPr>
              <a:t> “Bhola” </a:t>
            </a:r>
            <a:r>
              <a:rPr lang="en-US" sz="3200" smtClean="0">
                <a:solidFill>
                  <a:srgbClr val="FFFF00"/>
                </a:solidFill>
              </a:rPr>
              <a:t>+</a:t>
            </a:r>
            <a:r>
              <a:rPr lang="en-US" sz="3200" smtClean="0">
                <a:solidFill>
                  <a:srgbClr val="FFFFFF"/>
                </a:solidFill>
              </a:rPr>
              <a:t> “ Continental”</a:t>
            </a:r>
            <a:r>
              <a:rPr lang="en-US" sz="3200" smtClean="0">
                <a:solidFill>
                  <a:srgbClr val="FF66FF"/>
                </a:solidFill>
              </a:rPr>
              <a:t>;</a:t>
            </a: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algn="ctr" defTabSz="457200" eaLnBrk="0" fontAlgn="base" hangingPunct="0">
              <a:spcBef>
                <a:spcPts val="813"/>
              </a:spcBef>
              <a:buClrTx/>
              <a:buFontTx/>
              <a:buNone/>
            </a:pPr>
            <a:r>
              <a:rPr lang="en-US" sz="3200" smtClean="0">
                <a:solidFill>
                  <a:srgbClr val="00FF00"/>
                </a:solidFill>
              </a:rPr>
              <a:t>x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FF00"/>
                </a:solidFill>
              </a:rPr>
              <a:t>=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00FF00"/>
                </a:solidFill>
              </a:rPr>
              <a:t>Math.floor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66FF"/>
                </a:solidFill>
              </a:rPr>
              <a:t>(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00FF00"/>
                </a:solidFill>
              </a:rPr>
              <a:t>x</a:t>
            </a:r>
            <a:r>
              <a:rPr lang="en-US" sz="3200" smtClean="0">
                <a:solidFill>
                  <a:srgbClr val="FFFFFF"/>
                </a:solidFill>
              </a:rPr>
              <a:t> </a:t>
            </a:r>
            <a:r>
              <a:rPr lang="en-US" sz="3200" smtClean="0">
                <a:solidFill>
                  <a:srgbClr val="FF66FF"/>
                </a:solidFill>
              </a:rPr>
              <a:t>);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6248400" y="1295400"/>
            <a:ext cx="2743200" cy="5105400"/>
          </a:xfrm>
          <a:prstGeom prst="rect">
            <a:avLst/>
          </a:prstGeom>
          <a:noFill/>
          <a:ln w="76320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buClrTx/>
              <a:buFontTx/>
              <a:buNone/>
            </a:pPr>
            <a:r>
              <a:rPr lang="en-US" sz="3600" smtClean="0">
                <a:solidFill>
                  <a:srgbClr val="00FF00"/>
                </a:solidFill>
              </a:rPr>
              <a:t>Identifiers</a:t>
            </a:r>
          </a:p>
          <a:p>
            <a:pPr defTabSz="457200" eaLnBrk="0" fontAlgn="base" hangingPunct="0"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defTabSz="457200" eaLnBrk="0" fontAlgn="base" hangingPunct="0">
              <a:buClrTx/>
              <a:buFontTx/>
              <a:buNone/>
            </a:pPr>
            <a:r>
              <a:rPr lang="en-US" sz="3600" smtClean="0">
                <a:solidFill>
                  <a:srgbClr val="FFFF00"/>
                </a:solidFill>
              </a:rPr>
              <a:t>Operators</a:t>
            </a:r>
          </a:p>
          <a:p>
            <a:pPr defTabSz="457200" eaLnBrk="0" fontAlgn="base" hangingPunct="0">
              <a:buClrTx/>
              <a:buFontTx/>
              <a:buNone/>
            </a:pPr>
            <a:endParaRPr lang="en-US" sz="3600" smtClean="0">
              <a:solidFill>
                <a:srgbClr val="FFFF00"/>
              </a:solidFill>
            </a:endParaRPr>
          </a:p>
          <a:p>
            <a:pPr defTabSz="457200" eaLnBrk="0" fontAlgn="base" hangingPunct="0">
              <a:buClrTx/>
              <a:buFontTx/>
              <a:buNone/>
            </a:pPr>
            <a:r>
              <a:rPr lang="en-US" sz="3600" smtClean="0">
                <a:solidFill>
                  <a:srgbClr val="FFFFFF"/>
                </a:solidFill>
              </a:rPr>
              <a:t>Literals</a:t>
            </a:r>
          </a:p>
          <a:p>
            <a:pPr defTabSz="457200" eaLnBrk="0" fontAlgn="base" hangingPunct="0">
              <a:buClrTx/>
              <a:buFontTx/>
              <a:buNone/>
            </a:pPr>
            <a:endParaRPr lang="en-US" sz="3600" smtClean="0">
              <a:solidFill>
                <a:srgbClr val="FFFFFF"/>
              </a:solidFill>
            </a:endParaRPr>
          </a:p>
          <a:p>
            <a:pPr defTabSz="457200" eaLnBrk="0" fontAlgn="base" hangingPunct="0">
              <a:buClrTx/>
              <a:buFontTx/>
              <a:buNone/>
            </a:pPr>
            <a:r>
              <a:rPr lang="en-US" sz="3600" smtClean="0">
                <a:solidFill>
                  <a:srgbClr val="FF66FF"/>
                </a:solidFill>
              </a:rPr>
              <a:t>Punctuation</a:t>
            </a:r>
          </a:p>
        </p:txBody>
      </p:sp>
    </p:spTree>
    <p:extLst>
      <p:ext uri="{BB962C8B-B14F-4D97-AF65-F5344CB8AC3E}">
        <p14:creationId xmlns:p14="http://schemas.microsoft.com/office/powerpoint/2010/main" val="820583358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D383566B-A621-4610-8339-9CFF81D65C20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35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91139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buClrTx/>
              <a:buFontTx/>
              <a:buNone/>
            </a:pPr>
            <a:r>
              <a:rPr lang="en-US" sz="3600" smtClean="0">
                <a:solidFill>
                  <a:srgbClr val="00FF00"/>
                </a:solidFill>
              </a:rPr>
              <a:t>Two more elements that are found</a:t>
            </a:r>
            <a:r>
              <a:rPr lang="en-US" sz="3600" smtClean="0">
                <a:solidFill>
                  <a:srgbClr val="FFFFFF"/>
                </a:solidFill>
              </a:rPr>
              <a:t> in JavaScript statements are white spaces and line breaks</a:t>
            </a:r>
          </a:p>
        </p:txBody>
      </p:sp>
    </p:spTree>
    <p:extLst>
      <p:ext uri="{BB962C8B-B14F-4D97-AF65-F5344CB8AC3E}">
        <p14:creationId xmlns:p14="http://schemas.microsoft.com/office/powerpoint/2010/main" val="1797220359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17214A3C-7951-4238-B799-A0E9A7D426E3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36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93187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White Spaces &amp; Line Breaks</a:t>
            </a:r>
          </a:p>
        </p:txBody>
      </p:sp>
      <p:sp>
        <p:nvSpPr>
          <p:cNvPr id="93188" name="Text Box 3"/>
          <p:cNvSpPr txBox="1">
            <a:spLocks noChangeArrowheads="1"/>
          </p:cNvSpPr>
          <p:nvPr/>
        </p:nvSpPr>
        <p:spPr bwMode="auto">
          <a:xfrm>
            <a:off x="0" y="1143000"/>
            <a:ext cx="9144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White spaces:  The </a:t>
            </a:r>
            <a:r>
              <a:rPr lang="en-US" sz="3200" smtClean="0">
                <a:solidFill>
                  <a:srgbClr val="00FF00"/>
                </a:solidFill>
              </a:rPr>
              <a:t>space &amp; the tab</a:t>
            </a:r>
            <a:r>
              <a:rPr lang="en-US" sz="3200" smtClean="0">
                <a:solidFill>
                  <a:srgbClr val="FFFFFF"/>
                </a:solidFill>
              </a:rPr>
              <a:t> characters</a:t>
            </a:r>
          </a:p>
          <a:p>
            <a:pPr defTabSz="457200" eaLnBrk="0" fontAlgn="base" hangingPunct="0"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JavaScript </a:t>
            </a:r>
            <a:r>
              <a:rPr lang="en-US" sz="3200" smtClean="0">
                <a:solidFill>
                  <a:srgbClr val="00FF00"/>
                </a:solidFill>
              </a:rPr>
              <a:t>ignores any extra white spaces</a:t>
            </a:r>
            <a:r>
              <a:rPr lang="en-US" sz="3200" smtClean="0">
                <a:solidFill>
                  <a:srgbClr val="FFFFFF"/>
                </a:solidFill>
              </a:rPr>
              <a:t> or line breaks that you put in the code</a:t>
            </a:r>
          </a:p>
          <a:p>
            <a:pPr defTabSz="457200" eaLnBrk="0" fontAlgn="base" hangingPunct="0"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32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This </a:t>
            </a:r>
            <a:r>
              <a:rPr lang="en-US" sz="3200" smtClean="0">
                <a:solidFill>
                  <a:srgbClr val="FFFF00"/>
                </a:solidFill>
              </a:rPr>
              <a:t>gives you the freedom</a:t>
            </a:r>
            <a:r>
              <a:rPr lang="en-US" sz="3200" smtClean="0">
                <a:solidFill>
                  <a:srgbClr val="FFFFFF"/>
                </a:solidFill>
              </a:rPr>
              <a:t> of using them for making your code appear </a:t>
            </a:r>
            <a:r>
              <a:rPr lang="en-US" sz="3200" smtClean="0">
                <a:solidFill>
                  <a:srgbClr val="FFFF00"/>
                </a:solidFill>
              </a:rPr>
              <a:t>neat </a:t>
            </a:r>
            <a:r>
              <a:rPr lang="en-US" sz="3200" smtClean="0">
                <a:solidFill>
                  <a:srgbClr val="FFFFFF"/>
                </a:solidFill>
              </a:rPr>
              <a:t>and </a:t>
            </a:r>
            <a:r>
              <a:rPr lang="en-US" sz="3200" smtClean="0">
                <a:solidFill>
                  <a:srgbClr val="FFFF00"/>
                </a:solidFill>
              </a:rPr>
              <a:t>readable</a:t>
            </a:r>
          </a:p>
        </p:txBody>
      </p:sp>
    </p:spTree>
    <p:extLst>
      <p:ext uri="{BB962C8B-B14F-4D97-AF65-F5344CB8AC3E}">
        <p14:creationId xmlns:p14="http://schemas.microsoft.com/office/powerpoint/2010/main" val="4064783008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910421B6-5359-48A7-82D4-F809F34C9E39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37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Comments</a:t>
            </a:r>
          </a:p>
        </p:txBody>
      </p:sp>
      <p:sp>
        <p:nvSpPr>
          <p:cNvPr id="99332" name="Text Box 3"/>
          <p:cNvSpPr txBox="1">
            <a:spLocks noChangeArrowheads="1"/>
          </p:cNvSpPr>
          <p:nvPr/>
        </p:nvSpPr>
        <p:spPr bwMode="auto">
          <a:xfrm>
            <a:off x="0" y="1143000"/>
            <a:ext cx="9144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Comments are included on a Web page to </a:t>
            </a:r>
            <a:r>
              <a:rPr lang="en-US" sz="3200" smtClean="0">
                <a:solidFill>
                  <a:srgbClr val="00FF00"/>
                </a:solidFill>
              </a:rPr>
              <a:t>explain how and why you wrote</a:t>
            </a:r>
            <a:r>
              <a:rPr lang="en-US" sz="3200" smtClean="0">
                <a:solidFill>
                  <a:srgbClr val="FFFFFF"/>
                </a:solidFill>
              </a:rPr>
              <a:t> the page the way you did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mtClean="0">
              <a:solidFill>
                <a:srgbClr val="FFFFFF"/>
              </a:solidFill>
            </a:endParaRPr>
          </a:p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Comments can help </a:t>
            </a:r>
            <a:r>
              <a:rPr lang="en-US" sz="3200" smtClean="0">
                <a:solidFill>
                  <a:srgbClr val="FFFF00"/>
                </a:solidFill>
              </a:rPr>
              <a:t>someone other than the author to follow</a:t>
            </a:r>
            <a:r>
              <a:rPr lang="en-US" sz="3200" smtClean="0">
                <a:solidFill>
                  <a:srgbClr val="FFFFFF"/>
                </a:solidFill>
              </a:rPr>
              <a:t> the logic of the page in the author’s absence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7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mtClean="0">
              <a:solidFill>
                <a:srgbClr val="FFFFFF"/>
              </a:solidFill>
            </a:endParaRPr>
          </a:p>
          <a:p>
            <a:pPr defTabSz="457200" eaLnBrk="0" fontAlgn="base" hangingPunct="0">
              <a:lnSpc>
                <a:spcPct val="90000"/>
              </a:lnSpc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FFFFFF"/>
                </a:solidFill>
              </a:rPr>
              <a:t>The commented text is </a:t>
            </a:r>
            <a:r>
              <a:rPr lang="en-US" sz="3200" smtClean="0">
                <a:solidFill>
                  <a:srgbClr val="FFFF00"/>
                </a:solidFill>
              </a:rPr>
              <a:t>neither displayed in the browser nor does it have any effect</a:t>
            </a:r>
            <a:r>
              <a:rPr lang="en-US" sz="3200" smtClean="0">
                <a:solidFill>
                  <a:srgbClr val="FFFFFF"/>
                </a:solidFill>
              </a:rPr>
              <a:t> on the </a:t>
            </a:r>
            <a:r>
              <a:rPr lang="en-US" sz="3200" smtClean="0">
                <a:solidFill>
                  <a:srgbClr val="00FF00"/>
                </a:solidFill>
              </a:rPr>
              <a:t>logical performance</a:t>
            </a:r>
            <a:r>
              <a:rPr lang="en-US" sz="3200" smtClean="0">
                <a:solidFill>
                  <a:srgbClr val="FFFFFF"/>
                </a:solidFill>
              </a:rPr>
              <a:t> of the Web page, and is visible only when the </a:t>
            </a:r>
            <a:r>
              <a:rPr lang="en-US" sz="3200" smtClean="0">
                <a:solidFill>
                  <a:srgbClr val="00FFFF"/>
                </a:solidFill>
              </a:rPr>
              <a:t>actual code is viewed</a:t>
            </a:r>
          </a:p>
        </p:txBody>
      </p:sp>
    </p:spTree>
    <p:extLst>
      <p:ext uri="{BB962C8B-B14F-4D97-AF65-F5344CB8AC3E}">
        <p14:creationId xmlns:p14="http://schemas.microsoft.com/office/powerpoint/2010/main" val="3254943325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C1014BA8-459A-4699-8FFA-C97A5340D501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38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101379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JavaScript Comments</a:t>
            </a:r>
          </a:p>
        </p:txBody>
      </p:sp>
      <p:sp>
        <p:nvSpPr>
          <p:cNvPr id="101380" name="Text Box 3"/>
          <p:cNvSpPr txBox="1">
            <a:spLocks noChangeArrowheads="1"/>
          </p:cNvSpPr>
          <p:nvPr/>
        </p:nvSpPr>
        <p:spPr bwMode="auto">
          <a:xfrm>
            <a:off x="152400" y="1143000"/>
            <a:ext cx="89154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lnSpc>
                <a:spcPct val="90000"/>
              </a:lnSpc>
              <a:spcBef>
                <a:spcPts val="1013"/>
              </a:spcBef>
              <a:buClr>
                <a:srgbClr val="00FF00"/>
              </a:buClr>
              <a:buFont typeface="Arial" panose="020B0604020202020204" pitchFamily="34" charset="0"/>
              <a:buChar char="•"/>
            </a:pPr>
            <a:r>
              <a:rPr lang="en-US" sz="4000" i="1" smtClean="0">
                <a:solidFill>
                  <a:srgbClr val="00FF00"/>
                </a:solidFill>
              </a:rPr>
              <a:t>Single-line</a:t>
            </a:r>
            <a:r>
              <a:rPr lang="en-US" sz="4000" smtClean="0">
                <a:solidFill>
                  <a:srgbClr val="00FF00"/>
                </a:solidFill>
              </a:rPr>
              <a:t> comments</a:t>
            </a:r>
            <a:r>
              <a:rPr lang="en-US" sz="4000" smtClean="0">
                <a:solidFill>
                  <a:srgbClr val="FFFFFF"/>
                </a:solidFill>
              </a:rPr>
              <a:t> (two options)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46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1800" smtClean="0">
              <a:solidFill>
                <a:srgbClr val="FFFFFF"/>
              </a:solidFill>
            </a:endParaRP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1013"/>
              </a:spcBef>
              <a:buClrTx/>
              <a:buFontTx/>
              <a:buNone/>
            </a:pPr>
            <a:r>
              <a:rPr lang="en-US" sz="4000" smtClean="0">
                <a:solidFill>
                  <a:srgbClr val="FFFFFF"/>
                </a:solidFill>
              </a:rPr>
              <a:t>	</a:t>
            </a:r>
            <a:r>
              <a:rPr lang="en-US" sz="4000" smtClean="0">
                <a:solidFill>
                  <a:srgbClr val="FF66FF"/>
                </a:solidFill>
              </a:rPr>
              <a:t>//</a:t>
            </a:r>
            <a:r>
              <a:rPr lang="en-US" sz="4000" smtClean="0">
                <a:solidFill>
                  <a:srgbClr val="FFFFFF"/>
                </a:solidFill>
              </a:rPr>
              <a:t> Author: Bhola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1013"/>
              </a:spcBef>
              <a:buClrTx/>
              <a:buFontTx/>
              <a:buNone/>
            </a:pPr>
            <a:r>
              <a:rPr lang="en-US" sz="4000" smtClean="0">
                <a:solidFill>
                  <a:srgbClr val="FFFFFF"/>
                </a:solidFill>
              </a:rPr>
              <a:t>	</a:t>
            </a:r>
            <a:r>
              <a:rPr lang="en-US" sz="4000" smtClean="0">
                <a:solidFill>
                  <a:srgbClr val="FF66FF"/>
                </a:solidFill>
              </a:rPr>
              <a:t>&lt;!-- </a:t>
            </a:r>
            <a:r>
              <a:rPr lang="en-US" sz="4000" smtClean="0">
                <a:solidFill>
                  <a:srgbClr val="FFFFFF"/>
                </a:solidFill>
              </a:rPr>
              <a:t>Creation Date: 24 March 2003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10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4000" smtClean="0">
              <a:solidFill>
                <a:srgbClr val="FFFFFF"/>
              </a:solidFill>
            </a:endParaRPr>
          </a:p>
          <a:p>
            <a:pPr defTabSz="457200" eaLnBrk="0" fontAlgn="base" hangingPunct="0">
              <a:lnSpc>
                <a:spcPct val="90000"/>
              </a:lnSpc>
              <a:spcBef>
                <a:spcPts val="1013"/>
              </a:spcBef>
              <a:buClr>
                <a:srgbClr val="00FF00"/>
              </a:buClr>
              <a:buFont typeface="Arial" panose="020B0604020202020204" pitchFamily="34" charset="0"/>
              <a:buChar char="•"/>
            </a:pPr>
            <a:r>
              <a:rPr lang="en-US" sz="4000" i="1" smtClean="0">
                <a:solidFill>
                  <a:srgbClr val="00FF00"/>
                </a:solidFill>
              </a:rPr>
              <a:t>Multi-line</a:t>
            </a:r>
            <a:r>
              <a:rPr lang="en-US" sz="4000" smtClean="0">
                <a:solidFill>
                  <a:srgbClr val="FFFFFF"/>
                </a:solidFill>
              </a:rPr>
              <a:t> comments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46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1800" smtClean="0">
              <a:solidFill>
                <a:srgbClr val="FFFFFF"/>
              </a:solidFill>
            </a:endParaRP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1013"/>
              </a:spcBef>
              <a:buClrTx/>
              <a:buFontTx/>
              <a:buNone/>
            </a:pPr>
            <a:r>
              <a:rPr lang="en-US" sz="4000" smtClean="0">
                <a:solidFill>
                  <a:srgbClr val="FFFFFF"/>
                </a:solidFill>
              </a:rPr>
              <a:t>	</a:t>
            </a:r>
            <a:r>
              <a:rPr lang="en-US" sz="4000" smtClean="0">
                <a:solidFill>
                  <a:srgbClr val="FF66FF"/>
                </a:solidFill>
              </a:rPr>
              <a:t>/*</a:t>
            </a:r>
            <a:r>
              <a:rPr lang="en-US" sz="4000" smtClean="0">
                <a:solidFill>
                  <a:srgbClr val="FFFFFF"/>
                </a:solidFill>
              </a:rPr>
              <a:t> Author: Bhola</a:t>
            </a:r>
          </a:p>
          <a:p>
            <a:pPr marL="742950" lvl="1" indent="-285750" defTabSz="457200" eaLnBrk="0" fontAlgn="base" hangingPunct="0">
              <a:lnSpc>
                <a:spcPct val="90000"/>
              </a:lnSpc>
              <a:spcBef>
                <a:spcPts val="1013"/>
              </a:spcBef>
              <a:buClrTx/>
              <a:buFontTx/>
              <a:buNone/>
            </a:pPr>
            <a:r>
              <a:rPr lang="en-US" sz="4000" smtClean="0">
                <a:solidFill>
                  <a:srgbClr val="FFFFFF"/>
                </a:solidFill>
              </a:rPr>
              <a:t>	   Creation Date: 24 March 2003 </a:t>
            </a:r>
            <a:r>
              <a:rPr lang="en-US" sz="4000" smtClean="0">
                <a:solidFill>
                  <a:srgbClr val="FF66FF"/>
                </a:solidFill>
              </a:rPr>
              <a:t>*/</a:t>
            </a:r>
          </a:p>
          <a:p>
            <a:pPr defTabSz="457200" eaLnBrk="0" fontAlgn="base" hangingPunct="0">
              <a:lnSpc>
                <a:spcPct val="90000"/>
              </a:lnSpc>
              <a:spcBef>
                <a:spcPts val="1013"/>
              </a:spcBef>
              <a:buClr>
                <a:srgbClr val="FF66FF"/>
              </a:buClr>
              <a:buFont typeface="Arial" panose="020B0604020202020204" pitchFamily="34" charset="0"/>
              <a:buNone/>
            </a:pPr>
            <a:endParaRPr lang="en-US" sz="4000" smtClean="0">
              <a:solidFill>
                <a:srgbClr val="FF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46199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120F4A61-C6FB-4184-943F-8497744C89C5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39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103427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4400" smtClean="0">
                <a:solidFill>
                  <a:srgbClr val="FFFF00"/>
                </a:solidFill>
              </a:rPr>
              <a:t>HTML Comments</a:t>
            </a:r>
          </a:p>
        </p:txBody>
      </p:sp>
      <p:sp>
        <p:nvSpPr>
          <p:cNvPr id="103428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763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defTabSz="457200" eaLnBrk="0" fontAlgn="base" hangingPunct="0">
              <a:spcBef>
                <a:spcPts val="1013"/>
              </a:spcBef>
              <a:buClrTx/>
              <a:buFontTx/>
              <a:buNone/>
            </a:pPr>
            <a:endParaRPr lang="en-US" sz="40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1013"/>
              </a:spcBef>
              <a:buClrTx/>
              <a:buFontTx/>
              <a:buNone/>
            </a:pPr>
            <a:endParaRPr lang="en-US" sz="40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1013"/>
              </a:spcBef>
              <a:buClrTx/>
              <a:buFontTx/>
              <a:buNone/>
            </a:pPr>
            <a:r>
              <a:rPr lang="en-US" sz="4000" smtClean="0">
                <a:solidFill>
                  <a:srgbClr val="00FF00"/>
                </a:solidFill>
              </a:rPr>
              <a:t>&lt;!-- </a:t>
            </a:r>
            <a:r>
              <a:rPr lang="en-US" sz="4000" smtClean="0">
                <a:solidFill>
                  <a:srgbClr val="FFFFFF"/>
                </a:solidFill>
              </a:rPr>
              <a:t>Author: Bhola</a:t>
            </a:r>
          </a:p>
          <a:p>
            <a:pPr marL="742950" lvl="1" indent="-285750" defTabSz="457200" eaLnBrk="0" fontAlgn="base" hangingPunct="0">
              <a:spcBef>
                <a:spcPts val="1013"/>
              </a:spcBef>
              <a:buClrTx/>
              <a:buFontTx/>
              <a:buNone/>
            </a:pPr>
            <a:r>
              <a:rPr lang="en-US" sz="4000" smtClean="0">
                <a:solidFill>
                  <a:srgbClr val="FFFFFF"/>
                </a:solidFill>
              </a:rPr>
              <a:t>	</a:t>
            </a:r>
            <a:r>
              <a:rPr lang="en-US" sz="4000" smtClean="0">
                <a:solidFill>
                  <a:srgbClr val="FF66FF"/>
                </a:solidFill>
              </a:rPr>
              <a:t> </a:t>
            </a:r>
            <a:r>
              <a:rPr lang="en-US" sz="4000" smtClean="0">
                <a:solidFill>
                  <a:srgbClr val="FFFFFF"/>
                </a:solidFill>
              </a:rPr>
              <a:t>Creation Date: 24 March 2003 </a:t>
            </a:r>
            <a:r>
              <a:rPr lang="en-US" sz="4000" smtClean="0">
                <a:solidFill>
                  <a:srgbClr val="00FF00"/>
                </a:solidFill>
              </a:rPr>
              <a:t>--&gt;</a:t>
            </a:r>
          </a:p>
          <a:p>
            <a:pPr defTabSz="457200" eaLnBrk="0" fontAlgn="base" hangingPunct="0">
              <a:spcBef>
                <a:spcPts val="1013"/>
              </a:spcBef>
              <a:buClrTx/>
              <a:buFontTx/>
              <a:buNone/>
            </a:pPr>
            <a:endParaRPr lang="en-US" sz="4000" smtClean="0">
              <a:solidFill>
                <a:srgbClr val="FFFFFF"/>
              </a:solidFill>
            </a:endParaRPr>
          </a:p>
          <a:p>
            <a:pPr defTabSz="457200" eaLnBrk="0" fontAlgn="base" hangingPunct="0">
              <a:spcBef>
                <a:spcPts val="1113"/>
              </a:spcBef>
              <a:buClrTx/>
              <a:buFontTx/>
              <a:buNone/>
            </a:pPr>
            <a:endParaRPr lang="en-US" sz="4400" smtClean="0">
              <a:solidFill>
                <a:srgbClr val="FF66FF"/>
              </a:solidFill>
            </a:endParaRPr>
          </a:p>
          <a:p>
            <a:pPr defTabSz="457200" eaLnBrk="0" fontAlgn="base" hangingPunct="0">
              <a:spcBef>
                <a:spcPts val="1113"/>
              </a:spcBef>
              <a:buClr>
                <a:srgbClr val="FF66FF"/>
              </a:buClr>
              <a:buFont typeface="Arial" panose="020B0604020202020204" pitchFamily="34" charset="0"/>
              <a:buNone/>
            </a:pPr>
            <a:endParaRPr lang="en-US" sz="4400" smtClean="0">
              <a:solidFill>
                <a:srgbClr val="FF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60608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C00C1A2E-A560-4B7C-9D74-B64839751E49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40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105475" name="Text Box 2"/>
          <p:cNvSpPr txBox="1">
            <a:spLocks noChangeArrowheads="1"/>
          </p:cNvSpPr>
          <p:nvPr/>
        </p:nvSpPr>
        <p:spPr bwMode="auto">
          <a:xfrm>
            <a:off x="0" y="76200"/>
            <a:ext cx="91440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15000" i="1" smtClean="0">
                <a:solidFill>
                  <a:srgbClr val="FFFF00"/>
                </a:solidFill>
                <a:latin typeface="Times New Roman" panose="02020603050405020304" pitchFamily="18" charset="0"/>
              </a:rPr>
              <a:t>comments add clarity!</a:t>
            </a:r>
          </a:p>
        </p:txBody>
      </p:sp>
    </p:spTree>
    <p:extLst>
      <p:ext uri="{BB962C8B-B14F-4D97-AF65-F5344CB8AC3E}">
        <p14:creationId xmlns:p14="http://schemas.microsoft.com/office/powerpoint/2010/main" val="338547319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 defTabSz="457200" eaLnBrk="0" fontAlgn="base" hangingPunct="0">
              <a:buClrTx/>
              <a:buFontTx/>
              <a:buNone/>
            </a:pPr>
            <a:fld id="{72732246-9FD6-49EA-A4E2-E8F57A4C0586}" type="slidenum">
              <a:rPr lang="en-US" sz="1400" smtClean="0">
                <a:solidFill>
                  <a:srgbClr val="FFFFFF"/>
                </a:solidFill>
              </a:rPr>
              <a:pPr algn="r" defTabSz="457200" eaLnBrk="0" fontAlgn="base" hangingPunct="0">
                <a:buClrTx/>
                <a:buFontTx/>
                <a:buNone/>
              </a:pPr>
              <a:t>41</a:t>
            </a:fld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107523" name="Text Box 2"/>
          <p:cNvSpPr txBox="1">
            <a:spLocks noChangeArrowheads="1"/>
          </p:cNvSpPr>
          <p:nvPr/>
        </p:nvSpPr>
        <p:spPr bwMode="auto">
          <a:xfrm>
            <a:off x="0" y="76200"/>
            <a:ext cx="91440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bg1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 defTabSz="457200" eaLnBrk="0" fontAlgn="base" hangingPunct="0">
              <a:buClrTx/>
              <a:buFontTx/>
              <a:buNone/>
            </a:pPr>
            <a:r>
              <a:rPr lang="en-US" sz="11300" i="1" smtClean="0">
                <a:solidFill>
                  <a:srgbClr val="FFFF00"/>
                </a:solidFill>
                <a:latin typeface="Times New Roman" panose="02020603050405020304" pitchFamily="18" charset="0"/>
              </a:rPr>
              <a:t>comments let the code speak for itself!</a:t>
            </a:r>
          </a:p>
        </p:txBody>
      </p:sp>
    </p:spTree>
    <p:extLst>
      <p:ext uri="{BB962C8B-B14F-4D97-AF65-F5344CB8AC3E}">
        <p14:creationId xmlns:p14="http://schemas.microsoft.com/office/powerpoint/2010/main" val="1885051538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 in 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</a:p>
          <a:p>
            <a:pPr lvl="1"/>
            <a:r>
              <a:rPr lang="en-US" dirty="0"/>
              <a:t>A JavaScript string is zero or more characters written inside quotes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/>
              <a:t>let carName1 = "Volvo XC60";  // </a:t>
            </a:r>
            <a:r>
              <a:rPr lang="en-US"/>
              <a:t>Double </a:t>
            </a:r>
            <a:r>
              <a:rPr lang="en-US" smtClean="0"/>
              <a:t>quotes</a:t>
            </a:r>
          </a:p>
          <a:p>
            <a:pPr lvl="1"/>
            <a:r>
              <a:rPr lang="en-US" smtClean="0"/>
              <a:t>let</a:t>
            </a:r>
            <a:r>
              <a:rPr lang="en-US" dirty="0"/>
              <a:t> carName2 = 'Volvo XC60';  // Single quotes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502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 in 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fontScale="92500"/>
          </a:bodyPr>
          <a:lstStyle/>
          <a:p>
            <a:r>
              <a:rPr lang="en-US" dirty="0"/>
              <a:t>Escape Characters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Because strings must be written within quotes, JavaScript will misunderstand this string</a:t>
            </a:r>
            <a:r>
              <a:rPr lang="en-US" dirty="0" smtClean="0"/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let text = "We are the so-called "Vikings" from the north.";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000000"/>
                </a:solidFill>
              </a:rPr>
              <a:t>The </a:t>
            </a:r>
            <a:r>
              <a:rPr lang="en-US" altLang="en-US" dirty="0">
                <a:solidFill>
                  <a:srgbClr val="000000"/>
                </a:solidFill>
              </a:rPr>
              <a:t>string will be chopped to "We are the so-called ".</a:t>
            </a:r>
            <a:endParaRPr lang="en-US" altLang="en-US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</a:rPr>
              <a:t>The solution to avoid this problem, is to use the </a:t>
            </a:r>
            <a:r>
              <a:rPr lang="en-US" altLang="en-US" b="1" dirty="0">
                <a:solidFill>
                  <a:srgbClr val="000000"/>
                </a:solidFill>
              </a:rPr>
              <a:t>backslash escape character</a:t>
            </a:r>
            <a:r>
              <a:rPr lang="en-US" altLang="en-US" dirty="0">
                <a:solidFill>
                  <a:srgbClr val="000000"/>
                </a:solidFill>
              </a:rPr>
              <a:t>.</a:t>
            </a:r>
            <a:endParaRPr lang="en-US" altLang="en-US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</a:rPr>
              <a:t>The backslash (</a:t>
            </a:r>
            <a:r>
              <a:rPr lang="en-US" altLang="en-US" dirty="0">
                <a:solidFill>
                  <a:srgbClr val="DC143C"/>
                </a:solidFill>
                <a:cs typeface="Consolas" panose="020B0609020204030204" pitchFamily="49" charset="0"/>
              </a:rPr>
              <a:t>\</a:t>
            </a:r>
            <a:r>
              <a:rPr lang="en-US" altLang="en-US" dirty="0">
                <a:solidFill>
                  <a:srgbClr val="000000"/>
                </a:solidFill>
              </a:rPr>
              <a:t>) escape character turns special </a:t>
            </a:r>
            <a:r>
              <a:rPr lang="en-US" altLang="en-US" dirty="0" smtClean="0">
                <a:solidFill>
                  <a:srgbClr val="000000"/>
                </a:solidFill>
              </a:rPr>
              <a:t>characters </a:t>
            </a:r>
            <a:r>
              <a:rPr lang="en-US" altLang="en-US" dirty="0">
                <a:solidFill>
                  <a:srgbClr val="000000"/>
                </a:solidFill>
              </a:rPr>
              <a:t>into string characters</a:t>
            </a:r>
            <a:r>
              <a:rPr lang="en-US" altLang="en-US" dirty="0" smtClean="0">
                <a:solidFill>
                  <a:srgbClr val="000000"/>
                </a:solidFill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000000"/>
                </a:solidFill>
              </a:rPr>
              <a:t>Examples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000000"/>
                </a:solidFill>
              </a:rPr>
              <a:t>\”	\’	\\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741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methods in 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String methods</a:t>
            </a:r>
          </a:p>
          <a:p>
            <a:pPr lvl="1"/>
            <a:r>
              <a:rPr lang="en-US" dirty="0"/>
              <a:t>String methods help you to work with strings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String methods are built in functions that provides support to the developer to work faster and smarter.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/>
              <a:t>let txt = "ABCDEFGHIJKLMNOPQRSTUVWXYZ";</a:t>
            </a:r>
            <a:br>
              <a:rPr lang="en-US" dirty="0"/>
            </a:br>
            <a:r>
              <a:rPr lang="en-US" dirty="0"/>
              <a:t>let length = </a:t>
            </a:r>
            <a:r>
              <a:rPr lang="en-US" dirty="0" err="1"/>
              <a:t>txt.length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8351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methods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Slice() Methods</a:t>
            </a:r>
          </a:p>
          <a:p>
            <a:pPr lvl="1"/>
            <a:r>
              <a:rPr lang="en-US" dirty="0" smtClean="0"/>
              <a:t>Extracts part of a string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</a:t>
            </a:r>
            <a:r>
              <a:rPr lang="en-US" dirty="0"/>
              <a:t> </a:t>
            </a:r>
            <a:r>
              <a:rPr lang="en-US" dirty="0" err="1"/>
              <a:t>str</a:t>
            </a:r>
            <a:r>
              <a:rPr lang="en-US" dirty="0"/>
              <a:t> = "Apple, Banana, Kiwi";</a:t>
            </a:r>
            <a:br>
              <a:rPr lang="en-US" dirty="0"/>
            </a:br>
            <a:r>
              <a:rPr lang="en-US" dirty="0"/>
              <a:t>let part = </a:t>
            </a:r>
            <a:r>
              <a:rPr lang="en-US" dirty="0" err="1"/>
              <a:t>str.slice</a:t>
            </a:r>
            <a:r>
              <a:rPr lang="en-US" dirty="0"/>
              <a:t>(7, 13</a:t>
            </a:r>
            <a:r>
              <a:rPr lang="en-US" dirty="0" smtClean="0"/>
              <a:t>);</a:t>
            </a:r>
          </a:p>
          <a:p>
            <a:r>
              <a:rPr lang="en-US" dirty="0" smtClean="0"/>
              <a:t>Replace method</a:t>
            </a:r>
          </a:p>
          <a:p>
            <a:pPr lvl="1"/>
            <a:r>
              <a:rPr lang="en-US" dirty="0" smtClean="0"/>
              <a:t>Replaces specified values.</a:t>
            </a:r>
            <a:endParaRPr lang="en-US" dirty="0"/>
          </a:p>
          <a:p>
            <a:r>
              <a:rPr lang="en-US" dirty="0"/>
              <a:t>let text = "Please visit Microsoft!";</a:t>
            </a:r>
            <a:br>
              <a:rPr lang="en-US" dirty="0"/>
            </a:br>
            <a:r>
              <a:rPr lang="en-US" dirty="0"/>
              <a:t>let </a:t>
            </a:r>
            <a:r>
              <a:rPr lang="en-US" dirty="0" err="1"/>
              <a:t>newText</a:t>
            </a:r>
            <a:r>
              <a:rPr lang="en-US" dirty="0"/>
              <a:t> = </a:t>
            </a:r>
            <a:r>
              <a:rPr lang="en-US" sz="2600" dirty="0" err="1"/>
              <a:t>text.replace</a:t>
            </a:r>
            <a:r>
              <a:rPr lang="en-US" sz="2600" dirty="0"/>
              <a:t>("Microsoft", "W3Schools</a:t>
            </a:r>
            <a:r>
              <a:rPr lang="en-US" sz="2600" dirty="0" smtClean="0"/>
              <a:t>");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604750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methods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Replace method</a:t>
            </a:r>
          </a:p>
          <a:p>
            <a:pPr lvl="1"/>
            <a:r>
              <a:rPr lang="en-US" dirty="0" smtClean="0"/>
              <a:t>By default it is case sensitive </a:t>
            </a:r>
            <a:r>
              <a:rPr lang="en-US" dirty="0"/>
              <a:t>use regular </a:t>
            </a:r>
            <a:r>
              <a:rPr lang="en-US" sz="2400" dirty="0"/>
              <a:t>expression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To replace multiple values use regular expression.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let text = "Please visit Microsoft!";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let </a:t>
            </a:r>
            <a:r>
              <a:rPr lang="en-US" sz="2400" dirty="0" err="1">
                <a:solidFill>
                  <a:srgbClr val="FF0000"/>
                </a:solidFill>
              </a:rPr>
              <a:t>newText</a:t>
            </a:r>
            <a:r>
              <a:rPr lang="en-US" sz="2400" dirty="0">
                <a:solidFill>
                  <a:srgbClr val="FF0000"/>
                </a:solidFill>
              </a:rPr>
              <a:t> = </a:t>
            </a:r>
            <a:r>
              <a:rPr lang="en-US" sz="2400" dirty="0" err="1">
                <a:solidFill>
                  <a:srgbClr val="FF0000"/>
                </a:solidFill>
              </a:rPr>
              <a:t>text.replace</a:t>
            </a:r>
            <a:r>
              <a:rPr lang="en-US" sz="2400" dirty="0">
                <a:solidFill>
                  <a:srgbClr val="FF0000"/>
                </a:solidFill>
              </a:rPr>
              <a:t>(/MICROSOFT/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, "W3Schools");</a:t>
            </a:r>
            <a:endParaRPr lang="en-US" sz="2400" dirty="0" smtClean="0">
              <a:solidFill>
                <a:srgbClr val="FF0000"/>
              </a:solidFill>
            </a:endParaRPr>
          </a:p>
          <a:p>
            <a:pPr lvl="1"/>
            <a:r>
              <a:rPr lang="en-US" dirty="0"/>
              <a:t>let text = "Please visit Microsoft and Microsoft!";</a:t>
            </a:r>
            <a:br>
              <a:rPr lang="en-US" dirty="0"/>
            </a:br>
            <a:r>
              <a:rPr lang="en-US" dirty="0"/>
              <a:t>let </a:t>
            </a:r>
            <a:r>
              <a:rPr lang="en-US" dirty="0" err="1"/>
              <a:t>newText</a:t>
            </a:r>
            <a:r>
              <a:rPr lang="en-US" dirty="0"/>
              <a:t> = </a:t>
            </a:r>
            <a:r>
              <a:rPr lang="en-US" sz="2400" dirty="0" err="1"/>
              <a:t>text.replace</a:t>
            </a:r>
            <a:r>
              <a:rPr lang="en-US" sz="2400" dirty="0"/>
              <a:t>(/Microsoft/g, "W3Schools</a:t>
            </a:r>
            <a:r>
              <a:rPr lang="en-US" sz="2400" dirty="0" smtClean="0"/>
              <a:t>");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44899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Several String methods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dirty="0"/>
              <a:t>Use the {$} sign to get a value from a variable in string as  ‘Your nam is ${name</a:t>
            </a:r>
            <a:r>
              <a:rPr lang="en-US" dirty="0" smtClean="0"/>
              <a:t>}’</a:t>
            </a:r>
          </a:p>
          <a:p>
            <a:r>
              <a:rPr lang="en-US" dirty="0" err="1" smtClean="0"/>
              <a:t>str.length</a:t>
            </a:r>
            <a:endParaRPr lang="en-US" dirty="0" smtClean="0"/>
          </a:p>
          <a:p>
            <a:r>
              <a:rPr lang="en-US" dirty="0" err="1" smtClean="0"/>
              <a:t>toUpperCase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toLowerCase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Indexof</a:t>
            </a:r>
            <a:r>
              <a:rPr lang="en-US" dirty="0" smtClean="0"/>
              <a:t>(“word here”)</a:t>
            </a:r>
          </a:p>
          <a:p>
            <a:r>
              <a:rPr lang="en-US" dirty="0" err="1" smtClean="0"/>
              <a:t>Indexoflast</a:t>
            </a:r>
            <a:r>
              <a:rPr lang="en-US" dirty="0" smtClean="0"/>
              <a:t>(“last index of multiple words”)</a:t>
            </a:r>
          </a:p>
          <a:p>
            <a:r>
              <a:rPr lang="en-US" dirty="0" smtClean="0"/>
              <a:t>Trim</a:t>
            </a:r>
            <a:r>
              <a:rPr lang="en-US" dirty="0" smtClean="0"/>
              <a:t>()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410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Several String methods	</a:t>
            </a:r>
            <a:endParaRPr lang="en-GB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648200"/>
          </a:xfrm>
        </p:spPr>
        <p:txBody>
          <a:bodyPr>
            <a:noAutofit/>
          </a:bodyPr>
          <a:lstStyle/>
          <a:p>
            <a:pPr lvl="1"/>
            <a:r>
              <a:rPr lang="en-US" sz="2800" dirty="0" err="1" smtClean="0"/>
              <a:t>str.replace</a:t>
            </a:r>
            <a:r>
              <a:rPr lang="en-US" sz="2800" dirty="0" smtClean="0">
                <a:solidFill>
                  <a:srgbClr val="FF0000"/>
                </a:solidFill>
              </a:rPr>
              <a:t>(first </a:t>
            </a:r>
            <a:r>
              <a:rPr lang="en-US" sz="2800" dirty="0">
                <a:solidFill>
                  <a:srgbClr val="FF0000"/>
                </a:solidFill>
              </a:rPr>
              <a:t>match of x, with y)</a:t>
            </a:r>
            <a:r>
              <a:rPr lang="en-US" sz="2800" dirty="0"/>
              <a:t>  // replace(“school”, “collage”)</a:t>
            </a:r>
          </a:p>
          <a:p>
            <a:pPr lvl="1"/>
            <a:r>
              <a:rPr lang="en-US" sz="2800" dirty="0" err="1"/>
              <a:t>str.concat</a:t>
            </a:r>
            <a:r>
              <a:rPr lang="en-US" sz="2800" dirty="0">
                <a:solidFill>
                  <a:srgbClr val="FF0000"/>
                </a:solidFill>
              </a:rPr>
              <a:t>(str1,str2,…)</a:t>
            </a:r>
            <a:r>
              <a:rPr lang="en-US" sz="2800" dirty="0"/>
              <a:t> //same as adding string(+)</a:t>
            </a:r>
            <a:endParaRPr lang="en-US" sz="2800" dirty="0" smtClean="0"/>
          </a:p>
          <a:p>
            <a:pPr lvl="1"/>
            <a:r>
              <a:rPr lang="en-US" sz="2800" dirty="0" err="1" smtClean="0"/>
              <a:t>str.split</a:t>
            </a:r>
            <a:r>
              <a:rPr lang="en-US" sz="2800" dirty="0" smtClean="0">
                <a:solidFill>
                  <a:srgbClr val="FF0000"/>
                </a:solidFill>
              </a:rPr>
              <a:t>(“</a:t>
            </a:r>
            <a:r>
              <a:rPr lang="en-US" sz="2800" dirty="0" err="1" smtClean="0">
                <a:solidFill>
                  <a:srgbClr val="FF0000"/>
                </a:solidFill>
              </a:rPr>
              <a:t>seperator</a:t>
            </a:r>
            <a:r>
              <a:rPr lang="en-US" sz="2800" dirty="0" smtClean="0">
                <a:solidFill>
                  <a:srgbClr val="FF0000"/>
                </a:solidFill>
              </a:rPr>
              <a:t>”)</a:t>
            </a:r>
            <a:r>
              <a:rPr lang="en-US" sz="2800" dirty="0" smtClean="0"/>
              <a:t> //converts strings to an array</a:t>
            </a:r>
          </a:p>
          <a:p>
            <a:pPr lvl="1"/>
            <a:r>
              <a:rPr lang="en-US" sz="2800" dirty="0" err="1"/>
              <a:t>s</a:t>
            </a:r>
            <a:r>
              <a:rPr lang="en-US" sz="2800" dirty="0" err="1" smtClean="0"/>
              <a:t>tr.includes</a:t>
            </a:r>
            <a:r>
              <a:rPr lang="en-US" sz="2800" dirty="0" smtClean="0">
                <a:solidFill>
                  <a:srgbClr val="FF0000"/>
                </a:solidFill>
              </a:rPr>
              <a:t>(“value”)</a:t>
            </a:r>
            <a:r>
              <a:rPr lang="en-US" sz="2800" dirty="0" smtClean="0"/>
              <a:t> //</a:t>
            </a:r>
            <a:r>
              <a:rPr lang="en-US" sz="2800" dirty="0" err="1" smtClean="0"/>
              <a:t>retrun</a:t>
            </a:r>
            <a:r>
              <a:rPr lang="en-US" sz="2800" dirty="0" smtClean="0"/>
              <a:t> true if value is available in </a:t>
            </a:r>
            <a:r>
              <a:rPr lang="en-US" sz="2800" dirty="0" err="1" smtClean="0"/>
              <a:t>str</a:t>
            </a:r>
            <a:endParaRPr lang="en-US" sz="2800" dirty="0" smtClean="0"/>
          </a:p>
          <a:p>
            <a:pPr lvl="1"/>
            <a:r>
              <a:rPr lang="en-US" sz="2800" dirty="0" err="1"/>
              <a:t>s</a:t>
            </a:r>
            <a:r>
              <a:rPr lang="en-US" sz="2800" dirty="0" err="1" smtClean="0"/>
              <a:t>tr.startsWith</a:t>
            </a:r>
            <a:r>
              <a:rPr lang="en-US" sz="2800" dirty="0" smtClean="0">
                <a:solidFill>
                  <a:srgbClr val="FF0000"/>
                </a:solidFill>
              </a:rPr>
              <a:t>(“value”)</a:t>
            </a:r>
            <a:r>
              <a:rPr lang="en-US" sz="2800" dirty="0" smtClean="0"/>
              <a:t> // return true if </a:t>
            </a:r>
            <a:r>
              <a:rPr lang="en-US" sz="2800" dirty="0" err="1" smtClean="0"/>
              <a:t>str</a:t>
            </a:r>
            <a:r>
              <a:rPr lang="en-US" sz="2800" dirty="0" smtClean="0"/>
              <a:t> start with value</a:t>
            </a:r>
          </a:p>
          <a:p>
            <a:pPr lvl="1"/>
            <a:r>
              <a:rPr lang="en-US" sz="2800" dirty="0" err="1"/>
              <a:t>s</a:t>
            </a:r>
            <a:r>
              <a:rPr lang="en-US" sz="2800" dirty="0" err="1" smtClean="0"/>
              <a:t>tr.endsWith</a:t>
            </a:r>
            <a:r>
              <a:rPr lang="en-US" sz="2800" dirty="0" smtClean="0">
                <a:solidFill>
                  <a:srgbClr val="FF0000"/>
                </a:solidFill>
              </a:rPr>
              <a:t>(“value”)</a:t>
            </a:r>
            <a:r>
              <a:rPr lang="en-US" sz="2800" dirty="0" smtClean="0"/>
              <a:t> //return true if </a:t>
            </a:r>
            <a:r>
              <a:rPr lang="en-US" sz="2800" dirty="0" err="1" smtClean="0"/>
              <a:t>str</a:t>
            </a:r>
            <a:r>
              <a:rPr lang="en-US" sz="2800" dirty="0" smtClean="0"/>
              <a:t> ends with 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63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and String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str1.indexOf(</a:t>
            </a:r>
            <a:r>
              <a:rPr lang="en-GB" dirty="0">
                <a:solidFill>
                  <a:srgbClr val="FF0000"/>
                </a:solidFill>
              </a:rPr>
              <a:t>str2</a:t>
            </a:r>
            <a:r>
              <a:rPr lang="en-GB" dirty="0" smtClean="0"/>
              <a:t>);  </a:t>
            </a:r>
            <a:r>
              <a:rPr lang="en-GB" sz="1800" dirty="0"/>
              <a:t>// </a:t>
            </a:r>
            <a:r>
              <a:rPr lang="en-US" sz="1800" b="1" dirty="0" err="1"/>
              <a:t>indexOf</a:t>
            </a:r>
            <a:r>
              <a:rPr lang="en-US" sz="1800" b="1" dirty="0"/>
              <a:t>() </a:t>
            </a:r>
            <a:r>
              <a:rPr lang="en-US" sz="1800" dirty="0"/>
              <a:t>method checks if str2 is found within str1 and returns the index of the first occurrence. If str2 is not found in str1, </a:t>
            </a:r>
            <a:r>
              <a:rPr lang="en-US" sz="1800" dirty="0" err="1"/>
              <a:t>indexOf</a:t>
            </a:r>
            <a:r>
              <a:rPr lang="en-US" sz="1800" dirty="0"/>
              <a:t> will return -1.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474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Numbers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Num.toFixed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numOfDecimalPlaces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</a:t>
            </a:r>
          </a:p>
          <a:p>
            <a:pPr marL="342900" lvl="1" indent="0">
              <a:buNone/>
            </a:pPr>
            <a:r>
              <a:rPr lang="en-US" dirty="0" smtClean="0"/>
              <a:t>let price  = 2.3433 </a:t>
            </a:r>
          </a:p>
          <a:p>
            <a:pPr marL="342900" lvl="1" indent="0">
              <a:buNone/>
            </a:pPr>
            <a:r>
              <a:rPr lang="en-US" dirty="0" err="1" smtClean="0"/>
              <a:t>price.toFixed</a:t>
            </a:r>
            <a:r>
              <a:rPr lang="en-US" dirty="0" smtClean="0"/>
              <a:t>(2)  = &gt; 2.34</a:t>
            </a:r>
          </a:p>
          <a:p>
            <a:pPr marL="0" indent="0">
              <a:buNone/>
            </a:pPr>
            <a:r>
              <a:rPr lang="en-US" dirty="0" smtClean="0"/>
              <a:t>Number</a:t>
            </a:r>
            <a:r>
              <a:rPr lang="en-US" dirty="0" smtClean="0">
                <a:solidFill>
                  <a:srgbClr val="FF0000"/>
                </a:solidFill>
              </a:rPr>
              <a:t>(value To Convert To Number)</a:t>
            </a:r>
            <a:r>
              <a:rPr lang="en-US" dirty="0" smtClean="0"/>
              <a:t> </a:t>
            </a:r>
          </a:p>
          <a:p>
            <a:pPr marL="342900" lvl="1" indent="0">
              <a:buNone/>
            </a:pPr>
            <a:r>
              <a:rPr lang="en-US" dirty="0" smtClean="0"/>
              <a:t>let price = “34.5”</a:t>
            </a:r>
          </a:p>
          <a:p>
            <a:pPr marL="342900" lvl="1" indent="0">
              <a:buNone/>
            </a:pPr>
            <a:r>
              <a:rPr lang="en-US" dirty="0" smtClean="0"/>
              <a:t>Number(price) =&gt;34.5</a:t>
            </a:r>
          </a:p>
          <a:p>
            <a:pPr marL="0" indent="0">
              <a:buNone/>
            </a:pPr>
            <a:r>
              <a:rPr lang="en-US" dirty="0" err="1" smtClean="0"/>
              <a:t>num.toString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r>
              <a:rPr lang="en-US" dirty="0" smtClean="0"/>
              <a:t>  //convert </a:t>
            </a:r>
            <a:r>
              <a:rPr lang="en-US" dirty="0" err="1" smtClean="0"/>
              <a:t>num</a:t>
            </a:r>
            <a:r>
              <a:rPr lang="en-US" dirty="0" smtClean="0"/>
              <a:t> to string</a:t>
            </a:r>
          </a:p>
          <a:p>
            <a:pPr marL="342900" lvl="1" indent="0">
              <a:buNone/>
            </a:pPr>
            <a:r>
              <a:rPr lang="en-US" dirty="0"/>
              <a:t>l</a:t>
            </a:r>
            <a:r>
              <a:rPr lang="en-US" dirty="0" smtClean="0"/>
              <a:t>et price = 3.4</a:t>
            </a:r>
          </a:p>
          <a:p>
            <a:pPr marL="342900" lvl="1" indent="0">
              <a:buNone/>
            </a:pPr>
            <a:r>
              <a:rPr lang="en-US" dirty="0" err="1" smtClean="0"/>
              <a:t>price.toString</a:t>
            </a:r>
            <a:r>
              <a:rPr lang="en-US" dirty="0" smtClean="0"/>
              <a:t>(price) =&gt; 3.4</a:t>
            </a:r>
          </a:p>
          <a:p>
            <a:pPr marL="0" indent="0">
              <a:buNone/>
            </a:pPr>
            <a:r>
              <a:rPr lang="en-US" dirty="0" err="1" smtClean="0"/>
              <a:t>parseInt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val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// returns whole number</a:t>
            </a:r>
          </a:p>
          <a:p>
            <a:pPr marL="342900" lvl="1" indent="0">
              <a:buNone/>
            </a:pPr>
            <a:r>
              <a:rPr lang="en-US" dirty="0"/>
              <a:t>l</a:t>
            </a:r>
            <a:r>
              <a:rPr lang="en-US" dirty="0" smtClean="0"/>
              <a:t>et price 3.4445</a:t>
            </a:r>
          </a:p>
          <a:p>
            <a:pPr marL="342900" lvl="1" indent="0">
              <a:buNone/>
            </a:pPr>
            <a:r>
              <a:rPr lang="en-US" dirty="0" err="1" smtClean="0"/>
              <a:t>parseInt</a:t>
            </a:r>
            <a:r>
              <a:rPr lang="en-US" dirty="0" smtClean="0"/>
              <a:t>(price) =&gt; 3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25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 Class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JavaScript use the Math class to perform arithmetic function like power, max or min: </a:t>
            </a:r>
            <a:r>
              <a:rPr lang="en-US" dirty="0" err="1">
                <a:solidFill>
                  <a:srgbClr val="FF0000"/>
                </a:solidFill>
              </a:rPr>
              <a:t>Math.pow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x,y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 err="1" smtClean="0"/>
              <a:t>Math.random</a:t>
            </a:r>
            <a:endParaRPr lang="en-US" b="1" dirty="0" smtClean="0"/>
          </a:p>
          <a:p>
            <a:pPr marL="0" indent="0">
              <a:buNone/>
            </a:pPr>
            <a:r>
              <a:rPr lang="en-US" dirty="0" err="1" smtClean="0"/>
              <a:t>Math.random</a:t>
            </a:r>
            <a:r>
              <a:rPr lang="en-US" dirty="0" smtClean="0"/>
              <a:t>() // generate number between 0(inclusive) to 1(exclusive)</a:t>
            </a:r>
          </a:p>
          <a:p>
            <a:pPr marL="0" indent="0">
              <a:buNone/>
            </a:pPr>
            <a:r>
              <a:rPr lang="en-US" dirty="0" err="1" smtClean="0"/>
              <a:t>Math.random</a:t>
            </a:r>
            <a:r>
              <a:rPr lang="en-US" dirty="0" smtClean="0"/>
              <a:t>() * 10 // between 0(in)  to 10 (ex): 0-9</a:t>
            </a:r>
          </a:p>
          <a:p>
            <a:pPr marL="0" indent="0">
              <a:buNone/>
            </a:pPr>
            <a:r>
              <a:rPr lang="en-US" dirty="0" err="1"/>
              <a:t>Math.random</a:t>
            </a:r>
            <a:r>
              <a:rPr lang="en-US" dirty="0"/>
              <a:t>() * </a:t>
            </a:r>
            <a:r>
              <a:rPr lang="en-US" dirty="0" smtClean="0"/>
              <a:t>11 </a:t>
            </a:r>
            <a:r>
              <a:rPr lang="en-US" dirty="0"/>
              <a:t>// between 0(in)  to </a:t>
            </a:r>
            <a:r>
              <a:rPr lang="en-US" dirty="0" smtClean="0"/>
              <a:t>11 </a:t>
            </a:r>
            <a:r>
              <a:rPr lang="en-US" dirty="0"/>
              <a:t>(ex): </a:t>
            </a:r>
            <a:r>
              <a:rPr lang="en-US" dirty="0" smtClean="0"/>
              <a:t>0-10</a:t>
            </a:r>
          </a:p>
          <a:p>
            <a:pPr marL="0" indent="0">
              <a:buNone/>
            </a:pPr>
            <a:r>
              <a:rPr lang="en-US" dirty="0" smtClean="0"/>
              <a:t>[</a:t>
            </a:r>
            <a:r>
              <a:rPr lang="en-US" dirty="0" err="1" smtClean="0"/>
              <a:t>Math.random</a:t>
            </a:r>
            <a:r>
              <a:rPr lang="en-US" dirty="0" smtClean="0"/>
              <a:t>()* (max – min + 1)] + min</a:t>
            </a: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71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Ternary Operators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 </a:t>
            </a:r>
            <a:r>
              <a:rPr lang="en-US" b="1" dirty="0"/>
              <a:t>conditional (ternary) operator</a:t>
            </a:r>
            <a:r>
              <a:rPr lang="en-US" dirty="0"/>
              <a:t> </a:t>
            </a:r>
            <a:r>
              <a:rPr lang="en-US" dirty="0" smtClean="0"/>
              <a:t>takes </a:t>
            </a:r>
            <a:r>
              <a:rPr lang="en-US" dirty="0"/>
              <a:t>three operands: </a:t>
            </a:r>
            <a:endParaRPr lang="en-US" dirty="0" smtClean="0"/>
          </a:p>
          <a:p>
            <a:pPr lvl="1"/>
            <a:r>
              <a:rPr lang="en-US" dirty="0" smtClean="0"/>
              <a:t>a </a:t>
            </a:r>
            <a:r>
              <a:rPr lang="en-US" dirty="0"/>
              <a:t>condition followed by a question mark (?), </a:t>
            </a:r>
            <a:endParaRPr lang="en-US" dirty="0" smtClean="0"/>
          </a:p>
          <a:p>
            <a:pPr lvl="1"/>
            <a:r>
              <a:rPr lang="en-US" dirty="0" smtClean="0"/>
              <a:t>then </a:t>
            </a:r>
            <a:r>
              <a:rPr lang="en-US" dirty="0"/>
              <a:t>an expression to execute if the condition is </a:t>
            </a:r>
            <a:r>
              <a:rPr lang="en-US" u="sng" dirty="0" err="1">
                <a:hlinkClick r:id="rId2"/>
              </a:rPr>
              <a:t>truthy</a:t>
            </a:r>
            <a:r>
              <a:rPr lang="en-US" dirty="0"/>
              <a:t> followed by a colon (:), </a:t>
            </a:r>
          </a:p>
          <a:p>
            <a:pPr lvl="1"/>
            <a:r>
              <a:rPr lang="en-US" dirty="0" smtClean="0"/>
              <a:t>finally </a:t>
            </a:r>
            <a:r>
              <a:rPr lang="en-US" dirty="0"/>
              <a:t>the expression to execute if the condition is </a:t>
            </a:r>
            <a:r>
              <a:rPr lang="en-US" u="sng" dirty="0" err="1">
                <a:hlinkClick r:id="rId3"/>
              </a:rPr>
              <a:t>falsy</a:t>
            </a:r>
            <a:r>
              <a:rPr lang="en-US" dirty="0"/>
              <a:t>. </a:t>
            </a:r>
            <a:endParaRPr lang="en-US" dirty="0" smtClean="0"/>
          </a:p>
          <a:p>
            <a:pPr marL="342900" lvl="1" indent="0">
              <a:buNone/>
            </a:pPr>
            <a:r>
              <a:rPr lang="en-GB" dirty="0" smtClean="0">
                <a:solidFill>
                  <a:srgbClr val="FF0000"/>
                </a:solidFill>
              </a:rPr>
              <a:t>		condition </a:t>
            </a:r>
            <a:r>
              <a:rPr lang="en-GB" dirty="0">
                <a:solidFill>
                  <a:srgbClr val="FF0000"/>
                </a:solidFill>
              </a:rPr>
              <a:t>? </a:t>
            </a:r>
            <a:r>
              <a:rPr lang="en-GB" dirty="0" err="1">
                <a:solidFill>
                  <a:srgbClr val="FF0000"/>
                </a:solidFill>
              </a:rPr>
              <a:t>exprIfTrue</a:t>
            </a:r>
            <a:r>
              <a:rPr lang="en-GB" dirty="0">
                <a:solidFill>
                  <a:srgbClr val="FF0000"/>
                </a:solidFill>
              </a:rPr>
              <a:t> : </a:t>
            </a:r>
            <a:r>
              <a:rPr lang="en-GB" dirty="0" err="1">
                <a:solidFill>
                  <a:srgbClr val="FF0000"/>
                </a:solidFill>
              </a:rPr>
              <a:t>exprIfFalse</a:t>
            </a:r>
            <a:r>
              <a:rPr lang="en-GB" dirty="0">
                <a:solidFill>
                  <a:srgbClr val="FF0000"/>
                </a:solidFill>
              </a:rPr>
              <a:t>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operator is frequently used as an alternative </a:t>
            </a:r>
            <a:r>
              <a:rPr lang="en-US" dirty="0" smtClean="0"/>
              <a:t>to an if…else statement.</a:t>
            </a:r>
          </a:p>
          <a:p>
            <a:pPr marL="342900" lvl="1" indent="0">
              <a:buNone/>
            </a:pPr>
            <a:r>
              <a:rPr lang="en-US" dirty="0" err="1"/>
              <a:t>const</a:t>
            </a:r>
            <a:r>
              <a:rPr lang="en-US" dirty="0"/>
              <a:t> age = 26; </a:t>
            </a:r>
            <a:endParaRPr lang="en-US" dirty="0" smtClean="0"/>
          </a:p>
          <a:p>
            <a:pPr marL="342900" lvl="1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/>
              <a:t>beverage = age &gt;= 21 ? "Beer" : "Juice"; </a:t>
            </a:r>
            <a:endParaRPr lang="en-US" dirty="0" smtClean="0"/>
          </a:p>
          <a:p>
            <a:pPr marL="342900" lvl="1" indent="0">
              <a:buNone/>
            </a:pPr>
            <a:r>
              <a:rPr lang="en-US" dirty="0" smtClean="0"/>
              <a:t>console.log(beverage);</a:t>
            </a:r>
          </a:p>
          <a:p>
            <a:pPr marL="0" indent="0">
              <a:buNone/>
            </a:pPr>
            <a:r>
              <a:rPr lang="en-US" dirty="0" smtClean="0"/>
              <a:t>Use of double condition(if – else if - else)</a:t>
            </a:r>
          </a:p>
          <a:p>
            <a:pPr marL="342900" lvl="1" indent="0">
              <a:buNone/>
            </a:pPr>
            <a:r>
              <a:rPr lang="en-US" dirty="0" smtClean="0"/>
              <a:t>Let z = ( x &lt; y ) ? “less”: (x === y) ? “equal” :  “bigger”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IT Industry-Academia Bridge Program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01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Control structures are use for decision making.</a:t>
            </a:r>
          </a:p>
          <a:p>
            <a:r>
              <a:rPr lang="en-US" dirty="0" smtClean="0"/>
              <a:t>We use different conditional statements to do this.</a:t>
            </a:r>
          </a:p>
          <a:p>
            <a:pPr lvl="1"/>
            <a:r>
              <a:rPr lang="en-US" dirty="0" smtClean="0"/>
              <a:t>If</a:t>
            </a:r>
          </a:p>
          <a:p>
            <a:pPr lvl="1"/>
            <a:r>
              <a:rPr lang="en-US" dirty="0" smtClean="0"/>
              <a:t>If-else</a:t>
            </a:r>
          </a:p>
          <a:p>
            <a:pPr lvl="1"/>
            <a:r>
              <a:rPr lang="en-US" dirty="0" smtClean="0"/>
              <a:t>Else-if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9763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Structures 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00050" lvl="1" indent="0">
              <a:buNone/>
            </a:pPr>
            <a:r>
              <a:rPr lang="en-US" dirty="0"/>
              <a:t>&lt;p&gt;Display "Good day!" if the hour is less than 18:00:&lt;/p&gt;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&lt;p id="demo"&gt;Good Evening!&lt;/p&gt;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&lt;script&gt;</a:t>
            </a:r>
          </a:p>
          <a:p>
            <a:pPr marL="400050" lvl="1" indent="0">
              <a:buNone/>
            </a:pPr>
            <a:r>
              <a:rPr lang="en-US" dirty="0"/>
              <a:t>if (new Date().</a:t>
            </a:r>
            <a:r>
              <a:rPr lang="en-US" dirty="0" err="1"/>
              <a:t>getHours</a:t>
            </a:r>
            <a:r>
              <a:rPr lang="en-US" dirty="0"/>
              <a:t>() &lt; 18) {</a:t>
            </a:r>
          </a:p>
          <a:p>
            <a:pPr marL="400050" lvl="1" indent="0">
              <a:buNone/>
            </a:pPr>
            <a:r>
              <a:rPr lang="en-US" dirty="0"/>
              <a:t>  </a:t>
            </a: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"Good day!";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400050" lvl="1" indent="0">
              <a:buNone/>
            </a:pPr>
            <a:r>
              <a:rPr lang="en-US" dirty="0"/>
              <a:t>&lt;/script&gt;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764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structure if-else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00050" lvl="1" indent="0">
              <a:buNone/>
            </a:pPr>
            <a:r>
              <a:rPr lang="en-US" dirty="0"/>
              <a:t>&lt;p id="demo"&gt;&lt;/p&gt;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&lt;script&gt;</a:t>
            </a:r>
          </a:p>
          <a:p>
            <a:pPr marL="400050" lvl="1" indent="0">
              <a:buNone/>
            </a:pPr>
            <a:r>
              <a:rPr lang="en-US" dirty="0" err="1"/>
              <a:t>const</a:t>
            </a:r>
            <a:r>
              <a:rPr lang="en-US" dirty="0"/>
              <a:t> hour = new Date().</a:t>
            </a:r>
            <a:r>
              <a:rPr lang="en-US" dirty="0" err="1"/>
              <a:t>getHours</a:t>
            </a:r>
            <a:r>
              <a:rPr lang="en-US" dirty="0"/>
              <a:t>(); </a:t>
            </a:r>
          </a:p>
          <a:p>
            <a:pPr marL="400050" lvl="1" indent="0">
              <a:buNone/>
            </a:pPr>
            <a:r>
              <a:rPr lang="en-US" dirty="0"/>
              <a:t>let greeting;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if (hour &lt; 18) {</a:t>
            </a:r>
          </a:p>
          <a:p>
            <a:pPr marL="400050" lvl="1" indent="0">
              <a:buNone/>
            </a:pPr>
            <a:r>
              <a:rPr lang="en-US" dirty="0"/>
              <a:t>  greeting = "Good day";</a:t>
            </a:r>
          </a:p>
          <a:p>
            <a:pPr marL="400050" lvl="1" indent="0">
              <a:buNone/>
            </a:pPr>
            <a:r>
              <a:rPr lang="en-US" dirty="0"/>
              <a:t>} else {</a:t>
            </a:r>
          </a:p>
          <a:p>
            <a:pPr marL="400050" lvl="1" indent="0">
              <a:buNone/>
            </a:pPr>
            <a:r>
              <a:rPr lang="en-US" dirty="0"/>
              <a:t>  greeting = "Good evening";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greeting;</a:t>
            </a:r>
          </a:p>
          <a:p>
            <a:pPr marL="400050" lvl="1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54396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structure else 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00050" lvl="1" indent="0">
              <a:buNone/>
            </a:pPr>
            <a:r>
              <a:rPr lang="en-US" dirty="0"/>
              <a:t>&lt;p id="demo"&gt;&lt;/p&gt;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&lt;script&gt;</a:t>
            </a:r>
          </a:p>
          <a:p>
            <a:pPr marL="400050" lvl="1" indent="0">
              <a:buNone/>
            </a:pPr>
            <a:r>
              <a:rPr lang="en-US" dirty="0" err="1"/>
              <a:t>const</a:t>
            </a:r>
            <a:r>
              <a:rPr lang="en-US" dirty="0"/>
              <a:t> time = new Date().</a:t>
            </a:r>
            <a:r>
              <a:rPr lang="en-US" dirty="0" err="1"/>
              <a:t>getHours</a:t>
            </a:r>
            <a:r>
              <a:rPr lang="en-US" dirty="0"/>
              <a:t>();</a:t>
            </a:r>
          </a:p>
          <a:p>
            <a:pPr marL="400050" lvl="1" indent="0">
              <a:buNone/>
            </a:pPr>
            <a:r>
              <a:rPr lang="en-US" dirty="0"/>
              <a:t>let greeting;</a:t>
            </a:r>
          </a:p>
          <a:p>
            <a:pPr marL="400050" lvl="1" indent="0">
              <a:buNone/>
            </a:pPr>
            <a:r>
              <a:rPr lang="en-US" dirty="0"/>
              <a:t>if (time &lt; 10) {</a:t>
            </a:r>
          </a:p>
          <a:p>
            <a:pPr marL="400050" lvl="1" indent="0">
              <a:buNone/>
            </a:pPr>
            <a:r>
              <a:rPr lang="en-US" dirty="0"/>
              <a:t>  greeting = "Good morning";</a:t>
            </a:r>
          </a:p>
          <a:p>
            <a:pPr marL="400050" lvl="1" indent="0">
              <a:buNone/>
            </a:pPr>
            <a:r>
              <a:rPr lang="en-US" dirty="0"/>
              <a:t>} else if (time &lt; 20) {</a:t>
            </a:r>
          </a:p>
          <a:p>
            <a:pPr marL="400050" lvl="1" indent="0">
              <a:buNone/>
            </a:pPr>
            <a:r>
              <a:rPr lang="en-US" dirty="0"/>
              <a:t>  greeting = "Good day";</a:t>
            </a:r>
          </a:p>
          <a:p>
            <a:pPr marL="400050" lvl="1" indent="0">
              <a:buNone/>
            </a:pPr>
            <a:r>
              <a:rPr lang="en-US" dirty="0"/>
              <a:t>} else {</a:t>
            </a:r>
          </a:p>
          <a:p>
            <a:pPr marL="400050" lvl="1" indent="0">
              <a:buNone/>
            </a:pPr>
            <a:r>
              <a:rPr lang="en-US" dirty="0"/>
              <a:t>  greeting = "Good evening";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400050" lvl="1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greeting;</a:t>
            </a:r>
          </a:p>
          <a:p>
            <a:pPr marL="400050" lvl="1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43707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can execute a block of code a number of times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are handy, if you want to run the same code over and over again, each time with a different value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loops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6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91E4402C-FD3F-41FC-8450-3512992412B6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58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 smtClean="0">
                <a:solidFill>
                  <a:schemeClr val="tx1"/>
                </a:solidFill>
              </a:rPr>
              <a:t>While</a:t>
            </a:r>
            <a:r>
              <a:rPr lang="" sz="4400" dirty="0" smtClean="0">
                <a:solidFill>
                  <a:schemeClr val="tx1"/>
                </a:solidFill>
              </a:rPr>
              <a:t> Loop:</a:t>
            </a:r>
            <a:r>
              <a:rPr lang="en-US" sz="4400" dirty="0" smtClean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</a:rPr>
              <a:t>Example 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1981200" y="18288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x = 1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while ( x &lt; 6000 ) {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  <a:r>
              <a:rPr lang="en-US" sz="3600" dirty="0" err="1">
                <a:solidFill>
                  <a:schemeClr val="tx1"/>
                </a:solidFill>
              </a:rPr>
              <a:t>document.write</a:t>
            </a:r>
            <a:r>
              <a:rPr lang="en-US" sz="3600" dirty="0">
                <a:solidFill>
                  <a:schemeClr val="tx1"/>
                </a:solidFill>
              </a:rPr>
              <a:t> ( x )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	x = x + 1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3368042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1ADBE622-F270-4D32-AA6A-0FC15BC27AB1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59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838200" y="838200"/>
            <a:ext cx="7620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x = 75 ;	// x is the decimal number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y = “” ;	// y is the binary equivalent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while ( x &gt; 0 ) {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	remainder = x % 2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	quotient = </a:t>
            </a:r>
            <a:r>
              <a:rPr lang="en-US" dirty="0" err="1">
                <a:solidFill>
                  <a:schemeClr val="tx1"/>
                </a:solidFill>
              </a:rPr>
              <a:t>Math.floor</a:t>
            </a:r>
            <a:r>
              <a:rPr lang="en-US" dirty="0">
                <a:solidFill>
                  <a:schemeClr val="tx1"/>
                </a:solidFill>
              </a:rPr>
              <a:t>( x / 2 )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	y = remainder + y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	x = quotient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dirty="0" err="1">
                <a:solidFill>
                  <a:schemeClr val="tx1"/>
                </a:solidFill>
              </a:rPr>
              <a:t>document.write</a:t>
            </a:r>
            <a:r>
              <a:rPr lang="en-US" dirty="0">
                <a:solidFill>
                  <a:schemeClr val="tx1"/>
                </a:solidFill>
              </a:rPr>
              <a:t>( “y = ” + y ) ;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64293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Decimal to Binary Conversion in JavaScript</a:t>
            </a:r>
          </a:p>
        </p:txBody>
      </p:sp>
    </p:spTree>
    <p:extLst>
      <p:ext uri="{BB962C8B-B14F-4D97-AF65-F5344CB8AC3E}">
        <p14:creationId xmlns:p14="http://schemas.microsoft.com/office/powerpoint/2010/main" val="78107591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726DC29D-E271-4B47-85B7-70A91B9B9E0D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60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685800" y="31929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for: Example 1</a:t>
            </a: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905000" y="3848100"/>
            <a:ext cx="7010400" cy="2133600"/>
          </a:xfrm>
          <a:prstGeom prst="rect">
            <a:avLst/>
          </a:prstGeom>
          <a:solidFill>
            <a:srgbClr val="000000"/>
          </a:solidFill>
          <a:ln w="9360" cap="flat">
            <a:solidFill>
              <a:srgbClr val="96969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rgbClr val="FF66FF"/>
                </a:solidFill>
              </a:rPr>
              <a:t>for ( </a:t>
            </a:r>
            <a:r>
              <a:rPr lang="en-US" sz="3600" dirty="0">
                <a:solidFill>
                  <a:srgbClr val="FFFFFF"/>
                </a:solidFill>
              </a:rPr>
              <a:t>x </a:t>
            </a:r>
            <a:r>
              <a:rPr lang="en-US" sz="3600" dirty="0">
                <a:solidFill>
                  <a:srgbClr val="FF66FF"/>
                </a:solidFill>
              </a:rPr>
              <a:t>= </a:t>
            </a:r>
            <a:r>
              <a:rPr lang="en-US" sz="3600" dirty="0">
                <a:solidFill>
                  <a:srgbClr val="FFFFFF"/>
                </a:solidFill>
              </a:rPr>
              <a:t>1 </a:t>
            </a:r>
            <a:r>
              <a:rPr lang="en-US" sz="3600" dirty="0">
                <a:solidFill>
                  <a:srgbClr val="FF66FF"/>
                </a:solidFill>
              </a:rPr>
              <a:t>;</a:t>
            </a:r>
            <a:r>
              <a:rPr lang="en-US" sz="3600" dirty="0">
                <a:solidFill>
                  <a:srgbClr val="FFFFFF"/>
                </a:solidFill>
              </a:rPr>
              <a:t> x </a:t>
            </a:r>
            <a:r>
              <a:rPr lang="en-US" sz="3600" dirty="0">
                <a:solidFill>
                  <a:srgbClr val="FF66FF"/>
                </a:solidFill>
              </a:rPr>
              <a:t>&lt; </a:t>
            </a:r>
            <a:r>
              <a:rPr lang="en-US" sz="3600" dirty="0">
                <a:solidFill>
                  <a:srgbClr val="FFFFFF"/>
                </a:solidFill>
              </a:rPr>
              <a:t>6000 </a:t>
            </a:r>
            <a:r>
              <a:rPr lang="en-US" sz="3600" dirty="0">
                <a:solidFill>
                  <a:srgbClr val="FF66FF"/>
                </a:solidFill>
              </a:rPr>
              <a:t>;</a:t>
            </a:r>
            <a:r>
              <a:rPr lang="en-US" sz="3600" dirty="0">
                <a:solidFill>
                  <a:srgbClr val="FFFFFF"/>
                </a:solidFill>
              </a:rPr>
              <a:t> x </a:t>
            </a:r>
            <a:r>
              <a:rPr lang="en-US" sz="3600" dirty="0">
                <a:solidFill>
                  <a:srgbClr val="FF66FF"/>
                </a:solidFill>
              </a:rPr>
              <a:t>= </a:t>
            </a:r>
            <a:r>
              <a:rPr lang="en-US" sz="3600" dirty="0">
                <a:solidFill>
                  <a:srgbClr val="FFFFFF"/>
                </a:solidFill>
              </a:rPr>
              <a:t>x</a:t>
            </a:r>
            <a:r>
              <a:rPr lang="en-US" sz="3600" dirty="0">
                <a:solidFill>
                  <a:srgbClr val="FF66FF"/>
                </a:solidFill>
              </a:rPr>
              <a:t> + </a:t>
            </a:r>
            <a:r>
              <a:rPr lang="en-US" sz="3600" dirty="0">
                <a:solidFill>
                  <a:srgbClr val="FFFFFF"/>
                </a:solidFill>
              </a:rPr>
              <a:t>1 </a:t>
            </a:r>
            <a:r>
              <a:rPr lang="en-US" sz="3600" dirty="0">
                <a:solidFill>
                  <a:srgbClr val="FF66FF"/>
                </a:solidFill>
              </a:rPr>
              <a:t>)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>
                <a:solidFill>
                  <a:srgbClr val="FF66FF"/>
                </a:solidFill>
              </a:rPr>
              <a:t>{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rgbClr val="FFFFFF"/>
                </a:solidFill>
              </a:rPr>
              <a:t>	</a:t>
            </a:r>
            <a:r>
              <a:rPr lang="en-US" sz="3600" dirty="0" err="1">
                <a:solidFill>
                  <a:srgbClr val="FF66FF"/>
                </a:solidFill>
              </a:rPr>
              <a:t>document.write</a:t>
            </a:r>
            <a:r>
              <a:rPr lang="en-US" sz="3600" dirty="0">
                <a:solidFill>
                  <a:srgbClr val="FF66FF"/>
                </a:solidFill>
              </a:rPr>
              <a:t> ( </a:t>
            </a:r>
            <a:r>
              <a:rPr lang="en-US" sz="3600" dirty="0">
                <a:solidFill>
                  <a:srgbClr val="FFFFFF"/>
                </a:solidFill>
              </a:rPr>
              <a:t>x </a:t>
            </a:r>
            <a:r>
              <a:rPr lang="en-US" sz="3600" dirty="0">
                <a:solidFill>
                  <a:srgbClr val="FF66FF"/>
                </a:solidFill>
              </a:rPr>
              <a:t>)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rgbClr val="FF66FF"/>
                </a:solidFill>
              </a:rPr>
              <a:t>}</a:t>
            </a:r>
          </a:p>
        </p:txBody>
      </p:sp>
      <p:sp>
        <p:nvSpPr>
          <p:cNvPr id="46086" name="AutoShape 6"/>
          <p:cNvSpPr>
            <a:spLocks noChangeArrowheads="1"/>
          </p:cNvSpPr>
          <p:nvPr/>
        </p:nvSpPr>
        <p:spPr bwMode="auto">
          <a:xfrm>
            <a:off x="2819400" y="3886200"/>
            <a:ext cx="1219200" cy="762000"/>
          </a:xfrm>
          <a:prstGeom prst="roundRect">
            <a:avLst>
              <a:gd name="adj" fmla="val 16667"/>
            </a:avLst>
          </a:prstGeom>
          <a:noFill/>
          <a:ln w="7632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7" name="AutoShape 7"/>
          <p:cNvSpPr>
            <a:spLocks noChangeArrowheads="1"/>
          </p:cNvSpPr>
          <p:nvPr/>
        </p:nvSpPr>
        <p:spPr bwMode="auto">
          <a:xfrm>
            <a:off x="4267200" y="3886200"/>
            <a:ext cx="1905000" cy="762000"/>
          </a:xfrm>
          <a:prstGeom prst="roundRect">
            <a:avLst>
              <a:gd name="adj" fmla="val 16667"/>
            </a:avLst>
          </a:prstGeom>
          <a:noFill/>
          <a:ln w="7632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8" name="AutoShape 8"/>
          <p:cNvSpPr>
            <a:spLocks noChangeArrowheads="1"/>
          </p:cNvSpPr>
          <p:nvPr/>
        </p:nvSpPr>
        <p:spPr bwMode="auto">
          <a:xfrm>
            <a:off x="6400800" y="3886200"/>
            <a:ext cx="1905000" cy="762000"/>
          </a:xfrm>
          <a:prstGeom prst="roundRect">
            <a:avLst>
              <a:gd name="adj" fmla="val 16667"/>
            </a:avLst>
          </a:prstGeom>
          <a:noFill/>
          <a:ln w="7632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9" name="AutoShape 9"/>
          <p:cNvSpPr>
            <a:spLocks noChangeArrowheads="1"/>
          </p:cNvSpPr>
          <p:nvPr/>
        </p:nvSpPr>
        <p:spPr bwMode="auto">
          <a:xfrm>
            <a:off x="0" y="1638300"/>
            <a:ext cx="2667000" cy="609600"/>
          </a:xfrm>
          <a:prstGeom prst="wedgeRectCallout">
            <a:avLst>
              <a:gd name="adj1" fmla="val 58454"/>
              <a:gd name="adj2" fmla="val 316148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600"/>
              <a:t>Initial count</a:t>
            </a:r>
          </a:p>
        </p:txBody>
      </p:sp>
      <p:sp>
        <p:nvSpPr>
          <p:cNvPr id="46090" name="AutoShape 10"/>
          <p:cNvSpPr>
            <a:spLocks noChangeArrowheads="1"/>
          </p:cNvSpPr>
          <p:nvPr/>
        </p:nvSpPr>
        <p:spPr bwMode="auto">
          <a:xfrm>
            <a:off x="3695700" y="1638300"/>
            <a:ext cx="2133600" cy="609600"/>
          </a:xfrm>
          <a:prstGeom prst="wedgeRectCallout">
            <a:avLst>
              <a:gd name="adj1" fmla="val 35639"/>
              <a:gd name="adj2" fmla="val 310940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600"/>
              <a:t>Condition</a:t>
            </a:r>
          </a:p>
        </p:txBody>
      </p:sp>
      <p:sp>
        <p:nvSpPr>
          <p:cNvPr id="46091" name="AutoShape 11"/>
          <p:cNvSpPr>
            <a:spLocks noChangeArrowheads="1"/>
          </p:cNvSpPr>
          <p:nvPr/>
        </p:nvSpPr>
        <p:spPr bwMode="auto">
          <a:xfrm>
            <a:off x="6858000" y="1638300"/>
            <a:ext cx="2286000" cy="609600"/>
          </a:xfrm>
          <a:prstGeom prst="wedgeRectCallout">
            <a:avLst>
              <a:gd name="adj1" fmla="val 486"/>
              <a:gd name="adj2" fmla="val 315366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600"/>
              <a:t>Operation</a:t>
            </a:r>
          </a:p>
        </p:txBody>
      </p:sp>
    </p:spTree>
    <p:extLst>
      <p:ext uri="{BB962C8B-B14F-4D97-AF65-F5344CB8AC3E}">
        <p14:creationId xmlns:p14="http://schemas.microsoft.com/office/powerpoint/2010/main" val="648729798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5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9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3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7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nimBg="1"/>
      <p:bldP spid="46087" grpId="0" animBg="1"/>
      <p:bldP spid="4608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5E77114E-1B4B-4B02-961B-60936187106B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61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4572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for: Description (1)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0" y="1066800"/>
            <a:ext cx="91440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813"/>
              </a:spcBef>
              <a:spcAft>
                <a:spcPts val="2813"/>
              </a:spcAft>
              <a:buClr>
                <a:srgbClr val="FFFFFF"/>
              </a:buClr>
              <a:buFont typeface="Times New Roman" panose="02020603050405020304" pitchFamily="18" charset="0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The ‘for’ loop starts by initializing the </a:t>
            </a:r>
            <a:r>
              <a:rPr lang="en-US" sz="3200" i="1" dirty="0">
                <a:solidFill>
                  <a:schemeClr val="tx1"/>
                </a:solidFill>
              </a:rPr>
              <a:t>counter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i="1" dirty="0">
                <a:solidFill>
                  <a:schemeClr val="tx1"/>
                </a:solidFill>
              </a:rPr>
              <a:t>variable</a:t>
            </a:r>
            <a:r>
              <a:rPr lang="en-US" sz="3200" dirty="0">
                <a:solidFill>
                  <a:schemeClr val="tx1"/>
                </a:solidFill>
              </a:rPr>
              <a:t> (which in this case is x)</a:t>
            </a:r>
          </a:p>
          <a:p>
            <a:pPr>
              <a:spcBef>
                <a:spcPts val="813"/>
              </a:spcBef>
              <a:spcAft>
                <a:spcPts val="2813"/>
              </a:spcAft>
              <a:buClr>
                <a:srgbClr val="FFFFFF"/>
              </a:buClr>
              <a:buFont typeface="Times New Roman" panose="02020603050405020304" pitchFamily="18" charset="0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The initial value in this case is ‘1’, but can be any other positive or negative number as well</a:t>
            </a:r>
          </a:p>
          <a:p>
            <a:pPr>
              <a:spcBef>
                <a:spcPts val="813"/>
              </a:spcBef>
              <a:spcAft>
                <a:spcPts val="2813"/>
              </a:spcAft>
              <a:buClr>
                <a:srgbClr val="FFFFFF"/>
              </a:buClr>
              <a:buFont typeface="Times New Roman" panose="02020603050405020304" pitchFamily="18" charset="0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Next the ‘for’ loop checks the condition.  If the condition evaluates to a ‘true’ value, the ‘for’ loop goes through the loop once</a:t>
            </a:r>
          </a:p>
        </p:txBody>
      </p:sp>
    </p:spTree>
    <p:extLst>
      <p:ext uri="{BB962C8B-B14F-4D97-AF65-F5344CB8AC3E}">
        <p14:creationId xmlns:p14="http://schemas.microsoft.com/office/powerpoint/2010/main" val="1354275536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E47E4AD8-6831-44A2-953E-D9C2E9AFD532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62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for: Description (2)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0" y="1066800"/>
            <a:ext cx="91440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813"/>
              </a:spcBef>
              <a:spcAft>
                <a:spcPts val="2813"/>
              </a:spcAft>
              <a:buClr>
                <a:srgbClr val="FFFFFF"/>
              </a:buClr>
              <a:buFont typeface="Times New Roman" panose="02020603050405020304" pitchFamily="18" charset="0"/>
              <a:buAutoNum type="arabicPeriod" startAt="4"/>
            </a:pPr>
            <a:r>
              <a:rPr lang="en-US" sz="3200" dirty="0">
                <a:solidFill>
                  <a:schemeClr val="tx1"/>
                </a:solidFill>
              </a:rPr>
              <a:t>After reaching the end of that iteration, the ‘for’ loop goes to the top once again, performs the operation, checks the condition</a:t>
            </a:r>
          </a:p>
          <a:p>
            <a:pPr>
              <a:spcBef>
                <a:spcPts val="813"/>
              </a:spcBef>
              <a:spcAft>
                <a:spcPts val="2813"/>
              </a:spcAft>
              <a:buClr>
                <a:srgbClr val="FFFFFF"/>
              </a:buClr>
              <a:buFont typeface="Times New Roman" panose="02020603050405020304" pitchFamily="18" charset="0"/>
              <a:buAutoNum type="arabicPeriod" startAt="4"/>
            </a:pPr>
            <a:r>
              <a:rPr lang="en-US" sz="3200" dirty="0">
                <a:solidFill>
                  <a:schemeClr val="tx1"/>
                </a:solidFill>
              </a:rPr>
              <a:t>If the condition evaluates to a ‘false’ value, the ‘for’ loop finishes looping</a:t>
            </a:r>
          </a:p>
          <a:p>
            <a:pPr>
              <a:spcBef>
                <a:spcPts val="813"/>
              </a:spcBef>
              <a:spcAft>
                <a:spcPts val="2813"/>
              </a:spcAft>
              <a:buClr>
                <a:srgbClr val="FFFFFF"/>
              </a:buClr>
              <a:buFont typeface="Times New Roman" panose="02020603050405020304" pitchFamily="18" charset="0"/>
              <a:buAutoNum type="arabicPeriod" startAt="4"/>
            </a:pPr>
            <a:r>
              <a:rPr lang="en-US" sz="3200" dirty="0">
                <a:solidFill>
                  <a:schemeClr val="tx1"/>
                </a:solidFill>
              </a:rPr>
              <a:t>Otherwise, the ‘for’ loop goes through the loop once again</a:t>
            </a:r>
          </a:p>
          <a:p>
            <a:pPr>
              <a:spcBef>
                <a:spcPts val="813"/>
              </a:spcBef>
              <a:spcAft>
                <a:spcPts val="2813"/>
              </a:spcAft>
              <a:buClr>
                <a:srgbClr val="00FF00"/>
              </a:buClr>
              <a:buFont typeface="Times New Roman" panose="02020603050405020304" pitchFamily="18" charset="0"/>
              <a:buAutoNum type="arabicPeriod" startAt="4"/>
            </a:pPr>
            <a:r>
              <a:rPr lang="en-US" sz="3200" dirty="0">
                <a:solidFill>
                  <a:schemeClr val="tx1"/>
                </a:solidFill>
              </a:rPr>
              <a:t>Repeat from step 4</a:t>
            </a:r>
          </a:p>
        </p:txBody>
      </p:sp>
    </p:spTree>
    <p:extLst>
      <p:ext uri="{BB962C8B-B14F-4D97-AF65-F5344CB8AC3E}">
        <p14:creationId xmlns:p14="http://schemas.microsoft.com/office/powerpoint/2010/main" val="4094113161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2039911D-DD47-4378-9F42-0BD47B9511AB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63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for: Example 2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685800" y="1524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for ( x = 99 ; x &lt; 6000 ; x = x + 1 ) {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  <a:r>
              <a:rPr lang="en-US" sz="3600" dirty="0" err="1">
                <a:solidFill>
                  <a:schemeClr val="tx1"/>
                </a:solidFill>
              </a:rPr>
              <a:t>document.write</a:t>
            </a:r>
            <a:r>
              <a:rPr lang="en-US" sz="3600" dirty="0">
                <a:solidFill>
                  <a:schemeClr val="tx1"/>
                </a:solidFill>
              </a:rPr>
              <a:t> ( x )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}</a:t>
            </a:r>
          </a:p>
          <a:p>
            <a:pPr>
              <a:spcBef>
                <a:spcPts val="913"/>
              </a:spcBef>
              <a:buClr>
                <a:srgbClr val="FF66FF"/>
              </a:buClr>
              <a:buFont typeface="Arial" panose="020B0604020202020204" pitchFamily="34" charset="0"/>
              <a:buNone/>
            </a:pP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70286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5B589B95-CB4C-4557-BBE8-1D826463FD4D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64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649310" y="1905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for: Example 3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for ( x = 6000 ; x &gt; 0 ; x = x - 1 ) {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  <a:r>
              <a:rPr lang="en-US" sz="3600" dirty="0" err="1">
                <a:solidFill>
                  <a:schemeClr val="tx1"/>
                </a:solidFill>
              </a:rPr>
              <a:t>document.write</a:t>
            </a:r>
            <a:r>
              <a:rPr lang="en-US" sz="3600" dirty="0">
                <a:solidFill>
                  <a:schemeClr val="tx1"/>
                </a:solidFill>
              </a:rPr>
              <a:t> ( x )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}</a:t>
            </a:r>
          </a:p>
          <a:p>
            <a:pPr>
              <a:spcBef>
                <a:spcPts val="913"/>
              </a:spcBef>
              <a:buClr>
                <a:srgbClr val="FF66FF"/>
              </a:buClr>
              <a:buFont typeface="Arial" panose="020B0604020202020204" pitchFamily="34" charset="0"/>
              <a:buNone/>
            </a:pP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0180" name="AutoShape 4"/>
          <p:cNvSpPr>
            <a:spLocks noChangeArrowheads="1"/>
          </p:cNvSpPr>
          <p:nvPr/>
        </p:nvSpPr>
        <p:spPr bwMode="auto">
          <a:xfrm>
            <a:off x="4724400" y="3505200"/>
            <a:ext cx="3276600" cy="22860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200"/>
              <a:t>How many iterations would this ‘for’ loop run for?</a:t>
            </a:r>
          </a:p>
        </p:txBody>
      </p:sp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4724400" y="5943600"/>
            <a:ext cx="3276600" cy="6858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200"/>
              <a:t>6000?</a:t>
            </a:r>
          </a:p>
        </p:txBody>
      </p:sp>
    </p:spTree>
    <p:extLst>
      <p:ext uri="{BB962C8B-B14F-4D97-AF65-F5344CB8AC3E}">
        <p14:creationId xmlns:p14="http://schemas.microsoft.com/office/powerpoint/2010/main" val="1205620489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F7E290E0-774E-4A07-ACE4-39CB70CEA6EA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65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685800" y="762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for: Example 4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for ( x = 6000 ; x &lt; 0 ; x = x - 1 ) {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  <a:r>
              <a:rPr lang="en-US" sz="3600" dirty="0" err="1">
                <a:solidFill>
                  <a:schemeClr val="tx1"/>
                </a:solidFill>
              </a:rPr>
              <a:t>document.write</a:t>
            </a:r>
            <a:r>
              <a:rPr lang="en-US" sz="3600" dirty="0">
                <a:solidFill>
                  <a:schemeClr val="tx1"/>
                </a:solidFill>
              </a:rPr>
              <a:t> ( x ) ;</a:t>
            </a:r>
          </a:p>
          <a:p>
            <a:pPr>
              <a:spcBef>
                <a:spcPts val="913"/>
              </a:spcBef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}</a:t>
            </a:r>
          </a:p>
          <a:p>
            <a:pPr>
              <a:spcBef>
                <a:spcPts val="913"/>
              </a:spcBef>
              <a:buClr>
                <a:srgbClr val="FF66FF"/>
              </a:buClr>
              <a:buFont typeface="Arial" panose="020B0604020202020204" pitchFamily="34" charset="0"/>
              <a:buNone/>
            </a:pP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4724400" y="3505200"/>
            <a:ext cx="3276600" cy="22860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200"/>
              <a:t>How many iterations would this ‘for’ loop run for?</a:t>
            </a:r>
          </a:p>
        </p:txBody>
      </p:sp>
      <p:sp>
        <p:nvSpPr>
          <p:cNvPr id="51205" name="AutoShape 5"/>
          <p:cNvSpPr>
            <a:spLocks noChangeArrowheads="1"/>
          </p:cNvSpPr>
          <p:nvPr/>
        </p:nvSpPr>
        <p:spPr bwMode="auto">
          <a:xfrm>
            <a:off x="3810000" y="1447800"/>
            <a:ext cx="1143000" cy="762000"/>
          </a:xfrm>
          <a:prstGeom prst="roundRect">
            <a:avLst>
              <a:gd name="adj" fmla="val 16667"/>
            </a:avLst>
          </a:prstGeom>
          <a:noFill/>
          <a:ln w="7632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AutoShape 6"/>
          <p:cNvSpPr>
            <a:spLocks noChangeArrowheads="1"/>
          </p:cNvSpPr>
          <p:nvPr/>
        </p:nvSpPr>
        <p:spPr bwMode="auto">
          <a:xfrm>
            <a:off x="4724400" y="5943600"/>
            <a:ext cx="3276600" cy="6858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360" cap="flat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200"/>
              <a:t>None?</a:t>
            </a:r>
          </a:p>
        </p:txBody>
      </p:sp>
    </p:spTree>
    <p:extLst>
      <p:ext uri="{BB962C8B-B14F-4D97-AF65-F5344CB8AC3E}">
        <p14:creationId xmlns:p14="http://schemas.microsoft.com/office/powerpoint/2010/main" val="2964567249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00050" lvl="1" indent="0">
              <a:buNone/>
            </a:pPr>
            <a:r>
              <a:rPr lang="en-US" dirty="0"/>
              <a:t>&lt;p id="demo"&gt;&lt;/p&gt;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&lt;script&gt;</a:t>
            </a:r>
          </a:p>
          <a:p>
            <a:pPr marL="400050" lvl="1" indent="0">
              <a:buNone/>
            </a:pPr>
            <a:r>
              <a:rPr lang="en-US" dirty="0" err="1"/>
              <a:t>const</a:t>
            </a:r>
            <a:r>
              <a:rPr lang="en-US" dirty="0"/>
              <a:t> cars = ["BMW", "Volvo", "Saab", "Ford", "Fiat", "Audi"];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let text = "";</a:t>
            </a:r>
          </a:p>
          <a:p>
            <a:pPr marL="400050" lvl="1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cars.length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00050" lvl="1" indent="0">
              <a:buNone/>
            </a:pPr>
            <a:r>
              <a:rPr lang="en-US" dirty="0"/>
              <a:t>  text += cars[</a:t>
            </a:r>
            <a:r>
              <a:rPr lang="en-US" dirty="0" err="1"/>
              <a:t>i</a:t>
            </a:r>
            <a:r>
              <a:rPr lang="en-US" dirty="0"/>
              <a:t>] +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text;</a:t>
            </a:r>
          </a:p>
          <a:p>
            <a:pPr marL="400050" lvl="1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9511021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1141CE61-498D-4B49-B50E-6D000B6B8C40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67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2971800" y="2289175"/>
            <a:ext cx="2270125" cy="436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lnSpc>
                <a:spcPct val="40000"/>
              </a:lnSpc>
              <a:buClrTx/>
              <a:buFontTx/>
              <a:buNone/>
            </a:pPr>
            <a:r>
              <a:rPr lang="en-US" sz="70000" b="1">
                <a:solidFill>
                  <a:srgbClr val="FFFF99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0" y="25146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9200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 </a:t>
            </a:r>
            <a:br>
              <a:rPr lang="en-US" sz="9200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9200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9200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9200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1001615075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F622DB3E-6903-49D7-954C-60C4504D8AF7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68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685800" y="364364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sz="4400" dirty="0">
                <a:solidFill>
                  <a:schemeClr val="tx1"/>
                </a:solidFill>
              </a:rPr>
              <a:t>for --?-- while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685800" y="1534732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When the exact number of iterations is known, use the ‘for’ loop</a:t>
            </a:r>
          </a:p>
          <a:p>
            <a:pPr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>
              <a:spcBef>
                <a:spcPts val="813"/>
              </a:spcBef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When the number of iterations depend upon a condition being met, use the ‘while’ loop</a:t>
            </a:r>
          </a:p>
        </p:txBody>
      </p:sp>
    </p:spTree>
    <p:extLst>
      <p:ext uri="{BB962C8B-B14F-4D97-AF65-F5344CB8AC3E}">
        <p14:creationId xmlns:p14="http://schemas.microsoft.com/office/powerpoint/2010/main" val="3400366727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6172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 algn="r">
              <a:buClrTx/>
              <a:buFontTx/>
              <a:buNone/>
            </a:pPr>
            <a:fld id="{5D7D87EF-5F2D-4640-87EE-BE80B8B37DCF}" type="slidenum">
              <a:rPr lang="en-US" sz="1400">
                <a:solidFill>
                  <a:srgbClr val="FFFFFF"/>
                </a:solidFill>
              </a:rPr>
              <a:pPr algn="r">
                <a:buClrTx/>
                <a:buFontTx/>
                <a:buNone/>
              </a:pPr>
              <a:t>69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685800" y="1219200"/>
            <a:ext cx="7772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5pPr>
            <a:lvl6pPr marL="25146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6pPr>
            <a:lvl7pPr marL="29718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7pPr>
            <a:lvl8pPr marL="34290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8pPr>
            <a:lvl9pPr marL="3886200" indent="-228600" defTabSz="45720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AR PL SungtiL GB" charset="0"/>
                <a:cs typeface="AR PL SungtiL GB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3600" dirty="0">
                <a:solidFill>
                  <a:schemeClr val="tx1"/>
                </a:solidFill>
              </a:rPr>
              <a:t>‘for’ loops become especially useful when used in conjunction with arrays</a:t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/>
            </a: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3600" dirty="0">
                <a:solidFill>
                  <a:schemeClr val="tx1"/>
                </a:solidFill>
              </a:rPr>
              <a:t>We’ll find out about arrays next time, and we’ll probe their usefulness as part of ‘for’ loop structures</a:t>
            </a:r>
          </a:p>
        </p:txBody>
      </p:sp>
    </p:spTree>
    <p:extLst>
      <p:ext uri="{BB962C8B-B14F-4D97-AF65-F5344CB8AC3E}">
        <p14:creationId xmlns:p14="http://schemas.microsoft.com/office/powerpoint/2010/main" val="1206641660"/>
      </p:ext>
    </p:extLst>
  </p:cSld>
  <p:clrMapOvr>
    <a:masterClrMapping/>
  </p:clrMapOvr>
  <p:transition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AR PL SungtiL GB"/>
        <a:cs typeface="AR PL SungtiL GB"/>
      </a:majorFont>
      <a:minorFont>
        <a:latin typeface="Arial"/>
        <a:ea typeface="AR PL SungtiL GB"/>
        <a:cs typeface="AR PL SungtiL G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AR PL SungtiL GB"/>
        <a:cs typeface="AR PL SungtiL GB"/>
      </a:majorFont>
      <a:minorFont>
        <a:latin typeface="Arial"/>
        <a:ea typeface="AR PL SungtiL GB"/>
        <a:cs typeface="AR PL SungtiL G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9310</TotalTime>
  <Words>2218</Words>
  <Application>Microsoft Office PowerPoint</Application>
  <PresentationFormat>On-screen Show (4:3)</PresentationFormat>
  <Paragraphs>559</Paragraphs>
  <Slides>69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 PL SungtiL GB</vt:lpstr>
      <vt:lpstr>Arial</vt:lpstr>
      <vt:lpstr>Calibri</vt:lpstr>
      <vt:lpstr>Calibri Light</vt:lpstr>
      <vt:lpstr>Consolas</vt:lpstr>
      <vt:lpstr>DejaVu Sans</vt:lpstr>
      <vt:lpstr>Times New Roman</vt:lpstr>
      <vt:lpstr>Office Theme</vt:lpstr>
      <vt:lpstr>1_Office Theme</vt:lpstr>
      <vt:lpstr>2_Office Theme</vt:lpstr>
      <vt:lpstr>3_Office Theme</vt:lpstr>
      <vt:lpstr>Java script Basics</vt:lpstr>
      <vt:lpstr>What is JavaScript?</vt:lpstr>
      <vt:lpstr>Object Based?</vt:lpstr>
      <vt:lpstr>PowerPoint Presentation</vt:lpstr>
      <vt:lpstr>Why JavaScript?</vt:lpstr>
      <vt:lpstr>What java script can do?</vt:lpstr>
      <vt:lpstr>Some of things that JavaScript cannot do!</vt:lpstr>
      <vt:lpstr>Case Sensitivity</vt:lpstr>
      <vt:lpstr>HTML DOM</vt:lpstr>
      <vt:lpstr>HTML DOM</vt:lpstr>
      <vt:lpstr>PowerPoint Presentation</vt:lpstr>
      <vt:lpstr>JavaScript Variables</vt:lpstr>
      <vt:lpstr>Examples</vt:lpstr>
      <vt:lpstr>JavaScript Variables</vt:lpstr>
      <vt:lpstr>Variable Type Conversion &amp; Operations</vt:lpstr>
      <vt:lpstr>Alerts and prompts and confirm</vt:lpstr>
      <vt:lpstr>Alerts and prompts and confirm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Strings in JS</vt:lpstr>
      <vt:lpstr>Strings in JS</vt:lpstr>
      <vt:lpstr>String methods in JS</vt:lpstr>
      <vt:lpstr>String methods Examples</vt:lpstr>
      <vt:lpstr>String methods Examples</vt:lpstr>
      <vt:lpstr>Several String methods </vt:lpstr>
      <vt:lpstr>Several String methods </vt:lpstr>
      <vt:lpstr>String and String Methods</vt:lpstr>
      <vt:lpstr>Numbers Methods</vt:lpstr>
      <vt:lpstr>Math Class</vt:lpstr>
      <vt:lpstr>Ternary Operators</vt:lpstr>
      <vt:lpstr>Control Structures</vt:lpstr>
      <vt:lpstr>Control Structures if</vt:lpstr>
      <vt:lpstr>Control structure if-else</vt:lpstr>
      <vt:lpstr>Control structure else if</vt:lpstr>
      <vt:lpstr>Loop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 Loop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fakhera Nazir</dc:creator>
  <cp:lastModifiedBy>Microsoft account</cp:lastModifiedBy>
  <cp:revision>99</cp:revision>
  <dcterms:created xsi:type="dcterms:W3CDTF">2006-08-16T00:00:00Z</dcterms:created>
  <dcterms:modified xsi:type="dcterms:W3CDTF">2025-10-28T05:46:11Z</dcterms:modified>
</cp:coreProperties>
</file>
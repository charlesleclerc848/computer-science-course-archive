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sldIdLst>
    <p:sldId id="256" r:id="rId2"/>
    <p:sldId id="257" r:id="rId3"/>
    <p:sldId id="262" r:id="rId4"/>
    <p:sldId id="312" r:id="rId5"/>
    <p:sldId id="313" r:id="rId6"/>
    <p:sldId id="265" r:id="rId7"/>
    <p:sldId id="314" r:id="rId8"/>
    <p:sldId id="266" r:id="rId9"/>
    <p:sldId id="267" r:id="rId10"/>
    <p:sldId id="268" r:id="rId11"/>
    <p:sldId id="269" r:id="rId12"/>
    <p:sldId id="300" r:id="rId13"/>
    <p:sldId id="315" r:id="rId14"/>
    <p:sldId id="318" r:id="rId15"/>
    <p:sldId id="319" r:id="rId16"/>
    <p:sldId id="321" r:id="rId17"/>
    <p:sldId id="322" r:id="rId18"/>
    <p:sldId id="398" r:id="rId19"/>
    <p:sldId id="399" r:id="rId20"/>
    <p:sldId id="323" r:id="rId21"/>
    <p:sldId id="316" r:id="rId22"/>
    <p:sldId id="317" r:id="rId23"/>
    <p:sldId id="320" r:id="rId24"/>
    <p:sldId id="338" r:id="rId25"/>
    <p:sldId id="325" r:id="rId26"/>
    <p:sldId id="327" r:id="rId27"/>
    <p:sldId id="330" r:id="rId28"/>
    <p:sldId id="326" r:id="rId29"/>
    <p:sldId id="328" r:id="rId30"/>
    <p:sldId id="339" r:id="rId31"/>
    <p:sldId id="329" r:id="rId32"/>
    <p:sldId id="331" r:id="rId33"/>
    <p:sldId id="356" r:id="rId34"/>
    <p:sldId id="333" r:id="rId35"/>
    <p:sldId id="335" r:id="rId36"/>
    <p:sldId id="336" r:id="rId37"/>
    <p:sldId id="337" r:id="rId38"/>
    <p:sldId id="334" r:id="rId39"/>
    <p:sldId id="357" r:id="rId40"/>
    <p:sldId id="340" r:id="rId41"/>
    <p:sldId id="348" r:id="rId42"/>
    <p:sldId id="341" r:id="rId43"/>
    <p:sldId id="401" r:id="rId44"/>
    <p:sldId id="342" r:id="rId45"/>
    <p:sldId id="344" r:id="rId46"/>
    <p:sldId id="345" r:id="rId47"/>
    <p:sldId id="346" r:id="rId48"/>
    <p:sldId id="400" r:id="rId49"/>
    <p:sldId id="352" r:id="rId50"/>
    <p:sldId id="347" r:id="rId51"/>
    <p:sldId id="358" r:id="rId52"/>
    <p:sldId id="362" r:id="rId53"/>
    <p:sldId id="343" r:id="rId54"/>
    <p:sldId id="350" r:id="rId55"/>
    <p:sldId id="353" r:id="rId56"/>
    <p:sldId id="360" r:id="rId57"/>
    <p:sldId id="372" r:id="rId58"/>
    <p:sldId id="373" r:id="rId59"/>
    <p:sldId id="361" r:id="rId60"/>
    <p:sldId id="363" r:id="rId61"/>
    <p:sldId id="370" r:id="rId62"/>
    <p:sldId id="371" r:id="rId63"/>
    <p:sldId id="364" r:id="rId64"/>
    <p:sldId id="369" r:id="rId65"/>
    <p:sldId id="374" r:id="rId66"/>
    <p:sldId id="375" r:id="rId67"/>
    <p:sldId id="309" r:id="rId68"/>
    <p:sldId id="304" r:id="rId69"/>
    <p:sldId id="302" r:id="rId70"/>
    <p:sldId id="303"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985E"/>
    <a:srgbClr val="0296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FA061F-5945-4858-A547-239B8D0C13AD}" v="56" dt="2022-04-06T12:03:49.5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53" autoAdjust="0"/>
    <p:restoredTop sz="94660" autoAdjust="0"/>
  </p:normalViewPr>
  <p:slideViewPr>
    <p:cSldViewPr snapToGrid="0">
      <p:cViewPr varScale="1">
        <p:scale>
          <a:sx n="74" d="100"/>
          <a:sy n="74" d="100"/>
        </p:scale>
        <p:origin x="540" y="72"/>
      </p:cViewPr>
      <p:guideLst>
        <p:guide orient="horz" pos="2160"/>
        <p:guide pos="3840"/>
      </p:guideLst>
    </p:cSldViewPr>
  </p:slideViewPr>
  <p:outlineViewPr>
    <p:cViewPr>
      <p:scale>
        <a:sx n="33" d="100"/>
        <a:sy n="33" d="100"/>
      </p:scale>
      <p:origin x="0" y="16820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12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929D73-9A87-44BA-87AF-7C64578B240F}" type="datetimeFigureOut">
              <a:rPr lang="en-US" smtClean="0"/>
              <a:t>2/21/2025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556B15-0856-4121-AAB7-C8F0CBDE875A}" type="slidenum">
              <a:rPr lang="en-US" smtClean="0"/>
              <a:t>‹#›</a:t>
            </a:fld>
            <a:endParaRPr lang="en-US"/>
          </a:p>
        </p:txBody>
      </p:sp>
    </p:spTree>
    <p:extLst>
      <p:ext uri="{BB962C8B-B14F-4D97-AF65-F5344CB8AC3E}">
        <p14:creationId xmlns:p14="http://schemas.microsoft.com/office/powerpoint/2010/main" val="4125801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556B15-0856-4121-AAB7-C8F0CBDE875A}" type="slidenum">
              <a:rPr lang="en-US" smtClean="0"/>
              <a:t>8</a:t>
            </a:fld>
            <a:endParaRPr lang="en-US"/>
          </a:p>
        </p:txBody>
      </p:sp>
    </p:spTree>
    <p:extLst>
      <p:ext uri="{BB962C8B-B14F-4D97-AF65-F5344CB8AC3E}">
        <p14:creationId xmlns:p14="http://schemas.microsoft.com/office/powerpoint/2010/main" val="4188948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556B15-0856-4121-AAB7-C8F0CBDE875A}" type="slidenum">
              <a:rPr lang="en-US" smtClean="0"/>
              <a:t>11</a:t>
            </a:fld>
            <a:endParaRPr lang="en-US"/>
          </a:p>
        </p:txBody>
      </p:sp>
    </p:spTree>
    <p:extLst>
      <p:ext uri="{BB962C8B-B14F-4D97-AF65-F5344CB8AC3E}">
        <p14:creationId xmlns:p14="http://schemas.microsoft.com/office/powerpoint/2010/main" val="3720286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900" b="0" i="0" kern="1200" dirty="0" smtClean="0">
                <a:solidFill>
                  <a:schemeClr val="tx1"/>
                </a:solidFill>
                <a:effectLst/>
                <a:latin typeface="+mn-lt"/>
                <a:ea typeface="+mn-ea"/>
                <a:cs typeface="+mn-cs"/>
              </a:rPr>
              <a:t>&lt;template&gt;</a:t>
            </a:r>
            <a:r>
              <a:rPr lang="en-GB" sz="900" dirty="0" smtClean="0"/>
              <a:t/>
            </a:r>
            <a:br>
              <a:rPr lang="en-GB" sz="900" dirty="0" smtClean="0"/>
            </a:br>
            <a:r>
              <a:rPr lang="en-GB" sz="900" b="0" i="0" kern="1200" dirty="0" smtClean="0">
                <a:solidFill>
                  <a:schemeClr val="tx1"/>
                </a:solidFill>
                <a:effectLst/>
                <a:latin typeface="+mn-lt"/>
                <a:ea typeface="+mn-ea"/>
                <a:cs typeface="+mn-cs"/>
              </a:rPr>
              <a:t>  &lt;div class="</a:t>
            </a:r>
            <a:r>
              <a:rPr lang="en-GB" sz="900" b="0" i="0" kern="1200" dirty="0" err="1" smtClean="0">
                <a:solidFill>
                  <a:schemeClr val="tx1"/>
                </a:solidFill>
                <a:effectLst/>
                <a:latin typeface="+mn-lt"/>
                <a:ea typeface="+mn-ea"/>
                <a:cs typeface="+mn-cs"/>
              </a:rPr>
              <a:t>myClass</a:t>
            </a:r>
            <a:r>
              <a:rPr lang="en-GB" sz="900" b="0" i="0" kern="1200" dirty="0" smtClean="0">
                <a:solidFill>
                  <a:schemeClr val="tx1"/>
                </a:solidFill>
                <a:effectLst/>
                <a:latin typeface="+mn-lt"/>
                <a:ea typeface="+mn-ea"/>
                <a:cs typeface="+mn-cs"/>
              </a:rPr>
              <a:t>"&gt;I like: &lt;/div&gt;</a:t>
            </a:r>
            <a:r>
              <a:rPr lang="en-GB" sz="900" dirty="0" smtClean="0"/>
              <a:t/>
            </a:r>
            <a:br>
              <a:rPr lang="en-GB" sz="900" dirty="0" smtClean="0"/>
            </a:br>
            <a:r>
              <a:rPr lang="en-GB" sz="900" b="0" i="0" kern="1200" dirty="0" smtClean="0">
                <a:solidFill>
                  <a:schemeClr val="tx1"/>
                </a:solidFill>
                <a:effectLst/>
                <a:latin typeface="+mn-lt"/>
                <a:ea typeface="+mn-ea"/>
                <a:cs typeface="+mn-cs"/>
              </a:rPr>
              <a:t>&lt;/template&gt;</a:t>
            </a:r>
            <a:r>
              <a:rPr lang="en-GB" sz="900" dirty="0" smtClean="0"/>
              <a:t/>
            </a:r>
            <a:br>
              <a:rPr lang="en-GB" sz="900" dirty="0" smtClean="0"/>
            </a:br>
            <a:r>
              <a:rPr lang="en-GB" sz="900" b="0" i="0" kern="1200" dirty="0" smtClean="0">
                <a:solidFill>
                  <a:schemeClr val="tx1"/>
                </a:solidFill>
                <a:effectLst/>
                <a:latin typeface="+mn-lt"/>
                <a:ea typeface="+mn-ea"/>
                <a:cs typeface="+mn-cs"/>
              </a:rPr>
              <a:t>&lt;script&gt;</a:t>
            </a:r>
            <a:br>
              <a:rPr lang="en-GB" sz="900" b="0" i="0" kern="1200" dirty="0" smtClean="0">
                <a:solidFill>
                  <a:schemeClr val="tx1"/>
                </a:solidFill>
                <a:effectLst/>
                <a:latin typeface="+mn-lt"/>
                <a:ea typeface="+mn-ea"/>
                <a:cs typeface="+mn-cs"/>
              </a:rPr>
            </a:br>
            <a:r>
              <a:rPr lang="en-GB" sz="900" b="0" i="0" kern="1200" dirty="0" smtClean="0">
                <a:solidFill>
                  <a:schemeClr val="tx1"/>
                </a:solidFill>
                <a:effectLst/>
                <a:latin typeface="+mn-lt"/>
                <a:ea typeface="+mn-ea"/>
                <a:cs typeface="+mn-cs"/>
              </a:rPr>
              <a:t>let </a:t>
            </a:r>
            <a:r>
              <a:rPr lang="en-GB" sz="900" b="0" i="0" kern="1200" dirty="0" err="1" smtClean="0">
                <a:solidFill>
                  <a:schemeClr val="tx1"/>
                </a:solidFill>
                <a:effectLst/>
                <a:latin typeface="+mn-lt"/>
                <a:ea typeface="+mn-ea"/>
                <a:cs typeface="+mn-cs"/>
              </a:rPr>
              <a:t>myArr</a:t>
            </a:r>
            <a:r>
              <a:rPr lang="en-GB" sz="900" b="0" i="0" kern="1200" dirty="0" smtClean="0">
                <a:solidFill>
                  <a:schemeClr val="tx1"/>
                </a:solidFill>
                <a:effectLst/>
                <a:latin typeface="+mn-lt"/>
                <a:ea typeface="+mn-ea"/>
                <a:cs typeface="+mn-cs"/>
              </a:rPr>
              <a:t> = ["Audi", "BMW", "Ford", "Honda", "Jaguar", "Nissan"];</a:t>
            </a:r>
            <a:br>
              <a:rPr lang="en-GB" sz="900" b="0" i="0" kern="1200" dirty="0" smtClean="0">
                <a:solidFill>
                  <a:schemeClr val="tx1"/>
                </a:solidFill>
                <a:effectLst/>
                <a:latin typeface="+mn-lt"/>
                <a:ea typeface="+mn-ea"/>
                <a:cs typeface="+mn-cs"/>
              </a:rPr>
            </a:br>
            <a:r>
              <a:rPr lang="en-GB" sz="900" b="0" i="0" kern="1200" dirty="0" smtClean="0">
                <a:solidFill>
                  <a:schemeClr val="tx1"/>
                </a:solidFill>
                <a:effectLst/>
                <a:latin typeface="+mn-lt"/>
                <a:ea typeface="+mn-ea"/>
                <a:cs typeface="+mn-cs"/>
              </a:rPr>
              <a:t>function </a:t>
            </a:r>
            <a:r>
              <a:rPr lang="en-GB" sz="900" b="0" i="0" kern="1200" dirty="0" err="1" smtClean="0">
                <a:solidFill>
                  <a:schemeClr val="tx1"/>
                </a:solidFill>
                <a:effectLst/>
                <a:latin typeface="+mn-lt"/>
                <a:ea typeface="+mn-ea"/>
                <a:cs typeface="+mn-cs"/>
              </a:rPr>
              <a:t>showContent</a:t>
            </a:r>
            <a:r>
              <a:rPr lang="en-GB" sz="900" b="0" i="0" kern="1200" dirty="0" smtClean="0">
                <a:solidFill>
                  <a:schemeClr val="tx1"/>
                </a:solidFill>
                <a:effectLst/>
                <a:latin typeface="+mn-lt"/>
                <a:ea typeface="+mn-ea"/>
                <a:cs typeface="+mn-cs"/>
              </a:rPr>
              <a:t>() {</a:t>
            </a:r>
            <a:br>
              <a:rPr lang="en-GB" sz="900" b="0" i="0" kern="1200" dirty="0" smtClean="0">
                <a:solidFill>
                  <a:schemeClr val="tx1"/>
                </a:solidFill>
                <a:effectLst/>
                <a:latin typeface="+mn-lt"/>
                <a:ea typeface="+mn-ea"/>
                <a:cs typeface="+mn-cs"/>
              </a:rPr>
            </a:br>
            <a:r>
              <a:rPr lang="en-GB" sz="900" b="0" i="0" kern="1200" dirty="0" smtClean="0">
                <a:solidFill>
                  <a:schemeClr val="tx1"/>
                </a:solidFill>
                <a:effectLst/>
                <a:latin typeface="+mn-lt"/>
                <a:ea typeface="+mn-ea"/>
                <a:cs typeface="+mn-cs"/>
              </a:rPr>
              <a:t>  let temp, item, a, </a:t>
            </a:r>
            <a:r>
              <a:rPr lang="en-GB" sz="900" b="0" i="0" kern="1200" dirty="0" err="1" smtClean="0">
                <a:solidFill>
                  <a:schemeClr val="tx1"/>
                </a:solidFill>
                <a:effectLst/>
                <a:latin typeface="+mn-lt"/>
                <a:ea typeface="+mn-ea"/>
                <a:cs typeface="+mn-cs"/>
              </a:rPr>
              <a:t>i</a:t>
            </a:r>
            <a:r>
              <a:rPr lang="en-GB" sz="900" b="0" i="0" kern="1200" dirty="0" smtClean="0">
                <a:solidFill>
                  <a:schemeClr val="tx1"/>
                </a:solidFill>
                <a:effectLst/>
                <a:latin typeface="+mn-lt"/>
                <a:ea typeface="+mn-ea"/>
                <a:cs typeface="+mn-cs"/>
              </a:rPr>
              <a:t>;</a:t>
            </a:r>
            <a:br>
              <a:rPr lang="en-GB" sz="900" b="0" i="0" kern="1200" dirty="0" smtClean="0">
                <a:solidFill>
                  <a:schemeClr val="tx1"/>
                </a:solidFill>
                <a:effectLst/>
                <a:latin typeface="+mn-lt"/>
                <a:ea typeface="+mn-ea"/>
                <a:cs typeface="+mn-cs"/>
              </a:rPr>
            </a:br>
            <a:r>
              <a:rPr lang="en-GB" sz="900" b="0" i="0" kern="1200" dirty="0" smtClean="0">
                <a:solidFill>
                  <a:schemeClr val="tx1"/>
                </a:solidFill>
                <a:effectLst/>
                <a:latin typeface="+mn-lt"/>
                <a:ea typeface="+mn-ea"/>
                <a:cs typeface="+mn-cs"/>
              </a:rPr>
              <a:t>  temp = </a:t>
            </a:r>
            <a:r>
              <a:rPr lang="en-GB" sz="900" b="0" i="0" kern="1200" dirty="0" err="1" smtClean="0">
                <a:solidFill>
                  <a:schemeClr val="tx1"/>
                </a:solidFill>
                <a:effectLst/>
                <a:latin typeface="+mn-lt"/>
                <a:ea typeface="+mn-ea"/>
                <a:cs typeface="+mn-cs"/>
              </a:rPr>
              <a:t>document.getElementsByTagName</a:t>
            </a:r>
            <a:r>
              <a:rPr lang="en-GB" sz="900" b="0" i="0" kern="1200" dirty="0" smtClean="0">
                <a:solidFill>
                  <a:schemeClr val="tx1"/>
                </a:solidFill>
                <a:effectLst/>
                <a:latin typeface="+mn-lt"/>
                <a:ea typeface="+mn-ea"/>
                <a:cs typeface="+mn-cs"/>
              </a:rPr>
              <a:t>("template")[0];</a:t>
            </a:r>
            <a:br>
              <a:rPr lang="en-GB" sz="900" b="0" i="0" kern="1200" dirty="0" smtClean="0">
                <a:solidFill>
                  <a:schemeClr val="tx1"/>
                </a:solidFill>
                <a:effectLst/>
                <a:latin typeface="+mn-lt"/>
                <a:ea typeface="+mn-ea"/>
                <a:cs typeface="+mn-cs"/>
              </a:rPr>
            </a:br>
            <a:r>
              <a:rPr lang="en-GB" sz="900" b="0" i="0" kern="1200" dirty="0" smtClean="0">
                <a:solidFill>
                  <a:schemeClr val="tx1"/>
                </a:solidFill>
                <a:effectLst/>
                <a:latin typeface="+mn-lt"/>
                <a:ea typeface="+mn-ea"/>
                <a:cs typeface="+mn-cs"/>
              </a:rPr>
              <a:t>  item = </a:t>
            </a:r>
            <a:r>
              <a:rPr lang="en-GB" sz="900" b="0" i="0" kern="1200" dirty="0" err="1" smtClean="0">
                <a:solidFill>
                  <a:schemeClr val="tx1"/>
                </a:solidFill>
                <a:effectLst/>
                <a:latin typeface="+mn-lt"/>
                <a:ea typeface="+mn-ea"/>
                <a:cs typeface="+mn-cs"/>
              </a:rPr>
              <a:t>temp.content.querySelector</a:t>
            </a:r>
            <a:r>
              <a:rPr lang="en-GB" sz="900" b="0" i="0" kern="1200" dirty="0" smtClean="0">
                <a:solidFill>
                  <a:schemeClr val="tx1"/>
                </a:solidFill>
                <a:effectLst/>
                <a:latin typeface="+mn-lt"/>
                <a:ea typeface="+mn-ea"/>
                <a:cs typeface="+mn-cs"/>
              </a:rPr>
              <a:t>("div");</a:t>
            </a:r>
            <a:br>
              <a:rPr lang="en-GB" sz="900" b="0" i="0" kern="1200" dirty="0" smtClean="0">
                <a:solidFill>
                  <a:schemeClr val="tx1"/>
                </a:solidFill>
                <a:effectLst/>
                <a:latin typeface="+mn-lt"/>
                <a:ea typeface="+mn-ea"/>
                <a:cs typeface="+mn-cs"/>
              </a:rPr>
            </a:br>
            <a:r>
              <a:rPr lang="en-GB" sz="900" b="0" i="0" kern="1200" dirty="0" smtClean="0">
                <a:solidFill>
                  <a:schemeClr val="tx1"/>
                </a:solidFill>
                <a:effectLst/>
                <a:latin typeface="+mn-lt"/>
                <a:ea typeface="+mn-ea"/>
                <a:cs typeface="+mn-cs"/>
              </a:rPr>
              <a:t>  for (</a:t>
            </a:r>
            <a:r>
              <a:rPr lang="en-GB" sz="900" b="0" i="0" kern="1200" dirty="0" err="1" smtClean="0">
                <a:solidFill>
                  <a:schemeClr val="tx1"/>
                </a:solidFill>
                <a:effectLst/>
                <a:latin typeface="+mn-lt"/>
                <a:ea typeface="+mn-ea"/>
                <a:cs typeface="+mn-cs"/>
              </a:rPr>
              <a:t>i</a:t>
            </a:r>
            <a:r>
              <a:rPr lang="en-GB" sz="900" b="0" i="0" kern="1200" dirty="0" smtClean="0">
                <a:solidFill>
                  <a:schemeClr val="tx1"/>
                </a:solidFill>
                <a:effectLst/>
                <a:latin typeface="+mn-lt"/>
                <a:ea typeface="+mn-ea"/>
                <a:cs typeface="+mn-cs"/>
              </a:rPr>
              <a:t> = 0; </a:t>
            </a:r>
            <a:r>
              <a:rPr lang="en-GB" sz="900" b="0" i="0" kern="1200" dirty="0" err="1" smtClean="0">
                <a:solidFill>
                  <a:schemeClr val="tx1"/>
                </a:solidFill>
                <a:effectLst/>
                <a:latin typeface="+mn-lt"/>
                <a:ea typeface="+mn-ea"/>
                <a:cs typeface="+mn-cs"/>
              </a:rPr>
              <a:t>i</a:t>
            </a:r>
            <a:r>
              <a:rPr lang="en-GB" sz="900" b="0" i="0" kern="1200" dirty="0" smtClean="0">
                <a:solidFill>
                  <a:schemeClr val="tx1"/>
                </a:solidFill>
                <a:effectLst/>
                <a:latin typeface="+mn-lt"/>
                <a:ea typeface="+mn-ea"/>
                <a:cs typeface="+mn-cs"/>
              </a:rPr>
              <a:t> &lt; </a:t>
            </a:r>
            <a:r>
              <a:rPr lang="en-GB" sz="900" b="0" i="0" kern="1200" dirty="0" err="1" smtClean="0">
                <a:solidFill>
                  <a:schemeClr val="tx1"/>
                </a:solidFill>
                <a:effectLst/>
                <a:latin typeface="+mn-lt"/>
                <a:ea typeface="+mn-ea"/>
                <a:cs typeface="+mn-cs"/>
              </a:rPr>
              <a:t>myArr.length</a:t>
            </a:r>
            <a:r>
              <a:rPr lang="en-GB" sz="900" b="0" i="0" kern="1200" dirty="0" smtClean="0">
                <a:solidFill>
                  <a:schemeClr val="tx1"/>
                </a:solidFill>
                <a:effectLst/>
                <a:latin typeface="+mn-lt"/>
                <a:ea typeface="+mn-ea"/>
                <a:cs typeface="+mn-cs"/>
              </a:rPr>
              <a:t>; </a:t>
            </a:r>
            <a:r>
              <a:rPr lang="en-GB" sz="900" b="0" i="0" kern="1200" dirty="0" err="1" smtClean="0">
                <a:solidFill>
                  <a:schemeClr val="tx1"/>
                </a:solidFill>
                <a:effectLst/>
                <a:latin typeface="+mn-lt"/>
                <a:ea typeface="+mn-ea"/>
                <a:cs typeface="+mn-cs"/>
              </a:rPr>
              <a:t>i</a:t>
            </a:r>
            <a:r>
              <a:rPr lang="en-GB" sz="900" b="0" i="0" kern="1200" dirty="0" smtClean="0">
                <a:solidFill>
                  <a:schemeClr val="tx1"/>
                </a:solidFill>
                <a:effectLst/>
                <a:latin typeface="+mn-lt"/>
                <a:ea typeface="+mn-ea"/>
                <a:cs typeface="+mn-cs"/>
              </a:rPr>
              <a:t>++) {</a:t>
            </a:r>
            <a:br>
              <a:rPr lang="en-GB" sz="900" b="0" i="0" kern="1200" dirty="0" smtClean="0">
                <a:solidFill>
                  <a:schemeClr val="tx1"/>
                </a:solidFill>
                <a:effectLst/>
                <a:latin typeface="+mn-lt"/>
                <a:ea typeface="+mn-ea"/>
                <a:cs typeface="+mn-cs"/>
              </a:rPr>
            </a:br>
            <a:r>
              <a:rPr lang="en-GB" sz="900" b="0" i="0" kern="1200" dirty="0" smtClean="0">
                <a:solidFill>
                  <a:schemeClr val="tx1"/>
                </a:solidFill>
                <a:effectLst/>
                <a:latin typeface="+mn-lt"/>
                <a:ea typeface="+mn-ea"/>
                <a:cs typeface="+mn-cs"/>
              </a:rPr>
              <a:t>    a = </a:t>
            </a:r>
            <a:r>
              <a:rPr lang="en-GB" sz="900" b="0" i="0" kern="1200" dirty="0" err="1" smtClean="0">
                <a:solidFill>
                  <a:schemeClr val="tx1"/>
                </a:solidFill>
                <a:effectLst/>
                <a:latin typeface="+mn-lt"/>
                <a:ea typeface="+mn-ea"/>
                <a:cs typeface="+mn-cs"/>
              </a:rPr>
              <a:t>document.importNode</a:t>
            </a:r>
            <a:r>
              <a:rPr lang="en-GB" sz="900" b="0" i="0" kern="1200" dirty="0" smtClean="0">
                <a:solidFill>
                  <a:schemeClr val="tx1"/>
                </a:solidFill>
                <a:effectLst/>
                <a:latin typeface="+mn-lt"/>
                <a:ea typeface="+mn-ea"/>
                <a:cs typeface="+mn-cs"/>
              </a:rPr>
              <a:t>(item, true);</a:t>
            </a:r>
            <a:br>
              <a:rPr lang="en-GB" sz="900" b="0" i="0" kern="1200" dirty="0" smtClean="0">
                <a:solidFill>
                  <a:schemeClr val="tx1"/>
                </a:solidFill>
                <a:effectLst/>
                <a:latin typeface="+mn-lt"/>
                <a:ea typeface="+mn-ea"/>
                <a:cs typeface="+mn-cs"/>
              </a:rPr>
            </a:br>
            <a:r>
              <a:rPr lang="en-GB" sz="900" b="0" i="0" kern="1200" dirty="0" smtClean="0">
                <a:solidFill>
                  <a:schemeClr val="tx1"/>
                </a:solidFill>
                <a:effectLst/>
                <a:latin typeface="+mn-lt"/>
                <a:ea typeface="+mn-ea"/>
                <a:cs typeface="+mn-cs"/>
              </a:rPr>
              <a:t>    </a:t>
            </a:r>
            <a:r>
              <a:rPr lang="en-GB" sz="900" b="0" i="0" kern="1200" dirty="0" err="1" smtClean="0">
                <a:solidFill>
                  <a:schemeClr val="tx1"/>
                </a:solidFill>
                <a:effectLst/>
                <a:latin typeface="+mn-lt"/>
                <a:ea typeface="+mn-ea"/>
                <a:cs typeface="+mn-cs"/>
              </a:rPr>
              <a:t>a.textContent</a:t>
            </a:r>
            <a:r>
              <a:rPr lang="en-GB" sz="900" b="0" i="0" kern="1200" dirty="0" smtClean="0">
                <a:solidFill>
                  <a:schemeClr val="tx1"/>
                </a:solidFill>
                <a:effectLst/>
                <a:latin typeface="+mn-lt"/>
                <a:ea typeface="+mn-ea"/>
                <a:cs typeface="+mn-cs"/>
              </a:rPr>
              <a:t> += </a:t>
            </a:r>
            <a:r>
              <a:rPr lang="en-GB" sz="900" b="0" i="0" kern="1200" dirty="0" err="1" smtClean="0">
                <a:solidFill>
                  <a:schemeClr val="tx1"/>
                </a:solidFill>
                <a:effectLst/>
                <a:latin typeface="+mn-lt"/>
                <a:ea typeface="+mn-ea"/>
                <a:cs typeface="+mn-cs"/>
              </a:rPr>
              <a:t>myArr</a:t>
            </a:r>
            <a:r>
              <a:rPr lang="en-GB" sz="900" b="0" i="0" kern="1200" dirty="0" smtClean="0">
                <a:solidFill>
                  <a:schemeClr val="tx1"/>
                </a:solidFill>
                <a:effectLst/>
                <a:latin typeface="+mn-lt"/>
                <a:ea typeface="+mn-ea"/>
                <a:cs typeface="+mn-cs"/>
              </a:rPr>
              <a:t>[</a:t>
            </a:r>
            <a:r>
              <a:rPr lang="en-GB" sz="900" b="0" i="0" kern="1200" dirty="0" err="1" smtClean="0">
                <a:solidFill>
                  <a:schemeClr val="tx1"/>
                </a:solidFill>
                <a:effectLst/>
                <a:latin typeface="+mn-lt"/>
                <a:ea typeface="+mn-ea"/>
                <a:cs typeface="+mn-cs"/>
              </a:rPr>
              <a:t>i</a:t>
            </a:r>
            <a:r>
              <a:rPr lang="en-GB" sz="900" b="0" i="0" kern="1200" dirty="0" smtClean="0">
                <a:solidFill>
                  <a:schemeClr val="tx1"/>
                </a:solidFill>
                <a:effectLst/>
                <a:latin typeface="+mn-lt"/>
                <a:ea typeface="+mn-ea"/>
                <a:cs typeface="+mn-cs"/>
              </a:rPr>
              <a:t>];</a:t>
            </a:r>
            <a:br>
              <a:rPr lang="en-GB" sz="900" b="0" i="0" kern="1200" dirty="0" smtClean="0">
                <a:solidFill>
                  <a:schemeClr val="tx1"/>
                </a:solidFill>
                <a:effectLst/>
                <a:latin typeface="+mn-lt"/>
                <a:ea typeface="+mn-ea"/>
                <a:cs typeface="+mn-cs"/>
              </a:rPr>
            </a:br>
            <a:r>
              <a:rPr lang="en-GB" sz="900" b="0" i="0" kern="1200" dirty="0" smtClean="0">
                <a:solidFill>
                  <a:schemeClr val="tx1"/>
                </a:solidFill>
                <a:effectLst/>
                <a:latin typeface="+mn-lt"/>
                <a:ea typeface="+mn-ea"/>
                <a:cs typeface="+mn-cs"/>
              </a:rPr>
              <a:t>    </a:t>
            </a:r>
            <a:r>
              <a:rPr lang="en-GB" sz="900" b="0" i="0" kern="1200" dirty="0" err="1" smtClean="0">
                <a:solidFill>
                  <a:schemeClr val="tx1"/>
                </a:solidFill>
                <a:effectLst/>
                <a:latin typeface="+mn-lt"/>
                <a:ea typeface="+mn-ea"/>
                <a:cs typeface="+mn-cs"/>
              </a:rPr>
              <a:t>document.body.appendChild</a:t>
            </a:r>
            <a:r>
              <a:rPr lang="en-GB" sz="900" b="0" i="0" kern="1200" dirty="0" smtClean="0">
                <a:solidFill>
                  <a:schemeClr val="tx1"/>
                </a:solidFill>
                <a:effectLst/>
                <a:latin typeface="+mn-lt"/>
                <a:ea typeface="+mn-ea"/>
                <a:cs typeface="+mn-cs"/>
              </a:rPr>
              <a:t>(a);</a:t>
            </a:r>
            <a:br>
              <a:rPr lang="en-GB" sz="900" b="0" i="0" kern="1200" dirty="0" smtClean="0">
                <a:solidFill>
                  <a:schemeClr val="tx1"/>
                </a:solidFill>
                <a:effectLst/>
                <a:latin typeface="+mn-lt"/>
                <a:ea typeface="+mn-ea"/>
                <a:cs typeface="+mn-cs"/>
              </a:rPr>
            </a:br>
            <a:r>
              <a:rPr lang="en-GB" sz="900" b="0" i="0" kern="1200" dirty="0" smtClean="0">
                <a:solidFill>
                  <a:schemeClr val="tx1"/>
                </a:solidFill>
                <a:effectLst/>
                <a:latin typeface="+mn-lt"/>
                <a:ea typeface="+mn-ea"/>
                <a:cs typeface="+mn-cs"/>
              </a:rPr>
              <a:t>  }</a:t>
            </a:r>
            <a:br>
              <a:rPr lang="en-GB" sz="900" b="0" i="0" kern="1200" dirty="0" smtClean="0">
                <a:solidFill>
                  <a:schemeClr val="tx1"/>
                </a:solidFill>
                <a:effectLst/>
                <a:latin typeface="+mn-lt"/>
                <a:ea typeface="+mn-ea"/>
                <a:cs typeface="+mn-cs"/>
              </a:rPr>
            </a:br>
            <a:r>
              <a:rPr lang="en-GB" sz="900" b="0" i="0" kern="1200" dirty="0" smtClean="0">
                <a:solidFill>
                  <a:schemeClr val="tx1"/>
                </a:solidFill>
                <a:effectLst/>
                <a:latin typeface="+mn-lt"/>
                <a:ea typeface="+mn-ea"/>
                <a:cs typeface="+mn-cs"/>
              </a:rPr>
              <a:t>}</a:t>
            </a:r>
            <a:br>
              <a:rPr lang="en-GB" sz="900" b="0" i="0" kern="1200" dirty="0" smtClean="0">
                <a:solidFill>
                  <a:schemeClr val="tx1"/>
                </a:solidFill>
                <a:effectLst/>
                <a:latin typeface="+mn-lt"/>
                <a:ea typeface="+mn-ea"/>
                <a:cs typeface="+mn-cs"/>
              </a:rPr>
            </a:br>
            <a:r>
              <a:rPr lang="en-GB" sz="900" b="0" i="0" kern="1200" dirty="0" smtClean="0">
                <a:solidFill>
                  <a:schemeClr val="tx1"/>
                </a:solidFill>
                <a:effectLst/>
                <a:latin typeface="+mn-lt"/>
                <a:ea typeface="+mn-ea"/>
                <a:cs typeface="+mn-cs"/>
              </a:rPr>
              <a:t>&lt;/script&gt;</a:t>
            </a:r>
            <a:endParaRPr lang="en-GB" sz="900" dirty="0"/>
          </a:p>
        </p:txBody>
      </p:sp>
      <p:sp>
        <p:nvSpPr>
          <p:cNvPr id="4" name="Slide Number Placeholder 3"/>
          <p:cNvSpPr>
            <a:spLocks noGrp="1"/>
          </p:cNvSpPr>
          <p:nvPr>
            <p:ph type="sldNum" sz="quarter" idx="10"/>
          </p:nvPr>
        </p:nvSpPr>
        <p:spPr/>
        <p:txBody>
          <a:bodyPr/>
          <a:lstStyle/>
          <a:p>
            <a:fld id="{80556B15-0856-4121-AAB7-C8F0CBDE875A}" type="slidenum">
              <a:rPr lang="en-US" smtClean="0"/>
              <a:t>49</a:t>
            </a:fld>
            <a:endParaRPr lang="en-US"/>
          </a:p>
        </p:txBody>
      </p:sp>
    </p:spTree>
    <p:extLst>
      <p:ext uri="{BB962C8B-B14F-4D97-AF65-F5344CB8AC3E}">
        <p14:creationId xmlns:p14="http://schemas.microsoft.com/office/powerpoint/2010/main" val="2343286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3B86AA8-458E-4A4F-AD13-B0B04124F6C3}" type="datetime1">
              <a:rPr lang="en-US" smtClean="0"/>
              <a:t>2/21/2025</a:t>
            </a:fld>
            <a:endParaRPr lang="en-US"/>
          </a:p>
        </p:txBody>
      </p:sp>
      <p:sp>
        <p:nvSpPr>
          <p:cNvPr id="5" name="Footer Placeholder 4"/>
          <p:cNvSpPr>
            <a:spLocks noGrp="1"/>
          </p:cNvSpPr>
          <p:nvPr>
            <p:ph type="ftr" sz="quarter" idx="11"/>
          </p:nvPr>
        </p:nvSpPr>
        <p:spPr/>
        <p:txBody>
          <a:bodyPr/>
          <a:lstStyle/>
          <a:p>
            <a:r>
              <a:rPr lang="en-US" smtClean="0"/>
              <a:t>IT Industry-Academia Bridge Program</a:t>
            </a:r>
            <a:endParaRPr lang="en-US"/>
          </a:p>
        </p:txBody>
      </p:sp>
      <p:sp>
        <p:nvSpPr>
          <p:cNvPr id="6" name="Slide Number Placeholder 5"/>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17208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5E3EB9-6B3E-4CC0-A2CB-6B1ED04CBAE1}" type="datetime1">
              <a:rPr lang="en-US" smtClean="0"/>
              <a:t>2/21/2025</a:t>
            </a:fld>
            <a:endParaRPr lang="en-US"/>
          </a:p>
        </p:txBody>
      </p:sp>
      <p:sp>
        <p:nvSpPr>
          <p:cNvPr id="5" name="Footer Placeholder 4"/>
          <p:cNvSpPr>
            <a:spLocks noGrp="1"/>
          </p:cNvSpPr>
          <p:nvPr>
            <p:ph type="ftr" sz="quarter" idx="11"/>
          </p:nvPr>
        </p:nvSpPr>
        <p:spPr/>
        <p:txBody>
          <a:bodyPr/>
          <a:lstStyle/>
          <a:p>
            <a:r>
              <a:rPr lang="en-US" smtClean="0"/>
              <a:t>IT Industry-Academia Bridge Program</a:t>
            </a:r>
            <a:endParaRPr lang="en-US"/>
          </a:p>
        </p:txBody>
      </p:sp>
      <p:sp>
        <p:nvSpPr>
          <p:cNvPr id="6" name="Slide Number Placeholder 5"/>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23877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9E772BE-3B88-4448-9D14-22C5EB54937F}" type="datetime1">
              <a:rPr lang="en-US" smtClean="0"/>
              <a:t>2/21/2025</a:t>
            </a:fld>
            <a:endParaRPr lang="en-US"/>
          </a:p>
        </p:txBody>
      </p:sp>
      <p:sp>
        <p:nvSpPr>
          <p:cNvPr id="5" name="Footer Placeholder 4"/>
          <p:cNvSpPr>
            <a:spLocks noGrp="1"/>
          </p:cNvSpPr>
          <p:nvPr>
            <p:ph type="ftr" sz="quarter" idx="11"/>
          </p:nvPr>
        </p:nvSpPr>
        <p:spPr/>
        <p:txBody>
          <a:bodyPr/>
          <a:lstStyle/>
          <a:p>
            <a:r>
              <a:rPr lang="en-US" smtClean="0"/>
              <a:t>IT Industry-Academia Bridge Program</a:t>
            </a:r>
            <a:endParaRPr lang="en-US"/>
          </a:p>
        </p:txBody>
      </p:sp>
      <p:sp>
        <p:nvSpPr>
          <p:cNvPr id="6" name="Slide Number Placeholder 5"/>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3174599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2100554-2FC9-4002-A79E-635AA29674D6}" type="datetime1">
              <a:rPr lang="en-US" smtClean="0"/>
              <a:t>2/21/2025</a:t>
            </a:fld>
            <a:endParaRPr lang="en-US"/>
          </a:p>
        </p:txBody>
      </p:sp>
      <p:sp>
        <p:nvSpPr>
          <p:cNvPr id="6" name="Footer Placeholder 5"/>
          <p:cNvSpPr>
            <a:spLocks noGrp="1"/>
          </p:cNvSpPr>
          <p:nvPr>
            <p:ph type="ftr" sz="quarter" idx="11"/>
          </p:nvPr>
        </p:nvSpPr>
        <p:spPr/>
        <p:txBody>
          <a:bodyPr/>
          <a:lstStyle/>
          <a:p>
            <a:r>
              <a:rPr lang="en-US" smtClean="0"/>
              <a:t>IT Industry-Academia Bridge Program</a:t>
            </a:r>
            <a:endParaRPr lang="en-US"/>
          </a:p>
        </p:txBody>
      </p:sp>
      <p:sp>
        <p:nvSpPr>
          <p:cNvPr id="7" name="Slide Number Placeholder 6"/>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4017857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5A03513-869C-4A96-8299-A1139FD2C595}" type="datetime1">
              <a:rPr lang="en-US" smtClean="0"/>
              <a:t>2/21/2025</a:t>
            </a:fld>
            <a:endParaRPr lang="en-US"/>
          </a:p>
        </p:txBody>
      </p:sp>
      <p:sp>
        <p:nvSpPr>
          <p:cNvPr id="8" name="Footer Placeholder 7"/>
          <p:cNvSpPr>
            <a:spLocks noGrp="1"/>
          </p:cNvSpPr>
          <p:nvPr>
            <p:ph type="ftr" sz="quarter" idx="11"/>
          </p:nvPr>
        </p:nvSpPr>
        <p:spPr/>
        <p:txBody>
          <a:bodyPr/>
          <a:lstStyle/>
          <a:p>
            <a:r>
              <a:rPr lang="en-US" smtClean="0"/>
              <a:t>IT Industry-Academia Bridge Program</a:t>
            </a:r>
            <a:endParaRPr lang="en-US"/>
          </a:p>
        </p:txBody>
      </p:sp>
      <p:sp>
        <p:nvSpPr>
          <p:cNvPr id="9" name="Slide Number Placeholder 8"/>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749068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31D81E-083C-45EE-B807-4E79B9577858}" type="datetime1">
              <a:rPr lang="en-US" smtClean="0"/>
              <a:t>2/21/2025</a:t>
            </a:fld>
            <a:endParaRPr lang="en-US"/>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
        <p:nvSpPr>
          <p:cNvPr id="5" name="Slide Number Placeholder 4"/>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3217094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F81299-554B-48CC-965A-BF4495463D1B}" type="datetime1">
              <a:rPr lang="en-US" smtClean="0"/>
              <a:t>2/21/2025</a:t>
            </a:fld>
            <a:endParaRPr lang="en-US"/>
          </a:p>
        </p:txBody>
      </p:sp>
      <p:sp>
        <p:nvSpPr>
          <p:cNvPr id="3" name="Footer Placeholder 2"/>
          <p:cNvSpPr>
            <a:spLocks noGrp="1"/>
          </p:cNvSpPr>
          <p:nvPr>
            <p:ph type="ftr" sz="quarter" idx="11"/>
          </p:nvPr>
        </p:nvSpPr>
        <p:spPr/>
        <p:txBody>
          <a:bodyPr/>
          <a:lstStyle/>
          <a:p>
            <a:r>
              <a:rPr lang="en-US" smtClean="0"/>
              <a:t>IT Industry-Academia Bridge Program</a:t>
            </a:r>
            <a:endParaRPr lang="en-US"/>
          </a:p>
        </p:txBody>
      </p:sp>
      <p:sp>
        <p:nvSpPr>
          <p:cNvPr id="4" name="Slide Number Placeholder 3"/>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440596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9580748-8DD1-475E-B624-BDEAED64B0BF}" type="datetime1">
              <a:rPr lang="en-US" smtClean="0"/>
              <a:t>2/21/2025</a:t>
            </a:fld>
            <a:endParaRPr lang="en-US"/>
          </a:p>
        </p:txBody>
      </p:sp>
      <p:sp>
        <p:nvSpPr>
          <p:cNvPr id="6" name="Footer Placeholder 5"/>
          <p:cNvSpPr>
            <a:spLocks noGrp="1"/>
          </p:cNvSpPr>
          <p:nvPr>
            <p:ph type="ftr" sz="quarter" idx="11"/>
          </p:nvPr>
        </p:nvSpPr>
        <p:spPr/>
        <p:txBody>
          <a:bodyPr/>
          <a:lstStyle/>
          <a:p>
            <a:r>
              <a:rPr lang="en-US" smtClean="0"/>
              <a:t>IT Industry-Academia Bridge Program</a:t>
            </a:r>
            <a:endParaRPr lang="en-US"/>
          </a:p>
        </p:txBody>
      </p:sp>
      <p:sp>
        <p:nvSpPr>
          <p:cNvPr id="7" name="Slide Number Placeholder 6"/>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1847591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E595C81-ABA7-4EA6-9A2B-7847E819BF33}" type="datetime1">
              <a:rPr lang="en-US" smtClean="0"/>
              <a:t>2/21/2025</a:t>
            </a:fld>
            <a:endParaRPr lang="en-US"/>
          </a:p>
        </p:txBody>
      </p:sp>
      <p:sp>
        <p:nvSpPr>
          <p:cNvPr id="6" name="Footer Placeholder 5"/>
          <p:cNvSpPr>
            <a:spLocks noGrp="1"/>
          </p:cNvSpPr>
          <p:nvPr>
            <p:ph type="ftr" sz="quarter" idx="11"/>
          </p:nvPr>
        </p:nvSpPr>
        <p:spPr/>
        <p:txBody>
          <a:bodyPr/>
          <a:lstStyle/>
          <a:p>
            <a:r>
              <a:rPr lang="en-US" smtClean="0"/>
              <a:t>IT Industry-Academia Bridge Program</a:t>
            </a:r>
            <a:endParaRPr lang="en-US"/>
          </a:p>
        </p:txBody>
      </p:sp>
      <p:sp>
        <p:nvSpPr>
          <p:cNvPr id="7" name="Slide Number Placeholder 6"/>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3362963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292C7A2-8CE1-4A33-83B2-49624AB38BC9}" type="datetime1">
              <a:rPr lang="en-US" smtClean="0"/>
              <a:t>2/21/2025</a:t>
            </a:fld>
            <a:endParaRPr lang="en-US"/>
          </a:p>
        </p:txBody>
      </p:sp>
      <p:sp>
        <p:nvSpPr>
          <p:cNvPr id="5" name="Footer Placeholder 4"/>
          <p:cNvSpPr>
            <a:spLocks noGrp="1"/>
          </p:cNvSpPr>
          <p:nvPr>
            <p:ph type="ftr" sz="quarter" idx="11"/>
          </p:nvPr>
        </p:nvSpPr>
        <p:spPr/>
        <p:txBody>
          <a:bodyPr/>
          <a:lstStyle/>
          <a:p>
            <a:r>
              <a:rPr lang="en-US" smtClean="0"/>
              <a:t>IT Industry-Academia Bridge Program</a:t>
            </a:r>
            <a:endParaRPr lang="en-US"/>
          </a:p>
        </p:txBody>
      </p:sp>
      <p:sp>
        <p:nvSpPr>
          <p:cNvPr id="6" name="Slide Number Placeholder 5"/>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4270678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854C9B-22E6-44DE-9981-73455F6EBED3}" type="datetime1">
              <a:rPr lang="en-US" smtClean="0"/>
              <a:t>2/21/2025</a:t>
            </a:fld>
            <a:endParaRPr lang="en-US"/>
          </a:p>
        </p:txBody>
      </p:sp>
      <p:sp>
        <p:nvSpPr>
          <p:cNvPr id="5" name="Footer Placeholder 4"/>
          <p:cNvSpPr>
            <a:spLocks noGrp="1"/>
          </p:cNvSpPr>
          <p:nvPr>
            <p:ph type="ftr" sz="quarter" idx="11"/>
          </p:nvPr>
        </p:nvSpPr>
        <p:spPr/>
        <p:txBody>
          <a:bodyPr/>
          <a:lstStyle/>
          <a:p>
            <a:r>
              <a:rPr lang="en-US" smtClean="0"/>
              <a:t>IT Industry-Academia Bridge Program</a:t>
            </a:r>
            <a:endParaRPr lang="en-US"/>
          </a:p>
        </p:txBody>
      </p:sp>
      <p:sp>
        <p:nvSpPr>
          <p:cNvPr id="6" name="Slide Number Placeholder 5"/>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3757994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937246-9EE9-4ECB-8BB3-D1F347E5C363}" type="datetime1">
              <a:rPr lang="en-US" smtClean="0"/>
              <a:t>2/21/2025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IT Industry-Academia Bridge Program</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6EE78D-3A55-4166-9906-926CAD5E0DCA}" type="slidenum">
              <a:rPr lang="en-US" smtClean="0"/>
              <a:t>‹#›</a:t>
            </a:fld>
            <a:endParaRPr lang="en-US"/>
          </a:p>
        </p:txBody>
      </p:sp>
    </p:spTree>
    <p:extLst>
      <p:ext uri="{BB962C8B-B14F-4D97-AF65-F5344CB8AC3E}">
        <p14:creationId xmlns:p14="http://schemas.microsoft.com/office/powerpoint/2010/main" val="19100154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hyperlink" Target="https://www.w3schools.com/tags/tag_table.asp"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developer.mozilla.org/en-US/docs/Web/HTML/Element/details#open" TargetMode="Externa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developer.mozilla.org/en-US/docs/Web/HTML" TargetMode="Externa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w3schools.com/tags/tag_source.asp"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https://www.example.com/"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www.programiz.com/html/head#title-tag"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sosceles Triangle 3"/>
          <p:cNvSpPr/>
          <p:nvPr/>
        </p:nvSpPr>
        <p:spPr>
          <a:xfrm>
            <a:off x="8909538" y="3133898"/>
            <a:ext cx="3375287" cy="3724102"/>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02967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524281" y="389467"/>
            <a:ext cx="11125200" cy="60621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395234" y="2482279"/>
            <a:ext cx="2202847" cy="1107996"/>
          </a:xfrm>
          <a:prstGeom prst="rect">
            <a:avLst/>
          </a:prstGeom>
        </p:spPr>
        <p:txBody>
          <a:bodyPr wrap="none">
            <a:spAutoFit/>
          </a:bodyPr>
          <a:lstStyle/>
          <a:p>
            <a:pPr lvl="0"/>
            <a:r>
              <a:rPr lang="en-US" sz="6600" dirty="0">
                <a:solidFill>
                  <a:prstClr val="black"/>
                </a:solidFill>
              </a:rPr>
              <a:t>HTML</a:t>
            </a:r>
            <a:endParaRPr lang="en-GB" sz="6600" dirty="0">
              <a:solidFill>
                <a:prstClr val="black"/>
              </a:solidFill>
            </a:endParaRPr>
          </a:p>
        </p:txBody>
      </p:sp>
    </p:spTree>
    <p:extLst>
      <p:ext uri="{BB962C8B-B14F-4D97-AF65-F5344CB8AC3E}">
        <p14:creationId xmlns:p14="http://schemas.microsoft.com/office/powerpoint/2010/main" val="2623087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sosceles Triangle 3"/>
          <p:cNvSpPr/>
          <p:nvPr/>
        </p:nvSpPr>
        <p:spPr>
          <a:xfrm>
            <a:off x="10084158" y="4546242"/>
            <a:ext cx="2107842" cy="2311758"/>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02967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524281" y="389467"/>
            <a:ext cx="11125200" cy="60621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p:txBody>
          <a:bodyPr/>
          <a:lstStyle/>
          <a:p>
            <a:r>
              <a:rPr lang="en-US" dirty="0" smtClean="0"/>
              <a:t>Introduction to HTML</a:t>
            </a:r>
            <a:endParaRPr lang="en-GB" dirty="0"/>
          </a:p>
        </p:txBody>
      </p:sp>
      <p:sp>
        <p:nvSpPr>
          <p:cNvPr id="6" name="Content Placeholder 5"/>
          <p:cNvSpPr>
            <a:spLocks noGrp="1"/>
          </p:cNvSpPr>
          <p:nvPr>
            <p:ph idx="1"/>
          </p:nvPr>
        </p:nvSpPr>
        <p:spPr>
          <a:xfrm>
            <a:off x="838200" y="1465385"/>
            <a:ext cx="10515600" cy="4986215"/>
          </a:xfrm>
        </p:spPr>
        <p:txBody>
          <a:bodyPr>
            <a:normAutofit fontScale="85000" lnSpcReduction="20000"/>
          </a:bodyPr>
          <a:lstStyle/>
          <a:p>
            <a:pPr marL="0" indent="0">
              <a:buNone/>
            </a:pPr>
            <a:r>
              <a:rPr lang="en-US" b="1" dirty="0" smtClean="0"/>
              <a:t>HTML </a:t>
            </a:r>
            <a:r>
              <a:rPr lang="en-US" b="1" dirty="0"/>
              <a:t>Document Structure:</a:t>
            </a:r>
          </a:p>
          <a:p>
            <a:pPr lvl="1"/>
            <a:r>
              <a:rPr lang="en-US" dirty="0"/>
              <a:t>Understanding the basic structure of an HTML document.</a:t>
            </a:r>
          </a:p>
          <a:p>
            <a:pPr lvl="1"/>
            <a:r>
              <a:rPr lang="en-US" dirty="0" smtClean="0"/>
              <a:t>HTML </a:t>
            </a:r>
            <a:r>
              <a:rPr lang="en-US" dirty="0"/>
              <a:t>document anatomy (DOCTYPE declaration, &lt;html&gt;, &lt;head&gt;, &lt;body&gt;).</a:t>
            </a:r>
          </a:p>
          <a:p>
            <a:pPr marL="0" indent="0">
              <a:buNone/>
            </a:pPr>
            <a:r>
              <a:rPr lang="en-US" b="1" dirty="0" smtClean="0"/>
              <a:t>HTML Elements:</a:t>
            </a:r>
          </a:p>
          <a:p>
            <a:pPr lvl="1"/>
            <a:r>
              <a:rPr lang="en-US" dirty="0"/>
              <a:t>Introduction to HTML elements.</a:t>
            </a:r>
          </a:p>
          <a:p>
            <a:pPr lvl="1"/>
            <a:r>
              <a:rPr lang="en-US" dirty="0"/>
              <a:t>Commonly used elements (e.g., &lt;p&gt;, &lt;h1&gt;, &lt;a&gt;, &lt;</a:t>
            </a:r>
            <a:r>
              <a:rPr lang="en-US" dirty="0" err="1"/>
              <a:t>img</a:t>
            </a:r>
            <a:r>
              <a:rPr lang="en-US" dirty="0" smtClean="0"/>
              <a:t>&gt;).</a:t>
            </a:r>
          </a:p>
          <a:p>
            <a:pPr marL="0" indent="0">
              <a:buNone/>
            </a:pPr>
            <a:r>
              <a:rPr lang="en-GB" b="1" dirty="0"/>
              <a:t>HTML Attributes:</a:t>
            </a:r>
            <a:endParaRPr lang="en-GB" b="1" dirty="0" smtClean="0"/>
          </a:p>
          <a:p>
            <a:pPr lvl="1"/>
            <a:r>
              <a:rPr lang="en-US" dirty="0"/>
              <a:t>Understanding attributes and their role.</a:t>
            </a:r>
          </a:p>
          <a:p>
            <a:pPr lvl="1"/>
            <a:r>
              <a:rPr lang="en-US" dirty="0"/>
              <a:t>Common attributes (e.g., </a:t>
            </a:r>
            <a:r>
              <a:rPr lang="en-US" dirty="0" err="1"/>
              <a:t>src</a:t>
            </a:r>
            <a:r>
              <a:rPr lang="en-US" dirty="0"/>
              <a:t>, </a:t>
            </a:r>
            <a:r>
              <a:rPr lang="en-US" dirty="0" err="1"/>
              <a:t>href</a:t>
            </a:r>
            <a:r>
              <a:rPr lang="en-US" dirty="0"/>
              <a:t>, alt, class, id</a:t>
            </a:r>
            <a:r>
              <a:rPr lang="en-US" dirty="0" smtClean="0"/>
              <a:t>).</a:t>
            </a:r>
          </a:p>
          <a:p>
            <a:pPr marL="0" indent="0">
              <a:buNone/>
            </a:pPr>
            <a:r>
              <a:rPr lang="en-US" b="1" dirty="0"/>
              <a:t>Headings and Paragraphs</a:t>
            </a:r>
            <a:r>
              <a:rPr lang="en-US" b="1" dirty="0" smtClean="0"/>
              <a:t>:</a:t>
            </a:r>
          </a:p>
          <a:p>
            <a:pPr lvl="1"/>
            <a:r>
              <a:rPr lang="en-US" dirty="0"/>
              <a:t>Proper usage of heading tags (&lt;h1&gt; to &lt;h6&gt;).</a:t>
            </a:r>
          </a:p>
          <a:p>
            <a:pPr lvl="1"/>
            <a:r>
              <a:rPr lang="en-US" dirty="0"/>
              <a:t>Creating paragraphs with the &lt;p&gt; tag</a:t>
            </a:r>
            <a:r>
              <a:rPr lang="en-US" dirty="0" smtClean="0"/>
              <a:t>.</a:t>
            </a:r>
          </a:p>
          <a:p>
            <a:pPr marL="0" indent="0">
              <a:buNone/>
            </a:pPr>
            <a:r>
              <a:rPr lang="en-GB" b="1" dirty="0"/>
              <a:t>Lists:</a:t>
            </a:r>
          </a:p>
          <a:p>
            <a:pPr lvl="1"/>
            <a:r>
              <a:rPr lang="en-GB" dirty="0"/>
              <a:t>Creating unordered lists (&lt;</a:t>
            </a:r>
            <a:r>
              <a:rPr lang="en-GB" dirty="0" err="1"/>
              <a:t>ul</a:t>
            </a:r>
            <a:r>
              <a:rPr lang="en-GB" dirty="0"/>
              <a:t>&gt; and &lt;li&gt;).</a:t>
            </a:r>
          </a:p>
          <a:p>
            <a:pPr lvl="1"/>
            <a:r>
              <a:rPr lang="en-GB" dirty="0"/>
              <a:t>Creating ordered lists (&lt;</a:t>
            </a:r>
            <a:r>
              <a:rPr lang="en-GB" dirty="0" err="1"/>
              <a:t>ol</a:t>
            </a:r>
            <a:r>
              <a:rPr lang="en-GB" dirty="0"/>
              <a:t>&gt; and &lt;li</a:t>
            </a:r>
            <a:r>
              <a:rPr lang="en-GB" dirty="0" smtClean="0"/>
              <a:t>&gt;).</a:t>
            </a:r>
            <a:endParaRPr lang="en-US" dirty="0" smtClean="0"/>
          </a:p>
          <a:p>
            <a:pPr marL="0" indent="0">
              <a:buNone/>
            </a:pPr>
            <a:endParaRPr lang="en-US" dirty="0"/>
          </a:p>
        </p:txBody>
      </p:sp>
    </p:spTree>
    <p:extLst>
      <p:ext uri="{BB962C8B-B14F-4D97-AF65-F5344CB8AC3E}">
        <p14:creationId xmlns:p14="http://schemas.microsoft.com/office/powerpoint/2010/main" val="28610170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sosceles Triangle 3"/>
          <p:cNvSpPr/>
          <p:nvPr/>
        </p:nvSpPr>
        <p:spPr>
          <a:xfrm flipH="1" flipV="1">
            <a:off x="-49879" y="-16933"/>
            <a:ext cx="1836767" cy="1654234"/>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Isosceles Triangle 3"/>
          <p:cNvSpPr/>
          <p:nvPr/>
        </p:nvSpPr>
        <p:spPr>
          <a:xfrm flipH="1">
            <a:off x="-49878" y="5203766"/>
            <a:ext cx="1836767" cy="1654234"/>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p:cNvSpPr/>
          <p:nvPr/>
        </p:nvSpPr>
        <p:spPr>
          <a:xfrm>
            <a:off x="10681855" y="5203766"/>
            <a:ext cx="1602970" cy="1654233"/>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524281" y="389467"/>
            <a:ext cx="11125200" cy="60621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p:txBody>
          <a:bodyPr/>
          <a:lstStyle/>
          <a:p>
            <a:r>
              <a:rPr lang="en-US" dirty="0" smtClean="0"/>
              <a:t>Introduction to HTML</a:t>
            </a:r>
            <a:endParaRPr lang="en-GB" dirty="0"/>
          </a:p>
        </p:txBody>
      </p:sp>
      <p:sp>
        <p:nvSpPr>
          <p:cNvPr id="6" name="Content Placeholder 5"/>
          <p:cNvSpPr>
            <a:spLocks noGrp="1"/>
          </p:cNvSpPr>
          <p:nvPr>
            <p:ph idx="1"/>
          </p:nvPr>
        </p:nvSpPr>
        <p:spPr>
          <a:xfrm>
            <a:off x="838200" y="1465384"/>
            <a:ext cx="10515600" cy="4986215"/>
          </a:xfrm>
        </p:spPr>
        <p:txBody>
          <a:bodyPr>
            <a:normAutofit fontScale="70000" lnSpcReduction="20000"/>
          </a:bodyPr>
          <a:lstStyle/>
          <a:p>
            <a:pPr marL="0" indent="0">
              <a:buNone/>
            </a:pPr>
            <a:r>
              <a:rPr lang="en-GB" b="1" dirty="0"/>
              <a:t>Links and Navigation:</a:t>
            </a:r>
          </a:p>
          <a:p>
            <a:pPr lvl="1"/>
            <a:r>
              <a:rPr lang="en-GB" dirty="0"/>
              <a:t>Creating hyperlinks with the &lt;a&gt; tag.</a:t>
            </a:r>
          </a:p>
          <a:p>
            <a:pPr lvl="1"/>
            <a:r>
              <a:rPr lang="en-GB" dirty="0"/>
              <a:t>Understanding relative and absolute URLs</a:t>
            </a:r>
            <a:r>
              <a:rPr lang="en-GB" dirty="0" smtClean="0"/>
              <a:t>.</a:t>
            </a:r>
          </a:p>
          <a:p>
            <a:pPr marL="0" indent="0">
              <a:buNone/>
            </a:pPr>
            <a:r>
              <a:rPr lang="en-GB" b="1" dirty="0" smtClean="0"/>
              <a:t>Images</a:t>
            </a:r>
            <a:r>
              <a:rPr lang="en-GB" b="1" dirty="0"/>
              <a:t>:</a:t>
            </a:r>
          </a:p>
          <a:p>
            <a:pPr lvl="1"/>
            <a:r>
              <a:rPr lang="en-GB" dirty="0" smtClean="0"/>
              <a:t>Embedding </a:t>
            </a:r>
            <a:r>
              <a:rPr lang="en-GB" dirty="0"/>
              <a:t>images with the &lt;</a:t>
            </a:r>
            <a:r>
              <a:rPr lang="en-GB" dirty="0" err="1"/>
              <a:t>img</a:t>
            </a:r>
            <a:r>
              <a:rPr lang="en-GB" dirty="0"/>
              <a:t>&gt; tag.</a:t>
            </a:r>
          </a:p>
          <a:p>
            <a:pPr lvl="1"/>
            <a:r>
              <a:rPr lang="en-GB" dirty="0"/>
              <a:t>Using the alt attribute for accessibility.</a:t>
            </a:r>
          </a:p>
          <a:p>
            <a:pPr marL="0" indent="0">
              <a:buNone/>
            </a:pPr>
            <a:r>
              <a:rPr lang="en-GB" b="1" dirty="0"/>
              <a:t>Forms and Input Elements:</a:t>
            </a:r>
          </a:p>
          <a:p>
            <a:pPr lvl="1"/>
            <a:r>
              <a:rPr lang="en-GB" dirty="0" smtClean="0"/>
              <a:t>Creating </a:t>
            </a:r>
            <a:r>
              <a:rPr lang="en-GB" dirty="0"/>
              <a:t>basic forms with the &lt;form&gt; tag.</a:t>
            </a:r>
          </a:p>
          <a:p>
            <a:pPr lvl="1"/>
            <a:r>
              <a:rPr lang="en-GB" dirty="0"/>
              <a:t>Common input types (&lt;input&gt; for text, password, radio buttons, checkboxes).</a:t>
            </a:r>
          </a:p>
          <a:p>
            <a:pPr marL="0" indent="0">
              <a:buNone/>
            </a:pPr>
            <a:r>
              <a:rPr lang="en-GB" b="1" dirty="0"/>
              <a:t>Semantic HTML:</a:t>
            </a:r>
          </a:p>
          <a:p>
            <a:pPr lvl="1"/>
            <a:r>
              <a:rPr lang="en-GB" dirty="0" smtClean="0"/>
              <a:t>Introduction </a:t>
            </a:r>
            <a:r>
              <a:rPr lang="en-GB" dirty="0"/>
              <a:t>to semantic HTML.</a:t>
            </a:r>
          </a:p>
          <a:p>
            <a:pPr lvl="1"/>
            <a:r>
              <a:rPr lang="en-GB" dirty="0"/>
              <a:t>Using semantic tags like &lt;header&gt;, &lt;</a:t>
            </a:r>
            <a:r>
              <a:rPr lang="en-GB" dirty="0" err="1"/>
              <a:t>nav</a:t>
            </a:r>
            <a:r>
              <a:rPr lang="en-GB" dirty="0"/>
              <a:t>&gt;, &lt;article&gt;, &lt;section&gt;, &lt;footer&gt;.</a:t>
            </a:r>
          </a:p>
          <a:p>
            <a:pPr marL="0" indent="0">
              <a:buNone/>
            </a:pPr>
            <a:r>
              <a:rPr lang="en-GB" b="1" dirty="0"/>
              <a:t>HTML Validation:</a:t>
            </a:r>
          </a:p>
          <a:p>
            <a:pPr lvl="1"/>
            <a:r>
              <a:rPr lang="en-GB" dirty="0" smtClean="0"/>
              <a:t>The </a:t>
            </a:r>
            <a:r>
              <a:rPr lang="en-GB" dirty="0"/>
              <a:t>importance of valid HTML.</a:t>
            </a:r>
          </a:p>
          <a:p>
            <a:pPr lvl="1"/>
            <a:r>
              <a:rPr lang="en-GB" dirty="0"/>
              <a:t>Using online validators to check HTML code.</a:t>
            </a:r>
          </a:p>
          <a:p>
            <a:pPr marL="0" indent="0">
              <a:buNone/>
            </a:pPr>
            <a:r>
              <a:rPr lang="en-US" b="1" dirty="0"/>
              <a:t>Responsive Design:</a:t>
            </a:r>
          </a:p>
          <a:p>
            <a:pPr lvl="1"/>
            <a:r>
              <a:rPr lang="en-US" dirty="0" smtClean="0"/>
              <a:t>Basics </a:t>
            </a:r>
            <a:r>
              <a:rPr lang="en-US" dirty="0"/>
              <a:t>of responsive web design.</a:t>
            </a:r>
          </a:p>
          <a:p>
            <a:pPr lvl="1"/>
            <a:r>
              <a:rPr lang="en-US" dirty="0"/>
              <a:t>Using viewport meta tag (&lt;meta name="viewport" content="width=device-width, initial-scale=1.0"&gt;).</a:t>
            </a:r>
            <a:endParaRPr lang="en-GB" dirty="0"/>
          </a:p>
        </p:txBody>
      </p:sp>
    </p:spTree>
    <p:extLst>
      <p:ext uri="{BB962C8B-B14F-4D97-AF65-F5344CB8AC3E}">
        <p14:creationId xmlns:p14="http://schemas.microsoft.com/office/powerpoint/2010/main" val="39285976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HTML Versions</a:t>
            </a:r>
            <a:endParaRPr lang="en-GB" dirty="0"/>
          </a:p>
        </p:txBody>
      </p:sp>
      <p:sp>
        <p:nvSpPr>
          <p:cNvPr id="3" name="Content Placeholder 2"/>
          <p:cNvSpPr>
            <a:spLocks noGrp="1"/>
          </p:cNvSpPr>
          <p:nvPr>
            <p:ph idx="1"/>
          </p:nvPr>
        </p:nvSpPr>
        <p:spPr>
          <a:xfrm>
            <a:off x="838200" y="1664677"/>
            <a:ext cx="10515600" cy="4794738"/>
          </a:xfrm>
        </p:spPr>
        <p:txBody>
          <a:bodyPr>
            <a:normAutofit fontScale="92500" lnSpcReduction="10000"/>
          </a:bodyPr>
          <a:lstStyle/>
          <a:p>
            <a:pPr marL="0" indent="0" algn="just">
              <a:buNone/>
            </a:pPr>
            <a:r>
              <a:rPr lang="en-US" sz="2600" dirty="0"/>
              <a:t>In the early 2000s, web standards organizations like the World Wide Web Consortium (W3C), founded in 1994 by Sir Tim Berners, played a critical role in shaping the future of HTML. They worked on developing the next version, which would be known as HTML5.</a:t>
            </a:r>
            <a:endParaRPr lang="en-US" b="1" dirty="0" smtClean="0"/>
          </a:p>
          <a:p>
            <a:r>
              <a:rPr lang="en-US" b="1" dirty="0" smtClean="0"/>
              <a:t>HTML5 </a:t>
            </a:r>
            <a:r>
              <a:rPr lang="en-US" b="1" dirty="0"/>
              <a:t>(2014</a:t>
            </a:r>
            <a:r>
              <a:rPr lang="en-US" b="1" dirty="0" smtClean="0"/>
              <a:t>):</a:t>
            </a:r>
          </a:p>
          <a:p>
            <a:pPr marL="0" indent="0">
              <a:buNone/>
            </a:pPr>
            <a:r>
              <a:rPr lang="en-US" dirty="0"/>
              <a:t>HTML5 is the latest and widely adopted version, and it continues to be the standard for web development</a:t>
            </a:r>
            <a:r>
              <a:rPr lang="en-US" dirty="0" smtClean="0"/>
              <a:t>. </a:t>
            </a:r>
            <a:endParaRPr lang="en-US" dirty="0"/>
          </a:p>
          <a:p>
            <a:pPr lvl="1"/>
            <a:r>
              <a:rPr lang="en-US" dirty="0"/>
              <a:t>A major revision that introduced numerous new features.</a:t>
            </a:r>
          </a:p>
          <a:p>
            <a:pPr lvl="1"/>
            <a:r>
              <a:rPr lang="en-US" dirty="0"/>
              <a:t>Improved support for multimedia elements (audio and video).</a:t>
            </a:r>
          </a:p>
          <a:p>
            <a:pPr lvl="1"/>
            <a:r>
              <a:rPr lang="en-US" dirty="0"/>
              <a:t>Introduced new semantic elements like &lt;article&gt;, &lt;section&gt;, &lt;</a:t>
            </a:r>
            <a:r>
              <a:rPr lang="en-US" dirty="0" err="1"/>
              <a:t>nav</a:t>
            </a:r>
            <a:r>
              <a:rPr lang="en-US" dirty="0"/>
              <a:t>&gt;, and &lt;header&gt;.</a:t>
            </a:r>
          </a:p>
          <a:p>
            <a:pPr lvl="1"/>
            <a:r>
              <a:rPr lang="en-US" dirty="0"/>
              <a:t>Enhanced form elements, including new input types.</a:t>
            </a:r>
          </a:p>
          <a:p>
            <a:pPr lvl="1"/>
            <a:r>
              <a:rPr lang="en-US" dirty="0"/>
              <a:t>Native support for offline web applications.</a:t>
            </a:r>
          </a:p>
          <a:p>
            <a:pPr lvl="1"/>
            <a:r>
              <a:rPr lang="en-US" dirty="0"/>
              <a:t>Introduced the &lt;canvas&gt; element for drawing graphics.</a:t>
            </a:r>
          </a:p>
          <a:p>
            <a:pPr lvl="1"/>
            <a:r>
              <a:rPr lang="en-US" dirty="0"/>
              <a:t>Integrated and enhanced support for JavaScript and APIs.</a:t>
            </a:r>
          </a:p>
          <a:p>
            <a:pPr marL="0" indent="0">
              <a:buNone/>
            </a:pPr>
            <a:endParaRPr lang="en-US" dirty="0"/>
          </a:p>
          <a:p>
            <a:pPr marL="0" indent="0">
              <a:buNone/>
            </a:pPr>
            <a:endParaRPr lang="en-GB" dirty="0"/>
          </a:p>
        </p:txBody>
      </p:sp>
    </p:spTree>
    <p:extLst>
      <p:ext uri="{BB962C8B-B14F-4D97-AF65-F5344CB8AC3E}">
        <p14:creationId xmlns:p14="http://schemas.microsoft.com/office/powerpoint/2010/main" val="8561040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8908" y="2416663"/>
            <a:ext cx="10515600" cy="1325563"/>
          </a:xfrm>
        </p:spPr>
        <p:txBody>
          <a:bodyPr/>
          <a:lstStyle/>
          <a:p>
            <a:pPr algn="ctr"/>
            <a:r>
              <a:rPr lang="en-US" dirty="0" smtClean="0"/>
              <a:t>HTML Document Structure</a:t>
            </a:r>
            <a:endParaRPr lang="en-GB" dirty="0"/>
          </a:p>
        </p:txBody>
      </p:sp>
    </p:spTree>
    <p:extLst>
      <p:ext uri="{BB962C8B-B14F-4D97-AF65-F5344CB8AC3E}">
        <p14:creationId xmlns:p14="http://schemas.microsoft.com/office/powerpoint/2010/main" val="42153025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sosceles Triangle 3"/>
          <p:cNvSpPr/>
          <p:nvPr/>
        </p:nvSpPr>
        <p:spPr>
          <a:xfrm flipH="1" flipV="1">
            <a:off x="-49879" y="-16933"/>
            <a:ext cx="1836767" cy="1654234"/>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Isosceles Triangle 3"/>
          <p:cNvSpPr/>
          <p:nvPr/>
        </p:nvSpPr>
        <p:spPr>
          <a:xfrm flipH="1">
            <a:off x="-49878" y="5203766"/>
            <a:ext cx="1836767" cy="1654234"/>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p:cNvSpPr/>
          <p:nvPr/>
        </p:nvSpPr>
        <p:spPr>
          <a:xfrm>
            <a:off x="10681855" y="5203766"/>
            <a:ext cx="1602970" cy="1654233"/>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524281" y="389467"/>
            <a:ext cx="11125200" cy="60621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HTML Introduction - GeeksforGee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2333" y="791331"/>
            <a:ext cx="8139544" cy="5656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87421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899" y="2704734"/>
            <a:ext cx="3971925" cy="271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2707" y="3828684"/>
            <a:ext cx="4048125"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483" y="1488104"/>
            <a:ext cx="6124575" cy="207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7059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wipe(down)">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3" fill="hold" nodeType="clickEffect">
                                  <p:stCondLst>
                                    <p:cond delay="0"/>
                                  </p:stCondLst>
                                  <p:childTnLst>
                                    <p:set>
                                      <p:cBhvr>
                                        <p:cTn id="11" dur="1" fill="hold">
                                          <p:stCondLst>
                                            <p:cond delay="0"/>
                                          </p:stCondLst>
                                        </p:cTn>
                                        <p:tgtEl>
                                          <p:spTgt spid="3076"/>
                                        </p:tgtEl>
                                        <p:attrNameLst>
                                          <p:attrName>style.visibility</p:attrName>
                                        </p:attrNameLst>
                                      </p:cBhvr>
                                      <p:to>
                                        <p:strVal val="visible"/>
                                      </p:to>
                                    </p:set>
                                    <p:animEffect transition="in" filter="wheel(3)">
                                      <p:cBhvr>
                                        <p:cTn id="12" dur="2000"/>
                                        <p:tgtEl>
                                          <p:spTgt spid="307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075"/>
                                        </p:tgtEl>
                                        <p:attrNameLst>
                                          <p:attrName>style.visibility</p:attrName>
                                        </p:attrNameLst>
                                      </p:cBhvr>
                                      <p:to>
                                        <p:strVal val="visible"/>
                                      </p:to>
                                    </p:set>
                                    <p:animEffect transition="in" filter="wipe(up)">
                                      <p:cBhvr>
                                        <p:cTn id="17"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sosceles Triangle 3"/>
          <p:cNvSpPr/>
          <p:nvPr/>
        </p:nvSpPr>
        <p:spPr>
          <a:xfrm flipH="1" flipV="1">
            <a:off x="771498" y="656001"/>
            <a:ext cx="451314" cy="476599"/>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524281" y="389467"/>
            <a:ext cx="11125200" cy="60621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1250532" y="5854580"/>
            <a:ext cx="184731" cy="523220"/>
          </a:xfrm>
          <a:prstGeom prst="rect">
            <a:avLst/>
          </a:prstGeom>
          <a:noFill/>
        </p:spPr>
        <p:txBody>
          <a:bodyPr wrap="none" lIns="91440" tIns="45720" rIns="91440" bIns="45720" rtlCol="0" anchor="t">
            <a:spAutoFit/>
          </a:bodyPr>
          <a:lstStyle/>
          <a:p>
            <a:endParaRPr lang="en-US" sz="2800" b="1" dirty="0">
              <a:ea typeface="Calibri"/>
              <a:cs typeface="Calibri"/>
            </a:endParaRPr>
          </a:p>
        </p:txBody>
      </p:sp>
      <p:sp>
        <p:nvSpPr>
          <p:cNvPr id="9" name="Isosceles Triangle 3">
            <a:extLst>
              <a:ext uri="{FF2B5EF4-FFF2-40B4-BE49-F238E27FC236}">
                <a16:creationId xmlns:a16="http://schemas.microsoft.com/office/drawing/2014/main" xmlns="" id="{00D729C2-A19B-7576-4C97-DF1C42A75D38}"/>
              </a:ext>
            </a:extLst>
          </p:cNvPr>
          <p:cNvSpPr/>
          <p:nvPr/>
        </p:nvSpPr>
        <p:spPr>
          <a:xfrm flipH="1" flipV="1">
            <a:off x="1276199" y="487767"/>
            <a:ext cx="451314" cy="476599"/>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Isosceles Triangle 3">
            <a:extLst>
              <a:ext uri="{FF2B5EF4-FFF2-40B4-BE49-F238E27FC236}">
                <a16:creationId xmlns:a16="http://schemas.microsoft.com/office/drawing/2014/main" xmlns="" id="{12741AE1-298B-1601-8802-D88248A56A01}"/>
              </a:ext>
            </a:extLst>
          </p:cNvPr>
          <p:cNvSpPr/>
          <p:nvPr/>
        </p:nvSpPr>
        <p:spPr>
          <a:xfrm flipH="1" flipV="1">
            <a:off x="632952" y="1190390"/>
            <a:ext cx="451314" cy="476599"/>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38200" y="365126"/>
            <a:ext cx="10515600" cy="1063564"/>
          </a:xfrm>
        </p:spPr>
        <p:txBody>
          <a:bodyPr/>
          <a:lstStyle/>
          <a:p>
            <a:pPr algn="ctr"/>
            <a:r>
              <a:rPr lang="en-US" dirty="0" smtClean="0"/>
              <a:t>HTML Document Structure</a:t>
            </a:r>
            <a:endParaRPr lang="en-GB" dirty="0"/>
          </a:p>
        </p:txBody>
      </p:sp>
      <p:sp>
        <p:nvSpPr>
          <p:cNvPr id="4" name="Content Placeholder 3"/>
          <p:cNvSpPr>
            <a:spLocks noGrp="1"/>
          </p:cNvSpPr>
          <p:nvPr>
            <p:ph idx="1"/>
          </p:nvPr>
        </p:nvSpPr>
        <p:spPr>
          <a:xfrm>
            <a:off x="771499" y="1512276"/>
            <a:ext cx="10877982" cy="4939323"/>
          </a:xfrm>
        </p:spPr>
        <p:txBody>
          <a:bodyPr>
            <a:normAutofit fontScale="77500" lnSpcReduction="20000"/>
          </a:bodyPr>
          <a:lstStyle/>
          <a:p>
            <a:pPr marL="0" indent="0">
              <a:lnSpc>
                <a:spcPct val="134000"/>
              </a:lnSpc>
              <a:spcBef>
                <a:spcPts val="0"/>
              </a:spcBef>
              <a:buNone/>
            </a:pPr>
            <a:r>
              <a:rPr lang="en-US" dirty="0" smtClean="0"/>
              <a:t>HTML is a markup language, consist on a set of markup tags </a:t>
            </a:r>
            <a:r>
              <a:rPr lang="en-US" dirty="0"/>
              <a:t>to describe web page. HTML markup tags are usually called HTML </a:t>
            </a:r>
            <a:r>
              <a:rPr lang="en-US" dirty="0" smtClean="0"/>
              <a:t>tags, surrounded </a:t>
            </a:r>
            <a:r>
              <a:rPr lang="en-US" dirty="0"/>
              <a:t>by angle brackets like &lt;html</a:t>
            </a:r>
            <a:r>
              <a:rPr lang="en-US" dirty="0" smtClean="0"/>
              <a:t>&gt;</a:t>
            </a:r>
          </a:p>
          <a:p>
            <a:pPr marL="457200" lvl="1" indent="0">
              <a:buNone/>
            </a:pPr>
            <a:r>
              <a:rPr lang="en-US" i="1" dirty="0">
                <a:solidFill>
                  <a:srgbClr val="FF0000"/>
                </a:solidFill>
              </a:rPr>
              <a:t>&lt;!DOCTYPE html&gt;</a:t>
            </a:r>
          </a:p>
          <a:p>
            <a:pPr marL="457200" lvl="1" indent="0">
              <a:buNone/>
            </a:pPr>
            <a:r>
              <a:rPr lang="en-US" i="1" dirty="0" smtClean="0">
                <a:solidFill>
                  <a:srgbClr val="00B050"/>
                </a:solidFill>
              </a:rPr>
              <a:t> &lt;</a:t>
            </a:r>
            <a:r>
              <a:rPr lang="en-US" i="1" dirty="0">
                <a:solidFill>
                  <a:srgbClr val="00B050"/>
                </a:solidFill>
              </a:rPr>
              <a:t>html&gt;</a:t>
            </a:r>
          </a:p>
          <a:p>
            <a:pPr marL="457200" lvl="1" indent="0">
              <a:buNone/>
            </a:pPr>
            <a:r>
              <a:rPr lang="en-US" i="1" dirty="0">
                <a:solidFill>
                  <a:srgbClr val="0070C0"/>
                </a:solidFill>
              </a:rPr>
              <a:t> </a:t>
            </a:r>
            <a:r>
              <a:rPr lang="en-US" i="1" dirty="0" smtClean="0">
                <a:solidFill>
                  <a:srgbClr val="0070C0"/>
                </a:solidFill>
              </a:rPr>
              <a:t> &lt;</a:t>
            </a:r>
            <a:r>
              <a:rPr lang="en-US" i="1" dirty="0">
                <a:solidFill>
                  <a:srgbClr val="0070C0"/>
                </a:solidFill>
              </a:rPr>
              <a:t>head&gt;</a:t>
            </a:r>
          </a:p>
          <a:p>
            <a:pPr marL="457200" lvl="1" indent="0">
              <a:buNone/>
            </a:pPr>
            <a:r>
              <a:rPr lang="en-US" i="1" dirty="0">
                <a:solidFill>
                  <a:srgbClr val="FF0000"/>
                </a:solidFill>
              </a:rPr>
              <a:t>  </a:t>
            </a:r>
            <a:r>
              <a:rPr lang="en-US" i="1" dirty="0" smtClean="0">
                <a:solidFill>
                  <a:srgbClr val="FF0000"/>
                </a:solidFill>
              </a:rPr>
              <a:t>  </a:t>
            </a:r>
            <a:r>
              <a:rPr lang="en-US" b="1" i="1" dirty="0">
                <a:solidFill>
                  <a:schemeClr val="accent4">
                    <a:lumMod val="60000"/>
                    <a:lumOff val="40000"/>
                  </a:schemeClr>
                </a:solidFill>
              </a:rPr>
              <a:t>&lt;title&gt;</a:t>
            </a:r>
            <a:r>
              <a:rPr lang="en-US" i="1" dirty="0"/>
              <a:t>Your Page Title</a:t>
            </a:r>
            <a:r>
              <a:rPr lang="en-US" i="1" dirty="0">
                <a:solidFill>
                  <a:schemeClr val="accent4">
                    <a:lumMod val="60000"/>
                    <a:lumOff val="40000"/>
                  </a:schemeClr>
                </a:solidFill>
              </a:rPr>
              <a:t>&lt;/title&gt;</a:t>
            </a:r>
          </a:p>
          <a:p>
            <a:pPr marL="457200" lvl="1" indent="0">
              <a:buNone/>
            </a:pPr>
            <a:r>
              <a:rPr lang="en-US" i="1" dirty="0">
                <a:solidFill>
                  <a:srgbClr val="0070C0"/>
                </a:solidFill>
              </a:rPr>
              <a:t> </a:t>
            </a:r>
            <a:r>
              <a:rPr lang="en-US" i="1" dirty="0" smtClean="0">
                <a:solidFill>
                  <a:srgbClr val="0070C0"/>
                </a:solidFill>
              </a:rPr>
              <a:t> &lt;/</a:t>
            </a:r>
            <a:r>
              <a:rPr lang="en-US" i="1" dirty="0">
                <a:solidFill>
                  <a:srgbClr val="0070C0"/>
                </a:solidFill>
              </a:rPr>
              <a:t>head&gt;</a:t>
            </a:r>
          </a:p>
          <a:p>
            <a:pPr marL="457200" lvl="1" indent="0">
              <a:buNone/>
            </a:pPr>
            <a:r>
              <a:rPr lang="en-US" i="1" dirty="0" smtClean="0">
                <a:solidFill>
                  <a:srgbClr val="0070C0"/>
                </a:solidFill>
              </a:rPr>
              <a:t>  </a:t>
            </a:r>
            <a:r>
              <a:rPr lang="en-US" i="1" dirty="0">
                <a:solidFill>
                  <a:srgbClr val="0070C0"/>
                </a:solidFill>
              </a:rPr>
              <a:t>&lt;body&gt;</a:t>
            </a:r>
          </a:p>
          <a:p>
            <a:pPr marL="457200" lvl="1" indent="0">
              <a:buNone/>
            </a:pPr>
            <a:r>
              <a:rPr lang="en-US" i="1" dirty="0">
                <a:solidFill>
                  <a:srgbClr val="FF0000"/>
                </a:solidFill>
              </a:rPr>
              <a:t> </a:t>
            </a:r>
            <a:r>
              <a:rPr lang="en-US" i="1" dirty="0" smtClean="0">
                <a:solidFill>
                  <a:srgbClr val="FF0000"/>
                </a:solidFill>
              </a:rPr>
              <a:t>   </a:t>
            </a:r>
            <a:r>
              <a:rPr lang="en-US" i="1" dirty="0">
                <a:solidFill>
                  <a:schemeClr val="accent4">
                    <a:lumMod val="60000"/>
                    <a:lumOff val="40000"/>
                  </a:schemeClr>
                </a:solidFill>
              </a:rPr>
              <a:t>&lt;h1&gt;</a:t>
            </a:r>
            <a:r>
              <a:rPr lang="en-US" i="1" dirty="0"/>
              <a:t>Welcome to Our School!</a:t>
            </a:r>
            <a:r>
              <a:rPr lang="en-US" i="1" dirty="0">
                <a:solidFill>
                  <a:schemeClr val="accent4">
                    <a:lumMod val="60000"/>
                    <a:lumOff val="40000"/>
                  </a:schemeClr>
                </a:solidFill>
              </a:rPr>
              <a:t>&lt;/h1&gt;</a:t>
            </a:r>
          </a:p>
          <a:p>
            <a:pPr marL="457200" lvl="1" indent="0">
              <a:buNone/>
            </a:pPr>
            <a:r>
              <a:rPr lang="en-US" i="1" dirty="0">
                <a:solidFill>
                  <a:srgbClr val="FF0000"/>
                </a:solidFill>
              </a:rPr>
              <a:t>  </a:t>
            </a:r>
            <a:r>
              <a:rPr lang="en-US" i="1" dirty="0" smtClean="0">
                <a:solidFill>
                  <a:srgbClr val="FF0000"/>
                </a:solidFill>
              </a:rPr>
              <a:t>  </a:t>
            </a:r>
            <a:r>
              <a:rPr lang="en-US" i="1" dirty="0">
                <a:solidFill>
                  <a:schemeClr val="accent4">
                    <a:lumMod val="60000"/>
                    <a:lumOff val="40000"/>
                  </a:schemeClr>
                </a:solidFill>
              </a:rPr>
              <a:t>&lt;p&gt;</a:t>
            </a:r>
            <a:r>
              <a:rPr lang="en-US" i="1" dirty="0"/>
              <a:t>We are thrilled to have you join us on this exciting educational journey.</a:t>
            </a:r>
            <a:r>
              <a:rPr lang="en-US" i="1" dirty="0">
                <a:solidFill>
                  <a:schemeClr val="accent4">
                    <a:lumMod val="60000"/>
                    <a:lumOff val="40000"/>
                  </a:schemeClr>
                </a:solidFill>
              </a:rPr>
              <a:t>&lt;/p&gt;</a:t>
            </a:r>
          </a:p>
          <a:p>
            <a:pPr marL="457200" lvl="1" indent="0">
              <a:buNone/>
            </a:pPr>
            <a:r>
              <a:rPr lang="en-US" i="1" dirty="0">
                <a:solidFill>
                  <a:srgbClr val="0070C0"/>
                </a:solidFill>
              </a:rPr>
              <a:t> </a:t>
            </a:r>
            <a:r>
              <a:rPr lang="en-US" i="1" dirty="0" smtClean="0">
                <a:solidFill>
                  <a:srgbClr val="0070C0"/>
                </a:solidFill>
              </a:rPr>
              <a:t> &lt;/</a:t>
            </a:r>
            <a:r>
              <a:rPr lang="en-US" i="1" dirty="0">
                <a:solidFill>
                  <a:srgbClr val="0070C0"/>
                </a:solidFill>
              </a:rPr>
              <a:t>body&gt;</a:t>
            </a:r>
          </a:p>
          <a:p>
            <a:pPr marL="457200" lvl="1" indent="0">
              <a:buNone/>
            </a:pPr>
            <a:r>
              <a:rPr lang="en-US" i="1" dirty="0">
                <a:solidFill>
                  <a:srgbClr val="00B050"/>
                </a:solidFill>
              </a:rPr>
              <a:t>&lt;/html&gt;</a:t>
            </a:r>
          </a:p>
          <a:p>
            <a:pPr marL="0" indent="0">
              <a:lnSpc>
                <a:spcPct val="134000"/>
              </a:lnSpc>
              <a:spcBef>
                <a:spcPts val="0"/>
              </a:spcBef>
              <a:buNone/>
            </a:pPr>
            <a:r>
              <a:rPr lang="en-US" dirty="0" smtClean="0"/>
              <a:t>HTML </a:t>
            </a:r>
            <a:r>
              <a:rPr lang="en-US" dirty="0"/>
              <a:t>tags normally comes in pairs like &lt;b&gt; and &lt;/b&gt;. The first tag in a pair is the start tag, the second tag is the end tag. Start and end tags are also called opening tags and closing tags</a:t>
            </a:r>
            <a:r>
              <a:rPr lang="en-US" dirty="0" smtClean="0"/>
              <a:t>. The </a:t>
            </a:r>
            <a:r>
              <a:rPr lang="en-US" dirty="0"/>
              <a:t>closing tag has a forward slash ("/") before the tag name.</a:t>
            </a:r>
            <a:endParaRPr lang="en-GB" dirty="0"/>
          </a:p>
        </p:txBody>
      </p:sp>
    </p:spTree>
    <p:extLst>
      <p:ext uri="{BB962C8B-B14F-4D97-AF65-F5344CB8AC3E}">
        <p14:creationId xmlns:p14="http://schemas.microsoft.com/office/powerpoint/2010/main" val="19194586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sosceles Triangle 3"/>
          <p:cNvSpPr/>
          <p:nvPr/>
        </p:nvSpPr>
        <p:spPr>
          <a:xfrm>
            <a:off x="10084158" y="4546242"/>
            <a:ext cx="2107842" cy="2311758"/>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02967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524281" y="389467"/>
            <a:ext cx="11125200" cy="60621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p:txBody>
          <a:bodyPr/>
          <a:lstStyle/>
          <a:p>
            <a:pPr algn="ctr"/>
            <a:r>
              <a:rPr lang="en-US" dirty="0" smtClean="0"/>
              <a:t>HTML Document Structure</a:t>
            </a:r>
            <a:endParaRPr lang="en-GB" dirty="0"/>
          </a:p>
        </p:txBody>
      </p:sp>
      <p:sp>
        <p:nvSpPr>
          <p:cNvPr id="7" name="Content Placeholder 6"/>
          <p:cNvSpPr>
            <a:spLocks noGrp="1"/>
          </p:cNvSpPr>
          <p:nvPr>
            <p:ph idx="1"/>
          </p:nvPr>
        </p:nvSpPr>
        <p:spPr>
          <a:xfrm>
            <a:off x="838200" y="2321169"/>
            <a:ext cx="10515600" cy="3855794"/>
          </a:xfrm>
        </p:spPr>
        <p:txBody>
          <a:bodyPr>
            <a:normAutofit/>
          </a:bodyPr>
          <a:lstStyle/>
          <a:p>
            <a:pPr marL="0" indent="0">
              <a:buNone/>
            </a:pPr>
            <a:r>
              <a:rPr lang="en-US" dirty="0" smtClean="0"/>
              <a:t>HTML Document </a:t>
            </a:r>
            <a:r>
              <a:rPr lang="en-US" dirty="0"/>
              <a:t>b</a:t>
            </a:r>
            <a:r>
              <a:rPr lang="en-US" dirty="0" smtClean="0"/>
              <a:t>asic structure consist on </a:t>
            </a:r>
          </a:p>
          <a:p>
            <a:pPr lvl="1"/>
            <a:r>
              <a:rPr lang="en-US" dirty="0">
                <a:solidFill>
                  <a:srgbClr val="FF0000"/>
                </a:solidFill>
              </a:rPr>
              <a:t>&lt;!DOCTYPE html&gt;</a:t>
            </a:r>
            <a:r>
              <a:rPr lang="en-US" dirty="0"/>
              <a:t> specifies the HTML version.</a:t>
            </a:r>
          </a:p>
          <a:p>
            <a:pPr lvl="1"/>
            <a:r>
              <a:rPr lang="en-US" dirty="0">
                <a:solidFill>
                  <a:srgbClr val="FF0000"/>
                </a:solidFill>
              </a:rPr>
              <a:t>&lt;html&gt;</a:t>
            </a:r>
            <a:r>
              <a:rPr lang="en-US" dirty="0"/>
              <a:t> is the root element that encloses the entire HTML document.</a:t>
            </a:r>
          </a:p>
          <a:p>
            <a:pPr lvl="1"/>
            <a:r>
              <a:rPr lang="en-US" dirty="0">
                <a:solidFill>
                  <a:srgbClr val="FF0000"/>
                </a:solidFill>
              </a:rPr>
              <a:t>&lt;head&gt;</a:t>
            </a:r>
            <a:r>
              <a:rPr lang="en-US" dirty="0"/>
              <a:t> contains meta-information about the page, including the title shown in the browser tab.</a:t>
            </a:r>
          </a:p>
          <a:p>
            <a:pPr lvl="1"/>
            <a:r>
              <a:rPr lang="en-US" dirty="0">
                <a:solidFill>
                  <a:srgbClr val="FF0000"/>
                </a:solidFill>
              </a:rPr>
              <a:t>&lt;body&gt;</a:t>
            </a:r>
            <a:r>
              <a:rPr lang="en-US" dirty="0"/>
              <a:t> holds the visible content of your web page.</a:t>
            </a:r>
          </a:p>
          <a:p>
            <a:pPr marL="0" indent="0">
              <a:buNone/>
            </a:pPr>
            <a:endParaRPr lang="en-US" dirty="0" smtClean="0"/>
          </a:p>
          <a:p>
            <a:pPr marL="0" indent="0">
              <a:buNone/>
            </a:pPr>
            <a:endParaRPr lang="en-GB" dirty="0"/>
          </a:p>
        </p:txBody>
      </p:sp>
    </p:spTree>
    <p:extLst>
      <p:ext uri="{BB962C8B-B14F-4D97-AF65-F5344CB8AC3E}">
        <p14:creationId xmlns:p14="http://schemas.microsoft.com/office/powerpoint/2010/main" val="23468274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sosceles Triangle 3"/>
          <p:cNvSpPr/>
          <p:nvPr/>
        </p:nvSpPr>
        <p:spPr>
          <a:xfrm flipH="1" flipV="1">
            <a:off x="-49879" y="-16933"/>
            <a:ext cx="1836767" cy="1654234"/>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Isosceles Triangle 3"/>
          <p:cNvSpPr/>
          <p:nvPr/>
        </p:nvSpPr>
        <p:spPr>
          <a:xfrm flipH="1">
            <a:off x="-49878" y="5203766"/>
            <a:ext cx="1836767" cy="1654234"/>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p:cNvSpPr/>
          <p:nvPr/>
        </p:nvSpPr>
        <p:spPr>
          <a:xfrm>
            <a:off x="10681855" y="5203766"/>
            <a:ext cx="1602970" cy="1654233"/>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524281" y="389467"/>
            <a:ext cx="11125200" cy="60621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p:txBody>
          <a:bodyPr/>
          <a:lstStyle/>
          <a:p>
            <a:r>
              <a:rPr lang="en-GB" b="1" dirty="0"/>
              <a:t>&lt;!DOCTYPE html&gt;</a:t>
            </a:r>
            <a:endParaRPr lang="en-GB" dirty="0"/>
          </a:p>
        </p:txBody>
      </p:sp>
      <p:sp>
        <p:nvSpPr>
          <p:cNvPr id="9" name="Content Placeholder 8"/>
          <p:cNvSpPr>
            <a:spLocks noGrp="1"/>
          </p:cNvSpPr>
          <p:nvPr>
            <p:ph idx="1"/>
          </p:nvPr>
        </p:nvSpPr>
        <p:spPr>
          <a:xfrm>
            <a:off x="838200" y="1500554"/>
            <a:ext cx="10515600" cy="4951046"/>
          </a:xfrm>
        </p:spPr>
        <p:txBody>
          <a:bodyPr>
            <a:normAutofit lnSpcReduction="10000"/>
          </a:bodyPr>
          <a:lstStyle/>
          <a:p>
            <a:pPr marL="0" lvl="0" indent="0">
              <a:buNone/>
            </a:pPr>
            <a:r>
              <a:rPr lang="en-GB" dirty="0"/>
              <a:t>HTML </a:t>
            </a:r>
            <a:r>
              <a:rPr lang="en-GB" dirty="0" err="1"/>
              <a:t>Doctype</a:t>
            </a:r>
            <a:r>
              <a:rPr lang="en-GB" dirty="0"/>
              <a:t> </a:t>
            </a:r>
            <a:r>
              <a:rPr lang="en-GB" dirty="0" smtClean="0"/>
              <a:t>Declaration </a:t>
            </a:r>
            <a:r>
              <a:rPr lang="en-US" dirty="0"/>
              <a:t>specifies the version of HTML in which a web page is written</a:t>
            </a:r>
            <a:r>
              <a:rPr lang="en-US" dirty="0" smtClean="0"/>
              <a:t>. It was firstly</a:t>
            </a:r>
            <a:r>
              <a:rPr lang="en-GB" dirty="0" smtClean="0"/>
              <a:t> </a:t>
            </a:r>
            <a:r>
              <a:rPr lang="en-GB" dirty="0"/>
              <a:t>introduced with </a:t>
            </a:r>
            <a:r>
              <a:rPr lang="en-GB" dirty="0" smtClean="0"/>
              <a:t>HTML5 and </a:t>
            </a:r>
            <a:r>
              <a:rPr lang="en-US" dirty="0"/>
              <a:t>informs the web browser about the document type and version, helping it to render the page correctly</a:t>
            </a:r>
            <a:r>
              <a:rPr lang="en-US" dirty="0" smtClean="0"/>
              <a:t>.  </a:t>
            </a:r>
          </a:p>
          <a:p>
            <a:r>
              <a:rPr lang="en-US" b="1" dirty="0"/>
              <a:t>&lt;!DOCTYPE&gt;</a:t>
            </a:r>
            <a:r>
              <a:rPr lang="en-US" dirty="0"/>
              <a:t>: This is the document type declaration (DTD). It is not an HTML tag but rather an instruction to the browser about the version and type of document.</a:t>
            </a:r>
          </a:p>
          <a:p>
            <a:r>
              <a:rPr lang="en-US" b="1" dirty="0"/>
              <a:t>html</a:t>
            </a:r>
            <a:r>
              <a:rPr lang="en-US" dirty="0"/>
              <a:t>: This specifies the root element of the document. In this case, it indicates that the document is an HTML document</a:t>
            </a:r>
            <a:r>
              <a:rPr lang="en-US" dirty="0" smtClean="0"/>
              <a:t>. Other possible types </a:t>
            </a:r>
            <a:r>
              <a:rPr lang="en-US" dirty="0" smtClean="0">
                <a:solidFill>
                  <a:srgbClr val="FF0000"/>
                </a:solidFill>
              </a:rPr>
              <a:t>XHTML, XML, SVG, </a:t>
            </a:r>
            <a:r>
              <a:rPr lang="en-US" dirty="0" err="1" smtClean="0">
                <a:solidFill>
                  <a:srgbClr val="FF0000"/>
                </a:solidFill>
              </a:rPr>
              <a:t>MathML</a:t>
            </a:r>
            <a:r>
              <a:rPr lang="en-US" dirty="0" smtClean="0"/>
              <a:t>, etc.</a:t>
            </a:r>
          </a:p>
          <a:p>
            <a:pPr marL="0" indent="0">
              <a:buNone/>
            </a:pPr>
            <a:r>
              <a:rPr lang="en-US" sz="2000" dirty="0">
                <a:solidFill>
                  <a:srgbClr val="0070C0"/>
                </a:solidFill>
              </a:rPr>
              <a:t>If you do not include the &lt;!DOCTYPE html&gt; declaration in your HTML </a:t>
            </a:r>
            <a:r>
              <a:rPr lang="en-US" sz="2000" dirty="0" smtClean="0">
                <a:solidFill>
                  <a:srgbClr val="0070C0"/>
                </a:solidFill>
              </a:rPr>
              <a:t>document, with several things, your browser can create issues related CSS styling, version, page rendering</a:t>
            </a:r>
            <a:r>
              <a:rPr lang="en-US" sz="2000" dirty="0" smtClean="0"/>
              <a:t>.</a:t>
            </a:r>
            <a:r>
              <a:rPr lang="en-US" dirty="0" smtClean="0"/>
              <a:t> </a:t>
            </a:r>
            <a:endParaRPr lang="en-US" dirty="0"/>
          </a:p>
          <a:p>
            <a:pPr marL="0" lvl="0" indent="0">
              <a:buNone/>
            </a:pPr>
            <a:endParaRPr lang="en-GB" dirty="0"/>
          </a:p>
        </p:txBody>
      </p:sp>
    </p:spTree>
    <p:extLst>
      <p:ext uri="{BB962C8B-B14F-4D97-AF65-F5344CB8AC3E}">
        <p14:creationId xmlns:p14="http://schemas.microsoft.com/office/powerpoint/2010/main" val="28182522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sosceles Triangle 3"/>
          <p:cNvSpPr/>
          <p:nvPr/>
        </p:nvSpPr>
        <p:spPr>
          <a:xfrm flipH="1" flipV="1">
            <a:off x="771498" y="656001"/>
            <a:ext cx="451314" cy="476599"/>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1250532" y="5854580"/>
            <a:ext cx="184731" cy="523220"/>
          </a:xfrm>
          <a:prstGeom prst="rect">
            <a:avLst/>
          </a:prstGeom>
          <a:noFill/>
        </p:spPr>
        <p:txBody>
          <a:bodyPr wrap="none" lIns="91440" tIns="45720" rIns="91440" bIns="45720" rtlCol="0" anchor="t">
            <a:spAutoFit/>
          </a:bodyPr>
          <a:lstStyle/>
          <a:p>
            <a:endParaRPr lang="en-US" sz="2800" b="1" dirty="0">
              <a:ea typeface="Calibri"/>
              <a:cs typeface="Calibri"/>
            </a:endParaRPr>
          </a:p>
        </p:txBody>
      </p:sp>
      <p:sp>
        <p:nvSpPr>
          <p:cNvPr id="9" name="Isosceles Triangle 3">
            <a:extLst>
              <a:ext uri="{FF2B5EF4-FFF2-40B4-BE49-F238E27FC236}">
                <a16:creationId xmlns:a16="http://schemas.microsoft.com/office/drawing/2014/main" xmlns="" id="{00D729C2-A19B-7576-4C97-DF1C42A75D38}"/>
              </a:ext>
            </a:extLst>
          </p:cNvPr>
          <p:cNvSpPr/>
          <p:nvPr/>
        </p:nvSpPr>
        <p:spPr>
          <a:xfrm flipH="1" flipV="1">
            <a:off x="1276199" y="487767"/>
            <a:ext cx="451314" cy="476599"/>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Isosceles Triangle 3">
            <a:extLst>
              <a:ext uri="{FF2B5EF4-FFF2-40B4-BE49-F238E27FC236}">
                <a16:creationId xmlns:a16="http://schemas.microsoft.com/office/drawing/2014/main" xmlns="" id="{12741AE1-298B-1601-8802-D88248A56A01}"/>
              </a:ext>
            </a:extLst>
          </p:cNvPr>
          <p:cNvSpPr/>
          <p:nvPr/>
        </p:nvSpPr>
        <p:spPr>
          <a:xfrm flipH="1" flipV="1">
            <a:off x="632952" y="1190390"/>
            <a:ext cx="451314" cy="476599"/>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p>
            <a:r>
              <a:rPr lang="en-US" dirty="0" smtClean="0"/>
              <a:t>HTML Root Element</a:t>
            </a:r>
            <a:endParaRPr lang="en-GB" dirty="0"/>
          </a:p>
        </p:txBody>
      </p:sp>
      <p:sp>
        <p:nvSpPr>
          <p:cNvPr id="4" name="Content Placeholder 3"/>
          <p:cNvSpPr>
            <a:spLocks noGrp="1"/>
          </p:cNvSpPr>
          <p:nvPr>
            <p:ph idx="1"/>
          </p:nvPr>
        </p:nvSpPr>
        <p:spPr>
          <a:xfrm>
            <a:off x="838199" y="1511907"/>
            <a:ext cx="10603523" cy="5228862"/>
          </a:xfrm>
        </p:spPr>
        <p:txBody>
          <a:bodyPr>
            <a:normAutofit fontScale="92500"/>
          </a:bodyPr>
          <a:lstStyle/>
          <a:p>
            <a:pPr marL="0" indent="0">
              <a:buNone/>
            </a:pPr>
            <a:r>
              <a:rPr lang="en-US" i="1" dirty="0" smtClean="0"/>
              <a:t>&lt;html&gt;&lt;/html&gt;</a:t>
            </a:r>
          </a:p>
          <a:p>
            <a:pPr marL="0" indent="0" algn="just">
              <a:buNone/>
            </a:pPr>
            <a:r>
              <a:rPr lang="en-US" dirty="0"/>
              <a:t>The </a:t>
            </a:r>
            <a:r>
              <a:rPr lang="en-US" b="1" dirty="0"/>
              <a:t>&lt;html&gt;</a:t>
            </a:r>
            <a:r>
              <a:rPr lang="en-US" dirty="0"/>
              <a:t> tag is the root element that encapsulates all the content on the page</a:t>
            </a:r>
            <a:r>
              <a:rPr lang="en-US" dirty="0" smtClean="0"/>
              <a:t>. </a:t>
            </a:r>
            <a:r>
              <a:rPr lang="en-US" dirty="0"/>
              <a:t> In &lt;html &gt; tag we use “</a:t>
            </a:r>
            <a:r>
              <a:rPr lang="en-US" dirty="0" err="1"/>
              <a:t>lang</a:t>
            </a:r>
            <a:r>
              <a:rPr lang="en-US" dirty="0"/>
              <a:t>” attributes to define languages of html page such as &lt;html </a:t>
            </a:r>
            <a:r>
              <a:rPr lang="en-US" dirty="0" err="1"/>
              <a:t>lang</a:t>
            </a:r>
            <a:r>
              <a:rPr lang="en-US" dirty="0"/>
              <a:t>=”en”&gt; here en represents English language.</a:t>
            </a:r>
            <a:endParaRPr lang="en-US" dirty="0" smtClean="0"/>
          </a:p>
          <a:p>
            <a:pPr algn="just" fontAlgn="base"/>
            <a:r>
              <a:rPr lang="en-US" b="1" dirty="0" smtClean="0"/>
              <a:t>Head:</a:t>
            </a:r>
            <a:r>
              <a:rPr lang="en-US" dirty="0" smtClean="0"/>
              <a:t>-</a:t>
            </a:r>
            <a:r>
              <a:rPr lang="en-US" i="1" dirty="0" smtClean="0"/>
              <a:t> </a:t>
            </a:r>
            <a:r>
              <a:rPr lang="en-US" dirty="0"/>
              <a:t>This </a:t>
            </a:r>
            <a:r>
              <a:rPr lang="en-US" dirty="0" smtClean="0"/>
              <a:t>tag contains </a:t>
            </a:r>
            <a:r>
              <a:rPr lang="en-US" dirty="0"/>
              <a:t>the </a:t>
            </a:r>
            <a:r>
              <a:rPr lang="en-US" dirty="0" smtClean="0"/>
              <a:t>metadata and other information </a:t>
            </a:r>
            <a:r>
              <a:rPr lang="en-US" dirty="0"/>
              <a:t>about the HTML document. </a:t>
            </a:r>
            <a:r>
              <a:rPr lang="en-US" dirty="0" smtClean="0"/>
              <a:t>For </a:t>
            </a:r>
            <a:r>
              <a:rPr lang="en-US" dirty="0"/>
              <a:t>Example, </a:t>
            </a:r>
            <a:endParaRPr lang="en-US" dirty="0" smtClean="0"/>
          </a:p>
          <a:p>
            <a:pPr lvl="3" algn="just" fontAlgn="base"/>
            <a:r>
              <a:rPr lang="en-GB" dirty="0"/>
              <a:t>&lt;meta charset="UTF-8</a:t>
            </a:r>
            <a:r>
              <a:rPr lang="en-GB" dirty="0" smtClean="0"/>
              <a:t>"&gt;</a:t>
            </a:r>
          </a:p>
          <a:p>
            <a:pPr lvl="3" algn="just" fontAlgn="base"/>
            <a:r>
              <a:rPr lang="en-US" dirty="0"/>
              <a:t>&lt;meta name="viewport" content="width=device-width, initial-scale=1.0</a:t>
            </a:r>
            <a:r>
              <a:rPr lang="en-US" dirty="0" smtClean="0"/>
              <a:t>"&gt;</a:t>
            </a:r>
          </a:p>
          <a:p>
            <a:pPr lvl="3" algn="just" fontAlgn="base"/>
            <a:r>
              <a:rPr lang="en-US" dirty="0"/>
              <a:t>&lt;meta name="description" content="A brief description of your page</a:t>
            </a:r>
            <a:r>
              <a:rPr lang="en-US" dirty="0" smtClean="0"/>
              <a:t>."&gt;</a:t>
            </a:r>
          </a:p>
          <a:p>
            <a:pPr lvl="3" algn="just" fontAlgn="base"/>
            <a:r>
              <a:rPr lang="en-GB" dirty="0"/>
              <a:t>&lt;meta name="keywords" content="HTML, CSS, JavaScript"&gt; </a:t>
            </a:r>
          </a:p>
          <a:p>
            <a:pPr lvl="3" algn="just" fontAlgn="base"/>
            <a:r>
              <a:rPr lang="en-US" dirty="0"/>
              <a:t>&lt;script </a:t>
            </a:r>
            <a:r>
              <a:rPr lang="en-US" dirty="0" err="1"/>
              <a:t>src</a:t>
            </a:r>
            <a:r>
              <a:rPr lang="en-US" dirty="0"/>
              <a:t>="script.js" defer&gt;&lt;/script&gt; </a:t>
            </a:r>
          </a:p>
          <a:p>
            <a:pPr lvl="3" algn="just" fontAlgn="base"/>
            <a:r>
              <a:rPr lang="en-GB" dirty="0"/>
              <a:t>&lt;link </a:t>
            </a:r>
            <a:r>
              <a:rPr lang="en-GB" dirty="0" err="1"/>
              <a:t>rel</a:t>
            </a:r>
            <a:r>
              <a:rPr lang="en-GB" dirty="0"/>
              <a:t>="icon" </a:t>
            </a:r>
            <a:r>
              <a:rPr lang="en-GB" dirty="0" err="1"/>
              <a:t>href</a:t>
            </a:r>
            <a:r>
              <a:rPr lang="en-GB" dirty="0"/>
              <a:t>="favicon.ico" type="image/x-icon"&gt; </a:t>
            </a:r>
          </a:p>
          <a:p>
            <a:pPr lvl="3" algn="just" fontAlgn="base"/>
            <a:r>
              <a:rPr lang="en-GB" dirty="0"/>
              <a:t>&lt;link </a:t>
            </a:r>
            <a:r>
              <a:rPr lang="en-GB" dirty="0" err="1"/>
              <a:t>rel</a:t>
            </a:r>
            <a:r>
              <a:rPr lang="en-GB" dirty="0"/>
              <a:t>="</a:t>
            </a:r>
            <a:r>
              <a:rPr lang="en-GB" dirty="0" err="1"/>
              <a:t>stylesheet</a:t>
            </a:r>
            <a:r>
              <a:rPr lang="en-GB" dirty="0"/>
              <a:t>" </a:t>
            </a:r>
            <a:r>
              <a:rPr lang="en-GB" dirty="0" err="1"/>
              <a:t>href</a:t>
            </a:r>
            <a:r>
              <a:rPr lang="en-GB" dirty="0"/>
              <a:t>="styles.css"&gt; </a:t>
            </a:r>
            <a:endParaRPr lang="en-US" dirty="0" smtClean="0"/>
          </a:p>
          <a:p>
            <a:pPr fontAlgn="base"/>
            <a:r>
              <a:rPr lang="en-US" b="1" dirty="0" smtClean="0"/>
              <a:t>BODY</a:t>
            </a:r>
            <a:r>
              <a:rPr lang="en-US" dirty="0"/>
              <a:t>: This </a:t>
            </a:r>
            <a:r>
              <a:rPr lang="en-US" dirty="0" smtClean="0"/>
              <a:t>tag contains </a:t>
            </a:r>
            <a:r>
              <a:rPr lang="en-US" dirty="0"/>
              <a:t>everything you want to display on the Web Page.</a:t>
            </a:r>
          </a:p>
          <a:p>
            <a:pPr marL="0" indent="0">
              <a:buNone/>
            </a:pPr>
            <a:endParaRPr lang="en-GB" i="1" dirty="0"/>
          </a:p>
        </p:txBody>
      </p:sp>
    </p:spTree>
    <p:extLst>
      <p:ext uri="{BB962C8B-B14F-4D97-AF65-F5344CB8AC3E}">
        <p14:creationId xmlns:p14="http://schemas.microsoft.com/office/powerpoint/2010/main" val="31403497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4031" y="633046"/>
            <a:ext cx="9894278" cy="5872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13703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231" y="1056787"/>
            <a:ext cx="10515600" cy="1325563"/>
          </a:xfrm>
        </p:spPr>
        <p:txBody>
          <a:bodyPr/>
          <a:lstStyle/>
          <a:p>
            <a:pPr algn="ctr"/>
            <a:r>
              <a:rPr lang="en-US" dirty="0" smtClean="0"/>
              <a:t>HTML Elements</a:t>
            </a:r>
            <a:endParaRPr lang="en-GB" dirty="0"/>
          </a:p>
        </p:txBody>
      </p:sp>
      <p:sp>
        <p:nvSpPr>
          <p:cNvPr id="3" name="AutoShape 2" descr="HTML element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3301" y="2391507"/>
            <a:ext cx="5860882" cy="1594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6166345" y="5873252"/>
            <a:ext cx="1351011" cy="276999"/>
          </a:xfrm>
          <a:prstGeom prst="rect">
            <a:avLst/>
          </a:prstGeom>
          <a:noFill/>
        </p:spPr>
        <p:txBody>
          <a:bodyPr wrap="none" rtlCol="0">
            <a:spAutoFit/>
          </a:bodyPr>
          <a:lstStyle/>
          <a:p>
            <a:r>
              <a:rPr lang="en-US" sz="1200" dirty="0" smtClean="0"/>
              <a:t>Source - Wikipedia</a:t>
            </a:r>
            <a:endParaRPr lang="en-GB" dirty="0"/>
          </a:p>
        </p:txBody>
      </p:sp>
    </p:spTree>
    <p:extLst>
      <p:ext uri="{BB962C8B-B14F-4D97-AF65-F5344CB8AC3E}">
        <p14:creationId xmlns:p14="http://schemas.microsoft.com/office/powerpoint/2010/main" val="30123345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HTML Elements</a:t>
            </a:r>
            <a:endParaRPr lang="en-GB" dirty="0"/>
          </a:p>
        </p:txBody>
      </p:sp>
      <p:sp>
        <p:nvSpPr>
          <p:cNvPr id="3" name="Content Placeholder 2"/>
          <p:cNvSpPr>
            <a:spLocks noGrp="1"/>
          </p:cNvSpPr>
          <p:nvPr>
            <p:ph idx="1"/>
          </p:nvPr>
        </p:nvSpPr>
        <p:spPr>
          <a:xfrm>
            <a:off x="838200" y="1813901"/>
            <a:ext cx="10515600" cy="4809637"/>
          </a:xfrm>
        </p:spPr>
        <p:txBody>
          <a:bodyPr>
            <a:normAutofit lnSpcReduction="10000"/>
          </a:bodyPr>
          <a:lstStyle/>
          <a:p>
            <a:pPr marL="0" indent="0">
              <a:buNone/>
            </a:pPr>
            <a:r>
              <a:rPr lang="en-US" dirty="0"/>
              <a:t>HTML tags are the building blocks of a web page. </a:t>
            </a:r>
            <a:r>
              <a:rPr lang="en-US" dirty="0" smtClean="0"/>
              <a:t>Tags can be describe as</a:t>
            </a:r>
          </a:p>
          <a:p>
            <a:pPr marL="0" indent="0">
              <a:buNone/>
            </a:pPr>
            <a:r>
              <a:rPr lang="en-US" b="1" u="sng" dirty="0" smtClean="0"/>
              <a:t>Elements:-</a:t>
            </a:r>
            <a:r>
              <a:rPr lang="en-US" dirty="0" smtClean="0"/>
              <a:t> HTML element is </a:t>
            </a:r>
            <a:r>
              <a:rPr lang="en-US" dirty="0"/>
              <a:t>the collection of start tag, its attributes, an end tag and everything in between</a:t>
            </a:r>
            <a:r>
              <a:rPr lang="en-US" dirty="0" smtClean="0"/>
              <a:t>.</a:t>
            </a:r>
          </a:p>
          <a:p>
            <a:pPr marL="0" indent="0">
              <a:buNone/>
            </a:pPr>
            <a:r>
              <a:rPr lang="en-US" dirty="0" smtClean="0"/>
              <a:t>Example:- Element = “</a:t>
            </a:r>
            <a:r>
              <a:rPr lang="en-GB" b="1" dirty="0"/>
              <a:t>&lt;h1&gt;Hello World!&lt;/h1&gt;</a:t>
            </a:r>
            <a:r>
              <a:rPr lang="en-US" dirty="0" smtClean="0"/>
              <a:t>”</a:t>
            </a:r>
          </a:p>
          <a:p>
            <a:pPr marL="0" indent="0">
              <a:buNone/>
            </a:pPr>
            <a:r>
              <a:rPr lang="en-US" dirty="0" smtClean="0"/>
              <a:t>An element can be consist of</a:t>
            </a:r>
          </a:p>
          <a:p>
            <a:pPr marL="514350" indent="-514350">
              <a:buFont typeface="+mj-lt"/>
              <a:buAutoNum type="arabicPeriod"/>
            </a:pPr>
            <a:r>
              <a:rPr lang="en-US" b="1" u="sng" dirty="0" smtClean="0"/>
              <a:t>Attributes:-</a:t>
            </a:r>
            <a:r>
              <a:rPr lang="en-US" dirty="0" smtClean="0"/>
              <a:t> </a:t>
            </a:r>
            <a:r>
              <a:rPr lang="en-GB" dirty="0"/>
              <a:t>Attributes provide additional information about HTML </a:t>
            </a:r>
            <a:r>
              <a:rPr lang="en-GB" dirty="0" smtClean="0"/>
              <a:t>elements, </a:t>
            </a:r>
            <a:r>
              <a:rPr lang="en-US" dirty="0"/>
              <a:t>included in the opening tag and are used to modify the element's behavior or appearance</a:t>
            </a:r>
            <a:r>
              <a:rPr lang="en-US" dirty="0" smtClean="0"/>
              <a:t>. It consist </a:t>
            </a:r>
            <a:r>
              <a:rPr lang="en-US" dirty="0"/>
              <a:t>of two parts: the </a:t>
            </a:r>
            <a:r>
              <a:rPr lang="en-US" b="1" dirty="0"/>
              <a:t>name</a:t>
            </a:r>
            <a:r>
              <a:rPr lang="en-US" dirty="0"/>
              <a:t> and the </a:t>
            </a:r>
            <a:r>
              <a:rPr lang="en-US" b="1" dirty="0"/>
              <a:t>value</a:t>
            </a:r>
            <a:r>
              <a:rPr lang="en-US" dirty="0"/>
              <a:t>.</a:t>
            </a:r>
          </a:p>
          <a:p>
            <a:pPr lvl="1"/>
            <a:r>
              <a:rPr lang="en-US" b="1" dirty="0"/>
              <a:t>Name</a:t>
            </a:r>
            <a:r>
              <a:rPr lang="en-US" dirty="0"/>
              <a:t>: Specifies the property for that element.</a:t>
            </a:r>
          </a:p>
          <a:p>
            <a:pPr lvl="1"/>
            <a:r>
              <a:rPr lang="en-US" b="1" dirty="0"/>
              <a:t>Value</a:t>
            </a:r>
            <a:r>
              <a:rPr lang="en-US" dirty="0"/>
              <a:t>: Sets the value of that property for the </a:t>
            </a:r>
            <a:r>
              <a:rPr lang="en-US" dirty="0" smtClean="0"/>
              <a:t>element</a:t>
            </a:r>
            <a:endParaRPr lang="en-US" dirty="0"/>
          </a:p>
        </p:txBody>
      </p:sp>
    </p:spTree>
    <p:extLst>
      <p:ext uri="{BB962C8B-B14F-4D97-AF65-F5344CB8AC3E}">
        <p14:creationId xmlns:p14="http://schemas.microsoft.com/office/powerpoint/2010/main" val="9081076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Elements General Attributes</a:t>
            </a:r>
            <a:endParaRPr lang="en-GB" dirty="0"/>
          </a:p>
        </p:txBody>
      </p:sp>
      <p:sp>
        <p:nvSpPr>
          <p:cNvPr id="3" name="Content Placeholder 2"/>
          <p:cNvSpPr>
            <a:spLocks noGrp="1"/>
          </p:cNvSpPr>
          <p:nvPr>
            <p:ph idx="1"/>
          </p:nvPr>
        </p:nvSpPr>
        <p:spPr>
          <a:xfrm>
            <a:off x="838200" y="1524000"/>
            <a:ext cx="10515600" cy="5146431"/>
          </a:xfrm>
        </p:spPr>
        <p:txBody>
          <a:bodyPr>
            <a:normAutofit fontScale="85000" lnSpcReduction="10000"/>
          </a:bodyPr>
          <a:lstStyle/>
          <a:p>
            <a:pPr marL="0" indent="0">
              <a:buNone/>
            </a:pPr>
            <a:r>
              <a:rPr lang="en-US" dirty="0" smtClean="0"/>
              <a:t>There are four main types of attributes</a:t>
            </a:r>
          </a:p>
          <a:p>
            <a:pPr marL="0" indent="0" algn="just">
              <a:buNone/>
            </a:pPr>
            <a:r>
              <a:rPr lang="en-US" b="1" dirty="0" smtClean="0"/>
              <a:t>ID attribute:-</a:t>
            </a:r>
            <a:r>
              <a:rPr lang="en-US" dirty="0" smtClean="0"/>
              <a:t> </a:t>
            </a:r>
            <a:r>
              <a:rPr lang="en-US" dirty="0"/>
              <a:t>The ID attribute is used to assign a unique identifier to an HTML element</a:t>
            </a:r>
            <a:r>
              <a:rPr lang="en-US" dirty="0" smtClean="0"/>
              <a:t>. </a:t>
            </a:r>
            <a:r>
              <a:rPr lang="en-US" i="1" dirty="0">
                <a:solidFill>
                  <a:srgbClr val="0070C0"/>
                </a:solidFill>
              </a:rPr>
              <a:t>&lt;p id="python"&gt;This is a Python tutorial&lt;/p</a:t>
            </a:r>
            <a:r>
              <a:rPr lang="en-US" i="1" dirty="0" smtClean="0">
                <a:solidFill>
                  <a:srgbClr val="0070C0"/>
                </a:solidFill>
              </a:rPr>
              <a:t>&gt;  </a:t>
            </a:r>
          </a:p>
          <a:p>
            <a:pPr marL="0" indent="0" algn="just">
              <a:buNone/>
            </a:pPr>
            <a:r>
              <a:rPr lang="en-US" b="1" dirty="0" smtClean="0"/>
              <a:t>Class attribute:-</a:t>
            </a:r>
            <a:r>
              <a:rPr lang="en-US" dirty="0" smtClean="0"/>
              <a:t> The </a:t>
            </a:r>
            <a:r>
              <a:rPr lang="en-US" dirty="0"/>
              <a:t>class attribute is used to associate an HTML element with a particular class, typically for styling or JavaScript manipulation</a:t>
            </a:r>
            <a:r>
              <a:rPr lang="en-US" dirty="0" smtClean="0"/>
              <a:t>. </a:t>
            </a:r>
            <a:r>
              <a:rPr lang="en-US" dirty="0"/>
              <a:t>Unlike the ID attribute, the class attribute is not unique, and multiple elements can share the same class</a:t>
            </a:r>
            <a:r>
              <a:rPr lang="en-US" dirty="0" smtClean="0"/>
              <a:t>. </a:t>
            </a:r>
            <a:r>
              <a:rPr lang="en-US" dirty="0">
                <a:solidFill>
                  <a:srgbClr val="0070C0"/>
                </a:solidFill>
              </a:rPr>
              <a:t>&lt;p class="</a:t>
            </a:r>
            <a:r>
              <a:rPr lang="en-US" dirty="0" err="1">
                <a:solidFill>
                  <a:srgbClr val="0070C0"/>
                </a:solidFill>
              </a:rPr>
              <a:t>myClass</a:t>
            </a:r>
            <a:r>
              <a:rPr lang="en-US" dirty="0">
                <a:solidFill>
                  <a:srgbClr val="0070C0"/>
                </a:solidFill>
              </a:rPr>
              <a:t>"&gt;This is a paragraph with the same class.&lt;/p&gt;</a:t>
            </a:r>
            <a:endParaRPr lang="en-US" dirty="0" smtClean="0">
              <a:solidFill>
                <a:srgbClr val="0070C0"/>
              </a:solidFill>
            </a:endParaRPr>
          </a:p>
          <a:p>
            <a:pPr marL="0" indent="0" algn="just">
              <a:buNone/>
            </a:pPr>
            <a:r>
              <a:rPr lang="en-US" b="1" dirty="0" smtClean="0"/>
              <a:t>Title attribute:-</a:t>
            </a:r>
            <a:r>
              <a:rPr lang="en-US" dirty="0" smtClean="0"/>
              <a:t> </a:t>
            </a:r>
            <a:r>
              <a:rPr lang="en-US" dirty="0"/>
              <a:t>The title attribute provides additional information about an element and is often displayed as a tooltip when the mouse hovers over it</a:t>
            </a:r>
            <a:r>
              <a:rPr lang="en-US" dirty="0" smtClean="0"/>
              <a:t>. </a:t>
            </a:r>
            <a:r>
              <a:rPr lang="en-US" dirty="0">
                <a:solidFill>
                  <a:srgbClr val="0070C0"/>
                </a:solidFill>
              </a:rPr>
              <a:t>&lt;h4 title="hello, motto"&gt;Title attribute&lt;/h4</a:t>
            </a:r>
            <a:r>
              <a:rPr lang="en-US" dirty="0" smtClean="0">
                <a:solidFill>
                  <a:srgbClr val="0070C0"/>
                </a:solidFill>
              </a:rPr>
              <a:t>&gt;</a:t>
            </a:r>
          </a:p>
          <a:p>
            <a:pPr marL="0" indent="0" algn="just">
              <a:buNone/>
            </a:pPr>
            <a:r>
              <a:rPr lang="en-US" b="1" dirty="0" smtClean="0"/>
              <a:t>Style attribute:-</a:t>
            </a:r>
            <a:r>
              <a:rPr lang="en-US" dirty="0" smtClean="0"/>
              <a:t> </a:t>
            </a:r>
            <a:r>
              <a:rPr lang="en-US" dirty="0"/>
              <a:t>The style attribute allows for inline styling of HTML elements. It is used in conjunction with CSS properties to directly style individual elements within the HTML code</a:t>
            </a:r>
            <a:r>
              <a:rPr lang="en-US" dirty="0" smtClean="0"/>
              <a:t>.</a:t>
            </a:r>
          </a:p>
          <a:p>
            <a:pPr marL="0" indent="0" algn="just">
              <a:buNone/>
            </a:pPr>
            <a:r>
              <a:rPr lang="en-US" dirty="0" smtClean="0"/>
              <a:t>Note:- HTML attributes names can be written in uppercase or lowercase (</a:t>
            </a:r>
            <a:r>
              <a:rPr lang="en-US" dirty="0" err="1" smtClean="0"/>
              <a:t>recomended</a:t>
            </a:r>
            <a:r>
              <a:rPr lang="en-US" dirty="0" smtClean="0"/>
              <a:t>)</a:t>
            </a:r>
            <a:endParaRPr lang="en-GB" dirty="0"/>
          </a:p>
        </p:txBody>
      </p:sp>
    </p:spTree>
    <p:extLst>
      <p:ext uri="{BB962C8B-B14F-4D97-AF65-F5344CB8AC3E}">
        <p14:creationId xmlns:p14="http://schemas.microsoft.com/office/powerpoint/2010/main" val="15090779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6171"/>
            <a:ext cx="10515600" cy="1325563"/>
          </a:xfrm>
        </p:spPr>
        <p:txBody>
          <a:bodyPr/>
          <a:lstStyle/>
          <a:p>
            <a:r>
              <a:rPr lang="en-US" dirty="0" smtClean="0"/>
              <a:t>Element Special Attributes</a:t>
            </a:r>
            <a:endParaRPr lang="en-GB" dirty="0"/>
          </a:p>
        </p:txBody>
      </p:sp>
      <p:sp>
        <p:nvSpPr>
          <p:cNvPr id="3" name="Content Placeholder 2"/>
          <p:cNvSpPr>
            <a:spLocks noGrp="1"/>
          </p:cNvSpPr>
          <p:nvPr>
            <p:ph idx="1"/>
          </p:nvPr>
        </p:nvSpPr>
        <p:spPr>
          <a:xfrm>
            <a:off x="838200" y="1629508"/>
            <a:ext cx="10515600" cy="5052646"/>
          </a:xfrm>
        </p:spPr>
        <p:txBody>
          <a:bodyPr>
            <a:normAutofit fontScale="92500" lnSpcReduction="20000"/>
          </a:bodyPr>
          <a:lstStyle/>
          <a:p>
            <a:pPr marL="0" indent="0">
              <a:buNone/>
            </a:pPr>
            <a:r>
              <a:rPr lang="en-US" b="1" dirty="0" smtClean="0"/>
              <a:t>The </a:t>
            </a:r>
            <a:r>
              <a:rPr lang="en-US" b="1" dirty="0" err="1" smtClean="0"/>
              <a:t>href</a:t>
            </a:r>
            <a:r>
              <a:rPr lang="en-US" b="1" dirty="0" smtClean="0"/>
              <a:t> Attribute:-</a:t>
            </a:r>
          </a:p>
          <a:p>
            <a:pPr marL="0" indent="0">
              <a:buNone/>
            </a:pPr>
            <a:r>
              <a:rPr lang="en-US" dirty="0"/>
              <a:t>The &lt;a&gt; tag defines a hyperlink. The </a:t>
            </a:r>
            <a:r>
              <a:rPr lang="en-US" dirty="0" err="1"/>
              <a:t>href</a:t>
            </a:r>
            <a:r>
              <a:rPr lang="en-US" dirty="0"/>
              <a:t> attribute specifies the URL of the page the link goes to</a:t>
            </a:r>
            <a:r>
              <a:rPr lang="en-US" dirty="0" smtClean="0"/>
              <a:t>:  </a:t>
            </a:r>
          </a:p>
          <a:p>
            <a:pPr marL="457200" lvl="1" indent="0">
              <a:buNone/>
            </a:pPr>
            <a:r>
              <a:rPr lang="en-US" sz="1900" dirty="0" smtClean="0">
                <a:solidFill>
                  <a:srgbClr val="0070C0"/>
                </a:solidFill>
              </a:rPr>
              <a:t>&lt;</a:t>
            </a:r>
            <a:r>
              <a:rPr lang="en-US" sz="1900" dirty="0">
                <a:solidFill>
                  <a:srgbClr val="0070C0"/>
                </a:solidFill>
              </a:rPr>
              <a:t>a </a:t>
            </a:r>
            <a:r>
              <a:rPr lang="en-US" sz="1900" dirty="0" err="1">
                <a:solidFill>
                  <a:srgbClr val="0070C0"/>
                </a:solidFill>
              </a:rPr>
              <a:t>href</a:t>
            </a:r>
            <a:r>
              <a:rPr lang="en-US" sz="1900" dirty="0">
                <a:solidFill>
                  <a:srgbClr val="0070C0"/>
                </a:solidFill>
              </a:rPr>
              <a:t>="https://www.w3schools.com"&gt;Visit W3Schools&lt;/a</a:t>
            </a:r>
            <a:r>
              <a:rPr lang="en-US" sz="1900" dirty="0" smtClean="0">
                <a:solidFill>
                  <a:srgbClr val="0070C0"/>
                </a:solidFill>
              </a:rPr>
              <a:t>&gt;</a:t>
            </a:r>
          </a:p>
          <a:p>
            <a:pPr marL="457200" lvl="1" indent="0">
              <a:buNone/>
            </a:pPr>
            <a:r>
              <a:rPr lang="en-US" sz="1900" dirty="0" smtClean="0">
                <a:solidFill>
                  <a:srgbClr val="0070C0"/>
                </a:solidFill>
              </a:rPr>
              <a:t>&lt;link </a:t>
            </a:r>
            <a:r>
              <a:rPr lang="en-US" sz="1900" dirty="0" err="1" smtClean="0">
                <a:solidFill>
                  <a:srgbClr val="0070C0"/>
                </a:solidFill>
              </a:rPr>
              <a:t>href</a:t>
            </a:r>
            <a:r>
              <a:rPr lang="en-US" sz="1900" dirty="0" smtClean="0">
                <a:solidFill>
                  <a:srgbClr val="0070C0"/>
                </a:solidFill>
              </a:rPr>
              <a:t>=</a:t>
            </a:r>
            <a:r>
              <a:rPr lang="en-US" sz="1900" dirty="0">
                <a:solidFill>
                  <a:srgbClr val="0070C0"/>
                </a:solidFill>
              </a:rPr>
              <a:t>"https://www.w3schools.com"&gt;Visit W3Schools</a:t>
            </a:r>
            <a:r>
              <a:rPr lang="en-US" sz="1900" dirty="0" smtClean="0">
                <a:solidFill>
                  <a:srgbClr val="0070C0"/>
                </a:solidFill>
              </a:rPr>
              <a:t>&lt;/</a:t>
            </a:r>
            <a:r>
              <a:rPr lang="en-US" sz="1900" dirty="0" err="1" smtClean="0">
                <a:solidFill>
                  <a:srgbClr val="0070C0"/>
                </a:solidFill>
              </a:rPr>
              <a:t>href</a:t>
            </a:r>
            <a:r>
              <a:rPr lang="en-US" sz="1900" dirty="0" smtClean="0">
                <a:solidFill>
                  <a:srgbClr val="0070C0"/>
                </a:solidFill>
              </a:rPr>
              <a:t>&gt;</a:t>
            </a:r>
          </a:p>
          <a:p>
            <a:pPr marL="0" indent="0">
              <a:buNone/>
            </a:pPr>
            <a:r>
              <a:rPr lang="en-US" dirty="0" smtClean="0"/>
              <a:t>&lt;</a:t>
            </a:r>
            <a:r>
              <a:rPr lang="en-US" dirty="0"/>
              <a:t>a&gt; is for clickable links, while &lt;link&gt; is for linking resources like </a:t>
            </a:r>
            <a:r>
              <a:rPr lang="en-US" dirty="0" err="1"/>
              <a:t>stylesheets</a:t>
            </a:r>
            <a:endParaRPr lang="en-US" dirty="0" smtClean="0">
              <a:solidFill>
                <a:srgbClr val="0070C0"/>
              </a:solidFill>
            </a:endParaRPr>
          </a:p>
          <a:p>
            <a:pPr marL="0" indent="0">
              <a:buNone/>
            </a:pPr>
            <a:r>
              <a:rPr lang="en-US" b="1" dirty="0" smtClean="0"/>
              <a:t>The </a:t>
            </a:r>
            <a:r>
              <a:rPr lang="en-US" b="1" dirty="0" err="1" smtClean="0"/>
              <a:t>src</a:t>
            </a:r>
            <a:r>
              <a:rPr lang="en-US" b="1" dirty="0" smtClean="0"/>
              <a:t> Attribute:- </a:t>
            </a:r>
          </a:p>
          <a:p>
            <a:pPr marL="0" indent="0">
              <a:buNone/>
            </a:pPr>
            <a:r>
              <a:rPr lang="en-US" dirty="0"/>
              <a:t>The &lt;</a:t>
            </a:r>
            <a:r>
              <a:rPr lang="en-US" dirty="0" err="1"/>
              <a:t>img</a:t>
            </a:r>
            <a:r>
              <a:rPr lang="en-US" dirty="0"/>
              <a:t>&gt; tag is used to embed an image in an HTML page</a:t>
            </a:r>
            <a:r>
              <a:rPr lang="en-US" dirty="0" smtClean="0"/>
              <a:t>. The </a:t>
            </a:r>
            <a:r>
              <a:rPr lang="en-US" dirty="0" err="1" smtClean="0"/>
              <a:t>src</a:t>
            </a:r>
            <a:r>
              <a:rPr lang="en-US" dirty="0" smtClean="0"/>
              <a:t> attribute specifies </a:t>
            </a:r>
            <a:r>
              <a:rPr lang="en-US" dirty="0"/>
              <a:t>the path to the image to be displayed</a:t>
            </a:r>
            <a:r>
              <a:rPr lang="en-US" dirty="0" smtClean="0"/>
              <a:t>:</a:t>
            </a:r>
            <a:endParaRPr lang="en-GB" sz="1900" dirty="0" smtClean="0">
              <a:solidFill>
                <a:srgbClr val="0070C0"/>
              </a:solidFill>
            </a:endParaRPr>
          </a:p>
          <a:p>
            <a:pPr marL="457200" lvl="1" indent="0">
              <a:buNone/>
            </a:pPr>
            <a:r>
              <a:rPr lang="en-GB" sz="1900" dirty="0" smtClean="0">
                <a:solidFill>
                  <a:srgbClr val="0070C0"/>
                </a:solidFill>
              </a:rPr>
              <a:t>&lt;</a:t>
            </a:r>
            <a:r>
              <a:rPr lang="en-GB" sz="1900" dirty="0" err="1" smtClean="0">
                <a:solidFill>
                  <a:srgbClr val="0070C0"/>
                </a:solidFill>
              </a:rPr>
              <a:t>img</a:t>
            </a:r>
            <a:r>
              <a:rPr lang="en-GB" sz="1900" dirty="0" smtClean="0">
                <a:solidFill>
                  <a:srgbClr val="0070C0"/>
                </a:solidFill>
              </a:rPr>
              <a:t> </a:t>
            </a:r>
            <a:r>
              <a:rPr lang="en-GB" sz="1900" dirty="0" err="1" smtClean="0">
                <a:solidFill>
                  <a:srgbClr val="0070C0"/>
                </a:solidFill>
              </a:rPr>
              <a:t>src</a:t>
            </a:r>
            <a:r>
              <a:rPr lang="en-GB" sz="1900" dirty="0">
                <a:solidFill>
                  <a:srgbClr val="0070C0"/>
                </a:solidFill>
              </a:rPr>
              <a:t>="https://www.w3schools.com/images/img_girl.jpg</a:t>
            </a:r>
            <a:r>
              <a:rPr lang="en-GB" sz="1900" dirty="0" smtClean="0">
                <a:solidFill>
                  <a:srgbClr val="0070C0"/>
                </a:solidFill>
              </a:rPr>
              <a:t>".&gt;</a:t>
            </a:r>
            <a:endParaRPr lang="en-GB" dirty="0" smtClean="0">
              <a:solidFill>
                <a:srgbClr val="0070C0"/>
              </a:solidFill>
            </a:endParaRPr>
          </a:p>
          <a:p>
            <a:pPr marL="0" indent="0">
              <a:buNone/>
            </a:pPr>
            <a:r>
              <a:rPr lang="en-US" dirty="0"/>
              <a:t>The &lt;</a:t>
            </a:r>
            <a:r>
              <a:rPr lang="en-US" dirty="0" err="1"/>
              <a:t>img</a:t>
            </a:r>
            <a:r>
              <a:rPr lang="en-US" dirty="0"/>
              <a:t>&gt; tag should also contain the width and height attributes</a:t>
            </a:r>
            <a:r>
              <a:rPr lang="en-US" dirty="0" smtClean="0"/>
              <a:t>,</a:t>
            </a:r>
          </a:p>
          <a:p>
            <a:pPr marL="457200" lvl="1" indent="0">
              <a:buNone/>
            </a:pPr>
            <a:r>
              <a:rPr lang="en-GB" sz="1900" dirty="0">
                <a:solidFill>
                  <a:srgbClr val="0070C0"/>
                </a:solidFill>
              </a:rPr>
              <a:t>&lt;</a:t>
            </a:r>
            <a:r>
              <a:rPr lang="en-GB" sz="1900" dirty="0" err="1">
                <a:solidFill>
                  <a:srgbClr val="0070C0"/>
                </a:solidFill>
              </a:rPr>
              <a:t>img</a:t>
            </a:r>
            <a:r>
              <a:rPr lang="en-GB" sz="1900" dirty="0">
                <a:solidFill>
                  <a:srgbClr val="0070C0"/>
                </a:solidFill>
              </a:rPr>
              <a:t> </a:t>
            </a:r>
            <a:r>
              <a:rPr lang="en-GB" sz="1900" dirty="0" err="1">
                <a:solidFill>
                  <a:srgbClr val="0070C0"/>
                </a:solidFill>
              </a:rPr>
              <a:t>src</a:t>
            </a:r>
            <a:r>
              <a:rPr lang="en-GB" sz="1900" dirty="0">
                <a:solidFill>
                  <a:srgbClr val="0070C0"/>
                </a:solidFill>
              </a:rPr>
              <a:t>="img_girl.jpg" width="500" height="600</a:t>
            </a:r>
            <a:r>
              <a:rPr lang="en-GB" sz="1900" dirty="0" smtClean="0">
                <a:solidFill>
                  <a:srgbClr val="0070C0"/>
                </a:solidFill>
              </a:rPr>
              <a:t>"&gt;</a:t>
            </a:r>
          </a:p>
          <a:p>
            <a:pPr marL="0" indent="0">
              <a:buNone/>
            </a:pPr>
            <a:r>
              <a:rPr lang="en-US" dirty="0"/>
              <a:t>The required alt attribute for the &lt;</a:t>
            </a:r>
            <a:r>
              <a:rPr lang="en-US" dirty="0" err="1"/>
              <a:t>img</a:t>
            </a:r>
            <a:r>
              <a:rPr lang="en-US" dirty="0"/>
              <a:t>&gt; tag specifies an alternate text for an image</a:t>
            </a:r>
            <a:r>
              <a:rPr lang="en-US" dirty="0" smtClean="0"/>
              <a:t>,</a:t>
            </a:r>
          </a:p>
          <a:p>
            <a:pPr marL="457200" lvl="1" indent="0">
              <a:buNone/>
            </a:pPr>
            <a:r>
              <a:rPr lang="en-US" sz="1900" dirty="0">
                <a:solidFill>
                  <a:srgbClr val="0070C0"/>
                </a:solidFill>
              </a:rPr>
              <a:t>&lt;</a:t>
            </a:r>
            <a:r>
              <a:rPr lang="en-US" sz="1900" dirty="0" err="1">
                <a:solidFill>
                  <a:srgbClr val="0070C0"/>
                </a:solidFill>
              </a:rPr>
              <a:t>img</a:t>
            </a:r>
            <a:r>
              <a:rPr lang="en-US" sz="1900" dirty="0">
                <a:solidFill>
                  <a:srgbClr val="0070C0"/>
                </a:solidFill>
              </a:rPr>
              <a:t> </a:t>
            </a:r>
            <a:r>
              <a:rPr lang="en-US" sz="1900" dirty="0" err="1">
                <a:solidFill>
                  <a:srgbClr val="0070C0"/>
                </a:solidFill>
              </a:rPr>
              <a:t>src</a:t>
            </a:r>
            <a:r>
              <a:rPr lang="en-US" sz="1900" dirty="0">
                <a:solidFill>
                  <a:srgbClr val="0070C0"/>
                </a:solidFill>
              </a:rPr>
              <a:t>="img_girl.jpg" alt="Girl with a jacket"&gt;</a:t>
            </a:r>
            <a:endParaRPr lang="en-GB" sz="1900" dirty="0">
              <a:solidFill>
                <a:srgbClr val="0070C0"/>
              </a:solidFill>
            </a:endParaRPr>
          </a:p>
        </p:txBody>
      </p:sp>
    </p:spTree>
    <p:extLst>
      <p:ext uri="{BB962C8B-B14F-4D97-AF65-F5344CB8AC3E}">
        <p14:creationId xmlns:p14="http://schemas.microsoft.com/office/powerpoint/2010/main" val="12760188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a:t>
            </a:r>
            <a:endParaRPr lang="en-GB" dirty="0"/>
          </a:p>
        </p:txBody>
      </p:sp>
      <p:sp>
        <p:nvSpPr>
          <p:cNvPr id="3" name="Content Placeholder 2"/>
          <p:cNvSpPr>
            <a:spLocks noGrp="1"/>
          </p:cNvSpPr>
          <p:nvPr>
            <p:ph idx="1"/>
          </p:nvPr>
        </p:nvSpPr>
        <p:spPr/>
        <p:txBody>
          <a:bodyPr/>
          <a:lstStyle/>
          <a:p>
            <a:pPr marL="0" indent="0">
              <a:buNone/>
            </a:pPr>
            <a:r>
              <a:rPr lang="en-US" dirty="0"/>
              <a:t>The width, height, and style attributes are all valid in </a:t>
            </a:r>
            <a:r>
              <a:rPr lang="en-US" dirty="0" smtClean="0"/>
              <a:t>HTML. However</a:t>
            </a:r>
            <a:r>
              <a:rPr lang="en-US" dirty="0"/>
              <a:t>, we suggest using the style attribute. It prevents styles sheets from changing the size of images:</a:t>
            </a:r>
          </a:p>
          <a:p>
            <a:pPr marL="457200" lvl="1" indent="0">
              <a:buNone/>
            </a:pPr>
            <a:r>
              <a:rPr lang="en-GB" dirty="0">
                <a:solidFill>
                  <a:srgbClr val="0070C0"/>
                </a:solidFill>
              </a:rPr>
              <a:t>&lt;</a:t>
            </a:r>
            <a:r>
              <a:rPr lang="en-GB" dirty="0" err="1">
                <a:solidFill>
                  <a:srgbClr val="0070C0"/>
                </a:solidFill>
              </a:rPr>
              <a:t>img</a:t>
            </a:r>
            <a:r>
              <a:rPr lang="en-GB" dirty="0">
                <a:solidFill>
                  <a:srgbClr val="0070C0"/>
                </a:solidFill>
              </a:rPr>
              <a:t> </a:t>
            </a:r>
            <a:r>
              <a:rPr lang="en-GB" dirty="0" err="1">
                <a:solidFill>
                  <a:srgbClr val="0070C0"/>
                </a:solidFill>
              </a:rPr>
              <a:t>src</a:t>
            </a:r>
            <a:r>
              <a:rPr lang="en-GB" dirty="0">
                <a:solidFill>
                  <a:srgbClr val="0070C0"/>
                </a:solidFill>
              </a:rPr>
              <a:t>="html5.gif" alt="HTML5 Icon" width="128" height="128"&gt;</a:t>
            </a:r>
            <a:br>
              <a:rPr lang="en-GB" dirty="0">
                <a:solidFill>
                  <a:srgbClr val="0070C0"/>
                </a:solidFill>
              </a:rPr>
            </a:br>
            <a:r>
              <a:rPr lang="en-GB" dirty="0" smtClean="0"/>
              <a:t>Or</a:t>
            </a:r>
            <a:r>
              <a:rPr lang="en-GB" dirty="0"/>
              <a:t/>
            </a:r>
            <a:br>
              <a:rPr lang="en-GB" dirty="0"/>
            </a:br>
            <a:r>
              <a:rPr lang="en-GB" dirty="0">
                <a:solidFill>
                  <a:srgbClr val="0070C0"/>
                </a:solidFill>
              </a:rPr>
              <a:t>&lt;</a:t>
            </a:r>
            <a:r>
              <a:rPr lang="en-GB" dirty="0" err="1">
                <a:solidFill>
                  <a:srgbClr val="0070C0"/>
                </a:solidFill>
              </a:rPr>
              <a:t>img</a:t>
            </a:r>
            <a:r>
              <a:rPr lang="en-GB" dirty="0">
                <a:solidFill>
                  <a:srgbClr val="0070C0"/>
                </a:solidFill>
              </a:rPr>
              <a:t> </a:t>
            </a:r>
            <a:r>
              <a:rPr lang="en-GB" dirty="0" err="1">
                <a:solidFill>
                  <a:srgbClr val="0070C0"/>
                </a:solidFill>
              </a:rPr>
              <a:t>src</a:t>
            </a:r>
            <a:r>
              <a:rPr lang="en-GB" dirty="0">
                <a:solidFill>
                  <a:srgbClr val="0070C0"/>
                </a:solidFill>
              </a:rPr>
              <a:t>="html5.gif" alt="</a:t>
            </a:r>
            <a:r>
              <a:rPr lang="en-GB" dirty="0" smtClean="0">
                <a:solidFill>
                  <a:srgbClr val="0070C0"/>
                </a:solidFill>
              </a:rPr>
              <a:t>HTML5 Icon” style=“width:128px; height:128px;”&gt;</a:t>
            </a:r>
          </a:p>
          <a:p>
            <a:pPr marL="0" indent="0">
              <a:buNone/>
            </a:pP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38453874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 Attributes </a:t>
            </a:r>
            <a:endParaRPr lang="en-GB" dirty="0"/>
          </a:p>
        </p:txBody>
      </p:sp>
      <p:sp>
        <p:nvSpPr>
          <p:cNvPr id="3" name="Content Placeholder 2"/>
          <p:cNvSpPr>
            <a:spLocks noGrp="1"/>
          </p:cNvSpPr>
          <p:nvPr>
            <p:ph idx="1"/>
          </p:nvPr>
        </p:nvSpPr>
        <p:spPr>
          <a:xfrm>
            <a:off x="597876" y="1825624"/>
            <a:ext cx="11312769" cy="4856529"/>
          </a:xfrm>
        </p:spPr>
        <p:txBody>
          <a:bodyPr>
            <a:normAutofit fontScale="92500" lnSpcReduction="10000"/>
          </a:bodyPr>
          <a:lstStyle/>
          <a:p>
            <a:pPr marL="0" indent="0">
              <a:buNone/>
            </a:pPr>
            <a:r>
              <a:rPr lang="en-US" dirty="0"/>
              <a:t>Global attributes in HTML can be applied to any HTML element. Here are some of the most commonly used global attributes:</a:t>
            </a:r>
          </a:p>
          <a:p>
            <a:r>
              <a:rPr lang="en-US" b="1" dirty="0"/>
              <a:t>class</a:t>
            </a:r>
            <a:r>
              <a:rPr lang="en-US" dirty="0"/>
              <a:t>: Specifies one or more class names for styling with CSS.</a:t>
            </a:r>
          </a:p>
          <a:p>
            <a:r>
              <a:rPr lang="en-US" b="1" dirty="0"/>
              <a:t>id</a:t>
            </a:r>
            <a:r>
              <a:rPr lang="en-US" dirty="0"/>
              <a:t>: Provides a unique identifier for the element.</a:t>
            </a:r>
          </a:p>
          <a:p>
            <a:r>
              <a:rPr lang="en-US" b="1" dirty="0"/>
              <a:t>style</a:t>
            </a:r>
            <a:r>
              <a:rPr lang="en-US" dirty="0"/>
              <a:t>: Contains inline CSS styles for the element.</a:t>
            </a:r>
          </a:p>
          <a:p>
            <a:r>
              <a:rPr lang="en-US" b="1" dirty="0"/>
              <a:t>title</a:t>
            </a:r>
            <a:r>
              <a:rPr lang="en-US" dirty="0"/>
              <a:t>: Offers additional information about the element, typically displayed as a tooltip.</a:t>
            </a:r>
          </a:p>
          <a:p>
            <a:r>
              <a:rPr lang="en-US" b="1" dirty="0" err="1"/>
              <a:t>lang</a:t>
            </a:r>
            <a:r>
              <a:rPr lang="en-US" dirty="0"/>
              <a:t>: Specifies the language of the element's content (e.g., </a:t>
            </a:r>
            <a:r>
              <a:rPr lang="en-US" dirty="0" err="1"/>
              <a:t>lang</a:t>
            </a:r>
            <a:r>
              <a:rPr lang="en-US" dirty="0"/>
              <a:t>="en" for English).</a:t>
            </a:r>
          </a:p>
          <a:p>
            <a:r>
              <a:rPr lang="en-US" b="1" dirty="0"/>
              <a:t>data-*</a:t>
            </a:r>
            <a:r>
              <a:rPr lang="en-US" dirty="0"/>
              <a:t>: Allows you to store custom data attributes (e.g., data-user-id="123").</a:t>
            </a:r>
          </a:p>
          <a:p>
            <a:r>
              <a:rPr lang="en-US" b="1" dirty="0" smtClean="0"/>
              <a:t>hidden</a:t>
            </a:r>
            <a:r>
              <a:rPr lang="en-US" dirty="0"/>
              <a:t>: A Boolean attribute that indicates that the element is not yet, or is no longer, relevant (effectively hides it).</a:t>
            </a:r>
          </a:p>
          <a:p>
            <a:pPr marL="0" indent="0">
              <a:buNone/>
            </a:pPr>
            <a:endParaRPr lang="en-GB" dirty="0"/>
          </a:p>
        </p:txBody>
      </p:sp>
    </p:spTree>
    <p:extLst>
      <p:ext uri="{BB962C8B-B14F-4D97-AF65-F5344CB8AC3E}">
        <p14:creationId xmlns:p14="http://schemas.microsoft.com/office/powerpoint/2010/main" val="22124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6816" y="2686294"/>
            <a:ext cx="10515600" cy="1325563"/>
          </a:xfrm>
        </p:spPr>
        <p:txBody>
          <a:bodyPr/>
          <a:lstStyle/>
          <a:p>
            <a:pPr algn="ctr"/>
            <a:r>
              <a:rPr lang="en-US" dirty="0" smtClean="0"/>
              <a:t>HTML Tags</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805775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HTML Tags</a:t>
            </a:r>
            <a:endParaRPr lang="en-GB" dirty="0"/>
          </a:p>
        </p:txBody>
      </p:sp>
      <p:sp>
        <p:nvSpPr>
          <p:cNvPr id="3" name="Content Placeholder 2"/>
          <p:cNvSpPr>
            <a:spLocks noGrp="1"/>
          </p:cNvSpPr>
          <p:nvPr>
            <p:ph idx="1"/>
          </p:nvPr>
        </p:nvSpPr>
        <p:spPr/>
        <p:txBody>
          <a:bodyPr/>
          <a:lstStyle/>
          <a:p>
            <a:pPr marL="0" indent="0">
              <a:buNone/>
            </a:pPr>
            <a:r>
              <a:rPr lang="en-US" dirty="0"/>
              <a:t>HTML uses tags to define w</a:t>
            </a:r>
            <a:r>
              <a:rPr lang="en-US" dirty="0" smtClean="0"/>
              <a:t>eb page structure. </a:t>
            </a:r>
            <a:r>
              <a:rPr lang="en-US" dirty="0"/>
              <a:t>Tags are enclosed in angle brackets, like &lt;</a:t>
            </a:r>
            <a:r>
              <a:rPr lang="en-US" dirty="0" err="1"/>
              <a:t>tagname</a:t>
            </a:r>
            <a:r>
              <a:rPr lang="en-US" dirty="0"/>
              <a:t>&gt;. Tags usually come in pairs, with an opening tag and a closing tag. The closing tag has a forward slash before the tag name, like &lt;/</a:t>
            </a:r>
            <a:r>
              <a:rPr lang="en-US" dirty="0" err="1"/>
              <a:t>tagname</a:t>
            </a:r>
            <a:r>
              <a:rPr lang="en-US" dirty="0" smtClean="0"/>
              <a:t>&gt;.</a:t>
            </a:r>
          </a:p>
          <a:p>
            <a:pPr marL="0" indent="0" algn="ctr">
              <a:buNone/>
            </a:pPr>
            <a:r>
              <a:rPr lang="en-US" i="1" dirty="0">
                <a:solidFill>
                  <a:srgbClr val="FF0000"/>
                </a:solidFill>
              </a:rPr>
              <a:t>&lt;</a:t>
            </a:r>
            <a:r>
              <a:rPr lang="en-US" i="1" dirty="0" err="1">
                <a:solidFill>
                  <a:srgbClr val="FF0000"/>
                </a:solidFill>
              </a:rPr>
              <a:t>tagname</a:t>
            </a:r>
            <a:r>
              <a:rPr lang="en-US" i="1" dirty="0">
                <a:solidFill>
                  <a:srgbClr val="FF0000"/>
                </a:solidFill>
              </a:rPr>
              <a:t>&gt;</a:t>
            </a:r>
            <a:r>
              <a:rPr lang="en-US" i="1" dirty="0"/>
              <a:t>This is an example of a tag.</a:t>
            </a:r>
            <a:r>
              <a:rPr lang="en-US" i="1" dirty="0">
                <a:solidFill>
                  <a:srgbClr val="FF0000"/>
                </a:solidFill>
              </a:rPr>
              <a:t>&lt;/</a:t>
            </a:r>
            <a:r>
              <a:rPr lang="en-US" i="1" dirty="0" err="1">
                <a:solidFill>
                  <a:srgbClr val="FF0000"/>
                </a:solidFill>
              </a:rPr>
              <a:t>tagname</a:t>
            </a:r>
            <a:r>
              <a:rPr lang="en-US" i="1" dirty="0" smtClean="0">
                <a:solidFill>
                  <a:srgbClr val="FF0000"/>
                </a:solidFill>
              </a:rPr>
              <a:t>&gt;</a:t>
            </a:r>
          </a:p>
          <a:p>
            <a:pPr marL="0" indent="0">
              <a:buNone/>
            </a:pPr>
            <a:endParaRPr lang="en-US" dirty="0" smtClean="0"/>
          </a:p>
          <a:p>
            <a:pPr marL="0" indent="0">
              <a:buNone/>
            </a:pP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10368520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Text Tags</a:t>
            </a:r>
            <a:endParaRPr lang="en-GB" dirty="0"/>
          </a:p>
        </p:txBody>
      </p:sp>
      <p:sp>
        <p:nvSpPr>
          <p:cNvPr id="3" name="Content Placeholder 2"/>
          <p:cNvSpPr>
            <a:spLocks noGrp="1"/>
          </p:cNvSpPr>
          <p:nvPr>
            <p:ph idx="1"/>
          </p:nvPr>
        </p:nvSpPr>
        <p:spPr/>
        <p:txBody>
          <a:bodyPr>
            <a:normAutofit/>
          </a:bodyPr>
          <a:lstStyle/>
          <a:p>
            <a:pPr marL="0" indent="0">
              <a:buNone/>
            </a:pPr>
            <a:r>
              <a:rPr lang="en-US" dirty="0" smtClean="0"/>
              <a:t>In </a:t>
            </a:r>
            <a:r>
              <a:rPr lang="en-US" dirty="0"/>
              <a:t>HTML, text tags are used to structure and present text content on a webpage</a:t>
            </a:r>
            <a:r>
              <a:rPr lang="en-US" dirty="0" smtClean="0"/>
              <a:t>. Here are some basic Text Tags</a:t>
            </a:r>
          </a:p>
          <a:p>
            <a:r>
              <a:rPr lang="en-US" dirty="0" smtClean="0"/>
              <a:t>&lt;</a:t>
            </a:r>
            <a:r>
              <a:rPr lang="en-US" dirty="0"/>
              <a:t>p&gt;: Paragraph.</a:t>
            </a:r>
          </a:p>
          <a:p>
            <a:r>
              <a:rPr lang="en-US" dirty="0"/>
              <a:t>&lt;h1&gt;, &lt;h2&gt;, &lt;h3&gt;, &lt;h4&gt;, &lt;h5&gt;, &lt;h6&gt;: Headings.</a:t>
            </a:r>
          </a:p>
          <a:p>
            <a:r>
              <a:rPr lang="en-US" dirty="0"/>
              <a:t>&lt;strong&gt;: Strong emphasis (typically bold).</a:t>
            </a:r>
          </a:p>
          <a:p>
            <a:r>
              <a:rPr lang="en-US" dirty="0"/>
              <a:t>&lt;</a:t>
            </a:r>
            <a:r>
              <a:rPr lang="en-US" dirty="0" err="1"/>
              <a:t>em</a:t>
            </a:r>
            <a:r>
              <a:rPr lang="en-US" dirty="0"/>
              <a:t>&gt;: Emphasis (typically italic).</a:t>
            </a:r>
          </a:p>
          <a:p>
            <a:r>
              <a:rPr lang="en-US" dirty="0"/>
              <a:t>&lt;</a:t>
            </a:r>
            <a:r>
              <a:rPr lang="en-US" dirty="0" err="1"/>
              <a:t>br</a:t>
            </a:r>
            <a:r>
              <a:rPr lang="en-US" dirty="0"/>
              <a:t>&gt;: Line break.</a:t>
            </a:r>
          </a:p>
          <a:p>
            <a:r>
              <a:rPr lang="en-US" dirty="0"/>
              <a:t>&lt;</a:t>
            </a:r>
            <a:r>
              <a:rPr lang="en-US" dirty="0" err="1"/>
              <a:t>hr</a:t>
            </a:r>
            <a:r>
              <a:rPr lang="en-US" dirty="0"/>
              <a:t>&gt;: Horizontal </a:t>
            </a:r>
            <a:r>
              <a:rPr lang="en-US" dirty="0" smtClean="0"/>
              <a:t>Line.</a:t>
            </a:r>
            <a:endParaRPr lang="en-US" dirty="0"/>
          </a:p>
          <a:p>
            <a:pPr marL="0" indent="0">
              <a:buNone/>
            </a:pPr>
            <a:endParaRPr lang="en-GB" b="1" dirty="0"/>
          </a:p>
          <a:p>
            <a:pPr marL="0" indent="0">
              <a:buNone/>
            </a:pP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37063325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HTML Tags</a:t>
            </a:r>
            <a:endParaRPr lang="en-GB" dirty="0"/>
          </a:p>
        </p:txBody>
      </p:sp>
      <p:sp>
        <p:nvSpPr>
          <p:cNvPr id="3" name="Content Placeholder 2"/>
          <p:cNvSpPr>
            <a:spLocks noGrp="1"/>
          </p:cNvSpPr>
          <p:nvPr>
            <p:ph sz="half" idx="1"/>
          </p:nvPr>
        </p:nvSpPr>
        <p:spPr>
          <a:xfrm>
            <a:off x="838200" y="1582614"/>
            <a:ext cx="5181600" cy="4900247"/>
          </a:xfrm>
        </p:spPr>
        <p:txBody>
          <a:bodyPr>
            <a:normAutofit fontScale="77500" lnSpcReduction="20000"/>
          </a:bodyPr>
          <a:lstStyle/>
          <a:p>
            <a:pPr marL="0" indent="0">
              <a:buNone/>
            </a:pPr>
            <a:r>
              <a:rPr lang="en-US" b="1" dirty="0" smtClean="0"/>
              <a:t>List Tags</a:t>
            </a:r>
          </a:p>
          <a:p>
            <a:r>
              <a:rPr lang="en-GB" dirty="0"/>
              <a:t>&lt;</a:t>
            </a:r>
            <a:r>
              <a:rPr lang="en-GB" dirty="0" err="1"/>
              <a:t>ul</a:t>
            </a:r>
            <a:r>
              <a:rPr lang="en-GB" dirty="0"/>
              <a:t>&gt;: Unordered list.</a:t>
            </a:r>
          </a:p>
          <a:p>
            <a:r>
              <a:rPr lang="en-GB" dirty="0"/>
              <a:t>&lt;</a:t>
            </a:r>
            <a:r>
              <a:rPr lang="en-GB" dirty="0" err="1"/>
              <a:t>ol</a:t>
            </a:r>
            <a:r>
              <a:rPr lang="en-GB" dirty="0"/>
              <a:t>&gt;: Ordered list.</a:t>
            </a:r>
          </a:p>
          <a:p>
            <a:r>
              <a:rPr lang="en-GB" dirty="0"/>
              <a:t>&lt;li&gt;: List item</a:t>
            </a:r>
            <a:r>
              <a:rPr lang="en-GB" dirty="0" smtClean="0"/>
              <a:t>.</a:t>
            </a:r>
          </a:p>
          <a:p>
            <a:pPr marL="0" indent="0">
              <a:buNone/>
            </a:pPr>
            <a:endParaRPr lang="en-GB" dirty="0" smtClean="0"/>
          </a:p>
          <a:p>
            <a:pPr marL="0" indent="0">
              <a:buNone/>
            </a:pPr>
            <a:r>
              <a:rPr lang="en-US" dirty="0" smtClean="0"/>
              <a:t>T</a:t>
            </a:r>
            <a:r>
              <a:rPr lang="en-US" b="1" dirty="0" smtClean="0"/>
              <a:t>able Tags</a:t>
            </a:r>
          </a:p>
          <a:p>
            <a:r>
              <a:rPr lang="en-US" dirty="0" smtClean="0"/>
              <a:t>&lt;</a:t>
            </a:r>
            <a:r>
              <a:rPr lang="en-US" dirty="0"/>
              <a:t>table&gt;: Table.</a:t>
            </a:r>
          </a:p>
          <a:p>
            <a:r>
              <a:rPr lang="en-US" dirty="0"/>
              <a:t>&lt;</a:t>
            </a:r>
            <a:r>
              <a:rPr lang="en-US" dirty="0" err="1"/>
              <a:t>tr</a:t>
            </a:r>
            <a:r>
              <a:rPr lang="en-US" dirty="0"/>
              <a:t>&gt;: Table row.</a:t>
            </a:r>
          </a:p>
          <a:p>
            <a:r>
              <a:rPr lang="en-US" dirty="0"/>
              <a:t>&lt;td&gt;: Table data cell.</a:t>
            </a:r>
          </a:p>
          <a:p>
            <a:r>
              <a:rPr lang="en-US" dirty="0"/>
              <a:t>&lt;</a:t>
            </a:r>
            <a:r>
              <a:rPr lang="en-US" dirty="0" err="1"/>
              <a:t>th</a:t>
            </a:r>
            <a:r>
              <a:rPr lang="en-US" dirty="0"/>
              <a:t>&gt;: Table header cell.</a:t>
            </a:r>
          </a:p>
          <a:p>
            <a:r>
              <a:rPr lang="en-US" dirty="0"/>
              <a:t>&lt;</a:t>
            </a:r>
            <a:r>
              <a:rPr lang="en-US" dirty="0" err="1"/>
              <a:t>thead</a:t>
            </a:r>
            <a:r>
              <a:rPr lang="en-US" dirty="0"/>
              <a:t>&gt;: Table header group.</a:t>
            </a:r>
          </a:p>
          <a:p>
            <a:r>
              <a:rPr lang="en-US" dirty="0"/>
              <a:t>&lt;</a:t>
            </a:r>
            <a:r>
              <a:rPr lang="en-US" dirty="0" err="1"/>
              <a:t>tbody</a:t>
            </a:r>
            <a:r>
              <a:rPr lang="en-US" dirty="0"/>
              <a:t>&gt;: Table body group.</a:t>
            </a:r>
          </a:p>
          <a:p>
            <a:r>
              <a:rPr lang="en-US" dirty="0"/>
              <a:t>&lt;</a:t>
            </a:r>
            <a:r>
              <a:rPr lang="en-US" dirty="0" err="1"/>
              <a:t>tfoot</a:t>
            </a:r>
            <a:r>
              <a:rPr lang="en-US" dirty="0"/>
              <a:t>&gt;: Table footer group.</a:t>
            </a:r>
          </a:p>
          <a:p>
            <a:endParaRPr lang="en-GB" dirty="0"/>
          </a:p>
        </p:txBody>
      </p:sp>
      <p:sp>
        <p:nvSpPr>
          <p:cNvPr id="5" name="Content Placeholder 4"/>
          <p:cNvSpPr>
            <a:spLocks noGrp="1"/>
          </p:cNvSpPr>
          <p:nvPr>
            <p:ph sz="half" idx="2"/>
          </p:nvPr>
        </p:nvSpPr>
        <p:spPr>
          <a:xfrm>
            <a:off x="6172200" y="1582614"/>
            <a:ext cx="5181600" cy="4900247"/>
          </a:xfrm>
        </p:spPr>
        <p:txBody>
          <a:bodyPr>
            <a:normAutofit fontScale="77500" lnSpcReduction="20000"/>
          </a:bodyPr>
          <a:lstStyle/>
          <a:p>
            <a:pPr marL="0" indent="0">
              <a:buNone/>
            </a:pPr>
            <a:r>
              <a:rPr lang="en-GB" b="1" dirty="0"/>
              <a:t>Hyperlink and Media Tags</a:t>
            </a:r>
          </a:p>
          <a:p>
            <a:r>
              <a:rPr lang="en-GB" dirty="0"/>
              <a:t>&lt;a&gt;: Anchor (used for links).</a:t>
            </a:r>
          </a:p>
          <a:p>
            <a:r>
              <a:rPr lang="en-GB" dirty="0"/>
              <a:t>&lt;</a:t>
            </a:r>
            <a:r>
              <a:rPr lang="en-GB" dirty="0" err="1"/>
              <a:t>img</a:t>
            </a:r>
            <a:r>
              <a:rPr lang="en-GB" dirty="0"/>
              <a:t>&gt;: Image.</a:t>
            </a:r>
          </a:p>
          <a:p>
            <a:r>
              <a:rPr lang="en-GB" dirty="0"/>
              <a:t>&lt;audio&gt;: Audio content.</a:t>
            </a:r>
          </a:p>
          <a:p>
            <a:r>
              <a:rPr lang="en-GB" dirty="0"/>
              <a:t>&lt;video&gt;: Video content</a:t>
            </a:r>
            <a:r>
              <a:rPr lang="en-GB" dirty="0" smtClean="0"/>
              <a:t>.</a:t>
            </a:r>
          </a:p>
          <a:p>
            <a:endParaRPr lang="en-GB" dirty="0" smtClean="0"/>
          </a:p>
          <a:p>
            <a:pPr marL="0" indent="0">
              <a:buNone/>
            </a:pPr>
            <a:r>
              <a:rPr lang="en-GB" b="1" dirty="0"/>
              <a:t>Semantic Tags</a:t>
            </a:r>
          </a:p>
          <a:p>
            <a:r>
              <a:rPr lang="en-GB" dirty="0"/>
              <a:t>&lt;header&gt;: Header section.</a:t>
            </a:r>
          </a:p>
          <a:p>
            <a:r>
              <a:rPr lang="en-GB" dirty="0"/>
              <a:t>&lt;footer&gt;: Footer section.</a:t>
            </a:r>
          </a:p>
          <a:p>
            <a:r>
              <a:rPr lang="en-GB" dirty="0"/>
              <a:t>&lt;article&gt;: Article.</a:t>
            </a:r>
          </a:p>
          <a:p>
            <a:r>
              <a:rPr lang="en-GB" dirty="0"/>
              <a:t>&lt;section&gt;: Section.</a:t>
            </a:r>
          </a:p>
          <a:p>
            <a:r>
              <a:rPr lang="en-GB" dirty="0"/>
              <a:t>&lt;</a:t>
            </a:r>
            <a:r>
              <a:rPr lang="en-GB" dirty="0" err="1"/>
              <a:t>nav</a:t>
            </a:r>
            <a:r>
              <a:rPr lang="en-GB" dirty="0"/>
              <a:t>&gt;: Navigation.</a:t>
            </a:r>
          </a:p>
          <a:p>
            <a:r>
              <a:rPr lang="en-GB" dirty="0"/>
              <a:t>&lt;aside&gt;: Sidebar content.</a:t>
            </a:r>
          </a:p>
          <a:p>
            <a:pPr marL="0" indent="0">
              <a:buNone/>
            </a:pPr>
            <a:endParaRPr lang="en-GB" dirty="0"/>
          </a:p>
          <a:p>
            <a:pPr marL="0" indent="0">
              <a:buNone/>
            </a:pP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373151316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Empty Tags (Elements)</a:t>
            </a:r>
            <a:endParaRPr lang="en-GB" dirty="0"/>
          </a:p>
        </p:txBody>
      </p:sp>
      <p:sp>
        <p:nvSpPr>
          <p:cNvPr id="3" name="Content Placeholder 2"/>
          <p:cNvSpPr>
            <a:spLocks noGrp="1"/>
          </p:cNvSpPr>
          <p:nvPr>
            <p:ph idx="1"/>
          </p:nvPr>
        </p:nvSpPr>
        <p:spPr/>
        <p:txBody>
          <a:bodyPr>
            <a:normAutofit lnSpcReduction="10000"/>
          </a:bodyPr>
          <a:lstStyle/>
          <a:p>
            <a:pPr marL="0" indent="0">
              <a:buNone/>
            </a:pPr>
            <a:r>
              <a:rPr lang="en-US" dirty="0" smtClean="0"/>
              <a:t>Empty Elements:- </a:t>
            </a:r>
            <a:r>
              <a:rPr lang="en-GB" dirty="0"/>
              <a:t>HTML elements </a:t>
            </a:r>
            <a:r>
              <a:rPr lang="en-GB" dirty="0" smtClean="0"/>
              <a:t>with</a:t>
            </a:r>
            <a:r>
              <a:rPr lang="en-GB" dirty="0"/>
              <a:t>out a closing </a:t>
            </a:r>
            <a:r>
              <a:rPr lang="en-GB" dirty="0" smtClean="0"/>
              <a:t>tag are known as empty elements like 	</a:t>
            </a:r>
          </a:p>
          <a:p>
            <a:pPr marL="0" indent="0">
              <a:buNone/>
            </a:pPr>
            <a:r>
              <a:rPr lang="en-GB" dirty="0"/>
              <a:t>&lt;</a:t>
            </a:r>
            <a:r>
              <a:rPr lang="en-GB" dirty="0" err="1"/>
              <a:t>br</a:t>
            </a:r>
            <a:r>
              <a:rPr lang="en-GB" dirty="0" smtClean="0"/>
              <a:t>&gt; Use to break line</a:t>
            </a:r>
          </a:p>
          <a:p>
            <a:pPr marL="0" indent="0">
              <a:buNone/>
            </a:pPr>
            <a:r>
              <a:rPr lang="en-US" dirty="0" smtClean="0"/>
              <a:t>&lt;</a:t>
            </a:r>
            <a:r>
              <a:rPr lang="en-US" dirty="0" err="1" smtClean="0"/>
              <a:t>hr</a:t>
            </a:r>
            <a:r>
              <a:rPr lang="en-US" dirty="0" smtClean="0"/>
              <a:t>&gt;</a:t>
            </a:r>
          </a:p>
          <a:p>
            <a:pPr marL="0" indent="0">
              <a:buNone/>
            </a:pPr>
            <a:r>
              <a:rPr lang="en-US" dirty="0" smtClean="0"/>
              <a:t>&lt;</a:t>
            </a:r>
            <a:r>
              <a:rPr lang="en-US" dirty="0" err="1" smtClean="0"/>
              <a:t>img</a:t>
            </a:r>
            <a:r>
              <a:rPr lang="en-US" dirty="0" smtClean="0"/>
              <a:t>&gt;</a:t>
            </a:r>
          </a:p>
          <a:p>
            <a:pPr marL="0" indent="0">
              <a:buNone/>
            </a:pPr>
            <a:r>
              <a:rPr lang="en-US" dirty="0" smtClean="0"/>
              <a:t>&lt;input&gt;</a:t>
            </a:r>
          </a:p>
          <a:p>
            <a:pPr marL="0" indent="0">
              <a:buNone/>
            </a:pPr>
            <a:r>
              <a:rPr lang="en-US" dirty="0" smtClean="0"/>
              <a:t>&lt;link&gt;</a:t>
            </a:r>
          </a:p>
          <a:p>
            <a:pPr marL="0" indent="0">
              <a:buNone/>
            </a:pPr>
            <a:r>
              <a:rPr lang="en-US" dirty="0" smtClean="0"/>
              <a:t>&lt;col&gt;</a:t>
            </a:r>
          </a:p>
          <a:p>
            <a:pPr marL="0" indent="0">
              <a:buNone/>
            </a:pPr>
            <a:r>
              <a:rPr lang="en-US" dirty="0" smtClean="0"/>
              <a:t>&lt;meta&gt;</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17742860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smtClean="0"/>
              <a:t>IT Industry-Academia Bridge Program</a:t>
            </a:r>
            <a:endParaRPr lang="en-US"/>
          </a:p>
        </p:txBody>
      </p:sp>
      <p:sp>
        <p:nvSpPr>
          <p:cNvPr id="11" name="Title 1"/>
          <p:cNvSpPr txBox="1">
            <a:spLocks/>
          </p:cNvSpPr>
          <p:nvPr/>
        </p:nvSpPr>
        <p:spPr>
          <a:xfrm>
            <a:off x="498231" y="2967648"/>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smtClean="0"/>
              <a:t>HTML List Tags</a:t>
            </a:r>
            <a:endParaRPr lang="en-GB" dirty="0"/>
          </a:p>
        </p:txBody>
      </p:sp>
    </p:spTree>
    <p:extLst>
      <p:ext uri="{BB962C8B-B14F-4D97-AF65-F5344CB8AC3E}">
        <p14:creationId xmlns:p14="http://schemas.microsoft.com/office/powerpoint/2010/main" val="19081691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HTML Lists</a:t>
            </a:r>
            <a:endParaRPr lang="en-GB" dirty="0"/>
          </a:p>
        </p:txBody>
      </p:sp>
      <p:sp>
        <p:nvSpPr>
          <p:cNvPr id="7" name="Content Placeholder 6"/>
          <p:cNvSpPr>
            <a:spLocks noGrp="1"/>
          </p:cNvSpPr>
          <p:nvPr>
            <p:ph idx="1"/>
          </p:nvPr>
        </p:nvSpPr>
        <p:spPr>
          <a:xfrm>
            <a:off x="838200" y="1825624"/>
            <a:ext cx="10515600" cy="4797913"/>
          </a:xfrm>
        </p:spPr>
        <p:txBody>
          <a:bodyPr>
            <a:normAutofit fontScale="92500" lnSpcReduction="10000"/>
          </a:bodyPr>
          <a:lstStyle/>
          <a:p>
            <a:pPr marL="0" indent="0">
              <a:buNone/>
            </a:pPr>
            <a:r>
              <a:rPr lang="en-US" dirty="0"/>
              <a:t>HTML lists allow web developers to group a set of related items in lists</a:t>
            </a:r>
            <a:r>
              <a:rPr lang="en-US" dirty="0" smtClean="0"/>
              <a:t>. Lists can be</a:t>
            </a:r>
          </a:p>
          <a:p>
            <a:r>
              <a:rPr lang="en-US" dirty="0"/>
              <a:t>An unordered list starts with the &lt;</a:t>
            </a:r>
            <a:r>
              <a:rPr lang="en-US" dirty="0" err="1"/>
              <a:t>ul</a:t>
            </a:r>
            <a:r>
              <a:rPr lang="en-US" dirty="0"/>
              <a:t>&gt; tag. Each list item starts with the &lt;li&gt; tag</a:t>
            </a:r>
            <a:r>
              <a:rPr lang="en-US" dirty="0" smtClean="0"/>
              <a:t>.</a:t>
            </a:r>
          </a:p>
          <a:p>
            <a:pPr marL="914400" lvl="2" indent="0">
              <a:buNone/>
            </a:pPr>
            <a:r>
              <a:rPr lang="it-IT" dirty="0"/>
              <a:t>&lt;ul&gt;</a:t>
            </a:r>
            <a:br>
              <a:rPr lang="it-IT" dirty="0"/>
            </a:br>
            <a:r>
              <a:rPr lang="it-IT" dirty="0"/>
              <a:t>  &lt;li&gt;Coffee&lt;/li&gt;</a:t>
            </a:r>
            <a:br>
              <a:rPr lang="it-IT" dirty="0"/>
            </a:br>
            <a:r>
              <a:rPr lang="it-IT" dirty="0"/>
              <a:t>  &lt;li&gt;Tea&lt;/li&gt;</a:t>
            </a:r>
            <a:br>
              <a:rPr lang="it-IT" dirty="0"/>
            </a:br>
            <a:r>
              <a:rPr lang="it-IT" dirty="0"/>
              <a:t>  &lt;li&gt;Milk&lt;/li&gt;</a:t>
            </a:r>
            <a:br>
              <a:rPr lang="it-IT" dirty="0"/>
            </a:br>
            <a:r>
              <a:rPr lang="it-IT" dirty="0"/>
              <a:t>&lt;/ul&gt;</a:t>
            </a:r>
            <a:endParaRPr lang="en-US" dirty="0" smtClean="0"/>
          </a:p>
          <a:p>
            <a:r>
              <a:rPr lang="en-US" dirty="0"/>
              <a:t>An ordered list starts with the &lt;</a:t>
            </a:r>
            <a:r>
              <a:rPr lang="en-US" dirty="0" err="1"/>
              <a:t>ol</a:t>
            </a:r>
            <a:r>
              <a:rPr lang="en-US" dirty="0"/>
              <a:t>&gt; tag. Each list item starts with the &lt;li&gt; tag</a:t>
            </a:r>
            <a:r>
              <a:rPr lang="en-US" dirty="0" smtClean="0"/>
              <a:t>.</a:t>
            </a:r>
          </a:p>
          <a:p>
            <a:pPr marL="914400" lvl="2" indent="0">
              <a:buNone/>
            </a:pPr>
            <a:r>
              <a:rPr lang="it-IT" dirty="0"/>
              <a:t>&lt;ol&gt;</a:t>
            </a:r>
            <a:br>
              <a:rPr lang="it-IT" dirty="0"/>
            </a:br>
            <a:r>
              <a:rPr lang="it-IT" dirty="0"/>
              <a:t>  &lt;li&gt;Coffee&lt;/li&gt;</a:t>
            </a:r>
            <a:br>
              <a:rPr lang="it-IT" dirty="0"/>
            </a:br>
            <a:r>
              <a:rPr lang="it-IT" dirty="0"/>
              <a:t>  &lt;li&gt;Tea&lt;/li&gt;</a:t>
            </a:r>
            <a:br>
              <a:rPr lang="it-IT" dirty="0"/>
            </a:br>
            <a:r>
              <a:rPr lang="it-IT" dirty="0"/>
              <a:t>  &lt;li&gt;Milk&lt;/li&gt;</a:t>
            </a:r>
            <a:br>
              <a:rPr lang="it-IT" dirty="0"/>
            </a:br>
            <a:r>
              <a:rPr lang="it-IT" dirty="0"/>
              <a:t>&lt;/ol&gt;</a:t>
            </a:r>
            <a:endParaRPr lang="en-GB"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8813" y="3233369"/>
            <a:ext cx="714375"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7863" y="5247161"/>
            <a:ext cx="676275"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43760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HTML </a:t>
            </a:r>
            <a:r>
              <a:rPr lang="en-US" dirty="0" err="1" smtClean="0"/>
              <a:t>Unorder</a:t>
            </a:r>
            <a:r>
              <a:rPr lang="en-US" dirty="0" smtClean="0"/>
              <a:t>-Lists Style attribute</a:t>
            </a:r>
            <a:endParaRPr lang="en-GB" dirty="0"/>
          </a:p>
        </p:txBody>
      </p:sp>
      <p:sp>
        <p:nvSpPr>
          <p:cNvPr id="3" name="Content Placeholder 2"/>
          <p:cNvSpPr>
            <a:spLocks noGrp="1"/>
          </p:cNvSpPr>
          <p:nvPr>
            <p:ph idx="1"/>
          </p:nvPr>
        </p:nvSpPr>
        <p:spPr/>
        <p:txBody>
          <a:bodyPr/>
          <a:lstStyle/>
          <a:p>
            <a:pPr marL="0" indent="0">
              <a:buNone/>
            </a:pPr>
            <a:r>
              <a:rPr lang="en-US" dirty="0" smtClean="0"/>
              <a:t>The style attribute of list define the style &amp; line-height of the list item maker</a:t>
            </a:r>
            <a:r>
              <a:rPr lang="en-GB" dirty="0" smtClean="0"/>
              <a:t>.</a:t>
            </a:r>
          </a:p>
          <a:p>
            <a:pPr marL="0" indent="0">
              <a:buNone/>
            </a:pPr>
            <a:endParaRPr lang="en-US" dirty="0" smtClean="0"/>
          </a:p>
          <a:p>
            <a:pPr marL="0" indent="0">
              <a:buNone/>
            </a:pPr>
            <a:endParaRPr lang="en-US" dirty="0" smtClean="0"/>
          </a:p>
          <a:p>
            <a:pPr marL="0" indent="0">
              <a:buNone/>
            </a:pPr>
            <a:r>
              <a:rPr lang="en-GB" dirty="0" smtClean="0"/>
              <a:t>list-style-type property can have the following value</a:t>
            </a:r>
          </a:p>
          <a:p>
            <a:pPr marL="0" indent="0">
              <a:buNone/>
            </a:pPr>
            <a:endParaRPr lang="en-US" dirty="0" smtClean="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
        <p:nvSpPr>
          <p:cNvPr id="5" name="Rectangle 4"/>
          <p:cNvSpPr/>
          <p:nvPr/>
        </p:nvSpPr>
        <p:spPr>
          <a:xfrm>
            <a:off x="2368056" y="2338644"/>
            <a:ext cx="3528661" cy="1477328"/>
          </a:xfrm>
          <a:prstGeom prst="rect">
            <a:avLst/>
          </a:prstGeom>
        </p:spPr>
        <p:txBody>
          <a:bodyPr wrap="square">
            <a:spAutoFit/>
          </a:bodyPr>
          <a:lstStyle/>
          <a:p>
            <a:r>
              <a:rPr lang="it-IT" dirty="0"/>
              <a:t>&lt;ul style="list-style-type:disc;"&gt;</a:t>
            </a:r>
            <a:br>
              <a:rPr lang="it-IT" dirty="0"/>
            </a:br>
            <a:r>
              <a:rPr lang="it-IT" dirty="0"/>
              <a:t>  &lt;li&gt;Coffee&lt;/li&gt;</a:t>
            </a:r>
            <a:br>
              <a:rPr lang="it-IT" dirty="0"/>
            </a:br>
            <a:r>
              <a:rPr lang="it-IT" dirty="0"/>
              <a:t>  &lt;li&gt;Tea&lt;/li&gt;</a:t>
            </a:r>
            <a:br>
              <a:rPr lang="it-IT" dirty="0"/>
            </a:br>
            <a:r>
              <a:rPr lang="it-IT" dirty="0"/>
              <a:t>  &lt;li&gt;Milk&lt;/li&gt;</a:t>
            </a:r>
            <a:br>
              <a:rPr lang="it-IT" dirty="0"/>
            </a:br>
            <a:r>
              <a:rPr lang="it-IT" dirty="0"/>
              <a:t>&lt;/ul&gt;</a:t>
            </a:r>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val="3578424777"/>
              </p:ext>
            </p:extLst>
          </p:nvPr>
        </p:nvGraphicFramePr>
        <p:xfrm>
          <a:off x="867512" y="4358848"/>
          <a:ext cx="5838088" cy="1706880"/>
        </p:xfrm>
        <a:graphic>
          <a:graphicData uri="http://schemas.openxmlformats.org/drawingml/2006/table">
            <a:tbl>
              <a:tblPr/>
              <a:tblGrid>
                <a:gridCol w="1251018"/>
                <a:gridCol w="4587070"/>
              </a:tblGrid>
              <a:tr h="0">
                <a:tc>
                  <a:txBody>
                    <a:bodyPr/>
                    <a:lstStyle/>
                    <a:p>
                      <a:pPr algn="l" fontAlgn="t"/>
                      <a:r>
                        <a:rPr lang="en-GB">
                          <a:effectLst/>
                        </a:rPr>
                        <a:t>disc</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a:effectLst/>
                        </a:rPr>
                        <a:t>Sets the list item marker to a bullet (default)</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0">
                <a:tc>
                  <a:txBody>
                    <a:bodyPr/>
                    <a:lstStyle/>
                    <a:p>
                      <a:pPr algn="l" fontAlgn="t"/>
                      <a:r>
                        <a:rPr lang="en-GB">
                          <a:effectLst/>
                        </a:rPr>
                        <a:t>circle</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a:effectLst/>
                        </a:rPr>
                        <a:t>Sets the list item marker to a circle</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algn="l" fontAlgn="t"/>
                      <a:r>
                        <a:rPr lang="en-GB">
                          <a:effectLst/>
                        </a:rPr>
                        <a:t>square</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a:effectLst/>
                        </a:rPr>
                        <a:t>Sets the list item marker to a square</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0">
                <a:tc>
                  <a:txBody>
                    <a:bodyPr/>
                    <a:lstStyle/>
                    <a:p>
                      <a:pPr algn="l" fontAlgn="t"/>
                      <a:r>
                        <a:rPr lang="en-GB">
                          <a:effectLst/>
                        </a:rPr>
                        <a:t>none</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dirty="0">
                          <a:effectLst/>
                        </a:rPr>
                        <a:t>The list items will not be marked</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
        <p:nvSpPr>
          <p:cNvPr id="7" name="Rectangle 6"/>
          <p:cNvSpPr/>
          <p:nvPr/>
        </p:nvSpPr>
        <p:spPr>
          <a:xfrm>
            <a:off x="6365609" y="2350369"/>
            <a:ext cx="3681068" cy="1477328"/>
          </a:xfrm>
          <a:prstGeom prst="rect">
            <a:avLst/>
          </a:prstGeom>
        </p:spPr>
        <p:txBody>
          <a:bodyPr wrap="square">
            <a:spAutoFit/>
          </a:bodyPr>
          <a:lstStyle/>
          <a:p>
            <a:r>
              <a:rPr lang="it-IT" dirty="0"/>
              <a:t>&lt;ul style="line-height:180%"&gt;</a:t>
            </a:r>
            <a:br>
              <a:rPr lang="it-IT" dirty="0"/>
            </a:br>
            <a:r>
              <a:rPr lang="it-IT" dirty="0"/>
              <a:t>  &lt;li&gt;Coffee&lt;/li&gt;</a:t>
            </a:r>
            <a:br>
              <a:rPr lang="it-IT" dirty="0"/>
            </a:br>
            <a:r>
              <a:rPr lang="it-IT" dirty="0"/>
              <a:t>  &lt;li&gt;Tea&lt;/li&gt;</a:t>
            </a:r>
            <a:br>
              <a:rPr lang="it-IT" dirty="0"/>
            </a:br>
            <a:r>
              <a:rPr lang="it-IT" dirty="0"/>
              <a:t>  &lt;li&gt;Milk&lt;/li&gt;</a:t>
            </a:r>
            <a:br>
              <a:rPr lang="it-IT" dirty="0"/>
            </a:br>
            <a:r>
              <a:rPr lang="it-IT" dirty="0"/>
              <a:t>&lt;/ul&gt;</a:t>
            </a:r>
            <a:endParaRPr lang="en-GB" dirty="0"/>
          </a:p>
        </p:txBody>
      </p:sp>
    </p:spTree>
    <p:extLst>
      <p:ext uri="{BB962C8B-B14F-4D97-AF65-F5344CB8AC3E}">
        <p14:creationId xmlns:p14="http://schemas.microsoft.com/office/powerpoint/2010/main" val="365752200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05767"/>
          </a:xfrm>
        </p:spPr>
        <p:txBody>
          <a:bodyPr/>
          <a:lstStyle/>
          <a:p>
            <a:r>
              <a:rPr lang="en-US" dirty="0" smtClean="0"/>
              <a:t>HTML Ordered-List Type attribute</a:t>
            </a:r>
            <a:endParaRPr lang="en-GB" dirty="0"/>
          </a:p>
        </p:txBody>
      </p:sp>
      <p:sp>
        <p:nvSpPr>
          <p:cNvPr id="3" name="Content Placeholder 2"/>
          <p:cNvSpPr>
            <a:spLocks noGrp="1"/>
          </p:cNvSpPr>
          <p:nvPr>
            <p:ph idx="1"/>
          </p:nvPr>
        </p:nvSpPr>
        <p:spPr>
          <a:xfrm>
            <a:off x="838200" y="1617785"/>
            <a:ext cx="10515600" cy="5122984"/>
          </a:xfrm>
        </p:spPr>
        <p:txBody>
          <a:bodyPr>
            <a:normAutofit/>
          </a:bodyPr>
          <a:lstStyle/>
          <a:p>
            <a:pPr marL="0" indent="0">
              <a:buNone/>
            </a:pPr>
            <a:r>
              <a:rPr lang="en-US" dirty="0"/>
              <a:t>The type attribute of the &lt;</a:t>
            </a:r>
            <a:r>
              <a:rPr lang="en-US" dirty="0" err="1"/>
              <a:t>ol</a:t>
            </a:r>
            <a:r>
              <a:rPr lang="en-US" dirty="0"/>
              <a:t>&gt; tag, defines the type of the list item marker</a:t>
            </a:r>
            <a:r>
              <a:rPr lang="en-US" dirty="0" smtClean="0"/>
              <a:t>:</a:t>
            </a:r>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r>
              <a:rPr lang="en-US" sz="1800" dirty="0"/>
              <a:t>By default, an ordered list will start counting from 1. If you want to start counting from a specified number, you can use the start attribute</a:t>
            </a:r>
            <a:r>
              <a:rPr lang="en-US" sz="1800" dirty="0" smtClean="0"/>
              <a:t>:  </a:t>
            </a:r>
            <a:r>
              <a:rPr lang="en-GB" sz="1800" dirty="0"/>
              <a:t>&lt;</a:t>
            </a:r>
            <a:r>
              <a:rPr lang="en-GB" sz="1800" dirty="0" err="1"/>
              <a:t>ol</a:t>
            </a:r>
            <a:r>
              <a:rPr lang="en-GB" sz="1800" dirty="0"/>
              <a:t> start="50</a:t>
            </a:r>
            <a:r>
              <a:rPr lang="en-GB" sz="1800" dirty="0" smtClean="0"/>
              <a:t>"&gt;      </a:t>
            </a:r>
            <a:r>
              <a:rPr lang="it-IT" sz="1800" dirty="0"/>
              <a:t>&lt;li&gt;Coffee&lt;/li</a:t>
            </a:r>
            <a:r>
              <a:rPr lang="it-IT" sz="1800" dirty="0" smtClean="0"/>
              <a:t>&gt; </a:t>
            </a:r>
            <a:r>
              <a:rPr lang="it-IT" sz="1800" dirty="0"/>
              <a:t>  &lt;li&gt;Tea&lt;/li</a:t>
            </a:r>
            <a:r>
              <a:rPr lang="it-IT" sz="1800" dirty="0" smtClean="0"/>
              <a:t>&gt;  </a:t>
            </a:r>
            <a:r>
              <a:rPr lang="it-IT" sz="1800" dirty="0"/>
              <a:t>  &lt;</a:t>
            </a:r>
            <a:r>
              <a:rPr lang="it-IT" sz="1800" dirty="0" smtClean="0"/>
              <a:t>li&gt;Milk &lt;/</a:t>
            </a:r>
            <a:r>
              <a:rPr lang="it-IT" sz="1800" dirty="0"/>
              <a:t>li</a:t>
            </a:r>
            <a:r>
              <a:rPr lang="it-IT" sz="1800" dirty="0" smtClean="0"/>
              <a:t>&gt;    </a:t>
            </a:r>
            <a:r>
              <a:rPr lang="en-GB" sz="1800" dirty="0" smtClean="0"/>
              <a:t>&lt;/</a:t>
            </a:r>
            <a:r>
              <a:rPr lang="en-GB" sz="1800" dirty="0" err="1" smtClean="0"/>
              <a:t>ol</a:t>
            </a:r>
            <a:r>
              <a:rPr lang="en-GB" sz="1800" dirty="0" smtClean="0"/>
              <a:t>&gt;</a:t>
            </a:r>
            <a:endParaRPr lang="en-GB" sz="1800" dirty="0"/>
          </a:p>
        </p:txBody>
      </p:sp>
      <p:graphicFrame>
        <p:nvGraphicFramePr>
          <p:cNvPr id="5" name="Table 4"/>
          <p:cNvGraphicFramePr>
            <a:graphicFrameLocks noGrp="1"/>
          </p:cNvGraphicFramePr>
          <p:nvPr>
            <p:extLst>
              <p:ext uri="{D42A27DB-BD31-4B8C-83A1-F6EECF244321}">
                <p14:modId xmlns:p14="http://schemas.microsoft.com/office/powerpoint/2010/main" val="419506660"/>
              </p:ext>
            </p:extLst>
          </p:nvPr>
        </p:nvGraphicFramePr>
        <p:xfrm>
          <a:off x="1925235" y="3481924"/>
          <a:ext cx="7933873" cy="2567183"/>
        </p:xfrm>
        <a:graphic>
          <a:graphicData uri="http://schemas.openxmlformats.org/drawingml/2006/table">
            <a:tbl>
              <a:tblPr/>
              <a:tblGrid>
                <a:gridCol w="1310335"/>
                <a:gridCol w="6623538"/>
              </a:tblGrid>
              <a:tr h="0">
                <a:tc>
                  <a:txBody>
                    <a:bodyPr/>
                    <a:lstStyle/>
                    <a:p>
                      <a:pPr algn="l" fontAlgn="t"/>
                      <a:r>
                        <a:rPr lang="en-GB" dirty="0">
                          <a:effectLst/>
                        </a:rPr>
                        <a:t>type="1"</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dirty="0">
                          <a:effectLst/>
                        </a:rPr>
                        <a:t>The list items will be numbered with numbers (default)</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510955">
                <a:tc>
                  <a:txBody>
                    <a:bodyPr/>
                    <a:lstStyle/>
                    <a:p>
                      <a:pPr algn="l" fontAlgn="t"/>
                      <a:r>
                        <a:rPr lang="en-GB">
                          <a:effectLst/>
                        </a:rPr>
                        <a:t>type="A"</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a:effectLst/>
                        </a:rPr>
                        <a:t>The list items will be numbered with uppercase letters</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50985">
                <a:tc>
                  <a:txBody>
                    <a:bodyPr/>
                    <a:lstStyle/>
                    <a:p>
                      <a:pPr algn="l" fontAlgn="t"/>
                      <a:r>
                        <a:rPr lang="en-GB">
                          <a:effectLst/>
                        </a:rPr>
                        <a:t>type="a"</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a:effectLst/>
                        </a:rPr>
                        <a:t>The list items will be numbered with lowercase letters</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586154">
                <a:tc>
                  <a:txBody>
                    <a:bodyPr/>
                    <a:lstStyle/>
                    <a:p>
                      <a:pPr algn="l" fontAlgn="t"/>
                      <a:r>
                        <a:rPr lang="en-GB">
                          <a:effectLst/>
                        </a:rPr>
                        <a:t>type="I"</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a:effectLst/>
                        </a:rPr>
                        <a:t>The list items will be numbered with uppercase roman numbers</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492369">
                <a:tc>
                  <a:txBody>
                    <a:bodyPr/>
                    <a:lstStyle/>
                    <a:p>
                      <a:pPr algn="l" fontAlgn="t"/>
                      <a:r>
                        <a:rPr lang="en-GB">
                          <a:effectLst/>
                        </a:rPr>
                        <a:t>type="i"</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US" dirty="0">
                          <a:effectLst/>
                        </a:rPr>
                        <a:t>The list items will be numbered with lowercase roman numbers</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r>
            </a:tbl>
          </a:graphicData>
        </a:graphic>
      </p:graphicFrame>
      <p:sp>
        <p:nvSpPr>
          <p:cNvPr id="6" name="Rectangle 5"/>
          <p:cNvSpPr/>
          <p:nvPr/>
        </p:nvSpPr>
        <p:spPr>
          <a:xfrm>
            <a:off x="2356343" y="2045571"/>
            <a:ext cx="2227385" cy="1477328"/>
          </a:xfrm>
          <a:prstGeom prst="rect">
            <a:avLst/>
          </a:prstGeom>
        </p:spPr>
        <p:txBody>
          <a:bodyPr wrap="square">
            <a:spAutoFit/>
          </a:bodyPr>
          <a:lstStyle/>
          <a:p>
            <a:r>
              <a:rPr lang="it-IT" dirty="0"/>
              <a:t>&lt;ol type="1"&gt;</a:t>
            </a:r>
            <a:br>
              <a:rPr lang="it-IT" dirty="0"/>
            </a:br>
            <a:r>
              <a:rPr lang="it-IT" dirty="0"/>
              <a:t>  &lt;li&gt;Coffee&lt;/li&gt;</a:t>
            </a:r>
            <a:br>
              <a:rPr lang="it-IT" dirty="0"/>
            </a:br>
            <a:r>
              <a:rPr lang="it-IT" dirty="0"/>
              <a:t>  &lt;li&gt;Tea&lt;/li&gt;</a:t>
            </a:r>
            <a:br>
              <a:rPr lang="it-IT" dirty="0"/>
            </a:br>
            <a:r>
              <a:rPr lang="it-IT" dirty="0"/>
              <a:t>  &lt;li&gt;Milk&lt;/li&gt;</a:t>
            </a:r>
            <a:br>
              <a:rPr lang="it-IT" dirty="0"/>
            </a:br>
            <a:r>
              <a:rPr lang="it-IT" dirty="0"/>
              <a:t>&lt;/ol&gt;</a:t>
            </a:r>
            <a:endParaRPr lang="en-GB" dirty="0"/>
          </a:p>
        </p:txBody>
      </p:sp>
      <p:sp>
        <p:nvSpPr>
          <p:cNvPr id="7" name="Rectangle 6"/>
          <p:cNvSpPr/>
          <p:nvPr/>
        </p:nvSpPr>
        <p:spPr>
          <a:xfrm>
            <a:off x="4044455" y="2080740"/>
            <a:ext cx="2227385" cy="1477328"/>
          </a:xfrm>
          <a:prstGeom prst="rect">
            <a:avLst/>
          </a:prstGeom>
        </p:spPr>
        <p:txBody>
          <a:bodyPr wrap="square">
            <a:spAutoFit/>
          </a:bodyPr>
          <a:lstStyle/>
          <a:p>
            <a:r>
              <a:rPr lang="it-IT" dirty="0"/>
              <a:t>&lt;ol type="A"&gt;</a:t>
            </a:r>
            <a:br>
              <a:rPr lang="it-IT" dirty="0"/>
            </a:br>
            <a:r>
              <a:rPr lang="it-IT" dirty="0"/>
              <a:t>  &lt;li&gt;Coffee&lt;/li&gt;</a:t>
            </a:r>
            <a:br>
              <a:rPr lang="it-IT" dirty="0"/>
            </a:br>
            <a:r>
              <a:rPr lang="it-IT" dirty="0"/>
              <a:t>  &lt;li&gt;Tea&lt;/li&gt;</a:t>
            </a:r>
            <a:br>
              <a:rPr lang="it-IT" dirty="0"/>
            </a:br>
            <a:r>
              <a:rPr lang="it-IT" dirty="0"/>
              <a:t>  &lt;li&gt;Milk&lt;/li&gt;</a:t>
            </a:r>
            <a:br>
              <a:rPr lang="it-IT" dirty="0"/>
            </a:br>
            <a:r>
              <a:rPr lang="it-IT" dirty="0"/>
              <a:t>&lt;/ol&gt;</a:t>
            </a:r>
            <a:endParaRPr lang="en-GB" dirty="0"/>
          </a:p>
        </p:txBody>
      </p:sp>
      <p:sp>
        <p:nvSpPr>
          <p:cNvPr id="8" name="Rectangle 7"/>
          <p:cNvSpPr/>
          <p:nvPr/>
        </p:nvSpPr>
        <p:spPr>
          <a:xfrm>
            <a:off x="5978750" y="2069017"/>
            <a:ext cx="2766646" cy="1477328"/>
          </a:xfrm>
          <a:prstGeom prst="rect">
            <a:avLst/>
          </a:prstGeom>
        </p:spPr>
        <p:txBody>
          <a:bodyPr wrap="square">
            <a:spAutoFit/>
          </a:bodyPr>
          <a:lstStyle/>
          <a:p>
            <a:r>
              <a:rPr lang="it-IT" dirty="0"/>
              <a:t>&lt;ol type="i"&gt;</a:t>
            </a:r>
            <a:br>
              <a:rPr lang="it-IT" dirty="0"/>
            </a:br>
            <a:r>
              <a:rPr lang="it-IT" dirty="0"/>
              <a:t>  &lt;li&gt;Coffee&lt;/li&gt;</a:t>
            </a:r>
            <a:br>
              <a:rPr lang="it-IT" dirty="0"/>
            </a:br>
            <a:r>
              <a:rPr lang="it-IT" dirty="0"/>
              <a:t>  &lt;li&gt;Tea&lt;/li&gt;</a:t>
            </a:r>
            <a:br>
              <a:rPr lang="it-IT" dirty="0"/>
            </a:br>
            <a:r>
              <a:rPr lang="it-IT" dirty="0"/>
              <a:t>  &lt;li&gt;Milk&lt;/li&gt;</a:t>
            </a:r>
            <a:br>
              <a:rPr lang="it-IT" dirty="0"/>
            </a:br>
            <a:r>
              <a:rPr lang="it-IT" dirty="0"/>
              <a:t>&lt;/ol&gt;</a:t>
            </a:r>
            <a:endParaRPr lang="en-GB" dirty="0"/>
          </a:p>
        </p:txBody>
      </p:sp>
    </p:spTree>
    <p:extLst>
      <p:ext uri="{BB962C8B-B14F-4D97-AF65-F5344CB8AC3E}">
        <p14:creationId xmlns:p14="http://schemas.microsoft.com/office/powerpoint/2010/main" val="19037630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HTML Lists</a:t>
            </a:r>
            <a:endParaRPr lang="en-GB" dirty="0"/>
          </a:p>
        </p:txBody>
      </p:sp>
      <p:sp>
        <p:nvSpPr>
          <p:cNvPr id="3" name="Content Placeholder 2"/>
          <p:cNvSpPr>
            <a:spLocks noGrp="1"/>
          </p:cNvSpPr>
          <p:nvPr>
            <p:ph idx="1"/>
          </p:nvPr>
        </p:nvSpPr>
        <p:spPr/>
        <p:txBody>
          <a:bodyPr/>
          <a:lstStyle/>
          <a:p>
            <a:r>
              <a:rPr lang="en-US" dirty="0"/>
              <a:t>A description list is a list of terms, with a description of each term</a:t>
            </a:r>
            <a:r>
              <a:rPr lang="en-US" dirty="0" smtClean="0"/>
              <a:t>.</a:t>
            </a:r>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r>
              <a:rPr lang="en-US" dirty="0"/>
              <a:t>The &lt;dl&gt; tag defines the description list, the &lt;</a:t>
            </a:r>
            <a:r>
              <a:rPr lang="en-US" dirty="0" err="1"/>
              <a:t>dt</a:t>
            </a:r>
            <a:r>
              <a:rPr lang="en-US" dirty="0"/>
              <a:t>&gt; tag defines the term (name), and the &lt;</a:t>
            </a:r>
            <a:r>
              <a:rPr lang="en-US" dirty="0" err="1"/>
              <a:t>dd</a:t>
            </a:r>
            <a:r>
              <a:rPr lang="en-US" dirty="0"/>
              <a:t>&gt; tag describes each </a:t>
            </a:r>
            <a:r>
              <a:rPr lang="en-US" dirty="0" smtClean="0"/>
              <a:t>term.</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
        <p:nvSpPr>
          <p:cNvPr id="5" name="Rectangle 4"/>
          <p:cNvSpPr/>
          <p:nvPr/>
        </p:nvSpPr>
        <p:spPr>
          <a:xfrm>
            <a:off x="996462" y="2536320"/>
            <a:ext cx="3282461" cy="1754326"/>
          </a:xfrm>
          <a:prstGeom prst="rect">
            <a:avLst/>
          </a:prstGeom>
        </p:spPr>
        <p:txBody>
          <a:bodyPr wrap="square">
            <a:spAutoFit/>
          </a:bodyPr>
          <a:lstStyle/>
          <a:p>
            <a:r>
              <a:rPr lang="en-GB" dirty="0"/>
              <a:t>&lt;dl&gt;</a:t>
            </a:r>
            <a:br>
              <a:rPr lang="en-GB" dirty="0"/>
            </a:br>
            <a:r>
              <a:rPr lang="en-GB" dirty="0"/>
              <a:t>  &lt;</a:t>
            </a:r>
            <a:r>
              <a:rPr lang="en-GB" dirty="0" err="1"/>
              <a:t>dt</a:t>
            </a:r>
            <a:r>
              <a:rPr lang="en-GB" dirty="0"/>
              <a:t>&gt;Coffee&lt;/</a:t>
            </a:r>
            <a:r>
              <a:rPr lang="en-GB" dirty="0" err="1"/>
              <a:t>dt</a:t>
            </a:r>
            <a:r>
              <a:rPr lang="en-GB" dirty="0"/>
              <a:t>&gt;</a:t>
            </a:r>
            <a:br>
              <a:rPr lang="en-GB" dirty="0"/>
            </a:br>
            <a:r>
              <a:rPr lang="en-GB" dirty="0"/>
              <a:t>  &lt;</a:t>
            </a:r>
            <a:r>
              <a:rPr lang="en-GB" dirty="0" err="1"/>
              <a:t>dd</a:t>
            </a:r>
            <a:r>
              <a:rPr lang="en-GB" dirty="0"/>
              <a:t>&gt;- black hot drink&lt;/</a:t>
            </a:r>
            <a:r>
              <a:rPr lang="en-GB" dirty="0" err="1"/>
              <a:t>dd</a:t>
            </a:r>
            <a:r>
              <a:rPr lang="en-GB" dirty="0"/>
              <a:t>&gt;</a:t>
            </a:r>
            <a:br>
              <a:rPr lang="en-GB" dirty="0"/>
            </a:br>
            <a:r>
              <a:rPr lang="en-GB" dirty="0"/>
              <a:t>  &lt;</a:t>
            </a:r>
            <a:r>
              <a:rPr lang="en-GB" dirty="0" err="1"/>
              <a:t>dt</a:t>
            </a:r>
            <a:r>
              <a:rPr lang="en-GB" dirty="0"/>
              <a:t>&gt;Milk&lt;/</a:t>
            </a:r>
            <a:r>
              <a:rPr lang="en-GB" dirty="0" err="1"/>
              <a:t>dt</a:t>
            </a:r>
            <a:r>
              <a:rPr lang="en-GB" dirty="0"/>
              <a:t>&gt;</a:t>
            </a:r>
            <a:br>
              <a:rPr lang="en-GB" dirty="0"/>
            </a:br>
            <a:r>
              <a:rPr lang="en-GB" dirty="0"/>
              <a:t>  &lt;</a:t>
            </a:r>
            <a:r>
              <a:rPr lang="en-GB" dirty="0" err="1"/>
              <a:t>dd</a:t>
            </a:r>
            <a:r>
              <a:rPr lang="en-GB" dirty="0"/>
              <a:t>&gt;- white cold drink&lt;/</a:t>
            </a:r>
            <a:r>
              <a:rPr lang="en-GB" dirty="0" err="1"/>
              <a:t>dd</a:t>
            </a:r>
            <a:r>
              <a:rPr lang="en-GB" dirty="0"/>
              <a:t>&gt;</a:t>
            </a:r>
            <a:br>
              <a:rPr lang="en-GB" dirty="0"/>
            </a:br>
            <a:r>
              <a:rPr lang="en-GB" dirty="0"/>
              <a:t>&lt;/dl&gt;</a:t>
            </a:r>
          </a:p>
        </p:txBody>
      </p:sp>
      <p:sp>
        <p:nvSpPr>
          <p:cNvPr id="7" name="TextBox 6"/>
          <p:cNvSpPr txBox="1"/>
          <p:nvPr/>
        </p:nvSpPr>
        <p:spPr>
          <a:xfrm>
            <a:off x="5181600" y="2672862"/>
            <a:ext cx="2740237" cy="1477328"/>
          </a:xfrm>
          <a:prstGeom prst="rect">
            <a:avLst/>
          </a:prstGeom>
          <a:noFill/>
        </p:spPr>
        <p:txBody>
          <a:bodyPr wrap="none" rtlCol="0">
            <a:spAutoFit/>
          </a:bodyPr>
          <a:lstStyle/>
          <a:p>
            <a:r>
              <a:rPr lang="en-US" b="1" dirty="0"/>
              <a:t>A Description </a:t>
            </a:r>
            <a:r>
              <a:rPr lang="en-US" b="1" dirty="0" smtClean="0"/>
              <a:t>List</a:t>
            </a:r>
          </a:p>
          <a:p>
            <a:r>
              <a:rPr lang="en-US" dirty="0" smtClean="0"/>
              <a:t>Coffee</a:t>
            </a:r>
          </a:p>
          <a:p>
            <a:r>
              <a:rPr lang="en-US" dirty="0"/>
              <a:t>	</a:t>
            </a:r>
            <a:r>
              <a:rPr lang="en-US" dirty="0" smtClean="0"/>
              <a:t>- </a:t>
            </a:r>
            <a:r>
              <a:rPr lang="en-US" dirty="0"/>
              <a:t>black hot </a:t>
            </a:r>
            <a:r>
              <a:rPr lang="en-US" dirty="0" smtClean="0"/>
              <a:t>drink</a:t>
            </a:r>
          </a:p>
          <a:p>
            <a:r>
              <a:rPr lang="en-US" dirty="0" smtClean="0"/>
              <a:t>Milk</a:t>
            </a:r>
          </a:p>
          <a:p>
            <a:r>
              <a:rPr lang="en-US" dirty="0"/>
              <a:t>	</a:t>
            </a:r>
            <a:r>
              <a:rPr lang="en-US" dirty="0" smtClean="0"/>
              <a:t>- </a:t>
            </a:r>
            <a:r>
              <a:rPr lang="en-US" dirty="0"/>
              <a:t>white cold drink</a:t>
            </a:r>
            <a:endParaRPr lang="en-GB" dirty="0"/>
          </a:p>
        </p:txBody>
      </p:sp>
    </p:spTree>
    <p:extLst>
      <p:ext uri="{BB962C8B-B14F-4D97-AF65-F5344CB8AC3E}">
        <p14:creationId xmlns:p14="http://schemas.microsoft.com/office/powerpoint/2010/main" val="11244141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HTML Nested Lists</a:t>
            </a:r>
            <a:endParaRPr lang="en-GB" dirty="0"/>
          </a:p>
        </p:txBody>
      </p:sp>
      <p:sp>
        <p:nvSpPr>
          <p:cNvPr id="3" name="Content Placeholder 2"/>
          <p:cNvSpPr>
            <a:spLocks noGrp="1"/>
          </p:cNvSpPr>
          <p:nvPr>
            <p:ph idx="1"/>
          </p:nvPr>
        </p:nvSpPr>
        <p:spPr>
          <a:xfrm>
            <a:off x="838200" y="1825625"/>
            <a:ext cx="4800600" cy="4351338"/>
          </a:xfrm>
        </p:spPr>
        <p:txBody>
          <a:bodyPr>
            <a:normAutofit fontScale="92500" lnSpcReduction="20000"/>
          </a:bodyPr>
          <a:lstStyle/>
          <a:p>
            <a:pPr marL="0" indent="0">
              <a:lnSpc>
                <a:spcPct val="80000"/>
              </a:lnSpc>
              <a:buNone/>
            </a:pPr>
            <a:r>
              <a:rPr lang="en-US" dirty="0">
                <a:solidFill>
                  <a:srgbClr val="FF0000"/>
                </a:solidFill>
              </a:rPr>
              <a:t>&lt;</a:t>
            </a:r>
            <a:r>
              <a:rPr lang="en-US" dirty="0" err="1">
                <a:solidFill>
                  <a:srgbClr val="FF0000"/>
                </a:solidFill>
              </a:rPr>
              <a:t>ul</a:t>
            </a:r>
            <a:r>
              <a:rPr lang="en-US" dirty="0">
                <a:solidFill>
                  <a:srgbClr val="FF0000"/>
                </a:solidFill>
              </a:rPr>
              <a:t>&gt;</a:t>
            </a:r>
          </a:p>
          <a:p>
            <a:pPr>
              <a:lnSpc>
                <a:spcPct val="80000"/>
              </a:lnSpc>
              <a:buNone/>
            </a:pPr>
            <a:r>
              <a:rPr lang="en-US" dirty="0"/>
              <a:t>		&lt;li&gt; Four &lt;/li&gt;</a:t>
            </a:r>
          </a:p>
          <a:p>
            <a:pPr>
              <a:lnSpc>
                <a:spcPct val="80000"/>
              </a:lnSpc>
              <a:buNone/>
            </a:pPr>
            <a:r>
              <a:rPr lang="en-US" dirty="0"/>
              <a:t>		&lt;li&gt; Five</a:t>
            </a:r>
          </a:p>
          <a:p>
            <a:pPr>
              <a:lnSpc>
                <a:spcPct val="80000"/>
              </a:lnSpc>
              <a:buNone/>
            </a:pPr>
            <a:r>
              <a:rPr lang="en-US" dirty="0"/>
              <a:t>			</a:t>
            </a:r>
            <a:r>
              <a:rPr lang="en-US" dirty="0">
                <a:solidFill>
                  <a:srgbClr val="00B050"/>
                </a:solidFill>
              </a:rPr>
              <a:t>&lt;</a:t>
            </a:r>
            <a:r>
              <a:rPr lang="en-US" dirty="0" err="1">
                <a:solidFill>
                  <a:srgbClr val="00B050"/>
                </a:solidFill>
              </a:rPr>
              <a:t>ul</a:t>
            </a:r>
            <a:r>
              <a:rPr lang="en-US" dirty="0">
                <a:solidFill>
                  <a:srgbClr val="00B050"/>
                </a:solidFill>
              </a:rPr>
              <a:t>&gt;</a:t>
            </a:r>
          </a:p>
          <a:p>
            <a:pPr>
              <a:lnSpc>
                <a:spcPct val="80000"/>
              </a:lnSpc>
              <a:buNone/>
            </a:pPr>
            <a:r>
              <a:rPr lang="en-US" dirty="0">
                <a:solidFill>
                  <a:srgbClr val="00B050"/>
                </a:solidFill>
              </a:rPr>
              <a:t>				&lt;li&gt; Four &lt;/li&gt;</a:t>
            </a:r>
          </a:p>
          <a:p>
            <a:pPr>
              <a:lnSpc>
                <a:spcPct val="80000"/>
              </a:lnSpc>
              <a:buNone/>
            </a:pPr>
            <a:r>
              <a:rPr lang="en-US" dirty="0">
                <a:solidFill>
                  <a:srgbClr val="00B050"/>
                </a:solidFill>
              </a:rPr>
              <a:t>				&lt;li&gt; Five &lt;/li&gt;</a:t>
            </a:r>
          </a:p>
          <a:p>
            <a:pPr>
              <a:lnSpc>
                <a:spcPct val="80000"/>
              </a:lnSpc>
              <a:buNone/>
            </a:pPr>
            <a:r>
              <a:rPr lang="en-US" dirty="0">
                <a:solidFill>
                  <a:srgbClr val="00B050"/>
                </a:solidFill>
              </a:rPr>
              <a:t>				&lt;li&gt; Six &lt;/li&gt;</a:t>
            </a:r>
          </a:p>
          <a:p>
            <a:pPr>
              <a:lnSpc>
                <a:spcPct val="80000"/>
              </a:lnSpc>
              <a:buNone/>
            </a:pPr>
            <a:r>
              <a:rPr lang="en-US" dirty="0">
                <a:solidFill>
                  <a:srgbClr val="00B050"/>
                </a:solidFill>
              </a:rPr>
              <a:t>			&lt;/</a:t>
            </a:r>
            <a:r>
              <a:rPr lang="en-US" dirty="0" err="1">
                <a:solidFill>
                  <a:srgbClr val="00B050"/>
                </a:solidFill>
              </a:rPr>
              <a:t>ul</a:t>
            </a:r>
            <a:r>
              <a:rPr lang="en-US" dirty="0">
                <a:solidFill>
                  <a:srgbClr val="00B050"/>
                </a:solidFill>
              </a:rPr>
              <a:t>&gt;</a:t>
            </a:r>
          </a:p>
          <a:p>
            <a:pPr>
              <a:lnSpc>
                <a:spcPct val="80000"/>
              </a:lnSpc>
              <a:buNone/>
            </a:pPr>
            <a:r>
              <a:rPr lang="en-US" dirty="0"/>
              <a:t>		&lt;/li&gt; 		</a:t>
            </a:r>
          </a:p>
          <a:p>
            <a:pPr>
              <a:lnSpc>
                <a:spcPct val="80000"/>
              </a:lnSpc>
              <a:buNone/>
            </a:pPr>
            <a:r>
              <a:rPr lang="en-US" dirty="0" smtClean="0"/>
              <a:t>           &lt;</a:t>
            </a:r>
            <a:r>
              <a:rPr lang="en-US" dirty="0"/>
              <a:t>li&gt; Six &lt;/li&gt;</a:t>
            </a:r>
          </a:p>
          <a:p>
            <a:pPr>
              <a:lnSpc>
                <a:spcPct val="80000"/>
              </a:lnSpc>
              <a:buNone/>
            </a:pPr>
            <a:r>
              <a:rPr lang="en-US" dirty="0" smtClean="0">
                <a:solidFill>
                  <a:srgbClr val="FF0000"/>
                </a:solidFill>
              </a:rPr>
              <a:t>&lt;/</a:t>
            </a:r>
            <a:r>
              <a:rPr lang="en-US" dirty="0" err="1">
                <a:solidFill>
                  <a:srgbClr val="FF0000"/>
                </a:solidFill>
              </a:rPr>
              <a:t>ul</a:t>
            </a:r>
            <a:r>
              <a:rPr lang="en-US" dirty="0" smtClean="0">
                <a:solidFill>
                  <a:srgbClr val="FF0000"/>
                </a:solidFill>
              </a:rPr>
              <a:t>&gt;</a:t>
            </a:r>
            <a:endParaRPr lang="en-US" dirty="0">
              <a:solidFill>
                <a:srgbClr val="FF0000"/>
              </a:solidFill>
            </a:endParaRPr>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29853" y="2731111"/>
            <a:ext cx="2388577" cy="2341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ight Arrow 4"/>
          <p:cNvSpPr/>
          <p:nvPr/>
        </p:nvSpPr>
        <p:spPr>
          <a:xfrm>
            <a:off x="5943600" y="3446586"/>
            <a:ext cx="1386253" cy="4220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p:cNvSpPr txBox="1"/>
          <p:nvPr/>
        </p:nvSpPr>
        <p:spPr>
          <a:xfrm>
            <a:off x="6095998" y="3165234"/>
            <a:ext cx="870751" cy="369332"/>
          </a:xfrm>
          <a:prstGeom prst="rect">
            <a:avLst/>
          </a:prstGeom>
          <a:noFill/>
        </p:spPr>
        <p:txBody>
          <a:bodyPr wrap="none" rtlCol="0">
            <a:spAutoFit/>
          </a:bodyPr>
          <a:lstStyle/>
          <a:p>
            <a:r>
              <a:rPr lang="en-US" b="1" dirty="0" smtClean="0">
                <a:solidFill>
                  <a:srgbClr val="FF0000"/>
                </a:solidFill>
              </a:rPr>
              <a:t>Output</a:t>
            </a:r>
            <a:endParaRPr lang="en-GB" b="1" dirty="0">
              <a:solidFill>
                <a:srgbClr val="FF0000"/>
              </a:solidFill>
            </a:endParaRPr>
          </a:p>
        </p:txBody>
      </p:sp>
    </p:spTree>
    <p:extLst>
      <p:ext uri="{BB962C8B-B14F-4D97-AF65-F5344CB8AC3E}">
        <p14:creationId xmlns:p14="http://schemas.microsoft.com/office/powerpoint/2010/main" val="38090132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1406770" y="2989385"/>
            <a:ext cx="9144000" cy="977778"/>
          </a:xfrm>
        </p:spPr>
        <p:txBody>
          <a:bodyPr/>
          <a:lstStyle/>
          <a:p>
            <a:r>
              <a:rPr lang="en-US" dirty="0" smtClean="0"/>
              <a:t>HTML Table Tags</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355216531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HTML Tables</a:t>
            </a:r>
            <a:endParaRPr lang="en-GB" dirty="0"/>
          </a:p>
        </p:txBody>
      </p:sp>
      <p:sp>
        <p:nvSpPr>
          <p:cNvPr id="3" name="Content Placeholder 2"/>
          <p:cNvSpPr>
            <a:spLocks noGrp="1"/>
          </p:cNvSpPr>
          <p:nvPr>
            <p:ph idx="1"/>
          </p:nvPr>
        </p:nvSpPr>
        <p:spPr>
          <a:xfrm>
            <a:off x="838200" y="1641231"/>
            <a:ext cx="10515600" cy="4900246"/>
          </a:xfrm>
        </p:spPr>
        <p:txBody>
          <a:bodyPr>
            <a:normAutofit fontScale="85000" lnSpcReduction="10000"/>
          </a:bodyPr>
          <a:lstStyle/>
          <a:p>
            <a:pPr marL="0" indent="0">
              <a:buNone/>
            </a:pPr>
            <a:r>
              <a:rPr lang="en-US" dirty="0"/>
              <a:t>HTML tables allow </a:t>
            </a:r>
            <a:r>
              <a:rPr lang="en-US" dirty="0" smtClean="0"/>
              <a:t>to </a:t>
            </a:r>
            <a:r>
              <a:rPr lang="en-US" dirty="0"/>
              <a:t>arrange data into rows and columns</a:t>
            </a:r>
            <a:r>
              <a:rPr lang="en-US" dirty="0" smtClean="0"/>
              <a:t>. Each table consist on row &lt;</a:t>
            </a:r>
            <a:r>
              <a:rPr lang="en-US" dirty="0" err="1" smtClean="0"/>
              <a:t>tr</a:t>
            </a:r>
            <a:r>
              <a:rPr lang="en-US" dirty="0" smtClean="0"/>
              <a:t>&gt;, cell &lt;td&gt;, and column &lt;</a:t>
            </a:r>
            <a:r>
              <a:rPr lang="en-US" dirty="0" err="1" smtClean="0"/>
              <a:t>th</a:t>
            </a:r>
            <a:r>
              <a:rPr lang="en-US" dirty="0" smtClean="0"/>
              <a:t>&gt;</a:t>
            </a:r>
          </a:p>
          <a:p>
            <a:r>
              <a:rPr lang="en-US" dirty="0"/>
              <a:t>r</a:t>
            </a:r>
            <a:r>
              <a:rPr lang="en-US" dirty="0" smtClean="0"/>
              <a:t>ow &lt;</a:t>
            </a:r>
            <a:r>
              <a:rPr lang="en-US" dirty="0" err="1" smtClean="0"/>
              <a:t>tr</a:t>
            </a:r>
            <a:r>
              <a:rPr lang="en-US" dirty="0" smtClean="0"/>
              <a:t>&gt; &lt;/</a:t>
            </a:r>
            <a:r>
              <a:rPr lang="en-US" dirty="0" err="1" smtClean="0"/>
              <a:t>tr</a:t>
            </a:r>
            <a:r>
              <a:rPr lang="en-US" dirty="0" smtClean="0"/>
              <a:t>&gt;- Table Row </a:t>
            </a:r>
          </a:p>
          <a:p>
            <a:r>
              <a:rPr lang="en-US" dirty="0"/>
              <a:t>c</a:t>
            </a:r>
            <a:r>
              <a:rPr lang="en-US" dirty="0" smtClean="0"/>
              <a:t>ell &lt;td&gt; &lt;/td&gt;- Table Data </a:t>
            </a:r>
          </a:p>
          <a:p>
            <a:r>
              <a:rPr lang="en-US" dirty="0"/>
              <a:t>c</a:t>
            </a:r>
            <a:r>
              <a:rPr lang="en-US" dirty="0" smtClean="0"/>
              <a:t>olumn &lt;</a:t>
            </a:r>
            <a:r>
              <a:rPr lang="en-US" dirty="0" err="1" smtClean="0"/>
              <a:t>th</a:t>
            </a:r>
            <a:r>
              <a:rPr lang="en-US" dirty="0" smtClean="0"/>
              <a:t>&gt; &lt;/</a:t>
            </a:r>
            <a:r>
              <a:rPr lang="en-US" dirty="0" err="1" smtClean="0"/>
              <a:t>th</a:t>
            </a:r>
            <a:r>
              <a:rPr lang="en-US" dirty="0" smtClean="0"/>
              <a:t>&gt;- Table Header</a:t>
            </a:r>
          </a:p>
          <a:p>
            <a:pPr marL="0" indent="0">
              <a:buNone/>
            </a:pPr>
            <a:r>
              <a:rPr lang="en-US" dirty="0" smtClean="0">
                <a:solidFill>
                  <a:srgbClr val="FF0000"/>
                </a:solidFill>
              </a:rPr>
              <a:t>Note:-</a:t>
            </a:r>
            <a:r>
              <a:rPr lang="en-US" dirty="0" smtClean="0"/>
              <a:t> </a:t>
            </a:r>
            <a:r>
              <a:rPr lang="en-US" dirty="0"/>
              <a:t> A table cell can contain all sorts of HTML elements: text, images, lists, links, other tables, etc</a:t>
            </a:r>
            <a:r>
              <a:rPr lang="en-US" dirty="0" smtClean="0"/>
              <a:t>. </a:t>
            </a:r>
          </a:p>
          <a:p>
            <a:pPr marL="0" indent="0">
              <a:buNone/>
            </a:pPr>
            <a:r>
              <a:rPr lang="en-US" dirty="0"/>
              <a:t>By default, the text in &lt;</a:t>
            </a:r>
            <a:r>
              <a:rPr lang="en-US" dirty="0" err="1"/>
              <a:t>th</a:t>
            </a:r>
            <a:r>
              <a:rPr lang="en-US" dirty="0"/>
              <a:t>&gt; elements are bold and </a:t>
            </a:r>
            <a:r>
              <a:rPr lang="en-US" dirty="0" smtClean="0"/>
              <a:t>centered.</a:t>
            </a:r>
          </a:p>
          <a:p>
            <a:pPr marL="0" indent="0">
              <a:buNone/>
            </a:pPr>
            <a:r>
              <a:rPr lang="en-GB" dirty="0" smtClean="0"/>
              <a:t>&lt;caption&gt; Defines </a:t>
            </a:r>
            <a:r>
              <a:rPr lang="en-GB" dirty="0"/>
              <a:t>a table </a:t>
            </a:r>
            <a:r>
              <a:rPr lang="en-GB" dirty="0" smtClean="0"/>
              <a:t>caption and </a:t>
            </a:r>
            <a:r>
              <a:rPr lang="en-US" dirty="0"/>
              <a:t>inserted immediately after the </a:t>
            </a:r>
            <a:r>
              <a:rPr lang="en-US" dirty="0">
                <a:hlinkClick r:id="rId2"/>
              </a:rPr>
              <a:t>&lt;table&gt;</a:t>
            </a:r>
            <a:r>
              <a:rPr lang="en-US" dirty="0"/>
              <a:t> tag.</a:t>
            </a:r>
          </a:p>
          <a:p>
            <a:pPr marL="0" indent="0">
              <a:buNone/>
            </a:pPr>
            <a:r>
              <a:rPr lang="en-US" dirty="0" smtClean="0"/>
              <a:t>&lt;</a:t>
            </a:r>
            <a:r>
              <a:rPr lang="en-US" dirty="0" err="1" smtClean="0"/>
              <a:t>colgroup</a:t>
            </a:r>
            <a:r>
              <a:rPr lang="en-US" dirty="0" smtClean="0"/>
              <a:t>&gt; </a:t>
            </a:r>
            <a:r>
              <a:rPr lang="en-US" dirty="0"/>
              <a:t>Specifies a group of one or more columns in a table for formatting</a:t>
            </a:r>
            <a:br>
              <a:rPr lang="en-US" dirty="0"/>
            </a:br>
            <a:r>
              <a:rPr lang="en-US" dirty="0" smtClean="0"/>
              <a:t>&lt;col&gt; </a:t>
            </a:r>
            <a:r>
              <a:rPr lang="en-US" dirty="0"/>
              <a:t>Specifies column properties for each column within a &lt;</a:t>
            </a:r>
            <a:r>
              <a:rPr lang="en-US" dirty="0" err="1"/>
              <a:t>colgroup</a:t>
            </a:r>
            <a:r>
              <a:rPr lang="en-US" dirty="0"/>
              <a:t>&gt; </a:t>
            </a:r>
            <a:r>
              <a:rPr lang="en-US" dirty="0" smtClean="0"/>
              <a:t>element</a:t>
            </a:r>
          </a:p>
          <a:p>
            <a:pPr marL="0" indent="0">
              <a:buNone/>
            </a:pPr>
            <a:r>
              <a:rPr lang="en-US" dirty="0" smtClean="0"/>
              <a:t>Other HTML Tags are &lt;</a:t>
            </a:r>
            <a:r>
              <a:rPr lang="en-US" dirty="0" err="1" smtClean="0"/>
              <a:t>thead</a:t>
            </a:r>
            <a:r>
              <a:rPr lang="en-US" dirty="0" smtClean="0"/>
              <a:t>&gt;, &lt;</a:t>
            </a:r>
            <a:r>
              <a:rPr lang="en-US" dirty="0" err="1" smtClean="0"/>
              <a:t>tbody</a:t>
            </a:r>
            <a:r>
              <a:rPr lang="en-US" dirty="0" smtClean="0"/>
              <a:t>&gt; &lt;</a:t>
            </a:r>
            <a:r>
              <a:rPr lang="en-US" dirty="0" err="1" smtClean="0"/>
              <a:t>tfoot</a:t>
            </a:r>
            <a:r>
              <a:rPr lang="en-US" dirty="0" smtClean="0"/>
              <a:t>&gt;</a:t>
            </a:r>
            <a:endParaRPr lang="en-GB" dirty="0"/>
          </a:p>
        </p:txBody>
      </p:sp>
    </p:spTree>
    <p:extLst>
      <p:ext uri="{BB962C8B-B14F-4D97-AF65-F5344CB8AC3E}">
        <p14:creationId xmlns:p14="http://schemas.microsoft.com/office/powerpoint/2010/main" val="99769783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 Example</a:t>
            </a:r>
            <a:endParaRPr lang="en-GB" dirty="0"/>
          </a:p>
        </p:txBody>
      </p:sp>
      <p:sp>
        <p:nvSpPr>
          <p:cNvPr id="5" name="Rectangle 4"/>
          <p:cNvSpPr/>
          <p:nvPr/>
        </p:nvSpPr>
        <p:spPr>
          <a:xfrm>
            <a:off x="2051539" y="1743450"/>
            <a:ext cx="4407876" cy="4801314"/>
          </a:xfrm>
          <a:prstGeom prst="rect">
            <a:avLst/>
          </a:prstGeom>
        </p:spPr>
        <p:txBody>
          <a:bodyPr wrap="square">
            <a:spAutoFit/>
          </a:bodyPr>
          <a:lstStyle/>
          <a:p>
            <a:r>
              <a:rPr lang="en-GB" dirty="0"/>
              <a:t>&lt;table&gt;</a:t>
            </a:r>
            <a:br>
              <a:rPr lang="en-GB" dirty="0"/>
            </a:br>
            <a:r>
              <a:rPr lang="en-GB" dirty="0"/>
              <a:t>  &lt;</a:t>
            </a:r>
            <a:r>
              <a:rPr lang="en-GB" dirty="0" err="1"/>
              <a:t>tr</a:t>
            </a:r>
            <a:r>
              <a:rPr lang="en-GB" dirty="0"/>
              <a:t>&gt;</a:t>
            </a:r>
            <a:br>
              <a:rPr lang="en-GB" dirty="0"/>
            </a:br>
            <a:r>
              <a:rPr lang="en-GB" dirty="0"/>
              <a:t>    &lt;</a:t>
            </a:r>
            <a:r>
              <a:rPr lang="en-GB" dirty="0" err="1"/>
              <a:t>th</a:t>
            </a:r>
            <a:r>
              <a:rPr lang="en-GB" dirty="0"/>
              <a:t>&gt;Company&lt;/</a:t>
            </a:r>
            <a:r>
              <a:rPr lang="en-GB" dirty="0" err="1"/>
              <a:t>th</a:t>
            </a:r>
            <a:r>
              <a:rPr lang="en-GB" dirty="0"/>
              <a:t>&gt;</a:t>
            </a:r>
            <a:br>
              <a:rPr lang="en-GB" dirty="0"/>
            </a:br>
            <a:r>
              <a:rPr lang="en-GB" dirty="0"/>
              <a:t>    &lt;</a:t>
            </a:r>
            <a:r>
              <a:rPr lang="en-GB" dirty="0" err="1"/>
              <a:t>th</a:t>
            </a:r>
            <a:r>
              <a:rPr lang="en-GB" dirty="0"/>
              <a:t>&gt;Contact&lt;/</a:t>
            </a:r>
            <a:r>
              <a:rPr lang="en-GB" dirty="0" err="1"/>
              <a:t>th</a:t>
            </a:r>
            <a:r>
              <a:rPr lang="en-GB" dirty="0"/>
              <a:t>&gt;</a:t>
            </a:r>
            <a:br>
              <a:rPr lang="en-GB" dirty="0"/>
            </a:br>
            <a:r>
              <a:rPr lang="en-GB" dirty="0"/>
              <a:t>    &lt;</a:t>
            </a:r>
            <a:r>
              <a:rPr lang="en-GB" dirty="0" err="1"/>
              <a:t>th</a:t>
            </a:r>
            <a:r>
              <a:rPr lang="en-GB" dirty="0"/>
              <a:t>&gt;Country&lt;/</a:t>
            </a:r>
            <a:r>
              <a:rPr lang="en-GB" dirty="0" err="1"/>
              <a:t>th</a:t>
            </a:r>
            <a:r>
              <a:rPr lang="en-GB" dirty="0"/>
              <a:t>&gt;</a:t>
            </a:r>
            <a:br>
              <a:rPr lang="en-GB" dirty="0"/>
            </a:br>
            <a:r>
              <a:rPr lang="en-GB" dirty="0"/>
              <a:t>  &lt;/</a:t>
            </a:r>
            <a:r>
              <a:rPr lang="en-GB" dirty="0" err="1"/>
              <a:t>tr</a:t>
            </a:r>
            <a:r>
              <a:rPr lang="en-GB" dirty="0"/>
              <a:t>&gt;</a:t>
            </a:r>
            <a:br>
              <a:rPr lang="en-GB" dirty="0"/>
            </a:br>
            <a:r>
              <a:rPr lang="en-GB" dirty="0"/>
              <a:t>  &lt;</a:t>
            </a:r>
            <a:r>
              <a:rPr lang="en-GB" dirty="0" err="1"/>
              <a:t>tr</a:t>
            </a:r>
            <a:r>
              <a:rPr lang="en-GB" dirty="0"/>
              <a:t>&gt;</a:t>
            </a:r>
            <a:br>
              <a:rPr lang="en-GB" dirty="0"/>
            </a:br>
            <a:r>
              <a:rPr lang="en-GB" dirty="0"/>
              <a:t>    &lt;td&gt;</a:t>
            </a:r>
            <a:r>
              <a:rPr lang="en-GB" dirty="0" err="1"/>
              <a:t>Alfreds</a:t>
            </a:r>
            <a:r>
              <a:rPr lang="en-GB" dirty="0"/>
              <a:t> </a:t>
            </a:r>
            <a:r>
              <a:rPr lang="en-GB" dirty="0" err="1"/>
              <a:t>Futterkiste</a:t>
            </a:r>
            <a:r>
              <a:rPr lang="en-GB" dirty="0"/>
              <a:t>&lt;/td&gt;</a:t>
            </a:r>
            <a:br>
              <a:rPr lang="en-GB" dirty="0"/>
            </a:br>
            <a:r>
              <a:rPr lang="en-GB" dirty="0"/>
              <a:t>    &lt;td&gt;Maria Anders&lt;/td&gt;</a:t>
            </a:r>
            <a:br>
              <a:rPr lang="en-GB" dirty="0"/>
            </a:br>
            <a:r>
              <a:rPr lang="en-GB" dirty="0"/>
              <a:t>    &lt;td&gt;Germany&lt;/td&gt;</a:t>
            </a:r>
            <a:br>
              <a:rPr lang="en-GB" dirty="0"/>
            </a:br>
            <a:r>
              <a:rPr lang="en-GB" dirty="0"/>
              <a:t>  &lt;/</a:t>
            </a:r>
            <a:r>
              <a:rPr lang="en-GB" dirty="0" err="1"/>
              <a:t>tr</a:t>
            </a:r>
            <a:r>
              <a:rPr lang="en-GB" dirty="0"/>
              <a:t>&gt;</a:t>
            </a:r>
            <a:br>
              <a:rPr lang="en-GB" dirty="0"/>
            </a:br>
            <a:r>
              <a:rPr lang="en-GB" dirty="0"/>
              <a:t>  &lt;</a:t>
            </a:r>
            <a:r>
              <a:rPr lang="en-GB" dirty="0" err="1"/>
              <a:t>tr</a:t>
            </a:r>
            <a:r>
              <a:rPr lang="en-GB" dirty="0"/>
              <a:t>&gt;</a:t>
            </a:r>
            <a:br>
              <a:rPr lang="en-GB" dirty="0"/>
            </a:br>
            <a:r>
              <a:rPr lang="en-GB" dirty="0"/>
              <a:t>    &lt;td&gt;Centro </a:t>
            </a:r>
            <a:r>
              <a:rPr lang="en-GB" dirty="0" err="1"/>
              <a:t>comercial</a:t>
            </a:r>
            <a:r>
              <a:rPr lang="en-GB" dirty="0"/>
              <a:t> </a:t>
            </a:r>
            <a:r>
              <a:rPr lang="en-GB" dirty="0" err="1"/>
              <a:t>Moctezuma</a:t>
            </a:r>
            <a:r>
              <a:rPr lang="en-GB" dirty="0"/>
              <a:t>&lt;/td&gt;</a:t>
            </a:r>
            <a:br>
              <a:rPr lang="en-GB" dirty="0"/>
            </a:br>
            <a:r>
              <a:rPr lang="en-GB" dirty="0"/>
              <a:t>    &lt;</a:t>
            </a:r>
            <a:r>
              <a:rPr lang="en-GB" dirty="0" smtClean="0"/>
              <a:t>td&gt;Francisco </a:t>
            </a:r>
            <a:r>
              <a:rPr lang="en-GB" dirty="0"/>
              <a:t>Chang&lt;/td&gt;</a:t>
            </a:r>
            <a:br>
              <a:rPr lang="en-GB" dirty="0"/>
            </a:br>
            <a:r>
              <a:rPr lang="en-GB" dirty="0"/>
              <a:t>    &lt;td&gt;Mexico&lt;/td&gt;</a:t>
            </a:r>
            <a:br>
              <a:rPr lang="en-GB" dirty="0"/>
            </a:br>
            <a:r>
              <a:rPr lang="en-GB" dirty="0"/>
              <a:t>  &lt;/</a:t>
            </a:r>
            <a:r>
              <a:rPr lang="en-GB" dirty="0" err="1"/>
              <a:t>tr</a:t>
            </a:r>
            <a:r>
              <a:rPr lang="en-GB" dirty="0"/>
              <a:t>&gt;</a:t>
            </a:r>
            <a:br>
              <a:rPr lang="en-GB" dirty="0"/>
            </a:br>
            <a:r>
              <a:rPr lang="en-GB" dirty="0"/>
              <a:t>&lt;/table&gt;</a:t>
            </a:r>
          </a:p>
        </p:txBody>
      </p:sp>
      <p:graphicFrame>
        <p:nvGraphicFramePr>
          <p:cNvPr id="6" name="Table 5"/>
          <p:cNvGraphicFramePr>
            <a:graphicFrameLocks noGrp="1"/>
          </p:cNvGraphicFramePr>
          <p:nvPr>
            <p:extLst>
              <p:ext uri="{D42A27DB-BD31-4B8C-83A1-F6EECF244321}">
                <p14:modId xmlns:p14="http://schemas.microsoft.com/office/powerpoint/2010/main" val="1553355753"/>
              </p:ext>
            </p:extLst>
          </p:nvPr>
        </p:nvGraphicFramePr>
        <p:xfrm>
          <a:off x="5349754" y="2349133"/>
          <a:ext cx="6181725" cy="1371600"/>
        </p:xfrm>
        <a:graphic>
          <a:graphicData uri="http://schemas.openxmlformats.org/drawingml/2006/table">
            <a:tbl>
              <a:tblPr/>
              <a:tblGrid>
                <a:gridCol w="2060575"/>
                <a:gridCol w="2060575"/>
                <a:gridCol w="2060575"/>
              </a:tblGrid>
              <a:tr h="0">
                <a:tc>
                  <a:txBody>
                    <a:bodyPr/>
                    <a:lstStyle/>
                    <a:p>
                      <a:r>
                        <a:rPr lang="en-GB" b="1" dirty="0">
                          <a:effectLst/>
                        </a:rPr>
                        <a:t>Company</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r>
                        <a:rPr lang="en-GB" b="1" dirty="0">
                          <a:effectLst/>
                        </a:rPr>
                        <a:t>Contact</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r>
                        <a:rPr lang="en-GB" b="1" dirty="0">
                          <a:effectLst/>
                        </a:rPr>
                        <a:t>Country</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r>
                        <a:rPr lang="en-GB" dirty="0" err="1">
                          <a:effectLst/>
                        </a:rPr>
                        <a:t>Alfreds</a:t>
                      </a:r>
                      <a:r>
                        <a:rPr lang="en-GB" dirty="0">
                          <a:effectLst/>
                        </a:rPr>
                        <a:t> </a:t>
                      </a:r>
                      <a:r>
                        <a:rPr lang="en-GB" dirty="0" err="1">
                          <a:effectLst/>
                        </a:rPr>
                        <a:t>Futterkiste</a:t>
                      </a:r>
                      <a:endParaRPr lang="en-GB" dirty="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r>
                        <a:rPr lang="en-GB">
                          <a:effectLst/>
                        </a:rPr>
                        <a:t>Maria Anders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r>
                        <a:rPr lang="en-GB" dirty="0">
                          <a:effectLst/>
                        </a:rPr>
                        <a:t>Germany</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r>
                        <a:rPr lang="en-GB" dirty="0">
                          <a:effectLst/>
                        </a:rPr>
                        <a:t>Centro </a:t>
                      </a:r>
                      <a:r>
                        <a:rPr lang="en-GB" dirty="0" err="1">
                          <a:effectLst/>
                        </a:rPr>
                        <a:t>comercial</a:t>
                      </a:r>
                      <a:r>
                        <a:rPr lang="en-GB" dirty="0">
                          <a:effectLst/>
                        </a:rPr>
                        <a:t> </a:t>
                      </a:r>
                      <a:r>
                        <a:rPr lang="en-GB" dirty="0" err="1">
                          <a:effectLst/>
                        </a:rPr>
                        <a:t>Moctezuma</a:t>
                      </a:r>
                      <a:endParaRPr lang="en-GB" dirty="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r>
                        <a:rPr lang="en-GB" dirty="0">
                          <a:effectLst/>
                        </a:rPr>
                        <a:t>Francisco Chang</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r>
                        <a:rPr lang="en-GB" dirty="0">
                          <a:effectLst/>
                        </a:rPr>
                        <a:t>Mexico</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65557336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Colspan</a:t>
            </a:r>
            <a:r>
              <a:rPr lang="en-US" dirty="0" smtClean="0"/>
              <a:t> &amp; NOWRAP attributes</a:t>
            </a:r>
            <a:endParaRPr lang="en-GB" dirty="0"/>
          </a:p>
        </p:txBody>
      </p:sp>
      <p:sp>
        <p:nvSpPr>
          <p:cNvPr id="3" name="Content Placeholder 2"/>
          <p:cNvSpPr>
            <a:spLocks noGrp="1"/>
          </p:cNvSpPr>
          <p:nvPr>
            <p:ph idx="1"/>
          </p:nvPr>
        </p:nvSpPr>
        <p:spPr>
          <a:xfrm>
            <a:off x="838200" y="1825625"/>
            <a:ext cx="10515600" cy="4821360"/>
          </a:xfrm>
        </p:spPr>
        <p:txBody>
          <a:bodyPr>
            <a:normAutofit/>
          </a:bodyPr>
          <a:lstStyle/>
          <a:p>
            <a:pPr marL="0" indent="0">
              <a:buNone/>
            </a:pPr>
            <a:r>
              <a:rPr lang="en-US" dirty="0" err="1">
                <a:solidFill>
                  <a:srgbClr val="FF0000"/>
                </a:solidFill>
              </a:rPr>
              <a:t>Colspan</a:t>
            </a:r>
            <a:r>
              <a:rPr lang="en-US" dirty="0"/>
              <a:t> </a:t>
            </a:r>
            <a:r>
              <a:rPr lang="en-US" dirty="0" smtClean="0"/>
              <a:t>is </a:t>
            </a:r>
            <a:r>
              <a:rPr lang="en-US" dirty="0"/>
              <a:t>an HTML attribute that allows you to span a row or column across </a:t>
            </a:r>
            <a:r>
              <a:rPr lang="en-US" dirty="0" smtClean="0"/>
              <a:t>multiple </a:t>
            </a:r>
            <a:r>
              <a:rPr lang="en-US" dirty="0"/>
              <a:t>cells. </a:t>
            </a:r>
            <a:endParaRPr lang="en-US" dirty="0" smtClean="0"/>
          </a:p>
          <a:p>
            <a:pPr marL="914400" lvl="2" indent="0">
              <a:spcBef>
                <a:spcPts val="0"/>
              </a:spcBef>
              <a:buNone/>
            </a:pPr>
            <a:r>
              <a:rPr lang="en-US" dirty="0"/>
              <a:t>&lt;table&gt;</a:t>
            </a:r>
          </a:p>
          <a:p>
            <a:pPr marL="1371600" lvl="3" indent="0">
              <a:spcBef>
                <a:spcPts val="0"/>
              </a:spcBef>
              <a:buNone/>
            </a:pPr>
            <a:r>
              <a:rPr lang="en-US" dirty="0"/>
              <a:t>  &lt;</a:t>
            </a:r>
            <a:r>
              <a:rPr lang="en-US" dirty="0" err="1"/>
              <a:t>tr</a:t>
            </a:r>
            <a:r>
              <a:rPr lang="en-US" dirty="0" smtClean="0"/>
              <a:t>&gt;     </a:t>
            </a:r>
            <a:r>
              <a:rPr lang="en-US" dirty="0"/>
              <a:t>&lt;</a:t>
            </a:r>
            <a:r>
              <a:rPr lang="en-US" dirty="0" err="1"/>
              <a:t>th</a:t>
            </a:r>
            <a:r>
              <a:rPr lang="en-US" dirty="0"/>
              <a:t>&gt;Month&lt;/</a:t>
            </a:r>
            <a:r>
              <a:rPr lang="en-US" dirty="0" err="1"/>
              <a:t>th</a:t>
            </a:r>
            <a:r>
              <a:rPr lang="en-US" dirty="0" smtClean="0"/>
              <a:t>&gt;        &lt;</a:t>
            </a:r>
            <a:r>
              <a:rPr lang="en-US" dirty="0" err="1"/>
              <a:t>th</a:t>
            </a:r>
            <a:r>
              <a:rPr lang="en-US" dirty="0"/>
              <a:t>&gt;Savings&lt;/</a:t>
            </a:r>
            <a:r>
              <a:rPr lang="en-US" dirty="0" err="1"/>
              <a:t>th</a:t>
            </a:r>
            <a:r>
              <a:rPr lang="en-US" dirty="0" smtClean="0"/>
              <a:t>&gt;    </a:t>
            </a:r>
            <a:r>
              <a:rPr lang="en-US" dirty="0"/>
              <a:t>&lt;/</a:t>
            </a:r>
            <a:r>
              <a:rPr lang="en-US" dirty="0" err="1"/>
              <a:t>tr</a:t>
            </a:r>
            <a:r>
              <a:rPr lang="en-US" dirty="0"/>
              <a:t>&gt;</a:t>
            </a:r>
          </a:p>
          <a:p>
            <a:pPr marL="1371600" lvl="3" indent="0">
              <a:spcBef>
                <a:spcPts val="0"/>
              </a:spcBef>
              <a:buNone/>
            </a:pPr>
            <a:r>
              <a:rPr lang="en-US" dirty="0"/>
              <a:t>  &lt;</a:t>
            </a:r>
            <a:r>
              <a:rPr lang="en-US" dirty="0" err="1"/>
              <a:t>tr</a:t>
            </a:r>
            <a:r>
              <a:rPr lang="en-US" dirty="0" smtClean="0"/>
              <a:t>&gt;     </a:t>
            </a:r>
            <a:r>
              <a:rPr lang="en-US" dirty="0"/>
              <a:t>&lt;td&gt;January&lt;/td</a:t>
            </a:r>
            <a:r>
              <a:rPr lang="en-US" dirty="0" smtClean="0"/>
              <a:t>&gt;       &lt;</a:t>
            </a:r>
            <a:r>
              <a:rPr lang="en-US" dirty="0"/>
              <a:t>td&gt;$100&lt;/td</a:t>
            </a:r>
            <a:r>
              <a:rPr lang="en-US" dirty="0" smtClean="0"/>
              <a:t>&gt;        &lt;/</a:t>
            </a:r>
            <a:r>
              <a:rPr lang="en-US" dirty="0" err="1"/>
              <a:t>tr</a:t>
            </a:r>
            <a:r>
              <a:rPr lang="en-US" dirty="0"/>
              <a:t>&gt;</a:t>
            </a:r>
          </a:p>
          <a:p>
            <a:pPr marL="1371600" lvl="3" indent="0">
              <a:spcBef>
                <a:spcPts val="0"/>
              </a:spcBef>
              <a:buNone/>
            </a:pPr>
            <a:r>
              <a:rPr lang="en-US" dirty="0"/>
              <a:t>  &lt;</a:t>
            </a:r>
            <a:r>
              <a:rPr lang="en-US" dirty="0" err="1"/>
              <a:t>tr</a:t>
            </a:r>
            <a:r>
              <a:rPr lang="en-US" dirty="0" smtClean="0"/>
              <a:t>&gt;     </a:t>
            </a:r>
            <a:r>
              <a:rPr lang="en-US" dirty="0"/>
              <a:t>&lt;td&gt;February&lt;/td</a:t>
            </a:r>
            <a:r>
              <a:rPr lang="en-US" dirty="0" smtClean="0"/>
              <a:t>&gt;     </a:t>
            </a:r>
            <a:r>
              <a:rPr lang="en-US" dirty="0"/>
              <a:t>&lt;td&gt;$80&lt;/td</a:t>
            </a:r>
            <a:r>
              <a:rPr lang="en-US" dirty="0" smtClean="0"/>
              <a:t>&gt;          &lt;/</a:t>
            </a:r>
            <a:r>
              <a:rPr lang="en-US" dirty="0" err="1"/>
              <a:t>tr</a:t>
            </a:r>
            <a:r>
              <a:rPr lang="en-US" dirty="0"/>
              <a:t>&gt;</a:t>
            </a:r>
          </a:p>
          <a:p>
            <a:pPr marL="1371600" lvl="3" indent="0">
              <a:spcBef>
                <a:spcPts val="0"/>
              </a:spcBef>
              <a:buNone/>
            </a:pPr>
            <a:r>
              <a:rPr lang="en-US" dirty="0"/>
              <a:t>  &lt;</a:t>
            </a:r>
            <a:r>
              <a:rPr lang="en-US" dirty="0" err="1"/>
              <a:t>tr</a:t>
            </a:r>
            <a:r>
              <a:rPr lang="en-US" dirty="0" smtClean="0"/>
              <a:t>&gt;     </a:t>
            </a:r>
            <a:r>
              <a:rPr lang="en-US" dirty="0"/>
              <a:t>&lt;td </a:t>
            </a:r>
            <a:r>
              <a:rPr lang="en-US" b="1" dirty="0" err="1">
                <a:solidFill>
                  <a:srgbClr val="FF0000"/>
                </a:solidFill>
              </a:rPr>
              <a:t>colspan</a:t>
            </a:r>
            <a:r>
              <a:rPr lang="en-US" b="1" dirty="0">
                <a:solidFill>
                  <a:srgbClr val="FF0000"/>
                </a:solidFill>
              </a:rPr>
              <a:t>="2"</a:t>
            </a:r>
            <a:r>
              <a:rPr lang="en-US" dirty="0"/>
              <a:t>&gt;Sum: $180&lt;/td</a:t>
            </a:r>
            <a:r>
              <a:rPr lang="en-US" dirty="0" smtClean="0"/>
              <a:t>&gt;              </a:t>
            </a:r>
            <a:r>
              <a:rPr lang="en-US" dirty="0"/>
              <a:t>&lt;/</a:t>
            </a:r>
            <a:r>
              <a:rPr lang="en-US" dirty="0" err="1"/>
              <a:t>tr</a:t>
            </a:r>
            <a:r>
              <a:rPr lang="en-US" dirty="0"/>
              <a:t>&gt;</a:t>
            </a:r>
          </a:p>
          <a:p>
            <a:pPr marL="914400" lvl="2" indent="0">
              <a:spcBef>
                <a:spcPts val="0"/>
              </a:spcBef>
              <a:buNone/>
            </a:pPr>
            <a:r>
              <a:rPr lang="en-US" dirty="0"/>
              <a:t>&lt;/table</a:t>
            </a:r>
            <a:r>
              <a:rPr lang="en-US" dirty="0" smtClean="0"/>
              <a:t>&gt;</a:t>
            </a:r>
            <a:endParaRPr lang="en-GB" dirty="0" smtClean="0"/>
          </a:p>
          <a:p>
            <a:pPr marL="0" indent="0">
              <a:spcBef>
                <a:spcPts val="0"/>
              </a:spcBef>
              <a:buNone/>
            </a:pPr>
            <a:endParaRPr lang="en-US" dirty="0" smtClean="0"/>
          </a:p>
          <a:p>
            <a:pPr marL="0" indent="0">
              <a:spcBef>
                <a:spcPts val="0"/>
              </a:spcBef>
              <a:buNone/>
            </a:pPr>
            <a:r>
              <a:rPr lang="en-US" dirty="0" smtClean="0">
                <a:solidFill>
                  <a:srgbClr val="FF0000"/>
                </a:solidFill>
              </a:rPr>
              <a:t>NOWRAP</a:t>
            </a:r>
            <a:r>
              <a:rPr lang="en-US" dirty="0"/>
              <a:t> </a:t>
            </a:r>
            <a:r>
              <a:rPr lang="en-US" dirty="0" smtClean="0"/>
              <a:t>attribute indicates </a:t>
            </a:r>
            <a:r>
              <a:rPr lang="en-US" dirty="0"/>
              <a:t>that text should not wrap in the cell</a:t>
            </a:r>
            <a:r>
              <a:rPr lang="en-US" dirty="0" smtClean="0"/>
              <a:t>.</a:t>
            </a:r>
          </a:p>
          <a:p>
            <a:pPr marL="0" indent="0">
              <a:spcBef>
                <a:spcPts val="0"/>
              </a:spcBef>
              <a:buNone/>
            </a:pPr>
            <a:r>
              <a:rPr lang="en-US" dirty="0"/>
              <a:t/>
            </a:r>
            <a:br>
              <a:rPr lang="en-US" dirty="0"/>
            </a:br>
            <a:endParaRPr lang="en-US" dirty="0" smtClean="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7252" y="2905125"/>
            <a:ext cx="1228725"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7" name="Table 6"/>
          <p:cNvGraphicFramePr>
            <a:graphicFrameLocks noGrp="1"/>
          </p:cNvGraphicFramePr>
          <p:nvPr>
            <p:extLst>
              <p:ext uri="{D42A27DB-BD31-4B8C-83A1-F6EECF244321}">
                <p14:modId xmlns:p14="http://schemas.microsoft.com/office/powerpoint/2010/main" val="3430556929"/>
              </p:ext>
            </p:extLst>
          </p:nvPr>
        </p:nvGraphicFramePr>
        <p:xfrm>
          <a:off x="767871" y="5059887"/>
          <a:ext cx="9981264" cy="1463040"/>
        </p:xfrm>
        <a:graphic>
          <a:graphicData uri="http://schemas.openxmlformats.org/drawingml/2006/table">
            <a:tbl>
              <a:tblPr/>
              <a:tblGrid>
                <a:gridCol w="9772984"/>
                <a:gridCol w="208280"/>
              </a:tblGrid>
              <a:tr h="0">
                <a:tc>
                  <a:txBody>
                    <a:bodyPr/>
                    <a:lstStyle/>
                    <a:p>
                      <a:pPr algn="l"/>
                      <a:r>
                        <a:rPr lang="en-US" b="0" i="0" dirty="0">
                          <a:solidFill>
                            <a:srgbClr val="000000"/>
                          </a:solidFill>
                          <a:effectLst/>
                          <a:latin typeface="Lato"/>
                        </a:rPr>
                        <a:t>&lt;TABLE </a:t>
                      </a:r>
                      <a:r>
                        <a:rPr lang="en-US" b="0" i="0" dirty="0" smtClean="0">
                          <a:solidFill>
                            <a:srgbClr val="000000"/>
                          </a:solidFill>
                          <a:effectLst/>
                          <a:latin typeface="Lato"/>
                        </a:rPr>
                        <a:t>BORDER=1&gt; </a:t>
                      </a:r>
                    </a:p>
                    <a:p>
                      <a:pPr algn="l"/>
                      <a:r>
                        <a:rPr lang="en-US" b="0" i="0" dirty="0" smtClean="0">
                          <a:solidFill>
                            <a:srgbClr val="000000"/>
                          </a:solidFill>
                          <a:effectLst/>
                          <a:latin typeface="Lato"/>
                        </a:rPr>
                        <a:t>    &lt;</a:t>
                      </a:r>
                      <a:r>
                        <a:rPr lang="en-US" b="0" i="0" dirty="0">
                          <a:solidFill>
                            <a:srgbClr val="000000"/>
                          </a:solidFill>
                          <a:effectLst/>
                          <a:latin typeface="Lato"/>
                        </a:rPr>
                        <a:t>TR&gt; </a:t>
                      </a:r>
                      <a:endParaRPr lang="en-US" b="0" i="0" dirty="0" smtClean="0">
                        <a:solidFill>
                          <a:srgbClr val="000000"/>
                        </a:solidFill>
                        <a:effectLst/>
                        <a:latin typeface="Lato"/>
                      </a:endParaRPr>
                    </a:p>
                    <a:p>
                      <a:pPr algn="l"/>
                      <a:r>
                        <a:rPr lang="en-US" b="0" i="0" dirty="0" smtClean="0">
                          <a:solidFill>
                            <a:srgbClr val="000000"/>
                          </a:solidFill>
                          <a:effectLst/>
                          <a:latin typeface="Lato"/>
                        </a:rPr>
                        <a:t>           &lt;</a:t>
                      </a:r>
                      <a:r>
                        <a:rPr lang="en-US" b="0" i="0" dirty="0">
                          <a:solidFill>
                            <a:srgbClr val="000000"/>
                          </a:solidFill>
                          <a:effectLst/>
                          <a:latin typeface="Lato"/>
                        </a:rPr>
                        <a:t>TD </a:t>
                      </a:r>
                      <a:r>
                        <a:rPr lang="en-US" b="0" i="1" dirty="0" smtClean="0">
                          <a:solidFill>
                            <a:srgbClr val="000000"/>
                          </a:solidFill>
                          <a:effectLst/>
                          <a:latin typeface="Lato"/>
                        </a:rPr>
                        <a:t>NOWRAP</a:t>
                      </a:r>
                      <a:r>
                        <a:rPr lang="en-US" b="0" i="0" dirty="0" smtClean="0">
                          <a:solidFill>
                            <a:srgbClr val="000000"/>
                          </a:solidFill>
                          <a:effectLst/>
                          <a:latin typeface="Lato"/>
                        </a:rPr>
                        <a:t>&gt; sentence</a:t>
                      </a:r>
                      <a:r>
                        <a:rPr lang="en-US" b="0" i="0" dirty="0">
                          <a:solidFill>
                            <a:srgbClr val="000000"/>
                          </a:solidFill>
                          <a:effectLst/>
                          <a:latin typeface="Lato"/>
                        </a:rPr>
                        <a:t>, </a:t>
                      </a:r>
                      <a:r>
                        <a:rPr lang="en-US" b="0" i="0" dirty="0" smtClean="0">
                          <a:solidFill>
                            <a:srgbClr val="000000"/>
                          </a:solidFill>
                          <a:effectLst/>
                          <a:latin typeface="Lato"/>
                        </a:rPr>
                        <a:t>would </a:t>
                      </a:r>
                      <a:r>
                        <a:rPr lang="en-US" b="0" i="0" dirty="0">
                          <a:solidFill>
                            <a:srgbClr val="000000"/>
                          </a:solidFill>
                          <a:effectLst/>
                          <a:latin typeface="Lato"/>
                        </a:rPr>
                        <a:t>prefer </a:t>
                      </a:r>
                      <a:r>
                        <a:rPr lang="en-US" b="0" i="0" dirty="0" smtClean="0">
                          <a:solidFill>
                            <a:srgbClr val="000000"/>
                          </a:solidFill>
                          <a:effectLst/>
                          <a:latin typeface="Lato"/>
                        </a:rPr>
                        <a:t> </a:t>
                      </a:r>
                      <a:r>
                        <a:rPr lang="en-US" b="0" i="0" dirty="0">
                          <a:solidFill>
                            <a:srgbClr val="000000"/>
                          </a:solidFill>
                          <a:effectLst/>
                          <a:latin typeface="Lato"/>
                        </a:rPr>
                        <a:t>not wrap at all any time</a:t>
                      </a:r>
                      <a:r>
                        <a:rPr lang="en-US" b="0" i="0" dirty="0" smtClean="0">
                          <a:solidFill>
                            <a:srgbClr val="000000"/>
                          </a:solidFill>
                          <a:effectLst/>
                          <a:latin typeface="Lato"/>
                        </a:rPr>
                        <a:t>.&lt;/</a:t>
                      </a:r>
                      <a:r>
                        <a:rPr lang="en-US" b="0" i="0" dirty="0">
                          <a:solidFill>
                            <a:srgbClr val="000000"/>
                          </a:solidFill>
                          <a:effectLst/>
                          <a:latin typeface="Lato"/>
                        </a:rPr>
                        <a:t>TD&gt; </a:t>
                      </a:r>
                      <a:endParaRPr lang="en-US" b="0" i="0" dirty="0" smtClean="0">
                        <a:solidFill>
                          <a:srgbClr val="000000"/>
                        </a:solidFill>
                        <a:effectLst/>
                        <a:latin typeface="Lato"/>
                      </a:endParaRPr>
                    </a:p>
                    <a:p>
                      <a:pPr algn="l"/>
                      <a:r>
                        <a:rPr lang="en-US" b="0" i="0" dirty="0" smtClean="0">
                          <a:solidFill>
                            <a:srgbClr val="000000"/>
                          </a:solidFill>
                          <a:effectLst/>
                          <a:latin typeface="Lato"/>
                        </a:rPr>
                        <a:t>     &lt;/</a:t>
                      </a:r>
                      <a:r>
                        <a:rPr lang="en-US" b="0" i="0" dirty="0">
                          <a:solidFill>
                            <a:srgbClr val="000000"/>
                          </a:solidFill>
                          <a:effectLst/>
                          <a:latin typeface="Lato"/>
                        </a:rPr>
                        <a:t>TR&gt; </a:t>
                      </a:r>
                      <a:endParaRPr lang="en-US" b="0" i="0" dirty="0" smtClean="0">
                        <a:solidFill>
                          <a:srgbClr val="000000"/>
                        </a:solidFill>
                        <a:effectLst/>
                        <a:latin typeface="Lato"/>
                      </a:endParaRPr>
                    </a:p>
                    <a:p>
                      <a:pPr algn="l"/>
                      <a:r>
                        <a:rPr lang="en-US" b="0" i="0" dirty="0" smtClean="0">
                          <a:solidFill>
                            <a:srgbClr val="000000"/>
                          </a:solidFill>
                          <a:effectLst/>
                          <a:latin typeface="Lato"/>
                        </a:rPr>
                        <a:t>&lt;/</a:t>
                      </a:r>
                      <a:r>
                        <a:rPr lang="en-US" b="0" i="0" dirty="0">
                          <a:solidFill>
                            <a:srgbClr val="000000"/>
                          </a:solidFill>
                          <a:effectLst/>
                          <a:latin typeface="Lato"/>
                        </a:rPr>
                        <a:t>TABLE&gt; </a:t>
                      </a:r>
                    </a:p>
                  </a:txBody>
                  <a:tcPr anchor="ctr">
                    <a:lnL>
                      <a:noFill/>
                    </a:lnL>
                    <a:lnR>
                      <a:noFill/>
                    </a:lnR>
                    <a:lnT>
                      <a:noFill/>
                    </a:lnT>
                    <a:lnB>
                      <a:noFill/>
                    </a:lnB>
                    <a:solidFill>
                      <a:srgbClr val="CCCCCC"/>
                    </a:solidFill>
                  </a:tcPr>
                </a:tc>
                <a:tc>
                  <a:txBody>
                    <a:bodyPr/>
                    <a:lstStyle/>
                    <a:p>
                      <a:pPr algn="l"/>
                      <a:endParaRPr lang="en-GB" b="0" i="0" dirty="0">
                        <a:solidFill>
                          <a:srgbClr val="000000"/>
                        </a:solidFill>
                        <a:effectLst/>
                        <a:latin typeface="Lato"/>
                      </a:endParaRP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7617955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231" y="2967648"/>
            <a:ext cx="10515600" cy="1325563"/>
          </a:xfrm>
        </p:spPr>
        <p:txBody>
          <a:bodyPr/>
          <a:lstStyle/>
          <a:p>
            <a:pPr algn="ctr"/>
            <a:r>
              <a:rPr lang="en-US" dirty="0" smtClean="0"/>
              <a:t>HTML Form Tags</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428955988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HTML Form Element</a:t>
            </a:r>
            <a:endParaRPr lang="en-GB" dirty="0"/>
          </a:p>
        </p:txBody>
      </p:sp>
      <p:sp>
        <p:nvSpPr>
          <p:cNvPr id="3" name="Content Placeholder 2"/>
          <p:cNvSpPr>
            <a:spLocks noGrp="1"/>
          </p:cNvSpPr>
          <p:nvPr>
            <p:ph idx="1"/>
          </p:nvPr>
        </p:nvSpPr>
        <p:spPr>
          <a:xfrm>
            <a:off x="838200" y="1524000"/>
            <a:ext cx="10515600" cy="4652963"/>
          </a:xfrm>
        </p:spPr>
        <p:txBody>
          <a:bodyPr>
            <a:normAutofit/>
          </a:bodyPr>
          <a:lstStyle/>
          <a:p>
            <a:pPr marL="0" indent="0">
              <a:buNone/>
            </a:pPr>
            <a:r>
              <a:rPr lang="en-US" sz="2400" dirty="0"/>
              <a:t>The HTML &lt;form&gt; element is used to create an HTML form for </a:t>
            </a:r>
            <a:r>
              <a:rPr lang="en-US" sz="2400" dirty="0" smtClean="0"/>
              <a:t>different  types of user </a:t>
            </a:r>
            <a:r>
              <a:rPr lang="en-US" sz="2400" dirty="0" smtClean="0">
                <a:solidFill>
                  <a:srgbClr val="FF0000"/>
                </a:solidFill>
              </a:rPr>
              <a:t>input</a:t>
            </a:r>
            <a:r>
              <a:rPr lang="en-US" sz="2400" dirty="0" smtClean="0"/>
              <a:t>, such as text field, checkboxes, radio buttons, submit button, etc. </a:t>
            </a:r>
          </a:p>
          <a:p>
            <a:pPr marL="457200" lvl="1" indent="0">
              <a:buNone/>
            </a:pPr>
            <a:r>
              <a:rPr lang="en-US" sz="1600" dirty="0" smtClean="0"/>
              <a:t>&lt;form&gt;</a:t>
            </a:r>
          </a:p>
          <a:p>
            <a:pPr marL="457200" lvl="1" indent="0">
              <a:buNone/>
            </a:pPr>
            <a:r>
              <a:rPr lang="en-US" sz="1600" dirty="0"/>
              <a:t>	</a:t>
            </a:r>
            <a:r>
              <a:rPr lang="en-US" sz="1600" dirty="0" smtClean="0">
                <a:solidFill>
                  <a:srgbClr val="FF0000"/>
                </a:solidFill>
              </a:rPr>
              <a:t>&lt;input&gt;</a:t>
            </a:r>
          </a:p>
          <a:p>
            <a:pPr marL="457200" lvl="1" indent="0">
              <a:buNone/>
            </a:pPr>
            <a:r>
              <a:rPr lang="en-US" sz="1600" dirty="0" smtClean="0"/>
              <a:t>&lt;/form&gt;</a:t>
            </a:r>
            <a:endParaRPr lang="en-US" sz="2000" dirty="0"/>
          </a:p>
          <a:p>
            <a:pPr marL="0" indent="0">
              <a:buNone/>
            </a:pPr>
            <a:r>
              <a:rPr lang="en-US" sz="2400" dirty="0" smtClean="0"/>
              <a:t>The “type” of the input type defined by the ‘type’ attribute. </a:t>
            </a:r>
          </a:p>
          <a:p>
            <a:pPr marL="0" indent="0">
              <a:buNone/>
            </a:pPr>
            <a:endParaRPr lang="en-US" sz="2400" dirty="0" smtClean="0"/>
          </a:p>
          <a:p>
            <a:pPr marL="0" indent="0">
              <a:buNone/>
            </a:pP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726012404"/>
              </p:ext>
            </p:extLst>
          </p:nvPr>
        </p:nvGraphicFramePr>
        <p:xfrm>
          <a:off x="82066" y="3612237"/>
          <a:ext cx="11992703" cy="3337212"/>
        </p:xfrm>
        <a:graphic>
          <a:graphicData uri="http://schemas.openxmlformats.org/drawingml/2006/table">
            <a:tbl>
              <a:tblPr/>
              <a:tblGrid>
                <a:gridCol w="6412519"/>
                <a:gridCol w="5580184"/>
              </a:tblGrid>
              <a:tr h="424791">
                <a:tc>
                  <a:txBody>
                    <a:bodyPr/>
                    <a:lstStyle/>
                    <a:p>
                      <a:pPr algn="l" fontAlgn="t"/>
                      <a:r>
                        <a:rPr lang="en-GB" dirty="0">
                          <a:effectLst/>
                        </a:rPr>
                        <a:t>&lt;input type="</a:t>
                      </a:r>
                      <a:r>
                        <a:rPr lang="en-GB" dirty="0" smtClean="0">
                          <a:effectLst/>
                        </a:rPr>
                        <a:t>text“ value = “Click me”&gt;</a:t>
                      </a:r>
                      <a:endParaRPr lang="en-GB" dirty="0">
                        <a:effectLst/>
                      </a:endParaRP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600" dirty="0">
                          <a:effectLst/>
                        </a:rPr>
                        <a:t>Displays a single-line text input field</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521325">
                <a:tc>
                  <a:txBody>
                    <a:bodyPr/>
                    <a:lstStyle/>
                    <a:p>
                      <a:pPr algn="l" fontAlgn="t"/>
                      <a:r>
                        <a:rPr lang="en-GB" dirty="0">
                          <a:effectLst/>
                        </a:rPr>
                        <a:t>&lt;input type="</a:t>
                      </a:r>
                      <a:r>
                        <a:rPr lang="en-GB" dirty="0" smtClean="0">
                          <a:effectLst/>
                        </a:rPr>
                        <a:t>radio“  name=“gender” value=“male”&gt;</a:t>
                      </a:r>
                    </a:p>
                    <a:p>
                      <a:pPr marL="0" marR="0" indent="0" algn="l" defTabSz="914400" rtl="0" eaLnBrk="1" fontAlgn="t" latinLnBrk="0" hangingPunct="1">
                        <a:lnSpc>
                          <a:spcPct val="100000"/>
                        </a:lnSpc>
                        <a:spcBef>
                          <a:spcPts val="0"/>
                        </a:spcBef>
                        <a:spcAft>
                          <a:spcPts val="0"/>
                        </a:spcAft>
                        <a:buClrTx/>
                        <a:buSzTx/>
                        <a:buFontTx/>
                        <a:buNone/>
                        <a:tabLst/>
                        <a:defRPr/>
                      </a:pPr>
                      <a:r>
                        <a:rPr lang="en-GB" dirty="0" smtClean="0">
                          <a:effectLst/>
                        </a:rPr>
                        <a:t>&lt;input type="radio“  name=“gender” value=“female”&gt;</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dirty="0">
                          <a:effectLst/>
                        </a:rPr>
                        <a:t>Displays a radio button (for selecting one of many choices)</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15815">
                <a:tc>
                  <a:txBody>
                    <a:bodyPr/>
                    <a:lstStyle/>
                    <a:p>
                      <a:pPr algn="l" fontAlgn="t"/>
                      <a:r>
                        <a:rPr lang="en-GB" dirty="0">
                          <a:effectLst/>
                        </a:rPr>
                        <a:t>&lt;input type="</a:t>
                      </a:r>
                      <a:r>
                        <a:rPr lang="en-GB" dirty="0" smtClean="0">
                          <a:effectLst/>
                        </a:rPr>
                        <a:t>checkbox“ name=“hobbies” value=“reading”&gt;</a:t>
                      </a:r>
                      <a:endParaRPr lang="en-GB" dirty="0">
                        <a:effectLst/>
                      </a:endParaRP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600" dirty="0">
                          <a:effectLst/>
                        </a:rPr>
                        <a:t>Displays a checkbox (for selecting zero or more of many choices)</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565877">
                <a:tc>
                  <a:txBody>
                    <a:bodyPr/>
                    <a:lstStyle/>
                    <a:p>
                      <a:pPr algn="l" fontAlgn="t"/>
                      <a:r>
                        <a:rPr lang="en-GB" dirty="0">
                          <a:effectLst/>
                        </a:rPr>
                        <a:t>&lt;input type="</a:t>
                      </a:r>
                      <a:r>
                        <a:rPr lang="en-GB" dirty="0" smtClean="0">
                          <a:effectLst/>
                        </a:rPr>
                        <a:t>submit“ value=“Submit”&gt;</a:t>
                      </a:r>
                      <a:endParaRPr lang="en-GB" dirty="0">
                        <a:effectLst/>
                      </a:endParaRP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dirty="0">
                          <a:effectLst/>
                        </a:rPr>
                        <a:t>Displays a submit button (for submitting the form)</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424791">
                <a:tc>
                  <a:txBody>
                    <a:bodyPr/>
                    <a:lstStyle/>
                    <a:p>
                      <a:pPr algn="l" fontAlgn="t"/>
                      <a:r>
                        <a:rPr lang="en-GB" dirty="0">
                          <a:effectLst/>
                        </a:rPr>
                        <a:t>&lt;input type</a:t>
                      </a:r>
                      <a:r>
                        <a:rPr lang="en-GB" dirty="0" smtClean="0">
                          <a:effectLst/>
                        </a:rPr>
                        <a:t>=“reset“ value=“Reset”&gt;</a:t>
                      </a:r>
                      <a:endParaRPr lang="en-GB" dirty="0">
                        <a:effectLst/>
                      </a:endParaRP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GB" sz="1600" dirty="0">
                          <a:effectLst/>
                        </a:rPr>
                        <a:t>Displays a clickable button</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424791">
                <a:tc>
                  <a:txBody>
                    <a:bodyPr/>
                    <a:lstStyle/>
                    <a:p>
                      <a:pPr algn="l" fontAlgn="t"/>
                      <a:r>
                        <a:rPr lang="en-US" dirty="0" smtClean="0">
                          <a:effectLst/>
                        </a:rPr>
                        <a:t>&lt;input type=“password” name=“password” placeholder=“ Enter password”&gt;</a:t>
                      </a:r>
                      <a:endParaRPr lang="en-GB" dirty="0">
                        <a:effectLst/>
                      </a:endParaRP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endParaRPr lang="en-GB" sz="1600" dirty="0">
                        <a:effectLst/>
                      </a:endParaRP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r>
            </a:tbl>
          </a:graphicData>
        </a:graphic>
      </p:graphicFrame>
    </p:spTree>
    <p:extLst>
      <p:ext uri="{BB962C8B-B14F-4D97-AF65-F5344CB8AC3E}">
        <p14:creationId xmlns:p14="http://schemas.microsoft.com/office/powerpoint/2010/main" val="359328981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HTML Form Element</a:t>
            </a:r>
            <a:endParaRPr lang="en-GB" dirty="0"/>
          </a:p>
        </p:txBody>
      </p:sp>
      <p:sp>
        <p:nvSpPr>
          <p:cNvPr id="3" name="Content Placeholder 2"/>
          <p:cNvSpPr>
            <a:spLocks noGrp="1"/>
          </p:cNvSpPr>
          <p:nvPr>
            <p:ph idx="1"/>
          </p:nvPr>
        </p:nvSpPr>
        <p:spPr>
          <a:xfrm>
            <a:off x="633045" y="3802071"/>
            <a:ext cx="11007969" cy="2374892"/>
          </a:xfrm>
        </p:spPr>
        <p:txBody>
          <a:bodyPr>
            <a:normAutofit lnSpcReduction="10000"/>
          </a:bodyPr>
          <a:lstStyle/>
          <a:p>
            <a:pPr marL="0" indent="0">
              <a:buNone/>
            </a:pPr>
            <a:r>
              <a:rPr lang="en-US" dirty="0" smtClean="0"/>
              <a:t>Each input field must have a name attribute to be submitted. </a:t>
            </a:r>
            <a:r>
              <a:rPr lang="en-US" dirty="0"/>
              <a:t>If </a:t>
            </a:r>
            <a:r>
              <a:rPr lang="en-US" dirty="0" smtClean="0"/>
              <a:t>the name attribute is </a:t>
            </a:r>
            <a:r>
              <a:rPr lang="en-US" dirty="0"/>
              <a:t>omitted, the value of the input field will not be </a:t>
            </a:r>
            <a:r>
              <a:rPr lang="en-US" dirty="0" smtClean="0"/>
              <a:t>sent.</a:t>
            </a:r>
          </a:p>
          <a:p>
            <a:pPr marL="0" indent="0">
              <a:buNone/>
            </a:pPr>
            <a:r>
              <a:rPr lang="en-US" dirty="0" smtClean="0"/>
              <a:t>The</a:t>
            </a:r>
            <a:r>
              <a:rPr lang="en-US" dirty="0"/>
              <a:t> </a:t>
            </a:r>
            <a:r>
              <a:rPr lang="en-US" b="1" dirty="0"/>
              <a:t>&lt;label&gt;</a:t>
            </a:r>
            <a:r>
              <a:rPr lang="en-US" dirty="0"/>
              <a:t> tag defines a label </a:t>
            </a:r>
            <a:r>
              <a:rPr lang="en-US" dirty="0" smtClean="0"/>
              <a:t>for </a:t>
            </a:r>
            <a:r>
              <a:rPr lang="en-US" dirty="0"/>
              <a:t>form elements</a:t>
            </a:r>
            <a:r>
              <a:rPr lang="en-US" dirty="0" smtClean="0"/>
              <a:t>. </a:t>
            </a:r>
            <a:r>
              <a:rPr lang="en-US" dirty="0"/>
              <a:t>The </a:t>
            </a:r>
            <a:r>
              <a:rPr lang="en-US" b="1" dirty="0" smtClean="0"/>
              <a:t>for</a:t>
            </a:r>
            <a:r>
              <a:rPr lang="en-US" dirty="0"/>
              <a:t> attribute of the &lt;label&gt; tag should be equal to the id attribute </a:t>
            </a:r>
            <a:r>
              <a:rPr lang="en-US" dirty="0" smtClean="0"/>
              <a:t>of the &lt;input&gt; element to </a:t>
            </a:r>
            <a:r>
              <a:rPr lang="en-US" dirty="0"/>
              <a:t>bind them together</a:t>
            </a:r>
            <a:r>
              <a:rPr lang="en-US" dirty="0" smtClean="0"/>
              <a:t>. This is because, when </a:t>
            </a:r>
            <a:r>
              <a:rPr lang="en-US" dirty="0"/>
              <a:t>the user clicks the text within the &lt;label&gt; element, it toggles the </a:t>
            </a:r>
            <a:r>
              <a:rPr lang="en-US" dirty="0" smtClean="0"/>
              <a:t>input </a:t>
            </a:r>
            <a:r>
              <a:rPr lang="en-US" dirty="0"/>
              <a:t>button</a:t>
            </a:r>
            <a:r>
              <a:rPr lang="en-US" dirty="0" smtClean="0"/>
              <a:t>/ checkbox</a:t>
            </a:r>
            <a:r>
              <a:rPr lang="en-US" dirty="0"/>
              <a:t>.</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
        <p:nvSpPr>
          <p:cNvPr id="5" name="Rectangle 4"/>
          <p:cNvSpPr/>
          <p:nvPr/>
        </p:nvSpPr>
        <p:spPr>
          <a:xfrm>
            <a:off x="633047" y="1625716"/>
            <a:ext cx="7959967" cy="2031325"/>
          </a:xfrm>
          <a:prstGeom prst="rect">
            <a:avLst/>
          </a:prstGeom>
        </p:spPr>
        <p:txBody>
          <a:bodyPr wrap="square">
            <a:spAutoFit/>
          </a:bodyPr>
          <a:lstStyle/>
          <a:p>
            <a:r>
              <a:rPr lang="en-GB" dirty="0"/>
              <a:t>&lt;form&gt;</a:t>
            </a:r>
            <a:br>
              <a:rPr lang="en-GB" dirty="0"/>
            </a:br>
            <a:r>
              <a:rPr lang="en-GB" dirty="0"/>
              <a:t>  &lt;label for="</a:t>
            </a:r>
            <a:r>
              <a:rPr lang="en-GB" dirty="0" err="1"/>
              <a:t>fname</a:t>
            </a:r>
            <a:r>
              <a:rPr lang="en-GB" dirty="0"/>
              <a:t>"&gt;First name:&lt;/label&gt;&lt;</a:t>
            </a:r>
            <a:r>
              <a:rPr lang="en-GB" dirty="0" err="1"/>
              <a:t>br</a:t>
            </a:r>
            <a:r>
              <a:rPr lang="en-GB" dirty="0"/>
              <a:t>&gt;</a:t>
            </a:r>
            <a:br>
              <a:rPr lang="en-GB" dirty="0"/>
            </a:br>
            <a:r>
              <a:rPr lang="en-GB" dirty="0"/>
              <a:t>  &lt;input type="text" id="</a:t>
            </a:r>
            <a:r>
              <a:rPr lang="en-GB" dirty="0" err="1"/>
              <a:t>fname</a:t>
            </a:r>
            <a:r>
              <a:rPr lang="en-GB" dirty="0"/>
              <a:t>" name="</a:t>
            </a:r>
            <a:r>
              <a:rPr lang="en-GB" dirty="0" err="1" smtClean="0"/>
              <a:t>fname</a:t>
            </a:r>
            <a:r>
              <a:rPr lang="en-GB" dirty="0" smtClean="0"/>
              <a:t>“ value=“</a:t>
            </a:r>
            <a:r>
              <a:rPr lang="en-GB" dirty="0" err="1" smtClean="0"/>
              <a:t>Jone</a:t>
            </a:r>
            <a:r>
              <a:rPr lang="en-GB" dirty="0" smtClean="0"/>
              <a:t>” </a:t>
            </a:r>
            <a:r>
              <a:rPr lang="en-GB" dirty="0" err="1" smtClean="0"/>
              <a:t>maxlength</a:t>
            </a:r>
            <a:r>
              <a:rPr lang="en-GB" dirty="0" smtClean="0"/>
              <a:t>=“30” &gt;&lt;</a:t>
            </a:r>
            <a:r>
              <a:rPr lang="en-GB" dirty="0" err="1"/>
              <a:t>br</a:t>
            </a:r>
            <a:r>
              <a:rPr lang="en-GB" dirty="0"/>
              <a:t>&gt;</a:t>
            </a:r>
            <a:br>
              <a:rPr lang="en-GB" dirty="0"/>
            </a:br>
            <a:r>
              <a:rPr lang="en-GB" dirty="0"/>
              <a:t>  &lt;label for="</a:t>
            </a:r>
            <a:r>
              <a:rPr lang="en-GB" dirty="0" err="1"/>
              <a:t>lname</a:t>
            </a:r>
            <a:r>
              <a:rPr lang="en-GB" dirty="0"/>
              <a:t>"&gt;Last name:&lt;/label&gt;&lt;</a:t>
            </a:r>
            <a:r>
              <a:rPr lang="en-GB" dirty="0" err="1"/>
              <a:t>br</a:t>
            </a:r>
            <a:r>
              <a:rPr lang="en-GB" dirty="0"/>
              <a:t>&gt;</a:t>
            </a:r>
            <a:br>
              <a:rPr lang="en-GB" dirty="0"/>
            </a:br>
            <a:r>
              <a:rPr lang="en-GB" dirty="0"/>
              <a:t>  &lt;input type="text" id="</a:t>
            </a:r>
            <a:r>
              <a:rPr lang="en-GB" dirty="0" err="1"/>
              <a:t>lname</a:t>
            </a:r>
            <a:r>
              <a:rPr lang="en-GB" dirty="0"/>
              <a:t>" name="</a:t>
            </a:r>
            <a:r>
              <a:rPr lang="en-GB" dirty="0" err="1" smtClean="0"/>
              <a:t>lname</a:t>
            </a:r>
            <a:r>
              <a:rPr lang="en-GB" dirty="0" smtClean="0"/>
              <a:t>“ </a:t>
            </a:r>
            <a:r>
              <a:rPr lang="en-GB" dirty="0" err="1" smtClean="0"/>
              <a:t>maxlength</a:t>
            </a:r>
            <a:r>
              <a:rPr lang="en-GB" dirty="0"/>
              <a:t>="30"</a:t>
            </a:r>
            <a:r>
              <a:rPr lang="en-GB" dirty="0" smtClean="0"/>
              <a:t>&gt;</a:t>
            </a:r>
            <a:r>
              <a:rPr lang="en-GB" dirty="0"/>
              <a:t/>
            </a:r>
            <a:br>
              <a:rPr lang="en-GB" dirty="0"/>
            </a:br>
            <a:r>
              <a:rPr lang="en-GB" dirty="0"/>
              <a:t>&lt;/form&gt;</a:t>
            </a:r>
          </a:p>
        </p:txBody>
      </p:sp>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5746" y="1684331"/>
            <a:ext cx="2567355" cy="157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30523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41644"/>
          </a:xfrm>
        </p:spPr>
        <p:txBody>
          <a:bodyPr/>
          <a:lstStyle/>
          <a:p>
            <a:r>
              <a:rPr lang="en-US" dirty="0" smtClean="0"/>
              <a:t>HTML Form Attributes</a:t>
            </a:r>
            <a:endParaRPr lang="en-GB" dirty="0"/>
          </a:p>
        </p:txBody>
      </p:sp>
      <p:sp>
        <p:nvSpPr>
          <p:cNvPr id="3" name="Content Placeholder 2"/>
          <p:cNvSpPr>
            <a:spLocks noGrp="1"/>
          </p:cNvSpPr>
          <p:nvPr>
            <p:ph idx="1"/>
          </p:nvPr>
        </p:nvSpPr>
        <p:spPr>
          <a:xfrm>
            <a:off x="838200" y="1371600"/>
            <a:ext cx="10515600" cy="5275385"/>
          </a:xfrm>
        </p:spPr>
        <p:txBody>
          <a:bodyPr>
            <a:normAutofit fontScale="92500" lnSpcReduction="20000"/>
          </a:bodyPr>
          <a:lstStyle/>
          <a:p>
            <a:pPr marL="0" indent="0">
              <a:buNone/>
            </a:pPr>
            <a:r>
              <a:rPr lang="en-US" b="1" dirty="0">
                <a:solidFill>
                  <a:srgbClr val="0070C0"/>
                </a:solidFill>
              </a:rPr>
              <a:t>a</a:t>
            </a:r>
            <a:r>
              <a:rPr lang="en-US" b="1" dirty="0" smtClean="0">
                <a:solidFill>
                  <a:srgbClr val="0070C0"/>
                </a:solidFill>
              </a:rPr>
              <a:t>ction:</a:t>
            </a:r>
            <a:r>
              <a:rPr lang="en-US" dirty="0" smtClean="0"/>
              <a:t> </a:t>
            </a:r>
            <a:r>
              <a:rPr lang="en-US" dirty="0"/>
              <a:t>The action attribute defines the action to be performed when the form is submitted</a:t>
            </a:r>
            <a:r>
              <a:rPr lang="en-US" dirty="0" smtClean="0"/>
              <a:t>.</a:t>
            </a:r>
          </a:p>
          <a:p>
            <a:pPr marL="457200" lvl="1" indent="0">
              <a:buNone/>
            </a:pPr>
            <a:r>
              <a:rPr lang="en-GB" dirty="0">
                <a:solidFill>
                  <a:srgbClr val="FF0000"/>
                </a:solidFill>
              </a:rPr>
              <a:t>&lt;form action="/</a:t>
            </a:r>
            <a:r>
              <a:rPr lang="en-GB" dirty="0" err="1">
                <a:solidFill>
                  <a:srgbClr val="FF0000"/>
                </a:solidFill>
              </a:rPr>
              <a:t>action_page.php</a:t>
            </a:r>
            <a:r>
              <a:rPr lang="en-GB" dirty="0" smtClean="0">
                <a:solidFill>
                  <a:srgbClr val="FF0000"/>
                </a:solidFill>
              </a:rPr>
              <a:t>"&gt; &lt;/form&gt;</a:t>
            </a:r>
          </a:p>
          <a:p>
            <a:pPr marL="0" indent="0">
              <a:buNone/>
            </a:pPr>
            <a:r>
              <a:rPr lang="en-US" b="1" dirty="0">
                <a:solidFill>
                  <a:srgbClr val="0070C0"/>
                </a:solidFill>
              </a:rPr>
              <a:t>t</a:t>
            </a:r>
            <a:r>
              <a:rPr lang="en-US" b="1" dirty="0" smtClean="0">
                <a:solidFill>
                  <a:srgbClr val="0070C0"/>
                </a:solidFill>
              </a:rPr>
              <a:t>arget:</a:t>
            </a:r>
            <a:r>
              <a:rPr lang="en-US" dirty="0" smtClean="0"/>
              <a:t> </a:t>
            </a:r>
            <a:r>
              <a:rPr lang="en-US" dirty="0"/>
              <a:t>The target attribute specifies where to display the response that is received after submitting the </a:t>
            </a:r>
            <a:r>
              <a:rPr lang="en-US" dirty="0" smtClean="0"/>
              <a:t>form with some static values (_blank, _self, _top, _</a:t>
            </a:r>
            <a:r>
              <a:rPr lang="en-US" smtClean="0"/>
              <a:t>parent</a:t>
            </a:r>
            <a:r>
              <a:rPr lang="en-US" smtClean="0"/>
              <a:t>,).</a:t>
            </a:r>
            <a:endParaRPr lang="en-US" dirty="0" smtClean="0"/>
          </a:p>
          <a:p>
            <a:pPr marL="457200" lvl="1" indent="0">
              <a:buNone/>
            </a:pPr>
            <a:r>
              <a:rPr lang="en-US" dirty="0">
                <a:solidFill>
                  <a:srgbClr val="FF0000"/>
                </a:solidFill>
              </a:rPr>
              <a:t>&lt;form action="/</a:t>
            </a:r>
            <a:r>
              <a:rPr lang="en-US" dirty="0" err="1">
                <a:solidFill>
                  <a:srgbClr val="FF0000"/>
                </a:solidFill>
              </a:rPr>
              <a:t>action_page.php</a:t>
            </a:r>
            <a:r>
              <a:rPr lang="en-US" dirty="0">
                <a:solidFill>
                  <a:srgbClr val="FF0000"/>
                </a:solidFill>
              </a:rPr>
              <a:t>" target="_blank"&gt;</a:t>
            </a:r>
          </a:p>
          <a:p>
            <a:pPr marL="0" indent="0">
              <a:buNone/>
            </a:pPr>
            <a:r>
              <a:rPr lang="en-US" b="1" dirty="0">
                <a:solidFill>
                  <a:srgbClr val="0070C0"/>
                </a:solidFill>
              </a:rPr>
              <a:t>m</a:t>
            </a:r>
            <a:r>
              <a:rPr lang="en-US" b="1" dirty="0" smtClean="0">
                <a:solidFill>
                  <a:srgbClr val="0070C0"/>
                </a:solidFill>
              </a:rPr>
              <a:t>ethod:</a:t>
            </a:r>
            <a:r>
              <a:rPr lang="en-US" dirty="0" smtClean="0"/>
              <a:t> T</a:t>
            </a:r>
            <a:r>
              <a:rPr lang="en-US" dirty="0"/>
              <a:t>he method attribute specifies the HTTP method to be used when submitting the form data</a:t>
            </a:r>
            <a:r>
              <a:rPr lang="en-US" dirty="0" smtClean="0"/>
              <a:t>. Method can be get or post.</a:t>
            </a:r>
          </a:p>
          <a:p>
            <a:pPr marL="457200" lvl="1" indent="0">
              <a:buNone/>
            </a:pPr>
            <a:r>
              <a:rPr lang="en-US" dirty="0">
                <a:solidFill>
                  <a:srgbClr val="FF0000"/>
                </a:solidFill>
              </a:rPr>
              <a:t>&lt;form action="/</a:t>
            </a:r>
            <a:r>
              <a:rPr lang="en-US" dirty="0" err="1">
                <a:solidFill>
                  <a:srgbClr val="FF0000"/>
                </a:solidFill>
              </a:rPr>
              <a:t>action_page.php</a:t>
            </a:r>
            <a:r>
              <a:rPr lang="en-US" dirty="0">
                <a:solidFill>
                  <a:srgbClr val="FF0000"/>
                </a:solidFill>
              </a:rPr>
              <a:t>" method="get</a:t>
            </a:r>
            <a:r>
              <a:rPr lang="en-US" dirty="0" smtClean="0">
                <a:solidFill>
                  <a:srgbClr val="FF0000"/>
                </a:solidFill>
              </a:rPr>
              <a:t>"&gt;</a:t>
            </a:r>
          </a:p>
          <a:p>
            <a:pPr marL="0" indent="0">
              <a:buNone/>
            </a:pPr>
            <a:r>
              <a:rPr lang="en-US" b="1" dirty="0">
                <a:solidFill>
                  <a:srgbClr val="0070C0"/>
                </a:solidFill>
              </a:rPr>
              <a:t>a</a:t>
            </a:r>
            <a:r>
              <a:rPr lang="en-US" b="1" dirty="0" smtClean="0">
                <a:solidFill>
                  <a:srgbClr val="0070C0"/>
                </a:solidFill>
              </a:rPr>
              <a:t>utocomplete:</a:t>
            </a:r>
            <a:r>
              <a:rPr lang="en-US" dirty="0" smtClean="0"/>
              <a:t> </a:t>
            </a:r>
            <a:r>
              <a:rPr lang="en-US" dirty="0"/>
              <a:t>autocomplete is on, the browser automatically complete values based on values that the user has entered before</a:t>
            </a:r>
            <a:r>
              <a:rPr lang="en-US" dirty="0" smtClean="0"/>
              <a:t>.</a:t>
            </a:r>
          </a:p>
          <a:p>
            <a:pPr marL="457200" lvl="1" indent="0">
              <a:buNone/>
            </a:pPr>
            <a:r>
              <a:rPr lang="en-US" dirty="0">
                <a:solidFill>
                  <a:srgbClr val="FF0000"/>
                </a:solidFill>
              </a:rPr>
              <a:t>&lt;form action="/</a:t>
            </a:r>
            <a:r>
              <a:rPr lang="en-US" dirty="0" err="1">
                <a:solidFill>
                  <a:srgbClr val="FF0000"/>
                </a:solidFill>
              </a:rPr>
              <a:t>action_page.php</a:t>
            </a:r>
            <a:r>
              <a:rPr lang="en-US" dirty="0">
                <a:solidFill>
                  <a:srgbClr val="FF0000"/>
                </a:solidFill>
              </a:rPr>
              <a:t>" autocomplete="on</a:t>
            </a:r>
            <a:r>
              <a:rPr lang="en-US" dirty="0" smtClean="0">
                <a:solidFill>
                  <a:srgbClr val="FF0000"/>
                </a:solidFill>
              </a:rPr>
              <a:t>"&gt;  </a:t>
            </a:r>
          </a:p>
          <a:p>
            <a:pPr marL="0" indent="0">
              <a:buNone/>
            </a:pPr>
            <a:r>
              <a:rPr lang="en-US" b="1" dirty="0" err="1">
                <a:solidFill>
                  <a:srgbClr val="0070C0"/>
                </a:solidFill>
              </a:rPr>
              <a:t>n</a:t>
            </a:r>
            <a:r>
              <a:rPr lang="en-US" b="1" dirty="0" err="1" smtClean="0">
                <a:solidFill>
                  <a:srgbClr val="0070C0"/>
                </a:solidFill>
              </a:rPr>
              <a:t>ovalidate</a:t>
            </a:r>
            <a:r>
              <a:rPr lang="en-US" b="1" dirty="0" smtClean="0">
                <a:solidFill>
                  <a:srgbClr val="0070C0"/>
                </a:solidFill>
              </a:rPr>
              <a:t>:</a:t>
            </a:r>
            <a:r>
              <a:rPr lang="en-US" dirty="0" smtClean="0"/>
              <a:t> </a:t>
            </a:r>
            <a:r>
              <a:rPr lang="en-US" dirty="0"/>
              <a:t>When present, it specifies that the form-data (input) should not be validated when submitted</a:t>
            </a:r>
            <a:r>
              <a:rPr lang="en-US" dirty="0" smtClean="0"/>
              <a:t>. </a:t>
            </a:r>
            <a:r>
              <a:rPr lang="en-US" dirty="0"/>
              <a:t>&lt;form action="/</a:t>
            </a:r>
            <a:r>
              <a:rPr lang="en-US" dirty="0" err="1"/>
              <a:t>action_page.php</a:t>
            </a:r>
            <a:r>
              <a:rPr lang="en-US" dirty="0"/>
              <a:t>" </a:t>
            </a:r>
            <a:r>
              <a:rPr lang="en-US" dirty="0" err="1"/>
              <a:t>novalidate</a:t>
            </a:r>
            <a:r>
              <a:rPr lang="en-US" dirty="0" smtClean="0"/>
              <a:t>&gt;  </a:t>
            </a:r>
            <a:endParaRPr lang="en-GB" dirty="0"/>
          </a:p>
        </p:txBody>
      </p:sp>
    </p:spTree>
    <p:extLst>
      <p:ext uri="{BB962C8B-B14F-4D97-AF65-F5344CB8AC3E}">
        <p14:creationId xmlns:p14="http://schemas.microsoft.com/office/powerpoint/2010/main" val="293846008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Form  - &lt;input&gt; Tag</a:t>
            </a:r>
            <a:endParaRPr lang="en-GB" dirty="0"/>
          </a:p>
        </p:txBody>
      </p:sp>
      <p:sp>
        <p:nvSpPr>
          <p:cNvPr id="3" name="Content Placeholder 2"/>
          <p:cNvSpPr>
            <a:spLocks noGrp="1"/>
          </p:cNvSpPr>
          <p:nvPr>
            <p:ph idx="1"/>
          </p:nvPr>
        </p:nvSpPr>
        <p:spPr>
          <a:xfrm>
            <a:off x="838200" y="1629509"/>
            <a:ext cx="10515600" cy="5111260"/>
          </a:xfrm>
        </p:spPr>
        <p:txBody>
          <a:bodyPr>
            <a:normAutofit fontScale="70000" lnSpcReduction="20000"/>
          </a:bodyPr>
          <a:lstStyle/>
          <a:p>
            <a:pPr marL="0" indent="0">
              <a:buNone/>
            </a:pPr>
            <a:r>
              <a:rPr lang="en-US" dirty="0"/>
              <a:t>input tags are essential elements that allow users to interact with web pages by providing input. </a:t>
            </a:r>
            <a:endParaRPr lang="en-US" dirty="0" smtClean="0"/>
          </a:p>
          <a:p>
            <a:pPr marL="0" indent="0" algn="ctr">
              <a:buNone/>
            </a:pPr>
            <a:r>
              <a:rPr lang="en-US" dirty="0" smtClean="0"/>
              <a:t>&lt;input&gt; &lt;/input&gt;</a:t>
            </a:r>
          </a:p>
          <a:p>
            <a:pPr marL="0" indent="0">
              <a:buNone/>
            </a:pPr>
            <a:r>
              <a:rPr lang="en-US" b="1" dirty="0" err="1" smtClean="0"/>
              <a:t>Type:text</a:t>
            </a:r>
            <a:r>
              <a:rPr lang="en-US" b="1" dirty="0" smtClean="0"/>
              <a:t> –</a:t>
            </a:r>
            <a:r>
              <a:rPr lang="en-US" dirty="0" smtClean="0"/>
              <a:t> Used to enter Text </a:t>
            </a:r>
          </a:p>
          <a:p>
            <a:pPr marL="0" indent="0">
              <a:buNone/>
            </a:pPr>
            <a:r>
              <a:rPr lang="en-US" dirty="0"/>
              <a:t>	</a:t>
            </a:r>
            <a:r>
              <a:rPr lang="en-US" sz="2400" dirty="0"/>
              <a:t>&lt;input type="text" id="name" name="name" placeholder="Enter your name" required</a:t>
            </a:r>
            <a:r>
              <a:rPr lang="en-US" sz="2400" dirty="0" smtClean="0"/>
              <a:t>&gt;</a:t>
            </a:r>
          </a:p>
          <a:p>
            <a:pPr marL="0" indent="0">
              <a:buNone/>
            </a:pPr>
            <a:r>
              <a:rPr lang="en-US" sz="2700" dirty="0" smtClean="0"/>
              <a:t>	</a:t>
            </a:r>
            <a:r>
              <a:rPr lang="en-US" sz="2400" dirty="0" smtClean="0"/>
              <a:t>The</a:t>
            </a:r>
            <a:r>
              <a:rPr lang="en-US" sz="2400" dirty="0"/>
              <a:t> required attribute </a:t>
            </a:r>
            <a:r>
              <a:rPr lang="en-US" sz="2400" dirty="0" smtClean="0"/>
              <a:t>specifies </a:t>
            </a:r>
            <a:r>
              <a:rPr lang="en-US" sz="2400" dirty="0"/>
              <a:t>that an input field must be filled out before submitting the form</a:t>
            </a:r>
            <a:r>
              <a:rPr lang="en-US" sz="2400" dirty="0" smtClean="0"/>
              <a:t>.</a:t>
            </a:r>
            <a:endParaRPr lang="en-US" sz="2400" dirty="0"/>
          </a:p>
          <a:p>
            <a:pPr marL="0" indent="0">
              <a:buNone/>
            </a:pPr>
            <a:r>
              <a:rPr lang="en-US" b="1" dirty="0" smtClean="0"/>
              <a:t>Type</a:t>
            </a:r>
            <a:r>
              <a:rPr lang="en-US" b="1" smtClean="0"/>
              <a:t>: </a:t>
            </a:r>
            <a:r>
              <a:rPr lang="" b="1" smtClean="0"/>
              <a:t>pp</a:t>
            </a:r>
            <a:r>
              <a:rPr lang="en-US" b="1" smtClean="0"/>
              <a:t>assword </a:t>
            </a:r>
            <a:r>
              <a:rPr lang="en-US" b="1" dirty="0" smtClean="0"/>
              <a:t>– </a:t>
            </a:r>
            <a:r>
              <a:rPr lang="en-US" dirty="0" smtClean="0"/>
              <a:t>Used to enter Password  </a:t>
            </a:r>
          </a:p>
          <a:p>
            <a:pPr marL="457200" lvl="1" indent="0">
              <a:buNone/>
            </a:pPr>
            <a:r>
              <a:rPr lang="en-US" dirty="0" smtClean="0"/>
              <a:t>	&lt;</a:t>
            </a:r>
            <a:r>
              <a:rPr lang="en-US" dirty="0"/>
              <a:t>input type="password" name="password" placeholder="Enter your password"&gt; </a:t>
            </a:r>
          </a:p>
          <a:p>
            <a:pPr marL="0" indent="0">
              <a:buNone/>
            </a:pPr>
            <a:r>
              <a:rPr lang="en-US" b="1" dirty="0" smtClean="0"/>
              <a:t>Type: radio</a:t>
            </a:r>
            <a:r>
              <a:rPr lang="en-US" dirty="0" smtClean="0"/>
              <a:t> – Used to select one option from multiple Options</a:t>
            </a:r>
          </a:p>
          <a:p>
            <a:pPr marL="0" indent="0">
              <a:buNone/>
            </a:pPr>
            <a:r>
              <a:rPr lang="en-US" sz="2300" dirty="0" smtClean="0"/>
              <a:t>	&lt;</a:t>
            </a:r>
            <a:r>
              <a:rPr lang="en-US" sz="2300" dirty="0"/>
              <a:t>input type="radio" id="rating1" name="food-rating" value="1"&gt;</a:t>
            </a:r>
          </a:p>
          <a:p>
            <a:pPr marL="0" indent="0">
              <a:buNone/>
            </a:pPr>
            <a:r>
              <a:rPr lang="en-US" sz="2300" dirty="0" smtClean="0"/>
              <a:t>	&lt;</a:t>
            </a:r>
            <a:r>
              <a:rPr lang="en-US" sz="2300" dirty="0"/>
              <a:t>input type="radio" id="</a:t>
            </a:r>
            <a:r>
              <a:rPr lang="en-US" sz="2300" dirty="0" smtClean="0"/>
              <a:t>rating2" </a:t>
            </a:r>
            <a:r>
              <a:rPr lang="en-US" sz="2300" dirty="0"/>
              <a:t>name="food-rating" value</a:t>
            </a:r>
            <a:r>
              <a:rPr lang="en-US" sz="2300" dirty="0" smtClean="0"/>
              <a:t>=“2"&gt;</a:t>
            </a:r>
            <a:endParaRPr lang="en-US" sz="2300" dirty="0"/>
          </a:p>
          <a:p>
            <a:pPr marL="0" indent="0">
              <a:buNone/>
            </a:pPr>
            <a:r>
              <a:rPr lang="en-US" b="1" dirty="0" smtClean="0"/>
              <a:t>Type: checkbox</a:t>
            </a:r>
            <a:r>
              <a:rPr lang="en-US" dirty="0" smtClean="0"/>
              <a:t> – Used to select multiple options</a:t>
            </a:r>
          </a:p>
          <a:p>
            <a:pPr marL="0" indent="0">
              <a:buNone/>
            </a:pPr>
            <a:r>
              <a:rPr lang="en-US" sz="2300" dirty="0" smtClean="0"/>
              <a:t>	&lt;</a:t>
            </a:r>
            <a:r>
              <a:rPr lang="en-US" sz="2300" dirty="0"/>
              <a:t>input type="checkbox" id="music" name="ambiance" value="Music</a:t>
            </a:r>
            <a:r>
              <a:rPr lang="en-US" sz="2300" dirty="0" smtClean="0"/>
              <a:t>"&gt;</a:t>
            </a:r>
          </a:p>
          <a:p>
            <a:pPr marL="0" indent="0">
              <a:buNone/>
            </a:pPr>
            <a:r>
              <a:rPr lang="en-US" sz="2900" b="1" dirty="0" smtClean="0"/>
              <a:t>Type: file –</a:t>
            </a:r>
            <a:r>
              <a:rPr lang="en-US" sz="2900" dirty="0" smtClean="0"/>
              <a:t> Used for uploading files</a:t>
            </a:r>
          </a:p>
          <a:p>
            <a:pPr marL="0" indent="0">
              <a:buNone/>
            </a:pPr>
            <a:r>
              <a:rPr lang="en-US" sz="2300" dirty="0" smtClean="0"/>
              <a:t>	&lt;</a:t>
            </a:r>
            <a:r>
              <a:rPr lang="en-US" sz="2300" dirty="0"/>
              <a:t>input type="file" name="</a:t>
            </a:r>
            <a:r>
              <a:rPr lang="en-US" sz="2300" dirty="0" err="1"/>
              <a:t>fileupload</a:t>
            </a:r>
            <a:r>
              <a:rPr lang="en-US" sz="2300" dirty="0"/>
              <a:t>"&gt;</a:t>
            </a:r>
            <a:endParaRPr lang="en-GB" sz="2300" dirty="0"/>
          </a:p>
          <a:p>
            <a:pPr marL="0" indent="0">
              <a:buNone/>
            </a:pPr>
            <a:r>
              <a:rPr lang="en-US" b="1" dirty="0" smtClean="0"/>
              <a:t>Button Type:</a:t>
            </a:r>
            <a:r>
              <a:rPr lang="en-US" dirty="0" smtClean="0"/>
              <a:t>  submit /reset – Used to submit or reset form  data </a:t>
            </a:r>
          </a:p>
        </p:txBody>
      </p:sp>
    </p:spTree>
    <p:extLst>
      <p:ext uri="{BB962C8B-B14F-4D97-AF65-F5344CB8AC3E}">
        <p14:creationId xmlns:p14="http://schemas.microsoft.com/office/powerpoint/2010/main" val="108468817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 - &lt;</a:t>
            </a:r>
            <a:r>
              <a:rPr lang="en-US" dirty="0" err="1" smtClean="0"/>
              <a:t>datalist</a:t>
            </a:r>
            <a:r>
              <a:rPr lang="en-US" dirty="0" smtClean="0"/>
              <a:t>&gt; Tag</a:t>
            </a:r>
            <a:endParaRPr lang="en-GB" dirty="0"/>
          </a:p>
        </p:txBody>
      </p:sp>
      <p:sp>
        <p:nvSpPr>
          <p:cNvPr id="3" name="Content Placeholder 2"/>
          <p:cNvSpPr>
            <a:spLocks noGrp="1"/>
          </p:cNvSpPr>
          <p:nvPr>
            <p:ph idx="1"/>
          </p:nvPr>
        </p:nvSpPr>
        <p:spPr>
          <a:xfrm>
            <a:off x="838200" y="1825624"/>
            <a:ext cx="10515600" cy="4856529"/>
          </a:xfrm>
        </p:spPr>
        <p:txBody>
          <a:bodyPr>
            <a:normAutofit lnSpcReduction="10000"/>
          </a:bodyPr>
          <a:lstStyle/>
          <a:p>
            <a:pPr marL="0" indent="0" algn="just">
              <a:buNone/>
            </a:pPr>
            <a:r>
              <a:rPr lang="en-US" dirty="0"/>
              <a:t>The &lt;</a:t>
            </a:r>
            <a:r>
              <a:rPr lang="en-US" dirty="0" err="1"/>
              <a:t>datalist</a:t>
            </a:r>
            <a:r>
              <a:rPr lang="en-US" dirty="0"/>
              <a:t>&gt; tag specifies a list of pre-defined options for an &lt;input&gt; element</a:t>
            </a:r>
            <a:r>
              <a:rPr lang="en-US" dirty="0" smtClean="0"/>
              <a:t>. </a:t>
            </a:r>
            <a:r>
              <a:rPr lang="en-US" dirty="0"/>
              <a:t>used to provide an "autocomplete" feature for &lt;input&gt; elements. Users will see a drop-down list of pre-defined options as they input data.</a:t>
            </a:r>
            <a:endParaRPr lang="en-US" dirty="0" smtClean="0"/>
          </a:p>
          <a:p>
            <a:pPr marL="914400" lvl="2" indent="0">
              <a:buNone/>
            </a:pPr>
            <a:r>
              <a:rPr lang="en-GB" dirty="0"/>
              <a:t>&lt;form action="/</a:t>
            </a:r>
            <a:r>
              <a:rPr lang="en-GB" dirty="0" err="1"/>
              <a:t>action_page.php</a:t>
            </a:r>
            <a:r>
              <a:rPr lang="en-GB" dirty="0"/>
              <a:t>" method="get"&gt;</a:t>
            </a:r>
          </a:p>
          <a:p>
            <a:pPr marL="914400" lvl="2" indent="0">
              <a:buNone/>
            </a:pPr>
            <a:r>
              <a:rPr lang="en-GB" dirty="0"/>
              <a:t>  &lt;label for="browser"&gt;Choose your browser from the list:&lt;/label&gt;</a:t>
            </a:r>
          </a:p>
          <a:p>
            <a:pPr marL="914400" lvl="2" indent="0">
              <a:buNone/>
            </a:pPr>
            <a:r>
              <a:rPr lang="en-GB" dirty="0"/>
              <a:t>  &lt;input list="browsers" name="browser" id="browser"&gt;</a:t>
            </a:r>
          </a:p>
          <a:p>
            <a:pPr marL="914400" lvl="2" indent="0">
              <a:buNone/>
            </a:pPr>
            <a:r>
              <a:rPr lang="en-GB" dirty="0"/>
              <a:t>  &lt;</a:t>
            </a:r>
            <a:r>
              <a:rPr lang="en-GB" dirty="0" err="1"/>
              <a:t>datalist</a:t>
            </a:r>
            <a:r>
              <a:rPr lang="en-GB" dirty="0"/>
              <a:t> id="browsers"&gt;</a:t>
            </a:r>
          </a:p>
          <a:p>
            <a:pPr marL="914400" lvl="2" indent="0">
              <a:buNone/>
            </a:pPr>
            <a:r>
              <a:rPr lang="en-GB" dirty="0"/>
              <a:t>    &lt;option value="Edge"&gt;</a:t>
            </a:r>
          </a:p>
          <a:p>
            <a:pPr marL="914400" lvl="2" indent="0">
              <a:buNone/>
            </a:pPr>
            <a:r>
              <a:rPr lang="en-GB" dirty="0"/>
              <a:t>    &lt;option value="Firefox"&gt;</a:t>
            </a:r>
          </a:p>
          <a:p>
            <a:pPr marL="914400" lvl="2" indent="0">
              <a:buNone/>
            </a:pPr>
            <a:r>
              <a:rPr lang="en-GB" dirty="0"/>
              <a:t>    &lt;option value="Chrome"&gt;</a:t>
            </a:r>
          </a:p>
          <a:p>
            <a:pPr marL="914400" lvl="2" indent="0">
              <a:buNone/>
            </a:pPr>
            <a:r>
              <a:rPr lang="en-GB" dirty="0" smtClean="0"/>
              <a:t>&lt;/</a:t>
            </a:r>
            <a:r>
              <a:rPr lang="en-GB" dirty="0" err="1"/>
              <a:t>datalist</a:t>
            </a:r>
            <a:r>
              <a:rPr lang="en-GB" dirty="0"/>
              <a:t>&gt;</a:t>
            </a:r>
          </a:p>
          <a:p>
            <a:pPr marL="914400" lvl="2" indent="0">
              <a:buNone/>
            </a:pPr>
            <a:r>
              <a:rPr lang="en-GB" dirty="0"/>
              <a:t>  &lt;input type="submit"&gt;</a:t>
            </a:r>
          </a:p>
          <a:p>
            <a:pPr marL="914400" lvl="2" indent="0">
              <a:buNone/>
            </a:pPr>
            <a:r>
              <a:rPr lang="en-GB" dirty="0"/>
              <a:t>&lt;/form&gt;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0741" y="4545257"/>
            <a:ext cx="4400550" cy="149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45714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 - &lt;select&gt; &amp; &lt;</a:t>
            </a:r>
            <a:r>
              <a:rPr lang="en-US" dirty="0" err="1" smtClean="0"/>
              <a:t>textarea</a:t>
            </a:r>
            <a:r>
              <a:rPr lang="en-US" dirty="0" smtClean="0"/>
              <a:t>&gt; Tags</a:t>
            </a:r>
            <a:endParaRPr lang="en-GB" dirty="0"/>
          </a:p>
        </p:txBody>
      </p:sp>
      <p:sp>
        <p:nvSpPr>
          <p:cNvPr id="3" name="Content Placeholder 2"/>
          <p:cNvSpPr>
            <a:spLocks noGrp="1"/>
          </p:cNvSpPr>
          <p:nvPr>
            <p:ph idx="1"/>
          </p:nvPr>
        </p:nvSpPr>
        <p:spPr>
          <a:xfrm>
            <a:off x="838200" y="1641231"/>
            <a:ext cx="10515600" cy="4535732"/>
          </a:xfrm>
        </p:spPr>
        <p:txBody>
          <a:bodyPr/>
          <a:lstStyle/>
          <a:p>
            <a:pPr marL="0" indent="0">
              <a:buNone/>
            </a:pPr>
            <a:r>
              <a:rPr lang="en-US" dirty="0" smtClean="0"/>
              <a:t>Select Dropdown</a:t>
            </a:r>
          </a:p>
          <a:p>
            <a:r>
              <a:rPr lang="en-US" dirty="0"/>
              <a:t>The &lt;select&gt; tag is used to create dropdown </a:t>
            </a:r>
            <a:r>
              <a:rPr lang="en-US" dirty="0" smtClean="0"/>
              <a:t>lists. Options </a:t>
            </a:r>
            <a:r>
              <a:rPr lang="en-US" dirty="0"/>
              <a:t>are defined using the &lt;option&gt; tag within the &lt;select&gt; element.</a:t>
            </a:r>
          </a:p>
          <a:p>
            <a:pPr marL="0" indent="0">
              <a:buNone/>
            </a:pPr>
            <a:endParaRPr lang="en-US" dirty="0" smtClean="0"/>
          </a:p>
          <a:p>
            <a:pPr marL="0" indent="0">
              <a:buNone/>
            </a:pPr>
            <a:r>
              <a:rPr lang="en-US" dirty="0" err="1" smtClean="0"/>
              <a:t>Textarea</a:t>
            </a:r>
            <a:endParaRPr lang="en-US" dirty="0" smtClean="0"/>
          </a:p>
          <a:p>
            <a:r>
              <a:rPr lang="en-US" dirty="0"/>
              <a:t>The &lt;</a:t>
            </a:r>
            <a:r>
              <a:rPr lang="en-US" dirty="0" err="1"/>
              <a:t>textarea</a:t>
            </a:r>
            <a:r>
              <a:rPr lang="en-US" dirty="0"/>
              <a:t>&gt; tag is used for multiline text input, such as comments or </a:t>
            </a:r>
            <a:r>
              <a:rPr lang="en-US" dirty="0" smtClean="0"/>
              <a:t>messages. The </a:t>
            </a:r>
            <a:r>
              <a:rPr lang="en-US" dirty="0"/>
              <a:t>size of the </a:t>
            </a:r>
            <a:r>
              <a:rPr lang="en-US" dirty="0" err="1"/>
              <a:t>textarea</a:t>
            </a:r>
            <a:r>
              <a:rPr lang="en-US" dirty="0"/>
              <a:t> can be defined using the rows and cols attributes.</a:t>
            </a:r>
          </a:p>
          <a:p>
            <a:pPr marL="0" indent="0">
              <a:buNone/>
            </a:pPr>
            <a:endParaRPr lang="en-GB" dirty="0"/>
          </a:p>
        </p:txBody>
      </p:sp>
      <p:sp>
        <p:nvSpPr>
          <p:cNvPr id="6" name="TextBox 5"/>
          <p:cNvSpPr txBox="1"/>
          <p:nvPr/>
        </p:nvSpPr>
        <p:spPr>
          <a:xfrm>
            <a:off x="1957754" y="5594812"/>
            <a:ext cx="9570569" cy="369332"/>
          </a:xfrm>
          <a:prstGeom prst="rect">
            <a:avLst/>
          </a:prstGeom>
          <a:noFill/>
        </p:spPr>
        <p:txBody>
          <a:bodyPr wrap="none" rtlCol="0">
            <a:spAutoFit/>
          </a:bodyPr>
          <a:lstStyle/>
          <a:p>
            <a:r>
              <a:rPr lang="en-US" dirty="0">
                <a:solidFill>
                  <a:srgbClr val="FF0000"/>
                </a:solidFill>
              </a:rPr>
              <a:t>&lt;</a:t>
            </a:r>
            <a:r>
              <a:rPr lang="en-US" dirty="0" err="1">
                <a:solidFill>
                  <a:srgbClr val="FF0000"/>
                </a:solidFill>
              </a:rPr>
              <a:t>textarea</a:t>
            </a:r>
            <a:r>
              <a:rPr lang="en-US" dirty="0">
                <a:solidFill>
                  <a:srgbClr val="FF0000"/>
                </a:solidFill>
              </a:rPr>
              <a:t> name="comments" rows="4" cols="50" placeholder="Enter your comments"&gt;&lt;/</a:t>
            </a:r>
            <a:r>
              <a:rPr lang="en-US" dirty="0" err="1">
                <a:solidFill>
                  <a:srgbClr val="FF0000"/>
                </a:solidFill>
              </a:rPr>
              <a:t>textarea</a:t>
            </a:r>
            <a:r>
              <a:rPr lang="en-US" dirty="0">
                <a:solidFill>
                  <a:srgbClr val="FF0000"/>
                </a:solidFill>
              </a:rPr>
              <a:t>&gt; </a:t>
            </a:r>
          </a:p>
        </p:txBody>
      </p:sp>
      <p:sp>
        <p:nvSpPr>
          <p:cNvPr id="7" name="TextBox 6"/>
          <p:cNvSpPr txBox="1"/>
          <p:nvPr/>
        </p:nvSpPr>
        <p:spPr>
          <a:xfrm>
            <a:off x="3892082" y="2965940"/>
            <a:ext cx="4412415" cy="1200329"/>
          </a:xfrm>
          <a:prstGeom prst="rect">
            <a:avLst/>
          </a:prstGeom>
          <a:noFill/>
        </p:spPr>
        <p:txBody>
          <a:bodyPr wrap="square" rtlCol="0">
            <a:spAutoFit/>
          </a:bodyPr>
          <a:lstStyle/>
          <a:p>
            <a:r>
              <a:rPr lang="en-GB" dirty="0">
                <a:solidFill>
                  <a:srgbClr val="FF0000"/>
                </a:solidFill>
              </a:rPr>
              <a:t>&lt;select name="cars"&gt; </a:t>
            </a:r>
            <a:endParaRPr lang="en-GB" dirty="0" smtClean="0">
              <a:solidFill>
                <a:srgbClr val="FF0000"/>
              </a:solidFill>
            </a:endParaRPr>
          </a:p>
          <a:p>
            <a:r>
              <a:rPr lang="en-GB" dirty="0" smtClean="0">
                <a:solidFill>
                  <a:srgbClr val="FF0000"/>
                </a:solidFill>
              </a:rPr>
              <a:t>      &lt;</a:t>
            </a:r>
            <a:r>
              <a:rPr lang="en-GB" dirty="0">
                <a:solidFill>
                  <a:srgbClr val="FF0000"/>
                </a:solidFill>
              </a:rPr>
              <a:t>option value="</a:t>
            </a:r>
            <a:r>
              <a:rPr lang="en-GB" dirty="0" err="1">
                <a:solidFill>
                  <a:srgbClr val="FF0000"/>
                </a:solidFill>
              </a:rPr>
              <a:t>volvo</a:t>
            </a:r>
            <a:r>
              <a:rPr lang="en-GB" dirty="0">
                <a:solidFill>
                  <a:srgbClr val="FF0000"/>
                </a:solidFill>
              </a:rPr>
              <a:t>"&gt;Volvo&lt;/option&gt; </a:t>
            </a:r>
            <a:endParaRPr lang="en-GB" dirty="0" smtClean="0">
              <a:solidFill>
                <a:srgbClr val="FF0000"/>
              </a:solidFill>
            </a:endParaRPr>
          </a:p>
          <a:p>
            <a:r>
              <a:rPr lang="en-GB" dirty="0" smtClean="0">
                <a:solidFill>
                  <a:srgbClr val="FF0000"/>
                </a:solidFill>
              </a:rPr>
              <a:t>      &lt;</a:t>
            </a:r>
            <a:r>
              <a:rPr lang="en-GB" dirty="0">
                <a:solidFill>
                  <a:srgbClr val="FF0000"/>
                </a:solidFill>
              </a:rPr>
              <a:t>option value="</a:t>
            </a:r>
            <a:r>
              <a:rPr lang="en-GB" dirty="0" err="1">
                <a:solidFill>
                  <a:srgbClr val="FF0000"/>
                </a:solidFill>
              </a:rPr>
              <a:t>saab</a:t>
            </a:r>
            <a:r>
              <a:rPr lang="en-GB" dirty="0">
                <a:solidFill>
                  <a:srgbClr val="FF0000"/>
                </a:solidFill>
              </a:rPr>
              <a:t>"&gt;Saab&lt;/option</a:t>
            </a:r>
            <a:r>
              <a:rPr lang="en-GB" dirty="0" smtClean="0">
                <a:solidFill>
                  <a:srgbClr val="FF0000"/>
                </a:solidFill>
              </a:rPr>
              <a:t>&gt;</a:t>
            </a:r>
          </a:p>
          <a:p>
            <a:r>
              <a:rPr lang="en-GB" dirty="0" smtClean="0">
                <a:solidFill>
                  <a:srgbClr val="FF0000"/>
                </a:solidFill>
              </a:rPr>
              <a:t>&lt;/</a:t>
            </a:r>
            <a:r>
              <a:rPr lang="en-GB" dirty="0">
                <a:solidFill>
                  <a:srgbClr val="FF0000"/>
                </a:solidFill>
              </a:rPr>
              <a:t>select&gt;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3174" y="3123191"/>
            <a:ext cx="2609850"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33441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&lt;a&gt; Tag</a:t>
            </a:r>
            <a:endParaRPr lang="en-GB" dirty="0"/>
          </a:p>
        </p:txBody>
      </p:sp>
      <p:sp>
        <p:nvSpPr>
          <p:cNvPr id="3" name="Content Placeholder 2"/>
          <p:cNvSpPr>
            <a:spLocks noGrp="1"/>
          </p:cNvSpPr>
          <p:nvPr>
            <p:ph idx="1"/>
          </p:nvPr>
        </p:nvSpPr>
        <p:spPr>
          <a:xfrm>
            <a:off x="861646" y="1852246"/>
            <a:ext cx="10515600" cy="4676409"/>
          </a:xfrm>
        </p:spPr>
        <p:txBody>
          <a:bodyPr>
            <a:normAutofit fontScale="92500" lnSpcReduction="20000"/>
          </a:bodyPr>
          <a:lstStyle/>
          <a:p>
            <a:pPr marL="0" indent="0">
              <a:buNone/>
            </a:pPr>
            <a:r>
              <a:rPr lang="en-US" dirty="0"/>
              <a:t>The &lt;a&gt; </a:t>
            </a:r>
            <a:r>
              <a:rPr lang="en-US" dirty="0" smtClean="0"/>
              <a:t> or anchor tag </a:t>
            </a:r>
            <a:r>
              <a:rPr lang="en-US" dirty="0"/>
              <a:t>defines a hyperlink, which is used to link from one page to another</a:t>
            </a:r>
            <a:r>
              <a:rPr lang="en-US" dirty="0" smtClean="0"/>
              <a:t>.</a:t>
            </a:r>
          </a:p>
          <a:p>
            <a:pPr marL="0" indent="0">
              <a:buNone/>
            </a:pPr>
            <a:r>
              <a:rPr lang="en-US" u="sng" dirty="0" smtClean="0"/>
              <a:t>&lt;a&gt; </a:t>
            </a:r>
            <a:r>
              <a:rPr lang="en-US" u="sng" dirty="0" err="1" smtClean="0"/>
              <a:t>Attriutes</a:t>
            </a:r>
            <a:endParaRPr lang="en-US" u="sng" dirty="0" smtClean="0"/>
          </a:p>
          <a:p>
            <a:pPr marL="0" indent="0">
              <a:buNone/>
            </a:pPr>
            <a:r>
              <a:rPr lang="en-US" b="1" dirty="0" err="1"/>
              <a:t>h</a:t>
            </a:r>
            <a:r>
              <a:rPr lang="en-US" b="1" dirty="0" err="1" smtClean="0"/>
              <a:t>ref</a:t>
            </a:r>
            <a:r>
              <a:rPr lang="en-US" b="1" dirty="0" smtClean="0"/>
              <a:t>:-</a:t>
            </a:r>
            <a:r>
              <a:rPr lang="en-US" dirty="0" smtClean="0"/>
              <a:t> </a:t>
            </a:r>
            <a:r>
              <a:rPr lang="en-US" dirty="0"/>
              <a:t>The </a:t>
            </a:r>
            <a:r>
              <a:rPr lang="en-US" dirty="0" err="1"/>
              <a:t>href</a:t>
            </a:r>
            <a:r>
              <a:rPr lang="en-US" dirty="0"/>
              <a:t> attribute specifies the link's destination</a:t>
            </a:r>
            <a:r>
              <a:rPr lang="en-US" dirty="0" smtClean="0"/>
              <a:t>:</a:t>
            </a:r>
          </a:p>
          <a:p>
            <a:pPr marL="0" indent="0">
              <a:buNone/>
            </a:pPr>
            <a:r>
              <a:rPr lang="en-US" b="1" dirty="0"/>
              <a:t>d</a:t>
            </a:r>
            <a:r>
              <a:rPr lang="en-US" b="1" dirty="0" smtClean="0"/>
              <a:t>ownload:-</a:t>
            </a:r>
            <a:r>
              <a:rPr lang="en-US" dirty="0" smtClean="0"/>
              <a:t> </a:t>
            </a:r>
            <a:r>
              <a:rPr lang="en-US" dirty="0"/>
              <a:t>Specifies that the target will be downloaded when a user clicks on the </a:t>
            </a:r>
            <a:r>
              <a:rPr lang="en-US" dirty="0" smtClean="0"/>
              <a:t>hyperlink</a:t>
            </a:r>
          </a:p>
          <a:p>
            <a:pPr marL="914400" lvl="2" indent="0">
              <a:buNone/>
            </a:pPr>
            <a:r>
              <a:rPr lang="en-US" u="sng" dirty="0">
                <a:solidFill>
                  <a:srgbClr val="FF0000"/>
                </a:solidFill>
              </a:rPr>
              <a:t>&lt;a </a:t>
            </a:r>
            <a:r>
              <a:rPr lang="en-US" u="sng" dirty="0" err="1">
                <a:solidFill>
                  <a:srgbClr val="FF0000"/>
                </a:solidFill>
              </a:rPr>
              <a:t>href</a:t>
            </a:r>
            <a:r>
              <a:rPr lang="en-US" u="sng" dirty="0">
                <a:solidFill>
                  <a:srgbClr val="FF0000"/>
                </a:solidFill>
              </a:rPr>
              <a:t>="/images/myw3schoolsimage.jpg" download</a:t>
            </a:r>
            <a:r>
              <a:rPr lang="en-US" u="sng" dirty="0" smtClean="0">
                <a:solidFill>
                  <a:srgbClr val="FF0000"/>
                </a:solidFill>
              </a:rPr>
              <a:t>&gt;</a:t>
            </a:r>
          </a:p>
          <a:p>
            <a:pPr marL="0" indent="0">
              <a:buNone/>
            </a:pPr>
            <a:r>
              <a:rPr lang="en-US" dirty="0"/>
              <a:t>t</a:t>
            </a:r>
            <a:r>
              <a:rPr lang="en-US" dirty="0" smtClean="0"/>
              <a:t>arget:- </a:t>
            </a:r>
            <a:r>
              <a:rPr lang="en-US" dirty="0"/>
              <a:t>Specifies where to open the linked </a:t>
            </a:r>
            <a:r>
              <a:rPr lang="en-US" dirty="0" smtClean="0"/>
              <a:t>document. The value could be blank (new windows), _self (same frame), _parent (parent frame), _top (use full body of the window)</a:t>
            </a:r>
          </a:p>
          <a:p>
            <a:pPr marL="914400" lvl="2" indent="0">
              <a:buNone/>
            </a:pPr>
            <a:r>
              <a:rPr lang="en-US" u="sng" dirty="0">
                <a:solidFill>
                  <a:srgbClr val="FF0000"/>
                </a:solidFill>
              </a:rPr>
              <a:t>&lt;a </a:t>
            </a:r>
            <a:r>
              <a:rPr lang="en-US" u="sng" dirty="0" err="1">
                <a:solidFill>
                  <a:srgbClr val="FF0000"/>
                </a:solidFill>
              </a:rPr>
              <a:t>href</a:t>
            </a:r>
            <a:r>
              <a:rPr lang="en-US" u="sng" dirty="0">
                <a:solidFill>
                  <a:srgbClr val="FF0000"/>
                </a:solidFill>
              </a:rPr>
              <a:t>="https://www.w3schools.com" target="_blank"&gt;Visit W3Schools&lt;/a&gt;</a:t>
            </a:r>
            <a:endParaRPr lang="en-US" u="sng" dirty="0" smtClean="0">
              <a:solidFill>
                <a:srgbClr val="FF0000"/>
              </a:solidFill>
            </a:endParaRPr>
          </a:p>
          <a:p>
            <a:pPr marL="0" indent="0">
              <a:buNone/>
            </a:pPr>
            <a:r>
              <a:rPr lang="en-US" dirty="0"/>
              <a:t>t</a:t>
            </a:r>
            <a:r>
              <a:rPr lang="en-US" dirty="0" smtClean="0"/>
              <a:t>ype: </a:t>
            </a:r>
            <a:r>
              <a:rPr lang="en-US" dirty="0"/>
              <a:t>Specifies the media type of the linked </a:t>
            </a:r>
            <a:r>
              <a:rPr lang="en-US" dirty="0" smtClean="0"/>
              <a:t>document</a:t>
            </a:r>
          </a:p>
          <a:p>
            <a:pPr marL="914400" lvl="2" indent="0">
              <a:buNone/>
            </a:pPr>
            <a:r>
              <a:rPr lang="en-US" u="sng" dirty="0">
                <a:solidFill>
                  <a:srgbClr val="FF0000"/>
                </a:solidFill>
              </a:rPr>
              <a:t>&lt;a </a:t>
            </a:r>
            <a:r>
              <a:rPr lang="en-US" u="sng" dirty="0" err="1">
                <a:solidFill>
                  <a:srgbClr val="FF0000"/>
                </a:solidFill>
              </a:rPr>
              <a:t>href</a:t>
            </a:r>
            <a:r>
              <a:rPr lang="en-US" u="sng" dirty="0">
                <a:solidFill>
                  <a:srgbClr val="FF0000"/>
                </a:solidFill>
              </a:rPr>
              <a:t>="https://www.w3schools.com" type="text/html"&gt;W3Schools&lt;/a</a:t>
            </a:r>
            <a:r>
              <a:rPr lang="en-US" u="sng" dirty="0" smtClean="0">
                <a:solidFill>
                  <a:srgbClr val="FF0000"/>
                </a:solidFill>
              </a:rPr>
              <a:t>&gt;</a:t>
            </a:r>
            <a:endParaRPr lang="en-US" u="sng" dirty="0">
              <a:solidFill>
                <a:srgbClr val="FF0000"/>
              </a:solidFill>
            </a:endParaRPr>
          </a:p>
        </p:txBody>
      </p:sp>
    </p:spTree>
    <p:extLst>
      <p:ext uri="{BB962C8B-B14F-4D97-AF65-F5344CB8AC3E}">
        <p14:creationId xmlns:p14="http://schemas.microsoft.com/office/powerpoint/2010/main" val="13010064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a:t>
            </a:r>
            <a:r>
              <a:rPr lang="en-US" dirty="0" err="1" smtClean="0"/>
              <a:t>nav</a:t>
            </a:r>
            <a:r>
              <a:rPr lang="en-US" dirty="0" smtClean="0"/>
              <a:t>&gt; Tag</a:t>
            </a:r>
            <a:endParaRPr lang="en-GB" dirty="0"/>
          </a:p>
        </p:txBody>
      </p:sp>
      <p:sp>
        <p:nvSpPr>
          <p:cNvPr id="3" name="Content Placeholder 2"/>
          <p:cNvSpPr>
            <a:spLocks noGrp="1"/>
          </p:cNvSpPr>
          <p:nvPr>
            <p:ph idx="1"/>
          </p:nvPr>
        </p:nvSpPr>
        <p:spPr>
          <a:xfrm>
            <a:off x="838200" y="1582615"/>
            <a:ext cx="10515600" cy="4079631"/>
          </a:xfrm>
        </p:spPr>
        <p:txBody>
          <a:bodyPr>
            <a:normAutofit/>
          </a:bodyPr>
          <a:lstStyle/>
          <a:p>
            <a:pPr marL="0" indent="0">
              <a:buNone/>
            </a:pPr>
            <a:r>
              <a:rPr lang="en-US" dirty="0" smtClean="0"/>
              <a:t>For creating a navigation </a:t>
            </a:r>
            <a:r>
              <a:rPr lang="en-US" dirty="0"/>
              <a:t>bar, the commonly used tag is &lt;</a:t>
            </a:r>
            <a:r>
              <a:rPr lang="en-US" dirty="0" err="1"/>
              <a:t>nav</a:t>
            </a:r>
            <a:r>
              <a:rPr lang="en-US" dirty="0" smtClean="0"/>
              <a:t>&gt;. OR</a:t>
            </a:r>
          </a:p>
          <a:p>
            <a:pPr marL="0" indent="0">
              <a:buNone/>
            </a:pPr>
            <a:r>
              <a:rPr lang="en-US" dirty="0" smtClean="0"/>
              <a:t>The </a:t>
            </a:r>
            <a:r>
              <a:rPr lang="en-US" dirty="0"/>
              <a:t>&lt;</a:t>
            </a:r>
            <a:r>
              <a:rPr lang="en-US" dirty="0" err="1"/>
              <a:t>nav</a:t>
            </a:r>
            <a:r>
              <a:rPr lang="en-US" dirty="0"/>
              <a:t>&gt; tag is used to define a navigation section on a webpage</a:t>
            </a:r>
            <a:r>
              <a:rPr lang="en-US" dirty="0" smtClean="0"/>
              <a:t>.</a:t>
            </a:r>
          </a:p>
          <a:p>
            <a:pPr marL="0" indent="0">
              <a:buNone/>
            </a:pPr>
            <a:endParaRPr lang="en-US" sz="2000" dirty="0"/>
          </a:p>
          <a:p>
            <a:pPr marL="0" indent="0">
              <a:buNone/>
            </a:pPr>
            <a:endParaRPr lang="en-US" sz="2000" dirty="0" smtClean="0"/>
          </a:p>
          <a:p>
            <a:pPr marL="0" indent="0">
              <a:buNone/>
            </a:pPr>
            <a:endParaRPr lang="en-US" sz="2000" dirty="0"/>
          </a:p>
          <a:p>
            <a:pPr marL="0" indent="0">
              <a:buNone/>
            </a:pPr>
            <a:endParaRPr lang="en-US" dirty="0" smtClean="0"/>
          </a:p>
          <a:p>
            <a:pPr marL="0" indent="0">
              <a:buNone/>
            </a:pPr>
            <a:endParaRPr lang="en-US" sz="2000" dirty="0" smtClean="0"/>
          </a:p>
          <a:p>
            <a:pPr marL="0" indent="0">
              <a:buNone/>
            </a:pPr>
            <a:endParaRPr lang="en-US" sz="2000" dirty="0"/>
          </a:p>
          <a:p>
            <a:pPr marL="0" indent="0">
              <a:buNone/>
            </a:pPr>
            <a:endParaRPr lang="en-GB" sz="2000" dirty="0"/>
          </a:p>
        </p:txBody>
      </p:sp>
      <p:sp>
        <p:nvSpPr>
          <p:cNvPr id="5" name="Rectangle 4"/>
          <p:cNvSpPr/>
          <p:nvPr/>
        </p:nvSpPr>
        <p:spPr>
          <a:xfrm>
            <a:off x="1184031" y="2565740"/>
            <a:ext cx="6096000" cy="2308324"/>
          </a:xfrm>
          <a:prstGeom prst="rect">
            <a:avLst/>
          </a:prstGeom>
        </p:spPr>
        <p:txBody>
          <a:bodyPr>
            <a:spAutoFit/>
          </a:bodyPr>
          <a:lstStyle/>
          <a:p>
            <a:r>
              <a:rPr lang="en-GB" sz="1600" dirty="0" smtClean="0"/>
              <a:t>      &lt;</a:t>
            </a:r>
            <a:r>
              <a:rPr lang="en-GB" sz="1600" dirty="0" err="1"/>
              <a:t>nav</a:t>
            </a:r>
            <a:r>
              <a:rPr lang="en-GB" sz="1600" dirty="0"/>
              <a:t>&gt; </a:t>
            </a:r>
            <a:endParaRPr lang="en-GB" sz="1600" dirty="0" smtClean="0"/>
          </a:p>
          <a:p>
            <a:r>
              <a:rPr lang="en-GB" sz="1600" dirty="0"/>
              <a:t>	</a:t>
            </a:r>
            <a:r>
              <a:rPr lang="en-GB" sz="1600" dirty="0" smtClean="0"/>
              <a:t>&lt;</a:t>
            </a:r>
            <a:r>
              <a:rPr lang="en-GB" sz="1600" dirty="0" err="1"/>
              <a:t>ul</a:t>
            </a:r>
            <a:r>
              <a:rPr lang="en-GB" sz="1600" dirty="0"/>
              <a:t>&gt; </a:t>
            </a:r>
            <a:endParaRPr lang="en-GB" sz="1600" dirty="0" smtClean="0"/>
          </a:p>
          <a:p>
            <a:r>
              <a:rPr lang="en-GB" sz="1600" dirty="0"/>
              <a:t>	</a:t>
            </a:r>
            <a:r>
              <a:rPr lang="en-GB" sz="1600" dirty="0" smtClean="0"/>
              <a:t>   &lt;</a:t>
            </a:r>
            <a:r>
              <a:rPr lang="en-GB" sz="1600" dirty="0"/>
              <a:t>li&gt;&lt;a </a:t>
            </a:r>
            <a:r>
              <a:rPr lang="en-GB" sz="1600" dirty="0" err="1"/>
              <a:t>href</a:t>
            </a:r>
            <a:r>
              <a:rPr lang="en-GB" sz="1600" dirty="0"/>
              <a:t>="#home"&gt;Home&lt;/a&gt;&lt;/li&gt; </a:t>
            </a:r>
            <a:endParaRPr lang="en-GB" sz="1600" dirty="0" smtClean="0"/>
          </a:p>
          <a:p>
            <a:r>
              <a:rPr lang="en-GB" sz="1600" dirty="0"/>
              <a:t>	</a:t>
            </a:r>
            <a:r>
              <a:rPr lang="en-GB" sz="1600" dirty="0" smtClean="0"/>
              <a:t>   &lt;</a:t>
            </a:r>
            <a:r>
              <a:rPr lang="en-GB" sz="1600" dirty="0"/>
              <a:t>li&gt;&lt;a </a:t>
            </a:r>
            <a:r>
              <a:rPr lang="en-GB" sz="1600" dirty="0" err="1"/>
              <a:t>href</a:t>
            </a:r>
            <a:r>
              <a:rPr lang="en-GB" sz="1600" dirty="0"/>
              <a:t>="#about"&gt;About&lt;/a&gt;&lt;/li</a:t>
            </a:r>
            <a:r>
              <a:rPr lang="en-GB" sz="1600" dirty="0" smtClean="0"/>
              <a:t>&gt;</a:t>
            </a:r>
          </a:p>
          <a:p>
            <a:r>
              <a:rPr lang="en-GB" sz="1600" dirty="0"/>
              <a:t>	</a:t>
            </a:r>
            <a:r>
              <a:rPr lang="en-GB" sz="1600" dirty="0" smtClean="0"/>
              <a:t>   &lt;</a:t>
            </a:r>
            <a:r>
              <a:rPr lang="en-GB" sz="1600" dirty="0"/>
              <a:t>li&gt;&lt;a </a:t>
            </a:r>
            <a:r>
              <a:rPr lang="en-GB" sz="1600" dirty="0" err="1"/>
              <a:t>href</a:t>
            </a:r>
            <a:r>
              <a:rPr lang="en-GB" sz="1600" dirty="0"/>
              <a:t>="#services"&gt;Services&lt;/a&gt;&lt;/li</a:t>
            </a:r>
            <a:r>
              <a:rPr lang="en-GB" sz="1600" dirty="0" smtClean="0"/>
              <a:t>&gt;</a:t>
            </a:r>
          </a:p>
          <a:p>
            <a:r>
              <a:rPr lang="en-GB" sz="1600" dirty="0"/>
              <a:t>	</a:t>
            </a:r>
            <a:r>
              <a:rPr lang="en-GB" sz="1600" dirty="0" smtClean="0"/>
              <a:t>   &lt;</a:t>
            </a:r>
            <a:r>
              <a:rPr lang="en-GB" sz="1600" dirty="0"/>
              <a:t>li&gt;&lt;a </a:t>
            </a:r>
            <a:r>
              <a:rPr lang="en-GB" sz="1600" dirty="0" err="1"/>
              <a:t>href</a:t>
            </a:r>
            <a:r>
              <a:rPr lang="en-GB" sz="1600" dirty="0"/>
              <a:t>="#contact"&gt;Contact&lt;/a&gt;&lt;/li&gt; </a:t>
            </a:r>
            <a:endParaRPr lang="en-GB" sz="1600" dirty="0" smtClean="0"/>
          </a:p>
          <a:p>
            <a:r>
              <a:rPr lang="en-GB" sz="1600" dirty="0"/>
              <a:t>	</a:t>
            </a:r>
            <a:r>
              <a:rPr lang="en-GB" sz="1600" dirty="0" smtClean="0"/>
              <a:t>&lt;/</a:t>
            </a:r>
            <a:r>
              <a:rPr lang="en-GB" sz="1600" dirty="0" err="1"/>
              <a:t>ul</a:t>
            </a:r>
            <a:r>
              <a:rPr lang="en-GB" sz="1600" dirty="0"/>
              <a:t>&gt; </a:t>
            </a:r>
            <a:endParaRPr lang="en-GB" sz="1600" dirty="0" smtClean="0"/>
          </a:p>
          <a:p>
            <a:r>
              <a:rPr lang="en-GB" sz="1600" dirty="0"/>
              <a:t> </a:t>
            </a:r>
            <a:r>
              <a:rPr lang="en-GB" sz="1600" dirty="0" smtClean="0"/>
              <a:t>      &lt;/</a:t>
            </a:r>
            <a:r>
              <a:rPr lang="en-GB" sz="1600" dirty="0" err="1"/>
              <a:t>nav</a:t>
            </a:r>
            <a:r>
              <a:rPr lang="en-GB" sz="1600" dirty="0"/>
              <a:t>&gt; </a:t>
            </a:r>
            <a:endParaRPr lang="en-GB" sz="1600" dirty="0" smtClean="0"/>
          </a:p>
          <a:p>
            <a:r>
              <a:rPr lang="en-GB" sz="1600" dirty="0" smtClean="0"/>
              <a:t>       &lt;!-- </a:t>
            </a:r>
            <a:r>
              <a:rPr lang="en-GB" sz="1600" dirty="0"/>
              <a:t>Rest of your webpage content goes here --&gt; </a:t>
            </a:r>
            <a:endParaRPr lang="en-GB" sz="1600" dirty="0" smtClean="0"/>
          </a:p>
        </p:txBody>
      </p:sp>
    </p:spTree>
    <p:extLst>
      <p:ext uri="{BB962C8B-B14F-4D97-AF65-F5344CB8AC3E}">
        <p14:creationId xmlns:p14="http://schemas.microsoft.com/office/powerpoint/2010/main" val="21292263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HTML &lt;</a:t>
            </a:r>
            <a:r>
              <a:rPr lang="en-US" dirty="0" err="1" smtClean="0"/>
              <a:t>nav</a:t>
            </a:r>
            <a:r>
              <a:rPr lang="en-US" dirty="0" smtClean="0"/>
              <a:t>&gt; Layout</a:t>
            </a:r>
            <a:endParaRPr lang="en-GB" dirty="0"/>
          </a:p>
        </p:txBody>
      </p:sp>
      <p:sp>
        <p:nvSpPr>
          <p:cNvPr id="3" name="Content Placeholder 2"/>
          <p:cNvSpPr>
            <a:spLocks noGrp="1"/>
          </p:cNvSpPr>
          <p:nvPr>
            <p:ph idx="1"/>
          </p:nvPr>
        </p:nvSpPr>
        <p:spPr>
          <a:xfrm>
            <a:off x="838200" y="1617785"/>
            <a:ext cx="10515600" cy="4980476"/>
          </a:xfrm>
        </p:spPr>
        <p:txBody>
          <a:bodyPr>
            <a:normAutofit/>
          </a:bodyPr>
          <a:lstStyle/>
          <a:p>
            <a:pPr marL="0" indent="0">
              <a:buNone/>
            </a:pPr>
            <a:r>
              <a:rPr lang="en-US" dirty="0" smtClean="0"/>
              <a:t> &lt;</a:t>
            </a:r>
            <a:r>
              <a:rPr lang="en-US" dirty="0" err="1" smtClean="0"/>
              <a:t>nav</a:t>
            </a:r>
            <a:r>
              <a:rPr lang="en-US" dirty="0" smtClean="0"/>
              <a:t>&gt; - Consist on navigation links</a:t>
            </a:r>
          </a:p>
          <a:p>
            <a:pPr marL="914400" lvl="2" indent="0">
              <a:buNone/>
            </a:pPr>
            <a:r>
              <a:rPr lang="en-GB" dirty="0"/>
              <a:t>&lt;</a:t>
            </a:r>
            <a:r>
              <a:rPr lang="en-GB" dirty="0" err="1"/>
              <a:t>nav</a:t>
            </a:r>
            <a:r>
              <a:rPr lang="en-GB" dirty="0"/>
              <a:t> style="background-</a:t>
            </a:r>
            <a:r>
              <a:rPr lang="en-GB" dirty="0" err="1"/>
              <a:t>color</a:t>
            </a:r>
            <a:r>
              <a:rPr lang="en-GB" dirty="0"/>
              <a:t>:#</a:t>
            </a:r>
            <a:r>
              <a:rPr lang="en-GB" dirty="0" err="1"/>
              <a:t>bcdeef</a:t>
            </a:r>
            <a:r>
              <a:rPr lang="en-GB" dirty="0"/>
              <a:t>;"&gt;  </a:t>
            </a:r>
          </a:p>
          <a:p>
            <a:pPr marL="914400" lvl="2" indent="0">
              <a:buNone/>
            </a:pPr>
            <a:r>
              <a:rPr lang="en-GB" dirty="0"/>
              <a:t>        &lt;h1 style="text-align: </a:t>
            </a:r>
            <a:r>
              <a:rPr lang="en-GB" dirty="0" err="1"/>
              <a:t>center</a:t>
            </a:r>
            <a:r>
              <a:rPr lang="en-GB" dirty="0"/>
              <a:t>;"&gt;</a:t>
            </a:r>
            <a:r>
              <a:rPr lang="en-GB" dirty="0" err="1"/>
              <a:t>Navgation</a:t>
            </a:r>
            <a:r>
              <a:rPr lang="en-GB" dirty="0"/>
              <a:t> Links&lt;/h1&gt;  </a:t>
            </a:r>
          </a:p>
          <a:p>
            <a:pPr marL="914400" lvl="2" indent="0">
              <a:buNone/>
            </a:pPr>
            <a:r>
              <a:rPr lang="en-GB" dirty="0"/>
              <a:t>        &lt;</a:t>
            </a:r>
            <a:r>
              <a:rPr lang="en-GB" dirty="0" err="1"/>
              <a:t>ul</a:t>
            </a:r>
            <a:r>
              <a:rPr lang="en-GB" dirty="0"/>
              <a:t>&gt;  </a:t>
            </a:r>
          </a:p>
          <a:p>
            <a:pPr marL="914400" lvl="2" indent="0">
              <a:buNone/>
            </a:pPr>
            <a:r>
              <a:rPr lang="en-GB" dirty="0"/>
              <a:t>            &lt;li&gt;&lt;a </a:t>
            </a:r>
            <a:r>
              <a:rPr lang="en-GB" dirty="0" err="1"/>
              <a:t>href</a:t>
            </a:r>
            <a:r>
              <a:rPr lang="en-GB" dirty="0"/>
              <a:t>="#"&gt;link1&lt;/a&gt;&lt;/li&gt;  </a:t>
            </a:r>
          </a:p>
          <a:p>
            <a:pPr marL="914400" lvl="2" indent="0">
              <a:buNone/>
            </a:pPr>
            <a:r>
              <a:rPr lang="en-GB" dirty="0"/>
              <a:t>            &lt;li&gt;&lt;a </a:t>
            </a:r>
            <a:r>
              <a:rPr lang="en-GB" dirty="0" err="1"/>
              <a:t>href</a:t>
            </a:r>
            <a:r>
              <a:rPr lang="en-GB" dirty="0"/>
              <a:t>="#"&gt;link2&lt;/a&gt;&lt;/li&gt;  </a:t>
            </a:r>
          </a:p>
          <a:p>
            <a:pPr marL="914400" lvl="2" indent="0">
              <a:buNone/>
            </a:pPr>
            <a:r>
              <a:rPr lang="en-GB" dirty="0"/>
              <a:t>            &lt;li&gt;&lt;a </a:t>
            </a:r>
            <a:r>
              <a:rPr lang="en-GB" dirty="0" err="1"/>
              <a:t>href</a:t>
            </a:r>
            <a:r>
              <a:rPr lang="en-GB" dirty="0"/>
              <a:t>="#"&gt;link3&lt;/a&gt;&lt;/li&gt;  </a:t>
            </a:r>
          </a:p>
          <a:p>
            <a:pPr marL="914400" lvl="2" indent="0">
              <a:buNone/>
            </a:pPr>
            <a:r>
              <a:rPr lang="en-GB" dirty="0"/>
              <a:t>            &lt;li&gt;&lt;a </a:t>
            </a:r>
            <a:r>
              <a:rPr lang="en-GB" dirty="0" err="1"/>
              <a:t>href</a:t>
            </a:r>
            <a:r>
              <a:rPr lang="en-GB" dirty="0"/>
              <a:t>="#"&gt;link4&lt;/a&gt;&lt;/li&gt;  </a:t>
            </a:r>
          </a:p>
          <a:p>
            <a:pPr marL="914400" lvl="2" indent="0">
              <a:buNone/>
            </a:pPr>
            <a:r>
              <a:rPr lang="en-GB" dirty="0"/>
              <a:t>        &lt;/</a:t>
            </a:r>
            <a:r>
              <a:rPr lang="en-GB" dirty="0" err="1"/>
              <a:t>ul</a:t>
            </a:r>
            <a:r>
              <a:rPr lang="en-GB" dirty="0"/>
              <a:t>&gt;  </a:t>
            </a:r>
          </a:p>
          <a:p>
            <a:pPr marL="914400" lvl="2" indent="0">
              <a:buNone/>
            </a:pPr>
            <a:r>
              <a:rPr lang="en-GB" dirty="0"/>
              <a:t>    &lt;/</a:t>
            </a:r>
            <a:r>
              <a:rPr lang="en-GB" dirty="0" err="1"/>
              <a:t>nav</a:t>
            </a:r>
            <a:r>
              <a:rPr lang="en-GB" dirty="0"/>
              <a:t>&gt;  </a:t>
            </a:r>
            <a:endParaRPr lang="en-GB" dirty="0" smtClean="0"/>
          </a:p>
          <a:p>
            <a:pPr marL="0" indent="0">
              <a:buNone/>
            </a:pPr>
            <a:r>
              <a:rPr lang="en-US" sz="2000" dirty="0" smtClean="0"/>
              <a:t>The </a:t>
            </a:r>
            <a:r>
              <a:rPr lang="en-US" sz="2000" dirty="0"/>
              <a:t>&lt;</a:t>
            </a:r>
            <a:r>
              <a:rPr lang="en-US" sz="2000" dirty="0" err="1"/>
              <a:t>nav</a:t>
            </a:r>
            <a:r>
              <a:rPr lang="en-US" sz="2000" dirty="0"/>
              <a:t>&gt; tag itself doesn’t have any inherent physical appearance; it’s simply a semantic HTML element that indicates a section of navigation links. You might want to style a &lt;</a:t>
            </a:r>
            <a:r>
              <a:rPr lang="en-US" sz="2000" dirty="0" err="1"/>
              <a:t>nav</a:t>
            </a:r>
            <a:r>
              <a:rPr lang="en-US" sz="2000" dirty="0"/>
              <a:t>&gt; tag to make it visually appealing.</a:t>
            </a:r>
            <a:endParaRPr lang="en-GB"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5574" y="5769586"/>
            <a:ext cx="566737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58248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&lt;header&gt; Tag</a:t>
            </a:r>
            <a:endParaRPr lang="en-GB" dirty="0"/>
          </a:p>
        </p:txBody>
      </p:sp>
      <p:sp>
        <p:nvSpPr>
          <p:cNvPr id="3" name="Content Placeholder 2"/>
          <p:cNvSpPr>
            <a:spLocks noGrp="1"/>
          </p:cNvSpPr>
          <p:nvPr>
            <p:ph idx="1"/>
          </p:nvPr>
        </p:nvSpPr>
        <p:spPr>
          <a:xfrm>
            <a:off x="603740" y="1497381"/>
            <a:ext cx="10515600" cy="4351338"/>
          </a:xfrm>
        </p:spPr>
        <p:txBody>
          <a:bodyPr/>
          <a:lstStyle/>
          <a:p>
            <a:pPr marL="0" indent="0" algn="just">
              <a:buNone/>
            </a:pPr>
            <a:r>
              <a:rPr lang="en-US" dirty="0" smtClean="0"/>
              <a:t>T</a:t>
            </a:r>
            <a:r>
              <a:rPr lang="en-US" dirty="0"/>
              <a:t>he &lt;header&gt; tag is typically used to define a header section for a document or a section within a </a:t>
            </a:r>
            <a:r>
              <a:rPr lang="en-US" dirty="0" smtClean="0"/>
              <a:t>document. It </a:t>
            </a:r>
            <a:r>
              <a:rPr lang="en-US" dirty="0"/>
              <a:t>often contains elements such as headings, logos, navigation menus, and other introductory content.</a:t>
            </a:r>
          </a:p>
          <a:p>
            <a:pPr marL="0" indent="0">
              <a:buNone/>
            </a:pPr>
            <a:r>
              <a:rPr lang="en-US" dirty="0"/>
              <a:t>It is commonly found at the top of a webpage and helps in providing information about the document as a whole.</a:t>
            </a:r>
          </a:p>
          <a:p>
            <a:pPr marL="0" indent="0">
              <a:buNone/>
            </a:pP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
        <p:nvSpPr>
          <p:cNvPr id="5" name="Rectangle 4"/>
          <p:cNvSpPr/>
          <p:nvPr/>
        </p:nvSpPr>
        <p:spPr>
          <a:xfrm>
            <a:off x="7303476" y="3744578"/>
            <a:ext cx="4783016" cy="2862322"/>
          </a:xfrm>
          <a:prstGeom prst="rect">
            <a:avLst/>
          </a:prstGeom>
        </p:spPr>
        <p:txBody>
          <a:bodyPr wrap="square">
            <a:spAutoFit/>
          </a:bodyPr>
          <a:lstStyle/>
          <a:p>
            <a:r>
              <a:rPr lang="en-GB" dirty="0"/>
              <a:t>&lt;header&gt;</a:t>
            </a:r>
          </a:p>
          <a:p>
            <a:r>
              <a:rPr lang="en-GB" dirty="0"/>
              <a:t>    &lt;h1&gt;Website Title&lt;/h1&gt;</a:t>
            </a:r>
          </a:p>
          <a:p>
            <a:r>
              <a:rPr lang="en-GB" dirty="0"/>
              <a:t>    &lt;</a:t>
            </a:r>
            <a:r>
              <a:rPr lang="en-GB" dirty="0" err="1"/>
              <a:t>nav</a:t>
            </a:r>
            <a:r>
              <a:rPr lang="en-GB" dirty="0"/>
              <a:t>&gt;</a:t>
            </a:r>
          </a:p>
          <a:p>
            <a:r>
              <a:rPr lang="en-GB" dirty="0"/>
              <a:t>        &lt;</a:t>
            </a:r>
            <a:r>
              <a:rPr lang="en-GB" dirty="0" err="1"/>
              <a:t>ul</a:t>
            </a:r>
            <a:r>
              <a:rPr lang="en-GB" dirty="0"/>
              <a:t>&gt;</a:t>
            </a:r>
          </a:p>
          <a:p>
            <a:r>
              <a:rPr lang="en-GB" dirty="0"/>
              <a:t>            &lt;li&gt;&lt;a </a:t>
            </a:r>
            <a:r>
              <a:rPr lang="en-GB" dirty="0" err="1"/>
              <a:t>href</a:t>
            </a:r>
            <a:r>
              <a:rPr lang="en-GB" dirty="0"/>
              <a:t>="#home"&gt;Home&lt;/a&gt;&lt;/li&gt;</a:t>
            </a:r>
          </a:p>
          <a:p>
            <a:r>
              <a:rPr lang="en-GB" dirty="0"/>
              <a:t>            &lt;li&gt;&lt;a </a:t>
            </a:r>
            <a:r>
              <a:rPr lang="en-GB" dirty="0" err="1"/>
              <a:t>href</a:t>
            </a:r>
            <a:r>
              <a:rPr lang="en-GB" dirty="0"/>
              <a:t>="#about"&gt;About&lt;/a&gt;&lt;/li&gt;</a:t>
            </a:r>
          </a:p>
          <a:p>
            <a:r>
              <a:rPr lang="en-GB" dirty="0"/>
              <a:t>            &lt;li&gt;&lt;a </a:t>
            </a:r>
            <a:r>
              <a:rPr lang="en-GB" dirty="0" err="1"/>
              <a:t>href</a:t>
            </a:r>
            <a:r>
              <a:rPr lang="en-GB" dirty="0"/>
              <a:t>="#contact"&gt;Contact&lt;/a&gt;&lt;/li&gt;</a:t>
            </a:r>
          </a:p>
          <a:p>
            <a:r>
              <a:rPr lang="en-GB" dirty="0"/>
              <a:t>        &lt;/</a:t>
            </a:r>
            <a:r>
              <a:rPr lang="en-GB" dirty="0" err="1"/>
              <a:t>ul</a:t>
            </a:r>
            <a:r>
              <a:rPr lang="en-GB" dirty="0"/>
              <a:t>&gt;</a:t>
            </a:r>
          </a:p>
          <a:p>
            <a:r>
              <a:rPr lang="en-GB" dirty="0"/>
              <a:t>    &lt;/</a:t>
            </a:r>
            <a:r>
              <a:rPr lang="en-GB" dirty="0" err="1"/>
              <a:t>nav</a:t>
            </a:r>
            <a:r>
              <a:rPr lang="en-GB" dirty="0"/>
              <a:t>&gt;</a:t>
            </a:r>
          </a:p>
          <a:p>
            <a:r>
              <a:rPr lang="en-GB" dirty="0"/>
              <a:t>&lt;/header&gt;</a:t>
            </a:r>
          </a:p>
        </p:txBody>
      </p:sp>
    </p:spTree>
    <p:extLst>
      <p:ext uri="{BB962C8B-B14F-4D97-AF65-F5344CB8AC3E}">
        <p14:creationId xmlns:p14="http://schemas.microsoft.com/office/powerpoint/2010/main" val="16746760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&lt;figure&gt; Tag</a:t>
            </a:r>
            <a:endParaRPr lang="en-GB" dirty="0"/>
          </a:p>
        </p:txBody>
      </p:sp>
      <p:sp>
        <p:nvSpPr>
          <p:cNvPr id="3" name="Content Placeholder 2"/>
          <p:cNvSpPr>
            <a:spLocks noGrp="1"/>
          </p:cNvSpPr>
          <p:nvPr>
            <p:ph idx="1"/>
          </p:nvPr>
        </p:nvSpPr>
        <p:spPr/>
        <p:txBody>
          <a:bodyPr>
            <a:normAutofit lnSpcReduction="10000"/>
          </a:bodyPr>
          <a:lstStyle/>
          <a:p>
            <a:pPr marL="0" indent="0" algn="just">
              <a:buNone/>
            </a:pPr>
            <a:r>
              <a:rPr lang="en-US" dirty="0"/>
              <a:t>The &lt;figure&gt; tag in HTML is used to encapsulate any content that is referenced from the main content, such as images, diagrams, illustrations, videos, and code snippets. It is often paired with the &lt;</a:t>
            </a:r>
            <a:r>
              <a:rPr lang="en-US" dirty="0" err="1"/>
              <a:t>figcaption</a:t>
            </a:r>
            <a:r>
              <a:rPr lang="en-US" dirty="0"/>
              <a:t>&gt; tag to provide a caption for the content within the &lt;figure</a:t>
            </a:r>
            <a:r>
              <a:rPr lang="en-US" dirty="0" smtClean="0"/>
              <a:t>&gt; </a:t>
            </a:r>
            <a:r>
              <a:rPr lang="en-US" dirty="0"/>
              <a:t>element</a:t>
            </a:r>
            <a:r>
              <a:rPr lang="en-US" dirty="0" smtClean="0"/>
              <a:t>.</a:t>
            </a:r>
          </a:p>
          <a:p>
            <a:pPr marL="0" indent="0" algn="just">
              <a:buNone/>
            </a:pPr>
            <a:endParaRPr lang="en-US" dirty="0"/>
          </a:p>
          <a:p>
            <a:pPr marL="0" indent="0" algn="just">
              <a:buNone/>
            </a:pPr>
            <a:endParaRPr lang="en-US" dirty="0" smtClean="0"/>
          </a:p>
          <a:p>
            <a:pPr marL="0" indent="0" algn="just">
              <a:buNone/>
            </a:pPr>
            <a:endParaRPr lang="en-US" dirty="0"/>
          </a:p>
          <a:p>
            <a:pPr marL="0" indent="0" algn="just">
              <a:buNone/>
            </a:pPr>
            <a:r>
              <a:rPr lang="en-US" dirty="0" smtClean="0"/>
              <a:t>&lt;figure</a:t>
            </a:r>
            <a:r>
              <a:rPr lang="en-US" dirty="0"/>
              <a:t>&gt; element </a:t>
            </a:r>
            <a:r>
              <a:rPr lang="en-US" dirty="0" smtClean="0"/>
              <a:t>is used to </a:t>
            </a:r>
            <a:r>
              <a:rPr lang="en-US" dirty="0"/>
              <a:t>mark up a photo in a document, and a &lt;</a:t>
            </a:r>
            <a:r>
              <a:rPr lang="en-US" dirty="0" err="1"/>
              <a:t>figcaption</a:t>
            </a:r>
            <a:r>
              <a:rPr lang="en-US" dirty="0"/>
              <a:t>&gt; element </a:t>
            </a:r>
            <a:r>
              <a:rPr lang="en-US" dirty="0" smtClean="0"/>
              <a:t>is used to </a:t>
            </a:r>
            <a:r>
              <a:rPr lang="en-US" dirty="0"/>
              <a:t>define a caption for the photo:</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
        <p:nvSpPr>
          <p:cNvPr id="5" name="Rectangle 4"/>
          <p:cNvSpPr/>
          <p:nvPr/>
        </p:nvSpPr>
        <p:spPr>
          <a:xfrm>
            <a:off x="1957764" y="3752166"/>
            <a:ext cx="6096000" cy="1200329"/>
          </a:xfrm>
          <a:prstGeom prst="rect">
            <a:avLst/>
          </a:prstGeom>
        </p:spPr>
        <p:txBody>
          <a:bodyPr>
            <a:spAutoFit/>
          </a:bodyPr>
          <a:lstStyle/>
          <a:p>
            <a:r>
              <a:rPr lang="en-US" dirty="0"/>
              <a:t>&lt;figure&gt; </a:t>
            </a:r>
            <a:endParaRPr lang="en-US" dirty="0" smtClean="0"/>
          </a:p>
          <a:p>
            <a:r>
              <a:rPr lang="en-US" dirty="0"/>
              <a:t> </a:t>
            </a:r>
            <a:r>
              <a:rPr lang="en-US" dirty="0" smtClean="0"/>
              <a:t>     &lt;</a:t>
            </a:r>
            <a:r>
              <a:rPr lang="en-US" dirty="0" err="1"/>
              <a:t>img</a:t>
            </a:r>
            <a:r>
              <a:rPr lang="en-US" dirty="0"/>
              <a:t> </a:t>
            </a:r>
            <a:r>
              <a:rPr lang="en-US" dirty="0" err="1"/>
              <a:t>src</a:t>
            </a:r>
            <a:r>
              <a:rPr lang="en-US" dirty="0"/>
              <a:t>="example.jpg" alt="An example image"&gt; </a:t>
            </a:r>
            <a:r>
              <a:rPr lang="en-US" dirty="0" smtClean="0"/>
              <a:t>  </a:t>
            </a:r>
          </a:p>
          <a:p>
            <a:r>
              <a:rPr lang="en-US" dirty="0"/>
              <a:t> </a:t>
            </a:r>
            <a:r>
              <a:rPr lang="en-US" dirty="0" smtClean="0"/>
              <a:t>     &lt;</a:t>
            </a:r>
            <a:r>
              <a:rPr lang="en-US" dirty="0" err="1"/>
              <a:t>figcaption</a:t>
            </a:r>
            <a:r>
              <a:rPr lang="en-US" dirty="0"/>
              <a:t>&gt;This is an example image.&lt;/</a:t>
            </a:r>
            <a:r>
              <a:rPr lang="en-US" dirty="0" err="1"/>
              <a:t>figcaption</a:t>
            </a:r>
            <a:r>
              <a:rPr lang="en-US" dirty="0"/>
              <a:t>&gt; &lt;/figure&gt;</a:t>
            </a:r>
            <a:endParaRPr lang="en-GB"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8952" y="3487615"/>
            <a:ext cx="2333625"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42773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&lt;detail&gt; Tag</a:t>
            </a:r>
            <a:endParaRPr lang="en-GB" dirty="0"/>
          </a:p>
        </p:txBody>
      </p:sp>
      <p:sp>
        <p:nvSpPr>
          <p:cNvPr id="3" name="Content Placeholder 2"/>
          <p:cNvSpPr>
            <a:spLocks noGrp="1"/>
          </p:cNvSpPr>
          <p:nvPr>
            <p:ph idx="1"/>
          </p:nvPr>
        </p:nvSpPr>
        <p:spPr>
          <a:xfrm>
            <a:off x="621323" y="1825625"/>
            <a:ext cx="10732477" cy="4633790"/>
          </a:xfrm>
        </p:spPr>
        <p:txBody>
          <a:bodyPr>
            <a:normAutofit/>
          </a:bodyPr>
          <a:lstStyle/>
          <a:p>
            <a:pPr marL="0" indent="0">
              <a:buNone/>
            </a:pPr>
            <a:r>
              <a:rPr lang="en-US" dirty="0"/>
              <a:t>The </a:t>
            </a:r>
            <a:r>
              <a:rPr lang="en-US" b="1" dirty="0"/>
              <a:t>&lt;details</a:t>
            </a:r>
            <a:r>
              <a:rPr lang="en-US" b="1" dirty="0" smtClean="0"/>
              <a:t>&gt; html</a:t>
            </a:r>
            <a:r>
              <a:rPr lang="en-US" dirty="0"/>
              <a:t>  element creates a disclosure widget in which information is visible only when the widget is toggled into an "open" state. A summary or label must be provided using </a:t>
            </a:r>
            <a:r>
              <a:rPr lang="en-US" dirty="0" smtClean="0"/>
              <a:t>the summary element. </a:t>
            </a:r>
          </a:p>
          <a:p>
            <a:pPr marL="0" indent="0">
              <a:buNone/>
            </a:pPr>
            <a:endParaRPr lang="en-US" dirty="0"/>
          </a:p>
          <a:p>
            <a:pPr marL="0" indent="0">
              <a:buNone/>
            </a:pPr>
            <a:endParaRPr lang="en-US" dirty="0" smtClean="0"/>
          </a:p>
          <a:p>
            <a:pPr marL="0" indent="0">
              <a:buNone/>
            </a:pPr>
            <a:endParaRPr lang="en-US" dirty="0"/>
          </a:p>
          <a:p>
            <a:pPr marL="0" indent="0">
              <a:buNone/>
            </a:pPr>
            <a:endParaRPr lang="en-US" sz="2000" dirty="0" smtClean="0"/>
          </a:p>
          <a:p>
            <a:pPr marL="0" indent="0" algn="just">
              <a:buNone/>
            </a:pPr>
            <a:r>
              <a:rPr lang="en-US" sz="2000" dirty="0" smtClean="0"/>
              <a:t>The </a:t>
            </a:r>
            <a:r>
              <a:rPr lang="en-US" sz="2000" dirty="0"/>
              <a:t>default </a:t>
            </a:r>
            <a:r>
              <a:rPr lang="en-US" sz="2000" i="1" dirty="0"/>
              <a:t>closed</a:t>
            </a:r>
            <a:r>
              <a:rPr lang="en-US" sz="2000" dirty="0"/>
              <a:t> state displays only the triangle and the label inside &lt;summary</a:t>
            </a:r>
            <a:r>
              <a:rPr lang="en-US" sz="2000" dirty="0" smtClean="0"/>
              <a:t>&gt; </a:t>
            </a:r>
            <a:r>
              <a:rPr lang="en-US" sz="2000" dirty="0"/>
              <a:t>When the user clicks on the </a:t>
            </a:r>
            <a:r>
              <a:rPr lang="en-US" sz="2000" dirty="0" smtClean="0"/>
              <a:t>widget, </a:t>
            </a:r>
            <a:r>
              <a:rPr lang="en-US" sz="2000" dirty="0"/>
              <a:t>it "twists" open, revealing its contents</a:t>
            </a:r>
            <a:r>
              <a:rPr lang="en-US" sz="2000" dirty="0" smtClean="0"/>
              <a:t>. </a:t>
            </a:r>
            <a:r>
              <a:rPr lang="en-US" sz="2000" dirty="0"/>
              <a:t>You can use CSS to style the disclosure widget, and you can </a:t>
            </a:r>
            <a:r>
              <a:rPr lang="en-US" sz="2000" dirty="0" smtClean="0"/>
              <a:t>use JavaScript to programmatically </a:t>
            </a:r>
            <a:r>
              <a:rPr lang="en-US" sz="2000" dirty="0"/>
              <a:t>open and close the widget by setting/removing its </a:t>
            </a:r>
            <a:r>
              <a:rPr lang="en-US" sz="2000" u="sng" dirty="0">
                <a:hlinkClick r:id="rId2"/>
              </a:rPr>
              <a:t>open</a:t>
            </a:r>
            <a:r>
              <a:rPr lang="en-US" sz="2000" dirty="0"/>
              <a:t> attribute.</a:t>
            </a:r>
            <a:endParaRPr lang="en-GB" sz="2000" dirty="0"/>
          </a:p>
        </p:txBody>
      </p:sp>
      <p:sp>
        <p:nvSpPr>
          <p:cNvPr id="5" name="Rectangle 4"/>
          <p:cNvSpPr/>
          <p:nvPr/>
        </p:nvSpPr>
        <p:spPr>
          <a:xfrm>
            <a:off x="1031631" y="3269963"/>
            <a:ext cx="5076092" cy="1200329"/>
          </a:xfrm>
          <a:prstGeom prst="rect">
            <a:avLst/>
          </a:prstGeom>
        </p:spPr>
        <p:txBody>
          <a:bodyPr wrap="square">
            <a:spAutoFit/>
          </a:bodyPr>
          <a:lstStyle/>
          <a:p>
            <a:r>
              <a:rPr lang="en-US" dirty="0"/>
              <a:t>&lt;details&gt;  </a:t>
            </a:r>
            <a:endParaRPr lang="en-US" dirty="0" smtClean="0"/>
          </a:p>
          <a:p>
            <a:r>
              <a:rPr lang="en-US" dirty="0"/>
              <a:t> </a:t>
            </a:r>
            <a:r>
              <a:rPr lang="en-US" dirty="0" smtClean="0"/>
              <a:t>    &lt;</a:t>
            </a:r>
            <a:r>
              <a:rPr lang="en-US" dirty="0"/>
              <a:t>summary</a:t>
            </a:r>
            <a:r>
              <a:rPr lang="en-US" dirty="0" smtClean="0"/>
              <a:t>&gt;  Details</a:t>
            </a:r>
            <a:r>
              <a:rPr lang="en-US" dirty="0"/>
              <a:t>&lt;/summary&gt;  </a:t>
            </a:r>
            <a:endParaRPr lang="en-US" dirty="0" smtClean="0"/>
          </a:p>
          <a:p>
            <a:r>
              <a:rPr lang="en-US" dirty="0"/>
              <a:t> </a:t>
            </a:r>
            <a:r>
              <a:rPr lang="en-US" dirty="0" smtClean="0"/>
              <a:t>    Something </a:t>
            </a:r>
            <a:r>
              <a:rPr lang="en-US" dirty="0"/>
              <a:t>small enough to escape casual notice</a:t>
            </a:r>
            <a:r>
              <a:rPr lang="en-US" dirty="0" smtClean="0"/>
              <a:t>.</a:t>
            </a:r>
          </a:p>
          <a:p>
            <a:r>
              <a:rPr lang="en-US" dirty="0" smtClean="0"/>
              <a:t>&lt;/</a:t>
            </a:r>
            <a:r>
              <a:rPr lang="en-US" dirty="0"/>
              <a:t>details&gt;</a:t>
            </a:r>
            <a:endParaRPr lang="en-GB"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76957" y="3092699"/>
            <a:ext cx="1095375"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18304" y="3983654"/>
            <a:ext cx="2305050"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8842497" y="3623944"/>
            <a:ext cx="2136995" cy="307777"/>
          </a:xfrm>
          <a:prstGeom prst="rect">
            <a:avLst/>
          </a:prstGeom>
          <a:noFill/>
        </p:spPr>
        <p:txBody>
          <a:bodyPr wrap="none" rtlCol="0">
            <a:spAutoFit/>
          </a:bodyPr>
          <a:lstStyle/>
          <a:p>
            <a:r>
              <a:rPr lang="en-US" sz="1400" dirty="0" smtClean="0"/>
              <a:t>After toggled in open state</a:t>
            </a:r>
            <a:endParaRPr lang="en-GB" sz="1400" dirty="0"/>
          </a:p>
        </p:txBody>
      </p:sp>
    </p:spTree>
    <p:extLst>
      <p:ext uri="{BB962C8B-B14F-4D97-AF65-F5344CB8AC3E}">
        <p14:creationId xmlns:p14="http://schemas.microsoft.com/office/powerpoint/2010/main" val="31460961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&lt;mark&gt; &amp; &lt;dialog&gt;Tags</a:t>
            </a:r>
            <a:endParaRPr lang="en-GB" dirty="0"/>
          </a:p>
        </p:txBody>
      </p:sp>
      <p:sp>
        <p:nvSpPr>
          <p:cNvPr id="3" name="Content Placeholder 2"/>
          <p:cNvSpPr>
            <a:spLocks noGrp="1"/>
          </p:cNvSpPr>
          <p:nvPr>
            <p:ph idx="1"/>
          </p:nvPr>
        </p:nvSpPr>
        <p:spPr/>
        <p:txBody>
          <a:bodyPr>
            <a:normAutofit/>
          </a:bodyPr>
          <a:lstStyle/>
          <a:p>
            <a:pPr marL="0" indent="0">
              <a:buNone/>
            </a:pPr>
            <a:r>
              <a:rPr lang="en-US" dirty="0" smtClean="0"/>
              <a:t>The</a:t>
            </a:r>
            <a:r>
              <a:rPr lang="en-US" dirty="0"/>
              <a:t> </a:t>
            </a:r>
            <a:r>
              <a:rPr lang="en-US" b="1" dirty="0"/>
              <a:t>&lt;mark&gt;</a:t>
            </a:r>
            <a:r>
              <a:rPr lang="en-US" dirty="0"/>
              <a:t> </a:t>
            </a:r>
            <a:r>
              <a:rPr lang="en-US" u="sng" dirty="0">
                <a:hlinkClick r:id="rId2"/>
              </a:rPr>
              <a:t>HTML</a:t>
            </a:r>
            <a:r>
              <a:rPr lang="en-US" dirty="0"/>
              <a:t> element represents text which </a:t>
            </a:r>
            <a:r>
              <a:rPr lang="en-US" dirty="0" smtClean="0"/>
              <a:t>is marked or highlighted for reference </a:t>
            </a:r>
            <a:r>
              <a:rPr lang="en-US" dirty="0"/>
              <a:t>or notation </a:t>
            </a:r>
            <a:r>
              <a:rPr lang="en-US" dirty="0" smtClean="0"/>
              <a:t>purposes.</a:t>
            </a:r>
          </a:p>
          <a:p>
            <a:pPr marL="0" indent="0">
              <a:buNone/>
            </a:pPr>
            <a:endParaRPr lang="en-US" dirty="0"/>
          </a:p>
          <a:p>
            <a:pPr marL="0" indent="0">
              <a:buNone/>
            </a:pPr>
            <a:endParaRPr lang="en-US" dirty="0" smtClean="0"/>
          </a:p>
          <a:p>
            <a:pPr marL="0" indent="0">
              <a:buNone/>
            </a:pPr>
            <a:endParaRPr lang="en-US" dirty="0"/>
          </a:p>
          <a:p>
            <a:pPr marL="0" indent="0">
              <a:buNone/>
            </a:pPr>
            <a:r>
              <a:rPr lang="en-US" b="1" dirty="0" smtClean="0"/>
              <a:t>The &lt;dialog</a:t>
            </a:r>
            <a:r>
              <a:rPr lang="en-US" b="1" dirty="0"/>
              <a:t>&gt; </a:t>
            </a:r>
            <a:r>
              <a:rPr lang="en-US" b="1" dirty="0" smtClean="0"/>
              <a:t>HTML </a:t>
            </a:r>
            <a:r>
              <a:rPr lang="en-US" b="1" dirty="0" err="1" smtClean="0"/>
              <a:t>elemet</a:t>
            </a:r>
            <a:r>
              <a:rPr lang="en-US" dirty="0"/>
              <a:t> is used </a:t>
            </a:r>
            <a:r>
              <a:rPr lang="en-US" i="1" dirty="0"/>
              <a:t>to </a:t>
            </a:r>
            <a:r>
              <a:rPr lang="en-US" i="1" dirty="0" smtClean="0"/>
              <a:t>create a dialog box</a:t>
            </a:r>
          </a:p>
          <a:p>
            <a:pPr marL="914400" lvl="2" indent="0">
              <a:buNone/>
            </a:pPr>
            <a:r>
              <a:rPr lang="nl-NL" dirty="0"/>
              <a:t>&lt;dialog open&gt;This is an open dialog window&lt;/dialog&gt;</a:t>
            </a:r>
          </a:p>
          <a:p>
            <a:pPr marL="0" indent="0">
              <a:buNone/>
            </a:pPr>
            <a:endParaRPr lang="en-GB" dirty="0"/>
          </a:p>
        </p:txBody>
      </p:sp>
      <p:sp>
        <p:nvSpPr>
          <p:cNvPr id="5" name="Rectangle 4"/>
          <p:cNvSpPr/>
          <p:nvPr/>
        </p:nvSpPr>
        <p:spPr>
          <a:xfrm>
            <a:off x="715109" y="2943835"/>
            <a:ext cx="10820400" cy="369332"/>
          </a:xfrm>
          <a:prstGeom prst="rect">
            <a:avLst/>
          </a:prstGeom>
        </p:spPr>
        <p:txBody>
          <a:bodyPr wrap="square">
            <a:spAutoFit/>
          </a:bodyPr>
          <a:lstStyle/>
          <a:p>
            <a:r>
              <a:rPr lang="en-US" dirty="0"/>
              <a:t>&lt;p&gt;Most &lt;mark&gt;salamander&lt;/mark&gt;s are nocturnal, and hunt for insects, worms, and other small creatures.&lt;/p&gt;</a:t>
            </a:r>
            <a:endParaRPr lang="en-GB"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625" y="3261946"/>
            <a:ext cx="822007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83925" y="5341694"/>
            <a:ext cx="221932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4103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&lt;section&gt; &amp; &lt;article&gt; Tags</a:t>
            </a:r>
            <a:endParaRPr lang="en-GB" dirty="0"/>
          </a:p>
        </p:txBody>
      </p:sp>
      <p:sp>
        <p:nvSpPr>
          <p:cNvPr id="3" name="Content Placeholder 2"/>
          <p:cNvSpPr>
            <a:spLocks noGrp="1"/>
          </p:cNvSpPr>
          <p:nvPr>
            <p:ph idx="1"/>
          </p:nvPr>
        </p:nvSpPr>
        <p:spPr>
          <a:xfrm>
            <a:off x="838200" y="1559169"/>
            <a:ext cx="11085982" cy="4617794"/>
          </a:xfrm>
        </p:spPr>
        <p:txBody>
          <a:bodyPr>
            <a:normAutofit fontScale="77500" lnSpcReduction="20000"/>
          </a:bodyPr>
          <a:lstStyle/>
          <a:p>
            <a:pPr marL="0" indent="0">
              <a:buNone/>
            </a:pPr>
            <a:r>
              <a:rPr lang="en-US" dirty="0" smtClean="0"/>
              <a:t>&lt;Section&gt; This tag should always have a heading</a:t>
            </a:r>
          </a:p>
          <a:p>
            <a:pPr marL="0" indent="0">
              <a:buNone/>
            </a:pPr>
            <a:r>
              <a:rPr lang="en-US" sz="2100" dirty="0"/>
              <a:t>&lt;section&gt;</a:t>
            </a:r>
          </a:p>
          <a:p>
            <a:pPr marL="0" indent="0">
              <a:buNone/>
            </a:pPr>
            <a:r>
              <a:rPr lang="en-US" sz="2100" dirty="0"/>
              <a:t>    &lt;h2&gt;Java&lt;/h2&gt;</a:t>
            </a:r>
          </a:p>
          <a:p>
            <a:pPr marL="0" indent="0">
              <a:buNone/>
            </a:pPr>
            <a:r>
              <a:rPr lang="en-US" sz="2100" dirty="0"/>
              <a:t>    &lt;p&gt;Java is used to develop Android applications, enterprise software, etc.&lt;/p&gt;</a:t>
            </a:r>
          </a:p>
          <a:p>
            <a:pPr marL="0" indent="0">
              <a:buNone/>
            </a:pPr>
            <a:r>
              <a:rPr lang="en-US" sz="2100" dirty="0"/>
              <a:t>&lt;/section&gt;</a:t>
            </a:r>
          </a:p>
          <a:p>
            <a:pPr marL="0" indent="0">
              <a:buNone/>
            </a:pPr>
            <a:r>
              <a:rPr lang="en-US" sz="2100" dirty="0" smtClean="0"/>
              <a:t>&lt;</a:t>
            </a:r>
            <a:r>
              <a:rPr lang="en-US" sz="2100" dirty="0"/>
              <a:t>section&gt;</a:t>
            </a:r>
          </a:p>
          <a:p>
            <a:pPr marL="0" indent="0">
              <a:buNone/>
            </a:pPr>
            <a:r>
              <a:rPr lang="en-US" sz="2100" dirty="0"/>
              <a:t>    &lt;h2&gt;JavaScript&lt;/h2&gt;</a:t>
            </a:r>
          </a:p>
          <a:p>
            <a:pPr marL="0" indent="0">
              <a:buNone/>
            </a:pPr>
            <a:r>
              <a:rPr lang="en-US" sz="2100" dirty="0"/>
              <a:t>    &lt;p&gt;JavaScript is used to create dynamic single-page web applications.&lt;/p&gt;</a:t>
            </a:r>
          </a:p>
          <a:p>
            <a:pPr marL="0" indent="0">
              <a:buNone/>
            </a:pPr>
            <a:r>
              <a:rPr lang="en-US" sz="2100" dirty="0"/>
              <a:t>&lt;/section&gt;</a:t>
            </a:r>
            <a:endParaRPr lang="en-US" sz="2100" dirty="0" smtClean="0"/>
          </a:p>
          <a:p>
            <a:pPr marL="0" indent="0">
              <a:buNone/>
            </a:pPr>
            <a:endParaRPr lang="en-US" sz="700" dirty="0" smtClean="0"/>
          </a:p>
          <a:p>
            <a:pPr marL="0" indent="0">
              <a:buNone/>
            </a:pPr>
            <a:r>
              <a:rPr lang="en-US" dirty="0" smtClean="0"/>
              <a:t>&lt;article&gt;</a:t>
            </a:r>
          </a:p>
          <a:p>
            <a:pPr marL="914400" lvl="2" indent="0">
              <a:spcBef>
                <a:spcPts val="1000"/>
              </a:spcBef>
              <a:buNone/>
            </a:pPr>
            <a:r>
              <a:rPr lang="en-US" dirty="0"/>
              <a:t>&lt;article style="width: 100%; border:2px solid black; background-color: #fff0f5;"&gt;  </a:t>
            </a:r>
          </a:p>
          <a:p>
            <a:pPr marL="914400" lvl="2" indent="0">
              <a:spcBef>
                <a:spcPts val="1000"/>
              </a:spcBef>
              <a:buNone/>
            </a:pPr>
            <a:r>
              <a:rPr lang="en-US" dirty="0"/>
              <a:t>    &lt;h2&gt;History of Computer&lt;/h2&gt;  </a:t>
            </a:r>
          </a:p>
          <a:p>
            <a:pPr marL="914400" lvl="2" indent="0">
              <a:spcBef>
                <a:spcPts val="1000"/>
              </a:spcBef>
              <a:buNone/>
            </a:pPr>
            <a:r>
              <a:rPr lang="en-US" dirty="0"/>
              <a:t>    &lt;p&gt;Write your content here </a:t>
            </a:r>
            <a:r>
              <a:rPr lang="en-US" b="1" dirty="0"/>
              <a:t>for</a:t>
            </a:r>
            <a:r>
              <a:rPr lang="en-US" dirty="0"/>
              <a:t> the history of computer&lt;/p&gt;  </a:t>
            </a:r>
          </a:p>
          <a:p>
            <a:pPr marL="914400" lvl="2" indent="0">
              <a:spcBef>
                <a:spcPts val="1000"/>
              </a:spcBef>
              <a:buNone/>
            </a:pPr>
            <a:r>
              <a:rPr lang="en-US" dirty="0"/>
              <a:t>&lt;/article</a:t>
            </a:r>
            <a:r>
              <a:rPr lang="en-US" dirty="0" smtClean="0"/>
              <a:t>&gt;</a:t>
            </a:r>
            <a:endParaRPr lang="en-US"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9015" y="5215786"/>
            <a:ext cx="5019290" cy="893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0337" y="2347371"/>
            <a:ext cx="4210049" cy="1479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67022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&lt;template&gt; Tag</a:t>
            </a:r>
            <a:endParaRPr lang="en-GB" dirty="0"/>
          </a:p>
        </p:txBody>
      </p:sp>
      <p:sp>
        <p:nvSpPr>
          <p:cNvPr id="3" name="Content Placeholder 2"/>
          <p:cNvSpPr>
            <a:spLocks noGrp="1"/>
          </p:cNvSpPr>
          <p:nvPr>
            <p:ph idx="1"/>
          </p:nvPr>
        </p:nvSpPr>
        <p:spPr/>
        <p:txBody>
          <a:bodyPr/>
          <a:lstStyle/>
          <a:p>
            <a:pPr marL="0" indent="0" algn="just">
              <a:buNone/>
            </a:pPr>
            <a:r>
              <a:rPr lang="en-US" dirty="0"/>
              <a:t>&lt;template&gt; </a:t>
            </a:r>
            <a:r>
              <a:rPr lang="en-US" dirty="0" smtClean="0"/>
              <a:t>tag is used to </a:t>
            </a:r>
            <a:r>
              <a:rPr lang="en-US" dirty="0"/>
              <a:t>hold some content that will be hidden when the page loads</a:t>
            </a:r>
            <a:r>
              <a:rPr lang="en-US" dirty="0" smtClean="0"/>
              <a:t>. </a:t>
            </a:r>
            <a:r>
              <a:rPr lang="en-US" dirty="0"/>
              <a:t>The content inside &lt;template&gt; can be </a:t>
            </a:r>
            <a:r>
              <a:rPr lang="en-US" dirty="0" smtClean="0"/>
              <a:t>repeatedly rendered </a:t>
            </a:r>
            <a:r>
              <a:rPr lang="en-US" dirty="0"/>
              <a:t>later with a JavaScript.</a:t>
            </a:r>
          </a:p>
          <a:p>
            <a:pPr marL="914400" lvl="2" indent="0">
              <a:buNone/>
            </a:pPr>
            <a:r>
              <a:rPr lang="en-US" dirty="0">
                <a:solidFill>
                  <a:srgbClr val="FF0000"/>
                </a:solidFill>
              </a:rPr>
              <a:t>&lt;template&gt;</a:t>
            </a:r>
            <a:br>
              <a:rPr lang="en-US" dirty="0">
                <a:solidFill>
                  <a:srgbClr val="FF0000"/>
                </a:solidFill>
              </a:rPr>
            </a:br>
            <a:r>
              <a:rPr lang="en-US" dirty="0">
                <a:solidFill>
                  <a:srgbClr val="FF0000"/>
                </a:solidFill>
              </a:rPr>
              <a:t>  &lt;h2&gt;Flower&lt;/h2&gt;</a:t>
            </a:r>
            <a:br>
              <a:rPr lang="en-US" dirty="0">
                <a:solidFill>
                  <a:srgbClr val="FF0000"/>
                </a:solidFill>
              </a:rPr>
            </a:br>
            <a:r>
              <a:rPr lang="en-US" dirty="0">
                <a:solidFill>
                  <a:srgbClr val="FF0000"/>
                </a:solidFill>
              </a:rPr>
              <a:t>  &lt;</a:t>
            </a:r>
            <a:r>
              <a:rPr lang="en-US" dirty="0" err="1">
                <a:solidFill>
                  <a:srgbClr val="FF0000"/>
                </a:solidFill>
              </a:rPr>
              <a:t>img</a:t>
            </a:r>
            <a:r>
              <a:rPr lang="en-US" dirty="0">
                <a:solidFill>
                  <a:srgbClr val="FF0000"/>
                </a:solidFill>
              </a:rPr>
              <a:t> </a:t>
            </a:r>
            <a:r>
              <a:rPr lang="en-US" dirty="0" err="1">
                <a:solidFill>
                  <a:srgbClr val="FF0000"/>
                </a:solidFill>
              </a:rPr>
              <a:t>src</a:t>
            </a:r>
            <a:r>
              <a:rPr lang="en-US" dirty="0">
                <a:solidFill>
                  <a:srgbClr val="FF0000"/>
                </a:solidFill>
              </a:rPr>
              <a:t>="img_white_flower.jpg" width="214" height="204"&gt;</a:t>
            </a:r>
            <a:br>
              <a:rPr lang="en-US" dirty="0">
                <a:solidFill>
                  <a:srgbClr val="FF0000"/>
                </a:solidFill>
              </a:rPr>
            </a:br>
            <a:r>
              <a:rPr lang="en-US" dirty="0">
                <a:solidFill>
                  <a:srgbClr val="FF0000"/>
                </a:solidFill>
              </a:rPr>
              <a:t>&lt;/template</a:t>
            </a:r>
            <a:r>
              <a:rPr lang="en-US" dirty="0" smtClean="0">
                <a:solidFill>
                  <a:srgbClr val="FF0000"/>
                </a:solidFill>
              </a:rPr>
              <a:t>&gt;</a:t>
            </a:r>
          </a:p>
          <a:p>
            <a:pPr marL="0" indent="0">
              <a:buNone/>
            </a:pPr>
            <a:r>
              <a:rPr lang="en-US" dirty="0"/>
              <a:t>You can use the &lt;template&gt; tag if you have some HTML code you want to use over and over again, but not until you ask for it. </a:t>
            </a:r>
          </a:p>
          <a:p>
            <a:pPr marL="0" indent="0">
              <a:buNone/>
            </a:pPr>
            <a:r>
              <a:rPr lang="en-US" dirty="0"/>
              <a:t/>
            </a:r>
            <a:br>
              <a:rPr lang="en-US" dirty="0"/>
            </a:b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5581412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41644"/>
          </a:xfrm>
        </p:spPr>
        <p:txBody>
          <a:bodyPr/>
          <a:lstStyle/>
          <a:p>
            <a:r>
              <a:rPr lang="en-US" dirty="0" smtClean="0"/>
              <a:t>&lt;</a:t>
            </a:r>
            <a:r>
              <a:rPr lang="en-US" dirty="0" err="1" smtClean="0"/>
              <a:t>ifram</a:t>
            </a:r>
            <a:r>
              <a:rPr lang="en-US" dirty="0" smtClean="0"/>
              <a:t>&gt; Tag</a:t>
            </a:r>
            <a:endParaRPr lang="en-GB" dirty="0"/>
          </a:p>
        </p:txBody>
      </p:sp>
      <p:sp>
        <p:nvSpPr>
          <p:cNvPr id="3" name="Content Placeholder 2"/>
          <p:cNvSpPr>
            <a:spLocks noGrp="1"/>
          </p:cNvSpPr>
          <p:nvPr>
            <p:ph idx="1"/>
          </p:nvPr>
        </p:nvSpPr>
        <p:spPr>
          <a:xfrm>
            <a:off x="527537" y="1570892"/>
            <a:ext cx="11218985" cy="4982307"/>
          </a:xfrm>
        </p:spPr>
        <p:txBody>
          <a:bodyPr>
            <a:normAutofit fontScale="92500" lnSpcReduction="10000"/>
          </a:bodyPr>
          <a:lstStyle/>
          <a:p>
            <a:pPr marL="0" indent="0">
              <a:buNone/>
            </a:pPr>
            <a:r>
              <a:rPr lang="en-US" dirty="0"/>
              <a:t>An HTML </a:t>
            </a:r>
            <a:r>
              <a:rPr lang="en-US" dirty="0" err="1" smtClean="0"/>
              <a:t>iframe</a:t>
            </a:r>
            <a:r>
              <a:rPr lang="en-US" dirty="0" smtClean="0"/>
              <a:t> (inline frame) </a:t>
            </a:r>
            <a:r>
              <a:rPr lang="en-US" dirty="0"/>
              <a:t>is used to display a web page within a web </a:t>
            </a:r>
            <a:r>
              <a:rPr lang="en-US" dirty="0" smtClean="0"/>
              <a:t>page or </a:t>
            </a:r>
            <a:r>
              <a:rPr lang="en-US" dirty="0"/>
              <a:t>used to embed another document or webpage within the current HTML document</a:t>
            </a:r>
            <a:r>
              <a:rPr lang="en-US" dirty="0" smtClean="0"/>
              <a:t>.</a:t>
            </a:r>
          </a:p>
          <a:p>
            <a:pPr marL="457200" lvl="1" indent="0">
              <a:buNone/>
            </a:pPr>
            <a:r>
              <a:rPr lang="en-US" dirty="0"/>
              <a:t>&lt;</a:t>
            </a:r>
            <a:r>
              <a:rPr lang="en-US" dirty="0" err="1"/>
              <a:t>iframe</a:t>
            </a:r>
            <a:r>
              <a:rPr lang="en-US" dirty="0"/>
              <a:t> </a:t>
            </a:r>
            <a:r>
              <a:rPr lang="en-US" dirty="0" err="1"/>
              <a:t>src</a:t>
            </a:r>
            <a:r>
              <a:rPr lang="en-US" dirty="0"/>
              <a:t>="demo_iframe.htm" height="200" width="300" title="</a:t>
            </a:r>
            <a:r>
              <a:rPr lang="en-US" dirty="0" err="1"/>
              <a:t>Iframe</a:t>
            </a:r>
            <a:r>
              <a:rPr lang="en-US" dirty="0"/>
              <a:t> Example</a:t>
            </a:r>
            <a:r>
              <a:rPr lang="en-US" dirty="0" smtClean="0"/>
              <a:t>"&gt; &lt;/</a:t>
            </a:r>
            <a:r>
              <a:rPr lang="en-US" dirty="0" err="1"/>
              <a:t>iframe</a:t>
            </a:r>
            <a:r>
              <a:rPr lang="en-US" dirty="0"/>
              <a:t>&gt;</a:t>
            </a:r>
          </a:p>
          <a:p>
            <a:pPr marL="0" indent="0">
              <a:buNone/>
            </a:pPr>
            <a:r>
              <a:rPr lang="en-US" b="1" dirty="0"/>
              <a:t>s</a:t>
            </a:r>
            <a:r>
              <a:rPr lang="en-US" b="1" dirty="0" smtClean="0"/>
              <a:t>andbox:-</a:t>
            </a:r>
            <a:r>
              <a:rPr lang="en-US" dirty="0" smtClean="0"/>
              <a:t> The</a:t>
            </a:r>
            <a:r>
              <a:rPr lang="en-US" dirty="0"/>
              <a:t> sandbox attribute enables an extra set of restrictions for the content in an </a:t>
            </a:r>
            <a:r>
              <a:rPr lang="en-US" dirty="0" err="1" smtClean="0"/>
              <a:t>iframe</a:t>
            </a:r>
            <a:r>
              <a:rPr lang="en-US" dirty="0"/>
              <a:t> </a:t>
            </a:r>
            <a:r>
              <a:rPr lang="en-US" dirty="0" smtClean="0"/>
              <a:t>like</a:t>
            </a:r>
          </a:p>
          <a:p>
            <a:pPr lvl="2"/>
            <a:r>
              <a:rPr lang="en-US" dirty="0"/>
              <a:t>block form submission</a:t>
            </a:r>
          </a:p>
          <a:p>
            <a:pPr lvl="2"/>
            <a:r>
              <a:rPr lang="en-US" dirty="0"/>
              <a:t>block script execution</a:t>
            </a:r>
          </a:p>
          <a:p>
            <a:pPr lvl="2"/>
            <a:r>
              <a:rPr lang="en-US" dirty="0"/>
              <a:t>disable APIs</a:t>
            </a:r>
          </a:p>
          <a:p>
            <a:pPr lvl="2"/>
            <a:r>
              <a:rPr lang="en-US" dirty="0"/>
              <a:t>prevent links from targeting other browsing </a:t>
            </a:r>
            <a:r>
              <a:rPr lang="en-US" dirty="0" smtClean="0"/>
              <a:t>contexts</a:t>
            </a:r>
          </a:p>
          <a:p>
            <a:pPr lvl="2"/>
            <a:r>
              <a:rPr lang="en-US" dirty="0" smtClean="0"/>
              <a:t>….</a:t>
            </a:r>
          </a:p>
          <a:p>
            <a:pPr marL="0" lvl="1" indent="0">
              <a:spcBef>
                <a:spcPts val="1000"/>
              </a:spcBef>
              <a:buNone/>
            </a:pPr>
            <a:r>
              <a:rPr lang="en-US" dirty="0"/>
              <a:t>&lt;</a:t>
            </a:r>
            <a:r>
              <a:rPr lang="en-US" dirty="0" err="1"/>
              <a:t>iframe</a:t>
            </a:r>
            <a:r>
              <a:rPr lang="en-US" dirty="0"/>
              <a:t> </a:t>
            </a:r>
            <a:r>
              <a:rPr lang="en-US" dirty="0" err="1"/>
              <a:t>src</a:t>
            </a:r>
            <a:r>
              <a:rPr lang="en-US" dirty="0"/>
              <a:t>="demo_iframe.htm" height="200" width="300" title="</a:t>
            </a:r>
            <a:r>
              <a:rPr lang="en-US" dirty="0" err="1"/>
              <a:t>Iframe</a:t>
            </a:r>
            <a:r>
              <a:rPr lang="en-US" dirty="0"/>
              <a:t> </a:t>
            </a:r>
            <a:r>
              <a:rPr lang="en-US" dirty="0" smtClean="0"/>
              <a:t>Example“ </a:t>
            </a:r>
            <a:r>
              <a:rPr lang="en-US" dirty="0" err="1" smtClean="0"/>
              <a:t>sanddbox</a:t>
            </a:r>
            <a:r>
              <a:rPr lang="en-US" dirty="0" smtClean="0"/>
              <a:t>&gt; &lt;/</a:t>
            </a:r>
            <a:r>
              <a:rPr lang="en-US" dirty="0" err="1"/>
              <a:t>iframe</a:t>
            </a:r>
            <a:r>
              <a:rPr lang="en-US" dirty="0" smtClean="0"/>
              <a:t>&gt;</a:t>
            </a:r>
            <a:br>
              <a:rPr lang="en-US" dirty="0" smtClean="0"/>
            </a:br>
            <a:endParaRPr lang="en-GB" dirty="0"/>
          </a:p>
        </p:txBody>
      </p:sp>
    </p:spTree>
    <p:extLst>
      <p:ext uri="{BB962C8B-B14F-4D97-AF65-F5344CB8AC3E}">
        <p14:creationId xmlns:p14="http://schemas.microsoft.com/office/powerpoint/2010/main" val="20009886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&lt;audio&gt; Tag</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
        <p:nvSpPr>
          <p:cNvPr id="8" name="Content Placeholder 2"/>
          <p:cNvSpPr>
            <a:spLocks noGrp="1"/>
          </p:cNvSpPr>
          <p:nvPr>
            <p:ph idx="1"/>
          </p:nvPr>
        </p:nvSpPr>
        <p:spPr>
          <a:xfrm>
            <a:off x="507756" y="1673224"/>
            <a:ext cx="10515600" cy="4797913"/>
          </a:xfrm>
        </p:spPr>
        <p:txBody>
          <a:bodyPr>
            <a:normAutofit/>
          </a:bodyPr>
          <a:lstStyle/>
          <a:p>
            <a:pPr marL="0" indent="0">
              <a:buNone/>
            </a:pPr>
            <a:r>
              <a:rPr lang="en-US" dirty="0" smtClean="0"/>
              <a:t>T</a:t>
            </a:r>
            <a:r>
              <a:rPr lang="en-US" dirty="0"/>
              <a:t>he &lt;</a:t>
            </a:r>
            <a:r>
              <a:rPr lang="en-US" b="1" dirty="0"/>
              <a:t>audio</a:t>
            </a:r>
            <a:r>
              <a:rPr lang="en-US" dirty="0"/>
              <a:t>&gt; </a:t>
            </a:r>
            <a:r>
              <a:rPr lang="en-US" b="1" dirty="0"/>
              <a:t>tag</a:t>
            </a:r>
            <a:r>
              <a:rPr lang="en-US" dirty="0"/>
              <a:t> is used to embed sound content in a document, such as music or other audio streams</a:t>
            </a:r>
            <a:r>
              <a:rPr lang="en-US" dirty="0" smtClean="0"/>
              <a:t>.</a:t>
            </a:r>
          </a:p>
          <a:p>
            <a:pPr marL="914400" lvl="2" indent="0">
              <a:buNone/>
            </a:pPr>
            <a:r>
              <a:rPr lang="en-US" dirty="0">
                <a:solidFill>
                  <a:srgbClr val="FF0000"/>
                </a:solidFill>
              </a:rPr>
              <a:t>&lt;h1&gt;The audio element&lt;/h1</a:t>
            </a:r>
            <a:r>
              <a:rPr lang="en-US" dirty="0" smtClean="0">
                <a:solidFill>
                  <a:srgbClr val="FF0000"/>
                </a:solidFill>
              </a:rPr>
              <a:t>&gt;</a:t>
            </a:r>
            <a:endParaRPr lang="en-US" dirty="0">
              <a:solidFill>
                <a:srgbClr val="FF0000"/>
              </a:solidFill>
            </a:endParaRPr>
          </a:p>
          <a:p>
            <a:pPr marL="914400" lvl="2" indent="0">
              <a:buNone/>
            </a:pPr>
            <a:r>
              <a:rPr lang="en-US" dirty="0">
                <a:solidFill>
                  <a:srgbClr val="FF0000"/>
                </a:solidFill>
              </a:rPr>
              <a:t>&lt;p&gt;Click on the play button to play a sound:&lt;/p&gt;</a:t>
            </a:r>
            <a:endParaRPr lang="en-GB" dirty="0" smtClean="0">
              <a:solidFill>
                <a:srgbClr val="FF0000"/>
              </a:solidFill>
            </a:endParaRPr>
          </a:p>
          <a:p>
            <a:pPr marL="914400" lvl="2" indent="0">
              <a:buNone/>
            </a:pPr>
            <a:r>
              <a:rPr lang="en-GB" dirty="0" smtClean="0">
                <a:solidFill>
                  <a:srgbClr val="FF0000"/>
                </a:solidFill>
              </a:rPr>
              <a:t>&lt;</a:t>
            </a:r>
            <a:r>
              <a:rPr lang="en-GB" dirty="0">
                <a:solidFill>
                  <a:srgbClr val="FF0000"/>
                </a:solidFill>
              </a:rPr>
              <a:t>audio controls&gt;</a:t>
            </a:r>
            <a:br>
              <a:rPr lang="en-GB" dirty="0">
                <a:solidFill>
                  <a:srgbClr val="FF0000"/>
                </a:solidFill>
              </a:rPr>
            </a:br>
            <a:r>
              <a:rPr lang="en-GB" dirty="0">
                <a:solidFill>
                  <a:srgbClr val="FF0000"/>
                </a:solidFill>
              </a:rPr>
              <a:t>  &lt;source </a:t>
            </a:r>
            <a:r>
              <a:rPr lang="en-GB" dirty="0" err="1">
                <a:solidFill>
                  <a:srgbClr val="FF0000"/>
                </a:solidFill>
              </a:rPr>
              <a:t>src</a:t>
            </a:r>
            <a:r>
              <a:rPr lang="en-GB" dirty="0">
                <a:solidFill>
                  <a:srgbClr val="FF0000"/>
                </a:solidFill>
              </a:rPr>
              <a:t>="horse.ogg" type="audio/</a:t>
            </a:r>
            <a:r>
              <a:rPr lang="en-GB" dirty="0" err="1">
                <a:solidFill>
                  <a:srgbClr val="FF0000"/>
                </a:solidFill>
              </a:rPr>
              <a:t>ogg</a:t>
            </a:r>
            <a:r>
              <a:rPr lang="en-GB" dirty="0">
                <a:solidFill>
                  <a:srgbClr val="FF0000"/>
                </a:solidFill>
              </a:rPr>
              <a:t>"&gt;</a:t>
            </a:r>
            <a:br>
              <a:rPr lang="en-GB" dirty="0">
                <a:solidFill>
                  <a:srgbClr val="FF0000"/>
                </a:solidFill>
              </a:rPr>
            </a:br>
            <a:r>
              <a:rPr lang="en-GB" dirty="0">
                <a:solidFill>
                  <a:srgbClr val="FF0000"/>
                </a:solidFill>
              </a:rPr>
              <a:t>  &lt;source </a:t>
            </a:r>
            <a:r>
              <a:rPr lang="en-GB" dirty="0" err="1">
                <a:solidFill>
                  <a:srgbClr val="FF0000"/>
                </a:solidFill>
              </a:rPr>
              <a:t>src</a:t>
            </a:r>
            <a:r>
              <a:rPr lang="en-GB" dirty="0">
                <a:solidFill>
                  <a:srgbClr val="FF0000"/>
                </a:solidFill>
              </a:rPr>
              <a:t>="horse.mp3" type="audio/mpeg"&gt;</a:t>
            </a:r>
            <a:br>
              <a:rPr lang="en-GB" dirty="0">
                <a:solidFill>
                  <a:srgbClr val="FF0000"/>
                </a:solidFill>
              </a:rPr>
            </a:br>
            <a:r>
              <a:rPr lang="en-GB" dirty="0">
                <a:solidFill>
                  <a:srgbClr val="FF0000"/>
                </a:solidFill>
              </a:rPr>
              <a:t>  Your browser does not support the audio tag.</a:t>
            </a:r>
            <a:br>
              <a:rPr lang="en-GB" dirty="0">
                <a:solidFill>
                  <a:srgbClr val="FF0000"/>
                </a:solidFill>
              </a:rPr>
            </a:br>
            <a:r>
              <a:rPr lang="en-GB" dirty="0">
                <a:solidFill>
                  <a:srgbClr val="FF0000"/>
                </a:solidFill>
              </a:rPr>
              <a:t>&lt;/audio</a:t>
            </a:r>
            <a:r>
              <a:rPr lang="en-GB" dirty="0" smtClean="0">
                <a:solidFill>
                  <a:srgbClr val="FF0000"/>
                </a:solidFill>
              </a:rPr>
              <a:t>&gt;</a:t>
            </a:r>
          </a:p>
          <a:p>
            <a:r>
              <a:rPr lang="en-US" sz="2000" dirty="0"/>
              <a:t>The &lt;audio&gt; tag contains one or more </a:t>
            </a:r>
            <a:r>
              <a:rPr lang="en-US" sz="2000" dirty="0">
                <a:hlinkClick r:id="rId2"/>
              </a:rPr>
              <a:t>&lt;source&gt;</a:t>
            </a:r>
            <a:r>
              <a:rPr lang="en-US" sz="2000" dirty="0"/>
              <a:t> tags with different audio sources. The browser will choose the first source it supports.</a:t>
            </a:r>
          </a:p>
          <a:p>
            <a:r>
              <a:rPr lang="en-US" sz="2000" dirty="0"/>
              <a:t>The text between the &lt;audio&gt; and &lt;/audio&gt; tags will only be displayed in browsers that do not support the &lt;audio&gt; element</a:t>
            </a:r>
            <a:r>
              <a:rPr lang="en-US" sz="2000" dirty="0" smtClean="0"/>
              <a:t>.</a:t>
            </a:r>
          </a:p>
          <a:p>
            <a:r>
              <a:rPr lang="en-US" sz="2000" dirty="0"/>
              <a:t>There are three supported audio formats in HTML: MP3, WAV, and OGG</a:t>
            </a:r>
            <a:r>
              <a:rPr lang="en-US" sz="2000" dirty="0" smtClean="0"/>
              <a:t>.</a:t>
            </a:r>
            <a:endParaRPr lang="en-US" sz="2000" dirty="0"/>
          </a:p>
          <a:p>
            <a:pPr marL="0" indent="0">
              <a:buNone/>
            </a:pPr>
            <a:endParaRPr lang="en-GB" dirty="0"/>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262" y="2721586"/>
            <a:ext cx="2914650" cy="143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463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HTML Canvas</a:t>
            </a:r>
            <a:endParaRPr lang="en-GB" dirty="0"/>
          </a:p>
        </p:txBody>
      </p:sp>
      <p:sp>
        <p:nvSpPr>
          <p:cNvPr id="3" name="Content Placeholder 2"/>
          <p:cNvSpPr>
            <a:spLocks noGrp="1"/>
          </p:cNvSpPr>
          <p:nvPr>
            <p:ph idx="1"/>
          </p:nvPr>
        </p:nvSpPr>
        <p:spPr>
          <a:xfrm>
            <a:off x="838200" y="1453662"/>
            <a:ext cx="10515600" cy="4723301"/>
          </a:xfrm>
        </p:spPr>
        <p:txBody>
          <a:bodyPr/>
          <a:lstStyle/>
          <a:p>
            <a:pPr marL="0" indent="0">
              <a:buNone/>
            </a:pPr>
            <a:r>
              <a:rPr lang="en-US" dirty="0"/>
              <a:t>The </a:t>
            </a:r>
            <a:r>
              <a:rPr lang="en-US" b="1" dirty="0"/>
              <a:t>&lt;canvas&gt;</a:t>
            </a:r>
            <a:r>
              <a:rPr lang="en-US" dirty="0"/>
              <a:t> element defines a </a:t>
            </a:r>
            <a:r>
              <a:rPr lang="en-US" b="1" dirty="0"/>
              <a:t>bitmapped</a:t>
            </a:r>
            <a:r>
              <a:rPr lang="en-US" dirty="0"/>
              <a:t> </a:t>
            </a:r>
            <a:r>
              <a:rPr lang="en-US" dirty="0" smtClean="0"/>
              <a:t>area to </a:t>
            </a:r>
            <a:r>
              <a:rPr lang="en-US" dirty="0"/>
              <a:t>draw shapes, lines, curves, boxes, text, and images, with colors, rotations, transparencies, and other pixel manipulations</a:t>
            </a:r>
            <a:r>
              <a:rPr lang="en-US" dirty="0" smtClean="0"/>
              <a:t>.</a:t>
            </a:r>
          </a:p>
          <a:p>
            <a:pPr marL="914400" lvl="2" indent="0">
              <a:buNone/>
            </a:pPr>
            <a:r>
              <a:rPr lang="en-US" dirty="0"/>
              <a:t>&lt;canvas id="</a:t>
            </a:r>
            <a:r>
              <a:rPr lang="en-US" dirty="0" err="1"/>
              <a:t>myCanvas</a:t>
            </a:r>
            <a:r>
              <a:rPr lang="en-US" dirty="0"/>
              <a:t>" width="300" height="150"&gt;&lt;/canvas</a:t>
            </a:r>
            <a:r>
              <a:rPr lang="en-US" dirty="0" smtClean="0"/>
              <a:t>&gt;</a:t>
            </a:r>
            <a:endParaRPr lang="en-US" dirty="0">
              <a:solidFill>
                <a:srgbClr val="FF0000"/>
              </a:solidFill>
            </a:endParaRPr>
          </a:p>
          <a:p>
            <a:pPr marL="0" indent="0">
              <a:buNone/>
            </a:pPr>
            <a:r>
              <a:rPr lang="en-US" dirty="0" smtClean="0">
                <a:solidFill>
                  <a:srgbClr val="FF0000"/>
                </a:solidFill>
              </a:rPr>
              <a:t>&lt;canvas&gt; </a:t>
            </a:r>
            <a:r>
              <a:rPr lang="en-US" dirty="0" smtClean="0"/>
              <a:t>element has no drawing abilities, but </a:t>
            </a:r>
            <a:r>
              <a:rPr lang="en-US" dirty="0" err="1" smtClean="0"/>
              <a:t>javascript</a:t>
            </a:r>
            <a:r>
              <a:rPr lang="en-US" dirty="0" smtClean="0"/>
              <a:t> can be used to draw any graphics.</a:t>
            </a:r>
            <a:endParaRPr lang="en-US"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
        <p:nvSpPr>
          <p:cNvPr id="5" name="Rectangle 4"/>
          <p:cNvSpPr/>
          <p:nvPr/>
        </p:nvSpPr>
        <p:spPr>
          <a:xfrm>
            <a:off x="762000" y="3948939"/>
            <a:ext cx="6963507" cy="2893100"/>
          </a:xfrm>
          <a:prstGeom prst="rect">
            <a:avLst/>
          </a:prstGeom>
        </p:spPr>
        <p:txBody>
          <a:bodyPr wrap="square">
            <a:spAutoFit/>
          </a:bodyPr>
          <a:lstStyle/>
          <a:p>
            <a:r>
              <a:rPr lang="en-GB" sz="1400" dirty="0"/>
              <a:t>&lt;!DOCTYPE html&gt;</a:t>
            </a:r>
          </a:p>
          <a:p>
            <a:r>
              <a:rPr lang="en-GB" sz="1400" dirty="0"/>
              <a:t>&lt;html&gt;</a:t>
            </a:r>
          </a:p>
          <a:p>
            <a:r>
              <a:rPr lang="en-GB" sz="1400" dirty="0"/>
              <a:t>&lt;body&gt;</a:t>
            </a:r>
          </a:p>
          <a:p>
            <a:r>
              <a:rPr lang="en-GB" sz="1400" dirty="0"/>
              <a:t>&lt;h1&gt;HTML5 Canvas&lt;/h1&gt;</a:t>
            </a:r>
          </a:p>
          <a:p>
            <a:r>
              <a:rPr lang="en-GB" sz="1400" dirty="0" smtClean="0"/>
              <a:t>&lt;</a:t>
            </a:r>
            <a:r>
              <a:rPr lang="en-GB" sz="1400" dirty="0"/>
              <a:t>canvas id="</a:t>
            </a:r>
            <a:r>
              <a:rPr lang="en-GB" sz="1400" dirty="0" err="1"/>
              <a:t>myCanvas</a:t>
            </a:r>
            <a:r>
              <a:rPr lang="en-GB" sz="1400" dirty="0"/>
              <a:t>" width="300" height="150" style="border:1px solid grey"&gt;&lt;/canvas&gt;</a:t>
            </a:r>
          </a:p>
          <a:p>
            <a:r>
              <a:rPr lang="en-GB" sz="1400" dirty="0" smtClean="0"/>
              <a:t>&lt;</a:t>
            </a:r>
            <a:r>
              <a:rPr lang="en-GB" sz="1400" dirty="0"/>
              <a:t>script&gt;</a:t>
            </a:r>
          </a:p>
          <a:p>
            <a:r>
              <a:rPr lang="en-GB" sz="1400" dirty="0" err="1"/>
              <a:t>const</a:t>
            </a:r>
            <a:r>
              <a:rPr lang="en-GB" sz="1400" dirty="0"/>
              <a:t> </a:t>
            </a:r>
            <a:r>
              <a:rPr lang="en-GB" sz="1400" dirty="0" err="1"/>
              <a:t>myCanvas</a:t>
            </a:r>
            <a:r>
              <a:rPr lang="en-GB" sz="1400" dirty="0"/>
              <a:t> = </a:t>
            </a:r>
            <a:r>
              <a:rPr lang="en-GB" sz="1400" dirty="0" err="1"/>
              <a:t>document.getElementById</a:t>
            </a:r>
            <a:r>
              <a:rPr lang="en-GB" sz="1400" dirty="0"/>
              <a:t>("</a:t>
            </a:r>
            <a:r>
              <a:rPr lang="en-GB" sz="1400" dirty="0" err="1"/>
              <a:t>myCanvas</a:t>
            </a:r>
            <a:r>
              <a:rPr lang="en-GB" sz="1400" dirty="0"/>
              <a:t>");</a:t>
            </a:r>
          </a:p>
          <a:p>
            <a:r>
              <a:rPr lang="en-GB" sz="1400" dirty="0" err="1"/>
              <a:t>const</a:t>
            </a:r>
            <a:r>
              <a:rPr lang="en-GB" sz="1400" dirty="0"/>
              <a:t> </a:t>
            </a:r>
            <a:r>
              <a:rPr lang="en-GB" sz="1400" dirty="0" err="1"/>
              <a:t>ctx</a:t>
            </a:r>
            <a:r>
              <a:rPr lang="en-GB" sz="1400" dirty="0"/>
              <a:t> = </a:t>
            </a:r>
            <a:r>
              <a:rPr lang="en-GB" sz="1400" dirty="0" err="1"/>
              <a:t>myCanvas.getContext</a:t>
            </a:r>
            <a:r>
              <a:rPr lang="en-GB" sz="1400" dirty="0"/>
              <a:t>("2d");</a:t>
            </a:r>
          </a:p>
          <a:p>
            <a:r>
              <a:rPr lang="en-GB" sz="1400" dirty="0" err="1"/>
              <a:t>ctx.fillStyle</a:t>
            </a:r>
            <a:r>
              <a:rPr lang="en-GB" sz="1400" dirty="0"/>
              <a:t> = "red";</a:t>
            </a:r>
          </a:p>
          <a:p>
            <a:r>
              <a:rPr lang="en-GB" sz="1400" dirty="0" err="1"/>
              <a:t>ctx.fillRect</a:t>
            </a:r>
            <a:r>
              <a:rPr lang="en-GB" sz="1400" dirty="0"/>
              <a:t>(20, 20, 150, 100);</a:t>
            </a:r>
          </a:p>
          <a:p>
            <a:r>
              <a:rPr lang="en-GB" sz="1400" dirty="0"/>
              <a:t>&lt;/script&gt;</a:t>
            </a:r>
          </a:p>
          <a:p>
            <a:r>
              <a:rPr lang="en-GB" sz="1400" dirty="0" smtClean="0"/>
              <a:t>&lt;/</a:t>
            </a:r>
            <a:r>
              <a:rPr lang="en-GB" sz="1400" dirty="0"/>
              <a:t>body&gt;</a:t>
            </a:r>
          </a:p>
          <a:p>
            <a:r>
              <a:rPr lang="en-GB" sz="1400" dirty="0"/>
              <a:t>&lt;/html&gt;</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6290" y="3948939"/>
            <a:ext cx="3371850" cy="246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18184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Semantic </a:t>
            </a:r>
            <a:r>
              <a:rPr lang="en-US" dirty="0" err="1" smtClean="0"/>
              <a:t>vs</a:t>
            </a:r>
            <a:r>
              <a:rPr lang="en-US" dirty="0" smtClean="0"/>
              <a:t> Non-Semantic Tags</a:t>
            </a:r>
            <a:endParaRPr lang="en-GB" dirty="0"/>
          </a:p>
        </p:txBody>
      </p:sp>
      <p:sp>
        <p:nvSpPr>
          <p:cNvPr id="3" name="Content Placeholder 2"/>
          <p:cNvSpPr>
            <a:spLocks noGrp="1"/>
          </p:cNvSpPr>
          <p:nvPr>
            <p:ph idx="1"/>
          </p:nvPr>
        </p:nvSpPr>
        <p:spPr/>
        <p:txBody>
          <a:bodyPr/>
          <a:lstStyle/>
          <a:p>
            <a:pPr marL="0" indent="0">
              <a:buNone/>
            </a:pPr>
            <a:r>
              <a:rPr lang="en-US" dirty="0"/>
              <a:t>A semantic </a:t>
            </a:r>
            <a:r>
              <a:rPr lang="en-US" dirty="0" smtClean="0"/>
              <a:t>element </a:t>
            </a:r>
            <a:r>
              <a:rPr lang="en-US" dirty="0"/>
              <a:t>describes its </a:t>
            </a:r>
            <a:r>
              <a:rPr lang="en-US" dirty="0" smtClean="0"/>
              <a:t>meaning of displaying contents.</a:t>
            </a:r>
          </a:p>
          <a:p>
            <a:pPr marL="0" indent="0">
              <a:buNone/>
            </a:pPr>
            <a:r>
              <a:rPr lang="en-GB" dirty="0"/>
              <a:t>&lt;form&gt;, &lt;table</a:t>
            </a:r>
            <a:r>
              <a:rPr lang="en-GB" dirty="0" smtClean="0"/>
              <a:t>&gt;, &lt;footer&gt;, &lt;</a:t>
            </a:r>
            <a:r>
              <a:rPr lang="en-GB" dirty="0" err="1" smtClean="0"/>
              <a:t>nav</a:t>
            </a:r>
            <a:r>
              <a:rPr lang="en-GB" dirty="0" smtClean="0"/>
              <a:t>&gt;, &lt;time&gt;</a:t>
            </a:r>
          </a:p>
          <a:p>
            <a:pPr marL="0" indent="0">
              <a:buNone/>
            </a:pPr>
            <a:r>
              <a:rPr lang="en-GB" dirty="0" smtClean="0"/>
              <a:t>A non-semantic element tells nothing about its contents</a:t>
            </a:r>
          </a:p>
          <a:p>
            <a:pPr marL="0" indent="0">
              <a:buNone/>
            </a:pPr>
            <a:r>
              <a:rPr lang="en-GB" dirty="0" smtClean="0"/>
              <a:t>&lt;div&gt;, &lt;span&gt;</a:t>
            </a:r>
            <a:r>
              <a:rPr lang="en-US" dirty="0"/>
              <a:t> </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3012330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59583"/>
          </a:xfrm>
        </p:spPr>
        <p:txBody>
          <a:bodyPr/>
          <a:lstStyle/>
          <a:p>
            <a:r>
              <a:rPr lang="en-US" dirty="0" smtClean="0"/>
              <a:t>&lt;meta&gt; Tag</a:t>
            </a:r>
            <a:endParaRPr lang="en-GB" dirty="0"/>
          </a:p>
        </p:txBody>
      </p:sp>
      <p:sp>
        <p:nvSpPr>
          <p:cNvPr id="3" name="Content Placeholder 2"/>
          <p:cNvSpPr>
            <a:spLocks noGrp="1"/>
          </p:cNvSpPr>
          <p:nvPr>
            <p:ph idx="1"/>
          </p:nvPr>
        </p:nvSpPr>
        <p:spPr>
          <a:xfrm>
            <a:off x="838200" y="1453663"/>
            <a:ext cx="10515600" cy="5310552"/>
          </a:xfrm>
        </p:spPr>
        <p:txBody>
          <a:bodyPr>
            <a:normAutofit fontScale="85000" lnSpcReduction="20000"/>
          </a:bodyPr>
          <a:lstStyle/>
          <a:p>
            <a:pPr marL="0" indent="0" algn="just">
              <a:buNone/>
            </a:pPr>
            <a:r>
              <a:rPr lang="en-GB" dirty="0"/>
              <a:t>The &lt;meta&gt; tag </a:t>
            </a:r>
            <a:r>
              <a:rPr lang="en-GB" dirty="0" smtClean="0"/>
              <a:t>defines the information about the data to display. It </a:t>
            </a:r>
            <a:r>
              <a:rPr lang="en-US" dirty="0" smtClean="0"/>
              <a:t> </a:t>
            </a:r>
            <a:r>
              <a:rPr lang="en-US" dirty="0"/>
              <a:t>always go inside the &lt;head&gt; element, and are typically used to specify character set, page description, keywords, author of the document, and viewport settings</a:t>
            </a:r>
            <a:r>
              <a:rPr lang="en-US" dirty="0" smtClean="0"/>
              <a:t>.</a:t>
            </a:r>
          </a:p>
          <a:p>
            <a:pPr marL="0" indent="0">
              <a:buNone/>
            </a:pPr>
            <a:r>
              <a:rPr lang="en-US" b="1" u="sng" dirty="0" smtClean="0"/>
              <a:t>Attributes</a:t>
            </a:r>
          </a:p>
          <a:p>
            <a:pPr marL="0" indent="0">
              <a:buNone/>
            </a:pPr>
            <a:r>
              <a:rPr lang="en-US" dirty="0"/>
              <a:t>c</a:t>
            </a:r>
            <a:r>
              <a:rPr lang="en-US" dirty="0" smtClean="0"/>
              <a:t>harset:- </a:t>
            </a:r>
            <a:r>
              <a:rPr lang="en-US" dirty="0"/>
              <a:t>Specifies the character encoding for the HTML </a:t>
            </a:r>
            <a:r>
              <a:rPr lang="en-US" dirty="0" smtClean="0"/>
              <a:t>document.</a:t>
            </a:r>
          </a:p>
          <a:p>
            <a:pPr marL="0" indent="0">
              <a:buNone/>
            </a:pPr>
            <a:r>
              <a:rPr lang="en-US" dirty="0"/>
              <a:t>n</a:t>
            </a:r>
            <a:r>
              <a:rPr lang="en-US" dirty="0" smtClean="0"/>
              <a:t>ame:- </a:t>
            </a:r>
            <a:r>
              <a:rPr lang="en-US" dirty="0"/>
              <a:t>Specifies a name for the </a:t>
            </a:r>
            <a:r>
              <a:rPr lang="en-US" dirty="0" smtClean="0"/>
              <a:t>metadata</a:t>
            </a:r>
          </a:p>
          <a:p>
            <a:r>
              <a:rPr lang="en-US" b="1" dirty="0" smtClean="0"/>
              <a:t>Define </a:t>
            </a:r>
            <a:r>
              <a:rPr lang="en-US" b="1" dirty="0"/>
              <a:t>keywords for search engines:</a:t>
            </a:r>
            <a:endParaRPr lang="en-US" dirty="0"/>
          </a:p>
          <a:p>
            <a:pPr marL="914400" lvl="2" indent="0">
              <a:buNone/>
            </a:pPr>
            <a:r>
              <a:rPr lang="en-GB" dirty="0"/>
              <a:t>&lt;meta name="keywords" content="HTML, CSS, JavaScript</a:t>
            </a:r>
            <a:r>
              <a:rPr lang="en-GB" dirty="0" smtClean="0"/>
              <a:t>"&gt;</a:t>
            </a:r>
          </a:p>
          <a:p>
            <a:r>
              <a:rPr lang="en-US" b="1" dirty="0"/>
              <a:t>Define a description of your web page:</a:t>
            </a:r>
            <a:endParaRPr lang="en-US" dirty="0"/>
          </a:p>
          <a:p>
            <a:pPr marL="914400" lvl="2" indent="0">
              <a:buNone/>
            </a:pPr>
            <a:r>
              <a:rPr lang="en-US" dirty="0"/>
              <a:t>&lt;meta name="description" content="Free Web tutorials for HTML and CSS"&gt;</a:t>
            </a:r>
          </a:p>
          <a:p>
            <a:r>
              <a:rPr lang="en-US" b="1" dirty="0"/>
              <a:t>Define the author of a page:</a:t>
            </a:r>
            <a:endParaRPr lang="en-US" dirty="0"/>
          </a:p>
          <a:p>
            <a:pPr marL="914400" lvl="2" indent="0">
              <a:buNone/>
            </a:pPr>
            <a:r>
              <a:rPr lang="en-US" dirty="0"/>
              <a:t>&lt;meta name="author" content="John Doe"&gt;</a:t>
            </a:r>
          </a:p>
          <a:p>
            <a:r>
              <a:rPr lang="en-US" b="1" dirty="0"/>
              <a:t>Refresh document every 30 seconds:</a:t>
            </a:r>
            <a:endParaRPr lang="en-US" dirty="0"/>
          </a:p>
          <a:p>
            <a:pPr marL="914400" lvl="2" indent="0">
              <a:buNone/>
            </a:pPr>
            <a:r>
              <a:rPr lang="en-US" dirty="0"/>
              <a:t>&lt;meta http-</a:t>
            </a:r>
            <a:r>
              <a:rPr lang="en-US" dirty="0" err="1"/>
              <a:t>equiv</a:t>
            </a:r>
            <a:r>
              <a:rPr lang="en-US" dirty="0"/>
              <a:t>="refresh" content="30"&gt;</a:t>
            </a:r>
          </a:p>
          <a:p>
            <a:r>
              <a:rPr lang="en-US" b="1" dirty="0"/>
              <a:t>Setting the viewport to make your website look good on all devices:</a:t>
            </a:r>
            <a:endParaRPr lang="en-US" dirty="0"/>
          </a:p>
          <a:p>
            <a:pPr marL="914400" lvl="2" indent="0">
              <a:buNone/>
            </a:pPr>
            <a:r>
              <a:rPr lang="en-US" dirty="0"/>
              <a:t>&lt;meta name="viewport" content="width=device-width, initial-scale=1.0</a:t>
            </a:r>
            <a:r>
              <a:rPr lang="en-US" dirty="0" smtClean="0"/>
              <a:t>"&gt;</a:t>
            </a:r>
            <a:endParaRPr lang="en-GB" dirty="0"/>
          </a:p>
        </p:txBody>
      </p:sp>
    </p:spTree>
    <p:extLst>
      <p:ext uri="{BB962C8B-B14F-4D97-AF65-F5344CB8AC3E}">
        <p14:creationId xmlns:p14="http://schemas.microsoft.com/office/powerpoint/2010/main" val="8548072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&lt;base&gt; Tag</a:t>
            </a:r>
            <a:endParaRPr lang="en-GB" dirty="0"/>
          </a:p>
        </p:txBody>
      </p:sp>
      <p:sp>
        <p:nvSpPr>
          <p:cNvPr id="3" name="Content Placeholder 2"/>
          <p:cNvSpPr>
            <a:spLocks noGrp="1"/>
          </p:cNvSpPr>
          <p:nvPr>
            <p:ph idx="1"/>
          </p:nvPr>
        </p:nvSpPr>
        <p:spPr>
          <a:xfrm>
            <a:off x="609600" y="1825624"/>
            <a:ext cx="10996246" cy="4833083"/>
          </a:xfrm>
        </p:spPr>
        <p:txBody>
          <a:bodyPr>
            <a:normAutofit fontScale="92500" lnSpcReduction="10000"/>
          </a:bodyPr>
          <a:lstStyle/>
          <a:p>
            <a:pPr marL="0" indent="0" algn="just">
              <a:buNone/>
            </a:pPr>
            <a:r>
              <a:rPr lang="en-US" dirty="0"/>
              <a:t>The "base" element in HTML is used to specify a default URL and a default target for all links on a page. It is placed within the head section of an HTML document and helps establish a base URL for relative URLs within the document</a:t>
            </a:r>
            <a:r>
              <a:rPr lang="en-US" dirty="0" smtClean="0"/>
              <a:t>.</a:t>
            </a:r>
          </a:p>
          <a:p>
            <a:pPr marL="914400" lvl="2" indent="0">
              <a:buNone/>
            </a:pPr>
            <a:r>
              <a:rPr lang="en-GB" sz="1700" dirty="0">
                <a:solidFill>
                  <a:srgbClr val="FF0000"/>
                </a:solidFill>
              </a:rPr>
              <a:t>&lt;!DOCTYPE html&gt; </a:t>
            </a:r>
            <a:endParaRPr lang="en-GB" sz="1700" dirty="0" smtClean="0">
              <a:solidFill>
                <a:srgbClr val="FF0000"/>
              </a:solidFill>
            </a:endParaRPr>
          </a:p>
          <a:p>
            <a:pPr marL="914400" lvl="2" indent="0">
              <a:buNone/>
            </a:pPr>
            <a:r>
              <a:rPr lang="en-GB" sz="1700" dirty="0" smtClean="0">
                <a:solidFill>
                  <a:srgbClr val="FF0000"/>
                </a:solidFill>
              </a:rPr>
              <a:t>&lt;</a:t>
            </a:r>
            <a:r>
              <a:rPr lang="en-GB" sz="1700" dirty="0">
                <a:solidFill>
                  <a:srgbClr val="FF0000"/>
                </a:solidFill>
              </a:rPr>
              <a:t>html&gt; </a:t>
            </a:r>
            <a:endParaRPr lang="en-GB" sz="1700" dirty="0" smtClean="0">
              <a:solidFill>
                <a:srgbClr val="FF0000"/>
              </a:solidFill>
            </a:endParaRPr>
          </a:p>
          <a:p>
            <a:pPr marL="914400" lvl="2" indent="0">
              <a:buNone/>
            </a:pPr>
            <a:r>
              <a:rPr lang="en-GB" sz="1700" dirty="0" smtClean="0">
                <a:solidFill>
                  <a:srgbClr val="FF0000"/>
                </a:solidFill>
              </a:rPr>
              <a:t>     &lt;</a:t>
            </a:r>
            <a:r>
              <a:rPr lang="en-GB" sz="1700" dirty="0">
                <a:solidFill>
                  <a:srgbClr val="FF0000"/>
                </a:solidFill>
              </a:rPr>
              <a:t>head&gt; </a:t>
            </a:r>
            <a:endParaRPr lang="en-GB" sz="1700" dirty="0" smtClean="0">
              <a:solidFill>
                <a:srgbClr val="FF0000"/>
              </a:solidFill>
            </a:endParaRPr>
          </a:p>
          <a:p>
            <a:pPr marL="914400" lvl="2" indent="0">
              <a:buNone/>
            </a:pPr>
            <a:r>
              <a:rPr lang="en-GB" sz="1700" dirty="0">
                <a:solidFill>
                  <a:srgbClr val="FF0000"/>
                </a:solidFill>
              </a:rPr>
              <a:t>	</a:t>
            </a:r>
            <a:r>
              <a:rPr lang="en-GB" sz="1700" dirty="0" smtClean="0">
                <a:solidFill>
                  <a:srgbClr val="FF0000"/>
                </a:solidFill>
              </a:rPr>
              <a:t>&lt;</a:t>
            </a:r>
            <a:r>
              <a:rPr lang="en-GB" sz="1700" dirty="0">
                <a:solidFill>
                  <a:srgbClr val="FF0000"/>
                </a:solidFill>
              </a:rPr>
              <a:t>base </a:t>
            </a:r>
            <a:r>
              <a:rPr lang="en-GB" sz="1700" dirty="0" err="1" smtClean="0">
                <a:solidFill>
                  <a:srgbClr val="FF0000"/>
                </a:solidFill>
              </a:rPr>
              <a:t>href</a:t>
            </a:r>
            <a:r>
              <a:rPr lang="en-GB" sz="1700" dirty="0" smtClean="0">
                <a:solidFill>
                  <a:srgbClr val="FF0000"/>
                </a:solidFill>
              </a:rPr>
              <a:t>=</a:t>
            </a:r>
            <a:r>
              <a:rPr lang="en-GB" sz="1700" dirty="0" smtClean="0">
                <a:solidFill>
                  <a:srgbClr val="FF0000"/>
                </a:solidFill>
                <a:hlinkClick r:id="rId2"/>
              </a:rPr>
              <a:t>https</a:t>
            </a:r>
            <a:r>
              <a:rPr lang="en-GB" sz="1700" dirty="0">
                <a:solidFill>
                  <a:srgbClr val="FF0000"/>
                </a:solidFill>
                <a:hlinkClick r:id="rId2"/>
              </a:rPr>
              <a:t>://www.example.com</a:t>
            </a:r>
            <a:r>
              <a:rPr lang="en-GB" sz="1700" dirty="0" smtClean="0">
                <a:solidFill>
                  <a:srgbClr val="FF0000"/>
                </a:solidFill>
                <a:hlinkClick r:id="rId2"/>
              </a:rPr>
              <a:t>/</a:t>
            </a:r>
            <a:r>
              <a:rPr lang="en-GB" sz="1700" dirty="0" smtClean="0">
                <a:solidFill>
                  <a:srgbClr val="FF0000"/>
                </a:solidFill>
              </a:rPr>
              <a:t>  target</a:t>
            </a:r>
            <a:r>
              <a:rPr lang="en-GB" sz="1700" dirty="0">
                <a:solidFill>
                  <a:srgbClr val="FF0000"/>
                </a:solidFill>
              </a:rPr>
              <a:t>="_blank"&gt; </a:t>
            </a:r>
            <a:endParaRPr lang="en-GB" sz="1700" dirty="0" smtClean="0">
              <a:solidFill>
                <a:srgbClr val="FF0000"/>
              </a:solidFill>
            </a:endParaRPr>
          </a:p>
          <a:p>
            <a:pPr marL="914400" lvl="2" indent="0">
              <a:buNone/>
            </a:pPr>
            <a:r>
              <a:rPr lang="en-GB" sz="1700" dirty="0" smtClean="0">
                <a:solidFill>
                  <a:srgbClr val="FF0000"/>
                </a:solidFill>
              </a:rPr>
              <a:t>	&lt;</a:t>
            </a:r>
            <a:r>
              <a:rPr lang="en-GB" sz="1700" dirty="0">
                <a:solidFill>
                  <a:srgbClr val="FF0000"/>
                </a:solidFill>
              </a:rPr>
              <a:t>title&gt;HTML Base Element Example&lt;/title&gt; </a:t>
            </a:r>
            <a:endParaRPr lang="en-GB" sz="1700" dirty="0" smtClean="0">
              <a:solidFill>
                <a:srgbClr val="FF0000"/>
              </a:solidFill>
            </a:endParaRPr>
          </a:p>
          <a:p>
            <a:pPr marL="914400" lvl="2" indent="0">
              <a:buNone/>
            </a:pPr>
            <a:r>
              <a:rPr lang="en-GB" sz="1700" dirty="0" smtClean="0">
                <a:solidFill>
                  <a:srgbClr val="FF0000"/>
                </a:solidFill>
              </a:rPr>
              <a:t>     &lt;/</a:t>
            </a:r>
            <a:r>
              <a:rPr lang="en-GB" sz="1700" dirty="0">
                <a:solidFill>
                  <a:srgbClr val="FF0000"/>
                </a:solidFill>
              </a:rPr>
              <a:t>head&gt; </a:t>
            </a:r>
            <a:endParaRPr lang="en-GB" sz="1700" dirty="0" smtClean="0">
              <a:solidFill>
                <a:srgbClr val="FF0000"/>
              </a:solidFill>
            </a:endParaRPr>
          </a:p>
          <a:p>
            <a:pPr marL="914400" lvl="2" indent="0">
              <a:buNone/>
            </a:pPr>
            <a:r>
              <a:rPr lang="en-GB" sz="1700" dirty="0" smtClean="0">
                <a:solidFill>
                  <a:srgbClr val="FF0000"/>
                </a:solidFill>
              </a:rPr>
              <a:t>     &lt;</a:t>
            </a:r>
            <a:r>
              <a:rPr lang="en-GB" sz="1700" dirty="0">
                <a:solidFill>
                  <a:srgbClr val="FF0000"/>
                </a:solidFill>
              </a:rPr>
              <a:t>body&gt; </a:t>
            </a:r>
            <a:r>
              <a:rPr lang="en-GB" sz="1700" dirty="0" smtClean="0">
                <a:solidFill>
                  <a:srgbClr val="FF0000"/>
                </a:solidFill>
              </a:rPr>
              <a:t>	</a:t>
            </a:r>
          </a:p>
          <a:p>
            <a:pPr marL="914400" lvl="2" indent="0">
              <a:buNone/>
            </a:pPr>
            <a:r>
              <a:rPr lang="en-GB" sz="1700" dirty="0" smtClean="0">
                <a:solidFill>
                  <a:srgbClr val="FF0000"/>
                </a:solidFill>
              </a:rPr>
              <a:t>	&lt;</a:t>
            </a:r>
            <a:r>
              <a:rPr lang="en-GB" sz="1700" dirty="0">
                <a:solidFill>
                  <a:srgbClr val="FF0000"/>
                </a:solidFill>
              </a:rPr>
              <a:t>p&gt;&lt;a </a:t>
            </a:r>
            <a:r>
              <a:rPr lang="en-GB" sz="1700" dirty="0" err="1">
                <a:solidFill>
                  <a:srgbClr val="FF0000"/>
                </a:solidFill>
              </a:rPr>
              <a:t>href</a:t>
            </a:r>
            <a:r>
              <a:rPr lang="en-GB" sz="1700" dirty="0">
                <a:solidFill>
                  <a:srgbClr val="FF0000"/>
                </a:solidFill>
              </a:rPr>
              <a:t>="page1.html"&gt;Link to Page 1&lt;/a&gt;&lt;/p&gt; </a:t>
            </a:r>
            <a:endParaRPr lang="en-GB" sz="1700" dirty="0" smtClean="0">
              <a:solidFill>
                <a:srgbClr val="FF0000"/>
              </a:solidFill>
            </a:endParaRPr>
          </a:p>
          <a:p>
            <a:pPr marL="914400" lvl="2" indent="0">
              <a:buNone/>
            </a:pPr>
            <a:r>
              <a:rPr lang="en-GB" sz="1700" dirty="0" smtClean="0">
                <a:solidFill>
                  <a:srgbClr val="FF0000"/>
                </a:solidFill>
              </a:rPr>
              <a:t>	&lt;</a:t>
            </a:r>
            <a:r>
              <a:rPr lang="en-GB" sz="1700" dirty="0">
                <a:solidFill>
                  <a:srgbClr val="FF0000"/>
                </a:solidFill>
              </a:rPr>
              <a:t>p&gt;&lt;a </a:t>
            </a:r>
            <a:r>
              <a:rPr lang="en-GB" sz="1700" dirty="0" err="1">
                <a:solidFill>
                  <a:srgbClr val="FF0000"/>
                </a:solidFill>
              </a:rPr>
              <a:t>href</a:t>
            </a:r>
            <a:r>
              <a:rPr lang="en-GB" sz="1700" dirty="0">
                <a:solidFill>
                  <a:srgbClr val="FF0000"/>
                </a:solidFill>
              </a:rPr>
              <a:t>="page2.html"&gt;Link to Page 2&lt;/a&gt;&lt;/p&gt; </a:t>
            </a:r>
            <a:endParaRPr lang="en-GB" sz="1700" dirty="0" smtClean="0">
              <a:solidFill>
                <a:srgbClr val="FF0000"/>
              </a:solidFill>
            </a:endParaRPr>
          </a:p>
          <a:p>
            <a:pPr marL="914400" lvl="2" indent="0">
              <a:buNone/>
            </a:pPr>
            <a:r>
              <a:rPr lang="en-GB" sz="1700" dirty="0" smtClean="0">
                <a:solidFill>
                  <a:srgbClr val="FF0000"/>
                </a:solidFill>
              </a:rPr>
              <a:t>     &lt;/</a:t>
            </a:r>
            <a:r>
              <a:rPr lang="en-GB" sz="1700" dirty="0">
                <a:solidFill>
                  <a:srgbClr val="FF0000"/>
                </a:solidFill>
              </a:rPr>
              <a:t>body&gt; </a:t>
            </a:r>
            <a:endParaRPr lang="en-GB" sz="1700" dirty="0" smtClean="0">
              <a:solidFill>
                <a:srgbClr val="FF0000"/>
              </a:solidFill>
            </a:endParaRPr>
          </a:p>
          <a:p>
            <a:pPr marL="914400" lvl="2" indent="0">
              <a:buNone/>
            </a:pPr>
            <a:r>
              <a:rPr lang="en-GB" sz="1700" dirty="0" smtClean="0">
                <a:solidFill>
                  <a:srgbClr val="FF0000"/>
                </a:solidFill>
              </a:rPr>
              <a:t>&lt;/</a:t>
            </a:r>
            <a:r>
              <a:rPr lang="en-GB" sz="1700" dirty="0">
                <a:solidFill>
                  <a:srgbClr val="FF0000"/>
                </a:solidFill>
              </a:rPr>
              <a:t>html</a:t>
            </a:r>
            <a:r>
              <a:rPr lang="en-GB" sz="1700" dirty="0" smtClean="0">
                <a:solidFill>
                  <a:srgbClr val="FF0000"/>
                </a:solidFill>
              </a:rPr>
              <a:t>&gt;</a:t>
            </a:r>
          </a:p>
          <a:p>
            <a:pPr marL="0" indent="0">
              <a:buNone/>
            </a:pPr>
            <a:r>
              <a:rPr lang="en-US" sz="1900" dirty="0"/>
              <a:t>For example, you can set the base URL once at the top of your page in header section, then all subsequent relative links will use that URL as a starting point.</a:t>
            </a:r>
            <a:endParaRPr lang="en-GB" sz="1900" dirty="0">
              <a:solidFill>
                <a:srgbClr val="FF0000"/>
              </a:solidFill>
            </a:endParaRPr>
          </a:p>
        </p:txBody>
      </p:sp>
    </p:spTree>
    <p:extLst>
      <p:ext uri="{BB962C8B-B14F-4D97-AF65-F5344CB8AC3E}">
        <p14:creationId xmlns:p14="http://schemas.microsoft.com/office/powerpoint/2010/main" val="34142249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53367"/>
          </a:xfrm>
        </p:spPr>
        <p:txBody>
          <a:bodyPr/>
          <a:lstStyle/>
          <a:p>
            <a:r>
              <a:rPr lang="en-US" dirty="0" smtClean="0"/>
              <a:t>Global Attributes</a:t>
            </a:r>
            <a:endParaRPr lang="en-GB" dirty="0"/>
          </a:p>
        </p:txBody>
      </p:sp>
      <p:sp>
        <p:nvSpPr>
          <p:cNvPr id="3" name="Content Placeholder 2"/>
          <p:cNvSpPr>
            <a:spLocks noGrp="1"/>
          </p:cNvSpPr>
          <p:nvPr>
            <p:ph idx="1"/>
          </p:nvPr>
        </p:nvSpPr>
        <p:spPr>
          <a:xfrm>
            <a:off x="838200" y="1512278"/>
            <a:ext cx="10515600" cy="5122984"/>
          </a:xfrm>
        </p:spPr>
        <p:txBody>
          <a:bodyPr>
            <a:normAutofit fontScale="92500" lnSpcReduction="10000"/>
          </a:bodyPr>
          <a:lstStyle/>
          <a:p>
            <a:pPr marL="0" indent="0">
              <a:buNone/>
            </a:pPr>
            <a:r>
              <a:rPr lang="en-US" dirty="0"/>
              <a:t>The global attributes are attributes that can be used with all HTML </a:t>
            </a:r>
            <a:r>
              <a:rPr lang="en-US" dirty="0" smtClean="0"/>
              <a:t>elements. </a:t>
            </a:r>
            <a:r>
              <a:rPr lang="en-US" dirty="0"/>
              <a:t>S</a:t>
            </a:r>
            <a:r>
              <a:rPr lang="en-US" dirty="0" smtClean="0"/>
              <a:t>ome global attributes are</a:t>
            </a:r>
          </a:p>
          <a:p>
            <a:pPr marL="0" indent="0">
              <a:buNone/>
            </a:pPr>
            <a:r>
              <a:rPr lang="en-US" b="1" dirty="0"/>
              <a:t>class:-</a:t>
            </a:r>
            <a:r>
              <a:rPr lang="en-US" dirty="0"/>
              <a:t> Use specifically for style sheet or by a </a:t>
            </a:r>
            <a:r>
              <a:rPr lang="en-US" dirty="0" err="1"/>
              <a:t>javascript</a:t>
            </a:r>
            <a:r>
              <a:rPr lang="en-US" dirty="0"/>
              <a:t> to make changes to HTML element</a:t>
            </a:r>
            <a:r>
              <a:rPr lang="en-US" dirty="0" smtClean="0"/>
              <a:t>. Class names are case-sensitive. </a:t>
            </a:r>
            <a:endParaRPr lang="en-US" dirty="0"/>
          </a:p>
          <a:p>
            <a:pPr marL="0" indent="0">
              <a:buNone/>
            </a:pPr>
            <a:r>
              <a:rPr lang="en-US" b="1" dirty="0"/>
              <a:t>id:-</a:t>
            </a:r>
            <a:r>
              <a:rPr lang="en-US" dirty="0"/>
              <a:t> Define the unique id for an element and used for style or by a </a:t>
            </a:r>
            <a:r>
              <a:rPr lang="en-US" dirty="0" err="1"/>
              <a:t>javascript</a:t>
            </a:r>
            <a:r>
              <a:rPr lang="en-US" dirty="0"/>
              <a:t> to make changes to HTML element</a:t>
            </a:r>
            <a:r>
              <a:rPr lang="en-US" dirty="0" smtClean="0"/>
              <a:t>. Id name is case-sensitive.</a:t>
            </a:r>
            <a:endParaRPr lang="en-US" dirty="0"/>
          </a:p>
          <a:p>
            <a:pPr marL="0" indent="0">
              <a:buNone/>
            </a:pPr>
            <a:r>
              <a:rPr lang="en-US" b="1" dirty="0"/>
              <a:t>style:-</a:t>
            </a:r>
            <a:r>
              <a:rPr lang="en-US" dirty="0"/>
              <a:t> Specifies an inline CSS style for an element</a:t>
            </a:r>
          </a:p>
          <a:p>
            <a:pPr marL="0" indent="0">
              <a:buNone/>
            </a:pPr>
            <a:r>
              <a:rPr lang="en-US" b="1" dirty="0"/>
              <a:t>title:-</a:t>
            </a:r>
            <a:r>
              <a:rPr lang="en-US" dirty="0"/>
              <a:t> Specifies extra information about an element</a:t>
            </a:r>
          </a:p>
          <a:p>
            <a:pPr marL="0" indent="0">
              <a:buNone/>
            </a:pPr>
            <a:r>
              <a:rPr lang="en-US" b="1" dirty="0"/>
              <a:t>hidden:-</a:t>
            </a:r>
            <a:r>
              <a:rPr lang="en-US" dirty="0"/>
              <a:t> Browsers should not display elements that have the hidden attribute specified.</a:t>
            </a:r>
          </a:p>
          <a:p>
            <a:pPr marL="0" indent="0">
              <a:buNone/>
            </a:pPr>
            <a:r>
              <a:rPr lang="en-US" b="1" dirty="0" err="1"/>
              <a:t>lang</a:t>
            </a:r>
            <a:r>
              <a:rPr lang="en-US" b="1" dirty="0"/>
              <a:t>:-</a:t>
            </a:r>
            <a:r>
              <a:rPr lang="en-US" dirty="0"/>
              <a:t> Specifies the language of the element's content</a:t>
            </a:r>
          </a:p>
          <a:p>
            <a:pPr marL="0" indent="0">
              <a:buNone/>
            </a:pPr>
            <a:r>
              <a:rPr lang="en-US" b="1" dirty="0"/>
              <a:t>inert:-</a:t>
            </a:r>
            <a:r>
              <a:rPr lang="en-US" dirty="0"/>
              <a:t> Specifies that the browser should ignore this section</a:t>
            </a:r>
            <a:endParaRPr lang="en-US" dirty="0" smtClean="0"/>
          </a:p>
          <a:p>
            <a:pPr marL="0" indent="0">
              <a:buNone/>
            </a:pPr>
            <a:endParaRPr lang="en-GB" dirty="0"/>
          </a:p>
        </p:txBody>
      </p:sp>
    </p:spTree>
    <p:extLst>
      <p:ext uri="{BB962C8B-B14F-4D97-AF65-F5344CB8AC3E}">
        <p14:creationId xmlns:p14="http://schemas.microsoft.com/office/powerpoint/2010/main" val="37812344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Attribute</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
        <p:nvSpPr>
          <p:cNvPr id="5" name="TextBox 4"/>
          <p:cNvSpPr txBox="1"/>
          <p:nvPr/>
        </p:nvSpPr>
        <p:spPr>
          <a:xfrm>
            <a:off x="410311" y="1711570"/>
            <a:ext cx="3353354" cy="1477328"/>
          </a:xfrm>
          <a:prstGeom prst="rect">
            <a:avLst/>
          </a:prstGeom>
          <a:noFill/>
        </p:spPr>
        <p:txBody>
          <a:bodyPr wrap="none" rtlCol="0">
            <a:spAutoFit/>
          </a:bodyPr>
          <a:lstStyle/>
          <a:p>
            <a:r>
              <a:rPr lang="en-US" b="1" dirty="0" smtClean="0"/>
              <a:t>HTML Class</a:t>
            </a:r>
            <a:endParaRPr lang="en-GB" b="1" dirty="0" smtClean="0"/>
          </a:p>
          <a:p>
            <a:r>
              <a:rPr lang="en-GB" dirty="0" smtClean="0"/>
              <a:t>&lt;</a:t>
            </a:r>
            <a:r>
              <a:rPr lang="en-GB" dirty="0"/>
              <a:t>h2 class="logo"&gt;</a:t>
            </a:r>
            <a:r>
              <a:rPr lang="en-GB" dirty="0" err="1"/>
              <a:t>Programiz</a:t>
            </a:r>
            <a:r>
              <a:rPr lang="en-GB" dirty="0"/>
              <a:t>&lt;/h2</a:t>
            </a:r>
            <a:r>
              <a:rPr lang="en-GB" dirty="0" smtClean="0"/>
              <a:t>&gt;</a:t>
            </a:r>
          </a:p>
          <a:p>
            <a:r>
              <a:rPr lang="en-GB" dirty="0" smtClean="0"/>
              <a:t> </a:t>
            </a:r>
            <a:r>
              <a:rPr lang="en-GB" dirty="0"/>
              <a:t>&lt;style&gt; </a:t>
            </a:r>
            <a:endParaRPr lang="en-GB" dirty="0" smtClean="0"/>
          </a:p>
          <a:p>
            <a:r>
              <a:rPr lang="en-GB" dirty="0" smtClean="0"/>
              <a:t>     .</a:t>
            </a:r>
            <a:r>
              <a:rPr lang="en-GB" dirty="0"/>
              <a:t>logo { </a:t>
            </a:r>
            <a:r>
              <a:rPr lang="en-GB" dirty="0" err="1"/>
              <a:t>color</a:t>
            </a:r>
            <a:r>
              <a:rPr lang="en-GB" dirty="0"/>
              <a:t>: blue; } </a:t>
            </a:r>
            <a:endParaRPr lang="en-GB" dirty="0" smtClean="0"/>
          </a:p>
          <a:p>
            <a:r>
              <a:rPr lang="en-GB" dirty="0" smtClean="0"/>
              <a:t>&lt;/</a:t>
            </a:r>
            <a:r>
              <a:rPr lang="en-GB" dirty="0"/>
              <a:t>style&gt;</a:t>
            </a:r>
          </a:p>
        </p:txBody>
      </p:sp>
      <p:sp>
        <p:nvSpPr>
          <p:cNvPr id="6" name="TextBox 5"/>
          <p:cNvSpPr txBox="1"/>
          <p:nvPr/>
        </p:nvSpPr>
        <p:spPr>
          <a:xfrm>
            <a:off x="8546124" y="1594338"/>
            <a:ext cx="3355406" cy="2862322"/>
          </a:xfrm>
          <a:prstGeom prst="rect">
            <a:avLst/>
          </a:prstGeom>
          <a:noFill/>
        </p:spPr>
        <p:txBody>
          <a:bodyPr wrap="none" rtlCol="0">
            <a:spAutoFit/>
          </a:bodyPr>
          <a:lstStyle/>
          <a:p>
            <a:r>
              <a:rPr lang="en-US" b="1" dirty="0" smtClean="0"/>
              <a:t>Multiple Class in HTML</a:t>
            </a:r>
            <a:endParaRPr lang="en-GB" b="1" dirty="0" smtClean="0"/>
          </a:p>
          <a:p>
            <a:r>
              <a:rPr lang="en-GB" dirty="0" smtClean="0"/>
              <a:t>&lt;</a:t>
            </a:r>
            <a:r>
              <a:rPr lang="en-GB" dirty="0"/>
              <a:t>h2 class="animal dog"&gt;Lily&lt;/h2&gt;</a:t>
            </a:r>
          </a:p>
          <a:p>
            <a:r>
              <a:rPr lang="en-GB" dirty="0" smtClean="0"/>
              <a:t>&lt;</a:t>
            </a:r>
            <a:r>
              <a:rPr lang="en-GB" dirty="0"/>
              <a:t>style&gt;</a:t>
            </a:r>
          </a:p>
          <a:p>
            <a:r>
              <a:rPr lang="en-GB" dirty="0"/>
              <a:t>    .animal {</a:t>
            </a:r>
          </a:p>
          <a:p>
            <a:r>
              <a:rPr lang="en-GB" dirty="0"/>
              <a:t>        </a:t>
            </a:r>
            <a:r>
              <a:rPr lang="en-GB" dirty="0" err="1"/>
              <a:t>color</a:t>
            </a:r>
            <a:r>
              <a:rPr lang="en-GB" dirty="0"/>
              <a:t>: red;</a:t>
            </a:r>
          </a:p>
          <a:p>
            <a:r>
              <a:rPr lang="en-GB" dirty="0"/>
              <a:t>    }</a:t>
            </a:r>
          </a:p>
          <a:p>
            <a:r>
              <a:rPr lang="en-GB" dirty="0"/>
              <a:t>   .dog {</a:t>
            </a:r>
          </a:p>
          <a:p>
            <a:r>
              <a:rPr lang="en-GB" dirty="0"/>
              <a:t>       border: 1px solid black</a:t>
            </a:r>
          </a:p>
          <a:p>
            <a:r>
              <a:rPr lang="en-GB" dirty="0"/>
              <a:t>    }</a:t>
            </a:r>
          </a:p>
          <a:p>
            <a:r>
              <a:rPr lang="en-GB" dirty="0"/>
              <a:t>&lt;/style&gt;</a:t>
            </a:r>
          </a:p>
        </p:txBody>
      </p:sp>
      <p:sp>
        <p:nvSpPr>
          <p:cNvPr id="7" name="TextBox 6"/>
          <p:cNvSpPr txBox="1"/>
          <p:nvPr/>
        </p:nvSpPr>
        <p:spPr>
          <a:xfrm>
            <a:off x="3986402" y="1660323"/>
            <a:ext cx="4114716" cy="2308324"/>
          </a:xfrm>
          <a:prstGeom prst="rect">
            <a:avLst/>
          </a:prstGeom>
          <a:noFill/>
        </p:spPr>
        <p:txBody>
          <a:bodyPr wrap="none" rtlCol="0">
            <a:spAutoFit/>
          </a:bodyPr>
          <a:lstStyle/>
          <a:p>
            <a:r>
              <a:rPr lang="en-US" b="1" dirty="0" smtClean="0"/>
              <a:t>Multiple HTML Elements with same Class</a:t>
            </a:r>
          </a:p>
          <a:p>
            <a:r>
              <a:rPr lang="en-US" dirty="0" smtClean="0"/>
              <a:t>&lt;</a:t>
            </a:r>
            <a:r>
              <a:rPr lang="en-US" dirty="0"/>
              <a:t>h2 class="animal"&gt;Dog&lt;/h2&gt;</a:t>
            </a:r>
          </a:p>
          <a:p>
            <a:r>
              <a:rPr lang="en-US" dirty="0"/>
              <a:t>&lt;h2 class="animal"&gt;Monkey&lt;/h2&gt;</a:t>
            </a:r>
          </a:p>
          <a:p>
            <a:r>
              <a:rPr lang="en-US" dirty="0"/>
              <a:t>&lt;style&gt;</a:t>
            </a:r>
          </a:p>
          <a:p>
            <a:r>
              <a:rPr lang="en-US" dirty="0"/>
              <a:t>    .animal {</a:t>
            </a:r>
          </a:p>
          <a:p>
            <a:r>
              <a:rPr lang="en-US" dirty="0"/>
              <a:t>        color: blue;</a:t>
            </a:r>
          </a:p>
          <a:p>
            <a:r>
              <a:rPr lang="en-US" dirty="0"/>
              <a:t>     }</a:t>
            </a:r>
          </a:p>
          <a:p>
            <a:r>
              <a:rPr lang="en-US" dirty="0"/>
              <a:t>&lt;/style&gt;</a:t>
            </a:r>
            <a:endParaRPr lang="en-GB" dirty="0"/>
          </a:p>
        </p:txBody>
      </p:sp>
      <p:sp>
        <p:nvSpPr>
          <p:cNvPr id="8" name="TextBox 7"/>
          <p:cNvSpPr txBox="1"/>
          <p:nvPr/>
        </p:nvSpPr>
        <p:spPr>
          <a:xfrm>
            <a:off x="515815" y="4278923"/>
            <a:ext cx="6119752" cy="1754326"/>
          </a:xfrm>
          <a:prstGeom prst="rect">
            <a:avLst/>
          </a:prstGeom>
          <a:noFill/>
        </p:spPr>
        <p:txBody>
          <a:bodyPr wrap="none" rtlCol="0">
            <a:spAutoFit/>
          </a:bodyPr>
          <a:lstStyle/>
          <a:p>
            <a:r>
              <a:rPr lang="en-US" b="1" dirty="0" smtClean="0"/>
              <a:t>Class with JavaScript in HTML</a:t>
            </a:r>
          </a:p>
          <a:p>
            <a:r>
              <a:rPr lang="en-US" dirty="0" smtClean="0"/>
              <a:t>&lt;</a:t>
            </a:r>
            <a:r>
              <a:rPr lang="en-US" dirty="0"/>
              <a:t>h2 class="fruit"&gt;APPLE&lt;/h2&gt;</a:t>
            </a:r>
          </a:p>
          <a:p>
            <a:r>
              <a:rPr lang="en-US" dirty="0"/>
              <a:t> &lt;script&gt;</a:t>
            </a:r>
          </a:p>
          <a:p>
            <a:r>
              <a:rPr lang="en-US" dirty="0"/>
              <a:t>    let element = </a:t>
            </a:r>
            <a:r>
              <a:rPr lang="en-US" dirty="0" err="1"/>
              <a:t>document.getElementsByClassName</a:t>
            </a:r>
            <a:r>
              <a:rPr lang="en-US" dirty="0"/>
              <a:t>("fruit")[0]</a:t>
            </a:r>
          </a:p>
          <a:p>
            <a:r>
              <a:rPr lang="en-US" dirty="0"/>
              <a:t>    </a:t>
            </a:r>
            <a:r>
              <a:rPr lang="en-US" dirty="0" err="1"/>
              <a:t>element.innerHTML</a:t>
            </a:r>
            <a:r>
              <a:rPr lang="en-US" dirty="0"/>
              <a:t> = "ORANGE"</a:t>
            </a:r>
          </a:p>
          <a:p>
            <a:r>
              <a:rPr lang="en-US" dirty="0"/>
              <a:t>&lt;/script&gt;</a:t>
            </a:r>
            <a:endParaRPr lang="en-GB" dirty="0"/>
          </a:p>
        </p:txBody>
      </p:sp>
    </p:spTree>
    <p:extLst>
      <p:ext uri="{BB962C8B-B14F-4D97-AF65-F5344CB8AC3E}">
        <p14:creationId xmlns:p14="http://schemas.microsoft.com/office/powerpoint/2010/main" val="35250504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 Attribute</a:t>
            </a:r>
            <a:endParaRPr lang="en-GB" dirty="0"/>
          </a:p>
        </p:txBody>
      </p:sp>
      <p:sp>
        <p:nvSpPr>
          <p:cNvPr id="5" name="TextBox 4"/>
          <p:cNvSpPr txBox="1"/>
          <p:nvPr/>
        </p:nvSpPr>
        <p:spPr>
          <a:xfrm>
            <a:off x="973018" y="1641238"/>
            <a:ext cx="3058401" cy="2031325"/>
          </a:xfrm>
          <a:prstGeom prst="rect">
            <a:avLst/>
          </a:prstGeom>
          <a:noFill/>
        </p:spPr>
        <p:txBody>
          <a:bodyPr wrap="none" rtlCol="0">
            <a:spAutoFit/>
          </a:bodyPr>
          <a:lstStyle/>
          <a:p>
            <a:r>
              <a:rPr lang="en-US" b="1" dirty="0" smtClean="0"/>
              <a:t>HTML Id</a:t>
            </a:r>
            <a:endParaRPr lang="en-GB" b="1" dirty="0" smtClean="0"/>
          </a:p>
          <a:p>
            <a:r>
              <a:rPr lang="en-GB" dirty="0" smtClean="0"/>
              <a:t>&lt;</a:t>
            </a:r>
            <a:r>
              <a:rPr lang="en-GB" dirty="0"/>
              <a:t>h2 id="title"&gt;</a:t>
            </a:r>
            <a:r>
              <a:rPr lang="en-GB" dirty="0" err="1"/>
              <a:t>Programiz</a:t>
            </a:r>
            <a:r>
              <a:rPr lang="en-GB" dirty="0"/>
              <a:t>&lt;/h2&gt;</a:t>
            </a:r>
          </a:p>
          <a:p>
            <a:r>
              <a:rPr lang="en-GB" dirty="0"/>
              <a:t>&lt;style&gt;</a:t>
            </a:r>
          </a:p>
          <a:p>
            <a:r>
              <a:rPr lang="en-GB" dirty="0"/>
              <a:t>    #title {</a:t>
            </a:r>
          </a:p>
          <a:p>
            <a:r>
              <a:rPr lang="en-GB" dirty="0"/>
              <a:t>        </a:t>
            </a:r>
            <a:r>
              <a:rPr lang="en-GB" dirty="0" err="1"/>
              <a:t>color</a:t>
            </a:r>
            <a:r>
              <a:rPr lang="en-GB" dirty="0"/>
              <a:t>: red;</a:t>
            </a:r>
          </a:p>
          <a:p>
            <a:r>
              <a:rPr lang="en-GB" dirty="0"/>
              <a:t>    }</a:t>
            </a:r>
          </a:p>
          <a:p>
            <a:r>
              <a:rPr lang="en-GB" dirty="0"/>
              <a:t>&lt;/style&gt;</a:t>
            </a:r>
          </a:p>
        </p:txBody>
      </p:sp>
      <p:sp>
        <p:nvSpPr>
          <p:cNvPr id="6" name="TextBox 5"/>
          <p:cNvSpPr txBox="1"/>
          <p:nvPr/>
        </p:nvSpPr>
        <p:spPr>
          <a:xfrm>
            <a:off x="5392615" y="1676410"/>
            <a:ext cx="6050824" cy="1754326"/>
          </a:xfrm>
          <a:prstGeom prst="rect">
            <a:avLst/>
          </a:prstGeom>
          <a:noFill/>
        </p:spPr>
        <p:txBody>
          <a:bodyPr wrap="none" rtlCol="0">
            <a:spAutoFit/>
          </a:bodyPr>
          <a:lstStyle/>
          <a:p>
            <a:r>
              <a:rPr lang="en-US" b="1" dirty="0" smtClean="0"/>
              <a:t>HTML id with JavaScript</a:t>
            </a:r>
            <a:endParaRPr lang="en-GB" b="1" dirty="0" smtClean="0"/>
          </a:p>
          <a:p>
            <a:r>
              <a:rPr lang="en-GB" dirty="0" smtClean="0"/>
              <a:t>&lt;</a:t>
            </a:r>
            <a:r>
              <a:rPr lang="en-GB" dirty="0"/>
              <a:t>h1 id="heading"&gt;Main Heading&lt;/h1&gt;</a:t>
            </a:r>
          </a:p>
          <a:p>
            <a:r>
              <a:rPr lang="en-GB" dirty="0"/>
              <a:t>  &lt;script&gt;</a:t>
            </a:r>
          </a:p>
          <a:p>
            <a:r>
              <a:rPr lang="en-GB" dirty="0"/>
              <a:t>	let element = </a:t>
            </a:r>
            <a:r>
              <a:rPr lang="en-GB" dirty="0" err="1"/>
              <a:t>document.getElementById</a:t>
            </a:r>
            <a:r>
              <a:rPr lang="en-GB" dirty="0"/>
              <a:t>("heading");</a:t>
            </a:r>
          </a:p>
          <a:p>
            <a:r>
              <a:rPr lang="en-GB" dirty="0"/>
              <a:t>	</a:t>
            </a:r>
            <a:r>
              <a:rPr lang="en-GB" dirty="0" err="1"/>
              <a:t>element.innerHTML</a:t>
            </a:r>
            <a:r>
              <a:rPr lang="en-GB" dirty="0"/>
              <a:t> = "Content"</a:t>
            </a:r>
          </a:p>
          <a:p>
            <a:r>
              <a:rPr lang="en-GB" dirty="0"/>
              <a:t>  &lt;/script&gt;</a:t>
            </a:r>
          </a:p>
        </p:txBody>
      </p:sp>
      <p:sp>
        <p:nvSpPr>
          <p:cNvPr id="7" name="TextBox 6"/>
          <p:cNvSpPr txBox="1"/>
          <p:nvPr/>
        </p:nvSpPr>
        <p:spPr>
          <a:xfrm>
            <a:off x="2403224" y="3739668"/>
            <a:ext cx="7591245" cy="3139321"/>
          </a:xfrm>
          <a:prstGeom prst="rect">
            <a:avLst/>
          </a:prstGeom>
          <a:noFill/>
        </p:spPr>
        <p:txBody>
          <a:bodyPr wrap="none" rtlCol="0">
            <a:spAutoFit/>
          </a:bodyPr>
          <a:lstStyle/>
          <a:p>
            <a:r>
              <a:rPr lang="en-GB" b="1" dirty="0"/>
              <a:t>HTML id for Anchor </a:t>
            </a:r>
            <a:r>
              <a:rPr lang="en-GB" b="1" dirty="0" smtClean="0"/>
              <a:t>links</a:t>
            </a:r>
            <a:endParaRPr lang="en-US" dirty="0" smtClean="0"/>
          </a:p>
          <a:p>
            <a:r>
              <a:rPr lang="en-US" dirty="0" smtClean="0"/>
              <a:t>&lt;</a:t>
            </a:r>
            <a:r>
              <a:rPr lang="en-US" dirty="0"/>
              <a:t>h1 id="heading"&gt;Main Heading&lt;/h1&gt;</a:t>
            </a:r>
          </a:p>
          <a:p>
            <a:r>
              <a:rPr lang="en-US" dirty="0"/>
              <a:t>  &lt;p class="main-content"&gt;</a:t>
            </a:r>
          </a:p>
          <a:p>
            <a:r>
              <a:rPr lang="en-US" dirty="0"/>
              <a:t>	This is a paragraph</a:t>
            </a:r>
          </a:p>
          <a:p>
            <a:r>
              <a:rPr lang="en-US" dirty="0"/>
              <a:t>  &lt;/p&gt;</a:t>
            </a:r>
          </a:p>
          <a:p>
            <a:r>
              <a:rPr lang="en-US" dirty="0"/>
              <a:t>  &lt;a </a:t>
            </a:r>
            <a:r>
              <a:rPr lang="en-US" dirty="0" err="1"/>
              <a:t>href</a:t>
            </a:r>
            <a:r>
              <a:rPr lang="en-US" dirty="0"/>
              <a:t>="#heading"&gt;Go to the top&lt;/a</a:t>
            </a:r>
            <a:r>
              <a:rPr lang="en-US" dirty="0" smtClean="0"/>
              <a:t>&gt;</a:t>
            </a:r>
          </a:p>
          <a:p>
            <a:r>
              <a:rPr lang="en-US" dirty="0" smtClean="0"/>
              <a:t>  &lt;</a:t>
            </a:r>
            <a:r>
              <a:rPr lang="en-US" dirty="0"/>
              <a:t>a </a:t>
            </a:r>
            <a:r>
              <a:rPr lang="en-US" dirty="0" err="1"/>
              <a:t>href</a:t>
            </a:r>
            <a:r>
              <a:rPr lang="en-US" dirty="0"/>
              <a:t>="programiz.com/html/</a:t>
            </a:r>
            <a:r>
              <a:rPr lang="en-US" dirty="0" err="1"/>
              <a:t>head#title-tag</a:t>
            </a:r>
            <a:r>
              <a:rPr lang="en-US" dirty="0"/>
              <a:t>"&gt; Link &lt;/a&gt;</a:t>
            </a:r>
            <a:br>
              <a:rPr lang="en-US" dirty="0"/>
            </a:br>
            <a:r>
              <a:rPr lang="en-US" dirty="0"/>
              <a:t> </a:t>
            </a:r>
            <a:endParaRPr lang="en-US" dirty="0" smtClean="0"/>
          </a:p>
          <a:p>
            <a:r>
              <a:rPr lang="en-US" dirty="0" smtClean="0"/>
              <a:t>clicking </a:t>
            </a:r>
            <a:r>
              <a:rPr lang="en-US" dirty="0"/>
              <a:t>on the Go to top will scroll the page to the h1 tag with the id "</a:t>
            </a:r>
            <a:r>
              <a:rPr lang="en-US" dirty="0" smtClean="0"/>
              <a:t>heading“</a:t>
            </a:r>
          </a:p>
          <a:p>
            <a:r>
              <a:rPr lang="en-US" dirty="0" smtClean="0"/>
              <a:t>clicking </a:t>
            </a:r>
            <a:r>
              <a:rPr lang="en-US" dirty="0"/>
              <a:t>on this link will take us to the URL </a:t>
            </a:r>
            <a:r>
              <a:rPr lang="en-US" dirty="0">
                <a:hlinkClick r:id="rId2"/>
              </a:rPr>
              <a:t>programiz.com/html/head</a:t>
            </a:r>
            <a:r>
              <a:rPr lang="en-US" dirty="0"/>
              <a:t> and </a:t>
            </a:r>
            <a:endParaRPr lang="en-US" dirty="0" smtClean="0"/>
          </a:p>
          <a:p>
            <a:r>
              <a:rPr lang="en-US" dirty="0" smtClean="0"/>
              <a:t>then </a:t>
            </a:r>
            <a:r>
              <a:rPr lang="en-US" dirty="0"/>
              <a:t>scroll to the element with the id title-tag.</a:t>
            </a:r>
            <a:endParaRPr lang="en-GB" dirty="0"/>
          </a:p>
        </p:txBody>
      </p:sp>
    </p:spTree>
    <p:extLst>
      <p:ext uri="{BB962C8B-B14F-4D97-AF65-F5344CB8AC3E}">
        <p14:creationId xmlns:p14="http://schemas.microsoft.com/office/powerpoint/2010/main" val="4108208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HTML Events</a:t>
            </a:r>
            <a:endParaRPr lang="en-GB" dirty="0"/>
          </a:p>
        </p:txBody>
      </p:sp>
      <p:sp>
        <p:nvSpPr>
          <p:cNvPr id="3" name="Content Placeholder 2"/>
          <p:cNvSpPr>
            <a:spLocks noGrp="1"/>
          </p:cNvSpPr>
          <p:nvPr>
            <p:ph idx="1"/>
          </p:nvPr>
        </p:nvSpPr>
        <p:spPr/>
        <p:txBody>
          <a:bodyPr>
            <a:normAutofit lnSpcReduction="10000"/>
          </a:bodyPr>
          <a:lstStyle/>
          <a:p>
            <a:pPr marL="0" indent="0">
              <a:buNone/>
            </a:pPr>
            <a:r>
              <a:rPr lang="en-US" dirty="0"/>
              <a:t>HTML has the ability to </a:t>
            </a:r>
            <a:r>
              <a:rPr lang="en-US" dirty="0" smtClean="0"/>
              <a:t>create an action on events trigger in </a:t>
            </a:r>
            <a:r>
              <a:rPr lang="en-US" dirty="0"/>
              <a:t>a </a:t>
            </a:r>
            <a:r>
              <a:rPr lang="en-US" dirty="0" smtClean="0"/>
              <a:t>browser.</a:t>
            </a:r>
          </a:p>
          <a:p>
            <a:pPr marL="0" indent="0">
              <a:buNone/>
            </a:pPr>
            <a:r>
              <a:rPr lang="en-US" dirty="0" smtClean="0"/>
              <a:t>Developer can write the action in JavaScript based on event trigger. These events can be categories in</a:t>
            </a:r>
          </a:p>
          <a:p>
            <a:pPr marL="0" indent="0">
              <a:buNone/>
            </a:pPr>
            <a:r>
              <a:rPr lang="en-US" dirty="0" smtClean="0"/>
              <a:t>Form Events – </a:t>
            </a:r>
            <a:r>
              <a:rPr lang="en-US" dirty="0" err="1" smtClean="0"/>
              <a:t>onsubmit</a:t>
            </a:r>
            <a:r>
              <a:rPr lang="en-US" dirty="0" smtClean="0"/>
              <a:t> / </a:t>
            </a:r>
            <a:r>
              <a:rPr lang="en-US" dirty="0" err="1" smtClean="0"/>
              <a:t>onselect</a:t>
            </a:r>
            <a:r>
              <a:rPr lang="en-US" dirty="0" smtClean="0"/>
              <a:t> / </a:t>
            </a:r>
            <a:r>
              <a:rPr lang="en-US" dirty="0" err="1" smtClean="0"/>
              <a:t>onchange</a:t>
            </a:r>
            <a:r>
              <a:rPr lang="en-US" dirty="0" smtClean="0"/>
              <a:t> / </a:t>
            </a:r>
            <a:r>
              <a:rPr lang="en-US" dirty="0" err="1" smtClean="0"/>
              <a:t>onreset</a:t>
            </a:r>
            <a:r>
              <a:rPr lang="en-US" dirty="0" smtClean="0"/>
              <a:t> / </a:t>
            </a:r>
            <a:r>
              <a:rPr lang="en-US" dirty="0" err="1" smtClean="0"/>
              <a:t>oninput</a:t>
            </a:r>
            <a:r>
              <a:rPr lang="en-US" dirty="0" smtClean="0"/>
              <a:t> …. </a:t>
            </a:r>
          </a:p>
          <a:p>
            <a:pPr marL="0" indent="0">
              <a:buNone/>
            </a:pPr>
            <a:r>
              <a:rPr lang="en-US" dirty="0" smtClean="0"/>
              <a:t>Keyboard Events – </a:t>
            </a:r>
            <a:r>
              <a:rPr lang="en-US" dirty="0" err="1" smtClean="0"/>
              <a:t>onkeydown</a:t>
            </a:r>
            <a:r>
              <a:rPr lang="en-US" dirty="0" smtClean="0"/>
              <a:t> / </a:t>
            </a:r>
            <a:r>
              <a:rPr lang="en-US" dirty="0" err="1" smtClean="0"/>
              <a:t>onkeypress</a:t>
            </a:r>
            <a:r>
              <a:rPr lang="en-US" dirty="0" smtClean="0"/>
              <a:t> / </a:t>
            </a:r>
            <a:r>
              <a:rPr lang="en-US" dirty="0" err="1" smtClean="0"/>
              <a:t>onkeyup</a:t>
            </a:r>
            <a:endParaRPr lang="en-US" dirty="0" smtClean="0"/>
          </a:p>
          <a:p>
            <a:pPr marL="0" indent="0">
              <a:buNone/>
            </a:pPr>
            <a:r>
              <a:rPr lang="en-US" dirty="0" smtClean="0"/>
              <a:t>Mouse Events – </a:t>
            </a:r>
            <a:r>
              <a:rPr lang="en-US" dirty="0" err="1" smtClean="0"/>
              <a:t>onclick</a:t>
            </a:r>
            <a:r>
              <a:rPr lang="en-US" dirty="0" smtClean="0"/>
              <a:t> / </a:t>
            </a:r>
            <a:r>
              <a:rPr lang="en-US" dirty="0" err="1" smtClean="0"/>
              <a:t>ondblclick</a:t>
            </a:r>
            <a:r>
              <a:rPr lang="en-US" dirty="0" smtClean="0"/>
              <a:t> / </a:t>
            </a:r>
            <a:r>
              <a:rPr lang="en-US" dirty="0" err="1" smtClean="0"/>
              <a:t>onmouseover</a:t>
            </a:r>
            <a:r>
              <a:rPr lang="en-US" dirty="0" smtClean="0"/>
              <a:t> / </a:t>
            </a:r>
            <a:r>
              <a:rPr lang="en-US" dirty="0" err="1" smtClean="0"/>
              <a:t>onmousemove</a:t>
            </a:r>
            <a:r>
              <a:rPr lang="en-US" dirty="0" smtClean="0"/>
              <a:t> ….</a:t>
            </a:r>
          </a:p>
          <a:p>
            <a:pPr marL="0" indent="0">
              <a:buNone/>
            </a:pPr>
            <a:r>
              <a:rPr lang="en-US" dirty="0" smtClean="0"/>
              <a:t>Drag Events – </a:t>
            </a:r>
            <a:r>
              <a:rPr lang="en-US" dirty="0" err="1" smtClean="0"/>
              <a:t>ondrag</a:t>
            </a:r>
            <a:r>
              <a:rPr lang="en-US" dirty="0" smtClean="0"/>
              <a:t> / </a:t>
            </a:r>
            <a:r>
              <a:rPr lang="en-US" dirty="0" err="1" smtClean="0"/>
              <a:t>ondragleave</a:t>
            </a:r>
            <a:r>
              <a:rPr lang="en-US" dirty="0" smtClean="0"/>
              <a:t> / </a:t>
            </a:r>
            <a:r>
              <a:rPr lang="en-US" dirty="0" err="1" smtClean="0"/>
              <a:t>onscroll</a:t>
            </a:r>
            <a:r>
              <a:rPr lang="en-US" dirty="0" smtClean="0"/>
              <a:t> / </a:t>
            </a:r>
            <a:r>
              <a:rPr lang="en-US" dirty="0" err="1" smtClean="0"/>
              <a:t>ondrop</a:t>
            </a:r>
            <a:r>
              <a:rPr lang="en-US" dirty="0" smtClean="0"/>
              <a:t> …..</a:t>
            </a:r>
          </a:p>
          <a:p>
            <a:pPr marL="0" indent="0">
              <a:buNone/>
            </a:pPr>
            <a:r>
              <a:rPr lang="en-US" dirty="0" smtClean="0"/>
              <a:t>Clipboard Events – </a:t>
            </a:r>
            <a:r>
              <a:rPr lang="en-US" dirty="0" err="1" smtClean="0"/>
              <a:t>oncopy</a:t>
            </a:r>
            <a:r>
              <a:rPr lang="en-US" dirty="0" smtClean="0"/>
              <a:t> / </a:t>
            </a:r>
            <a:r>
              <a:rPr lang="en-US" dirty="0" err="1" smtClean="0"/>
              <a:t>oncut</a:t>
            </a:r>
            <a:r>
              <a:rPr lang="en-US" dirty="0" smtClean="0"/>
              <a:t> / </a:t>
            </a:r>
            <a:r>
              <a:rPr lang="en-US" dirty="0" err="1" smtClean="0"/>
              <a:t>onpaste</a:t>
            </a:r>
            <a:endParaRPr lang="en-US" dirty="0" smtClean="0"/>
          </a:p>
          <a:p>
            <a:pPr marL="0" indent="0">
              <a:buNone/>
            </a:pPr>
            <a:r>
              <a:rPr lang="en-US" dirty="0" smtClean="0"/>
              <a:t>Media Events – </a:t>
            </a:r>
            <a:r>
              <a:rPr lang="en-US" dirty="0" err="1" smtClean="0"/>
              <a:t>oncanplay</a:t>
            </a:r>
            <a:r>
              <a:rPr lang="en-US" dirty="0" smtClean="0"/>
              <a:t> / </a:t>
            </a:r>
            <a:r>
              <a:rPr lang="en-US" dirty="0" err="1" smtClean="0"/>
              <a:t>onerror</a:t>
            </a:r>
            <a:r>
              <a:rPr lang="en-US" dirty="0" smtClean="0"/>
              <a:t> / </a:t>
            </a:r>
            <a:r>
              <a:rPr lang="en-US" dirty="0" err="1" smtClean="0"/>
              <a:t>onloadstart</a:t>
            </a:r>
            <a:r>
              <a:rPr lang="en-US" dirty="0" smtClean="0"/>
              <a:t> / </a:t>
            </a:r>
            <a:r>
              <a:rPr lang="en-US" dirty="0" err="1" smtClean="0"/>
              <a:t>onpuse</a:t>
            </a:r>
            <a:r>
              <a:rPr lang="en-US" dirty="0" smtClean="0"/>
              <a:t> …..</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36181810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Inline &amp; Block-level Elements</a:t>
            </a:r>
            <a:endParaRPr lang="en-GB" dirty="0"/>
          </a:p>
        </p:txBody>
      </p:sp>
      <p:sp>
        <p:nvSpPr>
          <p:cNvPr id="3" name="Content Placeholder 2"/>
          <p:cNvSpPr>
            <a:spLocks noGrp="1"/>
          </p:cNvSpPr>
          <p:nvPr>
            <p:ph idx="1"/>
          </p:nvPr>
        </p:nvSpPr>
        <p:spPr>
          <a:xfrm>
            <a:off x="838200" y="1825625"/>
            <a:ext cx="10515600" cy="4938590"/>
          </a:xfrm>
        </p:spPr>
        <p:txBody>
          <a:bodyPr>
            <a:normAutofit fontScale="92500"/>
          </a:bodyPr>
          <a:lstStyle/>
          <a:p>
            <a:pPr marL="0" indent="0">
              <a:buNone/>
            </a:pPr>
            <a:r>
              <a:rPr lang="en-US" dirty="0" smtClean="0"/>
              <a:t>HTML elements can be categorized into one of two categories</a:t>
            </a:r>
          </a:p>
          <a:p>
            <a:pPr marL="0" indent="0">
              <a:buNone/>
            </a:pPr>
            <a:r>
              <a:rPr lang="en-US" dirty="0" smtClean="0"/>
              <a:t>Inline Elements:- </a:t>
            </a:r>
          </a:p>
          <a:p>
            <a:pPr marL="571500" indent="-571500">
              <a:buAutoNum type="romanLcParenR"/>
            </a:pPr>
            <a:r>
              <a:rPr lang="en-US" dirty="0" smtClean="0"/>
              <a:t>These elements take space according to their contents require.</a:t>
            </a:r>
          </a:p>
          <a:p>
            <a:pPr marL="571500" indent="-571500">
              <a:buAutoNum type="romanLcParenR"/>
            </a:pPr>
            <a:r>
              <a:rPr lang="en-US" dirty="0" smtClean="0"/>
              <a:t>Do not start on a new line.</a:t>
            </a:r>
          </a:p>
          <a:p>
            <a:pPr marL="0" indent="0">
              <a:buNone/>
            </a:pPr>
            <a:r>
              <a:rPr lang="en-US" dirty="0" smtClean="0"/>
              <a:t>Examples:-  &lt;a&gt; / &lt;</a:t>
            </a:r>
            <a:r>
              <a:rPr lang="en-US" dirty="0" err="1" smtClean="0"/>
              <a:t>br</a:t>
            </a:r>
            <a:r>
              <a:rPr lang="en-US" dirty="0" smtClean="0"/>
              <a:t>&gt; / &lt;</a:t>
            </a:r>
            <a:r>
              <a:rPr lang="en-US" dirty="0" err="1" smtClean="0"/>
              <a:t>img</a:t>
            </a:r>
            <a:r>
              <a:rPr lang="en-US" dirty="0" smtClean="0"/>
              <a:t>&gt; / &lt;input&gt; / &lt;input&gt; / &lt;label&gt; / &lt;spam&gt; …</a:t>
            </a:r>
          </a:p>
          <a:p>
            <a:pPr marL="0" indent="0">
              <a:buNone/>
            </a:pPr>
            <a:r>
              <a:rPr lang="en-US" dirty="0" smtClean="0"/>
              <a:t>Block-level Elements:- </a:t>
            </a:r>
          </a:p>
          <a:p>
            <a:pPr marL="571500" indent="-571500">
              <a:buAutoNum type="romanLcParenR"/>
            </a:pPr>
            <a:r>
              <a:rPr lang="en-US" dirty="0" smtClean="0"/>
              <a:t>Block </a:t>
            </a:r>
            <a:r>
              <a:rPr lang="en-US" dirty="0"/>
              <a:t>level elements take up as much space as possible by default</a:t>
            </a:r>
            <a:r>
              <a:rPr lang="en-US" dirty="0" smtClean="0"/>
              <a:t>.</a:t>
            </a:r>
          </a:p>
          <a:p>
            <a:pPr marL="571500" indent="-571500">
              <a:buAutoNum type="romanLcParenR"/>
            </a:pPr>
            <a:r>
              <a:rPr lang="en-US" dirty="0"/>
              <a:t> </a:t>
            </a:r>
            <a:r>
              <a:rPr lang="en-US" dirty="0" smtClean="0"/>
              <a:t>Always </a:t>
            </a:r>
            <a:r>
              <a:rPr lang="en-US" dirty="0"/>
              <a:t>starts on a new </a:t>
            </a:r>
            <a:r>
              <a:rPr lang="en-US" dirty="0" smtClean="0"/>
              <a:t>line.</a:t>
            </a:r>
          </a:p>
          <a:p>
            <a:pPr marL="0" indent="0">
              <a:buNone/>
            </a:pPr>
            <a:r>
              <a:rPr lang="en-US" dirty="0" smtClean="0"/>
              <a:t>Examples:- &lt;p&gt; / &lt;div&gt; / &lt;</a:t>
            </a:r>
            <a:r>
              <a:rPr lang="en-US" dirty="0" err="1" smtClean="0"/>
              <a:t>hr</a:t>
            </a:r>
            <a:r>
              <a:rPr lang="en-US" dirty="0" smtClean="0"/>
              <a:t>&gt; / &lt;li&gt; / &lt;</a:t>
            </a:r>
            <a:r>
              <a:rPr lang="en-US" dirty="0" err="1" smtClean="0"/>
              <a:t>ol</a:t>
            </a:r>
            <a:r>
              <a:rPr lang="en-US" dirty="0" smtClean="0"/>
              <a:t>&gt; / &lt;</a:t>
            </a:r>
            <a:r>
              <a:rPr lang="en-US" dirty="0" err="1" smtClean="0"/>
              <a:t>ul</a:t>
            </a:r>
            <a:r>
              <a:rPr lang="en-US" dirty="0" smtClean="0"/>
              <a:t>&gt; / &lt;h1&gt; -- &lt;h6&gt; / &lt;table&gt; …</a:t>
            </a:r>
          </a:p>
          <a:p>
            <a:r>
              <a:rPr lang="en-US" dirty="0" smtClean="0"/>
              <a:t>Note:- </a:t>
            </a:r>
            <a:r>
              <a:rPr lang="en-US" b="1" dirty="0"/>
              <a:t>Inline elements cannot contain block level </a:t>
            </a:r>
            <a:r>
              <a:rPr lang="en-US" b="1" dirty="0" smtClean="0"/>
              <a:t>elements</a:t>
            </a:r>
            <a:endParaRPr lang="en-US" dirty="0"/>
          </a:p>
        </p:txBody>
      </p:sp>
    </p:spTree>
    <p:extLst>
      <p:ext uri="{BB962C8B-B14F-4D97-AF65-F5344CB8AC3E}">
        <p14:creationId xmlns:p14="http://schemas.microsoft.com/office/powerpoint/2010/main" val="33611518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4075"/>
          </a:xfrm>
        </p:spPr>
        <p:txBody>
          <a:bodyPr/>
          <a:lstStyle/>
          <a:p>
            <a:r>
              <a:rPr lang="en-US" dirty="0" smtClean="0"/>
              <a:t>HTML Inline &amp; Block Elements</a:t>
            </a:r>
            <a:endParaRPr lang="en-GB" dirty="0"/>
          </a:p>
        </p:txBody>
      </p:sp>
      <p:sp>
        <p:nvSpPr>
          <p:cNvPr id="3" name="Content Placeholder 2"/>
          <p:cNvSpPr>
            <a:spLocks noGrp="1"/>
          </p:cNvSpPr>
          <p:nvPr>
            <p:ph idx="1"/>
          </p:nvPr>
        </p:nvSpPr>
        <p:spPr>
          <a:xfrm>
            <a:off x="838200" y="1324708"/>
            <a:ext cx="10515600" cy="5439507"/>
          </a:xfrm>
        </p:spPr>
        <p:txBody>
          <a:bodyPr>
            <a:normAutofit fontScale="92500" lnSpcReduction="10000"/>
          </a:bodyPr>
          <a:lstStyle/>
          <a:p>
            <a:r>
              <a:rPr lang="en-US" dirty="0"/>
              <a:t>CSS properties height and width have no effect on inline elements.</a:t>
            </a:r>
          </a:p>
          <a:p>
            <a:pPr marL="457200" lvl="1" indent="0">
              <a:buNone/>
            </a:pPr>
            <a:r>
              <a:rPr lang="en-GB" sz="2200" dirty="0" smtClean="0"/>
              <a:t>&lt;</a:t>
            </a:r>
            <a:r>
              <a:rPr lang="en-GB" sz="2200" dirty="0"/>
              <a:t>p&gt; The following span is an &lt;span style="border: 1px solid black"&gt;Inline Element.&lt;/span&gt;&lt;/p</a:t>
            </a:r>
            <a:r>
              <a:rPr lang="en-GB" sz="2200" dirty="0" smtClean="0"/>
              <a:t>&gt;</a:t>
            </a:r>
          </a:p>
          <a:p>
            <a:pPr marL="457200" lvl="1" indent="0">
              <a:spcBef>
                <a:spcPts val="0"/>
              </a:spcBef>
              <a:buNone/>
            </a:pPr>
            <a:r>
              <a:rPr lang="en-GB" sz="2200" dirty="0" smtClean="0"/>
              <a:t>&lt;</a:t>
            </a:r>
            <a:r>
              <a:rPr lang="en-GB" sz="2200" dirty="0"/>
              <a:t>style&gt; </a:t>
            </a:r>
            <a:endParaRPr lang="en-GB" sz="2200" dirty="0" smtClean="0"/>
          </a:p>
          <a:p>
            <a:pPr marL="457200" lvl="1" indent="0">
              <a:spcBef>
                <a:spcPts val="0"/>
              </a:spcBef>
              <a:buNone/>
            </a:pPr>
            <a:r>
              <a:rPr lang="en-GB" sz="2200" dirty="0" smtClean="0"/>
              <a:t>     span </a:t>
            </a:r>
            <a:r>
              <a:rPr lang="en-GB" sz="2200" dirty="0"/>
              <a:t>{ height: 200px; </a:t>
            </a:r>
            <a:r>
              <a:rPr lang="en-GB" sz="2200" dirty="0" smtClean="0"/>
              <a:t>	/* </a:t>
            </a:r>
            <a:r>
              <a:rPr lang="en-GB" sz="2200" dirty="0"/>
              <a:t>No Effect on Element */ </a:t>
            </a:r>
            <a:endParaRPr lang="en-GB" sz="2200" dirty="0" smtClean="0"/>
          </a:p>
          <a:p>
            <a:pPr marL="457200" lvl="1" indent="0">
              <a:spcBef>
                <a:spcPts val="0"/>
              </a:spcBef>
              <a:buNone/>
            </a:pPr>
            <a:r>
              <a:rPr lang="en-GB" sz="2200" dirty="0" smtClean="0"/>
              <a:t>     width</a:t>
            </a:r>
            <a:r>
              <a:rPr lang="en-GB" sz="2200" dirty="0"/>
              <a:t>: 200px; </a:t>
            </a:r>
            <a:r>
              <a:rPr lang="en-GB" sz="2200" dirty="0" smtClean="0"/>
              <a:t>		/* </a:t>
            </a:r>
            <a:r>
              <a:rPr lang="en-GB" sz="2200" dirty="0"/>
              <a:t>No Effect on Element */ } </a:t>
            </a:r>
            <a:endParaRPr lang="en-GB" sz="2200" dirty="0" smtClean="0"/>
          </a:p>
          <a:p>
            <a:pPr marL="457200" lvl="1" indent="0">
              <a:spcBef>
                <a:spcPts val="0"/>
              </a:spcBef>
              <a:buNone/>
            </a:pPr>
            <a:r>
              <a:rPr lang="en-GB" sz="2200" dirty="0" smtClean="0"/>
              <a:t>&lt;/</a:t>
            </a:r>
            <a:r>
              <a:rPr lang="en-GB" sz="2200" dirty="0"/>
              <a:t>style</a:t>
            </a:r>
            <a:r>
              <a:rPr lang="en-GB" sz="2200" dirty="0" smtClean="0"/>
              <a:t>&gt;</a:t>
            </a:r>
          </a:p>
          <a:p>
            <a:pPr marL="457200" lvl="1" indent="0">
              <a:spcBef>
                <a:spcPts val="0"/>
              </a:spcBef>
              <a:buNone/>
            </a:pPr>
            <a:endParaRPr lang="en-GB" sz="2000" dirty="0" smtClean="0"/>
          </a:p>
          <a:p>
            <a:pPr>
              <a:spcBef>
                <a:spcPts val="0"/>
              </a:spcBef>
            </a:pPr>
            <a:r>
              <a:rPr lang="en-US" dirty="0"/>
              <a:t>Inline elements also do not have top and bottom margins, they only respect left and right margin</a:t>
            </a:r>
            <a:r>
              <a:rPr lang="en-US" dirty="0" smtClean="0"/>
              <a:t>.</a:t>
            </a:r>
            <a:endParaRPr lang="en-US" dirty="0"/>
          </a:p>
          <a:p>
            <a:pPr marL="457200" lvl="1" indent="0">
              <a:spcBef>
                <a:spcPts val="0"/>
              </a:spcBef>
              <a:buNone/>
            </a:pPr>
            <a:r>
              <a:rPr lang="en-GB" sz="2200" dirty="0"/>
              <a:t>&lt;div&gt;&lt;span&gt;1&lt;/span&gt;&lt;span&gt;2&lt;/span&gt;&lt;/div&gt;</a:t>
            </a:r>
          </a:p>
          <a:p>
            <a:pPr marL="457200" lvl="1" indent="0">
              <a:spcBef>
                <a:spcPts val="0"/>
              </a:spcBef>
              <a:buNone/>
            </a:pPr>
            <a:r>
              <a:rPr lang="en-GB" sz="2200" dirty="0"/>
              <a:t>  &lt;div&gt;&lt;span&gt;3&lt;/span&gt;&lt;span&gt;4&lt;/span&gt;&lt;/div&gt;</a:t>
            </a:r>
          </a:p>
          <a:p>
            <a:pPr marL="457200" lvl="1" indent="0">
              <a:spcBef>
                <a:spcPts val="0"/>
              </a:spcBef>
              <a:buNone/>
            </a:pPr>
            <a:r>
              <a:rPr lang="en-GB" sz="2200" dirty="0"/>
              <a:t>  &lt;style&gt;</a:t>
            </a:r>
          </a:p>
          <a:p>
            <a:pPr marL="457200" lvl="1" indent="0">
              <a:spcBef>
                <a:spcPts val="0"/>
              </a:spcBef>
              <a:buNone/>
            </a:pPr>
            <a:r>
              <a:rPr lang="en-GB" sz="2200" dirty="0"/>
              <a:t>    span {</a:t>
            </a:r>
          </a:p>
          <a:p>
            <a:pPr marL="457200" lvl="1" indent="0">
              <a:spcBef>
                <a:spcPts val="0"/>
              </a:spcBef>
              <a:buNone/>
            </a:pPr>
            <a:r>
              <a:rPr lang="en-GB" sz="2200" dirty="0"/>
              <a:t>      margin-top: 10px;</a:t>
            </a:r>
          </a:p>
          <a:p>
            <a:pPr marL="457200" lvl="1" indent="0">
              <a:spcBef>
                <a:spcPts val="0"/>
              </a:spcBef>
              <a:buNone/>
            </a:pPr>
            <a:r>
              <a:rPr lang="en-GB" sz="2200" dirty="0"/>
              <a:t>      margin-bottom: 10px;</a:t>
            </a:r>
          </a:p>
          <a:p>
            <a:pPr marL="457200" lvl="1" indent="0">
              <a:spcBef>
                <a:spcPts val="0"/>
              </a:spcBef>
              <a:buNone/>
            </a:pPr>
            <a:r>
              <a:rPr lang="en-GB" sz="2200" dirty="0"/>
              <a:t>      margin-left: 10px;</a:t>
            </a:r>
          </a:p>
          <a:p>
            <a:pPr marL="457200" lvl="1" indent="0">
              <a:spcBef>
                <a:spcPts val="0"/>
              </a:spcBef>
              <a:buNone/>
            </a:pPr>
            <a:r>
              <a:rPr lang="en-GB" sz="2200" dirty="0"/>
              <a:t>      margin-right: 10px;</a:t>
            </a:r>
          </a:p>
          <a:p>
            <a:pPr marL="457200" lvl="1" indent="0">
              <a:spcBef>
                <a:spcPts val="0"/>
              </a:spcBef>
              <a:buNone/>
            </a:pPr>
            <a:r>
              <a:rPr lang="en-GB" sz="2200" dirty="0"/>
              <a:t>      border: 1px solid black;</a:t>
            </a:r>
          </a:p>
          <a:p>
            <a:pPr marL="457200" lvl="1" indent="0">
              <a:spcBef>
                <a:spcPts val="0"/>
              </a:spcBef>
              <a:buNone/>
            </a:pPr>
            <a:r>
              <a:rPr lang="en-GB" sz="2200" dirty="0"/>
              <a:t>    }</a:t>
            </a:r>
          </a:p>
          <a:p>
            <a:pPr marL="457200" lvl="1" indent="0">
              <a:spcBef>
                <a:spcPts val="0"/>
              </a:spcBef>
              <a:buNone/>
            </a:pPr>
            <a:r>
              <a:rPr lang="en-GB" sz="2200" dirty="0"/>
              <a:t>  &lt;/style&gt;</a:t>
            </a:r>
          </a:p>
        </p:txBody>
      </p:sp>
    </p:spTree>
    <p:extLst>
      <p:ext uri="{BB962C8B-B14F-4D97-AF65-F5344CB8AC3E}">
        <p14:creationId xmlns:p14="http://schemas.microsoft.com/office/powerpoint/2010/main" val="3357656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Inline &amp; Block Elements</a:t>
            </a:r>
            <a:endParaRPr lang="en-GB" dirty="0"/>
          </a:p>
        </p:txBody>
      </p:sp>
      <p:sp>
        <p:nvSpPr>
          <p:cNvPr id="3" name="Content Placeholder 2"/>
          <p:cNvSpPr>
            <a:spLocks noGrp="1"/>
          </p:cNvSpPr>
          <p:nvPr>
            <p:ph idx="1"/>
          </p:nvPr>
        </p:nvSpPr>
        <p:spPr/>
        <p:txBody>
          <a:bodyPr>
            <a:normAutofit/>
          </a:bodyPr>
          <a:lstStyle/>
          <a:p>
            <a:r>
              <a:rPr lang="en-US" dirty="0"/>
              <a:t>Inline elements respect padding in all directions.</a:t>
            </a:r>
          </a:p>
          <a:p>
            <a:r>
              <a:rPr lang="en-US" dirty="0"/>
              <a:t>Block elements respect height and width properties. We can change both height and width of block elements using CSS</a:t>
            </a:r>
            <a:r>
              <a:rPr lang="en-US" dirty="0" smtClean="0"/>
              <a:t>.</a:t>
            </a:r>
          </a:p>
          <a:p>
            <a:r>
              <a:rPr lang="en-US" dirty="0"/>
              <a:t>Block elements take up the whole width of the parent container even if we set their width to a smaller size. Hence we cannot have a block element with another element in the same line without CSS. For example</a:t>
            </a:r>
            <a:r>
              <a:rPr lang="en-US" dirty="0" smtClean="0"/>
              <a:t>,</a:t>
            </a:r>
          </a:p>
          <a:p>
            <a:pPr marL="914400" lvl="2" indent="0">
              <a:buNone/>
            </a:pPr>
            <a:r>
              <a:rPr lang="en-GB" sz="2200" dirty="0"/>
              <a:t>&lt;p style="width: 20px; border: 1px solid </a:t>
            </a:r>
            <a:r>
              <a:rPr lang="en-GB" sz="2200" dirty="0" err="1"/>
              <a:t>black;background-color</a:t>
            </a:r>
            <a:r>
              <a:rPr lang="en-GB" sz="2200" dirty="0"/>
              <a:t>: </a:t>
            </a:r>
            <a:r>
              <a:rPr lang="en-GB" sz="2200" dirty="0" err="1"/>
              <a:t>lightblue</a:t>
            </a:r>
            <a:r>
              <a:rPr lang="en-GB" sz="2200" dirty="0"/>
              <a:t>"&gt;1&lt;/p</a:t>
            </a:r>
            <a:r>
              <a:rPr lang="en-GB" sz="2200" dirty="0" smtClean="0"/>
              <a:t>&gt;</a:t>
            </a:r>
          </a:p>
          <a:p>
            <a:pPr marL="914400" lvl="2" indent="0">
              <a:buNone/>
            </a:pPr>
            <a:r>
              <a:rPr lang="en-GB" sz="2200" dirty="0" smtClean="0"/>
              <a:t>&lt;</a:t>
            </a:r>
            <a:r>
              <a:rPr lang="en-GB" sz="2200" dirty="0"/>
              <a:t>p style="width: 20px; border: 1px solid black; background-</a:t>
            </a:r>
            <a:r>
              <a:rPr lang="en-GB" sz="2200" dirty="0" err="1"/>
              <a:t>color</a:t>
            </a:r>
            <a:r>
              <a:rPr lang="en-GB" sz="2200" dirty="0"/>
              <a:t>: </a:t>
            </a:r>
            <a:r>
              <a:rPr lang="en-GB" sz="2200" dirty="0" err="1"/>
              <a:t>lightblue</a:t>
            </a:r>
            <a:r>
              <a:rPr lang="en-GB" sz="2200" dirty="0"/>
              <a:t>"&gt;2&lt;/p&gt;</a:t>
            </a:r>
          </a:p>
          <a:p>
            <a:pPr marL="0" indent="0">
              <a:buNone/>
            </a:pP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10328845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HTML Layout</a:t>
            </a:r>
            <a:endParaRPr lang="en-GB" dirty="0"/>
          </a:p>
        </p:txBody>
      </p:sp>
      <p:sp>
        <p:nvSpPr>
          <p:cNvPr id="3" name="Content Placeholder 2"/>
          <p:cNvSpPr>
            <a:spLocks noGrp="1"/>
          </p:cNvSpPr>
          <p:nvPr>
            <p:ph idx="1"/>
          </p:nvPr>
        </p:nvSpPr>
        <p:spPr>
          <a:xfrm>
            <a:off x="838200" y="1477108"/>
            <a:ext cx="10515600" cy="5181600"/>
          </a:xfrm>
        </p:spPr>
        <p:txBody>
          <a:bodyPr>
            <a:normAutofit fontScale="92500" lnSpcReduction="20000"/>
          </a:bodyPr>
          <a:lstStyle/>
          <a:p>
            <a:pPr marL="0" indent="0">
              <a:buNone/>
            </a:pPr>
            <a:r>
              <a:rPr lang="en-US" dirty="0" smtClean="0"/>
              <a:t>Layout decide the structure for visual elements of an page. Here we discuss elements used for different parts of a webpage.</a:t>
            </a:r>
          </a:p>
          <a:p>
            <a:r>
              <a:rPr lang="en-US" b="1" dirty="0"/>
              <a:t>&lt;header&gt;:</a:t>
            </a:r>
            <a:r>
              <a:rPr lang="en-US" dirty="0"/>
              <a:t> It is used to define a header for a document or a section</a:t>
            </a:r>
            <a:r>
              <a:rPr lang="en-US" dirty="0" smtClean="0"/>
              <a:t>. </a:t>
            </a:r>
            <a:endParaRPr lang="en-US" dirty="0"/>
          </a:p>
          <a:p>
            <a:r>
              <a:rPr lang="en-US" b="1" dirty="0"/>
              <a:t>&lt;</a:t>
            </a:r>
            <a:r>
              <a:rPr lang="en-US" b="1" dirty="0" err="1"/>
              <a:t>nav</a:t>
            </a:r>
            <a:r>
              <a:rPr lang="en-US" b="1" dirty="0"/>
              <a:t>&gt;:</a:t>
            </a:r>
            <a:r>
              <a:rPr lang="en-US" dirty="0"/>
              <a:t> It is used to define a container for navigation links</a:t>
            </a:r>
          </a:p>
          <a:p>
            <a:r>
              <a:rPr lang="en-US" b="1" dirty="0"/>
              <a:t>&lt;section</a:t>
            </a:r>
            <a:r>
              <a:rPr lang="en-US" b="1" dirty="0" smtClean="0"/>
              <a:t>&gt;:</a:t>
            </a:r>
            <a:r>
              <a:rPr lang="en-US" dirty="0" smtClean="0"/>
              <a:t> </a:t>
            </a:r>
            <a:r>
              <a:rPr lang="en-US" dirty="0"/>
              <a:t> </a:t>
            </a:r>
            <a:r>
              <a:rPr lang="en-US" dirty="0" smtClean="0"/>
              <a:t>It represent </a:t>
            </a:r>
            <a:r>
              <a:rPr lang="en-US" dirty="0"/>
              <a:t>a separate section of a web page which contains related element grouped together. It can contain: text, images, tables, videos, etc</a:t>
            </a:r>
            <a:r>
              <a:rPr lang="en-US" dirty="0" smtClean="0"/>
              <a:t>. </a:t>
            </a:r>
            <a:r>
              <a:rPr lang="en-US" dirty="0"/>
              <a:t>We can have a &lt;section&gt; inside a &lt;section&gt; tag.</a:t>
            </a:r>
          </a:p>
          <a:p>
            <a:r>
              <a:rPr lang="en-US" b="1" dirty="0"/>
              <a:t>&lt;article&gt;:</a:t>
            </a:r>
            <a:r>
              <a:rPr lang="en-US" dirty="0"/>
              <a:t> It is used to define an independent self-contained </a:t>
            </a:r>
            <a:r>
              <a:rPr lang="en-US" dirty="0" smtClean="0"/>
              <a:t>article </a:t>
            </a:r>
            <a:r>
              <a:rPr lang="en-US" dirty="0"/>
              <a:t>such as big story, huge article, etc.</a:t>
            </a:r>
          </a:p>
          <a:p>
            <a:r>
              <a:rPr lang="en-US" b="1" dirty="0"/>
              <a:t>&lt;aside&gt;:</a:t>
            </a:r>
            <a:r>
              <a:rPr lang="en-US" dirty="0"/>
              <a:t> It is used to define content aside from the content (like a sidebar</a:t>
            </a:r>
            <a:r>
              <a:rPr lang="en-US" dirty="0" smtClean="0"/>
              <a:t>). </a:t>
            </a:r>
            <a:r>
              <a:rPr lang="en-US" dirty="0"/>
              <a:t>The &lt;aside&gt; content must be related to the primary content.</a:t>
            </a:r>
          </a:p>
          <a:p>
            <a:r>
              <a:rPr lang="en-US" b="1" dirty="0"/>
              <a:t>&lt;footer&gt;:</a:t>
            </a:r>
            <a:r>
              <a:rPr lang="en-US" dirty="0"/>
              <a:t> It is used to define a footer for a document or a section</a:t>
            </a:r>
          </a:p>
          <a:p>
            <a:r>
              <a:rPr lang="en-US" b="1" dirty="0"/>
              <a:t>&lt;details&gt;:</a:t>
            </a:r>
            <a:r>
              <a:rPr lang="en-US" dirty="0"/>
              <a:t> It is used to define additional details</a:t>
            </a:r>
          </a:p>
          <a:p>
            <a:r>
              <a:rPr lang="en-US" b="1" dirty="0"/>
              <a:t>&lt;summary&gt;:</a:t>
            </a:r>
            <a:r>
              <a:rPr lang="en-US" dirty="0"/>
              <a:t> It is used to define a heading for the &lt;details&gt; element</a:t>
            </a:r>
          </a:p>
          <a:p>
            <a:pPr marL="0" indent="0">
              <a:buNone/>
            </a:pPr>
            <a:endParaRPr lang="en-GB" dirty="0"/>
          </a:p>
        </p:txBody>
      </p:sp>
    </p:spTree>
    <p:extLst>
      <p:ext uri="{BB962C8B-B14F-4D97-AF65-F5344CB8AC3E}">
        <p14:creationId xmlns:p14="http://schemas.microsoft.com/office/powerpoint/2010/main" val="33062535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Responsive Image</a:t>
            </a:r>
            <a:endParaRPr lang="en-GB" dirty="0"/>
          </a:p>
        </p:txBody>
      </p:sp>
      <p:sp>
        <p:nvSpPr>
          <p:cNvPr id="3" name="Content Placeholder 2"/>
          <p:cNvSpPr>
            <a:spLocks noGrp="1"/>
          </p:cNvSpPr>
          <p:nvPr>
            <p:ph idx="1"/>
          </p:nvPr>
        </p:nvSpPr>
        <p:spPr>
          <a:xfrm>
            <a:off x="597877" y="1606062"/>
            <a:ext cx="11043137" cy="5111261"/>
          </a:xfrm>
        </p:spPr>
        <p:txBody>
          <a:bodyPr>
            <a:normAutofit/>
          </a:bodyPr>
          <a:lstStyle/>
          <a:p>
            <a:pPr marL="0" indent="0">
              <a:buNone/>
            </a:pPr>
            <a:r>
              <a:rPr lang="en-US" dirty="0" smtClean="0"/>
              <a:t>To create the responsive page, width property should be 100%</a:t>
            </a:r>
          </a:p>
          <a:p>
            <a:pPr marL="914400" lvl="2" indent="0">
              <a:buNone/>
            </a:pPr>
            <a:r>
              <a:rPr lang="en-US" dirty="0"/>
              <a:t>&lt;</a:t>
            </a:r>
            <a:r>
              <a:rPr lang="en-US" dirty="0" err="1"/>
              <a:t>img</a:t>
            </a:r>
            <a:r>
              <a:rPr lang="en-US" dirty="0"/>
              <a:t> </a:t>
            </a:r>
            <a:r>
              <a:rPr lang="en-US" dirty="0" err="1"/>
              <a:t>src</a:t>
            </a:r>
            <a:r>
              <a:rPr lang="en-US" dirty="0"/>
              <a:t>="img_girl.jpg" </a:t>
            </a:r>
            <a:r>
              <a:rPr lang="en-US" b="1" dirty="0"/>
              <a:t>style="width:100%;"</a:t>
            </a:r>
            <a:r>
              <a:rPr lang="en-US" dirty="0"/>
              <a:t>&gt;</a:t>
            </a:r>
          </a:p>
          <a:p>
            <a:pPr marL="0" indent="0">
              <a:buNone/>
            </a:pPr>
            <a:r>
              <a:rPr lang="en-US" dirty="0" smtClean="0"/>
              <a:t>This will create full screen image, possibly the </a:t>
            </a:r>
            <a:r>
              <a:rPr lang="en-US" dirty="0"/>
              <a:t>image can be scaled up to be larger than its original size. </a:t>
            </a:r>
            <a:r>
              <a:rPr lang="en-US" dirty="0" smtClean="0"/>
              <a:t>A better solution in many cases, use the max-width property.</a:t>
            </a:r>
          </a:p>
          <a:p>
            <a:pPr marL="914400" lvl="2" indent="0">
              <a:buNone/>
            </a:pPr>
            <a:r>
              <a:rPr lang="en-US" dirty="0"/>
              <a:t>&lt;</a:t>
            </a:r>
            <a:r>
              <a:rPr lang="en-US" dirty="0" err="1"/>
              <a:t>img</a:t>
            </a:r>
            <a:r>
              <a:rPr lang="en-US" dirty="0"/>
              <a:t> </a:t>
            </a:r>
            <a:r>
              <a:rPr lang="en-US" dirty="0" err="1"/>
              <a:t>src</a:t>
            </a:r>
            <a:r>
              <a:rPr lang="en-US" dirty="0"/>
              <a:t>="img_girl.jpg" style="</a:t>
            </a:r>
            <a:r>
              <a:rPr lang="en-US" b="1" dirty="0"/>
              <a:t>max-width:100%;</a:t>
            </a:r>
            <a:r>
              <a:rPr lang="en-US" dirty="0" err="1"/>
              <a:t>height:auto</a:t>
            </a:r>
            <a:r>
              <a:rPr lang="en-US" dirty="0"/>
              <a:t>;"&gt;</a:t>
            </a:r>
          </a:p>
          <a:p>
            <a:pPr marL="0" indent="0">
              <a:buNone/>
            </a:pPr>
            <a:r>
              <a:rPr lang="en-US" b="1" dirty="0" smtClean="0"/>
              <a:t>&lt;picture&gt;</a:t>
            </a:r>
            <a:r>
              <a:rPr lang="en-US" dirty="0" smtClean="0"/>
              <a:t> - </a:t>
            </a:r>
            <a:r>
              <a:rPr lang="en-US" dirty="0"/>
              <a:t>The &lt;picture&gt; element allows you to </a:t>
            </a:r>
            <a:r>
              <a:rPr lang="en-US" dirty="0" smtClean="0"/>
              <a:t>specify multiple &lt;source&gt; elements, </a:t>
            </a:r>
            <a:r>
              <a:rPr lang="en-US" dirty="0"/>
              <a:t>each of which can have its own media query</a:t>
            </a:r>
            <a:r>
              <a:rPr lang="en-US" dirty="0" smtClean="0"/>
              <a:t>.</a:t>
            </a:r>
          </a:p>
          <a:p>
            <a:pPr marL="914400" lvl="2" indent="0">
              <a:buNone/>
            </a:pPr>
            <a:r>
              <a:rPr lang="en-GB" dirty="0"/>
              <a:t>&lt;picture&gt;</a:t>
            </a:r>
          </a:p>
          <a:p>
            <a:pPr marL="914400" lvl="2" indent="0">
              <a:buNone/>
            </a:pPr>
            <a:r>
              <a:rPr lang="en-GB" dirty="0"/>
              <a:t>    &lt;source </a:t>
            </a:r>
            <a:r>
              <a:rPr lang="en-GB" dirty="0" err="1"/>
              <a:t>srcset</a:t>
            </a:r>
            <a:r>
              <a:rPr lang="en-GB" dirty="0"/>
              <a:t>="logo_small.png" media="(max-width: 400px)"&gt;</a:t>
            </a:r>
          </a:p>
          <a:p>
            <a:pPr marL="914400" lvl="2" indent="0">
              <a:buNone/>
            </a:pPr>
            <a:r>
              <a:rPr lang="en-GB" dirty="0"/>
              <a:t>    &lt;source </a:t>
            </a:r>
            <a:r>
              <a:rPr lang="en-GB" dirty="0" err="1"/>
              <a:t>srcset</a:t>
            </a:r>
            <a:r>
              <a:rPr lang="en-GB" dirty="0"/>
              <a:t>="logo_regular.png"&gt;</a:t>
            </a:r>
          </a:p>
          <a:p>
            <a:pPr marL="914400" lvl="2" indent="0">
              <a:buNone/>
            </a:pPr>
            <a:r>
              <a:rPr lang="en-GB" dirty="0"/>
              <a:t>    &lt;</a:t>
            </a:r>
            <a:r>
              <a:rPr lang="en-GB" dirty="0" err="1"/>
              <a:t>img</a:t>
            </a:r>
            <a:r>
              <a:rPr lang="en-GB" dirty="0"/>
              <a:t> </a:t>
            </a:r>
            <a:r>
              <a:rPr lang="en-GB" dirty="0" err="1"/>
              <a:t>src</a:t>
            </a:r>
            <a:r>
              <a:rPr lang="en-GB" dirty="0"/>
              <a:t>="logo_regular.png" alt="Logo"&gt;</a:t>
            </a:r>
          </a:p>
          <a:p>
            <a:pPr marL="914400" lvl="2" indent="0">
              <a:buNone/>
            </a:pPr>
            <a:r>
              <a:rPr lang="en-GB" dirty="0"/>
              <a:t>&lt;/picture</a:t>
            </a:r>
            <a:r>
              <a:rPr lang="en-GB" dirty="0" smtClean="0"/>
              <a:t>&gt;</a:t>
            </a:r>
            <a:endParaRPr lang="en-US" dirty="0"/>
          </a:p>
        </p:txBody>
      </p:sp>
    </p:spTree>
    <p:extLst>
      <p:ext uri="{BB962C8B-B14F-4D97-AF65-F5344CB8AC3E}">
        <p14:creationId xmlns:p14="http://schemas.microsoft.com/office/powerpoint/2010/main" val="17291949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Responsive Text</a:t>
            </a:r>
            <a:endParaRPr lang="en-GB" dirty="0"/>
          </a:p>
        </p:txBody>
      </p:sp>
      <p:sp>
        <p:nvSpPr>
          <p:cNvPr id="3" name="Content Placeholder 2"/>
          <p:cNvSpPr>
            <a:spLocks noGrp="1"/>
          </p:cNvSpPr>
          <p:nvPr>
            <p:ph idx="1"/>
          </p:nvPr>
        </p:nvSpPr>
        <p:spPr/>
        <p:txBody>
          <a:bodyPr/>
          <a:lstStyle/>
          <a:p>
            <a:pPr marL="0" indent="0">
              <a:buNone/>
            </a:pPr>
            <a:r>
              <a:rPr lang="en-US" dirty="0" smtClean="0"/>
              <a:t>To create a responsive text, we use “</a:t>
            </a:r>
            <a:r>
              <a:rPr lang="en-US" dirty="0" err="1" smtClean="0"/>
              <a:t>vw</a:t>
            </a:r>
            <a:r>
              <a:rPr lang="en-US" dirty="0" smtClean="0"/>
              <a:t>” unit for this purpose. </a:t>
            </a:r>
          </a:p>
          <a:p>
            <a:r>
              <a:rPr lang="en-US" dirty="0"/>
              <a:t>&lt;h1 style="font-size:10vw"&gt;Hi everyone!&lt;/h1</a:t>
            </a:r>
            <a:r>
              <a:rPr lang="en-US" dirty="0" smtClean="0"/>
              <a:t>&gt;</a:t>
            </a:r>
          </a:p>
          <a:p>
            <a:pPr marL="0" indent="0">
              <a:buNone/>
            </a:pPr>
            <a:r>
              <a:rPr lang="en-US" dirty="0" smtClean="0"/>
              <a:t>10vw stands for 10% of the viewport’s width regardless of the device size. </a:t>
            </a:r>
            <a:endParaRPr lang="en-US" dirty="0"/>
          </a:p>
          <a:p>
            <a:pPr marL="0" indent="0">
              <a:buNone/>
            </a:pP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418607872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Media Queries</a:t>
            </a:r>
            <a:endParaRPr lang="en-GB" dirty="0"/>
          </a:p>
        </p:txBody>
      </p:sp>
      <p:sp>
        <p:nvSpPr>
          <p:cNvPr id="3" name="Content Placeholder 2"/>
          <p:cNvSpPr>
            <a:spLocks noGrp="1"/>
          </p:cNvSpPr>
          <p:nvPr>
            <p:ph idx="1"/>
          </p:nvPr>
        </p:nvSpPr>
        <p:spPr>
          <a:xfrm>
            <a:off x="838200" y="1825625"/>
            <a:ext cx="10515600" cy="800344"/>
          </a:xfrm>
        </p:spPr>
        <p:txBody>
          <a:bodyPr>
            <a:normAutofit lnSpcReduction="10000"/>
          </a:bodyPr>
          <a:lstStyle/>
          <a:p>
            <a:pPr marL="0" indent="0">
              <a:buNone/>
            </a:pPr>
            <a:r>
              <a:rPr lang="en-US" dirty="0"/>
              <a:t>Media query is a CSS technique that defines completely different styles for different browser sizes</a:t>
            </a:r>
            <a:r>
              <a:rPr lang="en-US" dirty="0" smtClean="0"/>
              <a:t>. </a:t>
            </a:r>
            <a:endParaRPr lang="en-GB" dirty="0"/>
          </a:p>
        </p:txBody>
      </p:sp>
      <p:sp>
        <p:nvSpPr>
          <p:cNvPr id="5" name="TextBox 4"/>
          <p:cNvSpPr txBox="1"/>
          <p:nvPr/>
        </p:nvSpPr>
        <p:spPr>
          <a:xfrm>
            <a:off x="961288" y="2801817"/>
            <a:ext cx="7371570" cy="1754326"/>
          </a:xfrm>
          <a:prstGeom prst="rect">
            <a:avLst/>
          </a:prstGeom>
          <a:noFill/>
        </p:spPr>
        <p:txBody>
          <a:bodyPr wrap="none" rtlCol="0">
            <a:spAutoFit/>
          </a:bodyPr>
          <a:lstStyle/>
          <a:p>
            <a:r>
              <a:rPr lang="en-US" dirty="0"/>
              <a:t>/* Use a media query to add a break point at 800px: */</a:t>
            </a:r>
          </a:p>
          <a:p>
            <a:r>
              <a:rPr lang="en-US" dirty="0"/>
              <a:t>@media screen and (max-width: 800px) {</a:t>
            </a:r>
          </a:p>
          <a:p>
            <a:r>
              <a:rPr lang="en-US" dirty="0"/>
              <a:t>  .left, .main, .right {</a:t>
            </a:r>
          </a:p>
          <a:p>
            <a:r>
              <a:rPr lang="en-US" dirty="0"/>
              <a:t>    width: 30%; /* The width is 30%, when the viewport is 800px or smaller */</a:t>
            </a:r>
          </a:p>
          <a:p>
            <a:r>
              <a:rPr lang="en-US" dirty="0"/>
              <a:t>  }</a:t>
            </a:r>
          </a:p>
          <a:p>
            <a:r>
              <a:rPr lang="en-US" dirty="0"/>
              <a:t>}</a:t>
            </a:r>
            <a:endParaRPr lang="en-GB"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1300" y="4427190"/>
            <a:ext cx="6105525"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175394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r>
              <a:rPr lang="en-US" b="1" dirty="0"/>
              <a:t>Using IDs and Classes in CSS</a:t>
            </a:r>
          </a:p>
          <a:p>
            <a:pPr marL="0" indent="0">
              <a:buNone/>
            </a:pPr>
            <a:r>
              <a:rPr lang="en-US" dirty="0"/>
              <a:t>In CSS, elements with IDs are selected using a hash (#) symbol before the ID, and elements with classes are selected using a dot (.) before the class name.</a:t>
            </a:r>
          </a:p>
          <a:p>
            <a:pPr marL="0" indent="0">
              <a:buNone/>
            </a:pPr>
            <a:r>
              <a:rPr lang="en-GB" dirty="0"/>
              <a:t>/* CSS for ID */ </a:t>
            </a:r>
            <a:endParaRPr lang="en-GB" dirty="0" smtClean="0"/>
          </a:p>
          <a:p>
            <a:pPr marL="0" indent="0">
              <a:buNone/>
            </a:pPr>
            <a:r>
              <a:rPr lang="en-GB" dirty="0" smtClean="0"/>
              <a:t>#</a:t>
            </a:r>
            <a:r>
              <a:rPr lang="en-GB" dirty="0" err="1"/>
              <a:t>myUniqueID</a:t>
            </a:r>
            <a:r>
              <a:rPr lang="en-GB" dirty="0"/>
              <a:t> { </a:t>
            </a:r>
            <a:r>
              <a:rPr lang="en-GB" dirty="0" smtClean="0"/>
              <a:t>background-</a:t>
            </a:r>
            <a:r>
              <a:rPr lang="en-GB" dirty="0" err="1" smtClean="0"/>
              <a:t>color</a:t>
            </a:r>
            <a:r>
              <a:rPr lang="en-GB" dirty="0"/>
              <a:t>: yellow; </a:t>
            </a:r>
            <a:r>
              <a:rPr lang="en-GB" dirty="0" smtClean="0"/>
              <a:t>} </a:t>
            </a:r>
          </a:p>
          <a:p>
            <a:pPr marL="0" indent="0">
              <a:buNone/>
            </a:pPr>
            <a:r>
              <a:rPr lang="en-GB" dirty="0" smtClean="0"/>
              <a:t>/* </a:t>
            </a:r>
            <a:r>
              <a:rPr lang="en-GB" dirty="0"/>
              <a:t>CSS for Class */ </a:t>
            </a:r>
            <a:endParaRPr lang="en-GB" dirty="0" smtClean="0"/>
          </a:p>
          <a:p>
            <a:pPr marL="0" indent="0">
              <a:buNone/>
            </a:pPr>
            <a:r>
              <a:rPr lang="en-GB" dirty="0" smtClean="0"/>
              <a:t>.</a:t>
            </a:r>
            <a:r>
              <a:rPr lang="en-GB" dirty="0" err="1"/>
              <a:t>myClass</a:t>
            </a:r>
            <a:r>
              <a:rPr lang="en-GB" dirty="0"/>
              <a:t> { font-size: 18px; }</a:t>
            </a:r>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340670317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HTML Styling</a:t>
            </a:r>
            <a:endParaRPr lang="en-GB" dirty="0"/>
          </a:p>
        </p:txBody>
      </p:sp>
      <p:sp>
        <p:nvSpPr>
          <p:cNvPr id="3" name="Content Placeholder 2"/>
          <p:cNvSpPr>
            <a:spLocks noGrp="1"/>
          </p:cNvSpPr>
          <p:nvPr>
            <p:ph idx="1"/>
          </p:nvPr>
        </p:nvSpPr>
        <p:spPr>
          <a:xfrm>
            <a:off x="838199" y="1825625"/>
            <a:ext cx="10791093" cy="4351338"/>
          </a:xfrm>
        </p:spPr>
        <p:txBody>
          <a:bodyPr>
            <a:normAutofit lnSpcReduction="10000"/>
          </a:bodyPr>
          <a:lstStyle/>
          <a:p>
            <a:pPr marL="0" indent="0" algn="just">
              <a:buNone/>
            </a:pPr>
            <a:r>
              <a:rPr lang="en-US" dirty="0"/>
              <a:t>HTML (Hypertext Markup Language) was responsible for both defining the structure and content of a web page and controlling its presentation and layout in limited manner. HTML styling is define within the HTML tags themselves. For example</a:t>
            </a:r>
          </a:p>
          <a:p>
            <a:pPr marL="0" indent="0">
              <a:buNone/>
            </a:pPr>
            <a:r>
              <a:rPr lang="en-US" b="1" dirty="0">
                <a:solidFill>
                  <a:srgbClr val="0070C0"/>
                </a:solidFill>
              </a:rPr>
              <a:t>&lt;font&gt; </a:t>
            </a:r>
            <a:r>
              <a:rPr lang="en-US" dirty="0"/>
              <a:t>tag is used to specify text color, size, and face directly within the HTML document.</a:t>
            </a:r>
          </a:p>
          <a:p>
            <a:pPr marL="457200" lvl="1" indent="0">
              <a:buNone/>
            </a:pPr>
            <a:r>
              <a:rPr lang="en-US" i="1" dirty="0">
                <a:solidFill>
                  <a:srgbClr val="0070C0"/>
                </a:solidFill>
              </a:rPr>
              <a:t>&lt;font color="blue" size="4" face="Arial"&gt;This is blue, size 4, Arial font.&lt;/font&gt; </a:t>
            </a:r>
          </a:p>
          <a:p>
            <a:pPr marL="0" indent="0">
              <a:buNone/>
            </a:pPr>
            <a:r>
              <a:rPr lang="en-US" dirty="0" smtClean="0">
                <a:solidFill>
                  <a:srgbClr val="0070C0"/>
                </a:solidFill>
              </a:rPr>
              <a:t>“align”</a:t>
            </a:r>
            <a:r>
              <a:rPr lang="en-US" dirty="0" smtClean="0"/>
              <a:t> </a:t>
            </a:r>
            <a:r>
              <a:rPr lang="en-US" dirty="0"/>
              <a:t>attribute is used to control the alignment of elements like images, tables, and text.</a:t>
            </a:r>
          </a:p>
          <a:p>
            <a:pPr marL="457200" lvl="1" indent="0">
              <a:buNone/>
            </a:pPr>
            <a:r>
              <a:rPr lang="en-US" i="1" dirty="0">
                <a:solidFill>
                  <a:srgbClr val="0070C0"/>
                </a:solidFill>
              </a:rPr>
              <a:t>&lt;p align="center"&gt;This paragraph is centered.&lt;/p&gt; </a:t>
            </a:r>
            <a:br>
              <a:rPr lang="en-US" i="1" dirty="0">
                <a:solidFill>
                  <a:srgbClr val="0070C0"/>
                </a:solidFill>
              </a:rPr>
            </a:br>
            <a:r>
              <a:rPr lang="en-US" i="1" dirty="0">
                <a:solidFill>
                  <a:srgbClr val="0070C0"/>
                </a:solidFill>
              </a:rPr>
              <a:t>&lt;</a:t>
            </a:r>
            <a:r>
              <a:rPr lang="en-US" i="1" dirty="0" err="1">
                <a:solidFill>
                  <a:srgbClr val="0070C0"/>
                </a:solidFill>
              </a:rPr>
              <a:t>img</a:t>
            </a:r>
            <a:r>
              <a:rPr lang="en-US" i="1" dirty="0">
                <a:solidFill>
                  <a:srgbClr val="0070C0"/>
                </a:solidFill>
              </a:rPr>
              <a:t> </a:t>
            </a:r>
            <a:r>
              <a:rPr lang="en-US" i="1" dirty="0" err="1">
                <a:solidFill>
                  <a:srgbClr val="0070C0"/>
                </a:solidFill>
              </a:rPr>
              <a:t>src</a:t>
            </a:r>
            <a:r>
              <a:rPr lang="en-US" i="1" dirty="0">
                <a:solidFill>
                  <a:srgbClr val="0070C0"/>
                </a:solidFill>
              </a:rPr>
              <a:t>="image.jpg" alt="An example image" align="left"&gt; </a:t>
            </a:r>
          </a:p>
          <a:p>
            <a:pPr marL="0" indent="0">
              <a:buNone/>
            </a:pP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79177503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Inline Styling</a:t>
            </a:r>
            <a:endParaRPr lang="en-GB" dirty="0"/>
          </a:p>
        </p:txBody>
      </p:sp>
      <p:sp>
        <p:nvSpPr>
          <p:cNvPr id="5" name="Content Placeholder 4"/>
          <p:cNvSpPr>
            <a:spLocks noGrp="1"/>
          </p:cNvSpPr>
          <p:nvPr>
            <p:ph idx="1"/>
          </p:nvPr>
        </p:nvSpPr>
        <p:spPr>
          <a:xfrm>
            <a:off x="838200" y="1570892"/>
            <a:ext cx="10515600" cy="4841631"/>
          </a:xfrm>
        </p:spPr>
        <p:txBody>
          <a:bodyPr>
            <a:normAutofit/>
          </a:bodyPr>
          <a:lstStyle/>
          <a:p>
            <a:pPr marL="0" indent="0" algn="just">
              <a:buNone/>
            </a:pPr>
            <a:r>
              <a:rPr lang="en-US" dirty="0"/>
              <a:t>Inline styles allow developers to apply styling directly within individual HTML elements, offering a quick and straightforward way to achieve a specific presentation for a particular element</a:t>
            </a:r>
            <a:r>
              <a:rPr lang="en-US" dirty="0" smtClean="0"/>
              <a:t>.</a:t>
            </a:r>
          </a:p>
          <a:p>
            <a:pPr marL="0" indent="0">
              <a:buNone/>
            </a:pPr>
            <a:r>
              <a:rPr lang="en-US" dirty="0" smtClean="0"/>
              <a:t>T</a:t>
            </a:r>
            <a:r>
              <a:rPr lang="en-US" dirty="0"/>
              <a:t>he syntax for inline styles involves using the style attribute within an HTML tag. </a:t>
            </a:r>
            <a:r>
              <a:rPr lang="en-US" dirty="0" smtClean="0"/>
              <a:t>Here are some examples</a:t>
            </a:r>
          </a:p>
          <a:p>
            <a:pPr lvl="1"/>
            <a:r>
              <a:rPr lang="en-US" i="1" dirty="0">
                <a:solidFill>
                  <a:srgbClr val="0070C0"/>
                </a:solidFill>
              </a:rPr>
              <a:t>&lt;p style="property: value;"&gt;This is a paragraph with an inline style.&lt;/p&gt; </a:t>
            </a:r>
          </a:p>
          <a:p>
            <a:pPr lvl="1"/>
            <a:r>
              <a:rPr lang="en-US" dirty="0">
                <a:solidFill>
                  <a:srgbClr val="0070C0"/>
                </a:solidFill>
              </a:rPr>
              <a:t>&lt;div style="background-color: #</a:t>
            </a:r>
            <a:r>
              <a:rPr lang="en-US" dirty="0" err="1">
                <a:solidFill>
                  <a:srgbClr val="0070C0"/>
                </a:solidFill>
              </a:rPr>
              <a:t>ffeecc</a:t>
            </a:r>
            <a:r>
              <a:rPr lang="en-US" dirty="0">
                <a:solidFill>
                  <a:srgbClr val="0070C0"/>
                </a:solidFill>
              </a:rPr>
              <a:t>;"&gt;This div has a custom background color.&lt;/div&gt; </a:t>
            </a:r>
          </a:p>
          <a:p>
            <a:pPr lvl="1"/>
            <a:r>
              <a:rPr lang="en-US" dirty="0">
                <a:solidFill>
                  <a:srgbClr val="0070C0"/>
                </a:solidFill>
              </a:rPr>
              <a:t>&lt;div style="border: 1px solid #333; padding: 10px;"&gt;This div has a border and padding.&lt;/div</a:t>
            </a:r>
            <a:r>
              <a:rPr lang="en-US" dirty="0" smtClean="0">
                <a:solidFill>
                  <a:srgbClr val="0070C0"/>
                </a:solidFill>
              </a:rPr>
              <a:t>&gt;</a:t>
            </a:r>
          </a:p>
          <a:p>
            <a:pPr lvl="1"/>
            <a:r>
              <a:rPr lang="en-US" dirty="0" smtClean="0">
                <a:solidFill>
                  <a:srgbClr val="0070C0"/>
                </a:solidFill>
              </a:rPr>
              <a:t>&lt;</a:t>
            </a:r>
            <a:r>
              <a:rPr lang="en-US" dirty="0">
                <a:solidFill>
                  <a:srgbClr val="0070C0"/>
                </a:solidFill>
              </a:rPr>
              <a:t>span style="font-family: 'Arial', sans-serif;"&gt;This text has a custom font family.&lt;/span&gt; </a:t>
            </a:r>
          </a:p>
        </p:txBody>
      </p:sp>
    </p:spTree>
    <p:extLst>
      <p:ext uri="{BB962C8B-B14F-4D97-AF65-F5344CB8AC3E}">
        <p14:creationId xmlns:p14="http://schemas.microsoft.com/office/powerpoint/2010/main" val="3948785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Pros and Cons of Inline </a:t>
            </a:r>
            <a:r>
              <a:rPr lang="en-US" b="1" dirty="0" smtClean="0"/>
              <a:t>Styles</a:t>
            </a:r>
            <a:endParaRPr lang="en-GB" dirty="0"/>
          </a:p>
        </p:txBody>
      </p:sp>
      <p:sp>
        <p:nvSpPr>
          <p:cNvPr id="3" name="Content Placeholder 2"/>
          <p:cNvSpPr>
            <a:spLocks noGrp="1"/>
          </p:cNvSpPr>
          <p:nvPr>
            <p:ph idx="1"/>
          </p:nvPr>
        </p:nvSpPr>
        <p:spPr/>
        <p:txBody>
          <a:bodyPr>
            <a:normAutofit/>
          </a:bodyPr>
          <a:lstStyle/>
          <a:p>
            <a:pPr marL="0" indent="0">
              <a:buNone/>
            </a:pPr>
            <a:r>
              <a:rPr lang="en-US" b="1" dirty="0" smtClean="0"/>
              <a:t>Pros:</a:t>
            </a:r>
          </a:p>
          <a:p>
            <a:pPr marL="0" indent="0">
              <a:buNone/>
            </a:pPr>
            <a:r>
              <a:rPr lang="en-US" dirty="0" smtClean="0"/>
              <a:t>Immediate Impact: </a:t>
            </a:r>
            <a:r>
              <a:rPr lang="en-US" dirty="0"/>
              <a:t>immediately visible in the </a:t>
            </a:r>
            <a:r>
              <a:rPr lang="en-US" dirty="0" smtClean="0"/>
              <a:t>browser</a:t>
            </a:r>
          </a:p>
          <a:p>
            <a:pPr marL="0" indent="0">
              <a:buNone/>
            </a:pPr>
            <a:r>
              <a:rPr lang="en-US" dirty="0" smtClean="0"/>
              <a:t>Specificity: </a:t>
            </a:r>
            <a:r>
              <a:rPr lang="en-US" dirty="0"/>
              <a:t>allowing </a:t>
            </a:r>
            <a:r>
              <a:rPr lang="en-US" dirty="0" smtClean="0"/>
              <a:t>to </a:t>
            </a:r>
            <a:r>
              <a:rPr lang="en-US" dirty="0"/>
              <a:t>override external or internal styles </a:t>
            </a:r>
            <a:endParaRPr lang="en-US" dirty="0" smtClean="0"/>
          </a:p>
          <a:p>
            <a:pPr marL="0" indent="0">
              <a:buNone/>
            </a:pPr>
            <a:r>
              <a:rPr lang="en-US" dirty="0" smtClean="0"/>
              <a:t>Local Scope: locally </a:t>
            </a:r>
            <a:r>
              <a:rPr lang="en-US" dirty="0"/>
              <a:t>to the specific </a:t>
            </a:r>
            <a:r>
              <a:rPr lang="en-US" dirty="0" smtClean="0"/>
              <a:t>element</a:t>
            </a:r>
          </a:p>
          <a:p>
            <a:pPr marL="0" indent="0">
              <a:buNone/>
            </a:pPr>
            <a:r>
              <a:rPr lang="en-US" b="1" dirty="0" smtClean="0"/>
              <a:t>Cons:</a:t>
            </a:r>
          </a:p>
          <a:p>
            <a:pPr marL="0" indent="0">
              <a:buNone/>
            </a:pPr>
            <a:r>
              <a:rPr lang="en-GB" dirty="0"/>
              <a:t>Limited Reusability</a:t>
            </a:r>
            <a:r>
              <a:rPr lang="en-GB" dirty="0" smtClean="0"/>
              <a:t>: </a:t>
            </a:r>
            <a:r>
              <a:rPr lang="en-US" dirty="0"/>
              <a:t>Styles are applied on a per-element </a:t>
            </a:r>
            <a:r>
              <a:rPr lang="en-US" dirty="0" smtClean="0"/>
              <a:t>basis.</a:t>
            </a:r>
          </a:p>
          <a:p>
            <a:pPr marL="0" indent="0">
              <a:buNone/>
            </a:pPr>
            <a:r>
              <a:rPr lang="en-GB" dirty="0"/>
              <a:t>Maintenance Challenges</a:t>
            </a:r>
            <a:r>
              <a:rPr lang="en-GB" dirty="0" smtClean="0"/>
              <a:t>: Individual </a:t>
            </a:r>
            <a:r>
              <a:rPr lang="en-GB" dirty="0"/>
              <a:t>Updates and modifications </a:t>
            </a:r>
            <a:r>
              <a:rPr lang="en-GB" dirty="0" smtClean="0"/>
              <a:t>require.</a:t>
            </a:r>
          </a:p>
          <a:p>
            <a:pPr marL="0" indent="0">
              <a:buNone/>
            </a:pPr>
            <a:r>
              <a:rPr lang="en-GB" dirty="0"/>
              <a:t>Less Readable HTML</a:t>
            </a:r>
            <a:r>
              <a:rPr lang="en-GB" dirty="0" smtClean="0"/>
              <a:t>: </a:t>
            </a:r>
            <a:r>
              <a:rPr lang="en-US" dirty="0"/>
              <a:t>C</a:t>
            </a:r>
            <a:r>
              <a:rPr lang="en-US" dirty="0" smtClean="0"/>
              <a:t>an </a:t>
            </a:r>
            <a:r>
              <a:rPr lang="en-US" dirty="0"/>
              <a:t>make the HTML code less </a:t>
            </a:r>
            <a:r>
              <a:rPr lang="en-US" dirty="0" smtClean="0"/>
              <a:t>readable.</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8587071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30211</TotalTime>
  <Words>4005</Words>
  <Application>Microsoft Office PowerPoint</Application>
  <PresentationFormat>Widescreen</PresentationFormat>
  <Paragraphs>726</Paragraphs>
  <Slides>70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Arial</vt:lpstr>
      <vt:lpstr>Calibri</vt:lpstr>
      <vt:lpstr>Calibri Light</vt:lpstr>
      <vt:lpstr>Lato</vt:lpstr>
      <vt:lpstr>Office Theme</vt:lpstr>
      <vt:lpstr>PowerPoint Presentation</vt:lpstr>
      <vt:lpstr>Introduction to HTML</vt:lpstr>
      <vt:lpstr>Introduction to HTML</vt:lpstr>
      <vt:lpstr>HTML Versions</vt:lpstr>
      <vt:lpstr>HTML Document Structure</vt:lpstr>
      <vt:lpstr>PowerPoint Presentation</vt:lpstr>
      <vt:lpstr>PowerPoint Presentation</vt:lpstr>
      <vt:lpstr>HTML Document Structure</vt:lpstr>
      <vt:lpstr>HTML Document Structure</vt:lpstr>
      <vt:lpstr>&lt;!DOCTYPE html&gt;</vt:lpstr>
      <vt:lpstr>HTML Root Element</vt:lpstr>
      <vt:lpstr>PowerPoint Presentation</vt:lpstr>
      <vt:lpstr>HTML Elements</vt:lpstr>
      <vt:lpstr>HTML Elements</vt:lpstr>
      <vt:lpstr>Elements General Attributes</vt:lpstr>
      <vt:lpstr>Element Special Attributes</vt:lpstr>
      <vt:lpstr>Conti..</vt:lpstr>
      <vt:lpstr>Global Attributes </vt:lpstr>
      <vt:lpstr>HTML Tags</vt:lpstr>
      <vt:lpstr>HTML Tags</vt:lpstr>
      <vt:lpstr>Text Tags</vt:lpstr>
      <vt:lpstr>HTML Tags</vt:lpstr>
      <vt:lpstr>Empty Tags (Elements)</vt:lpstr>
      <vt:lpstr>PowerPoint Presentation</vt:lpstr>
      <vt:lpstr>HTML Lists</vt:lpstr>
      <vt:lpstr>HTML Unorder-Lists Style attribute</vt:lpstr>
      <vt:lpstr>HTML Ordered-List Type attribute</vt:lpstr>
      <vt:lpstr>HTML Lists</vt:lpstr>
      <vt:lpstr>HTML Nested Lists</vt:lpstr>
      <vt:lpstr>HTML Table Tags</vt:lpstr>
      <vt:lpstr>HTML Tables</vt:lpstr>
      <vt:lpstr>Table Example</vt:lpstr>
      <vt:lpstr>Colspan &amp; NOWRAP attributes</vt:lpstr>
      <vt:lpstr>HTML Form Tags</vt:lpstr>
      <vt:lpstr>HTML Form Element</vt:lpstr>
      <vt:lpstr>HTML Form Element</vt:lpstr>
      <vt:lpstr>HTML Form Attributes</vt:lpstr>
      <vt:lpstr> Form  - &lt;input&gt; Tag</vt:lpstr>
      <vt:lpstr>Form - &lt;datalist&gt; Tag</vt:lpstr>
      <vt:lpstr>Form - &lt;select&gt; &amp; &lt;textarea&gt; Tags</vt:lpstr>
      <vt:lpstr>&lt;a&gt; Tag</vt:lpstr>
      <vt:lpstr>&lt;nav&gt; Tag</vt:lpstr>
      <vt:lpstr>HTML &lt;nav&gt; Layout</vt:lpstr>
      <vt:lpstr>&lt;header&gt; Tag</vt:lpstr>
      <vt:lpstr>&lt;figure&gt; Tag</vt:lpstr>
      <vt:lpstr>&lt;detail&gt; Tag</vt:lpstr>
      <vt:lpstr>&lt;mark&gt; &amp; &lt;dialog&gt;Tags</vt:lpstr>
      <vt:lpstr>&lt;section&gt; &amp; &lt;article&gt; Tags</vt:lpstr>
      <vt:lpstr>&lt;template&gt; Tag</vt:lpstr>
      <vt:lpstr>&lt;ifram&gt; Tag</vt:lpstr>
      <vt:lpstr>&lt;audio&gt; Tag</vt:lpstr>
      <vt:lpstr>HTML Canvas</vt:lpstr>
      <vt:lpstr>Semantic vs Non-Semantic Tags</vt:lpstr>
      <vt:lpstr>&lt;meta&gt; Tag</vt:lpstr>
      <vt:lpstr>&lt;base&gt; Tag</vt:lpstr>
      <vt:lpstr>Global Attributes</vt:lpstr>
      <vt:lpstr>Class Attribute</vt:lpstr>
      <vt:lpstr>ID Attribute</vt:lpstr>
      <vt:lpstr>HTML Events</vt:lpstr>
      <vt:lpstr>Inline &amp; Block-level Elements</vt:lpstr>
      <vt:lpstr>HTML Inline &amp; Block Elements</vt:lpstr>
      <vt:lpstr>HTML Inline &amp; Block Elements</vt:lpstr>
      <vt:lpstr>HTML Layout</vt:lpstr>
      <vt:lpstr>Responsive Image</vt:lpstr>
      <vt:lpstr>Responsive Text</vt:lpstr>
      <vt:lpstr>Media Queries</vt:lpstr>
      <vt:lpstr>PowerPoint Presentation</vt:lpstr>
      <vt:lpstr>HTML Styling</vt:lpstr>
      <vt:lpstr>Inline Styling</vt:lpstr>
      <vt:lpstr>Pros and Cons of Inline Styles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Designer</dc:creator>
  <cp:lastModifiedBy>Microsoft account</cp:lastModifiedBy>
  <cp:revision>380</cp:revision>
  <dcterms:created xsi:type="dcterms:W3CDTF">2022-04-06T09:07:20Z</dcterms:created>
  <dcterms:modified xsi:type="dcterms:W3CDTF">2025-02-21T10:40:15Z</dcterms:modified>
</cp:coreProperties>
</file>
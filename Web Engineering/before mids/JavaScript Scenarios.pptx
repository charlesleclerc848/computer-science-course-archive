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0" r:id="rId2"/>
    <p:sldId id="301" r:id="rId3"/>
    <p:sldId id="308" r:id="rId4"/>
    <p:sldId id="311" r:id="rId5"/>
    <p:sldId id="309" r:id="rId6"/>
    <p:sldId id="304" r:id="rId7"/>
    <p:sldId id="312" r:id="rId8"/>
    <p:sldId id="303" r:id="rId9"/>
    <p:sldId id="307" r:id="rId10"/>
    <p:sldId id="313" r:id="rId11"/>
    <p:sldId id="314" r:id="rId12"/>
    <p:sldId id="315" r:id="rId13"/>
    <p:sldId id="3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985E"/>
    <a:srgbClr val="029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FA061F-5945-4858-A547-239B8D0C13AD}" v="56" dt="2022-04-06T12:03:49.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81" d="100"/>
          <a:sy n="81" d="100"/>
        </p:scale>
        <p:origin x="-246" y="2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29D73-9A87-44BA-87AF-7C64578B240F}" type="datetimeFigureOut">
              <a:rPr lang="en-US" smtClean="0"/>
              <a:t>3/26/2025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56B15-0856-4121-AAB7-C8F0CBDE875A}" type="slidenum">
              <a:rPr lang="en-US" smtClean="0"/>
              <a:t>‹#›</a:t>
            </a:fld>
            <a:endParaRPr lang="en-US"/>
          </a:p>
        </p:txBody>
      </p:sp>
    </p:spTree>
    <p:extLst>
      <p:ext uri="{BB962C8B-B14F-4D97-AF65-F5344CB8AC3E}">
        <p14:creationId xmlns:p14="http://schemas.microsoft.com/office/powerpoint/2010/main" val="412580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B86AA8-458E-4A4F-AD13-B0B04124F6C3}" type="datetime1">
              <a:rPr lang="en-US" smtClean="0"/>
              <a:t>3/26/2025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7208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5E3EB9-6B3E-4CC0-A2CB-6B1ED04CBAE1}" type="datetime1">
              <a:rPr lang="en-US" smtClean="0"/>
              <a:t>3/26/2025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23877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E772BE-3B88-4448-9D14-22C5EB54937F}" type="datetime1">
              <a:rPr lang="en-US" smtClean="0"/>
              <a:t>3/26/2025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1745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100554-2FC9-4002-A79E-635AA29674D6}" type="datetime1">
              <a:rPr lang="en-US" smtClean="0"/>
              <a:t>3/26/2025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01785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A03513-869C-4A96-8299-A1139FD2C595}" type="datetime1">
              <a:rPr lang="en-US" smtClean="0"/>
              <a:t>3/26/2025</a:t>
            </a:fld>
            <a:endParaRPr lang="en-US"/>
          </a:p>
        </p:txBody>
      </p:sp>
      <p:sp>
        <p:nvSpPr>
          <p:cNvPr id="8" name="Footer Placeholder 7"/>
          <p:cNvSpPr>
            <a:spLocks noGrp="1"/>
          </p:cNvSpPr>
          <p:nvPr>
            <p:ph type="ftr" sz="quarter" idx="11"/>
          </p:nvPr>
        </p:nvSpPr>
        <p:spPr/>
        <p:txBody>
          <a:bodyPr/>
          <a:lstStyle/>
          <a:p>
            <a:r>
              <a:rPr lang="en-US" smtClean="0"/>
              <a:t>IT Industry-Academia Bridge Program</a:t>
            </a:r>
            <a:endParaRPr lang="en-US"/>
          </a:p>
        </p:txBody>
      </p:sp>
      <p:sp>
        <p:nvSpPr>
          <p:cNvPr id="9" name="Slide Number Placeholder 8"/>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74906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31D81E-083C-45EE-B807-4E79B9577858}" type="datetime1">
              <a:rPr lang="en-US" smtClean="0"/>
              <a:t>3/26/2025</a:t>
            </a:fld>
            <a:endParaRPr lang="en-US"/>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Slide Number Placeholder 4"/>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217094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81299-554B-48CC-965A-BF4495463D1B}" type="datetime1">
              <a:rPr lang="en-US" smtClean="0"/>
              <a:t>3/26/2025</a:t>
            </a:fld>
            <a:endParaRPr lang="en-US"/>
          </a:p>
        </p:txBody>
      </p:sp>
      <p:sp>
        <p:nvSpPr>
          <p:cNvPr id="3" name="Footer Placeholder 2"/>
          <p:cNvSpPr>
            <a:spLocks noGrp="1"/>
          </p:cNvSpPr>
          <p:nvPr>
            <p:ph type="ftr" sz="quarter" idx="11"/>
          </p:nvPr>
        </p:nvSpPr>
        <p:spPr/>
        <p:txBody>
          <a:bodyPr/>
          <a:lstStyle/>
          <a:p>
            <a:r>
              <a:rPr lang="en-US" smtClean="0"/>
              <a:t>IT Industry-Academia Bridge Program</a:t>
            </a:r>
            <a:endParaRPr lang="en-US"/>
          </a:p>
        </p:txBody>
      </p:sp>
      <p:sp>
        <p:nvSpPr>
          <p:cNvPr id="4" name="Slide Number Placeholder 3"/>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4059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580748-8DD1-475E-B624-BDEAED64B0BF}" type="datetime1">
              <a:rPr lang="en-US" smtClean="0"/>
              <a:t>3/26/2025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84759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595C81-ABA7-4EA6-9A2B-7847E819BF33}" type="datetime1">
              <a:rPr lang="en-US" smtClean="0"/>
              <a:t>3/26/2025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36296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92C7A2-8CE1-4A33-83B2-49624AB38BC9}" type="datetime1">
              <a:rPr lang="en-US" smtClean="0"/>
              <a:t>3/26/2025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270678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854C9B-22E6-44DE-9981-73455F6EBED3}" type="datetime1">
              <a:rPr lang="en-US" smtClean="0"/>
              <a:t>3/26/2025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75799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937246-9EE9-4ECB-8BB3-D1F347E5C363}" type="datetime1">
              <a:rPr lang="en-US" smtClean="0"/>
              <a:t>3/26/2025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 Industry-Academia Bridge Program</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6EE78D-3A55-4166-9906-926CAD5E0DCA}" type="slidenum">
              <a:rPr lang="en-US" smtClean="0"/>
              <a:t>‹#›</a:t>
            </a:fld>
            <a:endParaRPr lang="en-US"/>
          </a:p>
        </p:txBody>
      </p:sp>
    </p:spTree>
    <p:extLst>
      <p:ext uri="{BB962C8B-B14F-4D97-AF65-F5344CB8AC3E}">
        <p14:creationId xmlns:p14="http://schemas.microsoft.com/office/powerpoint/2010/main" val="1910015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739" y="2967648"/>
            <a:ext cx="10515600" cy="1325563"/>
          </a:xfrm>
        </p:spPr>
        <p:txBody>
          <a:bodyPr/>
          <a:lstStyle/>
          <a:p>
            <a:r>
              <a:rPr lang="en-US" dirty="0" smtClean="0"/>
              <a:t>Scenario-1</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279513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2738" y="1266092"/>
            <a:ext cx="10396308" cy="2308324"/>
          </a:xfrm>
          <a:prstGeom prst="rect">
            <a:avLst/>
          </a:prstGeom>
          <a:noFill/>
        </p:spPr>
        <p:txBody>
          <a:bodyPr wrap="none" rtlCol="0">
            <a:spAutoFit/>
          </a:bodyPr>
          <a:lstStyle/>
          <a:p>
            <a:r>
              <a:rPr lang="en-GB" dirty="0" err="1"/>
              <a:t>const</a:t>
            </a:r>
            <a:r>
              <a:rPr lang="en-GB" dirty="0"/>
              <a:t> customers = [</a:t>
            </a:r>
          </a:p>
          <a:p>
            <a:r>
              <a:rPr lang="en-GB" dirty="0"/>
              <a:t>    { </a:t>
            </a:r>
            <a:r>
              <a:rPr lang="en-GB" dirty="0" err="1"/>
              <a:t>customerId</a:t>
            </a:r>
            <a:r>
              <a:rPr lang="en-GB" dirty="0"/>
              <a:t>: "C001", name: "John Doe", </a:t>
            </a:r>
            <a:r>
              <a:rPr lang="en-GB" dirty="0" err="1"/>
              <a:t>roomId</a:t>
            </a:r>
            <a:r>
              <a:rPr lang="en-GB" dirty="0"/>
              <a:t>: "101", </a:t>
            </a:r>
            <a:r>
              <a:rPr lang="en-GB" dirty="0" err="1"/>
              <a:t>daysStayed</a:t>
            </a:r>
            <a:r>
              <a:rPr lang="en-GB" dirty="0"/>
              <a:t>: 3, </a:t>
            </a:r>
            <a:r>
              <a:rPr lang="en-GB" dirty="0" err="1"/>
              <a:t>isBookedInAdvance</a:t>
            </a:r>
            <a:r>
              <a:rPr lang="en-GB" dirty="0"/>
              <a:t>: true },</a:t>
            </a:r>
          </a:p>
          <a:p>
            <a:r>
              <a:rPr lang="en-GB" dirty="0"/>
              <a:t>    { </a:t>
            </a:r>
            <a:r>
              <a:rPr lang="en-GB" dirty="0" err="1"/>
              <a:t>customerId</a:t>
            </a:r>
            <a:r>
              <a:rPr lang="en-GB" dirty="0"/>
              <a:t>: "C002", name: "Jane Smith", </a:t>
            </a:r>
            <a:r>
              <a:rPr lang="en-GB" dirty="0" err="1"/>
              <a:t>roomId</a:t>
            </a:r>
            <a:r>
              <a:rPr lang="en-GB" dirty="0"/>
              <a:t>: "102", </a:t>
            </a:r>
            <a:r>
              <a:rPr lang="en-GB" dirty="0" err="1"/>
              <a:t>daysStayed</a:t>
            </a:r>
            <a:r>
              <a:rPr lang="en-GB" dirty="0"/>
              <a:t>: 2, </a:t>
            </a:r>
            <a:r>
              <a:rPr lang="en-GB" dirty="0" err="1"/>
              <a:t>isBookedInAdvance</a:t>
            </a:r>
            <a:r>
              <a:rPr lang="en-GB" dirty="0"/>
              <a:t>: false },</a:t>
            </a:r>
          </a:p>
          <a:p>
            <a:r>
              <a:rPr lang="en-GB" dirty="0"/>
              <a:t>    { </a:t>
            </a:r>
            <a:r>
              <a:rPr lang="en-GB" dirty="0" err="1"/>
              <a:t>customerId</a:t>
            </a:r>
            <a:r>
              <a:rPr lang="en-GB" dirty="0"/>
              <a:t>: "C003", name: "Bill Gates", </a:t>
            </a:r>
            <a:r>
              <a:rPr lang="en-GB" dirty="0" err="1"/>
              <a:t>roomId</a:t>
            </a:r>
            <a:r>
              <a:rPr lang="en-GB" dirty="0"/>
              <a:t>: "103", </a:t>
            </a:r>
            <a:r>
              <a:rPr lang="en-GB" dirty="0" err="1"/>
              <a:t>daysStayed</a:t>
            </a:r>
            <a:r>
              <a:rPr lang="en-GB" dirty="0"/>
              <a:t>: 5, </a:t>
            </a:r>
            <a:r>
              <a:rPr lang="en-GB" dirty="0" err="1"/>
              <a:t>isBookedInAdvance</a:t>
            </a:r>
            <a:r>
              <a:rPr lang="en-GB" dirty="0"/>
              <a:t>: true },</a:t>
            </a:r>
          </a:p>
          <a:p>
            <a:r>
              <a:rPr lang="en-GB" dirty="0"/>
              <a:t>    { </a:t>
            </a:r>
            <a:r>
              <a:rPr lang="en-GB" dirty="0" err="1"/>
              <a:t>customerId</a:t>
            </a:r>
            <a:r>
              <a:rPr lang="en-GB" dirty="0"/>
              <a:t>: "C004", name: "</a:t>
            </a:r>
            <a:r>
              <a:rPr lang="en-GB" dirty="0" err="1"/>
              <a:t>Elon</a:t>
            </a:r>
            <a:r>
              <a:rPr lang="en-GB" dirty="0"/>
              <a:t> Musk", </a:t>
            </a:r>
            <a:r>
              <a:rPr lang="en-GB" dirty="0" err="1"/>
              <a:t>roomId</a:t>
            </a:r>
            <a:r>
              <a:rPr lang="en-GB" dirty="0"/>
              <a:t>: "104", </a:t>
            </a:r>
            <a:r>
              <a:rPr lang="en-GB" dirty="0" err="1"/>
              <a:t>daysStayed</a:t>
            </a:r>
            <a:r>
              <a:rPr lang="en-GB" dirty="0"/>
              <a:t>: 4, </a:t>
            </a:r>
            <a:r>
              <a:rPr lang="en-GB" dirty="0" err="1"/>
              <a:t>isBookedInAdvance</a:t>
            </a:r>
            <a:r>
              <a:rPr lang="en-GB" dirty="0"/>
              <a:t>: true },</a:t>
            </a:r>
          </a:p>
          <a:p>
            <a:r>
              <a:rPr lang="en-GB" dirty="0"/>
              <a:t>    { </a:t>
            </a:r>
            <a:r>
              <a:rPr lang="en-GB" dirty="0" err="1"/>
              <a:t>customerId</a:t>
            </a:r>
            <a:r>
              <a:rPr lang="en-GB" dirty="0"/>
              <a:t>: "C005", name: "Mark </a:t>
            </a:r>
            <a:r>
              <a:rPr lang="en-GB" dirty="0" err="1"/>
              <a:t>Zuckerberg</a:t>
            </a:r>
            <a:r>
              <a:rPr lang="en-GB" dirty="0"/>
              <a:t>", </a:t>
            </a:r>
            <a:r>
              <a:rPr lang="en-GB" dirty="0" err="1"/>
              <a:t>roomId</a:t>
            </a:r>
            <a:r>
              <a:rPr lang="en-GB" dirty="0"/>
              <a:t>: "105", </a:t>
            </a:r>
            <a:r>
              <a:rPr lang="en-GB" dirty="0" err="1"/>
              <a:t>daysStayed</a:t>
            </a:r>
            <a:r>
              <a:rPr lang="en-GB" dirty="0"/>
              <a:t>: 3, </a:t>
            </a:r>
            <a:r>
              <a:rPr lang="en-GB" dirty="0" err="1"/>
              <a:t>isBookedInAdvance</a:t>
            </a:r>
            <a:r>
              <a:rPr lang="en-GB" dirty="0"/>
              <a:t>: false },</a:t>
            </a:r>
          </a:p>
          <a:p>
            <a:r>
              <a:rPr lang="en-GB" dirty="0"/>
              <a:t>    { </a:t>
            </a:r>
            <a:r>
              <a:rPr lang="en-GB" dirty="0" err="1"/>
              <a:t>customerId</a:t>
            </a:r>
            <a:r>
              <a:rPr lang="en-GB" dirty="0"/>
              <a:t>: "C006", name: "</a:t>
            </a:r>
            <a:r>
              <a:rPr lang="en-GB" dirty="0" err="1"/>
              <a:t>Sundar</a:t>
            </a:r>
            <a:r>
              <a:rPr lang="en-GB" dirty="0"/>
              <a:t> </a:t>
            </a:r>
            <a:r>
              <a:rPr lang="en-GB" dirty="0" err="1"/>
              <a:t>Pichai</a:t>
            </a:r>
            <a:r>
              <a:rPr lang="en-GB" dirty="0"/>
              <a:t>", </a:t>
            </a:r>
            <a:r>
              <a:rPr lang="en-GB" dirty="0" err="1"/>
              <a:t>roomId</a:t>
            </a:r>
            <a:r>
              <a:rPr lang="en-GB" dirty="0"/>
              <a:t>: "106", </a:t>
            </a:r>
            <a:r>
              <a:rPr lang="en-GB" dirty="0" err="1"/>
              <a:t>daysStayed</a:t>
            </a:r>
            <a:r>
              <a:rPr lang="en-GB" dirty="0"/>
              <a:t>: 2, </a:t>
            </a:r>
            <a:r>
              <a:rPr lang="en-GB" dirty="0" err="1"/>
              <a:t>isBookedInAdvance</a:t>
            </a:r>
            <a:r>
              <a:rPr lang="en-GB" dirty="0"/>
              <a:t>: false }</a:t>
            </a:r>
          </a:p>
          <a:p>
            <a:r>
              <a:rPr lang="en-GB" dirty="0" smtClean="0"/>
              <a:t>];</a:t>
            </a:r>
            <a:endParaRPr lang="en-GB" dirty="0"/>
          </a:p>
        </p:txBody>
      </p:sp>
      <p:sp>
        <p:nvSpPr>
          <p:cNvPr id="6" name="TextBox 5"/>
          <p:cNvSpPr txBox="1"/>
          <p:nvPr/>
        </p:nvSpPr>
        <p:spPr>
          <a:xfrm>
            <a:off x="276535" y="3849524"/>
            <a:ext cx="5144357" cy="2308324"/>
          </a:xfrm>
          <a:prstGeom prst="rect">
            <a:avLst/>
          </a:prstGeom>
          <a:noFill/>
        </p:spPr>
        <p:txBody>
          <a:bodyPr wrap="none" rtlCol="0">
            <a:spAutoFit/>
          </a:bodyPr>
          <a:lstStyle/>
          <a:p>
            <a:r>
              <a:rPr lang="en-GB" dirty="0" err="1"/>
              <a:t>const</a:t>
            </a:r>
            <a:r>
              <a:rPr lang="en-GB" dirty="0"/>
              <a:t> rooms = [</a:t>
            </a:r>
          </a:p>
          <a:p>
            <a:r>
              <a:rPr lang="en-GB" dirty="0"/>
              <a:t>    { </a:t>
            </a:r>
            <a:r>
              <a:rPr lang="en-GB" dirty="0" err="1"/>
              <a:t>roomId</a:t>
            </a:r>
            <a:r>
              <a:rPr lang="en-GB" dirty="0"/>
              <a:t>: "101", </a:t>
            </a:r>
            <a:r>
              <a:rPr lang="en-GB" dirty="0" err="1"/>
              <a:t>roomType</a:t>
            </a:r>
            <a:r>
              <a:rPr lang="en-GB" dirty="0"/>
              <a:t>: "Single", rate: 1000 },</a:t>
            </a:r>
          </a:p>
          <a:p>
            <a:r>
              <a:rPr lang="en-GB" dirty="0"/>
              <a:t>    { </a:t>
            </a:r>
            <a:r>
              <a:rPr lang="en-GB" dirty="0" err="1"/>
              <a:t>roomId</a:t>
            </a:r>
            <a:r>
              <a:rPr lang="en-GB" dirty="0"/>
              <a:t>: "102", </a:t>
            </a:r>
            <a:r>
              <a:rPr lang="en-GB" dirty="0" err="1"/>
              <a:t>roomType</a:t>
            </a:r>
            <a:r>
              <a:rPr lang="en-GB" dirty="0"/>
              <a:t>: "Double", rate: 2000 },</a:t>
            </a:r>
          </a:p>
          <a:p>
            <a:r>
              <a:rPr lang="en-GB" dirty="0"/>
              <a:t>    { </a:t>
            </a:r>
            <a:r>
              <a:rPr lang="en-GB" dirty="0" err="1"/>
              <a:t>roomId</a:t>
            </a:r>
            <a:r>
              <a:rPr lang="en-GB" dirty="0"/>
              <a:t>: "103", </a:t>
            </a:r>
            <a:r>
              <a:rPr lang="en-GB" dirty="0" err="1"/>
              <a:t>roomType</a:t>
            </a:r>
            <a:r>
              <a:rPr lang="en-GB" dirty="0"/>
              <a:t>: "Suite", rate: 3000 },</a:t>
            </a:r>
          </a:p>
          <a:p>
            <a:r>
              <a:rPr lang="en-GB" dirty="0"/>
              <a:t>    { </a:t>
            </a:r>
            <a:r>
              <a:rPr lang="en-GB" dirty="0" err="1"/>
              <a:t>roomId</a:t>
            </a:r>
            <a:r>
              <a:rPr lang="en-GB" dirty="0"/>
              <a:t>: "104", </a:t>
            </a:r>
            <a:r>
              <a:rPr lang="en-GB" dirty="0" err="1"/>
              <a:t>roomType</a:t>
            </a:r>
            <a:r>
              <a:rPr lang="en-GB" dirty="0"/>
              <a:t>: "Single", rate: 1100 },</a:t>
            </a:r>
          </a:p>
          <a:p>
            <a:r>
              <a:rPr lang="en-GB" dirty="0"/>
              <a:t>    { </a:t>
            </a:r>
            <a:r>
              <a:rPr lang="en-GB" dirty="0" err="1"/>
              <a:t>roomId</a:t>
            </a:r>
            <a:r>
              <a:rPr lang="en-GB" dirty="0"/>
              <a:t>: "105", </a:t>
            </a:r>
            <a:r>
              <a:rPr lang="en-GB" dirty="0" err="1"/>
              <a:t>roomType</a:t>
            </a:r>
            <a:r>
              <a:rPr lang="en-GB" dirty="0"/>
              <a:t>: "Double", rate: 2100 },</a:t>
            </a:r>
          </a:p>
          <a:p>
            <a:r>
              <a:rPr lang="en-GB" dirty="0"/>
              <a:t>    { </a:t>
            </a:r>
            <a:r>
              <a:rPr lang="en-GB" dirty="0" err="1"/>
              <a:t>roomId</a:t>
            </a:r>
            <a:r>
              <a:rPr lang="en-GB" dirty="0"/>
              <a:t>: "106", </a:t>
            </a:r>
            <a:r>
              <a:rPr lang="en-GB" dirty="0" err="1"/>
              <a:t>roomType</a:t>
            </a:r>
            <a:r>
              <a:rPr lang="en-GB" dirty="0"/>
              <a:t>: "Suite", rate: 3200 }</a:t>
            </a:r>
          </a:p>
          <a:p>
            <a:r>
              <a:rPr lang="en-GB" dirty="0" smtClean="0"/>
              <a:t>];</a:t>
            </a:r>
            <a:endParaRPr lang="en-GB" dirty="0"/>
          </a:p>
        </p:txBody>
      </p:sp>
      <p:sp>
        <p:nvSpPr>
          <p:cNvPr id="7" name="TextBox 6"/>
          <p:cNvSpPr txBox="1"/>
          <p:nvPr/>
        </p:nvSpPr>
        <p:spPr>
          <a:xfrm>
            <a:off x="5420892" y="3700137"/>
            <a:ext cx="5981959" cy="2308324"/>
          </a:xfrm>
          <a:prstGeom prst="rect">
            <a:avLst/>
          </a:prstGeom>
          <a:noFill/>
        </p:spPr>
        <p:txBody>
          <a:bodyPr wrap="none" rtlCol="0">
            <a:spAutoFit/>
          </a:bodyPr>
          <a:lstStyle/>
          <a:p>
            <a:r>
              <a:rPr lang="en-GB" dirty="0" err="1"/>
              <a:t>const</a:t>
            </a:r>
            <a:r>
              <a:rPr lang="en-GB" dirty="0"/>
              <a:t> branches = [</a:t>
            </a:r>
          </a:p>
          <a:p>
            <a:r>
              <a:rPr lang="en-GB" dirty="0"/>
              <a:t>    { </a:t>
            </a:r>
            <a:r>
              <a:rPr lang="en-GB" dirty="0" err="1"/>
              <a:t>branchId</a:t>
            </a:r>
            <a:r>
              <a:rPr lang="en-GB" dirty="0"/>
              <a:t>: "B001", city: "Lahore", </a:t>
            </a:r>
            <a:endParaRPr lang="en-GB" dirty="0" smtClean="0"/>
          </a:p>
          <a:p>
            <a:r>
              <a:rPr lang="en-GB" dirty="0"/>
              <a:t> </a:t>
            </a:r>
            <a:r>
              <a:rPr lang="en-GB" dirty="0" smtClean="0"/>
              <a:t>                                      </a:t>
            </a:r>
            <a:r>
              <a:rPr lang="en-GB" dirty="0" err="1" smtClean="0"/>
              <a:t>availableRooms</a:t>
            </a:r>
            <a:r>
              <a:rPr lang="en-GB" dirty="0"/>
              <a:t>: ["101", "102", "103"] },</a:t>
            </a:r>
          </a:p>
          <a:p>
            <a:r>
              <a:rPr lang="en-GB" dirty="0"/>
              <a:t>    { </a:t>
            </a:r>
            <a:r>
              <a:rPr lang="en-GB" dirty="0" err="1"/>
              <a:t>branchId</a:t>
            </a:r>
            <a:r>
              <a:rPr lang="en-GB" dirty="0"/>
              <a:t>: "B002", city: "Karachi", </a:t>
            </a:r>
            <a:endParaRPr lang="en-GB" dirty="0" smtClean="0"/>
          </a:p>
          <a:p>
            <a:r>
              <a:rPr lang="en-GB" dirty="0"/>
              <a:t> </a:t>
            </a:r>
            <a:r>
              <a:rPr lang="en-GB" dirty="0" smtClean="0"/>
              <a:t>                                      </a:t>
            </a:r>
            <a:r>
              <a:rPr lang="en-GB" dirty="0" err="1" smtClean="0"/>
              <a:t>availableRooms</a:t>
            </a:r>
            <a:r>
              <a:rPr lang="en-GB" dirty="0"/>
              <a:t>: ["104", "105", "106"] },</a:t>
            </a:r>
          </a:p>
          <a:p>
            <a:r>
              <a:rPr lang="en-GB" dirty="0"/>
              <a:t>    { </a:t>
            </a:r>
            <a:r>
              <a:rPr lang="en-GB" dirty="0" err="1"/>
              <a:t>branchId</a:t>
            </a:r>
            <a:r>
              <a:rPr lang="en-GB" dirty="0"/>
              <a:t>: "B003", city: "Islamabad", </a:t>
            </a:r>
            <a:endParaRPr lang="en-GB" dirty="0" smtClean="0"/>
          </a:p>
          <a:p>
            <a:r>
              <a:rPr lang="en-GB" dirty="0"/>
              <a:t> </a:t>
            </a:r>
            <a:r>
              <a:rPr lang="en-GB" dirty="0" smtClean="0"/>
              <a:t>                                      </a:t>
            </a:r>
            <a:r>
              <a:rPr lang="en-GB" dirty="0" err="1" smtClean="0"/>
              <a:t>availableRooms</a:t>
            </a:r>
            <a:r>
              <a:rPr lang="en-GB" dirty="0"/>
              <a:t>: ["101", "102", "106"] }</a:t>
            </a:r>
          </a:p>
          <a:p>
            <a:r>
              <a:rPr lang="en-GB" dirty="0" smtClean="0"/>
              <a:t>];</a:t>
            </a:r>
            <a:endParaRPr lang="en-GB" dirty="0"/>
          </a:p>
        </p:txBody>
      </p:sp>
    </p:spTree>
    <p:extLst>
      <p:ext uri="{BB962C8B-B14F-4D97-AF65-F5344CB8AC3E}">
        <p14:creationId xmlns:p14="http://schemas.microsoft.com/office/powerpoint/2010/main" val="4074902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4431" y="750277"/>
            <a:ext cx="10326417" cy="646331"/>
          </a:xfrm>
          <a:prstGeom prst="rect">
            <a:avLst/>
          </a:prstGeom>
          <a:noFill/>
        </p:spPr>
        <p:txBody>
          <a:bodyPr wrap="none" rtlCol="0">
            <a:spAutoFit/>
          </a:bodyPr>
          <a:lstStyle/>
          <a:p>
            <a:r>
              <a:rPr lang="en-US" b="1" dirty="0" smtClean="0"/>
              <a:t>Query-1 (Easy)</a:t>
            </a:r>
          </a:p>
          <a:p>
            <a:r>
              <a:rPr lang="en-US" dirty="0"/>
              <a:t>Create a function that returns the list of customers who booked in advance and stayed for more than 3 days</a:t>
            </a:r>
            <a:r>
              <a:rPr lang="en-US" dirty="0" smtClean="0"/>
              <a:t>.</a:t>
            </a:r>
            <a:endParaRPr lang="en-US" dirty="0"/>
          </a:p>
        </p:txBody>
      </p:sp>
      <p:sp>
        <p:nvSpPr>
          <p:cNvPr id="3" name="TextBox 2"/>
          <p:cNvSpPr txBox="1"/>
          <p:nvPr/>
        </p:nvSpPr>
        <p:spPr>
          <a:xfrm>
            <a:off x="574431" y="1499322"/>
            <a:ext cx="11195538" cy="584775"/>
          </a:xfrm>
          <a:prstGeom prst="rect">
            <a:avLst/>
          </a:prstGeom>
          <a:noFill/>
        </p:spPr>
        <p:txBody>
          <a:bodyPr wrap="square" rtlCol="0">
            <a:spAutoFit/>
          </a:bodyPr>
          <a:lstStyle/>
          <a:p>
            <a:r>
              <a:rPr lang="en-GB" sz="1600" dirty="0" err="1"/>
              <a:t>const</a:t>
            </a:r>
            <a:r>
              <a:rPr lang="en-GB" sz="1600" dirty="0"/>
              <a:t> </a:t>
            </a:r>
            <a:r>
              <a:rPr lang="en-GB" sz="1600" dirty="0" err="1"/>
              <a:t>customerData</a:t>
            </a:r>
            <a:r>
              <a:rPr lang="en-GB" sz="1600" dirty="0"/>
              <a:t> = </a:t>
            </a:r>
            <a:r>
              <a:rPr lang="en-GB" sz="1600" dirty="0" err="1"/>
              <a:t>customers.filter</a:t>
            </a:r>
            <a:r>
              <a:rPr lang="en-GB" sz="1600" dirty="0"/>
              <a:t>(</a:t>
            </a:r>
            <a:r>
              <a:rPr lang="en-GB" sz="1600" dirty="0" err="1"/>
              <a:t>customerinfo</a:t>
            </a:r>
            <a:r>
              <a:rPr lang="en-GB" sz="1600" dirty="0"/>
              <a:t> =&gt; </a:t>
            </a:r>
            <a:r>
              <a:rPr lang="en-GB" sz="1600" dirty="0" err="1"/>
              <a:t>customerinfo.daysStayed</a:t>
            </a:r>
            <a:r>
              <a:rPr lang="en-GB" sz="1600" dirty="0"/>
              <a:t> &gt; 3 &amp;&amp; </a:t>
            </a:r>
            <a:r>
              <a:rPr lang="en-GB" sz="1600" dirty="0" smtClean="0"/>
              <a:t> </a:t>
            </a:r>
            <a:r>
              <a:rPr lang="en-GB" sz="1600" dirty="0" err="1" smtClean="0"/>
              <a:t>customerinfo.isBookedInAdvance</a:t>
            </a:r>
            <a:r>
              <a:rPr lang="en-GB" sz="1600" dirty="0" smtClean="0"/>
              <a:t> </a:t>
            </a:r>
            <a:r>
              <a:rPr lang="en-GB" sz="1600" dirty="0"/>
              <a:t>== true </a:t>
            </a:r>
            <a:r>
              <a:rPr lang="en-GB" sz="1600" dirty="0" smtClean="0"/>
              <a:t>)</a:t>
            </a:r>
            <a:r>
              <a:rPr lang="en-GB" sz="1600" dirty="0"/>
              <a:t/>
            </a:r>
            <a:br>
              <a:rPr lang="en-GB" sz="1600" dirty="0"/>
            </a:br>
            <a:r>
              <a:rPr lang="en-GB" sz="1600" dirty="0" err="1"/>
              <a:t>customerData.forEach</a:t>
            </a:r>
            <a:r>
              <a:rPr lang="en-GB" sz="1600" dirty="0"/>
              <a:t>(el =&gt; console.log(el.name</a:t>
            </a:r>
            <a:r>
              <a:rPr lang="en-GB" sz="1600" dirty="0" smtClean="0"/>
              <a:t>));</a:t>
            </a:r>
            <a:endParaRPr lang="en-GB" sz="1600" dirty="0"/>
          </a:p>
        </p:txBody>
      </p:sp>
      <p:sp>
        <p:nvSpPr>
          <p:cNvPr id="5" name="TextBox 4"/>
          <p:cNvSpPr txBox="1"/>
          <p:nvPr/>
        </p:nvSpPr>
        <p:spPr>
          <a:xfrm>
            <a:off x="574431" y="2508738"/>
            <a:ext cx="11531170" cy="646331"/>
          </a:xfrm>
          <a:prstGeom prst="rect">
            <a:avLst/>
          </a:prstGeom>
          <a:noFill/>
        </p:spPr>
        <p:txBody>
          <a:bodyPr wrap="none" rtlCol="0">
            <a:spAutoFit/>
          </a:bodyPr>
          <a:lstStyle/>
          <a:p>
            <a:r>
              <a:rPr lang="en-US" b="1" dirty="0" smtClean="0"/>
              <a:t>Query-2 (Medium)</a:t>
            </a:r>
          </a:p>
          <a:p>
            <a:r>
              <a:rPr lang="en-GB" dirty="0"/>
              <a:t>Create a function that identifies the room with the highest booking </a:t>
            </a:r>
            <a:r>
              <a:rPr lang="en-GB" dirty="0" smtClean="0"/>
              <a:t>revenue </a:t>
            </a:r>
            <a:r>
              <a:rPr lang="en-GB" sz="1600" dirty="0" smtClean="0"/>
              <a:t>(</a:t>
            </a:r>
            <a:r>
              <a:rPr lang="en-GB" sz="1600" dirty="0"/>
              <a:t>room rate * days stayed, including any discounts)</a:t>
            </a:r>
            <a:r>
              <a:rPr lang="en-GB" dirty="0"/>
              <a:t>.</a:t>
            </a:r>
          </a:p>
        </p:txBody>
      </p:sp>
      <p:sp>
        <p:nvSpPr>
          <p:cNvPr id="6" name="TextBox 5"/>
          <p:cNvSpPr txBox="1"/>
          <p:nvPr/>
        </p:nvSpPr>
        <p:spPr>
          <a:xfrm>
            <a:off x="574431" y="3434862"/>
            <a:ext cx="11277600" cy="923330"/>
          </a:xfrm>
          <a:prstGeom prst="rect">
            <a:avLst/>
          </a:prstGeom>
          <a:noFill/>
        </p:spPr>
        <p:txBody>
          <a:bodyPr wrap="square" rtlCol="0">
            <a:spAutoFit/>
          </a:bodyPr>
          <a:lstStyle/>
          <a:p>
            <a:r>
              <a:rPr lang="en-US" b="1" dirty="0" smtClean="0"/>
              <a:t>Query-3 (Medium)</a:t>
            </a:r>
          </a:p>
          <a:p>
            <a:r>
              <a:rPr lang="en-US" dirty="0"/>
              <a:t>Create a function that returns a list of customers who stayed in "Suite" rooms</a:t>
            </a:r>
            <a:r>
              <a:rPr lang="en-US" dirty="0" smtClean="0"/>
              <a:t>. The </a:t>
            </a:r>
            <a:r>
              <a:rPr lang="en-US" dirty="0"/>
              <a:t>result should contain the customer name and the </a:t>
            </a:r>
            <a:r>
              <a:rPr lang="en-US" dirty="0" err="1"/>
              <a:t>roomId</a:t>
            </a:r>
            <a:r>
              <a:rPr lang="en-US" dirty="0" smtClean="0"/>
              <a:t>.</a:t>
            </a:r>
            <a:endParaRPr lang="en-US" dirty="0"/>
          </a:p>
        </p:txBody>
      </p:sp>
    </p:spTree>
    <p:extLst>
      <p:ext uri="{BB962C8B-B14F-4D97-AF65-F5344CB8AC3E}">
        <p14:creationId xmlns:p14="http://schemas.microsoft.com/office/powerpoint/2010/main" val="35179451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739" y="2967648"/>
            <a:ext cx="10515600" cy="1325563"/>
          </a:xfrm>
        </p:spPr>
        <p:txBody>
          <a:bodyPr/>
          <a:lstStyle/>
          <a:p>
            <a:r>
              <a:rPr lang="en-US" dirty="0" smtClean="0"/>
              <a:t>Scenario-2</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938497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630" y="102456"/>
            <a:ext cx="9144000" cy="694714"/>
          </a:xfrm>
        </p:spPr>
        <p:txBody>
          <a:bodyPr>
            <a:noAutofit/>
          </a:bodyPr>
          <a:lstStyle/>
          <a:p>
            <a:pPr algn="l"/>
            <a:r>
              <a:rPr lang="en-US" sz="2800" dirty="0" smtClean="0"/>
              <a:t>Scenario-2</a:t>
            </a:r>
            <a:endParaRPr lang="en-GB" sz="2800" dirty="0"/>
          </a:p>
        </p:txBody>
      </p:sp>
      <p:sp>
        <p:nvSpPr>
          <p:cNvPr id="6" name="TextBox 5"/>
          <p:cNvSpPr txBox="1"/>
          <p:nvPr/>
        </p:nvSpPr>
        <p:spPr>
          <a:xfrm>
            <a:off x="269632" y="791254"/>
            <a:ext cx="11781691" cy="830997"/>
          </a:xfrm>
          <a:prstGeom prst="rect">
            <a:avLst/>
          </a:prstGeom>
          <a:noFill/>
        </p:spPr>
        <p:txBody>
          <a:bodyPr wrap="square" rtlCol="0">
            <a:spAutoFit/>
          </a:bodyPr>
          <a:lstStyle/>
          <a:p>
            <a:r>
              <a:rPr lang="en-GB" sz="1600" dirty="0"/>
              <a:t>You are working on a system that manages student </a:t>
            </a:r>
            <a:r>
              <a:rPr lang="en-GB" sz="1600" dirty="0" smtClean="0"/>
              <a:t>enrolments </a:t>
            </a:r>
            <a:r>
              <a:rPr lang="en-GB" sz="1600" dirty="0"/>
              <a:t>at a university. The university offers several courses </a:t>
            </a:r>
            <a:r>
              <a:rPr lang="en-GB" sz="1600" dirty="0" smtClean="0"/>
              <a:t>each semester</a:t>
            </a:r>
            <a:r>
              <a:rPr lang="en-GB" sz="1600" dirty="0"/>
              <a:t>, and students can </a:t>
            </a:r>
            <a:r>
              <a:rPr lang="en-GB" sz="1600" dirty="0" err="1"/>
              <a:t>enroll</a:t>
            </a:r>
            <a:r>
              <a:rPr lang="en-GB" sz="1600" dirty="0"/>
              <a:t> in multiple courses. Each course has a maximum </a:t>
            </a:r>
            <a:r>
              <a:rPr lang="en-GB" sz="1600" dirty="0" smtClean="0"/>
              <a:t>enrolment </a:t>
            </a:r>
            <a:r>
              <a:rPr lang="en-GB" sz="1600" dirty="0"/>
              <a:t>limit, and some courses </a:t>
            </a:r>
            <a:r>
              <a:rPr lang="en-GB" sz="1600" dirty="0" smtClean="0"/>
              <a:t> have </a:t>
            </a:r>
            <a:r>
              <a:rPr lang="en-GB" sz="1600" dirty="0"/>
              <a:t>prerequisites that students must complete before enrolling. You need to process and manage </a:t>
            </a:r>
            <a:r>
              <a:rPr lang="en-GB" sz="1600" dirty="0" smtClean="0"/>
              <a:t>enrolment </a:t>
            </a:r>
            <a:r>
              <a:rPr lang="en-GB" sz="1600" dirty="0"/>
              <a:t>data to </a:t>
            </a:r>
            <a:r>
              <a:rPr lang="en-GB" sz="1600" dirty="0" smtClean="0"/>
              <a:t> generate </a:t>
            </a:r>
            <a:r>
              <a:rPr lang="en-GB" sz="1600" dirty="0"/>
              <a:t>reports on various aspects of the system.</a:t>
            </a:r>
          </a:p>
        </p:txBody>
      </p:sp>
      <p:sp>
        <p:nvSpPr>
          <p:cNvPr id="7" name="TextBox 6"/>
          <p:cNvSpPr txBox="1"/>
          <p:nvPr/>
        </p:nvSpPr>
        <p:spPr>
          <a:xfrm>
            <a:off x="316524" y="1629512"/>
            <a:ext cx="9068958" cy="1815882"/>
          </a:xfrm>
          <a:prstGeom prst="rect">
            <a:avLst/>
          </a:prstGeom>
          <a:noFill/>
        </p:spPr>
        <p:txBody>
          <a:bodyPr wrap="none" rtlCol="0">
            <a:spAutoFit/>
          </a:bodyPr>
          <a:lstStyle/>
          <a:p>
            <a:r>
              <a:rPr lang="en-GB" sz="1600" dirty="0" err="1"/>
              <a:t>const</a:t>
            </a:r>
            <a:r>
              <a:rPr lang="en-GB" sz="1600" dirty="0"/>
              <a:t> students = [</a:t>
            </a:r>
          </a:p>
          <a:p>
            <a:r>
              <a:rPr lang="en-GB" sz="1600" dirty="0"/>
              <a:t>    { </a:t>
            </a:r>
            <a:r>
              <a:rPr lang="en-GB" sz="1600" dirty="0" err="1"/>
              <a:t>studentId</a:t>
            </a:r>
            <a:r>
              <a:rPr lang="en-GB" sz="1600" dirty="0"/>
              <a:t>: "S001", name: "Alice", age: 20, </a:t>
            </a:r>
            <a:r>
              <a:rPr lang="en-GB" sz="1600" dirty="0" err="1"/>
              <a:t>enrolledCourses</a:t>
            </a:r>
            <a:r>
              <a:rPr lang="en-GB" sz="1600" dirty="0"/>
              <a:t>: ["CS101", "MATH101"] },</a:t>
            </a:r>
          </a:p>
          <a:p>
            <a:r>
              <a:rPr lang="en-GB" sz="1600" dirty="0"/>
              <a:t>    { </a:t>
            </a:r>
            <a:r>
              <a:rPr lang="en-GB" sz="1600" dirty="0" err="1"/>
              <a:t>studentId</a:t>
            </a:r>
            <a:r>
              <a:rPr lang="en-GB" sz="1600" dirty="0"/>
              <a:t>: "S002", name: "Bob", age: 22, </a:t>
            </a:r>
            <a:r>
              <a:rPr lang="en-GB" sz="1600" dirty="0" err="1"/>
              <a:t>enrolledCourses</a:t>
            </a:r>
            <a:r>
              <a:rPr lang="en-GB" sz="1600" dirty="0"/>
              <a:t>: ["CS101", "PHYS101"] },</a:t>
            </a:r>
          </a:p>
          <a:p>
            <a:r>
              <a:rPr lang="en-GB" sz="1600" dirty="0"/>
              <a:t>    { </a:t>
            </a:r>
            <a:r>
              <a:rPr lang="en-GB" sz="1600" dirty="0" err="1"/>
              <a:t>studentId</a:t>
            </a:r>
            <a:r>
              <a:rPr lang="en-GB" sz="1600" dirty="0"/>
              <a:t>: "S003", name: "Charlie", age: 21, </a:t>
            </a:r>
            <a:r>
              <a:rPr lang="en-GB" sz="1600" dirty="0" err="1"/>
              <a:t>enrolledCourses</a:t>
            </a:r>
            <a:r>
              <a:rPr lang="en-GB" sz="1600" dirty="0"/>
              <a:t>: ["CS102", "MATH101", "PHYS101"] },</a:t>
            </a:r>
          </a:p>
          <a:p>
            <a:r>
              <a:rPr lang="en-GB" sz="1600" dirty="0"/>
              <a:t>    { </a:t>
            </a:r>
            <a:r>
              <a:rPr lang="en-GB" sz="1600" dirty="0" err="1"/>
              <a:t>studentId</a:t>
            </a:r>
            <a:r>
              <a:rPr lang="en-GB" sz="1600" dirty="0"/>
              <a:t>: "S004", name: "David", age: 19, </a:t>
            </a:r>
            <a:r>
              <a:rPr lang="en-GB" sz="1600" dirty="0" err="1"/>
              <a:t>enrolledCourses</a:t>
            </a:r>
            <a:r>
              <a:rPr lang="en-GB" sz="1600" dirty="0"/>
              <a:t>: ["CS101"] },</a:t>
            </a:r>
          </a:p>
          <a:p>
            <a:r>
              <a:rPr lang="en-GB" sz="1600" dirty="0"/>
              <a:t>    { </a:t>
            </a:r>
            <a:r>
              <a:rPr lang="en-GB" sz="1600" dirty="0" err="1"/>
              <a:t>studentId</a:t>
            </a:r>
            <a:r>
              <a:rPr lang="en-GB" sz="1600" dirty="0"/>
              <a:t>: "S005", name: "Eva", age: 23, </a:t>
            </a:r>
            <a:r>
              <a:rPr lang="en-GB" sz="1600" dirty="0" err="1"/>
              <a:t>enrolledCourses</a:t>
            </a:r>
            <a:r>
              <a:rPr lang="en-GB" sz="1600" dirty="0"/>
              <a:t>: ["CS103", "MATH101"] },</a:t>
            </a:r>
          </a:p>
          <a:p>
            <a:r>
              <a:rPr lang="en-GB" sz="1600" dirty="0"/>
              <a:t>    { </a:t>
            </a:r>
            <a:r>
              <a:rPr lang="en-GB" sz="1600" dirty="0" err="1"/>
              <a:t>studentId</a:t>
            </a:r>
            <a:r>
              <a:rPr lang="en-GB" sz="1600" dirty="0"/>
              <a:t>: "S006", name: "Frank", age: 24, </a:t>
            </a:r>
            <a:r>
              <a:rPr lang="en-GB" sz="1600" dirty="0" err="1"/>
              <a:t>enrolledCourses</a:t>
            </a:r>
            <a:r>
              <a:rPr lang="en-GB" sz="1600" dirty="0"/>
              <a:t>: ["CS101", "MATH101", "PHYS101"] </a:t>
            </a:r>
            <a:r>
              <a:rPr lang="en-GB" sz="1600" dirty="0" smtClean="0"/>
              <a:t>}           ];</a:t>
            </a:r>
            <a:endParaRPr lang="en-GB" sz="1600" dirty="0"/>
          </a:p>
        </p:txBody>
      </p:sp>
      <p:sp>
        <p:nvSpPr>
          <p:cNvPr id="8" name="TextBox 7"/>
          <p:cNvSpPr txBox="1"/>
          <p:nvPr/>
        </p:nvSpPr>
        <p:spPr>
          <a:xfrm>
            <a:off x="339970" y="3540376"/>
            <a:ext cx="9813777" cy="1569660"/>
          </a:xfrm>
          <a:prstGeom prst="rect">
            <a:avLst/>
          </a:prstGeom>
          <a:noFill/>
        </p:spPr>
        <p:txBody>
          <a:bodyPr wrap="none" rtlCol="0">
            <a:spAutoFit/>
          </a:bodyPr>
          <a:lstStyle/>
          <a:p>
            <a:r>
              <a:rPr lang="en-GB" sz="1600" dirty="0" err="1"/>
              <a:t>const</a:t>
            </a:r>
            <a:r>
              <a:rPr lang="en-GB" sz="1600" dirty="0"/>
              <a:t> courses = [</a:t>
            </a:r>
          </a:p>
          <a:p>
            <a:r>
              <a:rPr lang="en-GB" sz="1600" dirty="0"/>
              <a:t>    { </a:t>
            </a:r>
            <a:r>
              <a:rPr lang="en-GB" sz="1600" dirty="0" err="1"/>
              <a:t>courseId</a:t>
            </a:r>
            <a:r>
              <a:rPr lang="en-GB" sz="1600" dirty="0"/>
              <a:t>: "CS101", </a:t>
            </a:r>
            <a:r>
              <a:rPr lang="en-GB" sz="1600" dirty="0" err="1"/>
              <a:t>courseName</a:t>
            </a:r>
            <a:r>
              <a:rPr lang="en-GB" sz="1600" dirty="0"/>
              <a:t>: "Introduction to Computer Science", </a:t>
            </a:r>
            <a:r>
              <a:rPr lang="en-GB" sz="1600" dirty="0" err="1"/>
              <a:t>maxEnrollment</a:t>
            </a:r>
            <a:r>
              <a:rPr lang="en-GB" sz="1600" dirty="0"/>
              <a:t>: 3, prerequisites: [] },</a:t>
            </a:r>
          </a:p>
          <a:p>
            <a:r>
              <a:rPr lang="en-GB" sz="1600" dirty="0"/>
              <a:t>    { </a:t>
            </a:r>
            <a:r>
              <a:rPr lang="en-GB" sz="1600" dirty="0" err="1"/>
              <a:t>courseId</a:t>
            </a:r>
            <a:r>
              <a:rPr lang="en-GB" sz="1600" dirty="0"/>
              <a:t>: "CS102", </a:t>
            </a:r>
            <a:r>
              <a:rPr lang="en-GB" sz="1600" dirty="0" err="1"/>
              <a:t>courseName</a:t>
            </a:r>
            <a:r>
              <a:rPr lang="en-GB" sz="1600" dirty="0"/>
              <a:t>: "Data Structures and Algorithms", </a:t>
            </a:r>
            <a:r>
              <a:rPr lang="en-GB" sz="1600" dirty="0" err="1"/>
              <a:t>maxEnrollment</a:t>
            </a:r>
            <a:r>
              <a:rPr lang="en-GB" sz="1600" dirty="0"/>
              <a:t>: 2, prerequisites: ["CS101"] },</a:t>
            </a:r>
          </a:p>
          <a:p>
            <a:r>
              <a:rPr lang="en-GB" sz="1600" dirty="0"/>
              <a:t>    { </a:t>
            </a:r>
            <a:r>
              <a:rPr lang="en-GB" sz="1600" dirty="0" err="1"/>
              <a:t>courseId</a:t>
            </a:r>
            <a:r>
              <a:rPr lang="en-GB" sz="1600" dirty="0"/>
              <a:t>: "CS103", </a:t>
            </a:r>
            <a:r>
              <a:rPr lang="en-GB" sz="1600" dirty="0" err="1"/>
              <a:t>courseName</a:t>
            </a:r>
            <a:r>
              <a:rPr lang="en-GB" sz="1600" dirty="0"/>
              <a:t>: "Web Development", </a:t>
            </a:r>
            <a:r>
              <a:rPr lang="en-GB" sz="1600" dirty="0" err="1"/>
              <a:t>maxEnrollment</a:t>
            </a:r>
            <a:r>
              <a:rPr lang="en-GB" sz="1600" dirty="0"/>
              <a:t>: 2, prerequisites: [] },</a:t>
            </a:r>
          </a:p>
          <a:p>
            <a:r>
              <a:rPr lang="en-GB" sz="1600" dirty="0"/>
              <a:t>    { </a:t>
            </a:r>
            <a:r>
              <a:rPr lang="en-GB" sz="1600" dirty="0" err="1"/>
              <a:t>courseId</a:t>
            </a:r>
            <a:r>
              <a:rPr lang="en-GB" sz="1600" dirty="0"/>
              <a:t>: "MATH101", </a:t>
            </a:r>
            <a:r>
              <a:rPr lang="en-GB" sz="1600" dirty="0" err="1"/>
              <a:t>courseName</a:t>
            </a:r>
            <a:r>
              <a:rPr lang="en-GB" sz="1600" dirty="0"/>
              <a:t>: "Calculus I", </a:t>
            </a:r>
            <a:r>
              <a:rPr lang="en-GB" sz="1600" dirty="0" err="1"/>
              <a:t>maxEnrollment</a:t>
            </a:r>
            <a:r>
              <a:rPr lang="en-GB" sz="1600" dirty="0"/>
              <a:t>: 4, prerequisites: [] },</a:t>
            </a:r>
          </a:p>
          <a:p>
            <a:r>
              <a:rPr lang="en-GB" sz="1600" dirty="0"/>
              <a:t>    { </a:t>
            </a:r>
            <a:r>
              <a:rPr lang="en-GB" sz="1600" dirty="0" err="1"/>
              <a:t>courseId</a:t>
            </a:r>
            <a:r>
              <a:rPr lang="en-GB" sz="1600" dirty="0"/>
              <a:t>: "PHYS101", </a:t>
            </a:r>
            <a:r>
              <a:rPr lang="en-GB" sz="1600" dirty="0" err="1"/>
              <a:t>courseName</a:t>
            </a:r>
            <a:r>
              <a:rPr lang="en-GB" sz="1600" dirty="0"/>
              <a:t>: "Physics I", </a:t>
            </a:r>
            <a:r>
              <a:rPr lang="en-GB" sz="1600" dirty="0" err="1"/>
              <a:t>maxEnrollment</a:t>
            </a:r>
            <a:r>
              <a:rPr lang="en-GB" sz="1600" dirty="0"/>
              <a:t>: 3, prerequisites: [] </a:t>
            </a:r>
            <a:r>
              <a:rPr lang="en-GB" sz="1600" dirty="0" smtClean="0"/>
              <a:t>}		          ];</a:t>
            </a:r>
            <a:endParaRPr lang="en-GB" sz="1600" dirty="0"/>
          </a:p>
        </p:txBody>
      </p:sp>
      <p:sp>
        <p:nvSpPr>
          <p:cNvPr id="9" name="TextBox 8"/>
          <p:cNvSpPr txBox="1"/>
          <p:nvPr/>
        </p:nvSpPr>
        <p:spPr>
          <a:xfrm>
            <a:off x="328251" y="5134713"/>
            <a:ext cx="9076524" cy="1569660"/>
          </a:xfrm>
          <a:prstGeom prst="rect">
            <a:avLst/>
          </a:prstGeom>
          <a:noFill/>
        </p:spPr>
        <p:txBody>
          <a:bodyPr wrap="none" rtlCol="0">
            <a:spAutoFit/>
          </a:bodyPr>
          <a:lstStyle/>
          <a:p>
            <a:r>
              <a:rPr lang="en-GB" sz="1600" dirty="0" err="1"/>
              <a:t>const</a:t>
            </a:r>
            <a:r>
              <a:rPr lang="en-GB" sz="1600" dirty="0"/>
              <a:t> </a:t>
            </a:r>
            <a:r>
              <a:rPr lang="en-GB" sz="1600" dirty="0" err="1"/>
              <a:t>enrollments</a:t>
            </a:r>
            <a:r>
              <a:rPr lang="en-GB" sz="1600" dirty="0"/>
              <a:t> = [</a:t>
            </a:r>
          </a:p>
          <a:p>
            <a:r>
              <a:rPr lang="en-GB" sz="1600" dirty="0"/>
              <a:t>    { </a:t>
            </a:r>
            <a:r>
              <a:rPr lang="en-GB" sz="1600" dirty="0" err="1"/>
              <a:t>courseId</a:t>
            </a:r>
            <a:r>
              <a:rPr lang="en-GB" sz="1600" dirty="0"/>
              <a:t>: "CS101", </a:t>
            </a:r>
            <a:r>
              <a:rPr lang="en-GB" sz="1600" dirty="0" err="1"/>
              <a:t>studentsEnrolled</a:t>
            </a:r>
            <a:r>
              <a:rPr lang="en-GB" sz="1600" dirty="0"/>
              <a:t>: ["S001", "S002", "S003"] },</a:t>
            </a:r>
          </a:p>
          <a:p>
            <a:r>
              <a:rPr lang="en-GB" sz="1600" dirty="0"/>
              <a:t>    { </a:t>
            </a:r>
            <a:r>
              <a:rPr lang="en-GB" sz="1600" dirty="0" err="1"/>
              <a:t>courseId</a:t>
            </a:r>
            <a:r>
              <a:rPr lang="en-GB" sz="1600" dirty="0"/>
              <a:t>: "CS102", </a:t>
            </a:r>
            <a:r>
              <a:rPr lang="en-GB" sz="1600" dirty="0" err="1"/>
              <a:t>studentsEnrolled</a:t>
            </a:r>
            <a:r>
              <a:rPr lang="en-GB" sz="1600" dirty="0"/>
              <a:t>: ["S003"] },</a:t>
            </a:r>
          </a:p>
          <a:p>
            <a:r>
              <a:rPr lang="en-GB" sz="1600" dirty="0"/>
              <a:t>    { </a:t>
            </a:r>
            <a:r>
              <a:rPr lang="en-GB" sz="1600" dirty="0" err="1"/>
              <a:t>courseId</a:t>
            </a:r>
            <a:r>
              <a:rPr lang="en-GB" sz="1600" dirty="0"/>
              <a:t>: "CS103", </a:t>
            </a:r>
            <a:r>
              <a:rPr lang="en-GB" sz="1600" dirty="0" err="1"/>
              <a:t>studentsEnrolled</a:t>
            </a:r>
            <a:r>
              <a:rPr lang="en-GB" sz="1600" dirty="0"/>
              <a:t>: ["S005"] },</a:t>
            </a:r>
          </a:p>
          <a:p>
            <a:r>
              <a:rPr lang="en-GB" sz="1600" dirty="0"/>
              <a:t>    { </a:t>
            </a:r>
            <a:r>
              <a:rPr lang="en-GB" sz="1600" dirty="0" err="1"/>
              <a:t>courseId</a:t>
            </a:r>
            <a:r>
              <a:rPr lang="en-GB" sz="1600" dirty="0"/>
              <a:t>: "MATH101", </a:t>
            </a:r>
            <a:r>
              <a:rPr lang="en-GB" sz="1600" dirty="0" err="1"/>
              <a:t>studentsEnrolled</a:t>
            </a:r>
            <a:r>
              <a:rPr lang="en-GB" sz="1600" dirty="0"/>
              <a:t>: ["S001", "S002", "S003", "S005", "S006"] },</a:t>
            </a:r>
          </a:p>
          <a:p>
            <a:r>
              <a:rPr lang="en-GB" sz="1600" dirty="0"/>
              <a:t>    { </a:t>
            </a:r>
            <a:r>
              <a:rPr lang="en-GB" sz="1600" dirty="0" err="1"/>
              <a:t>courseId</a:t>
            </a:r>
            <a:r>
              <a:rPr lang="en-GB" sz="1600" dirty="0"/>
              <a:t>: "PHYS101", </a:t>
            </a:r>
            <a:r>
              <a:rPr lang="en-GB" sz="1600" dirty="0" err="1"/>
              <a:t>studentsEnrolled</a:t>
            </a:r>
            <a:r>
              <a:rPr lang="en-GB" sz="1600" dirty="0"/>
              <a:t>: ["S002", "S003", "S006"] </a:t>
            </a:r>
            <a:r>
              <a:rPr lang="en-GB" sz="1600" dirty="0" smtClean="0"/>
              <a:t>}			           ];</a:t>
            </a:r>
            <a:endParaRPr lang="en-GB" sz="1600" dirty="0"/>
          </a:p>
        </p:txBody>
      </p:sp>
    </p:spTree>
    <p:extLst>
      <p:ext uri="{BB962C8B-B14F-4D97-AF65-F5344CB8AC3E}">
        <p14:creationId xmlns:p14="http://schemas.microsoft.com/office/powerpoint/2010/main" val="34067031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91662" y="4009280"/>
            <a:ext cx="9941169" cy="1200329"/>
          </a:xfrm>
          <a:prstGeom prst="rect">
            <a:avLst/>
          </a:prstGeom>
          <a:noFill/>
        </p:spPr>
        <p:txBody>
          <a:bodyPr wrap="square" rtlCol="0">
            <a:spAutoFit/>
          </a:bodyPr>
          <a:lstStyle/>
          <a:p>
            <a:r>
              <a:rPr lang="en-US" b="1" dirty="0" smtClean="0"/>
              <a:t>Query-4 (Medium)</a:t>
            </a:r>
          </a:p>
          <a:p>
            <a:r>
              <a:rPr lang="en-GB" dirty="0"/>
              <a:t>Write a function that returns a list of courses where the number of enrolled students </a:t>
            </a:r>
            <a:r>
              <a:rPr lang="en-GB" dirty="0" smtClean="0"/>
              <a:t>greater </a:t>
            </a:r>
            <a:r>
              <a:rPr lang="en-GB" dirty="0"/>
              <a:t>than </a:t>
            </a:r>
            <a:r>
              <a:rPr lang="en-GB" dirty="0" smtClean="0"/>
              <a:t>any course. </a:t>
            </a:r>
            <a:endParaRPr lang="en-GB" dirty="0"/>
          </a:p>
          <a:p>
            <a:endParaRPr lang="en-GB" dirty="0"/>
          </a:p>
        </p:txBody>
      </p:sp>
      <p:sp>
        <p:nvSpPr>
          <p:cNvPr id="6" name="TextBox 5"/>
          <p:cNvSpPr txBox="1"/>
          <p:nvPr/>
        </p:nvSpPr>
        <p:spPr>
          <a:xfrm>
            <a:off x="691662" y="2086699"/>
            <a:ext cx="9976338" cy="923330"/>
          </a:xfrm>
          <a:prstGeom prst="rect">
            <a:avLst/>
          </a:prstGeom>
          <a:noFill/>
        </p:spPr>
        <p:txBody>
          <a:bodyPr wrap="square" rtlCol="0">
            <a:spAutoFit/>
          </a:bodyPr>
          <a:lstStyle/>
          <a:p>
            <a:r>
              <a:rPr lang="en-US" b="1" dirty="0" smtClean="0"/>
              <a:t>Query-2 (Easy)</a:t>
            </a:r>
          </a:p>
          <a:p>
            <a:r>
              <a:rPr lang="en-GB" dirty="0"/>
              <a:t>Create a function that returns the list of students who have enrolled in more than two courses. The result should contain the student's name and number of courses enrolled.</a:t>
            </a:r>
          </a:p>
        </p:txBody>
      </p:sp>
      <p:sp>
        <p:nvSpPr>
          <p:cNvPr id="7" name="TextBox 6"/>
          <p:cNvSpPr txBox="1"/>
          <p:nvPr/>
        </p:nvSpPr>
        <p:spPr>
          <a:xfrm>
            <a:off x="691663" y="820634"/>
            <a:ext cx="10175630" cy="1169551"/>
          </a:xfrm>
          <a:prstGeom prst="rect">
            <a:avLst/>
          </a:prstGeom>
          <a:noFill/>
        </p:spPr>
        <p:txBody>
          <a:bodyPr wrap="square" rtlCol="0">
            <a:spAutoFit/>
          </a:bodyPr>
          <a:lstStyle/>
          <a:p>
            <a:r>
              <a:rPr lang="en-US" b="1" dirty="0" smtClean="0"/>
              <a:t>Query-1 (Easy)</a:t>
            </a:r>
            <a:endParaRPr lang="en-GB" b="1" dirty="0" smtClean="0"/>
          </a:p>
          <a:p>
            <a:r>
              <a:rPr lang="en-GB" dirty="0" smtClean="0"/>
              <a:t>Write </a:t>
            </a:r>
            <a:r>
              <a:rPr lang="en-GB" dirty="0"/>
              <a:t>a function that finds a course based on its </a:t>
            </a:r>
            <a:r>
              <a:rPr lang="en-GB" dirty="0" err="1"/>
              <a:t>courseName</a:t>
            </a:r>
            <a:r>
              <a:rPr lang="en-GB" dirty="0"/>
              <a:t> (e.g., "Web Development"). Use find() to return the course object</a:t>
            </a:r>
            <a:r>
              <a:rPr lang="en-GB" dirty="0" smtClean="0"/>
              <a:t>.</a:t>
            </a:r>
          </a:p>
          <a:p>
            <a:r>
              <a:rPr lang="en-US" sz="1400" b="1" dirty="0" smtClean="0"/>
              <a:t>Expected Output:</a:t>
            </a:r>
            <a:r>
              <a:rPr lang="en-US" sz="1400" dirty="0" smtClean="0"/>
              <a:t> </a:t>
            </a:r>
            <a:r>
              <a:rPr lang="en-GB" sz="1400" dirty="0"/>
              <a:t>Course: { </a:t>
            </a:r>
            <a:r>
              <a:rPr lang="en-GB" sz="1400" dirty="0" err="1"/>
              <a:t>courseId</a:t>
            </a:r>
            <a:r>
              <a:rPr lang="en-GB" sz="1400" dirty="0"/>
              <a:t>: "CS103", </a:t>
            </a:r>
            <a:r>
              <a:rPr lang="en-GB" sz="1400" dirty="0" err="1"/>
              <a:t>courseName</a:t>
            </a:r>
            <a:r>
              <a:rPr lang="en-GB" sz="1400" dirty="0"/>
              <a:t>: "Web Development", </a:t>
            </a:r>
            <a:r>
              <a:rPr lang="en-GB" sz="1400" dirty="0" err="1"/>
              <a:t>maxEnrollment</a:t>
            </a:r>
            <a:r>
              <a:rPr lang="en-GB" sz="1400" dirty="0"/>
              <a:t>: 2, prerequisites: [] }</a:t>
            </a:r>
            <a:endParaRPr lang="en-GB" dirty="0"/>
          </a:p>
        </p:txBody>
      </p:sp>
      <p:sp>
        <p:nvSpPr>
          <p:cNvPr id="8" name="TextBox 7"/>
          <p:cNvSpPr txBox="1"/>
          <p:nvPr/>
        </p:nvSpPr>
        <p:spPr>
          <a:xfrm>
            <a:off x="691663" y="3193253"/>
            <a:ext cx="10540706" cy="646331"/>
          </a:xfrm>
          <a:prstGeom prst="rect">
            <a:avLst/>
          </a:prstGeom>
          <a:noFill/>
        </p:spPr>
        <p:txBody>
          <a:bodyPr wrap="none" rtlCol="0">
            <a:spAutoFit/>
          </a:bodyPr>
          <a:lstStyle/>
          <a:p>
            <a:r>
              <a:rPr lang="en-US" b="1" dirty="0" smtClean="0"/>
              <a:t>Query-3 (Easy)</a:t>
            </a:r>
          </a:p>
          <a:p>
            <a:r>
              <a:rPr lang="en-GB" dirty="0"/>
              <a:t>Write a function that calculates and returns the </a:t>
            </a:r>
            <a:r>
              <a:rPr lang="en-GB" dirty="0" smtClean="0"/>
              <a:t>age </a:t>
            </a:r>
            <a:r>
              <a:rPr lang="en-GB" dirty="0"/>
              <a:t>of students who are enrolled in the course "Calculus I</a:t>
            </a:r>
            <a:r>
              <a:rPr lang="en-GB" dirty="0" smtClean="0"/>
              <a:t>".</a:t>
            </a:r>
            <a:endParaRPr lang="en-GB" dirty="0"/>
          </a:p>
        </p:txBody>
      </p:sp>
      <p:sp>
        <p:nvSpPr>
          <p:cNvPr id="9" name="TextBox 8"/>
          <p:cNvSpPr txBox="1"/>
          <p:nvPr/>
        </p:nvSpPr>
        <p:spPr>
          <a:xfrm>
            <a:off x="715109" y="5005759"/>
            <a:ext cx="9652899" cy="646331"/>
          </a:xfrm>
          <a:prstGeom prst="rect">
            <a:avLst/>
          </a:prstGeom>
          <a:noFill/>
        </p:spPr>
        <p:txBody>
          <a:bodyPr wrap="none" rtlCol="0">
            <a:spAutoFit/>
          </a:bodyPr>
          <a:lstStyle/>
          <a:p>
            <a:r>
              <a:rPr lang="en-US" b="1" dirty="0" smtClean="0"/>
              <a:t>Query-5 (Medium)</a:t>
            </a:r>
            <a:endParaRPr lang="en-GB" b="1" dirty="0" smtClean="0"/>
          </a:p>
          <a:p>
            <a:r>
              <a:rPr lang="en-GB" dirty="0" smtClean="0"/>
              <a:t>Write </a:t>
            </a:r>
            <a:r>
              <a:rPr lang="en-GB" dirty="0"/>
              <a:t>a function that returns the list of students who are enrolled in both "Calculus I" and "Physics I</a:t>
            </a:r>
            <a:r>
              <a:rPr lang="en-GB" dirty="0" smtClean="0"/>
              <a:t>".</a:t>
            </a:r>
            <a:endParaRPr lang="en-GB" dirty="0"/>
          </a:p>
        </p:txBody>
      </p:sp>
      <p:sp>
        <p:nvSpPr>
          <p:cNvPr id="10" name="TextBox 9"/>
          <p:cNvSpPr txBox="1"/>
          <p:nvPr/>
        </p:nvSpPr>
        <p:spPr>
          <a:xfrm>
            <a:off x="715108" y="5779480"/>
            <a:ext cx="10257693" cy="923330"/>
          </a:xfrm>
          <a:prstGeom prst="rect">
            <a:avLst/>
          </a:prstGeom>
          <a:noFill/>
        </p:spPr>
        <p:txBody>
          <a:bodyPr wrap="square" rtlCol="0">
            <a:spAutoFit/>
          </a:bodyPr>
          <a:lstStyle/>
          <a:p>
            <a:r>
              <a:rPr lang="en-US" b="1" dirty="0" smtClean="0"/>
              <a:t>Query-6 (Medium)</a:t>
            </a:r>
            <a:endParaRPr lang="en-GB" b="1" dirty="0" smtClean="0"/>
          </a:p>
          <a:p>
            <a:r>
              <a:rPr lang="en-GB" dirty="0" smtClean="0"/>
              <a:t>Write </a:t>
            </a:r>
            <a:r>
              <a:rPr lang="en-GB" dirty="0"/>
              <a:t>a function that returns an object where the key is the </a:t>
            </a:r>
            <a:r>
              <a:rPr lang="en-GB" dirty="0" err="1"/>
              <a:t>courseName</a:t>
            </a:r>
            <a:r>
              <a:rPr lang="en-GB" dirty="0"/>
              <a:t> and the value is an array of student names who are enrolled in that course.</a:t>
            </a:r>
          </a:p>
        </p:txBody>
      </p:sp>
    </p:spTree>
    <p:extLst>
      <p:ext uri="{BB962C8B-B14F-4D97-AF65-F5344CB8AC3E}">
        <p14:creationId xmlns:p14="http://schemas.microsoft.com/office/powerpoint/2010/main" val="7917750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739" y="2967648"/>
            <a:ext cx="10515600" cy="1325563"/>
          </a:xfrm>
        </p:spPr>
        <p:txBody>
          <a:bodyPr/>
          <a:lstStyle/>
          <a:p>
            <a:r>
              <a:rPr lang="en-US" dirty="0" smtClean="0"/>
              <a:t>Scenario-3</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938497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3077" y="128955"/>
            <a:ext cx="11664461" cy="1477328"/>
          </a:xfrm>
          <a:prstGeom prst="rect">
            <a:avLst/>
          </a:prstGeom>
          <a:noFill/>
        </p:spPr>
        <p:txBody>
          <a:bodyPr wrap="square" rtlCol="0">
            <a:spAutoFit/>
          </a:bodyPr>
          <a:lstStyle/>
          <a:p>
            <a:r>
              <a:rPr lang="en-GB" dirty="0" smtClean="0"/>
              <a:t>You </a:t>
            </a:r>
            <a:r>
              <a:rPr lang="en-GB" dirty="0"/>
              <a:t>are working on the backend of an e-commerce platform where users can place orders for products, and the platform offers rewards points based on the total order value. The company has a system for tracking customer orders, processing payments, and providing rewards for loyal customers.</a:t>
            </a:r>
          </a:p>
          <a:p>
            <a:r>
              <a:rPr lang="en-GB" dirty="0"/>
              <a:t>Your task is to process the orders, calculate total earnings, determine which customers are eligible for rewards, and generate reports on the highest-value orders, most frequent products, and customer rankings.</a:t>
            </a:r>
          </a:p>
        </p:txBody>
      </p:sp>
      <p:sp>
        <p:nvSpPr>
          <p:cNvPr id="6" name="TextBox 5"/>
          <p:cNvSpPr txBox="1"/>
          <p:nvPr/>
        </p:nvSpPr>
        <p:spPr>
          <a:xfrm>
            <a:off x="58617" y="1805358"/>
            <a:ext cx="5468420" cy="1708160"/>
          </a:xfrm>
          <a:prstGeom prst="rect">
            <a:avLst/>
          </a:prstGeom>
          <a:noFill/>
        </p:spPr>
        <p:txBody>
          <a:bodyPr wrap="none" rtlCol="0">
            <a:spAutoFit/>
          </a:bodyPr>
          <a:lstStyle/>
          <a:p>
            <a:r>
              <a:rPr lang="en-GB" sz="1500" dirty="0" err="1"/>
              <a:t>const</a:t>
            </a:r>
            <a:r>
              <a:rPr lang="en-GB" sz="1500" dirty="0"/>
              <a:t> products = [</a:t>
            </a:r>
          </a:p>
          <a:p>
            <a:r>
              <a:rPr lang="en-GB" sz="1500" dirty="0"/>
              <a:t>    { </a:t>
            </a:r>
            <a:r>
              <a:rPr lang="en-GB" sz="1500" dirty="0" err="1"/>
              <a:t>productId</a:t>
            </a:r>
            <a:r>
              <a:rPr lang="en-GB" sz="1500" dirty="0"/>
              <a:t>: "P001", </a:t>
            </a:r>
            <a:r>
              <a:rPr lang="en-GB" sz="1500" dirty="0" err="1"/>
              <a:t>productName</a:t>
            </a:r>
            <a:r>
              <a:rPr lang="en-GB" sz="1500" dirty="0"/>
              <a:t>: "Laptop", price: 50000 },</a:t>
            </a:r>
          </a:p>
          <a:p>
            <a:r>
              <a:rPr lang="en-GB" sz="1500" dirty="0"/>
              <a:t>    { </a:t>
            </a:r>
            <a:r>
              <a:rPr lang="en-GB" sz="1500" dirty="0" err="1"/>
              <a:t>productId</a:t>
            </a:r>
            <a:r>
              <a:rPr lang="en-GB" sz="1500" dirty="0"/>
              <a:t>: "P002", </a:t>
            </a:r>
            <a:r>
              <a:rPr lang="en-GB" sz="1500" dirty="0" err="1"/>
              <a:t>productName</a:t>
            </a:r>
            <a:r>
              <a:rPr lang="en-GB" sz="1500" dirty="0"/>
              <a:t>: "Smartphone", price: 20000 },</a:t>
            </a:r>
          </a:p>
          <a:p>
            <a:r>
              <a:rPr lang="en-GB" sz="1500" dirty="0"/>
              <a:t>    { </a:t>
            </a:r>
            <a:r>
              <a:rPr lang="en-GB" sz="1500" dirty="0" err="1"/>
              <a:t>productId</a:t>
            </a:r>
            <a:r>
              <a:rPr lang="en-GB" sz="1500" dirty="0"/>
              <a:t>: "P003", </a:t>
            </a:r>
            <a:r>
              <a:rPr lang="en-GB" sz="1500" dirty="0" err="1"/>
              <a:t>productName</a:t>
            </a:r>
            <a:r>
              <a:rPr lang="en-GB" sz="1500" dirty="0"/>
              <a:t>: "Headphones", price: 5000 },</a:t>
            </a:r>
          </a:p>
          <a:p>
            <a:r>
              <a:rPr lang="en-GB" sz="1500" dirty="0"/>
              <a:t>    { </a:t>
            </a:r>
            <a:r>
              <a:rPr lang="en-GB" sz="1500" dirty="0" err="1"/>
              <a:t>productId</a:t>
            </a:r>
            <a:r>
              <a:rPr lang="en-GB" sz="1500" dirty="0"/>
              <a:t>: "P004", </a:t>
            </a:r>
            <a:r>
              <a:rPr lang="en-GB" sz="1500" dirty="0" err="1"/>
              <a:t>productName</a:t>
            </a:r>
            <a:r>
              <a:rPr lang="en-GB" sz="1500" dirty="0"/>
              <a:t>: "Mouse", price: 1500 },</a:t>
            </a:r>
          </a:p>
          <a:p>
            <a:r>
              <a:rPr lang="en-GB" sz="1500" dirty="0"/>
              <a:t>    { </a:t>
            </a:r>
            <a:r>
              <a:rPr lang="en-GB" sz="1500" dirty="0" err="1"/>
              <a:t>productId</a:t>
            </a:r>
            <a:r>
              <a:rPr lang="en-GB" sz="1500" dirty="0"/>
              <a:t>: "P005", </a:t>
            </a:r>
            <a:r>
              <a:rPr lang="en-GB" sz="1500" dirty="0" err="1"/>
              <a:t>productName</a:t>
            </a:r>
            <a:r>
              <a:rPr lang="en-GB" sz="1500" dirty="0"/>
              <a:t>: "Keyboard", price: 2000 }</a:t>
            </a:r>
          </a:p>
          <a:p>
            <a:r>
              <a:rPr lang="en-GB" sz="1500" dirty="0" smtClean="0"/>
              <a:t>];</a:t>
            </a:r>
            <a:endParaRPr lang="en-GB" sz="1500" dirty="0"/>
          </a:p>
        </p:txBody>
      </p:sp>
      <p:sp>
        <p:nvSpPr>
          <p:cNvPr id="7" name="TextBox 6"/>
          <p:cNvSpPr txBox="1"/>
          <p:nvPr/>
        </p:nvSpPr>
        <p:spPr>
          <a:xfrm>
            <a:off x="5533299" y="1641238"/>
            <a:ext cx="6402330" cy="1938992"/>
          </a:xfrm>
          <a:prstGeom prst="rect">
            <a:avLst/>
          </a:prstGeom>
          <a:noFill/>
        </p:spPr>
        <p:txBody>
          <a:bodyPr wrap="none" rtlCol="0">
            <a:spAutoFit/>
          </a:bodyPr>
          <a:lstStyle/>
          <a:p>
            <a:r>
              <a:rPr lang="en-GB" sz="1500" dirty="0" err="1"/>
              <a:t>const</a:t>
            </a:r>
            <a:r>
              <a:rPr lang="en-GB" sz="1500" dirty="0"/>
              <a:t> customers = [</a:t>
            </a:r>
          </a:p>
          <a:p>
            <a:r>
              <a:rPr lang="en-GB" sz="1500" dirty="0"/>
              <a:t>    { </a:t>
            </a:r>
            <a:r>
              <a:rPr lang="en-GB" sz="1500" dirty="0" err="1"/>
              <a:t>customerId</a:t>
            </a:r>
            <a:r>
              <a:rPr lang="en-GB" sz="1500" dirty="0"/>
              <a:t>: "C001", name: "Alice", city: "Lahore", </a:t>
            </a:r>
            <a:r>
              <a:rPr lang="en-GB" sz="1500" dirty="0" err="1"/>
              <a:t>rewardPoints</a:t>
            </a:r>
            <a:r>
              <a:rPr lang="en-GB" sz="1500" dirty="0"/>
              <a:t>: 1200 },</a:t>
            </a:r>
          </a:p>
          <a:p>
            <a:r>
              <a:rPr lang="en-GB" sz="1500" dirty="0"/>
              <a:t>    { </a:t>
            </a:r>
            <a:r>
              <a:rPr lang="en-GB" sz="1500" dirty="0" err="1"/>
              <a:t>customerId</a:t>
            </a:r>
            <a:r>
              <a:rPr lang="en-GB" sz="1500" dirty="0"/>
              <a:t>: "C002", name: "Bob", city: "Karachi", </a:t>
            </a:r>
            <a:r>
              <a:rPr lang="en-GB" sz="1500" dirty="0" err="1"/>
              <a:t>rewardPoints</a:t>
            </a:r>
            <a:r>
              <a:rPr lang="en-GB" sz="1500" dirty="0"/>
              <a:t>: 800 },</a:t>
            </a:r>
          </a:p>
          <a:p>
            <a:r>
              <a:rPr lang="en-GB" sz="1500" dirty="0"/>
              <a:t>    { </a:t>
            </a:r>
            <a:r>
              <a:rPr lang="en-GB" sz="1500" dirty="0" err="1"/>
              <a:t>customerId</a:t>
            </a:r>
            <a:r>
              <a:rPr lang="en-GB" sz="1500" dirty="0"/>
              <a:t>: "C003", name: "Charlie", city: "Islamabad", </a:t>
            </a:r>
            <a:r>
              <a:rPr lang="en-GB" sz="1500" dirty="0" err="1"/>
              <a:t>rewardPoints</a:t>
            </a:r>
            <a:r>
              <a:rPr lang="en-GB" sz="1500" dirty="0"/>
              <a:t>: 500 },</a:t>
            </a:r>
          </a:p>
          <a:p>
            <a:r>
              <a:rPr lang="en-GB" sz="1500" dirty="0"/>
              <a:t>    { </a:t>
            </a:r>
            <a:r>
              <a:rPr lang="en-GB" sz="1500" dirty="0" err="1"/>
              <a:t>customerId</a:t>
            </a:r>
            <a:r>
              <a:rPr lang="en-GB" sz="1500" dirty="0"/>
              <a:t>: "C004", name: "David", city: "Lahore", </a:t>
            </a:r>
            <a:r>
              <a:rPr lang="en-GB" sz="1500" dirty="0" err="1"/>
              <a:t>rewardPoints</a:t>
            </a:r>
            <a:r>
              <a:rPr lang="en-GB" sz="1500" dirty="0"/>
              <a:t>: 2000 },</a:t>
            </a:r>
          </a:p>
          <a:p>
            <a:r>
              <a:rPr lang="en-GB" sz="1500" dirty="0"/>
              <a:t>    { </a:t>
            </a:r>
            <a:r>
              <a:rPr lang="en-GB" sz="1500" dirty="0" err="1"/>
              <a:t>customerId</a:t>
            </a:r>
            <a:r>
              <a:rPr lang="en-GB" sz="1500" dirty="0"/>
              <a:t>: "C005", name: "Eva", city: "Karachi", </a:t>
            </a:r>
            <a:r>
              <a:rPr lang="en-GB" sz="1500" dirty="0" err="1"/>
              <a:t>rewardPoints</a:t>
            </a:r>
            <a:r>
              <a:rPr lang="en-GB" sz="1500" dirty="0"/>
              <a:t>: 1500 },</a:t>
            </a:r>
          </a:p>
          <a:p>
            <a:r>
              <a:rPr lang="en-GB" sz="1500" dirty="0"/>
              <a:t>    { </a:t>
            </a:r>
            <a:r>
              <a:rPr lang="en-GB" sz="1500" dirty="0" err="1"/>
              <a:t>customerId</a:t>
            </a:r>
            <a:r>
              <a:rPr lang="en-GB" sz="1500" dirty="0"/>
              <a:t>: "C006", name: "Frank", city: "Islamabad", </a:t>
            </a:r>
            <a:r>
              <a:rPr lang="en-GB" sz="1500" dirty="0" err="1"/>
              <a:t>rewardPoints</a:t>
            </a:r>
            <a:r>
              <a:rPr lang="en-GB" sz="1500" dirty="0"/>
              <a:t>: 700 }</a:t>
            </a:r>
          </a:p>
          <a:p>
            <a:r>
              <a:rPr lang="en-GB" sz="1500" dirty="0" smtClean="0"/>
              <a:t>];</a:t>
            </a:r>
            <a:endParaRPr lang="en-GB" sz="1500" dirty="0"/>
          </a:p>
        </p:txBody>
      </p:sp>
      <p:sp>
        <p:nvSpPr>
          <p:cNvPr id="8" name="TextBox 7"/>
          <p:cNvSpPr txBox="1"/>
          <p:nvPr/>
        </p:nvSpPr>
        <p:spPr>
          <a:xfrm>
            <a:off x="70339" y="3563822"/>
            <a:ext cx="11112337" cy="1938992"/>
          </a:xfrm>
          <a:prstGeom prst="rect">
            <a:avLst/>
          </a:prstGeom>
          <a:noFill/>
        </p:spPr>
        <p:txBody>
          <a:bodyPr wrap="none" rtlCol="0">
            <a:spAutoFit/>
          </a:bodyPr>
          <a:lstStyle/>
          <a:p>
            <a:r>
              <a:rPr lang="en-GB" sz="1500" dirty="0" err="1"/>
              <a:t>const</a:t>
            </a:r>
            <a:r>
              <a:rPr lang="en-GB" sz="1500" dirty="0"/>
              <a:t> orders = [</a:t>
            </a:r>
          </a:p>
          <a:p>
            <a:r>
              <a:rPr lang="en-GB" sz="1500" dirty="0"/>
              <a:t>    { </a:t>
            </a:r>
            <a:r>
              <a:rPr lang="en-GB" sz="1500" dirty="0" err="1"/>
              <a:t>orderId</a:t>
            </a:r>
            <a:r>
              <a:rPr lang="en-GB" sz="1500" dirty="0"/>
              <a:t>: "O001", </a:t>
            </a:r>
            <a:r>
              <a:rPr lang="en-GB" sz="1500" dirty="0" err="1"/>
              <a:t>customerId</a:t>
            </a:r>
            <a:r>
              <a:rPr lang="en-GB" sz="1500" dirty="0"/>
              <a:t>: "C001", items: ["P001", "P003"], </a:t>
            </a:r>
            <a:r>
              <a:rPr lang="en-GB" sz="1500" dirty="0" err="1"/>
              <a:t>orderTotal</a:t>
            </a:r>
            <a:r>
              <a:rPr lang="en-GB" sz="1500" dirty="0"/>
              <a:t>: 55000, </a:t>
            </a:r>
            <a:r>
              <a:rPr lang="en-GB" sz="1500" dirty="0" err="1"/>
              <a:t>orderDate</a:t>
            </a:r>
            <a:r>
              <a:rPr lang="en-GB" sz="1500" dirty="0"/>
              <a:t>: "2025-03-01", status: "Delivered" },</a:t>
            </a:r>
          </a:p>
          <a:p>
            <a:r>
              <a:rPr lang="en-GB" sz="1500" dirty="0"/>
              <a:t>    { </a:t>
            </a:r>
            <a:r>
              <a:rPr lang="en-GB" sz="1500" dirty="0" err="1"/>
              <a:t>orderId</a:t>
            </a:r>
            <a:r>
              <a:rPr lang="en-GB" sz="1500" dirty="0"/>
              <a:t>: "O002", </a:t>
            </a:r>
            <a:r>
              <a:rPr lang="en-GB" sz="1500" dirty="0" err="1"/>
              <a:t>customerId</a:t>
            </a:r>
            <a:r>
              <a:rPr lang="en-GB" sz="1500" dirty="0"/>
              <a:t>: "C002", items: ["P002", "P005"], </a:t>
            </a:r>
            <a:r>
              <a:rPr lang="en-GB" sz="1500" dirty="0" err="1"/>
              <a:t>orderTotal</a:t>
            </a:r>
            <a:r>
              <a:rPr lang="en-GB" sz="1500" dirty="0"/>
              <a:t>: 22000, </a:t>
            </a:r>
            <a:r>
              <a:rPr lang="en-GB" sz="1500" dirty="0" err="1"/>
              <a:t>orderDate</a:t>
            </a:r>
            <a:r>
              <a:rPr lang="en-GB" sz="1500" dirty="0"/>
              <a:t>: "2025-03-03", status: "Delivered" },</a:t>
            </a:r>
          </a:p>
          <a:p>
            <a:r>
              <a:rPr lang="en-GB" sz="1500" dirty="0"/>
              <a:t>    { </a:t>
            </a:r>
            <a:r>
              <a:rPr lang="en-GB" sz="1500" dirty="0" err="1"/>
              <a:t>orderId</a:t>
            </a:r>
            <a:r>
              <a:rPr lang="en-GB" sz="1500" dirty="0"/>
              <a:t>: "O003", </a:t>
            </a:r>
            <a:r>
              <a:rPr lang="en-GB" sz="1500" dirty="0" err="1"/>
              <a:t>customerId</a:t>
            </a:r>
            <a:r>
              <a:rPr lang="en-GB" sz="1500" dirty="0"/>
              <a:t>: "C003", items: ["P001", "P005"], </a:t>
            </a:r>
            <a:r>
              <a:rPr lang="en-GB" sz="1500" dirty="0" err="1"/>
              <a:t>orderTotal</a:t>
            </a:r>
            <a:r>
              <a:rPr lang="en-GB" sz="1500" dirty="0"/>
              <a:t>: 52000, </a:t>
            </a:r>
            <a:r>
              <a:rPr lang="en-GB" sz="1500" dirty="0" err="1"/>
              <a:t>orderDate</a:t>
            </a:r>
            <a:r>
              <a:rPr lang="en-GB" sz="1500" dirty="0"/>
              <a:t>: "2025-03-05", status: "Pending" },</a:t>
            </a:r>
          </a:p>
          <a:p>
            <a:r>
              <a:rPr lang="en-GB" sz="1500" dirty="0"/>
              <a:t>    { </a:t>
            </a:r>
            <a:r>
              <a:rPr lang="en-GB" sz="1500" dirty="0" err="1"/>
              <a:t>orderId</a:t>
            </a:r>
            <a:r>
              <a:rPr lang="en-GB" sz="1500" dirty="0"/>
              <a:t>: "O004", </a:t>
            </a:r>
            <a:r>
              <a:rPr lang="en-GB" sz="1500" dirty="0" err="1"/>
              <a:t>customerId</a:t>
            </a:r>
            <a:r>
              <a:rPr lang="en-GB" sz="1500" dirty="0"/>
              <a:t>: "C004", items: ["P003", "P004", "P002"], </a:t>
            </a:r>
            <a:r>
              <a:rPr lang="en-GB" sz="1500" dirty="0" err="1"/>
              <a:t>orderTotal</a:t>
            </a:r>
            <a:r>
              <a:rPr lang="en-GB" sz="1500" dirty="0"/>
              <a:t>: 24000, </a:t>
            </a:r>
            <a:r>
              <a:rPr lang="en-GB" sz="1500" dirty="0" err="1"/>
              <a:t>orderDate</a:t>
            </a:r>
            <a:r>
              <a:rPr lang="en-GB" sz="1500" dirty="0"/>
              <a:t>: "2025-03-07", status: "Delivered" },</a:t>
            </a:r>
          </a:p>
          <a:p>
            <a:r>
              <a:rPr lang="en-GB" sz="1500" dirty="0"/>
              <a:t>    { </a:t>
            </a:r>
            <a:r>
              <a:rPr lang="en-GB" sz="1500" dirty="0" err="1"/>
              <a:t>orderId</a:t>
            </a:r>
            <a:r>
              <a:rPr lang="en-GB" sz="1500" dirty="0"/>
              <a:t>: "O005", </a:t>
            </a:r>
            <a:r>
              <a:rPr lang="en-GB" sz="1500" dirty="0" err="1"/>
              <a:t>customerId</a:t>
            </a:r>
            <a:r>
              <a:rPr lang="en-GB" sz="1500" dirty="0"/>
              <a:t>: "C005", items: ["P002", "P004"], </a:t>
            </a:r>
            <a:r>
              <a:rPr lang="en-GB" sz="1500" dirty="0" err="1"/>
              <a:t>orderTotal</a:t>
            </a:r>
            <a:r>
              <a:rPr lang="en-GB" sz="1500" dirty="0"/>
              <a:t>: 21500, </a:t>
            </a:r>
            <a:r>
              <a:rPr lang="en-GB" sz="1500" dirty="0" err="1"/>
              <a:t>orderDate</a:t>
            </a:r>
            <a:r>
              <a:rPr lang="en-GB" sz="1500" dirty="0"/>
              <a:t>: "2025-03-10", status: "Pending" },</a:t>
            </a:r>
          </a:p>
          <a:p>
            <a:r>
              <a:rPr lang="en-GB" sz="1500" dirty="0"/>
              <a:t>    { </a:t>
            </a:r>
            <a:r>
              <a:rPr lang="en-GB" sz="1500" dirty="0" err="1"/>
              <a:t>orderId</a:t>
            </a:r>
            <a:r>
              <a:rPr lang="en-GB" sz="1500" dirty="0"/>
              <a:t>: "O006", </a:t>
            </a:r>
            <a:r>
              <a:rPr lang="en-GB" sz="1500" dirty="0" err="1"/>
              <a:t>customerId</a:t>
            </a:r>
            <a:r>
              <a:rPr lang="en-GB" sz="1500" dirty="0"/>
              <a:t>: "C006", items: ["P001", "P004"], </a:t>
            </a:r>
            <a:r>
              <a:rPr lang="en-GB" sz="1500" dirty="0" err="1"/>
              <a:t>orderTotal</a:t>
            </a:r>
            <a:r>
              <a:rPr lang="en-GB" sz="1500" dirty="0"/>
              <a:t>: 51500, </a:t>
            </a:r>
            <a:r>
              <a:rPr lang="en-GB" sz="1500" dirty="0" err="1"/>
              <a:t>orderDate</a:t>
            </a:r>
            <a:r>
              <a:rPr lang="en-GB" sz="1500" dirty="0"/>
              <a:t>: "2025-03-12", status: "Delivered" }</a:t>
            </a:r>
          </a:p>
          <a:p>
            <a:r>
              <a:rPr lang="en-GB" sz="1500" dirty="0" smtClean="0"/>
              <a:t>];</a:t>
            </a:r>
            <a:endParaRPr lang="en-GB" sz="1500" dirty="0"/>
          </a:p>
        </p:txBody>
      </p:sp>
      <p:sp>
        <p:nvSpPr>
          <p:cNvPr id="9" name="TextBox 8"/>
          <p:cNvSpPr txBox="1"/>
          <p:nvPr/>
        </p:nvSpPr>
        <p:spPr>
          <a:xfrm>
            <a:off x="35171" y="5584875"/>
            <a:ext cx="7058343" cy="1246495"/>
          </a:xfrm>
          <a:prstGeom prst="rect">
            <a:avLst/>
          </a:prstGeom>
          <a:noFill/>
        </p:spPr>
        <p:txBody>
          <a:bodyPr wrap="none" rtlCol="0">
            <a:spAutoFit/>
          </a:bodyPr>
          <a:lstStyle/>
          <a:p>
            <a:r>
              <a:rPr lang="en-GB" sz="1500" dirty="0" err="1"/>
              <a:t>const</a:t>
            </a:r>
            <a:r>
              <a:rPr lang="en-GB" sz="1500" dirty="0"/>
              <a:t> </a:t>
            </a:r>
            <a:r>
              <a:rPr lang="en-GB" sz="1500" dirty="0" err="1"/>
              <a:t>productCategories</a:t>
            </a:r>
            <a:r>
              <a:rPr lang="en-GB" sz="1500" dirty="0"/>
              <a:t> = </a:t>
            </a:r>
            <a:r>
              <a:rPr lang="en-GB" sz="1500" dirty="0" smtClean="0"/>
              <a:t>{     	</a:t>
            </a:r>
          </a:p>
          <a:p>
            <a:r>
              <a:rPr lang="en-GB" sz="1500" dirty="0"/>
              <a:t>	</a:t>
            </a:r>
            <a:r>
              <a:rPr lang="en-GB" sz="1500" dirty="0" smtClean="0"/>
              <a:t>		"</a:t>
            </a:r>
            <a:r>
              <a:rPr lang="en-GB" sz="1500" dirty="0"/>
              <a:t>P001": "Electronics</a:t>
            </a:r>
            <a:r>
              <a:rPr lang="en-GB" sz="1500" dirty="0" smtClean="0"/>
              <a:t>",       </a:t>
            </a:r>
            <a:r>
              <a:rPr lang="en-GB" sz="1500" dirty="0"/>
              <a:t>"P002": "Electronics</a:t>
            </a:r>
            <a:r>
              <a:rPr lang="en-GB" sz="1500" dirty="0" smtClean="0"/>
              <a:t>",       </a:t>
            </a:r>
          </a:p>
          <a:p>
            <a:r>
              <a:rPr lang="en-GB" sz="1500" dirty="0"/>
              <a:t>	</a:t>
            </a:r>
            <a:r>
              <a:rPr lang="en-GB" sz="1500" dirty="0" smtClean="0"/>
              <a:t>		"</a:t>
            </a:r>
            <a:r>
              <a:rPr lang="en-GB" sz="1500" dirty="0"/>
              <a:t>P003": "Accessories</a:t>
            </a:r>
            <a:r>
              <a:rPr lang="en-GB" sz="1500" dirty="0" smtClean="0"/>
              <a:t>",       </a:t>
            </a:r>
            <a:r>
              <a:rPr lang="en-GB" sz="1500" dirty="0"/>
              <a:t>"P004": "Accessories</a:t>
            </a:r>
            <a:r>
              <a:rPr lang="en-GB" sz="1500" dirty="0" smtClean="0"/>
              <a:t>",       </a:t>
            </a:r>
          </a:p>
          <a:p>
            <a:r>
              <a:rPr lang="en-GB" sz="1500" dirty="0"/>
              <a:t>	</a:t>
            </a:r>
            <a:r>
              <a:rPr lang="en-GB" sz="1500" dirty="0" smtClean="0"/>
              <a:t>		"</a:t>
            </a:r>
            <a:r>
              <a:rPr lang="en-GB" sz="1500" dirty="0"/>
              <a:t>P005": "Accessories"</a:t>
            </a:r>
          </a:p>
          <a:p>
            <a:r>
              <a:rPr lang="en-GB" sz="1500" dirty="0" smtClean="0"/>
              <a:t>};</a:t>
            </a:r>
            <a:endParaRPr lang="en-GB" sz="1500" dirty="0"/>
          </a:p>
        </p:txBody>
      </p:sp>
    </p:spTree>
    <p:extLst>
      <p:ext uri="{BB962C8B-B14F-4D97-AF65-F5344CB8AC3E}">
        <p14:creationId xmlns:p14="http://schemas.microsoft.com/office/powerpoint/2010/main" val="858707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245" y="363415"/>
            <a:ext cx="10878684" cy="1154162"/>
          </a:xfrm>
          <a:prstGeom prst="rect">
            <a:avLst/>
          </a:prstGeom>
          <a:noFill/>
        </p:spPr>
        <p:txBody>
          <a:bodyPr wrap="none" rtlCol="0">
            <a:spAutoFit/>
          </a:bodyPr>
          <a:lstStyle/>
          <a:p>
            <a:r>
              <a:rPr lang="en-US" b="1" dirty="0" smtClean="0"/>
              <a:t>Query-1 (Easy)</a:t>
            </a:r>
          </a:p>
          <a:p>
            <a:r>
              <a:rPr lang="en-GB" dirty="0"/>
              <a:t>Create a function that finds the highest value order (the one with the maximum </a:t>
            </a:r>
            <a:r>
              <a:rPr lang="en-GB" dirty="0" err="1"/>
              <a:t>orderTotal</a:t>
            </a:r>
            <a:r>
              <a:rPr lang="en-GB" dirty="0"/>
              <a:t>) and returns its details </a:t>
            </a:r>
            <a:endParaRPr lang="en-GB" dirty="0" smtClean="0"/>
          </a:p>
          <a:p>
            <a:r>
              <a:rPr lang="en-GB" dirty="0" smtClean="0"/>
              <a:t>(</a:t>
            </a:r>
            <a:r>
              <a:rPr lang="en-GB" dirty="0" err="1"/>
              <a:t>orderId</a:t>
            </a:r>
            <a:r>
              <a:rPr lang="en-GB" dirty="0"/>
              <a:t>, </a:t>
            </a:r>
            <a:r>
              <a:rPr lang="en-GB" dirty="0" err="1"/>
              <a:t>customerId</a:t>
            </a:r>
            <a:r>
              <a:rPr lang="en-GB" dirty="0"/>
              <a:t>, </a:t>
            </a:r>
            <a:r>
              <a:rPr lang="en-GB" dirty="0" err="1"/>
              <a:t>orderTotal</a:t>
            </a:r>
            <a:r>
              <a:rPr lang="en-GB" dirty="0"/>
              <a:t>, items</a:t>
            </a:r>
            <a:r>
              <a:rPr lang="en-GB" dirty="0" smtClean="0"/>
              <a:t>).</a:t>
            </a:r>
          </a:p>
          <a:p>
            <a:r>
              <a:rPr lang="en-US" sz="1500" b="1" dirty="0" smtClean="0"/>
              <a:t>Example Output:</a:t>
            </a:r>
            <a:r>
              <a:rPr lang="en-US" sz="1500" dirty="0" smtClean="0"/>
              <a:t> </a:t>
            </a:r>
            <a:r>
              <a:rPr lang="en-GB" sz="1500" dirty="0"/>
              <a:t>{  </a:t>
            </a:r>
            <a:r>
              <a:rPr lang="en-GB" sz="1500" dirty="0" err="1"/>
              <a:t>orderId</a:t>
            </a:r>
            <a:r>
              <a:rPr lang="en-GB" sz="1500" dirty="0"/>
              <a:t>: "O001",  </a:t>
            </a:r>
            <a:r>
              <a:rPr lang="en-GB" sz="1500" dirty="0" err="1"/>
              <a:t>customerId</a:t>
            </a:r>
            <a:r>
              <a:rPr lang="en-GB" sz="1500" dirty="0"/>
              <a:t>: "C001",  </a:t>
            </a:r>
            <a:r>
              <a:rPr lang="en-GB" sz="1500" dirty="0" err="1"/>
              <a:t>orderTotal</a:t>
            </a:r>
            <a:r>
              <a:rPr lang="en-GB" sz="1500" dirty="0"/>
              <a:t>: 55000,  items: ["P001", "P003"]}</a:t>
            </a:r>
          </a:p>
        </p:txBody>
      </p:sp>
      <p:sp>
        <p:nvSpPr>
          <p:cNvPr id="3" name="TextBox 2"/>
          <p:cNvSpPr txBox="1"/>
          <p:nvPr/>
        </p:nvSpPr>
        <p:spPr>
          <a:xfrm>
            <a:off x="328245" y="1688125"/>
            <a:ext cx="10754291" cy="1154162"/>
          </a:xfrm>
          <a:prstGeom prst="rect">
            <a:avLst/>
          </a:prstGeom>
          <a:noFill/>
        </p:spPr>
        <p:txBody>
          <a:bodyPr wrap="none" rtlCol="0">
            <a:spAutoFit/>
          </a:bodyPr>
          <a:lstStyle/>
          <a:p>
            <a:r>
              <a:rPr lang="en-US" b="1" dirty="0" smtClean="0"/>
              <a:t>Query-2 (Medium)</a:t>
            </a:r>
            <a:endParaRPr lang="en-GB" b="1" dirty="0" smtClean="0"/>
          </a:p>
          <a:p>
            <a:r>
              <a:rPr lang="en-GB" dirty="0" smtClean="0"/>
              <a:t>Write </a:t>
            </a:r>
            <a:r>
              <a:rPr lang="en-GB" dirty="0"/>
              <a:t>a function that returns a list of all customers and their corresponding rewards points. Include a bonus 10% </a:t>
            </a:r>
            <a:endParaRPr lang="en-GB" dirty="0" smtClean="0"/>
          </a:p>
          <a:p>
            <a:r>
              <a:rPr lang="en-GB" dirty="0" smtClean="0"/>
              <a:t>reward </a:t>
            </a:r>
            <a:r>
              <a:rPr lang="en-GB" dirty="0"/>
              <a:t>points for customers who made at least one "Delivered" order</a:t>
            </a:r>
            <a:r>
              <a:rPr lang="en-GB" dirty="0" smtClean="0"/>
              <a:t>.</a:t>
            </a:r>
          </a:p>
          <a:p>
            <a:r>
              <a:rPr lang="en-US" sz="1500" b="1" dirty="0" smtClean="0"/>
              <a:t>Example Output:</a:t>
            </a:r>
            <a:r>
              <a:rPr lang="en-US" sz="1500" dirty="0" smtClean="0"/>
              <a:t> </a:t>
            </a:r>
            <a:r>
              <a:rPr lang="en-GB" sz="1500" dirty="0"/>
              <a:t>[  { </a:t>
            </a:r>
            <a:r>
              <a:rPr lang="en-GB" sz="1500" dirty="0" err="1"/>
              <a:t>customerId</a:t>
            </a:r>
            <a:r>
              <a:rPr lang="en-GB" sz="1500" dirty="0"/>
              <a:t>: "C001", name: "Alice", </a:t>
            </a:r>
            <a:r>
              <a:rPr lang="en-GB" sz="1500" dirty="0" err="1"/>
              <a:t>rewardPoints</a:t>
            </a:r>
            <a:r>
              <a:rPr lang="en-GB" sz="1500" dirty="0"/>
              <a:t>: 1320 </a:t>
            </a:r>
            <a:r>
              <a:rPr lang="en-GB" sz="1500" dirty="0" smtClean="0"/>
              <a:t>} ]</a:t>
            </a:r>
            <a:endParaRPr lang="en-GB" sz="1500" dirty="0"/>
          </a:p>
        </p:txBody>
      </p:sp>
      <p:sp>
        <p:nvSpPr>
          <p:cNvPr id="7" name="TextBox 6"/>
          <p:cNvSpPr txBox="1"/>
          <p:nvPr/>
        </p:nvSpPr>
        <p:spPr>
          <a:xfrm>
            <a:off x="422031" y="3036282"/>
            <a:ext cx="10480431" cy="1154162"/>
          </a:xfrm>
          <a:prstGeom prst="rect">
            <a:avLst/>
          </a:prstGeom>
          <a:noFill/>
        </p:spPr>
        <p:txBody>
          <a:bodyPr wrap="square" rtlCol="0">
            <a:spAutoFit/>
          </a:bodyPr>
          <a:lstStyle/>
          <a:p>
            <a:r>
              <a:rPr lang="en-US" b="1" dirty="0" smtClean="0"/>
              <a:t>Query-3 (Hard)</a:t>
            </a:r>
            <a:endParaRPr lang="en-GB" b="1" dirty="0" smtClean="0"/>
          </a:p>
          <a:p>
            <a:r>
              <a:rPr lang="en-GB" dirty="0" smtClean="0"/>
              <a:t>Write </a:t>
            </a:r>
            <a:r>
              <a:rPr lang="en-GB" dirty="0"/>
              <a:t>a function that generates a list of products grouped by their categories. Return an object where the key is the </a:t>
            </a:r>
            <a:r>
              <a:rPr lang="en-GB" dirty="0" err="1"/>
              <a:t>categoryName</a:t>
            </a:r>
            <a:r>
              <a:rPr lang="en-GB" dirty="0"/>
              <a:t>, and the value is an array of product names in that category</a:t>
            </a:r>
            <a:r>
              <a:rPr lang="en-GB" dirty="0" smtClean="0"/>
              <a:t>.</a:t>
            </a:r>
          </a:p>
          <a:p>
            <a:r>
              <a:rPr lang="en-US" sz="1500" b="1" dirty="0" smtClean="0"/>
              <a:t>Example Output:</a:t>
            </a:r>
            <a:r>
              <a:rPr lang="en-US" sz="1500" dirty="0" smtClean="0"/>
              <a:t> </a:t>
            </a:r>
            <a:r>
              <a:rPr lang="en-GB" sz="1500" dirty="0"/>
              <a:t>{  "Electronics": ["Laptop", "Smartphone</a:t>
            </a:r>
            <a:r>
              <a:rPr lang="en-GB" sz="1500" dirty="0" smtClean="0"/>
              <a:t>"]}</a:t>
            </a:r>
            <a:endParaRPr lang="en-GB" sz="1500" dirty="0"/>
          </a:p>
        </p:txBody>
      </p:sp>
      <p:sp>
        <p:nvSpPr>
          <p:cNvPr id="8" name="TextBox 7"/>
          <p:cNvSpPr txBox="1"/>
          <p:nvPr/>
        </p:nvSpPr>
        <p:spPr>
          <a:xfrm>
            <a:off x="422031" y="4384434"/>
            <a:ext cx="10961077" cy="1154162"/>
          </a:xfrm>
          <a:prstGeom prst="rect">
            <a:avLst/>
          </a:prstGeom>
          <a:noFill/>
        </p:spPr>
        <p:txBody>
          <a:bodyPr wrap="square" rtlCol="0">
            <a:spAutoFit/>
          </a:bodyPr>
          <a:lstStyle/>
          <a:p>
            <a:r>
              <a:rPr lang="en-US" b="1" dirty="0" smtClean="0"/>
              <a:t>Query-4 (Hard)</a:t>
            </a:r>
            <a:endParaRPr lang="en-GB" b="1" dirty="0" smtClean="0"/>
          </a:p>
          <a:p>
            <a:r>
              <a:rPr lang="en-GB" dirty="0" smtClean="0"/>
              <a:t>Write </a:t>
            </a:r>
            <a:r>
              <a:rPr lang="en-GB" dirty="0"/>
              <a:t>a function to calculate the total sales for each product by multiplying the quantity sold (number of times it appears in orders) by its price. Return an object where the key is the </a:t>
            </a:r>
            <a:r>
              <a:rPr lang="en-GB" dirty="0" err="1"/>
              <a:t>productName</a:t>
            </a:r>
            <a:r>
              <a:rPr lang="en-GB" dirty="0"/>
              <a:t>, and the value is the total sales</a:t>
            </a:r>
            <a:r>
              <a:rPr lang="en-GB" dirty="0" smtClean="0"/>
              <a:t>.</a:t>
            </a:r>
          </a:p>
          <a:p>
            <a:r>
              <a:rPr lang="en-US" sz="1500" b="1" dirty="0" smtClean="0"/>
              <a:t>Example Output:</a:t>
            </a:r>
            <a:r>
              <a:rPr lang="en-US" sz="1500" dirty="0" smtClean="0"/>
              <a:t> </a:t>
            </a:r>
            <a:r>
              <a:rPr lang="en-GB" sz="1500" dirty="0"/>
              <a:t>{  "Laptop": 55000,  "Smartphone": 22000,  "Headphones": 5000,  "Mouse": 1500,  "Keyboard": 2000}</a:t>
            </a:r>
          </a:p>
        </p:txBody>
      </p:sp>
      <p:sp>
        <p:nvSpPr>
          <p:cNvPr id="9" name="TextBox 8"/>
          <p:cNvSpPr txBox="1"/>
          <p:nvPr/>
        </p:nvSpPr>
        <p:spPr>
          <a:xfrm>
            <a:off x="398586" y="5662248"/>
            <a:ext cx="10855570" cy="1154162"/>
          </a:xfrm>
          <a:prstGeom prst="rect">
            <a:avLst/>
          </a:prstGeom>
          <a:noFill/>
        </p:spPr>
        <p:txBody>
          <a:bodyPr wrap="square" rtlCol="0">
            <a:spAutoFit/>
          </a:bodyPr>
          <a:lstStyle/>
          <a:p>
            <a:r>
              <a:rPr lang="en-US" b="1" dirty="0" smtClean="0"/>
              <a:t>Query-5 (Hard)</a:t>
            </a:r>
            <a:endParaRPr lang="en-GB" b="1" dirty="0" smtClean="0"/>
          </a:p>
          <a:p>
            <a:r>
              <a:rPr lang="en-GB" dirty="0" smtClean="0"/>
              <a:t>Write </a:t>
            </a:r>
            <a:r>
              <a:rPr lang="en-GB" dirty="0"/>
              <a:t>a function that finds the top 3 most purchased products. A product is considered most purchased if it appears the most times in the orders. Return an array of product names in descending order of purchases</a:t>
            </a:r>
            <a:r>
              <a:rPr lang="en-GB" dirty="0" smtClean="0"/>
              <a:t>.</a:t>
            </a:r>
          </a:p>
          <a:p>
            <a:r>
              <a:rPr lang="en-US" sz="1500" dirty="0" smtClean="0"/>
              <a:t>Example Output: </a:t>
            </a:r>
            <a:r>
              <a:rPr lang="en-GB" sz="1500" dirty="0"/>
              <a:t>["Laptop", "Smartphone", "Headphones"]</a:t>
            </a:r>
          </a:p>
        </p:txBody>
      </p:sp>
    </p:spTree>
    <p:extLst>
      <p:ext uri="{BB962C8B-B14F-4D97-AF65-F5344CB8AC3E}">
        <p14:creationId xmlns:p14="http://schemas.microsoft.com/office/powerpoint/2010/main" val="1673523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739" y="2967648"/>
            <a:ext cx="10515600" cy="1325563"/>
          </a:xfrm>
        </p:spPr>
        <p:txBody>
          <a:bodyPr/>
          <a:lstStyle/>
          <a:p>
            <a:r>
              <a:rPr lang="en-US" dirty="0" smtClean="0"/>
              <a:t>Scenario-4</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21572853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762000"/>
            <a:ext cx="184731" cy="369332"/>
          </a:xfrm>
          <a:prstGeom prst="rect">
            <a:avLst/>
          </a:prstGeom>
          <a:noFill/>
        </p:spPr>
        <p:txBody>
          <a:bodyPr wrap="none" rtlCol="0">
            <a:spAutoFit/>
          </a:bodyPr>
          <a:lstStyle/>
          <a:p>
            <a:endParaRPr lang="en-GB" dirty="0"/>
          </a:p>
        </p:txBody>
      </p:sp>
      <p:sp>
        <p:nvSpPr>
          <p:cNvPr id="6" name="TextBox 5"/>
          <p:cNvSpPr txBox="1"/>
          <p:nvPr/>
        </p:nvSpPr>
        <p:spPr>
          <a:xfrm>
            <a:off x="293079" y="211019"/>
            <a:ext cx="11781689" cy="923330"/>
          </a:xfrm>
          <a:prstGeom prst="rect">
            <a:avLst/>
          </a:prstGeom>
          <a:noFill/>
        </p:spPr>
        <p:txBody>
          <a:bodyPr wrap="square" rtlCol="0">
            <a:spAutoFit/>
          </a:bodyPr>
          <a:lstStyle/>
          <a:p>
            <a:r>
              <a:rPr lang="en-GB" dirty="0"/>
              <a:t>You are working as a developer on the backend of a restaurant's management system. The restaurant offers a variety of menu items, manages customer reservations, and processes orders. Additionally, the system tracks inventory, calculates revenue, and generates reports. Your task is to implement various features to manage the restaurant's operations efficiently.</a:t>
            </a:r>
            <a:endParaRPr lang="en-GB" dirty="0"/>
          </a:p>
        </p:txBody>
      </p:sp>
      <p:sp>
        <p:nvSpPr>
          <p:cNvPr id="7" name="TextBox 6"/>
          <p:cNvSpPr txBox="1"/>
          <p:nvPr/>
        </p:nvSpPr>
        <p:spPr>
          <a:xfrm>
            <a:off x="325409" y="1266093"/>
            <a:ext cx="5809475" cy="1938992"/>
          </a:xfrm>
          <a:prstGeom prst="rect">
            <a:avLst/>
          </a:prstGeom>
          <a:noFill/>
        </p:spPr>
        <p:txBody>
          <a:bodyPr wrap="none" rtlCol="0">
            <a:spAutoFit/>
          </a:bodyPr>
          <a:lstStyle/>
          <a:p>
            <a:r>
              <a:rPr lang="en-GB" sz="1500" dirty="0" err="1"/>
              <a:t>const</a:t>
            </a:r>
            <a:r>
              <a:rPr lang="en-GB" sz="1500" dirty="0"/>
              <a:t> menu = [</a:t>
            </a:r>
          </a:p>
          <a:p>
            <a:r>
              <a:rPr lang="en-GB" sz="1500" dirty="0"/>
              <a:t>    { </a:t>
            </a:r>
            <a:r>
              <a:rPr lang="en-GB" sz="1500" dirty="0" err="1"/>
              <a:t>dishId</a:t>
            </a:r>
            <a:r>
              <a:rPr lang="en-GB" sz="1500" dirty="0"/>
              <a:t>: "D001", name: "Pasta", price: 120, category: "Main Course" },</a:t>
            </a:r>
          </a:p>
          <a:p>
            <a:r>
              <a:rPr lang="en-GB" sz="1500" dirty="0"/>
              <a:t>    { </a:t>
            </a:r>
            <a:r>
              <a:rPr lang="en-GB" sz="1500" dirty="0" err="1"/>
              <a:t>dishId</a:t>
            </a:r>
            <a:r>
              <a:rPr lang="en-GB" sz="1500" dirty="0"/>
              <a:t>: "D002", name: "Pizza", price: 150, category: "Main Course" },</a:t>
            </a:r>
          </a:p>
          <a:p>
            <a:r>
              <a:rPr lang="en-GB" sz="1500" dirty="0"/>
              <a:t>    { </a:t>
            </a:r>
            <a:r>
              <a:rPr lang="en-GB" sz="1500" dirty="0" err="1"/>
              <a:t>dishId</a:t>
            </a:r>
            <a:r>
              <a:rPr lang="en-GB" sz="1500" dirty="0"/>
              <a:t>: "D003", name: "Salad", price: 50, category: "Appetizer" },</a:t>
            </a:r>
          </a:p>
          <a:p>
            <a:r>
              <a:rPr lang="en-GB" sz="1500" dirty="0"/>
              <a:t>    { </a:t>
            </a:r>
            <a:r>
              <a:rPr lang="en-GB" sz="1500" dirty="0" err="1"/>
              <a:t>dishId</a:t>
            </a:r>
            <a:r>
              <a:rPr lang="en-GB" sz="1500" dirty="0"/>
              <a:t>: "D004", name: "Soup", price: 40, category: "Appetizer" },</a:t>
            </a:r>
          </a:p>
          <a:p>
            <a:r>
              <a:rPr lang="en-GB" sz="1500" dirty="0"/>
              <a:t>    { </a:t>
            </a:r>
            <a:r>
              <a:rPr lang="en-GB" sz="1500" dirty="0" err="1"/>
              <a:t>dishId</a:t>
            </a:r>
            <a:r>
              <a:rPr lang="en-GB" sz="1500" dirty="0"/>
              <a:t>: "D005", name: "Ice Cream", price: 70, category: "Dessert" },</a:t>
            </a:r>
          </a:p>
          <a:p>
            <a:r>
              <a:rPr lang="en-GB" sz="1500" dirty="0"/>
              <a:t>    { </a:t>
            </a:r>
            <a:r>
              <a:rPr lang="en-GB" sz="1500" dirty="0" err="1"/>
              <a:t>dishId</a:t>
            </a:r>
            <a:r>
              <a:rPr lang="en-GB" sz="1500" dirty="0"/>
              <a:t>: "D006", name: "Soda", price: 30, category: "Beverage" }</a:t>
            </a:r>
          </a:p>
          <a:p>
            <a:r>
              <a:rPr lang="en-GB" sz="1500" dirty="0" smtClean="0"/>
              <a:t>];</a:t>
            </a:r>
            <a:endParaRPr lang="en-GB" sz="1500" dirty="0"/>
          </a:p>
        </p:txBody>
      </p:sp>
      <p:sp>
        <p:nvSpPr>
          <p:cNvPr id="8" name="TextBox 7"/>
          <p:cNvSpPr txBox="1"/>
          <p:nvPr/>
        </p:nvSpPr>
        <p:spPr>
          <a:xfrm>
            <a:off x="337944" y="3193362"/>
            <a:ext cx="11593879" cy="2215991"/>
          </a:xfrm>
          <a:prstGeom prst="rect">
            <a:avLst/>
          </a:prstGeom>
          <a:noFill/>
        </p:spPr>
        <p:txBody>
          <a:bodyPr wrap="none" rtlCol="0">
            <a:spAutoFit/>
          </a:bodyPr>
          <a:lstStyle/>
          <a:p>
            <a:r>
              <a:rPr lang="en-GB" sz="1500" dirty="0" err="1"/>
              <a:t>const</a:t>
            </a:r>
            <a:r>
              <a:rPr lang="en-GB" sz="1500" dirty="0"/>
              <a:t> orders = [</a:t>
            </a:r>
          </a:p>
          <a:p>
            <a:r>
              <a:rPr lang="en-GB" sz="1500" dirty="0"/>
              <a:t>    { </a:t>
            </a:r>
            <a:r>
              <a:rPr lang="en-GB" sz="1500" dirty="0" err="1"/>
              <a:t>orderId</a:t>
            </a:r>
            <a:r>
              <a:rPr lang="en-GB" sz="1500" dirty="0"/>
              <a:t>: "O001", </a:t>
            </a:r>
            <a:r>
              <a:rPr lang="en-GB" sz="1500" dirty="0" err="1"/>
              <a:t>customerId</a:t>
            </a:r>
            <a:r>
              <a:rPr lang="en-GB" sz="1500" dirty="0"/>
              <a:t>: "C001", </a:t>
            </a:r>
            <a:r>
              <a:rPr lang="en-GB" sz="1500" dirty="0" err="1"/>
              <a:t>orderItems</a:t>
            </a:r>
            <a:r>
              <a:rPr lang="en-GB" sz="1500" dirty="0"/>
              <a:t>: ["D001", "D002"], </a:t>
            </a:r>
            <a:r>
              <a:rPr lang="en-GB" sz="1500" dirty="0" err="1"/>
              <a:t>totalAmount</a:t>
            </a:r>
            <a:r>
              <a:rPr lang="en-GB" sz="1500" dirty="0"/>
              <a:t>: 270, status: "Delivered", </a:t>
            </a:r>
            <a:r>
              <a:rPr lang="en-GB" sz="1500" dirty="0" err="1"/>
              <a:t>orderDate</a:t>
            </a:r>
            <a:r>
              <a:rPr lang="en-GB" sz="1500" dirty="0"/>
              <a:t>: "2025-03-01" },</a:t>
            </a:r>
          </a:p>
          <a:p>
            <a:r>
              <a:rPr lang="en-GB" sz="1500" dirty="0"/>
              <a:t>    { </a:t>
            </a:r>
            <a:r>
              <a:rPr lang="en-GB" sz="1500" dirty="0" err="1"/>
              <a:t>orderId</a:t>
            </a:r>
            <a:r>
              <a:rPr lang="en-GB" sz="1500" dirty="0"/>
              <a:t>: "O002", </a:t>
            </a:r>
            <a:r>
              <a:rPr lang="en-GB" sz="1500" dirty="0" err="1"/>
              <a:t>customerId</a:t>
            </a:r>
            <a:r>
              <a:rPr lang="en-GB" sz="1500" dirty="0"/>
              <a:t>: "C002", </a:t>
            </a:r>
            <a:r>
              <a:rPr lang="en-GB" sz="1500" dirty="0" err="1"/>
              <a:t>orderItems</a:t>
            </a:r>
            <a:r>
              <a:rPr lang="en-GB" sz="1500" dirty="0"/>
              <a:t>: ["D003", "D005"], </a:t>
            </a:r>
            <a:r>
              <a:rPr lang="en-GB" sz="1500" dirty="0" err="1"/>
              <a:t>totalAmount</a:t>
            </a:r>
            <a:r>
              <a:rPr lang="en-GB" sz="1500" dirty="0"/>
              <a:t>: 120, status: "Delivered", </a:t>
            </a:r>
            <a:r>
              <a:rPr lang="en-GB" sz="1500" dirty="0" err="1"/>
              <a:t>orderDate</a:t>
            </a:r>
            <a:r>
              <a:rPr lang="en-GB" sz="1500" dirty="0"/>
              <a:t>: "2025-03-02" },</a:t>
            </a:r>
          </a:p>
          <a:p>
            <a:r>
              <a:rPr lang="en-GB" sz="1500" dirty="0"/>
              <a:t>    { </a:t>
            </a:r>
            <a:r>
              <a:rPr lang="en-GB" sz="1500" dirty="0" err="1"/>
              <a:t>orderId</a:t>
            </a:r>
            <a:r>
              <a:rPr lang="en-GB" sz="1500" dirty="0"/>
              <a:t>: "O003", </a:t>
            </a:r>
            <a:r>
              <a:rPr lang="en-GB" sz="1500" dirty="0" err="1"/>
              <a:t>customerId</a:t>
            </a:r>
            <a:r>
              <a:rPr lang="en-GB" sz="1500" dirty="0"/>
              <a:t>: "C003", </a:t>
            </a:r>
            <a:r>
              <a:rPr lang="en-GB" sz="1500" dirty="0" err="1"/>
              <a:t>orderItems</a:t>
            </a:r>
            <a:r>
              <a:rPr lang="en-GB" sz="1500" dirty="0"/>
              <a:t>: ["D002", "D004"], </a:t>
            </a:r>
            <a:r>
              <a:rPr lang="en-GB" sz="1500" dirty="0" err="1"/>
              <a:t>totalAmount</a:t>
            </a:r>
            <a:r>
              <a:rPr lang="en-GB" sz="1500" dirty="0"/>
              <a:t>: 190, status: "Pending", </a:t>
            </a:r>
            <a:r>
              <a:rPr lang="en-GB" sz="1500" dirty="0" err="1"/>
              <a:t>orderDate</a:t>
            </a:r>
            <a:r>
              <a:rPr lang="en-GB" sz="1500" dirty="0"/>
              <a:t>: "2025-03-03" },</a:t>
            </a:r>
          </a:p>
          <a:p>
            <a:r>
              <a:rPr lang="en-GB" sz="1500" dirty="0"/>
              <a:t>    { </a:t>
            </a:r>
            <a:r>
              <a:rPr lang="en-GB" sz="1500" dirty="0" err="1"/>
              <a:t>orderId</a:t>
            </a:r>
            <a:r>
              <a:rPr lang="en-GB" sz="1500" dirty="0"/>
              <a:t>: "O004", </a:t>
            </a:r>
            <a:r>
              <a:rPr lang="en-GB" sz="1500" dirty="0" err="1"/>
              <a:t>customerId</a:t>
            </a:r>
            <a:r>
              <a:rPr lang="en-GB" sz="1500" dirty="0"/>
              <a:t>: "C004", </a:t>
            </a:r>
            <a:r>
              <a:rPr lang="en-GB" sz="1500" dirty="0" err="1"/>
              <a:t>orderItems</a:t>
            </a:r>
            <a:r>
              <a:rPr lang="en-GB" sz="1500" dirty="0"/>
              <a:t>: ["D001", "D003", "D005"], </a:t>
            </a:r>
            <a:r>
              <a:rPr lang="en-GB" sz="1500" dirty="0" err="1"/>
              <a:t>totalAmount</a:t>
            </a:r>
            <a:r>
              <a:rPr lang="en-GB" sz="1500" dirty="0"/>
              <a:t>: 240, status: "Delivered", </a:t>
            </a:r>
            <a:r>
              <a:rPr lang="en-GB" sz="1500" dirty="0" err="1"/>
              <a:t>orderDate</a:t>
            </a:r>
            <a:r>
              <a:rPr lang="en-GB" sz="1500" dirty="0"/>
              <a:t>: "2025-03-04" },</a:t>
            </a:r>
          </a:p>
          <a:p>
            <a:r>
              <a:rPr lang="en-GB" sz="1500" dirty="0"/>
              <a:t>    { </a:t>
            </a:r>
            <a:r>
              <a:rPr lang="en-GB" sz="1500" dirty="0" err="1"/>
              <a:t>orderId</a:t>
            </a:r>
            <a:r>
              <a:rPr lang="en-GB" sz="1500" dirty="0"/>
              <a:t>: "O005", </a:t>
            </a:r>
            <a:r>
              <a:rPr lang="en-GB" sz="1500" dirty="0" err="1"/>
              <a:t>customerId</a:t>
            </a:r>
            <a:r>
              <a:rPr lang="en-GB" sz="1500" dirty="0"/>
              <a:t>: "C005", </a:t>
            </a:r>
            <a:r>
              <a:rPr lang="en-GB" sz="1500" dirty="0" err="1"/>
              <a:t>orderItems</a:t>
            </a:r>
            <a:r>
              <a:rPr lang="en-GB" sz="1500" dirty="0"/>
              <a:t>: ["D004", "D006"], </a:t>
            </a:r>
            <a:r>
              <a:rPr lang="en-GB" sz="1500" dirty="0" err="1"/>
              <a:t>totalAmount</a:t>
            </a:r>
            <a:r>
              <a:rPr lang="en-GB" sz="1500" dirty="0"/>
              <a:t>: 70, status: "Cancelled", </a:t>
            </a:r>
            <a:r>
              <a:rPr lang="en-GB" sz="1500" dirty="0" err="1"/>
              <a:t>orderDate</a:t>
            </a:r>
            <a:r>
              <a:rPr lang="en-GB" sz="1500" dirty="0"/>
              <a:t>: "2025-03-05" },</a:t>
            </a:r>
          </a:p>
          <a:p>
            <a:r>
              <a:rPr lang="en-GB" sz="1500" dirty="0"/>
              <a:t>    { </a:t>
            </a:r>
            <a:r>
              <a:rPr lang="en-GB" sz="1500" dirty="0" err="1"/>
              <a:t>orderId</a:t>
            </a:r>
            <a:r>
              <a:rPr lang="en-GB" sz="1500" dirty="0"/>
              <a:t>: "O006", </a:t>
            </a:r>
            <a:r>
              <a:rPr lang="en-GB" sz="1500" dirty="0" err="1"/>
              <a:t>customerId</a:t>
            </a:r>
            <a:r>
              <a:rPr lang="en-GB" sz="1500" dirty="0"/>
              <a:t>: "C001", </a:t>
            </a:r>
            <a:r>
              <a:rPr lang="en-GB" sz="1500" dirty="0" err="1"/>
              <a:t>orderItems</a:t>
            </a:r>
            <a:r>
              <a:rPr lang="en-GB" sz="1500" dirty="0"/>
              <a:t>: ["D001", "D003"], </a:t>
            </a:r>
            <a:r>
              <a:rPr lang="en-GB" sz="1500" dirty="0" err="1"/>
              <a:t>totalAmount</a:t>
            </a:r>
            <a:r>
              <a:rPr lang="en-GB" sz="1500" dirty="0"/>
              <a:t>: 170, status: "Delivered", </a:t>
            </a:r>
            <a:r>
              <a:rPr lang="en-GB" sz="1500" dirty="0" err="1"/>
              <a:t>orderDate</a:t>
            </a:r>
            <a:r>
              <a:rPr lang="en-GB" sz="1500" dirty="0"/>
              <a:t>: "2025-03-06" }</a:t>
            </a:r>
          </a:p>
          <a:p>
            <a:r>
              <a:rPr lang="en-GB" sz="1500" dirty="0"/>
              <a:t>];</a:t>
            </a:r>
          </a:p>
          <a:p>
            <a:endParaRPr lang="en-GB" dirty="0"/>
          </a:p>
        </p:txBody>
      </p:sp>
      <p:sp>
        <p:nvSpPr>
          <p:cNvPr id="9" name="TextBox 8"/>
          <p:cNvSpPr txBox="1"/>
          <p:nvPr/>
        </p:nvSpPr>
        <p:spPr>
          <a:xfrm>
            <a:off x="489531" y="5163170"/>
            <a:ext cx="7403822" cy="1708160"/>
          </a:xfrm>
          <a:prstGeom prst="rect">
            <a:avLst/>
          </a:prstGeom>
          <a:noFill/>
        </p:spPr>
        <p:txBody>
          <a:bodyPr wrap="none" rtlCol="0">
            <a:spAutoFit/>
          </a:bodyPr>
          <a:lstStyle/>
          <a:p>
            <a:r>
              <a:rPr lang="en-GB" sz="1500" dirty="0" err="1"/>
              <a:t>const</a:t>
            </a:r>
            <a:r>
              <a:rPr lang="en-GB" sz="1500" dirty="0"/>
              <a:t> customers = [</a:t>
            </a:r>
          </a:p>
          <a:p>
            <a:r>
              <a:rPr lang="en-GB" sz="1500" dirty="0"/>
              <a:t>    { </a:t>
            </a:r>
            <a:r>
              <a:rPr lang="en-GB" sz="1500" dirty="0" err="1"/>
              <a:t>customerId</a:t>
            </a:r>
            <a:r>
              <a:rPr lang="en-GB" sz="1500" dirty="0"/>
              <a:t>: "C001", name: "Alice", email: "alice@example.com", city: "Lahore" },</a:t>
            </a:r>
          </a:p>
          <a:p>
            <a:r>
              <a:rPr lang="en-GB" sz="1500" dirty="0"/>
              <a:t>    { </a:t>
            </a:r>
            <a:r>
              <a:rPr lang="en-GB" sz="1500" dirty="0" err="1"/>
              <a:t>customerId</a:t>
            </a:r>
            <a:r>
              <a:rPr lang="en-GB" sz="1500" dirty="0"/>
              <a:t>: "C002", name: "Bob", email: "bob@example.com", city: "Karachi" },</a:t>
            </a:r>
          </a:p>
          <a:p>
            <a:r>
              <a:rPr lang="en-GB" sz="1500" dirty="0"/>
              <a:t>    { </a:t>
            </a:r>
            <a:r>
              <a:rPr lang="en-GB" sz="1500" dirty="0" err="1"/>
              <a:t>customerId</a:t>
            </a:r>
            <a:r>
              <a:rPr lang="en-GB" sz="1500" dirty="0"/>
              <a:t>: "C003", name: "Charlie", email: "charlie@example.com", city: "Islamabad" },</a:t>
            </a:r>
          </a:p>
          <a:p>
            <a:r>
              <a:rPr lang="en-GB" sz="1500" dirty="0"/>
              <a:t>    { </a:t>
            </a:r>
            <a:r>
              <a:rPr lang="en-GB" sz="1500" dirty="0" err="1"/>
              <a:t>customerId</a:t>
            </a:r>
            <a:r>
              <a:rPr lang="en-GB" sz="1500" dirty="0"/>
              <a:t>: "C004", name: "David", email: "david@example.com", city: "Lahore" },</a:t>
            </a:r>
          </a:p>
          <a:p>
            <a:r>
              <a:rPr lang="en-GB" sz="1500" dirty="0"/>
              <a:t>    { </a:t>
            </a:r>
            <a:r>
              <a:rPr lang="en-GB" sz="1500" dirty="0" err="1"/>
              <a:t>customerId</a:t>
            </a:r>
            <a:r>
              <a:rPr lang="en-GB" sz="1500" dirty="0"/>
              <a:t>: "C005", name: "Eva", email: "eva@example.com", city: "Karachi" }</a:t>
            </a:r>
          </a:p>
          <a:p>
            <a:r>
              <a:rPr lang="en-GB" sz="1500" dirty="0" smtClean="0"/>
              <a:t>];</a:t>
            </a:r>
            <a:endParaRPr lang="en-GB" sz="1500" dirty="0"/>
          </a:p>
        </p:txBody>
      </p:sp>
      <p:sp>
        <p:nvSpPr>
          <p:cNvPr id="10" name="TextBox 9"/>
          <p:cNvSpPr txBox="1"/>
          <p:nvPr/>
        </p:nvSpPr>
        <p:spPr>
          <a:xfrm>
            <a:off x="7362086" y="1359879"/>
            <a:ext cx="2533835" cy="1938992"/>
          </a:xfrm>
          <a:prstGeom prst="rect">
            <a:avLst/>
          </a:prstGeom>
          <a:noFill/>
        </p:spPr>
        <p:txBody>
          <a:bodyPr wrap="none" rtlCol="0">
            <a:spAutoFit/>
          </a:bodyPr>
          <a:lstStyle/>
          <a:p>
            <a:r>
              <a:rPr lang="en-GB" sz="1500" dirty="0" err="1"/>
              <a:t>const</a:t>
            </a:r>
            <a:r>
              <a:rPr lang="en-GB" sz="1500" dirty="0"/>
              <a:t> inventory = [</a:t>
            </a:r>
          </a:p>
          <a:p>
            <a:r>
              <a:rPr lang="en-GB" sz="1500" dirty="0"/>
              <a:t>    { </a:t>
            </a:r>
            <a:r>
              <a:rPr lang="en-GB" sz="1500" dirty="0" err="1"/>
              <a:t>dishId</a:t>
            </a:r>
            <a:r>
              <a:rPr lang="en-GB" sz="1500" dirty="0"/>
              <a:t>: "D001", stock: 20 },</a:t>
            </a:r>
          </a:p>
          <a:p>
            <a:r>
              <a:rPr lang="en-GB" sz="1500" dirty="0"/>
              <a:t>    { </a:t>
            </a:r>
            <a:r>
              <a:rPr lang="en-GB" sz="1500" dirty="0" err="1"/>
              <a:t>dishId</a:t>
            </a:r>
            <a:r>
              <a:rPr lang="en-GB" sz="1500" dirty="0"/>
              <a:t>: "D002", stock: 15 },</a:t>
            </a:r>
          </a:p>
          <a:p>
            <a:r>
              <a:rPr lang="en-GB" sz="1500" dirty="0"/>
              <a:t>    { </a:t>
            </a:r>
            <a:r>
              <a:rPr lang="en-GB" sz="1500" dirty="0" err="1"/>
              <a:t>dishId</a:t>
            </a:r>
            <a:r>
              <a:rPr lang="en-GB" sz="1500" dirty="0"/>
              <a:t>: "D003", stock: 25 },</a:t>
            </a:r>
          </a:p>
          <a:p>
            <a:r>
              <a:rPr lang="en-GB" sz="1500" dirty="0"/>
              <a:t>    { </a:t>
            </a:r>
            <a:r>
              <a:rPr lang="en-GB" sz="1500" dirty="0" err="1"/>
              <a:t>dishId</a:t>
            </a:r>
            <a:r>
              <a:rPr lang="en-GB" sz="1500" dirty="0"/>
              <a:t>: "D004", stock: 30 },</a:t>
            </a:r>
          </a:p>
          <a:p>
            <a:r>
              <a:rPr lang="en-GB" sz="1500" dirty="0"/>
              <a:t>    { </a:t>
            </a:r>
            <a:r>
              <a:rPr lang="en-GB" sz="1500" dirty="0" err="1"/>
              <a:t>dishId</a:t>
            </a:r>
            <a:r>
              <a:rPr lang="en-GB" sz="1500" dirty="0"/>
              <a:t>: "D005", stock: 50 },</a:t>
            </a:r>
          </a:p>
          <a:p>
            <a:r>
              <a:rPr lang="en-GB" sz="1500" dirty="0"/>
              <a:t>    { </a:t>
            </a:r>
            <a:r>
              <a:rPr lang="en-GB" sz="1500" dirty="0" err="1"/>
              <a:t>dishId</a:t>
            </a:r>
            <a:r>
              <a:rPr lang="en-GB" sz="1500" dirty="0"/>
              <a:t>: "D006", stock: 60 }</a:t>
            </a:r>
          </a:p>
          <a:p>
            <a:r>
              <a:rPr lang="en-GB" sz="1500" dirty="0" smtClean="0"/>
              <a:t>];</a:t>
            </a:r>
            <a:endParaRPr lang="en-GB" sz="1500" dirty="0"/>
          </a:p>
        </p:txBody>
      </p:sp>
    </p:spTree>
    <p:extLst>
      <p:ext uri="{BB962C8B-B14F-4D97-AF65-F5344CB8AC3E}">
        <p14:creationId xmlns:p14="http://schemas.microsoft.com/office/powerpoint/2010/main" val="41068615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7572" y="328250"/>
            <a:ext cx="11113477" cy="1200329"/>
          </a:xfrm>
          <a:prstGeom prst="rect">
            <a:avLst/>
          </a:prstGeom>
          <a:noFill/>
        </p:spPr>
        <p:txBody>
          <a:bodyPr wrap="square" rtlCol="0">
            <a:spAutoFit/>
          </a:bodyPr>
          <a:lstStyle/>
          <a:p>
            <a:r>
              <a:rPr lang="en-US" b="1" dirty="0" smtClean="0"/>
              <a:t>Query-1 (Easy)</a:t>
            </a:r>
          </a:p>
          <a:p>
            <a:r>
              <a:rPr lang="en-GB" dirty="0"/>
              <a:t>Write a function that calculates the total revenue generated from all delivered orders. Sum up the </a:t>
            </a:r>
            <a:r>
              <a:rPr lang="en-GB" dirty="0" err="1"/>
              <a:t>totalAmount</a:t>
            </a:r>
            <a:r>
              <a:rPr lang="en-GB" dirty="0"/>
              <a:t> of each delivered order</a:t>
            </a:r>
            <a:r>
              <a:rPr lang="en-GB" dirty="0" smtClean="0"/>
              <a:t>.</a:t>
            </a:r>
          </a:p>
          <a:p>
            <a:r>
              <a:rPr lang="en-US" sz="1600" dirty="0" smtClean="0"/>
              <a:t>Example Output:   </a:t>
            </a:r>
            <a:r>
              <a:rPr lang="en-GB" sz="1600" dirty="0" smtClean="0"/>
              <a:t>Total </a:t>
            </a:r>
            <a:r>
              <a:rPr lang="en-GB" sz="1600" dirty="0"/>
              <a:t>Revenue: 950</a:t>
            </a:r>
          </a:p>
        </p:txBody>
      </p:sp>
      <p:sp>
        <p:nvSpPr>
          <p:cNvPr id="6" name="TextBox 5"/>
          <p:cNvSpPr txBox="1"/>
          <p:nvPr/>
        </p:nvSpPr>
        <p:spPr>
          <a:xfrm>
            <a:off x="222739" y="5404316"/>
            <a:ext cx="11160369" cy="1200329"/>
          </a:xfrm>
          <a:prstGeom prst="rect">
            <a:avLst/>
          </a:prstGeom>
          <a:noFill/>
        </p:spPr>
        <p:txBody>
          <a:bodyPr wrap="square" rtlCol="0">
            <a:spAutoFit/>
          </a:bodyPr>
          <a:lstStyle/>
          <a:p>
            <a:r>
              <a:rPr lang="en-US" b="1" dirty="0" smtClean="0"/>
              <a:t>Query-5 (Medium)</a:t>
            </a:r>
          </a:p>
          <a:p>
            <a:r>
              <a:rPr lang="en-GB" dirty="0"/>
              <a:t>Create a function that returns a list of dish names that have run out of stock (i.e., stock = 0). If all dishes have stock, return an empty list</a:t>
            </a:r>
            <a:r>
              <a:rPr lang="en-GB" dirty="0" smtClean="0"/>
              <a:t>.</a:t>
            </a:r>
          </a:p>
          <a:p>
            <a:r>
              <a:rPr lang="en-US" sz="1600" dirty="0" smtClean="0"/>
              <a:t>Example Output: </a:t>
            </a:r>
            <a:r>
              <a:rPr lang="en-GB" sz="1600" dirty="0" smtClean="0"/>
              <a:t>[Soda]</a:t>
            </a:r>
            <a:endParaRPr lang="en-GB" dirty="0"/>
          </a:p>
        </p:txBody>
      </p:sp>
      <p:sp>
        <p:nvSpPr>
          <p:cNvPr id="7" name="TextBox 6"/>
          <p:cNvSpPr txBox="1"/>
          <p:nvPr/>
        </p:nvSpPr>
        <p:spPr>
          <a:xfrm>
            <a:off x="222740" y="2825264"/>
            <a:ext cx="11078310" cy="1169551"/>
          </a:xfrm>
          <a:prstGeom prst="rect">
            <a:avLst/>
          </a:prstGeom>
          <a:noFill/>
        </p:spPr>
        <p:txBody>
          <a:bodyPr wrap="square" rtlCol="0">
            <a:spAutoFit/>
          </a:bodyPr>
          <a:lstStyle/>
          <a:p>
            <a:r>
              <a:rPr lang="en-US" b="1" dirty="0" smtClean="0"/>
              <a:t>Query-3 (Medium)</a:t>
            </a:r>
          </a:p>
          <a:p>
            <a:r>
              <a:rPr lang="en-GB" dirty="0"/>
              <a:t>Write a function that returns the customer who spent the most money based on their order history. You should sum the </a:t>
            </a:r>
            <a:r>
              <a:rPr lang="en-GB" dirty="0" err="1"/>
              <a:t>totalAmount</a:t>
            </a:r>
            <a:r>
              <a:rPr lang="en-GB" dirty="0"/>
              <a:t> for each customer</a:t>
            </a:r>
            <a:r>
              <a:rPr lang="en-GB" dirty="0" smtClean="0"/>
              <a:t>.</a:t>
            </a:r>
          </a:p>
          <a:p>
            <a:r>
              <a:rPr lang="en-US" sz="1600" dirty="0" smtClean="0"/>
              <a:t>Example Output:  </a:t>
            </a:r>
            <a:r>
              <a:rPr lang="en-GB" sz="1600" dirty="0"/>
              <a:t>{ </a:t>
            </a:r>
            <a:r>
              <a:rPr lang="en-GB" sz="1600" dirty="0" err="1" smtClean="0"/>
              <a:t>customerId</a:t>
            </a:r>
            <a:r>
              <a:rPr lang="en-GB" sz="1600" dirty="0"/>
              <a:t>: "C001",    name: "Alice",    </a:t>
            </a:r>
            <a:r>
              <a:rPr lang="en-GB" sz="1600" dirty="0" err="1"/>
              <a:t>totalSpent</a:t>
            </a:r>
            <a:r>
              <a:rPr lang="en-GB" sz="1600" dirty="0"/>
              <a:t>: 440</a:t>
            </a:r>
            <a:r>
              <a:rPr lang="en-GB" sz="1600" dirty="0" smtClean="0"/>
              <a:t>}</a:t>
            </a:r>
            <a:endParaRPr lang="en-GB" sz="1600" dirty="0"/>
          </a:p>
        </p:txBody>
      </p:sp>
      <p:sp>
        <p:nvSpPr>
          <p:cNvPr id="8" name="TextBox 7"/>
          <p:cNvSpPr txBox="1"/>
          <p:nvPr/>
        </p:nvSpPr>
        <p:spPr>
          <a:xfrm>
            <a:off x="281355" y="4079635"/>
            <a:ext cx="10937634" cy="1200329"/>
          </a:xfrm>
          <a:prstGeom prst="rect">
            <a:avLst/>
          </a:prstGeom>
          <a:noFill/>
        </p:spPr>
        <p:txBody>
          <a:bodyPr wrap="square" rtlCol="0">
            <a:spAutoFit/>
          </a:bodyPr>
          <a:lstStyle/>
          <a:p>
            <a:r>
              <a:rPr lang="en-US" b="1" dirty="0" smtClean="0"/>
              <a:t>Query-4 (Medium)</a:t>
            </a:r>
          </a:p>
          <a:p>
            <a:r>
              <a:rPr lang="en-GB" dirty="0"/>
              <a:t>Write a function that returns the top 3 best-selling dishes based on the number of times they were ordered. The result should be an array of dish names in descending order of sales</a:t>
            </a:r>
            <a:r>
              <a:rPr lang="en-GB" dirty="0" smtClean="0"/>
              <a:t>.</a:t>
            </a:r>
          </a:p>
          <a:p>
            <a:r>
              <a:rPr lang="en-US" sz="1600" dirty="0" smtClean="0"/>
              <a:t>Example Output:  </a:t>
            </a:r>
            <a:r>
              <a:rPr lang="en-GB" sz="1600" dirty="0"/>
              <a:t>["Pasta", "Pizza", "Salad"]</a:t>
            </a:r>
          </a:p>
        </p:txBody>
      </p:sp>
      <p:sp>
        <p:nvSpPr>
          <p:cNvPr id="9" name="TextBox 8"/>
          <p:cNvSpPr txBox="1"/>
          <p:nvPr/>
        </p:nvSpPr>
        <p:spPr>
          <a:xfrm>
            <a:off x="257909" y="1582643"/>
            <a:ext cx="10846816" cy="1138773"/>
          </a:xfrm>
          <a:prstGeom prst="rect">
            <a:avLst/>
          </a:prstGeom>
          <a:noFill/>
        </p:spPr>
        <p:txBody>
          <a:bodyPr wrap="none" rtlCol="0">
            <a:spAutoFit/>
          </a:bodyPr>
          <a:lstStyle/>
          <a:p>
            <a:r>
              <a:rPr lang="en-US" b="1" dirty="0" smtClean="0"/>
              <a:t>Query-2(Easy)</a:t>
            </a:r>
          </a:p>
          <a:p>
            <a:r>
              <a:rPr lang="en-GB" dirty="0"/>
              <a:t>Write a function that filters and returns an array of orders that are still in the "Pending" status</a:t>
            </a:r>
            <a:r>
              <a:rPr lang="en-GB" dirty="0" smtClean="0"/>
              <a:t>.</a:t>
            </a:r>
          </a:p>
          <a:p>
            <a:r>
              <a:rPr lang="en-US" sz="1600" dirty="0" smtClean="0"/>
              <a:t>Example Output:  </a:t>
            </a:r>
            <a:r>
              <a:rPr lang="en-GB" sz="1600" dirty="0"/>
              <a:t>[    { </a:t>
            </a:r>
            <a:r>
              <a:rPr lang="en-GB" sz="1600" dirty="0" err="1"/>
              <a:t>orderId</a:t>
            </a:r>
            <a:r>
              <a:rPr lang="en-GB" sz="1600" dirty="0"/>
              <a:t>: "O003", </a:t>
            </a:r>
            <a:r>
              <a:rPr lang="en-GB" sz="1600" dirty="0" err="1"/>
              <a:t>customerId</a:t>
            </a:r>
            <a:r>
              <a:rPr lang="en-GB" sz="1600" dirty="0"/>
              <a:t>: "C003", </a:t>
            </a:r>
            <a:r>
              <a:rPr lang="en-GB" sz="1600" dirty="0" err="1"/>
              <a:t>orderItems</a:t>
            </a:r>
            <a:r>
              <a:rPr lang="en-GB" sz="1600" dirty="0"/>
              <a:t>: ["D002", "D004"], </a:t>
            </a:r>
            <a:r>
              <a:rPr lang="en-GB" sz="1600" dirty="0" err="1"/>
              <a:t>totalAmount</a:t>
            </a:r>
            <a:r>
              <a:rPr lang="en-GB" sz="1600" dirty="0"/>
              <a:t>: 190, status: "Pending", </a:t>
            </a:r>
            <a:endParaRPr lang="en-GB" sz="1600" dirty="0" smtClean="0"/>
          </a:p>
          <a:p>
            <a:r>
              <a:rPr lang="en-GB" sz="1600" dirty="0" err="1" smtClean="0"/>
              <a:t>orderDate</a:t>
            </a:r>
            <a:r>
              <a:rPr lang="en-GB" sz="1600" dirty="0"/>
              <a:t>: "2025-03-03" }]</a:t>
            </a:r>
            <a:endParaRPr lang="en-GB" dirty="0"/>
          </a:p>
        </p:txBody>
      </p:sp>
    </p:spTree>
    <p:extLst>
      <p:ext uri="{BB962C8B-B14F-4D97-AF65-F5344CB8AC3E}">
        <p14:creationId xmlns:p14="http://schemas.microsoft.com/office/powerpoint/2010/main" val="16442828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8011385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8354</TotalTime>
  <Words>2780</Words>
  <Application>Microsoft Office PowerPoint</Application>
  <PresentationFormat>Custom</PresentationFormat>
  <Paragraphs>169</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Scenario-1</vt:lpstr>
      <vt:lpstr>PowerPoint Presentation</vt:lpstr>
      <vt:lpstr>PowerPoint Presentation</vt:lpstr>
      <vt:lpstr>Scenario-2</vt:lpstr>
      <vt:lpstr>Scenario-2</vt:lpstr>
      <vt:lpstr>PowerPoint Presentation</vt:lpstr>
      <vt:lpstr>Scenario-3</vt:lpstr>
      <vt:lpstr>PowerPoint Presentation</vt:lpstr>
      <vt:lpstr>PowerPoint Presentation</vt:lpstr>
      <vt:lpstr>Scenario-4</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Designer</dc:creator>
  <cp:lastModifiedBy>Cb5agh</cp:lastModifiedBy>
  <cp:revision>133</cp:revision>
  <dcterms:created xsi:type="dcterms:W3CDTF">2022-04-06T09:07:20Z</dcterms:created>
  <dcterms:modified xsi:type="dcterms:W3CDTF">2025-03-26T04:45:51Z</dcterms:modified>
</cp:coreProperties>
</file>
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257" r:id="rId3"/>
    <p:sldId id="310" r:id="rId4"/>
    <p:sldId id="264" r:id="rId5"/>
    <p:sldId id="262" r:id="rId6"/>
    <p:sldId id="311" r:id="rId7"/>
    <p:sldId id="312" r:id="rId8"/>
    <p:sldId id="313" r:id="rId9"/>
    <p:sldId id="361" r:id="rId10"/>
    <p:sldId id="263" r:id="rId11"/>
    <p:sldId id="377" r:id="rId12"/>
    <p:sldId id="378" r:id="rId13"/>
    <p:sldId id="379" r:id="rId14"/>
    <p:sldId id="314" r:id="rId15"/>
    <p:sldId id="265" r:id="rId16"/>
    <p:sldId id="315" r:id="rId17"/>
    <p:sldId id="316" r:id="rId18"/>
    <p:sldId id="317" r:id="rId19"/>
    <p:sldId id="318" r:id="rId20"/>
    <p:sldId id="319" r:id="rId21"/>
    <p:sldId id="320" r:id="rId22"/>
    <p:sldId id="321" r:id="rId23"/>
    <p:sldId id="380" r:id="rId24"/>
    <p:sldId id="322" r:id="rId25"/>
    <p:sldId id="383" r:id="rId26"/>
    <p:sldId id="365" r:id="rId27"/>
    <p:sldId id="362" r:id="rId28"/>
    <p:sldId id="364" r:id="rId29"/>
    <p:sldId id="363" r:id="rId30"/>
    <p:sldId id="382" r:id="rId31"/>
    <p:sldId id="323" r:id="rId32"/>
    <p:sldId id="349" r:id="rId33"/>
    <p:sldId id="324" r:id="rId34"/>
    <p:sldId id="325" r:id="rId35"/>
    <p:sldId id="326" r:id="rId36"/>
    <p:sldId id="327" r:id="rId37"/>
    <p:sldId id="328" r:id="rId38"/>
    <p:sldId id="330" r:id="rId39"/>
    <p:sldId id="331" r:id="rId40"/>
    <p:sldId id="375" r:id="rId41"/>
    <p:sldId id="376" r:id="rId42"/>
    <p:sldId id="366" r:id="rId43"/>
    <p:sldId id="352" r:id="rId44"/>
    <p:sldId id="353" r:id="rId45"/>
    <p:sldId id="335" r:id="rId46"/>
    <p:sldId id="336" r:id="rId47"/>
    <p:sldId id="337" r:id="rId48"/>
    <p:sldId id="338" r:id="rId49"/>
    <p:sldId id="339" r:id="rId50"/>
    <p:sldId id="340" r:id="rId51"/>
    <p:sldId id="341" r:id="rId52"/>
    <p:sldId id="342" r:id="rId53"/>
    <p:sldId id="343" r:id="rId54"/>
    <p:sldId id="344" r:id="rId55"/>
    <p:sldId id="345" r:id="rId56"/>
    <p:sldId id="346" r:id="rId57"/>
    <p:sldId id="354" r:id="rId58"/>
    <p:sldId id="332" r:id="rId59"/>
    <p:sldId id="347" r:id="rId60"/>
    <p:sldId id="348" r:id="rId61"/>
    <p:sldId id="350" r:id="rId62"/>
    <p:sldId id="371" r:id="rId63"/>
    <p:sldId id="367" r:id="rId64"/>
    <p:sldId id="368" r:id="rId65"/>
    <p:sldId id="370" r:id="rId66"/>
    <p:sldId id="372" r:id="rId67"/>
    <p:sldId id="374" r:id="rId68"/>
    <p:sldId id="369" r:id="rId69"/>
    <p:sldId id="373" r:id="rId70"/>
    <p:sldId id="268" r:id="rId71"/>
    <p:sldId id="269" r:id="rId72"/>
    <p:sldId id="298"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985E"/>
    <a:srgbClr val="0296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FA061F-5945-4858-A547-239B8D0C13AD}" v="56" dt="2022-04-06T12:03:49.5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4" d="100"/>
          <a:sy n="74" d="100"/>
        </p:scale>
        <p:origin x="54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929D73-9A87-44BA-87AF-7C64578B240F}" type="datetimeFigureOut">
              <a:rPr lang="en-US" smtClean="0"/>
              <a:t>3/3/2026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556B15-0856-4121-AAB7-C8F0CBDE875A}" type="slidenum">
              <a:rPr lang="en-US" smtClean="0"/>
              <a:t>‹#›</a:t>
            </a:fld>
            <a:endParaRPr lang="en-US"/>
          </a:p>
        </p:txBody>
      </p:sp>
    </p:spTree>
    <p:extLst>
      <p:ext uri="{BB962C8B-B14F-4D97-AF65-F5344CB8AC3E}">
        <p14:creationId xmlns:p14="http://schemas.microsoft.com/office/powerpoint/2010/main" val="4125801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556B15-0856-4121-AAB7-C8F0CBDE875A}" type="slidenum">
              <a:rPr lang="en-US" smtClean="0"/>
              <a:t>10</a:t>
            </a:fld>
            <a:endParaRPr lang="en-US"/>
          </a:p>
        </p:txBody>
      </p:sp>
    </p:spTree>
    <p:extLst>
      <p:ext uri="{BB962C8B-B14F-4D97-AF65-F5344CB8AC3E}">
        <p14:creationId xmlns:p14="http://schemas.microsoft.com/office/powerpoint/2010/main" val="2299511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556B15-0856-4121-AAB7-C8F0CBDE875A}" type="slidenum">
              <a:rPr lang="en-US" smtClean="0"/>
              <a:t>71</a:t>
            </a:fld>
            <a:endParaRPr lang="en-US"/>
          </a:p>
        </p:txBody>
      </p:sp>
    </p:spTree>
    <p:extLst>
      <p:ext uri="{BB962C8B-B14F-4D97-AF65-F5344CB8AC3E}">
        <p14:creationId xmlns:p14="http://schemas.microsoft.com/office/powerpoint/2010/main" val="3720286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3B86AA8-458E-4A4F-AD13-B0B04124F6C3}" type="datetime1">
              <a:rPr lang="en-US" smtClean="0"/>
              <a:t>3/3/2026</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17208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5E3EB9-6B3E-4CC0-A2CB-6B1ED04CBAE1}" type="datetime1">
              <a:rPr lang="en-US" smtClean="0"/>
              <a:t>3/3/2026</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23877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9E772BE-3B88-4448-9D14-22C5EB54937F}" type="datetime1">
              <a:rPr lang="en-US" smtClean="0"/>
              <a:t>3/3/2026</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3174599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2100554-2FC9-4002-A79E-635AA29674D6}" type="datetime1">
              <a:rPr lang="en-US" smtClean="0"/>
              <a:t>3/3/2026</a:t>
            </a:fld>
            <a:endParaRPr lang="en-US"/>
          </a:p>
        </p:txBody>
      </p:sp>
      <p:sp>
        <p:nvSpPr>
          <p:cNvPr id="6" name="Footer Placeholder 5"/>
          <p:cNvSpPr>
            <a:spLocks noGrp="1"/>
          </p:cNvSpPr>
          <p:nvPr>
            <p:ph type="ftr" sz="quarter" idx="11"/>
          </p:nvPr>
        </p:nvSpPr>
        <p:spPr/>
        <p:txBody>
          <a:bodyPr/>
          <a:lstStyle/>
          <a:p>
            <a:r>
              <a:rPr lang="en-US" smtClean="0"/>
              <a:t>IT Industry-Academia Bridge Program</a:t>
            </a:r>
            <a:endParaRPr lang="en-US"/>
          </a:p>
        </p:txBody>
      </p:sp>
      <p:sp>
        <p:nvSpPr>
          <p:cNvPr id="7" name="Slide Number Placeholder 6"/>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4017857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5A03513-869C-4A96-8299-A1139FD2C595}" type="datetime1">
              <a:rPr lang="en-US" smtClean="0"/>
              <a:t>3/3/2026</a:t>
            </a:fld>
            <a:endParaRPr lang="en-US"/>
          </a:p>
        </p:txBody>
      </p:sp>
      <p:sp>
        <p:nvSpPr>
          <p:cNvPr id="8" name="Footer Placeholder 7"/>
          <p:cNvSpPr>
            <a:spLocks noGrp="1"/>
          </p:cNvSpPr>
          <p:nvPr>
            <p:ph type="ftr" sz="quarter" idx="11"/>
          </p:nvPr>
        </p:nvSpPr>
        <p:spPr/>
        <p:txBody>
          <a:bodyPr/>
          <a:lstStyle/>
          <a:p>
            <a:r>
              <a:rPr lang="en-US" smtClean="0"/>
              <a:t>IT Industry-Academia Bridge Program</a:t>
            </a:r>
            <a:endParaRPr lang="en-US"/>
          </a:p>
        </p:txBody>
      </p:sp>
      <p:sp>
        <p:nvSpPr>
          <p:cNvPr id="9" name="Slide Number Placeholder 8"/>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749068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31D81E-083C-45EE-B807-4E79B9577858}" type="datetime1">
              <a:rPr lang="en-US" smtClean="0"/>
              <a:t>3/3/2026</a:t>
            </a:fld>
            <a:endParaRPr lang="en-US"/>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
        <p:nvSpPr>
          <p:cNvPr id="5" name="Slide Number Placeholder 4"/>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3217094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F81299-554B-48CC-965A-BF4495463D1B}" type="datetime1">
              <a:rPr lang="en-US" smtClean="0"/>
              <a:t>3/3/2026</a:t>
            </a:fld>
            <a:endParaRPr lang="en-US"/>
          </a:p>
        </p:txBody>
      </p:sp>
      <p:sp>
        <p:nvSpPr>
          <p:cNvPr id="3" name="Footer Placeholder 2"/>
          <p:cNvSpPr>
            <a:spLocks noGrp="1"/>
          </p:cNvSpPr>
          <p:nvPr>
            <p:ph type="ftr" sz="quarter" idx="11"/>
          </p:nvPr>
        </p:nvSpPr>
        <p:spPr/>
        <p:txBody>
          <a:bodyPr/>
          <a:lstStyle/>
          <a:p>
            <a:r>
              <a:rPr lang="en-US" smtClean="0"/>
              <a:t>IT Industry-Academia Bridge Program</a:t>
            </a:r>
            <a:endParaRPr lang="en-US"/>
          </a:p>
        </p:txBody>
      </p:sp>
      <p:sp>
        <p:nvSpPr>
          <p:cNvPr id="4" name="Slide Number Placeholder 3"/>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440596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9580748-8DD1-475E-B624-BDEAED64B0BF}" type="datetime1">
              <a:rPr lang="en-US" smtClean="0"/>
              <a:t>3/3/2026</a:t>
            </a:fld>
            <a:endParaRPr lang="en-US"/>
          </a:p>
        </p:txBody>
      </p:sp>
      <p:sp>
        <p:nvSpPr>
          <p:cNvPr id="6" name="Footer Placeholder 5"/>
          <p:cNvSpPr>
            <a:spLocks noGrp="1"/>
          </p:cNvSpPr>
          <p:nvPr>
            <p:ph type="ftr" sz="quarter" idx="11"/>
          </p:nvPr>
        </p:nvSpPr>
        <p:spPr/>
        <p:txBody>
          <a:bodyPr/>
          <a:lstStyle/>
          <a:p>
            <a:r>
              <a:rPr lang="en-US" smtClean="0"/>
              <a:t>IT Industry-Academia Bridge Program</a:t>
            </a:r>
            <a:endParaRPr lang="en-US"/>
          </a:p>
        </p:txBody>
      </p:sp>
      <p:sp>
        <p:nvSpPr>
          <p:cNvPr id="7" name="Slide Number Placeholder 6"/>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1847591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E595C81-ABA7-4EA6-9A2B-7847E819BF33}" type="datetime1">
              <a:rPr lang="en-US" smtClean="0"/>
              <a:t>3/3/2026</a:t>
            </a:fld>
            <a:endParaRPr lang="en-US"/>
          </a:p>
        </p:txBody>
      </p:sp>
      <p:sp>
        <p:nvSpPr>
          <p:cNvPr id="6" name="Footer Placeholder 5"/>
          <p:cNvSpPr>
            <a:spLocks noGrp="1"/>
          </p:cNvSpPr>
          <p:nvPr>
            <p:ph type="ftr" sz="quarter" idx="11"/>
          </p:nvPr>
        </p:nvSpPr>
        <p:spPr/>
        <p:txBody>
          <a:bodyPr/>
          <a:lstStyle/>
          <a:p>
            <a:r>
              <a:rPr lang="en-US" smtClean="0"/>
              <a:t>IT Industry-Academia Bridge Program</a:t>
            </a:r>
            <a:endParaRPr lang="en-US"/>
          </a:p>
        </p:txBody>
      </p:sp>
      <p:sp>
        <p:nvSpPr>
          <p:cNvPr id="7" name="Slide Number Placeholder 6"/>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3362963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92C7A2-8CE1-4A33-83B2-49624AB38BC9}" type="datetime1">
              <a:rPr lang="en-US" smtClean="0"/>
              <a:t>3/3/2026</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4270678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854C9B-22E6-44DE-9981-73455F6EBED3}" type="datetime1">
              <a:rPr lang="en-US" smtClean="0"/>
              <a:t>3/3/2026</a:t>
            </a:fld>
            <a:endParaRPr lang="en-US"/>
          </a:p>
        </p:txBody>
      </p:sp>
      <p:sp>
        <p:nvSpPr>
          <p:cNvPr id="5" name="Footer Placeholder 4"/>
          <p:cNvSpPr>
            <a:spLocks noGrp="1"/>
          </p:cNvSpPr>
          <p:nvPr>
            <p:ph type="ftr" sz="quarter" idx="11"/>
          </p:nvPr>
        </p:nvSpPr>
        <p:spPr/>
        <p:txBody>
          <a:bodyPr/>
          <a:lstStyle/>
          <a:p>
            <a:r>
              <a:rPr lang="en-US" smtClean="0"/>
              <a:t>IT Industry-Academia Bridge Program</a:t>
            </a:r>
            <a:endParaRPr lang="en-US"/>
          </a:p>
        </p:txBody>
      </p:sp>
      <p:sp>
        <p:nvSpPr>
          <p:cNvPr id="6" name="Slide Number Placeholder 5"/>
          <p:cNvSpPr>
            <a:spLocks noGrp="1"/>
          </p:cNvSpPr>
          <p:nvPr>
            <p:ph type="sldNum" sz="quarter" idx="12"/>
          </p:nvPr>
        </p:nvSpPr>
        <p:spPr/>
        <p:txBody>
          <a:bodyPr/>
          <a:lstStyle/>
          <a:p>
            <a:fld id="{CD6EE78D-3A55-4166-9906-926CAD5E0DCA}" type="slidenum">
              <a:rPr lang="en-US" smtClean="0"/>
              <a:t>‹#›</a:t>
            </a:fld>
            <a:endParaRPr lang="en-US"/>
          </a:p>
        </p:txBody>
      </p:sp>
    </p:spTree>
    <p:extLst>
      <p:ext uri="{BB962C8B-B14F-4D97-AF65-F5344CB8AC3E}">
        <p14:creationId xmlns:p14="http://schemas.microsoft.com/office/powerpoint/2010/main" val="3757994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937246-9EE9-4ECB-8BB3-D1F347E5C363}" type="datetime1">
              <a:rPr lang="en-US" smtClean="0"/>
              <a:t>3/3/2026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IT Industry-Academia Bridge Program</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6EE78D-3A55-4166-9906-926CAD5E0DCA}" type="slidenum">
              <a:rPr lang="en-US" smtClean="0"/>
              <a:t>‹#›</a:t>
            </a:fld>
            <a:endParaRPr lang="en-US"/>
          </a:p>
        </p:txBody>
      </p:sp>
    </p:spTree>
    <p:extLst>
      <p:ext uri="{BB962C8B-B14F-4D97-AF65-F5344CB8AC3E}">
        <p14:creationId xmlns:p14="http://schemas.microsoft.com/office/powerpoint/2010/main" val="19100154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tutorialrepublic.com/css-tutoria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w3schools.com/css/"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www.w3.org/TR/CSS21/conform.html#doctre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fontawesome.co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www.flexboxdefense.com/" TargetMode="External"/><Relationship Id="rId2" Type="http://schemas.openxmlformats.org/officeDocument/2006/relationships/hyperlink" Target="https://gridbyexample.com/" TargetMode="External"/><Relationship Id="rId1" Type="http://schemas.openxmlformats.org/officeDocument/2006/relationships/slideLayout" Target="../slideLayouts/slideLayout2.xml"/><Relationship Id="rId6" Type="http://schemas.openxmlformats.org/officeDocument/2006/relationships/hyperlink" Target="https://cssbattle.dev/" TargetMode="External"/><Relationship Id="rId5" Type="http://schemas.openxmlformats.org/officeDocument/2006/relationships/hyperlink" Target="https://gridcritters.com/" TargetMode="External"/><Relationship Id="rId4" Type="http://schemas.openxmlformats.org/officeDocument/2006/relationships/hyperlink" Target="https://flexboxfroggy.com/"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s://www.joshwcomeau.com/css/interactive-guide-to-grid/" TargetMode="External"/><Relationship Id="rId2" Type="http://schemas.openxmlformats.org/officeDocument/2006/relationships/hyperlink" Target="https://developer.mozilla.org/en-US/docs/Web/CSS/CSS_grid_layout/Basic_concepts_of_grid_layout"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sosceles Triangle 3"/>
          <p:cNvSpPr/>
          <p:nvPr/>
        </p:nvSpPr>
        <p:spPr>
          <a:xfrm>
            <a:off x="8909538" y="3133898"/>
            <a:ext cx="3375287" cy="3724102"/>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02967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033413" y="2142513"/>
            <a:ext cx="6834554" cy="769441"/>
          </a:xfrm>
          <a:prstGeom prst="rect">
            <a:avLst/>
          </a:prstGeom>
          <a:noFill/>
        </p:spPr>
        <p:txBody>
          <a:bodyPr wrap="square" rtlCol="0">
            <a:spAutoFit/>
          </a:bodyPr>
          <a:lstStyle/>
          <a:p>
            <a:r>
              <a:rPr lang="en-US" sz="4400" b="1" dirty="0" smtClean="0"/>
              <a:t>CSS</a:t>
            </a:r>
          </a:p>
        </p:txBody>
      </p:sp>
      <p:sp>
        <p:nvSpPr>
          <p:cNvPr id="2" name="Footer Placeholder 1"/>
          <p:cNvSpPr>
            <a:spLocks noGrp="1"/>
          </p:cNvSpPr>
          <p:nvPr>
            <p:ph type="ftr" sz="quarter" idx="11"/>
          </p:nvPr>
        </p:nvSpPr>
        <p:spPr>
          <a:xfrm>
            <a:off x="4038600" y="6446503"/>
            <a:ext cx="4114800" cy="365125"/>
          </a:xfrm>
        </p:spPr>
        <p:txBody>
          <a:bodyPr/>
          <a:lstStyle/>
          <a:p>
            <a:r>
              <a:rPr lang="en-US" smtClean="0"/>
              <a:t>IT Industry-Academia Bridge Program</a:t>
            </a:r>
            <a:endParaRPr lang="en-US"/>
          </a:p>
        </p:txBody>
      </p:sp>
    </p:spTree>
    <p:extLst>
      <p:ext uri="{BB962C8B-B14F-4D97-AF65-F5344CB8AC3E}">
        <p14:creationId xmlns:p14="http://schemas.microsoft.com/office/powerpoint/2010/main" val="2623087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sosceles Triangle 3"/>
          <p:cNvSpPr/>
          <p:nvPr/>
        </p:nvSpPr>
        <p:spPr>
          <a:xfrm>
            <a:off x="10084158" y="4546242"/>
            <a:ext cx="2107842" cy="2311758"/>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02967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p:txBody>
          <a:bodyPr/>
          <a:lstStyle/>
          <a:p>
            <a:r>
              <a:rPr lang="en-US" dirty="0" smtClean="0"/>
              <a:t>CSS</a:t>
            </a:r>
            <a:endParaRPr lang="en-GB" dirty="0"/>
          </a:p>
        </p:txBody>
      </p:sp>
      <p:sp>
        <p:nvSpPr>
          <p:cNvPr id="7" name="Content Placeholder 6"/>
          <p:cNvSpPr>
            <a:spLocks noGrp="1"/>
          </p:cNvSpPr>
          <p:nvPr>
            <p:ph idx="1"/>
          </p:nvPr>
        </p:nvSpPr>
        <p:spPr>
          <a:xfrm>
            <a:off x="829081" y="2282825"/>
            <a:ext cx="10515600" cy="2969113"/>
          </a:xfrm>
        </p:spPr>
        <p:txBody>
          <a:bodyPr>
            <a:normAutofit/>
          </a:bodyPr>
          <a:lstStyle/>
          <a:p>
            <a:pPr marL="0" indent="0" algn="just">
              <a:buNone/>
            </a:pPr>
            <a:r>
              <a:rPr lang="en-US" dirty="0"/>
              <a:t>CSS, or Cascading Style Sheets, is a fundamental </a:t>
            </a:r>
            <a:r>
              <a:rPr lang="en-US" dirty="0" smtClean="0"/>
              <a:t>styling language used </a:t>
            </a:r>
            <a:r>
              <a:rPr lang="en-US" dirty="0"/>
              <a:t>in web development to control the presentation and layout of HTML (Hypertext Markup Language) documents</a:t>
            </a:r>
            <a:r>
              <a:rPr lang="en-US" dirty="0" smtClean="0"/>
              <a:t>.</a:t>
            </a:r>
          </a:p>
          <a:p>
            <a:pPr marL="0" indent="0">
              <a:buNone/>
            </a:pPr>
            <a:endParaRPr lang="en-US" dirty="0"/>
          </a:p>
          <a:p>
            <a:pPr marL="0" indent="0">
              <a:buNone/>
            </a:pPr>
            <a:r>
              <a:rPr lang="en-US" dirty="0" smtClean="0"/>
              <a:t>It was propose for the </a:t>
            </a:r>
            <a:r>
              <a:rPr lang="en-US" dirty="0"/>
              <a:t>concept of separating structure (HTML) and presentation (styles</a:t>
            </a:r>
            <a:r>
              <a:rPr lang="en-US" dirty="0" smtClean="0"/>
              <a:t>) by </a:t>
            </a:r>
            <a:r>
              <a:rPr lang="de-DE" dirty="0"/>
              <a:t>Håkon Wium Lie and Bert Bos in 1994.</a:t>
            </a:r>
            <a:endParaRPr lang="en-US" dirty="0" smtClean="0"/>
          </a:p>
          <a:p>
            <a:pPr marL="0" indent="0">
              <a:buNone/>
            </a:pPr>
            <a:endParaRPr lang="en-US" dirty="0"/>
          </a:p>
        </p:txBody>
      </p:sp>
      <p:sp>
        <p:nvSpPr>
          <p:cNvPr id="2" name="Footer Placeholder 1"/>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28610170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Purpose of CSS</a:t>
            </a:r>
            <a:endParaRPr lang="en-GB" dirty="0"/>
          </a:p>
        </p:txBody>
      </p:sp>
      <p:sp>
        <p:nvSpPr>
          <p:cNvPr id="3" name="Content Placeholder 2"/>
          <p:cNvSpPr>
            <a:spLocks noGrp="1"/>
          </p:cNvSpPr>
          <p:nvPr>
            <p:ph idx="1"/>
          </p:nvPr>
        </p:nvSpPr>
        <p:spPr/>
        <p:txBody>
          <a:bodyPr>
            <a:normAutofit lnSpcReduction="10000"/>
          </a:bodyPr>
          <a:lstStyle/>
          <a:p>
            <a:r>
              <a:rPr lang="en-US" b="1" dirty="0"/>
              <a:t>Separation of Concern:</a:t>
            </a:r>
            <a:r>
              <a:rPr lang="en-US" dirty="0"/>
              <a:t> </a:t>
            </a:r>
            <a:endParaRPr lang="en-US" dirty="0" smtClean="0"/>
          </a:p>
          <a:p>
            <a:pPr lvl="1"/>
            <a:r>
              <a:rPr lang="en-US" dirty="0" smtClean="0"/>
              <a:t>HTML </a:t>
            </a:r>
            <a:r>
              <a:rPr lang="en-US" dirty="0"/>
              <a:t>focuses on the structure and semantics of content, while CSS handles the styling and layout. This separation makes code more modular, maintainable, and adaptable to different devices and screen sizes.</a:t>
            </a:r>
          </a:p>
          <a:p>
            <a:r>
              <a:rPr lang="en-US" b="1" dirty="0"/>
              <a:t>Consistent Styling:</a:t>
            </a:r>
            <a:endParaRPr lang="en-US" dirty="0"/>
          </a:p>
          <a:p>
            <a:pPr lvl="1"/>
            <a:r>
              <a:rPr lang="en-US" dirty="0"/>
              <a:t>CSS enables consistent styling across multiple pages of a website. By creating a set of style rules, you can apply a unified look and feel, maintaining brand consistency.</a:t>
            </a:r>
          </a:p>
          <a:p>
            <a:r>
              <a:rPr lang="en-US" b="1" dirty="0"/>
              <a:t>Responsive Design:</a:t>
            </a:r>
            <a:endParaRPr lang="en-US" dirty="0"/>
          </a:p>
          <a:p>
            <a:pPr lvl="1"/>
            <a:r>
              <a:rPr lang="en-US" dirty="0"/>
              <a:t>With the rise of various devices, from desktop computers to smartphones and tablets, responsive design is crucial. CSS plays a pivotal role in creating layouts that adapt to different screen sizes and resolutions.</a:t>
            </a:r>
          </a:p>
          <a:p>
            <a:pPr marL="0" indent="0">
              <a:buNone/>
            </a:pPr>
            <a:endParaRPr lang="en-GB" dirty="0"/>
          </a:p>
        </p:txBody>
      </p:sp>
    </p:spTree>
    <p:extLst>
      <p:ext uri="{BB962C8B-B14F-4D97-AF65-F5344CB8AC3E}">
        <p14:creationId xmlns:p14="http://schemas.microsoft.com/office/powerpoint/2010/main" val="32861999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sosceles Triangle 3"/>
          <p:cNvSpPr/>
          <p:nvPr/>
        </p:nvSpPr>
        <p:spPr>
          <a:xfrm>
            <a:off x="10084158" y="4546242"/>
            <a:ext cx="2107842" cy="2311758"/>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02967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838200" y="365126"/>
            <a:ext cx="10515600" cy="1194044"/>
          </a:xfrm>
        </p:spPr>
        <p:txBody>
          <a:bodyPr/>
          <a:lstStyle/>
          <a:p>
            <a:r>
              <a:rPr lang="en-US" dirty="0" smtClean="0"/>
              <a:t>CSS and HTML Integration</a:t>
            </a:r>
            <a:endParaRPr lang="en-GB" dirty="0"/>
          </a:p>
        </p:txBody>
      </p:sp>
      <p:sp>
        <p:nvSpPr>
          <p:cNvPr id="7" name="Content Placeholder 6"/>
          <p:cNvSpPr>
            <a:spLocks noGrp="1"/>
          </p:cNvSpPr>
          <p:nvPr>
            <p:ph idx="1"/>
          </p:nvPr>
        </p:nvSpPr>
        <p:spPr>
          <a:xfrm>
            <a:off x="524281" y="1559170"/>
            <a:ext cx="11125200" cy="4892430"/>
          </a:xfrm>
        </p:spPr>
        <p:txBody>
          <a:bodyPr>
            <a:normAutofit fontScale="92500" lnSpcReduction="10000"/>
          </a:bodyPr>
          <a:lstStyle/>
          <a:p>
            <a:pPr marL="0" indent="0">
              <a:buNone/>
            </a:pPr>
            <a:r>
              <a:rPr lang="en-US" dirty="0" smtClean="0"/>
              <a:t>To </a:t>
            </a:r>
            <a:r>
              <a:rPr lang="en-US" dirty="0"/>
              <a:t>apply CSS to an HTML document, you can use various methods</a:t>
            </a:r>
            <a:r>
              <a:rPr lang="en-US" dirty="0" smtClean="0"/>
              <a:t>:</a:t>
            </a:r>
          </a:p>
          <a:p>
            <a:pPr marL="0" indent="0">
              <a:buNone/>
            </a:pPr>
            <a:r>
              <a:rPr lang="en-US" b="1" dirty="0"/>
              <a:t>Inline </a:t>
            </a:r>
            <a:r>
              <a:rPr lang="en-US" b="1" dirty="0" smtClean="0"/>
              <a:t>Styles:</a:t>
            </a:r>
            <a:r>
              <a:rPr lang="en-US" dirty="0"/>
              <a:t> </a:t>
            </a:r>
            <a:r>
              <a:rPr lang="en-US" dirty="0" smtClean="0"/>
              <a:t>Apply </a:t>
            </a:r>
            <a:r>
              <a:rPr lang="en-US" dirty="0"/>
              <a:t>styles directly within HTML tags using the style attribute.</a:t>
            </a:r>
          </a:p>
          <a:p>
            <a:pPr marL="457200" lvl="1" indent="0">
              <a:buNone/>
            </a:pPr>
            <a:r>
              <a:rPr lang="en-US" dirty="0"/>
              <a:t>&lt;p style="color: blue; font-size: 18px;"&gt;This is a styled paragraph.&lt;/p&gt; </a:t>
            </a:r>
          </a:p>
          <a:p>
            <a:pPr marL="0" indent="0">
              <a:buNone/>
            </a:pPr>
            <a:r>
              <a:rPr lang="en-US" b="1" dirty="0"/>
              <a:t>Internal </a:t>
            </a:r>
            <a:r>
              <a:rPr lang="en-US" b="1" dirty="0" smtClean="0"/>
              <a:t>Styles:</a:t>
            </a:r>
            <a:r>
              <a:rPr lang="en-US" dirty="0"/>
              <a:t> </a:t>
            </a:r>
            <a:r>
              <a:rPr lang="en-US" dirty="0" smtClean="0"/>
              <a:t>Embed </a:t>
            </a:r>
            <a:r>
              <a:rPr lang="en-US" dirty="0"/>
              <a:t>CSS within the HTML document using the &lt;style&gt; tag in the document's head.</a:t>
            </a:r>
          </a:p>
          <a:p>
            <a:pPr marL="457200" lvl="1" indent="0">
              <a:buNone/>
            </a:pPr>
            <a:r>
              <a:rPr lang="en-US" dirty="0"/>
              <a:t>&lt;head&gt; &lt;style&gt; p { color: red; font-size: 20px; } &lt;/style&gt; &lt;/head</a:t>
            </a:r>
            <a:r>
              <a:rPr lang="en-US" dirty="0" smtClean="0"/>
              <a:t>&gt;</a:t>
            </a:r>
          </a:p>
          <a:p>
            <a:pPr marL="0" indent="0">
              <a:buNone/>
            </a:pPr>
            <a:r>
              <a:rPr lang="en-US" b="1" dirty="0" smtClean="0"/>
              <a:t>External Styles:</a:t>
            </a:r>
            <a:r>
              <a:rPr lang="en-US" dirty="0"/>
              <a:t> </a:t>
            </a:r>
            <a:r>
              <a:rPr lang="en-US" dirty="0" smtClean="0"/>
              <a:t>Define within &lt;link&gt; element. Create </a:t>
            </a:r>
            <a:r>
              <a:rPr lang="en-US" dirty="0"/>
              <a:t>a separate CSS </a:t>
            </a:r>
            <a:r>
              <a:rPr lang="en-US" dirty="0" smtClean="0"/>
              <a:t>file (style.css) </a:t>
            </a:r>
            <a:r>
              <a:rPr lang="en-US" dirty="0"/>
              <a:t>and link it to the HTML document using the &lt;link&gt; tag</a:t>
            </a:r>
            <a:r>
              <a:rPr lang="en-US" dirty="0" smtClean="0"/>
              <a:t>.</a:t>
            </a:r>
          </a:p>
          <a:p>
            <a:pPr marL="457200" lvl="1" indent="0">
              <a:buNone/>
            </a:pPr>
            <a:r>
              <a:rPr lang="en-US" dirty="0"/>
              <a:t>&lt;head&gt; &lt;link </a:t>
            </a:r>
            <a:r>
              <a:rPr lang="en-US" dirty="0" err="1"/>
              <a:t>rel</a:t>
            </a:r>
            <a:r>
              <a:rPr lang="en-US" dirty="0"/>
              <a:t>="</a:t>
            </a:r>
            <a:r>
              <a:rPr lang="en-US" dirty="0" err="1"/>
              <a:t>stylesheet</a:t>
            </a:r>
            <a:r>
              <a:rPr lang="en-US" dirty="0"/>
              <a:t>" type="text/</a:t>
            </a:r>
            <a:r>
              <a:rPr lang="en-US" dirty="0" err="1"/>
              <a:t>css</a:t>
            </a:r>
            <a:r>
              <a:rPr lang="en-US" dirty="0"/>
              <a:t>" </a:t>
            </a:r>
            <a:r>
              <a:rPr lang="en-US" dirty="0" err="1"/>
              <a:t>href</a:t>
            </a:r>
            <a:r>
              <a:rPr lang="en-US" dirty="0"/>
              <a:t>="styles.css"&gt; &lt;/head&gt;</a:t>
            </a:r>
          </a:p>
          <a:p>
            <a:pPr marL="0" indent="0">
              <a:buNone/>
            </a:pPr>
            <a:r>
              <a:rPr lang="en-US" sz="2200" dirty="0" smtClean="0"/>
              <a:t>Note 1: If the same selector (attribute) in different style sheets is declared, the value from the last read style sheet will be used.</a:t>
            </a:r>
          </a:p>
          <a:p>
            <a:pPr marL="0" indent="0">
              <a:buNone/>
            </a:pPr>
            <a:r>
              <a:rPr lang="en-US" sz="2200" dirty="0" smtClean="0"/>
              <a:t>Note 2: If the internal style is defined after the link (external style), the internal style will be get privilege.</a:t>
            </a:r>
          </a:p>
          <a:p>
            <a:pPr marL="0" indent="0">
              <a:buNone/>
            </a:pPr>
            <a:r>
              <a:rPr lang="en-US" sz="2200" dirty="0" smtClean="0"/>
              <a:t>Note 3: Inline style has the highest priority and will override external &amp; internal style. </a:t>
            </a:r>
            <a:endParaRPr lang="en-GB" sz="2200" dirty="0"/>
          </a:p>
        </p:txBody>
      </p:sp>
      <p:sp>
        <p:nvSpPr>
          <p:cNvPr id="2" name="Footer Placeholder 1"/>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5274476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sosceles Triangle 3"/>
          <p:cNvSpPr/>
          <p:nvPr/>
        </p:nvSpPr>
        <p:spPr>
          <a:xfrm flipH="1" flipV="1">
            <a:off x="-49879" y="-16933"/>
            <a:ext cx="1836767" cy="1654234"/>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Isosceles Triangle 3"/>
          <p:cNvSpPr/>
          <p:nvPr/>
        </p:nvSpPr>
        <p:spPr>
          <a:xfrm flipH="1">
            <a:off x="-49878" y="5203766"/>
            <a:ext cx="1836767" cy="1654234"/>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p:cNvSpPr/>
          <p:nvPr/>
        </p:nvSpPr>
        <p:spPr>
          <a:xfrm>
            <a:off x="10681855" y="5203766"/>
            <a:ext cx="1602970" cy="1654233"/>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p:txBody>
          <a:bodyPr/>
          <a:lstStyle/>
          <a:p>
            <a:endParaRPr lang="en-GB"/>
          </a:p>
        </p:txBody>
      </p:sp>
      <p:sp>
        <p:nvSpPr>
          <p:cNvPr id="9" name="Content Placeholder 8"/>
          <p:cNvSpPr>
            <a:spLocks noGrp="1"/>
          </p:cNvSpPr>
          <p:nvPr>
            <p:ph idx="1"/>
          </p:nvPr>
        </p:nvSpPr>
        <p:spPr/>
        <p:txBody>
          <a:bodyPr/>
          <a:lstStyle/>
          <a:p>
            <a:pPr marL="0" indent="0">
              <a:buNone/>
            </a:pPr>
            <a:r>
              <a:rPr lang="en-US" dirty="0"/>
              <a:t>For more extensive styling and improved organization, developers often leverage external CSS files or internal styles in conjunction with inline styles.</a:t>
            </a:r>
            <a:endParaRPr lang="en-GB" dirty="0"/>
          </a:p>
        </p:txBody>
      </p:sp>
      <p:sp>
        <p:nvSpPr>
          <p:cNvPr id="2" name="Footer Placeholder 1"/>
          <p:cNvSpPr>
            <a:spLocks noGrp="1"/>
          </p:cNvSpPr>
          <p:nvPr>
            <p:ph type="ftr" sz="quarter" idx="11"/>
          </p:nvPr>
        </p:nvSpPr>
        <p:spPr/>
        <p:txBody>
          <a:bodyPr/>
          <a:lstStyle/>
          <a:p>
            <a:r>
              <a:rPr lang="en-US" dirty="0" smtClean="0"/>
              <a:t>IT Industry-Academia Bridge Program</a:t>
            </a:r>
            <a:endParaRPr lang="en-US" dirty="0"/>
          </a:p>
        </p:txBody>
      </p:sp>
    </p:spTree>
    <p:extLst>
      <p:ext uri="{BB962C8B-B14F-4D97-AF65-F5344CB8AC3E}">
        <p14:creationId xmlns:p14="http://schemas.microsoft.com/office/powerpoint/2010/main" val="39285976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6136"/>
          </a:xfrm>
        </p:spPr>
        <p:txBody>
          <a:bodyPr/>
          <a:lstStyle/>
          <a:p>
            <a:r>
              <a:rPr lang="en-US" dirty="0" smtClean="0"/>
              <a:t>CSS Syntax</a:t>
            </a:r>
            <a:endParaRPr lang="en-GB" dirty="0"/>
          </a:p>
        </p:txBody>
      </p:sp>
      <p:sp>
        <p:nvSpPr>
          <p:cNvPr id="3" name="Content Placeholder 2"/>
          <p:cNvSpPr>
            <a:spLocks noGrp="1"/>
          </p:cNvSpPr>
          <p:nvPr>
            <p:ph idx="1"/>
          </p:nvPr>
        </p:nvSpPr>
        <p:spPr>
          <a:xfrm>
            <a:off x="638908" y="1418492"/>
            <a:ext cx="10943491" cy="5205046"/>
          </a:xfrm>
        </p:spPr>
        <p:txBody>
          <a:bodyPr>
            <a:normAutofit/>
          </a:bodyPr>
          <a:lstStyle/>
          <a:p>
            <a:pPr marL="0" indent="0">
              <a:buNone/>
            </a:pPr>
            <a:r>
              <a:rPr lang="en-US" dirty="0" smtClean="0"/>
              <a:t>CSS Syntax consist of two parts </a:t>
            </a:r>
          </a:p>
          <a:p>
            <a:pPr marL="0" indent="0">
              <a:buNone/>
            </a:pPr>
            <a:r>
              <a:rPr lang="en-US" b="1" dirty="0" smtClean="0"/>
              <a:t>Selectors:</a:t>
            </a:r>
            <a:r>
              <a:rPr lang="en-US" dirty="0" smtClean="0"/>
              <a:t> Selectors are elements to which you want to apply styles. Elements can be</a:t>
            </a:r>
          </a:p>
          <a:p>
            <a:pPr lvl="1"/>
            <a:r>
              <a:rPr lang="en-US" dirty="0" smtClean="0"/>
              <a:t>tags(h1, p, </a:t>
            </a:r>
            <a:r>
              <a:rPr lang="en-US" dirty="0" err="1" smtClean="0"/>
              <a:t>etc</a:t>
            </a:r>
            <a:r>
              <a:rPr lang="en-US" dirty="0" smtClean="0"/>
              <a:t>), </a:t>
            </a:r>
          </a:p>
          <a:p>
            <a:pPr lvl="1"/>
            <a:r>
              <a:rPr lang="en-US" dirty="0" smtClean="0"/>
              <a:t>classes (prefixed with a dot, e.g., .container), </a:t>
            </a:r>
          </a:p>
          <a:p>
            <a:pPr lvl="1"/>
            <a:r>
              <a:rPr lang="en-US" dirty="0" smtClean="0"/>
              <a:t>IDs (prefixed with a hash, e.g., #header), </a:t>
            </a:r>
          </a:p>
          <a:p>
            <a:pPr marL="0" indent="0">
              <a:buNone/>
            </a:pPr>
            <a:r>
              <a:rPr lang="en-US" b="1" dirty="0" smtClean="0"/>
              <a:t>Declaration:</a:t>
            </a:r>
            <a:r>
              <a:rPr lang="en-US" dirty="0" smtClean="0"/>
              <a:t> Declaration is </a:t>
            </a:r>
            <a:r>
              <a:rPr lang="en-US" dirty="0"/>
              <a:t>the key-value </a:t>
            </a:r>
            <a:r>
              <a:rPr lang="en-US" dirty="0" smtClean="0"/>
              <a:t>pair </a:t>
            </a:r>
            <a:r>
              <a:rPr lang="en-US" dirty="0"/>
              <a:t>of a CSS </a:t>
            </a:r>
            <a:r>
              <a:rPr lang="en-US" dirty="0" smtClean="0"/>
              <a:t>property, </a:t>
            </a:r>
            <a:r>
              <a:rPr lang="en-US" dirty="0"/>
              <a:t>defining how the selected elements should appear</a:t>
            </a:r>
            <a:r>
              <a:rPr lang="en-US" dirty="0" smtClean="0"/>
              <a:t>. Properties can be </a:t>
            </a:r>
            <a:r>
              <a:rPr lang="en-US" dirty="0"/>
              <a:t>color, font-size, margin, padding, and many others</a:t>
            </a:r>
            <a:r>
              <a:rPr lang="en-US" dirty="0" smtClean="0"/>
              <a:t>.</a:t>
            </a:r>
          </a:p>
        </p:txBody>
      </p:sp>
      <p:pic>
        <p:nvPicPr>
          <p:cNvPr id="1026" name="Picture 2" descr="CSS Selector Syntax Illustr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6378" y="5164016"/>
            <a:ext cx="5334000"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68229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Syntax</a:t>
            </a:r>
            <a:endParaRPr lang="en-GB" dirty="0"/>
          </a:p>
        </p:txBody>
      </p:sp>
      <p:sp>
        <p:nvSpPr>
          <p:cNvPr id="3" name="Content Placeholder 2"/>
          <p:cNvSpPr>
            <a:spLocks noGrp="1"/>
          </p:cNvSpPr>
          <p:nvPr>
            <p:ph idx="1"/>
          </p:nvPr>
        </p:nvSpPr>
        <p:spPr/>
        <p:txBody>
          <a:bodyPr/>
          <a:lstStyle/>
          <a:p>
            <a:pPr marL="0" indent="0">
              <a:buNone/>
            </a:pPr>
            <a:r>
              <a:rPr lang="en-US" dirty="0" smtClean="0"/>
              <a:t>/* Styling a heading */</a:t>
            </a:r>
            <a:endParaRPr lang="en-GB" dirty="0" smtClean="0"/>
          </a:p>
          <a:p>
            <a:pPr marL="457200" lvl="1" indent="0">
              <a:buNone/>
            </a:pPr>
            <a:r>
              <a:rPr lang="en-GB" dirty="0" smtClean="0">
                <a:solidFill>
                  <a:srgbClr val="FF0000"/>
                </a:solidFill>
              </a:rPr>
              <a:t>h1 </a:t>
            </a:r>
            <a:r>
              <a:rPr lang="en-GB" dirty="0">
                <a:solidFill>
                  <a:srgbClr val="FF0000"/>
                </a:solidFill>
              </a:rPr>
              <a:t>{ </a:t>
            </a:r>
            <a:r>
              <a:rPr lang="en-GB" dirty="0" err="1">
                <a:solidFill>
                  <a:srgbClr val="FF0000"/>
                </a:solidFill>
              </a:rPr>
              <a:t>color</a:t>
            </a:r>
            <a:r>
              <a:rPr lang="en-GB" dirty="0">
                <a:solidFill>
                  <a:srgbClr val="FF0000"/>
                </a:solidFill>
              </a:rPr>
              <a:t>: #4285f4; font-family: 'Arial', sans-serif; text-align: </a:t>
            </a:r>
            <a:r>
              <a:rPr lang="en-GB" dirty="0" err="1">
                <a:solidFill>
                  <a:srgbClr val="FF0000"/>
                </a:solidFill>
              </a:rPr>
              <a:t>center</a:t>
            </a:r>
            <a:r>
              <a:rPr lang="en-GB" dirty="0">
                <a:solidFill>
                  <a:srgbClr val="FF0000"/>
                </a:solidFill>
              </a:rPr>
              <a:t>; </a:t>
            </a:r>
            <a:r>
              <a:rPr lang="en-GB" dirty="0" smtClean="0">
                <a:solidFill>
                  <a:srgbClr val="FF0000"/>
                </a:solidFill>
              </a:rPr>
              <a:t>}</a:t>
            </a:r>
          </a:p>
          <a:p>
            <a:pPr marL="0" indent="0">
              <a:buNone/>
            </a:pPr>
            <a:r>
              <a:rPr lang="en-US" dirty="0"/>
              <a:t>The selector </a:t>
            </a:r>
            <a:r>
              <a:rPr lang="en-US" dirty="0" smtClean="0">
                <a:solidFill>
                  <a:srgbClr val="FF0000"/>
                </a:solidFill>
              </a:rPr>
              <a:t>“h1”</a:t>
            </a:r>
            <a:r>
              <a:rPr lang="en-US" dirty="0" smtClean="0"/>
              <a:t> points </a:t>
            </a:r>
            <a:r>
              <a:rPr lang="en-US" dirty="0"/>
              <a:t>to the HTML element you want to style.</a:t>
            </a:r>
            <a:endParaRPr lang="en-US" dirty="0" smtClean="0"/>
          </a:p>
          <a:p>
            <a:pPr marL="0" indent="0">
              <a:buNone/>
            </a:pPr>
            <a:r>
              <a:rPr lang="en-US" dirty="0" smtClean="0"/>
              <a:t>Each </a:t>
            </a:r>
            <a:r>
              <a:rPr lang="en-US" dirty="0"/>
              <a:t>declaration consists of a property and a value separated by a colon </a:t>
            </a:r>
            <a:r>
              <a:rPr lang="en-US" b="1" dirty="0"/>
              <a:t>(:)</a:t>
            </a:r>
            <a:r>
              <a:rPr lang="en-US" dirty="0"/>
              <a:t> and ending with a semicolon </a:t>
            </a:r>
            <a:r>
              <a:rPr lang="en-US" b="1" dirty="0"/>
              <a:t>(;)</a:t>
            </a:r>
            <a:r>
              <a:rPr lang="en-US" dirty="0"/>
              <a:t>, and the declaration groups are surrounded by curly braces </a:t>
            </a:r>
            <a:r>
              <a:rPr lang="en-US" b="1" dirty="0" smtClean="0"/>
              <a:t>{}</a:t>
            </a:r>
            <a:r>
              <a:rPr lang="en-US" dirty="0" smtClean="0"/>
              <a:t>.</a:t>
            </a:r>
          </a:p>
          <a:p>
            <a:pPr marL="0" indent="0">
              <a:buNone/>
            </a:pPr>
            <a:r>
              <a:rPr lang="en-US" dirty="0"/>
              <a:t>CSS property names and many values are not case-sensitive. Whereas, CSS selectors are usually </a:t>
            </a:r>
            <a:r>
              <a:rPr lang="en-US" dirty="0" smtClean="0"/>
              <a:t>case-sensitive.</a:t>
            </a:r>
          </a:p>
          <a:p>
            <a:pPr marL="0" indent="0">
              <a:buNone/>
            </a:pPr>
            <a:r>
              <a:rPr lang="en-US" dirty="0"/>
              <a:t>A CSS comment begins with /*, and ends with */</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pic>
        <p:nvPicPr>
          <p:cNvPr id="5" name="Picture 2" descr="CSS Selector Syntax Illustr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4378" y="720970"/>
            <a:ext cx="5334000"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7798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94752"/>
          </a:xfrm>
        </p:spPr>
        <p:txBody>
          <a:bodyPr/>
          <a:lstStyle/>
          <a:p>
            <a:r>
              <a:rPr lang="en-US" dirty="0" smtClean="0"/>
              <a:t>CSS Selector</a:t>
            </a:r>
            <a:endParaRPr lang="en-GB" dirty="0"/>
          </a:p>
        </p:txBody>
      </p:sp>
      <p:sp>
        <p:nvSpPr>
          <p:cNvPr id="3" name="Content Placeholder 2"/>
          <p:cNvSpPr>
            <a:spLocks noGrp="1"/>
          </p:cNvSpPr>
          <p:nvPr>
            <p:ph idx="1"/>
          </p:nvPr>
        </p:nvSpPr>
        <p:spPr>
          <a:xfrm>
            <a:off x="779584" y="1520823"/>
            <a:ext cx="10515600" cy="5161331"/>
          </a:xfrm>
        </p:spPr>
        <p:txBody>
          <a:bodyPr>
            <a:normAutofit fontScale="70000" lnSpcReduction="20000"/>
          </a:bodyPr>
          <a:lstStyle/>
          <a:p>
            <a:pPr marL="0" indent="0">
              <a:buNone/>
            </a:pPr>
            <a:r>
              <a:rPr lang="en-US" dirty="0"/>
              <a:t>A CSS selector selects the HTML element(s) you want to style</a:t>
            </a:r>
            <a:r>
              <a:rPr lang="en-US" dirty="0" smtClean="0"/>
              <a:t>.  Selector can be</a:t>
            </a:r>
          </a:p>
          <a:p>
            <a:pPr marL="0" indent="0">
              <a:buNone/>
            </a:pPr>
            <a:r>
              <a:rPr lang="en-GB" b="1" dirty="0"/>
              <a:t>E</a:t>
            </a:r>
            <a:r>
              <a:rPr lang="en-GB" b="1" dirty="0" smtClean="0"/>
              <a:t>lement Selector:</a:t>
            </a:r>
            <a:r>
              <a:rPr lang="en-GB" dirty="0" smtClean="0"/>
              <a:t> </a:t>
            </a:r>
            <a:r>
              <a:rPr lang="en-US" dirty="0"/>
              <a:t>The element selector selects HTML elements based on the element name</a:t>
            </a:r>
            <a:r>
              <a:rPr lang="en-US" dirty="0" smtClean="0"/>
              <a:t>. </a:t>
            </a:r>
          </a:p>
          <a:p>
            <a:pPr marL="457200" lvl="1" indent="0">
              <a:buNone/>
            </a:pPr>
            <a:r>
              <a:rPr lang="en-GB" dirty="0">
                <a:solidFill>
                  <a:srgbClr val="0070C0"/>
                </a:solidFill>
              </a:rPr>
              <a:t>p </a:t>
            </a:r>
            <a:r>
              <a:rPr lang="en-GB" dirty="0" smtClean="0">
                <a:solidFill>
                  <a:srgbClr val="0070C0"/>
                </a:solidFill>
              </a:rPr>
              <a:t>{ text-align</a:t>
            </a:r>
            <a:r>
              <a:rPr lang="en-GB" dirty="0">
                <a:solidFill>
                  <a:srgbClr val="0070C0"/>
                </a:solidFill>
              </a:rPr>
              <a:t>: </a:t>
            </a:r>
            <a:r>
              <a:rPr lang="en-GB" dirty="0" err="1">
                <a:solidFill>
                  <a:srgbClr val="0070C0"/>
                </a:solidFill>
              </a:rPr>
              <a:t>center</a:t>
            </a:r>
            <a:r>
              <a:rPr lang="en-GB" dirty="0" smtClean="0">
                <a:solidFill>
                  <a:srgbClr val="0070C0"/>
                </a:solidFill>
              </a:rPr>
              <a:t>; </a:t>
            </a:r>
            <a:r>
              <a:rPr lang="en-GB" dirty="0">
                <a:solidFill>
                  <a:srgbClr val="0070C0"/>
                </a:solidFill>
              </a:rPr>
              <a:t>  </a:t>
            </a:r>
            <a:r>
              <a:rPr lang="en-GB" dirty="0" err="1">
                <a:solidFill>
                  <a:srgbClr val="0070C0"/>
                </a:solidFill>
              </a:rPr>
              <a:t>color</a:t>
            </a:r>
            <a:r>
              <a:rPr lang="en-GB" dirty="0">
                <a:solidFill>
                  <a:srgbClr val="0070C0"/>
                </a:solidFill>
              </a:rPr>
              <a:t>: red</a:t>
            </a:r>
            <a:r>
              <a:rPr lang="en-GB" dirty="0" smtClean="0">
                <a:solidFill>
                  <a:srgbClr val="0070C0"/>
                </a:solidFill>
              </a:rPr>
              <a:t>; }</a:t>
            </a:r>
          </a:p>
          <a:p>
            <a:pPr marL="0" indent="0">
              <a:buNone/>
            </a:pPr>
            <a:r>
              <a:rPr lang="en-US" b="1" dirty="0" smtClean="0"/>
              <a:t>Attribute Selector:  </a:t>
            </a:r>
            <a:r>
              <a:rPr lang="en-US" sz="2900" dirty="0"/>
              <a:t>Element </a:t>
            </a:r>
            <a:r>
              <a:rPr lang="en-US" dirty="0"/>
              <a:t>attribute selectors are used to style </a:t>
            </a:r>
            <a:r>
              <a:rPr lang="en-US" dirty="0" err="1" smtClean="0"/>
              <a:t>elements,such</a:t>
            </a:r>
            <a:r>
              <a:rPr lang="en-US" dirty="0" smtClean="0"/>
              <a:t> </a:t>
            </a:r>
            <a:r>
              <a:rPr lang="en-US" dirty="0"/>
              <a:t>as class and id</a:t>
            </a:r>
            <a:endParaRPr lang="en-GB" b="1" dirty="0" smtClean="0"/>
          </a:p>
          <a:p>
            <a:r>
              <a:rPr lang="en-GB" b="1" dirty="0" smtClean="0"/>
              <a:t>id Selector:</a:t>
            </a:r>
            <a:r>
              <a:rPr lang="en-GB" dirty="0" smtClean="0"/>
              <a:t> </a:t>
            </a:r>
            <a:r>
              <a:rPr lang="en-US" dirty="0"/>
              <a:t>The id selector uses the id attribute of an HTML element to select a specific element</a:t>
            </a:r>
            <a:r>
              <a:rPr lang="en-US" dirty="0" smtClean="0"/>
              <a:t>. </a:t>
            </a:r>
            <a:r>
              <a:rPr lang="en-US" dirty="0"/>
              <a:t>The id of an element is unique within a </a:t>
            </a:r>
            <a:r>
              <a:rPr lang="en-US" dirty="0" smtClean="0"/>
              <a:t>page.</a:t>
            </a:r>
            <a:r>
              <a:rPr lang="en-GB" dirty="0" smtClean="0"/>
              <a:t> </a:t>
            </a:r>
            <a:endParaRPr lang="en-GB" dirty="0"/>
          </a:p>
          <a:p>
            <a:pPr marL="457200" lvl="1" indent="0">
              <a:buNone/>
            </a:pPr>
            <a:r>
              <a:rPr lang="es-ES" dirty="0">
                <a:solidFill>
                  <a:srgbClr val="0070C0"/>
                </a:solidFill>
              </a:rPr>
              <a:t>#para1 </a:t>
            </a:r>
            <a:r>
              <a:rPr lang="es-ES" dirty="0" smtClean="0">
                <a:solidFill>
                  <a:srgbClr val="0070C0"/>
                </a:solidFill>
              </a:rPr>
              <a:t>{ </a:t>
            </a:r>
            <a:r>
              <a:rPr lang="es-ES" dirty="0" err="1" smtClean="0">
                <a:solidFill>
                  <a:srgbClr val="0070C0"/>
                </a:solidFill>
              </a:rPr>
              <a:t>text-align</a:t>
            </a:r>
            <a:r>
              <a:rPr lang="es-ES" dirty="0">
                <a:solidFill>
                  <a:srgbClr val="0070C0"/>
                </a:solidFill>
              </a:rPr>
              <a:t>: center</a:t>
            </a:r>
            <a:r>
              <a:rPr lang="es-ES" dirty="0" smtClean="0">
                <a:solidFill>
                  <a:srgbClr val="0070C0"/>
                </a:solidFill>
              </a:rPr>
              <a:t>; color</a:t>
            </a:r>
            <a:r>
              <a:rPr lang="es-ES" dirty="0">
                <a:solidFill>
                  <a:srgbClr val="0070C0"/>
                </a:solidFill>
              </a:rPr>
              <a:t>: red</a:t>
            </a:r>
            <a:r>
              <a:rPr lang="es-ES" dirty="0" smtClean="0">
                <a:solidFill>
                  <a:srgbClr val="0070C0"/>
                </a:solidFill>
              </a:rPr>
              <a:t>; }</a:t>
            </a:r>
            <a:endParaRPr lang="en-GB" dirty="0">
              <a:solidFill>
                <a:srgbClr val="0070C0"/>
              </a:solidFill>
            </a:endParaRPr>
          </a:p>
          <a:p>
            <a:r>
              <a:rPr lang="en-US" b="1" dirty="0"/>
              <a:t>c</a:t>
            </a:r>
            <a:r>
              <a:rPr lang="en-US" b="1" dirty="0" smtClean="0"/>
              <a:t>lass Selector:</a:t>
            </a:r>
            <a:r>
              <a:rPr lang="en-US" dirty="0" smtClean="0"/>
              <a:t> </a:t>
            </a:r>
            <a:r>
              <a:rPr lang="en-US" dirty="0"/>
              <a:t>The class selector selects HTML elements with a specific class attribute</a:t>
            </a:r>
            <a:r>
              <a:rPr lang="en-US" dirty="0" smtClean="0"/>
              <a:t>.</a:t>
            </a:r>
          </a:p>
          <a:p>
            <a:pPr marL="457200" lvl="1" indent="0">
              <a:buNone/>
            </a:pPr>
            <a:r>
              <a:rPr lang="en-GB" dirty="0">
                <a:solidFill>
                  <a:srgbClr val="0070C0"/>
                </a:solidFill>
              </a:rPr>
              <a:t>.</a:t>
            </a:r>
            <a:r>
              <a:rPr lang="en-GB" dirty="0" err="1">
                <a:solidFill>
                  <a:srgbClr val="0070C0"/>
                </a:solidFill>
              </a:rPr>
              <a:t>center</a:t>
            </a:r>
            <a:r>
              <a:rPr lang="en-GB" dirty="0">
                <a:solidFill>
                  <a:srgbClr val="0070C0"/>
                </a:solidFill>
              </a:rPr>
              <a:t> </a:t>
            </a:r>
            <a:r>
              <a:rPr lang="en-GB" dirty="0" smtClean="0">
                <a:solidFill>
                  <a:srgbClr val="0070C0"/>
                </a:solidFill>
              </a:rPr>
              <a:t>{ text-align</a:t>
            </a:r>
            <a:r>
              <a:rPr lang="en-GB" dirty="0">
                <a:solidFill>
                  <a:srgbClr val="0070C0"/>
                </a:solidFill>
              </a:rPr>
              <a:t>: </a:t>
            </a:r>
            <a:r>
              <a:rPr lang="en-GB" dirty="0" err="1">
                <a:solidFill>
                  <a:srgbClr val="0070C0"/>
                </a:solidFill>
              </a:rPr>
              <a:t>center</a:t>
            </a:r>
            <a:r>
              <a:rPr lang="en-GB" dirty="0" smtClean="0">
                <a:solidFill>
                  <a:srgbClr val="0070C0"/>
                </a:solidFill>
              </a:rPr>
              <a:t>; </a:t>
            </a:r>
            <a:r>
              <a:rPr lang="en-GB" dirty="0">
                <a:solidFill>
                  <a:srgbClr val="0070C0"/>
                </a:solidFill>
              </a:rPr>
              <a:t> </a:t>
            </a:r>
            <a:r>
              <a:rPr lang="en-GB" dirty="0" err="1">
                <a:solidFill>
                  <a:srgbClr val="0070C0"/>
                </a:solidFill>
              </a:rPr>
              <a:t>color</a:t>
            </a:r>
            <a:r>
              <a:rPr lang="en-GB" dirty="0">
                <a:solidFill>
                  <a:srgbClr val="0070C0"/>
                </a:solidFill>
              </a:rPr>
              <a:t>: red</a:t>
            </a:r>
            <a:r>
              <a:rPr lang="en-GB" dirty="0" smtClean="0">
                <a:solidFill>
                  <a:srgbClr val="0070C0"/>
                </a:solidFill>
              </a:rPr>
              <a:t>; }</a:t>
            </a:r>
            <a:r>
              <a:rPr lang="en-GB" dirty="0" smtClean="0"/>
              <a:t>   	</a:t>
            </a:r>
            <a:r>
              <a:rPr lang="en-GB" sz="1900" dirty="0" smtClean="0"/>
              <a:t>/* class centre will be red and centre-aligned */</a:t>
            </a:r>
            <a:endParaRPr lang="en-GB" sz="2200" dirty="0" smtClean="0"/>
          </a:p>
          <a:p>
            <a:pPr marL="457200" lvl="1" indent="0">
              <a:buNone/>
            </a:pPr>
            <a:r>
              <a:rPr lang="en-GB" dirty="0" err="1">
                <a:solidFill>
                  <a:srgbClr val="0070C0"/>
                </a:solidFill>
              </a:rPr>
              <a:t>p.center</a:t>
            </a:r>
            <a:r>
              <a:rPr lang="en-GB" dirty="0">
                <a:solidFill>
                  <a:srgbClr val="0070C0"/>
                </a:solidFill>
              </a:rPr>
              <a:t> </a:t>
            </a:r>
            <a:r>
              <a:rPr lang="en-GB" dirty="0" smtClean="0">
                <a:solidFill>
                  <a:srgbClr val="0070C0"/>
                </a:solidFill>
              </a:rPr>
              <a:t>{ text-align</a:t>
            </a:r>
            <a:r>
              <a:rPr lang="en-GB" dirty="0">
                <a:solidFill>
                  <a:srgbClr val="0070C0"/>
                </a:solidFill>
              </a:rPr>
              <a:t>: </a:t>
            </a:r>
            <a:r>
              <a:rPr lang="en-GB" dirty="0" err="1">
                <a:solidFill>
                  <a:srgbClr val="0070C0"/>
                </a:solidFill>
              </a:rPr>
              <a:t>center</a:t>
            </a:r>
            <a:r>
              <a:rPr lang="en-GB" dirty="0" smtClean="0">
                <a:solidFill>
                  <a:srgbClr val="0070C0"/>
                </a:solidFill>
              </a:rPr>
              <a:t>;  </a:t>
            </a:r>
            <a:r>
              <a:rPr lang="en-GB" dirty="0" err="1" smtClean="0">
                <a:solidFill>
                  <a:srgbClr val="0070C0"/>
                </a:solidFill>
              </a:rPr>
              <a:t>color</a:t>
            </a:r>
            <a:r>
              <a:rPr lang="en-GB" dirty="0">
                <a:solidFill>
                  <a:srgbClr val="0070C0"/>
                </a:solidFill>
              </a:rPr>
              <a:t>: red</a:t>
            </a:r>
            <a:r>
              <a:rPr lang="en-GB" dirty="0" smtClean="0">
                <a:solidFill>
                  <a:srgbClr val="0070C0"/>
                </a:solidFill>
              </a:rPr>
              <a:t>; }</a:t>
            </a:r>
            <a:r>
              <a:rPr lang="en-GB" sz="1900" dirty="0" smtClean="0"/>
              <a:t> 	/* </a:t>
            </a:r>
            <a:r>
              <a:rPr lang="en-US" sz="1900" dirty="0"/>
              <a:t>only &lt;p&gt; elements with class="center" will </a:t>
            </a:r>
            <a:r>
              <a:rPr lang="en-US" sz="1900" dirty="0" smtClean="0"/>
              <a:t>be */</a:t>
            </a:r>
          </a:p>
          <a:p>
            <a:pPr marL="0" indent="0">
              <a:buNone/>
            </a:pPr>
            <a:r>
              <a:rPr lang="en-US" sz="2400" dirty="0"/>
              <a:t>HTML elements can also refer to more than one class</a:t>
            </a:r>
            <a:r>
              <a:rPr lang="en-US" sz="2400" dirty="0" smtClean="0"/>
              <a:t>.</a:t>
            </a:r>
          </a:p>
          <a:p>
            <a:pPr marL="0" indent="0">
              <a:buNone/>
            </a:pPr>
            <a:r>
              <a:rPr lang="en-US" sz="2400" dirty="0"/>
              <a:t>	</a:t>
            </a:r>
            <a:r>
              <a:rPr lang="en-US" sz="2000" dirty="0"/>
              <a:t>&lt;p class="center large"&gt;This paragraph refers to two classes.&lt;/p&gt;</a:t>
            </a:r>
            <a:r>
              <a:rPr lang="en-US" sz="2300" dirty="0" smtClean="0"/>
              <a:t>  	 		</a:t>
            </a:r>
            <a:endParaRPr lang="en-US" dirty="0"/>
          </a:p>
          <a:p>
            <a:pPr marL="0" indent="0">
              <a:buNone/>
            </a:pPr>
            <a:r>
              <a:rPr lang="en-US" b="1" dirty="0" smtClean="0"/>
              <a:t>Universal Selector:</a:t>
            </a:r>
            <a:r>
              <a:rPr lang="en-US" dirty="0" smtClean="0"/>
              <a:t> </a:t>
            </a:r>
            <a:r>
              <a:rPr lang="en-US" dirty="0"/>
              <a:t>The universal selector (*) selects all HTML elements on the page</a:t>
            </a:r>
            <a:r>
              <a:rPr lang="en-US" dirty="0" smtClean="0"/>
              <a:t>.</a:t>
            </a:r>
          </a:p>
          <a:p>
            <a:pPr marL="457200" lvl="1" indent="0">
              <a:buNone/>
            </a:pPr>
            <a:r>
              <a:rPr lang="en-GB" dirty="0">
                <a:solidFill>
                  <a:srgbClr val="0070C0"/>
                </a:solidFill>
              </a:rPr>
              <a:t>* </a:t>
            </a:r>
            <a:r>
              <a:rPr lang="en-GB" dirty="0" smtClean="0">
                <a:solidFill>
                  <a:srgbClr val="0070C0"/>
                </a:solidFill>
              </a:rPr>
              <a:t>{ text-align</a:t>
            </a:r>
            <a:r>
              <a:rPr lang="en-GB" dirty="0">
                <a:solidFill>
                  <a:srgbClr val="0070C0"/>
                </a:solidFill>
              </a:rPr>
              <a:t>: </a:t>
            </a:r>
            <a:r>
              <a:rPr lang="en-GB" dirty="0" err="1">
                <a:solidFill>
                  <a:srgbClr val="0070C0"/>
                </a:solidFill>
              </a:rPr>
              <a:t>center</a:t>
            </a:r>
            <a:r>
              <a:rPr lang="en-GB" dirty="0" smtClean="0">
                <a:solidFill>
                  <a:srgbClr val="0070C0"/>
                </a:solidFill>
              </a:rPr>
              <a:t>;  </a:t>
            </a:r>
            <a:r>
              <a:rPr lang="en-GB" dirty="0" err="1" smtClean="0">
                <a:solidFill>
                  <a:srgbClr val="0070C0"/>
                </a:solidFill>
              </a:rPr>
              <a:t>color</a:t>
            </a:r>
            <a:r>
              <a:rPr lang="en-GB" dirty="0">
                <a:solidFill>
                  <a:srgbClr val="0070C0"/>
                </a:solidFill>
              </a:rPr>
              <a:t>: blue</a:t>
            </a:r>
            <a:r>
              <a:rPr lang="en-GB" dirty="0" smtClean="0">
                <a:solidFill>
                  <a:srgbClr val="0070C0"/>
                </a:solidFill>
              </a:rPr>
              <a:t>; }</a:t>
            </a:r>
          </a:p>
          <a:p>
            <a:pPr marL="0" indent="0">
              <a:buNone/>
            </a:pPr>
            <a:r>
              <a:rPr lang="en-US" b="1" dirty="0" smtClean="0"/>
              <a:t>Grouping Selector:</a:t>
            </a:r>
            <a:r>
              <a:rPr lang="en-US" dirty="0" smtClean="0"/>
              <a:t> Group selector have the same style to minimize code</a:t>
            </a:r>
          </a:p>
          <a:p>
            <a:pPr marL="457200" lvl="1" indent="0">
              <a:buNone/>
            </a:pPr>
            <a:r>
              <a:rPr lang="en-GB" dirty="0">
                <a:solidFill>
                  <a:srgbClr val="0070C0"/>
                </a:solidFill>
              </a:rPr>
              <a:t>h1, h2, p </a:t>
            </a:r>
            <a:r>
              <a:rPr lang="en-GB" dirty="0" smtClean="0">
                <a:solidFill>
                  <a:srgbClr val="0070C0"/>
                </a:solidFill>
              </a:rPr>
              <a:t>{ text-align</a:t>
            </a:r>
            <a:r>
              <a:rPr lang="en-GB" dirty="0">
                <a:solidFill>
                  <a:srgbClr val="0070C0"/>
                </a:solidFill>
              </a:rPr>
              <a:t>: </a:t>
            </a:r>
            <a:r>
              <a:rPr lang="en-GB" dirty="0" err="1">
                <a:solidFill>
                  <a:srgbClr val="0070C0"/>
                </a:solidFill>
              </a:rPr>
              <a:t>center</a:t>
            </a:r>
            <a:r>
              <a:rPr lang="en-GB" dirty="0" smtClean="0">
                <a:solidFill>
                  <a:srgbClr val="0070C0"/>
                </a:solidFill>
              </a:rPr>
              <a:t>; </a:t>
            </a:r>
            <a:r>
              <a:rPr lang="en-GB" dirty="0">
                <a:solidFill>
                  <a:srgbClr val="0070C0"/>
                </a:solidFill>
              </a:rPr>
              <a:t> </a:t>
            </a:r>
            <a:r>
              <a:rPr lang="en-GB" dirty="0" err="1">
                <a:solidFill>
                  <a:srgbClr val="0070C0"/>
                </a:solidFill>
              </a:rPr>
              <a:t>color</a:t>
            </a:r>
            <a:r>
              <a:rPr lang="en-GB" dirty="0">
                <a:solidFill>
                  <a:srgbClr val="0070C0"/>
                </a:solidFill>
              </a:rPr>
              <a:t>: red</a:t>
            </a:r>
            <a:r>
              <a:rPr lang="en-GB" dirty="0" smtClean="0">
                <a:solidFill>
                  <a:srgbClr val="0070C0"/>
                </a:solidFill>
              </a:rPr>
              <a:t>; }</a:t>
            </a:r>
            <a:endParaRPr lang="en-GB" dirty="0">
              <a:solidFill>
                <a:srgbClr val="0070C0"/>
              </a:solidFill>
            </a:endParaRPr>
          </a:p>
        </p:txBody>
      </p:sp>
    </p:spTree>
    <p:extLst>
      <p:ext uri="{BB962C8B-B14F-4D97-AF65-F5344CB8AC3E}">
        <p14:creationId xmlns:p14="http://schemas.microsoft.com/office/powerpoint/2010/main" val="39749299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DIV Selector</a:t>
            </a:r>
            <a:endParaRPr lang="en-GB" dirty="0"/>
          </a:p>
        </p:txBody>
      </p:sp>
      <p:sp>
        <p:nvSpPr>
          <p:cNvPr id="3" name="Content Placeholder 2"/>
          <p:cNvSpPr>
            <a:spLocks noGrp="1"/>
          </p:cNvSpPr>
          <p:nvPr>
            <p:ph idx="1"/>
          </p:nvPr>
        </p:nvSpPr>
        <p:spPr>
          <a:xfrm>
            <a:off x="539261" y="1477108"/>
            <a:ext cx="11312769" cy="5263661"/>
          </a:xfrm>
        </p:spPr>
        <p:txBody>
          <a:bodyPr>
            <a:normAutofit fontScale="92500" lnSpcReduction="10000"/>
          </a:bodyPr>
          <a:lstStyle/>
          <a:p>
            <a:pPr marL="0" indent="0">
              <a:buNone/>
            </a:pPr>
            <a:r>
              <a:rPr lang="en-US" dirty="0" smtClean="0"/>
              <a:t>&lt;div&gt; is a non-semantic block </a:t>
            </a:r>
            <a:r>
              <a:rPr lang="en-US" dirty="0"/>
              <a:t>level </a:t>
            </a:r>
            <a:r>
              <a:rPr lang="en-US" dirty="0" smtClean="0"/>
              <a:t>element, </a:t>
            </a:r>
            <a:r>
              <a:rPr lang="en-US" dirty="0"/>
              <a:t>allows you to group related content </a:t>
            </a:r>
            <a:r>
              <a:rPr lang="en-US" dirty="0" smtClean="0"/>
              <a:t>together.</a:t>
            </a:r>
          </a:p>
          <a:p>
            <a:pPr marL="0" indent="0">
              <a:buNone/>
            </a:pPr>
            <a:r>
              <a:rPr lang="en-US" b="1" dirty="0" smtClean="0"/>
              <a:t>Styling:-</a:t>
            </a:r>
            <a:r>
              <a:rPr lang="en-US" dirty="0" smtClean="0"/>
              <a:t> You can apply range of style on all elements grouped in &lt;div&gt;. </a:t>
            </a:r>
            <a:r>
              <a:rPr lang="en-US" dirty="0"/>
              <a:t>Instead of applying styles to each individual element (like paragraphs or images), you can wrap them in a &lt;div&gt; and apply styles to the container.</a:t>
            </a:r>
            <a:endParaRPr lang="en-US" dirty="0" smtClean="0"/>
          </a:p>
          <a:p>
            <a:pPr marL="0" indent="0">
              <a:buNone/>
            </a:pPr>
            <a:r>
              <a:rPr lang="en-US" b="1" dirty="0" smtClean="0"/>
              <a:t>Positioning:-</a:t>
            </a:r>
            <a:r>
              <a:rPr lang="en-US" dirty="0" smtClean="0"/>
              <a:t> You can manipulate the position of all elements all-together, grouped in &lt;</a:t>
            </a:r>
            <a:r>
              <a:rPr lang="en-US" dirty="0"/>
              <a:t>div&gt;. </a:t>
            </a:r>
            <a:endParaRPr lang="en-US" dirty="0" smtClean="0"/>
          </a:p>
          <a:p>
            <a:pPr marL="457200" lvl="1" indent="0">
              <a:buNone/>
            </a:pPr>
            <a:r>
              <a:rPr lang="en-US" sz="1300" dirty="0">
                <a:solidFill>
                  <a:srgbClr val="FF0000"/>
                </a:solidFill>
              </a:rPr>
              <a:t>&lt;div class</a:t>
            </a:r>
            <a:r>
              <a:rPr lang="en-US" sz="1300" dirty="0" smtClean="0">
                <a:solidFill>
                  <a:srgbClr val="FF0000"/>
                </a:solidFill>
              </a:rPr>
              <a:t>=“Home"&gt;</a:t>
            </a:r>
          </a:p>
          <a:p>
            <a:pPr marL="457200" lvl="1" indent="0">
              <a:buNone/>
            </a:pPr>
            <a:r>
              <a:rPr lang="en-US" sz="1300" dirty="0">
                <a:solidFill>
                  <a:srgbClr val="FF0000"/>
                </a:solidFill>
              </a:rPr>
              <a:t>	</a:t>
            </a:r>
            <a:r>
              <a:rPr lang="en-US" sz="1300" dirty="0" smtClean="0">
                <a:solidFill>
                  <a:srgbClr val="FF0000"/>
                </a:solidFill>
              </a:rPr>
              <a:t>&lt;header&gt;</a:t>
            </a:r>
          </a:p>
          <a:p>
            <a:pPr marL="457200" lvl="1" indent="0">
              <a:buNone/>
            </a:pPr>
            <a:r>
              <a:rPr lang="en-US" sz="1300" dirty="0">
                <a:solidFill>
                  <a:srgbClr val="FF0000"/>
                </a:solidFill>
              </a:rPr>
              <a:t>	 </a:t>
            </a:r>
            <a:r>
              <a:rPr lang="en-US" sz="1300" dirty="0" smtClean="0">
                <a:solidFill>
                  <a:srgbClr val="FF0000"/>
                </a:solidFill>
              </a:rPr>
              <a:t>    &lt;</a:t>
            </a:r>
            <a:r>
              <a:rPr lang="en-US" sz="1300" dirty="0" err="1" smtClean="0">
                <a:solidFill>
                  <a:srgbClr val="FF0000"/>
                </a:solidFill>
              </a:rPr>
              <a:t>nav</a:t>
            </a:r>
            <a:r>
              <a:rPr lang="en-US" sz="1300" dirty="0" smtClean="0">
                <a:solidFill>
                  <a:srgbClr val="FF0000"/>
                </a:solidFill>
              </a:rPr>
              <a:t>&gt; &lt;/</a:t>
            </a:r>
            <a:r>
              <a:rPr lang="en-US" sz="1300" dirty="0" err="1" smtClean="0">
                <a:solidFill>
                  <a:srgbClr val="FF0000"/>
                </a:solidFill>
              </a:rPr>
              <a:t>nav</a:t>
            </a:r>
            <a:r>
              <a:rPr lang="en-US" sz="1300" dirty="0" smtClean="0">
                <a:solidFill>
                  <a:srgbClr val="FF0000"/>
                </a:solidFill>
              </a:rPr>
              <a:t>&gt;</a:t>
            </a:r>
          </a:p>
          <a:p>
            <a:pPr marL="457200" lvl="1" indent="0">
              <a:buNone/>
            </a:pPr>
            <a:r>
              <a:rPr lang="en-US" sz="1300" dirty="0">
                <a:solidFill>
                  <a:srgbClr val="FF0000"/>
                </a:solidFill>
              </a:rPr>
              <a:t>	</a:t>
            </a:r>
            <a:r>
              <a:rPr lang="en-US" sz="1300" dirty="0" smtClean="0">
                <a:solidFill>
                  <a:srgbClr val="FF0000"/>
                </a:solidFill>
              </a:rPr>
              <a:t>&lt;header&gt;</a:t>
            </a:r>
          </a:p>
          <a:p>
            <a:pPr marL="457200" lvl="1" indent="0">
              <a:buNone/>
            </a:pPr>
            <a:r>
              <a:rPr lang="en-US" sz="1300" dirty="0">
                <a:solidFill>
                  <a:srgbClr val="FF0000"/>
                </a:solidFill>
              </a:rPr>
              <a:t>	</a:t>
            </a:r>
            <a:r>
              <a:rPr lang="en-US" sz="1300" dirty="0" smtClean="0">
                <a:solidFill>
                  <a:srgbClr val="FF0000"/>
                </a:solidFill>
              </a:rPr>
              <a:t>&lt;main&gt;</a:t>
            </a:r>
          </a:p>
          <a:p>
            <a:pPr marL="457200" lvl="1" indent="0">
              <a:buNone/>
            </a:pPr>
            <a:r>
              <a:rPr lang="en-US" sz="1300" dirty="0">
                <a:solidFill>
                  <a:srgbClr val="FF0000"/>
                </a:solidFill>
              </a:rPr>
              <a:t>	</a:t>
            </a:r>
            <a:r>
              <a:rPr lang="en-US" sz="1300" dirty="0" smtClean="0">
                <a:solidFill>
                  <a:srgbClr val="FF0000"/>
                </a:solidFill>
              </a:rPr>
              <a:t>&lt;/main&gt;</a:t>
            </a:r>
          </a:p>
          <a:p>
            <a:pPr marL="457200" lvl="1" indent="0">
              <a:buNone/>
            </a:pPr>
            <a:r>
              <a:rPr lang="en-US" sz="1300" dirty="0">
                <a:solidFill>
                  <a:srgbClr val="FF0000"/>
                </a:solidFill>
              </a:rPr>
              <a:t>	</a:t>
            </a:r>
            <a:r>
              <a:rPr lang="en-US" sz="1300" dirty="0" smtClean="0">
                <a:solidFill>
                  <a:srgbClr val="FF0000"/>
                </a:solidFill>
              </a:rPr>
              <a:t>&lt;footer&gt;</a:t>
            </a:r>
          </a:p>
          <a:p>
            <a:pPr marL="457200" lvl="1" indent="0">
              <a:buNone/>
            </a:pPr>
            <a:r>
              <a:rPr lang="en-US" sz="1300" dirty="0">
                <a:solidFill>
                  <a:srgbClr val="FF0000"/>
                </a:solidFill>
              </a:rPr>
              <a:t>	</a:t>
            </a:r>
            <a:r>
              <a:rPr lang="en-US" sz="1300" dirty="0" smtClean="0">
                <a:solidFill>
                  <a:srgbClr val="FF0000"/>
                </a:solidFill>
              </a:rPr>
              <a:t>&lt;/footer&gt;	</a:t>
            </a:r>
          </a:p>
          <a:p>
            <a:pPr marL="457200" lvl="1" indent="0">
              <a:buNone/>
            </a:pPr>
            <a:r>
              <a:rPr lang="en-US" sz="1300" dirty="0" smtClean="0">
                <a:solidFill>
                  <a:srgbClr val="FF0000"/>
                </a:solidFill>
              </a:rPr>
              <a:t>&lt;/</a:t>
            </a:r>
            <a:r>
              <a:rPr lang="en-US" sz="1300" dirty="0">
                <a:solidFill>
                  <a:srgbClr val="FF0000"/>
                </a:solidFill>
              </a:rPr>
              <a:t>div</a:t>
            </a:r>
            <a:r>
              <a:rPr lang="en-US" sz="1300" dirty="0" smtClean="0">
                <a:solidFill>
                  <a:srgbClr val="FF0000"/>
                </a:solidFill>
              </a:rPr>
              <a:t>&gt;</a:t>
            </a:r>
          </a:p>
          <a:p>
            <a:pPr marL="0" indent="0">
              <a:buNone/>
            </a:pPr>
            <a:r>
              <a:rPr lang="en-US" sz="3000" b="1" dirty="0"/>
              <a:t>Layout Management</a:t>
            </a:r>
            <a:r>
              <a:rPr lang="en-US" sz="3000" dirty="0"/>
              <a:t>: It helps in creating flexible layouts that can adapt to different screen sizes and orientations.</a:t>
            </a:r>
            <a:endParaRPr lang="en-GB" sz="2600" dirty="0"/>
          </a:p>
        </p:txBody>
      </p:sp>
    </p:spTree>
    <p:extLst>
      <p:ext uri="{BB962C8B-B14F-4D97-AF65-F5344CB8AC3E}">
        <p14:creationId xmlns:p14="http://schemas.microsoft.com/office/powerpoint/2010/main" val="15248002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sosceles Triangle 3"/>
          <p:cNvSpPr/>
          <p:nvPr/>
        </p:nvSpPr>
        <p:spPr>
          <a:xfrm flipH="1" flipV="1">
            <a:off x="771498" y="656001"/>
            <a:ext cx="451314" cy="476599"/>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250532" y="5854580"/>
            <a:ext cx="184731" cy="523220"/>
          </a:xfrm>
          <a:prstGeom prst="rect">
            <a:avLst/>
          </a:prstGeom>
          <a:noFill/>
        </p:spPr>
        <p:txBody>
          <a:bodyPr wrap="none" lIns="91440" tIns="45720" rIns="91440" bIns="45720" rtlCol="0" anchor="t">
            <a:spAutoFit/>
          </a:bodyPr>
          <a:lstStyle/>
          <a:p>
            <a:endParaRPr lang="en-US" sz="2800" b="1" dirty="0">
              <a:ea typeface="Calibri"/>
              <a:cs typeface="Calibri"/>
            </a:endParaRPr>
          </a:p>
        </p:txBody>
      </p:sp>
      <p:sp>
        <p:nvSpPr>
          <p:cNvPr id="9" name="Isosceles Triangle 3">
            <a:extLst>
              <a:ext uri="{FF2B5EF4-FFF2-40B4-BE49-F238E27FC236}">
                <a16:creationId xmlns="" xmlns:a16="http://schemas.microsoft.com/office/drawing/2014/main" id="{00D729C2-A19B-7576-4C97-DF1C42A75D38}"/>
              </a:ext>
            </a:extLst>
          </p:cNvPr>
          <p:cNvSpPr/>
          <p:nvPr/>
        </p:nvSpPr>
        <p:spPr>
          <a:xfrm flipH="1" flipV="1">
            <a:off x="1276199" y="487767"/>
            <a:ext cx="451314" cy="476599"/>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Isosceles Triangle 3">
            <a:extLst>
              <a:ext uri="{FF2B5EF4-FFF2-40B4-BE49-F238E27FC236}">
                <a16:creationId xmlns="" xmlns:a16="http://schemas.microsoft.com/office/drawing/2014/main" id="{12741AE1-298B-1601-8802-D88248A56A01}"/>
              </a:ext>
            </a:extLst>
          </p:cNvPr>
          <p:cNvSpPr/>
          <p:nvPr/>
        </p:nvSpPr>
        <p:spPr>
          <a:xfrm flipH="1" flipV="1">
            <a:off x="632952" y="1190390"/>
            <a:ext cx="451314" cy="476599"/>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endParaRPr lang="en-GB" dirty="0"/>
          </a:p>
        </p:txBody>
      </p:sp>
      <p:sp>
        <p:nvSpPr>
          <p:cNvPr id="4" name="Content Placeholder 3"/>
          <p:cNvSpPr>
            <a:spLocks noGrp="1"/>
          </p:cNvSpPr>
          <p:nvPr>
            <p:ph idx="1"/>
          </p:nvPr>
        </p:nvSpPr>
        <p:spPr>
          <a:xfrm>
            <a:off x="838200" y="1825625"/>
            <a:ext cx="7450015" cy="4351338"/>
          </a:xfrm>
        </p:spPr>
        <p:txBody>
          <a:bodyPr>
            <a:normAutofit/>
          </a:bodyPr>
          <a:lstStyle/>
          <a:p>
            <a:pPr marL="514350" indent="-514350">
              <a:buAutoNum type="arabicParenR"/>
            </a:pPr>
            <a:r>
              <a:rPr lang="en-GB" i="1" dirty="0" smtClean="0">
                <a:hlinkClick r:id="rId3"/>
              </a:rPr>
              <a:t>https</a:t>
            </a:r>
            <a:r>
              <a:rPr lang="en-GB" i="1" dirty="0">
                <a:hlinkClick r:id="rId3"/>
              </a:rPr>
              <a:t>://</a:t>
            </a:r>
            <a:r>
              <a:rPr lang="en-GB" i="1" dirty="0" smtClean="0">
                <a:hlinkClick r:id="rId3"/>
              </a:rPr>
              <a:t>www.tutorialrepublic.com/css-tutorial/</a:t>
            </a:r>
            <a:endParaRPr lang="en-GB" i="1" dirty="0" smtClean="0"/>
          </a:p>
          <a:p>
            <a:pPr marL="514350" indent="-514350">
              <a:buAutoNum type="arabicParenR"/>
            </a:pPr>
            <a:r>
              <a:rPr lang="en-GB" i="1" dirty="0">
                <a:hlinkClick r:id="rId4"/>
              </a:rPr>
              <a:t>https://</a:t>
            </a:r>
            <a:r>
              <a:rPr lang="en-GB" i="1" dirty="0" smtClean="0">
                <a:hlinkClick r:id="rId4"/>
              </a:rPr>
              <a:t>www.w3schools.com/css/</a:t>
            </a:r>
            <a:endParaRPr lang="en-GB" i="1" dirty="0" smtClean="0"/>
          </a:p>
          <a:p>
            <a:pPr marL="0" indent="0">
              <a:buNone/>
            </a:pPr>
            <a:endParaRPr lang="en-GB" i="1" dirty="0"/>
          </a:p>
        </p:txBody>
      </p:sp>
      <p:sp>
        <p:nvSpPr>
          <p:cNvPr id="3" name="Footer Placeholder 2"/>
          <p:cNvSpPr>
            <a:spLocks noGrp="1"/>
          </p:cNvSpPr>
          <p:nvPr>
            <p:ph type="ftr" sz="quarter" idx="11"/>
          </p:nvPr>
        </p:nvSpPr>
        <p:spPr/>
        <p:txBody>
          <a:bodyPr/>
          <a:lstStyle/>
          <a:p>
            <a:r>
              <a:rPr lang="en-US" dirty="0" smtClean="0"/>
              <a:t>IT Industry-Academia Bridge Program</a:t>
            </a:r>
            <a:endParaRPr lang="en-US" dirty="0"/>
          </a:p>
        </p:txBody>
      </p:sp>
    </p:spTree>
    <p:extLst>
      <p:ext uri="{BB962C8B-B14F-4D97-AF65-F5344CB8AC3E}">
        <p14:creationId xmlns:p14="http://schemas.microsoft.com/office/powerpoint/2010/main" val="12398382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Selector(pattern matching)</a:t>
            </a:r>
            <a:endParaRPr lang="en-GB" dirty="0"/>
          </a:p>
        </p:txBody>
      </p:sp>
      <p:sp>
        <p:nvSpPr>
          <p:cNvPr id="3" name="Content Placeholder 2"/>
          <p:cNvSpPr>
            <a:spLocks noGrp="1"/>
          </p:cNvSpPr>
          <p:nvPr>
            <p:ph idx="1"/>
          </p:nvPr>
        </p:nvSpPr>
        <p:spPr/>
        <p:txBody>
          <a:bodyPr/>
          <a:lstStyle/>
          <a:p>
            <a:pPr marL="0" indent="0">
              <a:buNone/>
            </a:pPr>
            <a:r>
              <a:rPr lang="en-US" dirty="0" smtClean="0"/>
              <a:t>In </a:t>
            </a:r>
            <a:r>
              <a:rPr lang="en-US" dirty="0"/>
              <a:t>CSS, pattern matching rules determine which style rules apply to elements in the </a:t>
            </a:r>
            <a:r>
              <a:rPr lang="en-US" dirty="0">
                <a:hlinkClick r:id="rId2"/>
              </a:rPr>
              <a:t>document tree</a:t>
            </a:r>
            <a:r>
              <a:rPr lang="en-US" dirty="0"/>
              <a:t>. These patterns, called </a:t>
            </a:r>
            <a:r>
              <a:rPr lang="en-US" dirty="0" smtClean="0"/>
              <a:t>selectors. In CSS, different types of selectors can be</a:t>
            </a:r>
          </a:p>
          <a:p>
            <a:pPr marL="0" indent="0">
              <a:buNone/>
            </a:pPr>
            <a:r>
              <a:rPr lang="en-US" dirty="0" smtClean="0"/>
              <a:t>universal-selector  	* {}</a:t>
            </a:r>
          </a:p>
          <a:p>
            <a:pPr marL="0" indent="0">
              <a:buNone/>
            </a:pPr>
            <a:r>
              <a:rPr lang="en-US" dirty="0" smtClean="0"/>
              <a:t>id selector		# {}</a:t>
            </a:r>
          </a:p>
          <a:p>
            <a:pPr marL="0" indent="0">
              <a:buNone/>
            </a:pPr>
            <a:r>
              <a:rPr lang="en-US" dirty="0"/>
              <a:t>c</a:t>
            </a:r>
            <a:r>
              <a:rPr lang="en-US" dirty="0" smtClean="0"/>
              <a:t>lass selector	 . {}</a:t>
            </a:r>
          </a:p>
          <a:p>
            <a:pPr marL="0" indent="0">
              <a:buNone/>
            </a:pPr>
            <a:r>
              <a:rPr lang="en-US" dirty="0"/>
              <a:t>d</a:t>
            </a:r>
            <a:r>
              <a:rPr lang="en-US" dirty="0" smtClean="0"/>
              <a:t>escendant		parent-selector child-selector {}</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14109347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Child Selector</a:t>
            </a:r>
            <a:endParaRPr lang="en-GB" dirty="0"/>
          </a:p>
        </p:txBody>
      </p:sp>
      <p:sp>
        <p:nvSpPr>
          <p:cNvPr id="3" name="Content Placeholder 2"/>
          <p:cNvSpPr>
            <a:spLocks noGrp="1"/>
          </p:cNvSpPr>
          <p:nvPr>
            <p:ph idx="1"/>
          </p:nvPr>
        </p:nvSpPr>
        <p:spPr>
          <a:xfrm>
            <a:off x="838200" y="1500554"/>
            <a:ext cx="10515600" cy="5122984"/>
          </a:xfrm>
        </p:spPr>
        <p:txBody>
          <a:bodyPr>
            <a:normAutofit lnSpcReduction="10000"/>
          </a:bodyPr>
          <a:lstStyle/>
          <a:p>
            <a:pPr marL="0" indent="0">
              <a:buNone/>
            </a:pPr>
            <a:r>
              <a:rPr lang="en-US" dirty="0"/>
              <a:t>The </a:t>
            </a:r>
            <a:r>
              <a:rPr lang="en-US" b="1" dirty="0"/>
              <a:t>child selector</a:t>
            </a:r>
            <a:r>
              <a:rPr lang="en-US" dirty="0"/>
              <a:t> in CSS (</a:t>
            </a:r>
            <a:r>
              <a:rPr lang="en-US" b="1" dirty="0">
                <a:solidFill>
                  <a:srgbClr val="FF0000"/>
                </a:solidFill>
              </a:rPr>
              <a:t>&gt;</a:t>
            </a:r>
            <a:r>
              <a:rPr lang="en-US" dirty="0"/>
              <a:t>) targets elements that are direct children of a specified parent element.</a:t>
            </a:r>
            <a:endParaRPr lang="en-US" dirty="0" smtClean="0"/>
          </a:p>
          <a:p>
            <a:pPr lvl="1"/>
            <a:r>
              <a:rPr lang="en-US" dirty="0" smtClean="0"/>
              <a:t>body &gt; p {color: green</a:t>
            </a:r>
            <a:r>
              <a:rPr lang="en-US" dirty="0"/>
              <a:t>;} </a:t>
            </a:r>
            <a:r>
              <a:rPr lang="en-US" dirty="0" smtClean="0"/>
              <a:t> //simple child selector		</a:t>
            </a:r>
          </a:p>
          <a:p>
            <a:pPr marL="457200" lvl="1" indent="0">
              <a:buNone/>
            </a:pPr>
            <a:r>
              <a:rPr lang="en-US" dirty="0" smtClean="0"/>
              <a:t>Here </a:t>
            </a:r>
            <a:r>
              <a:rPr lang="en-US" dirty="0"/>
              <a:t>p is directly child of body</a:t>
            </a:r>
          </a:p>
          <a:p>
            <a:pPr lvl="1"/>
            <a:r>
              <a:rPr lang="en-US" dirty="0" smtClean="0"/>
              <a:t>body </a:t>
            </a:r>
            <a:r>
              <a:rPr lang="en-US" dirty="0"/>
              <a:t>&gt; div &gt; div &gt; p </a:t>
            </a:r>
            <a:r>
              <a:rPr lang="en-US" dirty="0" smtClean="0"/>
              <a:t>{background</a:t>
            </a:r>
            <a:r>
              <a:rPr lang="en-US" dirty="0"/>
              <a:t>: cyan</a:t>
            </a:r>
            <a:r>
              <a:rPr lang="en-US" dirty="0" smtClean="0"/>
              <a:t>;}   //multiple child selectors</a:t>
            </a:r>
          </a:p>
          <a:p>
            <a:pPr marL="457200" lvl="1" indent="0">
              <a:buNone/>
            </a:pPr>
            <a:r>
              <a:rPr lang="en-US" dirty="0" smtClean="0"/>
              <a:t>Here p is direct child of div, dive is direct child of another div and that dive is child of body </a:t>
            </a:r>
            <a:endParaRPr lang="en-US" dirty="0"/>
          </a:p>
          <a:p>
            <a:pPr marL="0" indent="0">
              <a:buNone/>
            </a:pPr>
            <a:r>
              <a:rPr lang="en-US" dirty="0"/>
              <a:t>The </a:t>
            </a:r>
            <a:r>
              <a:rPr lang="en-US" b="1" dirty="0"/>
              <a:t>:nth-child()</a:t>
            </a:r>
            <a:r>
              <a:rPr lang="en-US" dirty="0"/>
              <a:t> selector in CSS allows you to target elements based on their position among siblings</a:t>
            </a:r>
            <a:r>
              <a:rPr lang="en-US" dirty="0" smtClean="0"/>
              <a:t>.</a:t>
            </a:r>
          </a:p>
          <a:p>
            <a:pPr marL="457200" lvl="1" indent="0">
              <a:buNone/>
            </a:pPr>
            <a:r>
              <a:rPr lang="en-GB" dirty="0" err="1"/>
              <a:t>element:nth-child</a:t>
            </a:r>
            <a:r>
              <a:rPr lang="en-GB" dirty="0"/>
              <a:t>(n) { /* styles */ </a:t>
            </a:r>
            <a:r>
              <a:rPr lang="en-GB" dirty="0" smtClean="0"/>
              <a:t>}</a:t>
            </a:r>
          </a:p>
          <a:p>
            <a:pPr marL="457200" lvl="1" indent="0">
              <a:buNone/>
            </a:pPr>
            <a:r>
              <a:rPr lang="en-US" b="1" dirty="0"/>
              <a:t>n</a:t>
            </a:r>
            <a:r>
              <a:rPr lang="en-US" dirty="0"/>
              <a:t> is a formula, which can be a number, keyword, or expression</a:t>
            </a:r>
            <a:r>
              <a:rPr lang="en-US" dirty="0" smtClean="0"/>
              <a:t>.</a:t>
            </a:r>
          </a:p>
          <a:p>
            <a:pPr marL="457200" lvl="1" indent="0">
              <a:buNone/>
            </a:pPr>
            <a:r>
              <a:rPr lang="en-GB" dirty="0"/>
              <a:t>p:nth-child(2n) { </a:t>
            </a:r>
            <a:r>
              <a:rPr lang="en-GB" dirty="0" err="1"/>
              <a:t>color</a:t>
            </a:r>
            <a:r>
              <a:rPr lang="en-GB" dirty="0"/>
              <a:t>: blue; </a:t>
            </a:r>
            <a:r>
              <a:rPr lang="en-GB" dirty="0" smtClean="0"/>
              <a:t>}	</a:t>
            </a:r>
            <a:r>
              <a:rPr lang="en-GB" i="1" dirty="0"/>
              <a:t>Selecting every second element</a:t>
            </a:r>
            <a:r>
              <a:rPr lang="en-GB" i="1" dirty="0" smtClean="0"/>
              <a:t>:</a:t>
            </a:r>
          </a:p>
          <a:p>
            <a:pPr marL="457200" lvl="1" indent="0">
              <a:buNone/>
            </a:pPr>
            <a:r>
              <a:rPr lang="en-US" dirty="0" err="1"/>
              <a:t>li:nth-child</a:t>
            </a:r>
            <a:r>
              <a:rPr lang="en-US" dirty="0"/>
              <a:t>(3) { font-weight: bold; } </a:t>
            </a:r>
            <a:r>
              <a:rPr lang="en-US" dirty="0" smtClean="0"/>
              <a:t>	</a:t>
            </a:r>
            <a:r>
              <a:rPr lang="en-GB" i="1" dirty="0" smtClean="0"/>
              <a:t>Selecting </a:t>
            </a:r>
            <a:r>
              <a:rPr lang="en-GB" i="1" dirty="0"/>
              <a:t>the third element:</a:t>
            </a:r>
            <a:endParaRPr lang="en-US" i="1" dirty="0"/>
          </a:p>
          <a:p>
            <a:pPr marL="457200" lvl="1" indent="0">
              <a:buNone/>
            </a:pPr>
            <a:endParaRPr lang="en-US" dirty="0" smtClean="0"/>
          </a:p>
        </p:txBody>
      </p:sp>
    </p:spTree>
    <p:extLst>
      <p:ext uri="{BB962C8B-B14F-4D97-AF65-F5344CB8AC3E}">
        <p14:creationId xmlns:p14="http://schemas.microsoft.com/office/powerpoint/2010/main" val="17890755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Child Selector</a:t>
            </a:r>
            <a:endParaRPr lang="en-GB" dirty="0"/>
          </a:p>
        </p:txBody>
      </p:sp>
      <p:sp>
        <p:nvSpPr>
          <p:cNvPr id="3" name="Content Placeholder 2"/>
          <p:cNvSpPr>
            <a:spLocks noGrp="1"/>
          </p:cNvSpPr>
          <p:nvPr>
            <p:ph idx="1"/>
          </p:nvPr>
        </p:nvSpPr>
        <p:spPr/>
        <p:txBody>
          <a:bodyPr/>
          <a:lstStyle/>
          <a:p>
            <a:pPr marL="0" indent="0">
              <a:buNone/>
            </a:pPr>
            <a:r>
              <a:rPr lang="en-US" dirty="0" smtClean="0"/>
              <a:t>The</a:t>
            </a:r>
            <a:r>
              <a:rPr lang="en-US" dirty="0"/>
              <a:t> </a:t>
            </a:r>
            <a:r>
              <a:rPr lang="en-US" b="1" dirty="0"/>
              <a:t>:first-child selector</a:t>
            </a:r>
            <a:r>
              <a:rPr lang="en-US" dirty="0"/>
              <a:t> is used to select the specified selector, only if it is the first child of its </a:t>
            </a:r>
            <a:r>
              <a:rPr lang="en-US" dirty="0" smtClean="0"/>
              <a:t>parent.</a:t>
            </a:r>
          </a:p>
          <a:p>
            <a:pPr marL="457200" lvl="1" indent="0">
              <a:buNone/>
            </a:pPr>
            <a:r>
              <a:rPr lang="en-US" i="1" dirty="0" smtClean="0"/>
              <a:t>p:first-child </a:t>
            </a:r>
            <a:r>
              <a:rPr lang="en-US" i="1" dirty="0"/>
              <a:t>{ font-weight: bold; color: blue; }</a:t>
            </a:r>
          </a:p>
          <a:p>
            <a:pPr marL="0" indent="0">
              <a:buNone/>
            </a:pPr>
            <a:r>
              <a:rPr lang="en-US" dirty="0"/>
              <a:t>In this example, the first &lt;p&gt; element within its parent will be bold and blue.</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12806784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Tools and </a:t>
            </a:r>
            <a:r>
              <a:rPr lang="en-US" b="1" dirty="0" smtClean="0"/>
              <a:t>Resources</a:t>
            </a:r>
            <a:endParaRPr lang="en-GB" dirty="0"/>
          </a:p>
        </p:txBody>
      </p:sp>
      <p:sp>
        <p:nvSpPr>
          <p:cNvPr id="3" name="Content Placeholder 2"/>
          <p:cNvSpPr>
            <a:spLocks noGrp="1"/>
          </p:cNvSpPr>
          <p:nvPr>
            <p:ph idx="1"/>
          </p:nvPr>
        </p:nvSpPr>
        <p:spPr/>
        <p:txBody>
          <a:bodyPr>
            <a:normAutofit/>
          </a:bodyPr>
          <a:lstStyle/>
          <a:p>
            <a:r>
              <a:rPr lang="en-US" b="1" dirty="0" smtClean="0"/>
              <a:t>Text </a:t>
            </a:r>
            <a:r>
              <a:rPr lang="en-US" b="1" dirty="0"/>
              <a:t>Editors:</a:t>
            </a:r>
            <a:endParaRPr lang="en-US" dirty="0"/>
          </a:p>
          <a:p>
            <a:pPr lvl="1"/>
            <a:r>
              <a:rPr lang="en-US" dirty="0"/>
              <a:t>Use text editors like Visual Studio </a:t>
            </a:r>
            <a:r>
              <a:rPr lang="en-US" dirty="0" smtClean="0"/>
              <a:t>Code, cursor AI, antigravity, </a:t>
            </a:r>
            <a:r>
              <a:rPr lang="en-US" dirty="0"/>
              <a:t>Sublime Text, or Atom to write and edit HTML and CSS files.</a:t>
            </a:r>
          </a:p>
          <a:p>
            <a:r>
              <a:rPr lang="en-US" b="1" dirty="0"/>
              <a:t>Browsers Developer Tools:</a:t>
            </a:r>
            <a:endParaRPr lang="en-US" dirty="0"/>
          </a:p>
          <a:p>
            <a:pPr lvl="1"/>
            <a:r>
              <a:rPr lang="en-US" dirty="0"/>
              <a:t>Modern browsers come with built-in developer tools (e.g., Chrome </a:t>
            </a:r>
            <a:r>
              <a:rPr lang="en-US" dirty="0" err="1"/>
              <a:t>DevTools</a:t>
            </a:r>
            <a:r>
              <a:rPr lang="en-US" dirty="0"/>
              <a:t>, Firefox Developer Tools) that allow you to inspect and debug your HTML and CSS.</a:t>
            </a:r>
          </a:p>
          <a:p>
            <a:r>
              <a:rPr lang="en-US" b="1" dirty="0"/>
              <a:t>Online Resources:</a:t>
            </a:r>
            <a:endParaRPr lang="en-US" dirty="0"/>
          </a:p>
          <a:p>
            <a:pPr lvl="1"/>
            <a:r>
              <a:rPr lang="en-US" dirty="0"/>
              <a:t>Utilize online resources like MDN Web Docs (Mozilla Developer Network), W3Schools, and CSS-Tricks for learning and reference.</a:t>
            </a:r>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8872394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sosceles Triangle 3"/>
          <p:cNvSpPr/>
          <p:nvPr/>
        </p:nvSpPr>
        <p:spPr>
          <a:xfrm flipH="1" flipV="1">
            <a:off x="-49879" y="-16933"/>
            <a:ext cx="1836767" cy="1654234"/>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Isosceles Triangle 3"/>
          <p:cNvSpPr/>
          <p:nvPr/>
        </p:nvSpPr>
        <p:spPr>
          <a:xfrm flipH="1">
            <a:off x="-49878" y="5203766"/>
            <a:ext cx="1836767" cy="1654234"/>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p:cNvSpPr/>
          <p:nvPr/>
        </p:nvSpPr>
        <p:spPr>
          <a:xfrm>
            <a:off x="10681855" y="5203766"/>
            <a:ext cx="1602970" cy="1654233"/>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838200" y="365126"/>
            <a:ext cx="10515600" cy="971306"/>
          </a:xfrm>
        </p:spPr>
        <p:txBody>
          <a:bodyPr>
            <a:normAutofit/>
          </a:bodyPr>
          <a:lstStyle/>
          <a:p>
            <a:r>
              <a:rPr lang="en-US" sz="3600" b="1" dirty="0" smtClean="0"/>
              <a:t>Color Styling</a:t>
            </a:r>
            <a:endParaRPr lang="en-GB" sz="3600" b="1" dirty="0"/>
          </a:p>
        </p:txBody>
      </p:sp>
      <p:sp>
        <p:nvSpPr>
          <p:cNvPr id="9" name="Content Placeholder 8"/>
          <p:cNvSpPr>
            <a:spLocks noGrp="1"/>
          </p:cNvSpPr>
          <p:nvPr>
            <p:ph idx="1"/>
          </p:nvPr>
        </p:nvSpPr>
        <p:spPr>
          <a:xfrm>
            <a:off x="829081" y="1348154"/>
            <a:ext cx="10515600" cy="4817085"/>
          </a:xfrm>
        </p:spPr>
        <p:txBody>
          <a:bodyPr>
            <a:normAutofit fontScale="92500"/>
          </a:bodyPr>
          <a:lstStyle/>
          <a:p>
            <a:pPr marL="0" indent="0">
              <a:buNone/>
            </a:pPr>
            <a:r>
              <a:rPr lang="en-US" dirty="0" smtClean="0"/>
              <a:t>Color in CSS can be defined as</a:t>
            </a:r>
          </a:p>
          <a:p>
            <a:pPr marL="0" indent="0">
              <a:buNone/>
            </a:pPr>
            <a:r>
              <a:rPr lang="en-US" dirty="0" smtClean="0">
                <a:solidFill>
                  <a:srgbClr val="FF0000"/>
                </a:solidFill>
              </a:rPr>
              <a:t>RGB Color</a:t>
            </a:r>
            <a:r>
              <a:rPr lang="en-US" dirty="0" smtClean="0"/>
              <a:t>:- </a:t>
            </a:r>
            <a:r>
              <a:rPr lang="en-US" sz="2600" dirty="0" err="1" smtClean="0">
                <a:solidFill>
                  <a:srgbClr val="0070C0"/>
                </a:solidFill>
              </a:rPr>
              <a:t>rgb</a:t>
            </a:r>
            <a:r>
              <a:rPr lang="en-US" sz="2600" dirty="0" smtClean="0">
                <a:solidFill>
                  <a:srgbClr val="0070C0"/>
                </a:solidFill>
              </a:rPr>
              <a:t>(red, green, blue) = </a:t>
            </a:r>
            <a:r>
              <a:rPr lang="en-US" sz="2600" dirty="0" err="1" smtClean="0">
                <a:solidFill>
                  <a:srgbClr val="0070C0"/>
                </a:solidFill>
              </a:rPr>
              <a:t>rgb</a:t>
            </a:r>
            <a:r>
              <a:rPr lang="en-US" sz="2600" dirty="0" smtClean="0">
                <a:solidFill>
                  <a:srgbClr val="0070C0"/>
                </a:solidFill>
              </a:rPr>
              <a:t>(0-255, 0-255, 0-255)</a:t>
            </a:r>
          </a:p>
          <a:p>
            <a:pPr marL="0" indent="0">
              <a:buNone/>
            </a:pPr>
            <a:r>
              <a:rPr lang="en-US" dirty="0" smtClean="0">
                <a:solidFill>
                  <a:srgbClr val="FF0000"/>
                </a:solidFill>
              </a:rPr>
              <a:t>RGBA Color</a:t>
            </a:r>
            <a:r>
              <a:rPr lang="en-US" dirty="0" smtClean="0"/>
              <a:t>:- </a:t>
            </a:r>
            <a:r>
              <a:rPr lang="en-US" sz="2600" dirty="0" err="1" smtClean="0">
                <a:solidFill>
                  <a:srgbClr val="0070C0"/>
                </a:solidFill>
              </a:rPr>
              <a:t>rgba</a:t>
            </a:r>
            <a:r>
              <a:rPr lang="en-US" sz="2600" dirty="0" smtClean="0">
                <a:solidFill>
                  <a:srgbClr val="0070C0"/>
                </a:solidFill>
              </a:rPr>
              <a:t>(red, green, blue, alpha) = </a:t>
            </a:r>
            <a:r>
              <a:rPr lang="en-US" sz="2600" dirty="0" err="1" smtClean="0">
                <a:solidFill>
                  <a:srgbClr val="0070C0"/>
                </a:solidFill>
              </a:rPr>
              <a:t>rgba</a:t>
            </a:r>
            <a:r>
              <a:rPr lang="en-US" sz="2600" dirty="0" smtClean="0">
                <a:solidFill>
                  <a:srgbClr val="0070C0"/>
                </a:solidFill>
              </a:rPr>
              <a:t>(0-255, 0-255, 0-255, 0.0-1.0)</a:t>
            </a:r>
            <a:endParaRPr lang="en-US" dirty="0" smtClean="0">
              <a:solidFill>
                <a:srgbClr val="0070C0"/>
              </a:solidFill>
            </a:endParaRPr>
          </a:p>
          <a:p>
            <a:pPr marL="457200" lvl="1" indent="0">
              <a:buNone/>
            </a:pPr>
            <a:r>
              <a:rPr lang="en-US" dirty="0" smtClean="0"/>
              <a:t>The alpha parameter specify the opacity for a color.</a:t>
            </a:r>
          </a:p>
          <a:p>
            <a:pPr marL="0" indent="0">
              <a:buNone/>
            </a:pPr>
            <a:r>
              <a:rPr lang="en-US" dirty="0" smtClean="0">
                <a:solidFill>
                  <a:srgbClr val="FF0000"/>
                </a:solidFill>
              </a:rPr>
              <a:t>Hex Color</a:t>
            </a:r>
            <a:r>
              <a:rPr lang="en-US" dirty="0" smtClean="0"/>
              <a:t>:- </a:t>
            </a:r>
            <a:r>
              <a:rPr lang="en-US" sz="2600" dirty="0" smtClean="0">
                <a:solidFill>
                  <a:srgbClr val="0070C0"/>
                </a:solidFill>
              </a:rPr>
              <a:t>#</a:t>
            </a:r>
            <a:r>
              <a:rPr lang="en-US" sz="2600" dirty="0" err="1" smtClean="0">
                <a:solidFill>
                  <a:srgbClr val="0070C0"/>
                </a:solidFill>
              </a:rPr>
              <a:t>rrggbb</a:t>
            </a:r>
            <a:r>
              <a:rPr lang="en-US" sz="2600" dirty="0" smtClean="0"/>
              <a:t> where </a:t>
            </a:r>
            <a:r>
              <a:rPr lang="en-US" sz="2600" dirty="0" err="1" smtClean="0"/>
              <a:t>rr</a:t>
            </a:r>
            <a:r>
              <a:rPr lang="en-US" sz="2600" dirty="0" smtClean="0"/>
              <a:t> equal to red, </a:t>
            </a:r>
            <a:r>
              <a:rPr lang="en-US" sz="2600" dirty="0" err="1" smtClean="0"/>
              <a:t>gg</a:t>
            </a:r>
            <a:r>
              <a:rPr lang="en-US" sz="2600" dirty="0" smtClean="0"/>
              <a:t> equal to green, bb equal to blue are hexadecimal value between 00 to </a:t>
            </a:r>
            <a:r>
              <a:rPr lang="en-US" sz="2600" dirty="0" err="1" smtClean="0"/>
              <a:t>ff</a:t>
            </a:r>
            <a:r>
              <a:rPr lang="en-US" sz="2600" dirty="0" smtClean="0"/>
              <a:t> (0 to 255)</a:t>
            </a:r>
          </a:p>
          <a:p>
            <a:pPr marL="0" indent="0">
              <a:buNone/>
            </a:pPr>
            <a:r>
              <a:rPr lang="en-US" dirty="0" smtClean="0">
                <a:solidFill>
                  <a:srgbClr val="FF0000"/>
                </a:solidFill>
              </a:rPr>
              <a:t>HSL Color</a:t>
            </a:r>
            <a:r>
              <a:rPr lang="en-US" dirty="0" smtClean="0"/>
              <a:t>:- </a:t>
            </a:r>
            <a:r>
              <a:rPr lang="en-US" dirty="0" err="1" smtClean="0">
                <a:solidFill>
                  <a:srgbClr val="0070C0"/>
                </a:solidFill>
              </a:rPr>
              <a:t>hsl</a:t>
            </a:r>
            <a:r>
              <a:rPr lang="en-US" dirty="0" smtClean="0">
                <a:solidFill>
                  <a:srgbClr val="0070C0"/>
                </a:solidFill>
              </a:rPr>
              <a:t>(hue, saturation, lightness)</a:t>
            </a:r>
          </a:p>
          <a:p>
            <a:pPr lvl="1"/>
            <a:r>
              <a:rPr lang="en-US" b="1" dirty="0"/>
              <a:t>Hue</a:t>
            </a:r>
            <a:r>
              <a:rPr lang="en-US" dirty="0"/>
              <a:t> is a degree on the color wheel from 0 to 360. 0 is red, 120 is green, and 240 is blue.</a:t>
            </a:r>
          </a:p>
          <a:p>
            <a:pPr lvl="1"/>
            <a:r>
              <a:rPr lang="en-US" b="1" dirty="0"/>
              <a:t>Saturation </a:t>
            </a:r>
            <a:r>
              <a:rPr lang="en-US" dirty="0"/>
              <a:t>is a percentage value. 0% means a shade of gray, and 100% is the full color.</a:t>
            </a:r>
          </a:p>
          <a:p>
            <a:pPr lvl="1"/>
            <a:r>
              <a:rPr lang="en-US" b="1" dirty="0"/>
              <a:t>Lightness</a:t>
            </a:r>
            <a:r>
              <a:rPr lang="en-US" dirty="0"/>
              <a:t> is also a percentage value. 0% is black, and 100% is white.</a:t>
            </a:r>
          </a:p>
          <a:p>
            <a:pPr marL="0" indent="0">
              <a:buNone/>
            </a:pPr>
            <a:endParaRPr lang="en-US" dirty="0" smtClean="0"/>
          </a:p>
          <a:p>
            <a:pPr marL="0" indent="0">
              <a:buNone/>
            </a:pPr>
            <a:endParaRPr lang="en-GB" dirty="0"/>
          </a:p>
        </p:txBody>
      </p:sp>
      <p:sp>
        <p:nvSpPr>
          <p:cNvPr id="2" name="Footer Placeholder 1"/>
          <p:cNvSpPr>
            <a:spLocks noGrp="1"/>
          </p:cNvSpPr>
          <p:nvPr>
            <p:ph type="ftr" sz="quarter" idx="11"/>
          </p:nvPr>
        </p:nvSpPr>
        <p:spPr/>
        <p:txBody>
          <a:bodyPr/>
          <a:lstStyle/>
          <a:p>
            <a:r>
              <a:rPr lang="en-US" dirty="0" smtClean="0"/>
              <a:t>IT Industry-Academia Bridge Program</a:t>
            </a:r>
            <a:endParaRPr lang="en-US" dirty="0"/>
          </a:p>
        </p:txBody>
      </p:sp>
    </p:spTree>
    <p:extLst>
      <p:ext uri="{BB962C8B-B14F-4D97-AF65-F5344CB8AC3E}">
        <p14:creationId xmlns:p14="http://schemas.microsoft.com/office/powerpoint/2010/main" val="4487421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 Styling</a:t>
            </a:r>
            <a:endParaRPr lang="en-GB" dirty="0"/>
          </a:p>
        </p:txBody>
      </p:sp>
      <p:sp>
        <p:nvSpPr>
          <p:cNvPr id="3" name="Content Placeholder 2"/>
          <p:cNvSpPr>
            <a:spLocks noGrp="1"/>
          </p:cNvSpPr>
          <p:nvPr>
            <p:ph idx="1"/>
          </p:nvPr>
        </p:nvSpPr>
        <p:spPr>
          <a:xfrm>
            <a:off x="838200" y="1606062"/>
            <a:ext cx="10515600" cy="5052646"/>
          </a:xfrm>
        </p:spPr>
        <p:txBody>
          <a:bodyPr>
            <a:normAutofit/>
          </a:bodyPr>
          <a:lstStyle/>
          <a:p>
            <a:pPr marL="0" indent="0">
              <a:buNone/>
            </a:pPr>
            <a:r>
              <a:rPr lang="en-US" dirty="0" smtClean="0">
                <a:solidFill>
                  <a:srgbClr val="FF0000"/>
                </a:solidFill>
              </a:rPr>
              <a:t>background-color:-</a:t>
            </a:r>
            <a:r>
              <a:rPr lang="en-US" dirty="0" smtClean="0"/>
              <a:t>  color-name/#</a:t>
            </a:r>
            <a:r>
              <a:rPr lang="en-US" dirty="0" err="1" smtClean="0"/>
              <a:t>rrggbb</a:t>
            </a:r>
            <a:r>
              <a:rPr lang="en-US" dirty="0" smtClean="0"/>
              <a:t>/</a:t>
            </a:r>
            <a:r>
              <a:rPr lang="en-US" dirty="0" err="1" smtClean="0"/>
              <a:t>rgb</a:t>
            </a:r>
            <a:r>
              <a:rPr lang="en-US" dirty="0" smtClean="0"/>
              <a:t>(</a:t>
            </a:r>
            <a:r>
              <a:rPr lang="en-US" dirty="0" err="1" smtClean="0"/>
              <a:t>red,geen,blue</a:t>
            </a:r>
            <a:r>
              <a:rPr lang="en-US" dirty="0" smtClean="0"/>
              <a:t>)</a:t>
            </a:r>
          </a:p>
          <a:p>
            <a:pPr marL="457200" lvl="1" indent="0">
              <a:buNone/>
            </a:pPr>
            <a:r>
              <a:rPr lang="en-US" dirty="0"/>
              <a:t>The opacity property specifies the opacity/transparency of an element</a:t>
            </a:r>
            <a:r>
              <a:rPr lang="en-US" dirty="0" smtClean="0"/>
              <a:t>.</a:t>
            </a:r>
          </a:p>
          <a:p>
            <a:pPr marL="457200" lvl="1" indent="0">
              <a:buNone/>
            </a:pPr>
            <a:r>
              <a:rPr lang="en-US" dirty="0"/>
              <a:t>div </a:t>
            </a:r>
            <a:r>
              <a:rPr lang="en-US" dirty="0" smtClean="0"/>
              <a:t>{ background-color</a:t>
            </a:r>
            <a:r>
              <a:rPr lang="en-US" dirty="0"/>
              <a:t>: green</a:t>
            </a:r>
            <a:r>
              <a:rPr lang="en-US" dirty="0" smtClean="0"/>
              <a:t>; opacity</a:t>
            </a:r>
            <a:r>
              <a:rPr lang="en-US" dirty="0"/>
              <a:t>: 0.3</a:t>
            </a:r>
            <a:r>
              <a:rPr lang="en-US" dirty="0" smtClean="0"/>
              <a:t>; }</a:t>
            </a:r>
          </a:p>
          <a:p>
            <a:pPr marL="0" indent="0">
              <a:buNone/>
            </a:pPr>
            <a:r>
              <a:rPr lang="en-GB" dirty="0" smtClean="0">
                <a:solidFill>
                  <a:srgbClr val="FF0000"/>
                </a:solidFill>
              </a:rPr>
              <a:t>background-image:-</a:t>
            </a:r>
            <a:r>
              <a:rPr lang="en-GB" dirty="0"/>
              <a:t> </a:t>
            </a:r>
            <a:r>
              <a:rPr lang="en-GB" dirty="0" err="1"/>
              <a:t>url</a:t>
            </a:r>
            <a:r>
              <a:rPr lang="en-GB" dirty="0"/>
              <a:t>("paper.gif");</a:t>
            </a:r>
            <a:br>
              <a:rPr lang="en-GB" dirty="0"/>
            </a:br>
            <a:r>
              <a:rPr lang="en-GB" dirty="0" smtClean="0">
                <a:solidFill>
                  <a:srgbClr val="FF0000"/>
                </a:solidFill>
              </a:rPr>
              <a:t>background-repeat:-</a:t>
            </a:r>
            <a:r>
              <a:rPr lang="en-GB" dirty="0" smtClean="0"/>
              <a:t> no-repeat / repeat-x </a:t>
            </a:r>
          </a:p>
          <a:p>
            <a:pPr marL="0" indent="0">
              <a:buNone/>
            </a:pPr>
            <a:r>
              <a:rPr lang="en-US" dirty="0">
                <a:solidFill>
                  <a:srgbClr val="FF0000"/>
                </a:solidFill>
              </a:rPr>
              <a:t>b</a:t>
            </a:r>
            <a:r>
              <a:rPr lang="en-US" dirty="0" smtClean="0">
                <a:solidFill>
                  <a:srgbClr val="FF0000"/>
                </a:solidFill>
              </a:rPr>
              <a:t>ackground-position:-</a:t>
            </a:r>
            <a:r>
              <a:rPr lang="en-US" dirty="0" smtClean="0"/>
              <a:t> left top / left center / left bottom / center top / center </a:t>
            </a:r>
            <a:r>
              <a:rPr lang="en-US" dirty="0" err="1" smtClean="0"/>
              <a:t>center</a:t>
            </a:r>
            <a:r>
              <a:rPr lang="en-US" dirty="0" smtClean="0"/>
              <a:t> / center bottom/ right top / right center / right bottom</a:t>
            </a:r>
          </a:p>
          <a:p>
            <a:pPr marL="0" indent="0">
              <a:buNone/>
            </a:pPr>
            <a:r>
              <a:rPr lang="en-US" dirty="0">
                <a:solidFill>
                  <a:srgbClr val="FF0000"/>
                </a:solidFill>
              </a:rPr>
              <a:t>b</a:t>
            </a:r>
            <a:r>
              <a:rPr lang="en-US" dirty="0" smtClean="0">
                <a:solidFill>
                  <a:srgbClr val="FF0000"/>
                </a:solidFill>
              </a:rPr>
              <a:t>ackground-attachment:-</a:t>
            </a:r>
            <a:r>
              <a:rPr lang="en-US" dirty="0" smtClean="0"/>
              <a:t> fixed/scroll</a:t>
            </a:r>
          </a:p>
          <a:p>
            <a:pPr marL="457200" lvl="1" indent="0">
              <a:buNone/>
            </a:pPr>
            <a:r>
              <a:rPr lang="en-US" dirty="0"/>
              <a:t>property specifies whether the background image should scroll or be </a:t>
            </a:r>
            <a:r>
              <a:rPr lang="en-US" dirty="0" smtClean="0"/>
              <a:t>fixed</a:t>
            </a:r>
          </a:p>
          <a:p>
            <a:pPr marL="0" indent="0">
              <a:buNone/>
            </a:pPr>
            <a:r>
              <a:rPr lang="en-US" b="1" dirty="0" smtClean="0">
                <a:solidFill>
                  <a:srgbClr val="002060"/>
                </a:solidFill>
              </a:rPr>
              <a:t>Background Shorthand</a:t>
            </a:r>
          </a:p>
          <a:p>
            <a:pPr marL="457200" lvl="1" indent="0">
              <a:buNone/>
            </a:pPr>
            <a:r>
              <a:rPr lang="en-US" dirty="0"/>
              <a:t>background: #</a:t>
            </a:r>
            <a:r>
              <a:rPr lang="en-US" dirty="0" err="1"/>
              <a:t>ffffff</a:t>
            </a:r>
            <a:r>
              <a:rPr lang="en-US" dirty="0"/>
              <a:t> </a:t>
            </a:r>
            <a:r>
              <a:rPr lang="en-US" dirty="0" err="1"/>
              <a:t>url</a:t>
            </a:r>
            <a:r>
              <a:rPr lang="en-US" dirty="0"/>
              <a:t>("img_tree.png") no-repeat right top;</a:t>
            </a:r>
            <a:endParaRPr lang="en-GB" dirty="0"/>
          </a:p>
        </p:txBody>
      </p:sp>
    </p:spTree>
    <p:extLst>
      <p:ext uri="{BB962C8B-B14F-4D97-AF65-F5344CB8AC3E}">
        <p14:creationId xmlns:p14="http://schemas.microsoft.com/office/powerpoint/2010/main" val="34123486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6137"/>
          </a:xfrm>
        </p:spPr>
        <p:txBody>
          <a:bodyPr/>
          <a:lstStyle/>
          <a:p>
            <a:r>
              <a:rPr lang="en-US" dirty="0" smtClean="0"/>
              <a:t>Border Styling</a:t>
            </a:r>
            <a:endParaRPr lang="en-GB" dirty="0"/>
          </a:p>
        </p:txBody>
      </p:sp>
      <p:sp>
        <p:nvSpPr>
          <p:cNvPr id="3" name="Content Placeholder 2"/>
          <p:cNvSpPr>
            <a:spLocks noGrp="1"/>
          </p:cNvSpPr>
          <p:nvPr>
            <p:ph idx="1"/>
          </p:nvPr>
        </p:nvSpPr>
        <p:spPr>
          <a:xfrm>
            <a:off x="269631" y="1242646"/>
            <a:ext cx="11781692" cy="5498124"/>
          </a:xfrm>
        </p:spPr>
        <p:txBody>
          <a:bodyPr>
            <a:normAutofit fontScale="85000" lnSpcReduction="20000"/>
          </a:bodyPr>
          <a:lstStyle/>
          <a:p>
            <a:pPr marL="0" indent="0">
              <a:buNone/>
            </a:pPr>
            <a:r>
              <a:rPr lang="en-US" dirty="0" smtClean="0"/>
              <a:t>The </a:t>
            </a:r>
            <a:r>
              <a:rPr lang="en-US" dirty="0"/>
              <a:t>CSS border properties allow you to specify the style, width, and color of an element's border.</a:t>
            </a:r>
          </a:p>
          <a:p>
            <a:pPr marL="0" indent="0">
              <a:buNone/>
            </a:pPr>
            <a:r>
              <a:rPr lang="en-US" dirty="0" smtClean="0">
                <a:solidFill>
                  <a:srgbClr val="FF0000"/>
                </a:solidFill>
              </a:rPr>
              <a:t>border-style:</a:t>
            </a:r>
            <a:r>
              <a:rPr lang="en-US" dirty="0" smtClean="0"/>
              <a:t> solid / dotted / double /dashed</a:t>
            </a:r>
          </a:p>
          <a:p>
            <a:pPr marL="0" indent="0">
              <a:buNone/>
            </a:pPr>
            <a:r>
              <a:rPr lang="en-GB" dirty="0">
                <a:solidFill>
                  <a:srgbClr val="FF0000"/>
                </a:solidFill>
              </a:rPr>
              <a:t>border-style:</a:t>
            </a:r>
            <a:r>
              <a:rPr lang="en-GB" dirty="0"/>
              <a:t> dotted solid</a:t>
            </a:r>
            <a:r>
              <a:rPr lang="en-GB" dirty="0" smtClean="0"/>
              <a:t>;</a:t>
            </a:r>
            <a:endParaRPr lang="en-GB" dirty="0" smtClean="0">
              <a:solidFill>
                <a:srgbClr val="FF0000"/>
              </a:solidFill>
            </a:endParaRPr>
          </a:p>
          <a:p>
            <a:pPr marL="0" indent="0">
              <a:buNone/>
            </a:pPr>
            <a:r>
              <a:rPr lang="en-US" dirty="0">
                <a:solidFill>
                  <a:srgbClr val="FF0000"/>
                </a:solidFill>
              </a:rPr>
              <a:t>border-style:</a:t>
            </a:r>
            <a:r>
              <a:rPr lang="en-US" dirty="0"/>
              <a:t> dotted solid double dashed</a:t>
            </a:r>
            <a:r>
              <a:rPr lang="en-US" dirty="0" smtClean="0"/>
              <a:t>;</a:t>
            </a:r>
          </a:p>
          <a:p>
            <a:pPr marL="0" indent="0">
              <a:buNone/>
            </a:pPr>
            <a:r>
              <a:rPr lang="en-US" dirty="0" smtClean="0"/>
              <a:t>Individual side can be styled as </a:t>
            </a:r>
            <a:r>
              <a:rPr lang="en-US" dirty="0" smtClean="0">
                <a:solidFill>
                  <a:srgbClr val="FF0000"/>
                </a:solidFill>
              </a:rPr>
              <a:t>border-top/right/bottom</a:t>
            </a:r>
            <a:r>
              <a:rPr lang="en-US" dirty="0">
                <a:solidFill>
                  <a:srgbClr val="FF0000"/>
                </a:solidFill>
              </a:rPr>
              <a:t>/ </a:t>
            </a:r>
            <a:r>
              <a:rPr lang="en-US" dirty="0" smtClean="0">
                <a:solidFill>
                  <a:srgbClr val="FF0000"/>
                </a:solidFill>
              </a:rPr>
              <a:t>left-style</a:t>
            </a:r>
          </a:p>
          <a:p>
            <a:pPr marL="0" indent="0">
              <a:buNone/>
            </a:pPr>
            <a:r>
              <a:rPr lang="en-US" dirty="0" smtClean="0">
                <a:solidFill>
                  <a:srgbClr val="FF0000"/>
                </a:solidFill>
              </a:rPr>
              <a:t>border-width</a:t>
            </a:r>
            <a:r>
              <a:rPr lang="en-US" dirty="0" smtClean="0"/>
              <a:t> 5px (for all sides) / thick / medium / thin </a:t>
            </a:r>
          </a:p>
          <a:p>
            <a:pPr marL="0" indent="0">
              <a:buNone/>
            </a:pPr>
            <a:r>
              <a:rPr lang="en-US" dirty="0">
                <a:solidFill>
                  <a:srgbClr val="FF0000"/>
                </a:solidFill>
              </a:rPr>
              <a:t>b</a:t>
            </a:r>
            <a:r>
              <a:rPr lang="en-US" dirty="0" smtClean="0">
                <a:solidFill>
                  <a:srgbClr val="FF0000"/>
                </a:solidFill>
              </a:rPr>
              <a:t>order-width</a:t>
            </a:r>
            <a:r>
              <a:rPr lang="en-US" dirty="0" smtClean="0"/>
              <a:t> 5px 10px (for top and bottom)</a:t>
            </a:r>
          </a:p>
          <a:p>
            <a:pPr marL="0" indent="0">
              <a:buNone/>
            </a:pPr>
            <a:r>
              <a:rPr lang="en-US" dirty="0">
                <a:solidFill>
                  <a:srgbClr val="FF0000"/>
                </a:solidFill>
              </a:rPr>
              <a:t>b</a:t>
            </a:r>
            <a:r>
              <a:rPr lang="en-US" dirty="0" smtClean="0">
                <a:solidFill>
                  <a:srgbClr val="FF0000"/>
                </a:solidFill>
              </a:rPr>
              <a:t>order-width</a:t>
            </a:r>
            <a:r>
              <a:rPr lang="en-US" dirty="0" smtClean="0"/>
              <a:t> 5px 10px 5px 10px (for top right bottom left)</a:t>
            </a:r>
          </a:p>
          <a:p>
            <a:pPr marL="0" indent="0">
              <a:buNone/>
            </a:pPr>
            <a:r>
              <a:rPr lang="en-US" dirty="0">
                <a:solidFill>
                  <a:srgbClr val="FF0000"/>
                </a:solidFill>
              </a:rPr>
              <a:t>b</a:t>
            </a:r>
            <a:r>
              <a:rPr lang="en-US" dirty="0" smtClean="0">
                <a:solidFill>
                  <a:srgbClr val="FF0000"/>
                </a:solidFill>
              </a:rPr>
              <a:t>order-color</a:t>
            </a:r>
            <a:r>
              <a:rPr lang="en-US" dirty="0" smtClean="0"/>
              <a:t> green / red green blue yellow / #ff0000 / </a:t>
            </a:r>
            <a:r>
              <a:rPr lang="en-US" dirty="0" err="1" smtClean="0"/>
              <a:t>rgb</a:t>
            </a:r>
            <a:r>
              <a:rPr lang="en-US" dirty="0" smtClean="0"/>
              <a:t>(255,0,0) </a:t>
            </a:r>
          </a:p>
          <a:p>
            <a:pPr marL="0" indent="0">
              <a:buNone/>
            </a:pPr>
            <a:r>
              <a:rPr lang="en-US" dirty="0"/>
              <a:t/>
            </a:r>
            <a:br>
              <a:rPr lang="en-US" dirty="0"/>
            </a:br>
            <a:r>
              <a:rPr lang="en-US" sz="2600" dirty="0" smtClean="0"/>
              <a:t>The</a:t>
            </a:r>
            <a:r>
              <a:rPr lang="en-US" sz="2600" dirty="0"/>
              <a:t> border property is a shorthand property </a:t>
            </a:r>
            <a:r>
              <a:rPr lang="en-US" sz="2600" dirty="0" smtClean="0"/>
              <a:t>for border-width/style(required)/color</a:t>
            </a:r>
            <a:endParaRPr lang="en-GB" sz="2600" dirty="0" smtClean="0"/>
          </a:p>
          <a:p>
            <a:pPr marL="0" indent="0">
              <a:buNone/>
            </a:pPr>
            <a:r>
              <a:rPr lang="en-GB" dirty="0" smtClean="0">
                <a:solidFill>
                  <a:srgbClr val="FF0000"/>
                </a:solidFill>
              </a:rPr>
              <a:t>border</a:t>
            </a:r>
            <a:r>
              <a:rPr lang="en-GB" dirty="0">
                <a:solidFill>
                  <a:srgbClr val="FF0000"/>
                </a:solidFill>
              </a:rPr>
              <a:t>:</a:t>
            </a:r>
            <a:r>
              <a:rPr lang="en-GB" dirty="0"/>
              <a:t> 5px solid red</a:t>
            </a:r>
            <a:r>
              <a:rPr lang="en-GB" dirty="0" smtClean="0"/>
              <a:t>;</a:t>
            </a:r>
          </a:p>
          <a:p>
            <a:pPr marL="0" indent="0">
              <a:buNone/>
            </a:pPr>
            <a:r>
              <a:rPr lang="en-US" dirty="0">
                <a:solidFill>
                  <a:srgbClr val="FF0000"/>
                </a:solidFill>
              </a:rPr>
              <a:t>border-left:</a:t>
            </a:r>
            <a:r>
              <a:rPr lang="en-US" dirty="0"/>
              <a:t> 6x solid </a:t>
            </a:r>
            <a:r>
              <a:rPr lang="en-US" dirty="0" smtClean="0"/>
              <a:t>red;        Specify </a:t>
            </a:r>
            <a:r>
              <a:rPr lang="en-US" dirty="0"/>
              <a:t>all the individual border properties for just one side</a:t>
            </a:r>
            <a:r>
              <a:rPr lang="en-US" dirty="0" smtClean="0"/>
              <a:t>:</a:t>
            </a:r>
          </a:p>
          <a:p>
            <a:pPr marL="0" indent="0">
              <a:buNone/>
            </a:pPr>
            <a:r>
              <a:rPr lang="en-GB" dirty="0">
                <a:solidFill>
                  <a:srgbClr val="FF0000"/>
                </a:solidFill>
              </a:rPr>
              <a:t>border-radius: 5px</a:t>
            </a:r>
            <a:r>
              <a:rPr lang="en-GB" dirty="0" smtClean="0">
                <a:solidFill>
                  <a:srgbClr val="FF0000"/>
                </a:solidFill>
              </a:rPr>
              <a:t>;</a:t>
            </a:r>
            <a:r>
              <a:rPr lang="en-GB" dirty="0" smtClean="0"/>
              <a:t>       border-radius property </a:t>
            </a:r>
            <a:r>
              <a:rPr lang="en-US" dirty="0" smtClean="0"/>
              <a:t>is </a:t>
            </a:r>
            <a:r>
              <a:rPr lang="en-US" dirty="0"/>
              <a:t>used to add rounded borders to an element:</a:t>
            </a:r>
            <a:endParaRPr lang="en-GB" dirty="0"/>
          </a:p>
        </p:txBody>
      </p:sp>
    </p:spTree>
    <p:extLst>
      <p:ext uri="{BB962C8B-B14F-4D97-AF65-F5344CB8AC3E}">
        <p14:creationId xmlns:p14="http://schemas.microsoft.com/office/powerpoint/2010/main" val="11409991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Margins</a:t>
            </a:r>
            <a:endParaRPr lang="en-GB" dirty="0"/>
          </a:p>
        </p:txBody>
      </p:sp>
      <p:sp>
        <p:nvSpPr>
          <p:cNvPr id="3" name="Content Placeholder 2"/>
          <p:cNvSpPr>
            <a:spLocks noGrp="1"/>
          </p:cNvSpPr>
          <p:nvPr>
            <p:ph idx="1"/>
          </p:nvPr>
        </p:nvSpPr>
        <p:spPr>
          <a:xfrm>
            <a:off x="838200" y="1664677"/>
            <a:ext cx="10515600" cy="4512286"/>
          </a:xfrm>
        </p:spPr>
        <p:txBody>
          <a:bodyPr>
            <a:normAutofit/>
          </a:bodyPr>
          <a:lstStyle/>
          <a:p>
            <a:pPr marL="0" indent="0">
              <a:buNone/>
            </a:pPr>
            <a:r>
              <a:rPr lang="en-US" dirty="0"/>
              <a:t>The CSS margin properties are used to create space around elements, outside of any defined borders</a:t>
            </a:r>
            <a:r>
              <a:rPr lang="en-US" dirty="0" smtClean="0"/>
              <a:t>.</a:t>
            </a:r>
          </a:p>
          <a:p>
            <a:pPr marL="0" indent="0">
              <a:buNone/>
            </a:pPr>
            <a:r>
              <a:rPr lang="en-US" b="1" dirty="0" smtClean="0"/>
              <a:t>Margin for individual side</a:t>
            </a:r>
          </a:p>
          <a:p>
            <a:pPr marL="0" indent="0">
              <a:buNone/>
            </a:pPr>
            <a:r>
              <a:rPr lang="en-GB" dirty="0" smtClean="0">
                <a:solidFill>
                  <a:srgbClr val="FF0000"/>
                </a:solidFill>
              </a:rPr>
              <a:t>margin-top/right/bottom/left: 10px</a:t>
            </a:r>
          </a:p>
          <a:p>
            <a:pPr marL="0" indent="0">
              <a:buNone/>
            </a:pPr>
            <a:r>
              <a:rPr lang="en-US" b="1" dirty="0" smtClean="0"/>
              <a:t>Margin for multiple sides</a:t>
            </a:r>
          </a:p>
          <a:p>
            <a:pPr marL="0" indent="0">
              <a:buNone/>
            </a:pPr>
            <a:r>
              <a:rPr lang="en-US" dirty="0">
                <a:solidFill>
                  <a:srgbClr val="FF0000"/>
                </a:solidFill>
              </a:rPr>
              <a:t>m</a:t>
            </a:r>
            <a:r>
              <a:rPr lang="en-US" dirty="0" smtClean="0">
                <a:solidFill>
                  <a:srgbClr val="FF0000"/>
                </a:solidFill>
              </a:rPr>
              <a:t>argin: 25;</a:t>
            </a:r>
            <a:r>
              <a:rPr lang="en-US" dirty="0" smtClean="0"/>
              <a:t> (for all sides)</a:t>
            </a:r>
          </a:p>
          <a:p>
            <a:pPr marL="0" indent="0">
              <a:buNone/>
            </a:pPr>
            <a:r>
              <a:rPr lang="en-US" dirty="0">
                <a:solidFill>
                  <a:srgbClr val="FF0000"/>
                </a:solidFill>
              </a:rPr>
              <a:t>m</a:t>
            </a:r>
            <a:r>
              <a:rPr lang="en-US" dirty="0" smtClean="0">
                <a:solidFill>
                  <a:srgbClr val="FF0000"/>
                </a:solidFill>
              </a:rPr>
              <a:t>argin: </a:t>
            </a:r>
            <a:r>
              <a:rPr lang="en-GB" dirty="0">
                <a:solidFill>
                  <a:srgbClr val="FF0000"/>
                </a:solidFill>
              </a:rPr>
              <a:t>25px 50px 75px 100px</a:t>
            </a:r>
            <a:r>
              <a:rPr lang="en-GB" dirty="0" smtClean="0">
                <a:solidFill>
                  <a:srgbClr val="FF0000"/>
                </a:solidFill>
              </a:rPr>
              <a:t>;</a:t>
            </a:r>
            <a:r>
              <a:rPr lang="en-GB" dirty="0" smtClean="0"/>
              <a:t> (top right bottom left)</a:t>
            </a:r>
            <a:r>
              <a:rPr lang="en-US" dirty="0" smtClean="0"/>
              <a:t> </a:t>
            </a:r>
            <a:endParaRPr lang="en-GB" dirty="0"/>
          </a:p>
          <a:p>
            <a:pPr marL="0" indent="0">
              <a:buNone/>
            </a:pPr>
            <a:r>
              <a:rPr lang="en-US" dirty="0" smtClean="0">
                <a:solidFill>
                  <a:srgbClr val="FF0000"/>
                </a:solidFill>
              </a:rPr>
              <a:t>margin: auto;</a:t>
            </a:r>
            <a:r>
              <a:rPr lang="en-US" dirty="0" smtClean="0"/>
              <a:t> </a:t>
            </a:r>
            <a:r>
              <a:rPr lang="en-US" dirty="0"/>
              <a:t>horizontally center the element within its container</a:t>
            </a:r>
            <a:r>
              <a:rPr lang="en-US" dirty="0" smtClean="0"/>
              <a:t>.</a:t>
            </a:r>
          </a:p>
          <a:p>
            <a:pPr marL="0" indent="0">
              <a:buNone/>
            </a:pPr>
            <a:r>
              <a:rPr lang="en-US" dirty="0" smtClean="0">
                <a:solidFill>
                  <a:srgbClr val="FF0000"/>
                </a:solidFill>
              </a:rPr>
              <a:t>margin-left: inherit;</a:t>
            </a:r>
            <a:r>
              <a:rPr lang="en-US" dirty="0" smtClean="0"/>
              <a:t>  left margin </a:t>
            </a:r>
            <a:r>
              <a:rPr lang="en-US" dirty="0"/>
              <a:t>inherited from the parent element</a:t>
            </a:r>
            <a:r>
              <a:rPr lang="en-US" dirty="0" smtClean="0"/>
              <a:t> </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36401620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Padding</a:t>
            </a:r>
            <a:endParaRPr lang="en-GB" dirty="0"/>
          </a:p>
        </p:txBody>
      </p:sp>
      <p:sp>
        <p:nvSpPr>
          <p:cNvPr id="3" name="Content Placeholder 2"/>
          <p:cNvSpPr>
            <a:spLocks noGrp="1"/>
          </p:cNvSpPr>
          <p:nvPr>
            <p:ph idx="1"/>
          </p:nvPr>
        </p:nvSpPr>
        <p:spPr>
          <a:xfrm>
            <a:off x="838200" y="1547446"/>
            <a:ext cx="10515600" cy="4629517"/>
          </a:xfrm>
        </p:spPr>
        <p:txBody>
          <a:bodyPr/>
          <a:lstStyle/>
          <a:p>
            <a:pPr marL="0" indent="0">
              <a:buNone/>
            </a:pPr>
            <a:r>
              <a:rPr lang="en-US" dirty="0"/>
              <a:t>Padding is used to create space around an element's content, inside of any defined borders</a:t>
            </a:r>
            <a:r>
              <a:rPr lang="en-US" dirty="0" smtClean="0"/>
              <a:t>.</a:t>
            </a:r>
          </a:p>
          <a:p>
            <a:pPr marL="0" indent="0">
              <a:buNone/>
            </a:pPr>
            <a:r>
              <a:rPr lang="en-US" b="1" dirty="0" smtClean="0"/>
              <a:t>Padding for Individual Side</a:t>
            </a:r>
          </a:p>
          <a:p>
            <a:pPr marL="0" indent="0">
              <a:buNone/>
            </a:pPr>
            <a:r>
              <a:rPr lang="en-GB" dirty="0" smtClean="0">
                <a:solidFill>
                  <a:srgbClr val="FF0000"/>
                </a:solidFill>
              </a:rPr>
              <a:t>padding-top/right/bottom/left</a:t>
            </a:r>
            <a:r>
              <a:rPr lang="en-GB" dirty="0">
                <a:solidFill>
                  <a:srgbClr val="FF0000"/>
                </a:solidFill>
              </a:rPr>
              <a:t>: </a:t>
            </a:r>
            <a:r>
              <a:rPr lang="en-GB" dirty="0" smtClean="0">
                <a:solidFill>
                  <a:srgbClr val="FF0000"/>
                </a:solidFill>
              </a:rPr>
              <a:t>10px</a:t>
            </a:r>
          </a:p>
          <a:p>
            <a:pPr marL="0" indent="0">
              <a:buNone/>
            </a:pPr>
            <a:r>
              <a:rPr lang="en-US" b="1" dirty="0"/>
              <a:t>Margin for multiple sides</a:t>
            </a:r>
          </a:p>
          <a:p>
            <a:pPr marL="0" indent="0">
              <a:buNone/>
            </a:pPr>
            <a:r>
              <a:rPr lang="en-US" dirty="0" smtClean="0">
                <a:solidFill>
                  <a:srgbClr val="FF0000"/>
                </a:solidFill>
              </a:rPr>
              <a:t>padding: </a:t>
            </a:r>
            <a:r>
              <a:rPr lang="en-US" dirty="0">
                <a:solidFill>
                  <a:srgbClr val="FF0000"/>
                </a:solidFill>
              </a:rPr>
              <a:t>25;</a:t>
            </a:r>
            <a:r>
              <a:rPr lang="en-US" dirty="0"/>
              <a:t> (for all sides)</a:t>
            </a:r>
          </a:p>
          <a:p>
            <a:pPr marL="0" indent="0">
              <a:buNone/>
            </a:pPr>
            <a:r>
              <a:rPr lang="en-US" dirty="0" smtClean="0">
                <a:solidFill>
                  <a:srgbClr val="FF0000"/>
                </a:solidFill>
              </a:rPr>
              <a:t>padding: </a:t>
            </a:r>
            <a:r>
              <a:rPr lang="en-GB" dirty="0">
                <a:solidFill>
                  <a:srgbClr val="FF0000"/>
                </a:solidFill>
              </a:rPr>
              <a:t>25px 50px 75px 100px;</a:t>
            </a:r>
            <a:r>
              <a:rPr lang="en-GB" dirty="0"/>
              <a:t> (top right bottom left)</a:t>
            </a:r>
            <a:r>
              <a:rPr lang="en-US" dirty="0"/>
              <a:t> </a:t>
            </a:r>
            <a:endParaRPr lang="en-GB" dirty="0"/>
          </a:p>
          <a:p>
            <a:pPr marL="0" indent="0">
              <a:buNone/>
            </a:pPr>
            <a:endParaRPr lang="en-GB" dirty="0">
              <a:solidFill>
                <a:srgbClr val="FF0000"/>
              </a:solidFill>
            </a:endParaRPr>
          </a:p>
          <a:p>
            <a:pPr marL="0" indent="0">
              <a:buNone/>
            </a:pPr>
            <a:endParaRPr lang="en-US" dirty="0" smtClean="0"/>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3528075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Width &amp; Height</a:t>
            </a:r>
            <a:endParaRPr lang="en-GB"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The height and width properties are used to set the height and width of an element</a:t>
            </a:r>
            <a:r>
              <a:rPr lang="en-US" dirty="0" smtClean="0"/>
              <a:t>. The values can be</a:t>
            </a:r>
          </a:p>
          <a:p>
            <a:pPr lvl="1"/>
            <a:r>
              <a:rPr lang="en-US" dirty="0"/>
              <a:t>auto - This is default. The browser calculates the height and </a:t>
            </a:r>
            <a:r>
              <a:rPr lang="en-US" dirty="0" smtClean="0"/>
              <a:t>width</a:t>
            </a:r>
            <a:endParaRPr lang="en-US" dirty="0"/>
          </a:p>
          <a:p>
            <a:pPr lvl="1"/>
            <a:r>
              <a:rPr lang="en-US" dirty="0"/>
              <a:t>% - Defines the height/width in percent of the containing block</a:t>
            </a:r>
          </a:p>
          <a:p>
            <a:pPr lvl="1"/>
            <a:r>
              <a:rPr lang="en-US" dirty="0"/>
              <a:t>inherit - The height/width will be inherited from its parent value</a:t>
            </a:r>
          </a:p>
          <a:p>
            <a:pPr marL="0" indent="0">
              <a:buNone/>
            </a:pPr>
            <a:r>
              <a:rPr lang="en-US" dirty="0"/>
              <a:t>w</a:t>
            </a:r>
            <a:r>
              <a:rPr lang="en-US" dirty="0" smtClean="0"/>
              <a:t>idth: 100px</a:t>
            </a:r>
          </a:p>
          <a:p>
            <a:pPr marL="0" indent="0">
              <a:buNone/>
            </a:pPr>
            <a:r>
              <a:rPr lang="en-US" dirty="0"/>
              <a:t>h</a:t>
            </a:r>
            <a:r>
              <a:rPr lang="en-US" dirty="0" smtClean="0"/>
              <a:t>eight: 100px</a:t>
            </a:r>
          </a:p>
          <a:p>
            <a:pPr marL="0" indent="0">
              <a:buNone/>
            </a:pPr>
            <a:r>
              <a:rPr lang="en-US" b="1" dirty="0" smtClean="0"/>
              <a:t>max-width:</a:t>
            </a:r>
            <a:r>
              <a:rPr lang="en-US" dirty="0" smtClean="0"/>
              <a:t> </a:t>
            </a:r>
            <a:r>
              <a:rPr lang="en-US" dirty="0"/>
              <a:t>The max-width property is used to set the maximum width of an </a:t>
            </a:r>
            <a:r>
              <a:rPr lang="en-US" dirty="0" smtClean="0"/>
              <a:t>element and browser handle the width for small size screen </a:t>
            </a:r>
            <a:r>
              <a:rPr lang="en-US" dirty="0"/>
              <a:t>even if the content inside it or the viewport width is larger</a:t>
            </a:r>
            <a:r>
              <a:rPr lang="en-US" dirty="0" smtClean="0"/>
              <a:t>.</a:t>
            </a:r>
          </a:p>
          <a:p>
            <a:pPr marL="0" indent="0">
              <a:buNone/>
            </a:pPr>
            <a:r>
              <a:rPr lang="en-GB" dirty="0" smtClean="0"/>
              <a:t>max-width</a:t>
            </a:r>
            <a:r>
              <a:rPr lang="en-GB" dirty="0"/>
              <a:t>: 500px;</a:t>
            </a:r>
            <a:br>
              <a:rPr lang="en-GB" dirty="0"/>
            </a:br>
            <a:r>
              <a:rPr lang="en-US" dirty="0"/>
              <a:t/>
            </a:r>
            <a:br>
              <a:rPr lang="en-US" dirty="0"/>
            </a:b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577546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Text</a:t>
            </a:r>
            <a:endParaRPr lang="en-GB" dirty="0"/>
          </a:p>
        </p:txBody>
      </p:sp>
      <p:sp>
        <p:nvSpPr>
          <p:cNvPr id="3" name="Content Placeholder 2"/>
          <p:cNvSpPr>
            <a:spLocks noGrp="1"/>
          </p:cNvSpPr>
          <p:nvPr>
            <p:ph idx="1"/>
          </p:nvPr>
        </p:nvSpPr>
        <p:spPr>
          <a:xfrm>
            <a:off x="838200" y="1524000"/>
            <a:ext cx="10515600" cy="5193323"/>
          </a:xfrm>
        </p:spPr>
        <p:txBody>
          <a:bodyPr>
            <a:normAutofit fontScale="47500" lnSpcReduction="20000"/>
          </a:bodyPr>
          <a:lstStyle/>
          <a:p>
            <a:pPr marL="0" indent="0">
              <a:lnSpc>
                <a:spcPct val="134000"/>
              </a:lnSpc>
              <a:spcBef>
                <a:spcPts val="0"/>
              </a:spcBef>
              <a:buNone/>
            </a:pPr>
            <a:r>
              <a:rPr lang="en-US" sz="4200" dirty="0"/>
              <a:t>CSS has a lot of properties for formatting text.</a:t>
            </a:r>
            <a:endParaRPr lang="en-US" sz="4200" dirty="0" smtClean="0"/>
          </a:p>
          <a:p>
            <a:pPr marL="0" indent="0">
              <a:lnSpc>
                <a:spcPct val="134000"/>
              </a:lnSpc>
              <a:spcBef>
                <a:spcPts val="0"/>
              </a:spcBef>
              <a:buNone/>
            </a:pPr>
            <a:r>
              <a:rPr lang="en-GB" sz="4400" dirty="0">
                <a:solidFill>
                  <a:srgbClr val="FF0000"/>
                </a:solidFill>
              </a:rPr>
              <a:t>background-</a:t>
            </a:r>
            <a:r>
              <a:rPr lang="en-GB" sz="4400" dirty="0" err="1">
                <a:solidFill>
                  <a:srgbClr val="FF0000"/>
                </a:solidFill>
              </a:rPr>
              <a:t>color</a:t>
            </a:r>
            <a:r>
              <a:rPr lang="en-GB" sz="4400" dirty="0">
                <a:solidFill>
                  <a:srgbClr val="FF0000"/>
                </a:solidFill>
              </a:rPr>
              <a:t>: </a:t>
            </a:r>
            <a:r>
              <a:rPr lang="en-GB" sz="4400" dirty="0" err="1">
                <a:solidFill>
                  <a:srgbClr val="FF0000"/>
                </a:solidFill>
              </a:rPr>
              <a:t>lightgrey</a:t>
            </a:r>
            <a:r>
              <a:rPr lang="en-GB" sz="4400" dirty="0">
                <a:solidFill>
                  <a:srgbClr val="FF0000"/>
                </a:solidFill>
              </a:rPr>
              <a:t>;</a:t>
            </a:r>
            <a:br>
              <a:rPr lang="en-GB" sz="4400" dirty="0">
                <a:solidFill>
                  <a:srgbClr val="FF0000"/>
                </a:solidFill>
              </a:rPr>
            </a:br>
            <a:r>
              <a:rPr lang="en-GB" sz="4400" dirty="0" err="1" smtClean="0">
                <a:solidFill>
                  <a:srgbClr val="FF0000"/>
                </a:solidFill>
              </a:rPr>
              <a:t>color</a:t>
            </a:r>
            <a:r>
              <a:rPr lang="en-GB" sz="4400" dirty="0">
                <a:solidFill>
                  <a:srgbClr val="FF0000"/>
                </a:solidFill>
              </a:rPr>
              <a:t>: blue</a:t>
            </a:r>
            <a:r>
              <a:rPr lang="en-GB" sz="4400" dirty="0" smtClean="0">
                <a:solidFill>
                  <a:srgbClr val="FF0000"/>
                </a:solidFill>
              </a:rPr>
              <a:t>;</a:t>
            </a:r>
          </a:p>
          <a:p>
            <a:pPr marL="0" indent="0">
              <a:lnSpc>
                <a:spcPct val="134000"/>
              </a:lnSpc>
              <a:spcBef>
                <a:spcPts val="0"/>
              </a:spcBef>
              <a:buNone/>
            </a:pPr>
            <a:r>
              <a:rPr lang="en-US" sz="4400" dirty="0" smtClean="0">
                <a:solidFill>
                  <a:srgbClr val="FF0000"/>
                </a:solidFill>
              </a:rPr>
              <a:t>text-align: center/left/right/justify </a:t>
            </a:r>
            <a:r>
              <a:rPr lang="en-US" sz="4400" dirty="0" smtClean="0"/>
              <a:t>   /*Horizontal alignment*/</a:t>
            </a:r>
          </a:p>
          <a:p>
            <a:pPr marL="0" indent="0">
              <a:lnSpc>
                <a:spcPct val="134000"/>
              </a:lnSpc>
              <a:spcBef>
                <a:spcPts val="0"/>
              </a:spcBef>
              <a:buNone/>
            </a:pPr>
            <a:r>
              <a:rPr lang="en-US" sz="4400" b="1" dirty="0" smtClean="0"/>
              <a:t>Text Decoration</a:t>
            </a:r>
            <a:endParaRPr lang="en-GB" sz="4400" b="1" dirty="0" smtClean="0"/>
          </a:p>
          <a:p>
            <a:pPr marL="0" indent="0">
              <a:lnSpc>
                <a:spcPct val="134000"/>
              </a:lnSpc>
              <a:spcBef>
                <a:spcPts val="0"/>
              </a:spcBef>
              <a:buNone/>
            </a:pPr>
            <a:r>
              <a:rPr lang="en-GB" sz="4400" dirty="0" smtClean="0">
                <a:solidFill>
                  <a:srgbClr val="FF0000"/>
                </a:solidFill>
              </a:rPr>
              <a:t>text-decoration-line</a:t>
            </a:r>
            <a:r>
              <a:rPr lang="en-GB" sz="4400" dirty="0">
                <a:solidFill>
                  <a:srgbClr val="FF0000"/>
                </a:solidFill>
              </a:rPr>
              <a:t>: </a:t>
            </a:r>
            <a:r>
              <a:rPr lang="en-GB" sz="4400" dirty="0" err="1" smtClean="0">
                <a:solidFill>
                  <a:srgbClr val="FF0000"/>
                </a:solidFill>
              </a:rPr>
              <a:t>overline</a:t>
            </a:r>
            <a:r>
              <a:rPr lang="en-GB" sz="4400" dirty="0" smtClean="0">
                <a:solidFill>
                  <a:srgbClr val="FF0000"/>
                </a:solidFill>
              </a:rPr>
              <a:t>/line-through/underline;</a:t>
            </a:r>
          </a:p>
          <a:p>
            <a:pPr marL="0" indent="0">
              <a:lnSpc>
                <a:spcPct val="134000"/>
              </a:lnSpc>
              <a:spcBef>
                <a:spcPts val="0"/>
              </a:spcBef>
              <a:buNone/>
            </a:pPr>
            <a:r>
              <a:rPr lang="en-GB" sz="4400" dirty="0">
                <a:solidFill>
                  <a:srgbClr val="FF0000"/>
                </a:solidFill>
              </a:rPr>
              <a:t>text-decoration-</a:t>
            </a:r>
            <a:r>
              <a:rPr lang="en-GB" sz="4400" dirty="0" err="1">
                <a:solidFill>
                  <a:srgbClr val="FF0000"/>
                </a:solidFill>
              </a:rPr>
              <a:t>color</a:t>
            </a:r>
            <a:r>
              <a:rPr lang="en-GB" sz="4400" dirty="0">
                <a:solidFill>
                  <a:srgbClr val="FF0000"/>
                </a:solidFill>
              </a:rPr>
              <a:t>: green</a:t>
            </a:r>
            <a:r>
              <a:rPr lang="en-GB" sz="4400" dirty="0" smtClean="0">
                <a:solidFill>
                  <a:srgbClr val="FF0000"/>
                </a:solidFill>
              </a:rPr>
              <a:t>;</a:t>
            </a:r>
            <a:r>
              <a:rPr lang="en-GB" sz="4400" dirty="0" smtClean="0"/>
              <a:t>  /* decoration line </a:t>
            </a:r>
            <a:r>
              <a:rPr lang="en-GB" sz="4400" dirty="0" err="1" smtClean="0"/>
              <a:t>color</a:t>
            </a:r>
            <a:r>
              <a:rPr lang="en-GB" sz="4400" dirty="0" smtClean="0"/>
              <a:t>*/</a:t>
            </a:r>
          </a:p>
          <a:p>
            <a:pPr marL="0" indent="0">
              <a:lnSpc>
                <a:spcPct val="134000"/>
              </a:lnSpc>
              <a:spcBef>
                <a:spcPts val="0"/>
              </a:spcBef>
              <a:buNone/>
            </a:pPr>
            <a:r>
              <a:rPr lang="en-GB" sz="4400" dirty="0" smtClean="0">
                <a:solidFill>
                  <a:srgbClr val="FF0000"/>
                </a:solidFill>
              </a:rPr>
              <a:t>text-decoration-style</a:t>
            </a:r>
            <a:r>
              <a:rPr lang="en-GB" sz="4400" dirty="0">
                <a:solidFill>
                  <a:srgbClr val="FF0000"/>
                </a:solidFill>
              </a:rPr>
              <a:t>: double</a:t>
            </a:r>
            <a:r>
              <a:rPr lang="en-GB" sz="4400" dirty="0" smtClean="0">
                <a:solidFill>
                  <a:srgbClr val="FF0000"/>
                </a:solidFill>
              </a:rPr>
              <a:t>;</a:t>
            </a:r>
            <a:r>
              <a:rPr lang="en-GB" sz="4400" dirty="0" smtClean="0"/>
              <a:t> /* decoration line style</a:t>
            </a:r>
            <a:r>
              <a:rPr lang="en-GB" sz="4400" dirty="0"/>
              <a:t/>
            </a:r>
            <a:br>
              <a:rPr lang="en-GB" sz="4400" dirty="0"/>
            </a:br>
            <a:r>
              <a:rPr lang="en-GB" sz="4400" b="1" dirty="0" smtClean="0"/>
              <a:t>Text Spacing</a:t>
            </a:r>
          </a:p>
          <a:p>
            <a:pPr>
              <a:lnSpc>
                <a:spcPct val="134000"/>
              </a:lnSpc>
              <a:spcBef>
                <a:spcPts val="0"/>
              </a:spcBef>
            </a:pPr>
            <a:r>
              <a:rPr lang="en-US" sz="4400" dirty="0">
                <a:solidFill>
                  <a:srgbClr val="FF0000"/>
                </a:solidFill>
              </a:rPr>
              <a:t>text-indent</a:t>
            </a:r>
          </a:p>
          <a:p>
            <a:pPr>
              <a:lnSpc>
                <a:spcPct val="134000"/>
              </a:lnSpc>
              <a:spcBef>
                <a:spcPts val="0"/>
              </a:spcBef>
            </a:pPr>
            <a:r>
              <a:rPr lang="en-US" sz="4400" dirty="0">
                <a:solidFill>
                  <a:srgbClr val="FF0000"/>
                </a:solidFill>
              </a:rPr>
              <a:t>letter-spacing</a:t>
            </a:r>
          </a:p>
          <a:p>
            <a:pPr>
              <a:lnSpc>
                <a:spcPct val="134000"/>
              </a:lnSpc>
              <a:spcBef>
                <a:spcPts val="0"/>
              </a:spcBef>
            </a:pPr>
            <a:r>
              <a:rPr lang="en-US" sz="4400" dirty="0">
                <a:solidFill>
                  <a:srgbClr val="FF0000"/>
                </a:solidFill>
              </a:rPr>
              <a:t>line-height</a:t>
            </a:r>
          </a:p>
          <a:p>
            <a:pPr>
              <a:lnSpc>
                <a:spcPct val="134000"/>
              </a:lnSpc>
              <a:spcBef>
                <a:spcPts val="0"/>
              </a:spcBef>
            </a:pPr>
            <a:r>
              <a:rPr lang="en-US" sz="4400" dirty="0">
                <a:solidFill>
                  <a:srgbClr val="FF0000"/>
                </a:solidFill>
              </a:rPr>
              <a:t>word-spacing</a:t>
            </a:r>
          </a:p>
          <a:p>
            <a:pPr>
              <a:lnSpc>
                <a:spcPct val="134000"/>
              </a:lnSpc>
              <a:spcBef>
                <a:spcPts val="0"/>
              </a:spcBef>
            </a:pPr>
            <a:r>
              <a:rPr lang="en-US" sz="4400" dirty="0" smtClean="0">
                <a:solidFill>
                  <a:srgbClr val="FF0000"/>
                </a:solidFill>
              </a:rPr>
              <a:t>white-space</a:t>
            </a:r>
            <a:endParaRPr lang="en-US" sz="4400" dirty="0">
              <a:solidFill>
                <a:srgbClr val="FF0000"/>
              </a:solidFill>
            </a:endParaRPr>
          </a:p>
        </p:txBody>
      </p:sp>
    </p:spTree>
    <p:extLst>
      <p:ext uri="{BB962C8B-B14F-4D97-AF65-F5344CB8AC3E}">
        <p14:creationId xmlns:p14="http://schemas.microsoft.com/office/powerpoint/2010/main" val="25088165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Font</a:t>
            </a:r>
            <a:endParaRPr lang="en-GB" dirty="0"/>
          </a:p>
        </p:txBody>
      </p:sp>
      <p:sp>
        <p:nvSpPr>
          <p:cNvPr id="3" name="Content Placeholder 2"/>
          <p:cNvSpPr>
            <a:spLocks noGrp="1"/>
          </p:cNvSpPr>
          <p:nvPr>
            <p:ph idx="1"/>
          </p:nvPr>
        </p:nvSpPr>
        <p:spPr/>
        <p:txBody>
          <a:bodyPr>
            <a:normAutofit lnSpcReduction="10000"/>
          </a:bodyPr>
          <a:lstStyle/>
          <a:p>
            <a:pPr marL="0" indent="0">
              <a:buNone/>
            </a:pPr>
            <a:r>
              <a:rPr lang="en-US" dirty="0">
                <a:solidFill>
                  <a:srgbClr val="FF0000"/>
                </a:solidFill>
              </a:rPr>
              <a:t>font-family: "Times New Roman", Times, serif</a:t>
            </a:r>
            <a:r>
              <a:rPr lang="en-US" dirty="0" smtClean="0">
                <a:solidFill>
                  <a:srgbClr val="FF0000"/>
                </a:solidFill>
              </a:rPr>
              <a:t>;</a:t>
            </a:r>
          </a:p>
          <a:p>
            <a:pPr marL="0" indent="0">
              <a:buNone/>
            </a:pPr>
            <a:r>
              <a:rPr lang="en-GB" dirty="0">
                <a:solidFill>
                  <a:srgbClr val="FF0000"/>
                </a:solidFill>
              </a:rPr>
              <a:t>font-size: 30px</a:t>
            </a:r>
            <a:r>
              <a:rPr lang="en-GB" dirty="0" smtClean="0">
                <a:solidFill>
                  <a:srgbClr val="FF0000"/>
                </a:solidFill>
              </a:rPr>
              <a:t>;</a:t>
            </a:r>
          </a:p>
          <a:p>
            <a:pPr marL="0" indent="0">
              <a:buNone/>
            </a:pPr>
            <a:r>
              <a:rPr lang="en-GB" dirty="0">
                <a:solidFill>
                  <a:srgbClr val="FF0000"/>
                </a:solidFill>
              </a:rPr>
              <a:t>font-style: </a:t>
            </a:r>
            <a:r>
              <a:rPr lang="en-GB" dirty="0" smtClean="0">
                <a:solidFill>
                  <a:srgbClr val="FF0000"/>
                </a:solidFill>
              </a:rPr>
              <a:t>normal/italic/;</a:t>
            </a:r>
          </a:p>
          <a:p>
            <a:pPr marL="0" indent="0">
              <a:buNone/>
            </a:pPr>
            <a:r>
              <a:rPr lang="en-GB" dirty="0" smtClean="0">
                <a:solidFill>
                  <a:srgbClr val="FF0000"/>
                </a:solidFill>
              </a:rPr>
              <a:t>font-weight</a:t>
            </a:r>
            <a:r>
              <a:rPr lang="en-GB" dirty="0">
                <a:solidFill>
                  <a:srgbClr val="FF0000"/>
                </a:solidFill>
              </a:rPr>
              <a:t>: </a:t>
            </a:r>
            <a:r>
              <a:rPr lang="en-GB" dirty="0" smtClean="0">
                <a:solidFill>
                  <a:srgbClr val="FF0000"/>
                </a:solidFill>
              </a:rPr>
              <a:t>normal/bold;</a:t>
            </a:r>
          </a:p>
          <a:p>
            <a:pPr marL="0" indent="0">
              <a:buNone/>
            </a:pPr>
            <a:r>
              <a:rPr lang="en-GB" dirty="0">
                <a:solidFill>
                  <a:srgbClr val="FF0000"/>
                </a:solidFill>
              </a:rPr>
              <a:t>font-variant: </a:t>
            </a:r>
            <a:r>
              <a:rPr lang="en-GB" dirty="0" smtClean="0">
                <a:solidFill>
                  <a:srgbClr val="FF0000"/>
                </a:solidFill>
              </a:rPr>
              <a:t>normal/small-caps;</a:t>
            </a:r>
          </a:p>
          <a:p>
            <a:pPr marL="0" indent="0">
              <a:buNone/>
            </a:pPr>
            <a:r>
              <a:rPr lang="en-US" b="1" dirty="0" smtClean="0"/>
              <a:t>Font Shorthand</a:t>
            </a:r>
            <a:endParaRPr lang="en-GB" b="1" dirty="0" smtClean="0"/>
          </a:p>
          <a:p>
            <a:pPr marL="0" indent="0">
              <a:buNone/>
            </a:pPr>
            <a:r>
              <a:rPr lang="en-GB" dirty="0">
                <a:solidFill>
                  <a:srgbClr val="FF0000"/>
                </a:solidFill>
              </a:rPr>
              <a:t>f</a:t>
            </a:r>
            <a:r>
              <a:rPr lang="en-GB" dirty="0" smtClean="0">
                <a:solidFill>
                  <a:srgbClr val="FF0000"/>
                </a:solidFill>
              </a:rPr>
              <a:t>ont: italic small-caps bold 12px/30px Georgia serif </a:t>
            </a:r>
          </a:p>
          <a:p>
            <a:pPr marL="0" indent="0">
              <a:buNone/>
            </a:pPr>
            <a:r>
              <a:rPr lang="en-GB" dirty="0" smtClean="0"/>
              <a:t>Where 12px/30px equal to font-size/line-height </a:t>
            </a:r>
            <a:r>
              <a:rPr lang="en-GB" dirty="0"/>
              <a:t/>
            </a:r>
            <a:br>
              <a:rPr lang="en-GB" dirty="0"/>
            </a:b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27735376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Image</a:t>
            </a:r>
            <a:endParaRPr lang="en-GB" dirty="0"/>
          </a:p>
        </p:txBody>
      </p:sp>
      <p:sp>
        <p:nvSpPr>
          <p:cNvPr id="3" name="Content Placeholder 2"/>
          <p:cNvSpPr>
            <a:spLocks noGrp="1"/>
          </p:cNvSpPr>
          <p:nvPr>
            <p:ph idx="1"/>
          </p:nvPr>
        </p:nvSpPr>
        <p:spPr/>
        <p:txBody>
          <a:bodyPr/>
          <a:lstStyle/>
          <a:p>
            <a:pPr marL="0" indent="0">
              <a:buNone/>
            </a:pPr>
            <a:r>
              <a:rPr lang="en-GB" dirty="0"/>
              <a:t>&lt;</a:t>
            </a:r>
            <a:r>
              <a:rPr lang="en-GB" dirty="0" err="1"/>
              <a:t>img</a:t>
            </a:r>
            <a:r>
              <a:rPr lang="en-GB" dirty="0"/>
              <a:t> </a:t>
            </a:r>
            <a:r>
              <a:rPr lang="en-GB" dirty="0" err="1"/>
              <a:t>src</a:t>
            </a:r>
            <a:r>
              <a:rPr lang="en-GB" dirty="0"/>
              <a:t>="https://</a:t>
            </a:r>
            <a:r>
              <a:rPr lang="en-GB" dirty="0" smtClean="0"/>
              <a:t>via.placeholder.com/200" </a:t>
            </a:r>
            <a:r>
              <a:rPr lang="en-GB" dirty="0"/>
              <a:t>alt="Sample Image</a:t>
            </a:r>
            <a:r>
              <a:rPr lang="en-GB" dirty="0" smtClean="0"/>
              <a:t>"&gt;</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28336147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External Resources</a:t>
            </a:r>
            <a:endParaRPr lang="en-GB" dirty="0"/>
          </a:p>
        </p:txBody>
      </p:sp>
      <p:sp>
        <p:nvSpPr>
          <p:cNvPr id="3" name="Content Placeholder 2"/>
          <p:cNvSpPr>
            <a:spLocks noGrp="1"/>
          </p:cNvSpPr>
          <p:nvPr>
            <p:ph idx="1"/>
          </p:nvPr>
        </p:nvSpPr>
        <p:spPr>
          <a:xfrm>
            <a:off x="328246" y="1465386"/>
            <a:ext cx="11465169" cy="5134706"/>
          </a:xfrm>
        </p:spPr>
        <p:txBody>
          <a:bodyPr>
            <a:normAutofit fontScale="70000" lnSpcReduction="20000"/>
          </a:bodyPr>
          <a:lstStyle/>
          <a:p>
            <a:pPr marL="0" indent="0">
              <a:buNone/>
            </a:pPr>
            <a:r>
              <a:rPr lang="en-US" dirty="0" smtClean="0"/>
              <a:t>To add external resources like icon, font, </a:t>
            </a:r>
            <a:r>
              <a:rPr lang="en-US" dirty="0" err="1" smtClean="0"/>
              <a:t>img</a:t>
            </a:r>
            <a:r>
              <a:rPr lang="en-US" dirty="0" smtClean="0"/>
              <a:t>, you include </a:t>
            </a:r>
            <a:r>
              <a:rPr lang="en-US" dirty="0"/>
              <a:t>either via a </a:t>
            </a:r>
            <a:r>
              <a:rPr lang="en-US" b="1" dirty="0"/>
              <a:t>CDN</a:t>
            </a:r>
            <a:r>
              <a:rPr lang="en-US" dirty="0"/>
              <a:t> or by </a:t>
            </a:r>
            <a:r>
              <a:rPr lang="en-US" b="1" dirty="0"/>
              <a:t>downloading</a:t>
            </a:r>
            <a:r>
              <a:rPr lang="en-US" dirty="0"/>
              <a:t> it.</a:t>
            </a:r>
          </a:p>
          <a:p>
            <a:pPr marL="0" indent="0">
              <a:buNone/>
            </a:pPr>
            <a:r>
              <a:rPr lang="en-US" dirty="0" smtClean="0"/>
              <a:t>Method-1: By Downloading:- </a:t>
            </a:r>
          </a:p>
          <a:p>
            <a:pPr lvl="1"/>
            <a:r>
              <a:rPr lang="en-US" dirty="0" smtClean="0"/>
              <a:t>Download version of </a:t>
            </a:r>
            <a:r>
              <a:rPr lang="en-US" dirty="0" err="1" smtClean="0"/>
              <a:t>FontAwesome</a:t>
            </a:r>
            <a:r>
              <a:rPr lang="en-US" dirty="0" smtClean="0"/>
              <a:t> </a:t>
            </a:r>
            <a:r>
              <a:rPr lang="en-US" dirty="0"/>
              <a:t>from the official website</a:t>
            </a:r>
            <a:r>
              <a:rPr lang="en-US" dirty="0" smtClean="0"/>
              <a:t>.</a:t>
            </a:r>
          </a:p>
          <a:p>
            <a:pPr lvl="1"/>
            <a:r>
              <a:rPr lang="en-US" dirty="0" smtClean="0"/>
              <a:t>Unzip </a:t>
            </a:r>
            <a:r>
              <a:rPr lang="en-US" dirty="0"/>
              <a:t>the downloaded file and place it in your project directory</a:t>
            </a:r>
            <a:r>
              <a:rPr lang="en-US" dirty="0" smtClean="0"/>
              <a:t>.</a:t>
            </a:r>
          </a:p>
          <a:p>
            <a:pPr lvl="1"/>
            <a:r>
              <a:rPr lang="en-US" dirty="0" smtClean="0"/>
              <a:t>Add </a:t>
            </a:r>
            <a:r>
              <a:rPr lang="en-US" dirty="0"/>
              <a:t>the local </a:t>
            </a:r>
            <a:r>
              <a:rPr lang="en-US" dirty="0" err="1"/>
              <a:t>FontAwesome</a:t>
            </a:r>
            <a:r>
              <a:rPr lang="en-US" dirty="0"/>
              <a:t> CSS file link to the &lt;head&gt; of your </a:t>
            </a:r>
            <a:r>
              <a:rPr lang="en-US" dirty="0" smtClean="0"/>
              <a:t>HTML</a:t>
            </a:r>
          </a:p>
          <a:p>
            <a:pPr marL="457200" lvl="1" indent="0">
              <a:buNone/>
            </a:pPr>
            <a:r>
              <a:rPr lang="en-US" dirty="0"/>
              <a:t>	</a:t>
            </a:r>
            <a:r>
              <a:rPr lang="en-GB" i="1" dirty="0">
                <a:solidFill>
                  <a:srgbClr val="FF0000"/>
                </a:solidFill>
              </a:rPr>
              <a:t>&lt;link </a:t>
            </a:r>
            <a:r>
              <a:rPr lang="en-GB" i="1" dirty="0" err="1">
                <a:solidFill>
                  <a:srgbClr val="FF0000"/>
                </a:solidFill>
              </a:rPr>
              <a:t>rel</a:t>
            </a:r>
            <a:r>
              <a:rPr lang="en-GB" i="1" dirty="0">
                <a:solidFill>
                  <a:srgbClr val="FF0000"/>
                </a:solidFill>
              </a:rPr>
              <a:t>="</a:t>
            </a:r>
            <a:r>
              <a:rPr lang="en-GB" i="1" dirty="0" err="1">
                <a:solidFill>
                  <a:srgbClr val="FF0000"/>
                </a:solidFill>
              </a:rPr>
              <a:t>stylesheet</a:t>
            </a:r>
            <a:r>
              <a:rPr lang="en-GB" i="1" dirty="0">
                <a:solidFill>
                  <a:srgbClr val="FF0000"/>
                </a:solidFill>
              </a:rPr>
              <a:t>" </a:t>
            </a:r>
            <a:r>
              <a:rPr lang="en-GB" i="1" dirty="0" err="1">
                <a:solidFill>
                  <a:srgbClr val="FF0000"/>
                </a:solidFill>
              </a:rPr>
              <a:t>href</a:t>
            </a:r>
            <a:r>
              <a:rPr lang="en-GB" i="1" dirty="0">
                <a:solidFill>
                  <a:srgbClr val="FF0000"/>
                </a:solidFill>
              </a:rPr>
              <a:t>="path/to/font-awesome/</a:t>
            </a:r>
            <a:r>
              <a:rPr lang="en-GB" i="1" dirty="0" err="1">
                <a:solidFill>
                  <a:srgbClr val="FF0000"/>
                </a:solidFill>
              </a:rPr>
              <a:t>css</a:t>
            </a:r>
            <a:r>
              <a:rPr lang="en-GB" i="1" dirty="0">
                <a:solidFill>
                  <a:srgbClr val="FF0000"/>
                </a:solidFill>
              </a:rPr>
              <a:t>/fontawesome.min.css"&gt; </a:t>
            </a:r>
            <a:endParaRPr lang="en-US" i="1" dirty="0">
              <a:solidFill>
                <a:srgbClr val="FF0000"/>
              </a:solidFill>
            </a:endParaRPr>
          </a:p>
          <a:p>
            <a:pPr marL="0" indent="0">
              <a:buNone/>
            </a:pPr>
            <a:r>
              <a:rPr lang="en-US" dirty="0" smtClean="0"/>
              <a:t>Method-2 By CDN</a:t>
            </a:r>
          </a:p>
          <a:p>
            <a:pPr lvl="1"/>
            <a:r>
              <a:rPr lang="en-US" dirty="0" smtClean="0"/>
              <a:t>Add </a:t>
            </a:r>
            <a:r>
              <a:rPr lang="en-US" dirty="0"/>
              <a:t>the following &lt;link&gt; tag to the &lt;head&gt; section of your HTML file</a:t>
            </a:r>
            <a:r>
              <a:rPr lang="en-US" dirty="0" smtClean="0"/>
              <a:t>:</a:t>
            </a:r>
          </a:p>
          <a:p>
            <a:pPr marL="457200" lvl="1" indent="0">
              <a:buNone/>
            </a:pPr>
            <a:r>
              <a:rPr lang="en-US" sz="2500" dirty="0" smtClean="0">
                <a:solidFill>
                  <a:srgbClr val="FF0000"/>
                </a:solidFill>
              </a:rPr>
              <a:t>         &lt;</a:t>
            </a:r>
            <a:r>
              <a:rPr lang="en-US" sz="2500" dirty="0">
                <a:solidFill>
                  <a:srgbClr val="FF0000"/>
                </a:solidFill>
              </a:rPr>
              <a:t>link </a:t>
            </a:r>
            <a:r>
              <a:rPr lang="en-US" sz="2500" dirty="0" err="1">
                <a:solidFill>
                  <a:srgbClr val="FF0000"/>
                </a:solidFill>
              </a:rPr>
              <a:t>rel</a:t>
            </a:r>
            <a:r>
              <a:rPr lang="en-US" sz="2500" dirty="0">
                <a:solidFill>
                  <a:srgbClr val="FF0000"/>
                </a:solidFill>
              </a:rPr>
              <a:t>="</a:t>
            </a:r>
            <a:r>
              <a:rPr lang="en-US" sz="2500" dirty="0" err="1">
                <a:solidFill>
                  <a:srgbClr val="FF0000"/>
                </a:solidFill>
              </a:rPr>
              <a:t>stylesheet</a:t>
            </a:r>
            <a:r>
              <a:rPr lang="en-US" sz="2500" dirty="0">
                <a:solidFill>
                  <a:srgbClr val="FF0000"/>
                </a:solidFill>
              </a:rPr>
              <a:t>" </a:t>
            </a:r>
            <a:r>
              <a:rPr lang="en-US" sz="2500" dirty="0" err="1">
                <a:solidFill>
                  <a:srgbClr val="FF0000"/>
                </a:solidFill>
              </a:rPr>
              <a:t>href</a:t>
            </a:r>
            <a:r>
              <a:rPr lang="en-US" sz="2500" dirty="0">
                <a:solidFill>
                  <a:srgbClr val="FF0000"/>
                </a:solidFill>
              </a:rPr>
              <a:t>="https://cdnjs.cloudflare.com/</a:t>
            </a:r>
            <a:r>
              <a:rPr lang="en-US" sz="2500" dirty="0" err="1">
                <a:solidFill>
                  <a:srgbClr val="FF0000"/>
                </a:solidFill>
              </a:rPr>
              <a:t>ajax</a:t>
            </a:r>
            <a:r>
              <a:rPr lang="en-US" sz="2500" dirty="0">
                <a:solidFill>
                  <a:srgbClr val="FF0000"/>
                </a:solidFill>
              </a:rPr>
              <a:t>/libs/font-awesome/6.0.0/</a:t>
            </a:r>
            <a:r>
              <a:rPr lang="en-US" sz="2500" dirty="0" err="1">
                <a:solidFill>
                  <a:srgbClr val="FF0000"/>
                </a:solidFill>
              </a:rPr>
              <a:t>css</a:t>
            </a:r>
            <a:r>
              <a:rPr lang="en-US" sz="2500" dirty="0">
                <a:solidFill>
                  <a:srgbClr val="FF0000"/>
                </a:solidFill>
              </a:rPr>
              <a:t>/all.min.css"&gt; </a:t>
            </a:r>
            <a:endParaRPr lang="en-US" sz="2500" dirty="0" smtClean="0">
              <a:solidFill>
                <a:srgbClr val="FF0000"/>
              </a:solidFill>
            </a:endParaRPr>
          </a:p>
          <a:p>
            <a:pPr marL="0" indent="0">
              <a:buNone/>
            </a:pPr>
            <a:r>
              <a:rPr lang="en-US" i="1" dirty="0"/>
              <a:t>Add icon in your HTML</a:t>
            </a:r>
          </a:p>
          <a:p>
            <a:pPr marL="0" indent="0">
              <a:buNone/>
            </a:pPr>
            <a:r>
              <a:rPr lang="en-US" i="1" dirty="0" smtClean="0"/>
              <a:t>      </a:t>
            </a:r>
            <a:r>
              <a:rPr lang="en-US" dirty="0">
                <a:solidFill>
                  <a:srgbClr val="FF0000"/>
                </a:solidFill>
              </a:rPr>
              <a:t>&lt;</a:t>
            </a:r>
            <a:r>
              <a:rPr lang="en-US" dirty="0" err="1">
                <a:solidFill>
                  <a:srgbClr val="FF0000"/>
                </a:solidFill>
              </a:rPr>
              <a:t>i</a:t>
            </a:r>
            <a:r>
              <a:rPr lang="en-US" dirty="0">
                <a:solidFill>
                  <a:srgbClr val="FF0000"/>
                </a:solidFill>
              </a:rPr>
              <a:t> class="</a:t>
            </a:r>
            <a:r>
              <a:rPr lang="en-US" dirty="0" err="1">
                <a:solidFill>
                  <a:srgbClr val="FF0000"/>
                </a:solidFill>
              </a:rPr>
              <a:t>fas</a:t>
            </a:r>
            <a:r>
              <a:rPr lang="en-US" dirty="0">
                <a:solidFill>
                  <a:srgbClr val="FF0000"/>
                </a:solidFill>
              </a:rPr>
              <a:t> </a:t>
            </a:r>
            <a:r>
              <a:rPr lang="en-US" dirty="0" err="1">
                <a:solidFill>
                  <a:srgbClr val="FF0000"/>
                </a:solidFill>
              </a:rPr>
              <a:t>fa</a:t>
            </a:r>
            <a:r>
              <a:rPr lang="en-US" dirty="0">
                <a:solidFill>
                  <a:srgbClr val="FF0000"/>
                </a:solidFill>
              </a:rPr>
              <a:t>-home"&gt;&lt;/</a:t>
            </a:r>
            <a:r>
              <a:rPr lang="en-US" dirty="0" err="1">
                <a:solidFill>
                  <a:srgbClr val="FF0000"/>
                </a:solidFill>
              </a:rPr>
              <a:t>i</a:t>
            </a:r>
            <a:r>
              <a:rPr lang="en-US" dirty="0">
                <a:solidFill>
                  <a:srgbClr val="FF0000"/>
                </a:solidFill>
              </a:rPr>
              <a:t>&gt;</a:t>
            </a:r>
            <a:endParaRPr lang="en-US" sz="2800" dirty="0" smtClean="0"/>
          </a:p>
          <a:p>
            <a:pPr marL="0" indent="0">
              <a:buNone/>
            </a:pPr>
            <a:r>
              <a:rPr lang="en-US" sz="2400" dirty="0" smtClean="0"/>
              <a:t>1. To add Font </a:t>
            </a:r>
            <a:r>
              <a:rPr lang="en-US" sz="2400" dirty="0"/>
              <a:t>Awesome icons, </a:t>
            </a:r>
            <a:r>
              <a:rPr lang="en-US" sz="2400" dirty="0" smtClean="0"/>
              <a:t>to your </a:t>
            </a:r>
            <a:r>
              <a:rPr lang="en-US" sz="2400" dirty="0" err="1" smtClean="0"/>
              <a:t>HTMLgo</a:t>
            </a:r>
            <a:r>
              <a:rPr lang="en-US" sz="2400" dirty="0" smtClean="0"/>
              <a:t> </a:t>
            </a:r>
            <a:r>
              <a:rPr lang="en-US" sz="2400" dirty="0"/>
              <a:t>to </a:t>
            </a:r>
            <a:r>
              <a:rPr lang="en-US" sz="2400" dirty="0">
                <a:hlinkClick r:id="rId2"/>
              </a:rPr>
              <a:t>fontawesome.com</a:t>
            </a:r>
            <a:r>
              <a:rPr lang="en-US" sz="2400" dirty="0"/>
              <a:t>, </a:t>
            </a:r>
            <a:endParaRPr lang="en-US" sz="2400" dirty="0" smtClean="0"/>
          </a:p>
          <a:p>
            <a:pPr marL="0" indent="0">
              <a:buNone/>
            </a:pPr>
            <a:r>
              <a:rPr lang="en-US" sz="2000" dirty="0" smtClean="0"/>
              <a:t>&lt;</a:t>
            </a:r>
            <a:r>
              <a:rPr lang="en-US" sz="2000" dirty="0"/>
              <a:t>script </a:t>
            </a:r>
            <a:r>
              <a:rPr lang="en-US" sz="2000" dirty="0" err="1"/>
              <a:t>src</a:t>
            </a:r>
            <a:r>
              <a:rPr lang="en-US" sz="2000" dirty="0"/>
              <a:t>="https://kit.fontawesome.com/</a:t>
            </a:r>
            <a:r>
              <a:rPr lang="en-US" sz="2000" i="1" dirty="0"/>
              <a:t>yourcode</a:t>
            </a:r>
            <a:r>
              <a:rPr lang="en-US" sz="2000" dirty="0"/>
              <a:t>.js" </a:t>
            </a:r>
            <a:r>
              <a:rPr lang="en-US" sz="2000" dirty="0" err="1"/>
              <a:t>crossorigin</a:t>
            </a:r>
            <a:r>
              <a:rPr lang="en-US" sz="2000" dirty="0"/>
              <a:t>="anonymous"&gt;&lt;/script</a:t>
            </a:r>
            <a:r>
              <a:rPr lang="en-US" sz="2000" dirty="0" smtClean="0"/>
              <a:t>&gt;</a:t>
            </a:r>
          </a:p>
          <a:p>
            <a:pPr marL="0" indent="0">
              <a:buNone/>
            </a:pPr>
            <a:r>
              <a:rPr lang="en-US" sz="2400" dirty="0" smtClean="0"/>
              <a:t>2. To add </a:t>
            </a:r>
            <a:r>
              <a:rPr lang="en-US" sz="2400" dirty="0"/>
              <a:t>the Bootstrap </a:t>
            </a:r>
            <a:r>
              <a:rPr lang="en-US" sz="2400" dirty="0" err="1"/>
              <a:t>glyphicons</a:t>
            </a:r>
            <a:r>
              <a:rPr lang="en-US" sz="2400" dirty="0"/>
              <a:t>, </a:t>
            </a:r>
            <a:r>
              <a:rPr lang="en-US" sz="2400" dirty="0" smtClean="0"/>
              <a:t>add </a:t>
            </a:r>
            <a:r>
              <a:rPr lang="en-US" sz="2400" dirty="0"/>
              <a:t>the following line inside the &lt;head&gt; </a:t>
            </a:r>
            <a:r>
              <a:rPr lang="en-US" sz="2400" dirty="0" smtClean="0"/>
              <a:t>section</a:t>
            </a:r>
          </a:p>
          <a:p>
            <a:pPr marL="0" indent="0">
              <a:buNone/>
            </a:pPr>
            <a:r>
              <a:rPr lang="en-US" sz="2000" dirty="0"/>
              <a:t>&lt;link </a:t>
            </a:r>
            <a:r>
              <a:rPr lang="en-US" sz="2000" dirty="0" err="1"/>
              <a:t>rel</a:t>
            </a:r>
            <a:r>
              <a:rPr lang="en-US" sz="2000" dirty="0"/>
              <a:t>="</a:t>
            </a:r>
            <a:r>
              <a:rPr lang="en-US" sz="2000" dirty="0" err="1"/>
              <a:t>stylesheet</a:t>
            </a:r>
            <a:r>
              <a:rPr lang="en-US" sz="2000" dirty="0"/>
              <a:t>" </a:t>
            </a:r>
            <a:r>
              <a:rPr lang="en-US" sz="2000" dirty="0" err="1"/>
              <a:t>href</a:t>
            </a:r>
            <a:r>
              <a:rPr lang="en-US" sz="2000" dirty="0"/>
              <a:t>="https://maxcdn.bootstrapcdn.com/bootstrap/3.3.7/</a:t>
            </a:r>
            <a:r>
              <a:rPr lang="en-US" sz="2000" dirty="0" err="1"/>
              <a:t>css</a:t>
            </a:r>
            <a:r>
              <a:rPr lang="en-US" sz="2000" dirty="0"/>
              <a:t>/bootstrap.min.css</a:t>
            </a:r>
            <a:r>
              <a:rPr lang="en-US" sz="2000" dirty="0" smtClean="0"/>
              <a:t>"&gt;</a:t>
            </a:r>
          </a:p>
          <a:p>
            <a:pPr marL="0" indent="0">
              <a:buNone/>
            </a:pPr>
            <a:r>
              <a:rPr lang="en-US" sz="2400" dirty="0" smtClean="0"/>
              <a:t>3. </a:t>
            </a:r>
            <a:r>
              <a:rPr lang="en-US" sz="2400" dirty="0"/>
              <a:t>To use the Google icons</a:t>
            </a:r>
            <a:r>
              <a:rPr lang="en-US" sz="2400" dirty="0" smtClean="0"/>
              <a:t>, add the following line inside the &lt;head&gt; section</a:t>
            </a:r>
          </a:p>
          <a:p>
            <a:pPr marL="0" indent="0">
              <a:buNone/>
            </a:pPr>
            <a:r>
              <a:rPr lang="en-US" sz="2000" dirty="0"/>
              <a:t>&lt;link </a:t>
            </a:r>
            <a:r>
              <a:rPr lang="en-US" sz="2000" dirty="0" err="1"/>
              <a:t>rel</a:t>
            </a:r>
            <a:r>
              <a:rPr lang="en-US" sz="2000" dirty="0"/>
              <a:t>="</a:t>
            </a:r>
            <a:r>
              <a:rPr lang="en-US" sz="2000" dirty="0" err="1"/>
              <a:t>stylesheet</a:t>
            </a:r>
            <a:r>
              <a:rPr lang="en-US" sz="2000" dirty="0"/>
              <a:t>" </a:t>
            </a:r>
            <a:r>
              <a:rPr lang="en-US" sz="2000" dirty="0" err="1"/>
              <a:t>href</a:t>
            </a:r>
            <a:r>
              <a:rPr lang="en-US" sz="2000" dirty="0"/>
              <a:t>="https://fonts.googleapis.com/</a:t>
            </a:r>
            <a:r>
              <a:rPr lang="en-US" sz="2000" dirty="0" err="1"/>
              <a:t>icon?family</a:t>
            </a:r>
            <a:r>
              <a:rPr lang="en-US" sz="2000" dirty="0"/>
              <a:t>=</a:t>
            </a:r>
            <a:r>
              <a:rPr lang="en-US" sz="2000" dirty="0" err="1"/>
              <a:t>Material+Icons</a:t>
            </a:r>
            <a:r>
              <a:rPr lang="en-US" sz="2000" dirty="0"/>
              <a:t>"&gt;</a:t>
            </a:r>
          </a:p>
          <a:p>
            <a:pPr marL="0" indent="0">
              <a:buNone/>
            </a:pPr>
            <a:endParaRPr lang="en-GB" sz="2400" dirty="0"/>
          </a:p>
        </p:txBody>
      </p:sp>
      <p:sp>
        <p:nvSpPr>
          <p:cNvPr id="5" name="Rectangle 4"/>
          <p:cNvSpPr/>
          <p:nvPr/>
        </p:nvSpPr>
        <p:spPr>
          <a:xfrm>
            <a:off x="8088923" y="4805316"/>
            <a:ext cx="3962399" cy="1815882"/>
          </a:xfrm>
          <a:prstGeom prst="rect">
            <a:avLst/>
          </a:prstGeom>
        </p:spPr>
        <p:txBody>
          <a:bodyPr wrap="square">
            <a:spAutoFit/>
          </a:bodyPr>
          <a:lstStyle/>
          <a:p>
            <a:r>
              <a:rPr lang="en-GB" sz="1600" dirty="0" smtClean="0"/>
              <a:t>&lt;</a:t>
            </a:r>
            <a:r>
              <a:rPr lang="en-GB" sz="1600" dirty="0"/>
              <a:t>head&gt;</a:t>
            </a:r>
            <a:br>
              <a:rPr lang="en-GB" sz="1600" dirty="0"/>
            </a:br>
            <a:r>
              <a:rPr lang="en-GB" sz="1600" dirty="0"/>
              <a:t>&lt;link </a:t>
            </a:r>
            <a:r>
              <a:rPr lang="en-GB" sz="1600" dirty="0" err="1"/>
              <a:t>rel</a:t>
            </a:r>
            <a:r>
              <a:rPr lang="en-GB" sz="1600" dirty="0"/>
              <a:t>="</a:t>
            </a:r>
            <a:r>
              <a:rPr lang="en-GB" sz="1600" dirty="0" err="1"/>
              <a:t>stylesheet</a:t>
            </a:r>
            <a:r>
              <a:rPr lang="en-GB" sz="1600" dirty="0"/>
              <a:t>" </a:t>
            </a:r>
            <a:r>
              <a:rPr lang="en-GB" sz="1600" dirty="0" err="1"/>
              <a:t>href</a:t>
            </a:r>
            <a:r>
              <a:rPr lang="en-GB" sz="1600" dirty="0"/>
              <a:t>="https</a:t>
            </a:r>
            <a:r>
              <a:rPr lang="en-GB" sz="1600" dirty="0" smtClean="0"/>
              <a:t>:/…."&gt;</a:t>
            </a:r>
            <a:r>
              <a:rPr lang="en-GB" sz="1600" dirty="0"/>
              <a:t/>
            </a:r>
            <a:br>
              <a:rPr lang="en-GB" sz="1600" dirty="0"/>
            </a:br>
            <a:r>
              <a:rPr lang="en-GB" sz="1600" dirty="0"/>
              <a:t>&lt;/head&gt;</a:t>
            </a:r>
            <a:br>
              <a:rPr lang="en-GB" sz="1600" dirty="0"/>
            </a:br>
            <a:r>
              <a:rPr lang="en-GB" sz="1600" dirty="0"/>
              <a:t>&lt;body&gt;</a:t>
            </a:r>
            <a:br>
              <a:rPr lang="en-GB" sz="1600" dirty="0"/>
            </a:br>
            <a:r>
              <a:rPr lang="en-GB" sz="1600" dirty="0" smtClean="0"/>
              <a:t>&lt;</a:t>
            </a:r>
            <a:r>
              <a:rPr lang="en-GB" sz="1600" dirty="0" err="1"/>
              <a:t>i</a:t>
            </a:r>
            <a:r>
              <a:rPr lang="en-GB" sz="1600" dirty="0"/>
              <a:t> class="material-icons"&gt;cloud&lt;/</a:t>
            </a:r>
            <a:r>
              <a:rPr lang="en-GB" sz="1600" dirty="0" err="1"/>
              <a:t>i</a:t>
            </a:r>
            <a:r>
              <a:rPr lang="en-GB" sz="1600" dirty="0"/>
              <a:t>&gt;</a:t>
            </a:r>
            <a:br>
              <a:rPr lang="en-GB" sz="1600" dirty="0"/>
            </a:br>
            <a:r>
              <a:rPr lang="en-GB" sz="1600" dirty="0"/>
              <a:t>&lt;</a:t>
            </a:r>
            <a:r>
              <a:rPr lang="en-GB" sz="1600" dirty="0" err="1"/>
              <a:t>i</a:t>
            </a:r>
            <a:r>
              <a:rPr lang="en-GB" sz="1600" dirty="0"/>
              <a:t> class="material-icons"&gt;</a:t>
            </a:r>
            <a:r>
              <a:rPr lang="en-GB" sz="1600" dirty="0" err="1"/>
              <a:t>favorite</a:t>
            </a:r>
            <a:r>
              <a:rPr lang="en-GB" sz="1600" dirty="0"/>
              <a:t>&lt;/</a:t>
            </a:r>
            <a:r>
              <a:rPr lang="en-GB" sz="1600" dirty="0" err="1"/>
              <a:t>i</a:t>
            </a:r>
            <a:r>
              <a:rPr lang="en-GB" sz="1600" dirty="0"/>
              <a:t>&gt;</a:t>
            </a:r>
            <a:br>
              <a:rPr lang="en-GB" sz="1600" dirty="0"/>
            </a:br>
            <a:r>
              <a:rPr lang="en-GB" sz="1600" dirty="0" smtClean="0"/>
              <a:t>&lt;/</a:t>
            </a:r>
            <a:r>
              <a:rPr lang="en-GB" sz="1600" dirty="0"/>
              <a:t>body</a:t>
            </a:r>
            <a:r>
              <a:rPr lang="en-GB" sz="1600" dirty="0" smtClean="0"/>
              <a:t>&gt;</a:t>
            </a:r>
            <a:endParaRPr lang="en-GB" sz="1600" dirty="0"/>
          </a:p>
        </p:txBody>
      </p:sp>
    </p:spTree>
    <p:extLst>
      <p:ext uri="{BB962C8B-B14F-4D97-AF65-F5344CB8AC3E}">
        <p14:creationId xmlns:p14="http://schemas.microsoft.com/office/powerpoint/2010/main" val="40507420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0631" y="2545618"/>
            <a:ext cx="10515600" cy="1325563"/>
          </a:xfrm>
        </p:spPr>
        <p:txBody>
          <a:bodyPr/>
          <a:lstStyle/>
          <a:p>
            <a:pPr algn="ctr"/>
            <a:r>
              <a:rPr lang="en-US" dirty="0" smtClean="0"/>
              <a:t>CSS Layout</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36224617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Display Properties</a:t>
            </a:r>
            <a:endParaRPr lang="en-GB" dirty="0"/>
          </a:p>
        </p:txBody>
      </p:sp>
      <p:sp>
        <p:nvSpPr>
          <p:cNvPr id="3" name="Content Placeholder 2"/>
          <p:cNvSpPr>
            <a:spLocks noGrp="1"/>
          </p:cNvSpPr>
          <p:nvPr>
            <p:ph idx="1"/>
          </p:nvPr>
        </p:nvSpPr>
        <p:spPr/>
        <p:txBody>
          <a:bodyPr>
            <a:normAutofit/>
          </a:bodyPr>
          <a:lstStyle/>
          <a:p>
            <a:pPr marL="0" indent="0">
              <a:buNone/>
            </a:pPr>
            <a:r>
              <a:rPr lang="en-US" dirty="0"/>
              <a:t>The </a:t>
            </a:r>
            <a:r>
              <a:rPr lang="en-US" b="1" dirty="0"/>
              <a:t>display</a:t>
            </a:r>
            <a:r>
              <a:rPr lang="en-US" dirty="0"/>
              <a:t> property is a powerful tool in CSS that significantly affects the layout and structure of a webpage</a:t>
            </a:r>
            <a:r>
              <a:rPr lang="en-US" dirty="0" smtClean="0"/>
              <a:t>. The display properties values</a:t>
            </a:r>
            <a:r>
              <a:rPr lang="en-US" dirty="0"/>
              <a:t> </a:t>
            </a:r>
            <a:r>
              <a:rPr lang="en-US" dirty="0" smtClean="0"/>
              <a:t>can be </a:t>
            </a:r>
          </a:p>
          <a:p>
            <a:pPr marL="0" indent="0">
              <a:buNone/>
            </a:pPr>
            <a:r>
              <a:rPr lang="en-US" b="1" dirty="0" smtClean="0"/>
              <a:t>Element Layout</a:t>
            </a:r>
          </a:p>
          <a:p>
            <a:pPr marL="0" indent="0">
              <a:buNone/>
            </a:pPr>
            <a:r>
              <a:rPr lang="en-US" dirty="0" err="1" smtClean="0"/>
              <a:t>display:block</a:t>
            </a:r>
            <a:r>
              <a:rPr lang="en-US" dirty="0" smtClean="0"/>
              <a:t>		</a:t>
            </a:r>
            <a:r>
              <a:rPr lang="en-US" dirty="0" err="1" smtClean="0"/>
              <a:t>display:inline</a:t>
            </a:r>
            <a:r>
              <a:rPr lang="en-US" dirty="0" smtClean="0"/>
              <a:t>		</a:t>
            </a:r>
            <a:r>
              <a:rPr lang="en-US" dirty="0" err="1" smtClean="0"/>
              <a:t>display:inline-block</a:t>
            </a:r>
            <a:r>
              <a:rPr lang="en-US" b="1" dirty="0" smtClean="0"/>
              <a:t>	</a:t>
            </a:r>
          </a:p>
          <a:p>
            <a:pPr marL="0" indent="0">
              <a:buNone/>
            </a:pPr>
            <a:r>
              <a:rPr lang="en-US" b="1" dirty="0" smtClean="0"/>
              <a:t>Page/Section Layout</a:t>
            </a:r>
          </a:p>
          <a:p>
            <a:pPr marL="0" indent="0">
              <a:buNone/>
            </a:pPr>
            <a:r>
              <a:rPr lang="en-US" dirty="0" err="1" smtClean="0"/>
              <a:t>display:flex</a:t>
            </a:r>
            <a:r>
              <a:rPr lang="en-US" dirty="0" smtClean="0"/>
              <a:t>			</a:t>
            </a:r>
            <a:r>
              <a:rPr lang="en-US" dirty="0" err="1" smtClean="0"/>
              <a:t>display:grid</a:t>
            </a:r>
            <a:r>
              <a:rPr lang="en-US" dirty="0" smtClean="0"/>
              <a:t>			</a:t>
            </a:r>
            <a:r>
              <a:rPr lang="en-US" dirty="0" err="1" smtClean="0"/>
              <a:t>display:table</a:t>
            </a:r>
            <a:r>
              <a:rPr lang="en-US" dirty="0" smtClean="0"/>
              <a:t>		</a:t>
            </a:r>
          </a:p>
          <a:p>
            <a:pPr marL="0" indent="0">
              <a:buNone/>
            </a:pPr>
            <a:r>
              <a:rPr lang="en-US" dirty="0" err="1" smtClean="0"/>
              <a:t>display:none</a:t>
            </a:r>
            <a:endParaRPr lang="en-US" dirty="0" smtClean="0"/>
          </a:p>
        </p:txBody>
      </p:sp>
    </p:spTree>
    <p:extLst>
      <p:ext uri="{BB962C8B-B14F-4D97-AF65-F5344CB8AC3E}">
        <p14:creationId xmlns:p14="http://schemas.microsoft.com/office/powerpoint/2010/main" val="42751863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2709"/>
            <a:ext cx="10515600" cy="6178060"/>
          </a:xfrm>
        </p:spPr>
        <p:txBody>
          <a:bodyPr>
            <a:normAutofit lnSpcReduction="10000"/>
          </a:bodyPr>
          <a:lstStyle/>
          <a:p>
            <a:pPr marL="0" indent="0">
              <a:buNone/>
            </a:pPr>
            <a:r>
              <a:rPr lang="en-US" b="1" dirty="0" err="1" smtClean="0">
                <a:solidFill>
                  <a:srgbClr val="00B0F0"/>
                </a:solidFill>
              </a:rPr>
              <a:t>display:block</a:t>
            </a:r>
            <a:r>
              <a:rPr lang="en-US" b="1" dirty="0" smtClean="0">
                <a:solidFill>
                  <a:srgbClr val="00B0F0"/>
                </a:solidFill>
              </a:rPr>
              <a:t> </a:t>
            </a:r>
            <a:r>
              <a:rPr lang="en-US" dirty="0" smtClean="0">
                <a:solidFill>
                  <a:srgbClr val="00B0F0"/>
                </a:solidFill>
              </a:rPr>
              <a:t>-</a:t>
            </a:r>
            <a:r>
              <a:rPr lang="en-US" dirty="0" smtClean="0"/>
              <a:t> This </a:t>
            </a:r>
            <a:r>
              <a:rPr lang="en-US" dirty="0"/>
              <a:t>property in CSS defines an element as a </a:t>
            </a:r>
            <a:r>
              <a:rPr lang="en-US" b="1" dirty="0"/>
              <a:t>block-level</a:t>
            </a:r>
            <a:r>
              <a:rPr lang="en-US" dirty="0"/>
              <a:t> element. Block-level elements take up the full width of their container and start on a new line</a:t>
            </a:r>
            <a:r>
              <a:rPr lang="en-US" dirty="0" smtClean="0"/>
              <a:t>. Remember the following rules!</a:t>
            </a:r>
          </a:p>
          <a:p>
            <a:pPr lvl="1"/>
            <a:r>
              <a:rPr lang="en-US" dirty="0"/>
              <a:t>It takes up the entire width of its parent container (unless a width is specified</a:t>
            </a:r>
            <a:r>
              <a:rPr lang="en-US" dirty="0" smtClean="0"/>
              <a:t>).</a:t>
            </a:r>
          </a:p>
          <a:p>
            <a:pPr lvl="1"/>
            <a:r>
              <a:rPr lang="en-US" dirty="0" smtClean="0"/>
              <a:t>It </a:t>
            </a:r>
            <a:r>
              <a:rPr lang="en-US" dirty="0"/>
              <a:t>starts on a new line, meaning any element before or after it will be pushed above or below it</a:t>
            </a:r>
            <a:r>
              <a:rPr lang="en-US" dirty="0" smtClean="0"/>
              <a:t>.</a:t>
            </a:r>
          </a:p>
          <a:p>
            <a:pPr lvl="1"/>
            <a:r>
              <a:rPr lang="en-US" dirty="0" smtClean="0"/>
              <a:t>It </a:t>
            </a:r>
            <a:r>
              <a:rPr lang="en-US" dirty="0"/>
              <a:t>respects width, height, padding, and margin</a:t>
            </a:r>
            <a:r>
              <a:rPr lang="en-US" dirty="0" smtClean="0"/>
              <a:t>.</a:t>
            </a:r>
          </a:p>
          <a:p>
            <a:pPr lvl="1"/>
            <a:r>
              <a:rPr lang="en-US" dirty="0"/>
              <a:t>Block elements can contain other block or inline elements</a:t>
            </a:r>
            <a:r>
              <a:rPr lang="en-US" dirty="0" smtClean="0"/>
              <a:t>.</a:t>
            </a:r>
          </a:p>
          <a:p>
            <a:pPr marL="457200" lvl="1" indent="0">
              <a:buNone/>
            </a:pPr>
            <a:r>
              <a:rPr lang="en-US" dirty="0" smtClean="0"/>
              <a:t>Examples: </a:t>
            </a:r>
            <a:r>
              <a:rPr lang="en-US" dirty="0" smtClean="0">
                <a:solidFill>
                  <a:srgbClr val="FF0000"/>
                </a:solidFill>
              </a:rPr>
              <a:t>&lt;div&gt; &lt;h1..h6&gt; &lt;p&gt; &lt;</a:t>
            </a:r>
            <a:r>
              <a:rPr lang="en-US" dirty="0" err="1" smtClean="0">
                <a:solidFill>
                  <a:srgbClr val="FF0000"/>
                </a:solidFill>
              </a:rPr>
              <a:t>ul,ol,li</a:t>
            </a:r>
            <a:r>
              <a:rPr lang="en-US" dirty="0" smtClean="0">
                <a:solidFill>
                  <a:srgbClr val="FF0000"/>
                </a:solidFill>
              </a:rPr>
              <a:t>&gt; &lt;header&gt; &lt;footer&gt; &lt;section&gt; &lt;article&gt;</a:t>
            </a:r>
          </a:p>
          <a:p>
            <a:pPr marL="0" indent="0">
              <a:buNone/>
            </a:pPr>
            <a:r>
              <a:rPr lang="en-US" b="1" dirty="0" err="1" smtClean="0">
                <a:solidFill>
                  <a:srgbClr val="00B0F0"/>
                </a:solidFill>
              </a:rPr>
              <a:t>display:inline</a:t>
            </a:r>
            <a:r>
              <a:rPr lang="en-US" b="1" dirty="0" smtClean="0">
                <a:solidFill>
                  <a:srgbClr val="00B0F0"/>
                </a:solidFill>
              </a:rPr>
              <a:t> -</a:t>
            </a:r>
            <a:r>
              <a:rPr lang="en-US" dirty="0" smtClean="0"/>
              <a:t> </a:t>
            </a:r>
            <a:r>
              <a:rPr lang="en-US" dirty="0"/>
              <a:t>The element only takes up as much width as necessary and does not start on a new line. </a:t>
            </a:r>
            <a:endParaRPr lang="en-US" dirty="0" smtClean="0"/>
          </a:p>
          <a:p>
            <a:pPr lvl="1"/>
            <a:r>
              <a:rPr lang="en-US" dirty="0"/>
              <a:t>Width and height properties have no effect on inline elements</a:t>
            </a:r>
            <a:r>
              <a:rPr lang="en-US" dirty="0" smtClean="0"/>
              <a:t>.</a:t>
            </a:r>
          </a:p>
          <a:p>
            <a:pPr lvl="1"/>
            <a:r>
              <a:rPr lang="en-US" dirty="0"/>
              <a:t>Inline elements respect horizontal padding and margin, but vertical padding and margin may not behave as expected.</a:t>
            </a:r>
          </a:p>
          <a:p>
            <a:pPr lvl="1"/>
            <a:r>
              <a:rPr lang="en-US" dirty="0" smtClean="0"/>
              <a:t>Inline </a:t>
            </a:r>
            <a:r>
              <a:rPr lang="en-US" dirty="0"/>
              <a:t>elements can be placed within block </a:t>
            </a:r>
            <a:r>
              <a:rPr lang="en-US" dirty="0" smtClean="0"/>
              <a:t>elements</a:t>
            </a:r>
          </a:p>
          <a:p>
            <a:pPr marL="457200" lvl="1" indent="0">
              <a:buNone/>
            </a:pPr>
            <a:r>
              <a:rPr lang="en-US" dirty="0" smtClean="0"/>
              <a:t>Examples: </a:t>
            </a:r>
            <a:r>
              <a:rPr lang="en-US" dirty="0" smtClean="0">
                <a:solidFill>
                  <a:srgbClr val="FF0000"/>
                </a:solidFill>
              </a:rPr>
              <a:t>&lt;span&gt; &lt;a&gt; &lt;</a:t>
            </a:r>
            <a:r>
              <a:rPr lang="en-US" dirty="0" err="1" smtClean="0">
                <a:solidFill>
                  <a:srgbClr val="FF0000"/>
                </a:solidFill>
              </a:rPr>
              <a:t>img</a:t>
            </a:r>
            <a:r>
              <a:rPr lang="en-US" dirty="0" smtClean="0">
                <a:solidFill>
                  <a:srgbClr val="FF0000"/>
                </a:solidFill>
              </a:rPr>
              <a:t>&gt; &lt;strong&gt; &lt;b&gt; &lt;</a:t>
            </a:r>
            <a:r>
              <a:rPr lang="en-US" dirty="0" err="1" smtClean="0">
                <a:solidFill>
                  <a:srgbClr val="FF0000"/>
                </a:solidFill>
              </a:rPr>
              <a:t>i</a:t>
            </a:r>
            <a:r>
              <a:rPr lang="en-US" dirty="0" smtClean="0">
                <a:solidFill>
                  <a:srgbClr val="FF0000"/>
                </a:solidFill>
              </a:rPr>
              <a:t>&gt; &lt;</a:t>
            </a:r>
            <a:r>
              <a:rPr lang="en-US" dirty="0" err="1" smtClean="0">
                <a:solidFill>
                  <a:srgbClr val="FF0000"/>
                </a:solidFill>
              </a:rPr>
              <a:t>em</a:t>
            </a:r>
            <a:r>
              <a:rPr lang="en-US" dirty="0" smtClean="0">
                <a:solidFill>
                  <a:srgbClr val="FF0000"/>
                </a:solidFill>
              </a:rPr>
              <a:t>&gt;</a:t>
            </a:r>
            <a:endParaRPr lang="en-GB" dirty="0">
              <a:solidFill>
                <a:srgbClr val="FF0000"/>
              </a:solidFill>
            </a:endParaRPr>
          </a:p>
        </p:txBody>
      </p:sp>
    </p:spTree>
    <p:extLst>
      <p:ext uri="{BB962C8B-B14F-4D97-AF65-F5344CB8AC3E}">
        <p14:creationId xmlns:p14="http://schemas.microsoft.com/office/powerpoint/2010/main" val="28561941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Display Properties  </a:t>
            </a:r>
            <a:r>
              <a:rPr lang="en-US" sz="2400" dirty="0" smtClean="0"/>
              <a:t>continue…</a:t>
            </a:r>
            <a:endParaRPr lang="en-GB" dirty="0"/>
          </a:p>
        </p:txBody>
      </p:sp>
      <p:sp>
        <p:nvSpPr>
          <p:cNvPr id="3" name="Content Placeholder 2"/>
          <p:cNvSpPr>
            <a:spLocks noGrp="1"/>
          </p:cNvSpPr>
          <p:nvPr>
            <p:ph idx="1"/>
          </p:nvPr>
        </p:nvSpPr>
        <p:spPr>
          <a:xfrm>
            <a:off x="838200" y="1512278"/>
            <a:ext cx="10515600" cy="5205046"/>
          </a:xfrm>
        </p:spPr>
        <p:txBody>
          <a:bodyPr>
            <a:normAutofit lnSpcReduction="10000"/>
          </a:bodyPr>
          <a:lstStyle/>
          <a:p>
            <a:pPr marL="0" indent="0">
              <a:buNone/>
            </a:pPr>
            <a:r>
              <a:rPr lang="en-US" b="1" dirty="0">
                <a:solidFill>
                  <a:srgbClr val="00B0F0"/>
                </a:solidFill>
              </a:rPr>
              <a:t>display: inline-block –</a:t>
            </a:r>
            <a:r>
              <a:rPr lang="en-US" dirty="0"/>
              <a:t> inline-block allows an element to behave like an </a:t>
            </a:r>
            <a:r>
              <a:rPr lang="en-US" b="1" dirty="0"/>
              <a:t>inline</a:t>
            </a:r>
            <a:r>
              <a:rPr lang="en-US" dirty="0"/>
              <a:t> element but it allows you to set width and height.</a:t>
            </a:r>
          </a:p>
          <a:p>
            <a:pPr lvl="1"/>
            <a:r>
              <a:rPr lang="en-US" dirty="0"/>
              <a:t>Elements are placed next to each other in the same line unless the container's width is exceeded.</a:t>
            </a:r>
          </a:p>
          <a:p>
            <a:pPr lvl="1"/>
            <a:r>
              <a:rPr lang="en-US" dirty="0"/>
              <a:t>The width, height, padding, and margin properties can be set and will affect the layout.</a:t>
            </a:r>
          </a:p>
          <a:p>
            <a:pPr marL="0" indent="0">
              <a:buNone/>
            </a:pPr>
            <a:endParaRPr lang="en-US" b="1" dirty="0" smtClean="0"/>
          </a:p>
          <a:p>
            <a:r>
              <a:rPr lang="en-US" b="1" dirty="0" smtClean="0"/>
              <a:t>Display</a:t>
            </a:r>
            <a:r>
              <a:rPr lang="en-US" b="1" dirty="0"/>
              <a:t>: Block</a:t>
            </a:r>
            <a:r>
              <a:rPr lang="en-US" dirty="0"/>
              <a:t>: Best for elements that should stack vertically and take the full width</a:t>
            </a:r>
            <a:r>
              <a:rPr lang="en-US" dirty="0" smtClean="0"/>
              <a:t>.</a:t>
            </a:r>
          </a:p>
          <a:p>
            <a:r>
              <a:rPr lang="en-US" b="1" dirty="0" smtClean="0"/>
              <a:t>Display</a:t>
            </a:r>
            <a:r>
              <a:rPr lang="en-US" b="1" dirty="0"/>
              <a:t>: Inline</a:t>
            </a:r>
            <a:r>
              <a:rPr lang="en-US" dirty="0"/>
              <a:t>: Best for elements that should flow within a line of text without disrupting the flow.</a:t>
            </a:r>
            <a:endParaRPr lang="en-US" b="1" dirty="0" smtClean="0"/>
          </a:p>
          <a:p>
            <a:r>
              <a:rPr lang="en-US" b="1" dirty="0" smtClean="0"/>
              <a:t>Display</a:t>
            </a:r>
            <a:r>
              <a:rPr lang="en-US" b="1" dirty="0"/>
              <a:t>: Inline-Block</a:t>
            </a:r>
            <a:r>
              <a:rPr lang="en-US" dirty="0"/>
              <a:t>: Useful when you want block-like elements to sit next to each </a:t>
            </a:r>
            <a:r>
              <a:rPr lang="en-US" dirty="0" smtClean="0"/>
              <a:t>other</a:t>
            </a:r>
            <a:r>
              <a:rPr lang="en-US" dirty="0"/>
              <a:t>.</a:t>
            </a:r>
            <a:r>
              <a:rPr lang="en-US" dirty="0" smtClean="0"/>
              <a:t>  With and Height for Inline elements </a:t>
            </a:r>
          </a:p>
        </p:txBody>
      </p:sp>
    </p:spTree>
    <p:extLst>
      <p:ext uri="{BB962C8B-B14F-4D97-AF65-F5344CB8AC3E}">
        <p14:creationId xmlns:p14="http://schemas.microsoft.com/office/powerpoint/2010/main" val="26582817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Display Properties Exceptions</a:t>
            </a:r>
            <a:endParaRPr lang="en-GB" dirty="0"/>
          </a:p>
        </p:txBody>
      </p:sp>
      <p:sp>
        <p:nvSpPr>
          <p:cNvPr id="3" name="Content Placeholder 2"/>
          <p:cNvSpPr>
            <a:spLocks noGrp="1"/>
          </p:cNvSpPr>
          <p:nvPr>
            <p:ph idx="1"/>
          </p:nvPr>
        </p:nvSpPr>
        <p:spPr>
          <a:xfrm>
            <a:off x="515815" y="1813902"/>
            <a:ext cx="11195539" cy="4351338"/>
          </a:xfrm>
        </p:spPr>
        <p:txBody>
          <a:bodyPr>
            <a:normAutofit lnSpcReduction="10000"/>
          </a:bodyPr>
          <a:lstStyle/>
          <a:p>
            <a:r>
              <a:rPr lang="en-US" dirty="0" smtClean="0"/>
              <a:t>If child display is block and parent display is inline, child will take all full width and push any next child to new line. This will override the rule – </a:t>
            </a:r>
          </a:p>
          <a:p>
            <a:pPr marL="457200" lvl="1" indent="0">
              <a:buNone/>
            </a:pPr>
            <a:r>
              <a:rPr lang="en-US" i="1" dirty="0" err="1" smtClean="0">
                <a:solidFill>
                  <a:srgbClr val="FF0000"/>
                </a:solidFill>
              </a:rPr>
              <a:t>display:block</a:t>
            </a:r>
            <a:r>
              <a:rPr lang="en-US" i="1" dirty="0" smtClean="0">
                <a:solidFill>
                  <a:srgbClr val="FF0000"/>
                </a:solidFill>
              </a:rPr>
              <a:t> - </a:t>
            </a:r>
            <a:r>
              <a:rPr lang="en-US" i="1" dirty="0">
                <a:solidFill>
                  <a:srgbClr val="FF0000"/>
                </a:solidFill>
              </a:rPr>
              <a:t>It takes up the entire width of its parent container</a:t>
            </a:r>
            <a:r>
              <a:rPr lang="en-US" i="1" dirty="0" smtClean="0">
                <a:solidFill>
                  <a:srgbClr val="FF0000"/>
                </a:solidFill>
              </a:rPr>
              <a:t> </a:t>
            </a:r>
            <a:endParaRPr lang="en-GB" i="1" dirty="0" smtClean="0">
              <a:solidFill>
                <a:srgbClr val="FF0000"/>
              </a:solidFill>
            </a:endParaRPr>
          </a:p>
          <a:p>
            <a:pPr marL="0" indent="0">
              <a:buNone/>
            </a:pPr>
            <a:r>
              <a:rPr lang="en-US" dirty="0"/>
              <a:t> </a:t>
            </a:r>
            <a:r>
              <a:rPr lang="en-US" dirty="0" smtClean="0"/>
              <a:t>  To control block child to follow rule, change the child display property     </a:t>
            </a:r>
          </a:p>
          <a:p>
            <a:pPr marL="0" indent="0">
              <a:buNone/>
            </a:pPr>
            <a:r>
              <a:rPr lang="en-US"/>
              <a:t> </a:t>
            </a:r>
            <a:r>
              <a:rPr lang="en-US" smtClean="0"/>
              <a:t>  from </a:t>
            </a:r>
            <a:r>
              <a:rPr lang="en-US" dirty="0" err="1" smtClean="0"/>
              <a:t>display:block</a:t>
            </a:r>
            <a:r>
              <a:rPr lang="en-US" dirty="0" smtClean="0"/>
              <a:t> to </a:t>
            </a:r>
            <a:r>
              <a:rPr lang="en-US" dirty="0" err="1" smtClean="0"/>
              <a:t>display:inline-block</a:t>
            </a:r>
            <a:endParaRPr lang="en-US" dirty="0" smtClean="0"/>
          </a:p>
          <a:p>
            <a:r>
              <a:rPr lang="en-US" dirty="0" smtClean="0"/>
              <a:t>When </a:t>
            </a:r>
            <a:r>
              <a:rPr lang="en-US" dirty="0"/>
              <a:t>you place inline elements inside a block element, the inline elements will flow horizontally within the available width of the block.</a:t>
            </a:r>
          </a:p>
          <a:p>
            <a:r>
              <a:rPr lang="en-US" dirty="0" smtClean="0"/>
              <a:t>If </a:t>
            </a:r>
            <a:r>
              <a:rPr lang="en-US" dirty="0"/>
              <a:t>you place a block element inside an inline element (like in your previous code), the block element will still take the full width available, effectively breaking the inline flow.</a:t>
            </a:r>
          </a:p>
          <a:p>
            <a:pPr marL="0" indent="0">
              <a:buNone/>
            </a:pPr>
            <a:endParaRPr lang="en-US" dirty="0" smtClean="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10655577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Layouts</a:t>
            </a:r>
            <a:endParaRPr lang="en-GB" dirty="0"/>
          </a:p>
        </p:txBody>
      </p:sp>
      <p:sp>
        <p:nvSpPr>
          <p:cNvPr id="3" name="Content Placeholder 2"/>
          <p:cNvSpPr>
            <a:spLocks noGrp="1"/>
          </p:cNvSpPr>
          <p:nvPr>
            <p:ph idx="1"/>
          </p:nvPr>
        </p:nvSpPr>
        <p:spPr/>
        <p:txBody>
          <a:bodyPr/>
          <a:lstStyle/>
          <a:p>
            <a:pPr marL="0" indent="0">
              <a:buNone/>
            </a:pPr>
            <a:r>
              <a:rPr lang="en-US" dirty="0" smtClean="0"/>
              <a:t>To create a webpage structure, CSS provides powerful tools likes</a:t>
            </a:r>
          </a:p>
          <a:p>
            <a:pPr lvl="1"/>
            <a:r>
              <a:rPr lang="en-US" dirty="0" smtClean="0"/>
              <a:t>CSS </a:t>
            </a:r>
            <a:r>
              <a:rPr lang="en-US" dirty="0"/>
              <a:t>Frameworks (Bootstrap, Foundation)</a:t>
            </a:r>
            <a:endParaRPr lang="en-GB" dirty="0"/>
          </a:p>
          <a:p>
            <a:pPr lvl="1"/>
            <a:r>
              <a:rPr lang="en-GB" dirty="0"/>
              <a:t>CSS </a:t>
            </a:r>
            <a:r>
              <a:rPr lang="en-GB" dirty="0" err="1" smtClean="0"/>
              <a:t>Flexbox</a:t>
            </a:r>
            <a:endParaRPr lang="en-GB" dirty="0"/>
          </a:p>
          <a:p>
            <a:pPr lvl="1"/>
            <a:r>
              <a:rPr lang="en-GB" dirty="0"/>
              <a:t>CSS G</a:t>
            </a:r>
            <a:r>
              <a:rPr lang="en-GB" dirty="0" smtClean="0"/>
              <a:t>rid</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8589" y="3871550"/>
            <a:ext cx="2693133" cy="239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8005" y="3254310"/>
            <a:ext cx="2784152" cy="3016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5957" y="2850338"/>
            <a:ext cx="2584987" cy="3420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52633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65090"/>
          </a:xfrm>
        </p:spPr>
        <p:txBody>
          <a:bodyPr/>
          <a:lstStyle/>
          <a:p>
            <a:r>
              <a:rPr lang="en-US" dirty="0" smtClean="0"/>
              <a:t>Web Layout (CSS Layout)</a:t>
            </a:r>
            <a:endParaRPr lang="en-GB" dirty="0"/>
          </a:p>
        </p:txBody>
      </p:sp>
      <p:sp>
        <p:nvSpPr>
          <p:cNvPr id="3" name="Content Placeholder 2"/>
          <p:cNvSpPr>
            <a:spLocks noGrp="1"/>
          </p:cNvSpPr>
          <p:nvPr>
            <p:ph idx="1"/>
          </p:nvPr>
        </p:nvSpPr>
        <p:spPr>
          <a:xfrm>
            <a:off x="597877" y="1430215"/>
            <a:ext cx="11230708" cy="5169877"/>
          </a:xfrm>
        </p:spPr>
        <p:txBody>
          <a:bodyPr>
            <a:normAutofit fontScale="92500" lnSpcReduction="10000"/>
          </a:bodyPr>
          <a:lstStyle/>
          <a:p>
            <a:pPr marL="0" indent="0" algn="just">
              <a:buNone/>
            </a:pPr>
            <a:r>
              <a:rPr lang="en-US" dirty="0" smtClean="0"/>
              <a:t>Web Layout is a design pattern to determine </a:t>
            </a:r>
            <a:r>
              <a:rPr lang="en-US" dirty="0"/>
              <a:t>how elements are positioned, sized, and arranged within a web page</a:t>
            </a:r>
            <a:r>
              <a:rPr lang="en-US" dirty="0" smtClean="0"/>
              <a:t>. </a:t>
            </a:r>
            <a:r>
              <a:rPr lang="en-US" dirty="0"/>
              <a:t>Here are some common CSS layout techniques</a:t>
            </a:r>
            <a:r>
              <a:rPr lang="en-US" dirty="0" smtClean="0"/>
              <a:t>:</a:t>
            </a:r>
          </a:p>
          <a:p>
            <a:pPr marL="0" indent="0" algn="just">
              <a:buNone/>
            </a:pPr>
            <a:r>
              <a:rPr lang="en-GB" b="1" dirty="0"/>
              <a:t>Float Layout:</a:t>
            </a:r>
            <a:r>
              <a:rPr lang="en-GB" dirty="0"/>
              <a:t> </a:t>
            </a:r>
            <a:r>
              <a:rPr lang="en-US" dirty="0"/>
              <a:t>Floats were traditionally used for layout before the advent of </a:t>
            </a:r>
            <a:r>
              <a:rPr lang="en-US" dirty="0" err="1"/>
              <a:t>Flexbox</a:t>
            </a:r>
            <a:r>
              <a:rPr lang="en-US" dirty="0"/>
              <a:t> and CSS Grid. Floating elements can be positioned to the left or right of their container, allowing text and other elements to wrap around them. </a:t>
            </a:r>
            <a:endParaRPr lang="en-US" dirty="0" smtClean="0"/>
          </a:p>
          <a:p>
            <a:pPr marL="0" indent="0" algn="just">
              <a:buNone/>
            </a:pPr>
            <a:r>
              <a:rPr lang="en-US" b="1" dirty="0" err="1" smtClean="0"/>
              <a:t>Flexbox</a:t>
            </a:r>
            <a:r>
              <a:rPr lang="en-US" b="1" dirty="0" smtClean="0"/>
              <a:t> Layout:</a:t>
            </a:r>
            <a:r>
              <a:rPr lang="en-US" dirty="0" smtClean="0"/>
              <a:t> </a:t>
            </a:r>
            <a:r>
              <a:rPr lang="en-US" dirty="0" err="1"/>
              <a:t>Flexbox</a:t>
            </a:r>
            <a:r>
              <a:rPr lang="en-US" dirty="0"/>
              <a:t> is a one-dimensional layout method for laying out items in rows or columns. It provides more control over the alignment, direction, order, and size of elements within a container. </a:t>
            </a:r>
            <a:r>
              <a:rPr lang="en-US" dirty="0" err="1"/>
              <a:t>Flexbox</a:t>
            </a:r>
            <a:r>
              <a:rPr lang="en-US" dirty="0"/>
              <a:t> is particularly useful for creating </a:t>
            </a:r>
            <a:r>
              <a:rPr lang="en-US" dirty="0">
                <a:solidFill>
                  <a:srgbClr val="FF0000"/>
                </a:solidFill>
              </a:rPr>
              <a:t>responsive layouts</a:t>
            </a:r>
            <a:r>
              <a:rPr lang="en-US" dirty="0"/>
              <a:t> and aligning items within a container</a:t>
            </a:r>
            <a:r>
              <a:rPr lang="en-US" dirty="0" smtClean="0"/>
              <a:t>.</a:t>
            </a:r>
          </a:p>
          <a:p>
            <a:pPr marL="0" indent="0" algn="just">
              <a:buNone/>
            </a:pPr>
            <a:r>
              <a:rPr lang="en-US" b="1" dirty="0"/>
              <a:t>Grid Layout:</a:t>
            </a:r>
            <a:r>
              <a:rPr lang="en-US" dirty="0"/>
              <a:t> CSS Grid Layout is a two-dimensional layout system for designing grid-based layouts in CSS. It allows you to divide a page into rows and columns, providing precise control over the placement and sizing of elements within the grid. Grid Layout is powerful for creating complex layouts and is well-suited for designing both full-page layouts and smaller components.</a:t>
            </a:r>
            <a:endParaRPr lang="en-GB" dirty="0"/>
          </a:p>
        </p:txBody>
      </p:sp>
    </p:spTree>
    <p:extLst>
      <p:ext uri="{BB962C8B-B14F-4D97-AF65-F5344CB8AC3E}">
        <p14:creationId xmlns:p14="http://schemas.microsoft.com/office/powerpoint/2010/main" val="17534798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Floats </a:t>
            </a:r>
            <a:endParaRPr lang="en-GB" dirty="0"/>
          </a:p>
        </p:txBody>
      </p:sp>
      <p:sp>
        <p:nvSpPr>
          <p:cNvPr id="3" name="Content Placeholder 2"/>
          <p:cNvSpPr>
            <a:spLocks noGrp="1"/>
          </p:cNvSpPr>
          <p:nvPr>
            <p:ph idx="1"/>
          </p:nvPr>
        </p:nvSpPr>
        <p:spPr>
          <a:xfrm>
            <a:off x="838200" y="1825625"/>
            <a:ext cx="10515600" cy="1656129"/>
          </a:xfrm>
        </p:spPr>
        <p:txBody>
          <a:bodyPr/>
          <a:lstStyle/>
          <a:p>
            <a:pPr marL="0" indent="0">
              <a:buNone/>
            </a:pPr>
            <a:r>
              <a:rPr lang="en-US" b="1" dirty="0"/>
              <a:t>Floats</a:t>
            </a:r>
            <a:r>
              <a:rPr lang="en-US" dirty="0"/>
              <a:t> in CSS are used to position elements to the left or right of their containing block, allowing text and inline elements to wrap around </a:t>
            </a:r>
            <a:r>
              <a:rPr lang="en-US" dirty="0" smtClean="0"/>
              <a:t>them. Float use left or right property to display items.</a:t>
            </a:r>
          </a:p>
          <a:p>
            <a:pPr marL="457200" lvl="1" indent="0">
              <a:buNone/>
            </a:pPr>
            <a:r>
              <a:rPr lang="en-US" dirty="0">
                <a:solidFill>
                  <a:srgbClr val="FF0000"/>
                </a:solidFill>
              </a:rPr>
              <a:t>f</a:t>
            </a:r>
            <a:r>
              <a:rPr lang="en-US" dirty="0" smtClean="0">
                <a:solidFill>
                  <a:srgbClr val="FF0000"/>
                </a:solidFill>
              </a:rPr>
              <a:t>loat: left/right;</a:t>
            </a:r>
            <a:endParaRPr lang="en-GB" dirty="0">
              <a:solidFill>
                <a:srgbClr val="FF0000"/>
              </a:solidFill>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969" y="3702657"/>
            <a:ext cx="6881446" cy="1022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580378" y="4656962"/>
            <a:ext cx="4400628" cy="369332"/>
          </a:xfrm>
          <a:prstGeom prst="rect">
            <a:avLst/>
          </a:prstGeom>
          <a:noFill/>
        </p:spPr>
        <p:txBody>
          <a:bodyPr wrap="none" rtlCol="0">
            <a:spAutoFit/>
          </a:bodyPr>
          <a:lstStyle/>
          <a:p>
            <a:r>
              <a:rPr lang="en-US" dirty="0" smtClean="0"/>
              <a:t>Here image on left side and text on right side</a:t>
            </a:r>
            <a:endParaRPr lang="en-GB" dirty="0"/>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969" y="5499217"/>
            <a:ext cx="6875219"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1580378" y="6119443"/>
            <a:ext cx="4106445" cy="369332"/>
          </a:xfrm>
          <a:prstGeom prst="rect">
            <a:avLst/>
          </a:prstGeom>
          <a:noFill/>
        </p:spPr>
        <p:txBody>
          <a:bodyPr wrap="none" rtlCol="0">
            <a:spAutoFit/>
          </a:bodyPr>
          <a:lstStyle/>
          <a:p>
            <a:r>
              <a:rPr lang="en-US" dirty="0" smtClean="0"/>
              <a:t>Here </a:t>
            </a:r>
            <a:r>
              <a:rPr lang="en-US" dirty="0" err="1" smtClean="0"/>
              <a:t>nav</a:t>
            </a:r>
            <a:r>
              <a:rPr lang="en-US" dirty="0" smtClean="0"/>
              <a:t> items are displayed on right side</a:t>
            </a:r>
            <a:endParaRPr lang="en-GB" dirty="0"/>
          </a:p>
        </p:txBody>
      </p:sp>
    </p:spTree>
    <p:extLst>
      <p:ext uri="{BB962C8B-B14F-4D97-AF65-F5344CB8AC3E}">
        <p14:creationId xmlns:p14="http://schemas.microsoft.com/office/powerpoint/2010/main" val="181038659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Flexbox</a:t>
            </a:r>
            <a:r>
              <a:rPr lang="en-US" dirty="0" smtClean="0"/>
              <a:t> Layout</a:t>
            </a:r>
            <a:endParaRPr lang="en-GB" dirty="0"/>
          </a:p>
        </p:txBody>
      </p:sp>
      <p:sp>
        <p:nvSpPr>
          <p:cNvPr id="3" name="Content Placeholder 2"/>
          <p:cNvSpPr>
            <a:spLocks noGrp="1"/>
          </p:cNvSpPr>
          <p:nvPr>
            <p:ph idx="1"/>
          </p:nvPr>
        </p:nvSpPr>
        <p:spPr>
          <a:xfrm>
            <a:off x="838200" y="1559169"/>
            <a:ext cx="10515600" cy="5029200"/>
          </a:xfrm>
        </p:spPr>
        <p:txBody>
          <a:bodyPr>
            <a:normAutofit/>
          </a:bodyPr>
          <a:lstStyle/>
          <a:p>
            <a:pPr marL="0" indent="0" algn="just">
              <a:buNone/>
            </a:pPr>
            <a:r>
              <a:rPr lang="en-US" dirty="0" err="1" smtClean="0">
                <a:solidFill>
                  <a:srgbClr val="FF0000"/>
                </a:solidFill>
              </a:rPr>
              <a:t>Flexbox</a:t>
            </a:r>
            <a:r>
              <a:rPr lang="en-US" dirty="0">
                <a:solidFill>
                  <a:srgbClr val="FF0000"/>
                </a:solidFill>
              </a:rPr>
              <a:t> </a:t>
            </a:r>
            <a:r>
              <a:rPr lang="en-US" dirty="0" smtClean="0"/>
              <a:t>(Flexible Box) is </a:t>
            </a:r>
            <a:r>
              <a:rPr lang="en-US" dirty="0"/>
              <a:t>a one-dimensional layout method for arranging items in rows or columns</a:t>
            </a:r>
            <a:r>
              <a:rPr lang="en-US" dirty="0" smtClean="0"/>
              <a:t>. Before </a:t>
            </a:r>
            <a:r>
              <a:rPr lang="en-US" dirty="0" err="1" smtClean="0"/>
              <a:t>Flexbox</a:t>
            </a:r>
            <a:r>
              <a:rPr lang="en-US" dirty="0" smtClean="0"/>
              <a:t> (2017) float and positioning layouts were reliable for cross-browser tools. The </a:t>
            </a:r>
            <a:r>
              <a:rPr lang="en-US" dirty="0"/>
              <a:t>Flexible Box Layout Module, makes it easier to design flexible responsive layout structure without using float or positioning.</a:t>
            </a:r>
            <a:endParaRPr lang="en-US" dirty="0" smtClean="0"/>
          </a:p>
          <a:p>
            <a:pPr marL="0" indent="0">
              <a:buNone/>
            </a:pPr>
            <a:r>
              <a:rPr lang="en-US" dirty="0" smtClean="0"/>
              <a:t>CSS use display property to decide the layout model.</a:t>
            </a:r>
          </a:p>
          <a:p>
            <a:pPr marL="457200" lvl="1" indent="0">
              <a:buNone/>
            </a:pPr>
            <a:r>
              <a:rPr lang="en-US" dirty="0">
                <a:solidFill>
                  <a:srgbClr val="FF0000"/>
                </a:solidFill>
              </a:rPr>
              <a:t>d</a:t>
            </a:r>
            <a:r>
              <a:rPr lang="en-US" dirty="0" smtClean="0">
                <a:solidFill>
                  <a:srgbClr val="FF0000"/>
                </a:solidFill>
              </a:rPr>
              <a:t>isplay: flex</a:t>
            </a:r>
          </a:p>
          <a:p>
            <a:pPr marL="457200" lvl="1" indent="0">
              <a:buNone/>
            </a:pPr>
            <a:endParaRPr lang="en-US" dirty="0" smtClean="0">
              <a:solidFill>
                <a:srgbClr val="FF0000"/>
              </a:solidFill>
            </a:endParaRPr>
          </a:p>
          <a:p>
            <a:pPr marL="0" indent="0">
              <a:buNone/>
            </a:pPr>
            <a:r>
              <a:rPr lang="en-US" dirty="0" smtClean="0"/>
              <a:t>In above figure container is displayed as block-level content. To display container as inline content, use the value inline-flex as</a:t>
            </a:r>
          </a:p>
          <a:p>
            <a:pPr marL="457200" lvl="1" indent="0">
              <a:buNone/>
            </a:pPr>
            <a:r>
              <a:rPr lang="en-US" dirty="0" err="1" smtClean="0">
                <a:solidFill>
                  <a:srgbClr val="FF0000"/>
                </a:solidFill>
              </a:rPr>
              <a:t>display:inline-flex</a:t>
            </a:r>
            <a:r>
              <a:rPr lang="en-US" dirty="0" smtClean="0"/>
              <a:t>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4104" y="5648681"/>
            <a:ext cx="2114550"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3787" y="4005256"/>
            <a:ext cx="5848350"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356112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05767"/>
          </a:xfrm>
        </p:spPr>
        <p:txBody>
          <a:bodyPr/>
          <a:lstStyle/>
          <a:p>
            <a:r>
              <a:rPr lang="en-US" dirty="0" smtClean="0"/>
              <a:t>The Flex model</a:t>
            </a:r>
            <a:endParaRPr lang="en-GB" dirty="0"/>
          </a:p>
        </p:txBody>
      </p:sp>
      <p:sp>
        <p:nvSpPr>
          <p:cNvPr id="3" name="Content Placeholder 2"/>
          <p:cNvSpPr>
            <a:spLocks noGrp="1"/>
          </p:cNvSpPr>
          <p:nvPr>
            <p:ph idx="1"/>
          </p:nvPr>
        </p:nvSpPr>
        <p:spPr>
          <a:xfrm>
            <a:off x="290514" y="1441938"/>
            <a:ext cx="11362224" cy="4735025"/>
          </a:xfrm>
        </p:spPr>
        <p:txBody>
          <a:bodyPr/>
          <a:lstStyle/>
          <a:p>
            <a:pPr marL="0" indent="0">
              <a:buNone/>
            </a:pPr>
            <a:r>
              <a:rPr lang="en-US" sz="2400" dirty="0" smtClean="0"/>
              <a:t>All items inside </a:t>
            </a:r>
            <a:r>
              <a:rPr lang="en-US" sz="2400" dirty="0" err="1" smtClean="0"/>
              <a:t>Flexbox</a:t>
            </a:r>
            <a:r>
              <a:rPr lang="en-US" sz="2400" dirty="0" smtClean="0"/>
              <a:t> layout are placed in term of row or column. The flex-direction property  defines in which direction the container wants to stack the flex items.</a:t>
            </a:r>
          </a:p>
          <a:p>
            <a:pPr marL="0" indent="0" algn="ctr">
              <a:buNone/>
            </a:pPr>
            <a:r>
              <a:rPr lang="en-US" sz="2400" dirty="0" smtClean="0">
                <a:solidFill>
                  <a:srgbClr val="FF0000"/>
                </a:solidFill>
              </a:rPr>
              <a:t>flex-direction: row (default)|column | row-reverse | column-reverse</a:t>
            </a:r>
            <a:endParaRPr lang="en-GB" sz="2400" dirty="0">
              <a:solidFill>
                <a:srgbClr val="FF0000"/>
              </a:solidFill>
            </a:endParaRPr>
          </a:p>
          <a:p>
            <a:pPr marL="0" indent="0">
              <a:buNone/>
            </a:pPr>
            <a:endParaRPr lang="en-US" sz="2400" dirty="0" smtClean="0"/>
          </a:p>
          <a:p>
            <a:pPr marL="0" indent="0">
              <a:buNone/>
            </a:pPr>
            <a:endParaRPr lang="en-US" sz="2400"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GB" dirty="0"/>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514" y="5527430"/>
            <a:ext cx="5535856" cy="1159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3230" y="5483136"/>
            <a:ext cx="5712069" cy="120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083" y="2666268"/>
            <a:ext cx="5180506" cy="2624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0954" y="2689713"/>
            <a:ext cx="5209792" cy="2609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979097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Flexbox</a:t>
            </a:r>
            <a:r>
              <a:rPr lang="en-US" dirty="0" smtClean="0"/>
              <a:t> main-axis </a:t>
            </a:r>
            <a:r>
              <a:rPr lang="en-US" dirty="0" err="1" smtClean="0"/>
              <a:t>vs</a:t>
            </a:r>
            <a:r>
              <a:rPr lang="en-US" dirty="0" smtClean="0"/>
              <a:t> cross-axis</a:t>
            </a:r>
            <a:endParaRPr lang="en-GB" dirty="0"/>
          </a:p>
        </p:txBody>
      </p:sp>
      <p:sp>
        <p:nvSpPr>
          <p:cNvPr id="3" name="Content Placeholder 2"/>
          <p:cNvSpPr>
            <a:spLocks noGrp="1"/>
          </p:cNvSpPr>
          <p:nvPr>
            <p:ph idx="1"/>
          </p:nvPr>
        </p:nvSpPr>
        <p:spPr/>
        <p:txBody>
          <a:bodyPr/>
          <a:lstStyle/>
          <a:p>
            <a:pPr marL="0" indent="0">
              <a:buNone/>
            </a:pPr>
            <a:r>
              <a:rPr lang="en-US" dirty="0"/>
              <a:t>All items inside </a:t>
            </a:r>
            <a:r>
              <a:rPr lang="en-US" dirty="0" err="1"/>
              <a:t>Flexbox</a:t>
            </a:r>
            <a:r>
              <a:rPr lang="en-US" dirty="0"/>
              <a:t> layout are placed in term </a:t>
            </a:r>
            <a:r>
              <a:rPr lang="en-US" dirty="0" smtClean="0"/>
              <a:t>of </a:t>
            </a:r>
            <a:r>
              <a:rPr lang="en-US" dirty="0"/>
              <a:t>two axes – the main axis or cross axis defined by flex-direction property. </a:t>
            </a: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pic>
        <p:nvPicPr>
          <p:cNvPr id="5" name="Picture 2" descr="Three flex items in a left-to-right language are laid out side-by-side in a flex container. The main axis — the axis of the flex container in the direction in which the flex items are laid out — is horizontal. The ends of the axis are main-start and main-end and are on the left and right respectively. The cross axis is vertical; perpendicular to the main axis. The cross-start and cross-end are at the top and bottom respectively. The length of the flex item along the main axis, in this case, the width, is called the main size, and the length of the flex item along the cross axis, in this case, the height, is called the cross siz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7327" y="2727687"/>
            <a:ext cx="4885348" cy="2889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3274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Flexbox</a:t>
            </a:r>
            <a:r>
              <a:rPr lang="en-US" dirty="0" smtClean="0"/>
              <a:t> Properties</a:t>
            </a:r>
            <a:endParaRPr lang="en-GB" dirty="0"/>
          </a:p>
        </p:txBody>
      </p:sp>
      <p:sp>
        <p:nvSpPr>
          <p:cNvPr id="3" name="Content Placeholder 2"/>
          <p:cNvSpPr>
            <a:spLocks noGrp="1"/>
          </p:cNvSpPr>
          <p:nvPr>
            <p:ph idx="1"/>
          </p:nvPr>
        </p:nvSpPr>
        <p:spPr/>
        <p:txBody>
          <a:bodyPr/>
          <a:lstStyle/>
          <a:p>
            <a:pPr marL="0" indent="0">
              <a:buNone/>
            </a:pPr>
            <a:r>
              <a:rPr lang="en-US" dirty="0" smtClean="0"/>
              <a:t>flex-wrap: This </a:t>
            </a:r>
            <a:r>
              <a:rPr lang="en-US" dirty="0"/>
              <a:t>sets whether flex items are forced onto one line or can wrap onto multiple lines</a:t>
            </a:r>
            <a:r>
              <a:rPr lang="en-US" dirty="0" smtClean="0"/>
              <a:t>.</a:t>
            </a:r>
          </a:p>
          <a:p>
            <a:pPr marL="457200" lvl="1" indent="0">
              <a:buNone/>
            </a:pPr>
            <a:r>
              <a:rPr lang="en-US" dirty="0">
                <a:solidFill>
                  <a:srgbClr val="FF0000"/>
                </a:solidFill>
              </a:rPr>
              <a:t>f</a:t>
            </a:r>
            <a:r>
              <a:rPr lang="en-US" dirty="0" smtClean="0">
                <a:solidFill>
                  <a:srgbClr val="FF0000"/>
                </a:solidFill>
              </a:rPr>
              <a:t>lex-wrap: </a:t>
            </a:r>
            <a:r>
              <a:rPr lang="en-US" dirty="0" err="1" smtClean="0">
                <a:solidFill>
                  <a:srgbClr val="FF0000"/>
                </a:solidFill>
              </a:rPr>
              <a:t>nowrap</a:t>
            </a:r>
            <a:r>
              <a:rPr lang="en-US" dirty="0" smtClean="0">
                <a:solidFill>
                  <a:srgbClr val="FF0000"/>
                </a:solidFill>
              </a:rPr>
              <a:t> (default) | wrap | wrap-reverse;</a:t>
            </a:r>
          </a:p>
          <a:p>
            <a:pPr lvl="1"/>
            <a:r>
              <a:rPr lang="en-US" b="1" dirty="0"/>
              <a:t>w</a:t>
            </a:r>
            <a:r>
              <a:rPr lang="en-US" b="1" dirty="0" smtClean="0"/>
              <a:t>rap:</a:t>
            </a:r>
            <a:r>
              <a:rPr lang="en-US" dirty="0" smtClean="0"/>
              <a:t> The </a:t>
            </a:r>
            <a:r>
              <a:rPr lang="en-US" dirty="0" err="1" smtClean="0"/>
              <a:t>flexbox</a:t>
            </a:r>
            <a:r>
              <a:rPr lang="en-US" dirty="0" smtClean="0"/>
              <a:t> is multiline</a:t>
            </a:r>
          </a:p>
          <a:p>
            <a:pPr lvl="1"/>
            <a:r>
              <a:rPr lang="en-US" b="1" dirty="0" err="1" smtClean="0"/>
              <a:t>nowrap</a:t>
            </a:r>
            <a:r>
              <a:rPr lang="en-US" b="1" dirty="0"/>
              <a:t>:</a:t>
            </a:r>
            <a:r>
              <a:rPr lang="en-US" dirty="0"/>
              <a:t> The flex containers is a single line</a:t>
            </a:r>
          </a:p>
          <a:p>
            <a:pPr lvl="1"/>
            <a:r>
              <a:rPr lang="en-US" b="1" dirty="0" smtClean="0"/>
              <a:t>wrap-reverse:</a:t>
            </a:r>
            <a:r>
              <a:rPr lang="en-US" dirty="0" smtClean="0"/>
              <a:t>  same as ‘wrap’ except the cross-start and cross-end‘’ directions are swapped.</a:t>
            </a:r>
          </a:p>
          <a:p>
            <a:pPr marL="0" indent="0">
              <a:buNone/>
            </a:pPr>
            <a:r>
              <a:rPr lang="en-US" dirty="0" smtClean="0"/>
              <a:t>flex-flow: This is shorthand for the flex-direction and flex-wrap</a:t>
            </a:r>
          </a:p>
          <a:p>
            <a:pPr marL="457200" lvl="1" indent="0">
              <a:buNone/>
            </a:pPr>
            <a:r>
              <a:rPr lang="en-US" dirty="0" smtClean="0">
                <a:solidFill>
                  <a:srgbClr val="FF0000"/>
                </a:solidFill>
              </a:rPr>
              <a:t>flex-flow: column wrap</a:t>
            </a:r>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90633349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Alignment Property (</a:t>
            </a:r>
            <a:r>
              <a:rPr lang="en-US" sz="3600" dirty="0" smtClean="0"/>
              <a:t>justify-content</a:t>
            </a:r>
            <a:r>
              <a:rPr lang="en-US" dirty="0" smtClean="0"/>
              <a:t>)</a:t>
            </a:r>
            <a:endParaRPr lang="en-GB" dirty="0"/>
          </a:p>
        </p:txBody>
      </p:sp>
      <p:sp>
        <p:nvSpPr>
          <p:cNvPr id="3" name="Content Placeholder 2"/>
          <p:cNvSpPr>
            <a:spLocks noGrp="1"/>
          </p:cNvSpPr>
          <p:nvPr>
            <p:ph idx="1"/>
          </p:nvPr>
        </p:nvSpPr>
        <p:spPr/>
        <p:txBody>
          <a:bodyPr/>
          <a:lstStyle/>
          <a:p>
            <a:pPr marL="0" indent="0">
              <a:buNone/>
            </a:pPr>
            <a:r>
              <a:rPr lang="en-US" dirty="0" smtClean="0"/>
              <a:t>The justify-content property is used to align the flex item. This define the alignment along the </a:t>
            </a:r>
            <a:r>
              <a:rPr lang="en-US" b="1" dirty="0" smtClean="0"/>
              <a:t>main axis</a:t>
            </a:r>
            <a:r>
              <a:rPr lang="en-US" dirty="0" smtClean="0"/>
              <a:t>.</a:t>
            </a:r>
          </a:p>
          <a:p>
            <a:pPr marL="0" indent="0" algn="ctr">
              <a:buNone/>
            </a:pPr>
            <a:r>
              <a:rPr lang="en-US" sz="2000" dirty="0" smtClean="0">
                <a:solidFill>
                  <a:srgbClr val="FF0000"/>
                </a:solidFill>
              </a:rPr>
              <a:t>justify-content:   center | flex-start | flex-end | space-around | space-between | space-evenly </a:t>
            </a:r>
            <a:endParaRPr lang="en-GB" sz="2000" dirty="0">
              <a:solidFill>
                <a:srgbClr val="FF0000"/>
              </a:solidFill>
            </a:endParaRPr>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6557" y="3166099"/>
            <a:ext cx="4700587" cy="3375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965932" y="3320534"/>
            <a:ext cx="787588" cy="369332"/>
          </a:xfrm>
          <a:prstGeom prst="rect">
            <a:avLst/>
          </a:prstGeom>
          <a:noFill/>
        </p:spPr>
        <p:txBody>
          <a:bodyPr wrap="none" rtlCol="0">
            <a:spAutoFit/>
          </a:bodyPr>
          <a:lstStyle/>
          <a:p>
            <a:r>
              <a:rPr lang="en-US" dirty="0"/>
              <a:t>c</a:t>
            </a:r>
            <a:r>
              <a:rPr lang="en-US" dirty="0" smtClean="0"/>
              <a:t>enter</a:t>
            </a:r>
            <a:endParaRPr lang="en-GB" dirty="0"/>
          </a:p>
        </p:txBody>
      </p:sp>
      <p:sp>
        <p:nvSpPr>
          <p:cNvPr id="6" name="TextBox 5"/>
          <p:cNvSpPr txBox="1"/>
          <p:nvPr/>
        </p:nvSpPr>
        <p:spPr>
          <a:xfrm>
            <a:off x="2778365" y="3962401"/>
            <a:ext cx="1018997" cy="369332"/>
          </a:xfrm>
          <a:prstGeom prst="rect">
            <a:avLst/>
          </a:prstGeom>
          <a:noFill/>
        </p:spPr>
        <p:txBody>
          <a:bodyPr wrap="none" rtlCol="0">
            <a:spAutoFit/>
          </a:bodyPr>
          <a:lstStyle/>
          <a:p>
            <a:r>
              <a:rPr lang="en-US" dirty="0" smtClean="0"/>
              <a:t>flex-start</a:t>
            </a:r>
            <a:endParaRPr lang="en-GB" dirty="0"/>
          </a:p>
        </p:txBody>
      </p:sp>
      <p:sp>
        <p:nvSpPr>
          <p:cNvPr id="7" name="TextBox 6"/>
          <p:cNvSpPr txBox="1"/>
          <p:nvPr/>
        </p:nvSpPr>
        <p:spPr>
          <a:xfrm>
            <a:off x="2825257" y="4654498"/>
            <a:ext cx="949042" cy="369332"/>
          </a:xfrm>
          <a:prstGeom prst="rect">
            <a:avLst/>
          </a:prstGeom>
          <a:noFill/>
        </p:spPr>
        <p:txBody>
          <a:bodyPr wrap="none" rtlCol="0">
            <a:spAutoFit/>
          </a:bodyPr>
          <a:lstStyle/>
          <a:p>
            <a:r>
              <a:rPr lang="en-US" dirty="0"/>
              <a:t>f</a:t>
            </a:r>
            <a:r>
              <a:rPr lang="en-US" dirty="0" smtClean="0"/>
              <a:t>lex-end</a:t>
            </a:r>
            <a:endParaRPr lang="en-GB" dirty="0"/>
          </a:p>
        </p:txBody>
      </p:sp>
      <p:sp>
        <p:nvSpPr>
          <p:cNvPr id="8" name="TextBox 7"/>
          <p:cNvSpPr txBox="1"/>
          <p:nvPr/>
        </p:nvSpPr>
        <p:spPr>
          <a:xfrm>
            <a:off x="2285996" y="5334010"/>
            <a:ext cx="1464953" cy="369332"/>
          </a:xfrm>
          <a:prstGeom prst="rect">
            <a:avLst/>
          </a:prstGeom>
          <a:noFill/>
        </p:spPr>
        <p:txBody>
          <a:bodyPr wrap="none" rtlCol="0">
            <a:spAutoFit/>
          </a:bodyPr>
          <a:lstStyle/>
          <a:p>
            <a:r>
              <a:rPr lang="en-US" dirty="0"/>
              <a:t>s</a:t>
            </a:r>
            <a:r>
              <a:rPr lang="en-US" dirty="0" smtClean="0"/>
              <a:t>pace-around</a:t>
            </a:r>
            <a:endParaRPr lang="en-GB" dirty="0"/>
          </a:p>
        </p:txBody>
      </p:sp>
      <p:sp>
        <p:nvSpPr>
          <p:cNvPr id="9" name="TextBox 8"/>
          <p:cNvSpPr txBox="1"/>
          <p:nvPr/>
        </p:nvSpPr>
        <p:spPr>
          <a:xfrm>
            <a:off x="2157037" y="6060836"/>
            <a:ext cx="1619289" cy="369332"/>
          </a:xfrm>
          <a:prstGeom prst="rect">
            <a:avLst/>
          </a:prstGeom>
          <a:noFill/>
        </p:spPr>
        <p:txBody>
          <a:bodyPr wrap="none" rtlCol="0">
            <a:spAutoFit/>
          </a:bodyPr>
          <a:lstStyle/>
          <a:p>
            <a:r>
              <a:rPr lang="en-US" dirty="0"/>
              <a:t>s</a:t>
            </a:r>
            <a:r>
              <a:rPr lang="en-US" dirty="0" smtClean="0"/>
              <a:t>pace-between</a:t>
            </a:r>
            <a:endParaRPr lang="en-GB" dirty="0"/>
          </a:p>
        </p:txBody>
      </p:sp>
    </p:spTree>
    <p:extLst>
      <p:ext uri="{BB962C8B-B14F-4D97-AF65-F5344CB8AC3E}">
        <p14:creationId xmlns:p14="http://schemas.microsoft.com/office/powerpoint/2010/main" val="80091836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Alignment Property (</a:t>
            </a:r>
            <a:r>
              <a:rPr lang="en-US" sz="3600" dirty="0" smtClean="0"/>
              <a:t>align-content</a:t>
            </a:r>
            <a:r>
              <a:rPr lang="en-US" dirty="0" smtClean="0"/>
              <a:t>)</a:t>
            </a:r>
            <a:endParaRPr lang="en-GB" dirty="0"/>
          </a:p>
        </p:txBody>
      </p:sp>
      <p:sp>
        <p:nvSpPr>
          <p:cNvPr id="3" name="Content Placeholder 2"/>
          <p:cNvSpPr>
            <a:spLocks noGrp="1"/>
          </p:cNvSpPr>
          <p:nvPr>
            <p:ph idx="1"/>
          </p:nvPr>
        </p:nvSpPr>
        <p:spPr>
          <a:xfrm>
            <a:off x="838200" y="1758462"/>
            <a:ext cx="10978662" cy="4443046"/>
          </a:xfrm>
        </p:spPr>
        <p:txBody>
          <a:bodyPr>
            <a:normAutofit/>
          </a:bodyPr>
          <a:lstStyle/>
          <a:p>
            <a:pPr marL="0" indent="0">
              <a:buNone/>
            </a:pPr>
            <a:r>
              <a:rPr lang="en-US" dirty="0"/>
              <a:t>align-content aligns the entire set of flex lines (not individual items) within the flex container</a:t>
            </a:r>
            <a:r>
              <a:rPr lang="en-US" dirty="0" smtClean="0"/>
              <a:t>. The values could be</a:t>
            </a:r>
          </a:p>
          <a:p>
            <a:pPr lvl="1"/>
            <a:r>
              <a:rPr lang="en-US" b="1" dirty="0" smtClean="0"/>
              <a:t>flex-start </a:t>
            </a:r>
          </a:p>
          <a:p>
            <a:pPr lvl="1"/>
            <a:r>
              <a:rPr lang="en-US" b="1" dirty="0" smtClean="0"/>
              <a:t>flex-end</a:t>
            </a:r>
          </a:p>
          <a:p>
            <a:pPr lvl="1"/>
            <a:r>
              <a:rPr lang="en-US" b="1" dirty="0" smtClean="0"/>
              <a:t>Center</a:t>
            </a:r>
          </a:p>
          <a:p>
            <a:pPr lvl="1"/>
            <a:r>
              <a:rPr lang="en-US" b="1" dirty="0" smtClean="0"/>
              <a:t>space-between</a:t>
            </a:r>
          </a:p>
          <a:p>
            <a:pPr lvl="1"/>
            <a:r>
              <a:rPr lang="en-US" b="1" dirty="0" smtClean="0"/>
              <a:t>space-around</a:t>
            </a:r>
          </a:p>
          <a:p>
            <a:pPr lvl="1"/>
            <a:r>
              <a:rPr lang="en-US" b="1" dirty="0" smtClean="0"/>
              <a:t>space-evenly</a:t>
            </a:r>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1723" y="2874714"/>
            <a:ext cx="7491047" cy="3463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047605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Flexbox</a:t>
            </a:r>
            <a:r>
              <a:rPr lang="en-US" dirty="0" smtClean="0"/>
              <a:t> Properties</a:t>
            </a:r>
            <a:endParaRPr lang="en-GB" dirty="0"/>
          </a:p>
        </p:txBody>
      </p:sp>
      <p:sp>
        <p:nvSpPr>
          <p:cNvPr id="3" name="Content Placeholder 2"/>
          <p:cNvSpPr>
            <a:spLocks noGrp="1"/>
          </p:cNvSpPr>
          <p:nvPr>
            <p:ph idx="1"/>
          </p:nvPr>
        </p:nvSpPr>
        <p:spPr/>
        <p:txBody>
          <a:bodyPr/>
          <a:lstStyle/>
          <a:p>
            <a:pPr marL="0" indent="0">
              <a:buNone/>
            </a:pPr>
            <a:r>
              <a:rPr lang="en-US" b="1" dirty="0"/>
              <a:t>g</a:t>
            </a:r>
            <a:r>
              <a:rPr lang="en-US" b="1" dirty="0" smtClean="0"/>
              <a:t>ap:</a:t>
            </a:r>
            <a:r>
              <a:rPr lang="en-US" dirty="0" smtClean="0"/>
              <a:t> The gap property explicitly </a:t>
            </a:r>
            <a:r>
              <a:rPr lang="en-US" dirty="0"/>
              <a:t>controls the space between flex items</a:t>
            </a:r>
            <a:r>
              <a:rPr lang="en-US" dirty="0" smtClean="0"/>
              <a:t>. It can gap: | row-gap | column-gap</a:t>
            </a:r>
          </a:p>
          <a:p>
            <a:pPr marL="0" indent="0">
              <a:buNone/>
            </a:pPr>
            <a:endParaRPr lang="en-US" dirty="0"/>
          </a:p>
          <a:p>
            <a:pPr marL="0" indent="0">
              <a:buNone/>
            </a:pPr>
            <a:endParaRPr lang="en-US" dirty="0" smtClean="0"/>
          </a:p>
          <a:p>
            <a:pPr marL="0" indent="0">
              <a:buNone/>
            </a:pPr>
            <a:endParaRPr lang="en-US" sz="2400" dirty="0"/>
          </a:p>
          <a:p>
            <a:pPr marL="0" indent="0">
              <a:buNone/>
            </a:pPr>
            <a:endParaRPr lang="en-US" sz="900" b="1" dirty="0" smtClean="0"/>
          </a:p>
          <a:p>
            <a:pPr marL="0" indent="0">
              <a:buNone/>
            </a:pPr>
            <a:r>
              <a:rPr lang="en-US" b="1" dirty="0" smtClean="0"/>
              <a:t>Perfect Center:</a:t>
            </a:r>
            <a:r>
              <a:rPr lang="en-US" dirty="0" smtClean="0"/>
              <a:t>- To align flex item perfectly center, use the justify-content and align-items properties. </a:t>
            </a:r>
          </a:p>
          <a:p>
            <a:pPr marL="0" indent="0">
              <a:buNone/>
            </a:pPr>
            <a:endParaRPr lang="en-GB" dirty="0"/>
          </a:p>
        </p:txBody>
      </p:sp>
      <p:sp>
        <p:nvSpPr>
          <p:cNvPr id="5" name="TextBox 4"/>
          <p:cNvSpPr txBox="1"/>
          <p:nvPr/>
        </p:nvSpPr>
        <p:spPr>
          <a:xfrm>
            <a:off x="7444078" y="2438400"/>
            <a:ext cx="4240456" cy="2031325"/>
          </a:xfrm>
          <a:prstGeom prst="rect">
            <a:avLst/>
          </a:prstGeom>
          <a:noFill/>
        </p:spPr>
        <p:txBody>
          <a:bodyPr wrap="none" rtlCol="0">
            <a:spAutoFit/>
          </a:bodyPr>
          <a:lstStyle/>
          <a:p>
            <a:r>
              <a:rPr lang="en-GB" dirty="0"/>
              <a:t>container {</a:t>
            </a:r>
          </a:p>
          <a:p>
            <a:r>
              <a:rPr lang="en-GB" dirty="0"/>
              <a:t>  display: flex</a:t>
            </a:r>
            <a:r>
              <a:rPr lang="en-GB" dirty="0" smtClean="0"/>
              <a:t>;</a:t>
            </a:r>
            <a:endParaRPr lang="en-GB" dirty="0"/>
          </a:p>
          <a:p>
            <a:r>
              <a:rPr lang="en-GB" dirty="0"/>
              <a:t>  gap: 10px;</a:t>
            </a:r>
          </a:p>
          <a:p>
            <a:r>
              <a:rPr lang="en-GB" dirty="0"/>
              <a:t>  gap: 10px 20px; /* row-gap column gap */</a:t>
            </a:r>
          </a:p>
          <a:p>
            <a:r>
              <a:rPr lang="en-GB" dirty="0"/>
              <a:t>  row-gap: 10px;</a:t>
            </a:r>
          </a:p>
          <a:p>
            <a:r>
              <a:rPr lang="en-GB" dirty="0"/>
              <a:t>  column-gap: 20px;</a:t>
            </a:r>
          </a:p>
          <a:p>
            <a:r>
              <a:rPr lang="en-GB" dirty="0"/>
              <a:t>}</a:t>
            </a:r>
          </a:p>
        </p:txBody>
      </p:sp>
      <p:sp>
        <p:nvSpPr>
          <p:cNvPr id="6" name="TextBox 5"/>
          <p:cNvSpPr txBox="1"/>
          <p:nvPr/>
        </p:nvSpPr>
        <p:spPr>
          <a:xfrm>
            <a:off x="7420720" y="4982307"/>
            <a:ext cx="2593723" cy="1754326"/>
          </a:xfrm>
          <a:prstGeom prst="rect">
            <a:avLst/>
          </a:prstGeom>
          <a:noFill/>
        </p:spPr>
        <p:txBody>
          <a:bodyPr wrap="none" rtlCol="0">
            <a:spAutoFit/>
          </a:bodyPr>
          <a:lstStyle/>
          <a:p>
            <a:r>
              <a:rPr lang="en-GB" dirty="0"/>
              <a:t>.flex-container {</a:t>
            </a:r>
          </a:p>
          <a:p>
            <a:r>
              <a:rPr lang="en-GB" dirty="0"/>
              <a:t>  </a:t>
            </a:r>
            <a:r>
              <a:rPr lang="en-GB" dirty="0" smtClean="0"/>
              <a:t>   display</a:t>
            </a:r>
            <a:r>
              <a:rPr lang="en-GB" dirty="0"/>
              <a:t>: flex;</a:t>
            </a:r>
          </a:p>
          <a:p>
            <a:r>
              <a:rPr lang="en-GB" dirty="0"/>
              <a:t>  </a:t>
            </a:r>
            <a:r>
              <a:rPr lang="en-GB" dirty="0" smtClean="0"/>
              <a:t>   height</a:t>
            </a:r>
            <a:r>
              <a:rPr lang="en-GB" dirty="0"/>
              <a:t>: 300px;</a:t>
            </a:r>
          </a:p>
          <a:p>
            <a:r>
              <a:rPr lang="en-GB" dirty="0"/>
              <a:t>  </a:t>
            </a:r>
            <a:r>
              <a:rPr lang="en-GB" dirty="0" smtClean="0"/>
              <a:t>   justify-content</a:t>
            </a:r>
            <a:r>
              <a:rPr lang="en-GB" dirty="0"/>
              <a:t>: </a:t>
            </a:r>
            <a:r>
              <a:rPr lang="en-GB" dirty="0" err="1"/>
              <a:t>center</a:t>
            </a:r>
            <a:r>
              <a:rPr lang="en-GB" dirty="0"/>
              <a:t>;</a:t>
            </a:r>
          </a:p>
          <a:p>
            <a:r>
              <a:rPr lang="en-GB" dirty="0"/>
              <a:t>  </a:t>
            </a:r>
            <a:r>
              <a:rPr lang="en-GB" dirty="0" smtClean="0"/>
              <a:t>   align-items</a:t>
            </a:r>
            <a:r>
              <a:rPr lang="en-GB" dirty="0"/>
              <a:t>: </a:t>
            </a:r>
            <a:r>
              <a:rPr lang="en-GB" dirty="0" err="1"/>
              <a:t>center</a:t>
            </a:r>
            <a:r>
              <a:rPr lang="en-GB" dirty="0"/>
              <a:t>;</a:t>
            </a:r>
          </a:p>
          <a:p>
            <a:r>
              <a:rPr lang="en-GB" dirty="0"/>
              <a:t>}</a:t>
            </a:r>
          </a:p>
        </p:txBody>
      </p:sp>
    </p:spTree>
    <p:extLst>
      <p:ext uri="{BB962C8B-B14F-4D97-AF65-F5344CB8AC3E}">
        <p14:creationId xmlns:p14="http://schemas.microsoft.com/office/powerpoint/2010/main" val="40123650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Flex Example</a:t>
            </a:r>
            <a:endParaRPr lang="en-GB"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969" y="1470880"/>
            <a:ext cx="10659264" cy="5140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930387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6583" y="211032"/>
            <a:ext cx="3763109" cy="889244"/>
          </a:xfrm>
        </p:spPr>
        <p:txBody>
          <a:bodyPr/>
          <a:lstStyle/>
          <a:p>
            <a:pPr algn="ctr"/>
            <a:r>
              <a:rPr lang="en-US" dirty="0" smtClean="0"/>
              <a:t>Flex Example</a:t>
            </a:r>
            <a:endParaRPr lang="en-GB" dirty="0"/>
          </a:p>
        </p:txBody>
      </p:sp>
      <p:sp>
        <p:nvSpPr>
          <p:cNvPr id="5" name="TextBox 4"/>
          <p:cNvSpPr txBox="1"/>
          <p:nvPr/>
        </p:nvSpPr>
        <p:spPr>
          <a:xfrm>
            <a:off x="281354" y="844066"/>
            <a:ext cx="4397166" cy="5909310"/>
          </a:xfrm>
          <a:prstGeom prst="rect">
            <a:avLst/>
          </a:prstGeom>
          <a:noFill/>
        </p:spPr>
        <p:txBody>
          <a:bodyPr wrap="none" rtlCol="0">
            <a:spAutoFit/>
          </a:bodyPr>
          <a:lstStyle/>
          <a:p>
            <a:r>
              <a:rPr lang="en-GB" sz="1600" dirty="0"/>
              <a:t>&lt;body&gt;   </a:t>
            </a:r>
          </a:p>
          <a:p>
            <a:r>
              <a:rPr lang="en-GB" sz="1600" dirty="0"/>
              <a:t>    &lt;div class="container"&gt;</a:t>
            </a:r>
          </a:p>
          <a:p>
            <a:r>
              <a:rPr lang="en-GB" sz="1600" dirty="0"/>
              <a:t>    &lt;!-- Main Header --&gt;</a:t>
            </a:r>
          </a:p>
          <a:p>
            <a:r>
              <a:rPr lang="en-GB" sz="1600" dirty="0"/>
              <a:t>    &lt;div class="header"&gt;</a:t>
            </a:r>
          </a:p>
          <a:p>
            <a:r>
              <a:rPr lang="en-GB" sz="1600" dirty="0"/>
              <a:t>        &lt;div&gt; Logo&lt;/div&gt;</a:t>
            </a:r>
          </a:p>
          <a:p>
            <a:r>
              <a:rPr lang="en-GB" sz="1600" dirty="0"/>
              <a:t>        &lt;</a:t>
            </a:r>
            <a:r>
              <a:rPr lang="en-GB" sz="1600" dirty="0" err="1"/>
              <a:t>ul</a:t>
            </a:r>
            <a:r>
              <a:rPr lang="en-GB" sz="1600" dirty="0"/>
              <a:t>&gt;</a:t>
            </a:r>
          </a:p>
          <a:p>
            <a:r>
              <a:rPr lang="en-GB" sz="1600" dirty="0"/>
              <a:t>            &lt;li&gt;Home&lt;/li&gt;</a:t>
            </a:r>
          </a:p>
          <a:p>
            <a:r>
              <a:rPr lang="en-GB" sz="1600" dirty="0"/>
              <a:t>            &lt;li&gt;Contact&lt;/li&gt;</a:t>
            </a:r>
          </a:p>
          <a:p>
            <a:r>
              <a:rPr lang="en-GB" sz="1600" dirty="0"/>
              <a:t>            &lt;li&gt;Search&lt;/li&gt;</a:t>
            </a:r>
          </a:p>
          <a:p>
            <a:r>
              <a:rPr lang="en-GB" sz="1600" dirty="0"/>
              <a:t>        &lt;/</a:t>
            </a:r>
            <a:r>
              <a:rPr lang="en-GB" sz="1600" dirty="0" err="1"/>
              <a:t>ul</a:t>
            </a:r>
            <a:r>
              <a:rPr lang="en-GB" sz="1600" dirty="0"/>
              <a:t>&gt;</a:t>
            </a:r>
          </a:p>
          <a:p>
            <a:r>
              <a:rPr lang="en-GB" sz="1600" dirty="0"/>
              <a:t>        &lt;div&gt;Login&lt;/div&gt;</a:t>
            </a:r>
          </a:p>
          <a:p>
            <a:r>
              <a:rPr lang="en-GB" sz="1600" dirty="0"/>
              <a:t>   &lt;/div&gt;</a:t>
            </a:r>
          </a:p>
          <a:p>
            <a:r>
              <a:rPr lang="en-GB" sz="1600" dirty="0"/>
              <a:t/>
            </a:r>
            <a:br>
              <a:rPr lang="en-GB" sz="1600" dirty="0"/>
            </a:br>
            <a:r>
              <a:rPr lang="en-GB" sz="1600" dirty="0"/>
              <a:t>    &lt;!-- Main Body Area --&gt;</a:t>
            </a:r>
          </a:p>
          <a:p>
            <a:r>
              <a:rPr lang="en-GB" sz="1600" dirty="0"/>
              <a:t>    &lt;div class="main-content"&gt;</a:t>
            </a:r>
          </a:p>
          <a:p>
            <a:r>
              <a:rPr lang="en-GB" sz="1600" dirty="0"/>
              <a:t>        &lt;div class="left-sidebar"&gt;Left Sidebar&lt;/div&gt;</a:t>
            </a:r>
          </a:p>
          <a:p>
            <a:r>
              <a:rPr lang="en-GB" sz="1600" dirty="0"/>
              <a:t>        &lt;div class="</a:t>
            </a:r>
            <a:r>
              <a:rPr lang="en-GB" sz="1600" dirty="0" err="1"/>
              <a:t>center</a:t>
            </a:r>
            <a:r>
              <a:rPr lang="en-GB" sz="1600" dirty="0"/>
              <a:t>"&gt;</a:t>
            </a:r>
            <a:r>
              <a:rPr lang="en-GB" sz="1600" dirty="0" err="1"/>
              <a:t>Center</a:t>
            </a:r>
            <a:r>
              <a:rPr lang="en-GB" sz="1600" dirty="0"/>
              <a:t> Body&lt;/div&gt;</a:t>
            </a:r>
          </a:p>
          <a:p>
            <a:r>
              <a:rPr lang="en-GB" sz="1600" dirty="0"/>
              <a:t>        &lt;div class="right-</a:t>
            </a:r>
            <a:r>
              <a:rPr lang="en-GB" sz="1600" dirty="0" err="1"/>
              <a:t>sidbar</a:t>
            </a:r>
            <a:r>
              <a:rPr lang="en-GB" sz="1600" dirty="0"/>
              <a:t>"&gt;Right Sidebar&lt;/div&gt;</a:t>
            </a:r>
          </a:p>
          <a:p>
            <a:r>
              <a:rPr lang="en-GB" sz="1600" dirty="0"/>
              <a:t>    &lt;/div&gt; </a:t>
            </a:r>
          </a:p>
          <a:p>
            <a:r>
              <a:rPr lang="en-GB" sz="1600" dirty="0"/>
              <a:t>    &lt;!-- Footer Area --&gt;</a:t>
            </a:r>
          </a:p>
          <a:p>
            <a:r>
              <a:rPr lang="en-GB" sz="1600" dirty="0"/>
              <a:t>    &lt;div class="footer"&gt; &lt;p&gt;Footer &lt;/p&gt;&lt;/div</a:t>
            </a:r>
            <a:r>
              <a:rPr lang="en-GB" sz="1600" dirty="0" smtClean="0"/>
              <a:t>&gt;</a:t>
            </a:r>
            <a:r>
              <a:rPr lang="en-GB" sz="1600" dirty="0"/>
              <a:t/>
            </a:r>
            <a:br>
              <a:rPr lang="en-GB" sz="1600" dirty="0"/>
            </a:br>
            <a:r>
              <a:rPr lang="en-GB" sz="1600" dirty="0"/>
              <a:t>    &lt;/div&gt;</a:t>
            </a:r>
          </a:p>
          <a:p>
            <a:r>
              <a:rPr lang="en-GB" sz="1600" dirty="0" smtClean="0"/>
              <a:t>&lt;/</a:t>
            </a:r>
            <a:r>
              <a:rPr lang="en-GB" sz="1600" dirty="0"/>
              <a:t>body</a:t>
            </a:r>
            <a:r>
              <a:rPr lang="en-GB" sz="1600" dirty="0" smtClean="0"/>
              <a:t>&gt;</a:t>
            </a:r>
            <a:endParaRPr lang="en-GB" sz="1600" dirty="0"/>
          </a:p>
        </p:txBody>
      </p:sp>
      <p:sp>
        <p:nvSpPr>
          <p:cNvPr id="6" name="Rectangle 5"/>
          <p:cNvSpPr/>
          <p:nvPr/>
        </p:nvSpPr>
        <p:spPr>
          <a:xfrm>
            <a:off x="5521565" y="988484"/>
            <a:ext cx="3587262" cy="5970865"/>
          </a:xfrm>
          <a:prstGeom prst="rect">
            <a:avLst/>
          </a:prstGeom>
        </p:spPr>
        <p:txBody>
          <a:bodyPr wrap="square">
            <a:spAutoFit/>
          </a:bodyPr>
          <a:lstStyle/>
          <a:p>
            <a:r>
              <a:rPr lang="en-GB" dirty="0"/>
              <a:t>   </a:t>
            </a:r>
            <a:r>
              <a:rPr lang="en-GB" sz="1400" dirty="0"/>
              <a:t> &lt;style&gt;</a:t>
            </a:r>
          </a:p>
          <a:p>
            <a:r>
              <a:rPr lang="en-GB" sz="1400" dirty="0"/>
              <a:t>        body { margin: 0;  padding: 0;  }</a:t>
            </a:r>
          </a:p>
          <a:p>
            <a:r>
              <a:rPr lang="en-GB" sz="1400" dirty="0"/>
              <a:t>    </a:t>
            </a:r>
          </a:p>
          <a:p>
            <a:r>
              <a:rPr lang="en-GB" sz="1400" dirty="0"/>
              <a:t>       .container { </a:t>
            </a:r>
          </a:p>
          <a:p>
            <a:r>
              <a:rPr lang="en-GB" sz="1400" dirty="0"/>
              <a:t>        height: 100vh; </a:t>
            </a:r>
          </a:p>
          <a:p>
            <a:r>
              <a:rPr lang="en-GB" sz="1400" dirty="0"/>
              <a:t>        display:  flex; </a:t>
            </a:r>
          </a:p>
          <a:p>
            <a:r>
              <a:rPr lang="en-GB" sz="1400" dirty="0"/>
              <a:t>        flex-direction: column;        </a:t>
            </a:r>
          </a:p>
          <a:p>
            <a:r>
              <a:rPr lang="en-GB" sz="1400" dirty="0"/>
              <a:t>    }</a:t>
            </a:r>
          </a:p>
          <a:p>
            <a:r>
              <a:rPr lang="en-GB" sz="1400" dirty="0"/>
              <a:t>    .header {</a:t>
            </a:r>
          </a:p>
          <a:p>
            <a:r>
              <a:rPr lang="en-GB" sz="1400" dirty="0"/>
              <a:t>        display: flex;</a:t>
            </a:r>
          </a:p>
          <a:p>
            <a:r>
              <a:rPr lang="en-GB" sz="1400" dirty="0"/>
              <a:t>        height: 100px;</a:t>
            </a:r>
          </a:p>
          <a:p>
            <a:r>
              <a:rPr lang="en-GB" sz="1400" dirty="0"/>
              <a:t>        background-</a:t>
            </a:r>
            <a:r>
              <a:rPr lang="en-GB" sz="1400" dirty="0" err="1"/>
              <a:t>color</a:t>
            </a:r>
            <a:r>
              <a:rPr lang="en-GB" sz="1400" dirty="0"/>
              <a:t>: blue;</a:t>
            </a:r>
          </a:p>
          <a:p>
            <a:r>
              <a:rPr lang="en-GB" sz="1400" dirty="0"/>
              <a:t>        </a:t>
            </a:r>
            <a:r>
              <a:rPr lang="en-GB" sz="1400" dirty="0" err="1"/>
              <a:t>color</a:t>
            </a:r>
            <a:r>
              <a:rPr lang="en-GB" sz="1400" dirty="0"/>
              <a:t>: white;</a:t>
            </a:r>
          </a:p>
          <a:p>
            <a:r>
              <a:rPr lang="en-GB" sz="1400" dirty="0"/>
              <a:t>        justify-content: space-between;</a:t>
            </a:r>
          </a:p>
          <a:p>
            <a:r>
              <a:rPr lang="en-GB" sz="1400" dirty="0"/>
              <a:t>        align-items: </a:t>
            </a:r>
            <a:r>
              <a:rPr lang="en-GB" sz="1400" dirty="0" err="1"/>
              <a:t>center</a:t>
            </a:r>
            <a:r>
              <a:rPr lang="en-GB" sz="1400" dirty="0"/>
              <a:t>;</a:t>
            </a:r>
          </a:p>
          <a:p>
            <a:r>
              <a:rPr lang="en-GB" sz="1400" dirty="0"/>
              <a:t>        padding: 10px;</a:t>
            </a:r>
          </a:p>
          <a:p>
            <a:r>
              <a:rPr lang="en-GB" sz="1400" dirty="0"/>
              <a:t>    }</a:t>
            </a:r>
          </a:p>
          <a:p>
            <a:r>
              <a:rPr lang="en-GB" sz="1400" dirty="0"/>
              <a:t>    </a:t>
            </a:r>
            <a:r>
              <a:rPr lang="en-GB" sz="1400" dirty="0" err="1"/>
              <a:t>ul</a:t>
            </a:r>
            <a:r>
              <a:rPr lang="en-GB" sz="1400" dirty="0"/>
              <a:t> {display: flex;}</a:t>
            </a:r>
          </a:p>
          <a:p>
            <a:r>
              <a:rPr lang="en-GB" sz="1400" dirty="0"/>
              <a:t>    </a:t>
            </a:r>
            <a:r>
              <a:rPr lang="en-GB" sz="1400" dirty="0" err="1"/>
              <a:t>ul</a:t>
            </a:r>
            <a:r>
              <a:rPr lang="en-GB" sz="1400" dirty="0"/>
              <a:t> li { list-style-type: none; padding: 10px; </a:t>
            </a:r>
            <a:r>
              <a:rPr lang="en-GB" sz="1400" dirty="0" smtClean="0"/>
              <a:t>}</a:t>
            </a:r>
          </a:p>
          <a:p>
            <a:r>
              <a:rPr lang="en-US" sz="1400" dirty="0"/>
              <a:t> </a:t>
            </a:r>
            <a:r>
              <a:rPr lang="en-US" sz="1400" dirty="0" smtClean="0"/>
              <a:t>   </a:t>
            </a:r>
            <a:r>
              <a:rPr lang="en-GB" sz="1400" dirty="0"/>
              <a:t>.footer {</a:t>
            </a:r>
          </a:p>
          <a:p>
            <a:r>
              <a:rPr lang="en-GB" sz="1400" dirty="0"/>
              <a:t>        </a:t>
            </a:r>
            <a:r>
              <a:rPr lang="en-GB" sz="1400" dirty="0" err="1"/>
              <a:t>color</a:t>
            </a:r>
            <a:r>
              <a:rPr lang="en-GB" sz="1400" dirty="0"/>
              <a:t>: white;</a:t>
            </a:r>
          </a:p>
          <a:p>
            <a:r>
              <a:rPr lang="en-GB" sz="1400" dirty="0"/>
              <a:t>        background-</a:t>
            </a:r>
            <a:r>
              <a:rPr lang="en-GB" sz="1400" dirty="0" err="1"/>
              <a:t>color</a:t>
            </a:r>
            <a:r>
              <a:rPr lang="en-GB" sz="1400" dirty="0"/>
              <a:t>: black;</a:t>
            </a:r>
          </a:p>
          <a:p>
            <a:r>
              <a:rPr lang="en-GB" sz="1400" dirty="0"/>
              <a:t>        display: flex;</a:t>
            </a:r>
          </a:p>
          <a:p>
            <a:r>
              <a:rPr lang="en-GB" sz="1400" dirty="0"/>
              <a:t>        height: 100px;</a:t>
            </a:r>
          </a:p>
          <a:p>
            <a:r>
              <a:rPr lang="en-GB" sz="1400" dirty="0"/>
              <a:t>        justify-content:  </a:t>
            </a:r>
            <a:r>
              <a:rPr lang="en-GB" sz="1400" dirty="0" err="1"/>
              <a:t>center</a:t>
            </a:r>
            <a:r>
              <a:rPr lang="en-GB" sz="1400" dirty="0"/>
              <a:t>;</a:t>
            </a:r>
          </a:p>
          <a:p>
            <a:r>
              <a:rPr lang="en-GB" sz="1400" dirty="0"/>
              <a:t>    </a:t>
            </a:r>
            <a:r>
              <a:rPr lang="en-GB" sz="1400" dirty="0" smtClean="0"/>
              <a:t>}</a:t>
            </a:r>
            <a:endParaRPr lang="en-GB" sz="1400" dirty="0"/>
          </a:p>
        </p:txBody>
      </p:sp>
      <p:sp>
        <p:nvSpPr>
          <p:cNvPr id="7" name="Rectangle 6"/>
          <p:cNvSpPr/>
          <p:nvPr/>
        </p:nvSpPr>
        <p:spPr>
          <a:xfrm>
            <a:off x="9108820" y="1185837"/>
            <a:ext cx="2848708" cy="4401205"/>
          </a:xfrm>
          <a:prstGeom prst="rect">
            <a:avLst/>
          </a:prstGeom>
        </p:spPr>
        <p:txBody>
          <a:bodyPr wrap="square">
            <a:spAutoFit/>
          </a:bodyPr>
          <a:lstStyle/>
          <a:p>
            <a:r>
              <a:rPr lang="en-GB" sz="1400" dirty="0"/>
              <a:t>.main-content { </a:t>
            </a:r>
          </a:p>
          <a:p>
            <a:r>
              <a:rPr lang="en-GB" sz="1400" dirty="0"/>
              <a:t>        margin: 0px 50px 0px 50px;</a:t>
            </a:r>
          </a:p>
          <a:p>
            <a:r>
              <a:rPr lang="en-GB" sz="1400" dirty="0"/>
              <a:t>        padding: 20 20 20 20;</a:t>
            </a:r>
          </a:p>
          <a:p>
            <a:r>
              <a:rPr lang="en-GB" sz="1400" dirty="0"/>
              <a:t>        height: 100vh;</a:t>
            </a:r>
          </a:p>
          <a:p>
            <a:r>
              <a:rPr lang="en-GB" sz="1400" dirty="0"/>
              <a:t>        display: flex;</a:t>
            </a:r>
          </a:p>
          <a:p>
            <a:r>
              <a:rPr lang="en-GB" sz="1400" dirty="0"/>
              <a:t>        background-</a:t>
            </a:r>
            <a:r>
              <a:rPr lang="en-GB" sz="1400" dirty="0" err="1"/>
              <a:t>color</a:t>
            </a:r>
            <a:r>
              <a:rPr lang="en-GB" sz="1400" dirty="0"/>
              <a:t>: bisque;    </a:t>
            </a:r>
          </a:p>
          <a:p>
            <a:r>
              <a:rPr lang="en-GB" sz="1400" dirty="0"/>
              <a:t>    }</a:t>
            </a:r>
          </a:p>
          <a:p>
            <a:r>
              <a:rPr lang="en-GB" sz="1400" dirty="0"/>
              <a:t>    .right-sidebar </a:t>
            </a:r>
            <a:r>
              <a:rPr lang="en-GB" sz="1400" dirty="0" smtClean="0"/>
              <a:t>,</a:t>
            </a:r>
            <a:r>
              <a:rPr lang="en-GB" sz="1400" dirty="0"/>
              <a:t>   .left-sidebar {</a:t>
            </a:r>
          </a:p>
          <a:p>
            <a:r>
              <a:rPr lang="en-GB" sz="1400" dirty="0"/>
              <a:t>        display: flex;</a:t>
            </a:r>
          </a:p>
          <a:p>
            <a:r>
              <a:rPr lang="en-GB" sz="1400" dirty="0"/>
              <a:t>        width: 20%;</a:t>
            </a:r>
          </a:p>
          <a:p>
            <a:r>
              <a:rPr lang="en-GB" sz="1400" dirty="0"/>
              <a:t>        background-</a:t>
            </a:r>
            <a:r>
              <a:rPr lang="en-GB" sz="1400" dirty="0" err="1"/>
              <a:t>color</a:t>
            </a:r>
            <a:r>
              <a:rPr lang="en-GB" sz="1400" dirty="0"/>
              <a:t>: </a:t>
            </a:r>
            <a:r>
              <a:rPr lang="en-GB" sz="1400" dirty="0" err="1"/>
              <a:t>blueviolet</a:t>
            </a:r>
            <a:r>
              <a:rPr lang="en-GB" sz="1400" dirty="0"/>
              <a:t>;</a:t>
            </a:r>
          </a:p>
          <a:p>
            <a:r>
              <a:rPr lang="en-GB" sz="1400" dirty="0"/>
              <a:t>        justify-content: </a:t>
            </a:r>
            <a:r>
              <a:rPr lang="en-GB" sz="1400" dirty="0" err="1"/>
              <a:t>center</a:t>
            </a:r>
            <a:r>
              <a:rPr lang="en-GB" sz="1400" dirty="0"/>
              <a:t>;</a:t>
            </a:r>
          </a:p>
          <a:p>
            <a:r>
              <a:rPr lang="en-GB" sz="1400" dirty="0"/>
              <a:t>    }</a:t>
            </a:r>
          </a:p>
          <a:p>
            <a:r>
              <a:rPr lang="en-GB" sz="1400" dirty="0"/>
              <a:t>    .</a:t>
            </a:r>
            <a:r>
              <a:rPr lang="en-GB" sz="1400" dirty="0" err="1"/>
              <a:t>center</a:t>
            </a:r>
            <a:r>
              <a:rPr lang="en-GB" sz="1400" dirty="0"/>
              <a:t> {</a:t>
            </a:r>
          </a:p>
          <a:p>
            <a:r>
              <a:rPr lang="en-GB" sz="1400" dirty="0"/>
              <a:t>        display: flex;</a:t>
            </a:r>
          </a:p>
          <a:p>
            <a:r>
              <a:rPr lang="en-GB" sz="1400" dirty="0"/>
              <a:t>        flex: auto;</a:t>
            </a:r>
          </a:p>
          <a:p>
            <a:r>
              <a:rPr lang="en-GB" sz="1400" dirty="0"/>
              <a:t>        justify-content: </a:t>
            </a:r>
            <a:r>
              <a:rPr lang="en-GB" sz="1400" dirty="0" err="1"/>
              <a:t>center</a:t>
            </a:r>
            <a:r>
              <a:rPr lang="en-GB" sz="1400" dirty="0"/>
              <a:t>;</a:t>
            </a:r>
          </a:p>
          <a:p>
            <a:r>
              <a:rPr lang="en-GB" sz="1400" dirty="0"/>
              <a:t>        align-items: </a:t>
            </a:r>
            <a:r>
              <a:rPr lang="en-GB" sz="1400" dirty="0" err="1"/>
              <a:t>center</a:t>
            </a:r>
            <a:r>
              <a:rPr lang="en-GB" sz="1400" dirty="0"/>
              <a:t>;</a:t>
            </a:r>
          </a:p>
          <a:p>
            <a:r>
              <a:rPr lang="en-GB" sz="1400" dirty="0"/>
              <a:t>    }</a:t>
            </a:r>
          </a:p>
          <a:p>
            <a:r>
              <a:rPr lang="en-GB" sz="1400" dirty="0"/>
              <a:t>        &lt;/style&gt;</a:t>
            </a:r>
          </a:p>
        </p:txBody>
      </p:sp>
    </p:spTree>
    <p:extLst>
      <p:ext uri="{BB962C8B-B14F-4D97-AF65-F5344CB8AC3E}">
        <p14:creationId xmlns:p14="http://schemas.microsoft.com/office/powerpoint/2010/main" val="42846743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Grid Layout</a:t>
            </a:r>
            <a:endParaRPr lang="en-GB" dirty="0"/>
          </a:p>
        </p:txBody>
      </p:sp>
      <p:sp>
        <p:nvSpPr>
          <p:cNvPr id="3" name="Content Placeholder 2"/>
          <p:cNvSpPr>
            <a:spLocks noGrp="1"/>
          </p:cNvSpPr>
          <p:nvPr>
            <p:ph idx="1"/>
          </p:nvPr>
        </p:nvSpPr>
        <p:spPr>
          <a:xfrm>
            <a:off x="633046" y="1608058"/>
            <a:ext cx="10720754" cy="4786473"/>
          </a:xfrm>
        </p:spPr>
        <p:txBody>
          <a:bodyPr>
            <a:normAutofit/>
          </a:bodyPr>
          <a:lstStyle/>
          <a:p>
            <a:pPr marL="0" indent="0">
              <a:buNone/>
            </a:pPr>
            <a:r>
              <a:rPr lang="en-US" dirty="0"/>
              <a:t>CSS Grid Layout is a powerful </a:t>
            </a:r>
            <a:r>
              <a:rPr lang="en-US" b="1" dirty="0"/>
              <a:t>two-dimensional </a:t>
            </a:r>
            <a:r>
              <a:rPr lang="en-US" b="1" dirty="0" smtClean="0"/>
              <a:t>responsive</a:t>
            </a:r>
            <a:r>
              <a:rPr lang="en-US" dirty="0" smtClean="0"/>
              <a:t> layout </a:t>
            </a:r>
            <a:r>
              <a:rPr lang="en-US" dirty="0"/>
              <a:t>system for mobile, tablet, and desktop devices. </a:t>
            </a:r>
            <a:r>
              <a:rPr lang="en-US" dirty="0" smtClean="0"/>
              <a:t>It allows </a:t>
            </a:r>
            <a:r>
              <a:rPr lang="en-US" dirty="0"/>
              <a:t>you to design complex web layouts with rows and columns.  </a:t>
            </a:r>
            <a:endParaRPr lang="en-US" dirty="0" smtClean="0"/>
          </a:p>
          <a:p>
            <a:pPr marL="0" indent="0">
              <a:buNone/>
            </a:pPr>
            <a:r>
              <a:rPr lang="en-US" dirty="0" smtClean="0"/>
              <a:t>To </a:t>
            </a:r>
            <a:r>
              <a:rPr lang="en-US" dirty="0"/>
              <a:t>start with Grid layout, you have to define a html container element first with CSS display property as</a:t>
            </a:r>
          </a:p>
          <a:p>
            <a:pPr marL="0" indent="0">
              <a:buNone/>
            </a:pPr>
            <a:r>
              <a:rPr lang="en-US" dirty="0" smtClean="0"/>
              <a:t>.</a:t>
            </a:r>
            <a:r>
              <a:rPr lang="en-US" dirty="0"/>
              <a:t>wrapper {display: grid}</a:t>
            </a:r>
          </a:p>
          <a:p>
            <a:pPr marL="0" indent="0">
              <a:buNone/>
            </a:pPr>
            <a:r>
              <a:rPr lang="en-US" dirty="0"/>
              <a:t>Or</a:t>
            </a:r>
          </a:p>
          <a:p>
            <a:pPr marL="0" indent="0">
              <a:buNone/>
            </a:pPr>
            <a:r>
              <a:rPr lang="en-US" dirty="0"/>
              <a:t>.wrapper {display: inline-grid}</a:t>
            </a:r>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2219" y="3767871"/>
            <a:ext cx="2790093" cy="959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78" y="4787720"/>
            <a:ext cx="967887" cy="1205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860639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Grid Layout</a:t>
            </a:r>
            <a:endParaRPr lang="en-GB" dirty="0"/>
          </a:p>
        </p:txBody>
      </p:sp>
      <p:sp>
        <p:nvSpPr>
          <p:cNvPr id="3" name="Content Placeholder 2"/>
          <p:cNvSpPr>
            <a:spLocks noGrp="1"/>
          </p:cNvSpPr>
          <p:nvPr>
            <p:ph idx="1"/>
          </p:nvPr>
        </p:nvSpPr>
        <p:spPr>
          <a:xfrm>
            <a:off x="679938" y="1641231"/>
            <a:ext cx="11031416" cy="5099538"/>
          </a:xfrm>
        </p:spPr>
        <p:txBody>
          <a:bodyPr>
            <a:normAutofit fontScale="92500" lnSpcReduction="10000"/>
          </a:bodyPr>
          <a:lstStyle/>
          <a:p>
            <a:pPr marL="0" indent="0" algn="just">
              <a:buNone/>
            </a:pPr>
            <a:r>
              <a:rPr lang="en-US" dirty="0" smtClean="0"/>
              <a:t>Here </a:t>
            </a:r>
            <a:r>
              <a:rPr lang="en-US" dirty="0"/>
              <a:t>are some key </a:t>
            </a:r>
            <a:r>
              <a:rPr lang="en-US" dirty="0" smtClean="0"/>
              <a:t>component </a:t>
            </a:r>
            <a:r>
              <a:rPr lang="en-US" dirty="0"/>
              <a:t>of CSS Grid Layout</a:t>
            </a:r>
            <a:r>
              <a:rPr lang="en-US" dirty="0" smtClean="0"/>
              <a:t>:</a:t>
            </a:r>
          </a:p>
          <a:p>
            <a:pPr algn="just"/>
            <a:r>
              <a:rPr lang="en-US" b="1" dirty="0"/>
              <a:t>Grid Container</a:t>
            </a:r>
            <a:r>
              <a:rPr lang="en-US" dirty="0"/>
              <a:t>: The element that contains the grid is referred to as the grid container. You can define an element as a grid container by applying the display: grid; or display: inline-grid; property to it.</a:t>
            </a:r>
          </a:p>
          <a:p>
            <a:pPr algn="just"/>
            <a:r>
              <a:rPr lang="en-US" b="1" dirty="0"/>
              <a:t>Grid Items</a:t>
            </a:r>
            <a:r>
              <a:rPr lang="en-US" dirty="0"/>
              <a:t>: The children of the grid container are called grid items. These are the elements that will be laid out within the grid.</a:t>
            </a:r>
          </a:p>
          <a:p>
            <a:pPr algn="just"/>
            <a:r>
              <a:rPr lang="en-US" b="1" dirty="0"/>
              <a:t>Grid Lines</a:t>
            </a:r>
            <a:r>
              <a:rPr lang="en-US" dirty="0"/>
              <a:t>: The horizontal and vertical lines that define the grid are known as grid lines. Grid lines divide the grid into rows and columns.</a:t>
            </a:r>
          </a:p>
          <a:p>
            <a:r>
              <a:rPr lang="en-US" b="1" dirty="0"/>
              <a:t>Grid Cells</a:t>
            </a:r>
            <a:r>
              <a:rPr lang="en-US" dirty="0"/>
              <a:t>: The rectangular areas formed by the intersection of grid rows and columns are called grid cells. Each grid cell can contain one or more grid items.</a:t>
            </a:r>
          </a:p>
          <a:p>
            <a:r>
              <a:rPr lang="en-US" b="1" dirty="0"/>
              <a:t>Grid Areas</a:t>
            </a:r>
            <a:r>
              <a:rPr lang="en-US" dirty="0"/>
              <a:t>: You can define named grid areas using the grid-template-areas property. This allows you to assign specific grid items to predefined areas within the grid.</a:t>
            </a:r>
          </a:p>
          <a:p>
            <a:pPr marL="0" indent="0">
              <a:buNone/>
            </a:pPr>
            <a:endParaRPr lang="en-GB" dirty="0"/>
          </a:p>
        </p:txBody>
      </p:sp>
    </p:spTree>
    <p:extLst>
      <p:ext uri="{BB962C8B-B14F-4D97-AF65-F5344CB8AC3E}">
        <p14:creationId xmlns:p14="http://schemas.microsoft.com/office/powerpoint/2010/main" val="250942560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6849"/>
            <a:ext cx="10515600" cy="842352"/>
          </a:xfrm>
        </p:spPr>
        <p:txBody>
          <a:bodyPr/>
          <a:lstStyle/>
          <a:p>
            <a:r>
              <a:rPr lang="en-US" dirty="0" smtClean="0"/>
              <a:t>Grid Layout</a:t>
            </a:r>
            <a:endParaRPr lang="en-GB" dirty="0"/>
          </a:p>
        </p:txBody>
      </p:sp>
      <p:sp>
        <p:nvSpPr>
          <p:cNvPr id="3" name="Content Placeholder 2"/>
          <p:cNvSpPr>
            <a:spLocks noGrp="1"/>
          </p:cNvSpPr>
          <p:nvPr>
            <p:ph idx="1"/>
          </p:nvPr>
        </p:nvSpPr>
        <p:spPr>
          <a:xfrm>
            <a:off x="597877" y="1383323"/>
            <a:ext cx="11113477" cy="5439508"/>
          </a:xfrm>
        </p:spPr>
        <p:txBody>
          <a:bodyPr>
            <a:normAutofit fontScale="92500" lnSpcReduction="10000"/>
          </a:bodyPr>
          <a:lstStyle/>
          <a:p>
            <a:r>
              <a:rPr lang="en-US" b="1" dirty="0"/>
              <a:t>Grid Tracks</a:t>
            </a:r>
            <a:r>
              <a:rPr lang="en-US" dirty="0"/>
              <a:t>: The spaces between two adjacent grid lines, either horizontal or vertical, are called grid tracks. These tracks can be explicitly sized using CSS properties like grid-template-columns and grid-template-rows, or they can be auto-sized to fit the content.</a:t>
            </a:r>
          </a:p>
          <a:p>
            <a:r>
              <a:rPr lang="en-US" b="1" dirty="0" smtClean="0"/>
              <a:t>Grid </a:t>
            </a:r>
            <a:r>
              <a:rPr lang="en-US" b="1" dirty="0"/>
              <a:t>Lines Numbering</a:t>
            </a:r>
            <a:r>
              <a:rPr lang="en-US" dirty="0"/>
              <a:t>: Grid lines are numbered starting from 1. You can also use negative indices to count from the end of the grid.</a:t>
            </a:r>
          </a:p>
          <a:p>
            <a:r>
              <a:rPr lang="en-US" b="1" dirty="0"/>
              <a:t>Grid Template</a:t>
            </a:r>
            <a:r>
              <a:rPr lang="en-US" dirty="0"/>
              <a:t>: You can define the structure of the grid using the grid-template-columns and grid-template-rows properties, which allow you to specify the size and number of columns and rows in the grid.</a:t>
            </a:r>
          </a:p>
          <a:p>
            <a:r>
              <a:rPr lang="en-US" b="1" dirty="0"/>
              <a:t>Grid Gap</a:t>
            </a:r>
            <a:r>
              <a:rPr lang="en-US" dirty="0"/>
              <a:t>: The grid-gap property sets the size of the gap between grid tracks (rows and columns). It's a shorthand for grid-row-gap and grid-column-gap.</a:t>
            </a:r>
          </a:p>
          <a:p>
            <a:r>
              <a:rPr lang="en-US" b="1" dirty="0"/>
              <a:t>Alignment</a:t>
            </a:r>
            <a:r>
              <a:rPr lang="en-US" dirty="0"/>
              <a:t>: CSS Grid Layout provides various properties to align and justify grid items within the grid, such as justify-items, align-items, justify-content, and align-content</a:t>
            </a:r>
            <a:r>
              <a:rPr lang="en-US" dirty="0" smtClean="0"/>
              <a:t>.</a:t>
            </a:r>
            <a:endParaRPr lang="en-US" dirty="0"/>
          </a:p>
        </p:txBody>
      </p:sp>
    </p:spTree>
    <p:extLst>
      <p:ext uri="{BB962C8B-B14F-4D97-AF65-F5344CB8AC3E}">
        <p14:creationId xmlns:p14="http://schemas.microsoft.com/office/powerpoint/2010/main" val="324473025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Grid Layout </a:t>
            </a:r>
            <a:br>
              <a:rPr lang="en-US" dirty="0" smtClean="0"/>
            </a:br>
            <a:r>
              <a:rPr lang="en-US" sz="2800" dirty="0" smtClean="0"/>
              <a:t>(Implicit Gird Example)</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
        <p:nvSpPr>
          <p:cNvPr id="5" name="TextBox 4"/>
          <p:cNvSpPr txBox="1"/>
          <p:nvPr/>
        </p:nvSpPr>
        <p:spPr>
          <a:xfrm>
            <a:off x="351697" y="1875709"/>
            <a:ext cx="3352071" cy="2308324"/>
          </a:xfrm>
          <a:prstGeom prst="rect">
            <a:avLst/>
          </a:prstGeom>
          <a:noFill/>
        </p:spPr>
        <p:txBody>
          <a:bodyPr wrap="none" rtlCol="0">
            <a:spAutoFit/>
          </a:bodyPr>
          <a:lstStyle/>
          <a:p>
            <a:r>
              <a:rPr lang="en-US" b="1" u="sng" dirty="0" smtClean="0"/>
              <a:t>HTML</a:t>
            </a:r>
          </a:p>
          <a:p>
            <a:r>
              <a:rPr lang="en-US" dirty="0" smtClean="0"/>
              <a:t>&lt;</a:t>
            </a:r>
            <a:r>
              <a:rPr lang="en-US" dirty="0"/>
              <a:t>div class="wrapper"&gt;</a:t>
            </a:r>
          </a:p>
          <a:p>
            <a:r>
              <a:rPr lang="en-US" dirty="0"/>
              <a:t>  </a:t>
            </a:r>
            <a:r>
              <a:rPr lang="en-US" dirty="0" smtClean="0"/>
              <a:t>   &lt;div class =“box”&gt; One &lt;/</a:t>
            </a:r>
            <a:r>
              <a:rPr lang="en-US" dirty="0"/>
              <a:t>div&gt;</a:t>
            </a:r>
          </a:p>
          <a:p>
            <a:r>
              <a:rPr lang="en-US" dirty="0"/>
              <a:t>  </a:t>
            </a:r>
            <a:r>
              <a:rPr lang="en-US" dirty="0" smtClean="0"/>
              <a:t>   &lt;</a:t>
            </a:r>
            <a:r>
              <a:rPr lang="en-US" dirty="0"/>
              <a:t>div class =“box</a:t>
            </a:r>
            <a:r>
              <a:rPr lang="en-US" dirty="0" smtClean="0"/>
              <a:t>”&gt; Two</a:t>
            </a:r>
            <a:r>
              <a:rPr lang="en-US" dirty="0"/>
              <a:t>&lt;/div&gt;</a:t>
            </a:r>
          </a:p>
          <a:p>
            <a:r>
              <a:rPr lang="en-US" dirty="0"/>
              <a:t>  </a:t>
            </a:r>
            <a:r>
              <a:rPr lang="en-US" dirty="0" smtClean="0"/>
              <a:t>   &lt;</a:t>
            </a:r>
            <a:r>
              <a:rPr lang="en-US" dirty="0"/>
              <a:t>div class =“box</a:t>
            </a:r>
            <a:r>
              <a:rPr lang="en-US" dirty="0" smtClean="0"/>
              <a:t>”&gt; Three</a:t>
            </a:r>
            <a:r>
              <a:rPr lang="en-US" dirty="0"/>
              <a:t>&lt;/div&gt;</a:t>
            </a:r>
          </a:p>
          <a:p>
            <a:r>
              <a:rPr lang="en-US" dirty="0"/>
              <a:t>  </a:t>
            </a:r>
            <a:r>
              <a:rPr lang="en-US" dirty="0" smtClean="0"/>
              <a:t>   &lt;</a:t>
            </a:r>
            <a:r>
              <a:rPr lang="en-US" dirty="0"/>
              <a:t>div class =“box</a:t>
            </a:r>
            <a:r>
              <a:rPr lang="en-US" dirty="0" smtClean="0"/>
              <a:t>”&gt; Four</a:t>
            </a:r>
            <a:r>
              <a:rPr lang="en-US" dirty="0"/>
              <a:t>&lt;/div&gt;</a:t>
            </a:r>
          </a:p>
          <a:p>
            <a:r>
              <a:rPr lang="en-US" dirty="0"/>
              <a:t>     &lt;div class =“box</a:t>
            </a:r>
            <a:r>
              <a:rPr lang="en-US" dirty="0" smtClean="0"/>
              <a:t>”&gt; Five</a:t>
            </a:r>
            <a:r>
              <a:rPr lang="en-US" dirty="0"/>
              <a:t>&lt;/div&gt;</a:t>
            </a:r>
          </a:p>
          <a:p>
            <a:r>
              <a:rPr lang="en-US" dirty="0"/>
              <a:t>&lt;/div&gt;</a:t>
            </a:r>
            <a:endParaRPr lang="en-GB" dirty="0"/>
          </a:p>
        </p:txBody>
      </p:sp>
      <p:sp>
        <p:nvSpPr>
          <p:cNvPr id="6" name="TextBox 5"/>
          <p:cNvSpPr txBox="1"/>
          <p:nvPr/>
        </p:nvSpPr>
        <p:spPr>
          <a:xfrm>
            <a:off x="3868616" y="1664696"/>
            <a:ext cx="2908425" cy="3693319"/>
          </a:xfrm>
          <a:prstGeom prst="rect">
            <a:avLst/>
          </a:prstGeom>
          <a:noFill/>
        </p:spPr>
        <p:txBody>
          <a:bodyPr wrap="none" rtlCol="0">
            <a:spAutoFit/>
          </a:bodyPr>
          <a:lstStyle/>
          <a:p>
            <a:r>
              <a:rPr lang="en-US" b="1" u="sng" dirty="0" smtClean="0"/>
              <a:t>CSS</a:t>
            </a:r>
            <a:endParaRPr lang="en-GB" b="1" u="sng" dirty="0" smtClean="0"/>
          </a:p>
          <a:p>
            <a:r>
              <a:rPr lang="en-GB" dirty="0" smtClean="0"/>
              <a:t>.</a:t>
            </a:r>
            <a:r>
              <a:rPr lang="en-GB" dirty="0"/>
              <a:t>wrapper </a:t>
            </a:r>
            <a:endParaRPr lang="en-GB" dirty="0" smtClean="0"/>
          </a:p>
          <a:p>
            <a:r>
              <a:rPr lang="en-GB" dirty="0" smtClean="0"/>
              <a:t>{ </a:t>
            </a:r>
          </a:p>
          <a:p>
            <a:r>
              <a:rPr lang="en-GB" dirty="0" smtClean="0"/>
              <a:t>   </a:t>
            </a:r>
            <a:r>
              <a:rPr lang="en-GB" b="1" dirty="0" smtClean="0">
                <a:solidFill>
                  <a:srgbClr val="FF0000"/>
                </a:solidFill>
              </a:rPr>
              <a:t>display</a:t>
            </a:r>
            <a:r>
              <a:rPr lang="en-GB" b="1" dirty="0">
                <a:solidFill>
                  <a:srgbClr val="FF0000"/>
                </a:solidFill>
              </a:rPr>
              <a:t>: grid; </a:t>
            </a:r>
            <a:endParaRPr lang="en-GB" b="1" dirty="0" smtClean="0">
              <a:solidFill>
                <a:srgbClr val="FF0000"/>
              </a:solidFill>
            </a:endParaRPr>
          </a:p>
          <a:p>
            <a:r>
              <a:rPr lang="en-GB" dirty="0" smtClean="0"/>
              <a:t>    border</a:t>
            </a:r>
            <a:r>
              <a:rPr lang="en-GB" dirty="0"/>
              <a:t>: 2px solid #670707;</a:t>
            </a:r>
          </a:p>
          <a:p>
            <a:r>
              <a:rPr lang="en-GB" dirty="0"/>
              <a:t>    border-radius: 5px;</a:t>
            </a:r>
          </a:p>
          <a:p>
            <a:r>
              <a:rPr lang="en-GB" dirty="0"/>
              <a:t>    background: #fff4ef;</a:t>
            </a:r>
          </a:p>
          <a:p>
            <a:r>
              <a:rPr lang="en-GB" dirty="0" smtClean="0"/>
              <a:t>}</a:t>
            </a:r>
          </a:p>
          <a:p>
            <a:r>
              <a:rPr lang="en-US" dirty="0" smtClean="0"/>
              <a:t>.box {</a:t>
            </a:r>
          </a:p>
          <a:p>
            <a:r>
              <a:rPr lang="en-GB" dirty="0" smtClean="0"/>
              <a:t>    border</a:t>
            </a:r>
            <a:r>
              <a:rPr lang="en-GB" dirty="0"/>
              <a:t>: 2px </a:t>
            </a:r>
            <a:endParaRPr lang="en-GB" dirty="0" smtClean="0"/>
          </a:p>
          <a:p>
            <a:r>
              <a:rPr lang="en-GB" dirty="0"/>
              <a:t> </a:t>
            </a:r>
            <a:r>
              <a:rPr lang="en-GB" dirty="0" smtClean="0"/>
              <a:t>   solid </a:t>
            </a:r>
            <a:r>
              <a:rPr lang="en-GB" dirty="0"/>
              <a:t>#670707;</a:t>
            </a:r>
          </a:p>
          <a:p>
            <a:r>
              <a:rPr lang="en-GB" dirty="0"/>
              <a:t>    </a:t>
            </a:r>
            <a:r>
              <a:rPr lang="en-GB" dirty="0" smtClean="0"/>
              <a:t>border-radius</a:t>
            </a:r>
            <a:r>
              <a:rPr lang="en-GB" dirty="0"/>
              <a:t>: 5px;</a:t>
            </a:r>
          </a:p>
          <a:p>
            <a:r>
              <a:rPr lang="en-GB" dirty="0"/>
              <a:t> </a:t>
            </a:r>
            <a:r>
              <a:rPr lang="en-US" dirty="0" smtClean="0"/>
              <a:t>}</a:t>
            </a:r>
            <a:endParaRPr 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2462" y="1847131"/>
            <a:ext cx="480286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422034" y="5756031"/>
            <a:ext cx="11572720" cy="369332"/>
          </a:xfrm>
          <a:prstGeom prst="rect">
            <a:avLst/>
          </a:prstGeom>
          <a:noFill/>
        </p:spPr>
        <p:txBody>
          <a:bodyPr wrap="none" rtlCol="0">
            <a:spAutoFit/>
          </a:bodyPr>
          <a:lstStyle/>
          <a:p>
            <a:r>
              <a:rPr lang="en-US" dirty="0"/>
              <a:t>All direct children of grid containers become grid </a:t>
            </a:r>
            <a:r>
              <a:rPr lang="en-US" dirty="0" smtClean="0"/>
              <a:t>items and display inside container ‘wrapper’ in single column by default </a:t>
            </a:r>
            <a:endParaRPr lang="en-GB" dirty="0"/>
          </a:p>
        </p:txBody>
      </p:sp>
    </p:spTree>
    <p:extLst>
      <p:ext uri="{BB962C8B-B14F-4D97-AF65-F5344CB8AC3E}">
        <p14:creationId xmlns:p14="http://schemas.microsoft.com/office/powerpoint/2010/main" val="109396311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89244"/>
          </a:xfrm>
        </p:spPr>
        <p:txBody>
          <a:bodyPr/>
          <a:lstStyle/>
          <a:p>
            <a:r>
              <a:rPr lang="en-US" dirty="0" smtClean="0"/>
              <a:t>Grid Elements</a:t>
            </a:r>
            <a:endParaRPr lang="en-GB" dirty="0"/>
          </a:p>
        </p:txBody>
      </p:sp>
      <p:sp>
        <p:nvSpPr>
          <p:cNvPr id="3" name="Content Placeholder 2"/>
          <p:cNvSpPr>
            <a:spLocks noGrp="1"/>
          </p:cNvSpPr>
          <p:nvPr>
            <p:ph idx="1"/>
          </p:nvPr>
        </p:nvSpPr>
        <p:spPr>
          <a:xfrm>
            <a:off x="375139" y="1312985"/>
            <a:ext cx="11547230" cy="5545015"/>
          </a:xfrm>
        </p:spPr>
        <p:txBody>
          <a:bodyPr>
            <a:normAutofit/>
          </a:bodyPr>
          <a:lstStyle/>
          <a:p>
            <a:pPr marL="0" indent="0">
              <a:buNone/>
            </a:pPr>
            <a:r>
              <a:rPr lang="en-US" sz="2400" dirty="0"/>
              <a:t>The children (i.e. </a:t>
            </a:r>
            <a:r>
              <a:rPr lang="en-US" sz="2400" i="1" dirty="0"/>
              <a:t>direct</a:t>
            </a:r>
            <a:r>
              <a:rPr lang="en-US" sz="2400" dirty="0"/>
              <a:t> descendants) of the grid </a:t>
            </a:r>
            <a:r>
              <a:rPr lang="en-US" sz="2400" dirty="0" smtClean="0"/>
              <a:t>container are known are grid items (grid elements). By default grid items are display in single column. </a:t>
            </a:r>
          </a:p>
          <a:p>
            <a:pPr marL="0" indent="0">
              <a:buNone/>
            </a:pPr>
            <a:r>
              <a:rPr lang="en-US" sz="2400" dirty="0" smtClean="0"/>
              <a:t>Explicitly </a:t>
            </a:r>
            <a:r>
              <a:rPr lang="en-US" sz="2400" dirty="0"/>
              <a:t>set a grid by creating columns and rows with the </a:t>
            </a:r>
            <a:r>
              <a:rPr lang="en-US" sz="2400" b="1" dirty="0" smtClean="0"/>
              <a:t>grid-template-columns </a:t>
            </a:r>
            <a:r>
              <a:rPr lang="en-US" sz="2400" dirty="0" smtClean="0"/>
              <a:t>and </a:t>
            </a:r>
            <a:r>
              <a:rPr lang="en-US" sz="2400" b="1" dirty="0" smtClean="0"/>
              <a:t>grid-columns</a:t>
            </a:r>
            <a:r>
              <a:rPr lang="en-US" sz="2400" dirty="0"/>
              <a:t> and </a:t>
            </a:r>
            <a:r>
              <a:rPr lang="en-US" sz="2400" b="1" dirty="0"/>
              <a:t>grid-template-rows</a:t>
            </a:r>
            <a:r>
              <a:rPr lang="en-US" sz="2400" dirty="0"/>
              <a:t> </a:t>
            </a:r>
            <a:r>
              <a:rPr lang="en-US" sz="2400" dirty="0" smtClean="0"/>
              <a:t>properties. </a:t>
            </a:r>
          </a:p>
          <a:p>
            <a:pPr marL="0" indent="0">
              <a:buNone/>
            </a:pPr>
            <a:endParaRPr lang="en-US" dirty="0" smtClean="0"/>
          </a:p>
          <a:p>
            <a:pPr marL="0" indent="0">
              <a:buNone/>
            </a:pPr>
            <a:endParaRPr lang="en-US" dirty="0"/>
          </a:p>
          <a:p>
            <a:pPr marL="0" indent="0">
              <a:buNone/>
            </a:pPr>
            <a:endParaRPr lang="en-US" sz="1100" dirty="0" smtClean="0"/>
          </a:p>
          <a:p>
            <a:pPr marL="0" indent="0">
              <a:buNone/>
            </a:pPr>
            <a:r>
              <a:rPr lang="en-US" sz="2400" dirty="0" smtClean="0"/>
              <a:t>To create a flexible grid item length, </a:t>
            </a:r>
            <a:r>
              <a:rPr lang="en-US" sz="2400" b="1" dirty="0" err="1" smtClean="0">
                <a:solidFill>
                  <a:srgbClr val="FF0000"/>
                </a:solidFill>
              </a:rPr>
              <a:t>fr</a:t>
            </a:r>
            <a:r>
              <a:rPr lang="en-US" sz="2400" dirty="0" smtClean="0"/>
              <a:t> unit is used to represent fraction of the available space in the grid container.  </a:t>
            </a:r>
          </a:p>
          <a:p>
            <a:pPr marL="0" indent="0">
              <a:buNone/>
            </a:pPr>
            <a:r>
              <a:rPr lang="en-US" sz="800" dirty="0" smtClean="0"/>
              <a:t>            </a:t>
            </a:r>
          </a:p>
          <a:p>
            <a:pPr marL="0" indent="0">
              <a:buNone/>
            </a:pPr>
            <a:r>
              <a:rPr lang="en-US" sz="1800" dirty="0"/>
              <a:t> </a:t>
            </a:r>
            <a:r>
              <a:rPr lang="en-US" sz="1800" dirty="0" smtClean="0"/>
              <a:t>           grid-template-columns: </a:t>
            </a:r>
            <a:r>
              <a:rPr lang="en-US" sz="1800" dirty="0">
                <a:solidFill>
                  <a:srgbClr val="FF0000"/>
                </a:solidFill>
              </a:rPr>
              <a:t>2</a:t>
            </a:r>
            <a:r>
              <a:rPr lang="en-US" sz="1800" dirty="0" smtClean="0">
                <a:solidFill>
                  <a:srgbClr val="FF0000"/>
                </a:solidFill>
              </a:rPr>
              <a:t>fr 1fr </a:t>
            </a:r>
            <a:r>
              <a:rPr lang="en-US" sz="1800" dirty="0" err="1" smtClean="0">
                <a:solidFill>
                  <a:srgbClr val="FF0000"/>
                </a:solidFill>
              </a:rPr>
              <a:t>1fr</a:t>
            </a:r>
            <a:r>
              <a:rPr lang="en-US" sz="1800" dirty="0" smtClean="0"/>
              <a:t>;</a:t>
            </a:r>
          </a:p>
          <a:p>
            <a:pPr marL="0" indent="0">
              <a:buNone/>
            </a:pPr>
            <a:r>
              <a:rPr lang="en-US" sz="1200" dirty="0" smtClean="0"/>
              <a:t>            </a:t>
            </a:r>
          </a:p>
          <a:p>
            <a:pPr marL="0" indent="0">
              <a:buNone/>
            </a:pPr>
            <a:r>
              <a:rPr lang="en-US" sz="1800" dirty="0" smtClean="0"/>
              <a:t>            grid-template-columns: 500px </a:t>
            </a:r>
            <a:r>
              <a:rPr lang="en-US" sz="1800" dirty="0" smtClean="0">
                <a:solidFill>
                  <a:srgbClr val="FF0000"/>
                </a:solidFill>
              </a:rPr>
              <a:t>1fr </a:t>
            </a:r>
            <a:r>
              <a:rPr lang="en-US" sz="1800" dirty="0" err="1" smtClean="0">
                <a:solidFill>
                  <a:srgbClr val="FF0000"/>
                </a:solidFill>
              </a:rPr>
              <a:t>1fr</a:t>
            </a:r>
            <a:r>
              <a:rPr lang="en-US" sz="1800" dirty="0" smtClean="0">
                <a:solidFill>
                  <a:srgbClr val="FF0000"/>
                </a:solidFill>
              </a:rPr>
              <a:t>;</a:t>
            </a:r>
          </a:p>
          <a:p>
            <a:pPr marL="0" indent="0">
              <a:buNone/>
            </a:pPr>
            <a:r>
              <a:rPr lang="en-US" smtClean="0">
                <a:solidFill>
                  <a:srgbClr val="FF0000"/>
                </a:solidFill>
              </a:rPr>
              <a:t> </a:t>
            </a:r>
            <a:r>
              <a:rPr lang="en-US" sz="1800" smtClean="0"/>
              <a:t>Value </a:t>
            </a:r>
            <a:r>
              <a:rPr lang="en-US" sz="1800" b="1" dirty="0">
                <a:solidFill>
                  <a:srgbClr val="FF0000"/>
                </a:solidFill>
              </a:rPr>
              <a:t>“auto”</a:t>
            </a:r>
            <a:r>
              <a:rPr lang="en-US" sz="1800" dirty="0"/>
              <a:t> can be use to cover </a:t>
            </a:r>
            <a:r>
              <a:rPr lang="en-US" sz="1800"/>
              <a:t>remaining </a:t>
            </a:r>
            <a:r>
              <a:rPr lang="en-US" sz="1800" smtClean="0"/>
              <a:t>space 	</a:t>
            </a:r>
            <a:r>
              <a:rPr lang="en-US" sz="1800" dirty="0" smtClean="0"/>
              <a:t>grid-template-columns</a:t>
            </a:r>
            <a:r>
              <a:rPr lang="en-US" sz="1800" dirty="0"/>
              <a:t>:  80px   auto  </a:t>
            </a:r>
            <a:r>
              <a:rPr lang="en-US" sz="1800" dirty="0" err="1" smtClean="0"/>
              <a:t>auto</a:t>
            </a:r>
            <a:r>
              <a:rPr lang="en-US" sz="1800" dirty="0" smtClean="0"/>
              <a:t> </a:t>
            </a:r>
            <a:endParaRPr lang="en-GB" sz="1800" dirty="0">
              <a:solidFill>
                <a:srgbClr val="FF0000"/>
              </a:solidFill>
            </a:endParaRPr>
          </a:p>
        </p:txBody>
      </p:sp>
      <p:sp>
        <p:nvSpPr>
          <p:cNvPr id="5" name="TextBox 4"/>
          <p:cNvSpPr txBox="1"/>
          <p:nvPr/>
        </p:nvSpPr>
        <p:spPr>
          <a:xfrm>
            <a:off x="1019908" y="2860440"/>
            <a:ext cx="5197000" cy="1200329"/>
          </a:xfrm>
          <a:prstGeom prst="rect">
            <a:avLst/>
          </a:prstGeom>
          <a:noFill/>
        </p:spPr>
        <p:txBody>
          <a:bodyPr wrap="none" rtlCol="0">
            <a:spAutoFit/>
          </a:bodyPr>
          <a:lstStyle/>
          <a:p>
            <a:r>
              <a:rPr lang="en-GB" dirty="0"/>
              <a:t>.wrapper {</a:t>
            </a:r>
          </a:p>
          <a:p>
            <a:r>
              <a:rPr lang="en-GB" dirty="0"/>
              <a:t>   display: grid;</a:t>
            </a:r>
          </a:p>
          <a:p>
            <a:r>
              <a:rPr lang="en-GB" dirty="0"/>
              <a:t>   grid-template-columns: 200px </a:t>
            </a:r>
            <a:r>
              <a:rPr lang="en-GB" dirty="0" err="1"/>
              <a:t>200px</a:t>
            </a:r>
            <a:r>
              <a:rPr lang="en-GB" dirty="0"/>
              <a:t> </a:t>
            </a:r>
            <a:r>
              <a:rPr lang="en-GB" dirty="0" smtClean="0"/>
              <a:t> </a:t>
            </a:r>
            <a:r>
              <a:rPr lang="en-GB" dirty="0" err="1" smtClean="0"/>
              <a:t>200px</a:t>
            </a:r>
            <a:r>
              <a:rPr lang="en-GB" dirty="0" smtClean="0"/>
              <a:t>  </a:t>
            </a:r>
            <a:r>
              <a:rPr lang="en-GB" dirty="0" err="1"/>
              <a:t>200px</a:t>
            </a:r>
            <a:r>
              <a:rPr lang="en-GB" dirty="0"/>
              <a:t>;</a:t>
            </a:r>
          </a:p>
          <a:p>
            <a:r>
              <a:rPr lang="en-GB" dirty="0" smtClean="0"/>
              <a:t>}</a:t>
            </a:r>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0013" y="2848533"/>
            <a:ext cx="5042388" cy="1059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9046" y="4599848"/>
            <a:ext cx="4888519" cy="851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4066" y="5457827"/>
            <a:ext cx="4896949" cy="89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178034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Grid Elements properties</a:t>
            </a:r>
            <a:endParaRPr lang="en-GB" dirty="0"/>
          </a:p>
        </p:txBody>
      </p:sp>
      <p:sp>
        <p:nvSpPr>
          <p:cNvPr id="3" name="Content Placeholder 2"/>
          <p:cNvSpPr>
            <a:spLocks noGrp="1"/>
          </p:cNvSpPr>
          <p:nvPr>
            <p:ph idx="1"/>
          </p:nvPr>
        </p:nvSpPr>
        <p:spPr>
          <a:xfrm>
            <a:off x="562708" y="1488830"/>
            <a:ext cx="10791092" cy="5111261"/>
          </a:xfrm>
        </p:spPr>
        <p:txBody>
          <a:bodyPr/>
          <a:lstStyle/>
          <a:p>
            <a:pPr marL="0" indent="0">
              <a:buNone/>
            </a:pPr>
            <a:r>
              <a:rPr lang="en-US" b="1" u="sng" dirty="0" smtClean="0"/>
              <a:t>repeat-</a:t>
            </a:r>
            <a:r>
              <a:rPr lang="en-US" dirty="0" smtClean="0"/>
              <a:t> </a:t>
            </a:r>
            <a:r>
              <a:rPr lang="en-US" sz="2400" dirty="0" smtClean="0"/>
              <a:t>Large </a:t>
            </a:r>
            <a:r>
              <a:rPr lang="en-US" sz="2400" dirty="0"/>
              <a:t>grids with many tracks can use the repeat() notation, to repeat all or a section of the track listing</a:t>
            </a:r>
            <a:r>
              <a:rPr lang="en-US" sz="2400" dirty="0" smtClean="0"/>
              <a:t>.</a:t>
            </a:r>
          </a:p>
          <a:p>
            <a:pPr marL="457200" lvl="1" indent="0">
              <a:buNone/>
            </a:pPr>
            <a:r>
              <a:rPr lang="en-GB" sz="1800" dirty="0" smtClean="0"/>
              <a:t>		grid-template-columns</a:t>
            </a:r>
            <a:r>
              <a:rPr lang="en-GB" sz="1800" dirty="0"/>
              <a:t>: 1fr </a:t>
            </a:r>
            <a:r>
              <a:rPr lang="en-GB" sz="1800" dirty="0" err="1"/>
              <a:t>1fr</a:t>
            </a:r>
            <a:r>
              <a:rPr lang="en-GB" sz="1800" dirty="0"/>
              <a:t> </a:t>
            </a:r>
            <a:r>
              <a:rPr lang="en-GB" sz="1800" dirty="0" err="1"/>
              <a:t>1fr</a:t>
            </a:r>
            <a:r>
              <a:rPr lang="en-GB" sz="1800" dirty="0" smtClean="0"/>
              <a:t>;  ==  </a:t>
            </a:r>
            <a:r>
              <a:rPr lang="en-GB" sz="1800" dirty="0"/>
              <a:t>grid-template-columns: </a:t>
            </a:r>
            <a:r>
              <a:rPr lang="en-GB" sz="1800" dirty="0">
                <a:solidFill>
                  <a:srgbClr val="FF0000"/>
                </a:solidFill>
              </a:rPr>
              <a:t>repeat(3, 1fr</a:t>
            </a:r>
            <a:r>
              <a:rPr lang="en-GB" sz="1800" dirty="0" smtClean="0">
                <a:solidFill>
                  <a:srgbClr val="FF0000"/>
                </a:solidFill>
              </a:rPr>
              <a:t>)</a:t>
            </a:r>
            <a:r>
              <a:rPr lang="en-GB" sz="1800" dirty="0" smtClean="0"/>
              <a:t>;</a:t>
            </a:r>
          </a:p>
          <a:p>
            <a:pPr marL="0" indent="0">
              <a:buNone/>
            </a:pPr>
            <a:r>
              <a:rPr lang="en-US" sz="2400" dirty="0" smtClean="0"/>
              <a:t>- Mix of absolute size with flexible repeat</a:t>
            </a:r>
            <a:endParaRPr lang="en-US" sz="2400" dirty="0"/>
          </a:p>
          <a:p>
            <a:pPr marL="0" indent="0">
              <a:buNone/>
            </a:pPr>
            <a:r>
              <a:rPr lang="en-US" sz="1800" dirty="0"/>
              <a:t> </a:t>
            </a:r>
            <a:r>
              <a:rPr lang="en-US" sz="1800" dirty="0" smtClean="0"/>
              <a:t>       grid-template-columns</a:t>
            </a:r>
            <a:r>
              <a:rPr lang="en-US" sz="1800" dirty="0"/>
              <a:t>: 70px </a:t>
            </a:r>
            <a:r>
              <a:rPr lang="en-US" sz="1800" dirty="0" smtClean="0">
                <a:solidFill>
                  <a:srgbClr val="FF0000"/>
                </a:solidFill>
              </a:rPr>
              <a:t>repeat(3, </a:t>
            </a:r>
            <a:r>
              <a:rPr lang="en-US" sz="1800" dirty="0">
                <a:solidFill>
                  <a:srgbClr val="FF0000"/>
                </a:solidFill>
              </a:rPr>
              <a:t>1fr)</a:t>
            </a:r>
            <a:r>
              <a:rPr lang="en-US" sz="1800" dirty="0"/>
              <a:t> 70px</a:t>
            </a:r>
            <a:r>
              <a:rPr lang="en-US" sz="1800" dirty="0" smtClean="0"/>
              <a:t>;</a:t>
            </a:r>
          </a:p>
          <a:p>
            <a:pPr marL="0" indent="0">
              <a:buNone/>
            </a:pPr>
            <a:r>
              <a:rPr lang="en-US" sz="2400" b="1" u="sng" dirty="0" smtClean="0"/>
              <a:t>grid-auto-row/grid-auto-column-</a:t>
            </a:r>
            <a:r>
              <a:rPr lang="en-US" sz="2400" dirty="0" smtClean="0"/>
              <a:t> These properties define the size for explicit columns or rows implicitly (default) </a:t>
            </a:r>
            <a:endParaRPr lang="en-US" sz="2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7780" y="3065294"/>
            <a:ext cx="5232595" cy="357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656493" y="4278927"/>
            <a:ext cx="11441722" cy="2585323"/>
          </a:xfrm>
          <a:prstGeom prst="rect">
            <a:avLst/>
          </a:prstGeom>
          <a:noFill/>
        </p:spPr>
        <p:txBody>
          <a:bodyPr wrap="square" rtlCol="0">
            <a:spAutoFit/>
          </a:bodyPr>
          <a:lstStyle/>
          <a:p>
            <a:r>
              <a:rPr lang="en-GB" dirty="0"/>
              <a:t>.wrapper {</a:t>
            </a:r>
          </a:p>
          <a:p>
            <a:r>
              <a:rPr lang="en-GB" dirty="0"/>
              <a:t>  display: grid;</a:t>
            </a:r>
          </a:p>
          <a:p>
            <a:r>
              <a:rPr lang="en-GB" dirty="0"/>
              <a:t>  grid-template-columns: repeat(3, 1fr);</a:t>
            </a:r>
          </a:p>
          <a:p>
            <a:r>
              <a:rPr lang="en-GB" dirty="0"/>
              <a:t>  </a:t>
            </a:r>
            <a:r>
              <a:rPr lang="en-GB" dirty="0">
                <a:solidFill>
                  <a:srgbClr val="FF0000"/>
                </a:solidFill>
              </a:rPr>
              <a:t>grid-auto-rows: 200px;</a:t>
            </a:r>
          </a:p>
          <a:p>
            <a:r>
              <a:rPr lang="en-GB" dirty="0" smtClean="0"/>
              <a:t>}</a:t>
            </a:r>
          </a:p>
          <a:p>
            <a:endParaRPr lang="en-US" dirty="0" smtClean="0"/>
          </a:p>
          <a:p>
            <a:r>
              <a:rPr lang="en-US" dirty="0" smtClean="0"/>
              <a:t>Here grid-auto-rows define the height of a row inside grid-template-columns.</a:t>
            </a:r>
          </a:p>
          <a:p>
            <a:r>
              <a:rPr lang="en-US" dirty="0" smtClean="0"/>
              <a:t>- When we create explicit grid by grid-template-columns property, the grid create rows its own implicitly, have auto-sized </a:t>
            </a:r>
          </a:p>
          <a:p>
            <a:r>
              <a:rPr lang="en-US" dirty="0"/>
              <a:t>b</a:t>
            </a:r>
            <a:r>
              <a:rPr lang="en-US" dirty="0" smtClean="0"/>
              <a:t>y default, based on the content inside track.</a:t>
            </a:r>
            <a:endParaRPr lang="en-GB"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4156" y="3926732"/>
            <a:ext cx="3060121" cy="1952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30054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Grid Elements Properties</a:t>
            </a:r>
            <a:endParaRPr lang="en-GB" dirty="0"/>
          </a:p>
        </p:txBody>
      </p:sp>
      <p:sp>
        <p:nvSpPr>
          <p:cNvPr id="3" name="Content Placeholder 2"/>
          <p:cNvSpPr>
            <a:spLocks noGrp="1"/>
          </p:cNvSpPr>
          <p:nvPr>
            <p:ph idx="1"/>
          </p:nvPr>
        </p:nvSpPr>
        <p:spPr>
          <a:xfrm>
            <a:off x="668215" y="1825624"/>
            <a:ext cx="10685585" cy="4774467"/>
          </a:xfrm>
        </p:spPr>
        <p:txBody>
          <a:bodyPr/>
          <a:lstStyle/>
          <a:p>
            <a:pPr marL="0" indent="0">
              <a:buNone/>
            </a:pPr>
            <a:r>
              <a:rPr lang="en-US" b="1" u="sng" dirty="0" err="1"/>
              <a:t>m</a:t>
            </a:r>
            <a:r>
              <a:rPr lang="en-US" b="1" u="sng" dirty="0" err="1" smtClean="0"/>
              <a:t>inmax</a:t>
            </a:r>
            <a:r>
              <a:rPr lang="en-US" b="1" u="sng" dirty="0"/>
              <a:t>:</a:t>
            </a:r>
            <a:r>
              <a:rPr lang="en-US" dirty="0"/>
              <a:t> Using </a:t>
            </a:r>
            <a:r>
              <a:rPr lang="en-US" dirty="0" err="1"/>
              <a:t>minmax</a:t>
            </a:r>
            <a:r>
              <a:rPr lang="en-US" dirty="0"/>
              <a:t>() in the value </a:t>
            </a:r>
            <a:r>
              <a:rPr lang="en-US" dirty="0" smtClean="0"/>
              <a:t>of grid-auto-rows means that the size of row will be according to the size of inside content with minimum defined size.</a:t>
            </a:r>
            <a:r>
              <a:rPr lang="en-US" dirty="0"/>
              <a:t> </a:t>
            </a:r>
            <a:r>
              <a:rPr lang="en-US" dirty="0" smtClean="0"/>
              <a:t> </a:t>
            </a:r>
            <a:endParaRPr lang="en-GB" dirty="0"/>
          </a:p>
        </p:txBody>
      </p:sp>
      <p:sp>
        <p:nvSpPr>
          <p:cNvPr id="5" name="Rectangle 4"/>
          <p:cNvSpPr/>
          <p:nvPr/>
        </p:nvSpPr>
        <p:spPr>
          <a:xfrm>
            <a:off x="5134705" y="2926142"/>
            <a:ext cx="4032738" cy="1477328"/>
          </a:xfrm>
          <a:prstGeom prst="rect">
            <a:avLst/>
          </a:prstGeom>
        </p:spPr>
        <p:txBody>
          <a:bodyPr wrap="square">
            <a:spAutoFit/>
          </a:bodyPr>
          <a:lstStyle/>
          <a:p>
            <a:r>
              <a:rPr lang="en-GB" dirty="0"/>
              <a:t>.wrapper {</a:t>
            </a:r>
          </a:p>
          <a:p>
            <a:r>
              <a:rPr lang="en-GB" dirty="0"/>
              <a:t>  display: grid;</a:t>
            </a:r>
          </a:p>
          <a:p>
            <a:r>
              <a:rPr lang="en-GB" dirty="0"/>
              <a:t>  grid-template-columns: repeat(3, 1fr);</a:t>
            </a:r>
          </a:p>
          <a:p>
            <a:r>
              <a:rPr lang="en-GB" dirty="0"/>
              <a:t>  </a:t>
            </a:r>
            <a:r>
              <a:rPr lang="en-GB" dirty="0">
                <a:solidFill>
                  <a:srgbClr val="FF0000"/>
                </a:solidFill>
              </a:rPr>
              <a:t>grid-auto-rows: </a:t>
            </a:r>
            <a:r>
              <a:rPr lang="en-GB" dirty="0" err="1">
                <a:solidFill>
                  <a:srgbClr val="FF0000"/>
                </a:solidFill>
              </a:rPr>
              <a:t>minmax</a:t>
            </a:r>
            <a:r>
              <a:rPr lang="en-GB" dirty="0">
                <a:solidFill>
                  <a:srgbClr val="FF0000"/>
                </a:solidFill>
              </a:rPr>
              <a:t>(100px, auto);</a:t>
            </a:r>
          </a:p>
          <a:p>
            <a:r>
              <a:rPr lang="en-GB" dirty="0"/>
              <a:t>}</a:t>
            </a:r>
          </a:p>
        </p:txBody>
      </p:sp>
      <p:sp>
        <p:nvSpPr>
          <p:cNvPr id="6" name="Rectangle 5"/>
          <p:cNvSpPr/>
          <p:nvPr/>
        </p:nvSpPr>
        <p:spPr>
          <a:xfrm>
            <a:off x="574433" y="3078541"/>
            <a:ext cx="4689230" cy="3139321"/>
          </a:xfrm>
          <a:prstGeom prst="rect">
            <a:avLst/>
          </a:prstGeom>
        </p:spPr>
        <p:txBody>
          <a:bodyPr wrap="square">
            <a:spAutoFit/>
          </a:bodyPr>
          <a:lstStyle/>
          <a:p>
            <a:r>
              <a:rPr lang="en-US" dirty="0"/>
              <a:t>&lt;div class="wrapper"&gt;</a:t>
            </a:r>
          </a:p>
          <a:p>
            <a:r>
              <a:rPr lang="en-US" dirty="0"/>
              <a:t>  &lt;div&gt;One&lt;/div&gt;</a:t>
            </a:r>
          </a:p>
          <a:p>
            <a:r>
              <a:rPr lang="en-US" dirty="0"/>
              <a:t>  &lt;div&gt;</a:t>
            </a:r>
          </a:p>
          <a:p>
            <a:r>
              <a:rPr lang="en-US" dirty="0"/>
              <a:t>    Two</a:t>
            </a:r>
          </a:p>
          <a:p>
            <a:r>
              <a:rPr lang="en-US" dirty="0"/>
              <a:t>    &lt;p&gt;I have some more content in.&lt;/p&gt;</a:t>
            </a:r>
          </a:p>
          <a:p>
            <a:r>
              <a:rPr lang="en-US" dirty="0"/>
              <a:t>    &lt;p&gt;This makes me taller than 100 pixels.&lt;/p&gt;</a:t>
            </a:r>
          </a:p>
          <a:p>
            <a:r>
              <a:rPr lang="en-US" dirty="0"/>
              <a:t>  &lt;/div&gt;</a:t>
            </a:r>
          </a:p>
          <a:p>
            <a:r>
              <a:rPr lang="en-US" dirty="0"/>
              <a:t>  &lt;div&gt;Three&lt;/div&gt;</a:t>
            </a:r>
          </a:p>
          <a:p>
            <a:r>
              <a:rPr lang="en-US" dirty="0"/>
              <a:t>  &lt;div&gt;Four&lt;/div&gt;</a:t>
            </a:r>
          </a:p>
          <a:p>
            <a:r>
              <a:rPr lang="en-US" dirty="0"/>
              <a:t>  &lt;div&gt;Five&lt;/div&gt;</a:t>
            </a:r>
          </a:p>
          <a:p>
            <a:r>
              <a:rPr lang="en-US" dirty="0"/>
              <a:t>&lt;/div&gt;</a:t>
            </a:r>
            <a:endParaRPr lang="en-GB"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5714" y="4401814"/>
            <a:ext cx="5086291" cy="2280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908339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Grid Lines</a:t>
            </a:r>
            <a:endParaRPr lang="en-GB" dirty="0"/>
          </a:p>
        </p:txBody>
      </p:sp>
      <p:sp>
        <p:nvSpPr>
          <p:cNvPr id="3" name="Content Placeholder 2"/>
          <p:cNvSpPr>
            <a:spLocks noGrp="1"/>
          </p:cNvSpPr>
          <p:nvPr>
            <p:ph idx="1"/>
          </p:nvPr>
        </p:nvSpPr>
        <p:spPr>
          <a:xfrm>
            <a:off x="838200" y="1582615"/>
            <a:ext cx="10515600" cy="4594348"/>
          </a:xfrm>
        </p:spPr>
        <p:txBody>
          <a:bodyPr/>
          <a:lstStyle/>
          <a:p>
            <a:pPr marL="0" indent="0">
              <a:buNone/>
            </a:pPr>
            <a:r>
              <a:rPr lang="en-US" dirty="0" smtClean="0"/>
              <a:t>In CSS Grid Layout, </a:t>
            </a:r>
            <a:r>
              <a:rPr lang="en-US" dirty="0"/>
              <a:t>grid lines are the lines that separate the rows and columns of a grid</a:t>
            </a:r>
            <a:r>
              <a:rPr lang="en-US" dirty="0" smtClean="0"/>
              <a:t>. Still now, we have created grid by grid tracks to place items inside. Grid lines define the </a:t>
            </a:r>
            <a:r>
              <a:rPr lang="en-US" dirty="0"/>
              <a:t>structure of the grid and provide the basis for placing grid items within the grid container.</a:t>
            </a:r>
            <a:endParaRPr lang="en-GB"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4529" y="3456842"/>
            <a:ext cx="5206837" cy="3108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926124" y="3470033"/>
            <a:ext cx="5694636" cy="1477328"/>
          </a:xfrm>
          <a:prstGeom prst="rect">
            <a:avLst/>
          </a:prstGeom>
          <a:noFill/>
        </p:spPr>
        <p:txBody>
          <a:bodyPr wrap="none" rtlCol="0">
            <a:spAutoFit/>
          </a:bodyPr>
          <a:lstStyle/>
          <a:p>
            <a:r>
              <a:rPr lang="en-US" dirty="0" smtClean="0"/>
              <a:t>In given figure, according to grid track,  we have three</a:t>
            </a:r>
          </a:p>
          <a:p>
            <a:r>
              <a:rPr lang="en-US" dirty="0"/>
              <a:t>c</a:t>
            </a:r>
            <a:r>
              <a:rPr lang="en-US" dirty="0" smtClean="0"/>
              <a:t>olumns and two rows and according to grid line structure</a:t>
            </a:r>
            <a:r>
              <a:rPr lang="en-GB" dirty="0" smtClean="0"/>
              <a:t>,</a:t>
            </a:r>
          </a:p>
          <a:p>
            <a:r>
              <a:rPr lang="en-US" dirty="0"/>
              <a:t>w</a:t>
            </a:r>
            <a:r>
              <a:rPr lang="en-US" dirty="0" smtClean="0"/>
              <a:t>e have 4 lines or column and 3 lines of rows.</a:t>
            </a:r>
          </a:p>
          <a:p>
            <a:r>
              <a:rPr lang="en-US" dirty="0" smtClean="0"/>
              <a:t>- Column lines are start from left to right</a:t>
            </a:r>
          </a:p>
          <a:p>
            <a:r>
              <a:rPr lang="en-US" dirty="0" smtClean="0"/>
              <a:t>- Row lines are start from top to bottom.</a:t>
            </a:r>
          </a:p>
        </p:txBody>
      </p:sp>
      <p:sp>
        <p:nvSpPr>
          <p:cNvPr id="7" name="TextBox 6"/>
          <p:cNvSpPr txBox="1"/>
          <p:nvPr/>
        </p:nvSpPr>
        <p:spPr>
          <a:xfrm>
            <a:off x="926124" y="5169880"/>
            <a:ext cx="4784002" cy="1477328"/>
          </a:xfrm>
          <a:prstGeom prst="rect">
            <a:avLst/>
          </a:prstGeom>
          <a:noFill/>
        </p:spPr>
        <p:txBody>
          <a:bodyPr wrap="none" rtlCol="0">
            <a:spAutoFit/>
          </a:bodyPr>
          <a:lstStyle/>
          <a:p>
            <a:r>
              <a:rPr lang="en-US" dirty="0" smtClean="0"/>
              <a:t>Grid lines are defined by the following properties</a:t>
            </a:r>
          </a:p>
          <a:p>
            <a:pPr marL="285750" indent="-285750">
              <a:buFont typeface="Arial" pitchFamily="34" charset="0"/>
              <a:buChar char="•"/>
            </a:pPr>
            <a:r>
              <a:rPr lang="en-US" dirty="0"/>
              <a:t>g</a:t>
            </a:r>
            <a:r>
              <a:rPr lang="en-US" dirty="0" smtClean="0"/>
              <a:t>rid-column-start</a:t>
            </a:r>
          </a:p>
          <a:p>
            <a:pPr marL="285750" indent="-285750">
              <a:buFont typeface="Arial" pitchFamily="34" charset="0"/>
              <a:buChar char="•"/>
            </a:pPr>
            <a:r>
              <a:rPr lang="en-US" dirty="0"/>
              <a:t>g</a:t>
            </a:r>
            <a:r>
              <a:rPr lang="en-US" dirty="0" smtClean="0"/>
              <a:t>rid-column-end</a:t>
            </a:r>
          </a:p>
          <a:p>
            <a:pPr marL="285750" indent="-285750">
              <a:buFont typeface="Arial" pitchFamily="34" charset="0"/>
              <a:buChar char="•"/>
            </a:pPr>
            <a:r>
              <a:rPr lang="en-US" dirty="0"/>
              <a:t>g</a:t>
            </a:r>
            <a:r>
              <a:rPr lang="en-US" dirty="0" smtClean="0"/>
              <a:t>rid-row-start</a:t>
            </a:r>
          </a:p>
          <a:p>
            <a:pPr marL="285750" indent="-285750">
              <a:buFont typeface="Arial" pitchFamily="34" charset="0"/>
              <a:buChar char="•"/>
            </a:pPr>
            <a:r>
              <a:rPr lang="en-US" dirty="0"/>
              <a:t>g</a:t>
            </a:r>
            <a:r>
              <a:rPr lang="en-US" dirty="0" smtClean="0"/>
              <a:t>rid-row-end</a:t>
            </a:r>
            <a:endParaRPr lang="en-GB" dirty="0"/>
          </a:p>
        </p:txBody>
      </p:sp>
    </p:spTree>
    <p:extLst>
      <p:ext uri="{BB962C8B-B14F-4D97-AF65-F5344CB8AC3E}">
        <p14:creationId xmlns:p14="http://schemas.microsoft.com/office/powerpoint/2010/main" val="337481189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Grid Lines</a:t>
            </a:r>
            <a:endParaRPr lang="en-GB" dirty="0"/>
          </a:p>
        </p:txBody>
      </p:sp>
      <p:sp>
        <p:nvSpPr>
          <p:cNvPr id="5" name="TextBox 4"/>
          <p:cNvSpPr txBox="1"/>
          <p:nvPr/>
        </p:nvSpPr>
        <p:spPr>
          <a:xfrm>
            <a:off x="480650" y="1559173"/>
            <a:ext cx="3192412" cy="2031325"/>
          </a:xfrm>
          <a:prstGeom prst="rect">
            <a:avLst/>
          </a:prstGeom>
          <a:noFill/>
        </p:spPr>
        <p:txBody>
          <a:bodyPr wrap="none" rtlCol="0">
            <a:spAutoFit/>
          </a:bodyPr>
          <a:lstStyle/>
          <a:p>
            <a:r>
              <a:rPr lang="en-US" dirty="0"/>
              <a:t>&lt;div class="wrapper"&gt;</a:t>
            </a:r>
          </a:p>
          <a:p>
            <a:r>
              <a:rPr lang="en-US" dirty="0"/>
              <a:t>  &lt;div class="box1"&gt;One&lt;/div&gt;</a:t>
            </a:r>
          </a:p>
          <a:p>
            <a:r>
              <a:rPr lang="en-US" dirty="0"/>
              <a:t>  &lt;div class="box2"&gt;Two&lt;/div&gt;</a:t>
            </a:r>
          </a:p>
          <a:p>
            <a:r>
              <a:rPr lang="en-US" dirty="0"/>
              <a:t>  &lt;div class="box3"&gt;Three&lt;/div&gt;</a:t>
            </a:r>
          </a:p>
          <a:p>
            <a:r>
              <a:rPr lang="en-US" dirty="0"/>
              <a:t>  &lt;div class="box4"&gt;Four&lt;/div&gt;</a:t>
            </a:r>
          </a:p>
          <a:p>
            <a:r>
              <a:rPr lang="en-US" dirty="0"/>
              <a:t>  &lt;div class="box5"&gt;Five&lt;/div&gt;</a:t>
            </a:r>
          </a:p>
          <a:p>
            <a:r>
              <a:rPr lang="en-US" dirty="0"/>
              <a:t>&lt;/div&gt;</a:t>
            </a:r>
            <a:endParaRPr lang="en-GB" dirty="0"/>
          </a:p>
        </p:txBody>
      </p:sp>
      <p:sp>
        <p:nvSpPr>
          <p:cNvPr id="6" name="Rectangle 5"/>
          <p:cNvSpPr/>
          <p:nvPr/>
        </p:nvSpPr>
        <p:spPr>
          <a:xfrm>
            <a:off x="3856887" y="807783"/>
            <a:ext cx="3985851" cy="5078313"/>
          </a:xfrm>
          <a:prstGeom prst="rect">
            <a:avLst/>
          </a:prstGeom>
        </p:spPr>
        <p:txBody>
          <a:bodyPr wrap="square">
            <a:spAutoFit/>
          </a:bodyPr>
          <a:lstStyle/>
          <a:p>
            <a:r>
              <a:rPr lang="en-GB" dirty="0"/>
              <a:t>.wrapper {</a:t>
            </a:r>
          </a:p>
          <a:p>
            <a:r>
              <a:rPr lang="en-GB" dirty="0"/>
              <a:t>  display: grid;</a:t>
            </a:r>
          </a:p>
          <a:p>
            <a:r>
              <a:rPr lang="en-GB" dirty="0"/>
              <a:t>  grid-template-columns: repeat(3, 1fr);</a:t>
            </a:r>
          </a:p>
          <a:p>
            <a:r>
              <a:rPr lang="en-GB" dirty="0"/>
              <a:t>  grid-auto-rows: 100px;</a:t>
            </a:r>
          </a:p>
          <a:p>
            <a:r>
              <a:rPr lang="en-GB" dirty="0"/>
              <a:t>}</a:t>
            </a:r>
          </a:p>
          <a:p>
            <a:endParaRPr lang="en-GB" dirty="0"/>
          </a:p>
          <a:p>
            <a:r>
              <a:rPr lang="en-GB" dirty="0"/>
              <a:t>.box1 {</a:t>
            </a:r>
          </a:p>
          <a:p>
            <a:r>
              <a:rPr lang="en-GB" dirty="0"/>
              <a:t>  grid-column-start: 1;</a:t>
            </a:r>
          </a:p>
          <a:p>
            <a:r>
              <a:rPr lang="en-GB" dirty="0"/>
              <a:t>  grid-column-end: 4;</a:t>
            </a:r>
          </a:p>
          <a:p>
            <a:r>
              <a:rPr lang="en-GB" dirty="0"/>
              <a:t>  grid-row-start: 1;</a:t>
            </a:r>
          </a:p>
          <a:p>
            <a:r>
              <a:rPr lang="en-GB" dirty="0"/>
              <a:t>  grid-row-end: 3;</a:t>
            </a:r>
          </a:p>
          <a:p>
            <a:r>
              <a:rPr lang="en-GB" dirty="0"/>
              <a:t>}</a:t>
            </a:r>
          </a:p>
          <a:p>
            <a:endParaRPr lang="en-GB" dirty="0"/>
          </a:p>
          <a:p>
            <a:r>
              <a:rPr lang="en-GB" dirty="0"/>
              <a:t>.box2 {</a:t>
            </a:r>
          </a:p>
          <a:p>
            <a:r>
              <a:rPr lang="en-GB" dirty="0"/>
              <a:t>  grid-column-start: 1;</a:t>
            </a:r>
          </a:p>
          <a:p>
            <a:r>
              <a:rPr lang="en-GB" dirty="0"/>
              <a:t>  grid-row-start: 3;</a:t>
            </a:r>
          </a:p>
          <a:p>
            <a:r>
              <a:rPr lang="en-GB" dirty="0"/>
              <a:t>  grid-row-end: 5;</a:t>
            </a:r>
          </a:p>
          <a:p>
            <a:r>
              <a:rPr lang="en-GB" dirty="0"/>
              <a:t>}</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8954" y="789117"/>
            <a:ext cx="4137880" cy="394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726831" y="6060831"/>
            <a:ext cx="5693418" cy="369332"/>
          </a:xfrm>
          <a:prstGeom prst="rect">
            <a:avLst/>
          </a:prstGeom>
          <a:noFill/>
        </p:spPr>
        <p:txBody>
          <a:bodyPr wrap="none" rtlCol="0">
            <a:spAutoFit/>
          </a:bodyPr>
          <a:lstStyle/>
          <a:p>
            <a:r>
              <a:rPr lang="en-US" dirty="0" smtClean="0"/>
              <a:t>Line positioning can be defined  by ‘/’ for shortest notation</a:t>
            </a:r>
          </a:p>
        </p:txBody>
      </p:sp>
      <p:sp>
        <p:nvSpPr>
          <p:cNvPr id="9" name="Rectangle 8"/>
          <p:cNvSpPr/>
          <p:nvPr/>
        </p:nvSpPr>
        <p:spPr>
          <a:xfrm>
            <a:off x="6541477" y="5618927"/>
            <a:ext cx="2532184" cy="1200329"/>
          </a:xfrm>
          <a:prstGeom prst="rect">
            <a:avLst/>
          </a:prstGeom>
          <a:ln w="19050">
            <a:solidFill>
              <a:schemeClr val="tx1"/>
            </a:solidFill>
          </a:ln>
        </p:spPr>
        <p:txBody>
          <a:bodyPr wrap="square">
            <a:spAutoFit/>
          </a:bodyPr>
          <a:lstStyle/>
          <a:p>
            <a:r>
              <a:rPr lang="en-GB" dirty="0"/>
              <a:t>.box1 {</a:t>
            </a:r>
          </a:p>
          <a:p>
            <a:r>
              <a:rPr lang="en-GB" dirty="0"/>
              <a:t>  grid-column: 1 / 4;</a:t>
            </a:r>
          </a:p>
          <a:p>
            <a:r>
              <a:rPr lang="en-GB" dirty="0"/>
              <a:t>  grid-row: 1 / 3;</a:t>
            </a:r>
          </a:p>
          <a:p>
            <a:r>
              <a:rPr lang="en-GB" dirty="0"/>
              <a:t>}</a:t>
            </a:r>
          </a:p>
        </p:txBody>
      </p:sp>
    </p:spTree>
    <p:extLst>
      <p:ext uri="{BB962C8B-B14F-4D97-AF65-F5344CB8AC3E}">
        <p14:creationId xmlns:p14="http://schemas.microsoft.com/office/powerpoint/2010/main" val="368202943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t>
            </a:r>
            <a:r>
              <a:rPr lang="en-US" dirty="0" smtClean="0"/>
              <a:t>rid-row / grid-column properties</a:t>
            </a:r>
            <a:endParaRPr lang="en-GB" dirty="0"/>
          </a:p>
        </p:txBody>
      </p:sp>
      <p:sp>
        <p:nvSpPr>
          <p:cNvPr id="3" name="Content Placeholder 2"/>
          <p:cNvSpPr>
            <a:spLocks noGrp="1"/>
          </p:cNvSpPr>
          <p:nvPr>
            <p:ph idx="1"/>
          </p:nvPr>
        </p:nvSpPr>
        <p:spPr>
          <a:xfrm>
            <a:off x="838200" y="1825624"/>
            <a:ext cx="10515600" cy="4809637"/>
          </a:xfrm>
        </p:spPr>
        <p:txBody>
          <a:bodyPr/>
          <a:lstStyle/>
          <a:p>
            <a:pPr marL="0" indent="0">
              <a:buNone/>
            </a:pPr>
            <a:r>
              <a:rPr lang="en-US" dirty="0" smtClean="0"/>
              <a:t>Grid-row &amp; grid-column properties define, which row of column an element will be displayed on. You can use individual property as </a:t>
            </a:r>
          </a:p>
          <a:p>
            <a:pPr marL="914400" lvl="2" indent="0">
              <a:buNone/>
            </a:pPr>
            <a:r>
              <a:rPr lang="en-GB" dirty="0"/>
              <a:t>grid-row: &lt;row-start&gt; / &lt;row-end</a:t>
            </a:r>
            <a:r>
              <a:rPr lang="en-GB" dirty="0" smtClean="0"/>
              <a:t>&gt;;</a:t>
            </a:r>
          </a:p>
          <a:p>
            <a:pPr marL="914400" lvl="2" indent="0">
              <a:buNone/>
            </a:pPr>
            <a:r>
              <a:rPr lang="en-GB" dirty="0"/>
              <a:t>grid-row: &lt;row-start&gt; / span &lt;n</a:t>
            </a:r>
            <a:r>
              <a:rPr lang="en-GB" dirty="0" smtClean="0"/>
              <a:t>&gt;;</a:t>
            </a:r>
          </a:p>
          <a:p>
            <a:pPr marL="0" indent="0">
              <a:buNone/>
            </a:pPr>
            <a:r>
              <a:rPr lang="en-US" dirty="0"/>
              <a:t>Both properties work in conjunction to define the placement of grid items within the grid container. </a:t>
            </a:r>
            <a:endParaRPr lang="en-US" dirty="0" smtClean="0"/>
          </a:p>
          <a:p>
            <a:pPr marL="914400" lvl="2" indent="0">
              <a:buNone/>
            </a:pPr>
            <a:r>
              <a:rPr lang="en-GB" dirty="0"/>
              <a:t> grid-column: 5;</a:t>
            </a:r>
          </a:p>
          <a:p>
            <a:pPr marL="914400" lvl="2" indent="0">
              <a:buNone/>
            </a:pPr>
            <a:r>
              <a:rPr lang="en-GB" dirty="0"/>
              <a:t> </a:t>
            </a:r>
            <a:r>
              <a:rPr lang="en-GB" dirty="0" smtClean="0"/>
              <a:t>grid-row</a:t>
            </a:r>
            <a:r>
              <a:rPr lang="en-GB" dirty="0"/>
              <a:t>: 3</a:t>
            </a:r>
            <a:r>
              <a:rPr lang="en-GB" dirty="0" smtClean="0"/>
              <a:t>;</a:t>
            </a:r>
          </a:p>
          <a:p>
            <a:pPr marL="0" indent="0">
              <a:buNone/>
            </a:pPr>
            <a:r>
              <a:rPr lang="en-US" sz="2000" dirty="0" smtClean="0"/>
              <a:t>This conjunction will select cell in column 5 and row 3.</a:t>
            </a:r>
          </a:p>
          <a:p>
            <a:pPr marL="0" indent="0">
              <a:buNone/>
            </a:pPr>
            <a:r>
              <a:rPr lang="en-US" sz="2000" dirty="0" smtClean="0"/>
              <a:t>Span value of grid spread the column or row, start  from start property.</a:t>
            </a:r>
          </a:p>
          <a:p>
            <a:pPr marL="0" indent="0">
              <a:buNone/>
            </a:pPr>
            <a:r>
              <a:rPr lang="en-US" sz="2000" dirty="0" smtClean="0"/>
              <a:t>	grid-column-start: 1;</a:t>
            </a:r>
          </a:p>
          <a:p>
            <a:pPr marL="0" indent="0">
              <a:buNone/>
            </a:pPr>
            <a:r>
              <a:rPr lang="en-US" sz="2000" smtClean="0"/>
              <a:t>	grid-column-end</a:t>
            </a:r>
            <a:r>
              <a:rPr lang="en-US" sz="2000" dirty="0" smtClean="0"/>
              <a:t>: span 4</a:t>
            </a:r>
            <a:endParaRPr lang="en-GB" sz="2000" dirty="0"/>
          </a:p>
        </p:txBody>
      </p:sp>
    </p:spTree>
    <p:extLst>
      <p:ext uri="{BB962C8B-B14F-4D97-AF65-F5344CB8AC3E}">
        <p14:creationId xmlns:p14="http://schemas.microsoft.com/office/powerpoint/2010/main" val="246260952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Grid Gutter</a:t>
            </a:r>
            <a:endParaRPr lang="en-GB" dirty="0"/>
          </a:p>
        </p:txBody>
      </p:sp>
      <p:sp>
        <p:nvSpPr>
          <p:cNvPr id="3" name="Content Placeholder 2"/>
          <p:cNvSpPr>
            <a:spLocks noGrp="1"/>
          </p:cNvSpPr>
          <p:nvPr>
            <p:ph idx="1"/>
          </p:nvPr>
        </p:nvSpPr>
        <p:spPr/>
        <p:txBody>
          <a:bodyPr/>
          <a:lstStyle/>
          <a:p>
            <a:pPr marL="0" indent="0">
              <a:buNone/>
            </a:pPr>
            <a:r>
              <a:rPr lang="en-US" dirty="0" smtClean="0"/>
              <a:t>Grid gutter is the space/gap between cells by using properties </a:t>
            </a:r>
          </a:p>
          <a:p>
            <a:pPr marL="457200" lvl="1" indent="0">
              <a:buNone/>
            </a:pPr>
            <a:r>
              <a:rPr lang="en-US" dirty="0" smtClean="0"/>
              <a:t>column-gap: 50px;</a:t>
            </a:r>
          </a:p>
          <a:p>
            <a:pPr marL="457200" lvl="1" indent="0">
              <a:buNone/>
            </a:pPr>
            <a:r>
              <a:rPr lang="en-US" dirty="0"/>
              <a:t>r</a:t>
            </a:r>
            <a:r>
              <a:rPr lang="en-US" dirty="0" smtClean="0"/>
              <a:t>ow-gap: 50px;</a:t>
            </a:r>
          </a:p>
          <a:p>
            <a:pPr marL="0" indent="0">
              <a:buNone/>
            </a:pPr>
            <a:r>
              <a:rPr lang="en-US" dirty="0"/>
              <a:t>The gap property is a shorthand property for the row-gap and the column-gap properties:</a:t>
            </a:r>
          </a:p>
          <a:p>
            <a:pPr marL="457200" lvl="1" indent="0">
              <a:buNone/>
            </a:pPr>
            <a:r>
              <a:rPr lang="en-US" dirty="0" smtClean="0"/>
              <a:t>gap: 50px 100px;</a:t>
            </a:r>
          </a:p>
          <a:p>
            <a:pPr marL="457200" lvl="1" indent="0">
              <a:buNone/>
            </a:pPr>
            <a:r>
              <a:rPr lang="en-US" dirty="0" smtClean="0"/>
              <a:t>   </a:t>
            </a: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49945467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88537"/>
          </a:xfrm>
        </p:spPr>
        <p:txBody>
          <a:bodyPr/>
          <a:lstStyle/>
          <a:p>
            <a:r>
              <a:rPr lang="en-US" dirty="0" smtClean="0"/>
              <a:t>Grid Alignment </a:t>
            </a:r>
            <a:r>
              <a:rPr lang="en-US" sz="3600" dirty="0" smtClean="0"/>
              <a:t>(justify-content </a:t>
            </a:r>
            <a:r>
              <a:rPr lang="en-US" sz="3600" dirty="0" err="1" smtClean="0"/>
              <a:t>vs</a:t>
            </a:r>
            <a:r>
              <a:rPr lang="en-US" sz="3600" dirty="0" smtClean="0"/>
              <a:t> justify-item)</a:t>
            </a:r>
            <a:endParaRPr lang="en-GB" dirty="0"/>
          </a:p>
        </p:txBody>
      </p:sp>
      <p:sp>
        <p:nvSpPr>
          <p:cNvPr id="3" name="Content Placeholder 2"/>
          <p:cNvSpPr>
            <a:spLocks noGrp="1"/>
          </p:cNvSpPr>
          <p:nvPr>
            <p:ph idx="1"/>
          </p:nvPr>
        </p:nvSpPr>
        <p:spPr>
          <a:xfrm>
            <a:off x="527539" y="1477108"/>
            <a:ext cx="11148646" cy="5216769"/>
          </a:xfrm>
        </p:spPr>
        <p:txBody>
          <a:bodyPr>
            <a:normAutofit fontScale="92500" lnSpcReduction="10000"/>
          </a:bodyPr>
          <a:lstStyle/>
          <a:p>
            <a:pPr marL="0" indent="0">
              <a:buNone/>
            </a:pPr>
            <a:r>
              <a:rPr lang="en-US" dirty="0" smtClean="0"/>
              <a:t>To control the alignment of column or row, justify-content property is used.</a:t>
            </a:r>
          </a:p>
          <a:p>
            <a:pPr marL="0" indent="0">
              <a:buNone/>
            </a:pPr>
            <a:endParaRPr lang="en-US" sz="2000" dirty="0" smtClean="0"/>
          </a:p>
          <a:p>
            <a:pPr marL="0" indent="0">
              <a:buNone/>
            </a:pPr>
            <a:endParaRPr lang="en-US" sz="2000" dirty="0"/>
          </a:p>
          <a:p>
            <a:pPr marL="0" indent="0">
              <a:buNone/>
            </a:pPr>
            <a:endParaRPr lang="en-US" sz="4300" dirty="0" smtClean="0"/>
          </a:p>
          <a:p>
            <a:pPr marL="0" indent="0">
              <a:buNone/>
            </a:pPr>
            <a:r>
              <a:rPr lang="en-US" sz="2400" dirty="0" smtClean="0"/>
              <a:t>Column alignment could be </a:t>
            </a:r>
            <a:r>
              <a:rPr lang="en-US" sz="2400" dirty="0" smtClean="0">
                <a:solidFill>
                  <a:srgbClr val="FF0000"/>
                </a:solidFill>
              </a:rPr>
              <a:t>start</a:t>
            </a:r>
            <a:r>
              <a:rPr lang="en-US" sz="2400" dirty="0" smtClean="0"/>
              <a:t> | </a:t>
            </a:r>
            <a:r>
              <a:rPr lang="en-US" sz="2400" dirty="0" smtClean="0">
                <a:solidFill>
                  <a:srgbClr val="FF0000"/>
                </a:solidFill>
              </a:rPr>
              <a:t>center</a:t>
            </a:r>
            <a:r>
              <a:rPr lang="en-US" sz="2400" dirty="0" smtClean="0"/>
              <a:t> |</a:t>
            </a:r>
            <a:r>
              <a:rPr lang="en-US" sz="2400" dirty="0" smtClean="0">
                <a:solidFill>
                  <a:srgbClr val="FF0000"/>
                </a:solidFill>
              </a:rPr>
              <a:t> space-between</a:t>
            </a:r>
            <a:r>
              <a:rPr lang="en-US" sz="2400" dirty="0" smtClean="0"/>
              <a:t> |</a:t>
            </a:r>
            <a:r>
              <a:rPr lang="en-US" sz="2400" dirty="0" smtClean="0">
                <a:solidFill>
                  <a:srgbClr val="FF0000"/>
                </a:solidFill>
              </a:rPr>
              <a:t> space-around</a:t>
            </a:r>
            <a:r>
              <a:rPr lang="en-US" sz="2400" dirty="0" smtClean="0"/>
              <a:t> | </a:t>
            </a:r>
            <a:r>
              <a:rPr lang="en-US" sz="2400" dirty="0" smtClean="0">
                <a:solidFill>
                  <a:srgbClr val="FF0000"/>
                </a:solidFill>
              </a:rPr>
              <a:t>space-evenly</a:t>
            </a:r>
            <a:endParaRPr lang="en-US" sz="3600" dirty="0" smtClean="0">
              <a:solidFill>
                <a:srgbClr val="FF0000"/>
              </a:solidFill>
            </a:endParaRPr>
          </a:p>
          <a:p>
            <a:pPr marL="0" indent="0">
              <a:buNone/>
            </a:pPr>
            <a:r>
              <a:rPr lang="en-US" dirty="0" smtClean="0"/>
              <a:t>To control the alignment of items within row or columns, justify-item property is used</a:t>
            </a:r>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a:p>
            <a:pPr marL="0" indent="0">
              <a:buNone/>
            </a:pPr>
            <a:r>
              <a:rPr lang="en-US" sz="2400" dirty="0" smtClean="0"/>
              <a:t>Item alignment could be </a:t>
            </a:r>
            <a:r>
              <a:rPr lang="en-US" sz="2400" dirty="0" smtClean="0">
                <a:solidFill>
                  <a:srgbClr val="FF0000"/>
                </a:solidFill>
              </a:rPr>
              <a:t>stretch (default)</a:t>
            </a:r>
            <a:r>
              <a:rPr lang="en-US" sz="2400" dirty="0" smtClean="0"/>
              <a:t> | </a:t>
            </a:r>
            <a:r>
              <a:rPr lang="en-US" sz="2400" dirty="0" smtClean="0">
                <a:solidFill>
                  <a:srgbClr val="FF0000"/>
                </a:solidFill>
              </a:rPr>
              <a:t>start</a:t>
            </a:r>
            <a:r>
              <a:rPr lang="en-US" sz="2400" dirty="0" smtClean="0"/>
              <a:t> | </a:t>
            </a:r>
            <a:r>
              <a:rPr lang="en-US" sz="2400" dirty="0" smtClean="0">
                <a:solidFill>
                  <a:srgbClr val="FF0000"/>
                </a:solidFill>
              </a:rPr>
              <a:t>center</a:t>
            </a:r>
            <a:r>
              <a:rPr lang="en-US" sz="2400" dirty="0" smtClean="0"/>
              <a:t> | </a:t>
            </a:r>
            <a:r>
              <a:rPr lang="en-US" sz="2400" dirty="0" smtClean="0">
                <a:solidFill>
                  <a:srgbClr val="FF0000"/>
                </a:solidFill>
              </a:rPr>
              <a:t>end</a:t>
            </a:r>
            <a:endParaRPr lang="en-GB" sz="2400" dirty="0">
              <a:solidFill>
                <a:srgbClr val="FF0000"/>
              </a:solidFill>
            </a:endParaRPr>
          </a:p>
        </p:txBody>
      </p:sp>
      <p:sp>
        <p:nvSpPr>
          <p:cNvPr id="5" name="TextBox 4"/>
          <p:cNvSpPr txBox="1"/>
          <p:nvPr/>
        </p:nvSpPr>
        <p:spPr>
          <a:xfrm>
            <a:off x="3657600" y="1875696"/>
            <a:ext cx="4539384" cy="1477328"/>
          </a:xfrm>
          <a:prstGeom prst="rect">
            <a:avLst/>
          </a:prstGeom>
          <a:noFill/>
        </p:spPr>
        <p:txBody>
          <a:bodyPr wrap="none" rtlCol="0">
            <a:spAutoFit/>
          </a:bodyPr>
          <a:lstStyle/>
          <a:p>
            <a:pPr lvl="2"/>
            <a:r>
              <a:rPr lang="en-GB" dirty="0"/>
              <a:t>wrapper {</a:t>
            </a:r>
          </a:p>
          <a:p>
            <a:pPr lvl="2"/>
            <a:r>
              <a:rPr lang="en-GB" dirty="0"/>
              <a:t>   display: grid;</a:t>
            </a:r>
          </a:p>
          <a:p>
            <a:pPr lvl="2"/>
            <a:r>
              <a:rPr lang="en-GB" dirty="0"/>
              <a:t>   grid-template-columns: 90px </a:t>
            </a:r>
            <a:r>
              <a:rPr lang="en-GB" dirty="0" err="1"/>
              <a:t>90px</a:t>
            </a:r>
            <a:r>
              <a:rPr lang="en-GB" dirty="0"/>
              <a:t>;</a:t>
            </a:r>
          </a:p>
          <a:p>
            <a:pPr lvl="2"/>
            <a:r>
              <a:rPr lang="en-GB" dirty="0"/>
              <a:t>   justify-content: </a:t>
            </a:r>
            <a:r>
              <a:rPr lang="en-GB" dirty="0" err="1"/>
              <a:t>center</a:t>
            </a:r>
            <a:r>
              <a:rPr lang="en-GB" dirty="0"/>
              <a:t>;</a:t>
            </a:r>
          </a:p>
          <a:p>
            <a:pPr lvl="2"/>
            <a:r>
              <a:rPr lang="en-GB" dirty="0" smtClean="0"/>
              <a:t>}</a:t>
            </a:r>
            <a:endParaRPr lang="en-GB" dirty="0"/>
          </a:p>
        </p:txBody>
      </p:sp>
      <p:sp>
        <p:nvSpPr>
          <p:cNvPr id="6" name="TextBox 5"/>
          <p:cNvSpPr txBox="1"/>
          <p:nvPr/>
        </p:nvSpPr>
        <p:spPr>
          <a:xfrm>
            <a:off x="4371753" y="4114803"/>
            <a:ext cx="3616055" cy="1754326"/>
          </a:xfrm>
          <a:prstGeom prst="rect">
            <a:avLst/>
          </a:prstGeom>
          <a:noFill/>
        </p:spPr>
        <p:txBody>
          <a:bodyPr wrap="none" rtlCol="0">
            <a:spAutoFit/>
          </a:bodyPr>
          <a:lstStyle/>
          <a:p>
            <a:r>
              <a:rPr lang="en-GB" dirty="0"/>
              <a:t>.parent {</a:t>
            </a:r>
          </a:p>
          <a:p>
            <a:r>
              <a:rPr lang="en-GB" dirty="0" smtClean="0"/>
              <a:t>   display</a:t>
            </a:r>
            <a:r>
              <a:rPr lang="en-GB" dirty="0"/>
              <a:t>: grid;</a:t>
            </a:r>
          </a:p>
          <a:p>
            <a:r>
              <a:rPr lang="en-GB" dirty="0" smtClean="0"/>
              <a:t>   grid-template-columns</a:t>
            </a:r>
            <a:r>
              <a:rPr lang="en-GB" dirty="0"/>
              <a:t>: 90px </a:t>
            </a:r>
            <a:r>
              <a:rPr lang="en-GB" dirty="0" err="1"/>
              <a:t>90px</a:t>
            </a:r>
            <a:r>
              <a:rPr lang="en-GB" dirty="0"/>
              <a:t>;</a:t>
            </a:r>
          </a:p>
          <a:p>
            <a:r>
              <a:rPr lang="en-GB" dirty="0" smtClean="0"/>
              <a:t>   justify-content</a:t>
            </a:r>
            <a:r>
              <a:rPr lang="en-GB" dirty="0"/>
              <a:t>: </a:t>
            </a:r>
            <a:r>
              <a:rPr lang="en-GB" dirty="0" err="1"/>
              <a:t>center</a:t>
            </a:r>
            <a:r>
              <a:rPr lang="en-GB" dirty="0"/>
              <a:t>;</a:t>
            </a:r>
          </a:p>
          <a:p>
            <a:r>
              <a:rPr lang="en-GB" dirty="0" smtClean="0"/>
              <a:t>   justify-items</a:t>
            </a:r>
            <a:r>
              <a:rPr lang="en-GB" dirty="0"/>
              <a:t>: stretch;</a:t>
            </a:r>
          </a:p>
          <a:p>
            <a:r>
              <a:rPr lang="en-GB" dirty="0" smtClean="0"/>
              <a:t>}</a:t>
            </a:r>
            <a:endParaRPr lang="en-GB" dirty="0"/>
          </a:p>
        </p:txBody>
      </p:sp>
    </p:spTree>
    <p:extLst>
      <p:ext uri="{BB962C8B-B14F-4D97-AF65-F5344CB8AC3E}">
        <p14:creationId xmlns:p14="http://schemas.microsoft.com/office/powerpoint/2010/main" val="108720551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Grid Alignment (</a:t>
            </a:r>
            <a:r>
              <a:rPr lang="en-US" sz="3600" dirty="0" smtClean="0"/>
              <a:t>justify-self</a:t>
            </a:r>
            <a:r>
              <a:rPr lang="en-US" dirty="0" smtClean="0"/>
              <a:t>)</a:t>
            </a:r>
            <a:endParaRPr lang="en-GB" dirty="0"/>
          </a:p>
        </p:txBody>
      </p:sp>
      <p:sp>
        <p:nvSpPr>
          <p:cNvPr id="3" name="Content Placeholder 2"/>
          <p:cNvSpPr>
            <a:spLocks noGrp="1"/>
          </p:cNvSpPr>
          <p:nvPr>
            <p:ph idx="1"/>
          </p:nvPr>
        </p:nvSpPr>
        <p:spPr>
          <a:xfrm>
            <a:off x="838200" y="1825625"/>
            <a:ext cx="10515600" cy="4786190"/>
          </a:xfrm>
        </p:spPr>
        <p:txBody>
          <a:bodyPr>
            <a:normAutofit fontScale="92500" lnSpcReduction="10000"/>
          </a:bodyPr>
          <a:lstStyle/>
          <a:p>
            <a:pPr marL="0" indent="0">
              <a:buNone/>
            </a:pPr>
            <a:r>
              <a:rPr lang="en-US" dirty="0" smtClean="0"/>
              <a:t>justify-self:- This property is used to align a specific grid child.</a:t>
            </a:r>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r>
              <a:rPr lang="en-US" sz="2600" dirty="0" smtClean="0"/>
              <a:t>Possible values could be </a:t>
            </a:r>
            <a:r>
              <a:rPr lang="en-US" sz="2600" dirty="0" smtClean="0">
                <a:solidFill>
                  <a:srgbClr val="FF0000"/>
                </a:solidFill>
              </a:rPr>
              <a:t>stretch</a:t>
            </a:r>
            <a:r>
              <a:rPr lang="en-US" sz="2600" dirty="0" smtClean="0"/>
              <a:t> | </a:t>
            </a:r>
            <a:r>
              <a:rPr lang="en-US" sz="2600" dirty="0" smtClean="0">
                <a:solidFill>
                  <a:srgbClr val="FF0000"/>
                </a:solidFill>
              </a:rPr>
              <a:t>start</a:t>
            </a:r>
            <a:r>
              <a:rPr lang="en-US" sz="2600" dirty="0" smtClean="0"/>
              <a:t> |</a:t>
            </a:r>
            <a:r>
              <a:rPr lang="en-US" sz="2600" dirty="0" smtClean="0">
                <a:solidFill>
                  <a:srgbClr val="FF0000"/>
                </a:solidFill>
              </a:rPr>
              <a:t>end</a:t>
            </a:r>
            <a:r>
              <a:rPr lang="en-US" sz="2600" dirty="0" smtClean="0"/>
              <a:t> |</a:t>
            </a:r>
            <a:r>
              <a:rPr lang="en-US" sz="2600" dirty="0" smtClean="0">
                <a:solidFill>
                  <a:srgbClr val="FF0000"/>
                </a:solidFill>
              </a:rPr>
              <a:t>center</a:t>
            </a:r>
          </a:p>
          <a:p>
            <a:pPr marL="0" indent="0" algn="just">
              <a:buNone/>
            </a:pPr>
            <a:r>
              <a:rPr lang="en-US" dirty="0"/>
              <a:t>justify-items is used on a grid container and is used to determine how grid items are spread out along a row by setting the default justify-self property for all child boxes. justify-self is used to set how an individual grid item positions itself along the row/inline axis.</a:t>
            </a:r>
            <a:endParaRPr lang="en-US" dirty="0" smtClean="0"/>
          </a:p>
          <a:p>
            <a:pPr marL="0" indent="0">
              <a:buNone/>
            </a:pPr>
            <a:endParaRPr lang="en-GB" dirty="0"/>
          </a:p>
        </p:txBody>
      </p:sp>
      <p:sp>
        <p:nvSpPr>
          <p:cNvPr id="5" name="TextBox 4"/>
          <p:cNvSpPr txBox="1"/>
          <p:nvPr/>
        </p:nvSpPr>
        <p:spPr>
          <a:xfrm>
            <a:off x="4407877" y="2239109"/>
            <a:ext cx="3616055" cy="2308324"/>
          </a:xfrm>
          <a:prstGeom prst="rect">
            <a:avLst/>
          </a:prstGeom>
          <a:noFill/>
        </p:spPr>
        <p:txBody>
          <a:bodyPr wrap="none" rtlCol="0">
            <a:spAutoFit/>
          </a:bodyPr>
          <a:lstStyle/>
          <a:p>
            <a:r>
              <a:rPr lang="en-GB" dirty="0"/>
              <a:t>.parent {</a:t>
            </a:r>
          </a:p>
          <a:p>
            <a:r>
              <a:rPr lang="en-GB" dirty="0" smtClean="0"/>
              <a:t>   display</a:t>
            </a:r>
            <a:r>
              <a:rPr lang="en-GB" dirty="0"/>
              <a:t>: grid;</a:t>
            </a:r>
          </a:p>
          <a:p>
            <a:r>
              <a:rPr lang="en-GB" dirty="0" smtClean="0"/>
              <a:t>   grid-template-columns</a:t>
            </a:r>
            <a:r>
              <a:rPr lang="en-GB" dirty="0"/>
              <a:t>: 90px </a:t>
            </a:r>
            <a:r>
              <a:rPr lang="en-GB" dirty="0" err="1"/>
              <a:t>90px</a:t>
            </a:r>
            <a:r>
              <a:rPr lang="en-GB" dirty="0"/>
              <a:t>;</a:t>
            </a:r>
          </a:p>
          <a:p>
            <a:r>
              <a:rPr lang="en-GB" dirty="0" smtClean="0"/>
              <a:t>   justify-content</a:t>
            </a:r>
            <a:r>
              <a:rPr lang="en-GB" dirty="0"/>
              <a:t>: start;</a:t>
            </a:r>
          </a:p>
          <a:p>
            <a:r>
              <a:rPr lang="en-GB" dirty="0"/>
              <a:t>}</a:t>
            </a:r>
          </a:p>
          <a:p>
            <a:r>
              <a:rPr lang="en-GB" dirty="0"/>
              <a:t>.one {</a:t>
            </a:r>
          </a:p>
          <a:p>
            <a:r>
              <a:rPr lang="en-GB" dirty="0" smtClean="0"/>
              <a:t>   justify-self</a:t>
            </a:r>
            <a:r>
              <a:rPr lang="en-GB" dirty="0"/>
              <a:t>: start;</a:t>
            </a:r>
          </a:p>
          <a:p>
            <a:r>
              <a:rPr lang="en-GB" dirty="0" smtClean="0"/>
              <a:t>}</a:t>
            </a:r>
            <a:endParaRPr lang="en-GB" dirty="0"/>
          </a:p>
        </p:txBody>
      </p:sp>
    </p:spTree>
    <p:extLst>
      <p:ext uri="{BB962C8B-B14F-4D97-AF65-F5344CB8AC3E}">
        <p14:creationId xmlns:p14="http://schemas.microsoft.com/office/powerpoint/2010/main" val="359192606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Grid Alignment (</a:t>
            </a:r>
            <a:r>
              <a:rPr lang="en-US" sz="3600" dirty="0" smtClean="0"/>
              <a:t>align-content | align-items</a:t>
            </a:r>
            <a:r>
              <a:rPr lang="en-US" dirty="0" smtClean="0"/>
              <a:t>)</a:t>
            </a:r>
            <a:endParaRPr lang="en-GB" dirty="0"/>
          </a:p>
        </p:txBody>
      </p:sp>
      <p:sp>
        <p:nvSpPr>
          <p:cNvPr id="3" name="Content Placeholder 2"/>
          <p:cNvSpPr>
            <a:spLocks noGrp="1"/>
          </p:cNvSpPr>
          <p:nvPr>
            <p:ph idx="1"/>
          </p:nvPr>
        </p:nvSpPr>
        <p:spPr>
          <a:xfrm>
            <a:off x="797168" y="1825625"/>
            <a:ext cx="10556631" cy="4351338"/>
          </a:xfrm>
        </p:spPr>
        <p:txBody>
          <a:bodyPr/>
          <a:lstStyle/>
          <a:p>
            <a:pPr marL="0" indent="0" algn="just">
              <a:buNone/>
            </a:pPr>
            <a:r>
              <a:rPr lang="en-US" dirty="0" smtClean="0"/>
              <a:t>To align grid stuff in horizontal direction, Grid provides align-content &amp; align-items properties.</a:t>
            </a:r>
          </a:p>
          <a:p>
            <a:pPr marL="0" indent="0" algn="just">
              <a:buNone/>
            </a:pPr>
            <a:r>
              <a:rPr lang="en-US" dirty="0"/>
              <a:t>align-content is like justify-content, but it affects rows instead of columns. Similarly, align-items is like justify-items, but it handles the </a:t>
            </a:r>
            <a:r>
              <a:rPr lang="en-US" i="1" dirty="0"/>
              <a:t>vertical</a:t>
            </a:r>
            <a:r>
              <a:rPr lang="en-US" dirty="0"/>
              <a:t> alignment of items inside their grid area, rather than horizontal.</a:t>
            </a:r>
            <a:endParaRPr lang="en-US" dirty="0" smtClean="0"/>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360597105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Grid Examples</a:t>
            </a:r>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7086" y="2195513"/>
            <a:ext cx="1563328" cy="1394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664" y="5172076"/>
            <a:ext cx="1972171" cy="1240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1188" y="4991467"/>
            <a:ext cx="2270514" cy="1421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51960" y="4991467"/>
            <a:ext cx="2251464" cy="1461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5570" y="2040185"/>
            <a:ext cx="2705100"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48940" y="1963985"/>
            <a:ext cx="2943225" cy="178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336367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Define Grid Layout</a:t>
            </a:r>
            <a:endParaRPr lang="en-GB" dirty="0"/>
          </a:p>
        </p:txBody>
      </p:sp>
      <p:sp>
        <p:nvSpPr>
          <p:cNvPr id="3" name="Content Placeholder 2"/>
          <p:cNvSpPr>
            <a:spLocks noGrp="1"/>
          </p:cNvSpPr>
          <p:nvPr>
            <p:ph idx="1"/>
          </p:nvPr>
        </p:nvSpPr>
        <p:spPr>
          <a:xfrm>
            <a:off x="838200" y="1547446"/>
            <a:ext cx="10896600" cy="5205046"/>
          </a:xfrm>
        </p:spPr>
        <p:txBody>
          <a:bodyPr>
            <a:normAutofit fontScale="85000" lnSpcReduction="20000"/>
          </a:bodyPr>
          <a:lstStyle/>
          <a:p>
            <a:pPr marL="0" indent="0" algn="just">
              <a:buNone/>
            </a:pPr>
            <a:r>
              <a:rPr lang="en-US" b="1" dirty="0" smtClean="0"/>
              <a:t>Define the Grid:</a:t>
            </a:r>
            <a:r>
              <a:rPr lang="en-US" dirty="0" smtClean="0"/>
              <a:t> </a:t>
            </a:r>
            <a:r>
              <a:rPr lang="en-US" dirty="0"/>
              <a:t>You can define the structure of the grid using properties like grid-template-columns and grid-template-rows on the grid container. These properties allow you to specify the size and number of columns and rows in the grid</a:t>
            </a:r>
            <a:r>
              <a:rPr lang="en-US" dirty="0" smtClean="0"/>
              <a:t>.</a:t>
            </a:r>
          </a:p>
          <a:p>
            <a:pPr algn="just"/>
            <a:r>
              <a:rPr lang="en-US" b="1" dirty="0"/>
              <a:t>Place Grid Items</a:t>
            </a:r>
            <a:r>
              <a:rPr lang="en-US" dirty="0"/>
              <a:t>: Once the grid is defined, you can place the grid items within the grid using properties like grid-column and grid-row. These properties determine which grid lines the items start and end on, effectively positioning them within the grid.</a:t>
            </a:r>
          </a:p>
          <a:p>
            <a:pPr algn="just"/>
            <a:r>
              <a:rPr lang="en-US" b="1" dirty="0"/>
              <a:t>Alignment</a:t>
            </a:r>
            <a:r>
              <a:rPr lang="en-US" dirty="0"/>
              <a:t>: Grid containers provide properties to align and justify grid items within the grid, such as justify-items, align-items, justify-content, and align-content. These properties control the alignment of items along the row and column axes</a:t>
            </a:r>
            <a:r>
              <a:rPr lang="en-US" dirty="0" smtClean="0"/>
              <a:t>.</a:t>
            </a:r>
          </a:p>
          <a:p>
            <a:pPr algn="just"/>
            <a:r>
              <a:rPr lang="en-US" b="1" dirty="0"/>
              <a:t>Grid Gap</a:t>
            </a:r>
            <a:r>
              <a:rPr lang="en-US" dirty="0"/>
              <a:t>: You can also specify the size of the gap between grid tracks (rows and columns) using the grid-gap property or its shorthand equivalents grid-row-gap and grid-column-gap.</a:t>
            </a:r>
          </a:p>
          <a:p>
            <a:pPr algn="just"/>
            <a:r>
              <a:rPr lang="en-US" b="1" dirty="0"/>
              <a:t>Responsive Layouts</a:t>
            </a:r>
            <a:r>
              <a:rPr lang="en-US" dirty="0"/>
              <a:t>: CSS Grid Layout allows you to create responsive layouts that adapt to different screen sizes and orientations. By using flexible units like percentages or </a:t>
            </a:r>
            <a:r>
              <a:rPr lang="en-US" dirty="0" err="1"/>
              <a:t>fr</a:t>
            </a:r>
            <a:r>
              <a:rPr lang="en-US" dirty="0"/>
              <a:t> units, you can create layouts that adjust dynamically based on the available space</a:t>
            </a:r>
            <a:r>
              <a:rPr lang="en-US" dirty="0" smtClean="0"/>
              <a:t>.</a:t>
            </a:r>
            <a:endParaRPr lang="en-US" dirty="0"/>
          </a:p>
          <a:p>
            <a:pPr marL="0" indent="0">
              <a:buNone/>
            </a:pPr>
            <a:endParaRPr lang="en-GB" dirty="0"/>
          </a:p>
        </p:txBody>
      </p:sp>
    </p:spTree>
    <p:extLst>
      <p:ext uri="{BB962C8B-B14F-4D97-AF65-F5344CB8AC3E}">
        <p14:creationId xmlns:p14="http://schemas.microsoft.com/office/powerpoint/2010/main" val="151640062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Flexbox</a:t>
            </a:r>
            <a:r>
              <a:rPr lang="en-US" dirty="0" smtClean="0"/>
              <a:t> </a:t>
            </a:r>
            <a:r>
              <a:rPr lang="en-US" dirty="0" err="1" smtClean="0"/>
              <a:t>vs</a:t>
            </a:r>
            <a:r>
              <a:rPr lang="en-US" dirty="0" smtClean="0"/>
              <a:t> Grid Layout</a:t>
            </a:r>
            <a:endParaRPr lang="en-GB" dirty="0"/>
          </a:p>
        </p:txBody>
      </p:sp>
      <p:sp>
        <p:nvSpPr>
          <p:cNvPr id="3" name="Content Placeholder 2"/>
          <p:cNvSpPr>
            <a:spLocks noGrp="1"/>
          </p:cNvSpPr>
          <p:nvPr>
            <p:ph idx="1"/>
          </p:nvPr>
        </p:nvSpPr>
        <p:spPr/>
        <p:txBody>
          <a:bodyPr>
            <a:normAutofit fontScale="92500"/>
          </a:bodyPr>
          <a:lstStyle/>
          <a:p>
            <a:pPr marL="0" indent="0">
              <a:buNone/>
            </a:pPr>
            <a:r>
              <a:rPr lang="en-US" dirty="0" err="1" smtClean="0"/>
              <a:t>Flexbox</a:t>
            </a:r>
            <a:r>
              <a:rPr lang="en-US" dirty="0" smtClean="0"/>
              <a:t> is consider for small-scale layouts, whereas </a:t>
            </a:r>
            <a:r>
              <a:rPr lang="en-GB" dirty="0" smtClean="0"/>
              <a:t>Grid layout is intended for large scale layouts. </a:t>
            </a:r>
          </a:p>
          <a:p>
            <a:pPr marL="0" indent="0">
              <a:buNone/>
            </a:pPr>
            <a:r>
              <a:rPr lang="en-US" dirty="0" smtClean="0"/>
              <a:t>Grid is a two dimension layout model, which control column and rows together.</a:t>
            </a:r>
          </a:p>
          <a:p>
            <a:pPr marL="0" indent="0">
              <a:buNone/>
            </a:pPr>
            <a:r>
              <a:rPr lang="en-US" dirty="0" smtClean="0"/>
              <a:t>Flex is a one-dimensional </a:t>
            </a:r>
            <a:r>
              <a:rPr lang="en-US" dirty="0"/>
              <a:t>layout means that layout in one dimension at a time – either as a row or as a column.</a:t>
            </a:r>
          </a:p>
          <a:p>
            <a:pPr marL="0" indent="0">
              <a:buNone/>
            </a:pPr>
            <a:r>
              <a:rPr lang="en-US" dirty="0" smtClean="0"/>
              <a:t> </a:t>
            </a:r>
            <a:r>
              <a:rPr lang="en-US" dirty="0"/>
              <a:t>All items inside </a:t>
            </a:r>
            <a:r>
              <a:rPr lang="en-US" dirty="0" err="1"/>
              <a:t>Flexbox</a:t>
            </a:r>
            <a:r>
              <a:rPr lang="en-US" dirty="0"/>
              <a:t> layout are placed in term of row or column. The </a:t>
            </a:r>
          </a:p>
          <a:p>
            <a:pPr marL="0" indent="0">
              <a:buNone/>
            </a:pPr>
            <a:r>
              <a:rPr lang="en-US" dirty="0"/>
              <a:t>flex-direction property defines in which direction the container wants to stack the flex items.</a:t>
            </a:r>
          </a:p>
          <a:p>
            <a:pPr marL="0" indent="0">
              <a:buNone/>
            </a:pPr>
            <a:r>
              <a:rPr lang="en-US" dirty="0"/>
              <a:t> </a:t>
            </a:r>
            <a:endParaRPr lang="en-US" dirty="0" smtClean="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294820994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 Page</a:t>
            </a:r>
            <a:endParaRPr lang="en-GB" dirty="0"/>
          </a:p>
        </p:txBody>
      </p:sp>
      <p:sp>
        <p:nvSpPr>
          <p:cNvPr id="3" name="Content Placeholder 2"/>
          <p:cNvSpPr>
            <a:spLocks noGrp="1"/>
          </p:cNvSpPr>
          <p:nvPr>
            <p:ph idx="1"/>
          </p:nvPr>
        </p:nvSpPr>
        <p:spPr/>
        <p:txBody>
          <a:bodyPr/>
          <a:lstStyle/>
          <a:p>
            <a:pPr marL="0" indent="0">
              <a:buNone/>
            </a:pPr>
            <a:r>
              <a:rPr lang="en-GB" dirty="0">
                <a:hlinkClick r:id="rId2"/>
              </a:rPr>
              <a:t>https://gridbyexample.com</a:t>
            </a:r>
            <a:r>
              <a:rPr lang="en-GB" dirty="0" smtClean="0">
                <a:hlinkClick r:id="rId2"/>
              </a:rPr>
              <a:t>/</a:t>
            </a:r>
            <a:endParaRPr lang="en-GB" dirty="0" smtClean="0"/>
          </a:p>
          <a:p>
            <a:pPr marL="0" indent="0">
              <a:buNone/>
            </a:pPr>
            <a:r>
              <a:rPr lang="en-GB" dirty="0">
                <a:hlinkClick r:id="rId3"/>
              </a:rPr>
              <a:t>http://www.flexboxdefense.com</a:t>
            </a:r>
            <a:r>
              <a:rPr lang="en-GB" dirty="0" smtClean="0">
                <a:hlinkClick r:id="rId3"/>
              </a:rPr>
              <a:t>/</a:t>
            </a:r>
            <a:endParaRPr lang="en-GB" dirty="0" smtClean="0"/>
          </a:p>
          <a:p>
            <a:pPr marL="0" indent="0">
              <a:buNone/>
            </a:pPr>
            <a:r>
              <a:rPr lang="en-GB" dirty="0">
                <a:hlinkClick r:id="rId4"/>
              </a:rPr>
              <a:t>https://flexboxfroggy.com</a:t>
            </a:r>
            <a:r>
              <a:rPr lang="en-GB" dirty="0" smtClean="0">
                <a:hlinkClick r:id="rId4"/>
              </a:rPr>
              <a:t>/</a:t>
            </a:r>
            <a:endParaRPr lang="en-GB" dirty="0" smtClean="0"/>
          </a:p>
          <a:p>
            <a:pPr marL="0" indent="0">
              <a:buNone/>
            </a:pPr>
            <a:r>
              <a:rPr lang="en-GB" dirty="0">
                <a:hlinkClick r:id="rId5"/>
              </a:rPr>
              <a:t>https://gridcritters.com</a:t>
            </a:r>
            <a:r>
              <a:rPr lang="en-GB" dirty="0" smtClean="0">
                <a:hlinkClick r:id="rId5"/>
              </a:rPr>
              <a:t>/</a:t>
            </a:r>
            <a:endParaRPr lang="en-GB" dirty="0" smtClean="0"/>
          </a:p>
          <a:p>
            <a:pPr marL="0" indent="0">
              <a:buNone/>
            </a:pPr>
            <a:r>
              <a:rPr lang="en-GB" dirty="0">
                <a:hlinkClick r:id="rId6"/>
              </a:rPr>
              <a:t>https://cssbattle.dev</a:t>
            </a:r>
            <a:r>
              <a:rPr lang="en-GB" dirty="0" smtClean="0">
                <a:hlinkClick r:id="rId6"/>
              </a:rPr>
              <a:t>/</a:t>
            </a:r>
            <a:endParaRPr lang="en-GB" dirty="0" smtClean="0"/>
          </a:p>
          <a:p>
            <a:pPr marL="0" indent="0">
              <a:buNone/>
            </a:pPr>
            <a:endParaRPr lang="en-GB" dirty="0" smtClean="0"/>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106781750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marL="0" indent="0">
              <a:buNone/>
            </a:pPr>
            <a:r>
              <a:rPr lang="en-US" dirty="0" smtClean="0"/>
              <a:t>Reference:-</a:t>
            </a:r>
          </a:p>
          <a:p>
            <a:pPr marL="0" indent="0">
              <a:buNone/>
            </a:pPr>
            <a:r>
              <a:rPr lang="en-GB" dirty="0" smtClean="0">
                <a:hlinkClick r:id="rId2"/>
              </a:rPr>
              <a:t>https</a:t>
            </a:r>
            <a:r>
              <a:rPr lang="en-GB" dirty="0">
                <a:hlinkClick r:id="rId2"/>
              </a:rPr>
              <a:t>://</a:t>
            </a:r>
            <a:r>
              <a:rPr lang="en-GB" dirty="0" smtClean="0">
                <a:hlinkClick r:id="rId2"/>
              </a:rPr>
              <a:t>developer.mozilla.org/en-US/docs/Web/CSS/CSS_grid_layout/Basic_concepts_of_grid_layout</a:t>
            </a:r>
            <a:endParaRPr lang="en-GB" dirty="0" smtClean="0"/>
          </a:p>
          <a:p>
            <a:pPr marL="0" indent="0">
              <a:buNone/>
            </a:pPr>
            <a:r>
              <a:rPr lang="en-GB" dirty="0" smtClean="0">
                <a:hlinkClick r:id="rId3"/>
              </a:rPr>
              <a:t>https</a:t>
            </a:r>
            <a:r>
              <a:rPr lang="en-GB" dirty="0">
                <a:hlinkClick r:id="rId3"/>
              </a:rPr>
              <a:t>://www.joshwcomeau.com/css/interactive-guide-to-grid</a:t>
            </a:r>
            <a:r>
              <a:rPr lang="en-GB" dirty="0" smtClean="0">
                <a:hlinkClick r:id="rId3"/>
              </a:rPr>
              <a:t>/</a:t>
            </a:r>
            <a:endParaRPr lang="en-GB" dirty="0" smtClean="0"/>
          </a:p>
          <a:p>
            <a:pPr marL="0" indent="0">
              <a:buNone/>
            </a:pPr>
            <a:r>
              <a:rPr lang="en-US" dirty="0"/>
              <a:t>https://css-tricks.com/snippets/css/complete-guide-grid/</a:t>
            </a:r>
          </a:p>
          <a:p>
            <a:pPr marL="0" indent="0">
              <a:buNone/>
            </a:pPr>
            <a:r>
              <a:rPr lang="en-US" dirty="0" smtClean="0"/>
              <a:t>Grid Examples:-</a:t>
            </a:r>
          </a:p>
          <a:p>
            <a:pPr marL="0" indent="0">
              <a:buNone/>
            </a:pPr>
            <a:r>
              <a:rPr lang="en-US" dirty="0"/>
              <a:t>https://gridbyexample.com/examples/</a:t>
            </a:r>
            <a:endParaRPr lang="en-US" dirty="0" smtClean="0"/>
          </a:p>
          <a:p>
            <a:pPr marL="0" indent="0">
              <a:buNone/>
            </a:pPr>
            <a:endParaRPr lang="en-GB" dirty="0" smtClean="0"/>
          </a:p>
          <a:p>
            <a:pPr marL="0" indent="0">
              <a:buNone/>
            </a:pPr>
            <a:endParaRPr lang="en-GB"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362386611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Positioning </a:t>
            </a:r>
            <a:endParaRPr lang="en-GB" dirty="0"/>
          </a:p>
        </p:txBody>
      </p:sp>
      <p:sp>
        <p:nvSpPr>
          <p:cNvPr id="3" name="Content Placeholder 2"/>
          <p:cNvSpPr>
            <a:spLocks noGrp="1"/>
          </p:cNvSpPr>
          <p:nvPr>
            <p:ph idx="1"/>
          </p:nvPr>
        </p:nvSpPr>
        <p:spPr>
          <a:xfrm>
            <a:off x="838200" y="1688122"/>
            <a:ext cx="10515600" cy="5017477"/>
          </a:xfrm>
        </p:spPr>
        <p:txBody>
          <a:bodyPr>
            <a:normAutofit lnSpcReduction="10000"/>
          </a:bodyPr>
          <a:lstStyle/>
          <a:p>
            <a:pPr marL="0" indent="0">
              <a:buNone/>
            </a:pPr>
            <a:r>
              <a:rPr lang="en-US" dirty="0"/>
              <a:t>CSS positioning refers to the way elements are arranged on a web page using the position property. There are five common values:</a:t>
            </a:r>
          </a:p>
          <a:p>
            <a:r>
              <a:rPr lang="en-US" b="1" dirty="0"/>
              <a:t>Static</a:t>
            </a:r>
            <a:r>
              <a:rPr lang="en-US" dirty="0"/>
              <a:t> (default): Elements are positioned in the normal document flow.</a:t>
            </a:r>
          </a:p>
          <a:p>
            <a:r>
              <a:rPr lang="en-US" b="1" dirty="0"/>
              <a:t>Relative</a:t>
            </a:r>
            <a:r>
              <a:rPr lang="en-US" dirty="0"/>
              <a:t>: Positioned relative to its normal position.</a:t>
            </a:r>
          </a:p>
          <a:p>
            <a:r>
              <a:rPr lang="en-US" b="1" dirty="0"/>
              <a:t>Absolute</a:t>
            </a:r>
            <a:r>
              <a:rPr lang="en-US" dirty="0"/>
              <a:t>: Positioned relative to its nearest positioned ancestor or the viewport if none exists.</a:t>
            </a:r>
          </a:p>
          <a:p>
            <a:r>
              <a:rPr lang="en-US" b="1" dirty="0"/>
              <a:t>Fixed</a:t>
            </a:r>
            <a:r>
              <a:rPr lang="en-US" dirty="0"/>
              <a:t>: Positioned relative to the viewport; doesn't move on scroll.</a:t>
            </a:r>
          </a:p>
          <a:p>
            <a:r>
              <a:rPr lang="en-US" b="1" dirty="0"/>
              <a:t>Sticky</a:t>
            </a:r>
            <a:r>
              <a:rPr lang="en-US" dirty="0"/>
              <a:t>: Switches between relative and fixed, depending on scroll position</a:t>
            </a:r>
            <a:r>
              <a:rPr lang="en-US" dirty="0" smtClean="0"/>
              <a:t>.</a:t>
            </a:r>
          </a:p>
          <a:p>
            <a:pPr marL="0" indent="0">
              <a:buNone/>
            </a:pPr>
            <a:r>
              <a:rPr lang="en-US" dirty="0" smtClean="0"/>
              <a:t>Each position can be displayed by top, right, bottom, and left properties</a:t>
            </a:r>
            <a:endParaRPr lang="en-US" dirty="0"/>
          </a:p>
        </p:txBody>
      </p:sp>
    </p:spTree>
    <p:extLst>
      <p:ext uri="{BB962C8B-B14F-4D97-AF65-F5344CB8AC3E}">
        <p14:creationId xmlns:p14="http://schemas.microsoft.com/office/powerpoint/2010/main" val="35419042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SS Position Proper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837347"/>
            <a:ext cx="10306770" cy="5411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83771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Positioning</a:t>
            </a:r>
            <a:endParaRPr lang="en-GB" dirty="0"/>
          </a:p>
        </p:txBody>
      </p:sp>
      <p:sp>
        <p:nvSpPr>
          <p:cNvPr id="3" name="Content Placeholder 2"/>
          <p:cNvSpPr>
            <a:spLocks noGrp="1"/>
          </p:cNvSpPr>
          <p:nvPr>
            <p:ph idx="1"/>
          </p:nvPr>
        </p:nvSpPr>
        <p:spPr/>
        <p:txBody>
          <a:bodyPr/>
          <a:lstStyle/>
          <a:p>
            <a:pPr marL="0" indent="0">
              <a:buNone/>
            </a:pPr>
            <a:r>
              <a:rPr lang="en-US" b="1" dirty="0" smtClean="0">
                <a:solidFill>
                  <a:srgbClr val="00B0F0"/>
                </a:solidFill>
              </a:rPr>
              <a:t>Static Potion:-</a:t>
            </a:r>
            <a:r>
              <a:rPr lang="en-US" dirty="0" smtClean="0"/>
              <a:t> </a:t>
            </a:r>
            <a:r>
              <a:rPr lang="en-US" dirty="0"/>
              <a:t>The static position is the default position of an element in CSS. This means that the element is positioned according to the normal flow of the document. </a:t>
            </a:r>
            <a:endParaRPr lang="en-US" dirty="0" smtClean="0"/>
          </a:p>
          <a:p>
            <a:r>
              <a:rPr lang="en-US" dirty="0" smtClean="0"/>
              <a:t>All elements are static by default unless otherwise specified.</a:t>
            </a:r>
          </a:p>
          <a:p>
            <a:r>
              <a:rPr lang="en-US" dirty="0" smtClean="0"/>
              <a:t>The </a:t>
            </a:r>
            <a:r>
              <a:rPr lang="en-US" b="1" dirty="0"/>
              <a:t>top</a:t>
            </a:r>
            <a:r>
              <a:rPr lang="en-US" dirty="0"/>
              <a:t>, </a:t>
            </a:r>
            <a:r>
              <a:rPr lang="en-US" b="1" dirty="0"/>
              <a:t>right</a:t>
            </a:r>
            <a:r>
              <a:rPr lang="en-US" dirty="0"/>
              <a:t>,</a:t>
            </a:r>
            <a:r>
              <a:rPr lang="en-US" b="1" dirty="0"/>
              <a:t> bottom</a:t>
            </a:r>
            <a:r>
              <a:rPr lang="en-US" dirty="0"/>
              <a:t>, and </a:t>
            </a:r>
            <a:r>
              <a:rPr lang="en-US" b="1" dirty="0"/>
              <a:t>left</a:t>
            </a:r>
            <a:r>
              <a:rPr lang="en-US" dirty="0"/>
              <a:t> properties have no effect when the position is set to static</a:t>
            </a:r>
            <a:r>
              <a:rPr lang="en-US" dirty="0" smtClean="0"/>
              <a:t>.</a:t>
            </a:r>
          </a:p>
        </p:txBody>
      </p:sp>
    </p:spTree>
    <p:extLst>
      <p:ext uri="{BB962C8B-B14F-4D97-AF65-F5344CB8AC3E}">
        <p14:creationId xmlns:p14="http://schemas.microsoft.com/office/powerpoint/2010/main" val="208806207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Positioning</a:t>
            </a:r>
            <a:endParaRPr lang="en-GB" dirty="0"/>
          </a:p>
        </p:txBody>
      </p:sp>
      <p:sp>
        <p:nvSpPr>
          <p:cNvPr id="3" name="Content Placeholder 2"/>
          <p:cNvSpPr>
            <a:spLocks noGrp="1"/>
          </p:cNvSpPr>
          <p:nvPr>
            <p:ph idx="1"/>
          </p:nvPr>
        </p:nvSpPr>
        <p:spPr>
          <a:xfrm>
            <a:off x="574431" y="1825624"/>
            <a:ext cx="10949354" cy="2887053"/>
          </a:xfrm>
        </p:spPr>
        <p:txBody>
          <a:bodyPr>
            <a:normAutofit lnSpcReduction="10000"/>
          </a:bodyPr>
          <a:lstStyle/>
          <a:p>
            <a:pPr marL="0" indent="0">
              <a:buNone/>
            </a:pPr>
            <a:r>
              <a:rPr lang="en-US" b="1" dirty="0">
                <a:solidFill>
                  <a:srgbClr val="00B0F0"/>
                </a:solidFill>
              </a:rPr>
              <a:t>Relative Position:-</a:t>
            </a:r>
            <a:r>
              <a:rPr lang="en-US" dirty="0"/>
              <a:t> When an element is positioned relatively, it’s positioned relative to its original (static) location in the normal document flow</a:t>
            </a:r>
            <a:r>
              <a:rPr lang="en-US" dirty="0" smtClean="0"/>
              <a:t>.</a:t>
            </a:r>
          </a:p>
          <a:p>
            <a:r>
              <a:rPr lang="en-US" dirty="0"/>
              <a:t>You can move it using the top, right, bottom, and left properties without affecting other elements' positions.</a:t>
            </a:r>
            <a:endParaRPr lang="en-GB" dirty="0"/>
          </a:p>
          <a:p>
            <a:r>
              <a:rPr lang="en-US" dirty="0" smtClean="0"/>
              <a:t>Z-index value define the element overlapping.</a:t>
            </a:r>
          </a:p>
          <a:p>
            <a:pPr marL="0" indent="0">
              <a:buNone/>
            </a:pPr>
            <a:r>
              <a:rPr lang="en-US" dirty="0" smtClean="0"/>
              <a:t>Examples </a:t>
            </a:r>
            <a:endParaRPr lang="en-US" dirty="0"/>
          </a:p>
          <a:p>
            <a:pPr marL="0" indent="0">
              <a:buNone/>
            </a:pPr>
            <a:endParaRPr lang="en-GB"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3773" y="5196254"/>
            <a:ext cx="13335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691661" y="6022684"/>
            <a:ext cx="2532040" cy="307777"/>
          </a:xfrm>
          <a:prstGeom prst="rect">
            <a:avLst/>
          </a:prstGeom>
          <a:noFill/>
        </p:spPr>
        <p:txBody>
          <a:bodyPr wrap="none" rtlCol="0">
            <a:spAutoFit/>
          </a:bodyPr>
          <a:lstStyle/>
          <a:p>
            <a:r>
              <a:rPr lang="en-US" sz="1400" dirty="0"/>
              <a:t>Relative Positioning for a Tooltip</a:t>
            </a:r>
            <a:endParaRPr lang="en-GB" sz="1400"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3521" y="4982310"/>
            <a:ext cx="12382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4210783" y="6000726"/>
            <a:ext cx="2102307" cy="307777"/>
          </a:xfrm>
          <a:prstGeom prst="rect">
            <a:avLst/>
          </a:prstGeom>
          <a:noFill/>
        </p:spPr>
        <p:txBody>
          <a:bodyPr wrap="none" rtlCol="0">
            <a:spAutoFit/>
          </a:bodyPr>
          <a:lstStyle/>
          <a:p>
            <a:r>
              <a:rPr lang="en-GB" sz="1400" dirty="0"/>
              <a:t>Button with Floating Label</a:t>
            </a:r>
          </a:p>
        </p:txBody>
      </p:sp>
    </p:spTree>
    <p:extLst>
      <p:ext uri="{BB962C8B-B14F-4D97-AF65-F5344CB8AC3E}">
        <p14:creationId xmlns:p14="http://schemas.microsoft.com/office/powerpoint/2010/main" val="752315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9921"/>
          </a:xfrm>
        </p:spPr>
        <p:txBody>
          <a:bodyPr/>
          <a:lstStyle/>
          <a:p>
            <a:r>
              <a:rPr lang="en-US" dirty="0" smtClean="0"/>
              <a:t>CSS Positioning</a:t>
            </a:r>
            <a:endParaRPr lang="en-GB" dirty="0"/>
          </a:p>
        </p:txBody>
      </p:sp>
      <p:sp>
        <p:nvSpPr>
          <p:cNvPr id="3" name="Content Placeholder 2"/>
          <p:cNvSpPr>
            <a:spLocks noGrp="1"/>
          </p:cNvSpPr>
          <p:nvPr>
            <p:ph idx="1"/>
          </p:nvPr>
        </p:nvSpPr>
        <p:spPr>
          <a:xfrm>
            <a:off x="633048" y="1512277"/>
            <a:ext cx="11113476" cy="4712677"/>
          </a:xfrm>
        </p:spPr>
        <p:txBody>
          <a:bodyPr>
            <a:normAutofit/>
          </a:bodyPr>
          <a:lstStyle/>
          <a:p>
            <a:pPr marL="0" indent="0">
              <a:buNone/>
            </a:pPr>
            <a:r>
              <a:rPr lang="en-US" b="1" dirty="0" smtClean="0">
                <a:solidFill>
                  <a:srgbClr val="00B0F0"/>
                </a:solidFill>
              </a:rPr>
              <a:t>Absolute Position:-</a:t>
            </a:r>
            <a:r>
              <a:rPr lang="en-US" dirty="0" smtClean="0"/>
              <a:t> An </a:t>
            </a:r>
            <a:r>
              <a:rPr lang="en-US" dirty="0"/>
              <a:t>absolutely positioned element is removed from the normal document flow and positioned relative to its nearest </a:t>
            </a:r>
            <a:r>
              <a:rPr lang="en-US" dirty="0">
                <a:solidFill>
                  <a:srgbClr val="FF0000"/>
                </a:solidFill>
              </a:rPr>
              <a:t>positioned ancestor</a:t>
            </a:r>
            <a:r>
              <a:rPr lang="en-US" dirty="0"/>
              <a:t> (any element with relative, absolute, or fixed positioning</a:t>
            </a:r>
            <a:r>
              <a:rPr lang="en-US" dirty="0" smtClean="0"/>
              <a:t>).</a:t>
            </a:r>
          </a:p>
          <a:p>
            <a:pPr lvl="1"/>
            <a:r>
              <a:rPr lang="en-US" dirty="0"/>
              <a:t>The top, right, bottom, and left properties are used to position it </a:t>
            </a:r>
            <a:r>
              <a:rPr lang="en-US" dirty="0" smtClean="0"/>
              <a:t>from ancestor precisely .</a:t>
            </a:r>
          </a:p>
          <a:p>
            <a:pPr lvl="1"/>
            <a:r>
              <a:rPr lang="en-US" dirty="0"/>
              <a:t>Without the </a:t>
            </a:r>
            <a:r>
              <a:rPr lang="en-US" dirty="0" smtClean="0"/>
              <a:t>ancestor </a:t>
            </a:r>
            <a:r>
              <a:rPr lang="en-US" dirty="0"/>
              <a:t>having </a:t>
            </a:r>
            <a:r>
              <a:rPr lang="en-US" dirty="0" smtClean="0"/>
              <a:t>relative, absolute of fixed </a:t>
            </a:r>
            <a:r>
              <a:rPr lang="en-US" dirty="0"/>
              <a:t>positioning, the </a:t>
            </a:r>
            <a:r>
              <a:rPr lang="en-US" dirty="0" smtClean="0"/>
              <a:t>absolute element </a:t>
            </a:r>
            <a:r>
              <a:rPr lang="en-US" dirty="0"/>
              <a:t>would be positioned relative to the viewport</a:t>
            </a:r>
            <a:r>
              <a:rPr lang="en-US" dirty="0" smtClean="0"/>
              <a:t>.</a:t>
            </a:r>
          </a:p>
          <a:p>
            <a:pPr lvl="1"/>
            <a:r>
              <a:rPr lang="en-US" dirty="0"/>
              <a:t>Ideal for creating elements like floating tooltips, pop-up modals, or overlay text on images</a:t>
            </a:r>
            <a:r>
              <a:rPr lang="en-US" dirty="0" smtClean="0"/>
              <a:t>.</a:t>
            </a:r>
          </a:p>
          <a:p>
            <a:r>
              <a:rPr lang="en-US" dirty="0" smtClean="0"/>
              <a:t>Example</a:t>
            </a:r>
            <a:endParaRPr lang="en-GB"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2" y="5085986"/>
            <a:ext cx="1373953" cy="1329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283054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Positioning</a:t>
            </a:r>
            <a:endParaRPr lang="en-GB" dirty="0"/>
          </a:p>
        </p:txBody>
      </p:sp>
      <p:sp>
        <p:nvSpPr>
          <p:cNvPr id="3" name="Content Placeholder 2"/>
          <p:cNvSpPr>
            <a:spLocks noGrp="1"/>
          </p:cNvSpPr>
          <p:nvPr>
            <p:ph idx="1"/>
          </p:nvPr>
        </p:nvSpPr>
        <p:spPr>
          <a:xfrm>
            <a:off x="838200" y="1465385"/>
            <a:ext cx="10767646" cy="5287106"/>
          </a:xfrm>
        </p:spPr>
        <p:txBody>
          <a:bodyPr>
            <a:normAutofit lnSpcReduction="10000"/>
          </a:bodyPr>
          <a:lstStyle/>
          <a:p>
            <a:pPr marL="0" indent="0">
              <a:buNone/>
            </a:pPr>
            <a:r>
              <a:rPr lang="en-US" b="1" dirty="0" smtClean="0">
                <a:solidFill>
                  <a:srgbClr val="00B0F0"/>
                </a:solidFill>
              </a:rPr>
              <a:t>Fixed Position:-</a:t>
            </a:r>
            <a:r>
              <a:rPr lang="en-US" dirty="0" smtClean="0"/>
              <a:t> Elements </a:t>
            </a:r>
            <a:r>
              <a:rPr lang="en-US" dirty="0"/>
              <a:t>with fixed positioning are removed from the normal document flow and are positioned relative to the browser window (viewport). This means the element stays fixed at a specified position even when the user scrolls</a:t>
            </a:r>
            <a:r>
              <a:rPr lang="en-US" dirty="0" smtClean="0"/>
              <a:t>. Properties left, right, up, bottom take effect</a:t>
            </a:r>
          </a:p>
          <a:p>
            <a:pPr marL="0" indent="0">
              <a:buNone/>
            </a:pPr>
            <a:r>
              <a:rPr lang="en-US" dirty="0" smtClean="0">
                <a:solidFill>
                  <a:srgbClr val="FF0000"/>
                </a:solidFill>
              </a:rPr>
              <a:t>Use-Cases:-</a:t>
            </a:r>
          </a:p>
          <a:p>
            <a:pPr lvl="1"/>
            <a:r>
              <a:rPr lang="en-US" b="1" dirty="0"/>
              <a:t>Sticky Header</a:t>
            </a:r>
            <a:r>
              <a:rPr lang="en-US" dirty="0"/>
              <a:t>: Keep navigation or important information visible while scrolling</a:t>
            </a:r>
            <a:r>
              <a:rPr lang="en-US" dirty="0" smtClean="0"/>
              <a:t>.</a:t>
            </a:r>
          </a:p>
          <a:p>
            <a:pPr lvl="1"/>
            <a:r>
              <a:rPr lang="en-US" b="1" dirty="0"/>
              <a:t>Persistent Footer</a:t>
            </a:r>
            <a:r>
              <a:rPr lang="en-US" dirty="0"/>
              <a:t>: Keep key information, such as contact info, always accessible at the bottom of the page</a:t>
            </a:r>
            <a:r>
              <a:rPr lang="en-US" dirty="0" smtClean="0"/>
              <a:t>.</a:t>
            </a:r>
          </a:p>
          <a:p>
            <a:pPr lvl="1"/>
            <a:r>
              <a:rPr lang="en-US" b="1" dirty="0"/>
              <a:t>Fixed Sidebars</a:t>
            </a:r>
            <a:r>
              <a:rPr lang="en-US" dirty="0"/>
              <a:t>: Useful for websites that need a sidebar for navigation that remains accessible while scrolling the main content</a:t>
            </a:r>
            <a:r>
              <a:rPr lang="en-US" dirty="0" smtClean="0"/>
              <a:t>.</a:t>
            </a:r>
          </a:p>
          <a:p>
            <a:pPr lvl="1"/>
            <a:r>
              <a:rPr lang="en-US" b="1" dirty="0"/>
              <a:t>Alert Bars</a:t>
            </a:r>
            <a:r>
              <a:rPr lang="en-US" dirty="0"/>
              <a:t>: Used on websites to show urgent or important messages that users can always see while navigating</a:t>
            </a:r>
            <a:r>
              <a:rPr lang="en-US" dirty="0" smtClean="0"/>
              <a:t>.</a:t>
            </a:r>
          </a:p>
          <a:p>
            <a:pPr lvl="1"/>
            <a:r>
              <a:rPr lang="en-US" b="1" dirty="0"/>
              <a:t>Scroll Navigation</a:t>
            </a:r>
            <a:r>
              <a:rPr lang="en-US" dirty="0"/>
              <a:t>: This is commonly used on long pages to give users an easy way to scroll back to the top</a:t>
            </a:r>
            <a:r>
              <a:rPr lang="en-US" dirty="0" smtClean="0"/>
              <a:t>.</a:t>
            </a:r>
          </a:p>
        </p:txBody>
      </p:sp>
    </p:spTree>
    <p:extLst>
      <p:ext uri="{BB962C8B-B14F-4D97-AF65-F5344CB8AC3E}">
        <p14:creationId xmlns:p14="http://schemas.microsoft.com/office/powerpoint/2010/main" val="392159019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Positioning</a:t>
            </a:r>
            <a:endParaRPr lang="en-GB" dirty="0"/>
          </a:p>
        </p:txBody>
      </p:sp>
      <p:sp>
        <p:nvSpPr>
          <p:cNvPr id="3" name="Content Placeholder 2"/>
          <p:cNvSpPr>
            <a:spLocks noGrp="1"/>
          </p:cNvSpPr>
          <p:nvPr>
            <p:ph idx="1"/>
          </p:nvPr>
        </p:nvSpPr>
        <p:spPr/>
        <p:txBody>
          <a:bodyPr/>
          <a:lstStyle/>
          <a:p>
            <a:pPr marL="0" indent="0">
              <a:buNone/>
            </a:pPr>
            <a:r>
              <a:rPr lang="en-US" dirty="0" smtClean="0"/>
              <a:t>Sticky Position</a:t>
            </a:r>
            <a:r>
              <a:rPr lang="en-US" dirty="0"/>
              <a:t>: sticky allows an element to "stick" to a specific position when the user scrolls past it, behaving like relative until that point and fixed afterwards. </a:t>
            </a:r>
            <a:endParaRPr lang="en-GB" dirty="0"/>
          </a:p>
        </p:txBody>
      </p:sp>
    </p:spTree>
    <p:extLst>
      <p:ext uri="{BB962C8B-B14F-4D97-AF65-F5344CB8AC3E}">
        <p14:creationId xmlns:p14="http://schemas.microsoft.com/office/powerpoint/2010/main" val="366378304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56493" y="2063261"/>
            <a:ext cx="2665730" cy="3323987"/>
          </a:xfrm>
          <a:prstGeom prst="rect">
            <a:avLst/>
          </a:prstGeom>
          <a:noFill/>
        </p:spPr>
        <p:txBody>
          <a:bodyPr wrap="none" rtlCol="0">
            <a:spAutoFit/>
          </a:bodyPr>
          <a:lstStyle/>
          <a:p>
            <a:r>
              <a:rPr lang="en-GB" sz="1400" dirty="0"/>
              <a:t>&lt;style&gt;</a:t>
            </a:r>
          </a:p>
          <a:p>
            <a:r>
              <a:rPr lang="en-GB" sz="1400" dirty="0"/>
              <a:t>     .relative-container {</a:t>
            </a:r>
          </a:p>
          <a:p>
            <a:r>
              <a:rPr lang="en-GB" sz="1400" dirty="0"/>
              <a:t>            background-</a:t>
            </a:r>
            <a:r>
              <a:rPr lang="en-GB" sz="1400" dirty="0" err="1"/>
              <a:t>color</a:t>
            </a:r>
            <a:r>
              <a:rPr lang="en-GB" sz="1400" dirty="0"/>
              <a:t>: black;</a:t>
            </a:r>
          </a:p>
          <a:p>
            <a:r>
              <a:rPr lang="en-GB" sz="1400" dirty="0"/>
              <a:t>            width: 200px;</a:t>
            </a:r>
          </a:p>
          <a:p>
            <a:r>
              <a:rPr lang="en-GB" sz="1400" dirty="0"/>
              <a:t>            padding: 20px;</a:t>
            </a:r>
          </a:p>
          <a:p>
            <a:r>
              <a:rPr lang="en-GB" sz="1400" dirty="0"/>
              <a:t>    } </a:t>
            </a:r>
          </a:p>
          <a:p>
            <a:r>
              <a:rPr lang="en-GB" sz="1400" dirty="0"/>
              <a:t>    .box1 {</a:t>
            </a:r>
          </a:p>
          <a:p>
            <a:r>
              <a:rPr lang="en-GB" sz="1400" dirty="0"/>
              <a:t>        background-</a:t>
            </a:r>
            <a:r>
              <a:rPr lang="en-GB" sz="1400" dirty="0" err="1"/>
              <a:t>color</a:t>
            </a:r>
            <a:r>
              <a:rPr lang="en-GB" sz="1400" dirty="0"/>
              <a:t>: </a:t>
            </a:r>
            <a:r>
              <a:rPr lang="en-GB" sz="1400" dirty="0" err="1"/>
              <a:t>lightcoral</a:t>
            </a:r>
            <a:r>
              <a:rPr lang="en-GB" sz="1400" dirty="0"/>
              <a:t>;</a:t>
            </a:r>
          </a:p>
          <a:p>
            <a:r>
              <a:rPr lang="en-GB" sz="1400" dirty="0"/>
              <a:t>        padding: 20px;</a:t>
            </a:r>
          </a:p>
          <a:p>
            <a:r>
              <a:rPr lang="en-GB" sz="1400" dirty="0"/>
              <a:t>    </a:t>
            </a:r>
            <a:r>
              <a:rPr lang="en-GB" sz="1400" dirty="0" smtClean="0"/>
              <a:t>}</a:t>
            </a:r>
            <a:endParaRPr lang="en-GB" sz="1400" dirty="0"/>
          </a:p>
          <a:p>
            <a:r>
              <a:rPr lang="en-GB" sz="1400" dirty="0"/>
              <a:t>    .box2 {</a:t>
            </a:r>
          </a:p>
          <a:p>
            <a:r>
              <a:rPr lang="en-GB" sz="1400" dirty="0"/>
              <a:t>        background-</a:t>
            </a:r>
            <a:r>
              <a:rPr lang="en-GB" sz="1400" dirty="0" err="1"/>
              <a:t>color</a:t>
            </a:r>
            <a:r>
              <a:rPr lang="en-GB" sz="1400" dirty="0"/>
              <a:t>: </a:t>
            </a:r>
            <a:r>
              <a:rPr lang="en-GB" sz="1400" dirty="0" err="1"/>
              <a:t>lightgreen</a:t>
            </a:r>
            <a:r>
              <a:rPr lang="en-GB" sz="1400" dirty="0"/>
              <a:t>;</a:t>
            </a:r>
          </a:p>
          <a:p>
            <a:r>
              <a:rPr lang="en-GB" sz="1400" dirty="0"/>
              <a:t>        padding: 20px;</a:t>
            </a:r>
          </a:p>
          <a:p>
            <a:r>
              <a:rPr lang="en-GB" sz="1400" dirty="0"/>
              <a:t>    }</a:t>
            </a:r>
          </a:p>
          <a:p>
            <a:r>
              <a:rPr lang="en-GB" sz="1400" dirty="0"/>
              <a:t>&lt;/style&gt;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339" y="5013448"/>
            <a:ext cx="2371725"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4407879" y="1863969"/>
            <a:ext cx="2665730" cy="3754874"/>
          </a:xfrm>
          <a:prstGeom prst="rect">
            <a:avLst/>
          </a:prstGeom>
          <a:noFill/>
        </p:spPr>
        <p:txBody>
          <a:bodyPr wrap="none" rtlCol="0">
            <a:spAutoFit/>
          </a:bodyPr>
          <a:lstStyle/>
          <a:p>
            <a:r>
              <a:rPr lang="en-GB" sz="1400" dirty="0"/>
              <a:t>  &lt;style&gt;</a:t>
            </a:r>
          </a:p>
          <a:p>
            <a:r>
              <a:rPr lang="en-GB" sz="1400" dirty="0"/>
              <a:t>     .relative-container {           </a:t>
            </a:r>
          </a:p>
          <a:p>
            <a:r>
              <a:rPr lang="en-GB" sz="1400" dirty="0"/>
              <a:t>            background-</a:t>
            </a:r>
            <a:r>
              <a:rPr lang="en-GB" sz="1400" dirty="0" err="1"/>
              <a:t>color</a:t>
            </a:r>
            <a:r>
              <a:rPr lang="en-GB" sz="1400" dirty="0"/>
              <a:t>: black;</a:t>
            </a:r>
          </a:p>
          <a:p>
            <a:r>
              <a:rPr lang="en-GB" sz="1400" dirty="0"/>
              <a:t>            width: 200px;            </a:t>
            </a:r>
          </a:p>
          <a:p>
            <a:r>
              <a:rPr lang="en-GB" sz="1400" dirty="0"/>
              <a:t>            padding: 20px;</a:t>
            </a:r>
          </a:p>
          <a:p>
            <a:r>
              <a:rPr lang="en-GB" sz="1400" dirty="0"/>
              <a:t>    } </a:t>
            </a:r>
            <a:br>
              <a:rPr lang="en-GB" sz="1400" dirty="0"/>
            </a:br>
            <a:r>
              <a:rPr lang="en-GB" sz="1400" dirty="0"/>
              <a:t>    .box1 {</a:t>
            </a:r>
          </a:p>
          <a:p>
            <a:r>
              <a:rPr lang="en-GB" sz="1400" dirty="0"/>
              <a:t>        background-</a:t>
            </a:r>
            <a:r>
              <a:rPr lang="en-GB" sz="1400" dirty="0" err="1"/>
              <a:t>color</a:t>
            </a:r>
            <a:r>
              <a:rPr lang="en-GB" sz="1400" dirty="0"/>
              <a:t>: </a:t>
            </a:r>
            <a:r>
              <a:rPr lang="en-GB" sz="1400" dirty="0" err="1"/>
              <a:t>lightcoral</a:t>
            </a:r>
            <a:r>
              <a:rPr lang="en-GB" sz="1400" dirty="0"/>
              <a:t>;</a:t>
            </a:r>
          </a:p>
          <a:p>
            <a:r>
              <a:rPr lang="en-GB" sz="1400" dirty="0"/>
              <a:t>        padding: 20px;</a:t>
            </a:r>
          </a:p>
          <a:p>
            <a:r>
              <a:rPr lang="en-GB" sz="1400" dirty="0"/>
              <a:t>    </a:t>
            </a:r>
            <a:r>
              <a:rPr lang="en-GB" sz="1400" dirty="0" smtClean="0"/>
              <a:t>}</a:t>
            </a:r>
            <a:r>
              <a:rPr lang="en-GB" sz="1400" dirty="0"/>
              <a:t/>
            </a:r>
            <a:br>
              <a:rPr lang="en-GB" sz="1400" dirty="0"/>
            </a:br>
            <a:r>
              <a:rPr lang="en-GB" sz="1400" dirty="0"/>
              <a:t>    .box2 {</a:t>
            </a:r>
          </a:p>
          <a:p>
            <a:r>
              <a:rPr lang="en-GB" sz="1400" dirty="0"/>
              <a:t>        position: relative;</a:t>
            </a:r>
          </a:p>
          <a:p>
            <a:r>
              <a:rPr lang="en-GB" sz="1400" dirty="0"/>
              <a:t>        background-</a:t>
            </a:r>
            <a:r>
              <a:rPr lang="en-GB" sz="1400" dirty="0" err="1"/>
              <a:t>color</a:t>
            </a:r>
            <a:r>
              <a:rPr lang="en-GB" sz="1400" dirty="0"/>
              <a:t>: </a:t>
            </a:r>
            <a:r>
              <a:rPr lang="en-GB" sz="1400" dirty="0" err="1"/>
              <a:t>lightgreen</a:t>
            </a:r>
            <a:r>
              <a:rPr lang="en-GB" sz="1400" dirty="0"/>
              <a:t>;</a:t>
            </a:r>
          </a:p>
          <a:p>
            <a:r>
              <a:rPr lang="en-GB" sz="1400" dirty="0"/>
              <a:t>        padding: 20px;</a:t>
            </a:r>
          </a:p>
          <a:p>
            <a:r>
              <a:rPr lang="en-GB" sz="1400" dirty="0"/>
              <a:t>        top: -</a:t>
            </a:r>
            <a:r>
              <a:rPr lang="en-GB" sz="1400" dirty="0" smtClean="0"/>
              <a:t>25</a:t>
            </a:r>
            <a:endParaRPr lang="en-GB" sz="1400" dirty="0"/>
          </a:p>
          <a:p>
            <a:r>
              <a:rPr lang="en-GB" sz="1400" dirty="0"/>
              <a:t>    }</a:t>
            </a:r>
          </a:p>
          <a:p>
            <a:r>
              <a:rPr lang="en-GB" sz="1400" dirty="0"/>
              <a:t>        &lt;/style</a:t>
            </a:r>
            <a:r>
              <a:rPr lang="en-GB" sz="1400" dirty="0" smtClean="0"/>
              <a:t>&gt;</a:t>
            </a:r>
            <a:endParaRPr lang="en-GB" sz="1400"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344" y="5063830"/>
            <a:ext cx="2381250"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8135819" y="1828800"/>
            <a:ext cx="2665730" cy="4185761"/>
          </a:xfrm>
          <a:prstGeom prst="rect">
            <a:avLst/>
          </a:prstGeom>
          <a:noFill/>
        </p:spPr>
        <p:txBody>
          <a:bodyPr wrap="none" rtlCol="0">
            <a:spAutoFit/>
          </a:bodyPr>
          <a:lstStyle/>
          <a:p>
            <a:r>
              <a:rPr lang="en-GB" sz="1400" dirty="0"/>
              <a:t>&lt;style&gt;</a:t>
            </a:r>
          </a:p>
          <a:p>
            <a:r>
              <a:rPr lang="en-GB" sz="1400" dirty="0"/>
              <a:t>     .relative-container {</a:t>
            </a:r>
          </a:p>
          <a:p>
            <a:r>
              <a:rPr lang="en-GB" sz="1400" dirty="0"/>
              <a:t>            position: relative;   </a:t>
            </a:r>
          </a:p>
          <a:p>
            <a:r>
              <a:rPr lang="en-GB" sz="1400" dirty="0"/>
              <a:t>            background-</a:t>
            </a:r>
            <a:r>
              <a:rPr lang="en-GB" sz="1400" dirty="0" err="1"/>
              <a:t>color</a:t>
            </a:r>
            <a:r>
              <a:rPr lang="en-GB" sz="1400" dirty="0"/>
              <a:t>: black;</a:t>
            </a:r>
          </a:p>
          <a:p>
            <a:r>
              <a:rPr lang="en-GB" sz="1400" dirty="0"/>
              <a:t>            width: 200px;            </a:t>
            </a:r>
          </a:p>
          <a:p>
            <a:r>
              <a:rPr lang="en-GB" sz="1400" dirty="0"/>
              <a:t>            padding: 20px;</a:t>
            </a:r>
          </a:p>
          <a:p>
            <a:r>
              <a:rPr lang="en-GB" sz="1400" dirty="0"/>
              <a:t>    } </a:t>
            </a:r>
          </a:p>
          <a:p>
            <a:r>
              <a:rPr lang="en-GB" sz="1400" dirty="0"/>
              <a:t>    .box1 {</a:t>
            </a:r>
          </a:p>
          <a:p>
            <a:r>
              <a:rPr lang="en-GB" sz="1400" dirty="0"/>
              <a:t>        background-</a:t>
            </a:r>
            <a:r>
              <a:rPr lang="en-GB" sz="1400" dirty="0" err="1"/>
              <a:t>color</a:t>
            </a:r>
            <a:r>
              <a:rPr lang="en-GB" sz="1400" dirty="0"/>
              <a:t>: </a:t>
            </a:r>
            <a:r>
              <a:rPr lang="en-GB" sz="1400" dirty="0" err="1"/>
              <a:t>lightcoral</a:t>
            </a:r>
            <a:r>
              <a:rPr lang="en-GB" sz="1400" dirty="0"/>
              <a:t>;</a:t>
            </a:r>
          </a:p>
          <a:p>
            <a:r>
              <a:rPr lang="en-GB" sz="1400" dirty="0"/>
              <a:t>        padding: 20px;</a:t>
            </a:r>
          </a:p>
          <a:p>
            <a:r>
              <a:rPr lang="en-GB" sz="1400" dirty="0"/>
              <a:t>    }</a:t>
            </a:r>
          </a:p>
          <a:p>
            <a:r>
              <a:rPr lang="en-GB" sz="1400" dirty="0"/>
              <a:t>    .box2 {</a:t>
            </a:r>
          </a:p>
          <a:p>
            <a:r>
              <a:rPr lang="en-GB" sz="1400" dirty="0"/>
              <a:t>        position: absolute;</a:t>
            </a:r>
          </a:p>
          <a:p>
            <a:r>
              <a:rPr lang="en-GB" sz="1400" dirty="0"/>
              <a:t>        top: 10px;</a:t>
            </a:r>
          </a:p>
          <a:p>
            <a:r>
              <a:rPr lang="en-GB" sz="1400" dirty="0"/>
              <a:t>        left: 100px;</a:t>
            </a:r>
          </a:p>
          <a:p>
            <a:r>
              <a:rPr lang="en-GB" sz="1400" dirty="0"/>
              <a:t>        background-</a:t>
            </a:r>
            <a:r>
              <a:rPr lang="en-GB" sz="1400" dirty="0" err="1"/>
              <a:t>color</a:t>
            </a:r>
            <a:r>
              <a:rPr lang="en-GB" sz="1400" dirty="0"/>
              <a:t>: </a:t>
            </a:r>
            <a:r>
              <a:rPr lang="en-GB" sz="1400" dirty="0" err="1"/>
              <a:t>lightgreen</a:t>
            </a:r>
            <a:r>
              <a:rPr lang="en-GB" sz="1400" dirty="0"/>
              <a:t>;</a:t>
            </a:r>
          </a:p>
          <a:p>
            <a:r>
              <a:rPr lang="en-GB" sz="1400" dirty="0"/>
              <a:t>        padding: 20px;</a:t>
            </a:r>
          </a:p>
          <a:p>
            <a:r>
              <a:rPr lang="en-GB" sz="1400" dirty="0"/>
              <a:t>    }</a:t>
            </a:r>
          </a:p>
          <a:p>
            <a:r>
              <a:rPr lang="en-GB" sz="1400" dirty="0"/>
              <a:t>        &lt;/style</a:t>
            </a:r>
            <a:r>
              <a:rPr lang="en-GB" sz="1400" dirty="0" smtClean="0"/>
              <a:t>&gt;</a:t>
            </a:r>
            <a:endParaRPr lang="en-GB" sz="1400" dirty="0"/>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10069" y="5635330"/>
            <a:ext cx="2428875"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656493" y="1195865"/>
            <a:ext cx="1542345" cy="369332"/>
          </a:xfrm>
          <a:prstGeom prst="rect">
            <a:avLst/>
          </a:prstGeom>
          <a:noFill/>
        </p:spPr>
        <p:txBody>
          <a:bodyPr wrap="none" rtlCol="0">
            <a:spAutoFit/>
          </a:bodyPr>
          <a:lstStyle/>
          <a:p>
            <a:r>
              <a:rPr lang="en-US" b="1" dirty="0" smtClean="0">
                <a:solidFill>
                  <a:srgbClr val="FF0000"/>
                </a:solidFill>
              </a:rPr>
              <a:t>Static Position</a:t>
            </a:r>
            <a:endParaRPr lang="en-GB" b="1" dirty="0">
              <a:solidFill>
                <a:srgbClr val="FF0000"/>
              </a:solidFill>
            </a:endParaRPr>
          </a:p>
        </p:txBody>
      </p:sp>
      <p:sp>
        <p:nvSpPr>
          <p:cNvPr id="9" name="TextBox 8"/>
          <p:cNvSpPr txBox="1"/>
          <p:nvPr/>
        </p:nvSpPr>
        <p:spPr>
          <a:xfrm>
            <a:off x="4407879" y="1195865"/>
            <a:ext cx="1779526" cy="369332"/>
          </a:xfrm>
          <a:prstGeom prst="rect">
            <a:avLst/>
          </a:prstGeom>
          <a:noFill/>
        </p:spPr>
        <p:txBody>
          <a:bodyPr wrap="none" rtlCol="0">
            <a:spAutoFit/>
          </a:bodyPr>
          <a:lstStyle/>
          <a:p>
            <a:r>
              <a:rPr lang="en-US" b="1" dirty="0" smtClean="0">
                <a:solidFill>
                  <a:srgbClr val="FF0000"/>
                </a:solidFill>
              </a:rPr>
              <a:t>Relative Position</a:t>
            </a:r>
            <a:endParaRPr lang="en-GB" b="1" dirty="0">
              <a:solidFill>
                <a:srgbClr val="FF0000"/>
              </a:solidFill>
            </a:endParaRPr>
          </a:p>
        </p:txBody>
      </p:sp>
      <p:sp>
        <p:nvSpPr>
          <p:cNvPr id="10" name="TextBox 9"/>
          <p:cNvSpPr txBox="1"/>
          <p:nvPr/>
        </p:nvSpPr>
        <p:spPr>
          <a:xfrm>
            <a:off x="8135819" y="1187045"/>
            <a:ext cx="1860125" cy="369332"/>
          </a:xfrm>
          <a:prstGeom prst="rect">
            <a:avLst/>
          </a:prstGeom>
          <a:noFill/>
        </p:spPr>
        <p:txBody>
          <a:bodyPr wrap="none" rtlCol="0">
            <a:spAutoFit/>
          </a:bodyPr>
          <a:lstStyle/>
          <a:p>
            <a:r>
              <a:rPr lang="en-US" b="1" dirty="0" smtClean="0">
                <a:solidFill>
                  <a:srgbClr val="FF0000"/>
                </a:solidFill>
              </a:rPr>
              <a:t>Absolute Position</a:t>
            </a:r>
            <a:endParaRPr lang="en-GB" b="1" dirty="0">
              <a:solidFill>
                <a:srgbClr val="FF0000"/>
              </a:solidFill>
            </a:endParaRPr>
          </a:p>
        </p:txBody>
      </p:sp>
    </p:spTree>
    <p:extLst>
      <p:ext uri="{BB962C8B-B14F-4D97-AF65-F5344CB8AC3E}">
        <p14:creationId xmlns:p14="http://schemas.microsoft.com/office/powerpoint/2010/main" val="283878466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Important properties</a:t>
            </a:r>
            <a:endParaRPr lang="en-GB" dirty="0"/>
          </a:p>
        </p:txBody>
      </p:sp>
      <p:sp>
        <p:nvSpPr>
          <p:cNvPr id="3" name="Content Placeholder 2"/>
          <p:cNvSpPr>
            <a:spLocks noGrp="1"/>
          </p:cNvSpPr>
          <p:nvPr>
            <p:ph idx="1"/>
          </p:nvPr>
        </p:nvSpPr>
        <p:spPr/>
        <p:txBody>
          <a:bodyPr/>
          <a:lstStyle/>
          <a:p>
            <a:pPr marL="0" indent="0">
              <a:buNone/>
            </a:pPr>
            <a:r>
              <a:rPr lang="en-US" b="1" dirty="0" smtClean="0"/>
              <a:t>CSS z-index</a:t>
            </a:r>
            <a:r>
              <a:rPr lang="en-US" dirty="0" smtClean="0"/>
              <a:t> </a:t>
            </a:r>
            <a:r>
              <a:rPr lang="en-US" dirty="0"/>
              <a:t>determines the stacking order. Elements with higher z-index values </a:t>
            </a:r>
            <a:r>
              <a:rPr lang="en-US" dirty="0" smtClean="0"/>
              <a:t>will </a:t>
            </a:r>
            <a:r>
              <a:rPr lang="en-US" dirty="0"/>
              <a:t>be layered on top</a:t>
            </a:r>
            <a:r>
              <a:rPr lang="en-US" dirty="0" smtClean="0"/>
              <a:t>.</a:t>
            </a:r>
          </a:p>
          <a:p>
            <a:pPr marL="0" indent="0">
              <a:buNone/>
            </a:pPr>
            <a:r>
              <a:rPr lang="en-US" b="1" dirty="0"/>
              <a:t>CSS </a:t>
            </a:r>
            <a:r>
              <a:rPr lang="en-US" b="1" dirty="0" smtClean="0"/>
              <a:t>transform</a:t>
            </a:r>
            <a:r>
              <a:rPr lang="en-US" dirty="0" smtClean="0"/>
              <a:t> </a:t>
            </a:r>
            <a:r>
              <a:rPr lang="en-US" dirty="0"/>
              <a:t>is a powerful property that allows you to apply 2D or 3D transformations to an element, affecting its position, size, and shape without altering the document flow</a:t>
            </a:r>
            <a:r>
              <a:rPr lang="en-US" dirty="0" smtClean="0"/>
              <a:t>. Its value could be translate, rotate, scale, skew, </a:t>
            </a:r>
            <a:r>
              <a:rPr lang="en-US" dirty="0" err="1" smtClean="0"/>
              <a:t>materix</a:t>
            </a:r>
            <a:r>
              <a:rPr lang="en-US" smtClean="0"/>
              <a:t>.</a:t>
            </a:r>
            <a:endParaRPr lang="en-US" dirty="0" smtClean="0"/>
          </a:p>
          <a:p>
            <a:pPr marL="457200" lvl="1" indent="0">
              <a:buNone/>
            </a:pPr>
            <a:r>
              <a:rPr lang="en-US" b="1" i="1" dirty="0"/>
              <a:t>translate(x, y</a:t>
            </a:r>
            <a:r>
              <a:rPr lang="en-US" b="1" i="1" dirty="0" smtClean="0"/>
              <a:t>)</a:t>
            </a:r>
            <a:r>
              <a:rPr lang="en-US" i="1" dirty="0" smtClean="0"/>
              <a:t>: </a:t>
            </a:r>
            <a:r>
              <a:rPr lang="en-US" i="1" dirty="0"/>
              <a:t>transform: translate(50px, 100px</a:t>
            </a:r>
            <a:r>
              <a:rPr lang="en-US" i="1" dirty="0" smtClean="0"/>
              <a:t>);</a:t>
            </a:r>
            <a:endParaRPr lang="en-US" i="1" dirty="0"/>
          </a:p>
          <a:p>
            <a:pPr marL="457200" lvl="1" indent="0">
              <a:buNone/>
            </a:pPr>
            <a:r>
              <a:rPr lang="en-US" i="1" dirty="0" smtClean="0"/>
              <a:t>Moves </a:t>
            </a:r>
            <a:r>
              <a:rPr lang="en-US" i="1" dirty="0"/>
              <a:t>an element from its original position</a:t>
            </a:r>
            <a:r>
              <a:rPr lang="en-US" i="1" dirty="0" smtClean="0"/>
              <a:t>.</a:t>
            </a:r>
          </a:p>
          <a:p>
            <a:pPr marL="457200" lvl="1" indent="0">
              <a:buNone/>
            </a:pPr>
            <a:endParaRPr lang="en-US" i="1" dirty="0"/>
          </a:p>
        </p:txBody>
      </p:sp>
      <p:sp>
        <p:nvSpPr>
          <p:cNvPr id="4" name="Footer Placeholder 3"/>
          <p:cNvSpPr>
            <a:spLocks noGrp="1"/>
          </p:cNvSpPr>
          <p:nvPr>
            <p:ph type="ftr" sz="quarter" idx="11"/>
          </p:nvPr>
        </p:nvSpPr>
        <p:spPr/>
        <p:txBody>
          <a:bodyPr/>
          <a:lstStyle/>
          <a:p>
            <a:r>
              <a:rPr lang="en-US" smtClean="0"/>
              <a:t>IT Industry-Academia Bridge Program</a:t>
            </a:r>
            <a:endParaRPr lang="en-US"/>
          </a:p>
        </p:txBody>
      </p:sp>
    </p:spTree>
    <p:extLst>
      <p:ext uri="{BB962C8B-B14F-4D97-AF65-F5344CB8AC3E}">
        <p14:creationId xmlns:p14="http://schemas.microsoft.com/office/powerpoint/2010/main" val="177752664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sosceles Triangle 3"/>
          <p:cNvSpPr/>
          <p:nvPr/>
        </p:nvSpPr>
        <p:spPr>
          <a:xfrm flipH="1" flipV="1">
            <a:off x="-49879" y="-16933"/>
            <a:ext cx="1836767" cy="1654234"/>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Isosceles Triangle 3"/>
          <p:cNvSpPr/>
          <p:nvPr/>
        </p:nvSpPr>
        <p:spPr>
          <a:xfrm flipH="1">
            <a:off x="-49878" y="5203766"/>
            <a:ext cx="1836767" cy="1654234"/>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p:cNvSpPr/>
          <p:nvPr/>
        </p:nvSpPr>
        <p:spPr>
          <a:xfrm>
            <a:off x="10681855" y="5203766"/>
            <a:ext cx="1602970" cy="1654233"/>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lstStyle/>
          <a:p>
            <a:r>
              <a:rPr lang="en-US" dirty="0" smtClean="0"/>
              <a:t>Best Examples</a:t>
            </a:r>
            <a:endParaRPr lang="en-GB" dirty="0"/>
          </a:p>
        </p:txBody>
      </p:sp>
      <p:sp>
        <p:nvSpPr>
          <p:cNvPr id="9" name="Content Placeholder 8"/>
          <p:cNvSpPr>
            <a:spLocks noGrp="1"/>
          </p:cNvSpPr>
          <p:nvPr>
            <p:ph idx="1"/>
          </p:nvPr>
        </p:nvSpPr>
        <p:spPr>
          <a:xfrm>
            <a:off x="838200" y="1825625"/>
            <a:ext cx="10515600" cy="765175"/>
          </a:xfrm>
        </p:spPr>
        <p:txBody>
          <a:bodyPr>
            <a:normAutofit fontScale="92500" lnSpcReduction="10000"/>
          </a:bodyPr>
          <a:lstStyle/>
          <a:p>
            <a:pPr marL="0" lvl="0" indent="0">
              <a:buNone/>
            </a:pPr>
            <a:r>
              <a:rPr lang="en-US" dirty="0"/>
              <a:t>Absolute positioning is used to center pop-up modals on the page or within a container.</a:t>
            </a:r>
            <a:endParaRPr lang="en-GB" dirty="0"/>
          </a:p>
        </p:txBody>
      </p:sp>
      <p:sp>
        <p:nvSpPr>
          <p:cNvPr id="6" name="TextBox 5"/>
          <p:cNvSpPr txBox="1"/>
          <p:nvPr/>
        </p:nvSpPr>
        <p:spPr>
          <a:xfrm>
            <a:off x="1524000" y="2481282"/>
            <a:ext cx="3453766" cy="3539430"/>
          </a:xfrm>
          <a:prstGeom prst="rect">
            <a:avLst/>
          </a:prstGeom>
          <a:noFill/>
        </p:spPr>
        <p:txBody>
          <a:bodyPr wrap="none" rtlCol="0">
            <a:spAutoFit/>
          </a:bodyPr>
          <a:lstStyle/>
          <a:p>
            <a:r>
              <a:rPr lang="en-GB" sz="1400" dirty="0"/>
              <a:t> .modal-container {</a:t>
            </a:r>
          </a:p>
          <a:p>
            <a:r>
              <a:rPr lang="en-GB" sz="1400" dirty="0"/>
              <a:t>        position: relative;</a:t>
            </a:r>
          </a:p>
          <a:p>
            <a:r>
              <a:rPr lang="en-GB" sz="1400" dirty="0"/>
              <a:t>        height: 400px;</a:t>
            </a:r>
          </a:p>
          <a:p>
            <a:r>
              <a:rPr lang="en-GB" sz="1400" dirty="0"/>
              <a:t>        margin-top: 100px;</a:t>
            </a:r>
          </a:p>
          <a:p>
            <a:r>
              <a:rPr lang="en-GB" sz="1400" dirty="0"/>
              <a:t>        background-</a:t>
            </a:r>
            <a:r>
              <a:rPr lang="en-GB" sz="1400" dirty="0" err="1"/>
              <a:t>color</a:t>
            </a:r>
            <a:r>
              <a:rPr lang="en-GB" sz="1400" dirty="0"/>
              <a:t>: #f1f1f1</a:t>
            </a:r>
            <a:r>
              <a:rPr lang="en-GB" sz="1400" dirty="0" smtClean="0"/>
              <a:t>;</a:t>
            </a:r>
            <a:endParaRPr lang="en-GB" sz="1400" dirty="0"/>
          </a:p>
          <a:p>
            <a:r>
              <a:rPr lang="en-GB" sz="1400" dirty="0"/>
              <a:t>    }</a:t>
            </a:r>
          </a:p>
          <a:p>
            <a:r>
              <a:rPr lang="en-GB" sz="1400" dirty="0"/>
              <a:t>    .modal {</a:t>
            </a:r>
          </a:p>
          <a:p>
            <a:r>
              <a:rPr lang="en-GB" sz="1400" dirty="0"/>
              <a:t>        position: absolute;</a:t>
            </a:r>
          </a:p>
          <a:p>
            <a:r>
              <a:rPr lang="en-GB" sz="1400" dirty="0"/>
              <a:t>        top: 50%;</a:t>
            </a:r>
          </a:p>
          <a:p>
            <a:r>
              <a:rPr lang="en-GB" sz="1400" dirty="0"/>
              <a:t>        left: 50%;</a:t>
            </a:r>
          </a:p>
          <a:p>
            <a:r>
              <a:rPr lang="en-GB" sz="1400" dirty="0"/>
              <a:t>        transform: translate(-50%, -50%);</a:t>
            </a:r>
          </a:p>
          <a:p>
            <a:r>
              <a:rPr lang="en-GB" sz="1400" dirty="0"/>
              <a:t>        width: 200px;</a:t>
            </a:r>
          </a:p>
          <a:p>
            <a:r>
              <a:rPr lang="en-GB" sz="1400" dirty="0"/>
              <a:t>        padding: 20px;</a:t>
            </a:r>
          </a:p>
          <a:p>
            <a:r>
              <a:rPr lang="en-GB" sz="1400" dirty="0"/>
              <a:t>        background-</a:t>
            </a:r>
            <a:r>
              <a:rPr lang="en-GB" sz="1400" dirty="0" err="1"/>
              <a:t>color</a:t>
            </a:r>
            <a:r>
              <a:rPr lang="en-GB" sz="1400" dirty="0"/>
              <a:t>: white;</a:t>
            </a:r>
          </a:p>
          <a:p>
            <a:r>
              <a:rPr lang="en-GB" sz="1400" dirty="0"/>
              <a:t>        box-shadow: 0 4px 8px </a:t>
            </a:r>
            <a:r>
              <a:rPr lang="en-GB" sz="1400" dirty="0" err="1"/>
              <a:t>rgba</a:t>
            </a:r>
            <a:r>
              <a:rPr lang="en-GB" sz="1400" dirty="0"/>
              <a:t>(0, 0, 0, 0.1);</a:t>
            </a:r>
          </a:p>
          <a:p>
            <a:r>
              <a:rPr lang="en-GB" sz="1400" dirty="0"/>
              <a:t>    </a:t>
            </a:r>
            <a:r>
              <a:rPr lang="en-GB" sz="1400" dirty="0" smtClean="0"/>
              <a:t>}</a:t>
            </a:r>
            <a:endParaRPr lang="en-GB" sz="1400" dirty="0"/>
          </a:p>
        </p:txBody>
      </p:sp>
      <p:sp>
        <p:nvSpPr>
          <p:cNvPr id="10" name="TextBox 9"/>
          <p:cNvSpPr txBox="1"/>
          <p:nvPr/>
        </p:nvSpPr>
        <p:spPr>
          <a:xfrm>
            <a:off x="4349262" y="2481282"/>
            <a:ext cx="2885405" cy="1169551"/>
          </a:xfrm>
          <a:prstGeom prst="rect">
            <a:avLst/>
          </a:prstGeom>
          <a:noFill/>
        </p:spPr>
        <p:txBody>
          <a:bodyPr wrap="none" rtlCol="0">
            <a:spAutoFit/>
          </a:bodyPr>
          <a:lstStyle/>
          <a:p>
            <a:r>
              <a:rPr lang="en-US" sz="1400" dirty="0" smtClean="0"/>
              <a:t>&lt;</a:t>
            </a:r>
            <a:r>
              <a:rPr lang="en-US" sz="1400" dirty="0"/>
              <a:t>div class="modal-container"&gt;</a:t>
            </a:r>
          </a:p>
          <a:p>
            <a:r>
              <a:rPr lang="en-US" sz="1400" dirty="0"/>
              <a:t>        &lt;div class="modal"&gt;</a:t>
            </a:r>
          </a:p>
          <a:p>
            <a:r>
              <a:rPr lang="en-US" sz="1400" dirty="0" smtClean="0"/>
              <a:t> </a:t>
            </a:r>
            <a:r>
              <a:rPr lang="en-US" sz="1400" dirty="0"/>
              <a:t>        &lt;h3&gt;Modal Title&lt;/h3&gt;</a:t>
            </a:r>
          </a:p>
          <a:p>
            <a:r>
              <a:rPr lang="en-US" sz="1400" dirty="0" smtClean="0"/>
              <a:t> </a:t>
            </a:r>
            <a:r>
              <a:rPr lang="en-US" sz="1400" dirty="0"/>
              <a:t>        &lt;p&gt;This is a modal content.&lt;/p</a:t>
            </a:r>
            <a:r>
              <a:rPr lang="en-US" sz="1400" dirty="0" smtClean="0"/>
              <a:t>&gt;</a:t>
            </a:r>
          </a:p>
          <a:p>
            <a:r>
              <a:rPr lang="en-US" sz="1400" dirty="0" smtClean="0"/>
              <a:t>&lt;/</a:t>
            </a:r>
            <a:r>
              <a:rPr lang="en-US" sz="1400" dirty="0"/>
              <a:t>div</a:t>
            </a:r>
            <a:r>
              <a:rPr lang="en-US" sz="1400" dirty="0" smtClean="0"/>
              <a:t>&gt;</a:t>
            </a:r>
            <a:endParaRPr lang="en-US" sz="14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1150" y="3540369"/>
            <a:ext cx="6462190" cy="3046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825227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sosceles Triangle 3"/>
          <p:cNvSpPr/>
          <p:nvPr/>
        </p:nvSpPr>
        <p:spPr>
          <a:xfrm flipH="1" flipV="1">
            <a:off x="771498" y="656001"/>
            <a:ext cx="451314" cy="476599"/>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250532" y="5854580"/>
            <a:ext cx="184731" cy="523220"/>
          </a:xfrm>
          <a:prstGeom prst="rect">
            <a:avLst/>
          </a:prstGeom>
          <a:noFill/>
        </p:spPr>
        <p:txBody>
          <a:bodyPr wrap="none" lIns="91440" tIns="45720" rIns="91440" bIns="45720" rtlCol="0" anchor="t">
            <a:spAutoFit/>
          </a:bodyPr>
          <a:lstStyle/>
          <a:p>
            <a:endParaRPr lang="en-US" sz="2800" b="1" dirty="0">
              <a:ea typeface="Calibri"/>
              <a:cs typeface="Calibri"/>
            </a:endParaRPr>
          </a:p>
        </p:txBody>
      </p:sp>
      <p:sp>
        <p:nvSpPr>
          <p:cNvPr id="9" name="Isosceles Triangle 3">
            <a:extLst>
              <a:ext uri="{FF2B5EF4-FFF2-40B4-BE49-F238E27FC236}">
                <a16:creationId xmlns="" xmlns:a16="http://schemas.microsoft.com/office/drawing/2014/main" id="{00D729C2-A19B-7576-4C97-DF1C42A75D38}"/>
              </a:ext>
            </a:extLst>
          </p:cNvPr>
          <p:cNvSpPr/>
          <p:nvPr/>
        </p:nvSpPr>
        <p:spPr>
          <a:xfrm flipH="1" flipV="1">
            <a:off x="1276199" y="487767"/>
            <a:ext cx="451314" cy="476599"/>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Isosceles Triangle 3">
            <a:extLst>
              <a:ext uri="{FF2B5EF4-FFF2-40B4-BE49-F238E27FC236}">
                <a16:creationId xmlns="" xmlns:a16="http://schemas.microsoft.com/office/drawing/2014/main" id="{12741AE1-298B-1601-8802-D88248A56A01}"/>
              </a:ext>
            </a:extLst>
          </p:cNvPr>
          <p:cNvSpPr/>
          <p:nvPr/>
        </p:nvSpPr>
        <p:spPr>
          <a:xfrm flipH="1" flipV="1">
            <a:off x="632952" y="1190390"/>
            <a:ext cx="451314" cy="476599"/>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38200" y="365125"/>
            <a:ext cx="10515600" cy="767475"/>
          </a:xfrm>
        </p:spPr>
        <p:txBody>
          <a:bodyPr/>
          <a:lstStyle/>
          <a:p>
            <a:r>
              <a:rPr lang="en-US" dirty="0" smtClean="0"/>
              <a:t>	Beautiful </a:t>
            </a:r>
            <a:r>
              <a:rPr lang="en-US" dirty="0" err="1" smtClean="0"/>
              <a:t>Nav</a:t>
            </a:r>
            <a:r>
              <a:rPr lang="en-US" dirty="0" smtClean="0"/>
              <a:t>-Bar</a:t>
            </a:r>
            <a:endParaRPr lang="en-GB" dirty="0"/>
          </a:p>
        </p:txBody>
      </p:sp>
      <p:sp>
        <p:nvSpPr>
          <p:cNvPr id="3" name="Footer Placeholder 2"/>
          <p:cNvSpPr>
            <a:spLocks noGrp="1"/>
          </p:cNvSpPr>
          <p:nvPr>
            <p:ph type="ftr" sz="quarter" idx="11"/>
          </p:nvPr>
        </p:nvSpPr>
        <p:spPr/>
        <p:txBody>
          <a:bodyPr/>
          <a:lstStyle/>
          <a:p>
            <a:r>
              <a:rPr lang="en-US" dirty="0" smtClean="0"/>
              <a:t>IT Industry-Academia Bridge Program</a:t>
            </a:r>
            <a:endParaRPr lang="en-US" dirty="0"/>
          </a:p>
        </p:txBody>
      </p:sp>
      <p:sp>
        <p:nvSpPr>
          <p:cNvPr id="6" name="TextBox 5"/>
          <p:cNvSpPr txBox="1"/>
          <p:nvPr/>
        </p:nvSpPr>
        <p:spPr>
          <a:xfrm>
            <a:off x="1201555" y="1132600"/>
            <a:ext cx="3214406" cy="5478423"/>
          </a:xfrm>
          <a:prstGeom prst="rect">
            <a:avLst/>
          </a:prstGeom>
          <a:noFill/>
        </p:spPr>
        <p:txBody>
          <a:bodyPr wrap="none" rtlCol="0">
            <a:spAutoFit/>
          </a:bodyPr>
          <a:lstStyle/>
          <a:p>
            <a:r>
              <a:rPr lang="en-GB" sz="1400" dirty="0"/>
              <a:t>&lt;style&gt;</a:t>
            </a:r>
          </a:p>
          <a:p>
            <a:r>
              <a:rPr lang="en-GB" sz="1400" dirty="0"/>
              <a:t>             </a:t>
            </a:r>
            <a:r>
              <a:rPr lang="en-GB" sz="1400" dirty="0" err="1"/>
              <a:t>nav</a:t>
            </a:r>
            <a:r>
              <a:rPr lang="en-GB" sz="1400" dirty="0"/>
              <a:t> {</a:t>
            </a:r>
          </a:p>
          <a:p>
            <a:r>
              <a:rPr lang="en-GB" sz="1400" dirty="0"/>
              <a:t>            background-</a:t>
            </a:r>
            <a:r>
              <a:rPr lang="en-GB" sz="1400" dirty="0" err="1"/>
              <a:t>color</a:t>
            </a:r>
            <a:r>
              <a:rPr lang="en-GB" sz="1400" dirty="0"/>
              <a:t>: #333;</a:t>
            </a:r>
          </a:p>
          <a:p>
            <a:r>
              <a:rPr lang="en-GB" sz="1400" dirty="0"/>
              <a:t>            overflow: hidden; /* Clears float */</a:t>
            </a:r>
          </a:p>
          <a:p>
            <a:r>
              <a:rPr lang="en-GB" sz="1400" dirty="0"/>
              <a:t>        }</a:t>
            </a:r>
          </a:p>
          <a:p>
            <a:r>
              <a:rPr lang="en-GB" sz="1400" dirty="0"/>
              <a:t>        </a:t>
            </a:r>
            <a:r>
              <a:rPr lang="en-GB" sz="1400" dirty="0" err="1"/>
              <a:t>nav</a:t>
            </a:r>
            <a:r>
              <a:rPr lang="en-GB" sz="1400" dirty="0"/>
              <a:t> </a:t>
            </a:r>
            <a:r>
              <a:rPr lang="en-GB" sz="1400" dirty="0" err="1"/>
              <a:t>ul</a:t>
            </a:r>
            <a:r>
              <a:rPr lang="en-GB" sz="1400" dirty="0"/>
              <a:t> {</a:t>
            </a:r>
          </a:p>
          <a:p>
            <a:r>
              <a:rPr lang="en-GB" sz="1400" dirty="0"/>
              <a:t>            list-style-type: none;</a:t>
            </a:r>
          </a:p>
          <a:p>
            <a:r>
              <a:rPr lang="en-GB" sz="1400" dirty="0"/>
              <a:t>            margin: 0;</a:t>
            </a:r>
          </a:p>
          <a:p>
            <a:r>
              <a:rPr lang="en-GB" sz="1400" dirty="0"/>
              <a:t>            padding: 0;</a:t>
            </a:r>
          </a:p>
          <a:p>
            <a:r>
              <a:rPr lang="en-GB" sz="1400" dirty="0"/>
              <a:t>        }</a:t>
            </a:r>
          </a:p>
          <a:p>
            <a:r>
              <a:rPr lang="en-GB" sz="1400" dirty="0"/>
              <a:t>        </a:t>
            </a:r>
            <a:r>
              <a:rPr lang="en-GB" sz="1400" dirty="0" err="1"/>
              <a:t>nav</a:t>
            </a:r>
            <a:r>
              <a:rPr lang="en-GB" sz="1400" dirty="0"/>
              <a:t> </a:t>
            </a:r>
            <a:r>
              <a:rPr lang="en-GB" sz="1400" dirty="0" err="1"/>
              <a:t>ul</a:t>
            </a:r>
            <a:r>
              <a:rPr lang="en-GB" sz="1400" dirty="0"/>
              <a:t> li </a:t>
            </a:r>
            <a:r>
              <a:rPr lang="en-GB" sz="1400" dirty="0" smtClean="0"/>
              <a:t>{</a:t>
            </a:r>
            <a:r>
              <a:rPr lang="en-GB" sz="1400" dirty="0"/>
              <a:t/>
            </a:r>
            <a:br>
              <a:rPr lang="en-GB" sz="1400" dirty="0"/>
            </a:br>
            <a:r>
              <a:rPr lang="en-GB" sz="1400" dirty="0"/>
              <a:t>            float: left; </a:t>
            </a:r>
          </a:p>
          <a:p>
            <a:r>
              <a:rPr lang="en-GB" sz="1400" dirty="0"/>
              <a:t>            display: inline;</a:t>
            </a:r>
          </a:p>
          <a:p>
            <a:r>
              <a:rPr lang="en-GB" sz="1400" dirty="0"/>
              <a:t>            margin-right: 20px;</a:t>
            </a:r>
          </a:p>
          <a:p>
            <a:r>
              <a:rPr lang="en-GB" sz="1400" dirty="0"/>
              <a:t>            padding: 10px;</a:t>
            </a:r>
          </a:p>
          <a:p>
            <a:r>
              <a:rPr lang="en-GB" sz="1400" dirty="0"/>
              <a:t>        }</a:t>
            </a:r>
          </a:p>
          <a:p>
            <a:r>
              <a:rPr lang="en-GB" sz="1400" dirty="0"/>
              <a:t>        </a:t>
            </a:r>
            <a:r>
              <a:rPr lang="en-GB" sz="1400" dirty="0" err="1"/>
              <a:t>nav</a:t>
            </a:r>
            <a:r>
              <a:rPr lang="en-GB" sz="1400" dirty="0"/>
              <a:t> </a:t>
            </a:r>
            <a:r>
              <a:rPr lang="en-GB" sz="1400" dirty="0" err="1"/>
              <a:t>ul</a:t>
            </a:r>
            <a:r>
              <a:rPr lang="en-GB" sz="1400" dirty="0"/>
              <a:t> li a {</a:t>
            </a:r>
          </a:p>
          <a:p>
            <a:r>
              <a:rPr lang="en-GB" sz="1400" dirty="0"/>
              <a:t>            </a:t>
            </a:r>
            <a:r>
              <a:rPr lang="en-GB" sz="1400" dirty="0" err="1"/>
              <a:t>color</a:t>
            </a:r>
            <a:r>
              <a:rPr lang="en-GB" sz="1400" dirty="0"/>
              <a:t>: white;</a:t>
            </a:r>
          </a:p>
          <a:p>
            <a:r>
              <a:rPr lang="en-GB" sz="1400" dirty="0"/>
              <a:t>            text-decoration: none;</a:t>
            </a:r>
          </a:p>
          <a:p>
            <a:r>
              <a:rPr lang="en-GB" sz="1400" dirty="0"/>
              <a:t>            padding: 14px 20px;</a:t>
            </a:r>
          </a:p>
          <a:p>
            <a:r>
              <a:rPr lang="en-GB" sz="1400" dirty="0"/>
              <a:t>            display: block</a:t>
            </a:r>
            <a:r>
              <a:rPr lang="en-GB" sz="1400" dirty="0" smtClean="0"/>
              <a:t>; </a:t>
            </a:r>
            <a:r>
              <a:rPr lang="en-GB" sz="1400" dirty="0"/>
              <a:t>  </a:t>
            </a:r>
          </a:p>
          <a:p>
            <a:r>
              <a:rPr lang="en-GB" sz="1400" dirty="0"/>
              <a:t>        }</a:t>
            </a:r>
          </a:p>
          <a:p>
            <a:r>
              <a:rPr lang="en-GB" sz="1400" dirty="0"/>
              <a:t>        </a:t>
            </a:r>
            <a:r>
              <a:rPr lang="en-GB" sz="1400" dirty="0" err="1"/>
              <a:t>nav</a:t>
            </a:r>
            <a:r>
              <a:rPr lang="en-GB" sz="1400" dirty="0"/>
              <a:t> </a:t>
            </a:r>
            <a:r>
              <a:rPr lang="en-GB" sz="1400" dirty="0" err="1"/>
              <a:t>ul</a:t>
            </a:r>
            <a:r>
              <a:rPr lang="en-GB" sz="1400" dirty="0"/>
              <a:t> li a:hover {</a:t>
            </a:r>
          </a:p>
          <a:p>
            <a:r>
              <a:rPr lang="en-GB" sz="1400" dirty="0"/>
              <a:t>            background-</a:t>
            </a:r>
            <a:r>
              <a:rPr lang="en-GB" sz="1400" dirty="0" err="1"/>
              <a:t>color</a:t>
            </a:r>
            <a:r>
              <a:rPr lang="en-GB" sz="1400" dirty="0"/>
              <a:t>: #575757;</a:t>
            </a:r>
          </a:p>
          <a:p>
            <a:r>
              <a:rPr lang="en-GB" sz="1400" dirty="0"/>
              <a:t>        </a:t>
            </a:r>
            <a:r>
              <a:rPr lang="en-GB" sz="1400" dirty="0" smtClean="0"/>
              <a:t>}</a:t>
            </a:r>
            <a:endParaRPr lang="en-GB" sz="1400" dirty="0"/>
          </a:p>
        </p:txBody>
      </p:sp>
      <p:sp>
        <p:nvSpPr>
          <p:cNvPr id="7" name="TextBox 6"/>
          <p:cNvSpPr txBox="1"/>
          <p:nvPr/>
        </p:nvSpPr>
        <p:spPr>
          <a:xfrm>
            <a:off x="4415961" y="1416966"/>
            <a:ext cx="7005444" cy="1754326"/>
          </a:xfrm>
          <a:prstGeom prst="rect">
            <a:avLst/>
          </a:prstGeom>
          <a:noFill/>
        </p:spPr>
        <p:txBody>
          <a:bodyPr wrap="none" rtlCol="0">
            <a:spAutoFit/>
          </a:bodyPr>
          <a:lstStyle/>
          <a:p>
            <a:r>
              <a:rPr lang="en-US" dirty="0" smtClean="0"/>
              <a:t>This will display  beautiful </a:t>
            </a:r>
            <a:r>
              <a:rPr lang="en-US" dirty="0" err="1" smtClean="0"/>
              <a:t>navbar</a:t>
            </a:r>
            <a:r>
              <a:rPr lang="en-US" dirty="0" smtClean="0"/>
              <a:t>, which float on left side.</a:t>
            </a:r>
          </a:p>
          <a:p>
            <a:r>
              <a:rPr lang="en-US" dirty="0" smtClean="0"/>
              <a:t>Normally, we display &lt;li&gt; items as ‘display: inline;’ but her we used</a:t>
            </a:r>
          </a:p>
          <a:p>
            <a:r>
              <a:rPr lang="en-US" dirty="0" smtClean="0"/>
              <a:t>&lt;a&gt; as ‘</a:t>
            </a:r>
            <a:r>
              <a:rPr lang="en-US" dirty="0" err="1" smtClean="0"/>
              <a:t>display:block</a:t>
            </a:r>
            <a:r>
              <a:rPr lang="en-US" dirty="0" smtClean="0"/>
              <a:t>’ </a:t>
            </a:r>
            <a:r>
              <a:rPr lang="en-US" dirty="0"/>
              <a:t>to improving usability for navigation menus. </a:t>
            </a:r>
            <a:endParaRPr lang="en-US" dirty="0" smtClean="0"/>
          </a:p>
          <a:p>
            <a:r>
              <a:rPr lang="en-US" dirty="0" smtClean="0"/>
              <a:t>It </a:t>
            </a:r>
            <a:r>
              <a:rPr lang="en-US" dirty="0"/>
              <a:t>also enables you to apply padding and margins effectively, </a:t>
            </a:r>
            <a:endParaRPr lang="en-US" dirty="0" smtClean="0"/>
          </a:p>
          <a:p>
            <a:r>
              <a:rPr lang="en-US" dirty="0" smtClean="0"/>
              <a:t>creating </a:t>
            </a:r>
            <a:r>
              <a:rPr lang="en-US" dirty="0"/>
              <a:t>a better visual structure and layout for the navigation links</a:t>
            </a:r>
            <a:r>
              <a:rPr lang="en-US" dirty="0" smtClean="0"/>
              <a:t>.</a:t>
            </a:r>
          </a:p>
          <a:p>
            <a:r>
              <a:rPr lang="en-US" dirty="0"/>
              <a:t>This makes the menu easier to interact with, especially on touch devices.</a:t>
            </a:r>
            <a:endParaRPr lang="en-GB"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2030" y="3491789"/>
            <a:ext cx="6843679" cy="631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4513385" y="4560277"/>
            <a:ext cx="3274486" cy="1815882"/>
          </a:xfrm>
          <a:prstGeom prst="rect">
            <a:avLst/>
          </a:prstGeom>
          <a:noFill/>
        </p:spPr>
        <p:txBody>
          <a:bodyPr wrap="none" rtlCol="0">
            <a:spAutoFit/>
          </a:bodyPr>
          <a:lstStyle/>
          <a:p>
            <a:r>
              <a:rPr lang="it-IT" sz="1400" dirty="0"/>
              <a:t>&lt;nav&gt;</a:t>
            </a:r>
          </a:p>
          <a:p>
            <a:r>
              <a:rPr lang="it-IT" sz="1400" dirty="0"/>
              <a:t>            &lt;ul&gt;</a:t>
            </a:r>
          </a:p>
          <a:p>
            <a:r>
              <a:rPr lang="it-IT" sz="1400" dirty="0"/>
              <a:t>                &lt;li&gt;&lt;a href="#"&gt;Home&lt;/a&gt;&lt;/li&gt;</a:t>
            </a:r>
          </a:p>
          <a:p>
            <a:r>
              <a:rPr lang="it-IT" sz="1400" dirty="0"/>
              <a:t>                &lt;li&gt;&lt;a href="#"&gt;About&lt;/a&gt;&lt;/li&gt;</a:t>
            </a:r>
          </a:p>
          <a:p>
            <a:r>
              <a:rPr lang="it-IT" sz="1400" dirty="0"/>
              <a:t>                &lt;li&gt;&lt;a href="#"&gt;Services&lt;/a&gt;&lt;/li&gt;</a:t>
            </a:r>
          </a:p>
          <a:p>
            <a:r>
              <a:rPr lang="it-IT" sz="1400" dirty="0"/>
              <a:t>                &lt;li&gt;&lt;a href="#"&gt;Contact&lt;/a&gt;&lt;/li&gt;</a:t>
            </a:r>
          </a:p>
          <a:p>
            <a:r>
              <a:rPr lang="it-IT" sz="1400" dirty="0"/>
              <a:t>            &lt;/ul&gt;</a:t>
            </a:r>
          </a:p>
          <a:p>
            <a:r>
              <a:rPr lang="it-IT" sz="1400" dirty="0" smtClean="0"/>
              <a:t>&lt;/</a:t>
            </a:r>
            <a:r>
              <a:rPr lang="it-IT" sz="1400" dirty="0"/>
              <a:t>nav</a:t>
            </a:r>
            <a:r>
              <a:rPr lang="it-IT" sz="1400" dirty="0" smtClean="0"/>
              <a:t>&gt;</a:t>
            </a:r>
            <a:endParaRPr lang="it-IT" sz="1400" dirty="0"/>
          </a:p>
        </p:txBody>
      </p:sp>
    </p:spTree>
    <p:extLst>
      <p:ext uri="{BB962C8B-B14F-4D97-AF65-F5344CB8AC3E}">
        <p14:creationId xmlns:p14="http://schemas.microsoft.com/office/powerpoint/2010/main" val="314034970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sosceles Triangle 3"/>
          <p:cNvSpPr/>
          <p:nvPr/>
        </p:nvSpPr>
        <p:spPr>
          <a:xfrm flipH="1" flipV="1">
            <a:off x="-49879" y="-16933"/>
            <a:ext cx="1836767" cy="1654234"/>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Isosceles Triangle 3"/>
          <p:cNvSpPr/>
          <p:nvPr/>
        </p:nvSpPr>
        <p:spPr>
          <a:xfrm flipH="1">
            <a:off x="-49878" y="5203766"/>
            <a:ext cx="1836767" cy="1654234"/>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p:cNvSpPr/>
          <p:nvPr/>
        </p:nvSpPr>
        <p:spPr>
          <a:xfrm>
            <a:off x="10681855" y="5203766"/>
            <a:ext cx="1602970" cy="1654233"/>
          </a:xfrm>
          <a:custGeom>
            <a:avLst/>
            <a:gdLst>
              <a:gd name="connsiteX0" fmla="*/ 0 w 5062451"/>
              <a:gd name="connsiteY0" fmla="*/ 3724102 h 3724102"/>
              <a:gd name="connsiteX1" fmla="*/ 2531226 w 5062451"/>
              <a:gd name="connsiteY1" fmla="*/ 0 h 3724102"/>
              <a:gd name="connsiteX2" fmla="*/ 5062451 w 5062451"/>
              <a:gd name="connsiteY2" fmla="*/ 3724102 h 3724102"/>
              <a:gd name="connsiteX3" fmla="*/ 0 w 5062451"/>
              <a:gd name="connsiteY3" fmla="*/ 3724102 h 3724102"/>
              <a:gd name="connsiteX0" fmla="*/ 0 w 2600605"/>
              <a:gd name="connsiteY0" fmla="*/ 3724102 h 3724102"/>
              <a:gd name="connsiteX1" fmla="*/ 2531226 w 2600605"/>
              <a:gd name="connsiteY1" fmla="*/ 0 h 3724102"/>
              <a:gd name="connsiteX2" fmla="*/ 2600605 w 2600605"/>
              <a:gd name="connsiteY2" fmla="*/ 3712379 h 3724102"/>
              <a:gd name="connsiteX3" fmla="*/ 0 w 2600605"/>
              <a:gd name="connsiteY3" fmla="*/ 3724102 h 3724102"/>
            </a:gdLst>
            <a:ahLst/>
            <a:cxnLst>
              <a:cxn ang="0">
                <a:pos x="connsiteX0" y="connsiteY0"/>
              </a:cxn>
              <a:cxn ang="0">
                <a:pos x="connsiteX1" y="connsiteY1"/>
              </a:cxn>
              <a:cxn ang="0">
                <a:pos x="connsiteX2" y="connsiteY2"/>
              </a:cxn>
              <a:cxn ang="0">
                <a:pos x="connsiteX3" y="connsiteY3"/>
              </a:cxn>
            </a:cxnLst>
            <a:rect l="l" t="t" r="r" b="b"/>
            <a:pathLst>
              <a:path w="2600605" h="3724102">
                <a:moveTo>
                  <a:pt x="0" y="3724102"/>
                </a:moveTo>
                <a:lnTo>
                  <a:pt x="2531226" y="0"/>
                </a:lnTo>
                <a:lnTo>
                  <a:pt x="2600605" y="3712379"/>
                </a:lnTo>
                <a:lnTo>
                  <a:pt x="0" y="3724102"/>
                </a:lnTo>
                <a:close/>
              </a:path>
            </a:pathLst>
          </a:custGeom>
          <a:solidFill>
            <a:srgbClr val="12985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524281" y="389467"/>
            <a:ext cx="11125200" cy="60621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p:cNvSpPr>
            <a:spLocks noGrp="1"/>
          </p:cNvSpPr>
          <p:nvPr>
            <p:ph type="ftr" sz="quarter" idx="11"/>
          </p:nvPr>
        </p:nvSpPr>
        <p:spPr>
          <a:xfrm>
            <a:off x="4038600" y="6433624"/>
            <a:ext cx="4114800" cy="365125"/>
          </a:xfrm>
        </p:spPr>
        <p:txBody>
          <a:bodyPr/>
          <a:lstStyle/>
          <a:p>
            <a:r>
              <a:rPr lang="en-US" dirty="0" smtClean="0"/>
              <a:t>IT Industry-Academia Bridge Program</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906669787"/>
              </p:ext>
            </p:extLst>
          </p:nvPr>
        </p:nvGraphicFramePr>
        <p:xfrm>
          <a:off x="2032000" y="719666"/>
          <a:ext cx="8127999" cy="4246880"/>
        </p:xfrm>
        <a:graphic>
          <a:graphicData uri="http://schemas.openxmlformats.org/drawingml/2006/table">
            <a:tbl>
              <a:tblPr firstRow="1" bandRow="1">
                <a:tableStyleId>{5C22544A-7EE6-4342-B048-85BDC9FD1C3A}</a:tableStyleId>
              </a:tblPr>
              <a:tblGrid>
                <a:gridCol w="2709333"/>
                <a:gridCol w="2709333"/>
                <a:gridCol w="2709333"/>
              </a:tblGrid>
              <a:tr h="370840">
                <a:tc>
                  <a:txBody>
                    <a:bodyPr/>
                    <a:lstStyle/>
                    <a:p>
                      <a:r>
                        <a:rPr lang="en-US" dirty="0" smtClean="0"/>
                        <a:t>Deliverable</a:t>
                      </a:r>
                      <a:r>
                        <a:rPr lang="en-US" baseline="0" dirty="0" smtClean="0"/>
                        <a:t> Name</a:t>
                      </a:r>
                      <a:endParaRPr lang="en-GB" dirty="0"/>
                    </a:p>
                  </a:txBody>
                  <a:tcPr/>
                </a:tc>
                <a:tc>
                  <a:txBody>
                    <a:bodyPr/>
                    <a:lstStyle/>
                    <a:p>
                      <a:r>
                        <a:rPr lang="en-US" dirty="0" smtClean="0"/>
                        <a:t>Due </a:t>
                      </a:r>
                      <a:r>
                        <a:rPr lang="en-US" baseline="0" dirty="0" smtClean="0"/>
                        <a:t> Date</a:t>
                      </a:r>
                      <a:endParaRPr lang="en-GB" dirty="0"/>
                    </a:p>
                  </a:txBody>
                  <a:tcPr/>
                </a:tc>
                <a:tc>
                  <a:txBody>
                    <a:bodyPr/>
                    <a:lstStyle/>
                    <a:p>
                      <a:r>
                        <a:rPr lang="en-US" dirty="0" smtClean="0"/>
                        <a:t>Semester</a:t>
                      </a:r>
                      <a:endParaRPr lang="en-GB" dirty="0"/>
                    </a:p>
                  </a:txBody>
                  <a:tcPr/>
                </a:tc>
              </a:tr>
              <a:tr h="370840">
                <a:tc>
                  <a:txBody>
                    <a:bodyPr/>
                    <a:lstStyle/>
                    <a:p>
                      <a:r>
                        <a:rPr lang="en-US" dirty="0" smtClean="0"/>
                        <a:t>FYP</a:t>
                      </a:r>
                      <a:r>
                        <a:rPr lang="en-US" baseline="0" dirty="0" smtClean="0"/>
                        <a:t> Idea</a:t>
                      </a:r>
                      <a:endParaRPr lang="en-GB" dirty="0"/>
                    </a:p>
                  </a:txBody>
                  <a:tcPr/>
                </a:tc>
                <a:tc>
                  <a:txBody>
                    <a:bodyPr/>
                    <a:lstStyle/>
                    <a:p>
                      <a:r>
                        <a:rPr lang="en-US" dirty="0" smtClean="0"/>
                        <a:t>3</a:t>
                      </a:r>
                      <a:r>
                        <a:rPr lang="en-US" baseline="30000" dirty="0" smtClean="0"/>
                        <a:t>rd</a:t>
                      </a:r>
                      <a:r>
                        <a:rPr lang="en-US" dirty="0" smtClean="0"/>
                        <a:t> Week (Tuesday)</a:t>
                      </a:r>
                      <a:endParaRPr lang="en-GB" dirty="0"/>
                    </a:p>
                  </a:txBody>
                  <a:tcPr/>
                </a:tc>
                <a:tc>
                  <a:txBody>
                    <a:bodyPr/>
                    <a:lstStyle/>
                    <a:p>
                      <a:r>
                        <a:rPr lang="en-US" dirty="0" smtClean="0"/>
                        <a:t>6</a:t>
                      </a:r>
                      <a:r>
                        <a:rPr lang="en-US" baseline="30000" dirty="0" smtClean="0"/>
                        <a:t>th</a:t>
                      </a:r>
                      <a:r>
                        <a:rPr lang="en-US" dirty="0" smtClean="0"/>
                        <a:t> Semester</a:t>
                      </a:r>
                      <a:endParaRPr lang="en-GB" dirty="0"/>
                    </a:p>
                  </a:txBody>
                  <a:tcPr/>
                </a:tc>
              </a:tr>
              <a:tr h="370840">
                <a:tc>
                  <a:txBody>
                    <a:bodyPr/>
                    <a:lstStyle/>
                    <a:p>
                      <a:r>
                        <a:rPr lang="en-US" dirty="0" smtClean="0"/>
                        <a:t>Proposal Submission</a:t>
                      </a:r>
                      <a:endParaRPr lang="en-GB" dirty="0"/>
                    </a:p>
                  </a:txBody>
                  <a:tcPr/>
                </a:tc>
                <a:tc>
                  <a:txBody>
                    <a:bodyPr/>
                    <a:lstStyle/>
                    <a:p>
                      <a:r>
                        <a:rPr lang="en-US" dirty="0" smtClean="0"/>
                        <a:t>5</a:t>
                      </a:r>
                      <a:r>
                        <a:rPr lang="en-US" baseline="30000" dirty="0" smtClean="0"/>
                        <a:t>th</a:t>
                      </a:r>
                      <a:r>
                        <a:rPr lang="en-US" dirty="0" smtClean="0"/>
                        <a:t> Week (Tuesday)</a:t>
                      </a:r>
                      <a:endParaRPr lang="en-GB" dirty="0"/>
                    </a:p>
                  </a:txBody>
                  <a:tcPr/>
                </a:tc>
                <a:tc>
                  <a:txBody>
                    <a:bodyPr/>
                    <a:lstStyle/>
                    <a:p>
                      <a:r>
                        <a:rPr lang="en-US" dirty="0" smtClean="0"/>
                        <a:t>6</a:t>
                      </a:r>
                      <a:r>
                        <a:rPr lang="en-US" baseline="30000" dirty="0" smtClean="0"/>
                        <a:t>th</a:t>
                      </a:r>
                      <a:r>
                        <a:rPr lang="en-US" dirty="0" smtClean="0"/>
                        <a:t> Semester</a:t>
                      </a:r>
                      <a:endParaRPr lang="en-GB" dirty="0"/>
                    </a:p>
                  </a:txBody>
                  <a:tcPr/>
                </a:tc>
              </a:tr>
              <a:tr h="370840">
                <a:tc>
                  <a:txBody>
                    <a:bodyPr/>
                    <a:lstStyle/>
                    <a:p>
                      <a:r>
                        <a:rPr lang="en-US" dirty="0" smtClean="0"/>
                        <a:t>Proposal</a:t>
                      </a:r>
                      <a:r>
                        <a:rPr lang="en-US" baseline="0" dirty="0" smtClean="0"/>
                        <a:t> Defense</a:t>
                      </a:r>
                      <a:endParaRPr lang="en-GB" dirty="0"/>
                    </a:p>
                  </a:txBody>
                  <a:tcPr/>
                </a:tc>
                <a:tc>
                  <a:txBody>
                    <a:bodyPr/>
                    <a:lstStyle/>
                    <a:p>
                      <a:r>
                        <a:rPr lang="en-US" dirty="0" smtClean="0"/>
                        <a:t>6</a:t>
                      </a:r>
                      <a:r>
                        <a:rPr lang="en-US" baseline="30000" dirty="0" smtClean="0"/>
                        <a:t>th</a:t>
                      </a:r>
                      <a:r>
                        <a:rPr lang="en-US" dirty="0" smtClean="0"/>
                        <a:t> Week </a:t>
                      </a:r>
                      <a:endParaRPr lang="en-GB" dirty="0"/>
                    </a:p>
                  </a:txBody>
                  <a:tcPr/>
                </a:tc>
                <a:tc>
                  <a:txBody>
                    <a:bodyPr/>
                    <a:lstStyle/>
                    <a:p>
                      <a:r>
                        <a:rPr lang="en-US" dirty="0" smtClean="0"/>
                        <a:t>6</a:t>
                      </a:r>
                      <a:r>
                        <a:rPr lang="en-US" baseline="30000" dirty="0" smtClean="0"/>
                        <a:t>th</a:t>
                      </a:r>
                      <a:r>
                        <a:rPr lang="en-US" dirty="0" smtClean="0"/>
                        <a:t> Semester</a:t>
                      </a:r>
                      <a:endParaRPr lang="en-GB" dirty="0"/>
                    </a:p>
                  </a:txBody>
                  <a:tcPr/>
                </a:tc>
              </a:tr>
              <a:tr h="370840">
                <a:tc>
                  <a:txBody>
                    <a:bodyPr/>
                    <a:lstStyle/>
                    <a:p>
                      <a:r>
                        <a:rPr lang="en-US" dirty="0" smtClean="0"/>
                        <a:t>Phase-1</a:t>
                      </a:r>
                      <a:r>
                        <a:rPr lang="en-US" baseline="0" dirty="0" smtClean="0"/>
                        <a:t>  Chapter-1 Submission</a:t>
                      </a:r>
                      <a:endParaRPr lang="en-GB" dirty="0"/>
                    </a:p>
                  </a:txBody>
                  <a:tcPr/>
                </a:tc>
                <a:tc>
                  <a:txBody>
                    <a:bodyPr/>
                    <a:lstStyle/>
                    <a:p>
                      <a:r>
                        <a:rPr lang="en-US" dirty="0" smtClean="0"/>
                        <a:t>12</a:t>
                      </a:r>
                      <a:r>
                        <a:rPr lang="en-US" baseline="30000" dirty="0" smtClean="0"/>
                        <a:t>th</a:t>
                      </a:r>
                      <a:r>
                        <a:rPr lang="en-US" dirty="0" smtClean="0"/>
                        <a:t> Week</a:t>
                      </a:r>
                      <a:endParaRPr lang="en-GB" dirty="0"/>
                    </a:p>
                  </a:txBody>
                  <a:tcPr/>
                </a:tc>
                <a:tc>
                  <a:txBody>
                    <a:bodyPr/>
                    <a:lstStyle/>
                    <a:p>
                      <a:r>
                        <a:rPr lang="en-US" dirty="0" smtClean="0"/>
                        <a:t>6</a:t>
                      </a:r>
                      <a:r>
                        <a:rPr lang="en-US" baseline="30000" dirty="0" smtClean="0"/>
                        <a:t>th</a:t>
                      </a:r>
                      <a:r>
                        <a:rPr lang="en-US" dirty="0" smtClean="0"/>
                        <a:t> Semester</a:t>
                      </a:r>
                      <a:endParaRPr lang="en-GB" dirty="0"/>
                    </a:p>
                  </a:txBody>
                  <a:tcPr/>
                </a:tc>
              </a:tr>
              <a:tr h="370840">
                <a:tc>
                  <a:txBody>
                    <a:bodyPr/>
                    <a:lstStyle/>
                    <a:p>
                      <a:r>
                        <a:rPr lang="en-US" dirty="0" smtClean="0"/>
                        <a:t>Phase-1  Chapter-1 Evaluation</a:t>
                      </a:r>
                      <a:endParaRPr lang="en-GB" dirty="0"/>
                    </a:p>
                  </a:txBody>
                  <a:tcPr/>
                </a:tc>
                <a:tc>
                  <a:txBody>
                    <a:bodyPr/>
                    <a:lstStyle/>
                    <a:p>
                      <a:r>
                        <a:rPr lang="en-US" dirty="0" smtClean="0"/>
                        <a:t>13</a:t>
                      </a:r>
                      <a:r>
                        <a:rPr lang="en-US" baseline="30000" dirty="0" smtClean="0"/>
                        <a:t>th</a:t>
                      </a:r>
                      <a:r>
                        <a:rPr lang="en-US" dirty="0" smtClean="0"/>
                        <a:t> Week</a:t>
                      </a:r>
                      <a:r>
                        <a:rPr lang="en-US" baseline="30000" dirty="0" smtClean="0"/>
                        <a:t> </a:t>
                      </a:r>
                      <a:endParaRPr lang="en-GB" dirty="0"/>
                    </a:p>
                  </a:txBody>
                  <a:tcPr/>
                </a:tc>
                <a:tc>
                  <a:txBody>
                    <a:bodyPr/>
                    <a:lstStyle/>
                    <a:p>
                      <a:r>
                        <a:rPr lang="en-US" dirty="0" smtClean="0"/>
                        <a:t>6</a:t>
                      </a:r>
                      <a:r>
                        <a:rPr lang="en-US" baseline="30000" dirty="0" smtClean="0"/>
                        <a:t>th</a:t>
                      </a:r>
                      <a:r>
                        <a:rPr lang="en-US" dirty="0" smtClean="0"/>
                        <a:t> Semester</a:t>
                      </a:r>
                      <a:endParaRPr lang="en-GB" dirty="0"/>
                    </a:p>
                  </a:txBody>
                  <a:tcPr/>
                </a:tc>
              </a:tr>
              <a:tr h="370840">
                <a:tc>
                  <a:txBody>
                    <a:bodyPr/>
                    <a:lstStyle/>
                    <a:p>
                      <a:r>
                        <a:rPr lang="en-US" dirty="0" smtClean="0"/>
                        <a:t>Phase-1 Submission</a:t>
                      </a:r>
                      <a:endParaRPr lang="en-GB" dirty="0"/>
                    </a:p>
                  </a:txBody>
                  <a:tcPr/>
                </a:tc>
                <a:tc>
                  <a:txBody>
                    <a:bodyPr/>
                    <a:lstStyle/>
                    <a:p>
                      <a:r>
                        <a:rPr lang="en-US" dirty="0" smtClean="0"/>
                        <a:t>14</a:t>
                      </a:r>
                      <a:r>
                        <a:rPr lang="en-US" baseline="30000" dirty="0" smtClean="0"/>
                        <a:t>th</a:t>
                      </a:r>
                      <a:r>
                        <a:rPr lang="en-US" dirty="0" smtClean="0"/>
                        <a:t> Week</a:t>
                      </a:r>
                      <a:endParaRPr lang="en-GB" dirty="0"/>
                    </a:p>
                  </a:txBody>
                  <a:tcPr/>
                </a:tc>
                <a:tc>
                  <a:txBody>
                    <a:bodyPr/>
                    <a:lstStyle/>
                    <a:p>
                      <a:r>
                        <a:rPr lang="en-US" baseline="0" dirty="0" smtClean="0"/>
                        <a:t>7</a:t>
                      </a:r>
                      <a:r>
                        <a:rPr lang="en-US" baseline="30000" dirty="0" smtClean="0"/>
                        <a:t>th</a:t>
                      </a:r>
                      <a:r>
                        <a:rPr lang="en-US" dirty="0" smtClean="0"/>
                        <a:t> Semester</a:t>
                      </a:r>
                      <a:r>
                        <a:rPr lang="en-US" baseline="0" dirty="0" smtClean="0"/>
                        <a:t> </a:t>
                      </a:r>
                      <a:endParaRPr lang="en-GB" dirty="0"/>
                    </a:p>
                  </a:txBody>
                  <a:tcPr/>
                </a:tc>
              </a:tr>
              <a:tr h="370840">
                <a:tc>
                  <a:txBody>
                    <a:bodyPr/>
                    <a:lstStyle/>
                    <a:p>
                      <a:r>
                        <a:rPr lang="en-US" dirty="0" smtClean="0"/>
                        <a:t>Phase-1 Evaluation</a:t>
                      </a:r>
                      <a:endParaRPr lang="en-GB" dirty="0"/>
                    </a:p>
                  </a:txBody>
                  <a:tcPr/>
                </a:tc>
                <a:tc>
                  <a:txBody>
                    <a:bodyPr/>
                    <a:lstStyle/>
                    <a:p>
                      <a:r>
                        <a:rPr lang="en-US" dirty="0" smtClean="0"/>
                        <a:t>17</a:t>
                      </a:r>
                      <a:r>
                        <a:rPr lang="en-US" baseline="30000" dirty="0" smtClean="0"/>
                        <a:t>th</a:t>
                      </a:r>
                      <a:r>
                        <a:rPr lang="en-US" dirty="0" smtClean="0"/>
                        <a:t> Week </a:t>
                      </a:r>
                      <a:endParaRPr lang="en-GB" dirty="0"/>
                    </a:p>
                  </a:txBody>
                  <a:tcPr/>
                </a:tc>
                <a:tc>
                  <a:txBody>
                    <a:bodyPr/>
                    <a:lstStyle/>
                    <a:p>
                      <a:r>
                        <a:rPr lang="en-US" baseline="0" dirty="0" smtClean="0"/>
                        <a:t>7</a:t>
                      </a:r>
                      <a:r>
                        <a:rPr lang="en-US" baseline="30000" dirty="0" smtClean="0"/>
                        <a:t>th</a:t>
                      </a:r>
                      <a:r>
                        <a:rPr lang="en-US" dirty="0" smtClean="0"/>
                        <a:t> Semester</a:t>
                      </a:r>
                      <a:endParaRPr lang="en-GB" dirty="0"/>
                    </a:p>
                  </a:txBody>
                  <a:tcPr/>
                </a:tc>
              </a:tr>
              <a:tr h="370840">
                <a:tc>
                  <a:txBody>
                    <a:bodyPr/>
                    <a:lstStyle/>
                    <a:p>
                      <a:r>
                        <a:rPr lang="en-US" dirty="0" smtClean="0"/>
                        <a:t>Phase-II Submission</a:t>
                      </a:r>
                      <a:endParaRPr lang="en-GB" dirty="0"/>
                    </a:p>
                  </a:txBody>
                  <a:tcPr/>
                </a:tc>
                <a:tc>
                  <a:txBody>
                    <a:bodyPr/>
                    <a:lstStyle/>
                    <a:p>
                      <a:r>
                        <a:rPr lang="en-US" dirty="0" smtClean="0"/>
                        <a:t>14</a:t>
                      </a:r>
                      <a:r>
                        <a:rPr lang="en-US" baseline="30000" dirty="0" smtClean="0"/>
                        <a:t>th</a:t>
                      </a:r>
                      <a:r>
                        <a:rPr lang="en-US" dirty="0" smtClean="0"/>
                        <a:t> Week</a:t>
                      </a:r>
                      <a:endParaRPr lang="en-GB" dirty="0"/>
                    </a:p>
                  </a:txBody>
                  <a:tcPr/>
                </a:tc>
                <a:tc>
                  <a:txBody>
                    <a:bodyPr/>
                    <a:lstStyle/>
                    <a:p>
                      <a:r>
                        <a:rPr lang="en-US" dirty="0" smtClean="0"/>
                        <a:t>8</a:t>
                      </a:r>
                      <a:r>
                        <a:rPr lang="en-US" baseline="30000" dirty="0" smtClean="0"/>
                        <a:t>th</a:t>
                      </a:r>
                      <a:r>
                        <a:rPr lang="en-US" baseline="0" dirty="0" smtClean="0"/>
                        <a:t> Semester</a:t>
                      </a:r>
                      <a:endParaRPr lang="en-GB" dirty="0"/>
                    </a:p>
                  </a:txBody>
                  <a:tcPr/>
                </a:tc>
              </a:tr>
              <a:tr h="370840">
                <a:tc>
                  <a:txBody>
                    <a:bodyPr/>
                    <a:lstStyle/>
                    <a:p>
                      <a:r>
                        <a:rPr lang="en-US" dirty="0" smtClean="0"/>
                        <a:t>Phase-II Evaluation</a:t>
                      </a:r>
                      <a:endParaRPr lang="en-GB" dirty="0"/>
                    </a:p>
                  </a:txBody>
                  <a:tcPr/>
                </a:tc>
                <a:tc>
                  <a:txBody>
                    <a:bodyPr/>
                    <a:lstStyle/>
                    <a:p>
                      <a:r>
                        <a:rPr lang="en-US" dirty="0" smtClean="0"/>
                        <a:t>17</a:t>
                      </a:r>
                      <a:r>
                        <a:rPr lang="en-US" baseline="30000" dirty="0" smtClean="0"/>
                        <a:t>th</a:t>
                      </a:r>
                      <a:r>
                        <a:rPr lang="en-US" dirty="0" smtClean="0"/>
                        <a:t> Week</a:t>
                      </a:r>
                      <a:endParaRPr lang="en-GB" dirty="0"/>
                    </a:p>
                  </a:txBody>
                  <a:tcPr/>
                </a:tc>
                <a:tc>
                  <a:txBody>
                    <a:bodyPr/>
                    <a:lstStyle/>
                    <a:p>
                      <a:r>
                        <a:rPr lang="en-US" smtClean="0"/>
                        <a:t>8</a:t>
                      </a:r>
                      <a:r>
                        <a:rPr lang="en-US" baseline="30000" smtClean="0"/>
                        <a:t>th</a:t>
                      </a:r>
                      <a:r>
                        <a:rPr lang="en-US" smtClean="0"/>
                        <a:t> Semester</a:t>
                      </a:r>
                      <a:endParaRPr lang="en-GB" dirty="0"/>
                    </a:p>
                  </a:txBody>
                  <a:tcPr/>
                </a:tc>
              </a:tr>
            </a:tbl>
          </a:graphicData>
        </a:graphic>
      </p:graphicFrame>
    </p:spTree>
    <p:extLst>
      <p:ext uri="{BB962C8B-B14F-4D97-AF65-F5344CB8AC3E}">
        <p14:creationId xmlns:p14="http://schemas.microsoft.com/office/powerpoint/2010/main" val="13714793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24222</TotalTime>
  <Words>5004</Words>
  <Application>Microsoft Office PowerPoint</Application>
  <PresentationFormat>Widescreen</PresentationFormat>
  <Paragraphs>823</Paragraphs>
  <Slides>72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72</vt:i4>
      </vt:variant>
    </vt:vector>
  </HeadingPairs>
  <TitlesOfParts>
    <vt:vector size="76" baseType="lpstr">
      <vt:lpstr>Arial</vt:lpstr>
      <vt:lpstr>Calibri</vt:lpstr>
      <vt:lpstr>Calibri Light</vt:lpstr>
      <vt:lpstr>Office Theme</vt:lpstr>
      <vt:lpstr>PowerPoint Presentation</vt:lpstr>
      <vt:lpstr>CSS</vt:lpstr>
      <vt:lpstr>The Purpose of CSS</vt:lpstr>
      <vt:lpstr>CSS and HTML Integration</vt:lpstr>
      <vt:lpstr>PowerPoint Presentation</vt:lpstr>
      <vt:lpstr>CSS Syntax</vt:lpstr>
      <vt:lpstr>CSS Syntax</vt:lpstr>
      <vt:lpstr>CSS Selector</vt:lpstr>
      <vt:lpstr>DIV Selector</vt:lpstr>
      <vt:lpstr>PowerPoint Presentation</vt:lpstr>
      <vt:lpstr>CSS Selector(pattern matching)</vt:lpstr>
      <vt:lpstr>Child Selector</vt:lpstr>
      <vt:lpstr>Child Selector</vt:lpstr>
      <vt:lpstr>Tools and Resources</vt:lpstr>
      <vt:lpstr>Color Styling</vt:lpstr>
      <vt:lpstr>Background Styling</vt:lpstr>
      <vt:lpstr>Border Styling</vt:lpstr>
      <vt:lpstr>CSS Margins</vt:lpstr>
      <vt:lpstr>CSS Padding</vt:lpstr>
      <vt:lpstr>CSS Width &amp; Height</vt:lpstr>
      <vt:lpstr>CSS Text</vt:lpstr>
      <vt:lpstr>CSS Font</vt:lpstr>
      <vt:lpstr>CSS Image</vt:lpstr>
      <vt:lpstr>External Resources</vt:lpstr>
      <vt:lpstr>CSS Layout</vt:lpstr>
      <vt:lpstr>Display Properties</vt:lpstr>
      <vt:lpstr>PowerPoint Presentation</vt:lpstr>
      <vt:lpstr>Display Properties  continue…</vt:lpstr>
      <vt:lpstr>Display Properties Exceptions</vt:lpstr>
      <vt:lpstr>CSS Layouts</vt:lpstr>
      <vt:lpstr>Web Layout (CSS Layout)</vt:lpstr>
      <vt:lpstr>Floats </vt:lpstr>
      <vt:lpstr>Flexbox Layout</vt:lpstr>
      <vt:lpstr>The Flex model</vt:lpstr>
      <vt:lpstr>Flexbox main-axis vs cross-axis</vt:lpstr>
      <vt:lpstr>Flexbox Properties</vt:lpstr>
      <vt:lpstr>Alignment Property (justify-content)</vt:lpstr>
      <vt:lpstr>Alignment Property (align-content)</vt:lpstr>
      <vt:lpstr>Flexbox Properties</vt:lpstr>
      <vt:lpstr>Flex Example</vt:lpstr>
      <vt:lpstr>Flex Example</vt:lpstr>
      <vt:lpstr>Grid Layout</vt:lpstr>
      <vt:lpstr>Grid Layout</vt:lpstr>
      <vt:lpstr>Grid Layout</vt:lpstr>
      <vt:lpstr>CSS Grid Layout  (Implicit Gird Example)</vt:lpstr>
      <vt:lpstr>Grid Elements</vt:lpstr>
      <vt:lpstr>Grid Elements properties</vt:lpstr>
      <vt:lpstr>Grid Elements Properties</vt:lpstr>
      <vt:lpstr>Grid Lines</vt:lpstr>
      <vt:lpstr>Grid Lines</vt:lpstr>
      <vt:lpstr>grid-row / grid-column properties</vt:lpstr>
      <vt:lpstr>Grid Gutter</vt:lpstr>
      <vt:lpstr>Grid Alignment (justify-content vs justify-item)</vt:lpstr>
      <vt:lpstr>Grid Alignment (justify-self)</vt:lpstr>
      <vt:lpstr>Grid Alignment (align-content | align-items)</vt:lpstr>
      <vt:lpstr>Grid Examples</vt:lpstr>
      <vt:lpstr>How to Define Grid Layout</vt:lpstr>
      <vt:lpstr>Flexbox vs Grid Layout</vt:lpstr>
      <vt:lpstr>Practice Page</vt:lpstr>
      <vt:lpstr>PowerPoint Presentation</vt:lpstr>
      <vt:lpstr>CSS Positioning </vt:lpstr>
      <vt:lpstr>PowerPoint Presentation</vt:lpstr>
      <vt:lpstr>CSS Positioning</vt:lpstr>
      <vt:lpstr>CSS Positioning</vt:lpstr>
      <vt:lpstr>CSS Positioning</vt:lpstr>
      <vt:lpstr>CSS Positioning</vt:lpstr>
      <vt:lpstr>CSS Positioning</vt:lpstr>
      <vt:lpstr>PowerPoint Presentation</vt:lpstr>
      <vt:lpstr>Important properties</vt:lpstr>
      <vt:lpstr>Best Examples</vt:lpstr>
      <vt:lpstr> Beautiful Nav-Bar</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Designer</dc:creator>
  <cp:lastModifiedBy>Microsoft account</cp:lastModifiedBy>
  <cp:revision>228</cp:revision>
  <dcterms:created xsi:type="dcterms:W3CDTF">2022-04-06T09:07:20Z</dcterms:created>
  <dcterms:modified xsi:type="dcterms:W3CDTF">2026-03-03T05:24:59Z</dcterms:modified>
</cp:coreProperties>
</file>
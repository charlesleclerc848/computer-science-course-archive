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30"/>
  </p:notesMasterIdLst>
  <p:sldIdLst>
    <p:sldId id="257" r:id="rId2"/>
    <p:sldId id="288" r:id="rId3"/>
    <p:sldId id="289" r:id="rId4"/>
    <p:sldId id="317" r:id="rId5"/>
    <p:sldId id="287" r:id="rId6"/>
    <p:sldId id="270" r:id="rId7"/>
    <p:sldId id="290" r:id="rId8"/>
    <p:sldId id="291" r:id="rId9"/>
    <p:sldId id="273" r:id="rId10"/>
    <p:sldId id="274" r:id="rId11"/>
    <p:sldId id="318" r:id="rId12"/>
    <p:sldId id="275" r:id="rId13"/>
    <p:sldId id="286" r:id="rId14"/>
    <p:sldId id="276" r:id="rId15"/>
    <p:sldId id="328" r:id="rId16"/>
    <p:sldId id="277" r:id="rId17"/>
    <p:sldId id="278" r:id="rId18"/>
    <p:sldId id="293" r:id="rId19"/>
    <p:sldId id="294" r:id="rId20"/>
    <p:sldId id="295" r:id="rId21"/>
    <p:sldId id="296" r:id="rId22"/>
    <p:sldId id="297" r:id="rId23"/>
    <p:sldId id="298" r:id="rId24"/>
    <p:sldId id="299" r:id="rId25"/>
    <p:sldId id="300" r:id="rId26"/>
    <p:sldId id="301" r:id="rId27"/>
    <p:sldId id="302" r:id="rId28"/>
    <p:sldId id="303" r:id="rId29"/>
    <p:sldId id="304" r:id="rId30"/>
    <p:sldId id="305" r:id="rId31"/>
    <p:sldId id="306" r:id="rId32"/>
    <p:sldId id="307" r:id="rId33"/>
    <p:sldId id="308" r:id="rId34"/>
    <p:sldId id="309" r:id="rId35"/>
    <p:sldId id="310" r:id="rId36"/>
    <p:sldId id="311" r:id="rId37"/>
    <p:sldId id="312" r:id="rId38"/>
    <p:sldId id="313" r:id="rId39"/>
    <p:sldId id="314" r:id="rId40"/>
    <p:sldId id="315" r:id="rId41"/>
    <p:sldId id="316" r:id="rId42"/>
    <p:sldId id="334" r:id="rId43"/>
    <p:sldId id="335" r:id="rId44"/>
    <p:sldId id="336" r:id="rId45"/>
    <p:sldId id="337" r:id="rId46"/>
    <p:sldId id="338" r:id="rId47"/>
    <p:sldId id="339" r:id="rId48"/>
    <p:sldId id="329" r:id="rId49"/>
    <p:sldId id="330" r:id="rId50"/>
    <p:sldId id="331" r:id="rId51"/>
    <p:sldId id="332" r:id="rId52"/>
    <p:sldId id="333" r:id="rId53"/>
    <p:sldId id="280" r:id="rId54"/>
    <p:sldId id="279" r:id="rId55"/>
    <p:sldId id="281" r:id="rId56"/>
    <p:sldId id="282" r:id="rId57"/>
    <p:sldId id="283" r:id="rId58"/>
    <p:sldId id="340" r:id="rId59"/>
    <p:sldId id="292" r:id="rId60"/>
    <p:sldId id="319" r:id="rId61"/>
    <p:sldId id="320" r:id="rId62"/>
    <p:sldId id="321" r:id="rId63"/>
    <p:sldId id="322" r:id="rId64"/>
    <p:sldId id="323" r:id="rId65"/>
    <p:sldId id="324" r:id="rId66"/>
    <p:sldId id="284" r:id="rId67"/>
    <p:sldId id="325" r:id="rId68"/>
    <p:sldId id="326" r:id="rId69"/>
    <p:sldId id="327" r:id="rId70"/>
    <p:sldId id="256" r:id="rId71"/>
    <p:sldId id="269" r:id="rId72"/>
    <p:sldId id="341" r:id="rId73"/>
    <p:sldId id="342" r:id="rId74"/>
    <p:sldId id="343" r:id="rId75"/>
    <p:sldId id="344" r:id="rId76"/>
    <p:sldId id="345" r:id="rId77"/>
    <p:sldId id="346" r:id="rId78"/>
    <p:sldId id="347" r:id="rId79"/>
    <p:sldId id="348" r:id="rId80"/>
    <p:sldId id="349" r:id="rId81"/>
    <p:sldId id="350" r:id="rId82"/>
    <p:sldId id="351" r:id="rId83"/>
    <p:sldId id="352" r:id="rId84"/>
    <p:sldId id="353" r:id="rId85"/>
    <p:sldId id="354" r:id="rId86"/>
    <p:sldId id="355" r:id="rId87"/>
    <p:sldId id="356" r:id="rId88"/>
    <p:sldId id="357" r:id="rId89"/>
    <p:sldId id="358" r:id="rId90"/>
    <p:sldId id="359" r:id="rId91"/>
    <p:sldId id="360" r:id="rId92"/>
    <p:sldId id="361" r:id="rId93"/>
    <p:sldId id="362" r:id="rId94"/>
    <p:sldId id="363" r:id="rId95"/>
    <p:sldId id="364" r:id="rId96"/>
    <p:sldId id="365" r:id="rId97"/>
    <p:sldId id="366" r:id="rId98"/>
    <p:sldId id="367" r:id="rId99"/>
    <p:sldId id="368" r:id="rId100"/>
    <p:sldId id="369" r:id="rId101"/>
    <p:sldId id="370" r:id="rId102"/>
    <p:sldId id="371" r:id="rId103"/>
    <p:sldId id="372" r:id="rId104"/>
    <p:sldId id="373" r:id="rId105"/>
    <p:sldId id="374" r:id="rId106"/>
    <p:sldId id="375" r:id="rId107"/>
    <p:sldId id="376" r:id="rId108"/>
    <p:sldId id="377" r:id="rId109"/>
    <p:sldId id="378" r:id="rId110"/>
    <p:sldId id="379" r:id="rId111"/>
    <p:sldId id="380" r:id="rId112"/>
    <p:sldId id="381" r:id="rId113"/>
    <p:sldId id="382" r:id="rId114"/>
    <p:sldId id="383" r:id="rId115"/>
    <p:sldId id="384" r:id="rId116"/>
    <p:sldId id="385" r:id="rId117"/>
    <p:sldId id="386" r:id="rId118"/>
    <p:sldId id="387" r:id="rId119"/>
    <p:sldId id="388" r:id="rId120"/>
    <p:sldId id="389" r:id="rId121"/>
    <p:sldId id="390" r:id="rId122"/>
    <p:sldId id="391" r:id="rId123"/>
    <p:sldId id="392" r:id="rId124"/>
    <p:sldId id="393" r:id="rId125"/>
    <p:sldId id="394" r:id="rId126"/>
    <p:sldId id="395" r:id="rId127"/>
    <p:sldId id="396" r:id="rId128"/>
    <p:sldId id="397" r:id="rId129"/>
  </p:sldIdLst>
  <p:sldSz cx="12192000" cy="6858000"/>
  <p:notesSz cx="6858000" cy="9144000"/>
  <p:defaultText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4995" autoAdjust="0"/>
    <p:restoredTop sz="94660"/>
  </p:normalViewPr>
  <p:slideViewPr>
    <p:cSldViewPr snapToGrid="0">
      <p:cViewPr varScale="1">
        <p:scale>
          <a:sx n="60" d="100"/>
          <a:sy n="60" d="100"/>
        </p:scale>
        <p:origin x="908"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openxmlformats.org/officeDocument/2006/relationships/tableStyles" Target="tableStyle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slide" Target="slides/slide128.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notesMaster" Target="notesMasters/notesMaster1.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presProps" Target="pres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viewProps" Target="viewProp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PK"/>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9D1C8024-1795-4631-A7BE-BCB535B2B654}" type="datetimeFigureOut">
              <a:rPr lang="en-PK" smtClean="0"/>
              <a:t>01/04/2026</a:t>
            </a:fld>
            <a:endParaRPr lang="en-PK"/>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PK"/>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PK"/>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8B4B6FBC-CD26-4482-A8AB-F6DF6031E3CF}" type="slidenum">
              <a:rPr lang="en-PK" smtClean="0"/>
              <a:t>‹#›</a:t>
            </a:fld>
            <a:endParaRPr lang="en-PK"/>
          </a:p>
        </p:txBody>
      </p:sp>
    </p:spTree>
    <p:extLst>
      <p:ext uri="{BB962C8B-B14F-4D97-AF65-F5344CB8AC3E}">
        <p14:creationId xmlns:p14="http://schemas.microsoft.com/office/powerpoint/2010/main" val="143137147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59.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60.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62.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65.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2ABAA026-CF0B-460B-9E0F-614330D64AEB}" type="slidenum">
              <a:rPr lang="en-US" sz="1200">
                <a:solidFill>
                  <a:srgbClr val="000000"/>
                </a:solidFill>
                <a:ea typeface="DejaVu Sans" charset="0"/>
                <a:cs typeface="DejaVu Sans" charset="0"/>
              </a:rPr>
              <a:pPr>
                <a:buClrTx/>
                <a:buFontTx/>
                <a:buNone/>
              </a:pPr>
              <a:t>4</a:t>
            </a:fld>
            <a:endParaRPr lang="en-US" sz="1200">
              <a:solidFill>
                <a:srgbClr val="000000"/>
              </a:solidFill>
              <a:ea typeface="DejaVu Sans" charset="0"/>
              <a:cs typeface="DejaVu Sans" charset="0"/>
            </a:endParaRPr>
          </a:p>
        </p:txBody>
      </p:sp>
      <p:sp>
        <p:nvSpPr>
          <p:cNvPr id="1024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71608578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5298"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122DCD4B-9B55-40CF-A3D1-1C55880A60C3}" type="slidenum">
              <a:rPr lang="en-US" sz="1200">
                <a:solidFill>
                  <a:srgbClr val="000000"/>
                </a:solidFill>
                <a:ea typeface="DejaVu Sans" charset="0"/>
                <a:cs typeface="DejaVu Sans" charset="0"/>
              </a:rPr>
              <a:pPr>
                <a:buClrTx/>
                <a:buFontTx/>
                <a:buNone/>
              </a:pPr>
              <a:t>18</a:t>
            </a:fld>
            <a:endParaRPr lang="en-US" sz="1200">
              <a:solidFill>
                <a:srgbClr val="000000"/>
              </a:solidFill>
              <a:ea typeface="DejaVu Sans" charset="0"/>
              <a:cs typeface="DejaVu Sans" charset="0"/>
            </a:endParaRPr>
          </a:p>
        </p:txBody>
      </p:sp>
      <p:sp>
        <p:nvSpPr>
          <p:cNvPr id="55299"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5300"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2363140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734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EFAC4F17-24E4-481B-8DF3-7CC25CE6F609}" type="slidenum">
              <a:rPr lang="en-US" sz="1200">
                <a:solidFill>
                  <a:srgbClr val="000000"/>
                </a:solidFill>
                <a:ea typeface="DejaVu Sans" charset="0"/>
                <a:cs typeface="DejaVu Sans" charset="0"/>
              </a:rPr>
              <a:pPr>
                <a:buClrTx/>
                <a:buFontTx/>
                <a:buNone/>
              </a:pPr>
              <a:t>19</a:t>
            </a:fld>
            <a:endParaRPr lang="en-US" sz="1200">
              <a:solidFill>
                <a:srgbClr val="000000"/>
              </a:solidFill>
              <a:ea typeface="DejaVu Sans" charset="0"/>
              <a:cs typeface="DejaVu Sans" charset="0"/>
            </a:endParaRPr>
          </a:p>
        </p:txBody>
      </p:sp>
      <p:sp>
        <p:nvSpPr>
          <p:cNvPr id="57347"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7348"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0725065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5939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65695F3F-EC46-4E33-A8B9-2E91278A6CFE}" type="slidenum">
              <a:rPr lang="en-US" sz="1200">
                <a:solidFill>
                  <a:srgbClr val="000000"/>
                </a:solidFill>
                <a:ea typeface="DejaVu Sans" charset="0"/>
                <a:cs typeface="DejaVu Sans" charset="0"/>
              </a:rPr>
              <a:pPr>
                <a:buClrTx/>
                <a:buFontTx/>
                <a:buNone/>
              </a:pPr>
              <a:t>20</a:t>
            </a:fld>
            <a:endParaRPr lang="en-US" sz="1200">
              <a:solidFill>
                <a:srgbClr val="000000"/>
              </a:solidFill>
              <a:ea typeface="DejaVu Sans" charset="0"/>
              <a:cs typeface="DejaVu Sans" charset="0"/>
            </a:endParaRPr>
          </a:p>
        </p:txBody>
      </p:sp>
      <p:sp>
        <p:nvSpPr>
          <p:cNvPr id="59395"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59396"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76346377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144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8758493C-B50C-43F7-9253-00217034D317}" type="slidenum">
              <a:rPr lang="en-US" sz="1200">
                <a:solidFill>
                  <a:srgbClr val="000000"/>
                </a:solidFill>
                <a:ea typeface="DejaVu Sans" charset="0"/>
                <a:cs typeface="DejaVu Sans" charset="0"/>
              </a:rPr>
              <a:pPr>
                <a:buClrTx/>
                <a:buFontTx/>
                <a:buNone/>
              </a:pPr>
              <a:t>21</a:t>
            </a:fld>
            <a:endParaRPr lang="en-US" sz="1200">
              <a:solidFill>
                <a:srgbClr val="000000"/>
              </a:solidFill>
              <a:ea typeface="DejaVu Sans" charset="0"/>
              <a:cs typeface="DejaVu Sans" charset="0"/>
            </a:endParaRPr>
          </a:p>
        </p:txBody>
      </p:sp>
      <p:sp>
        <p:nvSpPr>
          <p:cNvPr id="6144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144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94105967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349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CFB23A05-02E6-4159-B3FD-53C8745C479B}" type="slidenum">
              <a:rPr lang="en-US" sz="1200">
                <a:solidFill>
                  <a:srgbClr val="000000"/>
                </a:solidFill>
                <a:ea typeface="DejaVu Sans" charset="0"/>
                <a:cs typeface="DejaVu Sans" charset="0"/>
              </a:rPr>
              <a:pPr>
                <a:buClrTx/>
                <a:buFontTx/>
                <a:buNone/>
              </a:pPr>
              <a:t>22</a:t>
            </a:fld>
            <a:endParaRPr lang="en-US" sz="1200">
              <a:solidFill>
                <a:srgbClr val="000000"/>
              </a:solidFill>
              <a:ea typeface="DejaVu Sans" charset="0"/>
              <a:cs typeface="DejaVu Sans" charset="0"/>
            </a:endParaRPr>
          </a:p>
        </p:txBody>
      </p:sp>
      <p:sp>
        <p:nvSpPr>
          <p:cNvPr id="63491"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3492"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85251028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5538"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F536594F-34A5-4AA0-8DBD-D9CBCB829F12}" type="slidenum">
              <a:rPr lang="en-US" sz="1200">
                <a:solidFill>
                  <a:srgbClr val="000000"/>
                </a:solidFill>
                <a:ea typeface="DejaVu Sans" charset="0"/>
                <a:cs typeface="DejaVu Sans" charset="0"/>
              </a:rPr>
              <a:pPr>
                <a:buClrTx/>
                <a:buFontTx/>
                <a:buNone/>
              </a:pPr>
              <a:t>23</a:t>
            </a:fld>
            <a:endParaRPr lang="en-US" sz="1200">
              <a:solidFill>
                <a:srgbClr val="000000"/>
              </a:solidFill>
              <a:ea typeface="DejaVu Sans" charset="0"/>
              <a:cs typeface="DejaVu Sans" charset="0"/>
            </a:endParaRPr>
          </a:p>
        </p:txBody>
      </p:sp>
      <p:sp>
        <p:nvSpPr>
          <p:cNvPr id="65539"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40"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08344127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758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E829B8CC-5201-4075-AD33-2BA17F0F62B1}" type="slidenum">
              <a:rPr lang="en-US" sz="1200">
                <a:solidFill>
                  <a:srgbClr val="000000"/>
                </a:solidFill>
                <a:ea typeface="DejaVu Sans" charset="0"/>
                <a:cs typeface="DejaVu Sans" charset="0"/>
              </a:rPr>
              <a:pPr>
                <a:buClrTx/>
                <a:buFontTx/>
                <a:buNone/>
              </a:pPr>
              <a:t>24</a:t>
            </a:fld>
            <a:endParaRPr lang="en-US" sz="1200">
              <a:solidFill>
                <a:srgbClr val="000000"/>
              </a:solidFill>
              <a:ea typeface="DejaVu Sans" charset="0"/>
              <a:cs typeface="DejaVu Sans" charset="0"/>
            </a:endParaRPr>
          </a:p>
        </p:txBody>
      </p:sp>
      <p:sp>
        <p:nvSpPr>
          <p:cNvPr id="67587"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7588"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37116869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ACE37577-E795-47A4-8321-813440FFC389}" type="slidenum">
              <a:rPr lang="en-US" sz="1200">
                <a:solidFill>
                  <a:srgbClr val="000000"/>
                </a:solidFill>
                <a:ea typeface="DejaVu Sans" charset="0"/>
                <a:cs typeface="DejaVu Sans" charset="0"/>
              </a:rPr>
              <a:pPr>
                <a:buClrTx/>
                <a:buFontTx/>
                <a:buNone/>
              </a:pPr>
              <a:t>25</a:t>
            </a:fld>
            <a:endParaRPr lang="en-US" sz="1200">
              <a:solidFill>
                <a:srgbClr val="000000"/>
              </a:solidFill>
              <a:ea typeface="DejaVu Sans" charset="0"/>
              <a:cs typeface="DejaVu Sans" charset="0"/>
            </a:endParaRPr>
          </a:p>
        </p:txBody>
      </p:sp>
      <p:sp>
        <p:nvSpPr>
          <p:cNvPr id="69635"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9636"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52577405"/>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168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85454CDB-ABE7-446B-A33E-52FCA2E109ED}" type="slidenum">
              <a:rPr lang="en-US" sz="1200">
                <a:solidFill>
                  <a:srgbClr val="000000"/>
                </a:solidFill>
                <a:ea typeface="DejaVu Sans" charset="0"/>
                <a:cs typeface="DejaVu Sans" charset="0"/>
              </a:rPr>
              <a:pPr>
                <a:buClrTx/>
                <a:buFontTx/>
                <a:buNone/>
              </a:pPr>
              <a:t>26</a:t>
            </a:fld>
            <a:endParaRPr lang="en-US" sz="1200">
              <a:solidFill>
                <a:srgbClr val="000000"/>
              </a:solidFill>
              <a:ea typeface="DejaVu Sans" charset="0"/>
              <a:cs typeface="DejaVu Sans" charset="0"/>
            </a:endParaRPr>
          </a:p>
        </p:txBody>
      </p:sp>
      <p:sp>
        <p:nvSpPr>
          <p:cNvPr id="7168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168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093125904"/>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373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051020FE-FDFC-4821-A144-2B243046FADE}" type="slidenum">
              <a:rPr lang="en-US" sz="1200">
                <a:solidFill>
                  <a:srgbClr val="000000"/>
                </a:solidFill>
                <a:ea typeface="DejaVu Sans" charset="0"/>
                <a:cs typeface="DejaVu Sans" charset="0"/>
              </a:rPr>
              <a:pPr>
                <a:buClrTx/>
                <a:buFontTx/>
                <a:buNone/>
              </a:pPr>
              <a:t>27</a:t>
            </a:fld>
            <a:endParaRPr lang="en-US" sz="1200">
              <a:solidFill>
                <a:srgbClr val="000000"/>
              </a:solidFill>
              <a:ea typeface="DejaVu Sans" charset="0"/>
              <a:cs typeface="DejaVu Sans" charset="0"/>
            </a:endParaRPr>
          </a:p>
        </p:txBody>
      </p:sp>
      <p:sp>
        <p:nvSpPr>
          <p:cNvPr id="73731"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3732"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0442934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782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7F3E4AC8-43A1-41B7-A1F3-13661278131A}" type="slidenum">
              <a:rPr lang="en-US" sz="1200">
                <a:solidFill>
                  <a:srgbClr val="000000"/>
                </a:solidFill>
                <a:ea typeface="DejaVu Sans" charset="0"/>
                <a:cs typeface="DejaVu Sans" charset="0"/>
              </a:rPr>
              <a:pPr>
                <a:buClrTx/>
                <a:buFontTx/>
                <a:buNone/>
              </a:pPr>
              <a:t>28</a:t>
            </a:fld>
            <a:endParaRPr lang="en-US" sz="1200">
              <a:solidFill>
                <a:srgbClr val="000000"/>
              </a:solidFill>
              <a:ea typeface="DejaVu Sans" charset="0"/>
              <a:cs typeface="DejaVu Sans" charset="0"/>
            </a:endParaRPr>
          </a:p>
        </p:txBody>
      </p:sp>
      <p:sp>
        <p:nvSpPr>
          <p:cNvPr id="77827"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7828"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04484188"/>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7987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1E89E97D-CDEC-4235-9BF0-0854A1A66905}" type="slidenum">
              <a:rPr lang="en-US" sz="1200">
                <a:solidFill>
                  <a:srgbClr val="000000"/>
                </a:solidFill>
                <a:ea typeface="DejaVu Sans" charset="0"/>
                <a:cs typeface="DejaVu Sans" charset="0"/>
              </a:rPr>
              <a:pPr>
                <a:buClrTx/>
                <a:buFontTx/>
                <a:buNone/>
              </a:pPr>
              <a:t>29</a:t>
            </a:fld>
            <a:endParaRPr lang="en-US" sz="1200">
              <a:solidFill>
                <a:srgbClr val="000000"/>
              </a:solidFill>
              <a:ea typeface="DejaVu Sans" charset="0"/>
              <a:cs typeface="DejaVu Sans" charset="0"/>
            </a:endParaRPr>
          </a:p>
        </p:txBody>
      </p:sp>
      <p:sp>
        <p:nvSpPr>
          <p:cNvPr id="79875"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79876"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400130215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192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C2F1CE73-9B2A-4DB0-A6DC-160AFEB3B3C9}" type="slidenum">
              <a:rPr lang="en-US" sz="1200">
                <a:solidFill>
                  <a:srgbClr val="000000"/>
                </a:solidFill>
                <a:ea typeface="DejaVu Sans" charset="0"/>
                <a:cs typeface="DejaVu Sans" charset="0"/>
              </a:rPr>
              <a:pPr>
                <a:buClrTx/>
                <a:buFontTx/>
                <a:buNone/>
              </a:pPr>
              <a:t>30</a:t>
            </a:fld>
            <a:endParaRPr lang="en-US" sz="1200">
              <a:solidFill>
                <a:srgbClr val="000000"/>
              </a:solidFill>
              <a:ea typeface="DejaVu Sans" charset="0"/>
              <a:cs typeface="DejaVu Sans" charset="0"/>
            </a:endParaRPr>
          </a:p>
        </p:txBody>
      </p:sp>
      <p:sp>
        <p:nvSpPr>
          <p:cNvPr id="8192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192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31732089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397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9D3CF25B-CC9F-47E8-AE61-495E4DDFB71D}" type="slidenum">
              <a:rPr lang="en-US" sz="1200">
                <a:solidFill>
                  <a:srgbClr val="000000"/>
                </a:solidFill>
                <a:ea typeface="DejaVu Sans" charset="0"/>
                <a:cs typeface="DejaVu Sans" charset="0"/>
              </a:rPr>
              <a:pPr>
                <a:buClrTx/>
                <a:buFontTx/>
                <a:buNone/>
              </a:pPr>
              <a:t>31</a:t>
            </a:fld>
            <a:endParaRPr lang="en-US" sz="1200">
              <a:solidFill>
                <a:srgbClr val="000000"/>
              </a:solidFill>
              <a:ea typeface="DejaVu Sans" charset="0"/>
              <a:cs typeface="DejaVu Sans" charset="0"/>
            </a:endParaRPr>
          </a:p>
        </p:txBody>
      </p:sp>
      <p:sp>
        <p:nvSpPr>
          <p:cNvPr id="83971"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3972"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689770370"/>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6018"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EF815987-D6D6-4DED-A127-BB1E2E7D60B1}" type="slidenum">
              <a:rPr lang="en-US" sz="1200">
                <a:solidFill>
                  <a:srgbClr val="000000"/>
                </a:solidFill>
                <a:ea typeface="DejaVu Sans" charset="0"/>
                <a:cs typeface="DejaVu Sans" charset="0"/>
              </a:rPr>
              <a:pPr>
                <a:buClrTx/>
                <a:buFontTx/>
                <a:buNone/>
              </a:pPr>
              <a:t>32</a:t>
            </a:fld>
            <a:endParaRPr lang="en-US" sz="1200">
              <a:solidFill>
                <a:srgbClr val="000000"/>
              </a:solidFill>
              <a:ea typeface="DejaVu Sans" charset="0"/>
              <a:cs typeface="DejaVu Sans" charset="0"/>
            </a:endParaRPr>
          </a:p>
        </p:txBody>
      </p:sp>
      <p:sp>
        <p:nvSpPr>
          <p:cNvPr id="86019"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6020"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038252282"/>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8806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F7E011E8-9559-400C-843B-02AA87C44D71}" type="slidenum">
              <a:rPr lang="en-US" sz="1200">
                <a:solidFill>
                  <a:srgbClr val="000000"/>
                </a:solidFill>
                <a:ea typeface="DejaVu Sans" charset="0"/>
                <a:cs typeface="DejaVu Sans" charset="0"/>
              </a:rPr>
              <a:pPr>
                <a:buClrTx/>
                <a:buFontTx/>
                <a:buNone/>
              </a:pPr>
              <a:t>33</a:t>
            </a:fld>
            <a:endParaRPr lang="en-US" sz="1200">
              <a:solidFill>
                <a:srgbClr val="000000"/>
              </a:solidFill>
              <a:ea typeface="DejaVu Sans" charset="0"/>
              <a:cs typeface="DejaVu Sans" charset="0"/>
            </a:endParaRPr>
          </a:p>
        </p:txBody>
      </p:sp>
      <p:sp>
        <p:nvSpPr>
          <p:cNvPr id="88067"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88068"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4321735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011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ADEB6659-82FE-44DC-A7E6-D9654B19D77B}" type="slidenum">
              <a:rPr lang="en-US" sz="1200">
                <a:solidFill>
                  <a:srgbClr val="000000"/>
                </a:solidFill>
                <a:ea typeface="DejaVu Sans" charset="0"/>
                <a:cs typeface="DejaVu Sans" charset="0"/>
              </a:rPr>
              <a:pPr>
                <a:buClrTx/>
                <a:buFontTx/>
                <a:buNone/>
              </a:pPr>
              <a:t>34</a:t>
            </a:fld>
            <a:endParaRPr lang="en-US" sz="1200">
              <a:solidFill>
                <a:srgbClr val="000000"/>
              </a:solidFill>
              <a:ea typeface="DejaVu Sans" charset="0"/>
              <a:cs typeface="DejaVu Sans" charset="0"/>
            </a:endParaRPr>
          </a:p>
        </p:txBody>
      </p:sp>
      <p:sp>
        <p:nvSpPr>
          <p:cNvPr id="90115"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0116"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26629482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216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7202023D-D284-4C4B-9446-5672CFC8457C}" type="slidenum">
              <a:rPr lang="en-US" sz="1200">
                <a:solidFill>
                  <a:srgbClr val="000000"/>
                </a:solidFill>
                <a:ea typeface="DejaVu Sans" charset="0"/>
                <a:cs typeface="DejaVu Sans" charset="0"/>
              </a:rPr>
              <a:pPr>
                <a:buClrTx/>
                <a:buFontTx/>
                <a:buNone/>
              </a:pPr>
              <a:t>35</a:t>
            </a:fld>
            <a:endParaRPr lang="en-US" sz="1200">
              <a:solidFill>
                <a:srgbClr val="000000"/>
              </a:solidFill>
              <a:ea typeface="DejaVu Sans" charset="0"/>
              <a:cs typeface="DejaVu Sans" charset="0"/>
            </a:endParaRPr>
          </a:p>
        </p:txBody>
      </p:sp>
      <p:sp>
        <p:nvSpPr>
          <p:cNvPr id="9216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216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6625814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9421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418CCA0F-C70A-4DEF-A7D0-DF36788CCE3E}" type="slidenum">
              <a:rPr lang="en-US" sz="1200">
                <a:solidFill>
                  <a:srgbClr val="000000"/>
                </a:solidFill>
                <a:ea typeface="DejaVu Sans" charset="0"/>
                <a:cs typeface="DejaVu Sans" charset="0"/>
              </a:rPr>
              <a:pPr>
                <a:buClrTx/>
                <a:buFontTx/>
                <a:buNone/>
              </a:pPr>
              <a:t>36</a:t>
            </a:fld>
            <a:endParaRPr lang="en-US" sz="1200">
              <a:solidFill>
                <a:srgbClr val="000000"/>
              </a:solidFill>
              <a:ea typeface="DejaVu Sans" charset="0"/>
              <a:cs typeface="DejaVu Sans" charset="0"/>
            </a:endParaRPr>
          </a:p>
        </p:txBody>
      </p:sp>
      <p:sp>
        <p:nvSpPr>
          <p:cNvPr id="94211"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4212"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672633934"/>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0354"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3EBECA60-1548-48FD-9EE3-5CF3BD100031}" type="slidenum">
              <a:rPr lang="en-US" sz="1200">
                <a:solidFill>
                  <a:srgbClr val="000000"/>
                </a:solidFill>
                <a:ea typeface="DejaVu Sans" charset="0"/>
                <a:cs typeface="DejaVu Sans" charset="0"/>
              </a:rPr>
              <a:pPr>
                <a:buClrTx/>
                <a:buFontTx/>
                <a:buNone/>
              </a:pPr>
              <a:t>37</a:t>
            </a:fld>
            <a:endParaRPr lang="en-US" sz="1200">
              <a:solidFill>
                <a:srgbClr val="000000"/>
              </a:solidFill>
              <a:ea typeface="DejaVu Sans" charset="0"/>
              <a:cs typeface="DejaVu Sans" charset="0"/>
            </a:endParaRPr>
          </a:p>
        </p:txBody>
      </p:sp>
      <p:sp>
        <p:nvSpPr>
          <p:cNvPr id="100355"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6"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356810632"/>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2402"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01DD72FE-7D46-4D1A-AA09-A0293B4F6705}" type="slidenum">
              <a:rPr lang="en-US" sz="1200">
                <a:solidFill>
                  <a:srgbClr val="000000"/>
                </a:solidFill>
                <a:ea typeface="DejaVu Sans" charset="0"/>
                <a:cs typeface="DejaVu Sans" charset="0"/>
              </a:rPr>
              <a:pPr>
                <a:buClrTx/>
                <a:buFontTx/>
                <a:buNone/>
              </a:pPr>
              <a:t>38</a:t>
            </a:fld>
            <a:endParaRPr lang="en-US" sz="1200">
              <a:solidFill>
                <a:srgbClr val="000000"/>
              </a:solidFill>
              <a:ea typeface="DejaVu Sans" charset="0"/>
              <a:cs typeface="DejaVu Sans" charset="0"/>
            </a:endParaRPr>
          </a:p>
        </p:txBody>
      </p:sp>
      <p:sp>
        <p:nvSpPr>
          <p:cNvPr id="102403"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4"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80562658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4450"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864D5DAE-9596-4D8A-9B5B-751B99DF43AC}" type="slidenum">
              <a:rPr lang="en-US" sz="1200">
                <a:solidFill>
                  <a:srgbClr val="000000"/>
                </a:solidFill>
                <a:ea typeface="DejaVu Sans" charset="0"/>
                <a:cs typeface="DejaVu Sans" charset="0"/>
              </a:rPr>
              <a:pPr>
                <a:buClrTx/>
                <a:buFontTx/>
                <a:buNone/>
              </a:pPr>
              <a:t>39</a:t>
            </a:fld>
            <a:endParaRPr lang="en-US" sz="1200">
              <a:solidFill>
                <a:srgbClr val="000000"/>
              </a:solidFill>
              <a:ea typeface="DejaVu Sans" charset="0"/>
              <a:cs typeface="DejaVu Sans" charset="0"/>
            </a:endParaRPr>
          </a:p>
        </p:txBody>
      </p:sp>
      <p:sp>
        <p:nvSpPr>
          <p:cNvPr id="104451"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2"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672311479"/>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6498"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7EE28E73-AC6A-448E-A832-D6247E1CE361}" type="slidenum">
              <a:rPr lang="en-US" sz="1200">
                <a:solidFill>
                  <a:srgbClr val="000000"/>
                </a:solidFill>
                <a:ea typeface="DejaVu Sans" charset="0"/>
                <a:cs typeface="DejaVu Sans" charset="0"/>
              </a:rPr>
              <a:pPr>
                <a:buClrTx/>
                <a:buFontTx/>
                <a:buNone/>
              </a:pPr>
              <a:t>40</a:t>
            </a:fld>
            <a:endParaRPr lang="en-US" sz="1200">
              <a:solidFill>
                <a:srgbClr val="000000"/>
              </a:solidFill>
              <a:ea typeface="DejaVu Sans" charset="0"/>
              <a:cs typeface="DejaVu Sans" charset="0"/>
            </a:endParaRPr>
          </a:p>
        </p:txBody>
      </p:sp>
      <p:sp>
        <p:nvSpPr>
          <p:cNvPr id="106499"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500"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17367136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108546" name="Rectangle 7"/>
          <p:cNvSpPr>
            <a:spLocks noGrp="1" noChangeArrowheads="1"/>
          </p:cNvSpPr>
          <p:nvPr>
            <p:ph type="sldNum" sz="quarter"/>
          </p:nvPr>
        </p:nvSpPr>
        <p:spPr>
          <a:noFill/>
          <a:extLst>
            <a:ext uri="{91240B29-F687-4F45-9708-019B960494DF}">
              <a14:hiddenLine xmlns:a14="http://schemas.microsoft.com/office/drawing/2010/main" w="9525">
                <a:solidFill>
                  <a:srgbClr val="3465A4"/>
                </a:solidFill>
                <a:round/>
                <a:headEnd/>
                <a:tailEnd/>
              </a14:hiddenLine>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buClrTx/>
              <a:buFontTx/>
              <a:buNone/>
            </a:pPr>
            <a:fld id="{4BD346D0-1E1B-47B2-9D07-9513200A5727}" type="slidenum">
              <a:rPr lang="en-US" sz="1200">
                <a:solidFill>
                  <a:srgbClr val="000000"/>
                </a:solidFill>
                <a:ea typeface="DejaVu Sans" charset="0"/>
                <a:cs typeface="DejaVu Sans" charset="0"/>
              </a:rPr>
              <a:pPr>
                <a:buClrTx/>
                <a:buFontTx/>
                <a:buNone/>
              </a:pPr>
              <a:t>41</a:t>
            </a:fld>
            <a:endParaRPr lang="en-US" sz="1200">
              <a:solidFill>
                <a:srgbClr val="000000"/>
              </a:solidFill>
              <a:ea typeface="DejaVu Sans" charset="0"/>
              <a:cs typeface="DejaVu Sans" charset="0"/>
            </a:endParaRPr>
          </a:p>
        </p:txBody>
      </p:sp>
      <p:sp>
        <p:nvSpPr>
          <p:cNvPr id="108547" name="Rectangle 1"/>
          <p:cNvSpPr txBox="1">
            <a:spLocks noGrp="1" noRot="1" noChangeAspect="1" noChangeArrowheads="1" noTextEdit="1"/>
          </p:cNvSpPr>
          <p:nvPr>
            <p:ph type="sldImg"/>
          </p:nvPr>
        </p:nvSpPr>
        <p:spPr>
          <a:xfrm>
            <a:off x="381000" y="685800"/>
            <a:ext cx="6096000" cy="3429000"/>
          </a:xfrm>
          <a:solidFill>
            <a:srgbClr val="FFFFFF"/>
          </a:solidFill>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8" name="Rectangle 2"/>
          <p:cNvSpPr txBox="1">
            <a:spLocks noGrp="1" noChangeArrowheads="1"/>
          </p:cNvSpPr>
          <p:nvPr>
            <p:ph type="body" idx="1"/>
          </p:nvPr>
        </p:nvSpPr>
        <p:spPr>
          <a:xfrm>
            <a:off x="914400" y="4343400"/>
            <a:ext cx="5029200" cy="4114800"/>
          </a:xfrm>
          <a:noFill/>
          <a:extLs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120150705"/>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69B60FEE-92B2-484E-89D1-400B99903EF7}" type="slidenum">
              <a:rPr lang="en-US"/>
              <a:pPr/>
              <a:t>58</a:t>
            </a:fld>
            <a:endParaRPr lang="en-US"/>
          </a:p>
        </p:txBody>
      </p:sp>
      <p:sp>
        <p:nvSpPr>
          <p:cNvPr id="98305"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98306"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275084792"/>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E1DA2ED7-FA06-4A5E-9AAD-24BBDC988EB2}" type="slidenum">
              <a:rPr lang="en-US"/>
              <a:pPr/>
              <a:t>59</a:t>
            </a:fld>
            <a:endParaRPr lang="en-US"/>
          </a:p>
        </p:txBody>
      </p:sp>
      <p:sp>
        <p:nvSpPr>
          <p:cNvPr id="65537"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65538"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91121862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6EA1A646-250A-4D5F-A38F-9D993556560E}" type="slidenum">
              <a:rPr lang="en-US"/>
              <a:pPr/>
              <a:t>60</a:t>
            </a:fld>
            <a:endParaRPr lang="en-US"/>
          </a:p>
        </p:txBody>
      </p:sp>
      <p:sp>
        <p:nvSpPr>
          <p:cNvPr id="10035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0354"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4227212089"/>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0903A5EA-3101-4C9A-AE25-901FFD2CD3FB}" type="slidenum">
              <a:rPr lang="en-US"/>
              <a:pPr/>
              <a:t>61</a:t>
            </a:fld>
            <a:endParaRPr lang="en-US"/>
          </a:p>
        </p:txBody>
      </p:sp>
      <p:sp>
        <p:nvSpPr>
          <p:cNvPr id="101377"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1378"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122322569"/>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B8998205-458B-451F-80EC-60CD513118A3}" type="slidenum">
              <a:rPr lang="en-US"/>
              <a:pPr/>
              <a:t>62</a:t>
            </a:fld>
            <a:endParaRPr lang="en-US" dirty="0"/>
          </a:p>
        </p:txBody>
      </p:sp>
      <p:sp>
        <p:nvSpPr>
          <p:cNvPr id="10240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2402"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dirty="0"/>
          </a:p>
        </p:txBody>
      </p:sp>
    </p:spTree>
    <p:extLst>
      <p:ext uri="{BB962C8B-B14F-4D97-AF65-F5344CB8AC3E}">
        <p14:creationId xmlns:p14="http://schemas.microsoft.com/office/powerpoint/2010/main" val="301467610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046B6DF4-A636-4247-961F-44357C2144A6}" type="slidenum">
              <a:rPr lang="en-US"/>
              <a:pPr/>
              <a:t>63</a:t>
            </a:fld>
            <a:endParaRPr lang="en-US"/>
          </a:p>
        </p:txBody>
      </p:sp>
      <p:sp>
        <p:nvSpPr>
          <p:cNvPr id="103425"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3426"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595016634"/>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F4A4D31A-F52C-445A-AF6B-0FD888E9229C}" type="slidenum">
              <a:rPr lang="en-US"/>
              <a:pPr/>
              <a:t>64</a:t>
            </a:fld>
            <a:endParaRPr lang="en-US"/>
          </a:p>
        </p:txBody>
      </p:sp>
      <p:sp>
        <p:nvSpPr>
          <p:cNvPr id="104449"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4450"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813329910"/>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FCC30685-5040-4C7E-AE80-4D4111D6AB4E}" type="slidenum">
              <a:rPr lang="en-US"/>
              <a:pPr/>
              <a:t>65</a:t>
            </a:fld>
            <a:endParaRPr lang="en-US"/>
          </a:p>
        </p:txBody>
      </p:sp>
      <p:sp>
        <p:nvSpPr>
          <p:cNvPr id="105473"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5474"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251594249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986AC935-77B9-4DC1-87BD-2D0AF3B3A3E5}" type="slidenum">
              <a:rPr lang="en-US"/>
              <a:pPr/>
              <a:t>67</a:t>
            </a:fld>
            <a:endParaRPr lang="en-US"/>
          </a:p>
        </p:txBody>
      </p:sp>
      <p:sp>
        <p:nvSpPr>
          <p:cNvPr id="106497"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6498"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292370127"/>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C370D2ED-D657-4359-BBC3-1A4A02DE0E11}" type="slidenum">
              <a:rPr lang="en-US"/>
              <a:pPr/>
              <a:t>68</a:t>
            </a:fld>
            <a:endParaRPr lang="en-US"/>
          </a:p>
        </p:txBody>
      </p:sp>
      <p:sp>
        <p:nvSpPr>
          <p:cNvPr id="107521"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7522"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1624045094"/>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4" name="Rectangle 7"/>
          <p:cNvSpPr>
            <a:spLocks noGrp="1" noChangeArrowheads="1"/>
          </p:cNvSpPr>
          <p:nvPr>
            <p:ph type="sldNum"/>
          </p:nvPr>
        </p:nvSpPr>
        <p:spPr>
          <a:ln/>
        </p:spPr>
        <p:txBody>
          <a:bodyPr/>
          <a:lstStyle/>
          <a:p>
            <a:fld id="{7A3D4A9A-AE05-4C7B-B108-38E74F0CBC37}" type="slidenum">
              <a:rPr lang="en-US"/>
              <a:pPr/>
              <a:t>69</a:t>
            </a:fld>
            <a:endParaRPr lang="en-US"/>
          </a:p>
        </p:txBody>
      </p:sp>
      <p:sp>
        <p:nvSpPr>
          <p:cNvPr id="108545" name="Rectangle 1"/>
          <p:cNvSpPr txBox="1">
            <a:spLocks noGrp="1" noRot="1" noChangeAspect="1" noChangeArrowheads="1"/>
          </p:cNvSpPr>
          <p:nvPr>
            <p:ph type="sldImg"/>
          </p:nvPr>
        </p:nvSpPr>
        <p:spPr bwMode="auto">
          <a:xfrm>
            <a:off x="381000" y="685800"/>
            <a:ext cx="6096000" cy="3429000"/>
          </a:xfrm>
          <a:prstGeom prst="rect">
            <a:avLst/>
          </a:prstGeom>
          <a:solidFill>
            <a:srgbClr val="FFFFFF"/>
          </a:solidFill>
          <a:ln>
            <a:solidFill>
              <a:srgbClr val="000000"/>
            </a:solidFill>
            <a:miter lim="800000"/>
            <a:headEnd/>
            <a:tailEnd/>
          </a:ln>
          <a:extLst>
            <a:ext uri="{AF507438-7753-43E0-B8FC-AC1667EBCBE1}">
              <a14:hiddenEffects xmlns:a14="http://schemas.microsoft.com/office/drawing/2010/main">
                <a:effectLst>
                  <a:outerShdw dist="35921" dir="2700000" algn="ctr" rotWithShape="0">
                    <a:srgbClr val="808080"/>
                  </a:outerShdw>
                </a:effectLst>
              </a14:hiddenEffects>
            </a:ext>
          </a:extLst>
        </p:spPr>
      </p:sp>
      <p:sp>
        <p:nvSpPr>
          <p:cNvPr id="108546" name="Rectangle 2"/>
          <p:cNvSpPr txBox="1">
            <a:spLocks noGrp="1" noChangeArrowheads="1"/>
          </p:cNvSpPr>
          <p:nvPr>
            <p:ph type="body" idx="1"/>
          </p:nvPr>
        </p:nvSpPr>
        <p:spPr bwMode="auto">
          <a:xfrm>
            <a:off x="914400" y="4343400"/>
            <a:ext cx="5029200" cy="4114800"/>
          </a:xfrm>
          <a:prstGeom prst="rect">
            <a:avLst/>
          </a:prstGeo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Tree>
    <p:extLst>
      <p:ext uri="{BB962C8B-B14F-4D97-AF65-F5344CB8AC3E}">
        <p14:creationId xmlns:p14="http://schemas.microsoft.com/office/powerpoint/2010/main" val="3244397286"/>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D77957C-7BA2-00EE-B3CC-9AEFBC5BE28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PK"/>
          </a:p>
        </p:txBody>
      </p:sp>
      <p:sp>
        <p:nvSpPr>
          <p:cNvPr id="3" name="Subtitle 2">
            <a:extLst>
              <a:ext uri="{FF2B5EF4-FFF2-40B4-BE49-F238E27FC236}">
                <a16:creationId xmlns:a16="http://schemas.microsoft.com/office/drawing/2014/main" id="{6CDB3C8F-A32C-80CC-4D4D-2860F74C9C53}"/>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PK"/>
          </a:p>
        </p:txBody>
      </p:sp>
      <p:sp>
        <p:nvSpPr>
          <p:cNvPr id="4" name="Date Placeholder 3">
            <a:extLst>
              <a:ext uri="{FF2B5EF4-FFF2-40B4-BE49-F238E27FC236}">
                <a16:creationId xmlns:a16="http://schemas.microsoft.com/office/drawing/2014/main" id="{685D11B6-4467-0586-55D0-FB24AF57ECE3}"/>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FB4D1519-E58F-7F36-6C58-2B14567AF83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51C876C9-7869-D50A-7C9A-FF4BDCB0C3FC}"/>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244258840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8C71CF6-03F3-4CEC-66D1-9EC2D02C992C}"/>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13408E36-11C6-3A5E-E5CB-C924E2ABA593}"/>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A309C988-E6D3-4FE2-BB65-860C37C5F383}"/>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01AC28EA-8DCF-17EA-B01E-4E860B01965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1DD6E0EE-C5BE-BC95-B41D-D28A1F0D2CD8}"/>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2281452175"/>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7B2C19-00C0-6650-4124-4F2292A5DEF2}"/>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PK"/>
          </a:p>
        </p:txBody>
      </p:sp>
      <p:sp>
        <p:nvSpPr>
          <p:cNvPr id="3" name="Text Placeholder 2">
            <a:extLst>
              <a:ext uri="{FF2B5EF4-FFF2-40B4-BE49-F238E27FC236}">
                <a16:creationId xmlns:a16="http://schemas.microsoft.com/office/drawing/2014/main" id="{25FD251B-6D7A-DC61-7397-506ADAD56367}"/>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B626CAA-C156-ABF8-A05D-13803B7CF174}"/>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0AA6D801-5261-4E38-65FD-8A4CA7914CBD}"/>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D2B953BC-A016-E396-BD15-5B666385C706}"/>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339475280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C113F5-F320-A706-2A1D-690CB047BBDD}"/>
              </a:ext>
            </a:extLst>
          </p:cNvPr>
          <p:cNvSpPr>
            <a:spLocks noGrp="1"/>
          </p:cNvSpPr>
          <p:nvPr>
            <p:ph type="title"/>
          </p:nvPr>
        </p:nvSpPr>
        <p:spPr/>
        <p:txBody>
          <a:bodyPr/>
          <a:lstStyle/>
          <a:p>
            <a:r>
              <a:rPr lang="en-US"/>
              <a:t>Click to edit Master title style</a:t>
            </a:r>
            <a:endParaRPr lang="en-PK"/>
          </a:p>
        </p:txBody>
      </p:sp>
      <p:sp>
        <p:nvSpPr>
          <p:cNvPr id="3" name="Content Placeholder 2">
            <a:extLst>
              <a:ext uri="{FF2B5EF4-FFF2-40B4-BE49-F238E27FC236}">
                <a16:creationId xmlns:a16="http://schemas.microsoft.com/office/drawing/2014/main" id="{27CB3043-193E-EBE6-FD76-6636868CF1F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Content Placeholder 3">
            <a:extLst>
              <a:ext uri="{FF2B5EF4-FFF2-40B4-BE49-F238E27FC236}">
                <a16:creationId xmlns:a16="http://schemas.microsoft.com/office/drawing/2014/main" id="{A9088717-1E64-7977-5F4B-26B6B0EAB9C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Date Placeholder 4">
            <a:extLst>
              <a:ext uri="{FF2B5EF4-FFF2-40B4-BE49-F238E27FC236}">
                <a16:creationId xmlns:a16="http://schemas.microsoft.com/office/drawing/2014/main" id="{5B382D4D-6A98-73EC-BCC4-129AACAE388B}"/>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6" name="Footer Placeholder 5">
            <a:extLst>
              <a:ext uri="{FF2B5EF4-FFF2-40B4-BE49-F238E27FC236}">
                <a16:creationId xmlns:a16="http://schemas.microsoft.com/office/drawing/2014/main" id="{45270073-50E1-11AF-B9D4-D1177E608451}"/>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81CDE1B4-F1F4-5030-76D3-07F0ECD6FBA7}"/>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395355990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3FA6FF-A68A-044F-F675-F65F44DC582B}"/>
              </a:ext>
            </a:extLst>
          </p:cNvPr>
          <p:cNvSpPr>
            <a:spLocks noGrp="1"/>
          </p:cNvSpPr>
          <p:nvPr>
            <p:ph type="title"/>
          </p:nvPr>
        </p:nvSpPr>
        <p:spPr>
          <a:xfrm>
            <a:off x="839788" y="365125"/>
            <a:ext cx="10515600" cy="1325563"/>
          </a:xfrm>
        </p:spPr>
        <p:txBody>
          <a:bodyPr/>
          <a:lstStyle/>
          <a:p>
            <a:r>
              <a:rPr lang="en-US"/>
              <a:t>Click to edit Master title style</a:t>
            </a:r>
            <a:endParaRPr lang="en-PK"/>
          </a:p>
        </p:txBody>
      </p:sp>
      <p:sp>
        <p:nvSpPr>
          <p:cNvPr id="3" name="Text Placeholder 2">
            <a:extLst>
              <a:ext uri="{FF2B5EF4-FFF2-40B4-BE49-F238E27FC236}">
                <a16:creationId xmlns:a16="http://schemas.microsoft.com/office/drawing/2014/main" id="{058961FB-15DA-AC1A-C293-57BBA47732D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2BC15C34-7D7D-69BF-DC97-01AA4ED0DA18}"/>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5" name="Text Placeholder 4">
            <a:extLst>
              <a:ext uri="{FF2B5EF4-FFF2-40B4-BE49-F238E27FC236}">
                <a16:creationId xmlns:a16="http://schemas.microsoft.com/office/drawing/2014/main" id="{FCA7B21C-FAB6-39F0-6673-FAAA7271FDAD}"/>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CE8E98E-9560-4EA8-5D9F-9747FB4C7E3F}"/>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7" name="Date Placeholder 6">
            <a:extLst>
              <a:ext uri="{FF2B5EF4-FFF2-40B4-BE49-F238E27FC236}">
                <a16:creationId xmlns:a16="http://schemas.microsoft.com/office/drawing/2014/main" id="{9AA20AE9-42A0-00AA-9B3E-C1F5DE160829}"/>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8" name="Footer Placeholder 7">
            <a:extLst>
              <a:ext uri="{FF2B5EF4-FFF2-40B4-BE49-F238E27FC236}">
                <a16:creationId xmlns:a16="http://schemas.microsoft.com/office/drawing/2014/main" id="{5B3AEB7B-0312-386F-C299-55C681344140}"/>
              </a:ext>
            </a:extLst>
          </p:cNvPr>
          <p:cNvSpPr>
            <a:spLocks noGrp="1"/>
          </p:cNvSpPr>
          <p:nvPr>
            <p:ph type="ftr" sz="quarter" idx="11"/>
          </p:nvPr>
        </p:nvSpPr>
        <p:spPr/>
        <p:txBody>
          <a:bodyPr/>
          <a:lstStyle/>
          <a:p>
            <a:endParaRPr lang="en-PK"/>
          </a:p>
        </p:txBody>
      </p:sp>
      <p:sp>
        <p:nvSpPr>
          <p:cNvPr id="9" name="Slide Number Placeholder 8">
            <a:extLst>
              <a:ext uri="{FF2B5EF4-FFF2-40B4-BE49-F238E27FC236}">
                <a16:creationId xmlns:a16="http://schemas.microsoft.com/office/drawing/2014/main" id="{29161D69-7A15-473E-E2FB-808D8E6D66F5}"/>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17351838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B721C27-42F6-0A9B-2D46-B22716016D87}"/>
              </a:ext>
            </a:extLst>
          </p:cNvPr>
          <p:cNvSpPr>
            <a:spLocks noGrp="1"/>
          </p:cNvSpPr>
          <p:nvPr>
            <p:ph type="title"/>
          </p:nvPr>
        </p:nvSpPr>
        <p:spPr/>
        <p:txBody>
          <a:bodyPr/>
          <a:lstStyle/>
          <a:p>
            <a:r>
              <a:rPr lang="en-US"/>
              <a:t>Click to edit Master title style</a:t>
            </a:r>
            <a:endParaRPr lang="en-PK"/>
          </a:p>
        </p:txBody>
      </p:sp>
      <p:sp>
        <p:nvSpPr>
          <p:cNvPr id="3" name="Date Placeholder 2">
            <a:extLst>
              <a:ext uri="{FF2B5EF4-FFF2-40B4-BE49-F238E27FC236}">
                <a16:creationId xmlns:a16="http://schemas.microsoft.com/office/drawing/2014/main" id="{5F14E516-C2AE-3D3E-D398-B52E8C293191}"/>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4" name="Footer Placeholder 3">
            <a:extLst>
              <a:ext uri="{FF2B5EF4-FFF2-40B4-BE49-F238E27FC236}">
                <a16:creationId xmlns:a16="http://schemas.microsoft.com/office/drawing/2014/main" id="{E0AD6D86-4182-C3D4-801B-2099D51946AE}"/>
              </a:ext>
            </a:extLst>
          </p:cNvPr>
          <p:cNvSpPr>
            <a:spLocks noGrp="1"/>
          </p:cNvSpPr>
          <p:nvPr>
            <p:ph type="ftr" sz="quarter" idx="11"/>
          </p:nvPr>
        </p:nvSpPr>
        <p:spPr/>
        <p:txBody>
          <a:bodyPr/>
          <a:lstStyle/>
          <a:p>
            <a:endParaRPr lang="en-PK"/>
          </a:p>
        </p:txBody>
      </p:sp>
      <p:sp>
        <p:nvSpPr>
          <p:cNvPr id="5" name="Slide Number Placeholder 4">
            <a:extLst>
              <a:ext uri="{FF2B5EF4-FFF2-40B4-BE49-F238E27FC236}">
                <a16:creationId xmlns:a16="http://schemas.microsoft.com/office/drawing/2014/main" id="{51F17C11-E702-E7EA-6C30-9952409688EA}"/>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149918117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3064E321-39AE-2117-BF42-62C557021D17}"/>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3" name="Footer Placeholder 2">
            <a:extLst>
              <a:ext uri="{FF2B5EF4-FFF2-40B4-BE49-F238E27FC236}">
                <a16:creationId xmlns:a16="http://schemas.microsoft.com/office/drawing/2014/main" id="{71C81941-9915-2E2B-8856-C2D55DE4938B}"/>
              </a:ext>
            </a:extLst>
          </p:cNvPr>
          <p:cNvSpPr>
            <a:spLocks noGrp="1"/>
          </p:cNvSpPr>
          <p:nvPr>
            <p:ph type="ftr" sz="quarter" idx="11"/>
          </p:nvPr>
        </p:nvSpPr>
        <p:spPr/>
        <p:txBody>
          <a:bodyPr/>
          <a:lstStyle/>
          <a:p>
            <a:endParaRPr lang="en-PK"/>
          </a:p>
        </p:txBody>
      </p:sp>
      <p:sp>
        <p:nvSpPr>
          <p:cNvPr id="4" name="Slide Number Placeholder 3">
            <a:extLst>
              <a:ext uri="{FF2B5EF4-FFF2-40B4-BE49-F238E27FC236}">
                <a16:creationId xmlns:a16="http://schemas.microsoft.com/office/drawing/2014/main" id="{4E648BDA-D7DC-EC7E-76C3-FD7564E9D9D3}"/>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105036851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91762C5-0267-E04A-6403-75A08C0BBB44}"/>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Content Placeholder 2">
            <a:extLst>
              <a:ext uri="{FF2B5EF4-FFF2-40B4-BE49-F238E27FC236}">
                <a16:creationId xmlns:a16="http://schemas.microsoft.com/office/drawing/2014/main" id="{7F547B69-6911-6B34-D4FC-B89DCED44FD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Text Placeholder 3">
            <a:extLst>
              <a:ext uri="{FF2B5EF4-FFF2-40B4-BE49-F238E27FC236}">
                <a16:creationId xmlns:a16="http://schemas.microsoft.com/office/drawing/2014/main" id="{FDCD9768-4526-1379-53D2-51DCC3451B7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FA93B4C0-E310-FF08-A394-91F1EE36A0F5}"/>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6" name="Footer Placeholder 5">
            <a:extLst>
              <a:ext uri="{FF2B5EF4-FFF2-40B4-BE49-F238E27FC236}">
                <a16:creationId xmlns:a16="http://schemas.microsoft.com/office/drawing/2014/main" id="{D76033A9-7B9A-BC0C-B1D9-F7AC1E63BD65}"/>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1FC56006-4581-598A-D51F-EA173C30D826}"/>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33982049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6D8F54C-BC17-A734-F172-35BEB5F7A80D}"/>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PK"/>
          </a:p>
        </p:txBody>
      </p:sp>
      <p:sp>
        <p:nvSpPr>
          <p:cNvPr id="3" name="Picture Placeholder 2">
            <a:extLst>
              <a:ext uri="{FF2B5EF4-FFF2-40B4-BE49-F238E27FC236}">
                <a16:creationId xmlns:a16="http://schemas.microsoft.com/office/drawing/2014/main" id="{F9854BEB-7411-2F34-1358-30C44EEF34A2}"/>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PK"/>
          </a:p>
        </p:txBody>
      </p:sp>
      <p:sp>
        <p:nvSpPr>
          <p:cNvPr id="4" name="Text Placeholder 3">
            <a:extLst>
              <a:ext uri="{FF2B5EF4-FFF2-40B4-BE49-F238E27FC236}">
                <a16:creationId xmlns:a16="http://schemas.microsoft.com/office/drawing/2014/main" id="{71D9A639-1B09-B0AB-CD91-4080736C4840}"/>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0DFB226-9407-73B4-7766-6E90259F0253}"/>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6" name="Footer Placeholder 5">
            <a:extLst>
              <a:ext uri="{FF2B5EF4-FFF2-40B4-BE49-F238E27FC236}">
                <a16:creationId xmlns:a16="http://schemas.microsoft.com/office/drawing/2014/main" id="{C8082011-62F3-A211-45BF-A37262D74213}"/>
              </a:ext>
            </a:extLst>
          </p:cNvPr>
          <p:cNvSpPr>
            <a:spLocks noGrp="1"/>
          </p:cNvSpPr>
          <p:nvPr>
            <p:ph type="ftr" sz="quarter" idx="11"/>
          </p:nvPr>
        </p:nvSpPr>
        <p:spPr/>
        <p:txBody>
          <a:bodyPr/>
          <a:lstStyle/>
          <a:p>
            <a:endParaRPr lang="en-PK"/>
          </a:p>
        </p:txBody>
      </p:sp>
      <p:sp>
        <p:nvSpPr>
          <p:cNvPr id="7" name="Slide Number Placeholder 6">
            <a:extLst>
              <a:ext uri="{FF2B5EF4-FFF2-40B4-BE49-F238E27FC236}">
                <a16:creationId xmlns:a16="http://schemas.microsoft.com/office/drawing/2014/main" id="{B94388DA-36DA-DEA4-D853-4A7C328D5CEC}"/>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139446910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D8811D-54F1-AD8C-EC7D-4D2B1B661C58}"/>
              </a:ext>
            </a:extLst>
          </p:cNvPr>
          <p:cNvSpPr>
            <a:spLocks noGrp="1"/>
          </p:cNvSpPr>
          <p:nvPr>
            <p:ph type="title"/>
          </p:nvPr>
        </p:nvSpPr>
        <p:spPr/>
        <p:txBody>
          <a:bodyPr/>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694031EC-94E5-2B03-D71E-FD7D7FF825CC}"/>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F40E744-E01B-1EF5-F23C-F279705672A9}"/>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3B4BC629-AB15-4741-2728-AFBE98158F09}"/>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23212B4-10C4-3CB5-0992-E46A00103F0D}"/>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213127770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15688BD6-2A6F-691A-5553-684BAA0F182D}"/>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PK"/>
          </a:p>
        </p:txBody>
      </p:sp>
      <p:sp>
        <p:nvSpPr>
          <p:cNvPr id="3" name="Vertical Text Placeholder 2">
            <a:extLst>
              <a:ext uri="{FF2B5EF4-FFF2-40B4-BE49-F238E27FC236}">
                <a16:creationId xmlns:a16="http://schemas.microsoft.com/office/drawing/2014/main" id="{C91E5894-BAD3-8013-60B6-50E78CF45BDB}"/>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87ED23CE-6335-90A1-C3AD-64F214490E5D}"/>
              </a:ext>
            </a:extLst>
          </p:cNvPr>
          <p:cNvSpPr>
            <a:spLocks noGrp="1"/>
          </p:cNvSpPr>
          <p:nvPr>
            <p:ph type="dt" sz="half" idx="10"/>
          </p:nvPr>
        </p:nvSpPr>
        <p:spPr/>
        <p:txBody>
          <a:body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78C5B055-B41F-3DFD-BB2E-756A1F3A167F}"/>
              </a:ext>
            </a:extLst>
          </p:cNvPr>
          <p:cNvSpPr>
            <a:spLocks noGrp="1"/>
          </p:cNvSpPr>
          <p:nvPr>
            <p:ph type="ftr" sz="quarter" idx="11"/>
          </p:nvPr>
        </p:nvSpPr>
        <p:spPr/>
        <p:txBody>
          <a:bodyPr/>
          <a:lstStyle/>
          <a:p>
            <a:endParaRPr lang="en-PK"/>
          </a:p>
        </p:txBody>
      </p:sp>
      <p:sp>
        <p:nvSpPr>
          <p:cNvPr id="6" name="Slide Number Placeholder 5">
            <a:extLst>
              <a:ext uri="{FF2B5EF4-FFF2-40B4-BE49-F238E27FC236}">
                <a16:creationId xmlns:a16="http://schemas.microsoft.com/office/drawing/2014/main" id="{6C7DA9C4-8905-1941-7DB1-D5998F52023D}"/>
              </a:ext>
            </a:extLst>
          </p:cNvPr>
          <p:cNvSpPr>
            <a:spLocks noGrp="1"/>
          </p:cNvSpPr>
          <p:nvPr>
            <p:ph type="sldNum" sz="quarter" idx="12"/>
          </p:nvPr>
        </p:nvSpPr>
        <p:spPr/>
        <p:txBody>
          <a:bodyPr/>
          <a:lstStyle/>
          <a:p>
            <a:fld id="{1E9ABD6A-67BC-454F-BAE0-7F4754164EB3}" type="slidenum">
              <a:rPr lang="en-PK" smtClean="0"/>
              <a:t>‹#›</a:t>
            </a:fld>
            <a:endParaRPr lang="en-PK"/>
          </a:p>
        </p:txBody>
      </p:sp>
    </p:spTree>
    <p:extLst>
      <p:ext uri="{BB962C8B-B14F-4D97-AF65-F5344CB8AC3E}">
        <p14:creationId xmlns:p14="http://schemas.microsoft.com/office/powerpoint/2010/main" val="362854237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E8702EBC-1795-403F-BDA7-CCB835DB286E}"/>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PK"/>
          </a:p>
        </p:txBody>
      </p:sp>
      <p:sp>
        <p:nvSpPr>
          <p:cNvPr id="3" name="Text Placeholder 2">
            <a:extLst>
              <a:ext uri="{FF2B5EF4-FFF2-40B4-BE49-F238E27FC236}">
                <a16:creationId xmlns:a16="http://schemas.microsoft.com/office/drawing/2014/main" id="{8E00A5D5-9DFD-423B-D775-8C732D3608B4}"/>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PK"/>
          </a:p>
        </p:txBody>
      </p:sp>
      <p:sp>
        <p:nvSpPr>
          <p:cNvPr id="4" name="Date Placeholder 3">
            <a:extLst>
              <a:ext uri="{FF2B5EF4-FFF2-40B4-BE49-F238E27FC236}">
                <a16:creationId xmlns:a16="http://schemas.microsoft.com/office/drawing/2014/main" id="{21197F32-C089-B1C1-7F6B-62E63136AB2D}"/>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6ED523A8-E56C-4081-AA4C-90FB90FB9A85}" type="datetimeFigureOut">
              <a:rPr lang="en-PK" smtClean="0"/>
              <a:t>01/04/2026</a:t>
            </a:fld>
            <a:endParaRPr lang="en-PK"/>
          </a:p>
        </p:txBody>
      </p:sp>
      <p:sp>
        <p:nvSpPr>
          <p:cNvPr id="5" name="Footer Placeholder 4">
            <a:extLst>
              <a:ext uri="{FF2B5EF4-FFF2-40B4-BE49-F238E27FC236}">
                <a16:creationId xmlns:a16="http://schemas.microsoft.com/office/drawing/2014/main" id="{5E5474C9-EF92-4725-158F-F85BC144BA87}"/>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PK"/>
          </a:p>
        </p:txBody>
      </p:sp>
      <p:sp>
        <p:nvSpPr>
          <p:cNvPr id="6" name="Slide Number Placeholder 5">
            <a:extLst>
              <a:ext uri="{FF2B5EF4-FFF2-40B4-BE49-F238E27FC236}">
                <a16:creationId xmlns:a16="http://schemas.microsoft.com/office/drawing/2014/main" id="{60223B45-A511-DABE-3903-4F98D08AC71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1E9ABD6A-67BC-454F-BAE0-7F4754164EB3}" type="slidenum">
              <a:rPr lang="en-PK" smtClean="0"/>
              <a:t>‹#›</a:t>
            </a:fld>
            <a:endParaRPr lang="en-PK"/>
          </a:p>
        </p:txBody>
      </p:sp>
    </p:spTree>
    <p:extLst>
      <p:ext uri="{BB962C8B-B14F-4D97-AF65-F5344CB8AC3E}">
        <p14:creationId xmlns:p14="http://schemas.microsoft.com/office/powerpoint/2010/main" val="3114996182"/>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P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3" Type="http://schemas.openxmlformats.org/officeDocument/2006/relationships/hyperlink" Target="https://developer.mozilla.org/en-US/docs/Glossary/Falsy" TargetMode="External"/><Relationship Id="rId2" Type="http://schemas.openxmlformats.org/officeDocument/2006/relationships/hyperlink" Target="https://developer.mozilla.org/en-US/docs/Glossary/Truthy" TargetMode="External"/><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_rels/slide60.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7.xml"/></Relationships>
</file>

<file path=ppt/slides/_rels/slide61.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7.xml"/></Relationships>
</file>

<file path=ppt/slides/_rels/slide62.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7.xml"/></Relationships>
</file>

<file path=ppt/slides/_rels/slide63.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7.xml"/></Relationships>
</file>

<file path=ppt/slides/_rels/slide64.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600201"/>
            <a:ext cx="7772400" cy="2000250"/>
          </a:xfrm>
        </p:spPr>
        <p:txBody>
          <a:bodyPr/>
          <a:lstStyle/>
          <a:p>
            <a:r>
              <a:rPr lang="en-US" dirty="0"/>
              <a:t>Java script Basics</a:t>
            </a:r>
            <a:endParaRPr lang="en-US" sz="2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1259714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Slide Number Placeholder 5"/>
          <p:cNvSpPr>
            <a:spLocks noGrp="1"/>
          </p:cNvSpPr>
          <p:nvPr>
            <p:ph type="sldNum" sz="quarter" idx="12"/>
          </p:nvPr>
        </p:nvSpPr>
        <p:spPr>
          <a:noFill/>
        </p:spPr>
        <p:txBody>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fld id="{6589ED31-CED1-4A74-A7DA-29EB6D3633E8}" type="slidenum">
              <a:rPr lang="en-US" sz="1400">
                <a:solidFill>
                  <a:schemeClr val="tx1"/>
                </a:solidFill>
              </a:rPr>
              <a:pPr/>
              <a:t>2</a:t>
            </a:fld>
            <a:endParaRPr lang="en-US" sz="1400">
              <a:solidFill>
                <a:schemeClr val="tx1"/>
              </a:solidFill>
            </a:endParaRPr>
          </a:p>
        </p:txBody>
      </p:sp>
      <p:sp>
        <p:nvSpPr>
          <p:cNvPr id="24579" name="Rectangle 2"/>
          <p:cNvSpPr>
            <a:spLocks noGrp="1" noChangeArrowheads="1"/>
          </p:cNvSpPr>
          <p:nvPr>
            <p:ph type="title"/>
          </p:nvPr>
        </p:nvSpPr>
        <p:spPr>
          <a:xfrm>
            <a:off x="2209800" y="0"/>
            <a:ext cx="7772400" cy="1143000"/>
          </a:xfrm>
        </p:spPr>
        <p:txBody>
          <a:bodyPr/>
          <a:lstStyle/>
          <a:p>
            <a:r>
              <a:rPr lang="en-US" dirty="0"/>
              <a:t>What is JavaScript?</a:t>
            </a:r>
          </a:p>
        </p:txBody>
      </p:sp>
      <p:sp>
        <p:nvSpPr>
          <p:cNvPr id="24580" name="Rectangle 3"/>
          <p:cNvSpPr>
            <a:spLocks noGrp="1" noChangeArrowheads="1"/>
          </p:cNvSpPr>
          <p:nvPr>
            <p:ph type="body" idx="1"/>
          </p:nvPr>
        </p:nvSpPr>
        <p:spPr>
          <a:xfrm>
            <a:off x="1524000" y="1015061"/>
            <a:ext cx="9144000" cy="5842939"/>
          </a:xfrm>
        </p:spPr>
        <p:txBody>
          <a:bodyPr>
            <a:normAutofit fontScale="92500" lnSpcReduction="20000"/>
          </a:bodyPr>
          <a:lstStyle/>
          <a:p>
            <a:pPr>
              <a:lnSpc>
                <a:spcPct val="90000"/>
              </a:lnSpc>
            </a:pPr>
            <a:r>
              <a:rPr lang="en-US" dirty="0"/>
              <a:t>A programming language of HTML specifically designed to work with Web browsers</a:t>
            </a:r>
          </a:p>
          <a:p>
            <a:pPr>
              <a:lnSpc>
                <a:spcPct val="90000"/>
              </a:lnSpc>
            </a:pPr>
            <a:r>
              <a:rPr lang="en-US" dirty="0"/>
              <a:t>It was developed to make interactive web frontend.</a:t>
            </a:r>
          </a:p>
          <a:p>
            <a:pPr>
              <a:lnSpc>
                <a:spcPct val="90000"/>
              </a:lnSpc>
            </a:pPr>
            <a:r>
              <a:rPr lang="en-US" dirty="0"/>
              <a:t>It is designed to be used for developing small programs – called scripts – that can be embedded in HTML Web pages</a:t>
            </a:r>
          </a:p>
          <a:p>
            <a:pPr>
              <a:lnSpc>
                <a:spcPct val="90000"/>
              </a:lnSpc>
            </a:pPr>
            <a:r>
              <a:rPr lang="en-US" dirty="0"/>
              <a:t>JavaScript is client side language, which was released in 1995 by Netscape with the help of Sun microsystems for Netscape-2 browser.</a:t>
            </a:r>
          </a:p>
          <a:p>
            <a:pPr>
              <a:lnSpc>
                <a:spcPct val="90000"/>
              </a:lnSpc>
            </a:pPr>
            <a:r>
              <a:rPr lang="en-US" dirty="0"/>
              <a:t>Who owns trademark of JS ----- Oracle</a:t>
            </a:r>
          </a:p>
          <a:p>
            <a:pPr>
              <a:lnSpc>
                <a:spcPct val="90000"/>
              </a:lnSpc>
            </a:pPr>
            <a:r>
              <a:rPr lang="en-US" dirty="0"/>
              <a:t>Java Script need a engine to convert code into machine language. </a:t>
            </a:r>
          </a:p>
          <a:p>
            <a:pPr>
              <a:lnSpc>
                <a:spcPct val="90000"/>
              </a:lnSpc>
            </a:pPr>
            <a:r>
              <a:rPr lang="en-US" dirty="0"/>
              <a:t>Every Browser has a </a:t>
            </a:r>
            <a:r>
              <a:rPr lang="en-US" dirty="0" err="1"/>
              <a:t>javascript</a:t>
            </a:r>
            <a:r>
              <a:rPr lang="en-US" dirty="0"/>
              <a:t> engine</a:t>
            </a:r>
          </a:p>
          <a:p>
            <a:pPr>
              <a:lnSpc>
                <a:spcPct val="90000"/>
              </a:lnSpc>
            </a:pPr>
            <a:r>
              <a:rPr lang="en-US" dirty="0"/>
              <a:t>JavaScript:</a:t>
            </a:r>
          </a:p>
          <a:p>
            <a:pPr lvl="1">
              <a:lnSpc>
                <a:spcPct val="90000"/>
              </a:lnSpc>
            </a:pPr>
            <a:r>
              <a:rPr lang="en-US" dirty="0"/>
              <a:t>Is an interpreted language</a:t>
            </a:r>
          </a:p>
          <a:p>
            <a:pPr lvl="1">
              <a:lnSpc>
                <a:spcPct val="90000"/>
              </a:lnSpc>
            </a:pPr>
            <a:r>
              <a:rPr lang="en-US" dirty="0"/>
              <a:t>Supports event-driven programming</a:t>
            </a:r>
          </a:p>
          <a:p>
            <a:pPr lvl="1">
              <a:lnSpc>
                <a:spcPct val="90000"/>
              </a:lnSpc>
            </a:pPr>
            <a:r>
              <a:rPr lang="en-US" dirty="0"/>
              <a:t>Is object-based</a:t>
            </a:r>
          </a:p>
        </p:txBody>
      </p:sp>
    </p:spTree>
    <p:extLst>
      <p:ext uri="{BB962C8B-B14F-4D97-AF65-F5344CB8AC3E}">
        <p14:creationId xmlns:p14="http://schemas.microsoft.com/office/powerpoint/2010/main" val="392099891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Slide Number Placeholder 5"/>
          <p:cNvSpPr>
            <a:spLocks noGrp="1"/>
          </p:cNvSpPr>
          <p:nvPr>
            <p:ph type="sldNum" sz="quarter" idx="12"/>
          </p:nvPr>
        </p:nvSpPr>
        <p:spPr>
          <a:noFill/>
        </p:spPr>
        <p:txBody>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fld id="{9DF51E81-65F0-4BC9-B007-6CA31E86AA10}" type="slidenum">
              <a:rPr lang="en-US" sz="1400">
                <a:solidFill>
                  <a:schemeClr val="tx1"/>
                </a:solidFill>
              </a:rPr>
              <a:pPr/>
              <a:t>3</a:t>
            </a:fld>
            <a:endParaRPr lang="en-US" sz="1400">
              <a:solidFill>
                <a:schemeClr val="tx1"/>
              </a:solidFill>
            </a:endParaRPr>
          </a:p>
        </p:txBody>
      </p:sp>
      <p:sp>
        <p:nvSpPr>
          <p:cNvPr id="25603" name="Rectangle 2"/>
          <p:cNvSpPr>
            <a:spLocks noGrp="1" noChangeArrowheads="1"/>
          </p:cNvSpPr>
          <p:nvPr>
            <p:ph type="title"/>
          </p:nvPr>
        </p:nvSpPr>
        <p:spPr>
          <a:xfrm>
            <a:off x="2133600" y="228600"/>
            <a:ext cx="7772400" cy="1143000"/>
          </a:xfrm>
        </p:spPr>
        <p:txBody>
          <a:bodyPr/>
          <a:lstStyle/>
          <a:p>
            <a:r>
              <a:rPr lang="en-US" dirty="0"/>
              <a:t>Object Based?</a:t>
            </a:r>
          </a:p>
        </p:txBody>
      </p:sp>
      <p:sp>
        <p:nvSpPr>
          <p:cNvPr id="25604" name="Rectangle 3"/>
          <p:cNvSpPr>
            <a:spLocks noGrp="1" noChangeArrowheads="1"/>
          </p:cNvSpPr>
          <p:nvPr>
            <p:ph type="body" idx="1"/>
          </p:nvPr>
        </p:nvSpPr>
        <p:spPr>
          <a:xfrm>
            <a:off x="1562100" y="1337256"/>
            <a:ext cx="8915400" cy="4572000"/>
          </a:xfrm>
        </p:spPr>
        <p:txBody>
          <a:bodyPr/>
          <a:lstStyle/>
          <a:p>
            <a:r>
              <a:rPr lang="en-US" dirty="0"/>
              <a:t>Everything that JavaScript manipulates, it treats as an </a:t>
            </a:r>
            <a:r>
              <a:rPr lang="en-US" i="1" dirty="0"/>
              <a:t>object – </a:t>
            </a:r>
            <a:r>
              <a:rPr lang="en-US" dirty="0"/>
              <a:t>e.g. a links or a button etc.</a:t>
            </a:r>
          </a:p>
          <a:p>
            <a:endParaRPr lang="en-US" dirty="0"/>
          </a:p>
          <a:p>
            <a:r>
              <a:rPr lang="en-US" dirty="0"/>
              <a:t>An object has </a:t>
            </a:r>
            <a:r>
              <a:rPr lang="en-US" i="1" dirty="0"/>
              <a:t>properties – </a:t>
            </a:r>
            <a:r>
              <a:rPr lang="en-US" dirty="0"/>
              <a:t>e.g. a Margins, position, paddings, colors etc.</a:t>
            </a:r>
            <a:endParaRPr lang="en-US" i="1" dirty="0"/>
          </a:p>
          <a:p>
            <a:endParaRPr lang="en-US" dirty="0"/>
          </a:p>
          <a:p>
            <a:r>
              <a:rPr lang="en-US" dirty="0"/>
              <a:t>Properties are modified with </a:t>
            </a:r>
            <a:r>
              <a:rPr lang="en-US" i="1" dirty="0"/>
              <a:t>methods</a:t>
            </a:r>
            <a:r>
              <a:rPr lang="en-US" dirty="0"/>
              <a:t>. </a:t>
            </a:r>
            <a:endParaRPr lang="en-US" i="1" dirty="0"/>
          </a:p>
        </p:txBody>
      </p:sp>
    </p:spTree>
    <p:extLst>
      <p:ext uri="{BB962C8B-B14F-4D97-AF65-F5344CB8AC3E}">
        <p14:creationId xmlns:p14="http://schemas.microsoft.com/office/powerpoint/2010/main" val="415172214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a:buClrTx/>
              <a:buFontTx/>
              <a:buNone/>
            </a:pPr>
            <a:fld id="{69065A3C-069C-4445-A9F9-50850D9A7F92}" type="slidenum">
              <a:rPr lang="en-US" sz="1400">
                <a:solidFill>
                  <a:srgbClr val="FFFFFF"/>
                </a:solidFill>
              </a:rPr>
              <a:pPr algn="r">
                <a:buClrTx/>
                <a:buFontTx/>
                <a:buNone/>
              </a:pPr>
              <a:t>4</a:t>
            </a:fld>
            <a:endParaRPr lang="en-US" sz="1400">
              <a:solidFill>
                <a:srgbClr val="FFFFFF"/>
              </a:solidFill>
            </a:endParaRPr>
          </a:p>
        </p:txBody>
      </p:sp>
      <p:sp>
        <p:nvSpPr>
          <p:cNvPr id="9219" name="Text Box 2"/>
          <p:cNvSpPr txBox="1">
            <a:spLocks noChangeArrowheads="1"/>
          </p:cNvSpPr>
          <p:nvPr/>
        </p:nvSpPr>
        <p:spPr bwMode="auto">
          <a:xfrm>
            <a:off x="1524000" y="-37563"/>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Object-Based, Not Object-Oriented!</a:t>
            </a:r>
          </a:p>
        </p:txBody>
      </p:sp>
      <p:sp>
        <p:nvSpPr>
          <p:cNvPr id="9220" name="Text Box 3"/>
          <p:cNvSpPr txBox="1">
            <a:spLocks noChangeArrowheads="1"/>
          </p:cNvSpPr>
          <p:nvPr/>
        </p:nvSpPr>
        <p:spPr bwMode="auto">
          <a:xfrm>
            <a:off x="2209800" y="1143000"/>
            <a:ext cx="8153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nSpc>
                <a:spcPct val="90000"/>
              </a:lnSpc>
              <a:spcBef>
                <a:spcPts val="813"/>
              </a:spcBef>
              <a:buClr>
                <a:srgbClr val="FFFFFF"/>
              </a:buClr>
              <a:buFont typeface="Arial" panose="020B0604020202020204" pitchFamily="34" charset="0"/>
              <a:buChar char="•"/>
            </a:pPr>
            <a:r>
              <a:rPr lang="en-US" sz="3200" dirty="0">
                <a:solidFill>
                  <a:schemeClr val="tx1"/>
                </a:solidFill>
              </a:rPr>
              <a:t>JavaScript is not a true object-oriented language like C++ or Java</a:t>
            </a:r>
          </a:p>
          <a:p>
            <a:pPr>
              <a:lnSpc>
                <a:spcPct val="90000"/>
              </a:lnSpc>
              <a:spcBef>
                <a:spcPts val="813"/>
              </a:spcBef>
              <a:buClr>
                <a:srgbClr val="00FF00"/>
              </a:buClr>
            </a:pPr>
            <a:endParaRPr lang="en-US" sz="3200" dirty="0">
              <a:solidFill>
                <a:schemeClr val="tx1"/>
              </a:solidFill>
            </a:endParaRPr>
          </a:p>
          <a:p>
            <a:pPr>
              <a:lnSpc>
                <a:spcPct val="90000"/>
              </a:lnSpc>
              <a:spcBef>
                <a:spcPts val="813"/>
              </a:spcBef>
              <a:buClr>
                <a:srgbClr val="FFFFFF"/>
              </a:buClr>
              <a:buFont typeface="Arial" panose="020B0604020202020204" pitchFamily="34" charset="0"/>
              <a:buChar char="•"/>
            </a:pPr>
            <a:r>
              <a:rPr lang="en-US" sz="3200" dirty="0">
                <a:solidFill>
                  <a:schemeClr val="tx1"/>
                </a:solidFill>
              </a:rPr>
              <a:t>It is so because it lacks two key features:</a:t>
            </a:r>
          </a:p>
          <a:p>
            <a:pPr lvl="1">
              <a:lnSpc>
                <a:spcPct val="90000"/>
              </a:lnSpc>
              <a:spcBef>
                <a:spcPts val="713"/>
              </a:spcBef>
              <a:buClr>
                <a:srgbClr val="FFFFFF"/>
              </a:buClr>
              <a:buFont typeface="Arial" panose="020B0604020202020204" pitchFamily="34" charset="0"/>
              <a:buChar char="–"/>
            </a:pPr>
            <a:r>
              <a:rPr lang="en-US" dirty="0">
                <a:solidFill>
                  <a:schemeClr val="tx1"/>
                </a:solidFill>
              </a:rPr>
              <a:t>A formal inheritance mechanism</a:t>
            </a:r>
          </a:p>
          <a:p>
            <a:pPr lvl="1">
              <a:lnSpc>
                <a:spcPct val="90000"/>
              </a:lnSpc>
              <a:spcBef>
                <a:spcPts val="713"/>
              </a:spcBef>
              <a:buClr>
                <a:srgbClr val="FFFFFF"/>
              </a:buClr>
              <a:buFont typeface="Arial" panose="020B0604020202020204" pitchFamily="34" charset="0"/>
              <a:buChar char="–"/>
            </a:pPr>
            <a:r>
              <a:rPr lang="en-US" dirty="0">
                <a:solidFill>
                  <a:schemeClr val="tx1"/>
                </a:solidFill>
              </a:rPr>
              <a:t>Strong typing</a:t>
            </a:r>
          </a:p>
          <a:p>
            <a:pPr>
              <a:lnSpc>
                <a:spcPct val="90000"/>
              </a:lnSpc>
              <a:spcBef>
                <a:spcPts val="813"/>
              </a:spcBef>
              <a:buClr>
                <a:srgbClr val="FFFF00"/>
              </a:buClr>
            </a:pPr>
            <a:endParaRPr lang="en-US" sz="3200" dirty="0">
              <a:solidFill>
                <a:schemeClr val="tx1"/>
              </a:solidFill>
            </a:endParaRPr>
          </a:p>
          <a:p>
            <a:pPr>
              <a:lnSpc>
                <a:spcPct val="90000"/>
              </a:lnSpc>
              <a:spcBef>
                <a:spcPts val="813"/>
              </a:spcBef>
              <a:buClr>
                <a:srgbClr val="FFFFFF"/>
              </a:buClr>
              <a:buFont typeface="Arial" panose="020B0604020202020204" pitchFamily="34" charset="0"/>
              <a:buChar char="•"/>
            </a:pPr>
            <a:r>
              <a:rPr lang="en-US" sz="3200" dirty="0">
                <a:solidFill>
                  <a:schemeClr val="tx1"/>
                </a:solidFill>
              </a:rPr>
              <a:t>Nevertheless, JavaScript shares many similarities with object-oriented languages, and therefore is called an object-based language</a:t>
            </a:r>
          </a:p>
        </p:txBody>
      </p:sp>
    </p:spTree>
    <p:extLst>
      <p:ext uri="{BB962C8B-B14F-4D97-AF65-F5344CB8AC3E}">
        <p14:creationId xmlns:p14="http://schemas.microsoft.com/office/powerpoint/2010/main" val="2121832911"/>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p:spPr>
        <p:txBody>
          <a:bodyPr/>
          <a:lstStyle>
            <a:lvl1pPr>
              <a:defRPr sz="2800">
                <a:solidFill>
                  <a:schemeClr val="bg2"/>
                </a:solidFill>
                <a:latin typeface="Arial" panose="020B0604020202020204" pitchFamily="34" charset="0"/>
              </a:defRPr>
            </a:lvl1pPr>
            <a:lvl2pPr marL="742950" indent="-285750">
              <a:defRPr sz="2800">
                <a:solidFill>
                  <a:schemeClr val="bg2"/>
                </a:solidFill>
                <a:latin typeface="Arial" panose="020B0604020202020204" pitchFamily="34" charset="0"/>
              </a:defRPr>
            </a:lvl2pPr>
            <a:lvl3pPr marL="1143000" indent="-228600">
              <a:defRPr sz="2800">
                <a:solidFill>
                  <a:schemeClr val="bg2"/>
                </a:solidFill>
                <a:latin typeface="Arial" panose="020B0604020202020204" pitchFamily="34" charset="0"/>
              </a:defRPr>
            </a:lvl3pPr>
            <a:lvl4pPr marL="1600200" indent="-228600">
              <a:defRPr sz="2800">
                <a:solidFill>
                  <a:schemeClr val="bg2"/>
                </a:solidFill>
                <a:latin typeface="Arial" panose="020B0604020202020204" pitchFamily="34" charset="0"/>
              </a:defRPr>
            </a:lvl4pPr>
            <a:lvl5pPr marL="2057400" indent="-228600">
              <a:defRPr sz="2800">
                <a:solidFill>
                  <a:schemeClr val="bg2"/>
                </a:solidFill>
                <a:latin typeface="Arial" panose="020B0604020202020204" pitchFamily="34" charset="0"/>
              </a:defRPr>
            </a:lvl5pPr>
            <a:lvl6pPr marL="2514600" indent="-228600" eaLnBrk="0" fontAlgn="base" hangingPunct="0">
              <a:spcBef>
                <a:spcPct val="0"/>
              </a:spcBef>
              <a:spcAft>
                <a:spcPct val="0"/>
              </a:spcAft>
              <a:defRPr sz="2800">
                <a:solidFill>
                  <a:schemeClr val="bg2"/>
                </a:solidFill>
                <a:latin typeface="Arial" panose="020B0604020202020204" pitchFamily="34" charset="0"/>
              </a:defRPr>
            </a:lvl6pPr>
            <a:lvl7pPr marL="2971800" indent="-228600" eaLnBrk="0" fontAlgn="base" hangingPunct="0">
              <a:spcBef>
                <a:spcPct val="0"/>
              </a:spcBef>
              <a:spcAft>
                <a:spcPct val="0"/>
              </a:spcAft>
              <a:defRPr sz="2800">
                <a:solidFill>
                  <a:schemeClr val="bg2"/>
                </a:solidFill>
                <a:latin typeface="Arial" panose="020B0604020202020204" pitchFamily="34" charset="0"/>
              </a:defRPr>
            </a:lvl7pPr>
            <a:lvl8pPr marL="3429000" indent="-228600" eaLnBrk="0" fontAlgn="base" hangingPunct="0">
              <a:spcBef>
                <a:spcPct val="0"/>
              </a:spcBef>
              <a:spcAft>
                <a:spcPct val="0"/>
              </a:spcAft>
              <a:defRPr sz="2800">
                <a:solidFill>
                  <a:schemeClr val="bg2"/>
                </a:solidFill>
                <a:latin typeface="Arial" panose="020B0604020202020204" pitchFamily="34" charset="0"/>
              </a:defRPr>
            </a:lvl8pPr>
            <a:lvl9pPr marL="3886200" indent="-228600" eaLnBrk="0" fontAlgn="base" hangingPunct="0">
              <a:spcBef>
                <a:spcPct val="0"/>
              </a:spcBef>
              <a:spcAft>
                <a:spcPct val="0"/>
              </a:spcAft>
              <a:defRPr sz="2800">
                <a:solidFill>
                  <a:schemeClr val="bg2"/>
                </a:solidFill>
                <a:latin typeface="Arial" panose="020B0604020202020204" pitchFamily="34" charset="0"/>
              </a:defRPr>
            </a:lvl9pPr>
          </a:lstStyle>
          <a:p>
            <a:fld id="{119B97AA-2840-4759-920A-9A9CC7C4B445}" type="slidenum">
              <a:rPr lang="en-US" sz="1400">
                <a:solidFill>
                  <a:schemeClr val="tx1"/>
                </a:solidFill>
              </a:rPr>
              <a:pPr/>
              <a:t>5</a:t>
            </a:fld>
            <a:endParaRPr lang="en-US" sz="1400">
              <a:solidFill>
                <a:schemeClr val="tx1"/>
              </a:solidFill>
            </a:endParaRPr>
          </a:p>
        </p:txBody>
      </p:sp>
      <p:sp>
        <p:nvSpPr>
          <p:cNvPr id="23555" name="Rectangle 2"/>
          <p:cNvSpPr>
            <a:spLocks noGrp="1" noChangeArrowheads="1"/>
          </p:cNvSpPr>
          <p:nvPr>
            <p:ph type="title"/>
          </p:nvPr>
        </p:nvSpPr>
        <p:spPr>
          <a:xfrm>
            <a:off x="2247900" y="44450"/>
            <a:ext cx="7772400" cy="1143000"/>
          </a:xfrm>
        </p:spPr>
        <p:txBody>
          <a:bodyPr/>
          <a:lstStyle/>
          <a:p>
            <a:r>
              <a:rPr lang="en-US" dirty="0"/>
              <a:t>Why JavaScript?</a:t>
            </a:r>
          </a:p>
        </p:txBody>
      </p:sp>
      <p:sp>
        <p:nvSpPr>
          <p:cNvPr id="23556" name="Rectangle 3"/>
          <p:cNvSpPr>
            <a:spLocks noGrp="1" noChangeArrowheads="1"/>
          </p:cNvSpPr>
          <p:nvPr>
            <p:ph type="body" idx="1"/>
          </p:nvPr>
        </p:nvSpPr>
        <p:spPr>
          <a:xfrm>
            <a:off x="1676400" y="1524000"/>
            <a:ext cx="8915400" cy="4114800"/>
          </a:xfrm>
        </p:spPr>
        <p:txBody>
          <a:bodyPr/>
          <a:lstStyle/>
          <a:p>
            <a:r>
              <a:rPr lang="en-US" dirty="0"/>
              <a:t>HTML is great for static Web pages; however, supports only rudimentary interactivity through forms and hyperlinks</a:t>
            </a:r>
          </a:p>
          <a:p>
            <a:endParaRPr lang="en-US" dirty="0"/>
          </a:p>
          <a:p>
            <a:r>
              <a:rPr lang="en-US" dirty="0"/>
              <a:t>JavaScript can be used (along with HTML) to develop interactive content for the Web</a:t>
            </a:r>
          </a:p>
        </p:txBody>
      </p:sp>
    </p:spTree>
    <p:extLst>
      <p:ext uri="{BB962C8B-B14F-4D97-AF65-F5344CB8AC3E}">
        <p14:creationId xmlns:p14="http://schemas.microsoft.com/office/powerpoint/2010/main" val="87799830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What java script can do?</a:t>
            </a:r>
          </a:p>
        </p:txBody>
      </p:sp>
      <p:sp>
        <p:nvSpPr>
          <p:cNvPr id="3" name="Content Placeholder 2"/>
          <p:cNvSpPr>
            <a:spLocks noGrp="1"/>
          </p:cNvSpPr>
          <p:nvPr>
            <p:ph idx="1"/>
          </p:nvPr>
        </p:nvSpPr>
        <p:spPr/>
        <p:txBody>
          <a:bodyPr/>
          <a:lstStyle/>
          <a:p>
            <a:r>
              <a:rPr lang="en-US" b="1" dirty="0" err="1"/>
              <a:t>Javascript</a:t>
            </a:r>
            <a:r>
              <a:rPr lang="en-US" b="1" dirty="0"/>
              <a:t> Can Make Pages Alive</a:t>
            </a:r>
          </a:p>
          <a:p>
            <a:r>
              <a:rPr lang="en-US" b="1" dirty="0"/>
              <a:t>JavaScript Can Change HTML Content</a:t>
            </a:r>
          </a:p>
          <a:p>
            <a:r>
              <a:rPr lang="en-US" b="1" dirty="0"/>
              <a:t>JavaScript Can Change HTML Attributes</a:t>
            </a:r>
          </a:p>
          <a:p>
            <a:r>
              <a:rPr lang="en-US" b="1" dirty="0"/>
              <a:t>JavaScript Can Change HTML Styles (CSS)</a:t>
            </a:r>
          </a:p>
          <a:p>
            <a:r>
              <a:rPr lang="en-US" b="1" dirty="0"/>
              <a:t>JavaScript Can Validate Data</a:t>
            </a:r>
          </a:p>
          <a:p>
            <a:pPr marL="0" indent="0">
              <a:buNone/>
            </a:pPr>
            <a:endParaRPr lang="en-US" dirty="0"/>
          </a:p>
        </p:txBody>
      </p:sp>
    </p:spTree>
    <p:extLst>
      <p:ext uri="{BB962C8B-B14F-4D97-AF65-F5344CB8AC3E}">
        <p14:creationId xmlns:p14="http://schemas.microsoft.com/office/powerpoint/2010/main" val="333226519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C61BA2AE-2B57-4E9B-A4EE-F911D944B33B}" type="slidenum">
              <a:rPr lang="en-US" sz="1400"/>
              <a:pPr>
                <a:spcBef>
                  <a:spcPct val="0"/>
                </a:spcBef>
                <a:buFontTx/>
                <a:buNone/>
              </a:pPr>
              <a:t>7</a:t>
            </a:fld>
            <a:endParaRPr lang="en-US" sz="1400"/>
          </a:p>
        </p:txBody>
      </p:sp>
      <p:sp>
        <p:nvSpPr>
          <p:cNvPr id="11267" name="Rectangle 2"/>
          <p:cNvSpPr>
            <a:spLocks noGrp="1" noChangeArrowheads="1"/>
          </p:cNvSpPr>
          <p:nvPr>
            <p:ph type="title"/>
          </p:nvPr>
        </p:nvSpPr>
        <p:spPr>
          <a:xfrm>
            <a:off x="1524000" y="0"/>
            <a:ext cx="9144000" cy="1143000"/>
          </a:xfrm>
        </p:spPr>
        <p:txBody>
          <a:bodyPr/>
          <a:lstStyle/>
          <a:p>
            <a:r>
              <a:rPr lang="en-US" sz="3800" dirty="0"/>
              <a:t>Some of things that JavaScript </a:t>
            </a:r>
            <a:r>
              <a:rPr lang="en-US" sz="3800" b="1" u="sng" dirty="0">
                <a:solidFill>
                  <a:srgbClr val="FF0000"/>
                </a:solidFill>
              </a:rPr>
              <a:t>cannot</a:t>
            </a:r>
            <a:r>
              <a:rPr lang="en-US" sz="3800" dirty="0">
                <a:solidFill>
                  <a:srgbClr val="FF0000"/>
                </a:solidFill>
              </a:rPr>
              <a:t> </a:t>
            </a:r>
            <a:r>
              <a:rPr lang="en-US" sz="3800" dirty="0"/>
              <a:t>do!</a:t>
            </a:r>
          </a:p>
        </p:txBody>
      </p:sp>
      <p:sp>
        <p:nvSpPr>
          <p:cNvPr id="11268" name="Rectangle 3"/>
          <p:cNvSpPr>
            <a:spLocks noGrp="1" noChangeArrowheads="1"/>
          </p:cNvSpPr>
          <p:nvPr>
            <p:ph type="body" idx="1"/>
          </p:nvPr>
        </p:nvSpPr>
        <p:spPr>
          <a:xfrm>
            <a:off x="1524000" y="1143000"/>
            <a:ext cx="9144000" cy="5943600"/>
          </a:xfrm>
        </p:spPr>
        <p:txBody>
          <a:bodyPr/>
          <a:lstStyle/>
          <a:p>
            <a:pPr>
              <a:lnSpc>
                <a:spcPct val="90000"/>
              </a:lnSpc>
            </a:pPr>
            <a:r>
              <a:rPr lang="en-US" dirty="0"/>
              <a:t>The following file ops. on the client computer:</a:t>
            </a:r>
          </a:p>
          <a:p>
            <a:pPr lvl="1">
              <a:lnSpc>
                <a:spcPct val="90000"/>
              </a:lnSpc>
            </a:pPr>
            <a:r>
              <a:rPr lang="en-US" dirty="0"/>
              <a:t>Read			-- Modify</a:t>
            </a:r>
          </a:p>
          <a:p>
            <a:pPr lvl="1">
              <a:lnSpc>
                <a:spcPct val="90000"/>
              </a:lnSpc>
            </a:pPr>
            <a:r>
              <a:rPr lang="en-US" dirty="0"/>
              <a:t>Rename		-- Delete</a:t>
            </a:r>
          </a:p>
          <a:p>
            <a:pPr lvl="1">
              <a:lnSpc>
                <a:spcPct val="90000"/>
              </a:lnSpc>
            </a:pPr>
            <a:r>
              <a:rPr lang="en-US" dirty="0"/>
              <a:t>Create</a:t>
            </a:r>
          </a:p>
          <a:p>
            <a:pPr>
              <a:lnSpc>
                <a:spcPct val="90000"/>
              </a:lnSpc>
            </a:pPr>
            <a:r>
              <a:rPr lang="en-US" dirty="0"/>
              <a:t>Create graphics (although, it does have the ability to format pages through HTML - including the placement of graphics)</a:t>
            </a:r>
          </a:p>
          <a:p>
            <a:pPr>
              <a:lnSpc>
                <a:spcPct val="90000"/>
              </a:lnSpc>
            </a:pPr>
            <a:endParaRPr lang="en-US" dirty="0"/>
          </a:p>
          <a:p>
            <a:pPr>
              <a:lnSpc>
                <a:spcPct val="90000"/>
              </a:lnSpc>
            </a:pPr>
            <a:r>
              <a:rPr lang="en-US" dirty="0"/>
              <a:t>Any network programming bar one function: the ability to download a file to the browser specified through an arbitrary URL</a:t>
            </a:r>
          </a:p>
        </p:txBody>
      </p:sp>
    </p:spTree>
    <p:extLst>
      <p:ext uri="{BB962C8B-B14F-4D97-AF65-F5344CB8AC3E}">
        <p14:creationId xmlns:p14="http://schemas.microsoft.com/office/powerpoint/2010/main" val="410680388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Slide Number Placeholder 5"/>
          <p:cNvSpPr>
            <a:spLocks noGrp="1"/>
          </p:cNvSpPr>
          <p:nvPr>
            <p:ph type="sldNum" sz="quarter" idx="12"/>
          </p:nvPr>
        </p:nvSpPr>
        <p:spPr>
          <a:noFill/>
        </p:spPr>
        <p:txBody>
          <a:bodyPr/>
          <a:lstStyle>
            <a:lvl1pPr>
              <a:spcBef>
                <a:spcPct val="20000"/>
              </a:spcBef>
              <a:buChar char="•"/>
              <a:defRPr sz="3200">
                <a:solidFill>
                  <a:schemeClr val="tx1"/>
                </a:solidFill>
                <a:latin typeface="Arial" panose="020B0604020202020204" pitchFamily="34" charset="0"/>
              </a:defRPr>
            </a:lvl1pPr>
            <a:lvl2pPr marL="742950" indent="-285750">
              <a:spcBef>
                <a:spcPct val="20000"/>
              </a:spcBef>
              <a:buChar char="–"/>
              <a:defRPr sz="2800">
                <a:solidFill>
                  <a:schemeClr val="tx1"/>
                </a:solidFill>
                <a:latin typeface="Arial" panose="020B0604020202020204" pitchFamily="34" charset="0"/>
              </a:defRPr>
            </a:lvl2pPr>
            <a:lvl3pPr marL="1143000" indent="-228600">
              <a:spcBef>
                <a:spcPct val="20000"/>
              </a:spcBef>
              <a:buChar char="•"/>
              <a:defRPr sz="2400">
                <a:solidFill>
                  <a:schemeClr val="tx1"/>
                </a:solidFill>
                <a:latin typeface="Arial" panose="020B0604020202020204" pitchFamily="34" charset="0"/>
              </a:defRPr>
            </a:lvl3pPr>
            <a:lvl4pPr marL="1600200" indent="-228600">
              <a:spcBef>
                <a:spcPct val="20000"/>
              </a:spcBef>
              <a:buChar char="–"/>
              <a:defRPr sz="2000">
                <a:solidFill>
                  <a:schemeClr val="tx1"/>
                </a:solidFill>
                <a:latin typeface="Arial" panose="020B0604020202020204" pitchFamily="34" charset="0"/>
              </a:defRPr>
            </a:lvl4pPr>
            <a:lvl5pPr marL="2057400" indent="-228600">
              <a:spcBef>
                <a:spcPct val="20000"/>
              </a:spcBef>
              <a:buChar char="»"/>
              <a:defRPr sz="2000">
                <a:solidFill>
                  <a:schemeClr val="tx1"/>
                </a:solidFill>
                <a:latin typeface="Arial" panose="020B0604020202020204" pitchFamily="34" charset="0"/>
              </a:defRPr>
            </a:lvl5pPr>
            <a:lvl6pPr marL="2514600" indent="-228600" eaLnBrk="0" fontAlgn="base" hangingPunct="0">
              <a:spcBef>
                <a:spcPct val="20000"/>
              </a:spcBef>
              <a:spcAft>
                <a:spcPct val="0"/>
              </a:spcAft>
              <a:buChar char="»"/>
              <a:defRPr sz="2000">
                <a:solidFill>
                  <a:schemeClr val="tx1"/>
                </a:solidFill>
                <a:latin typeface="Arial" panose="020B0604020202020204" pitchFamily="34" charset="0"/>
              </a:defRPr>
            </a:lvl6pPr>
            <a:lvl7pPr marL="2971800" indent="-228600" eaLnBrk="0" fontAlgn="base" hangingPunct="0">
              <a:spcBef>
                <a:spcPct val="20000"/>
              </a:spcBef>
              <a:spcAft>
                <a:spcPct val="0"/>
              </a:spcAft>
              <a:buChar char="»"/>
              <a:defRPr sz="2000">
                <a:solidFill>
                  <a:schemeClr val="tx1"/>
                </a:solidFill>
                <a:latin typeface="Arial" panose="020B0604020202020204" pitchFamily="34" charset="0"/>
              </a:defRPr>
            </a:lvl7pPr>
            <a:lvl8pPr marL="3429000" indent="-228600" eaLnBrk="0" fontAlgn="base" hangingPunct="0">
              <a:spcBef>
                <a:spcPct val="20000"/>
              </a:spcBef>
              <a:spcAft>
                <a:spcPct val="0"/>
              </a:spcAft>
              <a:buChar char="»"/>
              <a:defRPr sz="2000">
                <a:solidFill>
                  <a:schemeClr val="tx1"/>
                </a:solidFill>
                <a:latin typeface="Arial" panose="020B0604020202020204" pitchFamily="34" charset="0"/>
              </a:defRPr>
            </a:lvl8pPr>
            <a:lvl9pPr marL="3886200" indent="-228600" eaLnBrk="0" fontAlgn="base" hangingPunct="0">
              <a:spcBef>
                <a:spcPct val="20000"/>
              </a:spcBef>
              <a:spcAft>
                <a:spcPct val="0"/>
              </a:spcAft>
              <a:buChar char="»"/>
              <a:defRPr sz="2000">
                <a:solidFill>
                  <a:schemeClr val="tx1"/>
                </a:solidFill>
                <a:latin typeface="Arial" panose="020B0604020202020204" pitchFamily="34" charset="0"/>
              </a:defRPr>
            </a:lvl9pPr>
          </a:lstStyle>
          <a:p>
            <a:pPr>
              <a:spcBef>
                <a:spcPct val="0"/>
              </a:spcBef>
              <a:buFontTx/>
              <a:buNone/>
            </a:pPr>
            <a:fld id="{E0E2DB1D-FA29-4530-8340-4A75E74BF015}" type="slidenum">
              <a:rPr lang="en-US" sz="1400"/>
              <a:pPr>
                <a:spcBef>
                  <a:spcPct val="0"/>
                </a:spcBef>
                <a:buFontTx/>
                <a:buNone/>
              </a:pPr>
              <a:t>8</a:t>
            </a:fld>
            <a:endParaRPr lang="en-US" sz="1400"/>
          </a:p>
        </p:txBody>
      </p:sp>
      <p:sp>
        <p:nvSpPr>
          <p:cNvPr id="14339" name="Rectangle 1026"/>
          <p:cNvSpPr>
            <a:spLocks noGrp="1" noChangeArrowheads="1"/>
          </p:cNvSpPr>
          <p:nvPr>
            <p:ph type="title"/>
          </p:nvPr>
        </p:nvSpPr>
        <p:spPr>
          <a:xfrm>
            <a:off x="2209800" y="-228600"/>
            <a:ext cx="7772400" cy="1143000"/>
          </a:xfrm>
        </p:spPr>
        <p:txBody>
          <a:bodyPr/>
          <a:lstStyle/>
          <a:p>
            <a:r>
              <a:rPr lang="en-US"/>
              <a:t>Case Sensitivity</a:t>
            </a:r>
          </a:p>
        </p:txBody>
      </p:sp>
      <p:sp>
        <p:nvSpPr>
          <p:cNvPr id="14340" name="Rectangle 1027"/>
          <p:cNvSpPr>
            <a:spLocks noGrp="1" noChangeArrowheads="1"/>
          </p:cNvSpPr>
          <p:nvPr>
            <p:ph type="body" idx="1"/>
          </p:nvPr>
        </p:nvSpPr>
        <p:spPr>
          <a:xfrm>
            <a:off x="1524000" y="1143000"/>
            <a:ext cx="8839200" cy="5715000"/>
          </a:xfrm>
        </p:spPr>
        <p:txBody>
          <a:bodyPr/>
          <a:lstStyle/>
          <a:p>
            <a:pPr>
              <a:lnSpc>
                <a:spcPct val="90000"/>
              </a:lnSpc>
            </a:pPr>
            <a:r>
              <a:rPr lang="en-US" dirty="0"/>
              <a:t>HTML is </a:t>
            </a:r>
            <a:r>
              <a:rPr lang="en-US" i="1" dirty="0"/>
              <a:t>not </a:t>
            </a:r>
            <a:r>
              <a:rPr lang="en-US" dirty="0"/>
              <a:t>case sensitive.  The following mean the same to the browser:</a:t>
            </a:r>
          </a:p>
          <a:p>
            <a:pPr lvl="1">
              <a:lnSpc>
                <a:spcPct val="90000"/>
              </a:lnSpc>
            </a:pPr>
            <a:r>
              <a:rPr lang="en-US" dirty="0"/>
              <a:t>&lt;HTML&gt;		-- &lt;html&gt;</a:t>
            </a:r>
          </a:p>
          <a:p>
            <a:pPr lvl="1">
              <a:lnSpc>
                <a:spcPct val="90000"/>
              </a:lnSpc>
            </a:pPr>
            <a:r>
              <a:rPr lang="en-US" dirty="0"/>
              <a:t>&lt;Html&gt;			-- &lt;</a:t>
            </a:r>
            <a:r>
              <a:rPr lang="en-US" dirty="0" err="1"/>
              <a:t>htMl</a:t>
            </a:r>
            <a:r>
              <a:rPr lang="en-US" dirty="0"/>
              <a:t>&gt;</a:t>
            </a:r>
          </a:p>
          <a:p>
            <a:pPr>
              <a:lnSpc>
                <a:spcPct val="90000"/>
              </a:lnSpc>
            </a:pPr>
            <a:endParaRPr lang="en-US" dirty="0"/>
          </a:p>
          <a:p>
            <a:pPr>
              <a:lnSpc>
                <a:spcPct val="90000"/>
              </a:lnSpc>
            </a:pPr>
            <a:r>
              <a:rPr lang="en-US" dirty="0"/>
              <a:t>JavaScript </a:t>
            </a:r>
            <a:r>
              <a:rPr lang="en-US" i="1" dirty="0"/>
              <a:t>is</a:t>
            </a:r>
            <a:r>
              <a:rPr lang="en-US" dirty="0"/>
              <a:t> case sensitive.  Only the first of the following will result in the desired function – the rest will generate an error or some other undesirable event:</a:t>
            </a:r>
          </a:p>
          <a:p>
            <a:pPr lvl="1">
              <a:lnSpc>
                <a:spcPct val="90000"/>
              </a:lnSpc>
            </a:pPr>
            <a:r>
              <a:rPr lang="en-US" dirty="0" err="1"/>
              <a:t>onMouseClick</a:t>
            </a:r>
            <a:r>
              <a:rPr lang="en-US" dirty="0"/>
              <a:t>	-- </a:t>
            </a:r>
            <a:r>
              <a:rPr lang="en-US" dirty="0" err="1"/>
              <a:t>OnMouseClick</a:t>
            </a:r>
            <a:endParaRPr lang="en-US" dirty="0"/>
          </a:p>
          <a:p>
            <a:pPr lvl="1">
              <a:lnSpc>
                <a:spcPct val="90000"/>
              </a:lnSpc>
            </a:pPr>
            <a:r>
              <a:rPr lang="en-US" dirty="0" err="1"/>
              <a:t>onmouseclick</a:t>
            </a:r>
            <a:r>
              <a:rPr lang="en-US" dirty="0"/>
              <a:t>	-- ONMOUSECLICK</a:t>
            </a:r>
          </a:p>
          <a:p>
            <a:pPr lvl="1">
              <a:lnSpc>
                <a:spcPct val="90000"/>
              </a:lnSpc>
            </a:pPr>
            <a:endParaRPr lang="en-US" dirty="0"/>
          </a:p>
        </p:txBody>
      </p:sp>
    </p:spTree>
    <p:extLst>
      <p:ext uri="{BB962C8B-B14F-4D97-AF65-F5344CB8AC3E}">
        <p14:creationId xmlns:p14="http://schemas.microsoft.com/office/powerpoint/2010/main" val="301455843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DOM</a:t>
            </a:r>
          </a:p>
        </p:txBody>
      </p:sp>
      <p:sp>
        <p:nvSpPr>
          <p:cNvPr id="3" name="Content Placeholder 2"/>
          <p:cNvSpPr>
            <a:spLocks noGrp="1"/>
          </p:cNvSpPr>
          <p:nvPr>
            <p:ph idx="1"/>
          </p:nvPr>
        </p:nvSpPr>
        <p:spPr/>
        <p:txBody>
          <a:bodyPr>
            <a:normAutofit/>
          </a:bodyPr>
          <a:lstStyle/>
          <a:p>
            <a:r>
              <a:rPr lang="en-US" b="1" dirty="0"/>
              <a:t>The Document Object</a:t>
            </a:r>
          </a:p>
          <a:p>
            <a:r>
              <a:rPr lang="en-US" dirty="0"/>
              <a:t>When an HTML document is loaded into a web browser, it becomes a </a:t>
            </a:r>
            <a:r>
              <a:rPr lang="en-US" b="1" dirty="0"/>
              <a:t>document object</a:t>
            </a:r>
            <a:r>
              <a:rPr lang="en-US" dirty="0"/>
              <a:t>.</a:t>
            </a:r>
          </a:p>
          <a:p>
            <a:r>
              <a:rPr lang="en-US" dirty="0"/>
              <a:t>The document object is the root node of the HTML document and the "owner" of all other nodes:</a:t>
            </a:r>
            <a:br>
              <a:rPr lang="en-US" dirty="0"/>
            </a:br>
            <a:r>
              <a:rPr lang="en-US" dirty="0"/>
              <a:t>(element nodes, text nodes, attribute nodes, and comment nodes).</a:t>
            </a:r>
          </a:p>
          <a:p>
            <a:r>
              <a:rPr lang="en-US" dirty="0"/>
              <a:t>The document object provides properties and methods to access all node objects, from within JavaScript.</a:t>
            </a:r>
          </a:p>
          <a:p>
            <a:endParaRPr lang="en-US" dirty="0"/>
          </a:p>
        </p:txBody>
      </p:sp>
    </p:spTree>
    <p:extLst>
      <p:ext uri="{BB962C8B-B14F-4D97-AF65-F5344CB8AC3E}">
        <p14:creationId xmlns:p14="http://schemas.microsoft.com/office/powerpoint/2010/main" val="20013143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HTML DOM</a:t>
            </a:r>
          </a:p>
        </p:txBody>
      </p:sp>
      <p:sp>
        <p:nvSpPr>
          <p:cNvPr id="3" name="Content Placeholder 2"/>
          <p:cNvSpPr>
            <a:spLocks noGrp="1"/>
          </p:cNvSpPr>
          <p:nvPr>
            <p:ph idx="1"/>
          </p:nvPr>
        </p:nvSpPr>
        <p:spPr/>
        <p:txBody>
          <a:bodyPr/>
          <a:lstStyle/>
          <a:p>
            <a:r>
              <a:rPr lang="en-US" b="1" dirty="0"/>
              <a:t>The </a:t>
            </a:r>
            <a:r>
              <a:rPr lang="en-US" b="1" dirty="0" err="1"/>
              <a:t>Attr</a:t>
            </a:r>
            <a:r>
              <a:rPr lang="en-US" b="1" dirty="0"/>
              <a:t> Object</a:t>
            </a:r>
          </a:p>
          <a:p>
            <a:r>
              <a:rPr lang="en-US" dirty="0"/>
              <a:t>In the HTML DOM, the </a:t>
            </a:r>
            <a:r>
              <a:rPr lang="en-US" b="1" dirty="0" err="1"/>
              <a:t>Attr</a:t>
            </a:r>
            <a:r>
              <a:rPr lang="en-US" b="1" dirty="0"/>
              <a:t> object</a:t>
            </a:r>
            <a:r>
              <a:rPr lang="en-US" dirty="0"/>
              <a:t> represents an HTML attribute.</a:t>
            </a:r>
          </a:p>
          <a:p>
            <a:r>
              <a:rPr lang="en-US" dirty="0"/>
              <a:t>An HTML attribute always belongs to an HTML element.</a:t>
            </a:r>
          </a:p>
          <a:p>
            <a:endParaRPr lang="en-US" dirty="0"/>
          </a:p>
        </p:txBody>
      </p:sp>
    </p:spTree>
    <p:extLst>
      <p:ext uri="{BB962C8B-B14F-4D97-AF65-F5344CB8AC3E}">
        <p14:creationId xmlns:p14="http://schemas.microsoft.com/office/powerpoint/2010/main" val="335010637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1" y="381000"/>
            <a:ext cx="7772399" cy="6477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54250886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JavaScript Variables</a:t>
            </a:r>
          </a:p>
        </p:txBody>
      </p:sp>
      <p:sp>
        <p:nvSpPr>
          <p:cNvPr id="4" name="Rectangle 1"/>
          <p:cNvSpPr>
            <a:spLocks noGrp="1" noChangeArrowheads="1"/>
          </p:cNvSpPr>
          <p:nvPr>
            <p:ph idx="1"/>
          </p:nvPr>
        </p:nvSpPr>
        <p:spPr bwMode="auto">
          <a:xfrm>
            <a:off x="1981200" y="1831032"/>
            <a:ext cx="8229600" cy="424213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rtlCol="0" anchor="ctr" anchorCtr="0" compatLnSpc="1">
            <a:prstTxWarp prst="textNoShape">
              <a:avLst/>
            </a:prstTxWarp>
            <a:spAutoFit/>
          </a:bodyPr>
          <a:lstStyle/>
          <a:p>
            <a:pPr marL="0" indent="0" eaLnBrk="0" fontAlgn="base" hangingPunct="0">
              <a:lnSpc>
                <a:spcPct val="150000"/>
              </a:lnSpc>
              <a:spcBef>
                <a:spcPct val="0"/>
              </a:spcBef>
              <a:spcAft>
                <a:spcPct val="0"/>
              </a:spcAft>
              <a:buNone/>
            </a:pPr>
            <a:r>
              <a:rPr lang="en-US" altLang="en-US" b="1" dirty="0">
                <a:solidFill>
                  <a:srgbClr val="000000"/>
                </a:solidFill>
                <a:latin typeface="Times New Roman" panose="02020603050405020304" pitchFamily="18" charset="0"/>
                <a:cs typeface="Times New Roman" panose="02020603050405020304" pitchFamily="18" charset="0"/>
              </a:rPr>
              <a:t> Variables</a:t>
            </a:r>
            <a:endParaRPr lang="en-US" altLang="en-US" sz="2400" b="1"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r>
              <a:rPr lang="en-US" sz="2400" dirty="0">
                <a:latin typeface="Times New Roman" panose="02020603050405020304" pitchFamily="18" charset="0"/>
                <a:cs typeface="Times New Roman" panose="02020603050405020304" pitchFamily="18" charset="0"/>
              </a:rPr>
              <a:t>	Variables are containers for storing data (storing data 	values).</a:t>
            </a:r>
            <a:endParaRPr lang="en-US" altLang="en-US" sz="2400" b="1" dirty="0">
              <a:solidFill>
                <a:srgbClr val="000000"/>
              </a:solidFill>
              <a:latin typeface="Times New Roman" panose="02020603050405020304" pitchFamily="18" charset="0"/>
              <a:cs typeface="Times New Roman" panose="02020603050405020304" pitchFamily="18" charset="0"/>
            </a:endParaRPr>
          </a:p>
          <a:p>
            <a:pPr marL="0" indent="0" eaLnBrk="0" fontAlgn="base" hangingPunct="0">
              <a:lnSpc>
                <a:spcPct val="150000"/>
              </a:lnSpc>
              <a:spcBef>
                <a:spcPct val="0"/>
              </a:spcBef>
              <a:spcAft>
                <a:spcPct val="0"/>
              </a:spcAft>
              <a:buNone/>
            </a:pPr>
            <a:r>
              <a:rPr kumimoji="0" lang="en-US" altLang="en-US" b="1" i="0" u="none" strike="noStrike" cap="none" normalizeH="0" baseline="0" dirty="0">
                <a:ln>
                  <a:noFill/>
                </a:ln>
                <a:solidFill>
                  <a:srgbClr val="000000"/>
                </a:solidFill>
                <a:effectLst/>
                <a:latin typeface="Times New Roman" panose="02020603050405020304" pitchFamily="18" charset="0"/>
                <a:cs typeface="Times New Roman" panose="02020603050405020304" pitchFamily="18" charset="0"/>
              </a:rPr>
              <a:t> Ways to Declare a JavaScript Variable:</a:t>
            </a:r>
          </a:p>
          <a:p>
            <a:pPr lvl="1"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Using </a:t>
            </a:r>
            <a:r>
              <a:rPr lang="en-US" altLang="en-US" sz="2000" b="1" dirty="0" err="1">
                <a:latin typeface="Times New Roman" panose="02020603050405020304" pitchFamily="18" charset="0"/>
                <a:cs typeface="Times New Roman" panose="02020603050405020304" pitchFamily="18" charset="0"/>
              </a:rPr>
              <a:t>var</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(can’t have block scope)</a:t>
            </a:r>
          </a:p>
          <a:p>
            <a:pPr lvl="1"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Using let </a:t>
            </a:r>
            <a:r>
              <a:rPr lang="en-US" altLang="en-US" sz="2000" dirty="0">
                <a:latin typeface="Times New Roman" panose="02020603050405020304" pitchFamily="18" charset="0"/>
                <a:cs typeface="Times New Roman" panose="02020603050405020304" pitchFamily="18" charset="0"/>
              </a:rPr>
              <a:t>( have block scope)</a:t>
            </a:r>
          </a:p>
          <a:p>
            <a:pPr lvl="1" eaLnBrk="0" fontAlgn="base" hangingPunct="0">
              <a:lnSpc>
                <a:spcPct val="150000"/>
              </a:lnSpc>
              <a:spcBef>
                <a:spcPct val="0"/>
              </a:spcBef>
              <a:spcAft>
                <a:spcPct val="0"/>
              </a:spcAft>
              <a:buFont typeface="Arial" panose="020B0604020202020204" pitchFamily="34" charset="0"/>
              <a:buChar char="•"/>
            </a:pPr>
            <a:r>
              <a:rPr lang="en-US" altLang="en-US" sz="2000" b="1" dirty="0">
                <a:latin typeface="Times New Roman" panose="02020603050405020304" pitchFamily="18" charset="0"/>
                <a:cs typeface="Times New Roman" panose="02020603050405020304" pitchFamily="18" charset="0"/>
              </a:rPr>
              <a:t>Using </a:t>
            </a:r>
            <a:r>
              <a:rPr lang="en-US" altLang="en-US" sz="2000" b="1" dirty="0" err="1">
                <a:latin typeface="Times New Roman" panose="02020603050405020304" pitchFamily="18" charset="0"/>
                <a:cs typeface="Times New Roman" panose="02020603050405020304" pitchFamily="18" charset="0"/>
              </a:rPr>
              <a:t>const</a:t>
            </a:r>
            <a:r>
              <a:rPr lang="en-US" altLang="en-US" sz="2000" b="1" dirty="0">
                <a:latin typeface="Times New Roman" panose="02020603050405020304" pitchFamily="18" charset="0"/>
                <a:cs typeface="Times New Roman" panose="02020603050405020304" pitchFamily="18" charset="0"/>
              </a:rPr>
              <a:t> </a:t>
            </a:r>
            <a:r>
              <a:rPr lang="en-US" altLang="en-US" sz="2000" dirty="0">
                <a:latin typeface="Times New Roman" panose="02020603050405020304" pitchFamily="18" charset="0"/>
                <a:cs typeface="Times New Roman" panose="02020603050405020304" pitchFamily="18" charset="0"/>
              </a:rPr>
              <a:t>(assigns constant value) </a:t>
            </a:r>
            <a:endParaRPr lang="en-US" altLang="en-US" sz="2000" b="1"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301493031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a:t>
            </a:r>
          </a:p>
        </p:txBody>
      </p:sp>
      <p:sp>
        <p:nvSpPr>
          <p:cNvPr id="3" name="Content Placeholder 2"/>
          <p:cNvSpPr>
            <a:spLocks noGrp="1"/>
          </p:cNvSpPr>
          <p:nvPr>
            <p:ph idx="1"/>
          </p:nvPr>
        </p:nvSpPr>
        <p:spPr/>
        <p:txBody>
          <a:bodyPr>
            <a:normAutofit fontScale="77500" lnSpcReduction="20000"/>
          </a:bodyPr>
          <a:lstStyle/>
          <a:p>
            <a:r>
              <a:rPr lang="en-US" dirty="0" err="1"/>
              <a:t>const</a:t>
            </a:r>
            <a:r>
              <a:rPr lang="en-US" dirty="0"/>
              <a:t> pi = 3.14;</a:t>
            </a:r>
          </a:p>
          <a:p>
            <a:r>
              <a:rPr lang="en-US" dirty="0"/>
              <a:t>pi = 3.14159; 	Error: Assignment to a constant variable</a:t>
            </a:r>
          </a:p>
          <a:p>
            <a:endParaRPr lang="en-US" dirty="0"/>
          </a:p>
          <a:p>
            <a:r>
              <a:rPr lang="en-US" dirty="0" err="1"/>
              <a:t>const</a:t>
            </a:r>
            <a:r>
              <a:rPr lang="en-US" dirty="0"/>
              <a:t> person = { name: 'John' };</a:t>
            </a:r>
          </a:p>
          <a:p>
            <a:r>
              <a:rPr lang="en-US" dirty="0" err="1"/>
              <a:t>person.age</a:t>
            </a:r>
            <a:r>
              <a:rPr lang="en-US" dirty="0"/>
              <a:t> = 30; 	Valid, as the object itself is still mutable</a:t>
            </a:r>
          </a:p>
          <a:p>
            <a:pPr marL="0" indent="0">
              <a:buNone/>
            </a:pPr>
            <a:endParaRPr lang="en-US" dirty="0"/>
          </a:p>
          <a:p>
            <a:r>
              <a:rPr lang="en-US" dirty="0"/>
              <a:t>let counter = 0;</a:t>
            </a:r>
          </a:p>
          <a:p>
            <a:r>
              <a:rPr lang="en-US" dirty="0"/>
              <a:t>counter = 1; 	Valid, as let allows reassignment</a:t>
            </a:r>
          </a:p>
          <a:p>
            <a:endParaRPr lang="en-US" dirty="0"/>
          </a:p>
          <a:p>
            <a:r>
              <a:rPr lang="en-US" dirty="0"/>
              <a:t>let message;</a:t>
            </a:r>
          </a:p>
          <a:p>
            <a:r>
              <a:rPr lang="en-US" dirty="0"/>
              <a:t>message = 'Hello, World!'; 	Valid, can be declared 					without an initial value</a:t>
            </a:r>
          </a:p>
        </p:txBody>
      </p:sp>
    </p:spTree>
    <p:extLst>
      <p:ext uri="{BB962C8B-B14F-4D97-AF65-F5344CB8AC3E}">
        <p14:creationId xmlns:p14="http://schemas.microsoft.com/office/powerpoint/2010/main" val="724984477"/>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800" dirty="0"/>
              <a:t>JavaScript Variables</a:t>
            </a:r>
          </a:p>
        </p:txBody>
      </p:sp>
      <p:sp>
        <p:nvSpPr>
          <p:cNvPr id="4" name="Rectangle 1"/>
          <p:cNvSpPr>
            <a:spLocks noGrp="1" noChangeArrowheads="1"/>
          </p:cNvSpPr>
          <p:nvPr>
            <p:ph idx="1"/>
          </p:nvPr>
        </p:nvSpPr>
        <p:spPr bwMode="auto">
          <a:xfrm>
            <a:off x="2171700" y="1652765"/>
            <a:ext cx="7848600" cy="43344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0" tIns="88872" rIns="0" bIns="88872" numCol="1" rtlCol="0" anchor="ctr" anchorCtr="0" compatLnSpc="1">
            <a:prstTxWarp prst="textNoShape">
              <a:avLst/>
            </a:prstTxWarp>
            <a:spAutoFit/>
          </a:bodyPr>
          <a:lstStyle/>
          <a:p>
            <a:pPr marL="457200" lvl="1" indent="0" eaLnBrk="0" fontAlgn="base" hangingPunct="0">
              <a:lnSpc>
                <a:spcPct val="150000"/>
              </a:lnSpc>
              <a:spcBef>
                <a:spcPct val="0"/>
              </a:spcBef>
              <a:spcAft>
                <a:spcPct val="0"/>
              </a:spcAft>
              <a:buNone/>
            </a:pPr>
            <a:r>
              <a:rPr lang="en-US" altLang="en-US" b="1" dirty="0">
                <a:latin typeface="Times New Roman" panose="02020603050405020304" pitchFamily="18" charset="0"/>
                <a:cs typeface="Times New Roman" panose="02020603050405020304" pitchFamily="18" charset="0"/>
              </a:rPr>
              <a:t>Example</a:t>
            </a:r>
          </a:p>
          <a:p>
            <a:pPr marL="400050" lvl="1" indent="0" eaLnBrk="0" fontAlgn="base" hangingPunct="0">
              <a:lnSpc>
                <a:spcPct val="15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&lt;script&gt;</a:t>
            </a:r>
          </a:p>
          <a:p>
            <a:pPr marL="400050" lvl="1" indent="0" eaLnBrk="0" fontAlgn="base" hangingPunct="0">
              <a:lnSpc>
                <a:spcPct val="150000"/>
              </a:lnSpc>
              <a:spcBef>
                <a:spcPct val="0"/>
              </a:spcBef>
              <a:spcAft>
                <a:spcPct val="0"/>
              </a:spcAft>
              <a:buNone/>
            </a:pPr>
            <a:r>
              <a:rPr lang="en-US" altLang="en-US" sz="1800" dirty="0" err="1">
                <a:latin typeface="Times New Roman" panose="02020603050405020304" pitchFamily="18" charset="0"/>
                <a:cs typeface="Times New Roman" panose="02020603050405020304" pitchFamily="18" charset="0"/>
              </a:rPr>
              <a:t>var</a:t>
            </a:r>
            <a:r>
              <a:rPr lang="en-US" altLang="en-US" sz="1800" dirty="0">
                <a:latin typeface="Times New Roman" panose="02020603050405020304" pitchFamily="18" charset="0"/>
                <a:cs typeface="Times New Roman" panose="02020603050405020304" pitchFamily="18" charset="0"/>
              </a:rPr>
              <a:t> x = 5;</a:t>
            </a:r>
          </a:p>
          <a:p>
            <a:pPr marL="400050" lvl="1" indent="0" eaLnBrk="0" fontAlgn="base" hangingPunct="0">
              <a:lnSpc>
                <a:spcPct val="150000"/>
              </a:lnSpc>
              <a:spcBef>
                <a:spcPct val="0"/>
              </a:spcBef>
              <a:spcAft>
                <a:spcPct val="0"/>
              </a:spcAft>
              <a:buNone/>
            </a:pPr>
            <a:r>
              <a:rPr lang="en-US" altLang="en-US" sz="1800" dirty="0" err="1">
                <a:latin typeface="Times New Roman" panose="02020603050405020304" pitchFamily="18" charset="0"/>
                <a:cs typeface="Times New Roman" panose="02020603050405020304" pitchFamily="18" charset="0"/>
              </a:rPr>
              <a:t>var</a:t>
            </a:r>
            <a:r>
              <a:rPr lang="en-US" altLang="en-US" sz="1800" dirty="0">
                <a:latin typeface="Times New Roman" panose="02020603050405020304" pitchFamily="18" charset="0"/>
                <a:cs typeface="Times New Roman" panose="02020603050405020304" pitchFamily="18" charset="0"/>
              </a:rPr>
              <a:t> y = 6;</a:t>
            </a:r>
          </a:p>
          <a:p>
            <a:pPr marL="400050" lvl="1" indent="0" eaLnBrk="0" fontAlgn="base" hangingPunct="0">
              <a:lnSpc>
                <a:spcPct val="150000"/>
              </a:lnSpc>
              <a:spcBef>
                <a:spcPct val="0"/>
              </a:spcBef>
              <a:spcAft>
                <a:spcPct val="0"/>
              </a:spcAft>
              <a:buNone/>
            </a:pPr>
            <a:r>
              <a:rPr lang="en-US" altLang="en-US" sz="1800" dirty="0" err="1">
                <a:latin typeface="Times New Roman" panose="02020603050405020304" pitchFamily="18" charset="0"/>
                <a:cs typeface="Times New Roman" panose="02020603050405020304" pitchFamily="18" charset="0"/>
              </a:rPr>
              <a:t>var</a:t>
            </a:r>
            <a:r>
              <a:rPr lang="en-US" altLang="en-US" sz="1800" dirty="0">
                <a:latin typeface="Times New Roman" panose="02020603050405020304" pitchFamily="18" charset="0"/>
                <a:cs typeface="Times New Roman" panose="02020603050405020304" pitchFamily="18" charset="0"/>
              </a:rPr>
              <a:t> z = x + y;</a:t>
            </a:r>
          </a:p>
          <a:p>
            <a:pPr marL="400050" lvl="1" indent="0" eaLnBrk="0" fontAlgn="base" hangingPunct="0">
              <a:lnSpc>
                <a:spcPct val="150000"/>
              </a:lnSpc>
              <a:spcBef>
                <a:spcPct val="0"/>
              </a:spcBef>
              <a:spcAft>
                <a:spcPct val="0"/>
              </a:spcAft>
              <a:buNone/>
            </a:pPr>
            <a:r>
              <a:rPr lang="en-US" altLang="en-US" sz="1800" dirty="0" err="1">
                <a:latin typeface="Times New Roman" panose="02020603050405020304" pitchFamily="18" charset="0"/>
                <a:cs typeface="Times New Roman" panose="02020603050405020304" pitchFamily="18" charset="0"/>
              </a:rPr>
              <a:t>document.getElementById</a:t>
            </a:r>
            <a:r>
              <a:rPr lang="en-US" altLang="en-US" sz="1800" dirty="0">
                <a:latin typeface="Times New Roman" panose="02020603050405020304" pitchFamily="18" charset="0"/>
                <a:cs typeface="Times New Roman" panose="02020603050405020304" pitchFamily="18" charset="0"/>
              </a:rPr>
              <a:t>("demo").</a:t>
            </a:r>
            <a:r>
              <a:rPr lang="en-US" altLang="en-US" sz="1800" dirty="0" err="1">
                <a:latin typeface="Times New Roman" panose="02020603050405020304" pitchFamily="18" charset="0"/>
                <a:cs typeface="Times New Roman" panose="02020603050405020304" pitchFamily="18" charset="0"/>
              </a:rPr>
              <a:t>innerHTML</a:t>
            </a:r>
            <a:r>
              <a:rPr lang="en-US" altLang="en-US" sz="1800" dirty="0">
                <a:latin typeface="Times New Roman" panose="02020603050405020304" pitchFamily="18" charset="0"/>
                <a:cs typeface="Times New Roman" panose="02020603050405020304" pitchFamily="18" charset="0"/>
              </a:rPr>
              <a:t> =</a:t>
            </a:r>
          </a:p>
          <a:p>
            <a:pPr marL="400050" lvl="1" indent="0" eaLnBrk="0" fontAlgn="base" hangingPunct="0">
              <a:lnSpc>
                <a:spcPct val="15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"The value of z is: " + z;</a:t>
            </a:r>
          </a:p>
          <a:p>
            <a:pPr marL="400050" lvl="1" indent="0" eaLnBrk="0" fontAlgn="base" hangingPunct="0">
              <a:lnSpc>
                <a:spcPct val="150000"/>
              </a:lnSpc>
              <a:spcBef>
                <a:spcPct val="0"/>
              </a:spcBef>
              <a:spcAft>
                <a:spcPct val="0"/>
              </a:spcAft>
              <a:buNone/>
            </a:pPr>
            <a:r>
              <a:rPr lang="en-US" altLang="en-US" sz="1800" dirty="0">
                <a:latin typeface="Times New Roman" panose="02020603050405020304" pitchFamily="18" charset="0"/>
                <a:cs typeface="Times New Roman" panose="02020603050405020304" pitchFamily="18" charset="0"/>
              </a:rPr>
              <a:t>&lt;/script&gt;</a:t>
            </a:r>
          </a:p>
          <a:p>
            <a:pPr marL="400050" lvl="1" indent="0" eaLnBrk="0" fontAlgn="base" hangingPunct="0">
              <a:lnSpc>
                <a:spcPct val="150000"/>
              </a:lnSpc>
              <a:spcBef>
                <a:spcPct val="0"/>
              </a:spcBef>
              <a:spcAft>
                <a:spcPct val="0"/>
              </a:spcAft>
              <a:buNone/>
            </a:pPr>
            <a:endParaRPr lang="en-US" altLang="en-US" sz="1800" dirty="0">
              <a:latin typeface="Times New Roman" panose="02020603050405020304" pitchFamily="18" charset="0"/>
              <a:cs typeface="Times New Roman" panose="02020603050405020304" pitchFamily="18" charset="0"/>
            </a:endParaRPr>
          </a:p>
          <a:p>
            <a:pPr marL="0" indent="0" eaLnBrk="0" fontAlgn="base" hangingPunct="0">
              <a:lnSpc>
                <a:spcPct val="100000"/>
              </a:lnSpc>
              <a:spcBef>
                <a:spcPct val="0"/>
              </a:spcBef>
              <a:spcAft>
                <a:spcPct val="0"/>
              </a:spcAft>
              <a:buNone/>
            </a:pPr>
            <a:endParaRPr lang="en-US" altLang="en-US" sz="1800" dirty="0">
              <a:latin typeface="Arial" panose="020B0604020202020204" pitchFamily="34" charset="0"/>
            </a:endParaRPr>
          </a:p>
        </p:txBody>
      </p:sp>
    </p:spTree>
    <p:extLst>
      <p:ext uri="{BB962C8B-B14F-4D97-AF65-F5344CB8AC3E}">
        <p14:creationId xmlns:p14="http://schemas.microsoft.com/office/powerpoint/2010/main" val="234801255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Variable Type Conversion &amp; Operations</a:t>
            </a:r>
            <a:endParaRPr lang="en-GB" dirty="0"/>
          </a:p>
        </p:txBody>
      </p:sp>
      <p:sp>
        <p:nvSpPr>
          <p:cNvPr id="3" name="Content Placeholder 2"/>
          <p:cNvSpPr>
            <a:spLocks noGrp="1"/>
          </p:cNvSpPr>
          <p:nvPr>
            <p:ph idx="1"/>
          </p:nvPr>
        </p:nvSpPr>
        <p:spPr/>
        <p:txBody>
          <a:bodyPr>
            <a:normAutofit/>
          </a:bodyPr>
          <a:lstStyle/>
          <a:p>
            <a:pPr marL="0" indent="0">
              <a:buNone/>
            </a:pPr>
            <a:r>
              <a:rPr lang="en-US" dirty="0">
                <a:solidFill>
                  <a:srgbClr val="FF0000"/>
                </a:solidFill>
              </a:rPr>
              <a:t>String(number):</a:t>
            </a:r>
            <a:r>
              <a:rPr lang="en-US" dirty="0"/>
              <a:t> This will convert number into string.</a:t>
            </a:r>
          </a:p>
          <a:p>
            <a:pPr marL="0" indent="0">
              <a:buNone/>
            </a:pPr>
            <a:r>
              <a:rPr lang="en-US" dirty="0">
                <a:solidFill>
                  <a:srgbClr val="FF0000"/>
                </a:solidFill>
              </a:rPr>
              <a:t>Number(string):</a:t>
            </a:r>
            <a:r>
              <a:rPr lang="en-US" dirty="0"/>
              <a:t> This will convert string into number.</a:t>
            </a:r>
          </a:p>
          <a:p>
            <a:pPr marL="0" indent="0">
              <a:buNone/>
            </a:pPr>
            <a:r>
              <a:rPr lang="en-US" dirty="0">
                <a:solidFill>
                  <a:srgbClr val="FF0000"/>
                </a:solidFill>
              </a:rPr>
              <a:t>Boolean(number):</a:t>
            </a:r>
            <a:r>
              <a:rPr lang="en-US" dirty="0"/>
              <a:t> This will return true.</a:t>
            </a:r>
          </a:p>
          <a:p>
            <a:pPr marL="0" indent="0">
              <a:buNone/>
            </a:pPr>
            <a:r>
              <a:rPr lang="en-US" dirty="0">
                <a:solidFill>
                  <a:srgbClr val="FF0000"/>
                </a:solidFill>
              </a:rPr>
              <a:t>Boolean(!number):</a:t>
            </a:r>
            <a:r>
              <a:rPr lang="en-US" dirty="0"/>
              <a:t> This will return false.</a:t>
            </a:r>
          </a:p>
          <a:p>
            <a:pPr marL="0" indent="0">
              <a:buNone/>
            </a:pPr>
            <a:r>
              <a:rPr lang="en-US" dirty="0"/>
              <a:t>JavaScript use triple equal sign for comparison as </a:t>
            </a:r>
            <a:r>
              <a:rPr lang="en-US" dirty="0">
                <a:solidFill>
                  <a:srgbClr val="FF0000"/>
                </a:solidFill>
              </a:rPr>
              <a:t>a===b</a:t>
            </a:r>
            <a:r>
              <a:rPr lang="en-US" dirty="0"/>
              <a:t> and </a:t>
            </a:r>
            <a:r>
              <a:rPr lang="en-US" dirty="0">
                <a:solidFill>
                  <a:srgbClr val="FF0000"/>
                </a:solidFill>
              </a:rPr>
              <a:t>a!==b</a:t>
            </a:r>
            <a:r>
              <a:rPr lang="en-US" dirty="0"/>
              <a:t> for not equal.</a:t>
            </a:r>
          </a:p>
          <a:p>
            <a:pPr marL="0" indent="0">
              <a:buNone/>
            </a:pPr>
            <a:endParaRPr lang="en-US" dirty="0"/>
          </a:p>
        </p:txBody>
      </p:sp>
      <p:sp>
        <p:nvSpPr>
          <p:cNvPr id="4" name="Footer Placeholder 3"/>
          <p:cNvSpPr>
            <a:spLocks noGrp="1"/>
          </p:cNvSpPr>
          <p:nvPr>
            <p:ph type="ftr" sz="quarter" idx="11"/>
          </p:nvPr>
        </p:nvSpPr>
        <p:spPr/>
        <p:txBody>
          <a:bodyPr/>
          <a:lstStyle/>
          <a:p>
            <a:r>
              <a:rPr lang="en-US"/>
              <a:t>IT Industry-Academia Bridge Program</a:t>
            </a:r>
          </a:p>
        </p:txBody>
      </p:sp>
    </p:spTree>
    <p:extLst>
      <p:ext uri="{BB962C8B-B14F-4D97-AF65-F5344CB8AC3E}">
        <p14:creationId xmlns:p14="http://schemas.microsoft.com/office/powerpoint/2010/main" val="42023855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Alerts and prompts and confirm</a:t>
            </a:r>
          </a:p>
        </p:txBody>
      </p:sp>
      <p:sp>
        <p:nvSpPr>
          <p:cNvPr id="3" name="Content Placeholder 2"/>
          <p:cNvSpPr>
            <a:spLocks noGrp="1"/>
          </p:cNvSpPr>
          <p:nvPr>
            <p:ph idx="1"/>
          </p:nvPr>
        </p:nvSpPr>
        <p:spPr/>
        <p:txBody>
          <a:bodyPr>
            <a:normAutofit/>
          </a:bodyPr>
          <a:lstStyle/>
          <a:p>
            <a:r>
              <a:rPr lang="en-US" b="1" dirty="0">
                <a:latin typeface="Times New Roman" panose="02020603050405020304" pitchFamily="18" charset="0"/>
                <a:cs typeface="Times New Roman" panose="02020603050405020304" pitchFamily="18" charset="0"/>
              </a:rPr>
              <a:t>Alert </a:t>
            </a:r>
          </a:p>
          <a:p>
            <a:pPr marL="457200" lvl="1" indent="0">
              <a:buNone/>
            </a:pPr>
            <a:r>
              <a:rPr lang="en-US" dirty="0">
                <a:latin typeface="Times New Roman" panose="02020603050405020304" pitchFamily="18" charset="0"/>
                <a:cs typeface="Times New Roman" panose="02020603050405020304" pitchFamily="18" charset="0"/>
              </a:rPr>
              <a:t>Shows only text on screen</a:t>
            </a:r>
          </a:p>
          <a:p>
            <a:r>
              <a:rPr lang="en-US" b="1" dirty="0">
                <a:latin typeface="Times New Roman" panose="02020603050405020304" pitchFamily="18" charset="0"/>
                <a:cs typeface="Times New Roman" panose="02020603050405020304" pitchFamily="18" charset="0"/>
              </a:rPr>
              <a:t>prompt </a:t>
            </a:r>
          </a:p>
          <a:p>
            <a:pPr marL="400050" lvl="1" indent="0">
              <a:buNone/>
            </a:pPr>
            <a:r>
              <a:rPr lang="en-US" dirty="0">
                <a:latin typeface="Times New Roman" panose="02020603050405020304" pitchFamily="18" charset="0"/>
                <a:cs typeface="Times New Roman" panose="02020603050405020304" pitchFamily="18" charset="0"/>
              </a:rPr>
              <a:t>shows a message asking the user to input text. It 	returns the text. </a:t>
            </a:r>
          </a:p>
          <a:p>
            <a:r>
              <a:rPr lang="en-US" b="1" dirty="0">
                <a:latin typeface="Times New Roman" panose="02020603050405020304" pitchFamily="18" charset="0"/>
                <a:cs typeface="Times New Roman" panose="02020603050405020304" pitchFamily="18" charset="0"/>
              </a:rPr>
              <a:t>confirm </a:t>
            </a:r>
          </a:p>
          <a:p>
            <a:pPr marL="400050" lvl="1" indent="0">
              <a:buNone/>
            </a:pPr>
            <a:r>
              <a:rPr lang="en-US" dirty="0">
                <a:latin typeface="Times New Roman" panose="02020603050405020304" pitchFamily="18" charset="0"/>
                <a:cs typeface="Times New Roman" panose="02020603050405020304" pitchFamily="18" charset="0"/>
              </a:rPr>
              <a:t>shows a message and waits for the user to press</a:t>
            </a:r>
          </a:p>
          <a:p>
            <a:pPr marL="0" indent="0">
              <a:buNone/>
            </a:pPr>
            <a:endParaRPr lang="en-US"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06479691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Alerts and prompts and confirm Examples</a:t>
            </a:r>
          </a:p>
        </p:txBody>
      </p:sp>
      <p:sp>
        <p:nvSpPr>
          <p:cNvPr id="3" name="Content Placeholder 2"/>
          <p:cNvSpPr>
            <a:spLocks noGrp="1"/>
          </p:cNvSpPr>
          <p:nvPr>
            <p:ph idx="1"/>
          </p:nvPr>
        </p:nvSpPr>
        <p:spPr>
          <a:xfrm>
            <a:off x="1981200" y="1524001"/>
            <a:ext cx="8229600" cy="4525963"/>
          </a:xfrm>
        </p:spPr>
        <p:txBody>
          <a:bodyPr>
            <a:normAutofit/>
          </a:bodyPr>
          <a:lstStyle/>
          <a:p>
            <a:r>
              <a:rPr lang="en-US" b="1" dirty="0">
                <a:latin typeface="Times New Roman" panose="02020603050405020304" pitchFamily="18" charset="0"/>
                <a:cs typeface="Times New Roman" panose="02020603050405020304" pitchFamily="18" charset="0"/>
              </a:rPr>
              <a:t>Alert</a:t>
            </a:r>
          </a:p>
          <a:p>
            <a:pPr lvl="1"/>
            <a:r>
              <a:rPr lang="en-US" dirty="0"/>
              <a:t>alert("Hello");</a:t>
            </a:r>
            <a:endParaRPr lang="en-US" b="1" dirty="0">
              <a:latin typeface="Times New Roman" panose="02020603050405020304" pitchFamily="18" charset="0"/>
              <a:cs typeface="Times New Roman" panose="02020603050405020304" pitchFamily="18" charset="0"/>
            </a:endParaRPr>
          </a:p>
          <a:p>
            <a:r>
              <a:rPr lang="en-US" b="1" dirty="0">
                <a:latin typeface="Times New Roman" panose="02020603050405020304" pitchFamily="18" charset="0"/>
                <a:cs typeface="Times New Roman" panose="02020603050405020304" pitchFamily="18" charset="0"/>
              </a:rPr>
              <a:t>prompt </a:t>
            </a:r>
            <a:endParaRPr lang="en-US" sz="2400" dirty="0">
              <a:latin typeface="Times New Roman" panose="02020603050405020304" pitchFamily="18" charset="0"/>
              <a:cs typeface="Times New Roman" panose="02020603050405020304" pitchFamily="18" charset="0"/>
            </a:endParaRPr>
          </a:p>
          <a:p>
            <a:pPr lvl="1"/>
            <a:r>
              <a:rPr lang="en-US" dirty="0">
                <a:latin typeface="Times New Roman" panose="02020603050405020304" pitchFamily="18" charset="0"/>
                <a:cs typeface="Times New Roman" panose="02020603050405020304" pitchFamily="18" charset="0"/>
              </a:rPr>
              <a:t>let age = prompt('How old are you?', 100); </a:t>
            </a:r>
          </a:p>
          <a:p>
            <a:pPr lvl="1"/>
            <a:r>
              <a:rPr lang="en-US" dirty="0">
                <a:latin typeface="Times New Roman" panose="02020603050405020304" pitchFamily="18" charset="0"/>
                <a:cs typeface="Times New Roman" panose="02020603050405020304" pitchFamily="18" charset="0"/>
              </a:rPr>
              <a:t>alert(`You are ${age} years old!`);</a:t>
            </a:r>
          </a:p>
          <a:p>
            <a:r>
              <a:rPr lang="en-US" b="1" dirty="0">
                <a:latin typeface="Times New Roman" panose="02020603050405020304" pitchFamily="18" charset="0"/>
                <a:cs typeface="Times New Roman" panose="02020603050405020304" pitchFamily="18" charset="0"/>
              </a:rPr>
              <a:t>Confirm</a:t>
            </a:r>
          </a:p>
          <a:p>
            <a:pPr lvl="1"/>
            <a:r>
              <a:rPr lang="en-US" dirty="0"/>
              <a:t>let </a:t>
            </a:r>
            <a:r>
              <a:rPr lang="en-US" dirty="0" err="1"/>
              <a:t>isBoss</a:t>
            </a:r>
            <a:r>
              <a:rPr lang="en-US" dirty="0"/>
              <a:t> = confirm("Are you the boss?"); </a:t>
            </a:r>
          </a:p>
          <a:p>
            <a:pPr lvl="1"/>
            <a:r>
              <a:rPr lang="en-US" dirty="0"/>
              <a:t>alert( </a:t>
            </a:r>
            <a:r>
              <a:rPr lang="en-US" dirty="0" err="1"/>
              <a:t>isBoss</a:t>
            </a:r>
            <a:r>
              <a:rPr lang="en-US" dirty="0"/>
              <a:t> );</a:t>
            </a:r>
            <a:endParaRPr lang="en-US" b="1"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4132135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E6CCBB5B-FB11-4C67-A16A-B495B03479B0}" type="slidenum">
              <a:rPr lang="en-US" sz="1400">
                <a:solidFill>
                  <a:srgbClr val="FFFFFF"/>
                </a:solidFill>
              </a:rPr>
              <a:pPr algn="r" defTabSz="457200" eaLnBrk="0" fontAlgn="base" hangingPunct="0">
                <a:buClrTx/>
              </a:pPr>
              <a:t>18</a:t>
            </a:fld>
            <a:endParaRPr lang="en-US" sz="1400">
              <a:solidFill>
                <a:srgbClr val="FFFFFF"/>
              </a:solidFill>
            </a:endParaRPr>
          </a:p>
        </p:txBody>
      </p:sp>
      <p:sp>
        <p:nvSpPr>
          <p:cNvPr id="54275"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dirty="0">
                <a:solidFill>
                  <a:srgbClr val="FFFF00"/>
                </a:solidFill>
              </a:rPr>
              <a:t>JavaScript Literals/primitives</a:t>
            </a:r>
          </a:p>
        </p:txBody>
      </p:sp>
      <p:sp>
        <p:nvSpPr>
          <p:cNvPr id="54276" name="Text Box 3"/>
          <p:cNvSpPr txBox="1">
            <a:spLocks noChangeArrowheads="1"/>
          </p:cNvSpPr>
          <p:nvPr/>
        </p:nvSpPr>
        <p:spPr bwMode="auto">
          <a:xfrm>
            <a:off x="1524000" y="1143000"/>
            <a:ext cx="91440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609600" indent="-6096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marL="1371600" indent="-4572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913"/>
              </a:spcBef>
              <a:buClr>
                <a:srgbClr val="FFFFFF"/>
              </a:buClr>
              <a:buFont typeface="Arial" panose="020B0604020202020204" pitchFamily="34" charset="0"/>
              <a:buChar char="•"/>
            </a:pPr>
            <a:r>
              <a:rPr lang="en-US" sz="3600">
                <a:solidFill>
                  <a:srgbClr val="FFFFFF"/>
                </a:solidFill>
              </a:rPr>
              <a:t>A </a:t>
            </a:r>
            <a:r>
              <a:rPr lang="en-US" sz="3600">
                <a:solidFill>
                  <a:srgbClr val="00FF00"/>
                </a:solidFill>
              </a:rPr>
              <a:t>data value that appears directly</a:t>
            </a:r>
            <a:r>
              <a:rPr lang="en-US" sz="3600">
                <a:solidFill>
                  <a:srgbClr val="FFFFFF"/>
                </a:solidFill>
              </a:rPr>
              <a:t> in a statement</a:t>
            </a:r>
          </a:p>
          <a:p>
            <a:pPr defTabSz="457200" eaLnBrk="0" fontAlgn="base" hangingPunct="0">
              <a:spcBef>
                <a:spcPts val="913"/>
              </a:spcBef>
              <a:buClr>
                <a:srgbClr val="FFFFFF"/>
              </a:buClr>
            </a:pPr>
            <a:endParaRPr lang="en-US" sz="3600">
              <a:solidFill>
                <a:srgbClr val="FFFFFF"/>
              </a:solidFill>
            </a:endParaRPr>
          </a:p>
          <a:p>
            <a:pPr defTabSz="457200" eaLnBrk="0" fontAlgn="base" hangingPunct="0">
              <a:spcBef>
                <a:spcPts val="913"/>
              </a:spcBef>
              <a:buClr>
                <a:srgbClr val="FFFFFF"/>
              </a:buClr>
              <a:buFont typeface="Arial" panose="020B0604020202020204" pitchFamily="34" charset="0"/>
              <a:buChar char="•"/>
            </a:pPr>
            <a:r>
              <a:rPr lang="en-US" sz="3600">
                <a:solidFill>
                  <a:srgbClr val="FFFFFF"/>
                </a:solidFill>
              </a:rPr>
              <a:t>Literals can be of several types.  Some of them are:</a:t>
            </a:r>
          </a:p>
          <a:p>
            <a:pPr lvl="2" defTabSz="457200" eaLnBrk="0" fontAlgn="base" hangingPunct="0">
              <a:spcBef>
                <a:spcPts val="813"/>
              </a:spcBef>
              <a:buClr>
                <a:srgbClr val="FFFF00"/>
              </a:buClr>
              <a:buFont typeface="Arial" panose="020B0604020202020204" pitchFamily="34" charset="0"/>
              <a:buAutoNum type="arabicPeriod"/>
            </a:pPr>
            <a:r>
              <a:rPr lang="en-US" sz="3200">
                <a:solidFill>
                  <a:srgbClr val="FFFF00"/>
                </a:solidFill>
              </a:rPr>
              <a:t>Number</a:t>
            </a:r>
          </a:p>
          <a:p>
            <a:pPr lvl="2" defTabSz="457200" eaLnBrk="0" fontAlgn="base" hangingPunct="0">
              <a:spcBef>
                <a:spcPts val="813"/>
              </a:spcBef>
              <a:buClr>
                <a:srgbClr val="FFFF00"/>
              </a:buClr>
              <a:buFont typeface="Arial" panose="020B0604020202020204" pitchFamily="34" charset="0"/>
              <a:buAutoNum type="arabicPeriod"/>
            </a:pPr>
            <a:r>
              <a:rPr lang="en-US" sz="3200">
                <a:solidFill>
                  <a:srgbClr val="FFFF00"/>
                </a:solidFill>
              </a:rPr>
              <a:t>String</a:t>
            </a:r>
          </a:p>
          <a:p>
            <a:pPr lvl="2" defTabSz="457200" eaLnBrk="0" fontAlgn="base" hangingPunct="0">
              <a:spcBef>
                <a:spcPts val="813"/>
              </a:spcBef>
              <a:buClr>
                <a:srgbClr val="FFFF00"/>
              </a:buClr>
              <a:buFont typeface="Arial" panose="020B0604020202020204" pitchFamily="34" charset="0"/>
              <a:buAutoNum type="arabicPeriod"/>
            </a:pPr>
            <a:r>
              <a:rPr lang="en-US" sz="3200">
                <a:solidFill>
                  <a:srgbClr val="FFFF00"/>
                </a:solidFill>
              </a:rPr>
              <a:t>Boolean</a:t>
            </a:r>
          </a:p>
        </p:txBody>
      </p:sp>
    </p:spTree>
    <p:extLst>
      <p:ext uri="{BB962C8B-B14F-4D97-AF65-F5344CB8AC3E}">
        <p14:creationId xmlns:p14="http://schemas.microsoft.com/office/powerpoint/2010/main" val="29393560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22"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97AB03E4-0207-4FB7-B7C1-897B92FDE956}" type="slidenum">
              <a:rPr lang="en-US" sz="1400">
                <a:solidFill>
                  <a:srgbClr val="FFFFFF"/>
                </a:solidFill>
              </a:rPr>
              <a:pPr algn="r" defTabSz="457200" eaLnBrk="0" fontAlgn="base" hangingPunct="0">
                <a:buClrTx/>
              </a:pPr>
              <a:t>19</a:t>
            </a:fld>
            <a:endParaRPr lang="en-US" sz="1400">
              <a:solidFill>
                <a:srgbClr val="FFFFFF"/>
              </a:solidFill>
            </a:endParaRPr>
          </a:p>
        </p:txBody>
      </p:sp>
      <p:sp>
        <p:nvSpPr>
          <p:cNvPr id="56323"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Numeric Literals</a:t>
            </a:r>
          </a:p>
        </p:txBody>
      </p:sp>
      <p:sp>
        <p:nvSpPr>
          <p:cNvPr id="56324" name="Text Box 3"/>
          <p:cNvSpPr txBox="1">
            <a:spLocks noChangeArrowheads="1"/>
          </p:cNvSpPr>
          <p:nvPr/>
        </p:nvSpPr>
        <p:spPr bwMode="auto">
          <a:xfrm>
            <a:off x="1828800" y="1143000"/>
            <a:ext cx="8534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spcBef>
                <a:spcPts val="913"/>
              </a:spcBef>
              <a:buClrTx/>
            </a:pPr>
            <a:r>
              <a:rPr lang="en-US" sz="3600">
                <a:solidFill>
                  <a:srgbClr val="FFFFFF"/>
                </a:solidFill>
              </a:rPr>
              <a:t>24</a:t>
            </a:r>
          </a:p>
          <a:p>
            <a:pPr algn="ctr" defTabSz="457200" eaLnBrk="0" fontAlgn="base" hangingPunct="0">
              <a:spcBef>
                <a:spcPts val="913"/>
              </a:spcBef>
              <a:buClrTx/>
            </a:pPr>
            <a:r>
              <a:rPr lang="en-US" sz="3600">
                <a:solidFill>
                  <a:srgbClr val="FFFFFF"/>
                </a:solidFill>
              </a:rPr>
              <a:t>-230000000000000000</a:t>
            </a:r>
          </a:p>
          <a:p>
            <a:pPr algn="ctr" defTabSz="457200" eaLnBrk="0" fontAlgn="base" hangingPunct="0">
              <a:spcBef>
                <a:spcPts val="913"/>
              </a:spcBef>
              <a:buClrTx/>
            </a:pPr>
            <a:r>
              <a:rPr lang="en-US" sz="3600">
                <a:solidFill>
                  <a:srgbClr val="FFFFFF"/>
                </a:solidFill>
              </a:rPr>
              <a:t>9.80665</a:t>
            </a:r>
          </a:p>
          <a:p>
            <a:pPr algn="ctr" defTabSz="457200" eaLnBrk="0" fontAlgn="base" hangingPunct="0">
              <a:spcBef>
                <a:spcPts val="913"/>
              </a:spcBef>
              <a:buClrTx/>
            </a:pPr>
            <a:r>
              <a:rPr lang="en-US" sz="3600">
                <a:solidFill>
                  <a:srgbClr val="FFFFFF"/>
                </a:solidFill>
              </a:rPr>
              <a:t>1.67e-27</a:t>
            </a:r>
          </a:p>
          <a:p>
            <a:pPr marL="742950" lvl="1" indent="-285750" defTabSz="457200" eaLnBrk="0" fontAlgn="base" hangingPunct="0">
              <a:spcBef>
                <a:spcPts val="813"/>
              </a:spcBef>
              <a:buClrTx/>
            </a:pPr>
            <a:endParaRPr lang="en-US" sz="3200">
              <a:solidFill>
                <a:srgbClr val="FFFFFF"/>
              </a:solidFill>
            </a:endParaRPr>
          </a:p>
          <a:p>
            <a:pPr defTabSz="457200" eaLnBrk="0" fontAlgn="base" hangingPunct="0">
              <a:spcBef>
                <a:spcPts val="913"/>
              </a:spcBef>
              <a:buClrTx/>
            </a:pPr>
            <a:endParaRPr lang="en-US" sz="3600">
              <a:solidFill>
                <a:srgbClr val="FFFFFF"/>
              </a:solidFill>
            </a:endParaRPr>
          </a:p>
          <a:p>
            <a:pPr algn="ctr" defTabSz="457200" eaLnBrk="0" fontAlgn="base" hangingPunct="0">
              <a:spcBef>
                <a:spcPts val="913"/>
              </a:spcBef>
              <a:buClrTx/>
            </a:pPr>
            <a:r>
              <a:rPr lang="en-US" sz="3600" i="1">
                <a:solidFill>
                  <a:srgbClr val="FFFFFF"/>
                </a:solidFill>
              </a:rPr>
              <a:t>JavaScript </a:t>
            </a:r>
            <a:r>
              <a:rPr lang="en-US" sz="3600" i="1">
                <a:solidFill>
                  <a:srgbClr val="00FF00"/>
                </a:solidFill>
              </a:rPr>
              <a:t>stores</a:t>
            </a:r>
            <a:r>
              <a:rPr lang="en-US" sz="3600" i="1">
                <a:solidFill>
                  <a:srgbClr val="FFFFFF"/>
                </a:solidFill>
              </a:rPr>
              <a:t> all numbers, even integers, as floating-point numbers</a:t>
            </a:r>
          </a:p>
          <a:p>
            <a:pPr marL="742950" lvl="1" indent="-285750" defTabSz="457200" eaLnBrk="0" fontAlgn="base" hangingPunct="0">
              <a:spcBef>
                <a:spcPts val="813"/>
              </a:spcBef>
              <a:buClrTx/>
            </a:pPr>
            <a:r>
              <a:rPr lang="en-US" sz="3200">
                <a:solidFill>
                  <a:srgbClr val="FFFFFF"/>
                </a:solidFill>
              </a:rPr>
              <a:t>	</a:t>
            </a:r>
          </a:p>
        </p:txBody>
      </p:sp>
    </p:spTree>
    <p:extLst>
      <p:ext uri="{BB962C8B-B14F-4D97-AF65-F5344CB8AC3E}">
        <p14:creationId xmlns:p14="http://schemas.microsoft.com/office/powerpoint/2010/main" val="132947433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8370"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DC6BD8A6-2A60-4ECF-9F44-646EC88E7051}" type="slidenum">
              <a:rPr lang="en-US" sz="1400">
                <a:solidFill>
                  <a:srgbClr val="FFFFFF"/>
                </a:solidFill>
              </a:rPr>
              <a:pPr algn="r" defTabSz="457200" eaLnBrk="0" fontAlgn="base" hangingPunct="0">
                <a:buClrTx/>
              </a:pPr>
              <a:t>20</a:t>
            </a:fld>
            <a:endParaRPr lang="en-US" sz="1400">
              <a:solidFill>
                <a:srgbClr val="FFFFFF"/>
              </a:solidFill>
            </a:endParaRPr>
          </a:p>
        </p:txBody>
      </p:sp>
      <p:sp>
        <p:nvSpPr>
          <p:cNvPr id="58371"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String Literals</a:t>
            </a:r>
          </a:p>
        </p:txBody>
      </p:sp>
      <p:sp>
        <p:nvSpPr>
          <p:cNvPr id="58372" name="Text Box 3"/>
          <p:cNvSpPr txBox="1">
            <a:spLocks noChangeArrowheads="1"/>
          </p:cNvSpPr>
          <p:nvPr/>
        </p:nvSpPr>
        <p:spPr bwMode="auto">
          <a:xfrm>
            <a:off x="1828800" y="1143000"/>
            <a:ext cx="8534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spcBef>
                <a:spcPts val="913"/>
              </a:spcBef>
              <a:buClrTx/>
            </a:pPr>
            <a:r>
              <a:rPr lang="en-US" sz="3600">
                <a:solidFill>
                  <a:srgbClr val="FFFFFF"/>
                </a:solidFill>
              </a:rPr>
              <a:t>“”</a:t>
            </a:r>
          </a:p>
          <a:p>
            <a:pPr algn="ctr" defTabSz="457200" eaLnBrk="0" fontAlgn="base" hangingPunct="0">
              <a:spcBef>
                <a:spcPts val="913"/>
              </a:spcBef>
              <a:buClrTx/>
            </a:pPr>
            <a:r>
              <a:rPr lang="en-US" sz="3600">
                <a:solidFill>
                  <a:srgbClr val="FFFFFF"/>
                </a:solidFill>
              </a:rPr>
              <a:t>‘’</a:t>
            </a:r>
          </a:p>
          <a:p>
            <a:pPr algn="ctr" defTabSz="457200" eaLnBrk="0" fontAlgn="base" hangingPunct="0">
              <a:spcBef>
                <a:spcPts val="913"/>
              </a:spcBef>
              <a:buClrTx/>
            </a:pPr>
            <a:r>
              <a:rPr lang="en-US" sz="3600">
                <a:solidFill>
                  <a:srgbClr val="FFFFFF"/>
                </a:solidFill>
              </a:rPr>
              <a:t>‘Bhola’</a:t>
            </a:r>
          </a:p>
          <a:p>
            <a:pPr algn="ctr" defTabSz="457200" eaLnBrk="0" fontAlgn="base" hangingPunct="0">
              <a:spcBef>
                <a:spcPts val="913"/>
              </a:spcBef>
              <a:buClrTx/>
            </a:pPr>
            <a:r>
              <a:rPr lang="en-US" sz="3600">
                <a:solidFill>
                  <a:srgbClr val="FFFFFF"/>
                </a:solidFill>
              </a:rPr>
              <a:t>“Where is the Bhola Continental Hotel?”</a:t>
            </a:r>
          </a:p>
          <a:p>
            <a:pPr algn="ctr" defTabSz="457200" eaLnBrk="0" fontAlgn="base" hangingPunct="0">
              <a:spcBef>
                <a:spcPts val="913"/>
              </a:spcBef>
              <a:buClrTx/>
            </a:pPr>
            <a:endParaRPr lang="en-US" sz="3600">
              <a:solidFill>
                <a:srgbClr val="FFFFFF"/>
              </a:solidFill>
            </a:endParaRPr>
          </a:p>
          <a:p>
            <a:pPr algn="ctr" defTabSz="457200" eaLnBrk="0" fontAlgn="base" hangingPunct="0">
              <a:spcBef>
                <a:spcPts val="913"/>
              </a:spcBef>
              <a:buClrTx/>
            </a:pPr>
            <a:endParaRPr lang="en-US" sz="3600">
              <a:solidFill>
                <a:srgbClr val="FFFFFF"/>
              </a:solidFill>
            </a:endParaRPr>
          </a:p>
          <a:p>
            <a:pPr algn="ctr" defTabSz="457200" eaLnBrk="0" fontAlgn="base" hangingPunct="0">
              <a:spcBef>
                <a:spcPts val="913"/>
              </a:spcBef>
              <a:buClrTx/>
            </a:pPr>
            <a:r>
              <a:rPr lang="en-US" sz="3600" i="1">
                <a:solidFill>
                  <a:srgbClr val="FFFFFF"/>
                </a:solidFill>
              </a:rPr>
              <a:t>String literals are always </a:t>
            </a:r>
            <a:r>
              <a:rPr lang="en-US" sz="3600" i="1">
                <a:solidFill>
                  <a:srgbClr val="00FF00"/>
                </a:solidFill>
              </a:rPr>
              <a:t>enclosed</a:t>
            </a:r>
            <a:r>
              <a:rPr lang="en-US" sz="3600" i="1">
                <a:solidFill>
                  <a:srgbClr val="FFFFFF"/>
                </a:solidFill>
              </a:rPr>
              <a:t> in a </a:t>
            </a:r>
            <a:r>
              <a:rPr lang="en-US" sz="3600" i="1">
                <a:solidFill>
                  <a:srgbClr val="00FF00"/>
                </a:solidFill>
              </a:rPr>
              <a:t>matching pair</a:t>
            </a:r>
            <a:r>
              <a:rPr lang="en-US" sz="3600" i="1">
                <a:solidFill>
                  <a:srgbClr val="FFFFFF"/>
                </a:solidFill>
              </a:rPr>
              <a:t> of single or double </a:t>
            </a:r>
            <a:r>
              <a:rPr lang="en-US" sz="3600" i="1">
                <a:solidFill>
                  <a:srgbClr val="00FF00"/>
                </a:solidFill>
              </a:rPr>
              <a:t>quotes</a:t>
            </a:r>
          </a:p>
        </p:txBody>
      </p:sp>
    </p:spTree>
    <p:extLst>
      <p:ext uri="{BB962C8B-B14F-4D97-AF65-F5344CB8AC3E}">
        <p14:creationId xmlns:p14="http://schemas.microsoft.com/office/powerpoint/2010/main" val="1274708293"/>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041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90AD6B81-291E-4A33-B099-1688BEE934AD}" type="slidenum">
              <a:rPr lang="en-US" sz="1400">
                <a:solidFill>
                  <a:srgbClr val="FFFFFF"/>
                </a:solidFill>
              </a:rPr>
              <a:pPr algn="r" defTabSz="457200" eaLnBrk="0" fontAlgn="base" hangingPunct="0">
                <a:buClrTx/>
              </a:pPr>
              <a:t>21</a:t>
            </a:fld>
            <a:endParaRPr lang="en-US" sz="1400">
              <a:solidFill>
                <a:srgbClr val="FFFFFF"/>
              </a:solidFill>
            </a:endParaRPr>
          </a:p>
        </p:txBody>
      </p:sp>
      <p:sp>
        <p:nvSpPr>
          <p:cNvPr id="60419"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Boolean Literals</a:t>
            </a:r>
          </a:p>
        </p:txBody>
      </p:sp>
      <p:sp>
        <p:nvSpPr>
          <p:cNvPr id="60420" name="Text Box 3"/>
          <p:cNvSpPr txBox="1">
            <a:spLocks noChangeArrowheads="1"/>
          </p:cNvSpPr>
          <p:nvPr/>
        </p:nvSpPr>
        <p:spPr bwMode="auto">
          <a:xfrm>
            <a:off x="1524000" y="1143000"/>
            <a:ext cx="91440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spcBef>
                <a:spcPts val="913"/>
              </a:spcBef>
              <a:buClrTx/>
            </a:pPr>
            <a:r>
              <a:rPr lang="en-US" sz="3600">
                <a:solidFill>
                  <a:srgbClr val="FFFFFF"/>
                </a:solidFill>
              </a:rPr>
              <a:t>true</a:t>
            </a:r>
          </a:p>
          <a:p>
            <a:pPr algn="ctr" defTabSz="457200" eaLnBrk="0" fontAlgn="base" hangingPunct="0">
              <a:spcBef>
                <a:spcPts val="913"/>
              </a:spcBef>
              <a:buClrTx/>
            </a:pPr>
            <a:r>
              <a:rPr lang="en-US" sz="3600">
                <a:solidFill>
                  <a:srgbClr val="FFFFFF"/>
                </a:solidFill>
              </a:rPr>
              <a:t>false</a:t>
            </a:r>
          </a:p>
          <a:p>
            <a:pPr algn="ctr" defTabSz="457200" eaLnBrk="0" fontAlgn="base" hangingPunct="0">
              <a:spcBef>
                <a:spcPts val="913"/>
              </a:spcBef>
              <a:buClrTx/>
            </a:pPr>
            <a:endParaRPr lang="en-US" sz="3600">
              <a:solidFill>
                <a:srgbClr val="FFFFFF"/>
              </a:solidFill>
            </a:endParaRPr>
          </a:p>
          <a:p>
            <a:pPr algn="ctr" defTabSz="457200" eaLnBrk="0" fontAlgn="base" hangingPunct="0">
              <a:spcBef>
                <a:spcPts val="913"/>
              </a:spcBef>
              <a:buClrTx/>
            </a:pPr>
            <a:endParaRPr lang="en-US" sz="3600">
              <a:solidFill>
                <a:srgbClr val="FFFFFF"/>
              </a:solidFill>
            </a:endParaRPr>
          </a:p>
          <a:p>
            <a:pPr algn="ctr" defTabSz="457200" eaLnBrk="0" fontAlgn="base" hangingPunct="0">
              <a:spcBef>
                <a:spcPts val="913"/>
              </a:spcBef>
              <a:buClrTx/>
            </a:pPr>
            <a:r>
              <a:rPr lang="en-US" sz="3600">
                <a:solidFill>
                  <a:srgbClr val="FF66FF"/>
                </a:solidFill>
              </a:rPr>
              <a:t>if ( </a:t>
            </a:r>
            <a:r>
              <a:rPr lang="en-US" sz="3600">
                <a:solidFill>
                  <a:srgbClr val="FFFFFF"/>
                </a:solidFill>
              </a:rPr>
              <a:t>tankFull</a:t>
            </a:r>
            <a:r>
              <a:rPr lang="en-US" sz="3600">
                <a:solidFill>
                  <a:srgbClr val="FF66FF"/>
                </a:solidFill>
              </a:rPr>
              <a:t> == false)</a:t>
            </a:r>
          </a:p>
          <a:p>
            <a:pPr algn="ctr" defTabSz="457200" eaLnBrk="0" fontAlgn="base" hangingPunct="0">
              <a:spcBef>
                <a:spcPts val="913"/>
              </a:spcBef>
              <a:buClrTx/>
            </a:pPr>
            <a:r>
              <a:rPr lang="en-US" sz="3600">
                <a:solidFill>
                  <a:srgbClr val="FF66FF"/>
                </a:solidFill>
              </a:rPr>
              <a:t>		</a:t>
            </a:r>
            <a:r>
              <a:rPr lang="en-US" sz="3600">
                <a:solidFill>
                  <a:srgbClr val="FFFFFF"/>
                </a:solidFill>
              </a:rPr>
              <a:t>addMoreWater</a:t>
            </a:r>
            <a:r>
              <a:rPr lang="en-US" sz="3600">
                <a:solidFill>
                  <a:srgbClr val="FF66FF"/>
                </a:solidFill>
              </a:rPr>
              <a:t> = true</a:t>
            </a:r>
          </a:p>
          <a:p>
            <a:pPr algn="ctr" defTabSz="457200" eaLnBrk="0" fontAlgn="base" hangingPunct="0">
              <a:spcBef>
                <a:spcPts val="913"/>
              </a:spcBef>
              <a:buClrTx/>
            </a:pPr>
            <a:endParaRPr lang="en-US" sz="3600">
              <a:solidFill>
                <a:srgbClr val="FF66FF"/>
              </a:solidFill>
            </a:endParaRPr>
          </a:p>
        </p:txBody>
      </p:sp>
    </p:spTree>
    <p:extLst>
      <p:ext uri="{BB962C8B-B14F-4D97-AF65-F5344CB8AC3E}">
        <p14:creationId xmlns:p14="http://schemas.microsoft.com/office/powerpoint/2010/main" val="180573602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66"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FF395D38-E5CC-4845-BD5D-7E400D2A8C26}" type="slidenum">
              <a:rPr lang="en-US" sz="1400">
                <a:solidFill>
                  <a:srgbClr val="FFFFFF"/>
                </a:solidFill>
              </a:rPr>
              <a:pPr algn="r" defTabSz="457200" eaLnBrk="0" fontAlgn="base" hangingPunct="0">
                <a:buClrTx/>
              </a:pPr>
              <a:t>22</a:t>
            </a:fld>
            <a:endParaRPr lang="en-US" sz="1400">
              <a:solidFill>
                <a:srgbClr val="FFFFFF"/>
              </a:solidFill>
            </a:endParaRPr>
          </a:p>
        </p:txBody>
      </p:sp>
      <p:sp>
        <p:nvSpPr>
          <p:cNvPr id="62467"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JavaScript Operators</a:t>
            </a:r>
          </a:p>
        </p:txBody>
      </p:sp>
      <p:sp>
        <p:nvSpPr>
          <p:cNvPr id="62468" name="Text Box 3"/>
          <p:cNvSpPr txBox="1">
            <a:spLocks noChangeArrowheads="1"/>
          </p:cNvSpPr>
          <p:nvPr/>
        </p:nvSpPr>
        <p:spPr bwMode="auto">
          <a:xfrm>
            <a:off x="1524000" y="838200"/>
            <a:ext cx="9144000" cy="6019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lnSpc>
                <a:spcPct val="90000"/>
              </a:lnSpc>
              <a:spcBef>
                <a:spcPts val="813"/>
              </a:spcBef>
              <a:buClr>
                <a:srgbClr val="FFFFFF"/>
              </a:buClr>
              <a:buFont typeface="Arial" panose="020B0604020202020204" pitchFamily="34" charset="0"/>
              <a:buChar char="•"/>
            </a:pPr>
            <a:r>
              <a:rPr lang="en-US" sz="3200">
                <a:solidFill>
                  <a:srgbClr val="FFFFFF"/>
                </a:solidFill>
              </a:rPr>
              <a:t>Operators </a:t>
            </a:r>
            <a:r>
              <a:rPr lang="en-US" sz="3200">
                <a:solidFill>
                  <a:srgbClr val="00FF00"/>
                </a:solidFill>
              </a:rPr>
              <a:t>operate</a:t>
            </a:r>
            <a:r>
              <a:rPr lang="en-US" sz="3200">
                <a:solidFill>
                  <a:srgbClr val="FFFFFF"/>
                </a:solidFill>
              </a:rPr>
              <a:t> on </a:t>
            </a:r>
            <a:r>
              <a:rPr lang="en-US" sz="3200">
                <a:solidFill>
                  <a:srgbClr val="00FF00"/>
                </a:solidFill>
              </a:rPr>
              <a:t>operands </a:t>
            </a:r>
            <a:r>
              <a:rPr lang="en-US" sz="3200">
                <a:solidFill>
                  <a:srgbClr val="FFFFFF"/>
                </a:solidFill>
              </a:rPr>
              <a:t>to achieve the desired </a:t>
            </a:r>
            <a:r>
              <a:rPr lang="en-US" sz="3200">
                <a:solidFill>
                  <a:srgbClr val="FFFF00"/>
                </a:solidFill>
              </a:rPr>
              <a:t>results</a:t>
            </a:r>
          </a:p>
          <a:p>
            <a:pPr defTabSz="457200" eaLnBrk="0" fontAlgn="base" hangingPunct="0">
              <a:lnSpc>
                <a:spcPct val="90000"/>
              </a:lnSpc>
              <a:spcBef>
                <a:spcPts val="413"/>
              </a:spcBef>
              <a:buClr>
                <a:srgbClr val="FFFFFF"/>
              </a:buClr>
            </a:pPr>
            <a:endParaRPr lang="en-US" sz="1600">
              <a:solidFill>
                <a:srgbClr val="FFFFFF"/>
              </a:solidFill>
            </a:endParaRPr>
          </a:p>
          <a:p>
            <a:pPr defTabSz="457200" eaLnBrk="0" fontAlgn="base" hangingPunct="0">
              <a:lnSpc>
                <a:spcPct val="90000"/>
              </a:lnSpc>
              <a:spcBef>
                <a:spcPts val="813"/>
              </a:spcBef>
              <a:buClr>
                <a:srgbClr val="FFFFFF"/>
              </a:buClr>
              <a:buFont typeface="Arial" panose="020B0604020202020204" pitchFamily="34" charset="0"/>
              <a:buChar char="•"/>
            </a:pPr>
            <a:r>
              <a:rPr lang="en-US" sz="3200">
                <a:solidFill>
                  <a:srgbClr val="FFFFFF"/>
                </a:solidFill>
              </a:rPr>
              <a:t>JavaScript has numerous operators, classified in many categories. We will look at only a few of them belonging to the following categories:</a:t>
            </a:r>
          </a:p>
          <a:p>
            <a:pPr marL="742950" lvl="1" indent="-285750" defTabSz="457200" eaLnBrk="0" fontAlgn="base" hangingPunct="0">
              <a:lnSpc>
                <a:spcPct val="90000"/>
              </a:lnSpc>
              <a:spcBef>
                <a:spcPts val="713"/>
              </a:spcBef>
              <a:buClr>
                <a:srgbClr val="00FF00"/>
              </a:buClr>
              <a:buFont typeface="Arial" panose="020B0604020202020204" pitchFamily="34" charset="0"/>
              <a:buChar char="–"/>
            </a:pPr>
            <a:r>
              <a:rPr lang="en-US">
                <a:solidFill>
                  <a:srgbClr val="00FF00"/>
                </a:solidFill>
              </a:rPr>
              <a:t>Assignment</a:t>
            </a:r>
            <a:r>
              <a:rPr lang="en-US">
                <a:solidFill>
                  <a:srgbClr val="FFFFFF"/>
                </a:solidFill>
              </a:rPr>
              <a:t> operators	</a:t>
            </a:r>
          </a:p>
          <a:p>
            <a:pPr marL="742950" lvl="1" indent="-285750" defTabSz="457200" eaLnBrk="0" fontAlgn="base" hangingPunct="0">
              <a:lnSpc>
                <a:spcPct val="90000"/>
              </a:lnSpc>
              <a:spcBef>
                <a:spcPts val="713"/>
              </a:spcBef>
              <a:buClr>
                <a:srgbClr val="00FF00"/>
              </a:buClr>
              <a:buFont typeface="Arial" panose="020B0604020202020204" pitchFamily="34" charset="0"/>
              <a:buChar char="–"/>
            </a:pPr>
            <a:r>
              <a:rPr lang="en-US">
                <a:solidFill>
                  <a:srgbClr val="FFFFFF"/>
                </a:solidFill>
              </a:rPr>
              <a:t> </a:t>
            </a:r>
            <a:r>
              <a:rPr lang="en-US">
                <a:solidFill>
                  <a:srgbClr val="FFFF00"/>
                </a:solidFill>
              </a:rPr>
              <a:t>Arithmetic</a:t>
            </a:r>
            <a:r>
              <a:rPr lang="en-US">
                <a:solidFill>
                  <a:srgbClr val="FFFFFF"/>
                </a:solidFill>
              </a:rPr>
              <a:t> operators</a:t>
            </a:r>
          </a:p>
          <a:p>
            <a:pPr marL="742950" lvl="1" indent="-285750" defTabSz="457200" eaLnBrk="0" fontAlgn="base" hangingPunct="0">
              <a:lnSpc>
                <a:spcPct val="90000"/>
              </a:lnSpc>
              <a:spcBef>
                <a:spcPts val="713"/>
              </a:spcBef>
              <a:buClr>
                <a:srgbClr val="FFFF00"/>
              </a:buClr>
              <a:buFont typeface="Arial" panose="020B0604020202020204" pitchFamily="34" charset="0"/>
              <a:buChar char="–"/>
            </a:pPr>
            <a:r>
              <a:rPr lang="en-US">
                <a:solidFill>
                  <a:srgbClr val="FFFF00"/>
                </a:solidFill>
              </a:rPr>
              <a:t>Comparison</a:t>
            </a:r>
            <a:r>
              <a:rPr lang="en-US">
                <a:solidFill>
                  <a:srgbClr val="FFFFFF"/>
                </a:solidFill>
              </a:rPr>
              <a:t> operators	</a:t>
            </a:r>
          </a:p>
          <a:p>
            <a:pPr marL="742950" lvl="1" indent="-285750" defTabSz="457200" eaLnBrk="0" fontAlgn="base" hangingPunct="0">
              <a:lnSpc>
                <a:spcPct val="90000"/>
              </a:lnSpc>
              <a:spcBef>
                <a:spcPts val="713"/>
              </a:spcBef>
              <a:buClr>
                <a:srgbClr val="FFFF00"/>
              </a:buClr>
              <a:buFont typeface="Arial" panose="020B0604020202020204" pitchFamily="34" charset="0"/>
              <a:buChar char="–"/>
            </a:pPr>
            <a:r>
              <a:rPr lang="en-US">
                <a:solidFill>
                  <a:srgbClr val="00FF00"/>
                </a:solidFill>
              </a:rPr>
              <a:t>String</a:t>
            </a:r>
            <a:r>
              <a:rPr lang="en-US">
                <a:solidFill>
                  <a:srgbClr val="FFFFFF"/>
                </a:solidFill>
              </a:rPr>
              <a:t> operators</a:t>
            </a:r>
          </a:p>
          <a:p>
            <a:pPr marL="742950" lvl="1" indent="-285750" defTabSz="457200" eaLnBrk="0" fontAlgn="base" hangingPunct="0">
              <a:lnSpc>
                <a:spcPct val="90000"/>
              </a:lnSpc>
              <a:spcBef>
                <a:spcPts val="713"/>
              </a:spcBef>
              <a:buClr>
                <a:srgbClr val="00FF00"/>
              </a:buClr>
              <a:buFont typeface="Arial" panose="020B0604020202020204" pitchFamily="34" charset="0"/>
              <a:buChar char="–"/>
            </a:pPr>
            <a:r>
              <a:rPr lang="en-US">
                <a:solidFill>
                  <a:srgbClr val="00FF00"/>
                </a:solidFill>
              </a:rPr>
              <a:t>Logical</a:t>
            </a:r>
            <a:r>
              <a:rPr lang="en-US">
                <a:solidFill>
                  <a:srgbClr val="FFFFFF"/>
                </a:solidFill>
              </a:rPr>
              <a:t> operators</a:t>
            </a:r>
          </a:p>
        </p:txBody>
      </p:sp>
    </p:spTree>
    <p:extLst>
      <p:ext uri="{BB962C8B-B14F-4D97-AF65-F5344CB8AC3E}">
        <p14:creationId xmlns:p14="http://schemas.microsoft.com/office/powerpoint/2010/main" val="3663242479"/>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4514"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DC6C1E2F-DB0D-494B-ADC2-54AC6283443C}" type="slidenum">
              <a:rPr lang="en-US" sz="1400">
                <a:solidFill>
                  <a:srgbClr val="FFFFFF"/>
                </a:solidFill>
              </a:rPr>
              <a:pPr algn="r" defTabSz="457200" eaLnBrk="0" fontAlgn="base" hangingPunct="0">
                <a:buClrTx/>
              </a:pPr>
              <a:t>23</a:t>
            </a:fld>
            <a:endParaRPr lang="en-US" sz="1400">
              <a:solidFill>
                <a:srgbClr val="FFFFFF"/>
              </a:solidFill>
            </a:endParaRPr>
          </a:p>
        </p:txBody>
      </p:sp>
      <p:sp>
        <p:nvSpPr>
          <p:cNvPr id="64515" name="Text Box 2"/>
          <p:cNvSpPr txBox="1">
            <a:spLocks noChangeArrowheads="1"/>
          </p:cNvSpPr>
          <p:nvPr/>
        </p:nvSpPr>
        <p:spPr bwMode="auto">
          <a:xfrm>
            <a:off x="1524000" y="-7620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Assignment Operator “=”</a:t>
            </a:r>
            <a:br>
              <a:rPr lang="en-US" sz="4400">
                <a:solidFill>
                  <a:srgbClr val="FFFF00"/>
                </a:solidFill>
              </a:rPr>
            </a:br>
            <a:r>
              <a:rPr lang="en-US" sz="2300">
                <a:solidFill>
                  <a:srgbClr val="FFFF00"/>
                </a:solidFill>
              </a:rPr>
              <a:t>Changes the value of what is on the LHS, w.r.t. what is on the RHS</a:t>
            </a:r>
          </a:p>
        </p:txBody>
      </p:sp>
      <p:sp>
        <p:nvSpPr>
          <p:cNvPr id="64516" name="Text Box 3"/>
          <p:cNvSpPr txBox="1">
            <a:spLocks noChangeArrowheads="1"/>
          </p:cNvSpPr>
          <p:nvPr/>
        </p:nvSpPr>
        <p:spPr bwMode="auto">
          <a:xfrm>
            <a:off x="2209800" y="1143000"/>
            <a:ext cx="7772400" cy="5105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lnSpc>
                <a:spcPct val="90000"/>
              </a:lnSpc>
              <a:spcBef>
                <a:spcPts val="713"/>
              </a:spcBef>
              <a:buClrTx/>
            </a:pPr>
            <a:endParaRPr lang="en-US">
              <a:solidFill>
                <a:srgbClr val="FFFFFF"/>
              </a:solidFill>
            </a:endParaRPr>
          </a:p>
          <a:p>
            <a:pPr algn="ctr" defTabSz="457200" eaLnBrk="0" fontAlgn="base" hangingPunct="0">
              <a:lnSpc>
                <a:spcPct val="90000"/>
              </a:lnSpc>
              <a:spcBef>
                <a:spcPts val="913"/>
              </a:spcBef>
              <a:buClrTx/>
            </a:pPr>
            <a:r>
              <a:rPr lang="en-US" sz="3600">
                <a:solidFill>
                  <a:srgbClr val="FFFFFF"/>
                </a:solidFill>
              </a:rPr>
              <a:t>total_number_of_students </a:t>
            </a:r>
            <a:r>
              <a:rPr lang="en-US" sz="3600">
                <a:solidFill>
                  <a:srgbClr val="FFFF00"/>
                </a:solidFill>
              </a:rPr>
              <a:t>=</a:t>
            </a:r>
            <a:r>
              <a:rPr lang="en-US" sz="3600">
                <a:solidFill>
                  <a:srgbClr val="FFFFFF"/>
                </a:solidFill>
              </a:rPr>
              <a:t> 984 ;</a:t>
            </a:r>
          </a:p>
          <a:p>
            <a:pPr algn="ctr" defTabSz="457200" eaLnBrk="0" fontAlgn="base" hangingPunct="0">
              <a:lnSpc>
                <a:spcPct val="90000"/>
              </a:lnSpc>
              <a:spcBef>
                <a:spcPts val="913"/>
              </a:spcBef>
              <a:buClrTx/>
            </a:pPr>
            <a:endParaRPr lang="en-US" sz="3600">
              <a:solidFill>
                <a:srgbClr val="FFFFFF"/>
              </a:solidFill>
            </a:endParaRPr>
          </a:p>
          <a:p>
            <a:pPr algn="ctr" defTabSz="457200" eaLnBrk="0" fontAlgn="base" hangingPunct="0">
              <a:lnSpc>
                <a:spcPct val="90000"/>
              </a:lnSpc>
              <a:spcBef>
                <a:spcPts val="913"/>
              </a:spcBef>
              <a:buClrTx/>
            </a:pPr>
            <a:r>
              <a:rPr lang="en-US" sz="3600">
                <a:solidFill>
                  <a:srgbClr val="FFFFFF"/>
                </a:solidFill>
              </a:rPr>
              <a:t>title </a:t>
            </a:r>
            <a:r>
              <a:rPr lang="en-US" sz="3600">
                <a:solidFill>
                  <a:srgbClr val="FFFF00"/>
                </a:solidFill>
              </a:rPr>
              <a:t>=</a:t>
            </a:r>
            <a:r>
              <a:rPr lang="en-US" sz="3600">
                <a:solidFill>
                  <a:srgbClr val="FFFFFF"/>
                </a:solidFill>
              </a:rPr>
              <a:t> “Understanding Computers” ;</a:t>
            </a:r>
          </a:p>
          <a:p>
            <a:pPr algn="ctr" defTabSz="457200" eaLnBrk="0" fontAlgn="base" hangingPunct="0">
              <a:lnSpc>
                <a:spcPct val="90000"/>
              </a:lnSpc>
              <a:spcBef>
                <a:spcPts val="913"/>
              </a:spcBef>
              <a:buClrTx/>
            </a:pPr>
            <a:endParaRPr lang="en-US" sz="3600">
              <a:solidFill>
                <a:srgbClr val="FFFFFF"/>
              </a:solidFill>
            </a:endParaRPr>
          </a:p>
          <a:p>
            <a:pPr algn="ctr" defTabSz="457200" eaLnBrk="0" fontAlgn="base" hangingPunct="0">
              <a:lnSpc>
                <a:spcPct val="90000"/>
              </a:lnSpc>
              <a:spcBef>
                <a:spcPts val="913"/>
              </a:spcBef>
              <a:buClrTx/>
            </a:pPr>
            <a:r>
              <a:rPr lang="en-US" sz="3600">
                <a:solidFill>
                  <a:srgbClr val="FFFFFF"/>
                </a:solidFill>
              </a:rPr>
              <a:t>swapFlag </a:t>
            </a:r>
            <a:r>
              <a:rPr lang="en-US" sz="3600">
                <a:solidFill>
                  <a:srgbClr val="FFFF00"/>
                </a:solidFill>
              </a:rPr>
              <a:t>=</a:t>
            </a:r>
            <a:r>
              <a:rPr lang="en-US" sz="3600">
                <a:solidFill>
                  <a:srgbClr val="FFFFFF"/>
                </a:solidFill>
              </a:rPr>
              <a:t> false ;</a:t>
            </a:r>
          </a:p>
          <a:p>
            <a:pPr algn="ctr" defTabSz="457200" eaLnBrk="0" fontAlgn="base" hangingPunct="0">
              <a:lnSpc>
                <a:spcPct val="90000"/>
              </a:lnSpc>
              <a:spcBef>
                <a:spcPts val="913"/>
              </a:spcBef>
              <a:buClrTx/>
            </a:pPr>
            <a:endParaRPr lang="en-US" sz="3600">
              <a:solidFill>
                <a:srgbClr val="FFFFFF"/>
              </a:solidFill>
            </a:endParaRPr>
          </a:p>
          <a:p>
            <a:pPr algn="ctr" defTabSz="457200" eaLnBrk="0" fontAlgn="base" hangingPunct="0">
              <a:lnSpc>
                <a:spcPct val="90000"/>
              </a:lnSpc>
              <a:spcBef>
                <a:spcPts val="913"/>
              </a:spcBef>
              <a:buClrTx/>
            </a:pPr>
            <a:r>
              <a:rPr lang="en-US" sz="3600">
                <a:solidFill>
                  <a:srgbClr val="FFFFFF"/>
                </a:solidFill>
              </a:rPr>
              <a:t>x </a:t>
            </a:r>
            <a:r>
              <a:rPr lang="en-US" sz="3600">
                <a:solidFill>
                  <a:srgbClr val="FFFF00"/>
                </a:solidFill>
              </a:rPr>
              <a:t>=</a:t>
            </a:r>
            <a:r>
              <a:rPr lang="en-US" sz="3600">
                <a:solidFill>
                  <a:srgbClr val="FFFFFF"/>
                </a:solidFill>
              </a:rPr>
              <a:t> y + 33 ;</a:t>
            </a:r>
          </a:p>
        </p:txBody>
      </p:sp>
    </p:spTree>
    <p:extLst>
      <p:ext uri="{BB962C8B-B14F-4D97-AF65-F5344CB8AC3E}">
        <p14:creationId xmlns:p14="http://schemas.microsoft.com/office/powerpoint/2010/main" val="1782367261"/>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D43D3C32-A6A2-4EA4-9859-3D3DA1E58AE4}" type="slidenum">
              <a:rPr lang="en-US" sz="1400">
                <a:solidFill>
                  <a:srgbClr val="FFFFFF"/>
                </a:solidFill>
              </a:rPr>
              <a:pPr algn="r" defTabSz="457200" eaLnBrk="0" fontAlgn="base" hangingPunct="0">
                <a:buClrTx/>
              </a:pPr>
              <a:t>24</a:t>
            </a:fld>
            <a:endParaRPr lang="en-US" sz="1400">
              <a:solidFill>
                <a:srgbClr val="FFFFFF"/>
              </a:solidFill>
            </a:endParaRPr>
          </a:p>
        </p:txBody>
      </p:sp>
      <p:sp>
        <p:nvSpPr>
          <p:cNvPr id="66563"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Arithmetic Operators</a:t>
            </a:r>
          </a:p>
        </p:txBody>
      </p:sp>
      <p:sp>
        <p:nvSpPr>
          <p:cNvPr id="35843" name="Text Box 3"/>
          <p:cNvSpPr txBox="1">
            <a:spLocks noChangeArrowheads="1"/>
          </p:cNvSpPr>
          <p:nvPr/>
        </p:nvSpPr>
        <p:spPr bwMode="auto">
          <a:xfrm>
            <a:off x="2743200" y="1447800"/>
            <a:ext cx="6781800" cy="5181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4227513"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513"/>
              </a:spcBef>
              <a:spcAft>
                <a:spcPts val="2013"/>
              </a:spcAft>
              <a:buClrTx/>
            </a:pPr>
            <a:r>
              <a:rPr lang="en-US" sz="3600">
                <a:solidFill>
                  <a:srgbClr val="FFFF00"/>
                </a:solidFill>
              </a:rPr>
              <a:t>Multiply</a:t>
            </a:r>
            <a:r>
              <a:rPr lang="en-US" sz="3600">
                <a:solidFill>
                  <a:srgbClr val="FFFFFF"/>
                </a:solidFill>
              </a:rPr>
              <a:t>	2 </a:t>
            </a:r>
            <a:r>
              <a:rPr lang="en-US" sz="3600">
                <a:solidFill>
                  <a:srgbClr val="FFFF00"/>
                </a:solidFill>
              </a:rPr>
              <a:t>*</a:t>
            </a:r>
            <a:r>
              <a:rPr lang="en-US" sz="3600">
                <a:solidFill>
                  <a:srgbClr val="66FF66"/>
                </a:solidFill>
              </a:rPr>
              <a:t> </a:t>
            </a:r>
            <a:r>
              <a:rPr lang="en-US" sz="3600">
                <a:solidFill>
                  <a:srgbClr val="FFFFFF"/>
                </a:solidFill>
              </a:rPr>
              <a:t>4 </a:t>
            </a:r>
            <a:r>
              <a:rPr lang="en-US" sz="3600">
                <a:solidFill>
                  <a:srgbClr val="00FFFF"/>
                </a:solidFill>
              </a:rPr>
              <a:t>→</a:t>
            </a:r>
            <a:r>
              <a:rPr lang="en-US" sz="3600">
                <a:solidFill>
                  <a:srgbClr val="FFFFFF"/>
                </a:solidFill>
              </a:rPr>
              <a:t> 8</a:t>
            </a:r>
          </a:p>
          <a:p>
            <a:pPr defTabSz="457200" eaLnBrk="0" fontAlgn="base" hangingPunct="0">
              <a:spcBef>
                <a:spcPts val="513"/>
              </a:spcBef>
              <a:spcAft>
                <a:spcPts val="2013"/>
              </a:spcAft>
              <a:buClrTx/>
            </a:pPr>
            <a:r>
              <a:rPr lang="en-US" sz="3600">
                <a:solidFill>
                  <a:srgbClr val="FFFF00"/>
                </a:solidFill>
              </a:rPr>
              <a:t>Divide </a:t>
            </a:r>
            <a:r>
              <a:rPr lang="en-US" sz="3600">
                <a:solidFill>
                  <a:srgbClr val="FFFFFF"/>
                </a:solidFill>
              </a:rPr>
              <a:t>	2 </a:t>
            </a:r>
            <a:r>
              <a:rPr lang="en-US" sz="3600">
                <a:solidFill>
                  <a:srgbClr val="FFFF00"/>
                </a:solidFill>
              </a:rPr>
              <a:t>/</a:t>
            </a:r>
            <a:r>
              <a:rPr lang="en-US" sz="3600">
                <a:solidFill>
                  <a:srgbClr val="66FF66"/>
                </a:solidFill>
              </a:rPr>
              <a:t> </a:t>
            </a:r>
            <a:r>
              <a:rPr lang="en-US" sz="3600">
                <a:solidFill>
                  <a:srgbClr val="FFFFFF"/>
                </a:solidFill>
              </a:rPr>
              <a:t>4 </a:t>
            </a:r>
            <a:r>
              <a:rPr lang="en-US" sz="3600">
                <a:solidFill>
                  <a:srgbClr val="00FFFF"/>
                </a:solidFill>
              </a:rPr>
              <a:t>→</a:t>
            </a:r>
            <a:r>
              <a:rPr lang="en-US" sz="3600">
                <a:solidFill>
                  <a:srgbClr val="FFFFFF"/>
                </a:solidFill>
              </a:rPr>
              <a:t> 0.5</a:t>
            </a:r>
          </a:p>
          <a:p>
            <a:pPr defTabSz="457200" eaLnBrk="0" fontAlgn="base" hangingPunct="0">
              <a:spcBef>
                <a:spcPts val="513"/>
              </a:spcBef>
              <a:spcAft>
                <a:spcPts val="2013"/>
              </a:spcAft>
              <a:buClrTx/>
            </a:pPr>
            <a:r>
              <a:rPr lang="en-US" sz="3600">
                <a:solidFill>
                  <a:srgbClr val="FFFF00"/>
                </a:solidFill>
              </a:rPr>
              <a:t>Modulus</a:t>
            </a:r>
            <a:r>
              <a:rPr lang="en-US" sz="3600">
                <a:solidFill>
                  <a:srgbClr val="FFFFFF"/>
                </a:solidFill>
              </a:rPr>
              <a:t>	5 </a:t>
            </a:r>
            <a:r>
              <a:rPr lang="en-US" sz="3600">
                <a:solidFill>
                  <a:srgbClr val="FFFF00"/>
                </a:solidFill>
              </a:rPr>
              <a:t>%</a:t>
            </a:r>
            <a:r>
              <a:rPr lang="en-US" sz="3600">
                <a:solidFill>
                  <a:srgbClr val="FFFFFF"/>
                </a:solidFill>
              </a:rPr>
              <a:t> 2 </a:t>
            </a:r>
            <a:r>
              <a:rPr lang="en-US" sz="3600">
                <a:solidFill>
                  <a:srgbClr val="00FFFF"/>
                </a:solidFill>
              </a:rPr>
              <a:t>→</a:t>
            </a:r>
            <a:r>
              <a:rPr lang="en-US" sz="3600">
                <a:solidFill>
                  <a:srgbClr val="FFFFFF"/>
                </a:solidFill>
              </a:rPr>
              <a:t> 1</a:t>
            </a:r>
          </a:p>
          <a:p>
            <a:pPr defTabSz="457200" eaLnBrk="0" fontAlgn="base" hangingPunct="0">
              <a:spcBef>
                <a:spcPts val="513"/>
              </a:spcBef>
              <a:spcAft>
                <a:spcPts val="2013"/>
              </a:spcAft>
              <a:buClrTx/>
            </a:pPr>
            <a:r>
              <a:rPr lang="en-US" sz="3600">
                <a:solidFill>
                  <a:srgbClr val="FFFF00"/>
                </a:solidFill>
              </a:rPr>
              <a:t>Add</a:t>
            </a:r>
            <a:r>
              <a:rPr lang="en-US" sz="3600">
                <a:solidFill>
                  <a:srgbClr val="FFFFFF"/>
                </a:solidFill>
              </a:rPr>
              <a:t>	2 </a:t>
            </a:r>
            <a:r>
              <a:rPr lang="en-US" sz="3600">
                <a:solidFill>
                  <a:srgbClr val="FFFF00"/>
                </a:solidFill>
              </a:rPr>
              <a:t>+</a:t>
            </a:r>
            <a:r>
              <a:rPr lang="en-US" sz="3600">
                <a:solidFill>
                  <a:srgbClr val="66FF66"/>
                </a:solidFill>
              </a:rPr>
              <a:t> </a:t>
            </a:r>
            <a:r>
              <a:rPr lang="en-US" sz="3600">
                <a:solidFill>
                  <a:srgbClr val="FFFFFF"/>
                </a:solidFill>
              </a:rPr>
              <a:t>4 </a:t>
            </a:r>
            <a:r>
              <a:rPr lang="en-US" sz="3600">
                <a:solidFill>
                  <a:srgbClr val="00FFFF"/>
                </a:solidFill>
              </a:rPr>
              <a:t>→</a:t>
            </a:r>
            <a:r>
              <a:rPr lang="en-US" sz="3600">
                <a:solidFill>
                  <a:srgbClr val="FFFFFF"/>
                </a:solidFill>
              </a:rPr>
              <a:t> 6</a:t>
            </a:r>
          </a:p>
          <a:p>
            <a:pPr defTabSz="457200" eaLnBrk="0" fontAlgn="base" hangingPunct="0">
              <a:spcBef>
                <a:spcPts val="513"/>
              </a:spcBef>
              <a:spcAft>
                <a:spcPts val="2013"/>
              </a:spcAft>
              <a:buClrTx/>
            </a:pPr>
            <a:r>
              <a:rPr lang="en-US" sz="3600">
                <a:solidFill>
                  <a:srgbClr val="FFFF00"/>
                </a:solidFill>
              </a:rPr>
              <a:t>Subtract</a:t>
            </a:r>
            <a:r>
              <a:rPr lang="en-US" sz="3600">
                <a:solidFill>
                  <a:srgbClr val="FFFFFF"/>
                </a:solidFill>
              </a:rPr>
              <a:t>	2 </a:t>
            </a:r>
            <a:r>
              <a:rPr lang="en-US" sz="3600">
                <a:solidFill>
                  <a:srgbClr val="FFFF00"/>
                </a:solidFill>
              </a:rPr>
              <a:t>-</a:t>
            </a:r>
            <a:r>
              <a:rPr lang="en-US" sz="3600">
                <a:solidFill>
                  <a:srgbClr val="66FF66"/>
                </a:solidFill>
              </a:rPr>
              <a:t> </a:t>
            </a:r>
            <a:r>
              <a:rPr lang="en-US" sz="3600">
                <a:solidFill>
                  <a:srgbClr val="FFFFFF"/>
                </a:solidFill>
              </a:rPr>
              <a:t>4 </a:t>
            </a:r>
            <a:r>
              <a:rPr lang="en-US" sz="3600">
                <a:solidFill>
                  <a:srgbClr val="00FFFF"/>
                </a:solidFill>
              </a:rPr>
              <a:t>→</a:t>
            </a:r>
            <a:r>
              <a:rPr lang="en-US" sz="3600">
                <a:solidFill>
                  <a:srgbClr val="FFFFFF"/>
                </a:solidFill>
              </a:rPr>
              <a:t> -2</a:t>
            </a:r>
          </a:p>
          <a:p>
            <a:pPr defTabSz="457200" eaLnBrk="0" fontAlgn="base" hangingPunct="0">
              <a:spcBef>
                <a:spcPts val="513"/>
              </a:spcBef>
              <a:spcAft>
                <a:spcPts val="2013"/>
              </a:spcAft>
              <a:buClrTx/>
            </a:pPr>
            <a:r>
              <a:rPr lang="en-US" sz="3600">
                <a:solidFill>
                  <a:srgbClr val="FFFF00"/>
                </a:solidFill>
              </a:rPr>
              <a:t>Negate</a:t>
            </a:r>
            <a:r>
              <a:rPr lang="en-US" sz="3600">
                <a:solidFill>
                  <a:srgbClr val="FFFFFF"/>
                </a:solidFill>
              </a:rPr>
              <a:t>	</a:t>
            </a:r>
            <a:r>
              <a:rPr lang="en-US" sz="3600">
                <a:solidFill>
                  <a:srgbClr val="FFFF00"/>
                </a:solidFill>
              </a:rPr>
              <a:t>-</a:t>
            </a:r>
            <a:r>
              <a:rPr lang="en-US" sz="3600">
                <a:solidFill>
                  <a:srgbClr val="FF66FF"/>
                </a:solidFill>
              </a:rPr>
              <a:t>(</a:t>
            </a:r>
            <a:r>
              <a:rPr lang="en-US" sz="3600">
                <a:solidFill>
                  <a:srgbClr val="FFFFFF"/>
                </a:solidFill>
              </a:rPr>
              <a:t>5</a:t>
            </a:r>
            <a:r>
              <a:rPr lang="en-US" sz="3600">
                <a:solidFill>
                  <a:srgbClr val="FF66FF"/>
                </a:solidFill>
              </a:rPr>
              <a:t>)</a:t>
            </a:r>
            <a:r>
              <a:rPr lang="en-US" sz="3600">
                <a:solidFill>
                  <a:srgbClr val="FFFFFF"/>
                </a:solidFill>
              </a:rPr>
              <a:t> </a:t>
            </a:r>
            <a:r>
              <a:rPr lang="en-US" sz="3600">
                <a:solidFill>
                  <a:srgbClr val="00FFFF"/>
                </a:solidFill>
              </a:rPr>
              <a:t>→</a:t>
            </a:r>
            <a:r>
              <a:rPr lang="en-US" sz="3600">
                <a:solidFill>
                  <a:srgbClr val="FFFFFF"/>
                </a:solidFill>
              </a:rPr>
              <a:t> -5</a:t>
            </a:r>
          </a:p>
        </p:txBody>
      </p:sp>
    </p:spTree>
    <p:extLst>
      <p:ext uri="{BB962C8B-B14F-4D97-AF65-F5344CB8AC3E}">
        <p14:creationId xmlns:p14="http://schemas.microsoft.com/office/powerpoint/2010/main" val="3147437933"/>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0"/>
                      </p:stCondLst>
                      <p:childTnLst>
                        <p:par>
                          <p:cTn id="4" fill="hold" nodeType="withGroup">
                            <p:stCondLst>
                              <p:cond delay="0"/>
                            </p:stCondLst>
                            <p:childTnLst>
                              <p:par>
                                <p:cTn id="5" presetID="14" presetClass="entr" presetSubtype="5" fill="hold" nodeType="afterEffect">
                                  <p:stCondLst>
                                    <p:cond delay="1000"/>
                                  </p:stCondLst>
                                  <p:childTnLst>
                                    <p:set>
                                      <p:cBhvr additive="repl">
                                        <p:cTn id="6" dur="1" fill="hold">
                                          <p:stCondLst>
                                            <p:cond delay="0"/>
                                          </p:stCondLst>
                                        </p:cTn>
                                        <p:tgtEl>
                                          <p:spTgt spid="35843">
                                            <p:txEl>
                                              <p:pRg st="0" end="0"/>
                                            </p:txEl>
                                          </p:spTgt>
                                        </p:tgtEl>
                                        <p:attrNameLst>
                                          <p:attrName>style.visibility</p:attrName>
                                        </p:attrNameLst>
                                      </p:cBhvr>
                                      <p:to>
                                        <p:strVal val="visible"/>
                                      </p:to>
                                    </p:set>
                                    <p:animEffect transition="in" filter="randombar(vertical)">
                                      <p:cBhvr additive="repl">
                                        <p:cTn id="7" dur="500"/>
                                        <p:tgtEl>
                                          <p:spTgt spid="35843">
                                            <p:txEl>
                                              <p:pRg st="0" end="0"/>
                                            </p:txEl>
                                          </p:spTgt>
                                        </p:tgtEl>
                                      </p:cBhvr>
                                    </p:animEffect>
                                  </p:childTnLst>
                                </p:cTn>
                              </p:par>
                            </p:childTnLst>
                          </p:cTn>
                        </p:par>
                        <p:par>
                          <p:cTn id="8" fill="hold" nodeType="afterGroup">
                            <p:stCondLst>
                              <p:cond delay="1500"/>
                            </p:stCondLst>
                            <p:childTnLst>
                              <p:par>
                                <p:cTn id="9" presetID="14" presetClass="entr" presetSubtype="5" fill="hold" nodeType="afterEffect">
                                  <p:stCondLst>
                                    <p:cond delay="1000"/>
                                  </p:stCondLst>
                                  <p:childTnLst>
                                    <p:set>
                                      <p:cBhvr additive="repl">
                                        <p:cTn id="10" dur="1" fill="hold">
                                          <p:stCondLst>
                                            <p:cond delay="0"/>
                                          </p:stCondLst>
                                        </p:cTn>
                                        <p:tgtEl>
                                          <p:spTgt spid="35843">
                                            <p:txEl>
                                              <p:pRg st="1" end="1"/>
                                            </p:txEl>
                                          </p:spTgt>
                                        </p:tgtEl>
                                        <p:attrNameLst>
                                          <p:attrName>style.visibility</p:attrName>
                                        </p:attrNameLst>
                                      </p:cBhvr>
                                      <p:to>
                                        <p:strVal val="visible"/>
                                      </p:to>
                                    </p:set>
                                    <p:animEffect transition="in" filter="randombar(vertical)">
                                      <p:cBhvr additive="repl">
                                        <p:cTn id="11" dur="500"/>
                                        <p:tgtEl>
                                          <p:spTgt spid="35843">
                                            <p:txEl>
                                              <p:pRg st="1" end="1"/>
                                            </p:txEl>
                                          </p:spTgt>
                                        </p:tgtEl>
                                      </p:cBhvr>
                                    </p:animEffect>
                                  </p:childTnLst>
                                </p:cTn>
                              </p:par>
                            </p:childTnLst>
                          </p:cTn>
                        </p:par>
                        <p:par>
                          <p:cTn id="12" fill="hold" nodeType="afterGroup">
                            <p:stCondLst>
                              <p:cond delay="3000"/>
                            </p:stCondLst>
                            <p:childTnLst>
                              <p:par>
                                <p:cTn id="13" presetID="14" presetClass="entr" presetSubtype="5" fill="hold" nodeType="afterEffect">
                                  <p:stCondLst>
                                    <p:cond delay="1000"/>
                                  </p:stCondLst>
                                  <p:childTnLst>
                                    <p:set>
                                      <p:cBhvr additive="repl">
                                        <p:cTn id="14" dur="1" fill="hold">
                                          <p:stCondLst>
                                            <p:cond delay="0"/>
                                          </p:stCondLst>
                                        </p:cTn>
                                        <p:tgtEl>
                                          <p:spTgt spid="35843">
                                            <p:txEl>
                                              <p:pRg st="2" end="2"/>
                                            </p:txEl>
                                          </p:spTgt>
                                        </p:tgtEl>
                                        <p:attrNameLst>
                                          <p:attrName>style.visibility</p:attrName>
                                        </p:attrNameLst>
                                      </p:cBhvr>
                                      <p:to>
                                        <p:strVal val="visible"/>
                                      </p:to>
                                    </p:set>
                                    <p:animEffect transition="in" filter="randombar(vertical)">
                                      <p:cBhvr additive="repl">
                                        <p:cTn id="15" dur="500"/>
                                        <p:tgtEl>
                                          <p:spTgt spid="35843">
                                            <p:txEl>
                                              <p:pRg st="2" end="2"/>
                                            </p:txEl>
                                          </p:spTgt>
                                        </p:tgtEl>
                                      </p:cBhvr>
                                    </p:animEffect>
                                  </p:childTnLst>
                                </p:cTn>
                              </p:par>
                            </p:childTnLst>
                          </p:cTn>
                        </p:par>
                        <p:par>
                          <p:cTn id="16" fill="hold" nodeType="afterGroup">
                            <p:stCondLst>
                              <p:cond delay="4500"/>
                            </p:stCondLst>
                            <p:childTnLst>
                              <p:par>
                                <p:cTn id="17" presetID="14" presetClass="entr" presetSubtype="5" fill="hold" nodeType="afterEffect">
                                  <p:stCondLst>
                                    <p:cond delay="1000"/>
                                  </p:stCondLst>
                                  <p:childTnLst>
                                    <p:set>
                                      <p:cBhvr additive="repl">
                                        <p:cTn id="18" dur="1" fill="hold">
                                          <p:stCondLst>
                                            <p:cond delay="0"/>
                                          </p:stCondLst>
                                        </p:cTn>
                                        <p:tgtEl>
                                          <p:spTgt spid="35843">
                                            <p:txEl>
                                              <p:pRg st="3" end="3"/>
                                            </p:txEl>
                                          </p:spTgt>
                                        </p:tgtEl>
                                        <p:attrNameLst>
                                          <p:attrName>style.visibility</p:attrName>
                                        </p:attrNameLst>
                                      </p:cBhvr>
                                      <p:to>
                                        <p:strVal val="visible"/>
                                      </p:to>
                                    </p:set>
                                    <p:animEffect transition="in" filter="randombar(vertical)">
                                      <p:cBhvr additive="repl">
                                        <p:cTn id="19" dur="500"/>
                                        <p:tgtEl>
                                          <p:spTgt spid="35843">
                                            <p:txEl>
                                              <p:pRg st="3" end="3"/>
                                            </p:txEl>
                                          </p:spTgt>
                                        </p:tgtEl>
                                      </p:cBhvr>
                                    </p:animEffect>
                                  </p:childTnLst>
                                </p:cTn>
                              </p:par>
                            </p:childTnLst>
                          </p:cTn>
                        </p:par>
                        <p:par>
                          <p:cTn id="20" fill="hold" nodeType="afterGroup">
                            <p:stCondLst>
                              <p:cond delay="6000"/>
                            </p:stCondLst>
                            <p:childTnLst>
                              <p:par>
                                <p:cTn id="21" presetID="14" presetClass="entr" presetSubtype="5" fill="hold" nodeType="afterEffect">
                                  <p:stCondLst>
                                    <p:cond delay="1000"/>
                                  </p:stCondLst>
                                  <p:childTnLst>
                                    <p:set>
                                      <p:cBhvr additive="repl">
                                        <p:cTn id="22" dur="1" fill="hold">
                                          <p:stCondLst>
                                            <p:cond delay="0"/>
                                          </p:stCondLst>
                                        </p:cTn>
                                        <p:tgtEl>
                                          <p:spTgt spid="35843">
                                            <p:txEl>
                                              <p:pRg st="4" end="4"/>
                                            </p:txEl>
                                          </p:spTgt>
                                        </p:tgtEl>
                                        <p:attrNameLst>
                                          <p:attrName>style.visibility</p:attrName>
                                        </p:attrNameLst>
                                      </p:cBhvr>
                                      <p:to>
                                        <p:strVal val="visible"/>
                                      </p:to>
                                    </p:set>
                                    <p:animEffect transition="in" filter="randombar(vertical)">
                                      <p:cBhvr additive="repl">
                                        <p:cTn id="23" dur="500"/>
                                        <p:tgtEl>
                                          <p:spTgt spid="35843">
                                            <p:txEl>
                                              <p:pRg st="4" end="4"/>
                                            </p:txEl>
                                          </p:spTgt>
                                        </p:tgtEl>
                                      </p:cBhvr>
                                    </p:animEffect>
                                  </p:childTnLst>
                                </p:cTn>
                              </p:par>
                            </p:childTnLst>
                          </p:cTn>
                        </p:par>
                        <p:par>
                          <p:cTn id="24" fill="hold" nodeType="afterGroup">
                            <p:stCondLst>
                              <p:cond delay="7500"/>
                            </p:stCondLst>
                            <p:childTnLst>
                              <p:par>
                                <p:cTn id="25" presetID="14" presetClass="entr" presetSubtype="5" fill="hold" nodeType="afterEffect">
                                  <p:stCondLst>
                                    <p:cond delay="1000"/>
                                  </p:stCondLst>
                                  <p:childTnLst>
                                    <p:set>
                                      <p:cBhvr additive="repl">
                                        <p:cTn id="26" dur="1" fill="hold">
                                          <p:stCondLst>
                                            <p:cond delay="0"/>
                                          </p:stCondLst>
                                        </p:cTn>
                                        <p:tgtEl>
                                          <p:spTgt spid="35843">
                                            <p:txEl>
                                              <p:pRg st="5" end="5"/>
                                            </p:txEl>
                                          </p:spTgt>
                                        </p:tgtEl>
                                        <p:attrNameLst>
                                          <p:attrName>style.visibility</p:attrName>
                                        </p:attrNameLst>
                                      </p:cBhvr>
                                      <p:to>
                                        <p:strVal val="visible"/>
                                      </p:to>
                                    </p:set>
                                    <p:animEffect transition="in" filter="randombar(vertical)">
                                      <p:cBhvr additive="repl">
                                        <p:cTn id="27" dur="500"/>
                                        <p:tgtEl>
                                          <p:spTgt spid="35843">
                                            <p:txEl>
                                              <p:pRg st="5" end="5"/>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0"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B98C06CA-D3AD-43FB-80D0-3D8CCC3DE990}" type="slidenum">
              <a:rPr lang="en-US" sz="1400">
                <a:solidFill>
                  <a:srgbClr val="FFFFFF"/>
                </a:solidFill>
              </a:rPr>
              <a:pPr algn="r" defTabSz="457200" eaLnBrk="0" fontAlgn="base" hangingPunct="0">
                <a:buClrTx/>
              </a:pPr>
              <a:t>25</a:t>
            </a:fld>
            <a:endParaRPr lang="en-US" sz="1400">
              <a:solidFill>
                <a:srgbClr val="FFFFFF"/>
              </a:solidFill>
            </a:endParaRPr>
          </a:p>
        </p:txBody>
      </p:sp>
      <p:sp>
        <p:nvSpPr>
          <p:cNvPr id="68611"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Comparison Operators</a:t>
            </a:r>
          </a:p>
        </p:txBody>
      </p:sp>
      <p:sp>
        <p:nvSpPr>
          <p:cNvPr id="68612" name="Text Box 3"/>
          <p:cNvSpPr txBox="1">
            <a:spLocks noChangeArrowheads="1"/>
          </p:cNvSpPr>
          <p:nvPr/>
        </p:nvSpPr>
        <p:spPr bwMode="auto">
          <a:xfrm>
            <a:off x="1676400" y="1143000"/>
            <a:ext cx="8915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lnSpc>
                <a:spcPct val="90000"/>
              </a:lnSpc>
              <a:spcBef>
                <a:spcPts val="813"/>
              </a:spcBef>
              <a:buClrTx/>
            </a:pPr>
            <a:endParaRPr lang="en-US" sz="3200">
              <a:solidFill>
                <a:srgbClr val="FFFFFF"/>
              </a:solidFill>
            </a:endParaRPr>
          </a:p>
          <a:p>
            <a:pPr algn="ctr" defTabSz="457200" eaLnBrk="0" fontAlgn="base" hangingPunct="0">
              <a:lnSpc>
                <a:spcPct val="90000"/>
              </a:lnSpc>
              <a:spcBef>
                <a:spcPts val="813"/>
              </a:spcBef>
              <a:buClrTx/>
            </a:pPr>
            <a:endParaRPr lang="en-US" sz="3200" i="1">
              <a:solidFill>
                <a:srgbClr val="FFFFFF"/>
              </a:solidFill>
            </a:endParaRPr>
          </a:p>
          <a:p>
            <a:pPr algn="ctr" defTabSz="457200" eaLnBrk="0" fontAlgn="base" hangingPunct="0">
              <a:lnSpc>
                <a:spcPct val="90000"/>
              </a:lnSpc>
              <a:spcBef>
                <a:spcPts val="813"/>
              </a:spcBef>
              <a:buClrTx/>
            </a:pPr>
            <a:r>
              <a:rPr lang="en-US" sz="3200" i="1">
                <a:solidFill>
                  <a:srgbClr val="FFFFFF"/>
                </a:solidFill>
              </a:rPr>
              <a:t>The “equal to (</a:t>
            </a:r>
            <a:r>
              <a:rPr lang="en-US" sz="3200" i="1">
                <a:solidFill>
                  <a:srgbClr val="FFFF00"/>
                </a:solidFill>
              </a:rPr>
              <a:t>==</a:t>
            </a:r>
            <a:r>
              <a:rPr lang="en-US" sz="3200" i="1">
                <a:solidFill>
                  <a:srgbClr val="FFFFFF"/>
                </a:solidFill>
              </a:rPr>
              <a:t>)” Comparison Operator</a:t>
            </a:r>
            <a:r>
              <a:rPr lang="en-US" sz="3200">
                <a:solidFill>
                  <a:srgbClr val="FFFFFF"/>
                </a:solidFill>
              </a:rPr>
              <a:t> </a:t>
            </a:r>
          </a:p>
          <a:p>
            <a:pPr algn="ctr" defTabSz="457200" eaLnBrk="0" fontAlgn="base" hangingPunct="0">
              <a:lnSpc>
                <a:spcPct val="90000"/>
              </a:lnSpc>
              <a:spcBef>
                <a:spcPts val="1113"/>
              </a:spcBef>
              <a:buClrTx/>
            </a:pPr>
            <a:endParaRPr lang="en-US" sz="4400">
              <a:solidFill>
                <a:srgbClr val="FFFFFF"/>
              </a:solidFill>
            </a:endParaRPr>
          </a:p>
          <a:p>
            <a:pPr defTabSz="457200" eaLnBrk="0" fontAlgn="base" hangingPunct="0">
              <a:lnSpc>
                <a:spcPct val="90000"/>
              </a:lnSpc>
              <a:spcBef>
                <a:spcPts val="813"/>
              </a:spcBef>
              <a:buClrTx/>
            </a:pPr>
            <a:r>
              <a:rPr lang="en-US" sz="3200">
                <a:solidFill>
                  <a:srgbClr val="FF66FF"/>
                </a:solidFill>
              </a:rPr>
              <a:t>if (</a:t>
            </a:r>
            <a:r>
              <a:rPr lang="en-US" sz="3200">
                <a:solidFill>
                  <a:srgbClr val="FFFFFF"/>
                </a:solidFill>
              </a:rPr>
              <a:t> today</a:t>
            </a:r>
            <a:r>
              <a:rPr lang="en-US" sz="3200">
                <a:solidFill>
                  <a:srgbClr val="FFFF00"/>
                </a:solidFill>
              </a:rPr>
              <a:t> ==</a:t>
            </a:r>
            <a:r>
              <a:rPr lang="en-US" sz="3200">
                <a:solidFill>
                  <a:srgbClr val="FFFFFF"/>
                </a:solidFill>
              </a:rPr>
              <a:t> </a:t>
            </a:r>
            <a:r>
              <a:rPr lang="en-US" sz="3200">
                <a:solidFill>
                  <a:srgbClr val="FF66FF"/>
                </a:solidFill>
              </a:rPr>
              <a:t>“</a:t>
            </a:r>
            <a:r>
              <a:rPr lang="en-US" sz="3200">
                <a:solidFill>
                  <a:srgbClr val="FFFFFF"/>
                </a:solidFill>
              </a:rPr>
              <a:t>Sunday</a:t>
            </a:r>
            <a:r>
              <a:rPr lang="en-US" sz="3200">
                <a:solidFill>
                  <a:srgbClr val="FF66FF"/>
                </a:solidFill>
              </a:rPr>
              <a:t>” )</a:t>
            </a:r>
          </a:p>
          <a:p>
            <a:pPr defTabSz="457200" eaLnBrk="0" fontAlgn="base" hangingPunct="0">
              <a:lnSpc>
                <a:spcPct val="90000"/>
              </a:lnSpc>
              <a:spcBef>
                <a:spcPts val="813"/>
              </a:spcBef>
              <a:buClrTx/>
            </a:pPr>
            <a:r>
              <a:rPr lang="en-US" sz="3200">
                <a:solidFill>
                  <a:srgbClr val="FFFFFF"/>
                </a:solidFill>
              </a:rPr>
              <a:t>		</a:t>
            </a:r>
            <a:r>
              <a:rPr lang="en-US" sz="3200">
                <a:solidFill>
                  <a:srgbClr val="FF66FF"/>
                </a:solidFill>
              </a:rPr>
              <a:t>document.write(“</a:t>
            </a:r>
            <a:r>
              <a:rPr lang="en-US" sz="3200">
                <a:solidFill>
                  <a:srgbClr val="FFFFFF"/>
                </a:solidFill>
              </a:rPr>
              <a:t>The shop is closed</a:t>
            </a:r>
            <a:r>
              <a:rPr lang="en-US" sz="3200">
                <a:solidFill>
                  <a:srgbClr val="FF66FF"/>
                </a:solidFill>
              </a:rPr>
              <a:t>”);</a:t>
            </a:r>
          </a:p>
          <a:p>
            <a:pPr algn="ctr" defTabSz="457200" eaLnBrk="0" fontAlgn="base" hangingPunct="0">
              <a:lnSpc>
                <a:spcPct val="90000"/>
              </a:lnSpc>
              <a:spcBef>
                <a:spcPts val="1113"/>
              </a:spcBef>
              <a:buClrTx/>
            </a:pPr>
            <a:endParaRPr lang="en-US" sz="4400">
              <a:solidFill>
                <a:srgbClr val="FFFFFF"/>
              </a:solidFill>
            </a:endParaRPr>
          </a:p>
          <a:p>
            <a:pPr defTabSz="457200" eaLnBrk="0" fontAlgn="base" hangingPunct="0">
              <a:lnSpc>
                <a:spcPct val="90000"/>
              </a:lnSpc>
              <a:spcBef>
                <a:spcPts val="813"/>
              </a:spcBef>
              <a:buClrTx/>
            </a:pPr>
            <a:r>
              <a:rPr lang="en-US" sz="3200" i="1">
                <a:solidFill>
                  <a:srgbClr val="FFFFFF"/>
                </a:solidFill>
              </a:rPr>
              <a:t>The string “The shop is closed” will be written to the document only if the variable today has a value equal to “Sunday”</a:t>
            </a:r>
          </a:p>
        </p:txBody>
      </p:sp>
      <p:sp>
        <p:nvSpPr>
          <p:cNvPr id="68613" name="Rectangle 4"/>
          <p:cNvSpPr>
            <a:spLocks noChangeArrowheads="1"/>
          </p:cNvSpPr>
          <p:nvPr/>
        </p:nvSpPr>
        <p:spPr bwMode="auto">
          <a:xfrm>
            <a:off x="1600200" y="3352800"/>
            <a:ext cx="9067800" cy="1371600"/>
          </a:xfrm>
          <a:prstGeom prst="rect">
            <a:avLst/>
          </a:prstGeom>
          <a:noFill/>
          <a:ln w="7632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eaLnBrk="0" fontAlgn="base" hangingPunct="0">
              <a:spcBef>
                <a:spcPts val="13"/>
              </a:spcBef>
              <a:spcAft>
                <a:spcPts val="13"/>
              </a:spcAft>
              <a:buClr>
                <a:srgbClr val="000000"/>
              </a:buClr>
              <a:buSzPct val="100000"/>
            </a:pPr>
            <a:endParaRPr lang="en-US" sz="2800">
              <a:solidFill>
                <a:srgbClr val="FFFFFF"/>
              </a:solidFill>
            </a:endParaRPr>
          </a:p>
        </p:txBody>
      </p:sp>
      <p:sp>
        <p:nvSpPr>
          <p:cNvPr id="36869" name="AutoShape 5"/>
          <p:cNvSpPr>
            <a:spLocks noChangeArrowheads="1"/>
          </p:cNvSpPr>
          <p:nvPr/>
        </p:nvSpPr>
        <p:spPr bwMode="auto">
          <a:xfrm>
            <a:off x="7848600" y="685800"/>
            <a:ext cx="2819400" cy="1371600"/>
          </a:xfrm>
          <a:prstGeom prst="wedgeRectCallout">
            <a:avLst>
              <a:gd name="adj1" fmla="val -136824"/>
              <a:gd name="adj2" fmla="val 67014"/>
            </a:avLst>
          </a:prstGeom>
          <a:solidFill>
            <a:srgbClr val="FF9900"/>
          </a:solidFill>
          <a:ln w="9360">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buClrTx/>
            </a:pPr>
            <a:r>
              <a:rPr lang="en-US">
                <a:solidFill>
                  <a:srgbClr val="000000"/>
                </a:solidFill>
              </a:rPr>
              <a:t>Not the same as the assignment “=” operator</a:t>
            </a:r>
          </a:p>
        </p:txBody>
      </p:sp>
    </p:spTree>
    <p:extLst>
      <p:ext uri="{BB962C8B-B14F-4D97-AF65-F5344CB8AC3E}">
        <p14:creationId xmlns:p14="http://schemas.microsoft.com/office/powerpoint/2010/main" val="393597101"/>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0"/>
                      </p:stCondLst>
                      <p:childTnLst>
                        <p:par>
                          <p:cTn id="4" fill="hold" nodeType="withGroup">
                            <p:stCondLst>
                              <p:cond delay="0"/>
                            </p:stCondLst>
                            <p:childTnLst>
                              <p:par>
                                <p:cTn id="5" presetID="22" presetClass="entr" presetSubtype="8" fill="hold" nodeType="afterEffect">
                                  <p:stCondLst>
                                    <p:cond delay="1000"/>
                                  </p:stCondLst>
                                  <p:childTnLst>
                                    <p:set>
                                      <p:cBhvr additive="repl">
                                        <p:cTn id="6" dur="1" fill="hold">
                                          <p:stCondLst>
                                            <p:cond delay="0"/>
                                          </p:stCondLst>
                                        </p:cTn>
                                        <p:tgtEl>
                                          <p:spTgt spid="36869"/>
                                        </p:tgtEl>
                                        <p:attrNameLst>
                                          <p:attrName>style.visibility</p:attrName>
                                        </p:attrNameLst>
                                      </p:cBhvr>
                                      <p:to>
                                        <p:strVal val="visible"/>
                                      </p:to>
                                    </p:set>
                                    <p:animEffect transition="in" filter="wipe(left)">
                                      <p:cBhvr additive="repl">
                                        <p:cTn id="7" dur="500"/>
                                        <p:tgtEl>
                                          <p:spTgt spid="3686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065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BF5D6714-E414-4205-9202-3D0D9F2CFB63}" type="slidenum">
              <a:rPr lang="en-US" sz="1400">
                <a:solidFill>
                  <a:srgbClr val="FFFFFF"/>
                </a:solidFill>
              </a:rPr>
              <a:pPr algn="r" defTabSz="457200" eaLnBrk="0" fontAlgn="base" hangingPunct="0">
                <a:buClrTx/>
              </a:pPr>
              <a:t>26</a:t>
            </a:fld>
            <a:endParaRPr lang="en-US" sz="1400">
              <a:solidFill>
                <a:srgbClr val="FFFFFF"/>
              </a:solidFill>
            </a:endParaRPr>
          </a:p>
        </p:txBody>
      </p:sp>
      <p:sp>
        <p:nvSpPr>
          <p:cNvPr id="70659"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Comparison Operators</a:t>
            </a:r>
          </a:p>
        </p:txBody>
      </p:sp>
      <p:sp>
        <p:nvSpPr>
          <p:cNvPr id="70660" name="Text Box 3"/>
          <p:cNvSpPr txBox="1">
            <a:spLocks noChangeArrowheads="1"/>
          </p:cNvSpPr>
          <p:nvPr/>
        </p:nvSpPr>
        <p:spPr bwMode="auto">
          <a:xfrm>
            <a:off x="1676400" y="1143000"/>
            <a:ext cx="91440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2289175"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a:t>
            </a:r>
            <a:r>
              <a:rPr lang="en-US" sz="3600">
                <a:solidFill>
                  <a:srgbClr val="FFFFFF"/>
                </a:solidFill>
              </a:rPr>
              <a:t> b</a:t>
            </a:r>
            <a:r>
              <a:rPr lang="en-US" sz="3400">
                <a:solidFill>
                  <a:srgbClr val="FFFFFF"/>
                </a:solidFill>
              </a:rPr>
              <a:t>	</a:t>
            </a:r>
            <a:r>
              <a:rPr lang="en-US" sz="3200">
                <a:solidFill>
                  <a:srgbClr val="FFFFFF"/>
                </a:solidFill>
              </a:rPr>
              <a:t>True if a and b are the same</a:t>
            </a:r>
          </a:p>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a:t>
            </a:r>
            <a:r>
              <a:rPr lang="en-US" sz="3600">
                <a:solidFill>
                  <a:srgbClr val="FFFFFF"/>
                </a:solidFill>
              </a:rPr>
              <a:t> b</a:t>
            </a:r>
            <a:r>
              <a:rPr lang="en-US" sz="3400">
                <a:solidFill>
                  <a:srgbClr val="FFFFFF"/>
                </a:solidFill>
              </a:rPr>
              <a:t>	</a:t>
            </a:r>
            <a:r>
              <a:rPr lang="en-US" sz="3200">
                <a:solidFill>
                  <a:srgbClr val="FFFFFF"/>
                </a:solidFill>
              </a:rPr>
              <a:t>True if a and b are not the same</a:t>
            </a:r>
          </a:p>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&gt;</a:t>
            </a:r>
            <a:r>
              <a:rPr lang="en-US" sz="3600">
                <a:solidFill>
                  <a:srgbClr val="FFFFFF"/>
                </a:solidFill>
              </a:rPr>
              <a:t> b</a:t>
            </a:r>
            <a:r>
              <a:rPr lang="en-US" sz="3400">
                <a:solidFill>
                  <a:srgbClr val="FFFFFF"/>
                </a:solidFill>
              </a:rPr>
              <a:t>	</a:t>
            </a:r>
            <a:r>
              <a:rPr lang="en-US" sz="3200">
                <a:solidFill>
                  <a:srgbClr val="FFFFFF"/>
                </a:solidFill>
              </a:rPr>
              <a:t>True if a is greater than b</a:t>
            </a:r>
          </a:p>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&gt;=</a:t>
            </a:r>
            <a:r>
              <a:rPr lang="en-US" sz="3600">
                <a:solidFill>
                  <a:srgbClr val="FFFFFF"/>
                </a:solidFill>
              </a:rPr>
              <a:t> b</a:t>
            </a:r>
            <a:r>
              <a:rPr lang="en-US" sz="3400">
                <a:solidFill>
                  <a:srgbClr val="FFFFFF"/>
                </a:solidFill>
              </a:rPr>
              <a:t>	</a:t>
            </a:r>
            <a:r>
              <a:rPr lang="en-US" sz="3200">
                <a:solidFill>
                  <a:srgbClr val="FFFFFF"/>
                </a:solidFill>
              </a:rPr>
              <a:t>True if a is greater than or equal to b</a:t>
            </a:r>
          </a:p>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&lt;</a:t>
            </a:r>
            <a:r>
              <a:rPr lang="en-US" sz="3600">
                <a:solidFill>
                  <a:srgbClr val="FFFFFF"/>
                </a:solidFill>
              </a:rPr>
              <a:t> b</a:t>
            </a:r>
            <a:r>
              <a:rPr lang="en-US" sz="3400">
                <a:solidFill>
                  <a:srgbClr val="FFFFFF"/>
                </a:solidFill>
              </a:rPr>
              <a:t>	</a:t>
            </a:r>
            <a:r>
              <a:rPr lang="en-US" sz="3200">
                <a:solidFill>
                  <a:srgbClr val="FFFFFF"/>
                </a:solidFill>
              </a:rPr>
              <a:t>True if a is less than b</a:t>
            </a:r>
          </a:p>
          <a:p>
            <a:pPr defTabSz="457200" eaLnBrk="0" fontAlgn="base" hangingPunct="0">
              <a:spcBef>
                <a:spcPts val="813"/>
              </a:spcBef>
              <a:spcAft>
                <a:spcPts val="2013"/>
              </a:spcAft>
              <a:buClrTx/>
            </a:pPr>
            <a:r>
              <a:rPr lang="en-US" sz="3600">
                <a:solidFill>
                  <a:srgbClr val="FFFFFF"/>
                </a:solidFill>
              </a:rPr>
              <a:t>a </a:t>
            </a:r>
            <a:r>
              <a:rPr lang="en-US" sz="3600">
                <a:solidFill>
                  <a:srgbClr val="FFFF00"/>
                </a:solidFill>
              </a:rPr>
              <a:t>&lt;=</a:t>
            </a:r>
            <a:r>
              <a:rPr lang="en-US" sz="3600">
                <a:solidFill>
                  <a:srgbClr val="FFFFFF"/>
                </a:solidFill>
              </a:rPr>
              <a:t> b</a:t>
            </a:r>
            <a:r>
              <a:rPr lang="en-US" sz="3400">
                <a:solidFill>
                  <a:srgbClr val="FFFFFF"/>
                </a:solidFill>
              </a:rPr>
              <a:t>	</a:t>
            </a:r>
            <a:r>
              <a:rPr lang="en-US" sz="3200">
                <a:solidFill>
                  <a:srgbClr val="FFFFFF"/>
                </a:solidFill>
              </a:rPr>
              <a:t>True if a is less than or equal to b</a:t>
            </a:r>
          </a:p>
        </p:txBody>
      </p:sp>
    </p:spTree>
    <p:extLst>
      <p:ext uri="{BB962C8B-B14F-4D97-AF65-F5344CB8AC3E}">
        <p14:creationId xmlns:p14="http://schemas.microsoft.com/office/powerpoint/2010/main" val="634127692"/>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6"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66823D44-AE00-4312-98A2-58B7086E98C8}" type="slidenum">
              <a:rPr lang="en-US" sz="1400">
                <a:solidFill>
                  <a:srgbClr val="FFFFFF"/>
                </a:solidFill>
              </a:rPr>
              <a:pPr algn="r" defTabSz="457200" eaLnBrk="0" fontAlgn="base" hangingPunct="0">
                <a:buClrTx/>
              </a:pPr>
              <a:t>27</a:t>
            </a:fld>
            <a:endParaRPr lang="en-US" sz="1400">
              <a:solidFill>
                <a:srgbClr val="FFFFFF"/>
              </a:solidFill>
            </a:endParaRPr>
          </a:p>
        </p:txBody>
      </p:sp>
      <p:sp>
        <p:nvSpPr>
          <p:cNvPr id="72707" name="Text Box 2"/>
          <p:cNvSpPr txBox="1">
            <a:spLocks noChangeArrowheads="1"/>
          </p:cNvSpPr>
          <p:nvPr/>
        </p:nvSpPr>
        <p:spPr bwMode="auto">
          <a:xfrm>
            <a:off x="2209800" y="-1524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Example</a:t>
            </a:r>
          </a:p>
        </p:txBody>
      </p:sp>
      <p:sp>
        <p:nvSpPr>
          <p:cNvPr id="72708" name="Text Box 3"/>
          <p:cNvSpPr txBox="1">
            <a:spLocks noChangeArrowheads="1"/>
          </p:cNvSpPr>
          <p:nvPr/>
        </p:nvSpPr>
        <p:spPr bwMode="auto">
          <a:xfrm>
            <a:off x="3429000" y="1447800"/>
            <a:ext cx="57150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913"/>
              </a:spcBef>
              <a:buClrTx/>
            </a:pPr>
            <a:r>
              <a:rPr lang="en-US" sz="3600">
                <a:solidFill>
                  <a:srgbClr val="FF66FF"/>
                </a:solidFill>
              </a:rPr>
              <a:t>if (</a:t>
            </a:r>
            <a:r>
              <a:rPr lang="en-US" sz="3600">
                <a:solidFill>
                  <a:srgbClr val="FFFFFF"/>
                </a:solidFill>
              </a:rPr>
              <a:t> x</a:t>
            </a:r>
            <a:r>
              <a:rPr lang="en-US" sz="3600">
                <a:solidFill>
                  <a:srgbClr val="FFFF00"/>
                </a:solidFill>
              </a:rPr>
              <a:t> !=</a:t>
            </a:r>
            <a:r>
              <a:rPr lang="en-US" sz="3600">
                <a:solidFill>
                  <a:srgbClr val="FFFFFF"/>
                </a:solidFill>
              </a:rPr>
              <a:t> 0</a:t>
            </a:r>
            <a:r>
              <a:rPr lang="en-US" sz="3600">
                <a:solidFill>
                  <a:srgbClr val="FF66FF"/>
                </a:solidFill>
              </a:rPr>
              <a:t> )</a:t>
            </a:r>
          </a:p>
          <a:p>
            <a:pPr defTabSz="457200" eaLnBrk="0" fontAlgn="base" hangingPunct="0">
              <a:spcBef>
                <a:spcPts val="913"/>
              </a:spcBef>
              <a:buClrTx/>
            </a:pPr>
            <a:r>
              <a:rPr lang="en-US" sz="3600">
                <a:solidFill>
                  <a:srgbClr val="FFFFFF"/>
                </a:solidFill>
              </a:rPr>
              <a:t>	result </a:t>
            </a:r>
            <a:r>
              <a:rPr lang="en-US" sz="3600">
                <a:solidFill>
                  <a:srgbClr val="FF66FF"/>
                </a:solidFill>
              </a:rPr>
              <a:t>=</a:t>
            </a:r>
            <a:r>
              <a:rPr lang="en-US" sz="3600">
                <a:solidFill>
                  <a:srgbClr val="FFFFFF"/>
                </a:solidFill>
              </a:rPr>
              <a:t> y </a:t>
            </a:r>
            <a:r>
              <a:rPr lang="en-US" sz="3600">
                <a:solidFill>
                  <a:srgbClr val="FF66FF"/>
                </a:solidFill>
              </a:rPr>
              <a:t>/</a:t>
            </a:r>
            <a:r>
              <a:rPr lang="en-US" sz="3600">
                <a:solidFill>
                  <a:srgbClr val="FFFFFF"/>
                </a:solidFill>
              </a:rPr>
              <a:t> x</a:t>
            </a:r>
            <a:r>
              <a:rPr lang="en-US" sz="3600">
                <a:solidFill>
                  <a:srgbClr val="FF66FF"/>
                </a:solidFill>
              </a:rPr>
              <a:t>;</a:t>
            </a:r>
          </a:p>
          <a:p>
            <a:pPr defTabSz="457200" eaLnBrk="0" fontAlgn="base" hangingPunct="0">
              <a:spcBef>
                <a:spcPts val="913"/>
              </a:spcBef>
              <a:buClrTx/>
            </a:pPr>
            <a:r>
              <a:rPr lang="en-US" sz="3600">
                <a:solidFill>
                  <a:srgbClr val="FF66FF"/>
                </a:solidFill>
              </a:rPr>
              <a:t>else</a:t>
            </a:r>
          </a:p>
          <a:p>
            <a:pPr defTabSz="457200" eaLnBrk="0" fontAlgn="base" hangingPunct="0">
              <a:spcBef>
                <a:spcPts val="913"/>
              </a:spcBef>
              <a:buClrTx/>
            </a:pPr>
            <a:r>
              <a:rPr lang="en-US" sz="3600">
                <a:solidFill>
                  <a:srgbClr val="FFFFFF"/>
                </a:solidFill>
              </a:rPr>
              <a:t>	result </a:t>
            </a:r>
            <a:r>
              <a:rPr lang="en-US" sz="3600">
                <a:solidFill>
                  <a:srgbClr val="FF66FF"/>
                </a:solidFill>
              </a:rPr>
              <a:t>= “</a:t>
            </a:r>
            <a:r>
              <a:rPr lang="en-US" sz="3600">
                <a:solidFill>
                  <a:srgbClr val="FFFFFF"/>
                </a:solidFill>
              </a:rPr>
              <a:t>not defined</a:t>
            </a:r>
            <a:r>
              <a:rPr lang="en-US" sz="3600">
                <a:solidFill>
                  <a:srgbClr val="FF66FF"/>
                </a:solidFill>
              </a:rPr>
              <a:t>”;</a:t>
            </a:r>
          </a:p>
        </p:txBody>
      </p:sp>
    </p:spTree>
    <p:extLst>
      <p:ext uri="{BB962C8B-B14F-4D97-AF65-F5344CB8AC3E}">
        <p14:creationId xmlns:p14="http://schemas.microsoft.com/office/powerpoint/2010/main" val="516514821"/>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6802"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A375819C-E7B8-4283-837F-0345A7E0B9C2}" type="slidenum">
              <a:rPr lang="en-US" sz="1400">
                <a:solidFill>
                  <a:srgbClr val="FFFFFF"/>
                </a:solidFill>
              </a:rPr>
              <a:pPr algn="r" defTabSz="457200" eaLnBrk="0" fontAlgn="base" hangingPunct="0">
                <a:buClrTx/>
              </a:pPr>
              <a:t>28</a:t>
            </a:fld>
            <a:endParaRPr lang="en-US" sz="1400">
              <a:solidFill>
                <a:srgbClr val="FFFFFF"/>
              </a:solidFill>
            </a:endParaRPr>
          </a:p>
        </p:txBody>
      </p:sp>
      <p:sp>
        <p:nvSpPr>
          <p:cNvPr id="76803" name="Text Box 2"/>
          <p:cNvSpPr txBox="1">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Logical Operators</a:t>
            </a:r>
            <a:br>
              <a:rPr lang="en-US" sz="4400">
                <a:solidFill>
                  <a:srgbClr val="FFFF00"/>
                </a:solidFill>
              </a:rPr>
            </a:br>
            <a:r>
              <a:rPr lang="en-US" sz="2400">
                <a:solidFill>
                  <a:srgbClr val="FFFF00"/>
                </a:solidFill>
              </a:rPr>
              <a:t>Operate on Boolean expressions or variables</a:t>
            </a:r>
          </a:p>
        </p:txBody>
      </p:sp>
      <p:sp>
        <p:nvSpPr>
          <p:cNvPr id="76804" name="Text Box 3"/>
          <p:cNvSpPr txBox="1">
            <a:spLocks noChangeArrowheads="1"/>
          </p:cNvSpPr>
          <p:nvPr/>
        </p:nvSpPr>
        <p:spPr bwMode="auto">
          <a:xfrm>
            <a:off x="1676400" y="1143000"/>
            <a:ext cx="8915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spcBef>
                <a:spcPts val="813"/>
              </a:spcBef>
              <a:buClrTx/>
            </a:pPr>
            <a:endParaRPr lang="en-US" sz="3200">
              <a:solidFill>
                <a:srgbClr val="FFFFFF"/>
              </a:solidFill>
            </a:endParaRPr>
          </a:p>
          <a:p>
            <a:pPr algn="ctr" defTabSz="457200" eaLnBrk="0" fontAlgn="base" hangingPunct="0">
              <a:spcBef>
                <a:spcPts val="813"/>
              </a:spcBef>
              <a:buClrTx/>
            </a:pPr>
            <a:r>
              <a:rPr lang="en-US" sz="3200" i="1">
                <a:solidFill>
                  <a:srgbClr val="FFFFFF"/>
                </a:solidFill>
              </a:rPr>
              <a:t>The “AND (</a:t>
            </a:r>
            <a:r>
              <a:rPr lang="en-US" sz="3200" i="1">
                <a:solidFill>
                  <a:srgbClr val="FFFF00"/>
                </a:solidFill>
              </a:rPr>
              <a:t>&amp;&amp;</a:t>
            </a:r>
            <a:r>
              <a:rPr lang="en-US" sz="3200" i="1">
                <a:solidFill>
                  <a:srgbClr val="FFFFFF"/>
                </a:solidFill>
              </a:rPr>
              <a:t>)” Logical Operator</a:t>
            </a:r>
            <a:r>
              <a:rPr lang="en-US" sz="3200">
                <a:solidFill>
                  <a:srgbClr val="FFFFFF"/>
                </a:solidFill>
              </a:rPr>
              <a:t> </a:t>
            </a:r>
          </a:p>
          <a:p>
            <a:pPr algn="ctr" defTabSz="457200" eaLnBrk="0" fontAlgn="base" hangingPunct="0">
              <a:spcBef>
                <a:spcPts val="1213"/>
              </a:spcBef>
              <a:buClrTx/>
            </a:pPr>
            <a:endParaRPr lang="en-US" sz="4800">
              <a:solidFill>
                <a:srgbClr val="FFFFFF"/>
              </a:solidFill>
            </a:endParaRPr>
          </a:p>
          <a:p>
            <a:pPr defTabSz="457200" eaLnBrk="0" fontAlgn="base" hangingPunct="0">
              <a:spcBef>
                <a:spcPts val="813"/>
              </a:spcBef>
              <a:buClrTx/>
            </a:pPr>
            <a:r>
              <a:rPr lang="en-US" sz="3200">
                <a:solidFill>
                  <a:srgbClr val="FF66FF"/>
                </a:solidFill>
              </a:rPr>
              <a:t>    if (</a:t>
            </a:r>
            <a:r>
              <a:rPr lang="en-US" sz="3200">
                <a:solidFill>
                  <a:srgbClr val="FFFFFF"/>
                </a:solidFill>
              </a:rPr>
              <a:t> </a:t>
            </a:r>
            <a:r>
              <a:rPr lang="en-US" sz="3200">
                <a:solidFill>
                  <a:srgbClr val="FF66FF"/>
                </a:solidFill>
              </a:rPr>
              <a:t>(</a:t>
            </a:r>
            <a:r>
              <a:rPr lang="en-US" sz="3200">
                <a:solidFill>
                  <a:srgbClr val="FFFFFF"/>
                </a:solidFill>
              </a:rPr>
              <a:t>pitch </a:t>
            </a:r>
            <a:r>
              <a:rPr lang="en-US" sz="3200">
                <a:solidFill>
                  <a:srgbClr val="FF66FF"/>
                </a:solidFill>
              </a:rPr>
              <a:t>== “</a:t>
            </a:r>
            <a:r>
              <a:rPr lang="en-US" sz="3200">
                <a:solidFill>
                  <a:srgbClr val="FFFFFF"/>
                </a:solidFill>
              </a:rPr>
              <a:t>hard</a:t>
            </a:r>
            <a:r>
              <a:rPr lang="en-US" sz="3200">
                <a:solidFill>
                  <a:srgbClr val="FF66FF"/>
                </a:solidFill>
              </a:rPr>
              <a:t>”)</a:t>
            </a:r>
            <a:r>
              <a:rPr lang="en-US" sz="3200">
                <a:solidFill>
                  <a:srgbClr val="FFFF00"/>
                </a:solidFill>
              </a:rPr>
              <a:t> &amp;&amp;</a:t>
            </a:r>
            <a:r>
              <a:rPr lang="en-US" sz="3200">
                <a:solidFill>
                  <a:srgbClr val="FFFFFF"/>
                </a:solidFill>
              </a:rPr>
              <a:t> </a:t>
            </a:r>
            <a:r>
              <a:rPr lang="en-US" sz="3200">
                <a:solidFill>
                  <a:srgbClr val="FF66FF"/>
                </a:solidFill>
              </a:rPr>
              <a:t>(</a:t>
            </a:r>
            <a:r>
              <a:rPr lang="en-US" sz="3200">
                <a:solidFill>
                  <a:srgbClr val="FFFFFF"/>
                </a:solidFill>
              </a:rPr>
              <a:t>bowler </a:t>
            </a:r>
            <a:r>
              <a:rPr lang="en-US" sz="3200">
                <a:solidFill>
                  <a:srgbClr val="FF66FF"/>
                </a:solidFill>
              </a:rPr>
              <a:t>== “</a:t>
            </a:r>
            <a:r>
              <a:rPr lang="en-US" sz="3200">
                <a:solidFill>
                  <a:srgbClr val="FFFFFF"/>
                </a:solidFill>
              </a:rPr>
              <a:t>fast</a:t>
            </a:r>
            <a:r>
              <a:rPr lang="en-US" sz="3200">
                <a:solidFill>
                  <a:srgbClr val="FF66FF"/>
                </a:solidFill>
              </a:rPr>
              <a:t>”) )</a:t>
            </a:r>
          </a:p>
          <a:p>
            <a:pPr defTabSz="457200" eaLnBrk="0" fontAlgn="base" hangingPunct="0">
              <a:spcBef>
                <a:spcPts val="813"/>
              </a:spcBef>
              <a:buClrTx/>
            </a:pPr>
            <a:r>
              <a:rPr lang="en-US" sz="3200">
                <a:solidFill>
                  <a:srgbClr val="FFFFFF"/>
                </a:solidFill>
              </a:rPr>
              <a:t>			myStatus</a:t>
            </a:r>
            <a:r>
              <a:rPr lang="en-US" sz="3200">
                <a:solidFill>
                  <a:srgbClr val="FF66FF"/>
                </a:solidFill>
              </a:rPr>
              <a:t> = “</a:t>
            </a:r>
            <a:r>
              <a:rPr lang="en-US" sz="3200">
                <a:solidFill>
                  <a:srgbClr val="FFFFFF"/>
                </a:solidFill>
              </a:rPr>
              <a:t>Pulled muscle</a:t>
            </a:r>
            <a:r>
              <a:rPr lang="en-US" sz="3200">
                <a:solidFill>
                  <a:srgbClr val="FF66FF"/>
                </a:solidFill>
              </a:rPr>
              <a:t>”;</a:t>
            </a:r>
          </a:p>
          <a:p>
            <a:pPr algn="ctr" defTabSz="457200" eaLnBrk="0" fontAlgn="base" hangingPunct="0">
              <a:spcBef>
                <a:spcPts val="1213"/>
              </a:spcBef>
              <a:buClrTx/>
            </a:pPr>
            <a:endParaRPr lang="en-US" sz="4800">
              <a:solidFill>
                <a:srgbClr val="FFFFFF"/>
              </a:solidFill>
            </a:endParaRPr>
          </a:p>
          <a:p>
            <a:pPr defTabSz="457200" eaLnBrk="0" fontAlgn="base" hangingPunct="0">
              <a:spcBef>
                <a:spcPts val="813"/>
              </a:spcBef>
              <a:buClrTx/>
            </a:pPr>
            <a:r>
              <a:rPr lang="en-US" sz="3200" i="1">
                <a:solidFill>
                  <a:srgbClr val="FFFFFF"/>
                </a:solidFill>
              </a:rPr>
              <a:t>The value of the variable myStatus will be set to “Pulled muscle” if both of the conditions are true</a:t>
            </a:r>
          </a:p>
        </p:txBody>
      </p:sp>
      <p:sp>
        <p:nvSpPr>
          <p:cNvPr id="76805" name="Rectangle 4"/>
          <p:cNvSpPr>
            <a:spLocks noChangeArrowheads="1"/>
          </p:cNvSpPr>
          <p:nvPr/>
        </p:nvSpPr>
        <p:spPr bwMode="auto">
          <a:xfrm>
            <a:off x="1600200" y="3124200"/>
            <a:ext cx="9067800" cy="1371600"/>
          </a:xfrm>
          <a:prstGeom prst="rect">
            <a:avLst/>
          </a:prstGeom>
          <a:noFill/>
          <a:ln w="7632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eaLnBrk="0" fontAlgn="base" hangingPunct="0">
              <a:spcBef>
                <a:spcPts val="13"/>
              </a:spcBef>
              <a:spcAft>
                <a:spcPts val="13"/>
              </a:spcAft>
              <a:buClr>
                <a:srgbClr val="000000"/>
              </a:buClr>
              <a:buSzPct val="100000"/>
            </a:pPr>
            <a:endParaRPr lang="en-US" sz="2800">
              <a:solidFill>
                <a:srgbClr val="FFFFFF"/>
              </a:solidFill>
            </a:endParaRPr>
          </a:p>
        </p:txBody>
      </p:sp>
    </p:spTree>
    <p:extLst>
      <p:ext uri="{BB962C8B-B14F-4D97-AF65-F5344CB8AC3E}">
        <p14:creationId xmlns:p14="http://schemas.microsoft.com/office/powerpoint/2010/main" val="475865126"/>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0"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9B6C18A1-0639-4C0C-909D-C003FE43E3D8}" type="slidenum">
              <a:rPr lang="en-US" sz="1400">
                <a:solidFill>
                  <a:srgbClr val="FFFFFF"/>
                </a:solidFill>
              </a:rPr>
              <a:pPr algn="r" defTabSz="457200" eaLnBrk="0" fontAlgn="base" hangingPunct="0">
                <a:buClrTx/>
              </a:pPr>
              <a:t>29</a:t>
            </a:fld>
            <a:endParaRPr lang="en-US" sz="1400">
              <a:solidFill>
                <a:srgbClr val="FFFFFF"/>
              </a:solidFill>
            </a:endParaRPr>
          </a:p>
        </p:txBody>
      </p:sp>
      <p:sp>
        <p:nvSpPr>
          <p:cNvPr id="78851" name="Text Box 2"/>
          <p:cNvSpPr txBox="1">
            <a:spLocks noChangeArrowheads="1"/>
          </p:cNvSpPr>
          <p:nvPr/>
        </p:nvSpPr>
        <p:spPr bwMode="auto">
          <a:xfrm>
            <a:off x="2209800" y="-1524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Logical Operators</a:t>
            </a:r>
          </a:p>
        </p:txBody>
      </p:sp>
      <p:sp>
        <p:nvSpPr>
          <p:cNvPr id="78852" name="Text Box 3"/>
          <p:cNvSpPr txBox="1">
            <a:spLocks noChangeArrowheads="1"/>
          </p:cNvSpPr>
          <p:nvPr/>
        </p:nvSpPr>
        <p:spPr bwMode="auto">
          <a:xfrm>
            <a:off x="1828800" y="1752600"/>
            <a:ext cx="87630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1720850" algn="l"/>
                <a:tab pos="3208338"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buClrTx/>
            </a:pPr>
            <a:r>
              <a:rPr lang="en-US" sz="3600">
                <a:solidFill>
                  <a:srgbClr val="FFFFFF"/>
                </a:solidFill>
              </a:rPr>
              <a:t>a </a:t>
            </a:r>
            <a:r>
              <a:rPr lang="en-US" sz="3600">
                <a:solidFill>
                  <a:srgbClr val="FFFF00"/>
                </a:solidFill>
              </a:rPr>
              <a:t>&amp;&amp;</a:t>
            </a:r>
            <a:r>
              <a:rPr lang="en-US" sz="3600">
                <a:solidFill>
                  <a:srgbClr val="FFFFFF"/>
                </a:solidFill>
              </a:rPr>
              <a:t> b	AND 	</a:t>
            </a:r>
            <a:r>
              <a:rPr lang="en-US" sz="3200">
                <a:solidFill>
                  <a:srgbClr val="FFFFFF"/>
                </a:solidFill>
              </a:rPr>
              <a:t>True if both are true</a:t>
            </a:r>
          </a:p>
          <a:p>
            <a:pPr defTabSz="457200" eaLnBrk="0" fontAlgn="base" hangingPunct="0">
              <a:spcBef>
                <a:spcPts val="813"/>
              </a:spcBef>
              <a:buClrTx/>
            </a:pPr>
            <a:endParaRPr lang="en-US" sz="3200">
              <a:solidFill>
                <a:srgbClr val="FFFFFF"/>
              </a:solidFill>
            </a:endParaRPr>
          </a:p>
          <a:p>
            <a:pPr defTabSz="457200" eaLnBrk="0" fontAlgn="base" hangingPunct="0">
              <a:spcBef>
                <a:spcPts val="813"/>
              </a:spcBef>
              <a:buClrTx/>
            </a:pPr>
            <a:r>
              <a:rPr lang="en-US" sz="3600">
                <a:solidFill>
                  <a:srgbClr val="FFFFFF"/>
                </a:solidFill>
              </a:rPr>
              <a:t>a </a:t>
            </a:r>
            <a:r>
              <a:rPr lang="en-US" sz="3600">
                <a:solidFill>
                  <a:srgbClr val="FFFF00"/>
                </a:solidFill>
              </a:rPr>
              <a:t>||</a:t>
            </a:r>
            <a:r>
              <a:rPr lang="en-US" sz="3600">
                <a:solidFill>
                  <a:srgbClr val="FFFFFF"/>
                </a:solidFill>
              </a:rPr>
              <a:t> b	OR	</a:t>
            </a:r>
            <a:r>
              <a:rPr lang="en-US" sz="3200">
                <a:solidFill>
                  <a:srgbClr val="FFFFFF"/>
                </a:solidFill>
              </a:rPr>
              <a:t>True of either or both are true</a:t>
            </a:r>
          </a:p>
          <a:p>
            <a:pPr defTabSz="457200" eaLnBrk="0" fontAlgn="base" hangingPunct="0">
              <a:spcBef>
                <a:spcPts val="813"/>
              </a:spcBef>
              <a:buClrTx/>
            </a:pPr>
            <a:endParaRPr lang="en-US" sz="3200">
              <a:solidFill>
                <a:srgbClr val="FFFFFF"/>
              </a:solidFill>
            </a:endParaRPr>
          </a:p>
          <a:p>
            <a:pPr defTabSz="457200" eaLnBrk="0" fontAlgn="base" hangingPunct="0">
              <a:spcBef>
                <a:spcPts val="813"/>
              </a:spcBef>
              <a:buClrTx/>
            </a:pPr>
            <a:r>
              <a:rPr lang="en-US" sz="3600">
                <a:solidFill>
                  <a:srgbClr val="FFFF00"/>
                </a:solidFill>
              </a:rPr>
              <a:t>!</a:t>
            </a:r>
            <a:r>
              <a:rPr lang="en-US" sz="3600">
                <a:solidFill>
                  <a:srgbClr val="FFFFFF"/>
                </a:solidFill>
              </a:rPr>
              <a:t>a	NOT	</a:t>
            </a:r>
            <a:r>
              <a:rPr lang="en-US" sz="3200">
                <a:solidFill>
                  <a:srgbClr val="FFFFFF"/>
                </a:solidFill>
              </a:rPr>
              <a:t>True if a is false</a:t>
            </a:r>
          </a:p>
        </p:txBody>
      </p:sp>
    </p:spTree>
    <p:extLst>
      <p:ext uri="{BB962C8B-B14F-4D97-AF65-F5344CB8AC3E}">
        <p14:creationId xmlns:p14="http://schemas.microsoft.com/office/powerpoint/2010/main" val="3600356737"/>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55F7F95B-C291-4E4C-AB0B-7BEECFB27586}" type="slidenum">
              <a:rPr lang="en-US" sz="1400">
                <a:solidFill>
                  <a:srgbClr val="FFFFFF"/>
                </a:solidFill>
              </a:rPr>
              <a:pPr algn="r" defTabSz="457200" eaLnBrk="0" fontAlgn="base" hangingPunct="0">
                <a:buClrTx/>
              </a:pPr>
              <a:t>30</a:t>
            </a:fld>
            <a:endParaRPr lang="en-US" sz="1400">
              <a:solidFill>
                <a:srgbClr val="FFFFFF"/>
              </a:solidFill>
            </a:endParaRPr>
          </a:p>
        </p:txBody>
      </p:sp>
      <p:sp>
        <p:nvSpPr>
          <p:cNvPr id="80899" name="Text Box 2"/>
          <p:cNvSpPr txBox="1">
            <a:spLocks noChangeArrowheads="1"/>
          </p:cNvSpPr>
          <p:nvPr/>
        </p:nvSpPr>
        <p:spPr bwMode="auto">
          <a:xfrm>
            <a:off x="2209800" y="-1524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Example</a:t>
            </a:r>
          </a:p>
        </p:txBody>
      </p:sp>
      <p:sp>
        <p:nvSpPr>
          <p:cNvPr id="80900" name="Text Box 3"/>
          <p:cNvSpPr txBox="1">
            <a:spLocks noChangeArrowheads="1"/>
          </p:cNvSpPr>
          <p:nvPr/>
        </p:nvSpPr>
        <p:spPr bwMode="auto">
          <a:xfrm>
            <a:off x="1828800" y="1447800"/>
            <a:ext cx="87630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buClrTx/>
            </a:pPr>
            <a:r>
              <a:rPr lang="en-US" sz="3200">
                <a:solidFill>
                  <a:srgbClr val="FF66FF"/>
                </a:solidFill>
              </a:rPr>
              <a:t>if (</a:t>
            </a:r>
            <a:r>
              <a:rPr lang="en-US" sz="3200">
                <a:solidFill>
                  <a:srgbClr val="FFFFFF"/>
                </a:solidFill>
              </a:rPr>
              <a:t> x</a:t>
            </a:r>
            <a:r>
              <a:rPr lang="en-US" sz="3200">
                <a:solidFill>
                  <a:srgbClr val="FFFF00"/>
                </a:solidFill>
              </a:rPr>
              <a:t> ||</a:t>
            </a:r>
            <a:r>
              <a:rPr lang="en-US" sz="3200">
                <a:solidFill>
                  <a:srgbClr val="FFFFFF"/>
                </a:solidFill>
              </a:rPr>
              <a:t> y</a:t>
            </a:r>
            <a:r>
              <a:rPr lang="en-US" sz="3200">
                <a:solidFill>
                  <a:srgbClr val="FF66FF"/>
                </a:solidFill>
              </a:rPr>
              <a:t> )</a:t>
            </a:r>
          </a:p>
          <a:p>
            <a:pPr defTabSz="457200" eaLnBrk="0" fontAlgn="base" hangingPunct="0">
              <a:spcBef>
                <a:spcPts val="813"/>
              </a:spcBef>
              <a:buClrTx/>
            </a:pPr>
            <a:r>
              <a:rPr lang="en-US" sz="3200">
                <a:solidFill>
                  <a:srgbClr val="FFFFFF"/>
                </a:solidFill>
              </a:rPr>
              <a:t>	</a:t>
            </a:r>
            <a:r>
              <a:rPr lang="en-US" sz="3200">
                <a:solidFill>
                  <a:srgbClr val="FF66FF"/>
                </a:solidFill>
              </a:rPr>
              <a:t>document.write (“</a:t>
            </a:r>
            <a:r>
              <a:rPr lang="en-US" sz="3200">
                <a:solidFill>
                  <a:srgbClr val="FFFFFF"/>
                </a:solidFill>
              </a:rPr>
              <a:t>Either or both are true</a:t>
            </a:r>
            <a:r>
              <a:rPr lang="en-US" sz="3200">
                <a:solidFill>
                  <a:srgbClr val="FF66FF"/>
                </a:solidFill>
              </a:rPr>
              <a:t>”);</a:t>
            </a:r>
          </a:p>
          <a:p>
            <a:pPr defTabSz="457200" eaLnBrk="0" fontAlgn="base" hangingPunct="0">
              <a:spcBef>
                <a:spcPts val="813"/>
              </a:spcBef>
              <a:buClrTx/>
            </a:pPr>
            <a:r>
              <a:rPr lang="en-US" sz="3200">
                <a:solidFill>
                  <a:srgbClr val="FF66FF"/>
                </a:solidFill>
              </a:rPr>
              <a:t>else</a:t>
            </a:r>
          </a:p>
          <a:p>
            <a:pPr defTabSz="457200" eaLnBrk="0" fontAlgn="base" hangingPunct="0">
              <a:spcBef>
                <a:spcPts val="813"/>
              </a:spcBef>
              <a:buClrTx/>
            </a:pPr>
            <a:r>
              <a:rPr lang="en-US" sz="3200">
                <a:solidFill>
                  <a:srgbClr val="FFFFFF"/>
                </a:solidFill>
              </a:rPr>
              <a:t>	</a:t>
            </a:r>
            <a:r>
              <a:rPr lang="en-US" sz="3200">
                <a:solidFill>
                  <a:srgbClr val="FF66FF"/>
                </a:solidFill>
              </a:rPr>
              <a:t>document.write (“</a:t>
            </a:r>
            <a:r>
              <a:rPr lang="en-US" sz="3200">
                <a:solidFill>
                  <a:srgbClr val="FFFFFF"/>
                </a:solidFill>
              </a:rPr>
              <a:t>Both are false</a:t>
            </a:r>
            <a:r>
              <a:rPr lang="en-US" sz="3200">
                <a:solidFill>
                  <a:srgbClr val="FF66FF"/>
                </a:solidFill>
              </a:rPr>
              <a:t>”);</a:t>
            </a:r>
          </a:p>
          <a:p>
            <a:pPr defTabSz="457200" eaLnBrk="0" fontAlgn="base" hangingPunct="0">
              <a:spcBef>
                <a:spcPts val="813"/>
              </a:spcBef>
              <a:buClrTx/>
            </a:pPr>
            <a:endParaRPr lang="en-US" sz="3200">
              <a:solidFill>
                <a:srgbClr val="FF66FF"/>
              </a:solidFill>
            </a:endParaRPr>
          </a:p>
        </p:txBody>
      </p:sp>
    </p:spTree>
    <p:extLst>
      <p:ext uri="{BB962C8B-B14F-4D97-AF65-F5344CB8AC3E}">
        <p14:creationId xmlns:p14="http://schemas.microsoft.com/office/powerpoint/2010/main" val="2247782736"/>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2946"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7839430E-570A-48AC-B082-DD447175AC78}" type="slidenum">
              <a:rPr lang="en-US" sz="1400">
                <a:solidFill>
                  <a:srgbClr val="FFFFFF"/>
                </a:solidFill>
              </a:rPr>
              <a:pPr algn="r" defTabSz="457200" eaLnBrk="0" fontAlgn="base" hangingPunct="0">
                <a:buClrTx/>
              </a:pPr>
              <a:t>31</a:t>
            </a:fld>
            <a:endParaRPr lang="en-US" sz="1400">
              <a:solidFill>
                <a:srgbClr val="FFFFFF"/>
              </a:solidFill>
            </a:endParaRPr>
          </a:p>
        </p:txBody>
      </p:sp>
      <p:sp>
        <p:nvSpPr>
          <p:cNvPr id="82947" name="Text Box 2"/>
          <p:cNvSpPr txBox="1">
            <a:spLocks noChangeArrowheads="1"/>
          </p:cNvSpPr>
          <p:nvPr/>
        </p:nvSpPr>
        <p:spPr bwMode="auto">
          <a:xfrm>
            <a:off x="1828800" y="2514600"/>
            <a:ext cx="8915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buClrTx/>
            </a:pPr>
            <a:r>
              <a:rPr lang="en-US" sz="3600">
                <a:solidFill>
                  <a:srgbClr val="FFFFFF"/>
                </a:solidFill>
              </a:rPr>
              <a:t>So far we have looked at the </a:t>
            </a:r>
            <a:r>
              <a:rPr lang="en-US" sz="3600">
                <a:solidFill>
                  <a:srgbClr val="00FF00"/>
                </a:solidFill>
              </a:rPr>
              <a:t>assignment</a:t>
            </a:r>
            <a:r>
              <a:rPr lang="en-US" sz="3600">
                <a:solidFill>
                  <a:srgbClr val="FFFFFF"/>
                </a:solidFill>
              </a:rPr>
              <a:t> operator, </a:t>
            </a:r>
            <a:r>
              <a:rPr lang="en-US" sz="3600">
                <a:solidFill>
                  <a:srgbClr val="00FF00"/>
                </a:solidFill>
              </a:rPr>
              <a:t>arithmetic</a:t>
            </a:r>
            <a:r>
              <a:rPr lang="en-US" sz="3600">
                <a:solidFill>
                  <a:srgbClr val="FFFFFF"/>
                </a:solidFill>
              </a:rPr>
              <a:t> operators, </a:t>
            </a:r>
            <a:r>
              <a:rPr lang="en-US" sz="3600">
                <a:solidFill>
                  <a:srgbClr val="FFFF00"/>
                </a:solidFill>
              </a:rPr>
              <a:t>comparison</a:t>
            </a:r>
            <a:r>
              <a:rPr lang="en-US" sz="3600">
                <a:solidFill>
                  <a:srgbClr val="FFFFFF"/>
                </a:solidFill>
              </a:rPr>
              <a:t> operators and </a:t>
            </a:r>
            <a:r>
              <a:rPr lang="en-US" sz="3600">
                <a:solidFill>
                  <a:srgbClr val="FFFF00"/>
                </a:solidFill>
              </a:rPr>
              <a:t>logical</a:t>
            </a:r>
            <a:r>
              <a:rPr lang="en-US" sz="3600">
                <a:solidFill>
                  <a:srgbClr val="FFFFFF"/>
                </a:solidFill>
              </a:rPr>
              <a:t> operators</a:t>
            </a:r>
            <a:br>
              <a:rPr lang="en-US" sz="3600">
                <a:solidFill>
                  <a:srgbClr val="FFFFFF"/>
                </a:solidFill>
              </a:rPr>
            </a:br>
            <a:br>
              <a:rPr lang="en-US" sz="3600">
                <a:solidFill>
                  <a:srgbClr val="FFFFFF"/>
                </a:solidFill>
              </a:rPr>
            </a:br>
            <a:r>
              <a:rPr lang="en-US" sz="3600">
                <a:solidFill>
                  <a:srgbClr val="FFFFFF"/>
                </a:solidFill>
              </a:rPr>
              <a:t>The </a:t>
            </a:r>
            <a:r>
              <a:rPr lang="en-US" sz="3600">
                <a:solidFill>
                  <a:srgbClr val="00FF00"/>
                </a:solidFill>
              </a:rPr>
              <a:t>final category</a:t>
            </a:r>
            <a:r>
              <a:rPr lang="en-US" sz="3600">
                <a:solidFill>
                  <a:srgbClr val="FFFFFF"/>
                </a:solidFill>
              </a:rPr>
              <a:t> that we are going to look at is </a:t>
            </a:r>
            <a:r>
              <a:rPr lang="en-US" sz="3600">
                <a:solidFill>
                  <a:srgbClr val="00FF00"/>
                </a:solidFill>
              </a:rPr>
              <a:t>string operators</a:t>
            </a:r>
            <a:br>
              <a:rPr lang="en-US" sz="3600">
                <a:solidFill>
                  <a:srgbClr val="FFFFFF"/>
                </a:solidFill>
              </a:rPr>
            </a:br>
            <a:br>
              <a:rPr lang="en-US" sz="3600">
                <a:solidFill>
                  <a:srgbClr val="FFFFFF"/>
                </a:solidFill>
              </a:rPr>
            </a:br>
            <a:r>
              <a:rPr lang="en-US" sz="3600">
                <a:solidFill>
                  <a:srgbClr val="FFFFFF"/>
                </a:solidFill>
              </a:rPr>
              <a:t>In that category, we look at only one, the </a:t>
            </a:r>
            <a:r>
              <a:rPr lang="en-US" sz="3600">
                <a:solidFill>
                  <a:srgbClr val="FFFF00"/>
                </a:solidFill>
              </a:rPr>
              <a:t>concatenation</a:t>
            </a:r>
            <a:r>
              <a:rPr lang="en-US" sz="3600">
                <a:solidFill>
                  <a:srgbClr val="FFFFFF"/>
                </a:solidFill>
              </a:rPr>
              <a:t> operator</a:t>
            </a:r>
          </a:p>
        </p:txBody>
      </p:sp>
    </p:spTree>
    <p:extLst>
      <p:ext uri="{BB962C8B-B14F-4D97-AF65-F5344CB8AC3E}">
        <p14:creationId xmlns:p14="http://schemas.microsoft.com/office/powerpoint/2010/main" val="3105777298"/>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4994"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9CE246C9-5A24-45EE-A391-5E78BF43599A}" type="slidenum">
              <a:rPr lang="en-US" sz="1400">
                <a:solidFill>
                  <a:srgbClr val="FFFFFF"/>
                </a:solidFill>
              </a:rPr>
              <a:pPr algn="r" defTabSz="457200" eaLnBrk="0" fontAlgn="base" hangingPunct="0">
                <a:buClrTx/>
              </a:pPr>
              <a:t>32</a:t>
            </a:fld>
            <a:endParaRPr lang="en-US" sz="1400">
              <a:solidFill>
                <a:srgbClr val="FFFFFF"/>
              </a:solidFill>
            </a:endParaRPr>
          </a:p>
        </p:txBody>
      </p:sp>
      <p:sp>
        <p:nvSpPr>
          <p:cNvPr id="84995"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The “+” String Operator</a:t>
            </a:r>
          </a:p>
        </p:txBody>
      </p:sp>
      <p:sp>
        <p:nvSpPr>
          <p:cNvPr id="84996" name="Text Box 3"/>
          <p:cNvSpPr txBox="1">
            <a:spLocks noChangeArrowheads="1"/>
          </p:cNvSpPr>
          <p:nvPr/>
        </p:nvSpPr>
        <p:spPr bwMode="auto">
          <a:xfrm>
            <a:off x="1524000" y="1524000"/>
            <a:ext cx="9144000" cy="5334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buClrTx/>
            </a:pPr>
            <a:r>
              <a:rPr lang="en-US" sz="3200" i="1">
                <a:solidFill>
                  <a:srgbClr val="FFFFFF"/>
                </a:solidFill>
              </a:rPr>
              <a:t>The “</a:t>
            </a:r>
            <a:r>
              <a:rPr lang="en-US" sz="3200" i="1">
                <a:solidFill>
                  <a:srgbClr val="FFFF00"/>
                </a:solidFill>
              </a:rPr>
              <a:t>+</a:t>
            </a:r>
            <a:r>
              <a:rPr lang="en-US" sz="3200" i="1">
                <a:solidFill>
                  <a:srgbClr val="FFFFFF"/>
                </a:solidFill>
              </a:rPr>
              <a:t>” operator can be used to concatenate two strings</a:t>
            </a:r>
          </a:p>
          <a:p>
            <a:pPr defTabSz="457200" eaLnBrk="0" fontAlgn="base" hangingPunct="0">
              <a:spcBef>
                <a:spcPts val="813"/>
              </a:spcBef>
              <a:buClrTx/>
            </a:pPr>
            <a:endParaRPr lang="en-US" sz="3200" i="1">
              <a:solidFill>
                <a:srgbClr val="FFFFFF"/>
              </a:solidFill>
            </a:endParaRPr>
          </a:p>
          <a:p>
            <a:pPr defTabSz="457200" eaLnBrk="0" fontAlgn="base" hangingPunct="0">
              <a:spcBef>
                <a:spcPts val="813"/>
              </a:spcBef>
              <a:buClr>
                <a:srgbClr val="FFFFFF"/>
              </a:buClr>
            </a:pPr>
            <a:endParaRPr lang="en-US" sz="3200">
              <a:solidFill>
                <a:srgbClr val="FFFFFF"/>
              </a:solidFill>
            </a:endParaRPr>
          </a:p>
          <a:p>
            <a:pPr defTabSz="457200" eaLnBrk="0" fontAlgn="base" hangingPunct="0">
              <a:spcBef>
                <a:spcPts val="913"/>
              </a:spcBef>
              <a:buClrTx/>
            </a:pPr>
            <a:r>
              <a:rPr lang="en-US" sz="3200">
                <a:solidFill>
                  <a:srgbClr val="FFFFFF"/>
                </a:solidFill>
              </a:rPr>
              <a:t>		</a:t>
            </a:r>
            <a:r>
              <a:rPr lang="en-US" sz="3600">
                <a:solidFill>
                  <a:srgbClr val="FFFFFF"/>
                </a:solidFill>
              </a:rPr>
              <a:t>title </a:t>
            </a:r>
            <a:r>
              <a:rPr lang="en-US" sz="3600">
                <a:solidFill>
                  <a:srgbClr val="FF66FF"/>
                </a:solidFill>
              </a:rPr>
              <a:t>= “</a:t>
            </a:r>
            <a:r>
              <a:rPr lang="en-US" sz="3600">
                <a:solidFill>
                  <a:srgbClr val="FFFFFF"/>
                </a:solidFill>
              </a:rPr>
              <a:t>bhola</a:t>
            </a:r>
            <a:r>
              <a:rPr lang="en-US" sz="3600">
                <a:solidFill>
                  <a:srgbClr val="FF66FF"/>
                </a:solidFill>
              </a:rPr>
              <a:t>” </a:t>
            </a:r>
            <a:r>
              <a:rPr lang="en-US" sz="3600">
                <a:solidFill>
                  <a:srgbClr val="FFFF00"/>
                </a:solidFill>
              </a:rPr>
              <a:t>+</a:t>
            </a:r>
            <a:r>
              <a:rPr lang="en-US" sz="3600">
                <a:solidFill>
                  <a:srgbClr val="FF66FF"/>
                </a:solidFill>
              </a:rPr>
              <a:t> “</a:t>
            </a:r>
            <a:r>
              <a:rPr lang="en-US" sz="3600">
                <a:solidFill>
                  <a:srgbClr val="FFFFFF"/>
                </a:solidFill>
              </a:rPr>
              <a:t>continental</a:t>
            </a:r>
            <a:r>
              <a:rPr lang="en-US" sz="3600">
                <a:solidFill>
                  <a:srgbClr val="FF66FF"/>
                </a:solidFill>
              </a:rPr>
              <a:t>”</a:t>
            </a:r>
          </a:p>
          <a:p>
            <a:pPr defTabSz="457200" eaLnBrk="0" fontAlgn="base" hangingPunct="0">
              <a:spcBef>
                <a:spcPts val="913"/>
              </a:spcBef>
              <a:buClrTx/>
            </a:pPr>
            <a:endParaRPr lang="en-US" sz="3600">
              <a:solidFill>
                <a:srgbClr val="FFFFFF"/>
              </a:solidFill>
            </a:endParaRPr>
          </a:p>
          <a:p>
            <a:pPr defTabSz="457200" eaLnBrk="0" fontAlgn="base" hangingPunct="0">
              <a:spcBef>
                <a:spcPts val="813"/>
              </a:spcBef>
              <a:buClrTx/>
            </a:pPr>
            <a:endParaRPr lang="en-US" sz="3200" i="1">
              <a:solidFill>
                <a:srgbClr val="FFFFFF"/>
              </a:solidFill>
            </a:endParaRPr>
          </a:p>
          <a:p>
            <a:pPr defTabSz="457200" eaLnBrk="0" fontAlgn="base" hangingPunct="0">
              <a:spcBef>
                <a:spcPts val="813"/>
              </a:spcBef>
              <a:buClrTx/>
            </a:pPr>
            <a:r>
              <a:rPr lang="en-US" sz="3200" i="1">
                <a:solidFill>
                  <a:srgbClr val="FFFFFF"/>
                </a:solidFill>
              </a:rPr>
              <a:t>The value of the variable title becomes “bholacontinental”</a:t>
            </a:r>
          </a:p>
        </p:txBody>
      </p:sp>
      <p:sp>
        <p:nvSpPr>
          <p:cNvPr id="84997" name="Rectangle 4"/>
          <p:cNvSpPr>
            <a:spLocks noChangeArrowheads="1"/>
          </p:cNvSpPr>
          <p:nvPr/>
        </p:nvSpPr>
        <p:spPr bwMode="auto">
          <a:xfrm>
            <a:off x="1524000" y="3352800"/>
            <a:ext cx="9067800" cy="1371600"/>
          </a:xfrm>
          <a:prstGeom prst="rect">
            <a:avLst/>
          </a:prstGeom>
          <a:noFill/>
          <a:ln w="7632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pPr defTabSz="457200" eaLnBrk="0" fontAlgn="base" hangingPunct="0">
              <a:spcBef>
                <a:spcPts val="13"/>
              </a:spcBef>
              <a:spcAft>
                <a:spcPts val="13"/>
              </a:spcAft>
              <a:buClr>
                <a:srgbClr val="000000"/>
              </a:buClr>
              <a:buSzPct val="100000"/>
            </a:pPr>
            <a:endParaRPr lang="en-US" sz="2800">
              <a:solidFill>
                <a:srgbClr val="FFFFFF"/>
              </a:solidFill>
            </a:endParaRPr>
          </a:p>
        </p:txBody>
      </p:sp>
    </p:spTree>
    <p:extLst>
      <p:ext uri="{BB962C8B-B14F-4D97-AF65-F5344CB8AC3E}">
        <p14:creationId xmlns:p14="http://schemas.microsoft.com/office/powerpoint/2010/main" val="331659107"/>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8C222142-A4B1-4742-8B64-6DAF16E86C74}" type="slidenum">
              <a:rPr lang="en-US" sz="1400">
                <a:solidFill>
                  <a:srgbClr val="FFFFFF"/>
                </a:solidFill>
              </a:rPr>
              <a:pPr algn="r" defTabSz="457200" eaLnBrk="0" fontAlgn="base" hangingPunct="0">
                <a:buClrTx/>
              </a:pPr>
              <a:t>33</a:t>
            </a:fld>
            <a:endParaRPr lang="en-US" sz="1400">
              <a:solidFill>
                <a:srgbClr val="FFFFFF"/>
              </a:solidFill>
            </a:endParaRPr>
          </a:p>
        </p:txBody>
      </p:sp>
      <p:sp>
        <p:nvSpPr>
          <p:cNvPr id="87043" name="Text Box 2"/>
          <p:cNvSpPr txBox="1">
            <a:spLocks noChangeArrowheads="1"/>
          </p:cNvSpPr>
          <p:nvPr/>
        </p:nvSpPr>
        <p:spPr bwMode="auto">
          <a:xfrm>
            <a:off x="2209800" y="-1524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Semicolon   </a:t>
            </a:r>
            <a:r>
              <a:rPr lang="en-US" sz="4400" b="1">
                <a:solidFill>
                  <a:srgbClr val="FFFF00"/>
                </a:solidFill>
              </a:rPr>
              <a:t>;</a:t>
            </a:r>
          </a:p>
        </p:txBody>
      </p:sp>
      <p:sp>
        <p:nvSpPr>
          <p:cNvPr id="87044" name="Text Box 3"/>
          <p:cNvSpPr txBox="1">
            <a:spLocks noChangeArrowheads="1"/>
          </p:cNvSpPr>
          <p:nvPr/>
        </p:nvSpPr>
        <p:spPr bwMode="auto">
          <a:xfrm>
            <a:off x="2362200" y="12192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buClrTx/>
            </a:pPr>
            <a:r>
              <a:rPr lang="en-US" sz="3200">
                <a:solidFill>
                  <a:srgbClr val="00FF00"/>
                </a:solidFill>
              </a:rPr>
              <a:t>Terminate</a:t>
            </a:r>
            <a:r>
              <a:rPr lang="en-US" sz="3200">
                <a:solidFill>
                  <a:srgbClr val="FFFFFF"/>
                </a:solidFill>
              </a:rPr>
              <a:t> all JavaScript statements with a semicolon.  It is </a:t>
            </a:r>
            <a:r>
              <a:rPr lang="en-US" sz="3200">
                <a:solidFill>
                  <a:srgbClr val="00FF00"/>
                </a:solidFill>
              </a:rPr>
              <a:t>not always necessary</a:t>
            </a:r>
            <a:r>
              <a:rPr lang="en-US" sz="3200">
                <a:solidFill>
                  <a:srgbClr val="FFFFFF"/>
                </a:solidFill>
              </a:rPr>
              <a:t>, but highly recommended.</a:t>
            </a:r>
          </a:p>
          <a:p>
            <a:pPr defTabSz="457200" eaLnBrk="0" fontAlgn="base" hangingPunct="0">
              <a:spcBef>
                <a:spcPts val="813"/>
              </a:spcBef>
              <a:buClrTx/>
            </a:pPr>
            <a:endParaRPr lang="en-US" sz="3200">
              <a:solidFill>
                <a:srgbClr val="FFFFFF"/>
              </a:solidFill>
            </a:endParaRPr>
          </a:p>
          <a:p>
            <a:pPr defTabSz="457200" eaLnBrk="0" fontAlgn="base" hangingPunct="0">
              <a:spcBef>
                <a:spcPts val="913"/>
              </a:spcBef>
              <a:buClrTx/>
            </a:pPr>
            <a:r>
              <a:rPr lang="en-US" sz="3200">
                <a:solidFill>
                  <a:srgbClr val="FFFFFF"/>
                </a:solidFill>
              </a:rPr>
              <a:t>	</a:t>
            </a:r>
            <a:r>
              <a:rPr lang="en-US" sz="3600">
                <a:solidFill>
                  <a:srgbClr val="FFFFFF"/>
                </a:solidFill>
              </a:rPr>
              <a:t>a = 23</a:t>
            </a:r>
            <a:r>
              <a:rPr lang="en-US" sz="3600">
                <a:solidFill>
                  <a:srgbClr val="FF66FF"/>
                </a:solidFill>
              </a:rPr>
              <a:t> ;</a:t>
            </a:r>
          </a:p>
          <a:p>
            <a:pPr defTabSz="457200" eaLnBrk="0" fontAlgn="base" hangingPunct="0">
              <a:spcBef>
                <a:spcPts val="913"/>
              </a:spcBef>
              <a:buClrTx/>
            </a:pPr>
            <a:r>
              <a:rPr lang="en-US" sz="3600">
                <a:solidFill>
                  <a:srgbClr val="FF66FF"/>
                </a:solidFill>
              </a:rPr>
              <a:t>	</a:t>
            </a:r>
            <a:r>
              <a:rPr lang="en-US" sz="3600">
                <a:solidFill>
                  <a:srgbClr val="FFFFFF"/>
                </a:solidFill>
              </a:rPr>
              <a:t>quotient = floor( a / 2)</a:t>
            </a:r>
            <a:r>
              <a:rPr lang="en-US" sz="3600">
                <a:solidFill>
                  <a:srgbClr val="FF66FF"/>
                </a:solidFill>
              </a:rPr>
              <a:t> ;</a:t>
            </a:r>
          </a:p>
          <a:p>
            <a:pPr defTabSz="457200" eaLnBrk="0" fontAlgn="base" hangingPunct="0">
              <a:spcBef>
                <a:spcPts val="913"/>
              </a:spcBef>
              <a:buClrTx/>
            </a:pPr>
            <a:r>
              <a:rPr lang="en-US" sz="3600">
                <a:solidFill>
                  <a:srgbClr val="FF66FF"/>
                </a:solidFill>
              </a:rPr>
              <a:t>	</a:t>
            </a:r>
            <a:r>
              <a:rPr lang="en-US" sz="3600">
                <a:solidFill>
                  <a:srgbClr val="FFFFFF"/>
                </a:solidFill>
              </a:rPr>
              <a:t>remainder = a % 2</a:t>
            </a:r>
            <a:r>
              <a:rPr lang="en-US" sz="3600">
                <a:solidFill>
                  <a:srgbClr val="FF66FF"/>
                </a:solidFill>
              </a:rPr>
              <a:t> ;</a:t>
            </a:r>
          </a:p>
        </p:txBody>
      </p:sp>
    </p:spTree>
    <p:extLst>
      <p:ext uri="{BB962C8B-B14F-4D97-AF65-F5344CB8AC3E}">
        <p14:creationId xmlns:p14="http://schemas.microsoft.com/office/powerpoint/2010/main" val="197365813"/>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9090"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724FA7C4-F1EB-4D0A-8864-D42D311EEFBB}" type="slidenum">
              <a:rPr lang="en-US" sz="1400">
                <a:solidFill>
                  <a:srgbClr val="FFFFFF"/>
                </a:solidFill>
              </a:rPr>
              <a:pPr algn="r" defTabSz="457200" eaLnBrk="0" fontAlgn="base" hangingPunct="0">
                <a:buClrTx/>
              </a:pPr>
              <a:t>34</a:t>
            </a:fld>
            <a:endParaRPr lang="en-US" sz="1400">
              <a:solidFill>
                <a:srgbClr val="FFFFFF"/>
              </a:solidFill>
            </a:endParaRPr>
          </a:p>
        </p:txBody>
      </p:sp>
      <p:sp>
        <p:nvSpPr>
          <p:cNvPr id="89091" name="Text Box 2"/>
          <p:cNvSpPr txBox="1">
            <a:spLocks noChangeArrowheads="1"/>
          </p:cNvSpPr>
          <p:nvPr/>
        </p:nvSpPr>
        <p:spPr bwMode="auto">
          <a:xfrm>
            <a:off x="1524000" y="-22860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Elements of JavaScript Statements</a:t>
            </a:r>
          </a:p>
        </p:txBody>
      </p:sp>
      <p:sp>
        <p:nvSpPr>
          <p:cNvPr id="47107" name="Text Box 3"/>
          <p:cNvSpPr txBox="1">
            <a:spLocks noChangeArrowheads="1"/>
          </p:cNvSpPr>
          <p:nvPr/>
        </p:nvSpPr>
        <p:spPr bwMode="auto">
          <a:xfrm>
            <a:off x="1676400" y="1295400"/>
            <a:ext cx="6096000" cy="5105400"/>
          </a:xfrm>
          <a:prstGeom prst="rect">
            <a:avLst/>
          </a:prstGeom>
          <a:noFill/>
          <a:ln w="7632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spcBef>
                <a:spcPts val="813"/>
              </a:spcBef>
              <a:buClrTx/>
            </a:pPr>
            <a:r>
              <a:rPr lang="en-US" sz="3200">
                <a:solidFill>
                  <a:srgbClr val="00FF00"/>
                </a:solidFill>
              </a:rPr>
              <a:t>b</a:t>
            </a:r>
            <a:r>
              <a:rPr lang="en-US" sz="3200">
                <a:solidFill>
                  <a:srgbClr val="FFFFFF"/>
                </a:solidFill>
              </a:rPr>
              <a:t> </a:t>
            </a:r>
            <a:r>
              <a:rPr lang="en-US" sz="3200">
                <a:solidFill>
                  <a:srgbClr val="FFFF00"/>
                </a:solidFill>
              </a:rPr>
              <a:t>=</a:t>
            </a:r>
            <a:r>
              <a:rPr lang="en-US" sz="3200">
                <a:solidFill>
                  <a:srgbClr val="FFFFFF"/>
                </a:solidFill>
              </a:rPr>
              <a:t> 2</a:t>
            </a:r>
            <a:r>
              <a:rPr lang="en-US" sz="3200">
                <a:solidFill>
                  <a:srgbClr val="FF66FF"/>
                </a:solidFill>
              </a:rPr>
              <a:t>;</a:t>
            </a:r>
          </a:p>
          <a:p>
            <a:pPr algn="ctr" defTabSz="457200" eaLnBrk="0" fontAlgn="base" hangingPunct="0">
              <a:spcBef>
                <a:spcPts val="813"/>
              </a:spcBef>
              <a:buClrTx/>
            </a:pPr>
            <a:endParaRPr lang="en-US" sz="3200">
              <a:solidFill>
                <a:srgbClr val="FFFFFF"/>
              </a:solidFill>
            </a:endParaRPr>
          </a:p>
          <a:p>
            <a:pPr algn="ctr" defTabSz="457200" eaLnBrk="0" fontAlgn="base" hangingPunct="0">
              <a:spcBef>
                <a:spcPts val="813"/>
              </a:spcBef>
              <a:buClrTx/>
            </a:pPr>
            <a:r>
              <a:rPr lang="en-US" sz="3200">
                <a:solidFill>
                  <a:srgbClr val="00FF00"/>
                </a:solidFill>
              </a:rPr>
              <a:t>sum</a:t>
            </a:r>
            <a:r>
              <a:rPr lang="en-US" sz="3200">
                <a:solidFill>
                  <a:srgbClr val="FFFFFF"/>
                </a:solidFill>
              </a:rPr>
              <a:t> </a:t>
            </a:r>
            <a:r>
              <a:rPr lang="en-US" sz="3200">
                <a:solidFill>
                  <a:srgbClr val="FFFF00"/>
                </a:solidFill>
              </a:rPr>
              <a:t>=</a:t>
            </a:r>
            <a:r>
              <a:rPr lang="en-US" sz="3200">
                <a:solidFill>
                  <a:srgbClr val="FFFFFF"/>
                </a:solidFill>
              </a:rPr>
              <a:t> </a:t>
            </a:r>
            <a:r>
              <a:rPr lang="en-US" sz="3200">
                <a:solidFill>
                  <a:srgbClr val="00FF00"/>
                </a:solidFill>
              </a:rPr>
              <a:t>sum</a:t>
            </a:r>
            <a:r>
              <a:rPr lang="en-US" sz="3200">
                <a:solidFill>
                  <a:srgbClr val="FFFFFF"/>
                </a:solidFill>
              </a:rPr>
              <a:t> </a:t>
            </a:r>
            <a:r>
              <a:rPr lang="en-US" sz="3200">
                <a:solidFill>
                  <a:srgbClr val="FFFF00"/>
                </a:solidFill>
              </a:rPr>
              <a:t>+</a:t>
            </a:r>
            <a:r>
              <a:rPr lang="en-US" sz="3200">
                <a:solidFill>
                  <a:srgbClr val="FFFFFF"/>
                </a:solidFill>
              </a:rPr>
              <a:t> 49</a:t>
            </a:r>
            <a:r>
              <a:rPr lang="en-US" sz="3200">
                <a:solidFill>
                  <a:srgbClr val="FF66FF"/>
                </a:solidFill>
              </a:rPr>
              <a:t>;</a:t>
            </a:r>
          </a:p>
          <a:p>
            <a:pPr algn="ctr" defTabSz="457200" eaLnBrk="0" fontAlgn="base" hangingPunct="0">
              <a:spcBef>
                <a:spcPts val="813"/>
              </a:spcBef>
              <a:buClrTx/>
            </a:pPr>
            <a:endParaRPr lang="en-US" sz="3200">
              <a:solidFill>
                <a:srgbClr val="FFFFFF"/>
              </a:solidFill>
            </a:endParaRPr>
          </a:p>
          <a:p>
            <a:pPr algn="ctr" defTabSz="457200" eaLnBrk="0" fontAlgn="base" hangingPunct="0">
              <a:spcBef>
                <a:spcPts val="813"/>
              </a:spcBef>
              <a:buClrTx/>
            </a:pPr>
            <a:r>
              <a:rPr lang="en-US" sz="3200">
                <a:solidFill>
                  <a:srgbClr val="00FF00"/>
                </a:solidFill>
              </a:rPr>
              <a:t>name</a:t>
            </a:r>
            <a:r>
              <a:rPr lang="en-US" sz="3200">
                <a:solidFill>
                  <a:srgbClr val="FFFFFF"/>
                </a:solidFill>
              </a:rPr>
              <a:t> </a:t>
            </a:r>
            <a:r>
              <a:rPr lang="en-US" sz="3200">
                <a:solidFill>
                  <a:srgbClr val="FFFF00"/>
                </a:solidFill>
              </a:rPr>
              <a:t>=</a:t>
            </a:r>
            <a:r>
              <a:rPr lang="en-US" sz="3200">
                <a:solidFill>
                  <a:srgbClr val="FFFFFF"/>
                </a:solidFill>
              </a:rPr>
              <a:t> “Bhola” </a:t>
            </a:r>
            <a:r>
              <a:rPr lang="en-US" sz="3200">
                <a:solidFill>
                  <a:srgbClr val="FFFF00"/>
                </a:solidFill>
              </a:rPr>
              <a:t>+</a:t>
            </a:r>
            <a:r>
              <a:rPr lang="en-US" sz="3200">
                <a:solidFill>
                  <a:srgbClr val="FFFFFF"/>
                </a:solidFill>
              </a:rPr>
              <a:t> “ Continental”</a:t>
            </a:r>
            <a:r>
              <a:rPr lang="en-US" sz="3200">
                <a:solidFill>
                  <a:srgbClr val="FF66FF"/>
                </a:solidFill>
              </a:rPr>
              <a:t>;</a:t>
            </a:r>
          </a:p>
          <a:p>
            <a:pPr algn="ctr" defTabSz="457200" eaLnBrk="0" fontAlgn="base" hangingPunct="0">
              <a:spcBef>
                <a:spcPts val="813"/>
              </a:spcBef>
              <a:buClrTx/>
            </a:pPr>
            <a:endParaRPr lang="en-US" sz="3200">
              <a:solidFill>
                <a:srgbClr val="FFFFFF"/>
              </a:solidFill>
            </a:endParaRPr>
          </a:p>
          <a:p>
            <a:pPr algn="ctr" defTabSz="457200" eaLnBrk="0" fontAlgn="base" hangingPunct="0">
              <a:spcBef>
                <a:spcPts val="813"/>
              </a:spcBef>
              <a:buClrTx/>
            </a:pPr>
            <a:r>
              <a:rPr lang="en-US" sz="3200">
                <a:solidFill>
                  <a:srgbClr val="00FF00"/>
                </a:solidFill>
              </a:rPr>
              <a:t>x</a:t>
            </a:r>
            <a:r>
              <a:rPr lang="en-US" sz="3200">
                <a:solidFill>
                  <a:srgbClr val="FFFFFF"/>
                </a:solidFill>
              </a:rPr>
              <a:t> </a:t>
            </a:r>
            <a:r>
              <a:rPr lang="en-US" sz="3200">
                <a:solidFill>
                  <a:srgbClr val="FFFF00"/>
                </a:solidFill>
              </a:rPr>
              <a:t>=</a:t>
            </a:r>
            <a:r>
              <a:rPr lang="en-US" sz="3200">
                <a:solidFill>
                  <a:srgbClr val="FFFFFF"/>
                </a:solidFill>
              </a:rPr>
              <a:t> </a:t>
            </a:r>
            <a:r>
              <a:rPr lang="en-US" sz="3200">
                <a:solidFill>
                  <a:srgbClr val="00FF00"/>
                </a:solidFill>
              </a:rPr>
              <a:t>Math.floor</a:t>
            </a:r>
            <a:r>
              <a:rPr lang="en-US" sz="3200">
                <a:solidFill>
                  <a:srgbClr val="FFFFFF"/>
                </a:solidFill>
              </a:rPr>
              <a:t> </a:t>
            </a:r>
            <a:r>
              <a:rPr lang="en-US" sz="3200">
                <a:solidFill>
                  <a:srgbClr val="FF66FF"/>
                </a:solidFill>
              </a:rPr>
              <a:t>(</a:t>
            </a:r>
            <a:r>
              <a:rPr lang="en-US" sz="3200">
                <a:solidFill>
                  <a:srgbClr val="FFFFFF"/>
                </a:solidFill>
              </a:rPr>
              <a:t> </a:t>
            </a:r>
            <a:r>
              <a:rPr lang="en-US" sz="3200">
                <a:solidFill>
                  <a:srgbClr val="00FF00"/>
                </a:solidFill>
              </a:rPr>
              <a:t>x</a:t>
            </a:r>
            <a:r>
              <a:rPr lang="en-US" sz="3200">
                <a:solidFill>
                  <a:srgbClr val="FFFFFF"/>
                </a:solidFill>
              </a:rPr>
              <a:t> </a:t>
            </a:r>
            <a:r>
              <a:rPr lang="en-US" sz="3200">
                <a:solidFill>
                  <a:srgbClr val="FF66FF"/>
                </a:solidFill>
              </a:rPr>
              <a:t>);</a:t>
            </a:r>
          </a:p>
        </p:txBody>
      </p:sp>
      <p:sp>
        <p:nvSpPr>
          <p:cNvPr id="47108" name="Rectangle 4"/>
          <p:cNvSpPr>
            <a:spLocks noChangeArrowheads="1"/>
          </p:cNvSpPr>
          <p:nvPr/>
        </p:nvSpPr>
        <p:spPr bwMode="auto">
          <a:xfrm>
            <a:off x="7772400" y="1295400"/>
            <a:ext cx="2743200" cy="5105400"/>
          </a:xfrm>
          <a:prstGeom prst="rect">
            <a:avLst/>
          </a:prstGeom>
          <a:noFill/>
          <a:ln w="76320">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buClrTx/>
            </a:pPr>
            <a:r>
              <a:rPr lang="en-US" sz="3600">
                <a:solidFill>
                  <a:srgbClr val="00FF00"/>
                </a:solidFill>
              </a:rPr>
              <a:t>Identifiers</a:t>
            </a:r>
          </a:p>
          <a:p>
            <a:pPr defTabSz="457200" eaLnBrk="0" fontAlgn="base" hangingPunct="0">
              <a:buClrTx/>
            </a:pPr>
            <a:endParaRPr lang="en-US" sz="3600">
              <a:solidFill>
                <a:srgbClr val="FFFFFF"/>
              </a:solidFill>
            </a:endParaRPr>
          </a:p>
          <a:p>
            <a:pPr defTabSz="457200" eaLnBrk="0" fontAlgn="base" hangingPunct="0">
              <a:buClrTx/>
            </a:pPr>
            <a:r>
              <a:rPr lang="en-US" sz="3600">
                <a:solidFill>
                  <a:srgbClr val="FFFF00"/>
                </a:solidFill>
              </a:rPr>
              <a:t>Operators</a:t>
            </a:r>
          </a:p>
          <a:p>
            <a:pPr defTabSz="457200" eaLnBrk="0" fontAlgn="base" hangingPunct="0">
              <a:buClrTx/>
            </a:pPr>
            <a:endParaRPr lang="en-US" sz="3600">
              <a:solidFill>
                <a:srgbClr val="FFFF00"/>
              </a:solidFill>
            </a:endParaRPr>
          </a:p>
          <a:p>
            <a:pPr defTabSz="457200" eaLnBrk="0" fontAlgn="base" hangingPunct="0">
              <a:buClrTx/>
            </a:pPr>
            <a:r>
              <a:rPr lang="en-US" sz="3600">
                <a:solidFill>
                  <a:srgbClr val="FFFFFF"/>
                </a:solidFill>
              </a:rPr>
              <a:t>Literals</a:t>
            </a:r>
          </a:p>
          <a:p>
            <a:pPr defTabSz="457200" eaLnBrk="0" fontAlgn="base" hangingPunct="0">
              <a:buClrTx/>
            </a:pPr>
            <a:endParaRPr lang="en-US" sz="3600">
              <a:solidFill>
                <a:srgbClr val="FFFFFF"/>
              </a:solidFill>
            </a:endParaRPr>
          </a:p>
          <a:p>
            <a:pPr defTabSz="457200" eaLnBrk="0" fontAlgn="base" hangingPunct="0">
              <a:buClrTx/>
            </a:pPr>
            <a:r>
              <a:rPr lang="en-US" sz="3600">
                <a:solidFill>
                  <a:srgbClr val="FF66FF"/>
                </a:solidFill>
              </a:rPr>
              <a:t>Punctuation</a:t>
            </a:r>
          </a:p>
        </p:txBody>
      </p:sp>
    </p:spTree>
    <p:extLst>
      <p:ext uri="{BB962C8B-B14F-4D97-AF65-F5344CB8AC3E}">
        <p14:creationId xmlns:p14="http://schemas.microsoft.com/office/powerpoint/2010/main" val="820583358"/>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0"/>
                      </p:stCondLst>
                      <p:childTnLst>
                        <p:par>
                          <p:cTn id="4" fill="hold" nodeType="withGroup">
                            <p:stCondLst>
                              <p:cond delay="0"/>
                            </p:stCondLst>
                            <p:childTnLst>
                              <p:par>
                                <p:cTn id="5" presetID="2" presetClass="entr" presetSubtype="4" fill="hold" nodeType="afterEffect">
                                  <p:stCondLst>
                                    <p:cond delay="0"/>
                                  </p:stCondLst>
                                  <p:childTnLst>
                                    <p:set>
                                      <p:cBhvr additive="repl">
                                        <p:cTn id="6" dur="1" fill="hold">
                                          <p:stCondLst>
                                            <p:cond delay="0"/>
                                          </p:stCondLst>
                                        </p:cTn>
                                        <p:tgtEl>
                                          <p:spTgt spid="47108"/>
                                        </p:tgtEl>
                                        <p:attrNameLst>
                                          <p:attrName>style.visibility</p:attrName>
                                        </p:attrNameLst>
                                      </p:cBhvr>
                                      <p:to>
                                        <p:strVal val="visible"/>
                                      </p:to>
                                    </p:set>
                                    <p:anim calcmode="lin" valueType="num">
                                      <p:cBhvr>
                                        <p:cTn id="7" dur="500" fill="hold"/>
                                        <p:tgtEl>
                                          <p:spTgt spid="47108"/>
                                        </p:tgtEl>
                                        <p:attrNameLst>
                                          <p:attrName>ppt_x</p:attrName>
                                        </p:attrNameLst>
                                      </p:cBhvr>
                                      <p:tavLst>
                                        <p:tav tm="100000">
                                          <p:val>
                                            <p:strVal val="#ppt_x"/>
                                          </p:val>
                                        </p:tav>
                                        <p:tav>
                                          <p:val>
                                            <p:strVal val="#ppt_x"/>
                                          </p:val>
                                        </p:tav>
                                      </p:tavLst>
                                    </p:anim>
                                    <p:anim calcmode="lin" valueType="num">
                                      <p:cBhvr>
                                        <p:cTn id="8" dur="500" fill="hold"/>
                                        <p:tgtEl>
                                          <p:spTgt spid="47108"/>
                                        </p:tgtEl>
                                        <p:attrNameLst>
                                          <p:attrName>ppt_y</p:attrName>
                                        </p:attrNameLst>
                                      </p:cBhvr>
                                      <p:tavLst>
                                        <p:tav tm="100000">
                                          <p:val>
                                            <p:strVal val="1+#ppt_h/2"/>
                                          </p:val>
                                        </p:tav>
                                        <p:tav>
                                          <p:val>
                                            <p:strVal val="#ppt_y"/>
                                          </p:val>
                                        </p:tav>
                                      </p:tavLst>
                                    </p:anim>
                                  </p:childTnLst>
                                </p:cTn>
                              </p:par>
                            </p:childTnLst>
                          </p:cTn>
                        </p:par>
                        <p:par>
                          <p:cTn id="9" fill="hold" nodeType="afterGroup">
                            <p:stCondLst>
                              <p:cond delay="500"/>
                            </p:stCondLst>
                            <p:childTnLst>
                              <p:par>
                                <p:cTn id="10" presetID="2" presetClass="entr" presetSubtype="4" fill="hold" nodeType="afterEffect">
                                  <p:stCondLst>
                                    <p:cond delay="0"/>
                                  </p:stCondLst>
                                  <p:childTnLst>
                                    <p:set>
                                      <p:cBhvr additive="repl">
                                        <p:cTn id="11" dur="1" fill="hold">
                                          <p:stCondLst>
                                            <p:cond delay="0"/>
                                          </p:stCondLst>
                                        </p:cTn>
                                        <p:tgtEl>
                                          <p:spTgt spid="47108">
                                            <p:txEl>
                                              <p:pRg st="0" end="0"/>
                                            </p:txEl>
                                          </p:spTgt>
                                        </p:tgtEl>
                                        <p:attrNameLst>
                                          <p:attrName>style.visibility</p:attrName>
                                        </p:attrNameLst>
                                      </p:cBhvr>
                                      <p:to>
                                        <p:strVal val="visible"/>
                                      </p:to>
                                    </p:set>
                                    <p:anim calcmode="lin" valueType="num">
                                      <p:cBhvr>
                                        <p:cTn id="12" dur="500" fill="hold"/>
                                        <p:tgtEl>
                                          <p:spTgt spid="47108">
                                            <p:txEl>
                                              <p:pRg st="0" end="0"/>
                                            </p:txEl>
                                          </p:spTgt>
                                        </p:tgtEl>
                                        <p:attrNameLst>
                                          <p:attrName>ppt_x</p:attrName>
                                        </p:attrNameLst>
                                      </p:cBhvr>
                                      <p:tavLst>
                                        <p:tav tm="100000">
                                          <p:val>
                                            <p:strVal val="#ppt_x"/>
                                          </p:val>
                                        </p:tav>
                                        <p:tav>
                                          <p:val>
                                            <p:strVal val="#ppt_x"/>
                                          </p:val>
                                        </p:tav>
                                      </p:tavLst>
                                    </p:anim>
                                    <p:anim calcmode="lin" valueType="num">
                                      <p:cBhvr>
                                        <p:cTn id="13" dur="500" fill="hold"/>
                                        <p:tgtEl>
                                          <p:spTgt spid="47108">
                                            <p:txEl>
                                              <p:pRg st="0" end="0"/>
                                            </p:txEl>
                                          </p:spTgt>
                                        </p:tgtEl>
                                        <p:attrNameLst>
                                          <p:attrName>ppt_y</p:attrName>
                                        </p:attrNameLst>
                                      </p:cBhvr>
                                      <p:tavLst>
                                        <p:tav tm="100000">
                                          <p:val>
                                            <p:strVal val="1+#ppt_h/2"/>
                                          </p:val>
                                        </p:tav>
                                        <p:tav>
                                          <p:val>
                                            <p:strVal val="#ppt_y"/>
                                          </p:val>
                                        </p:tav>
                                      </p:tavLst>
                                    </p:anim>
                                  </p:childTnLst>
                                </p:cTn>
                              </p:par>
                            </p:childTnLst>
                          </p:cTn>
                        </p:par>
                        <p:par>
                          <p:cTn id="14" fill="hold" nodeType="afterGroup">
                            <p:stCondLst>
                              <p:cond delay="1000"/>
                            </p:stCondLst>
                            <p:childTnLst>
                              <p:par>
                                <p:cTn id="15" presetID="2" presetClass="entr" presetSubtype="4" fill="hold" nodeType="afterEffect">
                                  <p:stCondLst>
                                    <p:cond delay="0"/>
                                  </p:stCondLst>
                                  <p:childTnLst>
                                    <p:set>
                                      <p:cBhvr additive="repl">
                                        <p:cTn id="16" dur="1" fill="hold">
                                          <p:stCondLst>
                                            <p:cond delay="0"/>
                                          </p:stCondLst>
                                        </p:cTn>
                                        <p:tgtEl>
                                          <p:spTgt spid="47108">
                                            <p:txEl>
                                              <p:pRg st="2" end="2"/>
                                            </p:txEl>
                                          </p:spTgt>
                                        </p:tgtEl>
                                        <p:attrNameLst>
                                          <p:attrName>style.visibility</p:attrName>
                                        </p:attrNameLst>
                                      </p:cBhvr>
                                      <p:to>
                                        <p:strVal val="visible"/>
                                      </p:to>
                                    </p:set>
                                    <p:anim calcmode="lin" valueType="num">
                                      <p:cBhvr>
                                        <p:cTn id="17" dur="500" fill="hold"/>
                                        <p:tgtEl>
                                          <p:spTgt spid="47108">
                                            <p:txEl>
                                              <p:pRg st="2" end="2"/>
                                            </p:txEl>
                                          </p:spTgt>
                                        </p:tgtEl>
                                        <p:attrNameLst>
                                          <p:attrName>ppt_x</p:attrName>
                                        </p:attrNameLst>
                                      </p:cBhvr>
                                      <p:tavLst>
                                        <p:tav tm="100000">
                                          <p:val>
                                            <p:strVal val="#ppt_x"/>
                                          </p:val>
                                        </p:tav>
                                        <p:tav>
                                          <p:val>
                                            <p:strVal val="#ppt_x"/>
                                          </p:val>
                                        </p:tav>
                                      </p:tavLst>
                                    </p:anim>
                                    <p:anim calcmode="lin" valueType="num">
                                      <p:cBhvr>
                                        <p:cTn id="18" dur="500" fill="hold"/>
                                        <p:tgtEl>
                                          <p:spTgt spid="47108">
                                            <p:txEl>
                                              <p:pRg st="2" end="2"/>
                                            </p:txEl>
                                          </p:spTgt>
                                        </p:tgtEl>
                                        <p:attrNameLst>
                                          <p:attrName>ppt_y</p:attrName>
                                        </p:attrNameLst>
                                      </p:cBhvr>
                                      <p:tavLst>
                                        <p:tav tm="100000">
                                          <p:val>
                                            <p:strVal val="1+#ppt_h/2"/>
                                          </p:val>
                                        </p:tav>
                                        <p:tav>
                                          <p:val>
                                            <p:strVal val="#ppt_y"/>
                                          </p:val>
                                        </p:tav>
                                      </p:tavLst>
                                    </p:anim>
                                  </p:childTnLst>
                                </p:cTn>
                              </p:par>
                            </p:childTnLst>
                          </p:cTn>
                        </p:par>
                        <p:par>
                          <p:cTn id="19" fill="hold" nodeType="afterGroup">
                            <p:stCondLst>
                              <p:cond delay="1500"/>
                            </p:stCondLst>
                            <p:childTnLst>
                              <p:par>
                                <p:cTn id="20" presetID="2" presetClass="entr" presetSubtype="4" fill="hold" nodeType="afterEffect">
                                  <p:stCondLst>
                                    <p:cond delay="0"/>
                                  </p:stCondLst>
                                  <p:childTnLst>
                                    <p:set>
                                      <p:cBhvr additive="repl">
                                        <p:cTn id="21" dur="1" fill="hold">
                                          <p:stCondLst>
                                            <p:cond delay="0"/>
                                          </p:stCondLst>
                                        </p:cTn>
                                        <p:tgtEl>
                                          <p:spTgt spid="47108">
                                            <p:txEl>
                                              <p:pRg st="4" end="4"/>
                                            </p:txEl>
                                          </p:spTgt>
                                        </p:tgtEl>
                                        <p:attrNameLst>
                                          <p:attrName>style.visibility</p:attrName>
                                        </p:attrNameLst>
                                      </p:cBhvr>
                                      <p:to>
                                        <p:strVal val="visible"/>
                                      </p:to>
                                    </p:set>
                                    <p:anim calcmode="lin" valueType="num">
                                      <p:cBhvr>
                                        <p:cTn id="22" dur="500" fill="hold"/>
                                        <p:tgtEl>
                                          <p:spTgt spid="47108">
                                            <p:txEl>
                                              <p:pRg st="4" end="4"/>
                                            </p:txEl>
                                          </p:spTgt>
                                        </p:tgtEl>
                                        <p:attrNameLst>
                                          <p:attrName>ppt_x</p:attrName>
                                        </p:attrNameLst>
                                      </p:cBhvr>
                                      <p:tavLst>
                                        <p:tav tm="100000">
                                          <p:val>
                                            <p:strVal val="#ppt_x"/>
                                          </p:val>
                                        </p:tav>
                                        <p:tav>
                                          <p:val>
                                            <p:strVal val="#ppt_x"/>
                                          </p:val>
                                        </p:tav>
                                      </p:tavLst>
                                    </p:anim>
                                    <p:anim calcmode="lin" valueType="num">
                                      <p:cBhvr>
                                        <p:cTn id="23" dur="500" fill="hold"/>
                                        <p:tgtEl>
                                          <p:spTgt spid="47108">
                                            <p:txEl>
                                              <p:pRg st="4" end="4"/>
                                            </p:txEl>
                                          </p:spTgt>
                                        </p:tgtEl>
                                        <p:attrNameLst>
                                          <p:attrName>ppt_y</p:attrName>
                                        </p:attrNameLst>
                                      </p:cBhvr>
                                      <p:tavLst>
                                        <p:tav tm="100000">
                                          <p:val>
                                            <p:strVal val="1+#ppt_h/2"/>
                                          </p:val>
                                        </p:tav>
                                        <p:tav>
                                          <p:val>
                                            <p:strVal val="#ppt_y"/>
                                          </p:val>
                                        </p:tav>
                                      </p:tavLst>
                                    </p:anim>
                                  </p:childTnLst>
                                </p:cTn>
                              </p:par>
                            </p:childTnLst>
                          </p:cTn>
                        </p:par>
                        <p:par>
                          <p:cTn id="24" fill="hold" nodeType="afterGroup">
                            <p:stCondLst>
                              <p:cond delay="2000"/>
                            </p:stCondLst>
                            <p:childTnLst>
                              <p:par>
                                <p:cTn id="25" presetID="2" presetClass="entr" presetSubtype="4" fill="hold" nodeType="afterEffect">
                                  <p:stCondLst>
                                    <p:cond delay="0"/>
                                  </p:stCondLst>
                                  <p:childTnLst>
                                    <p:set>
                                      <p:cBhvr additive="repl">
                                        <p:cTn id="26" dur="1" fill="hold">
                                          <p:stCondLst>
                                            <p:cond delay="0"/>
                                          </p:stCondLst>
                                        </p:cTn>
                                        <p:tgtEl>
                                          <p:spTgt spid="47108">
                                            <p:txEl>
                                              <p:pRg st="6" end="6"/>
                                            </p:txEl>
                                          </p:spTgt>
                                        </p:tgtEl>
                                        <p:attrNameLst>
                                          <p:attrName>style.visibility</p:attrName>
                                        </p:attrNameLst>
                                      </p:cBhvr>
                                      <p:to>
                                        <p:strVal val="visible"/>
                                      </p:to>
                                    </p:set>
                                    <p:anim calcmode="lin" valueType="num">
                                      <p:cBhvr>
                                        <p:cTn id="27" dur="500" fill="hold"/>
                                        <p:tgtEl>
                                          <p:spTgt spid="47108">
                                            <p:txEl>
                                              <p:pRg st="6" end="6"/>
                                            </p:txEl>
                                          </p:spTgt>
                                        </p:tgtEl>
                                        <p:attrNameLst>
                                          <p:attrName>ppt_x</p:attrName>
                                        </p:attrNameLst>
                                      </p:cBhvr>
                                      <p:tavLst>
                                        <p:tav tm="100000">
                                          <p:val>
                                            <p:strVal val="#ppt_x"/>
                                          </p:val>
                                        </p:tav>
                                        <p:tav>
                                          <p:val>
                                            <p:strVal val="#ppt_x"/>
                                          </p:val>
                                        </p:tav>
                                      </p:tavLst>
                                    </p:anim>
                                    <p:anim calcmode="lin" valueType="num">
                                      <p:cBhvr>
                                        <p:cTn id="28" dur="500" fill="hold"/>
                                        <p:tgtEl>
                                          <p:spTgt spid="47108">
                                            <p:txEl>
                                              <p:pRg st="6" end="6"/>
                                            </p:txEl>
                                          </p:spTgt>
                                        </p:tgtEl>
                                        <p:attrNameLst>
                                          <p:attrName>ppt_y</p:attrName>
                                        </p:attrNameLst>
                                      </p:cBhvr>
                                      <p:tavLst>
                                        <p:tav tm="100000">
                                          <p:val>
                                            <p:strVal val="1+#ppt_h/2"/>
                                          </p:val>
                                        </p:tav>
                                        <p:tav>
                                          <p:val>
                                            <p:strVal val="#ppt_y"/>
                                          </p:val>
                                        </p:tav>
                                      </p:tavLst>
                                    </p:anim>
                                  </p:childTnLst>
                                </p:cTn>
                              </p:par>
                            </p:childTnLst>
                          </p:cTn>
                        </p:par>
                        <p:par>
                          <p:cTn id="29" fill="hold" nodeType="afterGroup">
                            <p:stCondLst>
                              <p:cond delay="2500"/>
                            </p:stCondLst>
                            <p:childTnLst>
                              <p:par>
                                <p:cTn id="30" presetID="9" presetClass="entr" fill="hold" nodeType="afterEffect">
                                  <p:stCondLst>
                                    <p:cond delay="2000"/>
                                  </p:stCondLst>
                                  <p:childTnLst>
                                    <p:set>
                                      <p:cBhvr additive="repl">
                                        <p:cTn id="31" dur="1" fill="hold">
                                          <p:stCondLst>
                                            <p:cond delay="0"/>
                                          </p:stCondLst>
                                        </p:cTn>
                                        <p:tgtEl>
                                          <p:spTgt spid="47107"/>
                                        </p:tgtEl>
                                        <p:attrNameLst>
                                          <p:attrName>style.visibility</p:attrName>
                                        </p:attrNameLst>
                                      </p:cBhvr>
                                      <p:to>
                                        <p:strVal val="visible"/>
                                      </p:to>
                                    </p:set>
                                    <p:animEffect transition="in" filter="dissolve">
                                      <p:cBhvr additive="repl">
                                        <p:cTn id="32" dur="500"/>
                                        <p:tgtEl>
                                          <p:spTgt spid="4710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113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D383566B-A621-4610-8339-9CFF81D65C20}" type="slidenum">
              <a:rPr lang="en-US" sz="1400">
                <a:solidFill>
                  <a:srgbClr val="FFFFFF"/>
                </a:solidFill>
              </a:rPr>
              <a:pPr algn="r" defTabSz="457200" eaLnBrk="0" fontAlgn="base" hangingPunct="0">
                <a:buClrTx/>
              </a:pPr>
              <a:t>35</a:t>
            </a:fld>
            <a:endParaRPr lang="en-US" sz="1400">
              <a:solidFill>
                <a:srgbClr val="FFFFFF"/>
              </a:solidFill>
            </a:endParaRPr>
          </a:p>
        </p:txBody>
      </p:sp>
      <p:sp>
        <p:nvSpPr>
          <p:cNvPr id="91139" name="Text Box 2"/>
          <p:cNvSpPr txBox="1">
            <a:spLocks noChangeArrowheads="1"/>
          </p:cNvSpPr>
          <p:nvPr/>
        </p:nvSpPr>
        <p:spPr bwMode="auto">
          <a:xfrm>
            <a:off x="2209800" y="609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buClrTx/>
            </a:pPr>
            <a:r>
              <a:rPr lang="en-US" sz="3600">
                <a:solidFill>
                  <a:srgbClr val="00FF00"/>
                </a:solidFill>
              </a:rPr>
              <a:t>Two more elements that are found</a:t>
            </a:r>
            <a:r>
              <a:rPr lang="en-US" sz="3600">
                <a:solidFill>
                  <a:srgbClr val="FFFFFF"/>
                </a:solidFill>
              </a:rPr>
              <a:t> in JavaScript statements are white spaces and line breaks</a:t>
            </a:r>
          </a:p>
        </p:txBody>
      </p:sp>
    </p:spTree>
    <p:extLst>
      <p:ext uri="{BB962C8B-B14F-4D97-AF65-F5344CB8AC3E}">
        <p14:creationId xmlns:p14="http://schemas.microsoft.com/office/powerpoint/2010/main" val="1797220359"/>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3186"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17214A3C-7951-4238-B799-A0E9A7D426E3}" type="slidenum">
              <a:rPr lang="en-US" sz="1400">
                <a:solidFill>
                  <a:srgbClr val="FFFFFF"/>
                </a:solidFill>
              </a:rPr>
              <a:pPr algn="r" defTabSz="457200" eaLnBrk="0" fontAlgn="base" hangingPunct="0">
                <a:buClrTx/>
              </a:pPr>
              <a:t>36</a:t>
            </a:fld>
            <a:endParaRPr lang="en-US" sz="1400">
              <a:solidFill>
                <a:srgbClr val="FFFFFF"/>
              </a:solidFill>
            </a:endParaRPr>
          </a:p>
        </p:txBody>
      </p:sp>
      <p:sp>
        <p:nvSpPr>
          <p:cNvPr id="93187"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White Spaces &amp; Line Breaks</a:t>
            </a:r>
          </a:p>
        </p:txBody>
      </p:sp>
      <p:sp>
        <p:nvSpPr>
          <p:cNvPr id="93188" name="Text Box 3"/>
          <p:cNvSpPr txBox="1">
            <a:spLocks noChangeArrowheads="1"/>
          </p:cNvSpPr>
          <p:nvPr/>
        </p:nvSpPr>
        <p:spPr bwMode="auto">
          <a:xfrm>
            <a:off x="1524000" y="1143000"/>
            <a:ext cx="9144000" cy="4876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813"/>
              </a:spcBef>
              <a:buClr>
                <a:srgbClr val="FFFFFF"/>
              </a:buClr>
              <a:buFont typeface="Arial" panose="020B0604020202020204" pitchFamily="34" charset="0"/>
              <a:buChar char="•"/>
            </a:pPr>
            <a:r>
              <a:rPr lang="en-US" sz="3200">
                <a:solidFill>
                  <a:srgbClr val="FFFFFF"/>
                </a:solidFill>
              </a:rPr>
              <a:t>White spaces:  The </a:t>
            </a:r>
            <a:r>
              <a:rPr lang="en-US" sz="3200">
                <a:solidFill>
                  <a:srgbClr val="00FF00"/>
                </a:solidFill>
              </a:rPr>
              <a:t>space &amp; the tab</a:t>
            </a:r>
            <a:r>
              <a:rPr lang="en-US" sz="3200">
                <a:solidFill>
                  <a:srgbClr val="FFFFFF"/>
                </a:solidFill>
              </a:rPr>
              <a:t> characters</a:t>
            </a:r>
          </a:p>
          <a:p>
            <a:pPr defTabSz="457200" eaLnBrk="0" fontAlgn="base" hangingPunct="0">
              <a:spcBef>
                <a:spcPts val="813"/>
              </a:spcBef>
              <a:buClr>
                <a:srgbClr val="FFFFFF"/>
              </a:buClr>
            </a:pPr>
            <a:endParaRPr lang="en-US" sz="3200">
              <a:solidFill>
                <a:srgbClr val="FFFFFF"/>
              </a:solidFill>
            </a:endParaRPr>
          </a:p>
          <a:p>
            <a:pPr defTabSz="457200" eaLnBrk="0" fontAlgn="base" hangingPunct="0">
              <a:spcBef>
                <a:spcPts val="813"/>
              </a:spcBef>
              <a:buClr>
                <a:srgbClr val="FFFFFF"/>
              </a:buClr>
              <a:buFont typeface="Arial" panose="020B0604020202020204" pitchFamily="34" charset="0"/>
              <a:buChar char="•"/>
            </a:pPr>
            <a:r>
              <a:rPr lang="en-US" sz="3200">
                <a:solidFill>
                  <a:srgbClr val="FFFFFF"/>
                </a:solidFill>
              </a:rPr>
              <a:t>JavaScript </a:t>
            </a:r>
            <a:r>
              <a:rPr lang="en-US" sz="3200">
                <a:solidFill>
                  <a:srgbClr val="00FF00"/>
                </a:solidFill>
              </a:rPr>
              <a:t>ignores any extra white spaces</a:t>
            </a:r>
            <a:r>
              <a:rPr lang="en-US" sz="3200">
                <a:solidFill>
                  <a:srgbClr val="FFFFFF"/>
                </a:solidFill>
              </a:rPr>
              <a:t> or line breaks that you put in the code</a:t>
            </a:r>
          </a:p>
          <a:p>
            <a:pPr defTabSz="457200" eaLnBrk="0" fontAlgn="base" hangingPunct="0">
              <a:spcBef>
                <a:spcPts val="813"/>
              </a:spcBef>
              <a:buClr>
                <a:srgbClr val="FFFFFF"/>
              </a:buClr>
            </a:pPr>
            <a:endParaRPr lang="en-US" sz="3200">
              <a:solidFill>
                <a:srgbClr val="FFFFFF"/>
              </a:solidFill>
            </a:endParaRPr>
          </a:p>
          <a:p>
            <a:pPr defTabSz="457200" eaLnBrk="0" fontAlgn="base" hangingPunct="0">
              <a:spcBef>
                <a:spcPts val="813"/>
              </a:spcBef>
              <a:buClr>
                <a:srgbClr val="FFFFFF"/>
              </a:buClr>
              <a:buFont typeface="Arial" panose="020B0604020202020204" pitchFamily="34" charset="0"/>
              <a:buChar char="•"/>
            </a:pPr>
            <a:r>
              <a:rPr lang="en-US" sz="3200">
                <a:solidFill>
                  <a:srgbClr val="FFFFFF"/>
                </a:solidFill>
              </a:rPr>
              <a:t>This </a:t>
            </a:r>
            <a:r>
              <a:rPr lang="en-US" sz="3200">
                <a:solidFill>
                  <a:srgbClr val="FFFF00"/>
                </a:solidFill>
              </a:rPr>
              <a:t>gives you the freedom</a:t>
            </a:r>
            <a:r>
              <a:rPr lang="en-US" sz="3200">
                <a:solidFill>
                  <a:srgbClr val="FFFFFF"/>
                </a:solidFill>
              </a:rPr>
              <a:t> of using them for making your code appear </a:t>
            </a:r>
            <a:r>
              <a:rPr lang="en-US" sz="3200">
                <a:solidFill>
                  <a:srgbClr val="FFFF00"/>
                </a:solidFill>
              </a:rPr>
              <a:t>neat </a:t>
            </a:r>
            <a:r>
              <a:rPr lang="en-US" sz="3200">
                <a:solidFill>
                  <a:srgbClr val="FFFFFF"/>
                </a:solidFill>
              </a:rPr>
              <a:t>and </a:t>
            </a:r>
            <a:r>
              <a:rPr lang="en-US" sz="3200">
                <a:solidFill>
                  <a:srgbClr val="FFFF00"/>
                </a:solidFill>
              </a:rPr>
              <a:t>readable</a:t>
            </a:r>
          </a:p>
        </p:txBody>
      </p:sp>
    </p:spTree>
    <p:extLst>
      <p:ext uri="{BB962C8B-B14F-4D97-AF65-F5344CB8AC3E}">
        <p14:creationId xmlns:p14="http://schemas.microsoft.com/office/powerpoint/2010/main" val="4064783008"/>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9330"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910421B6-5359-48A7-82D4-F809F34C9E39}" type="slidenum">
              <a:rPr lang="en-US" sz="1400">
                <a:solidFill>
                  <a:srgbClr val="FFFFFF"/>
                </a:solidFill>
              </a:rPr>
              <a:pPr algn="r" defTabSz="457200" eaLnBrk="0" fontAlgn="base" hangingPunct="0">
                <a:buClrTx/>
              </a:pPr>
              <a:t>37</a:t>
            </a:fld>
            <a:endParaRPr lang="en-US" sz="1400">
              <a:solidFill>
                <a:srgbClr val="FFFFFF"/>
              </a:solidFill>
            </a:endParaRPr>
          </a:p>
        </p:txBody>
      </p:sp>
      <p:sp>
        <p:nvSpPr>
          <p:cNvPr id="99331"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Comments</a:t>
            </a:r>
          </a:p>
        </p:txBody>
      </p:sp>
      <p:sp>
        <p:nvSpPr>
          <p:cNvPr id="99332" name="Text Box 3"/>
          <p:cNvSpPr txBox="1">
            <a:spLocks noChangeArrowheads="1"/>
          </p:cNvSpPr>
          <p:nvPr/>
        </p:nvSpPr>
        <p:spPr bwMode="auto">
          <a:xfrm>
            <a:off x="1524000" y="1143000"/>
            <a:ext cx="91440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lnSpc>
                <a:spcPct val="90000"/>
              </a:lnSpc>
              <a:spcBef>
                <a:spcPts val="813"/>
              </a:spcBef>
              <a:buClr>
                <a:srgbClr val="FFFFFF"/>
              </a:buClr>
              <a:buFont typeface="Arial" panose="020B0604020202020204" pitchFamily="34" charset="0"/>
              <a:buChar char="•"/>
            </a:pPr>
            <a:r>
              <a:rPr lang="en-US" sz="3200">
                <a:solidFill>
                  <a:srgbClr val="FFFFFF"/>
                </a:solidFill>
              </a:rPr>
              <a:t>Comments are included on a Web page to </a:t>
            </a:r>
            <a:r>
              <a:rPr lang="en-US" sz="3200">
                <a:solidFill>
                  <a:srgbClr val="00FF00"/>
                </a:solidFill>
              </a:rPr>
              <a:t>explain how and why you wrote</a:t>
            </a:r>
            <a:r>
              <a:rPr lang="en-US" sz="3200">
                <a:solidFill>
                  <a:srgbClr val="FFFFFF"/>
                </a:solidFill>
              </a:rPr>
              <a:t> the page the way you did</a:t>
            </a:r>
          </a:p>
          <a:p>
            <a:pPr defTabSz="457200" eaLnBrk="0" fontAlgn="base" hangingPunct="0">
              <a:lnSpc>
                <a:spcPct val="90000"/>
              </a:lnSpc>
              <a:spcBef>
                <a:spcPts val="713"/>
              </a:spcBef>
              <a:buClr>
                <a:srgbClr val="FFFFFF"/>
              </a:buClr>
            </a:pPr>
            <a:endParaRPr lang="en-US">
              <a:solidFill>
                <a:srgbClr val="FFFFFF"/>
              </a:solidFill>
            </a:endParaRPr>
          </a:p>
          <a:p>
            <a:pPr defTabSz="457200" eaLnBrk="0" fontAlgn="base" hangingPunct="0">
              <a:lnSpc>
                <a:spcPct val="90000"/>
              </a:lnSpc>
              <a:spcBef>
                <a:spcPts val="813"/>
              </a:spcBef>
              <a:buClr>
                <a:srgbClr val="FFFFFF"/>
              </a:buClr>
              <a:buFont typeface="Arial" panose="020B0604020202020204" pitchFamily="34" charset="0"/>
              <a:buChar char="•"/>
            </a:pPr>
            <a:r>
              <a:rPr lang="en-US" sz="3200">
                <a:solidFill>
                  <a:srgbClr val="FFFFFF"/>
                </a:solidFill>
              </a:rPr>
              <a:t>Comments can help </a:t>
            </a:r>
            <a:r>
              <a:rPr lang="en-US" sz="3200">
                <a:solidFill>
                  <a:srgbClr val="FFFF00"/>
                </a:solidFill>
              </a:rPr>
              <a:t>someone other than the author to follow</a:t>
            </a:r>
            <a:r>
              <a:rPr lang="en-US" sz="3200">
                <a:solidFill>
                  <a:srgbClr val="FFFFFF"/>
                </a:solidFill>
              </a:rPr>
              <a:t> the logic of the page in the author’s absence</a:t>
            </a:r>
          </a:p>
          <a:p>
            <a:pPr defTabSz="457200" eaLnBrk="0" fontAlgn="base" hangingPunct="0">
              <a:lnSpc>
                <a:spcPct val="90000"/>
              </a:lnSpc>
              <a:spcBef>
                <a:spcPts val="713"/>
              </a:spcBef>
              <a:buClr>
                <a:srgbClr val="FFFFFF"/>
              </a:buClr>
            </a:pPr>
            <a:endParaRPr lang="en-US">
              <a:solidFill>
                <a:srgbClr val="FFFFFF"/>
              </a:solidFill>
            </a:endParaRPr>
          </a:p>
          <a:p>
            <a:pPr defTabSz="457200" eaLnBrk="0" fontAlgn="base" hangingPunct="0">
              <a:lnSpc>
                <a:spcPct val="90000"/>
              </a:lnSpc>
              <a:spcBef>
                <a:spcPts val="813"/>
              </a:spcBef>
              <a:buClr>
                <a:srgbClr val="FFFFFF"/>
              </a:buClr>
              <a:buFont typeface="Arial" panose="020B0604020202020204" pitchFamily="34" charset="0"/>
              <a:buChar char="•"/>
            </a:pPr>
            <a:r>
              <a:rPr lang="en-US" sz="3200">
                <a:solidFill>
                  <a:srgbClr val="FFFFFF"/>
                </a:solidFill>
              </a:rPr>
              <a:t>The commented text is </a:t>
            </a:r>
            <a:r>
              <a:rPr lang="en-US" sz="3200">
                <a:solidFill>
                  <a:srgbClr val="FFFF00"/>
                </a:solidFill>
              </a:rPr>
              <a:t>neither displayed in the browser nor does it have any effect</a:t>
            </a:r>
            <a:r>
              <a:rPr lang="en-US" sz="3200">
                <a:solidFill>
                  <a:srgbClr val="FFFFFF"/>
                </a:solidFill>
              </a:rPr>
              <a:t> on the </a:t>
            </a:r>
            <a:r>
              <a:rPr lang="en-US" sz="3200">
                <a:solidFill>
                  <a:srgbClr val="00FF00"/>
                </a:solidFill>
              </a:rPr>
              <a:t>logical performance</a:t>
            </a:r>
            <a:r>
              <a:rPr lang="en-US" sz="3200">
                <a:solidFill>
                  <a:srgbClr val="FFFFFF"/>
                </a:solidFill>
              </a:rPr>
              <a:t> of the Web page, and is visible only when the </a:t>
            </a:r>
            <a:r>
              <a:rPr lang="en-US" sz="3200">
                <a:solidFill>
                  <a:srgbClr val="00FFFF"/>
                </a:solidFill>
              </a:rPr>
              <a:t>actual code is viewed</a:t>
            </a:r>
          </a:p>
        </p:txBody>
      </p:sp>
    </p:spTree>
    <p:extLst>
      <p:ext uri="{BB962C8B-B14F-4D97-AF65-F5344CB8AC3E}">
        <p14:creationId xmlns:p14="http://schemas.microsoft.com/office/powerpoint/2010/main" val="3254943325"/>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1378"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C1014BA8-459A-4699-8FFA-C97A5340D501}" type="slidenum">
              <a:rPr lang="en-US" sz="1400">
                <a:solidFill>
                  <a:srgbClr val="FFFFFF"/>
                </a:solidFill>
              </a:rPr>
              <a:pPr algn="r" defTabSz="457200" eaLnBrk="0" fontAlgn="base" hangingPunct="0">
                <a:buClrTx/>
              </a:pPr>
              <a:t>38</a:t>
            </a:fld>
            <a:endParaRPr lang="en-US" sz="1400">
              <a:solidFill>
                <a:srgbClr val="FFFFFF"/>
              </a:solidFill>
            </a:endParaRPr>
          </a:p>
        </p:txBody>
      </p:sp>
      <p:sp>
        <p:nvSpPr>
          <p:cNvPr id="101379"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JavaScript Comments</a:t>
            </a:r>
          </a:p>
        </p:txBody>
      </p:sp>
      <p:sp>
        <p:nvSpPr>
          <p:cNvPr id="101380" name="Text Box 3"/>
          <p:cNvSpPr txBox="1">
            <a:spLocks noChangeArrowheads="1"/>
          </p:cNvSpPr>
          <p:nvPr/>
        </p:nvSpPr>
        <p:spPr bwMode="auto">
          <a:xfrm>
            <a:off x="1676400" y="1143000"/>
            <a:ext cx="89154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lnSpc>
                <a:spcPct val="90000"/>
              </a:lnSpc>
              <a:spcBef>
                <a:spcPts val="1013"/>
              </a:spcBef>
              <a:buClr>
                <a:srgbClr val="00FF00"/>
              </a:buClr>
              <a:buFont typeface="Arial" panose="020B0604020202020204" pitchFamily="34" charset="0"/>
              <a:buChar char="•"/>
            </a:pPr>
            <a:r>
              <a:rPr lang="en-US" sz="4000" i="1">
                <a:solidFill>
                  <a:srgbClr val="00FF00"/>
                </a:solidFill>
              </a:rPr>
              <a:t>Single-line</a:t>
            </a:r>
            <a:r>
              <a:rPr lang="en-US" sz="4000">
                <a:solidFill>
                  <a:srgbClr val="00FF00"/>
                </a:solidFill>
              </a:rPr>
              <a:t> comments</a:t>
            </a:r>
            <a:r>
              <a:rPr lang="en-US" sz="4000">
                <a:solidFill>
                  <a:srgbClr val="FFFFFF"/>
                </a:solidFill>
              </a:rPr>
              <a:t> (two options)</a:t>
            </a:r>
          </a:p>
          <a:p>
            <a:pPr defTabSz="457200" eaLnBrk="0" fontAlgn="base" hangingPunct="0">
              <a:lnSpc>
                <a:spcPct val="90000"/>
              </a:lnSpc>
              <a:spcBef>
                <a:spcPts val="463"/>
              </a:spcBef>
              <a:buClr>
                <a:srgbClr val="FFFFFF"/>
              </a:buClr>
            </a:pPr>
            <a:endParaRPr lang="en-US" sz="1800">
              <a:solidFill>
                <a:srgbClr val="FFFFFF"/>
              </a:solidFill>
            </a:endParaRPr>
          </a:p>
          <a:p>
            <a:pPr marL="742950" lvl="1" indent="-285750" defTabSz="457200" eaLnBrk="0" fontAlgn="base" hangingPunct="0">
              <a:lnSpc>
                <a:spcPct val="90000"/>
              </a:lnSpc>
              <a:spcBef>
                <a:spcPts val="1013"/>
              </a:spcBef>
              <a:buClrTx/>
            </a:pPr>
            <a:r>
              <a:rPr lang="en-US" sz="4000">
                <a:solidFill>
                  <a:srgbClr val="FFFFFF"/>
                </a:solidFill>
              </a:rPr>
              <a:t>	</a:t>
            </a:r>
            <a:r>
              <a:rPr lang="en-US" sz="4000">
                <a:solidFill>
                  <a:srgbClr val="FF66FF"/>
                </a:solidFill>
              </a:rPr>
              <a:t>//</a:t>
            </a:r>
            <a:r>
              <a:rPr lang="en-US" sz="4000">
                <a:solidFill>
                  <a:srgbClr val="FFFFFF"/>
                </a:solidFill>
              </a:rPr>
              <a:t> Author: Bhola</a:t>
            </a:r>
          </a:p>
          <a:p>
            <a:pPr marL="742950" lvl="1" indent="-285750" defTabSz="457200" eaLnBrk="0" fontAlgn="base" hangingPunct="0">
              <a:lnSpc>
                <a:spcPct val="90000"/>
              </a:lnSpc>
              <a:spcBef>
                <a:spcPts val="1013"/>
              </a:spcBef>
              <a:buClrTx/>
            </a:pPr>
            <a:r>
              <a:rPr lang="en-US" sz="4000">
                <a:solidFill>
                  <a:srgbClr val="FFFFFF"/>
                </a:solidFill>
              </a:rPr>
              <a:t>	</a:t>
            </a:r>
            <a:r>
              <a:rPr lang="en-US" sz="4000">
                <a:solidFill>
                  <a:srgbClr val="FF66FF"/>
                </a:solidFill>
              </a:rPr>
              <a:t>&lt;!-- </a:t>
            </a:r>
            <a:r>
              <a:rPr lang="en-US" sz="4000">
                <a:solidFill>
                  <a:srgbClr val="FFFFFF"/>
                </a:solidFill>
              </a:rPr>
              <a:t>Creation Date: 24 March 2003</a:t>
            </a:r>
          </a:p>
          <a:p>
            <a:pPr defTabSz="457200" eaLnBrk="0" fontAlgn="base" hangingPunct="0">
              <a:lnSpc>
                <a:spcPct val="90000"/>
              </a:lnSpc>
              <a:spcBef>
                <a:spcPts val="1013"/>
              </a:spcBef>
              <a:buClr>
                <a:srgbClr val="FFFFFF"/>
              </a:buClr>
            </a:pPr>
            <a:endParaRPr lang="en-US" sz="4000">
              <a:solidFill>
                <a:srgbClr val="FFFFFF"/>
              </a:solidFill>
            </a:endParaRPr>
          </a:p>
          <a:p>
            <a:pPr defTabSz="457200" eaLnBrk="0" fontAlgn="base" hangingPunct="0">
              <a:lnSpc>
                <a:spcPct val="90000"/>
              </a:lnSpc>
              <a:spcBef>
                <a:spcPts val="1013"/>
              </a:spcBef>
              <a:buClr>
                <a:srgbClr val="00FF00"/>
              </a:buClr>
              <a:buFont typeface="Arial" panose="020B0604020202020204" pitchFamily="34" charset="0"/>
              <a:buChar char="•"/>
            </a:pPr>
            <a:r>
              <a:rPr lang="en-US" sz="4000" i="1">
                <a:solidFill>
                  <a:srgbClr val="00FF00"/>
                </a:solidFill>
              </a:rPr>
              <a:t>Multi-line</a:t>
            </a:r>
            <a:r>
              <a:rPr lang="en-US" sz="4000">
                <a:solidFill>
                  <a:srgbClr val="FFFFFF"/>
                </a:solidFill>
              </a:rPr>
              <a:t> comments</a:t>
            </a:r>
          </a:p>
          <a:p>
            <a:pPr defTabSz="457200" eaLnBrk="0" fontAlgn="base" hangingPunct="0">
              <a:lnSpc>
                <a:spcPct val="90000"/>
              </a:lnSpc>
              <a:spcBef>
                <a:spcPts val="463"/>
              </a:spcBef>
              <a:buClr>
                <a:srgbClr val="FFFFFF"/>
              </a:buClr>
            </a:pPr>
            <a:endParaRPr lang="en-US" sz="1800">
              <a:solidFill>
                <a:srgbClr val="FFFFFF"/>
              </a:solidFill>
            </a:endParaRPr>
          </a:p>
          <a:p>
            <a:pPr marL="742950" lvl="1" indent="-285750" defTabSz="457200" eaLnBrk="0" fontAlgn="base" hangingPunct="0">
              <a:lnSpc>
                <a:spcPct val="90000"/>
              </a:lnSpc>
              <a:spcBef>
                <a:spcPts val="1013"/>
              </a:spcBef>
              <a:buClrTx/>
            </a:pPr>
            <a:r>
              <a:rPr lang="en-US" sz="4000">
                <a:solidFill>
                  <a:srgbClr val="FFFFFF"/>
                </a:solidFill>
              </a:rPr>
              <a:t>	</a:t>
            </a:r>
            <a:r>
              <a:rPr lang="en-US" sz="4000">
                <a:solidFill>
                  <a:srgbClr val="FF66FF"/>
                </a:solidFill>
              </a:rPr>
              <a:t>/*</a:t>
            </a:r>
            <a:r>
              <a:rPr lang="en-US" sz="4000">
                <a:solidFill>
                  <a:srgbClr val="FFFFFF"/>
                </a:solidFill>
              </a:rPr>
              <a:t> Author: Bhola</a:t>
            </a:r>
          </a:p>
          <a:p>
            <a:pPr marL="742950" lvl="1" indent="-285750" defTabSz="457200" eaLnBrk="0" fontAlgn="base" hangingPunct="0">
              <a:lnSpc>
                <a:spcPct val="90000"/>
              </a:lnSpc>
              <a:spcBef>
                <a:spcPts val="1013"/>
              </a:spcBef>
              <a:buClrTx/>
            </a:pPr>
            <a:r>
              <a:rPr lang="en-US" sz="4000">
                <a:solidFill>
                  <a:srgbClr val="FFFFFF"/>
                </a:solidFill>
              </a:rPr>
              <a:t>	   Creation Date: 24 March 2003 </a:t>
            </a:r>
            <a:r>
              <a:rPr lang="en-US" sz="4000">
                <a:solidFill>
                  <a:srgbClr val="FF66FF"/>
                </a:solidFill>
              </a:rPr>
              <a:t>*/</a:t>
            </a:r>
          </a:p>
          <a:p>
            <a:pPr defTabSz="457200" eaLnBrk="0" fontAlgn="base" hangingPunct="0">
              <a:lnSpc>
                <a:spcPct val="90000"/>
              </a:lnSpc>
              <a:spcBef>
                <a:spcPts val="1013"/>
              </a:spcBef>
              <a:buClr>
                <a:srgbClr val="FF66FF"/>
              </a:buClr>
            </a:pPr>
            <a:endParaRPr lang="en-US" sz="4000">
              <a:solidFill>
                <a:srgbClr val="FF66FF"/>
              </a:solidFill>
            </a:endParaRPr>
          </a:p>
        </p:txBody>
      </p:sp>
    </p:spTree>
    <p:extLst>
      <p:ext uri="{BB962C8B-B14F-4D97-AF65-F5344CB8AC3E}">
        <p14:creationId xmlns:p14="http://schemas.microsoft.com/office/powerpoint/2010/main" val="1390846199"/>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3426"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120F4A61-C6FB-4184-943F-8497744C89C5}" type="slidenum">
              <a:rPr lang="en-US" sz="1400">
                <a:solidFill>
                  <a:srgbClr val="FFFFFF"/>
                </a:solidFill>
              </a:rPr>
              <a:pPr algn="r" defTabSz="457200" eaLnBrk="0" fontAlgn="base" hangingPunct="0">
                <a:buClrTx/>
              </a:pPr>
              <a:t>39</a:t>
            </a:fld>
            <a:endParaRPr lang="en-US" sz="1400">
              <a:solidFill>
                <a:srgbClr val="FFFFFF"/>
              </a:solidFill>
            </a:endParaRPr>
          </a:p>
        </p:txBody>
      </p:sp>
      <p:sp>
        <p:nvSpPr>
          <p:cNvPr id="103427"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4400">
                <a:solidFill>
                  <a:srgbClr val="FFFF00"/>
                </a:solidFill>
              </a:rPr>
              <a:t>HTML Comments</a:t>
            </a:r>
          </a:p>
        </p:txBody>
      </p:sp>
      <p:sp>
        <p:nvSpPr>
          <p:cNvPr id="103428" name="Text Box 3"/>
          <p:cNvSpPr txBox="1">
            <a:spLocks noChangeArrowheads="1"/>
          </p:cNvSpPr>
          <p:nvPr/>
        </p:nvSpPr>
        <p:spPr bwMode="auto">
          <a:xfrm>
            <a:off x="1752600" y="1143000"/>
            <a:ext cx="8763000" cy="5715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defTabSz="457200" eaLnBrk="0" fontAlgn="base" hangingPunct="0">
              <a:spcBef>
                <a:spcPts val="1013"/>
              </a:spcBef>
              <a:buClrTx/>
            </a:pPr>
            <a:endParaRPr lang="en-US" sz="4000">
              <a:solidFill>
                <a:srgbClr val="FFFFFF"/>
              </a:solidFill>
            </a:endParaRPr>
          </a:p>
          <a:p>
            <a:pPr defTabSz="457200" eaLnBrk="0" fontAlgn="base" hangingPunct="0">
              <a:spcBef>
                <a:spcPts val="1013"/>
              </a:spcBef>
              <a:buClrTx/>
            </a:pPr>
            <a:endParaRPr lang="en-US" sz="4000">
              <a:solidFill>
                <a:srgbClr val="FFFFFF"/>
              </a:solidFill>
            </a:endParaRPr>
          </a:p>
          <a:p>
            <a:pPr defTabSz="457200" eaLnBrk="0" fontAlgn="base" hangingPunct="0">
              <a:spcBef>
                <a:spcPts val="1013"/>
              </a:spcBef>
              <a:buClrTx/>
            </a:pPr>
            <a:r>
              <a:rPr lang="en-US" sz="4000">
                <a:solidFill>
                  <a:srgbClr val="00FF00"/>
                </a:solidFill>
              </a:rPr>
              <a:t>&lt;!-- </a:t>
            </a:r>
            <a:r>
              <a:rPr lang="en-US" sz="4000">
                <a:solidFill>
                  <a:srgbClr val="FFFFFF"/>
                </a:solidFill>
              </a:rPr>
              <a:t>Author: Bhola</a:t>
            </a:r>
          </a:p>
          <a:p>
            <a:pPr marL="742950" lvl="1" indent="-285750" defTabSz="457200" eaLnBrk="0" fontAlgn="base" hangingPunct="0">
              <a:spcBef>
                <a:spcPts val="1013"/>
              </a:spcBef>
              <a:buClrTx/>
            </a:pPr>
            <a:r>
              <a:rPr lang="en-US" sz="4000">
                <a:solidFill>
                  <a:srgbClr val="FFFFFF"/>
                </a:solidFill>
              </a:rPr>
              <a:t>	</a:t>
            </a:r>
            <a:r>
              <a:rPr lang="en-US" sz="4000">
                <a:solidFill>
                  <a:srgbClr val="FF66FF"/>
                </a:solidFill>
              </a:rPr>
              <a:t> </a:t>
            </a:r>
            <a:r>
              <a:rPr lang="en-US" sz="4000">
                <a:solidFill>
                  <a:srgbClr val="FFFFFF"/>
                </a:solidFill>
              </a:rPr>
              <a:t>Creation Date: 24 March 2003 </a:t>
            </a:r>
            <a:r>
              <a:rPr lang="en-US" sz="4000">
                <a:solidFill>
                  <a:srgbClr val="00FF00"/>
                </a:solidFill>
              </a:rPr>
              <a:t>--&gt;</a:t>
            </a:r>
          </a:p>
          <a:p>
            <a:pPr defTabSz="457200" eaLnBrk="0" fontAlgn="base" hangingPunct="0">
              <a:spcBef>
                <a:spcPts val="1013"/>
              </a:spcBef>
              <a:buClrTx/>
            </a:pPr>
            <a:endParaRPr lang="en-US" sz="4000">
              <a:solidFill>
                <a:srgbClr val="FFFFFF"/>
              </a:solidFill>
            </a:endParaRPr>
          </a:p>
          <a:p>
            <a:pPr defTabSz="457200" eaLnBrk="0" fontAlgn="base" hangingPunct="0">
              <a:spcBef>
                <a:spcPts val="1113"/>
              </a:spcBef>
              <a:buClrTx/>
            </a:pPr>
            <a:endParaRPr lang="en-US" sz="4400">
              <a:solidFill>
                <a:srgbClr val="FF66FF"/>
              </a:solidFill>
            </a:endParaRPr>
          </a:p>
          <a:p>
            <a:pPr defTabSz="457200" eaLnBrk="0" fontAlgn="base" hangingPunct="0">
              <a:spcBef>
                <a:spcPts val="1113"/>
              </a:spcBef>
              <a:buClr>
                <a:srgbClr val="FF66FF"/>
              </a:buClr>
            </a:pPr>
            <a:endParaRPr lang="en-US" sz="4400">
              <a:solidFill>
                <a:srgbClr val="FF66FF"/>
              </a:solidFill>
            </a:endParaRPr>
          </a:p>
        </p:txBody>
      </p:sp>
    </p:spTree>
    <p:extLst>
      <p:ext uri="{BB962C8B-B14F-4D97-AF65-F5344CB8AC3E}">
        <p14:creationId xmlns:p14="http://schemas.microsoft.com/office/powerpoint/2010/main" val="343860608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5474"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C00C1A2E-A560-4B7C-9D74-B64839751E49}" type="slidenum">
              <a:rPr lang="en-US" sz="1400">
                <a:solidFill>
                  <a:srgbClr val="FFFFFF"/>
                </a:solidFill>
              </a:rPr>
              <a:pPr algn="r" defTabSz="457200" eaLnBrk="0" fontAlgn="base" hangingPunct="0">
                <a:buClrTx/>
              </a:pPr>
              <a:t>40</a:t>
            </a:fld>
            <a:endParaRPr lang="en-US" sz="1400">
              <a:solidFill>
                <a:srgbClr val="FFFFFF"/>
              </a:solidFill>
            </a:endParaRPr>
          </a:p>
        </p:txBody>
      </p:sp>
      <p:sp>
        <p:nvSpPr>
          <p:cNvPr id="105475" name="Text Box 2"/>
          <p:cNvSpPr txBox="1">
            <a:spLocks noChangeArrowheads="1"/>
          </p:cNvSpPr>
          <p:nvPr/>
        </p:nvSpPr>
        <p:spPr bwMode="auto">
          <a:xfrm>
            <a:off x="1524000" y="76200"/>
            <a:ext cx="9144000" cy="586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15000" i="1">
                <a:solidFill>
                  <a:srgbClr val="FFFF00"/>
                </a:solidFill>
                <a:latin typeface="Times New Roman" panose="02020603050405020304" pitchFamily="18" charset="0"/>
              </a:rPr>
              <a:t>comments add clarity!</a:t>
            </a:r>
          </a:p>
        </p:txBody>
      </p:sp>
    </p:spTree>
    <p:extLst>
      <p:ext uri="{BB962C8B-B14F-4D97-AF65-F5344CB8AC3E}">
        <p14:creationId xmlns:p14="http://schemas.microsoft.com/office/powerpoint/2010/main" val="3385473191"/>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7522"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r" defTabSz="457200" eaLnBrk="0" fontAlgn="base" hangingPunct="0">
              <a:buClrTx/>
            </a:pPr>
            <a:fld id="{72732246-9FD6-49EA-A4E2-E8F57A4C0586}" type="slidenum">
              <a:rPr lang="en-US" sz="1400">
                <a:solidFill>
                  <a:srgbClr val="FFFFFF"/>
                </a:solidFill>
              </a:rPr>
              <a:pPr algn="r" defTabSz="457200" eaLnBrk="0" fontAlgn="base" hangingPunct="0">
                <a:buClrTx/>
              </a:pPr>
              <a:t>41</a:t>
            </a:fld>
            <a:endParaRPr lang="en-US" sz="1400">
              <a:solidFill>
                <a:srgbClr val="FFFFFF"/>
              </a:solidFill>
            </a:endParaRPr>
          </a:p>
        </p:txBody>
      </p:sp>
      <p:sp>
        <p:nvSpPr>
          <p:cNvPr id="107523" name="Text Box 2"/>
          <p:cNvSpPr txBox="1">
            <a:spLocks noChangeArrowheads="1"/>
          </p:cNvSpPr>
          <p:nvPr/>
        </p:nvSpPr>
        <p:spPr bwMode="auto">
          <a:xfrm>
            <a:off x="1524000" y="76200"/>
            <a:ext cx="9144000" cy="58674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1pPr>
            <a:lvl2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2pPr>
            <a:lvl3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3pPr>
            <a:lvl4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4pPr>
            <a:lvl5pPr>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chemeClr val="bg1"/>
                </a:solidFill>
                <a:latin typeface="Arial" panose="020B0604020202020204" pitchFamily="34" charset="0"/>
                <a:ea typeface="AR PL SungtiL GB" charset="0"/>
                <a:cs typeface="AR PL SungtiL GB" charset="0"/>
              </a:defRPr>
            </a:lvl9pPr>
          </a:lstStyle>
          <a:p>
            <a:pPr algn="ctr" defTabSz="457200" eaLnBrk="0" fontAlgn="base" hangingPunct="0">
              <a:buClrTx/>
            </a:pPr>
            <a:r>
              <a:rPr lang="en-US" sz="11300" i="1">
                <a:solidFill>
                  <a:srgbClr val="FFFF00"/>
                </a:solidFill>
                <a:latin typeface="Times New Roman" panose="02020603050405020304" pitchFamily="18" charset="0"/>
              </a:rPr>
              <a:t>comments let the code speak for itself!</a:t>
            </a:r>
          </a:p>
        </p:txBody>
      </p:sp>
    </p:spTree>
    <p:extLst>
      <p:ext uri="{BB962C8B-B14F-4D97-AF65-F5344CB8AC3E}">
        <p14:creationId xmlns:p14="http://schemas.microsoft.com/office/powerpoint/2010/main" val="1885051538"/>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 in JS</a:t>
            </a:r>
          </a:p>
        </p:txBody>
      </p:sp>
      <p:sp>
        <p:nvSpPr>
          <p:cNvPr id="3" name="Content Placeholder 2"/>
          <p:cNvSpPr>
            <a:spLocks noGrp="1"/>
          </p:cNvSpPr>
          <p:nvPr>
            <p:ph idx="1"/>
          </p:nvPr>
        </p:nvSpPr>
        <p:spPr/>
        <p:txBody>
          <a:bodyPr/>
          <a:lstStyle/>
          <a:p>
            <a:r>
              <a:rPr lang="en-US" dirty="0"/>
              <a:t>String</a:t>
            </a:r>
          </a:p>
          <a:p>
            <a:pPr lvl="1"/>
            <a:r>
              <a:rPr lang="en-US" dirty="0"/>
              <a:t>A JavaScript string is zero or more characters written inside quotes.</a:t>
            </a:r>
          </a:p>
          <a:p>
            <a:pPr lvl="1"/>
            <a:endParaRPr lang="en-US" dirty="0"/>
          </a:p>
          <a:p>
            <a:r>
              <a:rPr lang="en-US" dirty="0"/>
              <a:t>Examples</a:t>
            </a:r>
          </a:p>
          <a:p>
            <a:pPr lvl="1"/>
            <a:r>
              <a:rPr lang="en-US" dirty="0"/>
              <a:t>let carName1 = "Volvo XC60";  // </a:t>
            </a:r>
            <a:r>
              <a:rPr lang="en-US"/>
              <a:t>Double quotes</a:t>
            </a:r>
          </a:p>
          <a:p>
            <a:pPr lvl="1"/>
            <a:r>
              <a:rPr lang="en-US"/>
              <a:t>let</a:t>
            </a:r>
            <a:r>
              <a:rPr lang="en-US" dirty="0"/>
              <a:t> carName2 = 'Volvo XC60';  // Single quotes</a:t>
            </a:r>
          </a:p>
        </p:txBody>
      </p:sp>
      <p:sp>
        <p:nvSpPr>
          <p:cNvPr id="4" name="Rectangle 1"/>
          <p:cNvSpPr>
            <a:spLocks noChangeArrowheads="1"/>
          </p:cNvSpPr>
          <p:nvPr/>
        </p:nvSpPr>
        <p:spPr bwMode="auto">
          <a:xfrm>
            <a:off x="1524001"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dirty="0">
              <a:solidFill>
                <a:prstClr val="black"/>
              </a:solidFill>
            </a:endParaRPr>
          </a:p>
        </p:txBody>
      </p:sp>
    </p:spTree>
    <p:extLst>
      <p:ext uri="{BB962C8B-B14F-4D97-AF65-F5344CB8AC3E}">
        <p14:creationId xmlns:p14="http://schemas.microsoft.com/office/powerpoint/2010/main" val="885502843"/>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Strings in JS</a:t>
            </a:r>
          </a:p>
        </p:txBody>
      </p:sp>
      <p:sp>
        <p:nvSpPr>
          <p:cNvPr id="3" name="Content Placeholder 2"/>
          <p:cNvSpPr>
            <a:spLocks noGrp="1"/>
          </p:cNvSpPr>
          <p:nvPr>
            <p:ph idx="1"/>
          </p:nvPr>
        </p:nvSpPr>
        <p:spPr>
          <a:xfrm>
            <a:off x="1981200" y="1295400"/>
            <a:ext cx="8229600" cy="5181600"/>
          </a:xfrm>
        </p:spPr>
        <p:txBody>
          <a:bodyPr>
            <a:normAutofit/>
          </a:bodyPr>
          <a:lstStyle/>
          <a:p>
            <a:r>
              <a:rPr lang="en-US" dirty="0"/>
              <a:t>Escape Characters</a:t>
            </a:r>
          </a:p>
          <a:p>
            <a:pPr lvl="1" eaLnBrk="0" fontAlgn="base" hangingPunct="0">
              <a:spcBef>
                <a:spcPct val="0"/>
              </a:spcBef>
              <a:spcAft>
                <a:spcPct val="0"/>
              </a:spcAft>
            </a:pPr>
            <a:r>
              <a:rPr lang="en-US" dirty="0"/>
              <a:t>Because strings must be written within quotes, JavaScript will misunderstand this string:</a:t>
            </a:r>
          </a:p>
          <a:p>
            <a:pPr lvl="1" eaLnBrk="0" fontAlgn="base" hangingPunct="0">
              <a:spcBef>
                <a:spcPct val="0"/>
              </a:spcBef>
              <a:spcAft>
                <a:spcPct val="0"/>
              </a:spcAft>
            </a:pPr>
            <a:r>
              <a:rPr lang="en-US" dirty="0"/>
              <a:t>let text = "We are the so-called "Vikings" from the north.";</a:t>
            </a:r>
            <a:endParaRPr lang="en-US" altLang="en-US" dirty="0">
              <a:solidFill>
                <a:srgbClr val="000000"/>
              </a:solidFill>
            </a:endParaRPr>
          </a:p>
          <a:p>
            <a:pPr lvl="1" eaLnBrk="0" fontAlgn="base" hangingPunct="0">
              <a:spcBef>
                <a:spcPct val="0"/>
              </a:spcBef>
              <a:spcAft>
                <a:spcPct val="0"/>
              </a:spcAft>
            </a:pPr>
            <a:r>
              <a:rPr lang="en-US" altLang="en-US" dirty="0">
                <a:solidFill>
                  <a:srgbClr val="000000"/>
                </a:solidFill>
              </a:rPr>
              <a:t>The string will be chopped to "We are the so-called ".</a:t>
            </a:r>
            <a:endParaRPr lang="en-US" altLang="en-US" dirty="0">
              <a:solidFill>
                <a:prstClr val="black"/>
              </a:solidFill>
            </a:endParaRPr>
          </a:p>
          <a:p>
            <a:pPr lvl="1" eaLnBrk="0" fontAlgn="base" hangingPunct="0">
              <a:spcBef>
                <a:spcPct val="0"/>
              </a:spcBef>
              <a:spcAft>
                <a:spcPct val="0"/>
              </a:spcAft>
            </a:pPr>
            <a:r>
              <a:rPr lang="en-US" altLang="en-US" dirty="0">
                <a:solidFill>
                  <a:srgbClr val="000000"/>
                </a:solidFill>
              </a:rPr>
              <a:t>The solution to avoid this problem, is to use the </a:t>
            </a:r>
            <a:r>
              <a:rPr lang="en-US" altLang="en-US" b="1" dirty="0">
                <a:solidFill>
                  <a:srgbClr val="000000"/>
                </a:solidFill>
              </a:rPr>
              <a:t>backslash escape character</a:t>
            </a:r>
            <a:r>
              <a:rPr lang="en-US" altLang="en-US" dirty="0">
                <a:solidFill>
                  <a:srgbClr val="000000"/>
                </a:solidFill>
              </a:rPr>
              <a:t>.</a:t>
            </a:r>
            <a:endParaRPr lang="en-US" altLang="en-US" dirty="0">
              <a:solidFill>
                <a:prstClr val="black"/>
              </a:solidFill>
            </a:endParaRPr>
          </a:p>
          <a:p>
            <a:pPr lvl="1" eaLnBrk="0" fontAlgn="base" hangingPunct="0">
              <a:spcBef>
                <a:spcPct val="0"/>
              </a:spcBef>
              <a:spcAft>
                <a:spcPct val="0"/>
              </a:spcAft>
            </a:pPr>
            <a:r>
              <a:rPr lang="en-US" altLang="en-US" dirty="0">
                <a:solidFill>
                  <a:srgbClr val="000000"/>
                </a:solidFill>
              </a:rPr>
              <a:t>The backslash (</a:t>
            </a:r>
            <a:r>
              <a:rPr lang="en-US" altLang="en-US" dirty="0">
                <a:solidFill>
                  <a:srgbClr val="DC143C"/>
                </a:solidFill>
                <a:cs typeface="Consolas" panose="020B0609020204030204" pitchFamily="49" charset="0"/>
              </a:rPr>
              <a:t>\</a:t>
            </a:r>
            <a:r>
              <a:rPr lang="en-US" altLang="en-US" dirty="0">
                <a:solidFill>
                  <a:srgbClr val="000000"/>
                </a:solidFill>
              </a:rPr>
              <a:t>) escape character turns special characters into string characters:</a:t>
            </a:r>
          </a:p>
          <a:p>
            <a:pPr eaLnBrk="0" fontAlgn="base" hangingPunct="0">
              <a:spcBef>
                <a:spcPct val="0"/>
              </a:spcBef>
              <a:spcAft>
                <a:spcPct val="0"/>
              </a:spcAft>
            </a:pPr>
            <a:r>
              <a:rPr lang="en-US" altLang="en-US" dirty="0">
                <a:solidFill>
                  <a:srgbClr val="000000"/>
                </a:solidFill>
              </a:rPr>
              <a:t>Examples</a:t>
            </a:r>
          </a:p>
          <a:p>
            <a:pPr lvl="1" eaLnBrk="0" fontAlgn="base" hangingPunct="0">
              <a:spcBef>
                <a:spcPct val="0"/>
              </a:spcBef>
              <a:spcAft>
                <a:spcPct val="0"/>
              </a:spcAft>
            </a:pPr>
            <a:r>
              <a:rPr lang="en-US" altLang="en-US" dirty="0">
                <a:solidFill>
                  <a:srgbClr val="000000"/>
                </a:solidFill>
              </a:rPr>
              <a:t>\”	\’	\\</a:t>
            </a:r>
            <a:endParaRPr lang="en-US" altLang="en-US" dirty="0">
              <a:solidFill>
                <a:prstClr val="black"/>
              </a:solidFill>
            </a:endParaRPr>
          </a:p>
        </p:txBody>
      </p:sp>
      <p:sp>
        <p:nvSpPr>
          <p:cNvPr id="4" name="Rectangle 1"/>
          <p:cNvSpPr>
            <a:spLocks noChangeArrowheads="1"/>
          </p:cNvSpPr>
          <p:nvPr/>
        </p:nvSpPr>
        <p:spPr bwMode="auto">
          <a:xfrm>
            <a:off x="1524001" y="43934"/>
            <a:ext cx="184731" cy="369332"/>
          </a:xfrm>
          <a:prstGeom prst="rect">
            <a:avLst/>
          </a:prstGeom>
          <a:solidFill>
            <a:srgbClr val="FFFFFF"/>
          </a:solidFill>
          <a:ln>
            <a:noFill/>
          </a:ln>
          <a:effectLst/>
          <a:extLs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none" lIns="91440" tIns="45720" rIns="91440" bIns="45720" numCol="1" anchor="ctr" anchorCtr="0" compatLnSpc="1">
            <a:prstTxWarp prst="textNoShape">
              <a:avLst/>
            </a:prstTxWarp>
            <a:spAutoFit/>
          </a:bodyPr>
          <a:lstStyle>
            <a:lvl1pPr eaLnBrk="0" fontAlgn="base" hangingPunct="0">
              <a:spcBef>
                <a:spcPct val="0"/>
              </a:spcBef>
              <a:spcAft>
                <a:spcPct val="0"/>
              </a:spcAft>
              <a:defRPr>
                <a:solidFill>
                  <a:schemeClr val="tx1"/>
                </a:solidFill>
                <a:latin typeface="Arial" panose="020B0604020202020204" pitchFamily="34" charset="0"/>
              </a:defRPr>
            </a:lvl1pPr>
            <a:lvl2pPr eaLnBrk="0" fontAlgn="base" hangingPunct="0">
              <a:spcBef>
                <a:spcPct val="0"/>
              </a:spcBef>
              <a:spcAft>
                <a:spcPct val="0"/>
              </a:spcAft>
              <a:defRPr>
                <a:solidFill>
                  <a:schemeClr val="tx1"/>
                </a:solidFill>
                <a:latin typeface="Arial" panose="020B0604020202020204" pitchFamily="34" charset="0"/>
              </a:defRPr>
            </a:lvl2pPr>
            <a:lvl3pPr eaLnBrk="0" fontAlgn="base" hangingPunct="0">
              <a:spcBef>
                <a:spcPct val="0"/>
              </a:spcBef>
              <a:spcAft>
                <a:spcPct val="0"/>
              </a:spcAft>
              <a:defRPr>
                <a:solidFill>
                  <a:schemeClr val="tx1"/>
                </a:solidFill>
                <a:latin typeface="Arial" panose="020B0604020202020204" pitchFamily="34" charset="0"/>
              </a:defRPr>
            </a:lvl3pPr>
            <a:lvl4pPr eaLnBrk="0" fontAlgn="base" hangingPunct="0">
              <a:spcBef>
                <a:spcPct val="0"/>
              </a:spcBef>
              <a:spcAft>
                <a:spcPct val="0"/>
              </a:spcAft>
              <a:defRPr>
                <a:solidFill>
                  <a:schemeClr val="tx1"/>
                </a:solidFill>
                <a:latin typeface="Arial" panose="020B0604020202020204" pitchFamily="34" charset="0"/>
              </a:defRPr>
            </a:lvl4pPr>
            <a:lvl5pPr eaLnBrk="0" fontAlgn="base" hangingPunct="0">
              <a:spcBef>
                <a:spcPct val="0"/>
              </a:spcBef>
              <a:spcAft>
                <a:spcPct val="0"/>
              </a:spcAft>
              <a:defRPr>
                <a:solidFill>
                  <a:schemeClr val="tx1"/>
                </a:solidFill>
                <a:latin typeface="Arial" panose="020B0604020202020204" pitchFamily="34" charset="0"/>
              </a:defRPr>
            </a:lvl5pPr>
            <a:lvl6pPr eaLnBrk="0" fontAlgn="base" hangingPunct="0">
              <a:spcBef>
                <a:spcPct val="0"/>
              </a:spcBef>
              <a:spcAft>
                <a:spcPct val="0"/>
              </a:spcAft>
              <a:defRPr>
                <a:solidFill>
                  <a:schemeClr val="tx1"/>
                </a:solidFill>
                <a:latin typeface="Arial" panose="020B0604020202020204" pitchFamily="34" charset="0"/>
              </a:defRPr>
            </a:lvl6pPr>
            <a:lvl7pPr eaLnBrk="0" fontAlgn="base" hangingPunct="0">
              <a:spcBef>
                <a:spcPct val="0"/>
              </a:spcBef>
              <a:spcAft>
                <a:spcPct val="0"/>
              </a:spcAft>
              <a:defRPr>
                <a:solidFill>
                  <a:schemeClr val="tx1"/>
                </a:solidFill>
                <a:latin typeface="Arial" panose="020B0604020202020204" pitchFamily="34" charset="0"/>
              </a:defRPr>
            </a:lvl7pPr>
            <a:lvl8pPr eaLnBrk="0" fontAlgn="base" hangingPunct="0">
              <a:spcBef>
                <a:spcPct val="0"/>
              </a:spcBef>
              <a:spcAft>
                <a:spcPct val="0"/>
              </a:spcAft>
              <a:defRPr>
                <a:solidFill>
                  <a:schemeClr val="tx1"/>
                </a:solidFill>
                <a:latin typeface="Arial" panose="020B0604020202020204" pitchFamily="34" charset="0"/>
              </a:defRPr>
            </a:lvl8pPr>
            <a:lvl9pPr eaLnBrk="0" fontAlgn="base" hangingPunct="0">
              <a:spcBef>
                <a:spcPct val="0"/>
              </a:spcBef>
              <a:spcAft>
                <a:spcPct val="0"/>
              </a:spcAft>
              <a:defRPr>
                <a:solidFill>
                  <a:schemeClr val="tx1"/>
                </a:solidFill>
                <a:latin typeface="Arial" panose="020B0604020202020204" pitchFamily="34" charset="0"/>
              </a:defRPr>
            </a:lvl9pPr>
          </a:lstStyle>
          <a:p>
            <a:endParaRPr lang="en-US" altLang="en-US" dirty="0">
              <a:solidFill>
                <a:prstClr val="black"/>
              </a:solidFill>
            </a:endParaRPr>
          </a:p>
        </p:txBody>
      </p:sp>
    </p:spTree>
    <p:extLst>
      <p:ext uri="{BB962C8B-B14F-4D97-AF65-F5344CB8AC3E}">
        <p14:creationId xmlns:p14="http://schemas.microsoft.com/office/powerpoint/2010/main" val="200474143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in JS</a:t>
            </a:r>
          </a:p>
        </p:txBody>
      </p:sp>
      <p:sp>
        <p:nvSpPr>
          <p:cNvPr id="3" name="Content Placeholder 2"/>
          <p:cNvSpPr>
            <a:spLocks noGrp="1"/>
          </p:cNvSpPr>
          <p:nvPr>
            <p:ph idx="1"/>
          </p:nvPr>
        </p:nvSpPr>
        <p:spPr/>
        <p:txBody>
          <a:bodyPr/>
          <a:lstStyle/>
          <a:p>
            <a:r>
              <a:rPr lang="en-US" dirty="0"/>
              <a:t>String methods</a:t>
            </a:r>
          </a:p>
          <a:p>
            <a:pPr lvl="1"/>
            <a:r>
              <a:rPr lang="en-US" dirty="0"/>
              <a:t>String methods help you to work with strings.</a:t>
            </a:r>
          </a:p>
          <a:p>
            <a:pPr lvl="1"/>
            <a:r>
              <a:rPr lang="en-US" dirty="0"/>
              <a:t>String methods are built in functions that provides support to the developer to work faster and smarter.</a:t>
            </a:r>
          </a:p>
          <a:p>
            <a:r>
              <a:rPr lang="en-US" dirty="0"/>
              <a:t>Examples</a:t>
            </a:r>
          </a:p>
          <a:p>
            <a:pPr lvl="1"/>
            <a:r>
              <a:rPr lang="en-US" dirty="0"/>
              <a:t>let txt = "ABCDEFGHIJKLMNOPQRSTUVWXYZ";</a:t>
            </a:r>
            <a:br>
              <a:rPr lang="en-US" dirty="0"/>
            </a:br>
            <a:r>
              <a:rPr lang="en-US" dirty="0"/>
              <a:t>let length = </a:t>
            </a:r>
            <a:r>
              <a:rPr lang="en-US" dirty="0" err="1"/>
              <a:t>txt.length</a:t>
            </a:r>
            <a:r>
              <a:rPr lang="en-US" dirty="0"/>
              <a:t>;</a:t>
            </a:r>
          </a:p>
        </p:txBody>
      </p:sp>
    </p:spTree>
    <p:extLst>
      <p:ext uri="{BB962C8B-B14F-4D97-AF65-F5344CB8AC3E}">
        <p14:creationId xmlns:p14="http://schemas.microsoft.com/office/powerpoint/2010/main" val="6835183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Examples</a:t>
            </a:r>
          </a:p>
        </p:txBody>
      </p:sp>
      <p:sp>
        <p:nvSpPr>
          <p:cNvPr id="3" name="Content Placeholder 2"/>
          <p:cNvSpPr>
            <a:spLocks noGrp="1"/>
          </p:cNvSpPr>
          <p:nvPr>
            <p:ph idx="1"/>
          </p:nvPr>
        </p:nvSpPr>
        <p:spPr/>
        <p:txBody>
          <a:bodyPr>
            <a:normAutofit/>
          </a:bodyPr>
          <a:lstStyle/>
          <a:p>
            <a:r>
              <a:rPr lang="en-US" dirty="0"/>
              <a:t>Slice() Methods</a:t>
            </a:r>
          </a:p>
          <a:p>
            <a:pPr lvl="1"/>
            <a:r>
              <a:rPr lang="en-US" dirty="0"/>
              <a:t>Extracts part of a string</a:t>
            </a:r>
          </a:p>
          <a:p>
            <a:r>
              <a:rPr lang="en-US" dirty="0"/>
              <a:t>example</a:t>
            </a:r>
          </a:p>
          <a:p>
            <a:pPr lvl="1"/>
            <a:r>
              <a:rPr lang="en-US" dirty="0"/>
              <a:t>let </a:t>
            </a:r>
            <a:r>
              <a:rPr lang="en-US" dirty="0" err="1"/>
              <a:t>str</a:t>
            </a:r>
            <a:r>
              <a:rPr lang="en-US" dirty="0"/>
              <a:t> = "Apple, Banana, Kiwi";</a:t>
            </a:r>
            <a:br>
              <a:rPr lang="en-US" dirty="0"/>
            </a:br>
            <a:r>
              <a:rPr lang="en-US" dirty="0"/>
              <a:t>let part = </a:t>
            </a:r>
            <a:r>
              <a:rPr lang="en-US" dirty="0" err="1"/>
              <a:t>str.slice</a:t>
            </a:r>
            <a:r>
              <a:rPr lang="en-US" dirty="0"/>
              <a:t>(7, 13);</a:t>
            </a:r>
          </a:p>
          <a:p>
            <a:r>
              <a:rPr lang="en-US" dirty="0"/>
              <a:t>Replace method</a:t>
            </a:r>
          </a:p>
          <a:p>
            <a:pPr lvl="1"/>
            <a:r>
              <a:rPr lang="en-US" dirty="0"/>
              <a:t>Replaces specified values.</a:t>
            </a:r>
          </a:p>
          <a:p>
            <a:r>
              <a:rPr lang="en-US" dirty="0"/>
              <a:t>let text = "Please visit Microsoft!";</a:t>
            </a:r>
            <a:br>
              <a:rPr lang="en-US" dirty="0"/>
            </a:br>
            <a:r>
              <a:rPr lang="en-US" dirty="0"/>
              <a:t>let </a:t>
            </a:r>
            <a:r>
              <a:rPr lang="en-US" dirty="0" err="1"/>
              <a:t>newText</a:t>
            </a:r>
            <a:r>
              <a:rPr lang="en-US" dirty="0"/>
              <a:t> = </a:t>
            </a:r>
            <a:r>
              <a:rPr lang="en-US" sz="2600" dirty="0" err="1"/>
              <a:t>text.replace</a:t>
            </a:r>
            <a:r>
              <a:rPr lang="en-US" sz="2600" dirty="0"/>
              <a:t>("Microsoft", "W3Schools");</a:t>
            </a:r>
          </a:p>
        </p:txBody>
      </p:sp>
    </p:spTree>
    <p:extLst>
      <p:ext uri="{BB962C8B-B14F-4D97-AF65-F5344CB8AC3E}">
        <p14:creationId xmlns:p14="http://schemas.microsoft.com/office/powerpoint/2010/main" val="360475095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methods Examples</a:t>
            </a:r>
          </a:p>
        </p:txBody>
      </p:sp>
      <p:sp>
        <p:nvSpPr>
          <p:cNvPr id="3" name="Content Placeholder 2"/>
          <p:cNvSpPr>
            <a:spLocks noGrp="1"/>
          </p:cNvSpPr>
          <p:nvPr>
            <p:ph idx="1"/>
          </p:nvPr>
        </p:nvSpPr>
        <p:spPr/>
        <p:txBody>
          <a:bodyPr>
            <a:normAutofit/>
          </a:bodyPr>
          <a:lstStyle/>
          <a:p>
            <a:r>
              <a:rPr lang="en-US" dirty="0"/>
              <a:t>Replace method</a:t>
            </a:r>
          </a:p>
          <a:p>
            <a:pPr lvl="1"/>
            <a:r>
              <a:rPr lang="en-US" dirty="0"/>
              <a:t>By default it is case sensitive use regular expression.</a:t>
            </a:r>
          </a:p>
          <a:p>
            <a:pPr lvl="1"/>
            <a:r>
              <a:rPr lang="en-US" dirty="0"/>
              <a:t>To replace multiple values use regular expression.</a:t>
            </a:r>
          </a:p>
          <a:p>
            <a:r>
              <a:rPr lang="en-US" dirty="0"/>
              <a:t>Example</a:t>
            </a:r>
          </a:p>
          <a:p>
            <a:pPr lvl="1"/>
            <a:r>
              <a:rPr lang="en-US" dirty="0">
                <a:solidFill>
                  <a:srgbClr val="FF0000"/>
                </a:solidFill>
              </a:rPr>
              <a:t>let text = "Please visit Microsoft!";</a:t>
            </a:r>
            <a:br>
              <a:rPr lang="en-US" dirty="0">
                <a:solidFill>
                  <a:srgbClr val="FF0000"/>
                </a:solidFill>
              </a:rPr>
            </a:br>
            <a:r>
              <a:rPr lang="en-US" dirty="0">
                <a:solidFill>
                  <a:srgbClr val="FF0000"/>
                </a:solidFill>
              </a:rPr>
              <a:t>let </a:t>
            </a:r>
            <a:r>
              <a:rPr lang="en-US" dirty="0" err="1">
                <a:solidFill>
                  <a:srgbClr val="FF0000"/>
                </a:solidFill>
              </a:rPr>
              <a:t>newText</a:t>
            </a:r>
            <a:r>
              <a:rPr lang="en-US" dirty="0">
                <a:solidFill>
                  <a:srgbClr val="FF0000"/>
                </a:solidFill>
              </a:rPr>
              <a:t> = </a:t>
            </a:r>
            <a:r>
              <a:rPr lang="en-US" dirty="0" err="1">
                <a:solidFill>
                  <a:srgbClr val="FF0000"/>
                </a:solidFill>
              </a:rPr>
              <a:t>text.replace</a:t>
            </a:r>
            <a:r>
              <a:rPr lang="en-US" dirty="0">
                <a:solidFill>
                  <a:srgbClr val="FF0000"/>
                </a:solidFill>
              </a:rPr>
              <a:t>(/MICROSOFT/</a:t>
            </a:r>
            <a:r>
              <a:rPr lang="en-US" dirty="0" err="1">
                <a:solidFill>
                  <a:srgbClr val="FF0000"/>
                </a:solidFill>
              </a:rPr>
              <a:t>i</a:t>
            </a:r>
            <a:r>
              <a:rPr lang="en-US" dirty="0">
                <a:solidFill>
                  <a:srgbClr val="FF0000"/>
                </a:solidFill>
              </a:rPr>
              <a:t>, "W3Schools");</a:t>
            </a:r>
          </a:p>
          <a:p>
            <a:pPr lvl="1"/>
            <a:r>
              <a:rPr lang="en-US" dirty="0"/>
              <a:t>let text = "Please visit Microsoft and Microsoft!";</a:t>
            </a:r>
            <a:br>
              <a:rPr lang="en-US" dirty="0"/>
            </a:br>
            <a:r>
              <a:rPr lang="en-US" dirty="0"/>
              <a:t>let </a:t>
            </a:r>
            <a:r>
              <a:rPr lang="en-US" dirty="0" err="1"/>
              <a:t>newText</a:t>
            </a:r>
            <a:r>
              <a:rPr lang="en-US" dirty="0"/>
              <a:t> = </a:t>
            </a:r>
            <a:r>
              <a:rPr lang="en-US" dirty="0" err="1"/>
              <a:t>text.replace</a:t>
            </a:r>
            <a:r>
              <a:rPr lang="en-US" dirty="0"/>
              <a:t>(/Microsoft/g, "W3Schools");</a:t>
            </a:r>
          </a:p>
          <a:p>
            <a:pPr lvl="1"/>
            <a:endParaRPr lang="en-US" dirty="0"/>
          </a:p>
        </p:txBody>
      </p:sp>
    </p:spTree>
    <p:extLst>
      <p:ext uri="{BB962C8B-B14F-4D97-AF65-F5344CB8AC3E}">
        <p14:creationId xmlns:p14="http://schemas.microsoft.com/office/powerpoint/2010/main" val="244448997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Several String methods	</a:t>
            </a:r>
          </a:p>
        </p:txBody>
      </p:sp>
      <p:sp>
        <p:nvSpPr>
          <p:cNvPr id="3" name="Content Placeholder 2"/>
          <p:cNvSpPr>
            <a:spLocks noGrp="1"/>
          </p:cNvSpPr>
          <p:nvPr>
            <p:ph idx="1"/>
          </p:nvPr>
        </p:nvSpPr>
        <p:spPr>
          <a:xfrm>
            <a:off x="1981200" y="1417639"/>
            <a:ext cx="8229600" cy="4708525"/>
          </a:xfrm>
        </p:spPr>
        <p:txBody>
          <a:bodyPr>
            <a:normAutofit/>
          </a:bodyPr>
          <a:lstStyle/>
          <a:p>
            <a:pPr marL="57150" indent="0">
              <a:buNone/>
            </a:pPr>
            <a:r>
              <a:rPr lang="en-US" dirty="0"/>
              <a:t>Use the {$} sign to get a value from a variable in string as  ‘Your nam is ${name}’</a:t>
            </a:r>
          </a:p>
          <a:p>
            <a:r>
              <a:rPr lang="en-US" dirty="0" err="1"/>
              <a:t>str.length</a:t>
            </a:r>
            <a:endParaRPr lang="en-US" dirty="0"/>
          </a:p>
          <a:p>
            <a:r>
              <a:rPr lang="en-US" dirty="0" err="1"/>
              <a:t>toUpperCase</a:t>
            </a:r>
            <a:r>
              <a:rPr lang="en-US" dirty="0"/>
              <a:t>()</a:t>
            </a:r>
          </a:p>
          <a:p>
            <a:r>
              <a:rPr lang="en-US" dirty="0" err="1"/>
              <a:t>toLowerCase</a:t>
            </a:r>
            <a:r>
              <a:rPr lang="en-US" dirty="0"/>
              <a:t>()</a:t>
            </a:r>
          </a:p>
          <a:p>
            <a:r>
              <a:rPr lang="en-US" dirty="0" err="1"/>
              <a:t>Indexof</a:t>
            </a:r>
            <a:r>
              <a:rPr lang="en-US" dirty="0"/>
              <a:t>(“word here”)</a:t>
            </a:r>
          </a:p>
          <a:p>
            <a:r>
              <a:rPr lang="en-US" dirty="0" err="1"/>
              <a:t>Indexoflast</a:t>
            </a:r>
            <a:r>
              <a:rPr lang="en-US" dirty="0"/>
              <a:t>(“last index of multiple words”)</a:t>
            </a:r>
          </a:p>
          <a:p>
            <a:r>
              <a:rPr lang="en-US" dirty="0"/>
              <a:t>Trim()</a:t>
            </a:r>
          </a:p>
          <a:p>
            <a:endParaRPr lang="en-US" dirty="0"/>
          </a:p>
          <a:p>
            <a:endParaRPr lang="en-US" dirty="0"/>
          </a:p>
        </p:txBody>
      </p:sp>
    </p:spTree>
    <p:extLst>
      <p:ext uri="{BB962C8B-B14F-4D97-AF65-F5344CB8AC3E}">
        <p14:creationId xmlns:p14="http://schemas.microsoft.com/office/powerpoint/2010/main" val="3734410442"/>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sz="4000" b="1" dirty="0"/>
              <a:t>Several String methods	</a:t>
            </a:r>
            <a:endParaRPr lang="en-GB" sz="4000" b="1" dirty="0"/>
          </a:p>
        </p:txBody>
      </p:sp>
      <p:sp>
        <p:nvSpPr>
          <p:cNvPr id="3" name="Content Placeholder 2"/>
          <p:cNvSpPr>
            <a:spLocks noGrp="1"/>
          </p:cNvSpPr>
          <p:nvPr>
            <p:ph idx="1"/>
          </p:nvPr>
        </p:nvSpPr>
        <p:spPr>
          <a:xfrm>
            <a:off x="2152650" y="1371600"/>
            <a:ext cx="7886700" cy="4648200"/>
          </a:xfrm>
        </p:spPr>
        <p:txBody>
          <a:bodyPr>
            <a:noAutofit/>
          </a:bodyPr>
          <a:lstStyle/>
          <a:p>
            <a:pPr lvl="1"/>
            <a:r>
              <a:rPr lang="en-US" sz="2800" dirty="0" err="1"/>
              <a:t>str.replace</a:t>
            </a:r>
            <a:r>
              <a:rPr lang="en-US" sz="2800" dirty="0">
                <a:solidFill>
                  <a:srgbClr val="FF0000"/>
                </a:solidFill>
              </a:rPr>
              <a:t>(first match of x, with y)</a:t>
            </a:r>
            <a:r>
              <a:rPr lang="en-US" sz="2800" dirty="0"/>
              <a:t>  // replace(“school”, “collage”)</a:t>
            </a:r>
          </a:p>
          <a:p>
            <a:pPr lvl="1"/>
            <a:r>
              <a:rPr lang="en-US" sz="2800" dirty="0" err="1"/>
              <a:t>str.concat</a:t>
            </a:r>
            <a:r>
              <a:rPr lang="en-US" sz="2800" dirty="0">
                <a:solidFill>
                  <a:srgbClr val="FF0000"/>
                </a:solidFill>
              </a:rPr>
              <a:t>(str1,str2,…)</a:t>
            </a:r>
            <a:r>
              <a:rPr lang="en-US" sz="2800" dirty="0"/>
              <a:t> //same as adding string(+)</a:t>
            </a:r>
          </a:p>
          <a:p>
            <a:pPr lvl="1"/>
            <a:r>
              <a:rPr lang="en-US" sz="2800" dirty="0" err="1"/>
              <a:t>str.split</a:t>
            </a:r>
            <a:r>
              <a:rPr lang="en-US" sz="2800" dirty="0">
                <a:solidFill>
                  <a:srgbClr val="FF0000"/>
                </a:solidFill>
              </a:rPr>
              <a:t>(“</a:t>
            </a:r>
            <a:r>
              <a:rPr lang="en-US" sz="2800" dirty="0" err="1">
                <a:solidFill>
                  <a:srgbClr val="FF0000"/>
                </a:solidFill>
              </a:rPr>
              <a:t>seperator</a:t>
            </a:r>
            <a:r>
              <a:rPr lang="en-US" sz="2800" dirty="0">
                <a:solidFill>
                  <a:srgbClr val="FF0000"/>
                </a:solidFill>
              </a:rPr>
              <a:t>”)</a:t>
            </a:r>
            <a:r>
              <a:rPr lang="en-US" sz="2800" dirty="0"/>
              <a:t> //converts strings to an array</a:t>
            </a:r>
          </a:p>
          <a:p>
            <a:pPr lvl="1"/>
            <a:r>
              <a:rPr lang="en-US" sz="2800" dirty="0" err="1"/>
              <a:t>str.includes</a:t>
            </a:r>
            <a:r>
              <a:rPr lang="en-US" sz="2800" dirty="0">
                <a:solidFill>
                  <a:srgbClr val="FF0000"/>
                </a:solidFill>
              </a:rPr>
              <a:t>(“value”)</a:t>
            </a:r>
            <a:r>
              <a:rPr lang="en-US" sz="2800" dirty="0"/>
              <a:t> //</a:t>
            </a:r>
            <a:r>
              <a:rPr lang="en-US" sz="2800" dirty="0" err="1"/>
              <a:t>retrun</a:t>
            </a:r>
            <a:r>
              <a:rPr lang="en-US" sz="2800" dirty="0"/>
              <a:t> true if value is available in </a:t>
            </a:r>
            <a:r>
              <a:rPr lang="en-US" sz="2800" dirty="0" err="1"/>
              <a:t>str</a:t>
            </a:r>
            <a:endParaRPr lang="en-US" sz="2800" dirty="0"/>
          </a:p>
          <a:p>
            <a:pPr lvl="1"/>
            <a:r>
              <a:rPr lang="en-US" sz="2800" dirty="0" err="1"/>
              <a:t>str.startsWith</a:t>
            </a:r>
            <a:r>
              <a:rPr lang="en-US" sz="2800" dirty="0">
                <a:solidFill>
                  <a:srgbClr val="FF0000"/>
                </a:solidFill>
              </a:rPr>
              <a:t>(“value”)</a:t>
            </a:r>
            <a:r>
              <a:rPr lang="en-US" sz="2800" dirty="0"/>
              <a:t> // return true if </a:t>
            </a:r>
            <a:r>
              <a:rPr lang="en-US" sz="2800" dirty="0" err="1"/>
              <a:t>str</a:t>
            </a:r>
            <a:r>
              <a:rPr lang="en-US" sz="2800" dirty="0"/>
              <a:t> start with value</a:t>
            </a:r>
          </a:p>
          <a:p>
            <a:pPr lvl="1"/>
            <a:r>
              <a:rPr lang="en-US" sz="2800" dirty="0" err="1"/>
              <a:t>str.endsWith</a:t>
            </a:r>
            <a:r>
              <a:rPr lang="en-US" sz="2800" dirty="0">
                <a:solidFill>
                  <a:srgbClr val="FF0000"/>
                </a:solidFill>
              </a:rPr>
              <a:t>(“value”)</a:t>
            </a:r>
            <a:r>
              <a:rPr lang="en-US" sz="2800" dirty="0"/>
              <a:t> //return true if </a:t>
            </a:r>
            <a:r>
              <a:rPr lang="en-US" sz="2800" dirty="0" err="1"/>
              <a:t>str</a:t>
            </a:r>
            <a:r>
              <a:rPr lang="en-US" sz="2800" dirty="0"/>
              <a:t> ends with value</a:t>
            </a:r>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4142630760"/>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String and String Methods</a:t>
            </a:r>
            <a:endParaRPr lang="en-GB" dirty="0"/>
          </a:p>
        </p:txBody>
      </p:sp>
      <p:sp>
        <p:nvSpPr>
          <p:cNvPr id="3" name="Content Placeholder 2"/>
          <p:cNvSpPr>
            <a:spLocks noGrp="1"/>
          </p:cNvSpPr>
          <p:nvPr>
            <p:ph idx="1"/>
          </p:nvPr>
        </p:nvSpPr>
        <p:spPr/>
        <p:txBody>
          <a:bodyPr/>
          <a:lstStyle/>
          <a:p>
            <a:pPr marL="0" indent="0">
              <a:buNone/>
            </a:pPr>
            <a:r>
              <a:rPr lang="en-GB" dirty="0"/>
              <a:t>str1.indexOf(</a:t>
            </a:r>
            <a:r>
              <a:rPr lang="en-GB" dirty="0">
                <a:solidFill>
                  <a:srgbClr val="FF0000"/>
                </a:solidFill>
              </a:rPr>
              <a:t>str2</a:t>
            </a:r>
            <a:r>
              <a:rPr lang="en-GB" dirty="0"/>
              <a:t>);  </a:t>
            </a:r>
            <a:r>
              <a:rPr lang="en-GB" sz="1800" dirty="0"/>
              <a:t>// </a:t>
            </a:r>
            <a:r>
              <a:rPr lang="en-US" sz="1800" b="1" dirty="0" err="1"/>
              <a:t>indexOf</a:t>
            </a:r>
            <a:r>
              <a:rPr lang="en-US" sz="1800" b="1" dirty="0"/>
              <a:t>() </a:t>
            </a:r>
            <a:r>
              <a:rPr lang="en-US" sz="1800" dirty="0"/>
              <a:t>method checks if str2 is found within str1 and returns the index of the first occurrence. If str2 is not found in str1, </a:t>
            </a:r>
            <a:r>
              <a:rPr lang="en-US" sz="1800" dirty="0" err="1"/>
              <a:t>indexOf</a:t>
            </a:r>
            <a:r>
              <a:rPr lang="en-US" sz="1800" dirty="0"/>
              <a:t> will return -1.</a:t>
            </a:r>
          </a:p>
          <a:p>
            <a:pPr marL="0" indent="0">
              <a:buNone/>
            </a:pP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87447457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Numbers Methods</a:t>
            </a:r>
            <a:endParaRPr lang="en-GB" dirty="0"/>
          </a:p>
        </p:txBody>
      </p:sp>
      <p:sp>
        <p:nvSpPr>
          <p:cNvPr id="3" name="Content Placeholder 2"/>
          <p:cNvSpPr>
            <a:spLocks noGrp="1"/>
          </p:cNvSpPr>
          <p:nvPr>
            <p:ph idx="1"/>
          </p:nvPr>
        </p:nvSpPr>
        <p:spPr/>
        <p:txBody>
          <a:bodyPr>
            <a:normAutofit fontScale="92500" lnSpcReduction="20000"/>
          </a:bodyPr>
          <a:lstStyle/>
          <a:p>
            <a:pPr marL="0" indent="0">
              <a:buNone/>
            </a:pPr>
            <a:r>
              <a:rPr lang="en-US" dirty="0" err="1"/>
              <a:t>Num.toFixed</a:t>
            </a:r>
            <a:r>
              <a:rPr lang="en-US" dirty="0">
                <a:solidFill>
                  <a:srgbClr val="FF0000"/>
                </a:solidFill>
              </a:rPr>
              <a:t>(</a:t>
            </a:r>
            <a:r>
              <a:rPr lang="en-US" dirty="0" err="1">
                <a:solidFill>
                  <a:srgbClr val="FF0000"/>
                </a:solidFill>
              </a:rPr>
              <a:t>numOfDecimalPlaces</a:t>
            </a:r>
            <a:r>
              <a:rPr lang="en-US" dirty="0">
                <a:solidFill>
                  <a:srgbClr val="FF0000"/>
                </a:solidFill>
              </a:rPr>
              <a:t>)</a:t>
            </a:r>
            <a:r>
              <a:rPr lang="en-US" dirty="0"/>
              <a:t> </a:t>
            </a:r>
          </a:p>
          <a:p>
            <a:pPr marL="342900" lvl="1" indent="0">
              <a:buNone/>
            </a:pPr>
            <a:r>
              <a:rPr lang="en-US" dirty="0"/>
              <a:t>let price  = 2.3433 </a:t>
            </a:r>
          </a:p>
          <a:p>
            <a:pPr marL="342900" lvl="1" indent="0">
              <a:buNone/>
            </a:pPr>
            <a:r>
              <a:rPr lang="en-US" dirty="0" err="1"/>
              <a:t>price.toFixed</a:t>
            </a:r>
            <a:r>
              <a:rPr lang="en-US" dirty="0"/>
              <a:t>(2)  = &gt; 2.34</a:t>
            </a:r>
          </a:p>
          <a:p>
            <a:pPr marL="0" indent="0">
              <a:buNone/>
            </a:pPr>
            <a:r>
              <a:rPr lang="en-US" dirty="0"/>
              <a:t>Number</a:t>
            </a:r>
            <a:r>
              <a:rPr lang="en-US" dirty="0">
                <a:solidFill>
                  <a:srgbClr val="FF0000"/>
                </a:solidFill>
              </a:rPr>
              <a:t>(value To Convert To Number)</a:t>
            </a:r>
            <a:r>
              <a:rPr lang="en-US" dirty="0"/>
              <a:t> </a:t>
            </a:r>
          </a:p>
          <a:p>
            <a:pPr marL="342900" lvl="1" indent="0">
              <a:buNone/>
            </a:pPr>
            <a:r>
              <a:rPr lang="en-US" dirty="0"/>
              <a:t>let price = “34.5”</a:t>
            </a:r>
          </a:p>
          <a:p>
            <a:pPr marL="342900" lvl="1" indent="0">
              <a:buNone/>
            </a:pPr>
            <a:r>
              <a:rPr lang="en-US" dirty="0"/>
              <a:t>Number(price) =&gt;34.5</a:t>
            </a:r>
          </a:p>
          <a:p>
            <a:pPr marL="0" indent="0">
              <a:buNone/>
            </a:pPr>
            <a:r>
              <a:rPr lang="en-US" dirty="0" err="1"/>
              <a:t>num.toString</a:t>
            </a:r>
            <a:r>
              <a:rPr lang="en-US" dirty="0">
                <a:solidFill>
                  <a:srgbClr val="FF0000"/>
                </a:solidFill>
              </a:rPr>
              <a:t>()</a:t>
            </a:r>
            <a:r>
              <a:rPr lang="en-US" dirty="0"/>
              <a:t>  //convert </a:t>
            </a:r>
            <a:r>
              <a:rPr lang="en-US" dirty="0" err="1"/>
              <a:t>num</a:t>
            </a:r>
            <a:r>
              <a:rPr lang="en-US" dirty="0"/>
              <a:t> to string</a:t>
            </a:r>
          </a:p>
          <a:p>
            <a:pPr marL="342900" lvl="1" indent="0">
              <a:buNone/>
            </a:pPr>
            <a:r>
              <a:rPr lang="en-US" dirty="0"/>
              <a:t>let price = 3.4</a:t>
            </a:r>
          </a:p>
          <a:p>
            <a:pPr marL="342900" lvl="1" indent="0">
              <a:buNone/>
            </a:pPr>
            <a:r>
              <a:rPr lang="en-US" dirty="0" err="1"/>
              <a:t>price.toString</a:t>
            </a:r>
            <a:r>
              <a:rPr lang="en-US" dirty="0"/>
              <a:t>(price) =&gt; 3.4</a:t>
            </a:r>
          </a:p>
          <a:p>
            <a:pPr marL="0" indent="0">
              <a:buNone/>
            </a:pPr>
            <a:r>
              <a:rPr lang="en-US" dirty="0" err="1"/>
              <a:t>parseInt</a:t>
            </a:r>
            <a:r>
              <a:rPr lang="en-US" dirty="0">
                <a:solidFill>
                  <a:srgbClr val="FF0000"/>
                </a:solidFill>
              </a:rPr>
              <a:t>(</a:t>
            </a:r>
            <a:r>
              <a:rPr lang="en-US" dirty="0" err="1">
                <a:solidFill>
                  <a:srgbClr val="FF0000"/>
                </a:solidFill>
              </a:rPr>
              <a:t>val</a:t>
            </a:r>
            <a:r>
              <a:rPr lang="en-US" dirty="0">
                <a:solidFill>
                  <a:srgbClr val="FF0000"/>
                </a:solidFill>
              </a:rPr>
              <a:t>)</a:t>
            </a:r>
            <a:r>
              <a:rPr lang="en-US" dirty="0"/>
              <a:t> // returns whole number</a:t>
            </a:r>
          </a:p>
          <a:p>
            <a:pPr marL="342900" lvl="1" indent="0">
              <a:buNone/>
            </a:pPr>
            <a:r>
              <a:rPr lang="en-US" dirty="0"/>
              <a:t>let price 3.4445</a:t>
            </a:r>
          </a:p>
          <a:p>
            <a:pPr marL="342900" lvl="1" indent="0">
              <a:buNone/>
            </a:pPr>
            <a:r>
              <a:rPr lang="en-US" dirty="0" err="1"/>
              <a:t>parseInt</a:t>
            </a:r>
            <a:r>
              <a:rPr lang="en-US" dirty="0"/>
              <a:t>(price) =&gt; 3</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3795252376"/>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Math Class</a:t>
            </a:r>
            <a:endParaRPr lang="en-GB" dirty="0"/>
          </a:p>
        </p:txBody>
      </p:sp>
      <p:sp>
        <p:nvSpPr>
          <p:cNvPr id="3" name="Content Placeholder 2"/>
          <p:cNvSpPr>
            <a:spLocks noGrp="1"/>
          </p:cNvSpPr>
          <p:nvPr>
            <p:ph idx="1"/>
          </p:nvPr>
        </p:nvSpPr>
        <p:spPr/>
        <p:txBody>
          <a:bodyPr/>
          <a:lstStyle/>
          <a:p>
            <a:pPr marL="0" indent="0">
              <a:buNone/>
            </a:pPr>
            <a:r>
              <a:rPr lang="en-US" dirty="0"/>
              <a:t>JavaScript use the Math class to perform arithmetic function like power, max or min: </a:t>
            </a:r>
            <a:r>
              <a:rPr lang="en-US" dirty="0" err="1">
                <a:solidFill>
                  <a:srgbClr val="FF0000"/>
                </a:solidFill>
              </a:rPr>
              <a:t>Math.pow</a:t>
            </a:r>
            <a:r>
              <a:rPr lang="en-US" dirty="0">
                <a:solidFill>
                  <a:srgbClr val="FF0000"/>
                </a:solidFill>
              </a:rPr>
              <a:t>(</a:t>
            </a:r>
            <a:r>
              <a:rPr lang="en-US" dirty="0" err="1">
                <a:solidFill>
                  <a:srgbClr val="FF0000"/>
                </a:solidFill>
              </a:rPr>
              <a:t>x,y</a:t>
            </a:r>
            <a:r>
              <a:rPr lang="en-US" dirty="0">
                <a:solidFill>
                  <a:srgbClr val="FF0000"/>
                </a:solidFill>
              </a:rPr>
              <a:t>)</a:t>
            </a:r>
          </a:p>
          <a:p>
            <a:pPr marL="0" indent="0">
              <a:buNone/>
            </a:pPr>
            <a:r>
              <a:rPr lang="en-US" b="1" dirty="0" err="1"/>
              <a:t>Math.random</a:t>
            </a:r>
            <a:endParaRPr lang="en-US" b="1" dirty="0"/>
          </a:p>
          <a:p>
            <a:pPr marL="0" indent="0">
              <a:buNone/>
            </a:pPr>
            <a:r>
              <a:rPr lang="en-US" dirty="0" err="1"/>
              <a:t>Math.random</a:t>
            </a:r>
            <a:r>
              <a:rPr lang="en-US" dirty="0"/>
              <a:t>() // generate number between 0(inclusive) to 1(exclusive)</a:t>
            </a:r>
          </a:p>
          <a:p>
            <a:pPr marL="0" indent="0">
              <a:buNone/>
            </a:pPr>
            <a:r>
              <a:rPr lang="en-US" dirty="0" err="1"/>
              <a:t>Math.random</a:t>
            </a:r>
            <a:r>
              <a:rPr lang="en-US" dirty="0"/>
              <a:t>() * 10 // between 0(in)  to 10 (ex): 0-9</a:t>
            </a:r>
          </a:p>
          <a:p>
            <a:pPr marL="0" indent="0">
              <a:buNone/>
            </a:pPr>
            <a:r>
              <a:rPr lang="en-US" dirty="0" err="1"/>
              <a:t>Math.random</a:t>
            </a:r>
            <a:r>
              <a:rPr lang="en-US" dirty="0"/>
              <a:t>() * 11 // between 0(in)  to 11 (ex): 0-10</a:t>
            </a:r>
          </a:p>
          <a:p>
            <a:pPr marL="0" indent="0">
              <a:buNone/>
            </a:pPr>
            <a:r>
              <a:rPr lang="en-US" dirty="0"/>
              <a:t>[</a:t>
            </a:r>
            <a:r>
              <a:rPr lang="en-US" dirty="0" err="1"/>
              <a:t>Math.random</a:t>
            </a:r>
            <a:r>
              <a:rPr lang="en-US" dirty="0"/>
              <a:t>()* (max – min + 1)] + min</a:t>
            </a:r>
          </a:p>
          <a:p>
            <a:pPr marL="0" indent="0">
              <a:buNone/>
            </a:pP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1095714368"/>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Ternary Operators</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 </a:t>
            </a:r>
            <a:r>
              <a:rPr lang="en-US" b="1" dirty="0"/>
              <a:t>conditional (ternary) operator</a:t>
            </a:r>
            <a:r>
              <a:rPr lang="en-US" dirty="0"/>
              <a:t> takes three operands: </a:t>
            </a:r>
          </a:p>
          <a:p>
            <a:pPr lvl="1"/>
            <a:r>
              <a:rPr lang="en-US" dirty="0"/>
              <a:t>a condition followed by a question mark (?), </a:t>
            </a:r>
          </a:p>
          <a:p>
            <a:pPr lvl="1"/>
            <a:r>
              <a:rPr lang="en-US" dirty="0"/>
              <a:t>then an expression to execute if the condition is </a:t>
            </a:r>
            <a:r>
              <a:rPr lang="en-US" u="sng" dirty="0" err="1">
                <a:hlinkClick r:id="rId2"/>
              </a:rPr>
              <a:t>truthy</a:t>
            </a:r>
            <a:r>
              <a:rPr lang="en-US" dirty="0"/>
              <a:t> followed by a colon (:), </a:t>
            </a:r>
          </a:p>
          <a:p>
            <a:pPr lvl="1"/>
            <a:r>
              <a:rPr lang="en-US" dirty="0"/>
              <a:t>finally the expression to execute if the condition is </a:t>
            </a:r>
            <a:r>
              <a:rPr lang="en-US" u="sng" dirty="0" err="1">
                <a:hlinkClick r:id="rId3"/>
              </a:rPr>
              <a:t>falsy</a:t>
            </a:r>
            <a:r>
              <a:rPr lang="en-US" dirty="0"/>
              <a:t>. </a:t>
            </a:r>
          </a:p>
          <a:p>
            <a:pPr marL="342900" lvl="1" indent="0">
              <a:buNone/>
            </a:pPr>
            <a:r>
              <a:rPr lang="en-GB" dirty="0">
                <a:solidFill>
                  <a:srgbClr val="FF0000"/>
                </a:solidFill>
              </a:rPr>
              <a:t>		condition ? </a:t>
            </a:r>
            <a:r>
              <a:rPr lang="en-GB" dirty="0" err="1">
                <a:solidFill>
                  <a:srgbClr val="FF0000"/>
                </a:solidFill>
              </a:rPr>
              <a:t>exprIfTrue</a:t>
            </a:r>
            <a:r>
              <a:rPr lang="en-GB" dirty="0">
                <a:solidFill>
                  <a:srgbClr val="FF0000"/>
                </a:solidFill>
              </a:rPr>
              <a:t> : </a:t>
            </a:r>
            <a:r>
              <a:rPr lang="en-GB" dirty="0" err="1">
                <a:solidFill>
                  <a:srgbClr val="FF0000"/>
                </a:solidFill>
              </a:rPr>
              <a:t>exprIfFalse</a:t>
            </a:r>
            <a:r>
              <a:rPr lang="en-GB" dirty="0">
                <a:solidFill>
                  <a:srgbClr val="FF0000"/>
                </a:solidFill>
              </a:rPr>
              <a:t> </a:t>
            </a:r>
            <a:endParaRPr lang="en-US" dirty="0">
              <a:solidFill>
                <a:srgbClr val="FF0000"/>
              </a:solidFill>
            </a:endParaRPr>
          </a:p>
          <a:p>
            <a:pPr marL="0" indent="0">
              <a:buNone/>
            </a:pPr>
            <a:r>
              <a:rPr lang="en-US" dirty="0"/>
              <a:t>This operator is frequently used as an alternative to an if…else statement.</a:t>
            </a:r>
          </a:p>
          <a:p>
            <a:pPr marL="342900" lvl="1" indent="0">
              <a:buNone/>
            </a:pPr>
            <a:r>
              <a:rPr lang="en-US" dirty="0" err="1"/>
              <a:t>const</a:t>
            </a:r>
            <a:r>
              <a:rPr lang="en-US" dirty="0"/>
              <a:t> age = 26; </a:t>
            </a:r>
          </a:p>
          <a:p>
            <a:pPr marL="342900" lvl="1" indent="0">
              <a:buNone/>
            </a:pPr>
            <a:r>
              <a:rPr lang="en-US" dirty="0" err="1"/>
              <a:t>const</a:t>
            </a:r>
            <a:r>
              <a:rPr lang="en-US" dirty="0"/>
              <a:t> beverage = age &gt;= 21 ? "Beer" : "Juice"; </a:t>
            </a:r>
          </a:p>
          <a:p>
            <a:pPr marL="342900" lvl="1" indent="0">
              <a:buNone/>
            </a:pPr>
            <a:r>
              <a:rPr lang="en-US" dirty="0"/>
              <a:t>console.log(beverage);</a:t>
            </a:r>
          </a:p>
          <a:p>
            <a:pPr marL="0" indent="0">
              <a:buNone/>
            </a:pPr>
            <a:r>
              <a:rPr lang="en-US" dirty="0"/>
              <a:t>Use of double condition(if – else if - else)</a:t>
            </a:r>
          </a:p>
          <a:p>
            <a:pPr marL="342900" lvl="1" indent="0">
              <a:buNone/>
            </a:pPr>
            <a:r>
              <a:rPr lang="en-US" dirty="0"/>
              <a:t>Let z = ( x &lt; y ) ? “less”: (x === y) ? “equal” :  “bigger”</a:t>
            </a:r>
          </a:p>
          <a:p>
            <a:pPr marL="0" indent="0">
              <a:buNone/>
            </a:pP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1138017347"/>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Structures</a:t>
            </a:r>
          </a:p>
        </p:txBody>
      </p:sp>
      <p:sp>
        <p:nvSpPr>
          <p:cNvPr id="3" name="Content Placeholder 2"/>
          <p:cNvSpPr>
            <a:spLocks noGrp="1"/>
          </p:cNvSpPr>
          <p:nvPr>
            <p:ph idx="1"/>
          </p:nvPr>
        </p:nvSpPr>
        <p:spPr/>
        <p:txBody>
          <a:bodyPr/>
          <a:lstStyle/>
          <a:p>
            <a:r>
              <a:rPr lang="en-US" dirty="0"/>
              <a:t>Control structures are use for decision making.</a:t>
            </a:r>
          </a:p>
          <a:p>
            <a:r>
              <a:rPr lang="en-US" dirty="0"/>
              <a:t>We use different conditional statements to do this.</a:t>
            </a:r>
          </a:p>
          <a:p>
            <a:pPr lvl="1"/>
            <a:r>
              <a:rPr lang="en-US" dirty="0"/>
              <a:t>If</a:t>
            </a:r>
          </a:p>
          <a:p>
            <a:pPr lvl="1"/>
            <a:r>
              <a:rPr lang="en-US" dirty="0"/>
              <a:t>If-else</a:t>
            </a:r>
          </a:p>
          <a:p>
            <a:pPr lvl="1"/>
            <a:r>
              <a:rPr lang="en-US" dirty="0"/>
              <a:t>Else-if etc.</a:t>
            </a:r>
          </a:p>
        </p:txBody>
      </p:sp>
    </p:spTree>
    <p:extLst>
      <p:ext uri="{BB962C8B-B14F-4D97-AF65-F5344CB8AC3E}">
        <p14:creationId xmlns:p14="http://schemas.microsoft.com/office/powerpoint/2010/main" val="4047976366"/>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Structures if</a:t>
            </a:r>
          </a:p>
        </p:txBody>
      </p:sp>
      <p:sp>
        <p:nvSpPr>
          <p:cNvPr id="3" name="Content Placeholder 2"/>
          <p:cNvSpPr>
            <a:spLocks noGrp="1"/>
          </p:cNvSpPr>
          <p:nvPr>
            <p:ph idx="1"/>
          </p:nvPr>
        </p:nvSpPr>
        <p:spPr/>
        <p:txBody>
          <a:bodyPr>
            <a:normAutofit/>
          </a:bodyPr>
          <a:lstStyle/>
          <a:p>
            <a:pPr marL="400050" lvl="1" indent="0">
              <a:buNone/>
            </a:pPr>
            <a:r>
              <a:rPr lang="en-US" dirty="0"/>
              <a:t>&lt;p&gt;Display "Good day!" if the hour is less than 18:00:&lt;/p&gt;</a:t>
            </a:r>
          </a:p>
          <a:p>
            <a:pPr marL="400050" lvl="1" indent="0">
              <a:buNone/>
            </a:pPr>
            <a:endParaRPr lang="en-US" dirty="0"/>
          </a:p>
          <a:p>
            <a:pPr marL="400050" lvl="1" indent="0">
              <a:buNone/>
            </a:pPr>
            <a:r>
              <a:rPr lang="en-US" dirty="0"/>
              <a:t>&lt;p id="demo"&gt;Good Evening!&lt;/p&gt;</a:t>
            </a:r>
          </a:p>
          <a:p>
            <a:pPr marL="400050" lvl="1" indent="0">
              <a:buNone/>
            </a:pPr>
            <a:endParaRPr lang="en-US" dirty="0"/>
          </a:p>
          <a:p>
            <a:pPr marL="400050" lvl="1" indent="0">
              <a:buNone/>
            </a:pPr>
            <a:r>
              <a:rPr lang="en-US" dirty="0"/>
              <a:t>&lt;script&gt;</a:t>
            </a:r>
          </a:p>
          <a:p>
            <a:pPr marL="400050" lvl="1" indent="0">
              <a:buNone/>
            </a:pPr>
            <a:r>
              <a:rPr lang="en-US" dirty="0"/>
              <a:t>if (new Date().</a:t>
            </a:r>
            <a:r>
              <a:rPr lang="en-US" dirty="0" err="1"/>
              <a:t>getHours</a:t>
            </a:r>
            <a:r>
              <a:rPr lang="en-US" dirty="0"/>
              <a:t>() &lt; 18) {</a:t>
            </a:r>
          </a:p>
          <a:p>
            <a:pPr marL="400050" lvl="1" indent="0">
              <a:buNone/>
            </a:pPr>
            <a:r>
              <a:rPr lang="en-US" dirty="0"/>
              <a:t>  </a:t>
            </a:r>
            <a:r>
              <a:rPr lang="en-US" dirty="0" err="1"/>
              <a:t>document.getElementById</a:t>
            </a:r>
            <a:r>
              <a:rPr lang="en-US" dirty="0"/>
              <a:t>("demo").</a:t>
            </a:r>
            <a:r>
              <a:rPr lang="en-US" dirty="0" err="1"/>
              <a:t>innerHTML</a:t>
            </a:r>
            <a:r>
              <a:rPr lang="en-US" dirty="0"/>
              <a:t> = "Good day!";</a:t>
            </a:r>
          </a:p>
          <a:p>
            <a:pPr marL="400050" lvl="1" indent="0">
              <a:buNone/>
            </a:pPr>
            <a:r>
              <a:rPr lang="en-US" dirty="0"/>
              <a:t>}</a:t>
            </a:r>
          </a:p>
          <a:p>
            <a:pPr marL="400050" lvl="1" indent="0">
              <a:buNone/>
            </a:pPr>
            <a:r>
              <a:rPr lang="en-US" dirty="0"/>
              <a:t>&lt;/script&gt;</a:t>
            </a:r>
          </a:p>
          <a:p>
            <a:endParaRPr lang="en-US" dirty="0"/>
          </a:p>
        </p:txBody>
      </p:sp>
    </p:spTree>
    <p:extLst>
      <p:ext uri="{BB962C8B-B14F-4D97-AF65-F5344CB8AC3E}">
        <p14:creationId xmlns:p14="http://schemas.microsoft.com/office/powerpoint/2010/main" val="135697644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structure if-else</a:t>
            </a:r>
          </a:p>
        </p:txBody>
      </p:sp>
      <p:sp>
        <p:nvSpPr>
          <p:cNvPr id="3" name="Content Placeholder 2"/>
          <p:cNvSpPr>
            <a:spLocks noGrp="1"/>
          </p:cNvSpPr>
          <p:nvPr>
            <p:ph idx="1"/>
          </p:nvPr>
        </p:nvSpPr>
        <p:spPr/>
        <p:txBody>
          <a:bodyPr>
            <a:normAutofit fontScale="92500" lnSpcReduction="20000"/>
          </a:bodyPr>
          <a:lstStyle/>
          <a:p>
            <a:pPr marL="400050" lvl="1" indent="0">
              <a:buNone/>
            </a:pPr>
            <a:r>
              <a:rPr lang="en-US" dirty="0"/>
              <a:t>&lt;p id="demo"&gt;&lt;/p&gt;</a:t>
            </a:r>
          </a:p>
          <a:p>
            <a:pPr marL="400050" lvl="1" indent="0">
              <a:buNone/>
            </a:pPr>
            <a:endParaRPr lang="en-US" dirty="0"/>
          </a:p>
          <a:p>
            <a:pPr marL="400050" lvl="1" indent="0">
              <a:buNone/>
            </a:pPr>
            <a:r>
              <a:rPr lang="en-US" dirty="0"/>
              <a:t>&lt;script&gt;</a:t>
            </a:r>
          </a:p>
          <a:p>
            <a:pPr marL="400050" lvl="1" indent="0">
              <a:buNone/>
            </a:pPr>
            <a:r>
              <a:rPr lang="en-US" dirty="0" err="1"/>
              <a:t>const</a:t>
            </a:r>
            <a:r>
              <a:rPr lang="en-US" dirty="0"/>
              <a:t> hour = new Date().</a:t>
            </a:r>
            <a:r>
              <a:rPr lang="en-US" dirty="0" err="1"/>
              <a:t>getHours</a:t>
            </a:r>
            <a:r>
              <a:rPr lang="en-US" dirty="0"/>
              <a:t>(); </a:t>
            </a:r>
          </a:p>
          <a:p>
            <a:pPr marL="400050" lvl="1" indent="0">
              <a:buNone/>
            </a:pPr>
            <a:r>
              <a:rPr lang="en-US" dirty="0"/>
              <a:t>let greeting;</a:t>
            </a:r>
          </a:p>
          <a:p>
            <a:pPr marL="400050" lvl="1" indent="0">
              <a:buNone/>
            </a:pPr>
            <a:endParaRPr lang="en-US" dirty="0"/>
          </a:p>
          <a:p>
            <a:pPr marL="400050" lvl="1" indent="0">
              <a:buNone/>
            </a:pPr>
            <a:r>
              <a:rPr lang="en-US" dirty="0"/>
              <a:t>if (hour &lt; 18) {</a:t>
            </a:r>
          </a:p>
          <a:p>
            <a:pPr marL="400050" lvl="1" indent="0">
              <a:buNone/>
            </a:pPr>
            <a:r>
              <a:rPr lang="en-US" dirty="0"/>
              <a:t>  greeting = "Good day";</a:t>
            </a:r>
          </a:p>
          <a:p>
            <a:pPr marL="400050" lvl="1" indent="0">
              <a:buNone/>
            </a:pPr>
            <a:r>
              <a:rPr lang="en-US" dirty="0"/>
              <a:t>} else {</a:t>
            </a:r>
          </a:p>
          <a:p>
            <a:pPr marL="400050" lvl="1" indent="0">
              <a:buNone/>
            </a:pPr>
            <a:r>
              <a:rPr lang="en-US" dirty="0"/>
              <a:t>  greeting = "Good evening";</a:t>
            </a:r>
          </a:p>
          <a:p>
            <a:pPr marL="400050" lvl="1" indent="0">
              <a:buNone/>
            </a:pPr>
            <a:r>
              <a:rPr lang="en-US" dirty="0"/>
              <a:t>}</a:t>
            </a:r>
          </a:p>
          <a:p>
            <a:pPr marL="400050" lvl="1" indent="0">
              <a:buNone/>
            </a:pPr>
            <a:endParaRPr lang="en-US" dirty="0"/>
          </a:p>
          <a:p>
            <a:pPr marL="400050" lvl="1" indent="0">
              <a:buNone/>
            </a:pPr>
            <a:r>
              <a:rPr lang="en-US" dirty="0" err="1"/>
              <a:t>document.getElementById</a:t>
            </a:r>
            <a:r>
              <a:rPr lang="en-US" dirty="0"/>
              <a:t>("demo").</a:t>
            </a:r>
            <a:r>
              <a:rPr lang="en-US" dirty="0" err="1"/>
              <a:t>innerHTML</a:t>
            </a:r>
            <a:r>
              <a:rPr lang="en-US" dirty="0"/>
              <a:t> = greeting;</a:t>
            </a:r>
          </a:p>
          <a:p>
            <a:pPr marL="400050" lvl="1" indent="0">
              <a:buNone/>
            </a:pPr>
            <a:r>
              <a:rPr lang="en-US" dirty="0"/>
              <a:t>&lt;/script&gt;</a:t>
            </a:r>
          </a:p>
        </p:txBody>
      </p:sp>
    </p:spTree>
    <p:extLst>
      <p:ext uri="{BB962C8B-B14F-4D97-AF65-F5344CB8AC3E}">
        <p14:creationId xmlns:p14="http://schemas.microsoft.com/office/powerpoint/2010/main" val="543967597"/>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Control structure else if</a:t>
            </a:r>
          </a:p>
        </p:txBody>
      </p:sp>
      <p:sp>
        <p:nvSpPr>
          <p:cNvPr id="3" name="Content Placeholder 2"/>
          <p:cNvSpPr>
            <a:spLocks noGrp="1"/>
          </p:cNvSpPr>
          <p:nvPr>
            <p:ph idx="1"/>
          </p:nvPr>
        </p:nvSpPr>
        <p:spPr/>
        <p:txBody>
          <a:bodyPr>
            <a:normAutofit fontScale="92500" lnSpcReduction="20000"/>
          </a:bodyPr>
          <a:lstStyle/>
          <a:p>
            <a:pPr marL="400050" lvl="1" indent="0">
              <a:buNone/>
            </a:pPr>
            <a:r>
              <a:rPr lang="en-US" dirty="0"/>
              <a:t>&lt;p id="demo"&gt;&lt;/p&gt;</a:t>
            </a:r>
          </a:p>
          <a:p>
            <a:pPr marL="400050" lvl="1" indent="0">
              <a:buNone/>
            </a:pPr>
            <a:endParaRPr lang="en-US" dirty="0"/>
          </a:p>
          <a:p>
            <a:pPr marL="400050" lvl="1" indent="0">
              <a:buNone/>
            </a:pPr>
            <a:r>
              <a:rPr lang="en-US" dirty="0"/>
              <a:t>&lt;script&gt;</a:t>
            </a:r>
          </a:p>
          <a:p>
            <a:pPr marL="400050" lvl="1" indent="0">
              <a:buNone/>
            </a:pPr>
            <a:r>
              <a:rPr lang="en-US" dirty="0" err="1"/>
              <a:t>const</a:t>
            </a:r>
            <a:r>
              <a:rPr lang="en-US" dirty="0"/>
              <a:t> time = new Date().</a:t>
            </a:r>
            <a:r>
              <a:rPr lang="en-US" dirty="0" err="1"/>
              <a:t>getHours</a:t>
            </a:r>
            <a:r>
              <a:rPr lang="en-US" dirty="0"/>
              <a:t>();</a:t>
            </a:r>
          </a:p>
          <a:p>
            <a:pPr marL="400050" lvl="1" indent="0">
              <a:buNone/>
            </a:pPr>
            <a:r>
              <a:rPr lang="en-US" dirty="0"/>
              <a:t>let greeting;</a:t>
            </a:r>
          </a:p>
          <a:p>
            <a:pPr marL="400050" lvl="1" indent="0">
              <a:buNone/>
            </a:pPr>
            <a:r>
              <a:rPr lang="en-US" dirty="0"/>
              <a:t>if (time &lt; 10) {</a:t>
            </a:r>
          </a:p>
          <a:p>
            <a:pPr marL="400050" lvl="1" indent="0">
              <a:buNone/>
            </a:pPr>
            <a:r>
              <a:rPr lang="en-US" dirty="0"/>
              <a:t>  greeting = "Good morning";</a:t>
            </a:r>
          </a:p>
          <a:p>
            <a:pPr marL="400050" lvl="1" indent="0">
              <a:buNone/>
            </a:pPr>
            <a:r>
              <a:rPr lang="en-US" dirty="0"/>
              <a:t>} else if (time &lt; 20) {</a:t>
            </a:r>
          </a:p>
          <a:p>
            <a:pPr marL="400050" lvl="1" indent="0">
              <a:buNone/>
            </a:pPr>
            <a:r>
              <a:rPr lang="en-US" dirty="0"/>
              <a:t>  greeting = "Good day";</a:t>
            </a:r>
          </a:p>
          <a:p>
            <a:pPr marL="400050" lvl="1" indent="0">
              <a:buNone/>
            </a:pPr>
            <a:r>
              <a:rPr lang="en-US" dirty="0"/>
              <a:t>} else {</a:t>
            </a:r>
          </a:p>
          <a:p>
            <a:pPr marL="400050" lvl="1" indent="0">
              <a:buNone/>
            </a:pPr>
            <a:r>
              <a:rPr lang="en-US" dirty="0"/>
              <a:t>  greeting = "Good evening";</a:t>
            </a:r>
          </a:p>
          <a:p>
            <a:pPr marL="400050" lvl="1" indent="0">
              <a:buNone/>
            </a:pPr>
            <a:r>
              <a:rPr lang="en-US" dirty="0"/>
              <a:t>}</a:t>
            </a:r>
          </a:p>
          <a:p>
            <a:pPr marL="400050" lvl="1" indent="0">
              <a:buNone/>
            </a:pPr>
            <a:r>
              <a:rPr lang="en-US" dirty="0" err="1"/>
              <a:t>document.getElementById</a:t>
            </a:r>
            <a:r>
              <a:rPr lang="en-US" dirty="0"/>
              <a:t>("demo").</a:t>
            </a:r>
            <a:r>
              <a:rPr lang="en-US" dirty="0" err="1"/>
              <a:t>innerHTML</a:t>
            </a:r>
            <a:r>
              <a:rPr lang="en-US" dirty="0"/>
              <a:t> = greeting;</a:t>
            </a:r>
          </a:p>
          <a:p>
            <a:pPr marL="400050" lvl="1" indent="0">
              <a:buNone/>
            </a:pPr>
            <a:r>
              <a:rPr lang="en-US" dirty="0"/>
              <a:t>&lt;/script&gt;</a:t>
            </a:r>
          </a:p>
        </p:txBody>
      </p:sp>
    </p:spTree>
    <p:extLst>
      <p:ext uri="{BB962C8B-B14F-4D97-AF65-F5344CB8AC3E}">
        <p14:creationId xmlns:p14="http://schemas.microsoft.com/office/powerpoint/2010/main" val="143707882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Loop structure</a:t>
            </a:r>
          </a:p>
        </p:txBody>
      </p:sp>
      <p:sp>
        <p:nvSpPr>
          <p:cNvPr id="3" name="Content Placeholder 2"/>
          <p:cNvSpPr>
            <a:spLocks noGrp="1"/>
          </p:cNvSpPr>
          <p:nvPr>
            <p:ph idx="1"/>
          </p:nvPr>
        </p:nvSpPr>
        <p:spPr/>
        <p:txBody>
          <a:bodyPr>
            <a:normAutofit/>
          </a:bodyPr>
          <a:lstStyle/>
          <a:p>
            <a:r>
              <a:rPr lang="en-US" dirty="0">
                <a:latin typeface="Times New Roman" panose="02020603050405020304" pitchFamily="18" charset="0"/>
                <a:cs typeface="Times New Roman" panose="02020603050405020304" pitchFamily="18" charset="0"/>
              </a:rPr>
              <a:t>Loops can execute a block of code a number of times.</a:t>
            </a:r>
          </a:p>
          <a:p>
            <a:r>
              <a:rPr lang="en-US" dirty="0">
                <a:latin typeface="Times New Roman" panose="02020603050405020304" pitchFamily="18" charset="0"/>
                <a:cs typeface="Times New Roman" panose="02020603050405020304" pitchFamily="18" charset="0"/>
              </a:rPr>
              <a:t>Loops are handy, if you want to run the same code over and over again, each time with a different value.</a:t>
            </a:r>
          </a:p>
          <a:p>
            <a:r>
              <a:rPr lang="en-US" dirty="0">
                <a:latin typeface="Times New Roman" panose="02020603050405020304" pitchFamily="18" charset="0"/>
                <a:cs typeface="Times New Roman" panose="02020603050405020304" pitchFamily="18" charset="0"/>
              </a:rPr>
              <a:t>Types of loops</a:t>
            </a:r>
          </a:p>
          <a:p>
            <a:pPr lvl="1"/>
            <a:r>
              <a:rPr lang="en-US" dirty="0">
                <a:latin typeface="Times New Roman" panose="02020603050405020304" pitchFamily="18" charset="0"/>
                <a:cs typeface="Times New Roman" panose="02020603050405020304" pitchFamily="18" charset="0"/>
              </a:rPr>
              <a:t>For loop</a:t>
            </a:r>
          </a:p>
          <a:p>
            <a:pPr lvl="1"/>
            <a:r>
              <a:rPr lang="en-US" dirty="0">
                <a:latin typeface="Times New Roman" panose="02020603050405020304" pitchFamily="18" charset="0"/>
                <a:cs typeface="Times New Roman" panose="02020603050405020304" pitchFamily="18" charset="0"/>
              </a:rPr>
              <a:t>While loop</a:t>
            </a:r>
          </a:p>
        </p:txBody>
      </p:sp>
    </p:spTree>
    <p:extLst>
      <p:ext uri="{BB962C8B-B14F-4D97-AF65-F5344CB8AC3E}">
        <p14:creationId xmlns:p14="http://schemas.microsoft.com/office/powerpoint/2010/main" val="2854860547"/>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3"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91E4402C-FD3F-41FC-8450-3512992412B6}" type="slidenum">
              <a:rPr lang="en-US" sz="1400">
                <a:solidFill>
                  <a:srgbClr val="FFFFFF"/>
                </a:solidFill>
              </a:rPr>
              <a:pPr algn="r">
                <a:buClrTx/>
                <a:buFontTx/>
                <a:buNone/>
              </a:pPr>
              <a:t>58</a:t>
            </a:fld>
            <a:endParaRPr lang="en-US" sz="1400">
              <a:solidFill>
                <a:srgbClr val="FFFFFF"/>
              </a:solidFill>
            </a:endParaRPr>
          </a:p>
        </p:txBody>
      </p:sp>
      <p:sp>
        <p:nvSpPr>
          <p:cNvPr id="44034" name="Text Box 2"/>
          <p:cNvSpPr txBox="1">
            <a:spLocks noChangeArrowheads="1"/>
          </p:cNvSpPr>
          <p:nvPr/>
        </p:nvSpPr>
        <p:spPr bwMode="auto">
          <a:xfrm>
            <a:off x="2209800" y="3810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While</a:t>
            </a:r>
            <a:r>
              <a:rPr lang="" sz="4400" dirty="0">
                <a:solidFill>
                  <a:schemeClr val="tx1"/>
                </a:solidFill>
              </a:rPr>
              <a:t> Loop:</a:t>
            </a:r>
            <a:r>
              <a:rPr lang="en-US" sz="4400" dirty="0">
                <a:solidFill>
                  <a:schemeClr val="tx1"/>
                </a:solidFill>
              </a:rPr>
              <a:t> Example </a:t>
            </a:r>
          </a:p>
        </p:txBody>
      </p:sp>
      <p:sp>
        <p:nvSpPr>
          <p:cNvPr id="44035" name="Text Box 3"/>
          <p:cNvSpPr txBox="1">
            <a:spLocks noChangeArrowheads="1"/>
          </p:cNvSpPr>
          <p:nvPr/>
        </p:nvSpPr>
        <p:spPr bwMode="auto">
          <a:xfrm>
            <a:off x="3505200" y="1828800"/>
            <a:ext cx="5486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sz="3600" dirty="0">
                <a:solidFill>
                  <a:schemeClr val="tx1"/>
                </a:solidFill>
              </a:rPr>
              <a:t>x = 1 ;</a:t>
            </a:r>
          </a:p>
          <a:p>
            <a:pPr>
              <a:spcBef>
                <a:spcPts val="913"/>
              </a:spcBef>
            </a:pPr>
            <a:r>
              <a:rPr lang="en-US" sz="3600" dirty="0">
                <a:solidFill>
                  <a:schemeClr val="tx1"/>
                </a:solidFill>
              </a:rPr>
              <a:t>while ( x &lt; 6000 ) {</a:t>
            </a:r>
          </a:p>
          <a:p>
            <a:pPr>
              <a:spcBef>
                <a:spcPts val="913"/>
              </a:spcBef>
            </a:pPr>
            <a:r>
              <a:rPr lang="en-US" sz="3600" dirty="0">
                <a:solidFill>
                  <a:schemeClr val="tx1"/>
                </a:solidFill>
              </a:rPr>
              <a:t>	</a:t>
            </a:r>
            <a:r>
              <a:rPr lang="en-US" sz="3600" dirty="0" err="1">
                <a:solidFill>
                  <a:schemeClr val="tx1"/>
                </a:solidFill>
              </a:rPr>
              <a:t>document.write</a:t>
            </a:r>
            <a:r>
              <a:rPr lang="en-US" sz="3600" dirty="0">
                <a:solidFill>
                  <a:schemeClr val="tx1"/>
                </a:solidFill>
              </a:rPr>
              <a:t> ( x ) ;</a:t>
            </a:r>
          </a:p>
          <a:p>
            <a:pPr>
              <a:spcBef>
                <a:spcPts val="913"/>
              </a:spcBef>
            </a:pPr>
            <a:r>
              <a:rPr lang="en-US" sz="3600" dirty="0">
                <a:solidFill>
                  <a:schemeClr val="tx1"/>
                </a:solidFill>
              </a:rPr>
              <a:t>	x = x + 1 ;</a:t>
            </a:r>
          </a:p>
          <a:p>
            <a:pPr>
              <a:spcBef>
                <a:spcPts val="913"/>
              </a:spcBef>
            </a:pPr>
            <a:r>
              <a:rPr lang="en-US" sz="3600" dirty="0">
                <a:solidFill>
                  <a:schemeClr val="tx1"/>
                </a:solidFill>
              </a:rPr>
              <a:t>}</a:t>
            </a:r>
          </a:p>
        </p:txBody>
      </p:sp>
    </p:spTree>
    <p:extLst>
      <p:ext uri="{BB962C8B-B14F-4D97-AF65-F5344CB8AC3E}">
        <p14:creationId xmlns:p14="http://schemas.microsoft.com/office/powerpoint/2010/main" val="623368042"/>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5"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1ADBE622-F270-4D32-AA6A-0FC15BC27AB1}" type="slidenum">
              <a:rPr lang="en-US" sz="1400">
                <a:solidFill>
                  <a:srgbClr val="FFFFFF"/>
                </a:solidFill>
              </a:rPr>
              <a:pPr algn="r">
                <a:buClrTx/>
                <a:buFontTx/>
                <a:buNone/>
              </a:pPr>
              <a:t>59</a:t>
            </a:fld>
            <a:endParaRPr lang="en-US" sz="1400">
              <a:solidFill>
                <a:srgbClr val="FFFFFF"/>
              </a:solidFill>
            </a:endParaRPr>
          </a:p>
        </p:txBody>
      </p:sp>
      <p:sp>
        <p:nvSpPr>
          <p:cNvPr id="11266" name="Text Box 2"/>
          <p:cNvSpPr txBox="1">
            <a:spLocks noChangeArrowheads="1"/>
          </p:cNvSpPr>
          <p:nvPr/>
        </p:nvSpPr>
        <p:spPr bwMode="auto">
          <a:xfrm>
            <a:off x="2362200" y="838200"/>
            <a:ext cx="7620000" cy="5943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dirty="0">
                <a:solidFill>
                  <a:schemeClr val="tx1"/>
                </a:solidFill>
              </a:rPr>
              <a:t>x = 75 ;	// x is the decimal number</a:t>
            </a:r>
          </a:p>
          <a:p>
            <a:pPr>
              <a:spcBef>
                <a:spcPts val="913"/>
              </a:spcBef>
            </a:pPr>
            <a:r>
              <a:rPr lang="en-US" dirty="0">
                <a:solidFill>
                  <a:schemeClr val="tx1"/>
                </a:solidFill>
              </a:rPr>
              <a:t>y = “” ;	// y is the binary equivalent</a:t>
            </a:r>
          </a:p>
          <a:p>
            <a:pPr>
              <a:spcBef>
                <a:spcPts val="913"/>
              </a:spcBef>
            </a:pPr>
            <a:r>
              <a:rPr lang="en-US" dirty="0">
                <a:solidFill>
                  <a:schemeClr val="tx1"/>
                </a:solidFill>
              </a:rPr>
              <a:t>while ( x &gt; 0 ) {</a:t>
            </a:r>
          </a:p>
          <a:p>
            <a:pPr>
              <a:spcBef>
                <a:spcPts val="913"/>
              </a:spcBef>
            </a:pPr>
            <a:r>
              <a:rPr lang="en-US" dirty="0">
                <a:solidFill>
                  <a:schemeClr val="tx1"/>
                </a:solidFill>
              </a:rPr>
              <a:t>	remainder = x % 2 ;</a:t>
            </a:r>
          </a:p>
          <a:p>
            <a:pPr>
              <a:spcBef>
                <a:spcPts val="913"/>
              </a:spcBef>
            </a:pPr>
            <a:r>
              <a:rPr lang="en-US" dirty="0">
                <a:solidFill>
                  <a:schemeClr val="tx1"/>
                </a:solidFill>
              </a:rPr>
              <a:t>	quotient = </a:t>
            </a:r>
            <a:r>
              <a:rPr lang="en-US" dirty="0" err="1">
                <a:solidFill>
                  <a:schemeClr val="tx1"/>
                </a:solidFill>
              </a:rPr>
              <a:t>Math.floor</a:t>
            </a:r>
            <a:r>
              <a:rPr lang="en-US" dirty="0">
                <a:solidFill>
                  <a:schemeClr val="tx1"/>
                </a:solidFill>
              </a:rPr>
              <a:t>( x / 2 ) ;</a:t>
            </a:r>
          </a:p>
          <a:p>
            <a:pPr>
              <a:spcBef>
                <a:spcPts val="913"/>
              </a:spcBef>
            </a:pPr>
            <a:r>
              <a:rPr lang="en-US" dirty="0">
                <a:solidFill>
                  <a:schemeClr val="tx1"/>
                </a:solidFill>
              </a:rPr>
              <a:t>	y = remainder + y ;</a:t>
            </a:r>
          </a:p>
          <a:p>
            <a:pPr>
              <a:spcBef>
                <a:spcPts val="913"/>
              </a:spcBef>
            </a:pPr>
            <a:r>
              <a:rPr lang="en-US" dirty="0">
                <a:solidFill>
                  <a:schemeClr val="tx1"/>
                </a:solidFill>
              </a:rPr>
              <a:t>	x = quotient ;</a:t>
            </a:r>
          </a:p>
          <a:p>
            <a:pPr>
              <a:spcBef>
                <a:spcPts val="913"/>
              </a:spcBef>
            </a:pPr>
            <a:r>
              <a:rPr lang="en-US" dirty="0">
                <a:solidFill>
                  <a:schemeClr val="tx1"/>
                </a:solidFill>
              </a:rPr>
              <a:t>}</a:t>
            </a:r>
          </a:p>
          <a:p>
            <a:pPr>
              <a:spcBef>
                <a:spcPts val="913"/>
              </a:spcBef>
            </a:pPr>
            <a:r>
              <a:rPr lang="en-US" dirty="0" err="1">
                <a:solidFill>
                  <a:schemeClr val="tx1"/>
                </a:solidFill>
              </a:rPr>
              <a:t>document.write</a:t>
            </a:r>
            <a:r>
              <a:rPr lang="en-US" dirty="0">
                <a:solidFill>
                  <a:schemeClr val="tx1"/>
                </a:solidFill>
              </a:rPr>
              <a:t>( “y = ” + y ) ;</a:t>
            </a:r>
          </a:p>
        </p:txBody>
      </p:sp>
      <p:sp>
        <p:nvSpPr>
          <p:cNvPr id="11267" name="Text Box 3"/>
          <p:cNvSpPr txBox="1">
            <a:spLocks noChangeArrowheads="1"/>
          </p:cNvSpPr>
          <p:nvPr/>
        </p:nvSpPr>
        <p:spPr bwMode="auto">
          <a:xfrm>
            <a:off x="1524000" y="0"/>
            <a:ext cx="9144000" cy="642938"/>
          </a:xfrm>
          <a:prstGeom prst="rect">
            <a:avLst/>
          </a:prstGeom>
          <a:noFill/>
          <a:ln>
            <a:noFill/>
          </a:ln>
          <a:effec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3600" dirty="0">
                <a:solidFill>
                  <a:schemeClr val="tx1"/>
                </a:solidFill>
              </a:rPr>
              <a:t>Decimal to Binary Conversion in JavaScript</a:t>
            </a:r>
          </a:p>
        </p:txBody>
      </p:sp>
    </p:spTree>
    <p:extLst>
      <p:ext uri="{BB962C8B-B14F-4D97-AF65-F5344CB8AC3E}">
        <p14:creationId xmlns:p14="http://schemas.microsoft.com/office/powerpoint/2010/main" val="78107591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81"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726DC29D-E271-4B47-85B7-70A91B9B9E0D}" type="slidenum">
              <a:rPr lang="en-US" sz="1400">
                <a:solidFill>
                  <a:srgbClr val="FFFFFF"/>
                </a:solidFill>
              </a:rPr>
              <a:pPr algn="r">
                <a:buClrTx/>
                <a:buFontTx/>
                <a:buNone/>
              </a:pPr>
              <a:t>60</a:t>
            </a:fld>
            <a:endParaRPr lang="en-US" sz="1400">
              <a:solidFill>
                <a:srgbClr val="FFFFFF"/>
              </a:solidFill>
            </a:endParaRPr>
          </a:p>
        </p:txBody>
      </p:sp>
      <p:sp>
        <p:nvSpPr>
          <p:cNvPr id="46082" name="Text Box 2"/>
          <p:cNvSpPr txBox="1">
            <a:spLocks noChangeArrowheads="1"/>
          </p:cNvSpPr>
          <p:nvPr/>
        </p:nvSpPr>
        <p:spPr bwMode="auto">
          <a:xfrm>
            <a:off x="2209800" y="31929"/>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Example 1</a:t>
            </a:r>
          </a:p>
        </p:txBody>
      </p:sp>
      <p:sp>
        <p:nvSpPr>
          <p:cNvPr id="46085" name="Rectangle 5"/>
          <p:cNvSpPr>
            <a:spLocks noChangeArrowheads="1"/>
          </p:cNvSpPr>
          <p:nvPr/>
        </p:nvSpPr>
        <p:spPr bwMode="auto">
          <a:xfrm>
            <a:off x="3429000" y="3848100"/>
            <a:ext cx="7010400" cy="2133600"/>
          </a:xfrm>
          <a:prstGeom prst="rect">
            <a:avLst/>
          </a:prstGeom>
          <a:solidFill>
            <a:srgbClr val="000000"/>
          </a:solidFill>
          <a:ln w="9360" cap="flat">
            <a:solidFill>
              <a:srgbClr val="969696"/>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sz="3600" dirty="0">
                <a:solidFill>
                  <a:srgbClr val="FF66FF"/>
                </a:solidFill>
              </a:rPr>
              <a:t>for ( </a:t>
            </a:r>
            <a:r>
              <a:rPr lang="en-US" sz="3600" dirty="0">
                <a:solidFill>
                  <a:srgbClr val="FFFFFF"/>
                </a:solidFill>
              </a:rPr>
              <a:t>x </a:t>
            </a:r>
            <a:r>
              <a:rPr lang="en-US" sz="3600" dirty="0">
                <a:solidFill>
                  <a:srgbClr val="FF66FF"/>
                </a:solidFill>
              </a:rPr>
              <a:t>= </a:t>
            </a:r>
            <a:r>
              <a:rPr lang="en-US" sz="3600" dirty="0">
                <a:solidFill>
                  <a:srgbClr val="FFFFFF"/>
                </a:solidFill>
              </a:rPr>
              <a:t>1 </a:t>
            </a:r>
            <a:r>
              <a:rPr lang="en-US" sz="3600" dirty="0">
                <a:solidFill>
                  <a:srgbClr val="FF66FF"/>
                </a:solidFill>
              </a:rPr>
              <a:t>;</a:t>
            </a:r>
            <a:r>
              <a:rPr lang="en-US" sz="3600" dirty="0">
                <a:solidFill>
                  <a:srgbClr val="FFFFFF"/>
                </a:solidFill>
              </a:rPr>
              <a:t> x </a:t>
            </a:r>
            <a:r>
              <a:rPr lang="en-US" sz="3600" dirty="0">
                <a:solidFill>
                  <a:srgbClr val="FF66FF"/>
                </a:solidFill>
              </a:rPr>
              <a:t>&lt; </a:t>
            </a:r>
            <a:r>
              <a:rPr lang="en-US" sz="3600" dirty="0">
                <a:solidFill>
                  <a:srgbClr val="FFFFFF"/>
                </a:solidFill>
              </a:rPr>
              <a:t>6000 </a:t>
            </a:r>
            <a:r>
              <a:rPr lang="en-US" sz="3600" dirty="0">
                <a:solidFill>
                  <a:srgbClr val="FF66FF"/>
                </a:solidFill>
              </a:rPr>
              <a:t>;</a:t>
            </a:r>
            <a:r>
              <a:rPr lang="en-US" sz="3600" dirty="0">
                <a:solidFill>
                  <a:srgbClr val="FFFFFF"/>
                </a:solidFill>
              </a:rPr>
              <a:t> x </a:t>
            </a:r>
            <a:r>
              <a:rPr lang="en-US" sz="3600" dirty="0">
                <a:solidFill>
                  <a:srgbClr val="FF66FF"/>
                </a:solidFill>
              </a:rPr>
              <a:t>= </a:t>
            </a:r>
            <a:r>
              <a:rPr lang="en-US" sz="3600" dirty="0">
                <a:solidFill>
                  <a:srgbClr val="FFFFFF"/>
                </a:solidFill>
              </a:rPr>
              <a:t>x</a:t>
            </a:r>
            <a:r>
              <a:rPr lang="en-US" sz="3600" dirty="0">
                <a:solidFill>
                  <a:srgbClr val="FF66FF"/>
                </a:solidFill>
              </a:rPr>
              <a:t> + </a:t>
            </a:r>
            <a:r>
              <a:rPr lang="en-US" sz="3600" dirty="0">
                <a:solidFill>
                  <a:srgbClr val="FFFFFF"/>
                </a:solidFill>
              </a:rPr>
              <a:t>1 </a:t>
            </a:r>
            <a:r>
              <a:rPr lang="en-US" sz="3600" dirty="0">
                <a:solidFill>
                  <a:srgbClr val="FF66FF"/>
                </a:solidFill>
              </a:rPr>
              <a:t>)</a:t>
            </a:r>
            <a:r>
              <a:rPr lang="en-US" sz="3600" dirty="0">
                <a:solidFill>
                  <a:srgbClr val="FFFFFF"/>
                </a:solidFill>
              </a:rPr>
              <a:t> </a:t>
            </a:r>
            <a:r>
              <a:rPr lang="en-US" sz="3600" dirty="0">
                <a:solidFill>
                  <a:srgbClr val="FF66FF"/>
                </a:solidFill>
              </a:rPr>
              <a:t>{</a:t>
            </a:r>
          </a:p>
          <a:p>
            <a:pPr>
              <a:spcBef>
                <a:spcPts val="913"/>
              </a:spcBef>
            </a:pPr>
            <a:r>
              <a:rPr lang="en-US" sz="3600" dirty="0">
                <a:solidFill>
                  <a:srgbClr val="FFFFFF"/>
                </a:solidFill>
              </a:rPr>
              <a:t>	</a:t>
            </a:r>
            <a:r>
              <a:rPr lang="en-US" sz="3600" dirty="0" err="1">
                <a:solidFill>
                  <a:srgbClr val="FF66FF"/>
                </a:solidFill>
              </a:rPr>
              <a:t>document.write</a:t>
            </a:r>
            <a:r>
              <a:rPr lang="en-US" sz="3600" dirty="0">
                <a:solidFill>
                  <a:srgbClr val="FF66FF"/>
                </a:solidFill>
              </a:rPr>
              <a:t> ( </a:t>
            </a:r>
            <a:r>
              <a:rPr lang="en-US" sz="3600" dirty="0">
                <a:solidFill>
                  <a:srgbClr val="FFFFFF"/>
                </a:solidFill>
              </a:rPr>
              <a:t>x </a:t>
            </a:r>
            <a:r>
              <a:rPr lang="en-US" sz="3600" dirty="0">
                <a:solidFill>
                  <a:srgbClr val="FF66FF"/>
                </a:solidFill>
              </a:rPr>
              <a:t>) ;</a:t>
            </a:r>
          </a:p>
          <a:p>
            <a:pPr>
              <a:spcBef>
                <a:spcPts val="913"/>
              </a:spcBef>
            </a:pPr>
            <a:r>
              <a:rPr lang="en-US" sz="3600" dirty="0">
                <a:solidFill>
                  <a:srgbClr val="FF66FF"/>
                </a:solidFill>
              </a:rPr>
              <a:t>}</a:t>
            </a:r>
          </a:p>
        </p:txBody>
      </p:sp>
      <p:sp>
        <p:nvSpPr>
          <p:cNvPr id="46086" name="AutoShape 6"/>
          <p:cNvSpPr>
            <a:spLocks noChangeArrowheads="1"/>
          </p:cNvSpPr>
          <p:nvPr/>
        </p:nvSpPr>
        <p:spPr bwMode="auto">
          <a:xfrm>
            <a:off x="4343400" y="3886200"/>
            <a:ext cx="1219200" cy="762000"/>
          </a:xfrm>
          <a:prstGeom prst="roundRect">
            <a:avLst>
              <a:gd name="adj" fmla="val 16667"/>
            </a:avLst>
          </a:prstGeom>
          <a:noFill/>
          <a:ln w="76320" cap="flat">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087" name="AutoShape 7"/>
          <p:cNvSpPr>
            <a:spLocks noChangeArrowheads="1"/>
          </p:cNvSpPr>
          <p:nvPr/>
        </p:nvSpPr>
        <p:spPr bwMode="auto">
          <a:xfrm>
            <a:off x="5791200" y="3886200"/>
            <a:ext cx="1905000" cy="762000"/>
          </a:xfrm>
          <a:prstGeom prst="roundRect">
            <a:avLst>
              <a:gd name="adj" fmla="val 16667"/>
            </a:avLst>
          </a:prstGeom>
          <a:noFill/>
          <a:ln w="76320" cap="flat">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088" name="AutoShape 8"/>
          <p:cNvSpPr>
            <a:spLocks noChangeArrowheads="1"/>
          </p:cNvSpPr>
          <p:nvPr/>
        </p:nvSpPr>
        <p:spPr bwMode="auto">
          <a:xfrm>
            <a:off x="7924800" y="3886200"/>
            <a:ext cx="1905000" cy="762000"/>
          </a:xfrm>
          <a:prstGeom prst="roundRect">
            <a:avLst>
              <a:gd name="adj" fmla="val 16667"/>
            </a:avLst>
          </a:prstGeom>
          <a:noFill/>
          <a:ln w="76320" cap="flat">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46089" name="AutoShape 9"/>
          <p:cNvSpPr>
            <a:spLocks noChangeArrowheads="1"/>
          </p:cNvSpPr>
          <p:nvPr/>
        </p:nvSpPr>
        <p:spPr bwMode="auto">
          <a:xfrm>
            <a:off x="1524000" y="1638300"/>
            <a:ext cx="2667000" cy="609600"/>
          </a:xfrm>
          <a:prstGeom prst="wedgeRectCallout">
            <a:avLst>
              <a:gd name="adj1" fmla="val 58454"/>
              <a:gd name="adj2" fmla="val 316148"/>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600"/>
              <a:t>Initial count</a:t>
            </a:r>
          </a:p>
        </p:txBody>
      </p:sp>
      <p:sp>
        <p:nvSpPr>
          <p:cNvPr id="46090" name="AutoShape 10"/>
          <p:cNvSpPr>
            <a:spLocks noChangeArrowheads="1"/>
          </p:cNvSpPr>
          <p:nvPr/>
        </p:nvSpPr>
        <p:spPr bwMode="auto">
          <a:xfrm>
            <a:off x="5219700" y="1638300"/>
            <a:ext cx="2133600" cy="609600"/>
          </a:xfrm>
          <a:prstGeom prst="wedgeRectCallout">
            <a:avLst>
              <a:gd name="adj1" fmla="val 35639"/>
              <a:gd name="adj2" fmla="val 310940"/>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600"/>
              <a:t>Condition</a:t>
            </a:r>
          </a:p>
        </p:txBody>
      </p:sp>
      <p:sp>
        <p:nvSpPr>
          <p:cNvPr id="46091" name="AutoShape 11"/>
          <p:cNvSpPr>
            <a:spLocks noChangeArrowheads="1"/>
          </p:cNvSpPr>
          <p:nvPr/>
        </p:nvSpPr>
        <p:spPr bwMode="auto">
          <a:xfrm>
            <a:off x="8382000" y="1638300"/>
            <a:ext cx="2286000" cy="609600"/>
          </a:xfrm>
          <a:prstGeom prst="wedgeRectCallout">
            <a:avLst>
              <a:gd name="adj1" fmla="val 486"/>
              <a:gd name="adj2" fmla="val 315366"/>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600"/>
              <a:t>Operation</a:t>
            </a:r>
          </a:p>
        </p:txBody>
      </p:sp>
    </p:spTree>
    <p:extLst>
      <p:ext uri="{BB962C8B-B14F-4D97-AF65-F5344CB8AC3E}">
        <p14:creationId xmlns:p14="http://schemas.microsoft.com/office/powerpoint/2010/main" val="648729798"/>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indefinite"/>
                        <p:cond evt="onBegin" delay="0">
                          <p:tn val="2"/>
                        </p:cond>
                      </p:stCondLst>
                      <p:childTnLst>
                        <p:par>
                          <p:cTn id="4" fill="hold" nodeType="afterGroup">
                            <p:stCondLst>
                              <p:cond delay="0"/>
                            </p:stCondLst>
                            <p:childTnLst>
                              <p:par>
                                <p:cTn id="5" presetID="9" presetClass="entr" fill="hold" grpId="0" nodeType="afterEffect">
                                  <p:stCondLst>
                                    <p:cond delay="0"/>
                                  </p:stCondLst>
                                  <p:childTnLst>
                                    <p:set>
                                      <p:cBhvr additive="repl">
                                        <p:cTn id="6" dur="1" fill="hold">
                                          <p:stCondLst>
                                            <p:cond delay="0"/>
                                          </p:stCondLst>
                                        </p:cTn>
                                        <p:tgtEl>
                                          <p:spTgt spid="46086"/>
                                        </p:tgtEl>
                                        <p:attrNameLst>
                                          <p:attrName>style.visibility</p:attrName>
                                        </p:attrNameLst>
                                      </p:cBhvr>
                                      <p:to>
                                        <p:strVal val="visible"/>
                                      </p:to>
                                    </p:set>
                                    <p:animEffect transition="in" filter="dissolve">
                                      <p:cBhvr additive="repl">
                                        <p:cTn id="7" dur="500"/>
                                        <p:tgtEl>
                                          <p:spTgt spid="46086"/>
                                        </p:tgtEl>
                                      </p:cBhvr>
                                    </p:animEffect>
                                  </p:childTnLst>
                                </p:cTn>
                              </p:par>
                            </p:childTnLst>
                          </p:cTn>
                        </p:par>
                        <p:par>
                          <p:cTn id="8" fill="hold" nodeType="afterGroup">
                            <p:stCondLst>
                              <p:cond delay="500"/>
                            </p:stCondLst>
                            <p:childTnLst>
                              <p:par>
                                <p:cTn id="9" presetID="22" presetClass="entr" presetSubtype="4" fill="hold" nodeType="afterEffect">
                                  <p:stCondLst>
                                    <p:cond delay="0"/>
                                  </p:stCondLst>
                                  <p:childTnLst>
                                    <p:set>
                                      <p:cBhvr additive="repl">
                                        <p:cTn id="10" dur="1" fill="hold">
                                          <p:stCondLst>
                                            <p:cond delay="0"/>
                                          </p:stCondLst>
                                        </p:cTn>
                                        <p:tgtEl>
                                          <p:spTgt spid="46089"/>
                                        </p:tgtEl>
                                        <p:attrNameLst>
                                          <p:attrName>style.visibility</p:attrName>
                                        </p:attrNameLst>
                                      </p:cBhvr>
                                      <p:to>
                                        <p:strVal val="visible"/>
                                      </p:to>
                                    </p:set>
                                    <p:animEffect transition="in" filter="wipe(down)">
                                      <p:cBhvr additive="repl">
                                        <p:cTn id="11" dur="500"/>
                                        <p:tgtEl>
                                          <p:spTgt spid="46089"/>
                                        </p:tgtEl>
                                      </p:cBhvr>
                                    </p:animEffect>
                                  </p:childTnLst>
                                </p:cTn>
                              </p:par>
                            </p:childTnLst>
                          </p:cTn>
                        </p:par>
                        <p:par>
                          <p:cTn id="12" fill="hold" nodeType="afterGroup">
                            <p:stCondLst>
                              <p:cond delay="1000"/>
                            </p:stCondLst>
                            <p:childTnLst>
                              <p:par>
                                <p:cTn id="13" presetID="9" presetClass="entr" fill="hold" grpId="0" nodeType="afterEffect">
                                  <p:stCondLst>
                                    <p:cond delay="0"/>
                                  </p:stCondLst>
                                  <p:childTnLst>
                                    <p:set>
                                      <p:cBhvr additive="repl">
                                        <p:cTn id="14" dur="1" fill="hold">
                                          <p:stCondLst>
                                            <p:cond delay="0"/>
                                          </p:stCondLst>
                                        </p:cTn>
                                        <p:tgtEl>
                                          <p:spTgt spid="46087"/>
                                        </p:tgtEl>
                                        <p:attrNameLst>
                                          <p:attrName>style.visibility</p:attrName>
                                        </p:attrNameLst>
                                      </p:cBhvr>
                                      <p:to>
                                        <p:strVal val="visible"/>
                                      </p:to>
                                    </p:set>
                                    <p:animEffect transition="in" filter="dissolve">
                                      <p:cBhvr additive="repl">
                                        <p:cTn id="15" dur="500"/>
                                        <p:tgtEl>
                                          <p:spTgt spid="46087"/>
                                        </p:tgtEl>
                                      </p:cBhvr>
                                    </p:animEffect>
                                  </p:childTnLst>
                                </p:cTn>
                              </p:par>
                            </p:childTnLst>
                          </p:cTn>
                        </p:par>
                        <p:par>
                          <p:cTn id="16" fill="hold" nodeType="afterGroup">
                            <p:stCondLst>
                              <p:cond delay="1500"/>
                            </p:stCondLst>
                            <p:childTnLst>
                              <p:par>
                                <p:cTn id="17" presetID="22" presetClass="entr" presetSubtype="4" fill="hold" nodeType="afterEffect">
                                  <p:stCondLst>
                                    <p:cond delay="0"/>
                                  </p:stCondLst>
                                  <p:childTnLst>
                                    <p:set>
                                      <p:cBhvr additive="repl">
                                        <p:cTn id="18" dur="1" fill="hold">
                                          <p:stCondLst>
                                            <p:cond delay="0"/>
                                          </p:stCondLst>
                                        </p:cTn>
                                        <p:tgtEl>
                                          <p:spTgt spid="46090"/>
                                        </p:tgtEl>
                                        <p:attrNameLst>
                                          <p:attrName>style.visibility</p:attrName>
                                        </p:attrNameLst>
                                      </p:cBhvr>
                                      <p:to>
                                        <p:strVal val="visible"/>
                                      </p:to>
                                    </p:set>
                                    <p:animEffect transition="in" filter="wipe(down)">
                                      <p:cBhvr additive="repl">
                                        <p:cTn id="19" dur="500"/>
                                        <p:tgtEl>
                                          <p:spTgt spid="46090"/>
                                        </p:tgtEl>
                                      </p:cBhvr>
                                    </p:animEffect>
                                  </p:childTnLst>
                                </p:cTn>
                              </p:par>
                            </p:childTnLst>
                          </p:cTn>
                        </p:par>
                        <p:par>
                          <p:cTn id="20" fill="hold" nodeType="afterGroup">
                            <p:stCondLst>
                              <p:cond delay="2000"/>
                            </p:stCondLst>
                            <p:childTnLst>
                              <p:par>
                                <p:cTn id="21" presetID="9" presetClass="entr" fill="hold" grpId="0" nodeType="afterEffect">
                                  <p:stCondLst>
                                    <p:cond delay="0"/>
                                  </p:stCondLst>
                                  <p:childTnLst>
                                    <p:set>
                                      <p:cBhvr additive="repl">
                                        <p:cTn id="22" dur="1" fill="hold">
                                          <p:stCondLst>
                                            <p:cond delay="0"/>
                                          </p:stCondLst>
                                        </p:cTn>
                                        <p:tgtEl>
                                          <p:spTgt spid="46088"/>
                                        </p:tgtEl>
                                        <p:attrNameLst>
                                          <p:attrName>style.visibility</p:attrName>
                                        </p:attrNameLst>
                                      </p:cBhvr>
                                      <p:to>
                                        <p:strVal val="visible"/>
                                      </p:to>
                                    </p:set>
                                    <p:animEffect transition="in" filter="dissolve">
                                      <p:cBhvr additive="repl">
                                        <p:cTn id="23" dur="500"/>
                                        <p:tgtEl>
                                          <p:spTgt spid="46088"/>
                                        </p:tgtEl>
                                      </p:cBhvr>
                                    </p:animEffect>
                                  </p:childTnLst>
                                </p:cTn>
                              </p:par>
                            </p:childTnLst>
                          </p:cTn>
                        </p:par>
                        <p:par>
                          <p:cTn id="24" fill="hold" nodeType="afterGroup">
                            <p:stCondLst>
                              <p:cond delay="2500"/>
                            </p:stCondLst>
                            <p:childTnLst>
                              <p:par>
                                <p:cTn id="25" presetID="22" presetClass="entr" presetSubtype="4" fill="hold" nodeType="afterEffect">
                                  <p:stCondLst>
                                    <p:cond delay="0"/>
                                  </p:stCondLst>
                                  <p:childTnLst>
                                    <p:set>
                                      <p:cBhvr additive="repl">
                                        <p:cTn id="26" dur="1" fill="hold">
                                          <p:stCondLst>
                                            <p:cond delay="0"/>
                                          </p:stCondLst>
                                        </p:cTn>
                                        <p:tgtEl>
                                          <p:spTgt spid="46091"/>
                                        </p:tgtEl>
                                        <p:attrNameLst>
                                          <p:attrName>style.visibility</p:attrName>
                                        </p:attrNameLst>
                                      </p:cBhvr>
                                      <p:to>
                                        <p:strVal val="visible"/>
                                      </p:to>
                                    </p:set>
                                    <p:animEffect transition="in" filter="wipe(down)">
                                      <p:cBhvr additive="repl">
                                        <p:cTn id="27" dur="500"/>
                                        <p:tgtEl>
                                          <p:spTgt spid="4609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86" grpId="0" animBg="1"/>
      <p:bldP spid="46087" grpId="0" animBg="1"/>
      <p:bldP spid="46088" grpId="0" animBg="1"/>
    </p:bldLst>
  </p:timing>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5"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5E77114E-1B4B-4B02-961B-60936187106B}" type="slidenum">
              <a:rPr lang="en-US" sz="1400">
                <a:solidFill>
                  <a:srgbClr val="FFFFFF"/>
                </a:solidFill>
              </a:rPr>
              <a:pPr algn="r">
                <a:buClrTx/>
                <a:buFontTx/>
                <a:buNone/>
              </a:pPr>
              <a:t>61</a:t>
            </a:fld>
            <a:endParaRPr lang="en-US" sz="1400">
              <a:solidFill>
                <a:srgbClr val="FFFFFF"/>
              </a:solidFill>
            </a:endParaRPr>
          </a:p>
        </p:txBody>
      </p:sp>
      <p:sp>
        <p:nvSpPr>
          <p:cNvPr id="47106" name="Text Box 2"/>
          <p:cNvSpPr txBox="1">
            <a:spLocks noChangeArrowheads="1"/>
          </p:cNvSpPr>
          <p:nvPr/>
        </p:nvSpPr>
        <p:spPr bwMode="auto">
          <a:xfrm>
            <a:off x="1981200" y="-762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Description (1)</a:t>
            </a:r>
          </a:p>
        </p:txBody>
      </p:sp>
      <p:sp>
        <p:nvSpPr>
          <p:cNvPr id="47107" name="Text Box 3"/>
          <p:cNvSpPr txBox="1">
            <a:spLocks noChangeArrowheads="1"/>
          </p:cNvSpPr>
          <p:nvPr/>
        </p:nvSpPr>
        <p:spPr bwMode="auto">
          <a:xfrm>
            <a:off x="1524000" y="1066800"/>
            <a:ext cx="9144000" cy="563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533400" indent="-53340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813"/>
              </a:spcBef>
              <a:spcAft>
                <a:spcPts val="2813"/>
              </a:spcAft>
              <a:buClr>
                <a:srgbClr val="FFFFFF"/>
              </a:buClr>
              <a:buFont typeface="Times New Roman" panose="02020603050405020304" pitchFamily="18" charset="0"/>
              <a:buAutoNum type="arabicPeriod"/>
            </a:pPr>
            <a:r>
              <a:rPr lang="en-US" sz="3200" dirty="0">
                <a:solidFill>
                  <a:schemeClr val="tx1"/>
                </a:solidFill>
              </a:rPr>
              <a:t>The ‘for’ loop starts by initializing the </a:t>
            </a:r>
            <a:r>
              <a:rPr lang="en-US" sz="3200" i="1" dirty="0">
                <a:solidFill>
                  <a:schemeClr val="tx1"/>
                </a:solidFill>
              </a:rPr>
              <a:t>counter</a:t>
            </a:r>
            <a:r>
              <a:rPr lang="en-US" sz="3200" dirty="0">
                <a:solidFill>
                  <a:schemeClr val="tx1"/>
                </a:solidFill>
              </a:rPr>
              <a:t> </a:t>
            </a:r>
            <a:r>
              <a:rPr lang="en-US" sz="3200" i="1" dirty="0">
                <a:solidFill>
                  <a:schemeClr val="tx1"/>
                </a:solidFill>
              </a:rPr>
              <a:t>variable</a:t>
            </a:r>
            <a:r>
              <a:rPr lang="en-US" sz="3200" dirty="0">
                <a:solidFill>
                  <a:schemeClr val="tx1"/>
                </a:solidFill>
              </a:rPr>
              <a:t> (which in this case is x)</a:t>
            </a:r>
          </a:p>
          <a:p>
            <a:pPr>
              <a:spcBef>
                <a:spcPts val="813"/>
              </a:spcBef>
              <a:spcAft>
                <a:spcPts val="2813"/>
              </a:spcAft>
              <a:buClr>
                <a:srgbClr val="FFFFFF"/>
              </a:buClr>
              <a:buFont typeface="Times New Roman" panose="02020603050405020304" pitchFamily="18" charset="0"/>
              <a:buAutoNum type="arabicPeriod"/>
            </a:pPr>
            <a:r>
              <a:rPr lang="en-US" sz="3200" dirty="0">
                <a:solidFill>
                  <a:schemeClr val="tx1"/>
                </a:solidFill>
              </a:rPr>
              <a:t>The initial value in this case is ‘1’, but can be any other positive or negative number as well</a:t>
            </a:r>
          </a:p>
          <a:p>
            <a:pPr>
              <a:spcBef>
                <a:spcPts val="813"/>
              </a:spcBef>
              <a:spcAft>
                <a:spcPts val="2813"/>
              </a:spcAft>
              <a:buClr>
                <a:srgbClr val="FFFFFF"/>
              </a:buClr>
              <a:buFont typeface="Times New Roman" panose="02020603050405020304" pitchFamily="18" charset="0"/>
              <a:buAutoNum type="arabicPeriod"/>
            </a:pPr>
            <a:r>
              <a:rPr lang="en-US" sz="3200" dirty="0">
                <a:solidFill>
                  <a:schemeClr val="tx1"/>
                </a:solidFill>
              </a:rPr>
              <a:t>Next the ‘for’ loop checks the condition.  If the condition evaluates to a ‘true’ value, the ‘for’ loop goes through the loop once</a:t>
            </a:r>
          </a:p>
        </p:txBody>
      </p:sp>
    </p:spTree>
    <p:extLst>
      <p:ext uri="{BB962C8B-B14F-4D97-AF65-F5344CB8AC3E}">
        <p14:creationId xmlns:p14="http://schemas.microsoft.com/office/powerpoint/2010/main" val="1354275536"/>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29"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E47E4AD8-6831-44A2-953E-D9C2E9AFD532}" type="slidenum">
              <a:rPr lang="en-US" sz="1400">
                <a:solidFill>
                  <a:srgbClr val="FFFFFF"/>
                </a:solidFill>
              </a:rPr>
              <a:pPr algn="r">
                <a:buClrTx/>
                <a:buFontTx/>
                <a:buNone/>
              </a:pPr>
              <a:t>62</a:t>
            </a:fld>
            <a:endParaRPr lang="en-US" sz="1400" dirty="0">
              <a:solidFill>
                <a:srgbClr val="FFFFFF"/>
              </a:solidFill>
            </a:endParaRPr>
          </a:p>
        </p:txBody>
      </p:sp>
      <p:sp>
        <p:nvSpPr>
          <p:cNvPr id="48130" name="Text Box 2"/>
          <p:cNvSpPr txBox="1">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Description (2)</a:t>
            </a:r>
          </a:p>
        </p:txBody>
      </p:sp>
      <p:sp>
        <p:nvSpPr>
          <p:cNvPr id="48131" name="Text Box 3"/>
          <p:cNvSpPr txBox="1">
            <a:spLocks noChangeArrowheads="1"/>
          </p:cNvSpPr>
          <p:nvPr/>
        </p:nvSpPr>
        <p:spPr bwMode="auto">
          <a:xfrm>
            <a:off x="1524000" y="1066800"/>
            <a:ext cx="9144000" cy="5638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609600" indent="-60960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813"/>
              </a:spcBef>
              <a:spcAft>
                <a:spcPts val="2813"/>
              </a:spcAft>
              <a:buClr>
                <a:srgbClr val="FFFFFF"/>
              </a:buClr>
              <a:buFont typeface="Times New Roman" panose="02020603050405020304" pitchFamily="18" charset="0"/>
              <a:buAutoNum type="arabicPeriod" startAt="4"/>
            </a:pPr>
            <a:r>
              <a:rPr lang="en-US" sz="3200" dirty="0">
                <a:solidFill>
                  <a:schemeClr val="tx1"/>
                </a:solidFill>
              </a:rPr>
              <a:t>After reaching the end of that iteration, the ‘for’ loop goes to the top once again, performs the operation, checks the condition</a:t>
            </a:r>
          </a:p>
          <a:p>
            <a:pPr>
              <a:spcBef>
                <a:spcPts val="813"/>
              </a:spcBef>
              <a:spcAft>
                <a:spcPts val="2813"/>
              </a:spcAft>
              <a:buClr>
                <a:srgbClr val="FFFFFF"/>
              </a:buClr>
              <a:buFont typeface="Times New Roman" panose="02020603050405020304" pitchFamily="18" charset="0"/>
              <a:buAutoNum type="arabicPeriod" startAt="4"/>
            </a:pPr>
            <a:r>
              <a:rPr lang="en-US" sz="3200" dirty="0">
                <a:solidFill>
                  <a:schemeClr val="tx1"/>
                </a:solidFill>
              </a:rPr>
              <a:t>If the condition evaluates to a ‘false’ value, the ‘for’ loop finishes looping</a:t>
            </a:r>
          </a:p>
          <a:p>
            <a:pPr>
              <a:spcBef>
                <a:spcPts val="813"/>
              </a:spcBef>
              <a:spcAft>
                <a:spcPts val="2813"/>
              </a:spcAft>
              <a:buClr>
                <a:srgbClr val="FFFFFF"/>
              </a:buClr>
              <a:buFont typeface="Times New Roman" panose="02020603050405020304" pitchFamily="18" charset="0"/>
              <a:buAutoNum type="arabicPeriod" startAt="4"/>
            </a:pPr>
            <a:r>
              <a:rPr lang="en-US" sz="3200" dirty="0">
                <a:solidFill>
                  <a:schemeClr val="tx1"/>
                </a:solidFill>
              </a:rPr>
              <a:t>Otherwise, the ‘for’ loop goes through the loop once again</a:t>
            </a:r>
          </a:p>
          <a:p>
            <a:pPr>
              <a:spcBef>
                <a:spcPts val="813"/>
              </a:spcBef>
              <a:spcAft>
                <a:spcPts val="2813"/>
              </a:spcAft>
              <a:buClr>
                <a:srgbClr val="00FF00"/>
              </a:buClr>
              <a:buFont typeface="Times New Roman" panose="02020603050405020304" pitchFamily="18" charset="0"/>
              <a:buAutoNum type="arabicPeriod" startAt="4"/>
            </a:pPr>
            <a:r>
              <a:rPr lang="en-US" sz="3200" dirty="0">
                <a:solidFill>
                  <a:schemeClr val="tx1"/>
                </a:solidFill>
              </a:rPr>
              <a:t>Repeat from step 4</a:t>
            </a:r>
          </a:p>
        </p:txBody>
      </p:sp>
    </p:spTree>
    <p:extLst>
      <p:ext uri="{BB962C8B-B14F-4D97-AF65-F5344CB8AC3E}">
        <p14:creationId xmlns:p14="http://schemas.microsoft.com/office/powerpoint/2010/main" val="4094113161"/>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53"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2039911D-DD47-4378-9F42-0BD47B9511AB}" type="slidenum">
              <a:rPr lang="en-US" sz="1400">
                <a:solidFill>
                  <a:srgbClr val="FFFFFF"/>
                </a:solidFill>
              </a:rPr>
              <a:pPr algn="r">
                <a:buClrTx/>
                <a:buFontTx/>
                <a:buNone/>
              </a:pPr>
              <a:t>63</a:t>
            </a:fld>
            <a:endParaRPr lang="en-US" sz="1400" dirty="0">
              <a:solidFill>
                <a:srgbClr val="FFFFFF"/>
              </a:solidFill>
            </a:endParaRPr>
          </a:p>
        </p:txBody>
      </p:sp>
      <p:sp>
        <p:nvSpPr>
          <p:cNvPr id="49154" name="Text Box 2"/>
          <p:cNvSpPr txBox="1">
            <a:spLocks noChangeArrowheads="1"/>
          </p:cNvSpPr>
          <p:nvPr/>
        </p:nvSpPr>
        <p:spPr bwMode="auto">
          <a:xfrm>
            <a:off x="2209800" y="-2286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Example 2</a:t>
            </a:r>
          </a:p>
        </p:txBody>
      </p:sp>
      <p:sp>
        <p:nvSpPr>
          <p:cNvPr id="49155" name="Text Box 3"/>
          <p:cNvSpPr txBox="1">
            <a:spLocks noChangeArrowheads="1"/>
          </p:cNvSpPr>
          <p:nvPr/>
        </p:nvSpPr>
        <p:spPr bwMode="auto">
          <a:xfrm>
            <a:off x="2209800" y="15240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sz="3600" dirty="0">
                <a:solidFill>
                  <a:schemeClr val="tx1"/>
                </a:solidFill>
              </a:rPr>
              <a:t>for ( x = 99 ; x &lt; 6000 ; x = x + 1 ) {</a:t>
            </a:r>
          </a:p>
          <a:p>
            <a:pPr>
              <a:spcBef>
                <a:spcPts val="913"/>
              </a:spcBef>
            </a:pPr>
            <a:r>
              <a:rPr lang="en-US" sz="3600" dirty="0">
                <a:solidFill>
                  <a:schemeClr val="tx1"/>
                </a:solidFill>
              </a:rPr>
              <a:t>	</a:t>
            </a:r>
            <a:r>
              <a:rPr lang="en-US" sz="3600" dirty="0" err="1">
                <a:solidFill>
                  <a:schemeClr val="tx1"/>
                </a:solidFill>
              </a:rPr>
              <a:t>document.write</a:t>
            </a:r>
            <a:r>
              <a:rPr lang="en-US" sz="3600" dirty="0">
                <a:solidFill>
                  <a:schemeClr val="tx1"/>
                </a:solidFill>
              </a:rPr>
              <a:t> ( x ) ;</a:t>
            </a:r>
          </a:p>
          <a:p>
            <a:pPr>
              <a:spcBef>
                <a:spcPts val="913"/>
              </a:spcBef>
            </a:pPr>
            <a:r>
              <a:rPr lang="en-US" sz="3600" dirty="0">
                <a:solidFill>
                  <a:schemeClr val="tx1"/>
                </a:solidFill>
              </a:rPr>
              <a:t>}</a:t>
            </a:r>
          </a:p>
          <a:p>
            <a:pPr>
              <a:spcBef>
                <a:spcPts val="913"/>
              </a:spcBef>
              <a:buClr>
                <a:srgbClr val="FF66FF"/>
              </a:buClr>
            </a:pPr>
            <a:endParaRPr lang="en-US" sz="3600" dirty="0">
              <a:solidFill>
                <a:schemeClr val="tx1"/>
              </a:solidFill>
            </a:endParaRPr>
          </a:p>
        </p:txBody>
      </p:sp>
    </p:spTree>
    <p:extLst>
      <p:ext uri="{BB962C8B-B14F-4D97-AF65-F5344CB8AC3E}">
        <p14:creationId xmlns:p14="http://schemas.microsoft.com/office/powerpoint/2010/main" val="255570286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177"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5B589B95-CB4C-4557-BBE8-1D826463FD4D}" type="slidenum">
              <a:rPr lang="en-US" sz="1400">
                <a:solidFill>
                  <a:srgbClr val="FFFFFF"/>
                </a:solidFill>
              </a:rPr>
              <a:pPr algn="r">
                <a:buClrTx/>
                <a:buFontTx/>
                <a:buNone/>
              </a:pPr>
              <a:t>64</a:t>
            </a:fld>
            <a:endParaRPr lang="en-US" sz="1400">
              <a:solidFill>
                <a:srgbClr val="FFFFFF"/>
              </a:solidFill>
            </a:endParaRPr>
          </a:p>
        </p:txBody>
      </p:sp>
      <p:sp>
        <p:nvSpPr>
          <p:cNvPr id="50178" name="Text Box 2"/>
          <p:cNvSpPr txBox="1">
            <a:spLocks noChangeArrowheads="1"/>
          </p:cNvSpPr>
          <p:nvPr/>
        </p:nvSpPr>
        <p:spPr bwMode="auto">
          <a:xfrm>
            <a:off x="2173310" y="1905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Example 3</a:t>
            </a:r>
          </a:p>
        </p:txBody>
      </p:sp>
      <p:sp>
        <p:nvSpPr>
          <p:cNvPr id="50179" name="Text Box 3"/>
          <p:cNvSpPr txBox="1">
            <a:spLocks noChangeArrowheads="1"/>
          </p:cNvSpPr>
          <p:nvPr/>
        </p:nvSpPr>
        <p:spPr bwMode="auto">
          <a:xfrm>
            <a:off x="2209800" y="14478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sz="3600" dirty="0">
                <a:solidFill>
                  <a:schemeClr val="tx1"/>
                </a:solidFill>
              </a:rPr>
              <a:t>for ( x = 6000 ; x &gt; 0 ; x = x - 1 ) {</a:t>
            </a:r>
          </a:p>
          <a:p>
            <a:pPr>
              <a:spcBef>
                <a:spcPts val="913"/>
              </a:spcBef>
            </a:pPr>
            <a:r>
              <a:rPr lang="en-US" sz="3600" dirty="0">
                <a:solidFill>
                  <a:schemeClr val="tx1"/>
                </a:solidFill>
              </a:rPr>
              <a:t>	</a:t>
            </a:r>
            <a:r>
              <a:rPr lang="en-US" sz="3600" dirty="0" err="1">
                <a:solidFill>
                  <a:schemeClr val="tx1"/>
                </a:solidFill>
              </a:rPr>
              <a:t>document.write</a:t>
            </a:r>
            <a:r>
              <a:rPr lang="en-US" sz="3600" dirty="0">
                <a:solidFill>
                  <a:schemeClr val="tx1"/>
                </a:solidFill>
              </a:rPr>
              <a:t> ( x ) ;</a:t>
            </a:r>
          </a:p>
          <a:p>
            <a:pPr>
              <a:spcBef>
                <a:spcPts val="913"/>
              </a:spcBef>
            </a:pPr>
            <a:r>
              <a:rPr lang="en-US" sz="3600" dirty="0">
                <a:solidFill>
                  <a:schemeClr val="tx1"/>
                </a:solidFill>
              </a:rPr>
              <a:t>}</a:t>
            </a:r>
          </a:p>
          <a:p>
            <a:pPr>
              <a:spcBef>
                <a:spcPts val="913"/>
              </a:spcBef>
              <a:buClr>
                <a:srgbClr val="FF66FF"/>
              </a:buClr>
            </a:pPr>
            <a:endParaRPr lang="en-US" sz="3600" dirty="0">
              <a:solidFill>
                <a:schemeClr val="tx1"/>
              </a:solidFill>
            </a:endParaRPr>
          </a:p>
        </p:txBody>
      </p:sp>
      <p:sp>
        <p:nvSpPr>
          <p:cNvPr id="50180" name="AutoShape 4"/>
          <p:cNvSpPr>
            <a:spLocks noChangeArrowheads="1"/>
          </p:cNvSpPr>
          <p:nvPr/>
        </p:nvSpPr>
        <p:spPr bwMode="auto">
          <a:xfrm>
            <a:off x="6248400" y="3505200"/>
            <a:ext cx="3276600" cy="2286000"/>
          </a:xfrm>
          <a:prstGeom prst="roundRect">
            <a:avLst>
              <a:gd name="adj" fmla="val 16667"/>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200"/>
              <a:t>How many iterations would this ‘for’ loop run for?</a:t>
            </a:r>
          </a:p>
        </p:txBody>
      </p:sp>
      <p:sp>
        <p:nvSpPr>
          <p:cNvPr id="50181" name="AutoShape 5"/>
          <p:cNvSpPr>
            <a:spLocks noChangeArrowheads="1"/>
          </p:cNvSpPr>
          <p:nvPr/>
        </p:nvSpPr>
        <p:spPr bwMode="auto">
          <a:xfrm>
            <a:off x="6248400" y="5943600"/>
            <a:ext cx="3276600" cy="685800"/>
          </a:xfrm>
          <a:prstGeom prst="roundRect">
            <a:avLst>
              <a:gd name="adj" fmla="val 16667"/>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200"/>
              <a:t>6000?</a:t>
            </a:r>
          </a:p>
        </p:txBody>
      </p:sp>
    </p:spTree>
    <p:extLst>
      <p:ext uri="{BB962C8B-B14F-4D97-AF65-F5344CB8AC3E}">
        <p14:creationId xmlns:p14="http://schemas.microsoft.com/office/powerpoint/2010/main" val="1205620489"/>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 presetClass="entr" presetSubtype="2" fill="hold" nodeType="clickEffect">
                                  <p:stCondLst>
                                    <p:cond delay="0"/>
                                  </p:stCondLst>
                                  <p:childTnLst>
                                    <p:set>
                                      <p:cBhvr additive="repl">
                                        <p:cTn id="6" dur="1" fill="hold">
                                          <p:stCondLst>
                                            <p:cond delay="0"/>
                                          </p:stCondLst>
                                        </p:cTn>
                                        <p:tgtEl>
                                          <p:spTgt spid="50180"/>
                                        </p:tgtEl>
                                        <p:attrNameLst>
                                          <p:attrName>style.visibility</p:attrName>
                                        </p:attrNameLst>
                                      </p:cBhvr>
                                      <p:to>
                                        <p:strVal val="visible"/>
                                      </p:to>
                                    </p:set>
                                    <p:anim calcmode="lin" valueType="num">
                                      <p:cBhvr>
                                        <p:cTn id="7" dur="500" fill="hold"/>
                                        <p:tgtEl>
                                          <p:spTgt spid="50180"/>
                                        </p:tgtEl>
                                        <p:attrNameLst>
                                          <p:attrName>ppt_x</p:attrName>
                                        </p:attrNameLst>
                                      </p:cBhvr>
                                      <p:tavLst>
                                        <p:tav tm="100000">
                                          <p:val>
                                            <p:strVal val="1+#ppt_w/2"/>
                                          </p:val>
                                        </p:tav>
                                        <p:tav>
                                          <p:val>
                                            <p:strVal val="#ppt_x"/>
                                          </p:val>
                                        </p:tav>
                                      </p:tavLst>
                                    </p:anim>
                                    <p:anim calcmode="lin" valueType="num">
                                      <p:cBhvr>
                                        <p:cTn id="8" dur="500" fill="hold"/>
                                        <p:tgtEl>
                                          <p:spTgt spid="50180"/>
                                        </p:tgtEl>
                                        <p:attrNameLst>
                                          <p:attrName>ppt_y</p:attrName>
                                        </p:attrNameLst>
                                      </p:cBhvr>
                                      <p:tavLst>
                                        <p:tav tm="100000">
                                          <p:val>
                                            <p:strVal val="#ppt_y"/>
                                          </p:val>
                                        </p:tav>
                                        <p:tav>
                                          <p:val>
                                            <p:strVal val="#ppt_y"/>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 presetClass="entr" presetSubtype="2" fill="hold" nodeType="clickEffect">
                                  <p:stCondLst>
                                    <p:cond delay="0"/>
                                  </p:stCondLst>
                                  <p:childTnLst>
                                    <p:set>
                                      <p:cBhvr additive="repl">
                                        <p:cTn id="12" dur="1" fill="hold">
                                          <p:stCondLst>
                                            <p:cond delay="0"/>
                                          </p:stCondLst>
                                        </p:cTn>
                                        <p:tgtEl>
                                          <p:spTgt spid="50181"/>
                                        </p:tgtEl>
                                        <p:attrNameLst>
                                          <p:attrName>style.visibility</p:attrName>
                                        </p:attrNameLst>
                                      </p:cBhvr>
                                      <p:to>
                                        <p:strVal val="visible"/>
                                      </p:to>
                                    </p:set>
                                    <p:anim calcmode="lin" valueType="num">
                                      <p:cBhvr>
                                        <p:cTn id="13" dur="500" fill="hold"/>
                                        <p:tgtEl>
                                          <p:spTgt spid="50181"/>
                                        </p:tgtEl>
                                        <p:attrNameLst>
                                          <p:attrName>ppt_x</p:attrName>
                                        </p:attrNameLst>
                                      </p:cBhvr>
                                      <p:tavLst>
                                        <p:tav tm="100000">
                                          <p:val>
                                            <p:strVal val="1+#ppt_w/2"/>
                                          </p:val>
                                        </p:tav>
                                        <p:tav>
                                          <p:val>
                                            <p:strVal val="#ppt_x"/>
                                          </p:val>
                                        </p:tav>
                                      </p:tavLst>
                                    </p:anim>
                                    <p:anim calcmode="lin" valueType="num">
                                      <p:cBhvr>
                                        <p:cTn id="14" dur="500" fill="hold"/>
                                        <p:tgtEl>
                                          <p:spTgt spid="50181"/>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01"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F7E290E0-774E-4A07-ACE4-39CB70CEA6EA}" type="slidenum">
              <a:rPr lang="en-US" sz="1400">
                <a:solidFill>
                  <a:srgbClr val="FFFFFF"/>
                </a:solidFill>
              </a:rPr>
              <a:pPr algn="r">
                <a:buClrTx/>
                <a:buFontTx/>
                <a:buNone/>
              </a:pPr>
              <a:t>65</a:t>
            </a:fld>
            <a:endParaRPr lang="en-US" sz="1400">
              <a:solidFill>
                <a:srgbClr val="FFFFFF"/>
              </a:solidFill>
            </a:endParaRPr>
          </a:p>
        </p:txBody>
      </p:sp>
      <p:sp>
        <p:nvSpPr>
          <p:cNvPr id="51202" name="Text Box 2"/>
          <p:cNvSpPr txBox="1">
            <a:spLocks noChangeArrowheads="1"/>
          </p:cNvSpPr>
          <p:nvPr/>
        </p:nvSpPr>
        <p:spPr bwMode="auto">
          <a:xfrm>
            <a:off x="2209800" y="76200"/>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Example 4</a:t>
            </a:r>
          </a:p>
        </p:txBody>
      </p:sp>
      <p:sp>
        <p:nvSpPr>
          <p:cNvPr id="51203" name="Text Box 3"/>
          <p:cNvSpPr txBox="1">
            <a:spLocks noChangeArrowheads="1"/>
          </p:cNvSpPr>
          <p:nvPr/>
        </p:nvSpPr>
        <p:spPr bwMode="auto">
          <a:xfrm>
            <a:off x="2209800" y="1447800"/>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913"/>
              </a:spcBef>
            </a:pPr>
            <a:r>
              <a:rPr lang="en-US" sz="3600" dirty="0">
                <a:solidFill>
                  <a:schemeClr val="tx1"/>
                </a:solidFill>
              </a:rPr>
              <a:t>for ( x = 6000 ; x &lt; 0 ; x = x - 1 ) {</a:t>
            </a:r>
          </a:p>
          <a:p>
            <a:pPr>
              <a:spcBef>
                <a:spcPts val="913"/>
              </a:spcBef>
            </a:pPr>
            <a:r>
              <a:rPr lang="en-US" sz="3600" dirty="0">
                <a:solidFill>
                  <a:schemeClr val="tx1"/>
                </a:solidFill>
              </a:rPr>
              <a:t>	</a:t>
            </a:r>
            <a:r>
              <a:rPr lang="en-US" sz="3600" dirty="0" err="1">
                <a:solidFill>
                  <a:schemeClr val="tx1"/>
                </a:solidFill>
              </a:rPr>
              <a:t>document.write</a:t>
            </a:r>
            <a:r>
              <a:rPr lang="en-US" sz="3600" dirty="0">
                <a:solidFill>
                  <a:schemeClr val="tx1"/>
                </a:solidFill>
              </a:rPr>
              <a:t> ( x ) ;</a:t>
            </a:r>
          </a:p>
          <a:p>
            <a:pPr>
              <a:spcBef>
                <a:spcPts val="913"/>
              </a:spcBef>
            </a:pPr>
            <a:r>
              <a:rPr lang="en-US" sz="3600" dirty="0">
                <a:solidFill>
                  <a:schemeClr val="tx1"/>
                </a:solidFill>
              </a:rPr>
              <a:t>}</a:t>
            </a:r>
          </a:p>
          <a:p>
            <a:pPr>
              <a:spcBef>
                <a:spcPts val="913"/>
              </a:spcBef>
              <a:buClr>
                <a:srgbClr val="FF66FF"/>
              </a:buClr>
            </a:pPr>
            <a:endParaRPr lang="en-US" sz="3600" dirty="0">
              <a:solidFill>
                <a:schemeClr val="tx1"/>
              </a:solidFill>
            </a:endParaRPr>
          </a:p>
        </p:txBody>
      </p:sp>
      <p:sp>
        <p:nvSpPr>
          <p:cNvPr id="51204" name="AutoShape 4"/>
          <p:cNvSpPr>
            <a:spLocks noChangeArrowheads="1"/>
          </p:cNvSpPr>
          <p:nvPr/>
        </p:nvSpPr>
        <p:spPr bwMode="auto">
          <a:xfrm>
            <a:off x="6248400" y="3505200"/>
            <a:ext cx="3276600" cy="2286000"/>
          </a:xfrm>
          <a:prstGeom prst="roundRect">
            <a:avLst>
              <a:gd name="adj" fmla="val 16667"/>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200"/>
              <a:t>How many iterations would this ‘for’ loop run for?</a:t>
            </a:r>
          </a:p>
        </p:txBody>
      </p:sp>
      <p:sp>
        <p:nvSpPr>
          <p:cNvPr id="51205" name="AutoShape 5"/>
          <p:cNvSpPr>
            <a:spLocks noChangeArrowheads="1"/>
          </p:cNvSpPr>
          <p:nvPr/>
        </p:nvSpPr>
        <p:spPr bwMode="auto">
          <a:xfrm>
            <a:off x="5334000" y="1447800"/>
            <a:ext cx="1143000" cy="762000"/>
          </a:xfrm>
          <a:prstGeom prst="roundRect">
            <a:avLst>
              <a:gd name="adj" fmla="val 16667"/>
            </a:avLst>
          </a:prstGeom>
          <a:noFill/>
          <a:ln w="76320" cap="flat">
            <a:solidFill>
              <a:srgbClr val="FF9900"/>
            </a:solidFill>
            <a:miter lim="800000"/>
            <a:headEnd/>
            <a:tailEnd/>
          </a:ln>
          <a:effectLst/>
          <a:extLst>
            <a:ext uri="{909E8E84-426E-40DD-AFC4-6F175D3DCCD1}">
              <a14:hiddenFill xmlns:a14="http://schemas.microsoft.com/office/drawing/2010/main">
                <a:solidFill>
                  <a:srgbClr val="FFFFFF"/>
                </a:solidFill>
              </a14:hiddenFill>
            </a:ext>
            <a:ext uri="{AF507438-7753-43E0-B8FC-AC1667EBCBE1}">
              <a14:hiddenEffects xmlns:a14="http://schemas.microsoft.com/office/drawing/2010/main">
                <a:effectLst>
                  <a:outerShdw dist="35921" dir="2700000" algn="ctr" rotWithShape="0">
                    <a:srgbClr val="808080"/>
                  </a:outerShdw>
                </a:effectLst>
              </a14:hiddenEffects>
            </a:ext>
          </a:extLst>
        </p:spPr>
        <p:txBody>
          <a:bodyPr wrap="none" anchor="ctr"/>
          <a:lstStyle/>
          <a:p>
            <a:endParaRPr lang="en-US"/>
          </a:p>
        </p:txBody>
      </p:sp>
      <p:sp>
        <p:nvSpPr>
          <p:cNvPr id="51206" name="AutoShape 6"/>
          <p:cNvSpPr>
            <a:spLocks noChangeArrowheads="1"/>
          </p:cNvSpPr>
          <p:nvPr/>
        </p:nvSpPr>
        <p:spPr bwMode="auto">
          <a:xfrm>
            <a:off x="6248400" y="5943600"/>
            <a:ext cx="3276600" cy="685800"/>
          </a:xfrm>
          <a:prstGeom prst="roundRect">
            <a:avLst>
              <a:gd name="adj" fmla="val 16667"/>
            </a:avLst>
          </a:prstGeom>
          <a:solidFill>
            <a:srgbClr val="FF9900"/>
          </a:solidFill>
          <a:ln w="9360" cap="flat">
            <a:solidFill>
              <a:srgbClr val="FF9900"/>
            </a:solidFill>
            <a:miter lim="800000"/>
            <a:headEnd/>
            <a:tailEnd/>
          </a:ln>
          <a:effectLst/>
          <a:extLs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200"/>
              <a:t>None?</a:t>
            </a:r>
          </a:p>
        </p:txBody>
      </p:sp>
    </p:spTree>
    <p:extLst>
      <p:ext uri="{BB962C8B-B14F-4D97-AF65-F5344CB8AC3E}">
        <p14:creationId xmlns:p14="http://schemas.microsoft.com/office/powerpoint/2010/main" val="2964567249"/>
      </p:ext>
    </p:extLst>
  </p:cSld>
  <p:clrMapOvr>
    <a:masterClrMapping/>
  </p:clrMapOvr>
  <p:transition>
    <p:randomBar dir="vert"/>
  </p:transition>
  <p:timing>
    <p:tnLst>
      <p:par>
        <p:cTn id="1" dur="indefinite" restart="never" nodeType="tmRoot">
          <p:childTnLst>
            <p:seq concurrent="1" nextAc="seek">
              <p:cTn id="2" dur="indefinite" nodeType="mainSeq">
                <p:childTnLst>
                  <p:par>
                    <p:cTn id="3" fill="hold" nodeType="clickPar">
                      <p:stCondLst>
                        <p:cond delay="0"/>
                      </p:stCondLst>
                      <p:childTnLst>
                        <p:par>
                          <p:cTn id="4" fill="hold" nodeType="withGroup">
                            <p:stCondLst>
                              <p:cond delay="0"/>
                            </p:stCondLst>
                            <p:childTnLst>
                              <p:par>
                                <p:cTn id="5" presetID="9" presetClass="entr" fill="hold" grpId="0" nodeType="afterEffect">
                                  <p:stCondLst>
                                    <p:cond delay="1000"/>
                                  </p:stCondLst>
                                  <p:childTnLst>
                                    <p:set>
                                      <p:cBhvr additive="repl">
                                        <p:cTn id="6" dur="1" fill="hold">
                                          <p:stCondLst>
                                            <p:cond delay="0"/>
                                          </p:stCondLst>
                                        </p:cTn>
                                        <p:tgtEl>
                                          <p:spTgt spid="51205"/>
                                        </p:tgtEl>
                                        <p:attrNameLst>
                                          <p:attrName>style.visibility</p:attrName>
                                        </p:attrNameLst>
                                      </p:cBhvr>
                                      <p:to>
                                        <p:strVal val="visible"/>
                                      </p:to>
                                    </p:set>
                                    <p:animEffect transition="in" filter="dissolve">
                                      <p:cBhvr additive="repl">
                                        <p:cTn id="7" dur="500"/>
                                        <p:tgtEl>
                                          <p:spTgt spid="51205"/>
                                        </p:tgtEl>
                                      </p:cBhvr>
                                    </p:animEffect>
                                  </p:childTnLst>
                                </p:cTn>
                              </p:par>
                            </p:childTnLst>
                          </p:cTn>
                        </p:par>
                        <p:par>
                          <p:cTn id="8" fill="hold" nodeType="afterGroup">
                            <p:stCondLst>
                              <p:cond delay="1500"/>
                            </p:stCondLst>
                            <p:childTnLst>
                              <p:par>
                                <p:cTn id="9" presetID="2" presetClass="entr" presetSubtype="2" fill="hold" nodeType="afterEffect">
                                  <p:stCondLst>
                                    <p:cond delay="0"/>
                                  </p:stCondLst>
                                  <p:childTnLst>
                                    <p:set>
                                      <p:cBhvr additive="repl">
                                        <p:cTn id="10" dur="1" fill="hold">
                                          <p:stCondLst>
                                            <p:cond delay="0"/>
                                          </p:stCondLst>
                                        </p:cTn>
                                        <p:tgtEl>
                                          <p:spTgt spid="51204"/>
                                        </p:tgtEl>
                                        <p:attrNameLst>
                                          <p:attrName>style.visibility</p:attrName>
                                        </p:attrNameLst>
                                      </p:cBhvr>
                                      <p:to>
                                        <p:strVal val="visible"/>
                                      </p:to>
                                    </p:set>
                                    <p:anim calcmode="lin" valueType="num">
                                      <p:cBhvr>
                                        <p:cTn id="11" dur="500" fill="hold"/>
                                        <p:tgtEl>
                                          <p:spTgt spid="51204"/>
                                        </p:tgtEl>
                                        <p:attrNameLst>
                                          <p:attrName>ppt_x</p:attrName>
                                        </p:attrNameLst>
                                      </p:cBhvr>
                                      <p:tavLst>
                                        <p:tav tm="100000">
                                          <p:val>
                                            <p:strVal val="1+#ppt_w/2"/>
                                          </p:val>
                                        </p:tav>
                                        <p:tav>
                                          <p:val>
                                            <p:strVal val="#ppt_x"/>
                                          </p:val>
                                        </p:tav>
                                      </p:tavLst>
                                    </p:anim>
                                    <p:anim calcmode="lin" valueType="num">
                                      <p:cBhvr>
                                        <p:cTn id="12" dur="500" fill="hold"/>
                                        <p:tgtEl>
                                          <p:spTgt spid="51204"/>
                                        </p:tgtEl>
                                        <p:attrNameLst>
                                          <p:attrName>ppt_y</p:attrName>
                                        </p:attrNameLst>
                                      </p:cBhvr>
                                      <p:tavLst>
                                        <p:tav tm="100000">
                                          <p:val>
                                            <p:strVal val="#ppt_y"/>
                                          </p:val>
                                        </p:tav>
                                        <p:tav>
                                          <p:val>
                                            <p:strVal val="#ppt_y"/>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2" presetClass="entr" presetSubtype="2" fill="hold" nodeType="clickEffect">
                                  <p:stCondLst>
                                    <p:cond delay="0"/>
                                  </p:stCondLst>
                                  <p:childTnLst>
                                    <p:set>
                                      <p:cBhvr additive="repl">
                                        <p:cTn id="16" dur="1" fill="hold">
                                          <p:stCondLst>
                                            <p:cond delay="0"/>
                                          </p:stCondLst>
                                        </p:cTn>
                                        <p:tgtEl>
                                          <p:spTgt spid="51206"/>
                                        </p:tgtEl>
                                        <p:attrNameLst>
                                          <p:attrName>style.visibility</p:attrName>
                                        </p:attrNameLst>
                                      </p:cBhvr>
                                      <p:to>
                                        <p:strVal val="visible"/>
                                      </p:to>
                                    </p:set>
                                    <p:anim calcmode="lin" valueType="num">
                                      <p:cBhvr>
                                        <p:cTn id="17" dur="500" fill="hold"/>
                                        <p:tgtEl>
                                          <p:spTgt spid="51206"/>
                                        </p:tgtEl>
                                        <p:attrNameLst>
                                          <p:attrName>ppt_x</p:attrName>
                                        </p:attrNameLst>
                                      </p:cBhvr>
                                      <p:tavLst>
                                        <p:tav tm="100000">
                                          <p:val>
                                            <p:strVal val="1+#ppt_w/2"/>
                                          </p:val>
                                        </p:tav>
                                        <p:tav>
                                          <p:val>
                                            <p:strVal val="#ppt_x"/>
                                          </p:val>
                                        </p:tav>
                                      </p:tavLst>
                                    </p:anim>
                                    <p:anim calcmode="lin" valueType="num">
                                      <p:cBhvr>
                                        <p:cTn id="18" dur="500" fill="hold"/>
                                        <p:tgtEl>
                                          <p:spTgt spid="51206"/>
                                        </p:tgtEl>
                                        <p:attrNameLst>
                                          <p:attrName>ppt_y</p:attrName>
                                        </p:attrNameLst>
                                      </p:cBhvr>
                                      <p:tavLst>
                                        <p:tav tm="100000">
                                          <p:val>
                                            <p:strVal val="#ppt_y"/>
                                          </p:val>
                                        </p:tav>
                                        <p:tav>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1205" grpId="0" animBg="1"/>
    </p:bldLst>
  </p:timing>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For Loop</a:t>
            </a:r>
          </a:p>
        </p:txBody>
      </p:sp>
      <p:sp>
        <p:nvSpPr>
          <p:cNvPr id="3" name="Content Placeholder 2"/>
          <p:cNvSpPr>
            <a:spLocks noGrp="1"/>
          </p:cNvSpPr>
          <p:nvPr>
            <p:ph idx="1"/>
          </p:nvPr>
        </p:nvSpPr>
        <p:spPr/>
        <p:txBody>
          <a:bodyPr>
            <a:normAutofit fontScale="92500" lnSpcReduction="10000"/>
          </a:bodyPr>
          <a:lstStyle/>
          <a:p>
            <a:pPr marL="400050" lvl="1" indent="0">
              <a:buNone/>
            </a:pPr>
            <a:r>
              <a:rPr lang="en-US" dirty="0"/>
              <a:t>&lt;p id="demo"&gt;&lt;/p&gt;</a:t>
            </a:r>
          </a:p>
          <a:p>
            <a:pPr marL="400050" lvl="1" indent="0">
              <a:buNone/>
            </a:pPr>
            <a:endParaRPr lang="en-US" dirty="0"/>
          </a:p>
          <a:p>
            <a:pPr marL="400050" lvl="1" indent="0">
              <a:buNone/>
            </a:pPr>
            <a:r>
              <a:rPr lang="en-US" dirty="0"/>
              <a:t>&lt;script&gt;</a:t>
            </a:r>
          </a:p>
          <a:p>
            <a:pPr marL="400050" lvl="1" indent="0">
              <a:buNone/>
            </a:pPr>
            <a:r>
              <a:rPr lang="en-US" dirty="0" err="1"/>
              <a:t>const</a:t>
            </a:r>
            <a:r>
              <a:rPr lang="en-US" dirty="0"/>
              <a:t> cars = ["BMW", "Volvo", "Saab", "Ford", "Fiat", "Audi"];</a:t>
            </a:r>
          </a:p>
          <a:p>
            <a:pPr marL="400050" lvl="1" indent="0">
              <a:buNone/>
            </a:pPr>
            <a:endParaRPr lang="en-US" dirty="0"/>
          </a:p>
          <a:p>
            <a:pPr marL="400050" lvl="1" indent="0">
              <a:buNone/>
            </a:pPr>
            <a:r>
              <a:rPr lang="en-US" dirty="0"/>
              <a:t>let text = "";</a:t>
            </a:r>
          </a:p>
          <a:p>
            <a:pPr marL="400050" lvl="1" indent="0">
              <a:buNone/>
            </a:pPr>
            <a:r>
              <a:rPr lang="en-US" dirty="0"/>
              <a:t>for (let </a:t>
            </a:r>
            <a:r>
              <a:rPr lang="en-US" dirty="0" err="1"/>
              <a:t>i</a:t>
            </a:r>
            <a:r>
              <a:rPr lang="en-US" dirty="0"/>
              <a:t> = 0; </a:t>
            </a:r>
            <a:r>
              <a:rPr lang="en-US" dirty="0" err="1"/>
              <a:t>i</a:t>
            </a:r>
            <a:r>
              <a:rPr lang="en-US" dirty="0"/>
              <a:t> &lt; </a:t>
            </a:r>
            <a:r>
              <a:rPr lang="en-US" dirty="0" err="1"/>
              <a:t>cars.length</a:t>
            </a:r>
            <a:r>
              <a:rPr lang="en-US" dirty="0"/>
              <a:t>; </a:t>
            </a:r>
            <a:r>
              <a:rPr lang="en-US" dirty="0" err="1"/>
              <a:t>i</a:t>
            </a:r>
            <a:r>
              <a:rPr lang="en-US" dirty="0"/>
              <a:t>++) {</a:t>
            </a:r>
          </a:p>
          <a:p>
            <a:pPr marL="400050" lvl="1" indent="0">
              <a:buNone/>
            </a:pPr>
            <a:r>
              <a:rPr lang="en-US" dirty="0"/>
              <a:t>  text += cars[</a:t>
            </a:r>
            <a:r>
              <a:rPr lang="en-US" dirty="0" err="1"/>
              <a:t>i</a:t>
            </a:r>
            <a:r>
              <a:rPr lang="en-US" dirty="0"/>
              <a:t>] + "&lt;</a:t>
            </a:r>
            <a:r>
              <a:rPr lang="en-US" dirty="0" err="1"/>
              <a:t>br</a:t>
            </a:r>
            <a:r>
              <a:rPr lang="en-US" dirty="0"/>
              <a:t>&gt;";</a:t>
            </a:r>
          </a:p>
          <a:p>
            <a:pPr marL="400050" lvl="1" indent="0">
              <a:buNone/>
            </a:pPr>
            <a:r>
              <a:rPr lang="en-US" dirty="0"/>
              <a:t>}</a:t>
            </a:r>
          </a:p>
          <a:p>
            <a:pPr marL="400050" lvl="1" indent="0">
              <a:buNone/>
            </a:pPr>
            <a:endParaRPr lang="en-US" dirty="0"/>
          </a:p>
          <a:p>
            <a:pPr marL="400050" lvl="1" indent="0">
              <a:buNone/>
            </a:pPr>
            <a:r>
              <a:rPr lang="en-US" dirty="0" err="1"/>
              <a:t>document.getElementById</a:t>
            </a:r>
            <a:r>
              <a:rPr lang="en-US" dirty="0"/>
              <a:t>("demo").</a:t>
            </a:r>
            <a:r>
              <a:rPr lang="en-US" dirty="0" err="1"/>
              <a:t>innerHTML</a:t>
            </a:r>
            <a:r>
              <a:rPr lang="en-US" dirty="0"/>
              <a:t> = text;</a:t>
            </a:r>
          </a:p>
          <a:p>
            <a:pPr marL="400050" lvl="1" indent="0">
              <a:buNone/>
            </a:pPr>
            <a:r>
              <a:rPr lang="en-US" dirty="0"/>
              <a:t>&lt;/script&gt;</a:t>
            </a:r>
          </a:p>
        </p:txBody>
      </p:sp>
    </p:spTree>
    <p:extLst>
      <p:ext uri="{BB962C8B-B14F-4D97-AF65-F5344CB8AC3E}">
        <p14:creationId xmlns:p14="http://schemas.microsoft.com/office/powerpoint/2010/main" val="2951102183"/>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2225"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1141CE61-498D-4B49-B50E-6D000B6B8C40}" type="slidenum">
              <a:rPr lang="en-US" sz="1400">
                <a:solidFill>
                  <a:srgbClr val="FFFFFF"/>
                </a:solidFill>
              </a:rPr>
              <a:pPr algn="r">
                <a:buClrTx/>
                <a:buFontTx/>
                <a:buNone/>
              </a:pPr>
              <a:t>67</a:t>
            </a:fld>
            <a:endParaRPr lang="en-US" sz="1400">
              <a:solidFill>
                <a:srgbClr val="FFFFFF"/>
              </a:solidFill>
            </a:endParaRPr>
          </a:p>
        </p:txBody>
      </p:sp>
      <p:sp>
        <p:nvSpPr>
          <p:cNvPr id="52226" name="Text Box 2"/>
          <p:cNvSpPr txBox="1">
            <a:spLocks noChangeArrowheads="1"/>
          </p:cNvSpPr>
          <p:nvPr/>
        </p:nvSpPr>
        <p:spPr bwMode="auto">
          <a:xfrm>
            <a:off x="4495801" y="2289175"/>
            <a:ext cx="2270125" cy="543027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spAutoFit/>
          </a:bodyP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nSpc>
                <a:spcPct val="40000"/>
              </a:lnSpc>
              <a:buClrTx/>
              <a:buFontTx/>
              <a:buNone/>
            </a:pPr>
            <a:r>
              <a:rPr lang="en-US" sz="70000" b="1">
                <a:solidFill>
                  <a:srgbClr val="FFFF99"/>
                </a:solidFill>
                <a:latin typeface="Times New Roman" panose="02020603050405020304" pitchFamily="18" charset="0"/>
              </a:rPr>
              <a:t>?</a:t>
            </a:r>
          </a:p>
        </p:txBody>
      </p:sp>
      <p:sp>
        <p:nvSpPr>
          <p:cNvPr id="52227" name="Text Box 3"/>
          <p:cNvSpPr txBox="1">
            <a:spLocks noChangeArrowheads="1"/>
          </p:cNvSpPr>
          <p:nvPr/>
        </p:nvSpPr>
        <p:spPr bwMode="auto">
          <a:xfrm>
            <a:off x="1524000" y="2514600"/>
            <a:ext cx="91440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9200" b="1">
                <a:solidFill>
                  <a:srgbClr val="FF9900"/>
                </a:solidFill>
                <a:effectLst>
                  <a:outerShdw blurRad="38100" dist="38100" dir="2700000" algn="tl">
                    <a:srgbClr val="000000"/>
                  </a:outerShdw>
                </a:effectLst>
              </a:rPr>
              <a:t>for </a:t>
            </a:r>
            <a:br>
              <a:rPr lang="en-US" sz="9200" b="1">
                <a:solidFill>
                  <a:srgbClr val="FF9900"/>
                </a:solidFill>
                <a:effectLst>
                  <a:outerShdw blurRad="38100" dist="38100" dir="2700000" algn="tl">
                    <a:srgbClr val="000000"/>
                  </a:outerShdw>
                </a:effectLst>
              </a:rPr>
            </a:br>
            <a:br>
              <a:rPr lang="en-US" sz="9200" b="1">
                <a:solidFill>
                  <a:srgbClr val="FF9900"/>
                </a:solidFill>
                <a:effectLst>
                  <a:outerShdw blurRad="38100" dist="38100" dir="2700000" algn="tl">
                    <a:srgbClr val="000000"/>
                  </a:outerShdw>
                </a:effectLst>
              </a:rPr>
            </a:br>
            <a:r>
              <a:rPr lang="en-US" sz="9200" b="1">
                <a:solidFill>
                  <a:srgbClr val="FF9900"/>
                </a:solidFill>
                <a:effectLst>
                  <a:outerShdw blurRad="38100" dist="38100" dir="2700000" algn="tl">
                    <a:srgbClr val="000000"/>
                  </a:outerShdw>
                </a:effectLst>
              </a:rPr>
              <a:t>while</a:t>
            </a:r>
          </a:p>
        </p:txBody>
      </p:sp>
    </p:spTree>
    <p:extLst>
      <p:ext uri="{BB962C8B-B14F-4D97-AF65-F5344CB8AC3E}">
        <p14:creationId xmlns:p14="http://schemas.microsoft.com/office/powerpoint/2010/main" val="1001615075"/>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49"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F622DB3E-6903-49D7-954C-60C4504D8AF7}" type="slidenum">
              <a:rPr lang="en-US" sz="1400">
                <a:solidFill>
                  <a:srgbClr val="FFFFFF"/>
                </a:solidFill>
              </a:rPr>
              <a:pPr algn="r">
                <a:buClrTx/>
                <a:buFontTx/>
                <a:buNone/>
              </a:pPr>
              <a:t>68</a:t>
            </a:fld>
            <a:endParaRPr lang="en-US" sz="1400">
              <a:solidFill>
                <a:srgbClr val="FFFFFF"/>
              </a:solidFill>
            </a:endParaRPr>
          </a:p>
        </p:txBody>
      </p:sp>
      <p:sp>
        <p:nvSpPr>
          <p:cNvPr id="53250" name="Text Box 2"/>
          <p:cNvSpPr txBox="1">
            <a:spLocks noChangeArrowheads="1"/>
          </p:cNvSpPr>
          <p:nvPr/>
        </p:nvSpPr>
        <p:spPr bwMode="auto">
          <a:xfrm>
            <a:off x="2209800" y="364364"/>
            <a:ext cx="7772400" cy="11430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ctr">
              <a:buClrTx/>
              <a:buFontTx/>
              <a:buNone/>
            </a:pPr>
            <a:r>
              <a:rPr lang="en-US" sz="4400" dirty="0">
                <a:solidFill>
                  <a:schemeClr val="tx1"/>
                </a:solidFill>
              </a:rPr>
              <a:t>for --?-- while</a:t>
            </a:r>
          </a:p>
        </p:txBody>
      </p:sp>
      <p:sp>
        <p:nvSpPr>
          <p:cNvPr id="53251" name="Text Box 3"/>
          <p:cNvSpPr txBox="1">
            <a:spLocks noChangeArrowheads="1"/>
          </p:cNvSpPr>
          <p:nvPr/>
        </p:nvSpPr>
        <p:spPr bwMode="auto">
          <a:xfrm>
            <a:off x="2209800" y="1534732"/>
            <a:ext cx="7772400" cy="41148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lstStyle>
            <a:lvl1pPr marL="342900" indent="-34290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spcBef>
                <a:spcPts val="813"/>
              </a:spcBef>
              <a:buClr>
                <a:srgbClr val="FFFFFF"/>
              </a:buClr>
              <a:buFont typeface="Arial" panose="020B0604020202020204" pitchFamily="34" charset="0"/>
              <a:buChar char="•"/>
            </a:pPr>
            <a:r>
              <a:rPr lang="en-US" sz="3200" dirty="0">
                <a:solidFill>
                  <a:schemeClr val="tx1"/>
                </a:solidFill>
              </a:rPr>
              <a:t>When the exact number of iterations is known, use the ‘for’ loop</a:t>
            </a:r>
          </a:p>
          <a:p>
            <a:pPr>
              <a:spcBef>
                <a:spcPts val="813"/>
              </a:spcBef>
              <a:buClr>
                <a:srgbClr val="FFFFFF"/>
              </a:buClr>
            </a:pPr>
            <a:endParaRPr lang="en-US" sz="3200" dirty="0">
              <a:solidFill>
                <a:schemeClr val="tx1"/>
              </a:solidFill>
            </a:endParaRPr>
          </a:p>
          <a:p>
            <a:pPr>
              <a:spcBef>
                <a:spcPts val="813"/>
              </a:spcBef>
              <a:buClr>
                <a:srgbClr val="FFFFFF"/>
              </a:buClr>
              <a:buFont typeface="Arial" panose="020B0604020202020204" pitchFamily="34" charset="0"/>
              <a:buChar char="•"/>
            </a:pPr>
            <a:r>
              <a:rPr lang="en-US" sz="3200" dirty="0">
                <a:solidFill>
                  <a:schemeClr val="tx1"/>
                </a:solidFill>
              </a:rPr>
              <a:t>When the number of iterations depend upon a condition being met, use the ‘while’ loop</a:t>
            </a:r>
          </a:p>
        </p:txBody>
      </p:sp>
    </p:spTree>
    <p:extLst>
      <p:ext uri="{BB962C8B-B14F-4D97-AF65-F5344CB8AC3E}">
        <p14:creationId xmlns:p14="http://schemas.microsoft.com/office/powerpoint/2010/main" val="3400366727"/>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3" name="Text Box 1"/>
          <p:cNvSpPr txBox="1">
            <a:spLocks noChangeArrowheads="1"/>
          </p:cNvSpPr>
          <p:nvPr/>
        </p:nvSpPr>
        <p:spPr bwMode="auto">
          <a:xfrm>
            <a:off x="7696200" y="6248400"/>
            <a:ext cx="1905000" cy="4572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lIns="90000" tIns="46800" rIns="90000" bIns="46800"/>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lgn="r">
              <a:buClrTx/>
              <a:buFontTx/>
              <a:buNone/>
            </a:pPr>
            <a:fld id="{5D7D87EF-5F2D-4640-87EE-BE80B8B37DCF}" type="slidenum">
              <a:rPr lang="en-US" sz="1400">
                <a:solidFill>
                  <a:srgbClr val="FFFFFF"/>
                </a:solidFill>
              </a:rPr>
              <a:pPr algn="r">
                <a:buClrTx/>
                <a:buFontTx/>
                <a:buNone/>
              </a:pPr>
              <a:t>69</a:t>
            </a:fld>
            <a:endParaRPr lang="en-US" sz="1400">
              <a:solidFill>
                <a:srgbClr val="FFFFFF"/>
              </a:solidFill>
            </a:endParaRPr>
          </a:p>
        </p:txBody>
      </p:sp>
      <p:sp>
        <p:nvSpPr>
          <p:cNvPr id="54274" name="Text Box 2"/>
          <p:cNvSpPr txBox="1">
            <a:spLocks noChangeArrowheads="1"/>
          </p:cNvSpPr>
          <p:nvPr/>
        </p:nvSpPr>
        <p:spPr bwMode="auto">
          <a:xfrm>
            <a:off x="2209800" y="1219200"/>
            <a:ext cx="7772400" cy="40386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cap="flat">
                <a:solidFill>
                  <a:srgbClr val="3465A4"/>
                </a:solidFill>
                <a:round/>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txBody>
          <a:bodyPr anchor="ctr"/>
          <a:lstStyle>
            <a:lvl1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1pPr>
            <a:lvl2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2pPr>
            <a:lvl3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3pPr>
            <a:lvl4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4pPr>
            <a:lvl5pPr>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5pPr>
            <a:lvl6pPr marL="25146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6pPr>
            <a:lvl7pPr marL="29718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7pPr>
            <a:lvl8pPr marL="34290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8pPr>
            <a:lvl9pPr marL="3886200" indent="-228600" defTabSz="457200" eaLnBrk="0" fontAlgn="base" hangingPunct="0">
              <a:spcBef>
                <a:spcPts val="13"/>
              </a:spcBef>
              <a:spcAft>
                <a:spcPts val="13"/>
              </a:spcAft>
              <a:buClr>
                <a:srgbClr val="000000"/>
              </a:buClr>
              <a:buSzPct val="100000"/>
              <a:buFont typeface="Times New Roman" panose="02020603050405020304" pitchFamily="18" charset="0"/>
              <a:tabLst>
                <a:tab pos="0" algn="l"/>
                <a:tab pos="914400" algn="l"/>
                <a:tab pos="1828800" algn="l"/>
                <a:tab pos="2743200" algn="l"/>
                <a:tab pos="3657600" algn="l"/>
                <a:tab pos="4572000" algn="l"/>
                <a:tab pos="5486400" algn="l"/>
                <a:tab pos="6400800" algn="l"/>
                <a:tab pos="7315200" algn="l"/>
                <a:tab pos="8229600" algn="l"/>
                <a:tab pos="9144000" algn="l"/>
                <a:tab pos="10058400" algn="l"/>
              </a:tabLst>
              <a:defRPr sz="2800">
                <a:solidFill>
                  <a:srgbClr val="000000"/>
                </a:solidFill>
                <a:latin typeface="Arial" panose="020B0604020202020204" pitchFamily="34" charset="0"/>
                <a:ea typeface="AR PL SungtiL GB" charset="0"/>
                <a:cs typeface="AR PL SungtiL GB" charset="0"/>
              </a:defRPr>
            </a:lvl9pPr>
          </a:lstStyle>
          <a:p>
            <a:pPr>
              <a:buClrTx/>
              <a:buFontTx/>
              <a:buNone/>
            </a:pPr>
            <a:r>
              <a:rPr lang="en-US" sz="3600" dirty="0">
                <a:solidFill>
                  <a:schemeClr val="tx1"/>
                </a:solidFill>
              </a:rPr>
              <a:t>‘for’ loops become especially useful when used in conjunction with arrays</a:t>
            </a:r>
            <a:br>
              <a:rPr lang="en-US" sz="3600" dirty="0">
                <a:solidFill>
                  <a:schemeClr val="tx1"/>
                </a:solidFill>
              </a:rPr>
            </a:br>
            <a:br>
              <a:rPr lang="en-US" sz="3600" dirty="0">
                <a:solidFill>
                  <a:schemeClr val="tx1"/>
                </a:solidFill>
              </a:rPr>
            </a:br>
            <a:r>
              <a:rPr lang="en-US" sz="3600" dirty="0">
                <a:solidFill>
                  <a:schemeClr val="tx1"/>
                </a:solidFill>
              </a:rPr>
              <a:t>We’ll find out about arrays next time, and we’ll probe their usefulness as part of ‘for’ loop structures</a:t>
            </a:r>
          </a:p>
        </p:txBody>
      </p:sp>
    </p:spTree>
    <p:extLst>
      <p:ext uri="{BB962C8B-B14F-4D97-AF65-F5344CB8AC3E}">
        <p14:creationId xmlns:p14="http://schemas.microsoft.com/office/powerpoint/2010/main" val="1206641660"/>
      </p:ext>
    </p:extLst>
  </p:cSld>
  <p:clrMapOvr>
    <a:masterClrMapping/>
  </p:clrMapOvr>
  <p:transition>
    <p:randomBar dir="vert"/>
  </p:transition>
  <p:timing>
    <p:tnLst>
      <p:par>
        <p:cTn id="1" dur="indefinite" restart="never" nodeType="tmRoot">
          <p:childTnLst>
            <p:seq concurrent="1" nextAc="seek">
              <p:cTn id="2" dur="0" nodeType="mainSeq"/>
              <p:prevCondLst>
                <p:cond evt="onPrev" delay="0">
                  <p:tgtEl>
                    <p:sldTgt/>
                  </p:tgtEl>
                </p:cond>
              </p:prevCondLst>
              <p:nextCondLst>
                <p:cond evt="onNext" delay="0">
                  <p:tgtEl>
                    <p:sldTgt/>
                  </p:tgtEl>
                </p:cond>
              </p:nextCondLst>
            </p:seq>
          </p:childTnLst>
        </p:cTn>
      </p:par>
    </p:tnLst>
  </p:timing>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2209800" y="1600201"/>
            <a:ext cx="7772400" cy="2000250"/>
          </a:xfrm>
        </p:spPr>
        <p:txBody>
          <a:bodyPr/>
          <a:lstStyle/>
          <a:p>
            <a:r>
              <a:rPr lang="en-US" dirty="0"/>
              <a:t>Java script Basics </a:t>
            </a:r>
            <a:r>
              <a:rPr lang="en-US" dirty="0" err="1"/>
              <a:t>cont</a:t>
            </a:r>
            <a:r>
              <a:rPr lang="en-US" dirty="0"/>
              <a:t>…</a:t>
            </a:r>
            <a:endParaRPr lang="en-US" sz="2400" dirty="0"/>
          </a:p>
        </p:txBody>
      </p:sp>
      <p:sp>
        <p:nvSpPr>
          <p:cNvPr id="3" name="Subtitle 2"/>
          <p:cNvSpPr>
            <a:spLocks noGrp="1"/>
          </p:cNvSpPr>
          <p:nvPr>
            <p:ph type="subTitle" idx="1"/>
          </p:nvPr>
        </p:nvSpPr>
        <p:spPr/>
        <p:txBody>
          <a:bodyPr/>
          <a:lstStyle/>
          <a:p>
            <a:endParaRPr lang="en-US" dirty="0"/>
          </a:p>
        </p:txBody>
      </p:sp>
    </p:spTree>
    <p:extLst>
      <p:ext uri="{BB962C8B-B14F-4D97-AF65-F5344CB8AC3E}">
        <p14:creationId xmlns:p14="http://schemas.microsoft.com/office/powerpoint/2010/main" val="3939499560"/>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Functions in JavaScript</a:t>
            </a:r>
          </a:p>
        </p:txBody>
      </p:sp>
      <p:sp>
        <p:nvSpPr>
          <p:cNvPr id="3" name="Content Placeholder 2"/>
          <p:cNvSpPr>
            <a:spLocks noGrp="1"/>
          </p:cNvSpPr>
          <p:nvPr>
            <p:ph idx="1"/>
          </p:nvPr>
        </p:nvSpPr>
        <p:spPr/>
        <p:txBody>
          <a:bodyPr/>
          <a:lstStyle/>
          <a:p>
            <a:r>
              <a:rPr lang="en-US" dirty="0"/>
              <a:t>A JavaScript function is a </a:t>
            </a:r>
            <a:r>
              <a:rPr lang="en-US" dirty="0">
                <a:solidFill>
                  <a:srgbClr val="FF0000"/>
                </a:solidFill>
              </a:rPr>
              <a:t>block of code </a:t>
            </a:r>
            <a:r>
              <a:rPr lang="en-US" dirty="0"/>
              <a:t>designed to </a:t>
            </a:r>
            <a:r>
              <a:rPr lang="en-US" dirty="0">
                <a:solidFill>
                  <a:srgbClr val="FF0000"/>
                </a:solidFill>
              </a:rPr>
              <a:t>perform a particular task.</a:t>
            </a:r>
          </a:p>
          <a:p>
            <a:r>
              <a:rPr lang="en-US" dirty="0"/>
              <a:t>A JavaScript function is executed when "something"</a:t>
            </a:r>
            <a:r>
              <a:rPr lang="en-US" dirty="0">
                <a:solidFill>
                  <a:srgbClr val="FF0000"/>
                </a:solidFill>
              </a:rPr>
              <a:t> invokes it </a:t>
            </a:r>
            <a:r>
              <a:rPr lang="en-US" dirty="0"/>
              <a:t>(calls it).</a:t>
            </a:r>
          </a:p>
        </p:txBody>
      </p:sp>
    </p:spTree>
    <p:extLst>
      <p:ext uri="{BB962C8B-B14F-4D97-AF65-F5344CB8AC3E}">
        <p14:creationId xmlns:p14="http://schemas.microsoft.com/office/powerpoint/2010/main" val="2897417104"/>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Why use Functions </a:t>
            </a:r>
          </a:p>
        </p:txBody>
      </p:sp>
      <p:sp>
        <p:nvSpPr>
          <p:cNvPr id="3" name="Content Placeholder 2"/>
          <p:cNvSpPr>
            <a:spLocks noGrp="1"/>
          </p:cNvSpPr>
          <p:nvPr>
            <p:ph idx="1"/>
          </p:nvPr>
        </p:nvSpPr>
        <p:spPr/>
        <p:txBody>
          <a:bodyPr/>
          <a:lstStyle/>
          <a:p>
            <a:r>
              <a:rPr lang="en-US" dirty="0"/>
              <a:t>You can reuse code( Define the code once, and use it many times).</a:t>
            </a:r>
          </a:p>
          <a:p>
            <a:r>
              <a:rPr lang="en-US" dirty="0"/>
              <a:t>You can use the same code many times with different arguments, to produce different results.</a:t>
            </a:r>
          </a:p>
        </p:txBody>
      </p:sp>
    </p:spTree>
    <p:extLst>
      <p:ext uri="{BB962C8B-B14F-4D97-AF65-F5344CB8AC3E}">
        <p14:creationId xmlns:p14="http://schemas.microsoft.com/office/powerpoint/2010/main" val="1755994245"/>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Function</a:t>
            </a:r>
            <a:endParaRPr lang="en-GB" dirty="0"/>
          </a:p>
        </p:txBody>
      </p:sp>
      <p:sp>
        <p:nvSpPr>
          <p:cNvPr id="3" name="Content Placeholder 2"/>
          <p:cNvSpPr>
            <a:spLocks noGrp="1"/>
          </p:cNvSpPr>
          <p:nvPr>
            <p:ph idx="1"/>
          </p:nvPr>
        </p:nvSpPr>
        <p:spPr/>
        <p:txBody>
          <a:bodyPr>
            <a:normAutofit fontScale="92500" lnSpcReduction="10000"/>
          </a:bodyPr>
          <a:lstStyle/>
          <a:p>
            <a:pPr marL="0" indent="0">
              <a:buNone/>
            </a:pPr>
            <a:r>
              <a:rPr lang="en-US" dirty="0"/>
              <a:t>A JavaScript function is defined with the function keyword, followed by a </a:t>
            </a:r>
            <a:r>
              <a:rPr lang="en-US" b="1" dirty="0"/>
              <a:t>name</a:t>
            </a:r>
            <a:r>
              <a:rPr lang="en-US" dirty="0"/>
              <a:t>, followed by parentheses </a:t>
            </a:r>
            <a:r>
              <a:rPr lang="en-US" b="1" dirty="0"/>
              <a:t>()</a:t>
            </a:r>
            <a:r>
              <a:rPr lang="en-US" dirty="0"/>
              <a:t>. </a:t>
            </a:r>
          </a:p>
          <a:p>
            <a:r>
              <a:rPr lang="en-US" dirty="0"/>
              <a:t>Syntax</a:t>
            </a:r>
          </a:p>
          <a:p>
            <a:pPr lvl="1"/>
            <a:r>
              <a:rPr lang="en-US" dirty="0">
                <a:solidFill>
                  <a:srgbClr val="FF0000"/>
                </a:solidFill>
              </a:rPr>
              <a:t>function </a:t>
            </a:r>
            <a:r>
              <a:rPr lang="en-US" i="1" dirty="0">
                <a:solidFill>
                  <a:srgbClr val="FF0000"/>
                </a:solidFill>
              </a:rPr>
              <a:t>name</a:t>
            </a:r>
            <a:r>
              <a:rPr lang="en-US" dirty="0">
                <a:solidFill>
                  <a:srgbClr val="FF0000"/>
                </a:solidFill>
              </a:rPr>
              <a:t>(</a:t>
            </a:r>
            <a:r>
              <a:rPr lang="en-US" i="1" dirty="0">
                <a:solidFill>
                  <a:srgbClr val="FF0000"/>
                </a:solidFill>
              </a:rPr>
              <a:t>parameter1, parameter2, parameter3</a:t>
            </a:r>
            <a:r>
              <a:rPr lang="en-US" dirty="0">
                <a:solidFill>
                  <a:srgbClr val="FF0000"/>
                </a:solidFill>
              </a:rPr>
              <a:t>) {</a:t>
            </a:r>
            <a:br>
              <a:rPr lang="en-US" dirty="0">
                <a:solidFill>
                  <a:srgbClr val="FF0000"/>
                </a:solidFill>
              </a:rPr>
            </a:br>
            <a:r>
              <a:rPr lang="en-US" dirty="0">
                <a:solidFill>
                  <a:srgbClr val="FF0000"/>
                </a:solidFill>
              </a:rPr>
              <a:t>  // </a:t>
            </a:r>
            <a:r>
              <a:rPr lang="en-US" i="1" dirty="0">
                <a:solidFill>
                  <a:srgbClr val="FF0000"/>
                </a:solidFill>
              </a:rPr>
              <a:t>code to be executed</a:t>
            </a:r>
            <a:br>
              <a:rPr lang="en-US" dirty="0">
                <a:solidFill>
                  <a:srgbClr val="FF0000"/>
                </a:solidFill>
              </a:rPr>
            </a:br>
            <a:r>
              <a:rPr lang="en-US" dirty="0">
                <a:solidFill>
                  <a:srgbClr val="FF0000"/>
                </a:solidFill>
              </a:rPr>
              <a:t>}</a:t>
            </a:r>
            <a:endParaRPr lang="en-US" dirty="0"/>
          </a:p>
          <a:p>
            <a:pPr marL="0" indent="0">
              <a:buNone/>
            </a:pPr>
            <a:endParaRPr lang="en-US" dirty="0"/>
          </a:p>
          <a:p>
            <a:pPr marL="0" indent="0">
              <a:buNone/>
            </a:pPr>
            <a:r>
              <a:rPr lang="en-US" dirty="0"/>
              <a:t>Function in JavaScript can be declared as</a:t>
            </a:r>
          </a:p>
          <a:p>
            <a:pPr>
              <a:buFont typeface="Symbol"/>
              <a:buChar char="Þ"/>
            </a:pPr>
            <a:r>
              <a:rPr lang="en-US" dirty="0"/>
              <a:t>function </a:t>
            </a:r>
            <a:r>
              <a:rPr lang="en-US" dirty="0" err="1"/>
              <a:t>functionName</a:t>
            </a:r>
            <a:r>
              <a:rPr lang="en-US" dirty="0"/>
              <a:t>() {}		//named function</a:t>
            </a:r>
          </a:p>
          <a:p>
            <a:pPr>
              <a:buFont typeface="Symbol"/>
              <a:buChar char="Þ"/>
            </a:pPr>
            <a:r>
              <a:rPr lang="en-US" dirty="0" err="1"/>
              <a:t>const</a:t>
            </a:r>
            <a:r>
              <a:rPr lang="en-US" dirty="0"/>
              <a:t> </a:t>
            </a:r>
            <a:r>
              <a:rPr lang="en-US" dirty="0" err="1"/>
              <a:t>functionName</a:t>
            </a:r>
            <a:r>
              <a:rPr lang="en-US" dirty="0"/>
              <a:t> = function(){}	//anonymous function</a:t>
            </a:r>
          </a:p>
          <a:p>
            <a:pPr>
              <a:buFont typeface="Symbol"/>
              <a:buChar char="Þ"/>
            </a:pPr>
            <a:r>
              <a:rPr lang="en-US" dirty="0" err="1"/>
              <a:t>const</a:t>
            </a:r>
            <a:r>
              <a:rPr lang="en-US" dirty="0"/>
              <a:t> </a:t>
            </a:r>
            <a:r>
              <a:rPr lang="en-US" dirty="0" err="1"/>
              <a:t>functionName</a:t>
            </a:r>
            <a:r>
              <a:rPr lang="en-US" dirty="0"/>
              <a:t> = () =&gt;{}		//arrow function</a:t>
            </a:r>
          </a:p>
          <a:p>
            <a:pPr marL="0" indent="0">
              <a:buNone/>
            </a:pPr>
            <a:endParaRPr lang="en-US"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7639050" y="3429000"/>
            <a:ext cx="2208810" cy="923330"/>
          </a:xfrm>
          <a:prstGeom prst="rect">
            <a:avLst/>
          </a:prstGeom>
          <a:noFill/>
        </p:spPr>
        <p:txBody>
          <a:bodyPr wrap="none" rtlCol="0">
            <a:spAutoFit/>
          </a:bodyPr>
          <a:lstStyle/>
          <a:p>
            <a:r>
              <a:rPr lang="en-US" sz="1350" dirty="0">
                <a:solidFill>
                  <a:srgbClr val="FF0000"/>
                </a:solidFill>
              </a:rPr>
              <a:t>function multiply(a, b = 1) { </a:t>
            </a:r>
          </a:p>
          <a:p>
            <a:r>
              <a:rPr lang="en-US" sz="1350" dirty="0">
                <a:solidFill>
                  <a:srgbClr val="FF0000"/>
                </a:solidFill>
              </a:rPr>
              <a:t>	return a * b; </a:t>
            </a:r>
          </a:p>
          <a:p>
            <a:r>
              <a:rPr lang="en-US" sz="1350" dirty="0">
                <a:solidFill>
                  <a:srgbClr val="FF0000"/>
                </a:solidFill>
              </a:rPr>
              <a:t>} </a:t>
            </a:r>
          </a:p>
          <a:p>
            <a:r>
              <a:rPr lang="en-US" sz="1350" dirty="0">
                <a:solidFill>
                  <a:srgbClr val="FF0000"/>
                </a:solidFill>
              </a:rPr>
              <a:t>multiply(5); </a:t>
            </a:r>
            <a:endParaRPr lang="en-GB" sz="1350" dirty="0">
              <a:solidFill>
                <a:srgbClr val="FF0000"/>
              </a:solidFill>
            </a:endParaRPr>
          </a:p>
        </p:txBody>
      </p:sp>
    </p:spTree>
    <p:extLst>
      <p:ext uri="{BB962C8B-B14F-4D97-AF65-F5344CB8AC3E}">
        <p14:creationId xmlns:p14="http://schemas.microsoft.com/office/powerpoint/2010/main" val="2971434657"/>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a:t>Functions in JS examples</a:t>
            </a:r>
          </a:p>
        </p:txBody>
      </p:sp>
      <p:sp>
        <p:nvSpPr>
          <p:cNvPr id="3" name="Content Placeholder 2"/>
          <p:cNvSpPr>
            <a:spLocks noGrp="1"/>
          </p:cNvSpPr>
          <p:nvPr>
            <p:ph idx="1"/>
          </p:nvPr>
        </p:nvSpPr>
        <p:spPr>
          <a:xfrm>
            <a:off x="1981200" y="1219200"/>
            <a:ext cx="8229600" cy="5105400"/>
          </a:xfrm>
        </p:spPr>
        <p:txBody>
          <a:bodyPr>
            <a:noAutofit/>
          </a:bodyPr>
          <a:lstStyle/>
          <a:p>
            <a:r>
              <a:rPr lang="en-US" sz="2600" dirty="0">
                <a:solidFill>
                  <a:srgbClr val="FF0000"/>
                </a:solidFill>
              </a:rPr>
              <a:t>function </a:t>
            </a:r>
            <a:r>
              <a:rPr lang="en-US" sz="2600" dirty="0" err="1">
                <a:solidFill>
                  <a:srgbClr val="FF0000"/>
                </a:solidFill>
              </a:rPr>
              <a:t>myFunction</a:t>
            </a:r>
            <a:r>
              <a:rPr lang="en-US" sz="2600" dirty="0">
                <a:solidFill>
                  <a:srgbClr val="FF0000"/>
                </a:solidFill>
              </a:rPr>
              <a:t>(p1, p2) {</a:t>
            </a:r>
          </a:p>
          <a:p>
            <a:pPr marL="0" indent="0">
              <a:buNone/>
            </a:pPr>
            <a:r>
              <a:rPr lang="en-US" sz="2600" dirty="0">
                <a:solidFill>
                  <a:srgbClr val="FF0000"/>
                </a:solidFill>
              </a:rPr>
              <a:t>  return p1 * p2;</a:t>
            </a:r>
          </a:p>
          <a:p>
            <a:pPr marL="0" indent="0">
              <a:buNone/>
            </a:pPr>
            <a:r>
              <a:rPr lang="en-US" sz="2600" dirty="0">
                <a:solidFill>
                  <a:srgbClr val="FF0000"/>
                </a:solidFill>
              </a:rPr>
              <a:t>}</a:t>
            </a:r>
          </a:p>
          <a:p>
            <a:pPr marL="0" indent="0">
              <a:buNone/>
            </a:pPr>
            <a:r>
              <a:rPr lang="en-US" sz="2600" dirty="0" err="1">
                <a:solidFill>
                  <a:srgbClr val="FF0000"/>
                </a:solidFill>
              </a:rPr>
              <a:t>document.getElementById</a:t>
            </a:r>
            <a:r>
              <a:rPr lang="en-US" sz="2600" dirty="0">
                <a:solidFill>
                  <a:srgbClr val="FF0000"/>
                </a:solidFill>
              </a:rPr>
              <a:t>("demo").</a:t>
            </a:r>
            <a:r>
              <a:rPr lang="en-US" sz="2600" dirty="0" err="1">
                <a:solidFill>
                  <a:srgbClr val="FF0000"/>
                </a:solidFill>
              </a:rPr>
              <a:t>innerHTML</a:t>
            </a:r>
            <a:r>
              <a:rPr lang="en-US" sz="2600" dirty="0">
                <a:solidFill>
                  <a:srgbClr val="FF0000"/>
                </a:solidFill>
              </a:rPr>
              <a:t> = </a:t>
            </a:r>
            <a:r>
              <a:rPr lang="en-US" sz="2600" dirty="0" err="1">
                <a:solidFill>
                  <a:srgbClr val="FF0000"/>
                </a:solidFill>
              </a:rPr>
              <a:t>myFunction</a:t>
            </a:r>
            <a:r>
              <a:rPr lang="en-US" sz="2600" dirty="0">
                <a:solidFill>
                  <a:srgbClr val="FF0000"/>
                </a:solidFill>
              </a:rPr>
              <a:t>(4, 3);</a:t>
            </a:r>
          </a:p>
          <a:p>
            <a:pPr marL="0" indent="0">
              <a:buNone/>
            </a:pPr>
            <a:r>
              <a:rPr lang="en-US" sz="2600" dirty="0"/>
              <a:t>Another example</a:t>
            </a:r>
          </a:p>
          <a:p>
            <a:r>
              <a:rPr lang="en-US" sz="2600" dirty="0" err="1"/>
              <a:t>var</a:t>
            </a:r>
            <a:r>
              <a:rPr lang="en-US" sz="2600" dirty="0"/>
              <a:t> x = </a:t>
            </a:r>
            <a:r>
              <a:rPr lang="en-US" sz="2600" dirty="0" err="1"/>
              <a:t>myFunction</a:t>
            </a:r>
            <a:r>
              <a:rPr lang="en-US" sz="2600" dirty="0"/>
              <a:t>(4, 3);</a:t>
            </a:r>
          </a:p>
          <a:p>
            <a:pPr marL="0" indent="0">
              <a:buNone/>
            </a:pPr>
            <a:r>
              <a:rPr lang="en-US" sz="2600" dirty="0" err="1"/>
              <a:t>document.getElementById</a:t>
            </a:r>
            <a:r>
              <a:rPr lang="en-US" sz="2600" dirty="0"/>
              <a:t>("demo").</a:t>
            </a:r>
            <a:r>
              <a:rPr lang="en-US" sz="2600" dirty="0" err="1"/>
              <a:t>innerHTML</a:t>
            </a:r>
            <a:r>
              <a:rPr lang="en-US" sz="2600" dirty="0"/>
              <a:t> = x;</a:t>
            </a:r>
          </a:p>
          <a:p>
            <a:pPr marL="0" indent="0">
              <a:buNone/>
            </a:pPr>
            <a:r>
              <a:rPr lang="en-US" sz="2600" dirty="0"/>
              <a:t>function </a:t>
            </a:r>
            <a:r>
              <a:rPr lang="en-US" sz="2600" dirty="0" err="1"/>
              <a:t>myFunction</a:t>
            </a:r>
            <a:r>
              <a:rPr lang="en-US" sz="2600" dirty="0"/>
              <a:t>(a, b) {</a:t>
            </a:r>
          </a:p>
          <a:p>
            <a:pPr marL="0" indent="0">
              <a:buNone/>
            </a:pPr>
            <a:r>
              <a:rPr lang="en-US" sz="2600" dirty="0"/>
              <a:t>  return a * b;</a:t>
            </a:r>
          </a:p>
          <a:p>
            <a:pPr marL="0" indent="0">
              <a:buNone/>
            </a:pPr>
            <a:r>
              <a:rPr lang="en-US" sz="2600" dirty="0"/>
              <a:t>}</a:t>
            </a:r>
          </a:p>
        </p:txBody>
      </p:sp>
    </p:spTree>
    <p:extLst>
      <p:ext uri="{BB962C8B-B14F-4D97-AF65-F5344CB8AC3E}">
        <p14:creationId xmlns:p14="http://schemas.microsoft.com/office/powerpoint/2010/main" val="3409932299"/>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Named Function</a:t>
            </a:r>
            <a:endParaRPr lang="en-GB" dirty="0"/>
          </a:p>
        </p:txBody>
      </p:sp>
      <p:sp>
        <p:nvSpPr>
          <p:cNvPr id="3" name="Content Placeholder 2"/>
          <p:cNvSpPr>
            <a:spLocks noGrp="1"/>
          </p:cNvSpPr>
          <p:nvPr>
            <p:ph idx="1"/>
          </p:nvPr>
        </p:nvSpPr>
        <p:spPr/>
        <p:txBody>
          <a:bodyPr/>
          <a:lstStyle/>
          <a:p>
            <a:pPr marL="0" indent="0">
              <a:buNone/>
            </a:pPr>
            <a:r>
              <a:rPr lang="en-US" dirty="0"/>
              <a:t>In JavaScript, you can declare a normal function using the keyword </a:t>
            </a:r>
            <a:r>
              <a:rPr lang="en-US" b="1" dirty="0"/>
              <a:t>function before function declaration</a:t>
            </a:r>
            <a:r>
              <a:rPr lang="en-US" dirty="0"/>
              <a:t>. </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6148754" y="4438936"/>
            <a:ext cx="2523961" cy="715581"/>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numbers = [0, 1, 2, 5, 10];</a:t>
            </a:r>
          </a:p>
          <a:p>
            <a:r>
              <a:rPr lang="en-GB" sz="1350" dirty="0" err="1">
                <a:solidFill>
                  <a:prstClr val="black"/>
                </a:solidFill>
              </a:rPr>
              <a:t>const</a:t>
            </a:r>
            <a:r>
              <a:rPr lang="en-GB" sz="1350" dirty="0">
                <a:solidFill>
                  <a:prstClr val="black"/>
                </a:solidFill>
              </a:rPr>
              <a:t> cube = map(f, numbers);</a:t>
            </a:r>
          </a:p>
          <a:p>
            <a:r>
              <a:rPr lang="en-GB" sz="1350" dirty="0">
                <a:solidFill>
                  <a:prstClr val="black"/>
                </a:solidFill>
              </a:rPr>
              <a:t>console.log(cube);</a:t>
            </a:r>
          </a:p>
        </p:txBody>
      </p:sp>
      <p:sp>
        <p:nvSpPr>
          <p:cNvPr id="6" name="TextBox 5"/>
          <p:cNvSpPr txBox="1"/>
          <p:nvPr/>
        </p:nvSpPr>
        <p:spPr>
          <a:xfrm>
            <a:off x="3132993" y="3053941"/>
            <a:ext cx="2794611" cy="1754326"/>
          </a:xfrm>
          <a:prstGeom prst="rect">
            <a:avLst/>
          </a:prstGeom>
          <a:noFill/>
        </p:spPr>
        <p:txBody>
          <a:bodyPr wrap="none" rtlCol="0">
            <a:spAutoFit/>
          </a:bodyPr>
          <a:lstStyle/>
          <a:p>
            <a:r>
              <a:rPr lang="en-GB" sz="1350" dirty="0">
                <a:solidFill>
                  <a:prstClr val="black"/>
                </a:solidFill>
              </a:rPr>
              <a:t>function map(f, a) {</a:t>
            </a:r>
          </a:p>
          <a:p>
            <a:r>
              <a:rPr lang="en-GB" sz="1350" dirty="0">
                <a:solidFill>
                  <a:prstClr val="black"/>
                </a:solidFill>
              </a:rPr>
              <a:t>  </a:t>
            </a:r>
            <a:r>
              <a:rPr lang="en-GB" sz="1350" dirty="0" err="1">
                <a:solidFill>
                  <a:prstClr val="black"/>
                </a:solidFill>
              </a:rPr>
              <a:t>const</a:t>
            </a:r>
            <a:r>
              <a:rPr lang="en-GB" sz="1350" dirty="0">
                <a:solidFill>
                  <a:prstClr val="black"/>
                </a:solidFill>
              </a:rPr>
              <a:t> result = new Array(</a:t>
            </a:r>
            <a:r>
              <a:rPr lang="en-GB" sz="1350" dirty="0" err="1">
                <a:solidFill>
                  <a:prstClr val="black"/>
                </a:solidFill>
              </a:rPr>
              <a:t>a.length</a:t>
            </a:r>
            <a:r>
              <a:rPr lang="en-GB" sz="1350" dirty="0">
                <a:solidFill>
                  <a:prstClr val="black"/>
                </a:solidFill>
              </a:rPr>
              <a:t>);</a:t>
            </a:r>
          </a:p>
          <a:p>
            <a:r>
              <a:rPr lang="en-GB" sz="1350" dirty="0">
                <a:solidFill>
                  <a:prstClr val="black"/>
                </a:solidFill>
              </a:rPr>
              <a:t>  for (let </a:t>
            </a:r>
            <a:r>
              <a:rPr lang="en-GB" sz="1350" dirty="0" err="1">
                <a:solidFill>
                  <a:prstClr val="black"/>
                </a:solidFill>
              </a:rPr>
              <a:t>i</a:t>
            </a:r>
            <a:r>
              <a:rPr lang="en-GB" sz="1350" dirty="0">
                <a:solidFill>
                  <a:prstClr val="black"/>
                </a:solidFill>
              </a:rPr>
              <a:t> = 0; </a:t>
            </a:r>
            <a:r>
              <a:rPr lang="en-GB" sz="1350" dirty="0" err="1">
                <a:solidFill>
                  <a:prstClr val="black"/>
                </a:solidFill>
              </a:rPr>
              <a:t>i</a:t>
            </a:r>
            <a:r>
              <a:rPr lang="en-GB" sz="1350" dirty="0">
                <a:solidFill>
                  <a:prstClr val="black"/>
                </a:solidFill>
              </a:rPr>
              <a:t> &lt; </a:t>
            </a:r>
            <a:r>
              <a:rPr lang="en-GB" sz="1350" dirty="0" err="1">
                <a:solidFill>
                  <a:prstClr val="black"/>
                </a:solidFill>
              </a:rPr>
              <a:t>a.length</a:t>
            </a:r>
            <a:r>
              <a:rPr lang="en-GB" sz="1350" dirty="0">
                <a:solidFill>
                  <a:prstClr val="black"/>
                </a:solidFill>
              </a:rPr>
              <a:t>; </a:t>
            </a:r>
            <a:r>
              <a:rPr lang="en-GB" sz="1350" dirty="0" err="1">
                <a:solidFill>
                  <a:prstClr val="black"/>
                </a:solidFill>
              </a:rPr>
              <a:t>i</a:t>
            </a:r>
            <a:r>
              <a:rPr lang="en-GB" sz="1350" dirty="0">
                <a:solidFill>
                  <a:prstClr val="black"/>
                </a:solidFill>
              </a:rPr>
              <a:t>++) {</a:t>
            </a:r>
          </a:p>
          <a:p>
            <a:r>
              <a:rPr lang="en-GB" sz="1350" dirty="0">
                <a:solidFill>
                  <a:prstClr val="black"/>
                </a:solidFill>
              </a:rPr>
              <a:t>    result[</a:t>
            </a:r>
            <a:r>
              <a:rPr lang="en-GB" sz="1350" dirty="0" err="1">
                <a:solidFill>
                  <a:prstClr val="black"/>
                </a:solidFill>
              </a:rPr>
              <a:t>i</a:t>
            </a:r>
            <a:r>
              <a:rPr lang="en-GB" sz="1350" dirty="0">
                <a:solidFill>
                  <a:prstClr val="black"/>
                </a:solidFill>
              </a:rPr>
              <a:t>] = f(a[</a:t>
            </a:r>
            <a:r>
              <a:rPr lang="en-GB" sz="1350" dirty="0" err="1">
                <a:solidFill>
                  <a:prstClr val="black"/>
                </a:solidFill>
              </a:rPr>
              <a:t>i</a:t>
            </a:r>
            <a:r>
              <a:rPr lang="en-GB" sz="1350" dirty="0">
                <a:solidFill>
                  <a:prstClr val="black"/>
                </a:solidFill>
              </a:rPr>
              <a:t>]);</a:t>
            </a:r>
          </a:p>
          <a:p>
            <a:r>
              <a:rPr lang="en-GB" sz="1350" dirty="0">
                <a:solidFill>
                  <a:prstClr val="black"/>
                </a:solidFill>
              </a:rPr>
              <a:t>  }</a:t>
            </a:r>
          </a:p>
          <a:p>
            <a:r>
              <a:rPr lang="en-GB" sz="1350" dirty="0">
                <a:solidFill>
                  <a:prstClr val="black"/>
                </a:solidFill>
              </a:rPr>
              <a:t>  return result;</a:t>
            </a:r>
          </a:p>
          <a:p>
            <a:r>
              <a:rPr lang="en-GB" sz="1350" dirty="0">
                <a:solidFill>
                  <a:prstClr val="black"/>
                </a:solidFill>
              </a:rPr>
              <a:t>}</a:t>
            </a:r>
          </a:p>
          <a:p>
            <a:endParaRPr lang="en-GB" sz="1350" dirty="0">
              <a:solidFill>
                <a:prstClr val="black"/>
              </a:solidFill>
            </a:endParaRPr>
          </a:p>
        </p:txBody>
      </p:sp>
      <p:sp>
        <p:nvSpPr>
          <p:cNvPr id="7" name="TextBox 6"/>
          <p:cNvSpPr txBox="1"/>
          <p:nvPr/>
        </p:nvSpPr>
        <p:spPr>
          <a:xfrm>
            <a:off x="6403732" y="3089110"/>
            <a:ext cx="1786643" cy="923330"/>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f = function (x) {</a:t>
            </a:r>
          </a:p>
          <a:p>
            <a:r>
              <a:rPr lang="en-GB" sz="1350" dirty="0">
                <a:solidFill>
                  <a:prstClr val="black"/>
                </a:solidFill>
              </a:rPr>
              <a:t>  return x * x * x;</a:t>
            </a:r>
          </a:p>
          <a:p>
            <a:r>
              <a:rPr lang="en-GB" sz="1350" dirty="0">
                <a:solidFill>
                  <a:prstClr val="black"/>
                </a:solidFill>
              </a:rPr>
              <a:t>};</a:t>
            </a:r>
          </a:p>
          <a:p>
            <a:endParaRPr lang="en-GB" sz="1350" dirty="0">
              <a:solidFill>
                <a:prstClr val="black"/>
              </a:solidFill>
            </a:endParaRPr>
          </a:p>
        </p:txBody>
      </p:sp>
    </p:spTree>
    <p:extLst>
      <p:ext uri="{BB962C8B-B14F-4D97-AF65-F5344CB8AC3E}">
        <p14:creationId xmlns:p14="http://schemas.microsoft.com/office/powerpoint/2010/main" val="3668187175"/>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Anonymous Function</a:t>
            </a:r>
            <a:endParaRPr lang="en-GB" dirty="0"/>
          </a:p>
        </p:txBody>
      </p:sp>
      <p:sp>
        <p:nvSpPr>
          <p:cNvPr id="3" name="Content Placeholder 2"/>
          <p:cNvSpPr>
            <a:spLocks noGrp="1"/>
          </p:cNvSpPr>
          <p:nvPr>
            <p:ph idx="1"/>
          </p:nvPr>
        </p:nvSpPr>
        <p:spPr>
          <a:xfrm>
            <a:off x="2152650" y="2035419"/>
            <a:ext cx="7886700" cy="3886200"/>
          </a:xfrm>
        </p:spPr>
        <p:txBody>
          <a:bodyPr>
            <a:normAutofit fontScale="85000" lnSpcReduction="20000"/>
          </a:bodyPr>
          <a:lstStyle/>
          <a:p>
            <a:pPr marL="0" indent="0" algn="just">
              <a:buNone/>
            </a:pPr>
            <a:r>
              <a:rPr lang="en-US" i="1" dirty="0"/>
              <a:t>Anonymous</a:t>
            </a:r>
            <a:r>
              <a:rPr lang="en-US" dirty="0"/>
              <a:t>, meaning the function has no name. Function expressions are usually assigned to a variable, and can be </a:t>
            </a:r>
            <a:r>
              <a:rPr lang="en-US" i="1" dirty="0"/>
              <a:t>anonymous</a:t>
            </a:r>
            <a:r>
              <a:rPr lang="en-US" dirty="0"/>
              <a:t>, meaning the function has no name.</a:t>
            </a:r>
          </a:p>
          <a:p>
            <a:pPr marL="0" indent="0" algn="just">
              <a:buNone/>
            </a:pPr>
            <a:endParaRPr lang="en-US" dirty="0"/>
          </a:p>
          <a:p>
            <a:pPr marL="0" indent="0" algn="just">
              <a:buNone/>
            </a:pPr>
            <a:endParaRPr lang="en-US" sz="1800" dirty="0"/>
          </a:p>
          <a:p>
            <a:pPr marL="0" indent="0" algn="just">
              <a:buNone/>
            </a:pPr>
            <a:r>
              <a:rPr lang="en-US" dirty="0"/>
              <a:t>Normally function declarations load into the execution context before any code runs. This is known as </a:t>
            </a:r>
            <a:r>
              <a:rPr lang="en-US" i="1" dirty="0"/>
              <a:t>hoisting</a:t>
            </a:r>
            <a:r>
              <a:rPr lang="en-US" dirty="0"/>
              <a:t>, meaning you can use the function before you declare it.</a:t>
            </a:r>
          </a:p>
          <a:p>
            <a:pPr marL="0" indent="0" algn="just">
              <a:buNone/>
            </a:pPr>
            <a:endParaRPr lang="en-US" dirty="0"/>
          </a:p>
          <a:p>
            <a:pPr marL="0" indent="0" algn="just">
              <a:buNone/>
            </a:pPr>
            <a:endParaRPr lang="en-US" dirty="0"/>
          </a:p>
          <a:p>
            <a:pPr marL="0" indent="0" algn="just">
              <a:buNone/>
            </a:pPr>
            <a:r>
              <a:rPr lang="en-US" dirty="0"/>
              <a:t>Attempting to execute the anonymous function before it is declared will result in an error:</a:t>
            </a:r>
          </a:p>
          <a:p>
            <a:pPr marL="0" indent="0">
              <a:buNone/>
            </a:pPr>
            <a:endParaRPr lang="en-GB" dirty="0"/>
          </a:p>
        </p:txBody>
      </p:sp>
      <p:graphicFrame>
        <p:nvGraphicFramePr>
          <p:cNvPr id="5" name="Content Placeholder 4"/>
          <p:cNvGraphicFramePr>
            <a:graphicFrameLocks/>
          </p:cNvGraphicFramePr>
          <p:nvPr/>
        </p:nvGraphicFramePr>
        <p:xfrm>
          <a:off x="4996967" y="2668466"/>
          <a:ext cx="3472961" cy="922020"/>
        </p:xfrm>
        <a:graphic>
          <a:graphicData uri="http://schemas.openxmlformats.org/drawingml/2006/table">
            <a:tbl>
              <a:tblPr firstRow="1" bandRow="1">
                <a:tableStyleId>{5C22544A-7EE6-4342-B048-85BDC9FD1C3A}</a:tableStyleId>
              </a:tblPr>
              <a:tblGrid>
                <a:gridCol w="3472961">
                  <a:extLst>
                    <a:ext uri="{9D8B030D-6E8A-4147-A177-3AD203B41FA5}">
                      <a16:colId xmlns:a16="http://schemas.microsoft.com/office/drawing/2014/main" val="20000"/>
                    </a:ext>
                  </a:extLst>
                </a:gridCol>
              </a:tblGrid>
              <a:tr h="891540">
                <a:tc>
                  <a:txBody>
                    <a:bodyPr/>
                    <a:lstStyle/>
                    <a:p>
                      <a:r>
                        <a:rPr lang="en-US" sz="1400" b="0" kern="1200" dirty="0">
                          <a:solidFill>
                            <a:schemeClr val="lt1"/>
                          </a:solidFill>
                          <a:effectLst/>
                          <a:latin typeface="+mn-lt"/>
                          <a:ea typeface="+mn-ea"/>
                          <a:cs typeface="+mn-cs"/>
                        </a:rPr>
                        <a:t>console.log(</a:t>
                      </a:r>
                      <a:r>
                        <a:rPr lang="en-US" sz="1400" b="0" kern="1200" dirty="0" err="1">
                          <a:solidFill>
                            <a:schemeClr val="lt1"/>
                          </a:solidFill>
                          <a:effectLst/>
                          <a:latin typeface="+mn-lt"/>
                          <a:ea typeface="+mn-ea"/>
                          <a:cs typeface="+mn-cs"/>
                        </a:rPr>
                        <a:t>cal</a:t>
                      </a:r>
                      <a:r>
                        <a:rPr lang="en-US" sz="1400" b="0" kern="1200" dirty="0">
                          <a:solidFill>
                            <a:schemeClr val="lt1"/>
                          </a:solidFill>
                          <a:effectLst/>
                          <a:latin typeface="+mn-lt"/>
                          <a:ea typeface="+mn-ea"/>
                          <a:cs typeface="+mn-cs"/>
                        </a:rPr>
                        <a:t>(5,6));</a:t>
                      </a:r>
                    </a:p>
                    <a:p>
                      <a:r>
                        <a:rPr lang="en-US" sz="1400" b="0" kern="1200" dirty="0">
                          <a:solidFill>
                            <a:schemeClr val="lt1"/>
                          </a:solidFill>
                          <a:effectLst/>
                          <a:latin typeface="+mn-lt"/>
                          <a:ea typeface="+mn-ea"/>
                          <a:cs typeface="+mn-cs"/>
                        </a:rPr>
                        <a:t>function </a:t>
                      </a:r>
                      <a:r>
                        <a:rPr lang="en-US" sz="1400" b="0" kern="1200" dirty="0" err="1">
                          <a:solidFill>
                            <a:schemeClr val="lt1"/>
                          </a:solidFill>
                          <a:effectLst/>
                          <a:latin typeface="+mn-lt"/>
                          <a:ea typeface="+mn-ea"/>
                          <a:cs typeface="+mn-cs"/>
                        </a:rPr>
                        <a:t>cal</a:t>
                      </a:r>
                      <a:r>
                        <a:rPr lang="en-US" sz="1400" b="0" kern="1200" dirty="0">
                          <a:solidFill>
                            <a:schemeClr val="lt1"/>
                          </a:solidFill>
                          <a:effectLst/>
                          <a:latin typeface="+mn-lt"/>
                          <a:ea typeface="+mn-ea"/>
                          <a:cs typeface="+mn-cs"/>
                        </a:rPr>
                        <a:t>(</a:t>
                      </a:r>
                      <a:r>
                        <a:rPr lang="en-US" sz="1400" b="0" kern="1200" dirty="0" err="1">
                          <a:solidFill>
                            <a:schemeClr val="lt1"/>
                          </a:solidFill>
                          <a:effectLst/>
                          <a:latin typeface="+mn-lt"/>
                          <a:ea typeface="+mn-ea"/>
                          <a:cs typeface="+mn-cs"/>
                        </a:rPr>
                        <a:t>a,b</a:t>
                      </a:r>
                      <a:r>
                        <a:rPr lang="en-US" sz="1400" b="0" kern="1200" dirty="0">
                          <a:solidFill>
                            <a:schemeClr val="lt1"/>
                          </a:solidFill>
                          <a:effectLst/>
                          <a:latin typeface="+mn-lt"/>
                          <a:ea typeface="+mn-ea"/>
                          <a:cs typeface="+mn-cs"/>
                        </a:rPr>
                        <a:t>) {</a:t>
                      </a:r>
                    </a:p>
                    <a:p>
                      <a:r>
                        <a:rPr lang="en-US" sz="1400" b="0" kern="1200" dirty="0">
                          <a:solidFill>
                            <a:schemeClr val="lt1"/>
                          </a:solidFill>
                          <a:effectLst/>
                          <a:latin typeface="+mn-lt"/>
                          <a:ea typeface="+mn-ea"/>
                          <a:cs typeface="+mn-cs"/>
                        </a:rPr>
                        <a:t>    return </a:t>
                      </a:r>
                      <a:r>
                        <a:rPr lang="en-US" sz="1400" b="0" kern="1200" dirty="0" err="1">
                          <a:solidFill>
                            <a:schemeClr val="lt1"/>
                          </a:solidFill>
                          <a:effectLst/>
                          <a:latin typeface="+mn-lt"/>
                          <a:ea typeface="+mn-ea"/>
                          <a:cs typeface="+mn-cs"/>
                        </a:rPr>
                        <a:t>a+b</a:t>
                      </a:r>
                      <a:r>
                        <a:rPr lang="en-US" sz="1400" b="0" kern="1200" dirty="0">
                          <a:solidFill>
                            <a:schemeClr val="lt1"/>
                          </a:solidFill>
                          <a:effectLst/>
                          <a:latin typeface="+mn-lt"/>
                          <a:ea typeface="+mn-ea"/>
                          <a:cs typeface="+mn-cs"/>
                        </a:rPr>
                        <a:t>;</a:t>
                      </a:r>
                    </a:p>
                    <a:p>
                      <a:r>
                        <a:rPr lang="en-US" sz="1400" b="0" kern="1200" dirty="0">
                          <a:solidFill>
                            <a:schemeClr val="lt1"/>
                          </a:solidFill>
                          <a:effectLst/>
                          <a:latin typeface="+mn-lt"/>
                          <a:ea typeface="+mn-ea"/>
                          <a:cs typeface="+mn-cs"/>
                        </a:rPr>
                        <a:t>}</a:t>
                      </a:r>
                    </a:p>
                  </a:txBody>
                  <a:tcPr marL="68580" marR="68580" marT="34290" marB="34290"/>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5632940" y="4166576"/>
          <a:ext cx="4393223" cy="922020"/>
        </p:xfrm>
        <a:graphic>
          <a:graphicData uri="http://schemas.openxmlformats.org/drawingml/2006/table">
            <a:tbl>
              <a:tblPr firstRow="1" bandRow="1">
                <a:tableStyleId>{5C22544A-7EE6-4342-B048-85BDC9FD1C3A}</a:tableStyleId>
              </a:tblPr>
              <a:tblGrid>
                <a:gridCol w="4393223">
                  <a:extLst>
                    <a:ext uri="{9D8B030D-6E8A-4147-A177-3AD203B41FA5}">
                      <a16:colId xmlns:a16="http://schemas.microsoft.com/office/drawing/2014/main" val="20000"/>
                    </a:ext>
                  </a:extLst>
                </a:gridCol>
              </a:tblGrid>
              <a:tr h="891540">
                <a:tc>
                  <a:txBody>
                    <a:bodyPr/>
                    <a:lstStyle/>
                    <a:p>
                      <a:r>
                        <a:rPr lang="en-US" sz="1400" b="0" kern="1200" dirty="0" err="1">
                          <a:solidFill>
                            <a:schemeClr val="lt1"/>
                          </a:solidFill>
                          <a:effectLst/>
                          <a:latin typeface="+mn-lt"/>
                          <a:ea typeface="+mn-ea"/>
                          <a:cs typeface="+mn-cs"/>
                        </a:rPr>
                        <a:t>const</a:t>
                      </a:r>
                      <a:r>
                        <a:rPr lang="en-US" sz="1000" dirty="0"/>
                        <a:t> </a:t>
                      </a:r>
                      <a:r>
                        <a:rPr lang="en-US" sz="1400" b="0" kern="1200" dirty="0" err="1">
                          <a:solidFill>
                            <a:schemeClr val="lt1"/>
                          </a:solidFill>
                          <a:effectLst/>
                          <a:latin typeface="+mn-lt"/>
                          <a:ea typeface="+mn-ea"/>
                          <a:cs typeface="+mn-cs"/>
                        </a:rPr>
                        <a:t>cal</a:t>
                      </a:r>
                      <a:r>
                        <a:rPr lang="en-US" sz="1000" dirty="0"/>
                        <a:t> </a:t>
                      </a:r>
                      <a:r>
                        <a:rPr lang="en-US" sz="1400" b="0" kern="1200" dirty="0">
                          <a:solidFill>
                            <a:schemeClr val="lt1"/>
                          </a:solidFill>
                          <a:effectLst/>
                          <a:latin typeface="+mn-lt"/>
                          <a:ea typeface="+mn-ea"/>
                          <a:cs typeface="+mn-cs"/>
                        </a:rPr>
                        <a:t>=</a:t>
                      </a:r>
                      <a:r>
                        <a:rPr lang="en-US" sz="1000" dirty="0"/>
                        <a:t> </a:t>
                      </a:r>
                      <a:r>
                        <a:rPr lang="en-US" sz="1400" b="0" kern="1200" dirty="0">
                          <a:solidFill>
                            <a:schemeClr val="lt1"/>
                          </a:solidFill>
                          <a:effectLst/>
                          <a:latin typeface="+mn-lt"/>
                          <a:ea typeface="+mn-ea"/>
                          <a:cs typeface="+mn-cs"/>
                        </a:rPr>
                        <a:t>function</a:t>
                      </a:r>
                      <a:r>
                        <a:rPr lang="en-US" sz="1000" dirty="0"/>
                        <a:t> </a:t>
                      </a:r>
                      <a:r>
                        <a:rPr lang="en-US" sz="1400" b="0" kern="1200" dirty="0">
                          <a:solidFill>
                            <a:schemeClr val="lt1"/>
                          </a:solidFill>
                          <a:effectLst/>
                          <a:latin typeface="+mn-lt"/>
                          <a:ea typeface="+mn-ea"/>
                          <a:cs typeface="+mn-cs"/>
                        </a:rPr>
                        <a:t>(</a:t>
                      </a:r>
                      <a:r>
                        <a:rPr lang="en-US" sz="1000" b="0" dirty="0">
                          <a:effectLst/>
                        </a:rPr>
                        <a:t>a</a:t>
                      </a:r>
                      <a:r>
                        <a:rPr lang="en-US" sz="1400" b="0" kern="1200" dirty="0">
                          <a:solidFill>
                            <a:schemeClr val="lt1"/>
                          </a:solidFill>
                          <a:effectLst/>
                          <a:latin typeface="+mn-lt"/>
                          <a:ea typeface="+mn-ea"/>
                          <a:cs typeface="+mn-cs"/>
                        </a:rPr>
                        <a:t>,</a:t>
                      </a:r>
                      <a:r>
                        <a:rPr lang="en-US" sz="1000" b="0" dirty="0">
                          <a:effectLst/>
                        </a:rPr>
                        <a:t> b</a:t>
                      </a:r>
                      <a:r>
                        <a:rPr lang="en-US" sz="1400" b="0" kern="1200" dirty="0">
                          <a:solidFill>
                            <a:schemeClr val="lt1"/>
                          </a:solidFill>
                          <a:effectLst/>
                          <a:latin typeface="+mn-lt"/>
                          <a:ea typeface="+mn-ea"/>
                          <a:cs typeface="+mn-cs"/>
                        </a:rPr>
                        <a:t>)</a:t>
                      </a:r>
                      <a:r>
                        <a:rPr lang="en-US" sz="1000" dirty="0"/>
                        <a:t> </a:t>
                      </a:r>
                      <a:r>
                        <a:rPr lang="en-US" sz="1400" b="0" kern="1200" dirty="0">
                          <a:solidFill>
                            <a:schemeClr val="lt1"/>
                          </a:solidFill>
                          <a:effectLst/>
                          <a:latin typeface="+mn-lt"/>
                          <a:ea typeface="+mn-ea"/>
                          <a:cs typeface="+mn-cs"/>
                        </a:rPr>
                        <a:t>{</a:t>
                      </a:r>
                      <a:r>
                        <a:rPr lang="en-US" sz="1000" dirty="0"/>
                        <a:t> </a:t>
                      </a:r>
                    </a:p>
                    <a:p>
                      <a:r>
                        <a:rPr lang="en-US" sz="1400" b="0" kern="1200" dirty="0">
                          <a:solidFill>
                            <a:schemeClr val="lt1"/>
                          </a:solidFill>
                          <a:effectLst/>
                          <a:latin typeface="+mn-lt"/>
                          <a:ea typeface="+mn-ea"/>
                          <a:cs typeface="+mn-cs"/>
                        </a:rPr>
                        <a:t>    return</a:t>
                      </a:r>
                      <a:r>
                        <a:rPr lang="en-US" sz="1000" dirty="0"/>
                        <a:t> a </a:t>
                      </a:r>
                      <a:r>
                        <a:rPr lang="en-US" sz="1400" b="0" kern="1200" dirty="0">
                          <a:solidFill>
                            <a:schemeClr val="lt1"/>
                          </a:solidFill>
                          <a:effectLst/>
                          <a:latin typeface="+mn-lt"/>
                          <a:ea typeface="+mn-ea"/>
                          <a:cs typeface="+mn-cs"/>
                        </a:rPr>
                        <a:t>+</a:t>
                      </a:r>
                      <a:r>
                        <a:rPr lang="en-US" sz="1000" dirty="0"/>
                        <a:t> b </a:t>
                      </a:r>
                    </a:p>
                    <a:p>
                      <a:r>
                        <a:rPr lang="en-US" sz="1400" b="0" kern="1200" dirty="0">
                          <a:solidFill>
                            <a:schemeClr val="lt1"/>
                          </a:solidFill>
                          <a:effectLst/>
                          <a:latin typeface="+mn-lt"/>
                          <a:ea typeface="+mn-ea"/>
                          <a:cs typeface="+mn-cs"/>
                        </a:rPr>
                        <a:t>}</a:t>
                      </a:r>
                    </a:p>
                    <a:p>
                      <a:r>
                        <a:rPr lang="en-US" sz="1400" b="0" kern="1200" dirty="0">
                          <a:solidFill>
                            <a:schemeClr val="lt1"/>
                          </a:solidFill>
                          <a:effectLst/>
                          <a:latin typeface="+mn-lt"/>
                          <a:ea typeface="+mn-ea"/>
                          <a:cs typeface="+mn-cs"/>
                        </a:rPr>
                        <a:t>console.log(</a:t>
                      </a:r>
                      <a:r>
                        <a:rPr lang="en-US" sz="1400" b="0" kern="1200" dirty="0" err="1">
                          <a:solidFill>
                            <a:schemeClr val="lt1"/>
                          </a:solidFill>
                          <a:effectLst/>
                          <a:latin typeface="+mn-lt"/>
                          <a:ea typeface="+mn-ea"/>
                          <a:cs typeface="+mn-cs"/>
                        </a:rPr>
                        <a:t>cal</a:t>
                      </a:r>
                      <a:r>
                        <a:rPr lang="en-US" sz="1400" b="0" kern="1200" dirty="0">
                          <a:solidFill>
                            <a:schemeClr val="lt1"/>
                          </a:solidFill>
                          <a:effectLst/>
                          <a:latin typeface="+mn-lt"/>
                          <a:ea typeface="+mn-ea"/>
                          <a:cs typeface="+mn-cs"/>
                        </a:rPr>
                        <a:t>(5,6))</a:t>
                      </a:r>
                      <a:endParaRPr lang="en-GB" sz="1000" dirty="0"/>
                    </a:p>
                  </a:txBody>
                  <a:tcPr marL="68580" marR="68580" marT="34290" marB="3429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4085964114"/>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Arrow Function</a:t>
            </a:r>
            <a:endParaRPr lang="en-GB" dirty="0"/>
          </a:p>
        </p:txBody>
      </p:sp>
      <p:sp>
        <p:nvSpPr>
          <p:cNvPr id="3" name="Content Placeholder 2"/>
          <p:cNvSpPr>
            <a:spLocks noGrp="1"/>
          </p:cNvSpPr>
          <p:nvPr>
            <p:ph idx="1"/>
          </p:nvPr>
        </p:nvSpPr>
        <p:spPr/>
        <p:txBody>
          <a:bodyPr>
            <a:normAutofit lnSpcReduction="10000"/>
          </a:bodyPr>
          <a:lstStyle/>
          <a:p>
            <a:pPr marL="0" indent="0">
              <a:buNone/>
            </a:pPr>
            <a:r>
              <a:rPr lang="en-US" dirty="0"/>
              <a:t>Arrow functions are a way to write anonymous function expressions and its body consist on single line without using curly braces and ‘return’ keyword.</a:t>
            </a:r>
          </a:p>
          <a:p>
            <a:pPr marL="0" indent="0">
              <a:buNone/>
            </a:pPr>
            <a:endParaRPr lang="en-US" dirty="0"/>
          </a:p>
          <a:p>
            <a:pPr marL="0" indent="0">
              <a:buNone/>
            </a:pPr>
            <a:endParaRPr lang="en-US" dirty="0"/>
          </a:p>
          <a:p>
            <a:pPr marL="0" indent="0">
              <a:buNone/>
            </a:pPr>
            <a:endParaRPr lang="en-US" dirty="0"/>
          </a:p>
          <a:p>
            <a:pPr marL="0" indent="0">
              <a:buNone/>
            </a:pPr>
            <a:endParaRPr lang="en-US" dirty="0"/>
          </a:p>
          <a:p>
            <a:pPr marL="0" indent="0">
              <a:buNone/>
            </a:pPr>
            <a:r>
              <a:rPr lang="en-US" dirty="0"/>
              <a:t>Arrow functions automatically/implicit return the value of the expression without needing the return keyword. It is normally used as a callbacks in function like ‘map’, ‘filter’, and ‘</a:t>
            </a:r>
            <a:r>
              <a:rPr lang="en-US" dirty="0" err="1"/>
              <a:t>forEach</a:t>
            </a:r>
            <a:r>
              <a:rPr lang="en-US" dirty="0"/>
              <a:t>’ </a:t>
            </a:r>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grpSp>
        <p:nvGrpSpPr>
          <p:cNvPr id="10" name="Group 9"/>
          <p:cNvGrpSpPr/>
          <p:nvPr/>
        </p:nvGrpSpPr>
        <p:grpSpPr>
          <a:xfrm>
            <a:off x="4064967" y="3169626"/>
            <a:ext cx="5939082" cy="923330"/>
            <a:chOff x="1254370" y="2848708"/>
            <a:chExt cx="7918775" cy="1231106"/>
          </a:xfrm>
        </p:grpSpPr>
        <p:sp>
          <p:nvSpPr>
            <p:cNvPr id="6" name="TextBox 5"/>
            <p:cNvSpPr txBox="1"/>
            <p:nvPr/>
          </p:nvSpPr>
          <p:spPr>
            <a:xfrm>
              <a:off x="5498123" y="3130063"/>
              <a:ext cx="3675022" cy="677108"/>
            </a:xfrm>
            <a:prstGeom prst="rect">
              <a:avLst/>
            </a:prstGeom>
            <a:noFill/>
          </p:spPr>
          <p:txBody>
            <a:bodyPr wrap="none" rtlCol="0">
              <a:spAutoFit/>
            </a:bodyPr>
            <a:lstStyle/>
            <a:p>
              <a:r>
                <a:rPr lang="en-US" sz="1350" dirty="0">
                  <a:solidFill>
                    <a:prstClr val="black"/>
                  </a:solidFill>
                </a:rPr>
                <a:t>let </a:t>
              </a:r>
              <a:r>
                <a:rPr lang="en-US" sz="1350" dirty="0" err="1">
                  <a:solidFill>
                    <a:prstClr val="black"/>
                  </a:solidFill>
                </a:rPr>
                <a:t>isEven</a:t>
              </a:r>
              <a:r>
                <a:rPr lang="en-US" sz="1350" dirty="0">
                  <a:solidFill>
                    <a:prstClr val="black"/>
                  </a:solidFill>
                </a:rPr>
                <a:t> = (</a:t>
              </a:r>
              <a:r>
                <a:rPr lang="en-US" sz="1350" dirty="0" err="1">
                  <a:solidFill>
                    <a:prstClr val="black"/>
                  </a:solidFill>
                </a:rPr>
                <a:t>num</a:t>
              </a:r>
              <a:r>
                <a:rPr lang="en-US" sz="1350" dirty="0">
                  <a:solidFill>
                    <a:prstClr val="black"/>
                  </a:solidFill>
                </a:rPr>
                <a:t>) =&gt; </a:t>
              </a:r>
              <a:r>
                <a:rPr lang="en-US" sz="1350" dirty="0" err="1">
                  <a:solidFill>
                    <a:prstClr val="black"/>
                  </a:solidFill>
                </a:rPr>
                <a:t>num</a:t>
              </a:r>
              <a:r>
                <a:rPr lang="en-US" sz="1350" dirty="0">
                  <a:solidFill>
                    <a:prstClr val="black"/>
                  </a:solidFill>
                </a:rPr>
                <a:t> % 2 == 0</a:t>
              </a:r>
            </a:p>
            <a:p>
              <a:r>
                <a:rPr lang="en-US" sz="1350" dirty="0">
                  <a:solidFill>
                    <a:prstClr val="black"/>
                  </a:solidFill>
                </a:rPr>
                <a:t>console.log(</a:t>
              </a:r>
              <a:r>
                <a:rPr lang="en-US" sz="1350" dirty="0" err="1">
                  <a:solidFill>
                    <a:prstClr val="black"/>
                  </a:solidFill>
                </a:rPr>
                <a:t>isEven</a:t>
              </a:r>
              <a:r>
                <a:rPr lang="en-US" sz="1350" dirty="0">
                  <a:solidFill>
                    <a:prstClr val="black"/>
                  </a:solidFill>
                </a:rPr>
                <a:t>(45))</a:t>
              </a:r>
              <a:endParaRPr lang="en-GB" sz="1350" dirty="0">
                <a:solidFill>
                  <a:prstClr val="black"/>
                </a:solidFill>
              </a:endParaRPr>
            </a:p>
          </p:txBody>
        </p:sp>
        <p:sp>
          <p:nvSpPr>
            <p:cNvPr id="5" name="TextBox 4"/>
            <p:cNvSpPr txBox="1"/>
            <p:nvPr/>
          </p:nvSpPr>
          <p:spPr>
            <a:xfrm>
              <a:off x="1254370" y="2848708"/>
              <a:ext cx="2573696" cy="1231106"/>
            </a:xfrm>
            <a:prstGeom prst="rect">
              <a:avLst/>
            </a:prstGeom>
            <a:noFill/>
          </p:spPr>
          <p:txBody>
            <a:bodyPr wrap="none" rtlCol="0">
              <a:spAutoFit/>
            </a:bodyPr>
            <a:lstStyle/>
            <a:p>
              <a:r>
                <a:rPr lang="en-US" sz="1350" dirty="0">
                  <a:solidFill>
                    <a:prstClr val="black"/>
                  </a:solidFill>
                </a:rPr>
                <a:t>function </a:t>
              </a:r>
              <a:r>
                <a:rPr lang="en-US" sz="1350" dirty="0" err="1">
                  <a:solidFill>
                    <a:prstClr val="black"/>
                  </a:solidFill>
                </a:rPr>
                <a:t>isEven</a:t>
              </a:r>
              <a:r>
                <a:rPr lang="en-US" sz="1350" dirty="0">
                  <a:solidFill>
                    <a:prstClr val="black"/>
                  </a:solidFill>
                </a:rPr>
                <a:t>(</a:t>
              </a:r>
              <a:r>
                <a:rPr lang="en-US" sz="1350" dirty="0" err="1">
                  <a:solidFill>
                    <a:prstClr val="black"/>
                  </a:solidFill>
                </a:rPr>
                <a:t>num</a:t>
              </a:r>
              <a:r>
                <a:rPr lang="en-US" sz="1350" dirty="0">
                  <a:solidFill>
                    <a:prstClr val="black"/>
                  </a:solidFill>
                </a:rPr>
                <a:t>) {</a:t>
              </a:r>
            </a:p>
            <a:p>
              <a:r>
                <a:rPr lang="en-US" sz="1350" dirty="0">
                  <a:solidFill>
                    <a:prstClr val="black"/>
                  </a:solidFill>
                </a:rPr>
                <a:t>     return </a:t>
              </a:r>
              <a:r>
                <a:rPr lang="en-US" sz="1350" dirty="0" err="1">
                  <a:solidFill>
                    <a:prstClr val="black"/>
                  </a:solidFill>
                </a:rPr>
                <a:t>num</a:t>
              </a:r>
              <a:r>
                <a:rPr lang="en-US" sz="1350" dirty="0">
                  <a:solidFill>
                    <a:prstClr val="black"/>
                  </a:solidFill>
                </a:rPr>
                <a:t> % 2 == 0</a:t>
              </a:r>
            </a:p>
            <a:p>
              <a:r>
                <a:rPr lang="en-US" sz="1350" dirty="0">
                  <a:solidFill>
                    <a:prstClr val="black"/>
                  </a:solidFill>
                </a:rPr>
                <a:t>}</a:t>
              </a:r>
            </a:p>
            <a:p>
              <a:r>
                <a:rPr lang="en-US" sz="1350" dirty="0">
                  <a:solidFill>
                    <a:prstClr val="black"/>
                  </a:solidFill>
                </a:rPr>
                <a:t>console.log(</a:t>
              </a:r>
              <a:r>
                <a:rPr lang="en-US" sz="1350" dirty="0" err="1">
                  <a:solidFill>
                    <a:prstClr val="black"/>
                  </a:solidFill>
                </a:rPr>
                <a:t>isEven</a:t>
              </a:r>
              <a:r>
                <a:rPr lang="en-US" sz="1350" dirty="0">
                  <a:solidFill>
                    <a:prstClr val="black"/>
                  </a:solidFill>
                </a:rPr>
                <a:t>(90))</a:t>
              </a:r>
              <a:endParaRPr lang="en-GB" sz="1350" dirty="0">
                <a:solidFill>
                  <a:prstClr val="black"/>
                </a:solidFill>
              </a:endParaRPr>
            </a:p>
          </p:txBody>
        </p:sp>
        <p:cxnSp>
          <p:nvCxnSpPr>
            <p:cNvPr id="8" name="Straight Arrow Connector 7"/>
            <p:cNvCxnSpPr/>
            <p:nvPr/>
          </p:nvCxnSpPr>
          <p:spPr>
            <a:xfrm>
              <a:off x="3985846" y="3448872"/>
              <a:ext cx="1137139" cy="0"/>
            </a:xfrm>
            <a:prstGeom prst="straightConnector1">
              <a:avLst/>
            </a:prstGeom>
            <a:ln w="76200">
              <a:tailEnd type="arrow"/>
            </a:ln>
          </p:spPr>
          <p:style>
            <a:lnRef idx="1">
              <a:schemeClr val="accent1"/>
            </a:lnRef>
            <a:fillRef idx="0">
              <a:schemeClr val="accent1"/>
            </a:fillRef>
            <a:effectRef idx="0">
              <a:schemeClr val="accent1"/>
            </a:effectRef>
            <a:fontRef idx="minor">
              <a:schemeClr val="tx1"/>
            </a:fontRef>
          </p:style>
        </p:cxnSp>
      </p:grpSp>
    </p:spTree>
    <p:extLst>
      <p:ext uri="{BB962C8B-B14F-4D97-AF65-F5344CB8AC3E}">
        <p14:creationId xmlns:p14="http://schemas.microsoft.com/office/powerpoint/2010/main" val="3652581321"/>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6"/>
            <a:ext cx="7886700" cy="666933"/>
          </a:xfrm>
        </p:spPr>
        <p:txBody>
          <a:bodyPr>
            <a:normAutofit fontScale="90000"/>
          </a:bodyPr>
          <a:lstStyle/>
          <a:p>
            <a:r>
              <a:rPr lang="en-US" dirty="0"/>
              <a:t>Arrow Function</a:t>
            </a:r>
            <a:endParaRPr lang="en-GB" dirty="0"/>
          </a:p>
        </p:txBody>
      </p:sp>
      <p:sp>
        <p:nvSpPr>
          <p:cNvPr id="3" name="Content Placeholder 2"/>
          <p:cNvSpPr>
            <a:spLocks noGrp="1"/>
          </p:cNvSpPr>
          <p:nvPr>
            <p:ph idx="1"/>
          </p:nvPr>
        </p:nvSpPr>
        <p:spPr>
          <a:xfrm>
            <a:off x="2152650" y="1815612"/>
            <a:ext cx="7886700" cy="4088423"/>
          </a:xfrm>
        </p:spPr>
        <p:txBody>
          <a:bodyPr>
            <a:normAutofit/>
          </a:bodyPr>
          <a:lstStyle/>
          <a:p>
            <a:pPr marL="0" indent="0" algn="just">
              <a:buNone/>
            </a:pPr>
            <a:r>
              <a:rPr lang="en-US" sz="1950" dirty="0"/>
              <a:t>Its </a:t>
            </a:r>
            <a:r>
              <a:rPr lang="en-US" sz="1950" b="1" dirty="0"/>
              <a:t>expressions</a:t>
            </a:r>
            <a:r>
              <a:rPr lang="en-US" sz="1950" dirty="0"/>
              <a:t> are represented by an equals sign followed by a greater than sign: =&gt;</a:t>
            </a:r>
          </a:p>
          <a:p>
            <a:pPr marL="0" indent="0" algn="just">
              <a:buNone/>
            </a:pPr>
            <a:endParaRPr lang="en-US" sz="1500" dirty="0"/>
          </a:p>
          <a:p>
            <a:pPr marL="0" indent="0" algn="just">
              <a:buNone/>
            </a:pPr>
            <a:endParaRPr lang="en-US" sz="900" dirty="0"/>
          </a:p>
          <a:p>
            <a:pPr marL="0" indent="0" algn="just">
              <a:buNone/>
            </a:pPr>
            <a:endParaRPr lang="en-US" sz="900" dirty="0"/>
          </a:p>
          <a:p>
            <a:pPr marL="0" indent="0" algn="just">
              <a:buNone/>
            </a:pPr>
            <a:endParaRPr lang="en-US" sz="900" dirty="0"/>
          </a:p>
          <a:p>
            <a:pPr marL="0" indent="0">
              <a:buNone/>
            </a:pPr>
            <a:r>
              <a:rPr lang="en-US" sz="1950" dirty="0"/>
              <a:t>In the case of only one parameter, the parentheses can be excluded.</a:t>
            </a:r>
          </a:p>
          <a:p>
            <a:pPr marL="0" indent="0">
              <a:buNone/>
            </a:pPr>
            <a:endParaRPr lang="en-US" sz="2400" dirty="0"/>
          </a:p>
          <a:p>
            <a:pPr marL="0" indent="0">
              <a:buNone/>
            </a:pPr>
            <a:endParaRPr lang="en-US" sz="1950" dirty="0"/>
          </a:p>
          <a:p>
            <a:pPr marL="0" indent="0">
              <a:buNone/>
            </a:pPr>
            <a:r>
              <a:rPr lang="en-US" sz="1950" dirty="0"/>
              <a:t>The function body can consist on multiple lines or single line. If the function is only a single line return, both the curly brackets and the return statement can be omitted</a:t>
            </a:r>
            <a:r>
              <a:rPr lang="en-US" dirty="0"/>
              <a:t>,</a:t>
            </a:r>
            <a:endParaRPr lang="en-GB" dirty="0"/>
          </a:p>
        </p:txBody>
      </p:sp>
      <p:graphicFrame>
        <p:nvGraphicFramePr>
          <p:cNvPr id="5" name="Table 4"/>
          <p:cNvGraphicFramePr>
            <a:graphicFrameLocks noGrp="1"/>
          </p:cNvGraphicFramePr>
          <p:nvPr/>
        </p:nvGraphicFramePr>
        <p:xfrm>
          <a:off x="3988775" y="2364159"/>
          <a:ext cx="6096000" cy="92202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0000"/>
                    </a:ext>
                  </a:extLst>
                </a:gridCol>
              </a:tblGrid>
              <a:tr h="891540">
                <a:tc>
                  <a:txBody>
                    <a:bodyPr/>
                    <a:lstStyle/>
                    <a:p>
                      <a:r>
                        <a:rPr lang="en-GB" sz="1400" b="0" kern="1200" dirty="0" err="1">
                          <a:solidFill>
                            <a:schemeClr val="lt1"/>
                          </a:solidFill>
                          <a:effectLst/>
                          <a:latin typeface="+mn-lt"/>
                          <a:ea typeface="+mn-ea"/>
                          <a:cs typeface="+mn-cs"/>
                        </a:rPr>
                        <a:t>const</a:t>
                      </a:r>
                      <a:r>
                        <a:rPr lang="en-GB" sz="1000" dirty="0"/>
                        <a:t> </a:t>
                      </a:r>
                      <a:r>
                        <a:rPr lang="en-GB" sz="1400" b="0" kern="1200" dirty="0">
                          <a:solidFill>
                            <a:schemeClr val="lt1"/>
                          </a:solidFill>
                          <a:effectLst/>
                          <a:latin typeface="+mn-lt"/>
                          <a:ea typeface="+mn-ea"/>
                          <a:cs typeface="+mn-cs"/>
                        </a:rPr>
                        <a:t>multiply</a:t>
                      </a:r>
                      <a:r>
                        <a:rPr lang="en-GB" sz="1000" dirty="0"/>
                        <a:t> </a:t>
                      </a:r>
                      <a:r>
                        <a:rPr lang="en-GB" sz="1400" b="0" kern="1200" dirty="0">
                          <a:solidFill>
                            <a:schemeClr val="lt1"/>
                          </a:solidFill>
                          <a:effectLst/>
                          <a:latin typeface="+mn-lt"/>
                          <a:ea typeface="+mn-ea"/>
                          <a:cs typeface="+mn-cs"/>
                        </a:rPr>
                        <a:t>=</a:t>
                      </a:r>
                      <a:r>
                        <a:rPr lang="en-GB" sz="1000" dirty="0"/>
                        <a:t> </a:t>
                      </a:r>
                      <a:r>
                        <a:rPr lang="en-GB" sz="1400" b="0" kern="1200" dirty="0">
                          <a:solidFill>
                            <a:schemeClr val="lt1"/>
                          </a:solidFill>
                          <a:effectLst/>
                          <a:latin typeface="+mn-lt"/>
                          <a:ea typeface="+mn-ea"/>
                          <a:cs typeface="+mn-cs"/>
                        </a:rPr>
                        <a:t>(</a:t>
                      </a:r>
                      <a:r>
                        <a:rPr lang="en-GB" sz="1000" b="0" dirty="0">
                          <a:effectLst/>
                        </a:rPr>
                        <a:t>x</a:t>
                      </a:r>
                      <a:r>
                        <a:rPr lang="en-GB" sz="1400" b="0" kern="1200" dirty="0">
                          <a:solidFill>
                            <a:schemeClr val="lt1"/>
                          </a:solidFill>
                          <a:effectLst/>
                          <a:latin typeface="+mn-lt"/>
                          <a:ea typeface="+mn-ea"/>
                          <a:cs typeface="+mn-cs"/>
                        </a:rPr>
                        <a:t>,</a:t>
                      </a:r>
                      <a:r>
                        <a:rPr lang="en-GB" sz="1000" b="0" dirty="0">
                          <a:effectLst/>
                        </a:rPr>
                        <a:t> y</a:t>
                      </a:r>
                      <a:r>
                        <a:rPr lang="en-GB" sz="1400" b="0" kern="1200" dirty="0">
                          <a:solidFill>
                            <a:schemeClr val="lt1"/>
                          </a:solidFill>
                          <a:effectLst/>
                          <a:latin typeface="+mn-lt"/>
                          <a:ea typeface="+mn-ea"/>
                          <a:cs typeface="+mn-cs"/>
                        </a:rPr>
                        <a:t>)</a:t>
                      </a:r>
                      <a:r>
                        <a:rPr lang="en-GB" sz="1000" dirty="0"/>
                        <a:t> </a:t>
                      </a:r>
                      <a:r>
                        <a:rPr lang="en-GB" sz="1400" b="0" kern="1200" dirty="0">
                          <a:solidFill>
                            <a:schemeClr val="lt1"/>
                          </a:solidFill>
                          <a:effectLst/>
                          <a:latin typeface="+mn-lt"/>
                          <a:ea typeface="+mn-ea"/>
                          <a:cs typeface="+mn-cs"/>
                        </a:rPr>
                        <a:t>=&gt;</a:t>
                      </a:r>
                      <a:r>
                        <a:rPr lang="en-GB" sz="1000" dirty="0"/>
                        <a:t> </a:t>
                      </a:r>
                      <a:r>
                        <a:rPr lang="en-GB" sz="1400" b="0" kern="1200" dirty="0">
                          <a:solidFill>
                            <a:schemeClr val="lt1"/>
                          </a:solidFill>
                          <a:effectLst/>
                          <a:latin typeface="+mn-lt"/>
                          <a:ea typeface="+mn-ea"/>
                          <a:cs typeface="+mn-cs"/>
                        </a:rPr>
                        <a:t>{</a:t>
                      </a:r>
                      <a:r>
                        <a:rPr lang="en-GB" sz="1000" dirty="0"/>
                        <a:t> </a:t>
                      </a:r>
                    </a:p>
                    <a:p>
                      <a:r>
                        <a:rPr lang="en-GB" sz="1400" b="0" kern="1200" dirty="0">
                          <a:solidFill>
                            <a:schemeClr val="lt1"/>
                          </a:solidFill>
                          <a:effectLst/>
                          <a:latin typeface="+mn-lt"/>
                          <a:ea typeface="+mn-ea"/>
                          <a:cs typeface="+mn-cs"/>
                        </a:rPr>
                        <a:t>     return</a:t>
                      </a:r>
                      <a:r>
                        <a:rPr lang="en-GB" sz="1000" dirty="0"/>
                        <a:t> x </a:t>
                      </a:r>
                      <a:r>
                        <a:rPr lang="en-GB" sz="1400" b="0" kern="1200" dirty="0">
                          <a:solidFill>
                            <a:schemeClr val="lt1"/>
                          </a:solidFill>
                          <a:effectLst/>
                          <a:latin typeface="+mn-lt"/>
                          <a:ea typeface="+mn-ea"/>
                          <a:cs typeface="+mn-cs"/>
                        </a:rPr>
                        <a:t>*</a:t>
                      </a:r>
                      <a:r>
                        <a:rPr lang="en-GB" sz="1000" dirty="0"/>
                        <a:t> y</a:t>
                      </a:r>
                      <a:r>
                        <a:rPr lang="en-GB" sz="1400" b="0" kern="1200" dirty="0">
                          <a:solidFill>
                            <a:schemeClr val="lt1"/>
                          </a:solidFill>
                          <a:effectLst/>
                          <a:latin typeface="+mn-lt"/>
                          <a:ea typeface="+mn-ea"/>
                          <a:cs typeface="+mn-cs"/>
                        </a:rPr>
                        <a:t>;</a:t>
                      </a:r>
                      <a:r>
                        <a:rPr lang="en-GB" sz="1000" dirty="0"/>
                        <a:t> </a:t>
                      </a:r>
                    </a:p>
                    <a:p>
                      <a:r>
                        <a:rPr lang="en-GB" sz="1400" b="0" kern="1200" dirty="0">
                          <a:solidFill>
                            <a:schemeClr val="lt1"/>
                          </a:solidFill>
                          <a:effectLst/>
                          <a:latin typeface="+mn-lt"/>
                          <a:ea typeface="+mn-ea"/>
                          <a:cs typeface="+mn-cs"/>
                        </a:rPr>
                        <a:t>}</a:t>
                      </a:r>
                    </a:p>
                    <a:p>
                      <a:r>
                        <a:rPr lang="en-GB" sz="1400" b="0" kern="1200" dirty="0">
                          <a:solidFill>
                            <a:schemeClr val="lt1"/>
                          </a:solidFill>
                          <a:effectLst/>
                          <a:latin typeface="+mn-lt"/>
                          <a:ea typeface="+mn-ea"/>
                          <a:cs typeface="+mn-cs"/>
                        </a:rPr>
                        <a:t>console.log(multiply(30,</a:t>
                      </a:r>
                      <a:r>
                        <a:rPr lang="en-GB" sz="1000" dirty="0"/>
                        <a:t> </a:t>
                      </a:r>
                      <a:r>
                        <a:rPr lang="en-GB" sz="1400" b="0" kern="1200" dirty="0">
                          <a:solidFill>
                            <a:schemeClr val="lt1"/>
                          </a:solidFill>
                          <a:effectLst/>
                          <a:latin typeface="+mn-lt"/>
                          <a:ea typeface="+mn-ea"/>
                          <a:cs typeface="+mn-cs"/>
                        </a:rPr>
                        <a:t>4))</a:t>
                      </a:r>
                      <a:r>
                        <a:rPr lang="en-GB" sz="1000" dirty="0"/>
                        <a:t> ;</a:t>
                      </a:r>
                    </a:p>
                  </a:txBody>
                  <a:tcPr marL="68580" marR="68580" marT="34290" marB="34290"/>
                </a:tc>
                <a:extLst>
                  <a:ext uri="{0D108BD9-81ED-4DB2-BD59-A6C34878D82A}">
                    <a16:rowId xmlns:a16="http://schemas.microsoft.com/office/drawing/2014/main" val="10000"/>
                  </a:ext>
                </a:extLst>
              </a:tr>
            </a:tbl>
          </a:graphicData>
        </a:graphic>
      </p:graphicFrame>
      <p:graphicFrame>
        <p:nvGraphicFramePr>
          <p:cNvPr id="6" name="Table 5"/>
          <p:cNvGraphicFramePr>
            <a:graphicFrameLocks noGrp="1"/>
          </p:cNvGraphicFramePr>
          <p:nvPr/>
        </p:nvGraphicFramePr>
        <p:xfrm>
          <a:off x="4041528" y="3911604"/>
          <a:ext cx="6096000" cy="495300"/>
        </p:xfrm>
        <a:graphic>
          <a:graphicData uri="http://schemas.openxmlformats.org/drawingml/2006/table">
            <a:tbl>
              <a:tblPr firstRow="1" bandRow="1">
                <a:tableStyleId>{5C22544A-7EE6-4342-B048-85BDC9FD1C3A}</a:tableStyleId>
              </a:tblPr>
              <a:tblGrid>
                <a:gridCol w="6096000">
                  <a:extLst>
                    <a:ext uri="{9D8B030D-6E8A-4147-A177-3AD203B41FA5}">
                      <a16:colId xmlns:a16="http://schemas.microsoft.com/office/drawing/2014/main" val="20000"/>
                    </a:ext>
                  </a:extLst>
                </a:gridCol>
              </a:tblGrid>
              <a:tr h="480060">
                <a:tc>
                  <a:txBody>
                    <a:bodyPr/>
                    <a:lstStyle/>
                    <a:p>
                      <a:r>
                        <a:rPr lang="en-US" sz="1400" b="0" kern="1200" dirty="0" err="1">
                          <a:solidFill>
                            <a:schemeClr val="lt1"/>
                          </a:solidFill>
                          <a:effectLst/>
                          <a:latin typeface="+mn-lt"/>
                          <a:ea typeface="+mn-ea"/>
                          <a:cs typeface="+mn-cs"/>
                        </a:rPr>
                        <a:t>const</a:t>
                      </a:r>
                      <a:r>
                        <a:rPr lang="en-US" sz="1000" dirty="0"/>
                        <a:t> </a:t>
                      </a:r>
                      <a:r>
                        <a:rPr lang="en-US" sz="1400" b="0" kern="1200" dirty="0">
                          <a:solidFill>
                            <a:schemeClr val="lt1"/>
                          </a:solidFill>
                          <a:effectLst/>
                          <a:latin typeface="+mn-lt"/>
                          <a:ea typeface="+mn-ea"/>
                          <a:cs typeface="+mn-cs"/>
                        </a:rPr>
                        <a:t>square</a:t>
                      </a:r>
                      <a:r>
                        <a:rPr lang="en-US" sz="1000" dirty="0"/>
                        <a:t> </a:t>
                      </a:r>
                      <a:r>
                        <a:rPr lang="en-US" sz="1400" b="0" kern="1200" dirty="0">
                          <a:solidFill>
                            <a:schemeClr val="lt1"/>
                          </a:solidFill>
                          <a:effectLst/>
                          <a:latin typeface="+mn-lt"/>
                          <a:ea typeface="+mn-ea"/>
                          <a:cs typeface="+mn-cs"/>
                        </a:rPr>
                        <a:t>=</a:t>
                      </a:r>
                      <a:r>
                        <a:rPr lang="en-US" sz="1000" dirty="0"/>
                        <a:t> </a:t>
                      </a:r>
                      <a:r>
                        <a:rPr lang="en-US" sz="1000" b="0" dirty="0">
                          <a:effectLst/>
                        </a:rPr>
                        <a:t>x</a:t>
                      </a:r>
                      <a:r>
                        <a:rPr lang="en-US" sz="1000" dirty="0"/>
                        <a:t> </a:t>
                      </a:r>
                      <a:r>
                        <a:rPr lang="en-US" sz="1400" b="0" kern="1200" dirty="0">
                          <a:solidFill>
                            <a:schemeClr val="lt1"/>
                          </a:solidFill>
                          <a:effectLst/>
                          <a:latin typeface="+mn-lt"/>
                          <a:ea typeface="+mn-ea"/>
                          <a:cs typeface="+mn-cs"/>
                        </a:rPr>
                        <a:t>=&gt;</a:t>
                      </a:r>
                      <a:r>
                        <a:rPr lang="en-US" sz="1000" dirty="0"/>
                        <a:t> </a:t>
                      </a:r>
                      <a:r>
                        <a:rPr lang="en-US" sz="1400" b="0" kern="1200" dirty="0">
                          <a:solidFill>
                            <a:schemeClr val="lt1"/>
                          </a:solidFill>
                          <a:effectLst/>
                          <a:latin typeface="+mn-lt"/>
                          <a:ea typeface="+mn-ea"/>
                          <a:cs typeface="+mn-cs"/>
                        </a:rPr>
                        <a:t>{</a:t>
                      </a:r>
                      <a:r>
                        <a:rPr lang="en-US" sz="1000" dirty="0"/>
                        <a:t> </a:t>
                      </a:r>
                      <a:r>
                        <a:rPr lang="en-US" sz="1400" b="0" kern="1200" dirty="0">
                          <a:solidFill>
                            <a:schemeClr val="lt1"/>
                          </a:solidFill>
                          <a:effectLst/>
                          <a:latin typeface="+mn-lt"/>
                          <a:ea typeface="+mn-ea"/>
                          <a:cs typeface="+mn-cs"/>
                        </a:rPr>
                        <a:t>return</a:t>
                      </a:r>
                      <a:r>
                        <a:rPr lang="en-US" sz="1000" dirty="0"/>
                        <a:t> x </a:t>
                      </a:r>
                      <a:r>
                        <a:rPr lang="en-US" sz="1400" b="0" kern="1200" dirty="0">
                          <a:solidFill>
                            <a:schemeClr val="lt1"/>
                          </a:solidFill>
                          <a:effectLst/>
                          <a:latin typeface="+mn-lt"/>
                          <a:ea typeface="+mn-ea"/>
                          <a:cs typeface="+mn-cs"/>
                        </a:rPr>
                        <a:t>*</a:t>
                      </a:r>
                      <a:r>
                        <a:rPr lang="en-US" sz="1000" dirty="0"/>
                        <a:t> x</a:t>
                      </a:r>
                      <a:r>
                        <a:rPr lang="en-US" sz="1400" b="0" kern="1200" dirty="0">
                          <a:solidFill>
                            <a:schemeClr val="lt1"/>
                          </a:solidFill>
                          <a:effectLst/>
                          <a:latin typeface="+mn-lt"/>
                          <a:ea typeface="+mn-ea"/>
                          <a:cs typeface="+mn-cs"/>
                        </a:rPr>
                        <a:t>;</a:t>
                      </a:r>
                      <a:r>
                        <a:rPr lang="en-US" sz="1000" dirty="0"/>
                        <a:t> </a:t>
                      </a:r>
                      <a:r>
                        <a:rPr lang="en-US" sz="1400" b="0" kern="1200" dirty="0">
                          <a:solidFill>
                            <a:schemeClr val="lt1"/>
                          </a:solidFill>
                          <a:effectLst/>
                          <a:latin typeface="+mn-lt"/>
                          <a:ea typeface="+mn-ea"/>
                          <a:cs typeface="+mn-cs"/>
                        </a:rPr>
                        <a:t>}</a:t>
                      </a:r>
                    </a:p>
                    <a:p>
                      <a:r>
                        <a:rPr lang="en-US" sz="1400" b="0" kern="1200" dirty="0">
                          <a:solidFill>
                            <a:schemeClr val="lt1"/>
                          </a:solidFill>
                          <a:effectLst/>
                          <a:latin typeface="+mn-lt"/>
                          <a:ea typeface="+mn-ea"/>
                          <a:cs typeface="+mn-cs"/>
                        </a:rPr>
                        <a:t>console.log(5);</a:t>
                      </a:r>
                      <a:endParaRPr lang="en-GB" sz="1000" dirty="0"/>
                    </a:p>
                  </a:txBody>
                  <a:tcPr marL="68580" marR="68580" marT="34290" marB="34290"/>
                </a:tc>
                <a:extLst>
                  <a:ext uri="{0D108BD9-81ED-4DB2-BD59-A6C34878D82A}">
                    <a16:rowId xmlns:a16="http://schemas.microsoft.com/office/drawing/2014/main" val="10000"/>
                  </a:ext>
                </a:extLst>
              </a:tr>
            </a:tbl>
          </a:graphicData>
        </a:graphic>
      </p:graphicFrame>
      <p:graphicFrame>
        <p:nvGraphicFramePr>
          <p:cNvPr id="7" name="Table 6"/>
          <p:cNvGraphicFramePr>
            <a:graphicFrameLocks noGrp="1"/>
          </p:cNvGraphicFramePr>
          <p:nvPr/>
        </p:nvGraphicFramePr>
        <p:xfrm>
          <a:off x="4302380" y="5300785"/>
          <a:ext cx="4410804" cy="495300"/>
        </p:xfrm>
        <a:graphic>
          <a:graphicData uri="http://schemas.openxmlformats.org/drawingml/2006/table">
            <a:tbl>
              <a:tblPr firstRow="1" bandRow="1">
                <a:tableStyleId>{5C22544A-7EE6-4342-B048-85BDC9FD1C3A}</a:tableStyleId>
              </a:tblPr>
              <a:tblGrid>
                <a:gridCol w="4410804">
                  <a:extLst>
                    <a:ext uri="{9D8B030D-6E8A-4147-A177-3AD203B41FA5}">
                      <a16:colId xmlns:a16="http://schemas.microsoft.com/office/drawing/2014/main" val="20000"/>
                    </a:ext>
                  </a:extLst>
                </a:gridCol>
              </a:tblGrid>
              <a:tr h="480060">
                <a:tc>
                  <a:txBody>
                    <a:bodyPr/>
                    <a:lstStyle/>
                    <a:p>
                      <a:r>
                        <a:rPr lang="en-US" sz="1400" b="0" kern="1200" dirty="0" err="1">
                          <a:solidFill>
                            <a:schemeClr val="lt1"/>
                          </a:solidFill>
                          <a:effectLst/>
                          <a:latin typeface="+mn-lt"/>
                          <a:ea typeface="+mn-ea"/>
                          <a:cs typeface="+mn-cs"/>
                        </a:rPr>
                        <a:t>const</a:t>
                      </a:r>
                      <a:r>
                        <a:rPr lang="en-US" sz="1000" dirty="0"/>
                        <a:t> </a:t>
                      </a:r>
                      <a:r>
                        <a:rPr lang="en-US" sz="1400" b="0" kern="1200" dirty="0">
                          <a:solidFill>
                            <a:schemeClr val="lt1"/>
                          </a:solidFill>
                          <a:effectLst/>
                          <a:latin typeface="+mn-lt"/>
                          <a:ea typeface="+mn-ea"/>
                          <a:cs typeface="+mn-cs"/>
                        </a:rPr>
                        <a:t>square</a:t>
                      </a:r>
                      <a:r>
                        <a:rPr lang="en-US" sz="1000" dirty="0"/>
                        <a:t> </a:t>
                      </a:r>
                      <a:r>
                        <a:rPr lang="en-US" sz="1400" b="0" kern="1200" dirty="0">
                          <a:solidFill>
                            <a:schemeClr val="lt1"/>
                          </a:solidFill>
                          <a:effectLst/>
                          <a:latin typeface="+mn-lt"/>
                          <a:ea typeface="+mn-ea"/>
                          <a:cs typeface="+mn-cs"/>
                        </a:rPr>
                        <a:t>=</a:t>
                      </a:r>
                      <a:r>
                        <a:rPr lang="en-US" sz="1000" dirty="0"/>
                        <a:t> </a:t>
                      </a:r>
                      <a:r>
                        <a:rPr lang="en-US" sz="1000" b="0" dirty="0">
                          <a:effectLst/>
                        </a:rPr>
                        <a:t>x</a:t>
                      </a:r>
                      <a:r>
                        <a:rPr lang="en-US" sz="1000" dirty="0"/>
                        <a:t> </a:t>
                      </a:r>
                      <a:r>
                        <a:rPr lang="en-US" sz="1400" b="0" kern="1200" dirty="0">
                          <a:solidFill>
                            <a:schemeClr val="lt1"/>
                          </a:solidFill>
                          <a:effectLst/>
                          <a:latin typeface="+mn-lt"/>
                          <a:ea typeface="+mn-ea"/>
                          <a:cs typeface="+mn-cs"/>
                        </a:rPr>
                        <a:t>=&gt;</a:t>
                      </a:r>
                      <a:r>
                        <a:rPr lang="en-US" sz="1000" dirty="0"/>
                        <a:t> x </a:t>
                      </a:r>
                      <a:r>
                        <a:rPr lang="en-US" sz="1400" b="0" kern="1200" dirty="0">
                          <a:solidFill>
                            <a:schemeClr val="lt1"/>
                          </a:solidFill>
                          <a:effectLst/>
                          <a:latin typeface="+mn-lt"/>
                          <a:ea typeface="+mn-ea"/>
                          <a:cs typeface="+mn-cs"/>
                        </a:rPr>
                        <a:t>*</a:t>
                      </a:r>
                      <a:r>
                        <a:rPr lang="en-US" sz="1000" dirty="0"/>
                        <a:t> x</a:t>
                      </a:r>
                      <a:r>
                        <a:rPr lang="en-US" sz="1400" b="0" kern="1200" dirty="0">
                          <a:solidFill>
                            <a:schemeClr val="lt1"/>
                          </a:solidFill>
                          <a:effectLst/>
                          <a:latin typeface="+mn-lt"/>
                          <a:ea typeface="+mn-ea"/>
                          <a:cs typeface="+mn-cs"/>
                        </a:rPr>
                        <a:t>;</a:t>
                      </a:r>
                      <a:r>
                        <a:rPr lang="en-US" sz="1000" dirty="0"/>
                        <a:t> </a:t>
                      </a:r>
                      <a:r>
                        <a:rPr lang="en-US" sz="1400" b="0" kern="1200" dirty="0">
                          <a:solidFill>
                            <a:schemeClr val="lt1"/>
                          </a:solidFill>
                          <a:effectLst/>
                          <a:latin typeface="+mn-lt"/>
                          <a:ea typeface="+mn-ea"/>
                          <a:cs typeface="+mn-cs"/>
                        </a:rPr>
                        <a:t>// Invoke function to find product</a:t>
                      </a:r>
                      <a:r>
                        <a:rPr lang="en-US" sz="1000" dirty="0"/>
                        <a:t> </a:t>
                      </a:r>
                    </a:p>
                    <a:p>
                      <a:r>
                        <a:rPr lang="en-US" sz="1400" b="0" kern="1200" dirty="0">
                          <a:solidFill>
                            <a:schemeClr val="lt1"/>
                          </a:solidFill>
                          <a:effectLst/>
                          <a:latin typeface="+mn-lt"/>
                          <a:ea typeface="+mn-ea"/>
                          <a:cs typeface="+mn-cs"/>
                        </a:rPr>
                        <a:t>console.log(square(10));</a:t>
                      </a:r>
                      <a:endParaRPr lang="en-GB" sz="1000" dirty="0"/>
                    </a:p>
                  </a:txBody>
                  <a:tcPr marL="68580" marR="68580" marT="34290" marB="34290"/>
                </a:tc>
                <a:extLst>
                  <a:ext uri="{0D108BD9-81ED-4DB2-BD59-A6C34878D82A}">
                    <a16:rowId xmlns:a16="http://schemas.microsoft.com/office/drawing/2014/main" val="10000"/>
                  </a:ext>
                </a:extLst>
              </a:tr>
            </a:tbl>
          </a:graphicData>
        </a:graphic>
      </p:graphicFrame>
    </p:spTree>
    <p:extLst>
      <p:ext uri="{BB962C8B-B14F-4D97-AF65-F5344CB8AC3E}">
        <p14:creationId xmlns:p14="http://schemas.microsoft.com/office/powerpoint/2010/main" val="70431411"/>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in java script</a:t>
            </a:r>
          </a:p>
        </p:txBody>
      </p:sp>
      <p:sp>
        <p:nvSpPr>
          <p:cNvPr id="3" name="Content Placeholder 2"/>
          <p:cNvSpPr>
            <a:spLocks noGrp="1"/>
          </p:cNvSpPr>
          <p:nvPr>
            <p:ph idx="1"/>
          </p:nvPr>
        </p:nvSpPr>
        <p:spPr/>
        <p:txBody>
          <a:bodyPr/>
          <a:lstStyle/>
          <a:p>
            <a:pPr algn="just"/>
            <a:r>
              <a:rPr lang="en-US" dirty="0"/>
              <a:t>An array is a special variable, which can hold more than one value.</a:t>
            </a:r>
          </a:p>
          <a:p>
            <a:r>
              <a:rPr lang="en-US" dirty="0"/>
              <a:t>An array can hold many values under a single name, and you can access the values by referring to an index number.</a:t>
            </a:r>
          </a:p>
          <a:p>
            <a:r>
              <a:rPr lang="en-US" dirty="0"/>
              <a:t>Syntax </a:t>
            </a:r>
          </a:p>
          <a:p>
            <a:pPr marL="400050" lvl="1" indent="0">
              <a:buNone/>
            </a:pPr>
            <a:r>
              <a:rPr lang="en-US" dirty="0" err="1"/>
              <a:t>const</a:t>
            </a:r>
            <a:r>
              <a:rPr lang="en-US" dirty="0"/>
              <a:t> </a:t>
            </a:r>
            <a:r>
              <a:rPr lang="en-US" i="1" dirty="0" err="1"/>
              <a:t>array_name</a:t>
            </a:r>
            <a:r>
              <a:rPr lang="en-US" dirty="0"/>
              <a:t> = [</a:t>
            </a:r>
            <a:r>
              <a:rPr lang="en-US" i="1" dirty="0"/>
              <a:t>item1</a:t>
            </a:r>
            <a:r>
              <a:rPr lang="en-US" dirty="0"/>
              <a:t>, </a:t>
            </a:r>
            <a:r>
              <a:rPr lang="en-US" i="1" dirty="0"/>
              <a:t>item2</a:t>
            </a:r>
            <a:r>
              <a:rPr lang="en-US" dirty="0"/>
              <a:t>, ...];</a:t>
            </a:r>
          </a:p>
          <a:p>
            <a:endParaRPr lang="en-US" dirty="0"/>
          </a:p>
        </p:txBody>
      </p:sp>
    </p:spTree>
    <p:extLst>
      <p:ext uri="{BB962C8B-B14F-4D97-AF65-F5344CB8AC3E}">
        <p14:creationId xmlns:p14="http://schemas.microsoft.com/office/powerpoint/2010/main" val="257409056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Ways to Create Arrays</a:t>
            </a:r>
          </a:p>
        </p:txBody>
      </p:sp>
      <p:sp>
        <p:nvSpPr>
          <p:cNvPr id="3" name="Content Placeholder 2"/>
          <p:cNvSpPr>
            <a:spLocks noGrp="1"/>
          </p:cNvSpPr>
          <p:nvPr>
            <p:ph idx="1"/>
          </p:nvPr>
        </p:nvSpPr>
        <p:spPr/>
        <p:txBody>
          <a:bodyPr>
            <a:normAutofit fontScale="92500" lnSpcReduction="10000"/>
          </a:bodyPr>
          <a:lstStyle/>
          <a:p>
            <a:pPr marL="0" indent="0">
              <a:buNone/>
            </a:pPr>
            <a:r>
              <a:rPr lang="en-US" dirty="0"/>
              <a:t>There are 3 ways to construct array in JavaScript</a:t>
            </a:r>
          </a:p>
          <a:p>
            <a:r>
              <a:rPr lang="en-US" dirty="0"/>
              <a:t>By array literal:- </a:t>
            </a:r>
          </a:p>
          <a:p>
            <a:pPr marL="914400" lvl="2" indent="0">
              <a:buNone/>
            </a:pPr>
            <a:r>
              <a:rPr lang="en-GB" dirty="0" err="1"/>
              <a:t>var</a:t>
            </a:r>
            <a:r>
              <a:rPr lang="en-GB" dirty="0"/>
              <a:t> </a:t>
            </a:r>
            <a:r>
              <a:rPr lang="en-GB" dirty="0" err="1"/>
              <a:t>arrayname</a:t>
            </a:r>
            <a:r>
              <a:rPr lang="en-GB" dirty="0"/>
              <a:t>=[value1,value2.....</a:t>
            </a:r>
            <a:r>
              <a:rPr lang="en-GB" dirty="0" err="1"/>
              <a:t>valueN</a:t>
            </a:r>
            <a:r>
              <a:rPr lang="en-GB" dirty="0"/>
              <a:t>];  </a:t>
            </a:r>
          </a:p>
          <a:p>
            <a:pPr marL="914400" lvl="2" indent="0">
              <a:buNone/>
            </a:pPr>
            <a:r>
              <a:rPr lang="en-US" dirty="0"/>
              <a:t>OR</a:t>
            </a:r>
            <a:endParaRPr lang="en-GB" dirty="0"/>
          </a:p>
          <a:p>
            <a:pPr marL="914400" lvl="2" indent="0">
              <a:buNone/>
            </a:pPr>
            <a:r>
              <a:rPr lang="en-US" dirty="0" err="1"/>
              <a:t>var</a:t>
            </a:r>
            <a:r>
              <a:rPr lang="en-US" dirty="0"/>
              <a:t> </a:t>
            </a:r>
            <a:r>
              <a:rPr lang="en-US" dirty="0" err="1"/>
              <a:t>arrayname</a:t>
            </a:r>
            <a:r>
              <a:rPr lang="en-US" dirty="0"/>
              <a:t> = [];</a:t>
            </a:r>
          </a:p>
          <a:p>
            <a:pPr marL="914400" lvl="2" indent="0">
              <a:buNone/>
            </a:pPr>
            <a:r>
              <a:rPr lang="en-US" dirty="0" err="1"/>
              <a:t>arrayname</a:t>
            </a:r>
            <a:r>
              <a:rPr lang="en-US" dirty="0"/>
              <a:t>[0] = 5;</a:t>
            </a:r>
            <a:endParaRPr lang="en-GB" sz="1600" dirty="0"/>
          </a:p>
          <a:p>
            <a:r>
              <a:rPr lang="en-US" dirty="0"/>
              <a:t>By creating instance of Array directly (using new keyword)</a:t>
            </a:r>
          </a:p>
          <a:p>
            <a:pPr marL="914400" lvl="2" indent="0">
              <a:buNone/>
            </a:pPr>
            <a:r>
              <a:rPr lang="en-US" dirty="0" err="1"/>
              <a:t>var</a:t>
            </a:r>
            <a:r>
              <a:rPr lang="en-US" dirty="0"/>
              <a:t> </a:t>
            </a:r>
            <a:r>
              <a:rPr lang="en-US" dirty="0" err="1"/>
              <a:t>emp</a:t>
            </a:r>
            <a:r>
              <a:rPr lang="en-US" dirty="0"/>
              <a:t> = new Array();  </a:t>
            </a:r>
          </a:p>
          <a:p>
            <a:pPr marL="914400" lvl="2" indent="0">
              <a:buNone/>
            </a:pPr>
            <a:r>
              <a:rPr lang="en-US" dirty="0" err="1"/>
              <a:t>emp</a:t>
            </a:r>
            <a:r>
              <a:rPr lang="en-US" dirty="0"/>
              <a:t>[0] = "</a:t>
            </a:r>
            <a:r>
              <a:rPr lang="en-US" dirty="0" err="1"/>
              <a:t>Arun</a:t>
            </a:r>
            <a:r>
              <a:rPr lang="en-US" dirty="0"/>
              <a:t>";  </a:t>
            </a:r>
          </a:p>
          <a:p>
            <a:pPr marL="914400" lvl="2" indent="0">
              <a:buNone/>
            </a:pPr>
            <a:r>
              <a:rPr lang="en-US" dirty="0" err="1"/>
              <a:t>emp</a:t>
            </a:r>
            <a:r>
              <a:rPr lang="en-US" dirty="0"/>
              <a:t>[1] = "Varun";</a:t>
            </a:r>
          </a:p>
          <a:p>
            <a:r>
              <a:rPr lang="en-US" sz="3000" dirty="0"/>
              <a:t>By using an Array constructor (using new keyword)</a:t>
            </a:r>
          </a:p>
          <a:p>
            <a:pPr marL="914400" lvl="2" indent="0">
              <a:buNone/>
            </a:pPr>
            <a:r>
              <a:rPr lang="en-US" dirty="0" err="1"/>
              <a:t>var</a:t>
            </a:r>
            <a:r>
              <a:rPr lang="en-US" dirty="0"/>
              <a:t> </a:t>
            </a:r>
            <a:r>
              <a:rPr lang="en-US" dirty="0" err="1"/>
              <a:t>emp</a:t>
            </a:r>
            <a:r>
              <a:rPr lang="en-US" dirty="0"/>
              <a:t>=new Array("</a:t>
            </a:r>
            <a:r>
              <a:rPr lang="en-US" dirty="0" err="1"/>
              <a:t>Jai","Vijay","Smith</a:t>
            </a:r>
            <a:r>
              <a:rPr lang="en-US" dirty="0"/>
              <a:t>");</a:t>
            </a:r>
          </a:p>
          <a:p>
            <a:endParaRPr lang="en-US" dirty="0"/>
          </a:p>
        </p:txBody>
      </p:sp>
    </p:spTree>
    <p:extLst>
      <p:ext uri="{BB962C8B-B14F-4D97-AF65-F5344CB8AC3E}">
        <p14:creationId xmlns:p14="http://schemas.microsoft.com/office/powerpoint/2010/main" val="642631968"/>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Why use Arrays</a:t>
            </a:r>
          </a:p>
        </p:txBody>
      </p:sp>
      <p:sp>
        <p:nvSpPr>
          <p:cNvPr id="3" name="Content Placeholder 2"/>
          <p:cNvSpPr>
            <a:spLocks noGrp="1"/>
          </p:cNvSpPr>
          <p:nvPr>
            <p:ph idx="1"/>
          </p:nvPr>
        </p:nvSpPr>
        <p:spPr/>
        <p:txBody>
          <a:bodyPr/>
          <a:lstStyle/>
          <a:p>
            <a:r>
              <a:rPr lang="en-US" dirty="0"/>
              <a:t>If you have a list of items (a list of car names, for example), storing the cars in single variables could look like this:</a:t>
            </a:r>
          </a:p>
          <a:p>
            <a:r>
              <a:rPr lang="en-US" dirty="0"/>
              <a:t>let car1 = "Saab";</a:t>
            </a:r>
            <a:br>
              <a:rPr lang="en-US" dirty="0"/>
            </a:br>
            <a:r>
              <a:rPr lang="en-US" dirty="0"/>
              <a:t>let car2 = "Volvo";</a:t>
            </a:r>
            <a:br>
              <a:rPr lang="en-US" dirty="0"/>
            </a:br>
            <a:r>
              <a:rPr lang="en-US" dirty="0"/>
              <a:t>let car3 = "BMW";</a:t>
            </a:r>
          </a:p>
          <a:p>
            <a:endParaRPr lang="en-US" dirty="0"/>
          </a:p>
        </p:txBody>
      </p:sp>
    </p:spTree>
    <p:extLst>
      <p:ext uri="{BB962C8B-B14F-4D97-AF65-F5344CB8AC3E}">
        <p14:creationId xmlns:p14="http://schemas.microsoft.com/office/powerpoint/2010/main" val="4029368544"/>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examples</a:t>
            </a:r>
          </a:p>
        </p:txBody>
      </p:sp>
      <p:sp>
        <p:nvSpPr>
          <p:cNvPr id="3" name="Content Placeholder 2"/>
          <p:cNvSpPr>
            <a:spLocks noGrp="1"/>
          </p:cNvSpPr>
          <p:nvPr>
            <p:ph idx="1"/>
          </p:nvPr>
        </p:nvSpPr>
        <p:spPr/>
        <p:txBody>
          <a:bodyPr/>
          <a:lstStyle/>
          <a:p>
            <a:pPr marL="514350" indent="-457200"/>
            <a:r>
              <a:rPr lang="en-US" dirty="0" err="1"/>
              <a:t>const</a:t>
            </a:r>
            <a:r>
              <a:rPr lang="en-US" dirty="0"/>
              <a:t> cars = ["Saab", "Volvo", "BMW"];</a:t>
            </a:r>
          </a:p>
          <a:p>
            <a:pPr marL="457200" lvl="1" indent="0">
              <a:buNone/>
            </a:pPr>
            <a:r>
              <a:rPr lang="en-US" dirty="0" err="1"/>
              <a:t>document.getElementById</a:t>
            </a:r>
            <a:r>
              <a:rPr lang="en-US" dirty="0"/>
              <a:t>("demo").</a:t>
            </a:r>
            <a:r>
              <a:rPr lang="en-US" dirty="0" err="1"/>
              <a:t>innerHTML</a:t>
            </a:r>
            <a:r>
              <a:rPr lang="en-US" dirty="0"/>
              <a:t> = cars;</a:t>
            </a:r>
          </a:p>
          <a:p>
            <a:r>
              <a:rPr lang="en-US" dirty="0">
                <a:solidFill>
                  <a:srgbClr val="FF0000"/>
                </a:solidFill>
              </a:rPr>
              <a:t>Access specific element: </a:t>
            </a:r>
          </a:p>
          <a:p>
            <a:r>
              <a:rPr lang="en-US" dirty="0" err="1"/>
              <a:t>const</a:t>
            </a:r>
            <a:r>
              <a:rPr lang="en-US" dirty="0"/>
              <a:t> cars = ["Saab", "Volvo", "BMW"];</a:t>
            </a:r>
          </a:p>
          <a:p>
            <a:pPr marL="400050" lvl="1" indent="0">
              <a:buNone/>
            </a:pPr>
            <a:r>
              <a:rPr lang="en-US" dirty="0" err="1"/>
              <a:t>document.getElementById</a:t>
            </a:r>
            <a:r>
              <a:rPr lang="en-US" dirty="0"/>
              <a:t>("demo").</a:t>
            </a:r>
            <a:r>
              <a:rPr lang="en-US" dirty="0" err="1"/>
              <a:t>innerHTML</a:t>
            </a:r>
            <a:r>
              <a:rPr lang="en-US" dirty="0"/>
              <a:t> = cars[0];</a:t>
            </a:r>
          </a:p>
        </p:txBody>
      </p:sp>
    </p:spTree>
    <p:extLst>
      <p:ext uri="{BB962C8B-B14F-4D97-AF65-F5344CB8AC3E}">
        <p14:creationId xmlns:p14="http://schemas.microsoft.com/office/powerpoint/2010/main" val="2221085878"/>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examples</a:t>
            </a:r>
          </a:p>
        </p:txBody>
      </p:sp>
      <p:sp>
        <p:nvSpPr>
          <p:cNvPr id="3" name="Content Placeholder 2"/>
          <p:cNvSpPr>
            <a:spLocks noGrp="1"/>
          </p:cNvSpPr>
          <p:nvPr>
            <p:ph idx="1"/>
          </p:nvPr>
        </p:nvSpPr>
        <p:spPr/>
        <p:txBody>
          <a:bodyPr>
            <a:normAutofit/>
          </a:bodyPr>
          <a:lstStyle/>
          <a:p>
            <a:pPr marL="514350" indent="-457200"/>
            <a:r>
              <a:rPr lang="en-US" dirty="0"/>
              <a:t>Add items to end of an array</a:t>
            </a:r>
          </a:p>
          <a:p>
            <a:pPr marL="914400" lvl="1" indent="-457200"/>
            <a:r>
              <a:rPr lang="en-US" dirty="0" err="1"/>
              <a:t>const</a:t>
            </a:r>
            <a:r>
              <a:rPr lang="en-US" dirty="0"/>
              <a:t> cars = ["Saab", "Volvo", "BMW"];</a:t>
            </a:r>
          </a:p>
          <a:p>
            <a:pPr marL="914400" lvl="1" indent="-457200"/>
            <a:r>
              <a:rPr lang="en-US" dirty="0" err="1"/>
              <a:t>cars.push</a:t>
            </a:r>
            <a:r>
              <a:rPr lang="en-US" dirty="0"/>
              <a:t>();</a:t>
            </a:r>
          </a:p>
          <a:p>
            <a:pPr marL="914400" lvl="1" indent="-457200"/>
            <a:r>
              <a:rPr lang="en-US" dirty="0" err="1"/>
              <a:t>document.getElementById</a:t>
            </a:r>
            <a:r>
              <a:rPr lang="en-US" dirty="0"/>
              <a:t>("demo"). </a:t>
            </a:r>
            <a:r>
              <a:rPr lang="en-US" dirty="0" err="1"/>
              <a:t>innerHTML</a:t>
            </a:r>
            <a:r>
              <a:rPr lang="en-US" dirty="0"/>
              <a:t> = cars;</a:t>
            </a:r>
          </a:p>
          <a:p>
            <a:r>
              <a:rPr lang="en-US" dirty="0">
                <a:solidFill>
                  <a:srgbClr val="FF0000"/>
                </a:solidFill>
              </a:rPr>
              <a:t>Add items to start of an array </a:t>
            </a:r>
          </a:p>
          <a:p>
            <a:pPr lvl="1"/>
            <a:r>
              <a:rPr lang="en-US" dirty="0" err="1"/>
              <a:t>cars.unshift</a:t>
            </a:r>
            <a:r>
              <a:rPr lang="en-US" dirty="0"/>
              <a:t>(“any thing to add”);</a:t>
            </a:r>
          </a:p>
          <a:p>
            <a:pPr lvl="1"/>
            <a:endParaRPr lang="en-US" dirty="0"/>
          </a:p>
        </p:txBody>
      </p:sp>
    </p:spTree>
    <p:extLst>
      <p:ext uri="{BB962C8B-B14F-4D97-AF65-F5344CB8AC3E}">
        <p14:creationId xmlns:p14="http://schemas.microsoft.com/office/powerpoint/2010/main" val="1421249126"/>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examples</a:t>
            </a:r>
          </a:p>
        </p:txBody>
      </p:sp>
      <p:sp>
        <p:nvSpPr>
          <p:cNvPr id="3" name="Content Placeholder 2"/>
          <p:cNvSpPr>
            <a:spLocks noGrp="1"/>
          </p:cNvSpPr>
          <p:nvPr>
            <p:ph idx="1"/>
          </p:nvPr>
        </p:nvSpPr>
        <p:spPr/>
        <p:txBody>
          <a:bodyPr>
            <a:normAutofit/>
          </a:bodyPr>
          <a:lstStyle/>
          <a:p>
            <a:pPr marL="514350" indent="-457200"/>
            <a:r>
              <a:rPr lang="en-US" dirty="0"/>
              <a:t>Remove items to end of an array</a:t>
            </a:r>
          </a:p>
          <a:p>
            <a:pPr marL="914400" lvl="1" indent="-457200"/>
            <a:r>
              <a:rPr lang="en-US" dirty="0" err="1"/>
              <a:t>const</a:t>
            </a:r>
            <a:r>
              <a:rPr lang="en-US" dirty="0"/>
              <a:t> cars = ["Saab", "Volvo", "BMW"];</a:t>
            </a:r>
          </a:p>
          <a:p>
            <a:pPr marL="914400" lvl="1" indent="-457200"/>
            <a:r>
              <a:rPr lang="en-US" dirty="0" err="1"/>
              <a:t>cars.pop</a:t>
            </a:r>
            <a:r>
              <a:rPr lang="en-US" dirty="0"/>
              <a:t>();</a:t>
            </a:r>
          </a:p>
          <a:p>
            <a:pPr marL="914400" lvl="1" indent="-457200"/>
            <a:r>
              <a:rPr lang="en-US" dirty="0" err="1"/>
              <a:t>document.getElementById</a:t>
            </a:r>
            <a:r>
              <a:rPr lang="en-US" dirty="0"/>
              <a:t>("demo"). </a:t>
            </a:r>
            <a:r>
              <a:rPr lang="en-US" dirty="0" err="1"/>
              <a:t>innerHTML</a:t>
            </a:r>
            <a:r>
              <a:rPr lang="en-US" dirty="0"/>
              <a:t> = cars;</a:t>
            </a:r>
          </a:p>
          <a:p>
            <a:r>
              <a:rPr lang="en-US" dirty="0">
                <a:solidFill>
                  <a:srgbClr val="FF0000"/>
                </a:solidFill>
              </a:rPr>
              <a:t>Remove items to start of an array </a:t>
            </a:r>
          </a:p>
          <a:p>
            <a:pPr lvl="1"/>
            <a:r>
              <a:rPr lang="en-US" dirty="0" err="1"/>
              <a:t>cars.shift</a:t>
            </a:r>
            <a:r>
              <a:rPr lang="en-US" dirty="0"/>
              <a:t>();</a:t>
            </a:r>
          </a:p>
          <a:p>
            <a:pPr lvl="1"/>
            <a:endParaRPr lang="en-US" dirty="0"/>
          </a:p>
        </p:txBody>
      </p:sp>
    </p:spTree>
    <p:extLst>
      <p:ext uri="{BB962C8B-B14F-4D97-AF65-F5344CB8AC3E}">
        <p14:creationId xmlns:p14="http://schemas.microsoft.com/office/powerpoint/2010/main" val="1775072694"/>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examples</a:t>
            </a:r>
          </a:p>
        </p:txBody>
      </p:sp>
      <p:sp>
        <p:nvSpPr>
          <p:cNvPr id="3" name="Content Placeholder 2"/>
          <p:cNvSpPr>
            <a:spLocks noGrp="1"/>
          </p:cNvSpPr>
          <p:nvPr>
            <p:ph idx="1"/>
          </p:nvPr>
        </p:nvSpPr>
        <p:spPr/>
        <p:txBody>
          <a:bodyPr>
            <a:normAutofit/>
          </a:bodyPr>
          <a:lstStyle/>
          <a:p>
            <a:pPr marL="514350" indent="-457200"/>
            <a:r>
              <a:rPr lang="en-US" dirty="0"/>
              <a:t>Get length of an array</a:t>
            </a:r>
          </a:p>
          <a:p>
            <a:pPr marL="914400" lvl="1" indent="-457200"/>
            <a:r>
              <a:rPr lang="en-US" dirty="0" err="1"/>
              <a:t>Var</a:t>
            </a:r>
            <a:r>
              <a:rPr lang="en-US" dirty="0"/>
              <a:t> </a:t>
            </a:r>
            <a:r>
              <a:rPr lang="en-US" dirty="0" err="1"/>
              <a:t>arr</a:t>
            </a:r>
            <a:r>
              <a:rPr lang="en-US" dirty="0"/>
              <a:t> = [1,2,3,4,5,];</a:t>
            </a:r>
          </a:p>
          <a:p>
            <a:pPr marL="914400" lvl="1" indent="-457200"/>
            <a:r>
              <a:rPr lang="en-US" dirty="0" err="1"/>
              <a:t>Document.getelementbyid</a:t>
            </a:r>
            <a:r>
              <a:rPr lang="en-US" dirty="0"/>
              <a:t>(“add”).</a:t>
            </a:r>
            <a:r>
              <a:rPr lang="en-US" dirty="0" err="1"/>
              <a:t>innerhtml</a:t>
            </a:r>
            <a:r>
              <a:rPr lang="en-US" dirty="0"/>
              <a:t> = </a:t>
            </a:r>
            <a:r>
              <a:rPr lang="en-US" dirty="0" err="1"/>
              <a:t>arr.length</a:t>
            </a:r>
            <a:r>
              <a:rPr lang="en-US" dirty="0"/>
              <a:t>;</a:t>
            </a:r>
          </a:p>
          <a:p>
            <a:pPr marL="514350" indent="-457200"/>
            <a:r>
              <a:rPr lang="en-US" dirty="0">
                <a:solidFill>
                  <a:srgbClr val="FF0000"/>
                </a:solidFill>
              </a:rPr>
              <a:t>Access(traverse) an array</a:t>
            </a:r>
          </a:p>
          <a:p>
            <a:pPr lvl="1"/>
            <a:r>
              <a:rPr lang="en-US" dirty="0" err="1"/>
              <a:t>Var</a:t>
            </a:r>
            <a:r>
              <a:rPr lang="en-US" dirty="0"/>
              <a:t> </a:t>
            </a:r>
            <a:r>
              <a:rPr lang="en-US" dirty="0" err="1"/>
              <a:t>arr</a:t>
            </a:r>
            <a:r>
              <a:rPr lang="en-US" dirty="0"/>
              <a:t> = [1,2,3,4,5];</a:t>
            </a:r>
          </a:p>
          <a:p>
            <a:pPr lvl="1"/>
            <a:r>
              <a:rPr lang="en-US" dirty="0"/>
              <a:t>For(</a:t>
            </a:r>
            <a:r>
              <a:rPr lang="en-US" dirty="0" err="1"/>
              <a:t>var</a:t>
            </a:r>
            <a:r>
              <a:rPr lang="en-US" dirty="0"/>
              <a:t> </a:t>
            </a:r>
            <a:r>
              <a:rPr lang="en-US" dirty="0" err="1"/>
              <a:t>i</a:t>
            </a:r>
            <a:r>
              <a:rPr lang="en-US" dirty="0"/>
              <a:t>=0; </a:t>
            </a:r>
            <a:r>
              <a:rPr lang="en-US" dirty="0" err="1"/>
              <a:t>i</a:t>
            </a:r>
            <a:r>
              <a:rPr lang="en-US" dirty="0"/>
              <a:t>&lt;</a:t>
            </a:r>
            <a:r>
              <a:rPr lang="en-US" dirty="0" err="1"/>
              <a:t>arr.length;i</a:t>
            </a:r>
            <a:r>
              <a:rPr lang="en-US" dirty="0"/>
              <a:t>++){</a:t>
            </a:r>
          </a:p>
          <a:p>
            <a:pPr lvl="1"/>
            <a:r>
              <a:rPr lang="en-US" dirty="0" err="1"/>
              <a:t>Document.getelementbyid</a:t>
            </a:r>
            <a:r>
              <a:rPr lang="en-US" dirty="0"/>
              <a:t>(“add”).</a:t>
            </a:r>
            <a:r>
              <a:rPr lang="en-US" dirty="0" err="1"/>
              <a:t>innerhtml</a:t>
            </a:r>
            <a:r>
              <a:rPr lang="en-US" dirty="0"/>
              <a:t>+= </a:t>
            </a:r>
            <a:r>
              <a:rPr lang="en-US" dirty="0" err="1"/>
              <a:t>arr</a:t>
            </a:r>
            <a:r>
              <a:rPr lang="en-US" dirty="0"/>
              <a:t>[</a:t>
            </a:r>
            <a:r>
              <a:rPr lang="en-US" dirty="0" err="1"/>
              <a:t>i</a:t>
            </a:r>
            <a:r>
              <a:rPr lang="en-US" dirty="0"/>
              <a:t>]+ “&lt;</a:t>
            </a:r>
            <a:r>
              <a:rPr lang="en-US" dirty="0" err="1"/>
              <a:t>br</a:t>
            </a:r>
            <a:r>
              <a:rPr lang="en-US" dirty="0"/>
              <a:t>&gt;”;</a:t>
            </a:r>
          </a:p>
        </p:txBody>
      </p:sp>
    </p:spTree>
    <p:extLst>
      <p:ext uri="{BB962C8B-B14F-4D97-AF65-F5344CB8AC3E}">
        <p14:creationId xmlns:p14="http://schemas.microsoft.com/office/powerpoint/2010/main" val="243883377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 examples</a:t>
            </a:r>
          </a:p>
        </p:txBody>
      </p:sp>
      <p:sp>
        <p:nvSpPr>
          <p:cNvPr id="3" name="Content Placeholder 2"/>
          <p:cNvSpPr>
            <a:spLocks noGrp="1"/>
          </p:cNvSpPr>
          <p:nvPr>
            <p:ph idx="1"/>
          </p:nvPr>
        </p:nvSpPr>
        <p:spPr/>
        <p:txBody>
          <a:bodyPr>
            <a:normAutofit/>
          </a:bodyPr>
          <a:lstStyle/>
          <a:p>
            <a:pPr marL="514350" indent="-457200"/>
            <a:r>
              <a:rPr lang="en-US" dirty="0">
                <a:solidFill>
                  <a:srgbClr val="FF0000"/>
                </a:solidFill>
              </a:rPr>
              <a:t>Access(traverse) an array</a:t>
            </a:r>
          </a:p>
          <a:p>
            <a:pPr lvl="1"/>
            <a:r>
              <a:rPr lang="en-US" dirty="0"/>
              <a:t>We can also use while loop</a:t>
            </a:r>
          </a:p>
          <a:p>
            <a:pPr lvl="1"/>
            <a:r>
              <a:rPr lang="en-US" dirty="0"/>
              <a:t>Do while loop for traversing an array</a:t>
            </a:r>
          </a:p>
          <a:p>
            <a:pPr lvl="1"/>
            <a:r>
              <a:rPr lang="en-US" dirty="0"/>
              <a:t>Also use decision making statements</a:t>
            </a:r>
          </a:p>
          <a:p>
            <a:pPr lvl="1"/>
            <a:r>
              <a:rPr lang="en-US" dirty="0"/>
              <a:t>If, if else etc.</a:t>
            </a:r>
          </a:p>
        </p:txBody>
      </p:sp>
    </p:spTree>
    <p:extLst>
      <p:ext uri="{BB962C8B-B14F-4D97-AF65-F5344CB8AC3E}">
        <p14:creationId xmlns:p14="http://schemas.microsoft.com/office/powerpoint/2010/main" val="3852770504"/>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Arrays examples</a:t>
            </a:r>
          </a:p>
        </p:txBody>
      </p:sp>
      <p:sp>
        <p:nvSpPr>
          <p:cNvPr id="3" name="Content Placeholder 2"/>
          <p:cNvSpPr>
            <a:spLocks noGrp="1"/>
          </p:cNvSpPr>
          <p:nvPr>
            <p:ph idx="1"/>
          </p:nvPr>
        </p:nvSpPr>
        <p:spPr/>
        <p:txBody>
          <a:bodyPr/>
          <a:lstStyle/>
          <a:p>
            <a:r>
              <a:rPr lang="en-US" dirty="0"/>
              <a:t>Sort an array</a:t>
            </a:r>
          </a:p>
          <a:p>
            <a:pPr marL="914400" lvl="1" indent="-457200"/>
            <a:r>
              <a:rPr lang="en-US" dirty="0" err="1"/>
              <a:t>Var</a:t>
            </a:r>
            <a:r>
              <a:rPr lang="en-US" dirty="0"/>
              <a:t> </a:t>
            </a:r>
            <a:r>
              <a:rPr lang="en-US" dirty="0" err="1"/>
              <a:t>arr</a:t>
            </a:r>
            <a:r>
              <a:rPr lang="en-US" dirty="0"/>
              <a:t> = [1,2,3,4,5,];</a:t>
            </a:r>
          </a:p>
          <a:p>
            <a:pPr marL="914400" lvl="1" indent="-457200"/>
            <a:r>
              <a:rPr lang="en-US" dirty="0" err="1"/>
              <a:t>Arr.sort</a:t>
            </a:r>
            <a:r>
              <a:rPr lang="en-US" dirty="0"/>
              <a:t>();</a:t>
            </a:r>
          </a:p>
          <a:p>
            <a:pPr marL="914400" lvl="1" indent="-457200"/>
            <a:r>
              <a:rPr lang="en-US" dirty="0" err="1"/>
              <a:t>Document.getelementbyid</a:t>
            </a:r>
            <a:r>
              <a:rPr lang="en-US" dirty="0"/>
              <a:t>(“add”).</a:t>
            </a:r>
            <a:r>
              <a:rPr lang="en-US" dirty="0" err="1"/>
              <a:t>innerhtml</a:t>
            </a:r>
            <a:r>
              <a:rPr lang="en-US" dirty="0"/>
              <a:t> = </a:t>
            </a:r>
            <a:r>
              <a:rPr lang="en-US" dirty="0" err="1"/>
              <a:t>arr.length</a:t>
            </a:r>
            <a:r>
              <a:rPr lang="en-US" dirty="0"/>
              <a:t>;</a:t>
            </a:r>
          </a:p>
          <a:p>
            <a:r>
              <a:rPr lang="en-US" dirty="0"/>
              <a:t>Sort in reverse order</a:t>
            </a:r>
          </a:p>
          <a:p>
            <a:pPr lvl="1"/>
            <a:r>
              <a:rPr lang="en-US" dirty="0" err="1"/>
              <a:t>Arr.reverse</a:t>
            </a:r>
            <a:r>
              <a:rPr lang="en-US"/>
              <a:t>();</a:t>
            </a:r>
            <a:endParaRPr lang="en-US" dirty="0"/>
          </a:p>
        </p:txBody>
      </p:sp>
    </p:spTree>
    <p:extLst>
      <p:ext uri="{BB962C8B-B14F-4D97-AF65-F5344CB8AC3E}">
        <p14:creationId xmlns:p14="http://schemas.microsoft.com/office/powerpoint/2010/main" val="1685807949"/>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 dirty="0"/>
              <a:t>Arrays Example</a:t>
            </a:r>
            <a:endParaRPr lang="en-US" dirty="0"/>
          </a:p>
        </p:txBody>
      </p:sp>
      <p:sp>
        <p:nvSpPr>
          <p:cNvPr id="3" name="Content Placeholder 2"/>
          <p:cNvSpPr>
            <a:spLocks noGrp="1"/>
          </p:cNvSpPr>
          <p:nvPr>
            <p:ph idx="1"/>
          </p:nvPr>
        </p:nvSpPr>
        <p:spPr/>
        <p:txBody>
          <a:bodyPr>
            <a:normAutofit fontScale="92500" lnSpcReduction="10000"/>
          </a:bodyPr>
          <a:lstStyle/>
          <a:p>
            <a:r>
              <a:rPr lang="en-US" dirty="0"/>
              <a:t>let test=[];</a:t>
            </a:r>
          </a:p>
          <a:p>
            <a:pPr marL="0" indent="0">
              <a:buNone/>
            </a:pPr>
            <a:r>
              <a:rPr lang="en-US" dirty="0"/>
              <a:t> while (true){</a:t>
            </a:r>
          </a:p>
          <a:p>
            <a:pPr marL="0" indent="0">
              <a:buNone/>
            </a:pPr>
            <a:r>
              <a:rPr lang="en-US" dirty="0" err="1"/>
              <a:t>const</a:t>
            </a:r>
            <a:r>
              <a:rPr lang="en-US" dirty="0"/>
              <a:t> </a:t>
            </a:r>
            <a:r>
              <a:rPr lang="en-US" dirty="0" err="1"/>
              <a:t>customname</a:t>
            </a:r>
            <a:r>
              <a:rPr lang="en-US" dirty="0"/>
              <a:t> = prompt("Enter customer name (or 'done' to finish):");</a:t>
            </a:r>
          </a:p>
          <a:p>
            <a:pPr marL="0" indent="0">
              <a:buNone/>
            </a:pPr>
            <a:r>
              <a:rPr lang="en-US" dirty="0"/>
              <a:t>if (</a:t>
            </a:r>
            <a:r>
              <a:rPr lang="en-US" dirty="0" err="1"/>
              <a:t>customname</a:t>
            </a:r>
            <a:r>
              <a:rPr lang="en-US" dirty="0"/>
              <a:t> === "done") {</a:t>
            </a:r>
          </a:p>
          <a:p>
            <a:pPr marL="0" indent="0">
              <a:buNone/>
            </a:pPr>
            <a:r>
              <a:rPr lang="en-US" dirty="0"/>
              <a:t>         break;</a:t>
            </a:r>
          </a:p>
          <a:p>
            <a:pPr marL="0" indent="0">
              <a:buNone/>
            </a:pPr>
            <a:r>
              <a:rPr lang="en-US" dirty="0"/>
              <a:t>     }</a:t>
            </a:r>
          </a:p>
          <a:p>
            <a:pPr marL="0" indent="0">
              <a:buNone/>
            </a:pPr>
            <a:r>
              <a:rPr lang="en-US" dirty="0"/>
              <a:t>   </a:t>
            </a:r>
            <a:r>
              <a:rPr lang="en-US" dirty="0" err="1"/>
              <a:t>test.push</a:t>
            </a:r>
            <a:r>
              <a:rPr lang="en-US" dirty="0"/>
              <a:t>(</a:t>
            </a:r>
            <a:r>
              <a:rPr lang="en-US" dirty="0" err="1"/>
              <a:t>customname</a:t>
            </a:r>
            <a:r>
              <a:rPr lang="en-US" dirty="0"/>
              <a:t>);</a:t>
            </a:r>
          </a:p>
          <a:p>
            <a:pPr marL="0" indent="0">
              <a:buNone/>
            </a:pPr>
            <a:r>
              <a:rPr lang="en-US" dirty="0"/>
              <a:t> }</a:t>
            </a:r>
          </a:p>
          <a:p>
            <a:pPr marL="0" indent="0">
              <a:buNone/>
            </a:pPr>
            <a:r>
              <a:rPr lang="en-US" dirty="0"/>
              <a:t> console.log(test);</a:t>
            </a:r>
          </a:p>
        </p:txBody>
      </p:sp>
    </p:spTree>
    <p:extLst>
      <p:ext uri="{BB962C8B-B14F-4D97-AF65-F5344CB8AC3E}">
        <p14:creationId xmlns:p14="http://schemas.microsoft.com/office/powerpoint/2010/main" val="2381918063"/>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033954" y="540685"/>
            <a:ext cx="7886700" cy="737272"/>
          </a:xfrm>
        </p:spPr>
        <p:txBody>
          <a:bodyPr/>
          <a:lstStyle/>
          <a:p>
            <a:pPr algn="ctr"/>
            <a:r>
              <a:rPr lang="en-US" dirty="0"/>
              <a:t>Arrays Methods</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1974187" y="3976743"/>
            <a:ext cx="4117089" cy="1546577"/>
          </a:xfrm>
          <a:prstGeom prst="rect">
            <a:avLst/>
          </a:prstGeom>
          <a:noFill/>
        </p:spPr>
        <p:txBody>
          <a:bodyPr wrap="none" rtlCol="0">
            <a:spAutoFit/>
          </a:bodyPr>
          <a:lstStyle/>
          <a:p>
            <a:r>
              <a:rPr lang="en-US" sz="1350" b="1" dirty="0">
                <a:solidFill>
                  <a:prstClr val="black"/>
                </a:solidFill>
              </a:rPr>
              <a:t>Example:- Split</a:t>
            </a:r>
          </a:p>
          <a:p>
            <a:r>
              <a:rPr lang="en-US" sz="1350" dirty="0">
                <a:solidFill>
                  <a:prstClr val="black"/>
                </a:solidFill>
              </a:rPr>
              <a:t>let words = “My Name is </a:t>
            </a:r>
            <a:r>
              <a:rPr lang="en-US" sz="1350" dirty="0" err="1">
                <a:solidFill>
                  <a:prstClr val="black"/>
                </a:solidFill>
              </a:rPr>
              <a:t>Naveed</a:t>
            </a:r>
            <a:r>
              <a:rPr lang="en-US" sz="1350" dirty="0">
                <a:solidFill>
                  <a:prstClr val="black"/>
                </a:solidFill>
              </a:rPr>
              <a:t>”.split(‘ ’);  </a:t>
            </a:r>
          </a:p>
          <a:p>
            <a:r>
              <a:rPr lang="en-US" sz="1350" dirty="0">
                <a:solidFill>
                  <a:prstClr val="black"/>
                </a:solidFill>
              </a:rPr>
              <a:t>console.log(words); // [‘My’, ‘Name’, ‘is’, ‘</a:t>
            </a:r>
            <a:r>
              <a:rPr lang="en-US" sz="1350" dirty="0" err="1">
                <a:solidFill>
                  <a:prstClr val="black"/>
                </a:solidFill>
              </a:rPr>
              <a:t>Naveed</a:t>
            </a:r>
            <a:r>
              <a:rPr lang="en-US" sz="1350" dirty="0">
                <a:solidFill>
                  <a:prstClr val="black"/>
                </a:solidFill>
              </a:rPr>
              <a:t>’]</a:t>
            </a:r>
          </a:p>
          <a:p>
            <a:r>
              <a:rPr lang="en-US" sz="1350" dirty="0">
                <a:solidFill>
                  <a:prstClr val="black"/>
                </a:solidFill>
              </a:rPr>
              <a:t>let [</a:t>
            </a:r>
            <a:r>
              <a:rPr lang="en-US" sz="1350" dirty="0" err="1">
                <a:solidFill>
                  <a:prstClr val="black"/>
                </a:solidFill>
              </a:rPr>
              <a:t>a,b,c,d,e</a:t>
            </a:r>
            <a:r>
              <a:rPr lang="en-US" sz="1350" dirty="0">
                <a:solidFill>
                  <a:prstClr val="black"/>
                </a:solidFill>
              </a:rPr>
              <a:t>] = words;</a:t>
            </a:r>
          </a:p>
          <a:p>
            <a:r>
              <a:rPr lang="en-US" sz="1350" dirty="0">
                <a:solidFill>
                  <a:prstClr val="black"/>
                </a:solidFill>
              </a:rPr>
              <a:t>console.log(a, b);  // My Name</a:t>
            </a:r>
          </a:p>
          <a:p>
            <a:r>
              <a:rPr lang="en-US" sz="1350" dirty="0">
                <a:solidFill>
                  <a:prstClr val="black"/>
                </a:solidFill>
              </a:rPr>
              <a:t>Let [</a:t>
            </a:r>
            <a:r>
              <a:rPr lang="en-US" sz="1350" dirty="0" err="1">
                <a:solidFill>
                  <a:prstClr val="black"/>
                </a:solidFill>
              </a:rPr>
              <a:t>a,b</a:t>
            </a:r>
            <a:r>
              <a:rPr lang="en-US" sz="1350" dirty="0">
                <a:solidFill>
                  <a:prstClr val="black"/>
                </a:solidFill>
              </a:rPr>
              <a:t>,, …d] = words;</a:t>
            </a:r>
          </a:p>
          <a:p>
            <a:r>
              <a:rPr lang="en-US" sz="1350" dirty="0">
                <a:solidFill>
                  <a:prstClr val="black"/>
                </a:solidFill>
              </a:rPr>
              <a:t>Console.log(</a:t>
            </a:r>
            <a:r>
              <a:rPr lang="en-US" sz="1350" dirty="0" err="1">
                <a:solidFill>
                  <a:prstClr val="black"/>
                </a:solidFill>
              </a:rPr>
              <a:t>a,b,d</a:t>
            </a:r>
            <a:r>
              <a:rPr lang="en-US" sz="1350" dirty="0">
                <a:solidFill>
                  <a:prstClr val="black"/>
                </a:solidFill>
              </a:rPr>
              <a:t>); // a = My, b = Name  d = is </a:t>
            </a:r>
            <a:r>
              <a:rPr lang="en-US" sz="1350" dirty="0" err="1">
                <a:solidFill>
                  <a:prstClr val="black"/>
                </a:solidFill>
              </a:rPr>
              <a:t>Naveed</a:t>
            </a:r>
            <a:endParaRPr lang="en-GB" sz="1350" dirty="0">
              <a:solidFill>
                <a:prstClr val="black"/>
              </a:solidFill>
            </a:endParaRPr>
          </a:p>
        </p:txBody>
      </p:sp>
      <p:sp>
        <p:nvSpPr>
          <p:cNvPr id="6" name="TextBox 5"/>
          <p:cNvSpPr txBox="1"/>
          <p:nvPr/>
        </p:nvSpPr>
        <p:spPr>
          <a:xfrm>
            <a:off x="1974186" y="1387518"/>
            <a:ext cx="2445414" cy="923330"/>
          </a:xfrm>
          <a:prstGeom prst="rect">
            <a:avLst/>
          </a:prstGeom>
          <a:noFill/>
        </p:spPr>
        <p:txBody>
          <a:bodyPr wrap="square" rtlCol="0">
            <a:spAutoFit/>
          </a:bodyPr>
          <a:lstStyle/>
          <a:p>
            <a:r>
              <a:rPr lang="en-US" sz="1350" b="1" dirty="0">
                <a:solidFill>
                  <a:prstClr val="black"/>
                </a:solidFill>
              </a:rPr>
              <a:t>Example:- Swapping</a:t>
            </a:r>
          </a:p>
          <a:p>
            <a:r>
              <a:rPr lang="en-US" sz="1350" dirty="0">
                <a:solidFill>
                  <a:prstClr val="black"/>
                </a:solidFill>
              </a:rPr>
              <a:t>Let a = 5;</a:t>
            </a:r>
          </a:p>
          <a:p>
            <a:r>
              <a:rPr lang="en-US" sz="1350" dirty="0">
                <a:solidFill>
                  <a:prstClr val="black"/>
                </a:solidFill>
              </a:rPr>
              <a:t>Let b = 6;</a:t>
            </a:r>
          </a:p>
          <a:p>
            <a:r>
              <a:rPr lang="en-US" sz="1350" dirty="0">
                <a:solidFill>
                  <a:prstClr val="black"/>
                </a:solidFill>
              </a:rPr>
              <a:t>[</a:t>
            </a:r>
            <a:r>
              <a:rPr lang="en-US" sz="1350" dirty="0" err="1">
                <a:solidFill>
                  <a:prstClr val="black"/>
                </a:solidFill>
              </a:rPr>
              <a:t>a,b</a:t>
            </a:r>
            <a:r>
              <a:rPr lang="en-US" sz="1350" dirty="0">
                <a:solidFill>
                  <a:prstClr val="black"/>
                </a:solidFill>
              </a:rPr>
              <a:t>] = [</a:t>
            </a:r>
            <a:r>
              <a:rPr lang="en-US" sz="1350" dirty="0" err="1">
                <a:solidFill>
                  <a:prstClr val="black"/>
                </a:solidFill>
              </a:rPr>
              <a:t>b,a</a:t>
            </a:r>
            <a:r>
              <a:rPr lang="en-US" sz="1350" dirty="0">
                <a:solidFill>
                  <a:prstClr val="black"/>
                </a:solidFill>
              </a:rPr>
              <a:t>] // swap the value</a:t>
            </a:r>
          </a:p>
        </p:txBody>
      </p:sp>
      <p:sp>
        <p:nvSpPr>
          <p:cNvPr id="7" name="TextBox 6"/>
          <p:cNvSpPr txBox="1"/>
          <p:nvPr/>
        </p:nvSpPr>
        <p:spPr>
          <a:xfrm>
            <a:off x="2016636" y="2682130"/>
            <a:ext cx="2346348" cy="923330"/>
          </a:xfrm>
          <a:prstGeom prst="rect">
            <a:avLst/>
          </a:prstGeom>
          <a:noFill/>
        </p:spPr>
        <p:txBody>
          <a:bodyPr wrap="none" rtlCol="0">
            <a:spAutoFit/>
          </a:bodyPr>
          <a:lstStyle/>
          <a:p>
            <a:r>
              <a:rPr lang="en-US" sz="1350" b="1" dirty="0">
                <a:solidFill>
                  <a:prstClr val="black"/>
                </a:solidFill>
              </a:rPr>
              <a:t>Example:-  Assign Variables</a:t>
            </a:r>
          </a:p>
          <a:p>
            <a:r>
              <a:rPr lang="en-US" sz="1350" dirty="0">
                <a:solidFill>
                  <a:prstClr val="black"/>
                </a:solidFill>
              </a:rPr>
              <a:t>let </a:t>
            </a:r>
            <a:r>
              <a:rPr lang="en-US" sz="1350" dirty="0" err="1">
                <a:solidFill>
                  <a:prstClr val="black"/>
                </a:solidFill>
              </a:rPr>
              <a:t>num</a:t>
            </a:r>
            <a:r>
              <a:rPr lang="en-US" sz="1350" dirty="0">
                <a:solidFill>
                  <a:prstClr val="black"/>
                </a:solidFill>
              </a:rPr>
              <a:t>  =  [5,4,3,2];</a:t>
            </a:r>
          </a:p>
          <a:p>
            <a:r>
              <a:rPr lang="en-US" sz="1350" dirty="0">
                <a:solidFill>
                  <a:prstClr val="black"/>
                </a:solidFill>
              </a:rPr>
              <a:t>let [</a:t>
            </a:r>
            <a:r>
              <a:rPr lang="en-US" sz="1350" dirty="0" err="1">
                <a:solidFill>
                  <a:prstClr val="black"/>
                </a:solidFill>
              </a:rPr>
              <a:t>a,b,c,d</a:t>
            </a:r>
            <a:r>
              <a:rPr lang="en-US" sz="1350" dirty="0">
                <a:solidFill>
                  <a:prstClr val="black"/>
                </a:solidFill>
              </a:rPr>
              <a:t>] = </a:t>
            </a:r>
            <a:r>
              <a:rPr lang="en-US" sz="1350" dirty="0" err="1">
                <a:solidFill>
                  <a:prstClr val="black"/>
                </a:solidFill>
              </a:rPr>
              <a:t>num</a:t>
            </a:r>
            <a:r>
              <a:rPr lang="en-US" sz="1350" dirty="0">
                <a:solidFill>
                  <a:prstClr val="black"/>
                </a:solidFill>
              </a:rPr>
              <a:t>;</a:t>
            </a:r>
          </a:p>
          <a:p>
            <a:r>
              <a:rPr lang="en-US" sz="1350" dirty="0">
                <a:solidFill>
                  <a:prstClr val="black"/>
                </a:solidFill>
              </a:rPr>
              <a:t>console.log(d);</a:t>
            </a:r>
          </a:p>
        </p:txBody>
      </p:sp>
      <p:sp>
        <p:nvSpPr>
          <p:cNvPr id="8" name="TextBox 7"/>
          <p:cNvSpPr txBox="1"/>
          <p:nvPr/>
        </p:nvSpPr>
        <p:spPr>
          <a:xfrm>
            <a:off x="6015212" y="1387519"/>
            <a:ext cx="5374500" cy="2169825"/>
          </a:xfrm>
          <a:prstGeom prst="rect">
            <a:avLst/>
          </a:prstGeom>
          <a:noFill/>
        </p:spPr>
        <p:txBody>
          <a:bodyPr wrap="square" rtlCol="0">
            <a:spAutoFit/>
          </a:bodyPr>
          <a:lstStyle/>
          <a:p>
            <a:r>
              <a:rPr lang="en-US" sz="1350" b="1" dirty="0">
                <a:solidFill>
                  <a:prstClr val="black"/>
                </a:solidFill>
              </a:rPr>
              <a:t>Example:- Push / Pop / </a:t>
            </a:r>
            <a:r>
              <a:rPr lang="en-US" sz="1350" b="1" dirty="0" err="1">
                <a:solidFill>
                  <a:prstClr val="black"/>
                </a:solidFill>
              </a:rPr>
              <a:t>Unshift</a:t>
            </a:r>
            <a:endParaRPr lang="en-US" sz="1350" b="1" dirty="0">
              <a:solidFill>
                <a:prstClr val="black"/>
              </a:solidFill>
            </a:endParaRPr>
          </a:p>
          <a:p>
            <a:r>
              <a:rPr lang="en-US" sz="1350" dirty="0">
                <a:solidFill>
                  <a:prstClr val="black"/>
                </a:solidFill>
              </a:rPr>
              <a:t>Let data = [5,6,7,8];</a:t>
            </a:r>
          </a:p>
          <a:p>
            <a:r>
              <a:rPr lang="en-US" sz="1350" dirty="0" err="1">
                <a:solidFill>
                  <a:prstClr val="black"/>
                </a:solidFill>
              </a:rPr>
              <a:t>data.push</a:t>
            </a:r>
            <a:r>
              <a:rPr lang="en-US" sz="1350" dirty="0">
                <a:solidFill>
                  <a:prstClr val="black"/>
                </a:solidFill>
              </a:rPr>
              <a:t>(2);         //[5,6,7,8,2] add in last</a:t>
            </a:r>
          </a:p>
          <a:p>
            <a:r>
              <a:rPr lang="en-US" sz="1350" dirty="0" err="1">
                <a:solidFill>
                  <a:prstClr val="black"/>
                </a:solidFill>
              </a:rPr>
              <a:t>data.pop</a:t>
            </a:r>
            <a:r>
              <a:rPr lang="en-US" sz="1350" dirty="0">
                <a:solidFill>
                  <a:prstClr val="black"/>
                </a:solidFill>
              </a:rPr>
              <a:t>();            //[5,6,7,8]  last out</a:t>
            </a:r>
          </a:p>
          <a:p>
            <a:r>
              <a:rPr lang="en-US" sz="1350" dirty="0" err="1">
                <a:solidFill>
                  <a:prstClr val="black"/>
                </a:solidFill>
              </a:rPr>
              <a:t>data.shift</a:t>
            </a:r>
            <a:r>
              <a:rPr lang="en-US" sz="1350" dirty="0">
                <a:solidFill>
                  <a:prstClr val="black"/>
                </a:solidFill>
              </a:rPr>
              <a:t>();          //[6,7,8] first out</a:t>
            </a:r>
          </a:p>
          <a:p>
            <a:r>
              <a:rPr lang="en-US" sz="1350" dirty="0" err="1">
                <a:solidFill>
                  <a:prstClr val="black"/>
                </a:solidFill>
              </a:rPr>
              <a:t>data.unshift</a:t>
            </a:r>
            <a:r>
              <a:rPr lang="en-US" sz="1350" dirty="0">
                <a:solidFill>
                  <a:prstClr val="black"/>
                </a:solidFill>
              </a:rPr>
              <a:t>(2)   //[2,6,7,8]  add in first</a:t>
            </a:r>
          </a:p>
          <a:p>
            <a:endParaRPr lang="en-US" sz="1350" dirty="0">
              <a:solidFill>
                <a:prstClr val="black"/>
              </a:solidFill>
            </a:endParaRPr>
          </a:p>
          <a:p>
            <a:r>
              <a:rPr lang="en-US" sz="1350" dirty="0" err="1">
                <a:solidFill>
                  <a:prstClr val="black"/>
                </a:solidFill>
              </a:rPr>
              <a:t>array.length</a:t>
            </a:r>
            <a:r>
              <a:rPr lang="en-US" sz="1350" dirty="0">
                <a:solidFill>
                  <a:prstClr val="black"/>
                </a:solidFill>
              </a:rPr>
              <a:t>        // display length of array</a:t>
            </a:r>
          </a:p>
          <a:p>
            <a:r>
              <a:rPr lang="en-US" sz="1350" dirty="0" err="1">
                <a:solidFill>
                  <a:prstClr val="black"/>
                </a:solidFill>
              </a:rPr>
              <a:t>Array.isArray</a:t>
            </a:r>
            <a:r>
              <a:rPr lang="en-US" sz="1350" dirty="0">
                <a:solidFill>
                  <a:prstClr val="black"/>
                </a:solidFill>
              </a:rPr>
              <a:t>(variable) //display </a:t>
            </a:r>
            <a:r>
              <a:rPr lang="en-US" sz="1350" dirty="0" err="1">
                <a:solidFill>
                  <a:prstClr val="black"/>
                </a:solidFill>
              </a:rPr>
              <a:t>ture</a:t>
            </a:r>
            <a:r>
              <a:rPr lang="en-US" sz="1350" dirty="0">
                <a:solidFill>
                  <a:prstClr val="black"/>
                </a:solidFill>
              </a:rPr>
              <a:t> if variable type is array	</a:t>
            </a:r>
          </a:p>
          <a:p>
            <a:endParaRPr lang="en-US" sz="1350" dirty="0">
              <a:solidFill>
                <a:prstClr val="black"/>
              </a:solidFill>
            </a:endParaRPr>
          </a:p>
        </p:txBody>
      </p:sp>
      <p:sp>
        <p:nvSpPr>
          <p:cNvPr id="9" name="TextBox 8"/>
          <p:cNvSpPr txBox="1"/>
          <p:nvPr/>
        </p:nvSpPr>
        <p:spPr>
          <a:xfrm>
            <a:off x="5947848" y="4011366"/>
            <a:ext cx="4519247" cy="1477328"/>
          </a:xfrm>
          <a:prstGeom prst="rect">
            <a:avLst/>
          </a:prstGeom>
          <a:noFill/>
        </p:spPr>
        <p:txBody>
          <a:bodyPr wrap="square" rtlCol="0">
            <a:spAutoFit/>
          </a:bodyPr>
          <a:lstStyle/>
          <a:p>
            <a:r>
              <a:rPr lang="en-US" sz="1350" dirty="0">
                <a:solidFill>
                  <a:prstClr val="black"/>
                </a:solidFill>
              </a:rPr>
              <a:t>The </a:t>
            </a:r>
            <a:r>
              <a:rPr lang="en-US" sz="1350" b="1" dirty="0">
                <a:solidFill>
                  <a:prstClr val="black"/>
                </a:solidFill>
              </a:rPr>
              <a:t>splice</a:t>
            </a:r>
            <a:r>
              <a:rPr lang="en-US" sz="1350" dirty="0">
                <a:solidFill>
                  <a:prstClr val="black"/>
                </a:solidFill>
              </a:rPr>
              <a:t>() </a:t>
            </a:r>
            <a:r>
              <a:rPr lang="en-US" sz="1350" b="1" dirty="0">
                <a:solidFill>
                  <a:prstClr val="black"/>
                </a:solidFill>
              </a:rPr>
              <a:t>method</a:t>
            </a:r>
            <a:r>
              <a:rPr lang="en-US" sz="1350" dirty="0">
                <a:solidFill>
                  <a:prstClr val="black"/>
                </a:solidFill>
              </a:rPr>
              <a:t> adds and/or removes array elements.</a:t>
            </a:r>
          </a:p>
          <a:p>
            <a:r>
              <a:rPr lang="en-US" sz="1350" dirty="0">
                <a:solidFill>
                  <a:prstClr val="black"/>
                </a:solidFill>
              </a:rPr>
              <a:t>Let data = [5,6,7,6,9]</a:t>
            </a:r>
          </a:p>
          <a:p>
            <a:r>
              <a:rPr lang="en-US" sz="1350" dirty="0" err="1">
                <a:solidFill>
                  <a:prstClr val="black"/>
                </a:solidFill>
              </a:rPr>
              <a:t>Data.splice</a:t>
            </a:r>
            <a:r>
              <a:rPr lang="en-US" sz="1350" dirty="0">
                <a:solidFill>
                  <a:prstClr val="black"/>
                </a:solidFill>
              </a:rPr>
              <a:t>(2,1)  </a:t>
            </a:r>
            <a:r>
              <a:rPr lang="en-US" sz="1200" dirty="0">
                <a:solidFill>
                  <a:prstClr val="black"/>
                </a:solidFill>
              </a:rPr>
              <a:t>      //remove one element start from index 2  			[5,6,6,9]</a:t>
            </a:r>
            <a:endParaRPr lang="en-US" sz="1350" dirty="0">
              <a:solidFill>
                <a:prstClr val="black"/>
              </a:solidFill>
            </a:endParaRPr>
          </a:p>
          <a:p>
            <a:r>
              <a:rPr lang="en-GB" sz="1350" dirty="0">
                <a:solidFill>
                  <a:prstClr val="black"/>
                </a:solidFill>
              </a:rPr>
              <a:t>let removed = </a:t>
            </a:r>
            <a:r>
              <a:rPr lang="en-GB" sz="1350" dirty="0" err="1">
                <a:solidFill>
                  <a:prstClr val="black"/>
                </a:solidFill>
              </a:rPr>
              <a:t>array.splice</a:t>
            </a:r>
            <a:r>
              <a:rPr lang="en-GB" sz="1350" dirty="0">
                <a:solidFill>
                  <a:prstClr val="black"/>
                </a:solidFill>
              </a:rPr>
              <a:t>(2, 2, 'a', 'b', 'c');   </a:t>
            </a:r>
          </a:p>
          <a:p>
            <a:r>
              <a:rPr lang="en-US" sz="1200" dirty="0">
                <a:solidFill>
                  <a:prstClr val="black"/>
                </a:solidFill>
              </a:rPr>
              <a:t>//Removes 2 elements starting from index 2 and adds 'a', 'b', 'c' in their place</a:t>
            </a:r>
            <a:endParaRPr lang="en-GB" sz="1350" dirty="0">
              <a:solidFill>
                <a:prstClr val="black"/>
              </a:solidFill>
            </a:endParaRPr>
          </a:p>
        </p:txBody>
      </p:sp>
    </p:spTree>
    <p:extLst>
      <p:ext uri="{BB962C8B-B14F-4D97-AF65-F5344CB8AC3E}">
        <p14:creationId xmlns:p14="http://schemas.microsoft.com/office/powerpoint/2010/main" val="1540376950"/>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46031" y="457200"/>
            <a:ext cx="7886700" cy="798818"/>
          </a:xfrm>
        </p:spPr>
        <p:txBody>
          <a:bodyPr/>
          <a:lstStyle/>
          <a:p>
            <a:r>
              <a:rPr lang="en-US" dirty="0"/>
              <a:t>Array Methods</a:t>
            </a:r>
            <a:endParaRPr lang="en-GB" dirty="0"/>
          </a:p>
        </p:txBody>
      </p:sp>
      <p:sp>
        <p:nvSpPr>
          <p:cNvPr id="3" name="Content Placeholder 2"/>
          <p:cNvSpPr>
            <a:spLocks noGrp="1"/>
          </p:cNvSpPr>
          <p:nvPr>
            <p:ph idx="1"/>
          </p:nvPr>
        </p:nvSpPr>
        <p:spPr>
          <a:xfrm>
            <a:off x="1911396" y="1524000"/>
            <a:ext cx="8484577" cy="4191000"/>
          </a:xfrm>
        </p:spPr>
        <p:txBody>
          <a:bodyPr>
            <a:normAutofit fontScale="62500" lnSpcReduction="20000"/>
          </a:bodyPr>
          <a:lstStyle/>
          <a:p>
            <a:pPr marL="0" indent="0">
              <a:buNone/>
            </a:pPr>
            <a:r>
              <a:rPr lang="en-US" dirty="0" err="1"/>
              <a:t>const</a:t>
            </a:r>
            <a:r>
              <a:rPr lang="en-US" dirty="0"/>
              <a:t> array1 =  [“BMW”, “</a:t>
            </a:r>
            <a:r>
              <a:rPr lang="en-US" dirty="0" err="1"/>
              <a:t>Toyta</a:t>
            </a:r>
            <a:r>
              <a:rPr lang="en-US" dirty="0"/>
              <a:t>”, “Honda”, “Suzuki”]</a:t>
            </a:r>
          </a:p>
          <a:p>
            <a:pPr marL="0" indent="0">
              <a:buNone/>
            </a:pPr>
            <a:r>
              <a:rPr lang="en-US" dirty="0" err="1"/>
              <a:t>const</a:t>
            </a:r>
            <a:r>
              <a:rPr lang="en-US" dirty="0"/>
              <a:t> arr2 = [“Best”]</a:t>
            </a:r>
          </a:p>
          <a:p>
            <a:pPr marL="0" indent="0">
              <a:buNone/>
            </a:pPr>
            <a:r>
              <a:rPr lang="en-US" dirty="0" err="1"/>
              <a:t>const</a:t>
            </a:r>
            <a:r>
              <a:rPr lang="en-US" dirty="0"/>
              <a:t> arr3 = [“Race”]  </a:t>
            </a:r>
          </a:p>
          <a:p>
            <a:pPr marL="0" indent="0">
              <a:buNone/>
            </a:pPr>
            <a:r>
              <a:rPr lang="en-US" dirty="0"/>
              <a:t>Console.log(array1.</a:t>
            </a:r>
            <a:r>
              <a:rPr lang="en-US" dirty="0">
                <a:solidFill>
                  <a:srgbClr val="FF0000"/>
                </a:solidFill>
              </a:rPr>
              <a:t>concat</a:t>
            </a:r>
            <a:r>
              <a:rPr lang="en-US" dirty="0"/>
              <a:t>(arr2, arr3))	//array1 will </a:t>
            </a:r>
            <a:r>
              <a:rPr lang="en-US" dirty="0" err="1"/>
              <a:t>concat</a:t>
            </a:r>
            <a:r>
              <a:rPr lang="en-US" dirty="0"/>
              <a:t> with arr2 and arr3</a:t>
            </a:r>
          </a:p>
          <a:p>
            <a:pPr marL="0" indent="0">
              <a:buNone/>
            </a:pPr>
            <a:r>
              <a:rPr lang="en-US" dirty="0"/>
              <a:t>console.log(array1.</a:t>
            </a:r>
            <a:r>
              <a:rPr lang="en-US" dirty="0">
                <a:solidFill>
                  <a:srgbClr val="FF0000"/>
                </a:solidFill>
              </a:rPr>
              <a:t>join</a:t>
            </a:r>
            <a:r>
              <a:rPr lang="en-US" dirty="0"/>
              <a:t>(“”))			//array1 elements separate with </a:t>
            </a:r>
            <a:r>
              <a:rPr lang="en-US" dirty="0" err="1"/>
              <a:t>sapce</a:t>
            </a:r>
            <a:r>
              <a:rPr lang="en-US" dirty="0"/>
              <a:t>.</a:t>
            </a:r>
          </a:p>
          <a:p>
            <a:pPr marL="0" indent="0">
              <a:buNone/>
            </a:pPr>
            <a:r>
              <a:rPr lang="en-US" dirty="0"/>
              <a:t>console.log(array1.</a:t>
            </a:r>
            <a:r>
              <a:rPr lang="en-US" dirty="0">
                <a:solidFill>
                  <a:srgbClr val="FF0000"/>
                </a:solidFill>
              </a:rPr>
              <a:t>join</a:t>
            </a:r>
            <a:r>
              <a:rPr lang="en-US" dirty="0"/>
              <a:t>(“-”))	 	//array1 elements separate with “-”</a:t>
            </a:r>
          </a:p>
          <a:p>
            <a:pPr marL="0" indent="0">
              <a:buNone/>
            </a:pPr>
            <a:r>
              <a:rPr lang="en-US" dirty="0"/>
              <a:t>console.log(array1.</a:t>
            </a:r>
            <a:r>
              <a:rPr lang="en-US" dirty="0">
                <a:solidFill>
                  <a:srgbClr val="FF0000"/>
                </a:solidFill>
              </a:rPr>
              <a:t>include</a:t>
            </a:r>
            <a:r>
              <a:rPr lang="en-US" dirty="0"/>
              <a:t>(“BMW”)) 	// return true if array1 has BMW</a:t>
            </a:r>
          </a:p>
          <a:p>
            <a:pPr marL="0" indent="0">
              <a:buNone/>
            </a:pPr>
            <a:r>
              <a:rPr lang="en-US" dirty="0"/>
              <a:t>console.log(array1.</a:t>
            </a:r>
            <a:r>
              <a:rPr lang="en-US" dirty="0">
                <a:solidFill>
                  <a:srgbClr val="FF0000"/>
                </a:solidFill>
              </a:rPr>
              <a:t>include</a:t>
            </a:r>
            <a:r>
              <a:rPr lang="en-US" dirty="0"/>
              <a:t>(“</a:t>
            </a:r>
            <a:r>
              <a:rPr lang="en-US" dirty="0" err="1"/>
              <a:t>Toyta</a:t>
            </a:r>
            <a:r>
              <a:rPr lang="en-US" dirty="0"/>
              <a:t>”, 3))	// second parameter for position, therefore if at position 3, </a:t>
            </a:r>
            <a:r>
              <a:rPr lang="en-US" dirty="0" err="1"/>
              <a:t>Toyta</a:t>
            </a:r>
            <a:r>
              <a:rPr lang="en-US" dirty="0"/>
              <a:t> do not exist, the return value should be false.</a:t>
            </a:r>
          </a:p>
          <a:p>
            <a:pPr marL="0" indent="0">
              <a:buNone/>
            </a:pPr>
            <a:r>
              <a:rPr lang="en-US" dirty="0"/>
              <a:t>console.log(array1.</a:t>
            </a:r>
            <a:r>
              <a:rPr lang="en-US" dirty="0">
                <a:solidFill>
                  <a:srgbClr val="FF0000"/>
                </a:solidFill>
              </a:rPr>
              <a:t>slice</a:t>
            </a:r>
            <a:r>
              <a:rPr lang="en-US" dirty="0"/>
              <a:t>(2))  	//This will cut the first two elements from array</a:t>
            </a:r>
          </a:p>
          <a:p>
            <a:pPr marL="0" indent="0">
              <a:buNone/>
            </a:pPr>
            <a:r>
              <a:rPr lang="en-US" dirty="0"/>
              <a:t>console.log(array1.</a:t>
            </a:r>
            <a:r>
              <a:rPr lang="en-US" dirty="0">
                <a:solidFill>
                  <a:srgbClr val="FF0000"/>
                </a:solidFill>
              </a:rPr>
              <a:t>slice</a:t>
            </a:r>
            <a:r>
              <a:rPr lang="en-US" dirty="0"/>
              <a:t>(0,2) 	//This will cut 2 array element start from 0.  </a:t>
            </a:r>
            <a:endParaRPr lang="en-GB" dirty="0"/>
          </a:p>
        </p:txBody>
      </p:sp>
    </p:spTree>
    <p:extLst>
      <p:ext uri="{BB962C8B-B14F-4D97-AF65-F5344CB8AC3E}">
        <p14:creationId xmlns:p14="http://schemas.microsoft.com/office/powerpoint/2010/main" val="1379940342"/>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JavaScript Object Notation (JSON)</a:t>
            </a:r>
          </a:p>
        </p:txBody>
      </p:sp>
      <p:sp>
        <p:nvSpPr>
          <p:cNvPr id="3" name="Content Placeholder 2"/>
          <p:cNvSpPr>
            <a:spLocks noGrp="1"/>
          </p:cNvSpPr>
          <p:nvPr>
            <p:ph idx="1"/>
          </p:nvPr>
        </p:nvSpPr>
        <p:spPr>
          <a:xfrm>
            <a:off x="2152650" y="2125267"/>
            <a:ext cx="7886700" cy="3491641"/>
          </a:xfrm>
        </p:spPr>
        <p:txBody>
          <a:bodyPr>
            <a:noAutofit/>
          </a:bodyPr>
          <a:lstStyle/>
          <a:p>
            <a:r>
              <a:rPr lang="en-US" sz="2175" dirty="0"/>
              <a:t>It is a lightweight data interchange format that is easy for humans to read and write and easy for machines to parse and generate.</a:t>
            </a:r>
          </a:p>
          <a:p>
            <a:r>
              <a:rPr lang="en-US" sz="2175" dirty="0"/>
              <a:t>JSON is often used when data is sent from a server to a web page.</a:t>
            </a:r>
          </a:p>
          <a:p>
            <a:r>
              <a:rPr lang="en-US" sz="2175" dirty="0"/>
              <a:t>JSON is "self-describing" and easy to understand</a:t>
            </a:r>
          </a:p>
          <a:p>
            <a:r>
              <a:rPr lang="en-US" sz="2175" dirty="0"/>
              <a:t>Use descriptive key names to make the JSON data easy to understand.</a:t>
            </a:r>
          </a:p>
          <a:p>
            <a:r>
              <a:rPr lang="en-US" sz="2175" dirty="0"/>
              <a:t>Use a library or framework to parse and generate JSON data to avoid errors and simplify the code.</a:t>
            </a:r>
          </a:p>
          <a:p>
            <a:endParaRPr lang="en-US" dirty="0"/>
          </a:p>
        </p:txBody>
      </p:sp>
    </p:spTree>
    <p:extLst>
      <p:ext uri="{BB962C8B-B14F-4D97-AF65-F5344CB8AC3E}">
        <p14:creationId xmlns:p14="http://schemas.microsoft.com/office/powerpoint/2010/main" val="3767208035"/>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Uses of JSON</a:t>
            </a:r>
          </a:p>
        </p:txBody>
      </p:sp>
      <p:sp>
        <p:nvSpPr>
          <p:cNvPr id="3" name="Content Placeholder 2"/>
          <p:cNvSpPr>
            <a:spLocks noGrp="1"/>
          </p:cNvSpPr>
          <p:nvPr>
            <p:ph idx="1"/>
          </p:nvPr>
        </p:nvSpPr>
        <p:spPr/>
        <p:txBody>
          <a:bodyPr>
            <a:normAutofit/>
          </a:bodyPr>
          <a:lstStyle/>
          <a:p>
            <a:pPr>
              <a:lnSpc>
                <a:spcPct val="150000"/>
              </a:lnSpc>
            </a:pPr>
            <a:r>
              <a:rPr lang="en-US" sz="2400" dirty="0"/>
              <a:t>JSON can be used for a wide variety of purposes</a:t>
            </a:r>
          </a:p>
          <a:p>
            <a:pPr>
              <a:lnSpc>
                <a:spcPct val="150000"/>
              </a:lnSpc>
            </a:pPr>
            <a:r>
              <a:rPr lang="en-US" sz="2400" dirty="0"/>
              <a:t>storing user preferences </a:t>
            </a:r>
          </a:p>
          <a:p>
            <a:pPr>
              <a:lnSpc>
                <a:spcPct val="150000"/>
              </a:lnSpc>
            </a:pPr>
            <a:r>
              <a:rPr lang="en-US" sz="2400" dirty="0"/>
              <a:t>transmitting data between applications </a:t>
            </a:r>
          </a:p>
          <a:p>
            <a:pPr>
              <a:lnSpc>
                <a:spcPct val="150000"/>
              </a:lnSpc>
            </a:pPr>
            <a:r>
              <a:rPr lang="en-US" sz="2400" dirty="0"/>
              <a:t>and retrieving data from web APIs</a:t>
            </a:r>
          </a:p>
        </p:txBody>
      </p:sp>
    </p:spTree>
    <p:extLst>
      <p:ext uri="{BB962C8B-B14F-4D97-AF65-F5344CB8AC3E}">
        <p14:creationId xmlns:p14="http://schemas.microsoft.com/office/powerpoint/2010/main" val="1074746360"/>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of JSON</a:t>
            </a:r>
          </a:p>
        </p:txBody>
      </p:sp>
      <p:sp>
        <p:nvSpPr>
          <p:cNvPr id="3" name="Content Placeholder 2"/>
          <p:cNvSpPr>
            <a:spLocks noGrp="1"/>
          </p:cNvSpPr>
          <p:nvPr>
            <p:ph idx="1"/>
          </p:nvPr>
        </p:nvSpPr>
        <p:spPr/>
        <p:txBody>
          <a:bodyPr>
            <a:normAutofit/>
          </a:bodyPr>
          <a:lstStyle/>
          <a:p>
            <a:r>
              <a:rPr lang="en-US" dirty="0"/>
              <a:t>JSON data is represented as key-value pairs</a:t>
            </a:r>
          </a:p>
          <a:p>
            <a:r>
              <a:rPr lang="en-US" dirty="0"/>
              <a:t>The key is always a string enclosed in double quotes</a:t>
            </a:r>
          </a:p>
          <a:p>
            <a:r>
              <a:rPr lang="en-US" dirty="0"/>
              <a:t>The value can be a string, number, </a:t>
            </a:r>
            <a:r>
              <a:rPr lang="en-US" dirty="0" err="1"/>
              <a:t>boolean</a:t>
            </a:r>
            <a:r>
              <a:rPr lang="en-US" dirty="0"/>
              <a:t>, null, array, or another JSON object</a:t>
            </a:r>
          </a:p>
          <a:p>
            <a:r>
              <a:rPr lang="en-US" dirty="0"/>
              <a:t>Multiple key-value pairs are separated by commas</a:t>
            </a:r>
          </a:p>
          <a:p>
            <a:r>
              <a:rPr lang="en-US" dirty="0"/>
              <a:t>Objects are enclosed in curly braces, while arrays are enclosed in square brackets.</a:t>
            </a:r>
          </a:p>
        </p:txBody>
      </p:sp>
    </p:spTree>
    <p:extLst>
      <p:ext uri="{BB962C8B-B14F-4D97-AF65-F5344CB8AC3E}">
        <p14:creationId xmlns:p14="http://schemas.microsoft.com/office/powerpoint/2010/main" val="31610035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Syntax of JSON</a:t>
            </a:r>
          </a:p>
        </p:txBody>
      </p:sp>
      <p:sp>
        <p:nvSpPr>
          <p:cNvPr id="3" name="Content Placeholder 2"/>
          <p:cNvSpPr>
            <a:spLocks noGrp="1"/>
          </p:cNvSpPr>
          <p:nvPr>
            <p:ph idx="1"/>
          </p:nvPr>
        </p:nvSpPr>
        <p:spPr/>
        <p:txBody>
          <a:bodyPr>
            <a:normAutofit lnSpcReduction="10000"/>
          </a:bodyPr>
          <a:lstStyle/>
          <a:p>
            <a:pPr marL="0" indent="0">
              <a:buNone/>
            </a:pPr>
            <a:r>
              <a:rPr lang="en-US" dirty="0"/>
              <a:t>{ </a:t>
            </a:r>
          </a:p>
          <a:p>
            <a:pPr marL="0" indent="0">
              <a:buNone/>
            </a:pPr>
            <a:r>
              <a:rPr lang="en-US" dirty="0"/>
              <a:t>"key1": "value1", </a:t>
            </a:r>
          </a:p>
          <a:p>
            <a:pPr marL="0" indent="0">
              <a:buNone/>
            </a:pPr>
            <a:r>
              <a:rPr lang="en-US" dirty="0"/>
              <a:t>"key2": 42, </a:t>
            </a:r>
          </a:p>
          <a:p>
            <a:pPr marL="0" indent="0">
              <a:buNone/>
            </a:pPr>
            <a:r>
              <a:rPr lang="en-US" dirty="0"/>
              <a:t>"key3": true, </a:t>
            </a:r>
          </a:p>
          <a:p>
            <a:pPr marL="0" indent="0">
              <a:buNone/>
            </a:pPr>
            <a:r>
              <a:rPr lang="en-US" dirty="0"/>
              <a:t>"key4": null, </a:t>
            </a:r>
          </a:p>
          <a:p>
            <a:pPr marL="0" indent="0">
              <a:buNone/>
            </a:pPr>
            <a:r>
              <a:rPr lang="en-US" dirty="0"/>
              <a:t>"key5": ["array", "of", "strings"], </a:t>
            </a:r>
          </a:p>
          <a:p>
            <a:pPr marL="0" indent="0">
              <a:buNone/>
            </a:pPr>
            <a:r>
              <a:rPr lang="en-US" dirty="0"/>
              <a:t>"key6": { "</a:t>
            </a:r>
            <a:r>
              <a:rPr lang="en-US" dirty="0" err="1"/>
              <a:t>nestedKey</a:t>
            </a:r>
            <a:r>
              <a:rPr lang="en-US" dirty="0"/>
              <a:t>": "</a:t>
            </a:r>
            <a:r>
              <a:rPr lang="en-US" dirty="0" err="1"/>
              <a:t>nestedValue</a:t>
            </a:r>
            <a:r>
              <a:rPr lang="en-US" dirty="0"/>
              <a:t>" </a:t>
            </a:r>
          </a:p>
          <a:p>
            <a:pPr marL="0" indent="0">
              <a:buNone/>
            </a:pPr>
            <a:r>
              <a:rPr lang="en-US" dirty="0"/>
              <a:t>} </a:t>
            </a:r>
            <a:br>
              <a:rPr lang="en-US" dirty="0"/>
            </a:br>
            <a:endParaRPr lang="en-US" dirty="0"/>
          </a:p>
        </p:txBody>
      </p:sp>
    </p:spTree>
    <p:extLst>
      <p:ext uri="{BB962C8B-B14F-4D97-AF65-F5344CB8AC3E}">
        <p14:creationId xmlns:p14="http://schemas.microsoft.com/office/powerpoint/2010/main" val="77925976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JSON object Example</a:t>
            </a:r>
          </a:p>
        </p:txBody>
      </p:sp>
      <p:sp>
        <p:nvSpPr>
          <p:cNvPr id="3" name="Content Placeholder 2"/>
          <p:cNvSpPr>
            <a:spLocks noGrp="1"/>
          </p:cNvSpPr>
          <p:nvPr>
            <p:ph idx="1"/>
          </p:nvPr>
        </p:nvSpPr>
        <p:spPr/>
        <p:txBody>
          <a:bodyPr>
            <a:normAutofit/>
          </a:bodyPr>
          <a:lstStyle/>
          <a:p>
            <a:pPr marL="0" indent="0">
              <a:buNone/>
            </a:pPr>
            <a:r>
              <a:rPr lang="en-US" sz="1800" dirty="0"/>
              <a:t>{ </a:t>
            </a:r>
          </a:p>
          <a:p>
            <a:pPr marL="0" indent="0">
              <a:buNone/>
            </a:pPr>
            <a:r>
              <a:rPr lang="en-US" sz="1800" dirty="0"/>
              <a:t>"name": "John Doe", </a:t>
            </a:r>
          </a:p>
          <a:p>
            <a:pPr marL="0" indent="0">
              <a:buNone/>
            </a:pPr>
            <a:r>
              <a:rPr lang="en-US" sz="1800" dirty="0"/>
              <a:t>"age": 30, </a:t>
            </a:r>
          </a:p>
          <a:p>
            <a:pPr marL="0" indent="0">
              <a:buNone/>
            </a:pPr>
            <a:r>
              <a:rPr lang="en-US" sz="1800" dirty="0"/>
              <a:t>"address": </a:t>
            </a:r>
          </a:p>
          <a:p>
            <a:pPr marL="0" indent="0">
              <a:buNone/>
            </a:pPr>
            <a:r>
              <a:rPr lang="en-US" sz="1800" dirty="0"/>
              <a:t>{ "street": "123 Main St", "city": "</a:t>
            </a:r>
            <a:r>
              <a:rPr lang="en-US" sz="1800" dirty="0" err="1"/>
              <a:t>Anytown</a:t>
            </a:r>
            <a:r>
              <a:rPr lang="en-US" sz="1800" dirty="0"/>
              <a:t>", "state": "CA", "zip": "12345" </a:t>
            </a:r>
          </a:p>
          <a:p>
            <a:pPr marL="0" indent="0">
              <a:buNone/>
            </a:pPr>
            <a:r>
              <a:rPr lang="en-US" sz="1800" dirty="0"/>
              <a:t>}, </a:t>
            </a:r>
          </a:p>
          <a:p>
            <a:pPr marL="0" indent="0">
              <a:buNone/>
            </a:pPr>
            <a:r>
              <a:rPr lang="en-US" sz="1800" dirty="0"/>
              <a:t>"email": "john.doe@example.com" </a:t>
            </a:r>
          </a:p>
          <a:p>
            <a:pPr marL="0" indent="0">
              <a:buNone/>
            </a:pPr>
            <a:r>
              <a:rPr lang="en-US" sz="1800" dirty="0"/>
              <a:t>}</a:t>
            </a:r>
          </a:p>
          <a:p>
            <a:pPr marL="0" indent="0">
              <a:buNone/>
            </a:pPr>
            <a:r>
              <a:rPr lang="en-US" sz="1800" dirty="0">
                <a:solidFill>
                  <a:srgbClr val="FFFF00"/>
                </a:solidFill>
              </a:rPr>
              <a:t>Sending response to the server</a:t>
            </a:r>
          </a:p>
        </p:txBody>
      </p:sp>
    </p:spTree>
    <p:extLst>
      <p:ext uri="{BB962C8B-B14F-4D97-AF65-F5344CB8AC3E}">
        <p14:creationId xmlns:p14="http://schemas.microsoft.com/office/powerpoint/2010/main" val="324727118"/>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JSON Array example</a:t>
            </a:r>
          </a:p>
        </p:txBody>
      </p:sp>
      <p:sp>
        <p:nvSpPr>
          <p:cNvPr id="3" name="Content Placeholder 2"/>
          <p:cNvSpPr>
            <a:spLocks noGrp="1"/>
          </p:cNvSpPr>
          <p:nvPr>
            <p:ph idx="1"/>
          </p:nvPr>
        </p:nvSpPr>
        <p:spPr/>
        <p:txBody>
          <a:bodyPr/>
          <a:lstStyle/>
          <a:p>
            <a:pPr marL="0" indent="0">
              <a:buNone/>
            </a:pPr>
            <a:r>
              <a:rPr lang="en-US" dirty="0"/>
              <a:t>{</a:t>
            </a:r>
          </a:p>
          <a:p>
            <a:pPr marL="0" indent="0">
              <a:buNone/>
            </a:pPr>
            <a:r>
              <a:rPr lang="en-US" dirty="0"/>
              <a:t>"products": </a:t>
            </a:r>
          </a:p>
          <a:p>
            <a:pPr marL="0" indent="0">
              <a:buNone/>
            </a:pPr>
            <a:r>
              <a:rPr lang="en-US" dirty="0"/>
              <a:t>[ { "name": "Widget", "price": 10.99, "</a:t>
            </a:r>
            <a:r>
              <a:rPr lang="en-US" dirty="0" err="1"/>
              <a:t>inStock</a:t>
            </a:r>
            <a:r>
              <a:rPr lang="en-US" dirty="0"/>
              <a:t>": true }, </a:t>
            </a:r>
          </a:p>
          <a:p>
            <a:pPr marL="0" indent="0">
              <a:buNone/>
            </a:pPr>
            <a:r>
              <a:rPr lang="en-US" dirty="0"/>
              <a:t>{ "name": "Gadget", "price": 19.99, "</a:t>
            </a:r>
            <a:r>
              <a:rPr lang="en-US" dirty="0" err="1"/>
              <a:t>inStock</a:t>
            </a:r>
            <a:r>
              <a:rPr lang="en-US" dirty="0"/>
              <a:t>": false }, </a:t>
            </a:r>
          </a:p>
          <a:p>
            <a:pPr marL="0" indent="0">
              <a:buNone/>
            </a:pPr>
            <a:r>
              <a:rPr lang="en-US" dirty="0"/>
              <a:t>{ "name": "Thingamabob", "price": 5.99, "</a:t>
            </a:r>
            <a:r>
              <a:rPr lang="en-US" dirty="0" err="1"/>
              <a:t>inStock</a:t>
            </a:r>
            <a:r>
              <a:rPr lang="en-US" dirty="0"/>
              <a:t>": true } ]</a:t>
            </a:r>
          </a:p>
          <a:p>
            <a:pPr marL="0" indent="0">
              <a:buNone/>
            </a:pPr>
            <a:r>
              <a:rPr lang="en-US" dirty="0"/>
              <a:t>}</a:t>
            </a:r>
          </a:p>
          <a:p>
            <a:pPr marL="0" indent="0">
              <a:buNone/>
            </a:pPr>
            <a:endParaRPr lang="en-US" dirty="0"/>
          </a:p>
        </p:txBody>
      </p:sp>
    </p:spTree>
    <p:extLst>
      <p:ext uri="{BB962C8B-B14F-4D97-AF65-F5344CB8AC3E}">
        <p14:creationId xmlns:p14="http://schemas.microsoft.com/office/powerpoint/2010/main" val="2786618869"/>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2836791"/>
            <a:ext cx="7886700" cy="994172"/>
          </a:xfrm>
        </p:spPr>
        <p:txBody>
          <a:bodyPr/>
          <a:lstStyle/>
          <a:p>
            <a:r>
              <a:rPr lang="en-US" dirty="0"/>
              <a:t>Collection in JavaScript</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3702180057"/>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Collection</a:t>
            </a:r>
            <a:endParaRPr lang="en-GB" dirty="0"/>
          </a:p>
        </p:txBody>
      </p:sp>
      <p:sp>
        <p:nvSpPr>
          <p:cNvPr id="3" name="Content Placeholder 2"/>
          <p:cNvSpPr>
            <a:spLocks noGrp="1"/>
          </p:cNvSpPr>
          <p:nvPr>
            <p:ph idx="1"/>
          </p:nvPr>
        </p:nvSpPr>
        <p:spPr>
          <a:xfrm>
            <a:off x="2152650" y="2226468"/>
            <a:ext cx="7886700" cy="3607228"/>
          </a:xfrm>
        </p:spPr>
        <p:txBody>
          <a:bodyPr>
            <a:normAutofit fontScale="70000" lnSpcReduction="20000"/>
          </a:bodyPr>
          <a:lstStyle/>
          <a:p>
            <a:pPr marL="0" indent="0">
              <a:buNone/>
            </a:pPr>
            <a:r>
              <a:rPr lang="en-US" dirty="0"/>
              <a:t>A </a:t>
            </a:r>
            <a:r>
              <a:rPr lang="en-US" b="1" dirty="0"/>
              <a:t>collection</a:t>
            </a:r>
            <a:r>
              <a:rPr lang="en-US" dirty="0"/>
              <a:t> refers to </a:t>
            </a:r>
            <a:r>
              <a:rPr lang="en-US" dirty="0">
                <a:solidFill>
                  <a:srgbClr val="FF0000"/>
                </a:solidFill>
              </a:rPr>
              <a:t>data structures</a:t>
            </a:r>
            <a:r>
              <a:rPr lang="en-US" dirty="0"/>
              <a:t> that allow you to store and manage multiple values, often as key-value pairs or as lists of items.</a:t>
            </a:r>
          </a:p>
          <a:p>
            <a:pPr marL="0" indent="0">
              <a:buNone/>
            </a:pPr>
            <a:r>
              <a:rPr lang="en-US" dirty="0"/>
              <a:t>JavaScript provides three main types of collection objects:</a:t>
            </a:r>
          </a:p>
          <a:p>
            <a:r>
              <a:rPr lang="en-US" b="1" dirty="0"/>
              <a:t>Arrays</a:t>
            </a:r>
            <a:endParaRPr lang="en-US" dirty="0"/>
          </a:p>
          <a:p>
            <a:r>
              <a:rPr lang="en-US" b="1" dirty="0"/>
              <a:t>Maps</a:t>
            </a:r>
            <a:endParaRPr lang="en-US" dirty="0"/>
          </a:p>
          <a:p>
            <a:r>
              <a:rPr lang="en-US" b="1" dirty="0"/>
              <a:t>Sets</a:t>
            </a:r>
            <a:endParaRPr lang="en-US" dirty="0"/>
          </a:p>
          <a:p>
            <a:pPr marL="0" indent="0">
              <a:buNone/>
            </a:pPr>
            <a:r>
              <a:rPr lang="en-US" dirty="0"/>
              <a:t>An </a:t>
            </a:r>
            <a:r>
              <a:rPr lang="en-US" b="1" dirty="0"/>
              <a:t>Array</a:t>
            </a:r>
            <a:r>
              <a:rPr lang="en-US" dirty="0"/>
              <a:t> is an ordered collection of values, where each value is identified by an index.</a:t>
            </a:r>
          </a:p>
          <a:p>
            <a:pPr marL="0" indent="0">
              <a:buNone/>
            </a:pPr>
            <a:r>
              <a:rPr lang="en-US" dirty="0"/>
              <a:t>A </a:t>
            </a:r>
            <a:r>
              <a:rPr lang="en-US" b="1" dirty="0"/>
              <a:t>Map</a:t>
            </a:r>
            <a:r>
              <a:rPr lang="en-US" dirty="0"/>
              <a:t> is a collection of </a:t>
            </a:r>
            <a:r>
              <a:rPr lang="en-US" b="1" dirty="0"/>
              <a:t>key-value pairs</a:t>
            </a:r>
            <a:r>
              <a:rPr lang="en-US" dirty="0"/>
              <a:t> where both the keys and values can be of any type (objects, functions, primitives).</a:t>
            </a:r>
          </a:p>
          <a:p>
            <a:pPr marL="0" indent="0">
              <a:buNone/>
            </a:pPr>
            <a:r>
              <a:rPr lang="en-US" dirty="0"/>
              <a:t>A </a:t>
            </a:r>
            <a:r>
              <a:rPr lang="en-US" b="1" dirty="0"/>
              <a:t>Set</a:t>
            </a:r>
            <a:r>
              <a:rPr lang="en-US" dirty="0"/>
              <a:t> is a collection of </a:t>
            </a:r>
            <a:r>
              <a:rPr lang="en-US" b="1" dirty="0"/>
              <a:t>unique values</a:t>
            </a:r>
            <a:r>
              <a:rPr lang="en-US" dirty="0"/>
              <a:t> (no duplicates allowed).</a:t>
            </a:r>
            <a:endParaRPr lang="en-GB" dirty="0"/>
          </a:p>
        </p:txBody>
      </p:sp>
    </p:spTree>
    <p:extLst>
      <p:ext uri="{BB962C8B-B14F-4D97-AF65-F5344CB8AC3E}">
        <p14:creationId xmlns:p14="http://schemas.microsoft.com/office/powerpoint/2010/main" val="98956673"/>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in </a:t>
            </a:r>
            <a:r>
              <a:rPr lang="en-US" dirty="0" err="1"/>
              <a:t>Javascript</a:t>
            </a:r>
            <a:endParaRPr lang="en-GB" dirty="0"/>
          </a:p>
        </p:txBody>
      </p:sp>
      <p:sp>
        <p:nvSpPr>
          <p:cNvPr id="3" name="Content Placeholder 2"/>
          <p:cNvSpPr>
            <a:spLocks noGrp="1"/>
          </p:cNvSpPr>
          <p:nvPr>
            <p:ph idx="1"/>
          </p:nvPr>
        </p:nvSpPr>
        <p:spPr>
          <a:xfrm>
            <a:off x="2152650" y="1991459"/>
            <a:ext cx="7886700" cy="3498515"/>
          </a:xfrm>
        </p:spPr>
        <p:txBody>
          <a:bodyPr/>
          <a:lstStyle/>
          <a:p>
            <a:pPr marL="0" indent="0">
              <a:buNone/>
            </a:pPr>
            <a:r>
              <a:rPr lang="en-US" sz="1950" dirty="0"/>
              <a:t>A </a:t>
            </a:r>
            <a:r>
              <a:rPr lang="en-US" sz="1950" b="1" dirty="0"/>
              <a:t>JavaScript Set</a:t>
            </a:r>
            <a:r>
              <a:rPr lang="en-US" sz="1950" dirty="0"/>
              <a:t> is a </a:t>
            </a:r>
            <a:r>
              <a:rPr lang="en-US" sz="1950" b="1" dirty="0"/>
              <a:t>collection</a:t>
            </a:r>
            <a:r>
              <a:rPr lang="en-US" sz="1950" dirty="0"/>
              <a:t> of unique values as compared to arrays. You can store any type of data like Primitive values (number, string, </a:t>
            </a:r>
            <a:r>
              <a:rPr lang="en-US" sz="1950" dirty="0" err="1"/>
              <a:t>boolean</a:t>
            </a:r>
            <a:r>
              <a:rPr lang="en-US" sz="1950" dirty="0"/>
              <a:t>), objects, or functions. Here are some methods of Set…</a:t>
            </a:r>
          </a:p>
          <a:p>
            <a:pPr marL="0" indent="0">
              <a:buNone/>
            </a:pPr>
            <a:endParaRPr lang="en-GB" dirty="0"/>
          </a:p>
        </p:txBody>
      </p:sp>
      <p:graphicFrame>
        <p:nvGraphicFramePr>
          <p:cNvPr id="6" name="Table 5"/>
          <p:cNvGraphicFramePr>
            <a:graphicFrameLocks noGrp="1"/>
          </p:cNvGraphicFramePr>
          <p:nvPr/>
        </p:nvGraphicFramePr>
        <p:xfrm>
          <a:off x="5620621" y="2817212"/>
          <a:ext cx="4994627" cy="2417445"/>
        </p:xfrm>
        <a:graphic>
          <a:graphicData uri="http://schemas.openxmlformats.org/drawingml/2006/table">
            <a:tbl>
              <a:tblPr/>
              <a:tblGrid>
                <a:gridCol w="1530457">
                  <a:extLst>
                    <a:ext uri="{9D8B030D-6E8A-4147-A177-3AD203B41FA5}">
                      <a16:colId xmlns:a16="http://schemas.microsoft.com/office/drawing/2014/main" val="20000"/>
                    </a:ext>
                  </a:extLst>
                </a:gridCol>
                <a:gridCol w="3464170">
                  <a:extLst>
                    <a:ext uri="{9D8B030D-6E8A-4147-A177-3AD203B41FA5}">
                      <a16:colId xmlns:a16="http://schemas.microsoft.com/office/drawing/2014/main" val="20001"/>
                    </a:ext>
                  </a:extLst>
                </a:gridCol>
              </a:tblGrid>
              <a:tr h="268605">
                <a:tc>
                  <a:txBody>
                    <a:bodyPr/>
                    <a:lstStyle/>
                    <a:p>
                      <a:pPr algn="l" fontAlgn="t"/>
                      <a:r>
                        <a:rPr lang="en-GB" sz="1000" dirty="0">
                          <a:effectLst/>
                        </a:rPr>
                        <a:t>new Set()</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000" dirty="0">
                          <a:effectLst/>
                        </a:rPr>
                        <a:t>Creates a new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268605">
                <a:tc>
                  <a:txBody>
                    <a:bodyPr/>
                    <a:lstStyle/>
                    <a:p>
                      <a:pPr algn="l" fontAlgn="t"/>
                      <a:r>
                        <a:rPr lang="en-GB" sz="1000" dirty="0">
                          <a:effectLst/>
                        </a:rPr>
                        <a:t>add()</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000" dirty="0">
                          <a:effectLst/>
                        </a:rPr>
                        <a:t>Adds a new element to the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1"/>
                  </a:ext>
                </a:extLst>
              </a:tr>
              <a:tr h="268605">
                <a:tc>
                  <a:txBody>
                    <a:bodyPr/>
                    <a:lstStyle/>
                    <a:p>
                      <a:pPr algn="l" fontAlgn="t"/>
                      <a:r>
                        <a:rPr lang="en-GB" sz="1000">
                          <a:effectLst/>
                        </a:rPr>
                        <a:t>delete()</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000">
                          <a:effectLst/>
                        </a:rPr>
                        <a:t>Removes an element from a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2"/>
                  </a:ext>
                </a:extLst>
              </a:tr>
              <a:tr h="268605">
                <a:tc>
                  <a:txBody>
                    <a:bodyPr/>
                    <a:lstStyle/>
                    <a:p>
                      <a:pPr algn="l" fontAlgn="t"/>
                      <a:r>
                        <a:rPr lang="en-GB" sz="1000">
                          <a:effectLst/>
                        </a:rPr>
                        <a:t>has()</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000">
                          <a:effectLst/>
                        </a:rPr>
                        <a:t>Returns true if a value exists</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3"/>
                  </a:ext>
                </a:extLst>
              </a:tr>
              <a:tr h="268605">
                <a:tc>
                  <a:txBody>
                    <a:bodyPr/>
                    <a:lstStyle/>
                    <a:p>
                      <a:pPr algn="l" fontAlgn="t"/>
                      <a:r>
                        <a:rPr lang="en-GB" sz="1000">
                          <a:effectLst/>
                        </a:rPr>
                        <a:t>clear()</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000">
                          <a:effectLst/>
                        </a:rPr>
                        <a:t>Removes all elements from a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4"/>
                  </a:ext>
                </a:extLst>
              </a:tr>
              <a:tr h="268605">
                <a:tc>
                  <a:txBody>
                    <a:bodyPr/>
                    <a:lstStyle/>
                    <a:p>
                      <a:pPr algn="l" fontAlgn="t"/>
                      <a:r>
                        <a:rPr lang="en-GB" sz="1000">
                          <a:effectLst/>
                        </a:rPr>
                        <a:t>forEach()</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000">
                          <a:effectLst/>
                        </a:rPr>
                        <a:t>Invokes a callback for each element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5"/>
                  </a:ext>
                </a:extLst>
              </a:tr>
              <a:tr h="268605">
                <a:tc>
                  <a:txBody>
                    <a:bodyPr/>
                    <a:lstStyle/>
                    <a:p>
                      <a:pPr algn="l" fontAlgn="t"/>
                      <a:r>
                        <a:rPr lang="en-GB" sz="1000">
                          <a:effectLst/>
                        </a:rPr>
                        <a:t>values()</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000">
                          <a:effectLst/>
                        </a:rPr>
                        <a:t>Returns an Iterator with all the values in a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6"/>
                  </a:ext>
                </a:extLst>
              </a:tr>
              <a:tr h="268605">
                <a:tc>
                  <a:txBody>
                    <a:bodyPr/>
                    <a:lstStyle/>
                    <a:p>
                      <a:pPr algn="l" fontAlgn="t"/>
                      <a:r>
                        <a:rPr lang="en-GB" sz="1000" dirty="0">
                          <a:effectLst/>
                        </a:rPr>
                        <a:t>keys()</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000" dirty="0">
                          <a:effectLst/>
                        </a:rPr>
                        <a:t>Same as values()</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7"/>
                  </a:ext>
                </a:extLst>
              </a:tr>
              <a:tr h="268605">
                <a:tc>
                  <a:txBody>
                    <a:bodyPr/>
                    <a:lstStyle/>
                    <a:p>
                      <a:pPr algn="l" fontAlgn="t"/>
                      <a:r>
                        <a:rPr lang="en-GB" sz="1000" dirty="0">
                          <a:effectLst/>
                        </a:rPr>
                        <a:t>Size (Properties)</a:t>
                      </a:r>
                    </a:p>
                  </a:txBody>
                  <a:tcPr marL="11430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000" dirty="0">
                          <a:effectLst/>
                        </a:rPr>
                        <a:t>Returns the number elements in a Set</a:t>
                      </a:r>
                    </a:p>
                  </a:txBody>
                  <a:tcPr marL="57150" marR="57150" marT="57150" marB="57150">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bl>
          </a:graphicData>
        </a:graphic>
      </p:graphicFrame>
      <p:sp>
        <p:nvSpPr>
          <p:cNvPr id="7" name="TextBox 6"/>
          <p:cNvSpPr txBox="1"/>
          <p:nvPr/>
        </p:nvSpPr>
        <p:spPr>
          <a:xfrm>
            <a:off x="2772507" y="3239967"/>
            <a:ext cx="2224840" cy="1546577"/>
          </a:xfrm>
          <a:prstGeom prst="rect">
            <a:avLst/>
          </a:prstGeom>
          <a:noFill/>
        </p:spPr>
        <p:txBody>
          <a:bodyPr wrap="none" rtlCol="0">
            <a:spAutoFit/>
          </a:bodyPr>
          <a:lstStyle/>
          <a:p>
            <a:r>
              <a:rPr lang="en-US" sz="1350" dirty="0">
                <a:solidFill>
                  <a:prstClr val="black"/>
                </a:solidFill>
              </a:rPr>
              <a:t>let </a:t>
            </a:r>
            <a:r>
              <a:rPr lang="en-US" sz="1350" dirty="0" err="1">
                <a:solidFill>
                  <a:prstClr val="black"/>
                </a:solidFill>
              </a:rPr>
              <a:t>nums</a:t>
            </a:r>
            <a:r>
              <a:rPr lang="en-US" sz="1350" dirty="0">
                <a:solidFill>
                  <a:prstClr val="black"/>
                </a:solidFill>
              </a:rPr>
              <a:t> = new Set();</a:t>
            </a:r>
          </a:p>
          <a:p>
            <a:r>
              <a:rPr lang="en-US" sz="1350" dirty="0" err="1">
                <a:solidFill>
                  <a:prstClr val="black"/>
                </a:solidFill>
              </a:rPr>
              <a:t>nums.add</a:t>
            </a:r>
            <a:r>
              <a:rPr lang="en-US" sz="1350" dirty="0">
                <a:solidFill>
                  <a:prstClr val="black"/>
                </a:solidFill>
              </a:rPr>
              <a:t>(3);</a:t>
            </a:r>
          </a:p>
          <a:p>
            <a:r>
              <a:rPr lang="en-US" sz="1350" dirty="0" err="1">
                <a:solidFill>
                  <a:prstClr val="black"/>
                </a:solidFill>
              </a:rPr>
              <a:t>nums.add</a:t>
            </a:r>
            <a:r>
              <a:rPr lang="en-US" sz="1350" dirty="0">
                <a:solidFill>
                  <a:prstClr val="black"/>
                </a:solidFill>
              </a:rPr>
              <a:t>(4);</a:t>
            </a:r>
          </a:p>
          <a:p>
            <a:r>
              <a:rPr lang="en-US" sz="1350" dirty="0" err="1">
                <a:solidFill>
                  <a:prstClr val="black"/>
                </a:solidFill>
              </a:rPr>
              <a:t>nums.add</a:t>
            </a:r>
            <a:r>
              <a:rPr lang="en-US" sz="1350" dirty="0">
                <a:solidFill>
                  <a:prstClr val="black"/>
                </a:solidFill>
              </a:rPr>
              <a:t>(‘Adnan’);</a:t>
            </a:r>
          </a:p>
          <a:p>
            <a:r>
              <a:rPr lang="en-US" sz="1350" dirty="0" err="1">
                <a:solidFill>
                  <a:prstClr val="black"/>
                </a:solidFill>
              </a:rPr>
              <a:t>nums.forEach</a:t>
            </a:r>
            <a:r>
              <a:rPr lang="en-US" sz="1350" dirty="0">
                <a:solidFill>
                  <a:prstClr val="black"/>
                </a:solidFill>
              </a:rPr>
              <a:t>((n =&gt; {</a:t>
            </a:r>
          </a:p>
          <a:p>
            <a:r>
              <a:rPr lang="en-US" sz="1350" dirty="0">
                <a:solidFill>
                  <a:prstClr val="black"/>
                </a:solidFill>
              </a:rPr>
              <a:t>	console.log(n);</a:t>
            </a:r>
          </a:p>
          <a:p>
            <a:r>
              <a:rPr lang="en-US" sz="1350" dirty="0">
                <a:solidFill>
                  <a:prstClr val="black"/>
                </a:solidFill>
              </a:rPr>
              <a:t>})</a:t>
            </a:r>
            <a:endParaRPr lang="en-GB" sz="1350" dirty="0">
              <a:solidFill>
                <a:prstClr val="black"/>
              </a:solidFill>
            </a:endParaRPr>
          </a:p>
        </p:txBody>
      </p:sp>
    </p:spTree>
    <p:extLst>
      <p:ext uri="{BB962C8B-B14F-4D97-AF65-F5344CB8AC3E}">
        <p14:creationId xmlns:p14="http://schemas.microsoft.com/office/powerpoint/2010/main" val="1205201879"/>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5"/>
            <a:ext cx="7886700" cy="587803"/>
          </a:xfrm>
        </p:spPr>
        <p:txBody>
          <a:bodyPr>
            <a:normAutofit fontScale="90000"/>
          </a:bodyPr>
          <a:lstStyle/>
          <a:p>
            <a:r>
              <a:rPr lang="en-US" dirty="0"/>
              <a:t>Set Scenarios</a:t>
            </a:r>
            <a:endParaRPr lang="en-GB" dirty="0"/>
          </a:p>
        </p:txBody>
      </p:sp>
      <p:sp>
        <p:nvSpPr>
          <p:cNvPr id="3" name="Content Placeholder 2"/>
          <p:cNvSpPr>
            <a:spLocks noGrp="1"/>
          </p:cNvSpPr>
          <p:nvPr>
            <p:ph idx="1"/>
          </p:nvPr>
        </p:nvSpPr>
        <p:spPr>
          <a:xfrm>
            <a:off x="2152650" y="1877159"/>
            <a:ext cx="7886700" cy="3930161"/>
          </a:xfrm>
        </p:spPr>
        <p:txBody>
          <a:bodyPr>
            <a:normAutofit fontScale="77500" lnSpcReduction="20000"/>
          </a:bodyPr>
          <a:lstStyle/>
          <a:p>
            <a:pPr marL="0" indent="0" algn="just">
              <a:buNone/>
            </a:pPr>
            <a:r>
              <a:rPr lang="en-US" b="1" dirty="0"/>
              <a:t>Scenario-1:</a:t>
            </a:r>
            <a:r>
              <a:rPr lang="en-US" dirty="0"/>
              <a:t> You are developing a web application, and you want to keep track of users who are currently logged in without duplicates.</a:t>
            </a:r>
          </a:p>
          <a:p>
            <a:pPr marL="0" indent="0" algn="just">
              <a:buNone/>
            </a:pPr>
            <a:r>
              <a:rPr lang="en-US" b="1" dirty="0"/>
              <a:t>Scenario-2:</a:t>
            </a:r>
            <a:r>
              <a:rPr lang="en-US" dirty="0"/>
              <a:t> You are given two arrays of student IDs who have submitted assignments and attended classes. You want to find out which students submitted the assignment but didn’t attend class.</a:t>
            </a:r>
          </a:p>
          <a:p>
            <a:pPr marL="0" indent="0" algn="just">
              <a:buNone/>
            </a:pPr>
            <a:r>
              <a:rPr lang="en-US" b="1" dirty="0"/>
              <a:t>Scenario-3:</a:t>
            </a:r>
            <a:r>
              <a:rPr lang="en-US" dirty="0"/>
              <a:t> You want to count how many unique products were sold in a day from a list of sales transactions.</a:t>
            </a:r>
          </a:p>
          <a:p>
            <a:pPr marL="0" indent="0" algn="just">
              <a:buNone/>
            </a:pPr>
            <a:r>
              <a:rPr lang="en-US" b="1" dirty="0"/>
              <a:t>Scenario-4:</a:t>
            </a:r>
            <a:r>
              <a:rPr lang="en-US" dirty="0"/>
              <a:t> You have a list of scores from a sports event, but some scores are repeated. You want to remove duplicates and then display the scores in ascending order.</a:t>
            </a:r>
          </a:p>
          <a:p>
            <a:pPr marL="0" indent="0" algn="just">
              <a:buNone/>
            </a:pPr>
            <a:r>
              <a:rPr lang="en-US" b="1" dirty="0"/>
              <a:t>Scenario-5</a:t>
            </a:r>
            <a:r>
              <a:rPr lang="en-US" dirty="0"/>
              <a:t>: Imagine you have a list of emails entered by users, and you want to ensure that each email is only listed once.</a:t>
            </a:r>
            <a:endParaRPr lang="en-GB" dirty="0"/>
          </a:p>
        </p:txBody>
      </p:sp>
    </p:spTree>
    <p:extLst>
      <p:ext uri="{BB962C8B-B14F-4D97-AF65-F5344CB8AC3E}">
        <p14:creationId xmlns:p14="http://schemas.microsoft.com/office/powerpoint/2010/main" val="4265392349"/>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Set Scenarios</a:t>
            </a:r>
            <a:endParaRPr lang="en-GB" dirty="0"/>
          </a:p>
        </p:txBody>
      </p:sp>
      <p:sp>
        <p:nvSpPr>
          <p:cNvPr id="3" name="Content Placeholder 2"/>
          <p:cNvSpPr>
            <a:spLocks noGrp="1"/>
          </p:cNvSpPr>
          <p:nvPr>
            <p:ph idx="1"/>
          </p:nvPr>
        </p:nvSpPr>
        <p:spPr/>
        <p:txBody>
          <a:bodyPr/>
          <a:lstStyle/>
          <a:p>
            <a:pPr marL="0" indent="0">
              <a:buNone/>
            </a:pPr>
            <a:r>
              <a:rPr lang="en-US" b="1" dirty="0"/>
              <a:t>Scenario-6: You have two sets of students, one for a math class and one for a science class. You want to find:</a:t>
            </a:r>
          </a:p>
          <a:p>
            <a:pPr lvl="2"/>
            <a:r>
              <a:rPr lang="en-US" dirty="0"/>
              <a:t>The union of both classes (students in either class)</a:t>
            </a:r>
          </a:p>
          <a:p>
            <a:pPr lvl="2"/>
            <a:r>
              <a:rPr lang="en-US" dirty="0"/>
              <a:t>The intersection (students in both classes)</a:t>
            </a:r>
          </a:p>
          <a:p>
            <a:pPr lvl="2"/>
            <a:r>
              <a:rPr lang="en-US" dirty="0"/>
              <a:t>The difference (students in math class but not in science class)</a:t>
            </a:r>
          </a:p>
          <a:p>
            <a:pPr marL="0" indent="0">
              <a:buNone/>
            </a:pPr>
            <a:r>
              <a:rPr lang="en-US" b="1" dirty="0"/>
              <a:t>Scenario-7</a:t>
            </a:r>
            <a:r>
              <a:rPr lang="en-US" dirty="0"/>
              <a:t>: You're building a simple web analytics tool to track unique visitors based on IP addresses. You want to ensure that duplicate visits from the same IP are not counted multiple times.</a:t>
            </a:r>
            <a:endParaRPr lang="en-GB" dirty="0"/>
          </a:p>
        </p:txBody>
      </p:sp>
    </p:spTree>
    <p:extLst>
      <p:ext uri="{BB962C8B-B14F-4D97-AF65-F5344CB8AC3E}">
        <p14:creationId xmlns:p14="http://schemas.microsoft.com/office/powerpoint/2010/main" val="3827097172"/>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in JavaScript</a:t>
            </a:r>
            <a:endParaRPr lang="en-GB" dirty="0"/>
          </a:p>
        </p:txBody>
      </p:sp>
      <p:sp>
        <p:nvSpPr>
          <p:cNvPr id="3" name="Content Placeholder 2"/>
          <p:cNvSpPr>
            <a:spLocks noGrp="1"/>
          </p:cNvSpPr>
          <p:nvPr>
            <p:ph idx="1"/>
          </p:nvPr>
        </p:nvSpPr>
        <p:spPr>
          <a:xfrm>
            <a:off x="1735013" y="2044212"/>
            <a:ext cx="8774726" cy="1477112"/>
          </a:xfrm>
        </p:spPr>
        <p:txBody>
          <a:bodyPr>
            <a:normAutofit fontScale="92500" lnSpcReduction="10000"/>
          </a:bodyPr>
          <a:lstStyle/>
          <a:p>
            <a:pPr marL="0" indent="0">
              <a:spcBef>
                <a:spcPts val="0"/>
              </a:spcBef>
              <a:buNone/>
            </a:pPr>
            <a:r>
              <a:rPr lang="en-US" sz="1800" i="1" dirty="0"/>
              <a:t>Map</a:t>
            </a:r>
            <a:r>
              <a:rPr lang="en-US" sz="1800" dirty="0"/>
              <a:t> is a collection of elements where each element is stored as a </a:t>
            </a:r>
            <a:r>
              <a:rPr lang="en-US" sz="1800" i="1" dirty="0"/>
              <a:t>Key, value pair. Map </a:t>
            </a:r>
            <a:r>
              <a:rPr lang="en-US" sz="1800" dirty="0"/>
              <a:t>object can hold </a:t>
            </a:r>
            <a:r>
              <a:rPr lang="en-US" sz="1800" i="1" dirty="0">
                <a:solidFill>
                  <a:srgbClr val="FF0000"/>
                </a:solidFill>
              </a:rPr>
              <a:t>objects, functions and primitive</a:t>
            </a:r>
            <a:r>
              <a:rPr lang="en-US" sz="1800" dirty="0">
                <a:solidFill>
                  <a:srgbClr val="FF0000"/>
                </a:solidFill>
              </a:rPr>
              <a:t> values as either key or value</a:t>
            </a:r>
            <a:r>
              <a:rPr lang="en-US" sz="1800" dirty="0"/>
              <a:t>. Map always use the concept of key-value pair. </a:t>
            </a:r>
          </a:p>
          <a:p>
            <a:pPr marL="0" indent="0">
              <a:spcBef>
                <a:spcPts val="0"/>
              </a:spcBef>
              <a:buNone/>
            </a:pPr>
            <a:r>
              <a:rPr lang="en-US" sz="1800" dirty="0"/>
              <a:t>You can create a JavaScript Map by:</a:t>
            </a:r>
          </a:p>
          <a:p>
            <a:pPr>
              <a:spcBef>
                <a:spcPts val="0"/>
              </a:spcBef>
            </a:pPr>
            <a:r>
              <a:rPr lang="en-US" sz="1500" dirty="0"/>
              <a:t>Passing an Array to new Map()  </a:t>
            </a:r>
            <a:r>
              <a:rPr lang="en-US" sz="1500" dirty="0">
                <a:solidFill>
                  <a:srgbClr val="FF0000"/>
                </a:solidFill>
              </a:rPr>
              <a:t>let map = new Map()</a:t>
            </a:r>
          </a:p>
          <a:p>
            <a:pPr>
              <a:spcBef>
                <a:spcPts val="0"/>
              </a:spcBef>
            </a:pPr>
            <a:r>
              <a:rPr lang="en-US" sz="1500" dirty="0"/>
              <a:t>Create a Map and use </a:t>
            </a:r>
            <a:r>
              <a:rPr lang="en-US" sz="1500" dirty="0" err="1"/>
              <a:t>map.set</a:t>
            </a:r>
            <a:r>
              <a:rPr lang="en-US" sz="1500" dirty="0"/>
              <a:t>()</a:t>
            </a:r>
            <a:r>
              <a:rPr lang="en-US" dirty="0"/>
              <a:t> to add value in  </a:t>
            </a:r>
          </a:p>
        </p:txBody>
      </p:sp>
      <p:graphicFrame>
        <p:nvGraphicFramePr>
          <p:cNvPr id="5" name="Table 4"/>
          <p:cNvGraphicFramePr>
            <a:graphicFrameLocks noGrp="1"/>
          </p:cNvGraphicFramePr>
          <p:nvPr/>
        </p:nvGraphicFramePr>
        <p:xfrm>
          <a:off x="6263055" y="2714497"/>
          <a:ext cx="4352192" cy="3380616"/>
        </p:xfrm>
        <a:graphic>
          <a:graphicData uri="http://schemas.openxmlformats.org/drawingml/2006/table">
            <a:tbl>
              <a:tblPr/>
              <a:tblGrid>
                <a:gridCol w="742233">
                  <a:extLst>
                    <a:ext uri="{9D8B030D-6E8A-4147-A177-3AD203B41FA5}">
                      <a16:colId xmlns:a16="http://schemas.microsoft.com/office/drawing/2014/main" val="20000"/>
                    </a:ext>
                  </a:extLst>
                </a:gridCol>
                <a:gridCol w="3609959">
                  <a:extLst>
                    <a:ext uri="{9D8B030D-6E8A-4147-A177-3AD203B41FA5}">
                      <a16:colId xmlns:a16="http://schemas.microsoft.com/office/drawing/2014/main" val="20001"/>
                    </a:ext>
                  </a:extLst>
                </a:gridCol>
              </a:tblGrid>
              <a:tr h="260127">
                <a:tc>
                  <a:txBody>
                    <a:bodyPr/>
                    <a:lstStyle/>
                    <a:p>
                      <a:pPr algn="l" fontAlgn="t"/>
                      <a:r>
                        <a:rPr lang="en-GB" sz="1100" dirty="0">
                          <a:effectLst/>
                        </a:rPr>
                        <a:t>Method</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GB" sz="1100" dirty="0">
                          <a:effectLst/>
                        </a:rPr>
                        <a:t>Description</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0"/>
                  </a:ext>
                </a:extLst>
              </a:tr>
              <a:tr h="307589">
                <a:tc>
                  <a:txBody>
                    <a:bodyPr/>
                    <a:lstStyle/>
                    <a:p>
                      <a:pPr algn="l" fontAlgn="t"/>
                      <a:r>
                        <a:rPr lang="en-GB" sz="1100">
                          <a:effectLst/>
                        </a:rPr>
                        <a:t>new Map()</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100" dirty="0">
                          <a:effectLst/>
                        </a:rPr>
                        <a:t>Creates a new Map object</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1"/>
                  </a:ext>
                </a:extLst>
              </a:tr>
              <a:tr h="260127">
                <a:tc>
                  <a:txBody>
                    <a:bodyPr/>
                    <a:lstStyle/>
                    <a:p>
                      <a:pPr algn="l" fontAlgn="t"/>
                      <a:r>
                        <a:rPr lang="en-GB" sz="1100">
                          <a:effectLst/>
                        </a:rPr>
                        <a:t>set()</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100" dirty="0">
                          <a:effectLst/>
                        </a:rPr>
                        <a:t>Sets the value for a key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2"/>
                  </a:ext>
                </a:extLst>
              </a:tr>
              <a:tr h="260127">
                <a:tc>
                  <a:txBody>
                    <a:bodyPr/>
                    <a:lstStyle/>
                    <a:p>
                      <a:pPr algn="l" fontAlgn="t"/>
                      <a:r>
                        <a:rPr lang="en-GB" sz="1100">
                          <a:effectLst/>
                        </a:rPr>
                        <a:t>get()</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100">
                          <a:effectLst/>
                        </a:rPr>
                        <a:t>Gets the value for a key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3"/>
                  </a:ext>
                </a:extLst>
              </a:tr>
              <a:tr h="260127">
                <a:tc>
                  <a:txBody>
                    <a:bodyPr/>
                    <a:lstStyle/>
                    <a:p>
                      <a:pPr algn="l" fontAlgn="t"/>
                      <a:r>
                        <a:rPr lang="en-GB" sz="1100">
                          <a:effectLst/>
                        </a:rPr>
                        <a:t>clear()</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100">
                          <a:effectLst/>
                        </a:rPr>
                        <a:t>Removes all the elements from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4"/>
                  </a:ext>
                </a:extLst>
              </a:tr>
              <a:tr h="260127">
                <a:tc>
                  <a:txBody>
                    <a:bodyPr/>
                    <a:lstStyle/>
                    <a:p>
                      <a:pPr algn="l" fontAlgn="t"/>
                      <a:r>
                        <a:rPr lang="en-GB" sz="1100">
                          <a:effectLst/>
                        </a:rPr>
                        <a:t>delete()</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100">
                          <a:effectLst/>
                        </a:rPr>
                        <a:t>Removes a Map element specified by a key</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5"/>
                  </a:ext>
                </a:extLst>
              </a:tr>
              <a:tr h="260127">
                <a:tc>
                  <a:txBody>
                    <a:bodyPr/>
                    <a:lstStyle/>
                    <a:p>
                      <a:pPr algn="l" fontAlgn="t"/>
                      <a:r>
                        <a:rPr lang="en-GB" sz="1100">
                          <a:effectLst/>
                        </a:rPr>
                        <a:t>has()</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100" dirty="0">
                          <a:effectLst/>
                        </a:rPr>
                        <a:t>Returns true if a key exists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6"/>
                  </a:ext>
                </a:extLst>
              </a:tr>
              <a:tr h="260127">
                <a:tc>
                  <a:txBody>
                    <a:bodyPr/>
                    <a:lstStyle/>
                    <a:p>
                      <a:pPr algn="l" fontAlgn="t"/>
                      <a:r>
                        <a:rPr lang="en-GB" sz="1100">
                          <a:effectLst/>
                        </a:rPr>
                        <a:t>forEach()</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100">
                          <a:effectLst/>
                        </a:rPr>
                        <a:t>Invokes a callback for each key/value pair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7"/>
                  </a:ext>
                </a:extLst>
              </a:tr>
              <a:tr h="260127">
                <a:tc>
                  <a:txBody>
                    <a:bodyPr/>
                    <a:lstStyle/>
                    <a:p>
                      <a:pPr algn="l" fontAlgn="t"/>
                      <a:r>
                        <a:rPr lang="en-GB" sz="1100">
                          <a:effectLst/>
                        </a:rPr>
                        <a:t>entries()</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100">
                          <a:effectLst/>
                        </a:rPr>
                        <a:t>Returns an iterator object with the [key, value] pairs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08"/>
                  </a:ext>
                </a:extLst>
              </a:tr>
              <a:tr h="260127">
                <a:tc>
                  <a:txBody>
                    <a:bodyPr/>
                    <a:lstStyle/>
                    <a:p>
                      <a:pPr algn="l" fontAlgn="t"/>
                      <a:r>
                        <a:rPr lang="en-GB" sz="1100">
                          <a:effectLst/>
                        </a:rPr>
                        <a:t>keys()</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tc>
                  <a:txBody>
                    <a:bodyPr/>
                    <a:lstStyle/>
                    <a:p>
                      <a:pPr algn="l" fontAlgn="t"/>
                      <a:r>
                        <a:rPr lang="en-US" sz="1100">
                          <a:effectLst/>
                        </a:rPr>
                        <a:t>Returns an iterator object with the keys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E7E9EB"/>
                    </a:solidFill>
                  </a:tcPr>
                </a:tc>
                <a:extLst>
                  <a:ext uri="{0D108BD9-81ED-4DB2-BD59-A6C34878D82A}">
                    <a16:rowId xmlns:a16="http://schemas.microsoft.com/office/drawing/2014/main" val="10009"/>
                  </a:ext>
                </a:extLst>
              </a:tr>
              <a:tr h="260127">
                <a:tc>
                  <a:txBody>
                    <a:bodyPr/>
                    <a:lstStyle/>
                    <a:p>
                      <a:pPr algn="l" fontAlgn="t"/>
                      <a:r>
                        <a:rPr lang="en-GB" sz="1100" dirty="0">
                          <a:effectLst/>
                        </a:rPr>
                        <a:t>values()</a:t>
                      </a: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tc>
                  <a:txBody>
                    <a:bodyPr/>
                    <a:lstStyle/>
                    <a:p>
                      <a:pPr algn="l" fontAlgn="t"/>
                      <a:r>
                        <a:rPr lang="en-US" sz="1100" dirty="0">
                          <a:effectLst/>
                        </a:rPr>
                        <a:t>Returns an iterator object of the values in a Map</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CCCCCC"/>
                      </a:solidFill>
                      <a:prstDash val="solid"/>
                      <a:round/>
                      <a:headEnd type="none" w="med" len="med"/>
                      <a:tailEnd type="none" w="med" len="med"/>
                    </a:lnB>
                    <a:solidFill>
                      <a:srgbClr val="FFFFFF"/>
                    </a:solidFill>
                  </a:tcPr>
                </a:tc>
                <a:extLst>
                  <a:ext uri="{0D108BD9-81ED-4DB2-BD59-A6C34878D82A}">
                    <a16:rowId xmlns:a16="http://schemas.microsoft.com/office/drawing/2014/main" val="10010"/>
                  </a:ext>
                </a:extLst>
              </a:tr>
              <a:tr h="260127">
                <a:tc>
                  <a:txBody>
                    <a:bodyPr/>
                    <a:lstStyle/>
                    <a:p>
                      <a:pPr algn="l" fontAlgn="t"/>
                      <a:r>
                        <a:rPr lang="en-US" sz="1100" dirty="0">
                          <a:effectLst/>
                        </a:rPr>
                        <a:t>size</a:t>
                      </a:r>
                      <a:r>
                        <a:rPr lang="en-US" sz="1100" baseline="0" dirty="0">
                          <a:effectLst/>
                        </a:rPr>
                        <a:t> </a:t>
                      </a:r>
                      <a:endParaRPr lang="en-GB" sz="1100" dirty="0">
                        <a:effectLst/>
                      </a:endParaRPr>
                    </a:p>
                  </a:txBody>
                  <a:tcPr marL="100108"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tc>
                  <a:txBody>
                    <a:bodyPr/>
                    <a:lstStyle/>
                    <a:p>
                      <a:pPr algn="l" fontAlgn="t"/>
                      <a:r>
                        <a:rPr lang="en-US" sz="1100" dirty="0">
                          <a:effectLst/>
                        </a:rPr>
                        <a:t> it a property and return the number of Map elements</a:t>
                      </a:r>
                    </a:p>
                  </a:txBody>
                  <a:tcPr marL="50054" marR="50054" marT="50054" marB="50054">
                    <a:lnL w="9525" cap="flat" cmpd="sng" algn="ctr">
                      <a:solidFill>
                        <a:srgbClr val="CCCCCC"/>
                      </a:solidFill>
                      <a:prstDash val="solid"/>
                      <a:round/>
                      <a:headEnd type="none" w="med" len="med"/>
                      <a:tailEnd type="none" w="med" len="med"/>
                    </a:lnL>
                    <a:lnR w="9525" cap="flat" cmpd="sng" algn="ctr">
                      <a:solidFill>
                        <a:srgbClr val="CCCCCC"/>
                      </a:solidFill>
                      <a:prstDash val="solid"/>
                      <a:round/>
                      <a:headEnd type="none" w="med" len="med"/>
                      <a:tailEnd type="none" w="med" len="med"/>
                    </a:lnR>
                    <a:lnT w="9525" cap="flat" cmpd="sng" algn="ctr">
                      <a:solidFill>
                        <a:srgbClr val="CCCCCC"/>
                      </a:solidFill>
                      <a:prstDash val="solid"/>
                      <a:round/>
                      <a:headEnd type="none" w="med" len="med"/>
                      <a:tailEnd type="none" w="med" len="med"/>
                    </a:lnT>
                    <a:lnB w="9525" cap="flat" cmpd="sng" algn="ctr">
                      <a:solidFill>
                        <a:srgbClr val="DDDDDD"/>
                      </a:solidFill>
                      <a:prstDash val="solid"/>
                      <a:round/>
                      <a:headEnd type="none" w="med" len="med"/>
                      <a:tailEnd type="none" w="med" len="med"/>
                    </a:lnB>
                    <a:solidFill>
                      <a:srgbClr val="FFFFFF"/>
                    </a:solidFill>
                  </a:tcPr>
                </a:tc>
                <a:extLst>
                  <a:ext uri="{0D108BD9-81ED-4DB2-BD59-A6C34878D82A}">
                    <a16:rowId xmlns:a16="http://schemas.microsoft.com/office/drawing/2014/main" val="10011"/>
                  </a:ext>
                </a:extLst>
              </a:tr>
            </a:tbl>
          </a:graphicData>
        </a:graphic>
      </p:graphicFrame>
      <p:sp>
        <p:nvSpPr>
          <p:cNvPr id="6" name="TextBox 5"/>
          <p:cNvSpPr txBox="1"/>
          <p:nvPr/>
        </p:nvSpPr>
        <p:spPr>
          <a:xfrm>
            <a:off x="1735015" y="3591663"/>
            <a:ext cx="1771639" cy="1200329"/>
          </a:xfrm>
          <a:prstGeom prst="rect">
            <a:avLst/>
          </a:prstGeom>
          <a:noFill/>
        </p:spPr>
        <p:txBody>
          <a:bodyPr wrap="none" rtlCol="0">
            <a:spAutoFit/>
          </a:bodyPr>
          <a:lstStyle/>
          <a:p>
            <a:r>
              <a:rPr lang="en-GB" sz="1200" dirty="0" err="1">
                <a:solidFill>
                  <a:prstClr val="black"/>
                </a:solidFill>
              </a:rPr>
              <a:t>const</a:t>
            </a:r>
            <a:r>
              <a:rPr lang="en-GB" sz="1200" dirty="0">
                <a:solidFill>
                  <a:prstClr val="black"/>
                </a:solidFill>
              </a:rPr>
              <a:t> fruits = new Map([</a:t>
            </a:r>
            <a:br>
              <a:rPr lang="en-GB" sz="1200" dirty="0">
                <a:solidFill>
                  <a:prstClr val="black"/>
                </a:solidFill>
              </a:rPr>
            </a:br>
            <a:r>
              <a:rPr lang="en-GB" sz="1200" dirty="0">
                <a:solidFill>
                  <a:prstClr val="black"/>
                </a:solidFill>
              </a:rPr>
              <a:t>  ["apples", 500],</a:t>
            </a:r>
            <a:br>
              <a:rPr lang="en-GB" sz="1200" dirty="0">
                <a:solidFill>
                  <a:prstClr val="black"/>
                </a:solidFill>
              </a:rPr>
            </a:br>
            <a:r>
              <a:rPr lang="en-GB" sz="1200" dirty="0">
                <a:solidFill>
                  <a:prstClr val="black"/>
                </a:solidFill>
              </a:rPr>
              <a:t>  ["oranges", 200]</a:t>
            </a:r>
            <a:br>
              <a:rPr lang="en-GB" sz="1200" dirty="0">
                <a:solidFill>
                  <a:prstClr val="black"/>
                </a:solidFill>
              </a:rPr>
            </a:br>
            <a:r>
              <a:rPr lang="en-GB" sz="1200" dirty="0">
                <a:solidFill>
                  <a:prstClr val="black"/>
                </a:solidFill>
              </a:rPr>
              <a:t>]);</a:t>
            </a:r>
          </a:p>
          <a:p>
            <a:r>
              <a:rPr lang="en-US" sz="1200" dirty="0">
                <a:solidFill>
                  <a:prstClr val="black"/>
                </a:solidFill>
              </a:rPr>
              <a:t>for(let [</a:t>
            </a:r>
            <a:r>
              <a:rPr lang="en-US" sz="1200" dirty="0" err="1">
                <a:solidFill>
                  <a:prstClr val="black"/>
                </a:solidFill>
              </a:rPr>
              <a:t>k,v</a:t>
            </a:r>
            <a:r>
              <a:rPr lang="en-US" sz="1200" dirty="0">
                <a:solidFill>
                  <a:prstClr val="black"/>
                </a:solidFill>
              </a:rPr>
              <a:t>] of fruits)</a:t>
            </a:r>
          </a:p>
          <a:p>
            <a:r>
              <a:rPr lang="en-US" sz="1200" dirty="0">
                <a:solidFill>
                  <a:prstClr val="black"/>
                </a:solidFill>
              </a:rPr>
              <a:t>    console.log(k, “ : ”, v);</a:t>
            </a:r>
            <a:endParaRPr lang="en-GB" sz="1200" dirty="0">
              <a:solidFill>
                <a:prstClr val="black"/>
              </a:solidFill>
            </a:endParaRPr>
          </a:p>
        </p:txBody>
      </p:sp>
      <p:sp>
        <p:nvSpPr>
          <p:cNvPr id="7" name="TextBox 6"/>
          <p:cNvSpPr txBox="1"/>
          <p:nvPr/>
        </p:nvSpPr>
        <p:spPr>
          <a:xfrm>
            <a:off x="3695700" y="3591659"/>
            <a:ext cx="1847942" cy="1384995"/>
          </a:xfrm>
          <a:prstGeom prst="rect">
            <a:avLst/>
          </a:prstGeom>
          <a:noFill/>
        </p:spPr>
        <p:txBody>
          <a:bodyPr wrap="none" rtlCol="0">
            <a:spAutoFit/>
          </a:bodyPr>
          <a:lstStyle/>
          <a:p>
            <a:r>
              <a:rPr lang="en-GB" sz="1200" dirty="0" err="1">
                <a:solidFill>
                  <a:prstClr val="black"/>
                </a:solidFill>
              </a:rPr>
              <a:t>const</a:t>
            </a:r>
            <a:r>
              <a:rPr lang="en-GB" sz="1200" dirty="0">
                <a:solidFill>
                  <a:prstClr val="black"/>
                </a:solidFill>
              </a:rPr>
              <a:t> fruits = new Map();</a:t>
            </a:r>
            <a:br>
              <a:rPr lang="en-GB" sz="1200" dirty="0">
                <a:solidFill>
                  <a:prstClr val="black"/>
                </a:solidFill>
              </a:rPr>
            </a:br>
            <a:r>
              <a:rPr lang="en-GB" sz="1200" dirty="0">
                <a:solidFill>
                  <a:prstClr val="black"/>
                </a:solidFill>
              </a:rPr>
              <a:t>// Set Map Values</a:t>
            </a:r>
            <a:br>
              <a:rPr lang="en-GB" sz="1200" dirty="0">
                <a:solidFill>
                  <a:prstClr val="black"/>
                </a:solidFill>
              </a:rPr>
            </a:br>
            <a:r>
              <a:rPr lang="en-GB" sz="1200" dirty="0" err="1">
                <a:solidFill>
                  <a:prstClr val="black"/>
                </a:solidFill>
              </a:rPr>
              <a:t>fruits.set</a:t>
            </a:r>
            <a:r>
              <a:rPr lang="en-GB" sz="1200" dirty="0">
                <a:solidFill>
                  <a:prstClr val="black"/>
                </a:solidFill>
              </a:rPr>
              <a:t>("apples", 500);</a:t>
            </a:r>
            <a:br>
              <a:rPr lang="en-GB" sz="1200" dirty="0">
                <a:solidFill>
                  <a:prstClr val="black"/>
                </a:solidFill>
              </a:rPr>
            </a:br>
            <a:r>
              <a:rPr lang="en-GB" sz="1200" dirty="0" err="1">
                <a:solidFill>
                  <a:prstClr val="black"/>
                </a:solidFill>
              </a:rPr>
              <a:t>fruits.set</a:t>
            </a:r>
            <a:r>
              <a:rPr lang="en-GB" sz="1200" dirty="0">
                <a:solidFill>
                  <a:prstClr val="black"/>
                </a:solidFill>
              </a:rPr>
              <a:t>("oranges", 200);</a:t>
            </a:r>
          </a:p>
          <a:p>
            <a:r>
              <a:rPr lang="en-US" sz="1200" dirty="0" err="1">
                <a:solidFill>
                  <a:prstClr val="black"/>
                </a:solidFill>
              </a:rPr>
              <a:t>forEach</a:t>
            </a:r>
            <a:r>
              <a:rPr lang="en-US" sz="1200" dirty="0">
                <a:solidFill>
                  <a:prstClr val="black"/>
                </a:solidFill>
              </a:rPr>
              <a:t>((</a:t>
            </a:r>
            <a:r>
              <a:rPr lang="en-US" sz="1200" dirty="0" err="1">
                <a:solidFill>
                  <a:prstClr val="black"/>
                </a:solidFill>
              </a:rPr>
              <a:t>k,v</a:t>
            </a:r>
            <a:r>
              <a:rPr lang="en-US" sz="1200" dirty="0">
                <a:solidFill>
                  <a:prstClr val="black"/>
                </a:solidFill>
              </a:rPr>
              <a:t>) =&gt; {</a:t>
            </a:r>
          </a:p>
          <a:p>
            <a:r>
              <a:rPr lang="en-US" sz="1200" dirty="0">
                <a:solidFill>
                  <a:prstClr val="black"/>
                </a:solidFill>
              </a:rPr>
              <a:t>    console.log(k, “ : ”, v);</a:t>
            </a:r>
          </a:p>
          <a:p>
            <a:r>
              <a:rPr lang="en-US" sz="1200" dirty="0">
                <a:solidFill>
                  <a:prstClr val="black"/>
                </a:solidFill>
              </a:rPr>
              <a:t>})</a:t>
            </a:r>
            <a:endParaRPr lang="en-GB" sz="1200" dirty="0">
              <a:solidFill>
                <a:prstClr val="black"/>
              </a:solidFill>
            </a:endParaRPr>
          </a:p>
        </p:txBody>
      </p:sp>
      <p:sp>
        <p:nvSpPr>
          <p:cNvPr id="4" name="TextBox 3"/>
          <p:cNvSpPr txBox="1"/>
          <p:nvPr/>
        </p:nvSpPr>
        <p:spPr>
          <a:xfrm>
            <a:off x="1691056" y="4928091"/>
            <a:ext cx="3564887" cy="1038746"/>
          </a:xfrm>
          <a:prstGeom prst="rect">
            <a:avLst/>
          </a:prstGeom>
          <a:noFill/>
        </p:spPr>
        <p:txBody>
          <a:bodyPr wrap="none" rtlCol="0">
            <a:spAutoFit/>
          </a:bodyPr>
          <a:lstStyle/>
          <a:p>
            <a:r>
              <a:rPr lang="en-US" sz="1350" dirty="0">
                <a:solidFill>
                  <a:prstClr val="black"/>
                </a:solidFill>
              </a:rPr>
              <a:t>Map key as object</a:t>
            </a:r>
          </a:p>
          <a:p>
            <a:r>
              <a:rPr lang="en-GB" sz="1200" dirty="0" err="1">
                <a:solidFill>
                  <a:prstClr val="black"/>
                </a:solidFill>
              </a:rPr>
              <a:t>const</a:t>
            </a:r>
            <a:r>
              <a:rPr lang="en-GB" sz="1200" dirty="0">
                <a:solidFill>
                  <a:prstClr val="black"/>
                </a:solidFill>
              </a:rPr>
              <a:t> user = { id: 1, name: "John" }; </a:t>
            </a:r>
          </a:p>
          <a:p>
            <a:r>
              <a:rPr lang="en-GB" sz="1200" dirty="0" err="1">
                <a:solidFill>
                  <a:prstClr val="black"/>
                </a:solidFill>
              </a:rPr>
              <a:t>const</a:t>
            </a:r>
            <a:r>
              <a:rPr lang="en-GB" sz="1200" dirty="0">
                <a:solidFill>
                  <a:prstClr val="black"/>
                </a:solidFill>
              </a:rPr>
              <a:t> </a:t>
            </a:r>
            <a:r>
              <a:rPr lang="en-GB" sz="1200" dirty="0" err="1">
                <a:solidFill>
                  <a:prstClr val="black"/>
                </a:solidFill>
              </a:rPr>
              <a:t>permissionsMap</a:t>
            </a:r>
            <a:r>
              <a:rPr lang="en-GB" sz="1200" dirty="0">
                <a:solidFill>
                  <a:prstClr val="black"/>
                </a:solidFill>
              </a:rPr>
              <a:t> = new Map(); </a:t>
            </a:r>
          </a:p>
          <a:p>
            <a:r>
              <a:rPr lang="en-GB" sz="1200" dirty="0" err="1">
                <a:solidFill>
                  <a:prstClr val="black"/>
                </a:solidFill>
              </a:rPr>
              <a:t>permissionsMap.set</a:t>
            </a:r>
            <a:r>
              <a:rPr lang="en-GB" sz="1200" dirty="0">
                <a:solidFill>
                  <a:prstClr val="black"/>
                </a:solidFill>
              </a:rPr>
              <a:t>(user, "Admin"); </a:t>
            </a:r>
          </a:p>
          <a:p>
            <a:r>
              <a:rPr lang="en-GB" sz="1200" dirty="0">
                <a:solidFill>
                  <a:prstClr val="black"/>
                </a:solidFill>
              </a:rPr>
              <a:t>console.log(</a:t>
            </a:r>
            <a:r>
              <a:rPr lang="en-GB" sz="1200" dirty="0" err="1">
                <a:solidFill>
                  <a:prstClr val="black"/>
                </a:solidFill>
              </a:rPr>
              <a:t>permissionsMap.get</a:t>
            </a:r>
            <a:r>
              <a:rPr lang="en-GB" sz="1200" dirty="0">
                <a:solidFill>
                  <a:prstClr val="black"/>
                </a:solidFill>
              </a:rPr>
              <a:t>(user)); // "Admin"</a:t>
            </a:r>
            <a:r>
              <a:rPr lang="en-US" sz="1200" dirty="0">
                <a:solidFill>
                  <a:prstClr val="black"/>
                </a:solidFill>
              </a:rPr>
              <a:t> </a:t>
            </a:r>
            <a:endParaRPr lang="en-GB" sz="1200" dirty="0">
              <a:solidFill>
                <a:prstClr val="black"/>
              </a:solidFill>
            </a:endParaRPr>
          </a:p>
        </p:txBody>
      </p:sp>
    </p:spTree>
    <p:extLst>
      <p:ext uri="{BB962C8B-B14F-4D97-AF65-F5344CB8AC3E}">
        <p14:creationId xmlns:p14="http://schemas.microsoft.com/office/powerpoint/2010/main" val="737490926"/>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5"/>
            <a:ext cx="7886700" cy="649349"/>
          </a:xfrm>
        </p:spPr>
        <p:txBody>
          <a:bodyPr>
            <a:normAutofit fontScale="90000"/>
          </a:bodyPr>
          <a:lstStyle/>
          <a:p>
            <a:r>
              <a:rPr lang="en-US" dirty="0"/>
              <a:t>Map Scenarios</a:t>
            </a:r>
            <a:endParaRPr lang="en-GB" dirty="0"/>
          </a:p>
        </p:txBody>
      </p:sp>
      <p:sp>
        <p:nvSpPr>
          <p:cNvPr id="3" name="Content Placeholder 2"/>
          <p:cNvSpPr>
            <a:spLocks noGrp="1"/>
          </p:cNvSpPr>
          <p:nvPr>
            <p:ph idx="1"/>
          </p:nvPr>
        </p:nvSpPr>
        <p:spPr>
          <a:xfrm>
            <a:off x="2152650" y="1929911"/>
            <a:ext cx="7886700" cy="3798278"/>
          </a:xfrm>
        </p:spPr>
        <p:txBody>
          <a:bodyPr>
            <a:normAutofit fontScale="70000" lnSpcReduction="20000"/>
          </a:bodyPr>
          <a:lstStyle/>
          <a:p>
            <a:pPr marL="0" indent="0" algn="just">
              <a:buNone/>
            </a:pPr>
            <a:r>
              <a:rPr lang="en-US" b="1" dirty="0"/>
              <a:t>Scenario-1</a:t>
            </a:r>
            <a:r>
              <a:rPr lang="en-US" dirty="0"/>
              <a:t>: You're creating a system to store user preferences in an application. Each user has a unique ID, and you want to store their preferences using these IDs as keys. (hint has &amp; size)</a:t>
            </a:r>
          </a:p>
          <a:p>
            <a:pPr marL="0" indent="0" algn="just">
              <a:buNone/>
            </a:pPr>
            <a:r>
              <a:rPr lang="en-US" b="1" dirty="0"/>
              <a:t>Scenario-2</a:t>
            </a:r>
            <a:r>
              <a:rPr lang="en-US" dirty="0"/>
              <a:t>: You're managing an e-commerce site, and you need to keep track of the available quantities of different products. You want to loop through the product list and display available quantities.</a:t>
            </a:r>
          </a:p>
          <a:p>
            <a:pPr marL="0" indent="0" algn="just">
              <a:buNone/>
            </a:pPr>
            <a:r>
              <a:rPr lang="en-US" b="1" dirty="0"/>
              <a:t>Scenario-3</a:t>
            </a:r>
            <a:r>
              <a:rPr lang="en-US" dirty="0"/>
              <a:t>: You're managing a web service and need to track the number of API requests made by each user within a certain time period. You use a Map to store the user's ID as the key and the number of requests as the value.</a:t>
            </a:r>
          </a:p>
          <a:p>
            <a:pPr marL="0" indent="0" algn="just">
              <a:buNone/>
            </a:pPr>
            <a:r>
              <a:rPr lang="en-US" b="1" dirty="0"/>
              <a:t>Scenario-4</a:t>
            </a:r>
            <a:r>
              <a:rPr lang="en-US" dirty="0"/>
              <a:t>: You are running an online marketplace and want to track active sales. When a sale ends, you need to remove it from the list. The Map allows you to easily delete items based on a key.</a:t>
            </a:r>
            <a:endParaRPr lang="en-GB" dirty="0"/>
          </a:p>
        </p:txBody>
      </p:sp>
    </p:spTree>
    <p:extLst>
      <p:ext uri="{BB962C8B-B14F-4D97-AF65-F5344CB8AC3E}">
        <p14:creationId xmlns:p14="http://schemas.microsoft.com/office/powerpoint/2010/main" val="4108201524"/>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6"/>
            <a:ext cx="7886700" cy="710895"/>
          </a:xfrm>
        </p:spPr>
        <p:txBody>
          <a:bodyPr/>
          <a:lstStyle/>
          <a:p>
            <a:r>
              <a:rPr lang="en-US" dirty="0"/>
              <a:t>Map Scenarios</a:t>
            </a:r>
            <a:endParaRPr lang="en-GB" dirty="0"/>
          </a:p>
        </p:txBody>
      </p:sp>
      <p:sp>
        <p:nvSpPr>
          <p:cNvPr id="3" name="Content Placeholder 2"/>
          <p:cNvSpPr>
            <a:spLocks noGrp="1"/>
          </p:cNvSpPr>
          <p:nvPr>
            <p:ph idx="1"/>
          </p:nvPr>
        </p:nvSpPr>
        <p:spPr>
          <a:xfrm>
            <a:off x="2152650" y="1929911"/>
            <a:ext cx="7886700" cy="3894992"/>
          </a:xfrm>
        </p:spPr>
        <p:txBody>
          <a:bodyPr>
            <a:normAutofit fontScale="70000" lnSpcReduction="20000"/>
          </a:bodyPr>
          <a:lstStyle/>
          <a:p>
            <a:pPr marL="0" indent="0">
              <a:buNone/>
            </a:pPr>
            <a:r>
              <a:rPr lang="en-US" b="1" dirty="0"/>
              <a:t>Scenario-5</a:t>
            </a:r>
            <a:r>
              <a:rPr lang="en-US" dirty="0"/>
              <a:t>: You’re building a system that manages employee records. Each employee has an object with detailed information, and you want to use these objects as keys to store additional data, like their salary.</a:t>
            </a:r>
          </a:p>
          <a:p>
            <a:pPr marL="0" indent="0">
              <a:buNone/>
            </a:pPr>
            <a:r>
              <a:rPr lang="en-US" b="1" dirty="0"/>
              <a:t>Scenario-6</a:t>
            </a:r>
            <a:r>
              <a:rPr lang="en-US" dirty="0"/>
              <a:t>: You're building a text analytics tool, and you need to count how many times each word appears in a paragraph. The Map is ideal for this scenario because it allows you to track each word's occurrence.</a:t>
            </a:r>
          </a:p>
          <a:p>
            <a:pPr marL="0" indent="0">
              <a:buNone/>
            </a:pPr>
            <a:r>
              <a:rPr lang="en-US" b="1" dirty="0"/>
              <a:t>Scenario-7</a:t>
            </a:r>
            <a:r>
              <a:rPr lang="en-US" dirty="0"/>
              <a:t>: You are managing an online store and need to keep track of product prices. Occasionally, prices will change, and the Map allows you to update the prices dynamically.</a:t>
            </a:r>
          </a:p>
          <a:p>
            <a:pPr marL="0" indent="0">
              <a:buNone/>
            </a:pPr>
            <a:r>
              <a:rPr lang="en-US" b="1" dirty="0"/>
              <a:t>Scenario-8</a:t>
            </a:r>
            <a:r>
              <a:rPr lang="en-US" dirty="0"/>
              <a:t>: You are running a timed contest where you need to clear the participant records at the end of each round. After the round ends, you can use the Map's clear() method to remove all participants.</a:t>
            </a:r>
          </a:p>
          <a:p>
            <a:pPr marL="0" indent="0">
              <a:buNone/>
            </a:pPr>
            <a:r>
              <a:rPr lang="en-US" b="1" dirty="0"/>
              <a:t>Scenario-9</a:t>
            </a:r>
            <a:r>
              <a:rPr lang="en-US" dirty="0"/>
              <a:t>: You want to log all the keys (products) and values (prices) in a store's inventory.</a:t>
            </a:r>
            <a:endParaRPr lang="en-GB" dirty="0"/>
          </a:p>
        </p:txBody>
      </p:sp>
    </p:spTree>
    <p:extLst>
      <p:ext uri="{BB962C8B-B14F-4D97-AF65-F5344CB8AC3E}">
        <p14:creationId xmlns:p14="http://schemas.microsoft.com/office/powerpoint/2010/main" val="2606409429"/>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Events in JS</a:t>
            </a:r>
          </a:p>
        </p:txBody>
      </p:sp>
      <p:sp>
        <p:nvSpPr>
          <p:cNvPr id="3" name="Content Placeholder 2"/>
          <p:cNvSpPr>
            <a:spLocks noGrp="1"/>
          </p:cNvSpPr>
          <p:nvPr>
            <p:ph idx="1"/>
          </p:nvPr>
        </p:nvSpPr>
        <p:spPr/>
        <p:txBody>
          <a:bodyPr/>
          <a:lstStyle/>
          <a:p>
            <a:r>
              <a:rPr lang="en-US" dirty="0"/>
              <a:t>HTML events are </a:t>
            </a:r>
            <a:r>
              <a:rPr lang="en-US" b="1" dirty="0"/>
              <a:t>"things"</a:t>
            </a:r>
            <a:r>
              <a:rPr lang="en-US" dirty="0"/>
              <a:t> that happen to HTML elements.</a:t>
            </a:r>
          </a:p>
          <a:p>
            <a:r>
              <a:rPr lang="en-US" dirty="0"/>
              <a:t>When JavaScript is used in HTML pages, JavaScript can </a:t>
            </a:r>
            <a:r>
              <a:rPr lang="en-US" b="1" dirty="0"/>
              <a:t>"react"</a:t>
            </a:r>
            <a:r>
              <a:rPr lang="en-US" dirty="0"/>
              <a:t> on these events.</a:t>
            </a:r>
          </a:p>
          <a:p>
            <a:endParaRPr lang="en-US" dirty="0"/>
          </a:p>
        </p:txBody>
      </p:sp>
    </p:spTree>
    <p:extLst>
      <p:ext uri="{BB962C8B-B14F-4D97-AF65-F5344CB8AC3E}">
        <p14:creationId xmlns:p14="http://schemas.microsoft.com/office/powerpoint/2010/main" val="1000828130"/>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event handling</a:t>
            </a:r>
          </a:p>
        </p:txBody>
      </p:sp>
      <p:pic>
        <p:nvPicPr>
          <p:cNvPr id="5" name="Content Placeholder 4"/>
          <p:cNvPicPr>
            <a:picLocks noGrp="1" noChangeAspect="1"/>
          </p:cNvPicPr>
          <p:nvPr>
            <p:ph idx="1"/>
          </p:nvPr>
        </p:nvPicPr>
        <p:blipFill>
          <a:blip r:embed="rId2"/>
          <a:stretch>
            <a:fillRect/>
          </a:stretch>
        </p:blipFill>
        <p:spPr>
          <a:xfrm>
            <a:off x="1600200" y="1240633"/>
            <a:ext cx="8839200" cy="5156199"/>
          </a:xfrm>
          <a:prstGeom prst="rect">
            <a:avLst/>
          </a:prstGeom>
        </p:spPr>
      </p:pic>
    </p:spTree>
    <p:extLst>
      <p:ext uri="{BB962C8B-B14F-4D97-AF65-F5344CB8AC3E}">
        <p14:creationId xmlns:p14="http://schemas.microsoft.com/office/powerpoint/2010/main" val="112780473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Examples of event handling</a:t>
            </a:r>
          </a:p>
        </p:txBody>
      </p:sp>
      <p:pic>
        <p:nvPicPr>
          <p:cNvPr id="6" name="Picture 2"/>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bwMode="auto">
          <a:xfrm>
            <a:off x="1485592" y="1417638"/>
            <a:ext cx="9182409" cy="50593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2452279847"/>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Changing HTML Content</a:t>
            </a:r>
            <a:endParaRPr lang="en-US" dirty="0"/>
          </a:p>
        </p:txBody>
      </p:sp>
      <p:pic>
        <p:nvPicPr>
          <p:cNvPr id="921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524001"/>
            <a:ext cx="9144000" cy="5334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89146796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66800"/>
            <a:ext cx="91440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1905000" y="0"/>
            <a:ext cx="8229600" cy="1143000"/>
          </a:xfrm>
        </p:spPr>
        <p:txBody>
          <a:bodyPr>
            <a:normAutofit/>
          </a:bodyPr>
          <a:lstStyle/>
          <a:p>
            <a:r>
              <a:rPr lang="en-US" b="1" dirty="0"/>
              <a:t>Get html tags as an object</a:t>
            </a:r>
            <a:endParaRPr lang="en-US" dirty="0"/>
          </a:p>
        </p:txBody>
      </p:sp>
    </p:spTree>
    <p:extLst>
      <p:ext uri="{BB962C8B-B14F-4D97-AF65-F5344CB8AC3E}">
        <p14:creationId xmlns:p14="http://schemas.microsoft.com/office/powerpoint/2010/main" val="763000142"/>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066800"/>
            <a:ext cx="9144000" cy="57912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itle 1"/>
          <p:cNvSpPr>
            <a:spLocks noGrp="1"/>
          </p:cNvSpPr>
          <p:nvPr>
            <p:ph type="title"/>
          </p:nvPr>
        </p:nvSpPr>
        <p:spPr>
          <a:xfrm>
            <a:off x="1905000" y="0"/>
            <a:ext cx="8229600" cy="1143000"/>
          </a:xfrm>
        </p:spPr>
        <p:txBody>
          <a:bodyPr>
            <a:normAutofit/>
          </a:bodyPr>
          <a:lstStyle/>
          <a:p>
            <a:r>
              <a:rPr lang="en-US" b="1" dirty="0"/>
              <a:t>Get elements by tag names</a:t>
            </a:r>
            <a:endParaRPr lang="en-US" dirty="0"/>
          </a:p>
        </p:txBody>
      </p:sp>
    </p:spTree>
    <p:extLst>
      <p:ext uri="{BB962C8B-B14F-4D97-AF65-F5344CB8AC3E}">
        <p14:creationId xmlns:p14="http://schemas.microsoft.com/office/powerpoint/2010/main" val="2992534420"/>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b="1" dirty="0"/>
              <a:t>Get a complete </a:t>
            </a:r>
            <a:r>
              <a:rPr lang="en-US" b="1" dirty="0" err="1"/>
              <a:t>Div</a:t>
            </a:r>
            <a:r>
              <a:rPr lang="en-US" b="1" dirty="0"/>
              <a:t> tag</a:t>
            </a:r>
          </a:p>
        </p:txBody>
      </p:sp>
      <p:sp>
        <p:nvSpPr>
          <p:cNvPr id="3" name="Content Placeholder 2"/>
          <p:cNvSpPr>
            <a:spLocks noGrp="1"/>
          </p:cNvSpPr>
          <p:nvPr>
            <p:ph idx="1"/>
          </p:nvPr>
        </p:nvSpPr>
        <p:spPr/>
        <p:txBody>
          <a:bodyPr/>
          <a:lstStyle/>
          <a:p>
            <a:endParaRPr lang="en-US"/>
          </a:p>
        </p:txBody>
      </p:sp>
      <p:pic>
        <p:nvPicPr>
          <p:cNvPr id="1027" name="Picture 3"/>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371600"/>
            <a:ext cx="9144000" cy="54864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Tree>
    <p:extLst>
      <p:ext uri="{BB962C8B-B14F-4D97-AF65-F5344CB8AC3E}">
        <p14:creationId xmlns:p14="http://schemas.microsoft.com/office/powerpoint/2010/main" val="1869597695"/>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endParaRPr lang="en-US"/>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4000" y="1143001"/>
            <a:ext cx="9144000" cy="54863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5" name="Title 1"/>
          <p:cNvSpPr>
            <a:spLocks noGrp="1"/>
          </p:cNvSpPr>
          <p:nvPr>
            <p:ph type="title"/>
          </p:nvPr>
        </p:nvSpPr>
        <p:spPr>
          <a:xfrm>
            <a:off x="1905000" y="0"/>
            <a:ext cx="8229600" cy="1143000"/>
          </a:xfrm>
        </p:spPr>
        <p:txBody>
          <a:bodyPr>
            <a:normAutofit/>
          </a:bodyPr>
          <a:lstStyle/>
          <a:p>
            <a:r>
              <a:rPr lang="en-US" b="1" dirty="0"/>
              <a:t>Get elements by class names</a:t>
            </a:r>
            <a:endParaRPr lang="en-US" dirty="0"/>
          </a:p>
        </p:txBody>
      </p:sp>
    </p:spTree>
    <p:extLst>
      <p:ext uri="{BB962C8B-B14F-4D97-AF65-F5344CB8AC3E}">
        <p14:creationId xmlns:p14="http://schemas.microsoft.com/office/powerpoint/2010/main" val="3247669023"/>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932842" y="3074194"/>
            <a:ext cx="7886700" cy="994172"/>
          </a:xfrm>
        </p:spPr>
        <p:txBody>
          <a:bodyPr/>
          <a:lstStyle/>
          <a:p>
            <a:pPr algn="ctr"/>
            <a:r>
              <a:rPr lang="en-US" dirty="0"/>
              <a:t>Array’s Functions</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3128642653"/>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forEach</a:t>
            </a:r>
            <a:r>
              <a:rPr lang="en-US" dirty="0"/>
              <a:t> Method</a:t>
            </a:r>
            <a:endParaRPr lang="en-GB" dirty="0"/>
          </a:p>
        </p:txBody>
      </p:sp>
      <p:sp>
        <p:nvSpPr>
          <p:cNvPr id="3" name="Content Placeholder 2"/>
          <p:cNvSpPr>
            <a:spLocks noGrp="1"/>
          </p:cNvSpPr>
          <p:nvPr>
            <p:ph idx="1"/>
          </p:nvPr>
        </p:nvSpPr>
        <p:spPr>
          <a:xfrm>
            <a:off x="2033953" y="2079381"/>
            <a:ext cx="8150470" cy="3727938"/>
          </a:xfrm>
        </p:spPr>
        <p:txBody>
          <a:bodyPr>
            <a:normAutofit fontScale="77500" lnSpcReduction="20000"/>
          </a:bodyPr>
          <a:lstStyle/>
          <a:p>
            <a:pPr marL="0" indent="0">
              <a:buNone/>
            </a:pPr>
            <a:r>
              <a:rPr lang="en-US" dirty="0"/>
              <a:t>The </a:t>
            </a:r>
            <a:r>
              <a:rPr lang="en-US" b="1" dirty="0" err="1"/>
              <a:t>forEach</a:t>
            </a:r>
            <a:r>
              <a:rPr lang="en-US" dirty="0"/>
              <a:t>() method calls a function for each element in an array.</a:t>
            </a:r>
          </a:p>
          <a:p>
            <a:pPr marL="342900" lvl="1" indent="0">
              <a:buNone/>
            </a:pPr>
            <a:r>
              <a:rPr lang="en-US" sz="1500" i="1" dirty="0" err="1">
                <a:solidFill>
                  <a:srgbClr val="0070C0"/>
                </a:solidFill>
              </a:rPr>
              <a:t>array.forEach</a:t>
            </a:r>
            <a:r>
              <a:rPr lang="en-US" sz="1500" i="1" dirty="0">
                <a:solidFill>
                  <a:srgbClr val="0070C0"/>
                </a:solidFill>
              </a:rPr>
              <a:t>(</a:t>
            </a:r>
          </a:p>
          <a:p>
            <a:pPr marL="342900" lvl="1" indent="0">
              <a:buNone/>
            </a:pPr>
            <a:r>
              <a:rPr lang="en-US" sz="1500" i="1" dirty="0">
                <a:solidFill>
                  <a:srgbClr val="0070C0"/>
                </a:solidFill>
              </a:rPr>
              <a:t>		</a:t>
            </a:r>
            <a:r>
              <a:rPr lang="en-US" sz="1500" i="1" dirty="0">
                <a:solidFill>
                  <a:srgbClr val="FF0000"/>
                </a:solidFill>
              </a:rPr>
              <a:t>function(</a:t>
            </a:r>
            <a:r>
              <a:rPr lang="en-US" sz="1500" i="1" dirty="0" err="1">
                <a:solidFill>
                  <a:srgbClr val="FF0000"/>
                </a:solidFill>
              </a:rPr>
              <a:t>currentValue</a:t>
            </a:r>
            <a:r>
              <a:rPr lang="en-US" sz="1500" i="1" dirty="0">
                <a:solidFill>
                  <a:srgbClr val="FF0000"/>
                </a:solidFill>
              </a:rPr>
              <a:t>, index, array) {     //Your logic here   }</a:t>
            </a:r>
          </a:p>
          <a:p>
            <a:pPr marL="342900" lvl="1" indent="0">
              <a:buNone/>
            </a:pPr>
            <a:r>
              <a:rPr lang="en-US" sz="1500" i="1" dirty="0">
                <a:solidFill>
                  <a:srgbClr val="FF0000"/>
                </a:solidFill>
              </a:rPr>
              <a:t>	</a:t>
            </a:r>
            <a:r>
              <a:rPr lang="en-US" sz="1500" i="1" dirty="0">
                <a:solidFill>
                  <a:srgbClr val="0070C0"/>
                </a:solidFill>
              </a:rPr>
              <a:t>);</a:t>
            </a:r>
          </a:p>
          <a:p>
            <a:pPr marL="0" indent="0">
              <a:buNone/>
            </a:pPr>
            <a:r>
              <a:rPr lang="en-US" i="1" dirty="0" err="1"/>
              <a:t>foreach</a:t>
            </a:r>
            <a:r>
              <a:rPr lang="en-US" i="1" dirty="0"/>
              <a:t> execute a function once for each element through looping</a:t>
            </a:r>
          </a:p>
          <a:p>
            <a:pPr lvl="2"/>
            <a:r>
              <a:rPr lang="en-US" b="1" dirty="0" err="1"/>
              <a:t>currentValue</a:t>
            </a:r>
            <a:r>
              <a:rPr lang="en-US" dirty="0"/>
              <a:t>: The current element being processed in the array.</a:t>
            </a:r>
          </a:p>
          <a:p>
            <a:pPr lvl="2"/>
            <a:r>
              <a:rPr lang="en-US" b="1" dirty="0"/>
              <a:t>index</a:t>
            </a:r>
            <a:r>
              <a:rPr lang="en-US" dirty="0"/>
              <a:t> (optional): The index of the current element being processed.</a:t>
            </a:r>
          </a:p>
          <a:p>
            <a:pPr lvl="2"/>
            <a:r>
              <a:rPr lang="en-US" b="1" dirty="0"/>
              <a:t>array</a:t>
            </a:r>
            <a:r>
              <a:rPr lang="en-US" dirty="0"/>
              <a:t> (optional): The array that </a:t>
            </a:r>
            <a:r>
              <a:rPr lang="en-US" dirty="0" err="1"/>
              <a:t>forEach</a:t>
            </a:r>
            <a:r>
              <a:rPr lang="en-US" dirty="0"/>
              <a:t>() was called upon.</a:t>
            </a:r>
          </a:p>
          <a:p>
            <a:pPr marL="0" indent="0">
              <a:buNone/>
            </a:pPr>
            <a:r>
              <a:rPr lang="en-US" i="1" dirty="0" err="1"/>
              <a:t>foreach</a:t>
            </a:r>
            <a:r>
              <a:rPr lang="en-US" i="1" dirty="0"/>
              <a:t> do not return any value and do not implement break</a:t>
            </a:r>
          </a:p>
          <a:p>
            <a:pPr marL="685800" lvl="2" indent="0">
              <a:buNone/>
            </a:pPr>
            <a:r>
              <a:rPr lang="en-US" i="1" dirty="0" err="1">
                <a:solidFill>
                  <a:srgbClr val="FF0000"/>
                </a:solidFill>
              </a:rPr>
              <a:t>const</a:t>
            </a:r>
            <a:r>
              <a:rPr lang="en-US" i="1" dirty="0">
                <a:solidFill>
                  <a:srgbClr val="FF0000"/>
                </a:solidFill>
              </a:rPr>
              <a:t> fruits = ['Apple', 'Banana', 'Orange']; </a:t>
            </a:r>
          </a:p>
          <a:p>
            <a:pPr marL="685800" lvl="2" indent="0">
              <a:buNone/>
            </a:pPr>
            <a:r>
              <a:rPr lang="en-US" i="1" dirty="0" err="1">
                <a:solidFill>
                  <a:srgbClr val="FF0000"/>
                </a:solidFill>
              </a:rPr>
              <a:t>fruits.forEach</a:t>
            </a:r>
            <a:r>
              <a:rPr lang="en-US" i="1" dirty="0">
                <a:solidFill>
                  <a:srgbClr val="FF0000"/>
                </a:solidFill>
              </a:rPr>
              <a:t>(function(fruit) { </a:t>
            </a:r>
          </a:p>
          <a:p>
            <a:pPr marL="685800" lvl="2" indent="0">
              <a:buNone/>
            </a:pPr>
            <a:r>
              <a:rPr lang="en-US" i="1" dirty="0">
                <a:solidFill>
                  <a:srgbClr val="FF0000"/>
                </a:solidFill>
              </a:rPr>
              <a:t>	console.log(fruit); </a:t>
            </a:r>
          </a:p>
          <a:p>
            <a:pPr marL="685800" lvl="2" indent="0">
              <a:buNone/>
            </a:pPr>
            <a:r>
              <a:rPr lang="en-US" i="1" dirty="0">
                <a:solidFill>
                  <a:srgbClr val="FF0000"/>
                </a:solidFill>
              </a:rPr>
              <a:t>});</a:t>
            </a:r>
            <a:endParaRPr lang="en-GB" i="1" dirty="0">
              <a:solidFill>
                <a:srgbClr val="FF0000"/>
              </a:solidFill>
            </a:endParaRPr>
          </a:p>
        </p:txBody>
      </p:sp>
    </p:spTree>
    <p:extLst>
      <p:ext uri="{BB962C8B-B14F-4D97-AF65-F5344CB8AC3E}">
        <p14:creationId xmlns:p14="http://schemas.microsoft.com/office/powerpoint/2010/main" val="4175436670"/>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forEach</a:t>
            </a:r>
            <a:r>
              <a:rPr lang="en-US" dirty="0"/>
              <a:t> Method</a:t>
            </a:r>
            <a:endParaRPr lang="en-GB" dirty="0"/>
          </a:p>
        </p:txBody>
      </p:sp>
      <p:sp>
        <p:nvSpPr>
          <p:cNvPr id="3" name="Content Placeholder 2"/>
          <p:cNvSpPr>
            <a:spLocks noGrp="1"/>
          </p:cNvSpPr>
          <p:nvPr>
            <p:ph idx="1"/>
          </p:nvPr>
        </p:nvSpPr>
        <p:spPr/>
        <p:txBody>
          <a:bodyPr/>
          <a:lstStyle/>
          <a:p>
            <a:pPr marL="0" indent="0">
              <a:buNone/>
            </a:pPr>
            <a:r>
              <a:rPr lang="en-US" dirty="0"/>
              <a:t>The </a:t>
            </a:r>
            <a:r>
              <a:rPr lang="en-US" b="1" dirty="0" err="1"/>
              <a:t>forEach</a:t>
            </a:r>
            <a:r>
              <a:rPr lang="en-US" dirty="0"/>
              <a:t>() method is not executed for empty elements.</a:t>
            </a:r>
            <a:endParaRPr lang="en-GB" dirty="0"/>
          </a:p>
        </p:txBody>
      </p:sp>
      <p:sp>
        <p:nvSpPr>
          <p:cNvPr id="5" name="TextBox 4"/>
          <p:cNvSpPr txBox="1"/>
          <p:nvPr/>
        </p:nvSpPr>
        <p:spPr>
          <a:xfrm>
            <a:off x="7212612" y="2694844"/>
            <a:ext cx="2987036" cy="2377574"/>
          </a:xfrm>
          <a:prstGeom prst="rect">
            <a:avLst/>
          </a:prstGeom>
          <a:noFill/>
        </p:spPr>
        <p:txBody>
          <a:bodyPr wrap="none" rtlCol="0">
            <a:spAutoFit/>
          </a:bodyPr>
          <a:lstStyle/>
          <a:p>
            <a:r>
              <a:rPr lang="en-US" sz="1350" dirty="0">
                <a:solidFill>
                  <a:prstClr val="black"/>
                </a:solidFill>
              </a:rPr>
              <a:t>let sum = 0;</a:t>
            </a:r>
            <a:br>
              <a:rPr lang="en-US" sz="1350" dirty="0">
                <a:solidFill>
                  <a:prstClr val="black"/>
                </a:solidFill>
              </a:rPr>
            </a:br>
            <a:r>
              <a:rPr lang="en-US" sz="1350" dirty="0" err="1">
                <a:solidFill>
                  <a:prstClr val="black"/>
                </a:solidFill>
              </a:rPr>
              <a:t>const</a:t>
            </a:r>
            <a:r>
              <a:rPr lang="en-US" sz="1350" dirty="0">
                <a:solidFill>
                  <a:prstClr val="black"/>
                </a:solidFill>
              </a:rPr>
              <a:t> numbers = [65, 44, 12, 4];</a:t>
            </a:r>
            <a:br>
              <a:rPr lang="en-US" sz="1350" dirty="0">
                <a:solidFill>
                  <a:prstClr val="black"/>
                </a:solidFill>
              </a:rPr>
            </a:br>
            <a:r>
              <a:rPr lang="en-US" sz="1350" dirty="0" err="1">
                <a:solidFill>
                  <a:prstClr val="black"/>
                </a:solidFill>
              </a:rPr>
              <a:t>numbers.forEach</a:t>
            </a:r>
            <a:r>
              <a:rPr lang="en-US" sz="1350" dirty="0">
                <a:solidFill>
                  <a:prstClr val="black"/>
                </a:solidFill>
              </a:rPr>
              <a:t>(</a:t>
            </a:r>
            <a:r>
              <a:rPr lang="en-US" sz="1350" dirty="0" err="1">
                <a:solidFill>
                  <a:prstClr val="black"/>
                </a:solidFill>
              </a:rPr>
              <a:t>myFunction</a:t>
            </a:r>
            <a:r>
              <a:rPr lang="en-US" sz="1350" dirty="0">
                <a:solidFill>
                  <a:prstClr val="black"/>
                </a:solidFill>
              </a:rPr>
              <a:t>);</a:t>
            </a:r>
            <a:br>
              <a:rPr lang="en-US" sz="1350" dirty="0">
                <a:solidFill>
                  <a:prstClr val="black"/>
                </a:solidFill>
              </a:rPr>
            </a:br>
            <a:r>
              <a:rPr lang="en-US" sz="1350" dirty="0">
                <a:solidFill>
                  <a:prstClr val="black"/>
                </a:solidFill>
              </a:rPr>
              <a:t> </a:t>
            </a:r>
            <a:br>
              <a:rPr lang="en-US" sz="1350" dirty="0">
                <a:solidFill>
                  <a:prstClr val="black"/>
                </a:solidFill>
              </a:rPr>
            </a:br>
            <a:r>
              <a:rPr lang="en-US" sz="1350" dirty="0">
                <a:solidFill>
                  <a:prstClr val="black"/>
                </a:solidFill>
              </a:rPr>
              <a:t>function </a:t>
            </a:r>
            <a:r>
              <a:rPr lang="en-US" sz="1350" dirty="0" err="1">
                <a:solidFill>
                  <a:prstClr val="black"/>
                </a:solidFill>
              </a:rPr>
              <a:t>myFunction</a:t>
            </a:r>
            <a:r>
              <a:rPr lang="en-US" sz="1350" dirty="0">
                <a:solidFill>
                  <a:prstClr val="black"/>
                </a:solidFill>
              </a:rPr>
              <a:t>(item) {</a:t>
            </a:r>
            <a:br>
              <a:rPr lang="en-US" sz="1350" dirty="0">
                <a:solidFill>
                  <a:prstClr val="black"/>
                </a:solidFill>
              </a:rPr>
            </a:br>
            <a:r>
              <a:rPr lang="en-US" sz="1350" dirty="0">
                <a:solidFill>
                  <a:prstClr val="black"/>
                </a:solidFill>
              </a:rPr>
              <a:t>  sum += item;</a:t>
            </a:r>
            <a:br>
              <a:rPr lang="en-US" sz="1350" dirty="0">
                <a:solidFill>
                  <a:prstClr val="black"/>
                </a:solidFill>
              </a:rPr>
            </a:br>
            <a:r>
              <a:rPr lang="en-US" sz="1350" dirty="0">
                <a:solidFill>
                  <a:prstClr val="black"/>
                </a:solidFill>
              </a:rPr>
              <a:t>}</a:t>
            </a:r>
          </a:p>
          <a:p>
            <a:endParaRPr lang="en-US" sz="1350" dirty="0">
              <a:solidFill>
                <a:prstClr val="black"/>
              </a:solidFill>
            </a:endParaRPr>
          </a:p>
          <a:p>
            <a:endParaRPr lang="en-US" sz="1350" dirty="0">
              <a:solidFill>
                <a:prstClr val="black"/>
              </a:solidFill>
            </a:endParaRPr>
          </a:p>
          <a:p>
            <a:r>
              <a:rPr lang="en-US" sz="1350" dirty="0" err="1">
                <a:solidFill>
                  <a:prstClr val="black"/>
                </a:solidFill>
              </a:rPr>
              <a:t>numbers.forEach</a:t>
            </a:r>
            <a:r>
              <a:rPr lang="en-US" sz="1350" dirty="0">
                <a:solidFill>
                  <a:prstClr val="black"/>
                </a:solidFill>
              </a:rPr>
              <a:t>(item =&gt; </a:t>
            </a:r>
          </a:p>
          <a:p>
            <a:r>
              <a:rPr lang="en-US" sz="1350" dirty="0">
                <a:solidFill>
                  <a:prstClr val="black"/>
                </a:solidFill>
              </a:rPr>
              <a:t>                         console.log(sum+=item);)</a:t>
            </a:r>
            <a:endParaRPr lang="en-GB" sz="1350" dirty="0">
              <a:solidFill>
                <a:prstClr val="black"/>
              </a:solidFill>
            </a:endParaRPr>
          </a:p>
        </p:txBody>
      </p:sp>
      <p:sp>
        <p:nvSpPr>
          <p:cNvPr id="6" name="TextBox 5"/>
          <p:cNvSpPr txBox="1"/>
          <p:nvPr/>
        </p:nvSpPr>
        <p:spPr>
          <a:xfrm>
            <a:off x="1981202" y="2615715"/>
            <a:ext cx="4941275" cy="2793072"/>
          </a:xfrm>
          <a:prstGeom prst="rect">
            <a:avLst/>
          </a:prstGeom>
          <a:noFill/>
        </p:spPr>
        <p:txBody>
          <a:bodyPr wrap="square" rtlCol="0">
            <a:spAutoFit/>
          </a:bodyPr>
          <a:lstStyle/>
          <a:p>
            <a:r>
              <a:rPr lang="en-US" sz="1350" dirty="0">
                <a:solidFill>
                  <a:prstClr val="black"/>
                </a:solidFill>
              </a:rPr>
              <a:t>let </a:t>
            </a:r>
            <a:r>
              <a:rPr lang="en-US" sz="1350" dirty="0" err="1">
                <a:solidFill>
                  <a:prstClr val="black"/>
                </a:solidFill>
              </a:rPr>
              <a:t>num</a:t>
            </a:r>
            <a:r>
              <a:rPr lang="en-US" sz="1350" dirty="0">
                <a:solidFill>
                  <a:prstClr val="black"/>
                </a:solidFill>
              </a:rPr>
              <a:t> = [23,45,23,456,56];</a:t>
            </a:r>
          </a:p>
          <a:p>
            <a:r>
              <a:rPr lang="en-US" sz="1350" dirty="0" err="1">
                <a:solidFill>
                  <a:prstClr val="black"/>
                </a:solidFill>
              </a:rPr>
              <a:t>num.forEach</a:t>
            </a:r>
            <a:r>
              <a:rPr lang="en-US" sz="1350" dirty="0">
                <a:solidFill>
                  <a:prstClr val="black"/>
                </a:solidFill>
              </a:rPr>
              <a:t> ((n) =&gt; {</a:t>
            </a:r>
          </a:p>
          <a:p>
            <a:r>
              <a:rPr lang="en-US" sz="1350" dirty="0">
                <a:solidFill>
                  <a:prstClr val="black"/>
                </a:solidFill>
              </a:rPr>
              <a:t>	console.log(n);</a:t>
            </a:r>
          </a:p>
          <a:p>
            <a:r>
              <a:rPr lang="en-US" sz="1350" dirty="0">
                <a:solidFill>
                  <a:prstClr val="black"/>
                </a:solidFill>
              </a:rPr>
              <a:t>});</a:t>
            </a:r>
          </a:p>
          <a:p>
            <a:endParaRPr lang="en-US" sz="1350" dirty="0">
              <a:solidFill>
                <a:prstClr val="black"/>
              </a:solidFill>
            </a:endParaRPr>
          </a:p>
          <a:p>
            <a:r>
              <a:rPr lang="en-US" sz="1350" dirty="0">
                <a:solidFill>
                  <a:prstClr val="black"/>
                </a:solidFill>
              </a:rPr>
              <a:t>Let </a:t>
            </a:r>
            <a:r>
              <a:rPr lang="en-US" sz="1350" dirty="0" err="1">
                <a:solidFill>
                  <a:prstClr val="black"/>
                </a:solidFill>
              </a:rPr>
              <a:t>num</a:t>
            </a:r>
            <a:r>
              <a:rPr lang="en-US" sz="1350" dirty="0">
                <a:solidFill>
                  <a:prstClr val="black"/>
                </a:solidFill>
              </a:rPr>
              <a:t> = [1,2,3,4,5]</a:t>
            </a:r>
          </a:p>
          <a:p>
            <a:r>
              <a:rPr lang="en-US" sz="1350" dirty="0" err="1">
                <a:solidFill>
                  <a:prstClr val="black"/>
                </a:solidFill>
              </a:rPr>
              <a:t>Num.forEach</a:t>
            </a:r>
            <a:r>
              <a:rPr lang="en-US" sz="1350" dirty="0">
                <a:solidFill>
                  <a:prstClr val="black"/>
                </a:solidFill>
              </a:rPr>
              <a:t>((el, index, </a:t>
            </a:r>
            <a:r>
              <a:rPr lang="en-US" sz="1350" dirty="0" err="1">
                <a:solidFill>
                  <a:prstClr val="black"/>
                </a:solidFill>
              </a:rPr>
              <a:t>arr</a:t>
            </a:r>
            <a:r>
              <a:rPr lang="en-US" sz="1350" dirty="0">
                <a:solidFill>
                  <a:prstClr val="black"/>
                </a:solidFill>
              </a:rPr>
              <a:t>) =&gt; {</a:t>
            </a:r>
          </a:p>
          <a:p>
            <a:r>
              <a:rPr lang="en-US" sz="1350" dirty="0">
                <a:solidFill>
                  <a:prstClr val="black"/>
                </a:solidFill>
              </a:rPr>
              <a:t>	</a:t>
            </a:r>
            <a:r>
              <a:rPr lang="en-US" sz="1350" dirty="0" err="1">
                <a:solidFill>
                  <a:prstClr val="black"/>
                </a:solidFill>
              </a:rPr>
              <a:t>arr</a:t>
            </a:r>
            <a:r>
              <a:rPr lang="en-US" sz="1350" dirty="0">
                <a:solidFill>
                  <a:prstClr val="black"/>
                </a:solidFill>
              </a:rPr>
              <a:t>[index] = el*2;	//doubling each number	</a:t>
            </a:r>
          </a:p>
          <a:p>
            <a:r>
              <a:rPr lang="en-US" sz="1350" dirty="0">
                <a:solidFill>
                  <a:prstClr val="black"/>
                </a:solidFill>
              </a:rPr>
              <a:t>})</a:t>
            </a:r>
          </a:p>
          <a:p>
            <a:r>
              <a:rPr lang="en-US" sz="1350" dirty="0">
                <a:solidFill>
                  <a:prstClr val="black"/>
                </a:solidFill>
              </a:rPr>
              <a:t>//Here el mean element , index mean element position , array mean full array</a:t>
            </a:r>
          </a:p>
          <a:p>
            <a:r>
              <a:rPr lang="en-US" sz="1350" b="1" dirty="0">
                <a:solidFill>
                  <a:prstClr val="black"/>
                </a:solidFill>
              </a:rPr>
              <a:t>Output</a:t>
            </a:r>
          </a:p>
          <a:p>
            <a:r>
              <a:rPr lang="en-US" sz="1350" dirty="0">
                <a:solidFill>
                  <a:prstClr val="black"/>
                </a:solidFill>
              </a:rPr>
              <a:t>[2,4,6,8,10]</a:t>
            </a:r>
          </a:p>
        </p:txBody>
      </p:sp>
    </p:spTree>
    <p:extLst>
      <p:ext uri="{BB962C8B-B14F-4D97-AF65-F5344CB8AC3E}">
        <p14:creationId xmlns:p14="http://schemas.microsoft.com/office/powerpoint/2010/main" val="1923007099"/>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Function</a:t>
            </a:r>
            <a:endParaRPr lang="en-GB" dirty="0"/>
          </a:p>
        </p:txBody>
      </p:sp>
      <p:sp>
        <p:nvSpPr>
          <p:cNvPr id="3" name="Content Placeholder 2"/>
          <p:cNvSpPr>
            <a:spLocks noGrp="1"/>
          </p:cNvSpPr>
          <p:nvPr>
            <p:ph idx="1"/>
          </p:nvPr>
        </p:nvSpPr>
        <p:spPr>
          <a:xfrm>
            <a:off x="1858108" y="2226470"/>
            <a:ext cx="8528539" cy="3703943"/>
          </a:xfrm>
        </p:spPr>
        <p:txBody>
          <a:bodyPr>
            <a:normAutofit fontScale="85000" lnSpcReduction="20000"/>
          </a:bodyPr>
          <a:lstStyle/>
          <a:p>
            <a:pPr marL="0" indent="0">
              <a:buNone/>
            </a:pPr>
            <a:r>
              <a:rPr lang="en-US" dirty="0"/>
              <a:t>The </a:t>
            </a:r>
            <a:r>
              <a:rPr lang="en-US" b="1" dirty="0" err="1"/>
              <a:t>Javascript</a:t>
            </a:r>
            <a:r>
              <a:rPr lang="en-US" b="1" dirty="0"/>
              <a:t> map</a:t>
            </a:r>
            <a:r>
              <a:rPr lang="en-US" dirty="0"/>
              <a:t>() </a:t>
            </a:r>
            <a:r>
              <a:rPr lang="en-US" b="1" dirty="0"/>
              <a:t>method in JavaScript</a:t>
            </a:r>
            <a:r>
              <a:rPr lang="en-US" dirty="0"/>
              <a:t> creates an array by calling a specific </a:t>
            </a:r>
            <a:r>
              <a:rPr lang="en-US" b="1" dirty="0"/>
              <a:t>function</a:t>
            </a:r>
            <a:r>
              <a:rPr lang="en-US" dirty="0"/>
              <a:t> on each element present in the parent array.</a:t>
            </a:r>
          </a:p>
          <a:p>
            <a:pPr marL="0" indent="0">
              <a:buNone/>
            </a:pPr>
            <a:endParaRPr lang="en-US" sz="100" dirty="0"/>
          </a:p>
          <a:p>
            <a:pPr marL="342900" lvl="1" indent="0">
              <a:buNone/>
            </a:pPr>
            <a:r>
              <a:rPr lang="en-US" i="1" dirty="0" err="1"/>
              <a:t>const</a:t>
            </a:r>
            <a:r>
              <a:rPr lang="en-US" i="1" dirty="0"/>
              <a:t> </a:t>
            </a:r>
            <a:r>
              <a:rPr lang="en-US" i="1" dirty="0" err="1"/>
              <a:t>newArray</a:t>
            </a:r>
            <a:r>
              <a:rPr lang="en-US" i="1" dirty="0"/>
              <a:t> = </a:t>
            </a:r>
            <a:r>
              <a:rPr lang="en-US" i="1" dirty="0" err="1"/>
              <a:t>array.map</a:t>
            </a:r>
            <a:r>
              <a:rPr lang="en-US" i="1" dirty="0"/>
              <a:t>(function(</a:t>
            </a:r>
            <a:r>
              <a:rPr lang="en-US" i="1" dirty="0" err="1"/>
              <a:t>currentValue</a:t>
            </a:r>
            <a:r>
              <a:rPr lang="en-US" i="1" dirty="0"/>
              <a:t>, index, </a:t>
            </a:r>
            <a:r>
              <a:rPr lang="en-US" i="1" dirty="0" err="1"/>
              <a:t>arr</a:t>
            </a:r>
            <a:r>
              <a:rPr lang="en-US" i="1" dirty="0"/>
              <a:t>) {} );</a:t>
            </a:r>
          </a:p>
          <a:p>
            <a:pPr marL="0" indent="0">
              <a:buNone/>
            </a:pPr>
            <a:endParaRPr lang="en-US" sz="100" dirty="0"/>
          </a:p>
          <a:p>
            <a:pPr marL="0" indent="0">
              <a:buNone/>
            </a:pPr>
            <a:r>
              <a:rPr lang="en-US" dirty="0"/>
              <a:t>The callback function can take three arguments (</a:t>
            </a:r>
            <a:r>
              <a:rPr lang="en-US" dirty="0" err="1"/>
              <a:t>currentValue</a:t>
            </a:r>
            <a:r>
              <a:rPr lang="en-US" dirty="0"/>
              <a:t>, index, and array) and return the modified value.</a:t>
            </a:r>
          </a:p>
          <a:p>
            <a:pPr lvl="1"/>
            <a:r>
              <a:rPr lang="en-US" b="1" dirty="0" err="1"/>
              <a:t>currentValue</a:t>
            </a:r>
            <a:r>
              <a:rPr lang="en-US" b="1" dirty="0"/>
              <a:t>:</a:t>
            </a:r>
            <a:r>
              <a:rPr lang="en-US" dirty="0"/>
              <a:t> </a:t>
            </a:r>
            <a:r>
              <a:rPr lang="en-US" sz="1350" dirty="0"/>
              <a:t>The current element being processed in the array.</a:t>
            </a:r>
          </a:p>
          <a:p>
            <a:pPr lvl="1"/>
            <a:r>
              <a:rPr lang="en-US" b="1" dirty="0"/>
              <a:t>index </a:t>
            </a:r>
            <a:r>
              <a:rPr lang="en-US" sz="1350" dirty="0"/>
              <a:t>(Optional): The index of the current element.</a:t>
            </a:r>
            <a:endParaRPr lang="en-US" dirty="0"/>
          </a:p>
          <a:p>
            <a:pPr lvl="1"/>
            <a:r>
              <a:rPr lang="en-US" b="1" dirty="0" err="1"/>
              <a:t>arr</a:t>
            </a:r>
            <a:r>
              <a:rPr lang="en-US" b="1" dirty="0"/>
              <a:t>:</a:t>
            </a:r>
            <a:r>
              <a:rPr lang="en-US" dirty="0"/>
              <a:t> </a:t>
            </a:r>
            <a:r>
              <a:rPr lang="en-US" sz="1350" dirty="0"/>
              <a:t>The array that map() was called upon.</a:t>
            </a:r>
          </a:p>
          <a:p>
            <a:pPr marL="0" indent="0">
              <a:buNone/>
            </a:pPr>
            <a:r>
              <a:rPr lang="en-US" dirty="0"/>
              <a:t>The map() </a:t>
            </a:r>
            <a:r>
              <a:rPr lang="en-US" b="1" dirty="0"/>
              <a:t>always returns a new array</a:t>
            </a:r>
            <a:r>
              <a:rPr lang="en-US" dirty="0"/>
              <a:t> of the same length as the original array. It does </a:t>
            </a:r>
            <a:r>
              <a:rPr lang="en-US" b="1" dirty="0"/>
              <a:t>not modify</a:t>
            </a:r>
            <a:r>
              <a:rPr lang="en-US" dirty="0"/>
              <a:t> the original array.</a:t>
            </a:r>
          </a:p>
        </p:txBody>
      </p:sp>
    </p:spTree>
    <p:extLst>
      <p:ext uri="{BB962C8B-B14F-4D97-AF65-F5344CB8AC3E}">
        <p14:creationId xmlns:p14="http://schemas.microsoft.com/office/powerpoint/2010/main" val="3385423868"/>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map function Examples</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2165841" y="2202470"/>
            <a:ext cx="3356560" cy="2793072"/>
          </a:xfrm>
          <a:prstGeom prst="rect">
            <a:avLst/>
          </a:prstGeom>
          <a:noFill/>
        </p:spPr>
        <p:txBody>
          <a:bodyPr wrap="none" rtlCol="0">
            <a:spAutoFit/>
          </a:bodyPr>
          <a:lstStyle/>
          <a:p>
            <a:r>
              <a:rPr lang="en-US" sz="1350" b="1" dirty="0">
                <a:solidFill>
                  <a:prstClr val="black"/>
                </a:solidFill>
              </a:rPr>
              <a:t>Example-1</a:t>
            </a:r>
            <a:endParaRPr lang="en-GB" sz="1350" b="1" dirty="0">
              <a:solidFill>
                <a:prstClr val="black"/>
              </a:solidFill>
            </a:endParaRPr>
          </a:p>
          <a:p>
            <a:r>
              <a:rPr lang="en-GB" sz="1350" dirty="0" err="1">
                <a:solidFill>
                  <a:prstClr val="black"/>
                </a:solidFill>
              </a:rPr>
              <a:t>const</a:t>
            </a:r>
            <a:r>
              <a:rPr lang="en-GB" sz="1350" dirty="0">
                <a:solidFill>
                  <a:prstClr val="black"/>
                </a:solidFill>
              </a:rPr>
              <a:t> number  = [45,63,12,98]</a:t>
            </a:r>
          </a:p>
          <a:p>
            <a:r>
              <a:rPr lang="en-GB" sz="1350" dirty="0" err="1">
                <a:solidFill>
                  <a:prstClr val="black"/>
                </a:solidFill>
              </a:rPr>
              <a:t>const</a:t>
            </a:r>
            <a:r>
              <a:rPr lang="en-GB" sz="1350" dirty="0">
                <a:solidFill>
                  <a:prstClr val="black"/>
                </a:solidFill>
              </a:rPr>
              <a:t> </a:t>
            </a:r>
            <a:r>
              <a:rPr lang="en-GB" sz="1350" dirty="0" err="1">
                <a:solidFill>
                  <a:prstClr val="black"/>
                </a:solidFill>
              </a:rPr>
              <a:t>newArr</a:t>
            </a:r>
            <a:r>
              <a:rPr lang="en-GB" sz="1350" dirty="0">
                <a:solidFill>
                  <a:prstClr val="black"/>
                </a:solidFill>
              </a:rPr>
              <a:t> = </a:t>
            </a:r>
            <a:r>
              <a:rPr lang="en-GB" sz="1350" dirty="0" err="1">
                <a:solidFill>
                  <a:prstClr val="black"/>
                </a:solidFill>
              </a:rPr>
              <a:t>numbers.map</a:t>
            </a:r>
            <a:r>
              <a:rPr lang="en-GB" sz="1350" dirty="0">
                <a:solidFill>
                  <a:prstClr val="black"/>
                </a:solidFill>
              </a:rPr>
              <a:t>(function(el){</a:t>
            </a:r>
          </a:p>
          <a:p>
            <a:r>
              <a:rPr lang="en-GB" sz="1350" dirty="0">
                <a:solidFill>
                  <a:prstClr val="black"/>
                </a:solidFill>
              </a:rPr>
              <a:t>	return el*5</a:t>
            </a:r>
          </a:p>
          <a:p>
            <a:r>
              <a:rPr lang="en-GB" sz="1350" dirty="0">
                <a:solidFill>
                  <a:prstClr val="black"/>
                </a:solidFill>
              </a:rPr>
              <a:t>	})</a:t>
            </a:r>
          </a:p>
          <a:p>
            <a:r>
              <a:rPr lang="en-GB" sz="1350" dirty="0">
                <a:solidFill>
                  <a:prstClr val="black"/>
                </a:solidFill>
              </a:rPr>
              <a:t>console.log(</a:t>
            </a:r>
            <a:r>
              <a:rPr lang="en-GB" sz="1350" dirty="0" err="1">
                <a:solidFill>
                  <a:prstClr val="black"/>
                </a:solidFill>
              </a:rPr>
              <a:t>newArr</a:t>
            </a:r>
            <a:r>
              <a:rPr lang="en-GB" sz="1350" dirty="0">
                <a:solidFill>
                  <a:prstClr val="black"/>
                </a:solidFill>
              </a:rPr>
              <a:t>)</a:t>
            </a:r>
          </a:p>
          <a:p>
            <a:r>
              <a:rPr lang="en-US" sz="1350" dirty="0">
                <a:solidFill>
                  <a:prstClr val="black"/>
                </a:solidFill>
              </a:rPr>
              <a:t>Or</a:t>
            </a:r>
          </a:p>
          <a:p>
            <a:r>
              <a:rPr lang="en-US" sz="1350" dirty="0" err="1">
                <a:solidFill>
                  <a:prstClr val="black"/>
                </a:solidFill>
              </a:rPr>
              <a:t>const</a:t>
            </a:r>
            <a:r>
              <a:rPr lang="en-US" sz="1350" dirty="0">
                <a:solidFill>
                  <a:prstClr val="black"/>
                </a:solidFill>
              </a:rPr>
              <a:t> </a:t>
            </a:r>
            <a:r>
              <a:rPr lang="en-US" sz="1350" dirty="0" err="1">
                <a:solidFill>
                  <a:prstClr val="black"/>
                </a:solidFill>
              </a:rPr>
              <a:t>newArr</a:t>
            </a:r>
            <a:r>
              <a:rPr lang="en-US" sz="1350" dirty="0">
                <a:solidFill>
                  <a:prstClr val="black"/>
                </a:solidFill>
              </a:rPr>
              <a:t> = </a:t>
            </a:r>
            <a:r>
              <a:rPr lang="en-US" sz="1350" dirty="0" err="1">
                <a:solidFill>
                  <a:prstClr val="black"/>
                </a:solidFill>
              </a:rPr>
              <a:t>numbers.map</a:t>
            </a:r>
            <a:r>
              <a:rPr lang="en-US" sz="1350" dirty="0">
                <a:solidFill>
                  <a:prstClr val="black"/>
                </a:solidFill>
              </a:rPr>
              <a:t>((el) =&gt; el*5)</a:t>
            </a:r>
          </a:p>
          <a:p>
            <a:r>
              <a:rPr lang="en-US" sz="1350" dirty="0">
                <a:solidFill>
                  <a:prstClr val="black"/>
                </a:solidFill>
              </a:rPr>
              <a:t>Or</a:t>
            </a:r>
          </a:p>
          <a:p>
            <a:r>
              <a:rPr lang="en-GB" sz="1350" dirty="0" err="1">
                <a:solidFill>
                  <a:prstClr val="black"/>
                </a:solidFill>
              </a:rPr>
              <a:t>const</a:t>
            </a:r>
            <a:r>
              <a:rPr lang="en-GB" sz="1350" dirty="0">
                <a:solidFill>
                  <a:prstClr val="black"/>
                </a:solidFill>
              </a:rPr>
              <a:t> </a:t>
            </a:r>
            <a:r>
              <a:rPr lang="en-GB" sz="1350" dirty="0" err="1">
                <a:solidFill>
                  <a:prstClr val="black"/>
                </a:solidFill>
              </a:rPr>
              <a:t>newArr</a:t>
            </a:r>
            <a:r>
              <a:rPr lang="en-GB" sz="1350" dirty="0">
                <a:solidFill>
                  <a:prstClr val="black"/>
                </a:solidFill>
              </a:rPr>
              <a:t> = </a:t>
            </a:r>
            <a:r>
              <a:rPr lang="en-GB" sz="1350" dirty="0" err="1">
                <a:solidFill>
                  <a:prstClr val="black"/>
                </a:solidFill>
              </a:rPr>
              <a:t>numbers.map</a:t>
            </a:r>
            <a:r>
              <a:rPr lang="en-GB" sz="1350" dirty="0">
                <a:solidFill>
                  <a:prstClr val="black"/>
                </a:solidFill>
              </a:rPr>
              <a:t>(multiply)</a:t>
            </a:r>
          </a:p>
          <a:p>
            <a:r>
              <a:rPr lang="en-US" sz="1350" dirty="0">
                <a:solidFill>
                  <a:prstClr val="black"/>
                </a:solidFill>
              </a:rPr>
              <a:t>function multiply(el) {</a:t>
            </a:r>
          </a:p>
          <a:p>
            <a:r>
              <a:rPr lang="en-US" sz="1350" dirty="0">
                <a:solidFill>
                  <a:prstClr val="black"/>
                </a:solidFill>
              </a:rPr>
              <a:t>	return el *5;</a:t>
            </a:r>
          </a:p>
          <a:p>
            <a:r>
              <a:rPr lang="en-US" sz="1350" dirty="0">
                <a:solidFill>
                  <a:prstClr val="black"/>
                </a:solidFill>
              </a:rPr>
              <a:t>}</a:t>
            </a:r>
          </a:p>
        </p:txBody>
      </p:sp>
      <p:sp>
        <p:nvSpPr>
          <p:cNvPr id="6" name="TextBox 5"/>
          <p:cNvSpPr txBox="1"/>
          <p:nvPr/>
        </p:nvSpPr>
        <p:spPr>
          <a:xfrm>
            <a:off x="5946535" y="2299189"/>
            <a:ext cx="4801314" cy="2377574"/>
          </a:xfrm>
          <a:prstGeom prst="rect">
            <a:avLst/>
          </a:prstGeom>
          <a:noFill/>
        </p:spPr>
        <p:txBody>
          <a:bodyPr wrap="none" rtlCol="0">
            <a:spAutoFit/>
          </a:bodyPr>
          <a:lstStyle/>
          <a:p>
            <a:r>
              <a:rPr lang="en-US" sz="1350" b="1" dirty="0">
                <a:solidFill>
                  <a:prstClr val="black"/>
                </a:solidFill>
              </a:rPr>
              <a:t>Example-2</a:t>
            </a:r>
            <a:endParaRPr lang="en-GB" sz="1350" b="1" dirty="0">
              <a:solidFill>
                <a:prstClr val="black"/>
              </a:solidFill>
            </a:endParaRPr>
          </a:p>
          <a:p>
            <a:r>
              <a:rPr lang="en-GB" sz="1350" dirty="0" err="1">
                <a:solidFill>
                  <a:prstClr val="black"/>
                </a:solidFill>
              </a:rPr>
              <a:t>const</a:t>
            </a:r>
            <a:r>
              <a:rPr lang="en-GB" sz="1350" dirty="0">
                <a:solidFill>
                  <a:prstClr val="black"/>
                </a:solidFill>
              </a:rPr>
              <a:t> persons = [</a:t>
            </a:r>
          </a:p>
          <a:p>
            <a:r>
              <a:rPr lang="en-GB" sz="1350" dirty="0">
                <a:solidFill>
                  <a:prstClr val="black"/>
                </a:solidFill>
              </a:rPr>
              <a:t>	{</a:t>
            </a:r>
            <a:r>
              <a:rPr lang="en-GB" sz="1350" dirty="0" err="1">
                <a:solidFill>
                  <a:prstClr val="black"/>
                </a:solidFill>
              </a:rPr>
              <a:t>firstName</a:t>
            </a:r>
            <a:r>
              <a:rPr lang="en-GB" sz="1350" dirty="0">
                <a:solidFill>
                  <a:prstClr val="black"/>
                </a:solidFill>
              </a:rPr>
              <a:t>: "Ali", </a:t>
            </a:r>
            <a:r>
              <a:rPr lang="en-GB" sz="1350" dirty="0" err="1">
                <a:solidFill>
                  <a:prstClr val="black"/>
                </a:solidFill>
              </a:rPr>
              <a:t>lastName</a:t>
            </a:r>
            <a:r>
              <a:rPr lang="en-GB" sz="1350" dirty="0">
                <a:solidFill>
                  <a:prstClr val="black"/>
                </a:solidFill>
              </a:rPr>
              <a:t>: "Khan"}</a:t>
            </a:r>
          </a:p>
          <a:p>
            <a:r>
              <a:rPr lang="en-GB" sz="1350" dirty="0">
                <a:solidFill>
                  <a:prstClr val="black"/>
                </a:solidFill>
              </a:rPr>
              <a:t>	{</a:t>
            </a:r>
            <a:r>
              <a:rPr lang="en-GB" sz="1350" dirty="0" err="1">
                <a:solidFill>
                  <a:prstClr val="black"/>
                </a:solidFill>
              </a:rPr>
              <a:t>firstName</a:t>
            </a:r>
            <a:r>
              <a:rPr lang="en-GB" sz="1350" dirty="0">
                <a:solidFill>
                  <a:prstClr val="black"/>
                </a:solidFill>
              </a:rPr>
              <a:t>: "</a:t>
            </a:r>
            <a:r>
              <a:rPr lang="en-GB" sz="1350" dirty="0" err="1">
                <a:solidFill>
                  <a:prstClr val="black"/>
                </a:solidFill>
              </a:rPr>
              <a:t>Noman</a:t>
            </a:r>
            <a:r>
              <a:rPr lang="en-GB" sz="1350" dirty="0">
                <a:solidFill>
                  <a:prstClr val="black"/>
                </a:solidFill>
              </a:rPr>
              <a:t>", </a:t>
            </a:r>
            <a:r>
              <a:rPr lang="en-GB" sz="1350" dirty="0" err="1">
                <a:solidFill>
                  <a:prstClr val="black"/>
                </a:solidFill>
              </a:rPr>
              <a:t>lastName</a:t>
            </a:r>
            <a:r>
              <a:rPr lang="en-GB" sz="1350" dirty="0">
                <a:solidFill>
                  <a:prstClr val="black"/>
                </a:solidFill>
              </a:rPr>
              <a:t>: "</a:t>
            </a:r>
            <a:r>
              <a:rPr lang="en-GB" sz="1350" dirty="0" err="1">
                <a:solidFill>
                  <a:prstClr val="black"/>
                </a:solidFill>
              </a:rPr>
              <a:t>Asghar</a:t>
            </a:r>
            <a:r>
              <a:rPr lang="en-GB" sz="1350" dirty="0">
                <a:solidFill>
                  <a:prstClr val="black"/>
                </a:solidFill>
              </a:rPr>
              <a:t>"}</a:t>
            </a:r>
          </a:p>
          <a:p>
            <a:r>
              <a:rPr lang="en-GB" sz="1350" dirty="0">
                <a:solidFill>
                  <a:prstClr val="black"/>
                </a:solidFill>
              </a:rPr>
              <a:t>	{</a:t>
            </a:r>
            <a:r>
              <a:rPr lang="en-GB" sz="1350" dirty="0" err="1">
                <a:solidFill>
                  <a:prstClr val="black"/>
                </a:solidFill>
              </a:rPr>
              <a:t>firstName</a:t>
            </a:r>
            <a:r>
              <a:rPr lang="en-GB" sz="1350" dirty="0">
                <a:solidFill>
                  <a:prstClr val="black"/>
                </a:solidFill>
              </a:rPr>
              <a:t>: "</a:t>
            </a:r>
            <a:r>
              <a:rPr lang="en-GB" sz="1350" dirty="0" err="1">
                <a:solidFill>
                  <a:prstClr val="black"/>
                </a:solidFill>
              </a:rPr>
              <a:t>Nadeem</a:t>
            </a:r>
            <a:r>
              <a:rPr lang="en-GB" sz="1350" dirty="0">
                <a:solidFill>
                  <a:prstClr val="black"/>
                </a:solidFill>
              </a:rPr>
              <a:t>", </a:t>
            </a:r>
            <a:r>
              <a:rPr lang="en-GB" sz="1350" dirty="0" err="1">
                <a:solidFill>
                  <a:prstClr val="black"/>
                </a:solidFill>
              </a:rPr>
              <a:t>lastName</a:t>
            </a:r>
            <a:r>
              <a:rPr lang="en-GB" sz="1350" dirty="0">
                <a:solidFill>
                  <a:prstClr val="black"/>
                </a:solidFill>
              </a:rPr>
              <a:t>: "Ali"}	</a:t>
            </a:r>
          </a:p>
          <a:p>
            <a:r>
              <a:rPr lang="en-GB" sz="1350" dirty="0">
                <a:solidFill>
                  <a:prstClr val="black"/>
                </a:solidFill>
              </a:rPr>
              <a:t>]</a:t>
            </a:r>
          </a:p>
          <a:p>
            <a:endParaRPr lang="en-GB" sz="1350" dirty="0">
              <a:solidFill>
                <a:prstClr val="black"/>
              </a:solidFill>
            </a:endParaRPr>
          </a:p>
          <a:p>
            <a:r>
              <a:rPr lang="en-GB" sz="1350" dirty="0" err="1">
                <a:solidFill>
                  <a:prstClr val="black"/>
                </a:solidFill>
              </a:rPr>
              <a:t>const</a:t>
            </a:r>
            <a:r>
              <a:rPr lang="en-GB" sz="1350" dirty="0">
                <a:solidFill>
                  <a:prstClr val="black"/>
                </a:solidFill>
              </a:rPr>
              <a:t> </a:t>
            </a:r>
            <a:r>
              <a:rPr lang="en-GB" sz="1350" dirty="0" err="1">
                <a:solidFill>
                  <a:prstClr val="black"/>
                </a:solidFill>
              </a:rPr>
              <a:t>fullName</a:t>
            </a:r>
            <a:r>
              <a:rPr lang="en-GB" sz="1350" dirty="0">
                <a:solidFill>
                  <a:prstClr val="black"/>
                </a:solidFill>
              </a:rPr>
              <a:t> = </a:t>
            </a:r>
            <a:r>
              <a:rPr lang="en-GB" sz="1350" dirty="0" err="1">
                <a:solidFill>
                  <a:prstClr val="black"/>
                </a:solidFill>
              </a:rPr>
              <a:t>persons.map</a:t>
            </a:r>
            <a:r>
              <a:rPr lang="en-GB" sz="1350" dirty="0">
                <a:solidFill>
                  <a:prstClr val="black"/>
                </a:solidFill>
              </a:rPr>
              <a:t>((el) =&gt; </a:t>
            </a:r>
          </a:p>
          <a:p>
            <a:r>
              <a:rPr lang="en-GB" sz="1350" dirty="0">
                <a:solidFill>
                  <a:prstClr val="black"/>
                </a:solidFill>
              </a:rPr>
              <a:t>		</a:t>
            </a:r>
            <a:r>
              <a:rPr lang="en-GB" sz="1350" dirty="0" err="1">
                <a:solidFill>
                  <a:prstClr val="black"/>
                </a:solidFill>
              </a:rPr>
              <a:t>el.firstName</a:t>
            </a:r>
            <a:r>
              <a:rPr lang="en-GB" sz="1350" dirty="0">
                <a:solidFill>
                  <a:prstClr val="black"/>
                </a:solidFill>
              </a:rPr>
              <a:t> + " " + </a:t>
            </a:r>
            <a:r>
              <a:rPr lang="en-GB" sz="1350" dirty="0" err="1">
                <a:solidFill>
                  <a:prstClr val="black"/>
                </a:solidFill>
              </a:rPr>
              <a:t>el.lastName</a:t>
            </a:r>
            <a:r>
              <a:rPr lang="en-GB" sz="1350" dirty="0">
                <a:solidFill>
                  <a:prstClr val="black"/>
                </a:solidFill>
              </a:rPr>
              <a:t>)</a:t>
            </a:r>
          </a:p>
          <a:p>
            <a:r>
              <a:rPr lang="en-GB" sz="1350" dirty="0">
                <a:solidFill>
                  <a:prstClr val="black"/>
                </a:solidFill>
              </a:rPr>
              <a:t>console.log(</a:t>
            </a:r>
            <a:r>
              <a:rPr lang="en-GB" sz="1350" dirty="0" err="1">
                <a:solidFill>
                  <a:prstClr val="black"/>
                </a:solidFill>
              </a:rPr>
              <a:t>fullName</a:t>
            </a:r>
            <a:r>
              <a:rPr lang="en-GB" sz="1350" dirty="0">
                <a:solidFill>
                  <a:prstClr val="black"/>
                </a:solidFill>
              </a:rPr>
              <a:t>);</a:t>
            </a:r>
          </a:p>
          <a:p>
            <a:endParaRPr lang="en-GB" sz="1350" dirty="0">
              <a:solidFill>
                <a:prstClr val="black"/>
              </a:solidFill>
            </a:endParaRPr>
          </a:p>
        </p:txBody>
      </p:sp>
    </p:spTree>
    <p:extLst>
      <p:ext uri="{BB962C8B-B14F-4D97-AF65-F5344CB8AC3E}">
        <p14:creationId xmlns:p14="http://schemas.microsoft.com/office/powerpoint/2010/main" val="2914215605"/>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filter Function</a:t>
            </a:r>
            <a:endParaRPr lang="en-GB" dirty="0"/>
          </a:p>
        </p:txBody>
      </p:sp>
      <p:sp>
        <p:nvSpPr>
          <p:cNvPr id="3" name="Content Placeholder 2"/>
          <p:cNvSpPr>
            <a:spLocks noGrp="1"/>
          </p:cNvSpPr>
          <p:nvPr>
            <p:ph idx="1"/>
          </p:nvPr>
        </p:nvSpPr>
        <p:spPr/>
        <p:txBody>
          <a:bodyPr/>
          <a:lstStyle/>
          <a:p>
            <a:pPr marL="0" indent="0">
              <a:buNone/>
            </a:pPr>
            <a:r>
              <a:rPr lang="en-US" dirty="0"/>
              <a:t>The </a:t>
            </a:r>
            <a:r>
              <a:rPr lang="en-US" b="1" dirty="0"/>
              <a:t>filter</a:t>
            </a:r>
            <a:r>
              <a:rPr lang="en-US" dirty="0"/>
              <a:t>() </a:t>
            </a:r>
            <a:r>
              <a:rPr lang="en-US" b="1" dirty="0"/>
              <a:t>method</a:t>
            </a:r>
            <a:r>
              <a:rPr lang="en-US" dirty="0"/>
              <a:t> creates a new array filled with elements that pass a test provided by a </a:t>
            </a:r>
            <a:r>
              <a:rPr lang="en-US" b="1" dirty="0"/>
              <a:t>function</a:t>
            </a:r>
            <a:r>
              <a:rPr lang="en-US" dirty="0"/>
              <a:t>. </a:t>
            </a:r>
          </a:p>
          <a:p>
            <a:pPr marL="342900" lvl="1" indent="0">
              <a:buNone/>
            </a:pPr>
            <a:r>
              <a:rPr lang="en-US" dirty="0" err="1"/>
              <a:t>const</a:t>
            </a:r>
            <a:r>
              <a:rPr lang="en-US" dirty="0"/>
              <a:t> </a:t>
            </a:r>
            <a:r>
              <a:rPr lang="en-US" dirty="0" err="1"/>
              <a:t>newArray</a:t>
            </a:r>
            <a:r>
              <a:rPr lang="en-US" dirty="0"/>
              <a:t> = </a:t>
            </a:r>
            <a:r>
              <a:rPr lang="en-US" dirty="0" err="1"/>
              <a:t>array.filter</a:t>
            </a:r>
            <a:r>
              <a:rPr lang="en-US" dirty="0"/>
              <a:t>(function(element) { return </a:t>
            </a:r>
            <a:r>
              <a:rPr lang="en-US" i="1" dirty="0"/>
              <a:t>/* condition */</a:t>
            </a:r>
            <a:r>
              <a:rPr lang="en-US" dirty="0"/>
              <a:t>; });</a:t>
            </a:r>
          </a:p>
          <a:p>
            <a:pPr marL="0" indent="0">
              <a:buNone/>
            </a:pPr>
            <a:r>
              <a:rPr lang="en-US" dirty="0"/>
              <a:t>This method is used for selectively extracting elements from an array based on a given condition.</a:t>
            </a:r>
          </a:p>
          <a:p>
            <a:pPr marL="0" indent="0">
              <a:buNone/>
            </a:pPr>
            <a:endParaRPr lang="en-GB" dirty="0"/>
          </a:p>
        </p:txBody>
      </p:sp>
      <p:sp>
        <p:nvSpPr>
          <p:cNvPr id="6" name="TextBox 5"/>
          <p:cNvSpPr txBox="1"/>
          <p:nvPr/>
        </p:nvSpPr>
        <p:spPr>
          <a:xfrm>
            <a:off x="2025160" y="4321419"/>
            <a:ext cx="3938835" cy="715581"/>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number = [1,2,3,4,5,6,7,8]</a:t>
            </a:r>
          </a:p>
          <a:p>
            <a:r>
              <a:rPr lang="en-GB" sz="1350" dirty="0" err="1">
                <a:solidFill>
                  <a:prstClr val="black"/>
                </a:solidFill>
              </a:rPr>
              <a:t>const</a:t>
            </a:r>
            <a:r>
              <a:rPr lang="en-GB" sz="1350" dirty="0">
                <a:solidFill>
                  <a:prstClr val="black"/>
                </a:solidFill>
              </a:rPr>
              <a:t> </a:t>
            </a:r>
            <a:r>
              <a:rPr lang="en-GB" sz="1350" dirty="0" err="1">
                <a:solidFill>
                  <a:prstClr val="black"/>
                </a:solidFill>
              </a:rPr>
              <a:t>greaterThanFive</a:t>
            </a:r>
            <a:r>
              <a:rPr lang="en-GB" sz="1350" dirty="0">
                <a:solidFill>
                  <a:prstClr val="black"/>
                </a:solidFill>
              </a:rPr>
              <a:t> = </a:t>
            </a:r>
            <a:r>
              <a:rPr lang="en-GB" sz="1350" dirty="0" err="1">
                <a:solidFill>
                  <a:prstClr val="black"/>
                </a:solidFill>
              </a:rPr>
              <a:t>number.filter</a:t>
            </a:r>
            <a:r>
              <a:rPr lang="en-GB" sz="1350" dirty="0">
                <a:solidFill>
                  <a:prstClr val="black"/>
                </a:solidFill>
              </a:rPr>
              <a:t>(el =&gt; el &gt;= 5)</a:t>
            </a:r>
          </a:p>
          <a:p>
            <a:r>
              <a:rPr lang="en-GB" sz="1350" dirty="0">
                <a:solidFill>
                  <a:prstClr val="black"/>
                </a:solidFill>
              </a:rPr>
              <a:t>console.log(</a:t>
            </a:r>
            <a:r>
              <a:rPr lang="en-GB" sz="1350" dirty="0" err="1">
                <a:solidFill>
                  <a:prstClr val="black"/>
                </a:solidFill>
              </a:rPr>
              <a:t>greaterThanFive</a:t>
            </a:r>
            <a:r>
              <a:rPr lang="en-GB" sz="1350" dirty="0">
                <a:solidFill>
                  <a:prstClr val="black"/>
                </a:solidFill>
              </a:rPr>
              <a:t>)</a:t>
            </a:r>
          </a:p>
        </p:txBody>
      </p:sp>
      <p:sp>
        <p:nvSpPr>
          <p:cNvPr id="7" name="TextBox 6"/>
          <p:cNvSpPr txBox="1"/>
          <p:nvPr/>
        </p:nvSpPr>
        <p:spPr>
          <a:xfrm>
            <a:off x="5964118" y="4356589"/>
            <a:ext cx="4089966" cy="715581"/>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names = ["Ali", "</a:t>
            </a:r>
            <a:r>
              <a:rPr lang="en-GB" sz="1350" dirty="0" err="1">
                <a:solidFill>
                  <a:prstClr val="black"/>
                </a:solidFill>
              </a:rPr>
              <a:t>Ahsan</a:t>
            </a:r>
            <a:r>
              <a:rPr lang="en-GB" sz="1350" dirty="0">
                <a:solidFill>
                  <a:prstClr val="black"/>
                </a:solidFill>
              </a:rPr>
              <a:t>", "</a:t>
            </a:r>
            <a:r>
              <a:rPr lang="en-GB" sz="1350" dirty="0" err="1">
                <a:solidFill>
                  <a:prstClr val="black"/>
                </a:solidFill>
              </a:rPr>
              <a:t>Noman</a:t>
            </a:r>
            <a:r>
              <a:rPr lang="en-GB" sz="1350" dirty="0">
                <a:solidFill>
                  <a:prstClr val="black"/>
                </a:solidFill>
              </a:rPr>
              <a:t>", "</a:t>
            </a:r>
            <a:r>
              <a:rPr lang="en-GB" sz="1350" dirty="0" err="1">
                <a:solidFill>
                  <a:prstClr val="black"/>
                </a:solidFill>
              </a:rPr>
              <a:t>Mohsin</a:t>
            </a:r>
            <a:r>
              <a:rPr lang="en-GB" sz="1350" dirty="0">
                <a:solidFill>
                  <a:prstClr val="black"/>
                </a:solidFill>
              </a:rPr>
              <a:t>"]</a:t>
            </a:r>
          </a:p>
          <a:p>
            <a:r>
              <a:rPr lang="en-GB" sz="1350" dirty="0" err="1">
                <a:solidFill>
                  <a:prstClr val="black"/>
                </a:solidFill>
              </a:rPr>
              <a:t>const</a:t>
            </a:r>
            <a:r>
              <a:rPr lang="en-GB" sz="1350" dirty="0">
                <a:solidFill>
                  <a:prstClr val="black"/>
                </a:solidFill>
              </a:rPr>
              <a:t> </a:t>
            </a:r>
            <a:r>
              <a:rPr lang="en-GB" sz="1350" dirty="0" err="1">
                <a:solidFill>
                  <a:prstClr val="black"/>
                </a:solidFill>
              </a:rPr>
              <a:t>filterNames</a:t>
            </a:r>
            <a:r>
              <a:rPr lang="en-GB" sz="1350" dirty="0">
                <a:solidFill>
                  <a:prstClr val="black"/>
                </a:solidFill>
              </a:rPr>
              <a:t> = </a:t>
            </a:r>
            <a:r>
              <a:rPr lang="en-GB" sz="1350" dirty="0" err="1">
                <a:solidFill>
                  <a:prstClr val="black"/>
                </a:solidFill>
              </a:rPr>
              <a:t>names.filter</a:t>
            </a:r>
            <a:r>
              <a:rPr lang="en-GB" sz="1350" dirty="0">
                <a:solidFill>
                  <a:prstClr val="black"/>
                </a:solidFill>
              </a:rPr>
              <a:t>(el =&gt; </a:t>
            </a:r>
            <a:r>
              <a:rPr lang="en-GB" sz="1350" dirty="0" err="1">
                <a:solidFill>
                  <a:prstClr val="black"/>
                </a:solidFill>
              </a:rPr>
              <a:t>el.include</a:t>
            </a:r>
            <a:r>
              <a:rPr lang="en-GB" sz="1350" dirty="0">
                <a:solidFill>
                  <a:prstClr val="black"/>
                </a:solidFill>
              </a:rPr>
              <a:t>('a'))</a:t>
            </a:r>
          </a:p>
          <a:p>
            <a:r>
              <a:rPr lang="en-GB" sz="1350" dirty="0">
                <a:solidFill>
                  <a:prstClr val="black"/>
                </a:solidFill>
              </a:rPr>
              <a:t>console.log(</a:t>
            </a:r>
            <a:r>
              <a:rPr lang="en-GB" sz="1350" dirty="0" err="1">
                <a:solidFill>
                  <a:prstClr val="black"/>
                </a:solidFill>
              </a:rPr>
              <a:t>filterNames</a:t>
            </a:r>
            <a:r>
              <a:rPr lang="en-GB" sz="1350" dirty="0">
                <a:solidFill>
                  <a:prstClr val="black"/>
                </a:solidFill>
              </a:rPr>
              <a:t>)</a:t>
            </a:r>
          </a:p>
        </p:txBody>
      </p:sp>
    </p:spTree>
    <p:extLst>
      <p:ext uri="{BB962C8B-B14F-4D97-AF65-F5344CB8AC3E}">
        <p14:creationId xmlns:p14="http://schemas.microsoft.com/office/powerpoint/2010/main" val="2370473857"/>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find Function</a:t>
            </a:r>
            <a:endParaRPr lang="en-GB" dirty="0"/>
          </a:p>
        </p:txBody>
      </p:sp>
      <p:sp>
        <p:nvSpPr>
          <p:cNvPr id="3" name="Content Placeholder 2"/>
          <p:cNvSpPr>
            <a:spLocks noGrp="1"/>
          </p:cNvSpPr>
          <p:nvPr>
            <p:ph idx="1"/>
          </p:nvPr>
        </p:nvSpPr>
        <p:spPr>
          <a:xfrm>
            <a:off x="2152650" y="2226469"/>
            <a:ext cx="8163658" cy="3263504"/>
          </a:xfrm>
        </p:spPr>
        <p:txBody>
          <a:bodyPr/>
          <a:lstStyle/>
          <a:p>
            <a:pPr marL="0" indent="0" algn="just">
              <a:buNone/>
            </a:pPr>
            <a:r>
              <a:rPr lang="en-US" dirty="0"/>
              <a:t>The find() method in JavaScript is used with arrays to retrieve the value of the first element that satisfies a given condition. It executes a provided callback function for each element in the array until a </a:t>
            </a:r>
            <a:r>
              <a:rPr lang="en-US" dirty="0" err="1"/>
              <a:t>truthy</a:t>
            </a:r>
            <a:r>
              <a:rPr lang="en-US" dirty="0"/>
              <a:t> value is returned.</a:t>
            </a:r>
            <a:endParaRPr lang="en-GB" dirty="0"/>
          </a:p>
        </p:txBody>
      </p:sp>
      <p:sp>
        <p:nvSpPr>
          <p:cNvPr id="5" name="TextBox 4"/>
          <p:cNvSpPr txBox="1"/>
          <p:nvPr/>
        </p:nvSpPr>
        <p:spPr>
          <a:xfrm>
            <a:off x="6087207" y="3846635"/>
            <a:ext cx="3649974" cy="923330"/>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number = [1,2,3,4,5,6,7,8]</a:t>
            </a:r>
          </a:p>
          <a:p>
            <a:r>
              <a:rPr lang="en-GB" sz="1350" dirty="0" err="1">
                <a:solidFill>
                  <a:prstClr val="black"/>
                </a:solidFill>
              </a:rPr>
              <a:t>const</a:t>
            </a:r>
            <a:r>
              <a:rPr lang="en-GB" sz="1350" dirty="0">
                <a:solidFill>
                  <a:prstClr val="black"/>
                </a:solidFill>
              </a:rPr>
              <a:t> </a:t>
            </a:r>
            <a:r>
              <a:rPr lang="en-GB" sz="1350" dirty="0" err="1">
                <a:solidFill>
                  <a:prstClr val="black"/>
                </a:solidFill>
              </a:rPr>
              <a:t>foundNumber</a:t>
            </a:r>
            <a:r>
              <a:rPr lang="en-GB" sz="1350" dirty="0">
                <a:solidFill>
                  <a:prstClr val="black"/>
                </a:solidFill>
              </a:rPr>
              <a:t> = </a:t>
            </a:r>
            <a:r>
              <a:rPr lang="en-GB" sz="1350" dirty="0" err="1">
                <a:solidFill>
                  <a:prstClr val="black"/>
                </a:solidFill>
              </a:rPr>
              <a:t>number.find</a:t>
            </a:r>
            <a:r>
              <a:rPr lang="en-GB" sz="1350" dirty="0">
                <a:solidFill>
                  <a:prstClr val="black"/>
                </a:solidFill>
              </a:rPr>
              <a:t>(el =&gt; el &gt; 5)</a:t>
            </a:r>
          </a:p>
          <a:p>
            <a:endParaRPr lang="en-GB" sz="1350" dirty="0">
              <a:solidFill>
                <a:prstClr val="black"/>
              </a:solidFill>
            </a:endParaRPr>
          </a:p>
          <a:p>
            <a:r>
              <a:rPr lang="en-GB" sz="1350" dirty="0">
                <a:solidFill>
                  <a:prstClr val="black"/>
                </a:solidFill>
              </a:rPr>
              <a:t>console.log(</a:t>
            </a:r>
            <a:r>
              <a:rPr lang="en-GB" sz="1350" dirty="0" err="1">
                <a:solidFill>
                  <a:prstClr val="black"/>
                </a:solidFill>
              </a:rPr>
              <a:t>foundNumber</a:t>
            </a:r>
            <a:r>
              <a:rPr lang="en-GB" sz="1350" dirty="0">
                <a:solidFill>
                  <a:prstClr val="black"/>
                </a:solidFill>
              </a:rPr>
              <a:t>) //Output 6</a:t>
            </a:r>
          </a:p>
        </p:txBody>
      </p:sp>
      <p:sp>
        <p:nvSpPr>
          <p:cNvPr id="4" name="TextBox 3"/>
          <p:cNvSpPr txBox="1"/>
          <p:nvPr/>
        </p:nvSpPr>
        <p:spPr>
          <a:xfrm>
            <a:off x="1890999" y="3569174"/>
            <a:ext cx="3863237" cy="1962076"/>
          </a:xfrm>
          <a:prstGeom prst="rect">
            <a:avLst/>
          </a:prstGeom>
          <a:noFill/>
        </p:spPr>
        <p:txBody>
          <a:bodyPr wrap="none" rtlCol="0">
            <a:spAutoFit/>
          </a:bodyPr>
          <a:lstStyle/>
          <a:p>
            <a:r>
              <a:rPr lang="en-GB" sz="1350" dirty="0" err="1">
                <a:solidFill>
                  <a:prstClr val="black"/>
                </a:solidFill>
              </a:rPr>
              <a:t>const</a:t>
            </a:r>
            <a:r>
              <a:rPr lang="en-GB" sz="1350" dirty="0">
                <a:solidFill>
                  <a:prstClr val="black"/>
                </a:solidFill>
              </a:rPr>
              <a:t> names = [</a:t>
            </a:r>
          </a:p>
          <a:p>
            <a:r>
              <a:rPr lang="en-GB" sz="1350" dirty="0">
                <a:solidFill>
                  <a:prstClr val="black"/>
                </a:solidFill>
              </a:rPr>
              <a:t>	{id:1, </a:t>
            </a:r>
            <a:r>
              <a:rPr lang="en-GB" sz="1350" dirty="0" err="1">
                <a:solidFill>
                  <a:prstClr val="black"/>
                </a:solidFill>
              </a:rPr>
              <a:t>name:"Ali</a:t>
            </a:r>
            <a:r>
              <a:rPr lang="en-GB" sz="1350" dirty="0">
                <a:solidFill>
                  <a:prstClr val="black"/>
                </a:solidFill>
              </a:rPr>
              <a:t>"}, </a:t>
            </a:r>
          </a:p>
          <a:p>
            <a:r>
              <a:rPr lang="en-GB" sz="1350" dirty="0">
                <a:solidFill>
                  <a:prstClr val="black"/>
                </a:solidFill>
              </a:rPr>
              <a:t>	{id:2, name:"</a:t>
            </a:r>
            <a:r>
              <a:rPr lang="en-GB" sz="1350" dirty="0" err="1">
                <a:solidFill>
                  <a:prstClr val="black"/>
                </a:solidFill>
              </a:rPr>
              <a:t>Ahsan</a:t>
            </a:r>
            <a:r>
              <a:rPr lang="en-GB" sz="1350" dirty="0">
                <a:solidFill>
                  <a:prstClr val="black"/>
                </a:solidFill>
              </a:rPr>
              <a:t>"}, </a:t>
            </a:r>
          </a:p>
          <a:p>
            <a:r>
              <a:rPr lang="en-GB" sz="1350" dirty="0">
                <a:solidFill>
                  <a:prstClr val="black"/>
                </a:solidFill>
              </a:rPr>
              <a:t>	{id:3, name:"</a:t>
            </a:r>
            <a:r>
              <a:rPr lang="en-GB" sz="1350" dirty="0" err="1">
                <a:solidFill>
                  <a:prstClr val="black"/>
                </a:solidFill>
              </a:rPr>
              <a:t>Noman</a:t>
            </a:r>
            <a:r>
              <a:rPr lang="en-GB" sz="1350" dirty="0">
                <a:solidFill>
                  <a:prstClr val="black"/>
                </a:solidFill>
              </a:rPr>
              <a:t>"}, </a:t>
            </a:r>
          </a:p>
          <a:p>
            <a:r>
              <a:rPr lang="en-GB" sz="1350" dirty="0">
                <a:solidFill>
                  <a:prstClr val="black"/>
                </a:solidFill>
              </a:rPr>
              <a:t>	{id:4, name:"</a:t>
            </a:r>
            <a:r>
              <a:rPr lang="en-GB" sz="1350" dirty="0" err="1">
                <a:solidFill>
                  <a:prstClr val="black"/>
                </a:solidFill>
              </a:rPr>
              <a:t>Mohsin</a:t>
            </a:r>
            <a:r>
              <a:rPr lang="en-GB" sz="1350" dirty="0">
                <a:solidFill>
                  <a:prstClr val="black"/>
                </a:solidFill>
              </a:rPr>
              <a:t>"}</a:t>
            </a:r>
          </a:p>
          <a:p>
            <a:r>
              <a:rPr lang="en-GB" sz="1350" dirty="0">
                <a:solidFill>
                  <a:prstClr val="black"/>
                </a:solidFill>
              </a:rPr>
              <a:t>]</a:t>
            </a:r>
          </a:p>
          <a:p>
            <a:r>
              <a:rPr lang="en-GB" sz="1350" dirty="0" err="1">
                <a:solidFill>
                  <a:prstClr val="black"/>
                </a:solidFill>
              </a:rPr>
              <a:t>const</a:t>
            </a:r>
            <a:r>
              <a:rPr lang="en-GB" sz="1350" dirty="0">
                <a:solidFill>
                  <a:prstClr val="black"/>
                </a:solidFill>
              </a:rPr>
              <a:t> </a:t>
            </a:r>
            <a:r>
              <a:rPr lang="en-GB" sz="1350" dirty="0" err="1">
                <a:solidFill>
                  <a:prstClr val="black"/>
                </a:solidFill>
              </a:rPr>
              <a:t>foundPerson</a:t>
            </a:r>
            <a:r>
              <a:rPr lang="en-GB" sz="1350" dirty="0">
                <a:solidFill>
                  <a:prstClr val="black"/>
                </a:solidFill>
              </a:rPr>
              <a:t> = </a:t>
            </a:r>
            <a:r>
              <a:rPr lang="en-GB" sz="1350" dirty="0" err="1">
                <a:solidFill>
                  <a:prstClr val="black"/>
                </a:solidFill>
              </a:rPr>
              <a:t>names.find</a:t>
            </a:r>
            <a:r>
              <a:rPr lang="en-GB" sz="1350" dirty="0">
                <a:solidFill>
                  <a:prstClr val="black"/>
                </a:solidFill>
              </a:rPr>
              <a:t>(el =&gt; el.id === 1)</a:t>
            </a:r>
          </a:p>
          <a:p>
            <a:r>
              <a:rPr lang="en-GB" sz="1350" dirty="0">
                <a:solidFill>
                  <a:prstClr val="black"/>
                </a:solidFill>
              </a:rPr>
              <a:t>console.log(</a:t>
            </a:r>
            <a:r>
              <a:rPr lang="en-GB" sz="1350" dirty="0" err="1">
                <a:solidFill>
                  <a:prstClr val="black"/>
                </a:solidFill>
              </a:rPr>
              <a:t>foundPerson</a:t>
            </a:r>
            <a:r>
              <a:rPr lang="en-GB" sz="1350" dirty="0">
                <a:solidFill>
                  <a:prstClr val="black"/>
                </a:solidFill>
              </a:rPr>
              <a:t>) // {id:1, name: "Ali"}</a:t>
            </a:r>
          </a:p>
          <a:p>
            <a:endParaRPr lang="en-GB" sz="1350" dirty="0">
              <a:solidFill>
                <a:prstClr val="black"/>
              </a:solidFill>
            </a:endParaRPr>
          </a:p>
        </p:txBody>
      </p:sp>
    </p:spTree>
    <p:extLst>
      <p:ext uri="{BB962C8B-B14F-4D97-AF65-F5344CB8AC3E}">
        <p14:creationId xmlns:p14="http://schemas.microsoft.com/office/powerpoint/2010/main" val="3450667317"/>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Difference between filter() &amp; find()</a:t>
            </a:r>
            <a:endParaRPr lang="en-GB" dirty="0"/>
          </a:p>
        </p:txBody>
      </p:sp>
      <p:sp>
        <p:nvSpPr>
          <p:cNvPr id="3" name="Content Placeholder 2"/>
          <p:cNvSpPr>
            <a:spLocks noGrp="1"/>
          </p:cNvSpPr>
          <p:nvPr>
            <p:ph idx="1"/>
          </p:nvPr>
        </p:nvSpPr>
        <p:spPr>
          <a:xfrm>
            <a:off x="2152650" y="2044213"/>
            <a:ext cx="7886700" cy="3807069"/>
          </a:xfrm>
        </p:spPr>
        <p:txBody>
          <a:bodyPr>
            <a:normAutofit fontScale="55000" lnSpcReduction="20000"/>
          </a:bodyPr>
          <a:lstStyle/>
          <a:p>
            <a:pPr marL="0" indent="0">
              <a:buNone/>
            </a:pPr>
            <a:r>
              <a:rPr lang="en-US" b="1" dirty="0"/>
              <a:t>‘filter’ function</a:t>
            </a:r>
          </a:p>
          <a:p>
            <a:r>
              <a:rPr lang="en-US" dirty="0"/>
              <a:t>The filter function creates a new array with all elements that pass the test implemented by the provided function.</a:t>
            </a:r>
          </a:p>
          <a:p>
            <a:r>
              <a:rPr lang="en-US" dirty="0"/>
              <a:t>It iterates through each element of the array and applies the provided function to each element.</a:t>
            </a:r>
          </a:p>
          <a:p>
            <a:r>
              <a:rPr lang="en-US" dirty="0"/>
              <a:t>The provided function should return true to include the element in the new array or false to exclude it.</a:t>
            </a:r>
          </a:p>
          <a:p>
            <a:r>
              <a:rPr lang="en-US" dirty="0"/>
              <a:t>If no elements pass the test, an empty array is returned.</a:t>
            </a:r>
          </a:p>
          <a:p>
            <a:pPr marL="0" indent="0">
              <a:buNone/>
            </a:pPr>
            <a:r>
              <a:rPr lang="en-US" b="1" dirty="0"/>
              <a:t>‘find’ function</a:t>
            </a:r>
          </a:p>
          <a:p>
            <a:r>
              <a:rPr lang="en-US" dirty="0"/>
              <a:t>The find function returns the first element in the array that satisfies the provided testing function.</a:t>
            </a:r>
          </a:p>
          <a:p>
            <a:r>
              <a:rPr lang="en-US" dirty="0"/>
              <a:t>It stops once the first matching element is found and returns that element.</a:t>
            </a:r>
          </a:p>
          <a:p>
            <a:r>
              <a:rPr lang="en-US" dirty="0"/>
              <a:t>If no element satisfies the condition, undefined is returned.</a:t>
            </a:r>
          </a:p>
          <a:p>
            <a:r>
              <a:rPr lang="en-US" dirty="0"/>
              <a:t>The find function does not create a new array; it just returns the first matching element.</a:t>
            </a:r>
          </a:p>
          <a:p>
            <a:pPr marL="0" indent="0">
              <a:buNone/>
            </a:pPr>
            <a:endParaRPr lang="en-GB" dirty="0"/>
          </a:p>
        </p:txBody>
      </p:sp>
    </p:spTree>
    <p:extLst>
      <p:ext uri="{BB962C8B-B14F-4D97-AF65-F5344CB8AC3E}">
        <p14:creationId xmlns:p14="http://schemas.microsoft.com/office/powerpoint/2010/main" val="104062868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Sort function</a:t>
            </a:r>
            <a:endParaRPr lang="en-GB" dirty="0"/>
          </a:p>
        </p:txBody>
      </p:sp>
      <p:sp>
        <p:nvSpPr>
          <p:cNvPr id="3" name="Content Placeholder 2"/>
          <p:cNvSpPr>
            <a:spLocks noGrp="1"/>
          </p:cNvSpPr>
          <p:nvPr>
            <p:ph idx="1"/>
          </p:nvPr>
        </p:nvSpPr>
        <p:spPr/>
        <p:txBody>
          <a:bodyPr/>
          <a:lstStyle/>
          <a:p>
            <a:pPr marL="0" indent="0">
              <a:buNone/>
            </a:pPr>
            <a:r>
              <a:rPr lang="en-US" dirty="0"/>
              <a:t>The </a:t>
            </a:r>
            <a:r>
              <a:rPr lang="en-US" dirty="0">
                <a:solidFill>
                  <a:srgbClr val="FF0000"/>
                </a:solidFill>
              </a:rPr>
              <a:t>sort()</a:t>
            </a:r>
            <a:r>
              <a:rPr lang="en-US" dirty="0"/>
              <a:t> function in JavaScript is used to sort the elements of an array in place (i.e., It modifies the original array).</a:t>
            </a:r>
          </a:p>
          <a:p>
            <a:pPr marL="342900" lvl="1" indent="0">
              <a:buNone/>
            </a:pPr>
            <a:r>
              <a:rPr lang="en-GB" dirty="0" err="1">
                <a:solidFill>
                  <a:srgbClr val="0070C0"/>
                </a:solidFill>
              </a:rPr>
              <a:t>array.sort</a:t>
            </a:r>
            <a:r>
              <a:rPr lang="en-GB" dirty="0">
                <a:solidFill>
                  <a:srgbClr val="0070C0"/>
                </a:solidFill>
              </a:rPr>
              <a:t>(</a:t>
            </a:r>
            <a:r>
              <a:rPr lang="en-GB" dirty="0" err="1">
                <a:solidFill>
                  <a:srgbClr val="0070C0"/>
                </a:solidFill>
              </a:rPr>
              <a:t>compareFunction</a:t>
            </a:r>
            <a:r>
              <a:rPr lang="en-GB" dirty="0">
                <a:solidFill>
                  <a:srgbClr val="0070C0"/>
                </a:solidFill>
              </a:rPr>
              <a:t>);</a:t>
            </a:r>
          </a:p>
          <a:p>
            <a:pPr marL="0" indent="0">
              <a:buNone/>
            </a:pPr>
            <a:r>
              <a:rPr lang="en-US" dirty="0" err="1"/>
              <a:t>compareFunction</a:t>
            </a:r>
            <a:r>
              <a:rPr lang="en-US" dirty="0"/>
              <a:t> (optional) function defines the sort order. If omitted, JavaScript will sort the array elements as strings provided.</a:t>
            </a:r>
          </a:p>
          <a:p>
            <a:pPr marL="342900" lvl="1" indent="0">
              <a:buNone/>
            </a:pPr>
            <a:r>
              <a:rPr lang="en-GB" dirty="0">
                <a:solidFill>
                  <a:srgbClr val="0070C0"/>
                </a:solidFill>
              </a:rPr>
              <a:t>let fruits = ["Banana", "Apple", "Orange", "Mango"]; </a:t>
            </a:r>
          </a:p>
          <a:p>
            <a:pPr marL="342900" lvl="1" indent="0">
              <a:buNone/>
            </a:pPr>
            <a:r>
              <a:rPr lang="en-GB" dirty="0" err="1">
                <a:solidFill>
                  <a:srgbClr val="0070C0"/>
                </a:solidFill>
              </a:rPr>
              <a:t>fruits.sort</a:t>
            </a:r>
            <a:r>
              <a:rPr lang="en-GB" dirty="0">
                <a:solidFill>
                  <a:srgbClr val="0070C0"/>
                </a:solidFill>
              </a:rPr>
              <a:t>();</a:t>
            </a:r>
            <a:r>
              <a:rPr lang="en-GB" dirty="0"/>
              <a:t> // sorting answer = ["Apple", "Banana", "Mango", "Orange"]</a:t>
            </a:r>
          </a:p>
          <a:p>
            <a:pPr marL="0" indent="0">
              <a:buNone/>
            </a:pPr>
            <a:r>
              <a:rPr lang="en-US" dirty="0"/>
              <a:t>By default fruits values will be sorted according to alphabetically. Similarly number can be sort as</a:t>
            </a:r>
          </a:p>
          <a:p>
            <a:pPr marL="0" indent="0">
              <a:buNone/>
            </a:pPr>
            <a:r>
              <a:rPr lang="en-US" dirty="0">
                <a:solidFill>
                  <a:srgbClr val="0070C0"/>
                </a:solidFill>
              </a:rPr>
              <a:t>[11,15,12,9,20].sort((</a:t>
            </a:r>
            <a:r>
              <a:rPr lang="en-US" dirty="0" err="1">
                <a:solidFill>
                  <a:srgbClr val="0070C0"/>
                </a:solidFill>
              </a:rPr>
              <a:t>a,b</a:t>
            </a:r>
            <a:r>
              <a:rPr lang="en-US" dirty="0">
                <a:solidFill>
                  <a:srgbClr val="0070C0"/>
                </a:solidFill>
              </a:rPr>
              <a:t>)=&gt; a - b )</a:t>
            </a:r>
            <a:endParaRPr lang="en-GB" dirty="0">
              <a:solidFill>
                <a:srgbClr val="0070C0"/>
              </a:solidFill>
            </a:endParaRPr>
          </a:p>
        </p:txBody>
      </p:sp>
    </p:spTree>
    <p:extLst>
      <p:ext uri="{BB962C8B-B14F-4D97-AF65-F5344CB8AC3E}">
        <p14:creationId xmlns:p14="http://schemas.microsoft.com/office/powerpoint/2010/main" val="2430748578"/>
      </p:ext>
    </p:extLst>
  </p:cSld>
  <p:clrMapOvr>
    <a:masterClrMapping/>
  </p:clrMapOvr>
</p:sld>
</file>

<file path=ppt/slides/slide1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5"/>
            <a:ext cx="7886700" cy="649349"/>
          </a:xfrm>
        </p:spPr>
        <p:txBody>
          <a:bodyPr>
            <a:normAutofit fontScale="90000"/>
          </a:bodyPr>
          <a:lstStyle/>
          <a:p>
            <a:r>
              <a:rPr lang="en-GB" dirty="0"/>
              <a:t>Sorting Arrays of Objects</a:t>
            </a:r>
          </a:p>
        </p:txBody>
      </p:sp>
      <p:sp>
        <p:nvSpPr>
          <p:cNvPr id="5" name="TextBox 4"/>
          <p:cNvSpPr txBox="1"/>
          <p:nvPr/>
        </p:nvSpPr>
        <p:spPr>
          <a:xfrm>
            <a:off x="7080742" y="1560635"/>
            <a:ext cx="3659335" cy="2793072"/>
          </a:xfrm>
          <a:prstGeom prst="rect">
            <a:avLst/>
          </a:prstGeom>
          <a:noFill/>
        </p:spPr>
        <p:txBody>
          <a:bodyPr wrap="none" rtlCol="0">
            <a:spAutoFit/>
          </a:bodyPr>
          <a:lstStyle/>
          <a:p>
            <a:r>
              <a:rPr lang="en-US" sz="1350" b="1" dirty="0">
                <a:solidFill>
                  <a:prstClr val="black"/>
                </a:solidFill>
              </a:rPr>
              <a:t>Sort by Number Property</a:t>
            </a:r>
          </a:p>
          <a:p>
            <a:r>
              <a:rPr lang="en-US" sz="1350" dirty="0" err="1">
                <a:solidFill>
                  <a:srgbClr val="0070C0"/>
                </a:solidFill>
              </a:rPr>
              <a:t>const</a:t>
            </a:r>
            <a:r>
              <a:rPr lang="en-US" sz="1350" dirty="0">
                <a:solidFill>
                  <a:srgbClr val="0070C0"/>
                </a:solidFill>
              </a:rPr>
              <a:t> products = [ </a:t>
            </a:r>
          </a:p>
          <a:p>
            <a:r>
              <a:rPr lang="en-US" sz="1350" dirty="0">
                <a:solidFill>
                  <a:srgbClr val="0070C0"/>
                </a:solidFill>
              </a:rPr>
              <a:t>   { name: "Apple", price: 1.2 }, </a:t>
            </a:r>
          </a:p>
          <a:p>
            <a:r>
              <a:rPr lang="en-US" sz="1350" dirty="0">
                <a:solidFill>
                  <a:srgbClr val="0070C0"/>
                </a:solidFill>
              </a:rPr>
              <a:t>   { name: "Banana", price: 0.5 }, </a:t>
            </a:r>
          </a:p>
          <a:p>
            <a:r>
              <a:rPr lang="en-US" sz="1350" dirty="0">
                <a:solidFill>
                  <a:srgbClr val="0070C0"/>
                </a:solidFill>
              </a:rPr>
              <a:t>   { name: "Orange", price: 0.8 } </a:t>
            </a:r>
          </a:p>
          <a:p>
            <a:r>
              <a:rPr lang="en-US" sz="1350" dirty="0">
                <a:solidFill>
                  <a:srgbClr val="0070C0"/>
                </a:solidFill>
              </a:rPr>
              <a:t>];</a:t>
            </a:r>
          </a:p>
          <a:p>
            <a:r>
              <a:rPr lang="en-US" sz="1350" dirty="0" err="1">
                <a:solidFill>
                  <a:srgbClr val="0070C0"/>
                </a:solidFill>
              </a:rPr>
              <a:t>products.sort</a:t>
            </a:r>
            <a:r>
              <a:rPr lang="en-US" sz="1350" dirty="0">
                <a:solidFill>
                  <a:srgbClr val="0070C0"/>
                </a:solidFill>
              </a:rPr>
              <a:t>((a, b) =&gt; </a:t>
            </a:r>
            <a:r>
              <a:rPr lang="en-US" sz="1350" dirty="0" err="1">
                <a:solidFill>
                  <a:srgbClr val="0070C0"/>
                </a:solidFill>
              </a:rPr>
              <a:t>a.price</a:t>
            </a:r>
            <a:r>
              <a:rPr lang="en-US" sz="1350" dirty="0">
                <a:solidFill>
                  <a:srgbClr val="0070C0"/>
                </a:solidFill>
              </a:rPr>
              <a:t> - </a:t>
            </a:r>
            <a:r>
              <a:rPr lang="en-US" sz="1350" dirty="0" err="1">
                <a:solidFill>
                  <a:srgbClr val="0070C0"/>
                </a:solidFill>
              </a:rPr>
              <a:t>b.price</a:t>
            </a:r>
            <a:r>
              <a:rPr lang="en-US" sz="1350" dirty="0">
                <a:solidFill>
                  <a:srgbClr val="0070C0"/>
                </a:solidFill>
              </a:rPr>
              <a:t>);</a:t>
            </a:r>
          </a:p>
          <a:p>
            <a:endParaRPr lang="en-US" sz="1350" dirty="0">
              <a:solidFill>
                <a:prstClr val="black"/>
              </a:solidFill>
            </a:endParaRPr>
          </a:p>
          <a:p>
            <a:r>
              <a:rPr lang="en-US" sz="1350" dirty="0">
                <a:solidFill>
                  <a:prstClr val="black"/>
                </a:solidFill>
              </a:rPr>
              <a:t>Here </a:t>
            </a:r>
            <a:r>
              <a:rPr lang="en-US" sz="1350" dirty="0" err="1">
                <a:solidFill>
                  <a:prstClr val="black"/>
                </a:solidFill>
              </a:rPr>
              <a:t>compareFunction</a:t>
            </a:r>
            <a:r>
              <a:rPr lang="en-US" sz="1350" dirty="0">
                <a:solidFill>
                  <a:prstClr val="black"/>
                </a:solidFill>
              </a:rPr>
              <a:t> will do</a:t>
            </a:r>
          </a:p>
          <a:p>
            <a:r>
              <a:rPr lang="en-US" sz="1350" dirty="0">
                <a:solidFill>
                  <a:prstClr val="black"/>
                </a:solidFill>
              </a:rPr>
              <a:t>- If a - b is negative, a is placed before b.</a:t>
            </a:r>
          </a:p>
          <a:p>
            <a:r>
              <a:rPr lang="en-US" sz="1350" dirty="0">
                <a:solidFill>
                  <a:prstClr val="black"/>
                </a:solidFill>
              </a:rPr>
              <a:t>- If a - b is positive, b is placed before a.</a:t>
            </a:r>
          </a:p>
          <a:p>
            <a:r>
              <a:rPr lang="en-US" sz="1350" dirty="0">
                <a:solidFill>
                  <a:prstClr val="black"/>
                </a:solidFill>
              </a:rPr>
              <a:t>- If a - b is zero, their positions stay unchanged.</a:t>
            </a:r>
          </a:p>
          <a:p>
            <a:endParaRPr lang="en-GB" sz="1350" dirty="0">
              <a:solidFill>
                <a:prstClr val="black"/>
              </a:solidFill>
            </a:endParaRPr>
          </a:p>
        </p:txBody>
      </p:sp>
      <p:sp>
        <p:nvSpPr>
          <p:cNvPr id="6" name="TextBox 5"/>
          <p:cNvSpPr txBox="1"/>
          <p:nvPr/>
        </p:nvSpPr>
        <p:spPr>
          <a:xfrm>
            <a:off x="1919659" y="1701321"/>
            <a:ext cx="6992940" cy="4247317"/>
          </a:xfrm>
          <a:prstGeom prst="rect">
            <a:avLst/>
          </a:prstGeom>
          <a:noFill/>
        </p:spPr>
        <p:txBody>
          <a:bodyPr wrap="none" rtlCol="0">
            <a:spAutoFit/>
          </a:bodyPr>
          <a:lstStyle/>
          <a:p>
            <a:r>
              <a:rPr lang="en-US" sz="1350" b="1" dirty="0">
                <a:solidFill>
                  <a:prstClr val="black"/>
                </a:solidFill>
              </a:rPr>
              <a:t>Sorting by String Property</a:t>
            </a:r>
          </a:p>
          <a:p>
            <a:r>
              <a:rPr lang="en-US" sz="1350" dirty="0" err="1">
                <a:solidFill>
                  <a:srgbClr val="0070C0"/>
                </a:solidFill>
              </a:rPr>
              <a:t>const</a:t>
            </a:r>
            <a:r>
              <a:rPr lang="en-US" sz="1350" dirty="0">
                <a:solidFill>
                  <a:srgbClr val="0070C0"/>
                </a:solidFill>
              </a:rPr>
              <a:t> products = [ </a:t>
            </a:r>
          </a:p>
          <a:p>
            <a:r>
              <a:rPr lang="en-US" sz="1350" dirty="0">
                <a:solidFill>
                  <a:srgbClr val="0070C0"/>
                </a:solidFill>
              </a:rPr>
              <a:t>   { name: "Apple", price: 1.2 }, </a:t>
            </a:r>
          </a:p>
          <a:p>
            <a:r>
              <a:rPr lang="en-US" sz="1350" dirty="0">
                <a:solidFill>
                  <a:srgbClr val="0070C0"/>
                </a:solidFill>
              </a:rPr>
              <a:t>   { name: "Banana", price: 0.5 }, </a:t>
            </a:r>
          </a:p>
          <a:p>
            <a:r>
              <a:rPr lang="en-US" sz="1350" dirty="0">
                <a:solidFill>
                  <a:srgbClr val="0070C0"/>
                </a:solidFill>
              </a:rPr>
              <a:t>   { name: "Orange", price: 0.8 } </a:t>
            </a:r>
          </a:p>
          <a:p>
            <a:r>
              <a:rPr lang="en-US" sz="1350" dirty="0">
                <a:solidFill>
                  <a:srgbClr val="0070C0"/>
                </a:solidFill>
              </a:rPr>
              <a:t>];</a:t>
            </a:r>
          </a:p>
          <a:p>
            <a:r>
              <a:rPr lang="en-GB" sz="1350" dirty="0" err="1">
                <a:solidFill>
                  <a:srgbClr val="0070C0"/>
                </a:solidFill>
              </a:rPr>
              <a:t>products.sort</a:t>
            </a:r>
            <a:r>
              <a:rPr lang="en-GB" sz="1350" dirty="0">
                <a:solidFill>
                  <a:srgbClr val="0070C0"/>
                </a:solidFill>
              </a:rPr>
              <a:t>((a, b) =&gt; </a:t>
            </a:r>
            <a:r>
              <a:rPr lang="en-GB" sz="1350" dirty="0" err="1">
                <a:solidFill>
                  <a:srgbClr val="0070C0"/>
                </a:solidFill>
              </a:rPr>
              <a:t>a.name.localeCompare</a:t>
            </a:r>
            <a:r>
              <a:rPr lang="en-GB" sz="1350" dirty="0">
                <a:solidFill>
                  <a:srgbClr val="0070C0"/>
                </a:solidFill>
              </a:rPr>
              <a:t>(b.name));</a:t>
            </a:r>
          </a:p>
          <a:p>
            <a:endParaRPr lang="en-US" sz="1350" dirty="0">
              <a:solidFill>
                <a:prstClr val="black"/>
              </a:solidFill>
            </a:endParaRPr>
          </a:p>
          <a:p>
            <a:r>
              <a:rPr lang="en-US" sz="1350" dirty="0">
                <a:solidFill>
                  <a:prstClr val="black"/>
                </a:solidFill>
              </a:rPr>
              <a:t>To sort an array of objects by a string property (e.g., by name), </a:t>
            </a:r>
          </a:p>
          <a:p>
            <a:r>
              <a:rPr lang="en-US" sz="1350" dirty="0">
                <a:solidFill>
                  <a:prstClr val="black"/>
                </a:solidFill>
              </a:rPr>
              <a:t>you can use </a:t>
            </a:r>
            <a:r>
              <a:rPr lang="en-US" sz="1350" dirty="0" err="1">
                <a:solidFill>
                  <a:prstClr val="black"/>
                </a:solidFill>
              </a:rPr>
              <a:t>localeCompare</a:t>
            </a:r>
            <a:r>
              <a:rPr lang="en-US" sz="1350" dirty="0">
                <a:solidFill>
                  <a:prstClr val="black"/>
                </a:solidFill>
              </a:rPr>
              <a:t>() for string comparison. The </a:t>
            </a:r>
          </a:p>
          <a:p>
            <a:r>
              <a:rPr lang="en-US" sz="1350" dirty="0" err="1">
                <a:solidFill>
                  <a:prstClr val="black"/>
                </a:solidFill>
              </a:rPr>
              <a:t>localeCompare</a:t>
            </a:r>
            <a:r>
              <a:rPr lang="en-US" sz="1350" dirty="0">
                <a:solidFill>
                  <a:prstClr val="black"/>
                </a:solidFill>
              </a:rPr>
              <a:t>() method compares two strings in a case-sensitive </a:t>
            </a:r>
          </a:p>
          <a:p>
            <a:r>
              <a:rPr lang="en-US" sz="1350" dirty="0">
                <a:solidFill>
                  <a:prstClr val="black"/>
                </a:solidFill>
              </a:rPr>
              <a:t>manner based on ..</a:t>
            </a:r>
          </a:p>
          <a:p>
            <a:r>
              <a:rPr lang="en-US" sz="1350" dirty="0">
                <a:solidFill>
                  <a:prstClr val="black"/>
                </a:solidFill>
              </a:rPr>
              <a:t>- A negative number if the first string comes before the second.</a:t>
            </a:r>
          </a:p>
          <a:p>
            <a:r>
              <a:rPr lang="en-US" sz="1350" dirty="0">
                <a:solidFill>
                  <a:prstClr val="black"/>
                </a:solidFill>
              </a:rPr>
              <a:t>- Zero if they are equal.</a:t>
            </a:r>
          </a:p>
          <a:p>
            <a:pPr marL="214313" indent="-214313">
              <a:buFontTx/>
              <a:buChar char="-"/>
            </a:pPr>
            <a:r>
              <a:rPr lang="en-US" sz="1350" dirty="0">
                <a:solidFill>
                  <a:prstClr val="black"/>
                </a:solidFill>
              </a:rPr>
              <a:t>A positive number if the first string comes after the second.</a:t>
            </a:r>
          </a:p>
          <a:p>
            <a:r>
              <a:rPr lang="en-GB" sz="1350" b="1" dirty="0">
                <a:solidFill>
                  <a:prstClr val="black"/>
                </a:solidFill>
              </a:rPr>
              <a:t>Another Method by Using Simple String Comparison (&lt;, &gt;)</a:t>
            </a:r>
          </a:p>
          <a:p>
            <a:r>
              <a:rPr lang="en-US" sz="1350" dirty="0" err="1">
                <a:solidFill>
                  <a:srgbClr val="0070C0"/>
                </a:solidFill>
              </a:rPr>
              <a:t>products.sort</a:t>
            </a:r>
            <a:r>
              <a:rPr lang="en-US" sz="1350" dirty="0">
                <a:solidFill>
                  <a:srgbClr val="0070C0"/>
                </a:solidFill>
              </a:rPr>
              <a:t>((a, b) =&gt; a.name &gt; b.name ? 1 : (a.name &lt; b.name ? -1 : 0));</a:t>
            </a:r>
          </a:p>
          <a:p>
            <a:r>
              <a:rPr lang="en-US" sz="1350" dirty="0">
                <a:solidFill>
                  <a:prstClr val="black"/>
                </a:solidFill>
              </a:rPr>
              <a:t>- If a.name is greater than b.name, it returns 1, meaning a should come after b.</a:t>
            </a:r>
          </a:p>
          <a:p>
            <a:r>
              <a:rPr lang="en-US" sz="1350" dirty="0">
                <a:solidFill>
                  <a:prstClr val="black"/>
                </a:solidFill>
              </a:rPr>
              <a:t>- If a.name is less than b.name, it returns -1, meaning a should come before b.</a:t>
            </a:r>
          </a:p>
          <a:p>
            <a:r>
              <a:rPr lang="en-US" sz="1350" dirty="0">
                <a:solidFill>
                  <a:prstClr val="black"/>
                </a:solidFill>
              </a:rPr>
              <a:t>- If a.name is equal to b.name, it returns 0, meaning their relative order remains unchanged. </a:t>
            </a:r>
            <a:endParaRPr lang="en-US" sz="1350" b="1" dirty="0">
              <a:solidFill>
                <a:prstClr val="black"/>
              </a:solidFill>
            </a:endParaRPr>
          </a:p>
        </p:txBody>
      </p:sp>
    </p:spTree>
    <p:extLst>
      <p:ext uri="{BB962C8B-B14F-4D97-AF65-F5344CB8AC3E}">
        <p14:creationId xmlns:p14="http://schemas.microsoft.com/office/powerpoint/2010/main" val="3116132991"/>
      </p:ext>
    </p:extLst>
  </p:cSld>
  <p:clrMapOvr>
    <a:masterClrMapping/>
  </p:clrMapOvr>
</p:sld>
</file>

<file path=ppt/slides/slide1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reduce Function</a:t>
            </a:r>
            <a:endParaRPr lang="en-GB" dirty="0"/>
          </a:p>
        </p:txBody>
      </p:sp>
      <p:sp>
        <p:nvSpPr>
          <p:cNvPr id="3" name="Content Placeholder 2"/>
          <p:cNvSpPr>
            <a:spLocks noGrp="1"/>
          </p:cNvSpPr>
          <p:nvPr>
            <p:ph idx="1"/>
          </p:nvPr>
        </p:nvSpPr>
        <p:spPr>
          <a:xfrm>
            <a:off x="1902070" y="2044212"/>
            <a:ext cx="8361485" cy="3445761"/>
          </a:xfrm>
        </p:spPr>
        <p:txBody>
          <a:bodyPr>
            <a:normAutofit fontScale="77500" lnSpcReduction="20000"/>
          </a:bodyPr>
          <a:lstStyle/>
          <a:p>
            <a:pPr marL="0" indent="0" algn="just">
              <a:buNone/>
            </a:pPr>
            <a:r>
              <a:rPr lang="en-US" dirty="0"/>
              <a:t>The reduce() method in JavaScript is used to apply a function to all elements of an array and accumulate a single value. The function has the following syntax:</a:t>
            </a:r>
          </a:p>
          <a:p>
            <a:pPr marL="342900" lvl="1" indent="0">
              <a:buNone/>
            </a:pPr>
            <a:r>
              <a:rPr lang="en-US" i="1" dirty="0">
                <a:solidFill>
                  <a:srgbClr val="FF0000"/>
                </a:solidFill>
              </a:rPr>
              <a:t>function </a:t>
            </a:r>
            <a:r>
              <a:rPr lang="en-US" i="1" dirty="0" err="1">
                <a:solidFill>
                  <a:srgbClr val="FF0000"/>
                </a:solidFill>
              </a:rPr>
              <a:t>callbackFn</a:t>
            </a:r>
            <a:r>
              <a:rPr lang="en-US" i="1" dirty="0">
                <a:solidFill>
                  <a:srgbClr val="FF0000"/>
                </a:solidFill>
              </a:rPr>
              <a:t>( </a:t>
            </a:r>
            <a:r>
              <a:rPr lang="en-US" i="1" dirty="0" err="1">
                <a:solidFill>
                  <a:srgbClr val="FF0000"/>
                </a:solidFill>
              </a:rPr>
              <a:t>previousValue</a:t>
            </a:r>
            <a:r>
              <a:rPr lang="en-US" i="1" dirty="0">
                <a:solidFill>
                  <a:srgbClr val="FF0000"/>
                </a:solidFill>
              </a:rPr>
              <a:t>, </a:t>
            </a:r>
            <a:r>
              <a:rPr lang="en-US" i="1" dirty="0" err="1">
                <a:solidFill>
                  <a:srgbClr val="FF0000"/>
                </a:solidFill>
              </a:rPr>
              <a:t>currentValue</a:t>
            </a:r>
            <a:r>
              <a:rPr lang="en-US" i="1" dirty="0">
                <a:solidFill>
                  <a:srgbClr val="FF0000"/>
                </a:solidFill>
              </a:rPr>
              <a:t>, </a:t>
            </a:r>
            <a:r>
              <a:rPr lang="en-US" i="1" dirty="0" err="1">
                <a:solidFill>
                  <a:srgbClr val="FF0000"/>
                </a:solidFill>
              </a:rPr>
              <a:t>currentIndex</a:t>
            </a:r>
            <a:r>
              <a:rPr lang="en-US" i="1" dirty="0">
                <a:solidFill>
                  <a:srgbClr val="FF0000"/>
                </a:solidFill>
              </a:rPr>
              <a:t>, array ) {  /**/ }</a:t>
            </a:r>
          </a:p>
          <a:p>
            <a:pPr marL="0" indent="0">
              <a:buNone/>
            </a:pPr>
            <a:r>
              <a:rPr lang="en-US" b="1" dirty="0" err="1"/>
              <a:t>previousValue</a:t>
            </a:r>
            <a:r>
              <a:rPr lang="en-US" b="1" dirty="0"/>
              <a:t>:-</a:t>
            </a:r>
            <a:r>
              <a:rPr lang="en-US" dirty="0"/>
              <a:t> The value returned from the previous call of the </a:t>
            </a:r>
            <a:r>
              <a:rPr lang="en-US" dirty="0" err="1"/>
              <a:t>callbackFn</a:t>
            </a:r>
            <a:r>
              <a:rPr lang="en-US" dirty="0"/>
              <a:t> function. On the first call, the </a:t>
            </a:r>
            <a:r>
              <a:rPr lang="en-US" dirty="0" err="1"/>
              <a:t>initialValue</a:t>
            </a:r>
            <a:r>
              <a:rPr lang="en-US" dirty="0"/>
              <a:t> is the </a:t>
            </a:r>
            <a:r>
              <a:rPr lang="en-US" dirty="0" err="1"/>
              <a:t>previousValue</a:t>
            </a:r>
            <a:r>
              <a:rPr lang="en-US" dirty="0"/>
              <a:t>.</a:t>
            </a:r>
          </a:p>
          <a:p>
            <a:pPr marL="0" indent="0">
              <a:buNone/>
            </a:pPr>
            <a:r>
              <a:rPr lang="en-US" b="1" dirty="0" err="1"/>
              <a:t>currentValue</a:t>
            </a:r>
            <a:r>
              <a:rPr lang="en-US" b="1" dirty="0"/>
              <a:t>:-</a:t>
            </a:r>
            <a:r>
              <a:rPr lang="en-US" dirty="0"/>
              <a:t> The value of the current array element. On the first call, it is array[0].</a:t>
            </a:r>
          </a:p>
          <a:p>
            <a:pPr marL="0" indent="0">
              <a:buNone/>
            </a:pPr>
            <a:r>
              <a:rPr lang="en-US" b="1" dirty="0" err="1"/>
              <a:t>currentIndex</a:t>
            </a:r>
            <a:r>
              <a:rPr lang="en-US" b="1" dirty="0"/>
              <a:t>:-</a:t>
            </a:r>
            <a:r>
              <a:rPr lang="en-US" dirty="0"/>
              <a:t> The index of the </a:t>
            </a:r>
            <a:r>
              <a:rPr lang="en-US" dirty="0" err="1"/>
              <a:t>currentValue</a:t>
            </a:r>
            <a:r>
              <a:rPr lang="en-US" dirty="0"/>
              <a:t> in the array.</a:t>
            </a:r>
          </a:p>
          <a:p>
            <a:pPr marL="0" indent="0">
              <a:buNone/>
            </a:pPr>
            <a:r>
              <a:rPr lang="en-US" b="1" dirty="0"/>
              <a:t>array:-</a:t>
            </a:r>
            <a:r>
              <a:rPr lang="en-US" dirty="0"/>
              <a:t> The array to loop through.</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Tree>
    <p:extLst>
      <p:ext uri="{BB962C8B-B14F-4D97-AF65-F5344CB8AC3E}">
        <p14:creationId xmlns:p14="http://schemas.microsoft.com/office/powerpoint/2010/main" val="860341498"/>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152650" y="1131096"/>
            <a:ext cx="7886700" cy="596595"/>
          </a:xfrm>
        </p:spPr>
        <p:txBody>
          <a:bodyPr>
            <a:normAutofit fontScale="90000"/>
          </a:bodyPr>
          <a:lstStyle/>
          <a:p>
            <a:r>
              <a:rPr lang="en-US" dirty="0"/>
              <a:t>Examples</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6" name="TextBox 5"/>
          <p:cNvSpPr txBox="1"/>
          <p:nvPr/>
        </p:nvSpPr>
        <p:spPr>
          <a:xfrm>
            <a:off x="1770186" y="1824405"/>
            <a:ext cx="4549579" cy="1131079"/>
          </a:xfrm>
          <a:prstGeom prst="rect">
            <a:avLst/>
          </a:prstGeom>
          <a:noFill/>
        </p:spPr>
        <p:txBody>
          <a:bodyPr wrap="none" rtlCol="0">
            <a:spAutoFit/>
          </a:bodyPr>
          <a:lstStyle/>
          <a:p>
            <a:r>
              <a:rPr lang="en-GB" sz="1350" b="1" dirty="0">
                <a:solidFill>
                  <a:prstClr val="black"/>
                </a:solidFill>
              </a:rPr>
              <a:t>Summing an Array: </a:t>
            </a:r>
          </a:p>
          <a:p>
            <a:r>
              <a:rPr lang="en-GB" sz="1350" dirty="0" err="1">
                <a:solidFill>
                  <a:prstClr val="black"/>
                </a:solidFill>
              </a:rPr>
              <a:t>const</a:t>
            </a:r>
            <a:r>
              <a:rPr lang="en-GB" sz="1350" dirty="0">
                <a:solidFill>
                  <a:prstClr val="black"/>
                </a:solidFill>
              </a:rPr>
              <a:t> numbers = [1, 2, 3, 4, 5]; </a:t>
            </a:r>
          </a:p>
          <a:p>
            <a:r>
              <a:rPr lang="en-GB" sz="1350" dirty="0" err="1">
                <a:solidFill>
                  <a:prstClr val="black"/>
                </a:solidFill>
              </a:rPr>
              <a:t>const</a:t>
            </a:r>
            <a:r>
              <a:rPr lang="en-GB" sz="1350" dirty="0">
                <a:solidFill>
                  <a:prstClr val="black"/>
                </a:solidFill>
              </a:rPr>
              <a:t> sum = </a:t>
            </a:r>
            <a:r>
              <a:rPr lang="en-GB" sz="1350" dirty="0" err="1">
                <a:solidFill>
                  <a:prstClr val="black"/>
                </a:solidFill>
              </a:rPr>
              <a:t>numbers.reduce</a:t>
            </a:r>
            <a:r>
              <a:rPr lang="en-GB" sz="1350" dirty="0">
                <a:solidFill>
                  <a:prstClr val="black"/>
                </a:solidFill>
              </a:rPr>
              <a:t>((accumulator, </a:t>
            </a:r>
            <a:r>
              <a:rPr lang="en-GB" sz="1350" dirty="0" err="1">
                <a:solidFill>
                  <a:prstClr val="black"/>
                </a:solidFill>
              </a:rPr>
              <a:t>currentValue</a:t>
            </a:r>
            <a:r>
              <a:rPr lang="en-GB" sz="1350" dirty="0">
                <a:solidFill>
                  <a:prstClr val="black"/>
                </a:solidFill>
              </a:rPr>
              <a:t>) </a:t>
            </a:r>
          </a:p>
          <a:p>
            <a:r>
              <a:rPr lang="en-GB" sz="1350" dirty="0">
                <a:solidFill>
                  <a:prstClr val="black"/>
                </a:solidFill>
              </a:rPr>
              <a:t>	=&gt; accumulator + </a:t>
            </a:r>
            <a:r>
              <a:rPr lang="en-GB" sz="1350" dirty="0" err="1">
                <a:solidFill>
                  <a:prstClr val="black"/>
                </a:solidFill>
              </a:rPr>
              <a:t>currentValue</a:t>
            </a:r>
            <a:r>
              <a:rPr lang="en-GB" sz="1350" dirty="0">
                <a:solidFill>
                  <a:prstClr val="black"/>
                </a:solidFill>
              </a:rPr>
              <a:t>); </a:t>
            </a:r>
          </a:p>
          <a:p>
            <a:r>
              <a:rPr lang="en-GB" sz="1350" dirty="0">
                <a:solidFill>
                  <a:prstClr val="black"/>
                </a:solidFill>
              </a:rPr>
              <a:t>console.log(sum); // Output: 15</a:t>
            </a:r>
          </a:p>
        </p:txBody>
      </p:sp>
      <p:sp>
        <p:nvSpPr>
          <p:cNvPr id="7" name="TextBox 6"/>
          <p:cNvSpPr txBox="1"/>
          <p:nvPr/>
        </p:nvSpPr>
        <p:spPr>
          <a:xfrm>
            <a:off x="1770186" y="3160836"/>
            <a:ext cx="4355103" cy="1131079"/>
          </a:xfrm>
          <a:prstGeom prst="rect">
            <a:avLst/>
          </a:prstGeom>
          <a:noFill/>
        </p:spPr>
        <p:txBody>
          <a:bodyPr wrap="none" rtlCol="0">
            <a:spAutoFit/>
          </a:bodyPr>
          <a:lstStyle/>
          <a:p>
            <a:r>
              <a:rPr lang="en-GB" sz="1350" b="1" dirty="0">
                <a:solidFill>
                  <a:prstClr val="black"/>
                </a:solidFill>
              </a:rPr>
              <a:t>Finding the Maximum Value in an Array: </a:t>
            </a:r>
          </a:p>
          <a:p>
            <a:r>
              <a:rPr lang="en-GB" sz="1350" dirty="0" err="1">
                <a:solidFill>
                  <a:prstClr val="black"/>
                </a:solidFill>
              </a:rPr>
              <a:t>const</a:t>
            </a:r>
            <a:r>
              <a:rPr lang="en-GB" sz="1350" dirty="0">
                <a:solidFill>
                  <a:prstClr val="black"/>
                </a:solidFill>
              </a:rPr>
              <a:t> values = [10, 5, 8, 20, 3]; </a:t>
            </a:r>
          </a:p>
          <a:p>
            <a:r>
              <a:rPr lang="en-GB" sz="1350" dirty="0" err="1">
                <a:solidFill>
                  <a:prstClr val="black"/>
                </a:solidFill>
              </a:rPr>
              <a:t>const</a:t>
            </a:r>
            <a:r>
              <a:rPr lang="en-GB" sz="1350" dirty="0">
                <a:solidFill>
                  <a:prstClr val="black"/>
                </a:solidFill>
              </a:rPr>
              <a:t> max = </a:t>
            </a:r>
            <a:r>
              <a:rPr lang="en-GB" sz="1350" dirty="0" err="1">
                <a:solidFill>
                  <a:prstClr val="black"/>
                </a:solidFill>
              </a:rPr>
              <a:t>values.reduce</a:t>
            </a:r>
            <a:r>
              <a:rPr lang="en-GB" sz="1350" dirty="0">
                <a:solidFill>
                  <a:prstClr val="black"/>
                </a:solidFill>
              </a:rPr>
              <a:t>((accumulator, </a:t>
            </a:r>
            <a:r>
              <a:rPr lang="en-GB" sz="1350" dirty="0" err="1">
                <a:solidFill>
                  <a:prstClr val="black"/>
                </a:solidFill>
              </a:rPr>
              <a:t>currentValue</a:t>
            </a:r>
            <a:r>
              <a:rPr lang="en-GB" sz="1350" dirty="0">
                <a:solidFill>
                  <a:prstClr val="black"/>
                </a:solidFill>
              </a:rPr>
              <a:t>) </a:t>
            </a:r>
          </a:p>
          <a:p>
            <a:r>
              <a:rPr lang="en-GB" sz="1350" dirty="0">
                <a:solidFill>
                  <a:prstClr val="black"/>
                </a:solidFill>
              </a:rPr>
              <a:t>	=&gt; </a:t>
            </a:r>
            <a:r>
              <a:rPr lang="en-GB" sz="1350" dirty="0" err="1">
                <a:solidFill>
                  <a:prstClr val="black"/>
                </a:solidFill>
              </a:rPr>
              <a:t>Math.max</a:t>
            </a:r>
            <a:r>
              <a:rPr lang="en-GB" sz="1350" dirty="0">
                <a:solidFill>
                  <a:prstClr val="black"/>
                </a:solidFill>
              </a:rPr>
              <a:t>(accumulator, </a:t>
            </a:r>
            <a:r>
              <a:rPr lang="en-GB" sz="1350" dirty="0" err="1">
                <a:solidFill>
                  <a:prstClr val="black"/>
                </a:solidFill>
              </a:rPr>
              <a:t>currentValue</a:t>
            </a:r>
            <a:r>
              <a:rPr lang="en-GB" sz="1350" dirty="0">
                <a:solidFill>
                  <a:prstClr val="black"/>
                </a:solidFill>
              </a:rPr>
              <a:t>)); </a:t>
            </a:r>
          </a:p>
          <a:p>
            <a:r>
              <a:rPr lang="en-GB" sz="1350" dirty="0">
                <a:solidFill>
                  <a:prstClr val="black"/>
                </a:solidFill>
              </a:rPr>
              <a:t>console.log(max); // Output: 20</a:t>
            </a:r>
          </a:p>
        </p:txBody>
      </p:sp>
      <p:sp>
        <p:nvSpPr>
          <p:cNvPr id="8" name="TextBox 7"/>
          <p:cNvSpPr txBox="1"/>
          <p:nvPr/>
        </p:nvSpPr>
        <p:spPr>
          <a:xfrm>
            <a:off x="1831732" y="4488476"/>
            <a:ext cx="5116593" cy="1131079"/>
          </a:xfrm>
          <a:prstGeom prst="rect">
            <a:avLst/>
          </a:prstGeom>
          <a:noFill/>
        </p:spPr>
        <p:txBody>
          <a:bodyPr wrap="none" rtlCol="0">
            <a:spAutoFit/>
          </a:bodyPr>
          <a:lstStyle/>
          <a:p>
            <a:r>
              <a:rPr lang="en-GB" sz="1350" b="1" dirty="0">
                <a:solidFill>
                  <a:prstClr val="black"/>
                </a:solidFill>
              </a:rPr>
              <a:t>Flattening an Array of Arrays: </a:t>
            </a:r>
          </a:p>
          <a:p>
            <a:r>
              <a:rPr lang="en-GB" sz="1350" dirty="0" err="1">
                <a:solidFill>
                  <a:prstClr val="black"/>
                </a:solidFill>
              </a:rPr>
              <a:t>const</a:t>
            </a:r>
            <a:r>
              <a:rPr lang="en-GB" sz="1350" dirty="0">
                <a:solidFill>
                  <a:prstClr val="black"/>
                </a:solidFill>
              </a:rPr>
              <a:t> </a:t>
            </a:r>
            <a:r>
              <a:rPr lang="en-GB" sz="1350" dirty="0" err="1">
                <a:solidFill>
                  <a:prstClr val="black"/>
                </a:solidFill>
              </a:rPr>
              <a:t>nestedArray</a:t>
            </a:r>
            <a:r>
              <a:rPr lang="en-GB" sz="1350" dirty="0">
                <a:solidFill>
                  <a:prstClr val="black"/>
                </a:solidFill>
              </a:rPr>
              <a:t> = [[1, 2], [3, 4], [5, 6]]; </a:t>
            </a:r>
          </a:p>
          <a:p>
            <a:r>
              <a:rPr lang="en-GB" sz="1350" dirty="0" err="1">
                <a:solidFill>
                  <a:prstClr val="black"/>
                </a:solidFill>
              </a:rPr>
              <a:t>const</a:t>
            </a:r>
            <a:r>
              <a:rPr lang="en-GB" sz="1350" dirty="0">
                <a:solidFill>
                  <a:prstClr val="black"/>
                </a:solidFill>
              </a:rPr>
              <a:t> flattened = </a:t>
            </a:r>
            <a:r>
              <a:rPr lang="en-GB" sz="1350" dirty="0" err="1">
                <a:solidFill>
                  <a:prstClr val="black"/>
                </a:solidFill>
              </a:rPr>
              <a:t>nestedArray.reduce</a:t>
            </a:r>
            <a:r>
              <a:rPr lang="en-GB" sz="1350" dirty="0">
                <a:solidFill>
                  <a:prstClr val="black"/>
                </a:solidFill>
              </a:rPr>
              <a:t>((accumulator, </a:t>
            </a:r>
            <a:r>
              <a:rPr lang="en-GB" sz="1350" dirty="0" err="1">
                <a:solidFill>
                  <a:prstClr val="black"/>
                </a:solidFill>
              </a:rPr>
              <a:t>currentValue</a:t>
            </a:r>
            <a:r>
              <a:rPr lang="en-GB" sz="1350" dirty="0">
                <a:solidFill>
                  <a:prstClr val="black"/>
                </a:solidFill>
              </a:rPr>
              <a:t>) </a:t>
            </a:r>
          </a:p>
          <a:p>
            <a:r>
              <a:rPr lang="en-GB" sz="1350" dirty="0">
                <a:solidFill>
                  <a:prstClr val="black"/>
                </a:solidFill>
              </a:rPr>
              <a:t>	=&gt; [...accumulator, ...</a:t>
            </a:r>
            <a:r>
              <a:rPr lang="en-GB" sz="1350" dirty="0" err="1">
                <a:solidFill>
                  <a:prstClr val="black"/>
                </a:solidFill>
              </a:rPr>
              <a:t>currentValue</a:t>
            </a:r>
            <a:r>
              <a:rPr lang="en-GB" sz="1350" dirty="0">
                <a:solidFill>
                  <a:prstClr val="black"/>
                </a:solidFill>
              </a:rPr>
              <a:t>], []); </a:t>
            </a:r>
          </a:p>
          <a:p>
            <a:r>
              <a:rPr lang="en-GB" sz="1350" dirty="0">
                <a:solidFill>
                  <a:prstClr val="black"/>
                </a:solidFill>
              </a:rPr>
              <a:t>console.log(flattened); // Output: [1, 2, 3, 4, 5, 6]</a:t>
            </a:r>
          </a:p>
        </p:txBody>
      </p:sp>
      <p:sp>
        <p:nvSpPr>
          <p:cNvPr id="9" name="TextBox 8"/>
          <p:cNvSpPr txBox="1"/>
          <p:nvPr/>
        </p:nvSpPr>
        <p:spPr>
          <a:xfrm>
            <a:off x="6755423" y="936388"/>
            <a:ext cx="4067011" cy="4662815"/>
          </a:xfrm>
          <a:prstGeom prst="rect">
            <a:avLst/>
          </a:prstGeom>
          <a:noFill/>
        </p:spPr>
        <p:txBody>
          <a:bodyPr wrap="none" rtlCol="0">
            <a:spAutoFit/>
          </a:bodyPr>
          <a:lstStyle/>
          <a:p>
            <a:r>
              <a:rPr lang="en-GB" sz="1350" b="1" dirty="0">
                <a:solidFill>
                  <a:prstClr val="black"/>
                </a:solidFill>
              </a:rPr>
              <a:t>Grouping Objects by a Property: </a:t>
            </a:r>
          </a:p>
          <a:p>
            <a:r>
              <a:rPr lang="en-GB" sz="1350" dirty="0" err="1">
                <a:solidFill>
                  <a:prstClr val="black"/>
                </a:solidFill>
              </a:rPr>
              <a:t>const</a:t>
            </a:r>
            <a:r>
              <a:rPr lang="en-GB" sz="1350" dirty="0">
                <a:solidFill>
                  <a:prstClr val="black"/>
                </a:solidFill>
              </a:rPr>
              <a:t> students = [ </a:t>
            </a:r>
          </a:p>
          <a:p>
            <a:r>
              <a:rPr lang="en-GB" sz="1350" dirty="0">
                <a:solidFill>
                  <a:prstClr val="black"/>
                </a:solidFill>
              </a:rPr>
              <a:t>	{ name: 'Alice', age: 20 }, </a:t>
            </a:r>
          </a:p>
          <a:p>
            <a:r>
              <a:rPr lang="en-GB" sz="1350" dirty="0">
                <a:solidFill>
                  <a:prstClr val="black"/>
                </a:solidFill>
              </a:rPr>
              <a:t>	{ name: 'Bob', age: 21 }, </a:t>
            </a:r>
          </a:p>
          <a:p>
            <a:r>
              <a:rPr lang="en-GB" sz="1350" dirty="0">
                <a:solidFill>
                  <a:prstClr val="black"/>
                </a:solidFill>
              </a:rPr>
              <a:t>	{ name: 'Charlie', age: 20 }, </a:t>
            </a:r>
          </a:p>
          <a:p>
            <a:r>
              <a:rPr lang="en-GB" sz="1350" dirty="0">
                <a:solidFill>
                  <a:prstClr val="black"/>
                </a:solidFill>
              </a:rPr>
              <a:t>	{ name: 'Dave', age: 22 } </a:t>
            </a:r>
          </a:p>
          <a:p>
            <a:r>
              <a:rPr lang="en-GB" sz="1350" dirty="0">
                <a:solidFill>
                  <a:prstClr val="black"/>
                </a:solidFill>
              </a:rPr>
              <a:t>];</a:t>
            </a:r>
          </a:p>
          <a:p>
            <a:r>
              <a:rPr lang="en-GB" sz="1350" dirty="0" err="1">
                <a:solidFill>
                  <a:prstClr val="black"/>
                </a:solidFill>
              </a:rPr>
              <a:t>const</a:t>
            </a:r>
            <a:r>
              <a:rPr lang="en-GB" sz="1350" dirty="0">
                <a:solidFill>
                  <a:prstClr val="black"/>
                </a:solidFill>
              </a:rPr>
              <a:t> </a:t>
            </a:r>
            <a:r>
              <a:rPr lang="en-GB" sz="1350" dirty="0" err="1">
                <a:solidFill>
                  <a:prstClr val="black"/>
                </a:solidFill>
              </a:rPr>
              <a:t>groupedByAge</a:t>
            </a:r>
            <a:r>
              <a:rPr lang="en-GB" sz="1350" dirty="0">
                <a:solidFill>
                  <a:prstClr val="black"/>
                </a:solidFill>
              </a:rPr>
              <a:t> = </a:t>
            </a:r>
            <a:r>
              <a:rPr lang="en-GB" sz="1350" dirty="0" err="1">
                <a:solidFill>
                  <a:prstClr val="black"/>
                </a:solidFill>
              </a:rPr>
              <a:t>students.reduce</a:t>
            </a:r>
            <a:r>
              <a:rPr lang="en-GB" sz="1350" dirty="0">
                <a:solidFill>
                  <a:prstClr val="black"/>
                </a:solidFill>
              </a:rPr>
              <a:t>(</a:t>
            </a:r>
          </a:p>
          <a:p>
            <a:r>
              <a:rPr lang="en-GB" sz="1350" dirty="0">
                <a:solidFill>
                  <a:prstClr val="black"/>
                </a:solidFill>
              </a:rPr>
              <a:t>	(accumulator, </a:t>
            </a:r>
            <a:r>
              <a:rPr lang="en-GB" sz="1350" dirty="0" err="1">
                <a:solidFill>
                  <a:prstClr val="black"/>
                </a:solidFill>
              </a:rPr>
              <a:t>currentValue</a:t>
            </a:r>
            <a:r>
              <a:rPr lang="en-GB" sz="1350" dirty="0">
                <a:solidFill>
                  <a:prstClr val="black"/>
                </a:solidFill>
              </a:rPr>
              <a:t>) =&gt; { </a:t>
            </a:r>
          </a:p>
          <a:p>
            <a:r>
              <a:rPr lang="en-GB" sz="1350" dirty="0">
                <a:solidFill>
                  <a:prstClr val="black"/>
                </a:solidFill>
              </a:rPr>
              <a:t>	</a:t>
            </a:r>
            <a:r>
              <a:rPr lang="en-GB" sz="1350" dirty="0" err="1">
                <a:solidFill>
                  <a:prstClr val="black"/>
                </a:solidFill>
              </a:rPr>
              <a:t>const</a:t>
            </a:r>
            <a:r>
              <a:rPr lang="en-GB" sz="1350" dirty="0">
                <a:solidFill>
                  <a:prstClr val="black"/>
                </a:solidFill>
              </a:rPr>
              <a:t> age = </a:t>
            </a:r>
            <a:r>
              <a:rPr lang="en-GB" sz="1350" dirty="0" err="1">
                <a:solidFill>
                  <a:prstClr val="black"/>
                </a:solidFill>
              </a:rPr>
              <a:t>currentValue.age</a:t>
            </a:r>
            <a:r>
              <a:rPr lang="en-GB" sz="1350" dirty="0">
                <a:solidFill>
                  <a:prstClr val="black"/>
                </a:solidFill>
              </a:rPr>
              <a:t>; </a:t>
            </a:r>
          </a:p>
          <a:p>
            <a:r>
              <a:rPr lang="en-GB" sz="1350" dirty="0">
                <a:solidFill>
                  <a:prstClr val="black"/>
                </a:solidFill>
              </a:rPr>
              <a:t>	if (!accumulator[age]) { </a:t>
            </a:r>
          </a:p>
          <a:p>
            <a:r>
              <a:rPr lang="en-GB" sz="1350" dirty="0">
                <a:solidFill>
                  <a:prstClr val="black"/>
                </a:solidFill>
              </a:rPr>
              <a:t>		accumulator[age] = []; </a:t>
            </a:r>
          </a:p>
          <a:p>
            <a:r>
              <a:rPr lang="en-GB" sz="1350" dirty="0">
                <a:solidFill>
                  <a:prstClr val="black"/>
                </a:solidFill>
              </a:rPr>
              <a:t>	} </a:t>
            </a:r>
          </a:p>
          <a:p>
            <a:r>
              <a:rPr lang="en-GB" sz="1350" dirty="0">
                <a:solidFill>
                  <a:prstClr val="black"/>
                </a:solidFill>
              </a:rPr>
              <a:t>	accumulator[age].push(</a:t>
            </a:r>
            <a:r>
              <a:rPr lang="en-GB" sz="1350" dirty="0" err="1">
                <a:solidFill>
                  <a:prstClr val="black"/>
                </a:solidFill>
              </a:rPr>
              <a:t>currentValue</a:t>
            </a:r>
            <a:r>
              <a:rPr lang="en-GB" sz="1350" dirty="0">
                <a:solidFill>
                  <a:prstClr val="black"/>
                </a:solidFill>
              </a:rPr>
              <a:t>); </a:t>
            </a:r>
          </a:p>
          <a:p>
            <a:r>
              <a:rPr lang="en-GB" sz="1350" dirty="0">
                <a:solidFill>
                  <a:prstClr val="black"/>
                </a:solidFill>
              </a:rPr>
              <a:t>	return accumulator; }, {}</a:t>
            </a:r>
          </a:p>
          <a:p>
            <a:r>
              <a:rPr lang="en-GB" sz="1350" dirty="0">
                <a:solidFill>
                  <a:prstClr val="black"/>
                </a:solidFill>
              </a:rPr>
              <a:t>);</a:t>
            </a:r>
          </a:p>
          <a:p>
            <a:r>
              <a:rPr lang="en-GB" sz="1350" dirty="0">
                <a:solidFill>
                  <a:prstClr val="black"/>
                </a:solidFill>
              </a:rPr>
              <a:t>console.log(</a:t>
            </a:r>
            <a:r>
              <a:rPr lang="en-GB" sz="1350" dirty="0" err="1">
                <a:solidFill>
                  <a:prstClr val="black"/>
                </a:solidFill>
              </a:rPr>
              <a:t>groupedByAge</a:t>
            </a:r>
            <a:r>
              <a:rPr lang="en-GB" sz="1350" dirty="0">
                <a:solidFill>
                  <a:prstClr val="black"/>
                </a:solidFill>
              </a:rPr>
              <a:t>); </a:t>
            </a:r>
          </a:p>
          <a:p>
            <a:r>
              <a:rPr lang="en-GB" sz="1350" dirty="0">
                <a:solidFill>
                  <a:prstClr val="black"/>
                </a:solidFill>
              </a:rPr>
              <a:t>// Output: { 20: [     { name: 'Alice', age: 20 }, </a:t>
            </a:r>
          </a:p>
          <a:p>
            <a:r>
              <a:rPr lang="en-GB" sz="1350" dirty="0">
                <a:solidFill>
                  <a:prstClr val="black"/>
                </a:solidFill>
              </a:rPr>
              <a:t>		{ name: 'Charlie', age: 20 }], </a:t>
            </a:r>
          </a:p>
          <a:p>
            <a:r>
              <a:rPr lang="en-GB" sz="1350" dirty="0">
                <a:solidFill>
                  <a:prstClr val="black"/>
                </a:solidFill>
              </a:rPr>
              <a:t>	     21: [     { name: 'Bob', age: 21 }],  </a:t>
            </a:r>
          </a:p>
          <a:p>
            <a:r>
              <a:rPr lang="en-GB" sz="1350" dirty="0">
                <a:solidFill>
                  <a:prstClr val="black"/>
                </a:solidFill>
              </a:rPr>
              <a:t>	      22: [    { name: 'Dave', age: 22 }]  </a:t>
            </a:r>
          </a:p>
          <a:p>
            <a:r>
              <a:rPr lang="en-GB" sz="1350" dirty="0">
                <a:solidFill>
                  <a:prstClr val="black"/>
                </a:solidFill>
              </a:rPr>
              <a:t>	}</a:t>
            </a:r>
          </a:p>
        </p:txBody>
      </p:sp>
    </p:spTree>
    <p:extLst>
      <p:ext uri="{BB962C8B-B14F-4D97-AF65-F5344CB8AC3E}">
        <p14:creationId xmlns:p14="http://schemas.microsoft.com/office/powerpoint/2010/main" val="2426676781"/>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Exercises</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1963616" y="2123342"/>
            <a:ext cx="5077096" cy="1962076"/>
          </a:xfrm>
          <a:prstGeom prst="rect">
            <a:avLst/>
          </a:prstGeom>
          <a:noFill/>
        </p:spPr>
        <p:txBody>
          <a:bodyPr wrap="none" rtlCol="0">
            <a:spAutoFit/>
          </a:bodyPr>
          <a:lstStyle/>
          <a:p>
            <a:r>
              <a:rPr lang="en-GB" sz="1350" b="1" dirty="0">
                <a:solidFill>
                  <a:prstClr val="black"/>
                </a:solidFill>
              </a:rPr>
              <a:t>Write a JavaScript function to reverse the elements of an array.</a:t>
            </a:r>
          </a:p>
          <a:p>
            <a:r>
              <a:rPr lang="en-GB" sz="1350" dirty="0">
                <a:solidFill>
                  <a:prstClr val="black"/>
                </a:solidFill>
              </a:rPr>
              <a:t>function reverse(</a:t>
            </a:r>
            <a:r>
              <a:rPr lang="en-GB" sz="1350" dirty="0" err="1">
                <a:solidFill>
                  <a:prstClr val="black"/>
                </a:solidFill>
              </a:rPr>
              <a:t>arr</a:t>
            </a:r>
            <a:r>
              <a:rPr lang="en-GB" sz="1350" dirty="0">
                <a:solidFill>
                  <a:prstClr val="black"/>
                </a:solidFill>
              </a:rPr>
              <a:t>){</a:t>
            </a:r>
          </a:p>
          <a:p>
            <a:r>
              <a:rPr lang="en-GB" sz="1350" dirty="0">
                <a:solidFill>
                  <a:prstClr val="black"/>
                </a:solidFill>
              </a:rPr>
              <a:t>	</a:t>
            </a:r>
            <a:r>
              <a:rPr lang="en-GB" sz="1350" dirty="0" err="1">
                <a:solidFill>
                  <a:prstClr val="black"/>
                </a:solidFill>
              </a:rPr>
              <a:t>const</a:t>
            </a:r>
            <a:r>
              <a:rPr lang="en-GB" sz="1350" dirty="0">
                <a:solidFill>
                  <a:prstClr val="black"/>
                </a:solidFill>
              </a:rPr>
              <a:t> </a:t>
            </a:r>
            <a:r>
              <a:rPr lang="en-GB" sz="1350" dirty="0" err="1">
                <a:solidFill>
                  <a:prstClr val="black"/>
                </a:solidFill>
              </a:rPr>
              <a:t>reversedArr</a:t>
            </a:r>
            <a:r>
              <a:rPr lang="en-GB" sz="1350" dirty="0">
                <a:solidFill>
                  <a:prstClr val="black"/>
                </a:solidFill>
              </a:rPr>
              <a:t> = []</a:t>
            </a:r>
          </a:p>
          <a:p>
            <a:r>
              <a:rPr lang="en-GB" sz="1350" dirty="0">
                <a:solidFill>
                  <a:prstClr val="black"/>
                </a:solidFill>
              </a:rPr>
              <a:t>	</a:t>
            </a:r>
            <a:r>
              <a:rPr lang="en-GB" sz="1350" dirty="0" err="1">
                <a:solidFill>
                  <a:prstClr val="black"/>
                </a:solidFill>
              </a:rPr>
              <a:t>arr.forEach</a:t>
            </a:r>
            <a:r>
              <a:rPr lang="en-GB" sz="1350" dirty="0">
                <a:solidFill>
                  <a:prstClr val="black"/>
                </a:solidFill>
              </a:rPr>
              <a:t>(el =&gt; {</a:t>
            </a:r>
          </a:p>
          <a:p>
            <a:r>
              <a:rPr lang="en-GB" sz="1350" dirty="0">
                <a:solidFill>
                  <a:prstClr val="black"/>
                </a:solidFill>
              </a:rPr>
              <a:t>		</a:t>
            </a:r>
            <a:r>
              <a:rPr lang="en-GB" sz="1350" dirty="0" err="1">
                <a:solidFill>
                  <a:prstClr val="black"/>
                </a:solidFill>
              </a:rPr>
              <a:t>reversedArr.unshift</a:t>
            </a:r>
            <a:r>
              <a:rPr lang="en-GB" sz="1350" dirty="0">
                <a:solidFill>
                  <a:prstClr val="black"/>
                </a:solidFill>
              </a:rPr>
              <a:t>(el) })</a:t>
            </a:r>
          </a:p>
          <a:p>
            <a:r>
              <a:rPr lang="en-GB" sz="1350" dirty="0">
                <a:solidFill>
                  <a:prstClr val="black"/>
                </a:solidFill>
              </a:rPr>
              <a:t>	return </a:t>
            </a:r>
            <a:r>
              <a:rPr lang="en-GB" sz="1350" dirty="0" err="1">
                <a:solidFill>
                  <a:prstClr val="black"/>
                </a:solidFill>
              </a:rPr>
              <a:t>reversedArr</a:t>
            </a:r>
            <a:endParaRPr lang="en-GB" sz="1350" dirty="0">
              <a:solidFill>
                <a:prstClr val="black"/>
              </a:solidFill>
            </a:endParaRPr>
          </a:p>
          <a:p>
            <a:r>
              <a:rPr lang="en-GB" sz="1350" dirty="0">
                <a:solidFill>
                  <a:prstClr val="black"/>
                </a:solidFill>
              </a:rPr>
              <a:t>}</a:t>
            </a:r>
          </a:p>
          <a:p>
            <a:endParaRPr lang="en-GB" sz="1350" dirty="0">
              <a:solidFill>
                <a:prstClr val="black"/>
              </a:solidFill>
            </a:endParaRPr>
          </a:p>
          <a:p>
            <a:r>
              <a:rPr lang="en-GB" sz="1350" dirty="0">
                <a:solidFill>
                  <a:prstClr val="black"/>
                </a:solidFill>
              </a:rPr>
              <a:t>console.log(reverse([1,2,3,4,5]))</a:t>
            </a:r>
          </a:p>
        </p:txBody>
      </p:sp>
      <p:sp>
        <p:nvSpPr>
          <p:cNvPr id="6" name="TextBox 5"/>
          <p:cNvSpPr txBox="1"/>
          <p:nvPr/>
        </p:nvSpPr>
        <p:spPr>
          <a:xfrm>
            <a:off x="4909040" y="3829050"/>
            <a:ext cx="5441105" cy="1754326"/>
          </a:xfrm>
          <a:prstGeom prst="rect">
            <a:avLst/>
          </a:prstGeom>
          <a:noFill/>
        </p:spPr>
        <p:txBody>
          <a:bodyPr wrap="none" rtlCol="0">
            <a:spAutoFit/>
          </a:bodyPr>
          <a:lstStyle/>
          <a:p>
            <a:r>
              <a:rPr lang="en-GB" sz="1350" b="1" dirty="0">
                <a:solidFill>
                  <a:prstClr val="black"/>
                </a:solidFill>
              </a:rPr>
              <a:t>Write a JavaScript function to get the first element of an array.</a:t>
            </a:r>
          </a:p>
          <a:p>
            <a:r>
              <a:rPr lang="en-GB" sz="1350" b="1" dirty="0">
                <a:solidFill>
                  <a:prstClr val="black"/>
                </a:solidFill>
              </a:rPr>
              <a:t>passing a parameter 'n' will return the first 'n' elements of the array.</a:t>
            </a:r>
          </a:p>
          <a:p>
            <a:r>
              <a:rPr lang="en-GB" sz="1350" dirty="0">
                <a:solidFill>
                  <a:prstClr val="black"/>
                </a:solidFill>
              </a:rPr>
              <a:t>function </a:t>
            </a:r>
            <a:r>
              <a:rPr lang="en-GB" sz="1350" dirty="0" err="1">
                <a:solidFill>
                  <a:prstClr val="black"/>
                </a:solidFill>
              </a:rPr>
              <a:t>getFe</a:t>
            </a:r>
            <a:r>
              <a:rPr lang="en-GB" sz="1350" dirty="0">
                <a:solidFill>
                  <a:prstClr val="black"/>
                </a:solidFill>
              </a:rPr>
              <a:t>(</a:t>
            </a:r>
            <a:r>
              <a:rPr lang="en-GB" sz="1350" dirty="0" err="1">
                <a:solidFill>
                  <a:prstClr val="black"/>
                </a:solidFill>
              </a:rPr>
              <a:t>arr,n</a:t>
            </a:r>
            <a:r>
              <a:rPr lang="en-GB" sz="1350" dirty="0">
                <a:solidFill>
                  <a:prstClr val="black"/>
                </a:solidFill>
              </a:rPr>
              <a:t>){</a:t>
            </a:r>
          </a:p>
          <a:p>
            <a:r>
              <a:rPr lang="en-GB" sz="1350" dirty="0">
                <a:solidFill>
                  <a:prstClr val="black"/>
                </a:solidFill>
              </a:rPr>
              <a:t>	if(!n) return </a:t>
            </a:r>
            <a:r>
              <a:rPr lang="en-GB" sz="1350" dirty="0" err="1">
                <a:solidFill>
                  <a:prstClr val="black"/>
                </a:solidFill>
              </a:rPr>
              <a:t>arr</a:t>
            </a:r>
            <a:r>
              <a:rPr lang="en-GB" sz="1350" dirty="0">
                <a:solidFill>
                  <a:prstClr val="black"/>
                </a:solidFill>
              </a:rPr>
              <a:t>[0]</a:t>
            </a:r>
          </a:p>
          <a:p>
            <a:r>
              <a:rPr lang="en-GB" sz="1350" dirty="0">
                <a:solidFill>
                  <a:prstClr val="black"/>
                </a:solidFill>
              </a:rPr>
              <a:t>	return </a:t>
            </a:r>
            <a:r>
              <a:rPr lang="en-GB" sz="1350" dirty="0" err="1">
                <a:solidFill>
                  <a:prstClr val="black"/>
                </a:solidFill>
              </a:rPr>
              <a:t>arr.slice</a:t>
            </a:r>
            <a:r>
              <a:rPr lang="en-GB" sz="1350" dirty="0">
                <a:solidFill>
                  <a:prstClr val="black"/>
                </a:solidFill>
              </a:rPr>
              <a:t>(0,n)</a:t>
            </a:r>
          </a:p>
          <a:p>
            <a:r>
              <a:rPr lang="en-GB" sz="1350" dirty="0">
                <a:solidFill>
                  <a:prstClr val="black"/>
                </a:solidFill>
              </a:rPr>
              <a:t>}</a:t>
            </a:r>
          </a:p>
          <a:p>
            <a:r>
              <a:rPr lang="en-GB" sz="1350" dirty="0">
                <a:solidFill>
                  <a:prstClr val="black"/>
                </a:solidFill>
              </a:rPr>
              <a:t>Sample Input</a:t>
            </a:r>
          </a:p>
          <a:p>
            <a:r>
              <a:rPr lang="en-GB" sz="1350" dirty="0">
                <a:solidFill>
                  <a:prstClr val="black"/>
                </a:solidFill>
              </a:rPr>
              <a:t>	console.log(</a:t>
            </a:r>
            <a:r>
              <a:rPr lang="en-GB" sz="1350" dirty="0" err="1">
                <a:solidFill>
                  <a:prstClr val="black"/>
                </a:solidFill>
              </a:rPr>
              <a:t>getFe</a:t>
            </a:r>
            <a:r>
              <a:rPr lang="en-GB" sz="1350" dirty="0">
                <a:solidFill>
                  <a:prstClr val="black"/>
                </a:solidFill>
              </a:rPr>
              <a:t>([7,8,9], 3))</a:t>
            </a:r>
          </a:p>
        </p:txBody>
      </p:sp>
    </p:spTree>
    <p:extLst>
      <p:ext uri="{BB962C8B-B14F-4D97-AF65-F5344CB8AC3E}">
        <p14:creationId xmlns:p14="http://schemas.microsoft.com/office/powerpoint/2010/main" val="765592080"/>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err="1"/>
              <a:t>Excercise</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2042746" y="1929914"/>
            <a:ext cx="8703793" cy="4039567"/>
          </a:xfrm>
          <a:prstGeom prst="rect">
            <a:avLst/>
          </a:prstGeom>
          <a:noFill/>
        </p:spPr>
        <p:txBody>
          <a:bodyPr wrap="none" rtlCol="0">
            <a:spAutoFit/>
          </a:bodyPr>
          <a:lstStyle/>
          <a:p>
            <a:r>
              <a:rPr lang="en-GB" sz="1350" b="1" dirty="0">
                <a:solidFill>
                  <a:prstClr val="black"/>
                </a:solidFill>
              </a:rPr>
              <a:t>Write a JavaScript program that adds an element to cart. if the element is already in cart then it should return </a:t>
            </a:r>
          </a:p>
          <a:p>
            <a:r>
              <a:rPr lang="en-GB" sz="1350" b="1" dirty="0">
                <a:solidFill>
                  <a:prstClr val="black"/>
                </a:solidFill>
              </a:rPr>
              <a:t>an error saying item is already in card.</a:t>
            </a:r>
          </a:p>
          <a:p>
            <a:r>
              <a:rPr lang="en-GB" sz="1350" b="1" dirty="0">
                <a:solidFill>
                  <a:prstClr val="black"/>
                </a:solidFill>
              </a:rPr>
              <a:t>Sample Input</a:t>
            </a:r>
          </a:p>
          <a:p>
            <a:r>
              <a:rPr lang="en-GB" sz="1350" dirty="0">
                <a:solidFill>
                  <a:prstClr val="black"/>
                </a:solidFill>
              </a:rPr>
              <a:t>console.log(</a:t>
            </a:r>
            <a:r>
              <a:rPr lang="en-GB" sz="1350" dirty="0" err="1">
                <a:solidFill>
                  <a:prstClr val="black"/>
                </a:solidFill>
              </a:rPr>
              <a:t>addToCart</a:t>
            </a:r>
            <a:r>
              <a:rPr lang="en-GB" sz="1350" dirty="0">
                <a:solidFill>
                  <a:prstClr val="black"/>
                </a:solidFill>
              </a:rPr>
              <a:t>([1,2,3],4))</a:t>
            </a:r>
          </a:p>
          <a:p>
            <a:r>
              <a:rPr lang="en-GB" sz="1350" dirty="0">
                <a:solidFill>
                  <a:prstClr val="black"/>
                </a:solidFill>
              </a:rPr>
              <a:t>console.log(</a:t>
            </a:r>
            <a:r>
              <a:rPr lang="en-GB" sz="1350" dirty="0" err="1">
                <a:solidFill>
                  <a:prstClr val="black"/>
                </a:solidFill>
              </a:rPr>
              <a:t>addToCart</a:t>
            </a:r>
            <a:r>
              <a:rPr lang="en-GB" sz="1350" dirty="0">
                <a:solidFill>
                  <a:prstClr val="black"/>
                </a:solidFill>
              </a:rPr>
              <a:t>([1,2,3],3))</a:t>
            </a:r>
          </a:p>
          <a:p>
            <a:r>
              <a:rPr lang="en-GB" sz="1350" dirty="0">
                <a:solidFill>
                  <a:prstClr val="black"/>
                </a:solidFill>
              </a:rPr>
              <a:t>Sample Output</a:t>
            </a:r>
          </a:p>
          <a:p>
            <a:r>
              <a:rPr lang="en-GB" sz="1350" dirty="0">
                <a:solidFill>
                  <a:prstClr val="black"/>
                </a:solidFill>
              </a:rPr>
              <a:t>New Item "4" added successfully</a:t>
            </a:r>
          </a:p>
          <a:p>
            <a:r>
              <a:rPr lang="en-GB" sz="1350" dirty="0">
                <a:solidFill>
                  <a:prstClr val="black"/>
                </a:solidFill>
              </a:rPr>
              <a:t>Item "3" already in Cart</a:t>
            </a:r>
          </a:p>
          <a:p>
            <a:endParaRPr lang="en-GB" sz="1350" dirty="0">
              <a:solidFill>
                <a:prstClr val="black"/>
              </a:solidFill>
            </a:endParaRPr>
          </a:p>
          <a:p>
            <a:r>
              <a:rPr lang="en-GB" sz="1350" b="1" dirty="0">
                <a:solidFill>
                  <a:prstClr val="black"/>
                </a:solidFill>
              </a:rPr>
              <a:t>Solution</a:t>
            </a:r>
          </a:p>
          <a:p>
            <a:r>
              <a:rPr lang="en-GB" sz="1350" dirty="0">
                <a:solidFill>
                  <a:prstClr val="black"/>
                </a:solidFill>
              </a:rPr>
              <a:t>function </a:t>
            </a:r>
            <a:r>
              <a:rPr lang="en-GB" sz="1350" dirty="0" err="1">
                <a:solidFill>
                  <a:prstClr val="black"/>
                </a:solidFill>
              </a:rPr>
              <a:t>addToCart</a:t>
            </a:r>
            <a:r>
              <a:rPr lang="en-GB" sz="1350" dirty="0">
                <a:solidFill>
                  <a:prstClr val="black"/>
                </a:solidFill>
              </a:rPr>
              <a:t>(</a:t>
            </a:r>
            <a:r>
              <a:rPr lang="en-GB" sz="1350" dirty="0" err="1">
                <a:solidFill>
                  <a:prstClr val="black"/>
                </a:solidFill>
              </a:rPr>
              <a:t>cart,el</a:t>
            </a:r>
            <a:r>
              <a:rPr lang="en-GB" sz="1350" dirty="0">
                <a:solidFill>
                  <a:prstClr val="black"/>
                </a:solidFill>
              </a:rPr>
              <a:t>){</a:t>
            </a:r>
          </a:p>
          <a:p>
            <a:r>
              <a:rPr lang="en-GB" sz="1350" dirty="0">
                <a:solidFill>
                  <a:prstClr val="black"/>
                </a:solidFill>
              </a:rPr>
              <a:t>	if(</a:t>
            </a:r>
            <a:r>
              <a:rPr lang="en-GB" sz="1350" dirty="0" err="1">
                <a:solidFill>
                  <a:prstClr val="black"/>
                </a:solidFill>
              </a:rPr>
              <a:t>cart.includes</a:t>
            </a:r>
            <a:r>
              <a:rPr lang="en-GB" sz="1350" dirty="0">
                <a:solidFill>
                  <a:prstClr val="black"/>
                </a:solidFill>
              </a:rPr>
              <a:t>(el)){</a:t>
            </a:r>
          </a:p>
          <a:p>
            <a:r>
              <a:rPr lang="en-GB" sz="1350" dirty="0">
                <a:solidFill>
                  <a:prstClr val="black"/>
                </a:solidFill>
              </a:rPr>
              <a:t>		return console.log("Item ${el} already in Cart")</a:t>
            </a:r>
          </a:p>
          <a:p>
            <a:r>
              <a:rPr lang="en-GB" sz="1350" dirty="0">
                <a:solidFill>
                  <a:prstClr val="black"/>
                </a:solidFill>
              </a:rPr>
              <a:t>	}</a:t>
            </a:r>
          </a:p>
          <a:p>
            <a:r>
              <a:rPr lang="en-GB" sz="1350" dirty="0">
                <a:solidFill>
                  <a:prstClr val="black"/>
                </a:solidFill>
              </a:rPr>
              <a:t>	</a:t>
            </a:r>
            <a:r>
              <a:rPr lang="en-GB" sz="1350" dirty="0" err="1">
                <a:solidFill>
                  <a:prstClr val="black"/>
                </a:solidFill>
              </a:rPr>
              <a:t>cart.push</a:t>
            </a:r>
            <a:r>
              <a:rPr lang="en-GB" sz="1350" dirty="0">
                <a:solidFill>
                  <a:prstClr val="black"/>
                </a:solidFill>
              </a:rPr>
              <a:t>(el)</a:t>
            </a:r>
          </a:p>
          <a:p>
            <a:r>
              <a:rPr lang="en-GB" sz="1350" dirty="0">
                <a:solidFill>
                  <a:prstClr val="black"/>
                </a:solidFill>
              </a:rPr>
              <a:t>	console.log("New item ${el} added successfully")</a:t>
            </a:r>
          </a:p>
          <a:p>
            <a:r>
              <a:rPr lang="en-GB" sz="1350" dirty="0">
                <a:solidFill>
                  <a:prstClr val="black"/>
                </a:solidFill>
              </a:rPr>
              <a:t>}</a:t>
            </a:r>
          </a:p>
          <a:p>
            <a:r>
              <a:rPr lang="en-GB" sz="1350" dirty="0">
                <a:solidFill>
                  <a:prstClr val="black"/>
                </a:solidFill>
              </a:rPr>
              <a:t>console.log(</a:t>
            </a:r>
            <a:r>
              <a:rPr lang="en-GB" sz="1350" dirty="0" err="1">
                <a:solidFill>
                  <a:prstClr val="black"/>
                </a:solidFill>
              </a:rPr>
              <a:t>addToCart</a:t>
            </a:r>
            <a:r>
              <a:rPr lang="en-GB" sz="1350" dirty="0">
                <a:solidFill>
                  <a:prstClr val="black"/>
                </a:solidFill>
              </a:rPr>
              <a:t>([1,2,3],4))</a:t>
            </a:r>
          </a:p>
          <a:p>
            <a:r>
              <a:rPr lang="en-GB" sz="1350" dirty="0">
                <a:solidFill>
                  <a:prstClr val="black"/>
                </a:solidFill>
              </a:rPr>
              <a:t>console.log(</a:t>
            </a:r>
            <a:r>
              <a:rPr lang="en-GB" sz="1350" dirty="0" err="1">
                <a:solidFill>
                  <a:prstClr val="black"/>
                </a:solidFill>
              </a:rPr>
              <a:t>addToCart</a:t>
            </a:r>
            <a:r>
              <a:rPr lang="en-GB" sz="1350" dirty="0">
                <a:solidFill>
                  <a:prstClr val="black"/>
                </a:solidFill>
              </a:rPr>
              <a:t>([1,2,3],3))	</a:t>
            </a:r>
          </a:p>
        </p:txBody>
      </p:sp>
    </p:spTree>
    <p:extLst>
      <p:ext uri="{BB962C8B-B14F-4D97-AF65-F5344CB8AC3E}">
        <p14:creationId xmlns:p14="http://schemas.microsoft.com/office/powerpoint/2010/main" val="4076624952"/>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Spread </a:t>
            </a:r>
            <a:endParaRPr lang="en-GB" dirty="0"/>
          </a:p>
        </p:txBody>
      </p:sp>
      <p:sp>
        <p:nvSpPr>
          <p:cNvPr id="3" name="Content Placeholder 2"/>
          <p:cNvSpPr>
            <a:spLocks noGrp="1"/>
          </p:cNvSpPr>
          <p:nvPr>
            <p:ph idx="1"/>
          </p:nvPr>
        </p:nvSpPr>
        <p:spPr>
          <a:xfrm>
            <a:off x="2152650" y="2226470"/>
            <a:ext cx="7886700" cy="855235"/>
          </a:xfrm>
        </p:spPr>
        <p:txBody>
          <a:bodyPr>
            <a:normAutofit fontScale="77500" lnSpcReduction="20000"/>
          </a:bodyPr>
          <a:lstStyle/>
          <a:p>
            <a:pPr marL="0" indent="0">
              <a:buNone/>
            </a:pPr>
            <a:r>
              <a:rPr lang="en-US" dirty="0"/>
              <a:t>The </a:t>
            </a:r>
            <a:r>
              <a:rPr lang="en-US" b="1" dirty="0"/>
              <a:t>JavaScript spread operator</a:t>
            </a:r>
            <a:r>
              <a:rPr lang="en-US" dirty="0"/>
              <a:t> ( ... ) allows us to quickly copy all or part of an existing array or object into another array or object.</a:t>
            </a:r>
            <a:endParaRPr lang="en-GB" dirty="0"/>
          </a:p>
        </p:txBody>
      </p:sp>
      <p:sp>
        <p:nvSpPr>
          <p:cNvPr id="4" name="Footer Placeholder 3"/>
          <p:cNvSpPr>
            <a:spLocks noGrp="1"/>
          </p:cNvSpPr>
          <p:nvPr>
            <p:ph type="ftr" sz="quarter" idx="11"/>
          </p:nvPr>
        </p:nvSpPr>
        <p:spPr/>
        <p:txBody>
          <a:bodyPr/>
          <a:lstStyle/>
          <a:p>
            <a:r>
              <a:rPr lang="en-US">
                <a:solidFill>
                  <a:prstClr val="black">
                    <a:tint val="75000"/>
                  </a:prstClr>
                </a:solidFill>
              </a:rPr>
              <a:t>IT Industry-Academia Bridge Program</a:t>
            </a:r>
          </a:p>
        </p:txBody>
      </p:sp>
      <p:sp>
        <p:nvSpPr>
          <p:cNvPr id="5" name="TextBox 4"/>
          <p:cNvSpPr txBox="1"/>
          <p:nvPr/>
        </p:nvSpPr>
        <p:spPr>
          <a:xfrm>
            <a:off x="2262555" y="3020160"/>
            <a:ext cx="4043351" cy="1131079"/>
          </a:xfrm>
          <a:prstGeom prst="rect">
            <a:avLst/>
          </a:prstGeom>
          <a:noFill/>
        </p:spPr>
        <p:txBody>
          <a:bodyPr wrap="none" rtlCol="0">
            <a:spAutoFit/>
          </a:bodyPr>
          <a:lstStyle/>
          <a:p>
            <a:r>
              <a:rPr lang="en-US" sz="1350" b="1" dirty="0">
                <a:solidFill>
                  <a:prstClr val="black"/>
                </a:solidFill>
              </a:rPr>
              <a:t>Example-1</a:t>
            </a:r>
          </a:p>
          <a:p>
            <a:r>
              <a:rPr lang="en-US" sz="1350" dirty="0" err="1">
                <a:solidFill>
                  <a:prstClr val="black"/>
                </a:solidFill>
              </a:rPr>
              <a:t>const</a:t>
            </a:r>
            <a:r>
              <a:rPr lang="en-US" sz="1350" dirty="0">
                <a:solidFill>
                  <a:prstClr val="black"/>
                </a:solidFill>
              </a:rPr>
              <a:t> </a:t>
            </a:r>
            <a:r>
              <a:rPr lang="en-US" sz="1350" dirty="0" err="1">
                <a:solidFill>
                  <a:prstClr val="black"/>
                </a:solidFill>
              </a:rPr>
              <a:t>numbersOne</a:t>
            </a:r>
            <a:r>
              <a:rPr lang="en-US" sz="1350" dirty="0">
                <a:solidFill>
                  <a:prstClr val="black"/>
                </a:solidFill>
              </a:rPr>
              <a:t> = [1, 2, 3]; </a:t>
            </a:r>
          </a:p>
          <a:p>
            <a:r>
              <a:rPr lang="en-US" sz="1350" dirty="0" err="1">
                <a:solidFill>
                  <a:prstClr val="black"/>
                </a:solidFill>
              </a:rPr>
              <a:t>const</a:t>
            </a:r>
            <a:r>
              <a:rPr lang="en-US" sz="1350" dirty="0">
                <a:solidFill>
                  <a:prstClr val="black"/>
                </a:solidFill>
              </a:rPr>
              <a:t> </a:t>
            </a:r>
            <a:r>
              <a:rPr lang="en-US" sz="1350" dirty="0" err="1">
                <a:solidFill>
                  <a:prstClr val="black"/>
                </a:solidFill>
              </a:rPr>
              <a:t>numbersTwo</a:t>
            </a:r>
            <a:r>
              <a:rPr lang="en-US" sz="1350" dirty="0">
                <a:solidFill>
                  <a:prstClr val="black"/>
                </a:solidFill>
              </a:rPr>
              <a:t> = [4, 5, 6]; </a:t>
            </a:r>
          </a:p>
          <a:p>
            <a:r>
              <a:rPr lang="en-US" sz="1350" dirty="0" err="1">
                <a:solidFill>
                  <a:prstClr val="black"/>
                </a:solidFill>
              </a:rPr>
              <a:t>const</a:t>
            </a:r>
            <a:r>
              <a:rPr lang="en-US" sz="1350" dirty="0">
                <a:solidFill>
                  <a:prstClr val="black"/>
                </a:solidFill>
              </a:rPr>
              <a:t> combined = [...</a:t>
            </a:r>
            <a:r>
              <a:rPr lang="en-US" sz="1350" dirty="0" err="1">
                <a:solidFill>
                  <a:prstClr val="black"/>
                </a:solidFill>
              </a:rPr>
              <a:t>numbersOne</a:t>
            </a:r>
            <a:r>
              <a:rPr lang="en-US" sz="1350" dirty="0">
                <a:solidFill>
                  <a:prstClr val="black"/>
                </a:solidFill>
              </a:rPr>
              <a:t>, ...</a:t>
            </a:r>
            <a:r>
              <a:rPr lang="en-US" sz="1350" dirty="0" err="1">
                <a:solidFill>
                  <a:prstClr val="black"/>
                </a:solidFill>
              </a:rPr>
              <a:t>numbersTwo</a:t>
            </a:r>
            <a:r>
              <a:rPr lang="en-US" sz="1350" dirty="0">
                <a:solidFill>
                  <a:prstClr val="black"/>
                </a:solidFill>
              </a:rPr>
              <a:t>];</a:t>
            </a:r>
          </a:p>
          <a:p>
            <a:r>
              <a:rPr lang="en-US" sz="1350" dirty="0">
                <a:solidFill>
                  <a:prstClr val="black"/>
                </a:solidFill>
              </a:rPr>
              <a:t>console.log(combined);  // 1,2,3,4,5,6</a:t>
            </a:r>
            <a:endParaRPr lang="en-GB" sz="1350" dirty="0">
              <a:solidFill>
                <a:prstClr val="black"/>
              </a:solidFill>
            </a:endParaRPr>
          </a:p>
        </p:txBody>
      </p:sp>
      <p:sp>
        <p:nvSpPr>
          <p:cNvPr id="6" name="TextBox 5"/>
          <p:cNvSpPr txBox="1"/>
          <p:nvPr/>
        </p:nvSpPr>
        <p:spPr>
          <a:xfrm>
            <a:off x="2262555" y="4154533"/>
            <a:ext cx="3621504" cy="1661993"/>
          </a:xfrm>
          <a:prstGeom prst="rect">
            <a:avLst/>
          </a:prstGeom>
          <a:noFill/>
        </p:spPr>
        <p:txBody>
          <a:bodyPr wrap="none" rtlCol="0">
            <a:spAutoFit/>
          </a:bodyPr>
          <a:lstStyle/>
          <a:p>
            <a:r>
              <a:rPr lang="en-US" sz="1350" b="1" dirty="0">
                <a:solidFill>
                  <a:prstClr val="black"/>
                </a:solidFill>
              </a:rPr>
              <a:t>Example-2</a:t>
            </a:r>
          </a:p>
          <a:p>
            <a:r>
              <a:rPr lang="en-US" sz="1350" dirty="0" err="1">
                <a:solidFill>
                  <a:prstClr val="black"/>
                </a:solidFill>
              </a:rPr>
              <a:t>const</a:t>
            </a:r>
            <a:r>
              <a:rPr lang="en-US" sz="1350" dirty="0">
                <a:solidFill>
                  <a:prstClr val="black"/>
                </a:solidFill>
              </a:rPr>
              <a:t> numbers = [1, 2, 3, 4, 5, 6]; </a:t>
            </a:r>
          </a:p>
          <a:p>
            <a:r>
              <a:rPr lang="en-US" sz="1050" dirty="0">
                <a:solidFill>
                  <a:prstClr val="black"/>
                </a:solidFill>
              </a:rPr>
              <a:t>//Assign the first and second items from numbers variables </a:t>
            </a:r>
          </a:p>
          <a:p>
            <a:r>
              <a:rPr lang="en-US" sz="1050" dirty="0">
                <a:solidFill>
                  <a:prstClr val="black"/>
                </a:solidFill>
              </a:rPr>
              <a:t>//and put the rest in an array:</a:t>
            </a:r>
          </a:p>
          <a:p>
            <a:r>
              <a:rPr lang="en-US" sz="1350" dirty="0" err="1">
                <a:solidFill>
                  <a:prstClr val="black"/>
                </a:solidFill>
              </a:rPr>
              <a:t>const</a:t>
            </a:r>
            <a:r>
              <a:rPr lang="en-US" sz="1350" dirty="0">
                <a:solidFill>
                  <a:prstClr val="black"/>
                </a:solidFill>
              </a:rPr>
              <a:t> [one, two, ...rest] = numbers;</a:t>
            </a:r>
          </a:p>
          <a:p>
            <a:r>
              <a:rPr lang="en-US" sz="1350" dirty="0">
                <a:solidFill>
                  <a:prstClr val="black"/>
                </a:solidFill>
              </a:rPr>
              <a:t>console.log(one);	// 1</a:t>
            </a:r>
          </a:p>
          <a:p>
            <a:r>
              <a:rPr lang="en-US" sz="1350" dirty="0">
                <a:solidFill>
                  <a:prstClr val="black"/>
                </a:solidFill>
              </a:rPr>
              <a:t>console.log(two);	// 2</a:t>
            </a:r>
          </a:p>
          <a:p>
            <a:r>
              <a:rPr lang="en-US" sz="1350" dirty="0">
                <a:solidFill>
                  <a:prstClr val="black"/>
                </a:solidFill>
              </a:rPr>
              <a:t>console.log(rest);	// 3, 4, 5, 6</a:t>
            </a:r>
            <a:endParaRPr lang="en-GB" sz="1350" dirty="0">
              <a:solidFill>
                <a:prstClr val="black"/>
              </a:solidFill>
            </a:endParaRPr>
          </a:p>
        </p:txBody>
      </p:sp>
      <p:sp>
        <p:nvSpPr>
          <p:cNvPr id="7" name="TextBox 6"/>
          <p:cNvSpPr txBox="1"/>
          <p:nvPr/>
        </p:nvSpPr>
        <p:spPr>
          <a:xfrm>
            <a:off x="6490788" y="3081703"/>
            <a:ext cx="4126579" cy="2377574"/>
          </a:xfrm>
          <a:prstGeom prst="rect">
            <a:avLst/>
          </a:prstGeom>
          <a:noFill/>
        </p:spPr>
        <p:txBody>
          <a:bodyPr wrap="none" rtlCol="0">
            <a:spAutoFit/>
          </a:bodyPr>
          <a:lstStyle/>
          <a:p>
            <a:r>
              <a:rPr lang="en-GB" sz="1350" b="1" dirty="0">
                <a:solidFill>
                  <a:prstClr val="black"/>
                </a:solidFill>
              </a:rPr>
              <a:t>Example-3</a:t>
            </a:r>
          </a:p>
          <a:p>
            <a:r>
              <a:rPr lang="en-US" sz="1350" dirty="0">
                <a:solidFill>
                  <a:prstClr val="black"/>
                </a:solidFill>
              </a:rPr>
              <a:t>//</a:t>
            </a:r>
            <a:r>
              <a:rPr lang="en-GB" sz="1350" dirty="0">
                <a:solidFill>
                  <a:prstClr val="black"/>
                </a:solidFill>
              </a:rPr>
              <a:t>Combine two objects:</a:t>
            </a:r>
          </a:p>
          <a:p>
            <a:r>
              <a:rPr lang="en-GB" sz="1350" dirty="0" err="1">
                <a:solidFill>
                  <a:prstClr val="black"/>
                </a:solidFill>
              </a:rPr>
              <a:t>const</a:t>
            </a:r>
            <a:r>
              <a:rPr lang="en-GB" sz="1350" dirty="0">
                <a:solidFill>
                  <a:prstClr val="black"/>
                </a:solidFill>
              </a:rPr>
              <a:t> </a:t>
            </a:r>
            <a:r>
              <a:rPr lang="en-GB" sz="1350" dirty="0" err="1">
                <a:solidFill>
                  <a:prstClr val="black"/>
                </a:solidFill>
              </a:rPr>
              <a:t>myVehicle</a:t>
            </a:r>
            <a:r>
              <a:rPr lang="en-GB" sz="1350" dirty="0">
                <a:solidFill>
                  <a:prstClr val="black"/>
                </a:solidFill>
              </a:rPr>
              <a:t> = { </a:t>
            </a:r>
          </a:p>
          <a:p>
            <a:r>
              <a:rPr lang="en-GB" sz="1350" dirty="0">
                <a:solidFill>
                  <a:prstClr val="black"/>
                </a:solidFill>
              </a:rPr>
              <a:t>   brand: 'Ford', </a:t>
            </a:r>
          </a:p>
          <a:p>
            <a:r>
              <a:rPr lang="en-GB" sz="1350" dirty="0">
                <a:solidFill>
                  <a:prstClr val="black"/>
                </a:solidFill>
              </a:rPr>
              <a:t>   model: 'Mustang', </a:t>
            </a:r>
          </a:p>
          <a:p>
            <a:r>
              <a:rPr lang="en-GB" sz="1350" dirty="0">
                <a:solidFill>
                  <a:prstClr val="black"/>
                </a:solidFill>
              </a:rPr>
              <a:t>   </a:t>
            </a:r>
            <a:r>
              <a:rPr lang="en-GB" sz="1350" dirty="0" err="1">
                <a:solidFill>
                  <a:prstClr val="black"/>
                </a:solidFill>
              </a:rPr>
              <a:t>color</a:t>
            </a:r>
            <a:r>
              <a:rPr lang="en-GB" sz="1350" dirty="0">
                <a:solidFill>
                  <a:prstClr val="black"/>
                </a:solidFill>
              </a:rPr>
              <a:t>: 'red' } </a:t>
            </a:r>
          </a:p>
          <a:p>
            <a:r>
              <a:rPr lang="en-GB" sz="1350" dirty="0" err="1">
                <a:solidFill>
                  <a:prstClr val="black"/>
                </a:solidFill>
              </a:rPr>
              <a:t>const</a:t>
            </a:r>
            <a:r>
              <a:rPr lang="en-GB" sz="1350" dirty="0">
                <a:solidFill>
                  <a:prstClr val="black"/>
                </a:solidFill>
              </a:rPr>
              <a:t> </a:t>
            </a:r>
            <a:r>
              <a:rPr lang="en-GB" sz="1350" dirty="0" err="1">
                <a:solidFill>
                  <a:prstClr val="black"/>
                </a:solidFill>
              </a:rPr>
              <a:t>updateMyVehicle</a:t>
            </a:r>
            <a:r>
              <a:rPr lang="en-GB" sz="1350" dirty="0">
                <a:solidFill>
                  <a:prstClr val="black"/>
                </a:solidFill>
              </a:rPr>
              <a:t> = { </a:t>
            </a:r>
          </a:p>
          <a:p>
            <a:r>
              <a:rPr lang="en-GB" sz="1350" dirty="0">
                <a:solidFill>
                  <a:prstClr val="black"/>
                </a:solidFill>
              </a:rPr>
              <a:t>   type: 'car', </a:t>
            </a:r>
          </a:p>
          <a:p>
            <a:r>
              <a:rPr lang="en-GB" sz="1350" dirty="0">
                <a:solidFill>
                  <a:prstClr val="black"/>
                </a:solidFill>
              </a:rPr>
              <a:t>   year: 2021, </a:t>
            </a:r>
          </a:p>
          <a:p>
            <a:r>
              <a:rPr lang="en-GB" sz="1350" dirty="0">
                <a:solidFill>
                  <a:prstClr val="black"/>
                </a:solidFill>
              </a:rPr>
              <a:t>   </a:t>
            </a:r>
            <a:r>
              <a:rPr lang="en-GB" sz="1350" dirty="0" err="1">
                <a:solidFill>
                  <a:prstClr val="black"/>
                </a:solidFill>
              </a:rPr>
              <a:t>color</a:t>
            </a:r>
            <a:r>
              <a:rPr lang="en-GB" sz="1350" dirty="0">
                <a:solidFill>
                  <a:prstClr val="black"/>
                </a:solidFill>
              </a:rPr>
              <a:t>: 'yellow' } </a:t>
            </a:r>
          </a:p>
          <a:p>
            <a:r>
              <a:rPr lang="en-GB" sz="1350" dirty="0" err="1">
                <a:solidFill>
                  <a:prstClr val="black"/>
                </a:solidFill>
              </a:rPr>
              <a:t>const</a:t>
            </a:r>
            <a:r>
              <a:rPr lang="en-GB" sz="1350" dirty="0">
                <a:solidFill>
                  <a:prstClr val="black"/>
                </a:solidFill>
              </a:rPr>
              <a:t> </a:t>
            </a:r>
            <a:r>
              <a:rPr lang="en-GB" sz="1350" dirty="0" err="1">
                <a:solidFill>
                  <a:prstClr val="black"/>
                </a:solidFill>
              </a:rPr>
              <a:t>myVehicle</a:t>
            </a:r>
            <a:r>
              <a:rPr lang="en-GB" sz="1350" dirty="0">
                <a:solidFill>
                  <a:prstClr val="black"/>
                </a:solidFill>
              </a:rPr>
              <a:t> = {...</a:t>
            </a:r>
            <a:r>
              <a:rPr lang="en-GB" sz="1350" dirty="0" err="1">
                <a:solidFill>
                  <a:prstClr val="black"/>
                </a:solidFill>
              </a:rPr>
              <a:t>myVehicle</a:t>
            </a:r>
            <a:r>
              <a:rPr lang="en-GB" sz="1350" dirty="0">
                <a:solidFill>
                  <a:prstClr val="black"/>
                </a:solidFill>
              </a:rPr>
              <a:t>, ...</a:t>
            </a:r>
            <a:r>
              <a:rPr lang="en-GB" sz="1350" dirty="0" err="1">
                <a:solidFill>
                  <a:prstClr val="black"/>
                </a:solidFill>
              </a:rPr>
              <a:t>updateMyVehicle</a:t>
            </a:r>
            <a:r>
              <a:rPr lang="en-GB" sz="1350" dirty="0">
                <a:solidFill>
                  <a:prstClr val="black"/>
                </a:solidFill>
              </a:rPr>
              <a:t>}</a:t>
            </a:r>
          </a:p>
        </p:txBody>
      </p:sp>
    </p:spTree>
    <p:extLst>
      <p:ext uri="{BB962C8B-B14F-4D97-AF65-F5344CB8AC3E}">
        <p14:creationId xmlns:p14="http://schemas.microsoft.com/office/powerpoint/2010/main" val="339673384"/>
      </p:ext>
    </p:extLst>
  </p:cSld>
  <p:clrMapOvr>
    <a:masterClrMapping/>
  </p:clrMapOvr>
</p:sld>
</file>

<file path=ppt/slides/slide1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Rest</a:t>
            </a:r>
            <a:endParaRPr lang="en-GB" dirty="0"/>
          </a:p>
        </p:txBody>
      </p:sp>
      <p:sp>
        <p:nvSpPr>
          <p:cNvPr id="3" name="Content Placeholder 2"/>
          <p:cNvSpPr>
            <a:spLocks noGrp="1"/>
          </p:cNvSpPr>
          <p:nvPr>
            <p:ph idx="1"/>
          </p:nvPr>
        </p:nvSpPr>
        <p:spPr>
          <a:xfrm>
            <a:off x="1910862" y="2226469"/>
            <a:ext cx="8379070" cy="2281304"/>
          </a:xfrm>
        </p:spPr>
        <p:txBody>
          <a:bodyPr>
            <a:normAutofit fontScale="70000" lnSpcReduction="20000"/>
          </a:bodyPr>
          <a:lstStyle/>
          <a:p>
            <a:pPr marL="0" indent="0">
              <a:buNone/>
            </a:pPr>
            <a:r>
              <a:rPr lang="en-US" dirty="0"/>
              <a:t>The </a:t>
            </a:r>
            <a:r>
              <a:rPr lang="en-US" b="1" dirty="0"/>
              <a:t>rest operator in JavaScript</a:t>
            </a:r>
            <a:r>
              <a:rPr lang="en-US" dirty="0"/>
              <a:t> allows a function to take an indefinite number of arguments and bundle them in an array.</a:t>
            </a:r>
          </a:p>
          <a:p>
            <a:pPr marL="685800" lvl="2" indent="0">
              <a:buNone/>
            </a:pPr>
            <a:r>
              <a:rPr lang="en-GB" i="1" dirty="0"/>
              <a:t>function </a:t>
            </a:r>
            <a:r>
              <a:rPr lang="en-GB" i="1" dirty="0" err="1"/>
              <a:t>fname</a:t>
            </a:r>
            <a:r>
              <a:rPr lang="en-GB" i="1" dirty="0"/>
              <a:t>(</a:t>
            </a:r>
            <a:r>
              <a:rPr lang="en-GB" i="1" dirty="0" err="1"/>
              <a:t>a,b</a:t>
            </a:r>
            <a:r>
              <a:rPr lang="en-GB" i="1" dirty="0"/>
              <a:t>,...</a:t>
            </a:r>
            <a:r>
              <a:rPr lang="en-GB" i="1" dirty="0" err="1"/>
              <a:t>myRest</a:t>
            </a:r>
            <a:r>
              <a:rPr lang="en-GB" i="1" dirty="0"/>
              <a:t>) { </a:t>
            </a:r>
          </a:p>
          <a:p>
            <a:pPr marL="685800" lvl="2" indent="0">
              <a:buNone/>
            </a:pPr>
            <a:r>
              <a:rPr lang="en-GB" i="1" dirty="0"/>
              <a:t>   //statements </a:t>
            </a:r>
          </a:p>
          <a:p>
            <a:pPr marL="685800" lvl="2" indent="0">
              <a:buNone/>
            </a:pPr>
            <a:r>
              <a:rPr lang="en-GB" i="1" dirty="0"/>
              <a:t>}</a:t>
            </a:r>
          </a:p>
          <a:p>
            <a:pPr marL="0" indent="0" algn="just">
              <a:buNone/>
            </a:pPr>
            <a:r>
              <a:rPr lang="en-US" dirty="0"/>
              <a:t>Here, a and b are </a:t>
            </a:r>
            <a:r>
              <a:rPr lang="en-US" i="1" dirty="0"/>
              <a:t>normal parameters</a:t>
            </a:r>
            <a:r>
              <a:rPr lang="en-US" dirty="0"/>
              <a:t> which will map to first and second argument respectively. Whereas </a:t>
            </a:r>
            <a:r>
              <a:rPr lang="en-US" dirty="0" err="1"/>
              <a:t>myRest</a:t>
            </a:r>
            <a:r>
              <a:rPr lang="en-US" dirty="0"/>
              <a:t> is the rest parameter, that will contain contains the third, fourth, and fifth ... nth arguments </a:t>
            </a:r>
            <a:r>
              <a:rPr lang="en-US" dirty="0" err="1"/>
              <a:t>i.e</a:t>
            </a:r>
            <a:r>
              <a:rPr lang="en-US" dirty="0"/>
              <a:t> all the remaining arguments other than the values of a and b.</a:t>
            </a:r>
            <a:endParaRPr lang="en-US" i="1" dirty="0"/>
          </a:p>
        </p:txBody>
      </p:sp>
      <p:sp>
        <p:nvSpPr>
          <p:cNvPr id="5" name="TextBox 4"/>
          <p:cNvSpPr txBox="1"/>
          <p:nvPr/>
        </p:nvSpPr>
        <p:spPr>
          <a:xfrm>
            <a:off x="2174631" y="4708281"/>
            <a:ext cx="2362955" cy="923330"/>
          </a:xfrm>
          <a:prstGeom prst="rect">
            <a:avLst/>
          </a:prstGeom>
          <a:noFill/>
        </p:spPr>
        <p:txBody>
          <a:bodyPr wrap="none" rtlCol="0">
            <a:spAutoFit/>
          </a:bodyPr>
          <a:lstStyle/>
          <a:p>
            <a:r>
              <a:rPr lang="en-US" sz="1350" dirty="0" err="1">
                <a:solidFill>
                  <a:prstClr val="black"/>
                </a:solidFill>
              </a:rPr>
              <a:t>const</a:t>
            </a:r>
            <a:r>
              <a:rPr lang="en-US" sz="1350" dirty="0">
                <a:solidFill>
                  <a:prstClr val="black"/>
                </a:solidFill>
              </a:rPr>
              <a:t> </a:t>
            </a:r>
            <a:r>
              <a:rPr lang="en-US" sz="1350" dirty="0" err="1">
                <a:solidFill>
                  <a:prstClr val="black"/>
                </a:solidFill>
              </a:rPr>
              <a:t>toArray</a:t>
            </a:r>
            <a:r>
              <a:rPr lang="en-US" sz="1350" dirty="0">
                <a:solidFill>
                  <a:prstClr val="black"/>
                </a:solidFill>
              </a:rPr>
              <a:t> = (…</a:t>
            </a:r>
            <a:r>
              <a:rPr lang="en-US" sz="1350" dirty="0" err="1">
                <a:solidFill>
                  <a:prstClr val="black"/>
                </a:solidFill>
              </a:rPr>
              <a:t>args</a:t>
            </a:r>
            <a:r>
              <a:rPr lang="en-US" sz="1350" dirty="0">
                <a:solidFill>
                  <a:prstClr val="black"/>
                </a:solidFill>
              </a:rPr>
              <a:t>) =&gt; {</a:t>
            </a:r>
          </a:p>
          <a:p>
            <a:r>
              <a:rPr lang="en-US" sz="1350" dirty="0">
                <a:solidFill>
                  <a:prstClr val="black"/>
                </a:solidFill>
              </a:rPr>
              <a:t>   return </a:t>
            </a:r>
            <a:r>
              <a:rPr lang="en-US" sz="1350" dirty="0" err="1">
                <a:solidFill>
                  <a:prstClr val="black"/>
                </a:solidFill>
              </a:rPr>
              <a:t>args</a:t>
            </a:r>
            <a:r>
              <a:rPr lang="en-US" sz="1350" dirty="0">
                <a:solidFill>
                  <a:prstClr val="black"/>
                </a:solidFill>
              </a:rPr>
              <a:t>;</a:t>
            </a:r>
          </a:p>
          <a:p>
            <a:r>
              <a:rPr lang="en-US" sz="1350" dirty="0">
                <a:solidFill>
                  <a:prstClr val="black"/>
                </a:solidFill>
              </a:rPr>
              <a:t>}</a:t>
            </a:r>
          </a:p>
          <a:p>
            <a:r>
              <a:rPr lang="en-US" sz="1350" dirty="0">
                <a:solidFill>
                  <a:prstClr val="black"/>
                </a:solidFill>
              </a:rPr>
              <a:t>console.log(</a:t>
            </a:r>
            <a:r>
              <a:rPr lang="en-US" sz="1350" dirty="0" err="1">
                <a:solidFill>
                  <a:prstClr val="black"/>
                </a:solidFill>
              </a:rPr>
              <a:t>toArray</a:t>
            </a:r>
            <a:r>
              <a:rPr lang="en-US" sz="1350" dirty="0">
                <a:solidFill>
                  <a:prstClr val="black"/>
                </a:solidFill>
              </a:rPr>
              <a:t>(1,2,3,4));</a:t>
            </a:r>
            <a:endParaRPr lang="en-GB" sz="1350" dirty="0">
              <a:solidFill>
                <a:prstClr val="black"/>
              </a:solidFill>
            </a:endParaRPr>
          </a:p>
        </p:txBody>
      </p:sp>
      <p:sp>
        <p:nvSpPr>
          <p:cNvPr id="6" name="TextBox 5"/>
          <p:cNvSpPr txBox="1"/>
          <p:nvPr/>
        </p:nvSpPr>
        <p:spPr>
          <a:xfrm>
            <a:off x="5858609" y="4268665"/>
            <a:ext cx="2468689" cy="1754326"/>
          </a:xfrm>
          <a:prstGeom prst="rect">
            <a:avLst/>
          </a:prstGeom>
          <a:noFill/>
        </p:spPr>
        <p:txBody>
          <a:bodyPr wrap="none" rtlCol="0">
            <a:spAutoFit/>
          </a:bodyPr>
          <a:lstStyle/>
          <a:p>
            <a:r>
              <a:rPr lang="en-GB" sz="1200" dirty="0">
                <a:solidFill>
                  <a:prstClr val="black"/>
                </a:solidFill>
              </a:rPr>
              <a:t>function addition(...</a:t>
            </a:r>
            <a:r>
              <a:rPr lang="en-GB" sz="1200" dirty="0" err="1">
                <a:solidFill>
                  <a:prstClr val="black"/>
                </a:solidFill>
              </a:rPr>
              <a:t>myArgs</a:t>
            </a:r>
            <a:r>
              <a:rPr lang="en-GB" sz="1200" dirty="0">
                <a:solidFill>
                  <a:prstClr val="black"/>
                </a:solidFill>
              </a:rPr>
              <a:t>) { </a:t>
            </a:r>
          </a:p>
          <a:p>
            <a:r>
              <a:rPr lang="en-GB" sz="1200" dirty="0">
                <a:solidFill>
                  <a:prstClr val="black"/>
                </a:solidFill>
              </a:rPr>
              <a:t>   let sum = 0; </a:t>
            </a:r>
          </a:p>
          <a:p>
            <a:r>
              <a:rPr lang="en-GB" sz="1200" dirty="0">
                <a:solidFill>
                  <a:prstClr val="black"/>
                </a:solidFill>
              </a:rPr>
              <a:t>   for (let </a:t>
            </a:r>
            <a:r>
              <a:rPr lang="en-GB" sz="1200" dirty="0" err="1">
                <a:solidFill>
                  <a:prstClr val="black"/>
                </a:solidFill>
              </a:rPr>
              <a:t>i</a:t>
            </a:r>
            <a:r>
              <a:rPr lang="en-GB" sz="1200" dirty="0">
                <a:solidFill>
                  <a:prstClr val="black"/>
                </a:solidFill>
              </a:rPr>
              <a:t> of </a:t>
            </a:r>
            <a:r>
              <a:rPr lang="en-GB" sz="1200" dirty="0" err="1">
                <a:solidFill>
                  <a:prstClr val="black"/>
                </a:solidFill>
              </a:rPr>
              <a:t>myArgs</a:t>
            </a:r>
            <a:r>
              <a:rPr lang="en-GB" sz="1200" dirty="0">
                <a:solidFill>
                  <a:prstClr val="black"/>
                </a:solidFill>
              </a:rPr>
              <a:t>)  </a:t>
            </a:r>
          </a:p>
          <a:p>
            <a:r>
              <a:rPr lang="en-GB" sz="1200" dirty="0">
                <a:solidFill>
                  <a:prstClr val="black"/>
                </a:solidFill>
              </a:rPr>
              <a:t> 	sum += </a:t>
            </a:r>
            <a:r>
              <a:rPr lang="en-GB" sz="1200" dirty="0" err="1">
                <a:solidFill>
                  <a:prstClr val="black"/>
                </a:solidFill>
              </a:rPr>
              <a:t>i</a:t>
            </a:r>
            <a:r>
              <a:rPr lang="en-GB" sz="1200" dirty="0">
                <a:solidFill>
                  <a:prstClr val="black"/>
                </a:solidFill>
              </a:rPr>
              <a:t>; </a:t>
            </a:r>
          </a:p>
          <a:p>
            <a:r>
              <a:rPr lang="en-GB" sz="1200" dirty="0">
                <a:solidFill>
                  <a:prstClr val="black"/>
                </a:solidFill>
              </a:rPr>
              <a:t>   return sum; </a:t>
            </a:r>
          </a:p>
          <a:p>
            <a:r>
              <a:rPr lang="en-GB" sz="1200" dirty="0">
                <a:solidFill>
                  <a:prstClr val="black"/>
                </a:solidFill>
              </a:rPr>
              <a:t>} </a:t>
            </a:r>
          </a:p>
          <a:p>
            <a:r>
              <a:rPr lang="en-GB" sz="1200" dirty="0">
                <a:solidFill>
                  <a:prstClr val="black"/>
                </a:solidFill>
              </a:rPr>
              <a:t>console.log(addition(5, 6)); </a:t>
            </a:r>
          </a:p>
          <a:p>
            <a:r>
              <a:rPr lang="en-GB" sz="1200" dirty="0">
                <a:solidFill>
                  <a:prstClr val="black"/>
                </a:solidFill>
              </a:rPr>
              <a:t>console.log(addition(5, 6, 7)); </a:t>
            </a:r>
          </a:p>
          <a:p>
            <a:r>
              <a:rPr lang="en-GB" sz="1200" dirty="0">
                <a:solidFill>
                  <a:prstClr val="black"/>
                </a:solidFill>
              </a:rPr>
              <a:t>console.log(addition(5, 6, 7, 8, 9)); </a:t>
            </a:r>
          </a:p>
        </p:txBody>
      </p:sp>
    </p:spTree>
    <p:extLst>
      <p:ext uri="{BB962C8B-B14F-4D97-AF65-F5344CB8AC3E}">
        <p14:creationId xmlns:p14="http://schemas.microsoft.com/office/powerpoint/2010/main" val="64946558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0</TotalTime>
  <Words>9396</Words>
  <Application>Microsoft Office PowerPoint</Application>
  <PresentationFormat>Widescreen</PresentationFormat>
  <Paragraphs>1203</Paragraphs>
  <Slides>128</Slides>
  <Notes>36</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128</vt:i4>
      </vt:variant>
    </vt:vector>
  </HeadingPairs>
  <TitlesOfParts>
    <vt:vector size="136" baseType="lpstr">
      <vt:lpstr>Aptos</vt:lpstr>
      <vt:lpstr>Aptos Display</vt:lpstr>
      <vt:lpstr>Arial</vt:lpstr>
      <vt:lpstr>Consolas</vt:lpstr>
      <vt:lpstr>DejaVu Sans</vt:lpstr>
      <vt:lpstr>Symbol</vt:lpstr>
      <vt:lpstr>Times New Roman</vt:lpstr>
      <vt:lpstr>Office Theme</vt:lpstr>
      <vt:lpstr>Java script Basics</vt:lpstr>
      <vt:lpstr>What is JavaScript?</vt:lpstr>
      <vt:lpstr>Object Based?</vt:lpstr>
      <vt:lpstr>PowerPoint Presentation</vt:lpstr>
      <vt:lpstr>Why JavaScript?</vt:lpstr>
      <vt:lpstr>What java script can do?</vt:lpstr>
      <vt:lpstr>Some of things that JavaScript cannot do!</vt:lpstr>
      <vt:lpstr>Case Sensitivity</vt:lpstr>
      <vt:lpstr>HTML DOM</vt:lpstr>
      <vt:lpstr>HTML DOM</vt:lpstr>
      <vt:lpstr>PowerPoint Presentation</vt:lpstr>
      <vt:lpstr>JavaScript Variables</vt:lpstr>
      <vt:lpstr>Examples</vt:lpstr>
      <vt:lpstr>JavaScript Variables</vt:lpstr>
      <vt:lpstr>Variable Type Conversion &amp; Operations</vt:lpstr>
      <vt:lpstr>Alerts and prompts and confirm</vt:lpstr>
      <vt:lpstr>Alerts and prompts and confirm Examples</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Strings in JS</vt:lpstr>
      <vt:lpstr>Strings in JS</vt:lpstr>
      <vt:lpstr>String methods in JS</vt:lpstr>
      <vt:lpstr>String methods Examples</vt:lpstr>
      <vt:lpstr>String methods Examples</vt:lpstr>
      <vt:lpstr>Several String methods </vt:lpstr>
      <vt:lpstr>Several String methods </vt:lpstr>
      <vt:lpstr>String and String Methods</vt:lpstr>
      <vt:lpstr>Numbers Methods</vt:lpstr>
      <vt:lpstr>Math Class</vt:lpstr>
      <vt:lpstr>Ternary Operators</vt:lpstr>
      <vt:lpstr>Control Structures</vt:lpstr>
      <vt:lpstr>Control Structures if</vt:lpstr>
      <vt:lpstr>Control structure if-else</vt:lpstr>
      <vt:lpstr>Control structure else if</vt:lpstr>
      <vt:lpstr>Loop structure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For Loop</vt:lpstr>
      <vt:lpstr>PowerPoint Presentation</vt:lpstr>
      <vt:lpstr>PowerPoint Presentation</vt:lpstr>
      <vt:lpstr>PowerPoint Presentation</vt:lpstr>
      <vt:lpstr>Java script Basics cont…</vt:lpstr>
      <vt:lpstr>Functions in JavaScript</vt:lpstr>
      <vt:lpstr>Why use Functions </vt:lpstr>
      <vt:lpstr>Function</vt:lpstr>
      <vt:lpstr>Functions in JS examples</vt:lpstr>
      <vt:lpstr>Named Function</vt:lpstr>
      <vt:lpstr>Anonymous Function</vt:lpstr>
      <vt:lpstr>Arrow Function</vt:lpstr>
      <vt:lpstr>Arrow Function</vt:lpstr>
      <vt:lpstr>Arrays in java script</vt:lpstr>
      <vt:lpstr>Ways to Create Arrays</vt:lpstr>
      <vt:lpstr>Why use Arrays</vt:lpstr>
      <vt:lpstr>Array examples</vt:lpstr>
      <vt:lpstr>Array examples</vt:lpstr>
      <vt:lpstr>Array examples</vt:lpstr>
      <vt:lpstr>Array examples</vt:lpstr>
      <vt:lpstr>Array examples</vt:lpstr>
      <vt:lpstr>Arrays examples</vt:lpstr>
      <vt:lpstr>Arrays Example</vt:lpstr>
      <vt:lpstr>Arrays Methods</vt:lpstr>
      <vt:lpstr>Array Methods</vt:lpstr>
      <vt:lpstr>JavaScript Object Notation (JSON)</vt:lpstr>
      <vt:lpstr>Uses of JSON</vt:lpstr>
      <vt:lpstr>Syntax of JSON</vt:lpstr>
      <vt:lpstr>Syntax of JSON</vt:lpstr>
      <vt:lpstr>JSON object Example</vt:lpstr>
      <vt:lpstr>JSON Array example</vt:lpstr>
      <vt:lpstr>Collection in JavaScript</vt:lpstr>
      <vt:lpstr>Collection</vt:lpstr>
      <vt:lpstr>Set in Javascript</vt:lpstr>
      <vt:lpstr>Set Scenarios</vt:lpstr>
      <vt:lpstr>Set Scenarios</vt:lpstr>
      <vt:lpstr>Map in JavaScript</vt:lpstr>
      <vt:lpstr>Map Scenarios</vt:lpstr>
      <vt:lpstr>Map Scenarios</vt:lpstr>
      <vt:lpstr>Events in JS</vt:lpstr>
      <vt:lpstr>Examples of event handling</vt:lpstr>
      <vt:lpstr>Examples of event handling</vt:lpstr>
      <vt:lpstr>Changing HTML Content</vt:lpstr>
      <vt:lpstr>Get html tags as an object</vt:lpstr>
      <vt:lpstr>Get elements by tag names</vt:lpstr>
      <vt:lpstr>Get a complete Div tag</vt:lpstr>
      <vt:lpstr>Get elements by class names</vt:lpstr>
      <vt:lpstr>Array’s Functions</vt:lpstr>
      <vt:lpstr>forEach Method</vt:lpstr>
      <vt:lpstr>forEach Method</vt:lpstr>
      <vt:lpstr>map Function</vt:lpstr>
      <vt:lpstr>map function Examples</vt:lpstr>
      <vt:lpstr>filter Function</vt:lpstr>
      <vt:lpstr>find Function</vt:lpstr>
      <vt:lpstr>Difference between filter() &amp; find()</vt:lpstr>
      <vt:lpstr>Sort function</vt:lpstr>
      <vt:lpstr>Sorting Arrays of Objects</vt:lpstr>
      <vt:lpstr>reduce Function</vt:lpstr>
      <vt:lpstr>Examples</vt:lpstr>
      <vt:lpstr>Exercises</vt:lpstr>
      <vt:lpstr>Excercise</vt:lpstr>
      <vt:lpstr>Spread </vt:lpstr>
      <vt:lpstr>Rest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Mian Daniyal Hassan</dc:creator>
  <cp:lastModifiedBy>Mian Daniyal Hassan</cp:lastModifiedBy>
  <cp:revision>1</cp:revision>
  <dcterms:created xsi:type="dcterms:W3CDTF">2026-04-01T16:35:41Z</dcterms:created>
  <dcterms:modified xsi:type="dcterms:W3CDTF">2026-04-01T16:36:28Z</dcterms:modified>
</cp:coreProperties>
</file>
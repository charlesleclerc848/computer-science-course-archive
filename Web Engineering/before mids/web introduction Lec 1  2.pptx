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303" r:id="rId23"/>
    <p:sldId id="304" r:id="rId24"/>
    <p:sldId id="305" r:id="rId25"/>
    <p:sldId id="309" r:id="rId26"/>
    <p:sldId id="310" r:id="rId27"/>
    <p:sldId id="306" r:id="rId28"/>
    <p:sldId id="307" r:id="rId29"/>
    <p:sldId id="308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66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D595E-74D7-4C82-AAEC-EFBD3C82F5C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CAE87-F573-4D5A-9473-43116F21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7813"/>
            <a:ext cx="10363200" cy="67710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19200" y="1600201"/>
            <a:ext cx="5080000" cy="15388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0" y="1600201"/>
            <a:ext cx="5080000" cy="15388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C9081C-A5AF-46FB-9AF7-7D632B0ABC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0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7813"/>
            <a:ext cx="10363200" cy="67710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19200" y="1600201"/>
            <a:ext cx="5080000" cy="15388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502400" y="1600201"/>
            <a:ext cx="5080000" cy="15388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502400" y="3941763"/>
            <a:ext cx="5080000" cy="15388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67F03A-DEB8-425A-9DF8-48E268B187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1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8228"/>
            <a:ext cx="10358120" cy="130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59966"/>
            <a:ext cx="10282555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9" r:id="rId6"/>
    <p:sldLayoutId id="2147483670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" TargetMode="External"/><Relationship Id="rId2" Type="http://schemas.openxmlformats.org/officeDocument/2006/relationships/hyperlink" Target="https://www.wikipedia.org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://www.amazon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4373" y="1665554"/>
            <a:ext cx="6229350" cy="2320507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 algn="ctr">
              <a:lnSpc>
                <a:spcPts val="6480"/>
              </a:lnSpc>
              <a:spcBef>
                <a:spcPts val="915"/>
              </a:spcBef>
            </a:pPr>
            <a:r>
              <a:rPr sz="6000" dirty="0"/>
              <a:t>Introduction</a:t>
            </a:r>
            <a:r>
              <a:rPr sz="6000" spc="-150" dirty="0"/>
              <a:t> </a:t>
            </a:r>
            <a:r>
              <a:rPr sz="6000" dirty="0"/>
              <a:t>to</a:t>
            </a:r>
            <a:r>
              <a:rPr sz="6000" spc="-140" dirty="0"/>
              <a:t> </a:t>
            </a:r>
            <a:r>
              <a:rPr sz="6000" spc="-55" dirty="0"/>
              <a:t>Web </a:t>
            </a:r>
            <a:r>
              <a:rPr sz="6000" spc="-10" dirty="0"/>
              <a:t>Engineering</a:t>
            </a:r>
            <a:endParaRPr sz="6000" dirty="0"/>
          </a:p>
          <a:p>
            <a:pPr algn="ctr">
              <a:lnSpc>
                <a:spcPct val="100000"/>
              </a:lnSpc>
              <a:spcBef>
                <a:spcPts val="1295"/>
              </a:spcBef>
            </a:pPr>
            <a:r>
              <a:rPr sz="2400" dirty="0" smtClean="0">
                <a:latin typeface="Calibri"/>
                <a:cs typeface="Calibri"/>
              </a:rPr>
              <a:t>Lecture # 1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Web</a:t>
            </a:r>
            <a:r>
              <a:rPr spc="-160" dirty="0"/>
              <a:t> </a:t>
            </a:r>
            <a:r>
              <a:rPr spc="-10" dirty="0"/>
              <a:t>Engineering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4621148"/>
          <a:ext cx="7019290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8895"/>
                <a:gridCol w="4430395"/>
              </a:tblGrid>
              <a:tr h="391160"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Quizzes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1270" algn="ctr">
                        <a:lnSpc>
                          <a:spcPts val="2805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Assignments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805"/>
                        </a:lnSpc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10%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24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24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Task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805"/>
                        </a:lnSpc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20%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Mid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05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805"/>
                        </a:lnSpc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40%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6939" y="1793493"/>
            <a:ext cx="10403205" cy="491160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80137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Web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engineering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focuses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methodologies,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techniques,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tools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foundation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websites 	development.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0"/>
              </a:spcBef>
              <a:buFont typeface="Arial MT"/>
              <a:buChar char="•"/>
            </a:pPr>
            <a:endParaRPr sz="2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Book: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000" spc="-114" dirty="0">
                <a:latin typeface="Calibri Light"/>
                <a:cs typeface="Calibri Light"/>
              </a:rPr>
              <a:t>T.</a:t>
            </a:r>
            <a:r>
              <a:rPr sz="2000" spc="-2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A.</a:t>
            </a:r>
            <a:r>
              <a:rPr sz="2000" spc="-3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Powell</a:t>
            </a:r>
            <a:r>
              <a:rPr sz="2000" spc="-5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and</a:t>
            </a:r>
            <a:r>
              <a:rPr sz="2000" spc="-45" dirty="0">
                <a:latin typeface="Calibri Light"/>
                <a:cs typeface="Calibri Light"/>
              </a:rPr>
              <a:t> </a:t>
            </a:r>
            <a:r>
              <a:rPr sz="2000" spc="-10" dirty="0">
                <a:latin typeface="Calibri Light"/>
                <a:cs typeface="Calibri Light"/>
              </a:rPr>
              <a:t>Powell,</a:t>
            </a:r>
            <a:r>
              <a:rPr sz="2000" spc="-55" dirty="0">
                <a:latin typeface="Calibri Light"/>
                <a:cs typeface="Calibri Light"/>
              </a:rPr>
              <a:t> </a:t>
            </a:r>
            <a:r>
              <a:rPr sz="2000" i="1" dirty="0">
                <a:latin typeface="Calibri Light"/>
                <a:cs typeface="Calibri Light"/>
              </a:rPr>
              <a:t>HTML</a:t>
            </a:r>
            <a:r>
              <a:rPr sz="2000" i="1" spc="-35" dirty="0">
                <a:latin typeface="Calibri Light"/>
                <a:cs typeface="Calibri Light"/>
              </a:rPr>
              <a:t> </a:t>
            </a:r>
            <a:r>
              <a:rPr sz="2000" i="1" dirty="0">
                <a:latin typeface="Calibri Light"/>
                <a:cs typeface="Calibri Light"/>
              </a:rPr>
              <a:t>&amp;</a:t>
            </a:r>
            <a:r>
              <a:rPr sz="2000" i="1" spc="-45" dirty="0">
                <a:latin typeface="Calibri Light"/>
                <a:cs typeface="Calibri Light"/>
              </a:rPr>
              <a:t> </a:t>
            </a:r>
            <a:r>
              <a:rPr sz="2000" i="1" dirty="0">
                <a:latin typeface="Calibri Light"/>
                <a:cs typeface="Calibri Light"/>
              </a:rPr>
              <a:t>CSS</a:t>
            </a:r>
            <a:r>
              <a:rPr sz="2000" i="1" spc="-40" dirty="0">
                <a:latin typeface="Calibri Light"/>
                <a:cs typeface="Calibri Light"/>
              </a:rPr>
              <a:t> </a:t>
            </a:r>
            <a:r>
              <a:rPr sz="2000" i="1" dirty="0">
                <a:latin typeface="Calibri Light"/>
                <a:cs typeface="Calibri Light"/>
              </a:rPr>
              <a:t>the</a:t>
            </a:r>
            <a:r>
              <a:rPr sz="2000" i="1" spc="-25" dirty="0">
                <a:latin typeface="Calibri Light"/>
                <a:cs typeface="Calibri Light"/>
              </a:rPr>
              <a:t> </a:t>
            </a:r>
            <a:r>
              <a:rPr sz="2000" i="1" dirty="0">
                <a:latin typeface="Calibri Light"/>
                <a:cs typeface="Calibri Light"/>
              </a:rPr>
              <a:t>complete</a:t>
            </a:r>
            <a:r>
              <a:rPr sz="2000" i="1" spc="-50" dirty="0">
                <a:latin typeface="Calibri Light"/>
                <a:cs typeface="Calibri Light"/>
              </a:rPr>
              <a:t> </a:t>
            </a:r>
            <a:r>
              <a:rPr sz="2000" i="1" dirty="0">
                <a:latin typeface="Calibri Light"/>
                <a:cs typeface="Calibri Light"/>
              </a:rPr>
              <a:t>reference</a:t>
            </a:r>
            <a:r>
              <a:rPr sz="2000" dirty="0">
                <a:latin typeface="Calibri Light"/>
                <a:cs typeface="Calibri Light"/>
              </a:rPr>
              <a:t>.</a:t>
            </a:r>
            <a:r>
              <a:rPr sz="2000" spc="-3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New</a:t>
            </a:r>
            <a:r>
              <a:rPr sz="2000" spc="-45" dirty="0">
                <a:latin typeface="Calibri Light"/>
                <a:cs typeface="Calibri Light"/>
              </a:rPr>
              <a:t> </a:t>
            </a:r>
            <a:r>
              <a:rPr sz="2000" spc="-20" dirty="0">
                <a:latin typeface="Calibri Light"/>
                <a:cs typeface="Calibri Light"/>
              </a:rPr>
              <a:t>York:</a:t>
            </a:r>
            <a:r>
              <a:rPr sz="2000" spc="-45" dirty="0">
                <a:latin typeface="Calibri Light"/>
                <a:cs typeface="Calibri Light"/>
              </a:rPr>
              <a:t> </a:t>
            </a:r>
            <a:r>
              <a:rPr sz="2000" spc="-10" dirty="0">
                <a:latin typeface="Calibri Light"/>
                <a:cs typeface="Calibri Light"/>
              </a:rPr>
              <a:t>McGraw-</a:t>
            </a:r>
            <a:r>
              <a:rPr sz="2000" spc="-20" dirty="0">
                <a:latin typeface="Calibri Light"/>
                <a:cs typeface="Calibri Light"/>
              </a:rPr>
              <a:t>Hill</a:t>
            </a:r>
            <a:endParaRPr sz="2000" dirty="0">
              <a:latin typeface="Calibri Light"/>
              <a:cs typeface="Calibri Light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Marks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Division:</a:t>
            </a:r>
            <a:endParaRPr sz="2800" dirty="0">
              <a:latin typeface="Calibri"/>
              <a:cs typeface="Calibri"/>
            </a:endParaRPr>
          </a:p>
          <a:p>
            <a:pPr marL="7032625">
              <a:lnSpc>
                <a:spcPct val="100000"/>
              </a:lnSpc>
              <a:spcBef>
                <a:spcPts val="1550"/>
              </a:spcBef>
            </a:pPr>
            <a:r>
              <a:rPr sz="1800" b="1" dirty="0">
                <a:latin typeface="Calibri"/>
                <a:cs typeface="Calibri"/>
              </a:rPr>
              <a:t>Office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Hours:</a:t>
            </a:r>
            <a:endParaRPr sz="1800" dirty="0">
              <a:latin typeface="Calibri"/>
              <a:cs typeface="Calibri"/>
            </a:endParaRPr>
          </a:p>
          <a:p>
            <a:pPr marL="7032625">
              <a:lnSpc>
                <a:spcPct val="100000"/>
              </a:lnSpc>
              <a:spcBef>
                <a:spcPts val="2160"/>
              </a:spcBef>
            </a:pPr>
            <a:r>
              <a:rPr lang="en-US" b="1" spc="-20" dirty="0" smtClean="0">
                <a:latin typeface="Calibri"/>
                <a:cs typeface="Calibri"/>
              </a:rPr>
              <a:t>Thursday: </a:t>
            </a:r>
            <a:r>
              <a:rPr lang="en-US" b="1" dirty="0" smtClean="0">
                <a:latin typeface="Calibri"/>
                <a:cs typeface="Calibri"/>
              </a:rPr>
              <a:t>11:</a:t>
            </a:r>
            <a:r>
              <a:rPr lang="en-US" b="1" dirty="0">
                <a:latin typeface="Calibri"/>
                <a:cs typeface="Calibri"/>
              </a:rPr>
              <a:t>0</a:t>
            </a:r>
            <a:r>
              <a:rPr lang="en-US" b="1" dirty="0" smtClean="0">
                <a:latin typeface="Calibri"/>
                <a:cs typeface="Calibri"/>
              </a:rPr>
              <a:t>0</a:t>
            </a:r>
            <a:r>
              <a:rPr lang="en-US" b="1" spc="-10" dirty="0" smtClean="0">
                <a:latin typeface="Calibri"/>
                <a:cs typeface="Calibri"/>
              </a:rPr>
              <a:t> </a:t>
            </a:r>
            <a:r>
              <a:rPr lang="en-US" b="1" dirty="0" smtClean="0">
                <a:latin typeface="Calibri"/>
                <a:cs typeface="Calibri"/>
              </a:rPr>
              <a:t>PM</a:t>
            </a:r>
            <a:r>
              <a:rPr lang="en-US" b="1" spc="-15" dirty="0" smtClean="0">
                <a:latin typeface="Calibri"/>
                <a:cs typeface="Calibri"/>
              </a:rPr>
              <a:t> </a:t>
            </a:r>
            <a:r>
              <a:rPr lang="en-US" b="1" dirty="0" smtClean="0">
                <a:latin typeface="Calibri"/>
                <a:cs typeface="Calibri"/>
              </a:rPr>
              <a:t>to</a:t>
            </a:r>
            <a:r>
              <a:rPr lang="en-US" b="1" spc="-30" dirty="0" smtClean="0">
                <a:latin typeface="Calibri"/>
                <a:cs typeface="Calibri"/>
              </a:rPr>
              <a:t> </a:t>
            </a:r>
            <a:r>
              <a:rPr lang="en-US" b="1" dirty="0" smtClean="0">
                <a:latin typeface="Calibri"/>
                <a:cs typeface="Calibri"/>
              </a:rPr>
              <a:t>12:30</a:t>
            </a:r>
            <a:r>
              <a:rPr lang="en-US" b="1" spc="-15" dirty="0" smtClean="0">
                <a:latin typeface="Calibri"/>
                <a:cs typeface="Calibri"/>
              </a:rPr>
              <a:t> </a:t>
            </a:r>
            <a:r>
              <a:rPr lang="en-US" b="1" spc="-25" dirty="0" smtClean="0">
                <a:latin typeface="Calibri"/>
                <a:cs typeface="Calibri"/>
              </a:rPr>
              <a:t>PM</a:t>
            </a:r>
            <a:endParaRPr lang="en-US" b="1" spc="-20" dirty="0" smtClean="0">
              <a:latin typeface="Calibri"/>
              <a:cs typeface="Calibri"/>
            </a:endParaRPr>
          </a:p>
          <a:p>
            <a:pPr marL="7032625">
              <a:lnSpc>
                <a:spcPct val="100000"/>
              </a:lnSpc>
              <a:spcBef>
                <a:spcPts val="2160"/>
              </a:spcBef>
            </a:pPr>
            <a:r>
              <a:rPr b="1" spc="-20" dirty="0" smtClean="0">
                <a:latin typeface="Calibri"/>
                <a:cs typeface="Calibri"/>
              </a:rPr>
              <a:t>Friday</a:t>
            </a:r>
            <a:r>
              <a:rPr b="1" spc="-20" dirty="0">
                <a:latin typeface="Calibri"/>
                <a:cs typeface="Calibri"/>
              </a:rPr>
              <a:t>: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lang="en-US" b="1" dirty="0" smtClean="0">
                <a:latin typeface="Calibri"/>
                <a:cs typeface="Calibri"/>
              </a:rPr>
              <a:t>10</a:t>
            </a:r>
            <a:r>
              <a:rPr b="1" dirty="0" smtClean="0">
                <a:latin typeface="Calibri"/>
                <a:cs typeface="Calibri"/>
              </a:rPr>
              <a:t>:</a:t>
            </a:r>
            <a:r>
              <a:rPr lang="en-US" b="1" dirty="0">
                <a:latin typeface="Calibri"/>
                <a:cs typeface="Calibri"/>
              </a:rPr>
              <a:t>3</a:t>
            </a:r>
            <a:r>
              <a:rPr b="1" dirty="0" smtClean="0">
                <a:latin typeface="Calibri"/>
                <a:cs typeface="Calibri"/>
              </a:rPr>
              <a:t>0</a:t>
            </a:r>
            <a:r>
              <a:rPr b="1" spc="-10" dirty="0" smtClean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</a:t>
            </a:r>
            <a:r>
              <a:rPr b="1" dirty="0" smtClean="0">
                <a:latin typeface="Calibri"/>
                <a:cs typeface="Calibri"/>
              </a:rPr>
              <a:t>M</a:t>
            </a:r>
            <a:r>
              <a:rPr b="1" spc="-15" dirty="0" smtClean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lang="en-US" b="1" dirty="0" smtClean="0">
                <a:latin typeface="Calibri"/>
                <a:cs typeface="Calibri"/>
              </a:rPr>
              <a:t>12</a:t>
            </a:r>
            <a:r>
              <a:rPr b="1" dirty="0" smtClean="0">
                <a:latin typeface="Calibri"/>
                <a:cs typeface="Calibri"/>
              </a:rPr>
              <a:t>:</a:t>
            </a:r>
            <a:r>
              <a:rPr lang="en-US" b="1" dirty="0" smtClean="0">
                <a:latin typeface="Calibri"/>
                <a:cs typeface="Calibri"/>
              </a:rPr>
              <a:t>30</a:t>
            </a:r>
            <a:r>
              <a:rPr b="1" spc="-15" dirty="0" smtClean="0">
                <a:latin typeface="Calibri"/>
                <a:cs typeface="Calibri"/>
              </a:rPr>
              <a:t> </a:t>
            </a:r>
            <a:r>
              <a:rPr b="1" spc="-25" dirty="0" smtClean="0">
                <a:latin typeface="Calibri"/>
                <a:cs typeface="Calibri"/>
              </a:rPr>
              <a:t>PM</a:t>
            </a:r>
            <a:endParaRPr sz="2000" dirty="0">
              <a:latin typeface="Calibri"/>
              <a:cs typeface="Calibri"/>
            </a:endParaRPr>
          </a:p>
          <a:p>
            <a:pPr marL="7032625">
              <a:lnSpc>
                <a:spcPct val="100000"/>
              </a:lnSpc>
              <a:spcBef>
                <a:spcPts val="2165"/>
              </a:spcBef>
            </a:pPr>
            <a:r>
              <a:rPr sz="1800" b="1" dirty="0">
                <a:latin typeface="Calibri"/>
                <a:cs typeface="Calibri"/>
              </a:rPr>
              <a:t>Office#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lang="en-US" b="1" dirty="0" smtClean="0">
                <a:latin typeface="Calibri"/>
                <a:cs typeface="Calibri"/>
              </a:rPr>
              <a:t>CS</a:t>
            </a:r>
            <a:r>
              <a:rPr sz="1800" b="1" dirty="0" smtClean="0">
                <a:latin typeface="Calibri"/>
                <a:cs typeface="Calibri"/>
              </a:rPr>
              <a:t>-2</a:t>
            </a:r>
            <a:r>
              <a:rPr lang="en-US" sz="1800" b="1" dirty="0" smtClean="0">
                <a:latin typeface="Calibri"/>
                <a:cs typeface="Calibri"/>
              </a:rPr>
              <a:t>22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Web</a:t>
            </a:r>
            <a:r>
              <a:rPr spc="-170" dirty="0"/>
              <a:t> </a:t>
            </a:r>
            <a:r>
              <a:rPr spc="-10" dirty="0"/>
              <a:t>Application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27640" cy="25006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(Web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stored 	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remote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delivered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browser 	interface.</a:t>
            </a:r>
            <a:endParaRPr sz="2800">
              <a:latin typeface="Calibri"/>
              <a:cs typeface="Calibri"/>
            </a:endParaRPr>
          </a:p>
          <a:p>
            <a:pPr marL="240029" marR="167640" indent="-227965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browser, 	</a:t>
            </a:r>
            <a:r>
              <a:rPr sz="2800" dirty="0">
                <a:latin typeface="Calibri"/>
                <a:cs typeface="Calibri"/>
              </a:rPr>
              <a:t>unlike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locally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natively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operating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device.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125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3312160" cy="20707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Console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Windows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Web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Mobile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108" y="4002023"/>
            <a:ext cx="3140785" cy="21578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6235" y="4002023"/>
            <a:ext cx="2828543" cy="21991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20811" y="833621"/>
            <a:ext cx="2895600" cy="2142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01456" y="3861815"/>
            <a:ext cx="2362200" cy="22006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145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dirty="0"/>
              <a:t>Web</a:t>
            </a:r>
            <a:r>
              <a:rPr spc="-13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3157"/>
            <a:ext cx="7555230" cy="4113529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Static</a:t>
            </a:r>
            <a:r>
              <a:rPr sz="2800" spc="-8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web</a:t>
            </a:r>
            <a:r>
              <a:rPr sz="2800"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application.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Dynamic</a:t>
            </a:r>
            <a:r>
              <a:rPr sz="2800" spc="-8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web</a:t>
            </a:r>
            <a:r>
              <a:rPr sz="2800" spc="-8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application.</a:t>
            </a:r>
            <a:endParaRPr sz="2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Char char="•"/>
              <a:tabLst>
                <a:tab pos="240665" algn="l"/>
              </a:tabLst>
            </a:pP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E-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Commerce</a:t>
            </a:r>
            <a:r>
              <a:rPr sz="2800"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web</a:t>
            </a:r>
            <a:r>
              <a:rPr sz="2800" spc="-9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application.</a:t>
            </a:r>
            <a:endParaRPr sz="2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har char="•"/>
              <a:tabLst>
                <a:tab pos="240665" algn="l"/>
              </a:tabLst>
            </a:pPr>
            <a:r>
              <a:rPr sz="2800" spc="-20" dirty="0">
                <a:solidFill>
                  <a:srgbClr val="1F2023"/>
                </a:solidFill>
                <a:latin typeface="Arial MT"/>
                <a:cs typeface="Arial MT"/>
              </a:rPr>
              <a:t>Single-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page</a:t>
            </a:r>
            <a:r>
              <a:rPr sz="2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web</a:t>
            </a:r>
            <a:r>
              <a:rPr sz="28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application.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Portal</a:t>
            </a:r>
            <a:r>
              <a:rPr sz="2800" spc="-7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web</a:t>
            </a:r>
            <a:r>
              <a:rPr sz="2800"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application.</a:t>
            </a:r>
            <a:endParaRPr sz="2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Content</a:t>
            </a:r>
            <a:r>
              <a:rPr sz="2800" spc="-10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management</a:t>
            </a:r>
            <a:r>
              <a:rPr sz="2800"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system</a:t>
            </a:r>
            <a:r>
              <a:rPr sz="2800" spc="-1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web</a:t>
            </a:r>
            <a:r>
              <a:rPr sz="2800" spc="-1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application.</a:t>
            </a:r>
            <a:endParaRPr sz="2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Animated</a:t>
            </a:r>
            <a:r>
              <a:rPr sz="2800" spc="-8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web</a:t>
            </a:r>
            <a:r>
              <a:rPr sz="2800" spc="-7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applications.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Rich</a:t>
            </a:r>
            <a:r>
              <a:rPr sz="2800" spc="-8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Internet</a:t>
            </a:r>
            <a:r>
              <a:rPr sz="2800" spc="-8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web</a:t>
            </a:r>
            <a:r>
              <a:rPr sz="2800"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applications.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Difference</a:t>
            </a:r>
            <a:r>
              <a:rPr spc="-170" dirty="0"/>
              <a:t> </a:t>
            </a:r>
            <a:r>
              <a:rPr dirty="0"/>
              <a:t>between</a:t>
            </a:r>
            <a:r>
              <a:rPr spc="-140" dirty="0"/>
              <a:t> </a:t>
            </a:r>
            <a:r>
              <a:rPr spc="-10" dirty="0"/>
              <a:t>Websites</a:t>
            </a:r>
            <a:r>
              <a:rPr spc="-145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25" dirty="0"/>
              <a:t>Web </a:t>
            </a:r>
            <a:r>
              <a:rPr spc="-10" dirty="0"/>
              <a:t>Application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0029" marR="252729" indent="-227965">
              <a:lnSpc>
                <a:spcPts val="2690"/>
              </a:lnSpc>
              <a:spcBef>
                <a:spcPts val="7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spc="-70" dirty="0"/>
              <a:t> </a:t>
            </a:r>
            <a:r>
              <a:rPr dirty="0"/>
              <a:t>website</a:t>
            </a:r>
            <a:r>
              <a:rPr spc="-75" dirty="0"/>
              <a:t> </a:t>
            </a:r>
            <a:r>
              <a:rPr dirty="0"/>
              <a:t>provides</a:t>
            </a:r>
            <a:r>
              <a:rPr spc="-50" dirty="0"/>
              <a:t> </a:t>
            </a:r>
            <a:r>
              <a:rPr dirty="0"/>
              <a:t>visual</a:t>
            </a:r>
            <a:r>
              <a:rPr spc="-7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text</a:t>
            </a:r>
            <a:r>
              <a:rPr spc="-85" dirty="0"/>
              <a:t> </a:t>
            </a:r>
            <a:r>
              <a:rPr spc="-10" dirty="0"/>
              <a:t>content</a:t>
            </a:r>
            <a:r>
              <a:rPr spc="-65" dirty="0"/>
              <a:t> </a:t>
            </a:r>
            <a:r>
              <a:rPr dirty="0"/>
              <a:t>that</a:t>
            </a:r>
            <a:r>
              <a:rPr spc="-6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user</a:t>
            </a:r>
            <a:r>
              <a:rPr spc="-70" dirty="0"/>
              <a:t> </a:t>
            </a:r>
            <a:r>
              <a:rPr dirty="0"/>
              <a:t>can</a:t>
            </a:r>
            <a:r>
              <a:rPr spc="-65" dirty="0"/>
              <a:t> </a:t>
            </a:r>
            <a:r>
              <a:rPr dirty="0"/>
              <a:t>see</a:t>
            </a:r>
            <a:r>
              <a:rPr spc="-75" dirty="0"/>
              <a:t> </a:t>
            </a:r>
            <a:r>
              <a:rPr spc="-25" dirty="0"/>
              <a:t>and 	</a:t>
            </a:r>
            <a:r>
              <a:rPr dirty="0"/>
              <a:t>read,</a:t>
            </a:r>
            <a:r>
              <a:rPr spc="-55" dirty="0"/>
              <a:t> </a:t>
            </a:r>
            <a:r>
              <a:rPr dirty="0"/>
              <a:t>but</a:t>
            </a:r>
            <a:r>
              <a:rPr spc="-50" dirty="0"/>
              <a:t> </a:t>
            </a:r>
            <a:r>
              <a:rPr dirty="0"/>
              <a:t>not</a:t>
            </a:r>
            <a:r>
              <a:rPr spc="-55" dirty="0"/>
              <a:t> </a:t>
            </a:r>
            <a:r>
              <a:rPr spc="-10" dirty="0"/>
              <a:t>affect</a:t>
            </a:r>
            <a:r>
              <a:rPr spc="-8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any</a:t>
            </a:r>
            <a:r>
              <a:rPr spc="-60" dirty="0"/>
              <a:t> </a:t>
            </a:r>
            <a:r>
              <a:rPr spc="-20" dirty="0"/>
              <a:t>way.</a:t>
            </a:r>
          </a:p>
          <a:p>
            <a:pPr marL="240029" marR="5080" indent="-227965">
              <a:lnSpc>
                <a:spcPts val="26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Web</a:t>
            </a:r>
            <a:r>
              <a:rPr spc="-65" dirty="0"/>
              <a:t> </a:t>
            </a:r>
            <a:r>
              <a:rPr spc="-10" dirty="0"/>
              <a:t>application,</a:t>
            </a:r>
            <a:r>
              <a:rPr spc="-4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user</a:t>
            </a:r>
            <a:r>
              <a:rPr spc="-65" dirty="0"/>
              <a:t> </a:t>
            </a:r>
            <a:r>
              <a:rPr dirty="0"/>
              <a:t>can</a:t>
            </a:r>
            <a:r>
              <a:rPr spc="-60" dirty="0"/>
              <a:t> </a:t>
            </a:r>
            <a:r>
              <a:rPr dirty="0"/>
              <a:t>not</a:t>
            </a:r>
            <a:r>
              <a:rPr spc="-55" dirty="0"/>
              <a:t> </a:t>
            </a:r>
            <a:r>
              <a:rPr dirty="0"/>
              <a:t>only</a:t>
            </a:r>
            <a:r>
              <a:rPr spc="-65" dirty="0"/>
              <a:t> </a:t>
            </a:r>
            <a:r>
              <a:rPr dirty="0"/>
              <a:t>read</a:t>
            </a:r>
            <a:r>
              <a:rPr spc="-7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page</a:t>
            </a:r>
            <a:r>
              <a:rPr spc="-70" dirty="0"/>
              <a:t> </a:t>
            </a:r>
            <a:r>
              <a:rPr spc="-10" dirty="0"/>
              <a:t>content</a:t>
            </a:r>
            <a:r>
              <a:rPr spc="-60" dirty="0"/>
              <a:t> </a:t>
            </a:r>
            <a:r>
              <a:rPr dirty="0"/>
              <a:t>but</a:t>
            </a:r>
            <a:r>
              <a:rPr spc="-55" dirty="0"/>
              <a:t> </a:t>
            </a:r>
            <a:r>
              <a:rPr spc="-20" dirty="0"/>
              <a:t>also 	</a:t>
            </a:r>
            <a:r>
              <a:rPr spc="-10" dirty="0"/>
              <a:t>manipulate</a:t>
            </a:r>
            <a:r>
              <a:rPr spc="-4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data</a:t>
            </a:r>
            <a:r>
              <a:rPr spc="-65" dirty="0"/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dirty="0"/>
              <a:t>this</a:t>
            </a:r>
            <a:r>
              <a:rPr spc="-45" dirty="0"/>
              <a:t> </a:t>
            </a:r>
            <a:r>
              <a:rPr spc="-10" dirty="0"/>
              <a:t>page.</a:t>
            </a:r>
          </a:p>
          <a:p>
            <a:pPr marL="240029" marR="76200" indent="-227965">
              <a:lnSpc>
                <a:spcPct val="8000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Web</a:t>
            </a:r>
            <a:r>
              <a:rPr spc="-90" dirty="0"/>
              <a:t> </a:t>
            </a:r>
            <a:r>
              <a:rPr dirty="0"/>
              <a:t>application</a:t>
            </a:r>
            <a:r>
              <a:rPr spc="-75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spc="-10" dirty="0"/>
              <a:t>interactive</a:t>
            </a:r>
            <a:r>
              <a:rPr spc="-95" dirty="0"/>
              <a:t> </a:t>
            </a:r>
            <a:r>
              <a:rPr dirty="0"/>
              <a:t>for</a:t>
            </a:r>
            <a:r>
              <a:rPr spc="-85" dirty="0"/>
              <a:t> </a:t>
            </a:r>
            <a:r>
              <a:rPr dirty="0"/>
              <a:t>users.</a:t>
            </a:r>
            <a:r>
              <a:rPr spc="-75" dirty="0"/>
              <a:t> </a:t>
            </a:r>
            <a:r>
              <a:rPr dirty="0"/>
              <a:t>Web</a:t>
            </a:r>
            <a:r>
              <a:rPr spc="-75" dirty="0"/>
              <a:t> </a:t>
            </a:r>
            <a:r>
              <a:rPr dirty="0"/>
              <a:t>site</a:t>
            </a:r>
            <a:r>
              <a:rPr spc="-95" dirty="0"/>
              <a:t> </a:t>
            </a:r>
            <a:r>
              <a:rPr dirty="0"/>
              <a:t>is</a:t>
            </a:r>
            <a:r>
              <a:rPr spc="-90" dirty="0"/>
              <a:t> </a:t>
            </a:r>
            <a:r>
              <a:rPr dirty="0"/>
              <a:t>not</a:t>
            </a:r>
            <a:r>
              <a:rPr spc="-85" dirty="0"/>
              <a:t> </a:t>
            </a:r>
            <a:r>
              <a:rPr spc="-10" dirty="0"/>
              <a:t>interactive</a:t>
            </a:r>
            <a:r>
              <a:rPr spc="-90" dirty="0"/>
              <a:t> </a:t>
            </a:r>
            <a:r>
              <a:rPr spc="-25" dirty="0"/>
              <a:t>for 	</a:t>
            </a:r>
            <a:r>
              <a:rPr spc="-10" dirty="0"/>
              <a:t>users.</a:t>
            </a:r>
          </a:p>
          <a:p>
            <a:pPr marL="240029" marR="747395" indent="-227965">
              <a:lnSpc>
                <a:spcPts val="269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spc="-55" dirty="0"/>
              <a:t> </a:t>
            </a:r>
            <a:r>
              <a:rPr dirty="0"/>
              <a:t>website</a:t>
            </a:r>
            <a:r>
              <a:rPr spc="-60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group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globally</a:t>
            </a:r>
            <a:r>
              <a:rPr spc="-65" dirty="0"/>
              <a:t> </a:t>
            </a:r>
            <a:r>
              <a:rPr dirty="0"/>
              <a:t>accessible,</a:t>
            </a:r>
            <a:r>
              <a:rPr spc="-45" dirty="0"/>
              <a:t> </a:t>
            </a:r>
            <a:r>
              <a:rPr spc="-20" dirty="0"/>
              <a:t>interlinked</a:t>
            </a:r>
            <a:r>
              <a:rPr spc="-45" dirty="0"/>
              <a:t> </a:t>
            </a:r>
            <a:r>
              <a:rPr dirty="0"/>
              <a:t>web</a:t>
            </a:r>
            <a:r>
              <a:rPr spc="-65" dirty="0"/>
              <a:t> </a:t>
            </a:r>
            <a:r>
              <a:rPr spc="-10" dirty="0"/>
              <a:t>pages 	</a:t>
            </a:r>
            <a:r>
              <a:rPr dirty="0"/>
              <a:t>which</a:t>
            </a:r>
            <a:r>
              <a:rPr spc="-60" dirty="0"/>
              <a:t> </a:t>
            </a:r>
            <a:r>
              <a:rPr dirty="0"/>
              <a:t>have</a:t>
            </a:r>
            <a:r>
              <a:rPr spc="-7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single</a:t>
            </a:r>
            <a:r>
              <a:rPr spc="-65" dirty="0"/>
              <a:t> </a:t>
            </a:r>
            <a:r>
              <a:rPr dirty="0"/>
              <a:t>domain</a:t>
            </a:r>
            <a:r>
              <a:rPr spc="-65" dirty="0"/>
              <a:t> </a:t>
            </a:r>
            <a:r>
              <a:rPr spc="-10" dirty="0"/>
              <a:t>name.</a:t>
            </a:r>
          </a:p>
          <a:p>
            <a:pPr marL="240029" marR="992505" indent="-227965">
              <a:lnSpc>
                <a:spcPts val="269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Web</a:t>
            </a:r>
            <a:r>
              <a:rPr spc="-60" dirty="0"/>
              <a:t> </a:t>
            </a:r>
            <a:r>
              <a:rPr dirty="0"/>
              <a:t>application</a:t>
            </a:r>
            <a:r>
              <a:rPr spc="-40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piece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software</a:t>
            </a:r>
            <a:r>
              <a:rPr spc="-60" dirty="0"/>
              <a:t> </a:t>
            </a:r>
            <a:r>
              <a:rPr dirty="0"/>
              <a:t>which</a:t>
            </a:r>
            <a:r>
              <a:rPr spc="-40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accessed</a:t>
            </a:r>
            <a:r>
              <a:rPr spc="-65" dirty="0"/>
              <a:t> </a:t>
            </a:r>
            <a:r>
              <a:rPr dirty="0"/>
              <a:t>by</a:t>
            </a:r>
            <a:r>
              <a:rPr spc="-55" dirty="0"/>
              <a:t> </a:t>
            </a:r>
            <a:r>
              <a:rPr spc="-25" dirty="0"/>
              <a:t>the 	</a:t>
            </a:r>
            <a:r>
              <a:rPr spc="-10" dirty="0"/>
              <a:t>browser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8446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Internet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4394" rIns="0" bIns="0" rtlCol="0">
            <a:spAutoFit/>
          </a:bodyPr>
          <a:lstStyle/>
          <a:p>
            <a:pPr marL="240029" marR="5080" indent="-227965">
              <a:lnSpc>
                <a:spcPct val="89400"/>
              </a:lnSpc>
              <a:spcBef>
                <a:spcPts val="450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pc="-5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Internet,</a:t>
            </a:r>
            <a:r>
              <a:rPr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sometimes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called</a:t>
            </a:r>
            <a:r>
              <a:rPr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simply</a:t>
            </a:r>
            <a:r>
              <a:rPr spc="-5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"the</a:t>
            </a:r>
            <a:r>
              <a:rPr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Net,"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b="1" spc="-7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1F2023"/>
                </a:solidFill>
                <a:latin typeface="Arial"/>
                <a:cs typeface="Arial"/>
              </a:rPr>
              <a:t>worldwide 	</a:t>
            </a:r>
            <a:r>
              <a:rPr b="1" dirty="0">
                <a:solidFill>
                  <a:srgbClr val="1F2023"/>
                </a:solidFill>
                <a:latin typeface="Arial"/>
                <a:cs typeface="Arial"/>
              </a:rPr>
              <a:t>system</a:t>
            </a:r>
            <a:r>
              <a:rPr b="1" spc="-4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F2023"/>
                </a:solidFill>
                <a:latin typeface="Arial"/>
                <a:cs typeface="Arial"/>
              </a:rPr>
              <a:t>of</a:t>
            </a:r>
            <a:r>
              <a:rPr b="1" spc="-7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F2023"/>
                </a:solidFill>
                <a:latin typeface="Arial"/>
                <a:cs typeface="Arial"/>
              </a:rPr>
              <a:t>computer</a:t>
            </a:r>
            <a:r>
              <a:rPr b="1" spc="-5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F2023"/>
                </a:solidFill>
                <a:latin typeface="Arial"/>
                <a:cs typeface="Arial"/>
              </a:rPr>
              <a:t>networks</a:t>
            </a:r>
            <a:r>
              <a:rPr b="1" spc="-2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-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-</a:t>
            </a:r>
            <a:r>
              <a:rPr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pc="-8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network</a:t>
            </a:r>
            <a:r>
              <a:rPr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pc="-7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networks</a:t>
            </a:r>
            <a:r>
              <a:rPr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1F2023"/>
                </a:solidFill>
                <a:latin typeface="Arial MT"/>
                <a:cs typeface="Arial MT"/>
              </a:rPr>
              <a:t>in 	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which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users</a:t>
            </a:r>
            <a:r>
              <a:rPr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at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any</a:t>
            </a:r>
            <a:r>
              <a:rPr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one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computer</a:t>
            </a:r>
            <a:r>
              <a:rPr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can,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if</a:t>
            </a:r>
            <a:r>
              <a:rPr spc="-5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they</a:t>
            </a:r>
            <a:r>
              <a:rPr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have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permission, 	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get</a:t>
            </a:r>
            <a:r>
              <a:rPr spc="-9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information</a:t>
            </a:r>
            <a:r>
              <a:rPr spc="-8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from</a:t>
            </a:r>
            <a:r>
              <a:rPr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any</a:t>
            </a:r>
            <a:r>
              <a:rPr spc="-9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other</a:t>
            </a:r>
            <a:r>
              <a:rPr spc="-7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computer</a:t>
            </a:r>
            <a:r>
              <a:rPr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(and</a:t>
            </a:r>
            <a:r>
              <a:rPr spc="-7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sometimes</a:t>
            </a:r>
            <a:r>
              <a:rPr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20" dirty="0">
                <a:solidFill>
                  <a:srgbClr val="1F2023"/>
                </a:solidFill>
                <a:latin typeface="Arial MT"/>
                <a:cs typeface="Arial MT"/>
              </a:rPr>
              <a:t>talk 	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directly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users</a:t>
            </a:r>
            <a:r>
              <a:rPr spc="-5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at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other</a:t>
            </a:r>
            <a:r>
              <a:rPr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computers).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Internet</a:t>
            </a:r>
            <a:r>
              <a:rPr spc="-155" dirty="0"/>
              <a:t> </a:t>
            </a:r>
            <a:r>
              <a:rPr spc="-20" dirty="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3157"/>
            <a:ext cx="7482840" cy="4113529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Char char="•"/>
              <a:tabLst>
                <a:tab pos="240665" algn="l"/>
              </a:tabLst>
            </a:pP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Transmission</a:t>
            </a:r>
            <a:r>
              <a:rPr sz="2800" spc="-9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Control</a:t>
            </a:r>
            <a:r>
              <a:rPr sz="2800" spc="-114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z="2800" spc="-114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(TCP)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Internet</a:t>
            </a:r>
            <a:r>
              <a:rPr sz="2800" spc="-1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z="2800" spc="-9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1F2023"/>
                </a:solidFill>
                <a:latin typeface="Arial MT"/>
                <a:cs typeface="Arial MT"/>
              </a:rPr>
              <a:t>(IP)</a:t>
            </a:r>
            <a:endParaRPr sz="2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User</a:t>
            </a:r>
            <a:r>
              <a:rPr sz="2800" spc="-10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Datagram</a:t>
            </a:r>
            <a:r>
              <a:rPr sz="2800" spc="-8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z="2800" spc="-10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(UDP)</a:t>
            </a:r>
            <a:endParaRPr sz="2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Post</a:t>
            </a:r>
            <a:r>
              <a:rPr sz="2800" spc="-9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office</a:t>
            </a:r>
            <a:r>
              <a:rPr sz="2800" spc="-8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z="2800" spc="-8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(POP)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Simple</a:t>
            </a:r>
            <a:r>
              <a:rPr sz="2800" spc="-8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mail</a:t>
            </a:r>
            <a:r>
              <a:rPr sz="2800" spc="-8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transport</a:t>
            </a:r>
            <a:r>
              <a:rPr sz="2800" spc="-9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z="2800" spc="-8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(SMTP)</a:t>
            </a:r>
            <a:endParaRPr sz="2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File</a:t>
            </a:r>
            <a:r>
              <a:rPr sz="2800" spc="-1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Transfer</a:t>
            </a:r>
            <a:r>
              <a:rPr sz="2800" spc="-8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z="2800" spc="-1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(FTP)</a:t>
            </a:r>
            <a:endParaRPr sz="2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har char="•"/>
              <a:tabLst>
                <a:tab pos="240665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Hyper</a:t>
            </a:r>
            <a:r>
              <a:rPr sz="2800" spc="-15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75" dirty="0">
                <a:solidFill>
                  <a:srgbClr val="1F2023"/>
                </a:solidFill>
                <a:latin typeface="Arial MT"/>
                <a:cs typeface="Arial MT"/>
              </a:rPr>
              <a:t>Text</a:t>
            </a:r>
            <a:r>
              <a:rPr sz="2800" spc="-1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Transfer</a:t>
            </a:r>
            <a:r>
              <a:rPr sz="2800" spc="-8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z="2800" spc="-1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(HTTP)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Hyper</a:t>
            </a:r>
            <a:r>
              <a:rPr sz="2800" spc="-1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75" dirty="0">
                <a:solidFill>
                  <a:srgbClr val="1F2023"/>
                </a:solidFill>
                <a:latin typeface="Arial MT"/>
                <a:cs typeface="Arial MT"/>
              </a:rPr>
              <a:t>Text</a:t>
            </a:r>
            <a:r>
              <a:rPr sz="2800" spc="-114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Transfer</a:t>
            </a:r>
            <a:r>
              <a:rPr sz="2800" spc="-9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z="2800" spc="-9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Secure</a:t>
            </a:r>
            <a:r>
              <a:rPr sz="2800" spc="-1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(HTTPS)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31012"/>
            <a:ext cx="10186035" cy="32816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207645">
              <a:lnSpc>
                <a:spcPct val="100000"/>
              </a:lnSpc>
              <a:spcBef>
                <a:spcPts val="105"/>
              </a:spcBef>
              <a:buSzPct val="97727"/>
              <a:buChar char="•"/>
              <a:tabLst>
                <a:tab pos="207645" algn="l"/>
              </a:tabLst>
            </a:pPr>
            <a:r>
              <a:rPr sz="4400" dirty="0">
                <a:solidFill>
                  <a:srgbClr val="1F2023"/>
                </a:solidFill>
                <a:latin typeface="Arial MT"/>
                <a:cs typeface="Arial MT"/>
              </a:rPr>
              <a:t>Transmission</a:t>
            </a:r>
            <a:r>
              <a:rPr sz="4400" spc="-1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1F2023"/>
                </a:solidFill>
                <a:latin typeface="Arial MT"/>
                <a:cs typeface="Arial MT"/>
              </a:rPr>
              <a:t>Control</a:t>
            </a:r>
            <a:r>
              <a:rPr sz="4400" spc="-1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z="4400" spc="-8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400" spc="-10" dirty="0">
                <a:solidFill>
                  <a:srgbClr val="1F2023"/>
                </a:solidFill>
                <a:latin typeface="Arial MT"/>
                <a:cs typeface="Arial MT"/>
              </a:rPr>
              <a:t>(TCP)</a:t>
            </a:r>
            <a:endParaRPr sz="4400">
              <a:latin typeface="Arial MT"/>
              <a:cs typeface="Arial MT"/>
            </a:endParaRPr>
          </a:p>
          <a:p>
            <a:pPr marL="240029" marR="5080" indent="-227965">
              <a:lnSpc>
                <a:spcPct val="90000"/>
              </a:lnSpc>
              <a:spcBef>
                <a:spcPts val="4305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TCP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stands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Transmission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Control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Protocol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a 	</a:t>
            </a:r>
            <a:r>
              <a:rPr sz="2800" dirty="0">
                <a:latin typeface="Arial MT"/>
                <a:cs typeface="Arial MT"/>
              </a:rPr>
              <a:t>communications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standard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enables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application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programs 	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computing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devices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exchange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messages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network.</a:t>
            </a:r>
            <a:endParaRPr sz="2800">
              <a:latin typeface="Arial MT"/>
              <a:cs typeface="Arial MT"/>
            </a:endParaRPr>
          </a:p>
          <a:p>
            <a:pPr marL="240029" marR="342900" indent="-227965">
              <a:lnSpc>
                <a:spcPts val="2950"/>
              </a:lnSpc>
              <a:spcBef>
                <a:spcPts val="110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designed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send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packets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across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internet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ensure 	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successful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delivery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messages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networks.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3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Internet Protocol </a:t>
            </a:r>
            <a:r>
              <a:rPr spc="-20" dirty="0">
                <a:solidFill>
                  <a:srgbClr val="1F2023"/>
                </a:solidFill>
                <a:latin typeface="Arial MT"/>
                <a:cs typeface="Arial MT"/>
              </a:rPr>
              <a:t>(IP)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210"/>
            <a:ext cx="9946640" cy="210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 algn="just">
              <a:lnSpc>
                <a:spcPts val="3020"/>
              </a:lnSpc>
              <a:spcBef>
                <a:spcPts val="48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Internet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Protocol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(IP)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method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sending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from 	</a:t>
            </a:r>
            <a:r>
              <a:rPr sz="2800" dirty="0">
                <a:latin typeface="Arial MT"/>
                <a:cs typeface="Arial MT"/>
              </a:rPr>
              <a:t>one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device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another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across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internet.</a:t>
            </a:r>
            <a:endParaRPr sz="2800">
              <a:latin typeface="Arial MT"/>
              <a:cs typeface="Arial MT"/>
            </a:endParaRPr>
          </a:p>
          <a:p>
            <a:pPr marL="240029" marR="61594" indent="-227965" algn="just">
              <a:lnSpc>
                <a:spcPct val="889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Every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device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IP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address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uniquely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identifies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	</a:t>
            </a:r>
            <a:r>
              <a:rPr sz="2800" dirty="0">
                <a:latin typeface="Arial MT"/>
                <a:cs typeface="Arial MT"/>
              </a:rPr>
              <a:t>enables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communicate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exchange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other 	</a:t>
            </a:r>
            <a:r>
              <a:rPr sz="2800" dirty="0">
                <a:latin typeface="Arial MT"/>
                <a:cs typeface="Arial MT"/>
              </a:rPr>
              <a:t>devices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connected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internet.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3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User</a:t>
            </a:r>
            <a:r>
              <a:rPr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Datagram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(UDP)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854" rIns="0" bIns="0" rtlCol="0">
            <a:spAutoFit/>
          </a:bodyPr>
          <a:lstStyle/>
          <a:p>
            <a:pPr marL="240029" marR="5080" indent="-227965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rgbClr val="1F2023"/>
                </a:solidFill>
                <a:latin typeface="Arial"/>
                <a:cs typeface="Arial"/>
              </a:rPr>
              <a:t>User</a:t>
            </a:r>
            <a:r>
              <a:rPr b="1" spc="-9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F2023"/>
                </a:solidFill>
                <a:latin typeface="Arial"/>
                <a:cs typeface="Arial"/>
              </a:rPr>
              <a:t>Datagram</a:t>
            </a:r>
            <a:r>
              <a:rPr b="1" spc="-7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1F2023"/>
                </a:solidFill>
                <a:latin typeface="Arial"/>
                <a:cs typeface="Arial"/>
              </a:rPr>
              <a:t>Protocol</a:t>
            </a:r>
            <a:r>
              <a:rPr b="1" spc="-6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(UDP)</a:t>
            </a:r>
            <a:r>
              <a:rPr spc="-8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pc="-9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pc="-9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communications</a:t>
            </a:r>
            <a:r>
              <a:rPr spc="-8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protocol 	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that</a:t>
            </a:r>
            <a:r>
              <a:rPr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pc="-7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primarily</a:t>
            </a:r>
            <a:r>
              <a:rPr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used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establish</a:t>
            </a:r>
            <a:r>
              <a:rPr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low-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latency</a:t>
            </a:r>
            <a:r>
              <a:rPr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loss-tolerating 	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connections</a:t>
            </a:r>
            <a:r>
              <a:rPr spc="-9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between</a:t>
            </a:r>
            <a:r>
              <a:rPr spc="-9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applications</a:t>
            </a:r>
            <a:r>
              <a:rPr spc="-9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on</a:t>
            </a:r>
            <a:r>
              <a:rPr spc="-9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pc="-9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internet.</a:t>
            </a:r>
          </a:p>
          <a:p>
            <a:pPr marL="240029" marR="299085" indent="-227965">
              <a:lnSpc>
                <a:spcPts val="2950"/>
              </a:lnSpc>
              <a:spcBef>
                <a:spcPts val="1100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UDP</a:t>
            </a:r>
            <a:r>
              <a:rPr spc="-1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speeds</a:t>
            </a:r>
            <a:r>
              <a:rPr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up</a:t>
            </a:r>
            <a:r>
              <a:rPr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transmissions</a:t>
            </a:r>
            <a:r>
              <a:rPr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by</a:t>
            </a:r>
            <a:r>
              <a:rPr spc="-7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enabling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transfer</a:t>
            </a:r>
            <a:r>
              <a:rPr spc="-7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pc="-8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20" dirty="0">
                <a:solidFill>
                  <a:srgbClr val="1F2023"/>
                </a:solidFill>
                <a:latin typeface="Arial MT"/>
                <a:cs typeface="Arial MT"/>
              </a:rPr>
              <a:t>data 	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before</a:t>
            </a:r>
            <a:r>
              <a:rPr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an</a:t>
            </a:r>
            <a:r>
              <a:rPr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agreement</a:t>
            </a:r>
            <a:r>
              <a:rPr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provided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by</a:t>
            </a:r>
            <a:r>
              <a:rPr spc="-5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receiving</a:t>
            </a:r>
            <a:r>
              <a:rPr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party.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Simple</a:t>
            </a:r>
            <a:r>
              <a:rPr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mail</a:t>
            </a:r>
            <a:r>
              <a:rPr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transport</a:t>
            </a:r>
            <a:r>
              <a:rPr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Protocol (SMTP)</a:t>
            </a:r>
            <a:r>
              <a:rPr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50" dirty="0">
                <a:solidFill>
                  <a:srgbClr val="1F2023"/>
                </a:solidFill>
                <a:latin typeface="Arial MT"/>
                <a:cs typeface="Arial MT"/>
              </a:rPr>
              <a:t>/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Post</a:t>
            </a:r>
            <a:r>
              <a:rPr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office</a:t>
            </a:r>
            <a:r>
              <a:rPr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(POP)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230485" cy="21164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office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protocol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(POP)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commonly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message 	</a:t>
            </a:r>
            <a:r>
              <a:rPr sz="2800" dirty="0">
                <a:latin typeface="Calibri"/>
                <a:cs typeface="Calibri"/>
              </a:rPr>
              <a:t>request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protocol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world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transferring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messages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	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e-</a:t>
            </a:r>
            <a:r>
              <a:rPr sz="2800" dirty="0">
                <a:latin typeface="Calibri"/>
                <a:cs typeface="Calibri"/>
              </a:rPr>
              <a:t>mail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e-</a:t>
            </a:r>
            <a:r>
              <a:rPr sz="2800" dirty="0">
                <a:latin typeface="Calibri"/>
                <a:cs typeface="Calibri"/>
              </a:rPr>
              <a:t>mail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client.</a:t>
            </a:r>
            <a:endParaRPr sz="2800">
              <a:latin typeface="Calibri"/>
              <a:cs typeface="Calibri"/>
            </a:endParaRPr>
          </a:p>
          <a:p>
            <a:pPr marL="240029" marR="681990" indent="-227965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Transfer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Protocol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(SMTP)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standard 	communication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protocol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electronic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transmission.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2398" y="4298137"/>
            <a:ext cx="4110560" cy="21546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3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File</a:t>
            </a:r>
            <a:r>
              <a:rPr spc="-1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Transfer</a:t>
            </a:r>
            <a:r>
              <a:rPr spc="-7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F2023"/>
                </a:solidFill>
                <a:latin typeface="Arial MT"/>
                <a:cs typeface="Arial MT"/>
              </a:rPr>
              <a:t>(FTP)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246995" cy="21164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Transfer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Protocol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(FTP)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standard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protocol 	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transfer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client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0" dirty="0">
                <a:latin typeface="Calibri"/>
                <a:cs typeface="Calibri"/>
              </a:rPr>
              <a:t> a 	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network.</a:t>
            </a:r>
            <a:endParaRPr sz="2800">
              <a:latin typeface="Calibri"/>
              <a:cs typeface="Calibri"/>
            </a:endParaRPr>
          </a:p>
          <a:p>
            <a:pPr marL="240029" marR="777875" indent="-227965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FTP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built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client–server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separate 	control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connections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client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4" rIns="0" bIns="0" rtlCol="0">
            <a:spAutoFit/>
          </a:bodyPr>
          <a:lstStyle/>
          <a:p>
            <a:pPr marL="12700">
              <a:lnSpc>
                <a:spcPts val="4505"/>
              </a:lnSpc>
              <a:spcBef>
                <a:spcPts val="95"/>
              </a:spcBef>
            </a:pPr>
            <a:r>
              <a:rPr sz="4000" dirty="0">
                <a:solidFill>
                  <a:srgbClr val="1F2023"/>
                </a:solidFill>
                <a:latin typeface="Arial MT"/>
                <a:cs typeface="Arial MT"/>
              </a:rPr>
              <a:t>Hyper</a:t>
            </a:r>
            <a:r>
              <a:rPr sz="4000" spc="-2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000" spc="-105" dirty="0">
                <a:solidFill>
                  <a:srgbClr val="1F2023"/>
                </a:solidFill>
                <a:latin typeface="Arial MT"/>
                <a:cs typeface="Arial MT"/>
              </a:rPr>
              <a:t>Text</a:t>
            </a:r>
            <a:r>
              <a:rPr sz="4000" spc="-17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F2023"/>
                </a:solidFill>
                <a:latin typeface="Arial MT"/>
                <a:cs typeface="Arial MT"/>
              </a:rPr>
              <a:t>Transfer</a:t>
            </a:r>
            <a:r>
              <a:rPr sz="4000" spc="-1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z="4000" spc="-1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F2023"/>
                </a:solidFill>
                <a:latin typeface="Arial MT"/>
                <a:cs typeface="Arial MT"/>
              </a:rPr>
              <a:t>(HTTP)</a:t>
            </a:r>
            <a:r>
              <a:rPr sz="4000" spc="-1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000" spc="-50" dirty="0">
                <a:solidFill>
                  <a:srgbClr val="1F2023"/>
                </a:solidFill>
                <a:latin typeface="Arial MT"/>
                <a:cs typeface="Arial MT"/>
              </a:rPr>
              <a:t>/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ts val="4505"/>
              </a:lnSpc>
            </a:pPr>
            <a:r>
              <a:rPr sz="4000" dirty="0">
                <a:solidFill>
                  <a:srgbClr val="1F2023"/>
                </a:solidFill>
                <a:latin typeface="Arial MT"/>
                <a:cs typeface="Arial MT"/>
              </a:rPr>
              <a:t>Hyper</a:t>
            </a:r>
            <a:r>
              <a:rPr sz="4000" spc="-2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000" spc="-105" dirty="0">
                <a:solidFill>
                  <a:srgbClr val="1F2023"/>
                </a:solidFill>
                <a:latin typeface="Arial MT"/>
                <a:cs typeface="Arial MT"/>
              </a:rPr>
              <a:t>Text</a:t>
            </a:r>
            <a:r>
              <a:rPr sz="4000" spc="-17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F2023"/>
                </a:solidFill>
                <a:latin typeface="Arial MT"/>
                <a:cs typeface="Arial MT"/>
              </a:rPr>
              <a:t>Transfer</a:t>
            </a:r>
            <a:r>
              <a:rPr sz="4000" spc="-1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F2023"/>
                </a:solidFill>
                <a:latin typeface="Arial MT"/>
                <a:cs typeface="Arial MT"/>
              </a:rPr>
              <a:t>Protocol</a:t>
            </a:r>
            <a:r>
              <a:rPr sz="4000" spc="-1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F2023"/>
                </a:solidFill>
                <a:latin typeface="Arial MT"/>
                <a:cs typeface="Arial MT"/>
              </a:rPr>
              <a:t>Secure</a:t>
            </a:r>
            <a:r>
              <a:rPr sz="4000" spc="-1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1F2023"/>
                </a:solidFill>
                <a:latin typeface="Arial MT"/>
                <a:cs typeface="Arial MT"/>
              </a:rPr>
              <a:t>(HTTPS)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029" marR="78105" indent="-227965">
              <a:lnSpc>
                <a:spcPct val="8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HTTP</a:t>
            </a:r>
            <a:r>
              <a:rPr spc="-60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" dirty="0"/>
              <a:t>protocol</a:t>
            </a:r>
            <a:r>
              <a:rPr spc="-6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spc="-10" dirty="0"/>
              <a:t>fetching</a:t>
            </a:r>
            <a:r>
              <a:rPr spc="-55" dirty="0"/>
              <a:t> </a:t>
            </a:r>
            <a:r>
              <a:rPr spc="-10" dirty="0"/>
              <a:t>resources</a:t>
            </a:r>
            <a:r>
              <a:rPr spc="-45" dirty="0"/>
              <a:t> </a:t>
            </a:r>
            <a:r>
              <a:rPr dirty="0"/>
              <a:t>such</a:t>
            </a:r>
            <a:r>
              <a:rPr spc="-50" dirty="0"/>
              <a:t> </a:t>
            </a:r>
            <a:r>
              <a:rPr dirty="0"/>
              <a:t>as</a:t>
            </a:r>
            <a:r>
              <a:rPr spc="-55" dirty="0"/>
              <a:t> </a:t>
            </a:r>
            <a:r>
              <a:rPr dirty="0"/>
              <a:t>HTML</a:t>
            </a:r>
            <a:r>
              <a:rPr spc="-55" dirty="0"/>
              <a:t> </a:t>
            </a:r>
            <a:r>
              <a:rPr spc="-10" dirty="0"/>
              <a:t>documents.</a:t>
            </a:r>
            <a:r>
              <a:rPr spc="-30" dirty="0"/>
              <a:t> </a:t>
            </a:r>
            <a:r>
              <a:rPr spc="-25" dirty="0"/>
              <a:t>It 	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foundation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any</a:t>
            </a:r>
            <a:r>
              <a:rPr spc="-60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exchange</a:t>
            </a:r>
            <a:r>
              <a:rPr spc="-55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Web</a:t>
            </a:r>
            <a:r>
              <a:rPr spc="-4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it</a:t>
            </a:r>
            <a:r>
              <a:rPr spc="-6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client- 	</a:t>
            </a:r>
            <a:r>
              <a:rPr dirty="0"/>
              <a:t>server</a:t>
            </a:r>
            <a:r>
              <a:rPr spc="-60" dirty="0"/>
              <a:t> </a:t>
            </a:r>
            <a:r>
              <a:rPr spc="-10" dirty="0"/>
              <a:t>protocol,</a:t>
            </a:r>
            <a:r>
              <a:rPr spc="-60" dirty="0"/>
              <a:t> </a:t>
            </a:r>
            <a:r>
              <a:rPr dirty="0"/>
              <a:t>which</a:t>
            </a:r>
            <a:r>
              <a:rPr spc="-45" dirty="0"/>
              <a:t> </a:t>
            </a:r>
            <a:r>
              <a:rPr dirty="0"/>
              <a:t>means</a:t>
            </a:r>
            <a:r>
              <a:rPr spc="-65" dirty="0"/>
              <a:t> </a:t>
            </a:r>
            <a:r>
              <a:rPr spc="-10" dirty="0"/>
              <a:t>requests</a:t>
            </a:r>
            <a:r>
              <a:rPr spc="-35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dirty="0"/>
              <a:t>initiated</a:t>
            </a:r>
            <a:r>
              <a:rPr spc="-65" dirty="0"/>
              <a:t> </a:t>
            </a:r>
            <a:r>
              <a:rPr dirty="0"/>
              <a:t>by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recipient, 	</a:t>
            </a:r>
            <a:r>
              <a:rPr dirty="0"/>
              <a:t>usually</a:t>
            </a:r>
            <a:r>
              <a:rPr spc="-5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Web</a:t>
            </a:r>
            <a:r>
              <a:rPr spc="-60" dirty="0"/>
              <a:t> </a:t>
            </a:r>
            <a:r>
              <a:rPr spc="-10" dirty="0"/>
              <a:t>browser.</a:t>
            </a:r>
          </a:p>
          <a:p>
            <a:pPr marL="240029" marR="5080" indent="-227965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/>
              <a:t>Hypertext</a:t>
            </a:r>
            <a:r>
              <a:rPr spc="-50" dirty="0"/>
              <a:t> </a:t>
            </a:r>
            <a:r>
              <a:rPr spc="-35" dirty="0"/>
              <a:t>Transfer</a:t>
            </a:r>
            <a:r>
              <a:rPr spc="-55" dirty="0"/>
              <a:t> </a:t>
            </a:r>
            <a:r>
              <a:rPr spc="-10" dirty="0"/>
              <a:t>Protocol</a:t>
            </a:r>
            <a:r>
              <a:rPr spc="-55" dirty="0"/>
              <a:t> </a:t>
            </a:r>
            <a:r>
              <a:rPr dirty="0"/>
              <a:t>(HTTP)</a:t>
            </a:r>
            <a:r>
              <a:rPr spc="-4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an</a:t>
            </a:r>
            <a:r>
              <a:rPr spc="-60" dirty="0"/>
              <a:t> </a:t>
            </a:r>
            <a:r>
              <a:rPr spc="-25" dirty="0"/>
              <a:t>application-</a:t>
            </a:r>
            <a:r>
              <a:rPr dirty="0"/>
              <a:t>layer</a:t>
            </a:r>
            <a:r>
              <a:rPr spc="-30" dirty="0"/>
              <a:t> </a:t>
            </a:r>
            <a:r>
              <a:rPr spc="-10" dirty="0"/>
              <a:t>protocol</a:t>
            </a:r>
            <a:r>
              <a:rPr spc="-55" dirty="0"/>
              <a:t> </a:t>
            </a:r>
            <a:r>
              <a:rPr spc="-25" dirty="0"/>
              <a:t>for 	</a:t>
            </a:r>
            <a:r>
              <a:rPr spc="-10" dirty="0"/>
              <a:t>transmitting</a:t>
            </a:r>
            <a:r>
              <a:rPr spc="-85" dirty="0"/>
              <a:t> </a:t>
            </a:r>
            <a:r>
              <a:rPr spc="-10" dirty="0"/>
              <a:t>hypermedia</a:t>
            </a:r>
            <a:r>
              <a:rPr spc="-90" dirty="0"/>
              <a:t> </a:t>
            </a:r>
            <a:r>
              <a:rPr dirty="0"/>
              <a:t>documents,</a:t>
            </a:r>
            <a:r>
              <a:rPr spc="-75" dirty="0"/>
              <a:t> </a:t>
            </a:r>
            <a:r>
              <a:rPr dirty="0"/>
              <a:t>such</a:t>
            </a:r>
            <a:r>
              <a:rPr spc="-90" dirty="0"/>
              <a:t> </a:t>
            </a:r>
            <a:r>
              <a:rPr dirty="0"/>
              <a:t>as</a:t>
            </a:r>
            <a:r>
              <a:rPr spc="-95" dirty="0"/>
              <a:t> </a:t>
            </a:r>
            <a:r>
              <a:rPr spc="-10" dirty="0"/>
              <a:t>HTML.</a:t>
            </a:r>
          </a:p>
          <a:p>
            <a:pPr marL="239395" marR="642620" indent="-227329">
              <a:lnSpc>
                <a:spcPts val="269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Hypertext</a:t>
            </a:r>
            <a:r>
              <a:rPr spc="-85" dirty="0"/>
              <a:t> </a:t>
            </a:r>
            <a:r>
              <a:rPr spc="-35" dirty="0"/>
              <a:t>Transfer</a:t>
            </a:r>
            <a:r>
              <a:rPr spc="-90" dirty="0"/>
              <a:t> </a:t>
            </a:r>
            <a:r>
              <a:rPr dirty="0"/>
              <a:t>Protocol</a:t>
            </a:r>
            <a:r>
              <a:rPr spc="-90" dirty="0"/>
              <a:t> </a:t>
            </a:r>
            <a:r>
              <a:rPr dirty="0"/>
              <a:t>Secure</a:t>
            </a:r>
            <a:r>
              <a:rPr spc="-85" dirty="0"/>
              <a:t> </a:t>
            </a:r>
            <a:r>
              <a:rPr dirty="0"/>
              <a:t>(HTTPS)</a:t>
            </a:r>
            <a:r>
              <a:rPr spc="-85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an</a:t>
            </a:r>
            <a:r>
              <a:rPr spc="-95" dirty="0"/>
              <a:t> </a:t>
            </a:r>
            <a:r>
              <a:rPr dirty="0"/>
              <a:t>extension</a:t>
            </a:r>
            <a:r>
              <a:rPr spc="-8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25" dirty="0"/>
              <a:t>the 	</a:t>
            </a:r>
            <a:r>
              <a:rPr spc="-10" dirty="0"/>
              <a:t>Hypertext</a:t>
            </a:r>
            <a:r>
              <a:rPr spc="-65" dirty="0"/>
              <a:t> </a:t>
            </a:r>
            <a:r>
              <a:rPr spc="-35" dirty="0"/>
              <a:t>Transfer</a:t>
            </a:r>
            <a:r>
              <a:rPr spc="-60" dirty="0"/>
              <a:t> </a:t>
            </a:r>
            <a:r>
              <a:rPr spc="-10" dirty="0"/>
              <a:t>Protocol</a:t>
            </a:r>
            <a:r>
              <a:rPr spc="-65" dirty="0"/>
              <a:t> </a:t>
            </a:r>
            <a:r>
              <a:rPr dirty="0"/>
              <a:t>(HTTP).</a:t>
            </a:r>
            <a:r>
              <a:rPr spc="-60" dirty="0"/>
              <a:t> </a:t>
            </a:r>
            <a:r>
              <a:rPr dirty="0"/>
              <a:t>It</a:t>
            </a:r>
            <a:r>
              <a:rPr spc="-70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used</a:t>
            </a:r>
            <a:r>
              <a:rPr spc="-60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spc="-10" dirty="0"/>
              <a:t>secure 	communication</a:t>
            </a:r>
            <a:r>
              <a:rPr spc="-45" dirty="0"/>
              <a:t> </a:t>
            </a:r>
            <a:r>
              <a:rPr dirty="0"/>
              <a:t>over</a:t>
            </a:r>
            <a:r>
              <a:rPr spc="-7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computer.</a:t>
            </a:r>
          </a:p>
          <a:p>
            <a:pPr marL="240029" marR="330200" indent="-227965">
              <a:lnSpc>
                <a:spcPts val="269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In</a:t>
            </a:r>
            <a:r>
              <a:rPr spc="-85" dirty="0"/>
              <a:t> </a:t>
            </a:r>
            <a:r>
              <a:rPr dirty="0"/>
              <a:t>HTTPS,</a:t>
            </a:r>
            <a:r>
              <a:rPr spc="-6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communication</a:t>
            </a:r>
            <a:r>
              <a:rPr spc="-55" dirty="0"/>
              <a:t> </a:t>
            </a:r>
            <a:r>
              <a:rPr spc="-10" dirty="0"/>
              <a:t>protocol</a:t>
            </a:r>
            <a:r>
              <a:rPr spc="-65" dirty="0"/>
              <a:t> </a:t>
            </a:r>
            <a:r>
              <a:rPr dirty="0"/>
              <a:t>is</a:t>
            </a:r>
            <a:r>
              <a:rPr spc="-80" dirty="0"/>
              <a:t> </a:t>
            </a:r>
            <a:r>
              <a:rPr dirty="0"/>
              <a:t>encrypted</a:t>
            </a:r>
            <a:r>
              <a:rPr spc="-50" dirty="0"/>
              <a:t> </a:t>
            </a:r>
            <a:r>
              <a:rPr dirty="0"/>
              <a:t>using</a:t>
            </a:r>
            <a:r>
              <a:rPr spc="-60" dirty="0"/>
              <a:t> </a:t>
            </a:r>
            <a:r>
              <a:rPr spc="-10" dirty="0"/>
              <a:t>Transport 	</a:t>
            </a:r>
            <a:r>
              <a:rPr dirty="0"/>
              <a:t>Layer</a:t>
            </a:r>
            <a:r>
              <a:rPr spc="-100" dirty="0"/>
              <a:t> </a:t>
            </a:r>
            <a:r>
              <a:rPr dirty="0"/>
              <a:t>Security</a:t>
            </a:r>
            <a:r>
              <a:rPr spc="-75" dirty="0"/>
              <a:t> </a:t>
            </a:r>
            <a:r>
              <a:rPr spc="-45" dirty="0"/>
              <a:t>or,</a:t>
            </a:r>
            <a:r>
              <a:rPr spc="-80" dirty="0"/>
              <a:t> </a:t>
            </a:r>
            <a:r>
              <a:rPr spc="-25" dirty="0"/>
              <a:t>formerly,</a:t>
            </a:r>
            <a:r>
              <a:rPr spc="-80" dirty="0"/>
              <a:t> </a:t>
            </a:r>
            <a:r>
              <a:rPr dirty="0"/>
              <a:t>Secure</a:t>
            </a:r>
            <a:r>
              <a:rPr spc="-75" dirty="0"/>
              <a:t> </a:t>
            </a:r>
            <a:r>
              <a:rPr spc="-10" dirty="0"/>
              <a:t>Sockets</a:t>
            </a:r>
            <a:r>
              <a:rPr spc="-90" dirty="0"/>
              <a:t> </a:t>
            </a:r>
            <a:r>
              <a:rPr spc="-10" dirty="0"/>
              <a:t>Layer.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URL</a:t>
            </a:r>
            <a:r>
              <a:rPr spc="-100" dirty="0"/>
              <a:t> </a:t>
            </a:r>
            <a:r>
              <a:rPr dirty="0"/>
              <a:t>(Uniform</a:t>
            </a:r>
            <a:r>
              <a:rPr spc="-125" dirty="0"/>
              <a:t> </a:t>
            </a:r>
            <a:r>
              <a:rPr dirty="0"/>
              <a:t>Resource</a:t>
            </a:r>
            <a:r>
              <a:rPr spc="-95" dirty="0"/>
              <a:t> </a:t>
            </a:r>
            <a:r>
              <a:rPr spc="-10" dirty="0"/>
              <a:t>Locator)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146665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Uniform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Locator,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colloquially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spc="-10" dirty="0">
                <a:latin typeface="Calibri"/>
                <a:cs typeface="Calibri"/>
              </a:rPr>
              <a:t>reference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resource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location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 	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mechanism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retrieving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034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Web</a:t>
            </a:r>
            <a:r>
              <a:rPr spc="-160" dirty="0"/>
              <a:t> </a:t>
            </a:r>
            <a:r>
              <a:rPr spc="-10" dirty="0"/>
              <a:t>Browser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789160" cy="21164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browser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(commonly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just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browser)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 	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websites.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requests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web</a:t>
            </a:r>
            <a:r>
              <a:rPr sz="2800" spc="700" dirty="0">
                <a:latin typeface="Calibri"/>
                <a:cs typeface="Calibri"/>
              </a:rPr>
              <a:t> 	</a:t>
            </a:r>
            <a:r>
              <a:rPr sz="2800" dirty="0">
                <a:latin typeface="Calibri"/>
                <a:cs typeface="Calibri"/>
              </a:rPr>
              <a:t>page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particular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website,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browser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retrieves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	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renders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user's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screen.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Examples: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4939" y="3930396"/>
            <a:ext cx="9067420" cy="23629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ISP</a:t>
            </a:r>
            <a:r>
              <a:rPr spc="-75" dirty="0"/>
              <a:t> </a:t>
            </a:r>
            <a:r>
              <a:rPr dirty="0"/>
              <a:t>(Internet</a:t>
            </a:r>
            <a:r>
              <a:rPr spc="-70" dirty="0"/>
              <a:t> </a:t>
            </a:r>
            <a:r>
              <a:rPr dirty="0"/>
              <a:t>Service</a:t>
            </a:r>
            <a:r>
              <a:rPr spc="-80" dirty="0"/>
              <a:t> </a:t>
            </a:r>
            <a:r>
              <a:rPr spc="-10" dirty="0"/>
              <a:t>Provider)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986010" cy="19881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Service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(ISP)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company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PTCL,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AT&amp;T, 	</a:t>
            </a:r>
            <a:r>
              <a:rPr sz="2800" spc="-20" dirty="0">
                <a:latin typeface="Calibri"/>
                <a:cs typeface="Calibri"/>
              </a:rPr>
              <a:t>Verizon,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Comcast,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Spectrum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companies,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families,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mobile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users.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ISPs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fiber-optics, 	</a:t>
            </a:r>
            <a:r>
              <a:rPr sz="2800" dirty="0">
                <a:latin typeface="Calibri"/>
                <a:cs typeface="Calibri"/>
              </a:rPr>
              <a:t>satellite,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copper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wire,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customers.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Hyperlink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707880" cy="23691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computing,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hyperlink,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digital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reference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guided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clicking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tapping.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Examples: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Wiki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</a:tabLst>
            </a:pPr>
            <a:r>
              <a:rPr sz="2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Google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DNS</a:t>
            </a:r>
            <a:r>
              <a:rPr spc="-45" dirty="0"/>
              <a:t> </a:t>
            </a:r>
            <a:r>
              <a:rPr dirty="0"/>
              <a:t>(Domain</a:t>
            </a:r>
            <a:r>
              <a:rPr spc="-40" dirty="0"/>
              <a:t> </a:t>
            </a:r>
            <a:r>
              <a:rPr dirty="0"/>
              <a:t>Name</a:t>
            </a:r>
            <a:r>
              <a:rPr spc="-40" dirty="0"/>
              <a:t> </a:t>
            </a:r>
            <a:r>
              <a:rPr spc="-10" dirty="0"/>
              <a:t>System</a:t>
            </a:r>
            <a:r>
              <a:rPr spc="-114" dirty="0"/>
              <a:t> </a:t>
            </a:r>
            <a:r>
              <a:rPr spc="-10" dirty="0"/>
              <a:t>(DNS)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288270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DNS,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translates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human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readable</a:t>
            </a:r>
            <a:r>
              <a:rPr sz="2800" spc="700" dirty="0">
                <a:latin typeface="Calibri"/>
                <a:cs typeface="Calibri"/>
              </a:rPr>
              <a:t> 	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(for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example,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  <a:hlinkClick r:id="rId2"/>
              </a:rPr>
              <a:t>www.amazon.com)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machine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readable 	</a:t>
            </a:r>
            <a:r>
              <a:rPr sz="2800" dirty="0">
                <a:latin typeface="Calibri"/>
                <a:cs typeface="Calibri"/>
              </a:rPr>
              <a:t>IP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(for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example,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192.0.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2.44).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8347" y="3163823"/>
            <a:ext cx="3956418" cy="31577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Web</a:t>
            </a:r>
            <a:r>
              <a:rPr spc="-170" dirty="0"/>
              <a:t> </a:t>
            </a:r>
            <a:r>
              <a:rPr spc="-10" dirty="0"/>
              <a:t>Generations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9450" y="1391411"/>
            <a:ext cx="8633592" cy="506128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Web</a:t>
            </a:r>
            <a:r>
              <a:rPr spc="-170" dirty="0"/>
              <a:t> </a:t>
            </a:r>
            <a:r>
              <a:rPr spc="-10" dirty="0"/>
              <a:t>Generations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9795" y="1825751"/>
            <a:ext cx="6312408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6939" y="308228"/>
            <a:ext cx="10358120" cy="677108"/>
          </a:xfrm>
        </p:spPr>
        <p:txBody>
          <a:bodyPr/>
          <a:lstStyle/>
          <a:p>
            <a:r>
              <a:rPr lang="en-US" smtClean="0"/>
              <a:t>What is a Web site?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390" y="1752600"/>
            <a:ext cx="10282555" cy="2936188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A collection of related documents available on the Web</a:t>
            </a:r>
          </a:p>
          <a:p>
            <a:pPr>
              <a:lnSpc>
                <a:spcPct val="90000"/>
              </a:lnSpc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dirty="0"/>
              <a:t>The first portion of the URLs in the Web pages of a Web site is the same e.g.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/>
              <a:t>http://www.riphahfsd.edu.pk/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/>
              <a:t>http://www.riphahfsd.edu.pk/uzair</a:t>
            </a:r>
          </a:p>
          <a:p>
            <a:pPr lvl="1">
              <a:lnSpc>
                <a:spcPct val="90000"/>
              </a:lnSpc>
              <a:defRPr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dirty="0"/>
              <a:t>	Are the URLs of three distinct Web pages on a single Web site</a:t>
            </a:r>
          </a:p>
        </p:txBody>
      </p:sp>
    </p:spTree>
    <p:extLst>
      <p:ext uri="{BB962C8B-B14F-4D97-AF65-F5344CB8AC3E}">
        <p14:creationId xmlns:p14="http://schemas.microsoft.com/office/powerpoint/2010/main" val="285558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677108"/>
          </a:xfrm>
        </p:spPr>
        <p:txBody>
          <a:bodyPr/>
          <a:lstStyle/>
          <a:p>
            <a:r>
              <a:rPr lang="en-US" smtClean="0"/>
              <a:t>What is a Web Search Engine?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371601"/>
            <a:ext cx="8229600" cy="4739759"/>
          </a:xfrm>
        </p:spPr>
        <p:txBody>
          <a:bodyPr/>
          <a:lstStyle/>
          <a:p>
            <a:r>
              <a:rPr lang="en-US"/>
              <a:t>Search engines </a:t>
            </a:r>
            <a:r>
              <a:rPr lang="en-US">
                <a:solidFill>
                  <a:schemeClr val="tx2"/>
                </a:solidFill>
              </a:rPr>
              <a:t>continuously scan</a:t>
            </a:r>
            <a:r>
              <a:rPr lang="en-US"/>
              <a:t> the Web and </a:t>
            </a:r>
            <a:r>
              <a:rPr lang="en-US">
                <a:solidFill>
                  <a:schemeClr val="tx2"/>
                </a:solidFill>
              </a:rPr>
              <a:t>compile a list</a:t>
            </a:r>
            <a:r>
              <a:rPr lang="en-US"/>
              <a:t> of all the Web pages that they find</a:t>
            </a:r>
          </a:p>
          <a:p>
            <a:endParaRPr lang="en-US"/>
          </a:p>
          <a:p>
            <a:r>
              <a:rPr lang="en-US"/>
              <a:t>The search engine with the </a:t>
            </a:r>
            <a:r>
              <a:rPr lang="en-US">
                <a:solidFill>
                  <a:schemeClr val="tx2"/>
                </a:solidFill>
              </a:rPr>
              <a:t>largest</a:t>
            </a:r>
            <a:r>
              <a:rPr lang="en-US"/>
              <a:t> such list (or index) is </a:t>
            </a:r>
            <a:r>
              <a:rPr lang="en-US">
                <a:solidFill>
                  <a:schemeClr val="accent1"/>
                </a:solidFill>
              </a:rPr>
              <a:t>Google</a:t>
            </a:r>
            <a:r>
              <a:rPr lang="en-US"/>
              <a:t> – with a list of over </a:t>
            </a:r>
            <a:r>
              <a:rPr lang="en-US">
                <a:solidFill>
                  <a:schemeClr val="tx2"/>
                </a:solidFill>
              </a:rPr>
              <a:t>2 billion</a:t>
            </a:r>
            <a:r>
              <a:rPr lang="en-US"/>
              <a:t> Web pages and over </a:t>
            </a:r>
            <a:r>
              <a:rPr lang="en-US">
                <a:solidFill>
                  <a:schemeClr val="tx2"/>
                </a:solidFill>
              </a:rPr>
              <a:t>330 million images</a:t>
            </a:r>
          </a:p>
          <a:p>
            <a:endParaRPr lang="en-US">
              <a:solidFill>
                <a:schemeClr val="tx2"/>
              </a:solidFill>
            </a:endParaRPr>
          </a:p>
          <a:p>
            <a:r>
              <a:rPr lang="en-US"/>
              <a:t>We use the search engine by typing a </a:t>
            </a:r>
            <a:r>
              <a:rPr lang="en-US">
                <a:solidFill>
                  <a:schemeClr val="tx2"/>
                </a:solidFill>
              </a:rPr>
              <a:t>“search key word”</a:t>
            </a:r>
            <a:r>
              <a:rPr lang="en-US"/>
              <a:t> or “</a:t>
            </a:r>
            <a:r>
              <a:rPr lang="en-US">
                <a:solidFill>
                  <a:schemeClr val="tx2"/>
                </a:solidFill>
              </a:rPr>
              <a:t>query</a:t>
            </a:r>
            <a:r>
              <a:rPr lang="en-US"/>
              <a:t>” on its Web page.  It looks for those keyword in its index, and </a:t>
            </a:r>
            <a:r>
              <a:rPr lang="en-US">
                <a:solidFill>
                  <a:schemeClr val="tx2"/>
                </a:solidFill>
              </a:rPr>
              <a:t>displays a list</a:t>
            </a:r>
            <a:r>
              <a:rPr lang="en-US"/>
              <a:t> of Web pages that contain that keyword</a:t>
            </a:r>
          </a:p>
        </p:txBody>
      </p:sp>
    </p:spTree>
    <p:extLst>
      <p:ext uri="{BB962C8B-B14F-4D97-AF65-F5344CB8AC3E}">
        <p14:creationId xmlns:p14="http://schemas.microsoft.com/office/powerpoint/2010/main" val="421203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144000" cy="1354217"/>
          </a:xfrm>
        </p:spPr>
        <p:txBody>
          <a:bodyPr/>
          <a:lstStyle/>
          <a:p>
            <a:r>
              <a:rPr lang="en-US" smtClean="0"/>
              <a:t>I know I can read off the Web.  </a:t>
            </a:r>
            <a:r>
              <a:rPr lang="en-US" smtClean="0">
                <a:solidFill>
                  <a:srgbClr val="66FF33"/>
                </a:solidFill>
              </a:rPr>
              <a:t>Am I allowed to put my stuff on the Web?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981200"/>
            <a:ext cx="9144000" cy="3877985"/>
          </a:xfrm>
        </p:spPr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Yes</a:t>
            </a:r>
            <a:r>
              <a:rPr lang="en-US" smtClean="0"/>
              <a:t>.  You just need to have a computer that is hooked up to the Internet.</a:t>
            </a:r>
          </a:p>
          <a:p>
            <a:endParaRPr lang="en-US" smtClean="0"/>
          </a:p>
          <a:p>
            <a:r>
              <a:rPr lang="en-US" smtClean="0"/>
              <a:t>You </a:t>
            </a:r>
            <a:r>
              <a:rPr lang="en-US" smtClean="0">
                <a:solidFill>
                  <a:schemeClr val="tx2"/>
                </a:solidFill>
              </a:rPr>
              <a:t>do not require</a:t>
            </a:r>
            <a:r>
              <a:rPr lang="en-US" smtClean="0"/>
              <a:t> anyone’s </a:t>
            </a:r>
            <a:r>
              <a:rPr lang="en-US" smtClean="0">
                <a:solidFill>
                  <a:schemeClr val="tx2"/>
                </a:solidFill>
              </a:rPr>
              <a:t>permission</a:t>
            </a:r>
            <a:r>
              <a:rPr lang="en-US" smtClean="0"/>
              <a:t> to put your Web page(s) on the Web</a:t>
            </a:r>
          </a:p>
          <a:p>
            <a:endParaRPr lang="en-US" smtClean="0"/>
          </a:p>
          <a:p>
            <a:r>
              <a:rPr lang="en-US" smtClean="0"/>
              <a:t>Your Web page will be </a:t>
            </a:r>
            <a:r>
              <a:rPr lang="en-US" smtClean="0">
                <a:solidFill>
                  <a:schemeClr val="tx2"/>
                </a:solidFill>
              </a:rPr>
              <a:t>available to all the millions</a:t>
            </a:r>
            <a:r>
              <a:rPr lang="en-US" smtClean="0"/>
              <a:t> of users that have access to the Internet the </a:t>
            </a:r>
            <a:r>
              <a:rPr lang="en-US" smtClean="0">
                <a:solidFill>
                  <a:srgbClr val="66FF33"/>
                </a:solidFill>
              </a:rPr>
              <a:t>moment</a:t>
            </a:r>
            <a:r>
              <a:rPr lang="en-US" smtClean="0"/>
              <a:t> you place it on the Web</a:t>
            </a:r>
          </a:p>
        </p:txBody>
      </p:sp>
    </p:spTree>
    <p:extLst>
      <p:ext uri="{BB962C8B-B14F-4D97-AF65-F5344CB8AC3E}">
        <p14:creationId xmlns:p14="http://schemas.microsoft.com/office/powerpoint/2010/main" val="19412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09600"/>
            <a:ext cx="9144000" cy="677108"/>
          </a:xfrm>
        </p:spPr>
        <p:txBody>
          <a:bodyPr/>
          <a:lstStyle/>
          <a:p>
            <a:r>
              <a:rPr lang="en-US" smtClean="0"/>
              <a:t>Impact of the Web on Computing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981200"/>
            <a:ext cx="9144000" cy="31023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Every one wants to </a:t>
            </a:r>
            <a:r>
              <a:rPr lang="en-US">
                <a:solidFill>
                  <a:srgbClr val="66FF33"/>
                </a:solidFill>
              </a:rPr>
              <a:t>use the Web</a:t>
            </a:r>
          </a:p>
          <a:p>
            <a:pPr>
              <a:lnSpc>
                <a:spcPct val="90000"/>
              </a:lnSpc>
            </a:pPr>
            <a:r>
              <a:rPr lang="en-US"/>
              <a:t>That has spurred the </a:t>
            </a:r>
            <a:r>
              <a:rPr lang="en-US">
                <a:solidFill>
                  <a:schemeClr val="accent2"/>
                </a:solidFill>
              </a:rPr>
              <a:t>demand for computers</a:t>
            </a:r>
          </a:p>
          <a:p>
            <a:pPr>
              <a:lnSpc>
                <a:spcPct val="90000"/>
              </a:lnSpc>
            </a:pPr>
            <a:r>
              <a:rPr lang="en-US"/>
              <a:t>That, in turn, has </a:t>
            </a:r>
            <a:r>
              <a:rPr lang="en-US">
                <a:solidFill>
                  <a:schemeClr val="tx2"/>
                </a:solidFill>
              </a:rPr>
              <a:t>reduced the cost</a:t>
            </a:r>
            <a:r>
              <a:rPr lang="en-US"/>
              <a:t> of computing drastically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The computers are becoming easier to use because the target users are becoming </a:t>
            </a:r>
            <a:r>
              <a:rPr lang="en-US">
                <a:solidFill>
                  <a:srgbClr val="66FF33"/>
                </a:solidFill>
              </a:rPr>
              <a:t>less and less sophisticated </a:t>
            </a:r>
          </a:p>
          <a:p>
            <a:pPr>
              <a:lnSpc>
                <a:spcPct val="90000"/>
              </a:lnSpc>
            </a:pPr>
            <a:r>
              <a:rPr lang="en-US"/>
              <a:t>In the olden times only techies used computers; now my </a:t>
            </a:r>
            <a:r>
              <a:rPr lang="en-US">
                <a:solidFill>
                  <a:srgbClr val="66FF33"/>
                </a:solidFill>
              </a:rPr>
              <a:t>4-year</a:t>
            </a:r>
            <a:r>
              <a:rPr lang="en-US"/>
              <a:t> old knows things about the machine that I never did</a:t>
            </a:r>
          </a:p>
        </p:txBody>
      </p:sp>
    </p:spTree>
    <p:extLst>
      <p:ext uri="{BB962C8B-B14F-4D97-AF65-F5344CB8AC3E}">
        <p14:creationId xmlns:p14="http://schemas.microsoft.com/office/powerpoint/2010/main" val="146946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6939" y="308228"/>
            <a:ext cx="10358120" cy="677108"/>
          </a:xfrm>
        </p:spPr>
        <p:txBody>
          <a:bodyPr/>
          <a:lstStyle/>
          <a:p>
            <a:r>
              <a:rPr lang="en-US" smtClean="0"/>
              <a:t>Impact of the Web on Society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981200"/>
            <a:ext cx="8686800" cy="232679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User friendly </a:t>
            </a:r>
            <a:r>
              <a:rPr lang="en-US" smtClean="0">
                <a:solidFill>
                  <a:schemeClr val="accent2"/>
                </a:solidFill>
              </a:rPr>
              <a:t>communication</a:t>
            </a:r>
            <a:r>
              <a:rPr lang="en-US" smtClean="0"/>
              <a:t> has become much more </a:t>
            </a:r>
            <a:r>
              <a:rPr lang="en-US" smtClean="0">
                <a:solidFill>
                  <a:schemeClr val="tx2"/>
                </a:solidFill>
              </a:rPr>
              <a:t>affordable</a:t>
            </a:r>
            <a:r>
              <a:rPr lang="en-US" smtClean="0"/>
              <a:t> – the </a:t>
            </a:r>
            <a:r>
              <a:rPr lang="en-US" smtClean="0">
                <a:solidFill>
                  <a:schemeClr val="tx2"/>
                </a:solidFill>
              </a:rPr>
              <a:t>global village is shrinking</a:t>
            </a:r>
          </a:p>
          <a:p>
            <a:pPr>
              <a:lnSpc>
                <a:spcPct val="90000"/>
              </a:lnSpc>
            </a:pPr>
            <a:endParaRPr lang="en-US" smtClean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smtClean="0"/>
              <a:t>Business persons can </a:t>
            </a:r>
            <a:r>
              <a:rPr lang="en-US" smtClean="0">
                <a:solidFill>
                  <a:schemeClr val="tx2"/>
                </a:solidFill>
              </a:rPr>
              <a:t>stay in touch</a:t>
            </a:r>
            <a:r>
              <a:rPr lang="en-US" smtClean="0"/>
              <a:t> with their businesses even without being there – for some, that has resulted in the </a:t>
            </a:r>
            <a:r>
              <a:rPr lang="en-US" smtClean="0">
                <a:solidFill>
                  <a:schemeClr val="tx2"/>
                </a:solidFill>
              </a:rPr>
              <a:t>destruction of their family life</a:t>
            </a:r>
          </a:p>
        </p:txBody>
      </p:sp>
    </p:spTree>
    <p:extLst>
      <p:ext uri="{BB962C8B-B14F-4D97-AF65-F5344CB8AC3E}">
        <p14:creationId xmlns:p14="http://schemas.microsoft.com/office/powerpoint/2010/main" val="302091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09600"/>
            <a:ext cx="9144000" cy="677108"/>
          </a:xfrm>
        </p:spPr>
        <p:txBody>
          <a:bodyPr/>
          <a:lstStyle/>
          <a:p>
            <a:r>
              <a:rPr lang="en-US" smtClean="0"/>
              <a:t>Impact of the Web on Commerce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4722" y="1828800"/>
            <a:ext cx="10282555" cy="260379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Huge impact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dirty="0" smtClean="0"/>
              <a:t>The moment I take my business to the Web, it becomes </a:t>
            </a:r>
            <a:r>
              <a:rPr lang="en-US" dirty="0" smtClean="0">
                <a:solidFill>
                  <a:schemeClr val="tx2"/>
                </a:solidFill>
              </a:rPr>
              <a:t>possible</a:t>
            </a:r>
            <a:r>
              <a:rPr lang="en-US" dirty="0" smtClean="0"/>
              <a:t> for my customers to </a:t>
            </a:r>
            <a:r>
              <a:rPr lang="en-US" dirty="0" smtClean="0">
                <a:solidFill>
                  <a:schemeClr val="tx2"/>
                </a:solidFill>
              </a:rPr>
              <a:t>find out about me</a:t>
            </a:r>
            <a:r>
              <a:rPr lang="en-US" dirty="0" smtClean="0"/>
              <a:t> without me being </a:t>
            </a:r>
            <a:r>
              <a:rPr lang="en-US" dirty="0" smtClean="0">
                <a:solidFill>
                  <a:srgbClr val="66FF33"/>
                </a:solidFill>
              </a:rPr>
              <a:t>physically present</a:t>
            </a:r>
            <a:r>
              <a:rPr lang="en-US" dirty="0" smtClean="0"/>
              <a:t> in their city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Suddenly, I’m running a </a:t>
            </a:r>
            <a:r>
              <a:rPr lang="en-US" dirty="0" smtClean="0">
                <a:solidFill>
                  <a:schemeClr val="accent2"/>
                </a:solidFill>
              </a:rPr>
              <a:t>global business</a:t>
            </a:r>
          </a:p>
        </p:txBody>
      </p:sp>
    </p:spTree>
    <p:extLst>
      <p:ext uri="{BB962C8B-B14F-4D97-AF65-F5344CB8AC3E}">
        <p14:creationId xmlns:p14="http://schemas.microsoft.com/office/powerpoint/2010/main" val="115403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09600"/>
            <a:ext cx="9144000" cy="677108"/>
          </a:xfrm>
        </p:spPr>
        <p:txBody>
          <a:bodyPr/>
          <a:lstStyle/>
          <a:p>
            <a:r>
              <a:rPr lang="en-US" smtClean="0"/>
              <a:t> The Future: </a:t>
            </a:r>
            <a:r>
              <a:rPr lang="en-US" smtClean="0">
                <a:solidFill>
                  <a:schemeClr val="accent2"/>
                </a:solidFill>
              </a:rPr>
              <a:t>The Semantic Web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981201"/>
            <a:ext cx="9144000" cy="426578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/>
              <a:t>What unique feature distinguishes the Web of today with the Semantic Web of tomorrow?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/>
          </a:p>
          <a:p>
            <a:pPr>
              <a:lnSpc>
                <a:spcPct val="90000"/>
              </a:lnSpc>
              <a:buFontTx/>
              <a:buNone/>
            </a:pPr>
            <a:r>
              <a:rPr lang="en-US"/>
              <a:t>Whereas, today’s Web’s content is designed for humans to read; </a:t>
            </a:r>
            <a:r>
              <a:rPr lang="en-US">
                <a:solidFill>
                  <a:schemeClr val="accent2"/>
                </a:solidFill>
              </a:rPr>
              <a:t>the Semantic Web’s content will be designed for computers to understand meaningfully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However, the Semantic Web is not a replacement but an extension of the present Web, in which information is given well defined meaning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0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09600"/>
            <a:ext cx="9144000" cy="677108"/>
          </a:xfrm>
        </p:spPr>
        <p:txBody>
          <a:bodyPr/>
          <a:lstStyle/>
          <a:p>
            <a:r>
              <a:rPr lang="en-US" smtClean="0">
                <a:solidFill>
                  <a:schemeClr val="accent2"/>
                </a:solidFill>
              </a:rPr>
              <a:t>The Semantic Web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981201"/>
            <a:ext cx="9144000" cy="421038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/>
              <a:t>Some progress is already being made for adding “Semantic Content” on to the Web, but a lot more will happen in the next 5 years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/>
          </a:p>
          <a:p>
            <a:pPr>
              <a:lnSpc>
                <a:spcPct val="90000"/>
              </a:lnSpc>
              <a:buFontTx/>
              <a:buNone/>
            </a:pPr>
            <a:r>
              <a:rPr lang="en-US"/>
              <a:t>To find </a:t>
            </a:r>
            <a:r>
              <a:rPr lang="en-US">
                <a:solidFill>
                  <a:schemeClr val="tx2"/>
                </a:solidFill>
              </a:rPr>
              <a:t>further info about this exciting development</a:t>
            </a:r>
            <a:r>
              <a:rPr lang="en-US"/>
              <a:t> read Tim Berner Lee and his co-worker’s paper: “The Semantic Web” that is available on the Web as: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/>
          </a:p>
          <a:p>
            <a:pPr>
              <a:lnSpc>
                <a:spcPct val="90000"/>
              </a:lnSpc>
              <a:buFontTx/>
              <a:buNone/>
            </a:pPr>
            <a:r>
              <a:rPr lang="en-US" sz="2600"/>
              <a:t>http://www.sciam.com/2001/0501issue/0501berners-lee.html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600"/>
          </a:p>
          <a:p>
            <a:pPr>
              <a:lnSpc>
                <a:spcPct val="90000"/>
              </a:lnSpc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438400" y="2125981"/>
            <a:ext cx="10363200" cy="1354217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D627"/>
                </a:solidFill>
              </a:rPr>
              <a:t>Web Application </a:t>
            </a:r>
            <a:br>
              <a:rPr lang="en-US" altLang="en-US">
                <a:solidFill>
                  <a:srgbClr val="FFD627"/>
                </a:solidFill>
              </a:rPr>
            </a:br>
            <a:r>
              <a:rPr lang="en-US" altLang="en-US">
                <a:solidFill>
                  <a:srgbClr val="FFD627"/>
                </a:solidFill>
              </a:rPr>
              <a:t>Architecture</a:t>
            </a:r>
          </a:p>
        </p:txBody>
      </p:sp>
      <p:sp>
        <p:nvSpPr>
          <p:cNvPr id="28675" name="Rectangle 5"/>
          <p:cNvSpPr>
            <a:spLocks noGrp="1" noChangeArrowheads="1"/>
          </p:cNvSpPr>
          <p:nvPr>
            <p:ph type="subTitle" idx="4294967295"/>
          </p:nvPr>
        </p:nvSpPr>
        <p:spPr>
          <a:xfrm>
            <a:off x="2895600" y="3962400"/>
            <a:ext cx="6858000" cy="1600200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3616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Layers</a:t>
            </a:r>
          </a:p>
        </p:txBody>
      </p:sp>
      <p:pic>
        <p:nvPicPr>
          <p:cNvPr id="2969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05239" y="1905000"/>
            <a:ext cx="4752975" cy="3835400"/>
          </a:xfrm>
          <a:noFill/>
        </p:spPr>
      </p:pic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2743200" y="5943600"/>
            <a:ext cx="6597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800"/>
              <a:t>Figure shows a simplified view of one application and its layers.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45181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6939" y="308228"/>
            <a:ext cx="10358120" cy="677108"/>
          </a:xfrm>
        </p:spPr>
        <p:txBody>
          <a:bodyPr/>
          <a:lstStyle/>
          <a:p>
            <a:pPr eaLnBrk="1" hangingPunct="1"/>
            <a:r>
              <a:rPr lang="en-US" altLang="en-US" smtClean="0"/>
              <a:t>Layers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5258" y="1676400"/>
            <a:ext cx="10282555" cy="288078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It is important to note that the layers are merely logical groupings of the software components that make up the application or service.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They help to differentiate between the different kinds of tasks performed by the components.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The make it easier to design reusability into the solution.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Each logical layer contains a number of discrete component types grouped into </a:t>
            </a:r>
            <a:r>
              <a:rPr lang="en-US" altLang="en-US" sz="1800" dirty="0" err="1"/>
              <a:t>sublayers</a:t>
            </a:r>
            <a:r>
              <a:rPr lang="en-US" altLang="en-US" sz="1800" dirty="0"/>
              <a:t>, with each </a:t>
            </a:r>
            <a:r>
              <a:rPr lang="en-US" altLang="en-US" sz="1800" dirty="0" err="1"/>
              <a:t>sublayer</a:t>
            </a:r>
            <a:r>
              <a:rPr lang="en-US" altLang="en-US" sz="1800" dirty="0"/>
              <a:t> performing a specific kind of task.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By identifying the generic </a:t>
            </a:r>
            <a:r>
              <a:rPr lang="en-US" altLang="en-US" sz="1800" i="1" dirty="0"/>
              <a:t>kinds </a:t>
            </a:r>
            <a:r>
              <a:rPr lang="en-US" altLang="en-US" sz="1800" dirty="0"/>
              <a:t>of components that exist in most solutions, you can construct a meaningful map of an application or service, and then use this map as a blueprint for your design.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0342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40939" y="308228"/>
            <a:ext cx="10358120" cy="1046440"/>
          </a:xfrm>
        </p:spPr>
        <p:txBody>
          <a:bodyPr/>
          <a:lstStyle/>
          <a:p>
            <a:pPr eaLnBrk="1" hangingPunct="1"/>
            <a:r>
              <a:rPr lang="en-US" altLang="en-US" sz="3400" b="1"/>
              <a:t>Evolution of Enterprise</a:t>
            </a:r>
            <a:br>
              <a:rPr lang="en-US" altLang="en-US" sz="3400" b="1"/>
            </a:br>
            <a:r>
              <a:rPr lang="en-US" altLang="en-US" sz="3400" b="1"/>
              <a:t>Application Framework  for C/S Arc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28142" y="1905000"/>
            <a:ext cx="10282555" cy="344709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Single tier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Two tier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Three tier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RPC based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Remote object based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Three tier (HTML browser and Web server)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Proprietary application server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Standard application server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N-Tier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6286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277813"/>
            <a:ext cx="10363200" cy="1107996"/>
          </a:xfrm>
        </p:spPr>
        <p:txBody>
          <a:bodyPr/>
          <a:lstStyle/>
          <a:p>
            <a:pPr eaLnBrk="1" hangingPunct="1"/>
            <a:r>
              <a:rPr lang="en-GB" altLang="en-US" sz="3800"/>
              <a:t>Client-server architectures</a:t>
            </a:r>
            <a:r>
              <a:rPr lang="en-US" altLang="en-US" sz="3400"/>
              <a:t> </a:t>
            </a:r>
            <a:br>
              <a:rPr lang="en-US" altLang="en-US" sz="3400"/>
            </a:br>
            <a:r>
              <a:rPr lang="en-US" altLang="en-US" sz="3400"/>
              <a:t>1-tier Architecture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676400"/>
            <a:ext cx="5486400" cy="283154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Entire application exists on single node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Installed on individual machines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Dumb terminals are directly connected to mainframe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Centralized model (as opposed distributed model)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Presentation, business logic, and data access are intertwined in one monolithic mainframe application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4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Types of systems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Standalone executable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Mainframe applications</a:t>
            </a:r>
          </a:p>
        </p:txBody>
      </p:sp>
      <p:pic>
        <p:nvPicPr>
          <p:cNvPr id="32772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88289" y="2136776"/>
            <a:ext cx="2141537" cy="1116013"/>
          </a:xfrm>
          <a:noFill/>
        </p:spPr>
      </p:pic>
      <p:pic>
        <p:nvPicPr>
          <p:cNvPr id="32773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43788" y="4110038"/>
            <a:ext cx="3071812" cy="1111250"/>
          </a:xfrm>
          <a:noFill/>
        </p:spPr>
      </p:pic>
    </p:spTree>
    <p:extLst>
      <p:ext uri="{BB962C8B-B14F-4D97-AF65-F5344CB8AC3E}">
        <p14:creationId xmlns:p14="http://schemas.microsoft.com/office/powerpoint/2010/main" val="421677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277813"/>
            <a:ext cx="10363200" cy="1107996"/>
          </a:xfrm>
        </p:spPr>
        <p:txBody>
          <a:bodyPr/>
          <a:lstStyle/>
          <a:p>
            <a:pPr eaLnBrk="1" hangingPunct="1"/>
            <a:r>
              <a:rPr lang="en-GB" altLang="en-US" sz="3800"/>
              <a:t>Client-server architectures</a:t>
            </a:r>
            <a:r>
              <a:rPr lang="en-US" altLang="en-US" sz="3400"/>
              <a:t> </a:t>
            </a:r>
            <a:br>
              <a:rPr lang="en-US" altLang="en-US" sz="3400"/>
            </a:br>
            <a:r>
              <a:rPr lang="en-US" altLang="en-US" sz="3400"/>
              <a:t>1-tier Evaluation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38400" y="1743075"/>
            <a:ext cx="7627938" cy="3524042"/>
          </a:xfrm>
        </p:spPr>
        <p:txBody>
          <a:bodyPr/>
          <a:lstStyle/>
          <a:p>
            <a:pPr eaLnBrk="1" hangingPunct="1"/>
            <a:r>
              <a:rPr lang="en-US" altLang="en-US" sz="1800"/>
              <a:t>Advantages</a:t>
            </a:r>
          </a:p>
          <a:p>
            <a:pPr lvl="1" eaLnBrk="1" hangingPunct="1"/>
            <a:r>
              <a:rPr lang="en-US" altLang="en-US"/>
              <a:t>Simple to build</a:t>
            </a:r>
          </a:p>
          <a:p>
            <a:pPr lvl="1" eaLnBrk="1" hangingPunct="1"/>
            <a:r>
              <a:rPr lang="en-US" altLang="en-US"/>
              <a:t>Natural</a:t>
            </a:r>
          </a:p>
          <a:p>
            <a:pPr lvl="1" eaLnBrk="1" hangingPunct="1"/>
            <a:r>
              <a:rPr lang="en-US" altLang="en-US"/>
              <a:t>No client side management is required</a:t>
            </a:r>
          </a:p>
          <a:p>
            <a:pPr lvl="1" eaLnBrk="1" hangingPunct="1"/>
            <a:r>
              <a:rPr lang="en-US" altLang="en-US"/>
              <a:t>Data consistency is easy to achieve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130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 sz="1800"/>
              <a:t>Disadvantages</a:t>
            </a:r>
          </a:p>
          <a:p>
            <a:pPr lvl="1" eaLnBrk="1" hangingPunct="1"/>
            <a:r>
              <a:rPr lang="en-US" altLang="en-US"/>
              <a:t>Facilitates very little reuse</a:t>
            </a:r>
          </a:p>
          <a:p>
            <a:pPr lvl="1" eaLnBrk="1" hangingPunct="1"/>
            <a:r>
              <a:rPr lang="en-US" altLang="en-US"/>
              <a:t>Maintenance can be expensive</a:t>
            </a:r>
          </a:p>
          <a:p>
            <a:pPr lvl="1" eaLnBrk="1" hangingPunct="1"/>
            <a:r>
              <a:rPr lang="en-US" altLang="en-US"/>
              <a:t>Single point of failure</a:t>
            </a:r>
          </a:p>
          <a:p>
            <a:pPr lvl="1" eaLnBrk="1" hangingPunct="1"/>
            <a:r>
              <a:rPr lang="en-US" altLang="en-US"/>
              <a:t>Scaling systems requires buying bigger, costly hardware</a:t>
            </a:r>
          </a:p>
          <a:p>
            <a:pPr lvl="1"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4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274639"/>
            <a:ext cx="7627938" cy="1169551"/>
          </a:xfrm>
        </p:spPr>
        <p:txBody>
          <a:bodyPr/>
          <a:lstStyle/>
          <a:p>
            <a:pPr eaLnBrk="1" hangingPunct="1"/>
            <a:r>
              <a:rPr lang="en-GB" altLang="en-US" sz="3800"/>
              <a:t>		Client-server architectures</a:t>
            </a:r>
            <a:br>
              <a:rPr lang="en-GB" altLang="en-US" sz="3800"/>
            </a:br>
            <a:r>
              <a:rPr lang="en-GB" altLang="en-US" sz="3800"/>
              <a:t>			</a:t>
            </a:r>
            <a:r>
              <a:rPr lang="en-US" altLang="en-US" sz="3400"/>
              <a:t> 2-tier Architecture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0"/>
            <a:ext cx="8458200" cy="404418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b="1"/>
              <a:t>Client Server Applications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b="1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The client and server can be heterogeneous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900"/>
              <a:t>Different implementation languages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900"/>
              <a:t>Different operating systems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9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The roles can be transient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Fat client – server only manages data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900"/>
              <a:t>talk to back end database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900"/>
              <a:t>SQL queries sent, raw data returned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900"/>
              <a:t>Some Windows GUI based application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9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Thin Client – server manages data and business logic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900"/>
              <a:t>Browser – server manages presentation too</a:t>
            </a:r>
          </a:p>
        </p:txBody>
      </p:sp>
    </p:spTree>
    <p:extLst>
      <p:ext uri="{BB962C8B-B14F-4D97-AF65-F5344CB8AC3E}">
        <p14:creationId xmlns:p14="http://schemas.microsoft.com/office/powerpoint/2010/main" val="166976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440939" y="308228"/>
            <a:ext cx="10358120" cy="677108"/>
          </a:xfrm>
        </p:spPr>
        <p:txBody>
          <a:bodyPr/>
          <a:lstStyle/>
          <a:p>
            <a:pPr defTabSz="962025"/>
            <a:r>
              <a:rPr lang="en-GB" altLang="en-US" smtClean="0"/>
              <a:t>A client-server system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1828800" y="1828800"/>
            <a:ext cx="8458200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362200"/>
            <a:ext cx="7391400" cy="306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045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198814" y="306388"/>
            <a:ext cx="7011987" cy="1107996"/>
          </a:xfrm>
        </p:spPr>
        <p:txBody>
          <a:bodyPr/>
          <a:lstStyle/>
          <a:p>
            <a:pPr eaLnBrk="1" hangingPunct="1"/>
            <a:r>
              <a:rPr lang="en-GB" altLang="en-US" sz="3800"/>
              <a:t>	Client-server architectures</a:t>
            </a:r>
            <a:r>
              <a:rPr lang="en-US" altLang="en-US" sz="3400"/>
              <a:t> </a:t>
            </a:r>
            <a:br>
              <a:rPr lang="en-US" altLang="en-US" sz="3400"/>
            </a:br>
            <a:r>
              <a:rPr lang="en-US" altLang="en-US" sz="3400"/>
              <a:t>		2-tier Evaluation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752601"/>
            <a:ext cx="8077200" cy="421038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Advantages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Modifications on server propagated to clients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Can distribute processing load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Better scalability by adding server nodes and clients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Database type independence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Disadvantages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Client nodes require more computing power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Development and maintenance more complex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Presentation, data model, business logic are intertwined (at client side), difficult for updates and maintenance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Data Model is “tightly coupled” to every client: If DB Schema changes, all clients break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Updates have to be deployed to all clients making System maintenance nightmare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DB connection for every client, thus difficult to scale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Raw data transferred to client for processing causes high network traffic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23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0939" y="308228"/>
            <a:ext cx="10358120" cy="677108"/>
          </a:xfrm>
        </p:spPr>
        <p:txBody>
          <a:bodyPr/>
          <a:lstStyle/>
          <a:p>
            <a:pPr defTabSz="962025"/>
            <a:r>
              <a:rPr lang="en-GB" altLang="en-US" smtClean="0"/>
              <a:t>A client-server ATM system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2514600" y="1676400"/>
            <a:ext cx="71628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133600"/>
            <a:ext cx="5791200" cy="384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05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0939" y="308229"/>
            <a:ext cx="10358120" cy="1101839"/>
          </a:xfrm>
          <a:prstGeom prst="rect">
            <a:avLst/>
          </a:prstGeom>
        </p:spPr>
        <p:txBody>
          <a:bodyPr vert="horz" wrap="square" lIns="0" tIns="420623" rIns="0" bIns="0" rtlCol="0">
            <a:spAutoFit/>
          </a:bodyPr>
          <a:lstStyle/>
          <a:p>
            <a:pPr marL="1276985">
              <a:spcBef>
                <a:spcPts val="105"/>
              </a:spcBef>
            </a:pPr>
            <a:r>
              <a:rPr dirty="0"/>
              <a:t>Three</a:t>
            </a:r>
            <a:r>
              <a:rPr spc="-95" dirty="0"/>
              <a:t> </a:t>
            </a:r>
            <a:r>
              <a:rPr dirty="0"/>
              <a:t>Tier</a:t>
            </a:r>
            <a:r>
              <a:rPr spc="-9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0" y="1620978"/>
            <a:ext cx="8072120" cy="39185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5600" marR="5080" indent="-342900">
              <a:lnSpc>
                <a:spcPct val="99700"/>
              </a:lnSpc>
              <a:spcBef>
                <a:spcPts val="114"/>
              </a:spcBef>
              <a:buChar char="•"/>
              <a:tabLst>
                <a:tab pos="355600" algn="l"/>
              </a:tabLst>
            </a:pPr>
            <a:r>
              <a:rPr sz="3200" spc="-10" dirty="0">
                <a:solidFill>
                  <a:srgbClr val="1F2023"/>
                </a:solidFill>
                <a:latin typeface="Arial MT"/>
                <a:cs typeface="Arial MT"/>
              </a:rPr>
              <a:t>Three-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tier</a:t>
            </a:r>
            <a:r>
              <a:rPr sz="3200"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architecture</a:t>
            </a:r>
            <a:r>
              <a:rPr sz="3200"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32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32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F2023"/>
                </a:solidFill>
                <a:latin typeface="Arial MT"/>
                <a:cs typeface="Arial MT"/>
              </a:rPr>
              <a:t>well-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established</a:t>
            </a:r>
            <a:r>
              <a:rPr sz="3200"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software</a:t>
            </a:r>
            <a:r>
              <a:rPr sz="3200"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F2023"/>
                </a:solidFill>
                <a:latin typeface="Arial MT"/>
                <a:cs typeface="Arial MT"/>
              </a:rPr>
              <a:t>application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architecture</a:t>
            </a:r>
            <a:r>
              <a:rPr sz="32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that</a:t>
            </a:r>
            <a:r>
              <a:rPr sz="32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organizes</a:t>
            </a:r>
            <a:r>
              <a:rPr sz="32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F2023"/>
                </a:solidFill>
                <a:latin typeface="Arial MT"/>
                <a:cs typeface="Arial MT"/>
              </a:rPr>
              <a:t>applications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into</a:t>
            </a:r>
            <a:r>
              <a:rPr sz="32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three</a:t>
            </a:r>
            <a:r>
              <a:rPr sz="32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logical</a:t>
            </a:r>
            <a:r>
              <a:rPr sz="32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sz="32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physical</a:t>
            </a:r>
            <a:r>
              <a:rPr sz="32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F2023"/>
                </a:solidFill>
                <a:latin typeface="Arial MT"/>
                <a:cs typeface="Arial MT"/>
              </a:rPr>
              <a:t>computing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tiers:</a:t>
            </a:r>
            <a:r>
              <a:rPr sz="3200"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3200"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presentation</a:t>
            </a:r>
            <a:r>
              <a:rPr sz="3200" spc="-8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tier,</a:t>
            </a:r>
            <a:r>
              <a:rPr sz="3200"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or</a:t>
            </a:r>
            <a:r>
              <a:rPr sz="3200"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1F2023"/>
                </a:solidFill>
                <a:latin typeface="Arial MT"/>
                <a:cs typeface="Arial MT"/>
              </a:rPr>
              <a:t>user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interface;</a:t>
            </a:r>
            <a:r>
              <a:rPr sz="3200"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3200"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application</a:t>
            </a:r>
            <a:r>
              <a:rPr sz="3200"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tier,</a:t>
            </a:r>
            <a:r>
              <a:rPr sz="3200"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where</a:t>
            </a:r>
            <a:r>
              <a:rPr sz="3200" spc="-6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data</a:t>
            </a:r>
            <a:r>
              <a:rPr sz="3200" spc="-5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1F2023"/>
                </a:solidFill>
                <a:latin typeface="Arial MT"/>
                <a:cs typeface="Arial MT"/>
              </a:rPr>
              <a:t>is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processed;</a:t>
            </a:r>
            <a:r>
              <a:rPr sz="3200" spc="-7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sz="3200"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32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data</a:t>
            </a:r>
            <a:r>
              <a:rPr sz="3200" spc="-5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tier,</a:t>
            </a:r>
            <a:r>
              <a:rPr sz="32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where</a:t>
            </a:r>
            <a:r>
              <a:rPr sz="3200" spc="-5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1F2023"/>
                </a:solidFill>
                <a:latin typeface="Arial MT"/>
                <a:cs typeface="Arial MT"/>
              </a:rPr>
              <a:t>the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data</a:t>
            </a:r>
            <a:r>
              <a:rPr sz="3200" spc="-4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associated</a:t>
            </a:r>
            <a:r>
              <a:rPr sz="3200" spc="-4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with</a:t>
            </a:r>
            <a:r>
              <a:rPr sz="32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sz="32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F2023"/>
                </a:solidFill>
                <a:latin typeface="Arial MT"/>
                <a:cs typeface="Arial MT"/>
              </a:rPr>
              <a:t>application</a:t>
            </a:r>
            <a:endParaRPr sz="3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8155295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0939" y="308229"/>
            <a:ext cx="10358120" cy="1101839"/>
          </a:xfrm>
          <a:prstGeom prst="rect">
            <a:avLst/>
          </a:prstGeom>
        </p:spPr>
        <p:txBody>
          <a:bodyPr vert="horz" wrap="square" lIns="0" tIns="420623" rIns="0" bIns="0" rtlCol="0">
            <a:spAutoFit/>
          </a:bodyPr>
          <a:lstStyle/>
          <a:p>
            <a:pPr marL="1276985">
              <a:spcBef>
                <a:spcPts val="105"/>
              </a:spcBef>
            </a:pPr>
            <a:r>
              <a:rPr dirty="0"/>
              <a:t>Three</a:t>
            </a:r>
            <a:r>
              <a:rPr spc="-95" dirty="0"/>
              <a:t> </a:t>
            </a:r>
            <a:r>
              <a:rPr dirty="0"/>
              <a:t>Tier</a:t>
            </a:r>
            <a:r>
              <a:rPr spc="-9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6417" y="1781556"/>
            <a:ext cx="7011535" cy="416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93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0939" y="308229"/>
            <a:ext cx="10358120" cy="1101839"/>
          </a:xfrm>
          <a:prstGeom prst="rect">
            <a:avLst/>
          </a:prstGeom>
        </p:spPr>
        <p:txBody>
          <a:bodyPr vert="horz" wrap="square" lIns="0" tIns="420623" rIns="0" bIns="0" rtlCol="0">
            <a:spAutoFit/>
          </a:bodyPr>
          <a:lstStyle/>
          <a:p>
            <a:pPr marL="1276985">
              <a:spcBef>
                <a:spcPts val="105"/>
              </a:spcBef>
            </a:pPr>
            <a:r>
              <a:rPr dirty="0"/>
              <a:t>Three</a:t>
            </a:r>
            <a:r>
              <a:rPr spc="-95" dirty="0"/>
              <a:t> </a:t>
            </a:r>
            <a:r>
              <a:rPr dirty="0"/>
              <a:t>Tier</a:t>
            </a:r>
            <a:r>
              <a:rPr spc="-9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440940" y="1759966"/>
            <a:ext cx="10282555" cy="3013004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b="1" dirty="0"/>
              <a:t>The</a:t>
            </a:r>
            <a:r>
              <a:rPr sz="2500" b="1" spc="-40" dirty="0"/>
              <a:t> </a:t>
            </a:r>
            <a:r>
              <a:rPr sz="2500" b="1" spc="-10" dirty="0"/>
              <a:t>Presentation</a:t>
            </a:r>
            <a:r>
              <a:rPr sz="2500" b="1" spc="-50" dirty="0"/>
              <a:t> </a:t>
            </a:r>
            <a:r>
              <a:rPr sz="2500" b="1" dirty="0"/>
              <a:t>tier</a:t>
            </a:r>
            <a:r>
              <a:rPr sz="2500" b="1" spc="-80" dirty="0"/>
              <a:t> </a:t>
            </a:r>
            <a:r>
              <a:rPr sz="2500" dirty="0"/>
              <a:t>-</a:t>
            </a:r>
            <a:r>
              <a:rPr sz="2500" spc="-50" dirty="0"/>
              <a:t> </a:t>
            </a:r>
            <a:r>
              <a:rPr sz="2500" dirty="0"/>
              <a:t>the</a:t>
            </a:r>
            <a:r>
              <a:rPr sz="2500" spc="-45" dirty="0"/>
              <a:t> </a:t>
            </a:r>
            <a:r>
              <a:rPr sz="2500" dirty="0"/>
              <a:t>part</a:t>
            </a:r>
            <a:r>
              <a:rPr sz="2500" spc="-40" dirty="0"/>
              <a:t> </a:t>
            </a:r>
            <a:r>
              <a:rPr sz="2500" dirty="0"/>
              <a:t>of</a:t>
            </a:r>
            <a:r>
              <a:rPr sz="2500" spc="-50" dirty="0"/>
              <a:t> </a:t>
            </a:r>
            <a:r>
              <a:rPr sz="2500" dirty="0"/>
              <a:t>the</a:t>
            </a:r>
            <a:r>
              <a:rPr sz="2500" spc="-45" dirty="0"/>
              <a:t> </a:t>
            </a:r>
            <a:r>
              <a:rPr sz="2500" dirty="0"/>
              <a:t>application</a:t>
            </a:r>
            <a:r>
              <a:rPr sz="2500" spc="-35" dirty="0"/>
              <a:t> </a:t>
            </a:r>
            <a:r>
              <a:rPr sz="2500" dirty="0"/>
              <a:t>which</a:t>
            </a:r>
            <a:r>
              <a:rPr sz="2500" spc="-40" dirty="0"/>
              <a:t> </a:t>
            </a:r>
            <a:r>
              <a:rPr sz="2500" spc="-25" dirty="0"/>
              <a:t>is </a:t>
            </a:r>
            <a:r>
              <a:rPr sz="2500" dirty="0"/>
              <a:t>visible</a:t>
            </a:r>
            <a:r>
              <a:rPr sz="2500" spc="-30" dirty="0"/>
              <a:t> </a:t>
            </a:r>
            <a:r>
              <a:rPr sz="2500" dirty="0"/>
              <a:t>to</a:t>
            </a:r>
            <a:r>
              <a:rPr sz="2500" spc="-40" dirty="0"/>
              <a:t> </a:t>
            </a:r>
            <a:r>
              <a:rPr sz="2500" dirty="0"/>
              <a:t>the</a:t>
            </a:r>
            <a:r>
              <a:rPr sz="2500" spc="-30" dirty="0"/>
              <a:t> </a:t>
            </a:r>
            <a:r>
              <a:rPr sz="2500" dirty="0"/>
              <a:t>user;</a:t>
            </a:r>
            <a:r>
              <a:rPr sz="2500" spc="-20" dirty="0"/>
              <a:t> </a:t>
            </a:r>
            <a:r>
              <a:rPr sz="2500" dirty="0"/>
              <a:t>it</a:t>
            </a:r>
            <a:r>
              <a:rPr sz="2500" spc="-30" dirty="0"/>
              <a:t> </a:t>
            </a:r>
            <a:r>
              <a:rPr sz="2500" dirty="0"/>
              <a:t>enables</a:t>
            </a:r>
            <a:r>
              <a:rPr sz="2500" spc="-30" dirty="0"/>
              <a:t> </a:t>
            </a:r>
            <a:r>
              <a:rPr sz="2500" dirty="0"/>
              <a:t>the</a:t>
            </a:r>
            <a:r>
              <a:rPr sz="2500" spc="-25" dirty="0"/>
              <a:t> </a:t>
            </a:r>
            <a:r>
              <a:rPr sz="2500" dirty="0"/>
              <a:t>input</a:t>
            </a:r>
            <a:r>
              <a:rPr sz="2500" spc="-20" dirty="0"/>
              <a:t> </a:t>
            </a:r>
            <a:r>
              <a:rPr sz="2500" dirty="0"/>
              <a:t>of</a:t>
            </a:r>
            <a:r>
              <a:rPr sz="2500" spc="-40" dirty="0"/>
              <a:t> </a:t>
            </a:r>
            <a:r>
              <a:rPr sz="2500" spc="-10" dirty="0"/>
              <a:t>requirements</a:t>
            </a:r>
            <a:r>
              <a:rPr sz="2500" spc="-15" dirty="0"/>
              <a:t> </a:t>
            </a:r>
            <a:r>
              <a:rPr sz="2500" spc="-25" dirty="0"/>
              <a:t>and </a:t>
            </a:r>
            <a:r>
              <a:rPr sz="2500" dirty="0"/>
              <a:t>the</a:t>
            </a:r>
            <a:r>
              <a:rPr sz="2500" spc="-35" dirty="0"/>
              <a:t> </a:t>
            </a:r>
            <a:r>
              <a:rPr sz="2500" spc="-10" dirty="0"/>
              <a:t>presentation</a:t>
            </a:r>
            <a:r>
              <a:rPr sz="2500" spc="-25" dirty="0"/>
              <a:t> </a:t>
            </a:r>
            <a:r>
              <a:rPr sz="2500" dirty="0"/>
              <a:t>of</a:t>
            </a:r>
            <a:r>
              <a:rPr sz="2500" spc="-45" dirty="0"/>
              <a:t> </a:t>
            </a:r>
            <a:r>
              <a:rPr sz="2500" spc="-10" dirty="0"/>
              <a:t>results.</a:t>
            </a:r>
            <a:endParaRPr sz="2500"/>
          </a:p>
          <a:p>
            <a:pPr marL="355600" marR="90170" indent="-342900">
              <a:lnSpc>
                <a:spcPts val="2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b="1" dirty="0"/>
              <a:t>The</a:t>
            </a:r>
            <a:r>
              <a:rPr sz="2500" b="1" spc="-60" dirty="0"/>
              <a:t> </a:t>
            </a:r>
            <a:r>
              <a:rPr sz="2500" b="1" dirty="0"/>
              <a:t>Application</a:t>
            </a:r>
            <a:r>
              <a:rPr sz="2500" b="1" spc="-70" dirty="0"/>
              <a:t> </a:t>
            </a:r>
            <a:r>
              <a:rPr sz="2500" b="1" dirty="0"/>
              <a:t>tier</a:t>
            </a:r>
            <a:r>
              <a:rPr sz="2500" b="1" spc="-90" dirty="0"/>
              <a:t> </a:t>
            </a:r>
            <a:r>
              <a:rPr sz="2500" dirty="0"/>
              <a:t>(also</a:t>
            </a:r>
            <a:r>
              <a:rPr sz="2500" spc="-70" dirty="0"/>
              <a:t> </a:t>
            </a:r>
            <a:r>
              <a:rPr sz="2500" dirty="0"/>
              <a:t>functional)</a:t>
            </a:r>
            <a:r>
              <a:rPr sz="2500" spc="-35" dirty="0"/>
              <a:t> </a:t>
            </a:r>
            <a:r>
              <a:rPr sz="2500" dirty="0"/>
              <a:t>-</a:t>
            </a:r>
            <a:r>
              <a:rPr sz="2500" spc="-75" dirty="0"/>
              <a:t> </a:t>
            </a:r>
            <a:r>
              <a:rPr sz="2500" dirty="0"/>
              <a:t>the</a:t>
            </a:r>
            <a:r>
              <a:rPr sz="2500" spc="-60" dirty="0"/>
              <a:t> </a:t>
            </a:r>
            <a:r>
              <a:rPr sz="2500" dirty="0"/>
              <a:t>middle</a:t>
            </a:r>
            <a:r>
              <a:rPr sz="2500" spc="-55" dirty="0"/>
              <a:t> </a:t>
            </a:r>
            <a:r>
              <a:rPr sz="2500" dirty="0"/>
              <a:t>layer</a:t>
            </a:r>
            <a:r>
              <a:rPr sz="2500" spc="-40" dirty="0"/>
              <a:t> </a:t>
            </a:r>
            <a:r>
              <a:rPr sz="2500" spc="-25" dirty="0"/>
              <a:t>of </a:t>
            </a:r>
            <a:r>
              <a:rPr sz="2500" dirty="0"/>
              <a:t>the</a:t>
            </a:r>
            <a:r>
              <a:rPr sz="2500" spc="-55" dirty="0"/>
              <a:t> </a:t>
            </a:r>
            <a:r>
              <a:rPr sz="2500" dirty="0"/>
              <a:t>model</a:t>
            </a:r>
            <a:r>
              <a:rPr sz="2500" spc="-40" dirty="0"/>
              <a:t> </a:t>
            </a:r>
            <a:r>
              <a:rPr sz="2500" spc="-10" dirty="0"/>
              <a:t>(middleware),</a:t>
            </a:r>
            <a:r>
              <a:rPr sz="2500" spc="-40" dirty="0"/>
              <a:t> </a:t>
            </a:r>
            <a:r>
              <a:rPr sz="2500" dirty="0"/>
              <a:t>it</a:t>
            </a:r>
            <a:r>
              <a:rPr sz="2500" spc="-55" dirty="0"/>
              <a:t> </a:t>
            </a:r>
            <a:r>
              <a:rPr sz="2500" dirty="0"/>
              <a:t>assures</a:t>
            </a:r>
            <a:r>
              <a:rPr sz="2500" spc="-45" dirty="0"/>
              <a:t> </a:t>
            </a:r>
            <a:r>
              <a:rPr sz="2500" dirty="0"/>
              <a:t>the</a:t>
            </a:r>
            <a:r>
              <a:rPr sz="2500" spc="-50" dirty="0"/>
              <a:t> </a:t>
            </a:r>
            <a:r>
              <a:rPr sz="2500" dirty="0"/>
              <a:t>calculations</a:t>
            </a:r>
            <a:r>
              <a:rPr sz="2500" spc="-45" dirty="0"/>
              <a:t> </a:t>
            </a:r>
            <a:r>
              <a:rPr sz="2500" spc="-25" dirty="0"/>
              <a:t>and </a:t>
            </a:r>
            <a:r>
              <a:rPr sz="2500" dirty="0"/>
              <a:t>operations</a:t>
            </a:r>
            <a:r>
              <a:rPr sz="2500" spc="-110" dirty="0"/>
              <a:t> </a:t>
            </a:r>
            <a:r>
              <a:rPr sz="2500" dirty="0"/>
              <a:t>performed</a:t>
            </a:r>
            <a:r>
              <a:rPr sz="2500" spc="-90" dirty="0"/>
              <a:t> </a:t>
            </a:r>
            <a:r>
              <a:rPr sz="2500" dirty="0"/>
              <a:t>between</a:t>
            </a:r>
            <a:r>
              <a:rPr sz="2500" spc="-95" dirty="0"/>
              <a:t> </a:t>
            </a:r>
            <a:r>
              <a:rPr sz="2500" spc="-25" dirty="0"/>
              <a:t>input-</a:t>
            </a:r>
            <a:r>
              <a:rPr sz="2500" dirty="0"/>
              <a:t>output</a:t>
            </a:r>
            <a:r>
              <a:rPr sz="2500" spc="-105" dirty="0"/>
              <a:t> </a:t>
            </a:r>
            <a:r>
              <a:rPr sz="2500" spc="-10" dirty="0"/>
              <a:t>requirements </a:t>
            </a:r>
            <a:r>
              <a:rPr sz="2500" dirty="0"/>
              <a:t>and</a:t>
            </a:r>
            <a:r>
              <a:rPr sz="2500" spc="-45" dirty="0"/>
              <a:t> </a:t>
            </a:r>
            <a:r>
              <a:rPr sz="2500" dirty="0"/>
              <a:t>data.</a:t>
            </a:r>
            <a:r>
              <a:rPr sz="2500" spc="-50" dirty="0"/>
              <a:t> </a:t>
            </a:r>
            <a:r>
              <a:rPr sz="2500" dirty="0"/>
              <a:t>Also</a:t>
            </a:r>
            <a:r>
              <a:rPr sz="2500" spc="-40" dirty="0"/>
              <a:t> </a:t>
            </a:r>
            <a:r>
              <a:rPr sz="2500" dirty="0"/>
              <a:t>known</a:t>
            </a:r>
            <a:r>
              <a:rPr sz="2500" spc="-65" dirty="0"/>
              <a:t> </a:t>
            </a:r>
            <a:r>
              <a:rPr sz="2500" dirty="0"/>
              <a:t>as</a:t>
            </a:r>
            <a:r>
              <a:rPr sz="2500" spc="-40" dirty="0"/>
              <a:t> </a:t>
            </a:r>
            <a:r>
              <a:rPr sz="2500" dirty="0"/>
              <a:t>the</a:t>
            </a:r>
            <a:r>
              <a:rPr sz="2500" spc="-45" dirty="0"/>
              <a:t> </a:t>
            </a:r>
            <a:r>
              <a:rPr sz="2500" dirty="0"/>
              <a:t>application</a:t>
            </a:r>
            <a:r>
              <a:rPr sz="2500" spc="-40" dirty="0"/>
              <a:t> </a:t>
            </a:r>
            <a:r>
              <a:rPr sz="2500" spc="-10" dirty="0"/>
              <a:t>server.</a:t>
            </a:r>
            <a:endParaRPr sz="2500"/>
          </a:p>
          <a:p>
            <a:pPr marL="355600" marR="481330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b="1" dirty="0"/>
              <a:t>The</a:t>
            </a:r>
            <a:r>
              <a:rPr sz="2500" b="1" spc="-40" dirty="0"/>
              <a:t> </a:t>
            </a:r>
            <a:r>
              <a:rPr sz="2500" b="1" dirty="0"/>
              <a:t>Data</a:t>
            </a:r>
            <a:r>
              <a:rPr sz="2500" b="1" spc="-45" dirty="0"/>
              <a:t> </a:t>
            </a:r>
            <a:r>
              <a:rPr sz="2500" b="1" dirty="0"/>
              <a:t>tier</a:t>
            </a:r>
            <a:r>
              <a:rPr sz="2500" b="1" spc="-50" dirty="0"/>
              <a:t> </a:t>
            </a:r>
            <a:r>
              <a:rPr sz="2500" b="1" dirty="0"/>
              <a:t>(also</a:t>
            </a:r>
            <a:r>
              <a:rPr sz="2500" b="1" spc="-50" dirty="0"/>
              <a:t> </a:t>
            </a:r>
            <a:r>
              <a:rPr sz="2500" b="1" spc="-10" dirty="0"/>
              <a:t>database)</a:t>
            </a:r>
            <a:r>
              <a:rPr sz="2500" b="1" spc="-80" dirty="0"/>
              <a:t> </a:t>
            </a:r>
            <a:r>
              <a:rPr sz="2500" dirty="0"/>
              <a:t>-</a:t>
            </a:r>
            <a:r>
              <a:rPr sz="2500" spc="-55" dirty="0"/>
              <a:t> </a:t>
            </a:r>
            <a:r>
              <a:rPr sz="2500" dirty="0"/>
              <a:t>the</a:t>
            </a:r>
            <a:r>
              <a:rPr sz="2500" spc="-40" dirty="0"/>
              <a:t> </a:t>
            </a:r>
            <a:r>
              <a:rPr sz="2500" dirty="0"/>
              <a:t>lowest</a:t>
            </a:r>
            <a:r>
              <a:rPr sz="2500" spc="-50" dirty="0"/>
              <a:t> </a:t>
            </a:r>
            <a:r>
              <a:rPr sz="2500" dirty="0"/>
              <a:t>layer</a:t>
            </a:r>
            <a:r>
              <a:rPr sz="2500" spc="-30" dirty="0"/>
              <a:t> </a:t>
            </a:r>
            <a:r>
              <a:rPr sz="2500" dirty="0"/>
              <a:t>of</a:t>
            </a:r>
            <a:r>
              <a:rPr sz="2500" spc="-50" dirty="0"/>
              <a:t> </a:t>
            </a:r>
            <a:r>
              <a:rPr sz="2500" spc="-25" dirty="0"/>
              <a:t>the </a:t>
            </a:r>
            <a:r>
              <a:rPr sz="2500" dirty="0"/>
              <a:t>model,</a:t>
            </a:r>
            <a:r>
              <a:rPr sz="2500" spc="-60" dirty="0"/>
              <a:t> </a:t>
            </a:r>
            <a:r>
              <a:rPr sz="2500" dirty="0"/>
              <a:t>it</a:t>
            </a:r>
            <a:r>
              <a:rPr sz="2500" spc="-60" dirty="0"/>
              <a:t> </a:t>
            </a:r>
            <a:r>
              <a:rPr sz="2500" dirty="0"/>
              <a:t>ensures</a:t>
            </a:r>
            <a:r>
              <a:rPr sz="2500" spc="-40" dirty="0"/>
              <a:t> </a:t>
            </a:r>
            <a:r>
              <a:rPr sz="2500" dirty="0"/>
              <a:t>all</a:t>
            </a:r>
            <a:r>
              <a:rPr sz="2500" spc="-60" dirty="0"/>
              <a:t> </a:t>
            </a:r>
            <a:r>
              <a:rPr sz="2500" dirty="0"/>
              <a:t>operations</a:t>
            </a:r>
            <a:r>
              <a:rPr sz="2500" spc="-65" dirty="0"/>
              <a:t> </a:t>
            </a:r>
            <a:r>
              <a:rPr sz="2500" dirty="0"/>
              <a:t>with</a:t>
            </a:r>
            <a:r>
              <a:rPr sz="2500" spc="-60" dirty="0"/>
              <a:t> </a:t>
            </a:r>
            <a:r>
              <a:rPr sz="2500" dirty="0"/>
              <a:t>data,</a:t>
            </a:r>
            <a:r>
              <a:rPr sz="2500" spc="-60" dirty="0"/>
              <a:t> </a:t>
            </a:r>
            <a:r>
              <a:rPr sz="2500" dirty="0"/>
              <a:t>i.e.</a:t>
            </a:r>
            <a:r>
              <a:rPr sz="2500" spc="-70" dirty="0"/>
              <a:t> </a:t>
            </a:r>
            <a:r>
              <a:rPr sz="2500" spc="-10" dirty="0"/>
              <a:t>database </a:t>
            </a:r>
            <a:r>
              <a:rPr sz="2500" dirty="0"/>
              <a:t>management</a:t>
            </a:r>
            <a:r>
              <a:rPr sz="2500" spc="-65" dirty="0"/>
              <a:t> </a:t>
            </a:r>
            <a:r>
              <a:rPr sz="2500" spc="-10" dirty="0"/>
              <a:t>system</a:t>
            </a:r>
            <a:r>
              <a:rPr sz="2500" spc="-65" dirty="0"/>
              <a:t> </a:t>
            </a:r>
            <a:r>
              <a:rPr sz="2500" dirty="0"/>
              <a:t>and</a:t>
            </a:r>
            <a:r>
              <a:rPr sz="2500" spc="-70" dirty="0"/>
              <a:t> </a:t>
            </a:r>
            <a:r>
              <a:rPr sz="2500" dirty="0"/>
              <a:t>basic</a:t>
            </a:r>
            <a:r>
              <a:rPr sz="2500" spc="-90" dirty="0"/>
              <a:t> </a:t>
            </a:r>
            <a:r>
              <a:rPr sz="2500" spc="-35" dirty="0"/>
              <a:t>data-</a:t>
            </a:r>
            <a:r>
              <a:rPr sz="2500" dirty="0"/>
              <a:t>base</a:t>
            </a:r>
            <a:r>
              <a:rPr sz="2500" spc="-80" dirty="0"/>
              <a:t> </a:t>
            </a:r>
            <a:r>
              <a:rPr sz="2500" dirty="0"/>
              <a:t>operations</a:t>
            </a:r>
            <a:r>
              <a:rPr sz="2500" spc="-85" dirty="0"/>
              <a:t> </a:t>
            </a:r>
            <a:r>
              <a:rPr sz="2500" spc="-25" dirty="0"/>
              <a:t>for </a:t>
            </a:r>
            <a:r>
              <a:rPr sz="2500" dirty="0"/>
              <a:t>functional</a:t>
            </a:r>
            <a:r>
              <a:rPr sz="2500" spc="-50" dirty="0"/>
              <a:t> </a:t>
            </a:r>
            <a:r>
              <a:rPr sz="2500" spc="-10" dirty="0"/>
              <a:t>storage,</a:t>
            </a:r>
            <a:r>
              <a:rPr sz="2500" spc="-70" dirty="0"/>
              <a:t> </a:t>
            </a:r>
            <a:r>
              <a:rPr sz="2500" dirty="0"/>
              <a:t>selection,</a:t>
            </a:r>
            <a:r>
              <a:rPr sz="2500" spc="-45" dirty="0"/>
              <a:t> </a:t>
            </a:r>
            <a:r>
              <a:rPr sz="2500" spc="-10" dirty="0"/>
              <a:t>aggregation,</a:t>
            </a:r>
            <a:r>
              <a:rPr sz="2500" spc="-70" dirty="0"/>
              <a:t> </a:t>
            </a:r>
            <a:r>
              <a:rPr sz="2500" spc="-10" dirty="0"/>
              <a:t>processing, </a:t>
            </a:r>
            <a:r>
              <a:rPr sz="2500" spc="-25" dirty="0"/>
              <a:t>integrity,</a:t>
            </a:r>
            <a:r>
              <a:rPr sz="2500" spc="-60" dirty="0"/>
              <a:t> </a:t>
            </a:r>
            <a:r>
              <a:rPr sz="2500" dirty="0"/>
              <a:t>and</a:t>
            </a:r>
            <a:r>
              <a:rPr sz="2500" spc="-65" dirty="0"/>
              <a:t> </a:t>
            </a:r>
            <a:r>
              <a:rPr sz="2500" dirty="0"/>
              <a:t>data</a:t>
            </a:r>
            <a:r>
              <a:rPr sz="2500" spc="-55" dirty="0"/>
              <a:t> </a:t>
            </a:r>
            <a:r>
              <a:rPr sz="2500" spc="-10" dirty="0"/>
              <a:t>audit.</a:t>
            </a:r>
            <a:endParaRPr sz="2500"/>
          </a:p>
        </p:txBody>
      </p:sp>
    </p:spTree>
    <p:extLst>
      <p:ext uri="{BB962C8B-B14F-4D97-AF65-F5344CB8AC3E}">
        <p14:creationId xmlns:p14="http://schemas.microsoft.com/office/powerpoint/2010/main" val="11884647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0939" y="308229"/>
            <a:ext cx="10358120" cy="1101839"/>
          </a:xfrm>
          <a:prstGeom prst="rect">
            <a:avLst/>
          </a:prstGeom>
        </p:spPr>
        <p:txBody>
          <a:bodyPr vert="horz" wrap="square" lIns="0" tIns="420623" rIns="0" bIns="0" rtlCol="0">
            <a:spAutoFit/>
          </a:bodyPr>
          <a:lstStyle/>
          <a:p>
            <a:pPr marL="964565">
              <a:spcBef>
                <a:spcPts val="105"/>
              </a:spcBef>
            </a:pPr>
            <a:r>
              <a:rPr spc="-30" dirty="0"/>
              <a:t>Client-</a:t>
            </a:r>
            <a:r>
              <a:rPr dirty="0"/>
              <a:t>Server</a:t>
            </a:r>
            <a:r>
              <a:rPr spc="4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1" y="1526489"/>
            <a:ext cx="7966709" cy="423291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92075" indent="-342900">
              <a:lnSpc>
                <a:spcPts val="2880"/>
              </a:lnSpc>
              <a:spcBef>
                <a:spcPts val="79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This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pattern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consists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two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parties;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server</a:t>
            </a:r>
            <a:r>
              <a:rPr sz="3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and </a:t>
            </a:r>
            <a:r>
              <a:rPr sz="3000" dirty="0">
                <a:latin typeface="Calibri"/>
                <a:cs typeface="Calibri"/>
              </a:rPr>
              <a:t>multiple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clients</a:t>
            </a:r>
            <a:r>
              <a:rPr sz="3000" spc="-10" dirty="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355600" marR="488950" indent="-342900">
              <a:lnSpc>
                <a:spcPts val="288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server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component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will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provide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services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to </a:t>
            </a:r>
            <a:r>
              <a:rPr sz="3000" dirty="0">
                <a:latin typeface="Calibri"/>
                <a:cs typeface="Calibri"/>
              </a:rPr>
              <a:t>multiple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client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components.</a:t>
            </a: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ts val="288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Clients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request</a:t>
            </a:r>
            <a:r>
              <a:rPr sz="3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services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server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server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provides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relevant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services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those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clients.</a:t>
            </a:r>
            <a:endParaRPr sz="3000">
              <a:latin typeface="Calibri"/>
              <a:cs typeface="Calibri"/>
            </a:endParaRPr>
          </a:p>
          <a:p>
            <a:pPr marL="354965" indent="-342265">
              <a:spcBef>
                <a:spcPts val="25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server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continues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listen</a:t>
            </a:r>
            <a:r>
              <a:rPr sz="3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client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requests.</a:t>
            </a:r>
            <a:endParaRPr sz="3000">
              <a:latin typeface="Calibri"/>
              <a:cs typeface="Calibri"/>
            </a:endParaRPr>
          </a:p>
          <a:p>
            <a:pPr marL="354965" indent="-342265"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It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concept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distributed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computing</a:t>
            </a:r>
            <a:endParaRPr sz="3000">
              <a:latin typeface="Calibri"/>
              <a:cs typeface="Calibri"/>
            </a:endParaRPr>
          </a:p>
          <a:p>
            <a:pPr marL="355600" marR="1326515" indent="-342900">
              <a:lnSpc>
                <a:spcPts val="288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It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most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widely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distributed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system architecture</a:t>
            </a:r>
            <a:endParaRPr sz="3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79421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0939" y="308229"/>
            <a:ext cx="10358120" cy="1101839"/>
          </a:xfrm>
          <a:prstGeom prst="rect">
            <a:avLst/>
          </a:prstGeom>
        </p:spPr>
        <p:txBody>
          <a:bodyPr vert="horz" wrap="square" lIns="0" tIns="420623" rIns="0" bIns="0" rtlCol="0">
            <a:spAutoFit/>
          </a:bodyPr>
          <a:lstStyle/>
          <a:p>
            <a:pPr marL="964565">
              <a:spcBef>
                <a:spcPts val="105"/>
              </a:spcBef>
            </a:pPr>
            <a:r>
              <a:rPr spc="-30" dirty="0"/>
              <a:t>Client-</a:t>
            </a:r>
            <a:r>
              <a:rPr dirty="0"/>
              <a:t>Server</a:t>
            </a:r>
            <a:r>
              <a:rPr spc="4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1" y="1526489"/>
            <a:ext cx="7949565" cy="4559582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113664" indent="-342900">
              <a:lnSpc>
                <a:spcPts val="2880"/>
              </a:lnSpc>
              <a:spcBef>
                <a:spcPts val="79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server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machine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provide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services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clients</a:t>
            </a:r>
            <a:endParaRPr sz="3000">
              <a:latin typeface="Calibri"/>
              <a:cs typeface="Calibri"/>
            </a:endParaRPr>
          </a:p>
          <a:p>
            <a:pPr marL="355600" marR="894080" indent="-342900">
              <a:lnSpc>
                <a:spcPts val="288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Server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machine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takes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requests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and </a:t>
            </a:r>
            <a:r>
              <a:rPr sz="3000" dirty="0">
                <a:latin typeface="Calibri"/>
                <a:cs typeface="Calibri"/>
              </a:rPr>
              <a:t>provide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responses.</a:t>
            </a:r>
            <a:endParaRPr sz="3000">
              <a:latin typeface="Calibri"/>
              <a:cs typeface="Calibri"/>
            </a:endParaRPr>
          </a:p>
          <a:p>
            <a:pPr marL="355600" marR="511809" indent="-342900">
              <a:lnSpc>
                <a:spcPts val="288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There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might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more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clients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server </a:t>
            </a:r>
            <a:r>
              <a:rPr sz="3000" dirty="0">
                <a:latin typeface="Calibri"/>
                <a:cs typeface="Calibri"/>
              </a:rPr>
              <a:t>machines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network.</a:t>
            </a:r>
            <a:endParaRPr sz="3000">
              <a:latin typeface="Calibri"/>
              <a:cs typeface="Calibri"/>
            </a:endParaRPr>
          </a:p>
          <a:p>
            <a:pPr marL="355600" marR="74930" indent="-342900">
              <a:lnSpc>
                <a:spcPts val="288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spc="-55" dirty="0">
                <a:latin typeface="Calibri"/>
                <a:cs typeface="Calibri"/>
              </a:rPr>
              <a:t>Today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most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common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example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server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web </a:t>
            </a:r>
            <a:r>
              <a:rPr sz="3000" dirty="0">
                <a:latin typeface="Calibri"/>
                <a:cs typeface="Calibri"/>
              </a:rPr>
              <a:t>servers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provide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you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web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pages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(works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using </a:t>
            </a:r>
            <a:r>
              <a:rPr sz="3000" dirty="0">
                <a:latin typeface="Calibri"/>
                <a:cs typeface="Calibri"/>
              </a:rPr>
              <a:t>HPPT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protocol).</a:t>
            </a: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75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server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also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provide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more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services </a:t>
            </a:r>
            <a:r>
              <a:rPr sz="3000" dirty="0">
                <a:latin typeface="Calibri"/>
                <a:cs typeface="Calibri"/>
              </a:rPr>
              <a:t>at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same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time</a:t>
            </a:r>
            <a:endParaRPr sz="3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27066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0939" y="308229"/>
            <a:ext cx="10358120" cy="1101839"/>
          </a:xfrm>
          <a:prstGeom prst="rect">
            <a:avLst/>
          </a:prstGeom>
        </p:spPr>
        <p:txBody>
          <a:bodyPr vert="horz" wrap="square" lIns="0" tIns="420623" rIns="0" bIns="0" rtlCol="0">
            <a:spAutoFit/>
          </a:bodyPr>
          <a:lstStyle/>
          <a:p>
            <a:pPr marL="964565">
              <a:spcBef>
                <a:spcPts val="105"/>
              </a:spcBef>
            </a:pPr>
            <a:r>
              <a:rPr spc="-30" dirty="0"/>
              <a:t>Client-</a:t>
            </a:r>
            <a:r>
              <a:rPr dirty="0"/>
              <a:t>Server</a:t>
            </a:r>
            <a:r>
              <a:rPr spc="4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1" y="1506227"/>
            <a:ext cx="3529965" cy="266636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spcBef>
                <a:spcPts val="90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Usage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spcBef>
                <a:spcPts val="69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Online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applications</a:t>
            </a:r>
            <a:endParaRPr sz="2800">
              <a:latin typeface="Calibri"/>
              <a:cs typeface="Calibri"/>
            </a:endParaRPr>
          </a:p>
          <a:p>
            <a:pPr marL="836930" lvl="1" indent="-367030">
              <a:spcBef>
                <a:spcPts val="675"/>
              </a:spcBef>
              <a:buFont typeface="Arial MT"/>
              <a:buChar char="–"/>
              <a:tabLst>
                <a:tab pos="836930" algn="l"/>
              </a:tabLst>
            </a:pPr>
            <a:r>
              <a:rPr sz="2800" spc="-10" dirty="0">
                <a:latin typeface="Calibri"/>
                <a:cs typeface="Calibri"/>
              </a:rPr>
              <a:t>Email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spcBef>
                <a:spcPts val="67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Document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sharing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spcBef>
                <a:spcPts val="67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Banking.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36526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0939" y="308229"/>
            <a:ext cx="10358120" cy="1101839"/>
          </a:xfrm>
          <a:prstGeom prst="rect">
            <a:avLst/>
          </a:prstGeom>
        </p:spPr>
        <p:txBody>
          <a:bodyPr vert="horz" wrap="square" lIns="0" tIns="420623" rIns="0" bIns="0" rtlCol="0">
            <a:spAutoFit/>
          </a:bodyPr>
          <a:lstStyle/>
          <a:p>
            <a:pPr marL="964565">
              <a:spcBef>
                <a:spcPts val="105"/>
              </a:spcBef>
            </a:pPr>
            <a:r>
              <a:rPr spc="-30" dirty="0"/>
              <a:t>Client-</a:t>
            </a:r>
            <a:r>
              <a:rPr dirty="0"/>
              <a:t>Server</a:t>
            </a:r>
            <a:r>
              <a:rPr spc="4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1905000"/>
            <a:ext cx="4637532" cy="2819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98595" y="4971365"/>
            <a:ext cx="3510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Figure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2.2: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Client-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Server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Architecture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03378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0939" y="308229"/>
            <a:ext cx="10358120" cy="1101839"/>
          </a:xfrm>
          <a:prstGeom prst="rect">
            <a:avLst/>
          </a:prstGeom>
        </p:spPr>
        <p:txBody>
          <a:bodyPr vert="horz" wrap="square" lIns="0" tIns="420623" rIns="0" bIns="0" rtlCol="0">
            <a:spAutoFit/>
          </a:bodyPr>
          <a:lstStyle/>
          <a:p>
            <a:pPr marL="2499995">
              <a:spcBef>
                <a:spcPts val="105"/>
              </a:spcBef>
            </a:pPr>
            <a:r>
              <a:rPr dirty="0"/>
              <a:t>Web</a:t>
            </a:r>
            <a:r>
              <a:rPr spc="-175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440940" y="1759966"/>
            <a:ext cx="10282555" cy="304237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819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A</a:t>
            </a:r>
            <a:r>
              <a:rPr spc="-40" dirty="0"/>
              <a:t> </a:t>
            </a:r>
            <a:r>
              <a:rPr dirty="0"/>
              <a:t>web</a:t>
            </a:r>
            <a:r>
              <a:rPr spc="-50" dirty="0"/>
              <a:t> </a:t>
            </a:r>
            <a:r>
              <a:rPr dirty="0"/>
              <a:t>service</a:t>
            </a:r>
            <a:r>
              <a:rPr spc="-4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any</a:t>
            </a:r>
            <a:r>
              <a:rPr spc="-40" dirty="0"/>
              <a:t> </a:t>
            </a:r>
            <a:r>
              <a:rPr dirty="0"/>
              <a:t>piece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software</a:t>
            </a:r>
            <a:r>
              <a:rPr spc="-50" dirty="0"/>
              <a:t> </a:t>
            </a:r>
            <a:r>
              <a:rPr dirty="0"/>
              <a:t>that</a:t>
            </a:r>
            <a:r>
              <a:rPr spc="-65" dirty="0"/>
              <a:t> </a:t>
            </a:r>
            <a:r>
              <a:rPr spc="-10" dirty="0"/>
              <a:t>makes </a:t>
            </a:r>
            <a:r>
              <a:rPr dirty="0"/>
              <a:t>itself</a:t>
            </a:r>
            <a:r>
              <a:rPr spc="-50" dirty="0"/>
              <a:t> </a:t>
            </a:r>
            <a:r>
              <a:rPr dirty="0"/>
              <a:t>available</a:t>
            </a:r>
            <a:r>
              <a:rPr spc="-45" dirty="0"/>
              <a:t> </a:t>
            </a:r>
            <a:r>
              <a:rPr dirty="0"/>
              <a:t>over</a:t>
            </a:r>
            <a:r>
              <a:rPr spc="-4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internet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uses</a:t>
            </a:r>
            <a:r>
              <a:rPr spc="-50" dirty="0"/>
              <a:t> a </a:t>
            </a:r>
            <a:r>
              <a:rPr spc="-10" dirty="0"/>
              <a:t>standardized</a:t>
            </a:r>
            <a:r>
              <a:rPr spc="-60" dirty="0"/>
              <a:t> </a:t>
            </a:r>
            <a:r>
              <a:rPr dirty="0"/>
              <a:t>XML</a:t>
            </a:r>
            <a:r>
              <a:rPr spc="-55" dirty="0"/>
              <a:t> </a:t>
            </a:r>
            <a:r>
              <a:rPr dirty="0"/>
              <a:t>messaging</a:t>
            </a:r>
            <a:r>
              <a:rPr spc="-50" dirty="0"/>
              <a:t> </a:t>
            </a:r>
            <a:r>
              <a:rPr spc="-10" dirty="0"/>
              <a:t>system.</a:t>
            </a:r>
          </a:p>
          <a:p>
            <a:pPr marL="355600" marR="154940" indent="-342900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A</a:t>
            </a:r>
            <a:r>
              <a:rPr spc="-45" dirty="0"/>
              <a:t> </a:t>
            </a:r>
            <a:r>
              <a:rPr dirty="0"/>
              <a:t>web</a:t>
            </a:r>
            <a:r>
              <a:rPr spc="-50" dirty="0"/>
              <a:t> </a:t>
            </a:r>
            <a:r>
              <a:rPr dirty="0"/>
              <a:t>service</a:t>
            </a:r>
            <a:r>
              <a:rPr spc="-4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10" dirty="0"/>
              <a:t>software</a:t>
            </a:r>
            <a:r>
              <a:rPr spc="-60" dirty="0"/>
              <a:t> </a:t>
            </a:r>
            <a:r>
              <a:rPr spc="-10" dirty="0"/>
              <a:t>system</a:t>
            </a:r>
            <a:r>
              <a:rPr spc="-55" dirty="0"/>
              <a:t> </a:t>
            </a:r>
            <a:r>
              <a:rPr dirty="0"/>
              <a:t>that</a:t>
            </a:r>
            <a:r>
              <a:rPr spc="-70" dirty="0"/>
              <a:t> </a:t>
            </a:r>
            <a:r>
              <a:rPr spc="-10" dirty="0"/>
              <a:t>supports interoperable</a:t>
            </a:r>
            <a:r>
              <a:rPr spc="-20" dirty="0"/>
              <a:t> </a:t>
            </a:r>
            <a:r>
              <a:rPr spc="-10" dirty="0"/>
              <a:t>machine-to-</a:t>
            </a:r>
            <a:r>
              <a:rPr dirty="0"/>
              <a:t>machine</a:t>
            </a:r>
            <a:r>
              <a:rPr spc="-55" dirty="0"/>
              <a:t> </a:t>
            </a:r>
            <a:r>
              <a:rPr spc="-10" dirty="0"/>
              <a:t>interaction </a:t>
            </a:r>
            <a:r>
              <a:rPr dirty="0"/>
              <a:t>over</a:t>
            </a:r>
            <a:r>
              <a:rPr spc="-2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10" dirty="0"/>
              <a:t>network.</a:t>
            </a:r>
          </a:p>
          <a:p>
            <a:pPr marL="355600" marR="257810" indent="-342900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Web</a:t>
            </a:r>
            <a:r>
              <a:rPr spc="-75" dirty="0"/>
              <a:t> </a:t>
            </a:r>
            <a:r>
              <a:rPr dirty="0"/>
              <a:t>services</a:t>
            </a:r>
            <a:r>
              <a:rPr spc="-70" dirty="0"/>
              <a:t> </a:t>
            </a:r>
            <a:r>
              <a:rPr dirty="0"/>
              <a:t>are</a:t>
            </a:r>
            <a:r>
              <a:rPr spc="-95" dirty="0"/>
              <a:t> </a:t>
            </a:r>
            <a:r>
              <a:rPr dirty="0"/>
              <a:t>open</a:t>
            </a:r>
            <a:r>
              <a:rPr spc="-85" dirty="0"/>
              <a:t> </a:t>
            </a:r>
            <a:r>
              <a:rPr spc="-10" dirty="0"/>
              <a:t>standard</a:t>
            </a:r>
            <a:r>
              <a:rPr spc="-70" dirty="0"/>
              <a:t> </a:t>
            </a:r>
            <a:r>
              <a:rPr dirty="0"/>
              <a:t>(XML,</a:t>
            </a:r>
            <a:r>
              <a:rPr spc="-70" dirty="0"/>
              <a:t> </a:t>
            </a:r>
            <a:r>
              <a:rPr spc="-10" dirty="0"/>
              <a:t>SOAP, </a:t>
            </a:r>
            <a:r>
              <a:rPr spc="-65" dirty="0"/>
              <a:t>HTTP,</a:t>
            </a:r>
            <a:r>
              <a:rPr spc="-55" dirty="0"/>
              <a:t> </a:t>
            </a:r>
            <a:r>
              <a:rPr dirty="0"/>
              <a:t>etc.)</a:t>
            </a:r>
            <a:r>
              <a:rPr spc="-85" dirty="0"/>
              <a:t> </a:t>
            </a:r>
            <a:r>
              <a:rPr dirty="0"/>
              <a:t>based</a:t>
            </a:r>
            <a:r>
              <a:rPr spc="-60" dirty="0"/>
              <a:t> </a:t>
            </a:r>
            <a:r>
              <a:rPr dirty="0"/>
              <a:t>web</a:t>
            </a:r>
            <a:r>
              <a:rPr spc="-70" dirty="0"/>
              <a:t> </a:t>
            </a:r>
            <a:r>
              <a:rPr spc="-10" dirty="0"/>
              <a:t>applications</a:t>
            </a:r>
            <a:r>
              <a:rPr spc="-65" dirty="0"/>
              <a:t> </a:t>
            </a:r>
            <a:r>
              <a:rPr dirty="0"/>
              <a:t>that</a:t>
            </a:r>
            <a:r>
              <a:rPr spc="-75" dirty="0"/>
              <a:t> </a:t>
            </a:r>
            <a:r>
              <a:rPr spc="-10" dirty="0"/>
              <a:t>interact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other</a:t>
            </a:r>
            <a:r>
              <a:rPr spc="-35" dirty="0"/>
              <a:t> </a:t>
            </a:r>
            <a:r>
              <a:rPr dirty="0"/>
              <a:t>web</a:t>
            </a:r>
            <a:r>
              <a:rPr spc="-50" dirty="0"/>
              <a:t> </a:t>
            </a:r>
            <a:r>
              <a:rPr dirty="0"/>
              <a:t>applications</a:t>
            </a:r>
            <a:r>
              <a:rPr spc="-35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purpose</a:t>
            </a:r>
            <a:r>
              <a:rPr spc="-35" dirty="0"/>
              <a:t> </a:t>
            </a:r>
            <a:r>
              <a:rPr spc="-25" dirty="0"/>
              <a:t>of </a:t>
            </a:r>
            <a:r>
              <a:rPr dirty="0"/>
              <a:t>exchanging</a:t>
            </a:r>
            <a:r>
              <a:rPr spc="-90" dirty="0"/>
              <a:t> </a:t>
            </a:r>
            <a:r>
              <a:rPr dirty="0"/>
              <a:t>data.</a:t>
            </a:r>
            <a:r>
              <a:rPr spc="-95" dirty="0"/>
              <a:t> </a:t>
            </a:r>
            <a:r>
              <a:rPr dirty="0"/>
              <a:t>Web</a:t>
            </a:r>
            <a:r>
              <a:rPr spc="-90" dirty="0"/>
              <a:t> </a:t>
            </a:r>
            <a:r>
              <a:rPr dirty="0"/>
              <a:t>services</a:t>
            </a:r>
            <a:r>
              <a:rPr spc="-90" dirty="0"/>
              <a:t> </a:t>
            </a:r>
            <a:r>
              <a:rPr dirty="0"/>
              <a:t>can</a:t>
            </a:r>
            <a:r>
              <a:rPr spc="-90" dirty="0"/>
              <a:t> </a:t>
            </a:r>
            <a:r>
              <a:rPr dirty="0"/>
              <a:t>convert</a:t>
            </a:r>
            <a:r>
              <a:rPr spc="-114" dirty="0"/>
              <a:t> </a:t>
            </a:r>
            <a:r>
              <a:rPr spc="-20" dirty="0"/>
              <a:t>your </a:t>
            </a:r>
            <a:r>
              <a:rPr dirty="0"/>
              <a:t>existing</a:t>
            </a:r>
            <a:r>
              <a:rPr spc="-90" dirty="0"/>
              <a:t> </a:t>
            </a:r>
            <a:r>
              <a:rPr dirty="0"/>
              <a:t>applications</a:t>
            </a:r>
            <a:r>
              <a:rPr spc="-105" dirty="0"/>
              <a:t> </a:t>
            </a:r>
            <a:r>
              <a:rPr dirty="0"/>
              <a:t>into</a:t>
            </a:r>
            <a:r>
              <a:rPr spc="-110" dirty="0"/>
              <a:t> </a:t>
            </a:r>
            <a:r>
              <a:rPr dirty="0"/>
              <a:t>web</a:t>
            </a:r>
            <a:r>
              <a:rPr spc="-105" dirty="0"/>
              <a:t> </a:t>
            </a:r>
            <a:r>
              <a:rPr spc="-10" dirty="0"/>
              <a:t>applications.</a:t>
            </a:r>
          </a:p>
        </p:txBody>
      </p:sp>
    </p:spTree>
    <p:extLst>
      <p:ext uri="{BB962C8B-B14F-4D97-AF65-F5344CB8AC3E}">
        <p14:creationId xmlns:p14="http://schemas.microsoft.com/office/powerpoint/2010/main" val="13374269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0939" y="308229"/>
            <a:ext cx="10358120" cy="1101839"/>
          </a:xfrm>
          <a:prstGeom prst="rect">
            <a:avLst/>
          </a:prstGeom>
        </p:spPr>
        <p:txBody>
          <a:bodyPr vert="horz" wrap="square" lIns="0" tIns="420623" rIns="0" bIns="0" rtlCol="0">
            <a:spAutoFit/>
          </a:bodyPr>
          <a:lstStyle/>
          <a:p>
            <a:pPr marL="1444625">
              <a:spcBef>
                <a:spcPts val="105"/>
              </a:spcBef>
            </a:pPr>
            <a:r>
              <a:rPr dirty="0"/>
              <a:t>Software</a:t>
            </a:r>
            <a:r>
              <a:rPr spc="-95" dirty="0"/>
              <a:t> </a:t>
            </a:r>
            <a:r>
              <a:rPr dirty="0"/>
              <a:t>As</a:t>
            </a:r>
            <a:r>
              <a:rPr spc="-85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1" y="1620977"/>
            <a:ext cx="7726045" cy="3528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Software</a:t>
            </a:r>
            <a:r>
              <a:rPr sz="32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as</a:t>
            </a:r>
            <a:r>
              <a:rPr sz="32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sz="32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service</a:t>
            </a:r>
            <a:r>
              <a:rPr sz="32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(or</a:t>
            </a:r>
            <a:r>
              <a:rPr sz="32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SaaS)</a:t>
            </a:r>
            <a:r>
              <a:rPr sz="32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sz="3200" spc="-7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sz="3200" b="1" spc="-1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3200" b="1" spc="-25" dirty="0">
                <a:solidFill>
                  <a:srgbClr val="1F2023"/>
                </a:solidFill>
                <a:latin typeface="Arial"/>
                <a:cs typeface="Arial"/>
              </a:rPr>
              <a:t>way </a:t>
            </a:r>
            <a:r>
              <a:rPr sz="3200" b="1" dirty="0">
                <a:solidFill>
                  <a:srgbClr val="1F2023"/>
                </a:solidFill>
                <a:latin typeface="Arial"/>
                <a:cs typeface="Arial"/>
              </a:rPr>
              <a:t>of</a:t>
            </a:r>
            <a:r>
              <a:rPr sz="3200" b="1" spc="-3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F2023"/>
                </a:solidFill>
                <a:latin typeface="Arial"/>
                <a:cs typeface="Arial"/>
              </a:rPr>
              <a:t>delivering</a:t>
            </a:r>
            <a:r>
              <a:rPr sz="3200" b="1" spc="-5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F2023"/>
                </a:solidFill>
                <a:latin typeface="Arial"/>
                <a:cs typeface="Arial"/>
              </a:rPr>
              <a:t>applications</a:t>
            </a:r>
            <a:r>
              <a:rPr sz="3200" b="1" spc="-6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F2023"/>
                </a:solidFill>
                <a:latin typeface="Arial"/>
                <a:cs typeface="Arial"/>
              </a:rPr>
              <a:t>over</a:t>
            </a:r>
            <a:r>
              <a:rPr sz="3200" b="1" spc="-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3200" b="1" spc="-25" dirty="0">
                <a:solidFill>
                  <a:srgbClr val="1F2023"/>
                </a:solidFill>
                <a:latin typeface="Arial"/>
                <a:cs typeface="Arial"/>
              </a:rPr>
              <a:t>the </a:t>
            </a:r>
            <a:r>
              <a:rPr sz="3200" b="1" spc="-10" dirty="0">
                <a:solidFill>
                  <a:srgbClr val="1F2023"/>
                </a:solidFill>
                <a:latin typeface="Arial"/>
                <a:cs typeface="Arial"/>
              </a:rPr>
              <a:t>Internet—</a:t>
            </a:r>
            <a:r>
              <a:rPr sz="3200" b="1" dirty="0">
                <a:solidFill>
                  <a:srgbClr val="1F2023"/>
                </a:solidFill>
                <a:latin typeface="Arial"/>
                <a:cs typeface="Arial"/>
              </a:rPr>
              <a:t>as</a:t>
            </a:r>
            <a:r>
              <a:rPr sz="3200" b="1" spc="-15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sz="3200" b="1" spc="20" dirty="0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1F2023"/>
                </a:solidFill>
                <a:latin typeface="Arial"/>
                <a:cs typeface="Arial"/>
              </a:rPr>
              <a:t>service</a:t>
            </a:r>
            <a:r>
              <a:rPr sz="3200" spc="-10" dirty="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355600" marR="427355" indent="-342900">
              <a:lnSpc>
                <a:spcPct val="99300"/>
              </a:lnSpc>
              <a:spcBef>
                <a:spcPts val="800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Instead</a:t>
            </a:r>
            <a:r>
              <a:rPr sz="3200" spc="-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sz="32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installing</a:t>
            </a:r>
            <a:r>
              <a:rPr sz="32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sz="3200" spc="-2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F2023"/>
                </a:solidFill>
                <a:latin typeface="Arial MT"/>
                <a:cs typeface="Arial MT"/>
              </a:rPr>
              <a:t>maintaining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software,</a:t>
            </a:r>
            <a:r>
              <a:rPr sz="3200" spc="-3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you</a:t>
            </a:r>
            <a:r>
              <a:rPr sz="32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simply</a:t>
            </a:r>
            <a:r>
              <a:rPr sz="32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access</a:t>
            </a:r>
            <a:r>
              <a:rPr sz="32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it</a:t>
            </a:r>
            <a:r>
              <a:rPr sz="32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via</a:t>
            </a:r>
            <a:r>
              <a:rPr sz="3200" spc="-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1F2023"/>
                </a:solidFill>
                <a:latin typeface="Arial MT"/>
                <a:cs typeface="Arial MT"/>
              </a:rPr>
              <a:t>the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Internet,</a:t>
            </a:r>
            <a:r>
              <a:rPr sz="32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freeing</a:t>
            </a:r>
            <a:r>
              <a:rPr sz="32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yourself</a:t>
            </a:r>
            <a:r>
              <a:rPr sz="3200" spc="-3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from</a:t>
            </a:r>
            <a:r>
              <a:rPr sz="3200" spc="-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F2023"/>
                </a:solidFill>
                <a:latin typeface="Arial MT"/>
                <a:cs typeface="Arial MT"/>
              </a:rPr>
              <a:t>complex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software</a:t>
            </a:r>
            <a:r>
              <a:rPr sz="3200" spc="-5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sz="3200" spc="-5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023"/>
                </a:solidFill>
                <a:latin typeface="Arial MT"/>
                <a:cs typeface="Arial MT"/>
              </a:rPr>
              <a:t>hardware</a:t>
            </a:r>
            <a:r>
              <a:rPr sz="3200" spc="-5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F2023"/>
                </a:solidFill>
                <a:latin typeface="Arial MT"/>
                <a:cs typeface="Arial MT"/>
              </a:rPr>
              <a:t>management.</a:t>
            </a:r>
            <a:endParaRPr sz="3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406808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0939" y="308229"/>
            <a:ext cx="10358120" cy="1101839"/>
          </a:xfrm>
          <a:prstGeom prst="rect">
            <a:avLst/>
          </a:prstGeom>
        </p:spPr>
        <p:txBody>
          <a:bodyPr vert="horz" wrap="square" lIns="0" tIns="420623" rIns="0" bIns="0" rtlCol="0">
            <a:spAutoFit/>
          </a:bodyPr>
          <a:lstStyle/>
          <a:p>
            <a:pPr marL="3377565">
              <a:spcBef>
                <a:spcPts val="105"/>
              </a:spcBef>
            </a:pPr>
            <a:r>
              <a:rPr spc="-20" dirty="0"/>
              <a:t>SaaS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1" y="1607261"/>
            <a:ext cx="7852409" cy="43633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51205" indent="-342900"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Instead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developing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Software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purchase </a:t>
            </a:r>
            <a:r>
              <a:rPr sz="3200" dirty="0">
                <a:latin typeface="Calibri"/>
                <a:cs typeface="Calibri"/>
              </a:rPr>
              <a:t>services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third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party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Like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automate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university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system,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HR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 </a:t>
            </a:r>
            <a:r>
              <a:rPr sz="3200" spc="-20" dirty="0">
                <a:latin typeface="Calibri"/>
                <a:cs typeface="Calibri"/>
              </a:rPr>
              <a:t>etc.</a:t>
            </a:r>
            <a:endParaRPr sz="3200">
              <a:latin typeface="Calibri"/>
              <a:cs typeface="Calibri"/>
            </a:endParaRPr>
          </a:p>
          <a:p>
            <a:pPr marL="355600" marR="17780" indent="-342900"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Here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move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company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already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solution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problem</a:t>
            </a:r>
            <a:endParaRPr sz="3200">
              <a:latin typeface="Calibri"/>
              <a:cs typeface="Calibri"/>
            </a:endParaRPr>
          </a:p>
          <a:p>
            <a:pPr marL="354965" indent="-342265"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normally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paid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cloud</a:t>
            </a:r>
            <a:endParaRPr sz="3200">
              <a:latin typeface="Calibri"/>
              <a:cs typeface="Calibri"/>
            </a:endParaRPr>
          </a:p>
          <a:p>
            <a:pPr marL="354965" indent="-342265"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Common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example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Dropbox,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gmail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3355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1535</TotalTime>
  <Words>1839</Words>
  <Application>Microsoft Office PowerPoint</Application>
  <PresentationFormat>Widescreen</PresentationFormat>
  <Paragraphs>268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Arial MT</vt:lpstr>
      <vt:lpstr>Calibri</vt:lpstr>
      <vt:lpstr>Calibri Light</vt:lpstr>
      <vt:lpstr>Wingdings</vt:lpstr>
      <vt:lpstr>Office Theme</vt:lpstr>
      <vt:lpstr>Introduction to Web Engineering Lecture # 1</vt:lpstr>
      <vt:lpstr>Web Engineering</vt:lpstr>
      <vt:lpstr>Web Application</vt:lpstr>
      <vt:lpstr>Types of Applications</vt:lpstr>
      <vt:lpstr>Types of Web Applications</vt:lpstr>
      <vt:lpstr>Difference between Websites and Web Application</vt:lpstr>
      <vt:lpstr>Internet</vt:lpstr>
      <vt:lpstr>Internet Protocols</vt:lpstr>
      <vt:lpstr>PowerPoint Presentation</vt:lpstr>
      <vt:lpstr>Internet Protocol (IP)</vt:lpstr>
      <vt:lpstr>User Datagram Protocol (UDP)</vt:lpstr>
      <vt:lpstr>Simple mail transport Protocol (SMTP) / Post office Protocol (POP)</vt:lpstr>
      <vt:lpstr>File Transfer Protocol (FTP)</vt:lpstr>
      <vt:lpstr>Hyper Text Transfer Protocol (HTTP) / Hyper Text Transfer Protocol Secure (HTTPS)</vt:lpstr>
      <vt:lpstr>URL (Uniform Resource Locator)</vt:lpstr>
      <vt:lpstr>Web Browser</vt:lpstr>
      <vt:lpstr>ISP (Internet Service Provider)</vt:lpstr>
      <vt:lpstr>Hyperlink</vt:lpstr>
      <vt:lpstr>DNS (Domain Name System (DNS)</vt:lpstr>
      <vt:lpstr>Web Generations</vt:lpstr>
      <vt:lpstr>Web Generations</vt:lpstr>
      <vt:lpstr>What is a Web site?</vt:lpstr>
      <vt:lpstr>What is a Web Search Engine?</vt:lpstr>
      <vt:lpstr>I know I can read off the Web.  Am I allowed to put my stuff on the Web?</vt:lpstr>
      <vt:lpstr>Impact of the Web on Computing</vt:lpstr>
      <vt:lpstr>Impact of the Web on Society</vt:lpstr>
      <vt:lpstr>Impact of the Web on Commerce</vt:lpstr>
      <vt:lpstr> The Future: The Semantic Web</vt:lpstr>
      <vt:lpstr>The Semantic Web</vt:lpstr>
      <vt:lpstr>Web Application  Architecture</vt:lpstr>
      <vt:lpstr>Layers</vt:lpstr>
      <vt:lpstr>Layers</vt:lpstr>
      <vt:lpstr>Evolution of Enterprise Application Framework  for C/S Arc</vt:lpstr>
      <vt:lpstr>Client-server architectures  1-tier Architecture</vt:lpstr>
      <vt:lpstr>Client-server architectures  1-tier Evaluation</vt:lpstr>
      <vt:lpstr>  Client-server architectures     2-tier Architecture</vt:lpstr>
      <vt:lpstr>A client-server system</vt:lpstr>
      <vt:lpstr> Client-server architectures    2-tier Evaluation</vt:lpstr>
      <vt:lpstr>A client-server ATM system</vt:lpstr>
      <vt:lpstr>Three Tier Architecture</vt:lpstr>
      <vt:lpstr>Three Tier Architecture</vt:lpstr>
      <vt:lpstr>Three Tier Architecture</vt:lpstr>
      <vt:lpstr>Client-Server Architecture</vt:lpstr>
      <vt:lpstr>Client-Server Architecture</vt:lpstr>
      <vt:lpstr>Client-Server Architecture</vt:lpstr>
      <vt:lpstr>Client-Server Architecture</vt:lpstr>
      <vt:lpstr>Web Service</vt:lpstr>
      <vt:lpstr>Software As A Service</vt:lpstr>
      <vt:lpstr>SaaS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Engineering</dc:title>
  <dc:creator>Ali Saeed</dc:creator>
  <cp:lastModifiedBy>Microsoft account</cp:lastModifiedBy>
  <cp:revision>11</cp:revision>
  <dcterms:created xsi:type="dcterms:W3CDTF">2025-02-20T05:36:02Z</dcterms:created>
  <dcterms:modified xsi:type="dcterms:W3CDTF">2025-09-30T07:18:05Z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2008-07-17T00:00:00Z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2025-02-20T00:00:00Z</vt:filetime>
  </property>
  <property fmtid="{D5CDD505-2E9C-101B-9397-08002B2CF9AE}" pid="5" name="Producer">
    <vt:lpwstr>Microsoft® PowerPoint® 2013</vt:lpwstr>
  </property>
</Properties>
</file>
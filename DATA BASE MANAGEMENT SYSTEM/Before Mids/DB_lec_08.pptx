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FB0BF-2B39-4FA3-AA3B-50C528D0123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19676-F383-43FC-93C2-6690645022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69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Entity Relationship (ER) Data Model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8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hangingPunct="0"/>
            <a:r>
              <a:rPr lang="en-US" dirty="0" smtClean="0"/>
              <a:t>Using high-level conceptual data models for database design</a:t>
            </a:r>
          </a:p>
          <a:p>
            <a:pPr lvl="0" hangingPunct="0"/>
            <a:r>
              <a:rPr lang="en-US" dirty="0" smtClean="0"/>
              <a:t>Entity Relationship (ER) Data Model</a:t>
            </a:r>
          </a:p>
          <a:p>
            <a:pPr lvl="0" hangingPunct="0"/>
            <a:r>
              <a:rPr lang="en-US" dirty="0" smtClean="0"/>
              <a:t>Example Company database</a:t>
            </a:r>
          </a:p>
          <a:p>
            <a:pPr lvl="0" hangingPunct="0"/>
            <a:r>
              <a:rPr lang="en-US" dirty="0" smtClean="0"/>
              <a:t>Constructs in ER data models</a:t>
            </a:r>
          </a:p>
          <a:p>
            <a:pPr lvl="0" hangingPunct="0"/>
            <a:r>
              <a:rPr lang="en-US" dirty="0" smtClean="0"/>
              <a:t>Types of Attributes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High-Level Conceptual Data Models for Database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Requirements collection and analysis</a:t>
            </a:r>
          </a:p>
          <a:p>
            <a:pPr lvl="1"/>
            <a:r>
              <a:rPr lang="en-US" dirty="0" smtClean="0"/>
              <a:t>Understand and document their data requirements</a:t>
            </a:r>
          </a:p>
          <a:p>
            <a:r>
              <a:rPr lang="en-US" dirty="0" smtClean="0"/>
              <a:t>In parallel with data requirements specify the known functional requirements</a:t>
            </a:r>
          </a:p>
          <a:p>
            <a:pPr lvl="1"/>
            <a:r>
              <a:rPr lang="en-US" dirty="0" smtClean="0"/>
              <a:t>Consists of user-defined operations or transactions including both retrieval and update</a:t>
            </a:r>
          </a:p>
          <a:p>
            <a:r>
              <a:rPr lang="en-US" dirty="0" smtClean="0"/>
              <a:t>Create a conceptual schema for the database</a:t>
            </a:r>
          </a:p>
          <a:p>
            <a:pPr lvl="1"/>
            <a:r>
              <a:rPr lang="en-US" dirty="0" smtClean="0"/>
              <a:t>Conceptual design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 descr="31755_FIG0301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09800" y="685800"/>
            <a:ext cx="6705600" cy="6007100"/>
          </a:xfr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" y="685800"/>
            <a:ext cx="6400800" cy="914400"/>
          </a:xfrm>
        </p:spPr>
        <p:txBody>
          <a:bodyPr>
            <a:noAutofit/>
          </a:bodyPr>
          <a:lstStyle/>
          <a:p>
            <a:r>
              <a:rPr lang="en-US" sz="3200" dirty="0" smtClean="0"/>
              <a:t>Using High-Level Conceptual Data Models for Database Design</a:t>
            </a:r>
            <a:endParaRPr lang="en-US" sz="3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High-Level Conceptual Data Models for Database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608576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During or after conceptual schema design, specify the high-level user operations identified during functional analysis</a:t>
            </a:r>
          </a:p>
          <a:p>
            <a:r>
              <a:rPr lang="en-US" dirty="0" smtClean="0"/>
              <a:t>Conceptual schema can be modified if some functional requirements are not meet</a:t>
            </a:r>
          </a:p>
          <a:p>
            <a:r>
              <a:rPr lang="en-US" dirty="0" smtClean="0"/>
              <a:t>Next is the actual implementation of the database using a commercial DBMS (i.e., transformation from high-level data model into implementation model)</a:t>
            </a:r>
          </a:p>
          <a:p>
            <a:pPr lvl="1"/>
            <a:r>
              <a:rPr lang="en-US" dirty="0" smtClean="0"/>
              <a:t>Using relational or object-relational models</a:t>
            </a:r>
          </a:p>
          <a:p>
            <a:pPr lvl="1"/>
            <a:r>
              <a:rPr lang="en-US" dirty="0" smtClean="0"/>
              <a:t>Also called Logical design or data model mapping</a:t>
            </a:r>
          </a:p>
          <a:p>
            <a:r>
              <a:rPr lang="en-US" dirty="0" smtClean="0"/>
              <a:t>Physical design (internal storage structure, file organization, indexes, access paths, physical design parameters are specified)</a:t>
            </a:r>
          </a:p>
          <a:p>
            <a:r>
              <a:rPr lang="en-US" dirty="0" smtClean="0"/>
              <a:t>In parallel, application programs are designed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Entity-Relationship (ER)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Conceptual Design</a:t>
            </a:r>
          </a:p>
          <a:p>
            <a:r>
              <a:rPr lang="en-US" dirty="0" smtClean="0"/>
              <a:t>Semantic data model that is used for the graphical representation of the conceptual database design</a:t>
            </a:r>
          </a:p>
          <a:p>
            <a:r>
              <a:rPr lang="en-US" dirty="0" smtClean="0"/>
              <a:t>A database ‘schema’ in the ER Model can be represented pictorially (ER diagrams).</a:t>
            </a:r>
          </a:p>
          <a:p>
            <a:r>
              <a:rPr lang="en-US" dirty="0" smtClean="0"/>
              <a:t> Can map an ER diagram into a relational schema.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219200"/>
            <a:ext cx="7772400" cy="766762"/>
          </a:xfrm>
        </p:spPr>
        <p:txBody>
          <a:bodyPr/>
          <a:lstStyle/>
          <a:p>
            <a:r>
              <a:rPr lang="en-US" b="1" dirty="0"/>
              <a:t>Example COMPANY Database</a:t>
            </a:r>
            <a:endParaRPr lang="en-US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Requirements of the Company (oversimplified for illustrative purposes)</a:t>
            </a:r>
          </a:p>
          <a:p>
            <a:pPr lvl="1"/>
            <a:r>
              <a:rPr lang="en-US" sz="2500"/>
              <a:t>The company is organized into DEPARTMENTs. Each department has a name, number and an employee who </a:t>
            </a:r>
            <a:r>
              <a:rPr lang="en-US" sz="2500" i="1"/>
              <a:t>manages </a:t>
            </a:r>
            <a:r>
              <a:rPr lang="en-US" sz="2500"/>
              <a:t>the department. We keep track of the start date of the department</a:t>
            </a:r>
            <a:r>
              <a:rPr lang="en-US" sz="2500" i="1"/>
              <a:t> </a:t>
            </a:r>
            <a:r>
              <a:rPr lang="en-US" sz="2500"/>
              <a:t>manager.</a:t>
            </a:r>
            <a:r>
              <a:rPr lang="en-US" sz="2500" i="1"/>
              <a:t> </a:t>
            </a:r>
          </a:p>
          <a:p>
            <a:pPr lvl="1"/>
            <a:r>
              <a:rPr lang="en-US" sz="2500"/>
              <a:t>Each department</a:t>
            </a:r>
            <a:r>
              <a:rPr lang="en-US" sz="2500" i="1"/>
              <a:t> controls </a:t>
            </a:r>
            <a:r>
              <a:rPr lang="en-US" sz="2500"/>
              <a:t>a number of PROJECTs</a:t>
            </a:r>
            <a:r>
              <a:rPr lang="en-US" sz="2500" i="1"/>
              <a:t>. </a:t>
            </a:r>
            <a:r>
              <a:rPr lang="en-US" sz="2500"/>
              <a:t>Each project has a name, number and is</a:t>
            </a:r>
            <a:r>
              <a:rPr lang="en-US" sz="2500" i="1"/>
              <a:t> </a:t>
            </a:r>
            <a:r>
              <a:rPr lang="en-US" sz="2500"/>
              <a:t>located at a single location.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295400"/>
            <a:ext cx="7292975" cy="75406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Example COMPANY Database (Cont.)</a:t>
            </a:r>
            <a:endParaRPr lang="en-US" sz="3600" dirty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SzPct val="150000"/>
            </a:pPr>
            <a:r>
              <a:rPr lang="en-US" sz="2500"/>
              <a:t>We store each EMPLOYEE’s social security number, address, salary, sex, and birthdate. Each employee </a:t>
            </a:r>
            <a:r>
              <a:rPr lang="en-US" sz="2500" i="1"/>
              <a:t>works for</a:t>
            </a:r>
            <a:r>
              <a:rPr lang="en-US" sz="2500"/>
              <a:t> one department but may </a:t>
            </a:r>
            <a:r>
              <a:rPr lang="en-US" sz="2500" i="1"/>
              <a:t>work on</a:t>
            </a:r>
            <a:r>
              <a:rPr lang="en-US" sz="2500"/>
              <a:t> several projects. We keep track of the number of hours per week that an employee currently works on each project. We also keep track of the </a:t>
            </a:r>
            <a:r>
              <a:rPr lang="en-US" sz="2500" i="1"/>
              <a:t>direct supervisor</a:t>
            </a:r>
            <a:r>
              <a:rPr lang="en-US" sz="2500"/>
              <a:t> of each employee.</a:t>
            </a:r>
          </a:p>
          <a:p>
            <a:pPr lvl="1">
              <a:buSzPct val="150000"/>
            </a:pPr>
            <a:r>
              <a:rPr lang="en-US" sz="2500"/>
              <a:t>Each employee may </a:t>
            </a:r>
            <a:r>
              <a:rPr lang="en-US" sz="2500" i="1"/>
              <a:t>have</a:t>
            </a:r>
            <a:r>
              <a:rPr lang="en-US" sz="2500"/>
              <a:t> a number of DEPENDENTs. For each dependent, we keep track of their name, sex, birthdate, and relationship to employee.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An ER schema diagram for the COMPANY database</a:t>
            </a:r>
            <a:endParaRPr lang="en-US" sz="2800" dirty="0"/>
          </a:p>
        </p:txBody>
      </p:sp>
      <p:pic>
        <p:nvPicPr>
          <p:cNvPr id="4" name="Picture 5" descr="3.2.gif          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1914525"/>
            <a:ext cx="7848600" cy="4943475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Constructs in ER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E-R data model supports following major constructs:</a:t>
            </a:r>
          </a:p>
          <a:p>
            <a:pPr lvl="1"/>
            <a:r>
              <a:rPr lang="en-US" dirty="0" smtClean="0"/>
              <a:t>Entity</a:t>
            </a:r>
          </a:p>
          <a:p>
            <a:pPr lvl="1"/>
            <a:r>
              <a:rPr lang="en-US" dirty="0" smtClean="0"/>
              <a:t>Attribute</a:t>
            </a:r>
          </a:p>
          <a:p>
            <a:pPr lvl="1"/>
            <a:r>
              <a:rPr lang="en-US" dirty="0" smtClean="0"/>
              <a:t>Relationship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smtClean="0"/>
              <a:t>Real-world object </a:t>
            </a:r>
            <a:r>
              <a:rPr lang="en-US" sz="2400" dirty="0" smtClean="0"/>
              <a:t>which is distinguishable from other objects.</a:t>
            </a:r>
          </a:p>
          <a:p>
            <a:endParaRPr lang="en-US" sz="2400" dirty="0" smtClean="0"/>
          </a:p>
          <a:p>
            <a:r>
              <a:rPr lang="en-US" sz="2400" dirty="0" smtClean="0"/>
              <a:t>Entity may have physical or conceptual existence.</a:t>
            </a:r>
          </a:p>
          <a:p>
            <a:endParaRPr lang="en-US" sz="2300" dirty="0" smtClean="0"/>
          </a:p>
          <a:p>
            <a:r>
              <a:rPr lang="en-US" sz="2300" dirty="0" smtClean="0"/>
              <a:t>Entities are specific objects or things in the mini-world that are represented in the database. For example the EMPLOYEE John Smith, the Research DEPARTMENT, the </a:t>
            </a:r>
            <a:r>
              <a:rPr lang="en-US" sz="2300" dirty="0" err="1" smtClean="0"/>
              <a:t>ProductX</a:t>
            </a:r>
            <a:r>
              <a:rPr lang="en-US" sz="2300" dirty="0" smtClean="0"/>
              <a:t> PROJECT</a:t>
            </a:r>
          </a:p>
          <a:p>
            <a:endParaRPr lang="en-US" sz="2300" dirty="0" smtClean="0"/>
          </a:p>
          <a:p>
            <a:r>
              <a:rPr lang="en-US" sz="2300" dirty="0" smtClean="0"/>
              <a:t>A specific entity will have a value for each of its attributes. For example a specific employee entity may have Name='John Smith', SSN='123456789', Address ='731, </a:t>
            </a:r>
            <a:r>
              <a:rPr lang="en-US" sz="2300" dirty="0" err="1" smtClean="0"/>
              <a:t>Fondren</a:t>
            </a:r>
            <a:r>
              <a:rPr lang="en-US" sz="2300" dirty="0" smtClean="0"/>
              <a:t>, Houston, TX', Sex='M', </a:t>
            </a:r>
            <a:r>
              <a:rPr lang="en-US" sz="2300" dirty="0" err="1" smtClean="0"/>
              <a:t>BirthDate</a:t>
            </a:r>
            <a:r>
              <a:rPr lang="en-US" sz="2300" dirty="0" smtClean="0"/>
              <a:t>='09-JAN-55‘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sz="2300" dirty="0" smtClean="0"/>
              <a:t>Attributes are properties used to describe an entity. For example an EMPLOYEE entity may have a Name, SSN, Address, Sex, </a:t>
            </a:r>
            <a:r>
              <a:rPr lang="en-US" sz="2300" dirty="0" err="1" smtClean="0"/>
              <a:t>BirthDate</a:t>
            </a:r>
            <a:endParaRPr lang="en-US" sz="2300" dirty="0" smtClean="0"/>
          </a:p>
          <a:p>
            <a:pPr marL="342900" indent="-342900"/>
            <a:endParaRPr lang="en-US" sz="2300" dirty="0"/>
          </a:p>
          <a:p>
            <a:pPr marL="342900" indent="-342900"/>
            <a:r>
              <a:rPr lang="en-US" sz="2300" dirty="0" smtClean="0"/>
              <a:t>An entity is described (in DB) using a set of attributes</a:t>
            </a:r>
          </a:p>
          <a:p>
            <a:pPr marL="342900" indent="-342900"/>
            <a:endParaRPr lang="en-US" sz="2300" dirty="0" smtClean="0"/>
          </a:p>
          <a:p>
            <a:pPr marL="342900" indent="-342900"/>
            <a:r>
              <a:rPr lang="en-US" sz="2300" dirty="0" smtClean="0"/>
              <a:t>Each attribute has a </a:t>
            </a:r>
            <a:r>
              <a:rPr lang="en-US" sz="2300" i="1" dirty="0" smtClean="0"/>
              <a:t>value set</a:t>
            </a:r>
            <a:r>
              <a:rPr lang="en-US" sz="2300" dirty="0" smtClean="0"/>
              <a:t> (or data type) associated with it – e.g. integer</a:t>
            </a:r>
            <a:r>
              <a:rPr lang="en-US" sz="2300" smtClean="0"/>
              <a:t>, string, </a:t>
            </a:r>
            <a:r>
              <a:rPr lang="en-US" sz="2300" dirty="0" smtClean="0"/>
              <a:t>enumerated type, …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Association among two or more entities. E.g., Ahmad works in Pharmacy department.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Two entities, employee e</a:t>
            </a:r>
            <a:r>
              <a:rPr lang="en-US" baseline="-25000" dirty="0" smtClean="0"/>
              <a:t>1</a:t>
            </a:r>
            <a:r>
              <a:rPr lang="en-US" dirty="0" smtClean="0"/>
              <a:t> and company c</a:t>
            </a:r>
            <a:r>
              <a:rPr lang="en-US" baseline="-25000" dirty="0" smtClean="0"/>
              <a:t>1</a:t>
            </a:r>
            <a:r>
              <a:rPr lang="en-US" dirty="0" smtClean="0"/>
              <a:t>, and their attributes</a:t>
            </a:r>
            <a:endParaRPr lang="en-US" dirty="0"/>
          </a:p>
        </p:txBody>
      </p:sp>
      <p:pic>
        <p:nvPicPr>
          <p:cNvPr id="4" name="Picture 5" descr="31755_FIG0303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3400" y="3429000"/>
            <a:ext cx="7772400" cy="2481263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355</TotalTime>
  <Words>683</Words>
  <Application>Microsoft Office PowerPoint</Application>
  <PresentationFormat>On-screen Show (4:3)</PresentationFormat>
  <Paragraphs>89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Urban</vt:lpstr>
      <vt:lpstr>Database Systems </vt:lpstr>
      <vt:lpstr>Today’s agenda</vt:lpstr>
      <vt:lpstr>Using High-Level Conceptual Data Models for Database Design</vt:lpstr>
      <vt:lpstr>Using High-Level Conceptual Data Models for Database Design</vt:lpstr>
      <vt:lpstr>Using High-Level Conceptual Data Models for Database Design</vt:lpstr>
      <vt:lpstr>Entity-Relationship (ER) Data Model</vt:lpstr>
      <vt:lpstr>Example COMPANY Database</vt:lpstr>
      <vt:lpstr>Example COMPANY Database (Cont.)</vt:lpstr>
      <vt:lpstr>An ER schema diagram for the COMPANY database</vt:lpstr>
      <vt:lpstr>Constructs in ER Data Model</vt:lpstr>
      <vt:lpstr>Entities</vt:lpstr>
      <vt:lpstr>Attributes</vt:lpstr>
      <vt:lpstr>Relationships</vt:lpstr>
      <vt:lpstr>Two entities, employee e1 and company c1, and their attributes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</dc:title>
  <dc:creator>RANA</dc:creator>
  <cp:lastModifiedBy>Mehtab</cp:lastModifiedBy>
  <cp:revision>20</cp:revision>
  <dcterms:created xsi:type="dcterms:W3CDTF">2006-08-16T00:00:00Z</dcterms:created>
  <dcterms:modified xsi:type="dcterms:W3CDTF">2019-10-15T05:18:50Z</dcterms:modified>
</cp:coreProperties>
</file>
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handoutMasterIdLst>
    <p:handoutMasterId r:id="rId21"/>
  </p:handoutMasterIdLst>
  <p:sldIdLst>
    <p:sldId id="256" r:id="rId2"/>
    <p:sldId id="294" r:id="rId3"/>
    <p:sldId id="267" r:id="rId4"/>
    <p:sldId id="298" r:id="rId5"/>
    <p:sldId id="296" r:id="rId6"/>
    <p:sldId id="268" r:id="rId7"/>
    <p:sldId id="269" r:id="rId8"/>
    <p:sldId id="271" r:id="rId9"/>
    <p:sldId id="272" r:id="rId10"/>
    <p:sldId id="259" r:id="rId11"/>
    <p:sldId id="274" r:id="rId12"/>
    <p:sldId id="277" r:id="rId13"/>
    <p:sldId id="297" r:id="rId14"/>
    <p:sldId id="299" r:id="rId15"/>
    <p:sldId id="275" r:id="rId16"/>
    <p:sldId id="278" r:id="rId17"/>
    <p:sldId id="276" r:id="rId18"/>
    <p:sldId id="295"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D402A18-BAD7-4236-900A-6B677940A7AA}" type="datetimeFigureOut">
              <a:rPr lang="en-US" smtClean="0"/>
              <a:t>9/22/2021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45A3EA-5CE1-462B-829B-378B76B5AD67}" type="slidenum">
              <a:rPr lang="en-US" smtClean="0"/>
              <a:t>‹#›</a:t>
            </a:fld>
            <a:endParaRPr lang="en-US"/>
          </a:p>
        </p:txBody>
      </p:sp>
    </p:spTree>
    <p:extLst>
      <p:ext uri="{BB962C8B-B14F-4D97-AF65-F5344CB8AC3E}">
        <p14:creationId xmlns:p14="http://schemas.microsoft.com/office/powerpoint/2010/main" val="30067106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79CF54-98EC-4646-86E7-B7725D6E41F1}" type="datetimeFigureOut">
              <a:rPr lang="en-US" smtClean="0"/>
              <a:pPr/>
              <a:t>9/22/2021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74436A-02D0-41B9-BA1E-EACB45037365}" type="slidenum">
              <a:rPr lang="en-US" smtClean="0"/>
              <a:pPr/>
              <a:t>‹#›</a:t>
            </a:fld>
            <a:endParaRPr lang="en-US"/>
          </a:p>
        </p:txBody>
      </p:sp>
    </p:spTree>
    <p:extLst>
      <p:ext uri="{BB962C8B-B14F-4D97-AF65-F5344CB8AC3E}">
        <p14:creationId xmlns:p14="http://schemas.microsoft.com/office/powerpoint/2010/main" val="792894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74436A-02D0-41B9-BA1E-EACB45037365}" type="slidenum">
              <a:rPr lang="en-US" smtClean="0"/>
              <a:pPr/>
              <a:t>14</a:t>
            </a:fld>
            <a:endParaRPr lang="en-US"/>
          </a:p>
        </p:txBody>
      </p:sp>
    </p:spTree>
    <p:extLst>
      <p:ext uri="{BB962C8B-B14F-4D97-AF65-F5344CB8AC3E}">
        <p14:creationId xmlns:p14="http://schemas.microsoft.com/office/powerpoint/2010/main" val="98719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17" name="Footer Placeholder 16"/>
          <p:cNvSpPr>
            <a:spLocks noGrp="1"/>
          </p:cNvSpPr>
          <p:nvPr>
            <p:ph type="ftr" sz="quarter" idx="11"/>
          </p:nvPr>
        </p:nvSpPr>
        <p:spPr>
          <a:xfrm>
            <a:off x="5410200" y="4205288"/>
            <a:ext cx="1295400" cy="457200"/>
          </a:xfrm>
        </p:spPr>
        <p:txBody>
          <a:bodyPr/>
          <a:lstStyle/>
          <a:p>
            <a:r>
              <a:rPr lang="en-US" smtClean="0"/>
              <a:t>Database Management Systems</a:t>
            </a:r>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5" name="Footer Placeholder 4"/>
          <p:cNvSpPr>
            <a:spLocks noGrp="1"/>
          </p:cNvSpPr>
          <p:nvPr>
            <p:ph type="ftr" sz="quarter" idx="11"/>
          </p:nvPr>
        </p:nvSpPr>
        <p:spPr>
          <a:xfrm>
            <a:off x="5257800" y="612648"/>
            <a:ext cx="1676400" cy="457200"/>
          </a:xfrm>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7" name="Slide Number Placeholder 26"/>
          <p:cNvSpPr>
            <a:spLocks noGrp="1"/>
          </p:cNvSpPr>
          <p:nvPr>
            <p:ph type="sldNum" sz="quarter" idx="11"/>
          </p:nvPr>
        </p:nvSpPr>
        <p:spPr/>
        <p:txBody>
          <a:bodyPr rtlCol="0"/>
          <a:lstStyle/>
          <a:p>
            <a:fld id="{B6F15528-21DE-4FAA-801E-634DDDAF4B2B}" type="slidenum">
              <a:rPr lang="en-US" smtClean="0"/>
              <a:pPr/>
              <a:t>‹#›</a:t>
            </a:fld>
            <a:endParaRPr lang="en-US"/>
          </a:p>
        </p:txBody>
      </p:sp>
      <p:sp>
        <p:nvSpPr>
          <p:cNvPr id="28" name="Footer Placeholder 27"/>
          <p:cNvSpPr>
            <a:spLocks noGrp="1"/>
          </p:cNvSpPr>
          <p:nvPr>
            <p:ph type="ftr" sz="quarter" idx="12"/>
          </p:nvPr>
        </p:nvSpPr>
        <p:spPr/>
        <p:txBody>
          <a:bodyPr rtlCol="0"/>
          <a:lstStyle/>
          <a:p>
            <a:r>
              <a:rPr lang="en-US" smtClean="0"/>
              <a:t>Database Management Systems</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4" name="Footer Placeholder 3"/>
          <p:cNvSpPr>
            <a:spLocks noGrp="1"/>
          </p:cNvSpPr>
          <p:nvPr>
            <p:ph type="ftr" sz="quarter" idx="11"/>
          </p:nvPr>
        </p:nvSpPr>
        <p:spPr>
          <a:xfrm>
            <a:off x="5257800" y="612648"/>
            <a:ext cx="1325880" cy="457200"/>
          </a:xfrm>
        </p:spPr>
        <p:txBody>
          <a:bodyPr/>
          <a:lstStyle/>
          <a:p>
            <a:r>
              <a:rPr lang="en-US" smtClean="0"/>
              <a:t>Database Management Systems</a:t>
            </a:r>
            <a:endParaRPr lang="en-US"/>
          </a:p>
        </p:txBody>
      </p:sp>
      <p:sp>
        <p:nvSpPr>
          <p:cNvPr id="5" name="Slide Number Placeholder 4"/>
          <p:cNvSpPr>
            <a:spLocks noGrp="1"/>
          </p:cNvSpPr>
          <p:nvPr>
            <p:ph type="sldNum" sz="quarter" idx="12"/>
          </p:nvPr>
        </p:nvSpPr>
        <p:spPr>
          <a:xfrm>
            <a:off x="8174736" y="2272"/>
            <a:ext cx="762000" cy="365760"/>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smtClean="0"/>
              <a:t>Database Management Systems</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6586536" y="612648"/>
            <a:ext cx="957264" cy="457200"/>
          </a:xfrm>
          <a:prstGeom prst="rect">
            <a:avLst/>
          </a:prstGeom>
        </p:spPr>
        <p:txBody>
          <a:bodyPr/>
          <a:lstStyle/>
          <a:p>
            <a:r>
              <a:rPr lang="en-US" smtClean="0"/>
              <a:t>Toqir Ahmad Rana</a:t>
            </a:r>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86536" y="612648"/>
            <a:ext cx="957264" cy="457200"/>
          </a:xfrm>
          <a:prstGeom prst="rect">
            <a:avLst/>
          </a:prstGeom>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86536" y="612648"/>
            <a:ext cx="957264" cy="457200"/>
          </a:xfrm>
          <a:prstGeom prst="rect">
            <a:avLst/>
          </a:prstGeom>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r>
              <a:rPr lang="en-US" smtClean="0"/>
              <a:t>Database Management Systems</a:t>
            </a:r>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219200"/>
            <a:ext cx="7772400" cy="1470025"/>
          </a:xfrm>
        </p:spPr>
        <p:txBody>
          <a:bodyPr/>
          <a:lstStyle/>
          <a:p>
            <a:r>
              <a:rPr lang="en-US" dirty="0" smtClean="0"/>
              <a:t>Database Systems	</a:t>
            </a:r>
            <a:endParaRPr lang="en-US" dirty="0"/>
          </a:p>
        </p:txBody>
      </p:sp>
      <p:sp>
        <p:nvSpPr>
          <p:cNvPr id="3" name="Subtitle 2"/>
          <p:cNvSpPr>
            <a:spLocks noGrp="1"/>
          </p:cNvSpPr>
          <p:nvPr>
            <p:ph type="subTitle" idx="1"/>
          </p:nvPr>
        </p:nvSpPr>
        <p:spPr/>
        <p:txBody>
          <a:bodyPr/>
          <a:lstStyle/>
          <a:p>
            <a:r>
              <a:rPr lang="en-US" dirty="0" smtClean="0"/>
              <a:t>Introduction</a:t>
            </a:r>
            <a:endParaRPr lang="en-US" dirty="0"/>
          </a:p>
        </p:txBody>
      </p:sp>
      <p:sp>
        <p:nvSpPr>
          <p:cNvPr id="13" name="Footer Placeholder 12"/>
          <p:cNvSpPr>
            <a:spLocks noGrp="1"/>
          </p:cNvSpPr>
          <p:nvPr>
            <p:ph type="ftr" sz="quarter" idx="11"/>
          </p:nvPr>
        </p:nvSpPr>
        <p:spPr>
          <a:xfrm>
            <a:off x="5181600" y="4191000"/>
            <a:ext cx="2209800" cy="457200"/>
          </a:xfrm>
        </p:spPr>
        <p:txBody>
          <a:bodyPr/>
          <a:lstStyle/>
          <a:p>
            <a:r>
              <a:rPr lang="en-US" sz="1050" dirty="0" smtClean="0"/>
              <a:t>Database Management Systems</a:t>
            </a:r>
            <a:endParaRPr lang="en-US" sz="1050" dirty="0"/>
          </a:p>
        </p:txBody>
      </p:sp>
      <p:sp>
        <p:nvSpPr>
          <p:cNvPr id="12" name="Slide Number Placeholder 11"/>
          <p:cNvSpPr>
            <a:spLocks noGrp="1"/>
          </p:cNvSpPr>
          <p:nvPr>
            <p:ph type="sldNum" sz="quarter" idx="12"/>
          </p:nvPr>
        </p:nvSpPr>
        <p:spPr/>
        <p:txBody>
          <a:bodyPr/>
          <a:lstStyle/>
          <a:p>
            <a:fld id="{B6F15528-21DE-4FAA-801E-634DDDAF4B2B}" type="slidenum">
              <a:rPr lang="en-US" smtClean="0"/>
              <a:pPr/>
              <a:t>1</a:t>
            </a:fld>
            <a:endParaRPr lang="en-US"/>
          </a:p>
        </p:txBody>
      </p:sp>
      <p:sp>
        <p:nvSpPr>
          <p:cNvPr id="10" name="TextBox 9"/>
          <p:cNvSpPr txBox="1"/>
          <p:nvPr/>
        </p:nvSpPr>
        <p:spPr>
          <a:xfrm>
            <a:off x="2286000" y="3048000"/>
            <a:ext cx="4267200" cy="523220"/>
          </a:xfrm>
          <a:prstGeom prst="rect">
            <a:avLst/>
          </a:prstGeom>
          <a:noFill/>
        </p:spPr>
        <p:txBody>
          <a:bodyPr wrap="square" rtlCol="0">
            <a:spAutoFit/>
          </a:bodyPr>
          <a:lstStyle/>
          <a:p>
            <a:pPr algn="ctr"/>
            <a:r>
              <a:rPr lang="en-US" sz="2800" u="sng" dirty="0" smtClean="0"/>
              <a:t>Lecture 1</a:t>
            </a:r>
            <a:endParaRPr lang="en-US" sz="2800" u="sng"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Today’s agenda</a:t>
            </a:r>
            <a:endParaRPr lang="en-US" dirty="0"/>
          </a:p>
        </p:txBody>
      </p:sp>
      <p:sp>
        <p:nvSpPr>
          <p:cNvPr id="3" name="Content Placeholder 2"/>
          <p:cNvSpPr>
            <a:spLocks noGrp="1"/>
          </p:cNvSpPr>
          <p:nvPr>
            <p:ph idx="1"/>
          </p:nvPr>
        </p:nvSpPr>
        <p:spPr/>
        <p:txBody>
          <a:bodyPr/>
          <a:lstStyle/>
          <a:p>
            <a:r>
              <a:rPr lang="en-US" dirty="0" smtClean="0"/>
              <a:t>Database introduction and definition</a:t>
            </a:r>
          </a:p>
          <a:p>
            <a:r>
              <a:rPr lang="en-US" dirty="0" smtClean="0"/>
              <a:t>DBMS functionalities</a:t>
            </a:r>
          </a:p>
          <a:p>
            <a:r>
              <a:rPr lang="en-US" dirty="0" smtClean="0"/>
              <a:t>Characteristics of database approach</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2"/>
          <p:cNvSpPr>
            <a:spLocks noGrp="1" noChangeArrowheads="1"/>
          </p:cNvSpPr>
          <p:nvPr>
            <p:ph type="title"/>
          </p:nvPr>
        </p:nvSpPr>
        <p:spPr>
          <a:xfrm>
            <a:off x="457200" y="762000"/>
            <a:ext cx="8229600" cy="1066800"/>
          </a:xfrm>
        </p:spPr>
        <p:txBody>
          <a:bodyPr/>
          <a:lstStyle/>
          <a:p>
            <a:r>
              <a:rPr lang="en-US" dirty="0"/>
              <a:t>Basic Definitions</a:t>
            </a:r>
          </a:p>
        </p:txBody>
      </p:sp>
      <p:sp>
        <p:nvSpPr>
          <p:cNvPr id="473091" name="Rectangle 3"/>
          <p:cNvSpPr>
            <a:spLocks noGrp="1" noChangeArrowheads="1"/>
          </p:cNvSpPr>
          <p:nvPr>
            <p:ph type="body" idx="1"/>
          </p:nvPr>
        </p:nvSpPr>
        <p:spPr>
          <a:xfrm>
            <a:off x="457200" y="1752600"/>
            <a:ext cx="7264400" cy="4308872"/>
          </a:xfrm>
        </p:spPr>
        <p:txBody>
          <a:bodyPr>
            <a:spAutoFit/>
          </a:bodyPr>
          <a:lstStyle/>
          <a:p>
            <a:r>
              <a:rPr lang="en-US" sz="2400" b="1" dirty="0">
                <a:solidFill>
                  <a:srgbClr val="000000"/>
                </a:solidFill>
              </a:rPr>
              <a:t>Database</a:t>
            </a:r>
            <a:r>
              <a:rPr lang="en-US" sz="2400" dirty="0">
                <a:solidFill>
                  <a:srgbClr val="000000"/>
                </a:solidFill>
              </a:rPr>
              <a:t>: A collection of related data.</a:t>
            </a:r>
          </a:p>
          <a:p>
            <a:r>
              <a:rPr lang="en-US" sz="2400" b="1" dirty="0">
                <a:solidFill>
                  <a:srgbClr val="000000"/>
                </a:solidFill>
              </a:rPr>
              <a:t>Data</a:t>
            </a:r>
            <a:r>
              <a:rPr lang="en-US" sz="2400" dirty="0">
                <a:solidFill>
                  <a:srgbClr val="000000"/>
                </a:solidFill>
              </a:rPr>
              <a:t>: Known facts that can be recorded and have an implicit meaning.</a:t>
            </a:r>
          </a:p>
          <a:p>
            <a:r>
              <a:rPr lang="en-US" sz="2400" b="1" dirty="0" smtClean="0">
                <a:solidFill>
                  <a:srgbClr val="000000"/>
                </a:solidFill>
              </a:rPr>
              <a:t>Database </a:t>
            </a:r>
            <a:r>
              <a:rPr lang="en-US" sz="2400" b="1" dirty="0">
                <a:solidFill>
                  <a:srgbClr val="000000"/>
                </a:solidFill>
              </a:rPr>
              <a:t>Management System (DBMS)</a:t>
            </a:r>
            <a:r>
              <a:rPr lang="en-US" sz="2400" dirty="0">
                <a:solidFill>
                  <a:srgbClr val="000000"/>
                </a:solidFill>
              </a:rPr>
              <a:t>: A software package/ system to facilitate the creation and maintenance of a computerized database</a:t>
            </a:r>
            <a:r>
              <a:rPr lang="en-US" sz="2400" dirty="0" smtClean="0">
                <a:solidFill>
                  <a:srgbClr val="000000"/>
                </a:solidFill>
              </a:rPr>
              <a:t>.</a:t>
            </a:r>
            <a:endParaRPr lang="en-US" sz="2400" dirty="0">
              <a:solidFill>
                <a:srgbClr val="000000"/>
              </a:solidFill>
            </a:endParaRPr>
          </a:p>
          <a:p>
            <a:r>
              <a:rPr lang="en-US" sz="2400" b="1" dirty="0">
                <a:solidFill>
                  <a:srgbClr val="000000"/>
                </a:solidFill>
              </a:rPr>
              <a:t>Database System</a:t>
            </a:r>
            <a:r>
              <a:rPr lang="en-US" sz="2400" dirty="0">
                <a:solidFill>
                  <a:srgbClr val="000000"/>
                </a:solidFill>
              </a:rPr>
              <a:t>: The DBMS software together with the data itself.  Sometimes, the applications are also included.</a:t>
            </a:r>
          </a:p>
          <a:p>
            <a:endParaRPr lang="en-US" sz="24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definition</a:t>
            </a:r>
            <a:endParaRPr lang="en-US" dirty="0"/>
          </a:p>
        </p:txBody>
      </p:sp>
      <p:sp>
        <p:nvSpPr>
          <p:cNvPr id="3" name="Content Placeholder 2"/>
          <p:cNvSpPr>
            <a:spLocks noGrp="1"/>
          </p:cNvSpPr>
          <p:nvPr>
            <p:ph idx="1"/>
          </p:nvPr>
        </p:nvSpPr>
        <p:spPr/>
        <p:txBody>
          <a:bodyPr/>
          <a:lstStyle/>
          <a:p>
            <a:r>
              <a:rPr lang="en-US" dirty="0" smtClean="0"/>
              <a:t>A shared collection of logically related data, designed to meet the information needs of multiple users in an organization</a:t>
            </a:r>
            <a:r>
              <a:rPr lang="en-US" smtClean="0"/>
              <a:t>. </a:t>
            </a:r>
            <a:endParaRPr lang="en-US"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3467391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A simplified database system environment</a:t>
            </a:r>
            <a:endParaRPr lang="en-US" sz="3200" dirty="0"/>
          </a:p>
        </p:txBody>
      </p:sp>
      <p:pic>
        <p:nvPicPr>
          <p:cNvPr id="1026" name="Picture 2"/>
          <p:cNvPicPr>
            <a:picLocks noChangeAspect="1" noChangeArrowheads="1"/>
          </p:cNvPicPr>
          <p:nvPr/>
        </p:nvPicPr>
        <p:blipFill>
          <a:blip r:embed="rId2" cstate="print"/>
          <a:srcRect/>
          <a:stretch>
            <a:fillRect/>
          </a:stretch>
        </p:blipFill>
        <p:spPr bwMode="auto">
          <a:xfrm>
            <a:off x="1295400" y="2057400"/>
            <a:ext cx="5181600" cy="4572000"/>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1282315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a:xfrm>
            <a:off x="457200" y="914400"/>
            <a:ext cx="8229600" cy="1066800"/>
          </a:xfrm>
        </p:spPr>
        <p:txBody>
          <a:bodyPr/>
          <a:lstStyle/>
          <a:p>
            <a:r>
              <a:rPr lang="en-US" dirty="0"/>
              <a:t>Typical DBMS Functionality</a:t>
            </a:r>
          </a:p>
        </p:txBody>
      </p:sp>
      <p:sp>
        <p:nvSpPr>
          <p:cNvPr id="474115" name="Rectangle 3"/>
          <p:cNvSpPr>
            <a:spLocks noGrp="1" noChangeArrowheads="1"/>
          </p:cNvSpPr>
          <p:nvPr>
            <p:ph type="body" idx="1"/>
          </p:nvPr>
        </p:nvSpPr>
        <p:spPr>
          <a:xfrm>
            <a:off x="685800" y="1981200"/>
            <a:ext cx="8153400" cy="4114800"/>
          </a:xfrm>
        </p:spPr>
        <p:txBody>
          <a:bodyPr/>
          <a:lstStyle/>
          <a:p>
            <a:pPr>
              <a:lnSpc>
                <a:spcPct val="90000"/>
              </a:lnSpc>
            </a:pPr>
            <a:r>
              <a:rPr lang="en-US" sz="2800" dirty="0">
                <a:solidFill>
                  <a:srgbClr val="000000"/>
                </a:solidFill>
              </a:rPr>
              <a:t>Define a database : in terms of data types, structures and constraints</a:t>
            </a:r>
          </a:p>
          <a:p>
            <a:pPr>
              <a:lnSpc>
                <a:spcPct val="90000"/>
              </a:lnSpc>
            </a:pPr>
            <a:r>
              <a:rPr lang="en-US" sz="2800" dirty="0">
                <a:solidFill>
                  <a:srgbClr val="000000"/>
                </a:solidFill>
              </a:rPr>
              <a:t>Construct or Load the Database on a secondary storage medium</a:t>
            </a:r>
          </a:p>
          <a:p>
            <a:pPr>
              <a:lnSpc>
                <a:spcPct val="90000"/>
              </a:lnSpc>
            </a:pPr>
            <a:r>
              <a:rPr lang="en-US" sz="2800" dirty="0">
                <a:solidFill>
                  <a:srgbClr val="000000"/>
                </a:solidFill>
              </a:rPr>
              <a:t>Manipulating the database : querying, generating reports, insertions, deletions and modifications to its content</a:t>
            </a:r>
          </a:p>
          <a:p>
            <a:pPr>
              <a:lnSpc>
                <a:spcPct val="90000"/>
              </a:lnSpc>
            </a:pPr>
            <a:r>
              <a:rPr lang="en-US" sz="2800" dirty="0">
                <a:solidFill>
                  <a:srgbClr val="000000"/>
                </a:solidFill>
              </a:rPr>
              <a:t>Concurrent Processing and Sharing by a set of users and programs – yet, keeping all data valid and consistent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2"/>
          <p:cNvSpPr>
            <a:spLocks noGrp="1" noChangeArrowheads="1"/>
          </p:cNvSpPr>
          <p:nvPr>
            <p:ph type="title"/>
          </p:nvPr>
        </p:nvSpPr>
        <p:spPr/>
        <p:txBody>
          <a:bodyPr/>
          <a:lstStyle/>
          <a:p>
            <a:r>
              <a:rPr lang="en-US" dirty="0"/>
              <a:t>Typical DBMS Functionality</a:t>
            </a:r>
          </a:p>
        </p:txBody>
      </p:sp>
      <p:sp>
        <p:nvSpPr>
          <p:cNvPr id="475139" name="Rectangle 3"/>
          <p:cNvSpPr>
            <a:spLocks noGrp="1" noChangeArrowheads="1"/>
          </p:cNvSpPr>
          <p:nvPr>
            <p:ph type="body" idx="1"/>
          </p:nvPr>
        </p:nvSpPr>
        <p:spPr>
          <a:xfrm>
            <a:off x="685800" y="2286000"/>
            <a:ext cx="6756400" cy="3810000"/>
          </a:xfrm>
        </p:spPr>
        <p:txBody>
          <a:bodyPr/>
          <a:lstStyle/>
          <a:p>
            <a:pPr>
              <a:buFont typeface="Wingdings" pitchFamily="2" charset="2"/>
              <a:buNone/>
            </a:pPr>
            <a:r>
              <a:rPr lang="en-US" dirty="0">
                <a:solidFill>
                  <a:srgbClr val="000000"/>
                </a:solidFill>
              </a:rPr>
              <a:t>Other features:</a:t>
            </a:r>
          </a:p>
          <a:p>
            <a:pPr lvl="1"/>
            <a:r>
              <a:rPr lang="en-US" dirty="0">
                <a:solidFill>
                  <a:srgbClr val="000000"/>
                </a:solidFill>
              </a:rPr>
              <a:t>Protection or Security measures to prevent unauthorized access</a:t>
            </a:r>
          </a:p>
          <a:p>
            <a:pPr lvl="1"/>
            <a:r>
              <a:rPr lang="en-US" dirty="0">
                <a:solidFill>
                  <a:srgbClr val="000000"/>
                </a:solidFill>
              </a:rPr>
              <a:t>“Active” processing to take internal actions on data</a:t>
            </a:r>
          </a:p>
          <a:p>
            <a:pPr lvl="1"/>
            <a:r>
              <a:rPr lang="en-US" dirty="0">
                <a:solidFill>
                  <a:srgbClr val="000000"/>
                </a:solidFill>
              </a:rPr>
              <a:t>Presentation and Visualization of data</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p:cNvSpPr>
            <a:spLocks noGrp="1" noChangeArrowheads="1"/>
          </p:cNvSpPr>
          <p:nvPr>
            <p:ph type="title"/>
          </p:nvPr>
        </p:nvSpPr>
        <p:spPr>
          <a:xfrm>
            <a:off x="292100" y="838200"/>
            <a:ext cx="8851900" cy="1143000"/>
          </a:xfrm>
        </p:spPr>
        <p:txBody>
          <a:bodyPr>
            <a:normAutofit fontScale="90000"/>
          </a:bodyPr>
          <a:lstStyle/>
          <a:p>
            <a:r>
              <a:rPr lang="en-US" dirty="0"/>
              <a:t>Example of a Database</a:t>
            </a:r>
            <a:br>
              <a:rPr lang="en-US" dirty="0"/>
            </a:br>
            <a:r>
              <a:rPr lang="en-US" dirty="0"/>
              <a:t>(with a Conceptual Data Model)</a:t>
            </a:r>
          </a:p>
        </p:txBody>
      </p:sp>
      <p:sp>
        <p:nvSpPr>
          <p:cNvPr id="476163" name="Rectangle 3"/>
          <p:cNvSpPr>
            <a:spLocks noGrp="1" noChangeArrowheads="1"/>
          </p:cNvSpPr>
          <p:nvPr>
            <p:ph type="body" idx="1"/>
          </p:nvPr>
        </p:nvSpPr>
        <p:spPr>
          <a:xfrm>
            <a:off x="685800" y="2235200"/>
            <a:ext cx="7772400" cy="3860800"/>
          </a:xfrm>
        </p:spPr>
        <p:txBody>
          <a:bodyPr>
            <a:normAutofit lnSpcReduction="10000"/>
          </a:bodyPr>
          <a:lstStyle/>
          <a:p>
            <a:pPr>
              <a:lnSpc>
                <a:spcPct val="90000"/>
              </a:lnSpc>
            </a:pPr>
            <a:r>
              <a:rPr lang="en-US" sz="2800" b="1">
                <a:solidFill>
                  <a:srgbClr val="000000"/>
                </a:solidFill>
              </a:rPr>
              <a:t>Mini-world for the example</a:t>
            </a:r>
            <a:r>
              <a:rPr lang="en-US" sz="2800">
                <a:solidFill>
                  <a:srgbClr val="000000"/>
                </a:solidFill>
              </a:rPr>
              <a:t>: Part of a UNIVERSITY environment.</a:t>
            </a:r>
          </a:p>
          <a:p>
            <a:pPr>
              <a:lnSpc>
                <a:spcPct val="90000"/>
              </a:lnSpc>
            </a:pPr>
            <a:r>
              <a:rPr lang="en-US" sz="2800" b="1">
                <a:solidFill>
                  <a:srgbClr val="000000"/>
                </a:solidFill>
              </a:rPr>
              <a:t>Some mini-world </a:t>
            </a:r>
            <a:r>
              <a:rPr lang="en-US" sz="2800" b="1" i="1">
                <a:solidFill>
                  <a:srgbClr val="000000"/>
                </a:solidFill>
              </a:rPr>
              <a:t>entities</a:t>
            </a:r>
            <a:r>
              <a:rPr lang="en-US" sz="2800">
                <a:solidFill>
                  <a:srgbClr val="000000"/>
                </a:solidFill>
              </a:rPr>
              <a:t>:</a:t>
            </a:r>
          </a:p>
          <a:p>
            <a:pPr lvl="1">
              <a:lnSpc>
                <a:spcPct val="90000"/>
              </a:lnSpc>
            </a:pPr>
            <a:r>
              <a:rPr lang="en-US" sz="2400">
                <a:solidFill>
                  <a:srgbClr val="000000"/>
                </a:solidFill>
              </a:rPr>
              <a:t>STUDENTs</a:t>
            </a:r>
          </a:p>
          <a:p>
            <a:pPr lvl="1">
              <a:lnSpc>
                <a:spcPct val="90000"/>
              </a:lnSpc>
            </a:pPr>
            <a:r>
              <a:rPr lang="en-US" sz="2400">
                <a:solidFill>
                  <a:srgbClr val="000000"/>
                </a:solidFill>
              </a:rPr>
              <a:t>COURSEs</a:t>
            </a:r>
          </a:p>
          <a:p>
            <a:pPr lvl="1">
              <a:lnSpc>
                <a:spcPct val="90000"/>
              </a:lnSpc>
            </a:pPr>
            <a:r>
              <a:rPr lang="en-US" sz="2400">
                <a:solidFill>
                  <a:srgbClr val="000000"/>
                </a:solidFill>
              </a:rPr>
              <a:t>SECTIONs (of COURSEs)</a:t>
            </a:r>
          </a:p>
          <a:p>
            <a:pPr lvl="1">
              <a:lnSpc>
                <a:spcPct val="90000"/>
              </a:lnSpc>
            </a:pPr>
            <a:r>
              <a:rPr lang="en-US" sz="2400">
                <a:solidFill>
                  <a:srgbClr val="000000"/>
                </a:solidFill>
              </a:rPr>
              <a:t>(academic) DEPARTMENTs</a:t>
            </a:r>
          </a:p>
          <a:p>
            <a:pPr lvl="1">
              <a:lnSpc>
                <a:spcPct val="90000"/>
              </a:lnSpc>
            </a:pPr>
            <a:r>
              <a:rPr lang="en-US" sz="2400">
                <a:solidFill>
                  <a:srgbClr val="000000"/>
                </a:solidFill>
              </a:rPr>
              <a:t>INSTRUCTORs</a:t>
            </a:r>
          </a:p>
          <a:p>
            <a:pPr>
              <a:lnSpc>
                <a:spcPct val="90000"/>
              </a:lnSpc>
              <a:buFont typeface="Wingdings" pitchFamily="2" charset="2"/>
              <a:buNone/>
            </a:pPr>
            <a:r>
              <a:rPr lang="en-US" sz="2800" i="1">
                <a:solidFill>
                  <a:srgbClr val="000000"/>
                </a:solidFill>
              </a:rPr>
              <a:t>Note</a:t>
            </a:r>
            <a:r>
              <a:rPr lang="en-US" sz="2800">
                <a:solidFill>
                  <a:srgbClr val="000000"/>
                </a:solidFill>
              </a:rPr>
              <a:t>: The above could be expressed in the ENTITY-RELATIONSHIP data model.</a:t>
            </a:r>
          </a:p>
          <a:p>
            <a:pPr>
              <a:lnSpc>
                <a:spcPct val="90000"/>
              </a:lnSpc>
            </a:pPr>
            <a:endParaRPr lang="en-US" sz="280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a:xfrm>
            <a:off x="419100" y="914400"/>
            <a:ext cx="8724900" cy="1143000"/>
          </a:xfrm>
        </p:spPr>
        <p:txBody>
          <a:bodyPr>
            <a:normAutofit fontScale="90000"/>
          </a:bodyPr>
          <a:lstStyle/>
          <a:p>
            <a:r>
              <a:rPr lang="en-US" dirty="0"/>
              <a:t>Example of a Database</a:t>
            </a:r>
            <a:br>
              <a:rPr lang="en-US" dirty="0"/>
            </a:br>
            <a:r>
              <a:rPr lang="en-US" dirty="0"/>
              <a:t>(with a Conceptual Data Model)</a:t>
            </a:r>
          </a:p>
        </p:txBody>
      </p:sp>
      <p:sp>
        <p:nvSpPr>
          <p:cNvPr id="477187" name="Rectangle 3"/>
          <p:cNvSpPr>
            <a:spLocks noGrp="1" noChangeArrowheads="1"/>
          </p:cNvSpPr>
          <p:nvPr>
            <p:ph type="body" idx="1"/>
          </p:nvPr>
        </p:nvSpPr>
        <p:spPr/>
        <p:txBody>
          <a:bodyPr/>
          <a:lstStyle/>
          <a:p>
            <a:pPr>
              <a:lnSpc>
                <a:spcPct val="90000"/>
              </a:lnSpc>
            </a:pPr>
            <a:r>
              <a:rPr lang="en-US" sz="2800" b="1">
                <a:solidFill>
                  <a:srgbClr val="000000"/>
                </a:solidFill>
              </a:rPr>
              <a:t>Some mini-world </a:t>
            </a:r>
            <a:r>
              <a:rPr lang="en-US" sz="2800" b="1" i="1">
                <a:solidFill>
                  <a:srgbClr val="000000"/>
                </a:solidFill>
              </a:rPr>
              <a:t>relationships</a:t>
            </a:r>
            <a:r>
              <a:rPr lang="en-US" sz="2800">
                <a:solidFill>
                  <a:srgbClr val="000000"/>
                </a:solidFill>
              </a:rPr>
              <a:t>:</a:t>
            </a:r>
          </a:p>
          <a:p>
            <a:pPr lvl="1">
              <a:lnSpc>
                <a:spcPct val="90000"/>
              </a:lnSpc>
            </a:pPr>
            <a:r>
              <a:rPr lang="en-US" sz="2400">
                <a:solidFill>
                  <a:srgbClr val="000000"/>
                </a:solidFill>
              </a:rPr>
              <a:t>SECTIONs </a:t>
            </a:r>
            <a:r>
              <a:rPr lang="en-US" sz="2400" i="1">
                <a:solidFill>
                  <a:srgbClr val="000000"/>
                </a:solidFill>
              </a:rPr>
              <a:t>are of</a:t>
            </a:r>
            <a:r>
              <a:rPr lang="en-US" sz="2400">
                <a:solidFill>
                  <a:srgbClr val="000000"/>
                </a:solidFill>
              </a:rPr>
              <a:t>  specific COURSEs</a:t>
            </a:r>
          </a:p>
          <a:p>
            <a:pPr lvl="1">
              <a:lnSpc>
                <a:spcPct val="90000"/>
              </a:lnSpc>
            </a:pPr>
            <a:r>
              <a:rPr lang="en-US" sz="2400">
                <a:solidFill>
                  <a:srgbClr val="000000"/>
                </a:solidFill>
              </a:rPr>
              <a:t>STUDENTs </a:t>
            </a:r>
            <a:r>
              <a:rPr lang="en-US" sz="2400" i="1">
                <a:solidFill>
                  <a:srgbClr val="000000"/>
                </a:solidFill>
              </a:rPr>
              <a:t>take</a:t>
            </a:r>
            <a:r>
              <a:rPr lang="en-US" sz="2400">
                <a:solidFill>
                  <a:srgbClr val="000000"/>
                </a:solidFill>
              </a:rPr>
              <a:t>  SECTIONs</a:t>
            </a:r>
          </a:p>
          <a:p>
            <a:pPr lvl="1">
              <a:lnSpc>
                <a:spcPct val="90000"/>
              </a:lnSpc>
            </a:pPr>
            <a:r>
              <a:rPr lang="en-US" sz="2400">
                <a:solidFill>
                  <a:srgbClr val="000000"/>
                </a:solidFill>
              </a:rPr>
              <a:t>COURSEs </a:t>
            </a:r>
            <a:r>
              <a:rPr lang="en-US" sz="2400" i="1">
                <a:solidFill>
                  <a:srgbClr val="000000"/>
                </a:solidFill>
              </a:rPr>
              <a:t>have</a:t>
            </a:r>
            <a:r>
              <a:rPr lang="en-US" sz="2400">
                <a:solidFill>
                  <a:srgbClr val="000000"/>
                </a:solidFill>
              </a:rPr>
              <a:t>  prerequisite COURSEs</a:t>
            </a:r>
          </a:p>
          <a:p>
            <a:pPr lvl="1">
              <a:lnSpc>
                <a:spcPct val="90000"/>
              </a:lnSpc>
            </a:pPr>
            <a:r>
              <a:rPr lang="en-US" sz="2400">
                <a:solidFill>
                  <a:srgbClr val="000000"/>
                </a:solidFill>
              </a:rPr>
              <a:t>INSTRUCTORs </a:t>
            </a:r>
            <a:r>
              <a:rPr lang="en-US" sz="2400" i="1">
                <a:solidFill>
                  <a:srgbClr val="000000"/>
                </a:solidFill>
              </a:rPr>
              <a:t>teach</a:t>
            </a:r>
            <a:r>
              <a:rPr lang="en-US" sz="2400">
                <a:solidFill>
                  <a:srgbClr val="000000"/>
                </a:solidFill>
              </a:rPr>
              <a:t>  SECTIONs</a:t>
            </a:r>
          </a:p>
          <a:p>
            <a:pPr lvl="1">
              <a:lnSpc>
                <a:spcPct val="90000"/>
              </a:lnSpc>
            </a:pPr>
            <a:r>
              <a:rPr lang="en-US" sz="2400">
                <a:solidFill>
                  <a:srgbClr val="000000"/>
                </a:solidFill>
              </a:rPr>
              <a:t>COURSEs </a:t>
            </a:r>
            <a:r>
              <a:rPr lang="en-US" sz="2400" i="1">
                <a:solidFill>
                  <a:srgbClr val="000000"/>
                </a:solidFill>
              </a:rPr>
              <a:t>are offered by</a:t>
            </a:r>
            <a:r>
              <a:rPr lang="en-US" sz="2400">
                <a:solidFill>
                  <a:srgbClr val="000000"/>
                </a:solidFill>
              </a:rPr>
              <a:t>  DEPARTMENTs</a:t>
            </a:r>
          </a:p>
          <a:p>
            <a:pPr lvl="1">
              <a:lnSpc>
                <a:spcPct val="90000"/>
              </a:lnSpc>
            </a:pPr>
            <a:r>
              <a:rPr lang="en-US" sz="2400">
                <a:solidFill>
                  <a:srgbClr val="000000"/>
                </a:solidFill>
              </a:rPr>
              <a:t>STUDENTs </a:t>
            </a:r>
            <a:r>
              <a:rPr lang="en-US" sz="2400" i="1">
                <a:solidFill>
                  <a:srgbClr val="000000"/>
                </a:solidFill>
              </a:rPr>
              <a:t>major in</a:t>
            </a:r>
            <a:r>
              <a:rPr lang="en-US" sz="2400">
                <a:solidFill>
                  <a:srgbClr val="000000"/>
                </a:solidFill>
              </a:rPr>
              <a:t>  DEPARTMENTs</a:t>
            </a:r>
          </a:p>
          <a:p>
            <a:pPr lvl="2">
              <a:lnSpc>
                <a:spcPct val="90000"/>
              </a:lnSpc>
            </a:pPr>
            <a:endParaRPr lang="en-US" sz="2000">
              <a:solidFill>
                <a:srgbClr val="000000"/>
              </a:solidFill>
            </a:endParaRPr>
          </a:p>
          <a:p>
            <a:pPr>
              <a:lnSpc>
                <a:spcPct val="90000"/>
              </a:lnSpc>
              <a:buFont typeface="Wingdings" pitchFamily="2" charset="2"/>
              <a:buNone/>
            </a:pPr>
            <a:r>
              <a:rPr lang="en-US" sz="2800" i="1">
                <a:solidFill>
                  <a:srgbClr val="000000"/>
                </a:solidFill>
              </a:rPr>
              <a:t>Note</a:t>
            </a:r>
            <a:r>
              <a:rPr lang="en-US" sz="2800">
                <a:solidFill>
                  <a:srgbClr val="000000"/>
                </a:solidFill>
              </a:rPr>
              <a:t>: The above could be expressed in the </a:t>
            </a:r>
            <a:r>
              <a:rPr lang="en-US" sz="2800" i="1">
                <a:solidFill>
                  <a:srgbClr val="000000"/>
                </a:solidFill>
              </a:rPr>
              <a:t>ENTITY-RELATIONSHIP</a:t>
            </a:r>
            <a:r>
              <a:rPr lang="en-US" sz="2800">
                <a:solidFill>
                  <a:srgbClr val="000000"/>
                </a:solidFill>
              </a:rPr>
              <a:t> data model.</a:t>
            </a:r>
            <a:endParaRPr lang="en-US" sz="280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066800"/>
          </a:xfrm>
        </p:spPr>
        <p:txBody>
          <a:bodyPr/>
          <a:lstStyle/>
          <a:p>
            <a:r>
              <a:rPr lang="en-US" dirty="0" smtClean="0"/>
              <a:t>Example of a database</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2433638" y="1362075"/>
            <a:ext cx="4276725" cy="3209925"/>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cstate="print"/>
          <a:srcRect/>
          <a:stretch>
            <a:fillRect/>
          </a:stretch>
        </p:blipFill>
        <p:spPr bwMode="auto">
          <a:xfrm>
            <a:off x="2590800" y="4676775"/>
            <a:ext cx="3600450" cy="2181225"/>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B6F15528-21DE-4FAA-801E-634DDDAF4B2B}" type="slidenum">
              <a:rPr lang="en-US" smtClean="0"/>
              <a:pPr/>
              <a:t>10</a:t>
            </a:fld>
            <a:endParaRPr lang="en-US"/>
          </a:p>
        </p:txBody>
      </p:sp>
      <p:sp>
        <p:nvSpPr>
          <p:cNvPr id="8" name="Footer Placeholder 7"/>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a:xfrm>
            <a:off x="381000" y="1066800"/>
            <a:ext cx="8229600" cy="1066800"/>
          </a:xfrm>
        </p:spPr>
        <p:txBody>
          <a:bodyPr>
            <a:normAutofit fontScale="90000"/>
          </a:bodyPr>
          <a:lstStyle/>
          <a:p>
            <a:r>
              <a:rPr lang="en-US" dirty="0"/>
              <a:t>Main Characteristics of the Database Approach</a:t>
            </a:r>
          </a:p>
        </p:txBody>
      </p:sp>
      <p:sp>
        <p:nvSpPr>
          <p:cNvPr id="478211" name="Rectangle 3"/>
          <p:cNvSpPr>
            <a:spLocks noGrp="1" noChangeArrowheads="1"/>
          </p:cNvSpPr>
          <p:nvPr>
            <p:ph type="body" idx="1"/>
          </p:nvPr>
        </p:nvSpPr>
        <p:spPr>
          <a:xfrm>
            <a:off x="609600" y="2438400"/>
            <a:ext cx="7404100" cy="4114800"/>
          </a:xfrm>
        </p:spPr>
        <p:txBody>
          <a:bodyPr>
            <a:normAutofit fontScale="92500"/>
          </a:bodyPr>
          <a:lstStyle/>
          <a:p>
            <a:r>
              <a:rPr lang="en-US" sz="2800" u="sng" dirty="0">
                <a:solidFill>
                  <a:srgbClr val="000000"/>
                </a:solidFill>
              </a:rPr>
              <a:t>Self-describing nature of a database system:</a:t>
            </a:r>
            <a:r>
              <a:rPr lang="en-US" sz="2800" dirty="0">
                <a:solidFill>
                  <a:srgbClr val="000000"/>
                </a:solidFill>
              </a:rPr>
              <a:t> A DBMS </a:t>
            </a:r>
            <a:r>
              <a:rPr lang="en-US" sz="2800" b="1" dirty="0">
                <a:solidFill>
                  <a:srgbClr val="000000"/>
                </a:solidFill>
              </a:rPr>
              <a:t>catalog</a:t>
            </a:r>
            <a:r>
              <a:rPr lang="en-US" sz="2800" dirty="0">
                <a:solidFill>
                  <a:srgbClr val="000000"/>
                </a:solidFill>
              </a:rPr>
              <a:t> stores the </a:t>
            </a:r>
            <a:r>
              <a:rPr lang="en-US" sz="2800" i="1" dirty="0">
                <a:solidFill>
                  <a:srgbClr val="000000"/>
                </a:solidFill>
              </a:rPr>
              <a:t>description</a:t>
            </a:r>
            <a:r>
              <a:rPr lang="en-US" sz="2800" dirty="0">
                <a:solidFill>
                  <a:srgbClr val="000000"/>
                </a:solidFill>
              </a:rPr>
              <a:t> </a:t>
            </a:r>
            <a:r>
              <a:rPr lang="en-US" sz="2800" dirty="0" smtClean="0">
                <a:solidFill>
                  <a:srgbClr val="000000"/>
                </a:solidFill>
              </a:rPr>
              <a:t>of </a:t>
            </a:r>
            <a:r>
              <a:rPr lang="en-US" sz="2800" dirty="0">
                <a:solidFill>
                  <a:srgbClr val="000000"/>
                </a:solidFill>
              </a:rPr>
              <a:t>the database. The description is called </a:t>
            </a:r>
            <a:r>
              <a:rPr lang="en-US" sz="2800" b="1" dirty="0">
                <a:solidFill>
                  <a:srgbClr val="000000"/>
                </a:solidFill>
              </a:rPr>
              <a:t>meta-data</a:t>
            </a:r>
            <a:r>
              <a:rPr lang="en-US" sz="2800" dirty="0">
                <a:solidFill>
                  <a:srgbClr val="000000"/>
                </a:solidFill>
              </a:rPr>
              <a:t>). This allows the DBMS software to work with different databases.</a:t>
            </a:r>
          </a:p>
          <a:p>
            <a:r>
              <a:rPr lang="en-US" sz="2800" u="sng" dirty="0">
                <a:solidFill>
                  <a:srgbClr val="000000"/>
                </a:solidFill>
              </a:rPr>
              <a:t>Insulation between programs and data:</a:t>
            </a:r>
            <a:r>
              <a:rPr lang="en-US" sz="2800" dirty="0">
                <a:solidFill>
                  <a:srgbClr val="000000"/>
                </a:solidFill>
              </a:rPr>
              <a:t> </a:t>
            </a:r>
            <a:r>
              <a:rPr lang="en-US" sz="2800" b="1" dirty="0" smtClean="0">
                <a:solidFill>
                  <a:srgbClr val="000000"/>
                </a:solidFill>
              </a:rPr>
              <a:t>program-data </a:t>
            </a:r>
            <a:r>
              <a:rPr lang="en-US" sz="2800" b="1" dirty="0">
                <a:solidFill>
                  <a:srgbClr val="000000"/>
                </a:solidFill>
              </a:rPr>
              <a:t>independence</a:t>
            </a:r>
            <a:r>
              <a:rPr lang="en-US" sz="2800" dirty="0">
                <a:solidFill>
                  <a:srgbClr val="000000"/>
                </a:solidFill>
              </a:rPr>
              <a:t>. Allows changing data storage structures </a:t>
            </a:r>
            <a:r>
              <a:rPr lang="en-US" sz="2800" dirty="0" smtClean="0">
                <a:solidFill>
                  <a:srgbClr val="000000"/>
                </a:solidFill>
              </a:rPr>
              <a:t>without </a:t>
            </a:r>
            <a:r>
              <a:rPr lang="en-US" sz="2800" dirty="0">
                <a:solidFill>
                  <a:srgbClr val="000000"/>
                </a:solidFill>
              </a:rPr>
              <a:t>having to change the DBMS access programs.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3" name="Title 2"/>
          <p:cNvSpPr>
            <a:spLocks noGrp="1"/>
          </p:cNvSpPr>
          <p:nvPr>
            <p:ph type="title"/>
          </p:nvPr>
        </p:nvSpPr>
        <p:spPr>
          <a:xfrm>
            <a:off x="457200" y="838200"/>
            <a:ext cx="8229600" cy="685800"/>
          </a:xfrm>
        </p:spPr>
        <p:txBody>
          <a:bodyPr>
            <a:normAutofit fontScale="90000"/>
          </a:bodyPr>
          <a:lstStyle/>
          <a:p>
            <a:r>
              <a:rPr lang="en-US" dirty="0" smtClean="0"/>
              <a:t>An Example of Database Catalog</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905000"/>
            <a:ext cx="5943600" cy="480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Storage format for a student record</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981200" y="2895600"/>
            <a:ext cx="5257800" cy="19050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13</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15874831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p:cNvSpPr>
            <a:spLocks noGrp="1" noChangeArrowheads="1"/>
          </p:cNvSpPr>
          <p:nvPr>
            <p:ph type="title"/>
          </p:nvPr>
        </p:nvSpPr>
        <p:spPr>
          <a:xfrm>
            <a:off x="457200" y="914400"/>
            <a:ext cx="8229600" cy="1066800"/>
          </a:xfrm>
        </p:spPr>
        <p:txBody>
          <a:bodyPr>
            <a:normAutofit fontScale="90000"/>
          </a:bodyPr>
          <a:lstStyle/>
          <a:p>
            <a:r>
              <a:rPr lang="en-US" dirty="0"/>
              <a:t>Main Characteristics of the Database Approach</a:t>
            </a:r>
          </a:p>
        </p:txBody>
      </p:sp>
      <p:sp>
        <p:nvSpPr>
          <p:cNvPr id="479235" name="Rectangle 3"/>
          <p:cNvSpPr>
            <a:spLocks noGrp="1" noChangeArrowheads="1"/>
          </p:cNvSpPr>
          <p:nvPr>
            <p:ph type="body" idx="1"/>
          </p:nvPr>
        </p:nvSpPr>
        <p:spPr>
          <a:xfrm>
            <a:off x="609600" y="2057400"/>
            <a:ext cx="8153400" cy="4572000"/>
          </a:xfrm>
        </p:spPr>
        <p:txBody>
          <a:bodyPr>
            <a:normAutofit lnSpcReduction="10000"/>
          </a:bodyPr>
          <a:lstStyle/>
          <a:p>
            <a:r>
              <a:rPr lang="en-US" u="sng" dirty="0">
                <a:solidFill>
                  <a:srgbClr val="000000"/>
                </a:solidFill>
              </a:rPr>
              <a:t>Insulation between programs and data:</a:t>
            </a:r>
            <a:r>
              <a:rPr lang="en-US" dirty="0">
                <a:solidFill>
                  <a:srgbClr val="000000"/>
                </a:solidFill>
              </a:rPr>
              <a:t> </a:t>
            </a:r>
            <a:r>
              <a:rPr lang="en-US" b="1" dirty="0" smtClean="0">
                <a:solidFill>
                  <a:srgbClr val="000000"/>
                </a:solidFill>
              </a:rPr>
              <a:t>program-operation </a:t>
            </a:r>
            <a:r>
              <a:rPr lang="en-US" b="1" dirty="0">
                <a:solidFill>
                  <a:srgbClr val="000000"/>
                </a:solidFill>
              </a:rPr>
              <a:t>independence</a:t>
            </a:r>
            <a:r>
              <a:rPr lang="en-US" dirty="0">
                <a:solidFill>
                  <a:srgbClr val="000000"/>
                </a:solidFill>
              </a:rPr>
              <a:t>. Allows changing </a:t>
            </a:r>
            <a:r>
              <a:rPr lang="en-US" dirty="0" smtClean="0">
                <a:solidFill>
                  <a:srgbClr val="000000"/>
                </a:solidFill>
              </a:rPr>
              <a:t>operations </a:t>
            </a:r>
            <a:r>
              <a:rPr lang="en-US" dirty="0">
                <a:solidFill>
                  <a:srgbClr val="000000"/>
                </a:solidFill>
              </a:rPr>
              <a:t>without having to change the DBMS access programs</a:t>
            </a:r>
            <a:r>
              <a:rPr lang="en-US" dirty="0" smtClean="0">
                <a:solidFill>
                  <a:srgbClr val="000000"/>
                </a:solidFill>
              </a:rPr>
              <a:t>.</a:t>
            </a:r>
          </a:p>
          <a:p>
            <a:r>
              <a:rPr lang="en-US" b="1" dirty="0" smtClean="0">
                <a:solidFill>
                  <a:srgbClr val="000000"/>
                </a:solidFill>
              </a:rPr>
              <a:t>Data abstraction:</a:t>
            </a:r>
            <a:r>
              <a:rPr lang="en-US" dirty="0" smtClean="0">
                <a:solidFill>
                  <a:srgbClr val="000000"/>
                </a:solidFill>
              </a:rPr>
              <a:t> The characteristic that allows program-data independence and program-operation independence is called data abstraction. DBMS provides users with conceptual representation of data that doesn’t include many of the details of how the data is stored or how the operations are implemented.</a:t>
            </a:r>
            <a:endParaRPr lang="en-US" dirty="0">
              <a:solidFill>
                <a:srgbClr val="000000"/>
              </a:solidFill>
            </a:endParaRPr>
          </a:p>
          <a:p>
            <a:endParaRPr lang="en-US" sz="2800" dirty="0">
              <a:solidFill>
                <a:srgbClr val="000000"/>
              </a:solidFill>
            </a:endParaRPr>
          </a:p>
          <a:p>
            <a:endParaRPr lang="en-US" sz="28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34726713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p:cNvSpPr>
            <a:spLocks noGrp="1" noChangeArrowheads="1"/>
          </p:cNvSpPr>
          <p:nvPr>
            <p:ph type="title"/>
          </p:nvPr>
        </p:nvSpPr>
        <p:spPr>
          <a:xfrm>
            <a:off x="457200" y="1219200"/>
            <a:ext cx="8229600" cy="1066800"/>
          </a:xfrm>
        </p:spPr>
        <p:txBody>
          <a:bodyPr>
            <a:normAutofit fontScale="90000"/>
          </a:bodyPr>
          <a:lstStyle/>
          <a:p>
            <a:r>
              <a:rPr lang="en-US" dirty="0"/>
              <a:t>Main Characteristics of the Database Approach</a:t>
            </a:r>
          </a:p>
        </p:txBody>
      </p:sp>
      <p:sp>
        <p:nvSpPr>
          <p:cNvPr id="479235" name="Rectangle 3"/>
          <p:cNvSpPr>
            <a:spLocks noGrp="1" noChangeArrowheads="1"/>
          </p:cNvSpPr>
          <p:nvPr>
            <p:ph type="body" idx="1"/>
          </p:nvPr>
        </p:nvSpPr>
        <p:spPr>
          <a:xfrm>
            <a:off x="609600" y="2514600"/>
            <a:ext cx="7188200" cy="4114800"/>
          </a:xfrm>
        </p:spPr>
        <p:txBody>
          <a:bodyPr/>
          <a:lstStyle/>
          <a:p>
            <a:r>
              <a:rPr lang="en-US" sz="2800" u="sng" dirty="0">
                <a:solidFill>
                  <a:srgbClr val="000000"/>
                </a:solidFill>
              </a:rPr>
              <a:t>Data Abstraction:</a:t>
            </a:r>
            <a:r>
              <a:rPr lang="en-US" sz="2800" dirty="0">
                <a:solidFill>
                  <a:srgbClr val="000000"/>
                </a:solidFill>
              </a:rPr>
              <a:t> A </a:t>
            </a:r>
            <a:r>
              <a:rPr lang="en-US" sz="2800" b="1" dirty="0">
                <a:solidFill>
                  <a:srgbClr val="000000"/>
                </a:solidFill>
              </a:rPr>
              <a:t>data model</a:t>
            </a:r>
            <a:r>
              <a:rPr lang="en-US" sz="2800" dirty="0">
                <a:solidFill>
                  <a:srgbClr val="000000"/>
                </a:solidFill>
              </a:rPr>
              <a:t> </a:t>
            </a:r>
            <a:r>
              <a:rPr lang="en-US" sz="2800" dirty="0" smtClean="0">
                <a:solidFill>
                  <a:srgbClr val="000000"/>
                </a:solidFill>
              </a:rPr>
              <a:t>is a type of data abstraction that is </a:t>
            </a:r>
            <a:r>
              <a:rPr lang="en-US" sz="2800" dirty="0">
                <a:solidFill>
                  <a:srgbClr val="000000"/>
                </a:solidFill>
              </a:rPr>
              <a:t>used to </a:t>
            </a:r>
            <a:r>
              <a:rPr lang="en-US" sz="2800" dirty="0" smtClean="0">
                <a:solidFill>
                  <a:srgbClr val="000000"/>
                </a:solidFill>
              </a:rPr>
              <a:t>provide this </a:t>
            </a:r>
            <a:r>
              <a:rPr lang="en-US" sz="2800" smtClean="0">
                <a:solidFill>
                  <a:srgbClr val="000000"/>
                </a:solidFill>
              </a:rPr>
              <a:t>conceptual representation.</a:t>
            </a:r>
            <a:endParaRPr lang="en-US" sz="2800" dirty="0">
              <a:solidFill>
                <a:srgbClr val="000000"/>
              </a:solidFill>
            </a:endParaRPr>
          </a:p>
          <a:p>
            <a:r>
              <a:rPr lang="en-US" sz="2800" u="sng" dirty="0">
                <a:solidFill>
                  <a:srgbClr val="000000"/>
                </a:solidFill>
              </a:rPr>
              <a:t>Support of multiple views of the data:</a:t>
            </a:r>
            <a:r>
              <a:rPr lang="en-US" sz="2800" dirty="0">
                <a:solidFill>
                  <a:srgbClr val="000000"/>
                </a:solidFill>
              </a:rPr>
              <a:t> Each user may see </a:t>
            </a:r>
            <a:r>
              <a:rPr lang="en-US" sz="2800" dirty="0" smtClean="0">
                <a:solidFill>
                  <a:srgbClr val="000000"/>
                </a:solidFill>
              </a:rPr>
              <a:t>a different </a:t>
            </a:r>
            <a:r>
              <a:rPr lang="en-US" sz="2800" dirty="0">
                <a:solidFill>
                  <a:srgbClr val="000000"/>
                </a:solidFill>
              </a:rPr>
              <a:t>view of the database, which describes </a:t>
            </a:r>
            <a:r>
              <a:rPr lang="en-US" sz="2800" i="1" dirty="0">
                <a:solidFill>
                  <a:srgbClr val="000000"/>
                </a:solidFill>
              </a:rPr>
              <a:t>only</a:t>
            </a:r>
            <a:r>
              <a:rPr lang="en-US" sz="2800" dirty="0">
                <a:solidFill>
                  <a:srgbClr val="000000"/>
                </a:solidFill>
              </a:rPr>
              <a:t>  the data of interest to that user.</a:t>
            </a:r>
          </a:p>
          <a:p>
            <a:endParaRPr lang="en-US" sz="2800" dirty="0">
              <a:solidFill>
                <a:srgbClr val="000000"/>
              </a:solidFill>
            </a:endParaRPr>
          </a:p>
          <a:p>
            <a:endParaRPr lang="en-US" sz="28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Student transcript and course prerequisites view</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838200" y="2514600"/>
            <a:ext cx="6629400" cy="352425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16</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a:xfrm>
            <a:off x="457200" y="1447800"/>
            <a:ext cx="8229600" cy="1066800"/>
          </a:xfrm>
        </p:spPr>
        <p:txBody>
          <a:bodyPr>
            <a:normAutofit fontScale="90000"/>
          </a:bodyPr>
          <a:lstStyle/>
          <a:p>
            <a:r>
              <a:rPr lang="en-US" dirty="0"/>
              <a:t>Main Characteristics of the Database Approach</a:t>
            </a:r>
          </a:p>
        </p:txBody>
      </p:sp>
      <p:sp>
        <p:nvSpPr>
          <p:cNvPr id="480259" name="Rectangle 3"/>
          <p:cNvSpPr>
            <a:spLocks noGrp="1" noChangeArrowheads="1"/>
          </p:cNvSpPr>
          <p:nvPr>
            <p:ph type="body" idx="1"/>
          </p:nvPr>
        </p:nvSpPr>
        <p:spPr>
          <a:xfrm>
            <a:off x="609600" y="2895600"/>
            <a:ext cx="7772400" cy="3390900"/>
          </a:xfrm>
        </p:spPr>
        <p:txBody>
          <a:bodyPr>
            <a:normAutofit lnSpcReduction="10000"/>
          </a:bodyPr>
          <a:lstStyle/>
          <a:p>
            <a:r>
              <a:rPr lang="en-US" sz="2800" u="sng" dirty="0">
                <a:solidFill>
                  <a:srgbClr val="000000"/>
                </a:solidFill>
              </a:rPr>
              <a:t>Sharing of data and multiuser transaction processing : </a:t>
            </a:r>
            <a:r>
              <a:rPr lang="en-US" sz="2800" dirty="0">
                <a:solidFill>
                  <a:srgbClr val="000000"/>
                </a:solidFill>
              </a:rPr>
              <a:t>allowing a set of concurrent users to retrieve and to update the  database. Concurrency control within the DBMS guarantees that each </a:t>
            </a:r>
            <a:r>
              <a:rPr lang="en-US" sz="2800" b="1" dirty="0">
                <a:solidFill>
                  <a:srgbClr val="000000"/>
                </a:solidFill>
              </a:rPr>
              <a:t>transaction</a:t>
            </a:r>
            <a:r>
              <a:rPr lang="en-US" sz="2800" dirty="0">
                <a:solidFill>
                  <a:srgbClr val="000000"/>
                </a:solidFill>
              </a:rPr>
              <a:t> is correctly executed or completely aborted. OLTP (Online Transaction Processing) is a major part of database applications.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normAutofit/>
          </a:bodyPr>
          <a:lstStyle/>
          <a:p>
            <a:r>
              <a:rPr lang="en-US" dirty="0" smtClean="0"/>
              <a:t>Introduction</a:t>
            </a:r>
          </a:p>
          <a:p>
            <a:r>
              <a:rPr lang="en-US" dirty="0" smtClean="0"/>
              <a:t>Basic definitions</a:t>
            </a:r>
          </a:p>
          <a:p>
            <a:pPr lvl="1"/>
            <a:r>
              <a:rPr lang="en-US" dirty="0" smtClean="0"/>
              <a:t>Database</a:t>
            </a:r>
          </a:p>
          <a:p>
            <a:pPr lvl="1"/>
            <a:r>
              <a:rPr lang="en-US" smtClean="0"/>
              <a:t>Data</a:t>
            </a:r>
            <a:endParaRPr lang="en-US" dirty="0" smtClean="0"/>
          </a:p>
          <a:p>
            <a:pPr lvl="1"/>
            <a:r>
              <a:rPr lang="en-US" dirty="0" smtClean="0"/>
              <a:t>DBMS</a:t>
            </a:r>
          </a:p>
          <a:p>
            <a:pPr lvl="1"/>
            <a:r>
              <a:rPr lang="en-US" dirty="0" smtClean="0"/>
              <a:t>Database systems</a:t>
            </a:r>
          </a:p>
          <a:p>
            <a:r>
              <a:rPr lang="en-US" dirty="0" smtClean="0"/>
              <a:t>An example database</a:t>
            </a:r>
          </a:p>
          <a:p>
            <a:r>
              <a:rPr lang="en-US" dirty="0" smtClean="0"/>
              <a:t>Functionalities of database systems</a:t>
            </a:r>
          </a:p>
          <a:p>
            <a:r>
              <a:rPr lang="en-US" dirty="0" smtClean="0"/>
              <a:t>Characteristics of database systems</a:t>
            </a:r>
          </a:p>
          <a:p>
            <a:pPr>
              <a:buNone/>
            </a:pPr>
            <a:endParaRPr lang="en-US" dirty="0" smtClean="0"/>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329</TotalTime>
  <Words>656</Words>
  <Application>Microsoft Office PowerPoint</Application>
  <PresentationFormat>On-screen Show (4:3)</PresentationFormat>
  <Paragraphs>106</Paragraphs>
  <Slides>18</Slides>
  <Notes>2</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Urban</vt:lpstr>
      <vt:lpstr>Database Systems </vt:lpstr>
      <vt:lpstr>Today’s agenda</vt:lpstr>
      <vt:lpstr>Basic Definitions</vt:lpstr>
      <vt:lpstr>Database definition</vt:lpstr>
      <vt:lpstr>A simplified database system environment</vt:lpstr>
      <vt:lpstr>Typical DBMS Functionality</vt:lpstr>
      <vt:lpstr>Typical DBMS Functionality</vt:lpstr>
      <vt:lpstr>Example of a Database (with a Conceptual Data Model)</vt:lpstr>
      <vt:lpstr>Example of a Database (with a Conceptual Data Model)</vt:lpstr>
      <vt:lpstr>Example of a database</vt:lpstr>
      <vt:lpstr>Main Characteristics of the Database Approach</vt:lpstr>
      <vt:lpstr>An Example of Database Catalog</vt:lpstr>
      <vt:lpstr>Storage format for a student record</vt:lpstr>
      <vt:lpstr>Main Characteristics of the Database Approach</vt:lpstr>
      <vt:lpstr>Main Characteristics of the Database Approach</vt:lpstr>
      <vt:lpstr>Student transcript and course prerequisites view</vt:lpstr>
      <vt:lpstr>Main Characteristics of the Database Approach</vt:lpstr>
      <vt:lpstr>Summary</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 </dc:title>
  <dc:creator>RANA</dc:creator>
  <cp:lastModifiedBy>MEHTAB</cp:lastModifiedBy>
  <cp:revision>38</cp:revision>
  <dcterms:created xsi:type="dcterms:W3CDTF">2006-08-16T00:00:00Z</dcterms:created>
  <dcterms:modified xsi:type="dcterms:W3CDTF">2021-09-22T11:32:52Z</dcterms:modified>
</cp:coreProperties>
</file>
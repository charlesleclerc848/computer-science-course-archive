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273" r:id="rId2"/>
    <p:sldId id="274" r:id="rId3"/>
    <p:sldId id="256" r:id="rId4"/>
    <p:sldId id="257" r:id="rId5"/>
    <p:sldId id="258" r:id="rId6"/>
    <p:sldId id="259" r:id="rId7"/>
    <p:sldId id="275" r:id="rId8"/>
    <p:sldId id="260" r:id="rId9"/>
    <p:sldId id="261" r:id="rId10"/>
    <p:sldId id="262" r:id="rId11"/>
    <p:sldId id="263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5CBE8-5467-4BCD-A11A-662F398EFFFB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4A28F-9883-412B-9877-D552351699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02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219200"/>
            <a:ext cx="7772400" cy="1470025"/>
          </a:xfrm>
        </p:spPr>
        <p:txBody>
          <a:bodyPr/>
          <a:lstStyle/>
          <a:p>
            <a:r>
              <a:rPr lang="en-US" dirty="0" smtClean="0"/>
              <a:t>Database Systems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>
          <a:xfrm>
            <a:off x="5181600" y="4191000"/>
            <a:ext cx="2209800" cy="457200"/>
          </a:xfrm>
        </p:spPr>
        <p:txBody>
          <a:bodyPr/>
          <a:lstStyle/>
          <a:p>
            <a:r>
              <a:rPr lang="en-US" sz="1050" dirty="0" smtClean="0"/>
              <a:t>Database Management Systems</a:t>
            </a:r>
            <a:endParaRPr lang="en-US" sz="1050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286000" y="3048000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 smtClean="0"/>
              <a:t>Lecture 2</a:t>
            </a:r>
            <a:endParaRPr lang="en-US" sz="2800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Database users</a:t>
            </a:r>
          </a:p>
          <a:p>
            <a:r>
              <a:rPr lang="en-US" dirty="0" smtClean="0"/>
              <a:t>Advantages of database</a:t>
            </a:r>
          </a:p>
          <a:p>
            <a:r>
              <a:rPr lang="en-US" dirty="0" smtClean="0"/>
              <a:t>History of database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Database Management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Database Users</a:t>
            </a:r>
          </a:p>
        </p:txBody>
      </p:sp>
      <p:sp>
        <p:nvSpPr>
          <p:cNvPr id="4812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Users may be divided into those who actually use and control the content (called “Actors on the Scene”) and </a:t>
            </a:r>
            <a:r>
              <a:rPr lang="en-US" dirty="0"/>
              <a:t>those who work to </a:t>
            </a:r>
            <a:r>
              <a:rPr lang="en-US" dirty="0" smtClean="0"/>
              <a:t>maintain the </a:t>
            </a:r>
            <a:r>
              <a:rPr lang="en-US" dirty="0"/>
              <a:t>database system environment but who are not actively interested in the </a:t>
            </a:r>
            <a:r>
              <a:rPr lang="en-US" dirty="0" smtClean="0"/>
              <a:t>database contents </a:t>
            </a:r>
            <a:r>
              <a:rPr lang="en-US" dirty="0"/>
              <a:t>as part of their daily job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(called “Workers Behind the Scene”).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229600" cy="1066800"/>
          </a:xfrm>
        </p:spPr>
        <p:txBody>
          <a:bodyPr/>
          <a:lstStyle/>
          <a:p>
            <a:r>
              <a:rPr lang="en-US" dirty="0"/>
              <a:t>Database Users</a:t>
            </a:r>
          </a:p>
        </p:txBody>
      </p:sp>
      <p:sp>
        <p:nvSpPr>
          <p:cNvPr id="48230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772400" cy="43434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/>
              <a:t>Actors on the scene</a:t>
            </a:r>
            <a:endParaRPr lang="en-US" sz="2800" dirty="0">
              <a:solidFill>
                <a:srgbClr val="00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Database administrators:</a:t>
            </a:r>
            <a:r>
              <a:rPr lang="en-US" sz="2400" dirty="0">
                <a:solidFill>
                  <a:srgbClr val="000000"/>
                </a:solidFill>
              </a:rPr>
              <a:t> responsible for authorizing access to the database, for co-</a:t>
            </a:r>
            <a:r>
              <a:rPr lang="en-US" sz="2400" dirty="0" err="1">
                <a:solidFill>
                  <a:srgbClr val="000000"/>
                </a:solidFill>
              </a:rPr>
              <a:t>ordinating</a:t>
            </a:r>
            <a:r>
              <a:rPr lang="en-US" sz="2400" dirty="0">
                <a:solidFill>
                  <a:srgbClr val="000000"/>
                </a:solidFill>
              </a:rPr>
              <a:t> and monitoring its use, acquiring </a:t>
            </a:r>
            <a:r>
              <a:rPr lang="en-US" sz="2400" dirty="0" smtClean="0">
                <a:solidFill>
                  <a:srgbClr val="000000"/>
                </a:solidFill>
              </a:rPr>
              <a:t>software </a:t>
            </a:r>
            <a:r>
              <a:rPr lang="en-US" sz="2400" dirty="0">
                <a:solidFill>
                  <a:srgbClr val="000000"/>
                </a:solidFill>
              </a:rPr>
              <a:t>and hardware resources, controlling its use and monitoring efficiency of operations.</a:t>
            </a:r>
          </a:p>
          <a:p>
            <a:pPr lvl="1">
              <a:lnSpc>
                <a:spcPct val="9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Database Designers:</a:t>
            </a:r>
            <a:r>
              <a:rPr lang="en-US" sz="2400" dirty="0">
                <a:solidFill>
                  <a:srgbClr val="000000"/>
                </a:solidFill>
              </a:rPr>
              <a:t> responsible to define the content, the structure, the constraints, and functions or transactions against the database. They must communicate with the end-users and understand their needs.</a:t>
            </a:r>
          </a:p>
          <a:p>
            <a:pPr lvl="1">
              <a:lnSpc>
                <a:spcPct val="9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End-users:</a:t>
            </a:r>
            <a:r>
              <a:rPr lang="en-US" sz="2400" dirty="0">
                <a:solidFill>
                  <a:srgbClr val="000000"/>
                </a:solidFill>
              </a:rPr>
              <a:t> they use the data for queries, reports and some of them actually update the database content</a:t>
            </a:r>
            <a:r>
              <a:rPr lang="en-US" sz="2400" dirty="0" smtClean="0">
                <a:solidFill>
                  <a:srgbClr val="000000"/>
                </a:solidFill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en-US" sz="2400" b="1" dirty="0" smtClean="0">
                <a:solidFill>
                  <a:srgbClr val="000000"/>
                </a:solidFill>
              </a:rPr>
              <a:t>System Analysts and Application Programmers:</a:t>
            </a:r>
            <a:endParaRPr lang="en-US" sz="240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38200"/>
            <a:ext cx="8229600" cy="1066800"/>
          </a:xfrm>
        </p:spPr>
        <p:txBody>
          <a:bodyPr/>
          <a:lstStyle/>
          <a:p>
            <a:r>
              <a:rPr lang="en-US" dirty="0"/>
              <a:t>Categories of End-users</a:t>
            </a:r>
          </a:p>
        </p:txBody>
      </p:sp>
      <p:sp>
        <p:nvSpPr>
          <p:cNvPr id="48333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048500" cy="4114800"/>
          </a:xfrm>
        </p:spPr>
        <p:txBody>
          <a:bodyPr>
            <a:normAutofit fontScale="85000" lnSpcReduction="20000"/>
          </a:bodyPr>
          <a:lstStyle/>
          <a:p>
            <a:r>
              <a:rPr lang="en-US" sz="2800" b="1" dirty="0">
                <a:solidFill>
                  <a:srgbClr val="000000"/>
                </a:solidFill>
              </a:rPr>
              <a:t>Casual </a:t>
            </a:r>
            <a:r>
              <a:rPr lang="en-US" sz="2800" dirty="0">
                <a:solidFill>
                  <a:srgbClr val="000000"/>
                </a:solidFill>
              </a:rPr>
              <a:t>: access database occasionally when </a:t>
            </a:r>
            <a:r>
              <a:rPr lang="en-US" sz="2800" dirty="0" smtClean="0">
                <a:solidFill>
                  <a:srgbClr val="000000"/>
                </a:solidFill>
              </a:rPr>
              <a:t>needed. </a:t>
            </a:r>
            <a:r>
              <a:rPr lang="en-US" dirty="0" smtClean="0"/>
              <a:t>They </a:t>
            </a:r>
            <a:r>
              <a:rPr lang="en-US" dirty="0"/>
              <a:t>use a sophisticated database query </a:t>
            </a:r>
            <a:r>
              <a:rPr lang="en-US" dirty="0" smtClean="0"/>
              <a:t>interface </a:t>
            </a:r>
            <a:r>
              <a:rPr lang="en-US" dirty="0"/>
              <a:t>to specify their requests</a:t>
            </a:r>
            <a:endParaRPr lang="en-US" sz="2800" dirty="0">
              <a:solidFill>
                <a:srgbClr val="000000"/>
              </a:solidFill>
            </a:endParaRPr>
          </a:p>
          <a:p>
            <a:endParaRPr lang="en-US" sz="2800" b="1" dirty="0" smtClean="0">
              <a:solidFill>
                <a:srgbClr val="000000"/>
              </a:solidFill>
            </a:endParaRPr>
          </a:p>
          <a:p>
            <a:r>
              <a:rPr lang="en-US" sz="2800" b="1" dirty="0" smtClean="0">
                <a:solidFill>
                  <a:srgbClr val="000000"/>
                </a:solidFill>
              </a:rPr>
              <a:t>Naïve </a:t>
            </a:r>
            <a:r>
              <a:rPr lang="en-US" sz="2800" b="1" dirty="0">
                <a:solidFill>
                  <a:srgbClr val="000000"/>
                </a:solidFill>
              </a:rPr>
              <a:t>or Parametric</a:t>
            </a:r>
            <a:r>
              <a:rPr lang="en-US" sz="2800" dirty="0">
                <a:solidFill>
                  <a:srgbClr val="000000"/>
                </a:solidFill>
              </a:rPr>
              <a:t> : they make up a large section of the end-user population. </a:t>
            </a:r>
            <a:r>
              <a:rPr lang="en-US" dirty="0"/>
              <a:t>Their main job function revolves around constantly </a:t>
            </a:r>
            <a:r>
              <a:rPr lang="en-US" dirty="0" smtClean="0"/>
              <a:t>querying and </a:t>
            </a:r>
            <a:r>
              <a:rPr lang="en-US" dirty="0"/>
              <a:t>updating the database, using standard types of queries and </a:t>
            </a:r>
            <a:r>
              <a:rPr lang="en-US" dirty="0" smtClean="0"/>
              <a:t>updates—called </a:t>
            </a:r>
            <a:r>
              <a:rPr lang="en-US" i="1" dirty="0"/>
              <a:t>canned </a:t>
            </a:r>
            <a:r>
              <a:rPr lang="en-US" i="1" dirty="0" smtClean="0"/>
              <a:t>transactions</a:t>
            </a:r>
            <a:r>
              <a:rPr lang="en-US" dirty="0" smtClean="0"/>
              <a:t>. </a:t>
            </a:r>
            <a:r>
              <a:rPr lang="en-US" sz="2800" dirty="0" smtClean="0">
                <a:solidFill>
                  <a:srgbClr val="000000"/>
                </a:solidFill>
              </a:rPr>
              <a:t>Examples </a:t>
            </a:r>
            <a:r>
              <a:rPr lang="en-US" sz="2800" dirty="0">
                <a:solidFill>
                  <a:srgbClr val="000000"/>
                </a:solidFill>
              </a:rPr>
              <a:t>are </a:t>
            </a:r>
            <a:r>
              <a:rPr lang="en-US" sz="2800" dirty="0" smtClean="0">
                <a:solidFill>
                  <a:srgbClr val="000000"/>
                </a:solidFill>
              </a:rPr>
              <a:t>bank-tellers, </a:t>
            </a:r>
            <a:r>
              <a:rPr lang="en-US" sz="2800" dirty="0">
                <a:solidFill>
                  <a:srgbClr val="000000"/>
                </a:solidFill>
              </a:rPr>
              <a:t>reservation </a:t>
            </a:r>
            <a:r>
              <a:rPr lang="en-US" sz="2800" dirty="0" smtClean="0">
                <a:solidFill>
                  <a:srgbClr val="000000"/>
                </a:solidFill>
              </a:rPr>
              <a:t>clerks, and social media users, </a:t>
            </a:r>
            <a:r>
              <a:rPr lang="en-US" sz="2800" dirty="0">
                <a:solidFill>
                  <a:srgbClr val="000000"/>
                </a:solidFill>
              </a:rPr>
              <a:t>who do this activity for an entire shift of operations.</a:t>
            </a:r>
            <a:endParaRPr lang="en-US" sz="280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229600" cy="1066800"/>
          </a:xfrm>
        </p:spPr>
        <p:txBody>
          <a:bodyPr/>
          <a:lstStyle/>
          <a:p>
            <a:r>
              <a:rPr lang="en-US" dirty="0"/>
              <a:t>Categories of End-users</a:t>
            </a:r>
          </a:p>
        </p:txBody>
      </p:sp>
      <p:sp>
        <p:nvSpPr>
          <p:cNvPr id="48435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340600" cy="4114800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>
                <a:solidFill>
                  <a:srgbClr val="000000"/>
                </a:solidFill>
              </a:rPr>
              <a:t>Sophisticated</a:t>
            </a:r>
            <a:r>
              <a:rPr lang="en-US" sz="2800" dirty="0">
                <a:solidFill>
                  <a:srgbClr val="000000"/>
                </a:solidFill>
              </a:rPr>
              <a:t> : these include business analysts, scientists, </a:t>
            </a:r>
            <a:r>
              <a:rPr lang="en-US" sz="2800" dirty="0" smtClean="0">
                <a:solidFill>
                  <a:srgbClr val="000000"/>
                </a:solidFill>
              </a:rPr>
              <a:t>engineers and </a:t>
            </a:r>
            <a:r>
              <a:rPr lang="en-US" sz="2800" dirty="0">
                <a:solidFill>
                  <a:srgbClr val="000000"/>
                </a:solidFill>
              </a:rPr>
              <a:t>others </a:t>
            </a:r>
            <a:r>
              <a:rPr lang="en-US" sz="2800" dirty="0" smtClean="0">
                <a:solidFill>
                  <a:srgbClr val="000000"/>
                </a:solidFill>
              </a:rPr>
              <a:t>who thoroughly </a:t>
            </a:r>
            <a:r>
              <a:rPr lang="en-US" sz="2800" dirty="0">
                <a:solidFill>
                  <a:srgbClr val="000000"/>
                </a:solidFill>
              </a:rPr>
              <a:t>familiar </a:t>
            </a:r>
            <a:r>
              <a:rPr lang="en-US" sz="2800" dirty="0" smtClean="0">
                <a:solidFill>
                  <a:srgbClr val="000000"/>
                </a:solidFill>
              </a:rPr>
              <a:t>themselves with </a:t>
            </a:r>
            <a:r>
              <a:rPr lang="en-US" sz="2800" dirty="0">
                <a:solidFill>
                  <a:srgbClr val="000000"/>
                </a:solidFill>
              </a:rPr>
              <a:t>the system capabilities. Many use tools in the form of software packages that work closely with the stored database.</a:t>
            </a:r>
          </a:p>
          <a:p>
            <a:r>
              <a:rPr lang="en-US" sz="2800" b="1" dirty="0">
                <a:solidFill>
                  <a:srgbClr val="000000"/>
                </a:solidFill>
              </a:rPr>
              <a:t>Stand-alone</a:t>
            </a:r>
            <a:r>
              <a:rPr lang="en-US" sz="2800" dirty="0">
                <a:solidFill>
                  <a:srgbClr val="000000"/>
                </a:solidFill>
              </a:rPr>
              <a:t> : mostly maintain personal databases using ready-to-use packaged applications. An example is a tax program user that creates his or her own internal database.</a:t>
            </a:r>
            <a:endParaRPr lang="en-US" sz="280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382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System Analysts and Application Programmers</a:t>
            </a:r>
            <a:endParaRPr lang="en-US" dirty="0"/>
          </a:p>
        </p:txBody>
      </p:sp>
      <p:sp>
        <p:nvSpPr>
          <p:cNvPr id="48333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286000"/>
            <a:ext cx="7048500" cy="41148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System analysts: </a:t>
            </a:r>
            <a:r>
              <a:rPr lang="en-US" dirty="0"/>
              <a:t>determine the requirements of end users, especially naive </a:t>
            </a:r>
            <a:r>
              <a:rPr lang="en-US" dirty="0" smtClean="0"/>
              <a:t>and parametric </a:t>
            </a:r>
            <a:r>
              <a:rPr lang="en-US" dirty="0"/>
              <a:t>end users, and develop specifications for standard canned </a:t>
            </a:r>
            <a:r>
              <a:rPr lang="en-US" dirty="0" smtClean="0"/>
              <a:t>transactions that </a:t>
            </a:r>
            <a:r>
              <a:rPr lang="en-US" dirty="0"/>
              <a:t>meet these requirements</a:t>
            </a:r>
            <a:r>
              <a:rPr lang="en-US" dirty="0" smtClean="0"/>
              <a:t>.</a:t>
            </a:r>
          </a:p>
          <a:p>
            <a:endParaRPr lang="en-US" sz="2800" b="1" dirty="0" smtClean="0">
              <a:solidFill>
                <a:srgbClr val="000000"/>
              </a:solidFill>
            </a:endParaRPr>
          </a:p>
          <a:p>
            <a:r>
              <a:rPr lang="en-US" b="1" dirty="0"/>
              <a:t>Application </a:t>
            </a:r>
            <a:r>
              <a:rPr lang="en-US" b="1" dirty="0" smtClean="0"/>
              <a:t>programmers: </a:t>
            </a:r>
            <a:r>
              <a:rPr lang="en-US" dirty="0"/>
              <a:t>implement these </a:t>
            </a:r>
            <a:r>
              <a:rPr lang="en-US" dirty="0" smtClean="0"/>
              <a:t>specifications as </a:t>
            </a:r>
            <a:r>
              <a:rPr lang="en-US" dirty="0"/>
              <a:t>programs; then they test, debug, document, and maintain these </a:t>
            </a:r>
            <a:r>
              <a:rPr lang="en-US" dirty="0" smtClean="0"/>
              <a:t>canned transactions</a:t>
            </a:r>
            <a:r>
              <a:rPr lang="en-US" dirty="0"/>
              <a:t>. Such analysts and programmers—commonly referred to as </a:t>
            </a:r>
            <a:r>
              <a:rPr lang="en-US" b="1" dirty="0" smtClean="0"/>
              <a:t>software developers </a:t>
            </a:r>
            <a:r>
              <a:rPr lang="en-US" dirty="0"/>
              <a:t>or </a:t>
            </a:r>
            <a:r>
              <a:rPr lang="en-US" b="1" dirty="0"/>
              <a:t>software engineers</a:t>
            </a:r>
            <a:endParaRPr lang="en-US" sz="280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578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1066800"/>
          </a:xfrm>
        </p:spPr>
        <p:txBody>
          <a:bodyPr/>
          <a:lstStyle/>
          <a:p>
            <a:r>
              <a:rPr lang="en-US" dirty="0" smtClean="0"/>
              <a:t>Workers behind the scene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209800"/>
            <a:ext cx="8229600" cy="4325112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DBMS designers and Implementers</a:t>
            </a:r>
          </a:p>
          <a:p>
            <a:pPr lvl="1"/>
            <a:r>
              <a:rPr lang="en-US" dirty="0" smtClean="0"/>
              <a:t>Design and implement the DBMS modules and interfaces as a software package, e.g., modules for implementing the catalog, query language processing, interface processing, accessing and buffering data, controlling concurrency, and handling data recovery and security.</a:t>
            </a:r>
          </a:p>
          <a:p>
            <a:r>
              <a:rPr lang="en-US" dirty="0" smtClean="0"/>
              <a:t>Tool developers</a:t>
            </a:r>
          </a:p>
          <a:p>
            <a:pPr lvl="1"/>
            <a:r>
              <a:rPr lang="en-US" sz="2400" dirty="0">
                <a:solidFill>
                  <a:schemeClr val="accent2"/>
                </a:solidFill>
              </a:rPr>
              <a:t>Design and implement tools. The software packages which facilitate database system design and use in improving </a:t>
            </a:r>
            <a:r>
              <a:rPr lang="en-US" sz="2400" dirty="0" smtClean="0">
                <a:solidFill>
                  <a:schemeClr val="accent2"/>
                </a:solidFill>
              </a:rPr>
              <a:t>performance</a:t>
            </a:r>
            <a:r>
              <a:rPr lang="en-US" sz="2400" dirty="0" smtClean="0"/>
              <a:t>. These are optional packages that are often purchased separately (simulation, test data generation, NL or GI)</a:t>
            </a:r>
            <a:endParaRPr lang="en-US" sz="2400" dirty="0">
              <a:solidFill>
                <a:schemeClr val="accent2"/>
              </a:solidFill>
            </a:endParaRPr>
          </a:p>
          <a:p>
            <a:r>
              <a:rPr lang="en-US" dirty="0" smtClean="0"/>
              <a:t>Operators and Maintenance Personals</a:t>
            </a:r>
          </a:p>
          <a:p>
            <a:pPr lvl="1"/>
            <a:r>
              <a:rPr lang="en-US" dirty="0" smtClean="0"/>
              <a:t>System administration personals who are responsible for the actual running and maintenance of the hardware and software environment of the database system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Advantages of Using the Database Approach</a:t>
            </a:r>
          </a:p>
        </p:txBody>
      </p:sp>
      <p:sp>
        <p:nvSpPr>
          <p:cNvPr id="4853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000000"/>
                </a:solidFill>
              </a:rPr>
              <a:t>Controlling redundancy in data storage and in development and </a:t>
            </a:r>
            <a:r>
              <a:rPr lang="en-US" dirty="0" smtClean="0">
                <a:solidFill>
                  <a:srgbClr val="000000"/>
                </a:solidFill>
              </a:rPr>
              <a:t>maintenance </a:t>
            </a:r>
            <a:r>
              <a:rPr lang="en-US" dirty="0">
                <a:solidFill>
                  <a:srgbClr val="000000"/>
                </a:solidFill>
              </a:rPr>
              <a:t>efforts.</a:t>
            </a:r>
          </a:p>
          <a:p>
            <a:pPr>
              <a:lnSpc>
                <a:spcPct val="90000"/>
              </a:lnSpc>
            </a:pPr>
            <a:r>
              <a:rPr lang="en-US" dirty="0" smtClean="0">
                <a:solidFill>
                  <a:srgbClr val="000000"/>
                </a:solidFill>
              </a:rPr>
              <a:t>Restricting </a:t>
            </a:r>
            <a:r>
              <a:rPr lang="en-US" dirty="0">
                <a:solidFill>
                  <a:srgbClr val="000000"/>
                </a:solidFill>
              </a:rPr>
              <a:t>unauthorized access to data.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000000"/>
                </a:solidFill>
              </a:rPr>
              <a:t>Providing persistent storage for program Objects (in Object-oriented </a:t>
            </a:r>
            <a:r>
              <a:rPr lang="en-US" dirty="0" smtClean="0">
                <a:solidFill>
                  <a:srgbClr val="000000"/>
                </a:solidFill>
              </a:rPr>
              <a:t>DBMS’s)</a:t>
            </a:r>
            <a:endParaRPr lang="en-US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000000"/>
                </a:solidFill>
              </a:rPr>
              <a:t>Providing Storage Structures for efficient Query </a:t>
            </a:r>
            <a:r>
              <a:rPr lang="en-US" dirty="0" smtClean="0">
                <a:solidFill>
                  <a:srgbClr val="000000"/>
                </a:solidFill>
              </a:rPr>
              <a:t>Processing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000000"/>
                </a:solidFill>
              </a:rPr>
              <a:t>Providing backup and recovery services</a:t>
            </a:r>
            <a:r>
              <a:rPr lang="en-US" dirty="0" smtClean="0">
                <a:solidFill>
                  <a:srgbClr val="000000"/>
                </a:solidFill>
              </a:rPr>
              <a:t>.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2514600"/>
            <a:ext cx="61722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8382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Advantages of Using the Database Approach</a:t>
            </a:r>
          </a:p>
        </p:txBody>
      </p:sp>
      <p:sp>
        <p:nvSpPr>
          <p:cNvPr id="48640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133600"/>
            <a:ext cx="7073900" cy="41148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000000"/>
                </a:solidFill>
              </a:rPr>
              <a:t>Providing </a:t>
            </a:r>
            <a:r>
              <a:rPr lang="en-US" dirty="0">
                <a:solidFill>
                  <a:srgbClr val="000000"/>
                </a:solidFill>
              </a:rPr>
              <a:t>multiple interfaces to different classes of users.</a:t>
            </a:r>
          </a:p>
          <a:p>
            <a:r>
              <a:rPr lang="en-US" dirty="0">
                <a:solidFill>
                  <a:srgbClr val="000000"/>
                </a:solidFill>
              </a:rPr>
              <a:t>Representing complex relationships among data.</a:t>
            </a:r>
          </a:p>
          <a:p>
            <a:r>
              <a:rPr lang="en-US" dirty="0">
                <a:solidFill>
                  <a:srgbClr val="000000"/>
                </a:solidFill>
              </a:rPr>
              <a:t>Enforcing integrity constraints on the database.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>Permitting </a:t>
            </a:r>
            <a:r>
              <a:rPr lang="en-US" dirty="0" err="1" smtClean="0">
                <a:solidFill>
                  <a:srgbClr val="000000"/>
                </a:solidFill>
              </a:rPr>
              <a:t>Inferencing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and Actions using rules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668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Additional Implications of Using the Database Approach</a:t>
            </a:r>
          </a:p>
        </p:txBody>
      </p:sp>
      <p:sp>
        <p:nvSpPr>
          <p:cNvPr id="48742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362200"/>
            <a:ext cx="7175500" cy="4114800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rgbClr val="000000"/>
                </a:solidFill>
              </a:rPr>
              <a:t>Potential for enforcing standards: this is very crucial for the success of database applications in large organizations Standards refer to data item names, display formats, screens, report structures, meta-data (description of data) etc.</a:t>
            </a:r>
          </a:p>
          <a:p>
            <a:r>
              <a:rPr lang="en-US" sz="2800" dirty="0">
                <a:solidFill>
                  <a:srgbClr val="000000"/>
                </a:solidFill>
              </a:rPr>
              <a:t>Reduced application development time: incremental time to add each new application is reduced.</a:t>
            </a:r>
          </a:p>
          <a:p>
            <a:pPr>
              <a:buFont typeface="Wingdings" pitchFamily="2" charset="2"/>
              <a:buNone/>
            </a:pP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668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Additional Implications of Using the Database Approach</a:t>
            </a:r>
          </a:p>
        </p:txBody>
      </p:sp>
      <p:sp>
        <p:nvSpPr>
          <p:cNvPr id="49664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286000"/>
            <a:ext cx="7023100" cy="41148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solidFill>
                  <a:srgbClr val="000000"/>
                </a:solidFill>
              </a:rPr>
              <a:t>Flexibility to change data structures: database structure may evolve as new requirements are defined. </a:t>
            </a:r>
          </a:p>
          <a:p>
            <a:r>
              <a:rPr lang="en-US" sz="2800" dirty="0">
                <a:solidFill>
                  <a:srgbClr val="000000"/>
                </a:solidFill>
              </a:rPr>
              <a:t>Availability of up-to-date information – very important for on-line transaction systems such as airline, hotel, car reservations.</a:t>
            </a:r>
          </a:p>
          <a:p>
            <a:r>
              <a:rPr lang="en-US" sz="2800" dirty="0">
                <a:solidFill>
                  <a:srgbClr val="000000"/>
                </a:solidFill>
              </a:rPr>
              <a:t>Economies of scale: by consolidating data and applications across departments wasteful overlap of resources and personnel can be avoided.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143000"/>
            <a:ext cx="78359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Historical Development of Database Technology</a:t>
            </a:r>
          </a:p>
        </p:txBody>
      </p:sp>
      <p:sp>
        <p:nvSpPr>
          <p:cNvPr id="49357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362200"/>
            <a:ext cx="7124700" cy="4114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000000"/>
                </a:solidFill>
              </a:rPr>
              <a:t>Early Database Applications: </a:t>
            </a:r>
            <a:r>
              <a:rPr lang="en-US" sz="2800" dirty="0">
                <a:solidFill>
                  <a:srgbClr val="000000"/>
                </a:solidFill>
              </a:rPr>
              <a:t>The Hierarchical and Network Models were introduced in mid 1960’s and dominated during the seventies</a:t>
            </a:r>
            <a:r>
              <a:rPr lang="en-US" sz="2800">
                <a:solidFill>
                  <a:srgbClr val="000000"/>
                </a:solidFill>
              </a:rPr>
              <a:t>. </a:t>
            </a:r>
            <a:endParaRPr lang="en-US" sz="2800" b="1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000000"/>
                </a:solidFill>
              </a:rPr>
              <a:t>Relational Model based Systems: </a:t>
            </a:r>
            <a:r>
              <a:rPr lang="en-US" sz="2800" dirty="0">
                <a:solidFill>
                  <a:srgbClr val="000000"/>
                </a:solidFill>
              </a:rPr>
              <a:t>The model that was originally introduced in 1970 was heavily researched and experimented with in IBM and the universities. Relational DBMS Products emerged in the 1980’s.</a:t>
            </a:r>
            <a:endParaRPr lang="en-US" sz="2800" b="1" dirty="0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192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Historical Development of Database Technology</a:t>
            </a:r>
          </a:p>
        </p:txBody>
      </p:sp>
      <p:sp>
        <p:nvSpPr>
          <p:cNvPr id="49766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438400"/>
            <a:ext cx="7073900" cy="41148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000000"/>
                </a:solidFill>
              </a:rPr>
              <a:t>Object-oriented applications: </a:t>
            </a:r>
            <a:r>
              <a:rPr lang="en-US" sz="2800" dirty="0">
                <a:solidFill>
                  <a:srgbClr val="000000"/>
                </a:solidFill>
              </a:rPr>
              <a:t>OODBMSs were introduced in late 1980’s and early 1990’s to cater to the need of complex data processing in CAD and other applications. Their use has not taken off much.</a:t>
            </a:r>
            <a:endParaRPr lang="en-US" sz="2800" b="1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000000"/>
                </a:solidFill>
              </a:rPr>
              <a:t>Data on the Web and E-commerce Applications: </a:t>
            </a:r>
            <a:r>
              <a:rPr lang="en-US" sz="2800" dirty="0">
                <a:solidFill>
                  <a:srgbClr val="000000"/>
                </a:solidFill>
              </a:rPr>
              <a:t>Web contains data in HTML (Hypertext markup language) with links among pages. This has given rise to a new set of applications and E-commerce is using new standards like XML (</a:t>
            </a:r>
            <a:r>
              <a:rPr lang="en-US" sz="2800" dirty="0" err="1">
                <a:solidFill>
                  <a:srgbClr val="000000"/>
                </a:solidFill>
              </a:rPr>
              <a:t>eXtended</a:t>
            </a:r>
            <a:r>
              <a:rPr lang="en-US" sz="2800" dirty="0">
                <a:solidFill>
                  <a:srgbClr val="000000"/>
                </a:solidFill>
              </a:rPr>
              <a:t>  Markup Language).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0"/>
            <a:ext cx="7772400" cy="1143000"/>
          </a:xfrm>
        </p:spPr>
        <p:txBody>
          <a:bodyPr/>
          <a:lstStyle/>
          <a:p>
            <a:r>
              <a:rPr lang="en-US" dirty="0"/>
              <a:t>Extending Database Capabilities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94595" name="Rectangle 3"/>
          <p:cNvSpPr>
            <a:spLocks noGrp="1" noChangeArrowheads="1"/>
          </p:cNvSpPr>
          <p:nvPr>
            <p:ph idx="1"/>
          </p:nvPr>
        </p:nvSpPr>
        <p:spPr>
          <a:xfrm>
            <a:off x="850900" y="1981200"/>
            <a:ext cx="7010400" cy="4114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000000"/>
                </a:solidFill>
              </a:rPr>
              <a:t>New functionality is being added to DBMSs in the following areas:</a:t>
            </a:r>
            <a:endParaRPr lang="en-US" sz="2800" dirty="0">
              <a:solidFill>
                <a:srgbClr val="00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</a:rPr>
              <a:t>Scientific Applications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</a:rPr>
              <a:t>Image Storage and Management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</a:rPr>
              <a:t>Audio and Video data management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</a:rPr>
              <a:t>Data Mining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</a:rPr>
              <a:t>Spatial data management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</a:rPr>
              <a:t>Time </a:t>
            </a:r>
            <a:r>
              <a:rPr lang="en-US" sz="2400" dirty="0" smtClean="0">
                <a:solidFill>
                  <a:srgbClr val="000000"/>
                </a:solidFill>
              </a:rPr>
              <a:t>Series</a:t>
            </a:r>
          </a:p>
          <a:p>
            <a:pPr lvl="1">
              <a:lnSpc>
                <a:spcPct val="90000"/>
              </a:lnSpc>
            </a:pPr>
            <a:endParaRPr lang="en-US" sz="2000" i="1" dirty="0" smtClean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i="1" dirty="0" smtClean="0">
                <a:solidFill>
                  <a:srgbClr val="000000"/>
                </a:solidFill>
              </a:rPr>
              <a:t>The </a:t>
            </a:r>
            <a:r>
              <a:rPr lang="en-US" sz="2000" i="1" dirty="0">
                <a:solidFill>
                  <a:srgbClr val="000000"/>
                </a:solidFill>
              </a:rPr>
              <a:t>above gives rise to new research and development </a:t>
            </a:r>
            <a:r>
              <a:rPr lang="en-US" sz="2000" i="1" dirty="0" smtClean="0">
                <a:solidFill>
                  <a:srgbClr val="000000"/>
                </a:solidFill>
              </a:rPr>
              <a:t>in incorporating </a:t>
            </a:r>
            <a:r>
              <a:rPr lang="en-US" sz="2000" i="1" dirty="0">
                <a:solidFill>
                  <a:srgbClr val="000000"/>
                </a:solidFill>
              </a:rPr>
              <a:t>new data types, complex data structures, new operations and storage and indexing schemes in database systems.</a:t>
            </a:r>
            <a:r>
              <a:rPr lang="en-US" sz="2000" b="1" i="1" dirty="0">
                <a:solidFill>
                  <a:srgbClr val="000000"/>
                </a:solidFill>
              </a:rPr>
              <a:t> </a:t>
            </a:r>
            <a:endParaRPr lang="en-US" sz="2000" b="1" i="1" dirty="0" smtClean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000" b="1" dirty="0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8229600" cy="1066800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dirty="0"/>
              <a:t>When not to use a DBMS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49561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362200"/>
            <a:ext cx="7124700" cy="41148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000000"/>
                </a:solidFill>
              </a:rPr>
              <a:t>Main inhibitors (costs) of using a DBMS</a:t>
            </a:r>
            <a:r>
              <a:rPr lang="en-US" sz="2800" dirty="0">
                <a:solidFill>
                  <a:srgbClr val="000000"/>
                </a:solidFill>
              </a:rPr>
              <a:t>: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</a:rPr>
              <a:t>High initial investment and possible need for additional </a:t>
            </a:r>
            <a:r>
              <a:rPr lang="en-US" sz="2400" dirty="0" smtClean="0">
                <a:solidFill>
                  <a:srgbClr val="000000"/>
                </a:solidFill>
              </a:rPr>
              <a:t>hardware, s/w and training</a:t>
            </a:r>
            <a:endParaRPr lang="en-US" sz="2400" dirty="0">
              <a:solidFill>
                <a:srgbClr val="00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</a:rPr>
              <a:t>Overhead for providing generality, security, concurrency control, recovery, and  integrity functions. </a:t>
            </a:r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000000"/>
                </a:solidFill>
              </a:rPr>
              <a:t>When a DBMS may be </a:t>
            </a:r>
            <a:r>
              <a:rPr lang="en-US" sz="2800" b="1" dirty="0" smtClean="0">
                <a:solidFill>
                  <a:srgbClr val="000000"/>
                </a:solidFill>
              </a:rPr>
              <a:t>unnecessary and regular file system is desirable:</a:t>
            </a:r>
            <a:endParaRPr lang="en-US" sz="2800" b="1" dirty="0">
              <a:solidFill>
                <a:srgbClr val="00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</a:rPr>
              <a:t>If the database and applications are simple, well defined, and not expected to change.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</a:rPr>
              <a:t>If there are stringent real-time requirements that may not be met because of DBMS overhead.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</a:rPr>
              <a:t>If access to data by multiple users is not required.</a:t>
            </a:r>
            <a:endParaRPr lang="en-US" sz="240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Database Management Systems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666</TotalTime>
  <Words>1096</Words>
  <Application>Microsoft Office PowerPoint</Application>
  <PresentationFormat>On-screen Show (4:3)</PresentationFormat>
  <Paragraphs>109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Urban</vt:lpstr>
      <vt:lpstr>Database Systems </vt:lpstr>
      <vt:lpstr>Today’s agenda</vt:lpstr>
      <vt:lpstr>Database Users</vt:lpstr>
      <vt:lpstr>Database Users</vt:lpstr>
      <vt:lpstr>Categories of End-users</vt:lpstr>
      <vt:lpstr>Categories of End-users</vt:lpstr>
      <vt:lpstr>System Analysts and Application Programmers</vt:lpstr>
      <vt:lpstr>Workers behind the scene</vt:lpstr>
      <vt:lpstr>Advantages of Using the Database Approach</vt:lpstr>
      <vt:lpstr>PowerPoint Presentation</vt:lpstr>
      <vt:lpstr>Advantages of Using the Database Approach</vt:lpstr>
      <vt:lpstr>Additional Implications of Using the Database Approach</vt:lpstr>
      <vt:lpstr>Additional Implications of Using the Database Approach</vt:lpstr>
      <vt:lpstr>Historical Development of Database Technology</vt:lpstr>
      <vt:lpstr>Historical Development of Database Technology</vt:lpstr>
      <vt:lpstr>Extending Database Capabilities</vt:lpstr>
      <vt:lpstr> When not to use a DBMS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 </dc:title>
  <dc:creator>RANA</dc:creator>
  <cp:lastModifiedBy>MEHTAB</cp:lastModifiedBy>
  <cp:revision>30</cp:revision>
  <dcterms:created xsi:type="dcterms:W3CDTF">2006-08-16T00:00:00Z</dcterms:created>
  <dcterms:modified xsi:type="dcterms:W3CDTF">2020-10-06T04:19:39Z</dcterms:modified>
</cp:coreProperties>
</file>
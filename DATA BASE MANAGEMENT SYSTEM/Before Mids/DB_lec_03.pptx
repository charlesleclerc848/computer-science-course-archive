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270" r:id="rId9"/>
    <p:sldId id="271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DD78E-A7C7-4CE7-A4C9-A0D6742AC371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83E4A-9E29-44F7-9597-89A3556E0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8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Types of databases, Data Models, Schema and Instances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3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Databases</a:t>
            </a:r>
          </a:p>
          <a:p>
            <a:r>
              <a:rPr lang="en-US" smtClean="0"/>
              <a:t>Data Models</a:t>
            </a:r>
            <a:endParaRPr lang="en-US" dirty="0" smtClean="0"/>
          </a:p>
          <a:p>
            <a:r>
              <a:rPr lang="en-US" dirty="0" smtClean="0"/>
              <a:t>Schemas vs. Instances</a:t>
            </a:r>
          </a:p>
          <a:p>
            <a:r>
              <a:rPr lang="en-US" dirty="0" smtClean="0"/>
              <a:t>Database schema vs. Database states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Centralized Databases</a:t>
            </a:r>
          </a:p>
          <a:p>
            <a:r>
              <a:rPr lang="en-US" dirty="0" smtClean="0"/>
              <a:t>Distributed Databases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Centralized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Personal Computer Database</a:t>
            </a:r>
          </a:p>
          <a:p>
            <a:pPr lvl="1"/>
            <a:r>
              <a:rPr lang="en-ZA" dirty="0" smtClean="0"/>
              <a:t>normally have a single user who creates the database updates and maintains the data and reports and displays</a:t>
            </a:r>
            <a:endParaRPr lang="en-US" dirty="0" smtClean="0"/>
          </a:p>
          <a:p>
            <a:r>
              <a:rPr lang="en-US" dirty="0" smtClean="0"/>
              <a:t>Central Computer Database</a:t>
            </a:r>
          </a:p>
          <a:p>
            <a:pPr lvl="1"/>
            <a:r>
              <a:rPr lang="en-ZA" dirty="0" smtClean="0"/>
              <a:t>users at remote locations can access the database using terminals and data communications links</a:t>
            </a:r>
            <a:endParaRPr lang="en-US" dirty="0" smtClean="0"/>
          </a:p>
          <a:p>
            <a:r>
              <a:rPr lang="en-US" dirty="0" smtClean="0"/>
              <a:t>Client/Server Database</a:t>
            </a:r>
          </a:p>
          <a:p>
            <a:pPr lvl="1"/>
            <a:r>
              <a:rPr lang="en-ZA" dirty="0" smtClean="0"/>
              <a:t>many organizations are downsizing present applications to these smaller, more cost effective computers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Homogenous Database</a:t>
            </a:r>
          </a:p>
          <a:p>
            <a:pPr lvl="1"/>
            <a:r>
              <a:rPr lang="en-ZA" dirty="0" smtClean="0"/>
              <a:t>The homogeneous database means that the database technology is the same at each of the locations (or sites) and that the data at various locations are also compatible</a:t>
            </a:r>
            <a:endParaRPr lang="en-US" dirty="0" smtClean="0"/>
          </a:p>
          <a:p>
            <a:r>
              <a:rPr lang="en-US" dirty="0" smtClean="0"/>
              <a:t>Heterogeneous Database</a:t>
            </a:r>
          </a:p>
          <a:p>
            <a:pPr lvl="1"/>
            <a:r>
              <a:rPr lang="en-ZA" dirty="0" smtClean="0"/>
              <a:t>different nodes may have different hardware &amp; software and data structures at various locations are also incompatible.</a:t>
            </a:r>
            <a:br>
              <a:rPr lang="en-ZA" dirty="0" smtClean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Models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 smtClean="0">
                <a:solidFill>
                  <a:srgbClr val="000000"/>
                </a:solidFill>
              </a:rPr>
              <a:t>Data Abstraction:</a:t>
            </a:r>
          </a:p>
          <a:p>
            <a:r>
              <a:rPr lang="en-US" sz="2800" b="1" dirty="0" smtClean="0">
                <a:solidFill>
                  <a:srgbClr val="000000"/>
                </a:solidFill>
              </a:rPr>
              <a:t>Data </a:t>
            </a:r>
            <a:r>
              <a:rPr lang="en-US" sz="2800" b="1" dirty="0">
                <a:solidFill>
                  <a:srgbClr val="000000"/>
                </a:solidFill>
              </a:rPr>
              <a:t>Model</a:t>
            </a:r>
            <a:r>
              <a:rPr lang="en-US" sz="2800" dirty="0">
                <a:solidFill>
                  <a:srgbClr val="000000"/>
                </a:solidFill>
              </a:rPr>
              <a:t>: A set of concepts to describe the </a:t>
            </a:r>
            <a:r>
              <a:rPr lang="en-US" sz="2800" i="1" dirty="0">
                <a:solidFill>
                  <a:srgbClr val="000000"/>
                </a:solidFill>
              </a:rPr>
              <a:t>structure</a:t>
            </a:r>
            <a:r>
              <a:rPr lang="en-US" sz="2800" dirty="0">
                <a:solidFill>
                  <a:srgbClr val="000000"/>
                </a:solidFill>
              </a:rPr>
              <a:t> of a </a:t>
            </a:r>
            <a:r>
              <a:rPr lang="en-US" sz="2800" dirty="0" smtClean="0">
                <a:solidFill>
                  <a:srgbClr val="000000"/>
                </a:solidFill>
              </a:rPr>
              <a:t>database, i.e., structure means, </a:t>
            </a:r>
            <a:r>
              <a:rPr lang="en-US" dirty="0" smtClean="0"/>
              <a:t>the </a:t>
            </a:r>
            <a:r>
              <a:rPr lang="en-US" dirty="0"/>
              <a:t>data types, </a:t>
            </a:r>
            <a:r>
              <a:rPr lang="en-US" dirty="0" smtClean="0"/>
              <a:t>relationships, and </a:t>
            </a:r>
            <a:r>
              <a:rPr lang="en-US" dirty="0"/>
              <a:t>constraints that apply to the data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US" sz="2800" b="1" dirty="0">
                <a:solidFill>
                  <a:srgbClr val="000000"/>
                </a:solidFill>
              </a:rPr>
              <a:t>Data Model Operations</a:t>
            </a:r>
            <a:r>
              <a:rPr lang="en-US" sz="2800" dirty="0">
                <a:solidFill>
                  <a:srgbClr val="000000"/>
                </a:solidFill>
              </a:rPr>
              <a:t>: </a:t>
            </a:r>
            <a:r>
              <a:rPr lang="en-US" dirty="0"/>
              <a:t>Most data models also include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b="1" dirty="0"/>
              <a:t>basic operations </a:t>
            </a:r>
            <a:r>
              <a:rPr lang="en-US" dirty="0"/>
              <a:t>for specifying retrievals and updates on the database.</a:t>
            </a:r>
            <a:r>
              <a:rPr lang="en-US" sz="2800" dirty="0" smtClean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Operations on the data model may include </a:t>
            </a:r>
            <a:r>
              <a:rPr lang="en-US" sz="2800" i="1" dirty="0">
                <a:solidFill>
                  <a:srgbClr val="000000"/>
                </a:solidFill>
              </a:rPr>
              <a:t>basic operations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(insert, delete, modify) and </a:t>
            </a:r>
            <a:r>
              <a:rPr lang="en-US" sz="2800" i="1" dirty="0">
                <a:solidFill>
                  <a:srgbClr val="000000"/>
                </a:solidFill>
              </a:rPr>
              <a:t>user-defined </a:t>
            </a:r>
            <a:r>
              <a:rPr lang="en-US" sz="2800" i="1" dirty="0" smtClean="0">
                <a:solidFill>
                  <a:srgbClr val="000000"/>
                </a:solidFill>
              </a:rPr>
              <a:t>operations (compute CGPA)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Categories of data models</a:t>
            </a:r>
            <a:endParaRPr lang="en-US" u="sng">
              <a:solidFill>
                <a:srgbClr val="000000"/>
              </a:solidFill>
            </a:endParaRP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Conceptual</a:t>
            </a:r>
            <a:r>
              <a:rPr lang="en-US" sz="2800" dirty="0">
                <a:solidFill>
                  <a:srgbClr val="000000"/>
                </a:solidFill>
              </a:rPr>
              <a:t> (</a:t>
            </a:r>
            <a:r>
              <a:rPr lang="en-US" sz="2800" b="1" dirty="0">
                <a:solidFill>
                  <a:srgbClr val="000000"/>
                </a:solidFill>
              </a:rPr>
              <a:t>high-level</a:t>
            </a:r>
            <a:r>
              <a:rPr lang="en-US" sz="2800" dirty="0">
                <a:solidFill>
                  <a:srgbClr val="000000"/>
                </a:solidFill>
              </a:rPr>
              <a:t>, </a:t>
            </a:r>
            <a:r>
              <a:rPr lang="en-US" sz="2800" b="1" dirty="0">
                <a:solidFill>
                  <a:srgbClr val="000000"/>
                </a:solidFill>
              </a:rPr>
              <a:t>semantic</a:t>
            </a:r>
            <a:r>
              <a:rPr lang="en-US" sz="2800" dirty="0">
                <a:solidFill>
                  <a:srgbClr val="000000"/>
                </a:solidFill>
              </a:rPr>
              <a:t>) data models: Provide concepts that are close to the way many users </a:t>
            </a:r>
            <a:r>
              <a:rPr lang="en-US" sz="2800" i="1" dirty="0">
                <a:solidFill>
                  <a:srgbClr val="000000"/>
                </a:solidFill>
              </a:rPr>
              <a:t>perceive</a:t>
            </a:r>
            <a:r>
              <a:rPr lang="en-US" sz="2800" dirty="0">
                <a:solidFill>
                  <a:srgbClr val="000000"/>
                </a:solidFill>
              </a:rPr>
              <a:t> data. (Also called </a:t>
            </a:r>
            <a:r>
              <a:rPr lang="en-US" sz="2800" b="1" dirty="0">
                <a:solidFill>
                  <a:srgbClr val="000000"/>
                </a:solidFill>
              </a:rPr>
              <a:t>entity-based</a:t>
            </a:r>
            <a:r>
              <a:rPr lang="en-US" sz="2800" dirty="0">
                <a:solidFill>
                  <a:srgbClr val="000000"/>
                </a:solidFill>
              </a:rPr>
              <a:t> or </a:t>
            </a:r>
            <a:r>
              <a:rPr lang="en-US" sz="2800" b="1" dirty="0">
                <a:solidFill>
                  <a:srgbClr val="000000"/>
                </a:solidFill>
              </a:rPr>
              <a:t>object-based</a:t>
            </a:r>
            <a:r>
              <a:rPr lang="en-US" sz="2800" dirty="0">
                <a:solidFill>
                  <a:srgbClr val="000000"/>
                </a:solidFill>
              </a:rPr>
              <a:t> data models.)</a:t>
            </a:r>
          </a:p>
          <a:p>
            <a:pPr>
              <a:lnSpc>
                <a:spcPct val="90000"/>
              </a:lnSpc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000000"/>
                </a:solidFill>
              </a:rPr>
              <a:t>Physical</a:t>
            </a:r>
            <a:r>
              <a:rPr lang="en-US" sz="2800" dirty="0" smtClean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(</a:t>
            </a:r>
            <a:r>
              <a:rPr lang="en-US" sz="2800" b="1" dirty="0">
                <a:solidFill>
                  <a:srgbClr val="000000"/>
                </a:solidFill>
              </a:rPr>
              <a:t>low-level</a:t>
            </a:r>
            <a:r>
              <a:rPr lang="en-US" sz="2800" dirty="0">
                <a:solidFill>
                  <a:srgbClr val="000000"/>
                </a:solidFill>
              </a:rPr>
              <a:t>, </a:t>
            </a:r>
            <a:r>
              <a:rPr lang="en-US" sz="2800" b="1" dirty="0">
                <a:solidFill>
                  <a:srgbClr val="000000"/>
                </a:solidFill>
              </a:rPr>
              <a:t>internal</a:t>
            </a:r>
            <a:r>
              <a:rPr lang="en-US" sz="2800" dirty="0">
                <a:solidFill>
                  <a:srgbClr val="000000"/>
                </a:solidFill>
              </a:rPr>
              <a:t>) data models: Provide concepts that describe details of how data is stored in the </a:t>
            </a:r>
            <a:r>
              <a:rPr lang="en-US" sz="2800" dirty="0" smtClean="0">
                <a:solidFill>
                  <a:srgbClr val="000000"/>
                </a:solidFill>
              </a:rPr>
              <a:t>computer, typically magnetic disks</a:t>
            </a:r>
            <a:endParaRPr lang="en-US" sz="28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000000"/>
                </a:solidFill>
              </a:rPr>
              <a:t>Implementation</a:t>
            </a:r>
            <a:r>
              <a:rPr lang="en-US" sz="2800" dirty="0" smtClean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(</a:t>
            </a:r>
            <a:r>
              <a:rPr lang="en-US" sz="2800" b="1" dirty="0">
                <a:solidFill>
                  <a:srgbClr val="000000"/>
                </a:solidFill>
              </a:rPr>
              <a:t>representational</a:t>
            </a:r>
            <a:r>
              <a:rPr lang="en-US" sz="2800" dirty="0">
                <a:solidFill>
                  <a:srgbClr val="000000"/>
                </a:solidFill>
              </a:rPr>
              <a:t>) data models: Provide concepts that fall between the above two, balancing user views with some computer storage details.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</a:t>
            </a:r>
            <a:r>
              <a:rPr lang="en-US" b="1" dirty="0" smtClean="0"/>
              <a:t>entity</a:t>
            </a:r>
            <a:r>
              <a:rPr lang="en-US" dirty="0" smtClean="0"/>
              <a:t> represents a real-world object or concept, such as an employee or a project, that is described in the database. </a:t>
            </a:r>
          </a:p>
          <a:p>
            <a:r>
              <a:rPr lang="en-US" dirty="0" smtClean="0"/>
              <a:t>An </a:t>
            </a:r>
            <a:r>
              <a:rPr lang="en-US" b="1" dirty="0" smtClean="0"/>
              <a:t>attribute</a:t>
            </a:r>
            <a:r>
              <a:rPr lang="en-US" dirty="0" smtClean="0"/>
              <a:t> represents some property of interest that further describes an entity, such as the employee's name or salary. 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relationship</a:t>
            </a:r>
            <a:r>
              <a:rPr lang="en-US" dirty="0" smtClean="0"/>
              <a:t> among two or more entities represents an association among two or more entities, for example, a </a:t>
            </a:r>
            <a:r>
              <a:rPr lang="en-US" i="1" dirty="0" smtClean="0"/>
              <a:t>works-on</a:t>
            </a:r>
            <a:r>
              <a:rPr lang="en-US" dirty="0" smtClean="0"/>
              <a:t> relationship between an employee and a project.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Physical data models describe how data is stored as files in the computer by representing information such as record formats, record orderings, and access paths. An </a:t>
            </a:r>
            <a:r>
              <a:rPr lang="en-US" b="1" dirty="0" smtClean="0"/>
              <a:t>access path</a:t>
            </a:r>
            <a:r>
              <a:rPr lang="en-US" dirty="0" smtClean="0"/>
              <a:t> is a structure that makes the search for particular database records efficient.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/>
          <a:lstStyle/>
          <a:p>
            <a:pPr>
              <a:buFont typeface="Times"/>
              <a:buNone/>
            </a:pPr>
            <a:r>
              <a:rPr lang="en-US" dirty="0"/>
              <a:t>Schemas versus Instances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Database Schema</a:t>
            </a:r>
            <a:r>
              <a:rPr lang="en-US" sz="2800" dirty="0">
                <a:solidFill>
                  <a:srgbClr val="000000"/>
                </a:solidFill>
              </a:rPr>
              <a:t>: The </a:t>
            </a:r>
            <a:r>
              <a:rPr lang="en-US" sz="2800" i="1" dirty="0">
                <a:solidFill>
                  <a:srgbClr val="000000"/>
                </a:solidFill>
              </a:rPr>
              <a:t>description</a:t>
            </a:r>
            <a:r>
              <a:rPr lang="en-US" sz="2800" dirty="0">
                <a:solidFill>
                  <a:srgbClr val="000000"/>
                </a:solidFill>
              </a:rPr>
              <a:t> of a </a:t>
            </a:r>
            <a:r>
              <a:rPr lang="en-US" sz="2800" dirty="0" smtClean="0">
                <a:solidFill>
                  <a:srgbClr val="000000"/>
                </a:solidFill>
              </a:rPr>
              <a:t>database is called database schema </a:t>
            </a:r>
            <a:r>
              <a:rPr lang="en-US" dirty="0"/>
              <a:t>which is specified during database design and is not </a:t>
            </a:r>
            <a:r>
              <a:rPr lang="en-US" dirty="0" smtClean="0"/>
              <a:t>expected to </a:t>
            </a:r>
            <a:r>
              <a:rPr lang="en-US" dirty="0"/>
              <a:t>change frequently</a:t>
            </a:r>
            <a:r>
              <a:rPr lang="en-US" sz="2800" dirty="0" smtClean="0">
                <a:solidFill>
                  <a:srgbClr val="000000"/>
                </a:solidFill>
              </a:rPr>
              <a:t>. It includes </a:t>
            </a:r>
            <a:r>
              <a:rPr lang="en-US" sz="2800" dirty="0">
                <a:solidFill>
                  <a:srgbClr val="000000"/>
                </a:solidFill>
              </a:rPr>
              <a:t>descriptions of the database structure and the constraints that should hold on the database.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 smtClean="0">
                <a:solidFill>
                  <a:srgbClr val="000000"/>
                </a:solidFill>
              </a:rPr>
              <a:t>Schema </a:t>
            </a:r>
            <a:r>
              <a:rPr lang="en-US" sz="2800" b="1" dirty="0">
                <a:solidFill>
                  <a:srgbClr val="000000"/>
                </a:solidFill>
              </a:rPr>
              <a:t>Diagram</a:t>
            </a:r>
            <a:r>
              <a:rPr lang="en-US" sz="2800" dirty="0">
                <a:solidFill>
                  <a:srgbClr val="000000"/>
                </a:solidFill>
              </a:rPr>
              <a:t>: A diagrammatic display of (some aspects of) a database schema.</a:t>
            </a:r>
          </a:p>
          <a:p>
            <a:endParaRPr lang="en-US" sz="2800" b="1" dirty="0" smtClean="0">
              <a:solidFill>
                <a:srgbClr val="000000"/>
              </a:solidFill>
            </a:endParaRPr>
          </a:p>
          <a:p>
            <a:r>
              <a:rPr lang="en-US" sz="2800" b="1" dirty="0" smtClean="0">
                <a:solidFill>
                  <a:srgbClr val="000000"/>
                </a:solidFill>
              </a:rPr>
              <a:t>Schema </a:t>
            </a:r>
            <a:r>
              <a:rPr lang="en-US" sz="2800" b="1" dirty="0">
                <a:solidFill>
                  <a:srgbClr val="000000"/>
                </a:solidFill>
              </a:rPr>
              <a:t>Construct</a:t>
            </a:r>
            <a:r>
              <a:rPr lang="en-US" sz="2800" dirty="0">
                <a:solidFill>
                  <a:srgbClr val="000000"/>
                </a:solidFill>
              </a:rPr>
              <a:t>: </a:t>
            </a:r>
            <a:r>
              <a:rPr lang="en-US" dirty="0"/>
              <a:t>We call each object in the schema—such as STUDENT or COURSE—a </a:t>
            </a:r>
            <a:r>
              <a:rPr lang="en-US" b="1" dirty="0" smtClean="0"/>
              <a:t>schema construct</a:t>
            </a:r>
            <a:r>
              <a:rPr lang="en-US" dirty="0"/>
              <a:t>.</a:t>
            </a:r>
            <a:endParaRPr lang="en-US" sz="28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 smtClean="0">
                <a:solidFill>
                  <a:srgbClr val="000000"/>
                </a:solidFill>
              </a:rPr>
              <a:t>Database </a:t>
            </a:r>
            <a:r>
              <a:rPr lang="en-US" sz="2800" b="1" dirty="0">
                <a:solidFill>
                  <a:srgbClr val="000000"/>
                </a:solidFill>
              </a:rPr>
              <a:t>Instance</a:t>
            </a:r>
            <a:r>
              <a:rPr lang="en-US" sz="2800" dirty="0">
                <a:solidFill>
                  <a:srgbClr val="000000"/>
                </a:solidFill>
              </a:rPr>
              <a:t>: The actual data stored in a database at a </a:t>
            </a:r>
            <a:r>
              <a:rPr lang="en-US" sz="2800" i="1" dirty="0">
                <a:solidFill>
                  <a:srgbClr val="000000"/>
                </a:solidFill>
              </a:rPr>
              <a:t>particular moment in time</a:t>
            </a:r>
            <a:r>
              <a:rPr lang="en-US" sz="2800" dirty="0">
                <a:solidFill>
                  <a:srgbClr val="000000"/>
                </a:solidFill>
              </a:rPr>
              <a:t>. Also called </a:t>
            </a:r>
            <a:r>
              <a:rPr lang="en-US" sz="2800" b="1" dirty="0">
                <a:solidFill>
                  <a:srgbClr val="000000"/>
                </a:solidFill>
              </a:rPr>
              <a:t>database state</a:t>
            </a:r>
            <a:r>
              <a:rPr lang="en-US" sz="2800" dirty="0">
                <a:solidFill>
                  <a:srgbClr val="000000"/>
                </a:solidFill>
              </a:rPr>
              <a:t> (or </a:t>
            </a:r>
            <a:r>
              <a:rPr lang="en-US" sz="2800" b="1" dirty="0">
                <a:solidFill>
                  <a:srgbClr val="000000"/>
                </a:solidFill>
              </a:rPr>
              <a:t>occurrence</a:t>
            </a:r>
            <a:r>
              <a:rPr lang="en-US" sz="2800" dirty="0">
                <a:solidFill>
                  <a:srgbClr val="000000"/>
                </a:solidFill>
              </a:rPr>
              <a:t>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pPr>
              <a:buFont typeface="Times"/>
              <a:buNone/>
            </a:pPr>
            <a:r>
              <a:rPr lang="en-US" dirty="0"/>
              <a:t>Database Schema Vs. Database State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Database State:</a:t>
            </a:r>
            <a:r>
              <a:rPr lang="en-US" sz="2800" dirty="0">
                <a:solidFill>
                  <a:srgbClr val="000000"/>
                </a:solidFill>
              </a:rPr>
              <a:t> Refers to the content of a database at a moment in time.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 smtClean="0">
                <a:solidFill>
                  <a:srgbClr val="000000"/>
                </a:solidFill>
              </a:rPr>
              <a:t>Initial </a:t>
            </a:r>
            <a:r>
              <a:rPr lang="en-US" sz="2800" b="1" dirty="0">
                <a:solidFill>
                  <a:srgbClr val="000000"/>
                </a:solidFill>
              </a:rPr>
              <a:t>Database State:</a:t>
            </a:r>
            <a:r>
              <a:rPr lang="en-US" sz="2800" dirty="0">
                <a:solidFill>
                  <a:srgbClr val="000000"/>
                </a:solidFill>
              </a:rPr>
              <a:t> Refers to the database when it is loaded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 smtClean="0">
                <a:solidFill>
                  <a:srgbClr val="000000"/>
                </a:solidFill>
              </a:rPr>
              <a:t>Valid </a:t>
            </a:r>
            <a:r>
              <a:rPr lang="en-US" sz="2800" b="1" dirty="0">
                <a:solidFill>
                  <a:srgbClr val="000000"/>
                </a:solidFill>
              </a:rPr>
              <a:t>State:</a:t>
            </a:r>
            <a:r>
              <a:rPr lang="en-US" sz="2800" dirty="0">
                <a:solidFill>
                  <a:srgbClr val="000000"/>
                </a:solidFill>
              </a:rPr>
              <a:t> A state that satisfies the structure and constraints of the database.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 smtClean="0">
                <a:solidFill>
                  <a:srgbClr val="000000"/>
                </a:solidFill>
              </a:rPr>
              <a:t>Distinction</a:t>
            </a:r>
            <a:endParaRPr lang="en-US" sz="2800" b="1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The </a:t>
            </a:r>
            <a:r>
              <a:rPr lang="en-US" sz="2400" b="1" dirty="0">
                <a:solidFill>
                  <a:srgbClr val="000000"/>
                </a:solidFill>
              </a:rPr>
              <a:t>database schema</a:t>
            </a:r>
            <a:r>
              <a:rPr lang="en-US" sz="2400" dirty="0">
                <a:solidFill>
                  <a:srgbClr val="000000"/>
                </a:solidFill>
              </a:rPr>
              <a:t> changes </a:t>
            </a:r>
            <a:r>
              <a:rPr lang="en-US" sz="2400" i="1" dirty="0">
                <a:solidFill>
                  <a:srgbClr val="000000"/>
                </a:solidFill>
              </a:rPr>
              <a:t>very infrequently</a:t>
            </a:r>
            <a:r>
              <a:rPr lang="en-US" sz="2400" dirty="0">
                <a:solidFill>
                  <a:srgbClr val="000000"/>
                </a:solidFill>
              </a:rPr>
              <a:t>. The </a:t>
            </a:r>
            <a:r>
              <a:rPr lang="en-US" sz="2400" b="1" dirty="0">
                <a:solidFill>
                  <a:srgbClr val="000000"/>
                </a:solidFill>
              </a:rPr>
              <a:t>database state</a:t>
            </a:r>
            <a:r>
              <a:rPr lang="en-US" sz="2400" dirty="0">
                <a:solidFill>
                  <a:srgbClr val="000000"/>
                </a:solidFill>
              </a:rPr>
              <a:t> changes </a:t>
            </a:r>
            <a:r>
              <a:rPr lang="en-US" sz="2400" i="1" dirty="0">
                <a:solidFill>
                  <a:srgbClr val="000000"/>
                </a:solidFill>
              </a:rPr>
              <a:t>every time the database is updated. </a:t>
            </a:r>
            <a:endParaRPr lang="en-US" sz="24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 typeface="Times"/>
              <a:buChar char="•"/>
            </a:pPr>
            <a:endParaRPr lang="en-US" sz="2400" b="1" dirty="0" smtClean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b="1" dirty="0" smtClean="0">
                <a:solidFill>
                  <a:srgbClr val="000000"/>
                </a:solidFill>
              </a:rPr>
              <a:t>Schema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 also called </a:t>
            </a:r>
            <a:r>
              <a:rPr lang="en-US" sz="2400" b="1" dirty="0">
                <a:solidFill>
                  <a:srgbClr val="000000"/>
                </a:solidFill>
              </a:rPr>
              <a:t>intension</a:t>
            </a:r>
            <a:r>
              <a:rPr lang="en-US" sz="2400" dirty="0">
                <a:solidFill>
                  <a:srgbClr val="000000"/>
                </a:solidFill>
              </a:rPr>
              <a:t>, whereas </a:t>
            </a:r>
            <a:r>
              <a:rPr lang="en-US" sz="2400" b="1" dirty="0">
                <a:solidFill>
                  <a:srgbClr val="000000"/>
                </a:solidFill>
              </a:rPr>
              <a:t>state</a:t>
            </a:r>
            <a:r>
              <a:rPr lang="en-US" sz="2400" dirty="0">
                <a:solidFill>
                  <a:srgbClr val="000000"/>
                </a:solidFill>
              </a:rPr>
              <a:t> is called </a:t>
            </a:r>
            <a:r>
              <a:rPr lang="en-US" sz="2400" b="1" dirty="0" smtClean="0">
                <a:solidFill>
                  <a:srgbClr val="000000"/>
                </a:solidFill>
              </a:rPr>
              <a:t>extension </a:t>
            </a:r>
            <a:r>
              <a:rPr lang="en-US" sz="2400" dirty="0" smtClean="0">
                <a:solidFill>
                  <a:srgbClr val="000000"/>
                </a:solidFill>
              </a:rPr>
              <a:t>of the schema.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Diagram</a:t>
            </a:r>
            <a:endParaRPr lang="en-US" dirty="0"/>
          </a:p>
        </p:txBody>
      </p:sp>
      <p:pic>
        <p:nvPicPr>
          <p:cNvPr id="4" name="Picture 13" descr="31755_FIG0201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47800" y="2362200"/>
            <a:ext cx="6248400" cy="4114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425</TotalTime>
  <Words>680</Words>
  <Application>Microsoft Office PowerPoint</Application>
  <PresentationFormat>On-screen Show (4:3)</PresentationFormat>
  <Paragraphs>83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Georgia</vt:lpstr>
      <vt:lpstr>Times</vt:lpstr>
      <vt:lpstr>Trebuchet MS</vt:lpstr>
      <vt:lpstr>Wingdings 2</vt:lpstr>
      <vt:lpstr>Urban</vt:lpstr>
      <vt:lpstr>Database Systems </vt:lpstr>
      <vt:lpstr>Today’s agenda</vt:lpstr>
      <vt:lpstr>Types of Databases</vt:lpstr>
      <vt:lpstr>Centralized Databases</vt:lpstr>
      <vt:lpstr>Distributed Databases</vt:lpstr>
      <vt:lpstr>Data Models</vt:lpstr>
      <vt:lpstr>Categories of data models</vt:lpstr>
      <vt:lpstr>Conceptual Data Model</vt:lpstr>
      <vt:lpstr>Physical Data Model</vt:lpstr>
      <vt:lpstr>Schemas versus Instances</vt:lpstr>
      <vt:lpstr>Database Schema Vs. Database State</vt:lpstr>
      <vt:lpstr>Schema Diagram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Microsoft account</cp:lastModifiedBy>
  <cp:revision>25</cp:revision>
  <dcterms:created xsi:type="dcterms:W3CDTF">2006-08-16T00:00:00Z</dcterms:created>
  <dcterms:modified xsi:type="dcterms:W3CDTF">2022-11-14T02:07:26Z</dcterms:modified>
</cp:coreProperties>
</file>
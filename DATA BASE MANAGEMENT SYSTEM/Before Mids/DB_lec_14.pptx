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sldIdLst>
    <p:sldId id="256" r:id="rId2"/>
    <p:sldId id="278" r:id="rId3"/>
    <p:sldId id="264" r:id="rId4"/>
    <p:sldId id="265" r:id="rId5"/>
    <p:sldId id="266" r:id="rId6"/>
    <p:sldId id="267" r:id="rId7"/>
    <p:sldId id="270" r:id="rId8"/>
    <p:sldId id="268" r:id="rId9"/>
    <p:sldId id="269" r:id="rId10"/>
    <p:sldId id="271" r:id="rId11"/>
    <p:sldId id="272" r:id="rId12"/>
    <p:sldId id="273" r:id="rId13"/>
    <p:sldId id="274" r:id="rId14"/>
    <p:sldId id="275" r:id="rId15"/>
    <p:sldId id="276" r:id="rId16"/>
    <p:sldId id="277" r:id="rId17"/>
    <p:sldId id="279" r:id="rId18"/>
    <p:sldId id="282" r:id="rId19"/>
    <p:sldId id="280" r:id="rId20"/>
    <p:sldId id="281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B0E0EF-BD02-4CC2-890C-B26E776BCAF4}" type="datetimeFigureOut">
              <a:rPr lang="en-US" smtClean="0"/>
              <a:pPr/>
              <a:t>09-Apr-20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A643BD-E4DF-4EA2-862F-3ADF4F0577E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1336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Rectangle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Rectangle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Rectangle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Rectangle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Rounded Rectangle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Rounded Rectangle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Rectangle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6" name="Date Placeholder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Footer Placeholder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Rectangle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Rectangle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Rectangle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Rounded Rectangle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Rounded Rectangle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Rectangle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Rectangle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Rectangle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Rectangle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Rectangle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Rectangle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1219200"/>
            <a:ext cx="7772400" cy="1470025"/>
          </a:xfrm>
        </p:spPr>
        <p:txBody>
          <a:bodyPr/>
          <a:lstStyle/>
          <a:p>
            <a:r>
              <a:rPr lang="en-US" dirty="0" smtClean="0"/>
              <a:t>Database Systems	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/>
              <a:t>Specialization and generalization</a:t>
            </a:r>
            <a:endParaRPr lang="en-US" sz="1800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>
          <a:xfrm>
            <a:off x="5181600" y="4191000"/>
            <a:ext cx="2209800" cy="457200"/>
          </a:xfrm>
        </p:spPr>
        <p:txBody>
          <a:bodyPr/>
          <a:lstStyle/>
          <a:p>
            <a:r>
              <a:rPr lang="en-US" sz="1050" dirty="0" smtClean="0"/>
              <a:t>Database Management Systems</a:t>
            </a:r>
            <a:endParaRPr lang="en-US" sz="1050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2286000" y="3048000"/>
            <a:ext cx="4267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u="sng" dirty="0" smtClean="0"/>
              <a:t>Lecture 14</a:t>
            </a:r>
            <a:endParaRPr lang="en-US" sz="2800" u="sng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Today’s Agenda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Specialization</a:t>
            </a:r>
          </a:p>
          <a:p>
            <a:r>
              <a:rPr lang="en-US" dirty="0" smtClean="0"/>
              <a:t>Generalization</a:t>
            </a:r>
          </a:p>
          <a:p>
            <a:r>
              <a:rPr lang="en-US" dirty="0" smtClean="0"/>
              <a:t>Constraints on specialization and generalization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Specialization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sz="2000"/>
              <a:t>Is the process of defining a set of subclasses of a superclass </a:t>
            </a:r>
          </a:p>
          <a:p>
            <a:pPr>
              <a:lnSpc>
                <a:spcPct val="80000"/>
              </a:lnSpc>
            </a:pPr>
            <a:r>
              <a:rPr lang="en-US" sz="2000"/>
              <a:t>The set of subclasses is based upon some distinguishing characteristics of the entities in the superclass</a:t>
            </a:r>
          </a:p>
          <a:p>
            <a:pPr>
              <a:lnSpc>
                <a:spcPct val="80000"/>
              </a:lnSpc>
            </a:pPr>
            <a:r>
              <a:rPr lang="en-US" sz="2000"/>
              <a:t>Example: {SECRETARY, ENGINEER, TECHNICIAN} is a specialization of EMPLOYEE based upon </a:t>
            </a:r>
            <a:r>
              <a:rPr lang="en-US" sz="2000" i="1"/>
              <a:t>job type</a:t>
            </a:r>
            <a:r>
              <a:rPr lang="en-US" sz="2000"/>
              <a:t>.</a:t>
            </a:r>
          </a:p>
          <a:p>
            <a:pPr lvl="1">
              <a:lnSpc>
                <a:spcPct val="80000"/>
              </a:lnSpc>
            </a:pPr>
            <a:r>
              <a:rPr lang="en-US" sz="2000"/>
              <a:t>May have several specializations of the same superclass </a:t>
            </a:r>
          </a:p>
          <a:p>
            <a:pPr>
              <a:lnSpc>
                <a:spcPct val="80000"/>
              </a:lnSpc>
            </a:pPr>
            <a:r>
              <a:rPr lang="en-US" sz="2000"/>
              <a:t>Example: Another specialization of EMPLOYEE based in </a:t>
            </a:r>
            <a:r>
              <a:rPr lang="en-US" sz="2000" i="1"/>
              <a:t>method of pay</a:t>
            </a:r>
            <a:r>
              <a:rPr lang="en-US" sz="2000"/>
              <a:t> is {SALARIED_EMPLOYEE, HOURLY_EMPLOYEE}.</a:t>
            </a:r>
          </a:p>
          <a:p>
            <a:pPr lvl="1">
              <a:lnSpc>
                <a:spcPct val="80000"/>
              </a:lnSpc>
            </a:pPr>
            <a:r>
              <a:rPr lang="en-US" sz="2000"/>
              <a:t>Superclass/subclass relationships and specialization can be diagrammatically represented in EER diagrams</a:t>
            </a:r>
          </a:p>
          <a:p>
            <a:pPr lvl="1">
              <a:lnSpc>
                <a:spcPct val="80000"/>
              </a:lnSpc>
            </a:pPr>
            <a:r>
              <a:rPr lang="en-US" sz="2000"/>
              <a:t>Attributes of a subclass are called specific attributes. For example, TypingSpeed of SECRETARY</a:t>
            </a:r>
          </a:p>
          <a:p>
            <a:pPr lvl="1">
              <a:lnSpc>
                <a:spcPct val="80000"/>
              </a:lnSpc>
            </a:pPr>
            <a:r>
              <a:rPr lang="en-US" sz="2000"/>
              <a:t>The subclass can participate in specific relationship types. For example, BELONGS_TO of HOURLY_EMPLOYEE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Example of a Specialization</a:t>
            </a:r>
          </a:p>
        </p:txBody>
      </p:sp>
      <p:pic>
        <p:nvPicPr>
          <p:cNvPr id="39939" name="Picture 3" descr="spec_gen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981200" y="2438400"/>
            <a:ext cx="5318125" cy="4114800"/>
          </a:xfrm>
          <a:noFill/>
          <a:ln/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Specialization (cont)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specialization process allows us to do the following:</a:t>
            </a:r>
          </a:p>
          <a:p>
            <a:pPr lvl="1"/>
            <a:r>
              <a:rPr lang="en-US" dirty="0" smtClean="0"/>
              <a:t>Define a set of subclasses of an entity type</a:t>
            </a:r>
          </a:p>
          <a:p>
            <a:pPr lvl="1"/>
            <a:r>
              <a:rPr lang="en-US" dirty="0" smtClean="0"/>
              <a:t>Establish additional specific attributes with each subclass</a:t>
            </a:r>
          </a:p>
          <a:p>
            <a:pPr lvl="1"/>
            <a:r>
              <a:rPr lang="en-US" dirty="0" smtClean="0"/>
              <a:t>Establish additional specific relationship types between each subclass and other entity types or other subclasses</a:t>
            </a:r>
          </a:p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0"/>
            <a:ext cx="8229600" cy="1066800"/>
          </a:xfrm>
        </p:spPr>
        <p:txBody>
          <a:bodyPr/>
          <a:lstStyle/>
          <a:p>
            <a:r>
              <a:rPr lang="en-US" dirty="0" smtClean="0"/>
              <a:t>Instances of a specialization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7" name="Picture 5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2057400" y="1600200"/>
            <a:ext cx="4349750" cy="525780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Generalization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400"/>
              <a:t>The reverse of the specialization process </a:t>
            </a:r>
          </a:p>
          <a:p>
            <a:r>
              <a:rPr lang="en-US" sz="2400"/>
              <a:t>Several classes with common features are generalized into a superclass; original classes become its subclasses</a:t>
            </a:r>
          </a:p>
          <a:p>
            <a:r>
              <a:rPr lang="en-US" sz="2400"/>
              <a:t>Example: CAR, TRUCK generalized into VEHICLE; both CAR, TRUCK become subclasses of the superclass VEHICLE.</a:t>
            </a:r>
          </a:p>
          <a:p>
            <a:pPr lvl="1"/>
            <a:r>
              <a:rPr lang="en-US" sz="2000"/>
              <a:t>We can view {CAR, TRUCK} as a specialization of VEHICLE </a:t>
            </a:r>
          </a:p>
          <a:p>
            <a:pPr lvl="1"/>
            <a:r>
              <a:rPr lang="en-US" sz="2000"/>
              <a:t>Alternatively, we can view VEHICLE as a generalization of CAR and TRUCK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 smtClean="0"/>
              <a:t>Generalization. (a) Two entity types, CAR and TRUCK. (b) Generalizing CAR and TRUCK into the </a:t>
            </a:r>
            <a:r>
              <a:rPr lang="en-US" sz="3200" dirty="0" err="1" smtClean="0"/>
              <a:t>superclass</a:t>
            </a:r>
            <a:r>
              <a:rPr lang="en-US" sz="3200" dirty="0" smtClean="0"/>
              <a:t> VEHICLE.</a:t>
            </a:r>
            <a:endParaRPr lang="en-US" sz="32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7" name="Picture 5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447800" y="2381250"/>
            <a:ext cx="6324600" cy="447675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Generalization and Specialization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sz="2000"/>
              <a:t>Diagrammatic notation sometimes used to distinguish between generalization and specialization</a:t>
            </a:r>
          </a:p>
          <a:p>
            <a:pPr lvl="1">
              <a:lnSpc>
                <a:spcPct val="80000"/>
              </a:lnSpc>
            </a:pPr>
            <a:r>
              <a:rPr lang="en-US" sz="2000"/>
              <a:t>Arrow pointing to the generalized superclass represents a generalization </a:t>
            </a:r>
          </a:p>
          <a:p>
            <a:pPr lvl="1">
              <a:lnSpc>
                <a:spcPct val="80000"/>
              </a:lnSpc>
            </a:pPr>
            <a:r>
              <a:rPr lang="en-US" sz="2000"/>
              <a:t>Arrows pointing to the specialized subclasses represent a specialization </a:t>
            </a:r>
          </a:p>
          <a:p>
            <a:pPr lvl="1">
              <a:lnSpc>
                <a:spcPct val="80000"/>
              </a:lnSpc>
            </a:pPr>
            <a:r>
              <a:rPr lang="en-US" sz="2000"/>
              <a:t>We do not use this notation because it is often subjective as to which process is more appropriate for a particular situation </a:t>
            </a:r>
          </a:p>
          <a:p>
            <a:pPr lvl="1">
              <a:lnSpc>
                <a:spcPct val="80000"/>
              </a:lnSpc>
            </a:pPr>
            <a:r>
              <a:rPr lang="en-US" sz="2000"/>
              <a:t>We advocate not drawing any arrows in these situations </a:t>
            </a:r>
          </a:p>
          <a:p>
            <a:pPr>
              <a:lnSpc>
                <a:spcPct val="80000"/>
              </a:lnSpc>
            </a:pPr>
            <a:r>
              <a:rPr lang="en-US" sz="2000"/>
              <a:t>Data Modeling with Specialization and Generalization</a:t>
            </a:r>
          </a:p>
          <a:p>
            <a:pPr lvl="1">
              <a:lnSpc>
                <a:spcPct val="80000"/>
              </a:lnSpc>
            </a:pPr>
            <a:r>
              <a:rPr lang="en-US" sz="2000"/>
              <a:t>A superclass or subclass represents a set of entities </a:t>
            </a:r>
          </a:p>
          <a:p>
            <a:pPr lvl="1">
              <a:lnSpc>
                <a:spcPct val="80000"/>
              </a:lnSpc>
            </a:pPr>
            <a:r>
              <a:rPr lang="en-US" sz="2000"/>
              <a:t>Shown in rectangles in EER diagrams (as are entity types) </a:t>
            </a:r>
          </a:p>
          <a:p>
            <a:pPr lvl="1">
              <a:lnSpc>
                <a:spcPct val="80000"/>
              </a:lnSpc>
            </a:pPr>
            <a:r>
              <a:rPr lang="en-US" sz="2000"/>
              <a:t>Sometimes, all entity sets are simply called classes, whether they are entity types, superclasses, or subclasses</a:t>
            </a:r>
          </a:p>
          <a:p>
            <a:pPr>
              <a:lnSpc>
                <a:spcPct val="80000"/>
              </a:lnSpc>
            </a:pPr>
            <a:endParaRPr lang="en-US" sz="20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Constraints on Specialization and Generalization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Constraints that apply to a single specialization or a single generalization.</a:t>
            </a:r>
          </a:p>
          <a:p>
            <a:r>
              <a:rPr lang="en-US" dirty="0" smtClean="0"/>
              <a:t>Our discussion refers only to </a:t>
            </a:r>
            <a:r>
              <a:rPr lang="en-US" i="1" dirty="0" smtClean="0"/>
              <a:t>specialization even though it applies to both specialization </a:t>
            </a:r>
            <a:r>
              <a:rPr lang="en-US" dirty="0" smtClean="0"/>
              <a:t>and generalization.</a:t>
            </a:r>
          </a:p>
          <a:p>
            <a:r>
              <a:rPr lang="en-US" dirty="0" smtClean="0"/>
              <a:t>Differences between specialization and generalization </a:t>
            </a:r>
            <a:r>
              <a:rPr lang="en-US" i="1" dirty="0" smtClean="0"/>
              <a:t>lattices (multiple inheritance) and hierarchies (single inheritance),</a:t>
            </a:r>
          </a:p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914400"/>
            <a:ext cx="8229600" cy="1066800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Constraints on Specialization and Generalization </a:t>
            </a:r>
            <a:r>
              <a:rPr lang="en-US" sz="4000" dirty="0" smtClean="0"/>
              <a:t>(cont)</a:t>
            </a:r>
            <a:endParaRPr lang="en-US" sz="4000" dirty="0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2057400"/>
            <a:ext cx="8229600" cy="464820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80000"/>
              </a:lnSpc>
            </a:pPr>
            <a:r>
              <a:rPr lang="en-US" sz="1800" dirty="0"/>
              <a:t>If we can determine exactly those entities that will become members of each subclass by a condition, the subclasses are called </a:t>
            </a:r>
            <a:r>
              <a:rPr lang="en-US" sz="1800" i="1" dirty="0"/>
              <a:t>predicate-defined</a:t>
            </a:r>
            <a:r>
              <a:rPr lang="en-US" sz="1800" dirty="0"/>
              <a:t> (or condition-defined) subclasses </a:t>
            </a:r>
          </a:p>
          <a:p>
            <a:pPr lvl="1">
              <a:lnSpc>
                <a:spcPct val="80000"/>
              </a:lnSpc>
            </a:pPr>
            <a:r>
              <a:rPr lang="en-US" sz="1800" dirty="0"/>
              <a:t>Condition is a constraint that determines subclass </a:t>
            </a:r>
            <a:r>
              <a:rPr lang="en-US" sz="1800" dirty="0" smtClean="0"/>
              <a:t>members (defining predicate)</a:t>
            </a:r>
            <a:endParaRPr lang="en-US" sz="1800" dirty="0">
              <a:solidFill>
                <a:schemeClr val="bg2"/>
              </a:solidFill>
              <a:latin typeface="+mn-lt"/>
            </a:endParaRPr>
          </a:p>
          <a:p>
            <a:pPr lvl="1">
              <a:lnSpc>
                <a:spcPct val="80000"/>
              </a:lnSpc>
            </a:pPr>
            <a:r>
              <a:rPr lang="en-US" sz="1800" dirty="0" smtClean="0"/>
              <a:t>Display </a:t>
            </a:r>
            <a:r>
              <a:rPr lang="en-US" sz="1800" dirty="0"/>
              <a:t>a predicate-defined subclass by writing the predicate condition next to the line attaching the subclass to its </a:t>
            </a:r>
            <a:r>
              <a:rPr lang="en-US" sz="1800" dirty="0" err="1"/>
              <a:t>superclass</a:t>
            </a:r>
            <a:r>
              <a:rPr lang="en-US" sz="1800" dirty="0"/>
              <a:t> </a:t>
            </a:r>
          </a:p>
          <a:p>
            <a:pPr>
              <a:lnSpc>
                <a:spcPct val="80000"/>
              </a:lnSpc>
            </a:pPr>
            <a:endParaRPr lang="en-US" sz="1800" dirty="0" smtClean="0"/>
          </a:p>
          <a:p>
            <a:pPr>
              <a:lnSpc>
                <a:spcPct val="80000"/>
              </a:lnSpc>
            </a:pPr>
            <a:r>
              <a:rPr lang="en-US" sz="1800" dirty="0" smtClean="0"/>
              <a:t>If </a:t>
            </a:r>
            <a:r>
              <a:rPr lang="en-US" sz="1800" dirty="0"/>
              <a:t>all subclasses in a specialization have membership condition on same attribute of the superclass, specialization is called an </a:t>
            </a:r>
            <a:r>
              <a:rPr lang="en-US" sz="1800" i="1" dirty="0"/>
              <a:t>attribute defined</a:t>
            </a:r>
            <a:r>
              <a:rPr lang="en-US" sz="1800" dirty="0"/>
              <a:t>-specialization </a:t>
            </a:r>
          </a:p>
          <a:p>
            <a:pPr lvl="1">
              <a:lnSpc>
                <a:spcPct val="80000"/>
              </a:lnSpc>
            </a:pPr>
            <a:r>
              <a:rPr lang="en-US" sz="1800" dirty="0"/>
              <a:t>Attribute is called the defining attribute of the specialization </a:t>
            </a:r>
          </a:p>
          <a:p>
            <a:pPr lvl="1">
              <a:lnSpc>
                <a:spcPct val="80000"/>
              </a:lnSpc>
            </a:pPr>
            <a:r>
              <a:rPr lang="en-US" sz="1800" dirty="0"/>
              <a:t>Example: </a:t>
            </a:r>
            <a:r>
              <a:rPr lang="en-US" sz="1800" dirty="0" err="1"/>
              <a:t>JobType</a:t>
            </a:r>
            <a:r>
              <a:rPr lang="en-US" sz="1800" dirty="0"/>
              <a:t> is the defining attribute of the </a:t>
            </a:r>
            <a:r>
              <a:rPr lang="en-US" sz="1800" dirty="0" smtClean="0"/>
              <a:t>specialization</a:t>
            </a:r>
          </a:p>
          <a:p>
            <a:pPr marL="411480" lvl="1" indent="0">
              <a:lnSpc>
                <a:spcPct val="80000"/>
              </a:lnSpc>
              <a:buNone/>
            </a:pPr>
            <a:r>
              <a:rPr lang="en-US" sz="1800" dirty="0" smtClean="0"/>
              <a:t>   </a:t>
            </a:r>
            <a:r>
              <a:rPr lang="en-US" sz="1800" dirty="0"/>
              <a:t>{SECRETARY, TECHNICIAN, ENGINEER} of EMPLOYEE</a:t>
            </a:r>
          </a:p>
          <a:p>
            <a:pPr>
              <a:lnSpc>
                <a:spcPct val="80000"/>
              </a:lnSpc>
            </a:pPr>
            <a:endParaRPr lang="en-US" sz="1800" dirty="0" smtClean="0"/>
          </a:p>
          <a:p>
            <a:pPr>
              <a:lnSpc>
                <a:spcPct val="80000"/>
              </a:lnSpc>
            </a:pPr>
            <a:r>
              <a:rPr lang="en-US" sz="1800" dirty="0" smtClean="0"/>
              <a:t>If </a:t>
            </a:r>
            <a:r>
              <a:rPr lang="en-US" sz="1800" dirty="0"/>
              <a:t>no condition determines membership, the subclass is called </a:t>
            </a:r>
            <a:r>
              <a:rPr lang="en-US" sz="1800" i="1" dirty="0"/>
              <a:t>user-defined</a:t>
            </a:r>
            <a:r>
              <a:rPr lang="en-US" sz="1800" dirty="0"/>
              <a:t> </a:t>
            </a:r>
          </a:p>
          <a:p>
            <a:pPr lvl="1">
              <a:lnSpc>
                <a:spcPct val="80000"/>
              </a:lnSpc>
            </a:pPr>
            <a:r>
              <a:rPr lang="en-US" sz="1800" dirty="0"/>
              <a:t>Membership in a subclass is determined by the database users by applying an operation to add an entity to the subclass </a:t>
            </a:r>
          </a:p>
          <a:p>
            <a:pPr lvl="1">
              <a:lnSpc>
                <a:spcPct val="80000"/>
              </a:lnSpc>
            </a:pPr>
            <a:r>
              <a:rPr lang="en-US" sz="1800" dirty="0"/>
              <a:t>Membership in the subclass is specified individually for each entity in the </a:t>
            </a:r>
            <a:r>
              <a:rPr lang="en-US" sz="1800" dirty="0" err="1"/>
              <a:t>superclass</a:t>
            </a:r>
            <a:r>
              <a:rPr lang="en-US" sz="1800" dirty="0"/>
              <a:t> by the user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1066800"/>
            <a:ext cx="8229600" cy="10668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EER diagram notation for an attribute-defined specialization on </a:t>
            </a:r>
            <a:r>
              <a:rPr lang="en-US" dirty="0" err="1" smtClean="0"/>
              <a:t>JobType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7" name="Picture 5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752600" y="2133600"/>
            <a:ext cx="5697537" cy="4371975"/>
          </a:xfrm>
        </p:spPr>
      </p:pic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4419600" y="4648200"/>
            <a:ext cx="35877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100" b="1" dirty="0" smtClean="0">
                <a:latin typeface="Univers" pitchFamily="34" charset="0"/>
              </a:rPr>
              <a:t>d</a:t>
            </a:r>
            <a:endParaRPr lang="en-US" sz="1100" b="1" dirty="0">
              <a:latin typeface="Univers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dirty="0"/>
              <a:t>Constraints on Specialization and Generalization </a:t>
            </a:r>
            <a:r>
              <a:rPr lang="en-US" sz="4000" dirty="0" smtClean="0"/>
              <a:t>(cont)</a:t>
            </a:r>
            <a:endParaRPr lang="en-US" sz="4000" dirty="0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2000"/>
              <a:t>Two other conditions apply to a specialization/generalization:</a:t>
            </a:r>
          </a:p>
          <a:p>
            <a:pPr>
              <a:lnSpc>
                <a:spcPct val="80000"/>
              </a:lnSpc>
            </a:pPr>
            <a:r>
              <a:rPr lang="en-US" sz="2000" b="1"/>
              <a:t>Disjointness Constraint</a:t>
            </a:r>
            <a:r>
              <a:rPr lang="en-US" sz="2000"/>
              <a:t>: </a:t>
            </a:r>
          </a:p>
          <a:p>
            <a:pPr lvl="1">
              <a:lnSpc>
                <a:spcPct val="80000"/>
              </a:lnSpc>
            </a:pPr>
            <a:r>
              <a:rPr lang="en-US" sz="1800"/>
              <a:t>Specifies that the subclasses of the specialization must be disjointed (an entity can be a member of at most one of the subclasses of the specialization) </a:t>
            </a:r>
          </a:p>
          <a:p>
            <a:pPr lvl="1">
              <a:lnSpc>
                <a:spcPct val="80000"/>
              </a:lnSpc>
            </a:pPr>
            <a:r>
              <a:rPr lang="en-US" sz="1800"/>
              <a:t>Specified by d in EER diagram </a:t>
            </a:r>
          </a:p>
          <a:p>
            <a:pPr lvl="1">
              <a:lnSpc>
                <a:spcPct val="80000"/>
              </a:lnSpc>
            </a:pPr>
            <a:r>
              <a:rPr lang="en-US" sz="1800"/>
              <a:t>If not disjointed, overlap; that is the same entity may be a member of more than one subclass of the specialization </a:t>
            </a:r>
          </a:p>
          <a:p>
            <a:pPr lvl="1">
              <a:lnSpc>
                <a:spcPct val="80000"/>
              </a:lnSpc>
            </a:pPr>
            <a:r>
              <a:rPr lang="en-US" sz="1800"/>
              <a:t>Specified by o in EER diagram </a:t>
            </a:r>
          </a:p>
          <a:p>
            <a:pPr>
              <a:lnSpc>
                <a:spcPct val="80000"/>
              </a:lnSpc>
            </a:pPr>
            <a:r>
              <a:rPr lang="en-US" sz="2000" b="1"/>
              <a:t>Completeness Constraint</a:t>
            </a:r>
            <a:r>
              <a:rPr lang="en-US" sz="2000"/>
              <a:t>: </a:t>
            </a:r>
          </a:p>
          <a:p>
            <a:pPr lvl="1">
              <a:lnSpc>
                <a:spcPct val="80000"/>
              </a:lnSpc>
            </a:pPr>
            <a:r>
              <a:rPr lang="en-US" sz="1800"/>
              <a:t>Total specifies that every entity in the superclass must be a member of some subclass in the specialization/ generalization </a:t>
            </a:r>
          </a:p>
          <a:p>
            <a:pPr lvl="1">
              <a:lnSpc>
                <a:spcPct val="80000"/>
              </a:lnSpc>
            </a:pPr>
            <a:r>
              <a:rPr lang="en-US" sz="1800"/>
              <a:t>Shown in EER diagrams by a double line </a:t>
            </a:r>
          </a:p>
          <a:p>
            <a:pPr lvl="1">
              <a:lnSpc>
                <a:spcPct val="80000"/>
              </a:lnSpc>
            </a:pPr>
            <a:r>
              <a:rPr lang="en-US" sz="1800"/>
              <a:t>Partial allows an entity not to belong to any of the subclasses </a:t>
            </a:r>
          </a:p>
          <a:p>
            <a:pPr lvl="1">
              <a:lnSpc>
                <a:spcPct val="80000"/>
              </a:lnSpc>
            </a:pPr>
            <a:r>
              <a:rPr lang="en-US" sz="1800"/>
              <a:t>Shown in EER diagrams by a single line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698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85800"/>
            <a:ext cx="7988300" cy="1600200"/>
          </a:xfrm>
        </p:spPr>
        <p:txBody>
          <a:bodyPr>
            <a:normAutofit/>
          </a:bodyPr>
          <a:lstStyle/>
          <a:p>
            <a:r>
              <a:rPr lang="en-US" sz="3200" dirty="0" smtClean="0"/>
              <a:t>EER </a:t>
            </a:r>
            <a:r>
              <a:rPr lang="en-US" sz="3200" dirty="0"/>
              <a:t>diagram notation for an overlapping (</a:t>
            </a:r>
            <a:r>
              <a:rPr lang="en-US" sz="3200" dirty="0" err="1"/>
              <a:t>nondisjoint</a:t>
            </a:r>
            <a:r>
              <a:rPr lang="en-US" sz="3200" dirty="0"/>
              <a:t>) specialization.</a:t>
            </a:r>
          </a:p>
        </p:txBody>
      </p:sp>
      <p:pic>
        <p:nvPicPr>
          <p:cNvPr id="541701" name="Picture 5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914400" y="2057400"/>
            <a:ext cx="7343775" cy="4451350"/>
          </a:xfrm>
        </p:spPr>
      </p:pic>
      <p:sp>
        <p:nvSpPr>
          <p:cNvPr id="541702" name="Text Box 6"/>
          <p:cNvSpPr txBox="1">
            <a:spLocks noChangeArrowheads="1"/>
          </p:cNvSpPr>
          <p:nvPr/>
        </p:nvSpPr>
        <p:spPr bwMode="auto">
          <a:xfrm>
            <a:off x="4495800" y="3962400"/>
            <a:ext cx="35877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100" b="1" dirty="0">
                <a:latin typeface="Univers" pitchFamily="34" charset="0"/>
              </a:rPr>
              <a:t>O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dirty="0"/>
              <a:t>Constraints on Specialization and Generalization </a:t>
            </a:r>
            <a:r>
              <a:rPr lang="en-US" sz="4000" dirty="0" smtClean="0"/>
              <a:t>(cont)</a:t>
            </a:r>
            <a:endParaRPr lang="en-US" sz="4000" dirty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endParaRPr lang="en-US" sz="1800" dirty="0"/>
          </a:p>
          <a:p>
            <a:pPr>
              <a:lnSpc>
                <a:spcPct val="80000"/>
              </a:lnSpc>
            </a:pPr>
            <a:r>
              <a:rPr lang="en-US" dirty="0" err="1" smtClean="0"/>
              <a:t>Disjointness</a:t>
            </a:r>
            <a:r>
              <a:rPr lang="en-US" dirty="0" smtClean="0"/>
              <a:t> and completeness constraints are </a:t>
            </a:r>
            <a:r>
              <a:rPr lang="en-US" i="1" dirty="0" smtClean="0"/>
              <a:t>independent.</a:t>
            </a:r>
          </a:p>
          <a:p>
            <a:pPr>
              <a:lnSpc>
                <a:spcPct val="80000"/>
              </a:lnSpc>
            </a:pPr>
            <a:r>
              <a:rPr lang="en-US" sz="2800" dirty="0" smtClean="0"/>
              <a:t>We </a:t>
            </a:r>
            <a:r>
              <a:rPr lang="en-US" sz="2800" dirty="0"/>
              <a:t>have four possible types of specialization/generalization:</a:t>
            </a:r>
          </a:p>
          <a:p>
            <a:pPr lvl="1">
              <a:lnSpc>
                <a:spcPct val="80000"/>
              </a:lnSpc>
            </a:pPr>
            <a:r>
              <a:rPr lang="en-US" dirty="0"/>
              <a:t>Disjoint, total </a:t>
            </a:r>
          </a:p>
          <a:p>
            <a:pPr lvl="1">
              <a:lnSpc>
                <a:spcPct val="80000"/>
              </a:lnSpc>
            </a:pPr>
            <a:r>
              <a:rPr lang="en-US" dirty="0"/>
              <a:t>Disjoint, partial </a:t>
            </a:r>
          </a:p>
          <a:p>
            <a:pPr lvl="1">
              <a:lnSpc>
                <a:spcPct val="80000"/>
              </a:lnSpc>
            </a:pPr>
            <a:r>
              <a:rPr lang="en-US" dirty="0"/>
              <a:t>Overlapping, total </a:t>
            </a:r>
          </a:p>
          <a:p>
            <a:pPr lvl="1">
              <a:lnSpc>
                <a:spcPct val="80000"/>
              </a:lnSpc>
            </a:pPr>
            <a:r>
              <a:rPr lang="en-US" dirty="0"/>
              <a:t>Overlapping, partial</a:t>
            </a:r>
          </a:p>
          <a:p>
            <a:pPr>
              <a:lnSpc>
                <a:spcPct val="80000"/>
              </a:lnSpc>
            </a:pPr>
            <a:r>
              <a:rPr lang="en-US" sz="2800" dirty="0"/>
              <a:t>Note: Generalization usually is total because the </a:t>
            </a:r>
            <a:r>
              <a:rPr lang="en-US" sz="2800" dirty="0" err="1"/>
              <a:t>superclass</a:t>
            </a:r>
            <a:r>
              <a:rPr lang="en-US" sz="2800" dirty="0"/>
              <a:t> is derived from the subclasses.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Constraints on Specialization and Generalization (cont)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Certain insertion and deletion rules apply to specialization (and generalization) as a consequence of the constraints specified earlier. Some of these rules are as follows:</a:t>
            </a:r>
          </a:p>
          <a:p>
            <a:pPr lvl="1"/>
            <a:r>
              <a:rPr lang="en-US" dirty="0" smtClean="0"/>
              <a:t>Deleting an entity from a </a:t>
            </a:r>
            <a:r>
              <a:rPr lang="en-US" dirty="0" err="1" smtClean="0"/>
              <a:t>superclass</a:t>
            </a:r>
            <a:r>
              <a:rPr lang="en-US" dirty="0" smtClean="0"/>
              <a:t> implies that it is automatically deleted from all the subclasses to which it belongs.</a:t>
            </a:r>
          </a:p>
          <a:p>
            <a:pPr lvl="1"/>
            <a:r>
              <a:rPr lang="en-US" dirty="0" smtClean="0"/>
              <a:t>Inserting an entity in a </a:t>
            </a:r>
            <a:r>
              <a:rPr lang="en-US" dirty="0" err="1" smtClean="0"/>
              <a:t>superclass</a:t>
            </a:r>
            <a:r>
              <a:rPr lang="en-US" dirty="0" smtClean="0"/>
              <a:t> implies that the entity is mandatorily inserted in all </a:t>
            </a:r>
            <a:r>
              <a:rPr lang="en-US" i="1" dirty="0" smtClean="0"/>
              <a:t>predicate-defined (or attribute-defined) subclasses for which the entity satisfies the </a:t>
            </a:r>
            <a:r>
              <a:rPr lang="en-US" dirty="0" smtClean="0"/>
              <a:t>defining predicate.</a:t>
            </a:r>
          </a:p>
          <a:p>
            <a:pPr lvl="1"/>
            <a:r>
              <a:rPr lang="en-US" dirty="0" smtClean="0"/>
              <a:t>Inserting an entity in a </a:t>
            </a:r>
            <a:r>
              <a:rPr lang="en-US" dirty="0" err="1" smtClean="0"/>
              <a:t>superclass</a:t>
            </a:r>
            <a:r>
              <a:rPr lang="en-US" dirty="0" smtClean="0"/>
              <a:t> of a </a:t>
            </a:r>
            <a:r>
              <a:rPr lang="en-US" i="1" dirty="0" smtClean="0"/>
              <a:t>total specialization implies that the entity is </a:t>
            </a:r>
            <a:r>
              <a:rPr lang="en-US" dirty="0" smtClean="0"/>
              <a:t>mandatorily inserted in at least one of the subclasses of the specialization.</a:t>
            </a:r>
          </a:p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Specialization / Generalization Hierarchies, Lattices and Shared Subclasses (1)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2103438"/>
            <a:ext cx="8229600" cy="4525962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sz="2800" dirty="0"/>
              <a:t>A subclass may itself have further subclasses specified on it </a:t>
            </a:r>
          </a:p>
          <a:p>
            <a:pPr>
              <a:lnSpc>
                <a:spcPct val="90000"/>
              </a:lnSpc>
            </a:pPr>
            <a:r>
              <a:rPr lang="en-US" sz="2800" dirty="0"/>
              <a:t>Forms a </a:t>
            </a:r>
            <a:r>
              <a:rPr lang="en-US" sz="2800" b="1" dirty="0"/>
              <a:t>hierarchy</a:t>
            </a:r>
            <a:r>
              <a:rPr lang="en-US" sz="2800" dirty="0"/>
              <a:t> or a </a:t>
            </a:r>
            <a:r>
              <a:rPr lang="en-US" sz="2800" b="1" dirty="0"/>
              <a:t>lattice</a:t>
            </a:r>
          </a:p>
          <a:p>
            <a:pPr>
              <a:lnSpc>
                <a:spcPct val="90000"/>
              </a:lnSpc>
            </a:pPr>
            <a:r>
              <a:rPr lang="en-US" sz="2800" b="1" dirty="0" smtClean="0"/>
              <a:t>Hierarchy</a:t>
            </a:r>
            <a:r>
              <a:rPr lang="en-US" sz="2800" dirty="0" smtClean="0"/>
              <a:t> has </a:t>
            </a:r>
            <a:r>
              <a:rPr lang="en-US" sz="2800" dirty="0"/>
              <a:t>a constraint that every subclass has only one superclass (called </a:t>
            </a:r>
            <a:r>
              <a:rPr lang="en-US" sz="2800" i="1" dirty="0"/>
              <a:t>single inheritance</a:t>
            </a:r>
            <a:r>
              <a:rPr lang="en-US" sz="2800" dirty="0"/>
              <a:t>)</a:t>
            </a:r>
          </a:p>
          <a:p>
            <a:pPr>
              <a:lnSpc>
                <a:spcPct val="90000"/>
              </a:lnSpc>
            </a:pPr>
            <a:r>
              <a:rPr lang="en-US" sz="2800" dirty="0"/>
              <a:t>In a </a:t>
            </a:r>
            <a:r>
              <a:rPr lang="en-US" sz="2800" b="1" dirty="0" smtClean="0"/>
              <a:t>lattice</a:t>
            </a:r>
            <a:r>
              <a:rPr lang="en-US" sz="2800" dirty="0"/>
              <a:t>, a subclass can be subclass of more than one superclass (called </a:t>
            </a:r>
            <a:r>
              <a:rPr lang="en-US" sz="2800" i="1" dirty="0"/>
              <a:t>multiple inheritance</a:t>
            </a:r>
            <a:r>
              <a:rPr lang="en-US" sz="2800" dirty="0"/>
              <a:t>)</a:t>
            </a:r>
          </a:p>
          <a:p>
            <a:pPr>
              <a:lnSpc>
                <a:spcPct val="90000"/>
              </a:lnSpc>
            </a:pPr>
            <a:r>
              <a:rPr lang="en-US" sz="2800" dirty="0"/>
              <a:t>In a lattice or hierarchy, a subclass inherits attributes not only of its direct superclass, but also of all its predecessor </a:t>
            </a:r>
            <a:r>
              <a:rPr lang="en-US" sz="2800" dirty="0" err="1"/>
              <a:t>superclasses</a:t>
            </a:r>
            <a:endParaRPr lang="en-US" sz="2800" dirty="0"/>
          </a:p>
          <a:p>
            <a:pPr>
              <a:lnSpc>
                <a:spcPct val="90000"/>
              </a:lnSpc>
            </a:pPr>
            <a:endParaRPr lang="en-US" sz="28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0"/>
            <a:ext cx="7988300" cy="2171700"/>
          </a:xfrm>
        </p:spPr>
        <p:txBody>
          <a:bodyPr/>
          <a:lstStyle/>
          <a:p>
            <a:r>
              <a:rPr lang="en-US" dirty="0" smtClean="0"/>
              <a:t>A </a:t>
            </a:r>
            <a:r>
              <a:rPr lang="en-US" dirty="0"/>
              <a:t>specialization lattice with shared subclass ENGINEERING_MANAGER.</a:t>
            </a:r>
          </a:p>
        </p:txBody>
      </p:sp>
      <p:pic>
        <p:nvPicPr>
          <p:cNvPr id="542725" name="Picture 5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533400" y="2133600"/>
            <a:ext cx="8178800" cy="4452937"/>
          </a:xfrm>
        </p:spPr>
      </p:pic>
      <p:sp>
        <p:nvSpPr>
          <p:cNvPr id="542726" name="Text Box 6"/>
          <p:cNvSpPr txBox="1">
            <a:spLocks noChangeArrowheads="1"/>
          </p:cNvSpPr>
          <p:nvPr/>
        </p:nvSpPr>
        <p:spPr bwMode="auto">
          <a:xfrm>
            <a:off x="2209800" y="3657600"/>
            <a:ext cx="35877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100" b="1" dirty="0">
                <a:latin typeface="Univers" pitchFamily="34" charset="0"/>
              </a:rPr>
              <a:t>d</a:t>
            </a:r>
          </a:p>
        </p:txBody>
      </p:sp>
      <p:sp>
        <p:nvSpPr>
          <p:cNvPr id="542727" name="Text Box 7"/>
          <p:cNvSpPr txBox="1">
            <a:spLocks noChangeArrowheads="1"/>
          </p:cNvSpPr>
          <p:nvPr/>
        </p:nvSpPr>
        <p:spPr bwMode="auto">
          <a:xfrm>
            <a:off x="6858000" y="4114800"/>
            <a:ext cx="35877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100" b="1" dirty="0">
                <a:latin typeface="Univers" pitchFamily="34" charset="0"/>
              </a:rPr>
              <a:t>d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1026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/>
              <a:t>Specialization / Generalization Hierarchies, Lattices and Shared Subclasses (2)</a:t>
            </a:r>
          </a:p>
        </p:txBody>
      </p:sp>
      <p:sp>
        <p:nvSpPr>
          <p:cNvPr id="41987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sz="2400"/>
              <a:t>A subclass with more than one superclass is called a </a:t>
            </a:r>
            <a:r>
              <a:rPr lang="en-US" sz="2400" b="1"/>
              <a:t>shared subclass</a:t>
            </a:r>
          </a:p>
          <a:p>
            <a:pPr>
              <a:lnSpc>
                <a:spcPct val="90000"/>
              </a:lnSpc>
            </a:pPr>
            <a:r>
              <a:rPr lang="en-US" sz="2400"/>
              <a:t>Can have specialization hierarchies or lattices, or generalization hierarchies or lattices</a:t>
            </a:r>
          </a:p>
          <a:p>
            <a:pPr>
              <a:lnSpc>
                <a:spcPct val="90000"/>
              </a:lnSpc>
            </a:pPr>
            <a:r>
              <a:rPr lang="en-US" sz="2400"/>
              <a:t>In specialization, start with an entity type and then define subclasses of the entity type by successive specialization (</a:t>
            </a:r>
            <a:r>
              <a:rPr lang="en-US" sz="2400" b="1"/>
              <a:t>top down</a:t>
            </a:r>
            <a:r>
              <a:rPr lang="en-US" sz="2400"/>
              <a:t> conceptual refinement process)</a:t>
            </a:r>
          </a:p>
          <a:p>
            <a:pPr>
              <a:lnSpc>
                <a:spcPct val="90000"/>
              </a:lnSpc>
            </a:pPr>
            <a:r>
              <a:rPr lang="en-US" sz="2400"/>
              <a:t>In generalization, start with many entity types and generalize those that have common properties (</a:t>
            </a:r>
            <a:r>
              <a:rPr lang="en-US" sz="2400" b="1"/>
              <a:t>bottom up</a:t>
            </a:r>
            <a:r>
              <a:rPr lang="en-US" sz="2400"/>
              <a:t> conceptual synthesis process)</a:t>
            </a:r>
          </a:p>
          <a:p>
            <a:pPr>
              <a:lnSpc>
                <a:spcPct val="90000"/>
              </a:lnSpc>
            </a:pPr>
            <a:r>
              <a:rPr lang="en-US" sz="2400"/>
              <a:t>In practice, the combination of two processes is employed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dirty="0"/>
              <a:t>Specialization / Generalization Lattice Example </a:t>
            </a:r>
            <a:r>
              <a:rPr lang="en-US" sz="3200" dirty="0"/>
              <a:t>(UNIVERSITY)</a:t>
            </a:r>
          </a:p>
        </p:txBody>
      </p:sp>
      <p:pic>
        <p:nvPicPr>
          <p:cNvPr id="17415" name="Picture 7" descr="spec_gen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lum contrast="6000"/>
          </a:blip>
          <a:srcRect/>
          <a:stretch>
            <a:fillRect/>
          </a:stretch>
        </p:blipFill>
        <p:spPr>
          <a:xfrm>
            <a:off x="1676400" y="2362200"/>
            <a:ext cx="5683250" cy="4262438"/>
          </a:xfrm>
          <a:noFill/>
          <a:ln/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Urban">
  <a:themeElements>
    <a:clrScheme name="Urban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Urban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Urban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601</TotalTime>
  <Words>1201</Words>
  <Application>Microsoft Office PowerPoint</Application>
  <PresentationFormat>On-screen Show (4:3)</PresentationFormat>
  <Paragraphs>143</Paragraphs>
  <Slides>20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Urban</vt:lpstr>
      <vt:lpstr>Database Systems </vt:lpstr>
      <vt:lpstr>Today’s Agenda</vt:lpstr>
      <vt:lpstr>Specialization</vt:lpstr>
      <vt:lpstr>Example of a Specialization</vt:lpstr>
      <vt:lpstr>Specialization (cont)</vt:lpstr>
      <vt:lpstr>Instances of a specialization</vt:lpstr>
      <vt:lpstr>Generalization</vt:lpstr>
      <vt:lpstr>Generalization. (a) Two entity types, CAR and TRUCK. (b) Generalizing CAR and TRUCK into the superclass VEHICLE.</vt:lpstr>
      <vt:lpstr>Generalization and Specialization</vt:lpstr>
      <vt:lpstr>Constraints on Specialization and Generalization</vt:lpstr>
      <vt:lpstr>Constraints on Specialization and Generalization (cont)</vt:lpstr>
      <vt:lpstr>EER diagram notation for an attribute-defined specialization on JobType</vt:lpstr>
      <vt:lpstr>Constraints on Specialization and Generalization (cont)</vt:lpstr>
      <vt:lpstr>EER diagram notation for an overlapping (nondisjoint) specialization.</vt:lpstr>
      <vt:lpstr>Constraints on Specialization and Generalization (cont)</vt:lpstr>
      <vt:lpstr>Constraints on Specialization and Generalization (cont)</vt:lpstr>
      <vt:lpstr>Specialization / Generalization Hierarchies, Lattices and Shared Subclasses (1)</vt:lpstr>
      <vt:lpstr>A specialization lattice with shared subclass ENGINEERING_MANAGER.</vt:lpstr>
      <vt:lpstr>Specialization / Generalization Hierarchies, Lattices and Shared Subclasses (2)</vt:lpstr>
      <vt:lpstr>Specialization / Generalization Lattice Example (UNIVERSITY)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 Systems</dc:title>
  <dc:creator>RANA</dc:creator>
  <cp:lastModifiedBy>Mehtab</cp:lastModifiedBy>
  <cp:revision>17</cp:revision>
  <dcterms:created xsi:type="dcterms:W3CDTF">2006-08-16T00:00:00Z</dcterms:created>
  <dcterms:modified xsi:type="dcterms:W3CDTF">2020-04-09T05:34:45Z</dcterms:modified>
</cp:coreProperties>
</file>
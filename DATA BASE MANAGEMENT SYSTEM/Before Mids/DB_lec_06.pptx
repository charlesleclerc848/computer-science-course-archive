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7" r:id="rId3"/>
    <p:sldId id="268" r:id="rId4"/>
    <p:sldId id="259" r:id="rId5"/>
    <p:sldId id="260" r:id="rId6"/>
    <p:sldId id="261" r:id="rId7"/>
    <p:sldId id="263" r:id="rId8"/>
    <p:sldId id="264" r:id="rId9"/>
    <p:sldId id="265" r:id="rId10"/>
    <p:sldId id="267"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074" autoAdjust="0"/>
    <p:restoredTop sz="94660"/>
  </p:normalViewPr>
  <p:slideViewPr>
    <p:cSldViewPr>
      <p:cViewPr varScale="1">
        <p:scale>
          <a:sx n="67" d="100"/>
          <a:sy n="67" d="100"/>
        </p:scale>
        <p:origin x="1620"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39D0CC-0E90-4B2F-9100-09D27BCC160E}" type="datetimeFigureOut">
              <a:rPr lang="en-US" smtClean="0"/>
              <a:pPr/>
              <a:t>10/19/2022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2B71C02-1F59-4966-92C4-F7D77D6C6CA8}" type="slidenum">
              <a:rPr lang="en-US" smtClean="0"/>
              <a:pPr/>
              <a:t>‹#›</a:t>
            </a:fld>
            <a:endParaRPr lang="en-US"/>
          </a:p>
        </p:txBody>
      </p:sp>
    </p:spTree>
    <p:extLst>
      <p:ext uri="{BB962C8B-B14F-4D97-AF65-F5344CB8AC3E}">
        <p14:creationId xmlns:p14="http://schemas.microsoft.com/office/powerpoint/2010/main" val="1501098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36996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r>
              <a:rPr lang="en-US" smtClean="0"/>
              <a:t>Toqir Ahmad Rana</a:t>
            </a:r>
            <a:endParaRPr lang="en-US"/>
          </a:p>
        </p:txBody>
      </p:sp>
      <p:sp>
        <p:nvSpPr>
          <p:cNvPr id="17" name="Footer Placeholder 16"/>
          <p:cNvSpPr>
            <a:spLocks noGrp="1"/>
          </p:cNvSpPr>
          <p:nvPr>
            <p:ph type="ftr" sz="quarter" idx="11"/>
          </p:nvPr>
        </p:nvSpPr>
        <p:spPr>
          <a:xfrm>
            <a:off x="5410200" y="4205288"/>
            <a:ext cx="1295400" cy="457200"/>
          </a:xfrm>
        </p:spPr>
        <p:txBody>
          <a:bodyPr/>
          <a:lstStyle/>
          <a:p>
            <a:r>
              <a:rPr lang="en-US" smtClean="0"/>
              <a:t>Database Management Systems</a:t>
            </a:r>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r>
              <a:rPr lang="en-US" smtClean="0"/>
              <a:t>Toqir Ahmad Rana</a:t>
            </a:r>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r>
              <a:rPr lang="en-US" smtClean="0"/>
              <a:t>Toqir Ahmad Rana</a:t>
            </a:r>
            <a:endParaRPr lang="en-US"/>
          </a:p>
        </p:txBody>
      </p:sp>
      <p:sp>
        <p:nvSpPr>
          <p:cNvPr id="27" name="Slide Number Placeholder 26"/>
          <p:cNvSpPr>
            <a:spLocks noGrp="1"/>
          </p:cNvSpPr>
          <p:nvPr>
            <p:ph type="sldNum" sz="quarter" idx="11"/>
          </p:nvPr>
        </p:nvSpPr>
        <p:spPr/>
        <p:txBody>
          <a:bodyPr rtlCol="0"/>
          <a:lstStyle/>
          <a:p>
            <a:fld id="{B6F15528-21DE-4FAA-801E-634DDDAF4B2B}" type="slidenum">
              <a:rPr lang="en-US" smtClean="0"/>
              <a:pPr/>
              <a:t>‹#›</a:t>
            </a:fld>
            <a:endParaRPr lang="en-US"/>
          </a:p>
        </p:txBody>
      </p:sp>
      <p:sp>
        <p:nvSpPr>
          <p:cNvPr id="28" name="Footer Placeholder 27"/>
          <p:cNvSpPr>
            <a:spLocks noGrp="1"/>
          </p:cNvSpPr>
          <p:nvPr>
            <p:ph type="ftr" sz="quarter" idx="12"/>
          </p:nvPr>
        </p:nvSpPr>
        <p:spPr/>
        <p:txBody>
          <a:bodyPr rtlCol="0"/>
          <a:lstStyle/>
          <a:p>
            <a:r>
              <a:rPr lang="en-US" smtClean="0"/>
              <a:t>Database Management Systems</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r>
              <a:rPr lang="en-US" smtClean="0"/>
              <a:t>Toqir Ahmad Rana</a:t>
            </a:r>
            <a:endParaRPr lang="en-US"/>
          </a:p>
        </p:txBody>
      </p:sp>
      <p:sp>
        <p:nvSpPr>
          <p:cNvPr id="4" name="Footer Placeholder 3"/>
          <p:cNvSpPr>
            <a:spLocks noGrp="1"/>
          </p:cNvSpPr>
          <p:nvPr>
            <p:ph type="ftr" sz="quarter" idx="11"/>
          </p:nvPr>
        </p:nvSpPr>
        <p:spPr>
          <a:xfrm>
            <a:off x="5257800" y="612648"/>
            <a:ext cx="1325880" cy="457200"/>
          </a:xfrm>
        </p:spPr>
        <p:txBody>
          <a:bodyPr/>
          <a:lstStyle/>
          <a:p>
            <a:r>
              <a:rPr lang="en-US" smtClean="0"/>
              <a:t>Database Management Systems</a:t>
            </a:r>
            <a:endParaRPr lang="en-US"/>
          </a:p>
        </p:txBody>
      </p:sp>
      <p:sp>
        <p:nvSpPr>
          <p:cNvPr id="5" name="Slide Number Placeholder 4"/>
          <p:cNvSpPr>
            <a:spLocks noGrp="1"/>
          </p:cNvSpPr>
          <p:nvPr>
            <p:ph type="sldNum" sz="quarter" idx="12"/>
          </p:nvPr>
        </p:nvSpPr>
        <p:spPr>
          <a:xfrm>
            <a:off x="8174736" y="2272"/>
            <a:ext cx="762000" cy="365760"/>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Toqir Ahmad Rana</a:t>
            </a:r>
            <a:endParaRPr lang="en-US"/>
          </a:p>
        </p:txBody>
      </p:sp>
      <p:sp>
        <p:nvSpPr>
          <p:cNvPr id="3" name="Footer Placeholder 2"/>
          <p:cNvSpPr>
            <a:spLocks noGrp="1"/>
          </p:cNvSpPr>
          <p:nvPr>
            <p:ph type="ftr" sz="quarter" idx="11"/>
          </p:nvPr>
        </p:nvSpPr>
        <p:spPr/>
        <p:txBody>
          <a:bodyPr/>
          <a:lstStyle/>
          <a:p>
            <a:r>
              <a:rPr lang="en-US" smtClean="0"/>
              <a:t>Database Management Systems</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r>
              <a:rPr lang="en-US" smtClean="0"/>
              <a:t>Toqir Ahmad Rana</a:t>
            </a:r>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r>
              <a:rPr lang="en-US" smtClean="0"/>
              <a:t>Toqir Ahmad Rana</a:t>
            </a:r>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r>
              <a:rPr lang="en-US" smtClean="0"/>
              <a:t>Toqir Ahmad Rana</a:t>
            </a:r>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r>
              <a:rPr lang="en-US" smtClean="0"/>
              <a:t>Database Management Systems</a:t>
            </a:r>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219200"/>
            <a:ext cx="7772400" cy="1470025"/>
          </a:xfrm>
        </p:spPr>
        <p:txBody>
          <a:bodyPr/>
          <a:lstStyle/>
          <a:p>
            <a:r>
              <a:rPr lang="en-US" dirty="0" smtClean="0"/>
              <a:t>Database Systems	</a:t>
            </a:r>
            <a:endParaRPr lang="en-US" dirty="0"/>
          </a:p>
        </p:txBody>
      </p:sp>
      <p:sp>
        <p:nvSpPr>
          <p:cNvPr id="3" name="Subtitle 2"/>
          <p:cNvSpPr>
            <a:spLocks noGrp="1"/>
          </p:cNvSpPr>
          <p:nvPr>
            <p:ph type="subTitle" idx="1"/>
          </p:nvPr>
        </p:nvSpPr>
        <p:spPr/>
        <p:txBody>
          <a:bodyPr/>
          <a:lstStyle/>
          <a:p>
            <a:r>
              <a:rPr lang="en-US" dirty="0" smtClean="0"/>
              <a:t>The Database System Environment</a:t>
            </a:r>
            <a:endParaRPr lang="en-US" dirty="0"/>
          </a:p>
        </p:txBody>
      </p:sp>
      <p:sp>
        <p:nvSpPr>
          <p:cNvPr id="13" name="Footer Placeholder 12"/>
          <p:cNvSpPr>
            <a:spLocks noGrp="1"/>
          </p:cNvSpPr>
          <p:nvPr>
            <p:ph type="ftr" sz="quarter" idx="11"/>
          </p:nvPr>
        </p:nvSpPr>
        <p:spPr>
          <a:xfrm>
            <a:off x="5181600" y="4191000"/>
            <a:ext cx="2209800" cy="457200"/>
          </a:xfrm>
        </p:spPr>
        <p:txBody>
          <a:bodyPr/>
          <a:lstStyle/>
          <a:p>
            <a:r>
              <a:rPr lang="en-US" sz="1050" dirty="0" smtClean="0"/>
              <a:t>Database Management Systems</a:t>
            </a:r>
            <a:endParaRPr lang="en-US" sz="1050" dirty="0"/>
          </a:p>
        </p:txBody>
      </p:sp>
      <p:sp>
        <p:nvSpPr>
          <p:cNvPr id="12" name="Slide Number Placeholder 11"/>
          <p:cNvSpPr>
            <a:spLocks noGrp="1"/>
          </p:cNvSpPr>
          <p:nvPr>
            <p:ph type="sldNum" sz="quarter" idx="12"/>
          </p:nvPr>
        </p:nvSpPr>
        <p:spPr/>
        <p:txBody>
          <a:bodyPr/>
          <a:lstStyle/>
          <a:p>
            <a:fld id="{B6F15528-21DE-4FAA-801E-634DDDAF4B2B}" type="slidenum">
              <a:rPr lang="en-US" smtClean="0"/>
              <a:pPr/>
              <a:t>1</a:t>
            </a:fld>
            <a:endParaRPr lang="en-US"/>
          </a:p>
        </p:txBody>
      </p:sp>
      <p:sp>
        <p:nvSpPr>
          <p:cNvPr id="10" name="TextBox 9"/>
          <p:cNvSpPr txBox="1"/>
          <p:nvPr/>
        </p:nvSpPr>
        <p:spPr>
          <a:xfrm>
            <a:off x="2286000" y="3048000"/>
            <a:ext cx="4267200" cy="523220"/>
          </a:xfrm>
          <a:prstGeom prst="rect">
            <a:avLst/>
          </a:prstGeom>
          <a:noFill/>
        </p:spPr>
        <p:txBody>
          <a:bodyPr wrap="square" rtlCol="0">
            <a:spAutoFit/>
          </a:bodyPr>
          <a:lstStyle/>
          <a:p>
            <a:pPr algn="ctr"/>
            <a:r>
              <a:rPr lang="en-US" sz="2800" u="sng" smtClean="0"/>
              <a:t>Lecture 6</a:t>
            </a:r>
            <a:endParaRPr lang="en-US" sz="2800" u="sng"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Today’s agenda</a:t>
            </a:r>
            <a:endParaRPr lang="en-US" dirty="0"/>
          </a:p>
        </p:txBody>
      </p:sp>
      <p:sp>
        <p:nvSpPr>
          <p:cNvPr id="3" name="Content Placeholder 2"/>
          <p:cNvSpPr>
            <a:spLocks noGrp="1"/>
          </p:cNvSpPr>
          <p:nvPr>
            <p:ph idx="1"/>
          </p:nvPr>
        </p:nvSpPr>
        <p:spPr/>
        <p:txBody>
          <a:bodyPr>
            <a:normAutofit/>
          </a:bodyPr>
          <a:lstStyle/>
          <a:p>
            <a:r>
              <a:rPr lang="en-US" dirty="0" smtClean="0"/>
              <a:t>The Database System Environment</a:t>
            </a:r>
          </a:p>
          <a:p>
            <a:pPr lvl="1"/>
            <a:r>
              <a:rPr lang="en-US" dirty="0" smtClean="0"/>
              <a:t>DBMS Component Modules</a:t>
            </a:r>
          </a:p>
          <a:p>
            <a:pPr lvl="1"/>
            <a:r>
              <a:rPr lang="en-US" dirty="0" smtClean="0"/>
              <a:t>Database System Utilities</a:t>
            </a:r>
          </a:p>
          <a:p>
            <a:pPr lvl="1"/>
            <a:r>
              <a:rPr lang="en-US" dirty="0" smtClean="0"/>
              <a:t>Application Environments</a:t>
            </a:r>
          </a:p>
          <a:p>
            <a:pPr lvl="1"/>
            <a:r>
              <a:rPr lang="en-US" dirty="0" smtClean="0"/>
              <a:t>Communications Facilities</a:t>
            </a:r>
            <a:br>
              <a:rPr lang="en-US" dirty="0" smtClean="0"/>
            </a:br>
            <a:endParaRPr lang="en-US" dirty="0" smtClean="0"/>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457200"/>
            <a:ext cx="5181600" cy="638175"/>
          </a:xfrm>
        </p:spPr>
        <p:txBody>
          <a:bodyPr>
            <a:normAutofit fontScale="90000"/>
          </a:bodyPr>
          <a:lstStyle/>
          <a:p>
            <a:r>
              <a:rPr lang="en-US" dirty="0" smtClean="0"/>
              <a:t>Component of a DBMS</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1" y="1066801"/>
            <a:ext cx="8839200" cy="5714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423774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DBMS Component Modules</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Top half of figure refers to various users of the database environment and their interfaces, while the lower half shows the internals of the DBMS responsible for data storage and transaction processing.</a:t>
            </a:r>
          </a:p>
          <a:p>
            <a:endParaRPr lang="en-US" dirty="0"/>
          </a:p>
          <a:p>
            <a:r>
              <a:rPr lang="en-US" dirty="0"/>
              <a:t>A higher-level </a:t>
            </a:r>
            <a:r>
              <a:rPr lang="en-US" b="1" dirty="0"/>
              <a:t>stored data manager</a:t>
            </a:r>
            <a:r>
              <a:rPr lang="en-US" dirty="0"/>
              <a:t> module of the DBMS controls access to DBMS information that is stored on the disk, whether it is part of the database or the catalog.</a:t>
            </a:r>
          </a:p>
          <a:p>
            <a:endParaRPr lang="en-US" dirty="0" smtClean="0"/>
          </a:p>
          <a:p>
            <a:endParaRPr lang="en-US" dirty="0" smtClean="0"/>
          </a:p>
          <a:p>
            <a:r>
              <a:rPr lang="en-US" dirty="0" smtClean="0"/>
              <a:t>The </a:t>
            </a:r>
            <a:r>
              <a:rPr lang="en-US" b="1" dirty="0" smtClean="0"/>
              <a:t>DDL compiler</a:t>
            </a:r>
            <a:r>
              <a:rPr lang="en-US" dirty="0" smtClean="0"/>
              <a:t> processes schema definitions specified  in the DDL, and stores descriptions of the schemas (meta-data) in the DBMS catalog.</a:t>
            </a:r>
          </a:p>
          <a:p>
            <a:endParaRPr lang="en-US" dirty="0" smtClean="0"/>
          </a:p>
          <a:p>
            <a:r>
              <a:rPr lang="en-US" dirty="0" smtClean="0"/>
              <a:t>The catalog includes information such as names and sizes of files, names and data-types of data items, storage details, mapping information among schemas, constraints and so on</a:t>
            </a:r>
          </a:p>
          <a:p>
            <a:endParaRPr lang="en-US" dirty="0"/>
          </a:p>
          <a:p>
            <a:r>
              <a:rPr lang="en-US" dirty="0" smtClean="0"/>
              <a:t>DBMS software module then look up the catalog information as needed.</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DBMS Component Modules</a:t>
            </a:r>
            <a:endParaRPr lang="en-US" dirty="0"/>
          </a:p>
        </p:txBody>
      </p:sp>
      <p:sp>
        <p:nvSpPr>
          <p:cNvPr id="3" name="Content Placeholder 2"/>
          <p:cNvSpPr>
            <a:spLocks noGrp="1"/>
          </p:cNvSpPr>
          <p:nvPr>
            <p:ph idx="1"/>
          </p:nvPr>
        </p:nvSpPr>
        <p:spPr/>
        <p:txBody>
          <a:bodyPr>
            <a:normAutofit fontScale="85000" lnSpcReduction="20000"/>
          </a:bodyPr>
          <a:lstStyle/>
          <a:p>
            <a:r>
              <a:rPr lang="en-US" dirty="0"/>
              <a:t>The </a:t>
            </a:r>
            <a:r>
              <a:rPr lang="en-US" b="1" dirty="0"/>
              <a:t>query compiler</a:t>
            </a:r>
            <a:r>
              <a:rPr lang="en-US" dirty="0"/>
              <a:t> handles high-level queries that are entered interactively. (parses and analyzes a query</a:t>
            </a:r>
            <a:r>
              <a:rPr lang="en-US" dirty="0" smtClean="0"/>
              <a:t>).</a:t>
            </a:r>
          </a:p>
          <a:p>
            <a:endParaRPr lang="en-US" dirty="0"/>
          </a:p>
          <a:p>
            <a:r>
              <a:rPr lang="en-US" b="1" dirty="0" smtClean="0"/>
              <a:t>Query optimizer</a:t>
            </a:r>
            <a:r>
              <a:rPr lang="en-US" dirty="0" smtClean="0"/>
              <a:t> is concerned with rearrangement and possible reordering of operations, elimination of redundancies and use of correct algorithm and indexes</a:t>
            </a:r>
          </a:p>
          <a:p>
            <a:endParaRPr lang="en-US" dirty="0" smtClean="0"/>
          </a:p>
          <a:p>
            <a:r>
              <a:rPr lang="en-US" dirty="0" smtClean="0"/>
              <a:t>The </a:t>
            </a:r>
            <a:r>
              <a:rPr lang="en-US" b="1" dirty="0"/>
              <a:t>pre-compiler</a:t>
            </a:r>
            <a:r>
              <a:rPr lang="en-US" dirty="0"/>
              <a:t> extracts DML commands from an application program written in a host programming language. These commands are sent to the </a:t>
            </a:r>
            <a:r>
              <a:rPr lang="en-US" b="1" dirty="0"/>
              <a:t>DML compiler</a:t>
            </a:r>
            <a:r>
              <a:rPr lang="en-US" dirty="0"/>
              <a:t> for compilation into object code for database access</a:t>
            </a:r>
            <a:r>
              <a:rPr lang="en-US" dirty="0" smtClean="0"/>
              <a:t>.</a:t>
            </a:r>
          </a:p>
          <a:p>
            <a:r>
              <a:rPr lang="en-US" dirty="0" smtClean="0"/>
              <a:t>Rest of the program is sent to host language compiler.</a:t>
            </a:r>
            <a:endParaRPr lang="en-US" dirty="0"/>
          </a:p>
          <a:p>
            <a:endParaRPr lang="en-US" dirty="0" smtClean="0"/>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DBMS Component Modules</a:t>
            </a:r>
            <a:endParaRPr lang="en-US" dirty="0"/>
          </a:p>
        </p:txBody>
      </p:sp>
      <p:sp>
        <p:nvSpPr>
          <p:cNvPr id="3" name="Content Placeholder 2"/>
          <p:cNvSpPr>
            <a:spLocks noGrp="1"/>
          </p:cNvSpPr>
          <p:nvPr>
            <p:ph idx="1"/>
          </p:nvPr>
        </p:nvSpPr>
        <p:spPr/>
        <p:txBody>
          <a:bodyPr/>
          <a:lstStyle/>
          <a:p>
            <a:r>
              <a:rPr lang="en-US" dirty="0"/>
              <a:t>The </a:t>
            </a:r>
            <a:r>
              <a:rPr lang="en-US" b="1" dirty="0"/>
              <a:t> run-time database processor</a:t>
            </a:r>
            <a:r>
              <a:rPr lang="en-US" dirty="0"/>
              <a:t> handles database accesses at run time; it receives retrieval or updated operations and carries them out on the database.</a:t>
            </a:r>
          </a:p>
          <a:p>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DBMS Component Modules</a:t>
            </a:r>
            <a:endParaRPr lang="en-US" dirty="0"/>
          </a:p>
        </p:txBody>
      </p:sp>
      <p:sp>
        <p:nvSpPr>
          <p:cNvPr id="3" name="Content Placeholder 2"/>
          <p:cNvSpPr>
            <a:spLocks noGrp="1"/>
          </p:cNvSpPr>
          <p:nvPr>
            <p:ph idx="1"/>
          </p:nvPr>
        </p:nvSpPr>
        <p:spPr/>
        <p:txBody>
          <a:bodyPr/>
          <a:lstStyle/>
          <a:p>
            <a:r>
              <a:rPr lang="en-US" dirty="0" smtClean="0"/>
              <a:t>It is now common to have the client program that accesses the DBMS running on a separate computer from the computer on which the database resides. The former is called the </a:t>
            </a:r>
            <a:r>
              <a:rPr lang="en-US" b="1" dirty="0" smtClean="0"/>
              <a:t>client computer</a:t>
            </a:r>
            <a:r>
              <a:rPr lang="en-US" dirty="0" smtClean="0"/>
              <a:t>, and the latter is called the </a:t>
            </a:r>
            <a:r>
              <a:rPr lang="en-US" b="1" dirty="0" smtClean="0"/>
              <a:t>database server</a:t>
            </a:r>
            <a:r>
              <a:rPr lang="en-US" dirty="0" smtClean="0"/>
              <a:t>. In some cases, the client accesses a middle computer, called the </a:t>
            </a:r>
            <a:r>
              <a:rPr lang="en-US" b="1" dirty="0" smtClean="0"/>
              <a:t>application server</a:t>
            </a:r>
            <a:r>
              <a:rPr lang="en-US" dirty="0" smtClean="0"/>
              <a:t>, which in turn accesses the database server.</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p:txBody>
          <a:bodyPr/>
          <a:lstStyle/>
          <a:p>
            <a:pPr>
              <a:buFont typeface="Times"/>
              <a:buNone/>
            </a:pPr>
            <a:r>
              <a:rPr lang="en-US"/>
              <a:t>Database System Utilities</a:t>
            </a:r>
            <a:endParaRPr lang="en-US" b="1">
              <a:solidFill>
                <a:srgbClr val="000000"/>
              </a:solidFill>
            </a:endParaRPr>
          </a:p>
        </p:txBody>
      </p:sp>
      <p:sp>
        <p:nvSpPr>
          <p:cNvPr id="504835" name="Rectangle 3"/>
          <p:cNvSpPr>
            <a:spLocks noGrp="1" noChangeArrowheads="1"/>
          </p:cNvSpPr>
          <p:nvPr>
            <p:ph type="body" idx="1"/>
          </p:nvPr>
        </p:nvSpPr>
        <p:spPr/>
        <p:txBody>
          <a:bodyPr/>
          <a:lstStyle/>
          <a:p>
            <a:pPr>
              <a:buFont typeface="Times"/>
              <a:buChar char="•"/>
            </a:pPr>
            <a:r>
              <a:rPr lang="en-US" sz="2800" dirty="0">
                <a:solidFill>
                  <a:srgbClr val="000000"/>
                </a:solidFill>
              </a:rPr>
              <a:t>To perform certain functions such as:</a:t>
            </a:r>
          </a:p>
          <a:p>
            <a:pPr lvl="1">
              <a:buFont typeface="Times"/>
              <a:buChar char="•"/>
            </a:pPr>
            <a:r>
              <a:rPr lang="en-US" sz="2400" i="1" dirty="0">
                <a:solidFill>
                  <a:srgbClr val="000000"/>
                </a:solidFill>
              </a:rPr>
              <a:t>Loading</a:t>
            </a:r>
            <a:r>
              <a:rPr lang="en-US" sz="2400" dirty="0">
                <a:solidFill>
                  <a:srgbClr val="000000"/>
                </a:solidFill>
              </a:rPr>
              <a:t> </a:t>
            </a:r>
            <a:r>
              <a:rPr lang="en-US" sz="2400" dirty="0" smtClean="0">
                <a:solidFill>
                  <a:srgbClr val="000000"/>
                </a:solidFill>
              </a:rPr>
              <a:t>It is used to load existing files into a </a:t>
            </a:r>
            <a:r>
              <a:rPr lang="en-US" sz="2400" dirty="0">
                <a:solidFill>
                  <a:srgbClr val="000000"/>
                </a:solidFill>
              </a:rPr>
              <a:t>database. Includes data conversion tools.</a:t>
            </a:r>
          </a:p>
          <a:p>
            <a:pPr lvl="1">
              <a:buFont typeface="Times"/>
              <a:buChar char="•"/>
            </a:pPr>
            <a:r>
              <a:rPr lang="en-US" sz="2400" i="1" dirty="0">
                <a:solidFill>
                  <a:srgbClr val="000000"/>
                </a:solidFill>
              </a:rPr>
              <a:t>Backing up</a:t>
            </a:r>
            <a:r>
              <a:rPr lang="en-US" sz="2400" dirty="0">
                <a:solidFill>
                  <a:srgbClr val="000000"/>
                </a:solidFill>
              </a:rPr>
              <a:t> the database periodically on tape.</a:t>
            </a:r>
          </a:p>
          <a:p>
            <a:pPr lvl="1">
              <a:buFont typeface="Times"/>
              <a:buChar char="•"/>
            </a:pPr>
            <a:r>
              <a:rPr lang="en-US" sz="2400" i="1" dirty="0" smtClean="0">
                <a:solidFill>
                  <a:srgbClr val="000000"/>
                </a:solidFill>
              </a:rPr>
              <a:t>Database storage reorganization</a:t>
            </a:r>
            <a:r>
              <a:rPr lang="en-US" sz="2400" dirty="0" smtClean="0">
                <a:solidFill>
                  <a:srgbClr val="000000"/>
                </a:solidFill>
              </a:rPr>
              <a:t>.</a:t>
            </a:r>
            <a:endParaRPr lang="en-US" sz="2400" dirty="0">
              <a:solidFill>
                <a:srgbClr val="000000"/>
              </a:solidFill>
            </a:endParaRPr>
          </a:p>
          <a:p>
            <a:pPr lvl="1">
              <a:buFont typeface="Times"/>
              <a:buChar char="•"/>
            </a:pPr>
            <a:r>
              <a:rPr lang="en-US" sz="2400" i="1" dirty="0">
                <a:solidFill>
                  <a:srgbClr val="000000"/>
                </a:solidFill>
              </a:rPr>
              <a:t>Report generation</a:t>
            </a:r>
            <a:r>
              <a:rPr lang="en-US" sz="2400" dirty="0">
                <a:solidFill>
                  <a:srgbClr val="000000"/>
                </a:solidFill>
              </a:rPr>
              <a:t> utilities.</a:t>
            </a:r>
          </a:p>
          <a:p>
            <a:pPr lvl="1">
              <a:buFont typeface="Times"/>
              <a:buChar char="•"/>
            </a:pPr>
            <a:r>
              <a:rPr lang="en-US" sz="2400" i="1" dirty="0">
                <a:solidFill>
                  <a:srgbClr val="000000"/>
                </a:solidFill>
              </a:rPr>
              <a:t>Performance monitoring</a:t>
            </a:r>
            <a:r>
              <a:rPr lang="en-US" sz="2400" dirty="0">
                <a:solidFill>
                  <a:srgbClr val="000000"/>
                </a:solidFill>
              </a:rPr>
              <a:t> utilities.</a:t>
            </a:r>
          </a:p>
          <a:p>
            <a:pPr lvl="1">
              <a:buFont typeface="Times"/>
              <a:buChar char="•"/>
            </a:pPr>
            <a:r>
              <a:rPr lang="en-US" sz="2400" dirty="0">
                <a:solidFill>
                  <a:srgbClr val="000000"/>
                </a:solidFill>
              </a:rPr>
              <a:t>Other functions, such as </a:t>
            </a:r>
            <a:r>
              <a:rPr lang="en-US" sz="2400" i="1" dirty="0">
                <a:solidFill>
                  <a:srgbClr val="000000"/>
                </a:solidFill>
              </a:rPr>
              <a:t>sorting</a:t>
            </a:r>
            <a:r>
              <a:rPr lang="en-US" sz="2400" dirty="0">
                <a:solidFill>
                  <a:srgbClr val="000000"/>
                </a:solidFill>
              </a:rPr>
              <a:t>, </a:t>
            </a:r>
            <a:r>
              <a:rPr lang="en-US" sz="2400" i="1" dirty="0" smtClean="0">
                <a:solidFill>
                  <a:srgbClr val="000000"/>
                </a:solidFill>
              </a:rPr>
              <a:t>user access </a:t>
            </a:r>
            <a:r>
              <a:rPr lang="en-US" sz="2400" i="1" dirty="0">
                <a:solidFill>
                  <a:srgbClr val="000000"/>
                </a:solidFill>
              </a:rPr>
              <a:t>monitoring</a:t>
            </a:r>
            <a:r>
              <a:rPr lang="en-US" sz="2400" dirty="0">
                <a:solidFill>
                  <a:srgbClr val="000000"/>
                </a:solidFill>
              </a:rPr>
              <a:t>, </a:t>
            </a:r>
            <a:r>
              <a:rPr lang="en-US" sz="2400" i="1" dirty="0">
                <a:solidFill>
                  <a:srgbClr val="000000"/>
                </a:solidFill>
              </a:rPr>
              <a:t>data compression</a:t>
            </a:r>
            <a:r>
              <a:rPr lang="en-US" sz="2400" dirty="0">
                <a:solidFill>
                  <a:srgbClr val="000000"/>
                </a:solidFill>
              </a:rPr>
              <a:t>, etc.</a:t>
            </a:r>
          </a:p>
        </p:txBody>
      </p:sp>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a:xfrm>
            <a:off x="457200" y="1143000"/>
            <a:ext cx="8229600" cy="609600"/>
          </a:xfrm>
        </p:spPr>
        <p:txBody>
          <a:bodyPr>
            <a:normAutofit fontScale="90000"/>
          </a:bodyPr>
          <a:lstStyle/>
          <a:p>
            <a:pPr>
              <a:buFont typeface="Times"/>
              <a:buNone/>
            </a:pPr>
            <a:r>
              <a:rPr lang="en-US" dirty="0"/>
              <a:t>Other Tools</a:t>
            </a:r>
            <a:endParaRPr lang="en-US" b="1" dirty="0">
              <a:solidFill>
                <a:srgbClr val="000000"/>
              </a:solidFill>
            </a:endParaRPr>
          </a:p>
        </p:txBody>
      </p:sp>
      <p:sp>
        <p:nvSpPr>
          <p:cNvPr id="506883" name="Rectangle 3"/>
          <p:cNvSpPr>
            <a:spLocks noGrp="1" noChangeArrowheads="1"/>
          </p:cNvSpPr>
          <p:nvPr>
            <p:ph type="body" idx="1"/>
          </p:nvPr>
        </p:nvSpPr>
        <p:spPr>
          <a:xfrm>
            <a:off x="457200" y="1905000"/>
            <a:ext cx="8229600" cy="4629912"/>
          </a:xfrm>
        </p:spPr>
        <p:txBody>
          <a:bodyPr>
            <a:normAutofit/>
          </a:bodyPr>
          <a:lstStyle/>
          <a:p>
            <a:pPr>
              <a:buFont typeface="Times"/>
              <a:buChar char="•"/>
            </a:pPr>
            <a:r>
              <a:rPr lang="en-US" sz="2800" b="1" dirty="0" smtClean="0">
                <a:solidFill>
                  <a:srgbClr val="000000"/>
                </a:solidFill>
              </a:rPr>
              <a:t>Data dictionary / repository</a:t>
            </a:r>
            <a:r>
              <a:rPr lang="en-US" sz="2800" dirty="0" smtClean="0">
                <a:solidFill>
                  <a:srgbClr val="000000"/>
                </a:solidFill>
              </a:rPr>
              <a:t>:</a:t>
            </a:r>
          </a:p>
          <a:p>
            <a:pPr lvl="2">
              <a:buFont typeface="Times"/>
              <a:buChar char="•"/>
            </a:pPr>
            <a:r>
              <a:rPr lang="en-US" sz="2000" dirty="0" smtClean="0">
                <a:solidFill>
                  <a:srgbClr val="000000"/>
                </a:solidFill>
              </a:rPr>
              <a:t>Other tools are often available to database designers, users and DBMS such as </a:t>
            </a:r>
            <a:r>
              <a:rPr lang="en-US" sz="2000" b="1" dirty="0" smtClean="0">
                <a:solidFill>
                  <a:srgbClr val="000000"/>
                </a:solidFill>
              </a:rPr>
              <a:t>CASE tools</a:t>
            </a:r>
            <a:r>
              <a:rPr lang="en-US" sz="2000" dirty="0" smtClean="0">
                <a:solidFill>
                  <a:srgbClr val="000000"/>
                </a:solidFill>
              </a:rPr>
              <a:t> are used in the design phase of database systems.</a:t>
            </a:r>
          </a:p>
          <a:p>
            <a:pPr lvl="2">
              <a:buFont typeface="Times"/>
              <a:buChar char="•"/>
            </a:pPr>
            <a:endParaRPr lang="en-US" sz="2000" dirty="0" smtClean="0">
              <a:solidFill>
                <a:srgbClr val="000000"/>
              </a:solidFill>
            </a:endParaRPr>
          </a:p>
          <a:p>
            <a:pPr lvl="2">
              <a:buFont typeface="Times"/>
              <a:buChar char="•"/>
            </a:pPr>
            <a:r>
              <a:rPr lang="en-US" sz="2000" dirty="0" smtClean="0">
                <a:solidFill>
                  <a:srgbClr val="000000"/>
                </a:solidFill>
              </a:rPr>
              <a:t>Another tool that can be quite useful in large organizations is an </a:t>
            </a:r>
            <a:r>
              <a:rPr lang="en-US" sz="2000" b="1" dirty="0" smtClean="0">
                <a:solidFill>
                  <a:srgbClr val="000000"/>
                </a:solidFill>
              </a:rPr>
              <a:t>expanded data dictionary/repository</a:t>
            </a:r>
            <a:r>
              <a:rPr lang="en-US" sz="2000" dirty="0" smtClean="0">
                <a:solidFill>
                  <a:srgbClr val="000000"/>
                </a:solidFill>
              </a:rPr>
              <a:t>.</a:t>
            </a:r>
          </a:p>
          <a:p>
            <a:pPr lvl="2">
              <a:buFont typeface="Times"/>
              <a:buChar char="•"/>
            </a:pPr>
            <a:endParaRPr lang="en-US" sz="2000" dirty="0" smtClean="0">
              <a:solidFill>
                <a:srgbClr val="000000"/>
              </a:solidFill>
            </a:endParaRPr>
          </a:p>
          <a:p>
            <a:pPr lvl="2">
              <a:buFont typeface="Times"/>
              <a:buChar char="•"/>
            </a:pPr>
            <a:r>
              <a:rPr lang="en-US" sz="2000" dirty="0" smtClean="0">
                <a:solidFill>
                  <a:srgbClr val="000000"/>
                </a:solidFill>
              </a:rPr>
              <a:t>In addition to storing catalog information about schemas and constraints, it stores other information such as design decisions, application program descriptions, user information, usage standards, etc. (also called </a:t>
            </a:r>
            <a:r>
              <a:rPr lang="en-US" sz="2000" b="1" dirty="0" smtClean="0">
                <a:solidFill>
                  <a:srgbClr val="000000"/>
                </a:solidFill>
              </a:rPr>
              <a:t>information repository</a:t>
            </a:r>
            <a:r>
              <a:rPr lang="en-US" sz="2000" dirty="0" smtClean="0">
                <a:solidFill>
                  <a:srgbClr val="000000"/>
                </a:solidFill>
              </a:rPr>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534400" cy="1066800"/>
          </a:xfrm>
        </p:spPr>
        <p:txBody>
          <a:bodyPr>
            <a:normAutofit fontScale="90000"/>
          </a:bodyPr>
          <a:lstStyle/>
          <a:p>
            <a:r>
              <a:rPr lang="en-US" dirty="0" smtClean="0"/>
              <a:t>Applications Development Environments</a:t>
            </a:r>
            <a:endParaRPr lang="en-US" dirty="0"/>
          </a:p>
        </p:txBody>
      </p:sp>
      <p:sp>
        <p:nvSpPr>
          <p:cNvPr id="3" name="Content Placeholder 2"/>
          <p:cNvSpPr>
            <a:spLocks noGrp="1"/>
          </p:cNvSpPr>
          <p:nvPr>
            <p:ph idx="1"/>
          </p:nvPr>
        </p:nvSpPr>
        <p:spPr/>
        <p:txBody>
          <a:bodyPr>
            <a:normAutofit fontScale="92500" lnSpcReduction="20000"/>
          </a:bodyPr>
          <a:lstStyle/>
          <a:p>
            <a:pPr>
              <a:buFont typeface="Times"/>
              <a:buChar char="•"/>
            </a:pPr>
            <a:r>
              <a:rPr lang="en-US" dirty="0"/>
              <a:t>Examples – Power builder (Sybase), </a:t>
            </a:r>
            <a:r>
              <a:rPr lang="en-US" dirty="0" err="1"/>
              <a:t>JBuilder</a:t>
            </a:r>
            <a:r>
              <a:rPr lang="en-US" dirty="0"/>
              <a:t> (Borland)   </a:t>
            </a:r>
          </a:p>
          <a:p>
            <a:endParaRPr lang="en-US" dirty="0" smtClean="0"/>
          </a:p>
          <a:p>
            <a:r>
              <a:rPr lang="en-US" dirty="0" smtClean="0"/>
              <a:t>These systems provide an environment for developing database applications and include facilities that help in many facets of database systems, including </a:t>
            </a:r>
          </a:p>
          <a:p>
            <a:endParaRPr lang="en-US" dirty="0" smtClean="0"/>
          </a:p>
          <a:p>
            <a:pPr lvl="1"/>
            <a:r>
              <a:rPr lang="en-US" dirty="0" smtClean="0"/>
              <a:t>Database design, </a:t>
            </a:r>
          </a:p>
          <a:p>
            <a:pPr lvl="1"/>
            <a:r>
              <a:rPr lang="en-US" dirty="0" smtClean="0"/>
              <a:t>GUI development, </a:t>
            </a:r>
          </a:p>
          <a:p>
            <a:pPr lvl="1"/>
            <a:r>
              <a:rPr lang="en-US" dirty="0" smtClean="0"/>
              <a:t>Querying and updating, and </a:t>
            </a:r>
          </a:p>
          <a:p>
            <a:pPr lvl="1"/>
            <a:r>
              <a:rPr lang="en-US" dirty="0" smtClean="0"/>
              <a:t>Application program development</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Communications Facilities</a:t>
            </a:r>
            <a:endParaRPr lang="en-US" dirty="0"/>
          </a:p>
        </p:txBody>
      </p:sp>
      <p:sp>
        <p:nvSpPr>
          <p:cNvPr id="3" name="Content Placeholder 2"/>
          <p:cNvSpPr>
            <a:spLocks noGrp="1"/>
          </p:cNvSpPr>
          <p:nvPr>
            <p:ph idx="1"/>
          </p:nvPr>
        </p:nvSpPr>
        <p:spPr/>
        <p:txBody>
          <a:bodyPr>
            <a:normAutofit lnSpcReduction="10000"/>
          </a:bodyPr>
          <a:lstStyle/>
          <a:p>
            <a:r>
              <a:rPr lang="en-US" dirty="0" smtClean="0"/>
              <a:t>Its function is to allow users at locations remote from the database system site to access the database through computer terminals, workstations, or their local personal computers.</a:t>
            </a:r>
          </a:p>
          <a:p>
            <a:endParaRPr lang="en-US" dirty="0" smtClean="0"/>
          </a:p>
          <a:p>
            <a:r>
              <a:rPr lang="en-US" dirty="0" smtClean="0"/>
              <a:t>Many commercial database systems have communication packages that work with the DBMS. The integrated DBMS and Data Communication system is called a DB/DC system.</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553</TotalTime>
  <Words>653</Words>
  <Application>Microsoft Office PowerPoint</Application>
  <PresentationFormat>On-screen Show (4:3)</PresentationFormat>
  <Paragraphs>82</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Calibri</vt:lpstr>
      <vt:lpstr>Georgia</vt:lpstr>
      <vt:lpstr>Times</vt:lpstr>
      <vt:lpstr>Trebuchet MS</vt:lpstr>
      <vt:lpstr>Wingdings 2</vt:lpstr>
      <vt:lpstr>Urban</vt:lpstr>
      <vt:lpstr>Database Systems </vt:lpstr>
      <vt:lpstr>Today’s agenda</vt:lpstr>
      <vt:lpstr>Component of a DBMS</vt:lpstr>
      <vt:lpstr>DBMS Component Modules</vt:lpstr>
      <vt:lpstr>DBMS Component Modules</vt:lpstr>
      <vt:lpstr>DBMS Component Modules</vt:lpstr>
      <vt:lpstr>DBMS Component Modules</vt:lpstr>
      <vt:lpstr>Database System Utilities</vt:lpstr>
      <vt:lpstr>Other Tools</vt:lpstr>
      <vt:lpstr>Applications Development Environments</vt:lpstr>
      <vt:lpstr>Communications Facilities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dc:title>
  <dc:creator>RANA</dc:creator>
  <cp:lastModifiedBy>Microsoft account</cp:lastModifiedBy>
  <cp:revision>35</cp:revision>
  <dcterms:created xsi:type="dcterms:W3CDTF">2006-08-16T00:00:00Z</dcterms:created>
  <dcterms:modified xsi:type="dcterms:W3CDTF">2022-10-19T06:45:22Z</dcterms:modified>
</cp:coreProperties>
</file>
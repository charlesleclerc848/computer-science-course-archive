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62" r:id="rId2"/>
    <p:sldId id="263" r:id="rId3"/>
    <p:sldId id="256" r:id="rId4"/>
    <p:sldId id="261" r:id="rId5"/>
    <p:sldId id="264" r:id="rId6"/>
    <p:sldId id="265" r:id="rId7"/>
    <p:sldId id="266" r:id="rId8"/>
    <p:sldId id="257" r:id="rId9"/>
    <p:sldId id="273" r:id="rId10"/>
    <p:sldId id="267" r:id="rId11"/>
    <p:sldId id="258" r:id="rId12"/>
    <p:sldId id="268" r:id="rId13"/>
    <p:sldId id="269" r:id="rId14"/>
    <p:sldId id="270" r:id="rId15"/>
    <p:sldId id="259" r:id="rId16"/>
    <p:sldId id="271" r:id="rId17"/>
    <p:sldId id="260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27BE4-F2DE-4C95-8BA1-275CA2E35943}" type="datetimeFigureOut">
              <a:rPr lang="en-US" smtClean="0"/>
              <a:pPr/>
              <a:t>2/20/2020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76B34-390A-44AE-AC3F-0CDA9AC7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7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Three Schema Architecture and Data Independence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4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Three Schema Architecture</a:t>
            </a:r>
          </a:p>
          <a:p>
            <a:pPr lvl="1"/>
            <a:r>
              <a:rPr lang="en-US" dirty="0" smtClean="0"/>
              <a:t>Internal level</a:t>
            </a:r>
          </a:p>
          <a:p>
            <a:pPr lvl="1"/>
            <a:r>
              <a:rPr lang="en-US" dirty="0" smtClean="0"/>
              <a:t>Conceptual level</a:t>
            </a:r>
          </a:p>
          <a:p>
            <a:pPr lvl="1"/>
            <a:r>
              <a:rPr lang="en-US" dirty="0" smtClean="0"/>
              <a:t>External or view level</a:t>
            </a:r>
          </a:p>
          <a:p>
            <a:r>
              <a:rPr lang="en-US" dirty="0" smtClean="0"/>
              <a:t>Data independence</a:t>
            </a:r>
          </a:p>
          <a:p>
            <a:pPr lvl="1"/>
            <a:r>
              <a:rPr lang="en-US" dirty="0" smtClean="0"/>
              <a:t>Logical data independence</a:t>
            </a:r>
          </a:p>
          <a:p>
            <a:pPr lvl="1"/>
            <a:r>
              <a:rPr lang="en-US" dirty="0" smtClean="0"/>
              <a:t>Physical data independence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Three-Schema Architecture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Proposed to support DBMS characteristics of:</a:t>
            </a:r>
          </a:p>
          <a:p>
            <a:pPr lvl="1" algn="just">
              <a:buFont typeface="Times"/>
              <a:buChar char="•"/>
            </a:pPr>
            <a:r>
              <a:rPr lang="en-US" b="1" dirty="0">
                <a:solidFill>
                  <a:srgbClr val="000000"/>
                </a:solidFill>
              </a:rPr>
              <a:t>Program-data independence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lvl="1" algn="just"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Support </a:t>
            </a:r>
            <a:r>
              <a:rPr lang="en-US" dirty="0">
                <a:solidFill>
                  <a:srgbClr val="000000"/>
                </a:solidFill>
              </a:rPr>
              <a:t>of </a:t>
            </a:r>
            <a:r>
              <a:rPr lang="en-US" b="1" dirty="0">
                <a:solidFill>
                  <a:srgbClr val="000000"/>
                </a:solidFill>
              </a:rPr>
              <a:t>multiple views</a:t>
            </a:r>
            <a:r>
              <a:rPr lang="en-US" dirty="0">
                <a:solidFill>
                  <a:srgbClr val="000000"/>
                </a:solidFill>
              </a:rPr>
              <a:t> of the </a:t>
            </a:r>
            <a:r>
              <a:rPr lang="en-US" dirty="0" smtClean="0">
                <a:solidFill>
                  <a:srgbClr val="000000"/>
                </a:solidFill>
              </a:rPr>
              <a:t>data.	</a:t>
            </a:r>
          </a:p>
          <a:p>
            <a:pPr lvl="1" algn="just">
              <a:buFont typeface="Times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Use of a </a:t>
            </a:r>
            <a:r>
              <a:rPr lang="en-US" b="1" dirty="0" smtClean="0">
                <a:solidFill>
                  <a:schemeClr val="tx1"/>
                </a:solidFill>
              </a:rPr>
              <a:t>catalog</a:t>
            </a:r>
            <a:r>
              <a:rPr lang="en-US" dirty="0" smtClean="0">
                <a:solidFill>
                  <a:schemeClr val="tx1"/>
                </a:solidFill>
              </a:rPr>
              <a:t> to store the database description</a:t>
            </a:r>
            <a:endParaRPr lang="en-US" sz="3200" dirty="0" smtClean="0">
              <a:solidFill>
                <a:schemeClr val="tx1"/>
              </a:solidFill>
            </a:endParaRPr>
          </a:p>
          <a:p>
            <a:pPr lvl="1" algn="just"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Three Schema Architecture</a:t>
            </a:r>
            <a:endParaRPr lang="en-US" dirty="0"/>
          </a:p>
        </p:txBody>
      </p:sp>
      <p:pic>
        <p:nvPicPr>
          <p:cNvPr id="4" name="Picture 1029" descr="31755_FIG0202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71600" y="1981200"/>
            <a:ext cx="5961063" cy="4684713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Three-Schema Architecture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buFont typeface="Times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Goal is to separate the user application and the physical database:</a:t>
            </a:r>
            <a:r>
              <a:rPr lang="en-US" sz="2800" dirty="0">
                <a:solidFill>
                  <a:srgbClr val="000000"/>
                </a:solidFill>
              </a:rPr>
              <a:t>	</a:t>
            </a:r>
          </a:p>
          <a:p>
            <a:pPr lvl="1" algn="just">
              <a:lnSpc>
                <a:spcPct val="90000"/>
              </a:lnSpc>
              <a:buFont typeface="Times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Internal </a:t>
            </a:r>
            <a:r>
              <a:rPr lang="en-US" sz="2400" b="1" dirty="0" smtClean="0">
                <a:solidFill>
                  <a:srgbClr val="000000"/>
                </a:solidFill>
              </a:rPr>
              <a:t>schema</a:t>
            </a:r>
            <a:endParaRPr lang="en-US" sz="2400" dirty="0">
              <a:solidFill>
                <a:srgbClr val="000000"/>
              </a:solidFill>
            </a:endParaRPr>
          </a:p>
          <a:p>
            <a:pPr lvl="1" algn="just">
              <a:lnSpc>
                <a:spcPct val="90000"/>
              </a:lnSpc>
              <a:buFont typeface="Times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Conceptual </a:t>
            </a:r>
            <a:r>
              <a:rPr lang="en-US" sz="2400" b="1" dirty="0" smtClean="0">
                <a:solidFill>
                  <a:srgbClr val="000000"/>
                </a:solidFill>
              </a:rPr>
              <a:t>schema</a:t>
            </a:r>
            <a:endParaRPr lang="en-US" sz="2400" dirty="0">
              <a:solidFill>
                <a:srgbClr val="000000"/>
              </a:solidFill>
            </a:endParaRPr>
          </a:p>
          <a:p>
            <a:pPr lvl="1" algn="just">
              <a:lnSpc>
                <a:spcPct val="90000"/>
              </a:lnSpc>
              <a:buFont typeface="Times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External </a:t>
            </a:r>
            <a:r>
              <a:rPr lang="en-US" sz="2400" b="1" dirty="0" smtClean="0">
                <a:solidFill>
                  <a:srgbClr val="000000"/>
                </a:solidFill>
              </a:rPr>
              <a:t>schemas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 dirty="0" smtClean="0"/>
              <a:t>Internal schema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Times"/>
              <a:buChar char="•"/>
            </a:pPr>
            <a:r>
              <a:rPr lang="en-US" b="1" dirty="0" smtClean="0">
                <a:solidFill>
                  <a:srgbClr val="000000"/>
                </a:solidFill>
              </a:rPr>
              <a:t>Internal </a:t>
            </a:r>
            <a:r>
              <a:rPr lang="en-US" b="1" dirty="0">
                <a:solidFill>
                  <a:srgbClr val="000000"/>
                </a:solidFill>
              </a:rPr>
              <a:t>schema</a:t>
            </a:r>
            <a:r>
              <a:rPr lang="en-US" dirty="0">
                <a:solidFill>
                  <a:srgbClr val="000000"/>
                </a:solidFill>
              </a:rPr>
              <a:t> at the internal level to describe physical</a:t>
            </a:r>
            <a:r>
              <a:rPr lang="en-US" i="1" dirty="0">
                <a:solidFill>
                  <a:srgbClr val="000000"/>
                </a:solidFill>
              </a:rPr>
              <a:t> storage structures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i="1" dirty="0">
                <a:solidFill>
                  <a:srgbClr val="000000"/>
                </a:solidFill>
              </a:rPr>
              <a:t>access paths</a:t>
            </a:r>
            <a:r>
              <a:rPr lang="en-US" dirty="0">
                <a:solidFill>
                  <a:srgbClr val="000000"/>
                </a:solidFill>
              </a:rPr>
              <a:t>. Typically uses a </a:t>
            </a:r>
            <a:r>
              <a:rPr lang="en-US" i="1" dirty="0">
                <a:solidFill>
                  <a:srgbClr val="000000"/>
                </a:solidFill>
              </a:rPr>
              <a:t>physical</a:t>
            </a:r>
            <a:r>
              <a:rPr lang="en-US" dirty="0">
                <a:solidFill>
                  <a:srgbClr val="000000"/>
                </a:solidFill>
              </a:rPr>
              <a:t> data </a:t>
            </a:r>
            <a:r>
              <a:rPr lang="en-US" dirty="0" smtClean="0">
                <a:solidFill>
                  <a:srgbClr val="000000"/>
                </a:solidFill>
              </a:rPr>
              <a:t>model and describes the complete detail </a:t>
            </a:r>
            <a:r>
              <a:rPr lang="en-US" dirty="0" smtClean="0">
                <a:solidFill>
                  <a:srgbClr val="000000"/>
                </a:solidFill>
              </a:rPr>
              <a:t>of </a:t>
            </a:r>
            <a:r>
              <a:rPr lang="en-US" dirty="0" smtClean="0">
                <a:solidFill>
                  <a:srgbClr val="000000"/>
                </a:solidFill>
              </a:rPr>
              <a:t>the data storage.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 dirty="0" smtClean="0"/>
              <a:t>Conceptual schema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solidFill>
                  <a:srgbClr val="000000"/>
                </a:solidFill>
              </a:rPr>
              <a:t>Conceptual </a:t>
            </a:r>
            <a:r>
              <a:rPr lang="en-US" b="1" dirty="0">
                <a:solidFill>
                  <a:srgbClr val="000000"/>
                </a:solidFill>
              </a:rPr>
              <a:t>schema</a:t>
            </a:r>
            <a:r>
              <a:rPr lang="en-US" dirty="0">
                <a:solidFill>
                  <a:srgbClr val="000000"/>
                </a:solidFill>
              </a:rPr>
              <a:t> at the conceptual level to describe the structure and constraints for the </a:t>
            </a:r>
            <a:r>
              <a:rPr lang="en-US" i="1" dirty="0">
                <a:solidFill>
                  <a:srgbClr val="000000"/>
                </a:solidFill>
              </a:rPr>
              <a:t>whole</a:t>
            </a:r>
            <a:r>
              <a:rPr lang="en-US" dirty="0">
                <a:solidFill>
                  <a:srgbClr val="000000"/>
                </a:solidFill>
              </a:rPr>
              <a:t> database for a community of users. Uses a </a:t>
            </a:r>
            <a:r>
              <a:rPr lang="en-US" i="1" dirty="0">
                <a:solidFill>
                  <a:srgbClr val="000000"/>
                </a:solidFill>
              </a:rPr>
              <a:t>conceptual</a:t>
            </a:r>
            <a:r>
              <a:rPr lang="en-US" dirty="0">
                <a:solidFill>
                  <a:srgbClr val="000000"/>
                </a:solidFill>
              </a:rPr>
              <a:t> or an </a:t>
            </a:r>
            <a:r>
              <a:rPr lang="en-US" i="1" dirty="0">
                <a:solidFill>
                  <a:srgbClr val="000000"/>
                </a:solidFill>
              </a:rPr>
              <a:t>implementation</a:t>
            </a:r>
            <a:r>
              <a:rPr lang="en-US" dirty="0">
                <a:solidFill>
                  <a:srgbClr val="000000"/>
                </a:solidFill>
              </a:rPr>
              <a:t> data </a:t>
            </a:r>
            <a:r>
              <a:rPr lang="en-US" dirty="0" smtClean="0">
                <a:solidFill>
                  <a:srgbClr val="000000"/>
                </a:solidFill>
              </a:rPr>
              <a:t>model which </a:t>
            </a:r>
            <a:r>
              <a:rPr lang="en-US" dirty="0" smtClean="0"/>
              <a:t>hides the details of physical storage structures and concentrates on describing entities, data types, relationships, user operations, and constraints i.e. representational model</a:t>
            </a:r>
          </a:p>
          <a:p>
            <a:pPr algn="just">
              <a:lnSpc>
                <a:spcPct val="90000"/>
              </a:lnSpc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 dirty="0" smtClean="0"/>
              <a:t>External schema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5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solidFill>
                  <a:srgbClr val="000000"/>
                </a:solidFill>
              </a:rPr>
              <a:t>External </a:t>
            </a:r>
            <a:r>
              <a:rPr lang="en-US" b="1" dirty="0">
                <a:solidFill>
                  <a:srgbClr val="000000"/>
                </a:solidFill>
              </a:rPr>
              <a:t>schemas</a:t>
            </a:r>
            <a:r>
              <a:rPr lang="en-US" dirty="0">
                <a:solidFill>
                  <a:srgbClr val="000000"/>
                </a:solidFill>
              </a:rPr>
              <a:t> at the external </a:t>
            </a:r>
            <a:r>
              <a:rPr lang="en-US" dirty="0" smtClean="0">
                <a:solidFill>
                  <a:srgbClr val="000000"/>
                </a:solidFill>
              </a:rPr>
              <a:t>or view level </a:t>
            </a:r>
            <a:r>
              <a:rPr lang="en-US" dirty="0">
                <a:solidFill>
                  <a:srgbClr val="000000"/>
                </a:solidFill>
              </a:rPr>
              <a:t>to describe the various user views. Usually uses the same data model as the conceptual level</a:t>
            </a:r>
            <a:r>
              <a:rPr lang="en-US" dirty="0" smtClean="0">
                <a:solidFill>
                  <a:srgbClr val="000000"/>
                </a:solidFill>
              </a:rPr>
              <a:t>. </a:t>
            </a:r>
            <a:r>
              <a:rPr lang="en-US" dirty="0" smtClean="0"/>
              <a:t>Describes the part of the database that a  particular user group is interested in and hides the rest of the database from that user group.</a:t>
            </a:r>
          </a:p>
          <a:p>
            <a:pPr algn="just">
              <a:lnSpc>
                <a:spcPct val="90000"/>
              </a:lnSpc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146" y="471055"/>
            <a:ext cx="7696200" cy="1143000"/>
          </a:xfrm>
        </p:spPr>
        <p:txBody>
          <a:bodyPr>
            <a:noAutofit/>
          </a:bodyPr>
          <a:lstStyle/>
          <a:p>
            <a:r>
              <a:rPr lang="en-GB" sz="3600" dirty="0" smtClean="0"/>
              <a:t>Differences between Three Levels of ANSI-SPARC Architecture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1030" descr="C02NF0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828800"/>
            <a:ext cx="5886450" cy="4824412"/>
          </a:xfrm>
          <a:noFill/>
        </p:spPr>
      </p:pic>
    </p:spTree>
    <p:extLst>
      <p:ext uri="{BB962C8B-B14F-4D97-AF65-F5344CB8AC3E}">
        <p14:creationId xmlns:p14="http://schemas.microsoft.com/office/powerpoint/2010/main" val="301854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Three-Schema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three schemas are only </a:t>
            </a:r>
            <a:r>
              <a:rPr lang="en-US" i="1" dirty="0" smtClean="0"/>
              <a:t>descriptions of data; the only data that actually </a:t>
            </a:r>
            <a:r>
              <a:rPr lang="en-US" dirty="0" smtClean="0"/>
              <a:t>exists is at the physical level.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In a DBMS based on the three-schema architecture, each user group refers only to its own external schema.</a:t>
            </a:r>
          </a:p>
          <a:p>
            <a:endParaRPr lang="en-US" dirty="0" smtClean="0"/>
          </a:p>
          <a:p>
            <a:r>
              <a:rPr lang="en-US" dirty="0" smtClean="0"/>
              <a:t>Hence</a:t>
            </a:r>
            <a:r>
              <a:rPr lang="en-US" dirty="0"/>
              <a:t>, the DBMS must transform a request </a:t>
            </a:r>
            <a:r>
              <a:rPr lang="en-US" dirty="0" smtClean="0"/>
              <a:t>specified on </a:t>
            </a:r>
            <a:r>
              <a:rPr lang="en-US" dirty="0"/>
              <a:t>an external schema into a request against the conceptual schema, and then </a:t>
            </a:r>
            <a:r>
              <a:rPr lang="en-US" dirty="0" smtClean="0"/>
              <a:t>into a </a:t>
            </a:r>
            <a:r>
              <a:rPr lang="en-US" dirty="0"/>
              <a:t>request on the internal schema for processing over the stored database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smtClean="0"/>
              <a:t>the request </a:t>
            </a:r>
            <a:r>
              <a:rPr lang="en-US" dirty="0"/>
              <a:t>is a database retrieval, the data extracted from the stored database must </a:t>
            </a:r>
            <a:r>
              <a:rPr lang="en-US" dirty="0" smtClean="0"/>
              <a:t>be reformatted </a:t>
            </a:r>
            <a:r>
              <a:rPr lang="en-US" dirty="0"/>
              <a:t>to match the user’s external view.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 dirty="0"/>
              <a:t>Three-Schema Architecture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526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 eaLnBrk="0" hangingPunct="0">
              <a:spcBef>
                <a:spcPct val="0"/>
              </a:spcBef>
              <a:buClrTx/>
              <a:buFontTx/>
              <a:buNone/>
            </a:pPr>
            <a:r>
              <a:rPr lang="en-US" b="1" dirty="0">
                <a:solidFill>
                  <a:srgbClr val="000000"/>
                </a:solidFill>
              </a:rPr>
              <a:t>Mappings</a:t>
            </a:r>
            <a:r>
              <a:rPr lang="en-US" dirty="0">
                <a:solidFill>
                  <a:srgbClr val="000000"/>
                </a:solidFill>
              </a:rPr>
              <a:t> among schema levels are needed to transform requests and data. Programs refer to an external schema, and are mapped by the DBMS to the internal schema for execution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dirty="0" smtClean="0"/>
              <a:t>These mappings may be time-consuming, so some DBMSs-especially those that are meant to support small databases-do not support external views. Even in such systems, however, a certain amount of </a:t>
            </a:r>
            <a:r>
              <a:rPr lang="en-US" b="1" dirty="0" smtClean="0"/>
              <a:t>mapping</a:t>
            </a:r>
            <a:r>
              <a:rPr lang="en-US" dirty="0" smtClean="0"/>
              <a:t> is necessary to transform requests between the conceptual and internal levels.</a:t>
            </a:r>
          </a:p>
          <a:p>
            <a:pPr algn="just" eaLnBrk="0" hangingPunct="0">
              <a:spcBef>
                <a:spcPct val="0"/>
              </a:spcBef>
              <a:buClrTx/>
              <a:buFontTx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Data Independence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Defined as capacity to change the schema at one level of a database system without having to change the schema at the next higher level. </a:t>
            </a:r>
          </a:p>
          <a:p>
            <a:pPr algn="just"/>
            <a:r>
              <a:rPr lang="en-US" dirty="0" smtClean="0"/>
              <a:t>We can define two types of Data independence:</a:t>
            </a:r>
          </a:p>
          <a:p>
            <a:pPr lvl="1" algn="just">
              <a:buFont typeface="Times"/>
              <a:buChar char="•"/>
            </a:pPr>
            <a:endParaRPr lang="en-US" b="1" dirty="0" smtClean="0">
              <a:solidFill>
                <a:srgbClr val="000000"/>
              </a:solidFill>
            </a:endParaRPr>
          </a:p>
          <a:p>
            <a:pPr lvl="1" algn="just">
              <a:buFont typeface="Times"/>
              <a:buChar char="•"/>
            </a:pPr>
            <a:r>
              <a:rPr lang="en-US" b="1" dirty="0" smtClean="0">
                <a:solidFill>
                  <a:srgbClr val="000000"/>
                </a:solidFill>
              </a:rPr>
              <a:t>Logical </a:t>
            </a:r>
            <a:r>
              <a:rPr lang="en-US" b="1" dirty="0">
                <a:solidFill>
                  <a:srgbClr val="000000"/>
                </a:solidFill>
              </a:rPr>
              <a:t>Data </a:t>
            </a:r>
            <a:r>
              <a:rPr lang="en-US" b="1" dirty="0" smtClean="0">
                <a:solidFill>
                  <a:srgbClr val="000000"/>
                </a:solidFill>
              </a:rPr>
              <a:t>Independence</a:t>
            </a:r>
            <a:endParaRPr lang="en-US" dirty="0">
              <a:solidFill>
                <a:srgbClr val="000000"/>
              </a:solidFill>
            </a:endParaRPr>
          </a:p>
          <a:p>
            <a:pPr lvl="1" algn="just">
              <a:buFont typeface="Times"/>
              <a:buChar char="•"/>
            </a:pPr>
            <a:endParaRPr lang="en-US" b="1" dirty="0" smtClean="0">
              <a:solidFill>
                <a:srgbClr val="000000"/>
              </a:solidFill>
            </a:endParaRPr>
          </a:p>
          <a:p>
            <a:pPr lvl="1" algn="just">
              <a:buFont typeface="Times"/>
              <a:buChar char="•"/>
            </a:pPr>
            <a:r>
              <a:rPr lang="en-US" b="1" dirty="0" smtClean="0">
                <a:solidFill>
                  <a:srgbClr val="000000"/>
                </a:solidFill>
              </a:rPr>
              <a:t>Physical </a:t>
            </a:r>
            <a:r>
              <a:rPr lang="en-US" b="1" dirty="0">
                <a:solidFill>
                  <a:srgbClr val="000000"/>
                </a:solidFill>
              </a:rPr>
              <a:t>Data </a:t>
            </a:r>
            <a:r>
              <a:rPr lang="en-US" b="1" dirty="0" smtClean="0">
                <a:solidFill>
                  <a:srgbClr val="000000"/>
                </a:solidFill>
              </a:rPr>
              <a:t>Independence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 dirty="0" smtClean="0"/>
              <a:t>Logical Data </a:t>
            </a:r>
            <a:r>
              <a:rPr lang="en-US" dirty="0"/>
              <a:t>Independence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</a:rPr>
              <a:t>Logical Data Independence</a:t>
            </a:r>
            <a:r>
              <a:rPr lang="en-US" dirty="0">
                <a:solidFill>
                  <a:srgbClr val="000000"/>
                </a:solidFill>
              </a:rPr>
              <a:t>: The capacity to change the conceptual schema without having to change the external schemas and their application programs</a:t>
            </a:r>
            <a:r>
              <a:rPr lang="en-US" dirty="0" smtClean="0">
                <a:solidFill>
                  <a:srgbClr val="000000"/>
                </a:solidFill>
              </a:rPr>
              <a:t>. </a:t>
            </a:r>
          </a:p>
          <a:p>
            <a:pPr algn="just"/>
            <a:r>
              <a:rPr lang="en-US" dirty="0" smtClean="0">
                <a:solidFill>
                  <a:srgbClr val="000000"/>
                </a:solidFill>
              </a:rPr>
              <a:t>For example, w</a:t>
            </a:r>
            <a:r>
              <a:rPr lang="en-US" dirty="0" smtClean="0"/>
              <a:t>e may change the conceptual schema to expand the database (by adding a record type or data item), to change constraints, or to reduce the database (by removing a record type or data item). In the last case, external schemas that refer only to the remaining data should not be affected.</a:t>
            </a:r>
          </a:p>
          <a:p>
            <a:pPr algn="just"/>
            <a:r>
              <a:rPr lang="en-US" dirty="0" smtClean="0"/>
              <a:t>Only the view definition and mappings need be changed in a DBMS that supports logical Data Independence</a:t>
            </a:r>
          </a:p>
          <a:p>
            <a:pPr algn="just"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Data Independence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905000"/>
            <a:ext cx="59055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3810000"/>
            <a:ext cx="45243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5353050"/>
            <a:ext cx="63341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 dirty="0" smtClean="0"/>
              <a:t>Physical Data </a:t>
            </a:r>
            <a:r>
              <a:rPr lang="en-US" dirty="0"/>
              <a:t>Independence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solidFill>
                  <a:srgbClr val="000000"/>
                </a:solidFill>
              </a:rPr>
              <a:t>Physical </a:t>
            </a:r>
            <a:r>
              <a:rPr lang="en-US" b="1" dirty="0">
                <a:solidFill>
                  <a:srgbClr val="000000"/>
                </a:solidFill>
              </a:rPr>
              <a:t>Data Independence</a:t>
            </a:r>
            <a:r>
              <a:rPr lang="en-US" dirty="0">
                <a:solidFill>
                  <a:srgbClr val="000000"/>
                </a:solidFill>
              </a:rPr>
              <a:t>: The capacity to change the internal schema without having to change the conceptual schema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  <a:r>
              <a:rPr lang="en-US" dirty="0" smtClean="0"/>
              <a:t> Changes to the internal schema may be needed because some physical files had to be reorganized-for example, by creating additional access structures-to improve the performance of retrieval or update. If the same data as before remains in the database, we should not have to change the conceptual schema.</a:t>
            </a:r>
          </a:p>
          <a:p>
            <a:pPr algn="just"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Data Independence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1" y="2681288"/>
            <a:ext cx="5900738" cy="196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Data Independence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27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0" hangingPunct="0">
              <a:spcBef>
                <a:spcPct val="0"/>
              </a:spcBef>
              <a:buClrTx/>
            </a:pPr>
            <a:r>
              <a:rPr lang="en-US" dirty="0">
                <a:solidFill>
                  <a:srgbClr val="000000"/>
                </a:solidFill>
              </a:rPr>
              <a:t>When a schema at a lower level is changed, only the </a:t>
            </a:r>
            <a:r>
              <a:rPr lang="en-US" b="1" dirty="0">
                <a:solidFill>
                  <a:srgbClr val="000000"/>
                </a:solidFill>
              </a:rPr>
              <a:t>mappings</a:t>
            </a:r>
            <a:r>
              <a:rPr lang="en-US" dirty="0">
                <a:solidFill>
                  <a:srgbClr val="000000"/>
                </a:solidFill>
              </a:rPr>
              <a:t> between this schema and higher-level schemas need to be changed in a DBMS that fully supports data independence. The higher-level schemas themselves are </a:t>
            </a:r>
            <a:r>
              <a:rPr lang="en-US" i="1" dirty="0">
                <a:solidFill>
                  <a:srgbClr val="000000"/>
                </a:solidFill>
              </a:rPr>
              <a:t>unchanged</a:t>
            </a:r>
            <a:r>
              <a:rPr lang="en-US" dirty="0">
                <a:solidFill>
                  <a:srgbClr val="000000"/>
                </a:solidFill>
              </a:rPr>
              <a:t>.  Hence, the application programs </a:t>
            </a:r>
            <a:r>
              <a:rPr lang="en-US" dirty="0" smtClean="0">
                <a:solidFill>
                  <a:srgbClr val="000000"/>
                </a:solidFill>
              </a:rPr>
              <a:t>referring </a:t>
            </a:r>
            <a:r>
              <a:rPr lang="en-US" dirty="0">
                <a:solidFill>
                  <a:srgbClr val="000000"/>
                </a:solidFill>
              </a:rPr>
              <a:t>to the higher-level  schema need not be </a:t>
            </a:r>
            <a:r>
              <a:rPr lang="en-US" dirty="0" smtClean="0">
                <a:solidFill>
                  <a:srgbClr val="000000"/>
                </a:solidFill>
              </a:rPr>
              <a:t>changed.</a:t>
            </a:r>
          </a:p>
          <a:p>
            <a:pPr algn="just" eaLnBrk="0" hangingPunct="0">
              <a:spcBef>
                <a:spcPct val="0"/>
              </a:spcBef>
              <a:buClrTx/>
            </a:pPr>
            <a:r>
              <a:rPr lang="en-US" dirty="0" smtClean="0">
                <a:solidFill>
                  <a:srgbClr val="000000"/>
                </a:solidFill>
              </a:rPr>
              <a:t>Physical data independence (exact location of data, hardware details, compression</a:t>
            </a:r>
            <a:r>
              <a:rPr lang="en-US" smtClean="0">
                <a:solidFill>
                  <a:srgbClr val="000000"/>
                </a:solidFill>
              </a:rPr>
              <a:t>, splitting) exists </a:t>
            </a:r>
            <a:r>
              <a:rPr lang="en-US" dirty="0" smtClean="0">
                <a:solidFill>
                  <a:srgbClr val="000000"/>
                </a:solidFill>
              </a:rPr>
              <a:t>in most </a:t>
            </a:r>
            <a:r>
              <a:rPr lang="en-US" smtClean="0">
                <a:solidFill>
                  <a:srgbClr val="000000"/>
                </a:solidFill>
              </a:rPr>
              <a:t>databases and </a:t>
            </a:r>
            <a:r>
              <a:rPr lang="en-US" dirty="0" smtClean="0">
                <a:solidFill>
                  <a:srgbClr val="000000"/>
                </a:solidFill>
              </a:rPr>
              <a:t>file environments, however conceptual data independence is very hard to come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three-schema architecture can make it easier to achieve true data independence, both physical and logical. </a:t>
            </a:r>
          </a:p>
          <a:p>
            <a:pPr algn="just"/>
            <a:r>
              <a:rPr lang="en-US" dirty="0" smtClean="0"/>
              <a:t>However, the two levels of mappings create an overhead during compilation or execution of a query or program, leading to inefficiencies in the DBMS. Because of this, few DBMSs have implemented the full three-schema architecture.</a:t>
            </a:r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261</TotalTime>
  <Words>850</Words>
  <Application>Microsoft Office PowerPoint</Application>
  <PresentationFormat>On-screen Show (4:3)</PresentationFormat>
  <Paragraphs>95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Urban</vt:lpstr>
      <vt:lpstr>Database Systems </vt:lpstr>
      <vt:lpstr>Today’s agenda</vt:lpstr>
      <vt:lpstr>Three-Schema Architecture</vt:lpstr>
      <vt:lpstr>The Three Schema Architecture</vt:lpstr>
      <vt:lpstr>Three-Schema Architecture</vt:lpstr>
      <vt:lpstr>Internal schema</vt:lpstr>
      <vt:lpstr>Conceptual schema</vt:lpstr>
      <vt:lpstr>External schema</vt:lpstr>
      <vt:lpstr>Differences between Three Levels of ANSI-SPARC Architecture</vt:lpstr>
      <vt:lpstr>Three-Schema Architecture</vt:lpstr>
      <vt:lpstr>Three-Schema Architecture</vt:lpstr>
      <vt:lpstr>Data Independence</vt:lpstr>
      <vt:lpstr>Logical Data Independence</vt:lpstr>
      <vt:lpstr>Logical Data Independence</vt:lpstr>
      <vt:lpstr>Physical Data Independence</vt:lpstr>
      <vt:lpstr>Physical Data Independence</vt:lpstr>
      <vt:lpstr>Data Independence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23</cp:revision>
  <dcterms:created xsi:type="dcterms:W3CDTF">2006-08-16T00:00:00Z</dcterms:created>
  <dcterms:modified xsi:type="dcterms:W3CDTF">2020-02-20T04:43:48Z</dcterms:modified>
</cp:coreProperties>
</file>
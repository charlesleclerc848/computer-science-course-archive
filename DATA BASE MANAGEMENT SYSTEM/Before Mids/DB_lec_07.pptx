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67" r:id="rId2"/>
    <p:sldId id="268" r:id="rId3"/>
    <p:sldId id="256" r:id="rId4"/>
    <p:sldId id="269" r:id="rId5"/>
    <p:sldId id="257" r:id="rId6"/>
    <p:sldId id="258" r:id="rId7"/>
    <p:sldId id="259" r:id="rId8"/>
    <p:sldId id="260" r:id="rId9"/>
    <p:sldId id="261" r:id="rId10"/>
    <p:sldId id="282" r:id="rId11"/>
    <p:sldId id="283" r:id="rId12"/>
    <p:sldId id="262" r:id="rId13"/>
    <p:sldId id="263" r:id="rId14"/>
    <p:sldId id="272" r:id="rId15"/>
    <p:sldId id="275" r:id="rId16"/>
    <p:sldId id="276" r:id="rId17"/>
    <p:sldId id="277" r:id="rId18"/>
    <p:sldId id="278" r:id="rId19"/>
    <p:sldId id="279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00" y="3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EE5BB-6DE6-4258-94D5-3FDBA1A08362}" type="datetimeFigureOut">
              <a:rPr lang="en-US" smtClean="0"/>
              <a:pPr/>
              <a:t>9/28/2023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9DB703-8841-4D7D-9C1C-73124840DE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88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892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9DB703-8841-4D7D-9C1C-73124840DEA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0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Centralized and Client/Server Architecture and Classification of DBMS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7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Centralized and Client/Server Architecture  for DBMS</a:t>
            </a:r>
          </a:p>
          <a:p>
            <a:pPr lvl="1"/>
            <a:r>
              <a:rPr lang="en-US" dirty="0" smtClean="0"/>
              <a:t>Basic client/server architecture</a:t>
            </a:r>
          </a:p>
          <a:p>
            <a:pPr lvl="1"/>
            <a:r>
              <a:rPr lang="en-US" dirty="0" smtClean="0"/>
              <a:t>Two –tier client/server architecture</a:t>
            </a:r>
          </a:p>
          <a:p>
            <a:pPr lvl="1"/>
            <a:r>
              <a:rPr lang="en-US" dirty="0" smtClean="0"/>
              <a:t>Three –tier client/server architecture</a:t>
            </a:r>
          </a:p>
          <a:p>
            <a:r>
              <a:rPr lang="en-US" dirty="0" smtClean="0"/>
              <a:t>Classification of DBMS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Font typeface="Times"/>
              <a:buNone/>
            </a:pPr>
            <a:r>
              <a:rPr lang="en-US"/>
              <a:t>Centralized and Client-Server Architectures</a:t>
            </a:r>
            <a:r>
              <a:rPr lang="en-US" b="1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endParaRPr lang="en-US" b="1" dirty="0" smtClean="0">
              <a:solidFill>
                <a:srgbClr val="000000"/>
              </a:solidFill>
            </a:endParaRPr>
          </a:p>
          <a:p>
            <a:pPr marL="109728" indent="0">
              <a:buNone/>
            </a:pPr>
            <a:r>
              <a:rPr lang="en-US" b="1" dirty="0" smtClean="0">
                <a:solidFill>
                  <a:srgbClr val="000000"/>
                </a:solidFill>
              </a:rPr>
              <a:t>Centralized </a:t>
            </a:r>
            <a:r>
              <a:rPr lang="en-US" b="1" dirty="0">
                <a:solidFill>
                  <a:srgbClr val="000000"/>
                </a:solidFill>
              </a:rPr>
              <a:t>DBMS: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 smtClean="0">
              <a:solidFill>
                <a:srgbClr val="000000"/>
              </a:solidFill>
            </a:endParaRPr>
          </a:p>
          <a:p>
            <a:pPr marL="109728" indent="0"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marL="109728" indent="0">
              <a:buNone/>
            </a:pPr>
            <a:r>
              <a:rPr lang="en-US" dirty="0">
                <a:solidFill>
                  <a:srgbClr val="000000"/>
                </a:solidFill>
              </a:rPr>
              <a:t>C</a:t>
            </a:r>
            <a:r>
              <a:rPr lang="en-US" dirty="0" smtClean="0">
                <a:solidFill>
                  <a:srgbClr val="000000"/>
                </a:solidFill>
              </a:rPr>
              <a:t>ombines </a:t>
            </a:r>
            <a:r>
              <a:rPr lang="en-US" dirty="0">
                <a:solidFill>
                  <a:srgbClr val="000000"/>
                </a:solidFill>
              </a:rPr>
              <a:t>everything into single system </a:t>
            </a:r>
            <a:r>
              <a:rPr lang="en-US" dirty="0" smtClean="0">
                <a:solidFill>
                  <a:srgbClr val="000000"/>
                </a:solidFill>
              </a:rPr>
              <a:t>including- </a:t>
            </a:r>
            <a:r>
              <a:rPr lang="en-US" dirty="0">
                <a:solidFill>
                  <a:srgbClr val="000000"/>
                </a:solidFill>
              </a:rPr>
              <a:t>DBMS software, hardware, application programs and user interface processing software.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physical centralized architecture.</a:t>
            </a:r>
            <a:endParaRPr lang="en-US" dirty="0"/>
          </a:p>
        </p:txBody>
      </p:sp>
      <p:pic>
        <p:nvPicPr>
          <p:cNvPr id="4" name="Picture 5" descr="31755_FIG1701a.gif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24000" y="1955800"/>
            <a:ext cx="5995987" cy="49022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Basic Client-Server Architectures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1097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249424"/>
            <a:ext cx="8686800" cy="4325112"/>
          </a:xfrm>
        </p:spPr>
        <p:txBody>
          <a:bodyPr>
            <a:normAutofit/>
          </a:bodyPr>
          <a:lstStyle/>
          <a:p>
            <a:pPr>
              <a:buFont typeface="Times"/>
              <a:buChar char="•"/>
            </a:pPr>
            <a:r>
              <a:rPr lang="en-US" sz="2400" b="1" dirty="0">
                <a:solidFill>
                  <a:srgbClr val="000000"/>
                </a:solidFill>
              </a:rPr>
              <a:t>Specialized Servers with Specialized functions</a:t>
            </a:r>
          </a:p>
          <a:p>
            <a:pPr>
              <a:buFont typeface="Times"/>
              <a:buChar char="•"/>
            </a:pPr>
            <a:endParaRPr lang="en-US" sz="2400" b="1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sz="2400" b="1" dirty="0" smtClean="0">
                <a:solidFill>
                  <a:srgbClr val="000000"/>
                </a:solidFill>
              </a:rPr>
              <a:t>Clients</a:t>
            </a:r>
            <a:endParaRPr lang="en-US" sz="2400" b="1" dirty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endParaRPr lang="en-US" sz="2400" b="1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sz="2400" b="1" dirty="0" smtClean="0">
                <a:solidFill>
                  <a:srgbClr val="000000"/>
                </a:solidFill>
              </a:rPr>
              <a:t>DBMS </a:t>
            </a:r>
            <a:r>
              <a:rPr lang="en-US" sz="2400" b="1" dirty="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Font typeface="Times"/>
              <a:buNone/>
            </a:pPr>
            <a:r>
              <a:rPr lang="en-US"/>
              <a:t>Specialized Servers with Specialized functions:</a:t>
            </a:r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38400"/>
            <a:ext cx="8229600" cy="4136136"/>
          </a:xfrm>
        </p:spPr>
        <p:txBody>
          <a:bodyPr/>
          <a:lstStyle/>
          <a:p>
            <a:pPr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File Servers</a:t>
            </a:r>
          </a:p>
          <a:p>
            <a:pPr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Printer Servers</a:t>
            </a:r>
          </a:p>
          <a:p>
            <a:pPr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Web Servers</a:t>
            </a:r>
          </a:p>
          <a:p>
            <a:pPr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E-mail Servers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Clients:</a:t>
            </a:r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Provide appropriate interfaces and a client-version of the system to access and utilize the server resources. 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Clients maybe diskless machines or PCs or Workstations with disks with only the client software installed.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Connected to the servers via some form of a network.</a:t>
            </a:r>
            <a:br>
              <a:rPr lang="en-US" sz="2800" dirty="0">
                <a:solidFill>
                  <a:srgbClr val="000000"/>
                </a:solidFill>
              </a:rPr>
            </a:br>
            <a:r>
              <a:rPr lang="en-US" sz="2800" dirty="0" smtClean="0">
                <a:solidFill>
                  <a:srgbClr val="000000"/>
                </a:solidFill>
              </a:rPr>
              <a:t>(</a:t>
            </a:r>
            <a:r>
              <a:rPr lang="en-US" sz="2800" dirty="0">
                <a:solidFill>
                  <a:srgbClr val="000000"/>
                </a:solidFill>
              </a:rPr>
              <a:t>LAN: local area network, wireless network,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DBMS Server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15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Provides database query and transaction services to the </a:t>
            </a:r>
            <a:r>
              <a:rPr lang="en-US" dirty="0" smtClean="0">
                <a:solidFill>
                  <a:srgbClr val="000000"/>
                </a:solidFill>
              </a:rPr>
              <a:t>clients</a:t>
            </a:r>
          </a:p>
          <a:p>
            <a:pPr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dirty="0">
                <a:solidFill>
                  <a:srgbClr val="000000"/>
                </a:solidFill>
              </a:rPr>
              <a:t>Sometimes called query and transaction servers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Two Tier Client-Server Architecture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18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Times"/>
              <a:buChar char="•"/>
            </a:pPr>
            <a:r>
              <a:rPr lang="en-US" b="1" dirty="0">
                <a:solidFill>
                  <a:srgbClr val="000000"/>
                </a:solidFill>
              </a:rPr>
              <a:t>User Interface Programs and Application Programs </a:t>
            </a:r>
            <a:r>
              <a:rPr lang="en-US" dirty="0">
                <a:solidFill>
                  <a:srgbClr val="000000"/>
                </a:solidFill>
              </a:rPr>
              <a:t>run on the client side</a:t>
            </a:r>
          </a:p>
          <a:p>
            <a:pPr>
              <a:buFont typeface="Times"/>
              <a:buChar char="•"/>
            </a:pPr>
            <a:endParaRPr lang="en-US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Interface </a:t>
            </a:r>
            <a:r>
              <a:rPr lang="en-US" dirty="0">
                <a:solidFill>
                  <a:srgbClr val="000000"/>
                </a:solidFill>
              </a:rPr>
              <a:t>called</a:t>
            </a:r>
            <a:r>
              <a:rPr lang="en-US" b="1" dirty="0">
                <a:solidFill>
                  <a:srgbClr val="000000"/>
                </a:solidFill>
              </a:rPr>
              <a:t> ODBC (Open Database Connectivity </a:t>
            </a:r>
            <a:r>
              <a:rPr lang="en-US" b="1" dirty="0" smtClean="0">
                <a:solidFill>
                  <a:srgbClr val="000000"/>
                </a:solidFill>
              </a:rPr>
              <a:t>) </a:t>
            </a:r>
            <a:r>
              <a:rPr lang="en-US" dirty="0">
                <a:solidFill>
                  <a:srgbClr val="000000"/>
                </a:solidFill>
              </a:rPr>
              <a:t>provides an Application program interface (API</a:t>
            </a:r>
            <a:r>
              <a:rPr lang="en-US" dirty="0" smtClean="0">
                <a:solidFill>
                  <a:srgbClr val="000000"/>
                </a:solidFill>
              </a:rPr>
              <a:t>), which allows </a:t>
            </a:r>
            <a:r>
              <a:rPr lang="en-US" dirty="0">
                <a:solidFill>
                  <a:srgbClr val="000000"/>
                </a:solidFill>
              </a:rPr>
              <a:t>client side programs to call the DBMS. Most DBMS vendors provide ODBC drivers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  <a:p>
            <a:pPr>
              <a:buFont typeface="Times"/>
              <a:buChar char="•"/>
            </a:pPr>
            <a:endParaRPr lang="en-US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A </a:t>
            </a:r>
            <a:r>
              <a:rPr lang="en-US" dirty="0">
                <a:solidFill>
                  <a:srgbClr val="000000"/>
                </a:solidFill>
              </a:rPr>
              <a:t>client program may connect to several DBMSs.</a:t>
            </a:r>
          </a:p>
          <a:p>
            <a:pPr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Logical two-tier client/server architecture</a:t>
            </a:r>
            <a:endParaRPr lang="en-US" dirty="0"/>
          </a:p>
        </p:txBody>
      </p:sp>
      <p:pic>
        <p:nvPicPr>
          <p:cNvPr id="4" name="Picture 4" descr="31755_FIG1701b.gif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2760663"/>
            <a:ext cx="7772400" cy="2555875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47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Physical two-tier client-server architecture.</a:t>
            </a:r>
            <a:endParaRPr lang="en-US" dirty="0"/>
          </a:p>
        </p:txBody>
      </p:sp>
      <p:pic>
        <p:nvPicPr>
          <p:cNvPr id="4" name="Picture 4" descr="31755_FIG1701c.gif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2032000"/>
            <a:ext cx="6121400" cy="48260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2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"/>
              <a:buNone/>
            </a:pPr>
            <a:r>
              <a:rPr lang="en-US"/>
              <a:t>Two Tier Client-Server Architecture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30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Times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Other </a:t>
            </a:r>
            <a:r>
              <a:rPr lang="en-US" sz="2800" dirty="0">
                <a:solidFill>
                  <a:srgbClr val="000000"/>
                </a:solidFill>
              </a:rPr>
              <a:t>variations of </a:t>
            </a:r>
            <a:r>
              <a:rPr lang="en-US" sz="2800" dirty="0" smtClean="0">
                <a:solidFill>
                  <a:srgbClr val="000000"/>
                </a:solidFill>
              </a:rPr>
              <a:t>client/server architecture are </a:t>
            </a:r>
            <a:r>
              <a:rPr lang="en-US" sz="2800" dirty="0">
                <a:solidFill>
                  <a:srgbClr val="000000"/>
                </a:solidFill>
              </a:rPr>
              <a:t>possible: </a:t>
            </a:r>
            <a:r>
              <a:rPr lang="en-US" sz="2800" dirty="0" smtClean="0">
                <a:solidFill>
                  <a:srgbClr val="000000"/>
                </a:solidFill>
              </a:rPr>
              <a:t>software module of DBMS were divided between client and server in more integrated way, e.g.,</a:t>
            </a:r>
          </a:p>
          <a:p>
            <a:pPr>
              <a:buFont typeface="Times"/>
              <a:buChar char="•"/>
            </a:pPr>
            <a:endParaRPr lang="en-US" dirty="0" smtClean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Servers may include the part of DBMS software responsible for handling data storage on disk pages, buffering and caching of disk pages, etc.,</a:t>
            </a:r>
          </a:p>
          <a:p>
            <a:pPr>
              <a:buFont typeface="Times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>
              <a:buFont typeface="Times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In some </a:t>
            </a:r>
            <a:r>
              <a:rPr lang="en-US" sz="2800" dirty="0">
                <a:solidFill>
                  <a:srgbClr val="000000"/>
                </a:solidFill>
              </a:rPr>
              <a:t>DBMSs, more functionality is transferred to clients </a:t>
            </a:r>
            <a:r>
              <a:rPr lang="en-US" dirty="0" smtClean="0">
                <a:solidFill>
                  <a:srgbClr val="000000"/>
                </a:solidFill>
              </a:rPr>
              <a:t>such as handling </a:t>
            </a:r>
            <a:r>
              <a:rPr lang="en-US" sz="2800" dirty="0" smtClean="0">
                <a:solidFill>
                  <a:srgbClr val="000000"/>
                </a:solidFill>
              </a:rPr>
              <a:t>user interface, data </a:t>
            </a:r>
            <a:r>
              <a:rPr lang="en-US" sz="2800" dirty="0">
                <a:solidFill>
                  <a:srgbClr val="000000"/>
                </a:solidFill>
              </a:rPr>
              <a:t>dictionary functions, </a:t>
            </a:r>
            <a:r>
              <a:rPr lang="en-US" sz="2800" dirty="0" smtClean="0">
                <a:solidFill>
                  <a:srgbClr val="000000"/>
                </a:solidFill>
              </a:rPr>
              <a:t>concurrency control, optimization </a:t>
            </a:r>
            <a:r>
              <a:rPr lang="en-US" sz="2800" dirty="0">
                <a:solidFill>
                  <a:srgbClr val="000000"/>
                </a:solidFill>
              </a:rPr>
              <a:t>and recovery across multiple servers, etc. In such situations the server may be called the </a:t>
            </a:r>
            <a:r>
              <a:rPr lang="en-US" sz="2800" b="1" dirty="0">
                <a:solidFill>
                  <a:srgbClr val="000000"/>
                </a:solidFill>
              </a:rPr>
              <a:t>Data </a:t>
            </a:r>
            <a:r>
              <a:rPr lang="en-US" sz="2800" b="1" dirty="0" smtClean="0">
                <a:solidFill>
                  <a:srgbClr val="000000"/>
                </a:solidFill>
              </a:rPr>
              <a:t>Server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Font typeface="Times"/>
              <a:buNone/>
            </a:pPr>
            <a:r>
              <a:rPr lang="en-US"/>
              <a:t>Three Tier Client-Server Architecture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255000" cy="4572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Common for</a:t>
            </a:r>
            <a:r>
              <a:rPr lang="en-US" sz="2800" b="1" dirty="0">
                <a:solidFill>
                  <a:srgbClr val="000000"/>
                </a:solidFill>
              </a:rPr>
              <a:t> Web applications</a:t>
            </a: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Intermediate Layer called</a:t>
            </a:r>
            <a:r>
              <a:rPr lang="en-US" sz="2800" b="1" dirty="0">
                <a:solidFill>
                  <a:srgbClr val="000000"/>
                </a:solidFill>
              </a:rPr>
              <a:t> Application Server </a:t>
            </a:r>
            <a:r>
              <a:rPr lang="en-US" sz="2800" dirty="0">
                <a:solidFill>
                  <a:srgbClr val="000000"/>
                </a:solidFill>
              </a:rPr>
              <a:t>or</a:t>
            </a:r>
            <a:r>
              <a:rPr lang="en-US" sz="2800" b="1" dirty="0">
                <a:solidFill>
                  <a:srgbClr val="000000"/>
                </a:solidFill>
              </a:rPr>
              <a:t> Web Server: 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 smtClean="0">
                <a:solidFill>
                  <a:srgbClr val="000000"/>
                </a:solidFill>
              </a:rPr>
              <a:t>Plays an intermediate role by storing business rules (</a:t>
            </a:r>
            <a:r>
              <a:rPr lang="en-US" sz="2400" b="1" dirty="0" smtClean="0">
                <a:solidFill>
                  <a:srgbClr val="000000"/>
                </a:solidFill>
              </a:rPr>
              <a:t>procedures or constraints</a:t>
            </a:r>
            <a:r>
              <a:rPr lang="en-US" sz="2400" dirty="0" smtClean="0">
                <a:solidFill>
                  <a:srgbClr val="000000"/>
                </a:solidFill>
              </a:rPr>
              <a:t>) that are used to access data from the database server.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 smtClean="0">
                <a:solidFill>
                  <a:srgbClr val="000000"/>
                </a:solidFill>
              </a:rPr>
              <a:t>Improves database security by checking client’s credentials before forwarding request to database servers.</a:t>
            </a:r>
            <a:endParaRPr lang="en-US" sz="24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acts like a conduit for sending partially processed data between the database server and the client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 smtClean="0">
                <a:solidFill>
                  <a:srgbClr val="000000"/>
                </a:solidFill>
              </a:rPr>
              <a:t>User interface, application rules and data access act as the </a:t>
            </a:r>
            <a:r>
              <a:rPr lang="en-US" sz="2400" b="1" dirty="0" smtClean="0">
                <a:solidFill>
                  <a:srgbClr val="000000"/>
                </a:solidFill>
              </a:rPr>
              <a:t>three tiers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  <a:endParaRPr lang="en-US" sz="24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buFont typeface="Times"/>
              <a:buChar char="•"/>
            </a:pPr>
            <a:endParaRPr lang="en-US" sz="2400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Times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Additional Features- Security: 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encrypt the data at the server before transmission</a:t>
            </a:r>
          </a:p>
          <a:p>
            <a:pPr lvl="1">
              <a:lnSpc>
                <a:spcPct val="90000"/>
              </a:lnSpc>
              <a:buFont typeface="Times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decrypt data at the client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Logical three-tier client/server architecture.</a:t>
            </a:r>
            <a:endParaRPr lang="en-US" dirty="0"/>
          </a:p>
        </p:txBody>
      </p:sp>
      <p:pic>
        <p:nvPicPr>
          <p:cNvPr id="4" name="Picture 4" descr="fig-2.7.gif      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438400" y="2362200"/>
            <a:ext cx="3568700" cy="4114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DBMSs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Several criteria are normally used to classify DBMSs.</a:t>
            </a:r>
          </a:p>
          <a:p>
            <a:pPr lvl="1"/>
            <a:r>
              <a:rPr lang="en-US" dirty="0" smtClean="0"/>
              <a:t>Data model</a:t>
            </a:r>
          </a:p>
          <a:p>
            <a:pPr lvl="1"/>
            <a:r>
              <a:rPr lang="en-US" dirty="0" smtClean="0"/>
              <a:t>Number of users</a:t>
            </a:r>
          </a:p>
          <a:p>
            <a:pPr lvl="1"/>
            <a:r>
              <a:rPr lang="en-US" dirty="0" smtClean="0"/>
              <a:t>Number of </a:t>
            </a:r>
            <a:r>
              <a:rPr lang="en-US" dirty="0" smtClean="0"/>
              <a:t>sites</a:t>
            </a:r>
          </a:p>
          <a:p>
            <a:pPr lvl="1"/>
            <a:r>
              <a:rPr lang="en-US" dirty="0" smtClean="0"/>
              <a:t>Based on purpose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Relational model </a:t>
            </a:r>
            <a:r>
              <a:rPr lang="en-US" dirty="0" smtClean="0"/>
              <a:t>represents a database as a collection of tables, where each table can be stored as a separate file.</a:t>
            </a:r>
          </a:p>
          <a:p>
            <a:r>
              <a:rPr lang="en-US" b="1" dirty="0" smtClean="0"/>
              <a:t>Object model</a:t>
            </a:r>
            <a:r>
              <a:rPr lang="en-US" dirty="0" smtClean="0"/>
              <a:t> defines a database in terms of objects, their properties, and their operations.</a:t>
            </a:r>
          </a:p>
          <a:p>
            <a:r>
              <a:rPr lang="en-US" dirty="0" smtClean="0"/>
              <a:t>Relational DBMSs have been extending their models to incorporate object database concepts and other capabilities; </a:t>
            </a:r>
            <a:r>
              <a:rPr lang="en-US" b="1" dirty="0" smtClean="0"/>
              <a:t>Object-relational model</a:t>
            </a:r>
          </a:p>
          <a:p>
            <a:r>
              <a:rPr lang="en-US" b="1" dirty="0"/>
              <a:t>Network model </a:t>
            </a:r>
            <a:r>
              <a:rPr lang="en-US" dirty="0" smtClean="0"/>
              <a:t>represents data as record types and also represents a limited type of l:N relationship, called a set type.</a:t>
            </a:r>
          </a:p>
          <a:p>
            <a:r>
              <a:rPr lang="en-US" b="1" dirty="0" smtClean="0"/>
              <a:t>Hierarchical model</a:t>
            </a:r>
            <a:r>
              <a:rPr lang="en-US" dirty="0" smtClean="0"/>
              <a:t> represents data as hierarchical tree structures.</a:t>
            </a:r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schema of Figure 2.1 in network model notation</a:t>
            </a:r>
            <a:endParaRPr lang="en-US" dirty="0"/>
          </a:p>
        </p:txBody>
      </p:sp>
      <p:pic>
        <p:nvPicPr>
          <p:cNvPr id="4" name="Picture 8" descr="31755_FIG0204.gif                                              0001035BEeyore                         B91DCF3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2895600"/>
            <a:ext cx="7772400" cy="3362325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Single-user systems</a:t>
            </a:r>
            <a:r>
              <a:rPr lang="en-US" dirty="0" smtClean="0"/>
              <a:t> support only one user at a time and are mostly used with personal computers. </a:t>
            </a:r>
          </a:p>
          <a:p>
            <a:r>
              <a:rPr lang="en-US" b="1" dirty="0" smtClean="0"/>
              <a:t>Multiuser systems</a:t>
            </a:r>
            <a:r>
              <a:rPr lang="en-US" dirty="0" smtClean="0"/>
              <a:t>, which include the majority of DBMSs, support multiple users concurrently.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DBMS is centralized if the data is stored at a single computer site.</a:t>
            </a:r>
          </a:p>
          <a:p>
            <a:r>
              <a:rPr lang="en-US" dirty="0" smtClean="0"/>
              <a:t>A distributed DBMS (DDBMS) can have the actual database and DBMS software distributed over many sites, connected by a computer network.</a:t>
            </a:r>
          </a:p>
          <a:p>
            <a:pPr lvl="1"/>
            <a:r>
              <a:rPr lang="en-US" dirty="0" smtClean="0"/>
              <a:t>Homogeneous</a:t>
            </a:r>
          </a:p>
          <a:p>
            <a:pPr lvl="1"/>
            <a:r>
              <a:rPr lang="en-US" dirty="0" smtClean="0"/>
              <a:t>Heterogeneous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on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well-known family of DBMSs is based on inverted file structures for storing files. Finally, a DBMS can be </a:t>
            </a:r>
            <a:r>
              <a:rPr lang="en-US" b="1" dirty="0" smtClean="0"/>
              <a:t>general purpose</a:t>
            </a:r>
            <a:r>
              <a:rPr lang="en-US" dirty="0" smtClean="0"/>
              <a:t> or </a:t>
            </a:r>
            <a:r>
              <a:rPr lang="en-US" b="1" dirty="0" smtClean="0"/>
              <a:t>special purpose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Special purpose DBMS such as airline reservation, telephone directory system, etc., which fall into the category of Online transaction processing (OLTP) systems, i.e., large no-of concurrent transactions.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299</TotalTime>
  <Words>777</Words>
  <Application>Microsoft Office PowerPoint</Application>
  <PresentationFormat>On-screen Show (4:3)</PresentationFormat>
  <Paragraphs>126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Georgia</vt:lpstr>
      <vt:lpstr>Times</vt:lpstr>
      <vt:lpstr>Trebuchet MS</vt:lpstr>
      <vt:lpstr>Wingdings 2</vt:lpstr>
      <vt:lpstr>Urban</vt:lpstr>
      <vt:lpstr>Database Systems </vt:lpstr>
      <vt:lpstr>Today’s agenda</vt:lpstr>
      <vt:lpstr>Centralized and Client-Server Architectures </vt:lpstr>
      <vt:lpstr>A physical centralized architecture.</vt:lpstr>
      <vt:lpstr>Basic Client-Server Architectures</vt:lpstr>
      <vt:lpstr>Specialized Servers with Specialized functions: </vt:lpstr>
      <vt:lpstr>Clients: </vt:lpstr>
      <vt:lpstr>DBMS Server</vt:lpstr>
      <vt:lpstr>Two Tier Client-Server Architecture</vt:lpstr>
      <vt:lpstr>Logical two-tier client/server architecture</vt:lpstr>
      <vt:lpstr>Physical two-tier client-server architecture.</vt:lpstr>
      <vt:lpstr>Two Tier Client-Server Architecture</vt:lpstr>
      <vt:lpstr>Three Tier Client-Server Architecture</vt:lpstr>
      <vt:lpstr>Logical three-tier client/server architecture.</vt:lpstr>
      <vt:lpstr>Classification of DBMSs</vt:lpstr>
      <vt:lpstr>Data Model</vt:lpstr>
      <vt:lpstr>The schema of Figure 2.1 in network model notation</vt:lpstr>
      <vt:lpstr>Number of users</vt:lpstr>
      <vt:lpstr>Number of sites</vt:lpstr>
      <vt:lpstr>Based on purpose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Ehsan</cp:lastModifiedBy>
  <cp:revision>35</cp:revision>
  <dcterms:created xsi:type="dcterms:W3CDTF">2006-08-16T00:00:00Z</dcterms:created>
  <dcterms:modified xsi:type="dcterms:W3CDTF">2023-09-28T03:27:38Z</dcterms:modified>
</cp:coreProperties>
</file>
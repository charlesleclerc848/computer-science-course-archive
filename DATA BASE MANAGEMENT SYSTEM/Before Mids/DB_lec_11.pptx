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56" r:id="rId2"/>
    <p:sldId id="257" r:id="rId3"/>
    <p:sldId id="258" r:id="rId4"/>
    <p:sldId id="266" r:id="rId5"/>
    <p:sldId id="267" r:id="rId6"/>
    <p:sldId id="268" r:id="rId7"/>
    <p:sldId id="260" r:id="rId8"/>
    <p:sldId id="261" r:id="rId9"/>
    <p:sldId id="262" r:id="rId10"/>
    <p:sldId id="26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76FD92-EC3A-49D1-9926-5AF4E08324F6}" type="datetimeFigureOut">
              <a:rPr lang="en-US" smtClean="0"/>
              <a:pPr/>
              <a:t>10/29/2019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88604B-633D-40D2-95AF-A42431060AAB}" type="slidenum">
              <a:rPr lang="en-US" smtClean="0"/>
              <a:pPr/>
              <a:t>‹#›</a:t>
            </a:fld>
            <a:endParaRPr lang="en-US"/>
          </a:p>
        </p:txBody>
      </p:sp>
    </p:spTree>
    <p:extLst>
      <p:ext uri="{BB962C8B-B14F-4D97-AF65-F5344CB8AC3E}">
        <p14:creationId xmlns:p14="http://schemas.microsoft.com/office/powerpoint/2010/main" val="3110050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r>
              <a:rPr lang="en-US" smtClean="0"/>
              <a:t>Toqir Ahmad Rana</a:t>
            </a:r>
            <a:endParaRPr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r>
              <a:rPr lang="en-US" smtClean="0"/>
              <a:t>Toqir Ahmad Rana</a:t>
            </a:r>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r>
              <a:rPr lang="en-US" smtClean="0"/>
              <a:t>Toqir Ahmad Rana</a:t>
            </a:r>
            <a:endParaRPr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Toqir Ahmad Rana</a:t>
            </a:r>
            <a:endParaRPr lang="en-US"/>
          </a:p>
        </p:txBody>
      </p:sp>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r>
              <a:rPr lang="en-US" smtClean="0"/>
              <a:t>Toqir Ahmad Rana</a:t>
            </a: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normAutofit/>
          </a:bodyPr>
          <a:lstStyle/>
          <a:p>
            <a:r>
              <a:rPr lang="en-US" sz="2000" dirty="0" smtClean="0"/>
              <a:t>Refining the ER design for the company database, ER diagrams, naming conventions, Alternative Notations for ER diagrams and designs Issues, Examples </a:t>
            </a:r>
            <a:r>
              <a:rPr lang="en-US" sz="2000" smtClean="0"/>
              <a:t>of other Notations</a:t>
            </a:r>
            <a:endParaRPr lang="en-US" sz="2000" dirty="0"/>
          </a:p>
        </p:txBody>
      </p:sp>
      <p:sp>
        <p:nvSpPr>
          <p:cNvPr id="13" name="Footer Placeholder 12"/>
          <p:cNvSpPr>
            <a:spLocks noGrp="1"/>
          </p:cNvSpPr>
          <p:nvPr>
            <p:ph type="ftr" sz="quarter" idx="11"/>
          </p:nvPr>
        </p:nvSpPr>
        <p:spPr>
          <a:xfrm>
            <a:off x="5181600" y="4191000"/>
            <a:ext cx="2209800" cy="457200"/>
          </a:xfrm>
        </p:spPr>
        <p:txBody>
          <a:bodyPr/>
          <a:lstStyle/>
          <a:p>
            <a:r>
              <a:rPr lang="en-US" sz="1050" dirty="0" smtClean="0"/>
              <a:t>Database Management Systems</a:t>
            </a:r>
            <a:endParaRPr lang="en-US" sz="1050"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dirty="0" smtClean="0"/>
              <a:t>Lecture 11</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agenda</a:t>
            </a:r>
            <a:endParaRPr lang="en-US" dirty="0"/>
          </a:p>
        </p:txBody>
      </p:sp>
      <p:sp>
        <p:nvSpPr>
          <p:cNvPr id="3" name="Content Placeholder 2"/>
          <p:cNvSpPr>
            <a:spLocks noGrp="1"/>
          </p:cNvSpPr>
          <p:nvPr>
            <p:ph idx="1"/>
          </p:nvPr>
        </p:nvSpPr>
        <p:spPr/>
        <p:txBody>
          <a:bodyPr>
            <a:normAutofit/>
          </a:bodyPr>
          <a:lstStyle/>
          <a:p>
            <a:pPr lvl="0" hangingPunct="0"/>
            <a:r>
              <a:rPr lang="en-US" dirty="0" smtClean="0"/>
              <a:t>Refining the ER Diagram</a:t>
            </a:r>
          </a:p>
          <a:p>
            <a:pPr lvl="0" hangingPunct="0"/>
            <a:r>
              <a:rPr lang="en-US" dirty="0" smtClean="0"/>
              <a:t>Proper Naming for Schema Constructs</a:t>
            </a:r>
          </a:p>
          <a:p>
            <a:pPr lvl="0" hangingPunct="0"/>
            <a:r>
              <a:rPr lang="en-US" dirty="0" smtClean="0"/>
              <a:t>Alternative Notation for ER Diagram</a:t>
            </a:r>
          </a:p>
          <a:p>
            <a:pPr lvl="0" hangingPunct="0"/>
            <a:r>
              <a:rPr lang="en-US" dirty="0" smtClean="0"/>
              <a:t>UML Class Diagram for Company Database</a:t>
            </a:r>
          </a:p>
          <a:p>
            <a:pPr>
              <a:buNone/>
            </a:pPr>
            <a:r>
              <a:rPr lang="en-US" dirty="0" smtClean="0"/>
              <a:t/>
            </a:r>
            <a:br>
              <a:rPr lang="en-US" dirty="0" smtClean="0"/>
            </a:br>
            <a:endParaRPr lang="en-US" dirty="0" smtClean="0"/>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Refining the ER Diagram for Company Database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1. MANAGES, a 1:1 relationship type between EMPLOYEE and DEPARTMENT. EMPLOYEE participation is partial. DEPARTMENT participation is not clear from the requirements. We question the users, who say that a department must have a manager at all times, which implies total participation. The attribute </a:t>
            </a:r>
            <a:r>
              <a:rPr lang="en-US" dirty="0" err="1" smtClean="0"/>
              <a:t>StartDate</a:t>
            </a:r>
            <a:r>
              <a:rPr lang="en-US" dirty="0" smtClean="0"/>
              <a:t> is assigned to this relationship type.</a:t>
            </a:r>
          </a:p>
          <a:p>
            <a:endParaRPr lang="en-US" dirty="0" smtClean="0"/>
          </a:p>
          <a:p>
            <a:r>
              <a:rPr lang="en-US" dirty="0" smtClean="0"/>
              <a:t>2. WORKS_FOR, a </a:t>
            </a:r>
            <a:r>
              <a:rPr lang="en-US" sz="3500" dirty="0" smtClean="0"/>
              <a:t>1</a:t>
            </a:r>
            <a:r>
              <a:rPr lang="en-US" dirty="0" smtClean="0"/>
              <a:t>: N relationship type between DEPARTMENT and EMPLOYEE. Both participations are total.</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Refining the ER Diagram for Company Database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3. CONTROLS, a </a:t>
            </a:r>
            <a:r>
              <a:rPr lang="en-US" sz="3800" dirty="0"/>
              <a:t>1</a:t>
            </a:r>
            <a:r>
              <a:rPr lang="en-US" dirty="0"/>
              <a:t>:N </a:t>
            </a:r>
            <a:r>
              <a:rPr lang="en-US" dirty="0" smtClean="0"/>
              <a:t>relationship type between DEPARTMENT and PROJECT. The participation of PROJECT is total, whereas that of DEPARTMENT is determined to be partial, after consultation with the users indicates that some departments may control no projects.</a:t>
            </a:r>
          </a:p>
          <a:p>
            <a:endParaRPr lang="en-US" dirty="0" smtClean="0"/>
          </a:p>
          <a:p>
            <a:r>
              <a:rPr lang="en-US" dirty="0" smtClean="0"/>
              <a:t>4. SUPERVISION, a </a:t>
            </a:r>
            <a:r>
              <a:rPr lang="en-US" sz="3800" dirty="0" smtClean="0"/>
              <a:t>1</a:t>
            </a:r>
            <a:r>
              <a:rPr lang="en-US" dirty="0" smtClean="0"/>
              <a:t>:N relationship type between EMPLOYEE (in the supervisor role) and EMPLOYEE (in the supervisee role). Both participations are determined to be partial, after the users indicate that not every employee is a supervisor and not every employee has a supervisor.</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10633090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Refining the ER Diagram for Company Database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5. WORKS_ON, determined to be an M:N relationship type with attribute Hours, after the users indicate that a project can have several employees working on it. Both participations are determined to be total.</a:t>
            </a:r>
          </a:p>
          <a:p>
            <a:endParaRPr lang="en-US" dirty="0" smtClean="0"/>
          </a:p>
          <a:p>
            <a:r>
              <a:rPr lang="en-US" dirty="0" smtClean="0"/>
              <a:t>6. DEPENDENTS_OF, a l:N relationship type between EMPLOYEE and DEPENDENT, which is also the identifying relationship for the weak entity type DEPENDENT. The participation of EMPLOYEE is partial, whereas that of DEPENDENT is total.</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322030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3.2.gif                                                        0001035BEeyore                         B91DCF3B:"/>
          <p:cNvPicPr>
            <a:picLocks noGrp="1" noChangeAspect="1" noChangeArrowheads="1"/>
          </p:cNvPicPr>
          <p:nvPr>
            <p:ph idx="1"/>
          </p:nvPr>
        </p:nvPicPr>
        <p:blipFill>
          <a:blip r:embed="rId2" cstate="print"/>
          <a:srcRect/>
          <a:stretch>
            <a:fillRect/>
          </a:stretch>
        </p:blipFill>
        <p:spPr>
          <a:xfrm>
            <a:off x="381000" y="838200"/>
            <a:ext cx="8382000" cy="5629275"/>
          </a:xfrm>
        </p:spPr>
      </p:pic>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extLst>
      <p:ext uri="{BB962C8B-B14F-4D97-AF65-F5344CB8AC3E}">
        <p14:creationId xmlns:p14="http://schemas.microsoft.com/office/powerpoint/2010/main" val="5589072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Proper Naming of Schema Constructs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choice of names for entity types, attributes, relationship types, and (particularly) roles is not always straightforward.</a:t>
            </a:r>
          </a:p>
          <a:p>
            <a:pPr lvl="1"/>
            <a:r>
              <a:rPr lang="en-US" i="1" dirty="0" smtClean="0"/>
              <a:t>Singular names for entity types,</a:t>
            </a:r>
          </a:p>
          <a:p>
            <a:pPr lvl="1"/>
            <a:r>
              <a:rPr lang="en-US" dirty="0" smtClean="0"/>
              <a:t>Entity type and relationship type names are in uppercase letters,</a:t>
            </a:r>
            <a:endParaRPr lang="en-US" sz="3200" dirty="0" smtClean="0"/>
          </a:p>
          <a:p>
            <a:pPr lvl="1"/>
            <a:r>
              <a:rPr lang="en-US" dirty="0" smtClean="0"/>
              <a:t>Attribute names have their initial letter capitalized,</a:t>
            </a:r>
          </a:p>
          <a:p>
            <a:pPr lvl="1"/>
            <a:r>
              <a:rPr lang="en-US" dirty="0" smtClean="0"/>
              <a:t>Role names are in lowercase letters</a:t>
            </a:r>
            <a:endParaRPr lang="en-US" sz="3200" dirty="0" smtClean="0"/>
          </a:p>
          <a:p>
            <a:pPr lvl="1"/>
            <a:r>
              <a:rPr lang="en-US" dirty="0" smtClean="0"/>
              <a:t>Entity type as noun</a:t>
            </a:r>
          </a:p>
          <a:p>
            <a:pPr lvl="1"/>
            <a:r>
              <a:rPr lang="en-US" dirty="0" smtClean="0"/>
              <a:t>Relationship type as verb</a:t>
            </a:r>
          </a:p>
          <a:p>
            <a:pPr lvl="1"/>
            <a:r>
              <a:rPr lang="en-US" dirty="0" smtClean="0"/>
              <a:t>Additional noun for attributes names</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Alternative Notations for ER Diagram</a:t>
            </a:r>
            <a:endParaRPr lang="en-US" dirty="0"/>
          </a:p>
        </p:txBody>
      </p:sp>
      <p:sp>
        <p:nvSpPr>
          <p:cNvPr id="3" name="Content Placeholder 2"/>
          <p:cNvSpPr>
            <a:spLocks noGrp="1"/>
          </p:cNvSpPr>
          <p:nvPr>
            <p:ph idx="1"/>
          </p:nvPr>
        </p:nvSpPr>
        <p:spPr/>
        <p:txBody>
          <a:bodyPr>
            <a:normAutofit lnSpcReduction="10000"/>
          </a:bodyPr>
          <a:lstStyle/>
          <a:p>
            <a:r>
              <a:rPr lang="en-US" dirty="0" smtClean="0"/>
              <a:t>Alternative ER notation for specifying structural constraints on relationships </a:t>
            </a:r>
          </a:p>
          <a:p>
            <a:r>
              <a:rPr lang="en-US" dirty="0" smtClean="0"/>
              <a:t>This notation involves associating a pair of integer numbers (min, max) with each </a:t>
            </a:r>
            <a:r>
              <a:rPr lang="en-US" i="1" dirty="0" smtClean="0"/>
              <a:t>participation of an entity type E in a relationship type R, where 0 &lt;= </a:t>
            </a:r>
            <a:r>
              <a:rPr lang="en-US" dirty="0" smtClean="0"/>
              <a:t>min &lt;= max and max &gt;= 1</a:t>
            </a:r>
          </a:p>
          <a:p>
            <a:r>
              <a:rPr lang="en-US" dirty="0"/>
              <a:t>In this </a:t>
            </a:r>
            <a:r>
              <a:rPr lang="en-US" dirty="0" smtClean="0"/>
              <a:t>method, min </a:t>
            </a:r>
            <a:r>
              <a:rPr lang="en-US" dirty="0"/>
              <a:t>= 0 implies partial participation, whereas min &gt; 0 implies total participation.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ER diagrams for the COMPANY schema, with structural constraints specific using (min, max) notation.</a:t>
            </a:r>
            <a:endParaRPr lang="en-US" sz="2800" dirty="0"/>
          </a:p>
        </p:txBody>
      </p:sp>
      <p:pic>
        <p:nvPicPr>
          <p:cNvPr id="5" name="Picture 5" descr="31755_FIG0315.gif                                              0001035BEeyore                         B91DCF3B:"/>
          <p:cNvPicPr>
            <a:picLocks noGrp="1" noChangeAspect="1" noChangeArrowheads="1"/>
          </p:cNvPicPr>
          <p:nvPr>
            <p:ph idx="1"/>
          </p:nvPr>
        </p:nvPicPr>
        <p:blipFill>
          <a:blip r:embed="rId2" cstate="print"/>
          <a:srcRect/>
          <a:stretch>
            <a:fillRect/>
          </a:stretch>
        </p:blipFill>
        <p:spPr>
          <a:xfrm>
            <a:off x="1066800" y="2362200"/>
            <a:ext cx="7391400" cy="4267200"/>
          </a:xfrm>
        </p:spPr>
      </p:pic>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8" name="Footer Placeholder 7"/>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COMPANY conceptual scheme in UML class diagram notation</a:t>
            </a:r>
            <a:endParaRPr lang="en-US" dirty="0"/>
          </a:p>
        </p:txBody>
      </p:sp>
      <p:pic>
        <p:nvPicPr>
          <p:cNvPr id="4" name="Picture 5" descr="3.16.gif                                                       0001035BEeyore                         B91DCF3B:"/>
          <p:cNvPicPr>
            <a:picLocks noGrp="1" noChangeAspect="1" noChangeArrowheads="1"/>
          </p:cNvPicPr>
          <p:nvPr>
            <p:ph idx="1"/>
          </p:nvPr>
        </p:nvPicPr>
        <p:blipFill>
          <a:blip r:embed="rId2" cstate="print"/>
          <a:srcRect/>
          <a:stretch>
            <a:fillRect/>
          </a:stretch>
        </p:blipFill>
        <p:spPr>
          <a:xfrm>
            <a:off x="685800" y="2397125"/>
            <a:ext cx="7991475" cy="4460875"/>
          </a:xfrm>
        </p:spPr>
      </p:pic>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358</TotalTime>
  <Words>539</Words>
  <Application>Microsoft Office PowerPoint</Application>
  <PresentationFormat>On-screen Show (4:3)</PresentationFormat>
  <Paragraphs>56</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Urban</vt:lpstr>
      <vt:lpstr>Database Systems </vt:lpstr>
      <vt:lpstr>Today’s agenda</vt:lpstr>
      <vt:lpstr>Refining the ER Diagram for Company Database</vt:lpstr>
      <vt:lpstr>Refining the ER Diagram for Company Database</vt:lpstr>
      <vt:lpstr>Refining the ER Diagram for Company Database</vt:lpstr>
      <vt:lpstr>PowerPoint Presentation</vt:lpstr>
      <vt:lpstr>Proper Naming of Schema Constructs</vt:lpstr>
      <vt:lpstr>Alternative Notations for ER Diagram</vt:lpstr>
      <vt:lpstr>ER diagrams for the COMPANY schema, with structural constraints specific using (min, max) notation.</vt:lpstr>
      <vt:lpstr>The COMPANY conceptual scheme in UML class diagram notation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c:title>
  <dc:creator>RANA</dc:creator>
  <cp:lastModifiedBy>Mehtab</cp:lastModifiedBy>
  <cp:revision>25</cp:revision>
  <dcterms:created xsi:type="dcterms:W3CDTF">2006-08-16T00:00:00Z</dcterms:created>
  <dcterms:modified xsi:type="dcterms:W3CDTF">2019-10-29T07:18:59Z</dcterms:modified>
</cp:coreProperties>
</file>
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5DD61544-6662-40E4-B5E2-CB9E4834F7C1}" type="datetimeFigureOut">
              <a:rPr lang="en-US"/>
              <a:pPr>
                <a:defRPr/>
              </a:pPr>
              <a:t>12/1/2020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9F99E1A8-9B9D-4A04-AF60-B14C77376E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6284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5410200" y="3810000"/>
            <a:ext cx="3733800" cy="904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 flipV="1">
            <a:off x="5410200" y="3897313"/>
            <a:ext cx="3733800" cy="19208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5410200" y="4114800"/>
            <a:ext cx="3733800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5410200" y="4164013"/>
            <a:ext cx="1965325" cy="19050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 flipV="1">
            <a:off x="5410200" y="4198938"/>
            <a:ext cx="1965325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11" name="Rounded Rectangle 10"/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12" name="Rounded Rectangle 11"/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3649663"/>
            <a:ext cx="9144000" cy="2444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0" y="3675063"/>
            <a:ext cx="9144000" cy="1412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 flipV="1">
            <a:off x="6413500" y="3643313"/>
            <a:ext cx="2730500" cy="2476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7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875"/>
            <a:ext cx="96043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Toqir Ahmad Rana</a:t>
            </a:r>
          </a:p>
        </p:txBody>
      </p:sp>
      <p:sp>
        <p:nvSpPr>
          <p:cNvPr id="18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Management Systems</a:t>
            </a:r>
          </a:p>
        </p:txBody>
      </p:sp>
      <p:sp>
        <p:nvSpPr>
          <p:cNvPr id="1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588"/>
            <a:ext cx="747712" cy="365125"/>
          </a:xfrm>
        </p:spPr>
        <p:txBody>
          <a:bodyPr/>
          <a:lstStyle>
            <a:lvl1pPr algn="r">
              <a:defRPr sz="18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BBD5084-D041-4739-B738-60448C61AF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Toqir Ahmad Rana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Management Systems</a:t>
            </a: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04E888-94F3-42ED-80E2-A7BA78E2F5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Toqir Ahmad Rana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Management Systems</a:t>
            </a: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72A12-E1BB-4D78-8139-44869E73C9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Toqir Ahmad Rana</a:t>
            </a: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Management Systems</a:t>
            </a: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9A3B80-CC88-4697-BD8E-E0EF429E59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Toqir Ahmad Rana</a:t>
            </a:r>
          </a:p>
        </p:txBody>
      </p:sp>
      <p:sp>
        <p:nvSpPr>
          <p:cNvPr id="8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6546999-4BD2-4D74-8475-8F90920699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Management Systems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Toqir Ahmad Rana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Management Systems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0C3CB2-EFA3-44D8-90BB-88B14F1194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Toqir Ahmad Rana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Management Systems</a:t>
            </a:r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716CE8-A09C-4CD3-BEB4-9CBB99B7CB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Toqir Ahmad Rana</a:t>
            </a: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Management Systems</a:t>
            </a: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D0732F-329B-48EE-924E-20147F5943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Toqir Ahmad Rana</a:t>
            </a: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Management Systems</a:t>
            </a: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EEB5E-508C-4A0C-8187-8C82C4E028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Toqir Ahmad Rana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Management Systems</a:t>
            </a: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47F920-3F65-4583-9980-CD4E1E1C7E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Toqir Ahmad Rana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Database Management Systems</a:t>
            </a: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CF7CA7-D923-472C-B4C3-051778C13C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39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40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800" smtClean="0">
                <a:solidFill>
                  <a:schemeClr val="accent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Toqir Ahmad Rana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800" smtClean="0">
                <a:solidFill>
                  <a:schemeClr val="accent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Database Management Systems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800" smtClean="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91325EC-2FC8-4E9F-B281-67A5250644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84" r:id="rId5"/>
    <p:sldLayoutId id="2147483685" r:id="rId6"/>
    <p:sldLayoutId id="2147483679" r:id="rId7"/>
    <p:sldLayoutId id="2147483678" r:id="rId8"/>
    <p:sldLayoutId id="2147483677" r:id="rId9"/>
    <p:sldLayoutId id="2147483676" r:id="rId10"/>
    <p:sldLayoutId id="2147483675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fontAlgn="base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7225" indent="-246063" algn="l" rtl="0" fontAlgn="base">
        <a:spcBef>
          <a:spcPts val="300"/>
        </a:spcBef>
        <a:spcAft>
          <a:spcPct val="0"/>
        </a:spcAft>
        <a:buClr>
          <a:schemeClr val="accent2"/>
        </a:buClr>
        <a:buFont typeface="Georgia" pitchFamily="18" charset="0"/>
        <a:buChar char="▫"/>
        <a:defRPr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2338" indent="-219075" algn="l" rtl="0" fontAlgn="base">
        <a:spcBef>
          <a:spcPts val="3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13" indent="-200025" algn="l" rtl="0" fontAlgn="base">
        <a:spcBef>
          <a:spcPts val="3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063" indent="-182563" algn="l" rtl="0" fontAlgn="base">
        <a:spcBef>
          <a:spcPts val="300"/>
        </a:spcBef>
        <a:spcAft>
          <a:spcPct val="0"/>
        </a:spcAft>
        <a:buClr>
          <a:srgbClr val="A04DA3"/>
        </a:buClr>
        <a:buFont typeface="Georgia" pitchFamily="18" charset="0"/>
        <a:buChar char="▫"/>
        <a:defRPr sz="2000" kern="1200">
          <a:solidFill>
            <a:srgbClr val="A04DA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7772400" cy="1470025"/>
          </a:xfrm>
        </p:spPr>
        <p:txBody>
          <a:bodyPr/>
          <a:lstStyle/>
          <a:p>
            <a:r>
              <a:rPr lang="en-US" smtClean="0"/>
              <a:t>Database Systems	</a:t>
            </a:r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>
          <a:xfrm>
            <a:off x="457200" y="3900488"/>
            <a:ext cx="4953000" cy="1752600"/>
          </a:xfrm>
        </p:spPr>
        <p:txBody>
          <a:bodyPr/>
          <a:lstStyle/>
          <a:p>
            <a:pPr marL="63500"/>
            <a:r>
              <a:rPr lang="en-US" sz="2000" smtClean="0"/>
              <a:t>MODELING OF UNION TYPES</a:t>
            </a:r>
          </a:p>
          <a:p>
            <a:pPr marL="63500"/>
            <a:r>
              <a:rPr lang="en-US" sz="2000" smtClean="0"/>
              <a:t>USING CATEGORIES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5181600" y="4191000"/>
            <a:ext cx="2209800" cy="457200"/>
          </a:xfrm>
        </p:spPr>
        <p:txBody>
          <a:bodyPr/>
          <a:lstStyle/>
          <a:p>
            <a:pPr>
              <a:defRPr/>
            </a:pPr>
            <a:r>
              <a:rPr lang="en-US" sz="1050" dirty="0"/>
              <a:t>Database Management Systems</a:t>
            </a:r>
          </a:p>
        </p:txBody>
      </p:sp>
      <p:sp>
        <p:nvSpPr>
          <p:cNvPr id="5126" name="Slide Number Placeholder 1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9F48C3A-695D-4620-8142-67F2B0930D9A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/>
          </a:p>
        </p:txBody>
      </p:sp>
      <p:sp>
        <p:nvSpPr>
          <p:cNvPr id="5127" name="TextBox 9"/>
          <p:cNvSpPr txBox="1">
            <a:spLocks noChangeArrowheads="1"/>
          </p:cNvSpPr>
          <p:nvPr/>
        </p:nvSpPr>
        <p:spPr bwMode="auto">
          <a:xfrm>
            <a:off x="2286000" y="3048000"/>
            <a:ext cx="4267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u="sng" dirty="0">
                <a:latin typeface="Georgia" pitchFamily="18" charset="0"/>
              </a:rPr>
              <a:t>Lecture </a:t>
            </a:r>
            <a:r>
              <a:rPr lang="en-US" sz="2800" u="sng" dirty="0" smtClean="0">
                <a:latin typeface="Georgia" pitchFamily="18" charset="0"/>
              </a:rPr>
              <a:t>15</a:t>
            </a:r>
            <a:endParaRPr lang="en-US" sz="2800" u="sng" dirty="0"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Today’s Agenda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Utilizing Specialization and Generalization in Refining Conceptual Schemas</a:t>
            </a:r>
          </a:p>
          <a:p>
            <a:r>
              <a:rPr lang="en-US" b="1" smtClean="0"/>
              <a:t>Modeling of Union Types Using Categories</a:t>
            </a:r>
          </a:p>
          <a:p>
            <a:endParaRPr lang="en-US" b="1" smtClean="0"/>
          </a:p>
        </p:txBody>
      </p:sp>
      <p:sp>
        <p:nvSpPr>
          <p:cNvPr id="614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Database Management Systems</a:t>
            </a:r>
          </a:p>
        </p:txBody>
      </p:sp>
      <p:sp>
        <p:nvSpPr>
          <p:cNvPr id="615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8A1C9B9-2E48-40B0-B8CE-A32E46063F29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b="1" dirty="0" smtClean="0"/>
              <a:t>Utilizing Specialization and Generalization</a:t>
            </a:r>
            <a:br>
              <a:rPr lang="en-US" sz="3200" b="1" dirty="0" smtClean="0"/>
            </a:br>
            <a:r>
              <a:rPr lang="en-US" sz="3200" b="1" dirty="0" smtClean="0"/>
              <a:t>in Refining Conceptual Schemas</a:t>
            </a:r>
          </a:p>
        </p:txBody>
      </p:sp>
      <p:sp>
        <p:nvSpPr>
          <p:cNvPr id="717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smtClean="0"/>
              <a:t>In the specialization process, we typically start with an entity type and then define subclasses of the entity type by successive specialization; that is, we repeatedly define more specific groupings of the entity type.</a:t>
            </a:r>
          </a:p>
          <a:p>
            <a:r>
              <a:rPr lang="en-US" sz="2400" smtClean="0"/>
              <a:t>This successive specialization corresponds to a top-down conceptual refinement process during conceptual schema design.</a:t>
            </a:r>
          </a:p>
          <a:p>
            <a:r>
              <a:rPr lang="en-US" sz="2400" smtClean="0"/>
              <a:t>It is possible to arrive at the same hierarchy or lattice from the other direction. In such a case, the process involves generalization rather than specialization and corresponds to a bottom-up conceptual synthesis.</a:t>
            </a:r>
          </a:p>
          <a:p>
            <a:endParaRPr lang="en-US" sz="2400" smtClean="0"/>
          </a:p>
          <a:p>
            <a:endParaRPr lang="en-US" sz="2400" smtClean="0"/>
          </a:p>
        </p:txBody>
      </p:sp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A14815C-F11C-4A00-9296-8326529753CE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/>
          </a:p>
        </p:txBody>
      </p:sp>
      <p:sp>
        <p:nvSpPr>
          <p:cNvPr id="7174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Database Management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Specialization / Generalization Lattice Example </a:t>
            </a:r>
            <a:r>
              <a:rPr lang="en-US" sz="3200"/>
              <a:t>(UNIVERSITY)</a:t>
            </a:r>
          </a:p>
        </p:txBody>
      </p:sp>
      <p:pic>
        <p:nvPicPr>
          <p:cNvPr id="8195" name="Picture 7" descr="spec_gen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contrast="6000"/>
          </a:blip>
          <a:srcRect/>
          <a:stretch>
            <a:fillRect/>
          </a:stretch>
        </p:blipFill>
        <p:spPr>
          <a:xfrm>
            <a:off x="1905000" y="2595563"/>
            <a:ext cx="5683250" cy="4262437"/>
          </a:xfrm>
        </p:spPr>
      </p:pic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E76A8BE-E6DD-4FE8-8F44-71784BE3F8B0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/>
          </a:p>
        </p:txBody>
      </p:sp>
      <p:sp>
        <p:nvSpPr>
          <p:cNvPr id="8198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Database Management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Categories (UNION TYPES)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800" dirty="0" smtClean="0"/>
          </a:p>
          <a:p>
            <a:pPr>
              <a:lnSpc>
                <a:spcPct val="80000"/>
              </a:lnSpc>
            </a:pPr>
            <a:r>
              <a:rPr lang="en-US" sz="2400" dirty="0" smtClean="0"/>
              <a:t>All of the superclass/subclass relationships we have seen thus far have a single superclass </a:t>
            </a:r>
          </a:p>
          <a:p>
            <a:pPr>
              <a:lnSpc>
                <a:spcPct val="80000"/>
              </a:lnSpc>
            </a:pPr>
            <a:r>
              <a:rPr lang="en-US" sz="2400" dirty="0" smtClean="0"/>
              <a:t>A shared subclass such as ENGINEERING_MANAGER is subclass in more than one distinct superclass/subclass relationships, where each of the three relationships has a single superclass (multiple inheritance) </a:t>
            </a:r>
          </a:p>
          <a:p>
            <a:pPr>
              <a:lnSpc>
                <a:spcPct val="80000"/>
              </a:lnSpc>
            </a:pPr>
            <a:r>
              <a:rPr lang="en-US" sz="2400" dirty="0" smtClean="0"/>
              <a:t>In some cases, need to model a </a:t>
            </a:r>
            <a:r>
              <a:rPr lang="en-US" sz="2400" b="1" dirty="0" smtClean="0"/>
              <a:t>single superclass/subclass relationship</a:t>
            </a:r>
            <a:r>
              <a:rPr lang="en-US" sz="2400" dirty="0" smtClean="0"/>
              <a:t> with more than one superclass </a:t>
            </a:r>
          </a:p>
          <a:p>
            <a:pPr>
              <a:lnSpc>
                <a:spcPct val="80000"/>
              </a:lnSpc>
            </a:pPr>
            <a:r>
              <a:rPr lang="en-US" sz="2400" dirty="0" err="1" smtClean="0"/>
              <a:t>Superclasses</a:t>
            </a:r>
            <a:r>
              <a:rPr lang="en-US" sz="2400" dirty="0" smtClean="0"/>
              <a:t> </a:t>
            </a:r>
            <a:r>
              <a:rPr lang="en-US" sz="2400" dirty="0" smtClean="0"/>
              <a:t>may represent </a:t>
            </a:r>
            <a:r>
              <a:rPr lang="en-US" sz="2400" dirty="0" smtClean="0"/>
              <a:t>different entity types </a:t>
            </a:r>
          </a:p>
          <a:p>
            <a:pPr>
              <a:lnSpc>
                <a:spcPct val="80000"/>
              </a:lnSpc>
            </a:pPr>
            <a:r>
              <a:rPr lang="en-US" sz="2400" dirty="0" smtClean="0"/>
              <a:t>Such a subclass is called a category or UNION TYPE </a:t>
            </a: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B28746A-0345-4D5E-952F-BADA694BDF18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/>
          </a:p>
        </p:txBody>
      </p:sp>
      <p:sp>
        <p:nvSpPr>
          <p:cNvPr id="9222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Database Management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Categories (UNION TYPES)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000" smtClean="0"/>
          </a:p>
          <a:p>
            <a:pPr>
              <a:lnSpc>
                <a:spcPct val="80000"/>
              </a:lnSpc>
            </a:pPr>
            <a:r>
              <a:rPr lang="en-US" sz="2200" smtClean="0"/>
              <a:t>Example: Database for vehicle registration, vehicle owner can be a person, a bank (holding a lien on a vehicle) or a company.</a:t>
            </a:r>
          </a:p>
          <a:p>
            <a:pPr lvl="1">
              <a:lnSpc>
                <a:spcPct val="80000"/>
              </a:lnSpc>
            </a:pPr>
            <a:r>
              <a:rPr lang="en-US" sz="2200" smtClean="0"/>
              <a:t>Category (subclass) OWNER is a </a:t>
            </a:r>
            <a:r>
              <a:rPr lang="en-US" sz="2200" b="1" smtClean="0"/>
              <a:t>subset of the union</a:t>
            </a:r>
            <a:r>
              <a:rPr lang="en-US" sz="2200" smtClean="0"/>
              <a:t> of the three superclasses COMPANY, BANK, and PERSON </a:t>
            </a:r>
          </a:p>
          <a:p>
            <a:pPr lvl="1">
              <a:lnSpc>
                <a:spcPct val="80000"/>
              </a:lnSpc>
            </a:pPr>
            <a:r>
              <a:rPr lang="en-US" sz="2200" smtClean="0"/>
              <a:t>Note that an OWNER is either a Company or Bank or Person; but every Company is not an OWNER; every Bank is not an OWNER; every Person is not an OWNER</a:t>
            </a:r>
          </a:p>
          <a:p>
            <a:pPr>
              <a:lnSpc>
                <a:spcPct val="80000"/>
              </a:lnSpc>
            </a:pPr>
            <a:r>
              <a:rPr lang="en-US" sz="2200" smtClean="0"/>
              <a:t>A category member must exist in at least one of its superclasses</a:t>
            </a:r>
          </a:p>
          <a:p>
            <a:pPr>
              <a:lnSpc>
                <a:spcPct val="80000"/>
              </a:lnSpc>
            </a:pPr>
            <a:r>
              <a:rPr lang="en-US" sz="2200" smtClean="0"/>
              <a:t>Note the difference from shared subclass, which is subset of the intersection of its superclasses (shared subclass member must exist in all of its superclasses).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200" smtClean="0"/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DB91A45-CB5C-4788-8626-58E3427D80C0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/>
          </a:p>
        </p:txBody>
      </p:sp>
      <p:sp>
        <p:nvSpPr>
          <p:cNvPr id="10246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Database Management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Example of categories</a:t>
            </a:r>
            <a:br>
              <a:rPr lang="en-US"/>
            </a:br>
            <a:r>
              <a:rPr lang="en-US"/>
              <a:t>(UNION TYPES)</a:t>
            </a:r>
          </a:p>
        </p:txBody>
      </p:sp>
      <p:pic>
        <p:nvPicPr>
          <p:cNvPr id="11267" name="Picture 3" descr="spec_gen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contrast="6000"/>
          </a:blip>
          <a:srcRect/>
          <a:stretch>
            <a:fillRect/>
          </a:stretch>
        </p:blipFill>
        <p:spPr>
          <a:xfrm>
            <a:off x="2667000" y="2286000"/>
            <a:ext cx="4089400" cy="4572000"/>
          </a:xfrm>
        </p:spPr>
      </p:pic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77BAA05-14E8-40BE-80E5-1B794DFA7A0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/>
          </a:p>
        </p:txBody>
      </p:sp>
      <p:sp>
        <p:nvSpPr>
          <p:cNvPr id="11270" name="Footer Placeholder 6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Database Management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705600" y="838200"/>
            <a:ext cx="2247900" cy="2933700"/>
          </a:xfrm>
        </p:spPr>
        <p:txBody>
          <a:bodyPr/>
          <a:lstStyle/>
          <a:p>
            <a:r>
              <a:rPr lang="en-US" sz="2800" dirty="0" smtClean="0"/>
              <a:t>EER conceptual schema for a UNIVERSITY database.</a:t>
            </a:r>
          </a:p>
        </p:txBody>
      </p:sp>
      <p:sp>
        <p:nvSpPr>
          <p:cNvPr id="12291" name="Text Box 6"/>
          <p:cNvSpPr txBox="1">
            <a:spLocks noChangeArrowheads="1"/>
          </p:cNvSpPr>
          <p:nvPr/>
        </p:nvSpPr>
        <p:spPr bwMode="auto">
          <a:xfrm>
            <a:off x="5337175" y="3213100"/>
            <a:ext cx="358775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800" b="1">
                <a:solidFill>
                  <a:schemeClr val="bg2"/>
                </a:solidFill>
                <a:latin typeface="Univers"/>
              </a:rPr>
              <a:t>U</a:t>
            </a:r>
          </a:p>
        </p:txBody>
      </p:sp>
      <p:sp>
        <p:nvSpPr>
          <p:cNvPr id="12293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4DE3893-B174-4537-8112-1D56F959047A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/>
          </a:p>
        </p:txBody>
      </p:sp>
      <p:sp>
        <p:nvSpPr>
          <p:cNvPr id="12294" name="Footer Placeholder 7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Database Management Systems</a:t>
            </a:r>
          </a:p>
        </p:txBody>
      </p:sp>
      <p:pic>
        <p:nvPicPr>
          <p:cNvPr id="1229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4825"/>
            <a:ext cx="5819775" cy="635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25</TotalTime>
  <Words>380</Words>
  <Application>Microsoft Office PowerPoint</Application>
  <PresentationFormat>On-screen Show (4:3)</PresentationFormat>
  <Paragraphs>45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Urban</vt:lpstr>
      <vt:lpstr>Database Systems </vt:lpstr>
      <vt:lpstr>Today’s Agenda</vt:lpstr>
      <vt:lpstr>Utilizing Specialization and Generalization in Refining Conceptual Schemas</vt:lpstr>
      <vt:lpstr>Specialization / Generalization Lattice Example (UNIVERSITY)</vt:lpstr>
      <vt:lpstr>Categories (UNION TYPES)</vt:lpstr>
      <vt:lpstr>Categories (UNION TYPES)</vt:lpstr>
      <vt:lpstr>Example of categories (UNION TYPES)</vt:lpstr>
      <vt:lpstr>EER conceptual schema for a UNIVERSITY database.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RANA</dc:creator>
  <cp:lastModifiedBy>MEHTAB</cp:lastModifiedBy>
  <cp:revision>11</cp:revision>
  <dcterms:created xsi:type="dcterms:W3CDTF">2006-08-16T00:00:00Z</dcterms:created>
  <dcterms:modified xsi:type="dcterms:W3CDTF">2020-12-01T02:49:46Z</dcterms:modified>
</cp:coreProperties>
</file>
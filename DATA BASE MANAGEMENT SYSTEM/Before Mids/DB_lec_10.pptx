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3DFB29-016D-4220-9234-FC5D53D89458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A445C-062F-4D8F-AE78-0AED7B6272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2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7772400" cy="1470025"/>
          </a:xfrm>
        </p:spPr>
        <p:txBody>
          <a:bodyPr/>
          <a:lstStyle/>
          <a:p>
            <a:r>
              <a:rPr lang="en-US" dirty="0" smtClean="0"/>
              <a:t>Database Systems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/>
              <a:t>Relation Types, Relationship Sets,</a:t>
            </a:r>
          </a:p>
          <a:p>
            <a:r>
              <a:rPr lang="en-US" sz="2000" b="1" dirty="0" smtClean="0"/>
              <a:t>Roles and Structural Constraints</a:t>
            </a:r>
          </a:p>
          <a:p>
            <a:endParaRPr lang="en-US" sz="2000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5181600" y="4191000"/>
            <a:ext cx="2209800" cy="457200"/>
          </a:xfrm>
        </p:spPr>
        <p:txBody>
          <a:bodyPr/>
          <a:lstStyle/>
          <a:p>
            <a:r>
              <a:rPr lang="en-US" sz="1050" dirty="0" smtClean="0"/>
              <a:t>Database Management Systems</a:t>
            </a:r>
            <a:endParaRPr lang="en-US" sz="1050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286000" y="30480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 smtClean="0"/>
              <a:t>Lecture 10</a:t>
            </a:r>
            <a:endParaRPr lang="en-US" sz="2800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hangingPunct="0"/>
            <a:r>
              <a:rPr lang="en-US" dirty="0" smtClean="0"/>
              <a:t>Relationships</a:t>
            </a:r>
          </a:p>
          <a:p>
            <a:pPr lvl="1" hangingPunct="0"/>
            <a:r>
              <a:rPr lang="en-US" dirty="0" smtClean="0"/>
              <a:t>Types, sets and instances</a:t>
            </a:r>
          </a:p>
          <a:p>
            <a:pPr hangingPunct="0"/>
            <a:r>
              <a:rPr lang="en-US" dirty="0" smtClean="0"/>
              <a:t>Degree of relationship</a:t>
            </a:r>
          </a:p>
          <a:p>
            <a:pPr hangingPunct="0"/>
            <a:r>
              <a:rPr lang="en-US" dirty="0" smtClean="0"/>
              <a:t>Recursive Relationship</a:t>
            </a:r>
          </a:p>
          <a:p>
            <a:pPr hangingPunct="0"/>
            <a:r>
              <a:rPr lang="en-US" dirty="0" smtClean="0"/>
              <a:t>Constraints on Relationship Types</a:t>
            </a:r>
          </a:p>
          <a:p>
            <a:pPr hangingPunct="0"/>
            <a:r>
              <a:rPr lang="en-US" dirty="0" smtClean="0"/>
              <a:t>Attributes of Relationship Types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Relationships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A relationship relates two or more distinct entities with a specific meaning. 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For example, EMPLOYEE John Smith </a:t>
            </a:r>
            <a:r>
              <a:rPr lang="en-US" b="1" dirty="0" smtClean="0"/>
              <a:t>works on</a:t>
            </a:r>
            <a:r>
              <a:rPr lang="en-US" dirty="0" smtClean="0"/>
              <a:t> the </a:t>
            </a:r>
            <a:r>
              <a:rPr lang="en-US" dirty="0" err="1" smtClean="0"/>
              <a:t>ProductX</a:t>
            </a:r>
            <a:r>
              <a:rPr lang="en-US" dirty="0" smtClean="0"/>
              <a:t> PROJECT, </a:t>
            </a:r>
            <a:r>
              <a:rPr lang="en-US" u="sng" dirty="0" smtClean="0"/>
              <a:t>OR</a:t>
            </a:r>
            <a:r>
              <a:rPr lang="en-US" dirty="0" smtClean="0"/>
              <a:t> 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EMPLOYEE Franklin Wong </a:t>
            </a:r>
            <a:r>
              <a:rPr lang="en-US" b="1" dirty="0" smtClean="0"/>
              <a:t>manages</a:t>
            </a:r>
            <a:r>
              <a:rPr lang="en-US" dirty="0" smtClean="0"/>
              <a:t> the Research DEPARTMENT.</a:t>
            </a:r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Relationships of the same type are grouped or typed into a relationship type. 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For example, the WORKS_ON relationship type in which EMPLOYEEs and PROJECTs participate, </a:t>
            </a:r>
            <a:r>
              <a:rPr lang="en-US" u="sng" dirty="0" smtClean="0"/>
              <a:t>OR</a:t>
            </a:r>
            <a:r>
              <a:rPr lang="en-US" dirty="0" smtClean="0"/>
              <a:t> 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the MANAGES relationship type in which EMPLOYEEs and DEPARTMENTs participate.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Relationship Types, Sets and Instances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A </a:t>
            </a:r>
            <a:r>
              <a:rPr lang="en-US" b="1" dirty="0" smtClean="0"/>
              <a:t>relationship type</a:t>
            </a:r>
            <a:r>
              <a:rPr lang="en-US" dirty="0" smtClean="0"/>
              <a:t> R among </a:t>
            </a:r>
            <a:r>
              <a:rPr lang="en-US" i="1" dirty="0" smtClean="0"/>
              <a:t>n</a:t>
            </a:r>
            <a:r>
              <a:rPr lang="en-US" dirty="0" smtClean="0"/>
              <a:t> entity types E</a:t>
            </a:r>
            <a:r>
              <a:rPr lang="en-US" baseline="-25000" dirty="0" smtClean="0"/>
              <a:t>1</a:t>
            </a:r>
            <a:r>
              <a:rPr lang="en-US" dirty="0" smtClean="0"/>
              <a:t>, E</a:t>
            </a:r>
            <a:r>
              <a:rPr lang="en-US" baseline="-25000" dirty="0" smtClean="0"/>
              <a:t>2</a:t>
            </a:r>
            <a:r>
              <a:rPr lang="en-US" dirty="0" smtClean="0"/>
              <a:t>, •• , E</a:t>
            </a:r>
            <a:r>
              <a:rPr lang="en-US" baseline="-25000" dirty="0" smtClean="0"/>
              <a:t>n</a:t>
            </a:r>
            <a:r>
              <a:rPr lang="en-US" dirty="0" smtClean="0"/>
              <a:t> defines a set of association or a </a:t>
            </a:r>
            <a:r>
              <a:rPr lang="en-US" b="1" dirty="0" smtClean="0"/>
              <a:t>relationship </a:t>
            </a:r>
            <a:r>
              <a:rPr lang="en-US" b="1" dirty="0" err="1" smtClean="0"/>
              <a:t>set</a:t>
            </a:r>
            <a:r>
              <a:rPr lang="en-US" dirty="0" err="1" smtClean="0"/>
              <a:t>__among</a:t>
            </a:r>
            <a:r>
              <a:rPr lang="en-US" dirty="0" smtClean="0"/>
              <a:t> entities from these entity types.</a:t>
            </a:r>
          </a:p>
          <a:p>
            <a:endParaRPr lang="en-US" dirty="0" smtClean="0"/>
          </a:p>
          <a:p>
            <a:r>
              <a:rPr lang="en-US" dirty="0" smtClean="0"/>
              <a:t>the relationship set R is a set of relationship instances </a:t>
            </a:r>
            <a:r>
              <a:rPr lang="en-US" i="1" dirty="0" err="1"/>
              <a:t>r</a:t>
            </a:r>
            <a:r>
              <a:rPr lang="en-US" i="1" baseline="-25000" dirty="0" err="1" smtClean="0"/>
              <a:t>i</a:t>
            </a:r>
            <a:r>
              <a:rPr lang="en-US" dirty="0" smtClean="0"/>
              <a:t>, where each </a:t>
            </a:r>
            <a:r>
              <a:rPr lang="en-US" i="1" dirty="0" err="1"/>
              <a:t>r</a:t>
            </a:r>
            <a:r>
              <a:rPr lang="en-US" i="1" baseline="-25000" dirty="0" err="1" smtClean="0"/>
              <a:t>i</a:t>
            </a:r>
            <a:r>
              <a:rPr lang="en-US" dirty="0" smtClean="0"/>
              <a:t> associates </a:t>
            </a:r>
            <a:r>
              <a:rPr lang="en-US" i="1" dirty="0" smtClean="0"/>
              <a:t>n</a:t>
            </a:r>
            <a:r>
              <a:rPr lang="en-US" dirty="0" smtClean="0"/>
              <a:t> individual entities (e</a:t>
            </a:r>
            <a:r>
              <a:rPr lang="en-US" baseline="-25000" dirty="0" smtClean="0"/>
              <a:t>1</a:t>
            </a:r>
            <a:r>
              <a:rPr lang="en-US" dirty="0" smtClean="0"/>
              <a:t>, </a:t>
            </a:r>
            <a:r>
              <a:rPr lang="en-US" i="1" dirty="0" smtClean="0"/>
              <a:t>e</a:t>
            </a:r>
            <a:r>
              <a:rPr lang="en-US" i="1" baseline="-25000" dirty="0" smtClean="0"/>
              <a:t>2</a:t>
            </a:r>
            <a:r>
              <a:rPr lang="en-US" i="1" dirty="0" smtClean="0"/>
              <a:t>,..., e</a:t>
            </a:r>
            <a:r>
              <a:rPr lang="en-US" i="1" baseline="-25000" dirty="0" smtClean="0"/>
              <a:t>n</a:t>
            </a:r>
            <a:r>
              <a:rPr lang="en-US" i="1" dirty="0" smtClean="0"/>
              <a:t>)</a:t>
            </a:r>
            <a:endParaRPr lang="en-US" i="1" baseline="-25000" dirty="0" smtClean="0"/>
          </a:p>
          <a:p>
            <a:endParaRPr lang="en-US" dirty="0" smtClean="0"/>
          </a:p>
          <a:p>
            <a:r>
              <a:rPr lang="en-US" dirty="0" smtClean="0"/>
              <a:t>Each entity </a:t>
            </a:r>
            <a:r>
              <a:rPr lang="en-US" i="1" dirty="0" err="1" smtClean="0"/>
              <a:t>e</a:t>
            </a:r>
            <a:r>
              <a:rPr lang="en-US" i="1" baseline="-25000" dirty="0" err="1" smtClean="0"/>
              <a:t>j</a:t>
            </a:r>
            <a:r>
              <a:rPr lang="en-US" i="1" dirty="0" smtClean="0"/>
              <a:t> in </a:t>
            </a:r>
            <a:r>
              <a:rPr lang="en-US" i="1" dirty="0" err="1"/>
              <a:t>r</a:t>
            </a:r>
            <a:r>
              <a:rPr lang="en-US" i="1" baseline="-25000" dirty="0" err="1"/>
              <a:t>i</a:t>
            </a:r>
            <a:r>
              <a:rPr lang="en-US" i="1" dirty="0" smtClean="0"/>
              <a:t> is a member of entity type </a:t>
            </a:r>
            <a:r>
              <a:rPr lang="en-US" i="1" dirty="0" err="1" smtClean="0"/>
              <a:t>E</a:t>
            </a:r>
            <a:r>
              <a:rPr lang="en-US" i="1" baseline="-25000" dirty="0" err="1" smtClean="0"/>
              <a:t>j</a:t>
            </a:r>
            <a:r>
              <a:rPr lang="en-US" i="1" dirty="0" smtClean="0"/>
              <a:t> , 1 &lt;= j &lt;= n.</a:t>
            </a:r>
          </a:p>
          <a:p>
            <a:endParaRPr lang="en-US" dirty="0" smtClean="0"/>
          </a:p>
          <a:p>
            <a:r>
              <a:rPr lang="en-US" dirty="0" smtClean="0"/>
              <a:t>A relationship type is a mathematical relation on E</a:t>
            </a:r>
            <a:r>
              <a:rPr lang="en-US" baseline="-25000" dirty="0" smtClean="0"/>
              <a:t>1</a:t>
            </a:r>
            <a:r>
              <a:rPr lang="en-US" dirty="0" smtClean="0"/>
              <a:t>, E</a:t>
            </a:r>
            <a:r>
              <a:rPr lang="en-US" baseline="-25000" dirty="0" smtClean="0"/>
              <a:t>2</a:t>
            </a:r>
            <a:r>
              <a:rPr lang="en-US" dirty="0" smtClean="0"/>
              <a:t>, ••• ,E</a:t>
            </a:r>
            <a:r>
              <a:rPr lang="en-US" baseline="-25000" dirty="0" smtClean="0"/>
              <a:t>n</a:t>
            </a:r>
          </a:p>
          <a:p>
            <a:endParaRPr lang="en-US" dirty="0" smtClean="0"/>
          </a:p>
          <a:p>
            <a:r>
              <a:rPr lang="en-US" dirty="0" smtClean="0"/>
              <a:t>Each of the entity types E</a:t>
            </a:r>
            <a:r>
              <a:rPr lang="en-US" baseline="-25000" dirty="0" smtClean="0"/>
              <a:t>1</a:t>
            </a:r>
            <a:r>
              <a:rPr lang="en-US" dirty="0" smtClean="0"/>
              <a:t>, E</a:t>
            </a:r>
            <a:r>
              <a:rPr lang="en-US" baseline="-25000" dirty="0" smtClean="0"/>
              <a:t>2</a:t>
            </a:r>
            <a:r>
              <a:rPr lang="en-US" dirty="0" smtClean="0"/>
              <a:t>, ... , E</a:t>
            </a:r>
            <a:r>
              <a:rPr lang="en-US" baseline="-25000" dirty="0" smtClean="0"/>
              <a:t>n</a:t>
            </a:r>
            <a:r>
              <a:rPr lang="en-US" dirty="0" smtClean="0"/>
              <a:t> is said to participate in the relationship type R; similarly, each of the individual entities e</a:t>
            </a:r>
            <a:r>
              <a:rPr lang="en-US" baseline="-25000" dirty="0" smtClean="0"/>
              <a:t>1</a:t>
            </a:r>
            <a:r>
              <a:rPr lang="en-US" dirty="0" smtClean="0"/>
              <a:t>, </a:t>
            </a:r>
            <a:r>
              <a:rPr lang="en-US" i="1" dirty="0" smtClean="0"/>
              <a:t>e</a:t>
            </a:r>
            <a:r>
              <a:rPr lang="en-US" i="1" baseline="-25000" dirty="0" smtClean="0"/>
              <a:t>2</a:t>
            </a:r>
            <a:r>
              <a:rPr lang="en-US" i="1" dirty="0" smtClean="0"/>
              <a:t>, ... , e</a:t>
            </a:r>
            <a:r>
              <a:rPr lang="en-US" i="1" baseline="-25000" dirty="0" smtClean="0"/>
              <a:t>n</a:t>
            </a:r>
            <a:r>
              <a:rPr lang="en-US" i="1" dirty="0" smtClean="0"/>
              <a:t> is said to participate in the relationship instance </a:t>
            </a:r>
            <a:r>
              <a:rPr lang="en-US" i="1" dirty="0" err="1"/>
              <a:t>r</a:t>
            </a:r>
            <a:r>
              <a:rPr lang="en-US" i="1" baseline="-25000" dirty="0" err="1"/>
              <a:t>i</a:t>
            </a:r>
            <a:r>
              <a:rPr lang="en-US" i="1" dirty="0" smtClean="0"/>
              <a:t> = (e</a:t>
            </a:r>
            <a:r>
              <a:rPr lang="en-US" i="1" baseline="-25000" dirty="0" smtClean="0"/>
              <a:t>1</a:t>
            </a:r>
            <a:r>
              <a:rPr lang="en-US" i="1" dirty="0" smtClean="0"/>
              <a:t>, e</a:t>
            </a:r>
            <a:r>
              <a:rPr lang="en-US" i="1" baseline="-25000" dirty="0" smtClean="0"/>
              <a:t>2</a:t>
            </a:r>
            <a:r>
              <a:rPr lang="en-US" i="1" dirty="0" smtClean="0"/>
              <a:t>, ..., e</a:t>
            </a:r>
            <a:r>
              <a:rPr lang="en-US" i="1" baseline="-25000" dirty="0" smtClean="0"/>
              <a:t>n</a:t>
            </a:r>
            <a:r>
              <a:rPr lang="en-US" i="1" dirty="0" smtClean="0"/>
              <a:t>)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Some instances in the WORKS_FOR relationship set, which represents a relationship type WORKS_FOR between EMPLOYEE and DEPARTMENT</a:t>
            </a:r>
            <a:endParaRPr lang="en-US" sz="2800" dirty="0"/>
          </a:p>
        </p:txBody>
      </p:sp>
      <p:pic>
        <p:nvPicPr>
          <p:cNvPr id="4" name="Picture 5" descr="31755_FIG0309.gif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2514600"/>
            <a:ext cx="5965825" cy="411480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Degree of a Relationship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 the number of participating entity types</a:t>
            </a:r>
          </a:p>
          <a:p>
            <a:pPr lvl="1"/>
            <a:r>
              <a:rPr lang="en-US" dirty="0" smtClean="0"/>
              <a:t>The WORKS_FOR relationship is of degree two.</a:t>
            </a:r>
          </a:p>
          <a:p>
            <a:r>
              <a:rPr lang="en-US" dirty="0" smtClean="0"/>
              <a:t>A relationship type of degree two is called binary</a:t>
            </a:r>
          </a:p>
          <a:p>
            <a:r>
              <a:rPr lang="en-US" dirty="0" smtClean="0"/>
              <a:t>A relationship type of degree three is called ternary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Some relationship instances in the SUPPLY ternary relationship set</a:t>
            </a:r>
            <a:endParaRPr lang="en-US" dirty="0"/>
          </a:p>
        </p:txBody>
      </p:sp>
      <p:pic>
        <p:nvPicPr>
          <p:cNvPr id="4" name="Picture 5" descr="31755_FIG0310.gif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2362200"/>
            <a:ext cx="6099175" cy="411480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 Name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role name signifies the role that a participating entity from the entity type plays in each relationship instance, and helps to explain what the relationship means.</a:t>
            </a:r>
          </a:p>
          <a:p>
            <a:r>
              <a:rPr lang="en-US" dirty="0" smtClean="0"/>
              <a:t>For example, in the WORKS_FOR relationship type, EMPLOYEE plays the role of </a:t>
            </a:r>
            <a:r>
              <a:rPr lang="en-US" i="1" dirty="0" smtClean="0"/>
              <a:t>employee or worker and DEPARTMENT plays the role </a:t>
            </a:r>
            <a:r>
              <a:rPr lang="en-US" dirty="0" smtClean="0"/>
              <a:t>of </a:t>
            </a:r>
            <a:r>
              <a:rPr lang="en-US" i="1" dirty="0" smtClean="0"/>
              <a:t>department or employer.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Recursive Relationship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some cases the </a:t>
            </a:r>
            <a:r>
              <a:rPr lang="en-US" i="1" dirty="0" smtClean="0"/>
              <a:t>same entity type participates more than </a:t>
            </a:r>
            <a:r>
              <a:rPr lang="en-US" dirty="0" smtClean="0"/>
              <a:t>once in a relationship type in </a:t>
            </a:r>
            <a:r>
              <a:rPr lang="en-US" i="1" dirty="0" smtClean="0"/>
              <a:t>different roles</a:t>
            </a:r>
          </a:p>
          <a:p>
            <a:r>
              <a:rPr lang="en-US" dirty="0" smtClean="0"/>
              <a:t>Such relationship types are called recursive relationships</a:t>
            </a:r>
          </a:p>
          <a:p>
            <a:r>
              <a:rPr lang="en-US" dirty="0" smtClean="0"/>
              <a:t>The SUPERVISION relationship type relates an employee to a supervisor, where both employee and supervisor entities are members of the same EMPLOYEE entity type.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A recursive relationship SUPERVISION between EMPLOYEE in the </a:t>
            </a:r>
            <a:r>
              <a:rPr lang="en-US" sz="2800" i="1" dirty="0" smtClean="0"/>
              <a:t>supervisor</a:t>
            </a:r>
            <a:r>
              <a:rPr lang="en-US" sz="2800" dirty="0" smtClean="0"/>
              <a:t> role (1) and EMPLOYEE in the </a:t>
            </a:r>
            <a:r>
              <a:rPr lang="en-US" sz="2800" i="1" dirty="0" smtClean="0"/>
              <a:t>subordinate</a:t>
            </a:r>
            <a:r>
              <a:rPr lang="en-US" sz="2800" dirty="0" smtClean="0"/>
              <a:t> role (2).</a:t>
            </a: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286000"/>
            <a:ext cx="6791325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Constraints on Relationship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Constraints are determined from the mini world situation that the relationships represent.</a:t>
            </a:r>
          </a:p>
          <a:p>
            <a:r>
              <a:rPr lang="en-US" dirty="0" smtClean="0"/>
              <a:t>We can distinguish two main types of relationship constraints:</a:t>
            </a:r>
          </a:p>
          <a:p>
            <a:pPr lvl="1"/>
            <a:r>
              <a:rPr lang="en-US" dirty="0" smtClean="0"/>
              <a:t> </a:t>
            </a:r>
            <a:r>
              <a:rPr lang="en-US" i="1" dirty="0" smtClean="0"/>
              <a:t>Cardinality ratio </a:t>
            </a:r>
          </a:p>
          <a:p>
            <a:pPr lvl="1"/>
            <a:r>
              <a:rPr lang="en-US" i="1" dirty="0" smtClean="0"/>
              <a:t>Participation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Cardinality Ratios for Binary Relationships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cardinality ratio for a binary relationship specifies the </a:t>
            </a:r>
            <a:r>
              <a:rPr lang="en-US" b="1" i="1" dirty="0" smtClean="0"/>
              <a:t>maximum number of relationship instances</a:t>
            </a:r>
            <a:r>
              <a:rPr lang="en-US" i="1" dirty="0" smtClean="0"/>
              <a:t> that an entity can </a:t>
            </a:r>
            <a:r>
              <a:rPr lang="en-US" dirty="0" smtClean="0"/>
              <a:t>participate in.</a:t>
            </a:r>
          </a:p>
          <a:p>
            <a:r>
              <a:rPr lang="en-US" dirty="0" smtClean="0"/>
              <a:t>For example, in the WORKS_FOR binary relationship type, DEPARTMENT: EMPLOYEE is of cardinality ratio l:N, meaning that each department can be related to (that is,  employs) any number of employees but an employee can be related to (work for) only one department.</a:t>
            </a:r>
          </a:p>
          <a:p>
            <a:r>
              <a:rPr lang="en-US" dirty="0" smtClean="0"/>
              <a:t>binary relationship types are 1:1, 1:N, N:1, and M:N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1:1 relationship, MANAGES</a:t>
            </a:r>
            <a:endParaRPr lang="en-US" dirty="0"/>
          </a:p>
        </p:txBody>
      </p:sp>
      <p:pic>
        <p:nvPicPr>
          <p:cNvPr id="4" name="Picture 5" descr="31755_FIG0312.gif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066800" y="2362200"/>
            <a:ext cx="7035800" cy="411480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M:N relationship, WORKS_ON</a:t>
            </a:r>
            <a:endParaRPr lang="en-US" dirty="0"/>
          </a:p>
        </p:txBody>
      </p:sp>
      <p:pic>
        <p:nvPicPr>
          <p:cNvPr id="4" name="Picture 5" descr="31755_FIG0313.gif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2133600"/>
            <a:ext cx="6697663" cy="4532312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Participation Constraints and Existence Dependencies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participation constraint specifies whether the existence of an entity depends on its being related to another entity via the relationship type</a:t>
            </a:r>
          </a:p>
          <a:p>
            <a:r>
              <a:rPr lang="en-US" dirty="0" smtClean="0"/>
              <a:t>This constraint specifies the </a:t>
            </a:r>
            <a:r>
              <a:rPr lang="en-US" b="1" i="1" dirty="0" smtClean="0"/>
              <a:t>minimum number of relationship instances</a:t>
            </a:r>
            <a:r>
              <a:rPr lang="en-US" dirty="0" smtClean="0"/>
              <a:t> that each entity can participate in,</a:t>
            </a:r>
          </a:p>
          <a:p>
            <a:r>
              <a:rPr lang="en-US" dirty="0" smtClean="0"/>
              <a:t>Sometimes called the minimum cardinality constraint</a:t>
            </a:r>
          </a:p>
          <a:p>
            <a:r>
              <a:rPr lang="en-US" dirty="0" smtClean="0"/>
              <a:t>There are two types of participation </a:t>
            </a:r>
            <a:r>
              <a:rPr lang="en-US" dirty="0" smtClean="0"/>
              <a:t>constraints</a:t>
            </a:r>
            <a:r>
              <a:rPr lang="en-US" smtClean="0"/>
              <a:t>, i.e., </a:t>
            </a:r>
            <a:r>
              <a:rPr lang="en-US" dirty="0" smtClean="0"/>
              <a:t>total and partial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Total and Partial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If a company policy states that </a:t>
            </a:r>
            <a:r>
              <a:rPr lang="en-US" i="1" dirty="0" smtClean="0"/>
              <a:t>every employee must work for </a:t>
            </a:r>
            <a:r>
              <a:rPr lang="en-US" dirty="0" smtClean="0"/>
              <a:t>a department, then an employee entity can exist only if it participates in at least one WORKS_FOR relationship instance</a:t>
            </a:r>
          </a:p>
          <a:p>
            <a:pPr lvl="1"/>
            <a:r>
              <a:rPr lang="en-US" dirty="0" smtClean="0"/>
              <a:t>Meaning that every entity in "the total set" of employee entities must be related to a department entity via WORKS_FOR</a:t>
            </a:r>
          </a:p>
          <a:p>
            <a:pPr lvl="1"/>
            <a:r>
              <a:rPr lang="en-US" dirty="0" smtClean="0"/>
              <a:t>Also called existence dependency</a:t>
            </a:r>
          </a:p>
          <a:p>
            <a:r>
              <a:rPr lang="en-US" dirty="0" smtClean="0"/>
              <a:t>The participation of EMPLOYEE in the MANAGES relationship type is partial</a:t>
            </a:r>
          </a:p>
          <a:p>
            <a:pPr lvl="1"/>
            <a:r>
              <a:rPr lang="en-US" dirty="0" smtClean="0"/>
              <a:t>Meaning that </a:t>
            </a:r>
            <a:r>
              <a:rPr lang="en-US" i="1" dirty="0" smtClean="0"/>
              <a:t>some or "part of the set of" employee entities are related to some department </a:t>
            </a:r>
            <a:r>
              <a:rPr lang="en-US" dirty="0" smtClean="0"/>
              <a:t>entity via MANAGES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Attributes of Relationship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Relationship types can also have attributes, similar to those of entity types.</a:t>
            </a:r>
          </a:p>
          <a:p>
            <a:pPr lvl="1"/>
            <a:r>
              <a:rPr lang="en-US" dirty="0" smtClean="0"/>
              <a:t>For example, to record the number-of-hours per week that an employee works on a particular project</a:t>
            </a:r>
          </a:p>
          <a:p>
            <a:r>
              <a:rPr lang="en-US" smtClean="0"/>
              <a:t>Notice that </a:t>
            </a:r>
            <a:r>
              <a:rPr lang="en-US" dirty="0" smtClean="0"/>
              <a:t>attributes of 1:1 or 1:N relationship types can be migrated to one of the participating entity types</a:t>
            </a:r>
          </a:p>
          <a:p>
            <a:r>
              <a:rPr lang="en-US" dirty="0" smtClean="0"/>
              <a:t>For M:N relationship types, some attributes may be determined by the </a:t>
            </a:r>
            <a:r>
              <a:rPr lang="en-US" i="1" dirty="0" smtClean="0"/>
              <a:t>combination of participating entities in a relationship instance, not by any single entity.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533400"/>
            <a:ext cx="4191000" cy="2077492"/>
          </a:xfrm>
          <a:noFill/>
          <a:ln/>
        </p:spPr>
        <p:txBody>
          <a:bodyPr wrap="square" lIns="91440" tIns="0" rIns="91440" bIns="45720">
            <a:spAutoFit/>
          </a:bodyPr>
          <a:lstStyle/>
          <a:p>
            <a:r>
              <a:rPr lang="en-US" sz="3300" b="1" dirty="0"/>
              <a:t>SUMMARY OF ER-DIAGRAM </a:t>
            </a:r>
            <a:br>
              <a:rPr lang="en-US" sz="3300" b="1" dirty="0"/>
            </a:br>
            <a:r>
              <a:rPr lang="en-US" sz="3300" b="1" dirty="0"/>
              <a:t>NOTATION FOR ER SCHEMAS</a:t>
            </a:r>
          </a:p>
        </p:txBody>
      </p:sp>
      <p:pic>
        <p:nvPicPr>
          <p:cNvPr id="61" name="Picture 5" descr="3.14.gif         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352925" y="815975"/>
            <a:ext cx="4791075" cy="6042025"/>
          </a:xfrm>
        </p:spPr>
      </p:pic>
      <p:sp>
        <p:nvSpPr>
          <p:cNvPr id="63" name="Slide Number Placeholder 6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4" name="Footer Placeholder 6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1517</TotalTime>
  <Words>901</Words>
  <Application>Microsoft Office PowerPoint</Application>
  <PresentationFormat>On-screen Show (4:3)</PresentationFormat>
  <Paragraphs>109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Urban</vt:lpstr>
      <vt:lpstr>Database Systems </vt:lpstr>
      <vt:lpstr>Today’s agenda</vt:lpstr>
      <vt:lpstr>Relationships</vt:lpstr>
      <vt:lpstr>Relationship Types, Sets and Instances</vt:lpstr>
      <vt:lpstr>Some instances in the WORKS_FOR relationship set, which represents a relationship type WORKS_FOR between EMPLOYEE and DEPARTMENT</vt:lpstr>
      <vt:lpstr>Degree of a Relationship</vt:lpstr>
      <vt:lpstr>Some relationship instances in the SUPPLY ternary relationship set</vt:lpstr>
      <vt:lpstr>Role Name</vt:lpstr>
      <vt:lpstr>Recursive Relationship</vt:lpstr>
      <vt:lpstr>A recursive relationship SUPERVISION between EMPLOYEE in the supervisor role (1) and EMPLOYEE in the subordinate role (2).</vt:lpstr>
      <vt:lpstr>Constraints on Relationship Types</vt:lpstr>
      <vt:lpstr>Cardinality Ratios for Binary Relationships</vt:lpstr>
      <vt:lpstr>A 1:1 relationship, MANAGES</vt:lpstr>
      <vt:lpstr>An M:N relationship, WORKS_ON</vt:lpstr>
      <vt:lpstr>Participation Constraints and Existence Dependencies</vt:lpstr>
      <vt:lpstr>Total and Partial Constraints</vt:lpstr>
      <vt:lpstr>Attributes of Relationship Types</vt:lpstr>
      <vt:lpstr>SUMMARY OF ER-DIAGRAM  NOTATION FOR ER SCHEMAS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 </dc:title>
  <dc:creator>RANA</dc:creator>
  <cp:lastModifiedBy>MEHTAB</cp:lastModifiedBy>
  <cp:revision>29</cp:revision>
  <dcterms:created xsi:type="dcterms:W3CDTF">2006-08-16T00:00:00Z</dcterms:created>
  <dcterms:modified xsi:type="dcterms:W3CDTF">2022-03-09T07:25:28Z</dcterms:modified>
</cp:coreProperties>
</file>
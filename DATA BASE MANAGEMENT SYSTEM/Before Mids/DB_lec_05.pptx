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77" r:id="rId6"/>
    <p:sldId id="272" r:id="rId7"/>
    <p:sldId id="273" r:id="rId8"/>
    <p:sldId id="278" r:id="rId9"/>
    <p:sldId id="259" r:id="rId10"/>
    <p:sldId id="260" r:id="rId11"/>
    <p:sldId id="279" r:id="rId12"/>
    <p:sldId id="265" r:id="rId13"/>
    <p:sldId id="266" r:id="rId14"/>
    <p:sldId id="267" r:id="rId15"/>
    <p:sldId id="268" r:id="rId16"/>
    <p:sldId id="269" r:id="rId17"/>
    <p:sldId id="275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93259-CA6C-43C0-8904-A7AA26E4ED34}" type="datetimeFigureOut">
              <a:rPr lang="en-US" smtClean="0"/>
              <a:pPr/>
              <a:t>10/15/2020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54657-B01E-4A17-B132-BCE97BC641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4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DBMS Languages and Interfaces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smtClean="0"/>
              <a:t>Lecture 5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DBMS Languages</a:t>
            </a:r>
          </a:p>
          <a:p>
            <a:pPr lvl="1"/>
            <a:r>
              <a:rPr lang="en-US" dirty="0" smtClean="0"/>
              <a:t>Data Definition Language (DDL)</a:t>
            </a:r>
          </a:p>
          <a:p>
            <a:pPr lvl="1"/>
            <a:r>
              <a:rPr lang="en-US" dirty="0" smtClean="0"/>
              <a:t>Storage Definition Language (SDL)</a:t>
            </a:r>
          </a:p>
          <a:p>
            <a:pPr lvl="1"/>
            <a:r>
              <a:rPr lang="en-US" dirty="0" smtClean="0"/>
              <a:t>View Definition Language (VDL)</a:t>
            </a:r>
          </a:p>
          <a:p>
            <a:pPr lvl="1"/>
            <a:r>
              <a:rPr lang="en-US" dirty="0" smtClean="0"/>
              <a:t>Data Manipulation Language (DML)</a:t>
            </a:r>
          </a:p>
          <a:p>
            <a:r>
              <a:rPr lang="en-US" dirty="0" smtClean="0"/>
              <a:t>DBMS Interfaces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DBMS Languages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Times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Data Definition Language</a:t>
            </a:r>
            <a:r>
              <a:rPr lang="en-US" sz="2800" dirty="0">
                <a:solidFill>
                  <a:srgbClr val="000000"/>
                </a:solidFill>
              </a:rPr>
              <a:t> (</a:t>
            </a:r>
            <a:r>
              <a:rPr lang="en-US" sz="2800" b="1" dirty="0">
                <a:solidFill>
                  <a:srgbClr val="000000"/>
                </a:solidFill>
              </a:rPr>
              <a:t>DDL</a:t>
            </a:r>
            <a:r>
              <a:rPr lang="en-US" sz="2800" dirty="0">
                <a:solidFill>
                  <a:srgbClr val="000000"/>
                </a:solidFill>
              </a:rPr>
              <a:t>): </a:t>
            </a:r>
            <a:r>
              <a:rPr lang="en-US" sz="2800" dirty="0" smtClean="0">
                <a:solidFill>
                  <a:srgbClr val="000000"/>
                </a:solidFill>
              </a:rPr>
              <a:t>In many DBMSs where no strict separation of levels is maintained, DDL is used by the DBA and database designers to define both conceptual and interna</a:t>
            </a:r>
            <a:r>
              <a:rPr lang="en-US" dirty="0" smtClean="0">
                <a:solidFill>
                  <a:srgbClr val="000000"/>
                </a:solidFill>
              </a:rPr>
              <a:t>l schemas.</a:t>
            </a:r>
          </a:p>
          <a:p>
            <a:pPr>
              <a:buFont typeface="Times"/>
              <a:buChar char="•"/>
            </a:pPr>
            <a:endParaRPr lang="en-US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DBMS will have a DDL compiler whose function is to process DDL statements in order to identify descriptions of the schema constructs and store the schema description in the DBMS catalog.</a:t>
            </a:r>
          </a:p>
          <a:p>
            <a:pPr>
              <a:buFont typeface="Times"/>
              <a:buChar char="•"/>
            </a:pPr>
            <a:endParaRPr lang="en-US" sz="2800" dirty="0" smtClean="0">
              <a:solidFill>
                <a:srgbClr val="000000"/>
              </a:solidFill>
            </a:endParaRPr>
          </a:p>
          <a:p>
            <a:r>
              <a:rPr lang="en-US" dirty="0" smtClean="0"/>
              <a:t>Where a clear separation is maintained between the conceptual and internal levels, the DDL is used to specify the conceptual schema only.</a:t>
            </a:r>
          </a:p>
          <a:p>
            <a:pPr>
              <a:buFont typeface="Times"/>
              <a:buChar char="•"/>
            </a:pPr>
            <a:endParaRPr lang="en-US" sz="2800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Data Definition Language (DDL)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93336"/>
          </a:xfrm>
        </p:spPr>
        <p:txBody>
          <a:bodyPr/>
          <a:lstStyle/>
          <a:p>
            <a:r>
              <a:rPr lang="en-US" dirty="0"/>
              <a:t>It is used to create schema, tables, indexes, constraints, etc. in the database</a:t>
            </a:r>
            <a:r>
              <a:rPr lang="en-US" dirty="0" smtClean="0"/>
              <a:t>.</a:t>
            </a:r>
          </a:p>
          <a:p>
            <a:pPr marL="109728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Using </a:t>
            </a:r>
            <a:r>
              <a:rPr lang="en-US" dirty="0"/>
              <a:t>the DDL statements, you can create the skeleton of the database.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definition language is used to store the information of metadata like the number of tables and schemas, their names, indexes, columns in each table, constraints, </a:t>
            </a:r>
            <a:r>
              <a:rPr lang="en-US" dirty="0" smtClean="0"/>
              <a:t>etc.</a:t>
            </a: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1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Definition Language (DDL)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5053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Here are some tasks that come under DDL:</a:t>
            </a:r>
          </a:p>
          <a:p>
            <a:pPr marL="109728" indent="0">
              <a:buNone/>
            </a:pPr>
            <a:endParaRPr lang="en-US" b="1" dirty="0" smtClean="0"/>
          </a:p>
          <a:p>
            <a:pPr marL="109728" indent="0">
              <a:buNone/>
            </a:pPr>
            <a:r>
              <a:rPr lang="en-US" dirty="0"/>
              <a:t>CREATE DATABASE - </a:t>
            </a:r>
            <a:r>
              <a:rPr lang="en-US" dirty="0"/>
              <a:t>creates a new database</a:t>
            </a:r>
            <a:br>
              <a:rPr lang="en-US" dirty="0"/>
            </a:br>
            <a:r>
              <a:rPr lang="en-US" dirty="0"/>
              <a:t>ALTER DATABASE - </a:t>
            </a:r>
            <a:r>
              <a:rPr lang="en-US" dirty="0"/>
              <a:t>modifies a database</a:t>
            </a:r>
            <a:br>
              <a:rPr lang="en-US" dirty="0"/>
            </a:br>
            <a:r>
              <a:rPr lang="en-US" dirty="0"/>
              <a:t>CREATE TABLE - </a:t>
            </a:r>
            <a:r>
              <a:rPr lang="en-US" dirty="0"/>
              <a:t>creates a new table</a:t>
            </a:r>
            <a:br>
              <a:rPr lang="en-US" dirty="0"/>
            </a:br>
            <a:r>
              <a:rPr lang="en-US" dirty="0"/>
              <a:t>ALTER TABLE - </a:t>
            </a:r>
            <a:r>
              <a:rPr lang="en-US" dirty="0"/>
              <a:t>modifies a table</a:t>
            </a:r>
            <a:br>
              <a:rPr lang="en-US" dirty="0"/>
            </a:br>
            <a:r>
              <a:rPr lang="en-US" dirty="0"/>
              <a:t>DROP TABLE - </a:t>
            </a:r>
            <a:r>
              <a:rPr lang="en-US" dirty="0"/>
              <a:t>deletes a table</a:t>
            </a:r>
            <a:br>
              <a:rPr lang="en-US" dirty="0"/>
            </a:br>
            <a:r>
              <a:rPr lang="en-US" dirty="0"/>
              <a:t>CREATE INDEX - </a:t>
            </a:r>
            <a:r>
              <a:rPr lang="en-US" dirty="0"/>
              <a:t>creates an index (search key)</a:t>
            </a:r>
            <a:br>
              <a:rPr lang="en-US" dirty="0"/>
            </a:br>
            <a:r>
              <a:rPr lang="en-US" dirty="0"/>
              <a:t>DROP INDEX - </a:t>
            </a:r>
            <a:r>
              <a:rPr lang="en-US" dirty="0"/>
              <a:t>deletes an index</a:t>
            </a: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9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Storage Definition Language (SDL)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Is used to specify the Internal schema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The mapping between two schemas may be specified in either DDL or SDL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For the true three-schema architecture we need more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Definition Language (VDL)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used to specify the user view</a:t>
            </a:r>
          </a:p>
          <a:p>
            <a:r>
              <a:rPr lang="en-US" dirty="0" smtClean="0"/>
              <a:t>Mapping the view in conceptual schema</a:t>
            </a:r>
          </a:p>
          <a:p>
            <a:r>
              <a:rPr lang="en-US" dirty="0" smtClean="0"/>
              <a:t>In most DBMS DDL is used for both conceptual and </a:t>
            </a:r>
            <a:r>
              <a:rPr lang="en-US" smtClean="0"/>
              <a:t>external schemas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304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Manipulation Language (DML)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433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It is used for accessing and manipulating data in a database. It handles user requests</a:t>
            </a:r>
            <a:r>
              <a:rPr lang="en-US" dirty="0" smtClean="0"/>
              <a:t>.</a:t>
            </a:r>
          </a:p>
          <a:p>
            <a:pPr marL="109728" indent="0">
              <a:buNone/>
            </a:pPr>
            <a:r>
              <a:rPr lang="en-US" dirty="0" smtClean="0"/>
              <a:t>Here are some tasks </a:t>
            </a:r>
            <a:r>
              <a:rPr lang="en-US" dirty="0"/>
              <a:t>that come under DML:</a:t>
            </a:r>
          </a:p>
          <a:p>
            <a:pPr marL="109728" indent="0">
              <a:buNone/>
            </a:pPr>
            <a:r>
              <a:rPr lang="en-US" b="1" dirty="0"/>
              <a:t>Select:</a:t>
            </a:r>
            <a:r>
              <a:rPr lang="en-US" dirty="0"/>
              <a:t> It is used to retrieve data from a database.</a:t>
            </a:r>
          </a:p>
          <a:p>
            <a:pPr marL="109728" indent="0">
              <a:buNone/>
            </a:pPr>
            <a:r>
              <a:rPr lang="en-US" b="1" dirty="0"/>
              <a:t>Insert:</a:t>
            </a:r>
            <a:r>
              <a:rPr lang="en-US" dirty="0"/>
              <a:t> It is used to insert data into a table.</a:t>
            </a:r>
          </a:p>
          <a:p>
            <a:pPr marL="109728" indent="0">
              <a:buNone/>
            </a:pPr>
            <a:r>
              <a:rPr lang="en-US" b="1" dirty="0"/>
              <a:t>Update:</a:t>
            </a:r>
            <a:r>
              <a:rPr lang="en-US" dirty="0"/>
              <a:t> It is used to update existing data within a table.</a:t>
            </a:r>
          </a:p>
          <a:p>
            <a:pPr marL="109728" indent="0">
              <a:buNone/>
            </a:pPr>
            <a:r>
              <a:rPr lang="en-US" b="1" dirty="0"/>
              <a:t>Delete:</a:t>
            </a:r>
            <a:r>
              <a:rPr lang="en-US" dirty="0"/>
              <a:t> It is used to delete all records from a table.</a:t>
            </a:r>
          </a:p>
          <a:p>
            <a:pPr marL="109728" indent="0">
              <a:buNone/>
            </a:pPr>
            <a:r>
              <a:rPr lang="en-US" b="1" dirty="0" smtClean="0"/>
              <a:t>Lock </a:t>
            </a:r>
            <a:r>
              <a:rPr lang="en-US" b="1" dirty="0"/>
              <a:t>Table:</a:t>
            </a:r>
            <a:r>
              <a:rPr lang="en-US" dirty="0"/>
              <a:t> It controls concurrency.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5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DBMS Languages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b="1">
                <a:solidFill>
                  <a:srgbClr val="000000"/>
                </a:solidFill>
              </a:rPr>
              <a:t>Data Manipulation Language</a:t>
            </a:r>
            <a:r>
              <a:rPr lang="en-US">
                <a:solidFill>
                  <a:srgbClr val="000000"/>
                </a:solidFill>
              </a:rPr>
              <a:t> (</a:t>
            </a:r>
            <a:r>
              <a:rPr lang="en-US" b="1">
                <a:solidFill>
                  <a:srgbClr val="000000"/>
                </a:solidFill>
              </a:rPr>
              <a:t>DML</a:t>
            </a:r>
            <a:r>
              <a:rPr lang="en-US">
                <a:solidFill>
                  <a:srgbClr val="000000"/>
                </a:solidFill>
              </a:rPr>
              <a:t>): Used to specify database retrievals and updates.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>
                <a:solidFill>
                  <a:srgbClr val="000000"/>
                </a:solidFill>
              </a:rPr>
              <a:t>DML commands (</a:t>
            </a:r>
            <a:r>
              <a:rPr lang="en-US" b="1">
                <a:solidFill>
                  <a:srgbClr val="000000"/>
                </a:solidFill>
              </a:rPr>
              <a:t>data sublanguage</a:t>
            </a:r>
            <a:r>
              <a:rPr lang="en-US">
                <a:solidFill>
                  <a:srgbClr val="000000"/>
                </a:solidFill>
              </a:rPr>
              <a:t>) can be </a:t>
            </a:r>
            <a:r>
              <a:rPr lang="en-US" i="1">
                <a:solidFill>
                  <a:srgbClr val="000000"/>
                </a:solidFill>
              </a:rPr>
              <a:t>embedded</a:t>
            </a:r>
            <a:r>
              <a:rPr lang="en-US">
                <a:solidFill>
                  <a:srgbClr val="000000"/>
                </a:solidFill>
              </a:rPr>
              <a:t> in a general-purpose programming language (</a:t>
            </a:r>
            <a:r>
              <a:rPr lang="en-US" b="1">
                <a:solidFill>
                  <a:srgbClr val="000000"/>
                </a:solidFill>
              </a:rPr>
              <a:t>host language</a:t>
            </a:r>
            <a:r>
              <a:rPr lang="en-US">
                <a:solidFill>
                  <a:srgbClr val="000000"/>
                </a:solidFill>
              </a:rPr>
              <a:t>), such as COBOL, C or an Assembly Language.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>
                <a:solidFill>
                  <a:srgbClr val="000000"/>
                </a:solidFill>
              </a:rPr>
              <a:t>Alternatively, </a:t>
            </a:r>
            <a:r>
              <a:rPr lang="en-US" i="1">
                <a:solidFill>
                  <a:srgbClr val="000000"/>
                </a:solidFill>
              </a:rPr>
              <a:t>stand-alone</a:t>
            </a:r>
            <a:r>
              <a:rPr lang="en-US">
                <a:solidFill>
                  <a:srgbClr val="000000"/>
                </a:solidFill>
              </a:rPr>
              <a:t> DML commands can be applied directly (</a:t>
            </a:r>
            <a:r>
              <a:rPr lang="en-US" b="1">
                <a:solidFill>
                  <a:srgbClr val="000000"/>
                </a:solidFill>
              </a:rPr>
              <a:t>query language</a:t>
            </a:r>
            <a:r>
              <a:rPr lang="en-US">
                <a:solidFill>
                  <a:srgbClr val="000000"/>
                </a:solidFill>
              </a:rPr>
              <a:t>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DBMS Languages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Times"/>
              <a:buChar char="•"/>
            </a:pPr>
            <a:r>
              <a:rPr lang="en-US" b="1" dirty="0">
                <a:solidFill>
                  <a:srgbClr val="000000"/>
                </a:solidFill>
              </a:rPr>
              <a:t>High Level </a:t>
            </a:r>
            <a:r>
              <a:rPr lang="en-US" dirty="0">
                <a:solidFill>
                  <a:srgbClr val="000000"/>
                </a:solidFill>
              </a:rPr>
              <a:t>or</a:t>
            </a:r>
            <a:r>
              <a:rPr lang="en-US" b="1" dirty="0">
                <a:solidFill>
                  <a:srgbClr val="000000"/>
                </a:solidFill>
              </a:rPr>
              <a:t> Non-procedural Languages: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also called set at a time, e.g</a:t>
            </a:r>
            <a:r>
              <a:rPr lang="en-US" dirty="0">
                <a:solidFill>
                  <a:srgbClr val="000000"/>
                </a:solidFill>
              </a:rPr>
              <a:t>., SQL, are </a:t>
            </a:r>
            <a:r>
              <a:rPr lang="en-US" i="1" dirty="0">
                <a:solidFill>
                  <a:srgbClr val="000000"/>
                </a:solidFill>
              </a:rPr>
              <a:t>set-oriented </a:t>
            </a:r>
            <a:r>
              <a:rPr lang="en-US" dirty="0">
                <a:solidFill>
                  <a:srgbClr val="000000"/>
                </a:solidFill>
              </a:rPr>
              <a:t>and specify what data to retrieve than how to retrieve. Also called </a:t>
            </a:r>
            <a:r>
              <a:rPr lang="en-US" i="1" dirty="0">
                <a:solidFill>
                  <a:srgbClr val="000000"/>
                </a:solidFill>
              </a:rPr>
              <a:t>declarative</a:t>
            </a:r>
            <a:r>
              <a:rPr lang="en-US" dirty="0">
                <a:solidFill>
                  <a:srgbClr val="000000"/>
                </a:solidFill>
              </a:rPr>
              <a:t> languages.</a:t>
            </a:r>
          </a:p>
          <a:p>
            <a:pPr>
              <a:buFont typeface="Times"/>
              <a:buChar char="•"/>
            </a:pPr>
            <a:r>
              <a:rPr lang="en-US" b="1" dirty="0">
                <a:solidFill>
                  <a:srgbClr val="000000"/>
                </a:solidFill>
              </a:rPr>
              <a:t>Low Level </a:t>
            </a:r>
            <a:r>
              <a:rPr lang="en-US" dirty="0">
                <a:solidFill>
                  <a:srgbClr val="000000"/>
                </a:solidFill>
              </a:rPr>
              <a:t>or</a:t>
            </a:r>
            <a:r>
              <a:rPr lang="en-US" b="1" dirty="0">
                <a:solidFill>
                  <a:srgbClr val="000000"/>
                </a:solidFill>
              </a:rPr>
              <a:t> Procedural Languages: </a:t>
            </a:r>
            <a:r>
              <a:rPr lang="en-US" dirty="0" smtClean="0">
                <a:solidFill>
                  <a:srgbClr val="000000"/>
                </a:solidFill>
              </a:rPr>
              <a:t>also called</a:t>
            </a:r>
            <a:r>
              <a:rPr lang="en-US" b="1" dirty="0" smtClean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record-at-a-time</a:t>
            </a:r>
            <a:r>
              <a:rPr lang="en-US" dirty="0">
                <a:solidFill>
                  <a:srgbClr val="000000"/>
                </a:solidFill>
              </a:rPr>
              <a:t>;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they specify </a:t>
            </a:r>
            <a:r>
              <a:rPr lang="en-US" i="1" dirty="0">
                <a:solidFill>
                  <a:srgbClr val="000000"/>
                </a:solidFill>
              </a:rPr>
              <a:t>how</a:t>
            </a:r>
            <a:r>
              <a:rPr lang="en-US" dirty="0">
                <a:solidFill>
                  <a:srgbClr val="000000"/>
                </a:solidFill>
              </a:rPr>
              <a:t> to retrieve data and include constructs such as looping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Times"/>
              <a:buChar char="•"/>
            </a:pPr>
            <a:endParaRPr lang="en-US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Casual users utilize high-level query language, programmers utilize DML in embedded form, naïve users utilize user-friendly interfaces (casual or other users can also utilize the same)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Control Language (DCL)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/>
              <a:t>Here are some tasks that come under </a:t>
            </a:r>
            <a:r>
              <a:rPr lang="en-US" dirty="0" smtClean="0"/>
              <a:t>DCL:</a:t>
            </a:r>
          </a:p>
          <a:p>
            <a:endParaRPr lang="en-US" dirty="0"/>
          </a:p>
          <a:p>
            <a:pPr marL="109728" indent="0">
              <a:buNone/>
            </a:pPr>
            <a:r>
              <a:rPr lang="en-US" b="1" dirty="0" smtClean="0"/>
              <a:t>Grant</a:t>
            </a:r>
            <a:r>
              <a:rPr lang="en-US" dirty="0" smtClean="0"/>
              <a:t>: It is used to give user access privileges to a database.</a:t>
            </a:r>
          </a:p>
          <a:p>
            <a:pPr marL="109728" indent="0">
              <a:buNone/>
            </a:pPr>
            <a:r>
              <a:rPr lang="en-US" b="1" dirty="0" smtClean="0"/>
              <a:t>Revoke</a:t>
            </a:r>
            <a:r>
              <a:rPr lang="en-US" dirty="0" smtClean="0"/>
              <a:t>: It is used to take back permissions from the user.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6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DBMS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Menu-Based interfaces for Web Clients or Browsing</a:t>
            </a:r>
          </a:p>
          <a:p>
            <a:r>
              <a:rPr lang="en-US" dirty="0" smtClean="0"/>
              <a:t>Form-Based Interfaces</a:t>
            </a:r>
          </a:p>
          <a:p>
            <a:r>
              <a:rPr lang="en-US" dirty="0" smtClean="0"/>
              <a:t>Graphical User Interfaces</a:t>
            </a:r>
          </a:p>
          <a:p>
            <a:r>
              <a:rPr lang="en-US" dirty="0" smtClean="0"/>
              <a:t>Natural Language Interfaces</a:t>
            </a:r>
          </a:p>
          <a:p>
            <a:r>
              <a:rPr lang="en-US" dirty="0" smtClean="0"/>
              <a:t>Interfaces for Parametric Users</a:t>
            </a:r>
          </a:p>
          <a:p>
            <a:r>
              <a:rPr lang="en-US" dirty="0" smtClean="0"/>
              <a:t>Interfaces for the DBA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600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Menu-Based Interfaces for Web Clients or Browsing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0"/>
            <a:ext cx="8229600" cy="33741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List of options presented to the users called menus that lead the user through the formulation of a request</a:t>
            </a:r>
          </a:p>
          <a:p>
            <a:r>
              <a:rPr lang="en-US" dirty="0" smtClean="0"/>
              <a:t>No need to memorize the specific command or syntax of a query language</a:t>
            </a:r>
          </a:p>
          <a:p>
            <a:r>
              <a:rPr lang="en-US" dirty="0" smtClean="0"/>
              <a:t>Query is composed step-by-step by picking options from a menu that is displayed by the system such as pull down menus.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Form-Based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3907536"/>
          </a:xfrm>
        </p:spPr>
        <p:txBody>
          <a:bodyPr/>
          <a:lstStyle/>
          <a:p>
            <a:r>
              <a:rPr lang="en-US" dirty="0" smtClean="0"/>
              <a:t>Displays a form to each user</a:t>
            </a:r>
          </a:p>
          <a:p>
            <a:r>
              <a:rPr lang="en-US" dirty="0" smtClean="0"/>
              <a:t>Fill the entries in the form (entering or retrieving data)</a:t>
            </a:r>
          </a:p>
          <a:p>
            <a:r>
              <a:rPr lang="en-US" dirty="0" smtClean="0"/>
              <a:t>Designed for Naïve users as interfaces to </a:t>
            </a:r>
            <a:r>
              <a:rPr lang="en-US" smtClean="0"/>
              <a:t>canned transactions</a:t>
            </a:r>
            <a:endParaRPr lang="en-US" dirty="0" smtClean="0"/>
          </a:p>
          <a:p>
            <a:r>
              <a:rPr lang="en-US" dirty="0" smtClean="0"/>
              <a:t>Forms specification languages (SQL* forms, Oracle Forms) help programmers to specify such forms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066800"/>
          </a:xfrm>
        </p:spPr>
        <p:txBody>
          <a:bodyPr/>
          <a:lstStyle/>
          <a:p>
            <a:r>
              <a:rPr lang="en-US" dirty="0" smtClean="0"/>
              <a:t>Graphical User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678936"/>
          </a:xfrm>
        </p:spPr>
        <p:txBody>
          <a:bodyPr/>
          <a:lstStyle/>
          <a:p>
            <a:r>
              <a:rPr lang="en-US" dirty="0" smtClean="0"/>
              <a:t>Displays a schema to user in diagrammatic form</a:t>
            </a:r>
          </a:p>
          <a:p>
            <a:r>
              <a:rPr lang="en-US" dirty="0" smtClean="0"/>
              <a:t>Specify the query by manipulating the diagram</a:t>
            </a:r>
          </a:p>
          <a:p>
            <a:r>
              <a:rPr lang="en-US" dirty="0" smtClean="0"/>
              <a:t>Utilizes both menus and forms</a:t>
            </a:r>
          </a:p>
          <a:p>
            <a:r>
              <a:rPr lang="en-US" dirty="0" smtClean="0"/>
              <a:t>Uses the pointing device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Natural Language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Accepts request written in English</a:t>
            </a:r>
          </a:p>
          <a:p>
            <a:r>
              <a:rPr lang="en-US" dirty="0" smtClean="0"/>
              <a:t>Attempt to understand the request</a:t>
            </a:r>
          </a:p>
          <a:p>
            <a:r>
              <a:rPr lang="en-US" dirty="0" smtClean="0"/>
              <a:t>Has its own schema</a:t>
            </a:r>
          </a:p>
          <a:p>
            <a:r>
              <a:rPr lang="en-US" dirty="0" smtClean="0"/>
              <a:t>Include dictionary important words</a:t>
            </a:r>
          </a:p>
          <a:p>
            <a:r>
              <a:rPr lang="en-US" dirty="0" smtClean="0"/>
              <a:t>Produces the high-level query and submitted to the DBMS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Speech Input and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Limited use of speech as an input query and speech as an answer to a question or result of a request is becoming commonplace.</a:t>
            </a:r>
          </a:p>
          <a:p>
            <a:r>
              <a:rPr lang="en-US" dirty="0" smtClean="0"/>
              <a:t>Applications with limited vocabulary such as telephone directory, flight arrival/departure, and bank account information are allowing speech for input and output to enable ordinary folks to access this information.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3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Interfaces for Parametric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 steps of operations which have to perform repeatedly i.e., Bank tellers</a:t>
            </a:r>
          </a:p>
          <a:p>
            <a:r>
              <a:rPr lang="en-US" dirty="0" smtClean="0"/>
              <a:t>Design some special interface</a:t>
            </a:r>
          </a:p>
          <a:p>
            <a:r>
              <a:rPr lang="en-US" dirty="0" smtClean="0"/>
              <a:t>Small set of abbreviated commands</a:t>
            </a:r>
          </a:p>
          <a:p>
            <a:r>
              <a:rPr lang="en-US" dirty="0" smtClean="0"/>
              <a:t>Proceed with a minimal number of keystrokes (function keys)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Interfaces for the DBA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/>
              <a:buChar char="•"/>
            </a:pPr>
            <a:r>
              <a:rPr lang="en-US" dirty="0" smtClean="0"/>
              <a:t>Most database systems contain privileged commands that can be used only by the DBA's staff. </a:t>
            </a:r>
          </a:p>
          <a:p>
            <a:pPr lvl="1"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Creating accounts, granting authorizations</a:t>
            </a:r>
          </a:p>
          <a:p>
            <a:pPr lvl="1"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Setting system parameters</a:t>
            </a:r>
          </a:p>
          <a:p>
            <a:pPr lvl="1"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Changing schemas or access path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633</TotalTime>
  <Words>965</Words>
  <Application>Microsoft Office PowerPoint</Application>
  <PresentationFormat>On-screen Show (4:3)</PresentationFormat>
  <Paragraphs>135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Urban</vt:lpstr>
      <vt:lpstr>Database Systems </vt:lpstr>
      <vt:lpstr>Today’s agenda</vt:lpstr>
      <vt:lpstr>DBMS Languages</vt:lpstr>
      <vt:lpstr>Data Definition Language (DDL)</vt:lpstr>
      <vt:lpstr>Data Definition Language (DDL) </vt:lpstr>
      <vt:lpstr>Storage Definition Language (SDL) </vt:lpstr>
      <vt:lpstr>View Definition Language (VDL)</vt:lpstr>
      <vt:lpstr>Data Manipulation Language (DML)</vt:lpstr>
      <vt:lpstr>DBMS Languages</vt:lpstr>
      <vt:lpstr>DBMS Languages</vt:lpstr>
      <vt:lpstr>Data Control Language (DCL)</vt:lpstr>
      <vt:lpstr>DBMS Interfaces</vt:lpstr>
      <vt:lpstr>Menu-Based Interfaces for Web Clients or Browsing</vt:lpstr>
      <vt:lpstr>Form-Based Interfaces</vt:lpstr>
      <vt:lpstr>Graphical User Interfaces</vt:lpstr>
      <vt:lpstr>Natural Language Interfaces</vt:lpstr>
      <vt:lpstr>Speech Input and Output</vt:lpstr>
      <vt:lpstr>Interfaces for Parametric Users</vt:lpstr>
      <vt:lpstr>Interfaces for the DBA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44</cp:revision>
  <dcterms:created xsi:type="dcterms:W3CDTF">2006-08-16T00:00:00Z</dcterms:created>
  <dcterms:modified xsi:type="dcterms:W3CDTF">2020-10-15T06:56:07Z</dcterms:modified>
</cp:coreProperties>
</file>
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4"/>
  </p:notesMasterIdLst>
  <p:sldIdLst>
    <p:sldId id="256" r:id="rId2"/>
    <p:sldId id="257" r:id="rId3"/>
    <p:sldId id="271" r:id="rId4"/>
    <p:sldId id="272" r:id="rId5"/>
    <p:sldId id="273" r:id="rId6"/>
    <p:sldId id="274" r:id="rId7"/>
    <p:sldId id="275" r:id="rId8"/>
    <p:sldId id="276" r:id="rId9"/>
    <p:sldId id="277" r:id="rId10"/>
    <p:sldId id="278" r:id="rId11"/>
    <p:sldId id="279" r:id="rId12"/>
    <p:sldId id="280" r:id="rId13"/>
    <p:sldId id="281" r:id="rId14"/>
    <p:sldId id="282" r:id="rId15"/>
    <p:sldId id="283" r:id="rId16"/>
    <p:sldId id="284" r:id="rId17"/>
    <p:sldId id="285" r:id="rId18"/>
    <p:sldId id="286" r:id="rId19"/>
    <p:sldId id="287" r:id="rId20"/>
    <p:sldId id="289" r:id="rId21"/>
    <p:sldId id="290" r:id="rId22"/>
    <p:sldId id="291"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0"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56FB0BF-2B39-4FA3-AA3B-50C528D01239}" type="datetimeFigureOut">
              <a:rPr lang="en-US" smtClean="0"/>
              <a:pPr/>
              <a:t>05-Mar-20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FD19676-F383-43FC-93C2-669064502289}" type="slidenum">
              <a:rPr lang="en-US" smtClean="0"/>
              <a:pPr/>
              <a:t>‹#›</a:t>
            </a:fld>
            <a:endParaRPr lang="en-US"/>
          </a:p>
        </p:txBody>
      </p:sp>
    </p:spTree>
    <p:extLst>
      <p:ext uri="{BB962C8B-B14F-4D97-AF65-F5344CB8AC3E}">
        <p14:creationId xmlns:p14="http://schemas.microsoft.com/office/powerpoint/2010/main" val="745124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3" name="Rectangle 22"/>
          <p:cNvSpPr/>
          <p:nvPr/>
        </p:nvSpPr>
        <p:spPr>
          <a:xfrm flipV="1">
            <a:off x="5410182" y="3810000"/>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4" name="Rectangle 23"/>
          <p:cNvSpPr/>
          <p:nvPr/>
        </p:nvSpPr>
        <p:spPr>
          <a:xfrm flipV="1">
            <a:off x="5410200" y="3897010"/>
            <a:ext cx="3733801" cy="192024"/>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5" name="Rectangle 24"/>
          <p:cNvSpPr/>
          <p:nvPr/>
        </p:nvSpPr>
        <p:spPr>
          <a:xfrm flipV="1">
            <a:off x="5410200" y="4115167"/>
            <a:ext cx="3733801"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6" name="Rectangle 25"/>
          <p:cNvSpPr/>
          <p:nvPr/>
        </p:nvSpPr>
        <p:spPr>
          <a:xfrm flipV="1">
            <a:off x="5410200" y="4164403"/>
            <a:ext cx="1965960" cy="18288"/>
          </a:xfrm>
          <a:prstGeom prst="rect">
            <a:avLst/>
          </a:prstGeom>
          <a:solidFill>
            <a:schemeClr val="accent2">
              <a:alpha val="6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Rectangle 26"/>
          <p:cNvSpPr/>
          <p:nvPr/>
        </p:nvSpPr>
        <p:spPr>
          <a:xfrm flipV="1">
            <a:off x="5410200" y="4199572"/>
            <a:ext cx="1965960" cy="9144"/>
          </a:xfrm>
          <a:prstGeom prst="rect">
            <a:avLst/>
          </a:prstGeom>
          <a:solidFill>
            <a:schemeClr val="accent2">
              <a:alpha val="65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0" name="Rounded Rectangle 29"/>
          <p:cNvSpPr/>
          <p:nvPr/>
        </p:nvSpPr>
        <p:spPr bwMode="white">
          <a:xfrm>
            <a:off x="5410200" y="3962400"/>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1" name="Rounded Rectangle 30"/>
          <p:cNvSpPr/>
          <p:nvPr/>
        </p:nvSpPr>
        <p:spPr bwMode="white">
          <a:xfrm>
            <a:off x="7376507" y="406098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Rectangle 6"/>
          <p:cNvSpPr/>
          <p:nvPr/>
        </p:nvSpPr>
        <p:spPr>
          <a:xfrm>
            <a:off x="1" y="3649662"/>
            <a:ext cx="9144000" cy="244170"/>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0" y="3675527"/>
            <a:ext cx="9144001" cy="14067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flipV="1">
            <a:off x="6414051" y="3643090"/>
            <a:ext cx="2729950" cy="248432"/>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a:xfrm>
            <a:off x="0" y="0"/>
            <a:ext cx="9144000" cy="3701700"/>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2401887"/>
            <a:ext cx="8458200" cy="1470025"/>
          </a:xfrm>
        </p:spPr>
        <p:txBody>
          <a:bodyPr anchor="b"/>
          <a:lstStyle>
            <a:lvl1pPr>
              <a:defRPr sz="4400">
                <a:solidFill>
                  <a:schemeClr val="bg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457200" y="3899938"/>
            <a:ext cx="4953000" cy="1752600"/>
          </a:xfrm>
        </p:spPr>
        <p:txBody>
          <a:bodyPr/>
          <a:lstStyle>
            <a:lvl1pPr marL="64008" indent="0" algn="l">
              <a:buNone/>
              <a:defRPr sz="24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705600" y="4206240"/>
            <a:ext cx="960120" cy="457200"/>
          </a:xfrm>
        </p:spPr>
        <p:txBody>
          <a:bodyPr/>
          <a:lstStyle/>
          <a:p>
            <a:r>
              <a:rPr lang="en-US" smtClean="0"/>
              <a:t>Toqir Ahmad Rana</a:t>
            </a:r>
            <a:endParaRPr lang="en-US"/>
          </a:p>
        </p:txBody>
      </p:sp>
      <p:sp>
        <p:nvSpPr>
          <p:cNvPr id="17" name="Footer Placeholder 16"/>
          <p:cNvSpPr>
            <a:spLocks noGrp="1"/>
          </p:cNvSpPr>
          <p:nvPr>
            <p:ph type="ftr" sz="quarter" idx="11"/>
          </p:nvPr>
        </p:nvSpPr>
        <p:spPr>
          <a:xfrm>
            <a:off x="5410200" y="4205288"/>
            <a:ext cx="1295400" cy="457200"/>
          </a:xfrm>
        </p:spPr>
        <p:txBody>
          <a:bodyPr/>
          <a:lstStyle/>
          <a:p>
            <a:r>
              <a:rPr lang="en-US" smtClean="0"/>
              <a:t>Database Management Systems</a:t>
            </a:r>
            <a:endParaRPr lang="en-US"/>
          </a:p>
        </p:txBody>
      </p:sp>
      <p:sp>
        <p:nvSpPr>
          <p:cNvPr id="29" name="Slide Number Placeholder 28"/>
          <p:cNvSpPr>
            <a:spLocks noGrp="1"/>
          </p:cNvSpPr>
          <p:nvPr>
            <p:ph type="sldNum" sz="quarter" idx="12"/>
          </p:nvPr>
        </p:nvSpPr>
        <p:spPr>
          <a:xfrm>
            <a:off x="8320088" y="1136"/>
            <a:ext cx="747712" cy="365760"/>
          </a:xfrm>
        </p:spPr>
        <p:txBody>
          <a:bodyPr/>
          <a:lstStyle>
            <a:lvl1pPr algn="r">
              <a:defRPr sz="1800">
                <a:solidFill>
                  <a:schemeClr val="bg1"/>
                </a:solidFill>
              </a:defRPr>
            </a:lvl1p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981200"/>
            <a:ext cx="7772400" cy="1362075"/>
          </a:xfrm>
        </p:spPr>
        <p:txBody>
          <a:bodyPr anchor="b">
            <a:noAutofit/>
          </a:bodyPr>
          <a:lstStyle>
            <a:lvl1pPr algn="l">
              <a:buNone/>
              <a:defRPr sz="4300" b="1" cap="none" baseline="0">
                <a:ln w="12700">
                  <a:solidFill>
                    <a:schemeClr val="accent2">
                      <a:shade val="90000"/>
                      <a:satMod val="150000"/>
                    </a:schemeClr>
                  </a:solidFill>
                </a:ln>
                <a:solidFill>
                  <a:srgbClr val="FFFFFF"/>
                </a:solidFill>
                <a:effectLst>
                  <a:outerShdw blurRad="38100" dist="38100" dir="5400000" algn="tl" rotWithShape="0">
                    <a:srgbClr val="000000">
                      <a:alpha val="25000"/>
                    </a:srgb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3367088"/>
            <a:ext cx="7772400" cy="1509712"/>
          </a:xfrm>
        </p:spPr>
        <p:txBody>
          <a:bodyPr anchor="t"/>
          <a:lstStyle>
            <a:lvl1pPr marL="45720" indent="0">
              <a:buNone/>
              <a:defRPr sz="2100" b="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2249424"/>
            <a:ext cx="4038600" cy="4525963"/>
          </a:xfrm>
        </p:spPr>
        <p:txBody>
          <a:bodyPr/>
          <a:lstStyle>
            <a:lvl1pPr>
              <a:defRPr sz="2000"/>
            </a:lvl1pPr>
            <a:lvl2pPr>
              <a:defRPr sz="1900"/>
            </a:lvl2pPr>
            <a:lvl3pPr>
              <a:defRPr sz="18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1000" y="1143000"/>
            <a:ext cx="8382000" cy="1069848"/>
          </a:xfrm>
        </p:spPr>
        <p:txBody>
          <a:bodyPr anchor="ctr"/>
          <a:lstStyle>
            <a:lvl1pPr>
              <a:defRPr sz="4000" b="0" i="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381000" y="2244970"/>
            <a:ext cx="4041648"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21225" y="2244970"/>
            <a:ext cx="4041775" cy="457200"/>
          </a:xfrm>
          <a:solidFill>
            <a:schemeClr val="accent2">
              <a:satMod val="150000"/>
              <a:alpha val="25000"/>
            </a:schemeClr>
          </a:solidFill>
          <a:ln w="12700">
            <a:solidFill>
              <a:schemeClr val="accent2"/>
            </a:solidFill>
          </a:ln>
        </p:spPr>
        <p:txBody>
          <a:bodyPr anchor="ctr">
            <a:noAutofit/>
          </a:bodyPr>
          <a:lstStyle>
            <a:lvl1pPr marL="45720" indent="0">
              <a:buNone/>
              <a:defRPr sz="1900" b="1">
                <a:solidFill>
                  <a:schemeClr val="tx1">
                    <a:tint val="95000"/>
                  </a:schemeClr>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381000" y="2708519"/>
            <a:ext cx="4041648"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718304" y="2708519"/>
            <a:ext cx="4041775" cy="3886200"/>
          </a:xfrm>
        </p:spPr>
        <p:txBody>
          <a:bodyPr/>
          <a:lstStyle>
            <a:lvl1pPr>
              <a:defRPr sz="20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Date Placeholder 25"/>
          <p:cNvSpPr>
            <a:spLocks noGrp="1"/>
          </p:cNvSpPr>
          <p:nvPr>
            <p:ph type="dt" sz="half" idx="10"/>
          </p:nvPr>
        </p:nvSpPr>
        <p:spPr/>
        <p:txBody>
          <a:bodyPr rtlCol="0"/>
          <a:lstStyle/>
          <a:p>
            <a:r>
              <a:rPr lang="en-US" smtClean="0"/>
              <a:t>Toqir Ahmad Rana</a:t>
            </a:r>
            <a:endParaRPr lang="en-US"/>
          </a:p>
        </p:txBody>
      </p:sp>
      <p:sp>
        <p:nvSpPr>
          <p:cNvPr id="27" name="Slide Number Placeholder 26"/>
          <p:cNvSpPr>
            <a:spLocks noGrp="1"/>
          </p:cNvSpPr>
          <p:nvPr>
            <p:ph type="sldNum" sz="quarter" idx="11"/>
          </p:nvPr>
        </p:nvSpPr>
        <p:spPr/>
        <p:txBody>
          <a:bodyPr rtlCol="0"/>
          <a:lstStyle/>
          <a:p>
            <a:fld id="{B6F15528-21DE-4FAA-801E-634DDDAF4B2B}" type="slidenum">
              <a:rPr lang="en-US" smtClean="0"/>
              <a:pPr/>
              <a:t>‹#›</a:t>
            </a:fld>
            <a:endParaRPr lang="en-US"/>
          </a:p>
        </p:txBody>
      </p:sp>
      <p:sp>
        <p:nvSpPr>
          <p:cNvPr id="28" name="Footer Placeholder 27"/>
          <p:cNvSpPr>
            <a:spLocks noGrp="1"/>
          </p:cNvSpPr>
          <p:nvPr>
            <p:ph type="ftr" sz="quarter" idx="12"/>
          </p:nvPr>
        </p:nvSpPr>
        <p:spPr/>
        <p:txBody>
          <a:bodyPr rtlCol="0"/>
          <a:lstStyle/>
          <a:p>
            <a:r>
              <a:rPr lang="en-US" smtClean="0"/>
              <a:t>Database Management Systems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1069848"/>
          </a:xfrm>
        </p:spPr>
        <p:txBody>
          <a:bodyPr anchor="ctr"/>
          <a:lstStyle>
            <a:lvl1pPr>
              <a:defRPr sz="4000">
                <a:solidFill>
                  <a:schemeClr val="tx2"/>
                </a:solidFill>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a:xfrm>
            <a:off x="6583680" y="612648"/>
            <a:ext cx="957264" cy="457200"/>
          </a:xfrm>
        </p:spPr>
        <p:txBody>
          <a:bodyPr/>
          <a:lstStyle/>
          <a:p>
            <a:r>
              <a:rPr lang="en-US" smtClean="0"/>
              <a:t>Toqir Ahmad Rana</a:t>
            </a:r>
            <a:endParaRPr lang="en-US"/>
          </a:p>
        </p:txBody>
      </p:sp>
      <p:sp>
        <p:nvSpPr>
          <p:cNvPr id="4" name="Footer Placeholder 3"/>
          <p:cNvSpPr>
            <a:spLocks noGrp="1"/>
          </p:cNvSpPr>
          <p:nvPr>
            <p:ph type="ftr" sz="quarter" idx="11"/>
          </p:nvPr>
        </p:nvSpPr>
        <p:spPr>
          <a:xfrm>
            <a:off x="5257800" y="612648"/>
            <a:ext cx="1325880" cy="457200"/>
          </a:xfrm>
        </p:spPr>
        <p:txBody>
          <a:bodyPr/>
          <a:lstStyle/>
          <a:p>
            <a:r>
              <a:rPr lang="en-US" smtClean="0"/>
              <a:t>Database Management Systems</a:t>
            </a:r>
            <a:endParaRPr lang="en-US"/>
          </a:p>
        </p:txBody>
      </p:sp>
      <p:sp>
        <p:nvSpPr>
          <p:cNvPr id="5" name="Slide Number Placeholder 4"/>
          <p:cNvSpPr>
            <a:spLocks noGrp="1"/>
          </p:cNvSpPr>
          <p:nvPr>
            <p:ph type="sldNum" sz="quarter" idx="12"/>
          </p:nvPr>
        </p:nvSpPr>
        <p:spPr>
          <a:xfrm>
            <a:off x="8174736" y="2272"/>
            <a:ext cx="762000" cy="365760"/>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Toqir Ahmad Rana</a:t>
            </a:r>
            <a:endParaRPr lang="en-US"/>
          </a:p>
        </p:txBody>
      </p:sp>
      <p:sp>
        <p:nvSpPr>
          <p:cNvPr id="3" name="Footer Placeholder 2"/>
          <p:cNvSpPr>
            <a:spLocks noGrp="1"/>
          </p:cNvSpPr>
          <p:nvPr>
            <p:ph type="ftr" sz="quarter" idx="11"/>
          </p:nvPr>
        </p:nvSpPr>
        <p:spPr/>
        <p:txBody>
          <a:bodyPr/>
          <a:lstStyle/>
          <a:p>
            <a:r>
              <a:rPr lang="en-US" smtClean="0"/>
              <a:t>Database Management Systems</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53496" y="1101970"/>
            <a:ext cx="3383280" cy="877824"/>
          </a:xfrm>
        </p:spPr>
        <p:txBody>
          <a:bodyPr anchor="b"/>
          <a:lstStyle>
            <a:lvl1pPr algn="l">
              <a:buNone/>
              <a:defRPr sz="1800" b="1"/>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5353496" y="2010727"/>
            <a:ext cx="3383280" cy="4617720"/>
          </a:xfrm>
        </p:spPr>
        <p:txBody>
          <a:bodyPr/>
          <a:lstStyle>
            <a:lvl1pPr marL="9144"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152400" y="776287"/>
            <a:ext cx="5102352" cy="5852160"/>
          </a:xfrm>
        </p:spPr>
        <p:txBody>
          <a:bodyPr/>
          <a:lstStyle>
            <a:lvl1pPr>
              <a:defRPr sz="3200"/>
            </a:lvl1pPr>
            <a:lvl2pPr>
              <a:defRPr sz="2800"/>
            </a:lvl2pPr>
            <a:lvl3pPr>
              <a:defRPr sz="24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440434" y="1109160"/>
            <a:ext cx="586803" cy="4681637"/>
          </a:xfrm>
        </p:spPr>
        <p:txBody>
          <a:bodyPr vert="vert270" lIns="45720" tIns="0" rIns="45720" anchor="t"/>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03671" y="1143000"/>
            <a:ext cx="4572000" cy="4572000"/>
          </a:xfrm>
          <a:solidFill>
            <a:srgbClr val="EAEAEA"/>
          </a:solidFill>
          <a:ln w="50800">
            <a:solidFill>
              <a:srgbClr val="FFFFFF"/>
            </a:solidFill>
            <a:miter lim="800000"/>
          </a:ln>
          <a:effectLst>
            <a:outerShdw blurRad="57150" dist="31750" dir="4800000" algn="tl" rotWithShape="0">
              <a:srgbClr val="000000">
                <a:alpha val="25000"/>
              </a:srgbClr>
            </a:outerShdw>
          </a:effectLst>
          <a:scene3d>
            <a:camera prst="orthographicFront"/>
            <a:lightRig rig="twoPt" dir="t">
              <a:rot lat="0" lon="0" rev="7200000"/>
            </a:lightRig>
          </a:scene3d>
          <a:sp3d contourW="2540">
            <a:bevelT w="25400" h="19050"/>
            <a:contourClr>
              <a:srgbClr val="AEAEAE"/>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6088443" y="3274308"/>
            <a:ext cx="2590800" cy="2516489"/>
          </a:xfrm>
        </p:spPr>
        <p:txBody>
          <a:bodyPr lIns="0" tIns="0" rIns="45720" anchor="t"/>
          <a:lstStyle>
            <a:lvl1pPr marL="0" indent="0">
              <a:lnSpc>
                <a:spcPct val="100000"/>
              </a:lnSpc>
              <a:spcBef>
                <a:spcPts val="0"/>
              </a:spcBef>
              <a:buFontTx/>
              <a:buNone/>
              <a:defRPr sz="13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r>
              <a:rPr lang="en-US" smtClean="0"/>
              <a:t>Toqir Ahmad Rana</a:t>
            </a:r>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143000"/>
            <a:ext cx="1905000" cy="5486400"/>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1143000"/>
            <a:ext cx="6248400" cy="5486400"/>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 name="Rectangle 27"/>
          <p:cNvSpPr/>
          <p:nvPr/>
        </p:nvSpPr>
        <p:spPr>
          <a:xfrm>
            <a:off x="1" y="366818"/>
            <a:ext cx="9144000" cy="84407"/>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Rectangle 28"/>
          <p:cNvSpPr/>
          <p:nvPr/>
        </p:nvSpPr>
        <p:spPr>
          <a:xfrm>
            <a:off x="0" y="-1"/>
            <a:ext cx="9144000" cy="310663"/>
          </a:xfrm>
          <a:prstGeom prst="rect">
            <a:avLst/>
          </a:prstGeom>
          <a:solidFill>
            <a:schemeClr val="tx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0" name="Rectangle 29"/>
          <p:cNvSpPr/>
          <p:nvPr/>
        </p:nvSpPr>
        <p:spPr>
          <a:xfrm>
            <a:off x="0" y="308276"/>
            <a:ext cx="9144001" cy="91441"/>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1" name="Rectangle 30"/>
          <p:cNvSpPr/>
          <p:nvPr/>
        </p:nvSpPr>
        <p:spPr>
          <a:xfrm flipV="1">
            <a:off x="5410182" y="360246"/>
            <a:ext cx="3733819" cy="91087"/>
          </a:xfrm>
          <a:prstGeom prst="rect">
            <a:avLst/>
          </a:prstGeom>
          <a:solidFill>
            <a:schemeClr val="accent2">
              <a:alpha val="10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flipV="1">
            <a:off x="5410200" y="440112"/>
            <a:ext cx="3733801" cy="180035"/>
          </a:xfrm>
          <a:prstGeom prst="rect">
            <a:avLst/>
          </a:prstGeom>
          <a:solidFill>
            <a:schemeClr val="accent2">
              <a:alpha val="50000"/>
            </a:scheme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3" name="Rounded Rectangle 32"/>
          <p:cNvSpPr/>
          <p:nvPr/>
        </p:nvSpPr>
        <p:spPr bwMode="white">
          <a:xfrm>
            <a:off x="5407339" y="497504"/>
            <a:ext cx="3063240" cy="27432"/>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34" name="Rounded Rectangle 33"/>
          <p:cNvSpPr/>
          <p:nvPr/>
        </p:nvSpPr>
        <p:spPr bwMode="white">
          <a:xfrm>
            <a:off x="7373646" y="588943"/>
            <a:ext cx="1600200" cy="36576"/>
          </a:xfrm>
          <a:prstGeom prst="roundRect">
            <a:avLst>
              <a:gd name="adj" fmla="val 16667"/>
            </a:avLst>
          </a:prstGeom>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5" name="Rectangle 34"/>
          <p:cNvSpPr/>
          <p:nvPr/>
        </p:nvSpPr>
        <p:spPr bwMode="invGray">
          <a:xfrm>
            <a:off x="9084966" y="-2001"/>
            <a:ext cx="57626"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6" name="Rectangle 35"/>
          <p:cNvSpPr/>
          <p:nvPr/>
        </p:nvSpPr>
        <p:spPr bwMode="invGray">
          <a:xfrm>
            <a:off x="9044481" y="-2001"/>
            <a:ext cx="27432" cy="621792"/>
          </a:xfrm>
          <a:prstGeom prst="rect">
            <a:avLst/>
          </a:prstGeom>
          <a:solidFill>
            <a:srgbClr val="FFFFFF">
              <a:alpha val="65098"/>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37" name="Rectangle 36"/>
          <p:cNvSpPr/>
          <p:nvPr/>
        </p:nvSpPr>
        <p:spPr bwMode="invGray">
          <a:xfrm>
            <a:off x="9025428" y="-2001"/>
            <a:ext cx="9144" cy="621792"/>
          </a:xfrm>
          <a:prstGeom prst="rect">
            <a:avLst/>
          </a:prstGeom>
          <a:solidFill>
            <a:srgbClr val="FFFFFF">
              <a:alpha val="6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8" name="Rectangle 37"/>
          <p:cNvSpPr/>
          <p:nvPr/>
        </p:nvSpPr>
        <p:spPr bwMode="invGray">
          <a:xfrm>
            <a:off x="8975423" y="-2001"/>
            <a:ext cx="27432" cy="621792"/>
          </a:xfrm>
          <a:prstGeom prst="rect">
            <a:avLst/>
          </a:prstGeom>
          <a:solidFill>
            <a:srgbClr val="FFFFFF">
              <a:alpha val="4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9" name="Rectangle 38"/>
          <p:cNvSpPr/>
          <p:nvPr/>
        </p:nvSpPr>
        <p:spPr bwMode="invGray">
          <a:xfrm>
            <a:off x="8915677" y="380"/>
            <a:ext cx="54864" cy="585216"/>
          </a:xfrm>
          <a:prstGeom prst="rect">
            <a:avLst/>
          </a:prstGeom>
          <a:solidFill>
            <a:srgbClr val="FFFFFF">
              <a:alpha val="20000"/>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40" name="Rectangle 39"/>
          <p:cNvSpPr/>
          <p:nvPr/>
        </p:nvSpPr>
        <p:spPr bwMode="invGray">
          <a:xfrm>
            <a:off x="8873475" y="380"/>
            <a:ext cx="9144" cy="585216"/>
          </a:xfrm>
          <a:prstGeom prst="rect">
            <a:avLst/>
          </a:prstGeom>
          <a:solidFill>
            <a:srgbClr val="FFFFFF">
              <a:alpha val="30196"/>
            </a:srgbClr>
          </a:solidFill>
          <a:ln w="508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Title Placeholder 21"/>
          <p:cNvSpPr>
            <a:spLocks noGrp="1"/>
          </p:cNvSpPr>
          <p:nvPr>
            <p:ph type="title"/>
          </p:nvPr>
        </p:nvSpPr>
        <p:spPr>
          <a:xfrm>
            <a:off x="457200" y="1143000"/>
            <a:ext cx="8229600" cy="10668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2249424"/>
            <a:ext cx="8229600" cy="432511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586536" y="612648"/>
            <a:ext cx="957264" cy="457200"/>
          </a:xfrm>
          <a:prstGeom prst="rect">
            <a:avLst/>
          </a:prstGeom>
        </p:spPr>
        <p:txBody>
          <a:bodyPr vert="horz"/>
          <a:lstStyle>
            <a:lvl1pPr algn="l" eaLnBrk="1" latinLnBrk="0" hangingPunct="1">
              <a:defRPr kumimoji="0" sz="800">
                <a:solidFill>
                  <a:schemeClr val="accent2"/>
                </a:solidFill>
              </a:defRPr>
            </a:lvl1pPr>
          </a:lstStyle>
          <a:p>
            <a:r>
              <a:rPr lang="en-US" smtClean="0"/>
              <a:t>Toqir Ahmad Rana</a:t>
            </a:r>
            <a:endParaRPr lang="en-US"/>
          </a:p>
        </p:txBody>
      </p:sp>
      <p:sp>
        <p:nvSpPr>
          <p:cNvPr id="3" name="Footer Placeholder 2"/>
          <p:cNvSpPr>
            <a:spLocks noGrp="1"/>
          </p:cNvSpPr>
          <p:nvPr>
            <p:ph type="ftr" sz="quarter" idx="3"/>
          </p:nvPr>
        </p:nvSpPr>
        <p:spPr>
          <a:xfrm>
            <a:off x="5257800" y="612648"/>
            <a:ext cx="1325880" cy="457200"/>
          </a:xfrm>
          <a:prstGeom prst="rect">
            <a:avLst/>
          </a:prstGeom>
        </p:spPr>
        <p:txBody>
          <a:bodyPr vert="horz"/>
          <a:lstStyle>
            <a:lvl1pPr algn="r" eaLnBrk="1" latinLnBrk="0" hangingPunct="1">
              <a:defRPr kumimoji="0" sz="800">
                <a:solidFill>
                  <a:schemeClr val="accent2"/>
                </a:solidFill>
              </a:defRPr>
            </a:lvl1pPr>
          </a:lstStyle>
          <a:p>
            <a:r>
              <a:rPr lang="en-US" smtClean="0"/>
              <a:t>Database Management Systems</a:t>
            </a:r>
            <a:endParaRPr lang="en-US"/>
          </a:p>
        </p:txBody>
      </p:sp>
      <p:sp>
        <p:nvSpPr>
          <p:cNvPr id="23" name="Slide Number Placeholder 22"/>
          <p:cNvSpPr>
            <a:spLocks noGrp="1"/>
          </p:cNvSpPr>
          <p:nvPr>
            <p:ph type="sldNum" sz="quarter" idx="4"/>
          </p:nvPr>
        </p:nvSpPr>
        <p:spPr>
          <a:xfrm>
            <a:off x="8174736" y="2272"/>
            <a:ext cx="762000" cy="365760"/>
          </a:xfrm>
          <a:prstGeom prst="rect">
            <a:avLst/>
          </a:prstGeom>
        </p:spPr>
        <p:txBody>
          <a:bodyPr vert="horz" anchor="b"/>
          <a:lstStyle>
            <a:lvl1pPr algn="r" eaLnBrk="1" latinLnBrk="0" hangingPunct="1">
              <a:defRPr kumimoji="0" sz="1800">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365760" indent="-256032" algn="l" rtl="0" eaLnBrk="1" latinLnBrk="0" hangingPunct="1">
        <a:spcBef>
          <a:spcPts val="300"/>
        </a:spcBef>
        <a:buClr>
          <a:schemeClr val="accent3"/>
        </a:buClr>
        <a:buFont typeface="Georgia"/>
        <a:buChar char="•"/>
        <a:defRPr kumimoji="0" sz="2800" kern="1200">
          <a:solidFill>
            <a:schemeClr val="tx1"/>
          </a:solidFill>
          <a:latin typeface="+mn-lt"/>
          <a:ea typeface="+mn-ea"/>
          <a:cs typeface="+mn-cs"/>
        </a:defRPr>
      </a:lvl1pPr>
      <a:lvl2pPr marL="658368" indent="-246888" algn="l" rtl="0" eaLnBrk="1" latinLnBrk="0" hangingPunct="1">
        <a:spcBef>
          <a:spcPts val="300"/>
        </a:spcBef>
        <a:buClr>
          <a:schemeClr val="accent2"/>
        </a:buClr>
        <a:buFont typeface="Georgia"/>
        <a:buChar char="▫"/>
        <a:defRPr kumimoji="0" sz="2600" kern="1200">
          <a:solidFill>
            <a:schemeClr val="accent2"/>
          </a:solidFill>
          <a:latin typeface="+mn-lt"/>
          <a:ea typeface="+mn-ea"/>
          <a:cs typeface="+mn-cs"/>
        </a:defRPr>
      </a:lvl2pPr>
      <a:lvl3pPr marL="923544" indent="-219456" algn="l" rtl="0" eaLnBrk="1" latinLnBrk="0" hangingPunct="1">
        <a:spcBef>
          <a:spcPts val="300"/>
        </a:spcBef>
        <a:buClr>
          <a:schemeClr val="accent1"/>
        </a:buClr>
        <a:buFont typeface="Wingdings 2"/>
        <a:buChar char=""/>
        <a:defRPr kumimoji="0" sz="2400" kern="1200">
          <a:solidFill>
            <a:schemeClr val="accent1"/>
          </a:solidFill>
          <a:latin typeface="+mn-lt"/>
          <a:ea typeface="+mn-ea"/>
          <a:cs typeface="+mn-cs"/>
        </a:defRPr>
      </a:lvl3pPr>
      <a:lvl4pPr marL="1179576" indent="-201168" algn="l" rtl="0" eaLnBrk="1" latinLnBrk="0" hangingPunct="1">
        <a:spcBef>
          <a:spcPts val="300"/>
        </a:spcBef>
        <a:buClr>
          <a:schemeClr val="accent1"/>
        </a:buClr>
        <a:buFont typeface="Wingdings 2"/>
        <a:buChar char=""/>
        <a:defRPr kumimoji="0" sz="2200" kern="1200">
          <a:solidFill>
            <a:schemeClr val="accent1"/>
          </a:solidFill>
          <a:latin typeface="+mn-lt"/>
          <a:ea typeface="+mn-ea"/>
          <a:cs typeface="+mn-cs"/>
        </a:defRPr>
      </a:lvl4pPr>
      <a:lvl5pPr marL="1389888" indent="-182880" algn="l" rtl="0" eaLnBrk="1" latinLnBrk="0" hangingPunct="1">
        <a:spcBef>
          <a:spcPts val="300"/>
        </a:spcBef>
        <a:buClr>
          <a:schemeClr val="accent3"/>
        </a:buClr>
        <a:buFont typeface="Georgia"/>
        <a:buChar char="▫"/>
        <a:defRPr kumimoji="0" sz="2000" kern="1200">
          <a:solidFill>
            <a:schemeClr val="accent3"/>
          </a:solidFill>
          <a:latin typeface="+mn-lt"/>
          <a:ea typeface="+mn-ea"/>
          <a:cs typeface="+mn-cs"/>
        </a:defRPr>
      </a:lvl5pPr>
      <a:lvl6pPr marL="1609344" indent="-182880" algn="l" rtl="0" eaLnBrk="1" latinLnBrk="0" hangingPunct="1">
        <a:spcBef>
          <a:spcPts val="300"/>
        </a:spcBef>
        <a:buClr>
          <a:schemeClr val="accent3"/>
        </a:buClr>
        <a:buFont typeface="Georgia"/>
        <a:buChar char="▫"/>
        <a:defRPr kumimoji="0" sz="1800" kern="1200">
          <a:solidFill>
            <a:schemeClr val="accent3"/>
          </a:solidFill>
          <a:latin typeface="+mn-lt"/>
          <a:ea typeface="+mn-ea"/>
          <a:cs typeface="+mn-cs"/>
        </a:defRPr>
      </a:lvl6pPr>
      <a:lvl7pPr marL="1828800" indent="-182880" algn="l" rtl="0" eaLnBrk="1" latinLnBrk="0" hangingPunct="1">
        <a:spcBef>
          <a:spcPts val="300"/>
        </a:spcBef>
        <a:buClr>
          <a:schemeClr val="accent3"/>
        </a:buClr>
        <a:buFont typeface="Georgia"/>
        <a:buChar char="▫"/>
        <a:defRPr kumimoji="0" sz="1600" kern="1200">
          <a:solidFill>
            <a:schemeClr val="accent3"/>
          </a:solidFill>
          <a:latin typeface="+mn-lt"/>
          <a:ea typeface="+mn-ea"/>
          <a:cs typeface="+mn-cs"/>
        </a:defRPr>
      </a:lvl7pPr>
      <a:lvl8pPr marL="2029968" indent="-182880" algn="l" rtl="0" eaLnBrk="1" latinLnBrk="0" hangingPunct="1">
        <a:spcBef>
          <a:spcPts val="300"/>
        </a:spcBef>
        <a:buClr>
          <a:schemeClr val="accent3"/>
        </a:buClr>
        <a:buFont typeface="Georgia"/>
        <a:buChar char="◦"/>
        <a:defRPr kumimoji="0" sz="1500" kern="1200">
          <a:solidFill>
            <a:schemeClr val="accent3"/>
          </a:solidFill>
          <a:latin typeface="+mn-lt"/>
          <a:ea typeface="+mn-ea"/>
          <a:cs typeface="+mn-cs"/>
        </a:defRPr>
      </a:lvl8pPr>
      <a:lvl9pPr marL="2240280" indent="-182880" algn="l" rtl="0" eaLnBrk="1" latinLnBrk="0" hangingPunct="1">
        <a:spcBef>
          <a:spcPts val="300"/>
        </a:spcBef>
        <a:buClr>
          <a:schemeClr val="accent3"/>
        </a:buClr>
        <a:buFont typeface="Georgia"/>
        <a:buChar char="◦"/>
        <a:defRPr kumimoji="0" sz="1400" kern="1200" baseline="0">
          <a:solidFill>
            <a:schemeClr val="accent3"/>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62000" y="1219200"/>
            <a:ext cx="7772400" cy="1470025"/>
          </a:xfrm>
        </p:spPr>
        <p:txBody>
          <a:bodyPr/>
          <a:lstStyle/>
          <a:p>
            <a:r>
              <a:rPr lang="en-US" dirty="0" smtClean="0"/>
              <a:t>Database Systems	</a:t>
            </a:r>
            <a:endParaRPr lang="en-US" dirty="0"/>
          </a:p>
        </p:txBody>
      </p:sp>
      <p:sp>
        <p:nvSpPr>
          <p:cNvPr id="3" name="Subtitle 2"/>
          <p:cNvSpPr>
            <a:spLocks noGrp="1"/>
          </p:cNvSpPr>
          <p:nvPr>
            <p:ph type="subTitle" idx="1"/>
          </p:nvPr>
        </p:nvSpPr>
        <p:spPr/>
        <p:txBody>
          <a:bodyPr/>
          <a:lstStyle/>
          <a:p>
            <a:r>
              <a:rPr lang="en-US" b="1" dirty="0" smtClean="0"/>
              <a:t>Types of Attributes, Entity Types, Entity Sets, Keys, and Value Sets</a:t>
            </a:r>
          </a:p>
        </p:txBody>
      </p:sp>
      <p:sp>
        <p:nvSpPr>
          <p:cNvPr id="13" name="Footer Placeholder 12"/>
          <p:cNvSpPr>
            <a:spLocks noGrp="1"/>
          </p:cNvSpPr>
          <p:nvPr>
            <p:ph type="ftr" sz="quarter" idx="11"/>
          </p:nvPr>
        </p:nvSpPr>
        <p:spPr>
          <a:xfrm>
            <a:off x="5181600" y="4191000"/>
            <a:ext cx="2209800" cy="457200"/>
          </a:xfrm>
        </p:spPr>
        <p:txBody>
          <a:bodyPr/>
          <a:lstStyle/>
          <a:p>
            <a:r>
              <a:rPr lang="en-US" sz="1050" dirty="0" smtClean="0"/>
              <a:t>Database Management Systems</a:t>
            </a:r>
            <a:endParaRPr lang="en-US" sz="1050" dirty="0"/>
          </a:p>
        </p:txBody>
      </p:sp>
      <p:sp>
        <p:nvSpPr>
          <p:cNvPr id="12" name="Slide Number Placeholder 11"/>
          <p:cNvSpPr>
            <a:spLocks noGrp="1"/>
          </p:cNvSpPr>
          <p:nvPr>
            <p:ph type="sldNum" sz="quarter" idx="12"/>
          </p:nvPr>
        </p:nvSpPr>
        <p:spPr/>
        <p:txBody>
          <a:bodyPr/>
          <a:lstStyle/>
          <a:p>
            <a:fld id="{B6F15528-21DE-4FAA-801E-634DDDAF4B2B}" type="slidenum">
              <a:rPr lang="en-US" smtClean="0"/>
              <a:pPr/>
              <a:t>1</a:t>
            </a:fld>
            <a:endParaRPr lang="en-US"/>
          </a:p>
        </p:txBody>
      </p:sp>
      <p:sp>
        <p:nvSpPr>
          <p:cNvPr id="10" name="TextBox 9"/>
          <p:cNvSpPr txBox="1"/>
          <p:nvPr/>
        </p:nvSpPr>
        <p:spPr>
          <a:xfrm>
            <a:off x="2286000" y="3048000"/>
            <a:ext cx="4267200" cy="523220"/>
          </a:xfrm>
          <a:prstGeom prst="rect">
            <a:avLst/>
          </a:prstGeom>
          <a:noFill/>
        </p:spPr>
        <p:txBody>
          <a:bodyPr wrap="square" rtlCol="0">
            <a:spAutoFit/>
          </a:bodyPr>
          <a:lstStyle/>
          <a:p>
            <a:pPr algn="ctr"/>
            <a:r>
              <a:rPr lang="en-US" sz="2800" u="sng" dirty="0" smtClean="0"/>
              <a:t>Lecture 9</a:t>
            </a:r>
            <a:endParaRPr lang="en-US" sz="2800" u="sng"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Today’s agenda</a:t>
            </a:r>
            <a:endParaRPr lang="en-US" dirty="0"/>
          </a:p>
        </p:txBody>
      </p:sp>
      <p:sp>
        <p:nvSpPr>
          <p:cNvPr id="3" name="Content Placeholder 2"/>
          <p:cNvSpPr>
            <a:spLocks noGrp="1"/>
          </p:cNvSpPr>
          <p:nvPr>
            <p:ph idx="1"/>
          </p:nvPr>
        </p:nvSpPr>
        <p:spPr/>
        <p:txBody>
          <a:bodyPr>
            <a:normAutofit/>
          </a:bodyPr>
          <a:lstStyle/>
          <a:p>
            <a:pPr lvl="0" hangingPunct="0"/>
            <a:r>
              <a:rPr lang="en-US" dirty="0" smtClean="0"/>
              <a:t>Types of Attributes</a:t>
            </a:r>
          </a:p>
          <a:p>
            <a:pPr lvl="0" hangingPunct="0"/>
            <a:r>
              <a:rPr lang="en-US" dirty="0" smtClean="0"/>
              <a:t>Entity types</a:t>
            </a:r>
          </a:p>
          <a:p>
            <a:pPr lvl="0" hangingPunct="0"/>
            <a:r>
              <a:rPr lang="en-US" dirty="0" smtClean="0"/>
              <a:t>Entity sets</a:t>
            </a:r>
          </a:p>
          <a:p>
            <a:pPr lvl="0" hangingPunct="0"/>
            <a:r>
              <a:rPr lang="en-US" dirty="0" smtClean="0"/>
              <a:t>Key attributes</a:t>
            </a:r>
          </a:p>
          <a:p>
            <a:pPr lvl="0" hangingPunct="0"/>
            <a:endParaRPr lang="en-US" dirty="0" smtClean="0"/>
          </a:p>
          <a:p>
            <a:pPr>
              <a:buNone/>
            </a:pPr>
            <a:r>
              <a:rPr lang="en-US" dirty="0" smtClean="0"/>
              <a:t/>
            </a:r>
            <a:br>
              <a:rPr lang="en-US" dirty="0" smtClean="0"/>
            </a:br>
            <a:endParaRPr lang="en-US" dirty="0" smtClean="0"/>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Attributes</a:t>
            </a:r>
            <a:endParaRPr lang="en-US" dirty="0"/>
          </a:p>
        </p:txBody>
      </p:sp>
      <p:sp>
        <p:nvSpPr>
          <p:cNvPr id="3" name="Content Placeholder 2"/>
          <p:cNvSpPr>
            <a:spLocks noGrp="1"/>
          </p:cNvSpPr>
          <p:nvPr>
            <p:ph idx="1"/>
          </p:nvPr>
        </p:nvSpPr>
        <p:spPr/>
        <p:txBody>
          <a:bodyPr/>
          <a:lstStyle/>
          <a:p>
            <a:r>
              <a:rPr lang="en-US" dirty="0" smtClean="0"/>
              <a:t>Several types of attributes occur in the ER model: </a:t>
            </a:r>
          </a:p>
          <a:p>
            <a:pPr lvl="1"/>
            <a:r>
              <a:rPr lang="en-US" i="1" dirty="0" smtClean="0"/>
              <a:t>simple versus composite</a:t>
            </a:r>
          </a:p>
          <a:p>
            <a:pPr lvl="1"/>
            <a:r>
              <a:rPr lang="en-US" i="1" dirty="0" smtClean="0"/>
              <a:t>single-valued </a:t>
            </a:r>
            <a:r>
              <a:rPr lang="en-US" dirty="0" smtClean="0"/>
              <a:t>versus </a:t>
            </a:r>
            <a:r>
              <a:rPr lang="en-US" i="1" dirty="0" err="1" smtClean="0"/>
              <a:t>multivalued</a:t>
            </a:r>
            <a:endParaRPr lang="en-US" i="1" dirty="0" smtClean="0"/>
          </a:p>
          <a:p>
            <a:pPr lvl="1"/>
            <a:r>
              <a:rPr lang="en-US" i="1" dirty="0" smtClean="0"/>
              <a:t>stored versus derived</a:t>
            </a:r>
            <a:r>
              <a:rPr lang="en-US" i="1" dirty="0" smtClean="0"/>
              <a:t>.</a:t>
            </a:r>
          </a:p>
          <a:p>
            <a:pPr lvl="1"/>
            <a:r>
              <a:rPr lang="en-US" i="1" dirty="0" smtClean="0"/>
              <a:t>Complex attributes</a:t>
            </a:r>
          </a:p>
          <a:p>
            <a:pPr lvl="1"/>
            <a:r>
              <a:rPr lang="en-US" i="1" dirty="0" smtClean="0"/>
              <a:t>Null values</a:t>
            </a:r>
            <a:endParaRPr lang="en-US" i="1"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Composite versus Simple (Atomic) Attributes</a:t>
            </a:r>
            <a:endParaRPr lang="en-US" dirty="0"/>
          </a:p>
        </p:txBody>
      </p:sp>
      <p:sp>
        <p:nvSpPr>
          <p:cNvPr id="3" name="Content Placeholder 2"/>
          <p:cNvSpPr>
            <a:spLocks noGrp="1"/>
          </p:cNvSpPr>
          <p:nvPr>
            <p:ph idx="1"/>
          </p:nvPr>
        </p:nvSpPr>
        <p:spPr/>
        <p:txBody>
          <a:bodyPr/>
          <a:lstStyle/>
          <a:p>
            <a:r>
              <a:rPr lang="en-US" b="1" dirty="0" smtClean="0"/>
              <a:t>Composite</a:t>
            </a:r>
            <a:r>
              <a:rPr lang="en-US" dirty="0" smtClean="0"/>
              <a:t> attributes can be divided into smaller subparts which represent more basic attributes with  independent meanings</a:t>
            </a:r>
          </a:p>
          <a:p>
            <a:pPr lvl="1"/>
            <a:r>
              <a:rPr lang="en-US" dirty="0" smtClean="0"/>
              <a:t>For example, the Address attribute of the  employee entity can be subdivided into </a:t>
            </a:r>
            <a:r>
              <a:rPr lang="en-US" dirty="0" err="1" smtClean="0"/>
              <a:t>StreetAddress</a:t>
            </a:r>
            <a:r>
              <a:rPr lang="en-US" dirty="0" smtClean="0"/>
              <a:t>, City, State, and Zip,</a:t>
            </a:r>
          </a:p>
          <a:p>
            <a:endParaRPr lang="en-US" dirty="0" smtClean="0"/>
          </a:p>
          <a:p>
            <a:r>
              <a:rPr lang="en-US" dirty="0" smtClean="0"/>
              <a:t>Attributes that are not divisible are called </a:t>
            </a:r>
            <a:r>
              <a:rPr lang="en-US" b="1" dirty="0" smtClean="0"/>
              <a:t>simple</a:t>
            </a:r>
            <a:r>
              <a:rPr lang="en-US" dirty="0" smtClean="0"/>
              <a:t> or atomic attributes.</a:t>
            </a:r>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4</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hierarchy of composite attributes</a:t>
            </a:r>
            <a:endParaRPr lang="en-US" dirty="0"/>
          </a:p>
        </p:txBody>
      </p:sp>
      <p:pic>
        <p:nvPicPr>
          <p:cNvPr id="4" name="Picture 7" descr="31755_FIG0304.gif                                              0001035BEeyore                         B91DCF3B:"/>
          <p:cNvPicPr>
            <a:picLocks noGrp="1" noChangeAspect="1" noChangeArrowheads="1"/>
          </p:cNvPicPr>
          <p:nvPr>
            <p:ph idx="1"/>
          </p:nvPr>
        </p:nvPicPr>
        <p:blipFill>
          <a:blip r:embed="rId2" cstate="print"/>
          <a:srcRect/>
          <a:stretch>
            <a:fillRect/>
          </a:stretch>
        </p:blipFill>
        <p:spPr>
          <a:xfrm>
            <a:off x="1371600" y="2438400"/>
            <a:ext cx="6411913" cy="4114800"/>
          </a:xfrm>
        </p:spPr>
      </p:pic>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Single-Valued versus </a:t>
            </a:r>
            <a:r>
              <a:rPr lang="en-US" dirty="0" err="1" smtClean="0"/>
              <a:t>Multivalued</a:t>
            </a:r>
            <a:r>
              <a:rPr lang="en-US" dirty="0" smtClean="0"/>
              <a:t> Attributes.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Most attributes have a single value for a particular entity; such attributes are called </a:t>
            </a:r>
            <a:r>
              <a:rPr lang="en-US" b="1" dirty="0" smtClean="0"/>
              <a:t>single-valued</a:t>
            </a:r>
            <a:r>
              <a:rPr lang="en-US" dirty="0" smtClean="0"/>
              <a:t>. </a:t>
            </a:r>
          </a:p>
          <a:p>
            <a:pPr lvl="1"/>
            <a:r>
              <a:rPr lang="en-US" dirty="0" smtClean="0"/>
              <a:t>For example, Age is a single-valued attribute of a person.</a:t>
            </a:r>
          </a:p>
          <a:p>
            <a:r>
              <a:rPr lang="en-US" dirty="0" smtClean="0"/>
              <a:t>In some cases an attribute can have a set of values for the</a:t>
            </a:r>
            <a:r>
              <a:rPr lang="en-US" b="1" dirty="0" smtClean="0"/>
              <a:t> </a:t>
            </a:r>
            <a:r>
              <a:rPr lang="en-US" dirty="0" smtClean="0"/>
              <a:t>same entity_ For example, a Colors attribute for a car, or a </a:t>
            </a:r>
            <a:r>
              <a:rPr lang="en-US" dirty="0" err="1" smtClean="0"/>
              <a:t>CollegeDegrees</a:t>
            </a:r>
            <a:r>
              <a:rPr lang="en-US" dirty="0" smtClean="0"/>
              <a:t> attribute for a person.</a:t>
            </a:r>
          </a:p>
          <a:p>
            <a:r>
              <a:rPr lang="en-US" dirty="0" smtClean="0"/>
              <a:t>Such attributes are called </a:t>
            </a:r>
            <a:r>
              <a:rPr lang="en-US" b="1" dirty="0" smtClean="0"/>
              <a:t>multivalued</a:t>
            </a:r>
            <a:r>
              <a:rPr lang="en-US" dirty="0" smtClean="0"/>
              <a:t>.</a:t>
            </a:r>
          </a:p>
          <a:p>
            <a:r>
              <a:rPr lang="en-US" dirty="0" smtClean="0"/>
              <a:t>Multivalued attributes may have lower and upper bounds to constrain the no-of values allowed for each individual entity.</a:t>
            </a:r>
          </a:p>
          <a:p>
            <a:endParaRPr lang="en-US" dirty="0" smtClean="0"/>
          </a:p>
          <a:p>
            <a:endParaRPr lang="en-US" dirty="0" smtClean="0"/>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6</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Stored versus Derived Attributes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In some cases, two (or more) attribute values are related-for example, the Age and </a:t>
            </a:r>
            <a:r>
              <a:rPr lang="en-US" dirty="0" err="1" smtClean="0"/>
              <a:t>BirthDate</a:t>
            </a:r>
            <a:r>
              <a:rPr lang="en-US" dirty="0" smtClean="0"/>
              <a:t> attributes of a person.</a:t>
            </a:r>
          </a:p>
          <a:p>
            <a:r>
              <a:rPr lang="en-US" dirty="0" smtClean="0"/>
              <a:t>The Age attribute is hence called a </a:t>
            </a:r>
            <a:r>
              <a:rPr lang="en-US" b="1" dirty="0" smtClean="0"/>
              <a:t>derived attribute </a:t>
            </a:r>
            <a:r>
              <a:rPr lang="en-US" dirty="0" smtClean="0"/>
              <a:t>and is said to be derivable from the </a:t>
            </a:r>
            <a:r>
              <a:rPr lang="en-US" dirty="0" err="1" smtClean="0"/>
              <a:t>BirthDate</a:t>
            </a:r>
            <a:r>
              <a:rPr lang="en-US" dirty="0" smtClean="0"/>
              <a:t> attribute, which is called a </a:t>
            </a:r>
            <a:r>
              <a:rPr lang="en-US" b="1" dirty="0" smtClean="0"/>
              <a:t>stored attribute.</a:t>
            </a:r>
          </a:p>
          <a:p>
            <a:r>
              <a:rPr lang="en-US" dirty="0" smtClean="0"/>
              <a:t>Some attribute values can be derived from the related entities such as no-of employees of a department entity can be derived by counting no-of employees related to that department.</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Null Values</a:t>
            </a:r>
            <a:endParaRPr lang="en-US" dirty="0"/>
          </a:p>
        </p:txBody>
      </p:sp>
      <p:sp>
        <p:nvSpPr>
          <p:cNvPr id="3" name="Content Placeholder 2"/>
          <p:cNvSpPr>
            <a:spLocks noGrp="1"/>
          </p:cNvSpPr>
          <p:nvPr>
            <p:ph idx="1"/>
          </p:nvPr>
        </p:nvSpPr>
        <p:spPr/>
        <p:txBody>
          <a:bodyPr>
            <a:normAutofit lnSpcReduction="10000"/>
          </a:bodyPr>
          <a:lstStyle/>
          <a:p>
            <a:r>
              <a:rPr lang="en-US" dirty="0" smtClean="0"/>
              <a:t>In some cases a particular entity may not have an applicable value for</a:t>
            </a:r>
            <a:r>
              <a:rPr lang="en-US" b="1" dirty="0" smtClean="0"/>
              <a:t> </a:t>
            </a:r>
            <a:r>
              <a:rPr lang="en-US" dirty="0" smtClean="0"/>
              <a:t>an attribute.</a:t>
            </a:r>
          </a:p>
          <a:p>
            <a:pPr lvl="1"/>
            <a:r>
              <a:rPr lang="en-US" dirty="0" smtClean="0"/>
              <a:t>For example, the </a:t>
            </a:r>
            <a:r>
              <a:rPr lang="en-US" dirty="0" err="1" smtClean="0"/>
              <a:t>Apartment_number</a:t>
            </a:r>
            <a:r>
              <a:rPr lang="en-US" dirty="0" smtClean="0"/>
              <a:t> attribute of an address applies only to addresses that are in apartment buildings and not to other types of residences. Other example is </a:t>
            </a:r>
            <a:r>
              <a:rPr lang="en-US" dirty="0" err="1" smtClean="0"/>
              <a:t>college_degrees</a:t>
            </a:r>
            <a:endParaRPr lang="en-US" dirty="0" smtClean="0"/>
          </a:p>
          <a:p>
            <a:r>
              <a:rPr lang="en-US" dirty="0" smtClean="0"/>
              <a:t>For such situations, a special value called </a:t>
            </a:r>
            <a:r>
              <a:rPr lang="en-US" b="1" dirty="0" smtClean="0"/>
              <a:t>null </a:t>
            </a:r>
            <a:r>
              <a:rPr lang="en-US" dirty="0" smtClean="0"/>
              <a:t>is created.</a:t>
            </a:r>
          </a:p>
          <a:p>
            <a:r>
              <a:rPr lang="en-US" dirty="0" smtClean="0"/>
              <a:t>Null can also be used if we do not know the value of an attribute for a particular entity such as phone # of a person</a:t>
            </a:r>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Unknown Values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The meaning of the former type of null is not </a:t>
            </a:r>
            <a:r>
              <a:rPr lang="en-US" i="1" dirty="0" smtClean="0"/>
              <a:t>applicable, whereas the meaning of the latter is unknown. </a:t>
            </a:r>
          </a:p>
          <a:p>
            <a:r>
              <a:rPr lang="en-US" i="1" dirty="0" smtClean="0"/>
              <a:t>The "unknown" category of </a:t>
            </a:r>
            <a:r>
              <a:rPr lang="en-US" dirty="0" smtClean="0"/>
              <a:t>null can be further classified into two cases. </a:t>
            </a:r>
          </a:p>
          <a:p>
            <a:pPr lvl="1"/>
            <a:r>
              <a:rPr lang="en-US" dirty="0" smtClean="0"/>
              <a:t>The first case arises when it is known that the attribute value exists but is missing-for example, if the Height attribute of a person is listed as null.</a:t>
            </a:r>
          </a:p>
          <a:p>
            <a:pPr lvl="1"/>
            <a:r>
              <a:rPr lang="en-US" dirty="0" smtClean="0"/>
              <a:t> The second case arises when it is not known whether the attribute value exists-for example, if the </a:t>
            </a:r>
            <a:r>
              <a:rPr lang="en-US" dirty="0" err="1" smtClean="0"/>
              <a:t>HomePhone</a:t>
            </a:r>
            <a:r>
              <a:rPr lang="en-US" dirty="0" smtClean="0"/>
              <a:t> attribute of a person is null.</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Complex Attributes</a:t>
            </a:r>
            <a:endParaRPr lang="en-US" dirty="0"/>
          </a:p>
        </p:txBody>
      </p:sp>
      <p:sp>
        <p:nvSpPr>
          <p:cNvPr id="3" name="Content Placeholder 2"/>
          <p:cNvSpPr>
            <a:spLocks noGrp="1"/>
          </p:cNvSpPr>
          <p:nvPr>
            <p:ph idx="1"/>
          </p:nvPr>
        </p:nvSpPr>
        <p:spPr/>
        <p:txBody>
          <a:bodyPr/>
          <a:lstStyle/>
          <a:p>
            <a:r>
              <a:rPr lang="en-US" dirty="0" smtClean="0"/>
              <a:t>Composite and </a:t>
            </a:r>
            <a:r>
              <a:rPr lang="en-US" dirty="0" err="1" smtClean="0"/>
              <a:t>multivalued</a:t>
            </a:r>
            <a:r>
              <a:rPr lang="en-US" dirty="0" smtClean="0"/>
              <a:t> attributes can be nested in an arbitrary way.</a:t>
            </a:r>
          </a:p>
          <a:p>
            <a:r>
              <a:rPr lang="en-US" dirty="0" smtClean="0"/>
              <a:t>We can represent arbitrary nesting by grouping components of a composite attribute between parentheses () and separating the components with commas, and by displaying multivalued attributes between braces {}</a:t>
            </a:r>
          </a:p>
          <a:p>
            <a:r>
              <a:rPr lang="en-US" dirty="0" smtClean="0"/>
              <a:t>Such attributes are called complex attributes.</a:t>
            </a:r>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 complex attribute: </a:t>
            </a:r>
            <a:r>
              <a:rPr lang="en-US" dirty="0" err="1" smtClean="0"/>
              <a:t>AddressPhone</a:t>
            </a:r>
            <a:r>
              <a:rPr lang="en-US" dirty="0" smtClean="0"/>
              <a:t>.</a:t>
            </a:r>
            <a:endParaRPr lang="en-US" dirty="0"/>
          </a:p>
        </p:txBody>
      </p:sp>
      <p:pic>
        <p:nvPicPr>
          <p:cNvPr id="4" name="Picture 5" descr="31755_FIG0305.gif                                              0001035BEeyore                         B91DCF3B:"/>
          <p:cNvPicPr>
            <a:picLocks noGrp="1" noChangeAspect="1" noChangeArrowheads="1"/>
          </p:cNvPicPr>
          <p:nvPr>
            <p:ph idx="1"/>
          </p:nvPr>
        </p:nvPicPr>
        <p:blipFill>
          <a:blip r:embed="rId2" cstate="print"/>
          <a:srcRect/>
          <a:stretch>
            <a:fillRect/>
          </a:stretch>
        </p:blipFill>
        <p:spPr>
          <a:xfrm>
            <a:off x="850900" y="3025775"/>
            <a:ext cx="7772400" cy="1012825"/>
          </a:xfrm>
        </p:spPr>
      </p:pic>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Types</a:t>
            </a:r>
            <a:endParaRPr lang="en-US" dirty="0"/>
          </a:p>
        </p:txBody>
      </p:sp>
      <p:sp>
        <p:nvSpPr>
          <p:cNvPr id="3" name="Content Placeholder 2"/>
          <p:cNvSpPr>
            <a:spLocks noGrp="1"/>
          </p:cNvSpPr>
          <p:nvPr>
            <p:ph idx="1"/>
          </p:nvPr>
        </p:nvSpPr>
        <p:spPr/>
        <p:txBody>
          <a:bodyPr/>
          <a:lstStyle/>
          <a:p>
            <a:pPr>
              <a:lnSpc>
                <a:spcPct val="90000"/>
              </a:lnSpc>
            </a:pPr>
            <a:r>
              <a:rPr lang="en-US" dirty="0" smtClean="0"/>
              <a:t>Entities with the same basic attributes are grouped or typed into an entity type. For example, the EMPLOYEE entity type or the PROJECT entity type.</a:t>
            </a:r>
          </a:p>
          <a:p>
            <a:r>
              <a:rPr lang="en-US" dirty="0" smtClean="0"/>
              <a:t>An entity type defines a </a:t>
            </a:r>
            <a:r>
              <a:rPr lang="en-US" i="1" dirty="0" smtClean="0"/>
              <a:t>collection (or set) of entities that have the same attributes.</a:t>
            </a:r>
          </a:p>
          <a:p>
            <a:r>
              <a:rPr lang="en-US" dirty="0" smtClean="0"/>
              <a:t>Each entity type in the database is described by its name and attributes.</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Entity Sets</a:t>
            </a:r>
            <a:endParaRPr lang="en-US" dirty="0"/>
          </a:p>
        </p:txBody>
      </p:sp>
      <p:sp>
        <p:nvSpPr>
          <p:cNvPr id="3" name="Content Placeholder 2"/>
          <p:cNvSpPr>
            <a:spLocks noGrp="1"/>
          </p:cNvSpPr>
          <p:nvPr>
            <p:ph idx="1"/>
          </p:nvPr>
        </p:nvSpPr>
        <p:spPr/>
        <p:txBody>
          <a:bodyPr>
            <a:normAutofit lnSpcReduction="10000"/>
          </a:bodyPr>
          <a:lstStyle/>
          <a:p>
            <a:r>
              <a:rPr lang="en-US" dirty="0" smtClean="0"/>
              <a:t>The collection of all entities of a particular entity type in the database at any point in time is called an entity set</a:t>
            </a:r>
          </a:p>
          <a:p>
            <a:endParaRPr lang="en-US" dirty="0" smtClean="0"/>
          </a:p>
          <a:p>
            <a:r>
              <a:rPr lang="en-US" dirty="0" smtClean="0"/>
              <a:t>Entity set is usually referred to using the same name as the entity type.</a:t>
            </a:r>
          </a:p>
          <a:p>
            <a:pPr lvl="1"/>
            <a:endParaRPr lang="en-US" dirty="0" smtClean="0"/>
          </a:p>
          <a:p>
            <a:pPr lvl="1"/>
            <a:r>
              <a:rPr lang="en-US" dirty="0" smtClean="0"/>
              <a:t>For example, all employees of an organization form an entity set. Like all students, all courses, all of them form entity set of different entity types</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Two entity types, EMPLOYEE and COMPANY, and some member entities of each</a:t>
            </a:r>
            <a:endParaRPr lang="en-US" dirty="0"/>
          </a:p>
        </p:txBody>
      </p:sp>
      <p:pic>
        <p:nvPicPr>
          <p:cNvPr id="4" name="Picture 5" descr="31755_FIG0306.gif                                              0001035BEeyore                         B91DCF3B:"/>
          <p:cNvPicPr>
            <a:picLocks noGrp="1" noChangeAspect="1" noChangeArrowheads="1"/>
          </p:cNvPicPr>
          <p:nvPr>
            <p:ph idx="1"/>
          </p:nvPr>
        </p:nvPicPr>
        <p:blipFill>
          <a:blip r:embed="rId2" cstate="print"/>
          <a:srcRect/>
          <a:stretch>
            <a:fillRect/>
          </a:stretch>
        </p:blipFill>
        <p:spPr>
          <a:xfrm>
            <a:off x="609600" y="3276600"/>
            <a:ext cx="7772400" cy="3168650"/>
          </a:xfrm>
        </p:spPr>
      </p:pic>
      <p:sp>
        <p:nvSpPr>
          <p:cNvPr id="5" name="TextBox 4"/>
          <p:cNvSpPr txBox="1"/>
          <p:nvPr/>
        </p:nvSpPr>
        <p:spPr>
          <a:xfrm>
            <a:off x="533400" y="2514600"/>
            <a:ext cx="7315200" cy="646331"/>
          </a:xfrm>
          <a:prstGeom prst="rect">
            <a:avLst/>
          </a:prstGeom>
          <a:noFill/>
        </p:spPr>
        <p:txBody>
          <a:bodyPr wrap="square" rtlCol="0">
            <a:spAutoFit/>
          </a:bodyPr>
          <a:lstStyle/>
          <a:p>
            <a:r>
              <a:rPr lang="en-US" dirty="0" smtClean="0"/>
              <a:t>The collection of entities of a particular entity type are grouped into an</a:t>
            </a:r>
          </a:p>
          <a:p>
            <a:r>
              <a:rPr lang="en-US" dirty="0" smtClean="0"/>
              <a:t>entity set, which is also called the extension of the entity type.</a:t>
            </a:r>
          </a:p>
        </p:txBody>
      </p:sp>
      <p:sp>
        <p:nvSpPr>
          <p:cNvPr id="7" name="Slide Number Placeholder 6"/>
          <p:cNvSpPr>
            <a:spLocks noGrp="1"/>
          </p:cNvSpPr>
          <p:nvPr>
            <p:ph type="sldNum" sz="quarter" idx="12"/>
          </p:nvPr>
        </p:nvSpPr>
        <p:spPr/>
        <p:txBody>
          <a:bodyPr/>
          <a:lstStyle/>
          <a:p>
            <a:fld id="{B6F15528-21DE-4FAA-801E-634DDDAF4B2B}" type="slidenum">
              <a:rPr lang="en-US" smtClean="0"/>
              <a:pPr/>
              <a:t>14</a:t>
            </a:fld>
            <a:endParaRPr lang="en-US"/>
          </a:p>
        </p:txBody>
      </p:sp>
      <p:sp>
        <p:nvSpPr>
          <p:cNvPr id="8" name="Footer Placeholder 7"/>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Attributes of an Entity Type</a:t>
            </a:r>
            <a:endParaRPr lang="en-US" dirty="0"/>
          </a:p>
        </p:txBody>
      </p:sp>
      <p:sp>
        <p:nvSpPr>
          <p:cNvPr id="3" name="Content Placeholder 2"/>
          <p:cNvSpPr>
            <a:spLocks noGrp="1"/>
          </p:cNvSpPr>
          <p:nvPr>
            <p:ph idx="1"/>
          </p:nvPr>
        </p:nvSpPr>
        <p:spPr/>
        <p:txBody>
          <a:bodyPr/>
          <a:lstStyle/>
          <a:p>
            <a:r>
              <a:rPr lang="en-US" dirty="0" smtClean="0"/>
              <a:t>An important constraint on the entities of an entity type is the key or uniqueness constraint on attributes.</a:t>
            </a:r>
          </a:p>
          <a:p>
            <a:r>
              <a:rPr lang="en-US" dirty="0" smtClean="0"/>
              <a:t>An entity type usually has an attribute whose values are distinct for each individual entity in the entity set.</a:t>
            </a:r>
          </a:p>
          <a:p>
            <a:r>
              <a:rPr lang="en-US" dirty="0" smtClean="0"/>
              <a:t>Such an attribute is called a key attribute, and its values can be used to identify each entity uniquely</a:t>
            </a:r>
          </a:p>
          <a:p>
            <a:endParaRPr lang="en-US" dirty="0" smtClean="0"/>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3.2.gif                                                        0001035BEeyore                         B91DCF3B:"/>
          <p:cNvPicPr>
            <a:picLocks noGrp="1" noChangeAspect="1" noChangeArrowheads="1"/>
          </p:cNvPicPr>
          <p:nvPr>
            <p:ph idx="1"/>
          </p:nvPr>
        </p:nvPicPr>
        <p:blipFill>
          <a:blip r:embed="rId2" cstate="print"/>
          <a:srcRect/>
          <a:stretch>
            <a:fillRect/>
          </a:stretch>
        </p:blipFill>
        <p:spPr>
          <a:xfrm>
            <a:off x="762000" y="1524000"/>
            <a:ext cx="7772400" cy="4943475"/>
          </a:xfrm>
        </p:spPr>
      </p:pic>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7" name="Footer Placeholder 6"/>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838200"/>
            <a:ext cx="8229600" cy="1066800"/>
          </a:xfrm>
        </p:spPr>
        <p:txBody>
          <a:bodyPr/>
          <a:lstStyle/>
          <a:p>
            <a:endParaRPr lang="en-US" dirty="0"/>
          </a:p>
        </p:txBody>
      </p:sp>
      <p:pic>
        <p:nvPicPr>
          <p:cNvPr id="4" name="Picture 5" descr="3.7.gif                                                        0001035BEeyore                         B91DCF3B:"/>
          <p:cNvPicPr>
            <a:picLocks noGrp="1" noChangeAspect="1" noChangeArrowheads="1"/>
          </p:cNvPicPr>
          <p:nvPr>
            <p:ph idx="1"/>
          </p:nvPr>
        </p:nvPicPr>
        <p:blipFill>
          <a:blip r:embed="rId2" cstate="print"/>
          <a:srcRect/>
          <a:stretch>
            <a:fillRect/>
          </a:stretch>
        </p:blipFill>
        <p:spPr>
          <a:xfrm>
            <a:off x="609600" y="3276600"/>
            <a:ext cx="7772400" cy="3417887"/>
          </a:xfrm>
        </p:spPr>
      </p:pic>
      <p:sp>
        <p:nvSpPr>
          <p:cNvPr id="5" name="TextBox 4"/>
          <p:cNvSpPr txBox="1"/>
          <p:nvPr/>
        </p:nvSpPr>
        <p:spPr>
          <a:xfrm>
            <a:off x="609600" y="2133600"/>
            <a:ext cx="8001000" cy="923330"/>
          </a:xfrm>
          <a:prstGeom prst="rect">
            <a:avLst/>
          </a:prstGeom>
          <a:noFill/>
        </p:spPr>
        <p:txBody>
          <a:bodyPr wrap="square" rtlCol="0">
            <a:spAutoFit/>
          </a:bodyPr>
          <a:lstStyle/>
          <a:p>
            <a:r>
              <a:rPr lang="en-US" dirty="0" smtClean="0"/>
              <a:t>A key attribute may be composite. For example, </a:t>
            </a:r>
            <a:r>
              <a:rPr lang="en-US" dirty="0" err="1" smtClean="0"/>
              <a:t>VehicleTagNumber</a:t>
            </a:r>
            <a:r>
              <a:rPr lang="en-US" dirty="0" smtClean="0"/>
              <a:t> is a key of the CAR entity type with components (Number, State).</a:t>
            </a:r>
          </a:p>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17</a:t>
            </a:fld>
            <a:endParaRPr lang="en-US"/>
          </a:p>
        </p:txBody>
      </p:sp>
      <p:sp>
        <p:nvSpPr>
          <p:cNvPr id="8" name="Footer Placeholder 7"/>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Value Sets (Domains) of Attributes</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Each simple attribute of an entity type is associated with a value set (or domain of values),</a:t>
            </a:r>
          </a:p>
          <a:p>
            <a:r>
              <a:rPr lang="en-US" dirty="0" smtClean="0"/>
              <a:t>This specifies the set of values that may be assigned to that attribute for each individual entity.</a:t>
            </a:r>
          </a:p>
          <a:p>
            <a:r>
              <a:rPr lang="en-US" dirty="0"/>
              <a:t>Value sets are typically specified using the basic data types such as integer, float, string, etc.,</a:t>
            </a:r>
          </a:p>
          <a:p>
            <a:r>
              <a:rPr lang="en-US" dirty="0" smtClean="0"/>
              <a:t>For example, if the range of ages allowed for employees is between 16 and 70, we can specify the value set of the Age attribute of employee to be set of integer numbers between 16 and 70.</a:t>
            </a:r>
            <a:endParaRPr lang="en-US" dirty="0"/>
          </a:p>
          <a:p>
            <a:r>
              <a:rPr lang="en-US" dirty="0" smtClean="0"/>
              <a:t>Value sets are not displayed in the ER diagram.</a:t>
            </a:r>
          </a:p>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18</a:t>
            </a:fld>
            <a:endParaRPr lang="en-US"/>
          </a:p>
        </p:txBody>
      </p:sp>
      <p:sp>
        <p:nvSpPr>
          <p:cNvPr id="6" name="Footer Placeholder 5"/>
          <p:cNvSpPr>
            <a:spLocks noGrp="1"/>
          </p:cNvSpPr>
          <p:nvPr>
            <p:ph type="ftr" sz="quarter" idx="11"/>
          </p:nvPr>
        </p:nvSpPr>
        <p:spPr/>
        <p:txBody>
          <a:bodyPr/>
          <a:lstStyle/>
          <a:p>
            <a:r>
              <a:rPr lang="en-US" smtClean="0"/>
              <a:t>Database Management Systems</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Weak Entity and Strong Entity</a:t>
            </a:r>
            <a:endParaRPr lang="en-US" dirty="0"/>
          </a:p>
        </p:txBody>
      </p:sp>
      <p:sp>
        <p:nvSpPr>
          <p:cNvPr id="3" name="Content Placeholder 2"/>
          <p:cNvSpPr>
            <a:spLocks noGrp="1"/>
          </p:cNvSpPr>
          <p:nvPr>
            <p:ph idx="1"/>
          </p:nvPr>
        </p:nvSpPr>
        <p:spPr/>
        <p:txBody>
          <a:bodyPr/>
          <a:lstStyle/>
          <a:p>
            <a:r>
              <a:rPr lang="en-US" b="1" dirty="0" smtClean="0"/>
              <a:t>Weak entity</a:t>
            </a:r>
            <a:r>
              <a:rPr lang="en-US" dirty="0" smtClean="0"/>
              <a:t> is an entity type whose instances cannot exist without being linked with instances of some other entity type, i.e., they cannot exist independently.</a:t>
            </a:r>
          </a:p>
          <a:p>
            <a:r>
              <a:rPr lang="en-US" dirty="0" smtClean="0"/>
              <a:t>An entity type whose instances can exist independently, that is, without being linked to the instances of any other entity type is called </a:t>
            </a:r>
            <a:r>
              <a:rPr lang="en-US" b="1" dirty="0" smtClean="0"/>
              <a:t>strong entity </a:t>
            </a:r>
            <a:r>
              <a:rPr lang="en-US" dirty="0" smtClean="0"/>
              <a:t>type.</a:t>
            </a:r>
          </a:p>
          <a:p>
            <a:endParaRPr lang="en-US" dirty="0"/>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Preliminary design of entity types for the COMPANY database</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04716" y="2249488"/>
            <a:ext cx="5334568" cy="432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67611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Preliminary design of entity types for the COMPANY database</a:t>
            </a:r>
          </a:p>
        </p:txBody>
      </p:sp>
      <p:sp>
        <p:nvSpPr>
          <p:cNvPr id="4" name="Date Placeholder 3"/>
          <p:cNvSpPr>
            <a:spLocks noGrp="1"/>
          </p:cNvSpPr>
          <p:nvPr>
            <p:ph type="dt" sz="half" idx="10"/>
          </p:nvPr>
        </p:nvSpPr>
        <p:spPr/>
        <p:txBody>
          <a:bodyPr/>
          <a:lstStyle/>
          <a:p>
            <a:r>
              <a:rPr lang="en-US" smtClean="0"/>
              <a:t>Toqir Ahmad Rana</a:t>
            </a:r>
            <a:endParaRPr lang="en-US"/>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428875"/>
            <a:ext cx="6096000" cy="4200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148735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Preliminary design of entity types for the COMPANY database</a:t>
            </a:r>
            <a:endParaRPr lang="en-US" dirty="0"/>
          </a:p>
        </p:txBody>
      </p:sp>
      <p:sp>
        <p:nvSpPr>
          <p:cNvPr id="5" name="Footer Placeholder 4"/>
          <p:cNvSpPr>
            <a:spLocks noGrp="1"/>
          </p:cNvSpPr>
          <p:nvPr>
            <p:ph type="ftr" sz="quarter" idx="11"/>
          </p:nvPr>
        </p:nvSpPr>
        <p:spPr/>
        <p:txBody>
          <a:bodyPr/>
          <a:lstStyle/>
          <a:p>
            <a:r>
              <a:rPr lang="en-US" smtClean="0"/>
              <a:t>Database Management Systems</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pic>
        <p:nvPicPr>
          <p:cNvPr id="7" name="Picture 5" descr="31755_FIG0308.gif                                              0001035BEeyore                         B91DCF3B:"/>
          <p:cNvPicPr>
            <a:picLocks noGrp="1" noChangeAspect="1" noChangeArrowheads="1"/>
          </p:cNvPicPr>
          <p:nvPr>
            <p:ph idx="1"/>
          </p:nvPr>
        </p:nvPicPr>
        <p:blipFill>
          <a:blip r:embed="rId2" cstate="print"/>
          <a:srcRect/>
          <a:stretch>
            <a:fillRect/>
          </a:stretch>
        </p:blipFill>
        <p:spPr>
          <a:xfrm>
            <a:off x="990600" y="2438400"/>
            <a:ext cx="7315200" cy="4114800"/>
          </a:xfrm>
        </p:spPr>
      </p:pic>
    </p:spTree>
    <p:extLst>
      <p:ext uri="{BB962C8B-B14F-4D97-AF65-F5344CB8AC3E}">
        <p14:creationId xmlns:p14="http://schemas.microsoft.com/office/powerpoint/2010/main" val="273564628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Urban">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Urban">
      <a:majorFont>
        <a:latin typeface="Trebuchet MS"/>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Georgia"/>
        <a:ea typeface=""/>
        <a:cs typeface=""/>
        <a:font script="Jpan" typeface="HG明朝B"/>
        <a:font script="Hang" typeface="맑은 고딕"/>
        <a:font script="Hans" typeface="宋体"/>
        <a:font script="Hant" typeface="新細明體"/>
        <a:font script="Arab" typeface="Arial"/>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Urban">
      <a:fillStyleLst>
        <a:solidFill>
          <a:schemeClr val="phClr"/>
        </a:solidFill>
        <a:gradFill rotWithShape="1">
          <a:gsLst>
            <a:gs pos="0">
              <a:schemeClr val="phClr">
                <a:tint val="1000"/>
                <a:satMod val="255000"/>
              </a:schemeClr>
            </a:gs>
            <a:gs pos="55000">
              <a:schemeClr val="phClr">
                <a:tint val="12000"/>
                <a:satMod val="255000"/>
              </a:schemeClr>
            </a:gs>
            <a:gs pos="100000">
              <a:schemeClr val="phClr">
                <a:tint val="45000"/>
                <a:satMod val="250000"/>
              </a:schemeClr>
            </a:gs>
          </a:gsLst>
          <a:path path="circle">
            <a:fillToRect l="-40000" t="-90000" r="140000" b="190000"/>
          </a:path>
        </a:gradFill>
        <a:gradFill rotWithShape="1">
          <a:gsLst>
            <a:gs pos="0">
              <a:schemeClr val="phClr">
                <a:tint val="43000"/>
                <a:satMod val="165000"/>
              </a:schemeClr>
            </a:gs>
            <a:gs pos="55000">
              <a:schemeClr val="phClr">
                <a:tint val="83000"/>
                <a:satMod val="155000"/>
              </a:schemeClr>
            </a:gs>
            <a:gs pos="100000">
              <a:schemeClr val="phClr">
                <a:shade val="85000"/>
              </a:schemeClr>
            </a:gs>
          </a:gsLst>
          <a:path path="circle">
            <a:fillToRect l="-40000" t="-90000" r="140000" b="190000"/>
          </a:path>
        </a:gradFill>
      </a:fillStyleLst>
      <a:lnStyleLst>
        <a:ln w="9525" cap="flat" cmpd="sng" algn="ctr">
          <a:solidFill>
            <a:schemeClr val="phClr"/>
          </a:solidFill>
          <a:prstDash val="solid"/>
        </a:ln>
        <a:ln w="19050" cap="flat" cmpd="sng" algn="ctr">
          <a:solidFill>
            <a:schemeClr val="phClr"/>
          </a:solidFill>
          <a:prstDash val="solid"/>
        </a:ln>
        <a:ln w="31750" cap="flat" cmpd="sng" algn="ctr">
          <a:solidFill>
            <a:schemeClr val="phClr"/>
          </a:solidFill>
          <a:prstDash val="solid"/>
        </a:ln>
      </a:lnStyleLst>
      <a:effectStyleLst>
        <a:effectStyle>
          <a:effectLst>
            <a:outerShdw blurRad="51500" dist="25400" dir="5400000" rotWithShape="0">
              <a:srgbClr val="000000">
                <a:alpha val="40000"/>
              </a:srgbClr>
            </a:outerShdw>
          </a:effectLst>
        </a:effectStyle>
        <a:effectStyle>
          <a:effectLst>
            <a:outerShdw blurRad="50800" dist="25400" dir="5400000" rotWithShape="0">
              <a:srgbClr val="000000">
                <a:alpha val="4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flat" dir="t">
              <a:rot lat="0" lon="0" rev="20040000"/>
            </a:lightRig>
          </a:scene3d>
          <a:sp3d contourW="12700" prstMaterial="dkEdge">
            <a:bevelT w="25400" h="38100" prst="convex"/>
            <a:contourClr>
              <a:schemeClr val="phClr">
                <a:satMod val="115000"/>
              </a:schemeClr>
            </a:contourClr>
          </a:sp3d>
        </a:effectStyle>
      </a:effectStyleLst>
      <a:bgFillStyleLst>
        <a:solidFill>
          <a:schemeClr val="phClr"/>
        </a:solidFill>
        <a:gradFill rotWithShape="1">
          <a:gsLst>
            <a:gs pos="100000">
              <a:schemeClr val="phClr">
                <a:tint val="80000"/>
                <a:satMod val="250000"/>
              </a:schemeClr>
            </a:gs>
            <a:gs pos="60000">
              <a:schemeClr val="phClr">
                <a:shade val="38000"/>
                <a:satMod val="175000"/>
              </a:schemeClr>
            </a:gs>
            <a:gs pos="0">
              <a:schemeClr val="phClr">
                <a:shade val="30000"/>
                <a:satMod val="175000"/>
              </a:schemeClr>
            </a:gs>
          </a:gsLst>
          <a:lin ang="5400000" scaled="0"/>
        </a:gradFill>
        <a:blipFill>
          <a:blip xmlns:r="http://schemas.openxmlformats.org/officeDocument/2006/relationships" r:embed="rId1">
            <a:duotone>
              <a:schemeClr val="phClr">
                <a:shade val="48000"/>
              </a:schemeClr>
              <a:schemeClr val="phClr">
                <a:tint val="96000"/>
                <a:satMod val="150000"/>
              </a:schemeClr>
            </a:duotone>
          </a:blip>
          <a:tile tx="0" ty="0" sx="80000" sy="8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Urban</Template>
  <TotalTime>643</TotalTime>
  <Words>1097</Words>
  <Application>Microsoft Office PowerPoint</Application>
  <PresentationFormat>On-screen Show (4:3)</PresentationFormat>
  <Paragraphs>126</Paragraphs>
  <Slides>22</Slides>
  <Notes>1</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Urban</vt:lpstr>
      <vt:lpstr>Database Systems </vt:lpstr>
      <vt:lpstr>Today’s agenda</vt:lpstr>
      <vt:lpstr>Types of Attributes</vt:lpstr>
      <vt:lpstr>Composite versus Simple (Atomic) Attributes</vt:lpstr>
      <vt:lpstr>A hierarchy of composite attributes</vt:lpstr>
      <vt:lpstr>Single-Valued versus Multivalued Attributes.</vt:lpstr>
      <vt:lpstr>Stored versus Derived Attributes</vt:lpstr>
      <vt:lpstr>Null Values</vt:lpstr>
      <vt:lpstr>Unknown Values</vt:lpstr>
      <vt:lpstr>Complex Attributes</vt:lpstr>
      <vt:lpstr>A complex attribute: AddressPhone.</vt:lpstr>
      <vt:lpstr>Entity Types</vt:lpstr>
      <vt:lpstr>Entity Sets</vt:lpstr>
      <vt:lpstr>Two entity types, EMPLOYEE and COMPANY, and some member entities of each</vt:lpstr>
      <vt:lpstr>Key Attributes of an Entity Type</vt:lpstr>
      <vt:lpstr>PowerPoint Presentation</vt:lpstr>
      <vt:lpstr>PowerPoint Presentation</vt:lpstr>
      <vt:lpstr>Value Sets (Domains) of Attributes</vt:lpstr>
      <vt:lpstr>Weak Entity and Strong Entity</vt:lpstr>
      <vt:lpstr>Preliminary design of entity types for the COMPANY database</vt:lpstr>
      <vt:lpstr>Preliminary design of entity types for the COMPANY database</vt:lpstr>
      <vt:lpstr>Preliminary design of entity types for the COMPANY database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dc:title>
  <dc:creator>RANA</dc:creator>
  <cp:lastModifiedBy>Mehtab</cp:lastModifiedBy>
  <cp:revision>37</cp:revision>
  <dcterms:created xsi:type="dcterms:W3CDTF">2006-08-16T00:00:00Z</dcterms:created>
  <dcterms:modified xsi:type="dcterms:W3CDTF">2020-03-05T06:27:26Z</dcterms:modified>
</cp:coreProperties>
</file>
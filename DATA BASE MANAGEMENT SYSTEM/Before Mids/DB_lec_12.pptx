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  <p:sldId id="270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4B3FB97-764F-40E0-883E-824170B074B7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C25DB34-68DC-4EFF-913B-1FE00D269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97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7AD78-47B5-422F-9DC8-EFE549CCCC9B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39CCBBF-6831-4D1A-8A0E-5106A0B5D4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5D846-5998-4958-B168-BE3B325A77E4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A4009-1135-4E74-93D0-964CBCEF6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84728-F07F-4025-AF0B-23B24D23F803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7368C-CE82-42F1-8D1D-8654D5CC3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7232F-19B0-47C1-839A-3AC976B6DFFC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15FE-4D4B-4A4D-9750-919B8FE69B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B854752-D15D-4D79-80CE-F32E7B87FC98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38E14B4-6B09-4B04-B294-31B5F7B8E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769DC-D6B1-4BBF-ACC8-633D867B8817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10751-AE9F-42CB-87DB-FA8B72A54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DE217-DDA2-4F64-84A0-AE9A118763D3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53AAE-A104-43C2-8C62-FEB7A1943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B6EB0-DD55-47AD-ADFC-EF507F8694ED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1C559-9491-42E2-8FAE-FD44A90C39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E0922-461A-4AA4-A7C5-A663DB4FE86A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CC140-8771-4EB0-B70D-F3C265014A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F0C96-7BCF-4701-8AE5-A778B442D563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7FEFA-A8D4-4994-8A1A-AB72EA5E77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37831-018A-4280-B8E9-DA4528A7A7E6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0D7B0-9FE5-4772-BDB4-148249ED72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 smtClean="0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0E8D86-5403-4080-8242-4808C06A1441}" type="datetimeFigureOut">
              <a:rPr lang="en-US"/>
              <a:pPr>
                <a:defRPr/>
              </a:pPr>
              <a:t>31-Mar-20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800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3EE8C3-43F4-48DB-A8A4-8EE9CE00A2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5" r:id="rId2"/>
    <p:sldLayoutId id="2147483676" r:id="rId3"/>
    <p:sldLayoutId id="2147483677" r:id="rId4"/>
    <p:sldLayoutId id="2147483684" r:id="rId5"/>
    <p:sldLayoutId id="2147483685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fontAlgn="base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smtClean="0"/>
              <a:t>Database Systems	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457200" y="3900488"/>
            <a:ext cx="4953000" cy="1752600"/>
          </a:xfrm>
        </p:spPr>
        <p:txBody>
          <a:bodyPr/>
          <a:lstStyle/>
          <a:p>
            <a:pPr marL="63500"/>
            <a:r>
              <a:rPr lang="en-US" sz="2000" smtClean="0"/>
              <a:t>TYPES OF RELATIONSHIPS 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5126" name="Slide Number Placeholder 1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801A992-A244-4789-87BD-D647F64CD60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  <p:sp>
        <p:nvSpPr>
          <p:cNvPr id="5127" name="TextBox 9"/>
          <p:cNvSpPr txBox="1">
            <a:spLocks noChangeArrowheads="1"/>
          </p:cNvSpPr>
          <p:nvPr/>
        </p:nvSpPr>
        <p:spPr bwMode="auto">
          <a:xfrm>
            <a:off x="2286000" y="30480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u="sng" dirty="0">
                <a:latin typeface="Georgia" pitchFamily="18" charset="0"/>
              </a:rPr>
              <a:t>Lecture </a:t>
            </a:r>
            <a:r>
              <a:rPr lang="en-US" sz="2800" u="sng" dirty="0" smtClean="0">
                <a:latin typeface="Georgia" pitchFamily="18" charset="0"/>
              </a:rPr>
              <a:t>12</a:t>
            </a:r>
            <a:endParaRPr lang="en-US" sz="2800" u="sng" dirty="0"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Relationship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Unary relationship</a:t>
            </a:r>
          </a:p>
          <a:p>
            <a:r>
              <a:rPr lang="en-US" smtClean="0"/>
              <a:t>Binary relationship</a:t>
            </a:r>
          </a:p>
          <a:p>
            <a:r>
              <a:rPr lang="en-US" smtClean="0"/>
              <a:t>Ternary relationship</a:t>
            </a:r>
          </a:p>
          <a:p>
            <a:r>
              <a:rPr lang="en-US" smtClean="0"/>
              <a:t>N-ary relationship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Unary relationship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170112"/>
          </a:xfrm>
        </p:spPr>
        <p:txBody>
          <a:bodyPr/>
          <a:lstStyle/>
          <a:p>
            <a:r>
              <a:rPr lang="en-US" smtClean="0"/>
              <a:t>An ENTITY TYPE linked with itself, also called recursive relationship. </a:t>
            </a:r>
          </a:p>
          <a:p>
            <a:r>
              <a:rPr lang="en-US" smtClean="0"/>
              <a:t>Example Roommate, where STUDENT is linked with STUDENT</a:t>
            </a:r>
          </a:p>
          <a:p>
            <a:endParaRPr lang="en-US" smtClean="0"/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191000"/>
            <a:ext cx="25908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4267200"/>
            <a:ext cx="2133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Binary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474912"/>
          </a:xfrm>
        </p:spPr>
        <p:txBody>
          <a:bodyPr>
            <a:normAutofit fontScale="92500" lnSpcReduction="20000"/>
          </a:bodyPr>
          <a:lstStyle/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A Binary relationship is the one that links two entities sets e.g. STUDENT-CLASS.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Relationships can be formally described in an ordered pair form. Enroll = {(S1001, ART103A), (S1020, CS201A), (S1002, CSC201A)}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Entire set is relationship set and each ordered pair is an instance of the relationship.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dirty="0"/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4800600"/>
            <a:ext cx="4648200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Ternary relationship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093912"/>
          </a:xfrm>
        </p:spPr>
        <p:txBody>
          <a:bodyPr/>
          <a:lstStyle/>
          <a:p>
            <a:r>
              <a:rPr lang="en-US" dirty="0" smtClean="0"/>
              <a:t>A Ternary relationship is the one that involves three entities e.g</a:t>
            </a:r>
            <a:r>
              <a:rPr lang="en-US" dirty="0" smtClean="0"/>
              <a:t>., </a:t>
            </a:r>
          </a:p>
          <a:p>
            <a:pPr marL="109537" indent="0">
              <a:buNone/>
            </a:pPr>
            <a:r>
              <a:rPr lang="en-US" dirty="0"/>
              <a:t>	</a:t>
            </a:r>
            <a:r>
              <a:rPr lang="en-US" dirty="0" smtClean="0"/>
              <a:t>STUDENT-CLASS-FACULTY 					OR</a:t>
            </a:r>
          </a:p>
          <a:p>
            <a:pPr marL="109537" indent="0">
              <a:buNone/>
            </a:pPr>
            <a:r>
              <a:rPr lang="en-US" dirty="0" smtClean="0"/>
              <a:t>	VENDOR-PART-WAREHOUSE</a:t>
            </a:r>
            <a:endParaRPr lang="en-US" dirty="0" smtClean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648200"/>
            <a:ext cx="5715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N-ary relationship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relationships in data model are binary or at most ternary but we could define a relationship set linking any number of entity sets i.e. n-</a:t>
            </a:r>
            <a:r>
              <a:rPr lang="en-US" dirty="0" err="1" smtClean="0"/>
              <a:t>ary</a:t>
            </a:r>
            <a:r>
              <a:rPr lang="en-US" dirty="0" smtClean="0"/>
              <a:t> relationship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Relationship Cardinalities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cardinality of a relationship is the number of entities to which another entity can map under that relationship.</a:t>
            </a:r>
          </a:p>
          <a:p>
            <a:pPr lvl="1"/>
            <a:r>
              <a:rPr lang="en-US" smtClean="0"/>
              <a:t>One-to-One mapping</a:t>
            </a:r>
          </a:p>
          <a:p>
            <a:pPr lvl="1"/>
            <a:r>
              <a:rPr lang="en-US" smtClean="0"/>
              <a:t>Many-to-One mapping</a:t>
            </a:r>
          </a:p>
          <a:p>
            <a:pPr lvl="1"/>
            <a:r>
              <a:rPr lang="en-US" smtClean="0"/>
              <a:t>One-to-Many mapping</a:t>
            </a:r>
          </a:p>
          <a:p>
            <a:pPr lvl="1"/>
            <a:r>
              <a:rPr lang="en-US" smtClean="0"/>
              <a:t>Many-to-Many mapping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One-to-One Mapping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246312"/>
          </a:xfrm>
        </p:spPr>
        <p:txBody>
          <a:bodyPr/>
          <a:lstStyle/>
          <a:p>
            <a:r>
              <a:rPr lang="en-US" smtClean="0"/>
              <a:t>A mapping R from X to Y is one-to-one if each entity in X is associated with at most one entity in Y and vice versa.</a:t>
            </a:r>
          </a:p>
          <a:p>
            <a:endParaRPr lang="en-US" smtClean="0"/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4419600"/>
            <a:ext cx="4876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Many-to-One Mapping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474912"/>
          </a:xfrm>
        </p:spPr>
        <p:txBody>
          <a:bodyPr/>
          <a:lstStyle/>
          <a:p>
            <a:r>
              <a:rPr lang="en-US" smtClean="0"/>
              <a:t>A mapping R from X to Y is many-to-one if each entity in X is associated with at most one entity in Y but each entity in Y is associated with many entities in X. 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4572000"/>
            <a:ext cx="56769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One-to-Many Mapping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093912"/>
          </a:xfrm>
        </p:spPr>
        <p:txBody>
          <a:bodyPr/>
          <a:lstStyle/>
          <a:p>
            <a:r>
              <a:rPr lang="en-US" smtClean="0"/>
              <a:t>A mapping R from X to Y is one-to-many if each entity in X is associated with many entities in Y but each entity in Y is associated with one entity in X.</a:t>
            </a:r>
          </a:p>
          <a:p>
            <a:endParaRPr lang="en-US" smtClean="0"/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572000"/>
            <a:ext cx="46767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Many-to-Many Mapping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322512"/>
          </a:xfrm>
        </p:spPr>
        <p:txBody>
          <a:bodyPr/>
          <a:lstStyle/>
          <a:p>
            <a:r>
              <a:rPr lang="en-US" smtClean="0"/>
              <a:t>A mapping R from X to Y is many-to-many if each entity from X is associated with many entities in Y and one entity in Y is associated with many entities in X.</a:t>
            </a:r>
          </a:p>
          <a:p>
            <a:endParaRPr lang="en-US" smtClean="0"/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4572000"/>
            <a:ext cx="46101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/>
              <a:t>Choosing between Binary and Ternary</a:t>
            </a:r>
            <a:br>
              <a:rPr lang="en-US" sz="2800" b="1" smtClean="0"/>
            </a:br>
            <a:r>
              <a:rPr lang="en-US" sz="2800" b="1" smtClean="0"/>
              <a:t>(or Higher-Degree) Relationships</a:t>
            </a:r>
            <a:endParaRPr lang="en-US" sz="2800" smtClean="0"/>
          </a:p>
        </p:txBody>
      </p:sp>
      <p:pic>
        <p:nvPicPr>
          <p:cNvPr id="17412" name="Picture 5" descr="31755_FIG0310.gif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743200"/>
            <a:ext cx="60991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mtClean="0"/>
              <a:t>Choosing between Binary and Ternary</a:t>
            </a:r>
            <a:br>
              <a:rPr lang="en-US" sz="2800" b="1" smtClean="0"/>
            </a:br>
            <a:r>
              <a:rPr lang="en-US" sz="2800" b="1" smtClean="0"/>
              <a:t>(or Higher-Degree) Relationships</a:t>
            </a:r>
            <a:endParaRPr lang="en-US" sz="28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1941512"/>
          </a:xfrm>
        </p:spPr>
        <p:txBody>
          <a:bodyPr>
            <a:normAutofit fontScale="85000" lnSpcReduction="20000"/>
          </a:bodyPr>
          <a:lstStyle/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Relationship set of SUPPLY is a set of relationship instances (s, j, </a:t>
            </a:r>
            <a:r>
              <a:rPr lang="en-US" i="1" dirty="0" smtClean="0"/>
              <a:t>p), where s is a SUPPLIER who is currently supplying a PART p to a PROJECT j. In </a:t>
            </a:r>
            <a:r>
              <a:rPr lang="en-US" dirty="0" smtClean="0"/>
              <a:t>general, a relationship type R of degree n will have n edges in an ER diagram, one connecting R to each participating entity type.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dirty="0"/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4267200"/>
            <a:ext cx="61912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smtClean="0"/>
              <a:t>Choosing between Binary and Ternary</a:t>
            </a:r>
            <a:br>
              <a:rPr lang="en-US" sz="2400" b="1" smtClean="0"/>
            </a:br>
            <a:r>
              <a:rPr lang="en-US" sz="2400" b="1" smtClean="0"/>
              <a:t>(or Higher-Degree) Relationships</a:t>
            </a:r>
            <a:endParaRPr lang="en-US" sz="2400" smtClean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667000"/>
            <a:ext cx="6781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384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smtClean="0"/>
              <a:t>Choosing between Binary and Ternary</a:t>
            </a:r>
            <a:br>
              <a:rPr lang="en-US" sz="2400" b="1" smtClean="0"/>
            </a:br>
            <a:r>
              <a:rPr lang="en-US" sz="2400" b="1" smtClean="0"/>
              <a:t>(or Higher-Degree) Relationships</a:t>
            </a:r>
            <a:endParaRPr lang="en-US" sz="24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Three binary relationship types CAN_SUPPLY, USES, and SUPPLIES. Suppose that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b="1" i="1" dirty="0" smtClean="0"/>
              <a:t>CAN_SUPPLY</a:t>
            </a:r>
            <a:r>
              <a:rPr lang="en-US" dirty="0" smtClean="0"/>
              <a:t>, between SUPPLIER and PART, includes an instance </a:t>
            </a:r>
            <a:r>
              <a:rPr lang="en-US" i="1" dirty="0" smtClean="0"/>
              <a:t>(s, p) whenever supplier s can supply part p (to any project); 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b="1" i="1" dirty="0" smtClean="0"/>
              <a:t>USES</a:t>
            </a:r>
            <a:r>
              <a:rPr lang="en-US" i="1" dirty="0" smtClean="0"/>
              <a:t>, between PROJECT </a:t>
            </a:r>
            <a:r>
              <a:rPr lang="en-US" dirty="0" smtClean="0"/>
              <a:t>and PART, includes an instance </a:t>
            </a:r>
            <a:r>
              <a:rPr lang="en-US" i="1" dirty="0" smtClean="0"/>
              <a:t>(j, p) whenever project j uses part p;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b="1" i="1" dirty="0" smtClean="0"/>
              <a:t>SUPPLIES</a:t>
            </a:r>
            <a:r>
              <a:rPr lang="en-US" i="1" dirty="0" smtClean="0"/>
              <a:t>, between </a:t>
            </a:r>
            <a:r>
              <a:rPr lang="en-US" dirty="0" smtClean="0"/>
              <a:t>SUPPLIER and PROJECT, includes an instance (s, j) whenever supplier s </a:t>
            </a:r>
            <a:r>
              <a:rPr lang="en-US" i="1" dirty="0" smtClean="0"/>
              <a:t>supplies some part to </a:t>
            </a:r>
            <a:r>
              <a:rPr lang="en-US" dirty="0" smtClean="0"/>
              <a:t>project 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smtClean="0"/>
              <a:t>Choosing between Binary and Ternary</a:t>
            </a:r>
            <a:br>
              <a:rPr lang="en-US" sz="2400" b="1" smtClean="0"/>
            </a:br>
            <a:r>
              <a:rPr lang="en-US" sz="2400" b="1" smtClean="0"/>
              <a:t>(or Higher-Degree) Relationships</a:t>
            </a:r>
            <a:endParaRPr lang="en-US" sz="24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88"/>
            <a:ext cx="8229600" cy="2093912"/>
          </a:xfrm>
        </p:spPr>
        <p:txBody>
          <a:bodyPr>
            <a:normAutofit fontScale="92500" lnSpcReduction="20000"/>
          </a:bodyPr>
          <a:lstStyle/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 smtClean="0"/>
              <a:t>Some database design tools are based on variations of the ER model that permit only binary relationships. In this case, a ternary relationship such as SUPPLY must be represented as a weak entity type, with no partial key and with three identifying relationships.</a:t>
            </a:r>
          </a:p>
          <a:p>
            <a:pPr marL="365760" indent="-256032" fontAlgn="auto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en-US" dirty="0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191000"/>
            <a:ext cx="6858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Another example of ternary versus binary relationship types.</a:t>
            </a:r>
            <a:endParaRPr lang="en-US" dirty="0"/>
          </a:p>
        </p:txBody>
      </p:sp>
      <p:pic>
        <p:nvPicPr>
          <p:cNvPr id="2253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2819400"/>
            <a:ext cx="7772400" cy="35941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 weak entity type INTERVIEW with a ternary identifying relationship type.</a:t>
            </a:r>
            <a:endParaRPr lang="en-US" dirty="0"/>
          </a:p>
        </p:txBody>
      </p:sp>
      <p:pic>
        <p:nvPicPr>
          <p:cNvPr id="23555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2895600"/>
            <a:ext cx="7772400" cy="3170238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264</TotalTime>
  <Words>560</Words>
  <Application>Microsoft Office PowerPoint</Application>
  <PresentationFormat>On-screen Show (4:3)</PresentationFormat>
  <Paragraphs>50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Urban</vt:lpstr>
      <vt:lpstr>Database Systems </vt:lpstr>
      <vt:lpstr>Types of Relationship</vt:lpstr>
      <vt:lpstr>Unary relationship</vt:lpstr>
      <vt:lpstr>Binary relationship</vt:lpstr>
      <vt:lpstr>Ternary relationship</vt:lpstr>
      <vt:lpstr>N-ary relationship</vt:lpstr>
      <vt:lpstr>Relationship Cardinalities</vt:lpstr>
      <vt:lpstr>One-to-One Mapping</vt:lpstr>
      <vt:lpstr>Many-to-One Mapping</vt:lpstr>
      <vt:lpstr>One-to-Many Mapping</vt:lpstr>
      <vt:lpstr>Many-to-Many Mapping</vt:lpstr>
      <vt:lpstr>Choosing between Binary and Ternary (or Higher-Degree) Relationships</vt:lpstr>
      <vt:lpstr>Choosing between Binary and Ternary (or Higher-Degree) Relationships</vt:lpstr>
      <vt:lpstr>Choosing between Binary and Ternary (or Higher-Degree) Relationships</vt:lpstr>
      <vt:lpstr>Choosing between Binary and Ternary (or Higher-Degree) Relationships</vt:lpstr>
      <vt:lpstr>Choosing between Binary and Ternary (or Higher-Degree) Relationships</vt:lpstr>
      <vt:lpstr>Another example of ternary versus binary relationship types.</vt:lpstr>
      <vt:lpstr>A weak entity type INTERVIEW with a ternary identifying relationship type.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19</cp:revision>
  <dcterms:created xsi:type="dcterms:W3CDTF">2006-08-16T00:00:00Z</dcterms:created>
  <dcterms:modified xsi:type="dcterms:W3CDTF">2020-03-31T04:59:16Z</dcterms:modified>
</cp:coreProperties>
</file>
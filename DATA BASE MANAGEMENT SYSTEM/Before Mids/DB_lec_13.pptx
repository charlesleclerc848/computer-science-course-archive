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8" r:id="rId3"/>
    <p:sldId id="258" r:id="rId4"/>
    <p:sldId id="257" r:id="rId5"/>
    <p:sldId id="260" r:id="rId6"/>
    <p:sldId id="279" r:id="rId7"/>
    <p:sldId id="261" r:id="rId8"/>
    <p:sldId id="263" r:id="rId9"/>
    <p:sldId id="262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0E0EF-BD02-4CC2-890C-B26E776BCAF4}" type="datetimeFigureOut">
              <a:rPr lang="en-US" smtClean="0"/>
              <a:pPr/>
              <a:t>07-Apr-20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643BD-E4DF-4EA2-862F-3ADF4F0577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1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EER model, super and subclasses</a:t>
            </a:r>
            <a:endParaRPr lang="en-US" sz="180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smtClean="0"/>
              <a:t>Lecture 13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Enhanced Entity Relationship (EER)</a:t>
            </a:r>
          </a:p>
          <a:p>
            <a:r>
              <a:rPr lang="en-US" dirty="0" err="1" smtClean="0"/>
              <a:t>Superclass</a:t>
            </a:r>
            <a:r>
              <a:rPr lang="en-US" dirty="0" smtClean="0"/>
              <a:t>, subclass and inheritance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need EER modeling?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ER modeling concepts discussed </a:t>
            </a:r>
            <a:r>
              <a:rPr lang="en-US" smtClean="0"/>
              <a:t>so far </a:t>
            </a:r>
            <a:r>
              <a:rPr lang="en-US" dirty="0" smtClean="0"/>
              <a:t>are sufficient for representing many database schemas for "traditional" database applications,</a:t>
            </a:r>
          </a:p>
          <a:p>
            <a:r>
              <a:rPr lang="en-US" dirty="0" smtClean="0"/>
              <a:t>Design more accurate database schemas that reflect the data properties and constraints more precisely.</a:t>
            </a:r>
          </a:p>
          <a:p>
            <a:pPr lvl="1"/>
            <a:r>
              <a:rPr lang="en-US" dirty="0" smtClean="0"/>
              <a:t>Databases for engineering design and manufacturing</a:t>
            </a:r>
          </a:p>
          <a:p>
            <a:pPr lvl="1"/>
            <a:r>
              <a:rPr lang="en-US" dirty="0" smtClean="0"/>
              <a:t>Telecommunications</a:t>
            </a:r>
          </a:p>
          <a:p>
            <a:pPr lvl="1"/>
            <a:r>
              <a:rPr lang="en-US" dirty="0" smtClean="0"/>
              <a:t>Complex software systems</a:t>
            </a:r>
          </a:p>
          <a:p>
            <a:pPr lvl="1"/>
            <a:r>
              <a:rPr lang="en-US" dirty="0" smtClean="0"/>
              <a:t>Geographic Information Systems (GIs)</a:t>
            </a:r>
            <a:endParaRPr lang="en-US" sz="3200" dirty="0" smtClean="0"/>
          </a:p>
          <a:p>
            <a:r>
              <a:rPr lang="en-US" dirty="0" smtClean="0"/>
              <a:t>More complex requirements</a:t>
            </a:r>
          </a:p>
          <a:p>
            <a:r>
              <a:rPr lang="en-US" dirty="0" smtClean="0"/>
              <a:t>Led to the development of additional </a:t>
            </a:r>
            <a:r>
              <a:rPr lang="en-US" i="1" dirty="0" smtClean="0"/>
              <a:t>semantic data modeling concepts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Enhanced-ER (EER) Model Concepts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Includes all modeling concepts of basic ER </a:t>
            </a:r>
          </a:p>
          <a:p>
            <a:pPr>
              <a:lnSpc>
                <a:spcPct val="90000"/>
              </a:lnSpc>
            </a:pPr>
            <a:r>
              <a:rPr lang="en-US" sz="2800"/>
              <a:t>Additional concepts: subclasses/superclasses, specialization/generalization, categories, attribute inheritance</a:t>
            </a:r>
          </a:p>
          <a:p>
            <a:pPr>
              <a:lnSpc>
                <a:spcPct val="90000"/>
              </a:lnSpc>
            </a:pPr>
            <a:r>
              <a:rPr lang="en-US" sz="2800"/>
              <a:t>The resulting model is called the Enhanced-ER or Extended ER (E2R or EER) model</a:t>
            </a:r>
          </a:p>
          <a:p>
            <a:pPr>
              <a:lnSpc>
                <a:spcPct val="90000"/>
              </a:lnSpc>
            </a:pPr>
            <a:r>
              <a:rPr lang="en-US" sz="2800"/>
              <a:t>It is used to model applications more completely and accurately with additional semantics</a:t>
            </a:r>
          </a:p>
          <a:p>
            <a:pPr>
              <a:lnSpc>
                <a:spcPct val="90000"/>
              </a:lnSpc>
            </a:pPr>
            <a:r>
              <a:rPr lang="en-US" sz="2800"/>
              <a:t>It includes some object-oriented concepts, such as inheritance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Subclasses and Superclasses (1)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An entity type may have additional meaningful subgroupings of its entities</a:t>
            </a:r>
          </a:p>
          <a:p>
            <a:pPr>
              <a:lnSpc>
                <a:spcPct val="90000"/>
              </a:lnSpc>
            </a:pPr>
            <a:r>
              <a:rPr lang="en-US" sz="2400"/>
              <a:t>Example: EMPLOYEE may be further grouped into SECRETARY, ENGINEER, MANAGER, TECHNICIAN, SALARIED_EMPLOYEE, HOURLY_EMPLOYEE,…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Each of these groupings is a subset of EMPLOYEE entities 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Each is called a subclass of EMPLOYEE 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EMPLOYEE is the superclass for each of these subclasses </a:t>
            </a:r>
          </a:p>
          <a:p>
            <a:pPr>
              <a:lnSpc>
                <a:spcPct val="90000"/>
              </a:lnSpc>
            </a:pPr>
            <a:r>
              <a:rPr lang="en-US" sz="2400"/>
              <a:t>These are called superclass/subclass relationships.</a:t>
            </a:r>
          </a:p>
          <a:p>
            <a:pPr>
              <a:lnSpc>
                <a:spcPct val="90000"/>
              </a:lnSpc>
            </a:pPr>
            <a:r>
              <a:rPr lang="en-US" sz="2400"/>
              <a:t>Example: EMPLOYEE/SECRETARY, EMPLOYEE/TECHNICIAN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EER diagram notation to represent subclasses and specialization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19200" y="2105025"/>
            <a:ext cx="6651625" cy="4752975"/>
          </a:xfrm>
        </p:spPr>
      </p:pic>
    </p:spTree>
    <p:extLst>
      <p:ext uri="{BB962C8B-B14F-4D97-AF65-F5344CB8AC3E}">
        <p14:creationId xmlns:p14="http://schemas.microsoft.com/office/powerpoint/2010/main" val="197364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Subclasses and Superclasses (2)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These are also called </a:t>
            </a:r>
            <a:r>
              <a:rPr lang="en-US" sz="2000" dirty="0" smtClean="0"/>
              <a:t>IS-A </a:t>
            </a:r>
            <a:r>
              <a:rPr lang="en-US" sz="2000" dirty="0"/>
              <a:t>relationships (SECRETARY IS-A EMPLOYEE, TECHNICIAN IS-A EMPLOYEE, …).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Note: An entity that is member of a subclass represents the same real-world entity as some member of the </a:t>
            </a:r>
            <a:r>
              <a:rPr lang="en-US" sz="2000" dirty="0" err="1"/>
              <a:t>superclass</a:t>
            </a:r>
            <a:r>
              <a:rPr lang="en-US" sz="20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The Subclass member is the same entity in a distinct specific role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An entity cannot exist in the database merely by being a member of a subclass; it must also be a member of the </a:t>
            </a:r>
            <a:r>
              <a:rPr lang="en-US" sz="2000" dirty="0" err="1"/>
              <a:t>superclass</a:t>
            </a:r>
            <a:r>
              <a:rPr lang="en-US" sz="20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A member of the </a:t>
            </a:r>
            <a:r>
              <a:rPr lang="en-US" sz="2000" dirty="0" err="1"/>
              <a:t>superclass</a:t>
            </a:r>
            <a:r>
              <a:rPr lang="en-US" sz="2000" dirty="0"/>
              <a:t> can be optionally included as a member of any number of its subclasses 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Example: A salaried employee who is also an engineer belongs to the two subclasses ENGINEER and SALARIED_EMPLOYEE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It is not necessary that every entity in a </a:t>
            </a:r>
            <a:r>
              <a:rPr lang="en-US" sz="2000" dirty="0" err="1"/>
              <a:t>superclass</a:t>
            </a:r>
            <a:r>
              <a:rPr lang="en-US" sz="2000" dirty="0"/>
              <a:t> be a member of some subclass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590800"/>
            <a:ext cx="574357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954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Attribute Inheritance in </a:t>
            </a:r>
            <a:r>
              <a:rPr lang="en-US" sz="4000" dirty="0" err="1"/>
              <a:t>Superclass</a:t>
            </a:r>
            <a:r>
              <a:rPr lang="en-US" sz="4000" dirty="0"/>
              <a:t> / Subclass Relationships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819400"/>
            <a:ext cx="8229600" cy="3069336"/>
          </a:xfrm>
        </p:spPr>
        <p:txBody>
          <a:bodyPr>
            <a:normAutofit fontScale="92500" lnSpcReduction="10000"/>
          </a:bodyPr>
          <a:lstStyle/>
          <a:p>
            <a:endParaRPr lang="en-US" sz="2800" dirty="0"/>
          </a:p>
          <a:p>
            <a:r>
              <a:rPr lang="en-US" sz="4000" dirty="0"/>
              <a:t>An entity that is member of a subclass </a:t>
            </a:r>
            <a:r>
              <a:rPr lang="en-US" sz="4000" i="1" dirty="0"/>
              <a:t>inherits</a:t>
            </a:r>
            <a:r>
              <a:rPr lang="en-US" sz="4000" dirty="0"/>
              <a:t> all attributes of the </a:t>
            </a:r>
            <a:r>
              <a:rPr lang="en-US" sz="4000" dirty="0" err="1"/>
              <a:t>superclass</a:t>
            </a:r>
            <a:endParaRPr lang="en-US" sz="4000" dirty="0"/>
          </a:p>
          <a:p>
            <a:r>
              <a:rPr lang="en-US" sz="4000" dirty="0"/>
              <a:t>It also inherits all relationships of the </a:t>
            </a:r>
            <a:r>
              <a:rPr lang="en-US" sz="4000" dirty="0" err="1"/>
              <a:t>superclass</a:t>
            </a:r>
            <a:endParaRPr lang="en-US" sz="4000" dirty="0"/>
          </a:p>
          <a:p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EER diagram notation to represent subclasses and specialization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19200" y="2105025"/>
            <a:ext cx="6651625" cy="4752975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822</TotalTime>
  <Words>447</Words>
  <Application>Microsoft Office PowerPoint</Application>
  <PresentationFormat>On-screen Show (4:3)</PresentationFormat>
  <Paragraphs>64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Urban</vt:lpstr>
      <vt:lpstr>Database Systems </vt:lpstr>
      <vt:lpstr>Today’s Agenda</vt:lpstr>
      <vt:lpstr>Why we need EER modeling?</vt:lpstr>
      <vt:lpstr>Enhanced-ER (EER) Model Concepts</vt:lpstr>
      <vt:lpstr>Subclasses and Superclasses (1)</vt:lpstr>
      <vt:lpstr>EER diagram notation to represent subclasses and specialization</vt:lpstr>
      <vt:lpstr>Subclasses and Superclasses (2)</vt:lpstr>
      <vt:lpstr>Example</vt:lpstr>
      <vt:lpstr>Attribute Inheritance in Superclass / Subclass Relationships </vt:lpstr>
      <vt:lpstr>EER diagram notation to represent subclasses and specialization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</dc:title>
  <dc:creator>RANA</dc:creator>
  <cp:lastModifiedBy>Mehtab</cp:lastModifiedBy>
  <cp:revision>18</cp:revision>
  <dcterms:created xsi:type="dcterms:W3CDTF">2006-08-16T00:00:00Z</dcterms:created>
  <dcterms:modified xsi:type="dcterms:W3CDTF">2020-04-07T04:31:52Z</dcterms:modified>
</cp:coreProperties>
</file>
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8" r:id="rId6"/>
    <p:sldId id="260" r:id="rId7"/>
    <p:sldId id="261" r:id="rId8"/>
    <p:sldId id="274" r:id="rId9"/>
    <p:sldId id="279" r:id="rId10"/>
    <p:sldId id="262" r:id="rId11"/>
    <p:sldId id="263" r:id="rId12"/>
    <p:sldId id="264" r:id="rId13"/>
    <p:sldId id="280" r:id="rId14"/>
    <p:sldId id="281" r:id="rId15"/>
    <p:sldId id="273" r:id="rId16"/>
    <p:sldId id="265" r:id="rId17"/>
    <p:sldId id="269" r:id="rId18"/>
    <p:sldId id="275" r:id="rId19"/>
    <p:sldId id="283" r:id="rId20"/>
    <p:sldId id="276" r:id="rId21"/>
    <p:sldId id="277" r:id="rId22"/>
    <p:sldId id="270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6" autoAdjust="0"/>
    <p:restoredTop sz="94660"/>
  </p:normalViewPr>
  <p:slideViewPr>
    <p:cSldViewPr>
      <p:cViewPr varScale="1">
        <p:scale>
          <a:sx n="70" d="100"/>
          <a:sy n="70" d="100"/>
        </p:scale>
        <p:origin x="16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E78D0-FA45-4A22-B368-5AB874E01CE2}" type="datetimeFigureOut">
              <a:rPr lang="en-US" smtClean="0"/>
              <a:pPr/>
              <a:t>4/15/2024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39BE3-CE89-4B77-B461-02B7BB0A3F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74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15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Relational Model Concepts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smtClean="0"/>
              <a:t>Lecture 17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Relational </a:t>
            </a:r>
            <a:r>
              <a:rPr lang="en-US" b="1" dirty="0" smtClean="0"/>
              <a:t>Model Constraints</a:t>
            </a:r>
          </a:p>
          <a:p>
            <a:pPr marL="990600" lvl="1" indent="-533400">
              <a:buFontTx/>
              <a:buAutoNum type="arabicPeriod"/>
            </a:pPr>
            <a:r>
              <a:rPr lang="en-US" b="1" dirty="0" smtClean="0">
                <a:solidFill>
                  <a:srgbClr val="000000"/>
                </a:solidFill>
                <a:cs typeface="Times New Roman" charset="0"/>
              </a:rPr>
              <a:t>Key</a:t>
            </a:r>
            <a:r>
              <a:rPr lang="en-US" dirty="0" smtClean="0">
                <a:solidFill>
                  <a:srgbClr val="000000"/>
                </a:solidFill>
                <a:cs typeface="Times New Roman" charset="0"/>
              </a:rPr>
              <a:t> constraints</a:t>
            </a:r>
          </a:p>
          <a:p>
            <a:pPr marL="990600" lvl="1" indent="-533400">
              <a:buFontTx/>
              <a:buAutoNum type="arabicPeriod"/>
            </a:pPr>
            <a:r>
              <a:rPr lang="en-US" b="1" dirty="0" smtClean="0">
                <a:solidFill>
                  <a:srgbClr val="000000"/>
                </a:solidFill>
                <a:cs typeface="Times New Roman" charset="0"/>
              </a:rPr>
              <a:t>Entity integrity</a:t>
            </a:r>
            <a:r>
              <a:rPr lang="en-US" dirty="0" smtClean="0">
                <a:solidFill>
                  <a:srgbClr val="000000"/>
                </a:solidFill>
                <a:cs typeface="Times New Roman" charset="0"/>
              </a:rPr>
              <a:t> constraints</a:t>
            </a:r>
          </a:p>
          <a:p>
            <a:pPr marL="990600" lvl="1" indent="-533400">
              <a:buFontTx/>
              <a:buAutoNum type="arabicPeriod"/>
            </a:pPr>
            <a:r>
              <a:rPr lang="en-US" b="1" dirty="0" smtClean="0">
                <a:solidFill>
                  <a:srgbClr val="000000"/>
                </a:solidFill>
                <a:cs typeface="Times New Roman" charset="0"/>
              </a:rPr>
              <a:t>Referential integrity</a:t>
            </a:r>
            <a:r>
              <a:rPr lang="en-US" dirty="0" smtClean="0">
                <a:solidFill>
                  <a:srgbClr val="000000"/>
                </a:solidFill>
                <a:cs typeface="Times New Roman" charset="0"/>
              </a:rPr>
              <a:t> constraints</a:t>
            </a:r>
            <a:endParaRPr lang="en-US" b="1" dirty="0" smtClean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Model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state of the whole database will correspond to the states of all its relations at a particular point in time. There are generally many restrictions or constraints on the actual values in a database state.</a:t>
            </a:r>
          </a:p>
          <a:p>
            <a:r>
              <a:rPr lang="en-US" dirty="0" smtClean="0"/>
              <a:t>Constraints on databases can generally be divided into three main categories:</a:t>
            </a:r>
          </a:p>
          <a:p>
            <a:pPr lvl="1"/>
            <a:r>
              <a:rPr lang="en-US" dirty="0" smtClean="0"/>
              <a:t>Inherent model-based constraints</a:t>
            </a:r>
          </a:p>
          <a:p>
            <a:pPr lvl="1"/>
            <a:r>
              <a:rPr lang="en-US" dirty="0" smtClean="0"/>
              <a:t>Schema-based constraints</a:t>
            </a:r>
          </a:p>
          <a:p>
            <a:pPr lvl="1"/>
            <a:r>
              <a:rPr lang="en-US" dirty="0" smtClean="0"/>
              <a:t>Application-based constraints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Relational Integrity Constraints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dirty="0">
                <a:solidFill>
                  <a:srgbClr val="000000"/>
                </a:solidFill>
                <a:cs typeface="Times New Roman" charset="0"/>
              </a:rPr>
              <a:t>Constraints are </a:t>
            </a:r>
            <a:r>
              <a:rPr lang="en-US" i="1" dirty="0">
                <a:solidFill>
                  <a:srgbClr val="000000"/>
                </a:solidFill>
                <a:cs typeface="Times New Roman" charset="0"/>
              </a:rPr>
              <a:t>conditions</a:t>
            </a:r>
            <a:r>
              <a:rPr lang="en-US" dirty="0">
                <a:solidFill>
                  <a:srgbClr val="000000"/>
                </a:solidFill>
                <a:cs typeface="Times New Roman" charset="0"/>
              </a:rPr>
              <a:t>  that must hold on </a:t>
            </a:r>
            <a:r>
              <a:rPr lang="en-US" i="1" dirty="0">
                <a:solidFill>
                  <a:srgbClr val="000000"/>
                </a:solidFill>
                <a:cs typeface="Times New Roman" charset="0"/>
              </a:rPr>
              <a:t>all</a:t>
            </a:r>
            <a:r>
              <a:rPr lang="en-US" dirty="0">
                <a:solidFill>
                  <a:srgbClr val="000000"/>
                </a:solidFill>
                <a:cs typeface="Times New Roman" charset="0"/>
              </a:rPr>
              <a:t>  valid relation instances. There are </a:t>
            </a:r>
            <a:r>
              <a:rPr lang="en-US" smtClean="0">
                <a:solidFill>
                  <a:srgbClr val="000000"/>
                </a:solidFill>
                <a:cs typeface="Times New Roman" charset="0"/>
              </a:rPr>
              <a:t>four types </a:t>
            </a:r>
            <a:r>
              <a:rPr lang="en-US" dirty="0">
                <a:solidFill>
                  <a:srgbClr val="000000"/>
                </a:solidFill>
                <a:cs typeface="Times New Roman" charset="0"/>
              </a:rPr>
              <a:t>of constraints:</a:t>
            </a:r>
          </a:p>
          <a:p>
            <a:pPr marL="990600" lvl="1" indent="-533400">
              <a:buFontTx/>
              <a:buAutoNum type="arabicPeriod"/>
            </a:pPr>
            <a:r>
              <a:rPr lang="en-US" b="1" dirty="0" smtClean="0">
                <a:solidFill>
                  <a:srgbClr val="000000"/>
                </a:solidFill>
                <a:cs typeface="Times New Roman" charset="0"/>
              </a:rPr>
              <a:t>Domain </a:t>
            </a:r>
            <a:r>
              <a:rPr lang="en-US" dirty="0" smtClean="0">
                <a:solidFill>
                  <a:srgbClr val="000000"/>
                </a:solidFill>
                <a:cs typeface="Times New Roman" charset="0"/>
              </a:rPr>
              <a:t>constraints</a:t>
            </a:r>
          </a:p>
          <a:p>
            <a:pPr marL="990600" lvl="1" indent="-533400">
              <a:buFontTx/>
              <a:buAutoNum type="arabicPeriod"/>
            </a:pPr>
            <a:r>
              <a:rPr lang="en-US" b="1" dirty="0" smtClean="0">
                <a:solidFill>
                  <a:srgbClr val="000000"/>
                </a:solidFill>
                <a:cs typeface="Times New Roman" charset="0"/>
              </a:rPr>
              <a:t>Key</a:t>
            </a:r>
            <a:r>
              <a:rPr lang="en-US" dirty="0" smtClean="0">
                <a:solidFill>
                  <a:srgbClr val="000000"/>
                </a:solidFill>
                <a:cs typeface="Times New Roman" charset="0"/>
              </a:rPr>
              <a:t> constraints and constraints on Null values</a:t>
            </a:r>
          </a:p>
          <a:p>
            <a:pPr marL="990600" lvl="1" indent="-533400">
              <a:buFontTx/>
              <a:buAutoNum type="arabicPeriod"/>
            </a:pPr>
            <a:r>
              <a:rPr lang="en-US" b="1" dirty="0" smtClean="0">
                <a:solidFill>
                  <a:srgbClr val="000000"/>
                </a:solidFill>
                <a:cs typeface="Times New Roman" charset="0"/>
              </a:rPr>
              <a:t>Entity </a:t>
            </a:r>
            <a:r>
              <a:rPr lang="en-US" b="1" dirty="0">
                <a:solidFill>
                  <a:srgbClr val="000000"/>
                </a:solidFill>
                <a:cs typeface="Times New Roman" charset="0"/>
              </a:rPr>
              <a:t>integrity</a:t>
            </a:r>
            <a:r>
              <a:rPr lang="en-US" dirty="0">
                <a:solidFill>
                  <a:srgbClr val="000000"/>
                </a:solidFill>
                <a:cs typeface="Times New Roman" charset="0"/>
              </a:rPr>
              <a:t> constraints</a:t>
            </a:r>
          </a:p>
          <a:p>
            <a:pPr marL="990600" lvl="1" indent="-533400">
              <a:buFontTx/>
              <a:buAutoNum type="arabicPeriod"/>
            </a:pPr>
            <a:r>
              <a:rPr lang="en-US" b="1" dirty="0">
                <a:solidFill>
                  <a:srgbClr val="000000"/>
                </a:solidFill>
                <a:cs typeface="Times New Roman" charset="0"/>
              </a:rPr>
              <a:t>Referential integrity</a:t>
            </a:r>
            <a:r>
              <a:rPr lang="en-US" dirty="0">
                <a:solidFill>
                  <a:srgbClr val="000000"/>
                </a:solidFill>
                <a:cs typeface="Times New Roman" charset="0"/>
              </a:rPr>
              <a:t> constraints</a:t>
            </a:r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Domain constraints</a:t>
            </a:r>
            <a:r>
              <a:rPr lang="en-US" dirty="0"/>
              <a:t> specify that within each tuple, the value of each attribute </a:t>
            </a:r>
            <a:r>
              <a:rPr lang="en-US" i="1" dirty="0"/>
              <a:t>A </a:t>
            </a:r>
            <a:r>
              <a:rPr lang="en-US" dirty="0" smtClean="0"/>
              <a:t>must be </a:t>
            </a:r>
            <a:r>
              <a:rPr lang="en-US" dirty="0"/>
              <a:t>an atomic value from the </a:t>
            </a:r>
            <a:r>
              <a:rPr lang="en-US" dirty="0" smtClean="0"/>
              <a:t>domain </a:t>
            </a:r>
            <a:r>
              <a:rPr lang="en-US" dirty="0" err="1"/>
              <a:t>dom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Data types </a:t>
            </a:r>
            <a:r>
              <a:rPr lang="en-US" dirty="0"/>
              <a:t>associated </a:t>
            </a:r>
            <a:r>
              <a:rPr lang="en-US" dirty="0" smtClean="0"/>
              <a:t>with domains </a:t>
            </a:r>
            <a:r>
              <a:rPr lang="en-US" dirty="0"/>
              <a:t>typically include standard numeric data types for </a:t>
            </a:r>
            <a:r>
              <a:rPr lang="en-US" dirty="0" smtClean="0"/>
              <a:t>integers </a:t>
            </a:r>
            <a:r>
              <a:rPr lang="en-US" dirty="0"/>
              <a:t>and real </a:t>
            </a:r>
            <a:r>
              <a:rPr lang="en-US" dirty="0" smtClean="0"/>
              <a:t>numbers, </a:t>
            </a:r>
            <a:r>
              <a:rPr lang="en-US" dirty="0"/>
              <a:t>Characters, Booleans, fixed-length strings, and variable-length </a:t>
            </a:r>
            <a:r>
              <a:rPr lang="en-US" dirty="0" smtClean="0"/>
              <a:t>strings, date, etc.,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3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/>
          <a:lstStyle/>
          <a:p>
            <a:r>
              <a:rPr lang="en-US" sz="3600" b="1" dirty="0"/>
              <a:t>Key Constraints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71625"/>
            <a:ext cx="7772400" cy="4524375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90000"/>
              </a:lnSpc>
            </a:pPr>
            <a:r>
              <a:rPr lang="en-US" sz="2400" b="1" u="sng" dirty="0" err="1">
                <a:solidFill>
                  <a:srgbClr val="000000"/>
                </a:solidFill>
                <a:cs typeface="Times New Roman" charset="0"/>
              </a:rPr>
              <a:t>Superkey</a:t>
            </a:r>
            <a:r>
              <a:rPr lang="en-US" sz="2400" u="sng" dirty="0">
                <a:solidFill>
                  <a:srgbClr val="000000"/>
                </a:solidFill>
                <a:cs typeface="Times New Roman" charset="0"/>
              </a:rPr>
              <a:t> of R: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A set of attributes SK of R such that no two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tuples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in any valid relation instance r(R)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will have the same value for SK.  That is, for any distinct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tuples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t1 and t2 in r(R), t1[SK] </a:t>
            </a:r>
            <a:r>
              <a:rPr lang="en-US" sz="2400" b="1" dirty="0">
                <a:solidFill>
                  <a:srgbClr val="000000"/>
                </a:solidFill>
                <a:cs typeface="Times New Roman" charset="0"/>
                <a:sym typeface="Symbol" pitchFamily="18" charset="2"/>
              </a:rPr>
              <a:t>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t2[SK].</a:t>
            </a:r>
          </a:p>
          <a:p>
            <a:pPr marL="609600" indent="-609600">
              <a:lnSpc>
                <a:spcPct val="90000"/>
              </a:lnSpc>
            </a:pPr>
            <a:r>
              <a:rPr lang="en-US" sz="2400" b="1" u="sng" dirty="0">
                <a:solidFill>
                  <a:srgbClr val="000000"/>
                </a:solidFill>
                <a:cs typeface="Times New Roman" charset="0"/>
              </a:rPr>
              <a:t>Key</a:t>
            </a:r>
            <a:r>
              <a:rPr lang="en-US" sz="2400" u="sng" dirty="0">
                <a:solidFill>
                  <a:srgbClr val="000000"/>
                </a:solidFill>
                <a:cs typeface="Times New Roman" charset="0"/>
              </a:rPr>
              <a:t> of R: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A "minimal"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superkey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; that is, a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superkey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K such that removal of any attribute from K results in a set of attributes that is not a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superkey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</a:t>
            </a:r>
          </a:p>
          <a:p>
            <a:pPr marL="990600" lvl="1" indent="-533400">
              <a:lnSpc>
                <a:spcPct val="90000"/>
              </a:lnSpc>
              <a:buFontTx/>
              <a:buNone/>
            </a:pPr>
            <a:r>
              <a:rPr lang="en-US" sz="2000" b="1" u="sng" dirty="0">
                <a:solidFill>
                  <a:srgbClr val="000000"/>
                </a:solidFill>
                <a:cs typeface="Times New Roman" charset="0"/>
              </a:rPr>
              <a:t>Example</a:t>
            </a:r>
            <a:r>
              <a:rPr lang="en-US" sz="2000" u="sng" dirty="0">
                <a:solidFill>
                  <a:srgbClr val="000000"/>
                </a:solidFill>
                <a:cs typeface="Times New Roman" charset="0"/>
              </a:rPr>
              <a:t>: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 The CAR relation schema:</a:t>
            </a:r>
          </a:p>
          <a:p>
            <a:pPr marL="990600" lvl="1" indent="-533400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CAR(</a:t>
            </a:r>
            <a:r>
              <a:rPr lang="en-US" sz="2000" u="sng" dirty="0">
                <a:solidFill>
                  <a:srgbClr val="000000"/>
                </a:solidFill>
                <a:cs typeface="Times New Roman" charset="0"/>
              </a:rPr>
              <a:t>State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, </a:t>
            </a:r>
            <a:r>
              <a:rPr lang="en-US" sz="2000" u="sng" dirty="0" err="1">
                <a:solidFill>
                  <a:srgbClr val="000000"/>
                </a:solidFill>
                <a:cs typeface="Times New Roman" charset="0"/>
              </a:rPr>
              <a:t>Reg</a:t>
            </a:r>
            <a:r>
              <a:rPr lang="en-US" sz="2000" u="sng" dirty="0">
                <a:solidFill>
                  <a:srgbClr val="000000"/>
                </a:solidFill>
                <a:cs typeface="Times New Roman" charset="0"/>
              </a:rPr>
              <a:t>#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SerialNo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, Make, Model, Year)</a:t>
            </a:r>
          </a:p>
          <a:p>
            <a:pPr marL="990600" lvl="1" indent="-533400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has two keys Key1 = {State, 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Reg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#}, Key2 = {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SerialNo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}, which are also 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superkeys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. {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SerialNo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, Make} is a </a:t>
            </a:r>
            <a:r>
              <a:rPr lang="en-US" sz="2000" dirty="0" err="1">
                <a:solidFill>
                  <a:srgbClr val="000000"/>
                </a:solidFill>
                <a:cs typeface="Times New Roman" charset="0"/>
              </a:rPr>
              <a:t>superkey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 but </a:t>
            </a:r>
            <a:r>
              <a:rPr lang="en-US" sz="2000" i="1" dirty="0">
                <a:solidFill>
                  <a:srgbClr val="000000"/>
                </a:solidFill>
                <a:cs typeface="Times New Roman" charset="0"/>
              </a:rPr>
              <a:t>not</a:t>
            </a:r>
            <a:r>
              <a:rPr lang="en-US" sz="2000" dirty="0">
                <a:solidFill>
                  <a:srgbClr val="000000"/>
                </a:solidFill>
                <a:cs typeface="Times New Roman" charset="0"/>
              </a:rPr>
              <a:t>  a key.</a:t>
            </a:r>
          </a:p>
          <a:p>
            <a:pPr marL="609600" indent="-609600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If a relation has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several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</a:t>
            </a:r>
            <a:r>
              <a:rPr lang="en-US" sz="2400" b="1" dirty="0">
                <a:solidFill>
                  <a:srgbClr val="000000"/>
                </a:solidFill>
                <a:cs typeface="Times New Roman" charset="0"/>
              </a:rPr>
              <a:t>candidate keys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, one is chosen arbitrarily to be the </a:t>
            </a:r>
            <a:r>
              <a:rPr lang="en-US" sz="2400" b="1" dirty="0">
                <a:solidFill>
                  <a:srgbClr val="000000"/>
                </a:solidFill>
                <a:cs typeface="Times New Roman" charset="0"/>
              </a:rPr>
              <a:t>primary key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 The primary key attributes are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underlined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8229600" cy="1066800"/>
          </a:xfrm>
        </p:spPr>
        <p:txBody>
          <a:bodyPr/>
          <a:lstStyle/>
          <a:p>
            <a:r>
              <a:rPr lang="en-US" sz="3600" b="1" dirty="0"/>
              <a:t>Key Constraints</a:t>
            </a:r>
          </a:p>
        </p:txBody>
      </p:sp>
      <p:sp>
        <p:nvSpPr>
          <p:cNvPr id="217094" name="Rectangle 6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17093" name="Picture 5" descr="ch07_elmasri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76400"/>
            <a:ext cx="7848600" cy="502920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Find super, candidate and primary keys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6480232"/>
              </p:ext>
            </p:extLst>
          </p:nvPr>
        </p:nvGraphicFramePr>
        <p:xfrm>
          <a:off x="1447799" y="2514601"/>
          <a:ext cx="6096000" cy="38100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2228"/>
                <a:gridCol w="1630304"/>
                <a:gridCol w="1246704"/>
                <a:gridCol w="1986764"/>
              </a:tblGrid>
              <a:tr h="544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Year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Month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Date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Version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</a:tr>
              <a:tr h="544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2016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January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</a:tr>
              <a:tr h="544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2016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March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15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II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</a:tr>
              <a:tr h="544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March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30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</a:tr>
              <a:tr h="544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2014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May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</a:tr>
              <a:tr h="544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2013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April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</a:tr>
              <a:tr h="5442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2013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April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en-US" sz="18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II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 Box 2"/>
          <p:cNvSpPr txBox="1"/>
          <p:nvPr/>
        </p:nvSpPr>
        <p:spPr>
          <a:xfrm>
            <a:off x="457200" y="1828800"/>
            <a:ext cx="2667000" cy="64293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effectLst/>
                <a:latin typeface="Times New Roman"/>
                <a:ea typeface="Calibri"/>
                <a:cs typeface="Arial"/>
              </a:rPr>
              <a:t>Software Versions</a:t>
            </a:r>
            <a:endParaRPr lang="en-US" sz="2400" dirty="0">
              <a:effectLst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149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  <a:cs typeface="Times New Roman" charset="0"/>
              </a:rPr>
              <a:t>Constraints </a:t>
            </a:r>
            <a:r>
              <a:rPr lang="en-US" dirty="0">
                <a:solidFill>
                  <a:srgbClr val="000000"/>
                </a:solidFill>
                <a:cs typeface="Times New Roman" charset="0"/>
              </a:rPr>
              <a:t>on Null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constraint on attributes specifies whether NULL values are or are not permitted.</a:t>
            </a:r>
          </a:p>
          <a:p>
            <a:endParaRPr lang="en-US" dirty="0" smtClean="0"/>
          </a:p>
          <a:p>
            <a:pPr marL="109728" indent="0">
              <a:buNone/>
            </a:pPr>
            <a:r>
              <a:rPr lang="en-US" dirty="0" smtClean="0"/>
              <a:t>For </a:t>
            </a:r>
            <a:r>
              <a:rPr lang="en-US" dirty="0"/>
              <a:t>example, if every STUDENT tuple must have a valid, non-NULL value </a:t>
            </a:r>
            <a:r>
              <a:rPr lang="en-US" dirty="0" smtClean="0"/>
              <a:t>for the </a:t>
            </a:r>
            <a:r>
              <a:rPr lang="en-US" dirty="0"/>
              <a:t>Name attribute, then Name of STUDENT is constrained to be NOT NULL.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9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609600"/>
            <a:ext cx="7173912" cy="962025"/>
          </a:xfrm>
        </p:spPr>
        <p:txBody>
          <a:bodyPr/>
          <a:lstStyle/>
          <a:p>
            <a:r>
              <a:rPr lang="en-US" sz="3600" b="1"/>
              <a:t>Entity Integrity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71625"/>
            <a:ext cx="7772400" cy="4524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Relational Database Schema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: A set S of relation schemas that belong to the same database. S is the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name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of the </a:t>
            </a: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database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.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S = {R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, R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, ..., R</a:t>
            </a:r>
            <a:r>
              <a:rPr lang="en-US" sz="2400" baseline="-25000">
                <a:solidFill>
                  <a:srgbClr val="000000"/>
                </a:solidFill>
                <a:cs typeface="Times New Roman" charset="0"/>
              </a:rPr>
              <a:t>n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2400" b="1">
                <a:solidFill>
                  <a:srgbClr val="000000"/>
                </a:solidFill>
                <a:cs typeface="Times New Roman" charset="0"/>
              </a:rPr>
              <a:t>Entity Integrity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: The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primary key attributes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PK of each relation schema R in S cannot have null values in any tuple of r(R). This is because primary key values are used to </a:t>
            </a:r>
            <a:r>
              <a:rPr lang="en-US" sz="2400" i="1">
                <a:solidFill>
                  <a:srgbClr val="000000"/>
                </a:solidFill>
                <a:cs typeface="Times New Roman" charset="0"/>
              </a:rPr>
              <a:t>identify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 the individual tuples.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t[PK] </a:t>
            </a:r>
            <a:r>
              <a:rPr lang="en-US" sz="2400" b="1">
                <a:solidFill>
                  <a:srgbClr val="000000"/>
                </a:solidFill>
                <a:cs typeface="Times New Roman" charset="0"/>
                <a:sym typeface="Symbol" pitchFamily="18" charset="2"/>
              </a:rPr>
              <a:t>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null for any tuple t in r(R)</a:t>
            </a:r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rgbClr val="000000"/>
                </a:solidFill>
                <a:cs typeface="Times New Roman" charset="0"/>
              </a:rPr>
              <a:t> </a:t>
            </a:r>
            <a:r>
              <a:rPr lang="en-US" sz="2400" u="sng">
                <a:solidFill>
                  <a:srgbClr val="000000"/>
                </a:solidFill>
                <a:cs typeface="Times New Roman" charset="0"/>
              </a:rPr>
              <a:t>Note:</a:t>
            </a:r>
            <a:r>
              <a:rPr lang="en-US" sz="2400">
                <a:solidFill>
                  <a:srgbClr val="000000"/>
                </a:solidFill>
                <a:cs typeface="Times New Roman" charset="0"/>
              </a:rPr>
              <a:t> Other attributes of R may be similarly constrained  to disallow null values, even though they are not members of the primary key.</a:t>
            </a:r>
            <a:endParaRPr 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609600"/>
            <a:ext cx="7173912" cy="962025"/>
          </a:xfrm>
        </p:spPr>
        <p:txBody>
          <a:bodyPr/>
          <a:lstStyle/>
          <a:p>
            <a:r>
              <a:rPr lang="en-US" sz="3600" b="1"/>
              <a:t>Referential Integrity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71625"/>
            <a:ext cx="7772400" cy="5286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A constraint involving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two  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relations (the previous constraints involve a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single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relation).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Used to specify a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relationship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among tuples in two relations: the </a:t>
            </a:r>
            <a:r>
              <a:rPr lang="en-US" sz="2400" b="1" dirty="0">
                <a:solidFill>
                  <a:srgbClr val="000000"/>
                </a:solidFill>
                <a:cs typeface="Times New Roman" charset="0"/>
              </a:rPr>
              <a:t>referencing relation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and the </a:t>
            </a:r>
            <a:r>
              <a:rPr lang="en-US" sz="2400" b="1" dirty="0">
                <a:solidFill>
                  <a:srgbClr val="000000"/>
                </a:solidFill>
                <a:cs typeface="Times New Roman" charset="0"/>
              </a:rPr>
              <a:t>referenced relation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Tuples in the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referencing relation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R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have attributes FK (called </a:t>
            </a:r>
            <a:r>
              <a:rPr lang="en-US" sz="2400" b="1" dirty="0">
                <a:solidFill>
                  <a:srgbClr val="000000"/>
                </a:solidFill>
                <a:cs typeface="Times New Roman" charset="0"/>
              </a:rPr>
              <a:t>foreign key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attributes) that reference the primary key attributes PK of the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referenced relation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R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 A tuple t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in R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is said to </a:t>
            </a:r>
            <a:r>
              <a:rPr lang="en-US" sz="2400" b="1" dirty="0">
                <a:solidFill>
                  <a:srgbClr val="000000"/>
                </a:solidFill>
                <a:cs typeface="Times New Roman" charset="0"/>
              </a:rPr>
              <a:t>reference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a tuple t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in R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if t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[FK] = t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[PK].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A referential integrity constraint can be displayed in a relational database schema as a directed arc from R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.FK to R</a:t>
            </a:r>
            <a:r>
              <a:rPr lang="en-US" sz="2400" baseline="-25000" dirty="0">
                <a:solidFill>
                  <a:srgbClr val="000000"/>
                </a:solidFill>
                <a:cs typeface="Times New Roman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 </a:t>
            </a:r>
            <a:endParaRPr lang="en-US" sz="2400" dirty="0" smtClean="0">
              <a:solidFill>
                <a:srgbClr val="000000"/>
              </a:solidFill>
              <a:cs typeface="Times New Roman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000000"/>
                </a:solidFill>
                <a:cs typeface="Times New Roman" charset="0"/>
              </a:rPr>
              <a:t>A tuple in 1 </a:t>
            </a:r>
            <a:r>
              <a:rPr lang="en-US" sz="2400" dirty="0" err="1" smtClean="0">
                <a:solidFill>
                  <a:srgbClr val="000000"/>
                </a:solidFill>
                <a:cs typeface="Times New Roman" charset="0"/>
              </a:rPr>
              <a:t>rel</a:t>
            </a:r>
            <a:r>
              <a:rPr lang="en-US" sz="2400" dirty="0" smtClean="0">
                <a:solidFill>
                  <a:srgbClr val="000000"/>
                </a:solidFill>
                <a:cs typeface="Times New Roman" charset="0"/>
              </a:rPr>
              <a:t> that refers to another </a:t>
            </a:r>
            <a:r>
              <a:rPr lang="en-US" sz="2400" dirty="0" err="1" smtClean="0">
                <a:solidFill>
                  <a:srgbClr val="000000"/>
                </a:solidFill>
                <a:cs typeface="Times New Roman" charset="0"/>
              </a:rPr>
              <a:t>rel</a:t>
            </a:r>
            <a:r>
              <a:rPr lang="en-US" sz="2400" dirty="0" smtClean="0">
                <a:solidFill>
                  <a:srgbClr val="000000"/>
                </a:solidFill>
                <a:cs typeface="Times New Roman" charset="0"/>
              </a:rPr>
              <a:t> must refer to an existing </a:t>
            </a:r>
            <a:r>
              <a:rPr lang="en-US" sz="2400" dirty="0" err="1" smtClean="0">
                <a:solidFill>
                  <a:srgbClr val="000000"/>
                </a:solidFill>
                <a:cs typeface="Times New Roman" charset="0"/>
              </a:rPr>
              <a:t>tupl</a:t>
            </a:r>
            <a:r>
              <a:rPr lang="en-US" sz="2400" dirty="0" smtClean="0">
                <a:solidFill>
                  <a:srgbClr val="000000"/>
                </a:solidFill>
                <a:cs typeface="Times New Roman" charset="0"/>
              </a:rPr>
              <a:t> in that </a:t>
            </a:r>
            <a:r>
              <a:rPr lang="en-US" sz="2400" dirty="0" err="1" smtClean="0">
                <a:solidFill>
                  <a:srgbClr val="000000"/>
                </a:solidFill>
                <a:cs typeface="Times New Roman" charset="0"/>
              </a:rPr>
              <a:t>rel</a:t>
            </a:r>
            <a:endParaRPr lang="en-US" sz="2400" dirty="0" smtClean="0">
              <a:solidFill>
                <a:srgbClr val="000000"/>
              </a:solidFill>
              <a:cs typeface="Times New Roman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solidFill>
                <a:srgbClr val="000000"/>
              </a:solidFill>
              <a:cs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990600"/>
            <a:ext cx="8115300" cy="1143000"/>
          </a:xfrm>
        </p:spPr>
        <p:txBody>
          <a:bodyPr>
            <a:normAutofit fontScale="90000"/>
          </a:bodyPr>
          <a:lstStyle/>
          <a:p>
            <a:r>
              <a:rPr lang="en-US" b="1"/>
              <a:t>Referential Integrity </a:t>
            </a:r>
            <a:br>
              <a:rPr lang="en-US" b="1"/>
            </a:br>
            <a:r>
              <a:rPr lang="en-US" b="1"/>
              <a:t>Constraint</a:t>
            </a:r>
            <a:endParaRPr lang="en-US"/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u="sng"/>
              <a:t>Statement of the constraint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The value in the foreign key column (or columns) FK of the </a:t>
            </a:r>
            <a:r>
              <a:rPr lang="en-US" sz="2800"/>
              <a:t>the </a:t>
            </a:r>
            <a:r>
              <a:rPr lang="en-US" sz="2800" b="1"/>
              <a:t>referencing relation </a:t>
            </a:r>
            <a:r>
              <a:rPr lang="en-US" sz="2800"/>
              <a:t>R</a:t>
            </a:r>
            <a:r>
              <a:rPr lang="en-US" sz="2800" baseline="-25000"/>
              <a:t>1</a:t>
            </a:r>
            <a:r>
              <a:rPr lang="en-US" sz="2800"/>
              <a:t> can be </a:t>
            </a:r>
            <a:r>
              <a:rPr lang="en-US" sz="2800" u="sng"/>
              <a:t>either</a:t>
            </a:r>
            <a:r>
              <a:rPr lang="en-US" sz="2800"/>
              <a:t>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  (1) a value of an existing primary key value of the corresponding primary key PK in the </a:t>
            </a:r>
            <a:r>
              <a:rPr lang="en-US" sz="2800" b="1"/>
              <a:t>referenced relation </a:t>
            </a:r>
            <a:r>
              <a:rPr lang="en-US" sz="2800"/>
              <a:t>R</a:t>
            </a:r>
            <a:r>
              <a:rPr lang="en-US" sz="2800" baseline="-25000"/>
              <a:t>2,</a:t>
            </a:r>
            <a:r>
              <a:rPr lang="en-US" sz="2800"/>
              <a:t>, or..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 	 (2) a null.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In case (2), the FK in R</a:t>
            </a:r>
            <a:r>
              <a:rPr lang="en-US" sz="2800" baseline="-25000"/>
              <a:t>1 </a:t>
            </a:r>
            <a:r>
              <a:rPr lang="en-US" sz="2800"/>
              <a:t>should </a:t>
            </a:r>
            <a:r>
              <a:rPr lang="en-US" sz="2800" u="sng"/>
              <a:t>not</a:t>
            </a:r>
            <a:r>
              <a:rPr lang="en-US" sz="2800"/>
              <a:t> be a part of its own primary key.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20162" name="Picture 2" descr="ch07_elmasri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231900"/>
            <a:ext cx="7270750" cy="56261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7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7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8650"/>
            <a:ext cx="8839200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135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1" name="Rectangle 3"/>
          <p:cNvSpPr>
            <a:spLocks noChangeArrowheads="1"/>
          </p:cNvSpPr>
          <p:nvPr/>
        </p:nvSpPr>
        <p:spPr bwMode="auto">
          <a:xfrm>
            <a:off x="1833563" y="1309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222210" name="Picture 2" descr="ch07_elmasri0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1825" y="822325"/>
            <a:ext cx="7797800" cy="6035675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143000"/>
            <a:ext cx="8115300" cy="1143000"/>
          </a:xfrm>
        </p:spPr>
        <p:txBody>
          <a:bodyPr/>
          <a:lstStyle/>
          <a:p>
            <a:r>
              <a:rPr lang="en-US" b="1" dirty="0"/>
              <a:t>Other Types of Constraints</a:t>
            </a:r>
            <a:endParaRPr lang="en-US" dirty="0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146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Semantic Integrity Constraints: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/>
              <a:t>based on application semantics and cannot be expressed by the </a:t>
            </a:r>
            <a:r>
              <a:rPr lang="en-US" dirty="0" smtClean="0"/>
              <a:t>model</a:t>
            </a:r>
            <a:endParaRPr lang="en-US" dirty="0"/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/>
              <a:t>E.g., “the max. no. of hours per employee for all projects he or she works on is 56 hrs per week”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/>
              <a:t>A </a:t>
            </a:r>
            <a:r>
              <a:rPr lang="en-US" i="1" dirty="0"/>
              <a:t>constraint specification language</a:t>
            </a:r>
            <a:r>
              <a:rPr lang="en-US" dirty="0"/>
              <a:t> may have to be used to express these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/>
              <a:t>SQL-99 allows triggers and ASSERTIONS to allow for some of these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93688" y="857250"/>
            <a:ext cx="7173912" cy="895350"/>
          </a:xfrm>
        </p:spPr>
        <p:txBody>
          <a:bodyPr/>
          <a:lstStyle/>
          <a:p>
            <a:r>
              <a:rPr lang="en-US" sz="3600" b="1" dirty="0"/>
              <a:t>Update Operations on Relations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38350"/>
            <a:ext cx="7772400" cy="4591050"/>
          </a:xfrm>
        </p:spPr>
        <p:txBody>
          <a:bodyPr/>
          <a:lstStyle/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INSERT a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tuple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DELETE a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tuple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MODIFY a </a:t>
            </a:r>
            <a:r>
              <a:rPr lang="en-US" sz="2400" dirty="0" err="1">
                <a:solidFill>
                  <a:srgbClr val="000000"/>
                </a:solidFill>
                <a:cs typeface="Times New Roman" charset="0"/>
              </a:rPr>
              <a:t>tuple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.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 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Integrity constraints should not be violated by the update operations.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Several update operations may have to be grouped together.</a:t>
            </a:r>
          </a:p>
          <a:p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Updates may </a:t>
            </a:r>
            <a:r>
              <a:rPr lang="en-US" sz="2400" i="1" dirty="0">
                <a:solidFill>
                  <a:srgbClr val="000000"/>
                </a:solidFill>
                <a:cs typeface="Times New Roman" charset="0"/>
              </a:rPr>
              <a:t>propagate</a:t>
            </a:r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  to cause other updates automatically. This may be necessary to maintain integrity constraints.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Few examples of insertion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Insert &lt;‘Cecilia’, ‘F’, ‘</a:t>
            </a:r>
            <a:r>
              <a:rPr lang="en-US" dirty="0" err="1"/>
              <a:t>Kolonsky</a:t>
            </a:r>
            <a:r>
              <a:rPr lang="en-US" dirty="0"/>
              <a:t>’, NULL, ‘1960-04-05’, ‘6357 Windy Lane, </a:t>
            </a:r>
            <a:r>
              <a:rPr lang="en-US" dirty="0" err="1" smtClean="0"/>
              <a:t>Katy,TX</a:t>
            </a:r>
            <a:r>
              <a:rPr lang="en-US" dirty="0"/>
              <a:t>’, F, 28000, NULL, 4&gt; into EMPLOYEE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Insert &lt;‘Alicia’, ‘J’, ‘</a:t>
            </a:r>
            <a:r>
              <a:rPr lang="en-US" dirty="0" err="1"/>
              <a:t>Zelaya</a:t>
            </a:r>
            <a:r>
              <a:rPr lang="en-US" dirty="0"/>
              <a:t>’, ‘999887777’, ‘1960-04-05’, ‘6357 Windy Lane, </a:t>
            </a:r>
            <a:r>
              <a:rPr lang="en-US" dirty="0" err="1" smtClean="0"/>
              <a:t>Katy,TX</a:t>
            </a:r>
            <a:r>
              <a:rPr lang="en-US" dirty="0"/>
              <a:t>’, F, 28000, ‘987654321’, 4&gt; into EMPLOYEE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Insert &lt;‘Cecilia’, ‘F’, ‘</a:t>
            </a:r>
            <a:r>
              <a:rPr lang="en-US" dirty="0" err="1"/>
              <a:t>Kolonsky</a:t>
            </a:r>
            <a:r>
              <a:rPr lang="en-US" dirty="0"/>
              <a:t>’, ‘677678989’, ‘1960-04-05’, ‘6357 </a:t>
            </a:r>
            <a:r>
              <a:rPr lang="en-US" dirty="0" smtClean="0"/>
              <a:t>Windswept, Katy</a:t>
            </a:r>
            <a:r>
              <a:rPr lang="en-US" dirty="0"/>
              <a:t>, TX’, F, 28000, ‘987654321’, 7&gt; into EMPLOYEE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Insert &lt;‘Cecilia’, ‘F’, ‘</a:t>
            </a:r>
            <a:r>
              <a:rPr lang="en-US" dirty="0" err="1"/>
              <a:t>Kolonsky</a:t>
            </a:r>
            <a:r>
              <a:rPr lang="en-US" dirty="0"/>
              <a:t>’, ‘677678989’, ‘1960-04-05’, ‘6357 Windy </a:t>
            </a:r>
            <a:r>
              <a:rPr lang="en-US" dirty="0" err="1" smtClean="0"/>
              <a:t>Lane,Katy</a:t>
            </a:r>
            <a:r>
              <a:rPr lang="en-US" dirty="0"/>
              <a:t>, TX’, F, 28000, NULL, 4&gt; into EMPLOYEE.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Database Management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6" name="Picture 2" descr="C:\Users\MEHTAB\Desktop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33413"/>
            <a:ext cx="8839200" cy="614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8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Few examples of deletion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Delete the WORKS_ON tuple with </a:t>
            </a:r>
            <a:r>
              <a:rPr lang="en-US" dirty="0" err="1"/>
              <a:t>Essn</a:t>
            </a:r>
            <a:r>
              <a:rPr lang="en-US" dirty="0"/>
              <a:t> = ‘999887777’ and </a:t>
            </a:r>
            <a:r>
              <a:rPr lang="en-US" dirty="0" err="1"/>
              <a:t>Pno</a:t>
            </a:r>
            <a:r>
              <a:rPr lang="en-US" dirty="0"/>
              <a:t> = 10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Delete the EMPLOYEE tuple with </a:t>
            </a:r>
            <a:r>
              <a:rPr lang="en-US" dirty="0" err="1"/>
              <a:t>Ssn</a:t>
            </a:r>
            <a:r>
              <a:rPr lang="en-US" dirty="0"/>
              <a:t> = ‘999887777</a:t>
            </a:r>
            <a:r>
              <a:rPr lang="en-US" dirty="0" smtClean="0"/>
              <a:t>’.</a:t>
            </a:r>
          </a:p>
          <a:p>
            <a:endParaRPr lang="en-US" dirty="0"/>
          </a:p>
          <a:p>
            <a:r>
              <a:rPr lang="en-US" dirty="0"/>
              <a:t>Delete the EMPLOYEE tuple with </a:t>
            </a:r>
            <a:r>
              <a:rPr lang="en-US" dirty="0" err="1"/>
              <a:t>Ssn</a:t>
            </a:r>
            <a:r>
              <a:rPr lang="en-US"/>
              <a:t> = ‘333445555’.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9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Few examples of update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Update the salary of the EMPLOYEE tuple with </a:t>
            </a:r>
            <a:r>
              <a:rPr lang="en-US" dirty="0" err="1"/>
              <a:t>Ssn</a:t>
            </a:r>
            <a:r>
              <a:rPr lang="en-US" dirty="0"/>
              <a:t> = ‘999887777’ to 28000.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Update the </a:t>
            </a:r>
            <a:r>
              <a:rPr lang="en-US" dirty="0" err="1"/>
              <a:t>Dno</a:t>
            </a:r>
            <a:r>
              <a:rPr lang="en-US" dirty="0"/>
              <a:t> of the EMPLOYEE tuple with </a:t>
            </a:r>
            <a:r>
              <a:rPr lang="en-US" dirty="0" err="1"/>
              <a:t>Ssn</a:t>
            </a:r>
            <a:r>
              <a:rPr lang="en-US" dirty="0"/>
              <a:t> = ‘999887777’ to 1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Update the </a:t>
            </a:r>
            <a:r>
              <a:rPr lang="en-US" dirty="0" err="1"/>
              <a:t>Dno</a:t>
            </a:r>
            <a:r>
              <a:rPr lang="en-US" dirty="0"/>
              <a:t> of the EMPLOYEE tuple with </a:t>
            </a:r>
            <a:r>
              <a:rPr lang="en-US" dirty="0" err="1"/>
              <a:t>Ssn</a:t>
            </a:r>
            <a:r>
              <a:rPr lang="en-US" dirty="0"/>
              <a:t> = ‘999887777’ to 7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Update the </a:t>
            </a:r>
            <a:r>
              <a:rPr lang="en-US" dirty="0" err="1"/>
              <a:t>Ssn</a:t>
            </a:r>
            <a:r>
              <a:rPr lang="en-US" dirty="0"/>
              <a:t> of the EMPLOYEE tuple with </a:t>
            </a:r>
            <a:r>
              <a:rPr lang="en-US" dirty="0" err="1"/>
              <a:t>Ssn</a:t>
            </a:r>
            <a:r>
              <a:rPr lang="en-US" dirty="0"/>
              <a:t> = ‘999887777’ to ‘987654321’.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Toqir Ahmad Rana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5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066800"/>
            <a:ext cx="7173912" cy="895350"/>
          </a:xfrm>
        </p:spPr>
        <p:txBody>
          <a:bodyPr/>
          <a:lstStyle/>
          <a:p>
            <a:r>
              <a:rPr lang="en-US" sz="3600" b="1" dirty="0"/>
              <a:t>Update Operations on Relations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38350"/>
            <a:ext cx="7772400" cy="4591050"/>
          </a:xfrm>
        </p:spPr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cs typeface="Times New Roman" charset="0"/>
              </a:rPr>
              <a:t>In case of integrity violation, several actions can be taken: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Cancel the operation that causes the violation (REJECT option)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Perform the operation but inform the user of the violation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Trigger additional updates so the violation is corrected (CASCADE option, SET NULL option)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cs typeface="Times New Roman" charset="0"/>
              </a:rPr>
              <a:t>Execute a user-specified error-correction routine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1069848"/>
          </a:xfrm>
        </p:spPr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225283" name="Text Box 3"/>
          <p:cNvSpPr txBox="1">
            <a:spLocks noChangeArrowheads="1"/>
          </p:cNvSpPr>
          <p:nvPr/>
        </p:nvSpPr>
        <p:spPr bwMode="auto">
          <a:xfrm>
            <a:off x="1066800" y="1905000"/>
            <a:ext cx="6510337" cy="451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(Taken from Exercise 5.15)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Consider the following relations for a database that keeps track of student enrollment in courses and the books adopted for each course: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STUDENT(</a:t>
            </a:r>
            <a:r>
              <a:rPr lang="en-US" sz="2000" u="sng" dirty="0"/>
              <a:t>SSN</a:t>
            </a:r>
            <a:r>
              <a:rPr lang="en-US" sz="2000" dirty="0"/>
              <a:t>, Name, Major, </a:t>
            </a:r>
            <a:r>
              <a:rPr lang="en-US" sz="2000" dirty="0" err="1"/>
              <a:t>Bdate</a:t>
            </a:r>
            <a:r>
              <a:rPr lang="en-US" sz="2000" dirty="0"/>
              <a:t>)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COURSE(</a:t>
            </a:r>
            <a:r>
              <a:rPr lang="en-US" sz="2000" u="sng" dirty="0"/>
              <a:t>Course#</a:t>
            </a:r>
            <a:r>
              <a:rPr lang="en-US" sz="2000" dirty="0"/>
              <a:t>, </a:t>
            </a:r>
            <a:r>
              <a:rPr lang="en-US" sz="2000" dirty="0" err="1"/>
              <a:t>Cname</a:t>
            </a:r>
            <a:r>
              <a:rPr lang="en-US" sz="2000" dirty="0"/>
              <a:t>, Dept)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ENROLL(</a:t>
            </a:r>
            <a:r>
              <a:rPr lang="en-US" sz="2000" u="sng" dirty="0"/>
              <a:t>SSN</a:t>
            </a:r>
            <a:r>
              <a:rPr lang="en-US" sz="2000" dirty="0"/>
              <a:t>, </a:t>
            </a:r>
            <a:r>
              <a:rPr lang="en-US" sz="2000" u="sng" dirty="0"/>
              <a:t>Course#</a:t>
            </a:r>
            <a:r>
              <a:rPr lang="en-US" sz="2000" dirty="0"/>
              <a:t>, </a:t>
            </a:r>
            <a:r>
              <a:rPr lang="en-US" sz="2000" u="sng" dirty="0"/>
              <a:t>Quarter</a:t>
            </a:r>
            <a:r>
              <a:rPr lang="en-US" sz="2000" dirty="0"/>
              <a:t>, Grade)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BOOK_ADOPTION(</a:t>
            </a:r>
            <a:r>
              <a:rPr lang="en-US" sz="2000" u="sng" dirty="0"/>
              <a:t>Course#</a:t>
            </a:r>
            <a:r>
              <a:rPr lang="en-US" sz="2000" dirty="0"/>
              <a:t>, </a:t>
            </a:r>
            <a:r>
              <a:rPr lang="en-US" sz="2000" u="sng" dirty="0"/>
              <a:t>Quarter</a:t>
            </a:r>
            <a:r>
              <a:rPr lang="en-US" sz="2000" dirty="0"/>
              <a:t>, </a:t>
            </a:r>
            <a:r>
              <a:rPr lang="en-US" sz="2000" dirty="0" err="1"/>
              <a:t>Book_ISBN</a:t>
            </a:r>
            <a:r>
              <a:rPr lang="en-US" sz="2000" dirty="0"/>
              <a:t>)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TEXT(</a:t>
            </a:r>
            <a:r>
              <a:rPr lang="en-US" sz="2000" u="sng" dirty="0" err="1"/>
              <a:t>Book_ISBN</a:t>
            </a:r>
            <a:r>
              <a:rPr lang="en-US" sz="2000" dirty="0"/>
              <a:t>, </a:t>
            </a:r>
            <a:r>
              <a:rPr lang="en-US" sz="2000" dirty="0" err="1"/>
              <a:t>Book_Title</a:t>
            </a:r>
            <a:r>
              <a:rPr lang="en-US" sz="2000" dirty="0"/>
              <a:t>, Publisher, Author)</a:t>
            </a:r>
          </a:p>
          <a:p>
            <a:pPr>
              <a:spcBef>
                <a:spcPct val="50000"/>
              </a:spcBef>
            </a:pPr>
            <a:r>
              <a:rPr lang="en-US" sz="2000" b="1" dirty="0"/>
              <a:t>Draw a relational schema diagram specifying the foreign keys for this schema.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1902</TotalTime>
  <Words>1249</Words>
  <Application>Microsoft Office PowerPoint</Application>
  <PresentationFormat>On-screen Show (4:3)</PresentationFormat>
  <Paragraphs>187</Paragraphs>
  <Slides>23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Georgia</vt:lpstr>
      <vt:lpstr>Symbol</vt:lpstr>
      <vt:lpstr>Times New Roman</vt:lpstr>
      <vt:lpstr>Trebuchet MS</vt:lpstr>
      <vt:lpstr>Wingdings</vt:lpstr>
      <vt:lpstr>Wingdings 2</vt:lpstr>
      <vt:lpstr>Urban</vt:lpstr>
      <vt:lpstr>Database Systems </vt:lpstr>
      <vt:lpstr>Today’s Agenda</vt:lpstr>
      <vt:lpstr>Relational Model Constraints</vt:lpstr>
      <vt:lpstr>Relational Integrity Constraints</vt:lpstr>
      <vt:lpstr>Domain Constraints</vt:lpstr>
      <vt:lpstr>Key Constraints</vt:lpstr>
      <vt:lpstr>Key Constraints</vt:lpstr>
      <vt:lpstr>Find super, candidate and primary keys</vt:lpstr>
      <vt:lpstr>Constraints on Null values</vt:lpstr>
      <vt:lpstr>Entity Integrity</vt:lpstr>
      <vt:lpstr>Referential Integrity</vt:lpstr>
      <vt:lpstr>Referential Integrity  Constraint</vt:lpstr>
      <vt:lpstr>PowerPoint Presentation</vt:lpstr>
      <vt:lpstr>PowerPoint Presentation</vt:lpstr>
      <vt:lpstr>PowerPoint Presentation</vt:lpstr>
      <vt:lpstr>Other Types of Constraints</vt:lpstr>
      <vt:lpstr>Update Operations on Relations</vt:lpstr>
      <vt:lpstr>Few examples of insertion operation</vt:lpstr>
      <vt:lpstr>PowerPoint Presentation</vt:lpstr>
      <vt:lpstr>Few examples of deletion operation</vt:lpstr>
      <vt:lpstr>Few examples of update operation</vt:lpstr>
      <vt:lpstr>Update Operations on Relations</vt:lpstr>
      <vt:lpstr>In-Class Exercise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Duaa</cp:lastModifiedBy>
  <cp:revision>38</cp:revision>
  <dcterms:created xsi:type="dcterms:W3CDTF">2006-08-16T00:00:00Z</dcterms:created>
  <dcterms:modified xsi:type="dcterms:W3CDTF">2024-04-15T08:52:59Z</dcterms:modified>
</cp:coreProperties>
</file>
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88" r:id="rId8"/>
    <p:sldId id="283" r:id="rId9"/>
    <p:sldId id="264" r:id="rId10"/>
    <p:sldId id="265" r:id="rId11"/>
    <p:sldId id="279" r:id="rId12"/>
    <p:sldId id="267" r:id="rId13"/>
    <p:sldId id="268" r:id="rId14"/>
    <p:sldId id="269" r:id="rId15"/>
    <p:sldId id="270" r:id="rId16"/>
    <p:sldId id="287" r:id="rId17"/>
    <p:sldId id="284" r:id="rId18"/>
    <p:sldId id="271" r:id="rId19"/>
    <p:sldId id="272" r:id="rId20"/>
    <p:sldId id="274" r:id="rId21"/>
    <p:sldId id="275" r:id="rId22"/>
    <p:sldId id="276" r:id="rId23"/>
    <p:sldId id="277" r:id="rId24"/>
    <p:sldId id="286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F795F-AEBF-438F-BEEF-AA77FA35CED5}" type="datetimeFigureOut">
              <a:rPr lang="en-US" smtClean="0"/>
              <a:pPr/>
              <a:t>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E5360-7EE1-4E2D-8273-4DDDA3383A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4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Relational Algebra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19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066800"/>
            <a:ext cx="8534400" cy="842962"/>
          </a:xfrm>
        </p:spPr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458200" cy="47196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Example Database Application (COMPANY)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Relational Algebra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Unary Relational Operations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Relational Algebra Operations From Set Theory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534400" cy="842962"/>
          </a:xfrm>
        </p:spPr>
        <p:txBody>
          <a:bodyPr/>
          <a:lstStyle/>
          <a:p>
            <a:r>
              <a:rPr lang="en-US" dirty="0"/>
              <a:t>Database State for COMPANY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89063"/>
            <a:ext cx="8893175" cy="49990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dirty="0"/>
              <a:t>	</a:t>
            </a:r>
            <a:r>
              <a:rPr lang="en-US" sz="1800" dirty="0">
                <a:latin typeface="Times New Roman" pitchFamily="18" charset="0"/>
              </a:rPr>
              <a:t>All examples discussed below refer to the COMPANY database shown here.</a:t>
            </a:r>
          </a:p>
          <a:p>
            <a:pPr>
              <a:buFont typeface="Wingdings" pitchFamily="2" charset="2"/>
              <a:buNone/>
            </a:pPr>
            <a:endParaRPr lang="en-US" sz="1800" dirty="0">
              <a:latin typeface="Times New Roman" pitchFamily="18" charset="0"/>
            </a:endParaRPr>
          </a:p>
        </p:txBody>
      </p:sp>
      <p:pic>
        <p:nvPicPr>
          <p:cNvPr id="249860" name="Picture 4" descr="ch07_elmasri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7315200" cy="47244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14400"/>
            <a:ext cx="7173912" cy="889000"/>
          </a:xfrm>
        </p:spPr>
        <p:txBody>
          <a:bodyPr/>
          <a:lstStyle/>
          <a:p>
            <a:r>
              <a:rPr lang="en-US" dirty="0"/>
              <a:t>Relational Algebra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79883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The basic set of operations for the relational model is known as the relational algebra. These operations enable a user to specify basic retrieval requests.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The result of a retrieval is a new relation, which may have been formed from one or more relations. The </a:t>
            </a:r>
            <a:r>
              <a:rPr lang="en-US" sz="2400" b="1" dirty="0">
                <a:latin typeface="Times New Roman" pitchFamily="18" charset="0"/>
              </a:rPr>
              <a:t>algebra operations</a:t>
            </a:r>
            <a:r>
              <a:rPr lang="en-US" sz="2400" dirty="0">
                <a:latin typeface="Times New Roman" pitchFamily="18" charset="0"/>
              </a:rPr>
              <a:t> thus produce new relations, which can be further manipulated using operations of the same algebra.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A sequence of relational algebra operations forms a </a:t>
            </a:r>
            <a:r>
              <a:rPr lang="en-US" sz="2400" b="1" dirty="0">
                <a:latin typeface="Times New Roman" pitchFamily="18" charset="0"/>
              </a:rPr>
              <a:t>relational algebra expression</a:t>
            </a:r>
            <a:r>
              <a:rPr lang="en-US" sz="2400" dirty="0">
                <a:latin typeface="Times New Roman" pitchFamily="18" charset="0"/>
              </a:rPr>
              <a:t>, whose result will also be a relation that represents the result of a database query (or retrieval request).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766762"/>
          </a:xfrm>
        </p:spPr>
        <p:txBody>
          <a:bodyPr/>
          <a:lstStyle/>
          <a:p>
            <a:r>
              <a:rPr lang="en-US" sz="3200" dirty="0"/>
              <a:t>Unary Relational Operations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78000"/>
            <a:ext cx="8439150" cy="5080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SELECT Operation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000" dirty="0"/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SELECT operation is used to select a </a:t>
            </a:r>
            <a:r>
              <a:rPr lang="en-US" sz="2000" i="1" dirty="0">
                <a:latin typeface="Times New Roman" pitchFamily="18" charset="0"/>
              </a:rPr>
              <a:t>subset </a:t>
            </a:r>
            <a:r>
              <a:rPr lang="en-US" sz="2000" dirty="0">
                <a:latin typeface="Times New Roman" pitchFamily="18" charset="0"/>
              </a:rPr>
              <a:t>of the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from a relation that satisfy a </a:t>
            </a:r>
            <a:r>
              <a:rPr lang="en-US" sz="2000" b="1" dirty="0">
                <a:latin typeface="Times New Roman" pitchFamily="18" charset="0"/>
              </a:rPr>
              <a:t>selection condition</a:t>
            </a:r>
            <a:r>
              <a:rPr lang="en-US" sz="2000" dirty="0">
                <a:latin typeface="Times New Roman" pitchFamily="18" charset="0"/>
              </a:rPr>
              <a:t>. It is a filter that keeps only those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that satisfy a qualifying condition – those satisfying the condition are selected while others are discarded.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0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To select the EMPLOYEE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whose department number is four or those whose salary is greater than $30,000 the following notation is used: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b="1" dirty="0">
                <a:latin typeface="Symbol" pitchFamily="18" charset="2"/>
              </a:rPr>
              <a:t>			</a:t>
            </a:r>
            <a:r>
              <a:rPr lang="en-US" sz="2800" b="1" dirty="0">
                <a:latin typeface="Symbol" pitchFamily="18" charset="2"/>
              </a:rPr>
              <a:t></a:t>
            </a:r>
            <a:r>
              <a:rPr lang="en-US" sz="1400" b="1" dirty="0">
                <a:latin typeface="Times New Roman" pitchFamily="18" charset="0"/>
              </a:rPr>
              <a:t>DNO = 4</a:t>
            </a:r>
            <a:r>
              <a:rPr lang="en-US" sz="1600" b="1" dirty="0">
                <a:latin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</a:rPr>
              <a:t>(EMPLOYEE)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b="1" dirty="0">
                <a:latin typeface="Times New Roman" pitchFamily="18" charset="0"/>
              </a:rPr>
              <a:t>			</a:t>
            </a:r>
            <a:r>
              <a:rPr lang="en-US" sz="2800" b="1" dirty="0">
                <a:latin typeface="Symbol" pitchFamily="18" charset="2"/>
              </a:rPr>
              <a:t></a:t>
            </a:r>
            <a:r>
              <a:rPr lang="en-US" sz="1400" b="1" dirty="0">
                <a:latin typeface="Times New Roman" pitchFamily="18" charset="0"/>
              </a:rPr>
              <a:t>SALARY &gt; 30,000</a:t>
            </a:r>
            <a:r>
              <a:rPr lang="en-US" sz="1600" b="1" dirty="0">
                <a:latin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</a:rPr>
              <a:t>(EMPLOYEE)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b="1" dirty="0"/>
              <a:t>	</a:t>
            </a:r>
            <a:r>
              <a:rPr lang="en-US" sz="2000" dirty="0">
                <a:latin typeface="Times New Roman" pitchFamily="18" charset="0"/>
              </a:rPr>
              <a:t>In general, the select operation is denoted by </a:t>
            </a:r>
            <a:r>
              <a:rPr lang="en-US" sz="2400" b="1" baseline="-16000" dirty="0">
                <a:latin typeface="Symbol" pitchFamily="18" charset="2"/>
              </a:rPr>
              <a:t></a:t>
            </a:r>
            <a:r>
              <a:rPr lang="en-US" sz="2400" baseline="-16000" dirty="0">
                <a:latin typeface="Symbol" pitchFamily="18" charset="2"/>
              </a:rPr>
              <a:t> </a:t>
            </a:r>
            <a:r>
              <a:rPr lang="en-US" sz="2000" baseline="-16000" dirty="0">
                <a:latin typeface="Times New Roman" pitchFamily="18" charset="0"/>
              </a:rPr>
              <a:t>&lt;selection condition&gt;</a:t>
            </a:r>
            <a:r>
              <a:rPr lang="en-US" sz="2000" dirty="0">
                <a:latin typeface="Times New Roman" pitchFamily="18" charset="0"/>
              </a:rPr>
              <a:t>(R) where the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symbol </a:t>
            </a:r>
            <a:r>
              <a:rPr lang="en-US" sz="2400" b="1" dirty="0">
                <a:latin typeface="Symbol" pitchFamily="18" charset="2"/>
              </a:rPr>
              <a:t></a:t>
            </a:r>
            <a:r>
              <a:rPr lang="en-US" sz="2000" dirty="0">
                <a:latin typeface="Times New Roman" pitchFamily="18" charset="0"/>
              </a:rPr>
              <a:t> (sigma) is used to denote the select operator, and the selection condition is a Boolean expression specified on the attributes of relation 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766762"/>
          </a:xfrm>
        </p:spPr>
        <p:txBody>
          <a:bodyPr/>
          <a:lstStyle/>
          <a:p>
            <a:r>
              <a:rPr lang="en-US" sz="3200" dirty="0"/>
              <a:t>Unary Relational Operations</a:t>
            </a:r>
          </a:p>
        </p:txBody>
      </p:sp>
      <p:sp>
        <p:nvSpPr>
          <p:cNvPr id="2549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778000"/>
            <a:ext cx="8439150" cy="5080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Times New Roman" pitchFamily="18" charset="0"/>
              </a:rPr>
              <a:t>SELECT Operation Properties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000" dirty="0"/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1800" dirty="0"/>
              <a:t>	</a:t>
            </a:r>
            <a:r>
              <a:rPr lang="en-US" sz="2000" dirty="0"/>
              <a:t>The SELECT operation 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&lt;selection condition&gt;</a:t>
            </a:r>
            <a:r>
              <a:rPr lang="en-US" sz="2000" dirty="0"/>
              <a:t>(R) produces a relation S that has the same schema as R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 The SELECT operation </a:t>
            </a:r>
            <a:r>
              <a:rPr lang="en-US" sz="2000" b="1" dirty="0">
                <a:latin typeface="Symbol" pitchFamily="18" charset="2"/>
              </a:rPr>
              <a:t> </a:t>
            </a:r>
            <a:r>
              <a:rPr lang="en-US" sz="2000" dirty="0"/>
              <a:t>is</a:t>
            </a:r>
            <a:r>
              <a:rPr lang="en-US" sz="2000" b="1" dirty="0"/>
              <a:t> commutative; </a:t>
            </a:r>
            <a:r>
              <a:rPr lang="en-US" sz="2000" dirty="0"/>
              <a:t>i.e.,</a:t>
            </a:r>
            <a:r>
              <a:rPr lang="en-US" sz="2000" b="1" dirty="0"/>
              <a:t> 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&lt;condition1&gt;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condition2&gt; </a:t>
            </a:r>
            <a:r>
              <a:rPr lang="en-US" sz="2000" dirty="0"/>
              <a:t>(</a:t>
            </a:r>
            <a:r>
              <a:rPr lang="en-US" sz="2000" baseline="-16000" dirty="0"/>
              <a:t> </a:t>
            </a:r>
            <a:r>
              <a:rPr lang="en-US" sz="2000" dirty="0"/>
              <a:t>R)) = 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&lt;condition2&gt; 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condition1&gt; </a:t>
            </a:r>
            <a:r>
              <a:rPr lang="en-US" sz="2000" dirty="0"/>
              <a:t>( R))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A cascaded SELECT operation </a:t>
            </a:r>
            <a:r>
              <a:rPr lang="en-US" sz="2000" b="1" dirty="0"/>
              <a:t>may be applied in any order; </a:t>
            </a:r>
            <a:r>
              <a:rPr lang="en-US" sz="2000" dirty="0"/>
              <a:t>i.e.,</a:t>
            </a:r>
            <a:r>
              <a:rPr lang="en-US" sz="2000" b="1" dirty="0"/>
              <a:t> 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&lt;condition1&gt;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condition2&gt; 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&lt;condition3&gt;</a:t>
            </a:r>
            <a:r>
              <a:rPr lang="en-US" sz="2000" dirty="0"/>
              <a:t> (</a:t>
            </a:r>
            <a:r>
              <a:rPr lang="en-US" sz="2000" baseline="-16000" dirty="0"/>
              <a:t> </a:t>
            </a:r>
            <a:r>
              <a:rPr lang="en-US" sz="2000" dirty="0"/>
              <a:t>R)) 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r>
              <a:rPr lang="en-US" sz="2000" dirty="0"/>
              <a:t>= 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&lt;condition2&gt; 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condition3&gt; 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condition1&gt; </a:t>
            </a:r>
            <a:r>
              <a:rPr lang="en-US" sz="2000" dirty="0"/>
              <a:t>( R)))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A cascaded SELECT operation may be replaced by a single selection with a conjunction of all the conditions</a:t>
            </a:r>
            <a:r>
              <a:rPr lang="en-US" sz="2000" b="1" dirty="0"/>
              <a:t>; </a:t>
            </a:r>
            <a:r>
              <a:rPr lang="en-US" sz="2000" dirty="0"/>
              <a:t>i.e.,</a:t>
            </a:r>
            <a:r>
              <a:rPr lang="en-US" sz="2000" b="1" dirty="0"/>
              <a:t> 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&lt;condition1&gt;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 condition2&gt; 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&lt;condition3&gt;</a:t>
            </a:r>
            <a:r>
              <a:rPr lang="en-US" sz="2000" dirty="0"/>
              <a:t> (</a:t>
            </a:r>
            <a:r>
              <a:rPr lang="en-US" sz="2000" baseline="-16000" dirty="0"/>
              <a:t> </a:t>
            </a:r>
            <a:r>
              <a:rPr lang="en-US" sz="2000" dirty="0"/>
              <a:t>R)) 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r>
              <a:rPr lang="en-US" sz="2000" dirty="0"/>
              <a:t>= 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baseline="-16000" dirty="0">
                <a:latin typeface="Symbol" pitchFamily="18" charset="2"/>
              </a:rPr>
              <a:t> </a:t>
            </a:r>
            <a:r>
              <a:rPr lang="en-US" sz="2000" baseline="-16000" dirty="0"/>
              <a:t>&lt;condition1&gt; AND &lt; condition2&gt;  AND &lt; condition3&gt; </a:t>
            </a:r>
            <a:r>
              <a:rPr lang="en-US" sz="2000" dirty="0"/>
              <a:t>( R)))</a:t>
            </a:r>
          </a:p>
          <a:p>
            <a:pPr lvl="1">
              <a:lnSpc>
                <a:spcPct val="80000"/>
              </a:lnSpc>
              <a:buFont typeface="Symbol" pitchFamily="18" charset="2"/>
              <a:buChar char=" "/>
            </a:pPr>
            <a:endParaRPr lang="en-US" sz="2000" dirty="0"/>
          </a:p>
          <a:p>
            <a:pPr lvl="2">
              <a:lnSpc>
                <a:spcPct val="80000"/>
              </a:lnSpc>
              <a:buFont typeface="Symbol" pitchFamily="18" charset="2"/>
              <a:buChar char=" "/>
            </a:pP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8650"/>
            <a:ext cx="88392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13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6" name="Rectangle 6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 descr="C:\Users\Mehtab\Desktop\Unnamed QQ Screenshot2020050522023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80010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90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7772400" cy="766762"/>
          </a:xfrm>
        </p:spPr>
        <p:txBody>
          <a:bodyPr/>
          <a:lstStyle/>
          <a:p>
            <a:r>
              <a:rPr lang="en-US" sz="3200" dirty="0"/>
              <a:t>Unary Relational Operations (cont.)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78000"/>
            <a:ext cx="8439150" cy="5080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PROJECT Operation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8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</a:rPr>
              <a:t>This operation selects certain </a:t>
            </a:r>
            <a:r>
              <a:rPr lang="en-US" sz="2000" i="1" dirty="0">
                <a:latin typeface="Times New Roman" pitchFamily="18" charset="0"/>
              </a:rPr>
              <a:t>columns</a:t>
            </a:r>
            <a:r>
              <a:rPr lang="en-US" sz="2000" dirty="0">
                <a:latin typeface="Times New Roman" pitchFamily="18" charset="0"/>
              </a:rPr>
              <a:t> from the table and discards the other columns. The PROJECT creates a vertical partitioning – one with the needed columns (attributes) containing results of the operation and other containing the discarded Columns.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8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To list each employee’s first and last name and salary, the following is used:</a:t>
            </a:r>
          </a:p>
          <a:p>
            <a:pPr lvl="1">
              <a:lnSpc>
                <a:spcPct val="80000"/>
              </a:lnSpc>
              <a:buSzPct val="150000"/>
              <a:buFontTx/>
              <a:buNone/>
            </a:pPr>
            <a:r>
              <a:rPr lang="en-US" sz="700" dirty="0"/>
              <a:t>		</a:t>
            </a:r>
            <a:r>
              <a:rPr lang="en-US" sz="1600" dirty="0"/>
              <a:t>	</a:t>
            </a:r>
            <a:r>
              <a:rPr lang="en-US" sz="1600" dirty="0">
                <a:latin typeface="Symbol" pitchFamily="18" charset="2"/>
              </a:rPr>
              <a:t></a:t>
            </a:r>
            <a:r>
              <a:rPr lang="en-US" sz="3200" dirty="0">
                <a:latin typeface="Symbol" pitchFamily="18" charset="2"/>
              </a:rPr>
              <a:t></a:t>
            </a:r>
            <a:r>
              <a:rPr lang="en-US" sz="1800" b="1" baseline="-25000" dirty="0"/>
              <a:t>LNAME, FNAME,SALARY</a:t>
            </a:r>
            <a:r>
              <a:rPr lang="en-US" sz="2000" b="1" dirty="0"/>
              <a:t>(EMPLOYEE)</a:t>
            </a:r>
            <a:endParaRPr lang="en-US" sz="1600" b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</a:t>
            </a:r>
            <a:r>
              <a:rPr lang="en-US" sz="2000" dirty="0">
                <a:latin typeface="Times New Roman" pitchFamily="18" charset="0"/>
              </a:rPr>
              <a:t>The general form of the project operation is </a:t>
            </a:r>
            <a:r>
              <a:rPr lang="en-US" sz="3600" dirty="0">
                <a:latin typeface="Symbol" pitchFamily="18" charset="2"/>
              </a:rPr>
              <a:t></a:t>
            </a:r>
            <a:r>
              <a:rPr lang="en-US" sz="2000" dirty="0">
                <a:latin typeface="Times New Roman" pitchFamily="18" charset="0"/>
              </a:rPr>
              <a:t>&lt;attribute list&gt;(R) where </a:t>
            </a:r>
            <a:r>
              <a:rPr lang="en-US" sz="3600" dirty="0">
                <a:latin typeface="Symbol" pitchFamily="18" charset="2"/>
              </a:rPr>
              <a:t></a:t>
            </a:r>
            <a:r>
              <a:rPr lang="en-US" sz="2000" dirty="0">
                <a:latin typeface="Times New Roman" pitchFamily="18" charset="0"/>
              </a:rPr>
              <a:t> (pi) is the symbol used to represent the project operation and &lt;attribute list&gt; is the desired list of attributes from the attributes of relation R.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The project operation </a:t>
            </a:r>
            <a:r>
              <a:rPr lang="en-US" sz="2000" i="1" dirty="0">
                <a:latin typeface="Times New Roman" pitchFamily="18" charset="0"/>
              </a:rPr>
              <a:t>removes any duplicate </a:t>
            </a:r>
            <a:r>
              <a:rPr lang="en-US" sz="2000" i="1" dirty="0" err="1">
                <a:latin typeface="Times New Roman" pitchFamily="18" charset="0"/>
              </a:rPr>
              <a:t>tuples</a:t>
            </a:r>
            <a:r>
              <a:rPr lang="en-US" sz="2000" i="1" dirty="0">
                <a:latin typeface="Times New Roman" pitchFamily="18" charset="0"/>
              </a:rPr>
              <a:t>,</a:t>
            </a:r>
            <a:r>
              <a:rPr lang="en-US" sz="2000" dirty="0">
                <a:latin typeface="Times New Roman" pitchFamily="18" charset="0"/>
              </a:rPr>
              <a:t> so the result of the project operation is a set of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and hence a valid relation.</a:t>
            </a:r>
            <a:endParaRPr lang="en-US" sz="1400" dirty="0">
              <a:solidFill>
                <a:srgbClr val="FF0066"/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400" dirty="0">
              <a:solidFill>
                <a:srgbClr val="FF0066"/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400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7772400" cy="766762"/>
          </a:xfrm>
        </p:spPr>
        <p:txBody>
          <a:bodyPr/>
          <a:lstStyle/>
          <a:p>
            <a:r>
              <a:rPr lang="en-US" sz="3200" dirty="0"/>
              <a:t>Unary Relational Operations (cont.)</a:t>
            </a:r>
          </a:p>
        </p:txBody>
      </p:sp>
      <p:sp>
        <p:nvSpPr>
          <p:cNvPr id="2560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778000"/>
            <a:ext cx="8439150" cy="5080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Times New Roman" pitchFamily="18" charset="0"/>
              </a:rPr>
              <a:t>PROJECT Operation Properties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8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1400" dirty="0"/>
              <a:t>	</a:t>
            </a:r>
            <a:r>
              <a:rPr lang="en-US" sz="2000" dirty="0"/>
              <a:t>The number of tuples in the result of projection </a:t>
            </a:r>
            <a:r>
              <a:rPr lang="en-US" sz="3600" dirty="0">
                <a:latin typeface="Symbol" pitchFamily="18" charset="2"/>
              </a:rPr>
              <a:t> </a:t>
            </a:r>
            <a:r>
              <a:rPr lang="en-US" sz="2000" b="1" baseline="-25000" dirty="0"/>
              <a:t>&lt;list&gt; </a:t>
            </a:r>
            <a:r>
              <a:rPr lang="en-US" sz="2400" dirty="0">
                <a:latin typeface="Symbol" pitchFamily="18" charset="2"/>
              </a:rPr>
              <a:t>(</a:t>
            </a:r>
            <a:r>
              <a:rPr lang="en-US" sz="2400" dirty="0"/>
              <a:t>R</a:t>
            </a:r>
            <a:r>
              <a:rPr lang="en-US" sz="2400" dirty="0" smtClean="0">
                <a:latin typeface="Symbol" pitchFamily="18" charset="2"/>
              </a:rPr>
              <a:t>) </a:t>
            </a:r>
            <a:r>
              <a:rPr lang="en-US" sz="2000" dirty="0" smtClean="0"/>
              <a:t>is </a:t>
            </a:r>
            <a:r>
              <a:rPr lang="en-US" sz="2000" dirty="0"/>
              <a:t>always less or equal to the number of tuples in R.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/>
              <a:t>	If the list of attributes includes a key of R, then the number of </a:t>
            </a:r>
            <a:r>
              <a:rPr lang="en-US" sz="2000" dirty="0" err="1"/>
              <a:t>tuples</a:t>
            </a:r>
            <a:r>
              <a:rPr lang="en-US" sz="2000" dirty="0"/>
              <a:t> is equal to the number of </a:t>
            </a:r>
            <a:r>
              <a:rPr lang="en-US" sz="2000" dirty="0" err="1"/>
              <a:t>tuples</a:t>
            </a:r>
            <a:r>
              <a:rPr lang="en-US" sz="2000" dirty="0"/>
              <a:t> in R.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800" dirty="0"/>
              <a:t>	 </a:t>
            </a:r>
            <a:r>
              <a:rPr lang="en-US" sz="3600" dirty="0">
                <a:latin typeface="Symbol" pitchFamily="18" charset="2"/>
              </a:rPr>
              <a:t> </a:t>
            </a:r>
            <a:r>
              <a:rPr lang="en-US" sz="2000" b="1" baseline="-25000" dirty="0"/>
              <a:t>&lt;list1&gt; </a:t>
            </a:r>
            <a:r>
              <a:rPr lang="en-US" sz="2400" dirty="0">
                <a:latin typeface="Symbol" pitchFamily="18" charset="2"/>
              </a:rPr>
              <a:t>(</a:t>
            </a:r>
            <a:r>
              <a:rPr lang="en-US" sz="3600" dirty="0">
                <a:latin typeface="Symbol" pitchFamily="18" charset="2"/>
              </a:rPr>
              <a:t> </a:t>
            </a:r>
            <a:r>
              <a:rPr lang="en-US" sz="2000" b="1" baseline="-25000" dirty="0"/>
              <a:t>&lt;list2&gt; </a:t>
            </a:r>
            <a:r>
              <a:rPr lang="en-US" sz="2400" dirty="0">
                <a:latin typeface="Symbol" pitchFamily="18" charset="2"/>
              </a:rPr>
              <a:t>(</a:t>
            </a:r>
            <a:r>
              <a:rPr lang="en-US" sz="2400" dirty="0"/>
              <a:t>R</a:t>
            </a:r>
            <a:r>
              <a:rPr lang="en-US" sz="2400" dirty="0">
                <a:latin typeface="Symbol" pitchFamily="18" charset="2"/>
              </a:rPr>
              <a:t>) </a:t>
            </a:r>
            <a:r>
              <a:rPr lang="en-US" sz="2400" dirty="0"/>
              <a:t>)</a:t>
            </a:r>
            <a:r>
              <a:rPr lang="en-US" sz="2400" dirty="0">
                <a:latin typeface="Symbol" pitchFamily="18" charset="2"/>
              </a:rPr>
              <a:t> = </a:t>
            </a:r>
            <a:r>
              <a:rPr lang="en-US" sz="3600" dirty="0">
                <a:latin typeface="Symbol" pitchFamily="18" charset="2"/>
              </a:rPr>
              <a:t> </a:t>
            </a:r>
            <a:r>
              <a:rPr lang="en-US" sz="2000" b="1" baseline="-25000" dirty="0"/>
              <a:t>&lt;list1&gt; </a:t>
            </a:r>
            <a:r>
              <a:rPr lang="en-US" sz="2400" dirty="0">
                <a:latin typeface="Symbol" pitchFamily="18" charset="2"/>
              </a:rPr>
              <a:t>(</a:t>
            </a:r>
            <a:r>
              <a:rPr lang="en-US" sz="2400" dirty="0"/>
              <a:t>R</a:t>
            </a:r>
            <a:r>
              <a:rPr lang="en-US" sz="2400" dirty="0">
                <a:latin typeface="Symbol" pitchFamily="18" charset="2"/>
              </a:rPr>
              <a:t>) </a:t>
            </a:r>
            <a:r>
              <a:rPr lang="en-US" sz="2400" dirty="0"/>
              <a:t>as long as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1600" dirty="0"/>
              <a:t>&lt;list2&gt;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2400" dirty="0"/>
              <a:t>contains the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2400" dirty="0"/>
              <a:t>attributes in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1600" dirty="0"/>
              <a:t>&lt;</a:t>
            </a:r>
            <a:r>
              <a:rPr lang="en-US" sz="1600" dirty="0" smtClean="0"/>
              <a:t>list1&gt;</a:t>
            </a:r>
            <a:r>
              <a:rPr lang="en-US" sz="2400" dirty="0" smtClean="0">
                <a:latin typeface="Symbol" pitchFamily="18" charset="2"/>
              </a:rPr>
              <a:t> </a:t>
            </a:r>
          </a:p>
          <a:p>
            <a:pPr lvl="1">
              <a:lnSpc>
                <a:spcPct val="80000"/>
              </a:lnSpc>
            </a:pPr>
            <a:endParaRPr lang="en-US" sz="2400" dirty="0">
              <a:latin typeface="Symbol" pitchFamily="18" charset="2"/>
            </a:endParaRPr>
          </a:p>
          <a:p>
            <a:pPr lvl="1">
              <a:lnSpc>
                <a:spcPct val="80000"/>
              </a:lnSpc>
            </a:pPr>
            <a:endParaRPr lang="en-US" sz="8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/>
              <a:t> </a:t>
            </a:r>
            <a:r>
              <a:rPr lang="en-US" sz="1600" dirty="0" smtClean="0"/>
              <a:t>It is noteworthy that </a:t>
            </a:r>
            <a:r>
              <a:rPr lang="en-US" sz="1600" dirty="0" err="1" smtClean="0"/>
              <a:t>commutativity</a:t>
            </a:r>
            <a:r>
              <a:rPr lang="en-US" sz="1600" dirty="0" smtClean="0"/>
              <a:t> does not hold on PROJECT.</a:t>
            </a:r>
            <a:endParaRPr lang="en-US" sz="1600" dirty="0"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6" name="Rectangle 6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 descr="C:\Users\Mehtab\Desktop\Unnamed QQ Screenshot2020050522023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80010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14400"/>
            <a:ext cx="8534400" cy="649287"/>
          </a:xfrm>
        </p:spPr>
        <p:txBody>
          <a:bodyPr/>
          <a:lstStyle/>
          <a:p>
            <a:r>
              <a:rPr lang="en-US" sz="3200" dirty="0"/>
              <a:t>Unary Relational Operations (cont.)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828800"/>
            <a:ext cx="8572500" cy="5029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Rename Operation</a:t>
            </a:r>
          </a:p>
          <a:p>
            <a:pPr>
              <a:lnSpc>
                <a:spcPct val="80000"/>
              </a:lnSpc>
            </a:pPr>
            <a:endParaRPr lang="en-US" sz="10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500" dirty="0">
                <a:latin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</a:rPr>
              <a:t>We may want to apply several relational algebra operations one after the other. Either we can write the operations as a single </a:t>
            </a:r>
            <a:r>
              <a:rPr lang="en-US" sz="2000" b="1" dirty="0">
                <a:latin typeface="Times New Roman" pitchFamily="18" charset="0"/>
              </a:rPr>
              <a:t>relational algebra expression</a:t>
            </a:r>
            <a:r>
              <a:rPr lang="en-US" sz="2000" dirty="0">
                <a:latin typeface="Times New Roman" pitchFamily="18" charset="0"/>
              </a:rPr>
              <a:t> by nesting the operations, or we can apply one operation at a time and create </a:t>
            </a:r>
            <a:r>
              <a:rPr lang="en-US" sz="2000" b="1" dirty="0">
                <a:latin typeface="Times New Roman" pitchFamily="18" charset="0"/>
              </a:rPr>
              <a:t>intermediate result relations</a:t>
            </a:r>
            <a:r>
              <a:rPr lang="en-US" sz="2000" dirty="0">
                <a:latin typeface="Times New Roman" pitchFamily="18" charset="0"/>
              </a:rPr>
              <a:t>. In the latter case, we must give names to the relations that hold the intermediate results.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8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To retrieve the first name, last name, and salary of all employees who work in department number 5, we must apply a select and a project operation. We can write a single relational algebra expression as follows: </a:t>
            </a:r>
            <a:endParaRPr lang="en-US" sz="10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800" dirty="0">
                <a:latin typeface="Times New Roman" pitchFamily="18" charset="0"/>
              </a:rPr>
              <a:t>	</a:t>
            </a:r>
            <a:r>
              <a:rPr lang="en-US" sz="2800" b="1" dirty="0">
                <a:latin typeface="Symbol" pitchFamily="18" charset="2"/>
              </a:rPr>
              <a:t></a:t>
            </a:r>
            <a:r>
              <a:rPr lang="en-US" sz="1800" b="1" baseline="-25000" dirty="0">
                <a:latin typeface="Times New Roman" pitchFamily="18" charset="0"/>
              </a:rPr>
              <a:t>FNAME, LNAME, SALARY</a:t>
            </a:r>
            <a:r>
              <a:rPr lang="en-US" sz="2000" b="1" dirty="0">
                <a:latin typeface="Times New Roman" pitchFamily="18" charset="0"/>
              </a:rPr>
              <a:t>(</a:t>
            </a:r>
            <a:r>
              <a:rPr lang="en-US" sz="2800" b="1" dirty="0">
                <a:latin typeface="Symbol" pitchFamily="18" charset="2"/>
              </a:rPr>
              <a:t>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baseline="-25000" dirty="0">
                <a:latin typeface="Times New Roman" pitchFamily="18" charset="0"/>
              </a:rPr>
              <a:t>DNO=5</a:t>
            </a:r>
            <a:r>
              <a:rPr lang="en-US" sz="2000" b="1" dirty="0">
                <a:latin typeface="Times New Roman" pitchFamily="18" charset="0"/>
              </a:rPr>
              <a:t>(EMPLOYEE))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0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000" dirty="0"/>
              <a:t>	</a:t>
            </a:r>
            <a:r>
              <a:rPr lang="en-US" sz="2000" dirty="0"/>
              <a:t>OR </a:t>
            </a:r>
            <a:r>
              <a:rPr lang="en-US" sz="2000" dirty="0">
                <a:latin typeface="Times New Roman" pitchFamily="18" charset="0"/>
              </a:rPr>
              <a:t>We can explicitly show the sequence of operations, giving a name to each intermediate relation: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DEP5_EMPS 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800" b="1" dirty="0">
                <a:latin typeface="Symbol" pitchFamily="18" charset="2"/>
              </a:rPr>
              <a:t>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baseline="-25000" dirty="0">
                <a:latin typeface="Times New Roman" pitchFamily="18" charset="0"/>
              </a:rPr>
              <a:t>DNO=5</a:t>
            </a:r>
            <a:r>
              <a:rPr lang="en-US" sz="2000" b="1" dirty="0">
                <a:latin typeface="Times New Roman" pitchFamily="18" charset="0"/>
              </a:rPr>
              <a:t>(EMPLOYEE)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Times New Roman" pitchFamily="18" charset="0"/>
              </a:rPr>
              <a:t>	RESULT 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800" b="1" dirty="0">
                <a:latin typeface="Symbol" pitchFamily="18" charset="2"/>
              </a:rPr>
              <a:t>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baseline="-25000" dirty="0">
                <a:latin typeface="Times New Roman" pitchFamily="18" charset="0"/>
              </a:rPr>
              <a:t>FNAME, LNAME, SALARY</a:t>
            </a:r>
            <a:r>
              <a:rPr lang="en-US" sz="2000" b="1" dirty="0">
                <a:latin typeface="Times New Roman" pitchFamily="18" charset="0"/>
              </a:rPr>
              <a:t> (DEP5_EMPS)</a:t>
            </a:r>
            <a:r>
              <a:rPr lang="en-US" sz="1200" dirty="0">
                <a:latin typeface="Times New Roman" pitchFamily="18" charset="0"/>
              </a:rPr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534400" cy="649287"/>
          </a:xfrm>
        </p:spPr>
        <p:txBody>
          <a:bodyPr/>
          <a:lstStyle/>
          <a:p>
            <a:r>
              <a:rPr lang="en-US" sz="3200" dirty="0"/>
              <a:t>Unary Relational Operations (cont.)</a:t>
            </a:r>
          </a:p>
        </p:txBody>
      </p:sp>
      <p:sp>
        <p:nvSpPr>
          <p:cNvPr id="25702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839200" cy="3886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Rename Operation (cont.)</a:t>
            </a:r>
          </a:p>
          <a:p>
            <a:pPr>
              <a:lnSpc>
                <a:spcPct val="80000"/>
              </a:lnSpc>
            </a:pPr>
            <a:endParaRPr lang="en-US" sz="9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Times New Roman" pitchFamily="18" charset="0"/>
              </a:rPr>
              <a:t>	</a:t>
            </a:r>
            <a:r>
              <a:rPr lang="en-US" sz="1800" dirty="0">
                <a:latin typeface="Times New Roman" pitchFamily="18" charset="0"/>
              </a:rPr>
              <a:t>	The rename operator is </a:t>
            </a:r>
            <a:r>
              <a:rPr lang="en-US" sz="1800" dirty="0" smtClean="0">
                <a:latin typeface="Symbol" pitchFamily="18" charset="2"/>
                <a:sym typeface="Symbol" pitchFamily="18" charset="2"/>
              </a:rPr>
              <a:t></a:t>
            </a:r>
            <a:r>
              <a:rPr lang="en-US" sz="1800" dirty="0">
                <a:latin typeface="Times New Roman" pitchFamily="18" charset="0"/>
              </a:rPr>
              <a:t> (rho)</a:t>
            </a:r>
            <a:endParaRPr lang="en-US" sz="1800" dirty="0">
              <a:latin typeface="Symbol" pitchFamily="18" charset="2"/>
              <a:sym typeface="Symbol" pitchFamily="18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>
              <a:latin typeface="Symbol" pitchFamily="18" charset="2"/>
              <a:sym typeface="Symbol" pitchFamily="18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</a:rPr>
              <a:t>The general </a:t>
            </a:r>
            <a:r>
              <a:rPr lang="en-US" sz="2400" dirty="0" smtClean="0">
                <a:latin typeface="Times New Roman" pitchFamily="18" charset="0"/>
              </a:rPr>
              <a:t>Rename </a:t>
            </a:r>
            <a:r>
              <a:rPr lang="en-US" sz="2400" dirty="0">
                <a:latin typeface="Times New Roman" pitchFamily="18" charset="0"/>
              </a:rPr>
              <a:t>operation can be expressed by any of the following forms:</a:t>
            </a:r>
          </a:p>
          <a:p>
            <a:pPr>
              <a:lnSpc>
                <a:spcPct val="180000"/>
              </a:lnSpc>
              <a:buFont typeface="Symbol" pitchFamily="18" charset="2"/>
              <a:buChar char="-"/>
            </a:pPr>
            <a:r>
              <a:rPr lang="en-US" sz="1800" baseline="-250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</a:t>
            </a:r>
            <a:r>
              <a:rPr lang="en-US" sz="1800" baseline="-250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S (B</a:t>
            </a:r>
            <a:r>
              <a:rPr lang="en-US" sz="1800" baseline="-4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, B</a:t>
            </a:r>
            <a:r>
              <a:rPr lang="en-US" sz="1800" baseline="-4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, …, </a:t>
            </a:r>
            <a:r>
              <a:rPr lang="en-US" sz="1800" baseline="-25000" dirty="0" err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800" baseline="-40000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)  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( R)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is a renamed relation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S based on R with column names 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sz="1400" dirty="0" smtClean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 smtClean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1400" dirty="0" smtClean="0">
                <a:latin typeface="Times New Roman" pitchFamily="18" charset="0"/>
                <a:sym typeface="Symbol" pitchFamily="18" charset="2"/>
              </a:rPr>
              <a:t>,…..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1400" dirty="0">
                <a:latin typeface="Symbol" pitchFamily="18" charset="2"/>
                <a:sym typeface="Symbol" pitchFamily="18" charset="2"/>
              </a:rPr>
              <a:t>.</a:t>
            </a:r>
          </a:p>
          <a:p>
            <a:pPr>
              <a:lnSpc>
                <a:spcPct val="180000"/>
              </a:lnSpc>
              <a:buFont typeface="Symbol" pitchFamily="18" charset="2"/>
              <a:buChar char="-"/>
            </a:pPr>
            <a:r>
              <a:rPr lang="en-US" sz="1800" dirty="0">
                <a:latin typeface="Symbol" pitchFamily="18" charset="2"/>
                <a:sym typeface="Symbol" pitchFamily="18" charset="2"/>
              </a:rPr>
              <a:t></a:t>
            </a:r>
            <a:r>
              <a:rPr lang="en-US" sz="1800" baseline="-250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S 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( R)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is a renamed relation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S based on R (which does not specify column names).</a:t>
            </a:r>
            <a:endParaRPr lang="en-US" sz="1800" dirty="0">
              <a:latin typeface="Times New Roman" pitchFamily="18" charset="0"/>
            </a:endParaRPr>
          </a:p>
          <a:p>
            <a:pPr>
              <a:lnSpc>
                <a:spcPct val="180000"/>
              </a:lnSpc>
              <a:buFont typeface="Symbol" pitchFamily="18" charset="2"/>
              <a:buChar char="-"/>
            </a:pPr>
            <a:r>
              <a:rPr lang="en-US" sz="1800" dirty="0" smtClean="0">
                <a:latin typeface="Symbol" pitchFamily="18" charset="2"/>
                <a:sym typeface="Symbol" pitchFamily="18" charset="2"/>
              </a:rPr>
              <a:t></a:t>
            </a:r>
            <a:r>
              <a:rPr lang="en-US" sz="1800" baseline="-25000" dirty="0" smtClean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(B</a:t>
            </a:r>
            <a:r>
              <a:rPr lang="en-US" sz="1800" baseline="-4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, B</a:t>
            </a:r>
            <a:r>
              <a:rPr lang="en-US" sz="1800" baseline="-4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, …, </a:t>
            </a:r>
            <a:r>
              <a:rPr lang="en-US" sz="1800" baseline="-25000" dirty="0" err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800" baseline="-40000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)  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( R)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is a renamed relation</a:t>
            </a:r>
            <a:r>
              <a:rPr lang="en-US" sz="1800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with column names 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sz="1400" dirty="0" smtClean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 smtClean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1400" dirty="0" smtClean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sz="1400" dirty="0">
                <a:latin typeface="Times New Roman" pitchFamily="18" charset="0"/>
                <a:sym typeface="Symbol" pitchFamily="18" charset="2"/>
              </a:rPr>
              <a:t>…..</a:t>
            </a:r>
            <a:r>
              <a:rPr lang="en-US" sz="1400" dirty="0" err="1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1400" baseline="-25000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1800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latin typeface="Times New Roman" pitchFamily="18" charset="0"/>
                <a:sym typeface="Symbol" pitchFamily="18" charset="2"/>
              </a:rPr>
              <a:t>which does not specify a new relation name.</a:t>
            </a:r>
            <a:endParaRPr lang="en-US" sz="18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7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700" dirty="0">
                <a:latin typeface="Times New Roman" pitchFamily="18" charset="0"/>
              </a:rPr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8" name="Rectangle 1030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Content Placeholder 5" descr="31755_FIG0709r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2971800"/>
            <a:ext cx="8026400" cy="3284538"/>
          </a:xfr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420100" cy="1866900"/>
          </a:xfrm>
        </p:spPr>
        <p:txBody>
          <a:bodyPr>
            <a:noAutofit/>
          </a:bodyPr>
          <a:lstStyle/>
          <a:p>
            <a:r>
              <a:rPr lang="en-US" sz="2400" dirty="0" smtClean="0"/>
              <a:t>Results </a:t>
            </a:r>
            <a:r>
              <a:rPr lang="en-US" sz="2400" dirty="0"/>
              <a:t>of a sequence of operations. (a) </a:t>
            </a:r>
            <a:r>
              <a:rPr lang="en-US" sz="2400" dirty="0" err="1">
                <a:latin typeface="Symbol" charset="2"/>
              </a:rPr>
              <a:t>p</a:t>
            </a:r>
            <a:r>
              <a:rPr lang="en-US" sz="2400" baseline="-25000" dirty="0" err="1"/>
              <a:t>FNAME</a:t>
            </a:r>
            <a:r>
              <a:rPr lang="en-US" sz="2400" baseline="-25000" dirty="0"/>
              <a:t>, LNAME, SALARY</a:t>
            </a:r>
            <a:br>
              <a:rPr lang="en-US" sz="2400" baseline="-25000" dirty="0"/>
            </a:br>
            <a:r>
              <a:rPr lang="en-US" sz="2400" dirty="0"/>
              <a:t>(</a:t>
            </a:r>
            <a:r>
              <a:rPr lang="en-US" sz="2400" dirty="0" err="1">
                <a:latin typeface="Symbol" charset="2"/>
              </a:rPr>
              <a:t>s</a:t>
            </a:r>
            <a:r>
              <a:rPr lang="en-US" sz="2400" baseline="-25000" dirty="0" err="1"/>
              <a:t>DNO</a:t>
            </a:r>
            <a:r>
              <a:rPr lang="en-US" sz="2400" baseline="-25000" dirty="0"/>
              <a:t>=5</a:t>
            </a:r>
            <a:r>
              <a:rPr lang="en-US" sz="2400" dirty="0"/>
              <a:t>(EMPLOYEE)). (b) Using intermediate relations and renaming of attributes.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534400" cy="842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Relational Algebra Operations From</a:t>
            </a:r>
            <a:br>
              <a:rPr lang="en-US" sz="3200" dirty="0"/>
            </a:br>
            <a:r>
              <a:rPr lang="en-US" sz="3200" dirty="0"/>
              <a:t>Set Theory 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27263"/>
            <a:ext cx="8547100" cy="46307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UNION Operation</a:t>
            </a:r>
            <a:endParaRPr lang="en-US" sz="9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</a:rPr>
              <a:t>The result of this operation, denoted by R </a:t>
            </a:r>
            <a:r>
              <a:rPr lang="en-US" sz="2800" b="1" dirty="0">
                <a:latin typeface="Symbol" pitchFamily="18" charset="2"/>
              </a:rPr>
              <a:t>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S, is a relation that includes all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that are either in R or in S or in both R and S. Duplicate tuples are eliminated. </a:t>
            </a:r>
            <a:endParaRPr lang="en-US" sz="20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9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To retrieve the social security numbers of all employees who either work in department 5 or directly supervise an employee who works in department 5, we can use the union operation as follows: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1800" b="1" dirty="0">
                <a:latin typeface="Times New Roman" pitchFamily="18" charset="0"/>
              </a:rPr>
              <a:t>DEP5_EMPS </a:t>
            </a:r>
            <a:r>
              <a:rPr lang="en-US" sz="1800" b="1" dirty="0"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latin typeface="Symbol" pitchFamily="18" charset="2"/>
              </a:rPr>
              <a:t></a:t>
            </a:r>
            <a:r>
              <a:rPr lang="en-US" sz="1800" b="1" baseline="-25000" dirty="0">
                <a:latin typeface="Times New Roman" pitchFamily="18" charset="0"/>
              </a:rPr>
              <a:t>DNO=5</a:t>
            </a:r>
            <a:r>
              <a:rPr lang="en-US" sz="1600" b="1" dirty="0">
                <a:latin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</a:rPr>
              <a:t>(EMPLOYEE)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900" b="1" dirty="0">
                <a:latin typeface="Times New Roman" pitchFamily="18" charset="0"/>
              </a:rPr>
              <a:t>	</a:t>
            </a:r>
            <a:r>
              <a:rPr lang="en-US" sz="1800" b="1" dirty="0">
                <a:latin typeface="Times New Roman" pitchFamily="18" charset="0"/>
              </a:rPr>
              <a:t>RESULT1 </a:t>
            </a:r>
            <a:r>
              <a:rPr lang="en-US" sz="1800" b="1" dirty="0"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latin typeface="Symbol" pitchFamily="18" charset="2"/>
              </a:rPr>
              <a:t>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baseline="-25000" dirty="0">
                <a:latin typeface="Times New Roman" pitchFamily="18" charset="0"/>
              </a:rPr>
              <a:t>SSN</a:t>
            </a:r>
            <a:r>
              <a:rPr lang="en-US" sz="1800" b="1" dirty="0">
                <a:latin typeface="Times New Roman" pitchFamily="18" charset="0"/>
              </a:rPr>
              <a:t>(DEP5_EMPS)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Times New Roman" pitchFamily="18" charset="0"/>
              </a:rPr>
              <a:t>	</a:t>
            </a:r>
            <a:r>
              <a:rPr lang="en-US" sz="1800" b="1" dirty="0">
                <a:latin typeface="Times New Roman" pitchFamily="18" charset="0"/>
              </a:rPr>
              <a:t>RESULT2(SSN) </a:t>
            </a:r>
            <a:r>
              <a:rPr lang="en-US" sz="1800" b="1" dirty="0"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latin typeface="Symbol" pitchFamily="18" charset="2"/>
              </a:rPr>
              <a:t>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baseline="-25000" dirty="0">
                <a:latin typeface="Times New Roman" pitchFamily="18" charset="0"/>
              </a:rPr>
              <a:t>SUPERSSN</a:t>
            </a:r>
            <a:r>
              <a:rPr lang="en-US" sz="1800" b="1" dirty="0">
                <a:latin typeface="Times New Roman" pitchFamily="18" charset="0"/>
              </a:rPr>
              <a:t>(DEP5_EMPS)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b="1" dirty="0">
                <a:latin typeface="Times New Roman" pitchFamily="18" charset="0"/>
              </a:rPr>
              <a:t>	RESULT </a:t>
            </a:r>
            <a:r>
              <a:rPr lang="en-US" sz="1800" b="1" dirty="0">
                <a:latin typeface="Times New Roman" pitchFamily="18" charset="0"/>
                <a:sym typeface="Symbol" pitchFamily="18" charset="2"/>
              </a:rPr>
              <a:t> RESULT</a:t>
            </a:r>
            <a:r>
              <a:rPr lang="en-US" sz="1800" b="1" dirty="0">
                <a:latin typeface="Times New Roman" pitchFamily="18" charset="0"/>
              </a:rPr>
              <a:t>1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latin typeface="Symbol" pitchFamily="18" charset="2"/>
              </a:rPr>
              <a:t>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</a:rPr>
              <a:t>RESULT2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900" dirty="0">
                <a:latin typeface="Times New Roman" pitchFamily="18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The union operation produces the tuples that are in either RESULT1 or RESULT2 or both. The two operands must be “type compatible”.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8650"/>
            <a:ext cx="88392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98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C:\Users\MEHTAB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81200"/>
            <a:ext cx="6248400" cy="327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8534400" cy="842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Relational Algebra Operations From</a:t>
            </a:r>
            <a:br>
              <a:rPr lang="en-US" sz="3200" dirty="0"/>
            </a:br>
            <a:r>
              <a:rPr lang="en-US" sz="3200" dirty="0"/>
              <a:t>Set Theory 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58963"/>
            <a:ext cx="8547100" cy="49990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Type Compatibility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900" b="1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/>
              <a:t>The operand relations R</a:t>
            </a:r>
            <a:r>
              <a:rPr lang="en-US" sz="2400" baseline="-25000" dirty="0"/>
              <a:t>1</a:t>
            </a:r>
            <a:r>
              <a:rPr lang="en-US" sz="2400" dirty="0"/>
              <a:t>(A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 ..., A</a:t>
            </a:r>
            <a:r>
              <a:rPr lang="en-US" sz="2400" baseline="-25000" dirty="0"/>
              <a:t>n</a:t>
            </a:r>
            <a:r>
              <a:rPr lang="en-US" sz="2400" dirty="0"/>
              <a:t>) and R</a:t>
            </a:r>
            <a:r>
              <a:rPr lang="en-US" sz="2400" baseline="-25000" dirty="0"/>
              <a:t>2</a:t>
            </a:r>
            <a:r>
              <a:rPr lang="en-US" sz="2400" dirty="0"/>
              <a:t>(B</a:t>
            </a:r>
            <a:r>
              <a:rPr lang="en-US" sz="2400" baseline="-25000" dirty="0"/>
              <a:t>1</a:t>
            </a:r>
            <a:r>
              <a:rPr lang="en-US" sz="2400" dirty="0"/>
              <a:t>, B</a:t>
            </a:r>
            <a:r>
              <a:rPr lang="en-US" sz="2400" baseline="-25000" dirty="0"/>
              <a:t>2</a:t>
            </a:r>
            <a:r>
              <a:rPr lang="en-US" sz="2400" dirty="0"/>
              <a:t>, ..., </a:t>
            </a:r>
            <a:r>
              <a:rPr lang="en-US" sz="2400" dirty="0" err="1"/>
              <a:t>B</a:t>
            </a:r>
            <a:r>
              <a:rPr lang="en-US" sz="2400" baseline="-25000" dirty="0" err="1"/>
              <a:t>n</a:t>
            </a:r>
            <a:r>
              <a:rPr lang="en-US" sz="2400" dirty="0"/>
              <a:t>) must have the same number of attributes, and the domains of corresponding attributes must be compatible; that is, </a:t>
            </a:r>
            <a:r>
              <a:rPr lang="en-US" sz="2400" dirty="0" err="1"/>
              <a:t>dom</a:t>
            </a:r>
            <a:r>
              <a:rPr lang="en-US" sz="2400" dirty="0"/>
              <a:t>(A</a:t>
            </a:r>
            <a:r>
              <a:rPr lang="en-US" sz="2400" baseline="-25000" dirty="0"/>
              <a:t>i</a:t>
            </a:r>
            <a:r>
              <a:rPr lang="en-US" sz="2400" dirty="0"/>
              <a:t>)=</a:t>
            </a:r>
            <a:r>
              <a:rPr lang="en-US" sz="2400" dirty="0" err="1"/>
              <a:t>dom</a:t>
            </a:r>
            <a:r>
              <a:rPr lang="en-US" sz="2400" dirty="0"/>
              <a:t>(B</a:t>
            </a:r>
            <a:r>
              <a:rPr lang="en-US" sz="2400" baseline="-25000" dirty="0"/>
              <a:t>i</a:t>
            </a:r>
            <a:r>
              <a:rPr lang="en-US" sz="2400" dirty="0"/>
              <a:t>) for </a:t>
            </a:r>
            <a:r>
              <a:rPr lang="en-US" sz="2400" dirty="0" err="1"/>
              <a:t>i</a:t>
            </a:r>
            <a:r>
              <a:rPr lang="en-US" sz="2400" dirty="0"/>
              <a:t>=1, 2, ..., n. 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  <a:buFontTx/>
              <a:buNone/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The resulting relation for R</a:t>
            </a:r>
            <a:r>
              <a:rPr lang="en-US" sz="2400" baseline="-25000" dirty="0">
                <a:cs typeface="Times New Roman" pitchFamily="18" charset="0"/>
              </a:rPr>
              <a:t>1</a:t>
            </a:r>
            <a:r>
              <a:rPr lang="en-US" sz="2400" dirty="0">
                <a:latin typeface="Symbol" pitchFamily="18" charset="2"/>
              </a:rPr>
              <a:t></a:t>
            </a:r>
            <a:r>
              <a:rPr lang="en-US" sz="2400" dirty="0"/>
              <a:t>R</a:t>
            </a:r>
            <a:r>
              <a:rPr lang="en-US" sz="2400" baseline="-25000" dirty="0"/>
              <a:t>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,R</a:t>
            </a:r>
            <a:r>
              <a:rPr lang="en-US" sz="2400" baseline="-25000" dirty="0"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sz="2400" dirty="0">
                <a:latin typeface="Symbol" pitchFamily="18" charset="2"/>
              </a:rPr>
              <a:t>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R</a:t>
            </a:r>
            <a:r>
              <a:rPr lang="en-US" sz="2400" baseline="-25000" dirty="0"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 or R</a:t>
            </a:r>
            <a:r>
              <a:rPr lang="en-US" sz="2400" baseline="-25000" dirty="0"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-R</a:t>
            </a:r>
            <a:r>
              <a:rPr lang="en-US" sz="2400" baseline="-25000" dirty="0"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 has the same attribute names as the </a:t>
            </a: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first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 operand relation R1 (by convention).</a:t>
            </a:r>
            <a:r>
              <a:rPr lang="en-US" sz="2400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2050" name="Picture 2" descr="C:\Users\MEHTAB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04900"/>
            <a:ext cx="78486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534400" cy="842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Relational Algebra Operations From Set Theory (cont.)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58963"/>
            <a:ext cx="8547100" cy="4999037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</a:rPr>
              <a:t>INTERSECTION OPERATION</a:t>
            </a:r>
          </a:p>
          <a:p>
            <a:endParaRPr lang="en-US" sz="1000" b="1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The result of this operation, denoted by R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2000" dirty="0">
                <a:latin typeface="Times New Roman" pitchFamily="18" charset="0"/>
              </a:rPr>
              <a:t>S, is a relation that includes all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that are in both R and S. The two operands must be "type compatible"</a:t>
            </a:r>
          </a:p>
          <a:p>
            <a:pPr>
              <a:buFont typeface="Wingdings" pitchFamily="2" charset="2"/>
              <a:buNone/>
            </a:pPr>
            <a:endParaRPr lang="en-US" sz="1000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The result of the intersection operation (figure below) includes only those who are both students and instructors.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	</a:t>
            </a:r>
          </a:p>
        </p:txBody>
      </p: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3219450" y="5375275"/>
            <a:ext cx="32385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  <a:cs typeface="Times New Roman" pitchFamily="18" charset="0"/>
              </a:rPr>
              <a:t>STUDENT </a:t>
            </a:r>
            <a:r>
              <a:rPr lang="en-US" b="1" dirty="0">
                <a:latin typeface="Symbol" pitchFamily="18" charset="2"/>
              </a:rPr>
              <a:t></a:t>
            </a:r>
            <a:r>
              <a:rPr lang="en-US" sz="1600" dirty="0">
                <a:latin typeface="Symbol" pitchFamily="18" charset="2"/>
              </a:rPr>
              <a:t> </a:t>
            </a:r>
            <a:r>
              <a:rPr lang="en-US" sz="1600" dirty="0">
                <a:latin typeface="Arial" charset="0"/>
              </a:rPr>
              <a:t>INSTRUCTOR</a:t>
            </a:r>
            <a:endParaRPr lang="en-US" sz="1600" baseline="-25000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dirty="0"/>
          </a:p>
        </p:txBody>
      </p:sp>
      <p:pic>
        <p:nvPicPr>
          <p:cNvPr id="205833" name="Picture 9" descr="31755_FIG071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 l="2946" t="50627" r="50601"/>
          <a:stretch>
            <a:fillRect/>
          </a:stretch>
        </p:blipFill>
        <p:spPr bwMode="auto">
          <a:xfrm>
            <a:off x="2878138" y="3776663"/>
            <a:ext cx="3929062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534400" cy="842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Relational Algebra Operations From Set Theory (cont.)</a:t>
            </a:r>
            <a:r>
              <a:rPr lang="en-US" dirty="0"/>
              <a:t> 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58963"/>
            <a:ext cx="8547100" cy="4999037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</a:rPr>
              <a:t>Set Difference (or MINUS) Operation</a:t>
            </a:r>
          </a:p>
          <a:p>
            <a:pPr>
              <a:buFont typeface="Wingdings" pitchFamily="2" charset="2"/>
              <a:buNone/>
            </a:pPr>
            <a:r>
              <a:rPr lang="en-US" sz="900" dirty="0">
                <a:latin typeface="Times New Roman" pitchFamily="18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sz="900" dirty="0">
                <a:latin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</a:rPr>
              <a:t>The result of this operation, denoted by R - S, is a relation that includes all </a:t>
            </a:r>
            <a:r>
              <a:rPr lang="en-US" sz="2000" dirty="0" err="1">
                <a:latin typeface="Times New Roman" pitchFamily="18" charset="0"/>
              </a:rPr>
              <a:t>tuples</a:t>
            </a:r>
            <a:r>
              <a:rPr lang="en-US" sz="2000" dirty="0">
                <a:latin typeface="Times New Roman" pitchFamily="18" charset="0"/>
              </a:rPr>
              <a:t> that are in R but not in S. The two operands must be "type compatible”. </a:t>
            </a:r>
          </a:p>
          <a:p>
            <a:pPr>
              <a:buFont typeface="Wingdings" pitchFamily="2" charset="2"/>
              <a:buNone/>
            </a:pPr>
            <a:r>
              <a:rPr lang="en-US" sz="1000" dirty="0">
                <a:latin typeface="Times New Roman" pitchFamily="18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</a:rPr>
              <a:t>Example:</a:t>
            </a:r>
            <a:r>
              <a:rPr lang="en-US" sz="2000" dirty="0">
                <a:latin typeface="Times New Roman" pitchFamily="18" charset="0"/>
              </a:rPr>
              <a:t> The figure shows the names of students who are not instructors, and the names of instructors who are not students.</a:t>
            </a:r>
          </a:p>
          <a:p>
            <a:pPr>
              <a:buFont typeface="Wingdings" pitchFamily="2" charset="2"/>
              <a:buNone/>
            </a:pPr>
            <a:endParaRPr lang="en-US" sz="4000" dirty="0">
              <a:solidFill>
                <a:srgbClr val="FF0066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6430963" y="4495800"/>
            <a:ext cx="2522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STUDENT-INSTRUCTOR</a:t>
            </a:r>
          </a:p>
        </p:txBody>
      </p:sp>
      <p:sp>
        <p:nvSpPr>
          <p:cNvPr id="206858" name="Text Box 10"/>
          <p:cNvSpPr txBox="1">
            <a:spLocks noChangeArrowheads="1"/>
          </p:cNvSpPr>
          <p:nvPr/>
        </p:nvSpPr>
        <p:spPr bwMode="auto">
          <a:xfrm>
            <a:off x="6430963" y="5578475"/>
            <a:ext cx="2190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INSTRUCTOR-STUDENT</a:t>
            </a:r>
          </a:p>
        </p:txBody>
      </p:sp>
      <p:pic>
        <p:nvPicPr>
          <p:cNvPr id="206859" name="Picture 11" descr="31755_FIG071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 l="29185" t="56131" r="50204" b="816"/>
          <a:stretch>
            <a:fillRect/>
          </a:stretch>
        </p:blipFill>
        <p:spPr bwMode="auto">
          <a:xfrm>
            <a:off x="4368800" y="4003675"/>
            <a:ext cx="1743075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860" name="Picture 12" descr="31755_FIG071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 l="2609" r="69218" b="46158"/>
          <a:stretch>
            <a:fillRect/>
          </a:stretch>
        </p:blipFill>
        <p:spPr bwMode="auto">
          <a:xfrm>
            <a:off x="1303338" y="4162425"/>
            <a:ext cx="2382837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861" name="Picture 13" descr="31755_FIG071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 l="54187" t="56131" r="24396" b="9427"/>
          <a:stretch>
            <a:fillRect/>
          </a:stretch>
        </p:blipFill>
        <p:spPr bwMode="auto">
          <a:xfrm>
            <a:off x="4368800" y="5397500"/>
            <a:ext cx="1811338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8051800" cy="1143000"/>
          </a:xfrm>
        </p:spPr>
        <p:txBody>
          <a:bodyPr/>
          <a:lstStyle/>
          <a:p>
            <a:r>
              <a:rPr lang="en-US" sz="3200" dirty="0"/>
              <a:t>Relational Algebra Operations From Set Theory (cont.)</a:t>
            </a:r>
          </a:p>
        </p:txBody>
      </p:sp>
      <p:sp>
        <p:nvSpPr>
          <p:cNvPr id="23245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8394700" cy="47117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</a:rPr>
              <a:t>Notice that both union and intersection are </a:t>
            </a:r>
            <a:r>
              <a:rPr lang="en-US" sz="2400" i="1" dirty="0">
                <a:latin typeface="Times New Roman" pitchFamily="18" charset="0"/>
              </a:rPr>
              <a:t>commutative operations;</a:t>
            </a:r>
            <a:r>
              <a:rPr lang="en-US" sz="2400" dirty="0">
                <a:latin typeface="Times New Roman" pitchFamily="18" charset="0"/>
              </a:rPr>
              <a:t> that is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400" b="1" dirty="0">
                <a:latin typeface="Times New Roman" pitchFamily="18" charset="0"/>
              </a:rPr>
              <a:t>R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S = S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R, and R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S = S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R</a:t>
            </a:r>
          </a:p>
          <a:p>
            <a:pPr>
              <a:buFont typeface="Wingdings" pitchFamily="2" charset="2"/>
              <a:buNone/>
            </a:pPr>
            <a:endParaRPr lang="en-US" sz="1200" b="1" dirty="0">
              <a:latin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</a:rPr>
              <a:t>Both union and intersection can be treated as n-</a:t>
            </a:r>
            <a:r>
              <a:rPr lang="en-US" sz="2400" dirty="0" err="1">
                <a:latin typeface="Times New Roman" pitchFamily="18" charset="0"/>
              </a:rPr>
              <a:t>ary</a:t>
            </a:r>
            <a:r>
              <a:rPr lang="en-US" sz="2400" dirty="0">
                <a:latin typeface="Times New Roman" pitchFamily="18" charset="0"/>
              </a:rPr>
              <a:t> operations applicable to any number of relations as both are </a:t>
            </a:r>
            <a:r>
              <a:rPr lang="en-US" sz="2400" i="1" dirty="0">
                <a:latin typeface="Times New Roman" pitchFamily="18" charset="0"/>
              </a:rPr>
              <a:t>associative operations;</a:t>
            </a:r>
            <a:r>
              <a:rPr lang="en-US" sz="2400" dirty="0">
                <a:latin typeface="Times New Roman" pitchFamily="18" charset="0"/>
              </a:rPr>
              <a:t> that is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</a:rPr>
              <a:t>R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(S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T) = (R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S) </a:t>
            </a:r>
            <a:r>
              <a:rPr lang="en-US" sz="2400" b="1" dirty="0">
                <a:latin typeface="Symbol" pitchFamily="18" charset="2"/>
              </a:rPr>
              <a:t></a:t>
            </a:r>
            <a:r>
              <a:rPr lang="en-US" sz="2400" b="1" dirty="0">
                <a:latin typeface="Times New Roman" pitchFamily="18" charset="0"/>
              </a:rPr>
              <a:t> T, and (R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S)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T = R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(S </a:t>
            </a:r>
            <a:r>
              <a:rPr lang="en-US" sz="2400" b="1" dirty="0">
                <a:latin typeface="Symbol" pitchFamily="18" charset="2"/>
              </a:rPr>
              <a:t></a:t>
            </a:r>
            <a:r>
              <a:rPr lang="en-US" sz="2400" b="1" dirty="0">
                <a:latin typeface="Times New Roman" pitchFamily="18" charset="0"/>
              </a:rPr>
              <a:t> T)</a:t>
            </a:r>
          </a:p>
          <a:p>
            <a:pPr>
              <a:buFont typeface="Wingdings" pitchFamily="2" charset="2"/>
              <a:buNone/>
            </a:pPr>
            <a:endParaRPr lang="en-US" sz="1400" b="1" dirty="0">
              <a:latin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</a:rPr>
              <a:t>The minus operation is </a:t>
            </a:r>
            <a:r>
              <a:rPr lang="en-US" sz="2400" i="1" dirty="0">
                <a:latin typeface="Times New Roman" pitchFamily="18" charset="0"/>
              </a:rPr>
              <a:t>not commutative;</a:t>
            </a:r>
            <a:r>
              <a:rPr lang="en-US" sz="2400" dirty="0">
                <a:latin typeface="Times New Roman" pitchFamily="18" charset="0"/>
              </a:rPr>
              <a:t> that is, in general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b="1" dirty="0">
                <a:latin typeface="Times New Roman" pitchFamily="18" charset="0"/>
              </a:rPr>
              <a:t>R - S ≠ S – R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8534400" cy="842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Relational Algebra Operations From Set Theory (cont.)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58963"/>
            <a:ext cx="8547100" cy="499903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Times New Roman" pitchFamily="18" charset="0"/>
              </a:rPr>
              <a:t>CARTESIAN (or cross product) Operation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400" b="1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/>
              <a:t>This operation is used to combine </a:t>
            </a:r>
            <a:r>
              <a:rPr lang="en-US" sz="2000" dirty="0" err="1"/>
              <a:t>tuples</a:t>
            </a:r>
            <a:r>
              <a:rPr lang="en-US" sz="2000" dirty="0"/>
              <a:t> from two relations in a combinatorial fashion. In general, the result of R(A</a:t>
            </a:r>
            <a:r>
              <a:rPr lang="en-US" sz="2400" baseline="-25000" dirty="0"/>
              <a:t>1</a:t>
            </a:r>
            <a:r>
              <a:rPr lang="en-US" sz="2000" dirty="0"/>
              <a:t>, A</a:t>
            </a:r>
            <a:r>
              <a:rPr lang="en-US" sz="2400" baseline="-25000" dirty="0"/>
              <a:t>2</a:t>
            </a:r>
            <a:r>
              <a:rPr lang="en-US" sz="2000" dirty="0"/>
              <a:t>, . . ., A</a:t>
            </a:r>
            <a:r>
              <a:rPr lang="en-US" sz="2400" baseline="-25000" dirty="0"/>
              <a:t>n</a:t>
            </a:r>
            <a:r>
              <a:rPr lang="en-US" sz="2000" dirty="0"/>
              <a:t>) x S(B</a:t>
            </a:r>
            <a:r>
              <a:rPr lang="en-US" sz="2400" baseline="-25000" dirty="0"/>
              <a:t>1</a:t>
            </a:r>
            <a:r>
              <a:rPr lang="en-US" sz="2000" dirty="0"/>
              <a:t>, B</a:t>
            </a:r>
            <a:r>
              <a:rPr lang="en-US" sz="2400" baseline="-25000" dirty="0"/>
              <a:t>2</a:t>
            </a:r>
            <a:r>
              <a:rPr lang="en-US" sz="2000" dirty="0"/>
              <a:t>, . . ., </a:t>
            </a:r>
            <a:r>
              <a:rPr lang="en-US" sz="2000" dirty="0" err="1"/>
              <a:t>B</a:t>
            </a:r>
            <a:r>
              <a:rPr lang="en-US" sz="2400" baseline="-25000" dirty="0" err="1"/>
              <a:t>m</a:t>
            </a:r>
            <a:r>
              <a:rPr lang="en-US" sz="2000" dirty="0"/>
              <a:t>) is a relation Q with degree n + m attributes Q(A</a:t>
            </a:r>
            <a:r>
              <a:rPr lang="en-US" sz="2400" baseline="-25000" dirty="0"/>
              <a:t>1</a:t>
            </a:r>
            <a:r>
              <a:rPr lang="en-US" sz="2000" dirty="0"/>
              <a:t>, A</a:t>
            </a:r>
            <a:r>
              <a:rPr lang="en-US" sz="2400" baseline="-25000" dirty="0"/>
              <a:t>2</a:t>
            </a:r>
            <a:r>
              <a:rPr lang="en-US" sz="2000" dirty="0"/>
              <a:t>, . . ., A</a:t>
            </a:r>
            <a:r>
              <a:rPr lang="en-US" sz="2400" baseline="-25000" dirty="0"/>
              <a:t>n</a:t>
            </a:r>
            <a:r>
              <a:rPr lang="en-US" sz="2000" dirty="0"/>
              <a:t>, B</a:t>
            </a:r>
            <a:r>
              <a:rPr lang="en-US" sz="2400" baseline="-25000" dirty="0"/>
              <a:t>1</a:t>
            </a:r>
            <a:r>
              <a:rPr lang="en-US" sz="2000" dirty="0"/>
              <a:t>, B</a:t>
            </a:r>
            <a:r>
              <a:rPr lang="en-US" sz="2400" baseline="-25000" dirty="0"/>
              <a:t>2</a:t>
            </a:r>
            <a:r>
              <a:rPr lang="en-US" sz="2000" dirty="0"/>
              <a:t>, . . ., </a:t>
            </a:r>
            <a:r>
              <a:rPr lang="en-US" sz="2000" dirty="0" err="1"/>
              <a:t>B</a:t>
            </a:r>
            <a:r>
              <a:rPr lang="en-US" sz="2400" baseline="-25000" dirty="0" err="1"/>
              <a:t>m</a:t>
            </a:r>
            <a:r>
              <a:rPr lang="en-US" sz="2000" dirty="0"/>
              <a:t>), in that order. The resulting relation Q has one </a:t>
            </a:r>
            <a:r>
              <a:rPr lang="en-US" sz="2000" dirty="0" err="1"/>
              <a:t>tuple</a:t>
            </a:r>
            <a:r>
              <a:rPr lang="en-US" sz="2000" dirty="0"/>
              <a:t> for each combination of </a:t>
            </a:r>
            <a:r>
              <a:rPr lang="en-US" sz="2000" dirty="0" err="1"/>
              <a:t>tuples</a:t>
            </a:r>
            <a:r>
              <a:rPr lang="en-US" sz="2000" dirty="0"/>
              <a:t>—one from R and one from S.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Hence, if R has </a:t>
            </a:r>
            <a:r>
              <a:rPr lang="en-US" sz="2000" dirty="0" err="1"/>
              <a:t>n</a:t>
            </a:r>
            <a:r>
              <a:rPr lang="en-US" sz="2000" baseline="-25000" dirty="0" err="1"/>
              <a:t>R</a:t>
            </a:r>
            <a:r>
              <a:rPr lang="en-US" sz="2000" dirty="0"/>
              <a:t> </a:t>
            </a:r>
            <a:r>
              <a:rPr lang="en-US" sz="2000" dirty="0" err="1"/>
              <a:t>tuples</a:t>
            </a:r>
            <a:r>
              <a:rPr lang="en-US" sz="2000" dirty="0"/>
              <a:t> (denoted as |R| = </a:t>
            </a:r>
            <a:r>
              <a:rPr lang="en-US" sz="2000" dirty="0" err="1"/>
              <a:t>n</a:t>
            </a:r>
            <a:r>
              <a:rPr lang="en-US" sz="2000" baseline="-25000" dirty="0" err="1"/>
              <a:t>R</a:t>
            </a:r>
            <a:r>
              <a:rPr lang="en-US" sz="2000" dirty="0"/>
              <a:t> ), and S has </a:t>
            </a:r>
            <a:r>
              <a:rPr lang="en-US" sz="2000" dirty="0" err="1"/>
              <a:t>n</a:t>
            </a:r>
            <a:r>
              <a:rPr lang="en-US" sz="2000" baseline="-25000" dirty="0" err="1"/>
              <a:t>S</a:t>
            </a:r>
            <a:r>
              <a:rPr lang="en-US" sz="2000" dirty="0"/>
              <a:t> </a:t>
            </a:r>
            <a:r>
              <a:rPr lang="en-US" sz="2000" dirty="0" err="1"/>
              <a:t>tuples</a:t>
            </a:r>
            <a:r>
              <a:rPr lang="en-US" sz="2000" dirty="0"/>
              <a:t>, then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 | R x S | will have     </a:t>
            </a:r>
            <a:r>
              <a:rPr lang="en-US" sz="2000" dirty="0" err="1"/>
              <a:t>n</a:t>
            </a:r>
            <a:r>
              <a:rPr lang="en-US" sz="2000" baseline="-25000" dirty="0" err="1"/>
              <a:t>R</a:t>
            </a:r>
            <a:r>
              <a:rPr lang="en-US" sz="2000" dirty="0"/>
              <a:t> </a:t>
            </a:r>
            <a:r>
              <a:rPr lang="en-US" sz="2400" dirty="0"/>
              <a:t>*</a:t>
            </a:r>
            <a:r>
              <a:rPr lang="en-US" sz="2000" dirty="0"/>
              <a:t> </a:t>
            </a:r>
            <a:r>
              <a:rPr lang="en-US" sz="2000" dirty="0" err="1"/>
              <a:t>n</a:t>
            </a:r>
            <a:r>
              <a:rPr lang="en-US" sz="2000" baseline="-25000" dirty="0" err="1"/>
              <a:t>S</a:t>
            </a:r>
            <a:r>
              <a:rPr lang="en-US" sz="2000" dirty="0"/>
              <a:t> </a:t>
            </a:r>
            <a:r>
              <a:rPr lang="en-US" sz="2000" dirty="0" err="1"/>
              <a:t>tuples</a:t>
            </a:r>
            <a:r>
              <a:rPr lang="en-US" sz="2000" dirty="0"/>
              <a:t>.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The two operands do NOT have to be "type compatible”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000" dirty="0">
                <a:latin typeface="Times New Roman" pitchFamily="18" charset="0"/>
              </a:rPr>
              <a:t>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	 </a:t>
            </a:r>
            <a:r>
              <a:rPr lang="en-US" sz="2400" b="1" dirty="0">
                <a:latin typeface="Times New Roman" pitchFamily="18" charset="0"/>
              </a:rPr>
              <a:t>Example: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200" b="1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b="1" dirty="0"/>
              <a:t>FEMALE_EMPS </a:t>
            </a:r>
            <a:r>
              <a:rPr lang="en-US" sz="2000" b="1" dirty="0">
                <a:sym typeface="Symbol" pitchFamily="18" charset="2"/>
              </a:rPr>
              <a:t> </a:t>
            </a:r>
            <a:r>
              <a:rPr lang="en-US" sz="2400" b="1" dirty="0">
                <a:latin typeface="Symbol" pitchFamily="18" charset="2"/>
              </a:rPr>
              <a:t></a:t>
            </a:r>
            <a:r>
              <a:rPr lang="en-US" sz="2000" b="1" dirty="0"/>
              <a:t> </a:t>
            </a:r>
            <a:r>
              <a:rPr lang="en-US" sz="2400" baseline="-25000" dirty="0"/>
              <a:t>SEX=’F’</a:t>
            </a:r>
            <a:r>
              <a:rPr lang="en-US" sz="2000" b="1" dirty="0"/>
              <a:t>(EMPLOYEE)</a:t>
            </a:r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000" b="1" dirty="0"/>
              <a:t>EMPNAMES </a:t>
            </a:r>
            <a:r>
              <a:rPr lang="en-US" sz="2000" b="1" dirty="0">
                <a:sym typeface="Symbol" pitchFamily="18" charset="2"/>
              </a:rPr>
              <a:t> </a:t>
            </a:r>
            <a:r>
              <a:rPr lang="en-US" sz="2400" b="1" dirty="0">
                <a:latin typeface="Symbol" pitchFamily="18" charset="2"/>
              </a:rPr>
              <a:t></a:t>
            </a:r>
            <a:r>
              <a:rPr lang="en-US" sz="2000" b="1" dirty="0"/>
              <a:t> </a:t>
            </a:r>
            <a:r>
              <a:rPr lang="en-US" sz="2400" baseline="-25000" dirty="0"/>
              <a:t>FNAME, LNAME, SSN</a:t>
            </a:r>
            <a:r>
              <a:rPr lang="en-US" sz="2000" b="1" dirty="0"/>
              <a:t> (FEMALE_EMPS)</a:t>
            </a:r>
          </a:p>
          <a:p>
            <a:pPr lvl="1">
              <a:lnSpc>
                <a:spcPct val="70000"/>
              </a:lnSpc>
              <a:buFontTx/>
              <a:buNone/>
            </a:pPr>
            <a:endParaRPr lang="en-US" sz="2000" b="1" dirty="0"/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000" b="1" dirty="0"/>
              <a:t>EMP_DEPENDENTS </a:t>
            </a:r>
            <a:r>
              <a:rPr lang="en-US" sz="2000" b="1" dirty="0">
                <a:sym typeface="Symbol" pitchFamily="18" charset="2"/>
              </a:rPr>
              <a:t> </a:t>
            </a:r>
            <a:r>
              <a:rPr lang="en-US" sz="2000" b="1" dirty="0"/>
              <a:t>EMPNAMES x DEPENDENT</a:t>
            </a:r>
            <a:endParaRPr lang="en-US" sz="2000" b="1" dirty="0">
              <a:solidFill>
                <a:srgbClr val="FF0066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b="1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8650"/>
            <a:ext cx="88392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816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255000" cy="685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CARTESIAN PRODUCT (CROSS PRODUCT) operation.</a:t>
            </a:r>
          </a:p>
        </p:txBody>
      </p:sp>
      <p:pic>
        <p:nvPicPr>
          <p:cNvPr id="569351" name="Picture 7" descr="31755_FIG0712ra.gif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411413"/>
            <a:ext cx="7772400" cy="21113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55000" cy="685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CARTESIAN PRODUCT (CROSS PRODUCT) operation.</a:t>
            </a:r>
          </a:p>
        </p:txBody>
      </p:sp>
      <p:pic>
        <p:nvPicPr>
          <p:cNvPr id="570373" name="Picture 5" descr="31755_FIG0712rb.gif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1881188"/>
            <a:ext cx="8102600" cy="414496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90600"/>
            <a:ext cx="8255000" cy="762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CARTESIAN PRODUCT (CROSS PRODUCT) operation.</a:t>
            </a:r>
          </a:p>
        </p:txBody>
      </p:sp>
      <p:pic>
        <p:nvPicPr>
          <p:cNvPr id="571399" name="Picture 7" descr="31755_FIG0712rc.gif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3276600"/>
            <a:ext cx="7772400" cy="13509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3074" name="Picture 2" descr="C:\Users\Mehtab\Desktop\Unnamed QQ Screenshot202005052241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09800"/>
            <a:ext cx="5867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1303</TotalTime>
  <Words>601</Words>
  <Application>Microsoft Office PowerPoint</Application>
  <PresentationFormat>On-screen Show (4:3)</PresentationFormat>
  <Paragraphs>203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Urban</vt:lpstr>
      <vt:lpstr>Database Systems </vt:lpstr>
      <vt:lpstr>Today’s agenda</vt:lpstr>
      <vt:lpstr>Database State for COMPANY</vt:lpstr>
      <vt:lpstr>Relational Algebra</vt:lpstr>
      <vt:lpstr>Unary Relational Operations</vt:lpstr>
      <vt:lpstr>Unary Relational Operations</vt:lpstr>
      <vt:lpstr>PowerPoint Presentation</vt:lpstr>
      <vt:lpstr>PowerPoint Presentation</vt:lpstr>
      <vt:lpstr>Unary Relational Operations (cont.)</vt:lpstr>
      <vt:lpstr>Unary Relational Operations (cont.)</vt:lpstr>
      <vt:lpstr>PowerPoint Presentation</vt:lpstr>
      <vt:lpstr>Unary Relational Operations (cont.)</vt:lpstr>
      <vt:lpstr>Unary Relational Operations (cont.)</vt:lpstr>
      <vt:lpstr>Results of a sequence of operations. (a) pFNAME, LNAME, SALARY (sDNO=5(EMPLOYEE)). (b) Using intermediate relations and renaming of attributes.</vt:lpstr>
      <vt:lpstr>Relational Algebra Operations From Set Theory </vt:lpstr>
      <vt:lpstr>PowerPoint Presentation</vt:lpstr>
      <vt:lpstr>PowerPoint Presentation</vt:lpstr>
      <vt:lpstr>Relational Algebra Operations From Set Theory </vt:lpstr>
      <vt:lpstr>PowerPoint Presentation</vt:lpstr>
      <vt:lpstr>Relational Algebra Operations From Set Theory (cont.)</vt:lpstr>
      <vt:lpstr>Relational Algebra Operations From Set Theory (cont.) </vt:lpstr>
      <vt:lpstr>Relational Algebra Operations From Set Theory (cont.)</vt:lpstr>
      <vt:lpstr>Relational Algebra Operations From Set Theory (cont.)</vt:lpstr>
      <vt:lpstr>PowerPoint Presentation</vt:lpstr>
      <vt:lpstr>The CARTESIAN PRODUCT (CROSS PRODUCT) operation.</vt:lpstr>
      <vt:lpstr>The CARTESIAN PRODUCT (CROSS PRODUCT) operation.</vt:lpstr>
      <vt:lpstr>The CARTESIAN PRODUCT (CROSS PRODUCT) operation.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>RANA</dc:creator>
  <cp:lastModifiedBy>MEHTAB</cp:lastModifiedBy>
  <cp:revision>28</cp:revision>
  <dcterms:created xsi:type="dcterms:W3CDTF">2006-08-16T00:00:00Z</dcterms:created>
  <dcterms:modified xsi:type="dcterms:W3CDTF">2022-01-19T17:17:04Z</dcterms:modified>
</cp:coreProperties>
</file>
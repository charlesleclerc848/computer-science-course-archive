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A5091-3F6C-4A8A-B948-852BE2472831}" type="datetimeFigureOut">
              <a:rPr lang="en-US" smtClean="0"/>
              <a:pPr/>
              <a:t>16-May-20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A925A-73C6-4157-9B1D-923C980BC7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930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7772400" cy="1470025"/>
          </a:xfrm>
        </p:spPr>
        <p:txBody>
          <a:bodyPr/>
          <a:lstStyle/>
          <a:p>
            <a:r>
              <a:rPr lang="en-US" dirty="0" smtClean="0"/>
              <a:t>Database Systems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Transaction Processing</a:t>
            </a: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286000" y="304800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 smtClean="0"/>
              <a:t>Lecture </a:t>
            </a:r>
            <a:r>
              <a:rPr lang="en-US" sz="2800" u="sng" dirty="0" smtClean="0"/>
              <a:t>25</a:t>
            </a:r>
            <a:endParaRPr lang="en-US" sz="2800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CC19C-1B93-44E9-923D-B541DC5C5FC6}" type="slidenum">
              <a:rPr lang="en-US"/>
              <a:pPr/>
              <a:t>2</a:t>
            </a:fld>
            <a:endParaRPr 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7772400" cy="1143000"/>
          </a:xfrm>
        </p:spPr>
        <p:txBody>
          <a:bodyPr/>
          <a:lstStyle/>
          <a:p>
            <a:r>
              <a:rPr lang="en-US"/>
              <a:t>What is a Transaction?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When an event in the real world changes the state of the enterprise, a transaction is executed to cause the corresponding change in the database state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With an on-line database, the event causes the transaction to be executed in real time</a:t>
            </a:r>
          </a:p>
          <a:p>
            <a:pPr>
              <a:lnSpc>
                <a:spcPct val="90000"/>
              </a:lnSpc>
            </a:pPr>
            <a:r>
              <a:rPr lang="en-US" dirty="0"/>
              <a:t>A transaction is an application program with special properties - discussed later - to guarantee it maintains database correctness</a:t>
            </a:r>
          </a:p>
        </p:txBody>
      </p:sp>
    </p:spTree>
    <p:extLst>
      <p:ext uri="{BB962C8B-B14F-4D97-AF65-F5344CB8AC3E}">
        <p14:creationId xmlns:p14="http://schemas.microsoft.com/office/powerpoint/2010/main" val="870936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015E5-FF7B-4C69-B83B-1390A7F5E0AA}" type="slidenum">
              <a:rPr lang="en-US"/>
              <a:pPr/>
              <a:t>3</a:t>
            </a:fld>
            <a:endParaRPr 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What is a Transaction Processing System?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Transaction execution is controlled by a TP monitor</a:t>
            </a:r>
          </a:p>
          <a:p>
            <a:pPr lvl="1"/>
            <a:r>
              <a:rPr lang="en-US" dirty="0"/>
              <a:t>Creates the abstraction of a transaction, analogous to the way an operating system creates the abstraction of a process</a:t>
            </a:r>
          </a:p>
          <a:p>
            <a:pPr lvl="1"/>
            <a:r>
              <a:rPr lang="en-US" dirty="0"/>
              <a:t>TP monitor and DBMS together guarantee the special properties of transactions</a:t>
            </a:r>
          </a:p>
          <a:p>
            <a:r>
              <a:rPr lang="en-US" dirty="0"/>
              <a:t>A Transaction Processing System consists of TP monitor, databases, and transactions</a:t>
            </a:r>
          </a:p>
        </p:txBody>
      </p:sp>
    </p:spTree>
    <p:extLst>
      <p:ext uri="{BB962C8B-B14F-4D97-AF65-F5344CB8AC3E}">
        <p14:creationId xmlns:p14="http://schemas.microsoft.com/office/powerpoint/2010/main" val="4065931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0E176-63BA-4495-983B-763CA441F5BA}" type="slidenum">
              <a:rPr lang="en-US"/>
              <a:pPr/>
              <a:t>4</a:t>
            </a:fld>
            <a:endParaRPr 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Transaction Processing System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1219200" y="2362200"/>
            <a:ext cx="6858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1219200" y="3733800"/>
            <a:ext cx="6858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990600" y="5105400"/>
            <a:ext cx="6553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/>
              <a:t>TP  Monitor</a:t>
            </a: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4191000" y="3581400"/>
            <a:ext cx="1981200" cy="1143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/>
              <a:t>DBMS</a:t>
            </a:r>
          </a:p>
        </p:txBody>
      </p:sp>
      <p:sp>
        <p:nvSpPr>
          <p:cNvPr id="7175" name="Oval 7"/>
          <p:cNvSpPr>
            <a:spLocks noChangeArrowheads="1"/>
          </p:cNvSpPr>
          <p:nvPr/>
        </p:nvSpPr>
        <p:spPr bwMode="auto">
          <a:xfrm>
            <a:off x="6934200" y="2362200"/>
            <a:ext cx="609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9" name="Line 11"/>
          <p:cNvSpPr>
            <a:spLocks noChangeShapeType="1"/>
          </p:cNvSpPr>
          <p:nvPr/>
        </p:nvSpPr>
        <p:spPr bwMode="auto">
          <a:xfrm>
            <a:off x="6172200" y="2819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5" name="Text Box 17"/>
          <p:cNvSpPr txBox="1">
            <a:spLocks noChangeArrowheads="1"/>
          </p:cNvSpPr>
          <p:nvPr/>
        </p:nvSpPr>
        <p:spPr bwMode="auto">
          <a:xfrm>
            <a:off x="7696200" y="4038600"/>
            <a:ext cx="1231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database</a:t>
            </a:r>
          </a:p>
        </p:txBody>
      </p:sp>
      <p:sp>
        <p:nvSpPr>
          <p:cNvPr id="7186" name="AutoShape 18"/>
          <p:cNvSpPr>
            <a:spLocks/>
          </p:cNvSpPr>
          <p:nvPr/>
        </p:nvSpPr>
        <p:spPr bwMode="auto">
          <a:xfrm>
            <a:off x="685800" y="2438400"/>
            <a:ext cx="76200" cy="2286000"/>
          </a:xfrm>
          <a:prstGeom prst="leftBrace">
            <a:avLst>
              <a:gd name="adj1" fmla="val 2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7" name="Text Box 19"/>
          <p:cNvSpPr txBox="1">
            <a:spLocks noChangeArrowheads="1"/>
          </p:cNvSpPr>
          <p:nvPr/>
        </p:nvSpPr>
        <p:spPr bwMode="auto">
          <a:xfrm rot="-5400000">
            <a:off x="-285750" y="3332163"/>
            <a:ext cx="163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transactions</a:t>
            </a:r>
          </a:p>
        </p:txBody>
      </p:sp>
      <p:sp>
        <p:nvSpPr>
          <p:cNvPr id="7188" name="Rectangle 20"/>
          <p:cNvSpPr>
            <a:spLocks noChangeArrowheads="1"/>
          </p:cNvSpPr>
          <p:nvPr/>
        </p:nvSpPr>
        <p:spPr bwMode="auto">
          <a:xfrm>
            <a:off x="4191000" y="2209800"/>
            <a:ext cx="1981200" cy="1143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/>
              <a:t>DBMS</a:t>
            </a:r>
          </a:p>
        </p:txBody>
      </p:sp>
      <p:sp>
        <p:nvSpPr>
          <p:cNvPr id="7189" name="Line 21"/>
          <p:cNvSpPr>
            <a:spLocks noChangeShapeType="1"/>
          </p:cNvSpPr>
          <p:nvPr/>
        </p:nvSpPr>
        <p:spPr bwMode="auto">
          <a:xfrm>
            <a:off x="6172200" y="41910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0" name="Oval 22"/>
          <p:cNvSpPr>
            <a:spLocks noChangeArrowheads="1"/>
          </p:cNvSpPr>
          <p:nvPr/>
        </p:nvSpPr>
        <p:spPr bwMode="auto">
          <a:xfrm>
            <a:off x="6934200" y="4419600"/>
            <a:ext cx="609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1" name="Oval 23"/>
          <p:cNvSpPr>
            <a:spLocks noChangeArrowheads="1"/>
          </p:cNvSpPr>
          <p:nvPr/>
        </p:nvSpPr>
        <p:spPr bwMode="auto">
          <a:xfrm>
            <a:off x="6934200" y="3886200"/>
            <a:ext cx="609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2" name="Oval 24"/>
          <p:cNvSpPr>
            <a:spLocks noChangeArrowheads="1"/>
          </p:cNvSpPr>
          <p:nvPr/>
        </p:nvSpPr>
        <p:spPr bwMode="auto">
          <a:xfrm>
            <a:off x="6934200" y="2971800"/>
            <a:ext cx="609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3" name="Line 25"/>
          <p:cNvSpPr>
            <a:spLocks noChangeShapeType="1"/>
          </p:cNvSpPr>
          <p:nvPr/>
        </p:nvSpPr>
        <p:spPr bwMode="auto">
          <a:xfrm>
            <a:off x="6934200" y="2438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4" name="Line 26"/>
          <p:cNvSpPr>
            <a:spLocks noChangeShapeType="1"/>
          </p:cNvSpPr>
          <p:nvPr/>
        </p:nvSpPr>
        <p:spPr bwMode="auto">
          <a:xfrm>
            <a:off x="7543800" y="2438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0" name="Line 32"/>
          <p:cNvSpPr>
            <a:spLocks noChangeShapeType="1"/>
          </p:cNvSpPr>
          <p:nvPr/>
        </p:nvSpPr>
        <p:spPr bwMode="auto">
          <a:xfrm>
            <a:off x="6934200" y="3962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2" name="Line 34"/>
          <p:cNvSpPr>
            <a:spLocks noChangeShapeType="1"/>
          </p:cNvSpPr>
          <p:nvPr/>
        </p:nvSpPr>
        <p:spPr bwMode="auto">
          <a:xfrm>
            <a:off x="7543800" y="3962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9" name="Text Box 41"/>
          <p:cNvSpPr txBox="1">
            <a:spLocks noChangeArrowheads="1"/>
          </p:cNvSpPr>
          <p:nvPr/>
        </p:nvSpPr>
        <p:spPr bwMode="auto">
          <a:xfrm>
            <a:off x="7680325" y="2555875"/>
            <a:ext cx="1231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database</a:t>
            </a:r>
          </a:p>
        </p:txBody>
      </p:sp>
      <p:sp>
        <p:nvSpPr>
          <p:cNvPr id="7210" name="Line 42"/>
          <p:cNvSpPr>
            <a:spLocks noChangeShapeType="1"/>
          </p:cNvSpPr>
          <p:nvPr/>
        </p:nvSpPr>
        <p:spPr bwMode="auto">
          <a:xfrm>
            <a:off x="1828800" y="27432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1" name="Line 43"/>
          <p:cNvSpPr>
            <a:spLocks noChangeShapeType="1"/>
          </p:cNvSpPr>
          <p:nvPr/>
        </p:nvSpPr>
        <p:spPr bwMode="auto">
          <a:xfrm>
            <a:off x="1828800" y="2971800"/>
            <a:ext cx="2362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2" name="Line 44"/>
          <p:cNvSpPr>
            <a:spLocks noChangeShapeType="1"/>
          </p:cNvSpPr>
          <p:nvPr/>
        </p:nvSpPr>
        <p:spPr bwMode="auto">
          <a:xfrm>
            <a:off x="1828800" y="41910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24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83277-BF5D-4B27-8F70-7A7D5E4148BD}" type="slidenum">
              <a:rPr lang="en-US"/>
              <a:pPr/>
              <a:t>5</a:t>
            </a:fld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Systems: Then and Now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Relational model using SQL - high-level view of data</a:t>
            </a:r>
          </a:p>
          <a:p>
            <a:pPr lvl="1"/>
            <a:r>
              <a:rPr lang="en-US"/>
              <a:t>Older systems presented low-level view</a:t>
            </a:r>
          </a:p>
          <a:p>
            <a:r>
              <a:rPr lang="en-US"/>
              <a:t>Might contain multimedia data</a:t>
            </a:r>
          </a:p>
          <a:p>
            <a:pPr lvl="1"/>
            <a:r>
              <a:rPr lang="en-US"/>
              <a:t>Older systems restricted to alphanumeric data</a:t>
            </a:r>
          </a:p>
          <a:p>
            <a:r>
              <a:rPr lang="en-US"/>
              <a:t>On-line: database accessed at time of event</a:t>
            </a:r>
          </a:p>
          <a:p>
            <a:pPr lvl="1"/>
            <a:r>
              <a:rPr lang="en-US"/>
              <a:t>Older systems were off-line, batch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66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977D5-1A3A-492E-A8DF-CA11B6BC90A1}" type="slidenum">
              <a:rPr lang="en-US"/>
              <a:pPr/>
              <a:t>6</a:t>
            </a:fld>
            <a:endParaRPr lang="en-US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Systems: Then and Now (con’t)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Concurrent - multiple transactions execute simultaneously</a:t>
            </a:r>
          </a:p>
          <a:p>
            <a:pPr lvl="1"/>
            <a:r>
              <a:rPr lang="en-US"/>
              <a:t>Older systems processed transactions sequentially</a:t>
            </a:r>
          </a:p>
          <a:p>
            <a:r>
              <a:rPr lang="en-US"/>
              <a:t>Distributed computation - different parts of the application execute on different computers</a:t>
            </a:r>
          </a:p>
          <a:p>
            <a:pPr lvl="1"/>
            <a:r>
              <a:rPr lang="en-US"/>
              <a:t>Older systems were centralized</a:t>
            </a:r>
          </a:p>
        </p:txBody>
      </p:sp>
    </p:spTree>
    <p:extLst>
      <p:ext uri="{BB962C8B-B14F-4D97-AF65-F5344CB8AC3E}">
        <p14:creationId xmlns:p14="http://schemas.microsoft.com/office/powerpoint/2010/main" val="334266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99BA8-688E-4B13-960F-DC53F8F8A0A6}" type="slidenum">
              <a:rPr lang="en-US"/>
              <a:pPr/>
              <a:t>7</a:t>
            </a:fld>
            <a:endParaRPr 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1143000"/>
          </a:xfrm>
        </p:spPr>
        <p:txBody>
          <a:bodyPr/>
          <a:lstStyle/>
          <a:p>
            <a:r>
              <a:rPr lang="en-US"/>
              <a:t>Systems: Then and Now (con’t)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r>
              <a:rPr lang="en-US"/>
              <a:t>Distributed data - different parts of the data are stored in different databases on different computers</a:t>
            </a:r>
          </a:p>
          <a:p>
            <a:pPr lvl="1"/>
            <a:r>
              <a:rPr lang="en-US"/>
              <a:t>Older systems were centralized</a:t>
            </a:r>
          </a:p>
          <a:p>
            <a:r>
              <a:rPr lang="en-US"/>
              <a:t>Heterogeneous - involves HW and SW modules from different manufacturers</a:t>
            </a:r>
          </a:p>
          <a:p>
            <a:pPr lvl="1"/>
            <a:r>
              <a:rPr lang="en-US"/>
              <a:t>Older systems were homogeneous</a:t>
            </a:r>
          </a:p>
          <a:p>
            <a:r>
              <a:rPr lang="en-US"/>
              <a:t>Accessed by everyone (e.g., e-commerce)</a:t>
            </a:r>
          </a:p>
          <a:p>
            <a:pPr lvl="1"/>
            <a:r>
              <a:rPr lang="en-US"/>
              <a:t>Older systems restricted to trained personnel </a:t>
            </a:r>
          </a:p>
        </p:txBody>
      </p:sp>
    </p:spTree>
    <p:extLst>
      <p:ext uri="{BB962C8B-B14F-4D97-AF65-F5344CB8AC3E}">
        <p14:creationId xmlns:p14="http://schemas.microsoft.com/office/powerpoint/2010/main" val="1807769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4636-22B1-45C2-80F3-3A1B0E52325B}" type="slidenum">
              <a:rPr lang="en-US"/>
              <a:pPr/>
              <a:t>8</a:t>
            </a:fld>
            <a:endParaRPr lang="en-US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Requirements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High Availability</a:t>
            </a:r>
            <a:r>
              <a:rPr lang="en-US"/>
              <a:t>: on-line =&gt; must be operational while enterprise is functioning</a:t>
            </a:r>
          </a:p>
          <a:p>
            <a:r>
              <a:rPr lang="en-US" b="1"/>
              <a:t>High Reliability</a:t>
            </a:r>
            <a:r>
              <a:rPr lang="en-US"/>
              <a:t>: correctly tracks state, does not lose data, controlled concurrency</a:t>
            </a:r>
          </a:p>
          <a:p>
            <a:r>
              <a:rPr lang="en-US" b="1"/>
              <a:t>High Throughput</a:t>
            </a:r>
            <a:r>
              <a:rPr lang="en-US"/>
              <a:t>: many users =&gt; many transactions/sec</a:t>
            </a:r>
          </a:p>
          <a:p>
            <a:r>
              <a:rPr lang="en-US" b="1"/>
              <a:t>Low Response Time</a:t>
            </a:r>
            <a:r>
              <a:rPr lang="en-US"/>
              <a:t>: on-line =&gt; users are waiting</a:t>
            </a:r>
          </a:p>
        </p:txBody>
      </p:sp>
    </p:spTree>
    <p:extLst>
      <p:ext uri="{BB962C8B-B14F-4D97-AF65-F5344CB8AC3E}">
        <p14:creationId xmlns:p14="http://schemas.microsoft.com/office/powerpoint/2010/main" val="2923728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3CCE0-2948-4159-ADE4-EFC3C3FBF105}" type="slidenum">
              <a:rPr lang="en-US"/>
              <a:pPr/>
              <a:t>9</a:t>
            </a:fld>
            <a:endParaRPr lang="en-US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Requirements (con’t)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Long Lifetime</a:t>
            </a:r>
            <a:r>
              <a:rPr lang="en-US"/>
              <a:t>: complex systems are not easily replaced</a:t>
            </a:r>
          </a:p>
          <a:p>
            <a:pPr lvl="1"/>
            <a:r>
              <a:rPr lang="en-US"/>
              <a:t>Must be designed so they can be easily extended as the needs of the enterprise change</a:t>
            </a:r>
          </a:p>
          <a:p>
            <a:r>
              <a:rPr lang="en-US" b="1"/>
              <a:t>Security</a:t>
            </a:r>
            <a:r>
              <a:rPr lang="en-US"/>
              <a:t>: sensitive information must be carefully protected since system  is accessible to many users</a:t>
            </a:r>
          </a:p>
          <a:p>
            <a:pPr lvl="1"/>
            <a:r>
              <a:rPr lang="en-US"/>
              <a:t>Authentication, authorization, encryption</a:t>
            </a:r>
          </a:p>
        </p:txBody>
      </p:sp>
    </p:spTree>
    <p:extLst>
      <p:ext uri="{BB962C8B-B14F-4D97-AF65-F5344CB8AC3E}">
        <p14:creationId xmlns:p14="http://schemas.microsoft.com/office/powerpoint/2010/main" val="1145758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C27F-E6B8-4CB6-995A-0A1F84AAEEBE}" type="slidenum">
              <a:rPr lang="en-US"/>
              <a:pPr/>
              <a:t>10</a:t>
            </a:fld>
            <a:endParaRPr lang="en-US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Roles in Design, Implementation, and Maintenance of a TPS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System Analyst</a:t>
            </a:r>
            <a:r>
              <a:rPr lang="en-US"/>
              <a:t> - specifies system using input from customer; provides complete description of functionality from customer’s and user’s point of view</a:t>
            </a:r>
          </a:p>
          <a:p>
            <a:r>
              <a:rPr lang="en-US" b="1"/>
              <a:t>Database Designer</a:t>
            </a:r>
            <a:r>
              <a:rPr lang="en-US"/>
              <a:t> - specifies structure of data that will be stored in database</a:t>
            </a:r>
          </a:p>
          <a:p>
            <a:r>
              <a:rPr lang="en-US" b="1"/>
              <a:t>Application Programmer</a:t>
            </a:r>
            <a:r>
              <a:rPr lang="en-US"/>
              <a:t> - implements application programs (transactions) that access data and support enterprise rules</a:t>
            </a:r>
          </a:p>
        </p:txBody>
      </p:sp>
    </p:spTree>
    <p:extLst>
      <p:ext uri="{BB962C8B-B14F-4D97-AF65-F5344CB8AC3E}">
        <p14:creationId xmlns:p14="http://schemas.microsoft.com/office/powerpoint/2010/main" val="1035834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EB77-DC53-4743-B3DF-9D41567A46FE}" type="slidenum">
              <a:rPr lang="en-US"/>
              <a:pPr/>
              <a:t>11</a:t>
            </a:fld>
            <a:endParaRPr 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Roles in Design, Implementation and Maintenance of a TPS (con’t)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Database Administrator</a:t>
            </a:r>
            <a:r>
              <a:rPr lang="en-US"/>
              <a:t> - maintains database once system is operational: space allocation, performance optimization, database security</a:t>
            </a:r>
          </a:p>
          <a:p>
            <a:r>
              <a:rPr lang="en-US" b="1"/>
              <a:t>System Administrator</a:t>
            </a:r>
            <a:r>
              <a:rPr lang="en-US"/>
              <a:t> - maintains transaction processing system: monitors interconnection of HW and SW modules, deals with failures and congestion</a:t>
            </a:r>
          </a:p>
        </p:txBody>
      </p:sp>
    </p:spTree>
    <p:extLst>
      <p:ext uri="{BB962C8B-B14F-4D97-AF65-F5344CB8AC3E}">
        <p14:creationId xmlns:p14="http://schemas.microsoft.com/office/powerpoint/2010/main" val="2248793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4131E-8361-4B6D-86E6-4FAFE36C4F8B}" type="slidenum">
              <a:rPr lang="en-US"/>
              <a:pPr/>
              <a:t>12</a:t>
            </a:fld>
            <a:endParaRPr lang="en-US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OLTP  vs.  OLAP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On-line Transaction Processing</a:t>
            </a:r>
            <a:r>
              <a:rPr lang="en-US"/>
              <a:t> (OLTP) </a:t>
            </a:r>
          </a:p>
          <a:p>
            <a:pPr lvl="1"/>
            <a:r>
              <a:rPr lang="en-US"/>
              <a:t>Day-to-day handling of transactions that result from enterprise operation </a:t>
            </a:r>
          </a:p>
          <a:p>
            <a:pPr lvl="1"/>
            <a:r>
              <a:rPr lang="en-US"/>
              <a:t>Maintains correspondence between database state and enterprise state</a:t>
            </a:r>
          </a:p>
          <a:p>
            <a:r>
              <a:rPr lang="en-US" b="1"/>
              <a:t>On-line Analytic Processing</a:t>
            </a:r>
            <a:r>
              <a:rPr lang="en-US"/>
              <a:t> (OLAP) </a:t>
            </a:r>
          </a:p>
          <a:p>
            <a:pPr lvl="1"/>
            <a:r>
              <a:rPr lang="en-US"/>
              <a:t>Analysis of information in a database for the purpose of making management decisions</a:t>
            </a:r>
          </a:p>
        </p:txBody>
      </p:sp>
    </p:spTree>
    <p:extLst>
      <p:ext uri="{BB962C8B-B14F-4D97-AF65-F5344CB8AC3E}">
        <p14:creationId xmlns:p14="http://schemas.microsoft.com/office/powerpoint/2010/main" val="3081812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8B19B-50CF-4178-8753-A85EB9E570A8}" type="slidenum">
              <a:rPr lang="en-US"/>
              <a:pPr/>
              <a:t>13</a:t>
            </a:fld>
            <a:endParaRPr lang="en-US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r>
              <a:rPr lang="en-US" dirty="0"/>
              <a:t>OLAP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81200"/>
            <a:ext cx="7772400" cy="4114800"/>
          </a:xfrm>
        </p:spPr>
        <p:txBody>
          <a:bodyPr>
            <a:normAutofit lnSpcReduction="10000"/>
          </a:bodyPr>
          <a:lstStyle/>
          <a:p>
            <a:r>
              <a:rPr lang="en-US"/>
              <a:t>Analyzes historical data (terabytes) using complex queries</a:t>
            </a:r>
          </a:p>
          <a:p>
            <a:r>
              <a:rPr lang="en-US"/>
              <a:t>Due to volume of data and complexity of queries, OLAP often uses a data warehouse</a:t>
            </a:r>
          </a:p>
          <a:p>
            <a:r>
              <a:rPr lang="en-US" b="1"/>
              <a:t>Data Warehouse - </a:t>
            </a:r>
            <a:r>
              <a:rPr lang="en-US"/>
              <a:t>(offline) repository of historical data generated from OLTP or other sources</a:t>
            </a:r>
          </a:p>
          <a:p>
            <a:r>
              <a:rPr lang="en-US" b="1"/>
              <a:t>Data Mining</a:t>
            </a:r>
            <a:r>
              <a:rPr lang="en-US"/>
              <a:t> - use of warehouse data to </a:t>
            </a:r>
            <a:r>
              <a:rPr lang="en-US" i="1"/>
              <a:t>discover</a:t>
            </a:r>
            <a:r>
              <a:rPr lang="en-US"/>
              <a:t> relationships that might influence enterprise strategy</a:t>
            </a:r>
          </a:p>
        </p:txBody>
      </p:sp>
    </p:spTree>
    <p:extLst>
      <p:ext uri="{BB962C8B-B14F-4D97-AF65-F5344CB8AC3E}">
        <p14:creationId xmlns:p14="http://schemas.microsoft.com/office/powerpoint/2010/main" val="2394327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EE6F4-3DD7-4C1C-90BA-769E7FC192EF}" type="slidenum">
              <a:rPr lang="en-US"/>
              <a:pPr/>
              <a:t>14</a:t>
            </a:fld>
            <a:endParaRPr lang="en-US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- Supermarket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OLTP</a:t>
            </a:r>
          </a:p>
          <a:p>
            <a:pPr lvl="1"/>
            <a:r>
              <a:rPr lang="en-US"/>
              <a:t>Event is 3 cans of soup and 1 box of crackers bought; update database to reflect that event</a:t>
            </a:r>
          </a:p>
          <a:p>
            <a:r>
              <a:rPr lang="en-US"/>
              <a:t>OLAP</a:t>
            </a:r>
          </a:p>
          <a:p>
            <a:pPr lvl="1"/>
            <a:r>
              <a:rPr lang="en-US"/>
              <a:t>Last winter in all stores in northeast, how many customers bought soup and crackers together?</a:t>
            </a:r>
          </a:p>
          <a:p>
            <a:r>
              <a:rPr lang="en-US"/>
              <a:t>Data Mining</a:t>
            </a:r>
          </a:p>
          <a:p>
            <a:pPr lvl="1"/>
            <a:r>
              <a:rPr lang="en-US"/>
              <a:t>Are there any interesting combinations of foods that customers frequently bought together?</a:t>
            </a:r>
          </a:p>
        </p:txBody>
      </p:sp>
    </p:spTree>
    <p:extLst>
      <p:ext uri="{BB962C8B-B14F-4D97-AF65-F5344CB8AC3E}">
        <p14:creationId xmlns:p14="http://schemas.microsoft.com/office/powerpoint/2010/main" val="2264780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20</TotalTime>
  <Words>661</Words>
  <Application>Microsoft Office PowerPoint</Application>
  <PresentationFormat>On-screen Show (4:3)</PresentationFormat>
  <Paragraphs>88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Urban</vt:lpstr>
      <vt:lpstr>Database Systems </vt:lpstr>
      <vt:lpstr>What is a Transaction?</vt:lpstr>
      <vt:lpstr>What is a Transaction Processing System?</vt:lpstr>
      <vt:lpstr>Transaction Processing System</vt:lpstr>
      <vt:lpstr>Systems: Then and Now</vt:lpstr>
      <vt:lpstr>Systems: Then and Now (con’t)</vt:lpstr>
      <vt:lpstr>Systems: Then and Now (con’t)</vt:lpstr>
      <vt:lpstr>System Requirements</vt:lpstr>
      <vt:lpstr>System Requirements (con’t)</vt:lpstr>
      <vt:lpstr>Roles in Design, Implementation, and Maintenance of a TPS</vt:lpstr>
      <vt:lpstr>Roles in Design, Implementation and Maintenance of a TPS (con’t)</vt:lpstr>
      <vt:lpstr>OLTP  vs.  OLAP</vt:lpstr>
      <vt:lpstr>OLAP</vt:lpstr>
      <vt:lpstr>Examples - Supermarket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RANA</dc:creator>
  <cp:lastModifiedBy>Mehtab</cp:lastModifiedBy>
  <cp:revision>9</cp:revision>
  <dcterms:created xsi:type="dcterms:W3CDTF">2006-08-16T00:00:00Z</dcterms:created>
  <dcterms:modified xsi:type="dcterms:W3CDTF">2020-05-16T12:53:22Z</dcterms:modified>
</cp:coreProperties>
</file>
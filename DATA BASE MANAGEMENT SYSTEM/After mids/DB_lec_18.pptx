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8" r:id="rId3"/>
    <p:sldId id="259" r:id="rId4"/>
    <p:sldId id="260" r:id="rId5"/>
    <p:sldId id="261" r:id="rId6"/>
    <p:sldId id="262" r:id="rId7"/>
    <p:sldId id="287" r:id="rId8"/>
    <p:sldId id="263" r:id="rId9"/>
    <p:sldId id="264" r:id="rId10"/>
    <p:sldId id="289" r:id="rId11"/>
    <p:sldId id="265" r:id="rId12"/>
    <p:sldId id="266" r:id="rId13"/>
    <p:sldId id="267" r:id="rId14"/>
    <p:sldId id="268" r:id="rId15"/>
    <p:sldId id="269" r:id="rId16"/>
    <p:sldId id="270" r:id="rId17"/>
    <p:sldId id="271" r:id="rId18"/>
    <p:sldId id="272" r:id="rId19"/>
    <p:sldId id="273" r:id="rId20"/>
    <p:sldId id="274" r:id="rId21"/>
    <p:sldId id="275" r:id="rId22"/>
    <p:sldId id="288" r:id="rId23"/>
    <p:sldId id="276" r:id="rId24"/>
    <p:sldId id="277" r:id="rId25"/>
    <p:sldId id="278" r:id="rId26"/>
    <p:sldId id="279" r:id="rId27"/>
    <p:sldId id="280" r:id="rId28"/>
    <p:sldId id="281" r:id="rId29"/>
    <p:sldId id="282" r:id="rId30"/>
    <p:sldId id="283" r:id="rId31"/>
    <p:sldId id="284" r:id="rId32"/>
    <p:sldId id="285" r:id="rId33"/>
    <p:sldId id="286"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54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05E539-C574-4B7D-958E-E012899AB85B}" type="datetimeFigureOut">
              <a:rPr lang="en-US" smtClean="0"/>
              <a:pPr/>
              <a:t>4/28/2022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5D00156-CBDF-4782-A3EE-C5FE356525CA}" type="slidenum">
              <a:rPr lang="en-US" smtClean="0"/>
              <a:pPr/>
              <a:t>‹#›</a:t>
            </a:fld>
            <a:endParaRPr lang="en-US"/>
          </a:p>
        </p:txBody>
      </p:sp>
    </p:spTree>
    <p:extLst>
      <p:ext uri="{BB962C8B-B14F-4D97-AF65-F5344CB8AC3E}">
        <p14:creationId xmlns:p14="http://schemas.microsoft.com/office/powerpoint/2010/main" val="915799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r>
              <a:rPr lang="en-US" smtClean="0"/>
              <a:t>Toqir Ahmad Rana</a:t>
            </a:r>
            <a:endParaRPr lang="en-US"/>
          </a:p>
        </p:txBody>
      </p:sp>
      <p:sp>
        <p:nvSpPr>
          <p:cNvPr id="17" name="Footer Placeholder 16"/>
          <p:cNvSpPr>
            <a:spLocks noGrp="1"/>
          </p:cNvSpPr>
          <p:nvPr>
            <p:ph type="ftr" sz="quarter" idx="11"/>
          </p:nvPr>
        </p:nvSpPr>
        <p:spPr>
          <a:xfrm>
            <a:off x="5410200" y="4205288"/>
            <a:ext cx="1295400" cy="457200"/>
          </a:xfrm>
        </p:spPr>
        <p:txBody>
          <a:bodyPr/>
          <a:lstStyle/>
          <a:p>
            <a:r>
              <a:rPr lang="en-US" smtClean="0"/>
              <a:t>Database Management Systems</a:t>
            </a:r>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r>
              <a:rPr lang="en-US" smtClean="0"/>
              <a:t>Toqir Ahmad Rana</a:t>
            </a:r>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r>
              <a:rPr lang="en-US" smtClean="0"/>
              <a:t>Database Management Systems</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r>
              <a:rPr lang="en-US" smtClean="0"/>
              <a:t>Toqir Ahmad Rana</a:t>
            </a:r>
            <a:endParaRPr lang="en-US"/>
          </a:p>
        </p:txBody>
      </p:sp>
      <p:sp>
        <p:nvSpPr>
          <p:cNvPr id="4" name="Footer Placeholder 3"/>
          <p:cNvSpPr>
            <a:spLocks noGrp="1"/>
          </p:cNvSpPr>
          <p:nvPr>
            <p:ph type="ftr" sz="quarter" idx="11"/>
          </p:nvPr>
        </p:nvSpPr>
        <p:spPr>
          <a:xfrm>
            <a:off x="5257800" y="612648"/>
            <a:ext cx="1325880" cy="457200"/>
          </a:xfrm>
        </p:spPr>
        <p:txBody>
          <a:bodyPr/>
          <a:lstStyle/>
          <a:p>
            <a:r>
              <a:rPr lang="en-US" smtClean="0"/>
              <a:t>Database Management Systems</a:t>
            </a:r>
            <a:endParaRPr lang="en-US"/>
          </a:p>
        </p:txBody>
      </p:sp>
      <p:sp>
        <p:nvSpPr>
          <p:cNvPr id="5" name="Slide Number Placeholder 4"/>
          <p:cNvSpPr>
            <a:spLocks noGrp="1"/>
          </p:cNvSpPr>
          <p:nvPr>
            <p:ph type="sldNum" sz="quarter" idx="12"/>
          </p:nvPr>
        </p:nvSpPr>
        <p:spPr>
          <a:xfrm>
            <a:off x="8174736" y="2272"/>
            <a:ext cx="762000" cy="365760"/>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Toqir Ahmad Rana</a:t>
            </a:r>
            <a:endParaRPr lang="en-US"/>
          </a:p>
        </p:txBody>
      </p:sp>
      <p:sp>
        <p:nvSpPr>
          <p:cNvPr id="3" name="Footer Placeholder 2"/>
          <p:cNvSpPr>
            <a:spLocks noGrp="1"/>
          </p:cNvSpPr>
          <p:nvPr>
            <p:ph type="ftr" sz="quarter" idx="11"/>
          </p:nvPr>
        </p:nvSpPr>
        <p:spPr/>
        <p:txBody>
          <a:bodyPr/>
          <a:lstStyle/>
          <a:p>
            <a:r>
              <a:rPr lang="en-US" smtClean="0"/>
              <a:t>Database Management Systems</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r>
              <a:rPr lang="en-US" smtClean="0"/>
              <a:t>Toqir Ahmad Rana</a:t>
            </a:r>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r>
              <a:rPr lang="en-US" smtClean="0"/>
              <a:t>Database Management Systems</a:t>
            </a:r>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219200"/>
            <a:ext cx="7772400" cy="1470025"/>
          </a:xfrm>
        </p:spPr>
        <p:txBody>
          <a:bodyPr/>
          <a:lstStyle/>
          <a:p>
            <a:r>
              <a:rPr lang="en-US" dirty="0" smtClean="0"/>
              <a:t>Database Systems	</a:t>
            </a:r>
            <a:endParaRPr lang="en-US" dirty="0"/>
          </a:p>
        </p:txBody>
      </p:sp>
      <p:sp>
        <p:nvSpPr>
          <p:cNvPr id="3" name="Subtitle 2"/>
          <p:cNvSpPr>
            <a:spLocks noGrp="1"/>
          </p:cNvSpPr>
          <p:nvPr>
            <p:ph type="subTitle" idx="1"/>
          </p:nvPr>
        </p:nvSpPr>
        <p:spPr/>
        <p:txBody>
          <a:bodyPr>
            <a:normAutofit/>
          </a:bodyPr>
          <a:lstStyle/>
          <a:p>
            <a:r>
              <a:rPr lang="en-US" sz="2000" dirty="0" smtClean="0"/>
              <a:t>ER and EER to Relational Mapping</a:t>
            </a:r>
          </a:p>
          <a:p>
            <a:endParaRPr lang="en-US" sz="2000" dirty="0"/>
          </a:p>
          <a:p>
            <a:r>
              <a:rPr lang="en-US" sz="2000" dirty="0" smtClean="0"/>
              <a:t>(Conceptual schema to Relational database schema)</a:t>
            </a:r>
          </a:p>
        </p:txBody>
      </p:sp>
      <p:sp>
        <p:nvSpPr>
          <p:cNvPr id="14" name="Footer Placeholder 13"/>
          <p:cNvSpPr>
            <a:spLocks noGrp="1"/>
          </p:cNvSpPr>
          <p:nvPr>
            <p:ph type="ftr" sz="quarter" idx="11"/>
          </p:nvPr>
        </p:nvSpPr>
        <p:spPr/>
        <p:txBody>
          <a:bodyPr/>
          <a:lstStyle/>
          <a:p>
            <a:r>
              <a:rPr lang="en-US" smtClean="0"/>
              <a:t>Database Management Systems</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1</a:t>
            </a:fld>
            <a:endParaRPr lang="en-US"/>
          </a:p>
        </p:txBody>
      </p:sp>
      <p:sp>
        <p:nvSpPr>
          <p:cNvPr id="10" name="TextBox 9"/>
          <p:cNvSpPr txBox="1"/>
          <p:nvPr/>
        </p:nvSpPr>
        <p:spPr>
          <a:xfrm>
            <a:off x="2286000" y="3048000"/>
            <a:ext cx="4267200" cy="523220"/>
          </a:xfrm>
          <a:prstGeom prst="rect">
            <a:avLst/>
          </a:prstGeom>
          <a:noFill/>
        </p:spPr>
        <p:txBody>
          <a:bodyPr wrap="square" rtlCol="0">
            <a:spAutoFit/>
          </a:bodyPr>
          <a:lstStyle/>
          <a:p>
            <a:pPr algn="ctr"/>
            <a:r>
              <a:rPr lang="en-US" sz="2800" u="sng" dirty="0" smtClean="0"/>
              <a:t>Lecture 18</a:t>
            </a:r>
            <a:endParaRPr lang="en-US" sz="2800" u="sng"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4"/>
          <p:cNvSpPr>
            <a:spLocks noGrp="1" noChangeArrowheads="1"/>
          </p:cNvSpPr>
          <p:nvPr>
            <p:ph type="title"/>
          </p:nvPr>
        </p:nvSpPr>
        <p:spPr>
          <a:xfrm>
            <a:off x="228600" y="838200"/>
            <a:ext cx="8534400" cy="842962"/>
          </a:xfrm>
        </p:spPr>
        <p:txBody>
          <a:bodyPr/>
          <a:lstStyle/>
          <a:p>
            <a:r>
              <a:rPr lang="en-US" sz="3600" b="1" dirty="0" smtClean="0"/>
              <a:t>Today’s Agenda</a:t>
            </a:r>
            <a:endParaRPr lang="en-US" sz="3600" b="1" dirty="0"/>
          </a:p>
        </p:txBody>
      </p:sp>
      <p:sp>
        <p:nvSpPr>
          <p:cNvPr id="71685" name="Rectangle 5"/>
          <p:cNvSpPr>
            <a:spLocks noGrp="1" noChangeArrowheads="1"/>
          </p:cNvSpPr>
          <p:nvPr>
            <p:ph type="body" idx="1"/>
          </p:nvPr>
        </p:nvSpPr>
        <p:spPr>
          <a:xfrm>
            <a:off x="381000" y="1752600"/>
            <a:ext cx="8458200" cy="4811712"/>
          </a:xfrm>
        </p:spPr>
        <p:txBody>
          <a:bodyPr/>
          <a:lstStyle/>
          <a:p>
            <a:pPr>
              <a:lnSpc>
                <a:spcPct val="80000"/>
              </a:lnSpc>
            </a:pPr>
            <a:endParaRPr lang="en-US" sz="2000" b="1" dirty="0"/>
          </a:p>
          <a:p>
            <a:pPr>
              <a:lnSpc>
                <a:spcPct val="80000"/>
              </a:lnSpc>
            </a:pPr>
            <a:r>
              <a:rPr lang="en-US" sz="2800" b="1" dirty="0">
                <a:latin typeface="Arial" charset="0"/>
              </a:rPr>
              <a:t>ER-to-Relational Mapping Algorithm</a:t>
            </a:r>
            <a:r>
              <a:rPr lang="en-US" sz="2800" b="1" dirty="0"/>
              <a:t> </a:t>
            </a:r>
          </a:p>
          <a:p>
            <a:pPr>
              <a:lnSpc>
                <a:spcPct val="80000"/>
              </a:lnSpc>
              <a:buFont typeface="Wingdings" pitchFamily="2" charset="2"/>
              <a:buNone/>
            </a:pPr>
            <a:endParaRPr lang="en-US" sz="1000" b="1" dirty="0"/>
          </a:p>
          <a:p>
            <a:pPr>
              <a:lnSpc>
                <a:spcPct val="80000"/>
              </a:lnSpc>
              <a:buFont typeface="Wingdings" pitchFamily="2" charset="2"/>
              <a:buNone/>
            </a:pPr>
            <a:r>
              <a:rPr lang="en-US" sz="2000" b="1" dirty="0"/>
              <a:t>	</a:t>
            </a:r>
            <a:r>
              <a:rPr lang="en-US" sz="2000" dirty="0"/>
              <a:t>Step 1: Mapping of Regular Entity Types</a:t>
            </a:r>
          </a:p>
          <a:p>
            <a:pPr>
              <a:lnSpc>
                <a:spcPct val="80000"/>
              </a:lnSpc>
              <a:buFont typeface="Wingdings" pitchFamily="2" charset="2"/>
              <a:buNone/>
            </a:pPr>
            <a:r>
              <a:rPr lang="en-US" sz="2000" dirty="0"/>
              <a:t>	Step 2: Mapping of Weak Entity Types</a:t>
            </a:r>
          </a:p>
          <a:p>
            <a:pPr>
              <a:lnSpc>
                <a:spcPct val="80000"/>
              </a:lnSpc>
              <a:buFont typeface="Wingdings" pitchFamily="2" charset="2"/>
              <a:buNone/>
            </a:pPr>
            <a:r>
              <a:rPr lang="en-US" sz="2000" dirty="0"/>
              <a:t>	Step 3: Mapping of Binary 1:1 Relation Types</a:t>
            </a:r>
          </a:p>
          <a:p>
            <a:pPr>
              <a:lnSpc>
                <a:spcPct val="80000"/>
              </a:lnSpc>
              <a:buFont typeface="Wingdings" pitchFamily="2" charset="2"/>
              <a:buNone/>
            </a:pPr>
            <a:r>
              <a:rPr lang="en-US" sz="2000" dirty="0"/>
              <a:t>	Step 4: Mapping of Binary 1:N Relationship Types.</a:t>
            </a:r>
          </a:p>
          <a:p>
            <a:pPr>
              <a:lnSpc>
                <a:spcPct val="80000"/>
              </a:lnSpc>
              <a:buFont typeface="Wingdings" pitchFamily="2" charset="2"/>
              <a:buNone/>
            </a:pPr>
            <a:r>
              <a:rPr lang="en-US" sz="2000" dirty="0"/>
              <a:t>	Step 5: Mapping of Binary M:N Relationship Types.</a:t>
            </a:r>
          </a:p>
          <a:p>
            <a:pPr>
              <a:lnSpc>
                <a:spcPct val="80000"/>
              </a:lnSpc>
              <a:buFont typeface="Wingdings" pitchFamily="2" charset="2"/>
              <a:buNone/>
            </a:pPr>
            <a:r>
              <a:rPr lang="en-US" sz="2000" dirty="0"/>
              <a:t>	Step 6: Mapping of </a:t>
            </a:r>
            <a:r>
              <a:rPr lang="en-US" sz="2000" dirty="0" err="1"/>
              <a:t>Multivalued</a:t>
            </a:r>
            <a:r>
              <a:rPr lang="en-US" sz="2000" dirty="0"/>
              <a:t> attributes.</a:t>
            </a:r>
          </a:p>
          <a:p>
            <a:pPr>
              <a:lnSpc>
                <a:spcPct val="80000"/>
              </a:lnSpc>
              <a:buFont typeface="Wingdings" pitchFamily="2" charset="2"/>
              <a:buNone/>
            </a:pPr>
            <a:r>
              <a:rPr lang="en-US" sz="2000" dirty="0"/>
              <a:t>	Step 7: Mapping of N-</a:t>
            </a:r>
            <a:r>
              <a:rPr lang="en-US" sz="2000" dirty="0" err="1"/>
              <a:t>ary</a:t>
            </a:r>
            <a:r>
              <a:rPr lang="en-US" sz="2000" dirty="0"/>
              <a:t> Relationship Types.</a:t>
            </a:r>
          </a:p>
          <a:p>
            <a:pPr>
              <a:lnSpc>
                <a:spcPct val="80000"/>
              </a:lnSpc>
              <a:buFont typeface="Wingdings" pitchFamily="2" charset="2"/>
              <a:buNone/>
            </a:pPr>
            <a:endParaRPr lang="en-US" sz="2000" dirty="0"/>
          </a:p>
          <a:p>
            <a:pPr>
              <a:lnSpc>
                <a:spcPct val="80000"/>
              </a:lnSpc>
            </a:pPr>
            <a:r>
              <a:rPr lang="en-US" sz="2800" b="1" dirty="0">
                <a:latin typeface="Arial" charset="0"/>
              </a:rPr>
              <a:t>Mapping EER Model Constructs to Relations</a:t>
            </a:r>
            <a:r>
              <a:rPr lang="en-US" sz="2800" b="1" dirty="0"/>
              <a:t> </a:t>
            </a:r>
          </a:p>
          <a:p>
            <a:pPr>
              <a:lnSpc>
                <a:spcPct val="80000"/>
              </a:lnSpc>
              <a:buFont typeface="Wingdings" pitchFamily="2" charset="2"/>
              <a:buNone/>
            </a:pPr>
            <a:r>
              <a:rPr lang="en-US" sz="1000" b="1" dirty="0"/>
              <a:t>	</a:t>
            </a:r>
          </a:p>
          <a:p>
            <a:pPr>
              <a:lnSpc>
                <a:spcPct val="80000"/>
              </a:lnSpc>
              <a:buFont typeface="Wingdings" pitchFamily="2" charset="2"/>
              <a:buNone/>
            </a:pPr>
            <a:r>
              <a:rPr lang="en-US" sz="2000" b="1" dirty="0"/>
              <a:t>     </a:t>
            </a:r>
            <a:r>
              <a:rPr lang="en-US" sz="2000" dirty="0"/>
              <a:t>Step 8: Options for Mapping Specialization or Generalization.</a:t>
            </a:r>
          </a:p>
          <a:p>
            <a:pPr>
              <a:lnSpc>
                <a:spcPct val="80000"/>
              </a:lnSpc>
              <a:buFont typeface="Wingdings" pitchFamily="2" charset="2"/>
              <a:buNone/>
            </a:pPr>
            <a:r>
              <a:rPr lang="en-US" sz="2000" dirty="0"/>
              <a:t>     Step 9: Mapping of Union Types (Categories).</a:t>
            </a:r>
          </a:p>
          <a:p>
            <a:pPr>
              <a:lnSpc>
                <a:spcPct val="80000"/>
              </a:lnSpc>
              <a:buFont typeface="Wingdings" pitchFamily="2" charset="2"/>
              <a:buNone/>
            </a:pPr>
            <a:endParaRPr lang="en-US" sz="20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609600" y="1371600"/>
            <a:ext cx="7772400" cy="766762"/>
          </a:xfrm>
        </p:spPr>
        <p:txBody>
          <a:bodyPr>
            <a:normAutofit fontScale="90000"/>
          </a:bodyPr>
          <a:lstStyle/>
          <a:p>
            <a:r>
              <a:rPr lang="en-US" b="1" dirty="0"/>
              <a:t/>
            </a:r>
            <a:br>
              <a:rPr lang="en-US" b="1" dirty="0"/>
            </a:br>
            <a:r>
              <a:rPr lang="en-US" sz="3600" b="1" dirty="0"/>
              <a:t>ER-to-Relational Mapping Algorithm</a:t>
            </a:r>
            <a:endParaRPr lang="en-US" sz="3600" dirty="0"/>
          </a:p>
        </p:txBody>
      </p:sp>
      <p:sp>
        <p:nvSpPr>
          <p:cNvPr id="123907" name="Rectangle 3"/>
          <p:cNvSpPr>
            <a:spLocks noGrp="1" noChangeArrowheads="1"/>
          </p:cNvSpPr>
          <p:nvPr>
            <p:ph type="body" idx="1"/>
          </p:nvPr>
        </p:nvSpPr>
        <p:spPr>
          <a:xfrm>
            <a:off x="304800" y="2286000"/>
            <a:ext cx="8267700" cy="4324350"/>
          </a:xfrm>
        </p:spPr>
        <p:txBody>
          <a:bodyPr/>
          <a:lstStyle/>
          <a:p>
            <a:pPr>
              <a:lnSpc>
                <a:spcPct val="80000"/>
              </a:lnSpc>
            </a:pPr>
            <a:r>
              <a:rPr lang="en-US" sz="2000" b="1" dirty="0">
                <a:latin typeface="Arial" charset="0"/>
              </a:rPr>
              <a:t>Step 1: Mapping of Regular Entity Types.</a:t>
            </a:r>
          </a:p>
          <a:p>
            <a:pPr>
              <a:lnSpc>
                <a:spcPct val="80000"/>
              </a:lnSpc>
              <a:buFont typeface="Wingdings" pitchFamily="2" charset="2"/>
              <a:buNone/>
            </a:pPr>
            <a:endParaRPr lang="en-US" sz="2000" b="1" dirty="0">
              <a:latin typeface="Arial" charset="0"/>
            </a:endParaRPr>
          </a:p>
          <a:p>
            <a:pPr lvl="1">
              <a:lnSpc>
                <a:spcPct val="80000"/>
              </a:lnSpc>
            </a:pPr>
            <a:r>
              <a:rPr lang="en-US" sz="2000" dirty="0"/>
              <a:t>For each regular (strong) entity type E in the ER schema, create a     relation R that includes all the simple attributes of E.</a:t>
            </a:r>
          </a:p>
          <a:p>
            <a:pPr lvl="1">
              <a:lnSpc>
                <a:spcPct val="80000"/>
              </a:lnSpc>
            </a:pPr>
            <a:r>
              <a:rPr lang="en-US" sz="2000" dirty="0"/>
              <a:t>Choose one of the key attributes of E as the primary key for R. If the chosen key of E is composite, the set of simple attributes that form it will together form the primary key of R.</a:t>
            </a:r>
            <a:endParaRPr lang="en-US" sz="2000" b="1" dirty="0"/>
          </a:p>
          <a:p>
            <a:pPr lvl="1">
              <a:lnSpc>
                <a:spcPct val="80000"/>
              </a:lnSpc>
              <a:buFontTx/>
              <a:buNone/>
            </a:pPr>
            <a:endParaRPr lang="en-US" sz="2000" dirty="0"/>
          </a:p>
          <a:p>
            <a:pPr lvl="1">
              <a:lnSpc>
                <a:spcPct val="80000"/>
              </a:lnSpc>
              <a:buFontTx/>
              <a:buNone/>
            </a:pPr>
            <a:r>
              <a:rPr lang="en-US" sz="2900" dirty="0"/>
              <a:t>	</a:t>
            </a:r>
            <a:r>
              <a:rPr lang="en-US" sz="2000" b="1" dirty="0"/>
              <a:t>Example:</a:t>
            </a:r>
            <a:r>
              <a:rPr lang="en-US" sz="2000" dirty="0"/>
              <a:t> We create the relations EMPLOYEE, DEPARTMENT, and PROJECT in the relational schema corresponding to the regular entities in the ER diagram. SSN, DNUMBER, and PNUMBER are the primary keys for the relations EMPLOYEE, DEPARTMENT, and PROJECT as shown.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1026"/>
          <p:cNvSpPr>
            <a:spLocks noGrp="1" noChangeArrowheads="1"/>
          </p:cNvSpPr>
          <p:nvPr>
            <p:ph type="title"/>
          </p:nvPr>
        </p:nvSpPr>
        <p:spPr>
          <a:xfrm>
            <a:off x="533400" y="1066800"/>
            <a:ext cx="2022475" cy="4940300"/>
          </a:xfrm>
        </p:spPr>
        <p:txBody>
          <a:bodyPr anchor="t"/>
          <a:lstStyle/>
          <a:p>
            <a:pPr algn="l"/>
            <a:r>
              <a:rPr lang="en-US" sz="2400" b="1" dirty="0"/>
              <a:t>FIGURE 7.1</a:t>
            </a:r>
            <a:r>
              <a:rPr lang="en-US" sz="2400" dirty="0"/>
              <a:t/>
            </a:r>
            <a:br>
              <a:rPr lang="en-US" sz="2400" dirty="0"/>
            </a:br>
            <a:r>
              <a:rPr lang="en-US" sz="2400" dirty="0"/>
              <a:t>The ER conceptual schema diagram for the COMPANY database.</a:t>
            </a:r>
            <a:endParaRPr lang="en-US" dirty="0"/>
          </a:p>
        </p:txBody>
      </p:sp>
      <p:pic>
        <p:nvPicPr>
          <p:cNvPr id="226307" name="Picture 1027" descr="3.2.gif                                                        0001035BEeyore                         B91DCF3B:"/>
          <p:cNvPicPr>
            <a:picLocks noGrp="1" noChangeAspect="1" noChangeArrowheads="1"/>
          </p:cNvPicPr>
          <p:nvPr>
            <p:ph idx="1"/>
          </p:nvPr>
        </p:nvPicPr>
        <p:blipFill>
          <a:blip r:embed="rId2" cstate="print"/>
          <a:srcRect/>
          <a:stretch>
            <a:fillRect/>
          </a:stretch>
        </p:blipFill>
        <p:spPr>
          <a:xfrm>
            <a:off x="2667000" y="1498600"/>
            <a:ext cx="6208713" cy="5359400"/>
          </a:xfrm>
        </p:spPr>
      </p:pic>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a:xfrm>
            <a:off x="457200" y="914400"/>
            <a:ext cx="2203450" cy="2659063"/>
          </a:xfrm>
        </p:spPr>
        <p:txBody>
          <a:bodyPr anchor="t"/>
          <a:lstStyle/>
          <a:p>
            <a:pPr algn="l"/>
            <a:r>
              <a:rPr lang="en-US" sz="2400" b="1" dirty="0"/>
              <a:t>FIGURE 7.2</a:t>
            </a:r>
            <a:br>
              <a:rPr lang="en-US" sz="2400" b="1" dirty="0"/>
            </a:br>
            <a:r>
              <a:rPr lang="en-US" sz="2400" dirty="0"/>
              <a:t>Result of mapping the COMPANY ER schema into a relational schema.</a:t>
            </a:r>
            <a:endParaRPr lang="en-US" b="1" dirty="0"/>
          </a:p>
        </p:txBody>
      </p:sp>
      <p:pic>
        <p:nvPicPr>
          <p:cNvPr id="227331" name="Picture 3" descr="31755_FIG0707.gif                                              0001035BEeyore                         B91DCF3B:"/>
          <p:cNvPicPr>
            <a:picLocks noGrp="1" noChangeAspect="1" noChangeArrowheads="1"/>
          </p:cNvPicPr>
          <p:nvPr>
            <p:ph idx="1"/>
          </p:nvPr>
        </p:nvPicPr>
        <p:blipFill>
          <a:blip r:embed="rId2" cstate="print"/>
          <a:srcRect/>
          <a:stretch>
            <a:fillRect/>
          </a:stretch>
        </p:blipFill>
        <p:spPr>
          <a:xfrm>
            <a:off x="2819400" y="2133600"/>
            <a:ext cx="5975350" cy="4298950"/>
          </a:xfrm>
        </p:spPr>
      </p:pic>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1026"/>
          <p:cNvSpPr>
            <a:spLocks noGrp="1" noChangeArrowheads="1"/>
          </p:cNvSpPr>
          <p:nvPr>
            <p:ph type="title"/>
          </p:nvPr>
        </p:nvSpPr>
        <p:spPr>
          <a:xfrm>
            <a:off x="381000" y="1066800"/>
            <a:ext cx="7772400" cy="766762"/>
          </a:xfrm>
        </p:spPr>
        <p:txBody>
          <a:bodyPr>
            <a:normAutofit fontScale="90000"/>
          </a:bodyPr>
          <a:lstStyle/>
          <a:p>
            <a:r>
              <a:rPr lang="en-US" b="1" dirty="0"/>
              <a:t/>
            </a:r>
            <a:br>
              <a:rPr lang="en-US" b="1" dirty="0"/>
            </a:br>
            <a:r>
              <a:rPr lang="en-US" sz="3600" b="1" dirty="0"/>
              <a:t>ER-to-Relational Mapping Algorithm (cont)</a:t>
            </a:r>
            <a:endParaRPr lang="en-US" sz="3600" dirty="0"/>
          </a:p>
        </p:txBody>
      </p:sp>
      <p:sp>
        <p:nvSpPr>
          <p:cNvPr id="207875" name="Rectangle 1027"/>
          <p:cNvSpPr>
            <a:spLocks noGrp="1" noChangeArrowheads="1"/>
          </p:cNvSpPr>
          <p:nvPr>
            <p:ph type="body" idx="1"/>
          </p:nvPr>
        </p:nvSpPr>
        <p:spPr>
          <a:xfrm>
            <a:off x="533400" y="2209800"/>
            <a:ext cx="8248650" cy="4886325"/>
          </a:xfrm>
        </p:spPr>
        <p:txBody>
          <a:bodyPr>
            <a:normAutofit fontScale="92500" lnSpcReduction="10000"/>
          </a:bodyPr>
          <a:lstStyle/>
          <a:p>
            <a:pPr>
              <a:lnSpc>
                <a:spcPct val="80000"/>
              </a:lnSpc>
            </a:pPr>
            <a:r>
              <a:rPr lang="en-US" sz="2000" b="1" dirty="0">
                <a:latin typeface="Arial" charset="0"/>
              </a:rPr>
              <a:t>Step 2: Mapping of Weak Entity Types</a:t>
            </a:r>
          </a:p>
          <a:p>
            <a:pPr>
              <a:lnSpc>
                <a:spcPct val="80000"/>
              </a:lnSpc>
              <a:buFont typeface="Wingdings" pitchFamily="2" charset="2"/>
              <a:buNone/>
            </a:pPr>
            <a:endParaRPr lang="en-US" sz="2000" b="1" dirty="0">
              <a:latin typeface="Arial" charset="0"/>
            </a:endParaRPr>
          </a:p>
          <a:p>
            <a:pPr lvl="1">
              <a:lnSpc>
                <a:spcPct val="80000"/>
              </a:lnSpc>
            </a:pPr>
            <a:r>
              <a:rPr lang="en-US" sz="2000" dirty="0"/>
              <a:t>For each weak entity type W in the ER schema with owner entity type E, create a relation R and include all simple attributes (or simple components of composite attributes) of W as attributes of R.</a:t>
            </a:r>
          </a:p>
          <a:p>
            <a:pPr lvl="1">
              <a:lnSpc>
                <a:spcPct val="80000"/>
              </a:lnSpc>
            </a:pPr>
            <a:r>
              <a:rPr lang="en-US" sz="2000" dirty="0"/>
              <a:t>In addition, include as foreign key attributes of R the primary key attribute(s) of the relation(s) that correspond to the owner entity type(s).</a:t>
            </a:r>
          </a:p>
          <a:p>
            <a:pPr lvl="1">
              <a:lnSpc>
                <a:spcPct val="80000"/>
              </a:lnSpc>
            </a:pPr>
            <a:r>
              <a:rPr lang="en-US" sz="2000" dirty="0"/>
              <a:t>The primary key of R is the </a:t>
            </a:r>
            <a:r>
              <a:rPr lang="en-US" sz="2000" i="1" dirty="0"/>
              <a:t>combination of</a:t>
            </a:r>
            <a:r>
              <a:rPr lang="en-US" sz="2000" dirty="0"/>
              <a:t> the primary key(s) of the owner(s) and the partial key of the weak entity type W, if any.</a:t>
            </a:r>
          </a:p>
          <a:p>
            <a:pPr lvl="1">
              <a:lnSpc>
                <a:spcPct val="80000"/>
              </a:lnSpc>
            </a:pPr>
            <a:endParaRPr lang="en-US" sz="2000" dirty="0"/>
          </a:p>
          <a:p>
            <a:pPr lvl="1">
              <a:lnSpc>
                <a:spcPct val="80000"/>
              </a:lnSpc>
              <a:buFontTx/>
              <a:buNone/>
            </a:pPr>
            <a:r>
              <a:rPr lang="en-US" sz="1100" dirty="0"/>
              <a:t>         </a:t>
            </a:r>
            <a:r>
              <a:rPr lang="en-US" sz="2000" b="1" dirty="0"/>
              <a:t>Example:</a:t>
            </a:r>
            <a:r>
              <a:rPr lang="en-US" sz="2000" dirty="0"/>
              <a:t> Create the relation DEPENDENT in this step to correspond to the weak entity type DEPENDENT. Include the primary key SSN of the EMPLOYEE relation as a foreign key attribute of DEPENDENT (renamed to ESSN). </a:t>
            </a:r>
          </a:p>
          <a:p>
            <a:pPr lvl="1">
              <a:lnSpc>
                <a:spcPct val="80000"/>
              </a:lnSpc>
              <a:buFontTx/>
              <a:buNone/>
            </a:pPr>
            <a:r>
              <a:rPr lang="en-US" sz="2000" dirty="0"/>
              <a:t>    The primary key of the DEPENDENT relation is the combination {ESSN, DEPENDENT_NAME} because DEPENDENT_NAME is the partial key of DEPENDENT. </a:t>
            </a:r>
            <a:endParaRPr lang="en-US" sz="3100" dirty="0"/>
          </a:p>
          <a:p>
            <a:pPr>
              <a:lnSpc>
                <a:spcPct val="80000"/>
              </a:lnSpc>
              <a:buFont typeface="Wingdings" pitchFamily="2" charset="2"/>
              <a:buNone/>
            </a:pPr>
            <a:endParaRPr lang="en-US" sz="2000" dirty="0"/>
          </a:p>
          <a:p>
            <a:pPr>
              <a:lnSpc>
                <a:spcPct val="80000"/>
              </a:lnSpc>
              <a:buFont typeface="Wingdings" pitchFamily="2" charset="2"/>
              <a:buNone/>
            </a:pPr>
            <a:r>
              <a:rPr lang="en-US" sz="2000" dirty="0"/>
              <a:t>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pic>
        <p:nvPicPr>
          <p:cNvPr id="1026" name="Picture 2" descr="C:\Users\Mehtab\Desktop\Unnamed QQ Screenshot20200428105544.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073800"/>
            <a:ext cx="8229600" cy="532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6656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1026"/>
          <p:cNvSpPr>
            <a:spLocks noGrp="1" noChangeArrowheads="1"/>
          </p:cNvSpPr>
          <p:nvPr>
            <p:ph type="title"/>
          </p:nvPr>
        </p:nvSpPr>
        <p:spPr>
          <a:xfrm>
            <a:off x="533400" y="838200"/>
            <a:ext cx="7772400" cy="766762"/>
          </a:xfrm>
        </p:spPr>
        <p:txBody>
          <a:bodyPr>
            <a:normAutofit fontScale="90000"/>
          </a:bodyPr>
          <a:lstStyle/>
          <a:p>
            <a:r>
              <a:rPr lang="en-US" b="1"/>
              <a:t/>
            </a:r>
            <a:br>
              <a:rPr lang="en-US" b="1"/>
            </a:br>
            <a:r>
              <a:rPr lang="en-US" sz="3600" b="1"/>
              <a:t>ER-to-Relational Mapping Algorithm (cont)</a:t>
            </a:r>
            <a:endParaRPr lang="en-US" sz="3600"/>
          </a:p>
        </p:txBody>
      </p:sp>
      <p:sp>
        <p:nvSpPr>
          <p:cNvPr id="206851" name="Rectangle 1027"/>
          <p:cNvSpPr>
            <a:spLocks noGrp="1" noChangeArrowheads="1"/>
          </p:cNvSpPr>
          <p:nvPr>
            <p:ph type="body" idx="1"/>
          </p:nvPr>
        </p:nvSpPr>
        <p:spPr>
          <a:xfrm>
            <a:off x="304800" y="1905000"/>
            <a:ext cx="8658225" cy="4733925"/>
          </a:xfrm>
        </p:spPr>
        <p:txBody>
          <a:bodyPr/>
          <a:lstStyle/>
          <a:p>
            <a:pPr>
              <a:lnSpc>
                <a:spcPct val="80000"/>
              </a:lnSpc>
            </a:pPr>
            <a:r>
              <a:rPr lang="en-US" sz="2000" b="1" dirty="0">
                <a:latin typeface="Arial" charset="0"/>
              </a:rPr>
              <a:t>Step 3: Mapping of Binary 1:1 Relation Types</a:t>
            </a:r>
          </a:p>
          <a:p>
            <a:pPr>
              <a:lnSpc>
                <a:spcPct val="80000"/>
              </a:lnSpc>
              <a:buFont typeface="Wingdings" pitchFamily="2" charset="2"/>
              <a:buNone/>
            </a:pPr>
            <a:endParaRPr lang="en-US" sz="1400" b="1" dirty="0">
              <a:latin typeface="Arial" charset="0"/>
            </a:endParaRPr>
          </a:p>
          <a:p>
            <a:pPr>
              <a:lnSpc>
                <a:spcPct val="80000"/>
              </a:lnSpc>
              <a:buFont typeface="Wingdings" pitchFamily="2" charset="2"/>
              <a:buNone/>
            </a:pPr>
            <a:r>
              <a:rPr lang="en-US" sz="600" dirty="0"/>
              <a:t>                 </a:t>
            </a:r>
            <a:r>
              <a:rPr lang="en-US" sz="2000" dirty="0"/>
              <a:t>For each binary 1:1 relationship type R in the ER schema, identify the relations S and T that correspond to the entity types participating in R. There are three possible approaches:</a:t>
            </a:r>
          </a:p>
          <a:p>
            <a:pPr>
              <a:lnSpc>
                <a:spcPct val="80000"/>
              </a:lnSpc>
              <a:buFont typeface="Wingdings" pitchFamily="2" charset="2"/>
              <a:buNone/>
            </a:pPr>
            <a:endParaRPr lang="en-US" sz="1200" dirty="0"/>
          </a:p>
          <a:p>
            <a:pPr>
              <a:lnSpc>
                <a:spcPct val="80000"/>
              </a:lnSpc>
              <a:buFont typeface="Wingdings" pitchFamily="2" charset="2"/>
              <a:buNone/>
            </a:pPr>
            <a:r>
              <a:rPr lang="en-US" sz="1400" dirty="0"/>
              <a:t>      </a:t>
            </a:r>
            <a:r>
              <a:rPr lang="en-US" sz="1600" dirty="0"/>
              <a:t>(1) </a:t>
            </a:r>
            <a:r>
              <a:rPr lang="en-US" sz="1600" u="sng" dirty="0"/>
              <a:t>Foreign Key approach:</a:t>
            </a:r>
            <a:r>
              <a:rPr lang="en-US" sz="1600" dirty="0"/>
              <a:t> Choose one of the relations-S, say-and include a foreign key in S the primary key of T. It is better to choose an entity type with </a:t>
            </a:r>
            <a:r>
              <a:rPr lang="en-US" sz="1600" i="1" dirty="0"/>
              <a:t>total participation </a:t>
            </a:r>
            <a:r>
              <a:rPr lang="en-US" sz="1600" dirty="0"/>
              <a:t>in R in the role of S. </a:t>
            </a:r>
          </a:p>
          <a:p>
            <a:pPr>
              <a:lnSpc>
                <a:spcPct val="80000"/>
              </a:lnSpc>
              <a:buFont typeface="Wingdings" pitchFamily="2" charset="2"/>
              <a:buNone/>
            </a:pPr>
            <a:r>
              <a:rPr lang="en-US" sz="1600" dirty="0"/>
              <a:t>      </a:t>
            </a:r>
            <a:r>
              <a:rPr lang="en-US" sz="1600" b="1" dirty="0"/>
              <a:t>Example</a:t>
            </a:r>
            <a:r>
              <a:rPr lang="en-US" sz="1600" dirty="0"/>
              <a:t>: 1:1 relation MANAGES is mapped by choosing the participating entity type DEPARTMENT to serve in the role of S, because its participation in the MANAGES relationship type is total.</a:t>
            </a:r>
          </a:p>
          <a:p>
            <a:pPr>
              <a:lnSpc>
                <a:spcPct val="80000"/>
              </a:lnSpc>
              <a:buFont typeface="Wingdings" pitchFamily="2" charset="2"/>
              <a:buNone/>
            </a:pPr>
            <a:endParaRPr lang="en-US" sz="1600" dirty="0"/>
          </a:p>
          <a:p>
            <a:pPr>
              <a:lnSpc>
                <a:spcPct val="80000"/>
              </a:lnSpc>
              <a:buFont typeface="Wingdings" pitchFamily="2" charset="2"/>
              <a:buNone/>
            </a:pPr>
            <a:r>
              <a:rPr lang="en-US" sz="1600" dirty="0"/>
              <a:t>     (2) </a:t>
            </a:r>
            <a:r>
              <a:rPr lang="en-US" sz="1600" u="sng" dirty="0"/>
              <a:t>Merged relation option:</a:t>
            </a:r>
            <a:r>
              <a:rPr lang="en-US" sz="1600" dirty="0"/>
              <a:t> An alternate mapping of a 1:1 relationship type is possible by merging the two entity types and the relationship into a single relation. This may be appropriate when </a:t>
            </a:r>
            <a:r>
              <a:rPr lang="en-US" sz="1600" i="1" dirty="0"/>
              <a:t>both</a:t>
            </a:r>
            <a:r>
              <a:rPr lang="en-US" sz="1600" dirty="0"/>
              <a:t> </a:t>
            </a:r>
            <a:r>
              <a:rPr lang="en-US" sz="1600" i="1" dirty="0"/>
              <a:t>participations are total.</a:t>
            </a:r>
          </a:p>
          <a:p>
            <a:pPr>
              <a:lnSpc>
                <a:spcPct val="80000"/>
              </a:lnSpc>
              <a:buFont typeface="Wingdings" pitchFamily="2" charset="2"/>
              <a:buNone/>
            </a:pPr>
            <a:endParaRPr lang="en-US" sz="1600" i="1" dirty="0"/>
          </a:p>
          <a:p>
            <a:pPr>
              <a:lnSpc>
                <a:spcPct val="80000"/>
              </a:lnSpc>
              <a:buFont typeface="Wingdings" pitchFamily="2" charset="2"/>
              <a:buNone/>
            </a:pPr>
            <a:r>
              <a:rPr lang="en-US" sz="1600" i="1" dirty="0"/>
              <a:t>     </a:t>
            </a:r>
            <a:r>
              <a:rPr lang="en-US" sz="1600" dirty="0"/>
              <a:t>(3) </a:t>
            </a:r>
            <a:r>
              <a:rPr lang="en-US" sz="1600" u="sng" dirty="0"/>
              <a:t>Cross-reference or relationship relation option:</a:t>
            </a:r>
            <a:r>
              <a:rPr lang="en-US" sz="1600" dirty="0"/>
              <a:t> The third alternative is to set up a third relation R for the purpose of cross-referencing the primary keys of the two relations S and T representing the entity types. </a:t>
            </a:r>
          </a:p>
          <a:p>
            <a:pPr>
              <a:lnSpc>
                <a:spcPct val="80000"/>
              </a:lnSpc>
              <a:buFont typeface="Wingdings" pitchFamily="2" charset="2"/>
              <a:buNone/>
            </a:pPr>
            <a:endParaRPr lang="en-US" sz="1600" dirty="0"/>
          </a:p>
          <a:p>
            <a:pPr>
              <a:lnSpc>
                <a:spcPct val="80000"/>
              </a:lnSpc>
              <a:buFont typeface="Wingdings" pitchFamily="2" charset="2"/>
              <a:buNone/>
            </a:pPr>
            <a:endParaRPr lang="en-US" sz="6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a:xfrm>
            <a:off x="685800" y="762000"/>
            <a:ext cx="7772400" cy="766762"/>
          </a:xfrm>
        </p:spPr>
        <p:txBody>
          <a:bodyPr>
            <a:normAutofit fontScale="90000"/>
          </a:bodyPr>
          <a:lstStyle/>
          <a:p>
            <a:r>
              <a:rPr lang="en-US" sz="3600" b="1" dirty="0"/>
              <a:t/>
            </a:r>
            <a:br>
              <a:rPr lang="en-US" sz="3600" b="1" dirty="0"/>
            </a:br>
            <a:r>
              <a:rPr lang="en-US" sz="3600" b="1" dirty="0"/>
              <a:t>ER-to-Relational Mapping Algorithm (cont)</a:t>
            </a:r>
            <a:endParaRPr lang="en-US" sz="3600" dirty="0"/>
          </a:p>
        </p:txBody>
      </p:sp>
      <p:sp>
        <p:nvSpPr>
          <p:cNvPr id="205827" name="Rectangle 3"/>
          <p:cNvSpPr>
            <a:spLocks noGrp="1" noChangeArrowheads="1"/>
          </p:cNvSpPr>
          <p:nvPr>
            <p:ph type="body" idx="1"/>
          </p:nvPr>
        </p:nvSpPr>
        <p:spPr>
          <a:xfrm>
            <a:off x="457200" y="1905000"/>
            <a:ext cx="8248650" cy="4724400"/>
          </a:xfrm>
        </p:spPr>
        <p:txBody>
          <a:bodyPr/>
          <a:lstStyle/>
          <a:p>
            <a:r>
              <a:rPr lang="en-US" sz="2000" b="1" dirty="0">
                <a:latin typeface="Arial" charset="0"/>
              </a:rPr>
              <a:t>Step 4: Mapping of Binary 1:N Relationship Types.</a:t>
            </a:r>
          </a:p>
          <a:p>
            <a:pPr>
              <a:buFont typeface="Wingdings" pitchFamily="2" charset="2"/>
              <a:buNone/>
            </a:pPr>
            <a:endParaRPr lang="en-US" sz="1400" b="1" dirty="0">
              <a:latin typeface="Arial" charset="0"/>
            </a:endParaRPr>
          </a:p>
          <a:p>
            <a:pPr lvl="1"/>
            <a:r>
              <a:rPr lang="en-US" sz="2000" dirty="0"/>
              <a:t>For each regular binary 1:N relationship type R, identify the relation S that represent the participating entity type at the N-side of the relationship type. </a:t>
            </a:r>
          </a:p>
          <a:p>
            <a:pPr lvl="1"/>
            <a:r>
              <a:rPr lang="en-US" sz="2000" dirty="0"/>
              <a:t>Include as foreign key in S the primary key of the relation T that represents the other entity type participating in R. </a:t>
            </a:r>
          </a:p>
          <a:p>
            <a:pPr lvl="1"/>
            <a:r>
              <a:rPr lang="en-US" sz="2000" dirty="0"/>
              <a:t>Include any simple attributes of the 1:N relation type as attributes of S.</a:t>
            </a:r>
            <a:r>
              <a:rPr lang="en-US" sz="1800" dirty="0"/>
              <a:t> </a:t>
            </a:r>
          </a:p>
          <a:p>
            <a:pPr>
              <a:buFont typeface="Wingdings" pitchFamily="2" charset="2"/>
              <a:buNone/>
            </a:pPr>
            <a:endParaRPr lang="en-US" sz="1000" dirty="0"/>
          </a:p>
          <a:p>
            <a:pPr lvl="1">
              <a:buFontTx/>
              <a:buNone/>
            </a:pPr>
            <a:r>
              <a:rPr lang="en-US" sz="1800" dirty="0"/>
              <a:t>     </a:t>
            </a:r>
            <a:r>
              <a:rPr lang="en-US" sz="2000" b="1" dirty="0"/>
              <a:t>Example:</a:t>
            </a:r>
            <a:r>
              <a:rPr lang="en-US" sz="2000" dirty="0"/>
              <a:t> 1:N relationship types WORKS_FOR, CONTROLS, and SUPERVISION in the figure. For WORKS_FOR we include the primary key DNUMBER of the DEPARTMENT relation as foreign key in the EMPLOYEE relation and call it DNO.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1026"/>
          <p:cNvSpPr>
            <a:spLocks noGrp="1" noChangeArrowheads="1"/>
          </p:cNvSpPr>
          <p:nvPr>
            <p:ph type="title"/>
          </p:nvPr>
        </p:nvSpPr>
        <p:spPr>
          <a:xfrm>
            <a:off x="533400" y="1066800"/>
            <a:ext cx="2022475" cy="4940300"/>
          </a:xfrm>
        </p:spPr>
        <p:txBody>
          <a:bodyPr anchor="t"/>
          <a:lstStyle/>
          <a:p>
            <a:pPr algn="l"/>
            <a:r>
              <a:rPr lang="en-US" sz="2400" b="1" dirty="0"/>
              <a:t>FIGURE 7.1</a:t>
            </a:r>
            <a:r>
              <a:rPr lang="en-US" sz="2400" dirty="0"/>
              <a:t/>
            </a:r>
            <a:br>
              <a:rPr lang="en-US" sz="2400" dirty="0"/>
            </a:br>
            <a:r>
              <a:rPr lang="en-US" sz="2400" dirty="0"/>
              <a:t>The ER conceptual schema diagram for the COMPANY database.</a:t>
            </a:r>
            <a:endParaRPr lang="en-US" dirty="0"/>
          </a:p>
        </p:txBody>
      </p:sp>
      <p:pic>
        <p:nvPicPr>
          <p:cNvPr id="226307" name="Picture 1027" descr="3.2.gif                                                        0001035BEeyore                         B91DCF3B:"/>
          <p:cNvPicPr>
            <a:picLocks noGrp="1" noChangeAspect="1" noChangeArrowheads="1"/>
          </p:cNvPicPr>
          <p:nvPr>
            <p:ph idx="1"/>
          </p:nvPr>
        </p:nvPicPr>
        <p:blipFill>
          <a:blip r:embed="rId2" cstate="print"/>
          <a:srcRect/>
          <a:stretch>
            <a:fillRect/>
          </a:stretch>
        </p:blipFill>
        <p:spPr>
          <a:xfrm>
            <a:off x="2667000" y="1498600"/>
            <a:ext cx="6208713" cy="5359400"/>
          </a:xfrm>
        </p:spPr>
      </p:pic>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13521255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a:xfrm>
            <a:off x="685800" y="762000"/>
            <a:ext cx="7772400" cy="766762"/>
          </a:xfrm>
        </p:spPr>
        <p:txBody>
          <a:bodyPr>
            <a:normAutofit fontScale="90000"/>
          </a:bodyPr>
          <a:lstStyle/>
          <a:p>
            <a:r>
              <a:rPr lang="en-US" sz="3600" b="1" dirty="0"/>
              <a:t/>
            </a:r>
            <a:br>
              <a:rPr lang="en-US" sz="3600" b="1" dirty="0"/>
            </a:br>
            <a:r>
              <a:rPr lang="en-US" sz="3600" b="1" dirty="0"/>
              <a:t>ER-to-Relational Mapping Algorithm (cont)</a:t>
            </a:r>
            <a:endParaRPr lang="en-US" sz="3600" dirty="0"/>
          </a:p>
        </p:txBody>
      </p:sp>
      <p:sp>
        <p:nvSpPr>
          <p:cNvPr id="211971" name="Rectangle 3"/>
          <p:cNvSpPr>
            <a:spLocks noGrp="1" noChangeArrowheads="1"/>
          </p:cNvSpPr>
          <p:nvPr>
            <p:ph type="body" idx="1"/>
          </p:nvPr>
        </p:nvSpPr>
        <p:spPr>
          <a:xfrm>
            <a:off x="304800" y="1838325"/>
            <a:ext cx="8582025" cy="5019675"/>
          </a:xfrm>
        </p:spPr>
        <p:txBody>
          <a:bodyPr/>
          <a:lstStyle/>
          <a:p>
            <a:pPr>
              <a:lnSpc>
                <a:spcPct val="80000"/>
              </a:lnSpc>
            </a:pPr>
            <a:r>
              <a:rPr lang="en-US" sz="2000" b="1" dirty="0">
                <a:latin typeface="Arial" charset="0"/>
              </a:rPr>
              <a:t>Step 5: Mapping of Binary M:N Relationship Types.</a:t>
            </a:r>
          </a:p>
          <a:p>
            <a:pPr>
              <a:lnSpc>
                <a:spcPct val="80000"/>
              </a:lnSpc>
              <a:buFont typeface="Wingdings" pitchFamily="2" charset="2"/>
              <a:buNone/>
            </a:pPr>
            <a:endParaRPr lang="en-US" sz="2000" b="1" dirty="0">
              <a:latin typeface="Arial" charset="0"/>
            </a:endParaRPr>
          </a:p>
          <a:p>
            <a:pPr lvl="1">
              <a:lnSpc>
                <a:spcPct val="80000"/>
              </a:lnSpc>
            </a:pPr>
            <a:r>
              <a:rPr lang="en-US" sz="2000" dirty="0"/>
              <a:t>For each regular binary M:N relationship type R, </a:t>
            </a:r>
            <a:r>
              <a:rPr lang="en-US" sz="2000" i="1" dirty="0"/>
              <a:t>create a new relation</a:t>
            </a:r>
            <a:r>
              <a:rPr lang="en-US" sz="2000" dirty="0"/>
              <a:t> S to represent R. </a:t>
            </a:r>
          </a:p>
          <a:p>
            <a:pPr lvl="1">
              <a:lnSpc>
                <a:spcPct val="80000"/>
              </a:lnSpc>
            </a:pPr>
            <a:r>
              <a:rPr lang="en-US" sz="2000" dirty="0"/>
              <a:t>Include as foreign key attributes in S the primary keys of the relations that represent the participating entity types; </a:t>
            </a:r>
            <a:r>
              <a:rPr lang="en-US" sz="2000" i="1" dirty="0"/>
              <a:t>their combination will form the primary key</a:t>
            </a:r>
            <a:r>
              <a:rPr lang="en-US" sz="2000" dirty="0"/>
              <a:t> of S. </a:t>
            </a:r>
          </a:p>
          <a:p>
            <a:pPr lvl="1">
              <a:lnSpc>
                <a:spcPct val="80000"/>
              </a:lnSpc>
            </a:pPr>
            <a:r>
              <a:rPr lang="en-US" sz="2000" dirty="0"/>
              <a:t>Also include any simple attributes of the M:N relationship type (or simple components of composite attributes) as attributes of S.</a:t>
            </a:r>
          </a:p>
          <a:p>
            <a:pPr lvl="1">
              <a:lnSpc>
                <a:spcPct val="80000"/>
              </a:lnSpc>
              <a:buFontTx/>
              <a:buNone/>
            </a:pPr>
            <a:r>
              <a:rPr lang="en-US" sz="1600" dirty="0"/>
              <a:t>     </a:t>
            </a:r>
          </a:p>
          <a:p>
            <a:pPr lvl="1">
              <a:lnSpc>
                <a:spcPct val="80000"/>
              </a:lnSpc>
              <a:buFontTx/>
              <a:buNone/>
            </a:pPr>
            <a:r>
              <a:rPr lang="en-US" sz="1800" dirty="0"/>
              <a:t>     </a:t>
            </a:r>
            <a:r>
              <a:rPr lang="en-US" sz="2000" b="1" dirty="0"/>
              <a:t>Example:</a:t>
            </a:r>
            <a:r>
              <a:rPr lang="en-US" sz="2000" dirty="0"/>
              <a:t> The M:N relationship type WORKS_ON from the ER  diagram is mapped by creating a relation WORKS_ON in the relational database schema. The primary keys of the PROJECT and EMPLOYEE relations are included as foreign keys in WORKS_ON and renamed PNO and ESSN, respectively. </a:t>
            </a:r>
          </a:p>
          <a:p>
            <a:pPr lvl="1">
              <a:lnSpc>
                <a:spcPct val="80000"/>
              </a:lnSpc>
              <a:buFontTx/>
              <a:buNone/>
            </a:pPr>
            <a:r>
              <a:rPr lang="en-US" sz="2000" dirty="0"/>
              <a:t>    Attribute HOURS in WORKS_ON represents the HOURS attribute of the relation type. The primary key of the WORKS_ON relation is the combination of the foreign key attributes {ESSN, PNO}.  </a:t>
            </a:r>
            <a:endParaRPr lang="en-US" sz="1400" dirty="0"/>
          </a:p>
          <a:p>
            <a:pPr lvl="1">
              <a:lnSpc>
                <a:spcPct val="80000"/>
              </a:lnSpc>
              <a:buFontTx/>
              <a:buNone/>
            </a:pPr>
            <a:endParaRPr lang="en-US" sz="1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a:xfrm>
            <a:off x="685800" y="914400"/>
            <a:ext cx="7772400" cy="766762"/>
          </a:xfrm>
        </p:spPr>
        <p:txBody>
          <a:bodyPr>
            <a:normAutofit fontScale="90000"/>
          </a:bodyPr>
          <a:lstStyle/>
          <a:p>
            <a:r>
              <a:rPr lang="en-US" sz="3600" b="1" dirty="0"/>
              <a:t/>
            </a:r>
            <a:br>
              <a:rPr lang="en-US" sz="3600" b="1" dirty="0"/>
            </a:br>
            <a:r>
              <a:rPr lang="en-US" sz="3600" b="1" dirty="0"/>
              <a:t>ER-to-Relational Mapping Algorithm (cont)</a:t>
            </a:r>
            <a:endParaRPr lang="en-US" sz="3600" dirty="0"/>
          </a:p>
        </p:txBody>
      </p:sp>
      <p:sp>
        <p:nvSpPr>
          <p:cNvPr id="212995" name="Rectangle 3"/>
          <p:cNvSpPr>
            <a:spLocks noGrp="1" noChangeArrowheads="1"/>
          </p:cNvSpPr>
          <p:nvPr>
            <p:ph type="body" idx="1"/>
          </p:nvPr>
        </p:nvSpPr>
        <p:spPr>
          <a:xfrm>
            <a:off x="304800" y="2000250"/>
            <a:ext cx="8562975" cy="4857750"/>
          </a:xfrm>
        </p:spPr>
        <p:txBody>
          <a:bodyPr>
            <a:normAutofit lnSpcReduction="10000"/>
          </a:bodyPr>
          <a:lstStyle/>
          <a:p>
            <a:r>
              <a:rPr lang="en-US" sz="2000" b="1" dirty="0">
                <a:latin typeface="Arial" charset="0"/>
              </a:rPr>
              <a:t>Step 6: Mapping of </a:t>
            </a:r>
            <a:r>
              <a:rPr lang="en-US" sz="2000" b="1" dirty="0" err="1">
                <a:latin typeface="Arial" charset="0"/>
              </a:rPr>
              <a:t>Multivalued</a:t>
            </a:r>
            <a:r>
              <a:rPr lang="en-US" sz="2000" b="1" dirty="0">
                <a:latin typeface="Arial" charset="0"/>
              </a:rPr>
              <a:t> attributes.</a:t>
            </a:r>
          </a:p>
          <a:p>
            <a:pPr>
              <a:buFont typeface="Wingdings" pitchFamily="2" charset="2"/>
              <a:buNone/>
            </a:pPr>
            <a:endParaRPr lang="en-US" sz="1400" b="1" dirty="0">
              <a:latin typeface="Arial" charset="0"/>
            </a:endParaRPr>
          </a:p>
          <a:p>
            <a:pPr lvl="1"/>
            <a:r>
              <a:rPr lang="en-US" sz="2000" dirty="0"/>
              <a:t>For each </a:t>
            </a:r>
            <a:r>
              <a:rPr lang="en-US" sz="2000" dirty="0" err="1"/>
              <a:t>multivalued</a:t>
            </a:r>
            <a:r>
              <a:rPr lang="en-US" sz="2000" dirty="0"/>
              <a:t> attribute A, create a new relation R. This relation R will include an attribute corresponding to A, plus the primary key attribute K-as a foreign key in R-of the relation that represents the entity type of relationship type that has A as an attribute. </a:t>
            </a:r>
          </a:p>
          <a:p>
            <a:pPr lvl="1"/>
            <a:r>
              <a:rPr lang="en-US" sz="2000" dirty="0"/>
              <a:t>The primary key of R is the combination of A and K. If the </a:t>
            </a:r>
            <a:r>
              <a:rPr lang="en-US" sz="2000" dirty="0" err="1"/>
              <a:t>multivalued</a:t>
            </a:r>
            <a:r>
              <a:rPr lang="en-US" sz="2000" dirty="0"/>
              <a:t> attribute is composite, we include its simple components. </a:t>
            </a:r>
          </a:p>
          <a:p>
            <a:pPr>
              <a:buFont typeface="Wingdings" pitchFamily="2" charset="2"/>
              <a:buNone/>
            </a:pPr>
            <a:endParaRPr lang="en-US" sz="2000" dirty="0"/>
          </a:p>
          <a:p>
            <a:pPr lvl="1">
              <a:buFontTx/>
              <a:buNone/>
            </a:pPr>
            <a:r>
              <a:rPr lang="en-US" sz="1800" dirty="0"/>
              <a:t>     </a:t>
            </a:r>
            <a:r>
              <a:rPr lang="en-US" sz="2000" b="1" dirty="0"/>
              <a:t>Example:</a:t>
            </a:r>
            <a:r>
              <a:rPr lang="en-US" sz="2000" dirty="0"/>
              <a:t> The relation DEPT_LOCATIONS is created. The attribute DLOCATION represents the </a:t>
            </a:r>
            <a:r>
              <a:rPr lang="en-US" sz="2000" dirty="0" err="1"/>
              <a:t>multivalued</a:t>
            </a:r>
            <a:r>
              <a:rPr lang="en-US" sz="2000" dirty="0"/>
              <a:t> attribute LOCATIONS of DEPARTMENT, while DNUMBER-as foreign key-represents the primary key of the DEPARTMENT relation. The primary key of R is the combination of {DNUMBER, DLOCATION}.</a:t>
            </a:r>
          </a:p>
          <a:p>
            <a:pPr lvl="1">
              <a:buFontTx/>
              <a:buNone/>
            </a:pPr>
            <a:endParaRPr lang="en-US" sz="20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685800" y="838200"/>
            <a:ext cx="7772400" cy="766762"/>
          </a:xfrm>
        </p:spPr>
        <p:txBody>
          <a:bodyPr>
            <a:normAutofit fontScale="90000"/>
          </a:bodyPr>
          <a:lstStyle/>
          <a:p>
            <a:r>
              <a:rPr lang="en-US" sz="3600" b="1" dirty="0"/>
              <a:t/>
            </a:r>
            <a:br>
              <a:rPr lang="en-US" sz="3600" b="1" dirty="0"/>
            </a:br>
            <a:r>
              <a:rPr lang="en-US" sz="3600" b="1" dirty="0"/>
              <a:t>ER-to-Relational Mapping Algorithm (cont)</a:t>
            </a:r>
            <a:endParaRPr lang="en-US" sz="3600" dirty="0"/>
          </a:p>
        </p:txBody>
      </p:sp>
      <p:sp>
        <p:nvSpPr>
          <p:cNvPr id="214019" name="Rectangle 3"/>
          <p:cNvSpPr>
            <a:spLocks noGrp="1" noChangeArrowheads="1"/>
          </p:cNvSpPr>
          <p:nvPr>
            <p:ph type="body" idx="1"/>
          </p:nvPr>
        </p:nvSpPr>
        <p:spPr>
          <a:xfrm>
            <a:off x="304800" y="1828800"/>
            <a:ext cx="8343900" cy="4724400"/>
          </a:xfrm>
        </p:spPr>
        <p:txBody>
          <a:bodyPr/>
          <a:lstStyle/>
          <a:p>
            <a:pPr>
              <a:lnSpc>
                <a:spcPct val="90000"/>
              </a:lnSpc>
            </a:pPr>
            <a:r>
              <a:rPr lang="en-US" sz="2400" b="1" dirty="0">
                <a:latin typeface="Arial" charset="0"/>
              </a:rPr>
              <a:t>Step 7: Mapping of N-</a:t>
            </a:r>
            <a:r>
              <a:rPr lang="en-US" sz="2400" b="1" dirty="0" err="1">
                <a:latin typeface="Arial" charset="0"/>
              </a:rPr>
              <a:t>ary</a:t>
            </a:r>
            <a:r>
              <a:rPr lang="en-US" sz="2400" b="1" dirty="0">
                <a:latin typeface="Arial" charset="0"/>
              </a:rPr>
              <a:t> Relationship Types.</a:t>
            </a:r>
          </a:p>
          <a:p>
            <a:pPr>
              <a:lnSpc>
                <a:spcPct val="90000"/>
              </a:lnSpc>
              <a:buFont typeface="Wingdings" pitchFamily="2" charset="2"/>
              <a:buNone/>
            </a:pPr>
            <a:endParaRPr lang="en-US" sz="1000" dirty="0"/>
          </a:p>
          <a:p>
            <a:pPr lvl="1">
              <a:lnSpc>
                <a:spcPct val="90000"/>
              </a:lnSpc>
            </a:pPr>
            <a:r>
              <a:rPr lang="en-US" sz="2400" dirty="0"/>
              <a:t>For each n-</a:t>
            </a:r>
            <a:r>
              <a:rPr lang="en-US" sz="2400" dirty="0" err="1"/>
              <a:t>ary</a:t>
            </a:r>
            <a:r>
              <a:rPr lang="en-US" sz="2400" dirty="0"/>
              <a:t> relationship type R, where n&gt;2, create a new relationship S to represent R.</a:t>
            </a:r>
          </a:p>
          <a:p>
            <a:pPr lvl="1">
              <a:lnSpc>
                <a:spcPct val="90000"/>
              </a:lnSpc>
            </a:pPr>
            <a:r>
              <a:rPr lang="en-US" sz="2400" dirty="0"/>
              <a:t>Include as foreign key attributes in S the primary keys of the relations that represent the participating entity types. </a:t>
            </a:r>
          </a:p>
          <a:p>
            <a:pPr lvl="1">
              <a:lnSpc>
                <a:spcPct val="90000"/>
              </a:lnSpc>
            </a:pPr>
            <a:r>
              <a:rPr lang="en-US" sz="2400" dirty="0"/>
              <a:t>Also include any simple attributes of the n-</a:t>
            </a:r>
            <a:r>
              <a:rPr lang="en-US" sz="2400" dirty="0" err="1"/>
              <a:t>ary</a:t>
            </a:r>
            <a:r>
              <a:rPr lang="en-US" sz="2400" dirty="0"/>
              <a:t> relationship type (or simple components of composite attributes) as attributes of S.</a:t>
            </a:r>
            <a:r>
              <a:rPr lang="en-US" sz="1800" dirty="0"/>
              <a:t> </a:t>
            </a:r>
          </a:p>
          <a:p>
            <a:pPr lvl="1">
              <a:lnSpc>
                <a:spcPct val="90000"/>
              </a:lnSpc>
              <a:buFontTx/>
              <a:buNone/>
            </a:pPr>
            <a:endParaRPr lang="en-US" sz="1000" dirty="0"/>
          </a:p>
          <a:p>
            <a:pPr lvl="1">
              <a:lnSpc>
                <a:spcPct val="90000"/>
              </a:lnSpc>
              <a:buFontTx/>
              <a:buNone/>
            </a:pPr>
            <a:r>
              <a:rPr lang="en-US" sz="1800" dirty="0"/>
              <a:t>     </a:t>
            </a:r>
            <a:r>
              <a:rPr lang="en-US" sz="2000" b="1" dirty="0"/>
              <a:t>Example: </a:t>
            </a:r>
            <a:r>
              <a:rPr lang="en-US" sz="2000" dirty="0"/>
              <a:t>The relationship type </a:t>
            </a:r>
            <a:r>
              <a:rPr lang="en-US" sz="2000" dirty="0" smtClean="0"/>
              <a:t>SUPPLY </a:t>
            </a:r>
            <a:r>
              <a:rPr lang="en-US" sz="2000" dirty="0"/>
              <a:t>in the ER below. This can be mapped to the relation SUPPLY shown in the relational schema, whose primary key is the combination of the three foreign keys {SNAME, PARTNO, PROJNAME}</a:t>
            </a:r>
            <a:endParaRPr lang="en-US" sz="2400" b="1" dirty="0">
              <a:solidFill>
                <a:srgbClr val="FF0066"/>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9" name="Rectangle 3"/>
          <p:cNvSpPr>
            <a:spLocks noGrp="1" noChangeArrowheads="1"/>
          </p:cNvSpPr>
          <p:nvPr>
            <p:ph type="title"/>
          </p:nvPr>
        </p:nvSpPr>
        <p:spPr>
          <a:xfrm>
            <a:off x="609600" y="1371600"/>
            <a:ext cx="7924800" cy="1439863"/>
          </a:xfrm>
        </p:spPr>
        <p:txBody>
          <a:bodyPr anchor="t"/>
          <a:lstStyle/>
          <a:p>
            <a:pPr algn="l"/>
            <a:r>
              <a:rPr lang="en-US" sz="2400" b="1" dirty="0"/>
              <a:t>FIGURE 4.11</a:t>
            </a:r>
            <a:r>
              <a:rPr lang="en-US" sz="2400" dirty="0"/>
              <a:t/>
            </a:r>
            <a:br>
              <a:rPr lang="en-US" sz="2400" dirty="0"/>
            </a:br>
            <a:r>
              <a:rPr lang="en-US" sz="2400" dirty="0"/>
              <a:t>Ternary relationship types. (a) The SUPPLY relationship. </a:t>
            </a:r>
            <a:endParaRPr lang="en-US" dirty="0"/>
          </a:p>
        </p:txBody>
      </p:sp>
      <p:pic>
        <p:nvPicPr>
          <p:cNvPr id="229381" name="Picture 5" descr="31755_FIG0411a.gif                                             0001035BEeyore                         B91DCF3B:"/>
          <p:cNvPicPr>
            <a:picLocks noGrp="1" noChangeAspect="1" noChangeArrowheads="1"/>
          </p:cNvPicPr>
          <p:nvPr>
            <p:ph idx="1"/>
          </p:nvPr>
        </p:nvPicPr>
        <p:blipFill>
          <a:blip r:embed="rId2" cstate="print"/>
          <a:srcRect/>
          <a:stretch>
            <a:fillRect/>
          </a:stretch>
        </p:blipFill>
        <p:spPr>
          <a:xfrm>
            <a:off x="762000" y="3810000"/>
            <a:ext cx="7772400" cy="2654300"/>
          </a:xfrm>
        </p:spPr>
      </p:pic>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1026"/>
          <p:cNvSpPr>
            <a:spLocks noGrp="1" noChangeArrowheads="1"/>
          </p:cNvSpPr>
          <p:nvPr>
            <p:ph type="title"/>
          </p:nvPr>
        </p:nvSpPr>
        <p:spPr>
          <a:xfrm>
            <a:off x="685800" y="1066800"/>
            <a:ext cx="7173913" cy="1143000"/>
          </a:xfrm>
        </p:spPr>
        <p:txBody>
          <a:bodyPr anchor="t">
            <a:normAutofit fontScale="90000"/>
          </a:bodyPr>
          <a:lstStyle/>
          <a:p>
            <a:pPr algn="l"/>
            <a:r>
              <a:rPr lang="en-US" sz="2400" b="1" dirty="0"/>
              <a:t>FIGURE 7.3</a:t>
            </a:r>
            <a:br>
              <a:rPr lang="en-US" sz="2400" b="1" dirty="0"/>
            </a:br>
            <a:r>
              <a:rPr lang="en-US" sz="2400" dirty="0"/>
              <a:t>Mapping the </a:t>
            </a:r>
            <a:r>
              <a:rPr lang="en-US" sz="2400" i="1" dirty="0"/>
              <a:t>n</a:t>
            </a:r>
            <a:r>
              <a:rPr lang="en-US" sz="2400" dirty="0"/>
              <a:t>-</a:t>
            </a:r>
            <a:r>
              <a:rPr lang="en-US" sz="2400" dirty="0" err="1"/>
              <a:t>ary</a:t>
            </a:r>
            <a:r>
              <a:rPr lang="en-US" sz="2400" dirty="0"/>
              <a:t> relationship type SUPPLY from Figure 4.11a.</a:t>
            </a:r>
            <a:endParaRPr lang="en-US" b="1" dirty="0"/>
          </a:p>
        </p:txBody>
      </p:sp>
      <p:pic>
        <p:nvPicPr>
          <p:cNvPr id="228355" name="Picture 1027" descr="31755_FIG0901.gif                                              0001035BEeyore                         B91DCF3B:"/>
          <p:cNvPicPr>
            <a:picLocks noGrp="1" noChangeAspect="1" noChangeArrowheads="1"/>
          </p:cNvPicPr>
          <p:nvPr>
            <p:ph idx="1"/>
          </p:nvPr>
        </p:nvPicPr>
        <p:blipFill>
          <a:blip r:embed="rId2" cstate="print"/>
          <a:srcRect/>
          <a:stretch>
            <a:fillRect/>
          </a:stretch>
        </p:blipFill>
        <p:spPr>
          <a:xfrm>
            <a:off x="1447800" y="2590800"/>
            <a:ext cx="6189663" cy="3886200"/>
          </a:xfrm>
        </p:spPr>
      </p:pic>
      <p:sp>
        <p:nvSpPr>
          <p:cNvPr id="5" name="Slide Number Placeholder 4"/>
          <p:cNvSpPr>
            <a:spLocks noGrp="1"/>
          </p:cNvSpPr>
          <p:nvPr>
            <p:ph type="sldNum" sz="quarter" idx="12"/>
          </p:nvPr>
        </p:nvSpPr>
        <p:spPr/>
        <p:txBody>
          <a:bodyPr/>
          <a:lstStyle/>
          <a:p>
            <a:fld id="{B6F15528-21DE-4FAA-801E-634DDDAF4B2B}" type="slidenum">
              <a:rPr lang="en-US" smtClean="0"/>
              <a:pPr/>
              <a:t>15</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685800" y="1371600"/>
            <a:ext cx="7772400" cy="766762"/>
          </a:xfrm>
        </p:spPr>
        <p:txBody>
          <a:bodyPr>
            <a:normAutofit fontScale="90000"/>
          </a:bodyPr>
          <a:lstStyle/>
          <a:p>
            <a:r>
              <a:rPr lang="en-US" sz="3600" b="1" dirty="0"/>
              <a:t/>
            </a:r>
            <a:br>
              <a:rPr lang="en-US" sz="3600" b="1" dirty="0"/>
            </a:br>
            <a:r>
              <a:rPr lang="en-US" sz="3600" b="1" dirty="0"/>
              <a:t>Summary of Mapping constructs and constraints</a:t>
            </a:r>
            <a:endParaRPr lang="en-US" sz="3600" dirty="0"/>
          </a:p>
        </p:txBody>
      </p:sp>
      <p:sp>
        <p:nvSpPr>
          <p:cNvPr id="215043" name="Rectangle 3"/>
          <p:cNvSpPr>
            <a:spLocks noGrp="1" noChangeArrowheads="1"/>
          </p:cNvSpPr>
          <p:nvPr>
            <p:ph type="body" idx="1"/>
          </p:nvPr>
        </p:nvSpPr>
        <p:spPr>
          <a:xfrm>
            <a:off x="685800" y="1533525"/>
            <a:ext cx="7981950" cy="4724400"/>
          </a:xfrm>
        </p:spPr>
        <p:txBody>
          <a:bodyPr/>
          <a:lstStyle/>
          <a:p>
            <a:pPr>
              <a:buFont typeface="Wingdings" pitchFamily="2" charset="2"/>
              <a:buNone/>
            </a:pPr>
            <a:endParaRPr lang="en-US" sz="3300"/>
          </a:p>
          <a:p>
            <a:pPr>
              <a:buFont typeface="Wingdings" pitchFamily="2" charset="2"/>
              <a:buNone/>
            </a:pPr>
            <a:r>
              <a:rPr lang="en-US" sz="2400"/>
              <a:t>                               </a:t>
            </a:r>
            <a:endParaRPr lang="en-US" sz="2400" b="1">
              <a:solidFill>
                <a:srgbClr val="FF0066"/>
              </a:solidFill>
            </a:endParaRPr>
          </a:p>
        </p:txBody>
      </p:sp>
      <p:sp>
        <p:nvSpPr>
          <p:cNvPr id="215044" name="Text Box 4"/>
          <p:cNvSpPr txBox="1">
            <a:spLocks noChangeArrowheads="1"/>
          </p:cNvSpPr>
          <p:nvPr/>
        </p:nvSpPr>
        <p:spPr bwMode="auto">
          <a:xfrm>
            <a:off x="381000" y="2971800"/>
            <a:ext cx="8319906" cy="3447098"/>
          </a:xfrm>
          <a:prstGeom prst="rect">
            <a:avLst/>
          </a:prstGeom>
          <a:noFill/>
          <a:ln w="9525">
            <a:noFill/>
            <a:miter lim="800000"/>
            <a:headEnd/>
            <a:tailEnd/>
          </a:ln>
          <a:effectLst/>
        </p:spPr>
        <p:txBody>
          <a:bodyPr wrap="none">
            <a:spAutoFit/>
          </a:bodyPr>
          <a:lstStyle/>
          <a:p>
            <a:r>
              <a:rPr lang="en-US" sz="2000" b="1" i="1" dirty="0"/>
              <a:t>Table 7.1 Correspondence between ER and Relational Models</a:t>
            </a:r>
            <a:endParaRPr lang="en-US" sz="1600" dirty="0"/>
          </a:p>
          <a:p>
            <a:endParaRPr lang="en-US" sz="1800" dirty="0"/>
          </a:p>
          <a:p>
            <a:r>
              <a:rPr lang="en-US" sz="1800" b="1" dirty="0">
                <a:latin typeface="Arial" charset="0"/>
              </a:rPr>
              <a:t>ER Model		</a:t>
            </a:r>
            <a:r>
              <a:rPr lang="en-US" sz="1800" b="1" dirty="0" smtClean="0">
                <a:latin typeface="Arial" charset="0"/>
              </a:rPr>
              <a:t>	Relational </a:t>
            </a:r>
            <a:r>
              <a:rPr lang="en-US" sz="1800" b="1" dirty="0">
                <a:latin typeface="Arial" charset="0"/>
              </a:rPr>
              <a:t>Model</a:t>
            </a:r>
            <a:endParaRPr lang="en-US" sz="1800" dirty="0"/>
          </a:p>
          <a:p>
            <a:r>
              <a:rPr lang="en-US" sz="1800" dirty="0"/>
              <a:t>Entity type		</a:t>
            </a:r>
            <a:r>
              <a:rPr lang="en-US" sz="1800" dirty="0" smtClean="0"/>
              <a:t>	“</a:t>
            </a:r>
            <a:r>
              <a:rPr lang="en-US" sz="1800" dirty="0"/>
              <a:t>Entity” relation</a:t>
            </a:r>
          </a:p>
          <a:p>
            <a:r>
              <a:rPr lang="en-US" sz="1800" dirty="0"/>
              <a:t>1:1 or 1:N relationship type	</a:t>
            </a:r>
            <a:r>
              <a:rPr lang="en-US" sz="1800" dirty="0" smtClean="0"/>
              <a:t>	Foreign </a:t>
            </a:r>
            <a:r>
              <a:rPr lang="en-US" sz="1800" dirty="0"/>
              <a:t>key (or “relationship” relation)</a:t>
            </a:r>
          </a:p>
          <a:p>
            <a:r>
              <a:rPr lang="en-US" sz="1800" dirty="0"/>
              <a:t>M:N relationship type	</a:t>
            </a:r>
            <a:r>
              <a:rPr lang="en-US" sz="1800" dirty="0" smtClean="0"/>
              <a:t>	“</a:t>
            </a:r>
            <a:r>
              <a:rPr lang="en-US" sz="1800" dirty="0"/>
              <a:t>Relationship” relation and two foreign keys</a:t>
            </a:r>
          </a:p>
          <a:p>
            <a:r>
              <a:rPr lang="en-US" sz="1800" i="1" dirty="0"/>
              <a:t>n</a:t>
            </a:r>
            <a:r>
              <a:rPr lang="en-US" sz="1800" dirty="0"/>
              <a:t>-</a:t>
            </a:r>
            <a:r>
              <a:rPr lang="en-US" sz="1800" dirty="0" err="1"/>
              <a:t>ary</a:t>
            </a:r>
            <a:r>
              <a:rPr lang="en-US" sz="1800" dirty="0"/>
              <a:t> relationship type	</a:t>
            </a:r>
            <a:r>
              <a:rPr lang="en-US" sz="1800" dirty="0" smtClean="0"/>
              <a:t>	“</a:t>
            </a:r>
            <a:r>
              <a:rPr lang="en-US" sz="1800" dirty="0"/>
              <a:t>Relationship” relation and n foreign keys</a:t>
            </a:r>
          </a:p>
          <a:p>
            <a:r>
              <a:rPr lang="en-US" sz="1800" dirty="0"/>
              <a:t>Simple attribute		</a:t>
            </a:r>
            <a:r>
              <a:rPr lang="en-US" sz="1800" dirty="0" smtClean="0"/>
              <a:t>	Attribute</a:t>
            </a:r>
            <a:endParaRPr lang="en-US" sz="1800" dirty="0"/>
          </a:p>
          <a:p>
            <a:r>
              <a:rPr lang="en-US" sz="1800" dirty="0"/>
              <a:t>Composite attribute	</a:t>
            </a:r>
            <a:r>
              <a:rPr lang="en-US" sz="1800" dirty="0" smtClean="0"/>
              <a:t>	Set </a:t>
            </a:r>
            <a:r>
              <a:rPr lang="en-US" sz="1800" dirty="0"/>
              <a:t>of simple component attributes</a:t>
            </a:r>
          </a:p>
          <a:p>
            <a:r>
              <a:rPr lang="en-US" sz="1800" dirty="0"/>
              <a:t>Multivalued attribute	</a:t>
            </a:r>
            <a:r>
              <a:rPr lang="en-US" sz="1800" dirty="0" smtClean="0"/>
              <a:t>	Relation </a:t>
            </a:r>
            <a:r>
              <a:rPr lang="en-US" sz="1800" dirty="0"/>
              <a:t>and foreign key</a:t>
            </a:r>
          </a:p>
          <a:p>
            <a:r>
              <a:rPr lang="en-US" sz="1800" dirty="0"/>
              <a:t>Value set		</a:t>
            </a:r>
            <a:r>
              <a:rPr lang="en-US" sz="1800" dirty="0" smtClean="0"/>
              <a:t>	Domain</a:t>
            </a:r>
            <a:endParaRPr lang="en-US" sz="1800" dirty="0"/>
          </a:p>
          <a:p>
            <a:r>
              <a:rPr lang="en-US" sz="1800" dirty="0"/>
              <a:t>Key attribute		</a:t>
            </a:r>
            <a:r>
              <a:rPr lang="en-US" sz="1800" dirty="0" smtClean="0"/>
              <a:t>	Primary </a:t>
            </a:r>
            <a:r>
              <a:rPr lang="en-US" sz="1800" dirty="0"/>
              <a:t>(or secondary) key</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228600" y="838200"/>
            <a:ext cx="8534400" cy="842962"/>
          </a:xfrm>
        </p:spPr>
        <p:txBody>
          <a:bodyPr>
            <a:normAutofit fontScale="90000"/>
          </a:bodyPr>
          <a:lstStyle/>
          <a:p>
            <a:r>
              <a:rPr lang="en-US" sz="3600" b="1" dirty="0"/>
              <a:t>Mapping EER Model Constructs to Relations </a:t>
            </a:r>
          </a:p>
        </p:txBody>
      </p:sp>
      <p:sp>
        <p:nvSpPr>
          <p:cNvPr id="185347" name="Rectangle 3"/>
          <p:cNvSpPr>
            <a:spLocks noGrp="1" noChangeArrowheads="1"/>
          </p:cNvSpPr>
          <p:nvPr>
            <p:ph type="body" idx="1"/>
          </p:nvPr>
        </p:nvSpPr>
        <p:spPr>
          <a:xfrm>
            <a:off x="304800" y="1600200"/>
            <a:ext cx="8534400" cy="4992687"/>
          </a:xfrm>
        </p:spPr>
        <p:txBody>
          <a:bodyPr>
            <a:normAutofit lnSpcReduction="10000"/>
          </a:bodyPr>
          <a:lstStyle/>
          <a:p>
            <a:pPr>
              <a:lnSpc>
                <a:spcPct val="80000"/>
              </a:lnSpc>
            </a:pPr>
            <a:r>
              <a:rPr lang="en-US" sz="2000" b="1" dirty="0">
                <a:latin typeface="Arial" charset="0"/>
              </a:rPr>
              <a:t>Step8: Options for Mapping Specialization or Generalization.</a:t>
            </a:r>
          </a:p>
          <a:p>
            <a:pPr>
              <a:lnSpc>
                <a:spcPct val="80000"/>
              </a:lnSpc>
              <a:buFont typeface="Wingdings" pitchFamily="2" charset="2"/>
              <a:buNone/>
            </a:pPr>
            <a:endParaRPr lang="en-US" sz="800" b="1" dirty="0">
              <a:latin typeface="Arial" charset="0"/>
            </a:endParaRPr>
          </a:p>
          <a:p>
            <a:pPr>
              <a:lnSpc>
                <a:spcPct val="80000"/>
              </a:lnSpc>
              <a:buFont typeface="Wingdings" pitchFamily="2" charset="2"/>
              <a:buNone/>
            </a:pPr>
            <a:r>
              <a:rPr lang="en-US" sz="1600" dirty="0"/>
              <a:t>       </a:t>
            </a:r>
            <a:r>
              <a:rPr lang="en-US" sz="2000" dirty="0"/>
              <a:t>Convert each specialization with m subclasses {S</a:t>
            </a:r>
            <a:r>
              <a:rPr lang="en-US" sz="2000" baseline="-25000" dirty="0"/>
              <a:t>1</a:t>
            </a:r>
            <a:r>
              <a:rPr lang="en-US" sz="2000" dirty="0"/>
              <a:t>, S</a:t>
            </a:r>
            <a:r>
              <a:rPr lang="en-US" sz="2000" baseline="-25000" dirty="0"/>
              <a:t>2</a:t>
            </a:r>
            <a:r>
              <a:rPr lang="en-US" sz="2000" dirty="0"/>
              <a:t>,….,</a:t>
            </a:r>
            <a:r>
              <a:rPr lang="en-US" sz="2000" dirty="0" err="1"/>
              <a:t>S</a:t>
            </a:r>
            <a:r>
              <a:rPr lang="en-US" sz="2000" baseline="-25000" dirty="0" err="1"/>
              <a:t>m</a:t>
            </a:r>
            <a:r>
              <a:rPr lang="en-US" sz="2000" dirty="0"/>
              <a:t>} and generalized </a:t>
            </a:r>
            <a:r>
              <a:rPr lang="en-US" sz="2000" dirty="0" err="1"/>
              <a:t>superclass</a:t>
            </a:r>
            <a:r>
              <a:rPr lang="en-US" sz="2000" dirty="0"/>
              <a:t> C, where the attributes of C are {k,a</a:t>
            </a:r>
            <a:r>
              <a:rPr lang="en-US" sz="2000" baseline="-25000" dirty="0"/>
              <a:t>1</a:t>
            </a:r>
            <a:r>
              <a:rPr lang="en-US" sz="2000" dirty="0"/>
              <a:t>,…a</a:t>
            </a:r>
            <a:r>
              <a:rPr lang="en-US" sz="2000" baseline="-25000" dirty="0"/>
              <a:t>n</a:t>
            </a:r>
            <a:r>
              <a:rPr lang="en-US" sz="2000" dirty="0"/>
              <a:t>} and k is the (primary) key, into relational schemas using one of the four following options:</a:t>
            </a:r>
          </a:p>
          <a:p>
            <a:pPr>
              <a:lnSpc>
                <a:spcPct val="80000"/>
              </a:lnSpc>
              <a:buFont typeface="Wingdings" pitchFamily="2" charset="2"/>
              <a:buNone/>
            </a:pPr>
            <a:endParaRPr lang="en-US" sz="1400" dirty="0"/>
          </a:p>
          <a:p>
            <a:pPr>
              <a:lnSpc>
                <a:spcPct val="80000"/>
              </a:lnSpc>
              <a:buFont typeface="Wingdings" pitchFamily="2" charset="2"/>
              <a:buNone/>
            </a:pPr>
            <a:endParaRPr lang="en-US" sz="1400" dirty="0"/>
          </a:p>
          <a:p>
            <a:pPr>
              <a:lnSpc>
                <a:spcPct val="80000"/>
              </a:lnSpc>
              <a:buFont typeface="Wingdings" pitchFamily="2" charset="2"/>
              <a:buNone/>
            </a:pPr>
            <a:r>
              <a:rPr lang="en-US" sz="1500" dirty="0"/>
              <a:t>      </a:t>
            </a:r>
            <a:r>
              <a:rPr lang="en-US" sz="1800" b="1" dirty="0"/>
              <a:t>Option 8A: Multiple relations-</a:t>
            </a:r>
            <a:r>
              <a:rPr lang="en-US" sz="1800" b="1" dirty="0" err="1"/>
              <a:t>Superclass</a:t>
            </a:r>
            <a:r>
              <a:rPr lang="en-US" sz="1800" b="1" dirty="0"/>
              <a:t> and subclasses.</a:t>
            </a:r>
            <a:r>
              <a:rPr lang="en-US" sz="1800" dirty="0"/>
              <a:t> </a:t>
            </a:r>
          </a:p>
          <a:p>
            <a:pPr>
              <a:lnSpc>
                <a:spcPct val="80000"/>
              </a:lnSpc>
              <a:buFont typeface="Wingdings" pitchFamily="2" charset="2"/>
              <a:buNone/>
            </a:pPr>
            <a:r>
              <a:rPr lang="en-US" sz="1800" dirty="0"/>
              <a:t>      Create a relation L for C with attributes </a:t>
            </a:r>
            <a:r>
              <a:rPr lang="en-US" sz="1800" dirty="0" err="1"/>
              <a:t>Attrs</a:t>
            </a:r>
            <a:r>
              <a:rPr lang="en-US" sz="1800" dirty="0"/>
              <a:t>(L) = {k,a</a:t>
            </a:r>
            <a:r>
              <a:rPr lang="en-US" sz="1800" baseline="-25000" dirty="0"/>
              <a:t>1</a:t>
            </a:r>
            <a:r>
              <a:rPr lang="en-US" sz="1800" dirty="0"/>
              <a:t>,…a</a:t>
            </a:r>
            <a:r>
              <a:rPr lang="en-US" sz="1800" baseline="-25000" dirty="0"/>
              <a:t>n</a:t>
            </a:r>
            <a:r>
              <a:rPr lang="en-US" sz="1800" dirty="0"/>
              <a:t>} and PK(L) = k. Create a relation L</a:t>
            </a:r>
            <a:r>
              <a:rPr lang="en-US" sz="1800" baseline="-25000" dirty="0"/>
              <a:t>i</a:t>
            </a:r>
            <a:r>
              <a:rPr lang="en-US" sz="1800" dirty="0"/>
              <a:t> for each subclass S</a:t>
            </a:r>
            <a:r>
              <a:rPr lang="en-US" sz="1800" baseline="-25000" dirty="0"/>
              <a:t>i</a:t>
            </a:r>
            <a:r>
              <a:rPr lang="en-US" sz="1800" dirty="0"/>
              <a:t>, 1 &lt; </a:t>
            </a:r>
            <a:r>
              <a:rPr lang="en-US" sz="1800" dirty="0" err="1"/>
              <a:t>i</a:t>
            </a:r>
            <a:r>
              <a:rPr lang="en-US" sz="1800" dirty="0"/>
              <a:t> &lt; m, with the </a:t>
            </a:r>
            <a:r>
              <a:rPr lang="en-US" sz="1800" dirty="0" err="1"/>
              <a:t>attributesAttrs</a:t>
            </a:r>
            <a:r>
              <a:rPr lang="en-US" sz="1800" dirty="0"/>
              <a:t>(L</a:t>
            </a:r>
            <a:r>
              <a:rPr lang="en-US" sz="1800" baseline="-25000" dirty="0"/>
              <a:t>i</a:t>
            </a:r>
            <a:r>
              <a:rPr lang="en-US" sz="1800" dirty="0"/>
              <a:t>) = {k} U {attributes of S</a:t>
            </a:r>
            <a:r>
              <a:rPr lang="en-US" sz="1800" baseline="-25000" dirty="0"/>
              <a:t>i</a:t>
            </a:r>
            <a:r>
              <a:rPr lang="en-US" sz="1800" dirty="0"/>
              <a:t>} and PK(L</a:t>
            </a:r>
            <a:r>
              <a:rPr lang="en-US" sz="1800" baseline="-25000" dirty="0"/>
              <a:t>i</a:t>
            </a:r>
            <a:r>
              <a:rPr lang="en-US" sz="1800" dirty="0"/>
              <a:t>)=k. This option works </a:t>
            </a:r>
            <a:r>
              <a:rPr lang="en-US" sz="1800" b="1" dirty="0"/>
              <a:t>for any specialization</a:t>
            </a:r>
            <a:r>
              <a:rPr lang="en-US" sz="1800" dirty="0"/>
              <a:t> (total or partial, disjoint </a:t>
            </a:r>
            <a:r>
              <a:rPr lang="en-US" sz="1800" dirty="0" smtClean="0"/>
              <a:t>or </a:t>
            </a:r>
            <a:r>
              <a:rPr lang="en-US" sz="1800" dirty="0"/>
              <a:t>over-lapping).  	</a:t>
            </a:r>
          </a:p>
          <a:p>
            <a:pPr>
              <a:lnSpc>
                <a:spcPct val="80000"/>
              </a:lnSpc>
              <a:buFont typeface="Wingdings" pitchFamily="2" charset="2"/>
              <a:buNone/>
            </a:pPr>
            <a:endParaRPr lang="en-US" sz="1800" dirty="0"/>
          </a:p>
          <a:p>
            <a:pPr>
              <a:lnSpc>
                <a:spcPct val="80000"/>
              </a:lnSpc>
              <a:buFont typeface="Wingdings" pitchFamily="2" charset="2"/>
              <a:buNone/>
            </a:pPr>
            <a:r>
              <a:rPr lang="en-US" sz="1800" dirty="0"/>
              <a:t>      </a:t>
            </a:r>
            <a:r>
              <a:rPr lang="en-US" sz="1800" b="1" dirty="0"/>
              <a:t>Option 8B: Multiple relations-Subclass relations only</a:t>
            </a:r>
          </a:p>
          <a:p>
            <a:pPr marL="402336" lvl="1" indent="0">
              <a:buNone/>
            </a:pPr>
            <a:r>
              <a:rPr lang="en-US" sz="1800" dirty="0">
                <a:solidFill>
                  <a:schemeClr val="tx1"/>
                </a:solidFill>
              </a:rPr>
              <a:t>Create </a:t>
            </a:r>
            <a:r>
              <a:rPr lang="en-US" sz="1800" dirty="0">
                <a:solidFill>
                  <a:schemeClr val="tx1"/>
                </a:solidFill>
              </a:rPr>
              <a:t>a relation Li for each subclass Si, 1 &lt; </a:t>
            </a:r>
            <a:r>
              <a:rPr lang="en-US" sz="1800" dirty="0" err="1">
                <a:solidFill>
                  <a:schemeClr val="tx1"/>
                </a:solidFill>
              </a:rPr>
              <a:t>i</a:t>
            </a:r>
            <a:r>
              <a:rPr lang="en-US" sz="1800" dirty="0">
                <a:solidFill>
                  <a:schemeClr val="tx1"/>
                </a:solidFill>
              </a:rPr>
              <a:t> &lt; m, with the attributes </a:t>
            </a:r>
            <a:r>
              <a:rPr lang="en-US" sz="1800" dirty="0" err="1" smtClean="0">
                <a:solidFill>
                  <a:schemeClr val="tx1"/>
                </a:solidFill>
              </a:rPr>
              <a:t>Attr</a:t>
            </a:r>
            <a:r>
              <a:rPr lang="en-US" sz="1800" dirty="0" smtClean="0">
                <a:solidFill>
                  <a:schemeClr val="tx1"/>
                </a:solidFill>
              </a:rPr>
              <a:t>(</a:t>
            </a:r>
            <a:r>
              <a:rPr lang="en-US" sz="1800" dirty="0">
                <a:solidFill>
                  <a:schemeClr val="tx1"/>
                </a:solidFill>
              </a:rPr>
              <a:t>L</a:t>
            </a:r>
            <a:r>
              <a:rPr lang="en-US" sz="1800" baseline="-25000" dirty="0">
                <a:solidFill>
                  <a:schemeClr val="tx1"/>
                </a:solidFill>
              </a:rPr>
              <a:t>i</a:t>
            </a:r>
            <a:r>
              <a:rPr lang="en-US" sz="1800" dirty="0" smtClean="0">
                <a:solidFill>
                  <a:schemeClr val="tx1"/>
                </a:solidFill>
              </a:rPr>
              <a:t>) </a:t>
            </a:r>
            <a:r>
              <a:rPr lang="en-US" sz="1800" dirty="0">
                <a:solidFill>
                  <a:schemeClr val="tx1"/>
                </a:solidFill>
              </a:rPr>
              <a:t>= {attributes of </a:t>
            </a:r>
            <a:r>
              <a:rPr lang="en-US" sz="1800" dirty="0">
                <a:solidFill>
                  <a:schemeClr val="tx1"/>
                </a:solidFill>
              </a:rPr>
              <a:t>S</a:t>
            </a:r>
            <a:r>
              <a:rPr lang="en-US" sz="1800" baseline="-25000" dirty="0">
                <a:solidFill>
                  <a:schemeClr val="tx1"/>
                </a:solidFill>
              </a:rPr>
              <a:t>i</a:t>
            </a:r>
            <a:r>
              <a:rPr lang="en-US" sz="1800" dirty="0" smtClean="0">
                <a:solidFill>
                  <a:schemeClr val="tx1"/>
                </a:solidFill>
              </a:rPr>
              <a:t>} </a:t>
            </a:r>
            <a:r>
              <a:rPr lang="en-US" sz="1800" dirty="0">
                <a:solidFill>
                  <a:schemeClr val="tx1"/>
                </a:solidFill>
              </a:rPr>
              <a:t>U </a:t>
            </a:r>
            <a:r>
              <a:rPr lang="en-US" sz="1800" dirty="0">
                <a:solidFill>
                  <a:schemeClr val="tx1"/>
                </a:solidFill>
              </a:rPr>
              <a:t>{k,a</a:t>
            </a:r>
            <a:r>
              <a:rPr lang="en-US" sz="1800" baseline="-25000" dirty="0">
                <a:solidFill>
                  <a:schemeClr val="tx1"/>
                </a:solidFill>
              </a:rPr>
              <a:t>1</a:t>
            </a:r>
            <a:r>
              <a:rPr lang="en-US" sz="1800" dirty="0">
                <a:solidFill>
                  <a:schemeClr val="tx1"/>
                </a:solidFill>
              </a:rPr>
              <a:t>,…a</a:t>
            </a:r>
            <a:r>
              <a:rPr lang="en-US" sz="1800" baseline="-25000" dirty="0">
                <a:solidFill>
                  <a:schemeClr val="tx1"/>
                </a:solidFill>
              </a:rPr>
              <a:t>n</a:t>
            </a:r>
            <a:r>
              <a:rPr lang="en-US" sz="1800" dirty="0">
                <a:solidFill>
                  <a:schemeClr val="tx1"/>
                </a:solidFill>
              </a:rPr>
              <a:t>}</a:t>
            </a:r>
            <a:r>
              <a:rPr lang="en-US" sz="1800" dirty="0" smtClean="0">
                <a:solidFill>
                  <a:schemeClr val="tx1"/>
                </a:solidFill>
              </a:rPr>
              <a:t> </a:t>
            </a:r>
            <a:r>
              <a:rPr lang="en-US" sz="1800" dirty="0">
                <a:solidFill>
                  <a:schemeClr val="tx1"/>
                </a:solidFill>
              </a:rPr>
              <a:t>and </a:t>
            </a:r>
            <a:r>
              <a:rPr lang="en-US" sz="1800" dirty="0" smtClean="0">
                <a:solidFill>
                  <a:schemeClr val="tx1"/>
                </a:solidFill>
              </a:rPr>
              <a:t>PK(L</a:t>
            </a:r>
            <a:r>
              <a:rPr lang="en-US" sz="1800" baseline="-25000" dirty="0" smtClean="0">
                <a:solidFill>
                  <a:schemeClr val="tx1"/>
                </a:solidFill>
              </a:rPr>
              <a:t>i</a:t>
            </a:r>
            <a:r>
              <a:rPr lang="en-US" sz="1800" dirty="0" smtClean="0">
                <a:solidFill>
                  <a:schemeClr val="tx1"/>
                </a:solidFill>
              </a:rPr>
              <a:t>) </a:t>
            </a:r>
            <a:r>
              <a:rPr lang="en-US" sz="1800" dirty="0">
                <a:solidFill>
                  <a:schemeClr val="tx1"/>
                </a:solidFill>
              </a:rPr>
              <a:t>= k. </a:t>
            </a:r>
            <a:r>
              <a:rPr lang="en-US" sz="1800" dirty="0">
                <a:solidFill>
                  <a:schemeClr val="tx1"/>
                </a:solidFill>
              </a:rPr>
              <a:t>This option only works for a  specialization whose subclasses are total (every entity in the superclass must belong to (at least) one of the subclasses</a:t>
            </a:r>
            <a:r>
              <a:rPr lang="en-US" sz="1800" dirty="0">
                <a:solidFill>
                  <a:schemeClr val="tx1"/>
                </a:solidFill>
              </a:rPr>
              <a:t>). </a:t>
            </a:r>
            <a:r>
              <a:rPr lang="en-US" sz="1800" dirty="0">
                <a:solidFill>
                  <a:schemeClr val="tx1"/>
                </a:solidFill>
              </a:rPr>
              <a:t>Additionally, it </a:t>
            </a:r>
            <a:r>
              <a:rPr lang="en-US" sz="1800" dirty="0">
                <a:solidFill>
                  <a:schemeClr val="tx1"/>
                </a:solidFill>
              </a:rPr>
              <a:t>is only </a:t>
            </a:r>
            <a:r>
              <a:rPr lang="en-US" sz="1800" dirty="0">
                <a:solidFill>
                  <a:schemeClr val="tx1"/>
                </a:solidFill>
              </a:rPr>
              <a:t>recommended if the specialization has the disjointedness </a:t>
            </a:r>
            <a:r>
              <a:rPr lang="en-US" sz="1800" dirty="0">
                <a:solidFill>
                  <a:schemeClr val="tx1"/>
                </a:solidFill>
              </a:rPr>
              <a:t>constraint. </a:t>
            </a:r>
            <a:r>
              <a:rPr lang="en-US" sz="1800" dirty="0">
                <a:solidFill>
                  <a:schemeClr val="tx1"/>
                </a:solidFill>
              </a:rPr>
              <a:t>If the specialization is overlapping, the same entity may </a:t>
            </a:r>
            <a:r>
              <a:rPr lang="en-US" sz="1800" dirty="0">
                <a:solidFill>
                  <a:schemeClr val="tx1"/>
                </a:solidFill>
              </a:rPr>
              <a:t>be duplicated </a:t>
            </a:r>
            <a:r>
              <a:rPr lang="en-US" sz="1800" dirty="0">
                <a:solidFill>
                  <a:schemeClr val="tx1"/>
                </a:solidFill>
              </a:rPr>
              <a:t>in several relations.</a:t>
            </a:r>
          </a:p>
          <a:p>
            <a:pPr>
              <a:lnSpc>
                <a:spcPct val="80000"/>
              </a:lnSpc>
              <a:buFont typeface="Wingdings" pitchFamily="2" charset="2"/>
              <a:buNone/>
            </a:pPr>
            <a:endParaRPr lang="en-US" sz="1800" dirty="0"/>
          </a:p>
          <a:p>
            <a:pPr>
              <a:lnSpc>
                <a:spcPct val="80000"/>
              </a:lnSpc>
              <a:buFont typeface="Wingdings" pitchFamily="2" charset="2"/>
              <a:buNone/>
            </a:pPr>
            <a:endParaRPr lang="en-US" sz="15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17</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a:xfrm>
            <a:off x="533400" y="1066800"/>
            <a:ext cx="2209800" cy="4165600"/>
          </a:xfrm>
        </p:spPr>
        <p:txBody>
          <a:bodyPr anchor="t"/>
          <a:lstStyle/>
          <a:p>
            <a:pPr algn="l"/>
            <a:r>
              <a:rPr lang="en-US" sz="2400" b="1" dirty="0"/>
              <a:t>FIGURE 4.4</a:t>
            </a:r>
            <a:r>
              <a:rPr lang="en-US" sz="2400" dirty="0"/>
              <a:t/>
            </a:r>
            <a:br>
              <a:rPr lang="en-US" sz="2400" dirty="0"/>
            </a:br>
            <a:r>
              <a:rPr lang="en-US" sz="2400" dirty="0"/>
              <a:t>EER diagram notation for an attribute-defined specialization on </a:t>
            </a:r>
            <a:r>
              <a:rPr lang="en-US" sz="2400" dirty="0" err="1"/>
              <a:t>JobType</a:t>
            </a:r>
            <a:r>
              <a:rPr lang="en-US" sz="2400" dirty="0"/>
              <a:t>.</a:t>
            </a:r>
            <a:endParaRPr lang="en-US" dirty="0"/>
          </a:p>
        </p:txBody>
      </p:sp>
      <p:pic>
        <p:nvPicPr>
          <p:cNvPr id="234499" name="Picture 3" descr="31755_FIG0404.gif                                              0001035BEeyore                         B91DCF3B:"/>
          <p:cNvPicPr>
            <a:picLocks noGrp="1" noChangeAspect="1" noChangeArrowheads="1"/>
          </p:cNvPicPr>
          <p:nvPr>
            <p:ph idx="1"/>
          </p:nvPr>
        </p:nvPicPr>
        <p:blipFill>
          <a:blip r:embed="rId2" cstate="print"/>
          <a:srcRect/>
          <a:stretch>
            <a:fillRect/>
          </a:stretch>
        </p:blipFill>
        <p:spPr>
          <a:xfrm>
            <a:off x="2895600" y="1600200"/>
            <a:ext cx="5697538" cy="4600575"/>
          </a:xfrm>
        </p:spPr>
      </p:pic>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7092" name="Picture 4" descr=" 0704a.gif                                                      0001035BEeyore                         B91DCF3B:"/>
          <p:cNvPicPr>
            <a:picLocks noChangeAspect="1" noChangeArrowheads="1"/>
          </p:cNvPicPr>
          <p:nvPr/>
        </p:nvPicPr>
        <p:blipFill>
          <a:blip r:embed="rId2" cstate="print"/>
          <a:srcRect/>
          <a:stretch>
            <a:fillRect/>
          </a:stretch>
        </p:blipFill>
        <p:spPr bwMode="auto">
          <a:xfrm>
            <a:off x="838200" y="3733800"/>
            <a:ext cx="8105775" cy="1985962"/>
          </a:xfrm>
          <a:prstGeom prst="rect">
            <a:avLst/>
          </a:prstGeom>
          <a:noFill/>
        </p:spPr>
      </p:pic>
      <p:sp>
        <p:nvSpPr>
          <p:cNvPr id="217094" name="Rectangle 6"/>
          <p:cNvSpPr>
            <a:spLocks noChangeArrowheads="1"/>
          </p:cNvSpPr>
          <p:nvPr/>
        </p:nvSpPr>
        <p:spPr bwMode="auto">
          <a:xfrm>
            <a:off x="685800" y="1143000"/>
            <a:ext cx="7772400" cy="1143000"/>
          </a:xfrm>
          <a:prstGeom prst="rect">
            <a:avLst/>
          </a:prstGeom>
          <a:noFill/>
          <a:ln w="9525">
            <a:noFill/>
            <a:miter lim="800000"/>
            <a:headEnd/>
            <a:tailEnd/>
          </a:ln>
          <a:effectLst/>
        </p:spPr>
        <p:txBody>
          <a:bodyPr lIns="92075" tIns="46038" rIns="92075" bIns="46038"/>
          <a:lstStyle/>
          <a:p>
            <a:r>
              <a:rPr lang="en-US" b="1" dirty="0">
                <a:solidFill>
                  <a:srgbClr val="333399"/>
                </a:solidFill>
                <a:latin typeface="Arial" charset="0"/>
              </a:rPr>
              <a:t>FIGURE 7.4</a:t>
            </a:r>
            <a:br>
              <a:rPr lang="en-US" b="1" dirty="0">
                <a:solidFill>
                  <a:srgbClr val="333399"/>
                </a:solidFill>
                <a:latin typeface="Arial" charset="0"/>
              </a:rPr>
            </a:br>
            <a:r>
              <a:rPr lang="en-US" dirty="0">
                <a:solidFill>
                  <a:srgbClr val="333399"/>
                </a:solidFill>
                <a:latin typeface="Arial" charset="0"/>
              </a:rPr>
              <a:t>Options for mapping specialization or generalization. </a:t>
            </a:r>
            <a:br>
              <a:rPr lang="en-US" dirty="0">
                <a:solidFill>
                  <a:srgbClr val="333399"/>
                </a:solidFill>
                <a:latin typeface="Arial" charset="0"/>
              </a:rPr>
            </a:br>
            <a:r>
              <a:rPr lang="en-US" dirty="0">
                <a:solidFill>
                  <a:srgbClr val="333399"/>
                </a:solidFill>
                <a:latin typeface="Arial" charset="0"/>
              </a:rPr>
              <a:t>(a) Mapping the EER schema in Figure 4.4 using option 8A. </a:t>
            </a:r>
            <a:endParaRPr lang="en-US" b="1" dirty="0">
              <a:solidFill>
                <a:srgbClr val="333399"/>
              </a:solidFill>
              <a:latin typeface="Arial"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a:xfrm>
            <a:off x="457200" y="1066800"/>
            <a:ext cx="8420100" cy="2933700"/>
          </a:xfrm>
        </p:spPr>
        <p:txBody>
          <a:bodyPr anchor="t"/>
          <a:lstStyle/>
          <a:p>
            <a:pPr algn="l"/>
            <a:r>
              <a:rPr lang="en-US" sz="2400" b="1" dirty="0"/>
              <a:t>FIGURE 4.3</a:t>
            </a:r>
            <a:r>
              <a:rPr lang="en-US" sz="2400" dirty="0"/>
              <a:t/>
            </a:r>
            <a:br>
              <a:rPr lang="en-US" sz="2400" dirty="0"/>
            </a:br>
            <a:r>
              <a:rPr lang="en-US" sz="2400" dirty="0"/>
              <a:t>Generalization. (b) Generalizing CAR and TRUCK into the </a:t>
            </a:r>
            <a:r>
              <a:rPr lang="en-US" sz="2400" dirty="0" err="1"/>
              <a:t>superclass</a:t>
            </a:r>
            <a:r>
              <a:rPr lang="en-US" sz="2400" dirty="0"/>
              <a:t> VEHICLE.</a:t>
            </a:r>
            <a:endParaRPr lang="en-US" dirty="0"/>
          </a:p>
        </p:txBody>
      </p:sp>
      <p:pic>
        <p:nvPicPr>
          <p:cNvPr id="236549" name="Picture 5" descr=" 0403b.gif                                                      0001035BEeyore                         B91DCF3B:"/>
          <p:cNvPicPr>
            <a:picLocks noGrp="1" noChangeAspect="1" noChangeArrowheads="1"/>
          </p:cNvPicPr>
          <p:nvPr>
            <p:ph idx="1"/>
          </p:nvPr>
        </p:nvPicPr>
        <p:blipFill>
          <a:blip r:embed="rId2" cstate="print"/>
          <a:srcRect/>
          <a:stretch>
            <a:fillRect/>
          </a:stretch>
        </p:blipFill>
        <p:spPr>
          <a:xfrm>
            <a:off x="685800" y="2743200"/>
            <a:ext cx="7772400" cy="3427412"/>
          </a:xfrm>
        </p:spPr>
      </p:pic>
      <p:sp>
        <p:nvSpPr>
          <p:cNvPr id="5" name="Slide Number Placeholder 4"/>
          <p:cNvSpPr>
            <a:spLocks noGrp="1"/>
          </p:cNvSpPr>
          <p:nvPr>
            <p:ph type="sldNum" sz="quarter" idx="12"/>
          </p:nvPr>
        </p:nvSpPr>
        <p:spPr/>
        <p:txBody>
          <a:bodyPr/>
          <a:lstStyle/>
          <a:p>
            <a:fld id="{B6F15528-21DE-4FAA-801E-634DDDAF4B2B}" type="slidenum">
              <a:rPr lang="en-US" smtClean="0"/>
              <a:pPr/>
              <a:t>20</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3" name="Rectangle 3"/>
          <p:cNvSpPr>
            <a:spLocks noChangeArrowheads="1"/>
          </p:cNvSpPr>
          <p:nvPr/>
        </p:nvSpPr>
        <p:spPr bwMode="auto">
          <a:xfrm>
            <a:off x="609600" y="1143000"/>
            <a:ext cx="7772400" cy="1143000"/>
          </a:xfrm>
          <a:prstGeom prst="rect">
            <a:avLst/>
          </a:prstGeom>
          <a:noFill/>
          <a:ln w="9525">
            <a:noFill/>
            <a:miter lim="800000"/>
            <a:headEnd/>
            <a:tailEnd/>
          </a:ln>
          <a:effectLst/>
        </p:spPr>
        <p:txBody>
          <a:bodyPr lIns="92075" tIns="46038" rIns="92075" bIns="46038"/>
          <a:lstStyle/>
          <a:p>
            <a:r>
              <a:rPr lang="en-US" b="1" dirty="0">
                <a:solidFill>
                  <a:srgbClr val="333399"/>
                </a:solidFill>
                <a:latin typeface="Arial" charset="0"/>
              </a:rPr>
              <a:t>FIGURE 7.4</a:t>
            </a:r>
            <a:br>
              <a:rPr lang="en-US" b="1" dirty="0">
                <a:solidFill>
                  <a:srgbClr val="333399"/>
                </a:solidFill>
                <a:latin typeface="Arial" charset="0"/>
              </a:rPr>
            </a:br>
            <a:r>
              <a:rPr lang="en-US" dirty="0">
                <a:solidFill>
                  <a:srgbClr val="333399"/>
                </a:solidFill>
                <a:latin typeface="Arial" charset="0"/>
              </a:rPr>
              <a:t>Options for mapping specialization or generalization. </a:t>
            </a:r>
            <a:br>
              <a:rPr lang="en-US" dirty="0">
                <a:solidFill>
                  <a:srgbClr val="333399"/>
                </a:solidFill>
                <a:latin typeface="Arial" charset="0"/>
              </a:rPr>
            </a:br>
            <a:r>
              <a:rPr lang="en-US" dirty="0">
                <a:solidFill>
                  <a:srgbClr val="333399"/>
                </a:solidFill>
                <a:latin typeface="Arial" charset="0"/>
              </a:rPr>
              <a:t> (b) Mapping the EER schema in Figure 4.3b using option 8B. </a:t>
            </a:r>
            <a:endParaRPr lang="en-US" b="1" dirty="0">
              <a:solidFill>
                <a:srgbClr val="333399"/>
              </a:solidFill>
              <a:latin typeface="Arial" charset="0"/>
            </a:endParaRPr>
          </a:p>
        </p:txBody>
      </p:sp>
      <p:pic>
        <p:nvPicPr>
          <p:cNvPr id="235524" name="Picture 4" descr=" 0704b.gif                                                      0001035BEeyore                         B91DCF3B:"/>
          <p:cNvPicPr>
            <a:picLocks noChangeAspect="1" noChangeArrowheads="1"/>
          </p:cNvPicPr>
          <p:nvPr/>
        </p:nvPicPr>
        <p:blipFill>
          <a:blip r:embed="rId2" cstate="print"/>
          <a:srcRect/>
          <a:stretch>
            <a:fillRect/>
          </a:stretch>
        </p:blipFill>
        <p:spPr bwMode="auto">
          <a:xfrm>
            <a:off x="838200" y="3733800"/>
            <a:ext cx="7935913" cy="2133600"/>
          </a:xfrm>
          <a:prstGeom prst="rect">
            <a:avLst/>
          </a:prstGeom>
          <a:noFill/>
        </p:spPr>
      </p:pic>
      <p:sp>
        <p:nvSpPr>
          <p:cNvPr id="5" name="Slide Number Placeholder 4"/>
          <p:cNvSpPr>
            <a:spLocks noGrp="1"/>
          </p:cNvSpPr>
          <p:nvPr>
            <p:ph type="sldNum" sz="quarter" idx="12"/>
          </p:nvPr>
        </p:nvSpPr>
        <p:spPr/>
        <p:txBody>
          <a:bodyPr/>
          <a:lstStyle/>
          <a:p>
            <a:fld id="{B6F15528-21DE-4FAA-801E-634DDDAF4B2B}" type="slidenum">
              <a:rPr lang="en-US" smtClean="0"/>
              <a:pPr/>
              <a:t>21</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pic>
        <p:nvPicPr>
          <p:cNvPr id="1026" name="Picture 2" descr="C:\Users\MEHTAB\Desktop\Captu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100" y="838200"/>
            <a:ext cx="8050213" cy="563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6686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304800" y="990600"/>
            <a:ext cx="8534400" cy="842962"/>
          </a:xfrm>
        </p:spPr>
        <p:txBody>
          <a:bodyPr>
            <a:normAutofit fontScale="90000"/>
          </a:bodyPr>
          <a:lstStyle/>
          <a:p>
            <a:r>
              <a:rPr lang="en-US" sz="3600" b="1" dirty="0"/>
              <a:t>Mapping EER Model Constructs to Relations (cont)</a:t>
            </a:r>
          </a:p>
        </p:txBody>
      </p:sp>
      <p:sp>
        <p:nvSpPr>
          <p:cNvPr id="216067" name="Rectangle 3"/>
          <p:cNvSpPr>
            <a:spLocks noGrp="1" noChangeArrowheads="1"/>
          </p:cNvSpPr>
          <p:nvPr>
            <p:ph type="body" idx="1"/>
          </p:nvPr>
        </p:nvSpPr>
        <p:spPr>
          <a:xfrm>
            <a:off x="381000" y="2133600"/>
            <a:ext cx="8375650" cy="4257675"/>
          </a:xfrm>
        </p:spPr>
        <p:txBody>
          <a:bodyPr>
            <a:normAutofit fontScale="92500" lnSpcReduction="20000"/>
          </a:bodyPr>
          <a:lstStyle/>
          <a:p>
            <a:pPr>
              <a:buFont typeface="Wingdings" pitchFamily="2" charset="2"/>
              <a:buNone/>
            </a:pPr>
            <a:r>
              <a:rPr lang="en-US" b="1" dirty="0"/>
              <a:t>   </a:t>
            </a:r>
            <a:r>
              <a:rPr lang="en-US" sz="2000" b="1" dirty="0"/>
              <a:t>Option 8C: Single relation with one type attribute.</a:t>
            </a:r>
            <a:r>
              <a:rPr lang="en-US" dirty="0"/>
              <a:t> </a:t>
            </a:r>
          </a:p>
          <a:p>
            <a:pPr marL="402336" lvl="1" indent="0">
              <a:buNone/>
            </a:pPr>
            <a:r>
              <a:rPr lang="en-US" sz="2000" dirty="0">
                <a:solidFill>
                  <a:schemeClr val="tx1"/>
                </a:solidFill>
              </a:rPr>
              <a:t>Create </a:t>
            </a:r>
            <a:r>
              <a:rPr lang="en-US" sz="2000" dirty="0">
                <a:solidFill>
                  <a:schemeClr val="tx1"/>
                </a:solidFill>
              </a:rPr>
              <a:t>a single relation L with attributes </a:t>
            </a:r>
            <a:r>
              <a:rPr lang="en-US" sz="2000" dirty="0" err="1">
                <a:solidFill>
                  <a:schemeClr val="tx1"/>
                </a:solidFill>
              </a:rPr>
              <a:t>Attrs</a:t>
            </a:r>
            <a:r>
              <a:rPr lang="en-US" sz="2000" dirty="0">
                <a:solidFill>
                  <a:schemeClr val="tx1"/>
                </a:solidFill>
              </a:rPr>
              <a:t>(L) = </a:t>
            </a:r>
            <a:r>
              <a:rPr lang="en-US" sz="2000" dirty="0">
                <a:solidFill>
                  <a:schemeClr val="tx1"/>
                </a:solidFill>
              </a:rPr>
              <a:t>{k,a</a:t>
            </a:r>
            <a:r>
              <a:rPr lang="en-US" sz="2000" baseline="-25000" dirty="0">
                <a:solidFill>
                  <a:schemeClr val="tx1"/>
                </a:solidFill>
              </a:rPr>
              <a:t>1</a:t>
            </a:r>
            <a:r>
              <a:rPr lang="en-US" sz="2000" dirty="0">
                <a:solidFill>
                  <a:schemeClr val="tx1"/>
                </a:solidFill>
              </a:rPr>
              <a:t>,…a</a:t>
            </a:r>
            <a:r>
              <a:rPr lang="en-US" sz="2000" baseline="-25000" dirty="0">
                <a:solidFill>
                  <a:schemeClr val="tx1"/>
                </a:solidFill>
              </a:rPr>
              <a:t>n</a:t>
            </a:r>
            <a:r>
              <a:rPr lang="en-US" sz="2000" dirty="0">
                <a:solidFill>
                  <a:schemeClr val="tx1"/>
                </a:solidFill>
              </a:rPr>
              <a:t>} </a:t>
            </a:r>
            <a:r>
              <a:rPr lang="en-US" sz="2000" dirty="0" smtClean="0">
                <a:solidFill>
                  <a:schemeClr val="tx1"/>
                </a:solidFill>
              </a:rPr>
              <a:t>U </a:t>
            </a:r>
            <a:r>
              <a:rPr lang="en-US" sz="2000" dirty="0">
                <a:solidFill>
                  <a:schemeClr val="tx1"/>
                </a:solidFill>
              </a:rPr>
              <a:t>{attributes of </a:t>
            </a:r>
            <a:r>
              <a:rPr lang="en-US" sz="2000" dirty="0" smtClean="0">
                <a:solidFill>
                  <a:schemeClr val="tx1"/>
                </a:solidFill>
              </a:rPr>
              <a:t>S</a:t>
            </a:r>
            <a:r>
              <a:rPr lang="en-US" sz="2000" baseline="-25000" dirty="0" smtClean="0">
                <a:solidFill>
                  <a:schemeClr val="tx1"/>
                </a:solidFill>
              </a:rPr>
              <a:t>1</a:t>
            </a:r>
            <a:r>
              <a:rPr lang="en-US" sz="2000" dirty="0" smtClean="0">
                <a:solidFill>
                  <a:schemeClr val="tx1"/>
                </a:solidFill>
              </a:rPr>
              <a:t>} </a:t>
            </a:r>
            <a:r>
              <a:rPr lang="en-US" sz="2000" dirty="0">
                <a:solidFill>
                  <a:schemeClr val="tx1"/>
                </a:solidFill>
              </a:rPr>
              <a:t>U…U {attributes of </a:t>
            </a:r>
            <a:r>
              <a:rPr lang="en-US" sz="2000" dirty="0">
                <a:solidFill>
                  <a:schemeClr val="tx1"/>
                </a:solidFill>
              </a:rPr>
              <a:t>S</a:t>
            </a:r>
            <a:r>
              <a:rPr lang="en-US" sz="2000" baseline="-25000" dirty="0">
                <a:solidFill>
                  <a:schemeClr val="tx1"/>
                </a:solidFill>
              </a:rPr>
              <a:t>m</a:t>
            </a:r>
            <a:r>
              <a:rPr lang="en-US" sz="2000" dirty="0" smtClean="0">
                <a:solidFill>
                  <a:schemeClr val="tx1"/>
                </a:solidFill>
              </a:rPr>
              <a:t>} </a:t>
            </a:r>
            <a:r>
              <a:rPr lang="en-US" sz="2000" dirty="0">
                <a:solidFill>
                  <a:schemeClr val="tx1"/>
                </a:solidFill>
              </a:rPr>
              <a:t>U {t} and PK(L) = k. </a:t>
            </a:r>
            <a:r>
              <a:rPr lang="en-US" sz="2000" dirty="0">
                <a:solidFill>
                  <a:schemeClr val="tx1"/>
                </a:solidFill>
              </a:rPr>
              <a:t>The attribute t is called a type (or discriminating) attribute that indicates the subclass to which each tuple </a:t>
            </a:r>
            <a:r>
              <a:rPr lang="en-US" sz="2000" dirty="0">
                <a:solidFill>
                  <a:schemeClr val="tx1"/>
                </a:solidFill>
              </a:rPr>
              <a:t>belongs. This option works for a specialization whose subclasses are disjoint and may generate many null values if many </a:t>
            </a:r>
            <a:r>
              <a:rPr lang="en-US" sz="2000" dirty="0">
                <a:solidFill>
                  <a:schemeClr val="tx1"/>
                </a:solidFill>
              </a:rPr>
              <a:t>specific (local) attributes exist in the subclasses.</a:t>
            </a:r>
          </a:p>
          <a:p>
            <a:pPr>
              <a:buFont typeface="Wingdings" pitchFamily="2" charset="2"/>
              <a:buNone/>
            </a:pPr>
            <a:r>
              <a:rPr lang="en-US" sz="2500" dirty="0"/>
              <a:t>	</a:t>
            </a:r>
          </a:p>
          <a:p>
            <a:pPr>
              <a:buFont typeface="Wingdings" pitchFamily="2" charset="2"/>
              <a:buNone/>
            </a:pPr>
            <a:r>
              <a:rPr lang="en-US" sz="2000" b="1" dirty="0"/>
              <a:t>     Option 8D: Single relation with multiple type attributes.</a:t>
            </a:r>
          </a:p>
          <a:p>
            <a:pPr marL="402336" lvl="1" indent="0">
              <a:buNone/>
            </a:pPr>
            <a:r>
              <a:rPr lang="en-US" sz="2100" dirty="0">
                <a:solidFill>
                  <a:schemeClr val="tx1"/>
                </a:solidFill>
              </a:rPr>
              <a:t>Create </a:t>
            </a:r>
            <a:r>
              <a:rPr lang="en-US" sz="2100" dirty="0">
                <a:solidFill>
                  <a:schemeClr val="tx1"/>
                </a:solidFill>
              </a:rPr>
              <a:t>a single relation schema L with attributes </a:t>
            </a:r>
            <a:r>
              <a:rPr lang="en-US" sz="2100" dirty="0" err="1">
                <a:solidFill>
                  <a:schemeClr val="tx1"/>
                </a:solidFill>
              </a:rPr>
              <a:t>Attrs</a:t>
            </a:r>
            <a:r>
              <a:rPr lang="en-US" sz="2100" dirty="0">
                <a:solidFill>
                  <a:schemeClr val="tx1"/>
                </a:solidFill>
              </a:rPr>
              <a:t>(L) = </a:t>
            </a:r>
            <a:r>
              <a:rPr lang="en-US" sz="2400" dirty="0">
                <a:solidFill>
                  <a:schemeClr val="tx1"/>
                </a:solidFill>
              </a:rPr>
              <a:t>{k,a</a:t>
            </a:r>
            <a:r>
              <a:rPr lang="en-US" sz="2400" baseline="-25000" dirty="0">
                <a:solidFill>
                  <a:schemeClr val="tx1"/>
                </a:solidFill>
              </a:rPr>
              <a:t>1</a:t>
            </a:r>
            <a:r>
              <a:rPr lang="en-US" sz="2400" dirty="0">
                <a:solidFill>
                  <a:schemeClr val="tx1"/>
                </a:solidFill>
              </a:rPr>
              <a:t>,…a</a:t>
            </a:r>
            <a:r>
              <a:rPr lang="en-US" sz="2400" baseline="-25000" dirty="0">
                <a:solidFill>
                  <a:schemeClr val="tx1"/>
                </a:solidFill>
              </a:rPr>
              <a:t>n</a:t>
            </a:r>
            <a:r>
              <a:rPr lang="en-US" sz="2400" dirty="0">
                <a:solidFill>
                  <a:schemeClr val="tx1"/>
                </a:solidFill>
              </a:rPr>
              <a:t>}</a:t>
            </a:r>
            <a:r>
              <a:rPr lang="en-US" sz="2100" dirty="0" smtClean="0">
                <a:solidFill>
                  <a:schemeClr val="tx1"/>
                </a:solidFill>
              </a:rPr>
              <a:t> </a:t>
            </a:r>
            <a:r>
              <a:rPr lang="en-US" sz="2100" dirty="0">
                <a:solidFill>
                  <a:schemeClr val="tx1"/>
                </a:solidFill>
              </a:rPr>
              <a:t>U {attributes of </a:t>
            </a:r>
            <a:r>
              <a:rPr lang="en-US" sz="2400" dirty="0">
                <a:solidFill>
                  <a:schemeClr val="tx1"/>
                </a:solidFill>
              </a:rPr>
              <a:t>S</a:t>
            </a:r>
            <a:r>
              <a:rPr lang="en-US" sz="2400" baseline="-25000" dirty="0">
                <a:solidFill>
                  <a:schemeClr val="tx1"/>
                </a:solidFill>
              </a:rPr>
              <a:t>1</a:t>
            </a:r>
            <a:r>
              <a:rPr lang="en-US" sz="2100" dirty="0" smtClean="0">
                <a:solidFill>
                  <a:schemeClr val="tx1"/>
                </a:solidFill>
              </a:rPr>
              <a:t>} </a:t>
            </a:r>
            <a:r>
              <a:rPr lang="en-US" sz="2100" dirty="0">
                <a:solidFill>
                  <a:schemeClr val="tx1"/>
                </a:solidFill>
              </a:rPr>
              <a:t>U…U {attributes of </a:t>
            </a:r>
            <a:r>
              <a:rPr lang="en-US" sz="2400" dirty="0" smtClean="0">
                <a:solidFill>
                  <a:schemeClr val="tx1"/>
                </a:solidFill>
              </a:rPr>
              <a:t>S</a:t>
            </a:r>
            <a:r>
              <a:rPr lang="en-US" sz="2400" baseline="-25000" dirty="0" smtClean="0">
                <a:solidFill>
                  <a:schemeClr val="tx1"/>
                </a:solidFill>
              </a:rPr>
              <a:t>m</a:t>
            </a:r>
            <a:r>
              <a:rPr lang="en-US" sz="2100" dirty="0" smtClean="0">
                <a:solidFill>
                  <a:schemeClr val="tx1"/>
                </a:solidFill>
              </a:rPr>
              <a:t>} </a:t>
            </a:r>
            <a:r>
              <a:rPr lang="en-US" sz="2100" dirty="0">
                <a:solidFill>
                  <a:schemeClr val="tx1"/>
                </a:solidFill>
              </a:rPr>
              <a:t>U </a:t>
            </a:r>
            <a:r>
              <a:rPr lang="en-US" sz="2400" dirty="0" smtClean="0">
                <a:solidFill>
                  <a:schemeClr val="tx1"/>
                </a:solidFill>
              </a:rPr>
              <a:t>{t</a:t>
            </a:r>
            <a:r>
              <a:rPr lang="en-US" sz="2400" baseline="-25000" dirty="0" smtClean="0">
                <a:solidFill>
                  <a:schemeClr val="tx1"/>
                </a:solidFill>
              </a:rPr>
              <a:t>1</a:t>
            </a:r>
            <a:r>
              <a:rPr lang="en-US" sz="2400" dirty="0">
                <a:solidFill>
                  <a:schemeClr val="tx1"/>
                </a:solidFill>
              </a:rPr>
              <a:t>, </a:t>
            </a:r>
            <a:r>
              <a:rPr lang="en-US" sz="2400" dirty="0" smtClean="0">
                <a:solidFill>
                  <a:schemeClr val="tx1"/>
                </a:solidFill>
              </a:rPr>
              <a:t>t</a:t>
            </a:r>
            <a:r>
              <a:rPr lang="en-US" sz="2400" baseline="-25000" dirty="0" smtClean="0">
                <a:solidFill>
                  <a:schemeClr val="tx1"/>
                </a:solidFill>
              </a:rPr>
              <a:t>2</a:t>
            </a:r>
            <a:r>
              <a:rPr lang="en-US" sz="2400" dirty="0" smtClean="0">
                <a:solidFill>
                  <a:schemeClr val="tx1"/>
                </a:solidFill>
              </a:rPr>
              <a:t>,….,t</a:t>
            </a:r>
            <a:r>
              <a:rPr lang="en-US" sz="2400" baseline="-25000" dirty="0" smtClean="0">
                <a:solidFill>
                  <a:schemeClr val="tx1"/>
                </a:solidFill>
              </a:rPr>
              <a:t>m</a:t>
            </a:r>
            <a:r>
              <a:rPr lang="en-US" sz="2400" dirty="0">
                <a:solidFill>
                  <a:schemeClr val="tx1"/>
                </a:solidFill>
              </a:rPr>
              <a:t>}</a:t>
            </a:r>
            <a:r>
              <a:rPr lang="en-US" sz="2100" dirty="0" smtClean="0">
                <a:solidFill>
                  <a:schemeClr val="tx1"/>
                </a:solidFill>
              </a:rPr>
              <a:t> </a:t>
            </a:r>
            <a:r>
              <a:rPr lang="en-US" sz="2100" dirty="0">
                <a:solidFill>
                  <a:schemeClr val="tx1"/>
                </a:solidFill>
              </a:rPr>
              <a:t>and PK(L) = k. Each </a:t>
            </a:r>
            <a:r>
              <a:rPr lang="en-US" sz="2000" dirty="0" err="1" smtClean="0">
                <a:solidFill>
                  <a:schemeClr val="tx1"/>
                </a:solidFill>
              </a:rPr>
              <a:t>t</a:t>
            </a:r>
            <a:r>
              <a:rPr lang="en-US" sz="2000" baseline="-25000" dirty="0" err="1">
                <a:solidFill>
                  <a:schemeClr val="tx1"/>
                </a:solidFill>
              </a:rPr>
              <a:t>i</a:t>
            </a:r>
            <a:r>
              <a:rPr lang="en-US" sz="2100" dirty="0" smtClean="0">
                <a:solidFill>
                  <a:schemeClr val="tx1"/>
                </a:solidFill>
              </a:rPr>
              <a:t>, </a:t>
            </a:r>
            <a:r>
              <a:rPr lang="en-US" sz="2100" dirty="0">
                <a:solidFill>
                  <a:schemeClr val="tx1"/>
                </a:solidFill>
              </a:rPr>
              <a:t>1 &lt; </a:t>
            </a:r>
            <a:r>
              <a:rPr lang="en-US" sz="2100" dirty="0" err="1">
                <a:solidFill>
                  <a:schemeClr val="tx1"/>
                </a:solidFill>
              </a:rPr>
              <a:t>i</a:t>
            </a:r>
            <a:r>
              <a:rPr lang="en-US" sz="2100" dirty="0">
                <a:solidFill>
                  <a:schemeClr val="tx1"/>
                </a:solidFill>
              </a:rPr>
              <a:t> </a:t>
            </a:r>
            <a:r>
              <a:rPr lang="en-US" sz="2100" dirty="0">
                <a:solidFill>
                  <a:schemeClr val="tx1"/>
                </a:solidFill>
              </a:rPr>
              <a:t>&lt; m, is a Boolean type attribute indicating whether or not a </a:t>
            </a:r>
            <a:r>
              <a:rPr lang="en-US" sz="2100" dirty="0">
                <a:solidFill>
                  <a:schemeClr val="tx1"/>
                </a:solidFill>
              </a:rPr>
              <a:t>tuple belongs </a:t>
            </a:r>
            <a:r>
              <a:rPr lang="en-US" sz="2100" dirty="0">
                <a:solidFill>
                  <a:schemeClr val="tx1"/>
                </a:solidFill>
              </a:rPr>
              <a:t>to </a:t>
            </a:r>
            <a:r>
              <a:rPr lang="en-US" sz="2100" dirty="0" smtClean="0">
                <a:solidFill>
                  <a:schemeClr val="tx1"/>
                </a:solidFill>
              </a:rPr>
              <a:t>subclass </a:t>
            </a:r>
            <a:r>
              <a:rPr lang="en-US" sz="2400" dirty="0" smtClean="0">
                <a:solidFill>
                  <a:schemeClr val="tx1"/>
                </a:solidFill>
              </a:rPr>
              <a:t>S</a:t>
            </a:r>
            <a:r>
              <a:rPr lang="en-US" sz="2400" baseline="-25000" dirty="0" smtClean="0">
                <a:solidFill>
                  <a:schemeClr val="tx1"/>
                </a:solidFill>
              </a:rPr>
              <a:t>i</a:t>
            </a:r>
            <a:r>
              <a:rPr lang="en-US" sz="2100" dirty="0" smtClean="0">
                <a:solidFill>
                  <a:schemeClr val="tx1"/>
                </a:solidFill>
              </a:rPr>
              <a:t>. </a:t>
            </a:r>
            <a:r>
              <a:rPr lang="en-US" sz="2100" dirty="0">
                <a:solidFill>
                  <a:schemeClr val="tx1"/>
                </a:solidFill>
              </a:rPr>
              <a:t>This option is used for a specialization whose </a:t>
            </a:r>
            <a:r>
              <a:rPr lang="en-US" sz="2100" dirty="0">
                <a:solidFill>
                  <a:schemeClr val="tx1"/>
                </a:solidFill>
              </a:rPr>
              <a:t>subclasses are </a:t>
            </a:r>
            <a:r>
              <a:rPr lang="en-US" sz="2100" dirty="0">
                <a:solidFill>
                  <a:schemeClr val="tx1"/>
                </a:solidFill>
              </a:rPr>
              <a:t>overlapping (but will also work for a disjoint specialization).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a:xfrm>
            <a:off x="533400" y="1219200"/>
            <a:ext cx="2209800" cy="4165600"/>
          </a:xfrm>
        </p:spPr>
        <p:txBody>
          <a:bodyPr anchor="t"/>
          <a:lstStyle/>
          <a:p>
            <a:pPr algn="l"/>
            <a:r>
              <a:rPr lang="en-US" sz="2400" b="1" dirty="0"/>
              <a:t>FIGURE 4.4</a:t>
            </a:r>
            <a:r>
              <a:rPr lang="en-US" sz="2400" dirty="0"/>
              <a:t/>
            </a:r>
            <a:br>
              <a:rPr lang="en-US" sz="2400" dirty="0"/>
            </a:br>
            <a:r>
              <a:rPr lang="en-US" sz="2400" dirty="0"/>
              <a:t>EER diagram notation for an attribute-defined specialization on </a:t>
            </a:r>
            <a:r>
              <a:rPr lang="en-US" sz="2400" dirty="0" err="1"/>
              <a:t>JobType</a:t>
            </a:r>
            <a:r>
              <a:rPr lang="en-US" sz="2400" dirty="0"/>
              <a:t>.</a:t>
            </a:r>
            <a:endParaRPr lang="en-US" dirty="0"/>
          </a:p>
        </p:txBody>
      </p:sp>
      <p:pic>
        <p:nvPicPr>
          <p:cNvPr id="238595" name="Picture 3" descr="31755_FIG0404.gif                                              0001035BEeyore                         B91DCF3B:"/>
          <p:cNvPicPr>
            <a:picLocks noGrp="1" noChangeAspect="1" noChangeArrowheads="1"/>
          </p:cNvPicPr>
          <p:nvPr>
            <p:ph idx="1"/>
          </p:nvPr>
        </p:nvPicPr>
        <p:blipFill>
          <a:blip r:embed="rId2" cstate="print"/>
          <a:srcRect/>
          <a:stretch>
            <a:fillRect/>
          </a:stretch>
        </p:blipFill>
        <p:spPr>
          <a:xfrm>
            <a:off x="2743200" y="1676400"/>
            <a:ext cx="5697538" cy="4600575"/>
          </a:xfrm>
        </p:spPr>
      </p:pic>
      <p:sp>
        <p:nvSpPr>
          <p:cNvPr id="5" name="Slide Number Placeholder 4"/>
          <p:cNvSpPr>
            <a:spLocks noGrp="1"/>
          </p:cNvSpPr>
          <p:nvPr>
            <p:ph type="sldNum" sz="quarter" idx="12"/>
          </p:nvPr>
        </p:nvSpPr>
        <p:spPr/>
        <p:txBody>
          <a:bodyPr/>
          <a:lstStyle/>
          <a:p>
            <a:fld id="{B6F15528-21DE-4FAA-801E-634DDDAF4B2B}" type="slidenum">
              <a:rPr lang="en-US" smtClean="0"/>
              <a:pPr/>
              <a:t>24</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1" name="Rectangle 3"/>
          <p:cNvSpPr>
            <a:spLocks noChangeArrowheads="1"/>
          </p:cNvSpPr>
          <p:nvPr/>
        </p:nvSpPr>
        <p:spPr bwMode="auto">
          <a:xfrm>
            <a:off x="609600" y="990600"/>
            <a:ext cx="7772400" cy="1143000"/>
          </a:xfrm>
          <a:prstGeom prst="rect">
            <a:avLst/>
          </a:prstGeom>
          <a:noFill/>
          <a:ln w="9525">
            <a:noFill/>
            <a:miter lim="800000"/>
            <a:headEnd/>
            <a:tailEnd/>
          </a:ln>
          <a:effectLst/>
        </p:spPr>
        <p:txBody>
          <a:bodyPr lIns="92075" tIns="46038" rIns="92075" bIns="46038"/>
          <a:lstStyle/>
          <a:p>
            <a:r>
              <a:rPr lang="en-US" b="1" dirty="0">
                <a:solidFill>
                  <a:srgbClr val="333399"/>
                </a:solidFill>
                <a:latin typeface="Arial" charset="0"/>
              </a:rPr>
              <a:t>FIGURE 7.4</a:t>
            </a:r>
            <a:br>
              <a:rPr lang="en-US" b="1" dirty="0">
                <a:solidFill>
                  <a:srgbClr val="333399"/>
                </a:solidFill>
                <a:latin typeface="Arial" charset="0"/>
              </a:rPr>
            </a:br>
            <a:r>
              <a:rPr lang="en-US" dirty="0">
                <a:solidFill>
                  <a:srgbClr val="333399"/>
                </a:solidFill>
                <a:latin typeface="Arial" charset="0"/>
              </a:rPr>
              <a:t>Options for mapping specialization or generalization. </a:t>
            </a:r>
            <a:br>
              <a:rPr lang="en-US" dirty="0">
                <a:solidFill>
                  <a:srgbClr val="333399"/>
                </a:solidFill>
                <a:latin typeface="Arial" charset="0"/>
              </a:rPr>
            </a:br>
            <a:r>
              <a:rPr lang="en-US" dirty="0">
                <a:solidFill>
                  <a:srgbClr val="333399"/>
                </a:solidFill>
                <a:latin typeface="Arial" charset="0"/>
              </a:rPr>
              <a:t>(c) Mapping the EER schema in Figure 4.4 using option 8C.</a:t>
            </a:r>
            <a:endParaRPr lang="en-US" b="1" dirty="0">
              <a:solidFill>
                <a:srgbClr val="333399"/>
              </a:solidFill>
              <a:latin typeface="Arial" charset="0"/>
            </a:endParaRPr>
          </a:p>
        </p:txBody>
      </p:sp>
      <p:pic>
        <p:nvPicPr>
          <p:cNvPr id="237572" name="Picture 4" descr=" 0704c.gif                                                      0001035BEeyore                         B91DCF3B:"/>
          <p:cNvPicPr>
            <a:picLocks noChangeAspect="1" noChangeArrowheads="1"/>
          </p:cNvPicPr>
          <p:nvPr/>
        </p:nvPicPr>
        <p:blipFill>
          <a:blip r:embed="rId2" cstate="print"/>
          <a:srcRect/>
          <a:stretch>
            <a:fillRect/>
          </a:stretch>
        </p:blipFill>
        <p:spPr bwMode="auto">
          <a:xfrm>
            <a:off x="762000" y="3505200"/>
            <a:ext cx="7772400" cy="571500"/>
          </a:xfrm>
          <a:prstGeom prst="rect">
            <a:avLst/>
          </a:prstGeom>
          <a:noFill/>
        </p:spPr>
      </p:pic>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a:xfrm>
            <a:off x="533400" y="990600"/>
            <a:ext cx="7988300" cy="2933700"/>
          </a:xfrm>
        </p:spPr>
        <p:txBody>
          <a:bodyPr anchor="t"/>
          <a:lstStyle/>
          <a:p>
            <a:pPr algn="l"/>
            <a:r>
              <a:rPr lang="en-US" sz="2400" b="1" dirty="0"/>
              <a:t>FIGURE 4.5</a:t>
            </a:r>
            <a:r>
              <a:rPr lang="en-US" sz="2400" dirty="0"/>
              <a:t/>
            </a:r>
            <a:br>
              <a:rPr lang="en-US" sz="2400" dirty="0"/>
            </a:br>
            <a:r>
              <a:rPr lang="en-US" sz="2400" dirty="0"/>
              <a:t>EER diagram notation for an overlapping (</a:t>
            </a:r>
            <a:r>
              <a:rPr lang="en-US" sz="2400" dirty="0" err="1"/>
              <a:t>nondisjoint</a:t>
            </a:r>
            <a:r>
              <a:rPr lang="en-US" sz="2400" dirty="0"/>
              <a:t>) specialization.</a:t>
            </a:r>
            <a:endParaRPr lang="en-US" dirty="0"/>
          </a:p>
        </p:txBody>
      </p:sp>
      <p:pic>
        <p:nvPicPr>
          <p:cNvPr id="240643" name="Picture 3" descr="31755_FIG0405.gif                                              0001035BEeyore                         B91DCF3B:"/>
          <p:cNvPicPr>
            <a:picLocks noGrp="1" noChangeAspect="1" noChangeArrowheads="1"/>
          </p:cNvPicPr>
          <p:nvPr>
            <p:ph idx="1"/>
          </p:nvPr>
        </p:nvPicPr>
        <p:blipFill>
          <a:blip r:embed="rId2" cstate="print"/>
          <a:srcRect/>
          <a:stretch>
            <a:fillRect/>
          </a:stretch>
        </p:blipFill>
        <p:spPr>
          <a:xfrm>
            <a:off x="914400" y="2133600"/>
            <a:ext cx="7343775" cy="4451350"/>
          </a:xfrm>
        </p:spPr>
      </p:pic>
      <p:sp>
        <p:nvSpPr>
          <p:cNvPr id="5" name="Slide Number Placeholder 4"/>
          <p:cNvSpPr>
            <a:spLocks noGrp="1"/>
          </p:cNvSpPr>
          <p:nvPr>
            <p:ph type="sldNum" sz="quarter" idx="12"/>
          </p:nvPr>
        </p:nvSpPr>
        <p:spPr/>
        <p:txBody>
          <a:bodyPr/>
          <a:lstStyle/>
          <a:p>
            <a:fld id="{B6F15528-21DE-4FAA-801E-634DDDAF4B2B}" type="slidenum">
              <a:rPr lang="en-US" smtClean="0"/>
              <a:pPr/>
              <a:t>26</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9" name="Rectangle 3"/>
          <p:cNvSpPr>
            <a:spLocks noChangeArrowheads="1"/>
          </p:cNvSpPr>
          <p:nvPr/>
        </p:nvSpPr>
        <p:spPr bwMode="auto">
          <a:xfrm>
            <a:off x="685800" y="1143000"/>
            <a:ext cx="7772400" cy="1143000"/>
          </a:xfrm>
          <a:prstGeom prst="rect">
            <a:avLst/>
          </a:prstGeom>
          <a:noFill/>
          <a:ln w="9525">
            <a:noFill/>
            <a:miter lim="800000"/>
            <a:headEnd/>
            <a:tailEnd/>
          </a:ln>
          <a:effectLst/>
        </p:spPr>
        <p:txBody>
          <a:bodyPr lIns="92075" tIns="46038" rIns="92075" bIns="46038"/>
          <a:lstStyle/>
          <a:p>
            <a:r>
              <a:rPr lang="en-US" b="1" dirty="0">
                <a:solidFill>
                  <a:srgbClr val="333399"/>
                </a:solidFill>
                <a:latin typeface="Arial" charset="0"/>
              </a:rPr>
              <a:t>FIGURE 7.4</a:t>
            </a:r>
            <a:br>
              <a:rPr lang="en-US" b="1" dirty="0">
                <a:solidFill>
                  <a:srgbClr val="333399"/>
                </a:solidFill>
                <a:latin typeface="Arial" charset="0"/>
              </a:rPr>
            </a:br>
            <a:r>
              <a:rPr lang="en-US" dirty="0">
                <a:solidFill>
                  <a:srgbClr val="333399"/>
                </a:solidFill>
                <a:latin typeface="Arial" charset="0"/>
              </a:rPr>
              <a:t>Options for mapping specialization or generalization. </a:t>
            </a:r>
            <a:br>
              <a:rPr lang="en-US" dirty="0">
                <a:solidFill>
                  <a:srgbClr val="333399"/>
                </a:solidFill>
                <a:latin typeface="Arial" charset="0"/>
              </a:rPr>
            </a:br>
            <a:r>
              <a:rPr lang="en-US" dirty="0">
                <a:solidFill>
                  <a:srgbClr val="333399"/>
                </a:solidFill>
                <a:latin typeface="Arial" charset="0"/>
              </a:rPr>
              <a:t>(d) Mapping Figure 4.5 using option 8D with Boolean type fields </a:t>
            </a:r>
            <a:r>
              <a:rPr lang="en-US" dirty="0" err="1">
                <a:solidFill>
                  <a:srgbClr val="333399"/>
                </a:solidFill>
                <a:latin typeface="Arial" charset="0"/>
              </a:rPr>
              <a:t>Mflag</a:t>
            </a:r>
            <a:r>
              <a:rPr lang="en-US" dirty="0">
                <a:solidFill>
                  <a:srgbClr val="333399"/>
                </a:solidFill>
                <a:latin typeface="Arial" charset="0"/>
              </a:rPr>
              <a:t> and </a:t>
            </a:r>
            <a:r>
              <a:rPr lang="en-US" dirty="0" err="1">
                <a:solidFill>
                  <a:srgbClr val="333399"/>
                </a:solidFill>
                <a:latin typeface="Arial" charset="0"/>
              </a:rPr>
              <a:t>Pflag</a:t>
            </a:r>
            <a:r>
              <a:rPr lang="en-US" dirty="0">
                <a:solidFill>
                  <a:srgbClr val="333399"/>
                </a:solidFill>
                <a:latin typeface="Arial" charset="0"/>
              </a:rPr>
              <a:t>.</a:t>
            </a:r>
            <a:endParaRPr lang="en-US" b="1" dirty="0">
              <a:solidFill>
                <a:srgbClr val="333399"/>
              </a:solidFill>
              <a:latin typeface="Arial" charset="0"/>
            </a:endParaRPr>
          </a:p>
        </p:txBody>
      </p:sp>
      <p:pic>
        <p:nvPicPr>
          <p:cNvPr id="239620" name="Picture 4" descr=" 0704d.gif                                                      0001035BEeyore                         B91DCF3B:"/>
          <p:cNvPicPr>
            <a:picLocks noChangeAspect="1" noChangeArrowheads="1"/>
          </p:cNvPicPr>
          <p:nvPr/>
        </p:nvPicPr>
        <p:blipFill>
          <a:blip r:embed="rId2" cstate="print"/>
          <a:srcRect/>
          <a:stretch>
            <a:fillRect/>
          </a:stretch>
        </p:blipFill>
        <p:spPr bwMode="auto">
          <a:xfrm>
            <a:off x="685800" y="4572000"/>
            <a:ext cx="7775575" cy="482600"/>
          </a:xfrm>
          <a:prstGeom prst="rect">
            <a:avLst/>
          </a:prstGeom>
          <a:noFill/>
        </p:spPr>
      </p:pic>
      <p:sp>
        <p:nvSpPr>
          <p:cNvPr id="5" name="Slide Number Placeholder 4"/>
          <p:cNvSpPr>
            <a:spLocks noGrp="1"/>
          </p:cNvSpPr>
          <p:nvPr>
            <p:ph type="sldNum" sz="quarter" idx="12"/>
          </p:nvPr>
        </p:nvSpPr>
        <p:spPr/>
        <p:txBody>
          <a:bodyPr/>
          <a:lstStyle/>
          <a:p>
            <a:fld id="{B6F15528-21DE-4FAA-801E-634DDDAF4B2B}" type="slidenum">
              <a:rPr lang="en-US" smtClean="0"/>
              <a:pPr/>
              <a:t>27</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304800" y="1219200"/>
            <a:ext cx="8534400" cy="842962"/>
          </a:xfrm>
        </p:spPr>
        <p:txBody>
          <a:bodyPr>
            <a:normAutofit fontScale="90000"/>
          </a:bodyPr>
          <a:lstStyle/>
          <a:p>
            <a:r>
              <a:rPr lang="en-US" sz="3600" b="1" dirty="0"/>
              <a:t>Mapping EER Model Constructs to Relations (cont)</a:t>
            </a:r>
          </a:p>
        </p:txBody>
      </p:sp>
      <p:sp>
        <p:nvSpPr>
          <p:cNvPr id="186371" name="Rectangle 3"/>
          <p:cNvSpPr>
            <a:spLocks noGrp="1" noChangeArrowheads="1"/>
          </p:cNvSpPr>
          <p:nvPr>
            <p:ph type="body" idx="1"/>
          </p:nvPr>
        </p:nvSpPr>
        <p:spPr>
          <a:xfrm>
            <a:off x="381000" y="2667000"/>
            <a:ext cx="8413750" cy="3962400"/>
          </a:xfrm>
        </p:spPr>
        <p:txBody>
          <a:bodyPr>
            <a:normAutofit fontScale="92500" lnSpcReduction="20000"/>
          </a:bodyPr>
          <a:lstStyle/>
          <a:p>
            <a:pPr>
              <a:lnSpc>
                <a:spcPct val="90000"/>
              </a:lnSpc>
            </a:pPr>
            <a:r>
              <a:rPr lang="en-US" sz="2000" b="1" dirty="0">
                <a:latin typeface="Arial" charset="0"/>
              </a:rPr>
              <a:t>Mapping of Shared Subclasses (Multiple Inheritance)</a:t>
            </a:r>
          </a:p>
          <a:p>
            <a:pPr>
              <a:lnSpc>
                <a:spcPct val="90000"/>
              </a:lnSpc>
              <a:buFont typeface="Wingdings" pitchFamily="2" charset="2"/>
              <a:buNone/>
            </a:pPr>
            <a:r>
              <a:rPr lang="en-US" sz="2400" dirty="0"/>
              <a:t>     </a:t>
            </a:r>
            <a:r>
              <a:rPr lang="en-US" sz="2000" dirty="0"/>
              <a:t>A shared subclass, such as STUDENT_ASSISTANT, is a subclass of several classes, indicating multiple inheritance. These classes must all have the same key attribute; otherwise, the shared subclass would be modeled as a category. </a:t>
            </a:r>
          </a:p>
          <a:p>
            <a:pPr>
              <a:lnSpc>
                <a:spcPct val="90000"/>
              </a:lnSpc>
              <a:buFont typeface="Wingdings" pitchFamily="2" charset="2"/>
              <a:buNone/>
            </a:pPr>
            <a:endParaRPr lang="en-US" sz="2000" dirty="0"/>
          </a:p>
          <a:p>
            <a:pPr>
              <a:lnSpc>
                <a:spcPct val="90000"/>
              </a:lnSpc>
              <a:buFont typeface="Wingdings" pitchFamily="2" charset="2"/>
              <a:buNone/>
            </a:pPr>
            <a:r>
              <a:rPr lang="en-US" sz="2000" dirty="0"/>
              <a:t>	We can apply any of the options discussed in Step 8 to a shared subclass, subject to the restriction discussed in Step 8 of the mapping algorithm. Below both 8C and 8D are used for the shared class STUDENT_ASSISTANT.</a:t>
            </a:r>
          </a:p>
          <a:p>
            <a:pPr>
              <a:lnSpc>
                <a:spcPct val="90000"/>
              </a:lnSpc>
              <a:buFont typeface="Wingdings" pitchFamily="2" charset="2"/>
              <a:buNone/>
            </a:pPr>
            <a:r>
              <a:rPr lang="en-US" dirty="0"/>
              <a:t>     </a:t>
            </a:r>
          </a:p>
          <a:p>
            <a:pPr>
              <a:lnSpc>
                <a:spcPct val="90000"/>
              </a:lnSpc>
              <a:buFont typeface="Wingdings" pitchFamily="2" charset="2"/>
              <a:buNone/>
            </a:pPr>
            <a:r>
              <a:rPr lang="en-US" dirty="0"/>
              <a:t>     </a:t>
            </a:r>
          </a:p>
          <a:p>
            <a:pPr>
              <a:lnSpc>
                <a:spcPct val="90000"/>
              </a:lnSpc>
              <a:buFont typeface="Wingdings" pitchFamily="2" charset="2"/>
              <a:buNone/>
            </a:pPr>
            <a:endParaRPr lang="en-US" dirty="0"/>
          </a:p>
          <a:p>
            <a:pPr>
              <a:lnSpc>
                <a:spcPct val="90000"/>
              </a:lnSpc>
              <a:buFont typeface="Wingdings" pitchFamily="2" charset="2"/>
              <a:buNone/>
            </a:pPr>
            <a:r>
              <a:rPr lang="en-US" dirty="0"/>
              <a:t>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28</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2AF4C95E-4C95-4549-A5F3-5988419C6D55}" type="slidenum">
              <a:rPr lang="en-US"/>
              <a:pPr/>
              <a:t>29</a:t>
            </a:fld>
            <a:endParaRPr lang="en-US"/>
          </a:p>
        </p:txBody>
      </p:sp>
      <p:sp>
        <p:nvSpPr>
          <p:cNvPr id="233474" name="Rectangle 2"/>
          <p:cNvSpPr>
            <a:spLocks noGrp="1" noChangeArrowheads="1"/>
          </p:cNvSpPr>
          <p:nvPr>
            <p:ph type="title"/>
          </p:nvPr>
        </p:nvSpPr>
        <p:spPr>
          <a:xfrm>
            <a:off x="533400" y="762000"/>
            <a:ext cx="2921000" cy="2933700"/>
          </a:xfrm>
        </p:spPr>
        <p:txBody>
          <a:bodyPr anchor="t"/>
          <a:lstStyle/>
          <a:p>
            <a:pPr algn="l"/>
            <a:r>
              <a:rPr lang="en-US" sz="2400" b="1" dirty="0"/>
              <a:t>FIGURE </a:t>
            </a:r>
            <a:r>
              <a:rPr lang="en-US" sz="2400" b="1" dirty="0" smtClean="0"/>
              <a:t>4.8</a:t>
            </a:r>
            <a:r>
              <a:rPr lang="en-US" sz="2400" dirty="0"/>
              <a:t/>
            </a:r>
            <a:br>
              <a:rPr lang="en-US" sz="2400" dirty="0"/>
            </a:br>
            <a:r>
              <a:rPr lang="en-US" sz="2400" dirty="0"/>
              <a:t>A specialization lattice with multiple inheritance for a UNIVERSITY database.</a:t>
            </a:r>
            <a:endParaRPr lang="en-US" dirty="0"/>
          </a:p>
        </p:txBody>
      </p:sp>
      <p:pic>
        <p:nvPicPr>
          <p:cNvPr id="233475" name="Picture 3" descr="31755_FIG0407.gif                                              0001035BEeyore                         B91DCF3B:"/>
          <p:cNvPicPr>
            <a:picLocks noGrp="1" noChangeAspect="1" noChangeArrowheads="1"/>
          </p:cNvPicPr>
          <p:nvPr>
            <p:ph idx="1"/>
          </p:nvPr>
        </p:nvPicPr>
        <p:blipFill>
          <a:blip r:embed="rId2" cstate="print"/>
          <a:srcRect/>
          <a:stretch>
            <a:fillRect/>
          </a:stretch>
        </p:blipFill>
        <p:spPr>
          <a:xfrm>
            <a:off x="3200400" y="533400"/>
            <a:ext cx="5294312" cy="6096000"/>
          </a:xfrm>
        </p:spPr>
      </p:pic>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a:xfrm>
            <a:off x="838200" y="1066800"/>
            <a:ext cx="7173913" cy="1143000"/>
          </a:xfrm>
        </p:spPr>
        <p:txBody>
          <a:bodyPr anchor="t">
            <a:normAutofit/>
          </a:bodyPr>
          <a:lstStyle/>
          <a:p>
            <a:pPr algn="l"/>
            <a:r>
              <a:rPr lang="en-US" sz="2400" dirty="0" smtClean="0"/>
              <a:t>Mapping </a:t>
            </a:r>
            <a:r>
              <a:rPr lang="en-US" sz="2400" dirty="0"/>
              <a:t>the EER specialization lattice in Figure </a:t>
            </a:r>
            <a:r>
              <a:rPr lang="en-US" sz="2400" dirty="0" smtClean="0"/>
              <a:t>4.8 </a:t>
            </a:r>
            <a:r>
              <a:rPr lang="en-US" sz="2400" dirty="0"/>
              <a:t>using multiple options.</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30</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pic>
        <p:nvPicPr>
          <p:cNvPr id="1026" name="Picture 2" descr="C:\Users\MEHTAB\Desktop\Captu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285999"/>
            <a:ext cx="7772400" cy="44958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a:xfrm>
            <a:off x="304800" y="990600"/>
            <a:ext cx="8534400" cy="842962"/>
          </a:xfrm>
        </p:spPr>
        <p:txBody>
          <a:bodyPr>
            <a:normAutofit fontScale="90000"/>
          </a:bodyPr>
          <a:lstStyle/>
          <a:p>
            <a:r>
              <a:rPr lang="en-US" sz="4000" b="1" dirty="0"/>
              <a:t>Mapping EER Model Constructs to Relations (cont)</a:t>
            </a:r>
          </a:p>
        </p:txBody>
      </p:sp>
      <p:sp>
        <p:nvSpPr>
          <p:cNvPr id="221187" name="Rectangle 3"/>
          <p:cNvSpPr>
            <a:spLocks noGrp="1" noChangeArrowheads="1"/>
          </p:cNvSpPr>
          <p:nvPr>
            <p:ph type="body" idx="1"/>
          </p:nvPr>
        </p:nvSpPr>
        <p:spPr>
          <a:xfrm>
            <a:off x="381000" y="2046288"/>
            <a:ext cx="8413750" cy="4811712"/>
          </a:xfrm>
        </p:spPr>
        <p:txBody>
          <a:bodyPr/>
          <a:lstStyle/>
          <a:p>
            <a:r>
              <a:rPr lang="en-US" sz="2000" b="1" dirty="0">
                <a:latin typeface="Arial" charset="0"/>
              </a:rPr>
              <a:t>Step 9: Mapping of Union Types (Categories).</a:t>
            </a:r>
          </a:p>
          <a:p>
            <a:pPr>
              <a:buFont typeface="Wingdings" pitchFamily="2" charset="2"/>
              <a:buNone/>
            </a:pPr>
            <a:endParaRPr lang="en-US" sz="900" b="1" dirty="0"/>
          </a:p>
          <a:p>
            <a:pPr lvl="1"/>
            <a:r>
              <a:rPr lang="en-US" sz="2000" dirty="0"/>
              <a:t>For mapping a category whose defining </a:t>
            </a:r>
            <a:r>
              <a:rPr lang="en-US" sz="2000" dirty="0" err="1"/>
              <a:t>superclass</a:t>
            </a:r>
            <a:r>
              <a:rPr lang="en-US" sz="2000" dirty="0"/>
              <a:t> have different keys, it is customary to specify a new key attribute, called a </a:t>
            </a:r>
            <a:r>
              <a:rPr lang="en-US" sz="2000" b="1" dirty="0"/>
              <a:t>surrogate key</a:t>
            </a:r>
            <a:r>
              <a:rPr lang="en-US" sz="2000" dirty="0"/>
              <a:t>, when creating a relation to correspond to the category.</a:t>
            </a:r>
            <a:r>
              <a:rPr lang="en-US" sz="1600" dirty="0"/>
              <a:t> </a:t>
            </a:r>
          </a:p>
          <a:p>
            <a:pPr lvl="1"/>
            <a:r>
              <a:rPr lang="en-US" sz="2000" dirty="0"/>
              <a:t>In the example below we can create a relation OWNER to correspond to the OWNER category and include any attributes of the category in this relation. The primary key of the OWNER relation is the surrogate key, which we called </a:t>
            </a:r>
            <a:r>
              <a:rPr lang="en-US" sz="2000" dirty="0" err="1"/>
              <a:t>OwnerId</a:t>
            </a:r>
            <a:r>
              <a:rPr lang="en-US" sz="2000" dirty="0"/>
              <a:t>.</a:t>
            </a:r>
          </a:p>
          <a:p>
            <a:pPr>
              <a:buFont typeface="Wingdings" pitchFamily="2" charset="2"/>
              <a:buNone/>
            </a:pPr>
            <a:r>
              <a:rPr lang="en-US" sz="1800" dirty="0"/>
              <a:t>  </a:t>
            </a:r>
          </a:p>
          <a:p>
            <a:pPr>
              <a:buFont typeface="Wingdings" pitchFamily="2" charset="2"/>
              <a:buNone/>
            </a:pPr>
            <a:endParaRPr lang="en-US" sz="1800" dirty="0"/>
          </a:p>
          <a:p>
            <a:pPr>
              <a:buFont typeface="Wingdings" pitchFamily="2" charset="2"/>
              <a:buNone/>
            </a:pPr>
            <a:r>
              <a:rPr lang="en-US" sz="1800" dirty="0"/>
              <a:t>       </a:t>
            </a:r>
            <a:endParaRPr lang="en-US" sz="2400" b="1" dirty="0">
              <a:solidFill>
                <a:srgbClr val="FF0066"/>
              </a:solidFill>
            </a:endParaRPr>
          </a:p>
          <a:p>
            <a:pPr>
              <a:buFont typeface="Wingdings" pitchFamily="2" charset="2"/>
              <a:buNone/>
            </a:pPr>
            <a:endParaRPr lang="en-US" sz="2400" dirty="0"/>
          </a:p>
          <a:p>
            <a:pPr>
              <a:buFont typeface="Wingdings" pitchFamily="2" charset="2"/>
              <a:buNone/>
            </a:pPr>
            <a:endParaRPr lang="en-US"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31</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34FB8A52-E27B-4DCF-881F-2D04B4E281FD}" type="slidenum">
              <a:rPr lang="en-US"/>
              <a:pPr/>
              <a:t>32</a:t>
            </a:fld>
            <a:endParaRPr lang="en-US"/>
          </a:p>
        </p:txBody>
      </p:sp>
      <p:sp>
        <p:nvSpPr>
          <p:cNvPr id="231426" name="Rectangle 1026"/>
          <p:cNvSpPr>
            <a:spLocks noGrp="1" noChangeArrowheads="1"/>
          </p:cNvSpPr>
          <p:nvPr>
            <p:ph type="title"/>
          </p:nvPr>
        </p:nvSpPr>
        <p:spPr>
          <a:xfrm>
            <a:off x="533400" y="914400"/>
            <a:ext cx="3860800" cy="2933700"/>
          </a:xfrm>
        </p:spPr>
        <p:txBody>
          <a:bodyPr anchor="t"/>
          <a:lstStyle/>
          <a:p>
            <a:pPr algn="l"/>
            <a:r>
              <a:rPr lang="en-US" sz="2400" b="1" dirty="0"/>
              <a:t>FIGURE </a:t>
            </a:r>
            <a:r>
              <a:rPr lang="en-US" sz="2400" b="1" dirty="0" smtClean="0"/>
              <a:t>4.9</a:t>
            </a:r>
            <a:r>
              <a:rPr lang="en-US" sz="2400" dirty="0"/>
              <a:t/>
            </a:r>
            <a:br>
              <a:rPr lang="en-US" sz="2400" dirty="0"/>
            </a:br>
            <a:r>
              <a:rPr lang="en-US" sz="2400" dirty="0"/>
              <a:t>Two categories (union types): OWNER and REGISTERED_VEHICLE.</a:t>
            </a:r>
            <a:endParaRPr lang="en-US" dirty="0"/>
          </a:p>
        </p:txBody>
      </p:sp>
      <p:pic>
        <p:nvPicPr>
          <p:cNvPr id="231427" name="Picture 1027" descr="31755_FIG0408.gif                                              0001035BEeyore                         B91DCF3B:"/>
          <p:cNvPicPr>
            <a:picLocks noGrp="1" noChangeAspect="1" noChangeArrowheads="1"/>
          </p:cNvPicPr>
          <p:nvPr>
            <p:ph idx="1"/>
          </p:nvPr>
        </p:nvPicPr>
        <p:blipFill>
          <a:blip r:embed="rId2" cstate="print"/>
          <a:srcRect/>
          <a:stretch>
            <a:fillRect/>
          </a:stretch>
        </p:blipFill>
        <p:spPr>
          <a:xfrm>
            <a:off x="4419600" y="533400"/>
            <a:ext cx="4421188" cy="6096000"/>
          </a:xfrm>
        </p:spPr>
      </p:pic>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a:xfrm>
            <a:off x="457200" y="990600"/>
            <a:ext cx="2844800" cy="2755900"/>
          </a:xfrm>
        </p:spPr>
        <p:txBody>
          <a:bodyPr anchor="t"/>
          <a:lstStyle/>
          <a:p>
            <a:pPr algn="l"/>
            <a:r>
              <a:rPr lang="en-US" sz="2400" b="1" dirty="0"/>
              <a:t>FIGURE </a:t>
            </a:r>
            <a:r>
              <a:rPr lang="en-US" sz="2400" b="1" dirty="0" smtClean="0"/>
              <a:t>4.9</a:t>
            </a:r>
            <a:r>
              <a:rPr lang="en-US" sz="2400" b="1" dirty="0"/>
              <a:t/>
            </a:r>
            <a:br>
              <a:rPr lang="en-US" sz="2400" b="1" dirty="0"/>
            </a:br>
            <a:r>
              <a:rPr lang="en-US" sz="2400" dirty="0"/>
              <a:t>Mapping the EER categories (union types) in Figure </a:t>
            </a:r>
            <a:r>
              <a:rPr lang="en-US" sz="2400" dirty="0" smtClean="0"/>
              <a:t>9.7 </a:t>
            </a:r>
            <a:r>
              <a:rPr lang="en-US" sz="2400" dirty="0"/>
              <a:t>to relations.</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33</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pic>
        <p:nvPicPr>
          <p:cNvPr id="2050" name="Picture 2" descr="C:\Users\MEHTAB\Desktop\Captu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914400"/>
            <a:ext cx="5867399" cy="5638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469</TotalTime>
  <Words>1608</Words>
  <Application>Microsoft Office PowerPoint</Application>
  <PresentationFormat>On-screen Show (4:3)</PresentationFormat>
  <Paragraphs>215</Paragraphs>
  <Slides>33</Slides>
  <Notes>1</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Urban</vt:lpstr>
      <vt:lpstr>Database Systems </vt:lpstr>
      <vt:lpstr>Today’s Agenda</vt:lpstr>
      <vt:lpstr> ER-to-Relational Mapping Algorithm</vt:lpstr>
      <vt:lpstr>FIGURE 7.1 The ER conceptual schema diagram for the COMPANY database.</vt:lpstr>
      <vt:lpstr>FIGURE 7.2 Result of mapping the COMPANY ER schema into a relational schema.</vt:lpstr>
      <vt:lpstr> ER-to-Relational Mapping Algorithm (cont)</vt:lpstr>
      <vt:lpstr>PowerPoint Presentation</vt:lpstr>
      <vt:lpstr> ER-to-Relational Mapping Algorithm (cont)</vt:lpstr>
      <vt:lpstr> ER-to-Relational Mapping Algorithm (cont)</vt:lpstr>
      <vt:lpstr>FIGURE 7.1 The ER conceptual schema diagram for the COMPANY database.</vt:lpstr>
      <vt:lpstr> ER-to-Relational Mapping Algorithm (cont)</vt:lpstr>
      <vt:lpstr> ER-to-Relational Mapping Algorithm (cont)</vt:lpstr>
      <vt:lpstr> ER-to-Relational Mapping Algorithm (cont)</vt:lpstr>
      <vt:lpstr>FIGURE 4.11 Ternary relationship types. (a) The SUPPLY relationship. </vt:lpstr>
      <vt:lpstr>FIGURE 7.3 Mapping the n-ary relationship type SUPPLY from Figure 4.11a.</vt:lpstr>
      <vt:lpstr> Summary of Mapping constructs and constraints</vt:lpstr>
      <vt:lpstr>Mapping EER Model Constructs to Relations </vt:lpstr>
      <vt:lpstr>FIGURE 4.4 EER diagram notation for an attribute-defined specialization on JobType.</vt:lpstr>
      <vt:lpstr>PowerPoint Presentation</vt:lpstr>
      <vt:lpstr>FIGURE 4.3 Generalization. (b) Generalizing CAR and TRUCK into the superclass VEHICLE.</vt:lpstr>
      <vt:lpstr>PowerPoint Presentation</vt:lpstr>
      <vt:lpstr>PowerPoint Presentation</vt:lpstr>
      <vt:lpstr>Mapping EER Model Constructs to Relations (cont)</vt:lpstr>
      <vt:lpstr>FIGURE 4.4 EER diagram notation for an attribute-defined specialization on JobType.</vt:lpstr>
      <vt:lpstr>PowerPoint Presentation</vt:lpstr>
      <vt:lpstr>FIGURE 4.5 EER diagram notation for an overlapping (nondisjoint) specialization.</vt:lpstr>
      <vt:lpstr>PowerPoint Presentation</vt:lpstr>
      <vt:lpstr>Mapping EER Model Constructs to Relations (cont)</vt:lpstr>
      <vt:lpstr>FIGURE 4.8 A specialization lattice with multiple inheritance for a UNIVERSITY database.</vt:lpstr>
      <vt:lpstr>Mapping the EER specialization lattice in Figure 4.8 using multiple options.</vt:lpstr>
      <vt:lpstr>Mapping EER Model Constructs to Relations (cont)</vt:lpstr>
      <vt:lpstr>FIGURE 4.9 Two categories (union types): OWNER and REGISTERED_VEHICLE.</vt:lpstr>
      <vt:lpstr>FIGURE 4.9 Mapping the EER categories (union types) in Figure 9.7 to relations.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dc:title>
  <dc:creator>RANA</dc:creator>
  <cp:lastModifiedBy>MEHTAB</cp:lastModifiedBy>
  <cp:revision>26</cp:revision>
  <dcterms:created xsi:type="dcterms:W3CDTF">2006-08-16T00:00:00Z</dcterms:created>
  <dcterms:modified xsi:type="dcterms:W3CDTF">2022-04-28T06:55:26Z</dcterms:modified>
</cp:coreProperties>
</file>
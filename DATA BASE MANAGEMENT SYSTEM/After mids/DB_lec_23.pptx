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259" r:id="rId4"/>
    <p:sldId id="262" r:id="rId5"/>
    <p:sldId id="263" r:id="rId6"/>
    <p:sldId id="264" r:id="rId7"/>
    <p:sldId id="265" r:id="rId8"/>
    <p:sldId id="28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A5091-3F6C-4A8A-B948-852BE2472831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A925A-73C6-4157-9B1D-923C980BC7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Normalization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23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cs typeface="Times New Roman" pitchFamily="18" charset="0"/>
              </a:rPr>
              <a:t>Today’s Agenda</a:t>
            </a:r>
            <a:endParaRPr lang="en-US" dirty="0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>
                <a:cs typeface="Times New Roman" pitchFamily="18" charset="0"/>
              </a:rPr>
              <a:t>Normalization </a:t>
            </a:r>
            <a:r>
              <a:rPr lang="en-US" sz="2800" dirty="0">
                <a:cs typeface="Times New Roman" pitchFamily="18" charset="0"/>
              </a:rPr>
              <a:t>of Relations </a:t>
            </a:r>
          </a:p>
          <a:p>
            <a:r>
              <a:rPr lang="en-US" sz="2800" dirty="0" smtClean="0">
                <a:cs typeface="Times New Roman" pitchFamily="18" charset="0"/>
              </a:rPr>
              <a:t>Practical </a:t>
            </a:r>
            <a:r>
              <a:rPr lang="en-US" sz="2800" dirty="0">
                <a:cs typeface="Times New Roman" pitchFamily="18" charset="0"/>
              </a:rPr>
              <a:t>Use of Normal Forms </a:t>
            </a:r>
          </a:p>
          <a:p>
            <a:r>
              <a:rPr lang="en-US" sz="2800" dirty="0" smtClean="0">
                <a:cs typeface="Times New Roman" pitchFamily="18" charset="0"/>
              </a:rPr>
              <a:t>Definitions </a:t>
            </a:r>
            <a:r>
              <a:rPr lang="en-US" sz="2800" dirty="0">
                <a:cs typeface="Times New Roman" pitchFamily="18" charset="0"/>
              </a:rPr>
              <a:t>of Keys and </a:t>
            </a:r>
            <a:r>
              <a:rPr lang="en-US" sz="2800" dirty="0" smtClean="0">
                <a:cs typeface="Times New Roman" pitchFamily="18" charset="0"/>
              </a:rPr>
              <a:t>Attributes, Participating </a:t>
            </a:r>
            <a:r>
              <a:rPr lang="en-US" sz="2800" dirty="0">
                <a:cs typeface="Times New Roman" pitchFamily="18" charset="0"/>
              </a:rPr>
              <a:t>in Keys </a:t>
            </a:r>
          </a:p>
          <a:p>
            <a:r>
              <a:rPr lang="en-US" sz="2800" dirty="0" smtClean="0">
                <a:cs typeface="Times New Roman" pitchFamily="18" charset="0"/>
              </a:rPr>
              <a:t>First </a:t>
            </a:r>
            <a:r>
              <a:rPr lang="en-US" sz="2800" dirty="0">
                <a:cs typeface="Times New Roman" pitchFamily="18" charset="0"/>
              </a:rPr>
              <a:t>Normal Form</a:t>
            </a:r>
          </a:p>
          <a:p>
            <a:pPr>
              <a:buFont typeface="Wingdings" pitchFamily="2" charset="2"/>
              <a:buNone/>
            </a:pPr>
            <a:endParaRPr lang="en-US" sz="28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cs typeface="Times New Roman" pitchFamily="18" charset="0"/>
              </a:rPr>
              <a:t>Normalization </a:t>
            </a:r>
            <a:r>
              <a:rPr lang="en-US" sz="3200" dirty="0">
                <a:cs typeface="Times New Roman" pitchFamily="18" charset="0"/>
              </a:rPr>
              <a:t>of </a:t>
            </a:r>
            <a:r>
              <a:rPr lang="en-US" sz="3200" dirty="0" smtClean="0">
                <a:cs typeface="Times New Roman" pitchFamily="18" charset="0"/>
              </a:rPr>
              <a:t>Relations</a:t>
            </a:r>
            <a:endParaRPr lang="en-US" sz="3200" dirty="0">
              <a:cs typeface="Times New Roman" pitchFamily="18" charset="0"/>
            </a:endParaRP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>
                <a:cs typeface="Times New Roman" pitchFamily="18" charset="0"/>
              </a:rPr>
              <a:t>Normalization</a:t>
            </a:r>
            <a:r>
              <a:rPr lang="en-US" sz="2800">
                <a:cs typeface="Times New Roman" pitchFamily="18" charset="0"/>
              </a:rPr>
              <a:t>: The process of decomposing unsatisfactory "bad" relations by breaking up their attributes into smaller relations</a:t>
            </a:r>
          </a:p>
          <a:p>
            <a:pPr>
              <a:buFont typeface="Wingdings" pitchFamily="2" charset="2"/>
              <a:buNone/>
            </a:pPr>
            <a:endParaRPr lang="en-US" sz="2800">
              <a:cs typeface="Times New Roman" pitchFamily="18" charset="0"/>
            </a:endParaRPr>
          </a:p>
          <a:p>
            <a:r>
              <a:rPr lang="en-US" sz="2800" b="1">
                <a:cs typeface="Times New Roman" pitchFamily="18" charset="0"/>
              </a:rPr>
              <a:t>Normal form</a:t>
            </a:r>
            <a:r>
              <a:rPr lang="en-US" sz="2800">
                <a:cs typeface="Times New Roman" pitchFamily="18" charset="0"/>
              </a:rPr>
              <a:t>: Condition using keys and FDs of a relation to certify whether a relation schema is in a particular normal form</a:t>
            </a:r>
            <a:r>
              <a:rPr lang="en-US" sz="280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cs typeface="Times New Roman" pitchFamily="18" charset="0"/>
              </a:rPr>
              <a:t>Definitions </a:t>
            </a:r>
            <a:r>
              <a:rPr lang="en-US" sz="3200" dirty="0">
                <a:cs typeface="Times New Roman" pitchFamily="18" charset="0"/>
              </a:rPr>
              <a:t>of Keys and Attributes 	Participating in Keys (1)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cs typeface="Times New Roman" pitchFamily="18" charset="0"/>
              </a:rPr>
              <a:t>A </a:t>
            </a:r>
            <a:r>
              <a:rPr lang="en-US" sz="2800" b="1">
                <a:cs typeface="Times New Roman" pitchFamily="18" charset="0"/>
              </a:rPr>
              <a:t>superkey</a:t>
            </a:r>
            <a:r>
              <a:rPr lang="en-US" sz="2800">
                <a:cs typeface="Times New Roman" pitchFamily="18" charset="0"/>
              </a:rPr>
              <a:t> of a relation schema </a:t>
            </a:r>
            <a:r>
              <a:rPr lang="en-US" sz="2800" i="1">
                <a:cs typeface="Times New Roman" pitchFamily="18" charset="0"/>
              </a:rPr>
              <a:t>R</a:t>
            </a:r>
            <a:r>
              <a:rPr lang="en-US" sz="2800">
                <a:cs typeface="Times New Roman" pitchFamily="18" charset="0"/>
              </a:rPr>
              <a:t> = {</a:t>
            </a:r>
            <a:r>
              <a:rPr lang="en-US" sz="2800" i="1">
                <a:cs typeface="Times New Roman" pitchFamily="18" charset="0"/>
              </a:rPr>
              <a:t>A</a:t>
            </a:r>
            <a:r>
              <a:rPr lang="en-US" sz="2800" baseline="-30000">
                <a:cs typeface="Times New Roman" pitchFamily="18" charset="0"/>
              </a:rPr>
              <a:t>1</a:t>
            </a:r>
            <a:r>
              <a:rPr lang="en-US" sz="2800">
                <a:cs typeface="Times New Roman" pitchFamily="18" charset="0"/>
              </a:rPr>
              <a:t>, </a:t>
            </a:r>
            <a:r>
              <a:rPr lang="en-US" sz="2800" i="1">
                <a:cs typeface="Times New Roman" pitchFamily="18" charset="0"/>
              </a:rPr>
              <a:t>A</a:t>
            </a:r>
            <a:r>
              <a:rPr lang="en-US" sz="2800" baseline="-30000">
                <a:cs typeface="Times New Roman" pitchFamily="18" charset="0"/>
              </a:rPr>
              <a:t>2</a:t>
            </a:r>
            <a:r>
              <a:rPr lang="en-US" sz="2800">
                <a:cs typeface="Times New Roman" pitchFamily="18" charset="0"/>
              </a:rPr>
              <a:t>, ...., </a:t>
            </a:r>
            <a:r>
              <a:rPr lang="en-US" sz="2800" i="1">
                <a:cs typeface="Times New Roman" pitchFamily="18" charset="0"/>
              </a:rPr>
              <a:t>A</a:t>
            </a:r>
            <a:r>
              <a:rPr lang="en-US" sz="2800" baseline="-30000">
                <a:cs typeface="Times New Roman" pitchFamily="18" charset="0"/>
              </a:rPr>
              <a:t>n</a:t>
            </a:r>
            <a:r>
              <a:rPr lang="en-US" sz="2800">
                <a:cs typeface="Times New Roman" pitchFamily="18" charset="0"/>
              </a:rPr>
              <a:t>} is a set of attributes </a:t>
            </a:r>
            <a:r>
              <a:rPr lang="en-US" sz="2800" i="1">
                <a:cs typeface="Times New Roman" pitchFamily="18" charset="0"/>
              </a:rPr>
              <a:t>S</a:t>
            </a:r>
            <a:r>
              <a:rPr lang="en-US" sz="2800">
                <a:cs typeface="Times New Roman" pitchFamily="18" charset="0"/>
              </a:rPr>
              <a:t> </a:t>
            </a:r>
            <a:r>
              <a:rPr lang="en-US" sz="2800" i="1" u="sng">
                <a:cs typeface="Times New Roman" pitchFamily="18" charset="0"/>
              </a:rPr>
              <a:t>subset-of</a:t>
            </a:r>
            <a:r>
              <a:rPr lang="en-US" sz="2800">
                <a:cs typeface="Times New Roman" pitchFamily="18" charset="0"/>
              </a:rPr>
              <a:t> </a:t>
            </a:r>
            <a:r>
              <a:rPr lang="en-US" sz="2800" i="1">
                <a:cs typeface="Times New Roman" pitchFamily="18" charset="0"/>
              </a:rPr>
              <a:t>R</a:t>
            </a:r>
            <a:r>
              <a:rPr lang="en-US" sz="2800">
                <a:cs typeface="Times New Roman" pitchFamily="18" charset="0"/>
              </a:rPr>
              <a:t> with the property that no two tuples </a:t>
            </a:r>
            <a:r>
              <a:rPr lang="en-US" sz="2800" i="1">
                <a:cs typeface="Times New Roman" pitchFamily="18" charset="0"/>
              </a:rPr>
              <a:t>t</a:t>
            </a:r>
            <a:r>
              <a:rPr lang="en-US" sz="2800" baseline="-30000">
                <a:cs typeface="Times New Roman" pitchFamily="18" charset="0"/>
              </a:rPr>
              <a:t>1</a:t>
            </a:r>
            <a:r>
              <a:rPr lang="en-US" sz="2800">
                <a:cs typeface="Times New Roman" pitchFamily="18" charset="0"/>
              </a:rPr>
              <a:t> and </a:t>
            </a:r>
            <a:r>
              <a:rPr lang="en-US" sz="2800" i="1">
                <a:cs typeface="Times New Roman" pitchFamily="18" charset="0"/>
              </a:rPr>
              <a:t>t</a:t>
            </a:r>
            <a:r>
              <a:rPr lang="en-US" sz="2800" baseline="-30000">
                <a:cs typeface="Times New Roman" pitchFamily="18" charset="0"/>
              </a:rPr>
              <a:t>2</a:t>
            </a:r>
            <a:r>
              <a:rPr lang="en-US" sz="2800">
                <a:cs typeface="Times New Roman" pitchFamily="18" charset="0"/>
              </a:rPr>
              <a:t> in any legal relation state </a:t>
            </a:r>
            <a:r>
              <a:rPr lang="en-US" sz="2800" i="1">
                <a:cs typeface="Times New Roman" pitchFamily="18" charset="0"/>
              </a:rPr>
              <a:t>r</a:t>
            </a:r>
            <a:r>
              <a:rPr lang="en-US" sz="2800">
                <a:cs typeface="Times New Roman" pitchFamily="18" charset="0"/>
              </a:rPr>
              <a:t> of </a:t>
            </a:r>
            <a:r>
              <a:rPr lang="en-US" sz="2800" i="1">
                <a:cs typeface="Times New Roman" pitchFamily="18" charset="0"/>
              </a:rPr>
              <a:t>R</a:t>
            </a:r>
            <a:r>
              <a:rPr lang="en-US" sz="2800">
                <a:cs typeface="Times New Roman" pitchFamily="18" charset="0"/>
              </a:rPr>
              <a:t> will have </a:t>
            </a:r>
            <a:r>
              <a:rPr lang="en-US" sz="2800" i="1">
                <a:cs typeface="Times New Roman" pitchFamily="18" charset="0"/>
              </a:rPr>
              <a:t>t</a:t>
            </a:r>
            <a:r>
              <a:rPr lang="en-US" sz="2800" baseline="-30000">
                <a:cs typeface="Times New Roman" pitchFamily="18" charset="0"/>
              </a:rPr>
              <a:t>1</a:t>
            </a:r>
            <a:r>
              <a:rPr lang="en-US" sz="2800">
                <a:cs typeface="Times New Roman" pitchFamily="18" charset="0"/>
              </a:rPr>
              <a:t>[</a:t>
            </a:r>
            <a:r>
              <a:rPr lang="en-US" sz="2800" i="1">
                <a:cs typeface="Times New Roman" pitchFamily="18" charset="0"/>
              </a:rPr>
              <a:t>S</a:t>
            </a:r>
            <a:r>
              <a:rPr lang="en-US" sz="2800">
                <a:cs typeface="Times New Roman" pitchFamily="18" charset="0"/>
              </a:rPr>
              <a:t>] = </a:t>
            </a:r>
            <a:r>
              <a:rPr lang="en-US" sz="2800" i="1">
                <a:cs typeface="Times New Roman" pitchFamily="18" charset="0"/>
              </a:rPr>
              <a:t>t</a:t>
            </a:r>
            <a:r>
              <a:rPr lang="en-US" sz="2800" baseline="-30000">
                <a:cs typeface="Times New Roman" pitchFamily="18" charset="0"/>
              </a:rPr>
              <a:t>2</a:t>
            </a:r>
            <a:r>
              <a:rPr lang="en-US" sz="2800">
                <a:cs typeface="Times New Roman" pitchFamily="18" charset="0"/>
              </a:rPr>
              <a:t>[</a:t>
            </a:r>
            <a:r>
              <a:rPr lang="en-US" sz="2800" i="1">
                <a:cs typeface="Times New Roman" pitchFamily="18" charset="0"/>
              </a:rPr>
              <a:t>S</a:t>
            </a:r>
            <a:r>
              <a:rPr lang="en-US" sz="2800">
                <a:cs typeface="Times New Roman" pitchFamily="18" charset="0"/>
              </a:rPr>
              <a:t>]</a:t>
            </a:r>
            <a:r>
              <a:rPr lang="en-US" sz="2800"/>
              <a:t> </a:t>
            </a:r>
          </a:p>
          <a:p>
            <a:pPr>
              <a:buFont typeface="Wingdings" pitchFamily="2" charset="2"/>
              <a:buNone/>
            </a:pPr>
            <a:endParaRPr lang="en-US" sz="2800"/>
          </a:p>
          <a:p>
            <a:r>
              <a:rPr lang="en-US" sz="2800">
                <a:cs typeface="Times New Roman" pitchFamily="18" charset="0"/>
              </a:rPr>
              <a:t>A </a:t>
            </a:r>
            <a:r>
              <a:rPr lang="en-US" sz="2800" b="1">
                <a:cs typeface="Times New Roman" pitchFamily="18" charset="0"/>
              </a:rPr>
              <a:t>key</a:t>
            </a:r>
            <a:r>
              <a:rPr lang="en-US" sz="2800">
                <a:cs typeface="Times New Roman" pitchFamily="18" charset="0"/>
              </a:rPr>
              <a:t> </a:t>
            </a:r>
            <a:r>
              <a:rPr lang="en-US" sz="2800" i="1">
                <a:cs typeface="Times New Roman" pitchFamily="18" charset="0"/>
              </a:rPr>
              <a:t>K</a:t>
            </a:r>
            <a:r>
              <a:rPr lang="en-US" sz="2800">
                <a:cs typeface="Times New Roman" pitchFamily="18" charset="0"/>
              </a:rPr>
              <a:t> is a superkey with the </a:t>
            </a:r>
            <a:r>
              <a:rPr lang="en-US" sz="2800" i="1">
                <a:cs typeface="Times New Roman" pitchFamily="18" charset="0"/>
              </a:rPr>
              <a:t>additional property</a:t>
            </a:r>
            <a:r>
              <a:rPr lang="en-US" sz="2800">
                <a:cs typeface="Times New Roman" pitchFamily="18" charset="0"/>
              </a:rPr>
              <a:t> that removal of any attribute from </a:t>
            </a:r>
            <a:r>
              <a:rPr lang="en-US" sz="2800" i="1">
                <a:cs typeface="Times New Roman" pitchFamily="18" charset="0"/>
              </a:rPr>
              <a:t>K</a:t>
            </a:r>
            <a:r>
              <a:rPr lang="en-US" sz="2800">
                <a:cs typeface="Times New Roman" pitchFamily="18" charset="0"/>
              </a:rPr>
              <a:t> will cause </a:t>
            </a:r>
            <a:r>
              <a:rPr lang="en-US" sz="2800" i="1">
                <a:cs typeface="Times New Roman" pitchFamily="18" charset="0"/>
              </a:rPr>
              <a:t>K</a:t>
            </a:r>
            <a:r>
              <a:rPr lang="en-US" sz="2800">
                <a:cs typeface="Times New Roman" pitchFamily="18" charset="0"/>
              </a:rPr>
              <a:t> not to be a superkey any more.</a:t>
            </a:r>
            <a:r>
              <a:rPr lang="en-US" sz="2800"/>
              <a:t> </a:t>
            </a:r>
          </a:p>
          <a:p>
            <a:pPr>
              <a:buFont typeface="Wingdings" pitchFamily="2" charset="2"/>
              <a:buNone/>
            </a:pPr>
            <a:endParaRPr lang="en-US" sz="280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cs typeface="Times New Roman" pitchFamily="18" charset="0"/>
              </a:rPr>
              <a:t>Definitions of Keys and Attributes 	Participating in Keys (2)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cs typeface="Times New Roman" pitchFamily="18" charset="0"/>
              </a:rPr>
              <a:t>If a relation schema has more than one key, each is called a </a:t>
            </a:r>
            <a:r>
              <a:rPr lang="en-US" sz="2800" b="1">
                <a:cs typeface="Times New Roman" pitchFamily="18" charset="0"/>
              </a:rPr>
              <a:t>candidate key.</a:t>
            </a:r>
            <a:r>
              <a:rPr lang="en-US" sz="2800">
                <a:cs typeface="Times New Roman" pitchFamily="18" charset="0"/>
              </a:rPr>
              <a:t> One of the candidate keys is </a:t>
            </a:r>
            <a:r>
              <a:rPr lang="en-US" sz="2800" i="1">
                <a:cs typeface="Times New Roman" pitchFamily="18" charset="0"/>
              </a:rPr>
              <a:t>arbitrarily</a:t>
            </a:r>
            <a:r>
              <a:rPr lang="en-US" sz="2800">
                <a:cs typeface="Times New Roman" pitchFamily="18" charset="0"/>
              </a:rPr>
              <a:t> designated to be the </a:t>
            </a:r>
            <a:r>
              <a:rPr lang="en-US" sz="2800" b="1">
                <a:cs typeface="Times New Roman" pitchFamily="18" charset="0"/>
              </a:rPr>
              <a:t>primary key,</a:t>
            </a:r>
            <a:r>
              <a:rPr lang="en-US" sz="2800">
                <a:cs typeface="Times New Roman" pitchFamily="18" charset="0"/>
              </a:rPr>
              <a:t> and the others are called </a:t>
            </a:r>
            <a:r>
              <a:rPr lang="en-US" sz="2800" i="1">
                <a:cs typeface="Times New Roman" pitchFamily="18" charset="0"/>
              </a:rPr>
              <a:t>secondary keys</a:t>
            </a:r>
            <a:r>
              <a:rPr lang="en-US" sz="2800">
                <a:cs typeface="Times New Roman" pitchFamily="18" charset="0"/>
              </a:rPr>
              <a:t>.</a:t>
            </a:r>
          </a:p>
          <a:p>
            <a:r>
              <a:rPr lang="en-US" sz="2800">
                <a:cs typeface="Times New Roman" pitchFamily="18" charset="0"/>
              </a:rPr>
              <a:t>A</a:t>
            </a:r>
            <a:r>
              <a:rPr lang="en-US" sz="2800" b="1">
                <a:cs typeface="Times New Roman" pitchFamily="18" charset="0"/>
              </a:rPr>
              <a:t> Prime attribute </a:t>
            </a:r>
            <a:r>
              <a:rPr lang="en-US" sz="2800">
                <a:cs typeface="Times New Roman" pitchFamily="18" charset="0"/>
              </a:rPr>
              <a:t>must be</a:t>
            </a:r>
            <a:r>
              <a:rPr lang="en-US" sz="2800" b="1">
                <a:cs typeface="Times New Roman" pitchFamily="18" charset="0"/>
              </a:rPr>
              <a:t> </a:t>
            </a:r>
            <a:r>
              <a:rPr lang="en-US" sz="2800">
                <a:cs typeface="Times New Roman" pitchFamily="18" charset="0"/>
              </a:rPr>
              <a:t>a member of </a:t>
            </a:r>
            <a:r>
              <a:rPr lang="en-US" sz="2800" i="1">
                <a:cs typeface="Times New Roman" pitchFamily="18" charset="0"/>
              </a:rPr>
              <a:t>some candidate key</a:t>
            </a:r>
          </a:p>
          <a:p>
            <a:r>
              <a:rPr lang="en-US" sz="2800">
                <a:cs typeface="Times New Roman" pitchFamily="18" charset="0"/>
              </a:rPr>
              <a:t>A</a:t>
            </a:r>
            <a:r>
              <a:rPr lang="en-US" sz="2800" b="1">
                <a:cs typeface="Times New Roman" pitchFamily="18" charset="0"/>
              </a:rPr>
              <a:t> Nonprime attribute </a:t>
            </a:r>
            <a:r>
              <a:rPr lang="en-US" sz="2800">
                <a:cs typeface="Times New Roman" pitchFamily="18" charset="0"/>
              </a:rPr>
              <a:t>is not a prime attribute—that is, it is not a member of any candidate key.</a:t>
            </a:r>
            <a:r>
              <a:rPr lang="en-US" sz="2800" b="1">
                <a:cs typeface="Times New Roman" pitchFamily="18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cs typeface="Times New Roman" pitchFamily="18" charset="0"/>
              </a:rPr>
              <a:t>First </a:t>
            </a:r>
            <a:r>
              <a:rPr lang="en-US" sz="3200" b="1" dirty="0">
                <a:cs typeface="Times New Roman" pitchFamily="18" charset="0"/>
              </a:rPr>
              <a:t>Normal Form</a:t>
            </a:r>
            <a:r>
              <a:rPr lang="en-US" dirty="0"/>
              <a:t> 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Disallows multivalued </a:t>
            </a:r>
            <a:r>
              <a:rPr lang="en-US" dirty="0"/>
              <a:t>attributes, composite attributes, and their combinations.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states </a:t>
            </a:r>
            <a:r>
              <a:rPr lang="en-US" dirty="0" smtClean="0"/>
              <a:t>that the </a:t>
            </a:r>
            <a:r>
              <a:rPr lang="en-US" dirty="0"/>
              <a:t>domain of an attribute must include only </a:t>
            </a:r>
            <a:r>
              <a:rPr lang="en-US" i="1" dirty="0"/>
              <a:t>atomic </a:t>
            </a:r>
            <a:r>
              <a:rPr lang="en-US" dirty="0"/>
              <a:t>(simple, indivisible) </a:t>
            </a:r>
            <a:r>
              <a:rPr lang="en-US" i="1" dirty="0"/>
              <a:t>values </a:t>
            </a:r>
            <a:r>
              <a:rPr lang="en-US" dirty="0" smtClean="0"/>
              <a:t>and that </a:t>
            </a:r>
            <a:r>
              <a:rPr lang="en-US" dirty="0"/>
              <a:t>the value of any attribute in a tuple must be a </a:t>
            </a:r>
            <a:r>
              <a:rPr lang="en-US" i="1" dirty="0"/>
              <a:t>single value </a:t>
            </a:r>
            <a:r>
              <a:rPr lang="en-US" dirty="0"/>
              <a:t>from the domain </a:t>
            </a:r>
            <a:r>
              <a:rPr lang="en-US" dirty="0" smtClean="0"/>
              <a:t>of that </a:t>
            </a:r>
            <a:r>
              <a:rPr lang="en-US" dirty="0"/>
              <a:t>attribute.</a:t>
            </a:r>
            <a:r>
              <a:rPr lang="en-US" sz="2800" dirty="0" smtClean="0"/>
              <a:t> </a:t>
            </a:r>
          </a:p>
          <a:p>
            <a:r>
              <a:rPr lang="en-US" dirty="0"/>
              <a:t>In other words, </a:t>
            </a:r>
            <a:r>
              <a:rPr lang="en-US" dirty="0" smtClean="0"/>
              <a:t>1NF disallows </a:t>
            </a:r>
            <a:r>
              <a:rPr lang="en-US" i="1" dirty="0"/>
              <a:t>relations within relations </a:t>
            </a:r>
            <a:r>
              <a:rPr lang="en-US" dirty="0"/>
              <a:t>or </a:t>
            </a:r>
            <a:r>
              <a:rPr lang="en-US" i="1" dirty="0"/>
              <a:t>relations as attribute values within tuples</a:t>
            </a:r>
            <a:r>
              <a:rPr lang="en-US" dirty="0"/>
              <a:t>.</a:t>
            </a:r>
            <a:endParaRPr lang="en-US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8229600" cy="1066800"/>
          </a:xfrm>
        </p:spPr>
        <p:txBody>
          <a:bodyPr/>
          <a:lstStyle/>
          <a:p>
            <a:r>
              <a:rPr lang="en-US" sz="3200" dirty="0"/>
              <a:t>Figure 10.8 Normalization into 1NF</a:t>
            </a:r>
          </a:p>
        </p:txBody>
      </p:sp>
      <p:sp>
        <p:nvSpPr>
          <p:cNvPr id="232454" name="Rectangle 6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7" name="Picture 4" descr="31755_FIG1408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39838" y="1809750"/>
            <a:ext cx="6786562" cy="4464050"/>
          </a:xfr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4267200" cy="5359400"/>
          </a:xfrm>
        </p:spPr>
        <p:txBody>
          <a:bodyPr>
            <a:normAutofit/>
          </a:bodyPr>
          <a:lstStyle/>
          <a:p>
            <a:r>
              <a:rPr lang="en-US" sz="3600" b="1" dirty="0"/>
              <a:t>FIGURE 10.9</a:t>
            </a:r>
            <a:br>
              <a:rPr lang="en-US" sz="3600" b="1" dirty="0"/>
            </a:br>
            <a:r>
              <a:rPr lang="en-US" sz="3600" dirty="0"/>
              <a:t>Normalizing nested relations into 1NF. </a:t>
            </a:r>
            <a:r>
              <a:rPr lang="en-US" sz="1600" dirty="0"/>
              <a:t>(a) Schema of the EMP_PROJ relation with a “nested relation” attribute PROJS. (b) Example extension of the EMP_PROJ relation showing nested relations within each </a:t>
            </a:r>
            <a:r>
              <a:rPr lang="en-US" sz="1600" dirty="0" err="1"/>
              <a:t>tuple</a:t>
            </a:r>
            <a:r>
              <a:rPr lang="en-US" sz="1600" dirty="0"/>
              <a:t>. (c) Decomposition of EMP_PROJ into relations EMP_PROJ1 and EMP_PROJ2 by propagating the primary key.</a:t>
            </a:r>
            <a:endParaRPr lang="en-US" sz="3600" b="1" dirty="0"/>
          </a:p>
        </p:txBody>
      </p:sp>
      <p:pic>
        <p:nvPicPr>
          <p:cNvPr id="595972" name="Picture 4" descr="31755_FIG1409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029200" y="825500"/>
            <a:ext cx="3617913" cy="60325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115</TotalTime>
  <Words>339</Words>
  <Application>Microsoft Office PowerPoint</Application>
  <PresentationFormat>On-screen Show (4:3)</PresentationFormat>
  <Paragraphs>42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Urban</vt:lpstr>
      <vt:lpstr>Database Systems </vt:lpstr>
      <vt:lpstr>Today’s Agenda</vt:lpstr>
      <vt:lpstr>Normalization of Relations</vt:lpstr>
      <vt:lpstr>Definitions of Keys and Attributes  Participating in Keys (1)</vt:lpstr>
      <vt:lpstr>Definitions of Keys and Attributes  Participating in Keys (2)</vt:lpstr>
      <vt:lpstr>First Normal Form </vt:lpstr>
      <vt:lpstr>Figure 10.8 Normalization into 1NF</vt:lpstr>
      <vt:lpstr>FIGURE 10.9 Normalizing nested relations into 1NF. (a) Schema of the EMP_PROJ relation with a “nested relation” attribute PROJS. (b) Example extension of the EMP_PROJ relation showing nested relations within each tuple. (c) Decomposition of EMP_PROJ into relations EMP_PROJ1 and EMP_PROJ2 by propagating the primary key.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12</cp:revision>
  <dcterms:created xsi:type="dcterms:W3CDTF">2006-08-16T00:00:00Z</dcterms:created>
  <dcterms:modified xsi:type="dcterms:W3CDTF">2022-05-23T08:41:54Z</dcterms:modified>
</cp:coreProperties>
</file>
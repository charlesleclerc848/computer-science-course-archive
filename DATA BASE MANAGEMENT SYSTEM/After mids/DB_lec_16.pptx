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72" r:id="rId7"/>
    <p:sldId id="273" r:id="rId8"/>
    <p:sldId id="274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6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DD6B6-C29E-4778-98F3-672E31335581}" type="datetimeFigureOut">
              <a:rPr lang="en-US" smtClean="0"/>
              <a:pPr/>
              <a:t>12/2/2020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4B13E-461B-4697-B65B-75763240DB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77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288" y="609600"/>
            <a:ext cx="717391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153275" y="6386513"/>
            <a:ext cx="1905000" cy="387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Chapter 5-</a:t>
            </a:r>
            <a:fld id="{58B75BF8-346E-4E98-BCB5-7A58D87756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Relational Model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smtClean="0"/>
              <a:t>Lecture 16</a:t>
            </a:r>
            <a:endParaRPr lang="en-US" sz="2800" u="sn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Relational Model</a:t>
            </a:r>
          </a:p>
          <a:p>
            <a:pPr lvl="1"/>
            <a:r>
              <a:rPr lang="en-US" b="1" dirty="0" smtClean="0"/>
              <a:t>Domain, </a:t>
            </a:r>
            <a:r>
              <a:rPr lang="en-US" b="1" dirty="0" err="1" smtClean="0"/>
              <a:t>tuple</a:t>
            </a:r>
            <a:r>
              <a:rPr lang="en-US" b="1" dirty="0" smtClean="0"/>
              <a:t>, attribute and relation</a:t>
            </a:r>
          </a:p>
          <a:p>
            <a:pPr lvl="1"/>
            <a:r>
              <a:rPr lang="en-US" b="1" dirty="0" smtClean="0"/>
              <a:t>Characteristics of relation</a:t>
            </a:r>
          </a:p>
          <a:p>
            <a:endParaRPr lang="en-US" b="1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7772400" cy="766762"/>
          </a:xfrm>
        </p:spPr>
        <p:txBody>
          <a:bodyPr/>
          <a:lstStyle/>
          <a:p>
            <a:r>
              <a:rPr lang="en-US" b="1" dirty="0"/>
              <a:t>Relational Model Concepts</a:t>
            </a:r>
            <a:endParaRPr lang="en-US" dirty="0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9149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The relational model represents the database as a collection of </a:t>
            </a:r>
            <a:r>
              <a:rPr lang="en-US" i="1" dirty="0" smtClean="0"/>
              <a:t>relations.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The </a:t>
            </a:r>
            <a:r>
              <a:rPr lang="en-US" sz="2800" dirty="0"/>
              <a:t>relational Model of Data is based on the concept of a Relation.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A Relation is a mathematical concept based on the ideas of sets.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The strength of the relational approach to data management comes from the formal foundation provided by the theory of relations.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371600"/>
            <a:ext cx="7292975" cy="754062"/>
          </a:xfrm>
        </p:spPr>
        <p:txBody>
          <a:bodyPr/>
          <a:lstStyle/>
          <a:p>
            <a:r>
              <a:rPr lang="en-US" sz="3600" b="1" dirty="0"/>
              <a:t>Relational Model Concepts</a:t>
            </a:r>
          </a:p>
        </p:txBody>
      </p:sp>
      <p:sp>
        <p:nvSpPr>
          <p:cNvPr id="128006" name="Rectangle 6"/>
          <p:cNvSpPr>
            <a:spLocks noChangeArrowheads="1"/>
          </p:cNvSpPr>
          <p:nvPr/>
        </p:nvSpPr>
        <p:spPr bwMode="auto">
          <a:xfrm>
            <a:off x="1600200" y="1133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81000" y="2514600"/>
            <a:ext cx="7772400" cy="4114800"/>
          </a:xfrm>
          <a:noFill/>
          <a:ln/>
        </p:spPr>
        <p:txBody>
          <a:bodyPr/>
          <a:lstStyle/>
          <a:p>
            <a:r>
              <a:rPr lang="en-US" sz="2800" dirty="0"/>
              <a:t>The model was first proposed by Dr. E.F. </a:t>
            </a:r>
            <a:r>
              <a:rPr lang="en-US" sz="2800" dirty="0" err="1"/>
              <a:t>Codd</a:t>
            </a:r>
            <a:r>
              <a:rPr lang="en-US" sz="2800" dirty="0"/>
              <a:t> of IBM in 1970 in the following paper:</a:t>
            </a:r>
            <a:br>
              <a:rPr lang="en-US" sz="2800" dirty="0"/>
            </a:br>
            <a:r>
              <a:rPr lang="en-US" sz="2800" dirty="0"/>
              <a:t>"A Relational Model for Large Shared Data Banks," Communications of the ACM, June 1970.</a:t>
            </a:r>
          </a:p>
          <a:p>
            <a:endParaRPr lang="en-US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	</a:t>
            </a:r>
            <a:r>
              <a:rPr lang="en-US" sz="2400" i="1" dirty="0"/>
              <a:t>The above paper caused a major revolution in the field of Database management and earned Ted </a:t>
            </a:r>
            <a:r>
              <a:rPr lang="en-US" sz="2400" i="1" dirty="0" err="1"/>
              <a:t>Codd</a:t>
            </a:r>
            <a:r>
              <a:rPr lang="en-US" sz="2400" i="1" dirty="0"/>
              <a:t> the coveted ACM Turing Award.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66800"/>
            <a:ext cx="8534400" cy="842962"/>
          </a:xfrm>
        </p:spPr>
        <p:txBody>
          <a:bodyPr/>
          <a:lstStyle/>
          <a:p>
            <a:r>
              <a:rPr lang="en-US" sz="3600" b="1" dirty="0"/>
              <a:t>INFORMAL DEFINITIONS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8099425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RELATION:  A table of values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A relation may be thought of as a </a:t>
            </a:r>
            <a:r>
              <a:rPr lang="en-US" sz="2000" b="1" dirty="0"/>
              <a:t>set of rows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 relation may alternately </a:t>
            </a:r>
            <a:r>
              <a:rPr lang="en-US" sz="2000"/>
              <a:t>be </a:t>
            </a:r>
            <a:r>
              <a:rPr lang="en-US" sz="2000" smtClean="0"/>
              <a:t>thought </a:t>
            </a:r>
            <a:r>
              <a:rPr lang="en-US" sz="2000" dirty="0"/>
              <a:t>of as a </a:t>
            </a:r>
            <a:r>
              <a:rPr lang="en-US" sz="2000" b="1" dirty="0"/>
              <a:t>set of columns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row represents a fact that corresponds to a real-world </a:t>
            </a:r>
            <a:r>
              <a:rPr lang="en-US" sz="2000" b="1" dirty="0"/>
              <a:t>entity</a:t>
            </a:r>
            <a:r>
              <a:rPr lang="en-US" sz="2000" dirty="0"/>
              <a:t> or </a:t>
            </a:r>
            <a:r>
              <a:rPr lang="en-US" sz="2000" b="1" dirty="0"/>
              <a:t>relationship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row has a value of an item or set of items that uniquely identifies that row in the table.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Sometimes row-ids or sequential numbers are assigned to identify the rows in the table.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Each column typically is called by its column name or column header or attribute name.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990600"/>
            <a:ext cx="6324600" cy="562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143000"/>
            <a:ext cx="8534400" cy="842962"/>
          </a:xfrm>
        </p:spPr>
        <p:txBody>
          <a:bodyPr/>
          <a:lstStyle/>
          <a:p>
            <a:r>
              <a:rPr lang="en-US" sz="3600" b="1" dirty="0"/>
              <a:t>FORMAL DEFINITIONS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8099425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b="1" dirty="0"/>
              <a:t>Relation</a:t>
            </a:r>
            <a:r>
              <a:rPr lang="en-US" sz="2400" dirty="0"/>
              <a:t> may be defined in multiple ways.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b="1" dirty="0"/>
              <a:t>Schema</a:t>
            </a:r>
            <a:r>
              <a:rPr lang="en-US" sz="2400" dirty="0"/>
              <a:t> of a Relation: </a:t>
            </a:r>
            <a:r>
              <a:rPr lang="en-US" sz="2400" i="1" dirty="0"/>
              <a:t>R</a:t>
            </a:r>
            <a:r>
              <a:rPr lang="en-US" sz="2400" dirty="0"/>
              <a:t> (A1, A2, .....An)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Relation schema </a:t>
            </a:r>
            <a:r>
              <a:rPr lang="en-US" sz="2400" i="1" dirty="0"/>
              <a:t>R</a:t>
            </a:r>
            <a:r>
              <a:rPr lang="en-US" sz="2400" dirty="0"/>
              <a:t> is defined over </a:t>
            </a:r>
            <a:r>
              <a:rPr lang="en-US" sz="2400" b="1" dirty="0"/>
              <a:t>attributes</a:t>
            </a:r>
            <a:r>
              <a:rPr lang="en-US" sz="2400" dirty="0"/>
              <a:t> A1, A2, .....An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	For Example -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	CUSTOMER (</a:t>
            </a:r>
            <a:r>
              <a:rPr lang="en-US" sz="2400" dirty="0" err="1"/>
              <a:t>Cust</a:t>
            </a:r>
            <a:r>
              <a:rPr lang="en-US" sz="2400" dirty="0"/>
              <a:t>-id, </a:t>
            </a:r>
            <a:r>
              <a:rPr lang="en-US" sz="2400" dirty="0" err="1"/>
              <a:t>Cust</a:t>
            </a:r>
            <a:r>
              <a:rPr lang="en-US" sz="2400" dirty="0"/>
              <a:t>-name, Address, Phone#)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Here, CUSTOMER is a relation defined over the four attributes </a:t>
            </a:r>
            <a:r>
              <a:rPr lang="en-US" sz="2400" dirty="0" err="1"/>
              <a:t>Cust</a:t>
            </a:r>
            <a:r>
              <a:rPr lang="en-US" sz="2400" dirty="0"/>
              <a:t>-id, </a:t>
            </a:r>
            <a:r>
              <a:rPr lang="en-US" sz="2400" dirty="0" err="1"/>
              <a:t>Cust</a:t>
            </a:r>
            <a:r>
              <a:rPr lang="en-US" sz="2400" dirty="0"/>
              <a:t>-name, Address, Phone#,  each of which has a </a:t>
            </a:r>
            <a:r>
              <a:rPr lang="en-US" sz="2400" b="1" dirty="0"/>
              <a:t>domain</a:t>
            </a:r>
            <a:r>
              <a:rPr lang="en-US" sz="2400" dirty="0"/>
              <a:t> or a set of valid values.  For example, the domain of </a:t>
            </a:r>
            <a:r>
              <a:rPr lang="en-US" sz="2400" dirty="0" err="1"/>
              <a:t>Cust</a:t>
            </a:r>
            <a:r>
              <a:rPr lang="en-US" sz="2400" dirty="0"/>
              <a:t>-id is 6 digit numbers.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447800"/>
            <a:ext cx="8534400" cy="842962"/>
          </a:xfrm>
        </p:spPr>
        <p:txBody>
          <a:bodyPr/>
          <a:lstStyle/>
          <a:p>
            <a:r>
              <a:rPr lang="en-US" sz="3600" b="1" dirty="0"/>
              <a:t>FORMAL DEFINITIONS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362200"/>
            <a:ext cx="8099425" cy="4114800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 err="1"/>
              <a:t>tuple</a:t>
            </a:r>
            <a:r>
              <a:rPr lang="en-US" sz="2400" dirty="0"/>
              <a:t> is an ordered set of values</a:t>
            </a:r>
          </a:p>
          <a:p>
            <a:r>
              <a:rPr lang="en-US" sz="2400" dirty="0"/>
              <a:t>Each value is derived from an appropriate domain.</a:t>
            </a:r>
          </a:p>
          <a:p>
            <a:r>
              <a:rPr lang="en-US" sz="2400" dirty="0"/>
              <a:t>Each row in the CUSTOMER table may be referred to as a </a:t>
            </a:r>
            <a:r>
              <a:rPr lang="en-US" sz="2400" dirty="0" err="1"/>
              <a:t>tuple</a:t>
            </a:r>
            <a:r>
              <a:rPr lang="en-US" sz="2400" dirty="0"/>
              <a:t> in the table and would consist of four values.</a:t>
            </a:r>
          </a:p>
          <a:p>
            <a:r>
              <a:rPr lang="en-US" sz="1600" b="1" dirty="0"/>
              <a:t>&lt;632895, "John Smith", "101 Main St. Atlanta, GA  30332", "(404) 894-2000"&gt;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is a </a:t>
            </a:r>
            <a:r>
              <a:rPr lang="en-US" sz="2400" dirty="0" err="1"/>
              <a:t>tuple</a:t>
            </a:r>
            <a:r>
              <a:rPr lang="en-US" sz="2400" dirty="0"/>
              <a:t> belonging to the CUSTOMER relation.</a:t>
            </a:r>
          </a:p>
          <a:p>
            <a:r>
              <a:rPr lang="en-US" sz="2400" dirty="0"/>
              <a:t>A relation may be regarded as a </a:t>
            </a:r>
            <a:r>
              <a:rPr lang="en-US" sz="2400" b="1" i="1" dirty="0"/>
              <a:t>set of </a:t>
            </a:r>
            <a:r>
              <a:rPr lang="en-US" sz="2400" b="1" i="1" dirty="0" err="1"/>
              <a:t>tuples</a:t>
            </a:r>
            <a:r>
              <a:rPr lang="en-US" sz="2400" dirty="0"/>
              <a:t> (rows).</a:t>
            </a:r>
          </a:p>
          <a:p>
            <a:r>
              <a:rPr lang="en-US" sz="2400" dirty="0"/>
              <a:t>Columns in a table are also called attributes of the relation.</a:t>
            </a:r>
          </a:p>
          <a:p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1143000"/>
            <a:ext cx="8534400" cy="842962"/>
          </a:xfrm>
        </p:spPr>
        <p:txBody>
          <a:bodyPr/>
          <a:lstStyle/>
          <a:p>
            <a:r>
              <a:rPr lang="en-US" sz="3600" b="1" dirty="0"/>
              <a:t>FORMAL DEFINITIONS</a:t>
            </a:r>
          </a:p>
        </p:txBody>
      </p:sp>
      <p:sp>
        <p:nvSpPr>
          <p:cNvPr id="2263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3400" y="2057400"/>
            <a:ext cx="8099425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 smtClean="0"/>
              <a:t>A </a:t>
            </a:r>
            <a:r>
              <a:rPr lang="en-US" sz="2400" b="1" dirty="0" smtClean="0"/>
              <a:t>domain</a:t>
            </a:r>
            <a:r>
              <a:rPr lang="en-US" sz="2400" dirty="0" smtClean="0"/>
              <a:t> has a logical definition: e.g.,</a:t>
            </a:r>
            <a:br>
              <a:rPr lang="en-US" sz="2400" dirty="0" smtClean="0"/>
            </a:br>
            <a:r>
              <a:rPr lang="en-US" sz="2400" dirty="0" smtClean="0"/>
              <a:t>“</a:t>
            </a:r>
            <a:r>
              <a:rPr lang="en-US" sz="2400" dirty="0" err="1" smtClean="0"/>
              <a:t>USA_phone_numbers</a:t>
            </a:r>
            <a:r>
              <a:rPr lang="en-US" sz="2400" dirty="0" smtClean="0"/>
              <a:t>” are the set of 10 digit phone numbers valid in the U.S.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>
              <a:lnSpc>
                <a:spcPct val="80000"/>
              </a:lnSpc>
            </a:pPr>
            <a:r>
              <a:rPr lang="en-US" sz="2400" dirty="0" smtClean="0"/>
              <a:t>A domain may have a data-type or a format defined for it. The </a:t>
            </a:r>
            <a:r>
              <a:rPr lang="en-US" sz="2400" dirty="0" err="1" smtClean="0"/>
              <a:t>USA_phone_numbers</a:t>
            </a:r>
            <a:r>
              <a:rPr lang="en-US" sz="2400" dirty="0" smtClean="0"/>
              <a:t> may have a format: (</a:t>
            </a:r>
            <a:r>
              <a:rPr lang="en-US" sz="2400" dirty="0" err="1" smtClean="0"/>
              <a:t>ddd</a:t>
            </a:r>
            <a:r>
              <a:rPr lang="en-US" sz="2400" dirty="0" smtClean="0"/>
              <a:t>)-</a:t>
            </a:r>
            <a:r>
              <a:rPr lang="en-US" sz="2400" dirty="0" err="1" smtClean="0"/>
              <a:t>ddd-dddd</a:t>
            </a:r>
            <a:r>
              <a:rPr lang="en-US" sz="2400" dirty="0" smtClean="0"/>
              <a:t> where each d is a decimal digit. E.g., Dates have various formats such as </a:t>
            </a:r>
            <a:r>
              <a:rPr lang="en-US" sz="2400" dirty="0" err="1" smtClean="0"/>
              <a:t>monthname</a:t>
            </a:r>
            <a:r>
              <a:rPr lang="en-US" sz="2400" dirty="0" smtClean="0"/>
              <a:t>, date, year or </a:t>
            </a:r>
            <a:r>
              <a:rPr lang="en-US" sz="2400" dirty="0" err="1" smtClean="0"/>
              <a:t>yyyy</a:t>
            </a:r>
            <a:r>
              <a:rPr lang="en-US" sz="2400" dirty="0" smtClean="0"/>
              <a:t>-mm-</a:t>
            </a:r>
            <a:r>
              <a:rPr lang="en-US" sz="2400" dirty="0" err="1" smtClean="0"/>
              <a:t>dd</a:t>
            </a:r>
            <a:r>
              <a:rPr lang="en-US" sz="2400" dirty="0" smtClean="0"/>
              <a:t>, or </a:t>
            </a:r>
            <a:r>
              <a:rPr lang="en-US" sz="2400" dirty="0" err="1" smtClean="0"/>
              <a:t>dd</a:t>
            </a:r>
            <a:r>
              <a:rPr lang="en-US" sz="2400" dirty="0" smtClean="0"/>
              <a:t> </a:t>
            </a:r>
            <a:r>
              <a:rPr lang="en-US" sz="2400" dirty="0" err="1" smtClean="0"/>
              <a:t>mm,yyyy</a:t>
            </a:r>
            <a:r>
              <a:rPr lang="en-US" sz="2400" dirty="0" smtClean="0"/>
              <a:t> etc.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>
              <a:lnSpc>
                <a:spcPct val="80000"/>
              </a:lnSpc>
            </a:pPr>
            <a:r>
              <a:rPr lang="en-US" sz="2400" dirty="0" smtClean="0"/>
              <a:t>An attribute designates the </a:t>
            </a:r>
            <a:r>
              <a:rPr lang="en-US" sz="2400" b="1" dirty="0" smtClean="0"/>
              <a:t>role</a:t>
            </a:r>
            <a:r>
              <a:rPr lang="en-US" sz="2400" dirty="0" smtClean="0"/>
              <a:t> played by the domain. E.g., the domain Date may be used to define attributes “Invoice-date” and “Payment-date”.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842962"/>
          </a:xfrm>
        </p:spPr>
        <p:txBody>
          <a:bodyPr/>
          <a:lstStyle/>
          <a:p>
            <a:r>
              <a:rPr lang="en-US" sz="3600" b="1" dirty="0"/>
              <a:t>FORMAL DEFINITIONS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8099425" cy="4524375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The relation is formed over the </a:t>
            </a:r>
            <a:r>
              <a:rPr lang="en-US" sz="2400" dirty="0" err="1"/>
              <a:t>cartesian</a:t>
            </a:r>
            <a:r>
              <a:rPr lang="en-US" sz="2400" dirty="0"/>
              <a:t> product of the sets; each set has values from a domain; that domain is used in a specific role which is conveyed by the attribute name.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 example, attribute </a:t>
            </a:r>
            <a:r>
              <a:rPr lang="en-US" sz="2400" dirty="0" err="1"/>
              <a:t>Cust</a:t>
            </a:r>
            <a:r>
              <a:rPr lang="en-US" sz="2400" dirty="0"/>
              <a:t>-name is defined over the domain of strings of 25 characters.  The role these strings play in the CUSTOMER relation is that of the name of customers.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Formally,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	Given R(A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 .........., A</a:t>
            </a:r>
            <a:r>
              <a:rPr lang="en-US" sz="2400" baseline="-25000" dirty="0"/>
              <a:t>n</a:t>
            </a:r>
            <a:r>
              <a:rPr lang="en-US" sz="2400" dirty="0"/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 smtClean="0"/>
              <a:t>r(R</a:t>
            </a:r>
            <a:r>
              <a:rPr lang="en-US" sz="2000" dirty="0"/>
              <a:t>) </a:t>
            </a:r>
            <a:r>
              <a:rPr lang="en-US" sz="2000" dirty="0">
                <a:sym typeface="Symbol" pitchFamily="18" charset="2"/>
              </a:rPr>
              <a:t></a:t>
            </a:r>
            <a:r>
              <a:rPr lang="en-US" sz="2000" dirty="0"/>
              <a:t> </a:t>
            </a:r>
            <a:r>
              <a:rPr lang="en-US" sz="2000" dirty="0" err="1"/>
              <a:t>dom</a:t>
            </a:r>
            <a:r>
              <a:rPr lang="en-US" sz="2000" dirty="0"/>
              <a:t> (A</a:t>
            </a:r>
            <a:r>
              <a:rPr lang="en-US" sz="2400" baseline="-25000" dirty="0"/>
              <a:t>1</a:t>
            </a:r>
            <a:r>
              <a:rPr lang="en-US" sz="2000" dirty="0"/>
              <a:t>) X </a:t>
            </a:r>
            <a:r>
              <a:rPr lang="en-US" sz="2000" dirty="0" err="1"/>
              <a:t>dom</a:t>
            </a:r>
            <a:r>
              <a:rPr lang="en-US" sz="2000" dirty="0"/>
              <a:t> (A</a:t>
            </a:r>
            <a:r>
              <a:rPr lang="en-US" sz="2400" baseline="-25000" dirty="0"/>
              <a:t>2</a:t>
            </a:r>
            <a:r>
              <a:rPr lang="en-US" sz="2000" dirty="0"/>
              <a:t>) X ....X </a:t>
            </a:r>
            <a:r>
              <a:rPr lang="en-US" sz="2000" dirty="0" err="1"/>
              <a:t>dom</a:t>
            </a:r>
            <a:r>
              <a:rPr lang="en-US" sz="2000" dirty="0"/>
              <a:t>(A</a:t>
            </a:r>
            <a:r>
              <a:rPr lang="en-US" sz="2400" baseline="-25000" dirty="0"/>
              <a:t>n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/>
              <a:t>R</a:t>
            </a:r>
            <a:r>
              <a:rPr lang="en-US" sz="2200" dirty="0"/>
              <a:t>:  schema of the relation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/>
              <a:t>r </a:t>
            </a:r>
            <a:r>
              <a:rPr lang="en-US" sz="2200" dirty="0"/>
              <a:t>of R:  a specific "value" or population of R.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/>
              <a:t>R </a:t>
            </a:r>
            <a:r>
              <a:rPr lang="en-US" sz="2200" dirty="0"/>
              <a:t>is also called the </a:t>
            </a:r>
            <a:r>
              <a:rPr lang="en-US" sz="2200" b="1" dirty="0"/>
              <a:t>intension</a:t>
            </a:r>
            <a:r>
              <a:rPr lang="en-US" sz="2200" dirty="0"/>
              <a:t> of a relation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/>
              <a:t>r </a:t>
            </a:r>
            <a:r>
              <a:rPr lang="en-US" sz="2200" dirty="0"/>
              <a:t>is also called the </a:t>
            </a:r>
            <a:r>
              <a:rPr lang="en-US" sz="2200" b="1" dirty="0"/>
              <a:t>extension</a:t>
            </a:r>
            <a:r>
              <a:rPr lang="en-US" sz="2200" dirty="0"/>
              <a:t> of a </a:t>
            </a:r>
            <a:r>
              <a:rPr lang="en-US" sz="2200" dirty="0" smtClean="0"/>
              <a:t>relation</a:t>
            </a:r>
          </a:p>
          <a:p>
            <a:pPr lvl="1">
              <a:lnSpc>
                <a:spcPct val="90000"/>
              </a:lnSpc>
            </a:pPr>
            <a:r>
              <a:rPr lang="en-US" sz="2200" b="1" dirty="0" smtClean="0"/>
              <a:t>Degree</a:t>
            </a:r>
            <a:r>
              <a:rPr lang="en-US" sz="2200" dirty="0" smtClean="0"/>
              <a:t> of relation is the no-of attributes of its relation schema</a:t>
            </a:r>
            <a:endParaRPr lang="en-US" sz="2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0"/>
            <a:ext cx="8534400" cy="842962"/>
          </a:xfrm>
        </p:spPr>
        <p:txBody>
          <a:bodyPr/>
          <a:lstStyle/>
          <a:p>
            <a:r>
              <a:rPr lang="en-US" sz="3600" b="1" dirty="0"/>
              <a:t>FORMAL DEFINITIONS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099425" cy="4676775"/>
          </a:xfrm>
        </p:spPr>
        <p:txBody>
          <a:bodyPr>
            <a:normAutofit/>
          </a:bodyPr>
          <a:lstStyle/>
          <a:p>
            <a:r>
              <a:rPr lang="en-US" sz="2800" dirty="0"/>
              <a:t>Let S1 = {0,1}</a:t>
            </a:r>
          </a:p>
          <a:p>
            <a:r>
              <a:rPr lang="en-US" sz="2800" dirty="0"/>
              <a:t>Let  S2 =  {</a:t>
            </a:r>
            <a:r>
              <a:rPr lang="en-US" sz="2800" dirty="0" err="1"/>
              <a:t>a,b,c</a:t>
            </a:r>
            <a:r>
              <a:rPr lang="en-US" sz="2800" dirty="0"/>
              <a:t>}</a:t>
            </a:r>
          </a:p>
          <a:p>
            <a:endParaRPr lang="en-US" sz="2800" dirty="0"/>
          </a:p>
          <a:p>
            <a:r>
              <a:rPr lang="en-US" sz="2800" dirty="0"/>
              <a:t>Let R </a:t>
            </a:r>
            <a:r>
              <a:rPr lang="en-US" sz="2800" dirty="0">
                <a:sym typeface="Symbol" pitchFamily="18" charset="2"/>
              </a:rPr>
              <a:t></a:t>
            </a:r>
            <a:r>
              <a:rPr lang="en-US" sz="2800" dirty="0"/>
              <a:t> S1 X S2</a:t>
            </a:r>
          </a:p>
          <a:p>
            <a:endParaRPr lang="en-US" sz="2800" dirty="0"/>
          </a:p>
          <a:p>
            <a:r>
              <a:rPr lang="en-US" sz="2400" dirty="0"/>
              <a:t>Then for example: r(R) = {&lt;0,a&gt; , &lt;0,b&gt; , &lt;1,c&gt; }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 is one possible “state” or “population” or “extension” r of the relation R, defined over domains S1 and S2. It has three </a:t>
            </a:r>
            <a:r>
              <a:rPr lang="en-US" sz="2800" dirty="0" err="1"/>
              <a:t>tuples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43000"/>
            <a:ext cx="7173912" cy="1143000"/>
          </a:xfrm>
        </p:spPr>
        <p:txBody>
          <a:bodyPr/>
          <a:lstStyle/>
          <a:p>
            <a:r>
              <a:rPr lang="en-US" dirty="0"/>
              <a:t>DEFINITION SUMMARY</a:t>
            </a:r>
          </a:p>
        </p:txBody>
      </p:sp>
      <p:graphicFrame>
        <p:nvGraphicFramePr>
          <p:cNvPr id="210003" name="Group 83"/>
          <p:cNvGraphicFramePr>
            <a:graphicFrameLocks noGrp="1"/>
          </p:cNvGraphicFramePr>
          <p:nvPr>
            <p:ph type="tbl" idx="1"/>
          </p:nvPr>
        </p:nvGraphicFramePr>
        <p:xfrm>
          <a:off x="838200" y="2514600"/>
          <a:ext cx="6477000" cy="3627120"/>
        </p:xfrm>
        <a:graphic>
          <a:graphicData uri="http://schemas.openxmlformats.org/drawingml/2006/table">
            <a:tbl>
              <a:tblPr/>
              <a:tblGrid>
                <a:gridCol w="3209925"/>
                <a:gridCol w="3267075"/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Informal Terms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Formal Terms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Table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Relation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Column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Attribute/Domain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Values in a column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Domain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Table Definition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Schema of a Relation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Populated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Extension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Chapter 5-</a:t>
            </a:r>
            <a:fld id="{58B75BF8-346E-4E98-BCB5-7A58D877567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219200"/>
            <a:ext cx="8229600" cy="106984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attributes and </a:t>
            </a:r>
            <a:r>
              <a:rPr lang="en-US" dirty="0" err="1" smtClean="0"/>
              <a:t>tuples</a:t>
            </a:r>
            <a:r>
              <a:rPr lang="en-US" dirty="0" smtClean="0"/>
              <a:t> of a relation STUDENT</a:t>
            </a:r>
            <a:endParaRPr lang="en-US" dirty="0"/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0951" name="Picture 7" descr="31755_FIG0701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895600"/>
            <a:ext cx="8229600" cy="2157412"/>
          </a:xfrm>
          <a:prstGeom prst="rect">
            <a:avLst/>
          </a:prstGeom>
          <a:noFill/>
        </p:spPr>
      </p:pic>
      <p:sp>
        <p:nvSpPr>
          <p:cNvPr id="210952" name="Rectangle 8"/>
          <p:cNvSpPr>
            <a:spLocks noChangeArrowheads="1"/>
          </p:cNvSpPr>
          <p:nvPr/>
        </p:nvSpPr>
        <p:spPr bwMode="auto">
          <a:xfrm>
            <a:off x="8886825" y="61595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relation STUDENT with a different </a:t>
            </a:r>
            <a:br>
              <a:rPr lang="en-US" sz="2800" dirty="0" smtClean="0"/>
            </a:br>
            <a:r>
              <a:rPr lang="en-US" sz="2800" dirty="0" smtClean="0"/>
              <a:t>order of </a:t>
            </a:r>
            <a:r>
              <a:rPr lang="en-US" sz="2800" dirty="0" err="1" smtClean="0"/>
              <a:t>tuples</a:t>
            </a:r>
            <a:endParaRPr lang="en-US" sz="2800" b="1" dirty="0"/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4021" name="Picture 5" descr="31755_FIG0702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200400"/>
            <a:ext cx="8391525" cy="1620837"/>
          </a:xfrm>
          <a:prstGeom prst="rect">
            <a:avLst/>
          </a:prstGeom>
          <a:noFill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0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CHARACTERISTICS OF RELATIONS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362200"/>
            <a:ext cx="7772400" cy="39624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  <a:cs typeface="Times New Roman" pitchFamily="18" charset="0"/>
              </a:rPr>
              <a:t>Ordering of </a:t>
            </a:r>
            <a:r>
              <a:rPr lang="en-US" sz="2400" b="1" dirty="0" err="1">
                <a:solidFill>
                  <a:srgbClr val="000000"/>
                </a:solidFill>
                <a:cs typeface="Times New Roman" pitchFamily="18" charset="0"/>
              </a:rPr>
              <a:t>tuples</a:t>
            </a:r>
            <a:r>
              <a:rPr lang="en-US" sz="2400" b="1" dirty="0">
                <a:solidFill>
                  <a:srgbClr val="000000"/>
                </a:solidFill>
                <a:cs typeface="Times New Roman" pitchFamily="18" charset="0"/>
              </a:rPr>
              <a:t> in a relation r(R)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: The </a:t>
            </a:r>
            <a:r>
              <a:rPr lang="en-US" sz="2400" dirty="0" err="1">
                <a:solidFill>
                  <a:srgbClr val="000000"/>
                </a:solidFill>
                <a:cs typeface="Times New Roman" pitchFamily="18" charset="0"/>
              </a:rPr>
              <a:t>tuples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are </a:t>
            </a: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not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 considered to be ordered, even though they appear to be in the tabular form.</a:t>
            </a:r>
          </a:p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000000"/>
                </a:solidFill>
                <a:cs typeface="Times New Roman" pitchFamily="18" charset="0"/>
              </a:rPr>
              <a:t>Ordering </a:t>
            </a:r>
            <a:r>
              <a:rPr lang="en-US" sz="2400" b="1" dirty="0">
                <a:solidFill>
                  <a:srgbClr val="000000"/>
                </a:solidFill>
                <a:cs typeface="Times New Roman" pitchFamily="18" charset="0"/>
              </a:rPr>
              <a:t>of attributes in a relation schema R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(and of values within each tuple): We will consider the attributes in R(A</a:t>
            </a:r>
            <a:r>
              <a:rPr lang="en-US" sz="2400" baseline="-25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 A</a:t>
            </a:r>
            <a:r>
              <a:rPr lang="en-US" sz="2400" baseline="-25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 ..., A</a:t>
            </a:r>
            <a:r>
              <a:rPr lang="en-US" sz="2400" baseline="-25000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) and the values in t=&lt;v</a:t>
            </a:r>
            <a:r>
              <a:rPr lang="en-US" sz="2400" baseline="-25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 v</a:t>
            </a:r>
            <a:r>
              <a:rPr lang="en-US" sz="2400" baseline="-25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, ..., </a:t>
            </a:r>
            <a:r>
              <a:rPr lang="en-US" sz="2400" dirty="0" err="1">
                <a:solidFill>
                  <a:srgbClr val="000000"/>
                </a:solidFill>
                <a:cs typeface="Times New Roman" pitchFamily="18" charset="0"/>
              </a:rPr>
              <a:t>v</a:t>
            </a:r>
            <a:r>
              <a:rPr lang="en-US" sz="2400" baseline="-25000" dirty="0" err="1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&gt; to be </a:t>
            </a: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ordered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	(However, a more general </a:t>
            </a: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alternative definition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 of relation does not require this ordering).</a:t>
            </a:r>
          </a:p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000000"/>
                </a:solidFill>
                <a:cs typeface="Times New Roman" pitchFamily="18" charset="0"/>
              </a:rPr>
              <a:t>Values </a:t>
            </a:r>
            <a:r>
              <a:rPr lang="en-US" sz="2400" b="1" dirty="0">
                <a:solidFill>
                  <a:srgbClr val="000000"/>
                </a:solidFill>
                <a:cs typeface="Times New Roman" pitchFamily="18" charset="0"/>
              </a:rPr>
              <a:t>in a tuple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: All values are considered </a:t>
            </a: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atomic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 (indivisible). A special </a:t>
            </a:r>
            <a:r>
              <a:rPr lang="en-US" sz="2400" b="1" dirty="0">
                <a:solidFill>
                  <a:srgbClr val="000000"/>
                </a:solidFill>
                <a:cs typeface="Times New Roman" pitchFamily="18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value is used to represent values that are unknown or inapplicable to certain </a:t>
            </a:r>
            <a:r>
              <a:rPr lang="en-US" sz="2400" dirty="0" err="1">
                <a:solidFill>
                  <a:srgbClr val="000000"/>
                </a:solidFill>
                <a:cs typeface="Times New Roman" pitchFamily="18" charset="0"/>
              </a:rPr>
              <a:t>tuples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.</a:t>
            </a:r>
            <a:r>
              <a:rPr lang="en-US" sz="2400" dirty="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371600"/>
            <a:ext cx="8420100" cy="1524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Two </a:t>
            </a:r>
            <a:r>
              <a:rPr lang="en-US" sz="3600" dirty="0"/>
              <a:t>identical </a:t>
            </a:r>
            <a:r>
              <a:rPr lang="en-US" sz="3600" dirty="0" err="1"/>
              <a:t>tuples</a:t>
            </a:r>
            <a:r>
              <a:rPr lang="en-US" sz="3600" dirty="0"/>
              <a:t> when the order of attributes and values is not part of relation definition.</a:t>
            </a:r>
          </a:p>
        </p:txBody>
      </p:sp>
      <p:pic>
        <p:nvPicPr>
          <p:cNvPr id="560132" name="Picture 4" descr="31755_FIG070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" y="3733800"/>
            <a:ext cx="8458200" cy="127793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CHARACTERISTICS OF RELATIONS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514600"/>
            <a:ext cx="7772400" cy="43434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Interpretation (Meaning) of a relation</a:t>
            </a:r>
            <a:r>
              <a:rPr lang="en-US" u="sng" dirty="0" smtClean="0">
                <a:solidFill>
                  <a:srgbClr val="000000"/>
                </a:solidFill>
                <a:cs typeface="Times New Roman" pitchFamily="18" charset="0"/>
              </a:rPr>
              <a:t>:</a:t>
            </a: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lvl="1"/>
            <a:r>
              <a:rPr lang="en-US" dirty="0" smtClean="0"/>
              <a:t>The relation schema can be interpreted as a declaration or a type of assertion.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976</TotalTime>
  <Words>645</Words>
  <Application>Microsoft Office PowerPoint</Application>
  <PresentationFormat>On-screen Show (4:3)</PresentationFormat>
  <Paragraphs>127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Urban</vt:lpstr>
      <vt:lpstr>Database Systems </vt:lpstr>
      <vt:lpstr>Today’s Agenda</vt:lpstr>
      <vt:lpstr>Relational Model Concepts</vt:lpstr>
      <vt:lpstr>Relational Model Concepts</vt:lpstr>
      <vt:lpstr>INFORMAL DEFINITIONS</vt:lpstr>
      <vt:lpstr>PowerPoint Presentation</vt:lpstr>
      <vt:lpstr>FORMAL DEFINITIONS</vt:lpstr>
      <vt:lpstr>FORMAL DEFINITIONS</vt:lpstr>
      <vt:lpstr>FORMAL DEFINITIONS</vt:lpstr>
      <vt:lpstr>FORMAL DEFINITIONS</vt:lpstr>
      <vt:lpstr>FORMAL DEFINITIONS</vt:lpstr>
      <vt:lpstr>DEFINITION SUMMARY</vt:lpstr>
      <vt:lpstr>The attributes and tuples of a relation STUDENT</vt:lpstr>
      <vt:lpstr>The relation STUDENT with a different  order of tuples</vt:lpstr>
      <vt:lpstr>CHARACTERISTICS OF RELATIONS</vt:lpstr>
      <vt:lpstr>Two identical tuples when the order of attributes and values is not part of relation definition.</vt:lpstr>
      <vt:lpstr>CHARACTERISTICS OF RELATIONS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16</cp:revision>
  <dcterms:created xsi:type="dcterms:W3CDTF">2006-08-16T00:00:00Z</dcterms:created>
  <dcterms:modified xsi:type="dcterms:W3CDTF">2020-12-02T06:40:22Z</dcterms:modified>
</cp:coreProperties>
</file>
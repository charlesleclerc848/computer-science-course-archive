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60" r:id="rId5"/>
    <p:sldId id="261" r:id="rId6"/>
    <p:sldId id="281" r:id="rId7"/>
    <p:sldId id="282" r:id="rId8"/>
    <p:sldId id="262" r:id="rId9"/>
    <p:sldId id="263" r:id="rId10"/>
    <p:sldId id="264" r:id="rId11"/>
    <p:sldId id="265" r:id="rId12"/>
    <p:sldId id="266" r:id="rId13"/>
    <p:sldId id="267"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4ED0B8-CD59-4ABF-A9E5-9734E8E95706}" type="datetimeFigureOut">
              <a:rPr lang="en-US" smtClean="0"/>
              <a:pPr/>
              <a:t>1/31/2022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B4CEED-3EED-4403-AD0F-818658679DD8}" type="slidenum">
              <a:rPr lang="en-US" smtClean="0"/>
              <a:pPr/>
              <a:t>‹#›</a:t>
            </a:fld>
            <a:endParaRPr lang="en-US"/>
          </a:p>
        </p:txBody>
      </p:sp>
    </p:spTree>
    <p:extLst>
      <p:ext uri="{BB962C8B-B14F-4D97-AF65-F5344CB8AC3E}">
        <p14:creationId xmlns:p14="http://schemas.microsoft.com/office/powerpoint/2010/main" val="900560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r>
              <a:rPr lang="en-US" smtClean="0"/>
              <a:t>Toqir Ahmad Rana</a:t>
            </a:r>
            <a:endParaRPr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r>
              <a:rPr lang="en-US" smtClean="0"/>
              <a:t>Toqir Ahmad Rana</a:t>
            </a:r>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r>
              <a:rPr lang="en-US" smtClean="0"/>
              <a:t>Toqir Ahmad Rana</a:t>
            </a:r>
            <a:endParaRPr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Toqir Ahmad Rana</a:t>
            </a:r>
            <a:endParaRPr lang="en-US"/>
          </a:p>
        </p:txBody>
      </p:sp>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284288" y="609600"/>
            <a:ext cx="7173912"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85800" y="1981200"/>
            <a:ext cx="7772400" cy="4114800"/>
          </a:xfrm>
        </p:spPr>
        <p:txBody>
          <a:bodyPr/>
          <a:lstStyle/>
          <a:p>
            <a:r>
              <a:rPr lang="en-US" smtClean="0"/>
              <a:t>Click icon to add chart</a:t>
            </a:r>
            <a:endParaRPr lang="en-US"/>
          </a:p>
        </p:txBody>
      </p:sp>
      <p:sp>
        <p:nvSpPr>
          <p:cNvPr id="4" name="Slide Number Placeholder 3"/>
          <p:cNvSpPr>
            <a:spLocks noGrp="1"/>
          </p:cNvSpPr>
          <p:nvPr>
            <p:ph type="sldNum" sz="quarter" idx="10"/>
          </p:nvPr>
        </p:nvSpPr>
        <p:spPr>
          <a:xfrm>
            <a:off x="7153275" y="6386513"/>
            <a:ext cx="1905000" cy="387350"/>
          </a:xfrm>
        </p:spPr>
        <p:txBody>
          <a:bodyPr/>
          <a:lstStyle>
            <a:lvl1pPr>
              <a:defRPr/>
            </a:lvl1pPr>
          </a:lstStyle>
          <a:p>
            <a:r>
              <a:rPr lang="en-US"/>
              <a:t>Chapter 10-</a:t>
            </a:r>
            <a:fld id="{C5513E76-B039-4DBB-AA58-1338A6846C7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r>
              <a:rPr lang="en-US" smtClean="0"/>
              <a:t>Toqir Ahmad Rana</a:t>
            </a: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normAutofit/>
          </a:bodyPr>
          <a:lstStyle/>
          <a:p>
            <a:r>
              <a:rPr lang="en-US" sz="2000" dirty="0" smtClean="0"/>
              <a:t>Functional Dependencies</a:t>
            </a:r>
          </a:p>
        </p:txBody>
      </p:sp>
      <p:sp>
        <p:nvSpPr>
          <p:cNvPr id="14" name="Footer Placeholder 13"/>
          <p:cNvSpPr>
            <a:spLocks noGrp="1"/>
          </p:cNvSpPr>
          <p:nvPr>
            <p:ph type="ftr" sz="quarter" idx="11"/>
          </p:nvPr>
        </p:nvSpPr>
        <p:spPr/>
        <p:txBody>
          <a:bodyPr/>
          <a:lstStyle/>
          <a:p>
            <a:r>
              <a:rPr lang="en-US" smtClean="0"/>
              <a:t>Database Management Systems</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smtClean="0"/>
              <a:t>Lecture 21</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228600" y="838200"/>
            <a:ext cx="8534400" cy="842962"/>
          </a:xfrm>
        </p:spPr>
        <p:txBody>
          <a:bodyPr/>
          <a:lstStyle/>
          <a:p>
            <a:r>
              <a:rPr lang="en-US" sz="3600" b="1" dirty="0" smtClean="0"/>
              <a:t>Today’s Agenda</a:t>
            </a:r>
            <a:endParaRPr lang="en-US" sz="3600" b="1" dirty="0"/>
          </a:p>
        </p:txBody>
      </p:sp>
      <p:sp>
        <p:nvSpPr>
          <p:cNvPr id="71685" name="Rectangle 5"/>
          <p:cNvSpPr>
            <a:spLocks noGrp="1" noChangeArrowheads="1"/>
          </p:cNvSpPr>
          <p:nvPr>
            <p:ph idx="1"/>
          </p:nvPr>
        </p:nvSpPr>
        <p:spPr>
          <a:xfrm>
            <a:off x="381000" y="1752600"/>
            <a:ext cx="8458200" cy="4811712"/>
          </a:xfrm>
        </p:spPr>
        <p:txBody>
          <a:bodyPr/>
          <a:lstStyle/>
          <a:p>
            <a:pPr>
              <a:lnSpc>
                <a:spcPct val="80000"/>
              </a:lnSpc>
            </a:pPr>
            <a:endParaRPr lang="en-US" sz="2000" b="1" dirty="0"/>
          </a:p>
          <a:p>
            <a:pPr marL="533400" indent="-533400">
              <a:lnSpc>
                <a:spcPct val="90000"/>
              </a:lnSpc>
            </a:pPr>
            <a:r>
              <a:rPr lang="en-US" dirty="0" smtClean="0">
                <a:cs typeface="Times New Roman" pitchFamily="18" charset="0"/>
              </a:rPr>
              <a:t>Informal Design Guidelines for Relational Databases</a:t>
            </a:r>
          </a:p>
          <a:p>
            <a:pPr marL="826008" lvl="1" indent="-533400">
              <a:lnSpc>
                <a:spcPct val="90000"/>
              </a:lnSpc>
            </a:pPr>
            <a:r>
              <a:rPr lang="en-US" dirty="0" smtClean="0">
                <a:cs typeface="Times New Roman" pitchFamily="18" charset="0"/>
              </a:rPr>
              <a:t>Semantics of the Relation Attributes</a:t>
            </a:r>
          </a:p>
          <a:p>
            <a:pPr marL="826008" lvl="1" indent="-533400">
              <a:lnSpc>
                <a:spcPct val="90000"/>
              </a:lnSpc>
            </a:pPr>
            <a:r>
              <a:rPr lang="en-US" dirty="0" smtClean="0">
                <a:cs typeface="Times New Roman" pitchFamily="18" charset="0"/>
              </a:rPr>
              <a:t>Reducing the Redundant Information in Tuples and Update Anomalies</a:t>
            </a:r>
          </a:p>
          <a:p>
            <a:pPr marL="826008" lvl="1" indent="-533400">
              <a:lnSpc>
                <a:spcPct val="90000"/>
              </a:lnSpc>
            </a:pPr>
            <a:r>
              <a:rPr lang="en-US" dirty="0" smtClean="0">
                <a:cs typeface="Times New Roman" pitchFamily="18" charset="0"/>
              </a:rPr>
              <a:t>Reducing the Null Values in Tuples</a:t>
            </a:r>
          </a:p>
          <a:p>
            <a:pPr marL="826008" lvl="1" indent="-533400">
              <a:lnSpc>
                <a:spcPct val="90000"/>
              </a:lnSpc>
            </a:pPr>
            <a:r>
              <a:rPr lang="en-US" dirty="0" smtClean="0">
                <a:cs typeface="Times New Roman" pitchFamily="18" charset="0"/>
              </a:rPr>
              <a:t>Disallowing the possibility of generating Spurious Tuples</a:t>
            </a:r>
          </a:p>
          <a:p>
            <a:pPr>
              <a:lnSpc>
                <a:spcPct val="80000"/>
              </a:lnSpc>
              <a:buFont typeface="Wingdings" pitchFamily="2" charset="2"/>
              <a:buNone/>
            </a:pPr>
            <a:endParaRPr lang="en-US" sz="2000" dirty="0"/>
          </a:p>
          <a:p>
            <a:pPr>
              <a:lnSpc>
                <a:spcPct val="80000"/>
              </a:lnSpc>
            </a:pPr>
            <a:r>
              <a:rPr lang="en-US" sz="2800" dirty="0" smtClean="0">
                <a:latin typeface="Arial" charset="0"/>
              </a:rPr>
              <a:t>Functional Dependencies</a:t>
            </a:r>
            <a:endParaRPr lang="en-US" sz="2000" dirty="0"/>
          </a:p>
          <a:p>
            <a:pPr>
              <a:lnSpc>
                <a:spcPct val="80000"/>
              </a:lnSpc>
              <a:buFont typeface="Wingdings" pitchFamily="2" charset="2"/>
              <a:buNone/>
            </a:pPr>
            <a:endParaRPr lang="en-US" sz="2000" dirty="0"/>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762000" y="1066800"/>
            <a:ext cx="7772400" cy="766762"/>
          </a:xfrm>
        </p:spPr>
        <p:txBody>
          <a:bodyPr>
            <a:normAutofit fontScale="90000"/>
          </a:bodyPr>
          <a:lstStyle/>
          <a:p>
            <a:r>
              <a:rPr lang="en-US" sz="3200" b="1" dirty="0" smtClean="0">
                <a:cs typeface="Times New Roman" pitchFamily="18" charset="0"/>
              </a:rPr>
              <a:t>Informal </a:t>
            </a:r>
            <a:r>
              <a:rPr lang="en-US" sz="3200" b="1" dirty="0">
                <a:cs typeface="Times New Roman" pitchFamily="18" charset="0"/>
              </a:rPr>
              <a:t>Design Guidelines for Relational Databases</a:t>
            </a:r>
            <a:r>
              <a:rPr lang="en-US" b="1" dirty="0"/>
              <a:t> </a:t>
            </a:r>
            <a:r>
              <a:rPr lang="en-US" sz="3200" b="1" dirty="0"/>
              <a:t>(1)</a:t>
            </a:r>
          </a:p>
        </p:txBody>
      </p:sp>
      <p:sp>
        <p:nvSpPr>
          <p:cNvPr id="123907" name="Rectangle 3"/>
          <p:cNvSpPr>
            <a:spLocks noGrp="1" noChangeArrowheads="1"/>
          </p:cNvSpPr>
          <p:nvPr>
            <p:ph type="body" idx="1"/>
          </p:nvPr>
        </p:nvSpPr>
        <p:spPr>
          <a:xfrm>
            <a:off x="609600" y="2209800"/>
            <a:ext cx="8105775" cy="4114800"/>
          </a:xfrm>
        </p:spPr>
        <p:txBody>
          <a:bodyPr/>
          <a:lstStyle/>
          <a:p>
            <a:r>
              <a:rPr lang="en-US" sz="2800" dirty="0">
                <a:cs typeface="Times New Roman" pitchFamily="18" charset="0"/>
              </a:rPr>
              <a:t>What is relational database design?</a:t>
            </a:r>
          </a:p>
          <a:p>
            <a:pPr>
              <a:buFont typeface="Wingdings" pitchFamily="2" charset="2"/>
              <a:buNone/>
            </a:pPr>
            <a:r>
              <a:rPr lang="en-US" sz="2900" dirty="0">
                <a:cs typeface="Times New Roman" pitchFamily="18" charset="0"/>
              </a:rPr>
              <a:t>	</a:t>
            </a:r>
            <a:r>
              <a:rPr lang="en-US" sz="2400" dirty="0">
                <a:cs typeface="Times New Roman" pitchFamily="18" charset="0"/>
              </a:rPr>
              <a:t>The grouping of attributes to form "good" relation schemas</a:t>
            </a:r>
          </a:p>
          <a:p>
            <a:r>
              <a:rPr lang="en-US" sz="2900" dirty="0">
                <a:cs typeface="Times New Roman" pitchFamily="18" charset="0"/>
              </a:rPr>
              <a:t> </a:t>
            </a:r>
            <a:r>
              <a:rPr lang="en-US" sz="2800" dirty="0">
                <a:cs typeface="Times New Roman" pitchFamily="18" charset="0"/>
              </a:rPr>
              <a:t>Two levels of relation schemas</a:t>
            </a:r>
          </a:p>
          <a:p>
            <a:pPr lvl="1"/>
            <a:r>
              <a:rPr lang="en-US" sz="2400" dirty="0">
                <a:cs typeface="Times New Roman" pitchFamily="18" charset="0"/>
              </a:rPr>
              <a:t>The logical "user view" level</a:t>
            </a:r>
          </a:p>
          <a:p>
            <a:pPr lvl="1"/>
            <a:r>
              <a:rPr lang="en-US" sz="2400" dirty="0">
                <a:cs typeface="Times New Roman" pitchFamily="18" charset="0"/>
              </a:rPr>
              <a:t>The storage "base relation" level</a:t>
            </a:r>
          </a:p>
          <a:p>
            <a:r>
              <a:rPr lang="en-US" sz="2900" dirty="0">
                <a:cs typeface="Times New Roman" pitchFamily="18" charset="0"/>
              </a:rPr>
              <a:t> </a:t>
            </a:r>
            <a:r>
              <a:rPr lang="en-US" sz="2800" dirty="0">
                <a:cs typeface="Times New Roman" pitchFamily="18" charset="0"/>
              </a:rPr>
              <a:t>Design is concerned mainly with base relations</a:t>
            </a:r>
          </a:p>
          <a:p>
            <a:r>
              <a:rPr lang="en-US" sz="2800" dirty="0">
                <a:cs typeface="Times New Roman" pitchFamily="18" charset="0"/>
              </a:rPr>
              <a:t> What are the criteria for "good" base relations?</a:t>
            </a:r>
            <a:r>
              <a:rPr lang="en-US" sz="2900" dirty="0">
                <a:cs typeface="Times New Roman" pitchFamily="18" charset="0"/>
              </a:rPr>
              <a:t> </a:t>
            </a:r>
          </a:p>
          <a:p>
            <a:pPr>
              <a:buFont typeface="Wingdings" pitchFamily="2" charset="2"/>
              <a:buNone/>
            </a:pPr>
            <a:endParaRPr lang="en-US" sz="29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228600" y="1066800"/>
            <a:ext cx="8229600" cy="1066800"/>
          </a:xfrm>
        </p:spPr>
        <p:txBody>
          <a:bodyPr/>
          <a:lstStyle/>
          <a:p>
            <a:r>
              <a:rPr lang="en-US" sz="3200" b="1" dirty="0" smtClean="0">
                <a:cs typeface="Times New Roman" pitchFamily="18" charset="0"/>
              </a:rPr>
              <a:t>Semantics </a:t>
            </a:r>
            <a:r>
              <a:rPr lang="en-US" sz="3200" b="1" dirty="0">
                <a:cs typeface="Times New Roman" pitchFamily="18" charset="0"/>
              </a:rPr>
              <a:t>of the Relation Attributes</a:t>
            </a:r>
            <a:r>
              <a:rPr lang="en-US" b="1" dirty="0"/>
              <a:t> </a:t>
            </a:r>
          </a:p>
        </p:txBody>
      </p:sp>
      <p:sp>
        <p:nvSpPr>
          <p:cNvPr id="207875" name="Rectangle 3"/>
          <p:cNvSpPr>
            <a:spLocks noGrp="1" noChangeArrowheads="1"/>
          </p:cNvSpPr>
          <p:nvPr>
            <p:ph type="body" idx="1"/>
          </p:nvPr>
        </p:nvSpPr>
        <p:spPr>
          <a:xfrm>
            <a:off x="685800" y="2209800"/>
            <a:ext cx="7772400" cy="4114800"/>
          </a:xfrm>
        </p:spPr>
        <p:txBody>
          <a:bodyPr>
            <a:normAutofit fontScale="92500" lnSpcReduction="10000"/>
          </a:bodyPr>
          <a:lstStyle/>
          <a:p>
            <a:pPr>
              <a:lnSpc>
                <a:spcPct val="90000"/>
              </a:lnSpc>
              <a:buFont typeface="Wingdings" pitchFamily="2" charset="2"/>
              <a:buNone/>
            </a:pPr>
            <a:r>
              <a:rPr lang="en-US" sz="2800" b="1" dirty="0">
                <a:cs typeface="Times New Roman" pitchFamily="18" charset="0"/>
              </a:rPr>
              <a:t>GUIDELINE 1:</a:t>
            </a:r>
            <a:r>
              <a:rPr lang="en-US" sz="2800" dirty="0">
                <a:cs typeface="Times New Roman" pitchFamily="18" charset="0"/>
              </a:rPr>
              <a:t> Informally, each </a:t>
            </a:r>
            <a:r>
              <a:rPr lang="en-US" sz="2800" dirty="0" err="1">
                <a:cs typeface="Times New Roman" pitchFamily="18" charset="0"/>
              </a:rPr>
              <a:t>tuple</a:t>
            </a:r>
            <a:r>
              <a:rPr lang="en-US" sz="2800" dirty="0">
                <a:cs typeface="Times New Roman" pitchFamily="18" charset="0"/>
              </a:rPr>
              <a:t> in a relation should represent one entity or relationship instance. (Applies to individual relations and their attributes).</a:t>
            </a:r>
          </a:p>
          <a:p>
            <a:pPr>
              <a:lnSpc>
                <a:spcPct val="90000"/>
              </a:lnSpc>
            </a:pPr>
            <a:r>
              <a:rPr lang="en-US" sz="2000" dirty="0">
                <a:cs typeface="Times New Roman" pitchFamily="18" charset="0"/>
              </a:rPr>
              <a:t>Attributes of different entities (EMPLOYEEs, DEPARTMENTs, PROJECTs) should not be mixed in the same relation</a:t>
            </a:r>
          </a:p>
          <a:p>
            <a:pPr>
              <a:lnSpc>
                <a:spcPct val="90000"/>
              </a:lnSpc>
            </a:pPr>
            <a:r>
              <a:rPr lang="en-US" sz="2000" dirty="0">
                <a:cs typeface="Times New Roman" pitchFamily="18" charset="0"/>
              </a:rPr>
              <a:t>Only foreign keys should be used to refer to other entities</a:t>
            </a:r>
          </a:p>
          <a:p>
            <a:pPr>
              <a:lnSpc>
                <a:spcPct val="90000"/>
              </a:lnSpc>
            </a:pPr>
            <a:r>
              <a:rPr lang="en-US" sz="2000" dirty="0" smtClean="0">
                <a:cs typeface="Times New Roman" pitchFamily="18" charset="0"/>
              </a:rPr>
              <a:t>Entity </a:t>
            </a:r>
            <a:r>
              <a:rPr lang="en-US" sz="2000" dirty="0">
                <a:cs typeface="Times New Roman" pitchFamily="18" charset="0"/>
              </a:rPr>
              <a:t>and relationship attributes should be kept apart as much as possible.</a:t>
            </a:r>
          </a:p>
          <a:p>
            <a:pPr>
              <a:lnSpc>
                <a:spcPct val="90000"/>
              </a:lnSpc>
              <a:buFont typeface="Wingdings" pitchFamily="2" charset="2"/>
              <a:buNone/>
            </a:pPr>
            <a:r>
              <a:rPr lang="en-US" sz="2800" dirty="0">
                <a:cs typeface="Times New Roman" pitchFamily="18" charset="0"/>
              </a:rPr>
              <a:t> </a:t>
            </a:r>
            <a:r>
              <a:rPr lang="en-US" sz="2800" i="1" u="sng" dirty="0">
                <a:cs typeface="Times New Roman" pitchFamily="18" charset="0"/>
              </a:rPr>
              <a:t>Bottom Line:</a:t>
            </a:r>
            <a:r>
              <a:rPr lang="en-US" sz="2800" dirty="0">
                <a:cs typeface="Times New Roman" pitchFamily="18" charset="0"/>
              </a:rPr>
              <a:t> Design a schema that can be explained easily relation by relation. The semantics of attributes should be easy to interpret.</a:t>
            </a:r>
            <a:r>
              <a:rPr lang="en-US" sz="28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r>
              <a:rPr lang="en-US"/>
              <a:t>Chapter 10-</a:t>
            </a:r>
            <a:fld id="{3178F369-1127-41D4-96B2-FA8F3B02C79E}" type="slidenum">
              <a:rPr lang="en-US"/>
              <a:pPr/>
              <a:t>5</a:t>
            </a:fld>
            <a:endParaRPr lang="en-US"/>
          </a:p>
        </p:txBody>
      </p:sp>
      <p:sp>
        <p:nvSpPr>
          <p:cNvPr id="208898" name="Rectangle 2"/>
          <p:cNvSpPr>
            <a:spLocks noGrp="1" noChangeArrowheads="1"/>
          </p:cNvSpPr>
          <p:nvPr>
            <p:ph type="title"/>
          </p:nvPr>
        </p:nvSpPr>
        <p:spPr>
          <a:xfrm>
            <a:off x="609600" y="609600"/>
            <a:ext cx="7173912" cy="1143000"/>
          </a:xfrm>
        </p:spPr>
        <p:txBody>
          <a:bodyPr/>
          <a:lstStyle/>
          <a:p>
            <a:r>
              <a:rPr lang="en-US" sz="3200" dirty="0"/>
              <a:t>Figure 10.1 A simplified COMPANY relational database schema</a:t>
            </a:r>
          </a:p>
        </p:txBody>
      </p:sp>
      <p:sp>
        <p:nvSpPr>
          <p:cNvPr id="208902" name="Rectangle 6"/>
          <p:cNvSpPr>
            <a:spLocks noChangeArrowheads="1"/>
          </p:cNvSpPr>
          <p:nvPr/>
        </p:nvSpPr>
        <p:spPr bwMode="auto">
          <a:xfrm>
            <a:off x="1828800" y="1309688"/>
            <a:ext cx="9144000" cy="0"/>
          </a:xfrm>
          <a:prstGeom prst="rect">
            <a:avLst/>
          </a:prstGeom>
          <a:noFill/>
          <a:ln w="9525">
            <a:noFill/>
            <a:miter lim="800000"/>
            <a:headEnd/>
            <a:tailEnd/>
          </a:ln>
          <a:effectLst/>
        </p:spPr>
        <p:txBody>
          <a:bodyPr>
            <a:spAutoFit/>
          </a:bodyPr>
          <a:lstStyle/>
          <a:p>
            <a:endParaRPr lang="en-US"/>
          </a:p>
        </p:txBody>
      </p:sp>
      <p:pic>
        <p:nvPicPr>
          <p:cNvPr id="7" name="Picture 15" descr="31755_FIG1401.gif                                              0001035BEeyore                         B91DCF3B:"/>
          <p:cNvPicPr>
            <a:picLocks noChangeAspect="1" noChangeArrowheads="1"/>
          </p:cNvPicPr>
          <p:nvPr/>
        </p:nvPicPr>
        <p:blipFill>
          <a:blip r:embed="rId2" cstate="print"/>
          <a:srcRect/>
          <a:stretch>
            <a:fillRect/>
          </a:stretch>
        </p:blipFill>
        <p:spPr>
          <a:xfrm>
            <a:off x="1905000" y="1752600"/>
            <a:ext cx="5335587" cy="51054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7173912" cy="1143000"/>
          </a:xfrm>
        </p:spPr>
        <p:txBody>
          <a:bodyPr>
            <a:noAutofit/>
          </a:bodyPr>
          <a:lstStyle/>
          <a:p>
            <a:r>
              <a:rPr lang="en-US" sz="2800" dirty="0" smtClean="0"/>
              <a:t>Example database state for the relational database schema of Figure 10.1.</a:t>
            </a:r>
            <a:endParaRPr lang="en-US" sz="2800" dirty="0"/>
          </a:p>
        </p:txBody>
      </p:sp>
      <p:pic>
        <p:nvPicPr>
          <p:cNvPr id="4" name="Picture 4" descr="31755_FIG1402.gif                                              0001035BEeyore                         B91DCF3B:"/>
          <p:cNvPicPr>
            <a:picLocks noChangeAspect="1" noChangeArrowheads="1"/>
          </p:cNvPicPr>
          <p:nvPr/>
        </p:nvPicPr>
        <p:blipFill>
          <a:blip r:embed="rId2" cstate="print"/>
          <a:srcRect/>
          <a:stretch>
            <a:fillRect/>
          </a:stretch>
        </p:blipFill>
        <p:spPr>
          <a:xfrm>
            <a:off x="1752600" y="1524000"/>
            <a:ext cx="5756275" cy="5334000"/>
          </a:xfrm>
          <a:prstGeom prst="rect">
            <a:avLst/>
          </a:prstGeom>
        </p:spPr>
      </p:pic>
      <p:sp>
        <p:nvSpPr>
          <p:cNvPr id="5" name="Slide Number Placeholder 4"/>
          <p:cNvSpPr>
            <a:spLocks noGrp="1"/>
          </p:cNvSpPr>
          <p:nvPr>
            <p:ph type="sldNum" sz="quarter" idx="10"/>
          </p:nvPr>
        </p:nvSpPr>
        <p:spPr/>
        <p:txBody>
          <a:bodyPr/>
          <a:lstStyle/>
          <a:p>
            <a:r>
              <a:rPr lang="en-US" smtClean="0"/>
              <a:t>Chapter 10-</a:t>
            </a:r>
            <a:fld id="{C5513E76-B039-4DBB-AA58-1338A6846C73}"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002" name="Rectangle 10"/>
          <p:cNvSpPr>
            <a:spLocks noChangeArrowheads="1"/>
          </p:cNvSpPr>
          <p:nvPr/>
        </p:nvSpPr>
        <p:spPr bwMode="auto">
          <a:xfrm>
            <a:off x="1828800" y="1309688"/>
            <a:ext cx="9144000" cy="0"/>
          </a:xfrm>
          <a:prstGeom prst="rect">
            <a:avLst/>
          </a:prstGeom>
          <a:noFill/>
          <a:ln w="9525">
            <a:noFill/>
            <a:miter lim="800000"/>
            <a:headEnd/>
            <a:tailEnd/>
          </a:ln>
          <a:effectLst/>
        </p:spPr>
        <p:txBody>
          <a:bodyPr>
            <a:spAutoFit/>
          </a:bodyPr>
          <a:lstStyle/>
          <a:p>
            <a:endParaRPr lang="en-US"/>
          </a:p>
        </p:txBody>
      </p:sp>
      <p:pic>
        <p:nvPicPr>
          <p:cNvPr id="7" name="Picture 4" descr="31755_FIG1403.gif                                              0001035BEeyore                         B91DCF3B:"/>
          <p:cNvPicPr>
            <a:picLocks noGrp="1" noChangeAspect="1" noChangeArrowheads="1"/>
          </p:cNvPicPr>
          <p:nvPr>
            <p:ph idx="1"/>
          </p:nvPr>
        </p:nvPicPr>
        <p:blipFill>
          <a:blip r:embed="rId2" cstate="print"/>
          <a:srcRect/>
          <a:stretch>
            <a:fillRect/>
          </a:stretch>
        </p:blipFill>
        <p:spPr>
          <a:xfrm>
            <a:off x="685800" y="1828800"/>
            <a:ext cx="7772400" cy="3475037"/>
          </a:xfrm>
        </p:spPr>
      </p:pic>
      <p:sp>
        <p:nvSpPr>
          <p:cNvPr id="9" name="Slide Number Placeholder 8"/>
          <p:cNvSpPr>
            <a:spLocks noGrp="1"/>
          </p:cNvSpPr>
          <p:nvPr>
            <p:ph type="sldNum" sz="quarter" idx="12"/>
          </p:nvPr>
        </p:nvSpPr>
        <p:spPr/>
        <p:txBody>
          <a:bodyPr/>
          <a:lstStyle/>
          <a:p>
            <a:fld id="{B6F15528-21DE-4FAA-801E-634DDDAF4B2B}" type="slidenum">
              <a:rPr lang="en-US" smtClean="0"/>
              <a:pPr/>
              <a:t>7</a:t>
            </a:fld>
            <a:endParaRPr lang="en-US"/>
          </a:p>
        </p:txBody>
      </p:sp>
      <p:sp>
        <p:nvSpPr>
          <p:cNvPr id="10" name="Footer Placeholder 9"/>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2298350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normAutofit fontScale="90000"/>
          </a:bodyPr>
          <a:lstStyle/>
          <a:p>
            <a:r>
              <a:rPr lang="en-US" sz="3200" b="1" dirty="0" smtClean="0">
                <a:cs typeface="Times New Roman" pitchFamily="18" charset="0"/>
              </a:rPr>
              <a:t>Redundant </a:t>
            </a:r>
            <a:r>
              <a:rPr lang="en-US" sz="3200" b="1" dirty="0">
                <a:cs typeface="Times New Roman" pitchFamily="18" charset="0"/>
              </a:rPr>
              <a:t>Information in </a:t>
            </a:r>
            <a:r>
              <a:rPr lang="en-US" sz="3200" b="1" dirty="0" err="1">
                <a:cs typeface="Times New Roman" pitchFamily="18" charset="0"/>
              </a:rPr>
              <a:t>Tuples</a:t>
            </a:r>
            <a:r>
              <a:rPr lang="en-US" sz="3200" b="1" dirty="0">
                <a:cs typeface="Times New Roman" pitchFamily="18" charset="0"/>
              </a:rPr>
              <a:t> and Update Anomalies</a:t>
            </a:r>
            <a:r>
              <a:rPr lang="en-US" dirty="0"/>
              <a:t> </a:t>
            </a:r>
          </a:p>
        </p:txBody>
      </p:sp>
      <p:sp>
        <p:nvSpPr>
          <p:cNvPr id="209923" name="Rectangle 3"/>
          <p:cNvSpPr>
            <a:spLocks noGrp="1" noChangeArrowheads="1"/>
          </p:cNvSpPr>
          <p:nvPr>
            <p:ph type="body" idx="1"/>
          </p:nvPr>
        </p:nvSpPr>
        <p:spPr>
          <a:xfrm>
            <a:off x="457200" y="2362200"/>
            <a:ext cx="8229600" cy="4325112"/>
          </a:xfrm>
        </p:spPr>
        <p:txBody>
          <a:bodyPr/>
          <a:lstStyle/>
          <a:p>
            <a:r>
              <a:rPr lang="en-US" sz="2800" dirty="0">
                <a:cs typeface="Times New Roman" pitchFamily="18" charset="0"/>
              </a:rPr>
              <a:t>Mixing attributes of multiple entities may cause problems</a:t>
            </a:r>
          </a:p>
          <a:p>
            <a:r>
              <a:rPr lang="en-US" sz="2800" dirty="0">
                <a:cs typeface="Times New Roman" pitchFamily="18" charset="0"/>
              </a:rPr>
              <a:t>Information is stored redundantly wasting storage</a:t>
            </a:r>
          </a:p>
          <a:p>
            <a:r>
              <a:rPr lang="en-US" sz="2800" dirty="0">
                <a:cs typeface="Times New Roman" pitchFamily="18" charset="0"/>
              </a:rPr>
              <a:t>Problems with update anomalies</a:t>
            </a:r>
          </a:p>
          <a:p>
            <a:pPr lvl="1"/>
            <a:r>
              <a:rPr lang="en-US" dirty="0">
                <a:cs typeface="Times New Roman" pitchFamily="18" charset="0"/>
              </a:rPr>
              <a:t>Insertion anomalies</a:t>
            </a:r>
          </a:p>
          <a:p>
            <a:pPr lvl="1"/>
            <a:r>
              <a:rPr lang="en-US" dirty="0">
                <a:cs typeface="Times New Roman" pitchFamily="18" charset="0"/>
              </a:rPr>
              <a:t>Deletion anomalies</a:t>
            </a:r>
            <a:endParaRPr lang="en-US" sz="2400" dirty="0">
              <a:cs typeface="Times New Roman" pitchFamily="18" charset="0"/>
            </a:endParaRPr>
          </a:p>
          <a:p>
            <a:pPr lvl="1"/>
            <a:r>
              <a:rPr lang="en-US" dirty="0">
                <a:cs typeface="Times New Roman" pitchFamily="18" charset="0"/>
              </a:rPr>
              <a:t>Modification anomalies</a:t>
            </a:r>
            <a:r>
              <a:rPr lang="en-US"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fontScale="90000"/>
          </a:bodyPr>
          <a:lstStyle/>
          <a:p>
            <a:r>
              <a:rPr lang="en-US" sz="3600" b="1" dirty="0">
                <a:cs typeface="Times New Roman" pitchFamily="18" charset="0"/>
              </a:rPr>
              <a:t>EXAMPLE OF AN UPDATE ANOMALY (1)</a:t>
            </a:r>
            <a:r>
              <a:rPr lang="en-US" dirty="0"/>
              <a:t> </a:t>
            </a:r>
          </a:p>
        </p:txBody>
      </p:sp>
      <p:sp>
        <p:nvSpPr>
          <p:cNvPr id="210947" name="Rectangle 3"/>
          <p:cNvSpPr>
            <a:spLocks noGrp="1" noChangeArrowheads="1"/>
          </p:cNvSpPr>
          <p:nvPr>
            <p:ph type="body" idx="1"/>
          </p:nvPr>
        </p:nvSpPr>
        <p:spPr>
          <a:xfrm>
            <a:off x="457200" y="2286000"/>
            <a:ext cx="8229600" cy="4325112"/>
          </a:xfrm>
        </p:spPr>
        <p:txBody>
          <a:bodyPr/>
          <a:lstStyle/>
          <a:p>
            <a:pPr>
              <a:buFont typeface="Wingdings" pitchFamily="2" charset="2"/>
              <a:buNone/>
            </a:pPr>
            <a:r>
              <a:rPr lang="en-US" sz="2800" dirty="0">
                <a:cs typeface="Times New Roman" pitchFamily="18" charset="0"/>
              </a:rPr>
              <a:t>Consider the relation:</a:t>
            </a:r>
          </a:p>
          <a:p>
            <a:pPr>
              <a:buFont typeface="Wingdings" pitchFamily="2" charset="2"/>
              <a:buNone/>
            </a:pPr>
            <a:r>
              <a:rPr lang="en-US" sz="2400" dirty="0">
                <a:cs typeface="Times New Roman" pitchFamily="18" charset="0"/>
              </a:rPr>
              <a:t>EMP_PROJ ( </a:t>
            </a:r>
            <a:r>
              <a:rPr lang="en-US" sz="2400" u="sng" dirty="0" err="1">
                <a:cs typeface="Times New Roman" pitchFamily="18" charset="0"/>
              </a:rPr>
              <a:t>Emp</a:t>
            </a:r>
            <a:r>
              <a:rPr lang="en-US" sz="2400" u="sng" dirty="0">
                <a:cs typeface="Times New Roman" pitchFamily="18" charset="0"/>
              </a:rPr>
              <a:t>#, </a:t>
            </a:r>
            <a:r>
              <a:rPr lang="en-US" sz="2400" u="sng" dirty="0" err="1">
                <a:cs typeface="Times New Roman" pitchFamily="18" charset="0"/>
              </a:rPr>
              <a:t>Proj</a:t>
            </a:r>
            <a:r>
              <a:rPr lang="en-US" sz="2400" u="sng" dirty="0">
                <a:cs typeface="Times New Roman" pitchFamily="18" charset="0"/>
              </a:rPr>
              <a:t>#,</a:t>
            </a:r>
            <a:r>
              <a:rPr lang="en-US" sz="2400" dirty="0">
                <a:cs typeface="Times New Roman" pitchFamily="18" charset="0"/>
              </a:rPr>
              <a:t> </a:t>
            </a:r>
            <a:r>
              <a:rPr lang="en-US" sz="2400" dirty="0" err="1">
                <a:cs typeface="Times New Roman" pitchFamily="18" charset="0"/>
              </a:rPr>
              <a:t>Ename</a:t>
            </a:r>
            <a:r>
              <a:rPr lang="en-US" sz="2400" dirty="0">
                <a:cs typeface="Times New Roman" pitchFamily="18" charset="0"/>
              </a:rPr>
              <a:t>, </a:t>
            </a:r>
            <a:r>
              <a:rPr lang="en-US" sz="2400" dirty="0" err="1">
                <a:cs typeface="Times New Roman" pitchFamily="18" charset="0"/>
              </a:rPr>
              <a:t>Pname</a:t>
            </a:r>
            <a:r>
              <a:rPr lang="en-US" sz="2400" dirty="0">
                <a:cs typeface="Times New Roman" pitchFamily="18" charset="0"/>
              </a:rPr>
              <a:t>, </a:t>
            </a:r>
            <a:r>
              <a:rPr lang="en-US" sz="2400" dirty="0" err="1">
                <a:cs typeface="Times New Roman" pitchFamily="18" charset="0"/>
              </a:rPr>
              <a:t>No_hours</a:t>
            </a:r>
            <a:r>
              <a:rPr lang="en-US" sz="2400" dirty="0">
                <a:cs typeface="Times New Roman" pitchFamily="18" charset="0"/>
              </a:rPr>
              <a:t>)</a:t>
            </a:r>
          </a:p>
          <a:p>
            <a:pPr>
              <a:buFont typeface="Wingdings" pitchFamily="2" charset="2"/>
              <a:buNone/>
            </a:pPr>
            <a:r>
              <a:rPr lang="en-US" sz="2800" dirty="0">
                <a:cs typeface="Times New Roman" pitchFamily="18" charset="0"/>
              </a:rPr>
              <a:t> </a:t>
            </a:r>
          </a:p>
          <a:p>
            <a:r>
              <a:rPr lang="en-US" sz="2800" b="1" dirty="0">
                <a:cs typeface="Times New Roman" pitchFamily="18" charset="0"/>
              </a:rPr>
              <a:t>Update Anomaly:</a:t>
            </a:r>
            <a:r>
              <a:rPr lang="en-US" sz="2800" dirty="0">
                <a:cs typeface="Times New Roman" pitchFamily="18" charset="0"/>
              </a:rPr>
              <a:t> Changing the name of  project number P1 from “Billing” to “Customer-Accounting” may cause this update to be made for all 100 employees working on project P1.</a:t>
            </a:r>
            <a:r>
              <a:rPr lang="en-US" sz="28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normAutofit fontScale="90000"/>
          </a:bodyPr>
          <a:lstStyle/>
          <a:p>
            <a:r>
              <a:rPr lang="en-US" sz="3600" b="1">
                <a:cs typeface="Times New Roman" pitchFamily="18" charset="0"/>
              </a:rPr>
              <a:t>EXAMPLE OF AN UPDATE ANOMALY (2)</a:t>
            </a:r>
          </a:p>
        </p:txBody>
      </p:sp>
      <p:sp>
        <p:nvSpPr>
          <p:cNvPr id="211971" name="Rectangle 3"/>
          <p:cNvSpPr>
            <a:spLocks noGrp="1" noChangeArrowheads="1"/>
          </p:cNvSpPr>
          <p:nvPr>
            <p:ph type="body" idx="1"/>
          </p:nvPr>
        </p:nvSpPr>
        <p:spPr/>
        <p:txBody>
          <a:bodyPr>
            <a:normAutofit lnSpcReduction="10000"/>
          </a:bodyPr>
          <a:lstStyle/>
          <a:p>
            <a:r>
              <a:rPr lang="en-US" sz="2800" b="1" dirty="0">
                <a:cs typeface="Times New Roman" pitchFamily="18" charset="0"/>
              </a:rPr>
              <a:t>Insert  Anomaly:</a:t>
            </a:r>
            <a:r>
              <a:rPr lang="en-US" sz="2800" dirty="0">
                <a:cs typeface="Times New Roman" pitchFamily="18" charset="0"/>
              </a:rPr>
              <a:t> Cannot insert a project unless an employee is assigned to .</a:t>
            </a:r>
          </a:p>
          <a:p>
            <a:pPr>
              <a:buFont typeface="Wingdings" pitchFamily="2" charset="2"/>
              <a:buNone/>
            </a:pPr>
            <a:r>
              <a:rPr lang="en-US" sz="2800" b="1" dirty="0">
                <a:cs typeface="Times New Roman" pitchFamily="18" charset="0"/>
              </a:rPr>
              <a:t>    </a:t>
            </a:r>
            <a:r>
              <a:rPr lang="en-US" sz="2800" b="1" i="1" dirty="0" smtClean="0">
                <a:cs typeface="Times New Roman" pitchFamily="18" charset="0"/>
              </a:rPr>
              <a:t>Inversely </a:t>
            </a:r>
            <a:r>
              <a:rPr lang="en-US" sz="2800" dirty="0">
                <a:cs typeface="Times New Roman" pitchFamily="18" charset="0"/>
              </a:rPr>
              <a:t>- Cannot insert an employee unless </a:t>
            </a:r>
            <a:r>
              <a:rPr lang="en-US" dirty="0">
                <a:cs typeface="Times New Roman" pitchFamily="18" charset="0"/>
              </a:rPr>
              <a:t> </a:t>
            </a:r>
            <a:r>
              <a:rPr lang="en-US" sz="2800" dirty="0" smtClean="0">
                <a:cs typeface="Times New Roman" pitchFamily="18" charset="0"/>
              </a:rPr>
              <a:t>he/she </a:t>
            </a:r>
            <a:r>
              <a:rPr lang="en-US" sz="2800" dirty="0">
                <a:cs typeface="Times New Roman" pitchFamily="18" charset="0"/>
              </a:rPr>
              <a:t>is assigned to a project. </a:t>
            </a:r>
          </a:p>
          <a:p>
            <a:r>
              <a:rPr lang="en-US" sz="2800" dirty="0">
                <a:cs typeface="Times New Roman" pitchFamily="18" charset="0"/>
              </a:rPr>
              <a:t> </a:t>
            </a:r>
            <a:r>
              <a:rPr lang="en-US" sz="2800" b="1" dirty="0">
                <a:cs typeface="Times New Roman" pitchFamily="18" charset="0"/>
              </a:rPr>
              <a:t>Delete Anomaly:</a:t>
            </a:r>
            <a:r>
              <a:rPr lang="en-US" sz="2800" dirty="0">
                <a:cs typeface="Times New Roman" pitchFamily="18" charset="0"/>
              </a:rPr>
              <a:t> When a project is deleted, it will result in deleting all the employees who work on that project. Alternately, if an employee is the sole employee on a project, deleting that employee would result in deleting the corresponding project.</a:t>
            </a:r>
          </a:p>
          <a:p>
            <a:pPr>
              <a:buFont typeface="Wingdings" pitchFamily="2" charset="2"/>
              <a:buNone/>
            </a:pPr>
            <a:endParaRPr lang="en-US" sz="28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r>
              <a:rPr lang="en-US" sz="3200"/>
              <a:t>Figure 10.3 Two relation schemas suffering from update anomalies</a:t>
            </a:r>
          </a:p>
        </p:txBody>
      </p:sp>
      <p:sp>
        <p:nvSpPr>
          <p:cNvPr id="213002" name="Rectangle 10"/>
          <p:cNvSpPr>
            <a:spLocks noChangeArrowheads="1"/>
          </p:cNvSpPr>
          <p:nvPr/>
        </p:nvSpPr>
        <p:spPr bwMode="auto">
          <a:xfrm>
            <a:off x="1828800" y="1309688"/>
            <a:ext cx="9144000" cy="0"/>
          </a:xfrm>
          <a:prstGeom prst="rect">
            <a:avLst/>
          </a:prstGeom>
          <a:noFill/>
          <a:ln w="9525">
            <a:noFill/>
            <a:miter lim="800000"/>
            <a:headEnd/>
            <a:tailEnd/>
          </a:ln>
          <a:effectLst/>
        </p:spPr>
        <p:txBody>
          <a:bodyPr>
            <a:spAutoFit/>
          </a:bodyPr>
          <a:lstStyle/>
          <a:p>
            <a:endParaRPr lang="en-US"/>
          </a:p>
        </p:txBody>
      </p:sp>
      <p:pic>
        <p:nvPicPr>
          <p:cNvPr id="7" name="Picture 4" descr="31755_FIG1403.gif                                              0001035BEeyore                         B91DCF3B:"/>
          <p:cNvPicPr>
            <a:picLocks noGrp="1" noChangeAspect="1" noChangeArrowheads="1"/>
          </p:cNvPicPr>
          <p:nvPr>
            <p:ph idx="1"/>
          </p:nvPr>
        </p:nvPicPr>
        <p:blipFill>
          <a:blip r:embed="rId2" cstate="print"/>
          <a:srcRect/>
          <a:stretch>
            <a:fillRect/>
          </a:stretch>
        </p:blipFill>
        <p:spPr>
          <a:xfrm>
            <a:off x="685800" y="2590800"/>
            <a:ext cx="7772400" cy="3475037"/>
          </a:xfrm>
        </p:spPr>
      </p:pic>
      <p:sp>
        <p:nvSpPr>
          <p:cNvPr id="9" name="Slide Number Placeholder 8"/>
          <p:cNvSpPr>
            <a:spLocks noGrp="1"/>
          </p:cNvSpPr>
          <p:nvPr>
            <p:ph type="sldNum" sz="quarter" idx="12"/>
          </p:nvPr>
        </p:nvSpPr>
        <p:spPr/>
        <p:txBody>
          <a:bodyPr/>
          <a:lstStyle/>
          <a:p>
            <a:fld id="{B6F15528-21DE-4FAA-801E-634DDDAF4B2B}" type="slidenum">
              <a:rPr lang="en-US" smtClean="0"/>
              <a:pPr/>
              <a:t>11</a:t>
            </a:fld>
            <a:endParaRPr lang="en-US"/>
          </a:p>
        </p:txBody>
      </p:sp>
      <p:sp>
        <p:nvSpPr>
          <p:cNvPr id="10" name="Footer Placeholder 9"/>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304800" y="533400"/>
            <a:ext cx="8178800" cy="1143000"/>
          </a:xfrm>
        </p:spPr>
        <p:txBody>
          <a:bodyPr/>
          <a:lstStyle/>
          <a:p>
            <a:r>
              <a:rPr lang="en-US" sz="3200" dirty="0"/>
              <a:t>Figure 10.4 Example States for </a:t>
            </a:r>
            <a:r>
              <a:rPr lang="en-US" sz="2800" dirty="0"/>
              <a:t>EMP_DEPT</a:t>
            </a:r>
            <a:r>
              <a:rPr lang="en-US" sz="3200" dirty="0"/>
              <a:t> and </a:t>
            </a:r>
            <a:r>
              <a:rPr lang="en-US" sz="2800" dirty="0"/>
              <a:t>EMP_PROJ</a:t>
            </a:r>
            <a:endParaRPr lang="en-US" dirty="0"/>
          </a:p>
        </p:txBody>
      </p:sp>
      <p:sp>
        <p:nvSpPr>
          <p:cNvPr id="254981" name="Text Box 5"/>
          <p:cNvSpPr txBox="1">
            <a:spLocks noChangeArrowheads="1"/>
          </p:cNvSpPr>
          <p:nvPr/>
        </p:nvSpPr>
        <p:spPr bwMode="auto">
          <a:xfrm>
            <a:off x="685800" y="5854700"/>
            <a:ext cx="8178800" cy="457200"/>
          </a:xfrm>
          <a:prstGeom prst="rect">
            <a:avLst/>
          </a:prstGeom>
          <a:noFill/>
          <a:ln w="9525">
            <a:noFill/>
            <a:miter lim="800000"/>
            <a:headEnd/>
            <a:tailEnd/>
          </a:ln>
          <a:effectLst/>
        </p:spPr>
        <p:txBody>
          <a:bodyPr>
            <a:spAutoFit/>
          </a:bodyPr>
          <a:lstStyle/>
          <a:p>
            <a:pPr>
              <a:spcBef>
                <a:spcPct val="50000"/>
              </a:spcBef>
            </a:pPr>
            <a:r>
              <a:rPr lang="en-US" b="1">
                <a:solidFill>
                  <a:schemeClr val="bg2"/>
                </a:solidFill>
              </a:rPr>
              <a:t>Note: The above figure is now called Figure 10.4 in Edition 4</a:t>
            </a:r>
          </a:p>
        </p:txBody>
      </p:sp>
      <p:pic>
        <p:nvPicPr>
          <p:cNvPr id="6" name="Picture 10" descr="&#10;1004A1.gif                                                     0001144AEeyore                         B91DCF3B:"/>
          <p:cNvPicPr>
            <a:picLocks noGrp="1" noChangeAspect="1" noChangeArrowheads="1"/>
          </p:cNvPicPr>
          <p:nvPr>
            <p:ph idx="1"/>
          </p:nvPr>
        </p:nvPicPr>
        <p:blipFill>
          <a:blip r:embed="rId2" cstate="print"/>
          <a:srcRect/>
          <a:stretch>
            <a:fillRect/>
          </a:stretch>
        </p:blipFill>
        <p:spPr>
          <a:xfrm>
            <a:off x="533400" y="1600200"/>
            <a:ext cx="7772400" cy="2220913"/>
          </a:xfrm>
        </p:spPr>
      </p:pic>
      <p:pic>
        <p:nvPicPr>
          <p:cNvPr id="7" name="Picture 7" descr=" 1004A.gif                                                      0001144AEeyore                         B91DCF3B:"/>
          <p:cNvPicPr>
            <a:picLocks noChangeAspect="1" noChangeArrowheads="1"/>
          </p:cNvPicPr>
          <p:nvPr/>
        </p:nvPicPr>
        <p:blipFill>
          <a:blip r:embed="rId3" cstate="print"/>
          <a:srcRect/>
          <a:stretch>
            <a:fillRect/>
          </a:stretch>
        </p:blipFill>
        <p:spPr>
          <a:xfrm>
            <a:off x="1143000" y="3962400"/>
            <a:ext cx="7040562" cy="2895600"/>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12</a:t>
            </a:fld>
            <a:endParaRPr lang="en-US"/>
          </a:p>
        </p:txBody>
      </p:sp>
      <p:sp>
        <p:nvSpPr>
          <p:cNvPr id="10" name="Footer Placeholder 9"/>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r>
              <a:rPr lang="en-US" sz="3200" b="1">
                <a:cs typeface="Times New Roman" pitchFamily="18" charset="0"/>
              </a:rPr>
              <a:t>Guideline to Redundant Information in Tuples and Update Anomalies</a:t>
            </a:r>
          </a:p>
        </p:txBody>
      </p:sp>
      <p:sp>
        <p:nvSpPr>
          <p:cNvPr id="214019" name="Rectangle 3"/>
          <p:cNvSpPr>
            <a:spLocks noGrp="1" noChangeArrowheads="1"/>
          </p:cNvSpPr>
          <p:nvPr>
            <p:ph type="body" idx="1"/>
          </p:nvPr>
        </p:nvSpPr>
        <p:spPr/>
        <p:txBody>
          <a:bodyPr/>
          <a:lstStyle/>
          <a:p>
            <a:r>
              <a:rPr lang="en-US" sz="2800" b="1" dirty="0">
                <a:cs typeface="Times New Roman" pitchFamily="18" charset="0"/>
              </a:rPr>
              <a:t>GUIDELINE 2: </a:t>
            </a:r>
            <a:r>
              <a:rPr lang="en-US" sz="2800" dirty="0">
                <a:cs typeface="Times New Roman" pitchFamily="18" charset="0"/>
              </a:rPr>
              <a:t>Design a schema that does not suffer from the insertion, deletion and update anomalies. If there are any present, then note them so that applications can be made to take them into account</a:t>
            </a:r>
            <a:r>
              <a:rPr lang="en-US"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US" sz="3200" b="1" dirty="0" smtClean="0">
                <a:cs typeface="Times New Roman" pitchFamily="18" charset="0"/>
              </a:rPr>
              <a:t>Null </a:t>
            </a:r>
            <a:r>
              <a:rPr lang="en-US" sz="3200" b="1" dirty="0">
                <a:cs typeface="Times New Roman" pitchFamily="18" charset="0"/>
              </a:rPr>
              <a:t>Values in </a:t>
            </a:r>
            <a:r>
              <a:rPr lang="en-US" sz="3200" b="1" dirty="0" err="1">
                <a:cs typeface="Times New Roman" pitchFamily="18" charset="0"/>
              </a:rPr>
              <a:t>Tuples</a:t>
            </a:r>
            <a:r>
              <a:rPr lang="en-US" dirty="0"/>
              <a:t> </a:t>
            </a:r>
          </a:p>
        </p:txBody>
      </p:sp>
      <p:sp>
        <p:nvSpPr>
          <p:cNvPr id="215043" name="Rectangle 3"/>
          <p:cNvSpPr>
            <a:spLocks noGrp="1" noChangeArrowheads="1"/>
          </p:cNvSpPr>
          <p:nvPr>
            <p:ph type="body" idx="1"/>
          </p:nvPr>
        </p:nvSpPr>
        <p:spPr/>
        <p:txBody>
          <a:bodyPr/>
          <a:lstStyle/>
          <a:p>
            <a:pPr>
              <a:lnSpc>
                <a:spcPct val="90000"/>
              </a:lnSpc>
              <a:buFont typeface="Wingdings" pitchFamily="2" charset="2"/>
              <a:buNone/>
            </a:pPr>
            <a:r>
              <a:rPr lang="en-US" sz="2800" b="1">
                <a:cs typeface="Times New Roman" pitchFamily="18" charset="0"/>
              </a:rPr>
              <a:t>GUIDELINE 3: </a:t>
            </a:r>
            <a:r>
              <a:rPr lang="en-US" sz="2800">
                <a:cs typeface="Times New Roman" pitchFamily="18" charset="0"/>
              </a:rPr>
              <a:t>Relations should be designed such that their tuples will have as few NULL values as possible</a:t>
            </a:r>
          </a:p>
          <a:p>
            <a:pPr>
              <a:lnSpc>
                <a:spcPct val="90000"/>
              </a:lnSpc>
            </a:pPr>
            <a:r>
              <a:rPr lang="en-US" sz="2800">
                <a:cs typeface="Times New Roman" pitchFamily="18" charset="0"/>
              </a:rPr>
              <a:t> Attributes that are NULL frequently could be placed in separate relations (with the primary key)</a:t>
            </a:r>
          </a:p>
          <a:p>
            <a:pPr>
              <a:lnSpc>
                <a:spcPct val="90000"/>
              </a:lnSpc>
            </a:pPr>
            <a:r>
              <a:rPr lang="en-US" sz="2800">
                <a:cs typeface="Times New Roman" pitchFamily="18" charset="0"/>
              </a:rPr>
              <a:t> Reasons for nulls:</a:t>
            </a:r>
          </a:p>
          <a:p>
            <a:pPr lvl="1">
              <a:lnSpc>
                <a:spcPct val="90000"/>
              </a:lnSpc>
            </a:pPr>
            <a:r>
              <a:rPr lang="en-US" sz="2400">
                <a:cs typeface="Times New Roman" pitchFamily="18" charset="0"/>
              </a:rPr>
              <a:t>attribute not applicable or invalid</a:t>
            </a:r>
          </a:p>
          <a:p>
            <a:pPr lvl="1">
              <a:lnSpc>
                <a:spcPct val="90000"/>
              </a:lnSpc>
            </a:pPr>
            <a:r>
              <a:rPr lang="en-US" sz="2400">
                <a:cs typeface="Times New Roman" pitchFamily="18" charset="0"/>
              </a:rPr>
              <a:t>attribute value unknown  (may exist)</a:t>
            </a:r>
          </a:p>
          <a:p>
            <a:pPr lvl="1">
              <a:lnSpc>
                <a:spcPct val="90000"/>
              </a:lnSpc>
            </a:pPr>
            <a:r>
              <a:rPr lang="en-US" sz="2400">
                <a:cs typeface="Times New Roman" pitchFamily="18" charset="0"/>
              </a:rPr>
              <a:t>value known to exist, but unavailable</a:t>
            </a:r>
            <a:r>
              <a:rPr lang="en-US" sz="240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6212536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r>
              <a:rPr lang="en-US" sz="3200" b="1" dirty="0" smtClean="0">
                <a:cs typeface="Times New Roman" pitchFamily="18" charset="0"/>
              </a:rPr>
              <a:t>Spurious </a:t>
            </a:r>
            <a:r>
              <a:rPr lang="en-US" sz="3200" b="1" dirty="0" err="1">
                <a:cs typeface="Times New Roman" pitchFamily="18" charset="0"/>
              </a:rPr>
              <a:t>Tuples</a:t>
            </a:r>
            <a:r>
              <a:rPr lang="en-US" dirty="0"/>
              <a:t> </a:t>
            </a:r>
          </a:p>
        </p:txBody>
      </p:sp>
      <p:sp>
        <p:nvSpPr>
          <p:cNvPr id="216067" name="Rectangle 3"/>
          <p:cNvSpPr>
            <a:spLocks noGrp="1" noChangeArrowheads="1"/>
          </p:cNvSpPr>
          <p:nvPr>
            <p:ph type="body" idx="1"/>
          </p:nvPr>
        </p:nvSpPr>
        <p:spPr/>
        <p:txBody>
          <a:bodyPr/>
          <a:lstStyle/>
          <a:p>
            <a:pPr>
              <a:lnSpc>
                <a:spcPct val="90000"/>
              </a:lnSpc>
            </a:pPr>
            <a:r>
              <a:rPr lang="en-US" sz="2800" dirty="0">
                <a:cs typeface="Times New Roman" pitchFamily="18" charset="0"/>
              </a:rPr>
              <a:t>Bad designs for a relational database may result in erroneous results for certain JOIN operations</a:t>
            </a:r>
          </a:p>
          <a:p>
            <a:pPr>
              <a:lnSpc>
                <a:spcPct val="90000"/>
              </a:lnSpc>
            </a:pPr>
            <a:r>
              <a:rPr lang="en-US" sz="2800" dirty="0">
                <a:cs typeface="Times New Roman" pitchFamily="18" charset="0"/>
              </a:rPr>
              <a:t>The "lossless join" property is used to guarantee meaningful results for join operations</a:t>
            </a:r>
            <a:r>
              <a:rPr lang="en-US" sz="2800" dirty="0"/>
              <a:t> </a:t>
            </a:r>
          </a:p>
          <a:p>
            <a:pPr>
              <a:lnSpc>
                <a:spcPct val="90000"/>
              </a:lnSpc>
              <a:buFont typeface="Wingdings" pitchFamily="2" charset="2"/>
              <a:buNone/>
            </a:pPr>
            <a:endParaRPr lang="en-US" sz="2800" dirty="0"/>
          </a:p>
          <a:p>
            <a:pPr>
              <a:lnSpc>
                <a:spcPct val="90000"/>
              </a:lnSpc>
              <a:buFont typeface="Wingdings" pitchFamily="2" charset="2"/>
              <a:buNone/>
            </a:pPr>
            <a:r>
              <a:rPr lang="en-US" sz="2800" b="1" dirty="0">
                <a:cs typeface="Times New Roman" pitchFamily="18" charset="0"/>
              </a:rPr>
              <a:t>GUIDELINE 4: </a:t>
            </a:r>
            <a:r>
              <a:rPr lang="en-US" sz="2800" dirty="0">
                <a:cs typeface="Times New Roman" pitchFamily="18" charset="0"/>
              </a:rPr>
              <a:t>The relations should be designed to satisfy the lossless join condition. No spurious </a:t>
            </a:r>
            <a:r>
              <a:rPr lang="en-US" sz="2800" dirty="0" err="1">
                <a:cs typeface="Times New Roman" pitchFamily="18" charset="0"/>
              </a:rPr>
              <a:t>tuples</a:t>
            </a:r>
            <a:r>
              <a:rPr lang="en-US" sz="2800" dirty="0">
                <a:cs typeface="Times New Roman" pitchFamily="18" charset="0"/>
              </a:rPr>
              <a:t> should be generated by doing a natural-join of any relations.</a:t>
            </a:r>
          </a:p>
          <a:p>
            <a:pPr>
              <a:lnSpc>
                <a:spcPct val="90000"/>
              </a:lnSpc>
              <a:buFont typeface="Wingdings" pitchFamily="2" charset="2"/>
              <a:buNone/>
            </a:pPr>
            <a:endParaRPr lang="en-US" sz="28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0931715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en-US" sz="3200" b="1">
                <a:cs typeface="Times New Roman" pitchFamily="18" charset="0"/>
              </a:rPr>
              <a:t>Spurious Tuples (2)</a:t>
            </a:r>
          </a:p>
        </p:txBody>
      </p:sp>
      <p:sp>
        <p:nvSpPr>
          <p:cNvPr id="217091" name="Rectangle 3"/>
          <p:cNvSpPr>
            <a:spLocks noGrp="1" noChangeArrowheads="1"/>
          </p:cNvSpPr>
          <p:nvPr>
            <p:ph type="body" idx="1"/>
          </p:nvPr>
        </p:nvSpPr>
        <p:spPr>
          <a:xfrm>
            <a:off x="685800" y="1981200"/>
            <a:ext cx="8153400" cy="4114800"/>
          </a:xfrm>
        </p:spPr>
        <p:txBody>
          <a:bodyPr>
            <a:normAutofit/>
          </a:bodyPr>
          <a:lstStyle/>
          <a:p>
            <a:pPr marL="609600" indent="-609600">
              <a:buFont typeface="Wingdings" pitchFamily="2" charset="2"/>
              <a:buNone/>
            </a:pPr>
            <a:r>
              <a:rPr lang="en-US" dirty="0">
                <a:cs typeface="Times New Roman" pitchFamily="18" charset="0"/>
              </a:rPr>
              <a:t> </a:t>
            </a:r>
            <a:r>
              <a:rPr lang="en-US" sz="2800" dirty="0">
                <a:cs typeface="Times New Roman" pitchFamily="18" charset="0"/>
              </a:rPr>
              <a:t>There are two important properties of decompositions: </a:t>
            </a:r>
          </a:p>
          <a:p>
            <a:pPr marL="609600" indent="-609600">
              <a:buFont typeface="Wingdings" pitchFamily="2" charset="2"/>
              <a:buAutoNum type="alphaLcParenBoth"/>
            </a:pPr>
            <a:r>
              <a:rPr lang="en-US" sz="2800" dirty="0">
                <a:cs typeface="Times New Roman" pitchFamily="18" charset="0"/>
              </a:rPr>
              <a:t>non-additive or </a:t>
            </a:r>
            <a:r>
              <a:rPr lang="en-US" sz="2800" dirty="0" err="1">
                <a:cs typeface="Times New Roman" pitchFamily="18" charset="0"/>
              </a:rPr>
              <a:t>losslessness</a:t>
            </a:r>
            <a:r>
              <a:rPr lang="en-US" sz="2800" dirty="0">
                <a:cs typeface="Times New Roman" pitchFamily="18" charset="0"/>
              </a:rPr>
              <a:t> of the corresponding join</a:t>
            </a:r>
          </a:p>
          <a:p>
            <a:pPr marL="609600" indent="-609600">
              <a:buFont typeface="Wingdings" pitchFamily="2" charset="2"/>
              <a:buAutoNum type="alphaLcParenBoth"/>
            </a:pPr>
            <a:r>
              <a:rPr lang="en-US" sz="2800" dirty="0">
                <a:cs typeface="Times New Roman" pitchFamily="18" charset="0"/>
              </a:rPr>
              <a:t>preservation of the functional dependencies. </a:t>
            </a:r>
          </a:p>
          <a:p>
            <a:pPr marL="609600" indent="-609600">
              <a:buFont typeface="Wingdings" pitchFamily="2" charset="2"/>
              <a:buNone/>
            </a:pPr>
            <a:endParaRPr lang="en-US" sz="2800" dirty="0">
              <a:cs typeface="Times New Roman" pitchFamily="18" charset="0"/>
            </a:endParaRPr>
          </a:p>
          <a:p>
            <a:pPr marL="609600" indent="-609600">
              <a:buFont typeface="Wingdings" pitchFamily="2" charset="2"/>
              <a:buNone/>
            </a:pPr>
            <a:r>
              <a:rPr lang="en-US" sz="2800" dirty="0">
                <a:cs typeface="Times New Roman" pitchFamily="18" charset="0"/>
              </a:rPr>
              <a:t>Note that property (a) is extremely important and </a:t>
            </a:r>
            <a:r>
              <a:rPr lang="en-US" sz="2800" i="1" dirty="0">
                <a:cs typeface="Times New Roman" pitchFamily="18" charset="0"/>
              </a:rPr>
              <a:t>cannot</a:t>
            </a:r>
            <a:r>
              <a:rPr lang="en-US" sz="2800" dirty="0">
                <a:cs typeface="Times New Roman" pitchFamily="18" charset="0"/>
              </a:rPr>
              <a:t> be sacrificed. Property (b) is less stringent and may be sacrificed. </a:t>
            </a:r>
            <a:r>
              <a:rPr lang="en-US" sz="2800" dirty="0" smtClean="0"/>
              <a:t> </a:t>
            </a:r>
            <a:endParaRPr lang="en-US" sz="28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5848760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002" name="Rectangle 10"/>
          <p:cNvSpPr>
            <a:spLocks noChangeArrowheads="1"/>
          </p:cNvSpPr>
          <p:nvPr/>
        </p:nvSpPr>
        <p:spPr bwMode="auto">
          <a:xfrm>
            <a:off x="1828800" y="1309688"/>
            <a:ext cx="9144000" cy="0"/>
          </a:xfrm>
          <a:prstGeom prst="rect">
            <a:avLst/>
          </a:prstGeom>
          <a:noFill/>
          <a:ln w="9525">
            <a:noFill/>
            <a:miter lim="800000"/>
            <a:headEnd/>
            <a:tailEnd/>
          </a:ln>
          <a:effectLst/>
        </p:spPr>
        <p:txBody>
          <a:bodyPr>
            <a:spAutoFit/>
          </a:bodyPr>
          <a:lstStyle/>
          <a:p>
            <a:endParaRPr lang="en-US"/>
          </a:p>
        </p:txBody>
      </p:sp>
      <p:pic>
        <p:nvPicPr>
          <p:cNvPr id="7" name="Picture 4" descr="31755_FIG1403.gif                                              0001035BEeyore                         B91DCF3B:"/>
          <p:cNvPicPr>
            <a:picLocks noGrp="1" noChangeAspect="1" noChangeArrowheads="1"/>
          </p:cNvPicPr>
          <p:nvPr>
            <p:ph idx="1"/>
          </p:nvPr>
        </p:nvPicPr>
        <p:blipFill>
          <a:blip r:embed="rId2" cstate="print"/>
          <a:srcRect/>
          <a:stretch>
            <a:fillRect/>
          </a:stretch>
        </p:blipFill>
        <p:spPr>
          <a:xfrm>
            <a:off x="685800" y="1828800"/>
            <a:ext cx="7772400" cy="3475037"/>
          </a:xfrm>
        </p:spPr>
      </p:pic>
      <p:sp>
        <p:nvSpPr>
          <p:cNvPr id="9" name="Slide Number Placeholder 8"/>
          <p:cNvSpPr>
            <a:spLocks noGrp="1"/>
          </p:cNvSpPr>
          <p:nvPr>
            <p:ph type="sldNum" sz="quarter" idx="12"/>
          </p:nvPr>
        </p:nvSpPr>
        <p:spPr/>
        <p:txBody>
          <a:bodyPr/>
          <a:lstStyle/>
          <a:p>
            <a:fld id="{B6F15528-21DE-4FAA-801E-634DDDAF4B2B}" type="slidenum">
              <a:rPr lang="en-US" smtClean="0"/>
              <a:pPr/>
              <a:t>17</a:t>
            </a:fld>
            <a:endParaRPr lang="en-US"/>
          </a:p>
        </p:txBody>
      </p:sp>
      <p:sp>
        <p:nvSpPr>
          <p:cNvPr id="10" name="Footer Placeholder 9"/>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25626604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229600" cy="1066800"/>
          </a:xfrm>
        </p:spPr>
        <p:txBody>
          <a:bodyPr>
            <a:normAutofit/>
          </a:bodyPr>
          <a:lstStyle/>
          <a:p>
            <a:r>
              <a:rPr lang="en-US" sz="2000" dirty="0" smtClean="0"/>
              <a:t>Particularly poor design for the EMP_PROJ relation of Figure 10.3b.</a:t>
            </a:r>
            <a:endParaRPr lang="en-US" sz="2000" dirty="0"/>
          </a:p>
        </p:txBody>
      </p:sp>
      <p:pic>
        <p:nvPicPr>
          <p:cNvPr id="4" name="Picture 4" descr="31755_FIG1405a.gif                                             0001035BEeyore                         B91DCF3B:"/>
          <p:cNvPicPr>
            <a:picLocks noGrp="1" noChangeAspect="1" noChangeArrowheads="1"/>
          </p:cNvPicPr>
          <p:nvPr>
            <p:ph idx="1"/>
          </p:nvPr>
        </p:nvPicPr>
        <p:blipFill>
          <a:blip r:embed="rId2" cstate="print"/>
          <a:srcRect/>
          <a:stretch>
            <a:fillRect/>
          </a:stretch>
        </p:blipFill>
        <p:spPr>
          <a:xfrm>
            <a:off x="381000" y="1423988"/>
            <a:ext cx="7239000" cy="3376612"/>
          </a:xfrm>
        </p:spPr>
      </p:pic>
      <p:pic>
        <p:nvPicPr>
          <p:cNvPr id="6" name="Picture 5" descr="31755_FIG1405b.gif                                             0001035BEeyore                         B91DCF3B:"/>
          <p:cNvPicPr>
            <a:picLocks noChangeAspect="1" noChangeArrowheads="1"/>
          </p:cNvPicPr>
          <p:nvPr/>
        </p:nvPicPr>
        <p:blipFill>
          <a:blip r:embed="rId3" cstate="print"/>
          <a:srcRect/>
          <a:stretch>
            <a:fillRect/>
          </a:stretch>
        </p:blipFill>
        <p:spPr>
          <a:xfrm>
            <a:off x="609601" y="4876800"/>
            <a:ext cx="6553200" cy="1790700"/>
          </a:xfrm>
          <a:prstGeom prst="rect">
            <a:avLst/>
          </a:prstGeom>
        </p:spPr>
      </p:pic>
      <p:sp>
        <p:nvSpPr>
          <p:cNvPr id="8" name="Slide Number Placeholder 7"/>
          <p:cNvSpPr>
            <a:spLocks noGrp="1"/>
          </p:cNvSpPr>
          <p:nvPr>
            <p:ph type="sldNum" sz="quarter" idx="12"/>
          </p:nvPr>
        </p:nvSpPr>
        <p:spPr/>
        <p:txBody>
          <a:bodyPr/>
          <a:lstStyle/>
          <a:p>
            <a:fld id="{B6F15528-21DE-4FAA-801E-634DDDAF4B2B}" type="slidenum">
              <a:rPr lang="en-US" smtClean="0"/>
              <a:pPr/>
              <a:t>18</a:t>
            </a:fld>
            <a:endParaRPr lang="en-US"/>
          </a:p>
        </p:txBody>
      </p:sp>
      <p:sp>
        <p:nvSpPr>
          <p:cNvPr id="9" name="Footer Placeholder 8"/>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3056548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smtClean="0"/>
              <a:t>Result of applying NATURAL JOIN to the </a:t>
            </a:r>
            <a:r>
              <a:rPr lang="en-US" sz="2000" dirty="0" err="1" smtClean="0"/>
              <a:t>tuples</a:t>
            </a:r>
            <a:r>
              <a:rPr lang="en-US" sz="2000" dirty="0" smtClean="0"/>
              <a:t> above the dotted lines in EMP_PROJ1 and EMP_LOCS of Figure 10.5. Generated spurious </a:t>
            </a:r>
            <a:r>
              <a:rPr lang="en-US" sz="2000" dirty="0" err="1" smtClean="0"/>
              <a:t>tuples</a:t>
            </a:r>
            <a:r>
              <a:rPr lang="en-US" sz="2000" dirty="0" smtClean="0"/>
              <a:t> are marked by asterisks.</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
        <p:nvSpPr>
          <p:cNvPr id="3" name="Content Placeholder 2"/>
          <p:cNvSpPr>
            <a:spLocks noGrp="1"/>
          </p:cNvSpPr>
          <p:nvPr>
            <p:ph idx="1"/>
          </p:nvPr>
        </p:nvSpPr>
        <p:spPr/>
        <p:txBody>
          <a:bodyPr/>
          <a:lstStyle/>
          <a:p>
            <a:endParaRPr lang="en-US"/>
          </a:p>
        </p:txBody>
      </p:sp>
      <p:pic>
        <p:nvPicPr>
          <p:cNvPr id="1026" name="Picture 2" descr="C:\Users\Mehtab\Desktop\Unnamed QQ Screenshot201905071615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31436"/>
            <a:ext cx="7543800" cy="477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967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533400" y="990600"/>
            <a:ext cx="8229600" cy="1066800"/>
          </a:xfrm>
        </p:spPr>
        <p:txBody>
          <a:bodyPr/>
          <a:lstStyle/>
          <a:p>
            <a:r>
              <a:rPr lang="en-US" sz="3200" b="1" smtClean="0">
                <a:cs typeface="Times New Roman" pitchFamily="18" charset="0"/>
              </a:rPr>
              <a:t>Functional </a:t>
            </a:r>
            <a:r>
              <a:rPr lang="en-US" sz="3200" b="1" dirty="0">
                <a:cs typeface="Times New Roman" pitchFamily="18" charset="0"/>
              </a:rPr>
              <a:t>Dependencies (1)</a:t>
            </a:r>
            <a:r>
              <a:rPr lang="en-US" dirty="0"/>
              <a:t> </a:t>
            </a:r>
          </a:p>
        </p:txBody>
      </p:sp>
      <p:sp>
        <p:nvSpPr>
          <p:cNvPr id="218115" name="Rectangle 3"/>
          <p:cNvSpPr>
            <a:spLocks noGrp="1" noChangeArrowheads="1"/>
          </p:cNvSpPr>
          <p:nvPr>
            <p:ph type="body" idx="1"/>
          </p:nvPr>
        </p:nvSpPr>
        <p:spPr>
          <a:xfrm>
            <a:off x="685800" y="1930400"/>
            <a:ext cx="7772400" cy="4114800"/>
          </a:xfrm>
        </p:spPr>
        <p:txBody>
          <a:bodyPr>
            <a:normAutofit lnSpcReduction="10000"/>
          </a:bodyPr>
          <a:lstStyle/>
          <a:p>
            <a:pPr>
              <a:lnSpc>
                <a:spcPct val="90000"/>
              </a:lnSpc>
            </a:pPr>
            <a:r>
              <a:rPr lang="en-US" sz="2800">
                <a:cs typeface="Times New Roman" pitchFamily="18" charset="0"/>
              </a:rPr>
              <a:t>Functional dependencies (FDs) are used to specify </a:t>
            </a:r>
            <a:r>
              <a:rPr lang="en-US" sz="2800" i="1">
                <a:cs typeface="Times New Roman" pitchFamily="18" charset="0"/>
              </a:rPr>
              <a:t>formal measures</a:t>
            </a:r>
            <a:r>
              <a:rPr lang="en-US" sz="2800">
                <a:cs typeface="Times New Roman" pitchFamily="18" charset="0"/>
              </a:rPr>
              <a:t>  of the "goodness" of relational designs</a:t>
            </a:r>
          </a:p>
          <a:p>
            <a:pPr>
              <a:lnSpc>
                <a:spcPct val="90000"/>
              </a:lnSpc>
            </a:pPr>
            <a:r>
              <a:rPr lang="en-US" sz="2800">
                <a:cs typeface="Times New Roman" pitchFamily="18" charset="0"/>
              </a:rPr>
              <a:t>FDs and keys are used to define </a:t>
            </a:r>
            <a:r>
              <a:rPr lang="en-US" sz="2800" b="1">
                <a:cs typeface="Times New Roman" pitchFamily="18" charset="0"/>
              </a:rPr>
              <a:t>normal forms</a:t>
            </a:r>
            <a:r>
              <a:rPr lang="en-US" sz="2800">
                <a:cs typeface="Times New Roman" pitchFamily="18" charset="0"/>
              </a:rPr>
              <a:t> for relations</a:t>
            </a:r>
          </a:p>
          <a:p>
            <a:pPr>
              <a:lnSpc>
                <a:spcPct val="90000"/>
              </a:lnSpc>
            </a:pPr>
            <a:r>
              <a:rPr lang="en-US" sz="2800">
                <a:cs typeface="Times New Roman" pitchFamily="18" charset="0"/>
              </a:rPr>
              <a:t>FDs are </a:t>
            </a:r>
            <a:r>
              <a:rPr lang="en-US" sz="2800" b="1">
                <a:cs typeface="Times New Roman" pitchFamily="18" charset="0"/>
              </a:rPr>
              <a:t>constraints</a:t>
            </a:r>
            <a:r>
              <a:rPr lang="en-US" sz="2800">
                <a:cs typeface="Times New Roman" pitchFamily="18" charset="0"/>
              </a:rPr>
              <a:t> that are derived from the </a:t>
            </a:r>
            <a:r>
              <a:rPr lang="en-US" sz="2800" i="1">
                <a:cs typeface="Times New Roman" pitchFamily="18" charset="0"/>
              </a:rPr>
              <a:t>meaning</a:t>
            </a:r>
            <a:r>
              <a:rPr lang="en-US" sz="2800">
                <a:cs typeface="Times New Roman" pitchFamily="18" charset="0"/>
              </a:rPr>
              <a:t>  and </a:t>
            </a:r>
            <a:r>
              <a:rPr lang="en-US" sz="2800" i="1">
                <a:cs typeface="Times New Roman" pitchFamily="18" charset="0"/>
              </a:rPr>
              <a:t>interrelationships</a:t>
            </a:r>
            <a:r>
              <a:rPr lang="en-US" sz="2800">
                <a:cs typeface="Times New Roman" pitchFamily="18" charset="0"/>
              </a:rPr>
              <a:t>  of the data attributes</a:t>
            </a:r>
          </a:p>
          <a:p>
            <a:pPr>
              <a:lnSpc>
                <a:spcPct val="90000"/>
              </a:lnSpc>
            </a:pPr>
            <a:r>
              <a:rPr lang="en-US" sz="2800">
                <a:cs typeface="Times New Roman" pitchFamily="18" charset="0"/>
              </a:rPr>
              <a:t>A set of attributes X </a:t>
            </a:r>
            <a:r>
              <a:rPr lang="en-US" sz="2800" i="1">
                <a:cs typeface="Times New Roman" pitchFamily="18" charset="0"/>
              </a:rPr>
              <a:t>functionally determines</a:t>
            </a:r>
            <a:r>
              <a:rPr lang="en-US" sz="2800">
                <a:cs typeface="Times New Roman" pitchFamily="18" charset="0"/>
              </a:rPr>
              <a:t>  a set of attributes Y if the value of X determines a unique value for 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8796508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en-US" sz="3200" b="1">
                <a:cs typeface="Times New Roman" pitchFamily="18" charset="0"/>
              </a:rPr>
              <a:t>Functional Dependencies (2)</a:t>
            </a:r>
          </a:p>
        </p:txBody>
      </p:sp>
      <p:sp>
        <p:nvSpPr>
          <p:cNvPr id="219139" name="Rectangle 3"/>
          <p:cNvSpPr>
            <a:spLocks noGrp="1" noChangeArrowheads="1"/>
          </p:cNvSpPr>
          <p:nvPr>
            <p:ph type="body" idx="1"/>
          </p:nvPr>
        </p:nvSpPr>
        <p:spPr/>
        <p:txBody>
          <a:bodyPr/>
          <a:lstStyle/>
          <a:p>
            <a:r>
              <a:rPr lang="en-US" sz="2400">
                <a:cs typeface="Times New Roman" pitchFamily="18" charset="0"/>
              </a:rPr>
              <a:t>X </a:t>
            </a:r>
            <a:r>
              <a:rPr lang="en-US" sz="2400">
                <a:latin typeface="BostonII" charset="0"/>
                <a:cs typeface="Times New Roman" pitchFamily="18" charset="0"/>
              </a:rPr>
              <a:t>-&gt; </a:t>
            </a:r>
            <a:r>
              <a:rPr lang="en-US" sz="2400">
                <a:cs typeface="Times New Roman" pitchFamily="18" charset="0"/>
              </a:rPr>
              <a:t>Y holds if whenever two tuples have the same value for X, they </a:t>
            </a:r>
            <a:r>
              <a:rPr lang="en-US" sz="2400" i="1">
                <a:cs typeface="Times New Roman" pitchFamily="18" charset="0"/>
              </a:rPr>
              <a:t>must have</a:t>
            </a:r>
            <a:r>
              <a:rPr lang="en-US" sz="2400">
                <a:cs typeface="Times New Roman" pitchFamily="18" charset="0"/>
              </a:rPr>
              <a:t>  the same value for Y</a:t>
            </a:r>
          </a:p>
          <a:p>
            <a:r>
              <a:rPr lang="en-US" sz="2400">
                <a:cs typeface="Times New Roman" pitchFamily="18" charset="0"/>
              </a:rPr>
              <a:t>For any two tuples t1 and t2 in any relation instance r(R): </a:t>
            </a:r>
            <a:r>
              <a:rPr lang="en-US" sz="2400" i="1">
                <a:cs typeface="Times New Roman" pitchFamily="18" charset="0"/>
              </a:rPr>
              <a:t>If</a:t>
            </a:r>
            <a:r>
              <a:rPr lang="en-US" sz="2400">
                <a:cs typeface="Times New Roman" pitchFamily="18" charset="0"/>
              </a:rPr>
              <a:t>  t1[X]=t2[X], </a:t>
            </a:r>
            <a:r>
              <a:rPr lang="en-US" sz="2400" i="1">
                <a:cs typeface="Times New Roman" pitchFamily="18" charset="0"/>
              </a:rPr>
              <a:t>then</a:t>
            </a:r>
            <a:r>
              <a:rPr lang="en-US" sz="2400">
                <a:cs typeface="Times New Roman" pitchFamily="18" charset="0"/>
              </a:rPr>
              <a:t>  t1[Y]=t2[Y]</a:t>
            </a:r>
          </a:p>
          <a:p>
            <a:r>
              <a:rPr lang="en-US" sz="2400">
                <a:cs typeface="Times New Roman" pitchFamily="18" charset="0"/>
              </a:rPr>
              <a:t>X </a:t>
            </a:r>
            <a:r>
              <a:rPr lang="en-US" sz="2400">
                <a:latin typeface="BostonII" charset="0"/>
                <a:cs typeface="Times New Roman" pitchFamily="18" charset="0"/>
              </a:rPr>
              <a:t>-&gt; </a:t>
            </a:r>
            <a:r>
              <a:rPr lang="en-US" sz="2400">
                <a:cs typeface="Times New Roman" pitchFamily="18" charset="0"/>
              </a:rPr>
              <a:t>Y in R specifies a </a:t>
            </a:r>
            <a:r>
              <a:rPr lang="en-US" sz="2400" i="1">
                <a:cs typeface="Times New Roman" pitchFamily="18" charset="0"/>
              </a:rPr>
              <a:t>constraint</a:t>
            </a:r>
            <a:r>
              <a:rPr lang="en-US" sz="2400">
                <a:cs typeface="Times New Roman" pitchFamily="18" charset="0"/>
              </a:rPr>
              <a:t>  on all relation instances r(R)</a:t>
            </a:r>
          </a:p>
          <a:p>
            <a:r>
              <a:rPr lang="en-US" sz="2400">
                <a:cs typeface="Times New Roman" pitchFamily="18" charset="0"/>
              </a:rPr>
              <a:t>Written as X </a:t>
            </a:r>
            <a:r>
              <a:rPr lang="en-US" sz="2400">
                <a:latin typeface="BostonII" charset="0"/>
                <a:cs typeface="Times New Roman" pitchFamily="18" charset="0"/>
              </a:rPr>
              <a:t>-&gt; </a:t>
            </a:r>
            <a:r>
              <a:rPr lang="en-US" sz="2400">
                <a:cs typeface="Times New Roman" pitchFamily="18" charset="0"/>
              </a:rPr>
              <a:t>Y; can be displayed graphically on a relation schema as in Figures.  ( denoted by the arrow:  ).</a:t>
            </a:r>
          </a:p>
          <a:p>
            <a:r>
              <a:rPr lang="en-US" sz="2400">
                <a:cs typeface="Times New Roman" pitchFamily="18" charset="0"/>
              </a:rPr>
              <a:t>FDs are derived from the real-world constraints on the attributes</a:t>
            </a:r>
            <a:r>
              <a:rPr lang="en-US" sz="280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25039176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r>
              <a:rPr lang="en-US" sz="3200"/>
              <a:t>Figure 10.3 Two relation schemas suffering from update anomalies</a:t>
            </a:r>
          </a:p>
        </p:txBody>
      </p:sp>
      <p:sp>
        <p:nvSpPr>
          <p:cNvPr id="213002" name="Rectangle 10"/>
          <p:cNvSpPr>
            <a:spLocks noChangeArrowheads="1"/>
          </p:cNvSpPr>
          <p:nvPr/>
        </p:nvSpPr>
        <p:spPr bwMode="auto">
          <a:xfrm>
            <a:off x="1828800" y="1309688"/>
            <a:ext cx="9144000" cy="0"/>
          </a:xfrm>
          <a:prstGeom prst="rect">
            <a:avLst/>
          </a:prstGeom>
          <a:noFill/>
          <a:ln w="9525">
            <a:noFill/>
            <a:miter lim="800000"/>
            <a:headEnd/>
            <a:tailEnd/>
          </a:ln>
          <a:effectLst/>
        </p:spPr>
        <p:txBody>
          <a:bodyPr>
            <a:spAutoFit/>
          </a:bodyPr>
          <a:lstStyle/>
          <a:p>
            <a:endParaRPr lang="en-US"/>
          </a:p>
        </p:txBody>
      </p:sp>
      <p:pic>
        <p:nvPicPr>
          <p:cNvPr id="7" name="Picture 4" descr="31755_FIG1403.gif                                              0001035BEeyore                         B91DCF3B:"/>
          <p:cNvPicPr>
            <a:picLocks noGrp="1" noChangeAspect="1" noChangeArrowheads="1"/>
          </p:cNvPicPr>
          <p:nvPr>
            <p:ph idx="1"/>
          </p:nvPr>
        </p:nvPicPr>
        <p:blipFill>
          <a:blip r:embed="rId2" cstate="print"/>
          <a:srcRect/>
          <a:stretch>
            <a:fillRect/>
          </a:stretch>
        </p:blipFill>
        <p:spPr>
          <a:xfrm>
            <a:off x="685800" y="2590800"/>
            <a:ext cx="7772400" cy="3475037"/>
          </a:xfrm>
        </p:spPr>
      </p:pic>
      <p:sp>
        <p:nvSpPr>
          <p:cNvPr id="9" name="Slide Number Placeholder 8"/>
          <p:cNvSpPr>
            <a:spLocks noGrp="1"/>
          </p:cNvSpPr>
          <p:nvPr>
            <p:ph type="sldNum" sz="quarter" idx="12"/>
          </p:nvPr>
        </p:nvSpPr>
        <p:spPr/>
        <p:txBody>
          <a:bodyPr/>
          <a:lstStyle/>
          <a:p>
            <a:fld id="{B6F15528-21DE-4FAA-801E-634DDDAF4B2B}" type="slidenum">
              <a:rPr lang="en-US" smtClean="0"/>
              <a:pPr/>
              <a:t>22</a:t>
            </a:fld>
            <a:endParaRPr lang="en-US"/>
          </a:p>
        </p:txBody>
      </p:sp>
      <p:sp>
        <p:nvSpPr>
          <p:cNvPr id="10" name="Footer Placeholder 9"/>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40893237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en-US" sz="3200" b="1">
                <a:cs typeface="Times New Roman" pitchFamily="18" charset="0"/>
              </a:rPr>
              <a:t>Examples of FD constraints (1)</a:t>
            </a:r>
            <a:r>
              <a:rPr lang="en-US"/>
              <a:t> </a:t>
            </a:r>
          </a:p>
        </p:txBody>
      </p:sp>
      <p:sp>
        <p:nvSpPr>
          <p:cNvPr id="220163" name="Rectangle 3"/>
          <p:cNvSpPr>
            <a:spLocks noGrp="1" noChangeArrowheads="1"/>
          </p:cNvSpPr>
          <p:nvPr>
            <p:ph type="body" idx="1"/>
          </p:nvPr>
        </p:nvSpPr>
        <p:spPr/>
        <p:txBody>
          <a:bodyPr/>
          <a:lstStyle/>
          <a:p>
            <a:pPr>
              <a:lnSpc>
                <a:spcPct val="90000"/>
              </a:lnSpc>
            </a:pPr>
            <a:r>
              <a:rPr lang="en-US" sz="2800">
                <a:cs typeface="Times New Roman" pitchFamily="18" charset="0"/>
              </a:rPr>
              <a:t>social security number determines employee name</a:t>
            </a:r>
          </a:p>
          <a:p>
            <a:pPr>
              <a:lnSpc>
                <a:spcPct val="90000"/>
              </a:lnSpc>
              <a:buFont typeface="Wingdings" pitchFamily="2" charset="2"/>
              <a:buNone/>
            </a:pPr>
            <a:r>
              <a:rPr lang="en-US" sz="2800">
                <a:cs typeface="Times New Roman" pitchFamily="18" charset="0"/>
              </a:rPr>
              <a:t>	SSN </a:t>
            </a:r>
            <a:r>
              <a:rPr lang="en-US" sz="2800">
                <a:latin typeface="BostonII" charset="0"/>
                <a:cs typeface="Times New Roman" pitchFamily="18" charset="0"/>
              </a:rPr>
              <a:t>-&gt; </a:t>
            </a:r>
            <a:r>
              <a:rPr lang="en-US" sz="2800">
                <a:cs typeface="Times New Roman" pitchFamily="18" charset="0"/>
              </a:rPr>
              <a:t>ENAME</a:t>
            </a:r>
          </a:p>
          <a:p>
            <a:pPr>
              <a:lnSpc>
                <a:spcPct val="90000"/>
              </a:lnSpc>
            </a:pPr>
            <a:r>
              <a:rPr lang="en-US" sz="2800">
                <a:cs typeface="Times New Roman" pitchFamily="18" charset="0"/>
              </a:rPr>
              <a:t>project number determines project name and location</a:t>
            </a:r>
          </a:p>
          <a:p>
            <a:pPr>
              <a:lnSpc>
                <a:spcPct val="90000"/>
              </a:lnSpc>
              <a:buFont typeface="Wingdings" pitchFamily="2" charset="2"/>
              <a:buNone/>
            </a:pPr>
            <a:r>
              <a:rPr lang="en-US" sz="2800">
                <a:cs typeface="Times New Roman" pitchFamily="18" charset="0"/>
              </a:rPr>
              <a:t>	PNUMBER </a:t>
            </a:r>
            <a:r>
              <a:rPr lang="en-US" sz="2800">
                <a:latin typeface="BostonII" charset="0"/>
                <a:cs typeface="Times New Roman" pitchFamily="18" charset="0"/>
              </a:rPr>
              <a:t>-&gt; </a:t>
            </a:r>
            <a:r>
              <a:rPr lang="en-US" sz="2800">
                <a:cs typeface="Times New Roman" pitchFamily="18" charset="0"/>
              </a:rPr>
              <a:t>{PNAME, PLOCATION}</a:t>
            </a:r>
          </a:p>
          <a:p>
            <a:pPr>
              <a:lnSpc>
                <a:spcPct val="90000"/>
              </a:lnSpc>
            </a:pPr>
            <a:r>
              <a:rPr lang="en-US" sz="2800">
                <a:cs typeface="Times New Roman" pitchFamily="18" charset="0"/>
              </a:rPr>
              <a:t>employee ssn and project number determines the hours per week that the employee works on the project</a:t>
            </a:r>
          </a:p>
          <a:p>
            <a:pPr>
              <a:lnSpc>
                <a:spcPct val="90000"/>
              </a:lnSpc>
              <a:buFont typeface="Wingdings" pitchFamily="2" charset="2"/>
              <a:buNone/>
            </a:pPr>
            <a:r>
              <a:rPr lang="en-US" sz="2800">
                <a:cs typeface="Times New Roman" pitchFamily="18" charset="0"/>
              </a:rPr>
              <a:t>	{SSN, PNUMBER} </a:t>
            </a:r>
            <a:r>
              <a:rPr lang="en-US" sz="2800">
                <a:latin typeface="BostonII" charset="0"/>
                <a:cs typeface="Times New Roman" pitchFamily="18" charset="0"/>
              </a:rPr>
              <a:t>-&gt; </a:t>
            </a:r>
            <a:r>
              <a:rPr lang="en-US" sz="2800">
                <a:cs typeface="Times New Roman" pitchFamily="18" charset="0"/>
              </a:rPr>
              <a:t>HOURS</a:t>
            </a:r>
            <a:r>
              <a:rPr lang="en-US" sz="280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9233536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r>
              <a:rPr lang="en-US" sz="3200" b="1">
                <a:cs typeface="Times New Roman" pitchFamily="18" charset="0"/>
              </a:rPr>
              <a:t>Examples of FD constraints (2)</a:t>
            </a:r>
          </a:p>
        </p:txBody>
      </p:sp>
      <p:sp>
        <p:nvSpPr>
          <p:cNvPr id="221187" name="Rectangle 3"/>
          <p:cNvSpPr>
            <a:spLocks noGrp="1" noChangeArrowheads="1"/>
          </p:cNvSpPr>
          <p:nvPr>
            <p:ph type="body" idx="1"/>
          </p:nvPr>
        </p:nvSpPr>
        <p:spPr/>
        <p:txBody>
          <a:bodyPr/>
          <a:lstStyle/>
          <a:p>
            <a:r>
              <a:rPr lang="en-US" sz="2800" dirty="0" smtClean="0">
                <a:cs typeface="Times New Roman" pitchFamily="18" charset="0"/>
              </a:rPr>
              <a:t>FD </a:t>
            </a:r>
            <a:r>
              <a:rPr lang="en-US" sz="2800" dirty="0">
                <a:cs typeface="Times New Roman" pitchFamily="18" charset="0"/>
              </a:rPr>
              <a:t>is a property of the attributes in the schema R</a:t>
            </a:r>
          </a:p>
          <a:p>
            <a:r>
              <a:rPr lang="en-US" sz="2800" dirty="0">
                <a:cs typeface="Times New Roman" pitchFamily="18" charset="0"/>
              </a:rPr>
              <a:t>The constraint must hold on </a:t>
            </a:r>
            <a:r>
              <a:rPr lang="en-US" sz="2800" i="1" dirty="0">
                <a:cs typeface="Times New Roman" pitchFamily="18" charset="0"/>
              </a:rPr>
              <a:t>every relation instance</a:t>
            </a:r>
            <a:r>
              <a:rPr lang="en-US" sz="2800" dirty="0">
                <a:cs typeface="Times New Roman" pitchFamily="18" charset="0"/>
              </a:rPr>
              <a:t>  r(R)</a:t>
            </a:r>
          </a:p>
          <a:p>
            <a:r>
              <a:rPr lang="en-US" sz="2800" dirty="0">
                <a:cs typeface="Times New Roman" pitchFamily="18" charset="0"/>
              </a:rPr>
              <a:t>If K is a key of R, then K functionally determines all attributes in R (since we never have two distinct tuples with t1[K]=t2[K])</a:t>
            </a:r>
            <a:r>
              <a:rPr lang="en-US" sz="28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2629416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en-US" sz="3200" b="1" dirty="0" smtClean="0">
                <a:cs typeface="Times New Roman" pitchFamily="18" charset="0"/>
              </a:rPr>
              <a:t>Inference </a:t>
            </a:r>
            <a:r>
              <a:rPr lang="en-US" sz="3200" b="1" dirty="0">
                <a:cs typeface="Times New Roman" pitchFamily="18" charset="0"/>
              </a:rPr>
              <a:t>Rules for FDs (1)</a:t>
            </a:r>
            <a:r>
              <a:rPr lang="en-US" dirty="0"/>
              <a:t> </a:t>
            </a:r>
          </a:p>
        </p:txBody>
      </p:sp>
      <p:sp>
        <p:nvSpPr>
          <p:cNvPr id="222211" name="Rectangle 3"/>
          <p:cNvSpPr>
            <a:spLocks noGrp="1" noChangeArrowheads="1"/>
          </p:cNvSpPr>
          <p:nvPr>
            <p:ph type="body" idx="1"/>
          </p:nvPr>
        </p:nvSpPr>
        <p:spPr/>
        <p:txBody>
          <a:bodyPr/>
          <a:lstStyle/>
          <a:p>
            <a:pPr>
              <a:lnSpc>
                <a:spcPct val="90000"/>
              </a:lnSpc>
            </a:pPr>
            <a:r>
              <a:rPr lang="en-US" sz="2800" dirty="0">
                <a:cs typeface="Times New Roman" pitchFamily="18" charset="0"/>
              </a:rPr>
              <a:t>Given a set of FDs F, we can </a:t>
            </a:r>
            <a:r>
              <a:rPr lang="en-US" sz="2800" i="1" dirty="0">
                <a:cs typeface="Times New Roman" pitchFamily="18" charset="0"/>
              </a:rPr>
              <a:t>infer</a:t>
            </a:r>
            <a:r>
              <a:rPr lang="en-US" sz="2800" dirty="0">
                <a:cs typeface="Times New Roman" pitchFamily="18" charset="0"/>
              </a:rPr>
              <a:t> </a:t>
            </a:r>
            <a:r>
              <a:rPr lang="en-US" sz="2800" dirty="0" smtClean="0">
                <a:cs typeface="Times New Roman" pitchFamily="18" charset="0"/>
              </a:rPr>
              <a:t>additional </a:t>
            </a:r>
            <a:r>
              <a:rPr lang="en-US" sz="2800" dirty="0">
                <a:cs typeface="Times New Roman" pitchFamily="18" charset="0"/>
              </a:rPr>
              <a:t>FDs that hold whenever the FDs in F hold</a:t>
            </a:r>
          </a:p>
          <a:p>
            <a:pPr>
              <a:lnSpc>
                <a:spcPct val="90000"/>
              </a:lnSpc>
              <a:buFont typeface="Wingdings" pitchFamily="2" charset="2"/>
              <a:buNone/>
            </a:pPr>
            <a:r>
              <a:rPr lang="en-US" sz="2800" dirty="0">
                <a:cs typeface="Times New Roman" pitchFamily="18" charset="0"/>
              </a:rPr>
              <a:t> </a:t>
            </a:r>
            <a:r>
              <a:rPr lang="en-US" sz="2800" b="1" u="sng" dirty="0">
                <a:cs typeface="Times New Roman" pitchFamily="18" charset="0"/>
              </a:rPr>
              <a:t>Armstrong's inference </a:t>
            </a:r>
            <a:r>
              <a:rPr lang="en-US" sz="2800" b="1" u="sng" dirty="0" smtClean="0">
                <a:cs typeface="Times New Roman" pitchFamily="18" charset="0"/>
              </a:rPr>
              <a:t>rules (proposed in 1974):</a:t>
            </a:r>
            <a:endParaRPr lang="en-US" sz="2800" b="1" dirty="0">
              <a:cs typeface="Times New Roman" pitchFamily="18" charset="0"/>
            </a:endParaRPr>
          </a:p>
          <a:p>
            <a:pPr>
              <a:lnSpc>
                <a:spcPct val="90000"/>
              </a:lnSpc>
              <a:buFont typeface="Wingdings" pitchFamily="2" charset="2"/>
              <a:buNone/>
            </a:pPr>
            <a:r>
              <a:rPr lang="en-US" sz="2400" dirty="0">
                <a:cs typeface="Times New Roman" pitchFamily="18" charset="0"/>
              </a:rPr>
              <a:t>IR1. (</a:t>
            </a:r>
            <a:r>
              <a:rPr lang="en-US" sz="2400" b="1" dirty="0">
                <a:cs typeface="Times New Roman" pitchFamily="18" charset="0"/>
              </a:rPr>
              <a:t>Reflexive</a:t>
            </a:r>
            <a:r>
              <a:rPr lang="en-US" sz="2400" dirty="0">
                <a:cs typeface="Times New Roman" pitchFamily="18" charset="0"/>
              </a:rPr>
              <a:t>) If Y </a:t>
            </a:r>
            <a:r>
              <a:rPr lang="en-US" sz="2400" i="1" u="sng" dirty="0">
                <a:latin typeface="BostonII" charset="0"/>
                <a:cs typeface="Times New Roman" pitchFamily="18" charset="0"/>
              </a:rPr>
              <a:t>subset-of</a:t>
            </a:r>
            <a:r>
              <a:rPr lang="en-US" sz="2400" dirty="0">
                <a:cs typeface="Times New Roman" pitchFamily="18" charset="0"/>
              </a:rPr>
              <a:t> X, then X </a:t>
            </a:r>
            <a:r>
              <a:rPr lang="en-US" sz="2400" dirty="0">
                <a:latin typeface="BostonII" charset="0"/>
                <a:cs typeface="Times New Roman" pitchFamily="18" charset="0"/>
              </a:rPr>
              <a:t>-&gt; </a:t>
            </a:r>
            <a:r>
              <a:rPr lang="en-US" sz="2400" dirty="0">
                <a:cs typeface="Times New Roman" pitchFamily="18" charset="0"/>
              </a:rPr>
              <a:t>Y</a:t>
            </a:r>
          </a:p>
          <a:p>
            <a:pPr>
              <a:lnSpc>
                <a:spcPct val="90000"/>
              </a:lnSpc>
              <a:buFont typeface="Wingdings" pitchFamily="2" charset="2"/>
              <a:buNone/>
            </a:pPr>
            <a:r>
              <a:rPr lang="en-US" sz="2400" dirty="0">
                <a:cs typeface="Times New Roman" pitchFamily="18" charset="0"/>
              </a:rPr>
              <a:t>IR2. (</a:t>
            </a:r>
            <a:r>
              <a:rPr lang="en-US" sz="2400" b="1" dirty="0">
                <a:cs typeface="Times New Roman" pitchFamily="18" charset="0"/>
              </a:rPr>
              <a:t>Augmentation</a:t>
            </a:r>
            <a:r>
              <a:rPr lang="en-US" sz="2400" dirty="0">
                <a:cs typeface="Times New Roman" pitchFamily="18" charset="0"/>
              </a:rPr>
              <a:t>) If X </a:t>
            </a:r>
            <a:r>
              <a:rPr lang="en-US" sz="2400" dirty="0">
                <a:latin typeface="BostonII" charset="0"/>
                <a:cs typeface="Times New Roman" pitchFamily="18" charset="0"/>
              </a:rPr>
              <a:t>-&gt; </a:t>
            </a:r>
            <a:r>
              <a:rPr lang="en-US" sz="2400" dirty="0">
                <a:cs typeface="Times New Roman" pitchFamily="18" charset="0"/>
              </a:rPr>
              <a:t>Y, then XZ </a:t>
            </a:r>
            <a:r>
              <a:rPr lang="en-US" sz="2400" dirty="0">
                <a:latin typeface="BostonII" charset="0"/>
                <a:cs typeface="Times New Roman" pitchFamily="18" charset="0"/>
              </a:rPr>
              <a:t>-&gt; </a:t>
            </a:r>
            <a:r>
              <a:rPr lang="en-US" sz="2400" dirty="0">
                <a:cs typeface="Times New Roman" pitchFamily="18" charset="0"/>
              </a:rPr>
              <a:t>YZ</a:t>
            </a:r>
          </a:p>
          <a:p>
            <a:pPr>
              <a:lnSpc>
                <a:spcPct val="90000"/>
              </a:lnSpc>
              <a:buFont typeface="Wingdings" pitchFamily="2" charset="2"/>
              <a:buNone/>
            </a:pPr>
            <a:r>
              <a:rPr lang="en-US" sz="2400" dirty="0">
                <a:cs typeface="Times New Roman" pitchFamily="18" charset="0"/>
              </a:rPr>
              <a:t>		(Notation: XZ stands for X </a:t>
            </a:r>
            <a:r>
              <a:rPr lang="en-US" sz="2400" dirty="0">
                <a:latin typeface="BostonII" charset="0"/>
                <a:cs typeface="Times New Roman" pitchFamily="18" charset="0"/>
              </a:rPr>
              <a:t>U</a:t>
            </a:r>
            <a:r>
              <a:rPr lang="en-US" sz="2400" dirty="0">
                <a:cs typeface="Times New Roman" pitchFamily="18" charset="0"/>
              </a:rPr>
              <a:t> Z)</a:t>
            </a:r>
          </a:p>
          <a:p>
            <a:pPr>
              <a:lnSpc>
                <a:spcPct val="90000"/>
              </a:lnSpc>
              <a:buFont typeface="Wingdings" pitchFamily="2" charset="2"/>
              <a:buNone/>
            </a:pPr>
            <a:r>
              <a:rPr lang="en-US" sz="2400" dirty="0">
                <a:cs typeface="Times New Roman" pitchFamily="18" charset="0"/>
              </a:rPr>
              <a:t>IR3. (</a:t>
            </a:r>
            <a:r>
              <a:rPr lang="en-US" sz="2400" b="1" dirty="0">
                <a:cs typeface="Times New Roman" pitchFamily="18" charset="0"/>
              </a:rPr>
              <a:t>Transitive</a:t>
            </a:r>
            <a:r>
              <a:rPr lang="en-US" sz="2400" dirty="0">
                <a:cs typeface="Times New Roman" pitchFamily="18" charset="0"/>
              </a:rPr>
              <a:t>) If X </a:t>
            </a:r>
            <a:r>
              <a:rPr lang="en-US" sz="2400" dirty="0">
                <a:latin typeface="BostonII" charset="0"/>
                <a:cs typeface="Times New Roman" pitchFamily="18" charset="0"/>
              </a:rPr>
              <a:t>-&gt; </a:t>
            </a:r>
            <a:r>
              <a:rPr lang="en-US" sz="2400" dirty="0">
                <a:cs typeface="Times New Roman" pitchFamily="18" charset="0"/>
              </a:rPr>
              <a:t>Y and Y </a:t>
            </a:r>
            <a:r>
              <a:rPr lang="en-US" sz="2400" dirty="0">
                <a:latin typeface="BostonII" charset="0"/>
                <a:cs typeface="Times New Roman" pitchFamily="18" charset="0"/>
              </a:rPr>
              <a:t>-&gt; </a:t>
            </a:r>
            <a:r>
              <a:rPr lang="en-US" sz="2400" dirty="0">
                <a:cs typeface="Times New Roman" pitchFamily="18" charset="0"/>
              </a:rPr>
              <a:t>Z, then X </a:t>
            </a:r>
            <a:r>
              <a:rPr lang="en-US" sz="2400" dirty="0">
                <a:latin typeface="BostonII" charset="0"/>
                <a:cs typeface="Times New Roman" pitchFamily="18" charset="0"/>
              </a:rPr>
              <a:t>-&gt; </a:t>
            </a:r>
            <a:r>
              <a:rPr lang="en-US" sz="2400" dirty="0">
                <a:cs typeface="Times New Roman" pitchFamily="18" charset="0"/>
              </a:rPr>
              <a:t>Z</a:t>
            </a:r>
          </a:p>
          <a:p>
            <a:pPr>
              <a:lnSpc>
                <a:spcPct val="90000"/>
              </a:lnSpc>
              <a:buFont typeface="Wingdings" pitchFamily="2" charset="2"/>
              <a:buNone/>
            </a:pPr>
            <a:endParaRPr lang="en-US" sz="2400" dirty="0">
              <a:cs typeface="Times New Roman" pitchFamily="18" charset="0"/>
            </a:endParaRPr>
          </a:p>
          <a:p>
            <a:pPr>
              <a:lnSpc>
                <a:spcPct val="90000"/>
              </a:lnSpc>
            </a:pPr>
            <a:r>
              <a:rPr lang="en-US" sz="2800" dirty="0">
                <a:cs typeface="Times New Roman" pitchFamily="18" charset="0"/>
              </a:rPr>
              <a:t> IR1, IR2, IR3 form a </a:t>
            </a:r>
            <a:r>
              <a:rPr lang="en-US" sz="2800" i="1" dirty="0">
                <a:cs typeface="Times New Roman" pitchFamily="18" charset="0"/>
              </a:rPr>
              <a:t>sound</a:t>
            </a:r>
            <a:r>
              <a:rPr lang="en-US" sz="2800" dirty="0">
                <a:cs typeface="Times New Roman" pitchFamily="18" charset="0"/>
              </a:rPr>
              <a:t>  and</a:t>
            </a:r>
            <a:r>
              <a:rPr lang="en-US" sz="2800" i="1" dirty="0">
                <a:cs typeface="Times New Roman" pitchFamily="18" charset="0"/>
              </a:rPr>
              <a:t> complete</a:t>
            </a:r>
            <a:r>
              <a:rPr lang="en-US" sz="2800" dirty="0">
                <a:cs typeface="Times New Roman" pitchFamily="18" charset="0"/>
              </a:rPr>
              <a:t>  set of inference rules</a:t>
            </a:r>
            <a:r>
              <a:rPr lang="en-US" sz="28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16753280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sz="3200" b="1">
                <a:cs typeface="Times New Roman" pitchFamily="18" charset="0"/>
              </a:rPr>
              <a:t>Inference Rules for FDs (2)</a:t>
            </a:r>
          </a:p>
        </p:txBody>
      </p:sp>
      <p:sp>
        <p:nvSpPr>
          <p:cNvPr id="223235" name="Rectangle 3"/>
          <p:cNvSpPr>
            <a:spLocks noGrp="1" noChangeArrowheads="1"/>
          </p:cNvSpPr>
          <p:nvPr>
            <p:ph type="body" idx="1"/>
          </p:nvPr>
        </p:nvSpPr>
        <p:spPr/>
        <p:txBody>
          <a:bodyPr/>
          <a:lstStyle/>
          <a:p>
            <a:pPr>
              <a:buFont typeface="Wingdings" pitchFamily="2" charset="2"/>
              <a:buNone/>
            </a:pPr>
            <a:r>
              <a:rPr lang="en-US" sz="2800" u="sng">
                <a:cs typeface="Times New Roman" pitchFamily="18" charset="0"/>
              </a:rPr>
              <a:t>Some </a:t>
            </a:r>
            <a:r>
              <a:rPr lang="en-US" sz="2800" b="1" u="sng">
                <a:cs typeface="Times New Roman" pitchFamily="18" charset="0"/>
              </a:rPr>
              <a:t>additional inference rules</a:t>
            </a:r>
            <a:r>
              <a:rPr lang="en-US" sz="2800" u="sng">
                <a:cs typeface="Times New Roman" pitchFamily="18" charset="0"/>
              </a:rPr>
              <a:t> that are useful:</a:t>
            </a:r>
            <a:endParaRPr lang="en-US" sz="2800">
              <a:cs typeface="Times New Roman" pitchFamily="18" charset="0"/>
            </a:endParaRPr>
          </a:p>
          <a:p>
            <a:pPr>
              <a:buFont typeface="Wingdings" pitchFamily="2" charset="2"/>
              <a:buNone/>
            </a:pPr>
            <a:r>
              <a:rPr lang="en-US" sz="2400">
                <a:cs typeface="Times New Roman" pitchFamily="18" charset="0"/>
              </a:rPr>
              <a:t>(</a:t>
            </a:r>
            <a:r>
              <a:rPr lang="en-US" sz="2400" b="1">
                <a:cs typeface="Times New Roman" pitchFamily="18" charset="0"/>
              </a:rPr>
              <a:t>Decomposition</a:t>
            </a:r>
            <a:r>
              <a:rPr lang="en-US" sz="2400">
                <a:cs typeface="Times New Roman" pitchFamily="18" charset="0"/>
              </a:rPr>
              <a:t>) If X </a:t>
            </a:r>
            <a:r>
              <a:rPr lang="en-US" sz="2400">
                <a:latin typeface="BostonII" charset="0"/>
                <a:cs typeface="Times New Roman" pitchFamily="18" charset="0"/>
              </a:rPr>
              <a:t>-&gt; </a:t>
            </a:r>
            <a:r>
              <a:rPr lang="en-US" sz="2400">
                <a:cs typeface="Times New Roman" pitchFamily="18" charset="0"/>
              </a:rPr>
              <a:t>YZ, then X </a:t>
            </a:r>
            <a:r>
              <a:rPr lang="en-US" sz="2400">
                <a:latin typeface="BostonII" charset="0"/>
                <a:cs typeface="Times New Roman" pitchFamily="18" charset="0"/>
              </a:rPr>
              <a:t>-&gt; </a:t>
            </a:r>
            <a:r>
              <a:rPr lang="en-US" sz="2400">
                <a:cs typeface="Times New Roman" pitchFamily="18" charset="0"/>
              </a:rPr>
              <a:t>Y and X </a:t>
            </a:r>
            <a:r>
              <a:rPr lang="en-US" sz="2400">
                <a:latin typeface="BostonII" charset="0"/>
                <a:cs typeface="Times New Roman" pitchFamily="18" charset="0"/>
              </a:rPr>
              <a:t>-&gt; </a:t>
            </a:r>
            <a:r>
              <a:rPr lang="en-US" sz="2400">
                <a:cs typeface="Times New Roman" pitchFamily="18" charset="0"/>
              </a:rPr>
              <a:t>Z</a:t>
            </a:r>
          </a:p>
          <a:p>
            <a:pPr>
              <a:buFont typeface="Wingdings" pitchFamily="2" charset="2"/>
              <a:buNone/>
            </a:pPr>
            <a:r>
              <a:rPr lang="en-US" sz="2400">
                <a:cs typeface="Times New Roman" pitchFamily="18" charset="0"/>
              </a:rPr>
              <a:t>(</a:t>
            </a:r>
            <a:r>
              <a:rPr lang="en-US" sz="2400" b="1">
                <a:cs typeface="Times New Roman" pitchFamily="18" charset="0"/>
              </a:rPr>
              <a:t>Union</a:t>
            </a:r>
            <a:r>
              <a:rPr lang="en-US" sz="2400">
                <a:cs typeface="Times New Roman" pitchFamily="18" charset="0"/>
              </a:rPr>
              <a:t>) If X </a:t>
            </a:r>
            <a:r>
              <a:rPr lang="en-US" sz="2400">
                <a:latin typeface="BostonII" charset="0"/>
                <a:cs typeface="Times New Roman" pitchFamily="18" charset="0"/>
              </a:rPr>
              <a:t>-&gt; </a:t>
            </a:r>
            <a:r>
              <a:rPr lang="en-US" sz="2400">
                <a:cs typeface="Times New Roman" pitchFamily="18" charset="0"/>
              </a:rPr>
              <a:t>Y and X </a:t>
            </a:r>
            <a:r>
              <a:rPr lang="en-US" sz="2400">
                <a:latin typeface="BostonII" charset="0"/>
                <a:cs typeface="Times New Roman" pitchFamily="18" charset="0"/>
              </a:rPr>
              <a:t>-&gt; </a:t>
            </a:r>
            <a:r>
              <a:rPr lang="en-US" sz="2400">
                <a:cs typeface="Times New Roman" pitchFamily="18" charset="0"/>
              </a:rPr>
              <a:t>Z, then X </a:t>
            </a:r>
            <a:r>
              <a:rPr lang="en-US" sz="2400">
                <a:latin typeface="BostonII" charset="0"/>
                <a:cs typeface="Times New Roman" pitchFamily="18" charset="0"/>
              </a:rPr>
              <a:t>-&gt; </a:t>
            </a:r>
            <a:r>
              <a:rPr lang="en-US" sz="2400">
                <a:cs typeface="Times New Roman" pitchFamily="18" charset="0"/>
              </a:rPr>
              <a:t>YZ</a:t>
            </a:r>
          </a:p>
          <a:p>
            <a:pPr>
              <a:buFont typeface="Wingdings" pitchFamily="2" charset="2"/>
              <a:buNone/>
            </a:pPr>
            <a:r>
              <a:rPr lang="en-US" sz="2400">
                <a:cs typeface="Times New Roman" pitchFamily="18" charset="0"/>
              </a:rPr>
              <a:t>(</a:t>
            </a:r>
            <a:r>
              <a:rPr lang="en-US" sz="2400" b="1">
                <a:cs typeface="Times New Roman" pitchFamily="18" charset="0"/>
              </a:rPr>
              <a:t>Psuedotransitivity</a:t>
            </a:r>
            <a:r>
              <a:rPr lang="en-US" sz="2400">
                <a:cs typeface="Times New Roman" pitchFamily="18" charset="0"/>
              </a:rPr>
              <a:t>) If X </a:t>
            </a:r>
            <a:r>
              <a:rPr lang="en-US" sz="2400">
                <a:latin typeface="BostonII" charset="0"/>
                <a:cs typeface="Times New Roman" pitchFamily="18" charset="0"/>
              </a:rPr>
              <a:t>-&gt; </a:t>
            </a:r>
            <a:r>
              <a:rPr lang="en-US" sz="2400">
                <a:cs typeface="Times New Roman" pitchFamily="18" charset="0"/>
              </a:rPr>
              <a:t>Y and WY </a:t>
            </a:r>
            <a:r>
              <a:rPr lang="en-US" sz="2400">
                <a:latin typeface="BostonII" charset="0"/>
                <a:cs typeface="Times New Roman" pitchFamily="18" charset="0"/>
              </a:rPr>
              <a:t>-&gt; </a:t>
            </a:r>
            <a:r>
              <a:rPr lang="en-US" sz="2400">
                <a:cs typeface="Times New Roman" pitchFamily="18" charset="0"/>
              </a:rPr>
              <a:t>Z, then WX </a:t>
            </a:r>
            <a:r>
              <a:rPr lang="en-US" sz="2400">
                <a:latin typeface="BostonII" charset="0"/>
                <a:cs typeface="Times New Roman" pitchFamily="18" charset="0"/>
              </a:rPr>
              <a:t>-&gt; </a:t>
            </a:r>
            <a:r>
              <a:rPr lang="en-US" sz="2400">
                <a:cs typeface="Times New Roman" pitchFamily="18" charset="0"/>
              </a:rPr>
              <a:t>Z</a:t>
            </a:r>
          </a:p>
          <a:p>
            <a:pPr>
              <a:buFont typeface="Wingdings" pitchFamily="2" charset="2"/>
              <a:buNone/>
            </a:pPr>
            <a:endParaRPr lang="en-US" sz="2400">
              <a:cs typeface="Times New Roman" pitchFamily="18" charset="0"/>
            </a:endParaRPr>
          </a:p>
          <a:p>
            <a:r>
              <a:rPr lang="en-US" sz="2800">
                <a:cs typeface="Times New Roman" pitchFamily="18" charset="0"/>
              </a:rPr>
              <a:t> The last three inference rules, as well as any other inference rules, can be deduced from IR1, IR2, and IR3 (completeness property)</a:t>
            </a:r>
            <a:r>
              <a:rPr lang="en-US" sz="280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2394892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877</TotalTime>
  <Words>919</Words>
  <Application>Microsoft Office PowerPoint</Application>
  <PresentationFormat>On-screen Show (4:3)</PresentationFormat>
  <Paragraphs>158</Paragraphs>
  <Slides>26</Slides>
  <Notes>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Urban</vt:lpstr>
      <vt:lpstr>Database Systems </vt:lpstr>
      <vt:lpstr>Today’s Agenda</vt:lpstr>
      <vt:lpstr>Informal Design Guidelines for Relational Databases (1)</vt:lpstr>
      <vt:lpstr>Semantics of the Relation Attributes </vt:lpstr>
      <vt:lpstr>Figure 10.1 A simplified COMPANY relational database schema</vt:lpstr>
      <vt:lpstr>Example database state for the relational database schema of Figure 10.1.</vt:lpstr>
      <vt:lpstr>PowerPoint Presentation</vt:lpstr>
      <vt:lpstr>Redundant Information in Tuples and Update Anomalies </vt:lpstr>
      <vt:lpstr>EXAMPLE OF AN UPDATE ANOMALY (1) </vt:lpstr>
      <vt:lpstr>EXAMPLE OF AN UPDATE ANOMALY (2)</vt:lpstr>
      <vt:lpstr>Figure 10.3 Two relation schemas suffering from update anomalies</vt:lpstr>
      <vt:lpstr>Figure 10.4 Example States for EMP_DEPT and EMP_PROJ</vt:lpstr>
      <vt:lpstr>Guideline to Redundant Information in Tuples and Update Anomalies</vt:lpstr>
      <vt:lpstr>Null Values in Tuples </vt:lpstr>
      <vt:lpstr>Spurious Tuples </vt:lpstr>
      <vt:lpstr>Spurious Tuples (2)</vt:lpstr>
      <vt:lpstr>PowerPoint Presentation</vt:lpstr>
      <vt:lpstr>Particularly poor design for the EMP_PROJ relation of Figure 10.3b.</vt:lpstr>
      <vt:lpstr>Result of applying NATURAL JOIN to the tuples above the dotted lines in EMP_PROJ1 and EMP_LOCS of Figure 10.5. Generated spurious tuples are marked by asterisks.</vt:lpstr>
      <vt:lpstr>Functional Dependencies (1) </vt:lpstr>
      <vt:lpstr>Functional Dependencies (2)</vt:lpstr>
      <vt:lpstr>Figure 10.3 Two relation schemas suffering from update anomalies</vt:lpstr>
      <vt:lpstr>Examples of FD constraints (1) </vt:lpstr>
      <vt:lpstr>Examples of FD constraints (2)</vt:lpstr>
      <vt:lpstr>Inference Rules for FDs (1) </vt:lpstr>
      <vt:lpstr>Inference Rules for FDs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RANA</dc:creator>
  <cp:lastModifiedBy>MEHTAB</cp:lastModifiedBy>
  <cp:revision>22</cp:revision>
  <dcterms:created xsi:type="dcterms:W3CDTF">2006-08-16T00:00:00Z</dcterms:created>
  <dcterms:modified xsi:type="dcterms:W3CDTF">2022-01-31T06:56:06Z</dcterms:modified>
</cp:coreProperties>
</file>
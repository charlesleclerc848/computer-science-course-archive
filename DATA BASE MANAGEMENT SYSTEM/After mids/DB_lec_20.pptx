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56" r:id="rId2"/>
    <p:sldId id="257" r:id="rId3"/>
    <p:sldId id="258" r:id="rId4"/>
    <p:sldId id="288" r:id="rId5"/>
    <p:sldId id="282" r:id="rId6"/>
    <p:sldId id="283" r:id="rId7"/>
    <p:sldId id="284" r:id="rId8"/>
    <p:sldId id="260" r:id="rId9"/>
    <p:sldId id="281" r:id="rId10"/>
    <p:sldId id="262" r:id="rId11"/>
    <p:sldId id="287" r:id="rId12"/>
    <p:sldId id="286" r:id="rId13"/>
    <p:sldId id="269" r:id="rId14"/>
    <p:sldId id="261" r:id="rId15"/>
    <p:sldId id="289" r:id="rId16"/>
    <p:sldId id="263" r:id="rId17"/>
    <p:sldId id="264" r:id="rId18"/>
    <p:sldId id="265" r:id="rId19"/>
    <p:sldId id="266" r:id="rId20"/>
    <p:sldId id="267" r:id="rId21"/>
    <p:sldId id="268" r:id="rId22"/>
    <p:sldId id="270" r:id="rId23"/>
    <p:sldId id="271" r:id="rId24"/>
    <p:sldId id="272" r:id="rId25"/>
    <p:sldId id="290" r:id="rId26"/>
    <p:sldId id="273" r:id="rId27"/>
    <p:sldId id="274" r:id="rId28"/>
    <p:sldId id="291" r:id="rId29"/>
    <p:sldId id="275" r:id="rId30"/>
    <p:sldId id="276" r:id="rId31"/>
    <p:sldId id="292" r:id="rId32"/>
    <p:sldId id="277" r:id="rId33"/>
    <p:sldId id="278" r:id="rId34"/>
    <p:sldId id="279" r:id="rId35"/>
    <p:sldId id="280"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44EE9F-8E7F-4DBB-9E1E-2304FDA228FF}" type="datetimeFigureOut">
              <a:rPr lang="en-US" smtClean="0"/>
              <a:pPr/>
              <a:t>5/19/2021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FDE775C-A001-41DC-BBE4-9DD5AC19826D}" type="slidenum">
              <a:rPr lang="en-US" smtClean="0"/>
              <a:pPr/>
              <a:t>‹#›</a:t>
            </a:fld>
            <a:endParaRPr lang="en-US"/>
          </a:p>
        </p:txBody>
      </p:sp>
    </p:spTree>
    <p:extLst>
      <p:ext uri="{BB962C8B-B14F-4D97-AF65-F5344CB8AC3E}">
        <p14:creationId xmlns:p14="http://schemas.microsoft.com/office/powerpoint/2010/main" val="26966033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fld id="{1D8BD707-D9CF-40AE-B4C6-C98DA3205C09}" type="datetimeFigureOut">
              <a:rPr lang="en-US" smtClean="0"/>
              <a:pPr/>
              <a:t>5/19/2021</a:t>
            </a:fld>
            <a:endParaRPr lang="en-US"/>
          </a:p>
        </p:txBody>
      </p:sp>
      <p:sp>
        <p:nvSpPr>
          <p:cNvPr id="17" name="Footer Placeholder 16"/>
          <p:cNvSpPr>
            <a:spLocks noGrp="1"/>
          </p:cNvSpPr>
          <p:nvPr>
            <p:ph type="ftr" sz="quarter" idx="11"/>
          </p:nvPr>
        </p:nvSpPr>
        <p:spPr>
          <a:xfrm>
            <a:off x="5410200" y="4205288"/>
            <a:ext cx="1295400" cy="457200"/>
          </a:xfrm>
        </p:spPr>
        <p:txBody>
          <a:bodyPr/>
          <a:lstStyle/>
          <a:p>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fld id="{1D8BD707-D9CF-40AE-B4C6-C98DA3205C09}" type="datetimeFigureOut">
              <a:rPr lang="en-US" smtClean="0"/>
              <a:pPr/>
              <a:t>5/19/2021</a:t>
            </a:fld>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fld id="{1D8BD707-D9CF-40AE-B4C6-C98DA3205C09}" type="datetimeFigureOut">
              <a:rPr lang="en-US" smtClean="0"/>
              <a:pPr/>
              <a:t>5/19/2021</a:t>
            </a:fld>
            <a:endParaRPr lang="en-US"/>
          </a:p>
        </p:txBody>
      </p:sp>
      <p:sp>
        <p:nvSpPr>
          <p:cNvPr id="4" name="Footer Placeholder 3"/>
          <p:cNvSpPr>
            <a:spLocks noGrp="1"/>
          </p:cNvSpPr>
          <p:nvPr>
            <p:ph type="ftr" sz="quarter" idx="11"/>
          </p:nvPr>
        </p:nvSpPr>
        <p:spPr>
          <a:xfrm>
            <a:off x="5257800" y="612648"/>
            <a:ext cx="1325880" cy="457200"/>
          </a:xfrm>
        </p:spPr>
        <p:txBody>
          <a:bodyPr/>
          <a:lstStyle/>
          <a:p>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5/19/2021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5/19/2021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5/19/2021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5/19/2021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fld id="{1D8BD707-D9CF-40AE-B4C6-C98DA3205C09}" type="datetimeFigureOut">
              <a:rPr lang="en-US" smtClean="0"/>
              <a:pPr/>
              <a:t>5/19/2021</a:t>
            </a:fld>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219200"/>
            <a:ext cx="7772400" cy="1470025"/>
          </a:xfrm>
        </p:spPr>
        <p:txBody>
          <a:bodyPr/>
          <a:lstStyle/>
          <a:p>
            <a:r>
              <a:rPr lang="en-US" dirty="0" smtClean="0"/>
              <a:t>Database Systems	</a:t>
            </a:r>
            <a:endParaRPr lang="en-US" dirty="0"/>
          </a:p>
        </p:txBody>
      </p:sp>
      <p:sp>
        <p:nvSpPr>
          <p:cNvPr id="3" name="Subtitle 2"/>
          <p:cNvSpPr>
            <a:spLocks noGrp="1"/>
          </p:cNvSpPr>
          <p:nvPr>
            <p:ph type="subTitle" idx="1"/>
          </p:nvPr>
        </p:nvSpPr>
        <p:spPr/>
        <p:txBody>
          <a:bodyPr>
            <a:normAutofit/>
          </a:bodyPr>
          <a:lstStyle/>
          <a:p>
            <a:r>
              <a:rPr lang="en-US" sz="2000" dirty="0" smtClean="0"/>
              <a:t>Types of Joins</a:t>
            </a:r>
          </a:p>
        </p:txBody>
      </p:sp>
      <p:sp>
        <p:nvSpPr>
          <p:cNvPr id="14" name="Footer Placeholder 13"/>
          <p:cNvSpPr>
            <a:spLocks noGrp="1"/>
          </p:cNvSpPr>
          <p:nvPr>
            <p:ph type="ftr" sz="quarter" idx="11"/>
          </p:nvPr>
        </p:nvSpPr>
        <p:spPr/>
        <p:txBody>
          <a:bodyPr/>
          <a:lstStyle/>
          <a:p>
            <a:r>
              <a:rPr lang="en-US" smtClean="0"/>
              <a:t>Database Management Systems</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1</a:t>
            </a:fld>
            <a:endParaRPr lang="en-US"/>
          </a:p>
        </p:txBody>
      </p:sp>
      <p:sp>
        <p:nvSpPr>
          <p:cNvPr id="10" name="TextBox 9"/>
          <p:cNvSpPr txBox="1"/>
          <p:nvPr/>
        </p:nvSpPr>
        <p:spPr>
          <a:xfrm>
            <a:off x="2286000" y="3048000"/>
            <a:ext cx="4267200" cy="523220"/>
          </a:xfrm>
          <a:prstGeom prst="rect">
            <a:avLst/>
          </a:prstGeom>
          <a:noFill/>
        </p:spPr>
        <p:txBody>
          <a:bodyPr wrap="square" rtlCol="0">
            <a:spAutoFit/>
          </a:bodyPr>
          <a:lstStyle/>
          <a:p>
            <a:pPr algn="ctr"/>
            <a:r>
              <a:rPr lang="en-US" sz="2800" u="sng" dirty="0" smtClean="0"/>
              <a:t>Lecture 20</a:t>
            </a:r>
            <a:endParaRPr lang="en-US" sz="2800" u="sng"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6" name="Rectangle 2"/>
          <p:cNvSpPr>
            <a:spLocks noGrp="1" noChangeArrowheads="1"/>
          </p:cNvSpPr>
          <p:nvPr>
            <p:ph type="title"/>
          </p:nvPr>
        </p:nvSpPr>
        <p:spPr>
          <a:xfrm>
            <a:off x="304800" y="1066800"/>
            <a:ext cx="8534400" cy="842962"/>
          </a:xfrm>
        </p:spPr>
        <p:txBody>
          <a:bodyPr/>
          <a:lstStyle/>
          <a:p>
            <a:r>
              <a:rPr lang="en-US" dirty="0" smtClean="0"/>
              <a:t>Today’s agenda</a:t>
            </a:r>
            <a:endParaRPr lang="en-US" dirty="0"/>
          </a:p>
        </p:txBody>
      </p:sp>
      <p:sp>
        <p:nvSpPr>
          <p:cNvPr id="246787" name="Rectangle 3"/>
          <p:cNvSpPr>
            <a:spLocks noGrp="1" noChangeArrowheads="1"/>
          </p:cNvSpPr>
          <p:nvPr>
            <p:ph idx="1"/>
          </p:nvPr>
        </p:nvSpPr>
        <p:spPr>
          <a:xfrm>
            <a:off x="533400" y="1905000"/>
            <a:ext cx="8458200" cy="4719637"/>
          </a:xfrm>
        </p:spPr>
        <p:txBody>
          <a:bodyPr>
            <a:normAutofit lnSpcReduction="10000"/>
          </a:bodyPr>
          <a:lstStyle/>
          <a:p>
            <a:pPr>
              <a:lnSpc>
                <a:spcPct val="90000"/>
              </a:lnSpc>
            </a:pPr>
            <a:r>
              <a:rPr lang="en-US" sz="2800" dirty="0" smtClean="0"/>
              <a:t>Joins in database</a:t>
            </a:r>
          </a:p>
          <a:p>
            <a:pPr lvl="1">
              <a:lnSpc>
                <a:spcPct val="90000"/>
              </a:lnSpc>
            </a:pPr>
            <a:r>
              <a:rPr lang="en-US" sz="2600" dirty="0" smtClean="0"/>
              <a:t>Natural Join</a:t>
            </a:r>
          </a:p>
          <a:p>
            <a:pPr lvl="1">
              <a:lnSpc>
                <a:spcPct val="90000"/>
              </a:lnSpc>
            </a:pPr>
            <a:r>
              <a:rPr lang="en-US" dirty="0" smtClean="0"/>
              <a:t>Inner Join</a:t>
            </a:r>
          </a:p>
          <a:p>
            <a:pPr lvl="1">
              <a:lnSpc>
                <a:spcPct val="90000"/>
              </a:lnSpc>
            </a:pPr>
            <a:r>
              <a:rPr lang="en-US" sz="2600" dirty="0" err="1" smtClean="0"/>
              <a:t>Equi</a:t>
            </a:r>
            <a:r>
              <a:rPr lang="en-US" sz="2600" dirty="0" smtClean="0"/>
              <a:t> Join</a:t>
            </a:r>
          </a:p>
          <a:p>
            <a:pPr lvl="1">
              <a:lnSpc>
                <a:spcPct val="90000"/>
              </a:lnSpc>
            </a:pPr>
            <a:r>
              <a:rPr lang="en-US" dirty="0" smtClean="0"/>
              <a:t>Theta Join</a:t>
            </a:r>
          </a:p>
          <a:p>
            <a:pPr lvl="1">
              <a:lnSpc>
                <a:spcPct val="90000"/>
              </a:lnSpc>
            </a:pPr>
            <a:r>
              <a:rPr lang="en-US" sz="2600" dirty="0" smtClean="0"/>
              <a:t>Semi Join</a:t>
            </a:r>
          </a:p>
          <a:p>
            <a:pPr lvl="1">
              <a:lnSpc>
                <a:spcPct val="90000"/>
              </a:lnSpc>
            </a:pPr>
            <a:r>
              <a:rPr lang="en-US" dirty="0" smtClean="0"/>
              <a:t>Anti Join</a:t>
            </a:r>
          </a:p>
          <a:p>
            <a:pPr lvl="1">
              <a:lnSpc>
                <a:spcPct val="90000"/>
              </a:lnSpc>
            </a:pPr>
            <a:r>
              <a:rPr lang="en-US" sz="2600" dirty="0" smtClean="0"/>
              <a:t>Cross Join</a:t>
            </a:r>
          </a:p>
          <a:p>
            <a:pPr lvl="1">
              <a:lnSpc>
                <a:spcPct val="90000"/>
              </a:lnSpc>
            </a:pPr>
            <a:r>
              <a:rPr lang="en-US" dirty="0" smtClean="0"/>
              <a:t>Outer Join</a:t>
            </a:r>
          </a:p>
          <a:p>
            <a:pPr lvl="2">
              <a:lnSpc>
                <a:spcPct val="90000"/>
              </a:lnSpc>
            </a:pPr>
            <a:r>
              <a:rPr lang="en-US" sz="2400" dirty="0" smtClean="0"/>
              <a:t>Left Outer Join</a:t>
            </a:r>
          </a:p>
          <a:p>
            <a:pPr lvl="2">
              <a:lnSpc>
                <a:spcPct val="90000"/>
              </a:lnSpc>
            </a:pPr>
            <a:r>
              <a:rPr lang="en-US" dirty="0" smtClean="0"/>
              <a:t>Right Outer Join</a:t>
            </a:r>
          </a:p>
          <a:p>
            <a:pPr lvl="2">
              <a:lnSpc>
                <a:spcPct val="90000"/>
              </a:lnSpc>
            </a:pPr>
            <a:r>
              <a:rPr lang="en-US" sz="2400" dirty="0" smtClean="0"/>
              <a:t>Full Outer Join</a:t>
            </a:r>
          </a:p>
          <a:p>
            <a:pPr lvl="1">
              <a:lnSpc>
                <a:spcPct val="90000"/>
              </a:lnSpc>
            </a:pPr>
            <a:r>
              <a:rPr lang="en-US" sz="2600" dirty="0" smtClean="0"/>
              <a:t>Self Join</a:t>
            </a:r>
          </a:p>
          <a:p>
            <a:pPr lvl="1">
              <a:lnSpc>
                <a:spcPct val="90000"/>
              </a:lnSpc>
            </a:pPr>
            <a:endParaRPr lang="en-US" sz="2600" dirty="0"/>
          </a:p>
          <a:p>
            <a:pPr>
              <a:lnSpc>
                <a:spcPct val="90000"/>
              </a:lnSpc>
              <a:buFont typeface="Wingdings" pitchFamily="2" charset="2"/>
              <a:buNone/>
            </a:pPr>
            <a:endParaRPr lang="en-US" sz="2400" dirty="0"/>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57200"/>
          </a:xfrm>
        </p:spPr>
        <p:txBody>
          <a:bodyPr>
            <a:normAutofit fontScale="90000"/>
          </a:bodyPr>
          <a:lstStyle/>
          <a:p>
            <a:r>
              <a:rPr lang="en-US" dirty="0" smtClean="0"/>
              <a:t>Join</a:t>
            </a:r>
            <a:endParaRPr lang="en-US" dirty="0"/>
          </a:p>
        </p:txBody>
      </p:sp>
      <p:sp>
        <p:nvSpPr>
          <p:cNvPr id="3" name="Content Placeholder 2"/>
          <p:cNvSpPr>
            <a:spLocks noGrp="1"/>
          </p:cNvSpPr>
          <p:nvPr>
            <p:ph idx="1"/>
          </p:nvPr>
        </p:nvSpPr>
        <p:spPr>
          <a:xfrm>
            <a:off x="457200" y="1524000"/>
            <a:ext cx="8229600" cy="5202936"/>
          </a:xfrm>
        </p:spPr>
        <p:txBody>
          <a:bodyPr>
            <a:normAutofit fontScale="77500" lnSpcReduction="20000"/>
          </a:bodyPr>
          <a:lstStyle/>
          <a:p>
            <a:pPr algn="just"/>
            <a:r>
              <a:rPr lang="en-US" dirty="0" smtClean="0"/>
              <a:t>Join is a special form of cross product of two tables. In Cartesian product we join a tuple of one table with the tuples of the second table.</a:t>
            </a:r>
          </a:p>
          <a:p>
            <a:pPr marL="109728" indent="0" algn="just">
              <a:buNone/>
            </a:pPr>
            <a:r>
              <a:rPr lang="en-US" dirty="0" smtClean="0"/>
              <a:t> </a:t>
            </a:r>
          </a:p>
          <a:p>
            <a:pPr algn="just"/>
            <a:r>
              <a:rPr lang="en-US" dirty="0" smtClean="0"/>
              <a:t>But in join there is a special requirement of relationship between tuples.</a:t>
            </a:r>
          </a:p>
          <a:p>
            <a:pPr algn="just"/>
            <a:endParaRPr lang="en-US" dirty="0"/>
          </a:p>
          <a:p>
            <a:r>
              <a:rPr lang="en-US" dirty="0"/>
              <a:t>The JOIN operation can be specified as a CARTESIAN PRODUCT operation </a:t>
            </a:r>
            <a:r>
              <a:rPr lang="en-US" dirty="0" smtClean="0"/>
              <a:t>followed by </a:t>
            </a:r>
            <a:r>
              <a:rPr lang="en-US" dirty="0"/>
              <a:t>a SELECT operation.</a:t>
            </a:r>
            <a:endParaRPr lang="en-US" dirty="0" smtClean="0"/>
          </a:p>
          <a:p>
            <a:endParaRPr lang="en-US" dirty="0" smtClean="0"/>
          </a:p>
          <a:p>
            <a:r>
              <a:rPr lang="en-US" dirty="0" smtClean="0"/>
              <a:t>To </a:t>
            </a:r>
            <a:r>
              <a:rPr lang="en-US" dirty="0"/>
              <a:t>illustrate JOIN, suppose that we want to retrieve the name of the manager of each department. </a:t>
            </a:r>
          </a:p>
          <a:p>
            <a:endParaRPr lang="en-US" dirty="0"/>
          </a:p>
          <a:p>
            <a:r>
              <a:rPr lang="en-US" dirty="0"/>
              <a:t>To get the manager’s name, we need to combine each department tuple with the employee tuple whose </a:t>
            </a:r>
            <a:r>
              <a:rPr lang="en-US" dirty="0" err="1"/>
              <a:t>Ssn</a:t>
            </a:r>
            <a:r>
              <a:rPr lang="en-US" dirty="0"/>
              <a:t> value matches the </a:t>
            </a:r>
            <a:r>
              <a:rPr lang="en-US" dirty="0" err="1"/>
              <a:t>Mgr_ssn</a:t>
            </a:r>
            <a:r>
              <a:rPr lang="en-US" dirty="0"/>
              <a:t> value in the department tuple.</a:t>
            </a:r>
          </a:p>
          <a:p>
            <a:pPr algn="just"/>
            <a:endParaRPr lang="en-US" dirty="0" smtClean="0"/>
          </a:p>
          <a:p>
            <a:pPr algn="just"/>
            <a:endParaRPr lang="en-US" dirty="0" smtClean="0"/>
          </a:p>
          <a:p>
            <a:pPr algn="just"/>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Rectangle 3"/>
          <p:cNvSpPr>
            <a:spLocks noChangeArrowheads="1"/>
          </p:cNvSpPr>
          <p:nvPr/>
        </p:nvSpPr>
        <p:spPr bwMode="auto">
          <a:xfrm>
            <a:off x="1833563" y="1309688"/>
            <a:ext cx="9144000" cy="0"/>
          </a:xfrm>
          <a:prstGeom prst="rect">
            <a:avLst/>
          </a:prstGeom>
          <a:noFill/>
          <a:ln w="9525">
            <a:noFill/>
            <a:miter lim="800000"/>
            <a:headEnd/>
            <a:tailEnd/>
          </a:ln>
          <a:effectLst/>
        </p:spPr>
        <p:txBody>
          <a:bodyPr>
            <a:spAutoFit/>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8650"/>
            <a:ext cx="8839200" cy="607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859889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57200"/>
          </a:xfrm>
        </p:spPr>
        <p:txBody>
          <a:bodyPr>
            <a:normAutofit fontScale="90000"/>
          </a:bodyPr>
          <a:lstStyle/>
          <a:p>
            <a:r>
              <a:rPr lang="en-US" dirty="0" smtClean="0"/>
              <a:t>Join</a:t>
            </a:r>
            <a:endParaRPr lang="en-US" dirty="0"/>
          </a:p>
        </p:txBody>
      </p:sp>
      <p:sp>
        <p:nvSpPr>
          <p:cNvPr id="3" name="Content Placeholder 2"/>
          <p:cNvSpPr>
            <a:spLocks noGrp="1"/>
          </p:cNvSpPr>
          <p:nvPr>
            <p:ph idx="1"/>
          </p:nvPr>
        </p:nvSpPr>
        <p:spPr>
          <a:xfrm>
            <a:off x="457200" y="1524000"/>
            <a:ext cx="8229600" cy="5202936"/>
          </a:xfrm>
        </p:spPr>
        <p:txBody>
          <a:bodyPr>
            <a:normAutofit/>
          </a:bodyPr>
          <a:lstStyle/>
          <a:p>
            <a:r>
              <a:rPr lang="en-US" dirty="0" smtClean="0"/>
              <a:t>We </a:t>
            </a:r>
            <a:r>
              <a:rPr lang="en-US" dirty="0"/>
              <a:t>do this by using the JOIN operation </a:t>
            </a:r>
            <a:r>
              <a:rPr lang="en-US" dirty="0" smtClean="0"/>
              <a:t>and then </a:t>
            </a:r>
            <a:r>
              <a:rPr lang="en-US" dirty="0"/>
              <a:t>projecting the result over the necessary attributes, as follows:</a:t>
            </a:r>
          </a:p>
        </p:txBody>
      </p:sp>
      <p:pic>
        <p:nvPicPr>
          <p:cNvPr id="1026" name="Picture 2" descr="C:\Users\MEHTAB\Desktop\Cap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3152775"/>
            <a:ext cx="7391400" cy="962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0893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57200"/>
          </a:xfrm>
        </p:spPr>
        <p:txBody>
          <a:bodyPr>
            <a:normAutofit fontScale="90000"/>
          </a:bodyPr>
          <a:lstStyle/>
          <a:p>
            <a:r>
              <a:rPr lang="en-US" dirty="0" smtClean="0"/>
              <a:t>Join</a:t>
            </a:r>
            <a:endParaRPr lang="en-US" dirty="0"/>
          </a:p>
        </p:txBody>
      </p:sp>
      <p:sp>
        <p:nvSpPr>
          <p:cNvPr id="3" name="Content Placeholder 2"/>
          <p:cNvSpPr>
            <a:spLocks noGrp="1"/>
          </p:cNvSpPr>
          <p:nvPr>
            <p:ph idx="1"/>
          </p:nvPr>
        </p:nvSpPr>
        <p:spPr>
          <a:xfrm>
            <a:off x="457200" y="3962400"/>
            <a:ext cx="8229600" cy="2764536"/>
          </a:xfrm>
        </p:spPr>
        <p:txBody>
          <a:bodyPr>
            <a:normAutofit fontScale="92500" lnSpcReduction="10000"/>
          </a:bodyPr>
          <a:lstStyle/>
          <a:p>
            <a:r>
              <a:rPr lang="en-US" dirty="0"/>
              <a:t>Note that </a:t>
            </a:r>
            <a:r>
              <a:rPr lang="en-US" dirty="0" err="1"/>
              <a:t>Mgr_ssn</a:t>
            </a:r>
            <a:r>
              <a:rPr lang="en-US" dirty="0"/>
              <a:t> is a foreign key </a:t>
            </a:r>
            <a:r>
              <a:rPr lang="en-US" dirty="0" smtClean="0"/>
              <a:t>of the </a:t>
            </a:r>
            <a:r>
              <a:rPr lang="en-US" dirty="0"/>
              <a:t>DEPARTMENT relation that references </a:t>
            </a:r>
            <a:r>
              <a:rPr lang="en-US" dirty="0" err="1"/>
              <a:t>Ssn</a:t>
            </a:r>
            <a:r>
              <a:rPr lang="en-US" dirty="0"/>
              <a:t>, the primary key of the </a:t>
            </a:r>
            <a:r>
              <a:rPr lang="en-US" dirty="0" smtClean="0"/>
              <a:t>EMPLOYEE relation</a:t>
            </a:r>
            <a:r>
              <a:rPr lang="en-US" dirty="0"/>
              <a:t>. </a:t>
            </a:r>
            <a:endParaRPr lang="en-US" dirty="0" smtClean="0"/>
          </a:p>
          <a:p>
            <a:endParaRPr lang="en-US" dirty="0" smtClean="0"/>
          </a:p>
          <a:p>
            <a:r>
              <a:rPr lang="en-US" dirty="0" smtClean="0"/>
              <a:t>This </a:t>
            </a:r>
            <a:r>
              <a:rPr lang="en-US" dirty="0"/>
              <a:t>referential integrity constraint plays a role in having matching </a:t>
            </a:r>
            <a:r>
              <a:rPr lang="en-US" dirty="0" smtClean="0"/>
              <a:t>tuples in </a:t>
            </a:r>
            <a:r>
              <a:rPr lang="en-US" dirty="0"/>
              <a:t>the referenced relation EMPLOYEE.</a:t>
            </a:r>
          </a:p>
        </p:txBody>
      </p:sp>
      <p:pic>
        <p:nvPicPr>
          <p:cNvPr id="2050" name="Picture 2" descr="C:\Users\MEHTAB\Desktop\Cap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313" y="1447800"/>
            <a:ext cx="8459787" cy="228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2089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57200"/>
          </a:xfrm>
        </p:spPr>
        <p:txBody>
          <a:bodyPr>
            <a:normAutofit fontScale="90000"/>
          </a:bodyPr>
          <a:lstStyle/>
          <a:p>
            <a:r>
              <a:rPr lang="en-US" dirty="0" smtClean="0"/>
              <a:t>Join</a:t>
            </a:r>
            <a:endParaRPr lang="en-US" dirty="0"/>
          </a:p>
        </p:txBody>
      </p:sp>
      <p:pic>
        <p:nvPicPr>
          <p:cNvPr id="3074" name="Picture 2" descr="C:\Users\MEHTAB\Desktop\Capture.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447801"/>
            <a:ext cx="7315200" cy="2057399"/>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1" y="4267201"/>
            <a:ext cx="7467600"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41369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Join</a:t>
            </a:r>
            <a:endParaRPr lang="en-US" dirty="0"/>
          </a:p>
        </p:txBody>
      </p:sp>
      <p:sp>
        <p:nvSpPr>
          <p:cNvPr id="3" name="Content Placeholder 2"/>
          <p:cNvSpPr>
            <a:spLocks noGrp="1"/>
          </p:cNvSpPr>
          <p:nvPr>
            <p:ph idx="1"/>
          </p:nvPr>
        </p:nvSpPr>
        <p:spPr/>
        <p:txBody>
          <a:bodyPr/>
          <a:lstStyle/>
          <a:p>
            <a:r>
              <a:rPr lang="en-US" dirty="0" smtClean="0"/>
              <a:t>Natural join ( ) is a binary operator that is written as (</a:t>
            </a:r>
            <a:r>
              <a:rPr lang="en-US" i="1" dirty="0" smtClean="0"/>
              <a:t>R</a:t>
            </a:r>
            <a:r>
              <a:rPr lang="en-US" dirty="0" smtClean="0"/>
              <a:t>   </a:t>
            </a:r>
            <a:r>
              <a:rPr lang="en-US" i="1" dirty="0" smtClean="0"/>
              <a:t>S</a:t>
            </a:r>
            <a:r>
              <a:rPr lang="en-US" dirty="0" smtClean="0"/>
              <a:t>) where </a:t>
            </a:r>
            <a:r>
              <a:rPr lang="en-US" i="1" dirty="0" smtClean="0"/>
              <a:t>R</a:t>
            </a:r>
            <a:r>
              <a:rPr lang="en-US" dirty="0" smtClean="0"/>
              <a:t> and </a:t>
            </a:r>
            <a:r>
              <a:rPr lang="en-US" i="1" dirty="0" smtClean="0"/>
              <a:t>S</a:t>
            </a:r>
            <a:r>
              <a:rPr lang="en-US" dirty="0" smtClean="0"/>
              <a:t> are relations.</a:t>
            </a:r>
          </a:p>
          <a:p>
            <a:r>
              <a:rPr lang="en-US" dirty="0" smtClean="0"/>
              <a:t> In particular, natural join allows the combination of relations that are associated by a foreign key.</a:t>
            </a:r>
            <a:endParaRPr lang="en-US" dirty="0"/>
          </a:p>
        </p:txBody>
      </p:sp>
      <p:pic>
        <p:nvPicPr>
          <p:cNvPr id="1026" name="Picture 2" descr="\bowtie"/>
          <p:cNvPicPr>
            <a:picLocks noChangeAspect="1" noChangeArrowheads="1"/>
          </p:cNvPicPr>
          <p:nvPr/>
        </p:nvPicPr>
        <p:blipFill>
          <a:blip r:embed="rId2" cstate="print"/>
          <a:srcRect/>
          <a:stretch>
            <a:fillRect/>
          </a:stretch>
        </p:blipFill>
        <p:spPr bwMode="auto">
          <a:xfrm>
            <a:off x="2971800" y="2514600"/>
            <a:ext cx="161925" cy="104775"/>
          </a:xfrm>
          <a:prstGeom prst="rect">
            <a:avLst/>
          </a:prstGeom>
          <a:noFill/>
        </p:spPr>
      </p:pic>
      <p:pic>
        <p:nvPicPr>
          <p:cNvPr id="1028" name="Picture 4" descr="\bowtie"/>
          <p:cNvPicPr>
            <a:picLocks noChangeAspect="1" noChangeArrowheads="1"/>
          </p:cNvPicPr>
          <p:nvPr/>
        </p:nvPicPr>
        <p:blipFill>
          <a:blip r:embed="rId2" cstate="print"/>
          <a:srcRect/>
          <a:stretch>
            <a:fillRect/>
          </a:stretch>
        </p:blipFill>
        <p:spPr bwMode="auto">
          <a:xfrm>
            <a:off x="2971800" y="2895600"/>
            <a:ext cx="161925" cy="104775"/>
          </a:xfrm>
          <a:prstGeom prst="rect">
            <a:avLst/>
          </a:prstGeom>
          <a:noFill/>
        </p:spPr>
      </p:pic>
      <p:pic>
        <p:nvPicPr>
          <p:cNvPr id="1029" name="Picture 5"/>
          <p:cNvPicPr>
            <a:picLocks noChangeAspect="1" noChangeArrowheads="1"/>
          </p:cNvPicPr>
          <p:nvPr/>
        </p:nvPicPr>
        <p:blipFill>
          <a:blip r:embed="rId3" cstate="print"/>
          <a:srcRect/>
          <a:stretch>
            <a:fillRect/>
          </a:stretch>
        </p:blipFill>
        <p:spPr bwMode="auto">
          <a:xfrm>
            <a:off x="609600" y="4504474"/>
            <a:ext cx="7772400" cy="235352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524000" y="2590800"/>
            <a:ext cx="6400799" cy="3200400"/>
          </a:xfrm>
          <a:prstGeom prst="rect">
            <a:avLst/>
          </a:prstGeom>
          <a:noFill/>
          <a:ln w="9525">
            <a:noFill/>
            <a:miter lim="800000"/>
            <a:headEnd/>
            <a:tailEnd/>
          </a:ln>
        </p:spPr>
      </p:pic>
    </p:spTree>
    <p:extLst>
      <p:ext uri="{BB962C8B-B14F-4D97-AF65-F5344CB8AC3E}">
        <p14:creationId xmlns:p14="http://schemas.microsoft.com/office/powerpoint/2010/main" val="16163236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Natural Join (Example)</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762000" y="2286000"/>
            <a:ext cx="5715000" cy="838200"/>
          </a:xfrm>
          <a:prstGeom prst="rect">
            <a:avLst/>
          </a:prstGeom>
          <a:noFill/>
          <a:ln w="9525">
            <a:noFill/>
            <a:miter lim="800000"/>
            <a:headEnd/>
            <a:tailEnd/>
          </a:ln>
        </p:spPr>
      </p:pic>
      <p:pic>
        <p:nvPicPr>
          <p:cNvPr id="2051" name="Picture 3"/>
          <p:cNvPicPr>
            <a:picLocks noChangeAspect="1" noChangeArrowheads="1"/>
          </p:cNvPicPr>
          <p:nvPr/>
        </p:nvPicPr>
        <p:blipFill>
          <a:blip r:embed="rId3" cstate="print"/>
          <a:srcRect/>
          <a:stretch>
            <a:fillRect/>
          </a:stretch>
        </p:blipFill>
        <p:spPr bwMode="auto">
          <a:xfrm>
            <a:off x="838199" y="3429000"/>
            <a:ext cx="5583691" cy="2209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7" name="Rectangle 3"/>
          <p:cNvSpPr>
            <a:spLocks noChangeArrowheads="1"/>
          </p:cNvSpPr>
          <p:nvPr/>
        </p:nvSpPr>
        <p:spPr bwMode="auto">
          <a:xfrm>
            <a:off x="1833563" y="1309688"/>
            <a:ext cx="9144000" cy="0"/>
          </a:xfrm>
          <a:prstGeom prst="rect">
            <a:avLst/>
          </a:prstGeom>
          <a:noFill/>
          <a:ln w="9525">
            <a:noFill/>
            <a:miter lim="800000"/>
            <a:headEnd/>
            <a:tailEnd/>
          </a:ln>
          <a:effectLst/>
        </p:spPr>
        <p:txBody>
          <a:bodyPr>
            <a:spAutoFit/>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28650"/>
            <a:ext cx="8839200" cy="607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2767544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457200"/>
          </a:xfrm>
        </p:spPr>
        <p:txBody>
          <a:bodyPr>
            <a:normAutofit fontScale="90000"/>
          </a:bodyPr>
          <a:lstStyle/>
          <a:p>
            <a:r>
              <a:rPr lang="en-US" dirty="0" smtClean="0"/>
              <a:t>Result of Two Natural Join</a:t>
            </a:r>
            <a:endParaRPr lang="en-US" dirty="0"/>
          </a:p>
        </p:txBody>
      </p:sp>
      <p:pic>
        <p:nvPicPr>
          <p:cNvPr id="4098" name="Picture 2" descr="C:\Users\MEHTAB\Desktop\Captur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163" y="1524000"/>
            <a:ext cx="8574087" cy="492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4589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Inner join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An </a:t>
            </a:r>
            <a:r>
              <a:rPr lang="en-US" b="1" dirty="0" smtClean="0"/>
              <a:t>inner join</a:t>
            </a:r>
            <a:r>
              <a:rPr lang="en-US" dirty="0" smtClean="0"/>
              <a:t> is the most common join operation used in applications and can be regarded as the default join-type. </a:t>
            </a:r>
          </a:p>
          <a:p>
            <a:r>
              <a:rPr lang="en-US" dirty="0" smtClean="0"/>
              <a:t>Inner join creates a new result table by combining column values of two tables (A and B) based upon the </a:t>
            </a:r>
            <a:r>
              <a:rPr lang="en-US" i="1" dirty="0" smtClean="0"/>
              <a:t>join-predicate</a:t>
            </a:r>
            <a:r>
              <a:rPr lang="en-US" dirty="0" smtClean="0"/>
              <a:t>. </a:t>
            </a:r>
          </a:p>
          <a:p>
            <a:r>
              <a:rPr lang="en-US" dirty="0" smtClean="0"/>
              <a:t>The query compares each row of A with each row of B to find all pairs of rows which satisfy the join-predicate. When the join-predicate is satisfied, column values for each matched pair of rows of A and B are combined into a result row.</a:t>
            </a:r>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Equijoin</a:t>
            </a:r>
            <a:endParaRPr lang="en-US" dirty="0"/>
          </a:p>
        </p:txBody>
      </p:sp>
      <p:sp>
        <p:nvSpPr>
          <p:cNvPr id="3" name="Content Placeholder 2"/>
          <p:cNvSpPr>
            <a:spLocks noGrp="1"/>
          </p:cNvSpPr>
          <p:nvPr>
            <p:ph idx="1"/>
          </p:nvPr>
        </p:nvSpPr>
        <p:spPr/>
        <p:txBody>
          <a:bodyPr/>
          <a:lstStyle/>
          <a:p>
            <a:r>
              <a:rPr lang="en-US" dirty="0" smtClean="0"/>
              <a:t>An </a:t>
            </a:r>
            <a:r>
              <a:rPr lang="en-US" b="1" dirty="0" err="1" smtClean="0"/>
              <a:t>equi</a:t>
            </a:r>
            <a:r>
              <a:rPr lang="en-US" b="1" dirty="0" smtClean="0"/>
              <a:t>-join</a:t>
            </a:r>
            <a:r>
              <a:rPr lang="en-US" dirty="0" smtClean="0"/>
              <a:t>, also known as an </a:t>
            </a:r>
            <a:r>
              <a:rPr lang="en-US" b="1" dirty="0" smtClean="0"/>
              <a:t>equijoin</a:t>
            </a:r>
            <a:r>
              <a:rPr lang="en-US" dirty="0" smtClean="0"/>
              <a:t>, is a specific type of comparator-based join, or </a:t>
            </a:r>
            <a:r>
              <a:rPr lang="en-US" i="1" dirty="0" smtClean="0"/>
              <a:t>theta join</a:t>
            </a:r>
            <a:r>
              <a:rPr lang="en-US" dirty="0" smtClean="0"/>
              <a:t>, that </a:t>
            </a:r>
            <a:r>
              <a:rPr lang="en-US" i="1" dirty="0" smtClean="0"/>
              <a:t>uses only equality comparisons</a:t>
            </a:r>
            <a:r>
              <a:rPr lang="en-US" dirty="0" smtClean="0"/>
              <a:t> in the join-predicate. </a:t>
            </a:r>
          </a:p>
          <a:p>
            <a:r>
              <a:rPr lang="en-US" dirty="0" smtClean="0"/>
              <a:t>Using other comparison operators (such as &lt;) disqualifies a join as an </a:t>
            </a:r>
            <a:r>
              <a:rPr lang="en-US" dirty="0" err="1" smtClean="0"/>
              <a:t>equi</a:t>
            </a:r>
            <a:r>
              <a:rPr lang="en-US" dirty="0" smtClean="0"/>
              <a:t>-join.</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524000" y="2590800"/>
            <a:ext cx="6400799" cy="3200400"/>
          </a:xfrm>
          <a:prstGeom prst="rect">
            <a:avLst/>
          </a:prstGeom>
          <a:noFill/>
          <a:ln w="9525">
            <a:noFill/>
            <a:miter lim="800000"/>
            <a:headEnd/>
            <a:tailEnd/>
          </a:ln>
        </p:spPr>
      </p:pic>
    </p:spTree>
    <p:extLst>
      <p:ext uri="{BB962C8B-B14F-4D97-AF65-F5344CB8AC3E}">
        <p14:creationId xmlns:p14="http://schemas.microsoft.com/office/powerpoint/2010/main" val="35604051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Equijoin (Example)</a:t>
            </a:r>
            <a:endParaRPr 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533400" y="2514600"/>
            <a:ext cx="5410200" cy="1219200"/>
          </a:xfrm>
          <a:prstGeom prst="rect">
            <a:avLst/>
          </a:prstGeom>
          <a:noFill/>
          <a:ln w="9525">
            <a:noFill/>
            <a:miter lim="800000"/>
            <a:headEnd/>
            <a:tailEnd/>
          </a:ln>
        </p:spPr>
      </p:pic>
      <p:pic>
        <p:nvPicPr>
          <p:cNvPr id="3075" name="Picture 3"/>
          <p:cNvPicPr>
            <a:picLocks noChangeAspect="1" noChangeArrowheads="1"/>
          </p:cNvPicPr>
          <p:nvPr/>
        </p:nvPicPr>
        <p:blipFill>
          <a:blip r:embed="rId3" cstate="print"/>
          <a:srcRect/>
          <a:stretch>
            <a:fillRect/>
          </a:stretch>
        </p:blipFill>
        <p:spPr bwMode="auto">
          <a:xfrm>
            <a:off x="533400" y="3657600"/>
            <a:ext cx="5410200" cy="990600"/>
          </a:xfrm>
          <a:prstGeom prst="rect">
            <a:avLst/>
          </a:prstGeom>
          <a:noFill/>
          <a:ln w="9525">
            <a:noFill/>
            <a:miter lim="800000"/>
            <a:headEnd/>
            <a:tailEnd/>
          </a:ln>
        </p:spPr>
      </p:pic>
      <p:pic>
        <p:nvPicPr>
          <p:cNvPr id="3076" name="Picture 4"/>
          <p:cNvPicPr>
            <a:picLocks noChangeAspect="1" noChangeArrowheads="1"/>
          </p:cNvPicPr>
          <p:nvPr/>
        </p:nvPicPr>
        <p:blipFill>
          <a:blip r:embed="rId4" cstate="print"/>
          <a:srcRect/>
          <a:stretch>
            <a:fillRect/>
          </a:stretch>
        </p:blipFill>
        <p:spPr bwMode="auto">
          <a:xfrm>
            <a:off x="533400" y="4648200"/>
            <a:ext cx="7696200" cy="1905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914400"/>
          </a:xfrm>
        </p:spPr>
        <p:txBody>
          <a:bodyPr>
            <a:normAutofit/>
          </a:bodyPr>
          <a:lstStyle/>
          <a:p>
            <a:r>
              <a:rPr lang="el-GR" b="1" dirty="0" smtClean="0"/>
              <a:t>θ-</a:t>
            </a:r>
            <a:r>
              <a:rPr lang="en-US" b="1" dirty="0" smtClean="0"/>
              <a:t>join</a:t>
            </a:r>
            <a:endParaRPr lang="en-US" dirty="0"/>
          </a:p>
        </p:txBody>
      </p:sp>
      <p:sp>
        <p:nvSpPr>
          <p:cNvPr id="3" name="Content Placeholder 2"/>
          <p:cNvSpPr>
            <a:spLocks noGrp="1"/>
          </p:cNvSpPr>
          <p:nvPr>
            <p:ph idx="1"/>
          </p:nvPr>
        </p:nvSpPr>
        <p:spPr>
          <a:xfrm>
            <a:off x="457200" y="1828800"/>
            <a:ext cx="8229600" cy="2819400"/>
          </a:xfrm>
        </p:spPr>
        <p:txBody>
          <a:bodyPr>
            <a:normAutofit fontScale="92500" lnSpcReduction="20000"/>
          </a:bodyPr>
          <a:lstStyle/>
          <a:p>
            <a:r>
              <a:rPr lang="en-US" dirty="0" smtClean="0"/>
              <a:t>Consider tables </a:t>
            </a:r>
            <a:r>
              <a:rPr lang="en-US" i="1" dirty="0" smtClean="0"/>
              <a:t>Car</a:t>
            </a:r>
            <a:r>
              <a:rPr lang="en-US" dirty="0" smtClean="0"/>
              <a:t> and </a:t>
            </a:r>
            <a:r>
              <a:rPr lang="en-US" i="1" dirty="0" smtClean="0"/>
              <a:t>Boat</a:t>
            </a:r>
            <a:r>
              <a:rPr lang="en-US" dirty="0" smtClean="0"/>
              <a:t> which list models of cars and boats and their respective prices. Suppose a customer wants to buy a car and a boat, but she does not want to spend more money for the boat than for the car. </a:t>
            </a:r>
          </a:p>
          <a:p>
            <a:r>
              <a:rPr lang="en-US" dirty="0" smtClean="0"/>
              <a:t>The θ-join on the relation </a:t>
            </a:r>
            <a:r>
              <a:rPr lang="en-US" i="1" dirty="0" err="1" smtClean="0"/>
              <a:t>CarPrice</a:t>
            </a:r>
            <a:r>
              <a:rPr lang="en-US" dirty="0" smtClean="0"/>
              <a:t> ≥ </a:t>
            </a:r>
            <a:r>
              <a:rPr lang="en-US" i="1" dirty="0" err="1" smtClean="0"/>
              <a:t>BoatPrice</a:t>
            </a:r>
            <a:r>
              <a:rPr lang="en-US" dirty="0" smtClean="0"/>
              <a:t> produces a table with all the possible options. </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914400" y="4572000"/>
            <a:ext cx="7696200" cy="1857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Semi Join (   ) and (   )</a:t>
            </a:r>
            <a:endParaRPr lang="en-US" dirty="0"/>
          </a:p>
        </p:txBody>
      </p:sp>
      <p:sp>
        <p:nvSpPr>
          <p:cNvPr id="3" name="Content Placeholder 2"/>
          <p:cNvSpPr>
            <a:spLocks noGrp="1"/>
          </p:cNvSpPr>
          <p:nvPr>
            <p:ph idx="1"/>
          </p:nvPr>
        </p:nvSpPr>
        <p:spPr>
          <a:xfrm>
            <a:off x="457200" y="2249424"/>
            <a:ext cx="8229600" cy="2322576"/>
          </a:xfrm>
        </p:spPr>
        <p:txBody>
          <a:bodyPr>
            <a:normAutofit fontScale="85000" lnSpcReduction="20000"/>
          </a:bodyPr>
          <a:lstStyle/>
          <a:p>
            <a:pPr>
              <a:buNone/>
            </a:pPr>
            <a:r>
              <a:rPr lang="en-US" dirty="0" smtClean="0"/>
              <a:t>The left </a:t>
            </a:r>
            <a:r>
              <a:rPr lang="en-US" dirty="0" err="1" smtClean="0"/>
              <a:t>semijoin</a:t>
            </a:r>
            <a:r>
              <a:rPr lang="en-US" dirty="0" smtClean="0"/>
              <a:t> is joining similar to the natural join and written as R       S where R and S are relation. The result of this </a:t>
            </a:r>
            <a:r>
              <a:rPr lang="en-US" dirty="0" err="1" smtClean="0"/>
              <a:t>semijoin</a:t>
            </a:r>
            <a:r>
              <a:rPr lang="en-US" dirty="0" smtClean="0"/>
              <a:t> is only the set of all tuples in </a:t>
            </a:r>
            <a:r>
              <a:rPr lang="en-US" i="1" dirty="0" smtClean="0"/>
              <a:t>R</a:t>
            </a:r>
            <a:r>
              <a:rPr lang="en-US" dirty="0" smtClean="0"/>
              <a:t> for which there is a tuple in </a:t>
            </a:r>
            <a:r>
              <a:rPr lang="en-US" i="1" dirty="0" smtClean="0"/>
              <a:t>S</a:t>
            </a:r>
            <a:r>
              <a:rPr lang="en-US" dirty="0" smtClean="0"/>
              <a:t> that is equal on their common attribute names. </a:t>
            </a:r>
          </a:p>
          <a:p>
            <a:pPr>
              <a:buNone/>
            </a:pPr>
            <a:r>
              <a:rPr lang="en-US" dirty="0" smtClean="0"/>
              <a:t>For example, consider the tables </a:t>
            </a:r>
            <a:r>
              <a:rPr lang="en-US" i="1" dirty="0" smtClean="0"/>
              <a:t>Employee</a:t>
            </a:r>
            <a:r>
              <a:rPr lang="en-US" dirty="0" smtClean="0"/>
              <a:t> and </a:t>
            </a:r>
            <a:r>
              <a:rPr lang="en-US" i="1" dirty="0" smtClean="0"/>
              <a:t>Dept</a:t>
            </a:r>
            <a:r>
              <a:rPr lang="en-US" dirty="0" smtClean="0"/>
              <a:t> and their semi join:</a:t>
            </a:r>
            <a:endParaRPr lang="en-US" dirty="0"/>
          </a:p>
        </p:txBody>
      </p:sp>
      <p:pic>
        <p:nvPicPr>
          <p:cNvPr id="5123" name="Picture 3"/>
          <p:cNvPicPr>
            <a:picLocks noChangeAspect="1" noChangeArrowheads="1"/>
          </p:cNvPicPr>
          <p:nvPr/>
        </p:nvPicPr>
        <p:blipFill>
          <a:blip r:embed="rId2" cstate="print"/>
          <a:srcRect/>
          <a:stretch>
            <a:fillRect/>
          </a:stretch>
        </p:blipFill>
        <p:spPr bwMode="auto">
          <a:xfrm>
            <a:off x="2609850" y="2590800"/>
            <a:ext cx="438150" cy="304800"/>
          </a:xfrm>
          <a:prstGeom prst="rect">
            <a:avLst/>
          </a:prstGeom>
          <a:noFill/>
          <a:ln w="9525">
            <a:noFill/>
            <a:miter lim="800000"/>
            <a:headEnd/>
            <a:tailEnd/>
          </a:ln>
        </p:spPr>
      </p:pic>
      <p:pic>
        <p:nvPicPr>
          <p:cNvPr id="5125" name="Picture 5"/>
          <p:cNvPicPr>
            <a:picLocks noChangeAspect="1" noChangeArrowheads="1"/>
          </p:cNvPicPr>
          <p:nvPr/>
        </p:nvPicPr>
        <p:blipFill>
          <a:blip r:embed="rId3" cstate="print"/>
          <a:srcRect/>
          <a:stretch>
            <a:fillRect/>
          </a:stretch>
        </p:blipFill>
        <p:spPr bwMode="auto">
          <a:xfrm>
            <a:off x="838200" y="4572000"/>
            <a:ext cx="7620000" cy="1838325"/>
          </a:xfrm>
          <a:prstGeom prst="rect">
            <a:avLst/>
          </a:prstGeom>
          <a:noFill/>
          <a:ln w="9525">
            <a:noFill/>
            <a:miter lim="800000"/>
            <a:headEnd/>
            <a:tailEnd/>
          </a:ln>
        </p:spPr>
      </p:pic>
      <p:pic>
        <p:nvPicPr>
          <p:cNvPr id="10" name="Picture 3"/>
          <p:cNvPicPr>
            <a:picLocks noChangeAspect="1" noChangeArrowheads="1"/>
          </p:cNvPicPr>
          <p:nvPr/>
        </p:nvPicPr>
        <p:blipFill>
          <a:blip r:embed="rId2" cstate="print"/>
          <a:srcRect/>
          <a:stretch>
            <a:fillRect/>
          </a:stretch>
        </p:blipFill>
        <p:spPr bwMode="auto">
          <a:xfrm>
            <a:off x="3200400" y="1600200"/>
            <a:ext cx="438150" cy="304800"/>
          </a:xfrm>
          <a:prstGeom prst="rect">
            <a:avLst/>
          </a:prstGeom>
          <a:noFill/>
          <a:ln w="9525">
            <a:noFill/>
            <a:miter lim="800000"/>
            <a:headEnd/>
            <a:tailEnd/>
          </a:ln>
        </p:spPr>
      </p:pic>
      <p:pic>
        <p:nvPicPr>
          <p:cNvPr id="11" name="Picture 3"/>
          <p:cNvPicPr>
            <a:picLocks noChangeAspect="1" noChangeArrowheads="1"/>
          </p:cNvPicPr>
          <p:nvPr/>
        </p:nvPicPr>
        <p:blipFill>
          <a:blip r:embed="rId2" cstate="print"/>
          <a:srcRect/>
          <a:stretch>
            <a:fillRect/>
          </a:stretch>
        </p:blipFill>
        <p:spPr bwMode="auto">
          <a:xfrm rot="10800000">
            <a:off x="5105400" y="1600200"/>
            <a:ext cx="438150" cy="304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Semi Join (Example)</a:t>
            </a:r>
            <a:endParaRPr lang="en-US" dirty="0"/>
          </a:p>
        </p:txBody>
      </p:sp>
      <p:sp>
        <p:nvSpPr>
          <p:cNvPr id="3" name="Content Placeholder 2"/>
          <p:cNvSpPr>
            <a:spLocks noGrp="1"/>
          </p:cNvSpPr>
          <p:nvPr>
            <p:ph idx="1"/>
          </p:nvPr>
        </p:nvSpPr>
        <p:spPr/>
        <p:txBody>
          <a:bodyPr/>
          <a:lstStyle/>
          <a:p>
            <a:pPr>
              <a:buNone/>
            </a:pPr>
            <a:r>
              <a:rPr lang="en-US" dirty="0" smtClean="0"/>
              <a:t>SELECT * FROM departments </a:t>
            </a:r>
          </a:p>
          <a:p>
            <a:pPr>
              <a:buNone/>
            </a:pPr>
            <a:r>
              <a:rPr lang="en-US" dirty="0" smtClean="0"/>
              <a:t>WHERE EXISTS </a:t>
            </a:r>
          </a:p>
          <a:p>
            <a:pPr>
              <a:buNone/>
            </a:pPr>
            <a:r>
              <a:rPr lang="en-US" dirty="0" smtClean="0"/>
              <a:t>       	(SELECT * FROM employees WHERE 	</a:t>
            </a:r>
            <a:r>
              <a:rPr lang="en-US" dirty="0" err="1" smtClean="0"/>
              <a:t>departments.department_id</a:t>
            </a:r>
            <a:r>
              <a:rPr lang="en-US" dirty="0" smtClean="0"/>
              <a:t> = 	</a:t>
            </a:r>
            <a:r>
              <a:rPr lang="en-US" dirty="0" err="1" smtClean="0"/>
              <a:t>employees.department_id</a:t>
            </a:r>
            <a:r>
              <a:rPr lang="en-US" dirty="0" smtClean="0"/>
              <a:t> AND 	</a:t>
            </a:r>
            <a:r>
              <a:rPr lang="en-US" dirty="0" err="1" smtClean="0"/>
              <a:t>employees.salary</a:t>
            </a:r>
            <a:r>
              <a:rPr lang="en-US" dirty="0" smtClean="0"/>
              <a:t> &gt; 2500) </a:t>
            </a:r>
          </a:p>
          <a:p>
            <a:pPr>
              <a:buNone/>
            </a:pPr>
            <a:r>
              <a:rPr lang="en-US" dirty="0" smtClean="0"/>
              <a:t>ORDER BY </a:t>
            </a:r>
            <a:r>
              <a:rPr lang="en-US" dirty="0" err="1" smtClean="0"/>
              <a:t>department_name</a:t>
            </a:r>
            <a:r>
              <a:rPr lang="en-US" dirty="0" smtClean="0"/>
              <a:t>;</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Antijoin</a:t>
            </a:r>
            <a:r>
              <a:rPr lang="en-US" dirty="0" smtClean="0"/>
              <a:t>(  ) </a:t>
            </a:r>
            <a:endParaRPr lang="en-US" dirty="0"/>
          </a:p>
        </p:txBody>
      </p:sp>
      <p:sp>
        <p:nvSpPr>
          <p:cNvPr id="3" name="Content Placeholder 2"/>
          <p:cNvSpPr>
            <a:spLocks noGrp="1"/>
          </p:cNvSpPr>
          <p:nvPr>
            <p:ph idx="1"/>
          </p:nvPr>
        </p:nvSpPr>
        <p:spPr>
          <a:xfrm>
            <a:off x="457200" y="2249424"/>
            <a:ext cx="8229600" cy="1865376"/>
          </a:xfrm>
        </p:spPr>
        <p:txBody>
          <a:bodyPr>
            <a:normAutofit fontScale="77500" lnSpcReduction="20000"/>
          </a:bodyPr>
          <a:lstStyle/>
          <a:p>
            <a:r>
              <a:rPr lang="en-US" dirty="0" smtClean="0"/>
              <a:t>The </a:t>
            </a:r>
            <a:r>
              <a:rPr lang="en-US" dirty="0" err="1" smtClean="0"/>
              <a:t>antijoin</a:t>
            </a:r>
            <a:r>
              <a:rPr lang="en-US" dirty="0" smtClean="0"/>
              <a:t>, written as </a:t>
            </a:r>
            <a:r>
              <a:rPr lang="en-US" i="1" dirty="0" smtClean="0"/>
              <a:t>R </a:t>
            </a:r>
            <a:r>
              <a:rPr lang="en-US" dirty="0" smtClean="0"/>
              <a:t>  </a:t>
            </a:r>
            <a:r>
              <a:rPr lang="en-US" i="1" dirty="0" smtClean="0"/>
              <a:t>S</a:t>
            </a:r>
            <a:r>
              <a:rPr lang="en-US" dirty="0" smtClean="0"/>
              <a:t> where </a:t>
            </a:r>
            <a:r>
              <a:rPr lang="en-US" i="1" dirty="0" smtClean="0"/>
              <a:t>R</a:t>
            </a:r>
            <a:r>
              <a:rPr lang="en-US" dirty="0" smtClean="0"/>
              <a:t> and </a:t>
            </a:r>
            <a:r>
              <a:rPr lang="en-US" i="1" dirty="0" smtClean="0"/>
              <a:t>S</a:t>
            </a:r>
            <a:r>
              <a:rPr lang="en-US" dirty="0" smtClean="0"/>
              <a:t> are relations, is similar to the natural join, but the result of an </a:t>
            </a:r>
            <a:r>
              <a:rPr lang="en-US" dirty="0" err="1" smtClean="0"/>
              <a:t>antijoin</a:t>
            </a:r>
            <a:r>
              <a:rPr lang="en-US" dirty="0" smtClean="0"/>
              <a:t> is only those </a:t>
            </a:r>
            <a:r>
              <a:rPr lang="en-US" dirty="0" err="1" smtClean="0"/>
              <a:t>tuples</a:t>
            </a:r>
            <a:r>
              <a:rPr lang="en-US" dirty="0" smtClean="0"/>
              <a:t> in </a:t>
            </a:r>
            <a:r>
              <a:rPr lang="en-US" i="1" dirty="0" smtClean="0"/>
              <a:t>R</a:t>
            </a:r>
            <a:r>
              <a:rPr lang="en-US" dirty="0" smtClean="0"/>
              <a:t> for which there is </a:t>
            </a:r>
            <a:r>
              <a:rPr lang="en-US" i="1" dirty="0" smtClean="0"/>
              <a:t>no</a:t>
            </a:r>
            <a:r>
              <a:rPr lang="en-US" dirty="0" smtClean="0"/>
              <a:t> </a:t>
            </a:r>
            <a:r>
              <a:rPr lang="en-US" dirty="0" err="1" smtClean="0"/>
              <a:t>tuple</a:t>
            </a:r>
            <a:r>
              <a:rPr lang="en-US" dirty="0" smtClean="0"/>
              <a:t> in </a:t>
            </a:r>
            <a:r>
              <a:rPr lang="en-US" i="1" dirty="0" smtClean="0"/>
              <a:t>S</a:t>
            </a:r>
            <a:r>
              <a:rPr lang="en-US" dirty="0" smtClean="0"/>
              <a:t> that is equal on their common attribute names.</a:t>
            </a:r>
          </a:p>
          <a:p>
            <a:r>
              <a:rPr lang="en-US" dirty="0" smtClean="0"/>
              <a:t>For an example consider the tables </a:t>
            </a:r>
            <a:r>
              <a:rPr lang="en-US" i="1" dirty="0" smtClean="0"/>
              <a:t>Employee</a:t>
            </a:r>
            <a:r>
              <a:rPr lang="en-US" dirty="0" smtClean="0"/>
              <a:t> and </a:t>
            </a:r>
            <a:r>
              <a:rPr lang="en-US" i="1" dirty="0" smtClean="0"/>
              <a:t>Dept</a:t>
            </a:r>
            <a:r>
              <a:rPr lang="en-US" dirty="0" smtClean="0"/>
              <a:t> and their </a:t>
            </a:r>
            <a:r>
              <a:rPr lang="en-US" dirty="0" err="1" smtClean="0"/>
              <a:t>antijoin</a:t>
            </a:r>
            <a:r>
              <a:rPr lang="en-US" dirty="0" smtClean="0"/>
              <a:t>:</a:t>
            </a:r>
          </a:p>
          <a:p>
            <a:endParaRPr lang="en-US" dirty="0"/>
          </a:p>
        </p:txBody>
      </p:sp>
      <p:pic>
        <p:nvPicPr>
          <p:cNvPr id="6146" name="Picture 2"/>
          <p:cNvPicPr>
            <a:picLocks noChangeAspect="1" noChangeArrowheads="1"/>
          </p:cNvPicPr>
          <p:nvPr/>
        </p:nvPicPr>
        <p:blipFill>
          <a:blip r:embed="rId2" cstate="print"/>
          <a:srcRect/>
          <a:stretch>
            <a:fillRect/>
          </a:stretch>
        </p:blipFill>
        <p:spPr bwMode="auto">
          <a:xfrm>
            <a:off x="2590800" y="1676399"/>
            <a:ext cx="228600" cy="215153"/>
          </a:xfrm>
          <a:prstGeom prst="rect">
            <a:avLst/>
          </a:prstGeom>
          <a:noFill/>
          <a:ln w="9525">
            <a:noFill/>
            <a:miter lim="800000"/>
            <a:headEnd/>
            <a:tailEnd/>
          </a:ln>
        </p:spPr>
      </p:pic>
      <p:pic>
        <p:nvPicPr>
          <p:cNvPr id="6147" name="Picture 3"/>
          <p:cNvPicPr>
            <a:picLocks noChangeAspect="1" noChangeArrowheads="1"/>
          </p:cNvPicPr>
          <p:nvPr/>
        </p:nvPicPr>
        <p:blipFill>
          <a:blip r:embed="rId2" cstate="print"/>
          <a:srcRect/>
          <a:stretch>
            <a:fillRect/>
          </a:stretch>
        </p:blipFill>
        <p:spPr bwMode="auto">
          <a:xfrm>
            <a:off x="4038600" y="2362200"/>
            <a:ext cx="161925" cy="152400"/>
          </a:xfrm>
          <a:prstGeom prst="rect">
            <a:avLst/>
          </a:prstGeom>
          <a:noFill/>
          <a:ln w="9525">
            <a:noFill/>
            <a:miter lim="800000"/>
            <a:headEnd/>
            <a:tailEnd/>
          </a:ln>
        </p:spPr>
      </p:pic>
      <p:pic>
        <p:nvPicPr>
          <p:cNvPr id="6148" name="Picture 4"/>
          <p:cNvPicPr>
            <a:picLocks noChangeAspect="1" noChangeArrowheads="1"/>
          </p:cNvPicPr>
          <p:nvPr/>
        </p:nvPicPr>
        <p:blipFill>
          <a:blip r:embed="rId3" cstate="print"/>
          <a:srcRect/>
          <a:stretch>
            <a:fillRect/>
          </a:stretch>
        </p:blipFill>
        <p:spPr bwMode="auto">
          <a:xfrm>
            <a:off x="838200" y="4114800"/>
            <a:ext cx="7543800" cy="2057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Anti Join (Example)</a:t>
            </a:r>
            <a:endParaRPr lang="en-US" dirty="0"/>
          </a:p>
        </p:txBody>
      </p:sp>
      <p:sp>
        <p:nvSpPr>
          <p:cNvPr id="3" name="Content Placeholder 2"/>
          <p:cNvSpPr>
            <a:spLocks noGrp="1"/>
          </p:cNvSpPr>
          <p:nvPr>
            <p:ph idx="1"/>
          </p:nvPr>
        </p:nvSpPr>
        <p:spPr/>
        <p:txBody>
          <a:bodyPr/>
          <a:lstStyle/>
          <a:p>
            <a:pPr marL="109728" indent="0">
              <a:buNone/>
            </a:pPr>
            <a:r>
              <a:rPr lang="en-US" dirty="0" smtClean="0"/>
              <a:t>SELECT * FROM employees </a:t>
            </a:r>
          </a:p>
          <a:p>
            <a:pPr>
              <a:buNone/>
            </a:pPr>
            <a:r>
              <a:rPr lang="en-US" dirty="0" smtClean="0"/>
              <a:t>   WHERE </a:t>
            </a:r>
            <a:r>
              <a:rPr lang="en-US" dirty="0" err="1" smtClean="0"/>
              <a:t>department_id</a:t>
            </a:r>
            <a:r>
              <a:rPr lang="en-US" dirty="0" smtClean="0"/>
              <a:t> NOT IN </a:t>
            </a:r>
          </a:p>
          <a:p>
            <a:pPr>
              <a:buNone/>
            </a:pPr>
            <a:r>
              <a:rPr lang="en-US" dirty="0" smtClean="0"/>
              <a:t>		(SELECT </a:t>
            </a:r>
            <a:r>
              <a:rPr lang="en-US" dirty="0" err="1" smtClean="0"/>
              <a:t>department_id</a:t>
            </a:r>
            <a:r>
              <a:rPr lang="en-US" dirty="0" smtClean="0"/>
              <a:t> FROM 	departments WHERE </a:t>
            </a:r>
            <a:r>
              <a:rPr lang="en-US" dirty="0" err="1" smtClean="0"/>
              <a:t>location_id</a:t>
            </a:r>
            <a:r>
              <a:rPr lang="en-US" dirty="0" smtClean="0"/>
              <a:t> = 1700) ORDER BY </a:t>
            </a:r>
            <a:r>
              <a:rPr lang="en-US" dirty="0" err="1" smtClean="0"/>
              <a:t>last_name</a:t>
            </a:r>
            <a:r>
              <a:rPr lang="en-US" dirty="0" smtClean="0"/>
              <a:t>;</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Cross Join</a:t>
            </a:r>
            <a:endParaRPr lang="en-US" dirty="0"/>
          </a:p>
        </p:txBody>
      </p:sp>
      <p:sp>
        <p:nvSpPr>
          <p:cNvPr id="3" name="Content Placeholder 2"/>
          <p:cNvSpPr>
            <a:spLocks noGrp="1"/>
          </p:cNvSpPr>
          <p:nvPr>
            <p:ph idx="1"/>
          </p:nvPr>
        </p:nvSpPr>
        <p:spPr>
          <a:xfrm>
            <a:off x="457200" y="2249424"/>
            <a:ext cx="8229600" cy="2246376"/>
          </a:xfrm>
        </p:spPr>
        <p:txBody>
          <a:bodyPr/>
          <a:lstStyle/>
          <a:p>
            <a:r>
              <a:rPr lang="en-US" dirty="0" smtClean="0"/>
              <a:t>CROSS JOIN returns the Cartesian product of rows from tables in the join. In other words, it will produce rows which combine each row from the first table with each row from the second table.</a:t>
            </a:r>
            <a:endParaRPr lang="en-US" dirty="0"/>
          </a:p>
        </p:txBody>
      </p:sp>
      <p:pic>
        <p:nvPicPr>
          <p:cNvPr id="7170" name="Picture 2"/>
          <p:cNvPicPr>
            <a:picLocks noChangeAspect="1" noChangeArrowheads="1"/>
          </p:cNvPicPr>
          <p:nvPr/>
        </p:nvPicPr>
        <p:blipFill>
          <a:blip r:embed="rId2" cstate="print"/>
          <a:srcRect/>
          <a:stretch>
            <a:fillRect/>
          </a:stretch>
        </p:blipFill>
        <p:spPr bwMode="auto">
          <a:xfrm>
            <a:off x="914400" y="4724400"/>
            <a:ext cx="5638800" cy="762000"/>
          </a:xfrm>
          <a:prstGeom prst="rect">
            <a:avLst/>
          </a:prstGeom>
          <a:noFill/>
          <a:ln w="9525">
            <a:noFill/>
            <a:miter lim="800000"/>
            <a:headEnd/>
            <a:tailEnd/>
          </a:ln>
        </p:spPr>
      </p:pic>
      <p:pic>
        <p:nvPicPr>
          <p:cNvPr id="7171" name="Picture 3"/>
          <p:cNvPicPr>
            <a:picLocks noChangeAspect="1" noChangeArrowheads="1"/>
          </p:cNvPicPr>
          <p:nvPr/>
        </p:nvPicPr>
        <p:blipFill>
          <a:blip r:embed="rId3" cstate="print"/>
          <a:srcRect/>
          <a:stretch>
            <a:fillRect/>
          </a:stretch>
        </p:blipFill>
        <p:spPr bwMode="auto">
          <a:xfrm>
            <a:off x="990600" y="5486400"/>
            <a:ext cx="5334000" cy="685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Outer Join</a:t>
            </a:r>
            <a:endParaRPr lang="en-US" dirty="0"/>
          </a:p>
        </p:txBody>
      </p:sp>
      <p:sp>
        <p:nvSpPr>
          <p:cNvPr id="3" name="Content Placeholder 2"/>
          <p:cNvSpPr>
            <a:spLocks noGrp="1"/>
          </p:cNvSpPr>
          <p:nvPr>
            <p:ph idx="1"/>
          </p:nvPr>
        </p:nvSpPr>
        <p:spPr/>
        <p:txBody>
          <a:bodyPr/>
          <a:lstStyle/>
          <a:p>
            <a:r>
              <a:rPr lang="en-US" dirty="0" smtClean="0"/>
              <a:t>An </a:t>
            </a:r>
            <a:r>
              <a:rPr lang="en-US" b="1" dirty="0" smtClean="0"/>
              <a:t>outer join</a:t>
            </a:r>
            <a:r>
              <a:rPr lang="en-US" dirty="0" smtClean="0"/>
              <a:t> does not require each record in the two joined tables to have a matching record. The joined table retains each record—even if no other matching record exists. </a:t>
            </a:r>
          </a:p>
          <a:p>
            <a:pPr marL="109728" indent="0">
              <a:buNone/>
            </a:pPr>
            <a:endParaRPr lang="en-US" dirty="0" smtClean="0"/>
          </a:p>
          <a:p>
            <a:r>
              <a:rPr lang="en-US" dirty="0" smtClean="0"/>
              <a:t>Outer joins subdivide further into left outer joins, right outer joins, and full outer joins, depending on which table(s) one retains the rows from (left, right, or both).</a:t>
            </a: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Left Outer Join</a:t>
            </a:r>
            <a:endParaRPr lang="en-US" dirty="0"/>
          </a:p>
        </p:txBody>
      </p:sp>
      <p:sp>
        <p:nvSpPr>
          <p:cNvPr id="3" name="Content Placeholder 2"/>
          <p:cNvSpPr>
            <a:spLocks noGrp="1"/>
          </p:cNvSpPr>
          <p:nvPr>
            <p:ph idx="1"/>
          </p:nvPr>
        </p:nvSpPr>
        <p:spPr/>
        <p:txBody>
          <a:bodyPr>
            <a:normAutofit fontScale="70000" lnSpcReduction="20000"/>
          </a:bodyPr>
          <a:lstStyle/>
          <a:p>
            <a:r>
              <a:rPr lang="en-US" dirty="0" smtClean="0"/>
              <a:t>The result of a </a:t>
            </a:r>
            <a:r>
              <a:rPr lang="en-US" i="1" dirty="0" smtClean="0"/>
              <a:t>left outer join</a:t>
            </a:r>
            <a:r>
              <a:rPr lang="en-US" dirty="0" smtClean="0"/>
              <a:t> (or simply </a:t>
            </a:r>
            <a:r>
              <a:rPr lang="en-US" b="1" dirty="0" smtClean="0"/>
              <a:t>left join</a:t>
            </a:r>
            <a:r>
              <a:rPr lang="en-US" dirty="0" smtClean="0"/>
              <a:t>) for table A and B always contains all records of the "left" table (A), even if the join-condition does not find any matching record in the "right" table (B).</a:t>
            </a:r>
          </a:p>
          <a:p>
            <a:endParaRPr lang="en-US" dirty="0" smtClean="0"/>
          </a:p>
          <a:p>
            <a:r>
              <a:rPr lang="en-US" dirty="0" smtClean="0"/>
              <a:t>This means that if the ON clause matches 0 (zero) records in B, the join will still return a row in the result—but with NULL in each column from B.</a:t>
            </a:r>
          </a:p>
          <a:p>
            <a:endParaRPr lang="en-US" dirty="0" smtClean="0"/>
          </a:p>
          <a:p>
            <a:r>
              <a:rPr lang="en-US" dirty="0" smtClean="0"/>
              <a:t>This means that a </a:t>
            </a:r>
            <a:r>
              <a:rPr lang="en-US" b="1" dirty="0" smtClean="0"/>
              <a:t>left outer join</a:t>
            </a:r>
            <a:r>
              <a:rPr lang="en-US" dirty="0" smtClean="0"/>
              <a:t> returns all the values from the left table, plus matched values from the right table (or NULL in case of no matching join predicate).</a:t>
            </a:r>
          </a:p>
          <a:p>
            <a:endParaRPr lang="en-US" dirty="0" smtClean="0"/>
          </a:p>
          <a:p>
            <a:r>
              <a:rPr lang="en-US" dirty="0" smtClean="0"/>
              <a:t>If the right table returns one row and the left table returns more than one matching row for it, the values in the right table will be repeated for each distinct row on the left table.</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524000" y="2590800"/>
            <a:ext cx="6400799" cy="3200400"/>
          </a:xfrm>
          <a:prstGeom prst="rect">
            <a:avLst/>
          </a:prstGeom>
          <a:noFill/>
          <a:ln w="9525">
            <a:noFill/>
            <a:miter lim="800000"/>
            <a:headEnd/>
            <a:tailEnd/>
          </a:ln>
        </p:spPr>
      </p:pic>
    </p:spTree>
    <p:extLst>
      <p:ext uri="{BB962C8B-B14F-4D97-AF65-F5344CB8AC3E}">
        <p14:creationId xmlns:p14="http://schemas.microsoft.com/office/powerpoint/2010/main" val="35604051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Left Outer Join (Example)</a:t>
            </a:r>
            <a:endParaRPr lang="en-US" dirty="0"/>
          </a:p>
        </p:txBody>
      </p:sp>
      <p:pic>
        <p:nvPicPr>
          <p:cNvPr id="8194" name="Picture 2"/>
          <p:cNvPicPr>
            <a:picLocks noGrp="1" noChangeAspect="1" noChangeArrowheads="1"/>
          </p:cNvPicPr>
          <p:nvPr>
            <p:ph idx="1"/>
          </p:nvPr>
        </p:nvPicPr>
        <p:blipFill>
          <a:blip r:embed="rId2" cstate="print"/>
          <a:srcRect/>
          <a:stretch>
            <a:fillRect/>
          </a:stretch>
        </p:blipFill>
        <p:spPr bwMode="auto">
          <a:xfrm>
            <a:off x="533400" y="2590800"/>
            <a:ext cx="7010400" cy="990600"/>
          </a:xfrm>
          <a:prstGeom prst="rect">
            <a:avLst/>
          </a:prstGeom>
          <a:noFill/>
          <a:ln w="9525">
            <a:noFill/>
            <a:miter lim="800000"/>
            <a:headEnd/>
            <a:tailEnd/>
          </a:ln>
        </p:spPr>
      </p:pic>
      <p:pic>
        <p:nvPicPr>
          <p:cNvPr id="8195" name="Picture 3"/>
          <p:cNvPicPr>
            <a:picLocks noChangeAspect="1" noChangeArrowheads="1"/>
          </p:cNvPicPr>
          <p:nvPr/>
        </p:nvPicPr>
        <p:blipFill>
          <a:blip r:embed="rId3" cstate="print"/>
          <a:srcRect/>
          <a:stretch>
            <a:fillRect/>
          </a:stretch>
        </p:blipFill>
        <p:spPr bwMode="auto">
          <a:xfrm>
            <a:off x="533400" y="3962400"/>
            <a:ext cx="7543800" cy="2286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 Outer Join</a:t>
            </a:r>
            <a:endParaRPr lang="en-US" dirty="0"/>
          </a:p>
        </p:txBody>
      </p:sp>
      <p:sp>
        <p:nvSpPr>
          <p:cNvPr id="3" name="Content Placeholder 2"/>
          <p:cNvSpPr>
            <a:spLocks noGrp="1"/>
          </p:cNvSpPr>
          <p:nvPr>
            <p:ph idx="1"/>
          </p:nvPr>
        </p:nvSpPr>
        <p:spPr/>
        <p:txBody>
          <a:bodyPr>
            <a:normAutofit fontScale="77500" lnSpcReduction="20000"/>
          </a:bodyPr>
          <a:lstStyle/>
          <a:p>
            <a:r>
              <a:rPr lang="en-US" dirty="0" smtClean="0"/>
              <a:t>A </a:t>
            </a:r>
            <a:r>
              <a:rPr lang="en-US" b="1" dirty="0" smtClean="0"/>
              <a:t>right outer join</a:t>
            </a:r>
            <a:r>
              <a:rPr lang="en-US" dirty="0" smtClean="0"/>
              <a:t> (or </a:t>
            </a:r>
            <a:r>
              <a:rPr lang="en-US" b="1" dirty="0" smtClean="0"/>
              <a:t>right join</a:t>
            </a:r>
            <a:r>
              <a:rPr lang="en-US" dirty="0" smtClean="0"/>
              <a:t>) closely resembles a left outer join, except with the treatment of the tables reversed. </a:t>
            </a:r>
          </a:p>
          <a:p>
            <a:pPr marL="109728" indent="0">
              <a:buNone/>
            </a:pPr>
            <a:endParaRPr lang="en-US" dirty="0" smtClean="0"/>
          </a:p>
          <a:p>
            <a:r>
              <a:rPr lang="en-US" dirty="0" smtClean="0"/>
              <a:t>Every row from the "right" table (B) will appear in the joined table at least once. </a:t>
            </a:r>
          </a:p>
          <a:p>
            <a:pPr marL="109728" indent="0">
              <a:buNone/>
            </a:pPr>
            <a:endParaRPr lang="en-US" dirty="0" smtClean="0"/>
          </a:p>
          <a:p>
            <a:r>
              <a:rPr lang="en-US" dirty="0" smtClean="0"/>
              <a:t>If no matching row from the "left" table (A) exists, NULL will appear in columns from A for those records that have no match in B. </a:t>
            </a:r>
          </a:p>
          <a:p>
            <a:pPr marL="109728" indent="0">
              <a:buNone/>
            </a:pPr>
            <a:endParaRPr lang="en-US" dirty="0" smtClean="0"/>
          </a:p>
          <a:p>
            <a:r>
              <a:rPr lang="en-US" dirty="0" smtClean="0"/>
              <a:t>A right outer join returns all the values from the right table and matched values from the left table (NULL in case of no matching join predicate).</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524000" y="2590800"/>
            <a:ext cx="6400799" cy="3200400"/>
          </a:xfrm>
          <a:prstGeom prst="rect">
            <a:avLst/>
          </a:prstGeom>
          <a:noFill/>
          <a:ln w="9525">
            <a:noFill/>
            <a:miter lim="800000"/>
            <a:headEnd/>
            <a:tailEnd/>
          </a:ln>
        </p:spPr>
      </p:pic>
    </p:spTree>
    <p:extLst>
      <p:ext uri="{BB962C8B-B14F-4D97-AF65-F5344CB8AC3E}">
        <p14:creationId xmlns:p14="http://schemas.microsoft.com/office/powerpoint/2010/main" val="202454505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Right Outer Join (Example)</a:t>
            </a:r>
            <a:endParaRPr lang="en-US" dirty="0"/>
          </a:p>
        </p:txBody>
      </p:sp>
      <p:pic>
        <p:nvPicPr>
          <p:cNvPr id="9218" name="Picture 2"/>
          <p:cNvPicPr>
            <a:picLocks noGrp="1" noChangeAspect="1" noChangeArrowheads="1"/>
          </p:cNvPicPr>
          <p:nvPr>
            <p:ph idx="1"/>
          </p:nvPr>
        </p:nvPicPr>
        <p:blipFill>
          <a:blip r:embed="rId2" cstate="print"/>
          <a:srcRect/>
          <a:stretch>
            <a:fillRect/>
          </a:stretch>
        </p:blipFill>
        <p:spPr bwMode="auto">
          <a:xfrm>
            <a:off x="533400" y="2514600"/>
            <a:ext cx="6477000" cy="1143000"/>
          </a:xfrm>
          <a:prstGeom prst="rect">
            <a:avLst/>
          </a:prstGeom>
          <a:noFill/>
          <a:ln w="9525">
            <a:noFill/>
            <a:miter lim="800000"/>
            <a:headEnd/>
            <a:tailEnd/>
          </a:ln>
        </p:spPr>
      </p:pic>
      <p:pic>
        <p:nvPicPr>
          <p:cNvPr id="9220" name="Picture 4"/>
          <p:cNvPicPr>
            <a:picLocks noChangeAspect="1" noChangeArrowheads="1"/>
          </p:cNvPicPr>
          <p:nvPr/>
        </p:nvPicPr>
        <p:blipFill>
          <a:blip r:embed="rId3" cstate="print"/>
          <a:srcRect/>
          <a:stretch>
            <a:fillRect/>
          </a:stretch>
        </p:blipFill>
        <p:spPr bwMode="auto">
          <a:xfrm>
            <a:off x="533400" y="3810000"/>
            <a:ext cx="7848600"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Outer Join</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Conceptually, a </a:t>
            </a:r>
            <a:r>
              <a:rPr lang="en-US" b="1" dirty="0" smtClean="0"/>
              <a:t>full outer join</a:t>
            </a:r>
            <a:r>
              <a:rPr lang="en-US" dirty="0" smtClean="0"/>
              <a:t> combines the effect of applying both left and right outer joins.</a:t>
            </a:r>
          </a:p>
          <a:p>
            <a:endParaRPr lang="en-US" dirty="0"/>
          </a:p>
          <a:p>
            <a:r>
              <a:rPr lang="en-US" dirty="0" smtClean="0"/>
              <a:t> Where records in the FULL OUTER </a:t>
            </a:r>
            <a:r>
              <a:rPr lang="en-US" dirty="0" err="1" smtClean="0"/>
              <a:t>JOINed</a:t>
            </a:r>
            <a:r>
              <a:rPr lang="en-US" dirty="0" smtClean="0"/>
              <a:t> tables </a:t>
            </a:r>
            <a:r>
              <a:rPr lang="en-US" u="sng" dirty="0" smtClean="0"/>
              <a:t>do not match</a:t>
            </a:r>
            <a:r>
              <a:rPr lang="en-US" dirty="0" smtClean="0"/>
              <a:t>, the result set will have NULL values for every column of the table that lacks a matching row. </a:t>
            </a:r>
          </a:p>
          <a:p>
            <a:endParaRPr lang="en-US" dirty="0"/>
          </a:p>
          <a:p>
            <a:r>
              <a:rPr lang="en-US" dirty="0" smtClean="0"/>
              <a:t>For those records that </a:t>
            </a:r>
            <a:r>
              <a:rPr lang="en-US" u="sng" dirty="0" smtClean="0"/>
              <a:t>do match</a:t>
            </a:r>
            <a:r>
              <a:rPr lang="en-US" dirty="0" smtClean="0"/>
              <a:t>, a single row will be produced in the result set (containing fields populated from both tables).</a:t>
            </a:r>
            <a:endParaRPr lang="en-US"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6" name="Picture 2"/>
          <p:cNvPicPr>
            <a:picLocks noGrp="1" noChangeAspect="1" noChangeArrowheads="1"/>
          </p:cNvPicPr>
          <p:nvPr>
            <p:ph idx="1"/>
          </p:nvPr>
        </p:nvPicPr>
        <p:blipFill>
          <a:blip r:embed="rId2" cstate="print"/>
          <a:srcRect/>
          <a:stretch>
            <a:fillRect/>
          </a:stretch>
        </p:blipFill>
        <p:spPr bwMode="auto">
          <a:xfrm>
            <a:off x="1524000" y="2590800"/>
            <a:ext cx="6400799" cy="3200400"/>
          </a:xfrm>
          <a:prstGeom prst="rect">
            <a:avLst/>
          </a:prstGeom>
          <a:noFill/>
          <a:ln w="9525">
            <a:noFill/>
            <a:miter lim="800000"/>
            <a:headEnd/>
            <a:tailEnd/>
          </a:ln>
        </p:spPr>
      </p:pic>
    </p:spTree>
    <p:extLst>
      <p:ext uri="{BB962C8B-B14F-4D97-AF65-F5344CB8AC3E}">
        <p14:creationId xmlns:p14="http://schemas.microsoft.com/office/powerpoint/2010/main" val="202454505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Full Outer Join (Example)</a:t>
            </a:r>
            <a:endParaRPr lang="en-US" dirty="0"/>
          </a:p>
        </p:txBody>
      </p:sp>
      <p:pic>
        <p:nvPicPr>
          <p:cNvPr id="10242" name="Picture 2"/>
          <p:cNvPicPr>
            <a:picLocks noGrp="1" noChangeAspect="1" noChangeArrowheads="1"/>
          </p:cNvPicPr>
          <p:nvPr>
            <p:ph idx="1"/>
          </p:nvPr>
        </p:nvPicPr>
        <p:blipFill>
          <a:blip r:embed="rId2" cstate="print"/>
          <a:srcRect/>
          <a:stretch>
            <a:fillRect/>
          </a:stretch>
        </p:blipFill>
        <p:spPr bwMode="auto">
          <a:xfrm>
            <a:off x="457200" y="2590800"/>
            <a:ext cx="6858000" cy="1066800"/>
          </a:xfrm>
          <a:prstGeom prst="rect">
            <a:avLst/>
          </a:prstGeom>
          <a:noFill/>
          <a:ln w="9525">
            <a:noFill/>
            <a:miter lim="800000"/>
            <a:headEnd/>
            <a:tailEnd/>
          </a:ln>
        </p:spPr>
      </p:pic>
      <p:pic>
        <p:nvPicPr>
          <p:cNvPr id="10243" name="Picture 3"/>
          <p:cNvPicPr>
            <a:picLocks noChangeAspect="1" noChangeArrowheads="1"/>
          </p:cNvPicPr>
          <p:nvPr/>
        </p:nvPicPr>
        <p:blipFill>
          <a:blip r:embed="rId3" cstate="print"/>
          <a:srcRect/>
          <a:stretch>
            <a:fillRect/>
          </a:stretch>
        </p:blipFill>
        <p:spPr bwMode="auto">
          <a:xfrm>
            <a:off x="381000" y="3810000"/>
            <a:ext cx="7924800" cy="243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 Join</a:t>
            </a:r>
            <a:endParaRPr lang="en-US" dirty="0"/>
          </a:p>
        </p:txBody>
      </p:sp>
      <p:sp>
        <p:nvSpPr>
          <p:cNvPr id="3" name="Content Placeholder 2"/>
          <p:cNvSpPr>
            <a:spLocks noGrp="1"/>
          </p:cNvSpPr>
          <p:nvPr>
            <p:ph idx="1"/>
          </p:nvPr>
        </p:nvSpPr>
        <p:spPr/>
        <p:txBody>
          <a:bodyPr>
            <a:normAutofit fontScale="92500"/>
          </a:bodyPr>
          <a:lstStyle/>
          <a:p>
            <a:r>
              <a:rPr lang="en-US" dirty="0" smtClean="0"/>
              <a:t>A self-join is joining a table to itself.</a:t>
            </a:r>
            <a:r>
              <a:rPr lang="en-US" baseline="30000" dirty="0" smtClean="0"/>
              <a:t> </a:t>
            </a:r>
            <a:r>
              <a:rPr lang="en-US" dirty="0" smtClean="0"/>
              <a:t>This is best illustrated by an example.</a:t>
            </a:r>
          </a:p>
          <a:p>
            <a:r>
              <a:rPr lang="en-US" dirty="0" smtClean="0"/>
              <a:t>A query to find all pairings of two employees in the same country is desired. If there were two separate tables for employees and a query which requested employees in the first table having the same country as employees in the second table, a normal join operation could be used to find the answer table. However, all the employee information is contained within a single large table.</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Self Join (Example)</a:t>
            </a:r>
            <a:endParaRPr lang="en-US" dirty="0"/>
          </a:p>
        </p:txBody>
      </p:sp>
      <p:pic>
        <p:nvPicPr>
          <p:cNvPr id="11266" name="Picture 2"/>
          <p:cNvPicPr>
            <a:picLocks noGrp="1" noChangeAspect="1" noChangeArrowheads="1"/>
          </p:cNvPicPr>
          <p:nvPr>
            <p:ph idx="1"/>
          </p:nvPr>
        </p:nvPicPr>
        <p:blipFill>
          <a:blip r:embed="rId2" cstate="print"/>
          <a:srcRect/>
          <a:stretch>
            <a:fillRect/>
          </a:stretch>
        </p:blipFill>
        <p:spPr bwMode="auto">
          <a:xfrm>
            <a:off x="609600" y="2362200"/>
            <a:ext cx="3581400" cy="1933575"/>
          </a:xfrm>
          <a:prstGeom prst="rect">
            <a:avLst/>
          </a:prstGeom>
          <a:noFill/>
          <a:ln w="9525">
            <a:noFill/>
            <a:miter lim="800000"/>
            <a:headEnd/>
            <a:tailEnd/>
          </a:ln>
        </p:spPr>
      </p:pic>
      <p:pic>
        <p:nvPicPr>
          <p:cNvPr id="11267" name="Picture 3"/>
          <p:cNvPicPr>
            <a:picLocks noChangeAspect="1" noChangeArrowheads="1"/>
          </p:cNvPicPr>
          <p:nvPr/>
        </p:nvPicPr>
        <p:blipFill>
          <a:blip r:embed="rId3" cstate="print"/>
          <a:srcRect/>
          <a:stretch>
            <a:fillRect/>
          </a:stretch>
        </p:blipFill>
        <p:spPr bwMode="auto">
          <a:xfrm>
            <a:off x="4648200" y="2438400"/>
            <a:ext cx="3886200" cy="1524000"/>
          </a:xfrm>
          <a:prstGeom prst="rect">
            <a:avLst/>
          </a:prstGeom>
          <a:noFill/>
          <a:ln w="9525">
            <a:noFill/>
            <a:miter lim="800000"/>
            <a:headEnd/>
            <a:tailEnd/>
          </a:ln>
        </p:spPr>
      </p:pic>
      <p:pic>
        <p:nvPicPr>
          <p:cNvPr id="11268" name="Picture 4"/>
          <p:cNvPicPr>
            <a:picLocks noChangeAspect="1" noChangeArrowheads="1"/>
          </p:cNvPicPr>
          <p:nvPr/>
        </p:nvPicPr>
        <p:blipFill>
          <a:blip r:embed="rId4" cstate="print"/>
          <a:srcRect/>
          <a:stretch>
            <a:fillRect/>
          </a:stretch>
        </p:blipFill>
        <p:spPr bwMode="auto">
          <a:xfrm>
            <a:off x="533400" y="4572000"/>
            <a:ext cx="6477000" cy="1676400"/>
          </a:xfrm>
          <a:prstGeom prst="rect">
            <a:avLst/>
          </a:prstGeom>
          <a:noFill/>
          <a:ln w="9525">
            <a:noFill/>
            <a:miter lim="800000"/>
            <a:headEnd/>
            <a:tailEnd/>
          </a:ln>
        </p:spPr>
      </p:pic>
      <p:pic>
        <p:nvPicPr>
          <p:cNvPr id="6" name="Picture 2"/>
          <p:cNvPicPr>
            <a:picLocks noChangeAspect="1" noChangeArrowheads="1"/>
          </p:cNvPicPr>
          <p:nvPr/>
        </p:nvPicPr>
        <p:blipFill>
          <a:blip r:embed="rId2" cstate="print"/>
          <a:srcRect/>
          <a:stretch>
            <a:fillRect/>
          </a:stretch>
        </p:blipFill>
        <p:spPr bwMode="auto">
          <a:xfrm>
            <a:off x="5219700" y="532534"/>
            <a:ext cx="3581400" cy="19335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2050" name="Picture 2" descr="enter image description her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0824" y="2362200"/>
            <a:ext cx="8662780" cy="4267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9677862"/>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602</TotalTime>
  <Words>476</Words>
  <Application>Microsoft Office PowerPoint</Application>
  <PresentationFormat>On-screen Show (4:3)</PresentationFormat>
  <Paragraphs>109</Paragraphs>
  <Slides>35</Slides>
  <Notes>1</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Urban</vt:lpstr>
      <vt:lpstr>Database Systems </vt:lpstr>
      <vt:lpstr>Today’s agenda</vt:lpstr>
      <vt:lpstr>Join</vt:lpstr>
      <vt:lpstr>PowerPoint Presentation</vt:lpstr>
      <vt:lpstr>Join</vt:lpstr>
      <vt:lpstr>Join</vt:lpstr>
      <vt:lpstr>Join</vt:lpstr>
      <vt:lpstr>Natural Join</vt:lpstr>
      <vt:lpstr>PowerPoint Presentation</vt:lpstr>
      <vt:lpstr>Natural Join (Example)</vt:lpstr>
      <vt:lpstr>PowerPoint Presentation</vt:lpstr>
      <vt:lpstr>Result of Two Natural Join</vt:lpstr>
      <vt:lpstr>Inner join</vt:lpstr>
      <vt:lpstr>Equijoin</vt:lpstr>
      <vt:lpstr>PowerPoint Presentation</vt:lpstr>
      <vt:lpstr>Equijoin (Example)</vt:lpstr>
      <vt:lpstr>θ-join</vt:lpstr>
      <vt:lpstr>Semi Join (   ) and (   )</vt:lpstr>
      <vt:lpstr>Semi Join (Example)</vt:lpstr>
      <vt:lpstr>Antijoin(  ) </vt:lpstr>
      <vt:lpstr>Anti Join (Example)</vt:lpstr>
      <vt:lpstr>Cross Join</vt:lpstr>
      <vt:lpstr>Outer Join</vt:lpstr>
      <vt:lpstr>Left Outer Join</vt:lpstr>
      <vt:lpstr>PowerPoint Presentation</vt:lpstr>
      <vt:lpstr>Left Outer Join (Example)</vt:lpstr>
      <vt:lpstr>Right Outer Join</vt:lpstr>
      <vt:lpstr>PowerPoint Presentation</vt:lpstr>
      <vt:lpstr>Right Outer Join (Example)</vt:lpstr>
      <vt:lpstr>Full Outer Join</vt:lpstr>
      <vt:lpstr>PowerPoint Presentation</vt:lpstr>
      <vt:lpstr>Full Outer Join (Example)</vt:lpstr>
      <vt:lpstr>Self Join</vt:lpstr>
      <vt:lpstr>Self Join (Example)</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dc:title>
  <dc:creator>RANA</dc:creator>
  <cp:lastModifiedBy>MEHTAB</cp:lastModifiedBy>
  <cp:revision>38</cp:revision>
  <dcterms:created xsi:type="dcterms:W3CDTF">2006-08-16T00:00:00Z</dcterms:created>
  <dcterms:modified xsi:type="dcterms:W3CDTF">2021-05-19T06:11:41Z</dcterms:modified>
</cp:coreProperties>
</file>
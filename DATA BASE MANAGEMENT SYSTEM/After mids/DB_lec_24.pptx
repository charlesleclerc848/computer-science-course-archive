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258" r:id="rId3"/>
    <p:sldId id="267" r:id="rId4"/>
    <p:sldId id="268" r:id="rId5"/>
    <p:sldId id="281" r:id="rId6"/>
    <p:sldId id="271" r:id="rId7"/>
    <p:sldId id="272" r:id="rId8"/>
    <p:sldId id="284" r:id="rId9"/>
    <p:sldId id="285" r:id="rId10"/>
    <p:sldId id="273" r:id="rId11"/>
    <p:sldId id="286" r:id="rId12"/>
    <p:sldId id="287" r:id="rId13"/>
    <p:sldId id="274" r:id="rId14"/>
    <p:sldId id="296" r:id="rId15"/>
    <p:sldId id="288" r:id="rId16"/>
    <p:sldId id="275" r:id="rId17"/>
    <p:sldId id="295" r:id="rId18"/>
    <p:sldId id="289" r:id="rId19"/>
    <p:sldId id="290" r:id="rId20"/>
    <p:sldId id="278" r:id="rId21"/>
    <p:sldId id="279" r:id="rId22"/>
    <p:sldId id="292" r:id="rId23"/>
    <p:sldId id="293" r:id="rId24"/>
    <p:sldId id="294" r:id="rId25"/>
    <p:sldId id="297" r:id="rId26"/>
    <p:sldId id="298" r:id="rId27"/>
    <p:sldId id="299" r:id="rId28"/>
    <p:sldId id="300" r:id="rId29"/>
    <p:sldId id="301" r:id="rId30"/>
    <p:sldId id="302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4A5091-3F6C-4A8A-B948-852BE2472831}" type="datetimeFigureOut">
              <a:rPr lang="en-US" smtClean="0"/>
              <a:pPr/>
              <a:t>5/28/2022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5A925A-73C6-4157-9B1D-923C980BC7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40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219200"/>
            <a:ext cx="7772400" cy="1470025"/>
          </a:xfrm>
        </p:spPr>
        <p:txBody>
          <a:bodyPr/>
          <a:lstStyle/>
          <a:p>
            <a:r>
              <a:rPr lang="en-US" dirty="0" smtClean="0"/>
              <a:t>Database Systems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Normalization</a:t>
            </a: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286000" y="3048000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 smtClean="0"/>
              <a:t>Lecture 24</a:t>
            </a:r>
            <a:endParaRPr lang="en-US" sz="2800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cs typeface="Times New Roman" pitchFamily="18" charset="0"/>
              </a:rPr>
              <a:t>Today’s Agenda</a:t>
            </a:r>
            <a:endParaRPr lang="en-US" dirty="0"/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 smtClean="0">
                <a:cs typeface="Times New Roman" pitchFamily="18" charset="0"/>
              </a:rPr>
              <a:t>Second </a:t>
            </a:r>
            <a:r>
              <a:rPr lang="en-US" sz="2800" dirty="0">
                <a:cs typeface="Times New Roman" pitchFamily="18" charset="0"/>
              </a:rPr>
              <a:t>Normal Form</a:t>
            </a:r>
          </a:p>
          <a:p>
            <a:r>
              <a:rPr lang="en-US" sz="2800" dirty="0" smtClean="0">
                <a:cs typeface="Times New Roman" pitchFamily="18" charset="0"/>
              </a:rPr>
              <a:t>Third </a:t>
            </a:r>
            <a:r>
              <a:rPr lang="en-US" sz="2800" dirty="0">
                <a:cs typeface="Times New Roman" pitchFamily="18" charset="0"/>
              </a:rPr>
              <a:t>Normal Form</a:t>
            </a:r>
          </a:p>
          <a:p>
            <a:pPr>
              <a:buFont typeface="Wingdings" pitchFamily="2" charset="2"/>
              <a:buNone/>
            </a:pPr>
            <a:endParaRPr lang="en-US" sz="2800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533400"/>
            <a:ext cx="7173912" cy="1143000"/>
          </a:xfrm>
        </p:spPr>
        <p:txBody>
          <a:bodyPr/>
          <a:lstStyle/>
          <a:p>
            <a:r>
              <a:rPr lang="en-US" sz="3200" b="1" dirty="0" smtClean="0">
                <a:cs typeface="Times New Roman" pitchFamily="18" charset="0"/>
              </a:rPr>
              <a:t>Second </a:t>
            </a:r>
            <a:r>
              <a:rPr lang="en-US" sz="3200" b="1" dirty="0">
                <a:cs typeface="Times New Roman" pitchFamily="18" charset="0"/>
              </a:rPr>
              <a:t>Normal Form (1)</a:t>
            </a:r>
            <a:r>
              <a:rPr lang="en-US" dirty="0"/>
              <a:t> 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49400"/>
            <a:ext cx="7772400" cy="45339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400">
                <a:cs typeface="Times New Roman" pitchFamily="18" charset="0"/>
              </a:rPr>
              <a:t>Uses the concepts of </a:t>
            </a:r>
            <a:r>
              <a:rPr lang="en-US" sz="2400" b="1">
                <a:cs typeface="Times New Roman" pitchFamily="18" charset="0"/>
              </a:rPr>
              <a:t>FD</a:t>
            </a:r>
            <a:r>
              <a:rPr lang="en-US" sz="2400">
                <a:cs typeface="Times New Roman" pitchFamily="18" charset="0"/>
              </a:rPr>
              <a:t>s, </a:t>
            </a:r>
            <a:r>
              <a:rPr lang="en-US" sz="2400" b="1">
                <a:cs typeface="Times New Roman" pitchFamily="18" charset="0"/>
              </a:rPr>
              <a:t>primary key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 u="sng">
                <a:cs typeface="Times New Roman" pitchFamily="18" charset="0"/>
              </a:rPr>
              <a:t>Definitions:</a:t>
            </a:r>
            <a:endParaRPr lang="en-US" sz="2800"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800" b="1">
                <a:cs typeface="Times New Roman" pitchFamily="18" charset="0"/>
              </a:rPr>
              <a:t>Prime attribute</a:t>
            </a:r>
            <a:r>
              <a:rPr lang="en-US" sz="2800">
                <a:cs typeface="Times New Roman" pitchFamily="18" charset="0"/>
              </a:rPr>
              <a:t> - attribute that is member of the primary key K</a:t>
            </a:r>
          </a:p>
          <a:p>
            <a:pPr>
              <a:lnSpc>
                <a:spcPct val="90000"/>
              </a:lnSpc>
            </a:pPr>
            <a:r>
              <a:rPr lang="en-US" sz="2800" b="1">
                <a:cs typeface="Times New Roman" pitchFamily="18" charset="0"/>
              </a:rPr>
              <a:t>Full functional dependency</a:t>
            </a:r>
            <a:r>
              <a:rPr lang="en-US" sz="2800">
                <a:cs typeface="Times New Roman" pitchFamily="18" charset="0"/>
              </a:rPr>
              <a:t> - a FD  Y </a:t>
            </a:r>
            <a:r>
              <a:rPr lang="en-US" sz="2800">
                <a:latin typeface="BostonII" charset="0"/>
                <a:cs typeface="Times New Roman" pitchFamily="18" charset="0"/>
              </a:rPr>
              <a:t>-&gt; </a:t>
            </a:r>
            <a:r>
              <a:rPr lang="en-US" sz="2800">
                <a:cs typeface="Times New Roman" pitchFamily="18" charset="0"/>
              </a:rPr>
              <a:t>Z where removal of any attribute from Y means the FD does not hold any more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>
                <a:cs typeface="Times New Roman" pitchFamily="18" charset="0"/>
              </a:rPr>
              <a:t>	</a:t>
            </a:r>
            <a:r>
              <a:rPr lang="en-US" sz="2200" u="sng">
                <a:cs typeface="Times New Roman" pitchFamily="18" charset="0"/>
              </a:rPr>
              <a:t>Examples:</a:t>
            </a:r>
            <a:r>
              <a:rPr lang="en-US" sz="2200">
                <a:cs typeface="Times New Roman" pitchFamily="18" charset="0"/>
              </a:rPr>
              <a:t>	- {SSN, PNUMBER} </a:t>
            </a:r>
            <a:r>
              <a:rPr lang="en-US" sz="2200">
                <a:latin typeface="BostonII" charset="0"/>
                <a:cs typeface="Times New Roman" pitchFamily="18" charset="0"/>
              </a:rPr>
              <a:t>-&gt; </a:t>
            </a:r>
            <a:r>
              <a:rPr lang="en-US" sz="2200">
                <a:cs typeface="Times New Roman" pitchFamily="18" charset="0"/>
              </a:rPr>
              <a:t>HOURS is a full FD since neither SSN </a:t>
            </a:r>
            <a:r>
              <a:rPr lang="en-US" sz="2200">
                <a:latin typeface="BostonII" charset="0"/>
                <a:cs typeface="Times New Roman" pitchFamily="18" charset="0"/>
              </a:rPr>
              <a:t>-&gt; </a:t>
            </a:r>
            <a:r>
              <a:rPr lang="en-US" sz="2200">
                <a:cs typeface="Times New Roman" pitchFamily="18" charset="0"/>
              </a:rPr>
              <a:t>HOURS nor PNUMBER </a:t>
            </a:r>
            <a:r>
              <a:rPr lang="en-US" sz="2200">
                <a:latin typeface="BostonII" charset="0"/>
                <a:cs typeface="Times New Roman" pitchFamily="18" charset="0"/>
              </a:rPr>
              <a:t>-&gt; </a:t>
            </a:r>
            <a:r>
              <a:rPr lang="en-US" sz="2200">
                <a:cs typeface="Times New Roman" pitchFamily="18" charset="0"/>
              </a:rPr>
              <a:t>HOURS hold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>
                <a:cs typeface="Times New Roman" pitchFamily="18" charset="0"/>
              </a:rPr>
              <a:t>	</a:t>
            </a:r>
            <a:r>
              <a:rPr lang="en-US" sz="2200">
                <a:cs typeface="Times New Roman" pitchFamily="18" charset="0"/>
              </a:rPr>
              <a:t>- {SSN, PNUMBER} </a:t>
            </a:r>
            <a:r>
              <a:rPr lang="en-US" sz="2200">
                <a:latin typeface="BostonII" charset="0"/>
                <a:cs typeface="Times New Roman" pitchFamily="18" charset="0"/>
              </a:rPr>
              <a:t>-&gt; </a:t>
            </a:r>
            <a:r>
              <a:rPr lang="en-US" sz="2200">
                <a:cs typeface="Times New Roman" pitchFamily="18" charset="0"/>
              </a:rPr>
              <a:t>ENAME is </a:t>
            </a:r>
            <a:r>
              <a:rPr lang="en-US" sz="2200" i="1">
                <a:cs typeface="Times New Roman" pitchFamily="18" charset="0"/>
              </a:rPr>
              <a:t>not</a:t>
            </a:r>
            <a:r>
              <a:rPr lang="en-US" sz="2200">
                <a:cs typeface="Times New Roman" pitchFamily="18" charset="0"/>
              </a:rPr>
              <a:t>  a full FD (it is called a </a:t>
            </a:r>
            <a:r>
              <a:rPr lang="en-US" sz="2200" i="1">
                <a:cs typeface="Times New Roman" pitchFamily="18" charset="0"/>
              </a:rPr>
              <a:t>partial dependency</a:t>
            </a:r>
            <a:r>
              <a:rPr lang="en-US" sz="2200">
                <a:cs typeface="Times New Roman" pitchFamily="18" charset="0"/>
              </a:rPr>
              <a:t> ) since SSN </a:t>
            </a:r>
            <a:r>
              <a:rPr lang="en-US" sz="2200">
                <a:latin typeface="BostonII" charset="0"/>
                <a:cs typeface="Times New Roman" pitchFamily="18" charset="0"/>
              </a:rPr>
              <a:t>-&gt; </a:t>
            </a:r>
            <a:r>
              <a:rPr lang="en-US" sz="2200">
                <a:cs typeface="Times New Roman" pitchFamily="18" charset="0"/>
              </a:rPr>
              <a:t>ENAME also holds</a:t>
            </a:r>
            <a:r>
              <a:rPr lang="en-US" sz="2200"/>
              <a:t>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cs typeface="Times New Roman" pitchFamily="18" charset="0"/>
              </a:rPr>
              <a:t>Second Normal Form (2)</a:t>
            </a:r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Times New Roman" pitchFamily="18" charset="0"/>
              </a:rPr>
              <a:t>A relation schema R is in </a:t>
            </a:r>
            <a:r>
              <a:rPr lang="en-US" b="1">
                <a:cs typeface="Times New Roman" pitchFamily="18" charset="0"/>
              </a:rPr>
              <a:t>second normal form </a:t>
            </a:r>
            <a:r>
              <a:rPr lang="en-US">
                <a:cs typeface="Times New Roman" pitchFamily="18" charset="0"/>
              </a:rPr>
              <a:t>(</a:t>
            </a:r>
            <a:r>
              <a:rPr lang="en-US" b="1">
                <a:cs typeface="Times New Roman" pitchFamily="18" charset="0"/>
              </a:rPr>
              <a:t>2NF</a:t>
            </a:r>
            <a:r>
              <a:rPr lang="en-US">
                <a:cs typeface="Times New Roman" pitchFamily="18" charset="0"/>
              </a:rPr>
              <a:t>) if every non-prime attribute A in R is fully functionally dependent on the primary key</a:t>
            </a:r>
          </a:p>
          <a:p>
            <a:pPr>
              <a:buFont typeface="Wingdings" pitchFamily="2" charset="2"/>
              <a:buNone/>
            </a:pPr>
            <a:endParaRPr lang="en-US">
              <a:cs typeface="Times New Roman" pitchFamily="18" charset="0"/>
            </a:endParaRPr>
          </a:p>
          <a:p>
            <a:r>
              <a:rPr lang="en-US">
                <a:cs typeface="Times New Roman" pitchFamily="18" charset="0"/>
              </a:rPr>
              <a:t>R can be decomposed into 2NF relations via the process of 2NF normalization</a:t>
            </a:r>
            <a:r>
              <a:rPr lang="en-US"/>
              <a:t>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9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0"/>
            <a:ext cx="7620000" cy="1371600"/>
          </a:xfrm>
        </p:spPr>
        <p:txBody>
          <a:bodyPr>
            <a:noAutofit/>
          </a:bodyPr>
          <a:lstStyle/>
          <a:p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dirty="0"/>
              <a:t>Normalizing into 2NF and 3NF. </a:t>
            </a:r>
            <a:br>
              <a:rPr lang="en-US" sz="2400" dirty="0"/>
            </a:br>
            <a:r>
              <a:rPr lang="en-US" sz="2400" dirty="0"/>
              <a:t>(a) Normalizing EMP_PROJ into 2NF relations </a:t>
            </a:r>
            <a:br>
              <a:rPr lang="en-US" sz="2400" dirty="0"/>
            </a:br>
            <a:endParaRPr lang="en-US" sz="24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2971800"/>
            <a:ext cx="5762625" cy="317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cs typeface="Times New Roman" pitchFamily="18" charset="0"/>
              </a:rPr>
              <a:t>Third </a:t>
            </a:r>
            <a:r>
              <a:rPr lang="en-US" sz="3200" b="1" dirty="0">
                <a:cs typeface="Times New Roman" pitchFamily="18" charset="0"/>
              </a:rPr>
              <a:t>Normal Form</a:t>
            </a:r>
            <a:r>
              <a:rPr lang="en-US" sz="3200" dirty="0"/>
              <a:t> (1)</a:t>
            </a:r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sz="2400" u="sng" dirty="0">
                <a:cs typeface="Times New Roman" pitchFamily="18" charset="0"/>
              </a:rPr>
              <a:t>Definition:</a:t>
            </a:r>
            <a:endParaRPr lang="en-US" sz="2400" dirty="0">
              <a:cs typeface="Times New Roman" pitchFamily="18" charset="0"/>
            </a:endParaRPr>
          </a:p>
          <a:p>
            <a:r>
              <a:rPr lang="en-US" sz="2400" b="1" dirty="0">
                <a:cs typeface="Times New Roman" pitchFamily="18" charset="0"/>
              </a:rPr>
              <a:t>Transitive functional dependency</a:t>
            </a:r>
            <a:r>
              <a:rPr lang="en-US" sz="2400" dirty="0">
                <a:cs typeface="Times New Roman" pitchFamily="18" charset="0"/>
              </a:rPr>
              <a:t> - </a:t>
            </a:r>
            <a:r>
              <a:rPr lang="en-US" sz="2000" dirty="0">
                <a:cs typeface="Times New Roman" pitchFamily="18" charset="0"/>
              </a:rPr>
              <a:t>a FD  X </a:t>
            </a:r>
            <a:r>
              <a:rPr lang="en-US" sz="2000" dirty="0">
                <a:latin typeface="BostonII" charset="0"/>
                <a:cs typeface="Times New Roman" pitchFamily="18" charset="0"/>
              </a:rPr>
              <a:t>-&gt; </a:t>
            </a:r>
            <a:r>
              <a:rPr lang="en-US" sz="2000" dirty="0">
                <a:cs typeface="Times New Roman" pitchFamily="18" charset="0"/>
              </a:rPr>
              <a:t>Z that can be derived from two FDs   X </a:t>
            </a:r>
            <a:r>
              <a:rPr lang="en-US" sz="2000" dirty="0">
                <a:latin typeface="BostonII" charset="0"/>
                <a:cs typeface="Times New Roman" pitchFamily="18" charset="0"/>
              </a:rPr>
              <a:t>-&gt; </a:t>
            </a:r>
            <a:r>
              <a:rPr lang="en-US" sz="2000" dirty="0">
                <a:cs typeface="Times New Roman" pitchFamily="18" charset="0"/>
              </a:rPr>
              <a:t>Y and Y </a:t>
            </a:r>
            <a:r>
              <a:rPr lang="en-US" sz="2000" dirty="0">
                <a:latin typeface="BostonII" charset="0"/>
                <a:cs typeface="Times New Roman" pitchFamily="18" charset="0"/>
              </a:rPr>
              <a:t>-&gt; </a:t>
            </a:r>
            <a:r>
              <a:rPr lang="en-US" sz="2000" dirty="0">
                <a:cs typeface="Times New Roman" pitchFamily="18" charset="0"/>
              </a:rPr>
              <a:t>Z</a:t>
            </a:r>
            <a:r>
              <a:rPr lang="en-US" sz="2400" dirty="0">
                <a:cs typeface="Times New Roman" pitchFamily="18" charset="0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cs typeface="Times New Roman" pitchFamily="18" charset="0"/>
              </a:rPr>
              <a:t>	</a:t>
            </a:r>
            <a:r>
              <a:rPr lang="en-US" sz="2000" u="sng" dirty="0">
                <a:cs typeface="Times New Roman" pitchFamily="18" charset="0"/>
              </a:rPr>
              <a:t>Examples: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cs typeface="Times New Roman" pitchFamily="18" charset="0"/>
              </a:rPr>
              <a:t>	- </a:t>
            </a:r>
            <a:r>
              <a:rPr lang="en-US" sz="2000" dirty="0">
                <a:cs typeface="Times New Roman" pitchFamily="18" charset="0"/>
              </a:rPr>
              <a:t>SSN </a:t>
            </a:r>
            <a:r>
              <a:rPr lang="en-US" sz="2000" dirty="0">
                <a:latin typeface="BostonII" charset="0"/>
                <a:cs typeface="Times New Roman" pitchFamily="18" charset="0"/>
              </a:rPr>
              <a:t>-&gt; </a:t>
            </a:r>
            <a:r>
              <a:rPr lang="en-US" sz="2000" dirty="0">
                <a:cs typeface="Times New Roman" pitchFamily="18" charset="0"/>
              </a:rPr>
              <a:t>DMGRSSN is a </a:t>
            </a:r>
            <a:r>
              <a:rPr lang="en-US" sz="2000" i="1" dirty="0">
                <a:cs typeface="Times New Roman" pitchFamily="18" charset="0"/>
              </a:rPr>
              <a:t>transitive</a:t>
            </a:r>
            <a:r>
              <a:rPr lang="en-US" sz="2000" dirty="0">
                <a:cs typeface="Times New Roman" pitchFamily="18" charset="0"/>
              </a:rPr>
              <a:t> FD since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cs typeface="Times New Roman" pitchFamily="18" charset="0"/>
              </a:rPr>
              <a:t>	SSN </a:t>
            </a:r>
            <a:r>
              <a:rPr lang="en-US" sz="2000" dirty="0">
                <a:latin typeface="BostonII" charset="0"/>
                <a:cs typeface="Times New Roman" pitchFamily="18" charset="0"/>
              </a:rPr>
              <a:t>-&gt; </a:t>
            </a:r>
            <a:r>
              <a:rPr lang="en-US" sz="2000" dirty="0">
                <a:cs typeface="Times New Roman" pitchFamily="18" charset="0"/>
              </a:rPr>
              <a:t>DNUMBER and DNUMBER </a:t>
            </a:r>
            <a:r>
              <a:rPr lang="en-US" sz="2000" dirty="0">
                <a:latin typeface="BostonII" charset="0"/>
                <a:cs typeface="Times New Roman" pitchFamily="18" charset="0"/>
              </a:rPr>
              <a:t>-&gt; </a:t>
            </a:r>
            <a:r>
              <a:rPr lang="en-US" sz="2000" dirty="0">
                <a:cs typeface="Times New Roman" pitchFamily="18" charset="0"/>
              </a:rPr>
              <a:t>DMGRSSN hold 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cs typeface="Times New Roman" pitchFamily="18" charset="0"/>
              </a:rPr>
              <a:t>	- SSN </a:t>
            </a:r>
            <a:r>
              <a:rPr lang="en-US" sz="2000" dirty="0">
                <a:latin typeface="BostonII" charset="0"/>
                <a:cs typeface="Times New Roman" pitchFamily="18" charset="0"/>
              </a:rPr>
              <a:t>-&gt; </a:t>
            </a:r>
            <a:r>
              <a:rPr lang="en-US" sz="2000" dirty="0">
                <a:cs typeface="Times New Roman" pitchFamily="18" charset="0"/>
              </a:rPr>
              <a:t>ENAME is </a:t>
            </a:r>
            <a:r>
              <a:rPr lang="en-US" sz="2000" i="1" dirty="0">
                <a:cs typeface="Times New Roman" pitchFamily="18" charset="0"/>
              </a:rPr>
              <a:t>non-transitive </a:t>
            </a:r>
            <a:r>
              <a:rPr lang="en-US" sz="2000" dirty="0">
                <a:cs typeface="Times New Roman" pitchFamily="18" charset="0"/>
              </a:rPr>
              <a:t> since there is no set of attributes X where SSN </a:t>
            </a:r>
            <a:r>
              <a:rPr lang="en-US" sz="2000" dirty="0">
                <a:latin typeface="BostonII" charset="0"/>
                <a:cs typeface="Times New Roman" pitchFamily="18" charset="0"/>
              </a:rPr>
              <a:t>-&gt; </a:t>
            </a:r>
            <a:r>
              <a:rPr lang="en-US" sz="2000" dirty="0">
                <a:cs typeface="Times New Roman" pitchFamily="18" charset="0"/>
              </a:rPr>
              <a:t>X and X </a:t>
            </a:r>
            <a:r>
              <a:rPr lang="en-US" sz="2000" dirty="0">
                <a:latin typeface="BostonII" charset="0"/>
                <a:cs typeface="Times New Roman" pitchFamily="18" charset="0"/>
              </a:rPr>
              <a:t>-&gt; </a:t>
            </a:r>
            <a:r>
              <a:rPr lang="en-US" sz="2000" dirty="0">
                <a:cs typeface="Times New Roman" pitchFamily="18" charset="0"/>
              </a:rPr>
              <a:t>ENAME</a:t>
            </a:r>
            <a:r>
              <a:rPr lang="en-US" sz="2000" dirty="0"/>
              <a:t>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cs typeface="Times New Roman" pitchFamily="18" charset="0"/>
              </a:rPr>
              <a:t>Third Normal Form</a:t>
            </a:r>
            <a:r>
              <a:rPr lang="en-US" sz="3200"/>
              <a:t> (2)</a:t>
            </a:r>
          </a:p>
        </p:txBody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>
                <a:cs typeface="Times New Roman" pitchFamily="18" charset="0"/>
              </a:rPr>
              <a:t>A relation schema R is in </a:t>
            </a:r>
            <a:r>
              <a:rPr lang="en-US" sz="2800" b="1">
                <a:cs typeface="Times New Roman" pitchFamily="18" charset="0"/>
              </a:rPr>
              <a:t>third normal form </a:t>
            </a:r>
            <a:r>
              <a:rPr lang="en-US" sz="2800">
                <a:cs typeface="Times New Roman" pitchFamily="18" charset="0"/>
              </a:rPr>
              <a:t>(</a:t>
            </a:r>
            <a:r>
              <a:rPr lang="en-US" sz="2800" b="1">
                <a:cs typeface="Times New Roman" pitchFamily="18" charset="0"/>
              </a:rPr>
              <a:t>3NF</a:t>
            </a:r>
            <a:r>
              <a:rPr lang="en-US" sz="2800">
                <a:cs typeface="Times New Roman" pitchFamily="18" charset="0"/>
              </a:rPr>
              <a:t>) if it is in 2NF </a:t>
            </a:r>
            <a:r>
              <a:rPr lang="en-US" sz="2800" i="1">
                <a:cs typeface="Times New Roman" pitchFamily="18" charset="0"/>
              </a:rPr>
              <a:t>and</a:t>
            </a:r>
            <a:r>
              <a:rPr lang="en-US" sz="2800">
                <a:cs typeface="Times New Roman" pitchFamily="18" charset="0"/>
              </a:rPr>
              <a:t>  no non-prime attribute A in R is transitively dependent on the primary key</a:t>
            </a:r>
          </a:p>
          <a:p>
            <a:pPr>
              <a:lnSpc>
                <a:spcPct val="90000"/>
              </a:lnSpc>
            </a:pPr>
            <a:r>
              <a:rPr lang="en-US" sz="2800">
                <a:cs typeface="Times New Roman" pitchFamily="18" charset="0"/>
              </a:rPr>
              <a:t>R can be decomposed into 3NF relations via the process of 3NF normalization</a:t>
            </a:r>
            <a:r>
              <a:rPr lang="en-US" sz="2800"/>
              <a:t>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b="1">
                <a:cs typeface="Times New Roman" pitchFamily="18" charset="0"/>
              </a:rPr>
              <a:t>NOTE:</a:t>
            </a:r>
            <a:endParaRPr lang="en-US" sz="2000"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>
                <a:cs typeface="Times New Roman" pitchFamily="18" charset="0"/>
              </a:rPr>
              <a:t>	In</a:t>
            </a:r>
            <a:r>
              <a:rPr lang="en-US" sz="2000" b="1">
                <a:cs typeface="Times New Roman" pitchFamily="18" charset="0"/>
              </a:rPr>
              <a:t> </a:t>
            </a:r>
            <a:r>
              <a:rPr lang="en-US" sz="2000">
                <a:cs typeface="Times New Roman" pitchFamily="18" charset="0"/>
              </a:rPr>
              <a:t>X </a:t>
            </a:r>
            <a:r>
              <a:rPr lang="en-US" sz="2000">
                <a:latin typeface="BostonII" charset="0"/>
                <a:cs typeface="Times New Roman" pitchFamily="18" charset="0"/>
              </a:rPr>
              <a:t>-&gt; </a:t>
            </a:r>
            <a:r>
              <a:rPr lang="en-US" sz="2000">
                <a:cs typeface="Times New Roman" pitchFamily="18" charset="0"/>
              </a:rPr>
              <a:t>Y and Y </a:t>
            </a:r>
            <a:r>
              <a:rPr lang="en-US" sz="2000">
                <a:latin typeface="BostonII" charset="0"/>
                <a:cs typeface="Times New Roman" pitchFamily="18" charset="0"/>
              </a:rPr>
              <a:t>-&gt; </a:t>
            </a:r>
            <a:r>
              <a:rPr lang="en-US" sz="2000">
                <a:cs typeface="Times New Roman" pitchFamily="18" charset="0"/>
              </a:rPr>
              <a:t>Z, with X as the primary key, we consider this a problem only if Y is </a:t>
            </a:r>
            <a:r>
              <a:rPr lang="en-US" sz="2000" u="sng">
                <a:cs typeface="Times New Roman" pitchFamily="18" charset="0"/>
              </a:rPr>
              <a:t>not</a:t>
            </a:r>
            <a:r>
              <a:rPr lang="en-US" sz="2000">
                <a:cs typeface="Times New Roman" pitchFamily="18" charset="0"/>
              </a:rPr>
              <a:t> a candidate key. When Y is a candidate key, there is no problem with the transitive dependency 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>
                <a:cs typeface="Times New Roman" pitchFamily="18" charset="0"/>
              </a:rPr>
              <a:t>	E.g., Consider EMP (SSN, Emp#, Salary ).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>
                <a:cs typeface="Times New Roman" pitchFamily="18" charset="0"/>
              </a:rPr>
              <a:t>	Here, SSN </a:t>
            </a:r>
            <a:r>
              <a:rPr lang="en-US" sz="2000">
                <a:latin typeface="BostonII" charset="0"/>
                <a:cs typeface="Times New Roman" pitchFamily="18" charset="0"/>
              </a:rPr>
              <a:t>-&gt; </a:t>
            </a:r>
            <a:r>
              <a:rPr lang="en-US" sz="2000">
                <a:cs typeface="Times New Roman" pitchFamily="18" charset="0"/>
              </a:rPr>
              <a:t>Emp# </a:t>
            </a:r>
            <a:r>
              <a:rPr lang="en-US" sz="2000">
                <a:latin typeface="BostonII" charset="0"/>
                <a:cs typeface="Times New Roman" pitchFamily="18" charset="0"/>
              </a:rPr>
              <a:t>-&gt; </a:t>
            </a:r>
            <a:r>
              <a:rPr lang="en-US" sz="2000">
                <a:cs typeface="Times New Roman" pitchFamily="18" charset="0"/>
              </a:rPr>
              <a:t>Salary and Emp# is a candidate key.</a:t>
            </a:r>
            <a:r>
              <a:rPr lang="en-US" sz="2000"/>
              <a:t>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0" y="762000"/>
            <a:ext cx="7620000" cy="1371600"/>
          </a:xfrm>
          <a:prstGeom prst="rect">
            <a:avLst/>
          </a:prstGeom>
        </p:spPr>
        <p:txBody>
          <a:bodyPr vert="horz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Normalizing into 2NF and 3NF. </a:t>
            </a:r>
            <a:b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(b) Normalizing EMP_DEPT into 3NF relations.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2743200"/>
            <a:ext cx="6705600" cy="340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219200"/>
            <a:ext cx="86106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229600" cy="10668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cs typeface="Times New Roman" pitchFamily="18" charset="0"/>
              </a:rPr>
              <a:t>General </a:t>
            </a:r>
            <a:r>
              <a:rPr lang="en-US" sz="3200" b="1" dirty="0">
                <a:cs typeface="Times New Roman" pitchFamily="18" charset="0"/>
              </a:rPr>
              <a:t>Normal Form Definitions (For </a:t>
            </a:r>
            <a:r>
              <a:rPr lang="en-US" sz="3200" b="1" u="sng" dirty="0">
                <a:cs typeface="Times New Roman" pitchFamily="18" charset="0"/>
              </a:rPr>
              <a:t>Multiple</a:t>
            </a:r>
            <a:r>
              <a:rPr lang="en-US" sz="3200" b="1" dirty="0">
                <a:cs typeface="Times New Roman" pitchFamily="18" charset="0"/>
              </a:rPr>
              <a:t> </a:t>
            </a:r>
            <a:r>
              <a:rPr lang="en-US" sz="3200" b="1" dirty="0" smtClean="0">
                <a:cs typeface="Times New Roman" pitchFamily="18" charset="0"/>
              </a:rPr>
              <a:t>Keys)</a:t>
            </a:r>
            <a:endParaRPr lang="en-US" dirty="0"/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>
                <a:cs typeface="Times New Roman" pitchFamily="18" charset="0"/>
              </a:rPr>
              <a:t>The above definitions consider the primary key only</a:t>
            </a:r>
          </a:p>
          <a:p>
            <a:r>
              <a:rPr lang="en-US" sz="2800" dirty="0">
                <a:cs typeface="Times New Roman" pitchFamily="18" charset="0"/>
              </a:rPr>
              <a:t>The following more general definitions take into account relations with multiple candidate keys</a:t>
            </a:r>
          </a:p>
          <a:p>
            <a:pPr>
              <a:buNone/>
            </a:pPr>
            <a:endParaRPr lang="en-US" sz="28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General Definition of Second Normal Form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04288"/>
            <a:ext cx="8229600" cy="4325112"/>
          </a:xfrm>
        </p:spPr>
        <p:txBody>
          <a:bodyPr/>
          <a:lstStyle/>
          <a:p>
            <a:r>
              <a:rPr lang="en-US" dirty="0" smtClean="0"/>
              <a:t>A relation schema R is in second normal form (2NF) if every nonprime attribute A in R is not partially dependent on </a:t>
            </a:r>
            <a:r>
              <a:rPr lang="en-US" i="1" dirty="0" smtClean="0"/>
              <a:t>any key of R.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0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534400" cy="1143000"/>
          </a:xfrm>
        </p:spPr>
        <p:txBody>
          <a:bodyPr>
            <a:noAutofit/>
          </a:bodyPr>
          <a:lstStyle/>
          <a:p>
            <a:r>
              <a:rPr lang="en-US" sz="3200" dirty="0" smtClean="0"/>
              <a:t>Normalization </a:t>
            </a:r>
            <a:r>
              <a:rPr lang="en-US" sz="3200" dirty="0"/>
              <a:t>into 2NF </a:t>
            </a:r>
            <a:r>
              <a:rPr lang="en-US" sz="3200" dirty="0" smtClean="0"/>
              <a:t> </a:t>
            </a:r>
            <a:r>
              <a:rPr lang="en-US" sz="1400" dirty="0"/>
              <a:t>(a) the LOTS relation with its functional dependencies FD1 though FD4. (b) Decomposing into the 2NF relations LOTS1 and LOTS2. </a:t>
            </a:r>
            <a:endParaRPr lang="en-US" sz="32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2133600"/>
            <a:ext cx="5257800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/>
              <a:t>General Definition of Third Normal Form</a:t>
            </a:r>
          </a:p>
        </p:txBody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 u="sng">
                <a:cs typeface="Times New Roman" pitchFamily="18" charset="0"/>
              </a:rPr>
              <a:t>Definition:</a:t>
            </a:r>
            <a:endParaRPr lang="en-US" sz="2800"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800" b="1">
                <a:cs typeface="Times New Roman" pitchFamily="18" charset="0"/>
              </a:rPr>
              <a:t>Superkey</a:t>
            </a:r>
            <a:r>
              <a:rPr lang="en-US" sz="2800">
                <a:cs typeface="Times New Roman" pitchFamily="18" charset="0"/>
              </a:rPr>
              <a:t> of relation schema R - a set of attributes S of R that contains a key of R</a:t>
            </a:r>
          </a:p>
          <a:p>
            <a:pPr>
              <a:lnSpc>
                <a:spcPct val="90000"/>
              </a:lnSpc>
            </a:pPr>
            <a:r>
              <a:rPr lang="en-US" sz="2800">
                <a:cs typeface="Times New Roman" pitchFamily="18" charset="0"/>
              </a:rPr>
              <a:t>A relation schema R is in </a:t>
            </a:r>
            <a:r>
              <a:rPr lang="en-US" sz="2800" b="1">
                <a:cs typeface="Times New Roman" pitchFamily="18" charset="0"/>
              </a:rPr>
              <a:t>third normal form </a:t>
            </a:r>
            <a:r>
              <a:rPr lang="en-US" sz="2800">
                <a:cs typeface="Times New Roman" pitchFamily="18" charset="0"/>
              </a:rPr>
              <a:t>(</a:t>
            </a:r>
            <a:r>
              <a:rPr lang="en-US" sz="2800" b="1">
                <a:cs typeface="Times New Roman" pitchFamily="18" charset="0"/>
              </a:rPr>
              <a:t>3NF</a:t>
            </a:r>
            <a:r>
              <a:rPr lang="en-US" sz="2800">
                <a:cs typeface="Times New Roman" pitchFamily="18" charset="0"/>
              </a:rPr>
              <a:t>) if whenever a FD X </a:t>
            </a:r>
            <a:r>
              <a:rPr lang="en-US" sz="2800">
                <a:latin typeface="BostonII" charset="0"/>
                <a:cs typeface="Times New Roman" pitchFamily="18" charset="0"/>
              </a:rPr>
              <a:t>-&gt; </a:t>
            </a:r>
            <a:r>
              <a:rPr lang="en-US" sz="2800">
                <a:cs typeface="Times New Roman" pitchFamily="18" charset="0"/>
              </a:rPr>
              <a:t>A holds in R, then either: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>
                <a:cs typeface="Times New Roman" pitchFamily="18" charset="0"/>
              </a:rPr>
              <a:t>		(a) X is a superkey of R, or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>
                <a:cs typeface="Times New Roman" pitchFamily="18" charset="0"/>
              </a:rPr>
              <a:t>		(b) A is a prime attribute of R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>
                <a:cs typeface="Times New Roman" pitchFamily="18" charset="0"/>
              </a:rPr>
              <a:t>NOTE: </a:t>
            </a:r>
            <a:r>
              <a:rPr lang="en-US" sz="2400">
                <a:cs typeface="Times New Roman" pitchFamily="18" charset="0"/>
              </a:rPr>
              <a:t>Boyce-Codd normal form disallows condition (b) above</a:t>
            </a:r>
            <a:r>
              <a:rPr lang="en-US" sz="2400"/>
              <a:t>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2133600"/>
            <a:ext cx="5257800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299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0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25146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Normalization </a:t>
            </a:r>
            <a:r>
              <a:rPr lang="en-US" sz="3200" dirty="0"/>
              <a:t>into </a:t>
            </a:r>
            <a:r>
              <a:rPr lang="en-US" sz="3200" dirty="0" smtClean="0"/>
              <a:t>3NF</a:t>
            </a:r>
            <a:r>
              <a:rPr lang="en-US" sz="3200" dirty="0"/>
              <a:t>. 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(c) Decomposing LOTS1 into the 3NF relations LOTS1A and LOTS1B. (d) Summary of the progressive normalization of LOTS.</a:t>
            </a:r>
            <a:endParaRPr lang="en-US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cstate="print"/>
          <a:srcRect/>
          <a:stretch>
            <a:fillRect/>
          </a:stretch>
        </p:blipFill>
        <p:spPr bwMode="auto">
          <a:xfrm>
            <a:off x="1143000" y="3352800"/>
            <a:ext cx="6219825" cy="326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cs typeface="Times New Roman" pitchFamily="18" charset="0"/>
              </a:rPr>
              <a:t>BCNF </a:t>
            </a:r>
            <a:r>
              <a:rPr lang="en-US" sz="3200" b="1" dirty="0">
                <a:cs typeface="Times New Roman" pitchFamily="18" charset="0"/>
              </a:rPr>
              <a:t>(Boyce-</a:t>
            </a:r>
            <a:r>
              <a:rPr lang="en-US" sz="3200" b="1" dirty="0" err="1">
                <a:cs typeface="Times New Roman" pitchFamily="18" charset="0"/>
              </a:rPr>
              <a:t>Codd</a:t>
            </a:r>
            <a:r>
              <a:rPr lang="en-US" sz="3200" b="1" dirty="0">
                <a:cs typeface="Times New Roman" pitchFamily="18" charset="0"/>
              </a:rPr>
              <a:t> Normal Form)</a:t>
            </a:r>
            <a:r>
              <a:rPr lang="en-US" dirty="0"/>
              <a:t> </a:t>
            </a:r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>
                <a:cs typeface="Times New Roman" pitchFamily="18" charset="0"/>
              </a:rPr>
              <a:t>A relation schema R is in </a:t>
            </a:r>
            <a:r>
              <a:rPr lang="en-US" sz="2800" b="1" dirty="0">
                <a:cs typeface="Times New Roman" pitchFamily="18" charset="0"/>
              </a:rPr>
              <a:t>Boyce-</a:t>
            </a:r>
            <a:r>
              <a:rPr lang="en-US" sz="2800" b="1" dirty="0" err="1">
                <a:cs typeface="Times New Roman" pitchFamily="18" charset="0"/>
              </a:rPr>
              <a:t>Codd</a:t>
            </a:r>
            <a:r>
              <a:rPr lang="en-US" sz="2800" b="1" dirty="0">
                <a:cs typeface="Times New Roman" pitchFamily="18" charset="0"/>
              </a:rPr>
              <a:t> Normal Form </a:t>
            </a:r>
            <a:r>
              <a:rPr lang="en-US" sz="2800" dirty="0">
                <a:cs typeface="Times New Roman" pitchFamily="18" charset="0"/>
              </a:rPr>
              <a:t>(</a:t>
            </a:r>
            <a:r>
              <a:rPr lang="en-US" sz="2800" b="1" dirty="0">
                <a:cs typeface="Times New Roman" pitchFamily="18" charset="0"/>
              </a:rPr>
              <a:t>BCNF</a:t>
            </a:r>
            <a:r>
              <a:rPr lang="en-US" sz="2800" dirty="0">
                <a:cs typeface="Times New Roman" pitchFamily="18" charset="0"/>
              </a:rPr>
              <a:t>) if whenever </a:t>
            </a:r>
            <a:r>
              <a:rPr lang="en-US" sz="2800" dirty="0" smtClean="0">
                <a:cs typeface="Times New Roman" pitchFamily="18" charset="0"/>
              </a:rPr>
              <a:t>a </a:t>
            </a:r>
            <a:r>
              <a:rPr lang="en-US" sz="2800" dirty="0">
                <a:cs typeface="Times New Roman" pitchFamily="18" charset="0"/>
              </a:rPr>
              <a:t>FD X </a:t>
            </a:r>
            <a:r>
              <a:rPr lang="en-US" sz="2800" dirty="0">
                <a:latin typeface="BostonII" charset="0"/>
                <a:cs typeface="Times New Roman" pitchFamily="18" charset="0"/>
              </a:rPr>
              <a:t>-&gt; </a:t>
            </a:r>
            <a:r>
              <a:rPr lang="en-US" sz="2800" dirty="0">
                <a:cs typeface="Times New Roman" pitchFamily="18" charset="0"/>
              </a:rPr>
              <a:t>A holds in R, then X is a </a:t>
            </a:r>
            <a:r>
              <a:rPr lang="en-US" sz="2800" dirty="0" err="1">
                <a:cs typeface="Times New Roman" pitchFamily="18" charset="0"/>
              </a:rPr>
              <a:t>superkey</a:t>
            </a:r>
            <a:r>
              <a:rPr lang="en-US" sz="2800" dirty="0">
                <a:cs typeface="Times New Roman" pitchFamily="18" charset="0"/>
              </a:rPr>
              <a:t> of R</a:t>
            </a:r>
          </a:p>
          <a:p>
            <a:r>
              <a:rPr lang="en-US" sz="2400" dirty="0">
                <a:cs typeface="Times New Roman" pitchFamily="18" charset="0"/>
              </a:rPr>
              <a:t>Each normal form is strictly stronger than the previous one</a:t>
            </a:r>
          </a:p>
          <a:p>
            <a:pPr lvl="1"/>
            <a:r>
              <a:rPr lang="en-US" sz="2000" dirty="0">
                <a:cs typeface="Times New Roman" pitchFamily="18" charset="0"/>
              </a:rPr>
              <a:t>Every 2NF relation is in 1NF</a:t>
            </a:r>
          </a:p>
          <a:p>
            <a:pPr lvl="1"/>
            <a:r>
              <a:rPr lang="en-US" sz="2000" dirty="0">
                <a:cs typeface="Times New Roman" pitchFamily="18" charset="0"/>
              </a:rPr>
              <a:t>Every 3NF relation is in 2NF</a:t>
            </a:r>
          </a:p>
          <a:p>
            <a:pPr lvl="1"/>
            <a:r>
              <a:rPr lang="en-US" sz="2000" dirty="0">
                <a:cs typeface="Times New Roman" pitchFamily="18" charset="0"/>
              </a:rPr>
              <a:t>Every BCNF relation is in 3NF</a:t>
            </a:r>
          </a:p>
          <a:p>
            <a:r>
              <a:rPr lang="en-US" sz="2400" dirty="0">
                <a:cs typeface="Times New Roman" pitchFamily="18" charset="0"/>
              </a:rPr>
              <a:t>There exist relations that are in 3NF but not in BCNF</a:t>
            </a:r>
          </a:p>
          <a:p>
            <a:r>
              <a:rPr lang="en-US" sz="2400" dirty="0">
                <a:cs typeface="Times New Roman" pitchFamily="18" charset="0"/>
              </a:rPr>
              <a:t>The goal is to have each relation in BCNF (or 3NF)</a:t>
            </a:r>
            <a:r>
              <a:rPr lang="en-US" sz="2800" dirty="0"/>
              <a:t>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of </a:t>
            </a:r>
            <a:r>
              <a:rPr lang="en-US" dirty="0"/>
              <a:t>N</a:t>
            </a:r>
            <a:r>
              <a:rPr lang="en-US" dirty="0" smtClean="0"/>
              <a:t>ormal forms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X</a:t>
            </a:r>
            <a:r>
              <a:rPr lang="en-US" dirty="0" smtClean="0"/>
              <a:t> -&gt; A</a:t>
            </a:r>
          </a:p>
          <a:p>
            <a:pPr marL="109728" indent="0">
              <a:buNone/>
            </a:pPr>
            <a:r>
              <a:rPr lang="en-US" dirty="0" smtClean="0"/>
              <a:t>In this case, If X is prime and A is non prime, then it is not in 2</a:t>
            </a:r>
            <a:r>
              <a:rPr lang="en-US" baseline="30000" dirty="0" smtClean="0"/>
              <a:t>nd</a:t>
            </a:r>
            <a:r>
              <a:rPr lang="en-US" dirty="0" smtClean="0"/>
              <a:t> normal form.</a:t>
            </a:r>
          </a:p>
          <a:p>
            <a:pPr marL="109728" indent="0">
              <a:buNone/>
            </a:pPr>
            <a:endParaRPr lang="en-US" dirty="0" smtClean="0"/>
          </a:p>
          <a:p>
            <a:r>
              <a:rPr lang="en-US" dirty="0"/>
              <a:t>X -&gt; A </a:t>
            </a:r>
            <a:endParaRPr lang="en-US" dirty="0" smtClean="0"/>
          </a:p>
          <a:p>
            <a:pPr marL="109728" indent="0">
              <a:buNone/>
            </a:pPr>
            <a:r>
              <a:rPr lang="en-US" dirty="0" smtClean="0"/>
              <a:t>In </a:t>
            </a:r>
            <a:r>
              <a:rPr lang="en-US" dirty="0"/>
              <a:t>this case, If </a:t>
            </a:r>
            <a:r>
              <a:rPr lang="en-US" dirty="0" smtClean="0"/>
              <a:t>X </a:t>
            </a:r>
            <a:r>
              <a:rPr lang="en-US" dirty="0"/>
              <a:t>is </a:t>
            </a:r>
            <a:r>
              <a:rPr lang="en-US" dirty="0" smtClean="0"/>
              <a:t>non prime </a:t>
            </a:r>
            <a:r>
              <a:rPr lang="en-US" dirty="0"/>
              <a:t>and </a:t>
            </a:r>
            <a:r>
              <a:rPr lang="en-US" dirty="0" smtClean="0"/>
              <a:t>A </a:t>
            </a:r>
            <a:r>
              <a:rPr lang="en-US" dirty="0"/>
              <a:t>is </a:t>
            </a:r>
            <a:r>
              <a:rPr lang="en-US" dirty="0" smtClean="0"/>
              <a:t>also non </a:t>
            </a:r>
            <a:r>
              <a:rPr lang="en-US" dirty="0"/>
              <a:t>prime, then it is not in </a:t>
            </a:r>
            <a:r>
              <a:rPr lang="en-US" dirty="0" smtClean="0"/>
              <a:t>3</a:t>
            </a:r>
            <a:r>
              <a:rPr lang="en-US" baseline="30000" dirty="0"/>
              <a:t>r</a:t>
            </a:r>
            <a:r>
              <a:rPr lang="en-US" baseline="30000" dirty="0" smtClean="0"/>
              <a:t>d</a:t>
            </a:r>
            <a:r>
              <a:rPr lang="en-US" dirty="0" smtClean="0"/>
              <a:t> </a:t>
            </a:r>
            <a:r>
              <a:rPr lang="en-US" dirty="0"/>
              <a:t>normal form</a:t>
            </a:r>
            <a:r>
              <a:rPr lang="en-US" dirty="0" smtClean="0"/>
              <a:t>.</a:t>
            </a:r>
          </a:p>
          <a:p>
            <a:pPr marL="109728" indent="0">
              <a:buNone/>
            </a:pPr>
            <a:endParaRPr lang="en-US" dirty="0"/>
          </a:p>
          <a:p>
            <a:r>
              <a:rPr lang="en-US" dirty="0"/>
              <a:t>X -&gt; A </a:t>
            </a:r>
            <a:endParaRPr lang="en-US" dirty="0" smtClean="0"/>
          </a:p>
          <a:p>
            <a:pPr marL="109728" indent="0">
              <a:buNone/>
            </a:pPr>
            <a:r>
              <a:rPr lang="en-US" dirty="0" smtClean="0"/>
              <a:t>In </a:t>
            </a:r>
            <a:r>
              <a:rPr lang="en-US" dirty="0"/>
              <a:t>this case, If </a:t>
            </a:r>
            <a:r>
              <a:rPr lang="en-US" dirty="0" smtClean="0"/>
              <a:t>X </a:t>
            </a:r>
            <a:r>
              <a:rPr lang="en-US" dirty="0"/>
              <a:t>is </a:t>
            </a:r>
            <a:r>
              <a:rPr lang="en-US" dirty="0" smtClean="0"/>
              <a:t>prime</a:t>
            </a:r>
            <a:r>
              <a:rPr lang="en-US" smtClean="0"/>
              <a:t>/ non </a:t>
            </a:r>
            <a:r>
              <a:rPr lang="en-US" dirty="0" smtClean="0"/>
              <a:t>prime and </a:t>
            </a:r>
            <a:r>
              <a:rPr lang="en-US" dirty="0"/>
              <a:t>A</a:t>
            </a:r>
            <a:r>
              <a:rPr lang="en-US" dirty="0" smtClean="0"/>
              <a:t> </a:t>
            </a:r>
            <a:r>
              <a:rPr lang="en-US" dirty="0"/>
              <a:t>is </a:t>
            </a:r>
            <a:r>
              <a:rPr lang="en-US" dirty="0" smtClean="0"/>
              <a:t>prime</a:t>
            </a:r>
            <a:r>
              <a:rPr lang="en-US" dirty="0"/>
              <a:t>, then it is </a:t>
            </a:r>
            <a:r>
              <a:rPr lang="en-US" dirty="0" smtClean="0"/>
              <a:t>in BCNF.</a:t>
            </a:r>
            <a:endParaRPr lang="en-US" dirty="0"/>
          </a:p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103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0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 smtClean="0"/>
              <a:t>FIGURE 10.12</a:t>
            </a:r>
            <a:br>
              <a:rPr lang="en-US" sz="3100" b="1" dirty="0" smtClean="0"/>
            </a:br>
            <a:r>
              <a:rPr lang="en-US" sz="3100" dirty="0" smtClean="0"/>
              <a:t>Boyce-</a:t>
            </a:r>
            <a:r>
              <a:rPr lang="en-US" sz="3100" dirty="0" err="1" smtClean="0"/>
              <a:t>Codd</a:t>
            </a:r>
            <a:r>
              <a:rPr lang="en-US" sz="3100" dirty="0" smtClean="0"/>
              <a:t> </a:t>
            </a:r>
            <a:r>
              <a:rPr lang="en-US" sz="3100" dirty="0"/>
              <a:t>normal form. </a:t>
            </a:r>
            <a:r>
              <a:rPr lang="en-US" sz="1800" dirty="0"/>
              <a:t>(a) BCNF normalization of LOTS1A with the functional dependency FD2 being lost in the decomposition. (b) A schematic relation with FDs; it is in 3NF, but not in BCNF.</a:t>
            </a:r>
            <a:endParaRPr lang="en-US" b="1" dirty="0"/>
          </a:p>
        </p:txBody>
      </p:sp>
      <p:pic>
        <p:nvPicPr>
          <p:cNvPr id="599044" name="Picture 4" descr="31755_FIG1412.gif  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447800" y="2590800"/>
            <a:ext cx="6092825" cy="3956050"/>
          </a:xfr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0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 smtClean="0"/>
              <a:t>FIGURE 10.13</a:t>
            </a:r>
            <a:br>
              <a:rPr lang="en-US" sz="2800" b="1" dirty="0" smtClean="0"/>
            </a:br>
            <a:r>
              <a:rPr lang="en-US" sz="2800" dirty="0" smtClean="0"/>
              <a:t>A </a:t>
            </a:r>
            <a:r>
              <a:rPr lang="en-US" sz="2800" dirty="0"/>
              <a:t>relation TEACH that is in 3NF but not BCNF.</a:t>
            </a:r>
          </a:p>
        </p:txBody>
      </p:sp>
      <p:pic>
        <p:nvPicPr>
          <p:cNvPr id="600068" name="Picture 4" descr="31755_FIG1413.gif  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600200" y="2286000"/>
            <a:ext cx="5842000" cy="4114800"/>
          </a:xfr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Achieving the BCNF by Decomposition (1)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153400" cy="4114800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Two FDs exist in the relation TEACH: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	fd1: { student, course} 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-&gt;</a:t>
            </a:r>
            <a:r>
              <a:rPr lang="en-US" sz="2400" dirty="0">
                <a:solidFill>
                  <a:srgbClr val="000000"/>
                </a:solidFill>
                <a:cs typeface="Times New Roman" pitchFamily="18" charset="0"/>
              </a:rPr>
              <a:t> instructor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cs typeface="Times New Roman" pitchFamily="18" charset="0"/>
              </a:rPr>
              <a:t>	fd2: instructor </a:t>
            </a:r>
            <a:r>
              <a:rPr lang="en-US" sz="2400" dirty="0">
                <a:cs typeface="Times New Roman" pitchFamily="18" charset="0"/>
                <a:sym typeface="Symbol" pitchFamily="18" charset="2"/>
              </a:rPr>
              <a:t> -&gt;</a:t>
            </a:r>
            <a:r>
              <a:rPr lang="en-US" sz="2400" baseline="30000" dirty="0">
                <a:cs typeface="Times New Roman" pitchFamily="18" charset="0"/>
              </a:rPr>
              <a:t> </a:t>
            </a:r>
            <a:r>
              <a:rPr lang="en-US" sz="2400" dirty="0">
                <a:cs typeface="Times New Roman" pitchFamily="18" charset="0"/>
              </a:rPr>
              <a:t>course</a:t>
            </a:r>
            <a:r>
              <a:rPr lang="en-US" sz="2400" dirty="0"/>
              <a:t> </a:t>
            </a:r>
            <a:endParaRPr lang="en-US" sz="2400" dirty="0">
              <a:solidFill>
                <a:srgbClr val="000000"/>
              </a:solidFill>
              <a:cs typeface="Times New Roman" pitchFamily="18" charset="0"/>
            </a:endParaRPr>
          </a:p>
          <a:p>
            <a:r>
              <a:rPr lang="en-US" sz="2400" dirty="0">
                <a:cs typeface="Times New Roman" pitchFamily="18" charset="0"/>
              </a:rPr>
              <a:t>{student, course} is a candidate key for this relation and that the dependencies shown follow the pattern in Figure 10.12 (b). So this relation is in 3NF </a:t>
            </a:r>
            <a:r>
              <a:rPr lang="en-US" sz="2400" u="sng" dirty="0">
                <a:cs typeface="Times New Roman" pitchFamily="18" charset="0"/>
              </a:rPr>
              <a:t>but not in</a:t>
            </a:r>
            <a:r>
              <a:rPr lang="en-US" sz="2400" dirty="0">
                <a:cs typeface="Times New Roman" pitchFamily="18" charset="0"/>
              </a:rPr>
              <a:t> BCNF </a:t>
            </a:r>
          </a:p>
          <a:p>
            <a:r>
              <a:rPr lang="en-US" sz="2400" dirty="0">
                <a:cs typeface="Times New Roman" pitchFamily="18" charset="0"/>
              </a:rPr>
              <a:t>A relation </a:t>
            </a:r>
            <a:r>
              <a:rPr lang="en-US" sz="2400" b="1" dirty="0">
                <a:cs typeface="Times New Roman" pitchFamily="18" charset="0"/>
              </a:rPr>
              <a:t>NOT</a:t>
            </a:r>
            <a:r>
              <a:rPr lang="en-US" sz="2400" dirty="0">
                <a:cs typeface="Times New Roman" pitchFamily="18" charset="0"/>
              </a:rPr>
              <a:t> in BCNF should be decomposed so as to meet this property, while possibly </a:t>
            </a:r>
            <a:r>
              <a:rPr lang="en-US" sz="2400" dirty="0" smtClean="0">
                <a:cs typeface="Times New Roman" pitchFamily="18" charset="0"/>
              </a:rPr>
              <a:t>forgoing/sacrificing </a:t>
            </a:r>
            <a:r>
              <a:rPr lang="en-US" sz="2400" dirty="0">
                <a:cs typeface="Times New Roman" pitchFamily="18" charset="0"/>
              </a:rPr>
              <a:t>the preservation of all functional dependencies in the decomposed relations</a:t>
            </a:r>
            <a:r>
              <a:rPr lang="en-US" sz="2400" dirty="0" smtClean="0">
                <a:cs typeface="Times New Roman" pitchFamily="18" charset="0"/>
              </a:rPr>
              <a:t>. </a:t>
            </a:r>
            <a:r>
              <a:rPr lang="en-US" sz="2400" dirty="0" smtClean="0"/>
              <a:t>  </a:t>
            </a:r>
            <a:endParaRPr lang="en-US" sz="2400" dirty="0"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en-US" sz="2800" dirty="0">
              <a:cs typeface="Times New Roman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Achieving the BCNF by Decomposition (2)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191500" cy="4114800"/>
          </a:xfrm>
        </p:spPr>
        <p:txBody>
          <a:bodyPr>
            <a:normAutofit lnSpcReduction="10000"/>
          </a:bodyPr>
          <a:lstStyle/>
          <a:p>
            <a:pPr marL="609600" indent="-609600"/>
            <a:r>
              <a:rPr lang="en-US" sz="1800" dirty="0"/>
              <a:t>Three possible decompositions for relation TEACH</a:t>
            </a:r>
          </a:p>
          <a:p>
            <a:pPr marL="990600" lvl="1" indent="-533400">
              <a:buFont typeface="Wingdings" pitchFamily="2" charset="2"/>
              <a:buAutoNum type="arabicPeriod"/>
            </a:pPr>
            <a:r>
              <a:rPr lang="en-US" sz="1800" dirty="0">
                <a:solidFill>
                  <a:srgbClr val="000000"/>
                </a:solidFill>
                <a:cs typeface="Times New Roman" pitchFamily="18" charset="0"/>
              </a:rPr>
              <a:t>{</a:t>
            </a:r>
            <a:r>
              <a:rPr lang="en-US" sz="1800" u="sng" dirty="0">
                <a:solidFill>
                  <a:srgbClr val="000000"/>
                </a:solidFill>
                <a:cs typeface="Times New Roman" pitchFamily="18" charset="0"/>
              </a:rPr>
              <a:t>student, instructor</a:t>
            </a:r>
            <a:r>
              <a:rPr lang="en-US" sz="1800" dirty="0">
                <a:solidFill>
                  <a:srgbClr val="000000"/>
                </a:solidFill>
                <a:cs typeface="Times New Roman" pitchFamily="18" charset="0"/>
              </a:rPr>
              <a:t>} and {</a:t>
            </a:r>
            <a:r>
              <a:rPr lang="en-US" sz="1800" u="sng" dirty="0">
                <a:solidFill>
                  <a:srgbClr val="000000"/>
                </a:solidFill>
                <a:cs typeface="Times New Roman" pitchFamily="18" charset="0"/>
              </a:rPr>
              <a:t>student, course</a:t>
            </a:r>
            <a:r>
              <a:rPr lang="en-US" sz="1800" dirty="0">
                <a:solidFill>
                  <a:srgbClr val="000000"/>
                </a:solidFill>
                <a:cs typeface="Times New Roman" pitchFamily="18" charset="0"/>
              </a:rPr>
              <a:t>}</a:t>
            </a:r>
          </a:p>
          <a:p>
            <a:pPr marL="990600" lvl="1" indent="-533400">
              <a:buFont typeface="Wingdings" pitchFamily="2" charset="2"/>
              <a:buAutoNum type="arabicPeriod"/>
            </a:pPr>
            <a:r>
              <a:rPr lang="en-US" sz="1800" dirty="0">
                <a:solidFill>
                  <a:srgbClr val="000000"/>
                </a:solidFill>
                <a:cs typeface="Times New Roman" pitchFamily="18" charset="0"/>
              </a:rPr>
              <a:t>{course, </a:t>
            </a:r>
            <a:r>
              <a:rPr lang="en-US" sz="1800" u="sng" dirty="0">
                <a:solidFill>
                  <a:srgbClr val="000000"/>
                </a:solidFill>
                <a:cs typeface="Times New Roman" pitchFamily="18" charset="0"/>
              </a:rPr>
              <a:t>instructor</a:t>
            </a:r>
            <a:r>
              <a:rPr lang="en-US" sz="1800" dirty="0">
                <a:solidFill>
                  <a:srgbClr val="000000"/>
                </a:solidFill>
                <a:cs typeface="Times New Roman" pitchFamily="18" charset="0"/>
              </a:rPr>
              <a:t> } and {</a:t>
            </a:r>
            <a:r>
              <a:rPr lang="en-US" sz="1800" u="sng" dirty="0">
                <a:solidFill>
                  <a:srgbClr val="000000"/>
                </a:solidFill>
                <a:cs typeface="Times New Roman" pitchFamily="18" charset="0"/>
              </a:rPr>
              <a:t>course, student</a:t>
            </a:r>
            <a:r>
              <a:rPr lang="en-US" sz="1800" dirty="0">
                <a:solidFill>
                  <a:srgbClr val="000000"/>
                </a:solidFill>
                <a:cs typeface="Times New Roman" pitchFamily="18" charset="0"/>
              </a:rPr>
              <a:t>}</a:t>
            </a:r>
          </a:p>
          <a:p>
            <a:pPr marL="990600" lvl="1" indent="-533400">
              <a:buFont typeface="Wingdings" pitchFamily="2" charset="2"/>
              <a:buAutoNum type="arabicPeriod"/>
            </a:pPr>
            <a:r>
              <a:rPr lang="en-US" sz="1800" dirty="0">
                <a:cs typeface="Times New Roman" pitchFamily="18" charset="0"/>
              </a:rPr>
              <a:t>{</a:t>
            </a:r>
            <a:r>
              <a:rPr lang="en-US" sz="1800" u="sng" dirty="0">
                <a:cs typeface="Times New Roman" pitchFamily="18" charset="0"/>
              </a:rPr>
              <a:t>instructor</a:t>
            </a:r>
            <a:r>
              <a:rPr lang="en-US" sz="1800" dirty="0">
                <a:cs typeface="Times New Roman" pitchFamily="18" charset="0"/>
              </a:rPr>
              <a:t>, course } and {</a:t>
            </a:r>
            <a:r>
              <a:rPr lang="en-US" sz="1800" u="sng" dirty="0">
                <a:cs typeface="Times New Roman" pitchFamily="18" charset="0"/>
              </a:rPr>
              <a:t>instructor, student</a:t>
            </a:r>
            <a:r>
              <a:rPr lang="en-US" sz="1800" dirty="0">
                <a:cs typeface="Times New Roman" pitchFamily="18" charset="0"/>
              </a:rPr>
              <a:t>}</a:t>
            </a:r>
          </a:p>
          <a:p>
            <a:pPr marL="609600" indent="-609600"/>
            <a:r>
              <a:rPr lang="en-US" sz="1800" dirty="0"/>
              <a:t>All three decompositions will lose fd1. We have to settle for sacrificing the functional dependency preservation. But we </a:t>
            </a:r>
            <a:r>
              <a:rPr lang="en-US" sz="1800" u="sng" dirty="0"/>
              <a:t>cannot</a:t>
            </a:r>
            <a:r>
              <a:rPr lang="en-US" sz="1800" dirty="0"/>
              <a:t> sacrifice the non-additivity property after decomposition.</a:t>
            </a:r>
          </a:p>
          <a:p>
            <a:pPr marL="609600" indent="-609600"/>
            <a:r>
              <a:rPr lang="en-US" sz="1800" dirty="0"/>
              <a:t>Out of the above three, only the 3</a:t>
            </a:r>
            <a:r>
              <a:rPr lang="en-US" sz="1800" baseline="30000" dirty="0"/>
              <a:t>rd</a:t>
            </a:r>
            <a:r>
              <a:rPr lang="en-US" sz="1800" dirty="0"/>
              <a:t> decomposition will not generate spurious tuples after join.(and hence has the non-additivity property).</a:t>
            </a:r>
          </a:p>
          <a:p>
            <a:pPr marL="609600" indent="-609600"/>
            <a:r>
              <a:rPr lang="en-US" sz="1800" dirty="0" smtClean="0">
                <a:cs typeface="Times New Roman" pitchFamily="18" charset="0"/>
              </a:rPr>
              <a:t>A test to determine whether a </a:t>
            </a:r>
            <a:r>
              <a:rPr lang="en-US" sz="1800" u="sng" dirty="0" smtClean="0">
                <a:cs typeface="Times New Roman" pitchFamily="18" charset="0"/>
              </a:rPr>
              <a:t>binary decomposition</a:t>
            </a:r>
            <a:r>
              <a:rPr lang="en-US" sz="1800" dirty="0" smtClean="0">
                <a:cs typeface="Times New Roman" pitchFamily="18" charset="0"/>
              </a:rPr>
              <a:t> (decomposition into two relations) is </a:t>
            </a:r>
            <a:r>
              <a:rPr lang="en-US" sz="1800" dirty="0" err="1" smtClean="0">
                <a:cs typeface="Times New Roman" pitchFamily="18" charset="0"/>
              </a:rPr>
              <a:t>nonadditive</a:t>
            </a:r>
            <a:r>
              <a:rPr lang="en-US" sz="1800" dirty="0" smtClean="0">
                <a:cs typeface="Times New Roman" pitchFamily="18" charset="0"/>
              </a:rPr>
              <a:t> (lossless) is discussed in section 11.1.4 under Property LJ1. Verify that the third decomposition above meets the property.</a:t>
            </a:r>
            <a:endParaRPr lang="en-US" sz="1800" dirty="0">
              <a:cs typeface="Times New Roman" pitchFamily="18" charset="0"/>
            </a:endParaRPr>
          </a:p>
          <a:p>
            <a:pPr marL="990600" lvl="1" indent="-533400">
              <a:buFont typeface="Wingdings" pitchFamily="2" charset="2"/>
              <a:buNone/>
            </a:pPr>
            <a:r>
              <a:rPr lang="en-US" sz="2000" dirty="0"/>
              <a:t>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Normal form identification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 (ABCDEFGH)     and if AB is the key</a:t>
            </a:r>
          </a:p>
          <a:p>
            <a:pPr marL="402336" lvl="1" indent="0">
              <a:buNone/>
            </a:pPr>
            <a:r>
              <a:rPr lang="en-US" dirty="0" smtClean="0"/>
              <a:t>AB-&gt;</a:t>
            </a:r>
            <a:r>
              <a:rPr lang="en-US" dirty="0" smtClean="0"/>
              <a:t>C (BCNF)</a:t>
            </a:r>
            <a:endParaRPr lang="en-US" dirty="0" smtClean="0"/>
          </a:p>
          <a:p>
            <a:pPr marL="402336" lvl="1" indent="0">
              <a:buNone/>
            </a:pPr>
            <a:r>
              <a:rPr lang="en-US" dirty="0" smtClean="0"/>
              <a:t>A-&gt;</a:t>
            </a:r>
            <a:r>
              <a:rPr lang="en-US" dirty="0" smtClean="0"/>
              <a:t>DE (1NF)</a:t>
            </a:r>
            <a:endParaRPr lang="en-US" dirty="0" smtClean="0"/>
          </a:p>
          <a:p>
            <a:pPr marL="402336" lvl="1" indent="0">
              <a:buNone/>
            </a:pPr>
            <a:r>
              <a:rPr lang="en-US" dirty="0" smtClean="0"/>
              <a:t>B-&gt;</a:t>
            </a:r>
            <a:r>
              <a:rPr lang="en-US" dirty="0" smtClean="0"/>
              <a:t>F (1NF)</a:t>
            </a:r>
            <a:endParaRPr lang="en-US" dirty="0" smtClean="0"/>
          </a:p>
          <a:p>
            <a:pPr marL="402336" lvl="1" indent="0">
              <a:buNone/>
            </a:pPr>
            <a:r>
              <a:rPr lang="en-US" dirty="0" smtClean="0"/>
              <a:t>F-&gt;</a:t>
            </a:r>
            <a:r>
              <a:rPr lang="en-US" dirty="0" smtClean="0"/>
              <a:t>GH (2NF)</a:t>
            </a:r>
          </a:p>
          <a:p>
            <a:pPr marL="402336" lvl="1" indent="0">
              <a:buNone/>
            </a:pPr>
            <a:endParaRPr lang="en-US" dirty="0"/>
          </a:p>
          <a:p>
            <a:pPr marL="402336" lvl="1" indent="0"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330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Normal form identification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 (ABCDE)     and if CE is the key</a:t>
            </a:r>
          </a:p>
          <a:p>
            <a:pPr marL="402336" lvl="1" indent="0">
              <a:buNone/>
            </a:pPr>
            <a:r>
              <a:rPr lang="en-US" dirty="0" smtClean="0"/>
              <a:t>CE-&gt;</a:t>
            </a:r>
            <a:r>
              <a:rPr lang="en-US" dirty="0" smtClean="0"/>
              <a:t>D (BCNF)</a:t>
            </a:r>
            <a:endParaRPr lang="en-US" dirty="0" smtClean="0"/>
          </a:p>
          <a:p>
            <a:pPr marL="402336" lvl="1" indent="0">
              <a:buNone/>
            </a:pPr>
            <a:r>
              <a:rPr lang="en-US" dirty="0"/>
              <a:t>D</a:t>
            </a:r>
            <a:r>
              <a:rPr lang="en-US" dirty="0" smtClean="0"/>
              <a:t>-&gt;</a:t>
            </a:r>
            <a:r>
              <a:rPr lang="en-US" dirty="0" smtClean="0"/>
              <a:t>B (2NF)</a:t>
            </a:r>
            <a:endParaRPr lang="en-US" dirty="0" smtClean="0"/>
          </a:p>
          <a:p>
            <a:pPr marL="402336" lvl="1" indent="0">
              <a:buNone/>
            </a:pPr>
            <a:r>
              <a:rPr lang="en-US" dirty="0" smtClean="0"/>
              <a:t>C-&gt;</a:t>
            </a:r>
            <a:r>
              <a:rPr lang="en-US" dirty="0" smtClean="0"/>
              <a:t>A (1NF)</a:t>
            </a:r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120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Normal form identification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 (ABCDEF)     and if ABD and BCD is the key</a:t>
            </a:r>
          </a:p>
          <a:p>
            <a:pPr marL="402336" lvl="1" indent="0">
              <a:buNone/>
            </a:pPr>
            <a:r>
              <a:rPr lang="en-US" dirty="0" smtClean="0"/>
              <a:t>AB-&gt;</a:t>
            </a:r>
            <a:r>
              <a:rPr lang="en-US" dirty="0" smtClean="0"/>
              <a:t>C (3NF)</a:t>
            </a:r>
            <a:endParaRPr lang="en-US" dirty="0" smtClean="0"/>
          </a:p>
          <a:p>
            <a:pPr marL="402336" lvl="1" indent="0">
              <a:buNone/>
            </a:pPr>
            <a:r>
              <a:rPr lang="en-US" dirty="0" smtClean="0"/>
              <a:t>DC-&gt;</a:t>
            </a:r>
            <a:r>
              <a:rPr lang="en-US" dirty="0" smtClean="0"/>
              <a:t>AE (1NF)</a:t>
            </a:r>
            <a:endParaRPr lang="en-US" dirty="0" smtClean="0"/>
          </a:p>
          <a:p>
            <a:pPr marL="402336" lvl="1" indent="0">
              <a:buNone/>
            </a:pPr>
            <a:r>
              <a:rPr lang="en-US" dirty="0"/>
              <a:t>E</a:t>
            </a:r>
            <a:r>
              <a:rPr lang="en-US" dirty="0" smtClean="0"/>
              <a:t>-&gt;</a:t>
            </a:r>
            <a:r>
              <a:rPr lang="en-US" dirty="0" smtClean="0"/>
              <a:t>F (2NF)</a:t>
            </a:r>
            <a:endParaRPr lang="en-US" dirty="0" smtClean="0"/>
          </a:p>
          <a:p>
            <a:pPr marL="402336" lvl="1" indent="0"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120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2" y="1724891"/>
            <a:ext cx="7953375" cy="1627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8382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Normalize the following table </a:t>
            </a:r>
            <a:r>
              <a:rPr lang="en-US" sz="3200" dirty="0" err="1" smtClean="0"/>
              <a:t>upto</a:t>
            </a:r>
            <a:r>
              <a:rPr lang="en-US" sz="3200" dirty="0" smtClean="0"/>
              <a:t> 3NF</a:t>
            </a:r>
            <a:endParaRPr lang="en-US" sz="32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2" y="3581400"/>
            <a:ext cx="7953375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5181600"/>
            <a:ext cx="6553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5184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1600200"/>
            <a:ext cx="771525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2697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796636"/>
            <a:ext cx="6477000" cy="3622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648200"/>
            <a:ext cx="27432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143000"/>
            <a:ext cx="38671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2697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1181100"/>
            <a:ext cx="7953375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6369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295400"/>
            <a:ext cx="5381625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6369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1676400"/>
            <a:ext cx="7810500" cy="3733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9328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1262</TotalTime>
  <Words>911</Words>
  <Application>Microsoft Office PowerPoint</Application>
  <PresentationFormat>On-screen Show (4:3)</PresentationFormat>
  <Paragraphs>159</Paragraphs>
  <Slides>30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Urban</vt:lpstr>
      <vt:lpstr>Database Systems </vt:lpstr>
      <vt:lpstr>Today’s Agenda</vt:lpstr>
      <vt:lpstr>Second Normal Form (1) </vt:lpstr>
      <vt:lpstr>Second Normal Form (2)</vt:lpstr>
      <vt:lpstr> Normalizing into 2NF and 3NF.  (a) Normalizing EMP_PROJ into 2NF relations  </vt:lpstr>
      <vt:lpstr>Third Normal Form (1)</vt:lpstr>
      <vt:lpstr>Third Normal Form (2)</vt:lpstr>
      <vt:lpstr>PowerPoint Presentation</vt:lpstr>
      <vt:lpstr>PowerPoint Presentation</vt:lpstr>
      <vt:lpstr>General Normal Form Definitions (For Multiple Keys)</vt:lpstr>
      <vt:lpstr>General Definition of Second Normal Form</vt:lpstr>
      <vt:lpstr>Normalization into 2NF  (a) the LOTS relation with its functional dependencies FD1 though FD4. (b) Decomposing into the 2NF relations LOTS1 and LOTS2. </vt:lpstr>
      <vt:lpstr>General Definition of Third Normal Form</vt:lpstr>
      <vt:lpstr>PowerPoint Presentation</vt:lpstr>
      <vt:lpstr>Normalization into 3NF.  (c) Decomposing LOTS1 into the 3NF relations LOTS1A and LOTS1B. (d) Summary of the progressive normalization of LOTS.</vt:lpstr>
      <vt:lpstr>BCNF (Boyce-Codd Normal Form) </vt:lpstr>
      <vt:lpstr>Summary of Normal forms</vt:lpstr>
      <vt:lpstr>FIGURE 10.12 Boyce-Codd normal form. (a) BCNF normalization of LOTS1A with the functional dependency FD2 being lost in the decomposition. (b) A schematic relation with FDs; it is in 3NF, but not in BCNF.</vt:lpstr>
      <vt:lpstr>FIGURE 10.13 A relation TEACH that is in 3NF but not BCNF.</vt:lpstr>
      <vt:lpstr>Achieving the BCNF by Decomposition (1)</vt:lpstr>
      <vt:lpstr>Achieving the BCNF by Decomposition (2)</vt:lpstr>
      <vt:lpstr>Normal form identification</vt:lpstr>
      <vt:lpstr>Normal form identification</vt:lpstr>
      <vt:lpstr>Normal form identification</vt:lpstr>
      <vt:lpstr>Normalize the following table upto 3NF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</dc:title>
  <dc:creator>RANA</dc:creator>
  <cp:lastModifiedBy>MEHTAB</cp:lastModifiedBy>
  <cp:revision>35</cp:revision>
  <dcterms:created xsi:type="dcterms:W3CDTF">2006-08-16T00:00:00Z</dcterms:created>
  <dcterms:modified xsi:type="dcterms:W3CDTF">2022-05-28T18:23:35Z</dcterms:modified>
</cp:coreProperties>
</file>
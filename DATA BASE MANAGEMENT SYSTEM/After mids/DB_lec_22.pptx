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68" r:id="rId4"/>
    <p:sldId id="269" r:id="rId5"/>
    <p:sldId id="270" r:id="rId6"/>
    <p:sldId id="285" r:id="rId7"/>
    <p:sldId id="282" r:id="rId8"/>
    <p:sldId id="283" r:id="rId9"/>
    <p:sldId id="271" r:id="rId10"/>
    <p:sldId id="272" r:id="rId11"/>
    <p:sldId id="284" r:id="rId12"/>
    <p:sldId id="273" r:id="rId13"/>
    <p:sldId id="274" r:id="rId14"/>
    <p:sldId id="275" r:id="rId15"/>
    <p:sldId id="276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4ED0B8-CD59-4ABF-A9E5-9734E8E95706}" type="datetimeFigureOut">
              <a:rPr lang="en-US" smtClean="0"/>
              <a:pPr/>
              <a:t>5/19/2021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B4CEED-3EED-4403-AD0F-818658679D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560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219200"/>
            <a:ext cx="7772400" cy="1470025"/>
          </a:xfrm>
        </p:spPr>
        <p:txBody>
          <a:bodyPr/>
          <a:lstStyle/>
          <a:p>
            <a:r>
              <a:rPr lang="en-US" dirty="0" smtClean="0"/>
              <a:t>Database Systems	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Functional Dependencies</a:t>
            </a: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286000" y="3048000"/>
            <a:ext cx="426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u="sng" dirty="0" smtClean="0"/>
              <a:t>Lecture 22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4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838200"/>
            <a:ext cx="8534400" cy="842962"/>
          </a:xfrm>
        </p:spPr>
        <p:txBody>
          <a:bodyPr/>
          <a:lstStyle/>
          <a:p>
            <a:r>
              <a:rPr lang="en-US" sz="3600" b="1" dirty="0" smtClean="0"/>
              <a:t>Today’s Agenda</a:t>
            </a:r>
            <a:endParaRPr lang="en-US" sz="3600" b="1" dirty="0"/>
          </a:p>
        </p:txBody>
      </p:sp>
      <p:sp>
        <p:nvSpPr>
          <p:cNvPr id="71685" name="Rectangle 5"/>
          <p:cNvSpPr>
            <a:spLocks noGrp="1" noChangeArrowheads="1"/>
          </p:cNvSpPr>
          <p:nvPr>
            <p:ph idx="1"/>
          </p:nvPr>
        </p:nvSpPr>
        <p:spPr>
          <a:xfrm>
            <a:off x="381000" y="1752600"/>
            <a:ext cx="8458200" cy="4811712"/>
          </a:xfrm>
        </p:spPr>
        <p:txBody>
          <a:bodyPr/>
          <a:lstStyle/>
          <a:p>
            <a:pPr>
              <a:lnSpc>
                <a:spcPct val="80000"/>
              </a:lnSpc>
            </a:pPr>
            <a:endParaRPr lang="en-US" sz="2000" b="1" dirty="0"/>
          </a:p>
          <a:p>
            <a:pPr marL="533400" indent="-533400">
              <a:lnSpc>
                <a:spcPct val="90000"/>
              </a:lnSpc>
            </a:pPr>
            <a:r>
              <a:rPr lang="en-US" dirty="0" smtClean="0">
                <a:cs typeface="Times New Roman" pitchFamily="18" charset="0"/>
              </a:rPr>
              <a:t>Informal Design Guidelines for Relational Databases</a:t>
            </a:r>
          </a:p>
          <a:p>
            <a:pPr marL="826008" lvl="1" indent="-533400">
              <a:lnSpc>
                <a:spcPct val="90000"/>
              </a:lnSpc>
            </a:pPr>
            <a:r>
              <a:rPr lang="en-US" dirty="0" smtClean="0">
                <a:cs typeface="Times New Roman" pitchFamily="18" charset="0"/>
              </a:rPr>
              <a:t>Semantics of the Relation Attributes</a:t>
            </a:r>
          </a:p>
          <a:p>
            <a:pPr marL="826008" lvl="1" indent="-533400">
              <a:lnSpc>
                <a:spcPct val="90000"/>
              </a:lnSpc>
            </a:pPr>
            <a:r>
              <a:rPr lang="en-US" dirty="0" smtClean="0">
                <a:cs typeface="Times New Roman" pitchFamily="18" charset="0"/>
              </a:rPr>
              <a:t>Reducing the Redundant Information in Tuples and Update Anomalies</a:t>
            </a:r>
          </a:p>
          <a:p>
            <a:pPr marL="826008" lvl="1" indent="-533400">
              <a:lnSpc>
                <a:spcPct val="90000"/>
              </a:lnSpc>
            </a:pPr>
            <a:r>
              <a:rPr lang="en-US" dirty="0" smtClean="0">
                <a:cs typeface="Times New Roman" pitchFamily="18" charset="0"/>
              </a:rPr>
              <a:t>Reducing the Null Values in Tuples</a:t>
            </a:r>
          </a:p>
          <a:p>
            <a:pPr marL="826008" lvl="1" indent="-533400">
              <a:lnSpc>
                <a:spcPct val="90000"/>
              </a:lnSpc>
            </a:pPr>
            <a:r>
              <a:rPr lang="en-US" dirty="0" smtClean="0">
                <a:cs typeface="Times New Roman" pitchFamily="18" charset="0"/>
              </a:rPr>
              <a:t>Disallowing the possibility of generating Spurious Tuples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sz="2000" dirty="0"/>
          </a:p>
          <a:p>
            <a:pPr>
              <a:lnSpc>
                <a:spcPct val="80000"/>
              </a:lnSpc>
            </a:pPr>
            <a:r>
              <a:rPr lang="en-US" sz="2800" dirty="0" smtClean="0">
                <a:latin typeface="Arial" charset="0"/>
              </a:rPr>
              <a:t>Functional Dependencies</a:t>
            </a:r>
            <a:endParaRPr lang="en-US" sz="2000" dirty="0"/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sz="20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smtClean="0">
                <a:cs typeface="Times New Roman" pitchFamily="18" charset="0"/>
              </a:rPr>
              <a:t>Null </a:t>
            </a:r>
            <a:r>
              <a:rPr lang="en-US" sz="3200" b="1" dirty="0">
                <a:cs typeface="Times New Roman" pitchFamily="18" charset="0"/>
              </a:rPr>
              <a:t>Values in </a:t>
            </a:r>
            <a:r>
              <a:rPr lang="en-US" sz="3200" b="1" dirty="0" err="1">
                <a:cs typeface="Times New Roman" pitchFamily="18" charset="0"/>
              </a:rPr>
              <a:t>Tuples</a:t>
            </a:r>
            <a:r>
              <a:rPr lang="en-US" dirty="0"/>
              <a:t> </a:t>
            </a:r>
          </a:p>
        </p:txBody>
      </p:sp>
      <p:sp>
        <p:nvSpPr>
          <p:cNvPr id="215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800" b="1">
                <a:cs typeface="Times New Roman" pitchFamily="18" charset="0"/>
              </a:rPr>
              <a:t>GUIDELINE 3: </a:t>
            </a:r>
            <a:r>
              <a:rPr lang="en-US" sz="2800">
                <a:cs typeface="Times New Roman" pitchFamily="18" charset="0"/>
              </a:rPr>
              <a:t>Relations should be designed such that their tuples will have as few NULL values as possible</a:t>
            </a:r>
          </a:p>
          <a:p>
            <a:pPr>
              <a:lnSpc>
                <a:spcPct val="90000"/>
              </a:lnSpc>
            </a:pPr>
            <a:r>
              <a:rPr lang="en-US" sz="2800">
                <a:cs typeface="Times New Roman" pitchFamily="18" charset="0"/>
              </a:rPr>
              <a:t> Attributes that are NULL frequently could be placed in separate relations (with the primary key)</a:t>
            </a:r>
          </a:p>
          <a:p>
            <a:pPr>
              <a:lnSpc>
                <a:spcPct val="90000"/>
              </a:lnSpc>
            </a:pPr>
            <a:r>
              <a:rPr lang="en-US" sz="2800">
                <a:cs typeface="Times New Roman" pitchFamily="18" charset="0"/>
              </a:rPr>
              <a:t> Reasons for nulls:</a:t>
            </a:r>
          </a:p>
          <a:p>
            <a:pPr lvl="1">
              <a:lnSpc>
                <a:spcPct val="90000"/>
              </a:lnSpc>
            </a:pPr>
            <a:r>
              <a:rPr lang="en-US" sz="2400">
                <a:cs typeface="Times New Roman" pitchFamily="18" charset="0"/>
              </a:rPr>
              <a:t>attribute not applicable or invalid</a:t>
            </a:r>
          </a:p>
          <a:p>
            <a:pPr lvl="1">
              <a:lnSpc>
                <a:spcPct val="90000"/>
              </a:lnSpc>
            </a:pPr>
            <a:r>
              <a:rPr lang="en-US" sz="2400">
                <a:cs typeface="Times New Roman" pitchFamily="18" charset="0"/>
              </a:rPr>
              <a:t>attribute value unknown  (may exist)</a:t>
            </a:r>
          </a:p>
          <a:p>
            <a:pPr lvl="1">
              <a:lnSpc>
                <a:spcPct val="90000"/>
              </a:lnSpc>
            </a:pPr>
            <a:r>
              <a:rPr lang="en-US" sz="2400">
                <a:cs typeface="Times New Roman" pitchFamily="18" charset="0"/>
              </a:rPr>
              <a:t>value known to exist, but unavailable</a:t>
            </a:r>
            <a:r>
              <a:rPr lang="en-US" sz="2400"/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smtClean="0">
                <a:cs typeface="Times New Roman" pitchFamily="18" charset="0"/>
              </a:rPr>
              <a:t>Spurious </a:t>
            </a:r>
            <a:r>
              <a:rPr lang="en-US" sz="3200" b="1" dirty="0" err="1">
                <a:cs typeface="Times New Roman" pitchFamily="18" charset="0"/>
              </a:rPr>
              <a:t>Tuples</a:t>
            </a:r>
            <a:r>
              <a:rPr lang="en-US" dirty="0"/>
              <a:t> 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>
                <a:cs typeface="Times New Roman" pitchFamily="18" charset="0"/>
              </a:rPr>
              <a:t>Bad designs for a relational database may result in erroneous results for certain JOIN operations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cs typeface="Times New Roman" pitchFamily="18" charset="0"/>
              </a:rPr>
              <a:t>The "lossless join" property is used to guarantee meaningful results for join operations</a:t>
            </a:r>
            <a:r>
              <a:rPr lang="en-US" sz="2800" dirty="0"/>
              <a:t>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8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800" b="1" dirty="0">
                <a:cs typeface="Times New Roman" pitchFamily="18" charset="0"/>
              </a:rPr>
              <a:t>GUIDELINE 4: </a:t>
            </a:r>
            <a:r>
              <a:rPr lang="en-US" sz="2800" dirty="0">
                <a:cs typeface="Times New Roman" pitchFamily="18" charset="0"/>
              </a:rPr>
              <a:t>The relations should be designed to satisfy the lossless join condition. No spurious </a:t>
            </a:r>
            <a:r>
              <a:rPr lang="en-US" sz="2800" dirty="0" err="1">
                <a:cs typeface="Times New Roman" pitchFamily="18" charset="0"/>
              </a:rPr>
              <a:t>tuples</a:t>
            </a:r>
            <a:r>
              <a:rPr lang="en-US" sz="2800" dirty="0">
                <a:cs typeface="Times New Roman" pitchFamily="18" charset="0"/>
              </a:rPr>
              <a:t> should be generated by doing a natural-join of any relations.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>
                <a:cs typeface="Times New Roman" pitchFamily="18" charset="0"/>
              </a:rPr>
              <a:t>Spurious Tuples (2)</a:t>
            </a:r>
          </a:p>
        </p:txBody>
      </p:sp>
      <p:sp>
        <p:nvSpPr>
          <p:cNvPr id="217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153400" cy="4114800"/>
          </a:xfrm>
        </p:spPr>
        <p:txBody>
          <a:bodyPr>
            <a:normAutofit/>
          </a:bodyPr>
          <a:lstStyle/>
          <a:p>
            <a:pPr marL="609600" indent="-609600">
              <a:buFont typeface="Wingdings" pitchFamily="2" charset="2"/>
              <a:buNone/>
            </a:pPr>
            <a:r>
              <a:rPr lang="en-US" dirty="0">
                <a:cs typeface="Times New Roman" pitchFamily="18" charset="0"/>
              </a:rPr>
              <a:t> </a:t>
            </a:r>
            <a:r>
              <a:rPr lang="en-US" sz="2800" dirty="0">
                <a:cs typeface="Times New Roman" pitchFamily="18" charset="0"/>
              </a:rPr>
              <a:t>There are two important properties of decompositions: </a:t>
            </a:r>
          </a:p>
          <a:p>
            <a:pPr marL="609600" indent="-609600">
              <a:buFont typeface="Wingdings" pitchFamily="2" charset="2"/>
              <a:buAutoNum type="alphaLcParenBoth"/>
            </a:pPr>
            <a:r>
              <a:rPr lang="en-US" sz="2800" dirty="0">
                <a:cs typeface="Times New Roman" pitchFamily="18" charset="0"/>
              </a:rPr>
              <a:t>non-additive or </a:t>
            </a:r>
            <a:r>
              <a:rPr lang="en-US" sz="2800" dirty="0" err="1">
                <a:cs typeface="Times New Roman" pitchFamily="18" charset="0"/>
              </a:rPr>
              <a:t>losslessness</a:t>
            </a:r>
            <a:r>
              <a:rPr lang="en-US" sz="2800" dirty="0">
                <a:cs typeface="Times New Roman" pitchFamily="18" charset="0"/>
              </a:rPr>
              <a:t> of the corresponding join</a:t>
            </a:r>
          </a:p>
          <a:p>
            <a:pPr marL="609600" indent="-609600">
              <a:buFont typeface="Wingdings" pitchFamily="2" charset="2"/>
              <a:buAutoNum type="alphaLcParenBoth"/>
            </a:pPr>
            <a:r>
              <a:rPr lang="en-US" sz="2800" dirty="0">
                <a:cs typeface="Times New Roman" pitchFamily="18" charset="0"/>
              </a:rPr>
              <a:t>preservation of the functional dependencies. </a:t>
            </a:r>
          </a:p>
          <a:p>
            <a:pPr marL="609600" indent="-609600">
              <a:buFont typeface="Wingdings" pitchFamily="2" charset="2"/>
              <a:buNone/>
            </a:pPr>
            <a:endParaRPr lang="en-US" sz="2800" dirty="0">
              <a:cs typeface="Times New Roman" pitchFamily="18" charset="0"/>
            </a:endParaRPr>
          </a:p>
          <a:p>
            <a:pPr marL="609600" indent="-609600">
              <a:buFont typeface="Wingdings" pitchFamily="2" charset="2"/>
              <a:buNone/>
            </a:pPr>
            <a:r>
              <a:rPr lang="en-US" sz="2800" dirty="0">
                <a:cs typeface="Times New Roman" pitchFamily="18" charset="0"/>
              </a:rPr>
              <a:t>Note that property (a) is extremely important and </a:t>
            </a:r>
            <a:r>
              <a:rPr lang="en-US" sz="2800" i="1" dirty="0">
                <a:cs typeface="Times New Roman" pitchFamily="18" charset="0"/>
              </a:rPr>
              <a:t>cannot</a:t>
            </a:r>
            <a:r>
              <a:rPr lang="en-US" sz="2800" dirty="0">
                <a:cs typeface="Times New Roman" pitchFamily="18" charset="0"/>
              </a:rPr>
              <a:t> be sacrificed. Property (b) is less stringent and may be sacrificed. </a:t>
            </a:r>
            <a:r>
              <a:rPr lang="en-US" sz="2800" dirty="0" smtClean="0"/>
              <a:t> </a:t>
            </a:r>
            <a:endParaRPr lang="en-US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002" name="Rectangle 10"/>
          <p:cNvSpPr>
            <a:spLocks noChangeArrowheads="1"/>
          </p:cNvSpPr>
          <p:nvPr/>
        </p:nvSpPr>
        <p:spPr bwMode="auto">
          <a:xfrm>
            <a:off x="1828800" y="13096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7" name="Picture 4" descr="31755_FIG1403.gif                                              0001035BEeyore                         B91DCF3B: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685800" y="1828800"/>
            <a:ext cx="7772400" cy="3475037"/>
          </a:xfrm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61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09600"/>
            <a:ext cx="8229600" cy="106680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Particularly poor design for the EMP_PROJ relation of Figure 10.3b.</a:t>
            </a:r>
            <a:endParaRPr lang="en-US" sz="2000" dirty="0"/>
          </a:p>
        </p:txBody>
      </p:sp>
      <p:pic>
        <p:nvPicPr>
          <p:cNvPr id="4" name="Picture 4" descr="31755_FIG1405a.gif                                             0001035BEeyore                         B91DCF3B: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381000" y="1423988"/>
            <a:ext cx="7239000" cy="3376612"/>
          </a:xfrm>
        </p:spPr>
      </p:pic>
      <p:pic>
        <p:nvPicPr>
          <p:cNvPr id="6" name="Picture 5" descr="31755_FIG1405b.gif                                             0001035BEeyore                         B91DCF3B: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609601" y="4876800"/>
            <a:ext cx="6553200" cy="1790700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dirty="0" smtClean="0"/>
              <a:t>Result of applying NATURAL JOIN to the </a:t>
            </a:r>
            <a:r>
              <a:rPr lang="en-US" sz="2000" dirty="0" err="1" smtClean="0"/>
              <a:t>tuples</a:t>
            </a:r>
            <a:r>
              <a:rPr lang="en-US" sz="2000" dirty="0" smtClean="0"/>
              <a:t> above the dotted lines in EMP_PROJ1 and EMP_LOCS of Figure 10.5. Generated spurious </a:t>
            </a:r>
            <a:r>
              <a:rPr lang="en-US" sz="2000" dirty="0" err="1" smtClean="0"/>
              <a:t>tuples</a:t>
            </a:r>
            <a:r>
              <a:rPr lang="en-US" sz="2000" dirty="0" smtClean="0"/>
              <a:t> are marked by asterisks.</a:t>
            </a:r>
            <a:endParaRPr lang="en-US" sz="2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C:\Users\Mehtab\Desktop\Unnamed QQ Screenshot2019050716152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131436"/>
            <a:ext cx="7543800" cy="4772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990600"/>
            <a:ext cx="8229600" cy="1066800"/>
          </a:xfrm>
        </p:spPr>
        <p:txBody>
          <a:bodyPr/>
          <a:lstStyle/>
          <a:p>
            <a:r>
              <a:rPr lang="en-US" sz="3200" b="1" smtClean="0">
                <a:cs typeface="Times New Roman" pitchFamily="18" charset="0"/>
              </a:rPr>
              <a:t>Functional </a:t>
            </a:r>
            <a:r>
              <a:rPr lang="en-US" sz="3200" b="1" dirty="0">
                <a:cs typeface="Times New Roman" pitchFamily="18" charset="0"/>
              </a:rPr>
              <a:t>Dependencies (1)</a:t>
            </a:r>
            <a:r>
              <a:rPr lang="en-US" dirty="0"/>
              <a:t> </a:t>
            </a:r>
          </a:p>
        </p:txBody>
      </p:sp>
      <p:sp>
        <p:nvSpPr>
          <p:cNvPr id="218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30400"/>
            <a:ext cx="7772400" cy="41148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2800">
                <a:cs typeface="Times New Roman" pitchFamily="18" charset="0"/>
              </a:rPr>
              <a:t>Functional dependencies (FDs) are used to specify </a:t>
            </a:r>
            <a:r>
              <a:rPr lang="en-US" sz="2800" i="1">
                <a:cs typeface="Times New Roman" pitchFamily="18" charset="0"/>
              </a:rPr>
              <a:t>formal measures</a:t>
            </a:r>
            <a:r>
              <a:rPr lang="en-US" sz="2800">
                <a:cs typeface="Times New Roman" pitchFamily="18" charset="0"/>
              </a:rPr>
              <a:t>  of the "goodness" of relational designs</a:t>
            </a:r>
          </a:p>
          <a:p>
            <a:pPr>
              <a:lnSpc>
                <a:spcPct val="90000"/>
              </a:lnSpc>
            </a:pPr>
            <a:r>
              <a:rPr lang="en-US" sz="2800">
                <a:cs typeface="Times New Roman" pitchFamily="18" charset="0"/>
              </a:rPr>
              <a:t>FDs and keys are used to define </a:t>
            </a:r>
            <a:r>
              <a:rPr lang="en-US" sz="2800" b="1">
                <a:cs typeface="Times New Roman" pitchFamily="18" charset="0"/>
              </a:rPr>
              <a:t>normal forms</a:t>
            </a:r>
            <a:r>
              <a:rPr lang="en-US" sz="2800">
                <a:cs typeface="Times New Roman" pitchFamily="18" charset="0"/>
              </a:rPr>
              <a:t> for relations</a:t>
            </a:r>
          </a:p>
          <a:p>
            <a:pPr>
              <a:lnSpc>
                <a:spcPct val="90000"/>
              </a:lnSpc>
            </a:pPr>
            <a:r>
              <a:rPr lang="en-US" sz="2800">
                <a:cs typeface="Times New Roman" pitchFamily="18" charset="0"/>
              </a:rPr>
              <a:t>FDs are </a:t>
            </a:r>
            <a:r>
              <a:rPr lang="en-US" sz="2800" b="1">
                <a:cs typeface="Times New Roman" pitchFamily="18" charset="0"/>
              </a:rPr>
              <a:t>constraints</a:t>
            </a:r>
            <a:r>
              <a:rPr lang="en-US" sz="2800">
                <a:cs typeface="Times New Roman" pitchFamily="18" charset="0"/>
              </a:rPr>
              <a:t> that are derived from the </a:t>
            </a:r>
            <a:r>
              <a:rPr lang="en-US" sz="2800" i="1">
                <a:cs typeface="Times New Roman" pitchFamily="18" charset="0"/>
              </a:rPr>
              <a:t>meaning</a:t>
            </a:r>
            <a:r>
              <a:rPr lang="en-US" sz="2800">
                <a:cs typeface="Times New Roman" pitchFamily="18" charset="0"/>
              </a:rPr>
              <a:t>  and </a:t>
            </a:r>
            <a:r>
              <a:rPr lang="en-US" sz="2800" i="1">
                <a:cs typeface="Times New Roman" pitchFamily="18" charset="0"/>
              </a:rPr>
              <a:t>interrelationships</a:t>
            </a:r>
            <a:r>
              <a:rPr lang="en-US" sz="2800">
                <a:cs typeface="Times New Roman" pitchFamily="18" charset="0"/>
              </a:rPr>
              <a:t>  of the data attributes</a:t>
            </a:r>
          </a:p>
          <a:p>
            <a:pPr>
              <a:lnSpc>
                <a:spcPct val="90000"/>
              </a:lnSpc>
            </a:pPr>
            <a:r>
              <a:rPr lang="en-US" sz="2800">
                <a:cs typeface="Times New Roman" pitchFamily="18" charset="0"/>
              </a:rPr>
              <a:t>A set of attributes X </a:t>
            </a:r>
            <a:r>
              <a:rPr lang="en-US" sz="2800" i="1">
                <a:cs typeface="Times New Roman" pitchFamily="18" charset="0"/>
              </a:rPr>
              <a:t>functionally determines</a:t>
            </a:r>
            <a:r>
              <a:rPr lang="en-US" sz="2800">
                <a:cs typeface="Times New Roman" pitchFamily="18" charset="0"/>
              </a:rPr>
              <a:t>  a set of attributes Y if the value of X determines a unique value for 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>
                <a:cs typeface="Times New Roman" pitchFamily="18" charset="0"/>
              </a:rPr>
              <a:t>Functional Dependencies (2)</a:t>
            </a:r>
          </a:p>
        </p:txBody>
      </p:sp>
      <p:sp>
        <p:nvSpPr>
          <p:cNvPr id="219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>
                <a:cs typeface="Times New Roman" pitchFamily="18" charset="0"/>
              </a:rPr>
              <a:t>X </a:t>
            </a:r>
            <a:r>
              <a:rPr lang="en-US" sz="2400">
                <a:latin typeface="BostonII" charset="0"/>
                <a:cs typeface="Times New Roman" pitchFamily="18" charset="0"/>
              </a:rPr>
              <a:t>-&gt; </a:t>
            </a:r>
            <a:r>
              <a:rPr lang="en-US" sz="2400">
                <a:cs typeface="Times New Roman" pitchFamily="18" charset="0"/>
              </a:rPr>
              <a:t>Y holds if whenever two tuples have the same value for X, they </a:t>
            </a:r>
            <a:r>
              <a:rPr lang="en-US" sz="2400" i="1">
                <a:cs typeface="Times New Roman" pitchFamily="18" charset="0"/>
              </a:rPr>
              <a:t>must have</a:t>
            </a:r>
            <a:r>
              <a:rPr lang="en-US" sz="2400">
                <a:cs typeface="Times New Roman" pitchFamily="18" charset="0"/>
              </a:rPr>
              <a:t>  the same value for Y</a:t>
            </a:r>
          </a:p>
          <a:p>
            <a:r>
              <a:rPr lang="en-US" sz="2400">
                <a:cs typeface="Times New Roman" pitchFamily="18" charset="0"/>
              </a:rPr>
              <a:t>For any two tuples t1 and t2 in any relation instance r(R): </a:t>
            </a:r>
            <a:r>
              <a:rPr lang="en-US" sz="2400" i="1">
                <a:cs typeface="Times New Roman" pitchFamily="18" charset="0"/>
              </a:rPr>
              <a:t>If</a:t>
            </a:r>
            <a:r>
              <a:rPr lang="en-US" sz="2400">
                <a:cs typeface="Times New Roman" pitchFamily="18" charset="0"/>
              </a:rPr>
              <a:t>  t1[X]=t2[X], </a:t>
            </a:r>
            <a:r>
              <a:rPr lang="en-US" sz="2400" i="1">
                <a:cs typeface="Times New Roman" pitchFamily="18" charset="0"/>
              </a:rPr>
              <a:t>then</a:t>
            </a:r>
            <a:r>
              <a:rPr lang="en-US" sz="2400">
                <a:cs typeface="Times New Roman" pitchFamily="18" charset="0"/>
              </a:rPr>
              <a:t>  t1[Y]=t2[Y]</a:t>
            </a:r>
          </a:p>
          <a:p>
            <a:r>
              <a:rPr lang="en-US" sz="2400">
                <a:cs typeface="Times New Roman" pitchFamily="18" charset="0"/>
              </a:rPr>
              <a:t>X </a:t>
            </a:r>
            <a:r>
              <a:rPr lang="en-US" sz="2400">
                <a:latin typeface="BostonII" charset="0"/>
                <a:cs typeface="Times New Roman" pitchFamily="18" charset="0"/>
              </a:rPr>
              <a:t>-&gt; </a:t>
            </a:r>
            <a:r>
              <a:rPr lang="en-US" sz="2400">
                <a:cs typeface="Times New Roman" pitchFamily="18" charset="0"/>
              </a:rPr>
              <a:t>Y in R specifies a </a:t>
            </a:r>
            <a:r>
              <a:rPr lang="en-US" sz="2400" i="1">
                <a:cs typeface="Times New Roman" pitchFamily="18" charset="0"/>
              </a:rPr>
              <a:t>constraint</a:t>
            </a:r>
            <a:r>
              <a:rPr lang="en-US" sz="2400">
                <a:cs typeface="Times New Roman" pitchFamily="18" charset="0"/>
              </a:rPr>
              <a:t>  on all relation instances r(R)</a:t>
            </a:r>
          </a:p>
          <a:p>
            <a:r>
              <a:rPr lang="en-US" sz="2400">
                <a:cs typeface="Times New Roman" pitchFamily="18" charset="0"/>
              </a:rPr>
              <a:t>Written as X </a:t>
            </a:r>
            <a:r>
              <a:rPr lang="en-US" sz="2400">
                <a:latin typeface="BostonII" charset="0"/>
                <a:cs typeface="Times New Roman" pitchFamily="18" charset="0"/>
              </a:rPr>
              <a:t>-&gt; </a:t>
            </a:r>
            <a:r>
              <a:rPr lang="en-US" sz="2400">
                <a:cs typeface="Times New Roman" pitchFamily="18" charset="0"/>
              </a:rPr>
              <a:t>Y; can be displayed graphically on a relation schema as in Figures.  ( denoted by the arrow:  ).</a:t>
            </a:r>
          </a:p>
          <a:p>
            <a:r>
              <a:rPr lang="en-US" sz="2400">
                <a:cs typeface="Times New Roman" pitchFamily="18" charset="0"/>
              </a:rPr>
              <a:t>FDs are derived from the real-world constraints on the attributes</a:t>
            </a:r>
            <a:r>
              <a:rPr lang="en-US" sz="2800"/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/>
              <a:t>Figure 10.3 Two relation schemas suffering from update anomalies</a:t>
            </a:r>
          </a:p>
        </p:txBody>
      </p:sp>
      <p:sp>
        <p:nvSpPr>
          <p:cNvPr id="213002" name="Rectangle 10"/>
          <p:cNvSpPr>
            <a:spLocks noChangeArrowheads="1"/>
          </p:cNvSpPr>
          <p:nvPr/>
        </p:nvSpPr>
        <p:spPr bwMode="auto">
          <a:xfrm>
            <a:off x="1828800" y="13096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7" name="Picture 4" descr="31755_FIG1403.gif                                              0001035BEeyore                         B91DCF3B: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685800" y="2590800"/>
            <a:ext cx="7772400" cy="3475037"/>
          </a:xfrm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802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>
                <a:cs typeface="Times New Roman" pitchFamily="18" charset="0"/>
              </a:rPr>
              <a:t>Examples of FD constraints (1)</a:t>
            </a:r>
            <a:r>
              <a:rPr lang="en-US"/>
              <a:t> </a:t>
            </a:r>
          </a:p>
        </p:txBody>
      </p:sp>
      <p:sp>
        <p:nvSpPr>
          <p:cNvPr id="220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>
                <a:cs typeface="Times New Roman" pitchFamily="18" charset="0"/>
              </a:rPr>
              <a:t>social security number determines employee name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800">
                <a:cs typeface="Times New Roman" pitchFamily="18" charset="0"/>
              </a:rPr>
              <a:t>	SSN </a:t>
            </a:r>
            <a:r>
              <a:rPr lang="en-US" sz="2800">
                <a:latin typeface="BostonII" charset="0"/>
                <a:cs typeface="Times New Roman" pitchFamily="18" charset="0"/>
              </a:rPr>
              <a:t>-&gt; </a:t>
            </a:r>
            <a:r>
              <a:rPr lang="en-US" sz="2800">
                <a:cs typeface="Times New Roman" pitchFamily="18" charset="0"/>
              </a:rPr>
              <a:t>ENAME</a:t>
            </a:r>
          </a:p>
          <a:p>
            <a:pPr>
              <a:lnSpc>
                <a:spcPct val="90000"/>
              </a:lnSpc>
            </a:pPr>
            <a:r>
              <a:rPr lang="en-US" sz="2800">
                <a:cs typeface="Times New Roman" pitchFamily="18" charset="0"/>
              </a:rPr>
              <a:t>project number determines project name and location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800">
                <a:cs typeface="Times New Roman" pitchFamily="18" charset="0"/>
              </a:rPr>
              <a:t>	PNUMBER </a:t>
            </a:r>
            <a:r>
              <a:rPr lang="en-US" sz="2800">
                <a:latin typeface="BostonII" charset="0"/>
                <a:cs typeface="Times New Roman" pitchFamily="18" charset="0"/>
              </a:rPr>
              <a:t>-&gt; </a:t>
            </a:r>
            <a:r>
              <a:rPr lang="en-US" sz="2800">
                <a:cs typeface="Times New Roman" pitchFamily="18" charset="0"/>
              </a:rPr>
              <a:t>{PNAME, PLOCATION}</a:t>
            </a:r>
          </a:p>
          <a:p>
            <a:pPr>
              <a:lnSpc>
                <a:spcPct val="90000"/>
              </a:lnSpc>
            </a:pPr>
            <a:r>
              <a:rPr lang="en-US" sz="2800">
                <a:cs typeface="Times New Roman" pitchFamily="18" charset="0"/>
              </a:rPr>
              <a:t>employee ssn and project number determines the hours per week that the employee works on the project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800">
                <a:cs typeface="Times New Roman" pitchFamily="18" charset="0"/>
              </a:rPr>
              <a:t>	{SSN, PNUMBER} </a:t>
            </a:r>
            <a:r>
              <a:rPr lang="en-US" sz="2800">
                <a:latin typeface="BostonII" charset="0"/>
                <a:cs typeface="Times New Roman" pitchFamily="18" charset="0"/>
              </a:rPr>
              <a:t>-&gt; </a:t>
            </a:r>
            <a:r>
              <a:rPr lang="en-US" sz="2800">
                <a:cs typeface="Times New Roman" pitchFamily="18" charset="0"/>
              </a:rPr>
              <a:t>HOURS</a:t>
            </a:r>
            <a:r>
              <a:rPr lang="en-US" sz="2800"/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>
                <a:cs typeface="Times New Roman" pitchFamily="18" charset="0"/>
              </a:rPr>
              <a:t>Examples of FD constraints (2)</a:t>
            </a:r>
          </a:p>
        </p:txBody>
      </p:sp>
      <p:sp>
        <p:nvSpPr>
          <p:cNvPr id="221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 smtClean="0">
                <a:cs typeface="Times New Roman" pitchFamily="18" charset="0"/>
              </a:rPr>
              <a:t>FD </a:t>
            </a:r>
            <a:r>
              <a:rPr lang="en-US" sz="2800" dirty="0">
                <a:cs typeface="Times New Roman" pitchFamily="18" charset="0"/>
              </a:rPr>
              <a:t>is a property of the attributes in the schema R</a:t>
            </a:r>
          </a:p>
          <a:p>
            <a:r>
              <a:rPr lang="en-US" sz="2800" dirty="0">
                <a:cs typeface="Times New Roman" pitchFamily="18" charset="0"/>
              </a:rPr>
              <a:t>The constraint must hold on </a:t>
            </a:r>
            <a:r>
              <a:rPr lang="en-US" sz="2800" i="1" dirty="0">
                <a:cs typeface="Times New Roman" pitchFamily="18" charset="0"/>
              </a:rPr>
              <a:t>every relation instance</a:t>
            </a:r>
            <a:r>
              <a:rPr lang="en-US" sz="2800" dirty="0">
                <a:cs typeface="Times New Roman" pitchFamily="18" charset="0"/>
              </a:rPr>
              <a:t>  r(R)</a:t>
            </a:r>
          </a:p>
          <a:p>
            <a:r>
              <a:rPr lang="en-US" sz="2800" dirty="0">
                <a:cs typeface="Times New Roman" pitchFamily="18" charset="0"/>
              </a:rPr>
              <a:t>If K is a key of R, then K functionally determines all attributes in R (since we never have two distinct tuples with t1[K]=t2[K])</a:t>
            </a:r>
            <a:r>
              <a:rPr lang="en-US" sz="2800" dirty="0"/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smtClean="0">
                <a:cs typeface="Times New Roman" pitchFamily="18" charset="0"/>
              </a:rPr>
              <a:t>Inference </a:t>
            </a:r>
            <a:r>
              <a:rPr lang="en-US" sz="3200" b="1" dirty="0">
                <a:cs typeface="Times New Roman" pitchFamily="18" charset="0"/>
              </a:rPr>
              <a:t>Rules for FDs (1)</a:t>
            </a:r>
            <a:r>
              <a:rPr lang="en-US" dirty="0"/>
              <a:t> </a:t>
            </a:r>
          </a:p>
        </p:txBody>
      </p:sp>
      <p:sp>
        <p:nvSpPr>
          <p:cNvPr id="222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>
                <a:cs typeface="Times New Roman" pitchFamily="18" charset="0"/>
              </a:rPr>
              <a:t>Given a set of FDs F, we can </a:t>
            </a:r>
            <a:r>
              <a:rPr lang="en-US" sz="2800" i="1" dirty="0">
                <a:cs typeface="Times New Roman" pitchFamily="18" charset="0"/>
              </a:rPr>
              <a:t>infer</a:t>
            </a:r>
            <a:r>
              <a:rPr lang="en-US" sz="2800" dirty="0">
                <a:cs typeface="Times New Roman" pitchFamily="18" charset="0"/>
              </a:rPr>
              <a:t> </a:t>
            </a:r>
            <a:r>
              <a:rPr lang="en-US" sz="2800" dirty="0" smtClean="0">
                <a:cs typeface="Times New Roman" pitchFamily="18" charset="0"/>
              </a:rPr>
              <a:t>additional </a:t>
            </a:r>
            <a:r>
              <a:rPr lang="en-US" sz="2800" dirty="0">
                <a:cs typeface="Times New Roman" pitchFamily="18" charset="0"/>
              </a:rPr>
              <a:t>FDs that hold whenever the FDs in F hold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800" dirty="0">
                <a:cs typeface="Times New Roman" pitchFamily="18" charset="0"/>
              </a:rPr>
              <a:t> </a:t>
            </a:r>
            <a:r>
              <a:rPr lang="en-US" sz="2800" b="1" u="sng" dirty="0">
                <a:cs typeface="Times New Roman" pitchFamily="18" charset="0"/>
              </a:rPr>
              <a:t>Armstrong's inference </a:t>
            </a:r>
            <a:r>
              <a:rPr lang="en-US" sz="2800" b="1" u="sng" dirty="0" smtClean="0">
                <a:cs typeface="Times New Roman" pitchFamily="18" charset="0"/>
              </a:rPr>
              <a:t>rules (proposed in 1974):</a:t>
            </a:r>
            <a:endParaRPr lang="en-US" sz="2800" b="1" dirty="0">
              <a:cs typeface="Times New Roman" pitchFamily="18" charset="0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>
                <a:cs typeface="Times New Roman" pitchFamily="18" charset="0"/>
              </a:rPr>
              <a:t>IR1. (</a:t>
            </a:r>
            <a:r>
              <a:rPr lang="en-US" sz="2400" b="1" dirty="0">
                <a:cs typeface="Times New Roman" pitchFamily="18" charset="0"/>
              </a:rPr>
              <a:t>Reflexive</a:t>
            </a:r>
            <a:r>
              <a:rPr lang="en-US" sz="2400" dirty="0">
                <a:cs typeface="Times New Roman" pitchFamily="18" charset="0"/>
              </a:rPr>
              <a:t>) If Y </a:t>
            </a:r>
            <a:r>
              <a:rPr lang="en-US" sz="2400" i="1" u="sng" dirty="0">
                <a:latin typeface="BostonII" charset="0"/>
                <a:cs typeface="Times New Roman" pitchFamily="18" charset="0"/>
              </a:rPr>
              <a:t>subset-of</a:t>
            </a:r>
            <a:r>
              <a:rPr lang="en-US" sz="2400" dirty="0">
                <a:cs typeface="Times New Roman" pitchFamily="18" charset="0"/>
              </a:rPr>
              <a:t> X, then X </a:t>
            </a:r>
            <a:r>
              <a:rPr lang="en-US" sz="2400" dirty="0">
                <a:latin typeface="BostonII" charset="0"/>
                <a:cs typeface="Times New Roman" pitchFamily="18" charset="0"/>
              </a:rPr>
              <a:t>-&gt; </a:t>
            </a:r>
            <a:r>
              <a:rPr lang="en-US" sz="2400" dirty="0">
                <a:cs typeface="Times New Roman" pitchFamily="18" charset="0"/>
              </a:rPr>
              <a:t>Y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>
                <a:cs typeface="Times New Roman" pitchFamily="18" charset="0"/>
              </a:rPr>
              <a:t>IR2. (</a:t>
            </a:r>
            <a:r>
              <a:rPr lang="en-US" sz="2400" b="1" dirty="0">
                <a:cs typeface="Times New Roman" pitchFamily="18" charset="0"/>
              </a:rPr>
              <a:t>Augmentation</a:t>
            </a:r>
            <a:r>
              <a:rPr lang="en-US" sz="2400" dirty="0">
                <a:cs typeface="Times New Roman" pitchFamily="18" charset="0"/>
              </a:rPr>
              <a:t>) If X </a:t>
            </a:r>
            <a:r>
              <a:rPr lang="en-US" sz="2400" dirty="0">
                <a:latin typeface="BostonII" charset="0"/>
                <a:cs typeface="Times New Roman" pitchFamily="18" charset="0"/>
              </a:rPr>
              <a:t>-&gt; </a:t>
            </a:r>
            <a:r>
              <a:rPr lang="en-US" sz="2400" dirty="0">
                <a:cs typeface="Times New Roman" pitchFamily="18" charset="0"/>
              </a:rPr>
              <a:t>Y, then XZ </a:t>
            </a:r>
            <a:r>
              <a:rPr lang="en-US" sz="2400" dirty="0">
                <a:latin typeface="BostonII" charset="0"/>
                <a:cs typeface="Times New Roman" pitchFamily="18" charset="0"/>
              </a:rPr>
              <a:t>-&gt; </a:t>
            </a:r>
            <a:r>
              <a:rPr lang="en-US" sz="2400" dirty="0">
                <a:cs typeface="Times New Roman" pitchFamily="18" charset="0"/>
              </a:rPr>
              <a:t>YZ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>
                <a:cs typeface="Times New Roman" pitchFamily="18" charset="0"/>
              </a:rPr>
              <a:t>		(Notation: XZ stands for X </a:t>
            </a:r>
            <a:r>
              <a:rPr lang="en-US" sz="2400" dirty="0">
                <a:latin typeface="BostonII" charset="0"/>
                <a:cs typeface="Times New Roman" pitchFamily="18" charset="0"/>
              </a:rPr>
              <a:t>U</a:t>
            </a:r>
            <a:r>
              <a:rPr lang="en-US" sz="2400" dirty="0">
                <a:cs typeface="Times New Roman" pitchFamily="18" charset="0"/>
              </a:rPr>
              <a:t> Z)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>
                <a:cs typeface="Times New Roman" pitchFamily="18" charset="0"/>
              </a:rPr>
              <a:t>IR3. (</a:t>
            </a:r>
            <a:r>
              <a:rPr lang="en-US" sz="2400" b="1" dirty="0">
                <a:cs typeface="Times New Roman" pitchFamily="18" charset="0"/>
              </a:rPr>
              <a:t>Transitive</a:t>
            </a:r>
            <a:r>
              <a:rPr lang="en-US" sz="2400" dirty="0">
                <a:cs typeface="Times New Roman" pitchFamily="18" charset="0"/>
              </a:rPr>
              <a:t>) If X </a:t>
            </a:r>
            <a:r>
              <a:rPr lang="en-US" sz="2400" dirty="0">
                <a:latin typeface="BostonII" charset="0"/>
                <a:cs typeface="Times New Roman" pitchFamily="18" charset="0"/>
              </a:rPr>
              <a:t>-&gt; </a:t>
            </a:r>
            <a:r>
              <a:rPr lang="en-US" sz="2400" dirty="0">
                <a:cs typeface="Times New Roman" pitchFamily="18" charset="0"/>
              </a:rPr>
              <a:t>Y and Y </a:t>
            </a:r>
            <a:r>
              <a:rPr lang="en-US" sz="2400" dirty="0">
                <a:latin typeface="BostonII" charset="0"/>
                <a:cs typeface="Times New Roman" pitchFamily="18" charset="0"/>
              </a:rPr>
              <a:t>-&gt; </a:t>
            </a:r>
            <a:r>
              <a:rPr lang="en-US" sz="2400" dirty="0">
                <a:cs typeface="Times New Roman" pitchFamily="18" charset="0"/>
              </a:rPr>
              <a:t>Z, then X </a:t>
            </a:r>
            <a:r>
              <a:rPr lang="en-US" sz="2400" dirty="0">
                <a:latin typeface="BostonII" charset="0"/>
                <a:cs typeface="Times New Roman" pitchFamily="18" charset="0"/>
              </a:rPr>
              <a:t>-&gt; </a:t>
            </a:r>
            <a:r>
              <a:rPr lang="en-US" sz="2400" dirty="0">
                <a:cs typeface="Times New Roman" pitchFamily="18" charset="0"/>
              </a:rPr>
              <a:t>Z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400" dirty="0"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800" dirty="0">
                <a:cs typeface="Times New Roman" pitchFamily="18" charset="0"/>
              </a:rPr>
              <a:t> IR1, IR2, IR3 form a </a:t>
            </a:r>
            <a:r>
              <a:rPr lang="en-US" sz="2800" i="1" dirty="0">
                <a:cs typeface="Times New Roman" pitchFamily="18" charset="0"/>
              </a:rPr>
              <a:t>sound</a:t>
            </a:r>
            <a:r>
              <a:rPr lang="en-US" sz="2800" dirty="0">
                <a:cs typeface="Times New Roman" pitchFamily="18" charset="0"/>
              </a:rPr>
              <a:t>  and</a:t>
            </a:r>
            <a:r>
              <a:rPr lang="en-US" sz="2800" i="1" dirty="0">
                <a:cs typeface="Times New Roman" pitchFamily="18" charset="0"/>
              </a:rPr>
              <a:t> complete</a:t>
            </a:r>
            <a:r>
              <a:rPr lang="en-US" sz="2800" dirty="0">
                <a:cs typeface="Times New Roman" pitchFamily="18" charset="0"/>
              </a:rPr>
              <a:t>  set of inference rules</a:t>
            </a:r>
            <a:r>
              <a:rPr lang="en-US" sz="2800" dirty="0"/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>
                <a:cs typeface="Times New Roman" pitchFamily="18" charset="0"/>
              </a:rPr>
              <a:t>Inference Rules for FDs (2)</a:t>
            </a:r>
          </a:p>
        </p:txBody>
      </p:sp>
      <p:sp>
        <p:nvSpPr>
          <p:cNvPr id="223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800" u="sng">
                <a:cs typeface="Times New Roman" pitchFamily="18" charset="0"/>
              </a:rPr>
              <a:t>Some </a:t>
            </a:r>
            <a:r>
              <a:rPr lang="en-US" sz="2800" b="1" u="sng">
                <a:cs typeface="Times New Roman" pitchFamily="18" charset="0"/>
              </a:rPr>
              <a:t>additional inference rules</a:t>
            </a:r>
            <a:r>
              <a:rPr lang="en-US" sz="2800" u="sng">
                <a:cs typeface="Times New Roman" pitchFamily="18" charset="0"/>
              </a:rPr>
              <a:t> that are useful:</a:t>
            </a:r>
            <a:endParaRPr lang="en-US" sz="2800">
              <a:cs typeface="Times New Roman" pitchFamily="18" charset="0"/>
            </a:endParaRPr>
          </a:p>
          <a:p>
            <a:pPr>
              <a:buFont typeface="Wingdings" pitchFamily="2" charset="2"/>
              <a:buNone/>
            </a:pPr>
            <a:r>
              <a:rPr lang="en-US" sz="2400">
                <a:cs typeface="Times New Roman" pitchFamily="18" charset="0"/>
              </a:rPr>
              <a:t>(</a:t>
            </a:r>
            <a:r>
              <a:rPr lang="en-US" sz="2400" b="1">
                <a:cs typeface="Times New Roman" pitchFamily="18" charset="0"/>
              </a:rPr>
              <a:t>Decomposition</a:t>
            </a:r>
            <a:r>
              <a:rPr lang="en-US" sz="2400">
                <a:cs typeface="Times New Roman" pitchFamily="18" charset="0"/>
              </a:rPr>
              <a:t>) If X </a:t>
            </a:r>
            <a:r>
              <a:rPr lang="en-US" sz="2400">
                <a:latin typeface="BostonII" charset="0"/>
                <a:cs typeface="Times New Roman" pitchFamily="18" charset="0"/>
              </a:rPr>
              <a:t>-&gt; </a:t>
            </a:r>
            <a:r>
              <a:rPr lang="en-US" sz="2400">
                <a:cs typeface="Times New Roman" pitchFamily="18" charset="0"/>
              </a:rPr>
              <a:t>YZ, then X </a:t>
            </a:r>
            <a:r>
              <a:rPr lang="en-US" sz="2400">
                <a:latin typeface="BostonII" charset="0"/>
                <a:cs typeface="Times New Roman" pitchFamily="18" charset="0"/>
              </a:rPr>
              <a:t>-&gt; </a:t>
            </a:r>
            <a:r>
              <a:rPr lang="en-US" sz="2400">
                <a:cs typeface="Times New Roman" pitchFamily="18" charset="0"/>
              </a:rPr>
              <a:t>Y and X </a:t>
            </a:r>
            <a:r>
              <a:rPr lang="en-US" sz="2400">
                <a:latin typeface="BostonII" charset="0"/>
                <a:cs typeface="Times New Roman" pitchFamily="18" charset="0"/>
              </a:rPr>
              <a:t>-&gt; </a:t>
            </a:r>
            <a:r>
              <a:rPr lang="en-US" sz="2400">
                <a:cs typeface="Times New Roman" pitchFamily="18" charset="0"/>
              </a:rPr>
              <a:t>Z</a:t>
            </a:r>
          </a:p>
          <a:p>
            <a:pPr>
              <a:buFont typeface="Wingdings" pitchFamily="2" charset="2"/>
              <a:buNone/>
            </a:pPr>
            <a:r>
              <a:rPr lang="en-US" sz="2400">
                <a:cs typeface="Times New Roman" pitchFamily="18" charset="0"/>
              </a:rPr>
              <a:t>(</a:t>
            </a:r>
            <a:r>
              <a:rPr lang="en-US" sz="2400" b="1">
                <a:cs typeface="Times New Roman" pitchFamily="18" charset="0"/>
              </a:rPr>
              <a:t>Union</a:t>
            </a:r>
            <a:r>
              <a:rPr lang="en-US" sz="2400">
                <a:cs typeface="Times New Roman" pitchFamily="18" charset="0"/>
              </a:rPr>
              <a:t>) If X </a:t>
            </a:r>
            <a:r>
              <a:rPr lang="en-US" sz="2400">
                <a:latin typeface="BostonII" charset="0"/>
                <a:cs typeface="Times New Roman" pitchFamily="18" charset="0"/>
              </a:rPr>
              <a:t>-&gt; </a:t>
            </a:r>
            <a:r>
              <a:rPr lang="en-US" sz="2400">
                <a:cs typeface="Times New Roman" pitchFamily="18" charset="0"/>
              </a:rPr>
              <a:t>Y and X </a:t>
            </a:r>
            <a:r>
              <a:rPr lang="en-US" sz="2400">
                <a:latin typeface="BostonII" charset="0"/>
                <a:cs typeface="Times New Roman" pitchFamily="18" charset="0"/>
              </a:rPr>
              <a:t>-&gt; </a:t>
            </a:r>
            <a:r>
              <a:rPr lang="en-US" sz="2400">
                <a:cs typeface="Times New Roman" pitchFamily="18" charset="0"/>
              </a:rPr>
              <a:t>Z, then X </a:t>
            </a:r>
            <a:r>
              <a:rPr lang="en-US" sz="2400">
                <a:latin typeface="BostonII" charset="0"/>
                <a:cs typeface="Times New Roman" pitchFamily="18" charset="0"/>
              </a:rPr>
              <a:t>-&gt; </a:t>
            </a:r>
            <a:r>
              <a:rPr lang="en-US" sz="2400">
                <a:cs typeface="Times New Roman" pitchFamily="18" charset="0"/>
              </a:rPr>
              <a:t>YZ</a:t>
            </a:r>
          </a:p>
          <a:p>
            <a:pPr>
              <a:buFont typeface="Wingdings" pitchFamily="2" charset="2"/>
              <a:buNone/>
            </a:pPr>
            <a:r>
              <a:rPr lang="en-US" sz="2400">
                <a:cs typeface="Times New Roman" pitchFamily="18" charset="0"/>
              </a:rPr>
              <a:t>(</a:t>
            </a:r>
            <a:r>
              <a:rPr lang="en-US" sz="2400" b="1">
                <a:cs typeface="Times New Roman" pitchFamily="18" charset="0"/>
              </a:rPr>
              <a:t>Psuedotransitivity</a:t>
            </a:r>
            <a:r>
              <a:rPr lang="en-US" sz="2400">
                <a:cs typeface="Times New Roman" pitchFamily="18" charset="0"/>
              </a:rPr>
              <a:t>) If X </a:t>
            </a:r>
            <a:r>
              <a:rPr lang="en-US" sz="2400">
                <a:latin typeface="BostonII" charset="0"/>
                <a:cs typeface="Times New Roman" pitchFamily="18" charset="0"/>
              </a:rPr>
              <a:t>-&gt; </a:t>
            </a:r>
            <a:r>
              <a:rPr lang="en-US" sz="2400">
                <a:cs typeface="Times New Roman" pitchFamily="18" charset="0"/>
              </a:rPr>
              <a:t>Y and WY </a:t>
            </a:r>
            <a:r>
              <a:rPr lang="en-US" sz="2400">
                <a:latin typeface="BostonII" charset="0"/>
                <a:cs typeface="Times New Roman" pitchFamily="18" charset="0"/>
              </a:rPr>
              <a:t>-&gt; </a:t>
            </a:r>
            <a:r>
              <a:rPr lang="en-US" sz="2400">
                <a:cs typeface="Times New Roman" pitchFamily="18" charset="0"/>
              </a:rPr>
              <a:t>Z, then WX </a:t>
            </a:r>
            <a:r>
              <a:rPr lang="en-US" sz="2400">
                <a:latin typeface="BostonII" charset="0"/>
                <a:cs typeface="Times New Roman" pitchFamily="18" charset="0"/>
              </a:rPr>
              <a:t>-&gt; </a:t>
            </a:r>
            <a:r>
              <a:rPr lang="en-US" sz="2400">
                <a:cs typeface="Times New Roman" pitchFamily="18" charset="0"/>
              </a:rPr>
              <a:t>Z</a:t>
            </a:r>
          </a:p>
          <a:p>
            <a:pPr>
              <a:buFont typeface="Wingdings" pitchFamily="2" charset="2"/>
              <a:buNone/>
            </a:pPr>
            <a:endParaRPr lang="en-US" sz="2400">
              <a:cs typeface="Times New Roman" pitchFamily="18" charset="0"/>
            </a:endParaRPr>
          </a:p>
          <a:p>
            <a:r>
              <a:rPr lang="en-US" sz="2800">
                <a:cs typeface="Times New Roman" pitchFamily="18" charset="0"/>
              </a:rPr>
              <a:t> The last three inference rules, as well as any other inference rules, can be deduced from IR1, IR2, and IR3 (completeness property)</a:t>
            </a:r>
            <a:r>
              <a:rPr lang="en-US" sz="2800"/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1595</TotalTime>
  <Words>573</Words>
  <Application>Microsoft Office PowerPoint</Application>
  <PresentationFormat>On-screen Show (4:3)</PresentationFormat>
  <Paragraphs>101</Paragraphs>
  <Slides>15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Urban</vt:lpstr>
      <vt:lpstr>Database Systems </vt:lpstr>
      <vt:lpstr>Today’s Agenda</vt:lpstr>
      <vt:lpstr>Null Values in Tuples </vt:lpstr>
      <vt:lpstr>Spurious Tuples </vt:lpstr>
      <vt:lpstr>Spurious Tuples (2)</vt:lpstr>
      <vt:lpstr>PowerPoint Presentation</vt:lpstr>
      <vt:lpstr>Particularly poor design for the EMP_PROJ relation of Figure 10.3b.</vt:lpstr>
      <vt:lpstr>Result of applying NATURAL JOIN to the tuples above the dotted lines in EMP_PROJ1 and EMP_LOCS of Figure 10.5. Generated spurious tuples are marked by asterisks.</vt:lpstr>
      <vt:lpstr>Functional Dependencies (1) </vt:lpstr>
      <vt:lpstr>Functional Dependencies (2)</vt:lpstr>
      <vt:lpstr>Figure 10.3 Two relation schemas suffering from update anomalies</vt:lpstr>
      <vt:lpstr>Examples of FD constraints (1) </vt:lpstr>
      <vt:lpstr>Examples of FD constraints (2)</vt:lpstr>
      <vt:lpstr>Inference Rules for FDs (1) </vt:lpstr>
      <vt:lpstr>Inference Rules for FDs (2)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Systems</dc:title>
  <dc:creator>RANA</dc:creator>
  <cp:lastModifiedBy>MEHTAB</cp:lastModifiedBy>
  <cp:revision>21</cp:revision>
  <dcterms:created xsi:type="dcterms:W3CDTF">2006-08-16T00:00:00Z</dcterms:created>
  <dcterms:modified xsi:type="dcterms:W3CDTF">2021-05-19T07:22:35Z</dcterms:modified>
</cp:coreProperties>
</file>
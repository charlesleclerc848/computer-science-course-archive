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306" r:id="rId4"/>
    <p:sldId id="351" r:id="rId5"/>
    <p:sldId id="345" r:id="rId6"/>
    <p:sldId id="350" r:id="rId7"/>
    <p:sldId id="348" r:id="rId8"/>
    <p:sldId id="349" r:id="rId9"/>
    <p:sldId id="346" r:id="rId10"/>
    <p:sldId id="367" r:id="rId11"/>
    <p:sldId id="368" r:id="rId12"/>
    <p:sldId id="369" r:id="rId13"/>
    <p:sldId id="361" r:id="rId14"/>
    <p:sldId id="363" r:id="rId15"/>
    <p:sldId id="364" r:id="rId16"/>
    <p:sldId id="365" r:id="rId17"/>
    <p:sldId id="366" r:id="rId18"/>
    <p:sldId id="362" r:id="rId19"/>
    <p:sldId id="353" r:id="rId20"/>
    <p:sldId id="356" r:id="rId21"/>
    <p:sldId id="357" r:id="rId22"/>
    <p:sldId id="378" r:id="rId23"/>
    <p:sldId id="359" r:id="rId24"/>
    <p:sldId id="370" r:id="rId25"/>
    <p:sldId id="371" r:id="rId26"/>
    <p:sldId id="372" r:id="rId27"/>
    <p:sldId id="373" r:id="rId28"/>
    <p:sldId id="374" r:id="rId29"/>
    <p:sldId id="375" r:id="rId30"/>
    <p:sldId id="37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5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6" autoAdjust="0"/>
    <p:restoredTop sz="88376" autoAdjust="0"/>
  </p:normalViewPr>
  <p:slideViewPr>
    <p:cSldViewPr snapToGrid="0">
      <p:cViewPr varScale="1">
        <p:scale>
          <a:sx n="66" d="100"/>
          <a:sy n="66" d="100"/>
        </p:scale>
        <p:origin x="9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12/23/2021</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2</a:t>
            </a:fld>
            <a:endParaRPr lang="x-none"/>
          </a:p>
        </p:txBody>
      </p:sp>
    </p:spTree>
    <p:extLst>
      <p:ext uri="{BB962C8B-B14F-4D97-AF65-F5344CB8AC3E}">
        <p14:creationId xmlns:p14="http://schemas.microsoft.com/office/powerpoint/2010/main" val="334468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Hackers</a:t>
            </a:r>
            <a:r>
              <a:rPr lang="en-US" sz="1200" b="0" i="0" kern="1200" dirty="0" smtClean="0">
                <a:solidFill>
                  <a:schemeClr val="tx1"/>
                </a:solidFill>
                <a:effectLst/>
                <a:latin typeface="+mn-lt"/>
                <a:ea typeface="+mn-ea"/>
                <a:cs typeface="+mn-cs"/>
              </a:rPr>
              <a:t> constantly seek further knowledge; freely share what they have discovered, and never intentionally damage data. </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intruder</a:t>
            </a:r>
            <a:r>
              <a:rPr lang="en-US" sz="1200" b="0" i="0" kern="1200" dirty="0" smtClean="0">
                <a:solidFill>
                  <a:schemeClr val="tx1"/>
                </a:solidFill>
                <a:effectLst/>
                <a:latin typeface="+mn-lt"/>
                <a:ea typeface="+mn-ea"/>
                <a:cs typeface="+mn-cs"/>
              </a:rPr>
              <a:t> is one who breaks into or otherwise violates the system integrity of remote machines with malicious intent.</a:t>
            </a:r>
            <a:endParaRPr lang="en-US" dirty="0" smtClean="0"/>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5</a:t>
            </a:fld>
            <a:endParaRPr lang="x-none"/>
          </a:p>
        </p:txBody>
      </p:sp>
    </p:spTree>
    <p:extLst>
      <p:ext uri="{BB962C8B-B14F-4D97-AF65-F5344CB8AC3E}">
        <p14:creationId xmlns:p14="http://schemas.microsoft.com/office/powerpoint/2010/main" val="166715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ICT: Information and Communication Technology</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6</a:t>
            </a:fld>
            <a:endParaRPr lang="x-none"/>
          </a:p>
        </p:txBody>
      </p:sp>
    </p:spTree>
    <p:extLst>
      <p:ext uri="{BB962C8B-B14F-4D97-AF65-F5344CB8AC3E}">
        <p14:creationId xmlns:p14="http://schemas.microsoft.com/office/powerpoint/2010/main" val="3668961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Content Filtering software is software that restricts or controls the content an Internet user is capable to access, especially when utilized to restrict material delivered over the Internet via the Web, e-mail, or other means.</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10</a:t>
            </a:fld>
            <a:endParaRPr lang="x-none"/>
          </a:p>
        </p:txBody>
      </p:sp>
    </p:spTree>
    <p:extLst>
      <p:ext uri="{BB962C8B-B14F-4D97-AF65-F5344CB8AC3E}">
        <p14:creationId xmlns:p14="http://schemas.microsoft.com/office/powerpoint/2010/main" val="3848440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11</a:t>
            </a:fld>
            <a:endParaRPr lang="x-none"/>
          </a:p>
        </p:txBody>
      </p:sp>
    </p:spTree>
    <p:extLst>
      <p:ext uri="{BB962C8B-B14F-4D97-AF65-F5344CB8AC3E}">
        <p14:creationId xmlns:p14="http://schemas.microsoft.com/office/powerpoint/2010/main" val="3720777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12</a:t>
            </a:fld>
            <a:endParaRPr lang="x-none"/>
          </a:p>
        </p:txBody>
      </p:sp>
    </p:spTree>
    <p:extLst>
      <p:ext uri="{BB962C8B-B14F-4D97-AF65-F5344CB8AC3E}">
        <p14:creationId xmlns:p14="http://schemas.microsoft.com/office/powerpoint/2010/main" val="2595585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Viruses</a:t>
            </a:r>
            <a:r>
              <a:rPr lang="en-US" sz="1200" b="0" i="0" kern="1200" dirty="0" smtClean="0">
                <a:solidFill>
                  <a:schemeClr val="tx1"/>
                </a:solidFill>
                <a:effectLst/>
                <a:latin typeface="+mn-lt"/>
                <a:ea typeface="+mn-ea"/>
                <a:cs typeface="+mn-cs"/>
              </a:rPr>
              <a:t> are malware that are attached to other files in your system and may be used to destroy your data. Viruses have many capabilities, but, unlike worms, they usually require human interaction to spread from system to system, even if the user is unaware they are spreading it.</a:t>
            </a:r>
          </a:p>
          <a:p>
            <a:r>
              <a:rPr lang="en-US" sz="1200" b="1" i="0" kern="1200" dirty="0" smtClean="0">
                <a:solidFill>
                  <a:schemeClr val="tx1"/>
                </a:solidFill>
                <a:effectLst/>
                <a:latin typeface="+mn-lt"/>
                <a:ea typeface="+mn-ea"/>
                <a:cs typeface="+mn-cs"/>
              </a:rPr>
              <a:t>Worms</a:t>
            </a:r>
            <a:r>
              <a:rPr lang="en-US" sz="1200" b="0" i="0" kern="1200" dirty="0" smtClean="0">
                <a:solidFill>
                  <a:schemeClr val="tx1"/>
                </a:solidFill>
                <a:effectLst/>
                <a:latin typeface="+mn-lt"/>
                <a:ea typeface="+mn-ea"/>
                <a:cs typeface="+mn-cs"/>
              </a:rPr>
              <a:t> are like viruses, but, they have the ability to spread themselves from computer to computer, all on their own. They know how to attach themselves to portable storage devices, like USB drives or removable hard drives, or to move through the network by automatically moving to connected machines.</a:t>
            </a:r>
          </a:p>
          <a:p>
            <a:r>
              <a:rPr lang="en-US" sz="1200" b="1" i="0" kern="1200" dirty="0" smtClean="0">
                <a:solidFill>
                  <a:schemeClr val="tx1"/>
                </a:solidFill>
                <a:effectLst/>
                <a:latin typeface="+mn-lt"/>
                <a:ea typeface="+mn-ea"/>
                <a:cs typeface="+mn-cs"/>
              </a:rPr>
              <a:t>Ransomware</a:t>
            </a:r>
            <a:r>
              <a:rPr lang="en-US" sz="1200" b="0" i="0" kern="1200" dirty="0" smtClean="0">
                <a:solidFill>
                  <a:schemeClr val="tx1"/>
                </a:solidFill>
                <a:effectLst/>
                <a:latin typeface="+mn-lt"/>
                <a:ea typeface="+mn-ea"/>
                <a:cs typeface="+mn-cs"/>
              </a:rPr>
              <a:t> is a relatively new term for malware that, when installed on your system, makes all of your files unreadable, holding your data hostage until you pay the hacker the ransom. Ransomware may be delivered by a virus or by a worm and there is no guarantee that, even if you pay the ransom, you'll get your data restored.</a:t>
            </a:r>
          </a:p>
          <a:p>
            <a:r>
              <a:rPr lang="en-US" sz="1200" b="1" i="0" kern="1200" dirty="0" smtClean="0">
                <a:solidFill>
                  <a:schemeClr val="tx1"/>
                </a:solidFill>
                <a:effectLst/>
                <a:latin typeface="+mn-lt"/>
                <a:ea typeface="+mn-ea"/>
                <a:cs typeface="+mn-cs"/>
              </a:rPr>
              <a:t>Spyware</a:t>
            </a:r>
            <a:r>
              <a:rPr lang="en-US" sz="1200" b="0" i="0" kern="1200" dirty="0" smtClean="0">
                <a:solidFill>
                  <a:schemeClr val="tx1"/>
                </a:solidFill>
                <a:effectLst/>
                <a:latin typeface="+mn-lt"/>
                <a:ea typeface="+mn-ea"/>
                <a:cs typeface="+mn-cs"/>
              </a:rPr>
              <a:t> is malware that steals your data and may be used to spy on you by using your webcam or microphone without your knowledge. Once spyware is installed, it may steal your sensitive data by recording the login information you use or looking for sensitive files on your computer, then sending that data back to an attacker. In recent months, hackers have been able to access the webcam and microphone of computers and use pictures, video, or audio recordings to blackmail their victims.</a:t>
            </a:r>
          </a:p>
          <a:p>
            <a:r>
              <a:rPr lang="en-US" sz="1200" b="1" i="0" kern="1200" dirty="0" smtClean="0">
                <a:solidFill>
                  <a:schemeClr val="tx1"/>
                </a:solidFill>
                <a:effectLst/>
                <a:latin typeface="+mn-lt"/>
                <a:ea typeface="+mn-ea"/>
                <a:cs typeface="+mn-cs"/>
              </a:rPr>
              <a:t>Trojan Horses</a:t>
            </a:r>
            <a:r>
              <a:rPr lang="en-US" sz="1200" b="0" i="0" kern="1200" dirty="0" smtClean="0">
                <a:solidFill>
                  <a:schemeClr val="tx1"/>
                </a:solidFill>
                <a:effectLst/>
                <a:latin typeface="+mn-lt"/>
                <a:ea typeface="+mn-ea"/>
                <a:cs typeface="+mn-cs"/>
              </a:rPr>
              <a:t> are a special kind of virus. Like the famed wooden horse used by the Greeks to infiltrate the walled city of Troy, Trojan horse viruses are used to deliver other types of malware by hiding them inside programs or files that look legitimate.</a:t>
            </a:r>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20</a:t>
            </a:fld>
            <a:endParaRPr lang="x-none"/>
          </a:p>
        </p:txBody>
      </p:sp>
    </p:spTree>
    <p:extLst>
      <p:ext uri="{BB962C8B-B14F-4D97-AF65-F5344CB8AC3E}">
        <p14:creationId xmlns:p14="http://schemas.microsoft.com/office/powerpoint/2010/main" val="1121895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21</a:t>
            </a:fld>
            <a:endParaRPr lang="x-none"/>
          </a:p>
        </p:txBody>
      </p:sp>
    </p:spTree>
    <p:extLst>
      <p:ext uri="{BB962C8B-B14F-4D97-AF65-F5344CB8AC3E}">
        <p14:creationId xmlns:p14="http://schemas.microsoft.com/office/powerpoint/2010/main" val="386038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22</a:t>
            </a:fld>
            <a:endParaRPr lang="x-none"/>
          </a:p>
        </p:txBody>
      </p:sp>
    </p:spTree>
    <p:extLst>
      <p:ext uri="{BB962C8B-B14F-4D97-AF65-F5344CB8AC3E}">
        <p14:creationId xmlns:p14="http://schemas.microsoft.com/office/powerpoint/2010/main" val="1142420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23</a:t>
            </a:fld>
            <a:endParaRPr lang="x-none"/>
          </a:p>
        </p:txBody>
      </p:sp>
    </p:spTree>
    <p:extLst>
      <p:ext uri="{BB962C8B-B14F-4D97-AF65-F5344CB8AC3E}">
        <p14:creationId xmlns:p14="http://schemas.microsoft.com/office/powerpoint/2010/main" val="4191059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24</a:t>
            </a:fld>
            <a:endParaRPr lang="x-none"/>
          </a:p>
        </p:txBody>
      </p:sp>
    </p:spTree>
    <p:extLst>
      <p:ext uri="{BB962C8B-B14F-4D97-AF65-F5344CB8AC3E}">
        <p14:creationId xmlns:p14="http://schemas.microsoft.com/office/powerpoint/2010/main" val="96040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25</a:t>
            </a:fld>
            <a:endParaRPr lang="x-none"/>
          </a:p>
        </p:txBody>
      </p:sp>
    </p:spTree>
    <p:extLst>
      <p:ext uri="{BB962C8B-B14F-4D97-AF65-F5344CB8AC3E}">
        <p14:creationId xmlns:p14="http://schemas.microsoft.com/office/powerpoint/2010/main" val="3301820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26</a:t>
            </a:fld>
            <a:endParaRPr lang="x-none"/>
          </a:p>
        </p:txBody>
      </p:sp>
    </p:spTree>
    <p:extLst>
      <p:ext uri="{BB962C8B-B14F-4D97-AF65-F5344CB8AC3E}">
        <p14:creationId xmlns:p14="http://schemas.microsoft.com/office/powerpoint/2010/main" val="1006264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27</a:t>
            </a:fld>
            <a:endParaRPr lang="x-none"/>
          </a:p>
        </p:txBody>
      </p:sp>
    </p:spTree>
    <p:extLst>
      <p:ext uri="{BB962C8B-B14F-4D97-AF65-F5344CB8AC3E}">
        <p14:creationId xmlns:p14="http://schemas.microsoft.com/office/powerpoint/2010/main" val="2251480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28</a:t>
            </a:fld>
            <a:endParaRPr lang="x-none"/>
          </a:p>
        </p:txBody>
      </p:sp>
    </p:spTree>
    <p:extLst>
      <p:ext uri="{BB962C8B-B14F-4D97-AF65-F5344CB8AC3E}">
        <p14:creationId xmlns:p14="http://schemas.microsoft.com/office/powerpoint/2010/main" val="3428961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29</a:t>
            </a:fld>
            <a:endParaRPr lang="x-none"/>
          </a:p>
        </p:txBody>
      </p:sp>
    </p:spTree>
    <p:extLst>
      <p:ext uri="{BB962C8B-B14F-4D97-AF65-F5344CB8AC3E}">
        <p14:creationId xmlns:p14="http://schemas.microsoft.com/office/powerpoint/2010/main" val="149080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12/23/2021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12/23/2021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12/23/2021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12/23/2021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12/23/2021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12/23/2021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12/23/2021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3696" y="748872"/>
            <a:ext cx="9144000" cy="2387600"/>
          </a:xfrm>
        </p:spPr>
        <p:txBody>
          <a:bodyPr/>
          <a:lstStyle/>
          <a:p>
            <a:r>
              <a:rPr lang="en-US" dirty="0"/>
              <a:t>Professional Practices</a:t>
            </a:r>
          </a:p>
        </p:txBody>
      </p:sp>
      <p:sp>
        <p:nvSpPr>
          <p:cNvPr id="3" name="Subtitle 2"/>
          <p:cNvSpPr>
            <a:spLocks noGrp="1"/>
          </p:cNvSpPr>
          <p:nvPr>
            <p:ph type="subTitle" idx="1"/>
          </p:nvPr>
        </p:nvSpPr>
        <p:spPr>
          <a:xfrm>
            <a:off x="1343696" y="3228547"/>
            <a:ext cx="9144000" cy="1655762"/>
          </a:xfrm>
        </p:spPr>
        <p:txBody>
          <a:bodyPr>
            <a:normAutofit fontScale="77500" lnSpcReduction="20000"/>
          </a:bodyPr>
          <a:lstStyle/>
          <a:p>
            <a:endParaRPr lang="en-US" sz="5400" dirty="0" smtClean="0"/>
          </a:p>
          <a:p>
            <a:r>
              <a:rPr lang="en-US" sz="5400" dirty="0" smtClean="0"/>
              <a:t>Introduction to Computer </a:t>
            </a:r>
            <a:r>
              <a:rPr lang="en-US" sz="5400" dirty="0"/>
              <a:t>Privacy and Security Principles</a:t>
            </a:r>
            <a:endParaRPr lang="en-US" dirty="0"/>
          </a:p>
        </p:txBody>
      </p:sp>
      <p:sp>
        <p:nvSpPr>
          <p:cNvPr id="4" name="Rectangle 3"/>
          <p:cNvSpPr/>
          <p:nvPr/>
        </p:nvSpPr>
        <p:spPr>
          <a:xfrm>
            <a:off x="6087091" y="6017164"/>
            <a:ext cx="5713846" cy="584775"/>
          </a:xfrm>
          <a:prstGeom prst="rect">
            <a:avLst/>
          </a:prstGeom>
        </p:spPr>
        <p:txBody>
          <a:bodyPr wrap="square">
            <a:spAutoFit/>
          </a:bodyPr>
          <a:lstStyle/>
          <a:p>
            <a:pPr algn="just"/>
            <a:r>
              <a:rPr lang="en-US" sz="1600" i="1" dirty="0"/>
              <a:t>At the end of the day, the goals are simple: safety and security. </a:t>
            </a:r>
            <a:r>
              <a:rPr lang="en-US" sz="1600" i="1" dirty="0" smtClean="0"/>
              <a:t>				</a:t>
            </a:r>
            <a:r>
              <a:rPr lang="en-US" sz="1600" b="1" i="1" dirty="0" smtClean="0"/>
              <a:t>(</a:t>
            </a:r>
            <a:r>
              <a:rPr lang="en-US" sz="1600" b="1" i="1" dirty="0"/>
              <a:t>Jodi </a:t>
            </a:r>
            <a:r>
              <a:rPr lang="en-US" sz="1600" b="1" i="1" dirty="0" err="1"/>
              <a:t>Rell</a:t>
            </a:r>
            <a:r>
              <a:rPr lang="en-US" sz="1600" b="1" i="1" dirty="0"/>
              <a:t>)</a:t>
            </a:r>
          </a:p>
        </p:txBody>
      </p:sp>
    </p:spTree>
    <p:extLst>
      <p:ext uri="{BB962C8B-B14F-4D97-AF65-F5344CB8AC3E}">
        <p14:creationId xmlns:p14="http://schemas.microsoft.com/office/powerpoint/2010/main" val="373487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294312" y="277206"/>
            <a:ext cx="10515600" cy="163785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just"/>
            <a:r>
              <a:rPr lang="en-US" b="1" u="sng" dirty="0"/>
              <a:t>Week </a:t>
            </a:r>
            <a:r>
              <a:rPr lang="en-US" b="1" u="sng" dirty="0" smtClean="0"/>
              <a:t>14 Topic:</a:t>
            </a:r>
            <a:endParaRPr lang="en-US" dirty="0"/>
          </a:p>
        </p:txBody>
      </p:sp>
      <p:sp>
        <p:nvSpPr>
          <p:cNvPr id="3" name="Content Placeholder 2"/>
          <p:cNvSpPr>
            <a:spLocks noGrp="1"/>
          </p:cNvSpPr>
          <p:nvPr>
            <p:ph idx="1"/>
          </p:nvPr>
        </p:nvSpPr>
        <p:spPr>
          <a:xfrm>
            <a:off x="823832" y="3160539"/>
            <a:ext cx="10213675" cy="2215502"/>
          </a:xfrm>
        </p:spPr>
        <p:txBody>
          <a:bodyPr>
            <a:normAutofit lnSpcReduction="10000"/>
          </a:bodyPr>
          <a:lstStyle/>
          <a:p>
            <a:pPr>
              <a:defRPr/>
            </a:pPr>
            <a:r>
              <a:rPr lang="en-US" sz="3200" dirty="0" smtClean="0"/>
              <a:t>Introduction: </a:t>
            </a:r>
          </a:p>
          <a:p>
            <a:pPr>
              <a:defRPr/>
            </a:pPr>
            <a:r>
              <a:rPr lang="en-US" sz="3200" dirty="0" smtClean="0"/>
              <a:t>Privacy Laws</a:t>
            </a:r>
          </a:p>
          <a:p>
            <a:pPr>
              <a:defRPr/>
            </a:pPr>
            <a:r>
              <a:rPr lang="en-US" sz="3200" dirty="0" smtClean="0"/>
              <a:t>Content Filtering</a:t>
            </a:r>
          </a:p>
          <a:p>
            <a:pPr>
              <a:defRPr/>
            </a:pPr>
            <a:r>
              <a:rPr lang="en-US" sz="3200" dirty="0" smtClean="0"/>
              <a:t>Potential Computer Risks &amp; Security</a:t>
            </a:r>
          </a:p>
        </p:txBody>
      </p:sp>
      <p:sp>
        <p:nvSpPr>
          <p:cNvPr id="2" name="Rectangle 1"/>
          <p:cNvSpPr/>
          <p:nvPr/>
        </p:nvSpPr>
        <p:spPr>
          <a:xfrm>
            <a:off x="823832" y="2214636"/>
            <a:ext cx="10765448" cy="646331"/>
          </a:xfrm>
          <a:prstGeom prst="rect">
            <a:avLst/>
          </a:prstGeom>
        </p:spPr>
        <p:txBody>
          <a:bodyPr wrap="none">
            <a:spAutoFit/>
          </a:bodyPr>
          <a:lstStyle/>
          <a:p>
            <a:r>
              <a:rPr lang="en-US" sz="3600" dirty="0"/>
              <a:t>Introduction to Computer Privacy and Security Principles</a:t>
            </a:r>
          </a:p>
        </p:txBody>
      </p:sp>
    </p:spTree>
    <p:extLst>
      <p:ext uri="{BB962C8B-B14F-4D97-AF65-F5344CB8AC3E}">
        <p14:creationId xmlns:p14="http://schemas.microsoft.com/office/powerpoint/2010/main" val="138200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390"/>
            <a:ext cx="10515600" cy="1325563"/>
          </a:xfrm>
        </p:spPr>
        <p:txBody>
          <a:bodyPr/>
          <a:lstStyle/>
          <a:p>
            <a:pPr algn="ctr"/>
            <a:r>
              <a:rPr lang="en-US" dirty="0" smtClean="0"/>
              <a:t>Introduction</a:t>
            </a:r>
            <a:endParaRPr lang="en-US" dirty="0"/>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dirty="0" smtClean="0">
                <a:latin typeface="Times New Roman" pitchFamily="18" charset="0"/>
                <a:cs typeface="Times New Roman" pitchFamily="18" charset="0"/>
              </a:rPr>
              <a:t>Privacy and Security are always important in everyone's life.</a:t>
            </a:r>
          </a:p>
          <a:p>
            <a:pPr>
              <a:buFont typeface="Courier New" panose="02070309020205020404" pitchFamily="49" charset="0"/>
              <a:buChar char="o"/>
            </a:pPr>
            <a:r>
              <a:rPr lang="en-US" dirty="0" smtClean="0">
                <a:latin typeface="Times New Roman" pitchFamily="18" charset="0"/>
                <a:cs typeface="Times New Roman" pitchFamily="18" charset="0"/>
              </a:rPr>
              <a:t>With new evolution, the Privacy and Security become more vulnerable. </a:t>
            </a:r>
          </a:p>
          <a:p>
            <a:pPr>
              <a:buFont typeface="Courier New" panose="02070309020205020404" pitchFamily="49" charset="0"/>
              <a:buChar char="o"/>
            </a:pPr>
            <a:r>
              <a:rPr lang="en-US" dirty="0" smtClean="0">
                <a:latin typeface="Times New Roman" pitchFamily="18" charset="0"/>
                <a:cs typeface="Times New Roman" pitchFamily="18" charset="0"/>
              </a:rPr>
              <a:t>It became easier to track and trap anyone through various channels.</a:t>
            </a:r>
            <a:endParaRPr lang="en-US" dirty="0">
              <a:latin typeface="Times New Roman" pitchFamily="18" charset="0"/>
              <a:cs typeface="Times New Roman" pitchFamily="18" charset="0"/>
            </a:endParaRPr>
          </a:p>
          <a:p>
            <a:pPr>
              <a:buFont typeface="Courier New" panose="02070309020205020404" pitchFamily="49" charset="0"/>
              <a:buChar char="o"/>
              <a:defRPr/>
            </a:pPr>
            <a:r>
              <a:rPr lang="en-US" dirty="0" smtClean="0">
                <a:latin typeface="Times New Roman" pitchFamily="18" charset="0"/>
                <a:cs typeface="Times New Roman" pitchFamily="18" charset="0"/>
              </a:rPr>
              <a:t>So the working out for such challenges was essential. </a:t>
            </a:r>
          </a:p>
          <a:p>
            <a:pPr>
              <a:buFont typeface="Courier New" panose="02070309020205020404" pitchFamily="49" charset="0"/>
              <a:buChar char="o"/>
              <a:defRPr/>
            </a:pPr>
            <a:r>
              <a:rPr lang="en-US" dirty="0" smtClean="0">
                <a:latin typeface="Times New Roman" pitchFamily="18" charset="0"/>
                <a:cs typeface="Times New Roman" pitchFamily="18" charset="0"/>
              </a:rPr>
              <a:t>As a result the Information Security, Cyber Security etc. are came into being.</a:t>
            </a:r>
          </a:p>
        </p:txBody>
      </p:sp>
    </p:spTree>
    <p:extLst>
      <p:ext uri="{BB962C8B-B14F-4D97-AF65-F5344CB8AC3E}">
        <p14:creationId xmlns:p14="http://schemas.microsoft.com/office/powerpoint/2010/main" val="132517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Computer Privacy</a:t>
            </a:r>
            <a:endParaRPr lang="en-US" dirty="0"/>
          </a:p>
        </p:txBody>
      </p:sp>
      <p:sp>
        <p:nvSpPr>
          <p:cNvPr id="3" name="Content Placeholder 2"/>
          <p:cNvSpPr>
            <a:spLocks noGrp="1"/>
          </p:cNvSpPr>
          <p:nvPr>
            <p:ph idx="1"/>
          </p:nvPr>
        </p:nvSpPr>
        <p:spPr/>
        <p:txBody>
          <a:bodyPr/>
          <a:lstStyle/>
          <a:p>
            <a:pPr>
              <a:buFont typeface="Courier New" panose="02070309020205020404" pitchFamily="49" charset="0"/>
              <a:buChar char="o"/>
            </a:pPr>
            <a:r>
              <a:rPr lang="en-US" b="1" dirty="0"/>
              <a:t>Privacy</a:t>
            </a:r>
            <a:r>
              <a:rPr lang="en-US" dirty="0"/>
              <a:t> is a term used to describe an individual's anonymity and how safe they feel in a location.</a:t>
            </a:r>
            <a:endParaRPr lang="en-US" dirty="0" smtClean="0"/>
          </a:p>
          <a:p>
            <a:pPr>
              <a:buFont typeface="Courier New" panose="02070309020205020404" pitchFamily="49" charset="0"/>
              <a:buChar char="o"/>
            </a:pPr>
            <a:r>
              <a:rPr lang="en-US" b="1" dirty="0" smtClean="0"/>
              <a:t>Computer Privacy</a:t>
            </a:r>
            <a:r>
              <a:rPr lang="en-US" dirty="0"/>
              <a:t> refers to several main </a:t>
            </a:r>
            <a:r>
              <a:rPr lang="en-US" dirty="0" smtClean="0"/>
              <a:t>topics like:</a:t>
            </a:r>
          </a:p>
          <a:p>
            <a:pPr lvl="1">
              <a:buFont typeface="Wingdings" panose="05000000000000000000" pitchFamily="2" charset="2"/>
              <a:buChar char="Ø"/>
            </a:pPr>
            <a:r>
              <a:rPr lang="en-US" dirty="0" smtClean="0"/>
              <a:t>Information </a:t>
            </a:r>
            <a:r>
              <a:rPr lang="en-US" dirty="0"/>
              <a:t>shared with visiting web pages. </a:t>
            </a:r>
            <a:endParaRPr lang="en-US" dirty="0" smtClean="0"/>
          </a:p>
          <a:p>
            <a:pPr lvl="1">
              <a:buFont typeface="Wingdings" panose="05000000000000000000" pitchFamily="2" charset="2"/>
              <a:buChar char="Ø"/>
            </a:pPr>
            <a:r>
              <a:rPr lang="en-US" dirty="0" smtClean="0"/>
              <a:t>How </a:t>
            </a:r>
            <a:r>
              <a:rPr lang="en-US" dirty="0"/>
              <a:t>that information is used. </a:t>
            </a:r>
            <a:endParaRPr lang="en-US" dirty="0" smtClean="0"/>
          </a:p>
          <a:p>
            <a:pPr lvl="1">
              <a:buFont typeface="Wingdings" panose="05000000000000000000" pitchFamily="2" charset="2"/>
              <a:buChar char="Ø"/>
            </a:pPr>
            <a:r>
              <a:rPr lang="en-US" dirty="0" smtClean="0"/>
              <a:t>With </a:t>
            </a:r>
            <a:r>
              <a:rPr lang="en-US" dirty="0"/>
              <a:t>whom the information is shared</a:t>
            </a:r>
            <a:r>
              <a:rPr lang="en-US" dirty="0" smtClean="0"/>
              <a:t>.</a:t>
            </a:r>
          </a:p>
          <a:p>
            <a:pPr lvl="1">
              <a:buFont typeface="Wingdings" panose="05000000000000000000" pitchFamily="2" charset="2"/>
              <a:buChar char="Ø"/>
            </a:pPr>
            <a:r>
              <a:rPr lang="en-US" dirty="0"/>
              <a:t>If that information is used to track users</a:t>
            </a:r>
            <a:r>
              <a:rPr lang="en-US" dirty="0" smtClean="0"/>
              <a:t>.</a:t>
            </a:r>
            <a:endParaRPr lang="en-US" dirty="0"/>
          </a:p>
        </p:txBody>
      </p:sp>
    </p:spTree>
    <p:extLst>
      <p:ext uri="{BB962C8B-B14F-4D97-AF65-F5344CB8AC3E}">
        <p14:creationId xmlns:p14="http://schemas.microsoft.com/office/powerpoint/2010/main" val="297980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390"/>
            <a:ext cx="10515600" cy="1325563"/>
          </a:xfrm>
        </p:spPr>
        <p:txBody>
          <a:bodyPr/>
          <a:lstStyle/>
          <a:p>
            <a:pPr algn="ctr"/>
            <a:r>
              <a:rPr lang="en-US" dirty="0" smtClean="0"/>
              <a:t>Information Security</a:t>
            </a:r>
            <a:endParaRPr lang="en-US" dirty="0"/>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defRPr/>
            </a:pPr>
            <a:r>
              <a:rPr lang="en-US" b="1" dirty="0">
                <a:latin typeface="Times New Roman" pitchFamily="18" charset="0"/>
                <a:cs typeface="Times New Roman" pitchFamily="18" charset="0"/>
              </a:rPr>
              <a:t>Information </a:t>
            </a:r>
            <a:r>
              <a:rPr lang="en-US" b="1" dirty="0" smtClean="0">
                <a:latin typeface="Times New Roman" pitchFamily="18" charset="0"/>
                <a:cs typeface="Times New Roman" pitchFamily="18" charset="0"/>
              </a:rPr>
              <a:t>security </a:t>
            </a:r>
            <a:r>
              <a:rPr lang="en-US" dirty="0" smtClean="0">
                <a:latin typeface="Times New Roman" pitchFamily="18" charset="0"/>
                <a:cs typeface="Times New Roman" pitchFamily="18" charset="0"/>
              </a:rPr>
              <a:t>is </a:t>
            </a:r>
            <a:r>
              <a:rPr lang="en-US" dirty="0">
                <a:latin typeface="Times New Roman" pitchFamily="18" charset="0"/>
                <a:cs typeface="Times New Roman" pitchFamily="18" charset="0"/>
              </a:rPr>
              <a:t>the practice of defending information from unauthorized access, use, disclosure, disruption, modification, inspection, recording or destruction. </a:t>
            </a:r>
            <a:endParaRPr lang="en-US" dirty="0" smtClean="0">
              <a:latin typeface="Times New Roman" pitchFamily="18" charset="0"/>
              <a:cs typeface="Times New Roman" pitchFamily="18" charset="0"/>
            </a:endParaRPr>
          </a:p>
          <a:p>
            <a:pPr>
              <a:buFont typeface="Courier New" panose="02070309020205020404" pitchFamily="49" charset="0"/>
              <a:buChar char="o"/>
              <a:defRPr/>
            </a:pPr>
            <a:r>
              <a:rPr lang="en-US" dirty="0" smtClean="0">
                <a:latin typeface="Times New Roman" pitchFamily="18" charset="0"/>
                <a:cs typeface="Times New Roman" pitchFamily="18" charset="0"/>
              </a:rPr>
              <a:t>Also called as InfoSec in short format.</a:t>
            </a:r>
          </a:p>
          <a:p>
            <a:pPr>
              <a:buFont typeface="Courier New" panose="02070309020205020404" pitchFamily="49" charset="0"/>
              <a:buChar char="o"/>
              <a:defRPr/>
            </a:pPr>
            <a:r>
              <a:rPr lang="en-US" b="1" dirty="0">
                <a:latin typeface="Times New Roman" pitchFamily="18" charset="0"/>
                <a:cs typeface="Times New Roman" pitchFamily="18" charset="0"/>
              </a:rPr>
              <a:t>Information security </a:t>
            </a:r>
            <a:r>
              <a:rPr lang="en-US" dirty="0">
                <a:latin typeface="Times New Roman" pitchFamily="18" charset="0"/>
                <a:cs typeface="Times New Roman" pitchFamily="18" charset="0"/>
              </a:rPr>
              <a:t>is the protection of information and minimizes the risk of exposing </a:t>
            </a:r>
            <a:r>
              <a:rPr lang="en-US" dirty="0" smtClean="0">
                <a:latin typeface="Times New Roman" pitchFamily="18" charset="0"/>
                <a:cs typeface="Times New Roman" pitchFamily="18" charset="0"/>
              </a:rPr>
              <a:t>the information </a:t>
            </a:r>
            <a:r>
              <a:rPr lang="en-US" dirty="0">
                <a:latin typeface="Times New Roman" pitchFamily="18" charset="0"/>
                <a:cs typeface="Times New Roman" pitchFamily="18" charset="0"/>
              </a:rPr>
              <a:t>to unauthorized parties</a:t>
            </a:r>
            <a:r>
              <a:rPr lang="en-US" dirty="0" smtClean="0">
                <a:latin typeface="Times New Roman" pitchFamily="18" charset="0"/>
                <a:cs typeface="Times New Roman" pitchFamily="18" charset="0"/>
              </a:rPr>
              <a:t>.</a:t>
            </a:r>
          </a:p>
          <a:p>
            <a:pPr>
              <a:buFont typeface="Courier New" panose="02070309020205020404" pitchFamily="49" charset="0"/>
              <a:buChar char="o"/>
              <a:defRPr/>
            </a:pPr>
            <a:r>
              <a:rPr lang="en-US" dirty="0" smtClean="0">
                <a:latin typeface="Times New Roman" pitchFamily="18" charset="0"/>
                <a:cs typeface="Times New Roman" pitchFamily="18" charset="0"/>
              </a:rPr>
              <a:t>So the </a:t>
            </a:r>
            <a:r>
              <a:rPr lang="en-US" b="1" dirty="0" smtClean="0">
                <a:latin typeface="Times New Roman" pitchFamily="18" charset="0"/>
                <a:cs typeface="Times New Roman" pitchFamily="18" charset="0"/>
              </a:rPr>
              <a:t>goal</a:t>
            </a:r>
            <a:r>
              <a:rPr lang="en-US" dirty="0" smtClean="0">
                <a:latin typeface="Times New Roman" pitchFamily="18" charset="0"/>
                <a:cs typeface="Times New Roman" pitchFamily="18" charset="0"/>
              </a:rPr>
              <a:t> of Information security is to protect the information from intruders and hackers</a:t>
            </a:r>
            <a:endParaRPr lang="en-US" dirty="0">
              <a:latin typeface="Times New Roman" pitchFamily="18" charset="0"/>
              <a:cs typeface="Times New Roman" pitchFamily="18" charset="0"/>
            </a:endParaRPr>
          </a:p>
          <a:p>
            <a:pPr>
              <a:buFont typeface="Courier New" panose="02070309020205020404" pitchFamily="49" charset="0"/>
              <a:buChar char="o"/>
              <a:defRPr/>
            </a:pP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412003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Security vs Cyber Security</a:t>
            </a:r>
            <a:endParaRPr lang="en-US" dirty="0"/>
          </a:p>
        </p:txBody>
      </p:sp>
      <p:sp>
        <p:nvSpPr>
          <p:cNvPr id="3" name="Content Placeholder 2"/>
          <p:cNvSpPr>
            <a:spLocks noGrp="1"/>
          </p:cNvSpPr>
          <p:nvPr>
            <p:ph idx="1"/>
          </p:nvPr>
        </p:nvSpPr>
        <p:spPr/>
        <p:txBody>
          <a:bodyPr>
            <a:normAutofit lnSpcReduction="10000"/>
          </a:bodyPr>
          <a:lstStyle/>
          <a:p>
            <a:pPr>
              <a:buFont typeface="Courier New" panose="02070309020205020404" pitchFamily="49" charset="0"/>
              <a:buChar char="o"/>
              <a:defRPr/>
            </a:pPr>
            <a:r>
              <a:rPr lang="en-US" dirty="0" smtClean="0">
                <a:latin typeface="Times New Roman" pitchFamily="18" charset="0"/>
                <a:cs typeface="Times New Roman" pitchFamily="18" charset="0"/>
              </a:rPr>
              <a:t>Both </a:t>
            </a:r>
            <a:r>
              <a:rPr lang="en-US" dirty="0">
                <a:latin typeface="Times New Roman" pitchFamily="18" charset="0"/>
                <a:cs typeface="Times New Roman" pitchFamily="18" charset="0"/>
              </a:rPr>
              <a:t>take the value </a:t>
            </a:r>
            <a:r>
              <a:rPr lang="en-US" dirty="0" smtClean="0">
                <a:latin typeface="Times New Roman" pitchFamily="18" charset="0"/>
                <a:cs typeface="Times New Roman" pitchFamily="18" charset="0"/>
              </a:rPr>
              <a:t>into </a:t>
            </a:r>
            <a:r>
              <a:rPr lang="en-US" dirty="0">
                <a:latin typeface="Times New Roman" pitchFamily="18" charset="0"/>
                <a:cs typeface="Times New Roman" pitchFamily="18" charset="0"/>
              </a:rPr>
              <a:t>consideration.</a:t>
            </a:r>
          </a:p>
          <a:p>
            <a:pPr>
              <a:buFont typeface="Courier New" panose="02070309020205020404" pitchFamily="49" charset="0"/>
              <a:buChar char="o"/>
              <a:defRPr/>
            </a:pPr>
            <a:r>
              <a:rPr lang="en-US" dirty="0" smtClean="0">
                <a:latin typeface="Times New Roman" pitchFamily="18" charset="0"/>
                <a:cs typeface="Times New Roman" pitchFamily="18" charset="0"/>
              </a:rPr>
              <a:t>InfoSec </a:t>
            </a:r>
            <a:r>
              <a:rPr lang="en-US" dirty="0">
                <a:latin typeface="Times New Roman" pitchFamily="18" charset="0"/>
                <a:cs typeface="Times New Roman" pitchFamily="18" charset="0"/>
              </a:rPr>
              <a:t>is all about protecting the information in Computer Science using various related principles.</a:t>
            </a:r>
          </a:p>
          <a:p>
            <a:pPr>
              <a:buFont typeface="Courier New" panose="02070309020205020404" pitchFamily="49" charset="0"/>
              <a:buChar char="o"/>
              <a:defRPr/>
            </a:pPr>
            <a:r>
              <a:rPr lang="en-US" dirty="0">
                <a:latin typeface="Times New Roman" pitchFamily="18" charset="0"/>
                <a:cs typeface="Times New Roman" pitchFamily="18" charset="0"/>
              </a:rPr>
              <a:t>However, the </a:t>
            </a:r>
            <a:r>
              <a:rPr lang="en-US" b="1" dirty="0">
                <a:latin typeface="Times New Roman" pitchFamily="18" charset="0"/>
                <a:cs typeface="Times New Roman" pitchFamily="18" charset="0"/>
              </a:rPr>
              <a:t>Cyber security </a:t>
            </a:r>
            <a:r>
              <a:rPr lang="en-US" dirty="0">
                <a:latin typeface="Times New Roman" pitchFamily="18" charset="0"/>
                <a:cs typeface="Times New Roman" pitchFamily="18" charset="0"/>
              </a:rPr>
              <a:t>is about securing information that is vulnerable through ICT.</a:t>
            </a:r>
          </a:p>
          <a:p>
            <a:r>
              <a:rPr lang="en-US" dirty="0" smtClean="0"/>
              <a:t>The </a:t>
            </a:r>
            <a:r>
              <a:rPr lang="en-US" b="1" dirty="0" smtClean="0"/>
              <a:t>information security team</a:t>
            </a:r>
            <a:r>
              <a:rPr lang="en-US" dirty="0" smtClean="0"/>
              <a:t> of an organization mainly concerns with the protection of company's </a:t>
            </a:r>
            <a:r>
              <a:rPr lang="en-US" dirty="0"/>
              <a:t>data from any </a:t>
            </a:r>
            <a:r>
              <a:rPr lang="en-US" dirty="0" smtClean="0"/>
              <a:t>sort of </a:t>
            </a:r>
            <a:r>
              <a:rPr lang="en-US" dirty="0"/>
              <a:t>unauthorized </a:t>
            </a:r>
            <a:r>
              <a:rPr lang="en-US" dirty="0" smtClean="0"/>
              <a:t>access.</a:t>
            </a:r>
          </a:p>
          <a:p>
            <a:r>
              <a:rPr lang="en-US" dirty="0" smtClean="0"/>
              <a:t>The</a:t>
            </a:r>
            <a:r>
              <a:rPr lang="en-US" b="1" dirty="0" smtClean="0"/>
              <a:t> cybersecurity</a:t>
            </a:r>
            <a:r>
              <a:rPr lang="en-US" dirty="0"/>
              <a:t> </a:t>
            </a:r>
            <a:r>
              <a:rPr lang="en-US" b="1" dirty="0" smtClean="0"/>
              <a:t>team</a:t>
            </a:r>
            <a:r>
              <a:rPr lang="en-US" dirty="0" smtClean="0"/>
              <a:t> of an organization mainly concerns with the protection of </a:t>
            </a:r>
            <a:r>
              <a:rPr lang="en-US" dirty="0"/>
              <a:t>company's data from unauthorized </a:t>
            </a:r>
            <a:r>
              <a:rPr lang="en-US" b="1" dirty="0"/>
              <a:t>electronic access</a:t>
            </a:r>
            <a:r>
              <a:rPr lang="en-US" dirty="0"/>
              <a:t>.</a:t>
            </a:r>
          </a:p>
        </p:txBody>
      </p:sp>
    </p:spTree>
    <p:extLst>
      <p:ext uri="{BB962C8B-B14F-4D97-AF65-F5344CB8AC3E}">
        <p14:creationId xmlns:p14="http://schemas.microsoft.com/office/powerpoint/2010/main" val="41920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History</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Since the early days of </a:t>
            </a:r>
            <a:r>
              <a:rPr lang="en-US" b="1" dirty="0"/>
              <a:t>communication</a:t>
            </a:r>
            <a:r>
              <a:rPr lang="en-US" dirty="0"/>
              <a:t>, </a:t>
            </a:r>
            <a:r>
              <a:rPr lang="en-US" b="1" dirty="0"/>
              <a:t>diplomats and </a:t>
            </a:r>
            <a:r>
              <a:rPr lang="en-US" b="1" dirty="0" smtClean="0"/>
              <a:t>military </a:t>
            </a:r>
            <a:r>
              <a:rPr lang="en-US" dirty="0" smtClean="0"/>
              <a:t>commanders </a:t>
            </a:r>
            <a:r>
              <a:rPr lang="en-US" dirty="0"/>
              <a:t>understood that it was necessary to provide </a:t>
            </a:r>
            <a:r>
              <a:rPr lang="en-US" dirty="0" smtClean="0"/>
              <a:t>some </a:t>
            </a:r>
            <a:r>
              <a:rPr lang="en-US" b="1" dirty="0" smtClean="0"/>
              <a:t>mechanism </a:t>
            </a:r>
            <a:r>
              <a:rPr lang="en-US" b="1" dirty="0"/>
              <a:t>to protect </a:t>
            </a:r>
            <a:r>
              <a:rPr lang="en-US" dirty="0"/>
              <a:t>the </a:t>
            </a:r>
            <a:r>
              <a:rPr lang="en-US" b="1" dirty="0"/>
              <a:t>confidentiality </a:t>
            </a:r>
            <a:r>
              <a:rPr lang="en-US" dirty="0"/>
              <a:t>of correspondence and to </a:t>
            </a:r>
            <a:r>
              <a:rPr lang="en-US" dirty="0" smtClean="0"/>
              <a:t>have some </a:t>
            </a:r>
            <a:r>
              <a:rPr lang="en-US" dirty="0"/>
              <a:t>means of detecting </a:t>
            </a:r>
            <a:r>
              <a:rPr lang="en-US" b="1" dirty="0"/>
              <a:t>tampering</a:t>
            </a:r>
            <a:r>
              <a:rPr lang="en-US" dirty="0"/>
              <a:t>.</a:t>
            </a:r>
          </a:p>
          <a:p>
            <a:pPr algn="just"/>
            <a:r>
              <a:rPr lang="en-US" b="1" dirty="0" smtClean="0"/>
              <a:t>Julius </a:t>
            </a:r>
            <a:r>
              <a:rPr lang="en-US" b="1" dirty="0"/>
              <a:t>Caesar </a:t>
            </a:r>
            <a:r>
              <a:rPr lang="en-US" dirty="0"/>
              <a:t>is credited with the invention of the </a:t>
            </a:r>
            <a:r>
              <a:rPr lang="en-US" b="1" dirty="0"/>
              <a:t>Caesar cipher </a:t>
            </a:r>
            <a:r>
              <a:rPr lang="en-US" dirty="0"/>
              <a:t>c. 50 B.C</a:t>
            </a:r>
            <a:r>
              <a:rPr lang="en-US" dirty="0" smtClean="0"/>
              <a:t>., which </a:t>
            </a:r>
            <a:r>
              <a:rPr lang="en-US" dirty="0"/>
              <a:t>was created in order to prevent his </a:t>
            </a:r>
            <a:r>
              <a:rPr lang="en-US" b="1" dirty="0"/>
              <a:t>secret messages </a:t>
            </a:r>
            <a:r>
              <a:rPr lang="en-US" dirty="0"/>
              <a:t>from being </a:t>
            </a:r>
            <a:r>
              <a:rPr lang="en-US" dirty="0" smtClean="0"/>
              <a:t>read should </a:t>
            </a:r>
            <a:r>
              <a:rPr lang="en-US" dirty="0"/>
              <a:t>a message fall into the wrong hands, but for the most </a:t>
            </a:r>
            <a:r>
              <a:rPr lang="en-US" dirty="0" smtClean="0"/>
              <a:t>part protection </a:t>
            </a:r>
            <a:r>
              <a:rPr lang="en-US" dirty="0"/>
              <a:t>was achieved through the application of procedural </a:t>
            </a:r>
            <a:r>
              <a:rPr lang="en-US" dirty="0" smtClean="0"/>
              <a:t>handling controls</a:t>
            </a:r>
            <a:r>
              <a:rPr lang="en-US" dirty="0"/>
              <a:t>.</a:t>
            </a:r>
          </a:p>
          <a:p>
            <a:pPr algn="just"/>
            <a:r>
              <a:rPr lang="en-US" dirty="0" smtClean="0"/>
              <a:t>In </a:t>
            </a:r>
            <a:r>
              <a:rPr lang="en-US" dirty="0"/>
              <a:t>the </a:t>
            </a:r>
            <a:r>
              <a:rPr lang="en-US" b="1" dirty="0"/>
              <a:t>mid-19th </a:t>
            </a:r>
            <a:r>
              <a:rPr lang="en-US" dirty="0"/>
              <a:t>century more complex classification systems </a:t>
            </a:r>
            <a:r>
              <a:rPr lang="en-US" dirty="0" smtClean="0"/>
              <a:t>were developed </a:t>
            </a:r>
            <a:r>
              <a:rPr lang="en-US" dirty="0"/>
              <a:t>to allow governments to manage their information according </a:t>
            </a:r>
            <a:r>
              <a:rPr lang="en-US" dirty="0" smtClean="0"/>
              <a:t>to the </a:t>
            </a:r>
            <a:r>
              <a:rPr lang="en-US" b="1" dirty="0"/>
              <a:t>degree of sensitivity</a:t>
            </a:r>
            <a:r>
              <a:rPr lang="en-US" dirty="0"/>
              <a:t>.</a:t>
            </a:r>
          </a:p>
        </p:txBody>
      </p:sp>
    </p:spTree>
    <p:extLst>
      <p:ext uri="{BB962C8B-B14F-4D97-AF65-F5344CB8AC3E}">
        <p14:creationId xmlns:p14="http://schemas.microsoft.com/office/powerpoint/2010/main" val="2267127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History</a:t>
            </a:r>
            <a:endParaRPr lang="en-US" dirty="0"/>
          </a:p>
        </p:txBody>
      </p:sp>
      <p:sp>
        <p:nvSpPr>
          <p:cNvPr id="3" name="Content Placeholder 2"/>
          <p:cNvSpPr>
            <a:spLocks noGrp="1"/>
          </p:cNvSpPr>
          <p:nvPr>
            <p:ph idx="1"/>
          </p:nvPr>
        </p:nvSpPr>
        <p:spPr/>
        <p:txBody>
          <a:bodyPr>
            <a:normAutofit/>
          </a:bodyPr>
          <a:lstStyle/>
          <a:p>
            <a:pPr algn="just"/>
            <a:r>
              <a:rPr lang="en-US" dirty="0"/>
              <a:t>By the time of the </a:t>
            </a:r>
            <a:r>
              <a:rPr lang="en-US" b="1" dirty="0"/>
              <a:t>First World War</a:t>
            </a:r>
            <a:r>
              <a:rPr lang="en-US" dirty="0"/>
              <a:t>, </a:t>
            </a:r>
            <a:r>
              <a:rPr lang="en-US" b="1" dirty="0"/>
              <a:t>multi-tier classification </a:t>
            </a:r>
            <a:r>
              <a:rPr lang="en-US" b="1" dirty="0" smtClean="0"/>
              <a:t>systems </a:t>
            </a:r>
            <a:r>
              <a:rPr lang="en-US" dirty="0" smtClean="0"/>
              <a:t>were </a:t>
            </a:r>
            <a:r>
              <a:rPr lang="en-US" dirty="0"/>
              <a:t>used to communicate information to and from various </a:t>
            </a:r>
            <a:r>
              <a:rPr lang="en-US" dirty="0" smtClean="0"/>
              <a:t>fronts, which </a:t>
            </a:r>
            <a:r>
              <a:rPr lang="en-US" b="1" dirty="0"/>
              <a:t>encouraged greater use of code </a:t>
            </a:r>
            <a:r>
              <a:rPr lang="en-US" dirty="0"/>
              <a:t>making and breaking </a:t>
            </a:r>
            <a:r>
              <a:rPr lang="en-US" dirty="0" smtClean="0"/>
              <a:t>sections in </a:t>
            </a:r>
            <a:r>
              <a:rPr lang="en-US" dirty="0"/>
              <a:t>diplomatic and military headquarters.</a:t>
            </a:r>
          </a:p>
          <a:p>
            <a:pPr algn="just"/>
            <a:r>
              <a:rPr lang="en-US" dirty="0" smtClean="0"/>
              <a:t>During </a:t>
            </a:r>
            <a:r>
              <a:rPr lang="en-US" b="1" dirty="0"/>
              <a:t>Second World War, Encoding </a:t>
            </a:r>
            <a:r>
              <a:rPr lang="en-US" dirty="0"/>
              <a:t>became more </a:t>
            </a:r>
            <a:r>
              <a:rPr lang="en-US" dirty="0" smtClean="0"/>
              <a:t>sophisticated between </a:t>
            </a:r>
            <a:r>
              <a:rPr lang="en-US" dirty="0"/>
              <a:t>the wars as machines were </a:t>
            </a:r>
            <a:r>
              <a:rPr lang="en-US" b="1" dirty="0"/>
              <a:t>employed to scramble </a:t>
            </a:r>
            <a:r>
              <a:rPr lang="en-US" dirty="0" smtClean="0"/>
              <a:t>and unscramble </a:t>
            </a:r>
            <a:r>
              <a:rPr lang="en-US" dirty="0"/>
              <a:t>information.</a:t>
            </a:r>
          </a:p>
        </p:txBody>
      </p:sp>
    </p:spTree>
    <p:extLst>
      <p:ext uri="{BB962C8B-B14F-4D97-AF65-F5344CB8AC3E}">
        <p14:creationId xmlns:p14="http://schemas.microsoft.com/office/powerpoint/2010/main" val="4019617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5343"/>
            <a:ext cx="10515600" cy="1325563"/>
          </a:xfrm>
        </p:spPr>
        <p:txBody>
          <a:bodyPr>
            <a:normAutofit/>
          </a:bodyPr>
          <a:lstStyle/>
          <a:p>
            <a:r>
              <a:rPr lang="en-US" dirty="0" smtClean="0"/>
              <a:t>Ways used for Digital Devices Privacy</a:t>
            </a:r>
            <a:endParaRPr lang="en-US" dirty="0"/>
          </a:p>
        </p:txBody>
      </p:sp>
      <p:sp>
        <p:nvSpPr>
          <p:cNvPr id="3" name="Content Placeholder 2"/>
          <p:cNvSpPr>
            <a:spLocks noGrp="1"/>
          </p:cNvSpPr>
          <p:nvPr>
            <p:ph idx="1"/>
          </p:nvPr>
        </p:nvSpPr>
        <p:spPr/>
        <p:txBody>
          <a:bodyPr>
            <a:normAutofit fontScale="85000" lnSpcReduction="10000"/>
          </a:bodyPr>
          <a:lstStyle/>
          <a:p>
            <a:r>
              <a:rPr lang="en-US" sz="3200" dirty="0" smtClean="0"/>
              <a:t>Different methods are used to maintain our privacy in Computers like;</a:t>
            </a:r>
          </a:p>
          <a:p>
            <a:pPr lvl="1">
              <a:lnSpc>
                <a:spcPct val="120000"/>
              </a:lnSpc>
              <a:buFont typeface="Wingdings" panose="05000000000000000000" pitchFamily="2" charset="2"/>
              <a:buChar char="Ø"/>
            </a:pPr>
            <a:r>
              <a:rPr lang="en-US" sz="2800" dirty="0" smtClean="0"/>
              <a:t>Passwords</a:t>
            </a:r>
          </a:p>
          <a:p>
            <a:pPr lvl="1">
              <a:lnSpc>
                <a:spcPct val="120000"/>
              </a:lnSpc>
              <a:buFont typeface="Wingdings" panose="05000000000000000000" pitchFamily="2" charset="2"/>
              <a:buChar char="Ø"/>
            </a:pPr>
            <a:r>
              <a:rPr lang="en-US" sz="2800" dirty="0" smtClean="0"/>
              <a:t>PINs</a:t>
            </a:r>
          </a:p>
          <a:p>
            <a:pPr lvl="1">
              <a:lnSpc>
                <a:spcPct val="120000"/>
              </a:lnSpc>
              <a:buFont typeface="Wingdings" panose="05000000000000000000" pitchFamily="2" charset="2"/>
              <a:buChar char="Ø"/>
            </a:pPr>
            <a:r>
              <a:rPr lang="en-US" sz="2800" dirty="0" smtClean="0"/>
              <a:t>Patterns</a:t>
            </a:r>
          </a:p>
          <a:p>
            <a:pPr lvl="1">
              <a:lnSpc>
                <a:spcPct val="120000"/>
              </a:lnSpc>
              <a:buFont typeface="Wingdings" panose="05000000000000000000" pitchFamily="2" charset="2"/>
              <a:buChar char="Ø"/>
            </a:pPr>
            <a:r>
              <a:rPr lang="en-US" sz="2800" dirty="0" smtClean="0"/>
              <a:t>Thumb impression</a:t>
            </a:r>
          </a:p>
          <a:p>
            <a:pPr lvl="1">
              <a:lnSpc>
                <a:spcPct val="120000"/>
              </a:lnSpc>
              <a:buFont typeface="Wingdings" panose="05000000000000000000" pitchFamily="2" charset="2"/>
              <a:buChar char="Ø"/>
            </a:pPr>
            <a:r>
              <a:rPr lang="en-US" sz="2800" dirty="0" smtClean="0"/>
              <a:t>Face recognition</a:t>
            </a:r>
            <a:endParaRPr lang="en-US" sz="2800" dirty="0"/>
          </a:p>
          <a:p>
            <a:pPr lvl="1">
              <a:lnSpc>
                <a:spcPct val="120000"/>
              </a:lnSpc>
              <a:buFont typeface="Wingdings" panose="05000000000000000000" pitchFamily="2" charset="2"/>
              <a:buChar char="Ø"/>
            </a:pPr>
            <a:r>
              <a:rPr lang="en-US" sz="2800" dirty="0" smtClean="0"/>
              <a:t>Encryption/Decryption</a:t>
            </a:r>
            <a:endParaRPr lang="en-US" sz="2800" dirty="0"/>
          </a:p>
          <a:p>
            <a:pPr lvl="1">
              <a:lnSpc>
                <a:spcPct val="120000"/>
              </a:lnSpc>
              <a:buFont typeface="Wingdings" panose="05000000000000000000" pitchFamily="2" charset="2"/>
              <a:buChar char="Ø"/>
            </a:pPr>
            <a:r>
              <a:rPr lang="en-US" sz="2800" dirty="0" smtClean="0"/>
              <a:t>Email Privacy</a:t>
            </a:r>
          </a:p>
          <a:p>
            <a:pPr lvl="1">
              <a:lnSpc>
                <a:spcPct val="120000"/>
              </a:lnSpc>
              <a:buFont typeface="Wingdings" panose="05000000000000000000" pitchFamily="2" charset="2"/>
              <a:buChar char="Ø"/>
            </a:pPr>
            <a:r>
              <a:rPr lang="en-US" sz="2800" dirty="0" smtClean="0"/>
              <a:t>Antiviruses, as the third party software</a:t>
            </a:r>
            <a:endParaRPr lang="en-US" dirty="0"/>
          </a:p>
        </p:txBody>
      </p:sp>
    </p:spTree>
    <p:extLst>
      <p:ext uri="{BB962C8B-B14F-4D97-AF65-F5344CB8AC3E}">
        <p14:creationId xmlns:p14="http://schemas.microsoft.com/office/powerpoint/2010/main" val="172121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 Filtering</a:t>
            </a:r>
            <a:endParaRPr lang="en-US" dirty="0"/>
          </a:p>
        </p:txBody>
      </p:sp>
      <p:sp>
        <p:nvSpPr>
          <p:cNvPr id="3" name="Content Placeholder 2"/>
          <p:cNvSpPr>
            <a:spLocks noGrp="1"/>
          </p:cNvSpPr>
          <p:nvPr>
            <p:ph idx="1"/>
          </p:nvPr>
        </p:nvSpPr>
        <p:spPr>
          <a:xfrm>
            <a:off x="838199" y="1825625"/>
            <a:ext cx="10945483" cy="4351338"/>
          </a:xfrm>
        </p:spPr>
        <p:txBody>
          <a:bodyPr>
            <a:normAutofit/>
          </a:bodyPr>
          <a:lstStyle/>
          <a:p>
            <a:pPr>
              <a:buFont typeface="Courier New" panose="02070309020205020404" pitchFamily="49" charset="0"/>
              <a:buChar char="o"/>
            </a:pPr>
            <a:r>
              <a:rPr lang="en-US" dirty="0" smtClean="0"/>
              <a:t>Also known as Internet filter.</a:t>
            </a:r>
          </a:p>
          <a:p>
            <a:pPr>
              <a:buFont typeface="Courier New" panose="02070309020205020404" pitchFamily="49" charset="0"/>
              <a:buChar char="o"/>
            </a:pPr>
            <a:r>
              <a:rPr lang="en-US" b="1" dirty="0"/>
              <a:t>Web content filtering</a:t>
            </a:r>
            <a:r>
              <a:rPr lang="en-US" dirty="0"/>
              <a:t> </a:t>
            </a:r>
            <a:r>
              <a:rPr lang="en-US" dirty="0" smtClean="0"/>
              <a:t>is action of blocking specific </a:t>
            </a:r>
            <a:r>
              <a:rPr lang="en-US" dirty="0"/>
              <a:t>websites or </a:t>
            </a:r>
            <a:r>
              <a:rPr lang="en-US" dirty="0" smtClean="0"/>
              <a:t>content considered as illegal. </a:t>
            </a:r>
          </a:p>
          <a:p>
            <a:pPr>
              <a:buFont typeface="Courier New" panose="02070309020205020404" pitchFamily="49" charset="0"/>
              <a:buChar char="o"/>
            </a:pPr>
            <a:r>
              <a:rPr lang="en-US" dirty="0" smtClean="0"/>
              <a:t>It </a:t>
            </a:r>
            <a:r>
              <a:rPr lang="en-US" dirty="0"/>
              <a:t>essentially creates rules for the device on which </a:t>
            </a:r>
            <a:r>
              <a:rPr lang="en-US" b="1" dirty="0"/>
              <a:t>content</a:t>
            </a:r>
            <a:r>
              <a:rPr lang="en-US" dirty="0"/>
              <a:t> it can deliver to the user. </a:t>
            </a:r>
            <a:endParaRPr lang="en-US" dirty="0" smtClean="0"/>
          </a:p>
          <a:p>
            <a:pPr>
              <a:buFont typeface="Courier New" panose="02070309020205020404" pitchFamily="49" charset="0"/>
              <a:buChar char="o"/>
            </a:pPr>
            <a:r>
              <a:rPr lang="en-US" dirty="0" smtClean="0"/>
              <a:t>Most</a:t>
            </a:r>
            <a:r>
              <a:rPr lang="en-US" dirty="0"/>
              <a:t> </a:t>
            </a:r>
            <a:r>
              <a:rPr lang="en-US" b="1" dirty="0"/>
              <a:t>content filters</a:t>
            </a:r>
            <a:r>
              <a:rPr lang="en-US" dirty="0"/>
              <a:t> use keywords to block pages, but they can also block specific sites.</a:t>
            </a:r>
          </a:p>
        </p:txBody>
      </p:sp>
    </p:spTree>
    <p:extLst>
      <p:ext uri="{BB962C8B-B14F-4D97-AF65-F5344CB8AC3E}">
        <p14:creationId xmlns:p14="http://schemas.microsoft.com/office/powerpoint/2010/main" val="2695233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 Filtering</a:t>
            </a:r>
            <a:endParaRPr lang="en-US" dirty="0"/>
          </a:p>
        </p:txBody>
      </p:sp>
      <p:sp>
        <p:nvSpPr>
          <p:cNvPr id="3" name="Content Placeholder 2"/>
          <p:cNvSpPr>
            <a:spLocks noGrp="1"/>
          </p:cNvSpPr>
          <p:nvPr>
            <p:ph idx="1"/>
          </p:nvPr>
        </p:nvSpPr>
        <p:spPr>
          <a:xfrm>
            <a:off x="838199" y="1825625"/>
            <a:ext cx="10945483" cy="4351338"/>
          </a:xfrm>
        </p:spPr>
        <p:txBody>
          <a:bodyPr>
            <a:normAutofit/>
          </a:bodyPr>
          <a:lstStyle/>
          <a:p>
            <a:pPr>
              <a:buFont typeface="Courier New" panose="02070309020205020404" pitchFamily="49" charset="0"/>
              <a:buChar char="o"/>
            </a:pPr>
            <a:r>
              <a:rPr lang="en-US" sz="3200" dirty="0" smtClean="0"/>
              <a:t>Three categories </a:t>
            </a:r>
            <a:r>
              <a:rPr lang="en-US" sz="3200" dirty="0"/>
              <a:t>of filtering </a:t>
            </a:r>
            <a:r>
              <a:rPr lang="en-US" sz="3200" dirty="0" smtClean="0"/>
              <a:t>systems;</a:t>
            </a:r>
          </a:p>
          <a:p>
            <a:pPr lvl="1">
              <a:buFont typeface="Wingdings" panose="05000000000000000000" pitchFamily="2" charset="2"/>
              <a:buChar char="ü"/>
            </a:pPr>
            <a:r>
              <a:rPr lang="en-US" sz="2800" b="1" dirty="0" smtClean="0"/>
              <a:t>Software </a:t>
            </a:r>
            <a:r>
              <a:rPr lang="en-US" sz="2800" b="1" dirty="0"/>
              <a:t>packages </a:t>
            </a:r>
            <a:r>
              <a:rPr lang="en-US" sz="2800" dirty="0"/>
              <a:t>that you install and manage on your </a:t>
            </a:r>
            <a:r>
              <a:rPr lang="en-US" sz="2800" dirty="0" smtClean="0"/>
              <a:t>computer</a:t>
            </a:r>
          </a:p>
          <a:p>
            <a:pPr lvl="1">
              <a:buFont typeface="Wingdings" panose="05000000000000000000" pitchFamily="2" charset="2"/>
              <a:buChar char="ü"/>
            </a:pPr>
            <a:r>
              <a:rPr lang="en-US" sz="2800" b="1" dirty="0" smtClean="0"/>
              <a:t>Filtering </a:t>
            </a:r>
            <a:r>
              <a:rPr lang="en-US" sz="2800" b="1" dirty="0"/>
              <a:t>services </a:t>
            </a:r>
            <a:r>
              <a:rPr lang="en-US" sz="2800" dirty="0"/>
              <a:t>that may be offered as service option by your Internet Service </a:t>
            </a:r>
            <a:r>
              <a:rPr lang="en-US" sz="2800" dirty="0" smtClean="0"/>
              <a:t>Provider (ISP).</a:t>
            </a:r>
          </a:p>
          <a:p>
            <a:pPr lvl="1" algn="just">
              <a:buFont typeface="Wingdings" panose="05000000000000000000" pitchFamily="2" charset="2"/>
              <a:buChar char="ü"/>
            </a:pPr>
            <a:r>
              <a:rPr lang="en-US" sz="2800" b="1" dirty="0" smtClean="0"/>
              <a:t>Hardware</a:t>
            </a:r>
            <a:r>
              <a:rPr lang="en-US" sz="2800" dirty="0" smtClean="0"/>
              <a:t>-based</a:t>
            </a:r>
            <a:r>
              <a:rPr lang="en-US" sz="2800" dirty="0"/>
              <a:t> </a:t>
            </a:r>
            <a:r>
              <a:rPr lang="en-US" sz="2800" b="1" dirty="0" smtClean="0"/>
              <a:t>filtering</a:t>
            </a:r>
            <a:r>
              <a:rPr lang="en-US" sz="2800" dirty="0"/>
              <a:t> appliance for schools may appear to tick all the boxes. </a:t>
            </a:r>
            <a:r>
              <a:rPr lang="en-US" sz="2800" b="1" dirty="0"/>
              <a:t>Hardware</a:t>
            </a:r>
            <a:r>
              <a:rPr lang="en-US" sz="2800" dirty="0"/>
              <a:t> devices sit in front of an Internet gateway and </a:t>
            </a:r>
            <a:r>
              <a:rPr lang="en-US" sz="2800" b="1" dirty="0"/>
              <a:t>filter</a:t>
            </a:r>
            <a:r>
              <a:rPr lang="en-US" sz="2800" dirty="0"/>
              <a:t> Internet traffic. They prevent users from accessing websites that are deemed to be dangerous or inappropriate</a:t>
            </a:r>
            <a:r>
              <a:rPr lang="en-US" sz="2800" dirty="0" smtClean="0"/>
              <a:t>.</a:t>
            </a:r>
          </a:p>
        </p:txBody>
      </p:sp>
    </p:spTree>
    <p:extLst>
      <p:ext uri="{BB962C8B-B14F-4D97-AF65-F5344CB8AC3E}">
        <p14:creationId xmlns:p14="http://schemas.microsoft.com/office/powerpoint/2010/main" val="1805792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 Filtering</a:t>
            </a:r>
            <a:endParaRPr lang="en-US" dirty="0"/>
          </a:p>
        </p:txBody>
      </p:sp>
      <p:sp>
        <p:nvSpPr>
          <p:cNvPr id="3" name="Content Placeholder 2"/>
          <p:cNvSpPr>
            <a:spLocks noGrp="1"/>
          </p:cNvSpPr>
          <p:nvPr>
            <p:ph idx="1"/>
          </p:nvPr>
        </p:nvSpPr>
        <p:spPr>
          <a:xfrm>
            <a:off x="838199" y="1825625"/>
            <a:ext cx="10945483" cy="4351338"/>
          </a:xfrm>
        </p:spPr>
        <p:txBody>
          <a:bodyPr>
            <a:normAutofit/>
          </a:bodyPr>
          <a:lstStyle/>
          <a:p>
            <a:pPr>
              <a:buFont typeface="Courier New" panose="02070309020205020404" pitchFamily="49" charset="0"/>
              <a:buChar char="o"/>
            </a:pPr>
            <a:r>
              <a:rPr lang="en-US" sz="3200" dirty="0"/>
              <a:t>Some Content Filtering Software:</a:t>
            </a:r>
          </a:p>
          <a:p>
            <a:pPr lvl="1">
              <a:buFont typeface="Wingdings" panose="05000000000000000000" pitchFamily="2" charset="2"/>
              <a:buChar char="§"/>
            </a:pPr>
            <a:r>
              <a:rPr lang="en-US" sz="2800" dirty="0" err="1"/>
              <a:t>Cyberpatrol</a:t>
            </a:r>
            <a:endParaRPr lang="en-US" sz="2800" dirty="0"/>
          </a:p>
          <a:p>
            <a:pPr lvl="1">
              <a:buFont typeface="Wingdings" panose="05000000000000000000" pitchFamily="2" charset="2"/>
              <a:buChar char="§"/>
            </a:pPr>
            <a:r>
              <a:rPr lang="en-US" sz="2800" dirty="0"/>
              <a:t>ESET Smart Security</a:t>
            </a:r>
          </a:p>
          <a:p>
            <a:pPr lvl="1">
              <a:buFont typeface="Wingdings" panose="05000000000000000000" pitchFamily="2" charset="2"/>
              <a:buChar char="§"/>
            </a:pPr>
            <a:r>
              <a:rPr lang="en-US" sz="2800" dirty="0" err="1"/>
              <a:t>PearlEcho</a:t>
            </a:r>
            <a:endParaRPr lang="en-US" sz="2800" dirty="0"/>
          </a:p>
          <a:p>
            <a:pPr lvl="1">
              <a:buFont typeface="Wingdings" panose="05000000000000000000" pitchFamily="2" charset="2"/>
              <a:buChar char="§"/>
            </a:pPr>
            <a:r>
              <a:rPr lang="en-US" sz="2800" dirty="0" err="1"/>
              <a:t>SafeScreen</a:t>
            </a:r>
            <a:endParaRPr lang="en-US" sz="2800" dirty="0"/>
          </a:p>
        </p:txBody>
      </p:sp>
    </p:spTree>
    <p:extLst>
      <p:ext uri="{BB962C8B-B14F-4D97-AF65-F5344CB8AC3E}">
        <p14:creationId xmlns:p14="http://schemas.microsoft.com/office/powerpoint/2010/main" val="1553536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Privacy Laws &amp; Regulations (1)</a:t>
            </a:r>
            <a:endParaRPr lang="en-US" dirty="0"/>
          </a:p>
        </p:txBody>
      </p:sp>
      <p:sp>
        <p:nvSpPr>
          <p:cNvPr id="3" name="Content Placeholder 2"/>
          <p:cNvSpPr>
            <a:spLocks noGrp="1"/>
          </p:cNvSpPr>
          <p:nvPr>
            <p:ph idx="1"/>
          </p:nvPr>
        </p:nvSpPr>
        <p:spPr>
          <a:xfrm>
            <a:off x="672860" y="1397478"/>
            <a:ext cx="10680940" cy="5262113"/>
          </a:xfrm>
        </p:spPr>
        <p:txBody>
          <a:bodyPr>
            <a:normAutofit fontScale="92500" lnSpcReduction="10000"/>
          </a:bodyPr>
          <a:lstStyle/>
          <a:p>
            <a:pPr algn="just">
              <a:buFont typeface="Wingdings" panose="05000000000000000000" pitchFamily="2" charset="2"/>
              <a:buChar char="Ø"/>
            </a:pPr>
            <a:r>
              <a:rPr lang="en-US" i="1" dirty="0"/>
              <a:t>Below is a </a:t>
            </a:r>
            <a:r>
              <a:rPr lang="en-US" b="1" i="1" dirty="0"/>
              <a:t>partial </a:t>
            </a:r>
            <a:r>
              <a:rPr lang="en-US" i="1" dirty="0"/>
              <a:t>listing of European, United Kingdom, Canadian and US governmental laws and regulations that have, or </a:t>
            </a:r>
            <a:r>
              <a:rPr lang="en-US" i="1" dirty="0" smtClean="0"/>
              <a:t>will have</a:t>
            </a:r>
            <a:r>
              <a:rPr lang="en-US" i="1" dirty="0"/>
              <a:t>, a significant effect on data processing and information security.</a:t>
            </a:r>
          </a:p>
          <a:p>
            <a:pPr algn="just">
              <a:buFont typeface="Wingdings" panose="05000000000000000000" pitchFamily="2" charset="2"/>
              <a:buChar char="Ø"/>
            </a:pPr>
            <a:r>
              <a:rPr lang="en-US" dirty="0" smtClean="0"/>
              <a:t>UK </a:t>
            </a:r>
            <a:r>
              <a:rPr lang="en-US" dirty="0"/>
              <a:t>Data Protection Act 1998 makes new provisions for the regulation of the processing of information relating to </a:t>
            </a:r>
            <a:r>
              <a:rPr lang="en-US" dirty="0" smtClean="0"/>
              <a:t>individuals, including </a:t>
            </a:r>
            <a:r>
              <a:rPr lang="en-US" dirty="0"/>
              <a:t>the obtaining, holding, use or disclosure of such information. The European Union Data Protection Directive (</a:t>
            </a:r>
            <a:r>
              <a:rPr lang="en-US" dirty="0" smtClean="0"/>
              <a:t>EUDPD) requires </a:t>
            </a:r>
            <a:r>
              <a:rPr lang="en-US" dirty="0"/>
              <a:t>that all EU member must adopt national regulations to standardize the protection of data privacy for citizens </a:t>
            </a:r>
            <a:r>
              <a:rPr lang="en-US" dirty="0" smtClean="0"/>
              <a:t>throughout the </a:t>
            </a:r>
            <a:r>
              <a:rPr lang="en-US" dirty="0"/>
              <a:t>EU.</a:t>
            </a:r>
          </a:p>
          <a:p>
            <a:pPr algn="just">
              <a:buFont typeface="Wingdings" panose="05000000000000000000" pitchFamily="2" charset="2"/>
              <a:buChar char="Ø"/>
            </a:pPr>
            <a:r>
              <a:rPr lang="en-US" dirty="0" smtClean="0"/>
              <a:t>The </a:t>
            </a:r>
            <a:r>
              <a:rPr lang="en-US" dirty="0"/>
              <a:t>Computer Misuse Act 1990 is an Act of the UK Parliament making computer crime (e.g. hacking) a criminal offence. The </a:t>
            </a:r>
            <a:r>
              <a:rPr lang="en-US" dirty="0" smtClean="0"/>
              <a:t>Act has </a:t>
            </a:r>
            <a:r>
              <a:rPr lang="en-US" dirty="0"/>
              <a:t>become a model upon which several other countries including Canada and the Republic of Ireland have drawn </a:t>
            </a:r>
            <a:r>
              <a:rPr lang="en-US" dirty="0" smtClean="0"/>
              <a:t>inspiration when </a:t>
            </a:r>
            <a:r>
              <a:rPr lang="en-US" dirty="0"/>
              <a:t>subsequently drafting their own information security laws.</a:t>
            </a:r>
          </a:p>
        </p:txBody>
      </p:sp>
    </p:spTree>
    <p:extLst>
      <p:ext uri="{BB962C8B-B14F-4D97-AF65-F5344CB8AC3E}">
        <p14:creationId xmlns:p14="http://schemas.microsoft.com/office/powerpoint/2010/main" val="2533463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Privacy Laws &amp; Regulations (2)</a:t>
            </a:r>
            <a:endParaRPr lang="en-US" dirty="0"/>
          </a:p>
        </p:txBody>
      </p:sp>
      <p:sp>
        <p:nvSpPr>
          <p:cNvPr id="3" name="Content Placeholder 2"/>
          <p:cNvSpPr>
            <a:spLocks noGrp="1"/>
          </p:cNvSpPr>
          <p:nvPr>
            <p:ph idx="1"/>
          </p:nvPr>
        </p:nvSpPr>
        <p:spPr>
          <a:xfrm>
            <a:off x="672860" y="1397478"/>
            <a:ext cx="10680940" cy="5262113"/>
          </a:xfrm>
        </p:spPr>
        <p:txBody>
          <a:bodyPr>
            <a:normAutofit lnSpcReduction="10000"/>
          </a:bodyPr>
          <a:lstStyle/>
          <a:p>
            <a:pPr algn="just">
              <a:buFont typeface="Wingdings" panose="05000000000000000000" pitchFamily="2" charset="2"/>
              <a:buChar char="Ø"/>
            </a:pPr>
            <a:r>
              <a:rPr lang="en-US" dirty="0"/>
              <a:t>EU Data Retention laws requires Internet service providers and phone companies to keep data on every electronic message </a:t>
            </a:r>
            <a:r>
              <a:rPr lang="en-US" dirty="0" smtClean="0"/>
              <a:t>sent and </a:t>
            </a:r>
            <a:r>
              <a:rPr lang="en-US" dirty="0"/>
              <a:t>phone call made for between six months and two years.</a:t>
            </a:r>
          </a:p>
          <a:p>
            <a:pPr algn="just">
              <a:buFont typeface="Wingdings" panose="05000000000000000000" pitchFamily="2" charset="2"/>
              <a:buChar char="Ø"/>
            </a:pPr>
            <a:r>
              <a:rPr lang="en-US" dirty="0" smtClean="0"/>
              <a:t>The </a:t>
            </a:r>
            <a:r>
              <a:rPr lang="en-US" dirty="0"/>
              <a:t>Family Educational Rights and Privacy Act (FERPA) (20 U.S.C. § 1232 g; 34 CFR Part 99) is a US Federal law that protects </a:t>
            </a:r>
            <a:r>
              <a:rPr lang="en-US" dirty="0" smtClean="0"/>
              <a:t>the privacy </a:t>
            </a:r>
            <a:r>
              <a:rPr lang="en-US" dirty="0"/>
              <a:t>of student education records. The law applies to all schools that receive funds under an applicable program of the </a:t>
            </a:r>
            <a:r>
              <a:rPr lang="en-US" dirty="0" smtClean="0"/>
              <a:t>U.S. Department </a:t>
            </a:r>
            <a:r>
              <a:rPr lang="en-US" dirty="0"/>
              <a:t>of Education. Generally, schools must have written permission from the parent or eligible student in order to </a:t>
            </a:r>
            <a:r>
              <a:rPr lang="en-US" dirty="0" smtClean="0"/>
              <a:t>release any </a:t>
            </a:r>
            <a:r>
              <a:rPr lang="en-US" dirty="0"/>
              <a:t>information from a student's education </a:t>
            </a:r>
            <a:r>
              <a:rPr lang="en-US" dirty="0" smtClean="0"/>
              <a:t>record.</a:t>
            </a:r>
          </a:p>
          <a:p>
            <a:pPr algn="just">
              <a:buFont typeface="Wingdings" panose="05000000000000000000" pitchFamily="2" charset="2"/>
              <a:buChar char="Ø"/>
            </a:pPr>
            <a:r>
              <a:rPr lang="en-US" dirty="0" smtClean="0"/>
              <a:t>Federal </a:t>
            </a:r>
            <a:r>
              <a:rPr lang="en-US" dirty="0"/>
              <a:t>Financial Institutions Examination Council’s (FFIEC) security guidelines for auditors specifies requirements for </a:t>
            </a:r>
            <a:r>
              <a:rPr lang="en-US" dirty="0" smtClean="0"/>
              <a:t>online banking </a:t>
            </a:r>
            <a:r>
              <a:rPr lang="en-US" dirty="0"/>
              <a:t>security.</a:t>
            </a:r>
          </a:p>
        </p:txBody>
      </p:sp>
    </p:spTree>
    <p:extLst>
      <p:ext uri="{BB962C8B-B14F-4D97-AF65-F5344CB8AC3E}">
        <p14:creationId xmlns:p14="http://schemas.microsoft.com/office/powerpoint/2010/main" val="2604523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Privacy Laws &amp; Regulations (3)</a:t>
            </a:r>
            <a:endParaRPr lang="en-US" dirty="0"/>
          </a:p>
        </p:txBody>
      </p:sp>
      <p:sp>
        <p:nvSpPr>
          <p:cNvPr id="3" name="Content Placeholder 2"/>
          <p:cNvSpPr>
            <a:spLocks noGrp="1"/>
          </p:cNvSpPr>
          <p:nvPr>
            <p:ph idx="1"/>
          </p:nvPr>
        </p:nvSpPr>
        <p:spPr>
          <a:xfrm>
            <a:off x="672860" y="1397478"/>
            <a:ext cx="10680940" cy="5262113"/>
          </a:xfrm>
        </p:spPr>
        <p:txBody>
          <a:bodyPr>
            <a:normAutofit fontScale="92500" lnSpcReduction="20000"/>
          </a:bodyPr>
          <a:lstStyle/>
          <a:p>
            <a:pPr algn="just">
              <a:buFont typeface="Wingdings" panose="05000000000000000000" pitchFamily="2" charset="2"/>
              <a:buChar char="Ø"/>
            </a:pPr>
            <a:r>
              <a:rPr lang="en-US" dirty="0"/>
              <a:t>Health Insurance Portability and Accountability Act (HIPAA) of 1996 requires the adoption of national standards for </a:t>
            </a:r>
            <a:r>
              <a:rPr lang="en-US" dirty="0" smtClean="0"/>
              <a:t>electronic health </a:t>
            </a:r>
            <a:r>
              <a:rPr lang="en-US" dirty="0"/>
              <a:t>care transactions and national identifiers for providers, health insurance plans, and employers. And, it requires health </a:t>
            </a:r>
            <a:r>
              <a:rPr lang="en-US" dirty="0" smtClean="0"/>
              <a:t>care providers</a:t>
            </a:r>
            <a:r>
              <a:rPr lang="en-US" dirty="0"/>
              <a:t>, insurance providers and employers to safeguard the security and privacy of health data.</a:t>
            </a:r>
          </a:p>
          <a:p>
            <a:pPr algn="just">
              <a:buFont typeface="Wingdings" panose="05000000000000000000" pitchFamily="2" charset="2"/>
              <a:buChar char="Ø"/>
            </a:pPr>
            <a:r>
              <a:rPr lang="en-US" dirty="0" smtClean="0"/>
              <a:t>Gramm–Leach–Bliley </a:t>
            </a:r>
            <a:r>
              <a:rPr lang="en-US" dirty="0"/>
              <a:t>Act of 1999 (GLBA), also known as the Financial Services Modernization Act of 1999, protects the </a:t>
            </a:r>
            <a:r>
              <a:rPr lang="en-US" dirty="0" smtClean="0"/>
              <a:t>privacy and </a:t>
            </a:r>
            <a:r>
              <a:rPr lang="en-US" dirty="0"/>
              <a:t>security of private financial information that financial institutions collect, hold, and process</a:t>
            </a:r>
            <a:r>
              <a:rPr lang="en-US" dirty="0" smtClean="0"/>
              <a:t>.</a:t>
            </a:r>
          </a:p>
          <a:p>
            <a:pPr algn="just">
              <a:buFont typeface="Wingdings" panose="05000000000000000000" pitchFamily="2" charset="2"/>
              <a:buChar char="Ø"/>
            </a:pPr>
            <a:r>
              <a:rPr lang="en-US" dirty="0" smtClean="0"/>
              <a:t>Sarbanes–Oxley </a:t>
            </a:r>
            <a:r>
              <a:rPr lang="en-US" dirty="0"/>
              <a:t>Act of 2002 (SOX). Section 404 of the act requires publicly traded companies to assess the effectiveness of </a:t>
            </a:r>
            <a:r>
              <a:rPr lang="en-US" dirty="0" smtClean="0"/>
              <a:t>their internal </a:t>
            </a:r>
            <a:r>
              <a:rPr lang="en-US" dirty="0"/>
              <a:t>controls for financial reporting in annual reports they submit at the end of each fiscal year. Chief information officers </a:t>
            </a:r>
            <a:r>
              <a:rPr lang="en-US" dirty="0" smtClean="0"/>
              <a:t>are responsible </a:t>
            </a:r>
            <a:r>
              <a:rPr lang="en-US" dirty="0"/>
              <a:t>for the security, accuracy and the reliability of the systems that manage and report the financial data. The act </a:t>
            </a:r>
            <a:r>
              <a:rPr lang="en-US" dirty="0" smtClean="0"/>
              <a:t>also requires </a:t>
            </a:r>
            <a:r>
              <a:rPr lang="en-US" dirty="0"/>
              <a:t>publicly traded companies to engage independent auditors who must attest to, and report on, the validity of </a:t>
            </a:r>
            <a:r>
              <a:rPr lang="en-US" dirty="0" smtClean="0"/>
              <a:t>their assessments</a:t>
            </a:r>
            <a:r>
              <a:rPr lang="en-US" dirty="0"/>
              <a:t>.</a:t>
            </a:r>
          </a:p>
        </p:txBody>
      </p:sp>
    </p:spTree>
    <p:extLst>
      <p:ext uri="{BB962C8B-B14F-4D97-AF65-F5344CB8AC3E}">
        <p14:creationId xmlns:p14="http://schemas.microsoft.com/office/powerpoint/2010/main" val="1747804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Privacy Laws &amp; Regulations (4)</a:t>
            </a:r>
            <a:endParaRPr lang="en-US" dirty="0"/>
          </a:p>
        </p:txBody>
      </p:sp>
      <p:sp>
        <p:nvSpPr>
          <p:cNvPr id="3" name="Content Placeholder 2"/>
          <p:cNvSpPr>
            <a:spLocks noGrp="1"/>
          </p:cNvSpPr>
          <p:nvPr>
            <p:ph idx="1"/>
          </p:nvPr>
        </p:nvSpPr>
        <p:spPr>
          <a:xfrm>
            <a:off x="672860" y="1397478"/>
            <a:ext cx="10680940" cy="5262113"/>
          </a:xfrm>
        </p:spPr>
        <p:txBody>
          <a:bodyPr>
            <a:normAutofit fontScale="85000" lnSpcReduction="20000"/>
          </a:bodyPr>
          <a:lstStyle/>
          <a:p>
            <a:pPr algn="just">
              <a:buFont typeface="Wingdings" panose="05000000000000000000" pitchFamily="2" charset="2"/>
              <a:buChar char="Ø"/>
            </a:pPr>
            <a:r>
              <a:rPr lang="en-US" dirty="0"/>
              <a:t>Payment Card Industry Data Security Standard (PCI DSS) establishes comprehensive requirements for enhancing payment </a:t>
            </a:r>
            <a:r>
              <a:rPr lang="en-US" dirty="0" smtClean="0"/>
              <a:t>account data </a:t>
            </a:r>
            <a:r>
              <a:rPr lang="en-US" dirty="0"/>
              <a:t>security. It was developed by the founding payment brands of the PCI Security Standards Council, including </a:t>
            </a:r>
            <a:r>
              <a:rPr lang="en-US" dirty="0" smtClean="0"/>
              <a:t>American Express</a:t>
            </a:r>
            <a:r>
              <a:rPr lang="en-US" dirty="0"/>
              <a:t>, Discover Financial Services, JCB, MasterCard Worldwide and Visa International, to help facilitate the broad adoption </a:t>
            </a:r>
            <a:r>
              <a:rPr lang="en-US" dirty="0" smtClean="0"/>
              <a:t>of consistent </a:t>
            </a:r>
            <a:r>
              <a:rPr lang="en-US" dirty="0"/>
              <a:t>data security measures on a global basis. The PCI DSS is a multifaceted security standard that includes </a:t>
            </a:r>
            <a:r>
              <a:rPr lang="en-US" dirty="0" smtClean="0"/>
              <a:t>requirements for </a:t>
            </a:r>
            <a:r>
              <a:rPr lang="en-US" dirty="0"/>
              <a:t>security management, policies, procedures, network architecture, software design and other critical protective measures.</a:t>
            </a:r>
          </a:p>
          <a:p>
            <a:pPr algn="just">
              <a:buFont typeface="Wingdings" panose="05000000000000000000" pitchFamily="2" charset="2"/>
              <a:buChar char="Ø"/>
            </a:pPr>
            <a:r>
              <a:rPr lang="en-US" dirty="0" smtClean="0"/>
              <a:t>State </a:t>
            </a:r>
            <a:r>
              <a:rPr lang="en-US" dirty="0"/>
              <a:t>security breach notification laws (California and many others) require businesses, nonprofits, and state institutions to </a:t>
            </a:r>
            <a:r>
              <a:rPr lang="en-US" dirty="0" smtClean="0"/>
              <a:t>notify consumers </a:t>
            </a:r>
            <a:r>
              <a:rPr lang="en-US" dirty="0"/>
              <a:t>when unencrypted "personal information" may have been compromised, lost, or stolen.</a:t>
            </a:r>
          </a:p>
          <a:p>
            <a:pPr algn="just">
              <a:buFont typeface="Wingdings" panose="05000000000000000000" pitchFamily="2" charset="2"/>
              <a:buChar char="Ø"/>
            </a:pPr>
            <a:r>
              <a:rPr lang="en-US" dirty="0" smtClean="0"/>
              <a:t>Personal </a:t>
            </a:r>
            <a:r>
              <a:rPr lang="en-US" dirty="0"/>
              <a:t>Information Protection and Electronics Document Act (PIPEDA) – An Act to support and promote electronic </a:t>
            </a:r>
            <a:r>
              <a:rPr lang="en-US" dirty="0" smtClean="0"/>
              <a:t>commerce by </a:t>
            </a:r>
            <a:r>
              <a:rPr lang="en-US" dirty="0"/>
              <a:t>protecting personal information that is collected, used or disclosed in certain circumstances, by providing for the use </a:t>
            </a:r>
            <a:r>
              <a:rPr lang="en-US" dirty="0" smtClean="0"/>
              <a:t>of electronic </a:t>
            </a:r>
            <a:r>
              <a:rPr lang="en-US" dirty="0"/>
              <a:t>means to communicate or record information or transactions and by amending the Canada Evidence Act, the </a:t>
            </a:r>
            <a:r>
              <a:rPr lang="en-US" dirty="0" smtClean="0"/>
              <a:t>Statutory Instruments </a:t>
            </a:r>
            <a:r>
              <a:rPr lang="en-US" dirty="0"/>
              <a:t>Act and the Statute Revision Act.</a:t>
            </a:r>
          </a:p>
        </p:txBody>
      </p:sp>
    </p:spTree>
    <p:extLst>
      <p:ext uri="{BB962C8B-B14F-4D97-AF65-F5344CB8AC3E}">
        <p14:creationId xmlns:p14="http://schemas.microsoft.com/office/powerpoint/2010/main" val="2086986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Privacy Laws &amp; Regulations (5)</a:t>
            </a:r>
            <a:endParaRPr lang="en-US" dirty="0"/>
          </a:p>
        </p:txBody>
      </p:sp>
      <p:sp>
        <p:nvSpPr>
          <p:cNvPr id="3" name="Content Placeholder 2"/>
          <p:cNvSpPr>
            <a:spLocks noGrp="1"/>
          </p:cNvSpPr>
          <p:nvPr>
            <p:ph idx="1"/>
          </p:nvPr>
        </p:nvSpPr>
        <p:spPr>
          <a:xfrm>
            <a:off x="672860" y="1397478"/>
            <a:ext cx="10680940" cy="5262113"/>
          </a:xfrm>
        </p:spPr>
        <p:txBody>
          <a:bodyPr>
            <a:normAutofit lnSpcReduction="10000"/>
          </a:bodyPr>
          <a:lstStyle/>
          <a:p>
            <a:pPr algn="just"/>
            <a:r>
              <a:rPr lang="en-US" dirty="0">
                <a:latin typeface="Calibri" panose="020F0502020204030204" pitchFamily="34" charset="0"/>
              </a:rPr>
              <a:t>Hellenic Authority for Communication Security and Privacy (ADAE) (Law 165/2011) - The Greek Law establishes and describes </a:t>
            </a:r>
            <a:r>
              <a:rPr lang="en-US" dirty="0" smtClean="0">
                <a:latin typeface="Calibri" panose="020F0502020204030204" pitchFamily="34" charset="0"/>
              </a:rPr>
              <a:t>the minimum </a:t>
            </a:r>
            <a:r>
              <a:rPr lang="en-US" dirty="0">
                <a:latin typeface="Calibri" panose="020F0502020204030204" pitchFamily="34" charset="0"/>
              </a:rPr>
              <a:t>Information Security controls that should be deployed by every company which provides electronic </a:t>
            </a:r>
            <a:r>
              <a:rPr lang="en-US" dirty="0" smtClean="0">
                <a:latin typeface="Calibri" panose="020F0502020204030204" pitchFamily="34" charset="0"/>
              </a:rPr>
              <a:t>communication networks </a:t>
            </a:r>
            <a:r>
              <a:rPr lang="en-US" dirty="0">
                <a:latin typeface="Calibri" panose="020F0502020204030204" pitchFamily="34" charset="0"/>
              </a:rPr>
              <a:t>and/or services in Greece in order to protect customers' Confidentiality. These include both managerial and </a:t>
            </a:r>
            <a:r>
              <a:rPr lang="en-US" dirty="0" smtClean="0">
                <a:latin typeface="Calibri" panose="020F0502020204030204" pitchFamily="34" charset="0"/>
              </a:rPr>
              <a:t>technical controls </a:t>
            </a:r>
            <a:r>
              <a:rPr lang="en-US" dirty="0">
                <a:latin typeface="Calibri" panose="020F0502020204030204" pitchFamily="34" charset="0"/>
              </a:rPr>
              <a:t>(i.e. log records should be stored for two years).</a:t>
            </a:r>
          </a:p>
          <a:p>
            <a:pPr algn="just"/>
            <a:r>
              <a:rPr lang="en-US" dirty="0" smtClean="0">
                <a:latin typeface="Calibri" panose="020F0502020204030204" pitchFamily="34" charset="0"/>
              </a:rPr>
              <a:t>Hellenic </a:t>
            </a:r>
            <a:r>
              <a:rPr lang="en-US" dirty="0">
                <a:latin typeface="Calibri" panose="020F0502020204030204" pitchFamily="34" charset="0"/>
              </a:rPr>
              <a:t>Authority for Communication Security and Privacy (ADAE) (Law 205/2013)- The latest Greek Law published by </a:t>
            </a:r>
            <a:r>
              <a:rPr lang="en-US" dirty="0" smtClean="0">
                <a:latin typeface="Calibri" panose="020F0502020204030204" pitchFamily="34" charset="0"/>
              </a:rPr>
              <a:t>ADAE concentrates </a:t>
            </a:r>
            <a:r>
              <a:rPr lang="en-US" dirty="0">
                <a:latin typeface="Calibri" panose="020F0502020204030204" pitchFamily="34" charset="0"/>
              </a:rPr>
              <a:t>around the protection of the Integrity and Availability of the services and data offered by the </a:t>
            </a:r>
            <a:r>
              <a:rPr lang="en-US" dirty="0" smtClean="0">
                <a:latin typeface="Calibri" panose="020F0502020204030204" pitchFamily="34" charset="0"/>
              </a:rPr>
              <a:t>Greek Telecommunication </a:t>
            </a:r>
            <a:r>
              <a:rPr lang="en-US" dirty="0">
                <a:latin typeface="Calibri" panose="020F0502020204030204" pitchFamily="34" charset="0"/>
              </a:rPr>
              <a:t>Companies</a:t>
            </a:r>
            <a:r>
              <a:rPr lang="en-US" dirty="0" smtClean="0">
                <a:latin typeface="Calibri" panose="020F0502020204030204" pitchFamily="34" charset="0"/>
              </a:rPr>
              <a:t>. The </a:t>
            </a:r>
            <a:r>
              <a:rPr lang="en-US" dirty="0">
                <a:latin typeface="Calibri" panose="020F0502020204030204" pitchFamily="34" charset="0"/>
              </a:rPr>
              <a:t>new Law forces </a:t>
            </a:r>
            <a:r>
              <a:rPr lang="en-US" dirty="0" err="1">
                <a:latin typeface="Calibri" panose="020F0502020204030204" pitchFamily="34" charset="0"/>
              </a:rPr>
              <a:t>Telcos</a:t>
            </a:r>
            <a:r>
              <a:rPr lang="en-US" dirty="0">
                <a:latin typeface="Calibri" panose="020F0502020204030204" pitchFamily="34" charset="0"/>
              </a:rPr>
              <a:t> and associated companies to build, deploy and test </a:t>
            </a:r>
            <a:r>
              <a:rPr lang="en-US" dirty="0" smtClean="0">
                <a:latin typeface="Calibri" panose="020F0502020204030204" pitchFamily="34" charset="0"/>
              </a:rPr>
              <a:t>appropriate Business </a:t>
            </a:r>
            <a:r>
              <a:rPr lang="en-US" dirty="0">
                <a:latin typeface="Calibri" panose="020F0502020204030204" pitchFamily="34" charset="0"/>
              </a:rPr>
              <a:t>Continuity Plans and redundant infrastructures.</a:t>
            </a:r>
            <a:endParaRPr lang="en-US" dirty="0"/>
          </a:p>
        </p:txBody>
      </p:sp>
    </p:spTree>
    <p:extLst>
      <p:ext uri="{BB962C8B-B14F-4D97-AF65-F5344CB8AC3E}">
        <p14:creationId xmlns:p14="http://schemas.microsoft.com/office/powerpoint/2010/main" val="4039503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761" y="0"/>
            <a:ext cx="10515600" cy="1325563"/>
          </a:xfrm>
        </p:spPr>
        <p:txBody>
          <a:bodyPr>
            <a:normAutofit/>
          </a:bodyPr>
          <a:lstStyle/>
          <a:p>
            <a:pPr algn="ctr"/>
            <a:r>
              <a:rPr lang="en-US" sz="3600" dirty="0"/>
              <a:t>Countries without official data privacy laws</a:t>
            </a:r>
          </a:p>
        </p:txBody>
      </p:sp>
      <p:pic>
        <p:nvPicPr>
          <p:cNvPr id="4" name="Picture 3"/>
          <p:cNvPicPr>
            <a:picLocks noChangeAspect="1"/>
          </p:cNvPicPr>
          <p:nvPr/>
        </p:nvPicPr>
        <p:blipFill>
          <a:blip r:embed="rId2"/>
          <a:stretch>
            <a:fillRect/>
          </a:stretch>
        </p:blipFill>
        <p:spPr>
          <a:xfrm>
            <a:off x="310551" y="1102383"/>
            <a:ext cx="11645660" cy="5608968"/>
          </a:xfrm>
          <a:prstGeom prst="rect">
            <a:avLst/>
          </a:prstGeom>
        </p:spPr>
      </p:pic>
    </p:spTree>
    <p:extLst>
      <p:ext uri="{BB962C8B-B14F-4D97-AF65-F5344CB8AC3E}">
        <p14:creationId xmlns:p14="http://schemas.microsoft.com/office/powerpoint/2010/main" val="89241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a:t>
            </a:r>
            <a:r>
              <a:rPr lang="en-US" dirty="0" smtClean="0"/>
              <a:t>Risks &amp; Security </a:t>
            </a:r>
            <a:endParaRPr lang="en-US" dirty="0"/>
          </a:p>
        </p:txBody>
      </p:sp>
      <p:sp>
        <p:nvSpPr>
          <p:cNvPr id="3" name="Content Placeholder 2"/>
          <p:cNvSpPr>
            <a:spLocks noGrp="1"/>
          </p:cNvSpPr>
          <p:nvPr>
            <p:ph idx="1"/>
          </p:nvPr>
        </p:nvSpPr>
        <p:spPr/>
        <p:txBody>
          <a:bodyPr>
            <a:normAutofit/>
          </a:bodyPr>
          <a:lstStyle/>
          <a:p>
            <a:pPr algn="just"/>
            <a:r>
              <a:rPr lang="en-US" dirty="0"/>
              <a:t>A </a:t>
            </a:r>
            <a:r>
              <a:rPr lang="en-US" b="1" dirty="0"/>
              <a:t>computer security risk</a:t>
            </a:r>
            <a:r>
              <a:rPr lang="en-US" dirty="0"/>
              <a:t> is </a:t>
            </a:r>
            <a:r>
              <a:rPr lang="en-US" dirty="0" smtClean="0"/>
              <a:t>anything </a:t>
            </a:r>
            <a:r>
              <a:rPr lang="en-US" dirty="0"/>
              <a:t>on your computer that may </a:t>
            </a:r>
            <a:r>
              <a:rPr lang="en-US" dirty="0" smtClean="0"/>
              <a:t>harm your computer, damage </a:t>
            </a:r>
            <a:r>
              <a:rPr lang="en-US" dirty="0"/>
              <a:t>or steal your data or allow someone else to access your </a:t>
            </a:r>
            <a:r>
              <a:rPr lang="en-US" dirty="0" smtClean="0"/>
              <a:t>computer, without your knowledge or approval.</a:t>
            </a:r>
          </a:p>
          <a:p>
            <a:pPr algn="just"/>
            <a:r>
              <a:rPr lang="en-US" dirty="0" smtClean="0"/>
              <a:t>The Cell phones and other types of Computers security is also vulnerable.</a:t>
            </a:r>
          </a:p>
          <a:p>
            <a:pPr algn="just"/>
            <a:r>
              <a:rPr lang="en-US" dirty="0" smtClean="0"/>
              <a:t>Many ways can be used to attack on a Computer’s security.</a:t>
            </a:r>
            <a:endParaRPr lang="en-US" dirty="0"/>
          </a:p>
        </p:txBody>
      </p:sp>
    </p:spTree>
    <p:extLst>
      <p:ext uri="{BB962C8B-B14F-4D97-AF65-F5344CB8AC3E}">
        <p14:creationId xmlns:p14="http://schemas.microsoft.com/office/powerpoint/2010/main" val="913294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fontScale="85000" lnSpcReduction="20000"/>
          </a:bodyPr>
          <a:lstStyle/>
          <a:p>
            <a:pPr>
              <a:buFont typeface="Courier New" panose="02070309020205020404" pitchFamily="49" charset="0"/>
              <a:buChar char="o"/>
            </a:pPr>
            <a:r>
              <a:rPr lang="en-US" dirty="0" smtClean="0"/>
              <a:t>Viruses </a:t>
            </a:r>
          </a:p>
          <a:p>
            <a:pPr>
              <a:buFont typeface="Courier New" panose="02070309020205020404" pitchFamily="49" charset="0"/>
              <a:buChar char="o"/>
            </a:pPr>
            <a:r>
              <a:rPr lang="en-US" dirty="0" smtClean="0"/>
              <a:t>Worms</a:t>
            </a:r>
          </a:p>
          <a:p>
            <a:pPr>
              <a:buFont typeface="Courier New" panose="02070309020205020404" pitchFamily="49" charset="0"/>
              <a:buChar char="o"/>
            </a:pPr>
            <a:r>
              <a:rPr lang="en-US" dirty="0" smtClean="0"/>
              <a:t>Ransomware</a:t>
            </a:r>
          </a:p>
          <a:p>
            <a:pPr>
              <a:buFont typeface="Courier New" panose="02070309020205020404" pitchFamily="49" charset="0"/>
              <a:buChar char="o"/>
            </a:pPr>
            <a:r>
              <a:rPr lang="en-US" dirty="0"/>
              <a:t>Trojan </a:t>
            </a:r>
            <a:r>
              <a:rPr lang="en-US" dirty="0" smtClean="0"/>
              <a:t>Horses</a:t>
            </a:r>
          </a:p>
          <a:p>
            <a:pPr>
              <a:buFont typeface="Courier New" panose="02070309020205020404" pitchFamily="49" charset="0"/>
              <a:buChar char="o"/>
            </a:pPr>
            <a:r>
              <a:rPr lang="en-US" dirty="0" smtClean="0"/>
              <a:t>Adware</a:t>
            </a:r>
          </a:p>
          <a:p>
            <a:pPr>
              <a:buFont typeface="Courier New" panose="02070309020205020404" pitchFamily="49" charset="0"/>
              <a:buChar char="o"/>
            </a:pPr>
            <a:r>
              <a:rPr lang="en-US" dirty="0" smtClean="0"/>
              <a:t>Spyware</a:t>
            </a:r>
          </a:p>
          <a:p>
            <a:pPr>
              <a:buFont typeface="Courier New" panose="02070309020205020404" pitchFamily="49" charset="0"/>
              <a:buChar char="o"/>
            </a:pPr>
            <a:r>
              <a:rPr lang="en-US" dirty="0" smtClean="0"/>
              <a:t>DOS and DDOS attacks</a:t>
            </a:r>
          </a:p>
          <a:p>
            <a:pPr>
              <a:buFont typeface="Courier New" panose="02070309020205020404" pitchFamily="49" charset="0"/>
              <a:buChar char="o"/>
            </a:pPr>
            <a:r>
              <a:rPr lang="en-US" dirty="0" smtClean="0"/>
              <a:t>Phishing</a:t>
            </a:r>
          </a:p>
          <a:p>
            <a:pPr>
              <a:buFont typeface="Courier New" panose="02070309020205020404" pitchFamily="49" charset="0"/>
              <a:buChar char="o"/>
            </a:pPr>
            <a:r>
              <a:rPr lang="en-US" dirty="0" smtClean="0"/>
              <a:t>Rootkit</a:t>
            </a:r>
          </a:p>
          <a:p>
            <a:pPr>
              <a:buFont typeface="Courier New" panose="02070309020205020404" pitchFamily="49" charset="0"/>
              <a:buChar char="o"/>
            </a:pPr>
            <a:r>
              <a:rPr lang="en-US" dirty="0" smtClean="0"/>
              <a:t>SQL Injection attack</a:t>
            </a:r>
          </a:p>
          <a:p>
            <a:pPr>
              <a:buFont typeface="Courier New" panose="02070309020205020404" pitchFamily="49" charset="0"/>
              <a:buChar char="o"/>
            </a:pPr>
            <a:r>
              <a:rPr lang="en-US" dirty="0" smtClean="0"/>
              <a:t>Man-In-The-Middle (</a:t>
            </a:r>
            <a:r>
              <a:rPr lang="en-US" dirty="0" err="1" smtClean="0"/>
              <a:t>MitM</a:t>
            </a:r>
            <a:r>
              <a:rPr lang="en-US" dirty="0" smtClean="0"/>
              <a:t>) Attacks</a:t>
            </a:r>
          </a:p>
          <a:p>
            <a:pPr>
              <a:buFont typeface="Courier New" panose="02070309020205020404" pitchFamily="49" charset="0"/>
              <a:buChar char="o"/>
            </a:pPr>
            <a:endParaRPr lang="en-US" dirty="0" smtClean="0"/>
          </a:p>
        </p:txBody>
      </p:sp>
    </p:spTree>
    <p:extLst>
      <p:ext uri="{BB962C8B-B14F-4D97-AF65-F5344CB8AC3E}">
        <p14:creationId xmlns:p14="http://schemas.microsoft.com/office/powerpoint/2010/main" val="2622209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marL="0" indent="0">
              <a:buNone/>
            </a:pPr>
            <a:r>
              <a:rPr lang="en-US" b="1" u="sng" dirty="0"/>
              <a:t>SQL Injection </a:t>
            </a:r>
            <a:r>
              <a:rPr lang="en-US" b="1" u="sng" dirty="0" smtClean="0"/>
              <a:t>attack:</a:t>
            </a:r>
          </a:p>
          <a:p>
            <a:pPr>
              <a:buFont typeface="Courier New" panose="02070309020205020404" pitchFamily="49" charset="0"/>
              <a:buChar char="o"/>
            </a:pPr>
            <a:r>
              <a:rPr lang="en-US" dirty="0" smtClean="0"/>
              <a:t>Unauthorized access to the users data of an Application. For example;</a:t>
            </a:r>
          </a:p>
          <a:p>
            <a:pPr lvl="1">
              <a:buFont typeface="Courier New" panose="02070309020205020404" pitchFamily="49" charset="0"/>
              <a:buChar char="o"/>
            </a:pPr>
            <a:r>
              <a:rPr lang="en-US" b="1" dirty="0" smtClean="0"/>
              <a:t>Facebook</a:t>
            </a:r>
            <a:r>
              <a:rPr lang="en-US" dirty="0" smtClean="0"/>
              <a:t>’s users data</a:t>
            </a:r>
          </a:p>
          <a:p>
            <a:pPr lvl="1">
              <a:buFont typeface="Courier New" panose="02070309020205020404" pitchFamily="49" charset="0"/>
              <a:buChar char="o"/>
            </a:pPr>
            <a:r>
              <a:rPr lang="en-US" b="1" dirty="0" smtClean="0"/>
              <a:t>WhatsApp</a:t>
            </a:r>
            <a:r>
              <a:rPr lang="en-US" dirty="0" smtClean="0"/>
              <a:t>’s users data</a:t>
            </a:r>
          </a:p>
          <a:p>
            <a:pPr lvl="1">
              <a:buFont typeface="Courier New" panose="02070309020205020404" pitchFamily="49" charset="0"/>
              <a:buChar char="o"/>
            </a:pPr>
            <a:r>
              <a:rPr lang="en-US" b="1" dirty="0" smtClean="0"/>
              <a:t>Learning Management System </a:t>
            </a:r>
            <a:r>
              <a:rPr lang="en-US" dirty="0" smtClean="0"/>
              <a:t>of an educational institute’s users data</a:t>
            </a:r>
          </a:p>
          <a:p>
            <a:pPr>
              <a:buFont typeface="Courier New" panose="02070309020205020404" pitchFamily="49" charset="0"/>
              <a:buChar char="o"/>
            </a:pPr>
            <a:r>
              <a:rPr lang="en-US" dirty="0" smtClean="0"/>
              <a:t>Allows </a:t>
            </a:r>
            <a:r>
              <a:rPr lang="en-US" dirty="0"/>
              <a:t>an attacker to </a:t>
            </a:r>
            <a:r>
              <a:rPr lang="en-US" dirty="0" smtClean="0"/>
              <a:t>view, update or delete </a:t>
            </a:r>
            <a:r>
              <a:rPr lang="en-US" dirty="0"/>
              <a:t>data that they are not normally able to retrieve</a:t>
            </a:r>
            <a:r>
              <a:rPr lang="en-US" dirty="0" smtClean="0"/>
              <a:t>.</a:t>
            </a:r>
          </a:p>
          <a:p>
            <a:pPr>
              <a:buFont typeface="Courier New" panose="02070309020205020404" pitchFamily="49" charset="0"/>
              <a:buChar char="o"/>
            </a:pPr>
            <a:r>
              <a:rPr lang="en-US" dirty="0" smtClean="0"/>
              <a:t>Happens due to vulnerable Software application design</a:t>
            </a:r>
          </a:p>
        </p:txBody>
      </p:sp>
    </p:spTree>
    <p:extLst>
      <p:ext uri="{BB962C8B-B14F-4D97-AF65-F5344CB8AC3E}">
        <p14:creationId xmlns:p14="http://schemas.microsoft.com/office/powerpoint/2010/main" val="2553593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marL="0" indent="0">
              <a:buNone/>
            </a:pPr>
            <a:r>
              <a:rPr lang="en-US" b="1" u="sng" dirty="0" err="1" smtClean="0"/>
              <a:t>MitM</a:t>
            </a:r>
            <a:r>
              <a:rPr lang="en-US" b="1" u="sng" dirty="0" smtClean="0"/>
              <a:t> Attacks:</a:t>
            </a:r>
          </a:p>
          <a:p>
            <a:pPr>
              <a:buFont typeface="Courier New" panose="02070309020205020404" pitchFamily="49" charset="0"/>
              <a:buChar char="o"/>
            </a:pPr>
            <a:r>
              <a:rPr lang="en-US" dirty="0" smtClean="0"/>
              <a:t>Allow intruders to </a:t>
            </a:r>
            <a:r>
              <a:rPr lang="en-US" dirty="0"/>
              <a:t>secretly intercept communications or alter them. </a:t>
            </a:r>
            <a:endParaRPr lang="en-US" dirty="0" smtClean="0"/>
          </a:p>
          <a:p>
            <a:pPr>
              <a:buFont typeface="Courier New" panose="02070309020205020404" pitchFamily="49" charset="0"/>
              <a:buChar char="o"/>
            </a:pPr>
            <a:r>
              <a:rPr lang="en-US" dirty="0"/>
              <a:t>It can listen to a communication which should, in normal settings, be private</a:t>
            </a:r>
            <a:r>
              <a:rPr lang="en-US" dirty="0" smtClean="0"/>
              <a:t>.</a:t>
            </a:r>
          </a:p>
          <a:p>
            <a:pPr>
              <a:buFont typeface="Courier New" panose="02070309020205020404" pitchFamily="49" charset="0"/>
              <a:buChar char="o"/>
            </a:pPr>
            <a:r>
              <a:rPr lang="en-US" dirty="0" smtClean="0"/>
              <a:t>Detection of </a:t>
            </a:r>
            <a:r>
              <a:rPr lang="en-US" dirty="0" err="1"/>
              <a:t>MitM</a:t>
            </a:r>
            <a:r>
              <a:rPr lang="en-US" dirty="0"/>
              <a:t> attacks is difficult, but they are preventable</a:t>
            </a:r>
            <a:r>
              <a:rPr lang="en-US" dirty="0" smtClean="0"/>
              <a:t>.</a:t>
            </a:r>
          </a:p>
          <a:p>
            <a:pPr>
              <a:buFont typeface="Courier New" panose="02070309020205020404" pitchFamily="49" charset="0"/>
              <a:buChar char="o"/>
            </a:pPr>
            <a:r>
              <a:rPr lang="en-US" dirty="0" smtClean="0"/>
              <a:t>Have various types </a:t>
            </a:r>
            <a:endParaRPr lang="en-US" dirty="0"/>
          </a:p>
          <a:p>
            <a:pPr>
              <a:buFont typeface="Courier New" panose="02070309020205020404" pitchFamily="49" charset="0"/>
              <a:buChar char="o"/>
            </a:pPr>
            <a:endParaRPr lang="en-US" b="1" dirty="0" smtClean="0"/>
          </a:p>
        </p:txBody>
      </p:sp>
    </p:spTree>
    <p:extLst>
      <p:ext uri="{BB962C8B-B14F-4D97-AF65-F5344CB8AC3E}">
        <p14:creationId xmlns:p14="http://schemas.microsoft.com/office/powerpoint/2010/main" val="2518216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sz="3200" b="1" dirty="0" err="1" smtClean="0"/>
              <a:t>MitM</a:t>
            </a:r>
            <a:r>
              <a:rPr lang="en-US" sz="3200" b="1" dirty="0" smtClean="0"/>
              <a:t> Attack Types:</a:t>
            </a:r>
          </a:p>
          <a:p>
            <a:pPr lvl="1" algn="just">
              <a:buFont typeface="Wingdings" panose="05000000000000000000" pitchFamily="2" charset="2"/>
              <a:buChar char="Ø"/>
            </a:pPr>
            <a:r>
              <a:rPr lang="en-US" sz="2800" dirty="0" smtClean="0"/>
              <a:t>DNS Spoofing:</a:t>
            </a:r>
            <a:endParaRPr lang="en-US" sz="2800" dirty="0"/>
          </a:p>
          <a:p>
            <a:pPr lvl="1">
              <a:buFont typeface="Wingdings" panose="05000000000000000000" pitchFamily="2" charset="2"/>
              <a:buChar char="Ø"/>
            </a:pPr>
            <a:r>
              <a:rPr lang="en-US" sz="2800" dirty="0"/>
              <a:t>HTTPS </a:t>
            </a:r>
            <a:r>
              <a:rPr lang="en-US" sz="2800" dirty="0" smtClean="0"/>
              <a:t>spoofing: </a:t>
            </a:r>
            <a:endParaRPr lang="en-US" sz="2800" dirty="0"/>
          </a:p>
          <a:p>
            <a:pPr lvl="1">
              <a:buFont typeface="Wingdings" panose="05000000000000000000" pitchFamily="2" charset="2"/>
              <a:buChar char="Ø"/>
            </a:pPr>
            <a:r>
              <a:rPr lang="en-US" sz="2800" dirty="0"/>
              <a:t>IP spoofing:</a:t>
            </a:r>
          </a:p>
          <a:p>
            <a:pPr lvl="1">
              <a:buFont typeface="Wingdings" panose="05000000000000000000" pitchFamily="2" charset="2"/>
              <a:buChar char="Ø"/>
            </a:pPr>
            <a:r>
              <a:rPr lang="en-US" sz="2800" dirty="0"/>
              <a:t>ARP spoofing</a:t>
            </a:r>
          </a:p>
          <a:p>
            <a:pPr lvl="1">
              <a:buFont typeface="Wingdings" panose="05000000000000000000" pitchFamily="2" charset="2"/>
              <a:buChar char="Ø"/>
            </a:pPr>
            <a:r>
              <a:rPr lang="en-US" sz="2800" dirty="0"/>
              <a:t>SSL hijacking</a:t>
            </a:r>
          </a:p>
          <a:p>
            <a:pPr lvl="1">
              <a:buFont typeface="Wingdings" panose="05000000000000000000" pitchFamily="2" charset="2"/>
              <a:buChar char="Ø"/>
            </a:pPr>
            <a:r>
              <a:rPr lang="en-US" sz="2800" dirty="0"/>
              <a:t>Wi-Fi hacking</a:t>
            </a:r>
          </a:p>
          <a:p>
            <a:pPr lvl="1">
              <a:buFont typeface="Wingdings" panose="05000000000000000000" pitchFamily="2" charset="2"/>
              <a:buChar char="Ø"/>
            </a:pPr>
            <a:endParaRPr lang="en-US" dirty="0"/>
          </a:p>
        </p:txBody>
      </p:sp>
    </p:spTree>
    <p:extLst>
      <p:ext uri="{BB962C8B-B14F-4D97-AF65-F5344CB8AC3E}">
        <p14:creationId xmlns:p14="http://schemas.microsoft.com/office/powerpoint/2010/main" val="4101928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p:txBody>
          <a:bodyPr>
            <a:normAutofit fontScale="92500" lnSpcReduction="10000"/>
          </a:bodyPr>
          <a:lstStyle/>
          <a:p>
            <a:pPr marL="0" indent="0">
              <a:buNone/>
            </a:pPr>
            <a:r>
              <a:rPr lang="en-US" sz="3600" b="1" dirty="0"/>
              <a:t>Health concerns of </a:t>
            </a:r>
            <a:r>
              <a:rPr lang="en-US" sz="3600" b="1" dirty="0" smtClean="0"/>
              <a:t>computer use:</a:t>
            </a:r>
          </a:p>
          <a:p>
            <a:pPr>
              <a:buFont typeface="Courier New" panose="02070309020205020404" pitchFamily="49" charset="0"/>
              <a:buChar char="o"/>
            </a:pPr>
            <a:r>
              <a:rPr lang="en-US" sz="3200" dirty="0"/>
              <a:t>Computer vision syndrome (</a:t>
            </a:r>
            <a:r>
              <a:rPr lang="en-US" sz="3200" dirty="0" smtClean="0"/>
              <a:t>CVS): eye </a:t>
            </a:r>
            <a:r>
              <a:rPr lang="en-US" sz="3200" dirty="0"/>
              <a:t>and </a:t>
            </a:r>
            <a:r>
              <a:rPr lang="en-US" sz="3200" dirty="0" smtClean="0"/>
              <a:t>vision problems</a:t>
            </a:r>
            <a:endParaRPr lang="en-US" sz="3200" dirty="0"/>
          </a:p>
          <a:p>
            <a:pPr>
              <a:buFont typeface="Courier New" panose="02070309020205020404" pitchFamily="49" charset="0"/>
              <a:buChar char="o"/>
            </a:pPr>
            <a:r>
              <a:rPr lang="en-US" sz="3200" dirty="0" smtClean="0"/>
              <a:t>Repetitive </a:t>
            </a:r>
            <a:r>
              <a:rPr lang="en-US" sz="3200" dirty="0"/>
              <a:t>strain injury (</a:t>
            </a:r>
            <a:r>
              <a:rPr lang="en-US" sz="3200" dirty="0" smtClean="0"/>
              <a:t>RSI):</a:t>
            </a:r>
          </a:p>
          <a:p>
            <a:pPr lvl="1"/>
            <a:r>
              <a:rPr lang="en-US" b="1" dirty="0" smtClean="0"/>
              <a:t>Carpal </a:t>
            </a:r>
            <a:r>
              <a:rPr lang="en-US" b="1" dirty="0"/>
              <a:t>tunnel syndrome (CTS)—</a:t>
            </a:r>
            <a:r>
              <a:rPr lang="en-US" sz="3200" dirty="0"/>
              <a:t>inflammation of </a:t>
            </a:r>
            <a:r>
              <a:rPr lang="en-US" sz="3200" dirty="0" smtClean="0"/>
              <a:t>nerve </a:t>
            </a:r>
            <a:r>
              <a:rPr lang="en-US" sz="3200" dirty="0"/>
              <a:t>that connects forearm to </a:t>
            </a:r>
            <a:r>
              <a:rPr lang="en-US" sz="3200" dirty="0" smtClean="0"/>
              <a:t>palm</a:t>
            </a:r>
          </a:p>
          <a:p>
            <a:pPr>
              <a:buFont typeface="Courier New" panose="02070309020205020404" pitchFamily="49" charset="0"/>
              <a:buChar char="o"/>
            </a:pPr>
            <a:r>
              <a:rPr lang="en-US" sz="3600" dirty="0" smtClean="0"/>
              <a:t>Tendonitis: inflammation </a:t>
            </a:r>
            <a:r>
              <a:rPr lang="en-US" sz="3600" dirty="0"/>
              <a:t>of </a:t>
            </a:r>
            <a:r>
              <a:rPr lang="en-US" sz="3600" dirty="0" smtClean="0"/>
              <a:t>muscle </a:t>
            </a:r>
            <a:r>
              <a:rPr lang="en-US" sz="3600" dirty="0"/>
              <a:t>due </a:t>
            </a:r>
            <a:r>
              <a:rPr lang="en-US" sz="3600" dirty="0" smtClean="0"/>
              <a:t>to repeated </a:t>
            </a:r>
            <a:r>
              <a:rPr lang="en-US" sz="3600" dirty="0"/>
              <a:t>motion</a:t>
            </a:r>
          </a:p>
          <a:p>
            <a:pPr>
              <a:buFont typeface="Courier New" panose="02070309020205020404" pitchFamily="49" charset="0"/>
              <a:buChar char="o"/>
            </a:pPr>
            <a:r>
              <a:rPr lang="en-US" sz="3600" dirty="0" smtClean="0"/>
              <a:t>Computer addiction: when </a:t>
            </a:r>
            <a:r>
              <a:rPr lang="en-US" sz="3600" dirty="0"/>
              <a:t>computer </a:t>
            </a:r>
            <a:r>
              <a:rPr lang="en-US" sz="3600" dirty="0" smtClean="0"/>
              <a:t>consumes entire </a:t>
            </a:r>
            <a:r>
              <a:rPr lang="en-US" sz="3600" dirty="0"/>
              <a:t>social life</a:t>
            </a:r>
            <a:endParaRPr lang="en-US" sz="3600" b="1" u="sng" dirty="0" smtClean="0"/>
          </a:p>
        </p:txBody>
      </p:sp>
    </p:spTree>
    <p:extLst>
      <p:ext uri="{BB962C8B-B14F-4D97-AF65-F5344CB8AC3E}">
        <p14:creationId xmlns:p14="http://schemas.microsoft.com/office/powerpoint/2010/main" val="1774387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p:txBody>
          <a:bodyPr>
            <a:normAutofit/>
          </a:bodyPr>
          <a:lstStyle/>
          <a:p>
            <a:pPr marL="0" indent="0">
              <a:buNone/>
            </a:pPr>
            <a:r>
              <a:rPr lang="en-US" sz="3200" b="1" dirty="0" smtClean="0"/>
              <a:t>What </a:t>
            </a:r>
            <a:r>
              <a:rPr lang="en-US" sz="3200" b="1" dirty="0"/>
              <a:t>precautions can prevent tendonitis or </a:t>
            </a:r>
            <a:r>
              <a:rPr lang="en-US" sz="3200" b="1" dirty="0" smtClean="0"/>
              <a:t>carpal tunnel </a:t>
            </a:r>
            <a:r>
              <a:rPr lang="en-US" sz="3200" b="1" dirty="0"/>
              <a:t>syndrome?</a:t>
            </a:r>
          </a:p>
          <a:p>
            <a:pPr>
              <a:buFont typeface="Courier New" panose="02070309020205020404" pitchFamily="49" charset="0"/>
              <a:buChar char="o"/>
            </a:pPr>
            <a:r>
              <a:rPr lang="en-US" sz="3200" dirty="0" smtClean="0"/>
              <a:t>Take </a:t>
            </a:r>
            <a:r>
              <a:rPr lang="en-US" sz="3200" dirty="0"/>
              <a:t>frequent breaks during computer </a:t>
            </a:r>
            <a:r>
              <a:rPr lang="en-US" sz="3200" dirty="0" smtClean="0"/>
              <a:t>session</a:t>
            </a:r>
          </a:p>
          <a:p>
            <a:pPr>
              <a:buFont typeface="Courier New" panose="02070309020205020404" pitchFamily="49" charset="0"/>
              <a:buChar char="o"/>
            </a:pPr>
            <a:r>
              <a:rPr lang="en-US" sz="3200" dirty="0" smtClean="0"/>
              <a:t>Use </a:t>
            </a:r>
            <a:r>
              <a:rPr lang="en-US" sz="3200" dirty="0"/>
              <a:t>wrist rest</a:t>
            </a:r>
          </a:p>
          <a:p>
            <a:pPr>
              <a:buFont typeface="Courier New" panose="02070309020205020404" pitchFamily="49" charset="0"/>
              <a:buChar char="o"/>
            </a:pPr>
            <a:r>
              <a:rPr lang="en-US" sz="3200" dirty="0" smtClean="0"/>
              <a:t>Exercise </a:t>
            </a:r>
            <a:r>
              <a:rPr lang="en-US" sz="3200" dirty="0"/>
              <a:t>hands and arms</a:t>
            </a:r>
          </a:p>
          <a:p>
            <a:pPr>
              <a:buFont typeface="Courier New" panose="02070309020205020404" pitchFamily="49" charset="0"/>
              <a:buChar char="o"/>
            </a:pPr>
            <a:r>
              <a:rPr lang="en-US" sz="3200" dirty="0" smtClean="0"/>
              <a:t>Minimize </a:t>
            </a:r>
            <a:r>
              <a:rPr lang="en-US" sz="3200" dirty="0"/>
              <a:t>number of times you switch </a:t>
            </a:r>
            <a:r>
              <a:rPr lang="en-US" sz="3200" dirty="0" smtClean="0"/>
              <a:t>between mouse </a:t>
            </a:r>
            <a:r>
              <a:rPr lang="en-US" sz="3200" dirty="0"/>
              <a:t>and keyboard</a:t>
            </a:r>
            <a:endParaRPr lang="en-US" sz="3600" b="1" u="sng" dirty="0" smtClean="0"/>
          </a:p>
        </p:txBody>
      </p:sp>
    </p:spTree>
    <p:extLst>
      <p:ext uri="{BB962C8B-B14F-4D97-AF65-F5344CB8AC3E}">
        <p14:creationId xmlns:p14="http://schemas.microsoft.com/office/powerpoint/2010/main" val="4103288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a:bodyPr>
          <a:lstStyle/>
          <a:p>
            <a:pPr marL="0" indent="0">
              <a:buNone/>
            </a:pPr>
            <a:r>
              <a:rPr lang="en-US" sz="3200" b="1" dirty="0"/>
              <a:t>How can you ease eyestrain when working at </a:t>
            </a:r>
            <a:r>
              <a:rPr lang="en-US" sz="3200" b="1" dirty="0" smtClean="0"/>
              <a:t>the computer</a:t>
            </a:r>
            <a:r>
              <a:rPr lang="en-US" sz="3200" b="1" dirty="0"/>
              <a:t>?</a:t>
            </a:r>
          </a:p>
          <a:p>
            <a:pPr>
              <a:buFont typeface="Courier New" panose="02070309020205020404" pitchFamily="49" charset="0"/>
              <a:buChar char="o"/>
            </a:pPr>
            <a:r>
              <a:rPr lang="en-US" sz="3200" dirty="0" smtClean="0"/>
              <a:t>Every </a:t>
            </a:r>
            <a:r>
              <a:rPr lang="en-US" sz="3200" dirty="0"/>
              <a:t>10 to 15 minutes take an eye break</a:t>
            </a:r>
          </a:p>
          <a:p>
            <a:pPr lvl="1">
              <a:buFont typeface="Wingdings" panose="05000000000000000000" pitchFamily="2" charset="2"/>
              <a:buChar char="§"/>
            </a:pPr>
            <a:r>
              <a:rPr lang="en-US" sz="2800" dirty="0" smtClean="0"/>
              <a:t>Look </a:t>
            </a:r>
            <a:r>
              <a:rPr lang="en-US" sz="2800" dirty="0"/>
              <a:t>into the distance and focus on an object </a:t>
            </a:r>
            <a:r>
              <a:rPr lang="en-US" sz="2800" dirty="0" smtClean="0"/>
              <a:t>for 20 </a:t>
            </a:r>
            <a:r>
              <a:rPr lang="en-US" sz="2800" dirty="0"/>
              <a:t>to 30 seconds</a:t>
            </a:r>
          </a:p>
          <a:p>
            <a:pPr lvl="1">
              <a:buFont typeface="Wingdings" panose="05000000000000000000" pitchFamily="2" charset="2"/>
              <a:buChar char="§"/>
            </a:pPr>
            <a:r>
              <a:rPr lang="en-US" sz="2800" dirty="0" smtClean="0"/>
              <a:t>Roll </a:t>
            </a:r>
            <a:r>
              <a:rPr lang="en-US" sz="2800" dirty="0"/>
              <a:t>your eyes in a complete circle</a:t>
            </a:r>
          </a:p>
          <a:p>
            <a:pPr lvl="1">
              <a:buFont typeface="Wingdings" panose="05000000000000000000" pitchFamily="2" charset="2"/>
              <a:buChar char="§"/>
            </a:pPr>
            <a:r>
              <a:rPr lang="en-US" sz="2800" dirty="0" smtClean="0"/>
              <a:t>Close </a:t>
            </a:r>
            <a:r>
              <a:rPr lang="en-US" sz="2800" dirty="0"/>
              <a:t>your eyes and rest them for at least </a:t>
            </a:r>
            <a:r>
              <a:rPr lang="en-US" sz="2800" dirty="0" smtClean="0"/>
              <a:t>one minute</a:t>
            </a:r>
          </a:p>
          <a:p>
            <a:pPr>
              <a:buFont typeface="Courier New" panose="02070309020205020404" pitchFamily="49" charset="0"/>
              <a:buChar char="o"/>
            </a:pPr>
            <a:r>
              <a:rPr lang="en-US" sz="3200" dirty="0" smtClean="0"/>
              <a:t>Blink </a:t>
            </a:r>
            <a:r>
              <a:rPr lang="en-US" sz="3200" dirty="0"/>
              <a:t>your eyes every five </a:t>
            </a:r>
            <a:r>
              <a:rPr lang="en-US" sz="3200" dirty="0" smtClean="0"/>
              <a:t>seconds</a:t>
            </a:r>
          </a:p>
          <a:p>
            <a:pPr>
              <a:buFont typeface="Courier New" panose="02070309020205020404" pitchFamily="49" charset="0"/>
              <a:buChar char="o"/>
            </a:pPr>
            <a:r>
              <a:rPr lang="en-US" sz="3200" dirty="0"/>
              <a:t>Use large </a:t>
            </a:r>
            <a:r>
              <a:rPr lang="en-US" sz="3200" dirty="0" smtClean="0"/>
              <a:t>fonts</a:t>
            </a:r>
            <a:endParaRPr lang="en-US" sz="3200" dirty="0"/>
          </a:p>
        </p:txBody>
      </p:sp>
    </p:spTree>
    <p:extLst>
      <p:ext uri="{BB962C8B-B14F-4D97-AF65-F5344CB8AC3E}">
        <p14:creationId xmlns:p14="http://schemas.microsoft.com/office/powerpoint/2010/main" val="2634548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a:bodyPr>
          <a:lstStyle/>
          <a:p>
            <a:pPr marL="0" indent="0">
              <a:buNone/>
            </a:pPr>
            <a:r>
              <a:rPr lang="en-US" sz="3200" b="1" dirty="0"/>
              <a:t>How can you ease eyestrain when working at </a:t>
            </a:r>
            <a:r>
              <a:rPr lang="en-US" sz="3200" b="1" dirty="0" smtClean="0"/>
              <a:t>the computer</a:t>
            </a:r>
            <a:r>
              <a:rPr lang="en-US" sz="3200" b="1" dirty="0"/>
              <a:t>?</a:t>
            </a:r>
          </a:p>
          <a:p>
            <a:pPr>
              <a:buFont typeface="Courier New" panose="02070309020205020404" pitchFamily="49" charset="0"/>
              <a:buChar char="o"/>
            </a:pPr>
            <a:r>
              <a:rPr lang="en-US" sz="3600" dirty="0" smtClean="0"/>
              <a:t>Place </a:t>
            </a:r>
            <a:r>
              <a:rPr lang="en-US" sz="3600" dirty="0"/>
              <a:t>your display device about an arm’s length </a:t>
            </a:r>
            <a:r>
              <a:rPr lang="en-US" sz="3600" dirty="0" smtClean="0"/>
              <a:t>away from </a:t>
            </a:r>
            <a:r>
              <a:rPr lang="en-US" sz="3600" dirty="0"/>
              <a:t>your eyes with the top of the screen at </a:t>
            </a:r>
            <a:r>
              <a:rPr lang="en-US" sz="3600" dirty="0" smtClean="0"/>
              <a:t>eye level </a:t>
            </a:r>
            <a:r>
              <a:rPr lang="en-US" sz="3600" dirty="0"/>
              <a:t>or below</a:t>
            </a:r>
          </a:p>
          <a:p>
            <a:pPr>
              <a:buFont typeface="Courier New" panose="02070309020205020404" pitchFamily="49" charset="0"/>
              <a:buChar char="o"/>
            </a:pPr>
            <a:r>
              <a:rPr lang="en-US" sz="3600" dirty="0" smtClean="0"/>
              <a:t>If </a:t>
            </a:r>
            <a:r>
              <a:rPr lang="en-US" sz="3600" dirty="0"/>
              <a:t>you wear glasses, ask your doctor </a:t>
            </a:r>
            <a:r>
              <a:rPr lang="en-US" sz="3600" dirty="0" smtClean="0"/>
              <a:t>about computer glasses</a:t>
            </a:r>
          </a:p>
          <a:p>
            <a:pPr>
              <a:buFont typeface="Courier New" panose="02070309020205020404" pitchFamily="49" charset="0"/>
              <a:buChar char="o"/>
            </a:pPr>
            <a:r>
              <a:rPr lang="en-US" sz="3600" dirty="0" smtClean="0"/>
              <a:t>Adjust the lighting</a:t>
            </a:r>
            <a:endParaRPr lang="en-US" sz="3600" b="1" u="sng" dirty="0" smtClean="0"/>
          </a:p>
        </p:txBody>
      </p:sp>
    </p:spTree>
    <p:extLst>
      <p:ext uri="{BB962C8B-B14F-4D97-AF65-F5344CB8AC3E}">
        <p14:creationId xmlns:p14="http://schemas.microsoft.com/office/powerpoint/2010/main" val="1816754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lnSpcReduction="10000"/>
          </a:bodyPr>
          <a:lstStyle/>
          <a:p>
            <a:pPr marL="0" indent="0">
              <a:buNone/>
            </a:pPr>
            <a:r>
              <a:rPr lang="en-US" sz="3200" b="1" dirty="0"/>
              <a:t>What is ergonomics</a:t>
            </a:r>
            <a:r>
              <a:rPr lang="en-US" sz="3200" b="1" dirty="0" smtClean="0"/>
              <a:t>?</a:t>
            </a:r>
          </a:p>
          <a:p>
            <a:pPr>
              <a:buFont typeface="Courier New" panose="02070309020205020404" pitchFamily="49" charset="0"/>
              <a:buChar char="o"/>
            </a:pPr>
            <a:r>
              <a:rPr lang="en-US" sz="3600" dirty="0"/>
              <a:t>Applied science devoted to comfort, efficiency, </a:t>
            </a:r>
            <a:r>
              <a:rPr lang="en-US" sz="3600" dirty="0" smtClean="0"/>
              <a:t>and safety </a:t>
            </a:r>
            <a:r>
              <a:rPr lang="en-US" sz="3600" dirty="0"/>
              <a:t>in workplace</a:t>
            </a:r>
          </a:p>
          <a:p>
            <a:pPr lvl="1">
              <a:buFont typeface="Wingdings" panose="05000000000000000000" pitchFamily="2" charset="2"/>
              <a:buChar char="§"/>
            </a:pPr>
            <a:r>
              <a:rPr lang="en-US" sz="3200" dirty="0" smtClean="0"/>
              <a:t>Keyboard </a:t>
            </a:r>
            <a:r>
              <a:rPr lang="en-US" sz="3200" dirty="0"/>
              <a:t>height: 23” to 28”</a:t>
            </a:r>
          </a:p>
          <a:p>
            <a:pPr lvl="1">
              <a:buFont typeface="Wingdings" panose="05000000000000000000" pitchFamily="2" charset="2"/>
              <a:buChar char="§"/>
            </a:pPr>
            <a:r>
              <a:rPr lang="en-US" sz="3200" dirty="0" smtClean="0"/>
              <a:t>Elbows </a:t>
            </a:r>
            <a:r>
              <a:rPr lang="en-US" sz="3200" dirty="0"/>
              <a:t>at 90 degrees and arms and hands </a:t>
            </a:r>
            <a:r>
              <a:rPr lang="en-US" sz="3200" dirty="0" smtClean="0"/>
              <a:t>parallel to </a:t>
            </a:r>
            <a:r>
              <a:rPr lang="en-US" sz="3200" dirty="0"/>
              <a:t>the floor</a:t>
            </a:r>
          </a:p>
          <a:p>
            <a:pPr lvl="1">
              <a:buFont typeface="Wingdings" panose="05000000000000000000" pitchFamily="2" charset="2"/>
              <a:buChar char="§"/>
            </a:pPr>
            <a:r>
              <a:rPr lang="en-US" sz="3200" dirty="0" smtClean="0"/>
              <a:t>Adjustable </a:t>
            </a:r>
            <a:r>
              <a:rPr lang="en-US" sz="3200" dirty="0"/>
              <a:t>backrest</a:t>
            </a:r>
          </a:p>
          <a:p>
            <a:pPr lvl="1">
              <a:buFont typeface="Wingdings" panose="05000000000000000000" pitchFamily="2" charset="2"/>
              <a:buChar char="§"/>
            </a:pPr>
            <a:r>
              <a:rPr lang="en-US" sz="3200" dirty="0" smtClean="0"/>
              <a:t>Adjustable </a:t>
            </a:r>
            <a:r>
              <a:rPr lang="en-US" sz="3200" dirty="0"/>
              <a:t>seat</a:t>
            </a:r>
          </a:p>
          <a:p>
            <a:pPr lvl="1">
              <a:buFont typeface="Wingdings" panose="05000000000000000000" pitchFamily="2" charset="2"/>
              <a:buChar char="§"/>
            </a:pPr>
            <a:r>
              <a:rPr lang="en-US" sz="3200" dirty="0" smtClean="0"/>
              <a:t>Feet </a:t>
            </a:r>
            <a:r>
              <a:rPr lang="en-US" sz="3200" dirty="0"/>
              <a:t>flat on floor</a:t>
            </a:r>
          </a:p>
          <a:p>
            <a:pPr lvl="1">
              <a:buFont typeface="Wingdings" panose="05000000000000000000" pitchFamily="2" charset="2"/>
              <a:buChar char="§"/>
            </a:pPr>
            <a:r>
              <a:rPr lang="en-US" sz="3200" dirty="0" smtClean="0"/>
              <a:t>Adjustable </a:t>
            </a:r>
            <a:r>
              <a:rPr lang="en-US" sz="3200" dirty="0"/>
              <a:t>height chair with 5 legs for stability</a:t>
            </a:r>
            <a:endParaRPr lang="en-US" sz="3200" b="1" u="sng" dirty="0" smtClean="0"/>
          </a:p>
        </p:txBody>
      </p:sp>
    </p:spTree>
    <p:extLst>
      <p:ext uri="{BB962C8B-B14F-4D97-AF65-F5344CB8AC3E}">
        <p14:creationId xmlns:p14="http://schemas.microsoft.com/office/powerpoint/2010/main" val="2498364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Potential Computer Risks &amp; Security </a:t>
            </a:r>
          </a:p>
        </p:txBody>
      </p:sp>
      <p:sp>
        <p:nvSpPr>
          <p:cNvPr id="3" name="Content Placeholder 2"/>
          <p:cNvSpPr>
            <a:spLocks noGrp="1"/>
          </p:cNvSpPr>
          <p:nvPr>
            <p:ph idx="1"/>
          </p:nvPr>
        </p:nvSpPr>
        <p:spPr>
          <a:xfrm>
            <a:off x="838200" y="1825625"/>
            <a:ext cx="10807460" cy="4713198"/>
          </a:xfrm>
        </p:spPr>
        <p:txBody>
          <a:bodyPr>
            <a:normAutofit/>
          </a:bodyPr>
          <a:lstStyle/>
          <a:p>
            <a:pPr marL="0" indent="0">
              <a:buNone/>
            </a:pPr>
            <a:r>
              <a:rPr lang="en-US" sz="3200" b="1" dirty="0"/>
              <a:t>What is green computing</a:t>
            </a:r>
            <a:r>
              <a:rPr lang="en-US" sz="3200" b="1" dirty="0" smtClean="0"/>
              <a:t>?</a:t>
            </a:r>
          </a:p>
          <a:p>
            <a:pPr>
              <a:buFont typeface="Courier New" panose="02070309020205020404" pitchFamily="49" charset="0"/>
              <a:buChar char="o"/>
            </a:pPr>
            <a:r>
              <a:rPr lang="en-US" sz="3600" dirty="0"/>
              <a:t>Reducing electricity and environmental waste </a:t>
            </a:r>
            <a:r>
              <a:rPr lang="en-US" sz="3600" dirty="0" smtClean="0"/>
              <a:t>while using </a:t>
            </a:r>
            <a:r>
              <a:rPr lang="en-US" sz="3600" dirty="0"/>
              <a:t>computer</a:t>
            </a:r>
          </a:p>
          <a:p>
            <a:pPr lvl="1">
              <a:buFont typeface="Wingdings" panose="05000000000000000000" pitchFamily="2" charset="2"/>
              <a:buChar char="§"/>
            </a:pPr>
            <a:r>
              <a:rPr lang="en-US" sz="3200" dirty="0" smtClean="0"/>
              <a:t>Use </a:t>
            </a:r>
            <a:r>
              <a:rPr lang="en-US" sz="3200" dirty="0"/>
              <a:t>computer and devices that comply with </a:t>
            </a:r>
            <a:r>
              <a:rPr lang="en-US" sz="3200" dirty="0" smtClean="0"/>
              <a:t>the ENERGY </a:t>
            </a:r>
            <a:r>
              <a:rPr lang="en-US" sz="3200" dirty="0"/>
              <a:t>STAR program.</a:t>
            </a:r>
          </a:p>
          <a:p>
            <a:pPr lvl="1">
              <a:buFont typeface="Wingdings" panose="05000000000000000000" pitchFamily="2" charset="2"/>
              <a:buChar char="§"/>
            </a:pPr>
            <a:r>
              <a:rPr lang="en-US" sz="3200" dirty="0" smtClean="0"/>
              <a:t>Do </a:t>
            </a:r>
            <a:r>
              <a:rPr lang="en-US" sz="3200" dirty="0"/>
              <a:t>not leave the computer running overnight.</a:t>
            </a:r>
          </a:p>
          <a:p>
            <a:pPr lvl="1">
              <a:buFont typeface="Wingdings" panose="05000000000000000000" pitchFamily="2" charset="2"/>
              <a:buChar char="§"/>
            </a:pPr>
            <a:r>
              <a:rPr lang="en-US" sz="3200" dirty="0" smtClean="0"/>
              <a:t>Turn </a:t>
            </a:r>
            <a:r>
              <a:rPr lang="en-US" sz="3200" dirty="0"/>
              <a:t>off the monitor, printer, and other </a:t>
            </a:r>
            <a:r>
              <a:rPr lang="en-US" sz="3200" dirty="0" smtClean="0"/>
              <a:t>devices when </a:t>
            </a:r>
            <a:r>
              <a:rPr lang="en-US" sz="3200" dirty="0"/>
              <a:t>not in use.</a:t>
            </a:r>
            <a:endParaRPr lang="en-US" b="1" u="sng" dirty="0" smtClean="0"/>
          </a:p>
        </p:txBody>
      </p:sp>
    </p:spTree>
    <p:extLst>
      <p:ext uri="{BB962C8B-B14F-4D97-AF65-F5344CB8AC3E}">
        <p14:creationId xmlns:p14="http://schemas.microsoft.com/office/powerpoint/2010/main" val="31707547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Potential Computer Risks </a:t>
            </a:r>
            <a:r>
              <a:rPr lang="en-US" dirty="0" smtClean="0"/>
              <a:t>and Security</a:t>
            </a:r>
            <a:endParaRPr lang="en-US" dirty="0"/>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dirty="0"/>
              <a:t>Safeguards that schools, business, and </a:t>
            </a:r>
            <a:r>
              <a:rPr lang="en-US" dirty="0" smtClean="0"/>
              <a:t>individuals can </a:t>
            </a:r>
            <a:r>
              <a:rPr lang="en-US" dirty="0"/>
              <a:t>implement to minimize these risks</a:t>
            </a:r>
          </a:p>
          <a:p>
            <a:pPr>
              <a:buFont typeface="Courier New" panose="02070309020205020404" pitchFamily="49" charset="0"/>
              <a:buChar char="o"/>
            </a:pPr>
            <a:r>
              <a:rPr lang="en-US" dirty="0"/>
              <a:t>Internet security risks and safeguards</a:t>
            </a:r>
          </a:p>
          <a:p>
            <a:pPr>
              <a:buFont typeface="Courier New" panose="02070309020205020404" pitchFamily="49" charset="0"/>
              <a:buChar char="o"/>
            </a:pPr>
            <a:r>
              <a:rPr lang="en-US" dirty="0"/>
              <a:t>Ethical issues surrounding information </a:t>
            </a:r>
            <a:r>
              <a:rPr lang="en-US" dirty="0" smtClean="0"/>
              <a:t>accuracy, intellectual </a:t>
            </a:r>
            <a:r>
              <a:rPr lang="en-US" dirty="0"/>
              <a:t>property rights, codes of conduct, and information privacy</a:t>
            </a:r>
          </a:p>
          <a:p>
            <a:pPr>
              <a:buFont typeface="Courier New" panose="02070309020205020404" pitchFamily="49" charset="0"/>
              <a:buChar char="o"/>
            </a:pPr>
            <a:r>
              <a:rPr lang="en-US" dirty="0"/>
              <a:t>Computer-related health issues, their preventions, and ways to keep the environment healthy</a:t>
            </a:r>
          </a:p>
        </p:txBody>
      </p:sp>
    </p:spTree>
    <p:extLst>
      <p:ext uri="{BB962C8B-B14F-4D97-AF65-F5344CB8AC3E}">
        <p14:creationId xmlns:p14="http://schemas.microsoft.com/office/powerpoint/2010/main" val="235688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1810</TotalTime>
  <Words>1857</Words>
  <Application>Microsoft Office PowerPoint</Application>
  <PresentationFormat>Widescreen</PresentationFormat>
  <Paragraphs>196</Paragraphs>
  <Slides>30</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Courier New</vt:lpstr>
      <vt:lpstr>Times New Roman</vt:lpstr>
      <vt:lpstr>Wingdings</vt:lpstr>
      <vt:lpstr>Office Theme</vt:lpstr>
      <vt:lpstr>Professional Practices</vt:lpstr>
      <vt:lpstr>Week 14 Topic:</vt:lpstr>
      <vt:lpstr>Introduction</vt:lpstr>
      <vt:lpstr>Computer Privacy</vt:lpstr>
      <vt:lpstr>Information Security</vt:lpstr>
      <vt:lpstr>Information Security vs Cyber Security</vt:lpstr>
      <vt:lpstr>History</vt:lpstr>
      <vt:lpstr>History</vt:lpstr>
      <vt:lpstr>Ways used for Digital Devices Privacy</vt:lpstr>
      <vt:lpstr>Content Filtering</vt:lpstr>
      <vt:lpstr>Content Filtering</vt:lpstr>
      <vt:lpstr>Content Filtering</vt:lpstr>
      <vt:lpstr>Privacy Laws &amp; Regulations (1)</vt:lpstr>
      <vt:lpstr>Privacy Laws &amp; Regulations (2)</vt:lpstr>
      <vt:lpstr>Privacy Laws &amp; Regulations (3)</vt:lpstr>
      <vt:lpstr>Privacy Laws &amp; Regulations (4)</vt:lpstr>
      <vt:lpstr>Privacy Laws &amp; Regulations (5)</vt:lpstr>
      <vt:lpstr>Countries without official data privacy laws</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&amp; Security </vt:lpstr>
      <vt:lpstr>Potential Computer Risks and Security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Abdul Jamil</dc:creator>
  <cp:lastModifiedBy>Amber</cp:lastModifiedBy>
  <cp:revision>644</cp:revision>
  <dcterms:created xsi:type="dcterms:W3CDTF">2020-11-20T07:57:39Z</dcterms:created>
  <dcterms:modified xsi:type="dcterms:W3CDTF">2021-12-23T11:22:49Z</dcterms:modified>
</cp:coreProperties>
</file>
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7" r:id="rId3"/>
    <p:sldId id="278" r:id="rId4"/>
    <p:sldId id="279" r:id="rId5"/>
    <p:sldId id="280" r:id="rId6"/>
    <p:sldId id="281" r:id="rId7"/>
    <p:sldId id="284" r:id="rId8"/>
    <p:sldId id="264" r:id="rId9"/>
    <p:sldId id="265" r:id="rId10"/>
    <p:sldId id="266" r:id="rId11"/>
    <p:sldId id="268" r:id="rId12"/>
    <p:sldId id="269" r:id="rId13"/>
    <p:sldId id="270" r:id="rId14"/>
    <p:sldId id="271" r:id="rId15"/>
    <p:sldId id="274" r:id="rId16"/>
    <p:sldId id="275" r:id="rId17"/>
    <p:sldId id="276" r:id="rId18"/>
    <p:sldId id="282" r:id="rId19"/>
    <p:sldId id="296" r:id="rId20"/>
    <p:sldId id="295" r:id="rId21"/>
    <p:sldId id="297" r:id="rId22"/>
    <p:sldId id="298" r:id="rId23"/>
    <p:sldId id="299" r:id="rId24"/>
    <p:sldId id="300" r:id="rId25"/>
    <p:sldId id="288" r:id="rId26"/>
    <p:sldId id="289" r:id="rId27"/>
    <p:sldId id="290" r:id="rId28"/>
    <p:sldId id="291" r:id="rId29"/>
    <p:sldId id="292" r:id="rId30"/>
    <p:sldId id="294" r:id="rId31"/>
    <p:sldId id="293"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9" d="100"/>
          <a:sy n="79" d="100"/>
        </p:scale>
        <p:origin x="7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2EC9744-0499-408C-AAFE-82793EB7CD4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MY"/>
          </a:p>
        </p:txBody>
      </p:sp>
      <p:sp>
        <p:nvSpPr>
          <p:cNvPr id="3" name="Subtitle 2">
            <a:extLst>
              <a:ext uri="{FF2B5EF4-FFF2-40B4-BE49-F238E27FC236}">
                <a16:creationId xmlns="" xmlns:a16="http://schemas.microsoft.com/office/drawing/2014/main" id="{0482819A-13D7-4724-8CB9-957212EAE8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MY"/>
          </a:p>
        </p:txBody>
      </p:sp>
      <p:sp>
        <p:nvSpPr>
          <p:cNvPr id="4" name="Date Placeholder 3">
            <a:extLst>
              <a:ext uri="{FF2B5EF4-FFF2-40B4-BE49-F238E27FC236}">
                <a16:creationId xmlns="" xmlns:a16="http://schemas.microsoft.com/office/drawing/2014/main" id="{5AC84DE6-7FFB-4A14-A826-D2A254D952D0}"/>
              </a:ext>
            </a:extLst>
          </p:cNvPr>
          <p:cNvSpPr>
            <a:spLocks noGrp="1"/>
          </p:cNvSpPr>
          <p:nvPr>
            <p:ph type="dt" sz="half" idx="10"/>
          </p:nvPr>
        </p:nvSpPr>
        <p:spPr/>
        <p:txBody>
          <a:bodyPr/>
          <a:lstStyle/>
          <a:p>
            <a:fld id="{86D7FE42-CEA8-408C-BAEC-31F51A654C89}" type="datetimeFigureOut">
              <a:rPr lang="en-MY" smtClean="0"/>
              <a:t>9/11/2020</a:t>
            </a:fld>
            <a:endParaRPr lang="en-MY"/>
          </a:p>
        </p:txBody>
      </p:sp>
      <p:sp>
        <p:nvSpPr>
          <p:cNvPr id="5" name="Footer Placeholder 4">
            <a:extLst>
              <a:ext uri="{FF2B5EF4-FFF2-40B4-BE49-F238E27FC236}">
                <a16:creationId xmlns="" xmlns:a16="http://schemas.microsoft.com/office/drawing/2014/main" id="{64B15E61-3BFD-41B1-9D77-20A4A74764A4}"/>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 xmlns:a16="http://schemas.microsoft.com/office/drawing/2014/main" id="{C10D4724-2FA7-4EB1-8A20-057F1E166199}"/>
              </a:ext>
            </a:extLst>
          </p:cNvPr>
          <p:cNvSpPr>
            <a:spLocks noGrp="1"/>
          </p:cNvSpPr>
          <p:nvPr>
            <p:ph type="sldNum" sz="quarter" idx="12"/>
          </p:nvPr>
        </p:nvSpPr>
        <p:spPr/>
        <p:txBody>
          <a:bodyPr/>
          <a:lstStyle/>
          <a:p>
            <a:fld id="{E122F80F-1781-4E13-87BB-0F820E769FF7}" type="slidenum">
              <a:rPr lang="en-MY" smtClean="0"/>
              <a:t>‹#›</a:t>
            </a:fld>
            <a:endParaRPr lang="en-MY"/>
          </a:p>
        </p:txBody>
      </p:sp>
    </p:spTree>
    <p:extLst>
      <p:ext uri="{BB962C8B-B14F-4D97-AF65-F5344CB8AC3E}">
        <p14:creationId xmlns:p14="http://schemas.microsoft.com/office/powerpoint/2010/main" val="33472589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ABE2AE3-86D3-4854-806A-FD2C72CE3F8B}"/>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 xmlns:a16="http://schemas.microsoft.com/office/drawing/2014/main" id="{2C92D723-6F34-456F-A318-76C103684C3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 xmlns:a16="http://schemas.microsoft.com/office/drawing/2014/main" id="{06354B9F-6FE7-42D3-8B01-940014F9AFEE}"/>
              </a:ext>
            </a:extLst>
          </p:cNvPr>
          <p:cNvSpPr>
            <a:spLocks noGrp="1"/>
          </p:cNvSpPr>
          <p:nvPr>
            <p:ph type="dt" sz="half" idx="10"/>
          </p:nvPr>
        </p:nvSpPr>
        <p:spPr/>
        <p:txBody>
          <a:bodyPr/>
          <a:lstStyle/>
          <a:p>
            <a:fld id="{86D7FE42-CEA8-408C-BAEC-31F51A654C89}" type="datetimeFigureOut">
              <a:rPr lang="en-MY" smtClean="0"/>
              <a:t>9/11/2020</a:t>
            </a:fld>
            <a:endParaRPr lang="en-MY"/>
          </a:p>
        </p:txBody>
      </p:sp>
      <p:sp>
        <p:nvSpPr>
          <p:cNvPr id="5" name="Footer Placeholder 4">
            <a:extLst>
              <a:ext uri="{FF2B5EF4-FFF2-40B4-BE49-F238E27FC236}">
                <a16:creationId xmlns="" xmlns:a16="http://schemas.microsoft.com/office/drawing/2014/main" id="{5B1992E5-99DA-4BA7-95AE-DC7E2EA9417B}"/>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 xmlns:a16="http://schemas.microsoft.com/office/drawing/2014/main" id="{25906D6A-F111-45EB-ADD4-9C33CBE8C97B}"/>
              </a:ext>
            </a:extLst>
          </p:cNvPr>
          <p:cNvSpPr>
            <a:spLocks noGrp="1"/>
          </p:cNvSpPr>
          <p:nvPr>
            <p:ph type="sldNum" sz="quarter" idx="12"/>
          </p:nvPr>
        </p:nvSpPr>
        <p:spPr/>
        <p:txBody>
          <a:bodyPr/>
          <a:lstStyle/>
          <a:p>
            <a:fld id="{E122F80F-1781-4E13-87BB-0F820E769FF7}" type="slidenum">
              <a:rPr lang="en-MY" smtClean="0"/>
              <a:t>‹#›</a:t>
            </a:fld>
            <a:endParaRPr lang="en-MY"/>
          </a:p>
        </p:txBody>
      </p:sp>
    </p:spTree>
    <p:extLst>
      <p:ext uri="{BB962C8B-B14F-4D97-AF65-F5344CB8AC3E}">
        <p14:creationId xmlns:p14="http://schemas.microsoft.com/office/powerpoint/2010/main" val="37468041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8335641-6D21-43C6-9BA7-2700695AAED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MY"/>
          </a:p>
        </p:txBody>
      </p:sp>
      <p:sp>
        <p:nvSpPr>
          <p:cNvPr id="3" name="Text Placeholder 2">
            <a:extLst>
              <a:ext uri="{FF2B5EF4-FFF2-40B4-BE49-F238E27FC236}">
                <a16:creationId xmlns="" xmlns:a16="http://schemas.microsoft.com/office/drawing/2014/main" id="{5A3681C6-C741-406F-A941-EE3F4D313A3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22225D51-72D1-4766-978C-589B6E5DB5B4}"/>
              </a:ext>
            </a:extLst>
          </p:cNvPr>
          <p:cNvSpPr>
            <a:spLocks noGrp="1"/>
          </p:cNvSpPr>
          <p:nvPr>
            <p:ph type="dt" sz="half" idx="10"/>
          </p:nvPr>
        </p:nvSpPr>
        <p:spPr/>
        <p:txBody>
          <a:bodyPr/>
          <a:lstStyle/>
          <a:p>
            <a:fld id="{86D7FE42-CEA8-408C-BAEC-31F51A654C89}" type="datetimeFigureOut">
              <a:rPr lang="en-MY" smtClean="0"/>
              <a:t>9/11/2020</a:t>
            </a:fld>
            <a:endParaRPr lang="en-MY"/>
          </a:p>
        </p:txBody>
      </p:sp>
      <p:sp>
        <p:nvSpPr>
          <p:cNvPr id="5" name="Footer Placeholder 4">
            <a:extLst>
              <a:ext uri="{FF2B5EF4-FFF2-40B4-BE49-F238E27FC236}">
                <a16:creationId xmlns="" xmlns:a16="http://schemas.microsoft.com/office/drawing/2014/main" id="{91B1DEB1-5DD8-4CE9-845C-455B2D03612F}"/>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 xmlns:a16="http://schemas.microsoft.com/office/drawing/2014/main" id="{6DFE56EF-A3C6-403F-B909-9339B54918BA}"/>
              </a:ext>
            </a:extLst>
          </p:cNvPr>
          <p:cNvSpPr>
            <a:spLocks noGrp="1"/>
          </p:cNvSpPr>
          <p:nvPr>
            <p:ph type="sldNum" sz="quarter" idx="12"/>
          </p:nvPr>
        </p:nvSpPr>
        <p:spPr/>
        <p:txBody>
          <a:bodyPr/>
          <a:lstStyle/>
          <a:p>
            <a:fld id="{E122F80F-1781-4E13-87BB-0F820E769FF7}" type="slidenum">
              <a:rPr lang="en-MY" smtClean="0"/>
              <a:t>‹#›</a:t>
            </a:fld>
            <a:endParaRPr lang="en-MY"/>
          </a:p>
        </p:txBody>
      </p:sp>
    </p:spTree>
    <p:extLst>
      <p:ext uri="{BB962C8B-B14F-4D97-AF65-F5344CB8AC3E}">
        <p14:creationId xmlns:p14="http://schemas.microsoft.com/office/powerpoint/2010/main" val="20522259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86164DD-8C4D-4480-B7D2-538A6C618ED1}"/>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 xmlns:a16="http://schemas.microsoft.com/office/drawing/2014/main" id="{92737082-632A-4682-8BC5-BBA9BB24CC8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Content Placeholder 3">
            <a:extLst>
              <a:ext uri="{FF2B5EF4-FFF2-40B4-BE49-F238E27FC236}">
                <a16:creationId xmlns="" xmlns:a16="http://schemas.microsoft.com/office/drawing/2014/main" id="{1E25C5CE-6FAB-4FB1-BBD7-0445A85F611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Date Placeholder 4">
            <a:extLst>
              <a:ext uri="{FF2B5EF4-FFF2-40B4-BE49-F238E27FC236}">
                <a16:creationId xmlns="" xmlns:a16="http://schemas.microsoft.com/office/drawing/2014/main" id="{483D8173-E71C-4FA5-AD41-322718D6ACBA}"/>
              </a:ext>
            </a:extLst>
          </p:cNvPr>
          <p:cNvSpPr>
            <a:spLocks noGrp="1"/>
          </p:cNvSpPr>
          <p:nvPr>
            <p:ph type="dt" sz="half" idx="10"/>
          </p:nvPr>
        </p:nvSpPr>
        <p:spPr/>
        <p:txBody>
          <a:bodyPr/>
          <a:lstStyle/>
          <a:p>
            <a:fld id="{86D7FE42-CEA8-408C-BAEC-31F51A654C89}" type="datetimeFigureOut">
              <a:rPr lang="en-MY" smtClean="0"/>
              <a:t>9/11/2020</a:t>
            </a:fld>
            <a:endParaRPr lang="en-MY"/>
          </a:p>
        </p:txBody>
      </p:sp>
      <p:sp>
        <p:nvSpPr>
          <p:cNvPr id="6" name="Footer Placeholder 5">
            <a:extLst>
              <a:ext uri="{FF2B5EF4-FFF2-40B4-BE49-F238E27FC236}">
                <a16:creationId xmlns="" xmlns:a16="http://schemas.microsoft.com/office/drawing/2014/main" id="{ADFBFE4F-AA5A-42CC-885A-A6DA50BC7DF7}"/>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 xmlns:a16="http://schemas.microsoft.com/office/drawing/2014/main" id="{91E70B1A-9C01-4FF3-9A96-FD909042C1FE}"/>
              </a:ext>
            </a:extLst>
          </p:cNvPr>
          <p:cNvSpPr>
            <a:spLocks noGrp="1"/>
          </p:cNvSpPr>
          <p:nvPr>
            <p:ph type="sldNum" sz="quarter" idx="12"/>
          </p:nvPr>
        </p:nvSpPr>
        <p:spPr/>
        <p:txBody>
          <a:bodyPr/>
          <a:lstStyle/>
          <a:p>
            <a:fld id="{E122F80F-1781-4E13-87BB-0F820E769FF7}" type="slidenum">
              <a:rPr lang="en-MY" smtClean="0"/>
              <a:t>‹#›</a:t>
            </a:fld>
            <a:endParaRPr lang="en-MY"/>
          </a:p>
        </p:txBody>
      </p:sp>
    </p:spTree>
    <p:extLst>
      <p:ext uri="{BB962C8B-B14F-4D97-AF65-F5344CB8AC3E}">
        <p14:creationId xmlns:p14="http://schemas.microsoft.com/office/powerpoint/2010/main" val="2259383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A1F222F-9E9E-4863-B8BA-6BC1D090F4A7}"/>
              </a:ext>
            </a:extLst>
          </p:cNvPr>
          <p:cNvSpPr>
            <a:spLocks noGrp="1"/>
          </p:cNvSpPr>
          <p:nvPr>
            <p:ph type="title"/>
          </p:nvPr>
        </p:nvSpPr>
        <p:spPr>
          <a:xfrm>
            <a:off x="839788" y="365125"/>
            <a:ext cx="10515600" cy="1325563"/>
          </a:xfrm>
        </p:spPr>
        <p:txBody>
          <a:bodyPr/>
          <a:lstStyle/>
          <a:p>
            <a:r>
              <a:rPr lang="en-US"/>
              <a:t>Click to edit Master title style</a:t>
            </a:r>
            <a:endParaRPr lang="en-MY"/>
          </a:p>
        </p:txBody>
      </p:sp>
      <p:sp>
        <p:nvSpPr>
          <p:cNvPr id="3" name="Text Placeholder 2">
            <a:extLst>
              <a:ext uri="{FF2B5EF4-FFF2-40B4-BE49-F238E27FC236}">
                <a16:creationId xmlns="" xmlns:a16="http://schemas.microsoft.com/office/drawing/2014/main" id="{3F15F32A-42BB-48D2-855F-19C72B1E56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9688A1F8-78D9-43B9-8E18-62371B3B3E3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Text Placeholder 4">
            <a:extLst>
              <a:ext uri="{FF2B5EF4-FFF2-40B4-BE49-F238E27FC236}">
                <a16:creationId xmlns="" xmlns:a16="http://schemas.microsoft.com/office/drawing/2014/main" id="{EFFCFC84-ABD7-40D9-8804-F55D7990DA0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81D776FC-721B-4854-B7A2-58CC05B7D87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7" name="Date Placeholder 6">
            <a:extLst>
              <a:ext uri="{FF2B5EF4-FFF2-40B4-BE49-F238E27FC236}">
                <a16:creationId xmlns="" xmlns:a16="http://schemas.microsoft.com/office/drawing/2014/main" id="{CC19BB4F-20EF-4FCA-9F97-EE71CC41FE1E}"/>
              </a:ext>
            </a:extLst>
          </p:cNvPr>
          <p:cNvSpPr>
            <a:spLocks noGrp="1"/>
          </p:cNvSpPr>
          <p:nvPr>
            <p:ph type="dt" sz="half" idx="10"/>
          </p:nvPr>
        </p:nvSpPr>
        <p:spPr/>
        <p:txBody>
          <a:bodyPr/>
          <a:lstStyle/>
          <a:p>
            <a:fld id="{86D7FE42-CEA8-408C-BAEC-31F51A654C89}" type="datetimeFigureOut">
              <a:rPr lang="en-MY" smtClean="0"/>
              <a:t>9/11/2020</a:t>
            </a:fld>
            <a:endParaRPr lang="en-MY"/>
          </a:p>
        </p:txBody>
      </p:sp>
      <p:sp>
        <p:nvSpPr>
          <p:cNvPr id="8" name="Footer Placeholder 7">
            <a:extLst>
              <a:ext uri="{FF2B5EF4-FFF2-40B4-BE49-F238E27FC236}">
                <a16:creationId xmlns="" xmlns:a16="http://schemas.microsoft.com/office/drawing/2014/main" id="{18E63040-7A8F-48D1-9093-169AB1DE9FD4}"/>
              </a:ext>
            </a:extLst>
          </p:cNvPr>
          <p:cNvSpPr>
            <a:spLocks noGrp="1"/>
          </p:cNvSpPr>
          <p:nvPr>
            <p:ph type="ftr" sz="quarter" idx="11"/>
          </p:nvPr>
        </p:nvSpPr>
        <p:spPr/>
        <p:txBody>
          <a:bodyPr/>
          <a:lstStyle/>
          <a:p>
            <a:endParaRPr lang="en-MY"/>
          </a:p>
        </p:txBody>
      </p:sp>
      <p:sp>
        <p:nvSpPr>
          <p:cNvPr id="9" name="Slide Number Placeholder 8">
            <a:extLst>
              <a:ext uri="{FF2B5EF4-FFF2-40B4-BE49-F238E27FC236}">
                <a16:creationId xmlns="" xmlns:a16="http://schemas.microsoft.com/office/drawing/2014/main" id="{590BE0FD-F7AE-447A-81AB-EA0A4905FD9F}"/>
              </a:ext>
            </a:extLst>
          </p:cNvPr>
          <p:cNvSpPr>
            <a:spLocks noGrp="1"/>
          </p:cNvSpPr>
          <p:nvPr>
            <p:ph type="sldNum" sz="quarter" idx="12"/>
          </p:nvPr>
        </p:nvSpPr>
        <p:spPr/>
        <p:txBody>
          <a:bodyPr/>
          <a:lstStyle/>
          <a:p>
            <a:fld id="{E122F80F-1781-4E13-87BB-0F820E769FF7}" type="slidenum">
              <a:rPr lang="en-MY" smtClean="0"/>
              <a:t>‹#›</a:t>
            </a:fld>
            <a:endParaRPr lang="en-MY"/>
          </a:p>
        </p:txBody>
      </p:sp>
    </p:spTree>
    <p:extLst>
      <p:ext uri="{BB962C8B-B14F-4D97-AF65-F5344CB8AC3E}">
        <p14:creationId xmlns:p14="http://schemas.microsoft.com/office/powerpoint/2010/main" val="13952867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6C5A9B6-C3B9-4CDD-A45D-93F7E237A9E6}"/>
              </a:ext>
            </a:extLst>
          </p:cNvPr>
          <p:cNvSpPr>
            <a:spLocks noGrp="1"/>
          </p:cNvSpPr>
          <p:nvPr>
            <p:ph type="title"/>
          </p:nvPr>
        </p:nvSpPr>
        <p:spPr/>
        <p:txBody>
          <a:bodyPr/>
          <a:lstStyle/>
          <a:p>
            <a:r>
              <a:rPr lang="en-US"/>
              <a:t>Click to edit Master title style</a:t>
            </a:r>
            <a:endParaRPr lang="en-MY"/>
          </a:p>
        </p:txBody>
      </p:sp>
      <p:sp>
        <p:nvSpPr>
          <p:cNvPr id="3" name="Date Placeholder 2">
            <a:extLst>
              <a:ext uri="{FF2B5EF4-FFF2-40B4-BE49-F238E27FC236}">
                <a16:creationId xmlns="" xmlns:a16="http://schemas.microsoft.com/office/drawing/2014/main" id="{47F50158-BAE4-4F49-BCE4-95EB42329807}"/>
              </a:ext>
            </a:extLst>
          </p:cNvPr>
          <p:cNvSpPr>
            <a:spLocks noGrp="1"/>
          </p:cNvSpPr>
          <p:nvPr>
            <p:ph type="dt" sz="half" idx="10"/>
          </p:nvPr>
        </p:nvSpPr>
        <p:spPr/>
        <p:txBody>
          <a:bodyPr/>
          <a:lstStyle/>
          <a:p>
            <a:fld id="{86D7FE42-CEA8-408C-BAEC-31F51A654C89}" type="datetimeFigureOut">
              <a:rPr lang="en-MY" smtClean="0"/>
              <a:t>9/11/2020</a:t>
            </a:fld>
            <a:endParaRPr lang="en-MY"/>
          </a:p>
        </p:txBody>
      </p:sp>
      <p:sp>
        <p:nvSpPr>
          <p:cNvPr id="4" name="Footer Placeholder 3">
            <a:extLst>
              <a:ext uri="{FF2B5EF4-FFF2-40B4-BE49-F238E27FC236}">
                <a16:creationId xmlns="" xmlns:a16="http://schemas.microsoft.com/office/drawing/2014/main" id="{14E1F009-1DCA-4B43-B3DC-C0B1C12BEA6C}"/>
              </a:ext>
            </a:extLst>
          </p:cNvPr>
          <p:cNvSpPr>
            <a:spLocks noGrp="1"/>
          </p:cNvSpPr>
          <p:nvPr>
            <p:ph type="ftr" sz="quarter" idx="11"/>
          </p:nvPr>
        </p:nvSpPr>
        <p:spPr/>
        <p:txBody>
          <a:bodyPr/>
          <a:lstStyle/>
          <a:p>
            <a:endParaRPr lang="en-MY"/>
          </a:p>
        </p:txBody>
      </p:sp>
      <p:sp>
        <p:nvSpPr>
          <p:cNvPr id="5" name="Slide Number Placeholder 4">
            <a:extLst>
              <a:ext uri="{FF2B5EF4-FFF2-40B4-BE49-F238E27FC236}">
                <a16:creationId xmlns="" xmlns:a16="http://schemas.microsoft.com/office/drawing/2014/main" id="{7DA494F7-093D-49EB-BE09-4194D7B30D33}"/>
              </a:ext>
            </a:extLst>
          </p:cNvPr>
          <p:cNvSpPr>
            <a:spLocks noGrp="1"/>
          </p:cNvSpPr>
          <p:nvPr>
            <p:ph type="sldNum" sz="quarter" idx="12"/>
          </p:nvPr>
        </p:nvSpPr>
        <p:spPr/>
        <p:txBody>
          <a:bodyPr/>
          <a:lstStyle/>
          <a:p>
            <a:fld id="{E122F80F-1781-4E13-87BB-0F820E769FF7}" type="slidenum">
              <a:rPr lang="en-MY" smtClean="0"/>
              <a:t>‹#›</a:t>
            </a:fld>
            <a:endParaRPr lang="en-MY"/>
          </a:p>
        </p:txBody>
      </p:sp>
    </p:spTree>
    <p:extLst>
      <p:ext uri="{BB962C8B-B14F-4D97-AF65-F5344CB8AC3E}">
        <p14:creationId xmlns:p14="http://schemas.microsoft.com/office/powerpoint/2010/main" val="7552861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8CA453FD-975D-4623-A089-E6124CC756DD}"/>
              </a:ext>
            </a:extLst>
          </p:cNvPr>
          <p:cNvSpPr>
            <a:spLocks noGrp="1"/>
          </p:cNvSpPr>
          <p:nvPr>
            <p:ph type="dt" sz="half" idx="10"/>
          </p:nvPr>
        </p:nvSpPr>
        <p:spPr/>
        <p:txBody>
          <a:bodyPr/>
          <a:lstStyle/>
          <a:p>
            <a:fld id="{86D7FE42-CEA8-408C-BAEC-31F51A654C89}" type="datetimeFigureOut">
              <a:rPr lang="en-MY" smtClean="0"/>
              <a:t>9/11/2020</a:t>
            </a:fld>
            <a:endParaRPr lang="en-MY"/>
          </a:p>
        </p:txBody>
      </p:sp>
      <p:sp>
        <p:nvSpPr>
          <p:cNvPr id="3" name="Footer Placeholder 2">
            <a:extLst>
              <a:ext uri="{FF2B5EF4-FFF2-40B4-BE49-F238E27FC236}">
                <a16:creationId xmlns="" xmlns:a16="http://schemas.microsoft.com/office/drawing/2014/main" id="{28BC559E-0344-45F1-98C6-F534492517CD}"/>
              </a:ext>
            </a:extLst>
          </p:cNvPr>
          <p:cNvSpPr>
            <a:spLocks noGrp="1"/>
          </p:cNvSpPr>
          <p:nvPr>
            <p:ph type="ftr" sz="quarter" idx="11"/>
          </p:nvPr>
        </p:nvSpPr>
        <p:spPr/>
        <p:txBody>
          <a:bodyPr/>
          <a:lstStyle/>
          <a:p>
            <a:endParaRPr lang="en-MY"/>
          </a:p>
        </p:txBody>
      </p:sp>
      <p:sp>
        <p:nvSpPr>
          <p:cNvPr id="4" name="Slide Number Placeholder 3">
            <a:extLst>
              <a:ext uri="{FF2B5EF4-FFF2-40B4-BE49-F238E27FC236}">
                <a16:creationId xmlns="" xmlns:a16="http://schemas.microsoft.com/office/drawing/2014/main" id="{18E0F7E8-59A3-4199-8D10-6226A47F1EBB}"/>
              </a:ext>
            </a:extLst>
          </p:cNvPr>
          <p:cNvSpPr>
            <a:spLocks noGrp="1"/>
          </p:cNvSpPr>
          <p:nvPr>
            <p:ph type="sldNum" sz="quarter" idx="12"/>
          </p:nvPr>
        </p:nvSpPr>
        <p:spPr/>
        <p:txBody>
          <a:bodyPr/>
          <a:lstStyle/>
          <a:p>
            <a:fld id="{E122F80F-1781-4E13-87BB-0F820E769FF7}" type="slidenum">
              <a:rPr lang="en-MY" smtClean="0"/>
              <a:t>‹#›</a:t>
            </a:fld>
            <a:endParaRPr lang="en-MY"/>
          </a:p>
        </p:txBody>
      </p:sp>
    </p:spTree>
    <p:extLst>
      <p:ext uri="{BB962C8B-B14F-4D97-AF65-F5344CB8AC3E}">
        <p14:creationId xmlns:p14="http://schemas.microsoft.com/office/powerpoint/2010/main" val="8330279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E6807AB-BD14-47F8-9C93-66326F1D09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Y"/>
          </a:p>
        </p:txBody>
      </p:sp>
      <p:sp>
        <p:nvSpPr>
          <p:cNvPr id="3" name="Content Placeholder 2">
            <a:extLst>
              <a:ext uri="{FF2B5EF4-FFF2-40B4-BE49-F238E27FC236}">
                <a16:creationId xmlns="" xmlns:a16="http://schemas.microsoft.com/office/drawing/2014/main" id="{2D3E52B1-1E3B-4C36-8C1B-D2E7303DD9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Text Placeholder 3">
            <a:extLst>
              <a:ext uri="{FF2B5EF4-FFF2-40B4-BE49-F238E27FC236}">
                <a16:creationId xmlns="" xmlns:a16="http://schemas.microsoft.com/office/drawing/2014/main" id="{3EB03843-660E-4B77-9AF9-B77B7D1F54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A1A5FAF6-EA03-4FDC-8DBD-B602A740108C}"/>
              </a:ext>
            </a:extLst>
          </p:cNvPr>
          <p:cNvSpPr>
            <a:spLocks noGrp="1"/>
          </p:cNvSpPr>
          <p:nvPr>
            <p:ph type="dt" sz="half" idx="10"/>
          </p:nvPr>
        </p:nvSpPr>
        <p:spPr/>
        <p:txBody>
          <a:bodyPr/>
          <a:lstStyle/>
          <a:p>
            <a:fld id="{86D7FE42-CEA8-408C-BAEC-31F51A654C89}" type="datetimeFigureOut">
              <a:rPr lang="en-MY" smtClean="0"/>
              <a:t>9/11/2020</a:t>
            </a:fld>
            <a:endParaRPr lang="en-MY"/>
          </a:p>
        </p:txBody>
      </p:sp>
      <p:sp>
        <p:nvSpPr>
          <p:cNvPr id="6" name="Footer Placeholder 5">
            <a:extLst>
              <a:ext uri="{FF2B5EF4-FFF2-40B4-BE49-F238E27FC236}">
                <a16:creationId xmlns="" xmlns:a16="http://schemas.microsoft.com/office/drawing/2014/main" id="{CA5ED641-DA83-4015-B8FE-4E1A0D71E102}"/>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 xmlns:a16="http://schemas.microsoft.com/office/drawing/2014/main" id="{F9CEB5ED-E808-4ACE-8725-CDE4E309C8B3}"/>
              </a:ext>
            </a:extLst>
          </p:cNvPr>
          <p:cNvSpPr>
            <a:spLocks noGrp="1"/>
          </p:cNvSpPr>
          <p:nvPr>
            <p:ph type="sldNum" sz="quarter" idx="12"/>
          </p:nvPr>
        </p:nvSpPr>
        <p:spPr/>
        <p:txBody>
          <a:bodyPr/>
          <a:lstStyle/>
          <a:p>
            <a:fld id="{E122F80F-1781-4E13-87BB-0F820E769FF7}" type="slidenum">
              <a:rPr lang="en-MY" smtClean="0"/>
              <a:t>‹#›</a:t>
            </a:fld>
            <a:endParaRPr lang="en-MY"/>
          </a:p>
        </p:txBody>
      </p:sp>
    </p:spTree>
    <p:extLst>
      <p:ext uri="{BB962C8B-B14F-4D97-AF65-F5344CB8AC3E}">
        <p14:creationId xmlns:p14="http://schemas.microsoft.com/office/powerpoint/2010/main" val="32559414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31EC56B-1C7F-4C20-A665-BC0C1EEF01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Y"/>
          </a:p>
        </p:txBody>
      </p:sp>
      <p:sp>
        <p:nvSpPr>
          <p:cNvPr id="3" name="Picture Placeholder 2">
            <a:extLst>
              <a:ext uri="{FF2B5EF4-FFF2-40B4-BE49-F238E27FC236}">
                <a16:creationId xmlns="" xmlns:a16="http://schemas.microsoft.com/office/drawing/2014/main" id="{54204DCD-E72C-48C3-A26F-47AFAF7513C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MY"/>
          </a:p>
        </p:txBody>
      </p:sp>
      <p:sp>
        <p:nvSpPr>
          <p:cNvPr id="4" name="Text Placeholder 3">
            <a:extLst>
              <a:ext uri="{FF2B5EF4-FFF2-40B4-BE49-F238E27FC236}">
                <a16:creationId xmlns="" xmlns:a16="http://schemas.microsoft.com/office/drawing/2014/main" id="{B42FE394-B157-44F9-A521-A1DD74EC3C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782AE54F-7636-4042-994D-CA3589C05E69}"/>
              </a:ext>
            </a:extLst>
          </p:cNvPr>
          <p:cNvSpPr>
            <a:spLocks noGrp="1"/>
          </p:cNvSpPr>
          <p:nvPr>
            <p:ph type="dt" sz="half" idx="10"/>
          </p:nvPr>
        </p:nvSpPr>
        <p:spPr/>
        <p:txBody>
          <a:bodyPr/>
          <a:lstStyle/>
          <a:p>
            <a:fld id="{86D7FE42-CEA8-408C-BAEC-31F51A654C89}" type="datetimeFigureOut">
              <a:rPr lang="en-MY" smtClean="0"/>
              <a:t>9/11/2020</a:t>
            </a:fld>
            <a:endParaRPr lang="en-MY"/>
          </a:p>
        </p:txBody>
      </p:sp>
      <p:sp>
        <p:nvSpPr>
          <p:cNvPr id="6" name="Footer Placeholder 5">
            <a:extLst>
              <a:ext uri="{FF2B5EF4-FFF2-40B4-BE49-F238E27FC236}">
                <a16:creationId xmlns="" xmlns:a16="http://schemas.microsoft.com/office/drawing/2014/main" id="{A0EC01BC-AEAA-42BE-BECD-5D6653F8044A}"/>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 xmlns:a16="http://schemas.microsoft.com/office/drawing/2014/main" id="{1094D7C3-6A80-4038-8776-37ADA6C8AC5A}"/>
              </a:ext>
            </a:extLst>
          </p:cNvPr>
          <p:cNvSpPr>
            <a:spLocks noGrp="1"/>
          </p:cNvSpPr>
          <p:nvPr>
            <p:ph type="sldNum" sz="quarter" idx="12"/>
          </p:nvPr>
        </p:nvSpPr>
        <p:spPr/>
        <p:txBody>
          <a:bodyPr/>
          <a:lstStyle/>
          <a:p>
            <a:fld id="{E122F80F-1781-4E13-87BB-0F820E769FF7}" type="slidenum">
              <a:rPr lang="en-MY" smtClean="0"/>
              <a:t>‹#›</a:t>
            </a:fld>
            <a:endParaRPr lang="en-MY"/>
          </a:p>
        </p:txBody>
      </p:sp>
    </p:spTree>
    <p:extLst>
      <p:ext uri="{BB962C8B-B14F-4D97-AF65-F5344CB8AC3E}">
        <p14:creationId xmlns:p14="http://schemas.microsoft.com/office/powerpoint/2010/main" val="37171781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024DEDE-BB24-43BF-BE01-2BE61DAB9F3A}"/>
              </a:ext>
            </a:extLst>
          </p:cNvPr>
          <p:cNvSpPr>
            <a:spLocks noGrp="1"/>
          </p:cNvSpPr>
          <p:nvPr>
            <p:ph type="title"/>
          </p:nvPr>
        </p:nvSpPr>
        <p:spPr/>
        <p:txBody>
          <a:bodyPr/>
          <a:lstStyle/>
          <a:p>
            <a:r>
              <a:rPr lang="en-US"/>
              <a:t>Click to edit Master title style</a:t>
            </a:r>
            <a:endParaRPr lang="en-MY"/>
          </a:p>
        </p:txBody>
      </p:sp>
      <p:sp>
        <p:nvSpPr>
          <p:cNvPr id="3" name="Vertical Text Placeholder 2">
            <a:extLst>
              <a:ext uri="{FF2B5EF4-FFF2-40B4-BE49-F238E27FC236}">
                <a16:creationId xmlns="" xmlns:a16="http://schemas.microsoft.com/office/drawing/2014/main" id="{D1DB1C58-D95D-450A-BC78-18938ADF095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 xmlns:a16="http://schemas.microsoft.com/office/drawing/2014/main" id="{2D09CCFA-0D81-41CA-AB34-B57AAAE3D190}"/>
              </a:ext>
            </a:extLst>
          </p:cNvPr>
          <p:cNvSpPr>
            <a:spLocks noGrp="1"/>
          </p:cNvSpPr>
          <p:nvPr>
            <p:ph type="dt" sz="half" idx="10"/>
          </p:nvPr>
        </p:nvSpPr>
        <p:spPr/>
        <p:txBody>
          <a:bodyPr/>
          <a:lstStyle/>
          <a:p>
            <a:fld id="{86D7FE42-CEA8-408C-BAEC-31F51A654C89}" type="datetimeFigureOut">
              <a:rPr lang="en-MY" smtClean="0"/>
              <a:t>9/11/2020</a:t>
            </a:fld>
            <a:endParaRPr lang="en-MY"/>
          </a:p>
        </p:txBody>
      </p:sp>
      <p:sp>
        <p:nvSpPr>
          <p:cNvPr id="5" name="Footer Placeholder 4">
            <a:extLst>
              <a:ext uri="{FF2B5EF4-FFF2-40B4-BE49-F238E27FC236}">
                <a16:creationId xmlns="" xmlns:a16="http://schemas.microsoft.com/office/drawing/2014/main" id="{3D13AF13-4917-4A77-9131-F16A8CEB6C43}"/>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 xmlns:a16="http://schemas.microsoft.com/office/drawing/2014/main" id="{B8C7D14B-432E-45B8-BD34-AAAF179BBB09}"/>
              </a:ext>
            </a:extLst>
          </p:cNvPr>
          <p:cNvSpPr>
            <a:spLocks noGrp="1"/>
          </p:cNvSpPr>
          <p:nvPr>
            <p:ph type="sldNum" sz="quarter" idx="12"/>
          </p:nvPr>
        </p:nvSpPr>
        <p:spPr/>
        <p:txBody>
          <a:bodyPr/>
          <a:lstStyle/>
          <a:p>
            <a:fld id="{E122F80F-1781-4E13-87BB-0F820E769FF7}" type="slidenum">
              <a:rPr lang="en-MY" smtClean="0"/>
              <a:t>‹#›</a:t>
            </a:fld>
            <a:endParaRPr lang="en-MY"/>
          </a:p>
        </p:txBody>
      </p:sp>
    </p:spTree>
    <p:extLst>
      <p:ext uri="{BB962C8B-B14F-4D97-AF65-F5344CB8AC3E}">
        <p14:creationId xmlns:p14="http://schemas.microsoft.com/office/powerpoint/2010/main" val="27859032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A9D4CFC1-64D1-4F63-9D31-5AFB6C52834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MY"/>
          </a:p>
        </p:txBody>
      </p:sp>
      <p:sp>
        <p:nvSpPr>
          <p:cNvPr id="3" name="Vertical Text Placeholder 2">
            <a:extLst>
              <a:ext uri="{FF2B5EF4-FFF2-40B4-BE49-F238E27FC236}">
                <a16:creationId xmlns="" xmlns:a16="http://schemas.microsoft.com/office/drawing/2014/main" id="{824E424B-E71E-4A8B-8016-B7EE541E0E3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 xmlns:a16="http://schemas.microsoft.com/office/drawing/2014/main" id="{90C5EE24-9B4E-40F9-9FDF-18A74A1F3DCD}"/>
              </a:ext>
            </a:extLst>
          </p:cNvPr>
          <p:cNvSpPr>
            <a:spLocks noGrp="1"/>
          </p:cNvSpPr>
          <p:nvPr>
            <p:ph type="dt" sz="half" idx="10"/>
          </p:nvPr>
        </p:nvSpPr>
        <p:spPr/>
        <p:txBody>
          <a:bodyPr/>
          <a:lstStyle/>
          <a:p>
            <a:fld id="{86D7FE42-CEA8-408C-BAEC-31F51A654C89}" type="datetimeFigureOut">
              <a:rPr lang="en-MY" smtClean="0"/>
              <a:t>9/11/2020</a:t>
            </a:fld>
            <a:endParaRPr lang="en-MY"/>
          </a:p>
        </p:txBody>
      </p:sp>
      <p:sp>
        <p:nvSpPr>
          <p:cNvPr id="5" name="Footer Placeholder 4">
            <a:extLst>
              <a:ext uri="{FF2B5EF4-FFF2-40B4-BE49-F238E27FC236}">
                <a16:creationId xmlns="" xmlns:a16="http://schemas.microsoft.com/office/drawing/2014/main" id="{BFE5903D-1047-4F4D-BFB4-BC8C4963CF23}"/>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 xmlns:a16="http://schemas.microsoft.com/office/drawing/2014/main" id="{BE626E92-6AB5-4A8D-B996-C98814ABE983}"/>
              </a:ext>
            </a:extLst>
          </p:cNvPr>
          <p:cNvSpPr>
            <a:spLocks noGrp="1"/>
          </p:cNvSpPr>
          <p:nvPr>
            <p:ph type="sldNum" sz="quarter" idx="12"/>
          </p:nvPr>
        </p:nvSpPr>
        <p:spPr/>
        <p:txBody>
          <a:bodyPr/>
          <a:lstStyle/>
          <a:p>
            <a:fld id="{E122F80F-1781-4E13-87BB-0F820E769FF7}" type="slidenum">
              <a:rPr lang="en-MY" smtClean="0"/>
              <a:t>‹#›</a:t>
            </a:fld>
            <a:endParaRPr lang="en-MY"/>
          </a:p>
        </p:txBody>
      </p:sp>
    </p:spTree>
    <p:extLst>
      <p:ext uri="{BB962C8B-B14F-4D97-AF65-F5344CB8AC3E}">
        <p14:creationId xmlns:p14="http://schemas.microsoft.com/office/powerpoint/2010/main" val="13742790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DB640704-C118-446C-BD52-6560AF768A8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MY"/>
          </a:p>
        </p:txBody>
      </p:sp>
      <p:sp>
        <p:nvSpPr>
          <p:cNvPr id="3" name="Text Placeholder 2">
            <a:extLst>
              <a:ext uri="{FF2B5EF4-FFF2-40B4-BE49-F238E27FC236}">
                <a16:creationId xmlns="" xmlns:a16="http://schemas.microsoft.com/office/drawing/2014/main" id="{A8C6CBE0-B68F-474F-8798-68B5074343A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 xmlns:a16="http://schemas.microsoft.com/office/drawing/2014/main" id="{8A7A5B40-9114-45BE-9FC6-D2BB470A26B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D7FE42-CEA8-408C-BAEC-31F51A654C89}" type="datetimeFigureOut">
              <a:rPr lang="en-MY" smtClean="0"/>
              <a:t>9/11/2020</a:t>
            </a:fld>
            <a:endParaRPr lang="en-MY"/>
          </a:p>
        </p:txBody>
      </p:sp>
      <p:sp>
        <p:nvSpPr>
          <p:cNvPr id="5" name="Footer Placeholder 4">
            <a:extLst>
              <a:ext uri="{FF2B5EF4-FFF2-40B4-BE49-F238E27FC236}">
                <a16:creationId xmlns="" xmlns:a16="http://schemas.microsoft.com/office/drawing/2014/main" id="{AA02B6E7-3523-4C61-9E1B-E90837B1331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MY"/>
          </a:p>
        </p:txBody>
      </p:sp>
      <p:sp>
        <p:nvSpPr>
          <p:cNvPr id="6" name="Slide Number Placeholder 5">
            <a:extLst>
              <a:ext uri="{FF2B5EF4-FFF2-40B4-BE49-F238E27FC236}">
                <a16:creationId xmlns="" xmlns:a16="http://schemas.microsoft.com/office/drawing/2014/main" id="{67EE74F7-79D8-4F4A-9956-96F12A91AC7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122F80F-1781-4E13-87BB-0F820E769FF7}" type="slidenum">
              <a:rPr lang="en-MY" smtClean="0"/>
              <a:t>‹#›</a:t>
            </a:fld>
            <a:endParaRPr lang="en-MY"/>
          </a:p>
        </p:txBody>
      </p:sp>
    </p:spTree>
    <p:extLst>
      <p:ext uri="{BB962C8B-B14F-4D97-AF65-F5344CB8AC3E}">
        <p14:creationId xmlns:p14="http://schemas.microsoft.com/office/powerpoint/2010/main" val="36080066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2.xml"/><Relationship Id="rId6" Type="http://schemas.openxmlformats.org/officeDocument/2006/relationships/image" Target="../media/image6.emf"/><Relationship Id="rId5" Type="http://schemas.openxmlformats.org/officeDocument/2006/relationships/image" Target="../media/image5.emf"/><Relationship Id="rId4" Type="http://schemas.openxmlformats.org/officeDocument/2006/relationships/image" Target="../media/image4.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scholarsbank.uoregon.edu/xmlui/bitstream/handle/1794/12593/Yahong.pdf?sequence=1&amp;isAllowed=y" TargetMode="External"/><Relationship Id="rId2" Type="http://schemas.openxmlformats.org/officeDocument/2006/relationships/hyperlink" Target="https://www.nap.edu/read/5758/chapter/6#46" TargetMode="External"/><Relationship Id="rId1" Type="http://schemas.openxmlformats.org/officeDocument/2006/relationships/slideLayout" Target="../slideLayouts/slideLayout2.xml"/><Relationship Id="rId4" Type="http://schemas.openxmlformats.org/officeDocument/2006/relationships/hyperlink" Target="https://www.lgmadvisors.com.au/intellectual-property-case-studi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2C36CDA-2DEF-428E-B2C3-07AF7594C776}"/>
              </a:ext>
            </a:extLst>
          </p:cNvPr>
          <p:cNvSpPr>
            <a:spLocks noGrp="1"/>
          </p:cNvSpPr>
          <p:nvPr>
            <p:ph type="ctrTitle"/>
          </p:nvPr>
        </p:nvSpPr>
        <p:spPr/>
        <p:txBody>
          <a:bodyPr/>
          <a:lstStyle/>
          <a:p>
            <a:r>
              <a:rPr lang="fr-FR" altLang="en-US" sz="6000" b="1" dirty="0">
                <a:latin typeface="FrankRuehl" panose="020E0503060101010101" pitchFamily="34" charset="-79"/>
                <a:cs typeface="FrankRuehl" panose="020E0503060101010101" pitchFamily="34" charset="-79"/>
              </a:rPr>
              <a:t>Professional Practices</a:t>
            </a:r>
            <a:endParaRPr lang="en-MY" dirty="0"/>
          </a:p>
        </p:txBody>
      </p:sp>
      <p:sp>
        <p:nvSpPr>
          <p:cNvPr id="3" name="Subtitle 2">
            <a:extLst>
              <a:ext uri="{FF2B5EF4-FFF2-40B4-BE49-F238E27FC236}">
                <a16:creationId xmlns="" xmlns:a16="http://schemas.microsoft.com/office/drawing/2014/main" id="{523B7DB4-FD22-428F-A9D7-C673191EDBC3}"/>
              </a:ext>
            </a:extLst>
          </p:cNvPr>
          <p:cNvSpPr>
            <a:spLocks noGrp="1"/>
          </p:cNvSpPr>
          <p:nvPr>
            <p:ph type="subTitle" idx="1"/>
          </p:nvPr>
        </p:nvSpPr>
        <p:spPr/>
        <p:txBody>
          <a:bodyPr>
            <a:normAutofit/>
          </a:bodyPr>
          <a:lstStyle/>
          <a:p>
            <a:r>
              <a:rPr lang="en-US" altLang="en-US" sz="4400" b="1" dirty="0"/>
              <a:t>Intellectual Property</a:t>
            </a:r>
            <a:endParaRPr lang="en-MY" sz="4400" b="1" dirty="0"/>
          </a:p>
        </p:txBody>
      </p:sp>
    </p:spTree>
    <p:extLst>
      <p:ext uri="{BB962C8B-B14F-4D97-AF65-F5344CB8AC3E}">
        <p14:creationId xmlns:p14="http://schemas.microsoft.com/office/powerpoint/2010/main" val="107565642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a:extLst>
              <a:ext uri="{FF2B5EF4-FFF2-40B4-BE49-F238E27FC236}">
                <a16:creationId xmlns="" xmlns:a16="http://schemas.microsoft.com/office/drawing/2014/main" id="{24E2B243-4E24-4F1F-8327-F85891BF6086}"/>
              </a:ext>
            </a:extLst>
          </p:cNvPr>
          <p:cNvSpPr>
            <a:spLocks noGrp="1"/>
          </p:cNvSpPr>
          <p:nvPr>
            <p:ph type="title"/>
          </p:nvPr>
        </p:nvSpPr>
        <p:spPr bwMode="auto">
          <a:xfrm>
            <a:off x="838200" y="337416"/>
            <a:ext cx="10515600" cy="13255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altLang="en-US" dirty="0"/>
              <a:t>Intellectual Property</a:t>
            </a:r>
          </a:p>
        </p:txBody>
      </p:sp>
      <p:sp>
        <p:nvSpPr>
          <p:cNvPr id="3" name="Content Placeholder 2">
            <a:extLst>
              <a:ext uri="{FF2B5EF4-FFF2-40B4-BE49-F238E27FC236}">
                <a16:creationId xmlns="" xmlns:a16="http://schemas.microsoft.com/office/drawing/2014/main" id="{EBE9727A-9CC2-415C-BE76-412395C9122E}"/>
              </a:ext>
            </a:extLst>
          </p:cNvPr>
          <p:cNvSpPr>
            <a:spLocks noGrp="1"/>
          </p:cNvSpPr>
          <p:nvPr>
            <p:ph idx="1"/>
          </p:nvPr>
        </p:nvSpPr>
        <p:spPr>
          <a:xfrm>
            <a:off x="1361872" y="1690688"/>
            <a:ext cx="8848928" cy="4421188"/>
          </a:xfrm>
        </p:spPr>
        <p:txBody>
          <a:bodyPr>
            <a:normAutofit fontScale="92500" lnSpcReduction="10000"/>
          </a:bodyPr>
          <a:lstStyle/>
          <a:p>
            <a:pPr>
              <a:defRPr/>
            </a:pPr>
            <a:r>
              <a:rPr lang="en-US" dirty="0">
                <a:latin typeface="Times New Roman" panose="02020603050405020304" pitchFamily="18" charset="0"/>
                <a:cs typeface="Times New Roman" panose="02020603050405020304" pitchFamily="18" charset="0"/>
              </a:rPr>
              <a:t>Introduction</a:t>
            </a:r>
          </a:p>
          <a:p>
            <a:pPr>
              <a:defRPr/>
            </a:pPr>
            <a:r>
              <a:rPr lang="en-US" dirty="0">
                <a:latin typeface="Times New Roman" panose="02020603050405020304" pitchFamily="18" charset="0"/>
                <a:cs typeface="Times New Roman" panose="02020603050405020304" pitchFamily="18" charset="0"/>
              </a:rPr>
              <a:t>Confidential Information</a:t>
            </a:r>
          </a:p>
          <a:p>
            <a:pPr>
              <a:defRPr/>
            </a:pPr>
            <a:r>
              <a:rPr lang="en-US" dirty="0">
                <a:latin typeface="Times New Roman" panose="02020603050405020304" pitchFamily="18" charset="0"/>
                <a:cs typeface="Times New Roman" panose="02020603050405020304" pitchFamily="18" charset="0"/>
              </a:rPr>
              <a:t>Patents</a:t>
            </a:r>
          </a:p>
          <a:p>
            <a:pPr>
              <a:defRPr/>
            </a:pPr>
            <a:r>
              <a:rPr lang="en-US" dirty="0">
                <a:latin typeface="Times New Roman" panose="02020603050405020304" pitchFamily="18" charset="0"/>
                <a:cs typeface="Times New Roman" panose="02020603050405020304" pitchFamily="18" charset="0"/>
              </a:rPr>
              <a:t>Copyright</a:t>
            </a:r>
          </a:p>
          <a:p>
            <a:pPr>
              <a:defRPr/>
            </a:pPr>
            <a:r>
              <a:rPr lang="en-US" dirty="0">
                <a:latin typeface="Times New Roman" panose="02020603050405020304" pitchFamily="18" charset="0"/>
                <a:cs typeface="Times New Roman" panose="02020603050405020304" pitchFamily="18" charset="0"/>
              </a:rPr>
              <a:t>Acts permitted in relation to copyright</a:t>
            </a:r>
          </a:p>
          <a:p>
            <a:pPr>
              <a:defRPr/>
            </a:pPr>
            <a:r>
              <a:rPr lang="en-US" dirty="0">
                <a:latin typeface="Times New Roman" panose="02020603050405020304" pitchFamily="18" charset="0"/>
                <a:cs typeface="Times New Roman" panose="02020603050405020304" pitchFamily="18" charset="0"/>
              </a:rPr>
              <a:t>Remedies for breach of Copyright</a:t>
            </a:r>
          </a:p>
          <a:p>
            <a:pPr>
              <a:defRPr/>
            </a:pPr>
            <a:r>
              <a:rPr lang="en-US" dirty="0">
                <a:latin typeface="Times New Roman" panose="02020603050405020304" pitchFamily="18" charset="0"/>
                <a:cs typeface="Times New Roman" panose="02020603050405020304" pitchFamily="18" charset="0"/>
              </a:rPr>
              <a:t>Plagiarism</a:t>
            </a:r>
          </a:p>
          <a:p>
            <a:pPr>
              <a:defRPr/>
            </a:pPr>
            <a:r>
              <a:rPr lang="en-US" dirty="0">
                <a:latin typeface="Times New Roman" panose="02020603050405020304" pitchFamily="18" charset="0"/>
                <a:cs typeface="Times New Roman" panose="02020603050405020304" pitchFamily="18" charset="0"/>
              </a:rPr>
              <a:t>Trade Secrets</a:t>
            </a:r>
          </a:p>
          <a:p>
            <a:pPr>
              <a:defRPr/>
            </a:pPr>
            <a:r>
              <a:rPr lang="en-US" dirty="0">
                <a:latin typeface="Times New Roman" panose="02020603050405020304" pitchFamily="18" charset="0"/>
                <a:cs typeface="Times New Roman" panose="02020603050405020304" pitchFamily="18" charset="0"/>
              </a:rPr>
              <a:t>Open Source Software </a:t>
            </a:r>
          </a:p>
          <a:p>
            <a:pPr>
              <a:defRPr/>
            </a:pPr>
            <a:r>
              <a:rPr lang="en-US" dirty="0">
                <a:latin typeface="Times New Roman" panose="02020603050405020304" pitchFamily="18" charset="0"/>
                <a:cs typeface="Times New Roman" panose="02020603050405020304" pitchFamily="18" charset="0"/>
              </a:rPr>
              <a:t>Shareware VS Freeware </a:t>
            </a:r>
          </a:p>
          <a:p>
            <a:pPr>
              <a:defRPr/>
            </a:pPr>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A35CFCF-2D80-4193-A76B-32413D75ACE7}"/>
              </a:ext>
            </a:extLst>
          </p:cNvPr>
          <p:cNvSpPr>
            <a:spLocks noGrp="1"/>
          </p:cNvSpPr>
          <p:nvPr>
            <p:ph type="title"/>
          </p:nvPr>
        </p:nvSpPr>
        <p:spPr/>
        <p:txBody>
          <a:bodyPr>
            <a:normAutofit/>
          </a:bodyPr>
          <a:lstStyle/>
          <a:p>
            <a:r>
              <a:rPr lang="en-MY" sz="6000" b="0" i="0" u="none" strike="noStrike" baseline="0" dirty="0">
                <a:latin typeface="Times New Roman" panose="02020603050405020304" pitchFamily="18" charset="0"/>
                <a:cs typeface="Times New Roman" panose="02020603050405020304" pitchFamily="18" charset="0"/>
              </a:rPr>
              <a:t>What is Intellectual Property?</a:t>
            </a:r>
            <a:endParaRPr lang="en-MY" sz="6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1C7FA2DE-E756-49AB-8A63-A33C85EAE280}"/>
              </a:ext>
            </a:extLst>
          </p:cNvPr>
          <p:cNvSpPr>
            <a:spLocks noGrp="1"/>
          </p:cNvSpPr>
          <p:nvPr>
            <p:ph idx="1"/>
          </p:nvPr>
        </p:nvSpPr>
        <p:spPr>
          <a:xfrm>
            <a:off x="838199" y="1594716"/>
            <a:ext cx="10827327" cy="4759902"/>
          </a:xfrm>
        </p:spPr>
        <p:txBody>
          <a:bodyPr>
            <a:normAutofit lnSpcReduction="10000"/>
          </a:bodyPr>
          <a:lstStyle/>
          <a:p>
            <a:pPr marL="0" indent="0" algn="l">
              <a:buNone/>
            </a:pPr>
            <a:r>
              <a:rPr lang="en-US" sz="2400" b="0" i="0" u="none" strike="noStrike" baseline="0" dirty="0">
                <a:latin typeface="Times New Roman" panose="02020603050405020304" pitchFamily="18" charset="0"/>
                <a:cs typeface="Times New Roman" panose="02020603050405020304" pitchFamily="18" charset="0"/>
              </a:rPr>
              <a:t>Intellectual property (IP) refers to creations of the mind such </a:t>
            </a:r>
            <a:r>
              <a:rPr lang="en-MY" sz="2400" b="0" i="0" u="none" strike="noStrike" baseline="0" dirty="0">
                <a:latin typeface="Times New Roman" panose="02020603050405020304" pitchFamily="18" charset="0"/>
                <a:cs typeface="Times New Roman" panose="02020603050405020304" pitchFamily="18" charset="0"/>
              </a:rPr>
              <a:t>as:</a:t>
            </a:r>
          </a:p>
          <a:p>
            <a:pPr marL="0" indent="0" algn="l">
              <a:buNone/>
            </a:pPr>
            <a:endParaRPr lang="en-MY" sz="2400" b="0" i="0" u="none" strike="noStrike" baseline="0" dirty="0">
              <a:latin typeface="Times New Roman" panose="02020603050405020304" pitchFamily="18" charset="0"/>
              <a:cs typeface="Times New Roman" panose="02020603050405020304" pitchFamily="18" charset="0"/>
            </a:endParaRPr>
          </a:p>
          <a:p>
            <a:pPr lvl="1"/>
            <a:r>
              <a:rPr lang="en-MY" b="0" i="0" u="none" strike="noStrike" baseline="0" dirty="0">
                <a:latin typeface="Times New Roman" panose="02020603050405020304" pitchFamily="18" charset="0"/>
                <a:cs typeface="Times New Roman" panose="02020603050405020304" pitchFamily="18" charset="0"/>
              </a:rPr>
              <a:t>inventions;</a:t>
            </a:r>
          </a:p>
          <a:p>
            <a:pPr lvl="1"/>
            <a:r>
              <a:rPr lang="en-MY" b="0" i="0" u="none" strike="noStrike" baseline="0" dirty="0">
                <a:latin typeface="Times New Roman" panose="02020603050405020304" pitchFamily="18" charset="0"/>
                <a:cs typeface="Times New Roman" panose="02020603050405020304" pitchFamily="18" charset="0"/>
              </a:rPr>
              <a:t>literary and artistic works;</a:t>
            </a:r>
          </a:p>
          <a:p>
            <a:pPr lvl="1"/>
            <a:r>
              <a:rPr lang="en-MY" b="0" i="0" u="none" strike="noStrike" baseline="0" dirty="0">
                <a:latin typeface="Times New Roman" panose="02020603050405020304" pitchFamily="18" charset="0"/>
                <a:cs typeface="Times New Roman" panose="02020603050405020304" pitchFamily="18" charset="0"/>
              </a:rPr>
              <a:t>designs; and</a:t>
            </a:r>
          </a:p>
          <a:p>
            <a:pPr lvl="1"/>
            <a:r>
              <a:rPr lang="en-US" b="0" i="0" u="none" strike="noStrike" baseline="0" dirty="0">
                <a:latin typeface="Times New Roman" panose="02020603050405020304" pitchFamily="18" charset="0"/>
                <a:cs typeface="Times New Roman" panose="02020603050405020304" pitchFamily="18" charset="0"/>
              </a:rPr>
              <a:t>symbols, names and images used in commerce</a:t>
            </a:r>
          </a:p>
          <a:p>
            <a:pPr lvl="1"/>
            <a:endParaRPr lang="en-US" b="0" i="0" u="none" strike="noStrike" baseline="0" dirty="0">
              <a:latin typeface="Times New Roman" panose="02020603050405020304" pitchFamily="18" charset="0"/>
              <a:cs typeface="Times New Roman" panose="02020603050405020304" pitchFamily="18" charset="0"/>
            </a:endParaRPr>
          </a:p>
          <a:p>
            <a:r>
              <a:rPr lang="en-US" sz="2400" b="0" i="0" u="none" strike="noStrike" baseline="0" dirty="0">
                <a:latin typeface="Times New Roman" panose="02020603050405020304" pitchFamily="18" charset="0"/>
                <a:cs typeface="Times New Roman" panose="02020603050405020304" pitchFamily="18" charset="0"/>
              </a:rPr>
              <a:t>IP is protected in law by, for example, patents, copyright and </a:t>
            </a:r>
            <a:r>
              <a:rPr lang="en-MY" sz="2400" b="0" i="0" u="none" strike="noStrike" baseline="0" dirty="0">
                <a:latin typeface="Times New Roman" panose="02020603050405020304" pitchFamily="18" charset="0"/>
                <a:cs typeface="Times New Roman" panose="02020603050405020304" pitchFamily="18" charset="0"/>
              </a:rPr>
              <a:t>trademarks.</a:t>
            </a:r>
          </a:p>
          <a:p>
            <a:r>
              <a:rPr lang="en-US" sz="2400" b="0" i="0" u="none" strike="noStrike" baseline="0" dirty="0">
                <a:latin typeface="Times New Roman" panose="02020603050405020304" pitchFamily="18" charset="0"/>
                <a:cs typeface="Times New Roman" panose="02020603050405020304" pitchFamily="18" charset="0"/>
              </a:rPr>
              <a:t>It enable people to earn recognition or financial benefit from what they invent or       create</a:t>
            </a:r>
          </a:p>
          <a:p>
            <a:r>
              <a:rPr lang="en-US" sz="2400" b="0" i="0" u="none" strike="noStrike" baseline="0" dirty="0">
                <a:latin typeface="Times New Roman" panose="02020603050405020304" pitchFamily="18" charset="0"/>
                <a:cs typeface="Times New Roman" panose="02020603050405020304" pitchFamily="18" charset="0"/>
              </a:rPr>
              <a:t>IP system aims to foster an environment in which creativity </a:t>
            </a:r>
            <a:r>
              <a:rPr lang="en-MY" sz="2400" b="0" i="0" u="none" strike="noStrike" baseline="0" dirty="0">
                <a:latin typeface="Times New Roman" panose="02020603050405020304" pitchFamily="18" charset="0"/>
                <a:cs typeface="Times New Roman" panose="02020603050405020304" pitchFamily="18" charset="0"/>
              </a:rPr>
              <a:t>and innovation can flourish</a:t>
            </a:r>
            <a:endParaRPr lang="en-MY"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968985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88656BE-B24F-417B-9866-0BC17F448472}"/>
              </a:ext>
            </a:extLst>
          </p:cNvPr>
          <p:cNvSpPr>
            <a:spLocks noGrp="1"/>
          </p:cNvSpPr>
          <p:nvPr>
            <p:ph type="title"/>
          </p:nvPr>
        </p:nvSpPr>
        <p:spPr/>
        <p:txBody>
          <a:bodyPr/>
          <a:lstStyle/>
          <a:p>
            <a:r>
              <a:rPr lang="en-MY" sz="4400" b="0" i="0" u="none" strike="noStrike" baseline="0" dirty="0">
                <a:latin typeface="Times New Roman" panose="02020603050405020304" pitchFamily="18" charset="0"/>
                <a:cs typeface="Times New Roman" panose="02020603050405020304" pitchFamily="18" charset="0"/>
              </a:rPr>
              <a:t>What are intellectual property rights?</a:t>
            </a:r>
            <a:endParaRPr lang="en-MY" dirty="0"/>
          </a:p>
        </p:txBody>
      </p:sp>
      <p:sp>
        <p:nvSpPr>
          <p:cNvPr id="3" name="Content Placeholder 2">
            <a:extLst>
              <a:ext uri="{FF2B5EF4-FFF2-40B4-BE49-F238E27FC236}">
                <a16:creationId xmlns="" xmlns:a16="http://schemas.microsoft.com/office/drawing/2014/main" id="{4B8D7EC1-70BE-4423-B1EF-C82938486E77}"/>
              </a:ext>
            </a:extLst>
          </p:cNvPr>
          <p:cNvSpPr>
            <a:spLocks noGrp="1"/>
          </p:cNvSpPr>
          <p:nvPr>
            <p:ph idx="1"/>
          </p:nvPr>
        </p:nvSpPr>
        <p:spPr/>
        <p:txBody>
          <a:bodyPr>
            <a:noAutofit/>
          </a:bodyPr>
          <a:lstStyle/>
          <a:p>
            <a:r>
              <a:rPr lang="en-US" sz="2400" b="0" i="0" u="none" strike="noStrike" baseline="0" dirty="0">
                <a:latin typeface="Times New Roman" panose="02020603050405020304" pitchFamily="18" charset="0"/>
                <a:cs typeface="Times New Roman" panose="02020603050405020304" pitchFamily="18" charset="0"/>
              </a:rPr>
              <a:t>Rights which allow creators, or owners, of patents, trademarks or copyrighted works to benefit from their own work or investment in a creation.</a:t>
            </a:r>
          </a:p>
          <a:p>
            <a:endParaRPr lang="en-US" sz="2400" b="0" i="0" u="none" strike="noStrike" baseline="0" dirty="0">
              <a:latin typeface="Times New Roman" panose="02020603050405020304" pitchFamily="18" charset="0"/>
              <a:cs typeface="Times New Roman" panose="02020603050405020304" pitchFamily="18" charset="0"/>
            </a:endParaRPr>
          </a:p>
          <a:p>
            <a:r>
              <a:rPr lang="en-US" sz="2400" b="0" i="0" u="none" strike="noStrike" baseline="0" dirty="0">
                <a:latin typeface="Times New Roman" panose="02020603050405020304" pitchFamily="18" charset="0"/>
                <a:cs typeface="Times New Roman" panose="02020603050405020304" pitchFamily="18" charset="0"/>
              </a:rPr>
              <a:t>These rights are outlined in Article 27 of the Universal </a:t>
            </a:r>
            <a:r>
              <a:rPr lang="en-MY" sz="2400" b="0" i="0" u="none" strike="noStrike" baseline="0" dirty="0">
                <a:latin typeface="Times New Roman" panose="02020603050405020304" pitchFamily="18" charset="0"/>
                <a:cs typeface="Times New Roman" panose="02020603050405020304" pitchFamily="18" charset="0"/>
              </a:rPr>
              <a:t>Declaration of Human Rights.</a:t>
            </a:r>
          </a:p>
          <a:p>
            <a:endParaRPr lang="en-MY" sz="2400" b="0" i="0" u="none" strike="noStrike" baseline="0" dirty="0">
              <a:latin typeface="Times New Roman" panose="02020603050405020304" pitchFamily="18" charset="0"/>
              <a:cs typeface="Times New Roman" panose="02020603050405020304" pitchFamily="18" charset="0"/>
            </a:endParaRPr>
          </a:p>
          <a:p>
            <a:r>
              <a:rPr lang="en-US" sz="2400" b="0" i="0" u="none" strike="noStrike" baseline="0" dirty="0">
                <a:latin typeface="Times New Roman" panose="02020603050405020304" pitchFamily="18" charset="0"/>
                <a:cs typeface="Times New Roman" panose="02020603050405020304" pitchFamily="18" charset="0"/>
              </a:rPr>
              <a:t>Provides for the right to benefit from the protection of moral and material interests resulting from authorship of scientific, literary or artistic productions.</a:t>
            </a:r>
          </a:p>
          <a:p>
            <a:pPr marL="0" indent="0">
              <a:buNone/>
            </a:pPr>
            <a:endParaRPr lang="en-MY"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5939048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0D38A17-C0FE-4B8B-8E2A-69F6F41F8AF9}"/>
              </a:ext>
            </a:extLst>
          </p:cNvPr>
          <p:cNvSpPr>
            <a:spLocks noGrp="1"/>
          </p:cNvSpPr>
          <p:nvPr>
            <p:ph type="title"/>
          </p:nvPr>
        </p:nvSpPr>
        <p:spPr/>
        <p:txBody>
          <a:bodyPr/>
          <a:lstStyle/>
          <a:p>
            <a:endParaRPr lang="en-MY"/>
          </a:p>
        </p:txBody>
      </p:sp>
      <p:sp>
        <p:nvSpPr>
          <p:cNvPr id="3" name="Content Placeholder 2">
            <a:extLst>
              <a:ext uri="{FF2B5EF4-FFF2-40B4-BE49-F238E27FC236}">
                <a16:creationId xmlns="" xmlns:a16="http://schemas.microsoft.com/office/drawing/2014/main" id="{F38D16E5-2718-4C90-A8A2-0CD70D87058E}"/>
              </a:ext>
            </a:extLst>
          </p:cNvPr>
          <p:cNvSpPr>
            <a:spLocks noGrp="1"/>
          </p:cNvSpPr>
          <p:nvPr>
            <p:ph idx="1"/>
          </p:nvPr>
        </p:nvSpPr>
        <p:spPr/>
        <p:txBody>
          <a:bodyPr>
            <a:normAutofit/>
          </a:bodyPr>
          <a:lstStyle/>
          <a:p>
            <a:pPr algn="l"/>
            <a:r>
              <a:rPr lang="en-US" b="0" i="0" u="none" strike="noStrike" baseline="0" dirty="0">
                <a:latin typeface="Times New Roman" panose="02020603050405020304" pitchFamily="18" charset="0"/>
                <a:cs typeface="Times New Roman" panose="02020603050405020304" pitchFamily="18" charset="0"/>
              </a:rPr>
              <a:t>IP was first recognized in the Paris Convention for the Protection of Industrial Property (1883) and the Berne Convention for the Protection of Literary and </a:t>
            </a:r>
            <a:r>
              <a:rPr lang="en-MY" b="0" i="0" u="none" strike="noStrike" baseline="0" dirty="0">
                <a:latin typeface="Times New Roman" panose="02020603050405020304" pitchFamily="18" charset="0"/>
                <a:cs typeface="Times New Roman" panose="02020603050405020304" pitchFamily="18" charset="0"/>
              </a:rPr>
              <a:t>Artistic Works (1886)</a:t>
            </a:r>
          </a:p>
          <a:p>
            <a:pPr algn="l"/>
            <a:r>
              <a:rPr lang="en-MY" b="0" i="0" u="none" strike="noStrike" baseline="0" dirty="0">
                <a:latin typeface="Times New Roman" panose="02020603050405020304" pitchFamily="18" charset="0"/>
                <a:cs typeface="Times New Roman" panose="02020603050405020304" pitchFamily="18" charset="0"/>
              </a:rPr>
              <a:t>Both agreements  are administered by the World</a:t>
            </a:r>
          </a:p>
          <a:p>
            <a:pPr marL="0" indent="0" algn="l">
              <a:buNone/>
            </a:pPr>
            <a:r>
              <a:rPr lang="en-MY" b="0" i="0" u="none" strike="noStrike" baseline="0" dirty="0">
                <a:latin typeface="Times New Roman" panose="02020603050405020304" pitchFamily="18" charset="0"/>
                <a:cs typeface="Times New Roman" panose="02020603050405020304" pitchFamily="18" charset="0"/>
              </a:rPr>
              <a:t>   Intellectual Property Organization (WIPO)</a:t>
            </a:r>
            <a:endParaRPr lang="en-MY"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 xmlns:a16="http://schemas.microsoft.com/office/drawing/2014/main" id="{8DFAFD38-6B79-4E52-8E11-F3DA411E9A03}"/>
              </a:ext>
            </a:extLst>
          </p:cNvPr>
          <p:cNvPicPr>
            <a:picLocks noChangeAspect="1"/>
          </p:cNvPicPr>
          <p:nvPr/>
        </p:nvPicPr>
        <p:blipFill>
          <a:blip r:embed="rId2"/>
          <a:stretch>
            <a:fillRect/>
          </a:stretch>
        </p:blipFill>
        <p:spPr>
          <a:xfrm>
            <a:off x="7839982" y="3962399"/>
            <a:ext cx="3335626" cy="2530475"/>
          </a:xfrm>
          <a:prstGeom prst="rect">
            <a:avLst/>
          </a:prstGeom>
        </p:spPr>
      </p:pic>
    </p:spTree>
    <p:extLst>
      <p:ext uri="{BB962C8B-B14F-4D97-AF65-F5344CB8AC3E}">
        <p14:creationId xmlns:p14="http://schemas.microsoft.com/office/powerpoint/2010/main" val="218430148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4CF6548-D4DA-4810-AAF9-DB805FBF6FDD}"/>
              </a:ext>
            </a:extLst>
          </p:cNvPr>
          <p:cNvSpPr>
            <a:spLocks noGrp="1"/>
          </p:cNvSpPr>
          <p:nvPr>
            <p:ph type="title"/>
          </p:nvPr>
        </p:nvSpPr>
        <p:spPr>
          <a:xfrm>
            <a:off x="838200" y="309706"/>
            <a:ext cx="10515600" cy="1325563"/>
          </a:xfrm>
        </p:spPr>
        <p:txBody>
          <a:bodyPr>
            <a:normAutofit/>
          </a:bodyPr>
          <a:lstStyle/>
          <a:p>
            <a:r>
              <a:rPr lang="en-MY" sz="6600" b="0" i="0" u="none" strike="noStrike" baseline="0" dirty="0">
                <a:latin typeface="Times New Roman" panose="02020603050405020304" pitchFamily="18" charset="0"/>
                <a:cs typeface="Times New Roman" panose="02020603050405020304" pitchFamily="18" charset="0"/>
              </a:rPr>
              <a:t>Types of Intellectual </a:t>
            </a:r>
            <a:r>
              <a:rPr lang="en-MY" sz="6600" dirty="0">
                <a:latin typeface="Times New Roman" panose="02020603050405020304" pitchFamily="18" charset="0"/>
                <a:cs typeface="Times New Roman" panose="02020603050405020304" pitchFamily="18" charset="0"/>
              </a:rPr>
              <a:t>P</a:t>
            </a:r>
            <a:r>
              <a:rPr lang="en-MY" sz="6600" b="0" i="0" u="none" strike="noStrike" baseline="0" dirty="0">
                <a:latin typeface="Times New Roman" panose="02020603050405020304" pitchFamily="18" charset="0"/>
                <a:cs typeface="Times New Roman" panose="02020603050405020304" pitchFamily="18" charset="0"/>
              </a:rPr>
              <a:t>roperty</a:t>
            </a:r>
            <a:endParaRPr lang="en-MY" sz="6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86ADA7EF-37F0-4184-B61A-8CC8673499A2}"/>
              </a:ext>
            </a:extLst>
          </p:cNvPr>
          <p:cNvSpPr>
            <a:spLocks noGrp="1"/>
          </p:cNvSpPr>
          <p:nvPr>
            <p:ph idx="1"/>
          </p:nvPr>
        </p:nvSpPr>
        <p:spPr/>
        <p:txBody>
          <a:bodyPr/>
          <a:lstStyle/>
          <a:p>
            <a:pPr marL="0" indent="0" algn="l">
              <a:buNone/>
            </a:pPr>
            <a:r>
              <a:rPr lang="en-MY" sz="1800" b="0" i="0" u="none" strike="noStrike" baseline="0" dirty="0">
                <a:latin typeface="Corbel" panose="020B0503020204020204" pitchFamily="34" charset="0"/>
              </a:rPr>
              <a:t>               </a:t>
            </a:r>
          </a:p>
          <a:p>
            <a:pPr marL="0" indent="0">
              <a:buNone/>
            </a:pPr>
            <a:r>
              <a:rPr lang="en-MY" sz="1800" b="0" i="0" u="none" strike="noStrike" baseline="0" dirty="0">
                <a:latin typeface="Corbel" panose="020B0503020204020204" pitchFamily="34" charset="0"/>
              </a:rPr>
              <a:t>                                                                                        Industrial designs</a:t>
            </a:r>
            <a:endParaRPr lang="en-MY" sz="1800" dirty="0">
              <a:latin typeface="Corbel" panose="020B0503020204020204" pitchFamily="34" charset="0"/>
            </a:endParaRPr>
          </a:p>
          <a:p>
            <a:pPr marL="0" indent="0" algn="l">
              <a:buNone/>
            </a:pPr>
            <a:r>
              <a:rPr lang="en-MY" sz="1800" b="0" i="0" u="none" strike="noStrike" baseline="0" dirty="0">
                <a:latin typeface="Corbel" panose="020B0503020204020204" pitchFamily="34" charset="0"/>
              </a:rPr>
              <a:t>                                                                                                                                                          Patents</a:t>
            </a:r>
          </a:p>
          <a:p>
            <a:pPr marL="0" indent="0" algn="l">
              <a:buNone/>
            </a:pPr>
            <a:endParaRPr lang="en-MY" sz="1800" dirty="0">
              <a:latin typeface="Corbel" panose="020B0503020204020204" pitchFamily="34" charset="0"/>
            </a:endParaRPr>
          </a:p>
          <a:p>
            <a:pPr marL="0" indent="0" algn="l">
              <a:buNone/>
            </a:pPr>
            <a:endParaRPr lang="en-MY" sz="1800" dirty="0">
              <a:latin typeface="Corbel" panose="020B0503020204020204" pitchFamily="34" charset="0"/>
            </a:endParaRPr>
          </a:p>
          <a:p>
            <a:pPr marL="0" indent="0" algn="l">
              <a:buNone/>
            </a:pPr>
            <a:r>
              <a:rPr lang="en-MY" sz="1800" dirty="0">
                <a:latin typeface="Corbel" panose="020B0503020204020204" pitchFamily="34" charset="0"/>
              </a:rPr>
              <a:t>                           </a:t>
            </a:r>
            <a:r>
              <a:rPr lang="en-MY" sz="1800" b="0" i="0" u="none" strike="noStrike" baseline="0" dirty="0">
                <a:latin typeface="Corbel" panose="020B0503020204020204" pitchFamily="34" charset="0"/>
              </a:rPr>
              <a:t>Copyright</a:t>
            </a:r>
          </a:p>
          <a:p>
            <a:pPr marL="0" indent="0" algn="l">
              <a:buNone/>
            </a:pPr>
            <a:endParaRPr lang="en-MY" sz="1800" b="0" i="0" u="none" strike="noStrike" baseline="0" dirty="0">
              <a:latin typeface="Corbel" panose="020B0503020204020204" pitchFamily="34" charset="0"/>
            </a:endParaRPr>
          </a:p>
          <a:p>
            <a:pPr marL="0" indent="0" algn="l">
              <a:buNone/>
            </a:pPr>
            <a:r>
              <a:rPr lang="en-MY" sz="1800" b="0" i="0" u="none" strike="noStrike" baseline="0" dirty="0">
                <a:latin typeface="Corbel" panose="020B0503020204020204" pitchFamily="34" charset="0"/>
              </a:rPr>
              <a:t>Trademarks</a:t>
            </a:r>
          </a:p>
          <a:p>
            <a:pPr marL="0" indent="0" algn="l">
              <a:buNone/>
            </a:pPr>
            <a:r>
              <a:rPr lang="en-MY" sz="1800" b="0" i="0" u="none" strike="noStrike" baseline="0" dirty="0">
                <a:latin typeface="Corbel" panose="020B0503020204020204" pitchFamily="34" charset="0"/>
              </a:rPr>
              <a:t>                                                                                                            </a:t>
            </a:r>
          </a:p>
          <a:p>
            <a:pPr marL="0" indent="0" algn="l">
              <a:buNone/>
            </a:pPr>
            <a:r>
              <a:rPr lang="en-MY" sz="1800" dirty="0">
                <a:latin typeface="Corbel" panose="020B0503020204020204" pitchFamily="34" charset="0"/>
              </a:rPr>
              <a:t>                                                                                                                   </a:t>
            </a:r>
            <a:r>
              <a:rPr lang="en-MY" sz="1800" b="0" i="0" u="none" strike="noStrike" baseline="0" dirty="0">
                <a:latin typeface="Corbel" panose="020B0503020204020204" pitchFamily="34" charset="0"/>
              </a:rPr>
              <a:t>Geographical indications</a:t>
            </a:r>
            <a:endParaRPr lang="en-MY" dirty="0"/>
          </a:p>
        </p:txBody>
      </p:sp>
      <p:pic>
        <p:nvPicPr>
          <p:cNvPr id="4" name="Picture 3">
            <a:extLst>
              <a:ext uri="{FF2B5EF4-FFF2-40B4-BE49-F238E27FC236}">
                <a16:creationId xmlns="" xmlns:a16="http://schemas.microsoft.com/office/drawing/2014/main" id="{7B758931-3579-45D4-B9CF-C6D71BDA8FA2}"/>
              </a:ext>
            </a:extLst>
          </p:cNvPr>
          <p:cNvPicPr>
            <a:picLocks noChangeAspect="1"/>
          </p:cNvPicPr>
          <p:nvPr/>
        </p:nvPicPr>
        <p:blipFill>
          <a:blip r:embed="rId2"/>
          <a:stretch>
            <a:fillRect/>
          </a:stretch>
        </p:blipFill>
        <p:spPr>
          <a:xfrm>
            <a:off x="1228372" y="1819640"/>
            <a:ext cx="2467150" cy="1789894"/>
          </a:xfrm>
          <a:prstGeom prst="rect">
            <a:avLst/>
          </a:prstGeom>
        </p:spPr>
      </p:pic>
      <p:pic>
        <p:nvPicPr>
          <p:cNvPr id="5" name="Picture 4">
            <a:extLst>
              <a:ext uri="{FF2B5EF4-FFF2-40B4-BE49-F238E27FC236}">
                <a16:creationId xmlns="" xmlns:a16="http://schemas.microsoft.com/office/drawing/2014/main" id="{B8A4EE99-FADD-44FB-A409-E201F5F2F6A2}"/>
              </a:ext>
            </a:extLst>
          </p:cNvPr>
          <p:cNvPicPr>
            <a:picLocks noChangeAspect="1"/>
          </p:cNvPicPr>
          <p:nvPr/>
        </p:nvPicPr>
        <p:blipFill>
          <a:blip r:embed="rId3"/>
          <a:stretch>
            <a:fillRect/>
          </a:stretch>
        </p:blipFill>
        <p:spPr>
          <a:xfrm>
            <a:off x="8829963" y="1502399"/>
            <a:ext cx="2728890" cy="1925628"/>
          </a:xfrm>
          <a:prstGeom prst="rect">
            <a:avLst/>
          </a:prstGeom>
        </p:spPr>
      </p:pic>
      <p:pic>
        <p:nvPicPr>
          <p:cNvPr id="6" name="Picture 5">
            <a:extLst>
              <a:ext uri="{FF2B5EF4-FFF2-40B4-BE49-F238E27FC236}">
                <a16:creationId xmlns="" xmlns:a16="http://schemas.microsoft.com/office/drawing/2014/main" id="{E3ECCC48-842E-4070-8C99-0E92CDA3E381}"/>
              </a:ext>
            </a:extLst>
          </p:cNvPr>
          <p:cNvPicPr>
            <a:picLocks noChangeAspect="1"/>
          </p:cNvPicPr>
          <p:nvPr/>
        </p:nvPicPr>
        <p:blipFill>
          <a:blip r:embed="rId4"/>
          <a:stretch>
            <a:fillRect/>
          </a:stretch>
        </p:blipFill>
        <p:spPr>
          <a:xfrm>
            <a:off x="4553527" y="2575185"/>
            <a:ext cx="2712835" cy="1925628"/>
          </a:xfrm>
          <a:prstGeom prst="rect">
            <a:avLst/>
          </a:prstGeom>
        </p:spPr>
      </p:pic>
      <p:pic>
        <p:nvPicPr>
          <p:cNvPr id="7" name="Picture 6">
            <a:extLst>
              <a:ext uri="{FF2B5EF4-FFF2-40B4-BE49-F238E27FC236}">
                <a16:creationId xmlns="" xmlns:a16="http://schemas.microsoft.com/office/drawing/2014/main" id="{31D709A0-4FC2-44CC-BDCE-BF7B841A23F7}"/>
              </a:ext>
            </a:extLst>
          </p:cNvPr>
          <p:cNvPicPr>
            <a:picLocks noChangeAspect="1"/>
          </p:cNvPicPr>
          <p:nvPr/>
        </p:nvPicPr>
        <p:blipFill>
          <a:blip r:embed="rId5"/>
          <a:stretch>
            <a:fillRect/>
          </a:stretch>
        </p:blipFill>
        <p:spPr>
          <a:xfrm>
            <a:off x="423833" y="4823335"/>
            <a:ext cx="3025531" cy="1697249"/>
          </a:xfrm>
          <a:prstGeom prst="rect">
            <a:avLst/>
          </a:prstGeom>
        </p:spPr>
      </p:pic>
      <p:pic>
        <p:nvPicPr>
          <p:cNvPr id="8" name="Picture 7">
            <a:extLst>
              <a:ext uri="{FF2B5EF4-FFF2-40B4-BE49-F238E27FC236}">
                <a16:creationId xmlns="" xmlns:a16="http://schemas.microsoft.com/office/drawing/2014/main" id="{ADACF00F-9BAF-4BFD-BA6B-C49142EC562B}"/>
              </a:ext>
            </a:extLst>
          </p:cNvPr>
          <p:cNvPicPr>
            <a:picLocks noChangeAspect="1"/>
          </p:cNvPicPr>
          <p:nvPr/>
        </p:nvPicPr>
        <p:blipFill>
          <a:blip r:embed="rId6"/>
          <a:stretch>
            <a:fillRect/>
          </a:stretch>
        </p:blipFill>
        <p:spPr>
          <a:xfrm>
            <a:off x="8624910" y="4392787"/>
            <a:ext cx="2728890" cy="1961389"/>
          </a:xfrm>
          <a:prstGeom prst="rect">
            <a:avLst/>
          </a:prstGeom>
        </p:spPr>
      </p:pic>
      <p:sp>
        <p:nvSpPr>
          <p:cNvPr id="9" name="Rectangle: Rounded Corners 8">
            <a:extLst>
              <a:ext uri="{FF2B5EF4-FFF2-40B4-BE49-F238E27FC236}">
                <a16:creationId xmlns="" xmlns:a16="http://schemas.microsoft.com/office/drawing/2014/main" id="{3046F1B9-2AE5-4B12-B770-9ECA47F4F272}"/>
              </a:ext>
            </a:extLst>
          </p:cNvPr>
          <p:cNvSpPr/>
          <p:nvPr/>
        </p:nvSpPr>
        <p:spPr>
          <a:xfrm>
            <a:off x="4461164" y="2034665"/>
            <a:ext cx="2895144" cy="2675880"/>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noFill/>
            </a:endParaRPr>
          </a:p>
        </p:txBody>
      </p:sp>
    </p:spTree>
    <p:extLst>
      <p:ext uri="{BB962C8B-B14F-4D97-AF65-F5344CB8AC3E}">
        <p14:creationId xmlns:p14="http://schemas.microsoft.com/office/powerpoint/2010/main" val="121996274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DF66907D-D41E-409B-BFE4-662276FB8557}"/>
              </a:ext>
            </a:extLst>
          </p:cNvPr>
          <p:cNvSpPr>
            <a:spLocks noGrp="1"/>
          </p:cNvSpPr>
          <p:nvPr>
            <p:ph idx="1"/>
          </p:nvPr>
        </p:nvSpPr>
        <p:spPr>
          <a:xfrm>
            <a:off x="710119" y="1278989"/>
            <a:ext cx="10252953" cy="4949825"/>
          </a:xfrm>
        </p:spPr>
        <p:txBody>
          <a:bodyPr>
            <a:normAutofit/>
          </a:bodyPr>
          <a:lstStyle/>
          <a:p>
            <a:pPr>
              <a:defRPr/>
            </a:pPr>
            <a:r>
              <a:rPr lang="en-US" dirty="0">
                <a:latin typeface="Times New Roman" panose="02020603050405020304" pitchFamily="18" charset="0"/>
                <a:cs typeface="Times New Roman" panose="02020603050405020304" pitchFamily="18" charset="0"/>
              </a:rPr>
              <a:t>Intellectual property rights are often the most valuable assets owned, used and developed by a software house.</a:t>
            </a:r>
          </a:p>
          <a:p>
            <a:pPr>
              <a:defRPr/>
            </a:pPr>
            <a:r>
              <a:rPr lang="en-US" dirty="0">
                <a:latin typeface="Times New Roman" panose="02020603050405020304" pitchFamily="18" charset="0"/>
                <a:cs typeface="Times New Roman" panose="02020603050405020304" pitchFamily="18" charset="0"/>
              </a:rPr>
              <a:t>Intellectual property rights include:</a:t>
            </a:r>
          </a:p>
          <a:p>
            <a:pPr lvl="1">
              <a:defRPr/>
            </a:pPr>
            <a:r>
              <a:rPr lang="en-US" sz="2800" dirty="0">
                <a:latin typeface="Times New Roman" panose="02020603050405020304" pitchFamily="18" charset="0"/>
                <a:cs typeface="Times New Roman" panose="02020603050405020304" pitchFamily="18" charset="0"/>
              </a:rPr>
              <a:t>Confidential information</a:t>
            </a:r>
          </a:p>
          <a:p>
            <a:pPr lvl="1">
              <a:defRPr/>
            </a:pPr>
            <a:r>
              <a:rPr lang="en-US" sz="2800" dirty="0">
                <a:latin typeface="Times New Roman" panose="02020603050405020304" pitchFamily="18" charset="0"/>
                <a:cs typeface="Times New Roman" panose="02020603050405020304" pitchFamily="18" charset="0"/>
              </a:rPr>
              <a:t>Patents</a:t>
            </a:r>
          </a:p>
          <a:p>
            <a:pPr lvl="1">
              <a:defRPr/>
            </a:pPr>
            <a:r>
              <a:rPr lang="en-US" sz="2800" dirty="0">
                <a:latin typeface="Times New Roman" panose="02020603050405020304" pitchFamily="18" charset="0"/>
                <a:cs typeface="Times New Roman" panose="02020603050405020304" pitchFamily="18" charset="0"/>
              </a:rPr>
              <a:t>trade marks</a:t>
            </a:r>
          </a:p>
          <a:p>
            <a:pPr lvl="1">
              <a:defRPr/>
            </a:pPr>
            <a:r>
              <a:rPr lang="en-US" sz="2800" dirty="0">
                <a:latin typeface="Times New Roman" panose="02020603050405020304" pitchFamily="18" charset="0"/>
                <a:cs typeface="Times New Roman" panose="02020603050405020304" pitchFamily="18" charset="0"/>
              </a:rPr>
              <a:t>Designs</a:t>
            </a:r>
          </a:p>
          <a:p>
            <a:pPr lvl="1">
              <a:defRPr/>
            </a:pPr>
            <a:r>
              <a:rPr lang="en-US" sz="2800" dirty="0">
                <a:latin typeface="Times New Roman" panose="02020603050405020304" pitchFamily="18" charset="0"/>
                <a:cs typeface="Times New Roman" panose="02020603050405020304" pitchFamily="18" charset="0"/>
              </a:rPr>
              <a:t>Copyrights protecting computer programs</a:t>
            </a:r>
          </a:p>
          <a:p>
            <a:pPr>
              <a:defRPr/>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571308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 xmlns:a16="http://schemas.microsoft.com/office/drawing/2014/main" id="{F5CC5618-F918-4E0E-8196-01D51825FCCE}"/>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altLang="en-US"/>
              <a:t>Confidential Information</a:t>
            </a:r>
          </a:p>
        </p:txBody>
      </p:sp>
      <p:sp>
        <p:nvSpPr>
          <p:cNvPr id="3" name="Content Placeholder 2">
            <a:extLst>
              <a:ext uri="{FF2B5EF4-FFF2-40B4-BE49-F238E27FC236}">
                <a16:creationId xmlns="" xmlns:a16="http://schemas.microsoft.com/office/drawing/2014/main" id="{8A62FAF1-76C0-4B7A-8DC1-F56CCEF68EEA}"/>
              </a:ext>
            </a:extLst>
          </p:cNvPr>
          <p:cNvSpPr>
            <a:spLocks noGrp="1"/>
          </p:cNvSpPr>
          <p:nvPr>
            <p:ph idx="1"/>
          </p:nvPr>
        </p:nvSpPr>
        <p:spPr>
          <a:xfrm>
            <a:off x="661481" y="1523056"/>
            <a:ext cx="10515600" cy="4215967"/>
          </a:xfrm>
        </p:spPr>
        <p:txBody>
          <a:bodyPr>
            <a:noAutofit/>
          </a:bodyPr>
          <a:lstStyle/>
          <a:p>
            <a:pPr>
              <a:defRPr/>
            </a:pPr>
            <a:r>
              <a:rPr lang="en-US" dirty="0">
                <a:latin typeface="Times New Roman" panose="02020603050405020304" pitchFamily="18" charset="0"/>
                <a:cs typeface="Times New Roman" panose="02020603050405020304" pitchFamily="18" charset="0"/>
              </a:rPr>
              <a:t>Information “which is not public property and public knowledge”</a:t>
            </a:r>
          </a:p>
          <a:p>
            <a:pPr>
              <a:defRPr/>
            </a:pPr>
            <a:r>
              <a:rPr lang="en-US" dirty="0">
                <a:latin typeface="Times New Roman" panose="02020603050405020304" pitchFamily="18" charset="0"/>
                <a:cs typeface="Times New Roman" panose="02020603050405020304" pitchFamily="18" charset="0"/>
              </a:rPr>
              <a:t>Any category of information, from personal confidences, to trade secrets and </a:t>
            </a:r>
            <a:r>
              <a:rPr lang="en-US" dirty="0">
                <a:highlight>
                  <a:srgbClr val="FFFF00"/>
                </a:highlight>
                <a:latin typeface="Times New Roman" panose="02020603050405020304" pitchFamily="18" charset="0"/>
                <a:cs typeface="Times New Roman" panose="02020603050405020304" pitchFamily="18" charset="0"/>
              </a:rPr>
              <a:t>sensitive government information</a:t>
            </a:r>
            <a:r>
              <a:rPr lang="en-US" dirty="0">
                <a:latin typeface="Times New Roman" panose="02020603050405020304" pitchFamily="18" charset="0"/>
                <a:cs typeface="Times New Roman" panose="02020603050405020304" pitchFamily="18" charset="0"/>
              </a:rPr>
              <a:t>, any or all of which a computer scientist might handle in the course of his or her work, or all or any of which a firm may want to protect against unauthorized use or disclosure by others</a:t>
            </a:r>
          </a:p>
          <a:p>
            <a:pPr>
              <a:defRPr/>
            </a:pPr>
            <a:r>
              <a:rPr lang="en-US" dirty="0">
                <a:latin typeface="Times New Roman" panose="02020603050405020304" pitchFamily="18" charset="0"/>
                <a:cs typeface="Times New Roman" panose="02020603050405020304" pitchFamily="18" charset="0"/>
              </a:rPr>
              <a:t>Information will be protected only if it is </a:t>
            </a:r>
            <a:r>
              <a:rPr lang="en-US" dirty="0">
                <a:highlight>
                  <a:srgbClr val="FFFF00"/>
                </a:highlight>
                <a:latin typeface="Times New Roman" panose="02020603050405020304" pitchFamily="18" charset="0"/>
                <a:cs typeface="Times New Roman" panose="02020603050405020304" pitchFamily="18" charset="0"/>
              </a:rPr>
              <a:t>confidential</a:t>
            </a:r>
            <a:r>
              <a:rPr lang="en-US" dirty="0">
                <a:latin typeface="Times New Roman" panose="02020603050405020304" pitchFamily="18" charset="0"/>
                <a:cs typeface="Times New Roman" panose="02020603050405020304" pitchFamily="18" charset="0"/>
              </a:rPr>
              <a:t>. Non-confidential information, unless protected, e.g. by copyright or a patent is deemed to be in the public domain and can be used by anyone.</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 xmlns:a16="http://schemas.microsoft.com/office/drawing/2014/main" id="{7012AF5E-61A9-4F93-9C3A-15EE81BC9485}"/>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altLang="en-US"/>
              <a:t>Confidential Information</a:t>
            </a:r>
          </a:p>
        </p:txBody>
      </p:sp>
      <p:sp>
        <p:nvSpPr>
          <p:cNvPr id="3" name="Content Placeholder 2">
            <a:extLst>
              <a:ext uri="{FF2B5EF4-FFF2-40B4-BE49-F238E27FC236}">
                <a16:creationId xmlns="" xmlns:a16="http://schemas.microsoft.com/office/drawing/2014/main" id="{A8FC0559-6D8B-4CB9-832D-6EFBD2C32B70}"/>
              </a:ext>
            </a:extLst>
          </p:cNvPr>
          <p:cNvSpPr>
            <a:spLocks noGrp="1"/>
          </p:cNvSpPr>
          <p:nvPr>
            <p:ph idx="1"/>
          </p:nvPr>
        </p:nvSpPr>
        <p:spPr>
          <a:xfrm>
            <a:off x="729574" y="1285875"/>
            <a:ext cx="10184860" cy="4421188"/>
          </a:xfrm>
        </p:spPr>
        <p:txBody>
          <a:bodyPr>
            <a:normAutofit/>
          </a:bodyPr>
          <a:lstStyle/>
          <a:p>
            <a:pPr marL="0" indent="0">
              <a:buNone/>
              <a:defRPr/>
            </a:pPr>
            <a:r>
              <a:rPr lang="en-US" dirty="0">
                <a:latin typeface="Times New Roman" panose="02020603050405020304" pitchFamily="18" charset="0"/>
                <a:cs typeface="Times New Roman" panose="02020603050405020304" pitchFamily="18" charset="0"/>
              </a:rPr>
              <a:t>Three conditions must be satisfied before an action for breach of confidence can succeed:</a:t>
            </a:r>
          </a:p>
          <a:p>
            <a:pPr marL="0" indent="0">
              <a:buNone/>
              <a:defRPr/>
            </a:pPr>
            <a:endParaRPr lang="en-US" dirty="0">
              <a:latin typeface="Times New Roman" panose="02020603050405020304" pitchFamily="18" charset="0"/>
              <a:cs typeface="Times New Roman" panose="02020603050405020304" pitchFamily="18" charset="0"/>
            </a:endParaRPr>
          </a:p>
          <a:p>
            <a:pPr marL="914400" lvl="1" indent="-457200">
              <a:buFont typeface="+mj-lt"/>
              <a:buAutoNum type="arabicPeriod"/>
              <a:defRPr/>
            </a:pPr>
            <a:r>
              <a:rPr lang="en-US" sz="2800" dirty="0">
                <a:latin typeface="Times New Roman" panose="02020603050405020304" pitchFamily="18" charset="0"/>
                <a:cs typeface="Times New Roman" panose="02020603050405020304" pitchFamily="18" charset="0"/>
              </a:rPr>
              <a:t>The information must be confidential</a:t>
            </a:r>
          </a:p>
          <a:p>
            <a:pPr marL="914400" lvl="1" indent="-457200">
              <a:buFont typeface="+mj-lt"/>
              <a:buAutoNum type="arabicPeriod"/>
              <a:defRPr/>
            </a:pPr>
            <a:r>
              <a:rPr lang="en-US" sz="2800" dirty="0">
                <a:latin typeface="Times New Roman" panose="02020603050405020304" pitchFamily="18" charset="0"/>
                <a:cs typeface="Times New Roman" panose="02020603050405020304" pitchFamily="18" charset="0"/>
              </a:rPr>
              <a:t>The information must have been disclosed in circumstances which give rise to an obligation of confidence</a:t>
            </a:r>
          </a:p>
          <a:p>
            <a:pPr marL="914400" lvl="1" indent="-457200">
              <a:buFont typeface="+mj-lt"/>
              <a:buAutoNum type="arabicPeriod"/>
              <a:defRPr/>
            </a:pPr>
            <a:r>
              <a:rPr lang="en-US" sz="2800" dirty="0">
                <a:latin typeface="Times New Roman" panose="02020603050405020304" pitchFamily="18" charset="0"/>
                <a:cs typeface="Times New Roman" panose="02020603050405020304" pitchFamily="18" charset="0"/>
              </a:rPr>
              <a:t>There must be an actual or anticipated unauthorized use or disclosure of the information</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 xmlns:a16="http://schemas.microsoft.com/office/drawing/2014/main" id="{EC73222E-0541-4434-9DFD-0DDB97AA4157}"/>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altLang="en-US"/>
              <a:t>Patents</a:t>
            </a:r>
          </a:p>
        </p:txBody>
      </p:sp>
      <p:sp>
        <p:nvSpPr>
          <p:cNvPr id="3" name="Content Placeholder 2">
            <a:extLst>
              <a:ext uri="{FF2B5EF4-FFF2-40B4-BE49-F238E27FC236}">
                <a16:creationId xmlns="" xmlns:a16="http://schemas.microsoft.com/office/drawing/2014/main" id="{385E4480-B681-4DB5-AC82-0164F585BAE4}"/>
              </a:ext>
            </a:extLst>
          </p:cNvPr>
          <p:cNvSpPr>
            <a:spLocks noGrp="1"/>
          </p:cNvSpPr>
          <p:nvPr>
            <p:ph idx="1"/>
          </p:nvPr>
        </p:nvSpPr>
        <p:spPr>
          <a:xfrm>
            <a:off x="671209" y="1471612"/>
            <a:ext cx="10291863" cy="5021263"/>
          </a:xfrm>
        </p:spPr>
        <p:txBody>
          <a:bodyPr>
            <a:normAutofit/>
          </a:bodyPr>
          <a:lstStyle/>
          <a:p>
            <a:pPr>
              <a:defRPr/>
            </a:pPr>
            <a:r>
              <a:rPr lang="en-US" sz="3200" dirty="0">
                <a:latin typeface="Times New Roman" panose="02020603050405020304" pitchFamily="18" charset="0"/>
                <a:cs typeface="Times New Roman" panose="02020603050405020304" pitchFamily="18" charset="0"/>
              </a:rPr>
              <a:t>A government authority conferring a right or title for a set period, especially the sole right to exclude others from making, using, or selling an invention</a:t>
            </a:r>
          </a:p>
          <a:p>
            <a:pPr>
              <a:buFont typeface="Wingdings" panose="05000000000000000000" pitchFamily="2" charset="2"/>
              <a:buNone/>
              <a:defRPr/>
            </a:pPr>
            <a:endParaRPr lang="en-US" sz="3200" dirty="0">
              <a:latin typeface="Times New Roman" panose="02020603050405020304" pitchFamily="18" charset="0"/>
              <a:cs typeface="Times New Roman" panose="02020603050405020304" pitchFamily="18" charset="0"/>
            </a:endParaRPr>
          </a:p>
          <a:p>
            <a:pPr>
              <a:defRPr/>
            </a:pPr>
            <a:r>
              <a:rPr lang="en-US" sz="3200" dirty="0">
                <a:latin typeface="Times New Roman" panose="02020603050405020304" pitchFamily="18" charset="0"/>
                <a:cs typeface="Times New Roman" panose="02020603050405020304" pitchFamily="18" charset="0"/>
              </a:rPr>
              <a:t>A patent gives to an inventor a monopoly in an invention. This means that the inventor is given the exclusive right to use or exploit the invention for a defined period</a:t>
            </a:r>
          </a:p>
          <a:p>
            <a:pPr>
              <a:buFont typeface="Wingdings" panose="05000000000000000000" pitchFamily="2" charset="2"/>
              <a:buNone/>
              <a:defRPr/>
            </a:pPr>
            <a:endParaRPr lang="en-US" sz="32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 xmlns:a16="http://schemas.microsoft.com/office/drawing/2014/main" id="{6FD0E875-FFAD-4DF6-9A40-AE8DA182E24C}"/>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altLang="en-US"/>
              <a:t>Patents</a:t>
            </a:r>
          </a:p>
        </p:txBody>
      </p:sp>
      <p:sp>
        <p:nvSpPr>
          <p:cNvPr id="3" name="Content Placeholder 2">
            <a:extLst>
              <a:ext uri="{FF2B5EF4-FFF2-40B4-BE49-F238E27FC236}">
                <a16:creationId xmlns="" xmlns:a16="http://schemas.microsoft.com/office/drawing/2014/main" id="{868C2336-A2FF-4EBC-B9F7-FF746D262E7F}"/>
              </a:ext>
            </a:extLst>
          </p:cNvPr>
          <p:cNvSpPr>
            <a:spLocks noGrp="1"/>
          </p:cNvSpPr>
          <p:nvPr>
            <p:ph idx="1"/>
          </p:nvPr>
        </p:nvSpPr>
        <p:spPr>
          <a:xfrm>
            <a:off x="690663" y="1448377"/>
            <a:ext cx="10515599" cy="4850823"/>
          </a:xfrm>
        </p:spPr>
        <p:txBody>
          <a:bodyPr>
            <a:noAutofit/>
          </a:bodyPr>
          <a:lstStyle/>
          <a:p>
            <a:pPr>
              <a:defRPr/>
            </a:pPr>
            <a:r>
              <a:rPr lang="en-US" sz="3200" dirty="0">
                <a:latin typeface="Times New Roman" panose="02020603050405020304" pitchFamily="18" charset="0"/>
                <a:cs typeface="Times New Roman" panose="02020603050405020304" pitchFamily="18" charset="0"/>
              </a:rPr>
              <a:t>Patent Act merely sets out a number of criteria which must be satisfied before an invention can be patented</a:t>
            </a:r>
          </a:p>
          <a:p>
            <a:pPr>
              <a:defRPr/>
            </a:pPr>
            <a:r>
              <a:rPr lang="en-US" sz="3200" dirty="0">
                <a:latin typeface="Times New Roman" panose="02020603050405020304" pitchFamily="18" charset="0"/>
                <a:cs typeface="Times New Roman" panose="02020603050405020304" pitchFamily="18" charset="0"/>
              </a:rPr>
              <a:t>A patent may only be granted if:</a:t>
            </a:r>
          </a:p>
          <a:p>
            <a:pPr marL="0" indent="0">
              <a:buNone/>
              <a:defRPr/>
            </a:pPr>
            <a:endParaRPr lang="en-US" sz="3200" dirty="0">
              <a:latin typeface="Times New Roman" panose="02020603050405020304" pitchFamily="18" charset="0"/>
              <a:cs typeface="Times New Roman" panose="02020603050405020304" pitchFamily="18" charset="0"/>
            </a:endParaRPr>
          </a:p>
          <a:p>
            <a:pPr marL="914400" lvl="1" indent="-457200">
              <a:buFont typeface="+mj-lt"/>
              <a:buAutoNum type="arabicPeriod"/>
              <a:defRPr/>
            </a:pPr>
            <a:r>
              <a:rPr lang="en-US" sz="3200" dirty="0">
                <a:latin typeface="Times New Roman" panose="02020603050405020304" pitchFamily="18" charset="0"/>
                <a:cs typeface="Times New Roman" panose="02020603050405020304" pitchFamily="18" charset="0"/>
              </a:rPr>
              <a:t>The invention is new</a:t>
            </a:r>
          </a:p>
          <a:p>
            <a:pPr marL="914400" lvl="1" indent="-457200">
              <a:buFont typeface="+mj-lt"/>
              <a:buAutoNum type="arabicPeriod"/>
              <a:defRPr/>
            </a:pPr>
            <a:r>
              <a:rPr lang="en-US" sz="3200" dirty="0">
                <a:latin typeface="Times New Roman" panose="02020603050405020304" pitchFamily="18" charset="0"/>
                <a:cs typeface="Times New Roman" panose="02020603050405020304" pitchFamily="18" charset="0"/>
              </a:rPr>
              <a:t>It involves an inventive step</a:t>
            </a:r>
          </a:p>
          <a:p>
            <a:pPr marL="914400" lvl="1" indent="-457200">
              <a:buFont typeface="+mj-lt"/>
              <a:buAutoNum type="arabicPeriod"/>
              <a:defRPr/>
            </a:pPr>
            <a:r>
              <a:rPr lang="en-US" sz="3200" dirty="0">
                <a:latin typeface="Times New Roman" panose="02020603050405020304" pitchFamily="18" charset="0"/>
                <a:cs typeface="Times New Roman" panose="02020603050405020304" pitchFamily="18" charset="0"/>
              </a:rPr>
              <a:t>It is capable of industrial application</a:t>
            </a:r>
          </a:p>
          <a:p>
            <a:pPr marL="914400" lvl="1" indent="-457200">
              <a:buFont typeface="+mj-lt"/>
              <a:buAutoNum type="arabicPeriod"/>
              <a:defRPr/>
            </a:pPr>
            <a:r>
              <a:rPr lang="en-US" sz="3200" dirty="0">
                <a:latin typeface="Times New Roman" panose="02020603050405020304" pitchFamily="18" charset="0"/>
                <a:cs typeface="Times New Roman" panose="02020603050405020304" pitchFamily="18" charset="0"/>
              </a:rPr>
              <a:t>The subject matter of the invention does not fall within an excluded class</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endParaRPr lang="en-US" sz="32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 xmlns:a16="http://schemas.microsoft.com/office/drawing/2014/main" id="{E742A0BF-8423-47DD-8407-84421FEA8423}"/>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altLang="en-US"/>
              <a:t>Patents</a:t>
            </a:r>
          </a:p>
        </p:txBody>
      </p:sp>
      <p:sp>
        <p:nvSpPr>
          <p:cNvPr id="3" name="Content Placeholder 2">
            <a:extLst>
              <a:ext uri="{FF2B5EF4-FFF2-40B4-BE49-F238E27FC236}">
                <a16:creationId xmlns="" xmlns:a16="http://schemas.microsoft.com/office/drawing/2014/main" id="{C0BD089F-84EB-49E6-A17C-D35EA84860FE}"/>
              </a:ext>
            </a:extLst>
          </p:cNvPr>
          <p:cNvSpPr>
            <a:spLocks noGrp="1"/>
          </p:cNvSpPr>
          <p:nvPr>
            <p:ph idx="1"/>
          </p:nvPr>
        </p:nvSpPr>
        <p:spPr>
          <a:xfrm>
            <a:off x="408562" y="1143000"/>
            <a:ext cx="10945238" cy="4878388"/>
          </a:xfrm>
        </p:spPr>
        <p:txBody>
          <a:bodyPr>
            <a:normAutofit fontScale="92500" lnSpcReduction="10000"/>
          </a:bodyPr>
          <a:lstStyle/>
          <a:p>
            <a:pPr>
              <a:defRPr/>
            </a:pPr>
            <a:endParaRPr lang="en-US" dirty="0">
              <a:latin typeface="Times New Roman" panose="02020603050405020304" pitchFamily="18" charset="0"/>
              <a:cs typeface="Times New Roman" panose="02020603050405020304" pitchFamily="18" charset="0"/>
            </a:endParaRPr>
          </a:p>
          <a:p>
            <a:pPr>
              <a:defRPr/>
            </a:pPr>
            <a:r>
              <a:rPr lang="en-US" dirty="0">
                <a:latin typeface="Times New Roman" panose="02020603050405020304" pitchFamily="18" charset="0"/>
                <a:cs typeface="Times New Roman" panose="02020603050405020304" pitchFamily="18" charset="0"/>
              </a:rPr>
              <a:t>It is possible to patent something which is more than just a program—something which can be called, for simplicity, a “program plus”</a:t>
            </a:r>
          </a:p>
          <a:p>
            <a:pPr>
              <a:defRPr/>
            </a:pPr>
            <a:endParaRPr lang="en-US" dirty="0">
              <a:latin typeface="Times New Roman" panose="02020603050405020304" pitchFamily="18" charset="0"/>
              <a:cs typeface="Times New Roman" panose="02020603050405020304" pitchFamily="18" charset="0"/>
            </a:endParaRPr>
          </a:p>
          <a:p>
            <a:pPr marL="0" indent="0">
              <a:buNone/>
              <a:defRPr/>
            </a:pPr>
            <a:endParaRPr lang="en-US" dirty="0">
              <a:latin typeface="Times New Roman" panose="02020603050405020304" pitchFamily="18" charset="0"/>
              <a:cs typeface="Times New Roman" panose="02020603050405020304" pitchFamily="18" charset="0"/>
            </a:endParaRPr>
          </a:p>
          <a:p>
            <a:pPr>
              <a:defRPr/>
            </a:pPr>
            <a:r>
              <a:rPr lang="en-US" dirty="0">
                <a:latin typeface="Times New Roman" panose="02020603050405020304" pitchFamily="18" charset="0"/>
                <a:cs typeface="Times New Roman" panose="02020603050405020304" pitchFamily="18" charset="0"/>
              </a:rPr>
              <a:t>A computer program is not excluded from patentability if it produced, or is capable of producing, a further technical effect beyond the normal physical interaction between software and hardware, i.e. it is potentially patentable if it makes something else do something.</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 xmlns:a16="http://schemas.microsoft.com/office/drawing/2014/main" id="{ED9A89F6-7857-4922-AA22-E89B8D1C8C1B}"/>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altLang="en-US"/>
              <a:t>Copyright</a:t>
            </a:r>
          </a:p>
        </p:txBody>
      </p:sp>
      <p:sp>
        <p:nvSpPr>
          <p:cNvPr id="3" name="Content Placeholder 2">
            <a:extLst>
              <a:ext uri="{FF2B5EF4-FFF2-40B4-BE49-F238E27FC236}">
                <a16:creationId xmlns="" xmlns:a16="http://schemas.microsoft.com/office/drawing/2014/main" id="{F008BA77-28A4-43BE-8A79-132AEE2785FF}"/>
              </a:ext>
            </a:extLst>
          </p:cNvPr>
          <p:cNvSpPr>
            <a:spLocks noGrp="1"/>
          </p:cNvSpPr>
          <p:nvPr>
            <p:ph idx="1"/>
          </p:nvPr>
        </p:nvSpPr>
        <p:spPr>
          <a:xfrm>
            <a:off x="838200" y="1690688"/>
            <a:ext cx="10309698" cy="3833958"/>
          </a:xfrm>
        </p:spPr>
        <p:txBody>
          <a:bodyPr>
            <a:noAutofit/>
          </a:bodyPr>
          <a:lstStyle/>
          <a:p>
            <a:pPr>
              <a:defRPr/>
            </a:pPr>
            <a:r>
              <a:rPr lang="en-US" dirty="0">
                <a:latin typeface="Times New Roman" panose="02020603050405020304" pitchFamily="18" charset="0"/>
                <a:cs typeface="Times New Roman" panose="02020603050405020304" pitchFamily="18" charset="0"/>
              </a:rPr>
              <a:t>The exclusive legal right, given to an originator or an assignee to print, publish, perform material, and to authorize others to do the same</a:t>
            </a:r>
          </a:p>
          <a:p>
            <a:pPr>
              <a:defRPr/>
            </a:pPr>
            <a:r>
              <a:rPr lang="en-US" dirty="0">
                <a:latin typeface="Times New Roman" panose="02020603050405020304" pitchFamily="18" charset="0"/>
                <a:cs typeface="Times New Roman" panose="02020603050405020304" pitchFamily="18" charset="0"/>
              </a:rPr>
              <a:t>Copyright protects more items generated by businesses or by individuals than any other aspect of intellectual property law</a:t>
            </a:r>
          </a:p>
          <a:p>
            <a:pPr>
              <a:defRPr/>
            </a:pPr>
            <a:r>
              <a:rPr lang="en-US" dirty="0">
                <a:latin typeface="Times New Roman" panose="02020603050405020304" pitchFamily="18" charset="0"/>
                <a:cs typeface="Times New Roman" panose="02020603050405020304" pitchFamily="18" charset="0"/>
              </a:rPr>
              <a:t>It can protect business letters, manuals, diagrams, computer programs</a:t>
            </a:r>
          </a:p>
          <a:p>
            <a:pPr>
              <a:defRPr/>
            </a:pPr>
            <a:r>
              <a:rPr lang="en-US" dirty="0">
                <a:latin typeface="Times New Roman" panose="02020603050405020304" pitchFamily="18" charset="0"/>
                <a:cs typeface="Times New Roman" panose="02020603050405020304" pitchFamily="18" charset="0"/>
              </a:rPr>
              <a:t>Copyright owners face the specter of unlimited piracy through</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uncontrolled copying with the advent of internet</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 xmlns:a16="http://schemas.microsoft.com/office/drawing/2014/main" id="{FAE598B5-0299-4389-983A-06CD356A0EFE}"/>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altLang="en-US"/>
              <a:t>Copyright</a:t>
            </a:r>
          </a:p>
        </p:txBody>
      </p:sp>
      <p:sp>
        <p:nvSpPr>
          <p:cNvPr id="3" name="Content Placeholder 2">
            <a:extLst>
              <a:ext uri="{FF2B5EF4-FFF2-40B4-BE49-F238E27FC236}">
                <a16:creationId xmlns="" xmlns:a16="http://schemas.microsoft.com/office/drawing/2014/main" id="{3E082687-3558-4E3E-88C0-539C73B11BD1}"/>
              </a:ext>
            </a:extLst>
          </p:cNvPr>
          <p:cNvSpPr>
            <a:spLocks noGrp="1"/>
          </p:cNvSpPr>
          <p:nvPr>
            <p:ph idx="1"/>
          </p:nvPr>
        </p:nvSpPr>
        <p:spPr>
          <a:xfrm>
            <a:off x="1952625" y="1143001"/>
            <a:ext cx="10174720" cy="4786313"/>
          </a:xfrm>
        </p:spPr>
        <p:txBody>
          <a:bodyPr>
            <a:noAutofit/>
          </a:bodyPr>
          <a:lstStyle/>
          <a:p>
            <a:pPr>
              <a:defRPr/>
            </a:pPr>
            <a:r>
              <a:rPr lang="en-US" sz="2400" dirty="0">
                <a:latin typeface="Times New Roman" panose="02020603050405020304" pitchFamily="18" charset="0"/>
                <a:cs typeface="Times New Roman" panose="02020603050405020304" pitchFamily="18" charset="0"/>
              </a:rPr>
              <a:t>What we will probably see over the next few years are stronger laws, more rights for copyright owners, widespread licensing schemes and greater use of technical anti-piracy or copy-monitoring devices and electronic rights management systems</a:t>
            </a:r>
          </a:p>
          <a:p>
            <a:pPr>
              <a:defRPr/>
            </a:pPr>
            <a:r>
              <a:rPr lang="en-US" sz="2400" dirty="0">
                <a:latin typeface="Times New Roman" panose="02020603050405020304" pitchFamily="18" charset="0"/>
                <a:cs typeface="Times New Roman" panose="02020603050405020304" pitchFamily="18" charset="0"/>
              </a:rPr>
              <a:t>Copyright law gives six exclusive rights to the owner of copyright:</a:t>
            </a:r>
          </a:p>
          <a:p>
            <a:pPr marL="914400" lvl="1" indent="-457200">
              <a:buFont typeface="+mj-lt"/>
              <a:buAutoNum type="arabicPeriod"/>
              <a:defRPr/>
            </a:pPr>
            <a:r>
              <a:rPr lang="en-US" sz="2000" dirty="0">
                <a:latin typeface="Times New Roman" panose="02020603050405020304" pitchFamily="18" charset="0"/>
                <a:cs typeface="Times New Roman" panose="02020603050405020304" pitchFamily="18" charset="0"/>
              </a:rPr>
              <a:t>Copy the work</a:t>
            </a:r>
          </a:p>
          <a:p>
            <a:pPr marL="914400" lvl="1" indent="-457200">
              <a:buFont typeface="+mj-lt"/>
              <a:buAutoNum type="arabicPeriod"/>
              <a:defRPr/>
            </a:pPr>
            <a:r>
              <a:rPr lang="en-US" sz="2000" dirty="0">
                <a:latin typeface="Times New Roman" panose="02020603050405020304" pitchFamily="18" charset="0"/>
                <a:cs typeface="Times New Roman" panose="02020603050405020304" pitchFamily="18" charset="0"/>
              </a:rPr>
              <a:t>Issue copies to the public</a:t>
            </a:r>
          </a:p>
          <a:p>
            <a:pPr marL="914400" lvl="1" indent="-457200">
              <a:buFont typeface="+mj-lt"/>
              <a:buAutoNum type="arabicPeriod"/>
              <a:defRPr/>
            </a:pPr>
            <a:r>
              <a:rPr lang="en-US" sz="2000" dirty="0">
                <a:latin typeface="Times New Roman" panose="02020603050405020304" pitchFamily="18" charset="0"/>
                <a:cs typeface="Times New Roman" panose="02020603050405020304" pitchFamily="18" charset="0"/>
              </a:rPr>
              <a:t>Rent or lend the work to the public</a:t>
            </a:r>
          </a:p>
          <a:p>
            <a:pPr marL="914400" lvl="1" indent="-457200">
              <a:buFont typeface="+mj-lt"/>
              <a:buAutoNum type="arabicPeriod"/>
              <a:defRPr/>
            </a:pPr>
            <a:r>
              <a:rPr lang="en-US" sz="2000" dirty="0">
                <a:latin typeface="Times New Roman" panose="02020603050405020304" pitchFamily="18" charset="0"/>
                <a:cs typeface="Times New Roman" panose="02020603050405020304" pitchFamily="18" charset="0"/>
              </a:rPr>
              <a:t>Perform, play or show the work in public</a:t>
            </a:r>
          </a:p>
          <a:p>
            <a:pPr marL="914400" lvl="1" indent="-457200">
              <a:buFont typeface="+mj-lt"/>
              <a:buAutoNum type="arabicPeriod"/>
              <a:defRPr/>
            </a:pPr>
            <a:r>
              <a:rPr lang="en-US" sz="2000" dirty="0">
                <a:latin typeface="Times New Roman" panose="02020603050405020304" pitchFamily="18" charset="0"/>
                <a:cs typeface="Times New Roman" panose="02020603050405020304" pitchFamily="18" charset="0"/>
              </a:rPr>
              <a:t>Broadcast the work or include it in a cable programmed service</a:t>
            </a:r>
          </a:p>
          <a:p>
            <a:pPr marL="914400" lvl="1" indent="-457200">
              <a:buFont typeface="+mj-lt"/>
              <a:buAutoNum type="arabicPeriod"/>
              <a:defRPr/>
            </a:pPr>
            <a:r>
              <a:rPr lang="en-US" sz="2000" dirty="0">
                <a:latin typeface="Times New Roman" panose="02020603050405020304" pitchFamily="18" charset="0"/>
                <a:cs typeface="Times New Roman" panose="02020603050405020304" pitchFamily="18" charset="0"/>
              </a:rPr>
              <a:t>Make an adaptation of the work or to do any of the above with an adaptation</a:t>
            </a:r>
          </a:p>
          <a:p>
            <a:pPr marL="0" lvl="1" indent="188913">
              <a:defRPr/>
            </a:pPr>
            <a:r>
              <a:rPr lang="en-US" dirty="0">
                <a:latin typeface="Times New Roman" panose="02020603050405020304" pitchFamily="18" charset="0"/>
                <a:cs typeface="Times New Roman" panose="02020603050405020304" pitchFamily="18" charset="0"/>
              </a:rPr>
              <a:t>The rights apply equally to published and to unpublished works</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 xmlns:a16="http://schemas.microsoft.com/office/drawing/2014/main" id="{75035E4A-0285-461C-889C-8C79983BBE8D}"/>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90000"/>
          </a:bodyPr>
          <a:lstStyle/>
          <a:p>
            <a:r>
              <a:rPr lang="en-US" altLang="en-US" dirty="0"/>
              <a:t>Acts permitted in relation to copyright</a:t>
            </a:r>
            <a:br>
              <a:rPr lang="en-US" altLang="en-US" dirty="0"/>
            </a:br>
            <a:r>
              <a:rPr lang="en-US" altLang="en-US" dirty="0"/>
              <a:t/>
            </a:r>
            <a:br>
              <a:rPr lang="en-US" altLang="en-US" dirty="0"/>
            </a:br>
            <a:endParaRPr lang="en-US" altLang="en-US" dirty="0"/>
          </a:p>
        </p:txBody>
      </p:sp>
      <p:sp>
        <p:nvSpPr>
          <p:cNvPr id="3" name="Content Placeholder 2">
            <a:extLst>
              <a:ext uri="{FF2B5EF4-FFF2-40B4-BE49-F238E27FC236}">
                <a16:creationId xmlns="" xmlns:a16="http://schemas.microsoft.com/office/drawing/2014/main" id="{BBEB5AA8-786C-4CE4-8DF4-534C89CFEC6C}"/>
              </a:ext>
            </a:extLst>
          </p:cNvPr>
          <p:cNvSpPr>
            <a:spLocks noGrp="1"/>
          </p:cNvSpPr>
          <p:nvPr>
            <p:ph idx="1"/>
          </p:nvPr>
        </p:nvSpPr>
        <p:spPr>
          <a:xfrm>
            <a:off x="1981200" y="1071564"/>
            <a:ext cx="8229600" cy="4929187"/>
          </a:xfrm>
        </p:spPr>
        <p:txBody>
          <a:bodyPr>
            <a:noAutofit/>
          </a:bodyPr>
          <a:lstStyle/>
          <a:p>
            <a:pPr marL="0" indent="0">
              <a:buNone/>
              <a:defRPr/>
            </a:pPr>
            <a:r>
              <a:rPr lang="en-US" dirty="0">
                <a:latin typeface="Times New Roman" panose="02020603050405020304" pitchFamily="18" charset="0"/>
                <a:cs typeface="Times New Roman" panose="02020603050405020304" pitchFamily="18" charset="0"/>
              </a:rPr>
              <a:t>Some acts are permitted under the 1988 Act, even though they would otherwise amount to breach of copyright.</a:t>
            </a:r>
          </a:p>
          <a:p>
            <a:pPr marL="0" indent="0">
              <a:buNone/>
              <a:defRPr/>
            </a:pPr>
            <a:endParaRPr lang="en-US" dirty="0">
              <a:latin typeface="Times New Roman" panose="02020603050405020304" pitchFamily="18" charset="0"/>
              <a:cs typeface="Times New Roman" panose="02020603050405020304" pitchFamily="18" charset="0"/>
            </a:endParaRPr>
          </a:p>
          <a:p>
            <a:pPr lvl="1">
              <a:defRPr/>
            </a:pPr>
            <a:r>
              <a:rPr lang="en-US" sz="2800" dirty="0">
                <a:latin typeface="Times New Roman" panose="02020603050405020304" pitchFamily="18" charset="0"/>
                <a:cs typeface="Times New Roman" panose="02020603050405020304" pitchFamily="18" charset="0"/>
              </a:rPr>
              <a:t>Fair dealing</a:t>
            </a:r>
          </a:p>
          <a:p>
            <a:pPr lvl="1">
              <a:defRPr/>
            </a:pPr>
            <a:r>
              <a:rPr lang="en-US" sz="2800" dirty="0">
                <a:latin typeface="Times New Roman" panose="02020603050405020304" pitchFamily="18" charset="0"/>
                <a:cs typeface="Times New Roman" panose="02020603050405020304" pitchFamily="18" charset="0"/>
              </a:rPr>
              <a:t>Making back-up copies of computer programs</a:t>
            </a:r>
          </a:p>
          <a:p>
            <a:pPr lvl="1">
              <a:defRPr/>
            </a:pPr>
            <a:r>
              <a:rPr lang="en-US" sz="2800" dirty="0">
                <a:latin typeface="Times New Roman" panose="02020603050405020304" pitchFamily="18" charset="0"/>
                <a:cs typeface="Times New Roman" panose="02020603050405020304" pitchFamily="18" charset="0"/>
              </a:rPr>
              <a:t>Transfers of works in electronic form</a:t>
            </a:r>
          </a:p>
          <a:p>
            <a:pPr lvl="1">
              <a:defRPr/>
            </a:pPr>
            <a:r>
              <a:rPr lang="en-US" sz="2800" dirty="0">
                <a:latin typeface="Times New Roman" panose="02020603050405020304" pitchFamily="18" charset="0"/>
                <a:cs typeface="Times New Roman" panose="02020603050405020304" pitchFamily="18" charset="0"/>
              </a:rPr>
              <a:t>De-compilation for the purpose of interoperability</a:t>
            </a:r>
          </a:p>
          <a:p>
            <a:pPr lvl="1">
              <a:defRPr/>
            </a:pPr>
            <a:r>
              <a:rPr lang="en-US" sz="2800" dirty="0">
                <a:latin typeface="Times New Roman" panose="02020603050405020304" pitchFamily="18" charset="0"/>
                <a:cs typeface="Times New Roman" panose="02020603050405020304" pitchFamily="18" charset="0"/>
              </a:rPr>
              <a:t>Error correction</a:t>
            </a:r>
          </a:p>
          <a:p>
            <a:pPr lvl="1">
              <a:defRPr/>
            </a:pPr>
            <a:r>
              <a:rPr lang="en-US" sz="2800" dirty="0">
                <a:latin typeface="Times New Roman" panose="02020603050405020304" pitchFamily="18" charset="0"/>
                <a:cs typeface="Times New Roman" panose="02020603050405020304" pitchFamily="18" charset="0"/>
              </a:rPr>
              <a:t>Databases</a:t>
            </a:r>
            <a:r>
              <a:rPr lang="en-US" sz="2800" b="1" dirty="0">
                <a:latin typeface="Times New Roman" panose="02020603050405020304" pitchFamily="18" charset="0"/>
                <a:cs typeface="Times New Roman" panose="02020603050405020304" pitchFamily="18" charset="0"/>
              </a:rPr>
              <a:t/>
            </a: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
            </a: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 </a:t>
            </a: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
            </a: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 </a:t>
            </a: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
            </a:r>
            <a:br>
              <a:rPr lang="en-US" sz="2800" b="1"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a: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 xmlns:a16="http://schemas.microsoft.com/office/drawing/2014/main" id="{881C066F-2522-41A2-AC35-69C11615E545}"/>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90000"/>
          </a:bodyPr>
          <a:lstStyle/>
          <a:p>
            <a:r>
              <a:rPr lang="en-US" altLang="en-US" b="1"/>
              <a:t>Remedies for breach of copyright</a:t>
            </a:r>
            <a:r>
              <a:rPr lang="en-US" altLang="en-US"/>
              <a:t/>
            </a:r>
            <a:br>
              <a:rPr lang="en-US" altLang="en-US"/>
            </a:br>
            <a:r>
              <a:rPr lang="en-US" altLang="en-US"/>
              <a:t/>
            </a:r>
            <a:br>
              <a:rPr lang="en-US" altLang="en-US"/>
            </a:br>
            <a:endParaRPr lang="en-US" altLang="en-US"/>
          </a:p>
        </p:txBody>
      </p:sp>
      <p:sp>
        <p:nvSpPr>
          <p:cNvPr id="3" name="Content Placeholder 2">
            <a:extLst>
              <a:ext uri="{FF2B5EF4-FFF2-40B4-BE49-F238E27FC236}">
                <a16:creationId xmlns="" xmlns:a16="http://schemas.microsoft.com/office/drawing/2014/main" id="{3B827913-9CDD-47DE-9C9D-067D96C06D18}"/>
              </a:ext>
            </a:extLst>
          </p:cNvPr>
          <p:cNvSpPr>
            <a:spLocks noGrp="1"/>
          </p:cNvSpPr>
          <p:nvPr>
            <p:ph idx="1"/>
          </p:nvPr>
        </p:nvSpPr>
        <p:spPr>
          <a:xfrm>
            <a:off x="1952625" y="1357314"/>
            <a:ext cx="8229600" cy="4421187"/>
          </a:xfrm>
        </p:spPr>
        <p:txBody>
          <a:bodyPr>
            <a:normAutofit lnSpcReduction="10000"/>
          </a:bodyPr>
          <a:lstStyle/>
          <a:p>
            <a:pPr>
              <a:defRPr/>
            </a:pPr>
            <a:r>
              <a:rPr lang="en-US" dirty="0"/>
              <a:t>A copyright owner has all the usual civil remedies of search, injunction, damages and an action for an account of profits made in breach of copyright</a:t>
            </a:r>
          </a:p>
          <a:p>
            <a:pPr>
              <a:defRPr/>
            </a:pPr>
            <a:r>
              <a:rPr lang="en-US" dirty="0"/>
              <a:t>If it is shown that at the time of the infringement of copyright the defendant did not know and had no reason to believe that copyright subsisted in the work, then the plaintiff is not entitled to damages against the defendant</a:t>
            </a:r>
            <a:br>
              <a:rPr lang="en-US" dirty="0"/>
            </a:br>
            <a:r>
              <a:rPr lang="en-US" dirty="0"/>
              <a:t/>
            </a:r>
            <a:br>
              <a:rPr lang="en-US" dirty="0"/>
            </a:br>
            <a:r>
              <a:rPr lang="en-US" dirty="0"/>
              <a:t> </a:t>
            </a:r>
            <a:br>
              <a:rPr lang="en-US" dirty="0"/>
            </a:br>
            <a:r>
              <a:rPr lang="en-US" dirty="0"/>
              <a:t/>
            </a:r>
            <a:br>
              <a:rPr lang="en-US" dirty="0"/>
            </a:br>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 xmlns:a16="http://schemas.microsoft.com/office/drawing/2014/main" id="{F394822A-B360-4178-BFF5-8B602B237DE3}"/>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altLang="en-US" b="1"/>
              <a:t>Remedies for breach of copyright</a:t>
            </a:r>
            <a:endParaRPr lang="en-US" altLang="en-US"/>
          </a:p>
        </p:txBody>
      </p:sp>
      <p:sp>
        <p:nvSpPr>
          <p:cNvPr id="3" name="Content Placeholder 2">
            <a:extLst>
              <a:ext uri="{FF2B5EF4-FFF2-40B4-BE49-F238E27FC236}">
                <a16:creationId xmlns="" xmlns:a16="http://schemas.microsoft.com/office/drawing/2014/main" id="{E630669E-05B8-463A-92D3-8970760595C4}"/>
              </a:ext>
            </a:extLst>
          </p:cNvPr>
          <p:cNvSpPr>
            <a:spLocks noGrp="1"/>
          </p:cNvSpPr>
          <p:nvPr>
            <p:ph idx="1"/>
          </p:nvPr>
        </p:nvSpPr>
        <p:spPr>
          <a:xfrm>
            <a:off x="1952625" y="1143000"/>
            <a:ext cx="8229600" cy="4592638"/>
          </a:xfrm>
        </p:spPr>
        <p:txBody>
          <a:bodyPr>
            <a:noAutofit/>
          </a:bodyPr>
          <a:lstStyle/>
          <a:p>
            <a:pPr algn="just">
              <a:defRPr/>
            </a:pPr>
            <a:endParaRPr lang="en-US" sz="3600" dirty="0">
              <a:latin typeface="Times New Roman" panose="02020603050405020304" pitchFamily="18" charset="0"/>
              <a:cs typeface="Times New Roman" panose="02020603050405020304" pitchFamily="18" charset="0"/>
            </a:endParaRPr>
          </a:p>
          <a:p>
            <a:pPr marL="0" indent="0" algn="just">
              <a:buNone/>
              <a:defRPr/>
            </a:pPr>
            <a:r>
              <a:rPr lang="en-US" sz="3600" dirty="0">
                <a:latin typeface="Times New Roman" panose="02020603050405020304" pitchFamily="18" charset="0"/>
                <a:cs typeface="Times New Roman" panose="02020603050405020304" pitchFamily="18" charset="0"/>
              </a:rPr>
              <a:t>A copyright owner is also given an important power to enter premises without using force in order to seize infringing copies, or articles specifically designed or adapted for making copies</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 </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
            </a:r>
            <a:br>
              <a:rPr lang="en-US" sz="3600" dirty="0">
                <a:latin typeface="Times New Roman" panose="02020603050405020304" pitchFamily="18" charset="0"/>
                <a:cs typeface="Times New Roman" panose="02020603050405020304" pitchFamily="18" charset="0"/>
              </a:rPr>
            </a:br>
            <a:endParaRPr lang="en-US" sz="36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 xmlns:a16="http://schemas.microsoft.com/office/drawing/2014/main" id="{471F59FD-8069-4D56-9802-9A0EB1A8A085}"/>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altLang="en-US"/>
              <a:t>Plagiarism</a:t>
            </a:r>
          </a:p>
        </p:txBody>
      </p:sp>
      <p:sp>
        <p:nvSpPr>
          <p:cNvPr id="3" name="Content Placeholder 2">
            <a:extLst>
              <a:ext uri="{FF2B5EF4-FFF2-40B4-BE49-F238E27FC236}">
                <a16:creationId xmlns="" xmlns:a16="http://schemas.microsoft.com/office/drawing/2014/main" id="{C864DA6B-8B87-4205-9695-CB0061E115DB}"/>
              </a:ext>
            </a:extLst>
          </p:cNvPr>
          <p:cNvSpPr>
            <a:spLocks noGrp="1"/>
          </p:cNvSpPr>
          <p:nvPr>
            <p:ph idx="1"/>
          </p:nvPr>
        </p:nvSpPr>
        <p:spPr>
          <a:xfrm>
            <a:off x="1952625" y="1143001"/>
            <a:ext cx="8229600" cy="4786313"/>
          </a:xfrm>
        </p:spPr>
        <p:txBody>
          <a:bodyPr>
            <a:normAutofit lnSpcReduction="10000"/>
          </a:bodyPr>
          <a:lstStyle/>
          <a:p>
            <a:pPr>
              <a:defRPr/>
            </a:pPr>
            <a:r>
              <a:rPr lang="en-US" dirty="0"/>
              <a:t>the practice of taking someone else's work or ideas and passing them off as one's own.</a:t>
            </a:r>
          </a:p>
          <a:p>
            <a:pPr>
              <a:defRPr/>
            </a:pPr>
            <a:r>
              <a:rPr lang="en-US" dirty="0"/>
              <a:t>All of the following are considered plagiarism: </a:t>
            </a:r>
          </a:p>
          <a:p>
            <a:pPr lvl="1">
              <a:defRPr/>
            </a:pPr>
            <a:r>
              <a:rPr lang="en-US" dirty="0"/>
              <a:t>Turning in someone else's work as your own</a:t>
            </a:r>
          </a:p>
          <a:p>
            <a:pPr lvl="1">
              <a:defRPr/>
            </a:pPr>
            <a:r>
              <a:rPr lang="en-US" dirty="0"/>
              <a:t>Copying words or ideas from someone else without giving credit</a:t>
            </a:r>
          </a:p>
          <a:p>
            <a:pPr lvl="1">
              <a:defRPr/>
            </a:pPr>
            <a:r>
              <a:rPr lang="en-US" dirty="0"/>
              <a:t>Failing to put a quotation in quotation marks</a:t>
            </a:r>
          </a:p>
          <a:p>
            <a:pPr lvl="1">
              <a:defRPr/>
            </a:pPr>
            <a:r>
              <a:rPr lang="en-US" dirty="0"/>
              <a:t>Giving incorrect information about the source of a quotation</a:t>
            </a:r>
          </a:p>
          <a:p>
            <a:pPr lvl="1">
              <a:defRPr/>
            </a:pPr>
            <a:r>
              <a:rPr lang="en-US" dirty="0"/>
              <a:t>Changing words but copying the sentence structure of a source without giving credit</a:t>
            </a:r>
          </a:p>
          <a:p>
            <a:pPr lvl="1">
              <a:defRPr/>
            </a:pPr>
            <a:r>
              <a:rPr lang="en-US" dirty="0"/>
              <a:t>For a computer program changing variable names only, or not changing the structure or flow of a program</a:t>
            </a:r>
          </a:p>
          <a:p>
            <a:pPr lvl="1">
              <a:defRPr/>
            </a:pPr>
            <a:endParaRPr lang="en-US" dirty="0"/>
          </a:p>
          <a:p>
            <a:pPr lvl="1">
              <a:defRPr/>
            </a:pPr>
            <a:endParaRPr lang="en-US" dirty="0"/>
          </a:p>
          <a:p>
            <a:pPr>
              <a:defRPr/>
            </a:pPr>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48E0B90-7919-49D2-AB98-043970721869}"/>
              </a:ext>
            </a:extLst>
          </p:cNvPr>
          <p:cNvSpPr>
            <a:spLocks noGrp="1"/>
          </p:cNvSpPr>
          <p:nvPr>
            <p:ph type="title"/>
          </p:nvPr>
        </p:nvSpPr>
        <p:spPr/>
        <p:txBody>
          <a:bodyPr/>
          <a:lstStyle/>
          <a:p>
            <a:r>
              <a:rPr lang="en-MY" b="1" dirty="0">
                <a:latin typeface="Times New Roman" panose="02020603050405020304" pitchFamily="18" charset="0"/>
                <a:cs typeface="Times New Roman" panose="02020603050405020304" pitchFamily="18" charset="0"/>
              </a:rPr>
              <a:t>Trade Secret</a:t>
            </a:r>
          </a:p>
        </p:txBody>
      </p:sp>
      <p:sp>
        <p:nvSpPr>
          <p:cNvPr id="3" name="Content Placeholder 2">
            <a:extLst>
              <a:ext uri="{FF2B5EF4-FFF2-40B4-BE49-F238E27FC236}">
                <a16:creationId xmlns="" xmlns:a16="http://schemas.microsoft.com/office/drawing/2014/main" id="{84581EC0-114D-4490-A6C2-5D2B63B6F48F}"/>
              </a:ext>
            </a:extLst>
          </p:cNvPr>
          <p:cNvSpPr>
            <a:spLocks noGrp="1"/>
          </p:cNvSpPr>
          <p:nvPr>
            <p:ph idx="1"/>
          </p:nvPr>
        </p:nvSpPr>
        <p:spPr/>
        <p:txBody>
          <a:bodyPr>
            <a:normAutofit/>
          </a:bodyPr>
          <a:lstStyle/>
          <a:p>
            <a:pPr marL="0" indent="0" algn="l">
              <a:buNone/>
            </a:pPr>
            <a:r>
              <a:rPr lang="en-US" sz="3600" b="0" i="0" u="none" strike="noStrike" baseline="0" dirty="0">
                <a:latin typeface="Times New Roman" panose="02020603050405020304" pitchFamily="18" charset="0"/>
                <a:cs typeface="Times New Roman" panose="02020603050405020304" pitchFamily="18" charset="0"/>
              </a:rPr>
              <a:t>What is a Trade Secret?</a:t>
            </a:r>
          </a:p>
          <a:p>
            <a:pPr marL="0" indent="0" algn="l">
              <a:buNone/>
            </a:pPr>
            <a:r>
              <a:rPr lang="en-US" sz="3600" b="0" i="0" u="none" strike="noStrike" baseline="0" dirty="0">
                <a:latin typeface="Times New Roman" panose="02020603050405020304" pitchFamily="18" charset="0"/>
                <a:cs typeface="Times New Roman" panose="02020603050405020304" pitchFamily="18" charset="0"/>
              </a:rPr>
              <a:t>A trade secret is a </a:t>
            </a:r>
            <a:r>
              <a:rPr lang="en-US" sz="3600" b="0" i="0" u="none" strike="noStrike" baseline="0" dirty="0">
                <a:solidFill>
                  <a:schemeClr val="accent1"/>
                </a:solidFill>
                <a:latin typeface="Times New Roman" panose="02020603050405020304" pitchFamily="18" charset="0"/>
                <a:cs typeface="Times New Roman" panose="02020603050405020304" pitchFamily="18" charset="0"/>
              </a:rPr>
              <a:t>formula, pattern, physical device, idea, process, or compilation of information </a:t>
            </a:r>
            <a:r>
              <a:rPr lang="en-US" sz="3600" b="0" i="0" u="none" strike="noStrike" baseline="0" dirty="0">
                <a:latin typeface="Times New Roman" panose="02020603050405020304" pitchFamily="18" charset="0"/>
                <a:cs typeface="Times New Roman" panose="02020603050405020304" pitchFamily="18" charset="0"/>
              </a:rPr>
              <a:t>which is not generally known or reasonably ascertainable, by which a business can obtain an </a:t>
            </a:r>
            <a:r>
              <a:rPr lang="en-US" sz="3600" b="1" i="0" u="none" strike="noStrike" baseline="0" dirty="0">
                <a:solidFill>
                  <a:schemeClr val="accent1"/>
                </a:solidFill>
                <a:latin typeface="Times New Roman" panose="02020603050405020304" pitchFamily="18" charset="0"/>
                <a:cs typeface="Times New Roman" panose="02020603050405020304" pitchFamily="18" charset="0"/>
              </a:rPr>
              <a:t>economic advantage </a:t>
            </a:r>
            <a:r>
              <a:rPr lang="en-MY" sz="3600" b="0" i="0" u="none" strike="noStrike" baseline="0" dirty="0">
                <a:latin typeface="Times New Roman" panose="02020603050405020304" pitchFamily="18" charset="0"/>
                <a:cs typeface="Times New Roman" panose="02020603050405020304" pitchFamily="18" charset="0"/>
              </a:rPr>
              <a:t>over competitors or customers.</a:t>
            </a:r>
            <a:endParaRPr lang="en-MY"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353214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D7C579D-CEED-4023-A174-C8479000C767}"/>
              </a:ext>
            </a:extLst>
          </p:cNvPr>
          <p:cNvSpPr>
            <a:spLocks noGrp="1"/>
          </p:cNvSpPr>
          <p:nvPr>
            <p:ph type="title"/>
          </p:nvPr>
        </p:nvSpPr>
        <p:spPr>
          <a:xfrm>
            <a:off x="838200" y="0"/>
            <a:ext cx="10515600" cy="768485"/>
          </a:xfrm>
        </p:spPr>
        <p:txBody>
          <a:bodyPr/>
          <a:lstStyle/>
          <a:p>
            <a:r>
              <a:rPr lang="en-MY" dirty="0"/>
              <a:t>Trade Secrets</a:t>
            </a:r>
          </a:p>
        </p:txBody>
      </p:sp>
      <p:pic>
        <p:nvPicPr>
          <p:cNvPr id="5" name="Content Placeholder 4">
            <a:extLst>
              <a:ext uri="{FF2B5EF4-FFF2-40B4-BE49-F238E27FC236}">
                <a16:creationId xmlns="" xmlns:a16="http://schemas.microsoft.com/office/drawing/2014/main" id="{BA76B9A7-5980-4BCD-80C1-F98E801E25E6}"/>
              </a:ext>
            </a:extLst>
          </p:cNvPr>
          <p:cNvPicPr>
            <a:picLocks noGrp="1" noChangeAspect="1"/>
          </p:cNvPicPr>
          <p:nvPr>
            <p:ph idx="1"/>
          </p:nvPr>
        </p:nvPicPr>
        <p:blipFill>
          <a:blip r:embed="rId2"/>
          <a:stretch>
            <a:fillRect/>
          </a:stretch>
        </p:blipFill>
        <p:spPr>
          <a:xfrm>
            <a:off x="1342418" y="768485"/>
            <a:ext cx="8142050" cy="6035025"/>
          </a:xfrm>
          <a:prstGeom prst="rect">
            <a:avLst/>
          </a:prstGeom>
        </p:spPr>
      </p:pic>
    </p:spTree>
    <p:extLst>
      <p:ext uri="{BB962C8B-B14F-4D97-AF65-F5344CB8AC3E}">
        <p14:creationId xmlns:p14="http://schemas.microsoft.com/office/powerpoint/2010/main" val="345189180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904BCEA-C3C3-4B45-BD5F-81D77C4FFE5D}"/>
              </a:ext>
            </a:extLst>
          </p:cNvPr>
          <p:cNvSpPr>
            <a:spLocks noGrp="1"/>
          </p:cNvSpPr>
          <p:nvPr>
            <p:ph type="title"/>
          </p:nvPr>
        </p:nvSpPr>
        <p:spPr/>
        <p:txBody>
          <a:bodyPr/>
          <a:lstStyle/>
          <a:p>
            <a:r>
              <a:rPr lang="en-MY" dirty="0">
                <a:latin typeface="Times New Roman" panose="02020603050405020304" pitchFamily="18" charset="0"/>
                <a:cs typeface="Times New Roman" panose="02020603050405020304" pitchFamily="18" charset="0"/>
              </a:rPr>
              <a:t>Example of Potential Trade Secrets</a:t>
            </a:r>
          </a:p>
        </p:txBody>
      </p:sp>
      <p:sp>
        <p:nvSpPr>
          <p:cNvPr id="3" name="Content Placeholder 2">
            <a:extLst>
              <a:ext uri="{FF2B5EF4-FFF2-40B4-BE49-F238E27FC236}">
                <a16:creationId xmlns="" xmlns:a16="http://schemas.microsoft.com/office/drawing/2014/main" id="{FE07E40F-5253-4DD2-81E3-17A6192C0538}"/>
              </a:ext>
            </a:extLst>
          </p:cNvPr>
          <p:cNvSpPr>
            <a:spLocks noGrp="1"/>
          </p:cNvSpPr>
          <p:nvPr>
            <p:ph idx="1"/>
          </p:nvPr>
        </p:nvSpPr>
        <p:spPr/>
        <p:txBody>
          <a:bodyPr>
            <a:noAutofit/>
          </a:bodyPr>
          <a:lstStyle/>
          <a:p>
            <a:pPr algn="l"/>
            <a:r>
              <a:rPr lang="en-US" sz="3600" b="0" i="0" u="none" strike="noStrike" baseline="0" dirty="0">
                <a:latin typeface="Times New Roman" panose="02020603050405020304" pitchFamily="18" charset="0"/>
                <a:cs typeface="Times New Roman" panose="02020603050405020304" pitchFamily="18" charset="0"/>
              </a:rPr>
              <a:t>A formula for a sports drink</a:t>
            </a:r>
          </a:p>
          <a:p>
            <a:pPr algn="l"/>
            <a:r>
              <a:rPr lang="en-US" sz="3600" b="0" i="0" u="none" strike="noStrike" baseline="0" dirty="0">
                <a:latin typeface="Times New Roman" panose="02020603050405020304" pitchFamily="18" charset="0"/>
                <a:cs typeface="Times New Roman" panose="02020603050405020304" pitchFamily="18" charset="0"/>
              </a:rPr>
              <a:t>Survey methods used by professional </a:t>
            </a:r>
            <a:r>
              <a:rPr lang="en-MY" sz="3600" b="0" i="0" u="none" strike="noStrike" baseline="0" dirty="0">
                <a:latin typeface="Times New Roman" panose="02020603050405020304" pitchFamily="18" charset="0"/>
                <a:cs typeface="Times New Roman" panose="02020603050405020304" pitchFamily="18" charset="0"/>
              </a:rPr>
              <a:t>pollsters, and Recipes (food)</a:t>
            </a:r>
          </a:p>
          <a:p>
            <a:pPr algn="l"/>
            <a:r>
              <a:rPr lang="en-US" sz="3600" b="0" i="0" u="none" strike="noStrike" baseline="0" dirty="0">
                <a:latin typeface="Times New Roman" panose="02020603050405020304" pitchFamily="18" charset="0"/>
                <a:cs typeface="Times New Roman" panose="02020603050405020304" pitchFamily="18" charset="0"/>
              </a:rPr>
              <a:t>A new invention for which a patent application has not yet been filed</a:t>
            </a:r>
          </a:p>
          <a:p>
            <a:pPr algn="l"/>
            <a:r>
              <a:rPr lang="en-MY" sz="3600" b="0" i="0" u="none" strike="noStrike" baseline="0" dirty="0">
                <a:latin typeface="Times New Roman" panose="02020603050405020304" pitchFamily="18" charset="0"/>
                <a:cs typeface="Times New Roman" panose="02020603050405020304" pitchFamily="18" charset="0"/>
              </a:rPr>
              <a:t>Marketing strategies</a:t>
            </a:r>
          </a:p>
          <a:p>
            <a:pPr algn="l"/>
            <a:r>
              <a:rPr lang="en-MY" sz="3600" b="0" i="0" u="none" strike="noStrike" baseline="0" dirty="0">
                <a:latin typeface="Times New Roman" panose="02020603050405020304" pitchFamily="18" charset="0"/>
                <a:cs typeface="Times New Roman" panose="02020603050405020304" pitchFamily="18" charset="0"/>
              </a:rPr>
              <a:t>Manufacturing techniques</a:t>
            </a:r>
          </a:p>
          <a:p>
            <a:pPr algn="l"/>
            <a:r>
              <a:rPr lang="en-MY" sz="3600" b="0" i="0" u="none" strike="noStrike" baseline="0" dirty="0">
                <a:latin typeface="Times New Roman" panose="02020603050405020304" pitchFamily="18" charset="0"/>
                <a:cs typeface="Times New Roman" panose="02020603050405020304" pitchFamily="18" charset="0"/>
              </a:rPr>
              <a:t>Computer algorithms</a:t>
            </a:r>
            <a:endParaRPr lang="en-MY" sz="36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 xmlns:a16="http://schemas.microsoft.com/office/drawing/2014/main" id="{67FB603F-2CE7-4297-909A-6CE8B2042FEB}"/>
              </a:ext>
            </a:extLst>
          </p:cNvPr>
          <p:cNvPicPr>
            <a:picLocks noChangeAspect="1"/>
          </p:cNvPicPr>
          <p:nvPr/>
        </p:nvPicPr>
        <p:blipFill>
          <a:blip r:embed="rId2"/>
          <a:stretch>
            <a:fillRect/>
          </a:stretch>
        </p:blipFill>
        <p:spPr>
          <a:xfrm>
            <a:off x="9780740" y="4813535"/>
            <a:ext cx="1981621" cy="1955546"/>
          </a:xfrm>
          <a:prstGeom prst="rect">
            <a:avLst/>
          </a:prstGeom>
        </p:spPr>
      </p:pic>
      <p:pic>
        <p:nvPicPr>
          <p:cNvPr id="7" name="Picture 6">
            <a:extLst>
              <a:ext uri="{FF2B5EF4-FFF2-40B4-BE49-F238E27FC236}">
                <a16:creationId xmlns="" xmlns:a16="http://schemas.microsoft.com/office/drawing/2014/main" id="{73464E70-705D-46F9-9473-0B5C5FE129E8}"/>
              </a:ext>
            </a:extLst>
          </p:cNvPr>
          <p:cNvPicPr>
            <a:picLocks noChangeAspect="1"/>
          </p:cNvPicPr>
          <p:nvPr/>
        </p:nvPicPr>
        <p:blipFill>
          <a:blip r:embed="rId3"/>
          <a:stretch>
            <a:fillRect/>
          </a:stretch>
        </p:blipFill>
        <p:spPr>
          <a:xfrm>
            <a:off x="6959844" y="4459988"/>
            <a:ext cx="2032550" cy="1331320"/>
          </a:xfrm>
          <a:prstGeom prst="rect">
            <a:avLst/>
          </a:prstGeom>
        </p:spPr>
      </p:pic>
    </p:spTree>
    <p:extLst>
      <p:ext uri="{BB962C8B-B14F-4D97-AF65-F5344CB8AC3E}">
        <p14:creationId xmlns:p14="http://schemas.microsoft.com/office/powerpoint/2010/main" val="97022512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3391233-3487-40B4-95CF-786C7414704C}"/>
              </a:ext>
            </a:extLst>
          </p:cNvPr>
          <p:cNvSpPr>
            <a:spLocks noGrp="1"/>
          </p:cNvSpPr>
          <p:nvPr>
            <p:ph type="title"/>
          </p:nvPr>
        </p:nvSpPr>
        <p:spPr>
          <a:xfrm>
            <a:off x="838200" y="91281"/>
            <a:ext cx="10515600" cy="6675438"/>
          </a:xfrm>
        </p:spPr>
        <p:txBody>
          <a:bodyPr/>
          <a:lstStyle/>
          <a:p>
            <a:r>
              <a:rPr lang="en-MY" dirty="0">
                <a:latin typeface="Times New Roman" panose="02020603050405020304" pitchFamily="18" charset="0"/>
                <a:cs typeface="Times New Roman" panose="02020603050405020304" pitchFamily="18" charset="0"/>
              </a:rPr>
              <a:t>What is required to maintain the Trade Secret</a:t>
            </a:r>
            <a:br>
              <a:rPr lang="en-MY" dirty="0">
                <a:latin typeface="Times New Roman" panose="02020603050405020304" pitchFamily="18" charset="0"/>
                <a:cs typeface="Times New Roman" panose="02020603050405020304" pitchFamily="18" charset="0"/>
              </a:rPr>
            </a:br>
            <a:r>
              <a:rPr lang="en-MY" dirty="0">
                <a:latin typeface="Times New Roman" panose="02020603050405020304" pitchFamily="18" charset="0"/>
                <a:cs typeface="Times New Roman" panose="02020603050405020304" pitchFamily="18" charset="0"/>
              </a:rPr>
              <a:t/>
            </a:r>
            <a:br>
              <a:rPr lang="en-MY" dirty="0">
                <a:latin typeface="Times New Roman" panose="02020603050405020304" pitchFamily="18" charset="0"/>
                <a:cs typeface="Times New Roman" panose="02020603050405020304" pitchFamily="18" charset="0"/>
              </a:rPr>
            </a:br>
            <a:r>
              <a:rPr lang="en-MY" dirty="0">
                <a:latin typeface="Times New Roman" panose="02020603050405020304" pitchFamily="18" charset="0"/>
                <a:cs typeface="Times New Roman" panose="02020603050405020304" pitchFamily="18" charset="0"/>
              </a:rPr>
              <a:t/>
            </a:r>
            <a:br>
              <a:rPr lang="en-MY" dirty="0">
                <a:latin typeface="Times New Roman" panose="02020603050405020304" pitchFamily="18" charset="0"/>
                <a:cs typeface="Times New Roman" panose="02020603050405020304" pitchFamily="18" charset="0"/>
              </a:rPr>
            </a:br>
            <a:r>
              <a:rPr lang="en-MY" dirty="0">
                <a:latin typeface="Times New Roman" panose="02020603050405020304" pitchFamily="18" charset="0"/>
                <a:cs typeface="Times New Roman" panose="02020603050405020304" pitchFamily="18" charset="0"/>
              </a:rPr>
              <a:t/>
            </a:r>
            <a:br>
              <a:rPr lang="en-MY" dirty="0">
                <a:latin typeface="Times New Roman" panose="02020603050405020304" pitchFamily="18" charset="0"/>
                <a:cs typeface="Times New Roman" panose="02020603050405020304" pitchFamily="18" charset="0"/>
              </a:rPr>
            </a:br>
            <a:r>
              <a:rPr lang="en-MY" dirty="0">
                <a:latin typeface="Times New Roman" panose="02020603050405020304" pitchFamily="18" charset="0"/>
                <a:cs typeface="Times New Roman" panose="02020603050405020304" pitchFamily="18" charset="0"/>
              </a:rPr>
              <a:t/>
            </a:r>
            <a:br>
              <a:rPr lang="en-MY" dirty="0">
                <a:latin typeface="Times New Roman" panose="02020603050405020304" pitchFamily="18" charset="0"/>
                <a:cs typeface="Times New Roman" panose="02020603050405020304" pitchFamily="18" charset="0"/>
              </a:rPr>
            </a:br>
            <a:r>
              <a:rPr lang="en-MY" dirty="0">
                <a:latin typeface="Times New Roman" panose="02020603050405020304" pitchFamily="18" charset="0"/>
                <a:cs typeface="Times New Roman" panose="02020603050405020304" pitchFamily="18" charset="0"/>
              </a:rPr>
              <a:t/>
            </a:r>
            <a:br>
              <a:rPr lang="en-MY" dirty="0">
                <a:latin typeface="Times New Roman" panose="02020603050405020304" pitchFamily="18" charset="0"/>
                <a:cs typeface="Times New Roman" panose="02020603050405020304" pitchFamily="18" charset="0"/>
              </a:rPr>
            </a:br>
            <a:r>
              <a:rPr lang="en-MY" dirty="0">
                <a:latin typeface="Times New Roman" panose="02020603050405020304" pitchFamily="18" charset="0"/>
                <a:cs typeface="Times New Roman" panose="02020603050405020304" pitchFamily="18" charset="0"/>
              </a:rPr>
              <a:t/>
            </a:r>
            <a:br>
              <a:rPr lang="en-MY" dirty="0">
                <a:latin typeface="Times New Roman" panose="02020603050405020304" pitchFamily="18" charset="0"/>
                <a:cs typeface="Times New Roman" panose="02020603050405020304" pitchFamily="18" charset="0"/>
              </a:rPr>
            </a:br>
            <a:r>
              <a:rPr lang="en-MY" dirty="0">
                <a:latin typeface="Times New Roman" panose="02020603050405020304" pitchFamily="18" charset="0"/>
                <a:cs typeface="Times New Roman" panose="02020603050405020304" pitchFamily="18" charset="0"/>
              </a:rPr>
              <a:t/>
            </a:r>
            <a:br>
              <a:rPr lang="en-MY" dirty="0">
                <a:latin typeface="Times New Roman" panose="02020603050405020304" pitchFamily="18" charset="0"/>
                <a:cs typeface="Times New Roman" panose="02020603050405020304" pitchFamily="18" charset="0"/>
              </a:rPr>
            </a:br>
            <a:r>
              <a:rPr lang="en-MY" dirty="0">
                <a:latin typeface="Times New Roman" panose="02020603050405020304" pitchFamily="18" charset="0"/>
                <a:cs typeface="Times New Roman" panose="02020603050405020304" pitchFamily="18" charset="0"/>
              </a:rPr>
              <a:t>                                 </a:t>
            </a:r>
            <a:br>
              <a:rPr lang="en-MY" dirty="0">
                <a:latin typeface="Times New Roman" panose="02020603050405020304" pitchFamily="18" charset="0"/>
                <a:cs typeface="Times New Roman" panose="02020603050405020304" pitchFamily="18" charset="0"/>
              </a:rPr>
            </a:br>
            <a:r>
              <a:rPr lang="en-MY" dirty="0">
                <a:latin typeface="Times New Roman" panose="02020603050405020304" pitchFamily="18" charset="0"/>
                <a:cs typeface="Times New Roman" panose="02020603050405020304" pitchFamily="18" charset="0"/>
              </a:rPr>
              <a:t>                             Secrecy</a:t>
            </a:r>
          </a:p>
        </p:txBody>
      </p:sp>
      <p:pic>
        <p:nvPicPr>
          <p:cNvPr id="4" name="Content Placeholder 3">
            <a:extLst>
              <a:ext uri="{FF2B5EF4-FFF2-40B4-BE49-F238E27FC236}">
                <a16:creationId xmlns="" xmlns:a16="http://schemas.microsoft.com/office/drawing/2014/main" id="{D9A1B827-4653-492B-A23E-2C0302FE8082}"/>
              </a:ext>
            </a:extLst>
          </p:cNvPr>
          <p:cNvPicPr>
            <a:picLocks noGrp="1" noChangeAspect="1"/>
          </p:cNvPicPr>
          <p:nvPr>
            <p:ph idx="1"/>
          </p:nvPr>
        </p:nvPicPr>
        <p:blipFill>
          <a:blip r:embed="rId2"/>
          <a:stretch>
            <a:fillRect/>
          </a:stretch>
        </p:blipFill>
        <p:spPr>
          <a:xfrm>
            <a:off x="2607012" y="1880320"/>
            <a:ext cx="5233481" cy="3684099"/>
          </a:xfrm>
          <a:prstGeom prst="rect">
            <a:avLst/>
          </a:prstGeom>
        </p:spPr>
      </p:pic>
    </p:spTree>
    <p:extLst>
      <p:ext uri="{BB962C8B-B14F-4D97-AF65-F5344CB8AC3E}">
        <p14:creationId xmlns:p14="http://schemas.microsoft.com/office/powerpoint/2010/main" val="176107461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F28A552-7B23-437D-989F-109235AAD2EC}"/>
              </a:ext>
            </a:extLst>
          </p:cNvPr>
          <p:cNvSpPr>
            <a:spLocks noGrp="1"/>
          </p:cNvSpPr>
          <p:nvPr>
            <p:ph type="title"/>
          </p:nvPr>
        </p:nvSpPr>
        <p:spPr/>
        <p:txBody>
          <a:bodyPr/>
          <a:lstStyle/>
          <a:p>
            <a:r>
              <a:rPr lang="en-MY" dirty="0">
                <a:latin typeface="Times New Roman" panose="02020603050405020304" pitchFamily="18" charset="0"/>
                <a:cs typeface="Times New Roman" panose="02020603050405020304" pitchFamily="18" charset="0"/>
              </a:rPr>
              <a:t>Ways to Protect the Trade Secrets</a:t>
            </a:r>
          </a:p>
        </p:txBody>
      </p:sp>
      <p:sp>
        <p:nvSpPr>
          <p:cNvPr id="3" name="Content Placeholder 2">
            <a:extLst>
              <a:ext uri="{FF2B5EF4-FFF2-40B4-BE49-F238E27FC236}">
                <a16:creationId xmlns="" xmlns:a16="http://schemas.microsoft.com/office/drawing/2014/main" id="{3D031FA6-4D0B-461F-97D1-386A6ACCF423}"/>
              </a:ext>
            </a:extLst>
          </p:cNvPr>
          <p:cNvSpPr>
            <a:spLocks noGrp="1"/>
          </p:cNvSpPr>
          <p:nvPr>
            <p:ph idx="1"/>
          </p:nvPr>
        </p:nvSpPr>
        <p:spPr/>
        <p:txBody>
          <a:bodyPr>
            <a:noAutofit/>
          </a:bodyPr>
          <a:lstStyle/>
          <a:p>
            <a:pPr algn="l"/>
            <a:r>
              <a:rPr lang="en-US" sz="2400" b="0" i="0" u="none" strike="noStrike" baseline="0" dirty="0">
                <a:solidFill>
                  <a:schemeClr val="accent1"/>
                </a:solidFill>
                <a:latin typeface="Times New Roman" panose="02020603050405020304" pitchFamily="18" charset="0"/>
                <a:cs typeface="Times New Roman" panose="02020603050405020304" pitchFamily="18" charset="0"/>
              </a:rPr>
              <a:t>Restrict access </a:t>
            </a:r>
            <a:r>
              <a:rPr lang="en-US" sz="2400" b="0" i="0" u="none" strike="noStrike" baseline="0" dirty="0">
                <a:latin typeface="Times New Roman" panose="02020603050405020304" pitchFamily="18" charset="0"/>
                <a:cs typeface="Times New Roman" panose="02020603050405020304" pitchFamily="18" charset="0"/>
              </a:rPr>
              <a:t>to the information (lock it away in a secure place, such as a bank vault)</a:t>
            </a:r>
          </a:p>
          <a:p>
            <a:pPr algn="l"/>
            <a:r>
              <a:rPr lang="en-US" sz="2400" b="0" i="0" u="none" strike="noStrike" baseline="0" dirty="0">
                <a:solidFill>
                  <a:schemeClr val="accent1"/>
                </a:solidFill>
                <a:latin typeface="Times New Roman" panose="02020603050405020304" pitchFamily="18" charset="0"/>
                <a:cs typeface="Times New Roman" panose="02020603050405020304" pitchFamily="18" charset="0"/>
              </a:rPr>
              <a:t>Limit the number </a:t>
            </a:r>
            <a:r>
              <a:rPr lang="en-US" sz="2400" b="0" i="0" u="none" strike="noStrike" baseline="0" dirty="0">
                <a:latin typeface="Times New Roman" panose="02020603050405020304" pitchFamily="18" charset="0"/>
                <a:cs typeface="Times New Roman" panose="02020603050405020304" pitchFamily="18" charset="0"/>
              </a:rPr>
              <a:t>of people who know the </a:t>
            </a:r>
            <a:r>
              <a:rPr lang="en-MY" sz="2400" b="0" i="0" u="none" strike="noStrike" baseline="0" dirty="0">
                <a:latin typeface="Times New Roman" panose="02020603050405020304" pitchFamily="18" charset="0"/>
                <a:cs typeface="Times New Roman" panose="02020603050405020304" pitchFamily="18" charset="0"/>
              </a:rPr>
              <a:t>information</a:t>
            </a:r>
          </a:p>
          <a:p>
            <a:pPr algn="l"/>
            <a:r>
              <a:rPr lang="en-US" sz="2400" b="0" i="0" u="none" strike="noStrike" baseline="0" dirty="0">
                <a:latin typeface="Times New Roman" panose="02020603050405020304" pitchFamily="18" charset="0"/>
                <a:cs typeface="Times New Roman" panose="02020603050405020304" pitchFamily="18" charset="0"/>
              </a:rPr>
              <a:t>Have the people who know the trade secret agree in </a:t>
            </a:r>
            <a:r>
              <a:rPr lang="en-US" sz="2400" b="0" i="0" u="none" strike="noStrike" baseline="0" dirty="0">
                <a:solidFill>
                  <a:schemeClr val="accent1"/>
                </a:solidFill>
                <a:latin typeface="Times New Roman" panose="02020603050405020304" pitchFamily="18" charset="0"/>
                <a:cs typeface="Times New Roman" panose="02020603050405020304" pitchFamily="18" charset="0"/>
              </a:rPr>
              <a:t>writing not to disclose </a:t>
            </a:r>
            <a:r>
              <a:rPr lang="en-US" sz="2400" b="0" i="0" u="none" strike="noStrike" baseline="0" dirty="0">
                <a:latin typeface="Times New Roman" panose="02020603050405020304" pitchFamily="18" charset="0"/>
                <a:cs typeface="Times New Roman" panose="02020603050405020304" pitchFamily="18" charset="0"/>
              </a:rPr>
              <a:t>the information </a:t>
            </a:r>
            <a:r>
              <a:rPr lang="en-MY" sz="2400" b="0" i="0" u="none" strike="noStrike" baseline="0" dirty="0">
                <a:latin typeface="Times New Roman" panose="02020603050405020304" pitchFamily="18" charset="0"/>
                <a:cs typeface="Times New Roman" panose="02020603050405020304" pitchFamily="18" charset="0"/>
              </a:rPr>
              <a:t>(sign non-disclosure agreements)</a:t>
            </a:r>
          </a:p>
          <a:p>
            <a:pPr algn="l"/>
            <a:r>
              <a:rPr lang="en-US" sz="2400" b="0" i="0" u="none" strike="noStrike" baseline="0" dirty="0">
                <a:latin typeface="Times New Roman" panose="02020603050405020304" pitchFamily="18" charset="0"/>
                <a:cs typeface="Times New Roman" panose="02020603050405020304" pitchFamily="18" charset="0"/>
              </a:rPr>
              <a:t>Have anyone that comes in contact with the trade secret, directly or indirectly, sign non-disclosure </a:t>
            </a:r>
            <a:r>
              <a:rPr lang="en-MY" sz="2400" b="0" i="0" u="none" strike="noStrike" baseline="0" dirty="0">
                <a:latin typeface="Times New Roman" panose="02020603050405020304" pitchFamily="18" charset="0"/>
                <a:cs typeface="Times New Roman" panose="02020603050405020304" pitchFamily="18" charset="0"/>
              </a:rPr>
              <a:t>agreements</a:t>
            </a:r>
          </a:p>
          <a:p>
            <a:pPr algn="l"/>
            <a:r>
              <a:rPr lang="en-US" sz="2400" b="0" i="0" u="none" strike="noStrike" baseline="0" dirty="0">
                <a:solidFill>
                  <a:schemeClr val="accent1"/>
                </a:solidFill>
                <a:latin typeface="Times New Roman" panose="02020603050405020304" pitchFamily="18" charset="0"/>
                <a:cs typeface="Times New Roman" panose="02020603050405020304" pitchFamily="18" charset="0"/>
              </a:rPr>
              <a:t>Mark any written </a:t>
            </a:r>
            <a:r>
              <a:rPr lang="en-US" sz="2400" b="0" i="0" u="none" strike="noStrike" baseline="0" dirty="0">
                <a:latin typeface="Times New Roman" panose="02020603050405020304" pitchFamily="18" charset="0"/>
                <a:cs typeface="Times New Roman" panose="02020603050405020304" pitchFamily="18" charset="0"/>
              </a:rPr>
              <a:t>material pertaining to the trade </a:t>
            </a:r>
            <a:r>
              <a:rPr lang="en-MY" sz="2400" b="0" i="0" u="none" strike="noStrike" baseline="0" dirty="0">
                <a:latin typeface="Times New Roman" panose="02020603050405020304" pitchFamily="18" charset="0"/>
                <a:cs typeface="Times New Roman" panose="02020603050405020304" pitchFamily="18" charset="0"/>
              </a:rPr>
              <a:t>secret as proprietary</a:t>
            </a:r>
            <a:endParaRPr lang="en-MY"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664705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64BF223-1411-4C54-ABE5-6FC197A37E12}"/>
              </a:ext>
            </a:extLst>
          </p:cNvPr>
          <p:cNvSpPr>
            <a:spLocks noGrp="1"/>
          </p:cNvSpPr>
          <p:nvPr>
            <p:ph type="title"/>
          </p:nvPr>
        </p:nvSpPr>
        <p:spPr/>
        <p:txBody>
          <a:bodyPr/>
          <a:lstStyle/>
          <a:p>
            <a:r>
              <a:rPr lang="en-MY" dirty="0"/>
              <a:t>Advantage of Trade Secret Protection</a:t>
            </a:r>
          </a:p>
        </p:txBody>
      </p:sp>
      <p:sp>
        <p:nvSpPr>
          <p:cNvPr id="3" name="Content Placeholder 2">
            <a:extLst>
              <a:ext uri="{FF2B5EF4-FFF2-40B4-BE49-F238E27FC236}">
                <a16:creationId xmlns="" xmlns:a16="http://schemas.microsoft.com/office/drawing/2014/main" id="{07215C76-8351-4ED0-BD06-63493B32A88A}"/>
              </a:ext>
            </a:extLst>
          </p:cNvPr>
          <p:cNvSpPr>
            <a:spLocks noGrp="1"/>
          </p:cNvSpPr>
          <p:nvPr>
            <p:ph idx="1"/>
          </p:nvPr>
        </p:nvSpPr>
        <p:spPr/>
        <p:txBody>
          <a:bodyPr>
            <a:noAutofit/>
          </a:bodyPr>
          <a:lstStyle/>
          <a:p>
            <a:pPr algn="l"/>
            <a:r>
              <a:rPr lang="en-US" b="0" i="0" u="none" strike="noStrike" baseline="0" dirty="0">
                <a:solidFill>
                  <a:schemeClr val="accent1"/>
                </a:solidFill>
                <a:latin typeface="Times New Roman" panose="02020603050405020304" pitchFamily="18" charset="0"/>
                <a:cs typeface="Times New Roman" panose="02020603050405020304" pitchFamily="18" charset="0"/>
              </a:rPr>
              <a:t>Unlimited duration </a:t>
            </a:r>
            <a:r>
              <a:rPr lang="en-US" b="0" i="0" u="none" strike="noStrike" baseline="0" dirty="0">
                <a:latin typeface="Times New Roman" panose="02020603050405020304" pitchFamily="18" charset="0"/>
                <a:cs typeface="Times New Roman" panose="02020603050405020304" pitchFamily="18" charset="0"/>
              </a:rPr>
              <a:t>-trade secrets could potentially last longer than patents (20 years) </a:t>
            </a:r>
            <a:r>
              <a:rPr lang="en-MY" b="0" i="0" u="none" strike="noStrike" baseline="0" dirty="0">
                <a:latin typeface="Times New Roman" panose="02020603050405020304" pitchFamily="18" charset="0"/>
                <a:cs typeface="Times New Roman" panose="02020603050405020304" pitchFamily="18" charset="0"/>
              </a:rPr>
              <a:t>and copyrights</a:t>
            </a:r>
          </a:p>
          <a:p>
            <a:pPr algn="l"/>
            <a:r>
              <a:rPr lang="en-US" b="0" i="0" u="none" strike="noStrike" baseline="0" dirty="0">
                <a:latin typeface="Times New Roman" panose="02020603050405020304" pitchFamily="18" charset="0"/>
                <a:cs typeface="Times New Roman" panose="02020603050405020304" pitchFamily="18" charset="0"/>
              </a:rPr>
              <a:t>Your protection is theoretically </a:t>
            </a:r>
            <a:r>
              <a:rPr lang="en-US" b="0" i="0" u="none" strike="noStrike" baseline="0" dirty="0">
                <a:solidFill>
                  <a:schemeClr val="accent1"/>
                </a:solidFill>
                <a:latin typeface="Times New Roman" panose="02020603050405020304" pitchFamily="18" charset="0"/>
                <a:cs typeface="Times New Roman" panose="02020603050405020304" pitchFamily="18" charset="0"/>
              </a:rPr>
              <a:t>worldwide.</a:t>
            </a:r>
          </a:p>
          <a:p>
            <a:pPr algn="l"/>
            <a:r>
              <a:rPr lang="en-MY" b="0" i="0" u="none" strike="noStrike" baseline="0" dirty="0">
                <a:solidFill>
                  <a:schemeClr val="accent1"/>
                </a:solidFill>
                <a:latin typeface="Times New Roman" panose="02020603050405020304" pitchFamily="18" charset="0"/>
                <a:cs typeface="Times New Roman" panose="02020603050405020304" pitchFamily="18" charset="0"/>
              </a:rPr>
              <a:t>No application </a:t>
            </a:r>
            <a:r>
              <a:rPr lang="en-MY" b="0" i="0" u="none" strike="noStrike" baseline="0" dirty="0">
                <a:latin typeface="Times New Roman" panose="02020603050405020304" pitchFamily="18" charset="0"/>
                <a:cs typeface="Times New Roman" panose="02020603050405020304" pitchFamily="18" charset="0"/>
              </a:rPr>
              <a:t>required</a:t>
            </a:r>
          </a:p>
          <a:p>
            <a:pPr algn="l"/>
            <a:r>
              <a:rPr lang="en-MY" b="0" i="0" u="none" strike="noStrike" baseline="0" dirty="0">
                <a:solidFill>
                  <a:schemeClr val="accent1"/>
                </a:solidFill>
                <a:latin typeface="Times New Roman" panose="02020603050405020304" pitchFamily="18" charset="0"/>
                <a:cs typeface="Times New Roman" panose="02020603050405020304" pitchFamily="18" charset="0"/>
              </a:rPr>
              <a:t>No registration </a:t>
            </a:r>
            <a:r>
              <a:rPr lang="en-MY" b="0" i="0" u="none" strike="noStrike" baseline="0" dirty="0">
                <a:latin typeface="Times New Roman" panose="02020603050405020304" pitchFamily="18" charset="0"/>
                <a:cs typeface="Times New Roman" panose="02020603050405020304" pitchFamily="18" charset="0"/>
              </a:rPr>
              <a:t>costs</a:t>
            </a:r>
          </a:p>
          <a:p>
            <a:pPr algn="l"/>
            <a:r>
              <a:rPr lang="en-US" b="0" i="0" u="none" strike="noStrike" baseline="0" dirty="0">
                <a:solidFill>
                  <a:schemeClr val="accent1"/>
                </a:solidFill>
                <a:latin typeface="Times New Roman" panose="02020603050405020304" pitchFamily="18" charset="0"/>
                <a:cs typeface="Times New Roman" panose="02020603050405020304" pitchFamily="18" charset="0"/>
              </a:rPr>
              <a:t>No public disclosure </a:t>
            </a:r>
            <a:r>
              <a:rPr lang="en-US" b="0" i="0" u="none" strike="noStrike" baseline="0" dirty="0">
                <a:latin typeface="Times New Roman" panose="02020603050405020304" pitchFamily="18" charset="0"/>
                <a:cs typeface="Times New Roman" panose="02020603050405020304" pitchFamily="18" charset="0"/>
              </a:rPr>
              <a:t>or registration with </a:t>
            </a:r>
            <a:r>
              <a:rPr lang="en-MY" b="0" i="0" u="none" strike="noStrike" baseline="0" dirty="0">
                <a:latin typeface="Times New Roman" panose="02020603050405020304" pitchFamily="18" charset="0"/>
                <a:cs typeface="Times New Roman" panose="02020603050405020304" pitchFamily="18" charset="0"/>
              </a:rPr>
              <a:t>government agency</a:t>
            </a:r>
          </a:p>
          <a:p>
            <a:pPr algn="l"/>
            <a:r>
              <a:rPr lang="en-MY" b="0" i="0" u="none" strike="noStrike" baseline="0" dirty="0">
                <a:solidFill>
                  <a:schemeClr val="accent1"/>
                </a:solidFill>
                <a:latin typeface="Times New Roman" panose="02020603050405020304" pitchFamily="18" charset="0"/>
                <a:cs typeface="Times New Roman" panose="02020603050405020304" pitchFamily="18" charset="0"/>
              </a:rPr>
              <a:t>Effective immediately</a:t>
            </a:r>
            <a:endParaRPr lang="en-MY" dirty="0">
              <a:solidFill>
                <a:schemeClr val="accent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631821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152400"/>
            <a:ext cx="8686800" cy="762000"/>
          </a:xfrm>
        </p:spPr>
        <p:txBody>
          <a:bodyPr>
            <a:normAutofit/>
          </a:bodyPr>
          <a:lstStyle/>
          <a:p>
            <a:r>
              <a:rPr lang="en-US" b="1" dirty="0"/>
              <a:t>Open Source Software</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95841" y="2362200"/>
            <a:ext cx="3243559" cy="2895600"/>
          </a:xfrm>
          <a:prstGeom prst="rect">
            <a:avLst/>
          </a:prstGeom>
        </p:spPr>
      </p:pic>
      <p:sp>
        <p:nvSpPr>
          <p:cNvPr id="6" name="Content Placeholder 5">
            <a:extLst>
              <a:ext uri="{FF2B5EF4-FFF2-40B4-BE49-F238E27FC236}">
                <a16:creationId xmlns="" xmlns:a16="http://schemas.microsoft.com/office/drawing/2014/main" id="{47527324-C617-4B6D-A0EA-A05AE5819E4F}"/>
              </a:ext>
            </a:extLst>
          </p:cNvPr>
          <p:cNvSpPr>
            <a:spLocks noGrp="1"/>
          </p:cNvSpPr>
          <p:nvPr>
            <p:ph idx="1"/>
          </p:nvPr>
        </p:nvSpPr>
        <p:spPr>
          <a:xfrm>
            <a:off x="838200" y="1209964"/>
            <a:ext cx="6597073" cy="4966999"/>
          </a:xfrm>
        </p:spPr>
        <p:txBody>
          <a:bodyPr>
            <a:normAutofit fontScale="92500"/>
          </a:bodyPr>
          <a:lstStyle/>
          <a:p>
            <a:pPr algn="l">
              <a:lnSpc>
                <a:spcPct val="300000"/>
              </a:lnSpc>
            </a:pPr>
            <a:r>
              <a:rPr lang="en-MY" sz="1800" b="1" i="0" u="none" strike="noStrike" baseline="0" dirty="0">
                <a:solidFill>
                  <a:srgbClr val="000000"/>
                </a:solidFill>
                <a:latin typeface="Calibri-Bold"/>
              </a:rPr>
              <a:t>Open-source software </a:t>
            </a:r>
            <a:r>
              <a:rPr lang="en-MY" sz="1800" b="0" i="0" u="none" strike="noStrike" baseline="0" dirty="0">
                <a:solidFill>
                  <a:srgbClr val="000000"/>
                </a:solidFill>
                <a:latin typeface="Calibri" panose="020F0502020204030204" pitchFamily="34" charset="0"/>
              </a:rPr>
              <a:t>(</a:t>
            </a:r>
            <a:r>
              <a:rPr lang="en-MY" sz="1800" b="1" i="0" u="none" strike="noStrike" baseline="0" dirty="0">
                <a:solidFill>
                  <a:srgbClr val="000000"/>
                </a:solidFill>
                <a:latin typeface="Calibri-Bold"/>
              </a:rPr>
              <a:t>OSS</a:t>
            </a:r>
            <a:r>
              <a:rPr lang="en-MY" sz="2000" i="0" u="none" strike="noStrike" baseline="0" dirty="0">
                <a:solidFill>
                  <a:srgbClr val="000000"/>
                </a:solidFill>
                <a:latin typeface="Calibri" panose="020F0502020204030204" pitchFamily="34" charset="0"/>
              </a:rPr>
              <a:t>) is </a:t>
            </a:r>
            <a:r>
              <a:rPr lang="en-US" sz="2000" i="0" u="none" strike="noStrike" baseline="0" dirty="0">
                <a:solidFill>
                  <a:srgbClr val="000000"/>
                </a:solidFill>
                <a:latin typeface="Calibri" panose="020F0502020204030204" pitchFamily="34" charset="0"/>
              </a:rPr>
              <a:t>computer software that is available in </a:t>
            </a:r>
            <a:r>
              <a:rPr lang="en-MY" sz="2000" i="0" u="none" strike="noStrike" baseline="0" dirty="0">
                <a:solidFill>
                  <a:srgbClr val="000000"/>
                </a:solidFill>
                <a:latin typeface="Calibri" panose="020F0502020204030204" pitchFamily="34" charset="0"/>
              </a:rPr>
              <a:t>source code form: the source code </a:t>
            </a:r>
            <a:r>
              <a:rPr lang="en-US" sz="2000" i="0" u="none" strike="noStrike" baseline="0" dirty="0">
                <a:solidFill>
                  <a:srgbClr val="000000"/>
                </a:solidFill>
                <a:latin typeface="Calibri" panose="020F0502020204030204" pitchFamily="34" charset="0"/>
              </a:rPr>
              <a:t>and certain other rights normally reserved for copyright holders are provided under a software license that permits users to study, change, improve and at times also to </a:t>
            </a:r>
            <a:r>
              <a:rPr lang="en-MY" sz="2000" i="0" u="none" strike="noStrike" baseline="0" dirty="0">
                <a:solidFill>
                  <a:srgbClr val="000000"/>
                </a:solidFill>
                <a:latin typeface="Calibri" panose="020F0502020204030204" pitchFamily="34" charset="0"/>
              </a:rPr>
              <a:t>distribute the software.</a:t>
            </a:r>
          </a:p>
          <a:p>
            <a:pPr marL="0" indent="0" algn="l">
              <a:buNone/>
            </a:pPr>
            <a:endParaRPr lang="en-MY" sz="1800" b="0" i="0" u="none" strike="noStrike" baseline="0" dirty="0">
              <a:solidFill>
                <a:srgbClr val="000000"/>
              </a:solidFill>
              <a:latin typeface="AEnigmaScrawl4BRK"/>
            </a:endParaRPr>
          </a:p>
        </p:txBody>
      </p:sp>
    </p:spTree>
    <p:extLst>
      <p:ext uri="{BB962C8B-B14F-4D97-AF65-F5344CB8AC3E}">
        <p14:creationId xmlns:p14="http://schemas.microsoft.com/office/powerpoint/2010/main" val="287084082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 xmlns:a16="http://schemas.microsoft.com/office/drawing/2014/main" id="{01D9C573-0935-4A4C-9701-7C6442693385}"/>
              </a:ext>
            </a:extLst>
          </p:cNvPr>
          <p:cNvSpPr>
            <a:spLocks noGrp="1"/>
          </p:cNvSpPr>
          <p:nvPr>
            <p:ph type="title"/>
          </p:nvPr>
        </p:nvSpPr>
        <p:spPr>
          <a:xfrm>
            <a:off x="838200" y="365125"/>
            <a:ext cx="10515600" cy="1325563"/>
          </a:xfrm>
        </p:spPr>
        <p:txBody>
          <a:bodyPr>
            <a:normAutofit/>
          </a:bodyPr>
          <a:lstStyle/>
          <a:p>
            <a:r>
              <a:rPr lang="en-US" b="1" dirty="0"/>
              <a:t>Open Source Software</a:t>
            </a:r>
          </a:p>
        </p:txBody>
      </p:sp>
      <p:pic>
        <p:nvPicPr>
          <p:cNvPr id="10" name="Content Placeholder 9">
            <a:extLst>
              <a:ext uri="{FF2B5EF4-FFF2-40B4-BE49-F238E27FC236}">
                <a16:creationId xmlns="" xmlns:a16="http://schemas.microsoft.com/office/drawing/2014/main" id="{9157CB9F-FA3B-42D4-A88E-DAA5AFAF9477}"/>
              </a:ext>
            </a:extLst>
          </p:cNvPr>
          <p:cNvPicPr>
            <a:picLocks noGrp="1" noChangeAspect="1"/>
          </p:cNvPicPr>
          <p:nvPr>
            <p:ph idx="1"/>
          </p:nvPr>
        </p:nvPicPr>
        <p:blipFill>
          <a:blip r:embed="rId2"/>
          <a:stretch>
            <a:fillRect/>
          </a:stretch>
        </p:blipFill>
        <p:spPr>
          <a:xfrm>
            <a:off x="5576172" y="2141537"/>
            <a:ext cx="4032792" cy="4351338"/>
          </a:xfrm>
          <a:prstGeom prst="rect">
            <a:avLst/>
          </a:prstGeom>
        </p:spPr>
      </p:pic>
      <p:pic>
        <p:nvPicPr>
          <p:cNvPr id="8" name="Picture 7">
            <a:extLst>
              <a:ext uri="{FF2B5EF4-FFF2-40B4-BE49-F238E27FC236}">
                <a16:creationId xmlns="" xmlns:a16="http://schemas.microsoft.com/office/drawing/2014/main" id="{9F567D87-9AD8-45C3-8592-76A733200636}"/>
              </a:ext>
            </a:extLst>
          </p:cNvPr>
          <p:cNvPicPr>
            <a:picLocks noChangeAspect="1"/>
          </p:cNvPicPr>
          <p:nvPr/>
        </p:nvPicPr>
        <p:blipFill>
          <a:blip r:embed="rId3"/>
          <a:stretch>
            <a:fillRect/>
          </a:stretch>
        </p:blipFill>
        <p:spPr>
          <a:xfrm>
            <a:off x="838200" y="1825625"/>
            <a:ext cx="3761234" cy="4058330"/>
          </a:xfrm>
          <a:prstGeom prst="rect">
            <a:avLst/>
          </a:prstGeom>
        </p:spPr>
      </p:pic>
    </p:spTree>
    <p:extLst>
      <p:ext uri="{BB962C8B-B14F-4D97-AF65-F5344CB8AC3E}">
        <p14:creationId xmlns:p14="http://schemas.microsoft.com/office/powerpoint/2010/main" val="3384328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barn(inVertical)">
                                      <p:cBhvr>
                                        <p:cTn id="1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 xmlns:a16="http://schemas.microsoft.com/office/drawing/2014/main" id="{DBB060B5-EB18-4FA9-81DA-FFEBF8BDA320}"/>
              </a:ext>
            </a:extLst>
          </p:cNvPr>
          <p:cNvPicPr>
            <a:picLocks noGrp="1" noChangeAspect="1"/>
          </p:cNvPicPr>
          <p:nvPr>
            <p:ph idx="1"/>
          </p:nvPr>
        </p:nvPicPr>
        <p:blipFill>
          <a:blip r:embed="rId2"/>
          <a:stretch>
            <a:fillRect/>
          </a:stretch>
        </p:blipFill>
        <p:spPr>
          <a:xfrm>
            <a:off x="1023257" y="1825625"/>
            <a:ext cx="9220200" cy="4897362"/>
          </a:xfrm>
          <a:prstGeom prst="rect">
            <a:avLst/>
          </a:prstGeom>
        </p:spPr>
      </p:pic>
      <p:sp>
        <p:nvSpPr>
          <p:cNvPr id="5" name="Title 1">
            <a:extLst>
              <a:ext uri="{FF2B5EF4-FFF2-40B4-BE49-F238E27FC236}">
                <a16:creationId xmlns="" xmlns:a16="http://schemas.microsoft.com/office/drawing/2014/main" id="{8020DCD4-AB98-4CAB-8182-1285C7C466EA}"/>
              </a:ext>
            </a:extLst>
          </p:cNvPr>
          <p:cNvSpPr>
            <a:spLocks noGrp="1"/>
          </p:cNvSpPr>
          <p:nvPr>
            <p:ph type="title"/>
          </p:nvPr>
        </p:nvSpPr>
        <p:spPr>
          <a:xfrm>
            <a:off x="838200" y="365125"/>
            <a:ext cx="10515600" cy="1325563"/>
          </a:xfrm>
        </p:spPr>
        <p:txBody>
          <a:bodyPr>
            <a:normAutofit/>
          </a:bodyPr>
          <a:lstStyle/>
          <a:p>
            <a:r>
              <a:rPr lang="en-US" b="1" dirty="0"/>
              <a:t>Open Source Software</a:t>
            </a:r>
          </a:p>
        </p:txBody>
      </p:sp>
    </p:spTree>
    <p:extLst>
      <p:ext uri="{BB962C8B-B14F-4D97-AF65-F5344CB8AC3E}">
        <p14:creationId xmlns:p14="http://schemas.microsoft.com/office/powerpoint/2010/main" val="23612075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C256CFA-6146-4290-935D-30BBE76D85AE}"/>
              </a:ext>
            </a:extLst>
          </p:cNvPr>
          <p:cNvSpPr>
            <a:spLocks noGrp="1"/>
          </p:cNvSpPr>
          <p:nvPr>
            <p:ph type="title"/>
          </p:nvPr>
        </p:nvSpPr>
        <p:spPr/>
        <p:txBody>
          <a:bodyPr/>
          <a:lstStyle/>
          <a:p>
            <a:r>
              <a:rPr lang="en-MY" dirty="0"/>
              <a:t>Benefits of Open Source Software</a:t>
            </a:r>
          </a:p>
        </p:txBody>
      </p:sp>
      <p:sp>
        <p:nvSpPr>
          <p:cNvPr id="3" name="Content Placeholder 2">
            <a:extLst>
              <a:ext uri="{FF2B5EF4-FFF2-40B4-BE49-F238E27FC236}">
                <a16:creationId xmlns="" xmlns:a16="http://schemas.microsoft.com/office/drawing/2014/main" id="{01CA2537-F9C4-4594-8BFD-BC3193B96ED9}"/>
              </a:ext>
            </a:extLst>
          </p:cNvPr>
          <p:cNvSpPr>
            <a:spLocks noGrp="1"/>
          </p:cNvSpPr>
          <p:nvPr>
            <p:ph idx="1"/>
          </p:nvPr>
        </p:nvSpPr>
        <p:spPr/>
        <p:txBody>
          <a:bodyPr>
            <a:normAutofit/>
          </a:bodyPr>
          <a:lstStyle/>
          <a:p>
            <a:pPr algn="l"/>
            <a:r>
              <a:rPr lang="en-MY" sz="1800" b="1" i="0" u="none" strike="noStrike" baseline="0" dirty="0">
                <a:latin typeface="AgencyFB-Bold"/>
              </a:rPr>
              <a:t>Security</a:t>
            </a:r>
          </a:p>
          <a:p>
            <a:pPr algn="l"/>
            <a:r>
              <a:rPr lang="en-MY" sz="1800" b="1" i="0" u="none" strike="noStrike" baseline="0" dirty="0">
                <a:latin typeface="AgencyFB-Bold"/>
              </a:rPr>
              <a:t>Quality</a:t>
            </a:r>
          </a:p>
          <a:p>
            <a:pPr algn="l"/>
            <a:r>
              <a:rPr lang="en-MY" sz="1800" b="1" i="0" u="none" strike="noStrike" baseline="0" dirty="0">
                <a:latin typeface="AgencyFB-Bold"/>
              </a:rPr>
              <a:t>Customizability</a:t>
            </a:r>
          </a:p>
          <a:p>
            <a:pPr algn="l"/>
            <a:r>
              <a:rPr lang="en-MY" sz="1800" b="1" i="0" u="none" strike="noStrike" baseline="0" dirty="0">
                <a:latin typeface="AgencyFB-Bold"/>
              </a:rPr>
              <a:t>Freedom</a:t>
            </a:r>
          </a:p>
          <a:p>
            <a:pPr algn="l"/>
            <a:r>
              <a:rPr lang="en-MY" sz="1800" b="1" i="0" u="none" strike="noStrike" baseline="0" dirty="0">
                <a:latin typeface="AgencyFB-Bold"/>
              </a:rPr>
              <a:t>Flexibility</a:t>
            </a:r>
          </a:p>
          <a:p>
            <a:pPr algn="l"/>
            <a:r>
              <a:rPr lang="en-MY" sz="1800" b="1" i="0" u="none" strike="noStrike" baseline="0" dirty="0">
                <a:latin typeface="AgencyFB-Bold"/>
              </a:rPr>
              <a:t>Interoperability</a:t>
            </a:r>
          </a:p>
          <a:p>
            <a:pPr algn="l"/>
            <a:r>
              <a:rPr lang="en-MY" sz="1800" b="1" i="0" u="none" strike="noStrike" baseline="0" dirty="0">
                <a:latin typeface="AgencyFB-Bold"/>
              </a:rPr>
              <a:t>Audit ability</a:t>
            </a:r>
          </a:p>
          <a:p>
            <a:pPr algn="l"/>
            <a:r>
              <a:rPr lang="en-MY" sz="1800" b="1" i="0" u="none" strike="noStrike" baseline="0" dirty="0">
                <a:latin typeface="AgencyFB-Bold"/>
              </a:rPr>
              <a:t>Support Options</a:t>
            </a:r>
          </a:p>
          <a:p>
            <a:pPr algn="l"/>
            <a:r>
              <a:rPr lang="en-MY" sz="1800" b="1" i="0" u="none" strike="noStrike" baseline="0" dirty="0">
                <a:latin typeface="AgencyFB-Bold"/>
              </a:rPr>
              <a:t>Cost</a:t>
            </a:r>
          </a:p>
          <a:p>
            <a:pPr algn="l"/>
            <a:r>
              <a:rPr lang="en-MY" sz="1800" b="1" i="0" u="none" strike="noStrike" baseline="0" dirty="0">
                <a:latin typeface="AgencyFB-Bold"/>
              </a:rPr>
              <a:t>Try Before You Buy</a:t>
            </a:r>
          </a:p>
        </p:txBody>
      </p:sp>
    </p:spTree>
    <p:extLst>
      <p:ext uri="{BB962C8B-B14F-4D97-AF65-F5344CB8AC3E}">
        <p14:creationId xmlns:p14="http://schemas.microsoft.com/office/powerpoint/2010/main" val="337384135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E4C2E8C-041C-4E99-8761-E00DC3306A0F}"/>
              </a:ext>
            </a:extLst>
          </p:cNvPr>
          <p:cNvSpPr>
            <a:spLocks noGrp="1"/>
          </p:cNvSpPr>
          <p:nvPr>
            <p:ph type="title"/>
          </p:nvPr>
        </p:nvSpPr>
        <p:spPr/>
        <p:txBody>
          <a:bodyPr/>
          <a:lstStyle/>
          <a:p>
            <a:r>
              <a:rPr lang="en-US" dirty="0"/>
              <a:t>Freeware vs. Shareware </a:t>
            </a:r>
            <a:endParaRPr lang="en-MY" dirty="0"/>
          </a:p>
        </p:txBody>
      </p:sp>
      <p:sp>
        <p:nvSpPr>
          <p:cNvPr id="3" name="Content Placeholder 2">
            <a:extLst>
              <a:ext uri="{FF2B5EF4-FFF2-40B4-BE49-F238E27FC236}">
                <a16:creationId xmlns="" xmlns:a16="http://schemas.microsoft.com/office/drawing/2014/main" id="{EFCC473A-C7C6-48C5-B88E-540C27AA9AF1}"/>
              </a:ext>
            </a:extLst>
          </p:cNvPr>
          <p:cNvSpPr>
            <a:spLocks noGrp="1"/>
          </p:cNvSpPr>
          <p:nvPr>
            <p:ph idx="1"/>
          </p:nvPr>
        </p:nvSpPr>
        <p:spPr/>
        <p:txBody>
          <a:bodyPr>
            <a:normAutofit fontScale="85000" lnSpcReduction="20000"/>
          </a:bodyPr>
          <a:lstStyle/>
          <a:p>
            <a:pPr marL="0" indent="0">
              <a:buNone/>
            </a:pPr>
            <a:r>
              <a:rPr lang="en-US" b="1" i="0" dirty="0">
                <a:solidFill>
                  <a:schemeClr val="accent1"/>
                </a:solidFill>
                <a:effectLst/>
                <a:latin typeface="Times New Roman" panose="02020603050405020304" pitchFamily="18" charset="0"/>
                <a:cs typeface="Times New Roman" panose="02020603050405020304" pitchFamily="18" charset="0"/>
              </a:rPr>
              <a:t>Freeware software</a:t>
            </a:r>
            <a:r>
              <a:rPr lang="en-US" b="0" i="0" dirty="0">
                <a:solidFill>
                  <a:schemeClr val="accent1"/>
                </a:solidFill>
                <a:effectLst/>
                <a:latin typeface="Times New Roman" panose="02020603050405020304" pitchFamily="18" charset="0"/>
                <a:cs typeface="Times New Roman" panose="02020603050405020304" pitchFamily="18" charset="0"/>
              </a:rPr>
              <a:t> </a:t>
            </a:r>
            <a:r>
              <a:rPr lang="en-US" b="0" i="0" dirty="0">
                <a:effectLst/>
                <a:latin typeface="Times New Roman" panose="02020603050405020304" pitchFamily="18" charset="0"/>
                <a:cs typeface="Times New Roman" panose="02020603050405020304" pitchFamily="18" charset="0"/>
              </a:rPr>
              <a:t>is a software that is </a:t>
            </a:r>
            <a:r>
              <a:rPr lang="en-US" b="0" i="1" dirty="0">
                <a:effectLst/>
                <a:latin typeface="Times New Roman" panose="02020603050405020304" pitchFamily="18" charset="0"/>
                <a:cs typeface="Times New Roman" panose="02020603050405020304" pitchFamily="18" charset="0"/>
              </a:rPr>
              <a:t>available free of cost</a:t>
            </a:r>
            <a:r>
              <a:rPr lang="en-US" b="0" i="0" dirty="0">
                <a:effectLst/>
                <a:latin typeface="Times New Roman" panose="02020603050405020304" pitchFamily="18" charset="0"/>
                <a:cs typeface="Times New Roman" panose="02020603050405020304" pitchFamily="18" charset="0"/>
              </a:rPr>
              <a:t>. An user can download freeware from internet and uses it. These </a:t>
            </a:r>
            <a:r>
              <a:rPr lang="en-US" b="0" i="0" dirty="0" err="1">
                <a:effectLst/>
                <a:latin typeface="Times New Roman" panose="02020603050405020304" pitchFamily="18" charset="0"/>
                <a:cs typeface="Times New Roman" panose="02020603050405020304" pitchFamily="18" charset="0"/>
              </a:rPr>
              <a:t>softwares</a:t>
            </a:r>
            <a:r>
              <a:rPr lang="en-US" b="0" i="0" dirty="0">
                <a:effectLst/>
                <a:latin typeface="Times New Roman" panose="02020603050405020304" pitchFamily="18" charset="0"/>
                <a:cs typeface="Times New Roman" panose="02020603050405020304" pitchFamily="18" charset="0"/>
              </a:rPr>
              <a:t> </a:t>
            </a:r>
            <a:r>
              <a:rPr lang="en-US" b="0" i="1" dirty="0">
                <a:effectLst/>
                <a:latin typeface="Times New Roman" panose="02020603050405020304" pitchFamily="18" charset="0"/>
                <a:cs typeface="Times New Roman" panose="02020603050405020304" pitchFamily="18" charset="0"/>
              </a:rPr>
              <a:t>do not provide any freedom of modifying, sharing and studying the program</a:t>
            </a:r>
            <a:r>
              <a:rPr lang="en-US" b="0" i="0" dirty="0">
                <a:effectLst/>
                <a:latin typeface="Times New Roman" panose="02020603050405020304" pitchFamily="18" charset="0"/>
                <a:cs typeface="Times New Roman" panose="02020603050405020304" pitchFamily="18" charset="0"/>
              </a:rPr>
              <a:t> as in open source software. Freeware is </a:t>
            </a:r>
            <a:r>
              <a:rPr lang="en-US" b="0" i="1" dirty="0">
                <a:effectLst/>
                <a:latin typeface="Times New Roman" panose="02020603050405020304" pitchFamily="18" charset="0"/>
                <a:cs typeface="Times New Roman" panose="02020603050405020304" pitchFamily="18" charset="0"/>
              </a:rPr>
              <a:t>closed source</a:t>
            </a:r>
            <a:r>
              <a:rPr lang="en-US" b="0" i="0" dirty="0">
                <a:effectLst/>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effectLst/>
                <a:latin typeface="Times New Roman" panose="02020603050405020304" pitchFamily="18" charset="0"/>
                <a:cs typeface="Times New Roman" panose="02020603050405020304" pitchFamily="18" charset="0"/>
              </a:rPr>
              <a:t>Users prefer freeware because of following reasons –</a:t>
            </a:r>
          </a:p>
          <a:p>
            <a:pPr marL="0" indent="0">
              <a:buNone/>
            </a:pPr>
            <a:endParaRPr lang="en-US" b="0" i="0" dirty="0">
              <a:effectLst/>
              <a:latin typeface="Times New Roman" panose="02020603050405020304" pitchFamily="18" charset="0"/>
              <a:cs typeface="Times New Roman" panose="02020603050405020304" pitchFamily="18" charset="0"/>
            </a:endParaRPr>
          </a:p>
          <a:p>
            <a:pPr lvl="1" fontAlgn="base"/>
            <a:r>
              <a:rPr lang="en-US" b="0" i="0" dirty="0">
                <a:effectLst/>
                <a:latin typeface="Times New Roman" panose="02020603050405020304" pitchFamily="18" charset="0"/>
                <a:cs typeface="Times New Roman" panose="02020603050405020304" pitchFamily="18" charset="0"/>
              </a:rPr>
              <a:t>Available free of cost</a:t>
            </a:r>
          </a:p>
          <a:p>
            <a:pPr lvl="1" fontAlgn="base"/>
            <a:r>
              <a:rPr lang="en-US" b="0" i="0" dirty="0">
                <a:effectLst/>
                <a:latin typeface="Times New Roman" panose="02020603050405020304" pitchFamily="18" charset="0"/>
                <a:cs typeface="Times New Roman" panose="02020603050405020304" pitchFamily="18" charset="0"/>
              </a:rPr>
              <a:t>Can be distributed free of cost</a:t>
            </a:r>
          </a:p>
          <a:p>
            <a:pPr marL="0" indent="0" algn="l" fontAlgn="base">
              <a:buNone/>
            </a:pPr>
            <a:r>
              <a:rPr lang="en-US" b="0" i="0" dirty="0">
                <a:effectLst/>
                <a:latin typeface="Times New Roman" panose="02020603050405020304" pitchFamily="18" charset="0"/>
                <a:cs typeface="Times New Roman" panose="02020603050405020304" pitchFamily="18" charset="0"/>
              </a:rPr>
              <a:t>Some examples of freeware software are –</a:t>
            </a:r>
          </a:p>
          <a:p>
            <a:pPr lvl="1" fontAlgn="base"/>
            <a:r>
              <a:rPr lang="en-US" b="0" i="0" dirty="0">
                <a:effectLst/>
                <a:latin typeface="Times New Roman" panose="02020603050405020304" pitchFamily="18" charset="0"/>
                <a:cs typeface="Times New Roman" panose="02020603050405020304" pitchFamily="18" charset="0"/>
              </a:rPr>
              <a:t>Adobe PDF</a:t>
            </a:r>
          </a:p>
          <a:p>
            <a:pPr lvl="1" fontAlgn="base"/>
            <a:r>
              <a:rPr lang="en-US" b="0" i="0" dirty="0">
                <a:effectLst/>
                <a:latin typeface="Times New Roman" panose="02020603050405020304" pitchFamily="18" charset="0"/>
                <a:cs typeface="Times New Roman" panose="02020603050405020304" pitchFamily="18" charset="0"/>
              </a:rPr>
              <a:t>yahoo messenger</a:t>
            </a:r>
          </a:p>
          <a:p>
            <a:pPr lvl="1" fontAlgn="base"/>
            <a:r>
              <a:rPr lang="en-US" b="0" i="0" dirty="0">
                <a:effectLst/>
                <a:latin typeface="Times New Roman" panose="02020603050405020304" pitchFamily="18" charset="0"/>
                <a:cs typeface="Times New Roman" panose="02020603050405020304" pitchFamily="18" charset="0"/>
              </a:rPr>
              <a:t>Google Talk</a:t>
            </a:r>
          </a:p>
          <a:p>
            <a:pPr lvl="1" fontAlgn="base"/>
            <a:r>
              <a:rPr lang="en-US" b="0" i="0" dirty="0">
                <a:effectLst/>
                <a:latin typeface="Times New Roman" panose="02020603050405020304" pitchFamily="18" charset="0"/>
                <a:cs typeface="Times New Roman" panose="02020603050405020304" pitchFamily="18" charset="0"/>
              </a:rPr>
              <a:t>MSN messenger</a:t>
            </a:r>
          </a:p>
          <a:p>
            <a:endParaRPr lang="en-MY"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9066081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9A0A1BC-6DEE-46E7-8749-E259D16A6870}"/>
              </a:ext>
            </a:extLst>
          </p:cNvPr>
          <p:cNvSpPr>
            <a:spLocks noGrp="1"/>
          </p:cNvSpPr>
          <p:nvPr>
            <p:ph type="title"/>
          </p:nvPr>
        </p:nvSpPr>
        <p:spPr/>
        <p:txBody>
          <a:bodyPr/>
          <a:lstStyle/>
          <a:p>
            <a:r>
              <a:rPr lang="en-US" dirty="0"/>
              <a:t>Freeware vs. Shareware </a:t>
            </a:r>
            <a:endParaRPr lang="en-MY" dirty="0"/>
          </a:p>
        </p:txBody>
      </p:sp>
      <p:sp>
        <p:nvSpPr>
          <p:cNvPr id="3" name="Content Placeholder 2">
            <a:extLst>
              <a:ext uri="{FF2B5EF4-FFF2-40B4-BE49-F238E27FC236}">
                <a16:creationId xmlns="" xmlns:a16="http://schemas.microsoft.com/office/drawing/2014/main" id="{130F9B4E-3456-4607-A270-E5BB39E7E7F0}"/>
              </a:ext>
            </a:extLst>
          </p:cNvPr>
          <p:cNvSpPr>
            <a:spLocks noGrp="1"/>
          </p:cNvSpPr>
          <p:nvPr>
            <p:ph idx="1"/>
          </p:nvPr>
        </p:nvSpPr>
        <p:spPr/>
        <p:txBody>
          <a:bodyPr>
            <a:normAutofit fontScale="92500" lnSpcReduction="10000"/>
          </a:bodyPr>
          <a:lstStyle/>
          <a:p>
            <a:pPr marL="0" indent="0" algn="l" fontAlgn="base">
              <a:buNone/>
            </a:pPr>
            <a:r>
              <a:rPr lang="en-US" b="1" i="0" dirty="0">
                <a:solidFill>
                  <a:schemeClr val="accent1"/>
                </a:solidFill>
                <a:effectLst/>
                <a:latin typeface="Times New Roman" panose="02020603050405020304" pitchFamily="18" charset="0"/>
                <a:cs typeface="Times New Roman" panose="02020603050405020304" pitchFamily="18" charset="0"/>
              </a:rPr>
              <a:t>Shareware software </a:t>
            </a:r>
            <a:r>
              <a:rPr lang="en-US" b="0" i="0" dirty="0">
                <a:effectLst/>
                <a:latin typeface="Times New Roman" panose="02020603050405020304" pitchFamily="18" charset="0"/>
                <a:cs typeface="Times New Roman" panose="02020603050405020304" pitchFamily="18" charset="0"/>
              </a:rPr>
              <a:t>is a software that are </a:t>
            </a:r>
            <a:r>
              <a:rPr lang="en-US" b="0" i="1" dirty="0">
                <a:effectLst/>
                <a:latin typeface="Times New Roman" panose="02020603050405020304" pitchFamily="18" charset="0"/>
                <a:cs typeface="Times New Roman" panose="02020603050405020304" pitchFamily="18" charset="0"/>
              </a:rPr>
              <a:t>freely distributed to users on trial basis</a:t>
            </a:r>
            <a:r>
              <a:rPr lang="en-US" b="0" i="0" dirty="0">
                <a:effectLst/>
                <a:latin typeface="Times New Roman" panose="02020603050405020304" pitchFamily="18" charset="0"/>
                <a:cs typeface="Times New Roman" panose="02020603050405020304" pitchFamily="18" charset="0"/>
              </a:rPr>
              <a:t>. There is a </a:t>
            </a:r>
            <a:r>
              <a:rPr lang="en-US" b="0" i="1" dirty="0">
                <a:effectLst/>
                <a:latin typeface="Times New Roman" panose="02020603050405020304" pitchFamily="18" charset="0"/>
                <a:cs typeface="Times New Roman" panose="02020603050405020304" pitchFamily="18" charset="0"/>
              </a:rPr>
              <a:t>time limit</a:t>
            </a:r>
            <a:r>
              <a:rPr lang="en-US" b="0" i="0" dirty="0">
                <a:effectLst/>
                <a:latin typeface="Times New Roman" panose="02020603050405020304" pitchFamily="18" charset="0"/>
                <a:cs typeface="Times New Roman" panose="02020603050405020304" pitchFamily="18" charset="0"/>
              </a:rPr>
              <a:t> inbuilt in the software( for example- free for 30 days or 2 months). As the time limit gets over, it will be deactivated. To use it after time limit, you have to pay for the software.</a:t>
            </a:r>
            <a:br>
              <a:rPr lang="en-US" b="0" i="0" dirty="0">
                <a:effectLst/>
                <a:latin typeface="Times New Roman" panose="02020603050405020304" pitchFamily="18" charset="0"/>
                <a:cs typeface="Times New Roman" panose="02020603050405020304" pitchFamily="18" charset="0"/>
              </a:rPr>
            </a:br>
            <a:endParaRPr lang="en-US" b="0" i="0" dirty="0">
              <a:effectLst/>
              <a:latin typeface="Times New Roman" panose="02020603050405020304" pitchFamily="18" charset="0"/>
              <a:cs typeface="Times New Roman" panose="02020603050405020304" pitchFamily="18" charset="0"/>
            </a:endParaRPr>
          </a:p>
          <a:p>
            <a:pPr marL="0" indent="0" algn="l" fontAlgn="base">
              <a:buNone/>
            </a:pPr>
            <a:r>
              <a:rPr lang="en-US" b="0" i="0" dirty="0">
                <a:effectLst/>
                <a:latin typeface="Times New Roman" panose="02020603050405020304" pitchFamily="18" charset="0"/>
                <a:cs typeface="Times New Roman" panose="02020603050405020304" pitchFamily="18" charset="0"/>
              </a:rPr>
              <a:t>Users prefer shareware because of following reasons –</a:t>
            </a:r>
          </a:p>
          <a:p>
            <a:pPr lvl="1" fontAlgn="base"/>
            <a:r>
              <a:rPr lang="en-US" b="0" i="0" dirty="0">
                <a:effectLst/>
                <a:latin typeface="Times New Roman" panose="02020603050405020304" pitchFamily="18" charset="0"/>
                <a:cs typeface="Times New Roman" panose="02020603050405020304" pitchFamily="18" charset="0"/>
              </a:rPr>
              <a:t>Available free of cost</a:t>
            </a:r>
          </a:p>
          <a:p>
            <a:pPr lvl="1" fontAlgn="base"/>
            <a:r>
              <a:rPr lang="en-US" b="0" i="0" dirty="0">
                <a:effectLst/>
                <a:latin typeface="Times New Roman" panose="02020603050405020304" pitchFamily="18" charset="0"/>
                <a:cs typeface="Times New Roman" panose="02020603050405020304" pitchFamily="18" charset="0"/>
              </a:rPr>
              <a:t>helps to know about the product before buying it</a:t>
            </a:r>
          </a:p>
          <a:p>
            <a:pPr marL="0" indent="0" algn="l" fontAlgn="base">
              <a:buNone/>
            </a:pPr>
            <a:r>
              <a:rPr lang="en-US" b="0" i="0" dirty="0">
                <a:effectLst/>
                <a:latin typeface="Times New Roman" panose="02020603050405020304" pitchFamily="18" charset="0"/>
                <a:cs typeface="Times New Roman" panose="02020603050405020304" pitchFamily="18" charset="0"/>
              </a:rPr>
              <a:t>Some examples of freeware software are –</a:t>
            </a:r>
          </a:p>
          <a:p>
            <a:pPr lvl="1" fontAlgn="base"/>
            <a:r>
              <a:rPr lang="en-US" b="0" i="0" dirty="0">
                <a:effectLst/>
                <a:latin typeface="Times New Roman" panose="02020603050405020304" pitchFamily="18" charset="0"/>
                <a:cs typeface="Times New Roman" panose="02020603050405020304" pitchFamily="18" charset="0"/>
              </a:rPr>
              <a:t>Adobe acrobat 8 professional</a:t>
            </a:r>
          </a:p>
          <a:p>
            <a:pPr lvl="1" fontAlgn="base"/>
            <a:r>
              <a:rPr lang="en-US" b="0" i="0" dirty="0">
                <a:effectLst/>
                <a:latin typeface="Times New Roman" panose="02020603050405020304" pitchFamily="18" charset="0"/>
                <a:cs typeface="Times New Roman" panose="02020603050405020304" pitchFamily="18" charset="0"/>
              </a:rPr>
              <a:t>PHP Debugger 2.1.3.3</a:t>
            </a:r>
          </a:p>
          <a:p>
            <a:pPr lvl="1" fontAlgn="base"/>
            <a:r>
              <a:rPr lang="en-US" b="0" i="0" dirty="0" err="1">
                <a:effectLst/>
                <a:latin typeface="Times New Roman" panose="02020603050405020304" pitchFamily="18" charset="0"/>
                <a:cs typeface="Times New Roman" panose="02020603050405020304" pitchFamily="18" charset="0"/>
              </a:rPr>
              <a:t>Winzip</a:t>
            </a:r>
            <a:endParaRPr lang="en-US" b="0" i="0" dirty="0">
              <a:effectLst/>
              <a:latin typeface="Times New Roman" panose="02020603050405020304" pitchFamily="18" charset="0"/>
              <a:cs typeface="Times New Roman" panose="02020603050405020304" pitchFamily="18" charset="0"/>
            </a:endParaRPr>
          </a:p>
          <a:p>
            <a:endParaRPr lang="en-MY"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11727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2B3CF92-7C73-41F7-B249-BB3CE10BCFE8}"/>
              </a:ext>
            </a:extLst>
          </p:cNvPr>
          <p:cNvSpPr>
            <a:spLocks noGrp="1"/>
          </p:cNvSpPr>
          <p:nvPr>
            <p:ph type="title"/>
          </p:nvPr>
        </p:nvSpPr>
        <p:spPr/>
        <p:txBody>
          <a:bodyPr/>
          <a:lstStyle/>
          <a:p>
            <a:r>
              <a:rPr lang="en-MY"/>
              <a:t>Reading </a:t>
            </a:r>
            <a:r>
              <a:rPr lang="en-MY" smtClean="0"/>
              <a:t>Material</a:t>
            </a:r>
            <a:endParaRPr lang="en-MY" dirty="0"/>
          </a:p>
        </p:txBody>
      </p:sp>
      <p:sp>
        <p:nvSpPr>
          <p:cNvPr id="3" name="Content Placeholder 2">
            <a:extLst>
              <a:ext uri="{FF2B5EF4-FFF2-40B4-BE49-F238E27FC236}">
                <a16:creationId xmlns="" xmlns:a16="http://schemas.microsoft.com/office/drawing/2014/main" id="{B297FC48-1746-4D60-A790-ADA71444C05B}"/>
              </a:ext>
            </a:extLst>
          </p:cNvPr>
          <p:cNvSpPr>
            <a:spLocks noGrp="1"/>
          </p:cNvSpPr>
          <p:nvPr>
            <p:ph idx="1"/>
          </p:nvPr>
        </p:nvSpPr>
        <p:spPr/>
        <p:txBody>
          <a:bodyPr/>
          <a:lstStyle/>
          <a:p>
            <a:r>
              <a:rPr lang="en-MY" dirty="0">
                <a:hlinkClick r:id="rId2"/>
              </a:rPr>
              <a:t>https://www.nap.edu/read/5758/chapter/6#46</a:t>
            </a:r>
            <a:endParaRPr lang="en-MY" dirty="0"/>
          </a:p>
          <a:p>
            <a:r>
              <a:rPr lang="en-MY" dirty="0">
                <a:hlinkClick r:id="rId3"/>
              </a:rPr>
              <a:t>https://scholarsbank.uoregon.edu/xmlui/bitstream/handle/1794/12593/Yahong.pdf?sequence=1&amp;isAllowed=y</a:t>
            </a:r>
            <a:endParaRPr lang="en-MY" dirty="0"/>
          </a:p>
          <a:p>
            <a:r>
              <a:rPr lang="en-MY" dirty="0">
                <a:hlinkClick r:id="rId4"/>
              </a:rPr>
              <a:t>https://www.lgmadvisors.com.au/intellectual-property-case-studies/</a:t>
            </a:r>
            <a:endParaRPr lang="en-MY" dirty="0"/>
          </a:p>
          <a:p>
            <a:pPr marL="0" indent="0">
              <a:buNone/>
            </a:pPr>
            <a:endParaRPr lang="en-MY" dirty="0"/>
          </a:p>
          <a:p>
            <a:endParaRPr lang="en-MY" dirty="0"/>
          </a:p>
          <a:p>
            <a:pPr marL="0" indent="0">
              <a:buNone/>
            </a:pPr>
            <a:r>
              <a:rPr lang="en-MY" dirty="0"/>
              <a:t>Thank you!</a:t>
            </a:r>
          </a:p>
        </p:txBody>
      </p:sp>
    </p:spTree>
    <p:extLst>
      <p:ext uri="{BB962C8B-B14F-4D97-AF65-F5344CB8AC3E}">
        <p14:creationId xmlns:p14="http://schemas.microsoft.com/office/powerpoint/2010/main" val="24188592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18871</TotalTime>
  <Words>1415</Words>
  <Application>Microsoft Office PowerPoint</Application>
  <PresentationFormat>Widescreen</PresentationFormat>
  <Paragraphs>186</Paragraphs>
  <Slides>31</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31</vt:i4>
      </vt:variant>
    </vt:vector>
  </HeadingPairs>
  <TitlesOfParts>
    <vt:vector size="42" baseType="lpstr">
      <vt:lpstr>AEnigmaScrawl4BRK</vt:lpstr>
      <vt:lpstr>AgencyFB-Bold</vt:lpstr>
      <vt:lpstr>Arial</vt:lpstr>
      <vt:lpstr>Calibri</vt:lpstr>
      <vt:lpstr>Calibri Light</vt:lpstr>
      <vt:lpstr>Calibri-Bold</vt:lpstr>
      <vt:lpstr>Corbel</vt:lpstr>
      <vt:lpstr>FrankRuehl</vt:lpstr>
      <vt:lpstr>Times New Roman</vt:lpstr>
      <vt:lpstr>Wingdings</vt:lpstr>
      <vt:lpstr>Office Theme</vt:lpstr>
      <vt:lpstr>Professional Practices</vt:lpstr>
      <vt:lpstr>Intellectual Property</vt:lpstr>
      <vt:lpstr>What is Intellectual Property?</vt:lpstr>
      <vt:lpstr>What are intellectual property rights?</vt:lpstr>
      <vt:lpstr>PowerPoint Presentation</vt:lpstr>
      <vt:lpstr>Types of Intellectual Property</vt:lpstr>
      <vt:lpstr>PowerPoint Presentation</vt:lpstr>
      <vt:lpstr>Confidential Information</vt:lpstr>
      <vt:lpstr>Confidential Information</vt:lpstr>
      <vt:lpstr>Patents</vt:lpstr>
      <vt:lpstr>Patents</vt:lpstr>
      <vt:lpstr>Patents</vt:lpstr>
      <vt:lpstr>Copyright</vt:lpstr>
      <vt:lpstr>Copyright</vt:lpstr>
      <vt:lpstr>Acts permitted in relation to copyright  </vt:lpstr>
      <vt:lpstr>Remedies for breach of copyright  </vt:lpstr>
      <vt:lpstr>Remedies for breach of copyright</vt:lpstr>
      <vt:lpstr>Plagiarism</vt:lpstr>
      <vt:lpstr>Trade Secret</vt:lpstr>
      <vt:lpstr>Trade Secrets</vt:lpstr>
      <vt:lpstr>Example of Potential Trade Secrets</vt:lpstr>
      <vt:lpstr>What is required to maintain the Trade Secret                                                                       Secrecy</vt:lpstr>
      <vt:lpstr>Ways to Protect the Trade Secrets</vt:lpstr>
      <vt:lpstr>Advantage of Trade Secret Protection</vt:lpstr>
      <vt:lpstr>Open Source Software</vt:lpstr>
      <vt:lpstr>Open Source Software</vt:lpstr>
      <vt:lpstr>Open Source Software</vt:lpstr>
      <vt:lpstr>Benefits of Open Source Software</vt:lpstr>
      <vt:lpstr>Freeware vs. Shareware </vt:lpstr>
      <vt:lpstr>Freeware vs. Shareware </vt:lpstr>
      <vt:lpstr>Reading Material</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Professional Practices</dc:title>
  <dc:creator>Hammad qureshi</dc:creator>
  <cp:lastModifiedBy>Windows User</cp:lastModifiedBy>
  <cp:revision>30</cp:revision>
  <dcterms:created xsi:type="dcterms:W3CDTF">2020-10-08T09:30:44Z</dcterms:created>
  <dcterms:modified xsi:type="dcterms:W3CDTF">2020-11-09T06:08:54Z</dcterms:modified>
</cp:coreProperties>
</file>
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8" r:id="rId3"/>
    <p:sldId id="259" r:id="rId4"/>
    <p:sldId id="260" r:id="rId5"/>
    <p:sldId id="286" r:id="rId6"/>
    <p:sldId id="257" r:id="rId7"/>
    <p:sldId id="287" r:id="rId8"/>
    <p:sldId id="261" r:id="rId9"/>
    <p:sldId id="262" r:id="rId10"/>
    <p:sldId id="289" r:id="rId11"/>
    <p:sldId id="288" r:id="rId12"/>
    <p:sldId id="290" r:id="rId13"/>
    <p:sldId id="291" r:id="rId14"/>
    <p:sldId id="292" r:id="rId15"/>
    <p:sldId id="293" r:id="rId16"/>
    <p:sldId id="294" r:id="rId17"/>
    <p:sldId id="297" r:id="rId18"/>
    <p:sldId id="298" r:id="rId19"/>
    <p:sldId id="299" r:id="rId20"/>
    <p:sldId id="300" r:id="rId21"/>
    <p:sldId id="301" r:id="rId22"/>
    <p:sldId id="302" r:id="rId23"/>
    <p:sldId id="303" r:id="rId24"/>
    <p:sldId id="304" r:id="rId25"/>
    <p:sldId id="305" r:id="rId26"/>
    <p:sldId id="306" r:id="rId27"/>
    <p:sldId id="308" r:id="rId28"/>
    <p:sldId id="311" r:id="rId29"/>
    <p:sldId id="309" r:id="rId30"/>
    <p:sldId id="307" r:id="rId31"/>
    <p:sldId id="267" r:id="rId32"/>
    <p:sldId id="276" r:id="rId33"/>
    <p:sldId id="277" r:id="rId34"/>
    <p:sldId id="278" r:id="rId35"/>
    <p:sldId id="279" r:id="rId36"/>
    <p:sldId id="284" r:id="rId37"/>
    <p:sldId id="281" r:id="rId38"/>
    <p:sldId id="282" r:id="rId39"/>
    <p:sldId id="283" r:id="rId40"/>
    <p:sldId id="266" r:id="rId41"/>
    <p:sldId id="31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3" autoAdjust="0"/>
    <p:restoredTop sz="94434" autoAdjust="0"/>
  </p:normalViewPr>
  <p:slideViewPr>
    <p:cSldViewPr snapToGrid="0">
      <p:cViewPr varScale="1">
        <p:scale>
          <a:sx n="74" d="100"/>
          <a:sy n="74" d="100"/>
        </p:scale>
        <p:origin x="4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EDB9B9-3869-44B2-9866-16A528F83F63}" type="datetimeFigureOut">
              <a:rPr lang="en-US" smtClean="0"/>
              <a:t>3/29/2022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E8E81-B660-440E-A0B0-4859FD37D910}" type="slidenum">
              <a:rPr lang="en-US" smtClean="0"/>
              <a:t>‹#›</a:t>
            </a:fld>
            <a:endParaRPr lang="en-US"/>
          </a:p>
        </p:txBody>
      </p:sp>
    </p:spTree>
    <p:extLst>
      <p:ext uri="{BB962C8B-B14F-4D97-AF65-F5344CB8AC3E}">
        <p14:creationId xmlns:p14="http://schemas.microsoft.com/office/powerpoint/2010/main" val="4188392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a:t>
            </a:fld>
            <a:endParaRPr lang="en-US"/>
          </a:p>
        </p:txBody>
      </p:sp>
    </p:spTree>
    <p:extLst>
      <p:ext uri="{BB962C8B-B14F-4D97-AF65-F5344CB8AC3E}">
        <p14:creationId xmlns:p14="http://schemas.microsoft.com/office/powerpoint/2010/main" val="207586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4</a:t>
            </a:fld>
            <a:endParaRPr lang="en-US"/>
          </a:p>
        </p:txBody>
      </p:sp>
    </p:spTree>
    <p:extLst>
      <p:ext uri="{BB962C8B-B14F-4D97-AF65-F5344CB8AC3E}">
        <p14:creationId xmlns:p14="http://schemas.microsoft.com/office/powerpoint/2010/main" val="2515318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6</a:t>
            </a:fld>
            <a:endParaRPr lang="en-US"/>
          </a:p>
        </p:txBody>
      </p:sp>
    </p:spTree>
    <p:extLst>
      <p:ext uri="{BB962C8B-B14F-4D97-AF65-F5344CB8AC3E}">
        <p14:creationId xmlns:p14="http://schemas.microsoft.com/office/powerpoint/2010/main" val="307907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8</a:t>
            </a:fld>
            <a:endParaRPr lang="en-US"/>
          </a:p>
        </p:txBody>
      </p:sp>
    </p:spTree>
    <p:extLst>
      <p:ext uri="{BB962C8B-B14F-4D97-AF65-F5344CB8AC3E}">
        <p14:creationId xmlns:p14="http://schemas.microsoft.com/office/powerpoint/2010/main" val="606471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9</a:t>
            </a:fld>
            <a:endParaRPr lang="en-US"/>
          </a:p>
        </p:txBody>
      </p:sp>
    </p:spTree>
    <p:extLst>
      <p:ext uri="{BB962C8B-B14F-4D97-AF65-F5344CB8AC3E}">
        <p14:creationId xmlns:p14="http://schemas.microsoft.com/office/powerpoint/2010/main" val="599369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10"/>
          </p:nvPr>
        </p:nvSpPr>
        <p:spPr/>
        <p:txBody>
          <a:bodyPr/>
          <a:lstStyle/>
          <a:p>
            <a:fld id="{D0AE8E81-B660-440E-A0B0-4859FD37D910}" type="slidenum">
              <a:rPr lang="en-US" smtClean="0"/>
              <a:t>11</a:t>
            </a:fld>
            <a:endParaRPr lang="en-US"/>
          </a:p>
        </p:txBody>
      </p:sp>
    </p:spTree>
    <p:extLst>
      <p:ext uri="{BB962C8B-B14F-4D97-AF65-F5344CB8AC3E}">
        <p14:creationId xmlns:p14="http://schemas.microsoft.com/office/powerpoint/2010/main" val="1312480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12</a:t>
            </a:fld>
            <a:endParaRPr lang="en-US"/>
          </a:p>
        </p:txBody>
      </p:sp>
    </p:spTree>
    <p:extLst>
      <p:ext uri="{BB962C8B-B14F-4D97-AF65-F5344CB8AC3E}">
        <p14:creationId xmlns:p14="http://schemas.microsoft.com/office/powerpoint/2010/main" val="1849121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13</a:t>
            </a:fld>
            <a:endParaRPr lang="en-US"/>
          </a:p>
        </p:txBody>
      </p:sp>
    </p:spTree>
    <p:extLst>
      <p:ext uri="{BB962C8B-B14F-4D97-AF65-F5344CB8AC3E}">
        <p14:creationId xmlns:p14="http://schemas.microsoft.com/office/powerpoint/2010/main" val="1480818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15</a:t>
            </a:fld>
            <a:endParaRPr lang="en-US"/>
          </a:p>
        </p:txBody>
      </p:sp>
    </p:spTree>
    <p:extLst>
      <p:ext uri="{BB962C8B-B14F-4D97-AF65-F5344CB8AC3E}">
        <p14:creationId xmlns:p14="http://schemas.microsoft.com/office/powerpoint/2010/main" val="3561120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16</a:t>
            </a:fld>
            <a:endParaRPr lang="en-US"/>
          </a:p>
        </p:txBody>
      </p:sp>
    </p:spTree>
    <p:extLst>
      <p:ext uri="{BB962C8B-B14F-4D97-AF65-F5344CB8AC3E}">
        <p14:creationId xmlns:p14="http://schemas.microsoft.com/office/powerpoint/2010/main" val="3357583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Paradoxically, such provision is rare because:</a:t>
            </a:r>
          </a:p>
          <a:p>
            <a:r>
              <a:rPr lang="en-US" sz="1200" b="0" i="0" u="none" strike="noStrike" kern="1200" baseline="0" dirty="0" smtClean="0">
                <a:solidFill>
                  <a:schemeClr val="tx1"/>
                </a:solidFill>
                <a:latin typeface="+mn-lt"/>
                <a:ea typeface="+mn-ea"/>
                <a:cs typeface="+mn-cs"/>
              </a:rPr>
              <a:t>1. Developers are very reluctant to accept penalty clauses. Anything stronger than the example quoted above is likely to lead to reputable developers</a:t>
            </a:r>
          </a:p>
          <a:p>
            <a:r>
              <a:rPr lang="en-US" sz="1200" b="0" i="0" u="none" strike="noStrike" kern="1200" baseline="0" dirty="0" smtClean="0">
                <a:solidFill>
                  <a:schemeClr val="tx1"/>
                </a:solidFill>
                <a:latin typeface="+mn-lt"/>
                <a:ea typeface="+mn-ea"/>
                <a:cs typeface="+mn-cs"/>
              </a:rPr>
              <a:t>refusing to bid.</a:t>
            </a:r>
          </a:p>
          <a:p>
            <a:r>
              <a:rPr lang="en-US" sz="1200" b="0" i="0" u="none" strike="noStrike" kern="1200" baseline="0" dirty="0" smtClean="0">
                <a:solidFill>
                  <a:schemeClr val="tx1"/>
                </a:solidFill>
                <a:latin typeface="+mn-lt"/>
                <a:ea typeface="+mn-ea"/>
                <a:cs typeface="+mn-cs"/>
              </a:rPr>
              <a:t>2. If the contract is to include penalty clauses, the bid price is likely to be increased by at least ½ the max value of the penalty.</a:t>
            </a:r>
          </a:p>
          <a:p>
            <a:r>
              <a:rPr lang="en-US" sz="1200" b="0" i="0" u="none" strike="noStrike" kern="1200" baseline="0" dirty="0" smtClean="0">
                <a:solidFill>
                  <a:schemeClr val="tx1"/>
                </a:solidFill>
                <a:latin typeface="+mn-lt"/>
                <a:ea typeface="+mn-ea"/>
                <a:cs typeface="+mn-cs"/>
              </a:rPr>
              <a:t>3. If the software is seriously late and penalties approach their maximum, there is little incentive for the developer to complete the work since they will</a:t>
            </a:r>
          </a:p>
          <a:p>
            <a:r>
              <a:rPr lang="en-US" sz="1200" b="0" i="0" u="none" strike="noStrike" kern="1200" baseline="0" dirty="0" smtClean="0">
                <a:solidFill>
                  <a:schemeClr val="tx1"/>
                </a:solidFill>
                <a:latin typeface="+mn-lt"/>
                <a:ea typeface="+mn-ea"/>
                <a:cs typeface="+mn-cs"/>
              </a:rPr>
              <a:t>already have received in stage payments as much as they are going to get.</a:t>
            </a:r>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17</a:t>
            </a:fld>
            <a:endParaRPr lang="en-US"/>
          </a:p>
        </p:txBody>
      </p:sp>
    </p:spTree>
    <p:extLst>
      <p:ext uri="{BB962C8B-B14F-4D97-AF65-F5344CB8AC3E}">
        <p14:creationId xmlns:p14="http://schemas.microsoft.com/office/powerpoint/2010/main" val="1537537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D0AE8E81-B660-440E-A0B0-4859FD37D910}" type="slidenum">
              <a:rPr lang="en-US" smtClean="0"/>
              <a:t>21</a:t>
            </a:fld>
            <a:endParaRPr lang="en-US"/>
          </a:p>
        </p:txBody>
      </p:sp>
    </p:spTree>
    <p:extLst>
      <p:ext uri="{BB962C8B-B14F-4D97-AF65-F5344CB8AC3E}">
        <p14:creationId xmlns:p14="http://schemas.microsoft.com/office/powerpoint/2010/main" val="3767295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D0AE8E81-B660-440E-A0B0-4859FD37D910}" type="slidenum">
              <a:rPr lang="en-US" smtClean="0"/>
              <a:t>22</a:t>
            </a:fld>
            <a:endParaRPr lang="en-US"/>
          </a:p>
        </p:txBody>
      </p:sp>
    </p:spTree>
    <p:extLst>
      <p:ext uri="{BB962C8B-B14F-4D97-AF65-F5344CB8AC3E}">
        <p14:creationId xmlns:p14="http://schemas.microsoft.com/office/powerpoint/2010/main" val="3062151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25</a:t>
            </a:fld>
            <a:endParaRPr lang="en-US"/>
          </a:p>
        </p:txBody>
      </p:sp>
    </p:spTree>
    <p:extLst>
      <p:ext uri="{BB962C8B-B14F-4D97-AF65-F5344CB8AC3E}">
        <p14:creationId xmlns:p14="http://schemas.microsoft.com/office/powerpoint/2010/main" val="429763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What are the different types of software licenses?</a:t>
            </a:r>
          </a:p>
          <a:p>
            <a:r>
              <a:rPr lang="en-US" dirty="0" smtClean="0"/>
              <a:t>If you write code, you also reuse code, including code snippets, libraries, functions, frameworks, and entire applications. All software code comes with certain rights and obligations if you want to add it to your codebase. Free and open source software (FOSS) is free of cost, but you aren’t free to use it as you wish. Even unlicensed code snippets copied from Stack Overflow have obligations for reuse. But formally developed code usually comes with a specific software license.</a:t>
            </a:r>
          </a:p>
          <a:p>
            <a:r>
              <a:rPr lang="en-US" dirty="0" smtClean="0"/>
              <a:t>There are many different types of software licenses, and the penalties for license noncompliance can be harsh. If you reuse a component without following the obligations of its license, the licensor might sue, and you might be forced to publish your own source code. To protect your code and your organization, you need to understand these software licenses before using any code, including libraries and frameworks, you didn’t write yourself.</a:t>
            </a:r>
          </a:p>
          <a:p>
            <a:endParaRPr lang="en-US" dirty="0" smtClean="0"/>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Public domain</a:t>
            </a:r>
            <a:r>
              <a:rPr lang="en-US" sz="1200" b="0" i="0" u="none" strike="noStrike" kern="1200" baseline="0" dirty="0" smtClean="0">
                <a:solidFill>
                  <a:schemeClr val="tx1"/>
                </a:solidFill>
                <a:latin typeface="+mn-lt"/>
                <a:ea typeface="+mn-ea"/>
                <a:cs typeface="+mn-cs"/>
              </a:rPr>
              <a:t>. This is the most permissive type of software license. When software is in the public domain, </a:t>
            </a:r>
            <a:r>
              <a:rPr lang="en-US" sz="1200" b="0" i="0" u="none" strike="noStrike" kern="1200" baseline="0" dirty="0" err="1" smtClean="0">
                <a:solidFill>
                  <a:schemeClr val="tx1"/>
                </a:solidFill>
                <a:latin typeface="+mn-lt"/>
                <a:ea typeface="+mn-ea"/>
                <a:cs typeface="+mn-cs"/>
              </a:rPr>
              <a:t>anyonecan</a:t>
            </a:r>
            <a:r>
              <a:rPr lang="en-US" sz="1200" b="0" i="0" u="none" strike="noStrike" kern="1200" baseline="0" dirty="0" smtClean="0">
                <a:solidFill>
                  <a:schemeClr val="tx1"/>
                </a:solidFill>
                <a:latin typeface="+mn-lt"/>
                <a:ea typeface="+mn-ea"/>
                <a:cs typeface="+mn-cs"/>
              </a:rPr>
              <a:t> modify and use the software without any restrictions. But you should always make sure it’s secure </a:t>
            </a:r>
            <a:r>
              <a:rPr lang="en-US" sz="1200" b="0" i="0" u="none" strike="noStrike" kern="1200" baseline="0" dirty="0" err="1" smtClean="0">
                <a:solidFill>
                  <a:schemeClr val="tx1"/>
                </a:solidFill>
                <a:latin typeface="+mn-lt"/>
                <a:ea typeface="+mn-ea"/>
                <a:cs typeface="+mn-cs"/>
              </a:rPr>
              <a:t>beforeadding</a:t>
            </a:r>
            <a:r>
              <a:rPr lang="en-US" sz="1200" b="0" i="0" u="none" strike="noStrike" kern="1200" baseline="0" dirty="0" smtClean="0">
                <a:solidFill>
                  <a:schemeClr val="tx1"/>
                </a:solidFill>
                <a:latin typeface="+mn-lt"/>
                <a:ea typeface="+mn-ea"/>
                <a:cs typeface="+mn-cs"/>
              </a:rPr>
              <a:t> it to your own codebase. Warning: Code that doesn’t have an explicit license is NOT automatically in </a:t>
            </a:r>
            <a:r>
              <a:rPr lang="en-US" sz="1200" b="0" i="0" u="none" strike="noStrike" kern="1200" baseline="0" dirty="0" err="1" smtClean="0">
                <a:solidFill>
                  <a:schemeClr val="tx1"/>
                </a:solidFill>
                <a:latin typeface="+mn-lt"/>
                <a:ea typeface="+mn-ea"/>
                <a:cs typeface="+mn-cs"/>
              </a:rPr>
              <a:t>thepublic</a:t>
            </a:r>
            <a:r>
              <a:rPr lang="en-US" sz="1200" b="0" i="0" u="none" strike="noStrike" kern="1200" baseline="0" dirty="0" smtClean="0">
                <a:solidFill>
                  <a:schemeClr val="tx1"/>
                </a:solidFill>
                <a:latin typeface="+mn-lt"/>
                <a:ea typeface="+mn-ea"/>
                <a:cs typeface="+mn-cs"/>
              </a:rPr>
              <a:t> domain. This includes code snippets you find on the internet.</a:t>
            </a:r>
          </a:p>
          <a:p>
            <a:r>
              <a:rPr lang="en-US" sz="1200" b="1" i="0" u="none" strike="noStrike" kern="1200" baseline="0" dirty="0" smtClean="0">
                <a:solidFill>
                  <a:schemeClr val="tx1"/>
                </a:solidFill>
                <a:latin typeface="+mn-lt"/>
                <a:ea typeface="+mn-ea"/>
                <a:cs typeface="+mn-cs"/>
              </a:rPr>
              <a:t>Permissive</a:t>
            </a:r>
            <a:r>
              <a:rPr lang="en-US" sz="1200" b="0" i="0" u="none" strike="noStrike" kern="1200" baseline="0" dirty="0" smtClean="0">
                <a:solidFill>
                  <a:schemeClr val="tx1"/>
                </a:solidFill>
                <a:latin typeface="+mn-lt"/>
                <a:ea typeface="+mn-ea"/>
                <a:cs typeface="+mn-cs"/>
              </a:rPr>
              <a:t>. Permissive licenses are also known as “Apache style” or “BSD style.” They contain minimal requirements about how </a:t>
            </a:r>
            <a:r>
              <a:rPr lang="en-US" sz="1200" b="0" i="0" u="none" strike="noStrike" kern="1200" baseline="0" dirty="0" err="1" smtClean="0">
                <a:solidFill>
                  <a:schemeClr val="tx1"/>
                </a:solidFill>
                <a:latin typeface="+mn-lt"/>
                <a:ea typeface="+mn-ea"/>
                <a:cs typeface="+mn-cs"/>
              </a:rPr>
              <a:t>thesoftware</a:t>
            </a:r>
            <a:r>
              <a:rPr lang="en-US" sz="1200" b="0" i="0" u="none" strike="noStrike" kern="1200" baseline="0" dirty="0" smtClean="0">
                <a:solidFill>
                  <a:schemeClr val="tx1"/>
                </a:solidFill>
                <a:latin typeface="+mn-lt"/>
                <a:ea typeface="+mn-ea"/>
                <a:cs typeface="+mn-cs"/>
              </a:rPr>
              <a:t> can be modified or redistributed. This type of software license is perhaps the most popular license </a:t>
            </a:r>
            <a:r>
              <a:rPr lang="en-US" sz="1200" b="0" i="0" u="none" strike="noStrike" kern="1200" baseline="0" dirty="0" err="1" smtClean="0">
                <a:solidFill>
                  <a:schemeClr val="tx1"/>
                </a:solidFill>
                <a:latin typeface="+mn-lt"/>
                <a:ea typeface="+mn-ea"/>
                <a:cs typeface="+mn-cs"/>
              </a:rPr>
              <a:t>usedwith</a:t>
            </a:r>
            <a:r>
              <a:rPr lang="en-US" sz="1200" b="0" i="0" u="none" strike="noStrike" kern="1200" baseline="0" dirty="0" smtClean="0">
                <a:solidFill>
                  <a:schemeClr val="tx1"/>
                </a:solidFill>
                <a:latin typeface="+mn-lt"/>
                <a:ea typeface="+mn-ea"/>
                <a:cs typeface="+mn-cs"/>
              </a:rPr>
              <a:t> free and open source software. Aside from the Apache License and the BSD License , another common variant is the </a:t>
            </a:r>
            <a:r>
              <a:rPr lang="en-US" sz="1200" b="0" i="0" u="none" strike="noStrike" kern="1200" baseline="0" dirty="0" err="1" smtClean="0">
                <a:solidFill>
                  <a:schemeClr val="tx1"/>
                </a:solidFill>
                <a:latin typeface="+mn-lt"/>
                <a:ea typeface="+mn-ea"/>
                <a:cs typeface="+mn-cs"/>
              </a:rPr>
              <a:t>MITLicense</a:t>
            </a:r>
            <a:r>
              <a:rPr lang="en-US" sz="1200" b="0" i="0" u="none" strike="noStrike" kern="1200" baseline="0" dirty="0" smtClean="0">
                <a:solidFill>
                  <a:schemeClr val="tx1"/>
                </a:solidFill>
                <a:latin typeface="+mn-lt"/>
                <a:ea typeface="+mn-ea"/>
                <a:cs typeface="+mn-cs"/>
              </a:rPr>
              <a:t> .(https://www.synopsys.com/blogs/software-security/permissive-licenses-deserverespect/) (https://www.apache.org/licenses/LICENSE- 2.0) (https://opensource.org/licenses/BSD-2-Clause) (https://opensource.org/licenses/MIT) </a:t>
            </a:r>
          </a:p>
          <a:p>
            <a:r>
              <a:rPr lang="en-US" sz="1200" b="1" i="0" u="none" strike="noStrike" kern="1200" baseline="0" dirty="0" smtClean="0">
                <a:solidFill>
                  <a:schemeClr val="tx1"/>
                </a:solidFill>
                <a:latin typeface="+mn-lt"/>
                <a:ea typeface="+mn-ea"/>
                <a:cs typeface="+mn-cs"/>
              </a:rPr>
              <a:t>LGPL</a:t>
            </a:r>
            <a:r>
              <a:rPr lang="en-US" sz="1200" b="0" i="0" u="none" strike="noStrike" kern="1200" baseline="0" dirty="0" smtClean="0">
                <a:solidFill>
                  <a:schemeClr val="tx1"/>
                </a:solidFill>
                <a:latin typeface="+mn-lt"/>
                <a:ea typeface="+mn-ea"/>
                <a:cs typeface="+mn-cs"/>
              </a:rPr>
              <a:t>. The GNU Lesser General Public License allows you to link </a:t>
            </a:r>
            <a:r>
              <a:rPr lang="en-US" sz="1200" b="0" i="0" u="none" strike="noStrike" kern="1200" baseline="0" dirty="0" err="1" smtClean="0">
                <a:solidFill>
                  <a:schemeClr val="tx1"/>
                </a:solidFill>
                <a:latin typeface="+mn-lt"/>
                <a:ea typeface="+mn-ea"/>
                <a:cs typeface="+mn-cs"/>
              </a:rPr>
              <a:t>toopen</a:t>
            </a:r>
            <a:r>
              <a:rPr lang="en-US" sz="1200" b="0" i="0" u="none" strike="noStrike" kern="1200" baseline="0" dirty="0" smtClean="0">
                <a:solidFill>
                  <a:schemeClr val="tx1"/>
                </a:solidFill>
                <a:latin typeface="+mn-lt"/>
                <a:ea typeface="+mn-ea"/>
                <a:cs typeface="+mn-cs"/>
              </a:rPr>
              <a:t> source libraries in your software. If you simply compile or link an LGPL-licensed library with your own </a:t>
            </a:r>
            <a:r>
              <a:rPr lang="en-US" sz="1200" b="0" i="0" u="none" strike="noStrike" kern="1200" baseline="0" dirty="0" err="1" smtClean="0">
                <a:solidFill>
                  <a:schemeClr val="tx1"/>
                </a:solidFill>
                <a:latin typeface="+mn-lt"/>
                <a:ea typeface="+mn-ea"/>
                <a:cs typeface="+mn-cs"/>
              </a:rPr>
              <a:t>code,you</a:t>
            </a:r>
            <a:r>
              <a:rPr lang="en-US" sz="1200" b="0" i="0" u="none" strike="noStrike" kern="1200" baseline="0" dirty="0" smtClean="0">
                <a:solidFill>
                  <a:schemeClr val="tx1"/>
                </a:solidFill>
                <a:latin typeface="+mn-lt"/>
                <a:ea typeface="+mn-ea"/>
                <a:cs typeface="+mn-cs"/>
              </a:rPr>
              <a:t> can release your application under any license you want, even a proprietary license. But if you modify the </a:t>
            </a:r>
            <a:r>
              <a:rPr lang="en-US" sz="1200" b="0" i="0" u="none" strike="noStrike" kern="1200" baseline="0" dirty="0" err="1" smtClean="0">
                <a:solidFill>
                  <a:schemeClr val="tx1"/>
                </a:solidFill>
                <a:latin typeface="+mn-lt"/>
                <a:ea typeface="+mn-ea"/>
                <a:cs typeface="+mn-cs"/>
              </a:rPr>
              <a:t>libraryor</a:t>
            </a:r>
            <a:r>
              <a:rPr lang="en-US" sz="1200" b="0" i="0" u="none" strike="noStrike" kern="1200" baseline="0" dirty="0" smtClean="0">
                <a:solidFill>
                  <a:schemeClr val="tx1"/>
                </a:solidFill>
                <a:latin typeface="+mn-lt"/>
                <a:ea typeface="+mn-ea"/>
                <a:cs typeface="+mn-cs"/>
              </a:rPr>
              <a:t> copy parts of it into your code, you’ll have to release your application under similar terms as the LGPL.(https://www.gnu.org/licenses/lgpl-3.0.en.html) </a:t>
            </a:r>
          </a:p>
          <a:p>
            <a:r>
              <a:rPr lang="en-US" sz="1200" b="1" i="0" u="none" strike="noStrike" kern="1200" baseline="0" dirty="0" err="1" smtClean="0">
                <a:solidFill>
                  <a:schemeClr val="tx1"/>
                </a:solidFill>
                <a:latin typeface="+mn-lt"/>
                <a:ea typeface="+mn-ea"/>
                <a:cs typeface="+mn-cs"/>
              </a:rPr>
              <a:t>Copyleft</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Copyleft</a:t>
            </a:r>
            <a:r>
              <a:rPr lang="en-US" sz="1200" b="0" i="0" u="none" strike="noStrike" kern="1200" baseline="0" dirty="0" smtClean="0">
                <a:solidFill>
                  <a:schemeClr val="tx1"/>
                </a:solidFill>
                <a:latin typeface="+mn-lt"/>
                <a:ea typeface="+mn-ea"/>
                <a:cs typeface="+mn-cs"/>
              </a:rPr>
              <a:t> licenses are also known as reciprocal licenses or restrictive licenses. The most well-</a:t>
            </a:r>
            <a:r>
              <a:rPr lang="en-US" sz="1200" b="0" i="0" u="none" strike="noStrike" kern="1200" baseline="0" dirty="0" err="1" smtClean="0">
                <a:solidFill>
                  <a:schemeClr val="tx1"/>
                </a:solidFill>
                <a:latin typeface="+mn-lt"/>
                <a:ea typeface="+mn-ea"/>
                <a:cs typeface="+mn-cs"/>
              </a:rPr>
              <a:t>knownexample</a:t>
            </a:r>
            <a:r>
              <a:rPr lang="en-US" sz="1200" b="0" i="0" u="none" strike="noStrike" kern="1200" baseline="0" dirty="0" smtClean="0">
                <a:solidFill>
                  <a:schemeClr val="tx1"/>
                </a:solidFill>
                <a:latin typeface="+mn-lt"/>
                <a:ea typeface="+mn-ea"/>
                <a:cs typeface="+mn-cs"/>
              </a:rPr>
              <a:t> of a </a:t>
            </a:r>
            <a:r>
              <a:rPr lang="en-US" sz="1200" b="0" i="0" u="none" strike="noStrike" kern="1200" baseline="0" dirty="0" err="1" smtClean="0">
                <a:solidFill>
                  <a:schemeClr val="tx1"/>
                </a:solidFill>
                <a:latin typeface="+mn-lt"/>
                <a:ea typeface="+mn-ea"/>
                <a:cs typeface="+mn-cs"/>
              </a:rPr>
              <a:t>copyleft</a:t>
            </a:r>
            <a:r>
              <a:rPr lang="en-US" sz="1200" b="0" i="0" u="none" strike="noStrike" kern="1200" baseline="0" dirty="0" smtClean="0">
                <a:solidFill>
                  <a:schemeClr val="tx1"/>
                </a:solidFill>
                <a:latin typeface="+mn-lt"/>
                <a:ea typeface="+mn-ea"/>
                <a:cs typeface="+mn-cs"/>
              </a:rPr>
              <a:t> or reciprocal license is the GPL . These licenses allow you to modify the licensed code and distribute new works based on it, as long </a:t>
            </a:r>
            <a:r>
              <a:rPr lang="en-US" sz="1200" b="0" i="0" u="none" strike="noStrike" kern="1200" baseline="0" dirty="0" err="1" smtClean="0">
                <a:solidFill>
                  <a:schemeClr val="tx1"/>
                </a:solidFill>
                <a:latin typeface="+mn-lt"/>
                <a:ea typeface="+mn-ea"/>
                <a:cs typeface="+mn-cs"/>
              </a:rPr>
              <a:t>asyou</a:t>
            </a:r>
            <a:r>
              <a:rPr lang="en-US" sz="1200" b="0" i="0" u="none" strike="noStrike" kern="1200" baseline="0" dirty="0" smtClean="0">
                <a:solidFill>
                  <a:schemeClr val="tx1"/>
                </a:solidFill>
                <a:latin typeface="+mn-lt"/>
                <a:ea typeface="+mn-ea"/>
                <a:cs typeface="+mn-cs"/>
              </a:rPr>
              <a:t> distribute any new works or adaptations under the same software license. For example, a component’s </a:t>
            </a:r>
            <a:r>
              <a:rPr lang="en-US" sz="1200" b="0" i="0" u="none" strike="noStrike" kern="1200" baseline="0" dirty="0" err="1" smtClean="0">
                <a:solidFill>
                  <a:schemeClr val="tx1"/>
                </a:solidFill>
                <a:latin typeface="+mn-lt"/>
                <a:ea typeface="+mn-ea"/>
                <a:cs typeface="+mn-cs"/>
              </a:rPr>
              <a:t>licensemight</a:t>
            </a:r>
            <a:r>
              <a:rPr lang="en-US" sz="1200" b="0" i="0" u="none" strike="noStrike" kern="1200" baseline="0" dirty="0" smtClean="0">
                <a:solidFill>
                  <a:schemeClr val="tx1"/>
                </a:solidFill>
                <a:latin typeface="+mn-lt"/>
                <a:ea typeface="+mn-ea"/>
                <a:cs typeface="+mn-cs"/>
              </a:rPr>
              <a:t> say the work is free to use and distribute for personal use only. So any derivative you create would also </a:t>
            </a:r>
            <a:r>
              <a:rPr lang="en-US" sz="1200" b="0" i="0" u="none" strike="noStrike" kern="1200" baseline="0" dirty="0" err="1" smtClean="0">
                <a:solidFill>
                  <a:schemeClr val="tx1"/>
                </a:solidFill>
                <a:latin typeface="+mn-lt"/>
                <a:ea typeface="+mn-ea"/>
                <a:cs typeface="+mn-cs"/>
              </a:rPr>
              <a:t>belimited</a:t>
            </a:r>
            <a:r>
              <a:rPr lang="en-US" sz="1200" b="0" i="0" u="none" strike="noStrike" kern="1200" baseline="0" dirty="0" smtClean="0">
                <a:solidFill>
                  <a:schemeClr val="tx1"/>
                </a:solidFill>
                <a:latin typeface="+mn-lt"/>
                <a:ea typeface="+mn-ea"/>
                <a:cs typeface="+mn-cs"/>
              </a:rPr>
              <a:t> to personal use only. (A derivative is any new software you develop that contains the component.)(https://www.synopsys.com/blogs/software-security/whosafraidgpl3/) </a:t>
            </a:r>
          </a:p>
          <a:p>
            <a:r>
              <a:rPr lang="en-US" sz="1200" b="1" i="0" u="none" strike="noStrike" kern="1200" baseline="0" dirty="0" smtClean="0">
                <a:solidFill>
                  <a:schemeClr val="tx1"/>
                </a:solidFill>
                <a:latin typeface="+mn-lt"/>
                <a:ea typeface="+mn-ea"/>
                <a:cs typeface="+mn-cs"/>
              </a:rPr>
              <a:t>Proprietary</a:t>
            </a:r>
            <a:r>
              <a:rPr lang="en-US" sz="1200" b="0" i="0" u="none" strike="noStrike" kern="1200" baseline="0" dirty="0" smtClean="0">
                <a:solidFill>
                  <a:schemeClr val="tx1"/>
                </a:solidFill>
                <a:latin typeface="+mn-lt"/>
                <a:ea typeface="+mn-ea"/>
                <a:cs typeface="+mn-cs"/>
              </a:rPr>
              <a:t>. Of all types of software licenses, this is the most restrictive. The idea behind it is that all rights </a:t>
            </a:r>
            <a:r>
              <a:rPr lang="en-US" sz="1200" b="0" i="0" u="none" strike="noStrike" kern="1200" baseline="0" dirty="0" err="1" smtClean="0">
                <a:solidFill>
                  <a:schemeClr val="tx1"/>
                </a:solidFill>
                <a:latin typeface="+mn-lt"/>
                <a:ea typeface="+mn-ea"/>
                <a:cs typeface="+mn-cs"/>
              </a:rPr>
              <a:t>arereserved</a:t>
            </a:r>
            <a:r>
              <a:rPr lang="en-US" sz="1200" b="0" i="0" u="none" strike="noStrike" kern="1200" baseline="0" dirty="0" smtClean="0">
                <a:solidFill>
                  <a:schemeClr val="tx1"/>
                </a:solidFill>
                <a:latin typeface="+mn-lt"/>
                <a:ea typeface="+mn-ea"/>
                <a:cs typeface="+mn-cs"/>
              </a:rPr>
              <a:t>. It’s generally used for proprietary software where the work may not be modified or redistributed. </a:t>
            </a:r>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27</a:t>
            </a:fld>
            <a:endParaRPr lang="en-US"/>
          </a:p>
        </p:txBody>
      </p:sp>
    </p:spTree>
    <p:extLst>
      <p:ext uri="{BB962C8B-B14F-4D97-AF65-F5344CB8AC3E}">
        <p14:creationId xmlns:p14="http://schemas.microsoft.com/office/powerpoint/2010/main" val="2547368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29</a:t>
            </a:fld>
            <a:endParaRPr lang="en-US"/>
          </a:p>
        </p:txBody>
      </p:sp>
    </p:spTree>
    <p:extLst>
      <p:ext uri="{BB962C8B-B14F-4D97-AF65-F5344CB8AC3E}">
        <p14:creationId xmlns:p14="http://schemas.microsoft.com/office/powerpoint/2010/main" val="2499722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ACDB52C-A818-4FE5-B2F5-650B81843E42}"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503478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ACDB52C-A818-4FE5-B2F5-650B81843E42}"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40436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ACDB52C-A818-4FE5-B2F5-650B81843E42}"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1512911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ACDB52C-A818-4FE5-B2F5-650B81843E42}" type="datetimeFigureOut">
              <a:rPr lang="en-US" smtClean="0"/>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3288537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ACDB52C-A818-4FE5-B2F5-650B81843E42}" type="datetimeFigureOut">
              <a:rPr lang="en-US" smtClean="0"/>
              <a:t>3/29/2022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56836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ACDB52C-A818-4FE5-B2F5-650B81843E42}" type="datetimeFigureOut">
              <a:rPr lang="en-US" smtClean="0"/>
              <a:t>3/29/2022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3860952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DB52C-A818-4FE5-B2F5-650B81843E42}" type="datetimeFigureOut">
              <a:rPr lang="en-US" smtClean="0"/>
              <a:t>3/29/2022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0710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ACDB52C-A818-4FE5-B2F5-650B81843E42}" type="datetimeFigureOut">
              <a:rPr lang="en-US" smtClean="0"/>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1618576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ACDB52C-A818-4FE5-B2F5-650B81843E42}" type="datetimeFigureOut">
              <a:rPr lang="en-US" smtClean="0"/>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35735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ACDB52C-A818-4FE5-B2F5-650B81843E42}"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89269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ACDB52C-A818-4FE5-B2F5-650B81843E42}"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154030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DB52C-A818-4FE5-B2F5-650B81843E42}" type="datetimeFigureOut">
              <a:rPr lang="en-US" smtClean="0"/>
              <a:t>3/29/2022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754F6-F986-4955-8543-F5FF00B3E147}" type="slidenum">
              <a:rPr lang="en-US" smtClean="0"/>
              <a:t>‹#›</a:t>
            </a:fld>
            <a:endParaRPr lang="en-US"/>
          </a:p>
        </p:txBody>
      </p:sp>
    </p:spTree>
    <p:extLst>
      <p:ext uri="{BB962C8B-B14F-4D97-AF65-F5344CB8AC3E}">
        <p14:creationId xmlns:p14="http://schemas.microsoft.com/office/powerpoint/2010/main" val="2400833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legalnature.com/categories/business/software-license-agreemen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New%20folder/02-Software%20License%20Agreement%20Template%20_%20LegalNature.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Contracts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5257250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a:bodyPr>
          <a:lstStyle/>
          <a:p>
            <a:pPr algn="just"/>
            <a:r>
              <a:rPr lang="en-US" dirty="0"/>
              <a:t>A </a:t>
            </a:r>
            <a:r>
              <a:rPr lang="en-US" dirty="0">
                <a:solidFill>
                  <a:srgbClr val="00B0F0"/>
                </a:solidFill>
              </a:rPr>
              <a:t>contract</a:t>
            </a:r>
            <a:r>
              <a:rPr lang="en-US" dirty="0"/>
              <a:t> is an agreement between two or more persons (the parties to the contract) that can be enforced in a court of law.</a:t>
            </a:r>
          </a:p>
          <a:p>
            <a:pPr algn="just">
              <a:defRPr/>
            </a:pPr>
            <a:r>
              <a:rPr lang="en-US" dirty="0" smtClean="0"/>
              <a:t>An </a:t>
            </a:r>
            <a:r>
              <a:rPr lang="en-US" dirty="0"/>
              <a:t>agreement between two or more parties for the doing or not doing of something </a:t>
            </a:r>
            <a:r>
              <a:rPr lang="en-US" dirty="0" smtClean="0"/>
              <a:t>specified.</a:t>
            </a:r>
            <a:r>
              <a:rPr lang="en-US" dirty="0"/>
              <a:t> </a:t>
            </a:r>
            <a:endParaRPr lang="en-US" dirty="0" smtClean="0"/>
          </a:p>
          <a:p>
            <a:pPr algn="just">
              <a:defRPr/>
            </a:pPr>
            <a:r>
              <a:rPr lang="en-US" dirty="0" smtClean="0"/>
              <a:t>The </a:t>
            </a:r>
            <a:r>
              <a:rPr lang="en-US" dirty="0"/>
              <a:t>parties may be legal or natural persons.</a:t>
            </a:r>
          </a:p>
          <a:p>
            <a:pPr algn="just">
              <a:defRPr/>
            </a:pPr>
            <a:r>
              <a:rPr lang="en-US" dirty="0" smtClean="0"/>
              <a:t>Contracts </a:t>
            </a:r>
            <a:r>
              <a:rPr lang="en-US" dirty="0"/>
              <a:t>serve the following purpose:</a:t>
            </a:r>
          </a:p>
          <a:p>
            <a:pPr lvl="1" algn="just">
              <a:defRPr/>
            </a:pPr>
            <a:r>
              <a:rPr lang="en-US" dirty="0"/>
              <a:t>Set out the agreement between the parties</a:t>
            </a:r>
          </a:p>
          <a:p>
            <a:pPr lvl="1" algn="just">
              <a:defRPr/>
            </a:pPr>
            <a:r>
              <a:rPr lang="en-US" dirty="0"/>
              <a:t>Set out the aims of the parties</a:t>
            </a:r>
          </a:p>
          <a:p>
            <a:pPr lvl="1" algn="just">
              <a:defRPr/>
            </a:pPr>
            <a:r>
              <a:rPr lang="en-US" dirty="0"/>
              <a:t>Provide for matter arising while the contract is running</a:t>
            </a:r>
          </a:p>
          <a:p>
            <a:pPr lvl="1" algn="just">
              <a:defRPr/>
            </a:pPr>
            <a:r>
              <a:rPr lang="en-US" dirty="0"/>
              <a:t>Ways of  terminating the contract and the consequences</a:t>
            </a:r>
          </a:p>
          <a:p>
            <a:pPr algn="just"/>
            <a:endParaRPr lang="en-US" dirty="0"/>
          </a:p>
        </p:txBody>
      </p:sp>
    </p:spTree>
    <p:extLst>
      <p:ext uri="{BB962C8B-B14F-4D97-AF65-F5344CB8AC3E}">
        <p14:creationId xmlns:p14="http://schemas.microsoft.com/office/powerpoint/2010/main" val="39490721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lnSpcReduction="10000"/>
          </a:bodyPr>
          <a:lstStyle/>
          <a:p>
            <a:r>
              <a:rPr lang="en-US" dirty="0"/>
              <a:t>If the contracts are too harsh or unfair causing any issue between parties to be unresolved, it is the responsibility of contract laws to contemplate according to the rules</a:t>
            </a:r>
          </a:p>
          <a:p>
            <a:pPr>
              <a:defRPr/>
            </a:pPr>
            <a:r>
              <a:rPr lang="en-US" dirty="0"/>
              <a:t>There are almost never disputes over contracts which run perfectly. Example marriage.</a:t>
            </a:r>
          </a:p>
          <a:p>
            <a:pPr>
              <a:defRPr/>
            </a:pPr>
            <a:r>
              <a:rPr lang="en-US" dirty="0"/>
              <a:t>Example of a ship carrying a cargo.</a:t>
            </a:r>
          </a:p>
          <a:p>
            <a:pPr>
              <a:defRPr/>
            </a:pPr>
            <a:r>
              <a:rPr lang="en-US" dirty="0"/>
              <a:t>In order to avoid disputes and future difficulties it is better to draft a document which sets out: </a:t>
            </a:r>
          </a:p>
          <a:p>
            <a:pPr lvl="1">
              <a:defRPr/>
            </a:pPr>
            <a:r>
              <a:rPr lang="en-US" dirty="0"/>
              <a:t>The terms on which both parties is to work</a:t>
            </a:r>
          </a:p>
          <a:p>
            <a:pPr lvl="1">
              <a:defRPr/>
            </a:pPr>
            <a:r>
              <a:rPr lang="en-US" dirty="0"/>
              <a:t>Methods of payments</a:t>
            </a:r>
          </a:p>
          <a:p>
            <a:pPr lvl="1">
              <a:defRPr/>
            </a:pPr>
            <a:r>
              <a:rPr lang="en-US" dirty="0"/>
              <a:t>Appropriate ways to terminate the contract-notice </a:t>
            </a:r>
            <a:r>
              <a:rPr lang="en-US" dirty="0" smtClean="0"/>
              <a:t>required</a:t>
            </a:r>
            <a:endParaRPr lang="en-US" dirty="0"/>
          </a:p>
        </p:txBody>
      </p:sp>
    </p:spTree>
    <p:extLst>
      <p:ext uri="{BB962C8B-B14F-4D97-AF65-F5344CB8AC3E}">
        <p14:creationId xmlns:p14="http://schemas.microsoft.com/office/powerpoint/2010/main" val="12936197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Contract should be clear, concise  and consistent. </a:t>
            </a:r>
            <a:endParaRPr lang="en-US" dirty="0" smtClean="0"/>
          </a:p>
          <a:p>
            <a:r>
              <a:rPr lang="en-US" dirty="0" smtClean="0"/>
              <a:t>There </a:t>
            </a:r>
            <a:r>
              <a:rPr lang="en-US" dirty="0"/>
              <a:t>should be no ambiguity and the parties to the agreement should be left in no doubt as to their rights and duties. </a:t>
            </a:r>
            <a:endParaRPr lang="en-US" dirty="0" smtClean="0"/>
          </a:p>
          <a:p>
            <a:r>
              <a:rPr lang="en-US" dirty="0" smtClean="0"/>
              <a:t>Ambiguity </a:t>
            </a:r>
            <a:r>
              <a:rPr lang="en-US" dirty="0"/>
              <a:t>and doubts can lead to performance which is viewed as unsatisfactory. </a:t>
            </a:r>
            <a:endParaRPr lang="en-US" dirty="0" smtClean="0"/>
          </a:p>
          <a:p>
            <a:r>
              <a:rPr lang="en-US" dirty="0" smtClean="0"/>
              <a:t>This </a:t>
            </a:r>
            <a:r>
              <a:rPr lang="en-US" dirty="0"/>
              <a:t>can lead to disagreement and the expenditure of time, effort and therefore money, in resolving the matter.</a:t>
            </a:r>
          </a:p>
        </p:txBody>
      </p:sp>
    </p:spTree>
    <p:extLst>
      <p:ext uri="{BB962C8B-B14F-4D97-AF65-F5344CB8AC3E}">
        <p14:creationId xmlns:p14="http://schemas.microsoft.com/office/powerpoint/2010/main" val="224213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Contracts</a:t>
            </a:r>
          </a:p>
        </p:txBody>
      </p:sp>
      <p:sp>
        <p:nvSpPr>
          <p:cNvPr id="3" name="Content Placeholder 2"/>
          <p:cNvSpPr>
            <a:spLocks noGrp="1"/>
          </p:cNvSpPr>
          <p:nvPr>
            <p:ph idx="1"/>
          </p:nvPr>
        </p:nvSpPr>
        <p:spPr/>
        <p:txBody>
          <a:bodyPr/>
          <a:lstStyle/>
          <a:p>
            <a:r>
              <a:rPr lang="en-GB" altLang="en-US" dirty="0"/>
              <a:t>Agreement between the parties</a:t>
            </a:r>
          </a:p>
          <a:p>
            <a:r>
              <a:rPr lang="en-GB" altLang="en-US" dirty="0"/>
              <a:t>Commercial in nature </a:t>
            </a:r>
          </a:p>
          <a:p>
            <a:r>
              <a:rPr lang="en-GB" altLang="en-US" dirty="0"/>
              <a:t>Governed by the standard Law of Contracts</a:t>
            </a:r>
          </a:p>
          <a:p>
            <a:r>
              <a:rPr lang="en-GB" altLang="en-US" dirty="0"/>
              <a:t>Specific problems relating to e-commerce</a:t>
            </a:r>
          </a:p>
          <a:p>
            <a:endParaRPr lang="en-US" dirty="0"/>
          </a:p>
        </p:txBody>
      </p:sp>
    </p:spTree>
    <p:extLst>
      <p:ext uri="{BB962C8B-B14F-4D97-AF65-F5344CB8AC3E}">
        <p14:creationId xmlns:p14="http://schemas.microsoft.com/office/powerpoint/2010/main" val="20876019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Do we need a formal Contract</a:t>
            </a:r>
            <a:r>
              <a:rPr lang="en-GB" altLang="en-US" dirty="0" smtClean="0"/>
              <a:t>?</a:t>
            </a:r>
            <a:endParaRPr lang="en-US" dirty="0"/>
          </a:p>
        </p:txBody>
      </p:sp>
      <p:sp>
        <p:nvSpPr>
          <p:cNvPr id="3" name="Content Placeholder 2"/>
          <p:cNvSpPr>
            <a:spLocks noGrp="1"/>
          </p:cNvSpPr>
          <p:nvPr>
            <p:ph idx="1"/>
          </p:nvPr>
        </p:nvSpPr>
        <p:spPr/>
        <p:txBody>
          <a:bodyPr/>
          <a:lstStyle/>
          <a:p>
            <a:pPr algn="just"/>
            <a:r>
              <a:rPr lang="en-US" dirty="0" smtClean="0"/>
              <a:t>If </a:t>
            </a:r>
            <a:r>
              <a:rPr lang="en-US" dirty="0"/>
              <a:t>you create software for customers, then you need to consider creating a </a:t>
            </a:r>
            <a:r>
              <a:rPr lang="en-US" dirty="0">
                <a:hlinkClick r:id="rId3"/>
              </a:rPr>
              <a:t>software license agreement</a:t>
            </a:r>
            <a:r>
              <a:rPr lang="en-US" dirty="0"/>
              <a:t> to help protect you and your business. </a:t>
            </a:r>
            <a:endParaRPr lang="en-US" dirty="0" smtClean="0"/>
          </a:p>
          <a:p>
            <a:pPr algn="just"/>
            <a:r>
              <a:rPr lang="en-US" dirty="0" smtClean="0"/>
              <a:t>There </a:t>
            </a:r>
            <a:r>
              <a:rPr lang="en-US" dirty="0"/>
              <a:t>are many reasons to have one in place, so if you do not yet have one, it is time to start understanding </a:t>
            </a:r>
            <a:r>
              <a:rPr lang="en-US" dirty="0" smtClean="0"/>
              <a:t>its significance.</a:t>
            </a:r>
          </a:p>
          <a:p>
            <a:r>
              <a:rPr lang="en-GB" altLang="en-US" dirty="0"/>
              <a:t>Most disputes which end up in courts are caused by lack of clarity as to what each party expected from the other.</a:t>
            </a:r>
          </a:p>
          <a:p>
            <a:r>
              <a:rPr lang="en-GB" altLang="en-US" dirty="0"/>
              <a:t>If a dispute has to be resolved in the courts, this will involve lawyers, accountants, judges, etc. trying to work out each party’s obligations</a:t>
            </a:r>
          </a:p>
          <a:p>
            <a:pPr algn="just"/>
            <a:endParaRPr lang="en-US" dirty="0"/>
          </a:p>
        </p:txBody>
      </p:sp>
    </p:spTree>
    <p:extLst>
      <p:ext uri="{BB962C8B-B14F-4D97-AF65-F5344CB8AC3E}">
        <p14:creationId xmlns:p14="http://schemas.microsoft.com/office/powerpoint/2010/main" val="29172864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a software Contract</a:t>
            </a:r>
            <a:endParaRPr lang="en-US" dirty="0"/>
          </a:p>
        </p:txBody>
      </p:sp>
      <p:sp>
        <p:nvSpPr>
          <p:cNvPr id="3" name="Content Placeholder 2"/>
          <p:cNvSpPr>
            <a:spLocks noGrp="1"/>
          </p:cNvSpPr>
          <p:nvPr>
            <p:ph idx="1"/>
          </p:nvPr>
        </p:nvSpPr>
        <p:spPr/>
        <p:txBody>
          <a:bodyPr/>
          <a:lstStyle/>
          <a:p>
            <a:pPr marL="0" indent="0">
              <a:buNone/>
            </a:pPr>
            <a:r>
              <a:rPr lang="en-GB" altLang="en-US" dirty="0" smtClean="0"/>
              <a:t>A software contract at least includes:</a:t>
            </a:r>
          </a:p>
          <a:p>
            <a:pPr marL="1066800" lvl="1" indent="-609600"/>
            <a:r>
              <a:rPr lang="en-GB" altLang="en-US" sz="2800" dirty="0" smtClean="0"/>
              <a:t>Definitions</a:t>
            </a:r>
          </a:p>
          <a:p>
            <a:pPr marL="1066800" lvl="1" indent="-609600"/>
            <a:r>
              <a:rPr lang="en-GB" altLang="en-US" sz="2800" dirty="0" smtClean="0"/>
              <a:t>Name </a:t>
            </a:r>
            <a:r>
              <a:rPr lang="en-GB" altLang="en-US" sz="2800" dirty="0"/>
              <a:t>of Parties</a:t>
            </a:r>
          </a:p>
          <a:p>
            <a:pPr marL="1066800" lvl="1" indent="-609600"/>
            <a:r>
              <a:rPr lang="en-GB" altLang="en-US" sz="2800" dirty="0"/>
              <a:t>Standard Terms and Conditions</a:t>
            </a:r>
          </a:p>
          <a:p>
            <a:pPr marL="1066800" lvl="1" indent="-609600"/>
            <a:r>
              <a:rPr lang="en-GB" altLang="en-US" sz="2800" dirty="0"/>
              <a:t>Set of Appendices (Annexes</a:t>
            </a:r>
            <a:r>
              <a:rPr lang="en-GB" altLang="en-US" sz="2800" dirty="0" smtClean="0"/>
              <a:t>)</a:t>
            </a:r>
          </a:p>
          <a:p>
            <a:pPr marL="1595438" lvl="2" indent="-393700"/>
            <a:r>
              <a:rPr lang="en-GB" altLang="en-US" dirty="0" smtClean="0"/>
              <a:t>Specific Documents</a:t>
            </a:r>
            <a:endParaRPr lang="en-GB" altLang="en-US" dirty="0"/>
          </a:p>
          <a:p>
            <a:endParaRPr lang="en-US" dirty="0"/>
          </a:p>
        </p:txBody>
      </p:sp>
      <p:sp>
        <p:nvSpPr>
          <p:cNvPr id="5" name="Rectangle 4">
            <a:hlinkClick r:id="rId2" action="ppaction://hlinkfile"/>
          </p:cNvPr>
          <p:cNvSpPr/>
          <p:nvPr/>
        </p:nvSpPr>
        <p:spPr>
          <a:xfrm>
            <a:off x="2930662" y="4882870"/>
            <a:ext cx="5581977" cy="646331"/>
          </a:xfrm>
          <a:prstGeom prst="rect">
            <a:avLst/>
          </a:prstGeom>
        </p:spPr>
        <p:txBody>
          <a:bodyPr wrap="none">
            <a:spAutoFit/>
          </a:bodyPr>
          <a:lstStyle/>
          <a:p>
            <a:r>
              <a:rPr lang="en-US" sz="3600" dirty="0"/>
              <a:t>Software Contracts Template</a:t>
            </a:r>
          </a:p>
        </p:txBody>
      </p:sp>
    </p:spTree>
    <p:extLst>
      <p:ext uri="{BB962C8B-B14F-4D97-AF65-F5344CB8AC3E}">
        <p14:creationId xmlns:p14="http://schemas.microsoft.com/office/powerpoint/2010/main" val="269900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Clauses of a software contract</a:t>
            </a:r>
            <a:endParaRPr lang="en-US" dirty="0"/>
          </a:p>
        </p:txBody>
      </p:sp>
      <p:sp>
        <p:nvSpPr>
          <p:cNvPr id="3" name="Content Placeholder 2"/>
          <p:cNvSpPr>
            <a:spLocks noGrp="1"/>
          </p:cNvSpPr>
          <p:nvPr>
            <p:ph idx="1"/>
          </p:nvPr>
        </p:nvSpPr>
        <p:spPr/>
        <p:txBody>
          <a:bodyPr>
            <a:normAutofit lnSpcReduction="10000"/>
          </a:bodyPr>
          <a:lstStyle/>
          <a:p>
            <a:r>
              <a:rPr lang="en-US" dirty="0" smtClean="0"/>
              <a:t>Definitions</a:t>
            </a:r>
          </a:p>
          <a:p>
            <a:r>
              <a:rPr lang="en-US" dirty="0" smtClean="0"/>
              <a:t>What </a:t>
            </a:r>
            <a:r>
              <a:rPr lang="en-US" dirty="0"/>
              <a:t>is to be </a:t>
            </a:r>
            <a:r>
              <a:rPr lang="en-US" dirty="0" smtClean="0"/>
              <a:t>produced?</a:t>
            </a:r>
            <a:endParaRPr lang="en-US" dirty="0"/>
          </a:p>
          <a:p>
            <a:r>
              <a:rPr lang="en-US" dirty="0" smtClean="0"/>
              <a:t>What </a:t>
            </a:r>
            <a:r>
              <a:rPr lang="en-US" dirty="0"/>
              <a:t>is to be </a:t>
            </a:r>
            <a:r>
              <a:rPr lang="en-US" dirty="0" smtClean="0"/>
              <a:t>delivered?</a:t>
            </a:r>
          </a:p>
          <a:p>
            <a:r>
              <a:rPr lang="en-US" dirty="0"/>
              <a:t>Rights </a:t>
            </a:r>
            <a:r>
              <a:rPr lang="en-US" dirty="0" smtClean="0"/>
              <a:t>Ownership</a:t>
            </a:r>
          </a:p>
          <a:p>
            <a:r>
              <a:rPr lang="en-US" dirty="0" smtClean="0"/>
              <a:t>Confidentiality</a:t>
            </a:r>
          </a:p>
          <a:p>
            <a:r>
              <a:rPr lang="en-US" dirty="0"/>
              <a:t>Payment </a:t>
            </a:r>
            <a:r>
              <a:rPr lang="en-US" dirty="0" smtClean="0"/>
              <a:t>Terms</a:t>
            </a:r>
          </a:p>
          <a:p>
            <a:r>
              <a:rPr lang="en-US" dirty="0"/>
              <a:t>Payments for Delays and </a:t>
            </a:r>
            <a:r>
              <a:rPr lang="en-US" dirty="0" smtClean="0"/>
              <a:t>Changes</a:t>
            </a:r>
          </a:p>
          <a:p>
            <a:r>
              <a:rPr lang="en-US" dirty="0"/>
              <a:t>Penalty </a:t>
            </a:r>
            <a:r>
              <a:rPr lang="en-US" dirty="0" smtClean="0"/>
              <a:t>Clauses</a:t>
            </a:r>
          </a:p>
          <a:p>
            <a:r>
              <a:rPr lang="en-US" dirty="0"/>
              <a:t>Client </a:t>
            </a:r>
            <a:r>
              <a:rPr lang="en-US" dirty="0" smtClean="0"/>
              <a:t>Obligations</a:t>
            </a:r>
          </a:p>
          <a:p>
            <a:pPr marL="0" indent="0">
              <a:buNone/>
            </a:pPr>
            <a:endParaRPr lang="en-US" dirty="0" smtClean="0"/>
          </a:p>
          <a:p>
            <a:endParaRPr lang="en-US" dirty="0"/>
          </a:p>
        </p:txBody>
      </p:sp>
    </p:spTree>
    <p:extLst>
      <p:ext uri="{BB962C8B-B14F-4D97-AF65-F5344CB8AC3E}">
        <p14:creationId xmlns:p14="http://schemas.microsoft.com/office/powerpoint/2010/main" val="13708803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Clauses </a:t>
            </a:r>
            <a:r>
              <a:rPr lang="en-US" dirty="0"/>
              <a:t>of a software contract</a:t>
            </a:r>
          </a:p>
        </p:txBody>
      </p:sp>
      <p:sp>
        <p:nvSpPr>
          <p:cNvPr id="3" name="Content Placeholder 2"/>
          <p:cNvSpPr>
            <a:spLocks noGrp="1"/>
          </p:cNvSpPr>
          <p:nvPr>
            <p:ph idx="1"/>
          </p:nvPr>
        </p:nvSpPr>
        <p:spPr/>
        <p:txBody>
          <a:bodyPr>
            <a:normAutofit/>
          </a:bodyPr>
          <a:lstStyle/>
          <a:p>
            <a:r>
              <a:rPr lang="en-US" dirty="0"/>
              <a:t>Working Standards</a:t>
            </a:r>
          </a:p>
          <a:p>
            <a:r>
              <a:rPr lang="en-US" dirty="0"/>
              <a:t>Acceptance Procedure</a:t>
            </a:r>
          </a:p>
          <a:p>
            <a:r>
              <a:rPr lang="en-US" dirty="0"/>
              <a:t>Warranty and </a:t>
            </a:r>
            <a:r>
              <a:rPr lang="en-US" dirty="0" smtClean="0"/>
              <a:t>Maintenance</a:t>
            </a:r>
            <a:endParaRPr lang="en-US" dirty="0"/>
          </a:p>
          <a:p>
            <a:r>
              <a:rPr lang="en-US" dirty="0"/>
              <a:t>Termination of </a:t>
            </a:r>
            <a:r>
              <a:rPr lang="en-US" dirty="0" smtClean="0"/>
              <a:t>Contract</a:t>
            </a:r>
            <a:endParaRPr lang="en-US" dirty="0"/>
          </a:p>
          <a:p>
            <a:r>
              <a:rPr lang="en-US" dirty="0"/>
              <a:t>Applicable Law</a:t>
            </a:r>
          </a:p>
          <a:p>
            <a:r>
              <a:rPr lang="en-US" dirty="0"/>
              <a:t>Time and Materials</a:t>
            </a:r>
          </a:p>
          <a:p>
            <a:r>
              <a:rPr lang="en-US" dirty="0"/>
              <a:t>Consultancy and outsourcing</a:t>
            </a:r>
          </a:p>
          <a:p>
            <a:endParaRPr lang="en-US" dirty="0"/>
          </a:p>
        </p:txBody>
      </p:sp>
      <p:sp>
        <p:nvSpPr>
          <p:cNvPr id="4" name="Content Placeholder 2"/>
          <p:cNvSpPr txBox="1">
            <a:spLocks/>
          </p:cNvSpPr>
          <p:nvPr/>
        </p:nvSpPr>
        <p:spPr>
          <a:xfrm>
            <a:off x="6096000" y="1825625"/>
            <a:ext cx="4800600" cy="194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License Agreements</a:t>
            </a:r>
          </a:p>
          <a:p>
            <a:r>
              <a:rPr lang="en-US" smtClean="0"/>
              <a:t>Liability of Defective Software</a:t>
            </a:r>
          </a:p>
          <a:p>
            <a:r>
              <a:rPr lang="en-US" smtClean="0"/>
              <a:t>Health and Safety</a:t>
            </a:r>
          </a:p>
          <a:p>
            <a:endParaRPr lang="en-US" dirty="0"/>
          </a:p>
        </p:txBody>
      </p:sp>
    </p:spTree>
    <p:extLst>
      <p:ext uri="{BB962C8B-B14F-4D97-AF65-F5344CB8AC3E}">
        <p14:creationId xmlns:p14="http://schemas.microsoft.com/office/powerpoint/2010/main" val="28822694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Clauses: Definitions</a:t>
            </a:r>
            <a:endParaRPr lang="en-US" dirty="0"/>
          </a:p>
        </p:txBody>
      </p:sp>
      <p:sp>
        <p:nvSpPr>
          <p:cNvPr id="3" name="Content Placeholder 2"/>
          <p:cNvSpPr>
            <a:spLocks noGrp="1"/>
          </p:cNvSpPr>
          <p:nvPr>
            <p:ph idx="1"/>
          </p:nvPr>
        </p:nvSpPr>
        <p:spPr/>
        <p:txBody>
          <a:bodyPr/>
          <a:lstStyle/>
          <a:p>
            <a:pPr algn="just"/>
            <a:r>
              <a:rPr lang="en-US" dirty="0"/>
              <a:t>Definition clause is the opening clause and is one of the most important section as it defines the scope of the terms used </a:t>
            </a:r>
            <a:r>
              <a:rPr lang="en-US" dirty="0" smtClean="0"/>
              <a:t>in the </a:t>
            </a:r>
            <a:r>
              <a:rPr lang="en-US" dirty="0"/>
              <a:t>agreement. </a:t>
            </a:r>
            <a:endParaRPr lang="en-US" dirty="0" smtClean="0"/>
          </a:p>
          <a:p>
            <a:pPr algn="just"/>
            <a:r>
              <a:rPr lang="en-US" dirty="0" smtClean="0"/>
              <a:t>Whenever </a:t>
            </a:r>
            <a:r>
              <a:rPr lang="en-US" dirty="0"/>
              <a:t>there is a conflict, the court takes into notice the terms defined in the definition. </a:t>
            </a:r>
            <a:endParaRPr lang="en-US" dirty="0" smtClean="0"/>
          </a:p>
          <a:p>
            <a:pPr algn="just"/>
            <a:r>
              <a:rPr lang="en-US" dirty="0" smtClean="0"/>
              <a:t>Therefore</a:t>
            </a:r>
            <a:r>
              <a:rPr lang="en-US" dirty="0"/>
              <a:t>, </a:t>
            </a:r>
            <a:r>
              <a:rPr lang="en-US" dirty="0" smtClean="0"/>
              <a:t>the definition </a:t>
            </a:r>
            <a:r>
              <a:rPr lang="en-US" dirty="0"/>
              <a:t>clause must be carefully defined in the </a:t>
            </a:r>
            <a:r>
              <a:rPr lang="en-US" dirty="0" smtClean="0"/>
              <a:t>agreement</a:t>
            </a:r>
            <a:r>
              <a:rPr lang="en-US" dirty="0"/>
              <a:t>.</a:t>
            </a:r>
          </a:p>
        </p:txBody>
      </p:sp>
    </p:spTree>
    <p:extLst>
      <p:ext uri="{BB962C8B-B14F-4D97-AF65-F5344CB8AC3E}">
        <p14:creationId xmlns:p14="http://schemas.microsoft.com/office/powerpoint/2010/main" val="36193508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Major Clauses: </a:t>
            </a:r>
            <a:r>
              <a:rPr lang="en-US" dirty="0" smtClean="0"/>
              <a:t>What </a:t>
            </a:r>
            <a:r>
              <a:rPr lang="en-US" dirty="0"/>
              <a:t>is to be produced</a:t>
            </a:r>
            <a:r>
              <a:rPr lang="en-US" dirty="0" smtClean="0"/>
              <a:t>?</a:t>
            </a:r>
            <a:endParaRPr lang="en-US" dirty="0"/>
          </a:p>
        </p:txBody>
      </p:sp>
      <p:sp>
        <p:nvSpPr>
          <p:cNvPr id="3" name="Content Placeholder 2"/>
          <p:cNvSpPr>
            <a:spLocks noGrp="1"/>
          </p:cNvSpPr>
          <p:nvPr>
            <p:ph idx="1"/>
          </p:nvPr>
        </p:nvSpPr>
        <p:spPr/>
        <p:txBody>
          <a:bodyPr>
            <a:normAutofit fontScale="92500"/>
          </a:bodyPr>
          <a:lstStyle/>
          <a:p>
            <a:pPr marL="0" indent="0">
              <a:buNone/>
            </a:pPr>
            <a:r>
              <a:rPr lang="en-US" dirty="0"/>
              <a:t>Contract necessarily states what is to be produced.</a:t>
            </a:r>
          </a:p>
          <a:p>
            <a:pPr marL="0" indent="0">
              <a:buNone/>
            </a:pPr>
            <a:r>
              <a:rPr lang="en-US" dirty="0"/>
              <a:t>• Usually two level of reference:</a:t>
            </a:r>
          </a:p>
          <a:p>
            <a:pPr marL="457200" lvl="1" indent="0">
              <a:buNone/>
            </a:pPr>
            <a:r>
              <a:rPr lang="en-US" dirty="0"/>
              <a:t>– Standard terms and conditions refer to an </a:t>
            </a:r>
            <a:r>
              <a:rPr lang="en-US" dirty="0" smtClean="0"/>
              <a:t>extension</a:t>
            </a:r>
            <a:endParaRPr lang="en-US" dirty="0"/>
          </a:p>
          <a:p>
            <a:pPr marL="457200" lvl="1" indent="0">
              <a:buNone/>
            </a:pPr>
            <a:r>
              <a:rPr lang="en-US" dirty="0"/>
              <a:t>– The annex then refers to the requirement specification in a separate document</a:t>
            </a:r>
          </a:p>
          <a:p>
            <a:pPr marL="457200" lvl="1" indent="0">
              <a:buNone/>
            </a:pPr>
            <a:r>
              <a:rPr lang="en-US" dirty="0"/>
              <a:t>*IMPORTANT: the reference to the requirement specification identifies that document uniquely, normally quoting a date and issue number.</a:t>
            </a:r>
          </a:p>
          <a:p>
            <a:pPr marL="0" indent="0">
              <a:buNone/>
            </a:pPr>
            <a:r>
              <a:rPr lang="en-US" dirty="0"/>
              <a:t>• Contract should provide a procedure </a:t>
            </a:r>
            <a:r>
              <a:rPr lang="en-US" dirty="0" smtClean="0"/>
              <a:t>for requirement </a:t>
            </a:r>
            <a:r>
              <a:rPr lang="en-US" dirty="0"/>
              <a:t>specification changes, including:</a:t>
            </a:r>
          </a:p>
          <a:p>
            <a:pPr marL="457200" lvl="1" indent="0">
              <a:buNone/>
            </a:pPr>
            <a:r>
              <a:rPr lang="en-US" dirty="0"/>
              <a:t>– A method of calculating payment for the changes </a:t>
            </a:r>
          </a:p>
          <a:p>
            <a:pPr marL="457200" lvl="1" indent="0">
              <a:buNone/>
            </a:pPr>
            <a:r>
              <a:rPr lang="en-US" dirty="0"/>
              <a:t>– Variation of the level of anticipated </a:t>
            </a:r>
            <a:r>
              <a:rPr lang="en-US" dirty="0" smtClean="0"/>
              <a:t>performance (</a:t>
            </a:r>
            <a:r>
              <a:rPr lang="en-US" dirty="0"/>
              <a:t>optional)</a:t>
            </a:r>
          </a:p>
          <a:p>
            <a:pPr marL="457200" lvl="1" indent="0">
              <a:buNone/>
            </a:pPr>
            <a:r>
              <a:rPr lang="en-US" dirty="0"/>
              <a:t>– Variation of the method of acceptance testing</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944227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What </a:t>
            </a:r>
            <a:r>
              <a:rPr lang="en-US" dirty="0"/>
              <a:t>is to be delivered</a:t>
            </a:r>
            <a:r>
              <a:rPr lang="en-US" dirty="0" smtClean="0"/>
              <a:t>?</a:t>
            </a:r>
            <a:endParaRPr lang="en-US" dirty="0"/>
          </a:p>
        </p:txBody>
      </p:sp>
      <p:sp>
        <p:nvSpPr>
          <p:cNvPr id="3" name="Content Placeholder 2"/>
          <p:cNvSpPr>
            <a:spLocks noGrp="1"/>
          </p:cNvSpPr>
          <p:nvPr>
            <p:ph idx="1"/>
          </p:nvPr>
        </p:nvSpPr>
        <p:spPr/>
        <p:txBody>
          <a:bodyPr>
            <a:noAutofit/>
          </a:bodyPr>
          <a:lstStyle/>
          <a:p>
            <a:pPr marL="0" indent="0">
              <a:buNone/>
            </a:pPr>
            <a:r>
              <a:rPr lang="en-US" sz="2400" dirty="0"/>
              <a:t>Non </a:t>
            </a:r>
            <a:r>
              <a:rPr lang="en-US" sz="2400" dirty="0" smtClean="0"/>
              <a:t>extensive </a:t>
            </a:r>
            <a:r>
              <a:rPr lang="en-US" sz="2400" dirty="0"/>
              <a:t>list of possibilities:</a:t>
            </a:r>
          </a:p>
          <a:p>
            <a:pPr marL="457200" lvl="1" indent="0">
              <a:buNone/>
            </a:pPr>
            <a:r>
              <a:rPr lang="en-US" sz="2000" dirty="0"/>
              <a:t>1. Source code</a:t>
            </a:r>
          </a:p>
          <a:p>
            <a:pPr marL="457200" lvl="1" indent="0">
              <a:buNone/>
            </a:pPr>
            <a:r>
              <a:rPr lang="en-US" sz="2000" dirty="0"/>
              <a:t>2. Command </a:t>
            </a:r>
            <a:r>
              <a:rPr lang="en-US" sz="2000" dirty="0" smtClean="0"/>
              <a:t>files for </a:t>
            </a:r>
            <a:r>
              <a:rPr lang="en-US" sz="2000" dirty="0"/>
              <a:t>building the executable from the source</a:t>
            </a:r>
          </a:p>
          <a:p>
            <a:pPr marL="457200" lvl="1" indent="0">
              <a:buNone/>
            </a:pPr>
            <a:r>
              <a:rPr lang="en-US" sz="2000" dirty="0"/>
              <a:t>3. </a:t>
            </a:r>
            <a:r>
              <a:rPr lang="en-US" sz="2000" dirty="0" smtClean="0"/>
              <a:t>Documentation Of </a:t>
            </a:r>
            <a:r>
              <a:rPr lang="en-US" sz="2000" dirty="0"/>
              <a:t>the design and the code</a:t>
            </a:r>
          </a:p>
          <a:p>
            <a:pPr marL="457200" lvl="1" indent="0">
              <a:buNone/>
            </a:pPr>
            <a:r>
              <a:rPr lang="en-US" sz="2000" dirty="0"/>
              <a:t>4. </a:t>
            </a:r>
            <a:r>
              <a:rPr lang="en-US" sz="2000" dirty="0" smtClean="0"/>
              <a:t>Manuals</a:t>
            </a:r>
          </a:p>
          <a:p>
            <a:pPr marL="914400" lvl="2" indent="0">
              <a:buNone/>
            </a:pPr>
            <a:r>
              <a:rPr lang="en-US" sz="1600" dirty="0"/>
              <a:t>• Reference manuals</a:t>
            </a:r>
          </a:p>
          <a:p>
            <a:pPr marL="914400" lvl="2" indent="0">
              <a:buNone/>
            </a:pPr>
            <a:r>
              <a:rPr lang="en-US" sz="1600" dirty="0"/>
              <a:t>• Training manuals</a:t>
            </a:r>
          </a:p>
          <a:p>
            <a:pPr marL="914400" lvl="2" indent="0">
              <a:buNone/>
            </a:pPr>
            <a:r>
              <a:rPr lang="en-US" sz="1600" dirty="0"/>
              <a:t>• Operations manuals</a:t>
            </a:r>
          </a:p>
          <a:p>
            <a:pPr marL="457200" lvl="1" indent="0">
              <a:buNone/>
            </a:pPr>
            <a:r>
              <a:rPr lang="en-US" sz="2000" dirty="0"/>
              <a:t>5. Software tool to help maintaining the code</a:t>
            </a:r>
          </a:p>
          <a:p>
            <a:pPr marL="457200" lvl="1" indent="0">
              <a:buNone/>
            </a:pPr>
            <a:r>
              <a:rPr lang="en-US" sz="2000" dirty="0"/>
              <a:t>6. </a:t>
            </a:r>
            <a:r>
              <a:rPr lang="en-US" sz="2000" dirty="0" smtClean="0"/>
              <a:t>Trainings </a:t>
            </a:r>
            <a:endParaRPr lang="en-US" sz="2000" dirty="0"/>
          </a:p>
          <a:p>
            <a:pPr lvl="2"/>
            <a:r>
              <a:rPr lang="en-US" sz="1600" dirty="0"/>
              <a:t>For user</a:t>
            </a:r>
          </a:p>
          <a:p>
            <a:pPr lvl="2"/>
            <a:r>
              <a:rPr lang="en-US" sz="1600" dirty="0" smtClean="0"/>
              <a:t>For </a:t>
            </a:r>
            <a:r>
              <a:rPr lang="en-US" sz="1600" dirty="0"/>
              <a:t>client’s maintenance </a:t>
            </a:r>
            <a:r>
              <a:rPr lang="en-US" sz="1600" dirty="0" smtClean="0"/>
              <a:t>staff</a:t>
            </a:r>
          </a:p>
          <a:p>
            <a:pPr marL="457200" lvl="1" indent="0">
              <a:buNone/>
            </a:pPr>
            <a:r>
              <a:rPr lang="en-US" sz="2000" dirty="0" smtClean="0"/>
              <a:t>7</a:t>
            </a:r>
            <a:r>
              <a:rPr lang="en-US" sz="2000" dirty="0"/>
              <a:t>. Test data and test results</a:t>
            </a:r>
          </a:p>
          <a:p>
            <a:pPr marL="0" indent="0">
              <a:buNone/>
            </a:pPr>
            <a:endParaRPr lang="en-US" sz="2400" dirty="0"/>
          </a:p>
        </p:txBody>
      </p:sp>
    </p:spTree>
    <p:extLst>
      <p:ext uri="{BB962C8B-B14F-4D97-AF65-F5344CB8AC3E}">
        <p14:creationId xmlns:p14="http://schemas.microsoft.com/office/powerpoint/2010/main" val="37531971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Rights Ownership</a:t>
            </a:r>
            <a:endParaRPr lang="en-US" dirty="0"/>
          </a:p>
        </p:txBody>
      </p:sp>
      <p:sp>
        <p:nvSpPr>
          <p:cNvPr id="3" name="Content Placeholder 2"/>
          <p:cNvSpPr>
            <a:spLocks noGrp="1"/>
          </p:cNvSpPr>
          <p:nvPr>
            <p:ph idx="1"/>
          </p:nvPr>
        </p:nvSpPr>
        <p:spPr/>
        <p:txBody>
          <a:bodyPr>
            <a:noAutofit/>
          </a:bodyPr>
          <a:lstStyle/>
          <a:p>
            <a:pPr marL="0" indent="0">
              <a:buNone/>
            </a:pPr>
            <a:r>
              <a:rPr lang="en-US" dirty="0"/>
              <a:t>Stating what legal rights are being passed </a:t>
            </a:r>
            <a:r>
              <a:rPr lang="en-US" dirty="0" smtClean="0"/>
              <a:t>from the </a:t>
            </a:r>
            <a:r>
              <a:rPr lang="en-US" dirty="0"/>
              <a:t>developer to the client is important.</a:t>
            </a:r>
          </a:p>
          <a:p>
            <a:pPr marL="0" indent="0">
              <a:buNone/>
            </a:pPr>
            <a:r>
              <a:rPr lang="en-US" dirty="0"/>
              <a:t>• Ownership in physical items will </a:t>
            </a:r>
            <a:r>
              <a:rPr lang="en-US" dirty="0" smtClean="0"/>
              <a:t>usually passed</a:t>
            </a:r>
            <a:r>
              <a:rPr lang="en-US" dirty="0"/>
              <a:t>.</a:t>
            </a:r>
          </a:p>
          <a:p>
            <a:pPr marL="457200" lvl="1" indent="0">
              <a:buNone/>
            </a:pPr>
            <a:r>
              <a:rPr lang="en-US" dirty="0"/>
              <a:t>– E.g. books, documents, disks</a:t>
            </a:r>
          </a:p>
          <a:p>
            <a:pPr marL="0" indent="0">
              <a:buNone/>
            </a:pPr>
            <a:r>
              <a:rPr lang="en-US" dirty="0"/>
              <a:t>• More than that, software is protectable </a:t>
            </a:r>
            <a:r>
              <a:rPr lang="en-US" dirty="0" smtClean="0"/>
              <a:t>by intellectual </a:t>
            </a:r>
            <a:r>
              <a:rPr lang="en-US" dirty="0"/>
              <a:t>rights:</a:t>
            </a:r>
          </a:p>
          <a:p>
            <a:pPr marL="457200" lvl="1" indent="0">
              <a:buNone/>
            </a:pPr>
            <a:r>
              <a:rPr lang="en-US" dirty="0"/>
              <a:t>– Copyright</a:t>
            </a:r>
          </a:p>
          <a:p>
            <a:pPr marL="457200" lvl="1" indent="0">
              <a:buNone/>
            </a:pPr>
            <a:r>
              <a:rPr lang="en-US" dirty="0"/>
              <a:t>– Design rights</a:t>
            </a:r>
          </a:p>
          <a:p>
            <a:pPr marL="457200" lvl="1" indent="0">
              <a:buNone/>
            </a:pPr>
            <a:r>
              <a:rPr lang="en-US" dirty="0"/>
              <a:t>– Confidentiality</a:t>
            </a:r>
          </a:p>
          <a:p>
            <a:pPr marL="457200" lvl="1" indent="0">
              <a:buNone/>
            </a:pPr>
            <a:r>
              <a:rPr lang="en-US" dirty="0"/>
              <a:t>– Trademarks</a:t>
            </a:r>
          </a:p>
          <a:p>
            <a:pPr marL="0" indent="0">
              <a:buNone/>
            </a:pPr>
            <a:r>
              <a:rPr lang="en-US" dirty="0"/>
              <a:t>Contract should state who is to own these rights</a:t>
            </a:r>
            <a:r>
              <a:rPr lang="en-US" dirty="0" smtClean="0"/>
              <a:t>.</a:t>
            </a:r>
            <a:endParaRPr lang="en-US" dirty="0"/>
          </a:p>
        </p:txBody>
      </p:sp>
    </p:spTree>
    <p:extLst>
      <p:ext uri="{BB962C8B-B14F-4D97-AF65-F5344CB8AC3E}">
        <p14:creationId xmlns:p14="http://schemas.microsoft.com/office/powerpoint/2010/main" val="39614388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Confidentiality</a:t>
            </a:r>
            <a:endParaRPr lang="en-US" dirty="0"/>
          </a:p>
        </p:txBody>
      </p:sp>
      <p:sp>
        <p:nvSpPr>
          <p:cNvPr id="3" name="Content Placeholder 2"/>
          <p:cNvSpPr>
            <a:spLocks noGrp="1"/>
          </p:cNvSpPr>
          <p:nvPr>
            <p:ph idx="1"/>
          </p:nvPr>
        </p:nvSpPr>
        <p:spPr/>
        <p:txBody>
          <a:bodyPr>
            <a:normAutofit/>
          </a:bodyPr>
          <a:lstStyle/>
          <a:p>
            <a:pPr marL="0" indent="0" algn="just">
              <a:buNone/>
            </a:pPr>
            <a:r>
              <a:rPr lang="en-US" sz="3200" dirty="0" smtClean="0"/>
              <a:t> </a:t>
            </a:r>
            <a:r>
              <a:rPr lang="en-US" sz="3200" dirty="0"/>
              <a:t>The two parties may acquire </a:t>
            </a:r>
            <a:r>
              <a:rPr lang="en-US" sz="3200" dirty="0" smtClean="0"/>
              <a:t>confidential information </a:t>
            </a:r>
            <a:r>
              <a:rPr lang="en-US" sz="3200" dirty="0"/>
              <a:t>about each other </a:t>
            </a:r>
            <a:r>
              <a:rPr lang="en-US" sz="3200" dirty="0" smtClean="0"/>
              <a:t>when a software is being developed.</a:t>
            </a:r>
          </a:p>
          <a:p>
            <a:pPr marL="457200" lvl="1" indent="0" algn="just">
              <a:buNone/>
            </a:pPr>
            <a:r>
              <a:rPr lang="en-US" sz="2800" dirty="0" smtClean="0"/>
              <a:t>– </a:t>
            </a:r>
            <a:r>
              <a:rPr lang="en-US" sz="2800" dirty="0"/>
              <a:t>Client may have to pass its business operations</a:t>
            </a:r>
          </a:p>
          <a:p>
            <a:pPr marL="457200" lvl="1" indent="0" algn="just">
              <a:buNone/>
            </a:pPr>
            <a:r>
              <a:rPr lang="en-US" sz="2800" dirty="0"/>
              <a:t>– Developer may not want the client to divulge to </a:t>
            </a:r>
            <a:r>
              <a:rPr lang="en-US" sz="2800" dirty="0" smtClean="0"/>
              <a:t>others about </a:t>
            </a:r>
            <a:r>
              <a:rPr lang="en-US" sz="2800" dirty="0"/>
              <a:t>its operations</a:t>
            </a:r>
          </a:p>
          <a:p>
            <a:pPr marL="0" indent="0" algn="just">
              <a:buNone/>
            </a:pPr>
            <a:r>
              <a:rPr lang="en-US" sz="3200" dirty="0" smtClean="0"/>
              <a:t>In </a:t>
            </a:r>
            <a:r>
              <a:rPr lang="en-US" sz="3200" dirty="0"/>
              <a:t>this case, the contract should state the </a:t>
            </a:r>
            <a:r>
              <a:rPr lang="en-US" sz="3200" dirty="0" smtClean="0"/>
              <a:t>non-disclosure </a:t>
            </a:r>
            <a:r>
              <a:rPr lang="en-US" sz="3200" dirty="0"/>
              <a:t>agreement.</a:t>
            </a:r>
          </a:p>
          <a:p>
            <a:pPr algn="just"/>
            <a:endParaRPr lang="en-US" sz="3200" dirty="0"/>
          </a:p>
        </p:txBody>
      </p:sp>
    </p:spTree>
    <p:extLst>
      <p:ext uri="{BB962C8B-B14F-4D97-AF65-F5344CB8AC3E}">
        <p14:creationId xmlns:p14="http://schemas.microsoft.com/office/powerpoint/2010/main" val="32177079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Payment Terms</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smtClean="0"/>
              <a:t>•The </a:t>
            </a:r>
            <a:r>
              <a:rPr lang="en-US" dirty="0"/>
              <a:t>standard terms and conditions will </a:t>
            </a:r>
            <a:r>
              <a:rPr lang="en-US" dirty="0" smtClean="0"/>
              <a:t>specify the </a:t>
            </a:r>
            <a:r>
              <a:rPr lang="en-US" dirty="0"/>
              <a:t>payment conditions, </a:t>
            </a:r>
            <a:r>
              <a:rPr lang="en-US" dirty="0" smtClean="0"/>
              <a:t>For example: </a:t>
            </a:r>
          </a:p>
          <a:p>
            <a:pPr marL="0" indent="0" algn="just">
              <a:buNone/>
            </a:pPr>
            <a:r>
              <a:rPr lang="en-US" dirty="0"/>
              <a:t>	</a:t>
            </a:r>
            <a:r>
              <a:rPr lang="en-US" dirty="0" smtClean="0"/>
              <a:t>Payment </a:t>
            </a:r>
            <a:r>
              <a:rPr lang="en-US" dirty="0"/>
              <a:t>shall become due within 30 days of invoice </a:t>
            </a:r>
            <a:r>
              <a:rPr lang="en-US" dirty="0" smtClean="0"/>
              <a:t>issue date. </a:t>
            </a:r>
          </a:p>
          <a:p>
            <a:pPr marL="914400" indent="0" algn="just">
              <a:buNone/>
            </a:pPr>
            <a:r>
              <a:rPr lang="en-US" dirty="0" smtClean="0"/>
              <a:t>If  payment </a:t>
            </a:r>
            <a:r>
              <a:rPr lang="en-US" dirty="0"/>
              <a:t>is delayed by more than that, the </a:t>
            </a:r>
            <a:r>
              <a:rPr lang="en-US" dirty="0" smtClean="0"/>
              <a:t>company shall </a:t>
            </a:r>
            <a:r>
              <a:rPr lang="en-US" dirty="0"/>
              <a:t>have the right, at its discretion, to terminate the </a:t>
            </a:r>
            <a:r>
              <a:rPr lang="en-US" dirty="0" smtClean="0"/>
              <a:t>contract or </a:t>
            </a:r>
            <a:r>
              <a:rPr lang="en-US" dirty="0"/>
              <a:t>to apply a surcharge at an interest rate of 2% above </a:t>
            </a:r>
            <a:r>
              <a:rPr lang="en-US" dirty="0" smtClean="0"/>
              <a:t>the bank </a:t>
            </a:r>
            <a:r>
              <a:rPr lang="en-US" dirty="0"/>
              <a:t>base lending rate.</a:t>
            </a:r>
          </a:p>
          <a:p>
            <a:pPr marL="0" indent="0" algn="just">
              <a:buNone/>
            </a:pPr>
            <a:r>
              <a:rPr lang="en-US" dirty="0"/>
              <a:t>• In practice, such clauses are brought into </a:t>
            </a:r>
            <a:r>
              <a:rPr lang="en-US" dirty="0" smtClean="0"/>
              <a:t>effect in </a:t>
            </a:r>
            <a:r>
              <a:rPr lang="en-US" dirty="0"/>
              <a:t>extreme case, since using them is likely </a:t>
            </a:r>
            <a:r>
              <a:rPr lang="en-US" dirty="0" smtClean="0"/>
              <a:t>to destroy </a:t>
            </a:r>
            <a:r>
              <a:rPr lang="en-US" dirty="0"/>
              <a:t>the goodwill between developer </a:t>
            </a:r>
            <a:r>
              <a:rPr lang="en-US" dirty="0" smtClean="0"/>
              <a:t>and client </a:t>
            </a:r>
            <a:r>
              <a:rPr lang="en-US" dirty="0"/>
              <a:t>on which the success of the </a:t>
            </a:r>
            <a:r>
              <a:rPr lang="en-US" dirty="0" smtClean="0"/>
              <a:t>project depends</a:t>
            </a:r>
            <a:r>
              <a:rPr lang="en-US" dirty="0"/>
              <a:t>.</a:t>
            </a:r>
          </a:p>
          <a:p>
            <a:pPr algn="just"/>
            <a:endParaRPr lang="en-US" dirty="0"/>
          </a:p>
        </p:txBody>
      </p:sp>
    </p:spTree>
    <p:extLst>
      <p:ext uri="{BB962C8B-B14F-4D97-AF65-F5344CB8AC3E}">
        <p14:creationId xmlns:p14="http://schemas.microsoft.com/office/powerpoint/2010/main" val="22989659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Payments </a:t>
            </a:r>
            <a:r>
              <a:rPr lang="en-US" dirty="0"/>
              <a:t>for Delays and </a:t>
            </a:r>
            <a:r>
              <a:rPr lang="en-US" dirty="0" smtClean="0"/>
              <a:t>Changes</a:t>
            </a:r>
            <a:endParaRPr lang="en-US" dirty="0"/>
          </a:p>
        </p:txBody>
      </p:sp>
      <p:sp>
        <p:nvSpPr>
          <p:cNvPr id="3" name="Content Placeholder 2"/>
          <p:cNvSpPr>
            <a:spLocks noGrp="1"/>
          </p:cNvSpPr>
          <p:nvPr>
            <p:ph idx="1"/>
          </p:nvPr>
        </p:nvSpPr>
        <p:spPr/>
        <p:txBody>
          <a:bodyPr>
            <a:normAutofit/>
          </a:bodyPr>
          <a:lstStyle/>
          <a:p>
            <a:pPr algn="just"/>
            <a:r>
              <a:rPr lang="en-US" sz="3200" dirty="0" smtClean="0"/>
              <a:t> </a:t>
            </a:r>
            <a:r>
              <a:rPr lang="en-US" sz="3200" dirty="0"/>
              <a:t>Frequently, progress of the development </a:t>
            </a:r>
            <a:r>
              <a:rPr lang="en-US" sz="3200" dirty="0" smtClean="0"/>
              <a:t>is delayed </a:t>
            </a:r>
            <a:r>
              <a:rPr lang="en-US" sz="3200" dirty="0"/>
              <a:t>because the client does not </a:t>
            </a:r>
            <a:r>
              <a:rPr lang="en-US" sz="3200" dirty="0" smtClean="0"/>
              <a:t>meet obligations </a:t>
            </a:r>
            <a:r>
              <a:rPr lang="en-US" sz="3200" dirty="0"/>
              <a:t>on time.</a:t>
            </a:r>
          </a:p>
          <a:p>
            <a:pPr algn="just"/>
            <a:r>
              <a:rPr lang="en-US" sz="3200" dirty="0" smtClean="0"/>
              <a:t>The </a:t>
            </a:r>
            <a:r>
              <a:rPr lang="en-US" sz="3200" dirty="0"/>
              <a:t>developer will be expected its best </a:t>
            </a:r>
            <a:r>
              <a:rPr lang="en-US" sz="3200" dirty="0" smtClean="0"/>
              <a:t>to rearrange </a:t>
            </a:r>
            <a:r>
              <a:rPr lang="en-US" sz="3200" dirty="0"/>
              <a:t>activities to avoid wasting effort, but </a:t>
            </a:r>
            <a:r>
              <a:rPr lang="en-US" sz="3200" dirty="0" smtClean="0"/>
              <a:t>it is </a:t>
            </a:r>
            <a:r>
              <a:rPr lang="en-US" sz="3200" dirty="0"/>
              <a:t>not always possible.</a:t>
            </a:r>
          </a:p>
          <a:p>
            <a:pPr algn="just"/>
            <a:r>
              <a:rPr lang="en-US" sz="3200" dirty="0" smtClean="0"/>
              <a:t>Therefore</a:t>
            </a:r>
            <a:r>
              <a:rPr lang="en-US" sz="3200" dirty="0"/>
              <a:t>, the contract should make </a:t>
            </a:r>
            <a:r>
              <a:rPr lang="en-US" sz="3200" dirty="0" smtClean="0"/>
              <a:t>provision for </a:t>
            </a:r>
            <a:r>
              <a:rPr lang="en-US" sz="3200" dirty="0"/>
              <a:t>payments to compensate for</a:t>
            </a:r>
            <a:r>
              <a:rPr lang="en-US" sz="3200" dirty="0" smtClean="0"/>
              <a:t>: </a:t>
            </a:r>
            <a:endParaRPr lang="en-US" sz="3200" dirty="0"/>
          </a:p>
          <a:p>
            <a:pPr marL="457200" lvl="1" indent="0" algn="just">
              <a:buNone/>
            </a:pPr>
            <a:r>
              <a:rPr lang="en-US" sz="2800" dirty="0"/>
              <a:t>– The wasted effort when the client fails to meet </a:t>
            </a:r>
            <a:r>
              <a:rPr lang="en-US" sz="2800" dirty="0" smtClean="0"/>
              <a:t>its obligation </a:t>
            </a:r>
            <a:r>
              <a:rPr lang="en-US" sz="2800" dirty="0"/>
              <a:t>on time</a:t>
            </a:r>
          </a:p>
          <a:p>
            <a:pPr marL="457200" lvl="1" indent="0" algn="just">
              <a:buNone/>
            </a:pPr>
            <a:r>
              <a:rPr lang="en-US" sz="2800" dirty="0"/>
              <a:t>– Extra work when changes are requested</a:t>
            </a:r>
          </a:p>
          <a:p>
            <a:pPr algn="just"/>
            <a:endParaRPr lang="en-US" sz="3200" dirty="0"/>
          </a:p>
        </p:txBody>
      </p:sp>
    </p:spTree>
    <p:extLst>
      <p:ext uri="{BB962C8B-B14F-4D97-AF65-F5344CB8AC3E}">
        <p14:creationId xmlns:p14="http://schemas.microsoft.com/office/powerpoint/2010/main" val="21225675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Penalty </a:t>
            </a:r>
            <a:r>
              <a:rPr lang="en-US" dirty="0"/>
              <a:t>Clauses</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When delay caused by the developer.</a:t>
            </a:r>
          </a:p>
          <a:p>
            <a:pPr algn="just"/>
            <a:r>
              <a:rPr lang="en-US" dirty="0" smtClean="0"/>
              <a:t>Normal </a:t>
            </a:r>
            <a:r>
              <a:rPr lang="en-US" dirty="0"/>
              <a:t>mechanism: the sum </a:t>
            </a:r>
            <a:r>
              <a:rPr lang="en-US" dirty="0" smtClean="0"/>
              <a:t>payable </a:t>
            </a:r>
            <a:r>
              <a:rPr lang="en-US" dirty="0"/>
              <a:t>to </a:t>
            </a:r>
            <a:r>
              <a:rPr lang="en-US" dirty="0" smtClean="0"/>
              <a:t>the developer </a:t>
            </a:r>
            <a:r>
              <a:rPr lang="en-US" dirty="0"/>
              <a:t>is reduced by a specified amount </a:t>
            </a:r>
            <a:r>
              <a:rPr lang="en-US" dirty="0" smtClean="0"/>
              <a:t>for each </a:t>
            </a:r>
            <a:r>
              <a:rPr lang="en-US" dirty="0"/>
              <a:t>week that acceptance of the product </a:t>
            </a:r>
            <a:r>
              <a:rPr lang="en-US" dirty="0" smtClean="0"/>
              <a:t>is delayed</a:t>
            </a:r>
            <a:r>
              <a:rPr lang="en-US" dirty="0"/>
              <a:t>, up to certain maximum.</a:t>
            </a:r>
          </a:p>
          <a:p>
            <a:pPr lvl="1" algn="just"/>
            <a:r>
              <a:rPr lang="en-US" dirty="0" smtClean="0"/>
              <a:t>E.g</a:t>
            </a:r>
            <a:r>
              <a:rPr lang="en-US" dirty="0"/>
              <a:t>. contract value $1 million. Penalty $5,000 </a:t>
            </a:r>
            <a:r>
              <a:rPr lang="en-US" dirty="0" smtClean="0"/>
              <a:t>per week </a:t>
            </a:r>
            <a:r>
              <a:rPr lang="en-US" dirty="0"/>
              <a:t>up to maximum $</a:t>
            </a:r>
            <a:r>
              <a:rPr lang="en-US" dirty="0" smtClean="0"/>
              <a:t>100,000</a:t>
            </a:r>
          </a:p>
          <a:p>
            <a:pPr algn="just"/>
            <a:r>
              <a:rPr lang="en-US" dirty="0"/>
              <a:t>Delays in delivering software are common, it might be expected software contract would normally include such a penalty clause.</a:t>
            </a:r>
          </a:p>
          <a:p>
            <a:pPr algn="just"/>
            <a:r>
              <a:rPr lang="en-US" dirty="0"/>
              <a:t>Regardless of penalty, every delay eats </a:t>
            </a:r>
            <a:r>
              <a:rPr lang="en-US" dirty="0" smtClean="0"/>
              <a:t>into developer’s </a:t>
            </a:r>
            <a:r>
              <a:rPr lang="en-US" dirty="0"/>
              <a:t>profit margin. </a:t>
            </a:r>
            <a:endParaRPr lang="en-US" dirty="0" smtClean="0"/>
          </a:p>
          <a:p>
            <a:pPr algn="just"/>
            <a:r>
              <a:rPr lang="en-US" dirty="0" smtClean="0"/>
              <a:t>As </a:t>
            </a:r>
            <a:r>
              <a:rPr lang="en-US" dirty="0"/>
              <a:t>a </a:t>
            </a:r>
            <a:r>
              <a:rPr lang="en-US" dirty="0" smtClean="0"/>
              <a:t>result, suppliers </a:t>
            </a:r>
            <a:r>
              <a:rPr lang="en-US" dirty="0"/>
              <a:t>are strongly motivated to </a:t>
            </a:r>
            <a:r>
              <a:rPr lang="en-US" dirty="0" smtClean="0"/>
              <a:t>produce the </a:t>
            </a:r>
            <a:r>
              <a:rPr lang="en-US" dirty="0"/>
              <a:t>software on time and delay is usually </a:t>
            </a:r>
            <a:r>
              <a:rPr lang="en-US" dirty="0" smtClean="0"/>
              <a:t>the result </a:t>
            </a:r>
            <a:r>
              <a:rPr lang="en-US" dirty="0"/>
              <a:t>of genuine technical difficulties </a:t>
            </a:r>
            <a:r>
              <a:rPr lang="en-US" dirty="0" smtClean="0"/>
              <a:t>or incompetence </a:t>
            </a:r>
            <a:r>
              <a:rPr lang="en-US" dirty="0"/>
              <a:t>rather than lack of motivation.</a:t>
            </a:r>
            <a:endParaRPr lang="en-US" dirty="0" smtClean="0"/>
          </a:p>
        </p:txBody>
      </p:sp>
    </p:spTree>
    <p:extLst>
      <p:ext uri="{BB962C8B-B14F-4D97-AF65-F5344CB8AC3E}">
        <p14:creationId xmlns:p14="http://schemas.microsoft.com/office/powerpoint/2010/main" val="36061657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Client </a:t>
            </a:r>
            <a:r>
              <a:rPr lang="en-US" dirty="0"/>
              <a:t>Obligations</a:t>
            </a:r>
          </a:p>
        </p:txBody>
      </p:sp>
      <p:sp>
        <p:nvSpPr>
          <p:cNvPr id="3" name="Content Placeholder 2"/>
          <p:cNvSpPr>
            <a:spLocks noGrp="1"/>
          </p:cNvSpPr>
          <p:nvPr>
            <p:ph idx="1"/>
          </p:nvPr>
        </p:nvSpPr>
        <p:spPr/>
        <p:txBody>
          <a:bodyPr>
            <a:normAutofit/>
          </a:bodyPr>
          <a:lstStyle/>
          <a:p>
            <a:pPr marL="0" indent="0" algn="just">
              <a:buNone/>
            </a:pPr>
            <a:r>
              <a:rPr lang="en-US" dirty="0"/>
              <a:t>Client Provides:</a:t>
            </a:r>
          </a:p>
          <a:p>
            <a:pPr marL="688975" indent="-400050" algn="just">
              <a:buNone/>
            </a:pPr>
            <a:r>
              <a:rPr lang="en-US" dirty="0"/>
              <a:t>1. Documentation of the client’s activities </a:t>
            </a:r>
            <a:r>
              <a:rPr lang="en-US" dirty="0" smtClean="0"/>
              <a:t>or environment </a:t>
            </a:r>
            <a:r>
              <a:rPr lang="en-US" dirty="0"/>
              <a:t>in which the system will </a:t>
            </a:r>
            <a:r>
              <a:rPr lang="en-US" dirty="0" smtClean="0"/>
              <a:t>run</a:t>
            </a:r>
            <a:endParaRPr lang="en-US" dirty="0"/>
          </a:p>
          <a:p>
            <a:pPr marL="688975" indent="-400050" algn="just">
              <a:buNone/>
            </a:pPr>
            <a:r>
              <a:rPr lang="en-US" dirty="0"/>
              <a:t>2. Access to appropriate members of staff</a:t>
            </a:r>
          </a:p>
          <a:p>
            <a:pPr marL="688975" indent="-400050" algn="just">
              <a:buNone/>
            </a:pPr>
            <a:r>
              <a:rPr lang="en-US" dirty="0"/>
              <a:t>3. Machine facilities for development and testing</a:t>
            </a:r>
          </a:p>
          <a:p>
            <a:pPr marL="688975" indent="-400050" algn="just">
              <a:buNone/>
            </a:pPr>
            <a:r>
              <a:rPr lang="en-US" dirty="0"/>
              <a:t>4. Accommodation, telephone and secretarial </a:t>
            </a:r>
            <a:r>
              <a:rPr lang="en-US" dirty="0" smtClean="0"/>
              <a:t>facilities for </a:t>
            </a:r>
            <a:r>
              <a:rPr lang="en-US" dirty="0"/>
              <a:t>the </a:t>
            </a:r>
            <a:r>
              <a:rPr lang="en-US" dirty="0" smtClean="0"/>
              <a:t>company’s </a:t>
            </a:r>
            <a:r>
              <a:rPr lang="en-US" dirty="0"/>
              <a:t>staff when working on the </a:t>
            </a:r>
            <a:r>
              <a:rPr lang="en-US" dirty="0" smtClean="0"/>
              <a:t>client’s premises</a:t>
            </a:r>
            <a:endParaRPr lang="en-US" dirty="0"/>
          </a:p>
          <a:p>
            <a:pPr marL="688975" indent="-400050" algn="just">
              <a:buNone/>
            </a:pPr>
            <a:r>
              <a:rPr lang="en-US" dirty="0"/>
              <a:t>5. Data communications facilities to the site</a:t>
            </a:r>
          </a:p>
        </p:txBody>
      </p:sp>
    </p:spTree>
    <p:extLst>
      <p:ext uri="{BB962C8B-B14F-4D97-AF65-F5344CB8AC3E}">
        <p14:creationId xmlns:p14="http://schemas.microsoft.com/office/powerpoint/2010/main" val="9955357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Acceptance Procedure</a:t>
            </a:r>
          </a:p>
        </p:txBody>
      </p:sp>
      <p:sp>
        <p:nvSpPr>
          <p:cNvPr id="3" name="Content Placeholder 2"/>
          <p:cNvSpPr>
            <a:spLocks noGrp="1"/>
          </p:cNvSpPr>
          <p:nvPr>
            <p:ph idx="1"/>
          </p:nvPr>
        </p:nvSpPr>
        <p:spPr/>
        <p:txBody>
          <a:bodyPr>
            <a:normAutofit lnSpcReduction="10000"/>
          </a:bodyPr>
          <a:lstStyle/>
          <a:p>
            <a:pPr algn="just"/>
            <a:r>
              <a:rPr lang="en-US" dirty="0"/>
              <a:t>Acceptance procedure are critical in any </a:t>
            </a:r>
            <a:r>
              <a:rPr lang="en-US" dirty="0" smtClean="0"/>
              <a:t>fixed price </a:t>
            </a:r>
            <a:r>
              <a:rPr lang="en-US" dirty="0"/>
              <a:t>contract.</a:t>
            </a:r>
          </a:p>
          <a:p>
            <a:pPr lvl="1" algn="just"/>
            <a:r>
              <a:rPr lang="en-US" dirty="0" smtClean="0"/>
              <a:t>They </a:t>
            </a:r>
            <a:r>
              <a:rPr lang="en-US" dirty="0"/>
              <a:t>provide the criteria by which </a:t>
            </a:r>
            <a:r>
              <a:rPr lang="en-US" dirty="0" smtClean="0"/>
              <a:t>successful completion </a:t>
            </a:r>
            <a:r>
              <a:rPr lang="en-US" dirty="0"/>
              <a:t>of the contract is judged.</a:t>
            </a:r>
          </a:p>
          <a:p>
            <a:pPr algn="just"/>
            <a:r>
              <a:rPr lang="en-US" dirty="0" smtClean="0"/>
              <a:t>The </a:t>
            </a:r>
            <a:r>
              <a:rPr lang="en-US" dirty="0"/>
              <a:t>client should provide a fixed set </a:t>
            </a:r>
            <a:r>
              <a:rPr lang="en-US" dirty="0" smtClean="0"/>
              <a:t>of acceptance </a:t>
            </a:r>
            <a:r>
              <a:rPr lang="en-US" dirty="0"/>
              <a:t>tests and expected results</a:t>
            </a:r>
            <a:r>
              <a:rPr lang="en-US" dirty="0" smtClean="0"/>
              <a:t>.</a:t>
            </a:r>
          </a:p>
          <a:p>
            <a:pPr algn="just"/>
            <a:r>
              <a:rPr lang="en-US" dirty="0"/>
              <a:t>Extra tests cannot be added once the test </a:t>
            </a:r>
            <a:r>
              <a:rPr lang="en-US" dirty="0" smtClean="0"/>
              <a:t>set has </a:t>
            </a:r>
            <a:r>
              <a:rPr lang="en-US" dirty="0"/>
              <a:t>been handed over.</a:t>
            </a:r>
          </a:p>
          <a:p>
            <a:pPr lvl="1" algn="just"/>
            <a:r>
              <a:rPr lang="en-US" dirty="0" smtClean="0"/>
              <a:t>To </a:t>
            </a:r>
            <a:r>
              <a:rPr lang="en-US" dirty="0"/>
              <a:t>ensure that the acceptance procedure can </a:t>
            </a:r>
            <a:r>
              <a:rPr lang="en-US" dirty="0" smtClean="0"/>
              <a:t>be completed </a:t>
            </a:r>
            <a:r>
              <a:rPr lang="en-US" dirty="0"/>
              <a:t>in reasonable time</a:t>
            </a:r>
          </a:p>
          <a:p>
            <a:pPr algn="just"/>
            <a:r>
              <a:rPr lang="en-US" dirty="0" smtClean="0"/>
              <a:t>The </a:t>
            </a:r>
            <a:r>
              <a:rPr lang="en-US" dirty="0"/>
              <a:t>contract should also includes:</a:t>
            </a:r>
          </a:p>
          <a:p>
            <a:pPr lvl="1" algn="just"/>
            <a:r>
              <a:rPr lang="en-US" dirty="0" smtClean="0"/>
              <a:t>Who </a:t>
            </a:r>
            <a:r>
              <a:rPr lang="en-US" dirty="0"/>
              <a:t>shall be present when the tests are carried out</a:t>
            </a:r>
          </a:p>
          <a:p>
            <a:pPr lvl="1" algn="just"/>
            <a:r>
              <a:rPr lang="en-US" dirty="0" smtClean="0"/>
              <a:t>What </a:t>
            </a:r>
            <a:r>
              <a:rPr lang="en-US" dirty="0"/>
              <a:t>happens if the tests are not </a:t>
            </a:r>
            <a:r>
              <a:rPr lang="en-US" dirty="0" smtClean="0"/>
              <a:t>completed successfully</a:t>
            </a:r>
            <a:endParaRPr lang="en-US" dirty="0"/>
          </a:p>
        </p:txBody>
      </p:sp>
    </p:spTree>
    <p:extLst>
      <p:ext uri="{BB962C8B-B14F-4D97-AF65-F5344CB8AC3E}">
        <p14:creationId xmlns:p14="http://schemas.microsoft.com/office/powerpoint/2010/main" val="22874455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Warranty and Maintenance</a:t>
            </a:r>
          </a:p>
        </p:txBody>
      </p:sp>
      <p:sp>
        <p:nvSpPr>
          <p:cNvPr id="3" name="Content Placeholder 2"/>
          <p:cNvSpPr>
            <a:spLocks noGrp="1"/>
          </p:cNvSpPr>
          <p:nvPr>
            <p:ph idx="1"/>
          </p:nvPr>
        </p:nvSpPr>
        <p:spPr/>
        <p:txBody>
          <a:bodyPr>
            <a:normAutofit fontScale="92500" lnSpcReduction="10000"/>
          </a:bodyPr>
          <a:lstStyle/>
          <a:p>
            <a:pPr algn="just"/>
            <a:r>
              <a:rPr lang="en-US" dirty="0"/>
              <a:t>Once the product has been accepted, it </a:t>
            </a:r>
            <a:r>
              <a:rPr lang="en-US" dirty="0" smtClean="0"/>
              <a:t>is common </a:t>
            </a:r>
            <a:r>
              <a:rPr lang="en-US" dirty="0"/>
              <a:t>to offer a warranty period, typically </a:t>
            </a:r>
            <a:r>
              <a:rPr lang="en-US" dirty="0" smtClean="0"/>
              <a:t>90 days</a:t>
            </a:r>
            <a:r>
              <a:rPr lang="en-US" dirty="0"/>
              <a:t>.</a:t>
            </a:r>
          </a:p>
          <a:p>
            <a:pPr algn="just"/>
            <a:r>
              <a:rPr lang="en-US" dirty="0" smtClean="0"/>
              <a:t>Any </a:t>
            </a:r>
            <a:r>
              <a:rPr lang="en-US" dirty="0"/>
              <a:t>errors found within this period will </a:t>
            </a:r>
            <a:r>
              <a:rPr lang="en-US" dirty="0" smtClean="0"/>
              <a:t>be corrected </a:t>
            </a:r>
            <a:r>
              <a:rPr lang="en-US" dirty="0"/>
              <a:t>free of charge.</a:t>
            </a:r>
          </a:p>
          <a:p>
            <a:pPr lvl="1" algn="just"/>
            <a:r>
              <a:rPr lang="en-US" dirty="0" smtClean="0"/>
              <a:t>This </a:t>
            </a:r>
            <a:r>
              <a:rPr lang="en-US" dirty="0"/>
              <a:t>clause is subject to negotiation</a:t>
            </a:r>
            <a:r>
              <a:rPr lang="en-US" dirty="0" smtClean="0"/>
              <a:t>.</a:t>
            </a:r>
          </a:p>
          <a:p>
            <a:pPr algn="just"/>
            <a:r>
              <a:rPr lang="en-US" dirty="0"/>
              <a:t>After the warranty period, maintenance can </a:t>
            </a:r>
            <a:r>
              <a:rPr lang="en-US" dirty="0" smtClean="0"/>
              <a:t>be available </a:t>
            </a:r>
            <a:r>
              <a:rPr lang="en-US" dirty="0"/>
              <a:t>on request.</a:t>
            </a:r>
          </a:p>
          <a:p>
            <a:pPr algn="just"/>
            <a:r>
              <a:rPr lang="en-US" dirty="0" smtClean="0"/>
              <a:t>Since </a:t>
            </a:r>
            <a:r>
              <a:rPr lang="en-US" dirty="0"/>
              <a:t>such maintenance is likely to </a:t>
            </a:r>
            <a:r>
              <a:rPr lang="en-US" dirty="0" smtClean="0"/>
              <a:t>involve enhancement </a:t>
            </a:r>
            <a:r>
              <a:rPr lang="en-US" dirty="0"/>
              <a:t>rather than simply </a:t>
            </a:r>
            <a:r>
              <a:rPr lang="en-US" dirty="0" smtClean="0"/>
              <a:t>faults correction</a:t>
            </a:r>
            <a:r>
              <a:rPr lang="en-US" dirty="0"/>
              <a:t>:</a:t>
            </a:r>
          </a:p>
          <a:p>
            <a:pPr lvl="1" algn="just"/>
            <a:r>
              <a:rPr lang="en-US" dirty="0" smtClean="0"/>
              <a:t>The </a:t>
            </a:r>
            <a:r>
              <a:rPr lang="en-US" dirty="0"/>
              <a:t>resources required are unpredictable, the </a:t>
            </a:r>
            <a:r>
              <a:rPr lang="en-US" dirty="0" smtClean="0"/>
              <a:t>client usually </a:t>
            </a:r>
            <a:r>
              <a:rPr lang="en-US" dirty="0"/>
              <a:t>does not know what enhancements will </a:t>
            </a:r>
            <a:r>
              <a:rPr lang="en-US" dirty="0" smtClean="0"/>
              <a:t>be required </a:t>
            </a:r>
            <a:r>
              <a:rPr lang="en-US" dirty="0"/>
              <a:t>in, say, two years’ time.</a:t>
            </a:r>
          </a:p>
          <a:p>
            <a:pPr lvl="1" algn="just"/>
            <a:r>
              <a:rPr lang="en-US" dirty="0" smtClean="0"/>
              <a:t>A </a:t>
            </a:r>
            <a:r>
              <a:rPr lang="en-US" dirty="0"/>
              <a:t>fixed price will not appropriate.</a:t>
            </a:r>
          </a:p>
          <a:p>
            <a:pPr lvl="1" algn="just"/>
            <a:r>
              <a:rPr lang="en-US" dirty="0" smtClean="0"/>
              <a:t>Usually </a:t>
            </a:r>
            <a:r>
              <a:rPr lang="en-US" dirty="0"/>
              <a:t>be charged on a time and materials basis.</a:t>
            </a:r>
          </a:p>
        </p:txBody>
      </p:sp>
    </p:spTree>
    <p:extLst>
      <p:ext uri="{BB962C8B-B14F-4D97-AF65-F5344CB8AC3E}">
        <p14:creationId xmlns:p14="http://schemas.microsoft.com/office/powerpoint/2010/main" val="1947641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Inflation</a:t>
            </a:r>
            <a:endParaRPr lang="en-US" dirty="0"/>
          </a:p>
        </p:txBody>
      </p:sp>
      <p:sp>
        <p:nvSpPr>
          <p:cNvPr id="3" name="Content Placeholder 2"/>
          <p:cNvSpPr>
            <a:spLocks noGrp="1"/>
          </p:cNvSpPr>
          <p:nvPr>
            <p:ph idx="1"/>
          </p:nvPr>
        </p:nvSpPr>
        <p:spPr/>
        <p:txBody>
          <a:bodyPr>
            <a:noAutofit/>
          </a:bodyPr>
          <a:lstStyle/>
          <a:p>
            <a:pPr algn="just"/>
            <a:r>
              <a:rPr lang="en-US" sz="3200" dirty="0" smtClean="0"/>
              <a:t>In </a:t>
            </a:r>
            <a:r>
              <a:rPr lang="en-US" sz="3200" dirty="0"/>
              <a:t>lengthy projects, the developer will wish </a:t>
            </a:r>
            <a:r>
              <a:rPr lang="en-US" sz="3200" dirty="0" smtClean="0"/>
              <a:t>to ensure </a:t>
            </a:r>
            <a:r>
              <a:rPr lang="en-US" sz="3200" dirty="0"/>
              <a:t>protection against the effects </a:t>
            </a:r>
            <a:r>
              <a:rPr lang="en-US" sz="3200" dirty="0" smtClean="0"/>
              <a:t>of unpredictable rise.</a:t>
            </a:r>
            <a:endParaRPr lang="en-US" sz="3200" dirty="0"/>
          </a:p>
          <a:p>
            <a:pPr algn="just"/>
            <a:r>
              <a:rPr lang="en-US" sz="3200" dirty="0" smtClean="0"/>
              <a:t>It </a:t>
            </a:r>
            <a:r>
              <a:rPr lang="en-US" sz="3200" dirty="0"/>
              <a:t>is customary to include a clause which </a:t>
            </a:r>
            <a:r>
              <a:rPr lang="en-US" sz="3200" dirty="0" smtClean="0"/>
              <a:t>allows charges </a:t>
            </a:r>
            <a:r>
              <a:rPr lang="en-US" sz="3200" dirty="0"/>
              <a:t>to be increased in accordance with </a:t>
            </a:r>
            <a:r>
              <a:rPr lang="en-US" sz="3200" dirty="0" smtClean="0"/>
              <a:t>the rise </a:t>
            </a:r>
            <a:r>
              <a:rPr lang="en-US" sz="3200" dirty="0"/>
              <a:t>in costs.</a:t>
            </a:r>
          </a:p>
          <a:p>
            <a:pPr algn="just"/>
            <a:r>
              <a:rPr lang="en-US" sz="3200" dirty="0" smtClean="0"/>
              <a:t>The </a:t>
            </a:r>
            <a:r>
              <a:rPr lang="en-US" sz="3200" dirty="0"/>
              <a:t>clause should state how often (e.g. once </a:t>
            </a:r>
            <a:r>
              <a:rPr lang="en-US" sz="3200" dirty="0" smtClean="0"/>
              <a:t>or twice </a:t>
            </a:r>
            <a:r>
              <a:rPr lang="en-US" sz="3200" dirty="0"/>
              <a:t>a year) charges can be increased </a:t>
            </a:r>
            <a:r>
              <a:rPr lang="en-US" sz="3200" dirty="0" smtClean="0"/>
              <a:t>and how </a:t>
            </a:r>
            <a:r>
              <a:rPr lang="en-US" sz="3200" dirty="0"/>
              <a:t>the effect on the overall price is to </a:t>
            </a:r>
            <a:r>
              <a:rPr lang="en-US" sz="3200" dirty="0" smtClean="0"/>
              <a:t>be calculated</a:t>
            </a:r>
            <a:r>
              <a:rPr lang="en-US" sz="3200" dirty="0"/>
              <a:t>.</a:t>
            </a:r>
          </a:p>
          <a:p>
            <a:pPr algn="just"/>
            <a:endParaRPr lang="en-US" sz="3200" dirty="0"/>
          </a:p>
        </p:txBody>
      </p:sp>
    </p:spTree>
    <p:extLst>
      <p:ext uri="{BB962C8B-B14F-4D97-AF65-F5344CB8AC3E}">
        <p14:creationId xmlns:p14="http://schemas.microsoft.com/office/powerpoint/2010/main" val="40291274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dirty="0" smtClean="0"/>
              <a:t>Indemnity (insurance)</a:t>
            </a:r>
            <a:endParaRPr lang="en-US" dirty="0"/>
          </a:p>
        </p:txBody>
      </p:sp>
      <p:sp>
        <p:nvSpPr>
          <p:cNvPr id="3" name="Content Placeholder 2"/>
          <p:cNvSpPr>
            <a:spLocks noGrp="1"/>
          </p:cNvSpPr>
          <p:nvPr>
            <p:ph idx="1"/>
          </p:nvPr>
        </p:nvSpPr>
        <p:spPr/>
        <p:txBody>
          <a:bodyPr>
            <a:normAutofit/>
          </a:bodyPr>
          <a:lstStyle/>
          <a:p>
            <a:pPr algn="just"/>
            <a:r>
              <a:rPr lang="en-US" dirty="0" smtClean="0"/>
              <a:t>It </a:t>
            </a:r>
            <a:r>
              <a:rPr lang="en-US" dirty="0"/>
              <a:t>could happen</a:t>
            </a:r>
            <a:r>
              <a:rPr lang="en-US" dirty="0" smtClean="0"/>
              <a:t>:</a:t>
            </a:r>
          </a:p>
          <a:p>
            <a:pPr lvl="1" algn="just"/>
            <a:r>
              <a:rPr lang="en-US" dirty="0" smtClean="0"/>
              <a:t>As </a:t>
            </a:r>
            <a:r>
              <a:rPr lang="en-US" dirty="0"/>
              <a:t>a result of the client’s instructions, the developer led unwittingly to infringe the intellectual property rights of a third party.</a:t>
            </a:r>
          </a:p>
          <a:p>
            <a:pPr lvl="1" algn="just"/>
            <a:r>
              <a:rPr lang="en-US" dirty="0" smtClean="0"/>
              <a:t>The </a:t>
            </a:r>
            <a:r>
              <a:rPr lang="en-US" dirty="0"/>
              <a:t>developer provides a system which infringes such rights through carelessness or dishonesty, e.g. using proprietary software as a  component of the system delivered.</a:t>
            </a:r>
          </a:p>
          <a:p>
            <a:pPr algn="just"/>
            <a:r>
              <a:rPr lang="en-US" dirty="0" smtClean="0"/>
              <a:t>For </a:t>
            </a:r>
            <a:r>
              <a:rPr lang="en-US" dirty="0"/>
              <a:t>this reason, advisable to include a clause under which each party indemnifies the other for liability arising from its own faults in this respect.</a:t>
            </a:r>
          </a:p>
          <a:p>
            <a:pPr marL="0" indent="0" algn="just">
              <a:buNone/>
            </a:pPr>
            <a:endParaRPr lang="en-US" dirty="0"/>
          </a:p>
        </p:txBody>
      </p:sp>
    </p:spTree>
    <p:extLst>
      <p:ext uri="{BB962C8B-B14F-4D97-AF65-F5344CB8AC3E}">
        <p14:creationId xmlns:p14="http://schemas.microsoft.com/office/powerpoint/2010/main" val="30170525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Termination of Contract</a:t>
            </a:r>
          </a:p>
        </p:txBody>
      </p:sp>
      <p:sp>
        <p:nvSpPr>
          <p:cNvPr id="3" name="Content Placeholder 2"/>
          <p:cNvSpPr>
            <a:spLocks noGrp="1"/>
          </p:cNvSpPr>
          <p:nvPr>
            <p:ph idx="1"/>
          </p:nvPr>
        </p:nvSpPr>
        <p:spPr/>
        <p:txBody>
          <a:bodyPr>
            <a:normAutofit fontScale="92500" lnSpcReduction="10000"/>
          </a:bodyPr>
          <a:lstStyle/>
          <a:p>
            <a:r>
              <a:rPr lang="en-US" dirty="0"/>
              <a:t>There are many reasons to </a:t>
            </a:r>
            <a:r>
              <a:rPr lang="en-US" dirty="0" smtClean="0"/>
              <a:t>necessarily terminate </a:t>
            </a:r>
            <a:r>
              <a:rPr lang="en-US" dirty="0"/>
              <a:t>a contract before it has </a:t>
            </a:r>
            <a:r>
              <a:rPr lang="en-US" dirty="0" smtClean="0"/>
              <a:t>been completed</a:t>
            </a:r>
            <a:r>
              <a:rPr lang="en-US" dirty="0"/>
              <a:t>.</a:t>
            </a:r>
          </a:p>
          <a:p>
            <a:pPr lvl="1"/>
            <a:r>
              <a:rPr lang="en-US" dirty="0" smtClean="0"/>
              <a:t>It </a:t>
            </a:r>
            <a:r>
              <a:rPr lang="en-US" dirty="0"/>
              <a:t>is not uncommon.</a:t>
            </a:r>
          </a:p>
          <a:p>
            <a:r>
              <a:rPr lang="en-US" dirty="0" smtClean="0"/>
              <a:t>It </a:t>
            </a:r>
            <a:r>
              <a:rPr lang="en-US" dirty="0"/>
              <a:t>is essential that the contract make </a:t>
            </a:r>
            <a:r>
              <a:rPr lang="en-US" dirty="0" smtClean="0"/>
              <a:t>provision for </a:t>
            </a:r>
            <a:r>
              <a:rPr lang="en-US" dirty="0"/>
              <a:t>terminating the work in an amicable manner.</a:t>
            </a:r>
          </a:p>
          <a:p>
            <a:r>
              <a:rPr lang="en-US" dirty="0" smtClean="0"/>
              <a:t>Usually </a:t>
            </a:r>
            <a:r>
              <a:rPr lang="en-US" dirty="0"/>
              <a:t>means that the developer is to be </a:t>
            </a:r>
            <a:r>
              <a:rPr lang="en-US" dirty="0" smtClean="0"/>
              <a:t>paid for </a:t>
            </a:r>
            <a:r>
              <a:rPr lang="en-US" dirty="0"/>
              <a:t>all the work carried out up to the point </a:t>
            </a:r>
            <a:r>
              <a:rPr lang="en-US" dirty="0" smtClean="0"/>
              <a:t>where the </a:t>
            </a:r>
            <a:r>
              <a:rPr lang="en-US" dirty="0"/>
              <a:t>contract is terminated, together with </a:t>
            </a:r>
            <a:r>
              <a:rPr lang="en-US" dirty="0" smtClean="0"/>
              <a:t>some compensation </a:t>
            </a:r>
            <a:r>
              <a:rPr lang="en-US" dirty="0"/>
              <a:t>for the time needed to </a:t>
            </a:r>
            <a:r>
              <a:rPr lang="en-US" dirty="0" smtClean="0"/>
              <a:t>redeploy staff </a:t>
            </a:r>
            <a:r>
              <a:rPr lang="en-US" dirty="0"/>
              <a:t>on other revenue earning work.</a:t>
            </a:r>
          </a:p>
          <a:p>
            <a:r>
              <a:rPr lang="en-US" dirty="0" smtClean="0"/>
              <a:t>The </a:t>
            </a:r>
            <a:r>
              <a:rPr lang="en-US" dirty="0"/>
              <a:t>question of ownership of the work so </a:t>
            </a:r>
            <a:r>
              <a:rPr lang="en-US" dirty="0" smtClean="0"/>
              <a:t>far carried </a:t>
            </a:r>
            <a:r>
              <a:rPr lang="en-US" dirty="0"/>
              <a:t>out must also be addressed.</a:t>
            </a:r>
          </a:p>
        </p:txBody>
      </p:sp>
    </p:spTree>
    <p:extLst>
      <p:ext uri="{BB962C8B-B14F-4D97-AF65-F5344CB8AC3E}">
        <p14:creationId xmlns:p14="http://schemas.microsoft.com/office/powerpoint/2010/main" val="33481192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Outsourcing</a:t>
            </a:r>
          </a:p>
        </p:txBody>
      </p:sp>
      <p:sp>
        <p:nvSpPr>
          <p:cNvPr id="3" name="Content Placeholder 2"/>
          <p:cNvSpPr>
            <a:spLocks noGrp="1"/>
          </p:cNvSpPr>
          <p:nvPr>
            <p:ph idx="1"/>
          </p:nvPr>
        </p:nvSpPr>
        <p:spPr/>
        <p:txBody>
          <a:bodyPr>
            <a:normAutofit fontScale="92500" lnSpcReduction="10000"/>
          </a:bodyPr>
          <a:lstStyle/>
          <a:p>
            <a:r>
              <a:rPr lang="en-US" dirty="0" smtClean="0"/>
              <a:t>Outsourcing </a:t>
            </a:r>
            <a:r>
              <a:rPr lang="en-US" dirty="0"/>
              <a:t>(facilities management):</a:t>
            </a:r>
          </a:p>
          <a:p>
            <a:r>
              <a:rPr lang="en-US" dirty="0" smtClean="0"/>
              <a:t>Commercial </a:t>
            </a:r>
            <a:r>
              <a:rPr lang="en-US" dirty="0"/>
              <a:t>arrangement under which </a:t>
            </a:r>
            <a:r>
              <a:rPr lang="en-US" dirty="0" smtClean="0"/>
              <a:t>a company </a:t>
            </a:r>
            <a:r>
              <a:rPr lang="en-US" dirty="0"/>
              <a:t>(the client) hands over the planning</a:t>
            </a:r>
            <a:r>
              <a:rPr lang="en-US" dirty="0" smtClean="0"/>
              <a:t>, management </a:t>
            </a:r>
            <a:r>
              <a:rPr lang="en-US" dirty="0"/>
              <a:t>and operation of certain </a:t>
            </a:r>
            <a:r>
              <a:rPr lang="en-US" dirty="0" smtClean="0"/>
              <a:t>function to </a:t>
            </a:r>
            <a:r>
              <a:rPr lang="en-US" dirty="0"/>
              <a:t>another company (the developer).</a:t>
            </a:r>
          </a:p>
          <a:p>
            <a:r>
              <a:rPr lang="en-US" dirty="0" smtClean="0"/>
              <a:t>A </a:t>
            </a:r>
            <a:r>
              <a:rPr lang="en-US" dirty="0"/>
              <a:t>company (the developer) that specializes in </a:t>
            </a:r>
            <a:r>
              <a:rPr lang="en-US" dirty="0" smtClean="0"/>
              <a:t>a particular </a:t>
            </a:r>
            <a:r>
              <a:rPr lang="en-US" dirty="0"/>
              <a:t>area is likely to make a better </a:t>
            </a:r>
            <a:r>
              <a:rPr lang="en-US" dirty="0" smtClean="0"/>
              <a:t>job than </a:t>
            </a:r>
            <a:r>
              <a:rPr lang="en-US" dirty="0"/>
              <a:t>an organization (the client) whose </a:t>
            </a:r>
            <a:r>
              <a:rPr lang="en-US" dirty="0" smtClean="0"/>
              <a:t>main area </a:t>
            </a:r>
            <a:r>
              <a:rPr lang="en-US" dirty="0"/>
              <a:t>of expertise is elsewhere.</a:t>
            </a:r>
          </a:p>
          <a:p>
            <a:r>
              <a:rPr lang="en-US" dirty="0" smtClean="0"/>
              <a:t>Rapid </a:t>
            </a:r>
            <a:r>
              <a:rPr lang="en-US" dirty="0"/>
              <a:t>increase in the UK in the past 25 years.</a:t>
            </a:r>
          </a:p>
          <a:p>
            <a:pPr lvl="1"/>
            <a:r>
              <a:rPr lang="en-US" dirty="0" smtClean="0"/>
              <a:t>Led </a:t>
            </a:r>
            <a:r>
              <a:rPr lang="en-US" dirty="0"/>
              <a:t>by the Civil Service.</a:t>
            </a:r>
          </a:p>
          <a:p>
            <a:pPr lvl="2"/>
            <a:r>
              <a:rPr lang="en-US" dirty="0" smtClean="0"/>
              <a:t>Great </a:t>
            </a:r>
            <a:r>
              <a:rPr lang="en-US" dirty="0"/>
              <a:t>difficulty in retaining competent IT staff because </a:t>
            </a:r>
            <a:r>
              <a:rPr lang="en-US" dirty="0" smtClean="0"/>
              <a:t>civil service </a:t>
            </a:r>
            <a:r>
              <a:rPr lang="en-US" dirty="0"/>
              <a:t>salaries were low in comparison with in the IT industry</a:t>
            </a:r>
          </a:p>
          <a:p>
            <a:pPr lvl="2"/>
            <a:r>
              <a:rPr lang="en-US" dirty="0" smtClean="0"/>
              <a:t>Allowing </a:t>
            </a:r>
            <a:r>
              <a:rPr lang="en-US" dirty="0"/>
              <a:t>gov’t to reduce the number of civil servants</a:t>
            </a:r>
          </a:p>
        </p:txBody>
      </p:sp>
    </p:spTree>
    <p:extLst>
      <p:ext uri="{BB962C8B-B14F-4D97-AF65-F5344CB8AC3E}">
        <p14:creationId xmlns:p14="http://schemas.microsoft.com/office/powerpoint/2010/main" val="42944301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License </a:t>
            </a:r>
            <a:r>
              <a:rPr lang="en-US" dirty="0" smtClean="0"/>
              <a:t>Agreements</a:t>
            </a:r>
            <a:endParaRPr lang="en-US" dirty="0"/>
          </a:p>
        </p:txBody>
      </p:sp>
      <p:sp>
        <p:nvSpPr>
          <p:cNvPr id="3" name="Content Placeholder 2"/>
          <p:cNvSpPr>
            <a:spLocks noGrp="1"/>
          </p:cNvSpPr>
          <p:nvPr>
            <p:ph idx="1"/>
          </p:nvPr>
        </p:nvSpPr>
        <p:spPr/>
        <p:txBody>
          <a:bodyPr/>
          <a:lstStyle/>
          <a:p>
            <a:r>
              <a:rPr lang="en-US" dirty="0" smtClean="0"/>
              <a:t>There </a:t>
            </a:r>
            <a:r>
              <a:rPr lang="en-US" dirty="0"/>
              <a:t>are many different types of license agreement. A license may allow the licensee to:</a:t>
            </a:r>
          </a:p>
          <a:p>
            <a:r>
              <a:rPr lang="en-US" dirty="0" smtClean="0"/>
              <a:t>use </a:t>
            </a:r>
            <a:r>
              <a:rPr lang="en-US" dirty="0"/>
              <a:t>one copy of the software on his computer </a:t>
            </a:r>
          </a:p>
          <a:p>
            <a:r>
              <a:rPr lang="en-US" dirty="0" smtClean="0"/>
              <a:t>run </a:t>
            </a:r>
            <a:r>
              <a:rPr lang="en-US" dirty="0"/>
              <a:t>the software on a server on his local area network and for it to be used by up to some agreed maximum number of users.</a:t>
            </a:r>
          </a:p>
          <a:p>
            <a:r>
              <a:rPr lang="en-US" dirty="0" smtClean="0"/>
              <a:t>run </a:t>
            </a:r>
            <a:r>
              <a:rPr lang="en-US" dirty="0"/>
              <a:t>as many copies of the software on computers at specified premises -&gt; site license.</a:t>
            </a:r>
          </a:p>
          <a:p>
            <a:endParaRPr lang="en-US" dirty="0"/>
          </a:p>
        </p:txBody>
      </p:sp>
    </p:spTree>
    <p:extLst>
      <p:ext uri="{BB962C8B-B14F-4D97-AF65-F5344CB8AC3E}">
        <p14:creationId xmlns:p14="http://schemas.microsoft.com/office/powerpoint/2010/main" val="42407141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Concerns in License </a:t>
            </a:r>
            <a:r>
              <a:rPr lang="en-US" dirty="0" smtClean="0"/>
              <a:t>Agreements</a:t>
            </a:r>
            <a:endParaRPr lang="en-US" dirty="0"/>
          </a:p>
        </p:txBody>
      </p:sp>
      <p:sp>
        <p:nvSpPr>
          <p:cNvPr id="3" name="Content Placeholder 2"/>
          <p:cNvSpPr>
            <a:spLocks noGrp="1"/>
          </p:cNvSpPr>
          <p:nvPr>
            <p:ph idx="1"/>
          </p:nvPr>
        </p:nvSpPr>
        <p:spPr/>
        <p:txBody>
          <a:bodyPr>
            <a:normAutofit lnSpcReduction="10000"/>
          </a:bodyPr>
          <a:lstStyle/>
          <a:p>
            <a:r>
              <a:rPr lang="en-US" dirty="0" smtClean="0"/>
              <a:t>Several </a:t>
            </a:r>
            <a:r>
              <a:rPr lang="en-US" dirty="0"/>
              <a:t>things that a software vendor may </a:t>
            </a:r>
            <a:r>
              <a:rPr lang="en-US" dirty="0" smtClean="0"/>
              <a:t>be concerned</a:t>
            </a:r>
            <a:r>
              <a:rPr lang="en-US" dirty="0"/>
              <a:t>:</a:t>
            </a:r>
          </a:p>
          <a:p>
            <a:r>
              <a:rPr lang="en-US" dirty="0" smtClean="0"/>
              <a:t>Making </a:t>
            </a:r>
            <a:r>
              <a:rPr lang="en-US" dirty="0"/>
              <a:t>sure that it is not giving away any of </a:t>
            </a:r>
            <a:r>
              <a:rPr lang="en-US" dirty="0" smtClean="0"/>
              <a:t>its own </a:t>
            </a:r>
            <a:r>
              <a:rPr lang="en-US" dirty="0"/>
              <a:t>rights in the software.</a:t>
            </a:r>
          </a:p>
          <a:p>
            <a:r>
              <a:rPr lang="en-US" dirty="0" smtClean="0"/>
              <a:t>Limiting </a:t>
            </a:r>
            <a:r>
              <a:rPr lang="en-US" dirty="0"/>
              <a:t>the extend the customer can use </a:t>
            </a:r>
            <a:r>
              <a:rPr lang="en-US" dirty="0" smtClean="0"/>
              <a:t>the software</a:t>
            </a:r>
            <a:r>
              <a:rPr lang="en-US" dirty="0"/>
              <a:t>.</a:t>
            </a:r>
          </a:p>
          <a:p>
            <a:pPr lvl="1"/>
            <a:r>
              <a:rPr lang="en-US" dirty="0" smtClean="0"/>
              <a:t>So </a:t>
            </a:r>
            <a:r>
              <a:rPr lang="en-US" dirty="0"/>
              <a:t>that if the customer wants to use it more he must</a:t>
            </a:r>
          </a:p>
          <a:p>
            <a:r>
              <a:rPr lang="en-US" dirty="0"/>
              <a:t>pay an additional license fee.</a:t>
            </a:r>
          </a:p>
          <a:p>
            <a:r>
              <a:rPr lang="en-US" dirty="0" smtClean="0"/>
              <a:t>Ensuring </a:t>
            </a:r>
            <a:r>
              <a:rPr lang="en-US" dirty="0"/>
              <a:t>a regular income from </a:t>
            </a:r>
            <a:r>
              <a:rPr lang="en-US" dirty="0" smtClean="0"/>
              <a:t>support activities</a:t>
            </a:r>
            <a:r>
              <a:rPr lang="en-US" dirty="0"/>
              <a:t>.</a:t>
            </a:r>
          </a:p>
          <a:p>
            <a:pPr lvl="1"/>
            <a:r>
              <a:rPr lang="en-US" dirty="0" smtClean="0"/>
              <a:t>E.g</a:t>
            </a:r>
            <a:r>
              <a:rPr lang="en-US" dirty="0"/>
              <a:t>. annual maintenance charge, consultancy fee</a:t>
            </a:r>
          </a:p>
          <a:p>
            <a:r>
              <a:rPr lang="en-US" dirty="0" smtClean="0"/>
              <a:t>Ensuring </a:t>
            </a:r>
            <a:r>
              <a:rPr lang="en-US" dirty="0"/>
              <a:t>as far as possible it will not be </a:t>
            </a:r>
            <a:r>
              <a:rPr lang="en-US" dirty="0" smtClean="0"/>
              <a:t>liable for </a:t>
            </a:r>
            <a:r>
              <a:rPr lang="en-US" dirty="0"/>
              <a:t>any defects in the software.</a:t>
            </a:r>
          </a:p>
          <a:p>
            <a:endParaRPr lang="en-US" dirty="0"/>
          </a:p>
        </p:txBody>
      </p:sp>
    </p:spTree>
    <p:extLst>
      <p:ext uri="{BB962C8B-B14F-4D97-AF65-F5344CB8AC3E}">
        <p14:creationId xmlns:p14="http://schemas.microsoft.com/office/powerpoint/2010/main" val="38597510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Licenses Types</a:t>
            </a:r>
            <a:endParaRPr lang="en-US" dirty="0"/>
          </a:p>
        </p:txBody>
      </p:sp>
      <p:sp>
        <p:nvSpPr>
          <p:cNvPr id="3" name="Content Placeholder 2"/>
          <p:cNvSpPr>
            <a:spLocks noGrp="1"/>
          </p:cNvSpPr>
          <p:nvPr>
            <p:ph idx="1"/>
          </p:nvPr>
        </p:nvSpPr>
        <p:spPr/>
        <p:txBody>
          <a:bodyPr>
            <a:normAutofit/>
          </a:bodyPr>
          <a:lstStyle/>
          <a:p>
            <a:r>
              <a:rPr lang="en-US" dirty="0"/>
              <a:t>Different types of software licenses require you to meet certain obligations if you want to reuse the code. </a:t>
            </a:r>
            <a:endParaRPr lang="en-US" dirty="0" smtClean="0"/>
          </a:p>
          <a:p>
            <a:r>
              <a:rPr lang="en-US" dirty="0" smtClean="0"/>
              <a:t>Here </a:t>
            </a:r>
            <a:r>
              <a:rPr lang="en-US" dirty="0"/>
              <a:t>are </a:t>
            </a:r>
            <a:r>
              <a:rPr lang="en-US" dirty="0" smtClean="0"/>
              <a:t>common </a:t>
            </a:r>
            <a:r>
              <a:rPr lang="en-US" dirty="0"/>
              <a:t>types of software </a:t>
            </a:r>
            <a:r>
              <a:rPr lang="en-US" dirty="0" smtClean="0"/>
              <a:t>licenses:</a:t>
            </a:r>
          </a:p>
          <a:p>
            <a:pPr lvl="1"/>
            <a:r>
              <a:rPr lang="en-US" dirty="0" smtClean="0"/>
              <a:t>Public </a:t>
            </a:r>
            <a:r>
              <a:rPr lang="en-US" dirty="0" smtClean="0"/>
              <a:t>domain</a:t>
            </a:r>
            <a:endParaRPr lang="en-US" dirty="0" smtClean="0"/>
          </a:p>
          <a:p>
            <a:pPr lvl="1"/>
            <a:r>
              <a:rPr lang="en-US" dirty="0" err="1" smtClean="0"/>
              <a:t>Copyleft</a:t>
            </a:r>
            <a:endParaRPr lang="en-US" dirty="0" smtClean="0"/>
          </a:p>
          <a:p>
            <a:pPr lvl="1"/>
            <a:r>
              <a:rPr lang="en-US" dirty="0" smtClean="0"/>
              <a:t>Proprietary</a:t>
            </a:r>
            <a:endParaRPr lang="en-US" dirty="0"/>
          </a:p>
        </p:txBody>
      </p:sp>
    </p:spTree>
    <p:extLst>
      <p:ext uri="{BB962C8B-B14F-4D97-AF65-F5344CB8AC3E}">
        <p14:creationId xmlns:p14="http://schemas.microsoft.com/office/powerpoint/2010/main" val="373829125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Major Clauses: </a:t>
            </a:r>
            <a:r>
              <a:rPr lang="en-US" dirty="0" smtClean="0"/>
              <a:t>Standards </a:t>
            </a:r>
            <a:r>
              <a:rPr lang="en-US" dirty="0"/>
              <a:t>and methods of working</a:t>
            </a:r>
          </a:p>
        </p:txBody>
      </p:sp>
      <p:sp>
        <p:nvSpPr>
          <p:cNvPr id="3" name="Content Placeholder 2"/>
          <p:cNvSpPr>
            <a:spLocks noGrp="1"/>
          </p:cNvSpPr>
          <p:nvPr>
            <p:ph idx="1"/>
          </p:nvPr>
        </p:nvSpPr>
        <p:spPr/>
        <p:txBody>
          <a:bodyPr>
            <a:normAutofit/>
          </a:bodyPr>
          <a:lstStyle/>
          <a:p>
            <a:pPr algn="just"/>
            <a:r>
              <a:rPr lang="en-US" dirty="0" smtClean="0"/>
              <a:t>The </a:t>
            </a:r>
            <a:r>
              <a:rPr lang="en-US" dirty="0"/>
              <a:t>supplier is likely to have company standards, methods of working, quality </a:t>
            </a:r>
            <a:r>
              <a:rPr lang="en-US" dirty="0" smtClean="0"/>
              <a:t>assurance procedures</a:t>
            </a:r>
            <a:r>
              <a:rPr lang="en-US" dirty="0"/>
              <a:t>, etc. and will normally prefer to use these. </a:t>
            </a:r>
            <a:endParaRPr lang="en-US" dirty="0" smtClean="0"/>
          </a:p>
          <a:p>
            <a:pPr algn="just"/>
            <a:r>
              <a:rPr lang="en-US" dirty="0" smtClean="0"/>
              <a:t>More </a:t>
            </a:r>
            <a:r>
              <a:rPr lang="en-US" dirty="0"/>
              <a:t>sophisticated clients </a:t>
            </a:r>
            <a:r>
              <a:rPr lang="en-US" dirty="0" smtClean="0"/>
              <a:t>will have </a:t>
            </a:r>
            <a:r>
              <a:rPr lang="en-US" dirty="0"/>
              <a:t>their own procedures and may require that these be adhered to</a:t>
            </a:r>
            <a:r>
              <a:rPr lang="en-US" dirty="0" smtClean="0"/>
              <a:t>.</a:t>
            </a:r>
          </a:p>
          <a:p>
            <a:pPr algn="just"/>
            <a:r>
              <a:rPr lang="en-US" dirty="0" smtClean="0"/>
              <a:t>In </a:t>
            </a:r>
            <a:r>
              <a:rPr lang="en-US" dirty="0"/>
              <a:t>some cases, </a:t>
            </a:r>
            <a:r>
              <a:rPr lang="en-US" dirty="0" smtClean="0"/>
              <a:t>the supplier </a:t>
            </a:r>
            <a:r>
              <a:rPr lang="en-US" dirty="0"/>
              <a:t>may be required to allow the client to apply quality control procedures to </a:t>
            </a:r>
            <a:r>
              <a:rPr lang="en-US" dirty="0" smtClean="0"/>
              <a:t>the project</a:t>
            </a:r>
            <a:r>
              <a:rPr lang="en-US" dirty="0"/>
              <a:t>. </a:t>
            </a:r>
            <a:endParaRPr lang="en-US" dirty="0" smtClean="0"/>
          </a:p>
          <a:p>
            <a:pPr algn="just"/>
            <a:r>
              <a:rPr lang="en-US" dirty="0" smtClean="0"/>
              <a:t>The </a:t>
            </a:r>
            <a:r>
              <a:rPr lang="en-US" dirty="0"/>
              <a:t>contract must specify which </a:t>
            </a:r>
            <a:r>
              <a:rPr lang="en-US" dirty="0" smtClean="0"/>
              <a:t>is applicable.</a:t>
            </a:r>
            <a:endParaRPr lang="en-US" b="1" i="1" dirty="0" smtClean="0"/>
          </a:p>
        </p:txBody>
      </p:sp>
    </p:spTree>
    <p:extLst>
      <p:ext uri="{BB962C8B-B14F-4D97-AF65-F5344CB8AC3E}">
        <p14:creationId xmlns:p14="http://schemas.microsoft.com/office/powerpoint/2010/main" val="621153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Liability of </a:t>
            </a:r>
            <a:r>
              <a:rPr lang="en-US" dirty="0" smtClean="0"/>
              <a:t>Defective </a:t>
            </a:r>
            <a:r>
              <a:rPr lang="en-US" dirty="0"/>
              <a:t>Software</a:t>
            </a:r>
          </a:p>
        </p:txBody>
      </p:sp>
      <p:sp>
        <p:nvSpPr>
          <p:cNvPr id="3" name="Content Placeholder 2"/>
          <p:cNvSpPr>
            <a:spLocks noGrp="1"/>
          </p:cNvSpPr>
          <p:nvPr>
            <p:ph idx="1"/>
          </p:nvPr>
        </p:nvSpPr>
        <p:spPr/>
        <p:txBody>
          <a:bodyPr>
            <a:normAutofit/>
          </a:bodyPr>
          <a:lstStyle/>
          <a:p>
            <a:r>
              <a:rPr lang="en-US" dirty="0" smtClean="0"/>
              <a:t>Developer </a:t>
            </a:r>
            <a:r>
              <a:rPr lang="en-US" dirty="0"/>
              <a:t>are very reluctant to give </a:t>
            </a:r>
            <a:r>
              <a:rPr lang="en-US" dirty="0" smtClean="0"/>
              <a:t>contractual commitment</a:t>
            </a:r>
            <a:r>
              <a:rPr lang="en-US" dirty="0"/>
              <a:t>.</a:t>
            </a:r>
          </a:p>
          <a:p>
            <a:pPr lvl="1"/>
            <a:r>
              <a:rPr lang="en-US" dirty="0" smtClean="0"/>
              <a:t>The </a:t>
            </a:r>
            <a:r>
              <a:rPr lang="en-US" dirty="0"/>
              <a:t>Standard terms and conditions will contain </a:t>
            </a:r>
            <a:r>
              <a:rPr lang="en-US" dirty="0" smtClean="0"/>
              <a:t>a clause </a:t>
            </a:r>
            <a:r>
              <a:rPr lang="en-US" dirty="0"/>
              <a:t>that tries to limit the developer liability if </a:t>
            </a:r>
            <a:r>
              <a:rPr lang="en-US" dirty="0" smtClean="0"/>
              <a:t>the software </a:t>
            </a:r>
            <a:r>
              <a:rPr lang="en-US" dirty="0"/>
              <a:t>is defective.</a:t>
            </a:r>
          </a:p>
          <a:p>
            <a:pPr lvl="1"/>
            <a:r>
              <a:rPr lang="en-US" dirty="0" smtClean="0"/>
              <a:t>Most </a:t>
            </a:r>
            <a:r>
              <a:rPr lang="en-US" dirty="0"/>
              <a:t>contracts will limit the extent of any </a:t>
            </a:r>
            <a:r>
              <a:rPr lang="en-US" dirty="0" smtClean="0"/>
              <a:t>liability either </a:t>
            </a:r>
            <a:r>
              <a:rPr lang="en-US" dirty="0"/>
              <a:t>to purchase price of the product or to </a:t>
            </a:r>
            <a:r>
              <a:rPr lang="en-US" dirty="0" smtClean="0"/>
              <a:t>some fixed </a:t>
            </a:r>
            <a:r>
              <a:rPr lang="en-US" dirty="0"/>
              <a:t>figure.</a:t>
            </a:r>
          </a:p>
          <a:p>
            <a:r>
              <a:rPr lang="en-US" dirty="0" smtClean="0"/>
              <a:t>The </a:t>
            </a:r>
            <a:r>
              <a:rPr lang="en-US" dirty="0"/>
              <a:t>Unfair Contract Terms Act 1977 </a:t>
            </a:r>
            <a:r>
              <a:rPr lang="en-US" dirty="0" smtClean="0"/>
              <a:t>restricts the </a:t>
            </a:r>
            <a:r>
              <a:rPr lang="en-US" dirty="0"/>
              <a:t>extend to which clauses in contract </a:t>
            </a:r>
            <a:r>
              <a:rPr lang="en-US" dirty="0" smtClean="0"/>
              <a:t>limiting liability</a:t>
            </a:r>
            <a:r>
              <a:rPr lang="en-US" dirty="0"/>
              <a:t>.</a:t>
            </a:r>
          </a:p>
          <a:p>
            <a:r>
              <a:rPr lang="en-US" dirty="0" smtClean="0"/>
              <a:t>But</a:t>
            </a:r>
            <a:r>
              <a:rPr lang="en-US" dirty="0"/>
              <a:t>, it is not possible to limit the </a:t>
            </a:r>
            <a:r>
              <a:rPr lang="en-US" dirty="0" smtClean="0"/>
              <a:t>damages payable </a:t>
            </a:r>
            <a:r>
              <a:rPr lang="en-US" dirty="0"/>
              <a:t>if a defect in the product causes </a:t>
            </a:r>
            <a:r>
              <a:rPr lang="en-US" dirty="0" smtClean="0"/>
              <a:t>death or injury</a:t>
            </a:r>
            <a:endParaRPr lang="en-US" dirty="0"/>
          </a:p>
        </p:txBody>
      </p:sp>
    </p:spTree>
    <p:extLst>
      <p:ext uri="{BB962C8B-B14F-4D97-AF65-F5344CB8AC3E}">
        <p14:creationId xmlns:p14="http://schemas.microsoft.com/office/powerpoint/2010/main" val="188846541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and </a:t>
            </a:r>
            <a:r>
              <a:rPr lang="en-US" dirty="0" smtClean="0"/>
              <a:t>Safety</a:t>
            </a:r>
            <a:endParaRPr lang="en-US" dirty="0"/>
          </a:p>
        </p:txBody>
      </p:sp>
      <p:sp>
        <p:nvSpPr>
          <p:cNvPr id="3" name="Content Placeholder 2"/>
          <p:cNvSpPr>
            <a:spLocks noGrp="1"/>
          </p:cNvSpPr>
          <p:nvPr>
            <p:ph idx="1"/>
          </p:nvPr>
        </p:nvSpPr>
        <p:spPr/>
        <p:txBody>
          <a:bodyPr>
            <a:normAutofit fontScale="92500" lnSpcReduction="20000"/>
          </a:bodyPr>
          <a:lstStyle/>
          <a:p>
            <a:r>
              <a:rPr lang="en-US" dirty="0"/>
              <a:t>“It shall be the duty of every employer </a:t>
            </a:r>
            <a:r>
              <a:rPr lang="en-US" dirty="0" smtClean="0"/>
              <a:t>to ensure</a:t>
            </a:r>
            <a:r>
              <a:rPr lang="en-US" dirty="0"/>
              <a:t>, so far as is reasonably practicable, </a:t>
            </a:r>
            <a:r>
              <a:rPr lang="en-US" dirty="0" smtClean="0"/>
              <a:t>the health</a:t>
            </a:r>
            <a:r>
              <a:rPr lang="en-US" dirty="0"/>
              <a:t>, safety and welfare at work of all </a:t>
            </a:r>
            <a:r>
              <a:rPr lang="en-US" dirty="0" smtClean="0"/>
              <a:t>his employees</a:t>
            </a:r>
            <a:r>
              <a:rPr lang="en-US" dirty="0"/>
              <a:t>.”</a:t>
            </a:r>
          </a:p>
          <a:p>
            <a:r>
              <a:rPr lang="en-US" dirty="0"/>
              <a:t>(The Health and Safety Work Act 1974</a:t>
            </a:r>
            <a:r>
              <a:rPr lang="en-US" dirty="0" smtClean="0"/>
              <a:t>)</a:t>
            </a:r>
          </a:p>
          <a:p>
            <a:r>
              <a:rPr lang="en-US" dirty="0" smtClean="0"/>
              <a:t>Particular </a:t>
            </a:r>
            <a:r>
              <a:rPr lang="en-US" dirty="0"/>
              <a:t>concern to software engineers:</a:t>
            </a:r>
          </a:p>
          <a:p>
            <a:r>
              <a:rPr lang="en-US" dirty="0"/>
              <a:t>Provision and maintenance of:</a:t>
            </a:r>
          </a:p>
          <a:p>
            <a:pPr lvl="1"/>
            <a:r>
              <a:rPr lang="en-US" dirty="0" smtClean="0"/>
              <a:t>safe </a:t>
            </a:r>
            <a:r>
              <a:rPr lang="en-US" dirty="0"/>
              <a:t>plant</a:t>
            </a:r>
          </a:p>
          <a:p>
            <a:pPr lvl="1"/>
            <a:r>
              <a:rPr lang="en-US" dirty="0" smtClean="0"/>
              <a:t>safe </a:t>
            </a:r>
            <a:r>
              <a:rPr lang="en-US" dirty="0"/>
              <a:t>systems of work</a:t>
            </a:r>
          </a:p>
          <a:p>
            <a:pPr lvl="1"/>
            <a:r>
              <a:rPr lang="en-US" dirty="0" smtClean="0"/>
              <a:t>such </a:t>
            </a:r>
            <a:r>
              <a:rPr lang="en-US" dirty="0"/>
              <a:t>information, instruction, training and supervision</a:t>
            </a:r>
          </a:p>
          <a:p>
            <a:pPr lvl="1"/>
            <a:r>
              <a:rPr lang="en-US" dirty="0" smtClean="0"/>
              <a:t>safe </a:t>
            </a:r>
            <a:r>
              <a:rPr lang="en-US" dirty="0"/>
              <a:t>working environment and adequate </a:t>
            </a:r>
            <a:r>
              <a:rPr lang="en-US" dirty="0" smtClean="0"/>
              <a:t>welfare arrangements</a:t>
            </a:r>
          </a:p>
          <a:p>
            <a:r>
              <a:rPr lang="en-US" dirty="0" smtClean="0"/>
              <a:t>The </a:t>
            </a:r>
            <a:r>
              <a:rPr lang="en-US" dirty="0"/>
              <a:t>act also requires employers to ensure </a:t>
            </a:r>
            <a:r>
              <a:rPr lang="en-US" dirty="0" smtClean="0"/>
              <a:t>that their </a:t>
            </a:r>
            <a:r>
              <a:rPr lang="en-US" dirty="0"/>
              <a:t>activities do not risk the general </a:t>
            </a:r>
            <a:r>
              <a:rPr lang="en-US" dirty="0" smtClean="0"/>
              <a:t>public health </a:t>
            </a:r>
            <a:r>
              <a:rPr lang="en-US" dirty="0"/>
              <a:t>and safety.</a:t>
            </a:r>
          </a:p>
          <a:p>
            <a:r>
              <a:rPr lang="en-US" dirty="0" smtClean="0"/>
              <a:t>Failure </a:t>
            </a:r>
            <a:r>
              <a:rPr lang="en-US" dirty="0"/>
              <a:t>to comply with the act is a </a:t>
            </a:r>
            <a:r>
              <a:rPr lang="en-US" dirty="0" smtClean="0"/>
              <a:t>criminal offence</a:t>
            </a:r>
            <a:r>
              <a:rPr lang="en-US" dirty="0"/>
              <a:t>.</a:t>
            </a:r>
          </a:p>
          <a:p>
            <a:endParaRPr lang="en-US" dirty="0"/>
          </a:p>
          <a:p>
            <a:endParaRPr lang="en-US" dirty="0"/>
          </a:p>
        </p:txBody>
      </p:sp>
    </p:spTree>
    <p:extLst>
      <p:ext uri="{BB962C8B-B14F-4D97-AF65-F5344CB8AC3E}">
        <p14:creationId xmlns:p14="http://schemas.microsoft.com/office/powerpoint/2010/main" val="23949635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Case Study-1</a:t>
            </a:r>
            <a:endParaRPr lang="en-US" dirty="0"/>
          </a:p>
        </p:txBody>
      </p:sp>
      <p:sp>
        <p:nvSpPr>
          <p:cNvPr id="3" name="Content Placeholder 2"/>
          <p:cNvSpPr>
            <a:spLocks noGrp="1"/>
          </p:cNvSpPr>
          <p:nvPr>
            <p:ph idx="1"/>
          </p:nvPr>
        </p:nvSpPr>
        <p:spPr/>
        <p:txBody>
          <a:bodyPr/>
          <a:lstStyle/>
          <a:p>
            <a:pPr>
              <a:defRPr/>
            </a:pPr>
            <a:r>
              <a:rPr lang="en-US" b="1" dirty="0"/>
              <a:t>Contracts for the supply of custom-built software at a fixed price</a:t>
            </a:r>
            <a:endParaRPr lang="en-US" b="1" dirty="0" smtClean="0"/>
          </a:p>
          <a:p>
            <a:pPr lvl="1">
              <a:defRPr/>
            </a:pPr>
            <a:endParaRPr lang="en-US" dirty="0" smtClean="0"/>
          </a:p>
          <a:p>
            <a:pPr lvl="1">
              <a:defRPr/>
            </a:pPr>
            <a:r>
              <a:rPr lang="en-US" dirty="0" smtClean="0"/>
              <a:t>Software </a:t>
            </a:r>
            <a:r>
              <a:rPr lang="en-US" dirty="0"/>
              <a:t>suppliers try to use what are known as standard form contracts, which are used or intended to be used many times over.</a:t>
            </a:r>
          </a:p>
          <a:p>
            <a:pPr lvl="1">
              <a:defRPr/>
            </a:pPr>
            <a:r>
              <a:rPr lang="en-US" dirty="0"/>
              <a:t>Such a contract might consist of:</a:t>
            </a:r>
          </a:p>
          <a:p>
            <a:pPr lvl="2">
              <a:defRPr/>
            </a:pPr>
            <a:r>
              <a:rPr lang="en-US" dirty="0"/>
              <a:t>a short introductory section</a:t>
            </a:r>
          </a:p>
          <a:p>
            <a:pPr lvl="2">
              <a:defRPr/>
            </a:pPr>
            <a:r>
              <a:rPr lang="en-US" dirty="0"/>
              <a:t>a set of standard terms and conditions</a:t>
            </a:r>
          </a:p>
          <a:p>
            <a:pPr lvl="2">
              <a:defRPr/>
            </a:pPr>
            <a:r>
              <a:rPr lang="en-US" dirty="0"/>
              <a:t>a set of appendices or annexes</a:t>
            </a:r>
            <a:br>
              <a:rPr lang="en-US" dirty="0"/>
            </a:br>
            <a:endParaRPr lang="en-US" dirty="0"/>
          </a:p>
        </p:txBody>
      </p:sp>
    </p:spTree>
    <p:extLst>
      <p:ext uri="{BB962C8B-B14F-4D97-AF65-F5344CB8AC3E}">
        <p14:creationId xmlns:p14="http://schemas.microsoft.com/office/powerpoint/2010/main" val="7508965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Introductory </a:t>
            </a:r>
            <a:r>
              <a:rPr lang="en-US" altLang="en-US" dirty="0" smtClean="0"/>
              <a:t>Section</a:t>
            </a:r>
            <a:endParaRPr lang="en-US" dirty="0"/>
          </a:p>
        </p:txBody>
      </p:sp>
      <p:sp>
        <p:nvSpPr>
          <p:cNvPr id="3" name="Content Placeholder 2"/>
          <p:cNvSpPr>
            <a:spLocks noGrp="1"/>
          </p:cNvSpPr>
          <p:nvPr>
            <p:ph idx="1"/>
          </p:nvPr>
        </p:nvSpPr>
        <p:spPr/>
        <p:txBody>
          <a:bodyPr/>
          <a:lstStyle/>
          <a:p>
            <a:pPr>
              <a:defRPr/>
            </a:pPr>
            <a:r>
              <a:rPr lang="en-US" dirty="0"/>
              <a:t>It states that it is an agreement between the parties whose names and registered addresses are given.</a:t>
            </a:r>
          </a:p>
          <a:p>
            <a:pPr>
              <a:defRPr/>
            </a:pPr>
            <a:r>
              <a:rPr lang="en-US" dirty="0"/>
              <a:t>It is dated and signed by authorized representatives of the parties.</a:t>
            </a:r>
          </a:p>
          <a:p>
            <a:pPr>
              <a:defRPr/>
            </a:pPr>
            <a:r>
              <a:rPr lang="en-US" dirty="0"/>
              <a:t>It often begins with a set of definitions of terms used in the</a:t>
            </a:r>
            <a:br>
              <a:rPr lang="en-US" dirty="0"/>
            </a:br>
            <a:r>
              <a:rPr lang="en-US" dirty="0"/>
              <a:t>course of the agreement, set out either in alphabetical order, like a dictionary, or in the order in which they appear in the rest of the contract –The Company, The Client</a:t>
            </a:r>
          </a:p>
          <a:p>
            <a:endParaRPr lang="en-US" dirty="0"/>
          </a:p>
        </p:txBody>
      </p:sp>
    </p:spTree>
    <p:extLst>
      <p:ext uri="{BB962C8B-B14F-4D97-AF65-F5344CB8AC3E}">
        <p14:creationId xmlns:p14="http://schemas.microsoft.com/office/powerpoint/2010/main" val="32542217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t>
            </a:r>
            <a:r>
              <a:rPr lang="en-US" dirty="0" smtClean="0"/>
              <a:t>Sections</a:t>
            </a:r>
            <a:endParaRPr lang="en-US" dirty="0"/>
          </a:p>
        </p:txBody>
      </p:sp>
      <p:sp>
        <p:nvSpPr>
          <p:cNvPr id="3" name="Content Placeholder 2"/>
          <p:cNvSpPr>
            <a:spLocks noGrp="1"/>
          </p:cNvSpPr>
          <p:nvPr>
            <p:ph idx="1"/>
          </p:nvPr>
        </p:nvSpPr>
        <p:spPr/>
        <p:txBody>
          <a:bodyPr/>
          <a:lstStyle/>
          <a:p>
            <a:pPr>
              <a:defRPr/>
            </a:pPr>
            <a:r>
              <a:rPr lang="en-US" dirty="0"/>
              <a:t>Terms and </a:t>
            </a:r>
            <a:r>
              <a:rPr lang="en-US" dirty="0" smtClean="0"/>
              <a:t>conditions</a:t>
            </a:r>
          </a:p>
          <a:p>
            <a:pPr>
              <a:defRPr/>
            </a:pPr>
            <a:r>
              <a:rPr lang="en-US" dirty="0" smtClean="0"/>
              <a:t>Annexes </a:t>
            </a:r>
            <a:r>
              <a:rPr lang="en-US" dirty="0"/>
              <a:t>must include any document stated like SRS. </a:t>
            </a:r>
            <a:endParaRPr lang="en-US" dirty="0" smtClean="0"/>
          </a:p>
          <a:p>
            <a:pPr lvl="1">
              <a:defRPr/>
            </a:pPr>
            <a:r>
              <a:rPr lang="en-US" dirty="0" smtClean="0"/>
              <a:t>This </a:t>
            </a:r>
            <a:r>
              <a:rPr lang="en-US" dirty="0"/>
              <a:t>is to avoid, for example, the situation in which statements made by an over-enthusiastic salesman while trying to win the business are claimed by the client to constitute part of the contract</a:t>
            </a:r>
          </a:p>
        </p:txBody>
      </p:sp>
    </p:spTree>
    <p:extLst>
      <p:ext uri="{BB962C8B-B14F-4D97-AF65-F5344CB8AC3E}">
        <p14:creationId xmlns:p14="http://schemas.microsoft.com/office/powerpoint/2010/main" val="38005262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Issues dealt with Standard Terms &amp; Conditions</a:t>
            </a:r>
            <a:endParaRPr lang="en-US" dirty="0"/>
          </a:p>
        </p:txBody>
      </p:sp>
      <p:sp>
        <p:nvSpPr>
          <p:cNvPr id="3" name="Content Placeholder 2"/>
          <p:cNvSpPr>
            <a:spLocks noGrp="1"/>
          </p:cNvSpPr>
          <p:nvPr>
            <p:ph idx="1"/>
          </p:nvPr>
        </p:nvSpPr>
        <p:spPr/>
        <p:txBody>
          <a:bodyPr/>
          <a:lstStyle/>
          <a:p>
            <a:pPr>
              <a:defRPr/>
            </a:pPr>
            <a:r>
              <a:rPr lang="en-US" dirty="0"/>
              <a:t>What is to be produced?</a:t>
            </a:r>
          </a:p>
          <a:p>
            <a:pPr>
              <a:defRPr/>
            </a:pPr>
            <a:r>
              <a:rPr lang="en-US" dirty="0"/>
              <a:t>What is to be delivered?</a:t>
            </a:r>
          </a:p>
          <a:p>
            <a:pPr>
              <a:defRPr/>
            </a:pPr>
            <a:r>
              <a:rPr lang="en-US" dirty="0"/>
              <a:t>Ownership of rights</a:t>
            </a:r>
          </a:p>
          <a:p>
            <a:pPr>
              <a:defRPr/>
            </a:pPr>
            <a:r>
              <a:rPr lang="en-US" dirty="0"/>
              <a:t>Payment terms</a:t>
            </a:r>
          </a:p>
          <a:p>
            <a:pPr>
              <a:defRPr/>
            </a:pPr>
            <a:r>
              <a:rPr lang="en-US" dirty="0"/>
              <a:t>Calculating payments for delays and changes</a:t>
            </a:r>
          </a:p>
          <a:p>
            <a:pPr>
              <a:defRPr/>
            </a:pPr>
            <a:r>
              <a:rPr lang="en-US" dirty="0"/>
              <a:t>Penalty clauses</a:t>
            </a:r>
          </a:p>
          <a:p>
            <a:pPr>
              <a:defRPr/>
            </a:pPr>
            <a:r>
              <a:rPr lang="en-US" dirty="0"/>
              <a:t>Obligations of the client</a:t>
            </a:r>
            <a:r>
              <a:rPr lang="en-US" b="1" dirty="0"/>
              <a:t/>
            </a:r>
            <a:br>
              <a:rPr lang="en-US" b="1" dirty="0"/>
            </a:br>
            <a:endParaRPr lang="en-US" dirty="0"/>
          </a:p>
        </p:txBody>
      </p:sp>
    </p:spTree>
    <p:extLst>
      <p:ext uri="{BB962C8B-B14F-4D97-AF65-F5344CB8AC3E}">
        <p14:creationId xmlns:p14="http://schemas.microsoft.com/office/powerpoint/2010/main" val="3923890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Issues dealt with Standard Terms &amp; </a:t>
            </a:r>
            <a:r>
              <a:rPr lang="en-US" altLang="en-US" dirty="0" smtClean="0"/>
              <a:t>Conditions</a:t>
            </a:r>
            <a:endParaRPr lang="en-US" dirty="0"/>
          </a:p>
        </p:txBody>
      </p:sp>
      <p:sp>
        <p:nvSpPr>
          <p:cNvPr id="3" name="Content Placeholder 2"/>
          <p:cNvSpPr>
            <a:spLocks noGrp="1"/>
          </p:cNvSpPr>
          <p:nvPr>
            <p:ph idx="1"/>
          </p:nvPr>
        </p:nvSpPr>
        <p:spPr/>
        <p:txBody>
          <a:bodyPr/>
          <a:lstStyle/>
          <a:p>
            <a:pPr>
              <a:defRPr/>
            </a:pPr>
            <a:r>
              <a:rPr lang="en-US" dirty="0"/>
              <a:t>Standards and methods of working</a:t>
            </a:r>
          </a:p>
          <a:p>
            <a:pPr>
              <a:defRPr/>
            </a:pPr>
            <a:r>
              <a:rPr lang="en-US" dirty="0"/>
              <a:t>Progress meetings</a:t>
            </a:r>
          </a:p>
          <a:p>
            <a:pPr>
              <a:defRPr/>
            </a:pPr>
            <a:r>
              <a:rPr lang="en-US" dirty="0"/>
              <a:t>Project Managers</a:t>
            </a:r>
          </a:p>
          <a:p>
            <a:pPr>
              <a:defRPr/>
            </a:pPr>
            <a:r>
              <a:rPr lang="en-US" dirty="0"/>
              <a:t>Acceptance procedure</a:t>
            </a:r>
          </a:p>
          <a:p>
            <a:pPr>
              <a:defRPr/>
            </a:pPr>
            <a:r>
              <a:rPr lang="en-US" dirty="0"/>
              <a:t>Warranty and maintenance</a:t>
            </a:r>
          </a:p>
          <a:p>
            <a:pPr>
              <a:defRPr/>
            </a:pPr>
            <a:r>
              <a:rPr lang="en-US" dirty="0"/>
              <a:t>Termination of the contract</a:t>
            </a:r>
          </a:p>
        </p:txBody>
      </p:sp>
    </p:spTree>
    <p:extLst>
      <p:ext uri="{BB962C8B-B14F-4D97-AF65-F5344CB8AC3E}">
        <p14:creationId xmlns:p14="http://schemas.microsoft.com/office/powerpoint/2010/main" val="20670599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types of software services contract</a:t>
            </a:r>
          </a:p>
        </p:txBody>
      </p:sp>
      <p:sp>
        <p:nvSpPr>
          <p:cNvPr id="3" name="Content Placeholder 2"/>
          <p:cNvSpPr>
            <a:spLocks noGrp="1"/>
          </p:cNvSpPr>
          <p:nvPr>
            <p:ph idx="1"/>
          </p:nvPr>
        </p:nvSpPr>
        <p:spPr/>
        <p:txBody>
          <a:bodyPr/>
          <a:lstStyle/>
          <a:p>
            <a:pPr>
              <a:defRPr/>
            </a:pPr>
            <a:r>
              <a:rPr lang="en-US" dirty="0"/>
              <a:t>There are four types of contractual arrangement which are widely used in connection with the provision of software services:</a:t>
            </a:r>
          </a:p>
          <a:p>
            <a:pPr lvl="1">
              <a:defRPr/>
            </a:pPr>
            <a:r>
              <a:rPr lang="en-US" dirty="0"/>
              <a:t>fixed price</a:t>
            </a:r>
          </a:p>
          <a:p>
            <a:pPr lvl="1">
              <a:defRPr/>
            </a:pPr>
            <a:r>
              <a:rPr lang="en-US" dirty="0"/>
              <a:t>contract hire</a:t>
            </a:r>
          </a:p>
          <a:p>
            <a:pPr lvl="1">
              <a:defRPr/>
            </a:pPr>
            <a:r>
              <a:rPr lang="en-US" dirty="0"/>
              <a:t>time and materials</a:t>
            </a:r>
          </a:p>
          <a:p>
            <a:pPr lvl="1">
              <a:defRPr/>
            </a:pPr>
            <a:r>
              <a:rPr lang="en-US" dirty="0"/>
              <a:t>Consultancy</a:t>
            </a:r>
          </a:p>
          <a:p>
            <a:pPr lvl="1">
              <a:defRPr/>
            </a:pPr>
            <a:r>
              <a:rPr lang="en-US" dirty="0"/>
              <a:t>Software as a services (SAAs)</a:t>
            </a:r>
          </a:p>
        </p:txBody>
      </p:sp>
    </p:spTree>
    <p:extLst>
      <p:ext uri="{BB962C8B-B14F-4D97-AF65-F5344CB8AC3E}">
        <p14:creationId xmlns:p14="http://schemas.microsoft.com/office/powerpoint/2010/main" val="2081092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Contract Hire</a:t>
            </a:r>
            <a:endParaRPr lang="en-US" dirty="0"/>
          </a:p>
        </p:txBody>
      </p:sp>
      <p:sp>
        <p:nvSpPr>
          <p:cNvPr id="3" name="Content Placeholder 2"/>
          <p:cNvSpPr>
            <a:spLocks noGrp="1"/>
          </p:cNvSpPr>
          <p:nvPr>
            <p:ph idx="1"/>
          </p:nvPr>
        </p:nvSpPr>
        <p:spPr/>
        <p:txBody>
          <a:bodyPr/>
          <a:lstStyle/>
          <a:p>
            <a:pPr>
              <a:defRPr/>
            </a:pPr>
            <a:r>
              <a:rPr lang="en-US" dirty="0"/>
              <a:t>The supplier agrees to provide the services of one or more staff to work for the client</a:t>
            </a:r>
          </a:p>
          <a:p>
            <a:pPr>
              <a:defRPr/>
            </a:pPr>
            <a:r>
              <a:rPr lang="en-US" dirty="0"/>
              <a:t>The staff work under the direction of the client</a:t>
            </a:r>
          </a:p>
          <a:p>
            <a:pPr>
              <a:defRPr/>
            </a:pPr>
            <a:r>
              <a:rPr lang="en-US" dirty="0"/>
              <a:t>Supplier’s responsibility is limited to provide suitable competent people and replacing them if they become unavailable or said unsuitable by the client</a:t>
            </a:r>
          </a:p>
          <a:p>
            <a:pPr>
              <a:defRPr/>
            </a:pPr>
            <a:r>
              <a:rPr lang="en-US" dirty="0"/>
              <a:t>Payment is on the basis of a fixed rate for each man day worked</a:t>
            </a:r>
          </a:p>
          <a:p>
            <a:pPr>
              <a:defRPr/>
            </a:pPr>
            <a:r>
              <a:rPr lang="en-US" dirty="0"/>
              <a:t>Issues such as delay payments, acceptance tests and many others simply do not arise</a:t>
            </a:r>
          </a:p>
        </p:txBody>
      </p:sp>
    </p:spTree>
    <p:extLst>
      <p:ext uri="{BB962C8B-B14F-4D97-AF65-F5344CB8AC3E}">
        <p14:creationId xmlns:p14="http://schemas.microsoft.com/office/powerpoint/2010/main" val="30641005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Time and Materials</a:t>
            </a:r>
            <a:endParaRPr lang="en-US" dirty="0"/>
          </a:p>
        </p:txBody>
      </p:sp>
      <p:sp>
        <p:nvSpPr>
          <p:cNvPr id="3" name="Content Placeholder 2"/>
          <p:cNvSpPr>
            <a:spLocks noGrp="1"/>
          </p:cNvSpPr>
          <p:nvPr>
            <p:ph idx="1"/>
          </p:nvPr>
        </p:nvSpPr>
        <p:spPr/>
        <p:txBody>
          <a:bodyPr/>
          <a:lstStyle/>
          <a:p>
            <a:pPr>
              <a:defRPr/>
            </a:pPr>
            <a:r>
              <a:rPr lang="en-US" dirty="0"/>
              <a:t>It is somewhere between a contract hire agreement and a fixed price contract. </a:t>
            </a:r>
          </a:p>
          <a:p>
            <a:pPr>
              <a:defRPr/>
            </a:pPr>
            <a:r>
              <a:rPr lang="en-US" dirty="0"/>
              <a:t>The supplier agrees to undertake the development of the software in much the same way as in a fixed price contract but payment is made on the basis of the costs incurred, with labor charged in the same way as for contract hire</a:t>
            </a:r>
          </a:p>
          <a:p>
            <a:pPr>
              <a:defRPr/>
            </a:pPr>
            <a:r>
              <a:rPr lang="en-US" dirty="0"/>
              <a:t>The supplier is not committed to completing the work for a fixed price, although a maximum payment may be fixed beyond which the project may be reviewed</a:t>
            </a:r>
          </a:p>
        </p:txBody>
      </p:sp>
    </p:spTree>
    <p:extLst>
      <p:ext uri="{BB962C8B-B14F-4D97-AF65-F5344CB8AC3E}">
        <p14:creationId xmlns:p14="http://schemas.microsoft.com/office/powerpoint/2010/main" val="32974761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Consultancy contracts</a:t>
            </a:r>
            <a:endParaRPr lang="en-US" dirty="0"/>
          </a:p>
        </p:txBody>
      </p:sp>
      <p:sp>
        <p:nvSpPr>
          <p:cNvPr id="3" name="Content Placeholder 2"/>
          <p:cNvSpPr>
            <a:spLocks noGrp="1"/>
          </p:cNvSpPr>
          <p:nvPr>
            <p:ph idx="1"/>
          </p:nvPr>
        </p:nvSpPr>
        <p:spPr/>
        <p:txBody>
          <a:bodyPr/>
          <a:lstStyle/>
          <a:p>
            <a:pPr algn="just">
              <a:defRPr/>
            </a:pPr>
            <a:r>
              <a:rPr lang="en-US" dirty="0"/>
              <a:t>Consultants are typically used to assess some aspect of an organization and to make proposals for improvements.</a:t>
            </a:r>
          </a:p>
          <a:p>
            <a:pPr algn="just">
              <a:defRPr/>
            </a:pPr>
            <a:r>
              <a:rPr lang="en-US" dirty="0"/>
              <a:t>The end product of a consultancy project is therefore</a:t>
            </a:r>
            <a:br>
              <a:rPr lang="en-US" dirty="0"/>
            </a:br>
            <a:r>
              <a:rPr lang="en-US" dirty="0"/>
              <a:t>usually a report or other document.</a:t>
            </a:r>
          </a:p>
          <a:p>
            <a:pPr algn="just">
              <a:defRPr/>
            </a:pPr>
            <a:r>
              <a:rPr lang="en-US" dirty="0"/>
              <a:t>Consultancy projects are usually undertaken for a</a:t>
            </a:r>
            <a:br>
              <a:rPr lang="en-US" dirty="0"/>
            </a:br>
            <a:r>
              <a:rPr lang="en-US" dirty="0"/>
              <a:t>fixed price but the form of contract is very much simpler</a:t>
            </a:r>
          </a:p>
        </p:txBody>
      </p:sp>
    </p:spTree>
    <p:extLst>
      <p:ext uri="{BB962C8B-B14F-4D97-AF65-F5344CB8AC3E}">
        <p14:creationId xmlns:p14="http://schemas.microsoft.com/office/powerpoint/2010/main" val="3573443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Contracts Case </a:t>
            </a:r>
            <a:r>
              <a:rPr lang="en-US" dirty="0" smtClean="0"/>
              <a:t>Study-2</a:t>
            </a:r>
            <a:endParaRPr lang="en-US" dirty="0"/>
          </a:p>
        </p:txBody>
      </p:sp>
      <p:sp>
        <p:nvSpPr>
          <p:cNvPr id="3" name="Content Placeholder 2"/>
          <p:cNvSpPr>
            <a:spLocks noGrp="1"/>
          </p:cNvSpPr>
          <p:nvPr>
            <p:ph idx="1"/>
          </p:nvPr>
        </p:nvSpPr>
        <p:spPr/>
        <p:txBody>
          <a:bodyPr/>
          <a:lstStyle/>
          <a:p>
            <a:r>
              <a:rPr lang="en-US" dirty="0" smtClean="0"/>
              <a:t>How </a:t>
            </a:r>
            <a:r>
              <a:rPr lang="en-US" dirty="0"/>
              <a:t>to </a:t>
            </a:r>
            <a:r>
              <a:rPr lang="en-US" dirty="0" smtClean="0"/>
              <a:t>draft clauses of contract for the </a:t>
            </a:r>
            <a:r>
              <a:rPr lang="en-US" dirty="0"/>
              <a:t>Software as a Service (</a:t>
            </a:r>
            <a:r>
              <a:rPr lang="en-US" dirty="0" err="1"/>
              <a:t>SaaS</a:t>
            </a:r>
            <a:r>
              <a:rPr lang="en-US" dirty="0" smtClean="0"/>
              <a:t>)?</a:t>
            </a:r>
            <a:endParaRPr lang="en-US" dirty="0"/>
          </a:p>
        </p:txBody>
      </p:sp>
    </p:spTree>
    <p:extLst>
      <p:ext uri="{BB962C8B-B14F-4D97-AF65-F5344CB8AC3E}">
        <p14:creationId xmlns:p14="http://schemas.microsoft.com/office/powerpoint/2010/main" val="38981926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Readings </a:t>
            </a:r>
            <a:endParaRPr lang="en-US" dirty="0"/>
          </a:p>
        </p:txBody>
      </p:sp>
      <p:sp>
        <p:nvSpPr>
          <p:cNvPr id="3" name="Content Placeholder 2"/>
          <p:cNvSpPr>
            <a:spLocks noGrp="1"/>
          </p:cNvSpPr>
          <p:nvPr>
            <p:ph idx="1"/>
          </p:nvPr>
        </p:nvSpPr>
        <p:spPr/>
        <p:txBody>
          <a:bodyPr/>
          <a:lstStyle/>
          <a:p>
            <a:r>
              <a:rPr lang="en-US" dirty="0" smtClean="0"/>
              <a:t>Chapter 5 from </a:t>
            </a:r>
            <a:r>
              <a:rPr lang="en-US" dirty="0"/>
              <a:t>Book 1: Professional Issues in Software Engineering, M.F. </a:t>
            </a:r>
            <a:r>
              <a:rPr lang="en-US" dirty="0" err="1"/>
              <a:t>Bott</a:t>
            </a:r>
            <a:r>
              <a:rPr lang="en-US" dirty="0"/>
              <a:t> et al. (3rd Edition).</a:t>
            </a:r>
          </a:p>
        </p:txBody>
      </p:sp>
    </p:spTree>
    <p:extLst>
      <p:ext uri="{BB962C8B-B14F-4D97-AF65-F5344CB8AC3E}">
        <p14:creationId xmlns:p14="http://schemas.microsoft.com/office/powerpoint/2010/main" val="1735514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3322</Words>
  <Application>Microsoft Office PowerPoint</Application>
  <PresentationFormat>Widescreen</PresentationFormat>
  <Paragraphs>307</Paragraphs>
  <Slides>41</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Office Theme</vt:lpstr>
      <vt:lpstr>Software Contracts</vt:lpstr>
      <vt:lpstr>Introduction</vt:lpstr>
      <vt:lpstr>Introduction</vt:lpstr>
      <vt:lpstr>Introduction</vt:lpstr>
      <vt:lpstr>Software Contracts</vt:lpstr>
      <vt:lpstr>Do we need a formal Contract?</vt:lpstr>
      <vt:lpstr>Structure of a software Contract</vt:lpstr>
      <vt:lpstr>Clauses of a software contract</vt:lpstr>
      <vt:lpstr>Clauses of a software contract</vt:lpstr>
      <vt:lpstr>Major Clauses: Definitions</vt:lpstr>
      <vt:lpstr>Major Clauses: What is to be produced?</vt:lpstr>
      <vt:lpstr>Major Clauses: What is to be delivered?</vt:lpstr>
      <vt:lpstr>Major Clauses: Rights Ownership</vt:lpstr>
      <vt:lpstr>Major Clauses: Confidentiality</vt:lpstr>
      <vt:lpstr>Major Clauses: Payment Terms</vt:lpstr>
      <vt:lpstr>Major Clauses: Payments for Delays and Changes</vt:lpstr>
      <vt:lpstr>Major Clauses: Penalty Clauses</vt:lpstr>
      <vt:lpstr>Major Clauses: Client Obligations</vt:lpstr>
      <vt:lpstr>Major Clauses: Acceptance Procedure</vt:lpstr>
      <vt:lpstr>Major Clauses: Warranty and Maintenance</vt:lpstr>
      <vt:lpstr>Major Clauses: Inflation</vt:lpstr>
      <vt:lpstr>Major Clauses: Indemnity (insurance)</vt:lpstr>
      <vt:lpstr>Major Clauses: Termination of Contract</vt:lpstr>
      <vt:lpstr>Major Clauses: Outsourcing</vt:lpstr>
      <vt:lpstr>Major Clauses: License Agreements</vt:lpstr>
      <vt:lpstr>Important Concerns in License Agreements</vt:lpstr>
      <vt:lpstr>Software Licenses Types</vt:lpstr>
      <vt:lpstr>Major Clauses: Standards and methods of working</vt:lpstr>
      <vt:lpstr>Liability of Defective Software</vt:lpstr>
      <vt:lpstr>Health and Safety</vt:lpstr>
      <vt:lpstr>Case Study-1</vt:lpstr>
      <vt:lpstr>Introductory Section</vt:lpstr>
      <vt:lpstr>Other Sections</vt:lpstr>
      <vt:lpstr>Issues dealt with Standard Terms &amp; Conditions</vt:lpstr>
      <vt:lpstr>Issues dealt with Standard Terms &amp; Conditions</vt:lpstr>
      <vt:lpstr>Other types of software services contract</vt:lpstr>
      <vt:lpstr>Contract Hire</vt:lpstr>
      <vt:lpstr>Time and Materials</vt:lpstr>
      <vt:lpstr>Consultancy contracts</vt:lpstr>
      <vt:lpstr>Software Contracts Case Study-2</vt:lpstr>
      <vt:lpstr>Further Readings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Contracts</dc:title>
  <dc:creator>Windows User</dc:creator>
  <cp:lastModifiedBy>Amber</cp:lastModifiedBy>
  <cp:revision>61</cp:revision>
  <dcterms:created xsi:type="dcterms:W3CDTF">2020-10-13T10:40:18Z</dcterms:created>
  <dcterms:modified xsi:type="dcterms:W3CDTF">2022-03-29T06:22:12Z</dcterms:modified>
</cp:coreProperties>
</file>
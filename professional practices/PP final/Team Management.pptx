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79" r:id="rId3"/>
    <p:sldId id="258" r:id="rId4"/>
    <p:sldId id="276" r:id="rId5"/>
    <p:sldId id="257" r:id="rId6"/>
    <p:sldId id="259" r:id="rId7"/>
    <p:sldId id="260" r:id="rId8"/>
    <p:sldId id="261" r:id="rId9"/>
    <p:sldId id="262" r:id="rId10"/>
    <p:sldId id="263" r:id="rId11"/>
    <p:sldId id="278" r:id="rId12"/>
    <p:sldId id="264" r:id="rId13"/>
    <p:sldId id="265" r:id="rId14"/>
    <p:sldId id="266" r:id="rId15"/>
    <p:sldId id="267" r:id="rId16"/>
    <p:sldId id="281" r:id="rId17"/>
    <p:sldId id="268" r:id="rId18"/>
    <p:sldId id="269" r:id="rId19"/>
    <p:sldId id="270" r:id="rId20"/>
    <p:sldId id="271" r:id="rId21"/>
    <p:sldId id="272" r:id="rId22"/>
    <p:sldId id="273" r:id="rId23"/>
    <p:sldId id="274" r:id="rId24"/>
    <p:sldId id="275" r:id="rId25"/>
    <p:sldId id="277" r:id="rId26"/>
    <p:sldId id="280"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1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E96BDE2-EF15-4457-BBDC-1C5FF055DBB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2883773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96BDE2-EF15-4457-BBDC-1C5FF055DBB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2065339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E96BDE2-EF15-4457-BBDC-1C5FF055DBB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2116208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E96BDE2-EF15-4457-BBDC-1C5FF055DBB3}"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2936768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E96BDE2-EF15-4457-BBDC-1C5FF055DBB3}" type="datetimeFigureOut">
              <a:rPr lang="en-US" smtClean="0"/>
              <a:t>12/7/2020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909295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E96BDE2-EF15-4457-BBDC-1C5FF055DBB3}" type="datetimeFigureOut">
              <a:rPr lang="en-US" smtClean="0"/>
              <a:t>12/7/2020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951010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96BDE2-EF15-4457-BBDC-1C5FF055DBB3}" type="datetimeFigureOut">
              <a:rPr lang="en-US" smtClean="0"/>
              <a:t>12/7/2020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69743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E96BDE2-EF15-4457-BBDC-1C5FF055DBB3}"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1259915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E96BDE2-EF15-4457-BBDC-1C5FF055DBB3}"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413307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96BDE2-EF15-4457-BBDC-1C5FF055DBB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59867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96BDE2-EF15-4457-BBDC-1C5FF055DBB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5C342-8F51-4A88-8292-B049B9A0F71C}" type="slidenum">
              <a:rPr lang="en-US" smtClean="0"/>
              <a:t>‹#›</a:t>
            </a:fld>
            <a:endParaRPr lang="en-US"/>
          </a:p>
        </p:txBody>
      </p:sp>
    </p:spTree>
    <p:extLst>
      <p:ext uri="{BB962C8B-B14F-4D97-AF65-F5344CB8AC3E}">
        <p14:creationId xmlns:p14="http://schemas.microsoft.com/office/powerpoint/2010/main" val="146649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96BDE2-EF15-4457-BBDC-1C5FF055DBB3}" type="datetimeFigureOut">
              <a:rPr lang="en-US" smtClean="0"/>
              <a:t>12/7/2020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5C342-8F51-4A88-8292-B049B9A0F71C}" type="slidenum">
              <a:rPr lang="en-US" smtClean="0"/>
              <a:t>‹#›</a:t>
            </a:fld>
            <a:endParaRPr lang="en-US"/>
          </a:p>
        </p:txBody>
      </p:sp>
    </p:spTree>
    <p:extLst>
      <p:ext uri="{BB962C8B-B14F-4D97-AF65-F5344CB8AC3E}">
        <p14:creationId xmlns:p14="http://schemas.microsoft.com/office/powerpoint/2010/main" val="197723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a:xfrm>
            <a:off x="736979" y="4442735"/>
            <a:ext cx="10686197" cy="2108189"/>
          </a:xfrm>
          <a:solidFill>
            <a:srgbClr val="92D050"/>
          </a:solidFill>
        </p:spPr>
        <p:txBody>
          <a:bodyPr>
            <a:normAutofit/>
          </a:bodyPr>
          <a:lstStyle/>
          <a:p>
            <a:r>
              <a:rPr lang="en-US" sz="7200" b="1" dirty="0" smtClean="0"/>
              <a:t>Professional Practice</a:t>
            </a:r>
          </a:p>
          <a:p>
            <a:r>
              <a:rPr lang="en-US" sz="4400" b="1" dirty="0" smtClean="0"/>
              <a:t>Software Team Management</a:t>
            </a:r>
            <a:endParaRPr lang="en-US" sz="4400" b="1" dirty="0"/>
          </a:p>
        </p:txBody>
      </p:sp>
      <p:pic>
        <p:nvPicPr>
          <p:cNvPr id="4" name="Content Placeholder 3" descr="q1.jpg"/>
          <p:cNvPicPr>
            <a:picLocks noGrp="1" noChangeAspect="1"/>
          </p:cNvPicPr>
          <p:nvPr/>
        </p:nvPicPr>
        <p:blipFill>
          <a:blip r:embed="rId2" cstate="print"/>
          <a:stretch>
            <a:fillRect/>
          </a:stretch>
        </p:blipFill>
        <p:spPr>
          <a:xfrm>
            <a:off x="409433" y="385882"/>
            <a:ext cx="11505063" cy="4148254"/>
          </a:xfrm>
          <a:prstGeom prst="rect">
            <a:avLst/>
          </a:prstGeom>
          <a:solidFill>
            <a:schemeClr val="accent2"/>
          </a:solidFill>
        </p:spPr>
      </p:pic>
    </p:spTree>
    <p:extLst>
      <p:ext uri="{BB962C8B-B14F-4D97-AF65-F5344CB8AC3E}">
        <p14:creationId xmlns:p14="http://schemas.microsoft.com/office/powerpoint/2010/main" val="3085731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9064" y="160361"/>
            <a:ext cx="10704393" cy="1392072"/>
          </a:xfrm>
        </p:spPr>
        <p:txBody>
          <a:bodyPr>
            <a:noAutofit/>
          </a:bodyPr>
          <a:lstStyle/>
          <a:p>
            <a:r>
              <a:rPr lang="en-US" sz="8800" dirty="0" smtClean="0"/>
              <a:t>Software House </a:t>
            </a:r>
            <a:r>
              <a:rPr lang="en-US" sz="8800" dirty="0" smtClean="0"/>
              <a:t>Team</a:t>
            </a:r>
            <a:endParaRPr lang="en-US" sz="3600" dirty="0"/>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60560"/>
            <a:ext cx="12192000" cy="5097439"/>
          </a:xfrm>
          <a:prstGeom prst="rect">
            <a:avLst/>
          </a:prstGeom>
        </p:spPr>
      </p:pic>
    </p:spTree>
    <p:extLst>
      <p:ext uri="{BB962C8B-B14F-4D97-AF65-F5344CB8AC3E}">
        <p14:creationId xmlns:p14="http://schemas.microsoft.com/office/powerpoint/2010/main" val="11006494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60" y="236383"/>
            <a:ext cx="10515600" cy="814495"/>
          </a:xfrm>
        </p:spPr>
        <p:txBody>
          <a:bodyPr>
            <a:noAutofit/>
          </a:bodyPr>
          <a:lstStyle/>
          <a:p>
            <a:r>
              <a:rPr lang="en-US" sz="6000" dirty="0" smtClean="0"/>
              <a:t>What is A Team??</a:t>
            </a:r>
            <a:endParaRPr lang="en-US" sz="4800" dirty="0"/>
          </a:p>
        </p:txBody>
      </p:sp>
      <p:sp>
        <p:nvSpPr>
          <p:cNvPr id="3" name="Content Placeholder 2"/>
          <p:cNvSpPr>
            <a:spLocks noGrp="1"/>
          </p:cNvSpPr>
          <p:nvPr>
            <p:ph idx="1"/>
          </p:nvPr>
        </p:nvSpPr>
        <p:spPr>
          <a:xfrm>
            <a:off x="169460" y="748184"/>
            <a:ext cx="11622206" cy="3407548"/>
          </a:xfrm>
        </p:spPr>
        <p:txBody>
          <a:bodyPr>
            <a:normAutofit fontScale="92500" lnSpcReduction="20000"/>
          </a:bodyPr>
          <a:lstStyle/>
          <a:p>
            <a:endParaRPr lang="en-US" dirty="0" smtClean="0"/>
          </a:p>
          <a:p>
            <a:r>
              <a:rPr lang="en-US" dirty="0" smtClean="0"/>
              <a:t>A </a:t>
            </a:r>
            <a:r>
              <a:rPr lang="en-US" dirty="0"/>
              <a:t>team is a number of persons associated together in work or activity: as a group on one side (as </a:t>
            </a:r>
            <a:r>
              <a:rPr lang="en-US" dirty="0" smtClean="0"/>
              <a:t>in football).</a:t>
            </a:r>
          </a:p>
          <a:p>
            <a:endParaRPr lang="en-US" dirty="0"/>
          </a:p>
          <a:p>
            <a:r>
              <a:rPr lang="en-US" dirty="0" smtClean="0"/>
              <a:t> </a:t>
            </a:r>
            <a:r>
              <a:rPr lang="en-US" dirty="0"/>
              <a:t>W</a:t>
            </a:r>
            <a:r>
              <a:rPr lang="en-US" dirty="0" smtClean="0"/>
              <a:t>hen </a:t>
            </a:r>
            <a:r>
              <a:rPr lang="en-US" dirty="0"/>
              <a:t>one person cannot accomplish a job alone and several individuals must cooperate to fulfill a </a:t>
            </a:r>
            <a:r>
              <a:rPr lang="en-US" dirty="0" smtClean="0"/>
              <a:t>mission or task, </a:t>
            </a:r>
            <a:r>
              <a:rPr lang="en-US" dirty="0"/>
              <a:t>you need a team</a:t>
            </a:r>
            <a:r>
              <a:rPr lang="en-US" dirty="0" smtClean="0"/>
              <a:t>.</a:t>
            </a:r>
          </a:p>
          <a:p>
            <a:endParaRPr lang="en-US" dirty="0"/>
          </a:p>
          <a:p>
            <a:r>
              <a:rPr lang="en-US" dirty="0" smtClean="0"/>
              <a:t> </a:t>
            </a:r>
            <a:r>
              <a:rPr lang="en-US" dirty="0"/>
              <a:t>The better the cooperation, communication, and coordination among team members, the more efficient the team</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135273"/>
            <a:ext cx="12192000" cy="2673494"/>
          </a:xfrm>
          <a:prstGeom prst="rect">
            <a:avLst/>
          </a:prstGeom>
        </p:spPr>
      </p:pic>
    </p:spTree>
    <p:extLst>
      <p:ext uri="{BB962C8B-B14F-4D97-AF65-F5344CB8AC3E}">
        <p14:creationId xmlns:p14="http://schemas.microsoft.com/office/powerpoint/2010/main" val="13790635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60" y="0"/>
            <a:ext cx="10515600" cy="1325563"/>
          </a:xfrm>
        </p:spPr>
        <p:txBody>
          <a:bodyPr>
            <a:normAutofit/>
          </a:bodyPr>
          <a:lstStyle/>
          <a:p>
            <a:r>
              <a:rPr lang="en-US" sz="6600" dirty="0"/>
              <a:t>What is Team Management</a:t>
            </a:r>
            <a:r>
              <a:rPr lang="en-US" sz="6600" dirty="0" smtClean="0"/>
              <a:t>??</a:t>
            </a:r>
            <a:endParaRPr lang="en-US" dirty="0"/>
          </a:p>
        </p:txBody>
      </p:sp>
      <p:sp>
        <p:nvSpPr>
          <p:cNvPr id="3" name="Content Placeholder 2"/>
          <p:cNvSpPr>
            <a:spLocks noGrp="1"/>
          </p:cNvSpPr>
          <p:nvPr>
            <p:ph idx="1"/>
          </p:nvPr>
        </p:nvSpPr>
        <p:spPr>
          <a:xfrm>
            <a:off x="305937" y="1325563"/>
            <a:ext cx="10515600" cy="4351338"/>
          </a:xfrm>
        </p:spPr>
        <p:txBody>
          <a:bodyPr/>
          <a:lstStyle/>
          <a:p>
            <a:r>
              <a:rPr lang="en-US" dirty="0" smtClean="0"/>
              <a:t>Team </a:t>
            </a:r>
            <a:r>
              <a:rPr lang="en-US" dirty="0"/>
              <a:t>management refers to techniques, processes and tools for organizing and </a:t>
            </a:r>
            <a:r>
              <a:rPr lang="en-US" dirty="0" smtClean="0"/>
              <a:t>manage </a:t>
            </a:r>
            <a:r>
              <a:rPr lang="en-US" dirty="0"/>
              <a:t>a group of individuals working towards a common goal.</a:t>
            </a:r>
            <a:br>
              <a:rPr lang="en-US" dirty="0"/>
            </a:br>
            <a:endParaRPr lang="en-US"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93325"/>
            <a:ext cx="12192000" cy="3964675"/>
          </a:xfrm>
          <a:prstGeom prst="rect">
            <a:avLst/>
          </a:prstGeom>
        </p:spPr>
      </p:pic>
    </p:spTree>
    <p:extLst>
      <p:ext uri="{BB962C8B-B14F-4D97-AF65-F5344CB8AC3E}">
        <p14:creationId xmlns:p14="http://schemas.microsoft.com/office/powerpoint/2010/main" val="41855426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631" y="506717"/>
            <a:ext cx="10515600" cy="811457"/>
          </a:xfrm>
        </p:spPr>
        <p:txBody>
          <a:bodyPr>
            <a:normAutofit fontScale="90000"/>
          </a:bodyPr>
          <a:lstStyle/>
          <a:p>
            <a:r>
              <a:rPr lang="en-US" sz="7300" dirty="0" smtClean="0"/>
              <a:t/>
            </a:r>
            <a:br>
              <a:rPr lang="en-US" sz="7300" dirty="0" smtClean="0"/>
            </a:br>
            <a:r>
              <a:rPr lang="en-US" sz="5300" dirty="0" smtClean="0"/>
              <a:t>What is Team Management??</a:t>
            </a:r>
            <a:br>
              <a:rPr lang="en-US" sz="5300" dirty="0" smtClean="0"/>
            </a:br>
            <a:r>
              <a:rPr lang="en-US" dirty="0" smtClean="0"/>
              <a:t/>
            </a:r>
            <a:br>
              <a:rPr lang="en-US" dirty="0" smtClean="0"/>
            </a:br>
            <a:endParaRPr lang="en-US" dirty="0"/>
          </a:p>
        </p:txBody>
      </p:sp>
      <p:sp>
        <p:nvSpPr>
          <p:cNvPr id="3" name="Content Placeholder 2"/>
          <p:cNvSpPr>
            <a:spLocks noGrp="1"/>
          </p:cNvSpPr>
          <p:nvPr>
            <p:ph idx="1"/>
          </p:nvPr>
        </p:nvSpPr>
        <p:spPr>
          <a:xfrm>
            <a:off x="650631" y="1555845"/>
            <a:ext cx="10515600" cy="5292996"/>
          </a:xfrm>
        </p:spPr>
        <p:txBody>
          <a:bodyPr>
            <a:noAutofit/>
          </a:bodyPr>
          <a:lstStyle/>
          <a:p>
            <a:pPr algn="just"/>
            <a:r>
              <a:rPr lang="en-US" sz="2400" dirty="0" smtClean="0"/>
              <a:t>Team </a:t>
            </a:r>
            <a:r>
              <a:rPr lang="en-US" sz="2400" dirty="0"/>
              <a:t>management is the ability of an individual or an organization to </a:t>
            </a:r>
            <a:r>
              <a:rPr lang="en-US" sz="2400" dirty="0" smtClean="0"/>
              <a:t>administrate </a:t>
            </a:r>
            <a:r>
              <a:rPr lang="en-US" sz="2400" dirty="0"/>
              <a:t>and coordinate a group of individuals to perform a task</a:t>
            </a:r>
            <a:r>
              <a:rPr lang="en-US" sz="2400" dirty="0" smtClean="0"/>
              <a:t>.</a:t>
            </a:r>
            <a:endParaRPr lang="en-US" sz="2400" dirty="0"/>
          </a:p>
          <a:p>
            <a:pPr marL="0" indent="0" algn="just">
              <a:buNone/>
            </a:pPr>
            <a:endParaRPr lang="en-US" sz="2400" dirty="0"/>
          </a:p>
          <a:p>
            <a:pPr algn="just"/>
            <a:r>
              <a:rPr lang="en-US" sz="2400" dirty="0"/>
              <a:t>The administration of a group of people assembled to work on a particular project or to perform a particular function within an </a:t>
            </a:r>
            <a:r>
              <a:rPr lang="en-US" sz="2400" dirty="0" smtClean="0"/>
              <a:t>organization.</a:t>
            </a:r>
          </a:p>
          <a:p>
            <a:pPr marL="0" indent="0" algn="just">
              <a:buNone/>
            </a:pPr>
            <a:endParaRPr lang="en-US" sz="2400" dirty="0" smtClean="0"/>
          </a:p>
          <a:p>
            <a:pPr algn="just"/>
            <a:r>
              <a:rPr lang="en-US" sz="2400" dirty="0"/>
              <a:t>Team management involves teamwork, communication, objective setting and </a:t>
            </a:r>
            <a:r>
              <a:rPr lang="en-US" sz="2400" dirty="0" smtClean="0"/>
              <a:t>performance etc.</a:t>
            </a:r>
          </a:p>
          <a:p>
            <a:pPr algn="just"/>
            <a:endParaRPr lang="en-US" sz="2400" dirty="0"/>
          </a:p>
          <a:p>
            <a:pPr algn="just"/>
            <a:r>
              <a:rPr lang="en-US" sz="2400" dirty="0"/>
              <a:t> </a:t>
            </a:r>
            <a:r>
              <a:rPr lang="en-US" sz="2400" dirty="0" smtClean="0"/>
              <a:t>Team </a:t>
            </a:r>
            <a:r>
              <a:rPr lang="en-US" sz="2400" dirty="0"/>
              <a:t>management is the capability to identify problems and resolve </a:t>
            </a:r>
            <a:r>
              <a:rPr lang="en-US" sz="2400" dirty="0" smtClean="0"/>
              <a:t>conflicts within </a:t>
            </a:r>
            <a:r>
              <a:rPr lang="en-US" sz="2400" dirty="0"/>
              <a:t>a team</a:t>
            </a:r>
            <a:r>
              <a:rPr lang="en-US" sz="2400" dirty="0" smtClean="0"/>
              <a:t>.</a:t>
            </a:r>
          </a:p>
          <a:p>
            <a:endParaRPr lang="en-US" sz="2400" dirty="0" smtClean="0"/>
          </a:p>
          <a:p>
            <a:pPr marL="0" indent="0">
              <a:buNone/>
            </a:pPr>
            <a:r>
              <a:rPr lang="en-US" sz="2400" dirty="0" smtClean="0"/>
              <a:t/>
            </a:r>
            <a:br>
              <a:rPr lang="en-US" sz="2400" dirty="0" smtClean="0"/>
            </a:br>
            <a:endParaRPr lang="en-US" sz="2400" dirty="0"/>
          </a:p>
        </p:txBody>
      </p:sp>
    </p:spTree>
    <p:extLst>
      <p:ext uri="{BB962C8B-B14F-4D97-AF65-F5344CB8AC3E}">
        <p14:creationId xmlns:p14="http://schemas.microsoft.com/office/powerpoint/2010/main" val="42597544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dirty="0"/>
              <a:t>The 4 C’s </a:t>
            </a:r>
            <a:r>
              <a:rPr lang="en-US" sz="4800" dirty="0" smtClean="0"/>
              <a:t>of Team Management </a:t>
            </a:r>
            <a:endParaRPr lang="en-US" sz="4800" dirty="0"/>
          </a:p>
        </p:txBody>
      </p:sp>
      <p:sp>
        <p:nvSpPr>
          <p:cNvPr id="3" name="Content Placeholder 2"/>
          <p:cNvSpPr>
            <a:spLocks noGrp="1"/>
          </p:cNvSpPr>
          <p:nvPr>
            <p:ph idx="1"/>
          </p:nvPr>
        </p:nvSpPr>
        <p:spPr>
          <a:xfrm>
            <a:off x="450551" y="1982075"/>
            <a:ext cx="11518536" cy="4302369"/>
          </a:xfrm>
        </p:spPr>
        <p:txBody>
          <a:bodyPr>
            <a:normAutofit/>
          </a:bodyPr>
          <a:lstStyle/>
          <a:p>
            <a:r>
              <a:rPr lang="en-US" sz="4000" dirty="0" smtClean="0"/>
              <a:t> Competence:       </a:t>
            </a:r>
            <a:r>
              <a:rPr lang="en-US" sz="3200" dirty="0" smtClean="0"/>
              <a:t>Possession </a:t>
            </a:r>
            <a:r>
              <a:rPr lang="en-US" sz="3200" dirty="0"/>
              <a:t>of sufficient knowledge or skill</a:t>
            </a:r>
            <a:endParaRPr lang="en-US" sz="4000" dirty="0" smtClean="0"/>
          </a:p>
          <a:p>
            <a:r>
              <a:rPr lang="en-US" sz="4000" dirty="0" smtClean="0"/>
              <a:t> Character:     	  </a:t>
            </a:r>
            <a:r>
              <a:rPr lang="en-US" sz="3200" dirty="0" smtClean="0"/>
              <a:t>Mental </a:t>
            </a:r>
            <a:r>
              <a:rPr lang="en-US" sz="3200" dirty="0"/>
              <a:t>and </a:t>
            </a:r>
            <a:r>
              <a:rPr lang="en-US" sz="3200" dirty="0" smtClean="0"/>
              <a:t>Ethical </a:t>
            </a:r>
            <a:r>
              <a:rPr lang="en-US" sz="3200" dirty="0"/>
              <a:t>traits</a:t>
            </a:r>
            <a:endParaRPr lang="en-US" sz="4000" dirty="0" smtClean="0"/>
          </a:p>
          <a:p>
            <a:r>
              <a:rPr lang="en-US" sz="4000" dirty="0" smtClean="0"/>
              <a:t> Communication: </a:t>
            </a:r>
            <a:r>
              <a:rPr lang="en-US" sz="3200" dirty="0" smtClean="0"/>
              <a:t>Information Exchange, </a:t>
            </a:r>
            <a:r>
              <a:rPr lang="en-US" sz="3200" dirty="0"/>
              <a:t>for </a:t>
            </a:r>
            <a:r>
              <a:rPr lang="en-US" sz="3200" dirty="0" smtClean="0"/>
              <a:t>Expressing </a:t>
            </a:r>
            <a:r>
              <a:rPr lang="en-US" sz="3200" dirty="0"/>
              <a:t>I</a:t>
            </a:r>
            <a:r>
              <a:rPr lang="en-US" sz="3200" dirty="0" smtClean="0"/>
              <a:t>deas</a:t>
            </a:r>
            <a:r>
              <a:rPr lang="en-US" sz="4000" dirty="0" smtClean="0"/>
              <a:t> </a:t>
            </a:r>
          </a:p>
          <a:p>
            <a:r>
              <a:rPr lang="en-US" sz="4000" dirty="0" smtClean="0"/>
              <a:t> Collaboration:      </a:t>
            </a:r>
            <a:r>
              <a:rPr lang="en-US" sz="3200" dirty="0"/>
              <a:t>T</a:t>
            </a:r>
            <a:r>
              <a:rPr lang="en-US" sz="3200" dirty="0" smtClean="0"/>
              <a:t>o </a:t>
            </a:r>
            <a:r>
              <a:rPr lang="en-US" sz="3200" dirty="0"/>
              <a:t>work jointly with others or together</a:t>
            </a:r>
            <a:r>
              <a:rPr lang="en-US" sz="4000" dirty="0" smtClean="0"/>
              <a:t>      	  </a:t>
            </a:r>
            <a:endParaRPr lang="en-US" sz="4000" dirty="0"/>
          </a:p>
        </p:txBody>
      </p:sp>
    </p:spTree>
    <p:extLst>
      <p:ext uri="{BB962C8B-B14F-4D97-AF65-F5344CB8AC3E}">
        <p14:creationId xmlns:p14="http://schemas.microsoft.com/office/powerpoint/2010/main" val="18387889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56358"/>
            <a:ext cx="9272954" cy="1252224"/>
          </a:xfrm>
        </p:spPr>
        <p:txBody>
          <a:bodyPr>
            <a:noAutofit/>
          </a:bodyPr>
          <a:lstStyle/>
          <a:p>
            <a:r>
              <a:rPr lang="en-US" sz="5400" dirty="0"/>
              <a:t>Elements of a </a:t>
            </a:r>
            <a:r>
              <a:rPr lang="en-US" sz="5400" dirty="0" smtClean="0"/>
              <a:t>Healthy and</a:t>
            </a:r>
            <a:br>
              <a:rPr lang="en-US" sz="5400" dirty="0" smtClean="0"/>
            </a:br>
            <a:r>
              <a:rPr lang="en-US" sz="5400" dirty="0" smtClean="0"/>
              <a:t> Successful </a:t>
            </a:r>
            <a:r>
              <a:rPr lang="en-US" sz="5400" dirty="0"/>
              <a:t>T</a:t>
            </a:r>
            <a:r>
              <a:rPr lang="en-US" sz="5400" dirty="0" smtClean="0"/>
              <a:t>eam</a:t>
            </a:r>
            <a:endParaRPr lang="en-US" sz="5400" dirty="0"/>
          </a:p>
        </p:txBody>
      </p:sp>
      <p:sp>
        <p:nvSpPr>
          <p:cNvPr id="3" name="Content Placeholder 2"/>
          <p:cNvSpPr>
            <a:spLocks noGrp="1"/>
          </p:cNvSpPr>
          <p:nvPr>
            <p:ph idx="1"/>
          </p:nvPr>
        </p:nvSpPr>
        <p:spPr>
          <a:xfrm>
            <a:off x="0" y="2157622"/>
            <a:ext cx="9662615" cy="4351338"/>
          </a:xfrm>
        </p:spPr>
        <p:txBody>
          <a:bodyPr>
            <a:normAutofit fontScale="92500" lnSpcReduction="20000"/>
          </a:bodyPr>
          <a:lstStyle/>
          <a:p>
            <a:r>
              <a:rPr lang="en-US" dirty="0"/>
              <a:t>Cohesive </a:t>
            </a:r>
            <a:r>
              <a:rPr lang="en-US" dirty="0" smtClean="0"/>
              <a:t>Leadership:</a:t>
            </a:r>
          </a:p>
          <a:p>
            <a:pPr marL="0" indent="0">
              <a:buNone/>
            </a:pPr>
            <a:endParaRPr lang="en-US" dirty="0" smtClean="0"/>
          </a:p>
          <a:p>
            <a:pPr marL="0" indent="0" algn="just">
              <a:buNone/>
            </a:pPr>
            <a:r>
              <a:rPr lang="en-US" dirty="0" smtClean="0"/>
              <a:t>Cohesive </a:t>
            </a:r>
            <a:r>
              <a:rPr lang="en-US" dirty="0"/>
              <a:t>leadership means that team leaders are </a:t>
            </a:r>
            <a:r>
              <a:rPr lang="en-US" dirty="0" smtClean="0"/>
              <a:t>acting</a:t>
            </a:r>
          </a:p>
          <a:p>
            <a:pPr marL="0" indent="0" algn="just">
              <a:buNone/>
            </a:pPr>
            <a:r>
              <a:rPr lang="en-US" dirty="0" smtClean="0"/>
              <a:t> </a:t>
            </a:r>
            <a:r>
              <a:rPr lang="en-US" dirty="0"/>
              <a:t>together as a unit and making decisions as a </a:t>
            </a:r>
            <a:r>
              <a:rPr lang="en-US" dirty="0" smtClean="0"/>
              <a:t>leadership</a:t>
            </a:r>
          </a:p>
          <a:p>
            <a:pPr marL="0" indent="0" algn="just">
              <a:buNone/>
            </a:pPr>
            <a:r>
              <a:rPr lang="en-US" dirty="0" smtClean="0"/>
              <a:t> </a:t>
            </a:r>
            <a:r>
              <a:rPr lang="en-US" dirty="0"/>
              <a:t>team instead of each branching off into their own </a:t>
            </a:r>
            <a:r>
              <a:rPr lang="en-US" dirty="0" smtClean="0"/>
              <a:t>work</a:t>
            </a:r>
          </a:p>
          <a:p>
            <a:pPr marL="0" indent="0" algn="just">
              <a:buNone/>
            </a:pPr>
            <a:r>
              <a:rPr lang="en-US" dirty="0" smtClean="0"/>
              <a:t> </a:t>
            </a:r>
            <a:r>
              <a:rPr lang="en-US" dirty="0"/>
              <a:t>and operating individually</a:t>
            </a:r>
            <a:r>
              <a:rPr lang="en-US" dirty="0" smtClean="0"/>
              <a:t>.</a:t>
            </a:r>
          </a:p>
          <a:p>
            <a:pPr marL="0" indent="0" algn="just">
              <a:buNone/>
            </a:pPr>
            <a:endParaRPr lang="en-US" dirty="0" smtClean="0"/>
          </a:p>
          <a:p>
            <a:pPr marL="0" indent="0" algn="just">
              <a:buNone/>
            </a:pPr>
            <a:r>
              <a:rPr lang="en-US" dirty="0"/>
              <a:t>This will ensure that the team will be steered in </a:t>
            </a:r>
            <a:r>
              <a:rPr lang="en-US" dirty="0" smtClean="0"/>
              <a:t>one</a:t>
            </a:r>
          </a:p>
          <a:p>
            <a:pPr marL="0" indent="0" algn="just">
              <a:buNone/>
            </a:pPr>
            <a:r>
              <a:rPr lang="en-US" dirty="0" smtClean="0"/>
              <a:t> direction instead </a:t>
            </a:r>
            <a:r>
              <a:rPr lang="en-US" dirty="0"/>
              <a:t>of multiple due to team leaders </a:t>
            </a:r>
            <a:r>
              <a:rPr lang="en-US" dirty="0" smtClean="0"/>
              <a:t>not</a:t>
            </a:r>
          </a:p>
          <a:p>
            <a:pPr marL="0" indent="0" algn="just">
              <a:buNone/>
            </a:pPr>
            <a:r>
              <a:rPr lang="en-US" dirty="0" smtClean="0"/>
              <a:t> </a:t>
            </a:r>
            <a:r>
              <a:rPr lang="en-US" dirty="0"/>
              <a:t>being </a:t>
            </a:r>
            <a:r>
              <a:rPr lang="en-US" dirty="0" smtClean="0"/>
              <a:t>concise and </a:t>
            </a:r>
            <a:r>
              <a:rPr lang="en-US" dirty="0"/>
              <a:t>consistent with their instructions.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0"/>
            <a:ext cx="4572001" cy="6858000"/>
          </a:xfrm>
          <a:prstGeom prst="rect">
            <a:avLst/>
          </a:prstGeom>
        </p:spPr>
      </p:pic>
    </p:spTree>
    <p:extLst>
      <p:ext uri="{BB962C8B-B14F-4D97-AF65-F5344CB8AC3E}">
        <p14:creationId xmlns:p14="http://schemas.microsoft.com/office/powerpoint/2010/main" val="10143412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1624153" cy="1325563"/>
          </a:xfrm>
        </p:spPr>
        <p:txBody>
          <a:bodyPr>
            <a:noAutofit/>
          </a:bodyPr>
          <a:lstStyle/>
          <a:p>
            <a:r>
              <a:rPr lang="en-US" sz="4800" dirty="0"/>
              <a:t>Elements of a healthy and successful </a:t>
            </a:r>
            <a:r>
              <a:rPr lang="en-US" sz="4800" dirty="0" smtClean="0"/>
              <a:t>team</a:t>
            </a:r>
            <a:endParaRPr lang="en-US" sz="4800" dirty="0"/>
          </a:p>
        </p:txBody>
      </p:sp>
      <p:sp>
        <p:nvSpPr>
          <p:cNvPr id="3" name="Content Placeholder 2"/>
          <p:cNvSpPr>
            <a:spLocks noGrp="1"/>
          </p:cNvSpPr>
          <p:nvPr>
            <p:ph idx="1"/>
          </p:nvPr>
        </p:nvSpPr>
        <p:spPr>
          <a:xfrm>
            <a:off x="259307" y="1470785"/>
            <a:ext cx="11696132" cy="5066494"/>
          </a:xfrm>
        </p:spPr>
        <p:txBody>
          <a:bodyPr>
            <a:normAutofit fontScale="92500"/>
          </a:bodyPr>
          <a:lstStyle/>
          <a:p>
            <a:r>
              <a:rPr lang="en-US" b="1" dirty="0"/>
              <a:t>Common </a:t>
            </a:r>
            <a:r>
              <a:rPr lang="en-US" b="1" dirty="0" smtClean="0"/>
              <a:t>Goal</a:t>
            </a:r>
            <a:endParaRPr lang="en-US" b="1" dirty="0"/>
          </a:p>
          <a:p>
            <a:pPr marL="0" indent="0" algn="just">
              <a:buNone/>
            </a:pPr>
            <a:r>
              <a:rPr lang="en-US" dirty="0"/>
              <a:t>When team members first come together they will all have different ideas, however the key to a successful team is the alignment of objectives within the team. </a:t>
            </a:r>
            <a:endParaRPr lang="en-US" dirty="0" smtClean="0"/>
          </a:p>
          <a:p>
            <a:pPr marL="0" indent="0" algn="just">
              <a:buNone/>
            </a:pPr>
            <a:endParaRPr lang="en-US" dirty="0" smtClean="0"/>
          </a:p>
          <a:p>
            <a:pPr marL="0" indent="0" algn="just">
              <a:buNone/>
            </a:pPr>
            <a:r>
              <a:rPr lang="en-US" dirty="0" smtClean="0"/>
              <a:t>It </a:t>
            </a:r>
            <a:r>
              <a:rPr lang="en-US" dirty="0"/>
              <a:t>is essential that the team leader sets a common goal the entire team is willing to pursue</a:t>
            </a:r>
            <a:r>
              <a:rPr lang="en-US" dirty="0" smtClean="0"/>
              <a:t>.</a:t>
            </a:r>
          </a:p>
          <a:p>
            <a:pPr marL="0" indent="0" algn="just">
              <a:buNone/>
            </a:pPr>
            <a:endParaRPr lang="en-US" dirty="0" smtClean="0"/>
          </a:p>
          <a:p>
            <a:pPr marL="0" indent="0" algn="just">
              <a:buNone/>
            </a:pPr>
            <a:r>
              <a:rPr lang="en-US" dirty="0" smtClean="0"/>
              <a:t>This </a:t>
            </a:r>
            <a:r>
              <a:rPr lang="en-US" dirty="0"/>
              <a:t>way, all the team members will put in effort in order to attain the goal. If there is not a common goal, team members who disagree with the objective in hand will feel reluctant to </a:t>
            </a:r>
            <a:r>
              <a:rPr lang="en-US" dirty="0" smtClean="0"/>
              <a:t>utilize </a:t>
            </a:r>
            <a:r>
              <a:rPr lang="en-US" dirty="0"/>
              <a:t>their full effort, leading to failure to achieve the goal. In other cases, team members might divert themselves to other tasks due to a lack of belief or interest in the goal</a:t>
            </a:r>
          </a:p>
        </p:txBody>
      </p:sp>
    </p:spTree>
    <p:extLst>
      <p:ext uri="{BB962C8B-B14F-4D97-AF65-F5344CB8AC3E}">
        <p14:creationId xmlns:p14="http://schemas.microsoft.com/office/powerpoint/2010/main" val="3187169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dirty="0"/>
              <a:t>Elements of a healthy and successful </a:t>
            </a:r>
            <a:r>
              <a:rPr lang="en-US" sz="4800" dirty="0" smtClean="0"/>
              <a:t>team</a:t>
            </a:r>
            <a:endParaRPr lang="en-US" sz="4800" dirty="0"/>
          </a:p>
        </p:txBody>
      </p:sp>
      <p:sp>
        <p:nvSpPr>
          <p:cNvPr id="3" name="Content Placeholder 2"/>
          <p:cNvSpPr>
            <a:spLocks noGrp="1"/>
          </p:cNvSpPr>
          <p:nvPr>
            <p:ph idx="1"/>
          </p:nvPr>
        </p:nvSpPr>
        <p:spPr>
          <a:xfrm>
            <a:off x="838200" y="1825625"/>
            <a:ext cx="10515600" cy="4762744"/>
          </a:xfrm>
        </p:spPr>
        <p:txBody>
          <a:bodyPr>
            <a:normAutofit/>
          </a:bodyPr>
          <a:lstStyle/>
          <a:p>
            <a:r>
              <a:rPr lang="en-US" dirty="0"/>
              <a:t>Defined team roles and </a:t>
            </a:r>
            <a:r>
              <a:rPr lang="en-US" dirty="0" smtClean="0"/>
              <a:t>responsibilities</a:t>
            </a:r>
          </a:p>
          <a:p>
            <a:pPr marL="0" indent="0">
              <a:buNone/>
            </a:pPr>
            <a:endParaRPr lang="en-US" dirty="0" smtClean="0"/>
          </a:p>
          <a:p>
            <a:pPr marL="0" indent="0" algn="just">
              <a:buNone/>
            </a:pPr>
            <a:r>
              <a:rPr lang="en-US" dirty="0"/>
              <a:t>Poorly defined roles is often the biggest obstacle to a successful </a:t>
            </a:r>
            <a:r>
              <a:rPr lang="en-US" dirty="0" smtClean="0"/>
              <a:t>team.</a:t>
            </a:r>
            <a:r>
              <a:rPr lang="en-US" baseline="30000" dirty="0"/>
              <a:t> </a:t>
            </a:r>
            <a:endParaRPr lang="en-US" baseline="30000" dirty="0" smtClean="0"/>
          </a:p>
          <a:p>
            <a:pPr marL="0" indent="0" algn="just">
              <a:buNone/>
            </a:pPr>
            <a:endParaRPr lang="en-US" dirty="0" smtClean="0"/>
          </a:p>
          <a:p>
            <a:pPr marL="0" indent="0" algn="just">
              <a:buNone/>
            </a:pPr>
            <a:r>
              <a:rPr lang="en-US" dirty="0" smtClean="0"/>
              <a:t>If </a:t>
            </a:r>
            <a:r>
              <a:rPr lang="en-US" dirty="0"/>
              <a:t>team members are unclear of what their role is, their contributions towards the team will be minimal, therefore it is the team leader’s duty to outline the roles and responsibilities of each individual within the team and ensure that the team is working together as an integral unit.</a:t>
            </a:r>
          </a:p>
        </p:txBody>
      </p:sp>
    </p:spTree>
    <p:extLst>
      <p:ext uri="{BB962C8B-B14F-4D97-AF65-F5344CB8AC3E}">
        <p14:creationId xmlns:p14="http://schemas.microsoft.com/office/powerpoint/2010/main" val="28575420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998896" cy="1325563"/>
          </a:xfrm>
        </p:spPr>
        <p:txBody>
          <a:bodyPr>
            <a:noAutofit/>
          </a:bodyPr>
          <a:lstStyle/>
          <a:p>
            <a:r>
              <a:rPr lang="en-US" sz="4800" dirty="0"/>
              <a:t>Elements of a healthy and successful </a:t>
            </a:r>
            <a:r>
              <a:rPr lang="en-US" sz="4800" dirty="0" smtClean="0"/>
              <a:t>team</a:t>
            </a:r>
            <a:endParaRPr lang="en-US" sz="4800" dirty="0"/>
          </a:p>
        </p:txBody>
      </p:sp>
      <p:sp>
        <p:nvSpPr>
          <p:cNvPr id="3" name="Content Placeholder 2"/>
          <p:cNvSpPr>
            <a:spLocks noGrp="1"/>
          </p:cNvSpPr>
          <p:nvPr>
            <p:ph idx="1"/>
          </p:nvPr>
        </p:nvSpPr>
        <p:spPr>
          <a:xfrm>
            <a:off x="838200" y="1525375"/>
            <a:ext cx="10515600" cy="5052846"/>
          </a:xfrm>
        </p:spPr>
        <p:txBody>
          <a:bodyPr>
            <a:normAutofit fontScale="92500" lnSpcReduction="10000"/>
          </a:bodyPr>
          <a:lstStyle/>
          <a:p>
            <a:r>
              <a:rPr lang="en-US" b="1" dirty="0"/>
              <a:t>Effective </a:t>
            </a:r>
            <a:r>
              <a:rPr lang="en-US" b="1" dirty="0" smtClean="0"/>
              <a:t>communication</a:t>
            </a:r>
          </a:p>
          <a:p>
            <a:pPr marL="0" indent="0">
              <a:buNone/>
            </a:pPr>
            <a:endParaRPr lang="en-US" dirty="0"/>
          </a:p>
          <a:p>
            <a:pPr marL="0" indent="0" algn="just">
              <a:buNone/>
            </a:pPr>
            <a:r>
              <a:rPr lang="en-US" dirty="0"/>
              <a:t>There must be an effective channel of communication from the top to the bottom of the chain of command and vice versa</a:t>
            </a:r>
            <a:r>
              <a:rPr lang="en-US" dirty="0" smtClean="0"/>
              <a:t>.</a:t>
            </a:r>
          </a:p>
          <a:p>
            <a:pPr marL="0" indent="0" algn="just">
              <a:buNone/>
            </a:pPr>
            <a:endParaRPr lang="en-US" dirty="0"/>
          </a:p>
          <a:p>
            <a:pPr marL="0" indent="0" algn="just">
              <a:buNone/>
            </a:pPr>
            <a:r>
              <a:rPr lang="en-US" dirty="0" smtClean="0"/>
              <a:t> </a:t>
            </a:r>
            <a:r>
              <a:rPr lang="en-US" dirty="0"/>
              <a:t>An effective channel of communication will allow messages to be transferred accurately without delay to the intended recipient, this will speed up decision making processes and the operations of the team. </a:t>
            </a:r>
            <a:endParaRPr lang="en-US" dirty="0" smtClean="0"/>
          </a:p>
          <a:p>
            <a:pPr marL="0" indent="0" algn="just">
              <a:buNone/>
            </a:pPr>
            <a:endParaRPr lang="en-US" dirty="0"/>
          </a:p>
          <a:p>
            <a:pPr marL="0" indent="0" algn="just">
              <a:buNone/>
            </a:pPr>
            <a:r>
              <a:rPr lang="en-US" dirty="0" smtClean="0"/>
              <a:t>Furthermore</a:t>
            </a:r>
            <a:r>
              <a:rPr lang="en-US" dirty="0"/>
              <a:t>, effective communication will increase the flexibility of an </a:t>
            </a:r>
            <a:r>
              <a:rPr lang="en-US" dirty="0" smtClean="0"/>
              <a:t>organization </a:t>
            </a:r>
            <a:r>
              <a:rPr lang="en-US" dirty="0"/>
              <a:t>and cause it to be less susceptible to changes in the external environment; as a faster decision making process will allow </a:t>
            </a:r>
            <a:r>
              <a:rPr lang="en-US" dirty="0" smtClean="0"/>
              <a:t>organizations </a:t>
            </a:r>
            <a:r>
              <a:rPr lang="en-US" dirty="0"/>
              <a:t>a longer time period to adapt to the changes and execute contingency plans.</a:t>
            </a:r>
          </a:p>
        </p:txBody>
      </p:sp>
    </p:spTree>
    <p:extLst>
      <p:ext uri="{BB962C8B-B14F-4D97-AF65-F5344CB8AC3E}">
        <p14:creationId xmlns:p14="http://schemas.microsoft.com/office/powerpoint/2010/main" val="35575115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098" y="430901"/>
            <a:ext cx="11498893" cy="1325563"/>
          </a:xfrm>
        </p:spPr>
        <p:txBody>
          <a:bodyPr>
            <a:noAutofit/>
          </a:bodyPr>
          <a:lstStyle/>
          <a:p>
            <a:r>
              <a:rPr lang="en-US" sz="4800" b="1" dirty="0"/>
              <a:t>Ways to Lead, </a:t>
            </a:r>
            <a:r>
              <a:rPr lang="en-US" sz="4800" b="1" dirty="0" smtClean="0"/>
              <a:t>Inspire and  </a:t>
            </a:r>
            <a:r>
              <a:rPr lang="en-US" sz="4800" b="1" dirty="0"/>
              <a:t>Motivate Your Team</a:t>
            </a:r>
          </a:p>
        </p:txBody>
      </p:sp>
      <p:sp>
        <p:nvSpPr>
          <p:cNvPr id="3" name="Content Placeholder 2"/>
          <p:cNvSpPr>
            <a:spLocks noGrp="1"/>
          </p:cNvSpPr>
          <p:nvPr>
            <p:ph idx="1"/>
          </p:nvPr>
        </p:nvSpPr>
        <p:spPr>
          <a:xfrm>
            <a:off x="199292" y="2078483"/>
            <a:ext cx="5963513" cy="4351338"/>
          </a:xfrm>
        </p:spPr>
        <p:txBody>
          <a:bodyPr>
            <a:normAutofit fontScale="92500" lnSpcReduction="10000"/>
          </a:bodyPr>
          <a:lstStyle/>
          <a:p>
            <a:r>
              <a:rPr lang="en-US" dirty="0"/>
              <a:t>Pay your people what they are </a:t>
            </a:r>
            <a:r>
              <a:rPr lang="en-US" dirty="0" smtClean="0"/>
              <a:t>worth</a:t>
            </a:r>
          </a:p>
          <a:p>
            <a:r>
              <a:rPr lang="en-US" dirty="0" smtClean="0"/>
              <a:t>Provide </a:t>
            </a:r>
            <a:r>
              <a:rPr lang="en-US" dirty="0"/>
              <a:t>them with a pleasant place </a:t>
            </a:r>
            <a:r>
              <a:rPr lang="en-US" dirty="0" smtClean="0"/>
              <a:t>to work</a:t>
            </a:r>
            <a:endParaRPr lang="en-US" dirty="0" smtClean="0"/>
          </a:p>
          <a:p>
            <a:r>
              <a:rPr lang="en-US" dirty="0"/>
              <a:t>Offer opportunities for </a:t>
            </a:r>
            <a:r>
              <a:rPr lang="en-US" dirty="0" smtClean="0"/>
              <a:t>self-development</a:t>
            </a:r>
          </a:p>
          <a:p>
            <a:pPr algn="just"/>
            <a:r>
              <a:rPr lang="en-US" dirty="0"/>
              <a:t>Foster collaboration within the </a:t>
            </a:r>
            <a:r>
              <a:rPr lang="en-US" dirty="0" smtClean="0"/>
              <a:t>team</a:t>
            </a:r>
          </a:p>
          <a:p>
            <a:r>
              <a:rPr lang="en-US" dirty="0"/>
              <a:t>Encourage </a:t>
            </a:r>
            <a:r>
              <a:rPr lang="en-US" dirty="0" smtClean="0"/>
              <a:t>happiness</a:t>
            </a:r>
          </a:p>
          <a:p>
            <a:r>
              <a:rPr lang="en-US" dirty="0"/>
              <a:t>Don't punish </a:t>
            </a:r>
            <a:r>
              <a:rPr lang="en-US" dirty="0" smtClean="0"/>
              <a:t>failure</a:t>
            </a:r>
          </a:p>
          <a:p>
            <a:r>
              <a:rPr lang="en-US" dirty="0"/>
              <a:t>Set clear </a:t>
            </a:r>
            <a:r>
              <a:rPr lang="en-US" dirty="0" smtClean="0"/>
              <a:t>goals</a:t>
            </a:r>
          </a:p>
          <a:p>
            <a:r>
              <a:rPr lang="en-US" dirty="0"/>
              <a:t>Don't </a:t>
            </a:r>
            <a:r>
              <a:rPr lang="en-US" dirty="0" smtClean="0"/>
              <a:t>micromanage</a:t>
            </a:r>
          </a:p>
          <a:p>
            <a:r>
              <a:rPr lang="en-US" dirty="0" smtClean="0"/>
              <a:t>Avoid </a:t>
            </a:r>
            <a:r>
              <a:rPr lang="en-US" dirty="0"/>
              <a:t>useless meetings</a:t>
            </a:r>
          </a:p>
        </p:txBody>
      </p:sp>
      <p:pic>
        <p:nvPicPr>
          <p:cNvPr id="1026" name="Picture 2" descr="Bill Gates working on finding enough glass vials for COVID-19 vaccines -  Business Insider"/>
          <p:cNvPicPr>
            <a:picLocks noChangeAspect="1" noChangeArrowheads="1"/>
          </p:cNvPicPr>
          <p:nvPr/>
        </p:nvPicPr>
        <p:blipFill rotWithShape="1">
          <a:blip r:embed="rId2">
            <a:extLst>
              <a:ext uri="{28A0092B-C50C-407E-A947-70E740481C1C}">
                <a14:useLocalDpi xmlns:a14="http://schemas.microsoft.com/office/drawing/2010/main" val="0"/>
              </a:ext>
            </a:extLst>
          </a:blip>
          <a:srcRect l="31648"/>
          <a:stretch/>
        </p:blipFill>
        <p:spPr bwMode="auto">
          <a:xfrm>
            <a:off x="6325645" y="2078483"/>
            <a:ext cx="5697820" cy="4168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11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b="1" dirty="0"/>
              <a:t>Characteristics of High-performing Work Teams</a:t>
            </a:r>
          </a:p>
        </p:txBody>
      </p:sp>
      <p:pic>
        <p:nvPicPr>
          <p:cNvPr id="4"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3415" y="1825624"/>
            <a:ext cx="11324493" cy="483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92095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smtClean="0"/>
              <a:t>Stages of Team Development</a:t>
            </a:r>
            <a:endParaRPr lang="en-US" sz="6000" b="1" dirty="0"/>
          </a:p>
        </p:txBody>
      </p:sp>
      <p:pic>
        <p:nvPicPr>
          <p:cNvPr id="4"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9292" y="1825624"/>
            <a:ext cx="11992708" cy="5032375"/>
          </a:xfrm>
          <a:noFill/>
          <a:ln/>
        </p:spPr>
      </p:pic>
    </p:spTree>
    <p:extLst>
      <p:ext uri="{BB962C8B-B14F-4D97-AF65-F5344CB8AC3E}">
        <p14:creationId xmlns:p14="http://schemas.microsoft.com/office/powerpoint/2010/main" val="33889831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smtClean="0"/>
              <a:t>1.</a:t>
            </a:r>
            <a:r>
              <a:rPr lang="en-US" sz="6000" b="1" dirty="0"/>
              <a:t> </a:t>
            </a:r>
            <a:r>
              <a:rPr lang="en-US" sz="6000" b="1" dirty="0" smtClean="0"/>
              <a:t>Forming</a:t>
            </a:r>
            <a:endParaRPr lang="en-US" sz="6000" b="1" dirty="0"/>
          </a:p>
        </p:txBody>
      </p:sp>
      <p:sp>
        <p:nvSpPr>
          <p:cNvPr id="3" name="Content Placeholder 2"/>
          <p:cNvSpPr>
            <a:spLocks noGrp="1"/>
          </p:cNvSpPr>
          <p:nvPr>
            <p:ph idx="1"/>
          </p:nvPr>
        </p:nvSpPr>
        <p:spPr>
          <a:xfrm>
            <a:off x="838200" y="1555845"/>
            <a:ext cx="10515600" cy="4899546"/>
          </a:xfrm>
        </p:spPr>
        <p:txBody>
          <a:bodyPr/>
          <a:lstStyle/>
          <a:p>
            <a:pPr fontAlgn="base"/>
            <a:r>
              <a:rPr lang="en-US" dirty="0"/>
              <a:t>In this stage, most team members are </a:t>
            </a:r>
            <a:r>
              <a:rPr lang="en-US" b="1" dirty="0"/>
              <a:t>positive and polite</a:t>
            </a:r>
            <a:r>
              <a:rPr lang="en-US" dirty="0"/>
              <a:t>. Some are </a:t>
            </a:r>
            <a:r>
              <a:rPr lang="en-US" b="1" dirty="0"/>
              <a:t>anxious,</a:t>
            </a:r>
            <a:r>
              <a:rPr lang="en-US" dirty="0"/>
              <a:t> as they haven't fully understood what work the team will do. Others are simply </a:t>
            </a:r>
            <a:r>
              <a:rPr lang="en-US" b="1" dirty="0"/>
              <a:t>excited</a:t>
            </a:r>
            <a:r>
              <a:rPr lang="en-US" dirty="0"/>
              <a:t> about the task ahead</a:t>
            </a:r>
            <a:r>
              <a:rPr lang="en-US" dirty="0" smtClean="0"/>
              <a:t>.</a:t>
            </a:r>
          </a:p>
          <a:p>
            <a:pPr marL="0" indent="0" fontAlgn="base">
              <a:buNone/>
            </a:pPr>
            <a:endParaRPr lang="en-US" dirty="0"/>
          </a:p>
          <a:p>
            <a:pPr fontAlgn="base"/>
            <a:r>
              <a:rPr lang="en-US" dirty="0"/>
              <a:t>As leader, you play a dominant role at this stage, because team members' </a:t>
            </a:r>
            <a:r>
              <a:rPr lang="en-US" b="1" dirty="0"/>
              <a:t>roles and responsibilities aren't clear</a:t>
            </a:r>
            <a:r>
              <a:rPr lang="en-US" dirty="0" smtClean="0"/>
              <a:t>.</a:t>
            </a:r>
          </a:p>
          <a:p>
            <a:pPr marL="0" indent="0" fontAlgn="base">
              <a:buNone/>
            </a:pPr>
            <a:endParaRPr lang="en-US" dirty="0"/>
          </a:p>
          <a:p>
            <a:pPr fontAlgn="base"/>
            <a:r>
              <a:rPr lang="en-US" dirty="0"/>
              <a:t>This stage can </a:t>
            </a:r>
            <a:r>
              <a:rPr lang="en-US" b="1" dirty="0"/>
              <a:t>last for some time</a:t>
            </a:r>
            <a:r>
              <a:rPr lang="en-US" dirty="0"/>
              <a:t>, as people start to work together, and as they make an </a:t>
            </a:r>
            <a:r>
              <a:rPr lang="en-US" b="1" dirty="0"/>
              <a:t>effort</a:t>
            </a:r>
            <a:r>
              <a:rPr lang="en-US" dirty="0"/>
              <a:t> to get to </a:t>
            </a:r>
            <a:r>
              <a:rPr lang="en-US" b="1" dirty="0"/>
              <a:t>know their new colleagues.</a:t>
            </a:r>
          </a:p>
          <a:p>
            <a:pPr marL="0" indent="0">
              <a:buNone/>
            </a:pPr>
            <a:endParaRPr lang="en-US" dirty="0"/>
          </a:p>
        </p:txBody>
      </p:sp>
    </p:spTree>
    <p:extLst>
      <p:ext uri="{BB962C8B-B14F-4D97-AF65-F5344CB8AC3E}">
        <p14:creationId xmlns:p14="http://schemas.microsoft.com/office/powerpoint/2010/main" val="34043107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846" y="139822"/>
            <a:ext cx="10515600" cy="1325563"/>
          </a:xfrm>
        </p:spPr>
        <p:txBody>
          <a:bodyPr>
            <a:normAutofit/>
          </a:bodyPr>
          <a:lstStyle/>
          <a:p>
            <a:r>
              <a:rPr lang="en-US" sz="6000" b="1" dirty="0" smtClean="0"/>
              <a:t>2. Storming</a:t>
            </a:r>
            <a:endParaRPr lang="en-US" sz="6000" b="1" dirty="0"/>
          </a:p>
        </p:txBody>
      </p:sp>
      <p:sp>
        <p:nvSpPr>
          <p:cNvPr id="3" name="Content Placeholder 2"/>
          <p:cNvSpPr>
            <a:spLocks noGrp="1"/>
          </p:cNvSpPr>
          <p:nvPr>
            <p:ph idx="1"/>
          </p:nvPr>
        </p:nvSpPr>
        <p:spPr>
          <a:xfrm>
            <a:off x="175846" y="1465385"/>
            <a:ext cx="11840308" cy="5181600"/>
          </a:xfrm>
        </p:spPr>
        <p:txBody>
          <a:bodyPr>
            <a:normAutofit/>
          </a:bodyPr>
          <a:lstStyle/>
          <a:p>
            <a:pPr fontAlgn="base"/>
            <a:r>
              <a:rPr lang="en-US" dirty="0"/>
              <a:t>Next, the team moves into the storming phase, where people start to push against the boundaries established in the forming stage. This is the stage where many teams fail.</a:t>
            </a:r>
          </a:p>
          <a:p>
            <a:pPr fontAlgn="base"/>
            <a:r>
              <a:rPr lang="en-US" dirty="0"/>
              <a:t>Storming often starts where there is a </a:t>
            </a:r>
            <a:r>
              <a:rPr lang="en-US" b="1" dirty="0"/>
              <a:t>conflict between team members</a:t>
            </a:r>
            <a:r>
              <a:rPr lang="en-US" dirty="0"/>
              <a:t>' natural working styles. People may work in different ways for all sorts of reasons but, if differing working styles cause unforeseen problems, they may become </a:t>
            </a:r>
            <a:r>
              <a:rPr lang="en-US" b="1" dirty="0"/>
              <a:t>frustrated</a:t>
            </a:r>
            <a:r>
              <a:rPr lang="en-US" dirty="0"/>
              <a:t>.</a:t>
            </a:r>
          </a:p>
          <a:p>
            <a:pPr fontAlgn="base"/>
            <a:r>
              <a:rPr lang="en-US" dirty="0"/>
              <a:t>Storming can also happen in other situations. For example</a:t>
            </a:r>
            <a:r>
              <a:rPr lang="en-US" b="1" dirty="0"/>
              <a:t>, team members may challenge your authority</a:t>
            </a:r>
            <a:r>
              <a:rPr lang="en-US" dirty="0"/>
              <a:t>, or jockey for position as their roles are clarified. Or, if you haven't defined clearly how the team will work, people may feel overwhelmed by their </a:t>
            </a:r>
            <a:r>
              <a:rPr lang="en-US" b="1" dirty="0"/>
              <a:t>workload</a:t>
            </a:r>
            <a:r>
              <a:rPr lang="en-US" dirty="0"/>
              <a:t>, or they could be uncomfortable with the approach you're using.</a:t>
            </a:r>
          </a:p>
          <a:p>
            <a:endParaRPr lang="en-US" dirty="0"/>
          </a:p>
        </p:txBody>
      </p:sp>
    </p:spTree>
    <p:extLst>
      <p:ext uri="{BB962C8B-B14F-4D97-AF65-F5344CB8AC3E}">
        <p14:creationId xmlns:p14="http://schemas.microsoft.com/office/powerpoint/2010/main" val="24408235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846" y="139822"/>
            <a:ext cx="10515600" cy="1325563"/>
          </a:xfrm>
        </p:spPr>
        <p:txBody>
          <a:bodyPr>
            <a:normAutofit/>
          </a:bodyPr>
          <a:lstStyle/>
          <a:p>
            <a:r>
              <a:rPr lang="en-US" sz="6000" b="1" dirty="0" smtClean="0"/>
              <a:t>2. Storming</a:t>
            </a:r>
            <a:endParaRPr lang="en-US" sz="6000" b="1" dirty="0"/>
          </a:p>
        </p:txBody>
      </p:sp>
      <p:sp>
        <p:nvSpPr>
          <p:cNvPr id="3" name="Content Placeholder 2"/>
          <p:cNvSpPr>
            <a:spLocks noGrp="1"/>
          </p:cNvSpPr>
          <p:nvPr>
            <p:ph idx="1"/>
          </p:nvPr>
        </p:nvSpPr>
        <p:spPr>
          <a:xfrm>
            <a:off x="175846" y="1465385"/>
            <a:ext cx="11840308" cy="5181600"/>
          </a:xfrm>
        </p:spPr>
        <p:txBody>
          <a:bodyPr>
            <a:normAutofit/>
          </a:bodyPr>
          <a:lstStyle/>
          <a:p>
            <a:pPr fontAlgn="base"/>
            <a:r>
              <a:rPr lang="en-US" dirty="0" smtClean="0"/>
              <a:t>Some may question </a:t>
            </a:r>
            <a:r>
              <a:rPr lang="en-US" b="1" dirty="0" smtClean="0"/>
              <a:t>the worth of the team's goal</a:t>
            </a:r>
            <a:r>
              <a:rPr lang="en-US" dirty="0" smtClean="0"/>
              <a:t>, and they may resist taking on tasks.</a:t>
            </a:r>
          </a:p>
          <a:p>
            <a:pPr fontAlgn="base"/>
            <a:r>
              <a:rPr lang="en-US" dirty="0" smtClean="0"/>
              <a:t>Team members </a:t>
            </a:r>
            <a:r>
              <a:rPr lang="en-US" b="1" dirty="0" smtClean="0"/>
              <a:t>who stick with the task</a:t>
            </a:r>
            <a:r>
              <a:rPr lang="en-US" dirty="0" smtClean="0"/>
              <a:t> at hand may </a:t>
            </a:r>
            <a:r>
              <a:rPr lang="en-US" b="1" dirty="0" smtClean="0"/>
              <a:t>experience stress, </a:t>
            </a:r>
            <a:r>
              <a:rPr lang="en-US" dirty="0" smtClean="0"/>
              <a:t>particularly as they don't have the support of </a:t>
            </a:r>
            <a:r>
              <a:rPr lang="en-US" b="1" dirty="0" smtClean="0"/>
              <a:t>established processes</a:t>
            </a:r>
            <a:r>
              <a:rPr lang="en-US" dirty="0" smtClean="0"/>
              <a:t>, </a:t>
            </a:r>
            <a:r>
              <a:rPr lang="en-US" b="1" dirty="0" smtClean="0"/>
              <a:t>or strong relationships </a:t>
            </a:r>
            <a:r>
              <a:rPr lang="en-US" dirty="0" smtClean="0"/>
              <a:t>with their colleagues.</a:t>
            </a:r>
          </a:p>
          <a:p>
            <a:endParaRPr lang="en-US" dirty="0"/>
          </a:p>
        </p:txBody>
      </p:sp>
    </p:spTree>
    <p:extLst>
      <p:ext uri="{BB962C8B-B14F-4D97-AF65-F5344CB8AC3E}">
        <p14:creationId xmlns:p14="http://schemas.microsoft.com/office/powerpoint/2010/main" val="27860859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6635"/>
            <a:ext cx="10515600" cy="1325563"/>
          </a:xfrm>
        </p:spPr>
        <p:txBody>
          <a:bodyPr>
            <a:normAutofit fontScale="90000"/>
          </a:bodyPr>
          <a:lstStyle/>
          <a:p>
            <a:r>
              <a:rPr lang="en-US" b="1" dirty="0" smtClean="0"/>
              <a:t/>
            </a:r>
            <a:br>
              <a:rPr lang="en-US" b="1" dirty="0" smtClean="0"/>
            </a:br>
            <a:r>
              <a:rPr lang="en-US" sz="6700" b="1" dirty="0" smtClean="0"/>
              <a:t>3. Norming</a:t>
            </a:r>
            <a:r>
              <a:rPr lang="en-US" b="1" dirty="0"/>
              <a:t/>
            </a:r>
            <a:br>
              <a:rPr lang="en-US" b="1" dirty="0"/>
            </a:br>
            <a:endParaRPr lang="en-US" dirty="0"/>
          </a:p>
        </p:txBody>
      </p:sp>
      <p:sp>
        <p:nvSpPr>
          <p:cNvPr id="3" name="Content Placeholder 2"/>
          <p:cNvSpPr>
            <a:spLocks noGrp="1"/>
          </p:cNvSpPr>
          <p:nvPr>
            <p:ph idx="1"/>
          </p:nvPr>
        </p:nvSpPr>
        <p:spPr>
          <a:xfrm>
            <a:off x="304800" y="1542198"/>
            <a:ext cx="11605846" cy="5116510"/>
          </a:xfrm>
        </p:spPr>
        <p:txBody>
          <a:bodyPr>
            <a:normAutofit/>
          </a:bodyPr>
          <a:lstStyle/>
          <a:p>
            <a:pPr fontAlgn="base"/>
            <a:r>
              <a:rPr lang="en-US" dirty="0"/>
              <a:t>Gradually, the team moves into the </a:t>
            </a:r>
            <a:r>
              <a:rPr lang="en-US" b="1" dirty="0"/>
              <a:t>norming stage. </a:t>
            </a:r>
            <a:r>
              <a:rPr lang="en-US" dirty="0"/>
              <a:t>This is when people start </a:t>
            </a:r>
            <a:r>
              <a:rPr lang="en-US" b="1" dirty="0"/>
              <a:t>to resolve their differences</a:t>
            </a:r>
            <a:r>
              <a:rPr lang="en-US" dirty="0"/>
              <a:t>, appreciate colleagues' strengths, and </a:t>
            </a:r>
            <a:r>
              <a:rPr lang="en-US" b="1" dirty="0"/>
              <a:t>respect your authority </a:t>
            </a:r>
            <a:r>
              <a:rPr lang="en-US" dirty="0"/>
              <a:t>as a leader.</a:t>
            </a:r>
          </a:p>
          <a:p>
            <a:pPr fontAlgn="base"/>
            <a:r>
              <a:rPr lang="en-US" dirty="0"/>
              <a:t>Now that your team members know one another better, they may </a:t>
            </a:r>
            <a:r>
              <a:rPr lang="en-US" b="1" dirty="0"/>
              <a:t>socialize together</a:t>
            </a:r>
            <a:r>
              <a:rPr lang="en-US" dirty="0"/>
              <a:t>, and they are able to ask one another for help and provide </a:t>
            </a:r>
            <a:r>
              <a:rPr lang="en-US" b="1" dirty="0"/>
              <a:t>constructive feedback</a:t>
            </a:r>
            <a:r>
              <a:rPr lang="en-US" dirty="0"/>
              <a:t>. People develop a stronger commitment to the team goal, and you start to see </a:t>
            </a:r>
            <a:r>
              <a:rPr lang="en-US" b="1" dirty="0"/>
              <a:t>good progress </a:t>
            </a:r>
            <a:r>
              <a:rPr lang="en-US" dirty="0"/>
              <a:t>towards it.</a:t>
            </a:r>
          </a:p>
          <a:p>
            <a:pPr fontAlgn="base"/>
            <a:r>
              <a:rPr lang="en-US" dirty="0"/>
              <a:t>There is often a prolonged overlap between storming and norming, because, as new tasks come up, the team may lapse back into </a:t>
            </a:r>
            <a:r>
              <a:rPr lang="en-US" b="1" dirty="0"/>
              <a:t>behavior from the storming stage</a:t>
            </a:r>
            <a:r>
              <a:rPr lang="en-US" dirty="0"/>
              <a:t>.</a:t>
            </a:r>
          </a:p>
          <a:p>
            <a:endParaRPr lang="en-US" dirty="0"/>
          </a:p>
        </p:txBody>
      </p:sp>
    </p:spTree>
    <p:extLst>
      <p:ext uri="{BB962C8B-B14F-4D97-AF65-F5344CB8AC3E}">
        <p14:creationId xmlns:p14="http://schemas.microsoft.com/office/powerpoint/2010/main" val="2595469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b="1" dirty="0" smtClean="0"/>
              <a:t>4. Performing</a:t>
            </a:r>
            <a:endParaRPr lang="en-US" b="1" dirty="0"/>
          </a:p>
        </p:txBody>
      </p:sp>
      <p:sp>
        <p:nvSpPr>
          <p:cNvPr id="3" name="Content Placeholder 2"/>
          <p:cNvSpPr>
            <a:spLocks noGrp="1"/>
          </p:cNvSpPr>
          <p:nvPr>
            <p:ph idx="1"/>
          </p:nvPr>
        </p:nvSpPr>
        <p:spPr/>
        <p:txBody>
          <a:bodyPr/>
          <a:lstStyle/>
          <a:p>
            <a:pPr fontAlgn="base"/>
            <a:r>
              <a:rPr lang="en-US" dirty="0" smtClean="0"/>
              <a:t>The team reaches the </a:t>
            </a:r>
            <a:r>
              <a:rPr lang="en-US" b="1" dirty="0" smtClean="0"/>
              <a:t>performing stage</a:t>
            </a:r>
            <a:r>
              <a:rPr lang="en-US" dirty="0" smtClean="0"/>
              <a:t>, when </a:t>
            </a:r>
            <a:r>
              <a:rPr lang="en-US" b="1" dirty="0" smtClean="0"/>
              <a:t>hard work leads</a:t>
            </a:r>
            <a:r>
              <a:rPr lang="en-US" dirty="0" smtClean="0"/>
              <a:t>, </a:t>
            </a:r>
            <a:r>
              <a:rPr lang="en-US" b="1" dirty="0" smtClean="0"/>
              <a:t>without friction</a:t>
            </a:r>
            <a:r>
              <a:rPr lang="en-US" dirty="0" smtClean="0"/>
              <a:t>, to the achievement of the team's goal. The structures and processes that you have set up </a:t>
            </a:r>
            <a:r>
              <a:rPr lang="en-US" b="1" dirty="0" smtClean="0"/>
              <a:t>support this well</a:t>
            </a:r>
            <a:r>
              <a:rPr lang="en-US" dirty="0" smtClean="0"/>
              <a:t>.</a:t>
            </a:r>
          </a:p>
          <a:p>
            <a:pPr marL="0" indent="0" fontAlgn="base">
              <a:buNone/>
            </a:pPr>
            <a:endParaRPr lang="en-US" dirty="0"/>
          </a:p>
          <a:p>
            <a:pPr fontAlgn="base"/>
            <a:r>
              <a:rPr lang="en-US" dirty="0"/>
              <a:t>As leader, you can </a:t>
            </a:r>
            <a:r>
              <a:rPr lang="en-US" b="1" dirty="0"/>
              <a:t>delegate much of your work</a:t>
            </a:r>
            <a:r>
              <a:rPr lang="en-US" dirty="0"/>
              <a:t>, and you can concentrate on developing team members</a:t>
            </a:r>
            <a:r>
              <a:rPr lang="en-US" dirty="0" smtClean="0"/>
              <a:t>.</a:t>
            </a:r>
          </a:p>
          <a:p>
            <a:pPr marL="0" indent="0" fontAlgn="base">
              <a:buNone/>
            </a:pPr>
            <a:endParaRPr lang="en-US" dirty="0"/>
          </a:p>
          <a:p>
            <a:pPr fontAlgn="base"/>
            <a:r>
              <a:rPr lang="en-US" dirty="0"/>
              <a:t>It feels easy to be part of the team at this stage, and people who join or leave won't </a:t>
            </a:r>
            <a:r>
              <a:rPr lang="en-US" b="1" dirty="0"/>
              <a:t>disrupt performance</a:t>
            </a:r>
            <a:r>
              <a:rPr lang="en-US" dirty="0"/>
              <a:t>.</a:t>
            </a:r>
          </a:p>
          <a:p>
            <a:endParaRPr lang="en-US" dirty="0"/>
          </a:p>
        </p:txBody>
      </p:sp>
    </p:spTree>
    <p:extLst>
      <p:ext uri="{BB962C8B-B14F-4D97-AF65-F5344CB8AC3E}">
        <p14:creationId xmlns:p14="http://schemas.microsoft.com/office/powerpoint/2010/main" val="35030241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smtClean="0"/>
              <a:t>5. Adjourning</a:t>
            </a:r>
            <a:endParaRPr lang="en-US" sz="6000" dirty="0"/>
          </a:p>
        </p:txBody>
      </p:sp>
      <p:sp>
        <p:nvSpPr>
          <p:cNvPr id="3" name="Content Placeholder 2"/>
          <p:cNvSpPr>
            <a:spLocks noGrp="1"/>
          </p:cNvSpPr>
          <p:nvPr>
            <p:ph idx="1"/>
          </p:nvPr>
        </p:nvSpPr>
        <p:spPr/>
        <p:txBody>
          <a:bodyPr/>
          <a:lstStyle/>
          <a:p>
            <a:pPr fontAlgn="base"/>
            <a:r>
              <a:rPr lang="en-US" dirty="0"/>
              <a:t>Many teams will reach this stage eventually. For example, project teams exist for only a </a:t>
            </a:r>
            <a:r>
              <a:rPr lang="en-US" b="1" dirty="0"/>
              <a:t>fixed period</a:t>
            </a:r>
            <a:r>
              <a:rPr lang="en-US" dirty="0"/>
              <a:t>, and even permanent teams may be disbanded through </a:t>
            </a:r>
            <a:r>
              <a:rPr lang="en-US" b="1" dirty="0"/>
              <a:t>organizational restructuring</a:t>
            </a:r>
            <a:r>
              <a:rPr lang="en-US" dirty="0" smtClean="0"/>
              <a:t>.</a:t>
            </a:r>
          </a:p>
          <a:p>
            <a:pPr marL="0" indent="0" fontAlgn="base">
              <a:buNone/>
            </a:pPr>
            <a:endParaRPr lang="en-US" dirty="0"/>
          </a:p>
          <a:p>
            <a:pPr fontAlgn="base"/>
            <a:r>
              <a:rPr lang="en-US" dirty="0"/>
              <a:t>Team members who like routine, or who have developed </a:t>
            </a:r>
            <a:r>
              <a:rPr lang="en-US" b="1" dirty="0"/>
              <a:t>close working relationships </a:t>
            </a:r>
            <a:r>
              <a:rPr lang="en-US" dirty="0"/>
              <a:t>with colleagues, may find this </a:t>
            </a:r>
            <a:r>
              <a:rPr lang="en-US" b="1" dirty="0"/>
              <a:t>stage difficult</a:t>
            </a:r>
            <a:r>
              <a:rPr lang="en-US" dirty="0"/>
              <a:t>, particularly if their future now </a:t>
            </a:r>
            <a:r>
              <a:rPr lang="en-US" b="1" dirty="0"/>
              <a:t>looks uncertain.</a:t>
            </a:r>
          </a:p>
          <a:p>
            <a:pPr marL="0" indent="0">
              <a:buNone/>
            </a:pPr>
            <a:endParaRPr lang="en-US" dirty="0"/>
          </a:p>
        </p:txBody>
      </p:sp>
    </p:spTree>
    <p:extLst>
      <p:ext uri="{BB962C8B-B14F-4D97-AF65-F5344CB8AC3E}">
        <p14:creationId xmlns:p14="http://schemas.microsoft.com/office/powerpoint/2010/main" val="3981962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0115"/>
            <a:ext cx="10515600" cy="1325563"/>
          </a:xfrm>
        </p:spPr>
        <p:txBody>
          <a:bodyPr>
            <a:normAutofit/>
          </a:bodyPr>
          <a:lstStyle/>
          <a:p>
            <a:r>
              <a:rPr lang="en-US" sz="6000" b="1" dirty="0"/>
              <a:t>Barriers to Team Building</a:t>
            </a:r>
          </a:p>
        </p:txBody>
      </p:sp>
      <p:sp>
        <p:nvSpPr>
          <p:cNvPr id="3" name="Content Placeholder 2"/>
          <p:cNvSpPr>
            <a:spLocks noGrp="1"/>
          </p:cNvSpPr>
          <p:nvPr>
            <p:ph idx="1"/>
          </p:nvPr>
        </p:nvSpPr>
        <p:spPr/>
        <p:txBody>
          <a:bodyPr/>
          <a:lstStyle/>
          <a:p>
            <a:r>
              <a:rPr lang="en-US" b="1" dirty="0"/>
              <a:t>Credibility</a:t>
            </a:r>
            <a:r>
              <a:rPr lang="en-US" dirty="0"/>
              <a:t> of the project </a:t>
            </a:r>
            <a:r>
              <a:rPr lang="en-US" dirty="0" smtClean="0"/>
              <a:t>leader</a:t>
            </a:r>
          </a:p>
          <a:p>
            <a:r>
              <a:rPr lang="en-US" b="1" dirty="0"/>
              <a:t>Unclear</a:t>
            </a:r>
            <a:r>
              <a:rPr lang="en-US" dirty="0"/>
              <a:t> project </a:t>
            </a:r>
            <a:r>
              <a:rPr lang="en-US" dirty="0" smtClean="0"/>
              <a:t>objectives</a:t>
            </a:r>
          </a:p>
          <a:p>
            <a:r>
              <a:rPr lang="en-US" b="1" dirty="0"/>
              <a:t>Changing goals </a:t>
            </a:r>
            <a:r>
              <a:rPr lang="en-US" dirty="0"/>
              <a:t>and </a:t>
            </a:r>
            <a:r>
              <a:rPr lang="en-US" dirty="0" smtClean="0"/>
              <a:t>priorities</a:t>
            </a:r>
          </a:p>
          <a:p>
            <a:r>
              <a:rPr lang="en-US" dirty="0"/>
              <a:t>Lack of </a:t>
            </a:r>
            <a:r>
              <a:rPr lang="en-US" b="1" dirty="0"/>
              <a:t>team definition </a:t>
            </a:r>
            <a:r>
              <a:rPr lang="en-US" dirty="0"/>
              <a:t>and </a:t>
            </a:r>
            <a:r>
              <a:rPr lang="en-US" dirty="0" smtClean="0"/>
              <a:t>structure</a:t>
            </a:r>
          </a:p>
          <a:p>
            <a:r>
              <a:rPr lang="en-US" b="1" dirty="0"/>
              <a:t>Confusion about roles </a:t>
            </a:r>
            <a:r>
              <a:rPr lang="en-US" dirty="0"/>
              <a:t>and </a:t>
            </a:r>
            <a:r>
              <a:rPr lang="en-US" dirty="0" smtClean="0"/>
              <a:t>responsibilities</a:t>
            </a:r>
          </a:p>
          <a:p>
            <a:r>
              <a:rPr lang="en-US" dirty="0" smtClean="0"/>
              <a:t>Excessive </a:t>
            </a:r>
            <a:r>
              <a:rPr lang="en-US" b="1" dirty="0"/>
              <a:t>team size</a:t>
            </a:r>
          </a:p>
        </p:txBody>
      </p:sp>
    </p:spTree>
    <p:extLst>
      <p:ext uri="{BB962C8B-B14F-4D97-AF65-F5344CB8AC3E}">
        <p14:creationId xmlns:p14="http://schemas.microsoft.com/office/powerpoint/2010/main" val="4196099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b="1" dirty="0" smtClean="0"/>
              <a:t>Common Characteristics of High Performing Teams</a:t>
            </a:r>
            <a:endParaRPr lang="en-US" sz="6000" b="1" dirty="0"/>
          </a:p>
        </p:txBody>
      </p:sp>
      <p:sp>
        <p:nvSpPr>
          <p:cNvPr id="3" name="Content Placeholder 2"/>
          <p:cNvSpPr>
            <a:spLocks noGrp="1"/>
          </p:cNvSpPr>
          <p:nvPr>
            <p:ph idx="1"/>
          </p:nvPr>
        </p:nvSpPr>
        <p:spPr/>
        <p:txBody>
          <a:bodyPr/>
          <a:lstStyle/>
          <a:p>
            <a:endParaRPr lang="en-US" dirty="0" smtClean="0"/>
          </a:p>
          <a:p>
            <a:r>
              <a:rPr lang="en-US" b="1" dirty="0" smtClean="0"/>
              <a:t>Goals </a:t>
            </a:r>
            <a:r>
              <a:rPr lang="en-US" b="1" dirty="0"/>
              <a:t>are clearly defined </a:t>
            </a:r>
            <a:r>
              <a:rPr lang="en-US" dirty="0"/>
              <a:t>and matched with measurable </a:t>
            </a:r>
            <a:r>
              <a:rPr lang="en-US" dirty="0" smtClean="0"/>
              <a:t>outcomes</a:t>
            </a:r>
          </a:p>
          <a:p>
            <a:r>
              <a:rPr lang="en-US" dirty="0" smtClean="0"/>
              <a:t>Accurate </a:t>
            </a:r>
            <a:r>
              <a:rPr lang="en-US" dirty="0"/>
              <a:t>effective </a:t>
            </a:r>
            <a:r>
              <a:rPr lang="en-US" b="1" dirty="0"/>
              <a:t>2-way </a:t>
            </a:r>
            <a:r>
              <a:rPr lang="en-US" b="1" dirty="0" smtClean="0"/>
              <a:t>communication</a:t>
            </a:r>
          </a:p>
          <a:p>
            <a:r>
              <a:rPr lang="en-US" b="1" dirty="0" smtClean="0"/>
              <a:t>Leadership </a:t>
            </a:r>
            <a:r>
              <a:rPr lang="en-US" b="1" dirty="0"/>
              <a:t>is shared </a:t>
            </a:r>
            <a:r>
              <a:rPr lang="en-US" dirty="0"/>
              <a:t>and participation </a:t>
            </a:r>
            <a:r>
              <a:rPr lang="en-US" dirty="0" smtClean="0"/>
              <a:t>encouraged</a:t>
            </a:r>
          </a:p>
          <a:p>
            <a:r>
              <a:rPr lang="en-US" b="1" dirty="0" smtClean="0"/>
              <a:t>Effective </a:t>
            </a:r>
            <a:r>
              <a:rPr lang="en-US" b="1" dirty="0"/>
              <a:t>decision making</a:t>
            </a:r>
            <a:r>
              <a:rPr lang="en-US" dirty="0"/>
              <a:t> and problem </a:t>
            </a:r>
            <a:r>
              <a:rPr lang="en-US" dirty="0" smtClean="0"/>
              <a:t>solving</a:t>
            </a:r>
          </a:p>
          <a:p>
            <a:r>
              <a:rPr lang="en-US" dirty="0" smtClean="0"/>
              <a:t>Team </a:t>
            </a:r>
            <a:r>
              <a:rPr lang="en-US" dirty="0"/>
              <a:t>identity and </a:t>
            </a:r>
            <a:r>
              <a:rPr lang="en-US" b="1" dirty="0" smtClean="0"/>
              <a:t>cohesiveness</a:t>
            </a:r>
          </a:p>
          <a:p>
            <a:r>
              <a:rPr lang="en-US" dirty="0" smtClean="0"/>
              <a:t>Diverse </a:t>
            </a:r>
            <a:r>
              <a:rPr lang="en-US" dirty="0"/>
              <a:t>backgrounds and </a:t>
            </a:r>
            <a:r>
              <a:rPr lang="en-US" b="1" dirty="0"/>
              <a:t>experience Cooperation </a:t>
            </a:r>
            <a:r>
              <a:rPr lang="en-US" dirty="0"/>
              <a:t>and </a:t>
            </a:r>
            <a:r>
              <a:rPr lang="en-US" b="1" dirty="0" smtClean="0"/>
              <a:t>collaborate</a:t>
            </a:r>
          </a:p>
        </p:txBody>
      </p:sp>
    </p:spTree>
    <p:extLst>
      <p:ext uri="{BB962C8B-B14F-4D97-AF65-F5344CB8AC3E}">
        <p14:creationId xmlns:p14="http://schemas.microsoft.com/office/powerpoint/2010/main" val="3155276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b="1" dirty="0"/>
              <a:t>Develop </a:t>
            </a:r>
            <a:r>
              <a:rPr lang="en-US" sz="6000" b="1" dirty="0" smtClean="0"/>
              <a:t>Your Team……??</a:t>
            </a:r>
            <a:endParaRPr lang="en-US" b="1" dirty="0"/>
          </a:p>
        </p:txBody>
      </p:sp>
      <p:sp>
        <p:nvSpPr>
          <p:cNvPr id="3" name="Content Placeholder 2"/>
          <p:cNvSpPr>
            <a:spLocks noGrp="1"/>
          </p:cNvSpPr>
          <p:nvPr>
            <p:ph idx="1"/>
          </p:nvPr>
        </p:nvSpPr>
        <p:spPr>
          <a:xfrm>
            <a:off x="838200" y="1825624"/>
            <a:ext cx="10515600" cy="4598621"/>
          </a:xfrm>
        </p:spPr>
        <p:txBody>
          <a:bodyPr>
            <a:normAutofit/>
          </a:bodyPr>
          <a:lstStyle/>
          <a:p>
            <a:r>
              <a:rPr lang="en-US" dirty="0"/>
              <a:t>Be </a:t>
            </a:r>
            <a:r>
              <a:rPr lang="en-US" b="1" dirty="0"/>
              <a:t>patient and kind </a:t>
            </a:r>
            <a:r>
              <a:rPr lang="en-US" dirty="0"/>
              <a:t>with your team </a:t>
            </a:r>
            <a:endParaRPr lang="en-US" dirty="0" smtClean="0"/>
          </a:p>
          <a:p>
            <a:r>
              <a:rPr lang="en-US" b="1" dirty="0" smtClean="0"/>
              <a:t>Fix </a:t>
            </a:r>
            <a:r>
              <a:rPr lang="en-US" b="1" dirty="0"/>
              <a:t>the problem </a:t>
            </a:r>
            <a:r>
              <a:rPr lang="en-US" dirty="0"/>
              <a:t>instead of blaming </a:t>
            </a:r>
            <a:r>
              <a:rPr lang="en-US" dirty="0" smtClean="0"/>
              <a:t>people</a:t>
            </a:r>
          </a:p>
          <a:p>
            <a:r>
              <a:rPr lang="en-US" dirty="0" smtClean="0"/>
              <a:t> </a:t>
            </a:r>
            <a:r>
              <a:rPr lang="en-US" dirty="0"/>
              <a:t>Establish </a:t>
            </a:r>
            <a:r>
              <a:rPr lang="en-US" b="1" dirty="0"/>
              <a:t>regular, effective meetings </a:t>
            </a:r>
            <a:endParaRPr lang="en-US" b="1" dirty="0" smtClean="0"/>
          </a:p>
          <a:p>
            <a:r>
              <a:rPr lang="en-US" b="1" dirty="0" smtClean="0"/>
              <a:t>Allow </a:t>
            </a:r>
            <a:r>
              <a:rPr lang="en-US" b="1" dirty="0"/>
              <a:t>time for teams </a:t>
            </a:r>
            <a:r>
              <a:rPr lang="en-US" dirty="0"/>
              <a:t>to go through the basic team-building </a:t>
            </a:r>
            <a:r>
              <a:rPr lang="en-US" dirty="0" smtClean="0"/>
              <a:t>stages</a:t>
            </a:r>
          </a:p>
          <a:p>
            <a:r>
              <a:rPr lang="en-US" dirty="0" smtClean="0"/>
              <a:t> </a:t>
            </a:r>
            <a:r>
              <a:rPr lang="en-US" b="1" dirty="0"/>
              <a:t>Limit the size of work teams </a:t>
            </a:r>
            <a:r>
              <a:rPr lang="en-US" dirty="0"/>
              <a:t>to five to twelve </a:t>
            </a:r>
            <a:r>
              <a:rPr lang="en-US" dirty="0" smtClean="0"/>
              <a:t>members</a:t>
            </a:r>
          </a:p>
          <a:p>
            <a:r>
              <a:rPr lang="en-US" dirty="0" smtClean="0"/>
              <a:t> </a:t>
            </a:r>
            <a:r>
              <a:rPr lang="en-US" dirty="0"/>
              <a:t>Plan some </a:t>
            </a:r>
            <a:r>
              <a:rPr lang="en-US" b="1" dirty="0"/>
              <a:t>social activities </a:t>
            </a:r>
            <a:r>
              <a:rPr lang="en-US" dirty="0"/>
              <a:t>to help project team members and other </a:t>
            </a:r>
            <a:r>
              <a:rPr lang="en-US" dirty="0" smtClean="0"/>
              <a:t>stakeholders</a:t>
            </a:r>
          </a:p>
          <a:p>
            <a:r>
              <a:rPr lang="en-US" dirty="0" smtClean="0"/>
              <a:t> </a:t>
            </a:r>
            <a:r>
              <a:rPr lang="en-US" b="1" dirty="0"/>
              <a:t>Stress team </a:t>
            </a:r>
            <a:r>
              <a:rPr lang="en-US" b="1" dirty="0" smtClean="0"/>
              <a:t>identity</a:t>
            </a:r>
          </a:p>
          <a:p>
            <a:r>
              <a:rPr lang="en-US" dirty="0" smtClean="0"/>
              <a:t> </a:t>
            </a:r>
            <a:r>
              <a:rPr lang="en-US" b="1" dirty="0" smtClean="0"/>
              <a:t>Encourage </a:t>
            </a:r>
            <a:r>
              <a:rPr lang="en-US" b="1" dirty="0"/>
              <a:t>them </a:t>
            </a:r>
            <a:r>
              <a:rPr lang="en-US" dirty="0"/>
              <a:t>to help each </a:t>
            </a:r>
            <a:r>
              <a:rPr lang="en-US" dirty="0" smtClean="0"/>
              <a:t>other</a:t>
            </a:r>
            <a:endParaRPr lang="en-US" dirty="0"/>
          </a:p>
        </p:txBody>
      </p:sp>
    </p:spTree>
    <p:extLst>
      <p:ext uri="{BB962C8B-B14F-4D97-AF65-F5344CB8AC3E}">
        <p14:creationId xmlns:p14="http://schemas.microsoft.com/office/powerpoint/2010/main" val="3272310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b="1" dirty="0" smtClean="0"/>
              <a:t>Managing Conflicts </a:t>
            </a:r>
            <a:r>
              <a:rPr lang="en-US" sz="6000" b="1" dirty="0"/>
              <a:t>B</a:t>
            </a:r>
            <a:r>
              <a:rPr lang="en-US" sz="6000" b="1" dirty="0" smtClean="0"/>
              <a:t>etween </a:t>
            </a:r>
            <a:r>
              <a:rPr lang="en-US" sz="6000" b="1" dirty="0"/>
              <a:t>T</a:t>
            </a:r>
            <a:r>
              <a:rPr lang="en-US" sz="6000" b="1" dirty="0" smtClean="0"/>
              <a:t>eams</a:t>
            </a:r>
            <a:endParaRPr lang="en-US" b="1" dirty="0"/>
          </a:p>
        </p:txBody>
      </p:sp>
      <p:sp>
        <p:nvSpPr>
          <p:cNvPr id="3" name="Content Placeholder 2"/>
          <p:cNvSpPr>
            <a:spLocks noGrp="1"/>
          </p:cNvSpPr>
          <p:nvPr>
            <p:ph idx="1"/>
          </p:nvPr>
        </p:nvSpPr>
        <p:spPr>
          <a:xfrm>
            <a:off x="838200" y="1593612"/>
            <a:ext cx="10515600" cy="4793539"/>
          </a:xfrm>
        </p:spPr>
        <p:txBody>
          <a:bodyPr/>
          <a:lstStyle/>
          <a:p>
            <a:r>
              <a:rPr lang="en-US" dirty="0"/>
              <a:t>Conflict in teams isn't always disadvantageous</a:t>
            </a:r>
            <a:r>
              <a:rPr lang="en-US" dirty="0" smtClean="0"/>
              <a:t>.</a:t>
            </a:r>
          </a:p>
          <a:p>
            <a:pPr marL="0" indent="0">
              <a:buNone/>
            </a:pPr>
            <a:endParaRPr lang="en-US" dirty="0" smtClean="0"/>
          </a:p>
          <a:p>
            <a:r>
              <a:rPr lang="en-US" dirty="0"/>
              <a:t>Conflict can </a:t>
            </a:r>
            <a:r>
              <a:rPr lang="en-US" b="1" dirty="0"/>
              <a:t>benefit teams </a:t>
            </a:r>
            <a:r>
              <a:rPr lang="en-US" dirty="0"/>
              <a:t>as it encourages the expression of new </a:t>
            </a:r>
            <a:r>
              <a:rPr lang="en-US" dirty="0" smtClean="0"/>
              <a:t>ideas.</a:t>
            </a:r>
          </a:p>
          <a:p>
            <a:r>
              <a:rPr lang="en-US" dirty="0" smtClean="0"/>
              <a:t>It </a:t>
            </a:r>
            <a:r>
              <a:rPr lang="en-US" dirty="0"/>
              <a:t>can also </a:t>
            </a:r>
            <a:r>
              <a:rPr lang="en-US" b="1" dirty="0"/>
              <a:t>expose weaknesses </a:t>
            </a:r>
            <a:r>
              <a:rPr lang="en-US" dirty="0"/>
              <a:t>in </a:t>
            </a:r>
            <a:r>
              <a:rPr lang="en-US" b="1" dirty="0"/>
              <a:t>operational procedures </a:t>
            </a:r>
            <a:r>
              <a:rPr lang="en-US" dirty="0"/>
              <a:t>and policies and </a:t>
            </a:r>
            <a:r>
              <a:rPr lang="en-US" b="1" dirty="0"/>
              <a:t>highlight challenges </a:t>
            </a:r>
            <a:r>
              <a:rPr lang="en-US" dirty="0"/>
              <a:t>that have the potential to turn into </a:t>
            </a:r>
            <a:r>
              <a:rPr lang="en-US" dirty="0" smtClean="0"/>
              <a:t>serious </a:t>
            </a:r>
            <a:r>
              <a:rPr lang="en-US" dirty="0"/>
              <a:t>problems if ignored</a:t>
            </a:r>
            <a:r>
              <a:rPr lang="en-US" dirty="0" smtClean="0"/>
              <a:t>.</a:t>
            </a:r>
          </a:p>
          <a:p>
            <a:r>
              <a:rPr lang="en-US" dirty="0"/>
              <a:t> </a:t>
            </a:r>
            <a:r>
              <a:rPr lang="en-US" dirty="0" smtClean="0"/>
              <a:t>There </a:t>
            </a:r>
            <a:r>
              <a:rPr lang="en-US" dirty="0"/>
              <a:t>are </a:t>
            </a:r>
            <a:r>
              <a:rPr lang="en-US" b="1" dirty="0"/>
              <a:t>a number of techniques and policies </a:t>
            </a:r>
            <a:r>
              <a:rPr lang="en-US" dirty="0"/>
              <a:t>that can be implemented to help you keep things under control.</a:t>
            </a:r>
          </a:p>
        </p:txBody>
      </p:sp>
    </p:spTree>
    <p:extLst>
      <p:ext uri="{BB962C8B-B14F-4D97-AF65-F5344CB8AC3E}">
        <p14:creationId xmlns:p14="http://schemas.microsoft.com/office/powerpoint/2010/main" val="3238014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b="1" dirty="0"/>
              <a:t>Managing Conflicts Between Teams</a:t>
            </a:r>
            <a:endParaRPr lang="en-US" dirty="0"/>
          </a:p>
        </p:txBody>
      </p:sp>
      <p:sp>
        <p:nvSpPr>
          <p:cNvPr id="3" name="Content Placeholder 2"/>
          <p:cNvSpPr>
            <a:spLocks noGrp="1"/>
          </p:cNvSpPr>
          <p:nvPr>
            <p:ph idx="1"/>
          </p:nvPr>
        </p:nvSpPr>
        <p:spPr/>
        <p:txBody>
          <a:bodyPr/>
          <a:lstStyle/>
          <a:p>
            <a:r>
              <a:rPr lang="en-US" b="1" dirty="0"/>
              <a:t>Train staff to resolve conflicts </a:t>
            </a:r>
            <a:r>
              <a:rPr lang="en-US" dirty="0"/>
              <a:t>in a professional manner without the intervention of management</a:t>
            </a:r>
            <a:r>
              <a:rPr lang="en-US" dirty="0" smtClean="0"/>
              <a:t>.</a:t>
            </a:r>
          </a:p>
          <a:p>
            <a:r>
              <a:rPr lang="en-US" dirty="0"/>
              <a:t>Intervene and act as an objective </a:t>
            </a:r>
            <a:r>
              <a:rPr lang="en-US" b="1" dirty="0"/>
              <a:t>third party in the dispute</a:t>
            </a:r>
            <a:r>
              <a:rPr lang="en-US" dirty="0"/>
              <a:t>. Bring the two parties together and mediate a </a:t>
            </a:r>
            <a:r>
              <a:rPr lang="en-US" dirty="0" smtClean="0"/>
              <a:t>discussion.</a:t>
            </a:r>
          </a:p>
          <a:p>
            <a:r>
              <a:rPr lang="en-US" b="1" dirty="0"/>
              <a:t>Call a team meeting</a:t>
            </a:r>
            <a:r>
              <a:rPr lang="en-US" dirty="0"/>
              <a:t> and explain the problem from the point of view of an objective </a:t>
            </a:r>
            <a:r>
              <a:rPr lang="en-US" dirty="0" smtClean="0"/>
              <a:t>third-party.</a:t>
            </a:r>
          </a:p>
          <a:p>
            <a:r>
              <a:rPr lang="en-US" dirty="0"/>
              <a:t>Create a culture where each </a:t>
            </a:r>
            <a:r>
              <a:rPr lang="en-US" b="1" dirty="0"/>
              <a:t>person’s value </a:t>
            </a:r>
            <a:r>
              <a:rPr lang="en-US" dirty="0"/>
              <a:t>is well-known</a:t>
            </a:r>
            <a:r>
              <a:rPr lang="en-US" dirty="0" smtClean="0"/>
              <a:t>.</a:t>
            </a:r>
          </a:p>
          <a:p>
            <a:r>
              <a:rPr lang="en-US" b="1" dirty="0"/>
              <a:t>Find common ground </a:t>
            </a:r>
            <a:r>
              <a:rPr lang="en-US" dirty="0"/>
              <a:t>and </a:t>
            </a:r>
            <a:r>
              <a:rPr lang="en-US" dirty="0" smtClean="0"/>
              <a:t>rebuild.</a:t>
            </a:r>
            <a:endParaRPr lang="en-US" dirty="0"/>
          </a:p>
          <a:p>
            <a:endParaRPr lang="en-US" dirty="0"/>
          </a:p>
          <a:p>
            <a:endParaRPr lang="en-US" dirty="0"/>
          </a:p>
        </p:txBody>
      </p:sp>
    </p:spTree>
    <p:extLst>
      <p:ext uri="{BB962C8B-B14F-4D97-AF65-F5344CB8AC3E}">
        <p14:creationId xmlns:p14="http://schemas.microsoft.com/office/powerpoint/2010/main" val="241961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b="1" dirty="0" smtClean="0"/>
              <a:t>Ways </a:t>
            </a:r>
            <a:r>
              <a:rPr lang="en-US" sz="6000" b="1" dirty="0"/>
              <a:t>to Lead, Inspire and Motivate Your </a:t>
            </a:r>
            <a:r>
              <a:rPr lang="en-US" sz="6000" b="1" dirty="0" smtClean="0"/>
              <a:t>Team</a:t>
            </a:r>
            <a:endParaRPr lang="en-US" b="1" dirty="0"/>
          </a:p>
        </p:txBody>
      </p:sp>
      <p:sp>
        <p:nvSpPr>
          <p:cNvPr id="3" name="Content Placeholder 2"/>
          <p:cNvSpPr>
            <a:spLocks noGrp="1"/>
          </p:cNvSpPr>
          <p:nvPr>
            <p:ph idx="1"/>
          </p:nvPr>
        </p:nvSpPr>
        <p:spPr>
          <a:xfrm>
            <a:off x="838200" y="2083533"/>
            <a:ext cx="10515600" cy="4351338"/>
          </a:xfrm>
        </p:spPr>
        <p:txBody>
          <a:bodyPr/>
          <a:lstStyle/>
          <a:p>
            <a:pPr marL="0" indent="0">
              <a:buNone/>
            </a:pPr>
            <a:r>
              <a:rPr lang="en-US" b="1" dirty="0" smtClean="0"/>
              <a:t>1. Find </a:t>
            </a:r>
            <a:r>
              <a:rPr lang="en-US" b="1" dirty="0"/>
              <a:t>out what they </a:t>
            </a:r>
            <a:r>
              <a:rPr lang="en-US" b="1" dirty="0" smtClean="0"/>
              <a:t>need??  </a:t>
            </a:r>
            <a:r>
              <a:rPr lang="en-US" dirty="0" smtClean="0"/>
              <a:t>(Listen to your team their problems and needs)</a:t>
            </a:r>
          </a:p>
          <a:p>
            <a:pPr marL="0" indent="0">
              <a:buNone/>
            </a:pPr>
            <a:r>
              <a:rPr lang="en-US" b="1" dirty="0"/>
              <a:t>2. Be </a:t>
            </a:r>
            <a:r>
              <a:rPr lang="en-US" b="1" dirty="0" smtClean="0"/>
              <a:t>respectful.</a:t>
            </a:r>
          </a:p>
          <a:p>
            <a:pPr marL="0" indent="0">
              <a:buNone/>
            </a:pPr>
            <a:r>
              <a:rPr lang="en-US" b="1" dirty="0" smtClean="0"/>
              <a:t>3. </a:t>
            </a:r>
            <a:r>
              <a:rPr lang="en-US" b="1" dirty="0"/>
              <a:t>Stop micromanaging</a:t>
            </a:r>
          </a:p>
          <a:p>
            <a:pPr marL="0" indent="0">
              <a:buNone/>
            </a:pPr>
            <a:r>
              <a:rPr lang="en-US" b="1" dirty="0" smtClean="0"/>
              <a:t>4. </a:t>
            </a:r>
            <a:r>
              <a:rPr lang="en-US" b="1" dirty="0"/>
              <a:t>Lead by example</a:t>
            </a:r>
          </a:p>
          <a:p>
            <a:pPr marL="0" indent="0">
              <a:buNone/>
            </a:pPr>
            <a:r>
              <a:rPr lang="en-US" b="1" dirty="0" smtClean="0"/>
              <a:t>5. </a:t>
            </a:r>
            <a:r>
              <a:rPr lang="en-US" b="1" dirty="0"/>
              <a:t>Be </a:t>
            </a:r>
            <a:r>
              <a:rPr lang="en-US" b="1" dirty="0" smtClean="0"/>
              <a:t>personable </a:t>
            </a:r>
            <a:r>
              <a:rPr lang="en-US" dirty="0" smtClean="0"/>
              <a:t>(Gone is Gone)</a:t>
            </a:r>
            <a:endParaRPr lang="en-US" dirty="0"/>
          </a:p>
          <a:p>
            <a:pPr marL="0" indent="0">
              <a:buNone/>
            </a:pPr>
            <a:r>
              <a:rPr lang="en-US" b="1" dirty="0" smtClean="0"/>
              <a:t>6. </a:t>
            </a:r>
            <a:r>
              <a:rPr lang="en-US" b="1" dirty="0"/>
              <a:t>Stress your company’s </a:t>
            </a:r>
            <a:r>
              <a:rPr lang="en-US" b="1" dirty="0" smtClean="0"/>
              <a:t>purpose </a:t>
            </a:r>
            <a:r>
              <a:rPr lang="en-US" dirty="0" smtClean="0"/>
              <a:t>(Remind your objectives)</a:t>
            </a:r>
          </a:p>
          <a:p>
            <a:pPr marL="0" indent="0">
              <a:buNone/>
            </a:pPr>
            <a:endParaRPr lang="en-US" b="1" dirty="0"/>
          </a:p>
          <a:p>
            <a:pPr marL="0" indent="0">
              <a:buNone/>
            </a:pPr>
            <a:endParaRPr lang="en-US" b="1" dirty="0"/>
          </a:p>
          <a:p>
            <a:pPr marL="0" indent="0">
              <a:buNone/>
            </a:pPr>
            <a:endParaRPr lang="en-US" b="1" dirty="0"/>
          </a:p>
          <a:p>
            <a:pPr marL="514350" indent="-514350">
              <a:buAutoNum type="arabicPeriod"/>
            </a:pPr>
            <a:endParaRPr lang="en-US" b="1" dirty="0"/>
          </a:p>
          <a:p>
            <a:endParaRPr lang="en-US" dirty="0"/>
          </a:p>
        </p:txBody>
      </p:sp>
    </p:spTree>
    <p:extLst>
      <p:ext uri="{BB962C8B-B14F-4D97-AF65-F5344CB8AC3E}">
        <p14:creationId xmlns:p14="http://schemas.microsoft.com/office/powerpoint/2010/main" val="2512415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123" y="140676"/>
            <a:ext cx="11828585" cy="6611815"/>
          </a:xfrm>
        </p:spPr>
      </p:pic>
    </p:spTree>
    <p:extLst>
      <p:ext uri="{BB962C8B-B14F-4D97-AF65-F5344CB8AC3E}">
        <p14:creationId xmlns:p14="http://schemas.microsoft.com/office/powerpoint/2010/main" val="714919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081" y="409433"/>
            <a:ext cx="11573301" cy="6127845"/>
          </a:xfrm>
        </p:spPr>
      </p:pic>
    </p:spTree>
    <p:extLst>
      <p:ext uri="{BB962C8B-B14F-4D97-AF65-F5344CB8AC3E}">
        <p14:creationId xmlns:p14="http://schemas.microsoft.com/office/powerpoint/2010/main" val="3512404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498</TotalTime>
  <Words>1202</Words>
  <Application>Microsoft Office PowerPoint</Application>
  <PresentationFormat>Widescreen</PresentationFormat>
  <Paragraphs>144</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PowerPoint Presentation</vt:lpstr>
      <vt:lpstr>Software House Team</vt:lpstr>
      <vt:lpstr>What is A Team??</vt:lpstr>
      <vt:lpstr>What is Team Management??</vt:lpstr>
      <vt:lpstr> What is Team Management??  </vt:lpstr>
      <vt:lpstr>The 4 C’s of Team Management </vt:lpstr>
      <vt:lpstr>Elements of a Healthy and  Successful Team</vt:lpstr>
      <vt:lpstr>Elements of a healthy and successful team</vt:lpstr>
      <vt:lpstr>Elements of a healthy and successful team</vt:lpstr>
      <vt:lpstr>Elements of a healthy and successful team</vt:lpstr>
      <vt:lpstr>Ways to Lead, Inspire and  Motivate Your Team</vt:lpstr>
      <vt:lpstr>Characteristics of High-performing Work Teams</vt:lpstr>
      <vt:lpstr>Stages of Team Development</vt:lpstr>
      <vt:lpstr>1. Forming</vt:lpstr>
      <vt:lpstr>2. Storming</vt:lpstr>
      <vt:lpstr>2. Storming</vt:lpstr>
      <vt:lpstr> 3. Norming </vt:lpstr>
      <vt:lpstr>4. Performing</vt:lpstr>
      <vt:lpstr>5. Adjourning</vt:lpstr>
      <vt:lpstr>Barriers to Team Building</vt:lpstr>
      <vt:lpstr>Common Characteristics of High Performing Teams</vt:lpstr>
      <vt:lpstr>Develop Your Team……??</vt:lpstr>
      <vt:lpstr>Managing Conflicts Between Teams</vt:lpstr>
      <vt:lpstr>Managing Conflicts Between Teams</vt:lpstr>
      <vt:lpstr>Ways to Lead, Inspire and Motivate Your Team</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Management </dc:title>
  <dc:creator>saqib.raza</dc:creator>
  <cp:lastModifiedBy>Windows User</cp:lastModifiedBy>
  <cp:revision>111</cp:revision>
  <dcterms:created xsi:type="dcterms:W3CDTF">2016-12-08T05:42:27Z</dcterms:created>
  <dcterms:modified xsi:type="dcterms:W3CDTF">2020-12-06T22:22:09Z</dcterms:modified>
</cp:coreProperties>
</file>
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5" autoAdjust="0"/>
    <p:restoredTop sz="94660"/>
  </p:normalViewPr>
  <p:slideViewPr>
    <p:cSldViewPr snapToGrid="0">
      <p:cViewPr varScale="1">
        <p:scale>
          <a:sx n="75" d="100"/>
          <a:sy n="75" d="100"/>
        </p:scale>
        <p:origin x="8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A039F2-C536-48B4-AC8E-93A55282B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xmlns="" id="{BA181FCA-E764-4E0F-8FDC-3D982B8765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xmlns="" id="{80BA2EDD-1132-4767-982F-12D0E76220D7}"/>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5" name="Footer Placeholder 4">
            <a:extLst>
              <a:ext uri="{FF2B5EF4-FFF2-40B4-BE49-F238E27FC236}">
                <a16:creationId xmlns:a16="http://schemas.microsoft.com/office/drawing/2014/main" xmlns="" id="{22A21656-896D-4C98-B36C-303F373B3574}"/>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xmlns="" id="{00C9BCA3-4880-4037-9B6A-A978590DE9B4}"/>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2061782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312CFD-3D97-4413-BC91-38590ADC4936}"/>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xmlns="" id="{7AD08DF6-8535-4CEC-BA61-C8CCD6983B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xmlns="" id="{EEBECF76-8FDF-4EB2-B41F-E15731CF6725}"/>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5" name="Footer Placeholder 4">
            <a:extLst>
              <a:ext uri="{FF2B5EF4-FFF2-40B4-BE49-F238E27FC236}">
                <a16:creationId xmlns:a16="http://schemas.microsoft.com/office/drawing/2014/main" xmlns="" id="{D85AAA42-669C-4DFC-8DB0-7A4889CC55AA}"/>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xmlns="" id="{0752D6DF-5BDF-4ABE-BD12-EC4B4AC6A0EB}"/>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801937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056396-1B8C-4026-A162-B03462D882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xmlns="" id="{09118F02-2672-4C7B-86DE-3E533F1C39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0B3A0F8-9BAC-4A27-926E-312386C4C115}"/>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5" name="Footer Placeholder 4">
            <a:extLst>
              <a:ext uri="{FF2B5EF4-FFF2-40B4-BE49-F238E27FC236}">
                <a16:creationId xmlns:a16="http://schemas.microsoft.com/office/drawing/2014/main" xmlns="" id="{7468BEDB-D4D1-47D0-B094-103DC444B64B}"/>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xmlns="" id="{4733D48B-9B94-4A9E-9C42-E24B11BAB6AF}"/>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1330055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761F8F-0F5A-472E-B188-1DA470CC2E2C}"/>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xmlns="" id="{AA8B5E51-C85E-4068-83F2-35B68001AD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xmlns="" id="{3DC1479B-C8D0-4D60-A679-3B4280C816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xmlns="" id="{ED0BEDD5-FBDE-498C-9262-06D95E51980E}"/>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6" name="Footer Placeholder 5">
            <a:extLst>
              <a:ext uri="{FF2B5EF4-FFF2-40B4-BE49-F238E27FC236}">
                <a16:creationId xmlns:a16="http://schemas.microsoft.com/office/drawing/2014/main" xmlns="" id="{AE8EFB80-4DF1-4902-9996-A38505403CDF}"/>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xmlns="" id="{360F030F-A265-4712-8582-43A024560AB4}"/>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4047594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A74A29-8EF2-415B-9D7B-681152AE516B}"/>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xmlns="" id="{864E0615-3B6C-4310-8D51-80719BAA5C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7851CA4-2464-4435-A9FD-AF66A56A63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xmlns="" id="{9BDFDFA5-0750-441F-A263-E82D06A9D8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60B39AC-365E-4614-B60C-F47C1B4B30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xmlns="" id="{643EA8BD-E8AA-4862-9992-3D9AA40B008B}"/>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8" name="Footer Placeholder 7">
            <a:extLst>
              <a:ext uri="{FF2B5EF4-FFF2-40B4-BE49-F238E27FC236}">
                <a16:creationId xmlns:a16="http://schemas.microsoft.com/office/drawing/2014/main" xmlns="" id="{0BCEDDA3-2F4E-4B70-83EA-FE501783245D}"/>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xmlns="" id="{401FAC86-7E5A-4663-9F4E-E418177FB19D}"/>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1324474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91E246-1B12-4288-A0B4-BB6877AB1D77}"/>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xmlns="" id="{15EA53E8-E493-4843-9D37-00388D5CD9A7}"/>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4" name="Footer Placeholder 3">
            <a:extLst>
              <a:ext uri="{FF2B5EF4-FFF2-40B4-BE49-F238E27FC236}">
                <a16:creationId xmlns:a16="http://schemas.microsoft.com/office/drawing/2014/main" xmlns="" id="{61CD4F10-364F-4D49-A67E-568F3CC522A1}"/>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xmlns="" id="{6CD2649A-519A-4084-8148-B4B2F1B4F9CF}"/>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32325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790F8BA-4168-408D-BD93-5DA1F978421E}"/>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3" name="Footer Placeholder 2">
            <a:extLst>
              <a:ext uri="{FF2B5EF4-FFF2-40B4-BE49-F238E27FC236}">
                <a16:creationId xmlns:a16="http://schemas.microsoft.com/office/drawing/2014/main" xmlns="" id="{C5DF184A-374B-4597-9FDD-E9F9F6AB1845}"/>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xmlns="" id="{F26BDA8F-48D7-4E04-858E-60B9CAE16961}"/>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2603587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4A34E8-159A-4F27-B0AC-584F7C676E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xmlns="" id="{C8192BC5-5B03-4781-AE6B-B9F5CC9C65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xmlns="" id="{1812C1EF-2B6F-4A05-8DAA-04ED07E70B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DE07B38-D28A-454E-8F60-208D144BD7BD}"/>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6" name="Footer Placeholder 5">
            <a:extLst>
              <a:ext uri="{FF2B5EF4-FFF2-40B4-BE49-F238E27FC236}">
                <a16:creationId xmlns:a16="http://schemas.microsoft.com/office/drawing/2014/main" xmlns="" id="{3B9E415E-4C16-4622-8357-F1DB9723E286}"/>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xmlns="" id="{D8C5A7D6-304D-4681-B00C-9420B804EB2B}"/>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2656209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921636-67A8-40EC-A1EE-48779179A1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xmlns="" id="{1F9D9566-038C-4A82-B95B-93B34CBB8F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xmlns="" id="{380CD022-F807-4945-B9A5-1BBE3FB4A1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63EC780-78C7-44B3-8173-D3BDC83B3621}"/>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6" name="Footer Placeholder 5">
            <a:extLst>
              <a:ext uri="{FF2B5EF4-FFF2-40B4-BE49-F238E27FC236}">
                <a16:creationId xmlns:a16="http://schemas.microsoft.com/office/drawing/2014/main" xmlns="" id="{4B0E647F-3290-451E-8764-AD1FD1A813C0}"/>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xmlns="" id="{9D350E09-D3FC-4117-9854-BCF7C7BC7154}"/>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202293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167095-7229-4108-8A8C-48D3B2B9AEED}"/>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xmlns="" id="{8F709392-70F8-4191-8B37-C0455EAB09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xmlns="" id="{1FB816F9-D176-4DFF-B7D6-B4C183531501}"/>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5" name="Footer Placeholder 4">
            <a:extLst>
              <a:ext uri="{FF2B5EF4-FFF2-40B4-BE49-F238E27FC236}">
                <a16:creationId xmlns:a16="http://schemas.microsoft.com/office/drawing/2014/main" xmlns="" id="{A76A0BAE-683A-45DB-9DFB-AEA1178A744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xmlns="" id="{B2EBD253-CC8E-4E64-B8D4-A40D9182D3A2}"/>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3177211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2BFC0B9-8AB1-4261-B3A5-1AE74BA888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xmlns="" id="{0E38850B-3683-49BD-988E-E390581445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xmlns="" id="{54879F69-9C55-45E8-AC80-19ADCC08D719}"/>
              </a:ext>
            </a:extLst>
          </p:cNvPr>
          <p:cNvSpPr>
            <a:spLocks noGrp="1"/>
          </p:cNvSpPr>
          <p:nvPr>
            <p:ph type="dt" sz="half" idx="10"/>
          </p:nvPr>
        </p:nvSpPr>
        <p:spPr/>
        <p:txBody>
          <a:bodyPr/>
          <a:lstStyle/>
          <a:p>
            <a:fld id="{0CECE866-7880-444B-BEC0-4D39003D556B}" type="datetimeFigureOut">
              <a:rPr lang="en-MY" smtClean="0"/>
              <a:t>6/12/2020</a:t>
            </a:fld>
            <a:endParaRPr lang="en-MY"/>
          </a:p>
        </p:txBody>
      </p:sp>
      <p:sp>
        <p:nvSpPr>
          <p:cNvPr id="5" name="Footer Placeholder 4">
            <a:extLst>
              <a:ext uri="{FF2B5EF4-FFF2-40B4-BE49-F238E27FC236}">
                <a16:creationId xmlns:a16="http://schemas.microsoft.com/office/drawing/2014/main" xmlns="" id="{C6BDDDF6-CF3D-4557-9531-E1F205C7980C}"/>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xmlns="" id="{C7AEAFB4-EDF9-4DEB-8D1D-2D6184278592}"/>
              </a:ext>
            </a:extLst>
          </p:cNvPr>
          <p:cNvSpPr>
            <a:spLocks noGrp="1"/>
          </p:cNvSpPr>
          <p:nvPr>
            <p:ph type="sldNum" sz="quarter" idx="12"/>
          </p:nvPr>
        </p:nvSpPr>
        <p:spPr/>
        <p:txBody>
          <a:bodyPr/>
          <a:lstStyle/>
          <a:p>
            <a:fld id="{645E0123-E4DE-4C31-AA42-7218E7A14165}" type="slidenum">
              <a:rPr lang="en-MY" smtClean="0"/>
              <a:t>‹#›</a:t>
            </a:fld>
            <a:endParaRPr lang="en-MY"/>
          </a:p>
        </p:txBody>
      </p:sp>
    </p:spTree>
    <p:extLst>
      <p:ext uri="{BB962C8B-B14F-4D97-AF65-F5344CB8AC3E}">
        <p14:creationId xmlns:p14="http://schemas.microsoft.com/office/powerpoint/2010/main" val="1125872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6FF7659-2CCA-471D-AD84-6FFCDCB3C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xmlns="" id="{A2A92F1B-6A8B-4DF1-8680-686C001256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xmlns="" id="{76E708F2-1610-48D8-ACAF-413D37BE96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ECE866-7880-444B-BEC0-4D39003D556B}" type="datetimeFigureOut">
              <a:rPr lang="en-MY" smtClean="0"/>
              <a:t>6/12/2020</a:t>
            </a:fld>
            <a:endParaRPr lang="en-MY"/>
          </a:p>
        </p:txBody>
      </p:sp>
      <p:sp>
        <p:nvSpPr>
          <p:cNvPr id="5" name="Footer Placeholder 4">
            <a:extLst>
              <a:ext uri="{FF2B5EF4-FFF2-40B4-BE49-F238E27FC236}">
                <a16:creationId xmlns:a16="http://schemas.microsoft.com/office/drawing/2014/main" xmlns="" id="{41922C83-20A1-4799-B88D-7920B13659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xmlns="" id="{E1AA54C6-FB20-4188-9CB4-C1C3D8BDAC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5E0123-E4DE-4C31-AA42-7218E7A14165}" type="slidenum">
              <a:rPr lang="en-MY" smtClean="0"/>
              <a:t>‹#›</a:t>
            </a:fld>
            <a:endParaRPr lang="en-MY"/>
          </a:p>
        </p:txBody>
      </p:sp>
    </p:spTree>
    <p:extLst>
      <p:ext uri="{BB962C8B-B14F-4D97-AF65-F5344CB8AC3E}">
        <p14:creationId xmlns:p14="http://schemas.microsoft.com/office/powerpoint/2010/main" val="2019647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linkedin.com/pulse/8-characteristics-high-performing-teams-dr-tim-bake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orkplacepsychology.net/2010/12/17/eight-common-problems-teams-encounter/"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960300-5B2A-4D39-B3F1-9D46D179BF6A}"/>
              </a:ext>
            </a:extLst>
          </p:cNvPr>
          <p:cNvSpPr>
            <a:spLocks noGrp="1"/>
          </p:cNvSpPr>
          <p:nvPr>
            <p:ph type="ctrTitle"/>
          </p:nvPr>
        </p:nvSpPr>
        <p:spPr/>
        <p:txBody>
          <a:bodyPr/>
          <a:lstStyle/>
          <a:p>
            <a:r>
              <a:rPr lang="en-US" dirty="0"/>
              <a:t>Professional Practices</a:t>
            </a:r>
            <a:endParaRPr lang="en-MY" dirty="0"/>
          </a:p>
        </p:txBody>
      </p:sp>
      <p:sp>
        <p:nvSpPr>
          <p:cNvPr id="3" name="Subtitle 2">
            <a:extLst>
              <a:ext uri="{FF2B5EF4-FFF2-40B4-BE49-F238E27FC236}">
                <a16:creationId xmlns:a16="http://schemas.microsoft.com/office/drawing/2014/main" xmlns="" id="{3C11DB45-44B1-426F-8FEA-AA27F402C0EE}"/>
              </a:ext>
            </a:extLst>
          </p:cNvPr>
          <p:cNvSpPr>
            <a:spLocks noGrp="1"/>
          </p:cNvSpPr>
          <p:nvPr>
            <p:ph type="subTitle" idx="1"/>
          </p:nvPr>
        </p:nvSpPr>
        <p:spPr>
          <a:xfrm>
            <a:off x="1524000" y="4239347"/>
            <a:ext cx="9144000" cy="905307"/>
          </a:xfrm>
        </p:spPr>
        <p:txBody>
          <a:bodyPr>
            <a:normAutofit/>
          </a:bodyPr>
          <a:lstStyle/>
          <a:p>
            <a:r>
              <a:rPr lang="en-US" sz="2800" kern="100" dirty="0">
                <a:effectLst/>
                <a:latin typeface="Times New Roman" panose="02020603050405020304" pitchFamily="18" charset="0"/>
                <a:ea typeface="Trebuchet MS" panose="020B0603020202020204" pitchFamily="34" charset="0"/>
              </a:rPr>
              <a:t>Software Team Development</a:t>
            </a:r>
            <a:endParaRPr lang="en-MY" sz="2800" dirty="0"/>
          </a:p>
        </p:txBody>
      </p:sp>
    </p:spTree>
    <p:extLst>
      <p:ext uri="{BB962C8B-B14F-4D97-AF65-F5344CB8AC3E}">
        <p14:creationId xmlns:p14="http://schemas.microsoft.com/office/powerpoint/2010/main" val="2236270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A8CE96-61D5-4AAB-AEDD-ABA258254472}"/>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xmlns="" id="{49B4BFA1-1028-4DC0-A0AB-176FAE240670}"/>
              </a:ext>
            </a:extLst>
          </p:cNvPr>
          <p:cNvSpPr>
            <a:spLocks noGrp="1"/>
          </p:cNvSpPr>
          <p:nvPr>
            <p:ph idx="1"/>
          </p:nvPr>
        </p:nvSpPr>
        <p:spPr/>
        <p:txBody>
          <a:bodyPr>
            <a:normAutofit fontScale="92500" lnSpcReduction="10000"/>
          </a:bodyPr>
          <a:lstStyle/>
          <a:p>
            <a:pPr>
              <a:lnSpc>
                <a:spcPct val="150000"/>
              </a:lnSpc>
            </a:pPr>
            <a:r>
              <a:rPr lang="en-US" sz="3600" kern="100" dirty="0">
                <a:effectLst/>
                <a:latin typeface="Times New Roman" panose="02020603050405020304" pitchFamily="18" charset="0"/>
                <a:ea typeface="Trebuchet MS" panose="020B0603020202020204" pitchFamily="34" charset="0"/>
              </a:rPr>
              <a:t>Introduction</a:t>
            </a:r>
          </a:p>
          <a:p>
            <a:pPr>
              <a:lnSpc>
                <a:spcPct val="150000"/>
              </a:lnSpc>
            </a:pPr>
            <a:r>
              <a:rPr lang="en-US" sz="3600" kern="100" dirty="0">
                <a:effectLst/>
                <a:latin typeface="Times New Roman" panose="02020603050405020304" pitchFamily="18" charset="0"/>
                <a:ea typeface="Trebuchet MS" panose="020B0603020202020204" pitchFamily="34" charset="0"/>
              </a:rPr>
              <a:t>Stages of Team development. </a:t>
            </a:r>
          </a:p>
          <a:p>
            <a:pPr>
              <a:lnSpc>
                <a:spcPct val="150000"/>
              </a:lnSpc>
            </a:pPr>
            <a:r>
              <a:rPr lang="en-US" sz="3600" kern="100" dirty="0">
                <a:effectLst/>
                <a:latin typeface="Times New Roman" panose="02020603050405020304" pitchFamily="18" charset="0"/>
                <a:ea typeface="Trebuchet MS" panose="020B0603020202020204" pitchFamily="34" charset="0"/>
              </a:rPr>
              <a:t>Barriers to Team Building.</a:t>
            </a:r>
          </a:p>
          <a:p>
            <a:pPr>
              <a:lnSpc>
                <a:spcPct val="150000"/>
              </a:lnSpc>
            </a:pPr>
            <a:r>
              <a:rPr lang="en-US" sz="3600" kern="100" dirty="0">
                <a:latin typeface="Times New Roman" panose="02020603050405020304" pitchFamily="18" charset="0"/>
                <a:ea typeface="Trebuchet MS" panose="020B0603020202020204" pitchFamily="34" charset="0"/>
              </a:rPr>
              <a:t>C</a:t>
            </a:r>
            <a:r>
              <a:rPr lang="en-US" sz="3600" kern="100" dirty="0">
                <a:effectLst/>
                <a:latin typeface="Times New Roman" panose="02020603050405020304" pitchFamily="18" charset="0"/>
                <a:ea typeface="Trebuchet MS" panose="020B0603020202020204" pitchFamily="34" charset="0"/>
              </a:rPr>
              <a:t>haracteristics of High Performance Teams.</a:t>
            </a:r>
          </a:p>
          <a:p>
            <a:pPr>
              <a:lnSpc>
                <a:spcPct val="150000"/>
              </a:lnSpc>
            </a:pPr>
            <a:r>
              <a:rPr lang="en-US" sz="3600" kern="100" dirty="0">
                <a:effectLst/>
                <a:latin typeface="Times New Roman" panose="02020603050405020304" pitchFamily="18" charset="0"/>
                <a:ea typeface="Trebuchet MS" panose="020B0603020202020204" pitchFamily="34" charset="0"/>
              </a:rPr>
              <a:t>How to manage conflicts.</a:t>
            </a:r>
            <a:endParaRPr lang="en-MY" sz="3600" dirty="0"/>
          </a:p>
        </p:txBody>
      </p:sp>
      <p:pic>
        <p:nvPicPr>
          <p:cNvPr id="1028" name="Picture 4">
            <a:extLst>
              <a:ext uri="{FF2B5EF4-FFF2-40B4-BE49-F238E27FC236}">
                <a16:creationId xmlns:a16="http://schemas.microsoft.com/office/drawing/2014/main" xmlns="" id="{E8EABFE8-FDC5-488C-8389-FCE90A376D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681" t="12992" r="19849" b="11856"/>
          <a:stretch/>
        </p:blipFill>
        <p:spPr bwMode="auto">
          <a:xfrm>
            <a:off x="6096000" y="0"/>
            <a:ext cx="6124957" cy="3870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258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4816CE-7D2B-420D-A434-65940EA425FC}"/>
              </a:ext>
            </a:extLst>
          </p:cNvPr>
          <p:cNvSpPr>
            <a:spLocks noGrp="1"/>
          </p:cNvSpPr>
          <p:nvPr>
            <p:ph type="title"/>
          </p:nvPr>
        </p:nvSpPr>
        <p:spPr/>
        <p:txBody>
          <a:bodyPr/>
          <a:lstStyle/>
          <a:p>
            <a:r>
              <a:rPr lang="en-MY" dirty="0"/>
              <a:t>Introduction </a:t>
            </a:r>
          </a:p>
        </p:txBody>
      </p:sp>
      <p:sp>
        <p:nvSpPr>
          <p:cNvPr id="3" name="Content Placeholder 2">
            <a:extLst>
              <a:ext uri="{FF2B5EF4-FFF2-40B4-BE49-F238E27FC236}">
                <a16:creationId xmlns:a16="http://schemas.microsoft.com/office/drawing/2014/main" xmlns="" id="{EA2FC06B-3638-41F0-9E3B-827C8EEF954E}"/>
              </a:ext>
            </a:extLst>
          </p:cNvPr>
          <p:cNvSpPr>
            <a:spLocks noGrp="1"/>
          </p:cNvSpPr>
          <p:nvPr>
            <p:ph idx="1"/>
          </p:nvPr>
        </p:nvSpPr>
        <p:spPr/>
        <p:txBody>
          <a:bodyPr/>
          <a:lstStyle/>
          <a:p>
            <a:pPr marL="0" indent="0">
              <a:buNone/>
            </a:pPr>
            <a:r>
              <a:rPr lang="en-MY" b="1" dirty="0">
                <a:solidFill>
                  <a:schemeClr val="accent1"/>
                </a:solidFill>
                <a:latin typeface="Times New Roman" panose="02020603050405020304" pitchFamily="18" charset="0"/>
                <a:cs typeface="Times New Roman" panose="02020603050405020304" pitchFamily="18" charset="0"/>
              </a:rPr>
              <a:t>What is a team?</a:t>
            </a:r>
          </a:p>
          <a:p>
            <a:pPr marL="0" indent="0">
              <a:buNone/>
            </a:pPr>
            <a:r>
              <a:rPr lang="en-US" b="0" i="0" dirty="0">
                <a:effectLst/>
                <a:latin typeface="Times New Roman" panose="02020603050405020304" pitchFamily="18" charset="0"/>
                <a:cs typeface="Times New Roman" panose="02020603050405020304" pitchFamily="18" charset="0"/>
              </a:rPr>
              <a:t>A team can be defined as a </a:t>
            </a:r>
            <a:r>
              <a:rPr lang="en-US" b="1" i="0" dirty="0">
                <a:effectLst/>
                <a:latin typeface="Times New Roman" panose="02020603050405020304" pitchFamily="18" charset="0"/>
                <a:cs typeface="Times New Roman" panose="02020603050405020304" pitchFamily="18" charset="0"/>
              </a:rPr>
              <a:t>group of individuals </a:t>
            </a:r>
            <a:r>
              <a:rPr lang="en-US" b="0" i="0" dirty="0">
                <a:effectLst/>
                <a:latin typeface="Times New Roman" panose="02020603050405020304" pitchFamily="18" charset="0"/>
                <a:cs typeface="Times New Roman" panose="02020603050405020304" pitchFamily="18" charset="0"/>
              </a:rPr>
              <a:t>coming together to solve a problem.</a:t>
            </a:r>
          </a:p>
          <a:p>
            <a:pPr marL="0" indent="0">
              <a:buNone/>
            </a:pPr>
            <a:endParaRPr lang="en-US" b="0" i="0" dirty="0">
              <a:effectLst/>
              <a:latin typeface="Times New Roman" panose="02020603050405020304" pitchFamily="18" charset="0"/>
              <a:cs typeface="Times New Roman" panose="02020603050405020304" pitchFamily="18" charset="0"/>
            </a:endParaRPr>
          </a:p>
          <a:p>
            <a:pPr marL="0" indent="0">
              <a:buNone/>
            </a:pPr>
            <a:r>
              <a:rPr lang="en-US" b="1" dirty="0">
                <a:solidFill>
                  <a:schemeClr val="accent1"/>
                </a:solidFill>
                <a:latin typeface="Times New Roman" panose="02020603050405020304" pitchFamily="18" charset="0"/>
                <a:cs typeface="Times New Roman" panose="02020603050405020304" pitchFamily="18" charset="0"/>
              </a:rPr>
              <a:t>Why we need a team?</a:t>
            </a:r>
          </a:p>
          <a:p>
            <a:pPr marL="0" indent="0">
              <a:buNone/>
            </a:pPr>
            <a:r>
              <a:rPr lang="en-US" dirty="0">
                <a:latin typeface="Times New Roman" panose="02020603050405020304" pitchFamily="18" charset="0"/>
                <a:cs typeface="Times New Roman" panose="02020603050405020304" pitchFamily="18" charset="0"/>
              </a:rPr>
              <a:t>When </a:t>
            </a:r>
            <a:r>
              <a:rPr lang="en-US" b="1" dirty="0">
                <a:latin typeface="Times New Roman" panose="02020603050405020304" pitchFamily="18" charset="0"/>
                <a:cs typeface="Times New Roman" panose="02020603050405020304" pitchFamily="18" charset="0"/>
              </a:rPr>
              <a:t>one person cannot accomplish </a:t>
            </a:r>
            <a:r>
              <a:rPr lang="en-US" dirty="0">
                <a:latin typeface="Times New Roman" panose="02020603050405020304" pitchFamily="18" charset="0"/>
                <a:cs typeface="Times New Roman" panose="02020603050405020304" pitchFamily="18" charset="0"/>
              </a:rPr>
              <a:t>a job alone and </a:t>
            </a:r>
            <a:r>
              <a:rPr lang="en-US" b="1" dirty="0">
                <a:latin typeface="Times New Roman" panose="02020603050405020304" pitchFamily="18" charset="0"/>
                <a:cs typeface="Times New Roman" panose="02020603050405020304" pitchFamily="18" charset="0"/>
              </a:rPr>
              <a:t>several individuals </a:t>
            </a:r>
            <a:r>
              <a:rPr lang="en-US" dirty="0">
                <a:latin typeface="Times New Roman" panose="02020603050405020304" pitchFamily="18" charset="0"/>
                <a:cs typeface="Times New Roman" panose="02020603050405020304" pitchFamily="18" charset="0"/>
              </a:rPr>
              <a:t>must </a:t>
            </a:r>
            <a:r>
              <a:rPr lang="en-US" b="1" dirty="0">
                <a:latin typeface="Times New Roman" panose="02020603050405020304" pitchFamily="18" charset="0"/>
                <a:cs typeface="Times New Roman" panose="02020603050405020304" pitchFamily="18" charset="0"/>
              </a:rPr>
              <a:t>cooperate </a:t>
            </a:r>
            <a:r>
              <a:rPr lang="en-US" dirty="0">
                <a:latin typeface="Times New Roman" panose="02020603050405020304" pitchFamily="18" charset="0"/>
                <a:cs typeface="Times New Roman" panose="02020603050405020304" pitchFamily="18" charset="0"/>
              </a:rPr>
              <a:t>to fulfill a </a:t>
            </a:r>
            <a:r>
              <a:rPr lang="en-US" b="1" dirty="0">
                <a:latin typeface="Times New Roman" panose="02020603050405020304" pitchFamily="18" charset="0"/>
                <a:cs typeface="Times New Roman" panose="02020603050405020304" pitchFamily="18" charset="0"/>
              </a:rPr>
              <a:t>mission or task.</a:t>
            </a:r>
          </a:p>
          <a:p>
            <a:pPr marL="0" indent="0">
              <a:buNone/>
            </a:pPr>
            <a:endParaRPr lang="en-MY"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5059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9839C7-A0A6-466B-8DCD-6A2C8E266CB7}"/>
              </a:ext>
            </a:extLst>
          </p:cNvPr>
          <p:cNvSpPr>
            <a:spLocks noGrp="1"/>
          </p:cNvSpPr>
          <p:nvPr>
            <p:ph type="title"/>
          </p:nvPr>
        </p:nvSpPr>
        <p:spPr/>
        <p:txBody>
          <a:bodyPr/>
          <a:lstStyle/>
          <a:p>
            <a:r>
              <a:rPr lang="en-MY" dirty="0"/>
              <a:t>Introduction</a:t>
            </a:r>
          </a:p>
        </p:txBody>
      </p:sp>
      <p:sp>
        <p:nvSpPr>
          <p:cNvPr id="3" name="Content Placeholder 2">
            <a:extLst>
              <a:ext uri="{FF2B5EF4-FFF2-40B4-BE49-F238E27FC236}">
                <a16:creationId xmlns:a16="http://schemas.microsoft.com/office/drawing/2014/main" xmlns="" id="{3795A3CD-35BB-400F-B31D-E64FFF6D0BC9}"/>
              </a:ext>
            </a:extLst>
          </p:cNvPr>
          <p:cNvSpPr>
            <a:spLocks noGrp="1"/>
          </p:cNvSpPr>
          <p:nvPr>
            <p:ph idx="1"/>
          </p:nvPr>
        </p:nvSpPr>
        <p:spPr/>
        <p:txBody>
          <a:bodyPr>
            <a:normAutofit fontScale="92500" lnSpcReduction="20000"/>
          </a:bodyPr>
          <a:lstStyle/>
          <a:p>
            <a:pPr marL="0" indent="0">
              <a:buNone/>
            </a:pPr>
            <a:r>
              <a:rPr lang="en-US" sz="2800" b="1" dirty="0">
                <a:solidFill>
                  <a:schemeClr val="accent1"/>
                </a:solidFill>
              </a:rPr>
              <a:t>What is Team Management?</a:t>
            </a:r>
          </a:p>
          <a:p>
            <a:pPr algn="just"/>
            <a:r>
              <a:rPr lang="en-US" sz="2800" b="1" dirty="0">
                <a:solidFill>
                  <a:schemeClr val="accent1"/>
                </a:solidFill>
              </a:rPr>
              <a:t>Team management</a:t>
            </a:r>
            <a:r>
              <a:rPr lang="en-US" sz="2800" dirty="0">
                <a:solidFill>
                  <a:schemeClr val="accent1"/>
                </a:solidFill>
              </a:rPr>
              <a:t> </a:t>
            </a:r>
            <a:r>
              <a:rPr lang="en-US" sz="2800" dirty="0"/>
              <a:t>is the ability of an individual </a:t>
            </a:r>
            <a:r>
              <a:rPr lang="en-US" sz="2800" b="1" dirty="0">
                <a:solidFill>
                  <a:schemeClr val="accent1"/>
                </a:solidFill>
              </a:rPr>
              <a:t>or an organization </a:t>
            </a:r>
            <a:r>
              <a:rPr lang="en-US" sz="2800" b="1" dirty="0"/>
              <a:t>to </a:t>
            </a:r>
            <a:r>
              <a:rPr lang="en-US" sz="2800" b="1" dirty="0">
                <a:solidFill>
                  <a:schemeClr val="accent1"/>
                </a:solidFill>
              </a:rPr>
              <a:t>administrate</a:t>
            </a:r>
            <a:r>
              <a:rPr lang="en-US" sz="2800" dirty="0"/>
              <a:t> and </a:t>
            </a:r>
            <a:r>
              <a:rPr lang="en-US" sz="2800" b="1" dirty="0">
                <a:solidFill>
                  <a:schemeClr val="accent1"/>
                </a:solidFill>
              </a:rPr>
              <a:t>coordinate</a:t>
            </a:r>
            <a:r>
              <a:rPr lang="en-US" sz="2800" dirty="0"/>
              <a:t> a group of </a:t>
            </a:r>
            <a:r>
              <a:rPr lang="en-US" sz="2800" b="1" dirty="0">
                <a:solidFill>
                  <a:schemeClr val="accent1"/>
                </a:solidFill>
              </a:rPr>
              <a:t>individuals</a:t>
            </a:r>
            <a:r>
              <a:rPr lang="en-US" sz="2800" dirty="0"/>
              <a:t> to </a:t>
            </a:r>
            <a:r>
              <a:rPr lang="en-US" sz="2800" b="1" dirty="0">
                <a:solidFill>
                  <a:schemeClr val="accent1"/>
                </a:solidFill>
              </a:rPr>
              <a:t>perform a task</a:t>
            </a:r>
            <a:r>
              <a:rPr lang="en-US" sz="2800" dirty="0"/>
              <a:t>.</a:t>
            </a:r>
          </a:p>
          <a:p>
            <a:pPr marL="0" indent="0" algn="just">
              <a:buNone/>
            </a:pPr>
            <a:endParaRPr lang="en-US" sz="2800" dirty="0"/>
          </a:p>
          <a:p>
            <a:pPr algn="just"/>
            <a:r>
              <a:rPr lang="en-US" sz="2800" dirty="0"/>
              <a:t>The administration of a </a:t>
            </a:r>
            <a:r>
              <a:rPr lang="en-US" sz="2800" b="1" dirty="0">
                <a:solidFill>
                  <a:schemeClr val="accent1"/>
                </a:solidFill>
              </a:rPr>
              <a:t>group of people </a:t>
            </a:r>
            <a:r>
              <a:rPr lang="en-US" sz="2800" dirty="0"/>
              <a:t>assembled to work on a </a:t>
            </a:r>
            <a:r>
              <a:rPr lang="en-US" sz="2800" b="1" dirty="0">
                <a:solidFill>
                  <a:schemeClr val="accent1"/>
                </a:solidFill>
              </a:rPr>
              <a:t>particular project </a:t>
            </a:r>
            <a:r>
              <a:rPr lang="en-US" sz="2800" dirty="0"/>
              <a:t>or to perform a </a:t>
            </a:r>
            <a:r>
              <a:rPr lang="en-US" sz="2800" b="1" dirty="0">
                <a:solidFill>
                  <a:schemeClr val="accent1"/>
                </a:solidFill>
              </a:rPr>
              <a:t>particular function </a:t>
            </a:r>
            <a:r>
              <a:rPr lang="en-US" sz="2800" dirty="0"/>
              <a:t>within an </a:t>
            </a:r>
            <a:r>
              <a:rPr lang="en-US" sz="2800" b="1" dirty="0">
                <a:solidFill>
                  <a:schemeClr val="accent1"/>
                </a:solidFill>
              </a:rPr>
              <a:t>organization</a:t>
            </a:r>
            <a:r>
              <a:rPr lang="en-US" sz="2800" b="1" dirty="0"/>
              <a:t>.</a:t>
            </a:r>
          </a:p>
          <a:p>
            <a:pPr marL="0" indent="0" algn="just">
              <a:buNone/>
            </a:pPr>
            <a:endParaRPr lang="en-US" sz="2800" dirty="0"/>
          </a:p>
          <a:p>
            <a:pPr algn="just"/>
            <a:r>
              <a:rPr lang="en-US" sz="2800" dirty="0"/>
              <a:t>Team management involves </a:t>
            </a:r>
            <a:r>
              <a:rPr lang="en-US" sz="2800" b="1" dirty="0">
                <a:solidFill>
                  <a:schemeClr val="accent1"/>
                </a:solidFill>
              </a:rPr>
              <a:t>teamwork</a:t>
            </a:r>
            <a:r>
              <a:rPr lang="en-US" sz="2800" dirty="0">
                <a:solidFill>
                  <a:schemeClr val="accent1"/>
                </a:solidFill>
              </a:rPr>
              <a:t>, </a:t>
            </a:r>
            <a:r>
              <a:rPr lang="en-US" sz="2800" b="1" dirty="0">
                <a:solidFill>
                  <a:schemeClr val="accent1"/>
                </a:solidFill>
              </a:rPr>
              <a:t>communication</a:t>
            </a:r>
            <a:r>
              <a:rPr lang="en-US" sz="2800" dirty="0">
                <a:solidFill>
                  <a:schemeClr val="accent1"/>
                </a:solidFill>
              </a:rPr>
              <a:t>, </a:t>
            </a:r>
            <a:r>
              <a:rPr lang="en-US" sz="2800" b="1" dirty="0">
                <a:solidFill>
                  <a:schemeClr val="accent1"/>
                </a:solidFill>
              </a:rPr>
              <a:t>objective setting </a:t>
            </a:r>
            <a:r>
              <a:rPr lang="en-US" sz="2800" dirty="0"/>
              <a:t>and </a:t>
            </a:r>
            <a:r>
              <a:rPr lang="en-US" sz="2800" b="1" dirty="0">
                <a:solidFill>
                  <a:schemeClr val="accent1"/>
                </a:solidFill>
              </a:rPr>
              <a:t>performance</a:t>
            </a:r>
            <a:r>
              <a:rPr lang="en-US" sz="2800" dirty="0"/>
              <a:t> etc.</a:t>
            </a:r>
          </a:p>
          <a:p>
            <a:pPr algn="just"/>
            <a:endParaRPr lang="en-US" sz="2800" dirty="0"/>
          </a:p>
          <a:p>
            <a:pPr algn="just"/>
            <a:r>
              <a:rPr lang="en-US" sz="2800" dirty="0"/>
              <a:t> Team management is the </a:t>
            </a:r>
            <a:r>
              <a:rPr lang="en-US" sz="2800" b="1" dirty="0">
                <a:solidFill>
                  <a:schemeClr val="accent1"/>
                </a:solidFill>
              </a:rPr>
              <a:t>capability</a:t>
            </a:r>
            <a:r>
              <a:rPr lang="en-US" sz="2800" dirty="0"/>
              <a:t> to </a:t>
            </a:r>
            <a:r>
              <a:rPr lang="en-US" sz="2800" b="1" dirty="0">
                <a:solidFill>
                  <a:schemeClr val="accent1"/>
                </a:solidFill>
              </a:rPr>
              <a:t>identify problems </a:t>
            </a:r>
            <a:r>
              <a:rPr lang="en-US" sz="2800" dirty="0"/>
              <a:t>and </a:t>
            </a:r>
            <a:r>
              <a:rPr lang="en-US" sz="2800" b="1" dirty="0">
                <a:solidFill>
                  <a:schemeClr val="accent1"/>
                </a:solidFill>
              </a:rPr>
              <a:t>resolve conflicts</a:t>
            </a:r>
            <a:r>
              <a:rPr lang="en-US" sz="2800" dirty="0"/>
              <a:t> within a </a:t>
            </a:r>
            <a:r>
              <a:rPr lang="en-US" sz="2800" b="1" dirty="0">
                <a:solidFill>
                  <a:schemeClr val="accent1"/>
                </a:solidFill>
              </a:rPr>
              <a:t>team</a:t>
            </a:r>
            <a:r>
              <a:rPr lang="en-US" sz="2800" dirty="0"/>
              <a:t>.</a:t>
            </a:r>
          </a:p>
          <a:p>
            <a:pPr marL="0" indent="0">
              <a:buNone/>
            </a:pPr>
            <a:endParaRPr lang="en-MY" dirty="0">
              <a:solidFill>
                <a:schemeClr val="accent1"/>
              </a:solidFill>
            </a:endParaRPr>
          </a:p>
        </p:txBody>
      </p:sp>
    </p:spTree>
    <p:extLst>
      <p:ext uri="{BB962C8B-B14F-4D97-AF65-F5344CB8AC3E}">
        <p14:creationId xmlns:p14="http://schemas.microsoft.com/office/powerpoint/2010/main" val="430806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5F3FD9-5332-4F60-B6D6-ADCD8F118606}"/>
              </a:ext>
            </a:extLst>
          </p:cNvPr>
          <p:cNvSpPr>
            <a:spLocks noGrp="1"/>
          </p:cNvSpPr>
          <p:nvPr>
            <p:ph type="title"/>
          </p:nvPr>
        </p:nvSpPr>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
        <p:nvSpPr>
          <p:cNvPr id="3" name="Content Placeholder 2">
            <a:extLst>
              <a:ext uri="{FF2B5EF4-FFF2-40B4-BE49-F238E27FC236}">
                <a16:creationId xmlns:a16="http://schemas.microsoft.com/office/drawing/2014/main" xmlns="" id="{ED6D99D2-3A0B-4AE4-9C29-A115472305E5}"/>
              </a:ext>
            </a:extLst>
          </p:cNvPr>
          <p:cNvSpPr>
            <a:spLocks noGrp="1"/>
          </p:cNvSpPr>
          <p:nvPr>
            <p:ph idx="1"/>
          </p:nvPr>
        </p:nvSpPr>
        <p:spPr/>
        <p:txBody>
          <a:bodyPr>
            <a:normAutofit/>
          </a:bodyPr>
          <a:lstStyle/>
          <a:p>
            <a:pPr marL="0" indent="0" algn="l">
              <a:buNone/>
            </a:pPr>
            <a:r>
              <a:rPr lang="en-US" sz="3200" b="0" i="0" u="none" strike="noStrike" baseline="0" dirty="0">
                <a:latin typeface="Times New Roman" panose="02020603050405020304" pitchFamily="18" charset="0"/>
                <a:cs typeface="Times New Roman" panose="02020603050405020304" pitchFamily="18" charset="0"/>
              </a:rPr>
              <a:t>5 Stages of Team Development</a:t>
            </a:r>
          </a:p>
          <a:p>
            <a:pPr marL="0" indent="0" algn="l">
              <a:buNone/>
            </a:pPr>
            <a:endParaRPr lang="en-US" sz="3200" b="0" i="0" u="none" strike="noStrike" baseline="0" dirty="0">
              <a:latin typeface="Times New Roman" panose="02020603050405020304" pitchFamily="18" charset="0"/>
              <a:cs typeface="Times New Roman" panose="02020603050405020304" pitchFamily="18" charset="0"/>
            </a:endParaRPr>
          </a:p>
          <a:p>
            <a:pPr lvl="1"/>
            <a:r>
              <a:rPr lang="en-MY" sz="2800" b="0" i="0" u="none" strike="noStrike" baseline="0" dirty="0">
                <a:latin typeface="Times New Roman" panose="02020603050405020304" pitchFamily="18" charset="0"/>
                <a:cs typeface="Times New Roman" panose="02020603050405020304" pitchFamily="18" charset="0"/>
              </a:rPr>
              <a:t>Forming</a:t>
            </a:r>
          </a:p>
          <a:p>
            <a:pPr lvl="1"/>
            <a:r>
              <a:rPr lang="en-MY" sz="2800" b="0" i="0" u="none" strike="noStrike" baseline="0" dirty="0">
                <a:latin typeface="Times New Roman" panose="02020603050405020304" pitchFamily="18" charset="0"/>
                <a:cs typeface="Times New Roman" panose="02020603050405020304" pitchFamily="18" charset="0"/>
              </a:rPr>
              <a:t>Storming</a:t>
            </a:r>
          </a:p>
          <a:p>
            <a:pPr lvl="1"/>
            <a:r>
              <a:rPr lang="en-MY" sz="2800" b="0" i="0" u="none" strike="noStrike" baseline="0" dirty="0">
                <a:latin typeface="Times New Roman" panose="02020603050405020304" pitchFamily="18" charset="0"/>
                <a:cs typeface="Times New Roman" panose="02020603050405020304" pitchFamily="18" charset="0"/>
              </a:rPr>
              <a:t>Norming</a:t>
            </a:r>
          </a:p>
          <a:p>
            <a:pPr lvl="1"/>
            <a:r>
              <a:rPr lang="en-MY" sz="2800" b="0" i="0" u="none" strike="noStrike" baseline="0" dirty="0">
                <a:latin typeface="Times New Roman" panose="02020603050405020304" pitchFamily="18" charset="0"/>
                <a:cs typeface="Times New Roman" panose="02020603050405020304" pitchFamily="18" charset="0"/>
              </a:rPr>
              <a:t>Performing</a:t>
            </a:r>
          </a:p>
          <a:p>
            <a:pPr lvl="1"/>
            <a:r>
              <a:rPr lang="en-US" sz="2800" b="0" i="0" u="none" strike="noStrike" baseline="0" dirty="0">
                <a:latin typeface="Times New Roman" panose="02020603050405020304" pitchFamily="18" charset="0"/>
                <a:cs typeface="Times New Roman" panose="02020603050405020304" pitchFamily="18" charset="0"/>
              </a:rPr>
              <a:t>Adjourning (Added by Tuckman in 1977).</a:t>
            </a:r>
            <a:endParaRPr lang="en-MY"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592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C9E56331-322B-4C4A-B6E6-5F618E139ED8}"/>
              </a:ext>
            </a:extLst>
          </p:cNvPr>
          <p:cNvPicPr>
            <a:picLocks noGrp="1" noChangeAspect="1"/>
          </p:cNvPicPr>
          <p:nvPr>
            <p:ph idx="1"/>
          </p:nvPr>
        </p:nvPicPr>
        <p:blipFill>
          <a:blip r:embed="rId2"/>
          <a:stretch>
            <a:fillRect/>
          </a:stretch>
        </p:blipFill>
        <p:spPr>
          <a:xfrm>
            <a:off x="2013527" y="1964692"/>
            <a:ext cx="8164945" cy="4067787"/>
          </a:xfrm>
          <a:prstGeom prst="rect">
            <a:avLst/>
          </a:prstGeom>
        </p:spPr>
      </p:pic>
      <p:sp>
        <p:nvSpPr>
          <p:cNvPr id="4" name="Title 1">
            <a:extLst>
              <a:ext uri="{FF2B5EF4-FFF2-40B4-BE49-F238E27FC236}">
                <a16:creationId xmlns:a16="http://schemas.microsoft.com/office/drawing/2014/main" xmlns="" id="{A98A5BED-751E-41DF-A5B2-2F8149528FFA}"/>
              </a:ext>
            </a:extLst>
          </p:cNvPr>
          <p:cNvSpPr>
            <a:spLocks noGrp="1"/>
          </p:cNvSpPr>
          <p:nvPr>
            <p:ph type="title"/>
          </p:nvPr>
        </p:nvSpPr>
        <p:spPr>
          <a:xfrm>
            <a:off x="838200" y="365125"/>
            <a:ext cx="10515600" cy="1325563"/>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3732935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B89105A-ECB3-492A-9F2F-AFB185F3D5F6}"/>
              </a:ext>
            </a:extLst>
          </p:cNvPr>
          <p:cNvSpPr>
            <a:spLocks noGrp="1"/>
          </p:cNvSpPr>
          <p:nvPr>
            <p:ph idx="1"/>
          </p:nvPr>
        </p:nvSpPr>
        <p:spPr/>
        <p:txBody>
          <a:bodyPr>
            <a:normAutofit/>
          </a:bodyPr>
          <a:lstStyle/>
          <a:p>
            <a:r>
              <a:rPr lang="en-US" b="1" i="0" dirty="0">
                <a:solidFill>
                  <a:schemeClr val="accent5"/>
                </a:solidFill>
                <a:effectLst/>
                <a:latin typeface="Times New Roman" panose="02020603050405020304" pitchFamily="18" charset="0"/>
                <a:cs typeface="Times New Roman" panose="02020603050405020304" pitchFamily="18" charset="0"/>
              </a:rPr>
              <a:t>Forming:</a:t>
            </a:r>
            <a:r>
              <a:rPr lang="en-US" b="0" i="0" dirty="0">
                <a:solidFill>
                  <a:schemeClr val="accent5"/>
                </a:solidFill>
                <a:effectLst/>
                <a:latin typeface="Times New Roman" panose="02020603050405020304" pitchFamily="18" charset="0"/>
                <a:cs typeface="Times New Roman" panose="02020603050405020304" pitchFamily="18" charset="0"/>
              </a:rPr>
              <a:t> </a:t>
            </a:r>
          </a:p>
          <a:p>
            <a:pPr marL="0" indent="0">
              <a:buNone/>
            </a:pPr>
            <a:r>
              <a:rPr lang="en-US" b="0" i="0" dirty="0">
                <a:effectLst/>
                <a:latin typeface="Times New Roman" panose="02020603050405020304" pitchFamily="18" charset="0"/>
                <a:cs typeface="Times New Roman" panose="02020603050405020304" pitchFamily="18" charset="0"/>
              </a:rPr>
              <a:t>This is where team members first meet. It’s important for team leaders to facilitate the </a:t>
            </a:r>
            <a:r>
              <a:rPr lang="en-US" b="0" i="0" dirty="0">
                <a:solidFill>
                  <a:schemeClr val="accent5"/>
                </a:solidFill>
                <a:effectLst/>
                <a:latin typeface="Times New Roman" panose="02020603050405020304" pitchFamily="18" charset="0"/>
                <a:cs typeface="Times New Roman" panose="02020603050405020304" pitchFamily="18" charset="0"/>
              </a:rPr>
              <a:t>introductions and highlight </a:t>
            </a:r>
            <a:r>
              <a:rPr lang="en-US" b="0" i="0" dirty="0">
                <a:effectLst/>
                <a:latin typeface="Times New Roman" panose="02020603050405020304" pitchFamily="18" charset="0"/>
                <a:cs typeface="Times New Roman" panose="02020603050405020304" pitchFamily="18" charset="0"/>
              </a:rPr>
              <a:t>each </a:t>
            </a:r>
            <a:r>
              <a:rPr lang="en-US" b="0" i="0" dirty="0">
                <a:solidFill>
                  <a:schemeClr val="accent5"/>
                </a:solidFill>
                <a:effectLst/>
                <a:latin typeface="Times New Roman" panose="02020603050405020304" pitchFamily="18" charset="0"/>
                <a:cs typeface="Times New Roman" panose="02020603050405020304" pitchFamily="18" charset="0"/>
              </a:rPr>
              <a:t>person’s skills and background</a:t>
            </a:r>
            <a:r>
              <a:rPr lang="en-US" b="0" i="0" dirty="0">
                <a:effectLst/>
                <a:latin typeface="Times New Roman" panose="02020603050405020304" pitchFamily="18" charset="0"/>
                <a:cs typeface="Times New Roman" panose="02020603050405020304" pitchFamily="18" charset="0"/>
              </a:rPr>
              <a:t>. Team members are also given project details and the opportunity to organize their responsibilities. </a:t>
            </a:r>
          </a:p>
          <a:p>
            <a:pPr algn="l"/>
            <a:r>
              <a:rPr lang="en-US" b="1" i="0" u="none" strike="noStrike" baseline="0" dirty="0">
                <a:solidFill>
                  <a:schemeClr val="accent5"/>
                </a:solidFill>
                <a:latin typeface="Times New Roman" panose="02020603050405020304" pitchFamily="18" charset="0"/>
                <a:cs typeface="Times New Roman" panose="02020603050405020304" pitchFamily="18" charset="0"/>
              </a:rPr>
              <a:t>Why</a:t>
            </a:r>
            <a:r>
              <a:rPr lang="en-US" b="1" i="0" u="none" strike="noStrike" baseline="0" dirty="0">
                <a:solidFill>
                  <a:srgbClr val="000000"/>
                </a:solidFill>
                <a:latin typeface="Times New Roman" panose="02020603050405020304" pitchFamily="18" charset="0"/>
                <a:cs typeface="Times New Roman" panose="02020603050405020304" pitchFamily="18" charset="0"/>
              </a:rPr>
              <a:t> </a:t>
            </a:r>
            <a:r>
              <a:rPr lang="en-US" b="0" i="0" u="none" strike="noStrike" baseline="0" dirty="0">
                <a:solidFill>
                  <a:srgbClr val="000000"/>
                </a:solidFill>
                <a:latin typeface="Times New Roman" panose="02020603050405020304" pitchFamily="18" charset="0"/>
                <a:cs typeface="Times New Roman" panose="02020603050405020304" pitchFamily="18" charset="0"/>
              </a:rPr>
              <a:t>are we here? </a:t>
            </a:r>
          </a:p>
          <a:p>
            <a:pPr algn="l"/>
            <a:r>
              <a:rPr lang="en-US" b="1" i="0" u="none" strike="noStrike" baseline="0" dirty="0">
                <a:solidFill>
                  <a:schemeClr val="accent5"/>
                </a:solidFill>
                <a:latin typeface="Times New Roman" panose="02020603050405020304" pitchFamily="18" charset="0"/>
                <a:cs typeface="Times New Roman" panose="02020603050405020304" pitchFamily="18" charset="0"/>
              </a:rPr>
              <a:t>What</a:t>
            </a:r>
            <a:r>
              <a:rPr lang="en-US" b="1" i="0" u="none" strike="noStrike" baseline="0" dirty="0">
                <a:solidFill>
                  <a:srgbClr val="000000"/>
                </a:solidFill>
                <a:latin typeface="Times New Roman" panose="02020603050405020304" pitchFamily="18" charset="0"/>
                <a:cs typeface="Times New Roman" panose="02020603050405020304" pitchFamily="18" charset="0"/>
              </a:rPr>
              <a:t> </a:t>
            </a:r>
            <a:r>
              <a:rPr lang="en-US" b="0" i="0" u="none" strike="noStrike" baseline="0" dirty="0">
                <a:solidFill>
                  <a:srgbClr val="000000"/>
                </a:solidFill>
                <a:latin typeface="Times New Roman" panose="02020603050405020304" pitchFamily="18" charset="0"/>
                <a:cs typeface="Times New Roman" panose="02020603050405020304" pitchFamily="18" charset="0"/>
              </a:rPr>
              <a:t>are we doing?</a:t>
            </a:r>
          </a:p>
          <a:p>
            <a:pPr algn="l"/>
            <a:r>
              <a:rPr lang="en-US" b="0" i="0" u="none" strike="noStrike" baseline="0" dirty="0">
                <a:solidFill>
                  <a:srgbClr val="000000"/>
                </a:solidFill>
                <a:latin typeface="Times New Roman" panose="02020603050405020304" pitchFamily="18" charset="0"/>
                <a:cs typeface="Times New Roman" panose="02020603050405020304" pitchFamily="18" charset="0"/>
              </a:rPr>
              <a:t>What is our </a:t>
            </a:r>
            <a:r>
              <a:rPr lang="en-US" b="1" i="0" u="none" strike="noStrike" baseline="0" dirty="0">
                <a:solidFill>
                  <a:schemeClr val="accent5"/>
                </a:solidFill>
                <a:latin typeface="Times New Roman" panose="02020603050405020304" pitchFamily="18" charset="0"/>
                <a:cs typeface="Times New Roman" panose="02020603050405020304" pitchFamily="18" charset="0"/>
              </a:rPr>
              <a:t>goal</a:t>
            </a:r>
            <a:r>
              <a:rPr lang="en-US" b="0" i="0" u="none" strike="noStrike" baseline="0" dirty="0">
                <a:solidFill>
                  <a:srgbClr val="000000"/>
                </a:solidFill>
                <a:latin typeface="Times New Roman" panose="02020603050405020304" pitchFamily="18" charset="0"/>
                <a:cs typeface="Times New Roman" panose="02020603050405020304" pitchFamily="18" charset="0"/>
              </a:rPr>
              <a:t>, our </a:t>
            </a:r>
            <a:r>
              <a:rPr lang="en-US" b="1" i="0" u="none" strike="noStrike" baseline="0" dirty="0">
                <a:solidFill>
                  <a:schemeClr val="accent5"/>
                </a:solidFill>
                <a:latin typeface="Times New Roman" panose="02020603050405020304" pitchFamily="18" charset="0"/>
                <a:cs typeface="Times New Roman" panose="02020603050405020304" pitchFamily="18" charset="0"/>
              </a:rPr>
              <a:t>purpose</a:t>
            </a:r>
            <a:r>
              <a:rPr lang="en-US" b="0" i="0" u="none" strike="noStrike" baseline="0" dirty="0">
                <a:solidFill>
                  <a:srgbClr val="000000"/>
                </a:solidFill>
                <a:latin typeface="Times New Roman" panose="02020603050405020304" pitchFamily="18" charset="0"/>
                <a:cs typeface="Times New Roman" panose="02020603050405020304" pitchFamily="18" charset="0"/>
              </a:rPr>
              <a:t>?</a:t>
            </a:r>
            <a:endParaRPr lang="en-MY"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DAB2F2F3-DFCC-49F7-81DA-61A8BECC920E}"/>
              </a:ext>
            </a:extLst>
          </p:cNvPr>
          <p:cNvSpPr>
            <a:spLocks noGrp="1"/>
          </p:cNvSpPr>
          <p:nvPr>
            <p:ph type="title"/>
          </p:nvPr>
        </p:nvSpPr>
        <p:spPr>
          <a:xfrm>
            <a:off x="838200" y="365125"/>
            <a:ext cx="10515600" cy="1325563"/>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3304909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02DC63D-E56D-4270-BF0D-4F76CE85FF39}"/>
              </a:ext>
            </a:extLst>
          </p:cNvPr>
          <p:cNvSpPr>
            <a:spLocks noGrp="1"/>
          </p:cNvSpPr>
          <p:nvPr>
            <p:ph idx="1"/>
          </p:nvPr>
        </p:nvSpPr>
        <p:spPr/>
        <p:txBody>
          <a:bodyPr/>
          <a:lstStyle/>
          <a:p>
            <a:pPr marL="0" indent="0" algn="l">
              <a:lnSpc>
                <a:spcPct val="150000"/>
              </a:lnSpc>
              <a:buNone/>
            </a:pPr>
            <a:r>
              <a:rPr lang="en-US" sz="1800" b="1" i="0" u="none" strike="noStrike" baseline="0" dirty="0">
                <a:solidFill>
                  <a:schemeClr val="accent5"/>
                </a:solidFill>
                <a:latin typeface="Georgia" panose="02040502050405020303" pitchFamily="18" charset="0"/>
              </a:rPr>
              <a:t>Storming:</a:t>
            </a:r>
          </a:p>
          <a:p>
            <a:pPr algn="l">
              <a:lnSpc>
                <a:spcPct val="150000"/>
              </a:lnSpc>
            </a:pPr>
            <a:r>
              <a:rPr lang="en-US" sz="1800" b="0" i="0" u="none" strike="noStrike" baseline="0" dirty="0">
                <a:solidFill>
                  <a:srgbClr val="000000"/>
                </a:solidFill>
                <a:latin typeface="Georgia" panose="02040502050405020303" pitchFamily="18" charset="0"/>
              </a:rPr>
              <a:t>Once established - period of </a:t>
            </a:r>
            <a:r>
              <a:rPr lang="en-US" sz="1800" b="1" i="0" u="none" strike="noStrike" baseline="0" dirty="0">
                <a:solidFill>
                  <a:schemeClr val="accent5"/>
                </a:solidFill>
                <a:latin typeface="Georgia,Bold"/>
              </a:rPr>
              <a:t>struggle for positions </a:t>
            </a:r>
            <a:r>
              <a:rPr lang="en-US" sz="1800" b="0" i="0" u="none" strike="noStrike" baseline="0" dirty="0">
                <a:solidFill>
                  <a:srgbClr val="000000"/>
                </a:solidFill>
                <a:latin typeface="Georgia" panose="02040502050405020303" pitchFamily="18" charset="0"/>
              </a:rPr>
              <a:t>and </a:t>
            </a:r>
            <a:r>
              <a:rPr lang="en-MY" sz="1800" b="0" i="0" u="none" strike="noStrike" baseline="0" dirty="0">
                <a:solidFill>
                  <a:srgbClr val="000000"/>
                </a:solidFill>
                <a:latin typeface="Georgia" panose="02040502050405020303" pitchFamily="18" charset="0"/>
              </a:rPr>
              <a:t>roles within the group.</a:t>
            </a:r>
          </a:p>
          <a:p>
            <a:pPr algn="l">
              <a:lnSpc>
                <a:spcPct val="150000"/>
              </a:lnSpc>
            </a:pPr>
            <a:r>
              <a:rPr lang="en-US" sz="1800" b="0" i="0" u="none" strike="noStrike" baseline="0" dirty="0">
                <a:solidFill>
                  <a:srgbClr val="000000"/>
                </a:solidFill>
                <a:latin typeface="Georgia" panose="02040502050405020303" pitchFamily="18" charset="0"/>
              </a:rPr>
              <a:t>Some seek out and </a:t>
            </a:r>
            <a:r>
              <a:rPr lang="en-US" sz="1800" b="1" i="0" u="none" strike="noStrike" baseline="0" dirty="0">
                <a:solidFill>
                  <a:schemeClr val="accent5"/>
                </a:solidFill>
                <a:latin typeface="Georgia,Bold"/>
              </a:rPr>
              <a:t>compete</a:t>
            </a:r>
            <a:r>
              <a:rPr lang="en-US" sz="1800" b="1" i="0" u="none" strike="noStrike" baseline="0" dirty="0">
                <a:solidFill>
                  <a:srgbClr val="000000"/>
                </a:solidFill>
                <a:latin typeface="Georgia,Bold"/>
              </a:rPr>
              <a:t> </a:t>
            </a:r>
            <a:r>
              <a:rPr lang="en-US" sz="1800" b="0" i="0" u="none" strike="noStrike" baseline="0" dirty="0">
                <a:solidFill>
                  <a:srgbClr val="000000"/>
                </a:solidFill>
                <a:latin typeface="Georgia" panose="02040502050405020303" pitchFamily="18" charset="0"/>
              </a:rPr>
              <a:t>for status, </a:t>
            </a:r>
            <a:r>
              <a:rPr lang="en-US" sz="1800" b="1" i="0" u="none" strike="noStrike" baseline="0" dirty="0">
                <a:solidFill>
                  <a:schemeClr val="accent5"/>
                </a:solidFill>
                <a:latin typeface="Georgia,Bold"/>
              </a:rPr>
              <a:t>control</a:t>
            </a:r>
            <a:r>
              <a:rPr lang="en-US" sz="1800" b="0" i="0" u="none" strike="noStrike" baseline="0" dirty="0">
                <a:solidFill>
                  <a:schemeClr val="accent5"/>
                </a:solidFill>
                <a:latin typeface="Georgia" panose="02040502050405020303" pitchFamily="18" charset="0"/>
              </a:rPr>
              <a:t>, </a:t>
            </a:r>
            <a:r>
              <a:rPr lang="en-MY" sz="1800" b="1" i="0" u="none" strike="noStrike" baseline="0" dirty="0">
                <a:solidFill>
                  <a:schemeClr val="accent5"/>
                </a:solidFill>
                <a:latin typeface="Georgia,Bold"/>
              </a:rPr>
              <a:t>authority </a:t>
            </a:r>
            <a:r>
              <a:rPr lang="en-MY" sz="1800" b="0" i="0" u="none" strike="noStrike" baseline="0" dirty="0">
                <a:solidFill>
                  <a:srgbClr val="000000"/>
                </a:solidFill>
                <a:latin typeface="Georgia" panose="02040502050405020303" pitchFamily="18" charset="0"/>
              </a:rPr>
              <a:t>and influence.</a:t>
            </a:r>
          </a:p>
          <a:p>
            <a:pPr marL="457200" lvl="1" indent="0">
              <a:lnSpc>
                <a:spcPct val="150000"/>
              </a:lnSpc>
              <a:buNone/>
            </a:pPr>
            <a:r>
              <a:rPr lang="en-US" sz="1400" b="0" i="0" u="none" strike="noStrike" baseline="0" dirty="0">
                <a:solidFill>
                  <a:srgbClr val="A14DA4"/>
                </a:solidFill>
                <a:latin typeface="Wingdings" panose="05000000000000000000" pitchFamily="2" charset="2"/>
              </a:rPr>
              <a:t> </a:t>
            </a:r>
            <a:r>
              <a:rPr lang="en-US" sz="1800" b="1" i="0" u="none" strike="noStrike" baseline="0" dirty="0">
                <a:solidFill>
                  <a:schemeClr val="accent5"/>
                </a:solidFill>
                <a:latin typeface="Georgia,Bold"/>
              </a:rPr>
              <a:t>Inner conflict</a:t>
            </a:r>
            <a:r>
              <a:rPr lang="en-US" sz="1800" b="0" i="0" u="none" strike="noStrike" baseline="0" dirty="0">
                <a:solidFill>
                  <a:srgbClr val="000000"/>
                </a:solidFill>
                <a:latin typeface="Georgia" panose="02040502050405020303" pitchFamily="18" charset="0"/>
              </a:rPr>
              <a:t>. A period of "testing-out" the leaders.</a:t>
            </a:r>
          </a:p>
          <a:p>
            <a:pPr marL="457200" lvl="1" indent="0">
              <a:lnSpc>
                <a:spcPct val="150000"/>
              </a:lnSpc>
              <a:buNone/>
            </a:pPr>
            <a:r>
              <a:rPr lang="en-US" sz="1800" b="0" i="0" u="none" strike="noStrike" baseline="0" dirty="0">
                <a:solidFill>
                  <a:srgbClr val="A14DA4"/>
                </a:solidFill>
                <a:latin typeface="Wingdings" panose="05000000000000000000" pitchFamily="2" charset="2"/>
              </a:rPr>
              <a:t> </a:t>
            </a:r>
            <a:r>
              <a:rPr lang="en-US" sz="1800" b="0" i="0" u="none" strike="noStrike" baseline="0" dirty="0">
                <a:solidFill>
                  <a:srgbClr val="000000"/>
                </a:solidFill>
                <a:latin typeface="Georgia" panose="02040502050405020303" pitchFamily="18" charset="0"/>
              </a:rPr>
              <a:t>Disagreements and </a:t>
            </a:r>
            <a:r>
              <a:rPr lang="en-US" sz="1800" b="1" i="0" u="none" strike="noStrike" baseline="0" dirty="0">
                <a:solidFill>
                  <a:schemeClr val="accent5"/>
                </a:solidFill>
                <a:latin typeface="Georgia,Bold"/>
              </a:rPr>
              <a:t>arguments</a:t>
            </a:r>
            <a:r>
              <a:rPr lang="en-US" sz="1800" b="1" i="0" u="none" strike="noStrike" baseline="0" dirty="0">
                <a:solidFill>
                  <a:srgbClr val="000000"/>
                </a:solidFill>
                <a:latin typeface="Georgia,Bold"/>
              </a:rPr>
              <a:t> </a:t>
            </a:r>
            <a:r>
              <a:rPr lang="en-US" sz="1800" b="0" i="0" u="none" strike="noStrike" baseline="0" dirty="0">
                <a:solidFill>
                  <a:srgbClr val="000000"/>
                </a:solidFill>
                <a:latin typeface="Georgia" panose="02040502050405020303" pitchFamily="18" charset="0"/>
              </a:rPr>
              <a:t>arise, are felled and </a:t>
            </a:r>
            <a:r>
              <a:rPr lang="en-MY" sz="1800" b="0" i="0" u="none" strike="noStrike" baseline="0" dirty="0">
                <a:solidFill>
                  <a:srgbClr val="000000"/>
                </a:solidFill>
                <a:latin typeface="Georgia" panose="02040502050405020303" pitchFamily="18" charset="0"/>
              </a:rPr>
              <a:t>manufactured.</a:t>
            </a:r>
          </a:p>
          <a:p>
            <a:pPr algn="l">
              <a:lnSpc>
                <a:spcPct val="150000"/>
              </a:lnSpc>
            </a:pPr>
            <a:r>
              <a:rPr lang="en-US" sz="1800" b="0" i="0" u="none" strike="noStrike" baseline="0" dirty="0">
                <a:solidFill>
                  <a:srgbClr val="000000"/>
                </a:solidFill>
                <a:latin typeface="Georgia" panose="02040502050405020303" pitchFamily="18" charset="0"/>
              </a:rPr>
              <a:t>In the end, </a:t>
            </a:r>
            <a:r>
              <a:rPr lang="en-US" sz="1800" b="1" i="0" u="none" strike="noStrike" baseline="0" dirty="0">
                <a:solidFill>
                  <a:schemeClr val="accent5"/>
                </a:solidFill>
                <a:latin typeface="Georgia,Bold"/>
              </a:rPr>
              <a:t>roles</a:t>
            </a:r>
            <a:r>
              <a:rPr lang="en-US" sz="1800" b="1" i="0" u="none" strike="noStrike" baseline="0" dirty="0">
                <a:solidFill>
                  <a:srgbClr val="000000"/>
                </a:solidFill>
                <a:latin typeface="Georgia,Bold"/>
              </a:rPr>
              <a:t> </a:t>
            </a:r>
            <a:r>
              <a:rPr lang="en-US" sz="1800" b="0" i="0" u="none" strike="noStrike" baseline="0" dirty="0">
                <a:solidFill>
                  <a:srgbClr val="000000"/>
                </a:solidFill>
                <a:latin typeface="Georgia" panose="02040502050405020303" pitchFamily="18" charset="0"/>
              </a:rPr>
              <a:t>are eventually </a:t>
            </a:r>
            <a:r>
              <a:rPr lang="en-US" sz="1800" b="1" i="0" u="none" strike="noStrike" baseline="0" dirty="0">
                <a:solidFill>
                  <a:schemeClr val="accent5"/>
                </a:solidFill>
                <a:latin typeface="Georgia,Bold"/>
              </a:rPr>
              <a:t>allocated</a:t>
            </a:r>
            <a:r>
              <a:rPr lang="en-US" sz="1800" b="0" i="0" u="none" strike="noStrike" baseline="0" dirty="0">
                <a:solidFill>
                  <a:srgbClr val="000000"/>
                </a:solidFill>
                <a:latin typeface="Georgia" panose="02040502050405020303" pitchFamily="18" charset="0"/>
              </a:rPr>
              <a:t>.</a:t>
            </a:r>
          </a:p>
          <a:p>
            <a:pPr algn="l">
              <a:lnSpc>
                <a:spcPct val="150000"/>
              </a:lnSpc>
            </a:pPr>
            <a:r>
              <a:rPr lang="en-US" sz="1800" b="0" i="0" u="none" strike="noStrike" baseline="0" dirty="0">
                <a:solidFill>
                  <a:srgbClr val="000000"/>
                </a:solidFill>
                <a:latin typeface="Georgia" panose="02040502050405020303" pitchFamily="18" charset="0"/>
              </a:rPr>
              <a:t>The initial leaders may not survive this period: it is the most </a:t>
            </a:r>
            <a:r>
              <a:rPr lang="en-US" sz="1800" b="1" i="0" u="none" strike="noStrike" baseline="0" dirty="0">
                <a:solidFill>
                  <a:schemeClr val="accent5"/>
                </a:solidFill>
                <a:latin typeface="Georgia,Bold"/>
              </a:rPr>
              <a:t>uncomfortable phase </a:t>
            </a:r>
            <a:r>
              <a:rPr lang="en-US" sz="1800" b="0" i="0" u="none" strike="noStrike" baseline="0" dirty="0">
                <a:solidFill>
                  <a:srgbClr val="000000"/>
                </a:solidFill>
                <a:latin typeface="Georgia" panose="02040502050405020303" pitchFamily="18" charset="0"/>
              </a:rPr>
              <a:t>of the group's life.</a:t>
            </a:r>
            <a:endParaRPr lang="en-MY" dirty="0"/>
          </a:p>
        </p:txBody>
      </p:sp>
      <p:sp>
        <p:nvSpPr>
          <p:cNvPr id="4" name="Title 1">
            <a:extLst>
              <a:ext uri="{FF2B5EF4-FFF2-40B4-BE49-F238E27FC236}">
                <a16:creationId xmlns:a16="http://schemas.microsoft.com/office/drawing/2014/main" xmlns="" id="{483D7661-90E3-47B7-A449-17F62C01A099}"/>
              </a:ext>
            </a:extLst>
          </p:cNvPr>
          <p:cNvSpPr>
            <a:spLocks noGrp="1"/>
          </p:cNvSpPr>
          <p:nvPr>
            <p:ph type="title"/>
          </p:nvPr>
        </p:nvSpPr>
        <p:spPr>
          <a:xfrm>
            <a:off x="838200" y="338138"/>
            <a:ext cx="10515600" cy="1325562"/>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2445814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C019124-74BB-4402-B877-DF081CFCEE68}"/>
              </a:ext>
            </a:extLst>
          </p:cNvPr>
          <p:cNvSpPr>
            <a:spLocks noGrp="1"/>
          </p:cNvSpPr>
          <p:nvPr>
            <p:ph idx="1"/>
          </p:nvPr>
        </p:nvSpPr>
        <p:spPr/>
        <p:txBody>
          <a:bodyPr>
            <a:normAutofit/>
          </a:bodyPr>
          <a:lstStyle/>
          <a:p>
            <a:r>
              <a:rPr lang="en-US" dirty="0"/>
              <a:t>Norming</a:t>
            </a:r>
          </a:p>
          <a:p>
            <a:pPr marL="0" indent="0">
              <a:buNone/>
            </a:pPr>
            <a:r>
              <a:rPr lang="en-US" dirty="0"/>
              <a:t>Here the team starts to determine roles and responsibilities, sets and agrees on goals, develops operating guidelines for team functioning in their meetings and daily tasks, and determines the level of individual commitment needed to achieve the goals of the team.</a:t>
            </a:r>
          </a:p>
          <a:p>
            <a:pPr marL="0" indent="0">
              <a:buNone/>
            </a:pPr>
            <a:r>
              <a:rPr lang="en-US" dirty="0"/>
              <a:t> Key tasks at this stage are: </a:t>
            </a:r>
          </a:p>
          <a:p>
            <a:r>
              <a:rPr lang="en-US" dirty="0"/>
              <a:t>to establish the tasks and roles of team members; </a:t>
            </a:r>
          </a:p>
          <a:p>
            <a:r>
              <a:rPr lang="en-US" dirty="0"/>
              <a:t>to establish the mechanisms of communication; and </a:t>
            </a:r>
          </a:p>
          <a:p>
            <a:r>
              <a:rPr lang="en-US" dirty="0"/>
              <a:t>to determine leadership and decision-making process. </a:t>
            </a:r>
            <a:endParaRPr lang="en-MY" dirty="0"/>
          </a:p>
        </p:txBody>
      </p:sp>
      <p:sp>
        <p:nvSpPr>
          <p:cNvPr id="4" name="Title 1">
            <a:extLst>
              <a:ext uri="{FF2B5EF4-FFF2-40B4-BE49-F238E27FC236}">
                <a16:creationId xmlns:a16="http://schemas.microsoft.com/office/drawing/2014/main" xmlns="" id="{41BB263E-DD0C-451D-8008-921DA9AE89F4}"/>
              </a:ext>
            </a:extLst>
          </p:cNvPr>
          <p:cNvSpPr>
            <a:spLocks noGrp="1"/>
          </p:cNvSpPr>
          <p:nvPr>
            <p:ph type="title"/>
          </p:nvPr>
        </p:nvSpPr>
        <p:spPr>
          <a:xfrm>
            <a:off x="838200" y="365125"/>
            <a:ext cx="10515600" cy="1325563"/>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3076014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201EBB7-285E-45B0-A13F-11D94C1F7B8A}"/>
              </a:ext>
            </a:extLst>
          </p:cNvPr>
          <p:cNvSpPr>
            <a:spLocks noGrp="1"/>
          </p:cNvSpPr>
          <p:nvPr>
            <p:ph idx="1"/>
          </p:nvPr>
        </p:nvSpPr>
        <p:spPr/>
        <p:txBody>
          <a:bodyPr/>
          <a:lstStyle/>
          <a:p>
            <a:pPr marL="0" indent="0">
              <a:buNone/>
            </a:pPr>
            <a:r>
              <a:rPr lang="en-US" dirty="0">
                <a:solidFill>
                  <a:schemeClr val="accent5"/>
                </a:solidFill>
              </a:rPr>
              <a:t>Performing. </a:t>
            </a:r>
          </a:p>
          <a:p>
            <a:pPr marL="0" indent="0">
              <a:buNone/>
            </a:pPr>
            <a:r>
              <a:rPr lang="en-US" dirty="0"/>
              <a:t>Once teams have reached this level, they are </a:t>
            </a:r>
            <a:r>
              <a:rPr lang="en-US" dirty="0" smtClean="0"/>
              <a:t>well-equipped </a:t>
            </a:r>
            <a:r>
              <a:rPr lang="en-US" dirty="0"/>
              <a:t>machines. The key task at this stage is to maintain effective mechanisms for </a:t>
            </a:r>
          </a:p>
          <a:p>
            <a:pPr marL="514350" indent="-514350">
              <a:buAutoNum type="arabicParenBoth"/>
            </a:pPr>
            <a:r>
              <a:rPr lang="en-US" dirty="0"/>
              <a:t>continued communication, </a:t>
            </a:r>
          </a:p>
          <a:p>
            <a:pPr marL="514350" indent="-514350">
              <a:buAutoNum type="arabicParenBoth"/>
            </a:pPr>
            <a:r>
              <a:rPr lang="en-US" dirty="0"/>
              <a:t> conflict resolution,</a:t>
            </a:r>
          </a:p>
          <a:p>
            <a:pPr marL="514350" indent="-514350">
              <a:buAutoNum type="arabicParenBoth"/>
            </a:pPr>
            <a:r>
              <a:rPr lang="en-US" dirty="0"/>
              <a:t> continued goal and role re-evaluation,</a:t>
            </a:r>
          </a:p>
          <a:p>
            <a:pPr marL="514350" indent="-514350">
              <a:buAutoNum type="arabicParenBoth"/>
            </a:pPr>
            <a:r>
              <a:rPr lang="en-US" dirty="0"/>
              <a:t> evaluation of outcomes of team functioning, and</a:t>
            </a:r>
          </a:p>
          <a:p>
            <a:pPr marL="514350" indent="-514350">
              <a:buAutoNum type="arabicParenBoth"/>
            </a:pPr>
            <a:r>
              <a:rPr lang="en-US" dirty="0"/>
              <a:t> making the appropriate adjustments to the team</a:t>
            </a:r>
            <a:endParaRPr lang="en-MY" dirty="0"/>
          </a:p>
        </p:txBody>
      </p:sp>
      <p:sp>
        <p:nvSpPr>
          <p:cNvPr id="4" name="Title 1">
            <a:extLst>
              <a:ext uri="{FF2B5EF4-FFF2-40B4-BE49-F238E27FC236}">
                <a16:creationId xmlns:a16="http://schemas.microsoft.com/office/drawing/2014/main" xmlns="" id="{A92701D9-791E-401A-93AA-89B0D5CEDAF9}"/>
              </a:ext>
            </a:extLst>
          </p:cNvPr>
          <p:cNvSpPr>
            <a:spLocks noGrp="1"/>
          </p:cNvSpPr>
          <p:nvPr>
            <p:ph type="title"/>
          </p:nvPr>
        </p:nvSpPr>
        <p:spPr>
          <a:xfrm>
            <a:off x="838200" y="365125"/>
            <a:ext cx="10515600" cy="1325563"/>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838719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09AB710-8DBD-41EC-B016-07A4B3F67D3C}"/>
              </a:ext>
            </a:extLst>
          </p:cNvPr>
          <p:cNvSpPr>
            <a:spLocks noGrp="1"/>
          </p:cNvSpPr>
          <p:nvPr>
            <p:ph idx="1"/>
          </p:nvPr>
        </p:nvSpPr>
        <p:spPr/>
        <p:txBody>
          <a:bodyPr>
            <a:normAutofit fontScale="77500" lnSpcReduction="20000"/>
          </a:bodyPr>
          <a:lstStyle/>
          <a:p>
            <a:pPr algn="l"/>
            <a:r>
              <a:rPr lang="en-US" b="0" i="0" dirty="0">
                <a:solidFill>
                  <a:schemeClr val="accent5"/>
                </a:solidFill>
                <a:effectLst/>
                <a:latin typeface="Times New Roman" panose="02020603050405020304" pitchFamily="18" charset="0"/>
                <a:cs typeface="Times New Roman" panose="02020603050405020304" pitchFamily="18" charset="0"/>
              </a:rPr>
              <a:t>Adjourning — Success! You made it</a:t>
            </a:r>
          </a:p>
          <a:p>
            <a:pPr marL="0" indent="0" algn="l">
              <a:buNone/>
            </a:pPr>
            <a:r>
              <a:rPr lang="en-US" b="0" i="0" dirty="0">
                <a:effectLst/>
                <a:latin typeface="Times New Roman" panose="02020603050405020304" pitchFamily="18" charset="0"/>
                <a:cs typeface="Times New Roman" panose="02020603050405020304" pitchFamily="18" charset="0"/>
              </a:rPr>
              <a:t>This is the time for your team to finally step back to see what they’ve accomplished. Two things happen at this point:</a:t>
            </a:r>
          </a:p>
          <a:p>
            <a:pPr marL="0" indent="0" algn="l">
              <a:buNone/>
            </a:pPr>
            <a:endParaRPr lang="en-US" b="0" i="0" dirty="0">
              <a:effectLst/>
              <a:latin typeface="Times New Roman" panose="02020603050405020304" pitchFamily="18" charset="0"/>
              <a:cs typeface="Times New Roman" panose="02020603050405020304" pitchFamily="18" charset="0"/>
            </a:endParaRPr>
          </a:p>
          <a:p>
            <a:pPr lvl="1"/>
            <a:r>
              <a:rPr lang="en-US" b="0" i="0" dirty="0">
                <a:effectLst/>
                <a:latin typeface="Times New Roman" panose="02020603050405020304" pitchFamily="18" charset="0"/>
                <a:cs typeface="Times New Roman" panose="02020603050405020304" pitchFamily="18" charset="0"/>
              </a:rPr>
              <a:t>Teams review the last few weeks or months to celebrate their successes.</a:t>
            </a:r>
          </a:p>
          <a:p>
            <a:pPr lvl="1"/>
            <a:r>
              <a:rPr lang="en-US" b="0" i="0" dirty="0">
                <a:effectLst/>
                <a:latin typeface="Times New Roman" panose="02020603050405020304" pitchFamily="18" charset="0"/>
                <a:cs typeface="Times New Roman" panose="02020603050405020304" pitchFamily="18" charset="0"/>
              </a:rPr>
              <a:t>Teams take an honest look at what didn’t go well and pinpoint where there’s room for improvement.</a:t>
            </a:r>
          </a:p>
          <a:p>
            <a:pPr marL="0" indent="0" algn="l">
              <a:buNone/>
            </a:pPr>
            <a:r>
              <a:rPr lang="en-US" b="0" i="0" dirty="0">
                <a:effectLst/>
                <a:latin typeface="Times New Roman" panose="02020603050405020304" pitchFamily="18" charset="0"/>
                <a:cs typeface="Times New Roman" panose="02020603050405020304" pitchFamily="18" charset="0"/>
              </a:rPr>
              <a:t>At the end of the project, set up an online meeting where team members come together to discuss the entire project, from the successes to the frustrations. Ask them to prepare examples beforehand outlining what worked and what didn’t, and then give each person five minutes to share their thoughts. Document the comments so that it’s easy to see which trends emerge and what changes need to be made going forward.</a:t>
            </a:r>
          </a:p>
          <a:p>
            <a:pPr marL="0" indent="0">
              <a:buNone/>
            </a:pP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MY"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xmlns="" id="{F1E43B59-9447-4321-8096-C75A176C5E09}"/>
              </a:ext>
            </a:extLst>
          </p:cNvPr>
          <p:cNvSpPr>
            <a:spLocks noGrp="1"/>
          </p:cNvSpPr>
          <p:nvPr>
            <p:ph type="title"/>
          </p:nvPr>
        </p:nvSpPr>
        <p:spPr>
          <a:xfrm>
            <a:off x="838200" y="365125"/>
            <a:ext cx="10515600" cy="1325563"/>
          </a:xfrm>
        </p:spPr>
        <p:txBody>
          <a:bodyPr/>
          <a:lstStyle/>
          <a:p>
            <a:r>
              <a:rPr lang="en-US" sz="4400" kern="100" dirty="0">
                <a:effectLst/>
                <a:latin typeface="Times New Roman" panose="02020603050405020304" pitchFamily="18" charset="0"/>
                <a:ea typeface="Trebuchet MS" panose="020B0603020202020204" pitchFamily="34" charset="0"/>
              </a:rPr>
              <a:t>Stages of Team Development</a:t>
            </a:r>
            <a:endParaRPr lang="en-MY" dirty="0"/>
          </a:p>
        </p:txBody>
      </p:sp>
    </p:spTree>
    <p:extLst>
      <p:ext uri="{BB962C8B-B14F-4D97-AF65-F5344CB8AC3E}">
        <p14:creationId xmlns:p14="http://schemas.microsoft.com/office/powerpoint/2010/main" val="3266197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D4E996-CD41-4212-955F-19384D7757FE}"/>
              </a:ext>
            </a:extLst>
          </p:cNvPr>
          <p:cNvSpPr>
            <a:spLocks noGrp="1"/>
          </p:cNvSpPr>
          <p:nvPr>
            <p:ph type="title"/>
          </p:nvPr>
        </p:nvSpPr>
        <p:spPr/>
        <p:txBody>
          <a:bodyPr>
            <a:normAutofit/>
          </a:bodyPr>
          <a:lstStyle/>
          <a:p>
            <a:r>
              <a:rPr lang="en-US" i="0" dirty="0">
                <a:solidFill>
                  <a:srgbClr val="2B2B2B"/>
                </a:solidFill>
                <a:effectLst/>
                <a:latin typeface="Times New Roman" panose="02020603050405020304" pitchFamily="18" charset="0"/>
                <a:cs typeface="Times New Roman" panose="02020603050405020304" pitchFamily="18" charset="0"/>
              </a:rPr>
              <a:t>Barriers to Effective Team Building</a:t>
            </a:r>
            <a:endParaRPr lang="en-MY"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DFE535B4-C2FC-45A4-BFBB-F05E31B7B80A}"/>
              </a:ext>
            </a:extLst>
          </p:cNvPr>
          <p:cNvSpPr>
            <a:spLocks noGrp="1"/>
          </p:cNvSpPr>
          <p:nvPr>
            <p:ph idx="1"/>
          </p:nvPr>
        </p:nvSpPr>
        <p:spPr/>
        <p:txBody>
          <a:bodyPr/>
          <a:lstStyle/>
          <a:p>
            <a:r>
              <a:rPr lang="en-US" b="1" i="0" dirty="0">
                <a:solidFill>
                  <a:srgbClr val="2B2B2B"/>
                </a:solidFill>
                <a:effectLst/>
                <a:latin typeface="Lato"/>
              </a:rPr>
              <a:t> A lack of team purpose and tasks.</a:t>
            </a:r>
            <a:r>
              <a:rPr lang="en-US" b="0" i="0" dirty="0">
                <a:solidFill>
                  <a:srgbClr val="2B2B2B"/>
                </a:solidFill>
                <a:effectLst/>
                <a:latin typeface="Lato"/>
              </a:rPr>
              <a:t> </a:t>
            </a:r>
          </a:p>
          <a:p>
            <a:pPr marL="0" indent="0">
              <a:buNone/>
            </a:pPr>
            <a:r>
              <a:rPr lang="en-US" b="0" i="0" dirty="0">
                <a:solidFill>
                  <a:srgbClr val="2B2B2B"/>
                </a:solidFill>
                <a:effectLst/>
                <a:latin typeface="Lato"/>
              </a:rPr>
              <a:t>“The only point of having a team is to get a job done, a task completed, a set of objectives met. Moreover, the tasks that teams perform should be tasks that are best performed by a team” (West, 2008, p. 308).</a:t>
            </a:r>
            <a:endParaRPr lang="en-MY" dirty="0"/>
          </a:p>
        </p:txBody>
      </p:sp>
    </p:spTree>
    <p:extLst>
      <p:ext uri="{BB962C8B-B14F-4D97-AF65-F5344CB8AC3E}">
        <p14:creationId xmlns:p14="http://schemas.microsoft.com/office/powerpoint/2010/main" val="2098844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4EEF175-31E2-42A7-9607-64D3FF9F62CC}"/>
              </a:ext>
            </a:extLst>
          </p:cNvPr>
          <p:cNvSpPr>
            <a:spLocks noGrp="1"/>
          </p:cNvSpPr>
          <p:nvPr>
            <p:ph idx="1"/>
          </p:nvPr>
        </p:nvSpPr>
        <p:spPr/>
        <p:txBody>
          <a:bodyPr>
            <a:normAutofit/>
          </a:bodyPr>
          <a:lstStyle/>
          <a:p>
            <a:pPr algn="l" fontAlgn="base"/>
            <a:r>
              <a:rPr lang="en-US" b="1" i="0" dirty="0">
                <a:solidFill>
                  <a:srgbClr val="2B2B2B"/>
                </a:solidFill>
                <a:effectLst/>
                <a:latin typeface="inherit"/>
              </a:rPr>
              <a:t>A lack of freedom and responsibility.</a:t>
            </a:r>
            <a:r>
              <a:rPr lang="en-US" b="0" i="0" dirty="0">
                <a:solidFill>
                  <a:srgbClr val="2B2B2B"/>
                </a:solidFill>
                <a:effectLst/>
                <a:latin typeface="Lato"/>
              </a:rPr>
              <a:t> Creating a team and failing to give them the freedom and authority to act is like teaching a person to ride a bicycle, giving them a bike, but then telling them they can ride only in the house (West, 2008).</a:t>
            </a:r>
          </a:p>
          <a:p>
            <a:pPr algn="l" fontAlgn="base"/>
            <a:r>
              <a:rPr lang="en-US" b="1" i="0" dirty="0">
                <a:solidFill>
                  <a:srgbClr val="2B2B2B"/>
                </a:solidFill>
                <a:effectLst/>
                <a:latin typeface="inherit"/>
              </a:rPr>
              <a:t>3. Too many members or the wrong members.</a:t>
            </a:r>
            <a:r>
              <a:rPr lang="en-US" b="0" i="0" dirty="0">
                <a:solidFill>
                  <a:srgbClr val="2B2B2B"/>
                </a:solidFill>
                <a:effectLst/>
                <a:latin typeface="Lato"/>
              </a:rPr>
              <a:t> “Teams should be as small as possible to get the job done and no larger than about 6 to 8 people” (West, 2008, p. 308). It’s also crucial that “teams have the members with the skills they need to get the job done” (West, 2008, p. 308).</a:t>
            </a:r>
          </a:p>
          <a:p>
            <a:endParaRPr lang="en-MY" dirty="0"/>
          </a:p>
        </p:txBody>
      </p:sp>
      <p:sp>
        <p:nvSpPr>
          <p:cNvPr id="4" name="Title 1">
            <a:extLst>
              <a:ext uri="{FF2B5EF4-FFF2-40B4-BE49-F238E27FC236}">
                <a16:creationId xmlns:a16="http://schemas.microsoft.com/office/drawing/2014/main" xmlns="" id="{A6CC3492-3C12-4BAA-8EE1-70820210A6D5}"/>
              </a:ext>
            </a:extLst>
          </p:cNvPr>
          <p:cNvSpPr>
            <a:spLocks noGrp="1"/>
          </p:cNvSpPr>
          <p:nvPr>
            <p:ph type="title"/>
          </p:nvPr>
        </p:nvSpPr>
        <p:spPr>
          <a:xfrm>
            <a:off x="838200" y="365125"/>
            <a:ext cx="10515600" cy="1325563"/>
          </a:xfrm>
        </p:spPr>
        <p:txBody>
          <a:bodyPr>
            <a:normAutofit/>
          </a:bodyPr>
          <a:lstStyle/>
          <a:p>
            <a:r>
              <a:rPr lang="en-US" i="0" dirty="0">
                <a:solidFill>
                  <a:srgbClr val="2B2B2B"/>
                </a:solidFill>
                <a:effectLst/>
                <a:latin typeface="Times New Roman" panose="02020603050405020304" pitchFamily="18" charset="0"/>
                <a:cs typeface="Times New Roman" panose="02020603050405020304" pitchFamily="18" charset="0"/>
              </a:rPr>
              <a:t>Barriers to Effective Team Building</a:t>
            </a:r>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1799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74D3A62-2A11-40E7-8F74-1DCF0984BBA5}"/>
              </a:ext>
            </a:extLst>
          </p:cNvPr>
          <p:cNvSpPr>
            <a:spLocks noGrp="1"/>
          </p:cNvSpPr>
          <p:nvPr>
            <p:ph idx="1"/>
          </p:nvPr>
        </p:nvSpPr>
        <p:spPr/>
        <p:txBody>
          <a:bodyPr>
            <a:normAutofit lnSpcReduction="10000"/>
          </a:bodyPr>
          <a:lstStyle/>
          <a:p>
            <a:pPr algn="l" fontAlgn="base"/>
            <a:r>
              <a:rPr lang="en-US" b="1" i="0" dirty="0">
                <a:solidFill>
                  <a:srgbClr val="2B2B2B"/>
                </a:solidFill>
                <a:effectLst/>
                <a:latin typeface="inherit"/>
              </a:rPr>
              <a:t>4. An individual-focused organization.</a:t>
            </a:r>
            <a:r>
              <a:rPr lang="en-US" b="0" i="0" dirty="0">
                <a:solidFill>
                  <a:srgbClr val="2B2B2B"/>
                </a:solidFill>
                <a:effectLst/>
                <a:latin typeface="Lato"/>
              </a:rPr>
              <a:t> “Teams are set up in many places in the organization but all of the systems are geared towards managing individuals. . .Creating team-based organizations means radically altering the structure, the support systems, and the culture” (West, 2008, p. 309).</a:t>
            </a:r>
          </a:p>
          <a:p>
            <a:pPr algn="l" fontAlgn="base"/>
            <a:r>
              <a:rPr lang="en-US" b="1" i="0" dirty="0">
                <a:solidFill>
                  <a:srgbClr val="2B2B2B"/>
                </a:solidFill>
                <a:effectLst/>
                <a:latin typeface="inherit"/>
              </a:rPr>
              <a:t>5. Team processes are neglected rather than developed.</a:t>
            </a:r>
            <a:r>
              <a:rPr lang="en-US" b="0" i="0" dirty="0">
                <a:solidFill>
                  <a:srgbClr val="2B2B2B"/>
                </a:solidFill>
                <a:effectLst/>
                <a:latin typeface="Lato"/>
              </a:rPr>
              <a:t> Teams need to have clear objectives, meet regularly, participate in constructive debate about how to best serve client needs, share information with one another, coordinate their work, support each other, and review their performance and think about ways to improve it (West, 2008).</a:t>
            </a:r>
          </a:p>
          <a:p>
            <a:endParaRPr lang="en-MY" dirty="0"/>
          </a:p>
        </p:txBody>
      </p:sp>
      <p:sp>
        <p:nvSpPr>
          <p:cNvPr id="6" name="Title 1">
            <a:extLst>
              <a:ext uri="{FF2B5EF4-FFF2-40B4-BE49-F238E27FC236}">
                <a16:creationId xmlns:a16="http://schemas.microsoft.com/office/drawing/2014/main" xmlns="" id="{42B08379-66E7-44B1-85EC-9A90FAAD0550}"/>
              </a:ext>
            </a:extLst>
          </p:cNvPr>
          <p:cNvSpPr>
            <a:spLocks noGrp="1"/>
          </p:cNvSpPr>
          <p:nvPr>
            <p:ph type="title"/>
          </p:nvPr>
        </p:nvSpPr>
        <p:spPr>
          <a:xfrm>
            <a:off x="838200" y="365125"/>
            <a:ext cx="10515600" cy="1325563"/>
          </a:xfrm>
        </p:spPr>
        <p:txBody>
          <a:bodyPr>
            <a:normAutofit/>
          </a:bodyPr>
          <a:lstStyle/>
          <a:p>
            <a:r>
              <a:rPr lang="en-US" i="0" dirty="0">
                <a:solidFill>
                  <a:srgbClr val="2B2B2B"/>
                </a:solidFill>
                <a:effectLst/>
                <a:latin typeface="Times New Roman" panose="02020603050405020304" pitchFamily="18" charset="0"/>
                <a:cs typeface="Times New Roman" panose="02020603050405020304" pitchFamily="18" charset="0"/>
              </a:rPr>
              <a:t>Barriers to Effective Team Building</a:t>
            </a:r>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9730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8387FD3-1B5C-424A-9378-2F3331D44B65}"/>
              </a:ext>
            </a:extLst>
          </p:cNvPr>
          <p:cNvSpPr>
            <a:spLocks noGrp="1"/>
          </p:cNvSpPr>
          <p:nvPr>
            <p:ph idx="1"/>
          </p:nvPr>
        </p:nvSpPr>
        <p:spPr/>
        <p:txBody>
          <a:bodyPr>
            <a:normAutofit lnSpcReduction="10000"/>
          </a:bodyPr>
          <a:lstStyle/>
          <a:p>
            <a:pPr algn="l" fontAlgn="base"/>
            <a:r>
              <a:rPr lang="en-US" b="1" i="0" dirty="0">
                <a:solidFill>
                  <a:srgbClr val="2B2B2B"/>
                </a:solidFill>
                <a:effectLst/>
                <a:latin typeface="inherit"/>
              </a:rPr>
              <a:t>6. Directive instead of facilitative leaders.</a:t>
            </a:r>
            <a:r>
              <a:rPr lang="en-US" b="0" i="0" dirty="0">
                <a:solidFill>
                  <a:srgbClr val="2B2B2B"/>
                </a:solidFill>
                <a:effectLst/>
                <a:latin typeface="Lato"/>
              </a:rPr>
              <a:t> Leading a team is different from supervising one. Supervisors are directive and advice-giving. A leader of a team, instead, is facilitative and seeking. This leader’s role is “to ensure that the team profits optimally from its shared knowledge, experience, and skill” (West, 2008, p. 309).</a:t>
            </a:r>
          </a:p>
          <a:p>
            <a:pPr algn="l" fontAlgn="base"/>
            <a:r>
              <a:rPr lang="en-US" b="1" i="0" dirty="0">
                <a:solidFill>
                  <a:srgbClr val="2B2B2B"/>
                </a:solidFill>
                <a:effectLst/>
                <a:latin typeface="inherit"/>
              </a:rPr>
              <a:t>7. Conflict with other teams.</a:t>
            </a:r>
            <a:r>
              <a:rPr lang="en-US" b="0" i="0" dirty="0">
                <a:solidFill>
                  <a:srgbClr val="2B2B2B"/>
                </a:solidFill>
                <a:effectLst/>
                <a:latin typeface="Lato"/>
              </a:rPr>
              <a:t> Ironically, the more cohesive and effective a team becomes, the more competitive and partisan they tend to be in their relationships with other teams throughout an organization. Therefore, it’s important to ensure that </a:t>
            </a:r>
            <a:r>
              <a:rPr lang="en-US" b="0" i="1" dirty="0" err="1">
                <a:solidFill>
                  <a:srgbClr val="2B2B2B"/>
                </a:solidFill>
                <a:effectLst/>
                <a:latin typeface="inherit"/>
              </a:rPr>
              <a:t>interteam</a:t>
            </a:r>
            <a:r>
              <a:rPr lang="en-US" b="0" i="0" dirty="0">
                <a:solidFill>
                  <a:srgbClr val="2B2B2B"/>
                </a:solidFill>
                <a:effectLst/>
                <a:latin typeface="Lato"/>
              </a:rPr>
              <a:t> cooperation is established and reinforced (West, 2008).</a:t>
            </a:r>
          </a:p>
          <a:p>
            <a:endParaRPr lang="en-MY" dirty="0"/>
          </a:p>
        </p:txBody>
      </p:sp>
      <p:sp>
        <p:nvSpPr>
          <p:cNvPr id="4" name="Title 1">
            <a:extLst>
              <a:ext uri="{FF2B5EF4-FFF2-40B4-BE49-F238E27FC236}">
                <a16:creationId xmlns:a16="http://schemas.microsoft.com/office/drawing/2014/main" xmlns="" id="{CCA9225B-924C-4757-A1E0-C384ADCD50E0}"/>
              </a:ext>
            </a:extLst>
          </p:cNvPr>
          <p:cNvSpPr>
            <a:spLocks noGrp="1"/>
          </p:cNvSpPr>
          <p:nvPr>
            <p:ph type="title"/>
          </p:nvPr>
        </p:nvSpPr>
        <p:spPr>
          <a:xfrm>
            <a:off x="838200" y="365125"/>
            <a:ext cx="10515600" cy="1325563"/>
          </a:xfrm>
        </p:spPr>
        <p:txBody>
          <a:bodyPr>
            <a:normAutofit/>
          </a:bodyPr>
          <a:lstStyle/>
          <a:p>
            <a:r>
              <a:rPr lang="en-US" i="0" dirty="0">
                <a:solidFill>
                  <a:srgbClr val="2B2B2B"/>
                </a:solidFill>
                <a:effectLst/>
                <a:latin typeface="Times New Roman" panose="02020603050405020304" pitchFamily="18" charset="0"/>
                <a:cs typeface="Times New Roman" panose="02020603050405020304" pitchFamily="18" charset="0"/>
              </a:rPr>
              <a:t>Barriers to Effective Team Building</a:t>
            </a:r>
            <a:endParaRPr lang="en-MY"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3323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72F938-2B61-46EE-8B27-CAD3A869F785}"/>
              </a:ext>
            </a:extLst>
          </p:cNvPr>
          <p:cNvSpPr>
            <a:spLocks noGrp="1"/>
          </p:cNvSpPr>
          <p:nvPr>
            <p:ph type="title"/>
          </p:nvPr>
        </p:nvSpPr>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
        <p:nvSpPr>
          <p:cNvPr id="3" name="Content Placeholder 2">
            <a:extLst>
              <a:ext uri="{FF2B5EF4-FFF2-40B4-BE49-F238E27FC236}">
                <a16:creationId xmlns:a16="http://schemas.microsoft.com/office/drawing/2014/main" xmlns="" id="{52AEC997-4CA8-4CC0-88A9-0DF1B7FFE444}"/>
              </a:ext>
            </a:extLst>
          </p:cNvPr>
          <p:cNvSpPr>
            <a:spLocks noGrp="1"/>
          </p:cNvSpPr>
          <p:nvPr>
            <p:ph idx="1"/>
          </p:nvPr>
        </p:nvSpPr>
        <p:spPr/>
        <p:txBody>
          <a:bodyPr/>
          <a:lstStyle/>
          <a:p>
            <a:pPr algn="l"/>
            <a:r>
              <a:rPr lang="en-US" b="0" i="0" dirty="0">
                <a:solidFill>
                  <a:srgbClr val="292929"/>
                </a:solidFill>
                <a:effectLst/>
                <a:latin typeface="charter"/>
              </a:rPr>
              <a:t>A high-performing team is unlike any regular team. It is comprised of highly talented and motivated individuals with common goals. Such team helps their company achieve excellence and growth.</a:t>
            </a:r>
          </a:p>
          <a:p>
            <a:pPr algn="l"/>
            <a:r>
              <a:rPr lang="en-US" b="0" i="0" dirty="0">
                <a:solidFill>
                  <a:srgbClr val="292929"/>
                </a:solidFill>
                <a:effectLst/>
                <a:latin typeface="charter"/>
              </a:rPr>
              <a:t>However, each person has a different set of principles and beliefs which could probably taint the team harmony. While it is true, thorough planning and execution of business strategies would help overlook the differences.</a:t>
            </a:r>
          </a:p>
          <a:p>
            <a:pPr algn="l"/>
            <a:r>
              <a:rPr lang="en-US" b="0" i="0" dirty="0">
                <a:solidFill>
                  <a:srgbClr val="292929"/>
                </a:solidFill>
                <a:effectLst/>
                <a:latin typeface="charter"/>
              </a:rPr>
              <a:t>According to Dr Tim Baker, there are at least </a:t>
            </a:r>
            <a:r>
              <a:rPr lang="en-US" b="0" i="0" u="sng" dirty="0">
                <a:solidFill>
                  <a:srgbClr val="292929"/>
                </a:solidFill>
                <a:effectLst/>
                <a:latin typeface="charter"/>
                <a:hlinkClick r:id="rId2"/>
              </a:rPr>
              <a:t>8 characteristics of high-performing leadership and team development</a:t>
            </a:r>
            <a:r>
              <a:rPr lang="en-US" b="0" i="0" dirty="0">
                <a:solidFill>
                  <a:srgbClr val="292929"/>
                </a:solidFill>
                <a:effectLst/>
                <a:latin typeface="charter"/>
              </a:rPr>
              <a:t>.</a:t>
            </a:r>
          </a:p>
          <a:p>
            <a:endParaRPr lang="en-MY" dirty="0"/>
          </a:p>
        </p:txBody>
      </p:sp>
    </p:spTree>
    <p:extLst>
      <p:ext uri="{BB962C8B-B14F-4D97-AF65-F5344CB8AC3E}">
        <p14:creationId xmlns:p14="http://schemas.microsoft.com/office/powerpoint/2010/main" val="648414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FB0F551-8A50-413B-807F-FB17F035D8CF}"/>
              </a:ext>
            </a:extLst>
          </p:cNvPr>
          <p:cNvSpPr>
            <a:spLocks noGrp="1"/>
          </p:cNvSpPr>
          <p:nvPr>
            <p:ph idx="1"/>
          </p:nvPr>
        </p:nvSpPr>
        <p:spPr/>
        <p:txBody>
          <a:bodyPr/>
          <a:lstStyle/>
          <a:p>
            <a:r>
              <a:rPr lang="en-US" b="0" i="0" dirty="0">
                <a:solidFill>
                  <a:srgbClr val="292929"/>
                </a:solidFill>
                <a:effectLst/>
                <a:latin typeface="charter"/>
              </a:rPr>
              <a:t>Here is the model of a high-performing team</a:t>
            </a:r>
            <a:endParaRPr lang="en-MY" dirty="0"/>
          </a:p>
        </p:txBody>
      </p:sp>
      <p:pic>
        <p:nvPicPr>
          <p:cNvPr id="1027" name="Picture 3" descr="Image for post">
            <a:extLst>
              <a:ext uri="{FF2B5EF4-FFF2-40B4-BE49-F238E27FC236}">
                <a16:creationId xmlns:a16="http://schemas.microsoft.com/office/drawing/2014/main" xmlns="" id="{288095FD-E9CC-45A3-B558-69A7DE6E9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6844" y="1690688"/>
            <a:ext cx="5961566" cy="4301383"/>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xmlns="" id="{5B8F1ACC-5429-49B5-83F5-FCAF1E843C20}"/>
              </a:ext>
            </a:extLst>
          </p:cNvPr>
          <p:cNvSpPr>
            <a:spLocks noGrp="1"/>
          </p:cNvSpPr>
          <p:nvPr>
            <p:ph type="title"/>
          </p:nvPr>
        </p:nvSpPr>
        <p:spPr>
          <a:xfrm>
            <a:off x="838200" y="365125"/>
            <a:ext cx="10515600" cy="1325563"/>
          </a:xfrm>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Tree>
    <p:extLst>
      <p:ext uri="{BB962C8B-B14F-4D97-AF65-F5344CB8AC3E}">
        <p14:creationId xmlns:p14="http://schemas.microsoft.com/office/powerpoint/2010/main" val="4116444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3061AF8-A94E-49C4-98EF-EFE8C582E419}"/>
              </a:ext>
            </a:extLst>
          </p:cNvPr>
          <p:cNvSpPr>
            <a:spLocks noGrp="1"/>
          </p:cNvSpPr>
          <p:nvPr>
            <p:ph idx="1"/>
          </p:nvPr>
        </p:nvSpPr>
        <p:spPr/>
        <p:txBody>
          <a:bodyPr>
            <a:normAutofit/>
          </a:bodyPr>
          <a:lstStyle/>
          <a:p>
            <a:pPr algn="l"/>
            <a:r>
              <a:rPr lang="en-US" b="1" i="0" dirty="0">
                <a:solidFill>
                  <a:srgbClr val="292929"/>
                </a:solidFill>
                <a:effectLst/>
                <a:latin typeface="sohne"/>
              </a:rPr>
              <a:t>Sense of Purpose</a:t>
            </a:r>
          </a:p>
          <a:p>
            <a:pPr marL="0" indent="0" algn="l">
              <a:buNone/>
            </a:pPr>
            <a:r>
              <a:rPr lang="en-US" b="0" i="0" dirty="0">
                <a:solidFill>
                  <a:srgbClr val="292929"/>
                </a:solidFill>
                <a:effectLst/>
                <a:latin typeface="charter"/>
              </a:rPr>
              <a:t>Individuals with a sense of purpose have clearly defined their mission and goals since the beginning. These people have set their eyes on the priorities and are driven with a strong focus on results and solution.</a:t>
            </a:r>
          </a:p>
          <a:p>
            <a:pPr algn="l"/>
            <a:r>
              <a:rPr lang="en-US" b="1" i="0" dirty="0">
                <a:solidFill>
                  <a:srgbClr val="292929"/>
                </a:solidFill>
                <a:effectLst/>
                <a:latin typeface="sohne"/>
              </a:rPr>
              <a:t>Open Communication</a:t>
            </a:r>
          </a:p>
          <a:p>
            <a:pPr marL="0" indent="0" algn="l">
              <a:buNone/>
            </a:pPr>
            <a:r>
              <a:rPr lang="en-US" b="0" i="0" dirty="0">
                <a:solidFill>
                  <a:srgbClr val="292929"/>
                </a:solidFill>
                <a:effectLst/>
                <a:latin typeface="charter"/>
              </a:rPr>
              <a:t>One of the most important characteristics of a high-performing team is open communication. Members who are not afraid to express their ideas and thoughts, as well as listen to what others have to say, are indeed professionals.</a:t>
            </a:r>
          </a:p>
          <a:p>
            <a:endParaRPr lang="en-MY" dirty="0"/>
          </a:p>
        </p:txBody>
      </p:sp>
      <p:sp>
        <p:nvSpPr>
          <p:cNvPr id="6" name="Title 1">
            <a:extLst>
              <a:ext uri="{FF2B5EF4-FFF2-40B4-BE49-F238E27FC236}">
                <a16:creationId xmlns:a16="http://schemas.microsoft.com/office/drawing/2014/main" xmlns="" id="{DF8141E7-9B43-402C-939C-7F31ADDF6A15}"/>
              </a:ext>
            </a:extLst>
          </p:cNvPr>
          <p:cNvSpPr>
            <a:spLocks noGrp="1"/>
          </p:cNvSpPr>
          <p:nvPr>
            <p:ph type="title"/>
          </p:nvPr>
        </p:nvSpPr>
        <p:spPr>
          <a:xfrm>
            <a:off x="838200" y="365125"/>
            <a:ext cx="10515600" cy="1325563"/>
          </a:xfrm>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Tree>
    <p:extLst>
      <p:ext uri="{BB962C8B-B14F-4D97-AF65-F5344CB8AC3E}">
        <p14:creationId xmlns:p14="http://schemas.microsoft.com/office/powerpoint/2010/main" val="1758740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7E4AC4A-03A5-46EB-B0DF-F8927DCF40D8}"/>
              </a:ext>
            </a:extLst>
          </p:cNvPr>
          <p:cNvSpPr>
            <a:spLocks noGrp="1"/>
          </p:cNvSpPr>
          <p:nvPr>
            <p:ph idx="1"/>
          </p:nvPr>
        </p:nvSpPr>
        <p:spPr/>
        <p:txBody>
          <a:bodyPr>
            <a:normAutofit/>
          </a:bodyPr>
          <a:lstStyle/>
          <a:p>
            <a:pPr algn="l"/>
            <a:r>
              <a:rPr lang="en-US" b="1" i="0" dirty="0">
                <a:solidFill>
                  <a:srgbClr val="292929"/>
                </a:solidFill>
                <a:effectLst/>
                <a:latin typeface="sohne"/>
              </a:rPr>
              <a:t>Trust and Mutual Respect</a:t>
            </a:r>
          </a:p>
          <a:p>
            <a:pPr marL="0" indent="0" algn="l">
              <a:buNone/>
            </a:pPr>
            <a:r>
              <a:rPr lang="en-US" b="0" i="0" dirty="0">
                <a:solidFill>
                  <a:srgbClr val="292929"/>
                </a:solidFill>
                <a:effectLst/>
                <a:latin typeface="charter"/>
              </a:rPr>
              <a:t>Respect and trust are two words that correlate with each other. In a professional setting, a leader and its followers do exist. As part of a team, both should learn how to trust and respect each other.</a:t>
            </a:r>
          </a:p>
          <a:p>
            <a:pPr algn="l"/>
            <a:r>
              <a:rPr lang="en-US" b="1" i="0" dirty="0">
                <a:solidFill>
                  <a:srgbClr val="292929"/>
                </a:solidFill>
                <a:effectLst/>
                <a:latin typeface="sohne"/>
              </a:rPr>
              <a:t>Shared Leadership</a:t>
            </a:r>
          </a:p>
          <a:p>
            <a:pPr marL="0" indent="0" algn="l">
              <a:buNone/>
            </a:pPr>
            <a:r>
              <a:rPr lang="en-US" b="0" i="0" dirty="0">
                <a:solidFill>
                  <a:srgbClr val="292929"/>
                </a:solidFill>
                <a:effectLst/>
                <a:latin typeface="charter"/>
              </a:rPr>
              <a:t>An effective leader asks for ideas and suggestions from their members. They value their team’s insights and are not autocratic. This kind of leaders understands the key role of their members.</a:t>
            </a:r>
          </a:p>
          <a:p>
            <a:pPr marL="0" indent="0">
              <a:buNone/>
            </a:pPr>
            <a:endParaRPr lang="en-MY" dirty="0"/>
          </a:p>
        </p:txBody>
      </p:sp>
      <p:sp>
        <p:nvSpPr>
          <p:cNvPr id="4" name="Title 1">
            <a:extLst>
              <a:ext uri="{FF2B5EF4-FFF2-40B4-BE49-F238E27FC236}">
                <a16:creationId xmlns:a16="http://schemas.microsoft.com/office/drawing/2014/main" xmlns="" id="{ADA94524-890D-4B86-B97A-1800C17398C5}"/>
              </a:ext>
            </a:extLst>
          </p:cNvPr>
          <p:cNvSpPr>
            <a:spLocks noGrp="1"/>
          </p:cNvSpPr>
          <p:nvPr>
            <p:ph type="title"/>
          </p:nvPr>
        </p:nvSpPr>
        <p:spPr>
          <a:xfrm>
            <a:off x="838200" y="365125"/>
            <a:ext cx="10515600" cy="1325563"/>
          </a:xfrm>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Tree>
    <p:extLst>
      <p:ext uri="{BB962C8B-B14F-4D97-AF65-F5344CB8AC3E}">
        <p14:creationId xmlns:p14="http://schemas.microsoft.com/office/powerpoint/2010/main" val="1609410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BDF9556-8822-40A5-959D-45018D8CCFC2}"/>
              </a:ext>
            </a:extLst>
          </p:cNvPr>
          <p:cNvSpPr>
            <a:spLocks noGrp="1"/>
          </p:cNvSpPr>
          <p:nvPr>
            <p:ph idx="1"/>
          </p:nvPr>
        </p:nvSpPr>
        <p:spPr/>
        <p:txBody>
          <a:bodyPr>
            <a:normAutofit/>
          </a:bodyPr>
          <a:lstStyle/>
          <a:p>
            <a:pPr algn="l"/>
            <a:r>
              <a:rPr lang="en-US" b="1" i="0" dirty="0">
                <a:solidFill>
                  <a:srgbClr val="292929"/>
                </a:solidFill>
                <a:effectLst/>
                <a:latin typeface="sohne"/>
              </a:rPr>
              <a:t>Effective Working Procedures</a:t>
            </a:r>
          </a:p>
          <a:p>
            <a:pPr marL="0" indent="0" algn="l">
              <a:buNone/>
            </a:pPr>
            <a:r>
              <a:rPr lang="en-US" b="0" i="0" dirty="0">
                <a:solidFill>
                  <a:srgbClr val="292929"/>
                </a:solidFill>
                <a:effectLst/>
                <a:latin typeface="charter"/>
              </a:rPr>
              <a:t>Aside from being highly skilled, effective team leaders are also resourceful. They don’t stop at “good” but rather aim for the “best”, every chance they get. They encourage creativity and find the most outstanding way to achieve their goal.</a:t>
            </a:r>
          </a:p>
          <a:p>
            <a:pPr algn="l"/>
            <a:r>
              <a:rPr lang="en-US" b="1" i="0" dirty="0">
                <a:solidFill>
                  <a:srgbClr val="292929"/>
                </a:solidFill>
                <a:effectLst/>
                <a:latin typeface="sohne"/>
              </a:rPr>
              <a:t>Building on Differences</a:t>
            </a:r>
          </a:p>
          <a:p>
            <a:pPr marL="0" indent="0" algn="l">
              <a:buNone/>
            </a:pPr>
            <a:r>
              <a:rPr lang="en-US" b="0" i="0" dirty="0">
                <a:solidFill>
                  <a:srgbClr val="292929"/>
                </a:solidFill>
                <a:effectLst/>
                <a:latin typeface="charter"/>
              </a:rPr>
              <a:t>Efficient leaders don’t look at differences as drawbacks of an individual. Instead, they use it as a weapon to create alternatives and other approaches that may be useful in different situations.</a:t>
            </a:r>
          </a:p>
          <a:p>
            <a:endParaRPr lang="en-MY" dirty="0"/>
          </a:p>
        </p:txBody>
      </p:sp>
      <p:sp>
        <p:nvSpPr>
          <p:cNvPr id="6" name="Title 1">
            <a:extLst>
              <a:ext uri="{FF2B5EF4-FFF2-40B4-BE49-F238E27FC236}">
                <a16:creationId xmlns:a16="http://schemas.microsoft.com/office/drawing/2014/main" xmlns="" id="{3FD1C114-E27A-485B-A201-000DE7E9887E}"/>
              </a:ext>
            </a:extLst>
          </p:cNvPr>
          <p:cNvSpPr>
            <a:spLocks noGrp="1"/>
          </p:cNvSpPr>
          <p:nvPr>
            <p:ph type="title"/>
          </p:nvPr>
        </p:nvSpPr>
        <p:spPr>
          <a:xfrm>
            <a:off x="838200" y="365125"/>
            <a:ext cx="10515600" cy="1325563"/>
          </a:xfrm>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Tree>
    <p:extLst>
      <p:ext uri="{BB962C8B-B14F-4D97-AF65-F5344CB8AC3E}">
        <p14:creationId xmlns:p14="http://schemas.microsoft.com/office/powerpoint/2010/main" val="1175536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F8E9F2A-DC38-4197-9ED1-DFBEC0B826EC}"/>
              </a:ext>
            </a:extLst>
          </p:cNvPr>
          <p:cNvSpPr>
            <a:spLocks noGrp="1"/>
          </p:cNvSpPr>
          <p:nvPr>
            <p:ph idx="1"/>
          </p:nvPr>
        </p:nvSpPr>
        <p:spPr/>
        <p:txBody>
          <a:bodyPr>
            <a:normAutofit fontScale="85000" lnSpcReduction="20000"/>
          </a:bodyPr>
          <a:lstStyle/>
          <a:p>
            <a:pPr algn="l"/>
            <a:r>
              <a:rPr lang="en-US" b="1" i="0" dirty="0">
                <a:solidFill>
                  <a:srgbClr val="292929"/>
                </a:solidFill>
                <a:effectLst/>
                <a:latin typeface="sohne"/>
              </a:rPr>
              <a:t>Flexibility and Adaptability</a:t>
            </a:r>
          </a:p>
          <a:p>
            <a:pPr marL="0" indent="0" algn="l">
              <a:buNone/>
            </a:pPr>
            <a:r>
              <a:rPr lang="en-US" b="0" i="0" dirty="0">
                <a:solidFill>
                  <a:srgbClr val="292929"/>
                </a:solidFill>
                <a:effectLst/>
                <a:latin typeface="charter"/>
              </a:rPr>
              <a:t>A high-performing team consists of adaptable and agile individuals. Variables like a fast-paced working environment don’t scare these kinds of people for they can easily adjust to any given situation.</a:t>
            </a:r>
          </a:p>
          <a:p>
            <a:pPr marL="0" indent="0" algn="l">
              <a:buNone/>
            </a:pPr>
            <a:endParaRPr lang="en-US" b="0" i="0" dirty="0">
              <a:solidFill>
                <a:srgbClr val="292929"/>
              </a:solidFill>
              <a:effectLst/>
              <a:latin typeface="charter"/>
            </a:endParaRPr>
          </a:p>
          <a:p>
            <a:pPr algn="l"/>
            <a:r>
              <a:rPr lang="en-US" b="1" i="0" dirty="0">
                <a:solidFill>
                  <a:srgbClr val="292929"/>
                </a:solidFill>
                <a:effectLst/>
                <a:latin typeface="sohne"/>
              </a:rPr>
              <a:t>Continuous Learning</a:t>
            </a:r>
          </a:p>
          <a:p>
            <a:pPr marL="0" indent="0" algn="l">
              <a:buNone/>
            </a:pPr>
            <a:r>
              <a:rPr lang="en-US" b="0" i="0" dirty="0">
                <a:solidFill>
                  <a:srgbClr val="292929"/>
                </a:solidFill>
                <a:effectLst/>
                <a:latin typeface="charter"/>
              </a:rPr>
              <a:t>The hunger for discoveries and newly acquired knowledge is the last characteristic of a high-performing team. Their desire to learn everything that they can or what might help improve their craft is an essential matter.</a:t>
            </a:r>
          </a:p>
          <a:p>
            <a:pPr algn="l"/>
            <a:endParaRPr lang="en-US" b="0" i="0" dirty="0">
              <a:solidFill>
                <a:srgbClr val="292929"/>
              </a:solidFill>
              <a:effectLst/>
              <a:latin typeface="charter"/>
            </a:endParaRPr>
          </a:p>
          <a:p>
            <a:pPr algn="l"/>
            <a:r>
              <a:rPr lang="en-US" b="0" i="0" dirty="0">
                <a:solidFill>
                  <a:srgbClr val="292929"/>
                </a:solidFill>
                <a:effectLst/>
                <a:latin typeface="charter"/>
              </a:rPr>
              <a:t>People with characteristics as listed above are such great assets to the company. Not only can they guarantee an increase in sales, but also boosts employee morale.</a:t>
            </a:r>
          </a:p>
          <a:p>
            <a:pPr marL="0" indent="0">
              <a:buNone/>
            </a:pPr>
            <a:endParaRPr lang="en-MY" dirty="0"/>
          </a:p>
        </p:txBody>
      </p:sp>
      <p:sp>
        <p:nvSpPr>
          <p:cNvPr id="4" name="Title 1">
            <a:extLst>
              <a:ext uri="{FF2B5EF4-FFF2-40B4-BE49-F238E27FC236}">
                <a16:creationId xmlns:a16="http://schemas.microsoft.com/office/drawing/2014/main" xmlns="" id="{BDF5F69D-37F9-4A70-AB8A-277B8A2E3C5A}"/>
              </a:ext>
            </a:extLst>
          </p:cNvPr>
          <p:cNvSpPr>
            <a:spLocks noGrp="1"/>
          </p:cNvSpPr>
          <p:nvPr>
            <p:ph type="title"/>
          </p:nvPr>
        </p:nvSpPr>
        <p:spPr>
          <a:xfrm>
            <a:off x="838200" y="365125"/>
            <a:ext cx="10515600" cy="1325563"/>
          </a:xfrm>
        </p:spPr>
        <p:txBody>
          <a:bodyPr>
            <a:normAutofit/>
          </a:bodyPr>
          <a:lstStyle/>
          <a:p>
            <a:r>
              <a:rPr lang="en-US" kern="100" dirty="0">
                <a:latin typeface="Times New Roman" panose="02020603050405020304" pitchFamily="18" charset="0"/>
                <a:ea typeface="Trebuchet MS" panose="020B0603020202020204" pitchFamily="34" charset="0"/>
              </a:rPr>
              <a:t>C</a:t>
            </a:r>
            <a:r>
              <a:rPr lang="en-US" kern="100" dirty="0">
                <a:effectLst/>
                <a:latin typeface="Times New Roman" panose="02020603050405020304" pitchFamily="18" charset="0"/>
                <a:ea typeface="Trebuchet MS" panose="020B0603020202020204" pitchFamily="34" charset="0"/>
              </a:rPr>
              <a:t>haracteristics of High Performance Teams</a:t>
            </a:r>
            <a:endParaRPr lang="en-MY" dirty="0"/>
          </a:p>
        </p:txBody>
      </p:sp>
    </p:spTree>
    <p:extLst>
      <p:ext uri="{BB962C8B-B14F-4D97-AF65-F5344CB8AC3E}">
        <p14:creationId xmlns:p14="http://schemas.microsoft.com/office/powerpoint/2010/main" val="106256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00C0CF-9FEA-4604-AEFD-E3CD4B22937D}"/>
              </a:ext>
            </a:extLst>
          </p:cNvPr>
          <p:cNvSpPr>
            <a:spLocks noGrp="1"/>
          </p:cNvSpPr>
          <p:nvPr>
            <p:ph type="title"/>
          </p:nvPr>
        </p:nvSpPr>
        <p:spPr/>
        <p:txBody>
          <a:bodyPr/>
          <a:lstStyle/>
          <a:p>
            <a:r>
              <a:rPr lang="en-MY" b="0" i="0" dirty="0">
                <a:solidFill>
                  <a:srgbClr val="000000"/>
                </a:solidFill>
                <a:effectLst/>
                <a:latin typeface="inherit"/>
              </a:rPr>
              <a:t>Team Conflict Resolution</a:t>
            </a:r>
            <a:endParaRPr lang="en-MY" dirty="0"/>
          </a:p>
        </p:txBody>
      </p:sp>
      <p:sp>
        <p:nvSpPr>
          <p:cNvPr id="3" name="Content Placeholder 2">
            <a:extLst>
              <a:ext uri="{FF2B5EF4-FFF2-40B4-BE49-F238E27FC236}">
                <a16:creationId xmlns:a16="http://schemas.microsoft.com/office/drawing/2014/main" xmlns="" id="{6B7468EA-A59F-4938-B08A-DC703619287E}"/>
              </a:ext>
            </a:extLst>
          </p:cNvPr>
          <p:cNvSpPr>
            <a:spLocks noGrp="1"/>
          </p:cNvSpPr>
          <p:nvPr>
            <p:ph idx="1"/>
          </p:nvPr>
        </p:nvSpPr>
        <p:spPr/>
        <p:txBody>
          <a:bodyPr>
            <a:normAutofit/>
          </a:bodyPr>
          <a:lstStyle/>
          <a:p>
            <a:pPr marL="0" indent="0">
              <a:buNone/>
            </a:pPr>
            <a:r>
              <a:rPr lang="en-US" b="1" dirty="0"/>
              <a:t>1. Talk with the other person.</a:t>
            </a:r>
          </a:p>
          <a:p>
            <a:pPr lvl="1"/>
            <a:r>
              <a:rPr lang="en-US" dirty="0"/>
              <a:t>Ask the other person to name a time when it would be convenient to meet.</a:t>
            </a:r>
          </a:p>
          <a:p>
            <a:pPr lvl="1"/>
            <a:r>
              <a:rPr lang="en-US" dirty="0"/>
              <a:t>Arrange to meet in a place where you won't be interrupted.</a:t>
            </a:r>
          </a:p>
          <a:p>
            <a:pPr marL="0" indent="0">
              <a:buNone/>
            </a:pPr>
            <a:r>
              <a:rPr lang="en-US" b="1" dirty="0"/>
              <a:t>2. Focus on behavior and events, not on personalities.</a:t>
            </a:r>
          </a:p>
          <a:p>
            <a:pPr lvl="1"/>
            <a:r>
              <a:rPr lang="en-US" dirty="0"/>
              <a:t>Say “When this happens …” instead of “When you do …”</a:t>
            </a:r>
          </a:p>
          <a:p>
            <a:pPr marL="685800" lvl="2">
              <a:spcBef>
                <a:spcPts val="1000"/>
              </a:spcBef>
            </a:pPr>
            <a:r>
              <a:rPr lang="en-US" sz="2400" dirty="0"/>
              <a:t>Describe a specific instance or event instead of generalizing.</a:t>
            </a:r>
          </a:p>
          <a:p>
            <a:endParaRPr lang="en-MY" dirty="0"/>
          </a:p>
        </p:txBody>
      </p:sp>
    </p:spTree>
    <p:extLst>
      <p:ext uri="{BB962C8B-B14F-4D97-AF65-F5344CB8AC3E}">
        <p14:creationId xmlns:p14="http://schemas.microsoft.com/office/powerpoint/2010/main" val="3152384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8F67B36-FE98-4760-A94F-68234DF23FE8}"/>
              </a:ext>
            </a:extLst>
          </p:cNvPr>
          <p:cNvSpPr>
            <a:spLocks noGrp="1"/>
          </p:cNvSpPr>
          <p:nvPr>
            <p:ph idx="1"/>
          </p:nvPr>
        </p:nvSpPr>
        <p:spPr/>
        <p:txBody>
          <a:bodyPr>
            <a:normAutofit/>
          </a:bodyPr>
          <a:lstStyle/>
          <a:p>
            <a:pPr marL="0" indent="0">
              <a:buNone/>
            </a:pPr>
            <a:r>
              <a:rPr lang="en-US" b="1" dirty="0"/>
              <a:t>3. Listen carefully.</a:t>
            </a:r>
          </a:p>
          <a:p>
            <a:pPr lvl="1"/>
            <a:r>
              <a:rPr lang="en-US" dirty="0"/>
              <a:t>Listen to what the other person is saying instead of getting ready to react.</a:t>
            </a:r>
          </a:p>
          <a:p>
            <a:pPr lvl="1"/>
            <a:r>
              <a:rPr lang="en-US" dirty="0"/>
              <a:t>Avoid interrupting the other person.</a:t>
            </a:r>
          </a:p>
          <a:p>
            <a:pPr lvl="1"/>
            <a:r>
              <a:rPr lang="en-US" dirty="0"/>
              <a:t>After the other person finishes speaking, rephrase what was said to make sure you understand it.</a:t>
            </a:r>
          </a:p>
          <a:p>
            <a:pPr lvl="1"/>
            <a:r>
              <a:rPr lang="en-US" dirty="0"/>
              <a:t>Ask questions to clarify your understanding.</a:t>
            </a:r>
          </a:p>
          <a:p>
            <a:pPr marL="0" indent="0">
              <a:buNone/>
            </a:pPr>
            <a:r>
              <a:rPr lang="en-US" b="1" dirty="0"/>
              <a:t>4. Identify points of agreement and disagreement.</a:t>
            </a:r>
          </a:p>
          <a:p>
            <a:pPr lvl="1"/>
            <a:r>
              <a:rPr lang="en-US" dirty="0"/>
              <a:t>Summarize the areas of agreement and disagreement.</a:t>
            </a:r>
          </a:p>
          <a:p>
            <a:pPr lvl="1"/>
            <a:r>
              <a:rPr lang="en-US" dirty="0"/>
              <a:t>Ask the other person if he or she agrees with your assessment.</a:t>
            </a:r>
          </a:p>
          <a:p>
            <a:pPr lvl="1"/>
            <a:r>
              <a:rPr lang="en-US" dirty="0"/>
              <a:t>Modify your assessment until both of you agree on the areas of conflict.</a:t>
            </a:r>
          </a:p>
          <a:p>
            <a:pPr marL="0" indent="0">
              <a:buNone/>
            </a:pPr>
            <a:endParaRPr lang="en-MY" dirty="0"/>
          </a:p>
        </p:txBody>
      </p:sp>
      <p:sp>
        <p:nvSpPr>
          <p:cNvPr id="4" name="Title 1">
            <a:extLst>
              <a:ext uri="{FF2B5EF4-FFF2-40B4-BE49-F238E27FC236}">
                <a16:creationId xmlns:a16="http://schemas.microsoft.com/office/drawing/2014/main" xmlns="" id="{676D26B3-9BC6-4459-8B20-C364CDAD00D5}"/>
              </a:ext>
            </a:extLst>
          </p:cNvPr>
          <p:cNvSpPr>
            <a:spLocks noGrp="1"/>
          </p:cNvSpPr>
          <p:nvPr>
            <p:ph type="title"/>
          </p:nvPr>
        </p:nvSpPr>
        <p:spPr>
          <a:xfrm>
            <a:off x="838200" y="365125"/>
            <a:ext cx="10515600" cy="1325563"/>
          </a:xfrm>
        </p:spPr>
        <p:txBody>
          <a:bodyPr/>
          <a:lstStyle/>
          <a:p>
            <a:r>
              <a:rPr lang="en-MY" b="0" i="0" dirty="0">
                <a:solidFill>
                  <a:srgbClr val="000000"/>
                </a:solidFill>
                <a:effectLst/>
                <a:latin typeface="inherit"/>
              </a:rPr>
              <a:t>Team Conflict Resolution</a:t>
            </a:r>
            <a:endParaRPr lang="en-MY" dirty="0"/>
          </a:p>
        </p:txBody>
      </p:sp>
    </p:spTree>
    <p:extLst>
      <p:ext uri="{BB962C8B-B14F-4D97-AF65-F5344CB8AC3E}">
        <p14:creationId xmlns:p14="http://schemas.microsoft.com/office/powerpoint/2010/main" val="1638932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2A2CFA8-EB7A-4A12-9776-20EE91872B96}"/>
              </a:ext>
            </a:extLst>
          </p:cNvPr>
          <p:cNvSpPr>
            <a:spLocks noGrp="1"/>
          </p:cNvSpPr>
          <p:nvPr>
            <p:ph idx="1"/>
          </p:nvPr>
        </p:nvSpPr>
        <p:spPr/>
        <p:txBody>
          <a:bodyPr>
            <a:normAutofit/>
          </a:bodyPr>
          <a:lstStyle/>
          <a:p>
            <a:pPr marL="0" indent="0">
              <a:buNone/>
            </a:pPr>
            <a:r>
              <a:rPr lang="en-US" b="1" dirty="0"/>
              <a:t>5. Prioritize the areas of conflict.</a:t>
            </a:r>
          </a:p>
          <a:p>
            <a:pPr lvl="1"/>
            <a:r>
              <a:rPr lang="en-US" dirty="0"/>
              <a:t>Discuss which areas of conflict are most important to each of you to resolve.</a:t>
            </a:r>
          </a:p>
          <a:p>
            <a:pPr marL="0" indent="0">
              <a:buNone/>
            </a:pPr>
            <a:r>
              <a:rPr lang="en-US" b="1" dirty="0"/>
              <a:t>6. Develop a plan to work on each conflict.</a:t>
            </a:r>
          </a:p>
          <a:p>
            <a:pPr lvl="1"/>
            <a:r>
              <a:rPr lang="en-US" dirty="0"/>
              <a:t>Start with the most important conflict.</a:t>
            </a:r>
          </a:p>
          <a:p>
            <a:pPr lvl="1"/>
            <a:r>
              <a:rPr lang="en-US" dirty="0"/>
              <a:t>Focus on the future.</a:t>
            </a:r>
          </a:p>
          <a:p>
            <a:pPr lvl="1"/>
            <a:r>
              <a:rPr lang="en-US" dirty="0"/>
              <a:t>Set up future meeting times to continue your discussions.</a:t>
            </a:r>
          </a:p>
          <a:p>
            <a:endParaRPr lang="en-MY" dirty="0"/>
          </a:p>
        </p:txBody>
      </p:sp>
      <p:sp>
        <p:nvSpPr>
          <p:cNvPr id="4" name="Title 1">
            <a:extLst>
              <a:ext uri="{FF2B5EF4-FFF2-40B4-BE49-F238E27FC236}">
                <a16:creationId xmlns:a16="http://schemas.microsoft.com/office/drawing/2014/main" xmlns="" id="{27828601-10D5-43C4-B092-78D67040F3E8}"/>
              </a:ext>
            </a:extLst>
          </p:cNvPr>
          <p:cNvSpPr>
            <a:spLocks noGrp="1"/>
          </p:cNvSpPr>
          <p:nvPr>
            <p:ph type="title"/>
          </p:nvPr>
        </p:nvSpPr>
        <p:spPr>
          <a:xfrm>
            <a:off x="838200" y="365125"/>
            <a:ext cx="10515600" cy="1325563"/>
          </a:xfrm>
        </p:spPr>
        <p:txBody>
          <a:bodyPr/>
          <a:lstStyle/>
          <a:p>
            <a:r>
              <a:rPr lang="en-MY" b="0" i="0" dirty="0">
                <a:solidFill>
                  <a:srgbClr val="000000"/>
                </a:solidFill>
                <a:effectLst/>
                <a:latin typeface="inherit"/>
              </a:rPr>
              <a:t>Team Conflict Resolution</a:t>
            </a:r>
            <a:endParaRPr lang="en-MY" dirty="0"/>
          </a:p>
        </p:txBody>
      </p:sp>
    </p:spTree>
    <p:extLst>
      <p:ext uri="{BB962C8B-B14F-4D97-AF65-F5344CB8AC3E}">
        <p14:creationId xmlns:p14="http://schemas.microsoft.com/office/powerpoint/2010/main" val="4074178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08EA6F4-004B-4A74-9D5E-485D337EFADA}"/>
              </a:ext>
            </a:extLst>
          </p:cNvPr>
          <p:cNvSpPr>
            <a:spLocks noGrp="1"/>
          </p:cNvSpPr>
          <p:nvPr>
            <p:ph idx="1"/>
          </p:nvPr>
        </p:nvSpPr>
        <p:spPr/>
        <p:txBody>
          <a:bodyPr>
            <a:normAutofit/>
          </a:bodyPr>
          <a:lstStyle/>
          <a:p>
            <a:pPr marL="0" indent="0">
              <a:buNone/>
            </a:pPr>
            <a:r>
              <a:rPr lang="en-US" b="1" dirty="0"/>
              <a:t>7. Follow through on your plan.</a:t>
            </a:r>
          </a:p>
          <a:p>
            <a:pPr lvl="1"/>
            <a:r>
              <a:rPr lang="en-US" dirty="0"/>
              <a:t>Stick with the discussions until you have worked through each area of conflict.</a:t>
            </a:r>
          </a:p>
          <a:p>
            <a:pPr lvl="1"/>
            <a:r>
              <a:rPr lang="en-US" dirty="0"/>
              <a:t>Maintain a collaborative, “let’s-work-out-a-solution” attitude.</a:t>
            </a:r>
          </a:p>
          <a:p>
            <a:pPr marL="0" indent="0">
              <a:buNone/>
            </a:pPr>
            <a:r>
              <a:rPr lang="en-US" b="1" dirty="0"/>
              <a:t>8. Build on your success.</a:t>
            </a:r>
          </a:p>
          <a:p>
            <a:pPr lvl="1"/>
            <a:r>
              <a:rPr lang="en-US" dirty="0"/>
              <a:t>Look for opportunities to point out progress.</a:t>
            </a:r>
          </a:p>
          <a:p>
            <a:pPr lvl="1"/>
            <a:r>
              <a:rPr lang="en-US" dirty="0"/>
              <a:t>Compliment the other person’s insights and achievements.</a:t>
            </a:r>
          </a:p>
          <a:p>
            <a:pPr lvl="1"/>
            <a:r>
              <a:rPr lang="en-US" dirty="0"/>
              <a:t>Congratulate each other when you make progress, even if it’s just a small step. Your hard work will pay off when scheduled discussions eventually give way to ongoing, friendly communication.</a:t>
            </a:r>
          </a:p>
          <a:p>
            <a:endParaRPr lang="en-MY" dirty="0"/>
          </a:p>
        </p:txBody>
      </p:sp>
      <p:sp>
        <p:nvSpPr>
          <p:cNvPr id="4" name="Title 1">
            <a:extLst>
              <a:ext uri="{FF2B5EF4-FFF2-40B4-BE49-F238E27FC236}">
                <a16:creationId xmlns:a16="http://schemas.microsoft.com/office/drawing/2014/main" xmlns="" id="{D48A1277-87E4-4E65-9A15-FAF0D1C57668}"/>
              </a:ext>
            </a:extLst>
          </p:cNvPr>
          <p:cNvSpPr>
            <a:spLocks noGrp="1"/>
          </p:cNvSpPr>
          <p:nvPr>
            <p:ph type="title"/>
          </p:nvPr>
        </p:nvSpPr>
        <p:spPr>
          <a:xfrm>
            <a:off x="838200" y="365125"/>
            <a:ext cx="10515600" cy="1325563"/>
          </a:xfrm>
        </p:spPr>
        <p:txBody>
          <a:bodyPr/>
          <a:lstStyle/>
          <a:p>
            <a:r>
              <a:rPr lang="en-MY" b="0" i="0" dirty="0">
                <a:solidFill>
                  <a:srgbClr val="000000"/>
                </a:solidFill>
                <a:effectLst/>
                <a:latin typeface="inherit"/>
              </a:rPr>
              <a:t>Team Conflict Resolution</a:t>
            </a:r>
            <a:endParaRPr lang="en-MY" dirty="0"/>
          </a:p>
        </p:txBody>
      </p:sp>
    </p:spTree>
    <p:extLst>
      <p:ext uri="{BB962C8B-B14F-4D97-AF65-F5344CB8AC3E}">
        <p14:creationId xmlns:p14="http://schemas.microsoft.com/office/powerpoint/2010/main" val="436795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446184-8E59-4302-ADAB-346A81888FB4}"/>
              </a:ext>
            </a:extLst>
          </p:cNvPr>
          <p:cNvSpPr>
            <a:spLocks noGrp="1"/>
          </p:cNvSpPr>
          <p:nvPr>
            <p:ph type="title"/>
          </p:nvPr>
        </p:nvSpPr>
        <p:spPr/>
        <p:txBody>
          <a:bodyPr/>
          <a:lstStyle/>
          <a:p>
            <a:r>
              <a:rPr lang="en-US" dirty="0">
                <a:solidFill>
                  <a:srgbClr val="2B2B2B"/>
                </a:solidFill>
                <a:latin typeface="Lato"/>
              </a:rPr>
              <a:t>References</a:t>
            </a:r>
            <a:br>
              <a:rPr lang="en-US" dirty="0">
                <a:solidFill>
                  <a:srgbClr val="2B2B2B"/>
                </a:solidFill>
                <a:latin typeface="Lato"/>
              </a:rPr>
            </a:br>
            <a:endParaRPr lang="en-MY" dirty="0"/>
          </a:p>
        </p:txBody>
      </p:sp>
      <p:sp>
        <p:nvSpPr>
          <p:cNvPr id="3" name="Content Placeholder 2">
            <a:extLst>
              <a:ext uri="{FF2B5EF4-FFF2-40B4-BE49-F238E27FC236}">
                <a16:creationId xmlns:a16="http://schemas.microsoft.com/office/drawing/2014/main" xmlns="" id="{88E8A7CC-E5B1-479C-B8D7-9085AF9F0FBB}"/>
              </a:ext>
            </a:extLst>
          </p:cNvPr>
          <p:cNvSpPr>
            <a:spLocks noGrp="1"/>
          </p:cNvSpPr>
          <p:nvPr>
            <p:ph idx="1"/>
          </p:nvPr>
        </p:nvSpPr>
        <p:spPr/>
        <p:txBody>
          <a:bodyPr>
            <a:normAutofit fontScale="77500" lnSpcReduction="20000"/>
          </a:bodyPr>
          <a:lstStyle/>
          <a:p>
            <a:pPr algn="l" fontAlgn="base"/>
            <a:r>
              <a:rPr lang="en-US" b="0" i="0" dirty="0" err="1">
                <a:solidFill>
                  <a:srgbClr val="2B2B2B"/>
                </a:solidFill>
                <a:effectLst/>
                <a:latin typeface="Lato"/>
              </a:rPr>
              <a:t>Donnellon</a:t>
            </a:r>
            <a:r>
              <a:rPr lang="en-US" b="0" i="0" dirty="0">
                <a:solidFill>
                  <a:srgbClr val="2B2B2B"/>
                </a:solidFill>
                <a:effectLst/>
                <a:latin typeface="Lato"/>
              </a:rPr>
              <a:t>, A. (2006). </a:t>
            </a:r>
            <a:r>
              <a:rPr lang="en-US" b="0" i="1" dirty="0">
                <a:solidFill>
                  <a:srgbClr val="2B2B2B"/>
                </a:solidFill>
                <a:effectLst/>
                <a:latin typeface="inherit"/>
              </a:rPr>
              <a:t>Leading teams: Pocket mentor</a:t>
            </a:r>
            <a:r>
              <a:rPr lang="en-US" b="0" i="0" dirty="0">
                <a:solidFill>
                  <a:srgbClr val="2B2B2B"/>
                </a:solidFill>
                <a:effectLst/>
                <a:latin typeface="Lato"/>
              </a:rPr>
              <a:t>. Boston, MA: Harvard Business School Publishing.</a:t>
            </a:r>
          </a:p>
          <a:p>
            <a:pPr algn="l" fontAlgn="base"/>
            <a:r>
              <a:rPr lang="en-US" b="0" i="0" dirty="0">
                <a:solidFill>
                  <a:srgbClr val="2B2B2B"/>
                </a:solidFill>
                <a:effectLst/>
                <a:latin typeface="Lato"/>
              </a:rPr>
              <a:t>Nguyen, S. (2010, December 17). Eight Common Problems Teams Encounter. Retrieved from </a:t>
            </a:r>
            <a:r>
              <a:rPr lang="en-US" b="0" i="0" u="sng" dirty="0">
                <a:solidFill>
                  <a:srgbClr val="24890D"/>
                </a:solidFill>
                <a:effectLst/>
                <a:latin typeface="inherit"/>
                <a:hlinkClick r:id="rId2"/>
              </a:rPr>
              <a:t>https://workplacepsychology.net/2010/12/17/eight-common-problems-teams-encounter/</a:t>
            </a:r>
            <a:endParaRPr lang="en-US" b="0" i="0" dirty="0">
              <a:solidFill>
                <a:srgbClr val="2B2B2B"/>
              </a:solidFill>
              <a:effectLst/>
              <a:latin typeface="Lato"/>
            </a:endParaRPr>
          </a:p>
          <a:p>
            <a:pPr algn="l" fontAlgn="base"/>
            <a:r>
              <a:rPr lang="en-US" b="0" i="0" dirty="0">
                <a:solidFill>
                  <a:srgbClr val="2B2B2B"/>
                </a:solidFill>
                <a:effectLst/>
                <a:latin typeface="Lato"/>
              </a:rPr>
              <a:t>Spector, P. E. (2012). </a:t>
            </a:r>
            <a:r>
              <a:rPr lang="en-US" b="0" i="1" dirty="0">
                <a:solidFill>
                  <a:srgbClr val="2B2B2B"/>
                </a:solidFill>
                <a:effectLst/>
                <a:latin typeface="inherit"/>
              </a:rPr>
              <a:t>Industrial and organizational psychology: Research and practice</a:t>
            </a:r>
            <a:r>
              <a:rPr lang="en-US" b="0" i="0" dirty="0">
                <a:solidFill>
                  <a:srgbClr val="2B2B2B"/>
                </a:solidFill>
                <a:effectLst/>
                <a:latin typeface="Lato"/>
              </a:rPr>
              <a:t> (6th ed.). Hoboken, NJ: John Wiley and Sons.</a:t>
            </a:r>
          </a:p>
          <a:p>
            <a:pPr algn="l" fontAlgn="base"/>
            <a:r>
              <a:rPr lang="en-US" b="0" i="0" dirty="0">
                <a:solidFill>
                  <a:srgbClr val="2B2B2B"/>
                </a:solidFill>
                <a:effectLst/>
                <a:latin typeface="Lato"/>
              </a:rPr>
              <a:t>Unsworth, K. L. &amp; West, M. A. (2000). Teams: The challenges of cooperative work. In N. </a:t>
            </a:r>
            <a:r>
              <a:rPr lang="en-US" b="0" i="0" dirty="0" err="1">
                <a:solidFill>
                  <a:srgbClr val="2B2B2B"/>
                </a:solidFill>
                <a:effectLst/>
                <a:latin typeface="Lato"/>
              </a:rPr>
              <a:t>Chmiel</a:t>
            </a:r>
            <a:r>
              <a:rPr lang="en-US" b="0" i="0" dirty="0">
                <a:solidFill>
                  <a:srgbClr val="2B2B2B"/>
                </a:solidFill>
                <a:effectLst/>
                <a:latin typeface="Lato"/>
              </a:rPr>
              <a:t> (Ed.), </a:t>
            </a:r>
            <a:r>
              <a:rPr lang="en-US" b="0" i="1" dirty="0">
                <a:solidFill>
                  <a:srgbClr val="2B2B2B"/>
                </a:solidFill>
                <a:effectLst/>
                <a:latin typeface="inherit"/>
              </a:rPr>
              <a:t>An introduction to work and organizational psychology: A European perspective</a:t>
            </a:r>
            <a:r>
              <a:rPr lang="en-US" b="0" i="0" dirty="0">
                <a:solidFill>
                  <a:srgbClr val="2B2B2B"/>
                </a:solidFill>
                <a:effectLst/>
                <a:latin typeface="Lato"/>
              </a:rPr>
              <a:t> (pp. 327-346). Oxford, UK: Blackwell Publishing.</a:t>
            </a:r>
          </a:p>
          <a:p>
            <a:pPr algn="l" fontAlgn="base"/>
            <a:r>
              <a:rPr lang="en-US" b="0" i="0" dirty="0">
                <a:solidFill>
                  <a:srgbClr val="2B2B2B"/>
                </a:solidFill>
                <a:effectLst/>
                <a:latin typeface="Lato"/>
              </a:rPr>
              <a:t>West, M. A. (2008). Effective teams in organizations. In N. </a:t>
            </a:r>
            <a:r>
              <a:rPr lang="en-US" b="0" i="0" dirty="0" err="1">
                <a:solidFill>
                  <a:srgbClr val="2B2B2B"/>
                </a:solidFill>
                <a:effectLst/>
                <a:latin typeface="Lato"/>
              </a:rPr>
              <a:t>Chmiel</a:t>
            </a:r>
            <a:r>
              <a:rPr lang="en-US" b="0" i="0" dirty="0">
                <a:solidFill>
                  <a:srgbClr val="2B2B2B"/>
                </a:solidFill>
                <a:effectLst/>
                <a:latin typeface="Lato"/>
              </a:rPr>
              <a:t> (Ed.), </a:t>
            </a:r>
            <a:r>
              <a:rPr lang="en-US" b="0" i="1" dirty="0">
                <a:solidFill>
                  <a:srgbClr val="2B2B2B"/>
                </a:solidFill>
                <a:effectLst/>
                <a:latin typeface="inherit"/>
              </a:rPr>
              <a:t>An introduction to work and organizational psychology: A European perspective</a:t>
            </a:r>
            <a:r>
              <a:rPr lang="en-US" b="0" i="0" dirty="0">
                <a:solidFill>
                  <a:srgbClr val="2B2B2B"/>
                </a:solidFill>
                <a:effectLst/>
                <a:latin typeface="Lato"/>
              </a:rPr>
              <a:t> (2nd ed; pp. 305-328). Oxford, UK: Blackwell Publishing.</a:t>
            </a:r>
          </a:p>
          <a:p>
            <a:endParaRPr lang="en-MY" dirty="0"/>
          </a:p>
        </p:txBody>
      </p:sp>
    </p:spTree>
    <p:extLst>
      <p:ext uri="{BB962C8B-B14F-4D97-AF65-F5344CB8AC3E}">
        <p14:creationId xmlns:p14="http://schemas.microsoft.com/office/powerpoint/2010/main" val="2486963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3AFF7A-A804-4903-BED5-54C49D521440}"/>
              </a:ext>
            </a:extLst>
          </p:cNvPr>
          <p:cNvSpPr>
            <a:spLocks noGrp="1"/>
          </p:cNvSpPr>
          <p:nvPr>
            <p:ph type="title"/>
          </p:nvPr>
        </p:nvSpPr>
        <p:spPr/>
        <p:txBody>
          <a:bodyPr/>
          <a:lstStyle/>
          <a:p>
            <a:r>
              <a:rPr lang="en-MY" dirty="0"/>
              <a:t>Assignment </a:t>
            </a:r>
          </a:p>
        </p:txBody>
      </p:sp>
      <p:sp>
        <p:nvSpPr>
          <p:cNvPr id="3" name="Content Placeholder 2">
            <a:extLst>
              <a:ext uri="{FF2B5EF4-FFF2-40B4-BE49-F238E27FC236}">
                <a16:creationId xmlns:a16="http://schemas.microsoft.com/office/drawing/2014/main" xmlns="" id="{AFDEFA34-3C45-4BD6-BA72-3768FF15B764}"/>
              </a:ext>
            </a:extLst>
          </p:cNvPr>
          <p:cNvSpPr>
            <a:spLocks noGrp="1"/>
          </p:cNvSpPr>
          <p:nvPr>
            <p:ph idx="1"/>
          </p:nvPr>
        </p:nvSpPr>
        <p:spPr/>
        <p:txBody>
          <a:bodyPr>
            <a:normAutofit fontScale="47500" lnSpcReduction="20000"/>
          </a:bodyPr>
          <a:lstStyle/>
          <a:p>
            <a:pPr marL="0" indent="0" algn="l">
              <a:buNone/>
            </a:pPr>
            <a:r>
              <a:rPr lang="en-US" sz="2900" b="0" i="0" dirty="0">
                <a:solidFill>
                  <a:schemeClr val="accent5"/>
                </a:solidFill>
                <a:effectLst/>
                <a:latin typeface="Times New Roman" panose="02020603050405020304" pitchFamily="18" charset="0"/>
                <a:cs typeface="Times New Roman" panose="02020603050405020304" pitchFamily="18" charset="0"/>
              </a:rPr>
              <a:t>A team has been pulled together from various parts of a large service organization to work on a new process improvement project that is needed to improve how the company manages and supports its client base. The team lead on this project is Sandra from the Chicago office who has 15 years experience as a project manager/team lead managing process improvement projects.</a:t>
            </a:r>
          </a:p>
          <a:p>
            <a:pPr marL="457200" lvl="1" indent="0">
              <a:buNone/>
            </a:pPr>
            <a:r>
              <a:rPr lang="en-US" sz="2900" b="0" i="0" dirty="0">
                <a:solidFill>
                  <a:schemeClr val="accent5"/>
                </a:solidFill>
                <a:effectLst/>
                <a:latin typeface="Times New Roman" panose="02020603050405020304" pitchFamily="18" charset="0"/>
                <a:cs typeface="Times New Roman" panose="02020603050405020304" pitchFamily="18" charset="0"/>
              </a:rPr>
              <a:t>     The other members of the team include:</a:t>
            </a:r>
          </a:p>
          <a:p>
            <a:pPr lvl="1"/>
            <a:r>
              <a:rPr lang="en-US" sz="2900" b="0" i="0" dirty="0">
                <a:solidFill>
                  <a:schemeClr val="accent5"/>
                </a:solidFill>
                <a:effectLst/>
                <a:latin typeface="Times New Roman" panose="02020603050405020304" pitchFamily="18" charset="0"/>
                <a:cs typeface="Times New Roman" panose="02020603050405020304" pitchFamily="18" charset="0"/>
              </a:rPr>
              <a:t>Peter: 10 years experience on various types of projects, expertise in scheduling and budget control (office location: San Diego)</a:t>
            </a:r>
          </a:p>
          <a:p>
            <a:pPr lvl="1"/>
            <a:r>
              <a:rPr lang="en-US" sz="2900" b="0" i="0" dirty="0">
                <a:solidFill>
                  <a:schemeClr val="accent5"/>
                </a:solidFill>
                <a:effectLst/>
                <a:latin typeface="Times New Roman" panose="02020603050405020304" pitchFamily="18" charset="0"/>
                <a:cs typeface="Times New Roman" panose="02020603050405020304" pitchFamily="18" charset="0"/>
              </a:rPr>
              <a:t>Sarah: 5 years experience as an individual contributor on projects, strong programming background, some experience developing databases (office location: Chicago)</a:t>
            </a:r>
          </a:p>
          <a:p>
            <a:pPr lvl="1"/>
            <a:r>
              <a:rPr lang="en-US" sz="2900" b="0" i="0" dirty="0">
                <a:solidFill>
                  <a:schemeClr val="accent5"/>
                </a:solidFill>
                <a:effectLst/>
                <a:latin typeface="Times New Roman" panose="02020603050405020304" pitchFamily="18" charset="0"/>
                <a:cs typeface="Times New Roman" panose="02020603050405020304" pitchFamily="18" charset="0"/>
              </a:rPr>
              <a:t>Mohammed: 8 years experience working on various projects, expertise in earned value management, stakeholder analysis and problem solving (office location: New York)</a:t>
            </a:r>
          </a:p>
          <a:p>
            <a:pPr lvl="1"/>
            <a:r>
              <a:rPr lang="en-US" sz="2900" b="0" i="0" dirty="0">
                <a:solidFill>
                  <a:schemeClr val="accent5"/>
                </a:solidFill>
                <a:effectLst/>
                <a:latin typeface="Times New Roman" panose="02020603050405020304" pitchFamily="18" charset="0"/>
                <a:cs typeface="Times New Roman" panose="02020603050405020304" pitchFamily="18" charset="0"/>
              </a:rPr>
              <a:t>Donna: 2 years experience as an individual contributor on projects (office location: New York)</a:t>
            </a:r>
          </a:p>
          <a:p>
            <a:pPr lvl="1"/>
            <a:r>
              <a:rPr lang="en-US" sz="2900" b="0" i="0" dirty="0" err="1">
                <a:solidFill>
                  <a:schemeClr val="accent5"/>
                </a:solidFill>
                <a:effectLst/>
                <a:latin typeface="Times New Roman" panose="02020603050405020304" pitchFamily="18" charset="0"/>
                <a:cs typeface="Times New Roman" panose="02020603050405020304" pitchFamily="18" charset="0"/>
              </a:rPr>
              <a:t>Ameya</a:t>
            </a:r>
            <a:r>
              <a:rPr lang="en-US" sz="2900" b="0" i="0" dirty="0">
                <a:solidFill>
                  <a:schemeClr val="accent5"/>
                </a:solidFill>
                <a:effectLst/>
                <a:latin typeface="Times New Roman" panose="02020603050405020304" pitchFamily="18" charset="0"/>
                <a:cs typeface="Times New Roman" panose="02020603050405020304" pitchFamily="18" charset="0"/>
              </a:rPr>
              <a:t>: 7 years experience on process improvement projects, background in developing databases, expertise in earned value management (office location: San Diego)</a:t>
            </a:r>
          </a:p>
          <a:p>
            <a:pPr algn="l"/>
            <a:r>
              <a:rPr lang="en-US" sz="2900" b="0" i="0" dirty="0">
                <a:solidFill>
                  <a:schemeClr val="accent5"/>
                </a:solidFill>
                <a:effectLst/>
                <a:latin typeface="Times New Roman" panose="02020603050405020304" pitchFamily="18" charset="0"/>
                <a:cs typeface="Times New Roman" panose="02020603050405020304" pitchFamily="18" charset="0"/>
              </a:rPr>
              <a:t>Sandra has worked on projects with Sarah and Mohammed, but has never worked with the others. Donna has worked with Mohammed. No one else has worked with other members of this team. Sandra has been given a very tight deadline to get this project completed.</a:t>
            </a:r>
          </a:p>
          <a:p>
            <a:pPr algn="l"/>
            <a:r>
              <a:rPr lang="en-US" sz="2900" b="0" i="0" dirty="0">
                <a:solidFill>
                  <a:schemeClr val="accent5"/>
                </a:solidFill>
                <a:effectLst/>
                <a:latin typeface="Times New Roman" panose="02020603050405020304" pitchFamily="18" charset="0"/>
                <a:cs typeface="Times New Roman" panose="02020603050405020304" pitchFamily="18" charset="0"/>
              </a:rPr>
              <a:t>Sandra has decided that it would be best if the team met face-to-face initially, even though they will be working virtually for the project. She has arranged a meeting at the New York office (company headquarters) for the entire team. They will spend 2 days getting introduced to each other and learning about the project.</a:t>
            </a:r>
          </a:p>
          <a:p>
            <a:r>
              <a:rPr lang="en-MY" dirty="0"/>
              <a:t>Support your answer in the light of Team Development and how you make the performance increase of your team ?</a:t>
            </a:r>
          </a:p>
        </p:txBody>
      </p:sp>
    </p:spTree>
    <p:extLst>
      <p:ext uri="{BB962C8B-B14F-4D97-AF65-F5344CB8AC3E}">
        <p14:creationId xmlns:p14="http://schemas.microsoft.com/office/powerpoint/2010/main" val="39231409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1714</TotalTime>
  <Words>1583</Words>
  <Application>Microsoft Office PowerPoint</Application>
  <PresentationFormat>Widescreen</PresentationFormat>
  <Paragraphs>158</Paragraphs>
  <Slides>27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27</vt:i4>
      </vt:variant>
    </vt:vector>
  </HeadingPairs>
  <TitlesOfParts>
    <vt:vector size="40" baseType="lpstr">
      <vt:lpstr>Arial</vt:lpstr>
      <vt:lpstr>Calibri</vt:lpstr>
      <vt:lpstr>Calibri Light</vt:lpstr>
      <vt:lpstr>charter</vt:lpstr>
      <vt:lpstr>Georgia</vt:lpstr>
      <vt:lpstr>Georgia,Bold</vt:lpstr>
      <vt:lpstr>inherit</vt:lpstr>
      <vt:lpstr>Lato</vt:lpstr>
      <vt:lpstr>sohne</vt:lpstr>
      <vt:lpstr>Times New Roman</vt:lpstr>
      <vt:lpstr>Trebuchet MS</vt:lpstr>
      <vt:lpstr>Wingdings</vt:lpstr>
      <vt:lpstr>Office Theme</vt:lpstr>
      <vt:lpstr>Professional Practices</vt:lpstr>
      <vt:lpstr>PowerPoint Presentation</vt:lpstr>
      <vt:lpstr>Introduction </vt:lpstr>
      <vt:lpstr>Introduction</vt:lpstr>
      <vt:lpstr>Stages of Team Development</vt:lpstr>
      <vt:lpstr>Stages of Team Development</vt:lpstr>
      <vt:lpstr>Stages of Team Development</vt:lpstr>
      <vt:lpstr>Stages of Team Development</vt:lpstr>
      <vt:lpstr>Stages of Team Development</vt:lpstr>
      <vt:lpstr>Stages of Team Development</vt:lpstr>
      <vt:lpstr>Stages of Team Development</vt:lpstr>
      <vt:lpstr>Barriers to Effective Team Building</vt:lpstr>
      <vt:lpstr>Barriers to Effective Team Building</vt:lpstr>
      <vt:lpstr>Barriers to Effective Team Building</vt:lpstr>
      <vt:lpstr>Barriers to Effective Team Building</vt:lpstr>
      <vt:lpstr>Characteristics of High Performance Teams</vt:lpstr>
      <vt:lpstr>Characteristics of High Performance Teams</vt:lpstr>
      <vt:lpstr>Characteristics of High Performance Teams</vt:lpstr>
      <vt:lpstr>Characteristics of High Performance Teams</vt:lpstr>
      <vt:lpstr>Characteristics of High Performance Teams</vt:lpstr>
      <vt:lpstr>Characteristics of High Performance Teams</vt:lpstr>
      <vt:lpstr>Team Conflict Resolution</vt:lpstr>
      <vt:lpstr>Team Conflict Resolution</vt:lpstr>
      <vt:lpstr>Team Conflict Resolution</vt:lpstr>
      <vt:lpstr>Team Conflict Resolution</vt:lpstr>
      <vt:lpstr>References </vt:lpstr>
      <vt:lpstr>Assignment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Practices</dc:title>
  <dc:creator>Hammad qureshi</dc:creator>
  <cp:lastModifiedBy>Windows User</cp:lastModifiedBy>
  <cp:revision>21</cp:revision>
  <dcterms:created xsi:type="dcterms:W3CDTF">2020-10-20T05:57:26Z</dcterms:created>
  <dcterms:modified xsi:type="dcterms:W3CDTF">2020-12-06T14:30:06Z</dcterms:modified>
</cp:coreProperties>
</file>
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8" r:id="rId3"/>
    <p:sldId id="257" r:id="rId4"/>
    <p:sldId id="258" r:id="rId5"/>
    <p:sldId id="261" r:id="rId6"/>
    <p:sldId id="269" r:id="rId7"/>
    <p:sldId id="270" r:id="rId8"/>
    <p:sldId id="271" r:id="rId9"/>
    <p:sldId id="262" r:id="rId10"/>
    <p:sldId id="263" r:id="rId11"/>
    <p:sldId id="264" r:id="rId12"/>
    <p:sldId id="265" r:id="rId13"/>
    <p:sldId id="267" r:id="rId14"/>
    <p:sldId id="273" r:id="rId15"/>
    <p:sldId id="279" r:id="rId16"/>
    <p:sldId id="293" r:id="rId17"/>
    <p:sldId id="281" r:id="rId18"/>
    <p:sldId id="283" r:id="rId19"/>
    <p:sldId id="284" r:id="rId20"/>
    <p:sldId id="285" r:id="rId21"/>
    <p:sldId id="286" r:id="rId22"/>
    <p:sldId id="288" r:id="rId23"/>
    <p:sldId id="294" r:id="rId24"/>
    <p:sldId id="276" r:id="rId25"/>
    <p:sldId id="274" r:id="rId26"/>
    <p:sldId id="295" r:id="rId27"/>
    <p:sldId id="296" r:id="rId28"/>
    <p:sldId id="297" r:id="rId29"/>
    <p:sldId id="299" r:id="rId30"/>
    <p:sldId id="300" r:id="rId31"/>
    <p:sldId id="301" r:id="rId32"/>
    <p:sldId id="302" r:id="rId33"/>
    <p:sldId id="303" r:id="rId34"/>
    <p:sldId id="304" r:id="rId35"/>
    <p:sldId id="305" r:id="rId36"/>
    <p:sldId id="306" r:id="rId37"/>
    <p:sldId id="30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264F85-9C6C-48C0-9882-F0F391DC80CF}"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n-US"/>
        </a:p>
      </dgm:t>
    </dgm:pt>
    <dgm:pt modelId="{7488134D-8FED-4F10-B347-D919F1DE6201}">
      <dgm:prSet phldrT="[Text]" custT="1"/>
      <dgm:spPr/>
      <dgm:t>
        <a:bodyPr/>
        <a:lstStyle/>
        <a:p>
          <a:r>
            <a:rPr lang="en-US" sz="3600" dirty="0" smtClean="0">
              <a:solidFill>
                <a:srgbClr val="002060"/>
              </a:solidFill>
            </a:rPr>
            <a:t>BLACK HATS</a:t>
          </a:r>
          <a:endParaRPr lang="en-US" sz="3600" dirty="0">
            <a:solidFill>
              <a:srgbClr val="002060"/>
            </a:solidFill>
          </a:endParaRPr>
        </a:p>
      </dgm:t>
    </dgm:pt>
    <dgm:pt modelId="{BF1DAAB5-A058-462B-A3CB-675F777B76F1}" type="parTrans" cxnId="{781939FC-5672-470F-9760-4D8DB629DB35}">
      <dgm:prSet/>
      <dgm:spPr/>
      <dgm:t>
        <a:bodyPr/>
        <a:lstStyle/>
        <a:p>
          <a:endParaRPr lang="en-US"/>
        </a:p>
      </dgm:t>
    </dgm:pt>
    <dgm:pt modelId="{35807017-3099-4A72-8408-656573AE710B}" type="sibTrans" cxnId="{781939FC-5672-470F-9760-4D8DB629DB35}">
      <dgm:prSet/>
      <dgm:spPr/>
      <dgm:t>
        <a:bodyPr/>
        <a:lstStyle/>
        <a:p>
          <a:endParaRPr lang="en-US"/>
        </a:p>
      </dgm:t>
    </dgm:pt>
    <dgm:pt modelId="{C90685C1-31B1-464E-978C-9B46BCFE38B3}">
      <dgm:prSet phldrT="[Text]" custT="1"/>
      <dgm:spPr/>
      <dgm:t>
        <a:bodyPr/>
        <a:lstStyle/>
        <a:p>
          <a:r>
            <a:rPr lang="en-US" sz="3600" dirty="0" smtClean="0">
              <a:solidFill>
                <a:srgbClr val="002060"/>
              </a:solidFill>
            </a:rPr>
            <a:t>WHITE HATS</a:t>
          </a:r>
          <a:endParaRPr lang="en-US" sz="3600" dirty="0">
            <a:solidFill>
              <a:srgbClr val="002060"/>
            </a:solidFill>
          </a:endParaRPr>
        </a:p>
      </dgm:t>
    </dgm:pt>
    <dgm:pt modelId="{8030CDA9-220E-43FD-8948-B00A26DAB8A9}" type="parTrans" cxnId="{C3786357-B69D-4E80-8DCD-47369D02F570}">
      <dgm:prSet/>
      <dgm:spPr/>
      <dgm:t>
        <a:bodyPr/>
        <a:lstStyle/>
        <a:p>
          <a:endParaRPr lang="en-US"/>
        </a:p>
      </dgm:t>
    </dgm:pt>
    <dgm:pt modelId="{3F008840-F7ED-4FF7-AE8A-F006F60159B0}" type="sibTrans" cxnId="{C3786357-B69D-4E80-8DCD-47369D02F570}">
      <dgm:prSet/>
      <dgm:spPr/>
      <dgm:t>
        <a:bodyPr/>
        <a:lstStyle/>
        <a:p>
          <a:endParaRPr lang="en-US"/>
        </a:p>
      </dgm:t>
    </dgm:pt>
    <dgm:pt modelId="{05CC1795-6E82-4752-A780-AFD943F4AAE8}">
      <dgm:prSet phldrT="[Text]" custT="1"/>
      <dgm:spPr/>
      <dgm:t>
        <a:bodyPr/>
        <a:lstStyle/>
        <a:p>
          <a:r>
            <a:rPr lang="en-US" sz="3600" dirty="0" smtClean="0">
              <a:solidFill>
                <a:srgbClr val="002060"/>
              </a:solidFill>
            </a:rPr>
            <a:t>GREY HATS </a:t>
          </a:r>
          <a:endParaRPr lang="en-US" sz="3600" dirty="0">
            <a:solidFill>
              <a:srgbClr val="002060"/>
            </a:solidFill>
          </a:endParaRPr>
        </a:p>
      </dgm:t>
    </dgm:pt>
    <dgm:pt modelId="{80D36BBE-E70E-4866-B98D-E8E647D65CA5}" type="parTrans" cxnId="{CFA5650C-D8E8-445C-801A-87641AB82922}">
      <dgm:prSet/>
      <dgm:spPr/>
      <dgm:t>
        <a:bodyPr/>
        <a:lstStyle/>
        <a:p>
          <a:endParaRPr lang="en-US"/>
        </a:p>
      </dgm:t>
    </dgm:pt>
    <dgm:pt modelId="{91F108BE-D90F-41BD-87D0-1EECB91F5CC9}" type="sibTrans" cxnId="{CFA5650C-D8E8-445C-801A-87641AB82922}">
      <dgm:prSet/>
      <dgm:spPr/>
      <dgm:t>
        <a:bodyPr/>
        <a:lstStyle/>
        <a:p>
          <a:endParaRPr lang="en-US"/>
        </a:p>
      </dgm:t>
    </dgm:pt>
    <dgm:pt modelId="{C508C7F0-8BD7-4DAC-B150-A6A756BCC798}" type="pres">
      <dgm:prSet presAssocID="{52264F85-9C6C-48C0-9882-F0F391DC80CF}" presName="Name0" presStyleCnt="0">
        <dgm:presLayoutVars>
          <dgm:chMax val="7"/>
          <dgm:chPref val="7"/>
          <dgm:dir/>
          <dgm:animLvl val="lvl"/>
        </dgm:presLayoutVars>
      </dgm:prSet>
      <dgm:spPr/>
      <dgm:t>
        <a:bodyPr/>
        <a:lstStyle/>
        <a:p>
          <a:endParaRPr lang="en-US"/>
        </a:p>
      </dgm:t>
    </dgm:pt>
    <dgm:pt modelId="{85A9C369-277E-454C-9CDC-7ECC7A6E7ACC}" type="pres">
      <dgm:prSet presAssocID="{7488134D-8FED-4F10-B347-D919F1DE6201}" presName="Accent1" presStyleCnt="0"/>
      <dgm:spPr/>
    </dgm:pt>
    <dgm:pt modelId="{46406848-1DE4-4CB5-BDE1-749852D33949}" type="pres">
      <dgm:prSet presAssocID="{7488134D-8FED-4F10-B347-D919F1DE6201}" presName="Accent" presStyleLbl="node1" presStyleIdx="0" presStyleCnt="3"/>
      <dgm:spPr>
        <a:solidFill>
          <a:schemeClr val="bg1"/>
        </a:solidFill>
        <a:ln>
          <a:solidFill>
            <a:srgbClr val="002060"/>
          </a:solidFill>
        </a:ln>
      </dgm:spPr>
      <dgm:t>
        <a:bodyPr/>
        <a:lstStyle/>
        <a:p>
          <a:endParaRPr lang="en-US"/>
        </a:p>
      </dgm:t>
    </dgm:pt>
    <dgm:pt modelId="{A7C953B6-B28D-464E-A8DE-CA204B7F3AB0}" type="pres">
      <dgm:prSet presAssocID="{7488134D-8FED-4F10-B347-D919F1DE6201}" presName="Parent1" presStyleLbl="revTx" presStyleIdx="0" presStyleCnt="3">
        <dgm:presLayoutVars>
          <dgm:chMax val="1"/>
          <dgm:chPref val="1"/>
          <dgm:bulletEnabled val="1"/>
        </dgm:presLayoutVars>
      </dgm:prSet>
      <dgm:spPr/>
      <dgm:t>
        <a:bodyPr/>
        <a:lstStyle/>
        <a:p>
          <a:endParaRPr lang="en-US"/>
        </a:p>
      </dgm:t>
    </dgm:pt>
    <dgm:pt modelId="{8800127D-F4E2-42A6-BD5D-92E50165D488}" type="pres">
      <dgm:prSet presAssocID="{C90685C1-31B1-464E-978C-9B46BCFE38B3}" presName="Accent2" presStyleCnt="0"/>
      <dgm:spPr/>
    </dgm:pt>
    <dgm:pt modelId="{C8A1EE27-314E-43FD-B747-CAC903EC48B5}" type="pres">
      <dgm:prSet presAssocID="{C90685C1-31B1-464E-978C-9B46BCFE38B3}" presName="Accent" presStyleLbl="node1" presStyleIdx="1" presStyleCnt="3"/>
      <dgm:spPr>
        <a:solidFill>
          <a:schemeClr val="tx1"/>
        </a:solidFill>
        <a:ln>
          <a:solidFill>
            <a:srgbClr val="002060"/>
          </a:solidFill>
        </a:ln>
      </dgm:spPr>
      <dgm:t>
        <a:bodyPr/>
        <a:lstStyle/>
        <a:p>
          <a:endParaRPr lang="en-US"/>
        </a:p>
      </dgm:t>
    </dgm:pt>
    <dgm:pt modelId="{B1188690-B2DF-4DF9-833E-3535FD0CD474}" type="pres">
      <dgm:prSet presAssocID="{C90685C1-31B1-464E-978C-9B46BCFE38B3}" presName="Parent2" presStyleLbl="revTx" presStyleIdx="1" presStyleCnt="3">
        <dgm:presLayoutVars>
          <dgm:chMax val="1"/>
          <dgm:chPref val="1"/>
          <dgm:bulletEnabled val="1"/>
        </dgm:presLayoutVars>
      </dgm:prSet>
      <dgm:spPr/>
      <dgm:t>
        <a:bodyPr/>
        <a:lstStyle/>
        <a:p>
          <a:endParaRPr lang="en-US"/>
        </a:p>
      </dgm:t>
    </dgm:pt>
    <dgm:pt modelId="{9E83E93F-38F6-493F-9417-10ECE3EBE79D}" type="pres">
      <dgm:prSet presAssocID="{05CC1795-6E82-4752-A780-AFD943F4AAE8}" presName="Accent3" presStyleCnt="0"/>
      <dgm:spPr/>
    </dgm:pt>
    <dgm:pt modelId="{D725E4CA-853F-48D6-A212-A6BB0F467075}" type="pres">
      <dgm:prSet presAssocID="{05CC1795-6E82-4752-A780-AFD943F4AAE8}" presName="Accent" presStyleLbl="node1" presStyleIdx="2" presStyleCnt="3"/>
      <dgm:spPr>
        <a:solidFill>
          <a:schemeClr val="tx1">
            <a:lumMod val="65000"/>
          </a:schemeClr>
        </a:solidFill>
        <a:ln>
          <a:solidFill>
            <a:srgbClr val="002060"/>
          </a:solidFill>
        </a:ln>
      </dgm:spPr>
      <dgm:t>
        <a:bodyPr/>
        <a:lstStyle/>
        <a:p>
          <a:endParaRPr lang="en-US"/>
        </a:p>
      </dgm:t>
    </dgm:pt>
    <dgm:pt modelId="{217943BE-1BA8-404E-B619-20EB3115061D}" type="pres">
      <dgm:prSet presAssocID="{05CC1795-6E82-4752-A780-AFD943F4AAE8}" presName="Parent3" presStyleLbl="revTx" presStyleIdx="2" presStyleCnt="3">
        <dgm:presLayoutVars>
          <dgm:chMax val="1"/>
          <dgm:chPref val="1"/>
          <dgm:bulletEnabled val="1"/>
        </dgm:presLayoutVars>
      </dgm:prSet>
      <dgm:spPr/>
      <dgm:t>
        <a:bodyPr/>
        <a:lstStyle/>
        <a:p>
          <a:endParaRPr lang="en-US"/>
        </a:p>
      </dgm:t>
    </dgm:pt>
  </dgm:ptLst>
  <dgm:cxnLst>
    <dgm:cxn modelId="{CFA5650C-D8E8-445C-801A-87641AB82922}" srcId="{52264F85-9C6C-48C0-9882-F0F391DC80CF}" destId="{05CC1795-6E82-4752-A780-AFD943F4AAE8}" srcOrd="2" destOrd="0" parTransId="{80D36BBE-E70E-4866-B98D-E8E647D65CA5}" sibTransId="{91F108BE-D90F-41BD-87D0-1EECB91F5CC9}"/>
    <dgm:cxn modelId="{4465A016-C6F2-404D-86E1-BFC5BA40FFD0}" type="presOf" srcId="{7488134D-8FED-4F10-B347-D919F1DE6201}" destId="{A7C953B6-B28D-464E-A8DE-CA204B7F3AB0}" srcOrd="0" destOrd="0" presId="urn:microsoft.com/office/officeart/2009/layout/CircleArrowProcess"/>
    <dgm:cxn modelId="{D3A7ABD0-B604-48E4-AA8D-B898BEBEF957}" type="presOf" srcId="{C90685C1-31B1-464E-978C-9B46BCFE38B3}" destId="{B1188690-B2DF-4DF9-833E-3535FD0CD474}" srcOrd="0" destOrd="0" presId="urn:microsoft.com/office/officeart/2009/layout/CircleArrowProcess"/>
    <dgm:cxn modelId="{781939FC-5672-470F-9760-4D8DB629DB35}" srcId="{52264F85-9C6C-48C0-9882-F0F391DC80CF}" destId="{7488134D-8FED-4F10-B347-D919F1DE6201}" srcOrd="0" destOrd="0" parTransId="{BF1DAAB5-A058-462B-A3CB-675F777B76F1}" sibTransId="{35807017-3099-4A72-8408-656573AE710B}"/>
    <dgm:cxn modelId="{1D961023-94C6-4F8B-8390-2696B2AE38E0}" type="presOf" srcId="{05CC1795-6E82-4752-A780-AFD943F4AAE8}" destId="{217943BE-1BA8-404E-B619-20EB3115061D}" srcOrd="0" destOrd="0" presId="urn:microsoft.com/office/officeart/2009/layout/CircleArrowProcess"/>
    <dgm:cxn modelId="{C3786357-B69D-4E80-8DCD-47369D02F570}" srcId="{52264F85-9C6C-48C0-9882-F0F391DC80CF}" destId="{C90685C1-31B1-464E-978C-9B46BCFE38B3}" srcOrd="1" destOrd="0" parTransId="{8030CDA9-220E-43FD-8948-B00A26DAB8A9}" sibTransId="{3F008840-F7ED-4FF7-AE8A-F006F60159B0}"/>
    <dgm:cxn modelId="{FBC0E1B0-BD2E-495D-BE63-1A161D0E5216}" type="presOf" srcId="{52264F85-9C6C-48C0-9882-F0F391DC80CF}" destId="{C508C7F0-8BD7-4DAC-B150-A6A756BCC798}" srcOrd="0" destOrd="0" presId="urn:microsoft.com/office/officeart/2009/layout/CircleArrowProcess"/>
    <dgm:cxn modelId="{33494EBB-A3DA-47A5-8354-45B0FF793323}" type="presParOf" srcId="{C508C7F0-8BD7-4DAC-B150-A6A756BCC798}" destId="{85A9C369-277E-454C-9CDC-7ECC7A6E7ACC}" srcOrd="0" destOrd="0" presId="urn:microsoft.com/office/officeart/2009/layout/CircleArrowProcess"/>
    <dgm:cxn modelId="{9410DEBB-B2D9-40F4-8B5E-5712A336EA19}" type="presParOf" srcId="{85A9C369-277E-454C-9CDC-7ECC7A6E7ACC}" destId="{46406848-1DE4-4CB5-BDE1-749852D33949}" srcOrd="0" destOrd="0" presId="urn:microsoft.com/office/officeart/2009/layout/CircleArrowProcess"/>
    <dgm:cxn modelId="{C60B6414-0EB4-4086-B0EF-42C2ACF42867}" type="presParOf" srcId="{C508C7F0-8BD7-4DAC-B150-A6A756BCC798}" destId="{A7C953B6-B28D-464E-A8DE-CA204B7F3AB0}" srcOrd="1" destOrd="0" presId="urn:microsoft.com/office/officeart/2009/layout/CircleArrowProcess"/>
    <dgm:cxn modelId="{A0487F66-48DA-4DCB-8B37-099B2343330E}" type="presParOf" srcId="{C508C7F0-8BD7-4DAC-B150-A6A756BCC798}" destId="{8800127D-F4E2-42A6-BD5D-92E50165D488}" srcOrd="2" destOrd="0" presId="urn:microsoft.com/office/officeart/2009/layout/CircleArrowProcess"/>
    <dgm:cxn modelId="{8422017B-789B-406E-90F1-19D005A0E666}" type="presParOf" srcId="{8800127D-F4E2-42A6-BD5D-92E50165D488}" destId="{C8A1EE27-314E-43FD-B747-CAC903EC48B5}" srcOrd="0" destOrd="0" presId="urn:microsoft.com/office/officeart/2009/layout/CircleArrowProcess"/>
    <dgm:cxn modelId="{EAB496E1-CF28-419C-843A-FFE56BAB3EE7}" type="presParOf" srcId="{C508C7F0-8BD7-4DAC-B150-A6A756BCC798}" destId="{B1188690-B2DF-4DF9-833E-3535FD0CD474}" srcOrd="3" destOrd="0" presId="urn:microsoft.com/office/officeart/2009/layout/CircleArrowProcess"/>
    <dgm:cxn modelId="{2484AA44-6BE0-423F-9CE6-E2820D66F036}" type="presParOf" srcId="{C508C7F0-8BD7-4DAC-B150-A6A756BCC798}" destId="{9E83E93F-38F6-493F-9417-10ECE3EBE79D}" srcOrd="4" destOrd="0" presId="urn:microsoft.com/office/officeart/2009/layout/CircleArrowProcess"/>
    <dgm:cxn modelId="{EA64A442-6990-4D30-BA80-85950A465F22}" type="presParOf" srcId="{9E83E93F-38F6-493F-9417-10ECE3EBE79D}" destId="{D725E4CA-853F-48D6-A212-A6BB0F467075}" srcOrd="0" destOrd="0" presId="urn:microsoft.com/office/officeart/2009/layout/CircleArrowProcess"/>
    <dgm:cxn modelId="{29382BB8-9174-4DC3-9D3A-60782CE44E2E}" type="presParOf" srcId="{C508C7F0-8BD7-4DAC-B150-A6A756BCC798}" destId="{217943BE-1BA8-404E-B619-20EB3115061D}"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3A788B-77A1-4DB4-8E3F-396047F62040}" type="doc">
      <dgm:prSet loTypeId="urn:microsoft.com/office/officeart/2005/8/layout/pyramid2" loCatId="pyramid" qsTypeId="urn:microsoft.com/office/officeart/2005/8/quickstyle/3d2" qsCatId="3D" csTypeId="urn:microsoft.com/office/officeart/2005/8/colors/accent3_4" csCatId="accent3" phldr="1"/>
      <dgm:spPr/>
    </dgm:pt>
    <dgm:pt modelId="{C84E782F-A3AD-439F-AD2A-E8D6A41745B5}">
      <dgm:prSet phldrT="[Text]" custT="1"/>
      <dgm:spPr/>
      <dgm:t>
        <a:bodyPr/>
        <a:lstStyle/>
        <a:p>
          <a:r>
            <a:rPr lang="en-US" sz="4400" dirty="0" smtClean="0">
              <a:solidFill>
                <a:srgbClr val="002060"/>
              </a:solidFill>
            </a:rPr>
            <a:t>LOCAL HACKING</a:t>
          </a:r>
          <a:endParaRPr lang="en-US" sz="4400" dirty="0">
            <a:solidFill>
              <a:srgbClr val="002060"/>
            </a:solidFill>
          </a:endParaRPr>
        </a:p>
      </dgm:t>
    </dgm:pt>
    <dgm:pt modelId="{D82D2E75-4A54-4CB1-B30F-DA6D43187BD5}" type="sibTrans" cxnId="{EEEA1D6B-9EC1-48E9-BD55-7A68AAC632CE}">
      <dgm:prSet/>
      <dgm:spPr/>
      <dgm:t>
        <a:bodyPr/>
        <a:lstStyle/>
        <a:p>
          <a:endParaRPr lang="en-US"/>
        </a:p>
      </dgm:t>
    </dgm:pt>
    <dgm:pt modelId="{50E9C84B-F110-470E-9047-41A26295252E}" type="parTrans" cxnId="{EEEA1D6B-9EC1-48E9-BD55-7A68AAC632CE}">
      <dgm:prSet/>
      <dgm:spPr/>
      <dgm:t>
        <a:bodyPr/>
        <a:lstStyle/>
        <a:p>
          <a:endParaRPr lang="en-US"/>
        </a:p>
      </dgm:t>
    </dgm:pt>
    <dgm:pt modelId="{7597C535-E1C4-421A-95F2-720BA6581AD7}">
      <dgm:prSet phldrT="[Text]" custT="1"/>
      <dgm:spPr/>
      <dgm:t>
        <a:bodyPr/>
        <a:lstStyle/>
        <a:p>
          <a:r>
            <a:rPr lang="en-US" sz="4400" dirty="0" smtClean="0">
              <a:solidFill>
                <a:srgbClr val="002060"/>
              </a:solidFill>
            </a:rPr>
            <a:t>SOCIAL</a:t>
          </a:r>
          <a:r>
            <a:rPr lang="en-US" sz="4400" dirty="0" smtClean="0"/>
            <a:t> </a:t>
          </a:r>
          <a:r>
            <a:rPr lang="en-US" sz="4400" dirty="0" smtClean="0">
              <a:solidFill>
                <a:srgbClr val="002060"/>
              </a:solidFill>
            </a:rPr>
            <a:t>ENGINEERING</a:t>
          </a:r>
          <a:r>
            <a:rPr lang="en-US" sz="4400" dirty="0" smtClean="0"/>
            <a:t>  </a:t>
          </a:r>
          <a:endParaRPr lang="en-US" sz="4400" dirty="0"/>
        </a:p>
      </dgm:t>
    </dgm:pt>
    <dgm:pt modelId="{E98D53D4-D91B-43B7-92B8-5265705E42AF}" type="sibTrans" cxnId="{4FE73BCF-8FFE-463C-B3F1-A452BC6F567F}">
      <dgm:prSet/>
      <dgm:spPr/>
      <dgm:t>
        <a:bodyPr/>
        <a:lstStyle/>
        <a:p>
          <a:endParaRPr lang="en-US"/>
        </a:p>
      </dgm:t>
    </dgm:pt>
    <dgm:pt modelId="{7234B285-366D-4474-8BA2-408385BDA6E5}" type="parTrans" cxnId="{4FE73BCF-8FFE-463C-B3F1-A452BC6F567F}">
      <dgm:prSet/>
      <dgm:spPr/>
      <dgm:t>
        <a:bodyPr/>
        <a:lstStyle/>
        <a:p>
          <a:endParaRPr lang="en-US"/>
        </a:p>
      </dgm:t>
    </dgm:pt>
    <dgm:pt modelId="{20D4254F-A0D6-46F5-B8F4-F678B3B1B048}">
      <dgm:prSet phldrT="[Text]" custT="1"/>
      <dgm:spPr/>
      <dgm:t>
        <a:bodyPr/>
        <a:lstStyle/>
        <a:p>
          <a:r>
            <a:rPr lang="en-US" sz="4400" dirty="0" smtClean="0">
              <a:solidFill>
                <a:srgbClr val="002060"/>
              </a:solidFill>
            </a:rPr>
            <a:t>REMOTE HACKING </a:t>
          </a:r>
          <a:endParaRPr lang="en-US" sz="4400" dirty="0">
            <a:solidFill>
              <a:srgbClr val="002060"/>
            </a:solidFill>
          </a:endParaRPr>
        </a:p>
      </dgm:t>
    </dgm:pt>
    <dgm:pt modelId="{803AD17C-A039-4585-80B2-5FF7E9105758}" type="sibTrans" cxnId="{0DFDCBE3-B65B-4C76-AB91-26F3F4D857DD}">
      <dgm:prSet/>
      <dgm:spPr/>
      <dgm:t>
        <a:bodyPr/>
        <a:lstStyle/>
        <a:p>
          <a:endParaRPr lang="en-US"/>
        </a:p>
      </dgm:t>
    </dgm:pt>
    <dgm:pt modelId="{C59ED9BD-E49A-48A0-A73D-700526F7CC53}" type="parTrans" cxnId="{0DFDCBE3-B65B-4C76-AB91-26F3F4D857DD}">
      <dgm:prSet/>
      <dgm:spPr/>
      <dgm:t>
        <a:bodyPr/>
        <a:lstStyle/>
        <a:p>
          <a:endParaRPr lang="en-US"/>
        </a:p>
      </dgm:t>
    </dgm:pt>
    <dgm:pt modelId="{BC0075E6-8C3F-48F4-8D46-EE59838C8A82}" type="pres">
      <dgm:prSet presAssocID="{3B3A788B-77A1-4DB4-8E3F-396047F62040}" presName="compositeShape" presStyleCnt="0">
        <dgm:presLayoutVars>
          <dgm:dir/>
          <dgm:resizeHandles/>
        </dgm:presLayoutVars>
      </dgm:prSet>
      <dgm:spPr/>
    </dgm:pt>
    <dgm:pt modelId="{55FDE460-5D02-4DD5-9C6D-4173E90D1893}" type="pres">
      <dgm:prSet presAssocID="{3B3A788B-77A1-4DB4-8E3F-396047F62040}" presName="pyramid" presStyleLbl="node1" presStyleIdx="0" presStyleCnt="1" custScaleX="133801" custLinFactNeighborX="-39300" custLinFactNeighborY="2363">
        <dgm:style>
          <a:lnRef idx="3">
            <a:schemeClr val="lt1"/>
          </a:lnRef>
          <a:fillRef idx="1">
            <a:schemeClr val="accent6"/>
          </a:fillRef>
          <a:effectRef idx="1">
            <a:schemeClr val="accent6"/>
          </a:effectRef>
          <a:fontRef idx="minor">
            <a:schemeClr val="lt1"/>
          </a:fontRef>
        </dgm:style>
      </dgm:prSet>
      <dgm:spPr>
        <a:solidFill>
          <a:srgbClr val="92D050"/>
        </a:solidFill>
      </dgm:spPr>
    </dgm:pt>
    <dgm:pt modelId="{D216974C-2F78-435C-84F8-F0A74C54EF77}" type="pres">
      <dgm:prSet presAssocID="{3B3A788B-77A1-4DB4-8E3F-396047F62040}" presName="theList" presStyleCnt="0"/>
      <dgm:spPr/>
    </dgm:pt>
    <dgm:pt modelId="{46301577-290F-4D87-83FB-9D29E538F37C}" type="pres">
      <dgm:prSet presAssocID="{C84E782F-A3AD-439F-AD2A-E8D6A41745B5}" presName="aNode" presStyleLbl="fgAcc1" presStyleIdx="0" presStyleCnt="3" custLinFactNeighborX="-383" custLinFactNeighborY="17270">
        <dgm:presLayoutVars>
          <dgm:bulletEnabled val="1"/>
        </dgm:presLayoutVars>
      </dgm:prSet>
      <dgm:spPr/>
      <dgm:t>
        <a:bodyPr/>
        <a:lstStyle/>
        <a:p>
          <a:endParaRPr lang="en-US"/>
        </a:p>
      </dgm:t>
    </dgm:pt>
    <dgm:pt modelId="{2878A98E-DB0B-49F8-9A23-494D254A5598}" type="pres">
      <dgm:prSet presAssocID="{C84E782F-A3AD-439F-AD2A-E8D6A41745B5}" presName="aSpace" presStyleCnt="0"/>
      <dgm:spPr/>
    </dgm:pt>
    <dgm:pt modelId="{07085E72-F205-4940-93EA-AEDFE8E2D084}" type="pres">
      <dgm:prSet presAssocID="{20D4254F-A0D6-46F5-B8F4-F678B3B1B048}" presName="aNode" presStyleLbl="fgAcc1" presStyleIdx="1" presStyleCnt="3">
        <dgm:presLayoutVars>
          <dgm:bulletEnabled val="1"/>
        </dgm:presLayoutVars>
      </dgm:prSet>
      <dgm:spPr/>
      <dgm:t>
        <a:bodyPr/>
        <a:lstStyle/>
        <a:p>
          <a:endParaRPr lang="en-US"/>
        </a:p>
      </dgm:t>
    </dgm:pt>
    <dgm:pt modelId="{88BBD698-B3EC-412A-BA4D-6B577442BE8E}" type="pres">
      <dgm:prSet presAssocID="{20D4254F-A0D6-46F5-B8F4-F678B3B1B048}" presName="aSpace" presStyleCnt="0"/>
      <dgm:spPr/>
    </dgm:pt>
    <dgm:pt modelId="{73C538FA-45E7-4C47-A242-896AFDABFEB1}" type="pres">
      <dgm:prSet presAssocID="{7597C535-E1C4-421A-95F2-720BA6581AD7}" presName="aNode" presStyleLbl="fgAcc1" presStyleIdx="2" presStyleCnt="3" custScaleX="117214" custScaleY="109061">
        <dgm:presLayoutVars>
          <dgm:bulletEnabled val="1"/>
        </dgm:presLayoutVars>
      </dgm:prSet>
      <dgm:spPr/>
      <dgm:t>
        <a:bodyPr/>
        <a:lstStyle/>
        <a:p>
          <a:endParaRPr lang="en-US"/>
        </a:p>
      </dgm:t>
    </dgm:pt>
    <dgm:pt modelId="{38EFBFC6-90C0-442B-B5F9-C7276F2E0F67}" type="pres">
      <dgm:prSet presAssocID="{7597C535-E1C4-421A-95F2-720BA6581AD7}" presName="aSpace" presStyleCnt="0"/>
      <dgm:spPr/>
    </dgm:pt>
  </dgm:ptLst>
  <dgm:cxnLst>
    <dgm:cxn modelId="{443944CB-66BC-4D0A-AED6-DDCB27173819}" type="presOf" srcId="{20D4254F-A0D6-46F5-B8F4-F678B3B1B048}" destId="{07085E72-F205-4940-93EA-AEDFE8E2D084}" srcOrd="0" destOrd="0" presId="urn:microsoft.com/office/officeart/2005/8/layout/pyramid2"/>
    <dgm:cxn modelId="{EEEA1D6B-9EC1-48E9-BD55-7A68AAC632CE}" srcId="{3B3A788B-77A1-4DB4-8E3F-396047F62040}" destId="{C84E782F-A3AD-439F-AD2A-E8D6A41745B5}" srcOrd="0" destOrd="0" parTransId="{50E9C84B-F110-470E-9047-41A26295252E}" sibTransId="{D82D2E75-4A54-4CB1-B30F-DA6D43187BD5}"/>
    <dgm:cxn modelId="{9A72E49D-01DA-4F22-AECE-0AC600F842D8}" type="presOf" srcId="{C84E782F-A3AD-439F-AD2A-E8D6A41745B5}" destId="{46301577-290F-4D87-83FB-9D29E538F37C}" srcOrd="0" destOrd="0" presId="urn:microsoft.com/office/officeart/2005/8/layout/pyramid2"/>
    <dgm:cxn modelId="{1F87F07A-FD55-4BEF-A3D3-9F3635CFECC5}" type="presOf" srcId="{7597C535-E1C4-421A-95F2-720BA6581AD7}" destId="{73C538FA-45E7-4C47-A242-896AFDABFEB1}" srcOrd="0" destOrd="0" presId="urn:microsoft.com/office/officeart/2005/8/layout/pyramid2"/>
    <dgm:cxn modelId="{4FE73BCF-8FFE-463C-B3F1-A452BC6F567F}" srcId="{3B3A788B-77A1-4DB4-8E3F-396047F62040}" destId="{7597C535-E1C4-421A-95F2-720BA6581AD7}" srcOrd="2" destOrd="0" parTransId="{7234B285-366D-4474-8BA2-408385BDA6E5}" sibTransId="{E98D53D4-D91B-43B7-92B8-5265705E42AF}"/>
    <dgm:cxn modelId="{531A0576-97F5-4119-8C41-69450B9AA0BF}" type="presOf" srcId="{3B3A788B-77A1-4DB4-8E3F-396047F62040}" destId="{BC0075E6-8C3F-48F4-8D46-EE59838C8A82}" srcOrd="0" destOrd="0" presId="urn:microsoft.com/office/officeart/2005/8/layout/pyramid2"/>
    <dgm:cxn modelId="{0DFDCBE3-B65B-4C76-AB91-26F3F4D857DD}" srcId="{3B3A788B-77A1-4DB4-8E3F-396047F62040}" destId="{20D4254F-A0D6-46F5-B8F4-F678B3B1B048}" srcOrd="1" destOrd="0" parTransId="{C59ED9BD-E49A-48A0-A73D-700526F7CC53}" sibTransId="{803AD17C-A039-4585-80B2-5FF7E9105758}"/>
    <dgm:cxn modelId="{653873E1-0AD0-45E0-ADC1-4EA0661A39BC}" type="presParOf" srcId="{BC0075E6-8C3F-48F4-8D46-EE59838C8A82}" destId="{55FDE460-5D02-4DD5-9C6D-4173E90D1893}" srcOrd="0" destOrd="0" presId="urn:microsoft.com/office/officeart/2005/8/layout/pyramid2"/>
    <dgm:cxn modelId="{A649E3A8-4840-4CF6-967C-9D4CC6899637}" type="presParOf" srcId="{BC0075E6-8C3F-48F4-8D46-EE59838C8A82}" destId="{D216974C-2F78-435C-84F8-F0A74C54EF77}" srcOrd="1" destOrd="0" presId="urn:microsoft.com/office/officeart/2005/8/layout/pyramid2"/>
    <dgm:cxn modelId="{BBA46DAD-6C1A-4078-8239-5533183D0218}" type="presParOf" srcId="{D216974C-2F78-435C-84F8-F0A74C54EF77}" destId="{46301577-290F-4D87-83FB-9D29E538F37C}" srcOrd="0" destOrd="0" presId="urn:microsoft.com/office/officeart/2005/8/layout/pyramid2"/>
    <dgm:cxn modelId="{96875A6A-CEBE-49D5-8260-F975550E6DD6}" type="presParOf" srcId="{D216974C-2F78-435C-84F8-F0A74C54EF77}" destId="{2878A98E-DB0B-49F8-9A23-494D254A5598}" srcOrd="1" destOrd="0" presId="urn:microsoft.com/office/officeart/2005/8/layout/pyramid2"/>
    <dgm:cxn modelId="{88D0E19E-9E40-4073-A6F0-A51EB296BD1E}" type="presParOf" srcId="{D216974C-2F78-435C-84F8-F0A74C54EF77}" destId="{07085E72-F205-4940-93EA-AEDFE8E2D084}" srcOrd="2" destOrd="0" presId="urn:microsoft.com/office/officeart/2005/8/layout/pyramid2"/>
    <dgm:cxn modelId="{9A02B1CD-BB00-49F3-94D7-9245C8022C33}" type="presParOf" srcId="{D216974C-2F78-435C-84F8-F0A74C54EF77}" destId="{88BBD698-B3EC-412A-BA4D-6B577442BE8E}" srcOrd="3" destOrd="0" presId="urn:microsoft.com/office/officeart/2005/8/layout/pyramid2"/>
    <dgm:cxn modelId="{A3C83C7C-7DE0-4564-B5C2-36759D0B5124}" type="presParOf" srcId="{D216974C-2F78-435C-84F8-F0A74C54EF77}" destId="{73C538FA-45E7-4C47-A242-896AFDABFEB1}" srcOrd="4" destOrd="0" presId="urn:microsoft.com/office/officeart/2005/8/layout/pyramid2"/>
    <dgm:cxn modelId="{81D61FF4-F7E3-4A7E-9037-C0A166029F37}" type="presParOf" srcId="{D216974C-2F78-435C-84F8-F0A74C54EF77}" destId="{38EFBFC6-90C0-442B-B5F9-C7276F2E0F67}"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7A7531-3DA3-4D68-964B-CEB968486A63}"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996E714F-9056-4CC9-9A24-67FA0DA6016A}">
      <dgm:prSet phldrT="[Text]"/>
      <dgm:spPr/>
      <dgm:t>
        <a:bodyPr/>
        <a:lstStyle/>
        <a:p>
          <a:r>
            <a:rPr lang="en-US" dirty="0" smtClean="0"/>
            <a:t>LOCAL HACKING </a:t>
          </a:r>
          <a:endParaRPr lang="en-US" dirty="0"/>
        </a:p>
      </dgm:t>
    </dgm:pt>
    <dgm:pt modelId="{79F419F7-9FF5-4D6A-A532-8953ED83E7D4}" type="parTrans" cxnId="{B6579C31-B62B-4A98-BEBB-DE2CD4EA0544}">
      <dgm:prSet/>
      <dgm:spPr/>
      <dgm:t>
        <a:bodyPr/>
        <a:lstStyle/>
        <a:p>
          <a:endParaRPr lang="en-US"/>
        </a:p>
      </dgm:t>
    </dgm:pt>
    <dgm:pt modelId="{C1B77EAF-019F-4898-8328-F606EE77EB21}" type="sibTrans" cxnId="{B6579C31-B62B-4A98-BEBB-DE2CD4EA0544}">
      <dgm:prSet/>
      <dgm:spPr/>
      <dgm:t>
        <a:bodyPr/>
        <a:lstStyle/>
        <a:p>
          <a:endParaRPr lang="en-US"/>
        </a:p>
      </dgm:t>
    </dgm:pt>
    <dgm:pt modelId="{28D59BE1-F0C3-4E90-9ED6-23329FB5D295}">
      <dgm:prSet phldrT="[Text]"/>
      <dgm:spPr/>
      <dgm:t>
        <a:bodyPr/>
        <a:lstStyle/>
        <a:p>
          <a:endParaRPr lang="en-US" dirty="0"/>
        </a:p>
      </dgm:t>
    </dgm:pt>
    <dgm:pt modelId="{6826F977-EE6F-471C-9ABD-BD16399493F0}" type="parTrans" cxnId="{46B54FF5-5EBA-4AB4-9C3A-6525E904DBD3}">
      <dgm:prSet/>
      <dgm:spPr/>
      <dgm:t>
        <a:bodyPr/>
        <a:lstStyle/>
        <a:p>
          <a:endParaRPr lang="en-US"/>
        </a:p>
      </dgm:t>
    </dgm:pt>
    <dgm:pt modelId="{DAD7235B-411D-4BF7-AF94-9744217FD706}" type="sibTrans" cxnId="{46B54FF5-5EBA-4AB4-9C3A-6525E904DBD3}">
      <dgm:prSet/>
      <dgm:spPr/>
      <dgm:t>
        <a:bodyPr/>
        <a:lstStyle/>
        <a:p>
          <a:endParaRPr lang="en-US"/>
        </a:p>
      </dgm:t>
    </dgm:pt>
    <dgm:pt modelId="{C64FC550-440F-4428-8DAC-B232D868E0B4}">
      <dgm:prSet phldrT="[Text]" custT="1"/>
      <dgm:spPr/>
      <dgm:t>
        <a:bodyPr/>
        <a:lstStyle/>
        <a:p>
          <a:r>
            <a:rPr lang="en-US" sz="2400" dirty="0" smtClean="0">
              <a:solidFill>
                <a:srgbClr val="002060"/>
              </a:solidFill>
            </a:rPr>
            <a:t>LOCAL HACKING IS DONE FROM LOCAL AREA WHERE WE HAVE PHYSICAL ACCESS LIKE THROUGH PRINTER ETC .</a:t>
          </a:r>
          <a:endParaRPr lang="en-US" sz="2400" dirty="0">
            <a:solidFill>
              <a:srgbClr val="002060"/>
            </a:solidFill>
          </a:endParaRPr>
        </a:p>
      </dgm:t>
    </dgm:pt>
    <dgm:pt modelId="{9014FDB5-FC96-4A42-A202-7ED17AD3753E}" type="parTrans" cxnId="{2BC9800D-EF0B-4342-9721-9955D3A9B29F}">
      <dgm:prSet/>
      <dgm:spPr/>
      <dgm:t>
        <a:bodyPr/>
        <a:lstStyle/>
        <a:p>
          <a:endParaRPr lang="en-US"/>
        </a:p>
      </dgm:t>
    </dgm:pt>
    <dgm:pt modelId="{F20204EB-8489-4AA7-A705-9677291BAE41}" type="sibTrans" cxnId="{2BC9800D-EF0B-4342-9721-9955D3A9B29F}">
      <dgm:prSet/>
      <dgm:spPr/>
      <dgm:t>
        <a:bodyPr/>
        <a:lstStyle/>
        <a:p>
          <a:endParaRPr lang="en-US"/>
        </a:p>
      </dgm:t>
    </dgm:pt>
    <dgm:pt modelId="{A4E7CD5E-A257-4635-96DE-D4B981867B9C}">
      <dgm:prSet phldrT="[Text]"/>
      <dgm:spPr/>
      <dgm:t>
        <a:bodyPr/>
        <a:lstStyle/>
        <a:p>
          <a:r>
            <a:rPr lang="en-US" dirty="0" smtClean="0"/>
            <a:t>REMOTE HACKING</a:t>
          </a:r>
          <a:endParaRPr lang="en-US" dirty="0"/>
        </a:p>
      </dgm:t>
    </dgm:pt>
    <dgm:pt modelId="{9DE1AE45-6479-4E4E-9E4E-541CB64C983A}" type="parTrans" cxnId="{3BA95B26-360C-438A-893A-2DDC3511292B}">
      <dgm:prSet/>
      <dgm:spPr/>
      <dgm:t>
        <a:bodyPr/>
        <a:lstStyle/>
        <a:p>
          <a:endParaRPr lang="en-US"/>
        </a:p>
      </dgm:t>
    </dgm:pt>
    <dgm:pt modelId="{292F5A2D-D968-48EF-A2BA-57522A29D087}" type="sibTrans" cxnId="{3BA95B26-360C-438A-893A-2DDC3511292B}">
      <dgm:prSet/>
      <dgm:spPr/>
      <dgm:t>
        <a:bodyPr/>
        <a:lstStyle/>
        <a:p>
          <a:endParaRPr lang="en-US"/>
        </a:p>
      </dgm:t>
    </dgm:pt>
    <dgm:pt modelId="{5988B053-6EF1-4749-90BF-C5B1ED440965}">
      <dgm:prSet phldrT="[Text]"/>
      <dgm:spPr/>
      <dgm:t>
        <a:bodyPr/>
        <a:lstStyle/>
        <a:p>
          <a:r>
            <a:rPr lang="en-US" dirty="0" smtClean="0">
              <a:solidFill>
                <a:srgbClr val="92D050"/>
              </a:solidFill>
            </a:rPr>
            <a:t>:</a:t>
          </a:r>
        </a:p>
        <a:p>
          <a:endParaRPr lang="en-US" dirty="0" smtClean="0">
            <a:solidFill>
              <a:srgbClr val="92D050"/>
            </a:solidFill>
          </a:endParaRPr>
        </a:p>
        <a:p>
          <a:endParaRPr lang="en-US" dirty="0" smtClean="0">
            <a:solidFill>
              <a:srgbClr val="92D050"/>
            </a:solidFill>
          </a:endParaRPr>
        </a:p>
        <a:p>
          <a:r>
            <a:rPr lang="en-US" dirty="0" smtClean="0">
              <a:solidFill>
                <a:srgbClr val="92D050"/>
              </a:solidFill>
            </a:rPr>
            <a:t> </a:t>
          </a:r>
          <a:endParaRPr lang="en-US" dirty="0">
            <a:solidFill>
              <a:srgbClr val="92D050"/>
            </a:solidFill>
          </a:endParaRPr>
        </a:p>
      </dgm:t>
    </dgm:pt>
    <dgm:pt modelId="{4CC98217-7E76-4BA9-B7AF-BECA5C3C654D}" type="parTrans" cxnId="{D97B8713-EED9-4F3D-976A-1725D05B124E}">
      <dgm:prSet/>
      <dgm:spPr/>
      <dgm:t>
        <a:bodyPr/>
        <a:lstStyle/>
        <a:p>
          <a:endParaRPr lang="en-US"/>
        </a:p>
      </dgm:t>
    </dgm:pt>
    <dgm:pt modelId="{CCA42F0B-585D-48A0-A93F-63073B3E8B70}" type="sibTrans" cxnId="{D97B8713-EED9-4F3D-976A-1725D05B124E}">
      <dgm:prSet/>
      <dgm:spPr/>
      <dgm:t>
        <a:bodyPr/>
        <a:lstStyle/>
        <a:p>
          <a:endParaRPr lang="en-US"/>
        </a:p>
      </dgm:t>
    </dgm:pt>
    <dgm:pt modelId="{6B7BB017-4C3D-43DD-80D3-43CDBE64338D}">
      <dgm:prSet phldrT="[Text]" custT="1"/>
      <dgm:spPr/>
      <dgm:t>
        <a:bodyPr/>
        <a:lstStyle/>
        <a:p>
          <a:r>
            <a:rPr lang="en-US" sz="2400" dirty="0" smtClean="0">
              <a:solidFill>
                <a:srgbClr val="002060"/>
              </a:solidFill>
            </a:rPr>
            <a:t>REMOTE HACKING IS DONE REMOTELY BY TAKING ADVENTAGE OF THE VULNERABALITY OF THE TARGET SYSTEM .</a:t>
          </a:r>
          <a:endParaRPr lang="en-US" sz="2400" dirty="0">
            <a:solidFill>
              <a:srgbClr val="002060"/>
            </a:solidFill>
          </a:endParaRPr>
        </a:p>
      </dgm:t>
    </dgm:pt>
    <dgm:pt modelId="{EA67DE9C-4D3A-4B43-8D59-1DCC8C124F23}" type="parTrans" cxnId="{EE3AE050-6414-4B30-A7FA-9DD24137138E}">
      <dgm:prSet/>
      <dgm:spPr/>
      <dgm:t>
        <a:bodyPr/>
        <a:lstStyle/>
        <a:p>
          <a:endParaRPr lang="en-US"/>
        </a:p>
      </dgm:t>
    </dgm:pt>
    <dgm:pt modelId="{D11A07F0-9116-463E-BF5C-9E1522D00E30}" type="sibTrans" cxnId="{EE3AE050-6414-4B30-A7FA-9DD24137138E}">
      <dgm:prSet/>
      <dgm:spPr/>
      <dgm:t>
        <a:bodyPr/>
        <a:lstStyle/>
        <a:p>
          <a:endParaRPr lang="en-US"/>
        </a:p>
      </dgm:t>
    </dgm:pt>
    <dgm:pt modelId="{F0391FA6-4768-471A-92DC-E818612B4BE6}">
      <dgm:prSet phldrT="[Text]"/>
      <dgm:spPr/>
      <dgm:t>
        <a:bodyPr/>
        <a:lstStyle/>
        <a:p>
          <a:r>
            <a:rPr lang="en-US" dirty="0" smtClean="0"/>
            <a:t>SOCIAL ENGINEERING</a:t>
          </a:r>
          <a:endParaRPr lang="en-US" dirty="0"/>
        </a:p>
      </dgm:t>
    </dgm:pt>
    <dgm:pt modelId="{546A83E7-12AE-4409-A16B-881D05C70232}" type="parTrans" cxnId="{3FC01560-8C91-4040-ADD5-6611D194F346}">
      <dgm:prSet/>
      <dgm:spPr/>
      <dgm:t>
        <a:bodyPr/>
        <a:lstStyle/>
        <a:p>
          <a:endParaRPr lang="en-US"/>
        </a:p>
      </dgm:t>
    </dgm:pt>
    <dgm:pt modelId="{020C07E0-123B-4193-A4E6-BF9738F3CD47}" type="sibTrans" cxnId="{3FC01560-8C91-4040-ADD5-6611D194F346}">
      <dgm:prSet/>
      <dgm:spPr/>
      <dgm:t>
        <a:bodyPr/>
        <a:lstStyle/>
        <a:p>
          <a:endParaRPr lang="en-US"/>
        </a:p>
      </dgm:t>
    </dgm:pt>
    <dgm:pt modelId="{42D937B1-B9E4-445B-A8AC-8868C7E9D3CB}">
      <dgm:prSet phldrT="[Text]"/>
      <dgm:spPr/>
      <dgm:t>
        <a:bodyPr/>
        <a:lstStyle/>
        <a:p>
          <a:r>
            <a:rPr lang="en-US" dirty="0" smtClean="0">
              <a:solidFill>
                <a:srgbClr val="92D050"/>
              </a:solidFill>
            </a:rPr>
            <a:t>:</a:t>
          </a:r>
          <a:r>
            <a:rPr lang="en-US" dirty="0" smtClean="0"/>
            <a:t> </a:t>
          </a:r>
          <a:endParaRPr lang="en-US" dirty="0"/>
        </a:p>
      </dgm:t>
    </dgm:pt>
    <dgm:pt modelId="{9D8101C1-6DCA-4433-A4C3-A5091ED74980}" type="parTrans" cxnId="{0812E2C1-980D-4AE5-AD44-8236B984B276}">
      <dgm:prSet/>
      <dgm:spPr/>
      <dgm:t>
        <a:bodyPr/>
        <a:lstStyle/>
        <a:p>
          <a:endParaRPr lang="en-US"/>
        </a:p>
      </dgm:t>
    </dgm:pt>
    <dgm:pt modelId="{49FA67F7-F488-4E79-BCC3-4F2302686BA6}" type="sibTrans" cxnId="{0812E2C1-980D-4AE5-AD44-8236B984B276}">
      <dgm:prSet/>
      <dgm:spPr/>
      <dgm:t>
        <a:bodyPr/>
        <a:lstStyle/>
        <a:p>
          <a:endParaRPr lang="en-US"/>
        </a:p>
      </dgm:t>
    </dgm:pt>
    <dgm:pt modelId="{71F93A0F-5B93-4E3B-88FB-8F0434A274D0}">
      <dgm:prSet phldrT="[Text]" custT="1"/>
      <dgm:spPr/>
      <dgm:t>
        <a:bodyPr/>
        <a:lstStyle/>
        <a:p>
          <a:r>
            <a:rPr lang="en-US" sz="2400" dirty="0" smtClean="0">
              <a:solidFill>
                <a:srgbClr val="002060"/>
              </a:solidFill>
            </a:rPr>
            <a:t>SOCIAL ENGINEERING IS THE ACT OF MANIPULATING PEOPLE INTO PERFORMING ACTIONS OR DIVULGING CONFIDENTIAL INFORMATION .</a:t>
          </a:r>
          <a:endParaRPr lang="en-US" sz="2400" dirty="0">
            <a:solidFill>
              <a:srgbClr val="002060"/>
            </a:solidFill>
          </a:endParaRPr>
        </a:p>
      </dgm:t>
    </dgm:pt>
    <dgm:pt modelId="{FA948FA3-6B45-4909-BC89-838D488291BA}" type="parTrans" cxnId="{62A1C8BB-056A-4350-BC28-7ECC73F279EE}">
      <dgm:prSet/>
      <dgm:spPr/>
      <dgm:t>
        <a:bodyPr/>
        <a:lstStyle/>
        <a:p>
          <a:endParaRPr lang="en-US"/>
        </a:p>
      </dgm:t>
    </dgm:pt>
    <dgm:pt modelId="{3BF89877-AE56-49B3-9A26-D746C1392BD3}" type="sibTrans" cxnId="{62A1C8BB-056A-4350-BC28-7ECC73F279EE}">
      <dgm:prSet/>
      <dgm:spPr/>
      <dgm:t>
        <a:bodyPr/>
        <a:lstStyle/>
        <a:p>
          <a:endParaRPr lang="en-US"/>
        </a:p>
      </dgm:t>
    </dgm:pt>
    <dgm:pt modelId="{89389A7F-478D-4778-AF21-9C2816065C2A}">
      <dgm:prSet phldrT="[Text]" custT="1"/>
      <dgm:spPr/>
      <dgm:t>
        <a:bodyPr/>
        <a:lstStyle/>
        <a:p>
          <a:r>
            <a:rPr lang="en-US" sz="2400" dirty="0" smtClean="0">
              <a:solidFill>
                <a:srgbClr val="002060"/>
              </a:solidFill>
            </a:rPr>
            <a:t>WE CAN DO THIS TYPE OF HACKING THROUGH TROJAN AND VIRUSES WITH THE HELP OF HARD DISK AND PENDRIVE.  </a:t>
          </a:r>
          <a:endParaRPr lang="en-US" sz="2400" dirty="0">
            <a:solidFill>
              <a:srgbClr val="002060"/>
            </a:solidFill>
          </a:endParaRPr>
        </a:p>
      </dgm:t>
    </dgm:pt>
    <dgm:pt modelId="{D5234EFE-886A-4E61-A110-CA7352B82846}" type="parTrans" cxnId="{3D5856C2-9CB6-460A-B736-461A2896CD48}">
      <dgm:prSet/>
      <dgm:spPr/>
      <dgm:t>
        <a:bodyPr/>
        <a:lstStyle/>
        <a:p>
          <a:endParaRPr lang="en-US"/>
        </a:p>
      </dgm:t>
    </dgm:pt>
    <dgm:pt modelId="{6D868D22-7A43-4CC4-AE43-0A1F1C4A478A}" type="sibTrans" cxnId="{3D5856C2-9CB6-460A-B736-461A2896CD48}">
      <dgm:prSet/>
      <dgm:spPr/>
      <dgm:t>
        <a:bodyPr/>
        <a:lstStyle/>
        <a:p>
          <a:endParaRPr lang="en-US"/>
        </a:p>
      </dgm:t>
    </dgm:pt>
    <dgm:pt modelId="{AB802F09-F6FE-4484-9D47-F17090A38B83}">
      <dgm:prSet phldrT="[Text]" custT="1"/>
      <dgm:spPr/>
      <dgm:t>
        <a:bodyPr/>
        <a:lstStyle/>
        <a:p>
          <a:r>
            <a:rPr lang="en-US" sz="2400" dirty="0" smtClean="0">
              <a:solidFill>
                <a:srgbClr val="002060"/>
              </a:solidFill>
            </a:rPr>
            <a:t> IN MOST CASES THE ATTACKER NEVER COMES FACE TO FACE . </a:t>
          </a:r>
          <a:endParaRPr lang="en-US" sz="2400" dirty="0">
            <a:solidFill>
              <a:srgbClr val="002060"/>
            </a:solidFill>
          </a:endParaRPr>
        </a:p>
      </dgm:t>
    </dgm:pt>
    <dgm:pt modelId="{57F21A08-CA90-4D65-AA6A-38C1DB5C5B7A}" type="parTrans" cxnId="{A0C29793-7EB9-4C44-ACED-399560F6428D}">
      <dgm:prSet/>
      <dgm:spPr/>
      <dgm:t>
        <a:bodyPr/>
        <a:lstStyle/>
        <a:p>
          <a:endParaRPr lang="en-US"/>
        </a:p>
      </dgm:t>
    </dgm:pt>
    <dgm:pt modelId="{3709834C-D6E0-4C4B-9253-ECBD9DDA0088}" type="sibTrans" cxnId="{A0C29793-7EB9-4C44-ACED-399560F6428D}">
      <dgm:prSet/>
      <dgm:spPr/>
      <dgm:t>
        <a:bodyPr/>
        <a:lstStyle/>
        <a:p>
          <a:endParaRPr lang="en-US"/>
        </a:p>
      </dgm:t>
    </dgm:pt>
    <dgm:pt modelId="{BC1FD197-A6D6-43E2-8D78-08D19CB64702}">
      <dgm:prSet phldrT="[Text]" custT="1"/>
      <dgm:spPr/>
      <dgm:t>
        <a:bodyPr/>
        <a:lstStyle/>
        <a:p>
          <a:endParaRPr lang="en-US" sz="2400" dirty="0">
            <a:solidFill>
              <a:srgbClr val="002060"/>
            </a:solidFill>
          </a:endParaRPr>
        </a:p>
      </dgm:t>
    </dgm:pt>
    <dgm:pt modelId="{0319BB08-BB46-47C4-84E6-A63B54193C15}" type="parTrans" cxnId="{DACE1E0D-98A0-4740-A45B-F3DF6234DE99}">
      <dgm:prSet/>
      <dgm:spPr/>
      <dgm:t>
        <a:bodyPr/>
        <a:lstStyle/>
        <a:p>
          <a:endParaRPr lang="en-US"/>
        </a:p>
      </dgm:t>
    </dgm:pt>
    <dgm:pt modelId="{DD1EA1FA-E43B-4FDE-A261-78C72F5F21FA}" type="sibTrans" cxnId="{DACE1E0D-98A0-4740-A45B-F3DF6234DE99}">
      <dgm:prSet/>
      <dgm:spPr/>
      <dgm:t>
        <a:bodyPr/>
        <a:lstStyle/>
        <a:p>
          <a:endParaRPr lang="en-US"/>
        </a:p>
      </dgm:t>
    </dgm:pt>
    <dgm:pt modelId="{CF786FB5-8DFE-48F2-81B8-0ABC0D97F0B2}" type="pres">
      <dgm:prSet presAssocID="{4B7A7531-3DA3-4D68-964B-CEB968486A63}" presName="Name0" presStyleCnt="0">
        <dgm:presLayoutVars>
          <dgm:chMax/>
          <dgm:chPref val="3"/>
          <dgm:dir/>
          <dgm:animOne val="branch"/>
          <dgm:animLvl val="lvl"/>
        </dgm:presLayoutVars>
      </dgm:prSet>
      <dgm:spPr/>
      <dgm:t>
        <a:bodyPr/>
        <a:lstStyle/>
        <a:p>
          <a:endParaRPr lang="en-US"/>
        </a:p>
      </dgm:t>
    </dgm:pt>
    <dgm:pt modelId="{DE2DABCE-4219-4613-A34B-17511BEE0978}" type="pres">
      <dgm:prSet presAssocID="{996E714F-9056-4CC9-9A24-67FA0DA6016A}" presName="composite" presStyleCnt="0"/>
      <dgm:spPr/>
    </dgm:pt>
    <dgm:pt modelId="{ADAF24A0-AE3C-4D2F-9C94-47ABB03748BC}" type="pres">
      <dgm:prSet presAssocID="{996E714F-9056-4CC9-9A24-67FA0DA6016A}" presName="FirstChild" presStyleLbl="revTx" presStyleIdx="0" presStyleCnt="6">
        <dgm:presLayoutVars>
          <dgm:chMax val="0"/>
          <dgm:chPref val="0"/>
          <dgm:bulletEnabled val="1"/>
        </dgm:presLayoutVars>
      </dgm:prSet>
      <dgm:spPr/>
      <dgm:t>
        <a:bodyPr/>
        <a:lstStyle/>
        <a:p>
          <a:endParaRPr lang="en-US"/>
        </a:p>
      </dgm:t>
    </dgm:pt>
    <dgm:pt modelId="{71CCBDF1-9813-4973-B060-994DA3098502}" type="pres">
      <dgm:prSet presAssocID="{996E714F-9056-4CC9-9A24-67FA0DA6016A}" presName="Parent" presStyleLbl="alignNode1" presStyleIdx="0" presStyleCnt="3">
        <dgm:presLayoutVars>
          <dgm:chMax val="3"/>
          <dgm:chPref val="3"/>
          <dgm:bulletEnabled val="1"/>
        </dgm:presLayoutVars>
      </dgm:prSet>
      <dgm:spPr/>
      <dgm:t>
        <a:bodyPr/>
        <a:lstStyle/>
        <a:p>
          <a:endParaRPr lang="en-US"/>
        </a:p>
      </dgm:t>
    </dgm:pt>
    <dgm:pt modelId="{B47CD301-D756-4DE8-AC83-53C8921036D6}" type="pres">
      <dgm:prSet presAssocID="{996E714F-9056-4CC9-9A24-67FA0DA6016A}" presName="Accent" presStyleLbl="parChTrans1D1" presStyleIdx="0" presStyleCnt="3"/>
      <dgm:spPr/>
    </dgm:pt>
    <dgm:pt modelId="{BFF8F307-43AB-4BE6-A0E4-8B62D7E53492}" type="pres">
      <dgm:prSet presAssocID="{996E714F-9056-4CC9-9A24-67FA0DA6016A}" presName="Child" presStyleLbl="revTx" presStyleIdx="1" presStyleCnt="6">
        <dgm:presLayoutVars>
          <dgm:chMax val="0"/>
          <dgm:chPref val="0"/>
          <dgm:bulletEnabled val="1"/>
        </dgm:presLayoutVars>
      </dgm:prSet>
      <dgm:spPr/>
      <dgm:t>
        <a:bodyPr/>
        <a:lstStyle/>
        <a:p>
          <a:endParaRPr lang="en-US"/>
        </a:p>
      </dgm:t>
    </dgm:pt>
    <dgm:pt modelId="{F4ECC76D-1D24-40AE-B122-2C1C313461A2}" type="pres">
      <dgm:prSet presAssocID="{C1B77EAF-019F-4898-8328-F606EE77EB21}" presName="sibTrans" presStyleCnt="0"/>
      <dgm:spPr/>
    </dgm:pt>
    <dgm:pt modelId="{C5DA967B-B942-48FF-B74C-30AA2E0C6E95}" type="pres">
      <dgm:prSet presAssocID="{A4E7CD5E-A257-4635-96DE-D4B981867B9C}" presName="composite" presStyleCnt="0"/>
      <dgm:spPr/>
    </dgm:pt>
    <dgm:pt modelId="{0A407E0E-8932-41FA-8F8E-E9E0198ABB79}" type="pres">
      <dgm:prSet presAssocID="{A4E7CD5E-A257-4635-96DE-D4B981867B9C}" presName="FirstChild" presStyleLbl="revTx" presStyleIdx="2" presStyleCnt="6" custScaleX="98938">
        <dgm:presLayoutVars>
          <dgm:chMax val="0"/>
          <dgm:chPref val="0"/>
          <dgm:bulletEnabled val="1"/>
        </dgm:presLayoutVars>
      </dgm:prSet>
      <dgm:spPr/>
      <dgm:t>
        <a:bodyPr/>
        <a:lstStyle/>
        <a:p>
          <a:endParaRPr lang="en-US"/>
        </a:p>
      </dgm:t>
    </dgm:pt>
    <dgm:pt modelId="{1773817E-1F17-406A-B7F6-01CB86FBB337}" type="pres">
      <dgm:prSet presAssocID="{A4E7CD5E-A257-4635-96DE-D4B981867B9C}" presName="Parent" presStyleLbl="alignNode1" presStyleIdx="1" presStyleCnt="3" custLinFactNeighborY="43143">
        <dgm:presLayoutVars>
          <dgm:chMax val="3"/>
          <dgm:chPref val="3"/>
          <dgm:bulletEnabled val="1"/>
        </dgm:presLayoutVars>
      </dgm:prSet>
      <dgm:spPr/>
      <dgm:t>
        <a:bodyPr/>
        <a:lstStyle/>
        <a:p>
          <a:endParaRPr lang="en-US"/>
        </a:p>
      </dgm:t>
    </dgm:pt>
    <dgm:pt modelId="{73F238D2-3F52-44AE-A8EF-1732CD218E51}" type="pres">
      <dgm:prSet presAssocID="{A4E7CD5E-A257-4635-96DE-D4B981867B9C}" presName="Accent" presStyleLbl="parChTrans1D1" presStyleIdx="1" presStyleCnt="3"/>
      <dgm:spPr/>
    </dgm:pt>
    <dgm:pt modelId="{FCF2199B-A5CF-4074-A17F-E9087D5A5B81}" type="pres">
      <dgm:prSet presAssocID="{A4E7CD5E-A257-4635-96DE-D4B981867B9C}" presName="Child" presStyleLbl="revTx" presStyleIdx="3" presStyleCnt="6">
        <dgm:presLayoutVars>
          <dgm:chMax val="0"/>
          <dgm:chPref val="0"/>
          <dgm:bulletEnabled val="1"/>
        </dgm:presLayoutVars>
      </dgm:prSet>
      <dgm:spPr/>
      <dgm:t>
        <a:bodyPr/>
        <a:lstStyle/>
        <a:p>
          <a:endParaRPr lang="en-US"/>
        </a:p>
      </dgm:t>
    </dgm:pt>
    <dgm:pt modelId="{5FFB8A21-6731-4EDD-A954-9897984E369F}" type="pres">
      <dgm:prSet presAssocID="{292F5A2D-D968-48EF-A2BA-57522A29D087}" presName="sibTrans" presStyleCnt="0"/>
      <dgm:spPr/>
    </dgm:pt>
    <dgm:pt modelId="{06314B19-35CE-4DD9-ACEC-36C1CC739961}" type="pres">
      <dgm:prSet presAssocID="{F0391FA6-4768-471A-92DC-E818612B4BE6}" presName="composite" presStyleCnt="0"/>
      <dgm:spPr/>
    </dgm:pt>
    <dgm:pt modelId="{45F40F8B-7E7B-4198-9EA1-E40797F23D62}" type="pres">
      <dgm:prSet presAssocID="{F0391FA6-4768-471A-92DC-E818612B4BE6}" presName="FirstChild" presStyleLbl="revTx" presStyleIdx="4" presStyleCnt="6">
        <dgm:presLayoutVars>
          <dgm:chMax val="0"/>
          <dgm:chPref val="0"/>
          <dgm:bulletEnabled val="1"/>
        </dgm:presLayoutVars>
      </dgm:prSet>
      <dgm:spPr/>
      <dgm:t>
        <a:bodyPr/>
        <a:lstStyle/>
        <a:p>
          <a:endParaRPr lang="en-US"/>
        </a:p>
      </dgm:t>
    </dgm:pt>
    <dgm:pt modelId="{40329637-B041-498F-B31E-50BBA3A8C30A}" type="pres">
      <dgm:prSet presAssocID="{F0391FA6-4768-471A-92DC-E818612B4BE6}" presName="Parent" presStyleLbl="alignNode1" presStyleIdx="2" presStyleCnt="3" custScaleX="100191" custLinFactNeighborX="48" custLinFactNeighborY="-25368">
        <dgm:presLayoutVars>
          <dgm:chMax val="3"/>
          <dgm:chPref val="3"/>
          <dgm:bulletEnabled val="1"/>
        </dgm:presLayoutVars>
      </dgm:prSet>
      <dgm:spPr/>
      <dgm:t>
        <a:bodyPr/>
        <a:lstStyle/>
        <a:p>
          <a:endParaRPr lang="en-US"/>
        </a:p>
      </dgm:t>
    </dgm:pt>
    <dgm:pt modelId="{D3B6F36E-F284-4A21-B4E5-4707AE12796A}" type="pres">
      <dgm:prSet presAssocID="{F0391FA6-4768-471A-92DC-E818612B4BE6}" presName="Accent" presStyleLbl="parChTrans1D1" presStyleIdx="2" presStyleCnt="3"/>
      <dgm:spPr/>
    </dgm:pt>
    <dgm:pt modelId="{0501EA78-7B55-4B30-AE91-3EF02CEA3DB3}" type="pres">
      <dgm:prSet presAssocID="{F0391FA6-4768-471A-92DC-E818612B4BE6}" presName="Child" presStyleLbl="revTx" presStyleIdx="5" presStyleCnt="6">
        <dgm:presLayoutVars>
          <dgm:chMax val="0"/>
          <dgm:chPref val="0"/>
          <dgm:bulletEnabled val="1"/>
        </dgm:presLayoutVars>
      </dgm:prSet>
      <dgm:spPr/>
      <dgm:t>
        <a:bodyPr/>
        <a:lstStyle/>
        <a:p>
          <a:endParaRPr lang="en-US"/>
        </a:p>
      </dgm:t>
    </dgm:pt>
  </dgm:ptLst>
  <dgm:cxnLst>
    <dgm:cxn modelId="{B8F10605-72BE-48C1-8B17-5C0271B607F8}" type="presOf" srcId="{4B7A7531-3DA3-4D68-964B-CEB968486A63}" destId="{CF786FB5-8DFE-48F2-81B8-0ABC0D97F0B2}" srcOrd="0" destOrd="0" presId="urn:microsoft.com/office/officeart/2011/layout/TabList"/>
    <dgm:cxn modelId="{7167668A-F907-4CCF-98CB-897D32348904}" type="presOf" srcId="{C64FC550-440F-4428-8DAC-B232D868E0B4}" destId="{BFF8F307-43AB-4BE6-A0E4-8B62D7E53492}" srcOrd="0" destOrd="0" presId="urn:microsoft.com/office/officeart/2011/layout/TabList"/>
    <dgm:cxn modelId="{2BC9800D-EF0B-4342-9721-9955D3A9B29F}" srcId="{996E714F-9056-4CC9-9A24-67FA0DA6016A}" destId="{C64FC550-440F-4428-8DAC-B232D868E0B4}" srcOrd="1" destOrd="0" parTransId="{9014FDB5-FC96-4A42-A202-7ED17AD3753E}" sibTransId="{F20204EB-8489-4AA7-A705-9677291BAE41}"/>
    <dgm:cxn modelId="{B6579C31-B62B-4A98-BEBB-DE2CD4EA0544}" srcId="{4B7A7531-3DA3-4D68-964B-CEB968486A63}" destId="{996E714F-9056-4CC9-9A24-67FA0DA6016A}" srcOrd="0" destOrd="0" parTransId="{79F419F7-9FF5-4D6A-A532-8953ED83E7D4}" sibTransId="{C1B77EAF-019F-4898-8328-F606EE77EB21}"/>
    <dgm:cxn modelId="{0812E2C1-980D-4AE5-AD44-8236B984B276}" srcId="{F0391FA6-4768-471A-92DC-E818612B4BE6}" destId="{42D937B1-B9E4-445B-A8AC-8868C7E9D3CB}" srcOrd="0" destOrd="0" parTransId="{9D8101C1-6DCA-4433-A4C3-A5091ED74980}" sibTransId="{49FA67F7-F488-4E79-BCC3-4F2302686BA6}"/>
    <dgm:cxn modelId="{D97B8713-EED9-4F3D-976A-1725D05B124E}" srcId="{A4E7CD5E-A257-4635-96DE-D4B981867B9C}" destId="{5988B053-6EF1-4749-90BF-C5B1ED440965}" srcOrd="0" destOrd="0" parTransId="{4CC98217-7E76-4BA9-B7AF-BECA5C3C654D}" sibTransId="{CCA42F0B-585D-48A0-A93F-63073B3E8B70}"/>
    <dgm:cxn modelId="{221E88B3-ECC7-45B5-9F1A-6F989581B5D8}" type="presOf" srcId="{28D59BE1-F0C3-4E90-9ED6-23329FB5D295}" destId="{ADAF24A0-AE3C-4D2F-9C94-47ABB03748BC}" srcOrd="0" destOrd="0" presId="urn:microsoft.com/office/officeart/2011/layout/TabList"/>
    <dgm:cxn modelId="{6445ED16-6F62-4325-95E3-12C1CF71D049}" type="presOf" srcId="{71F93A0F-5B93-4E3B-88FB-8F0434A274D0}" destId="{0501EA78-7B55-4B30-AE91-3EF02CEA3DB3}" srcOrd="0" destOrd="0" presId="urn:microsoft.com/office/officeart/2011/layout/TabList"/>
    <dgm:cxn modelId="{3D5856C2-9CB6-460A-B736-461A2896CD48}" srcId="{996E714F-9056-4CC9-9A24-67FA0DA6016A}" destId="{89389A7F-478D-4778-AF21-9C2816065C2A}" srcOrd="2" destOrd="0" parTransId="{D5234EFE-886A-4E61-A110-CA7352B82846}" sibTransId="{6D868D22-7A43-4CC4-AE43-0A1F1C4A478A}"/>
    <dgm:cxn modelId="{3BA95B26-360C-438A-893A-2DDC3511292B}" srcId="{4B7A7531-3DA3-4D68-964B-CEB968486A63}" destId="{A4E7CD5E-A257-4635-96DE-D4B981867B9C}" srcOrd="1" destOrd="0" parTransId="{9DE1AE45-6479-4E4E-9E4E-541CB64C983A}" sibTransId="{292F5A2D-D968-48EF-A2BA-57522A29D087}"/>
    <dgm:cxn modelId="{3FC01560-8C91-4040-ADD5-6611D194F346}" srcId="{4B7A7531-3DA3-4D68-964B-CEB968486A63}" destId="{F0391FA6-4768-471A-92DC-E818612B4BE6}" srcOrd="2" destOrd="0" parTransId="{546A83E7-12AE-4409-A16B-881D05C70232}" sibTransId="{020C07E0-123B-4193-A4E6-BF9738F3CD47}"/>
    <dgm:cxn modelId="{F54CDDB6-5EF9-4BCA-9DF6-3F2686DB1073}" type="presOf" srcId="{A4E7CD5E-A257-4635-96DE-D4B981867B9C}" destId="{1773817E-1F17-406A-B7F6-01CB86FBB337}" srcOrd="0" destOrd="0" presId="urn:microsoft.com/office/officeart/2011/layout/TabList"/>
    <dgm:cxn modelId="{39F559BD-7DBD-43D1-AD13-5A0574DF5E2A}" type="presOf" srcId="{42D937B1-B9E4-445B-A8AC-8868C7E9D3CB}" destId="{45F40F8B-7E7B-4198-9EA1-E40797F23D62}" srcOrd="0" destOrd="0" presId="urn:microsoft.com/office/officeart/2011/layout/TabList"/>
    <dgm:cxn modelId="{DACE1E0D-98A0-4740-A45B-F3DF6234DE99}" srcId="{A4E7CD5E-A257-4635-96DE-D4B981867B9C}" destId="{BC1FD197-A6D6-43E2-8D78-08D19CB64702}" srcOrd="1" destOrd="0" parTransId="{0319BB08-BB46-47C4-84E6-A63B54193C15}" sibTransId="{DD1EA1FA-E43B-4FDE-A261-78C72F5F21FA}"/>
    <dgm:cxn modelId="{EE3AE050-6414-4B30-A7FA-9DD24137138E}" srcId="{A4E7CD5E-A257-4635-96DE-D4B981867B9C}" destId="{6B7BB017-4C3D-43DD-80D3-43CDBE64338D}" srcOrd="2" destOrd="0" parTransId="{EA67DE9C-4D3A-4B43-8D59-1DCC8C124F23}" sibTransId="{D11A07F0-9116-463E-BF5C-9E1522D00E30}"/>
    <dgm:cxn modelId="{7D45599B-9D10-4FB8-8D8D-950970B1F239}" type="presOf" srcId="{BC1FD197-A6D6-43E2-8D78-08D19CB64702}" destId="{FCF2199B-A5CF-4074-A17F-E9087D5A5B81}" srcOrd="0" destOrd="0" presId="urn:microsoft.com/office/officeart/2011/layout/TabList"/>
    <dgm:cxn modelId="{B91FCB9B-41D3-48CE-A599-07E766A09E7B}" type="presOf" srcId="{AB802F09-F6FE-4484-9D47-F17090A38B83}" destId="{0501EA78-7B55-4B30-AE91-3EF02CEA3DB3}" srcOrd="0" destOrd="1" presId="urn:microsoft.com/office/officeart/2011/layout/TabList"/>
    <dgm:cxn modelId="{A0C29793-7EB9-4C44-ACED-399560F6428D}" srcId="{F0391FA6-4768-471A-92DC-E818612B4BE6}" destId="{AB802F09-F6FE-4484-9D47-F17090A38B83}" srcOrd="2" destOrd="0" parTransId="{57F21A08-CA90-4D65-AA6A-38C1DB5C5B7A}" sibTransId="{3709834C-D6E0-4C4B-9253-ECBD9DDA0088}"/>
    <dgm:cxn modelId="{18EBDF1D-B8B8-4DA4-94AD-D119927425B6}" type="presOf" srcId="{6B7BB017-4C3D-43DD-80D3-43CDBE64338D}" destId="{FCF2199B-A5CF-4074-A17F-E9087D5A5B81}" srcOrd="0" destOrd="1" presId="urn:microsoft.com/office/officeart/2011/layout/TabList"/>
    <dgm:cxn modelId="{95350CAF-6C84-4760-9168-D253E1029694}" type="presOf" srcId="{89389A7F-478D-4778-AF21-9C2816065C2A}" destId="{BFF8F307-43AB-4BE6-A0E4-8B62D7E53492}" srcOrd="0" destOrd="1" presId="urn:microsoft.com/office/officeart/2011/layout/TabList"/>
    <dgm:cxn modelId="{9F7B1629-C0FE-4CB6-B97E-F49EE0359EA9}" type="presOf" srcId="{5988B053-6EF1-4749-90BF-C5B1ED440965}" destId="{0A407E0E-8932-41FA-8F8E-E9E0198ABB79}" srcOrd="0" destOrd="0" presId="urn:microsoft.com/office/officeart/2011/layout/TabList"/>
    <dgm:cxn modelId="{62A1C8BB-056A-4350-BC28-7ECC73F279EE}" srcId="{F0391FA6-4768-471A-92DC-E818612B4BE6}" destId="{71F93A0F-5B93-4E3B-88FB-8F0434A274D0}" srcOrd="1" destOrd="0" parTransId="{FA948FA3-6B45-4909-BC89-838D488291BA}" sibTransId="{3BF89877-AE56-49B3-9A26-D746C1392BD3}"/>
    <dgm:cxn modelId="{46B54FF5-5EBA-4AB4-9C3A-6525E904DBD3}" srcId="{996E714F-9056-4CC9-9A24-67FA0DA6016A}" destId="{28D59BE1-F0C3-4E90-9ED6-23329FB5D295}" srcOrd="0" destOrd="0" parTransId="{6826F977-EE6F-471C-9ABD-BD16399493F0}" sibTransId="{DAD7235B-411D-4BF7-AF94-9744217FD706}"/>
    <dgm:cxn modelId="{B6BAB9D9-51D3-4FE8-9389-79E5DE86EE1A}" type="presOf" srcId="{996E714F-9056-4CC9-9A24-67FA0DA6016A}" destId="{71CCBDF1-9813-4973-B060-994DA3098502}" srcOrd="0" destOrd="0" presId="urn:microsoft.com/office/officeart/2011/layout/TabList"/>
    <dgm:cxn modelId="{088D88F4-A447-406C-A4B7-FF33DD5770B4}" type="presOf" srcId="{F0391FA6-4768-471A-92DC-E818612B4BE6}" destId="{40329637-B041-498F-B31E-50BBA3A8C30A}" srcOrd="0" destOrd="0" presId="urn:microsoft.com/office/officeart/2011/layout/TabList"/>
    <dgm:cxn modelId="{E0470B64-B52B-4489-8031-CBD2BA5819C0}" type="presParOf" srcId="{CF786FB5-8DFE-48F2-81B8-0ABC0D97F0B2}" destId="{DE2DABCE-4219-4613-A34B-17511BEE0978}" srcOrd="0" destOrd="0" presId="urn:microsoft.com/office/officeart/2011/layout/TabList"/>
    <dgm:cxn modelId="{C5399674-8628-492C-9019-40074F597D57}" type="presParOf" srcId="{DE2DABCE-4219-4613-A34B-17511BEE0978}" destId="{ADAF24A0-AE3C-4D2F-9C94-47ABB03748BC}" srcOrd="0" destOrd="0" presId="urn:microsoft.com/office/officeart/2011/layout/TabList"/>
    <dgm:cxn modelId="{151ECCE8-7E8C-44F1-95D0-4BCC85FBFBBB}" type="presParOf" srcId="{DE2DABCE-4219-4613-A34B-17511BEE0978}" destId="{71CCBDF1-9813-4973-B060-994DA3098502}" srcOrd="1" destOrd="0" presId="urn:microsoft.com/office/officeart/2011/layout/TabList"/>
    <dgm:cxn modelId="{5F28C4DE-276A-40B8-BED5-3A98701440C5}" type="presParOf" srcId="{DE2DABCE-4219-4613-A34B-17511BEE0978}" destId="{B47CD301-D756-4DE8-AC83-53C8921036D6}" srcOrd="2" destOrd="0" presId="urn:microsoft.com/office/officeart/2011/layout/TabList"/>
    <dgm:cxn modelId="{B8B87526-147B-4B45-8B82-8EAC8C8E8A2B}" type="presParOf" srcId="{CF786FB5-8DFE-48F2-81B8-0ABC0D97F0B2}" destId="{BFF8F307-43AB-4BE6-A0E4-8B62D7E53492}" srcOrd="1" destOrd="0" presId="urn:microsoft.com/office/officeart/2011/layout/TabList"/>
    <dgm:cxn modelId="{7B5C29D4-5B06-4060-851C-BD1F54FCE9D1}" type="presParOf" srcId="{CF786FB5-8DFE-48F2-81B8-0ABC0D97F0B2}" destId="{F4ECC76D-1D24-40AE-B122-2C1C313461A2}" srcOrd="2" destOrd="0" presId="urn:microsoft.com/office/officeart/2011/layout/TabList"/>
    <dgm:cxn modelId="{3501FCC8-A23B-46C2-8424-E4787FF0421E}" type="presParOf" srcId="{CF786FB5-8DFE-48F2-81B8-0ABC0D97F0B2}" destId="{C5DA967B-B942-48FF-B74C-30AA2E0C6E95}" srcOrd="3" destOrd="0" presId="urn:microsoft.com/office/officeart/2011/layout/TabList"/>
    <dgm:cxn modelId="{D58275E6-B3FB-4F73-9BC6-F012D0CE5844}" type="presParOf" srcId="{C5DA967B-B942-48FF-B74C-30AA2E0C6E95}" destId="{0A407E0E-8932-41FA-8F8E-E9E0198ABB79}" srcOrd="0" destOrd="0" presId="urn:microsoft.com/office/officeart/2011/layout/TabList"/>
    <dgm:cxn modelId="{F7442D8D-363E-430D-9E2C-AA8E9B999F43}" type="presParOf" srcId="{C5DA967B-B942-48FF-B74C-30AA2E0C6E95}" destId="{1773817E-1F17-406A-B7F6-01CB86FBB337}" srcOrd="1" destOrd="0" presId="urn:microsoft.com/office/officeart/2011/layout/TabList"/>
    <dgm:cxn modelId="{18D6A173-7DC3-414A-AF6A-7BDC555031D3}" type="presParOf" srcId="{C5DA967B-B942-48FF-B74C-30AA2E0C6E95}" destId="{73F238D2-3F52-44AE-A8EF-1732CD218E51}" srcOrd="2" destOrd="0" presId="urn:microsoft.com/office/officeart/2011/layout/TabList"/>
    <dgm:cxn modelId="{998B4FBB-A40E-43C6-B4A3-83CFA4687D1A}" type="presParOf" srcId="{CF786FB5-8DFE-48F2-81B8-0ABC0D97F0B2}" destId="{FCF2199B-A5CF-4074-A17F-E9087D5A5B81}" srcOrd="4" destOrd="0" presId="urn:microsoft.com/office/officeart/2011/layout/TabList"/>
    <dgm:cxn modelId="{C0293894-6144-49ED-A6D1-0D7266A05E00}" type="presParOf" srcId="{CF786FB5-8DFE-48F2-81B8-0ABC0D97F0B2}" destId="{5FFB8A21-6731-4EDD-A954-9897984E369F}" srcOrd="5" destOrd="0" presId="urn:microsoft.com/office/officeart/2011/layout/TabList"/>
    <dgm:cxn modelId="{19511C4A-96C5-4D1A-8B1A-6C23AC120F9E}" type="presParOf" srcId="{CF786FB5-8DFE-48F2-81B8-0ABC0D97F0B2}" destId="{06314B19-35CE-4DD9-ACEC-36C1CC739961}" srcOrd="6" destOrd="0" presId="urn:microsoft.com/office/officeart/2011/layout/TabList"/>
    <dgm:cxn modelId="{E77BD6DB-458A-4E9D-BACC-84871DB831E0}" type="presParOf" srcId="{06314B19-35CE-4DD9-ACEC-36C1CC739961}" destId="{45F40F8B-7E7B-4198-9EA1-E40797F23D62}" srcOrd="0" destOrd="0" presId="urn:microsoft.com/office/officeart/2011/layout/TabList"/>
    <dgm:cxn modelId="{2B109179-7620-4F26-B3BC-81DC3B668404}" type="presParOf" srcId="{06314B19-35CE-4DD9-ACEC-36C1CC739961}" destId="{40329637-B041-498F-B31E-50BBA3A8C30A}" srcOrd="1" destOrd="0" presId="urn:microsoft.com/office/officeart/2011/layout/TabList"/>
    <dgm:cxn modelId="{8E06832E-9D77-448F-9280-82E90E4494BC}" type="presParOf" srcId="{06314B19-35CE-4DD9-ACEC-36C1CC739961}" destId="{D3B6F36E-F284-4A21-B4E5-4707AE12796A}" srcOrd="2" destOrd="0" presId="urn:microsoft.com/office/officeart/2011/layout/TabList"/>
    <dgm:cxn modelId="{70F9ED65-1000-42FD-AEA6-F04790C63A53}" type="presParOf" srcId="{CF786FB5-8DFE-48F2-81B8-0ABC0D97F0B2}" destId="{0501EA78-7B55-4B30-AE91-3EF02CEA3DB3}"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20-May-21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20-May-21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20-May-21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20-May-21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20-May-21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20-May-21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20-May-21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20-May-21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20-May-21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20-May-21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20-May-21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srcRect/>
          <a:tile tx="6350" ty="0" sx="100000" sy="100000" flip="none" algn="tl"/>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20-May-21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1122363"/>
            <a:ext cx="8791575" cy="1285986"/>
          </a:xfrm>
          <a:blipFill dpi="0" rotWithShape="1">
            <a:blip r:embed="rId2"/>
            <a:srcRect/>
            <a:tile tx="6350" ty="0" sx="100000" sy="100000" flip="none" algn="tl"/>
          </a:blipFill>
        </p:spPr>
        <p:txBody>
          <a:bodyPr>
            <a:normAutofit/>
          </a:bodyPr>
          <a:lstStyle/>
          <a:p>
            <a:r>
              <a:rPr lang="en-US" sz="7200" dirty="0" smtClean="0">
                <a:solidFill>
                  <a:srgbClr val="002060"/>
                </a:solidFill>
                <a:latin typeface="Aharoni" panose="02010803020104030203" pitchFamily="2" charset="-79"/>
                <a:cs typeface="Aharoni" panose="02010803020104030203" pitchFamily="2" charset="-79"/>
              </a:rPr>
              <a:t>ETHICAL HACKING </a:t>
            </a:r>
            <a:endParaRPr lang="en-US" sz="7200" dirty="0">
              <a:solidFill>
                <a:srgbClr val="002060"/>
              </a:solidFill>
              <a:latin typeface="Aharoni" panose="02010803020104030203" pitchFamily="2" charset="-79"/>
              <a:cs typeface="Aharoni" panose="02010803020104030203" pitchFamily="2" charset="-79"/>
            </a:endParaRPr>
          </a:p>
        </p:txBody>
      </p:sp>
      <p:sp>
        <p:nvSpPr>
          <p:cNvPr id="3" name="Subtitle 2"/>
          <p:cNvSpPr>
            <a:spLocks noGrp="1"/>
          </p:cNvSpPr>
          <p:nvPr>
            <p:ph type="subTitle" idx="1"/>
          </p:nvPr>
        </p:nvSpPr>
        <p:spPr>
          <a:xfrm>
            <a:off x="643944" y="2691685"/>
            <a:ext cx="10024055" cy="3683357"/>
          </a:xfrm>
        </p:spPr>
        <p:txBody>
          <a:bodyPr>
            <a:normAutofit/>
          </a:bodyPr>
          <a:lstStyle/>
          <a:p>
            <a:r>
              <a:rPr lang="en-US" dirty="0" smtClean="0">
                <a:latin typeface="Angsana New" panose="02020603050405020304" pitchFamily="18" charset="-34"/>
                <a:cs typeface="Angsana New" panose="02020603050405020304" pitchFamily="18" charset="-34"/>
              </a:rPr>
              <a:t>                                                                                                              </a:t>
            </a:r>
          </a:p>
          <a:p>
            <a:endParaRPr lang="en-US" sz="3200" dirty="0" smtClean="0">
              <a:solidFill>
                <a:schemeClr val="bg1"/>
              </a:solidFill>
              <a:latin typeface="Aharoni" panose="02010803020104030203" pitchFamily="2" charset="-79"/>
              <a:cs typeface="Aharoni" panose="02010803020104030203" pitchFamily="2" charset="-79"/>
            </a:endParaRPr>
          </a:p>
          <a:p>
            <a:r>
              <a:rPr lang="en-US" sz="3200" smtClean="0">
                <a:solidFill>
                  <a:srgbClr val="C00000"/>
                </a:solidFill>
                <a:latin typeface="Aharoni" panose="02010803020104030203" pitchFamily="2" charset="-79"/>
                <a:cs typeface="Aharoni" panose="02010803020104030203" pitchFamily="2" charset="-79"/>
              </a:rPr>
              <a:t>             </a:t>
            </a:r>
            <a:endParaRPr lang="en-US" sz="3200" dirty="0">
              <a:solidFill>
                <a:srgbClr val="C00000"/>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3550728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571223"/>
          </a:xfrm>
        </p:spPr>
        <p:txBody>
          <a:bodyPr>
            <a:normAutofit/>
          </a:bodyPr>
          <a:lstStyle/>
          <a:p>
            <a:r>
              <a:rPr lang="en-US" sz="6000" dirty="0" smtClean="0">
                <a:solidFill>
                  <a:srgbClr val="C00000"/>
                </a:solidFill>
              </a:rPr>
              <a:t>OVERVIEW OF HACKING : </a:t>
            </a:r>
            <a:endParaRPr lang="en-US" sz="6000" dirty="0">
              <a:solidFill>
                <a:srgbClr val="C00000"/>
              </a:solidFill>
            </a:endParaRPr>
          </a:p>
        </p:txBody>
      </p:sp>
      <p:sp>
        <p:nvSpPr>
          <p:cNvPr id="3" name="Content Placeholder 2"/>
          <p:cNvSpPr>
            <a:spLocks noGrp="1"/>
          </p:cNvSpPr>
          <p:nvPr>
            <p:ph idx="1"/>
          </p:nvPr>
        </p:nvSpPr>
        <p:spPr>
          <a:xfrm>
            <a:off x="1141412" y="1751528"/>
            <a:ext cx="9905999" cy="5106472"/>
          </a:xfrm>
        </p:spPr>
        <p:txBody>
          <a:bodyPr/>
          <a:lstStyle/>
          <a:p>
            <a:pPr>
              <a:buFont typeface="Wingdings" panose="05000000000000000000" pitchFamily="2" charset="2"/>
              <a:buChar char="v"/>
            </a:pPr>
            <a:r>
              <a:rPr lang="en-US" sz="3200" dirty="0" smtClean="0">
                <a:solidFill>
                  <a:srgbClr val="002060"/>
                </a:solidFill>
              </a:rPr>
              <a:t> HACK :</a:t>
            </a:r>
          </a:p>
          <a:p>
            <a:pPr>
              <a:buFont typeface="Wingdings" panose="05000000000000000000" pitchFamily="2" charset="2"/>
              <a:buChar char="§"/>
            </a:pPr>
            <a:r>
              <a:rPr lang="en-US" dirty="0">
                <a:solidFill>
                  <a:srgbClr val="002060"/>
                </a:solidFill>
              </a:rPr>
              <a:t> </a:t>
            </a:r>
            <a:r>
              <a:rPr lang="en-US" dirty="0" smtClean="0">
                <a:solidFill>
                  <a:srgbClr val="002060"/>
                </a:solidFill>
              </a:rPr>
              <a:t>EXAMINE SOMETHING VERY MINUTELY. </a:t>
            </a:r>
          </a:p>
          <a:p>
            <a:pPr>
              <a:buFont typeface="Wingdings" panose="05000000000000000000" pitchFamily="2" charset="2"/>
              <a:buChar char="§"/>
            </a:pPr>
            <a:r>
              <a:rPr lang="en-US" dirty="0">
                <a:solidFill>
                  <a:srgbClr val="002060"/>
                </a:solidFill>
              </a:rPr>
              <a:t> </a:t>
            </a:r>
            <a:r>
              <a:rPr lang="en-US" dirty="0" smtClean="0">
                <a:solidFill>
                  <a:srgbClr val="002060"/>
                </a:solidFill>
              </a:rPr>
              <a:t>THE RAPID CRAFTING OF NEW PROGRAM OR THE MAKING OF CHANGES TO EXISTING , USUALLY COMPLICATED SOFTWARE . </a:t>
            </a:r>
          </a:p>
          <a:p>
            <a:pPr>
              <a:buFont typeface="Wingdings" panose="05000000000000000000" pitchFamily="2" charset="2"/>
              <a:buChar char="v"/>
            </a:pPr>
            <a:r>
              <a:rPr lang="en-US" sz="3200" dirty="0">
                <a:solidFill>
                  <a:srgbClr val="002060"/>
                </a:solidFill>
              </a:rPr>
              <a:t> </a:t>
            </a:r>
            <a:r>
              <a:rPr lang="en-US" sz="3200" dirty="0" smtClean="0">
                <a:solidFill>
                  <a:srgbClr val="002060"/>
                </a:solidFill>
              </a:rPr>
              <a:t>HACKER :</a:t>
            </a:r>
          </a:p>
          <a:p>
            <a:pPr>
              <a:buFont typeface="Wingdings" panose="05000000000000000000" pitchFamily="2" charset="2"/>
              <a:buChar char="§"/>
            </a:pPr>
            <a:r>
              <a:rPr lang="en-US" dirty="0">
                <a:solidFill>
                  <a:srgbClr val="002060"/>
                </a:solidFill>
              </a:rPr>
              <a:t> </a:t>
            </a:r>
            <a:r>
              <a:rPr lang="en-US" dirty="0" smtClean="0">
                <a:solidFill>
                  <a:srgbClr val="002060"/>
                </a:solidFill>
              </a:rPr>
              <a:t>THE PERSON WHO HACKS .</a:t>
            </a:r>
          </a:p>
          <a:p>
            <a:pPr>
              <a:buFont typeface="Wingdings" panose="05000000000000000000" pitchFamily="2" charset="2"/>
              <a:buChar char="v"/>
            </a:pPr>
            <a:r>
              <a:rPr lang="en-US" sz="3200" dirty="0" smtClean="0">
                <a:solidFill>
                  <a:srgbClr val="002060"/>
                </a:solidFill>
              </a:rPr>
              <a:t>CRACKER :</a:t>
            </a:r>
          </a:p>
          <a:p>
            <a:pPr>
              <a:buFont typeface="Wingdings" panose="05000000000000000000" pitchFamily="2" charset="2"/>
              <a:buChar char="§"/>
            </a:pPr>
            <a:r>
              <a:rPr lang="en-US" dirty="0">
                <a:solidFill>
                  <a:srgbClr val="002060"/>
                </a:solidFill>
              </a:rPr>
              <a:t> </a:t>
            </a:r>
            <a:r>
              <a:rPr lang="en-US" dirty="0" smtClean="0">
                <a:solidFill>
                  <a:srgbClr val="002060"/>
                </a:solidFill>
              </a:rPr>
              <a:t>SYSTEM INTRUDER OR DESTROYER . </a:t>
            </a:r>
          </a:p>
        </p:txBody>
      </p:sp>
    </p:spTree>
    <p:extLst>
      <p:ext uri="{BB962C8B-B14F-4D97-AF65-F5344CB8AC3E}">
        <p14:creationId xmlns:p14="http://schemas.microsoft.com/office/powerpoint/2010/main" val="11417800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smtClean="0">
                <a:solidFill>
                  <a:srgbClr val="C00000"/>
                </a:solidFill>
              </a:rPr>
              <a:t>What is ETHICAL HACKING ? </a:t>
            </a:r>
            <a:endParaRPr lang="en-US" sz="6000"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dirty="0" smtClean="0">
                <a:solidFill>
                  <a:srgbClr val="002060"/>
                </a:solidFill>
              </a:rPr>
              <a:t> </a:t>
            </a:r>
            <a:r>
              <a:rPr lang="en-US" sz="3200" dirty="0" smtClean="0">
                <a:solidFill>
                  <a:srgbClr val="002060"/>
                </a:solidFill>
              </a:rPr>
              <a:t>INDEPENDENT COMPUTER SECURITY PROFESSSIONALS BREAKING INTO THE COMPUTER SYSTEM .</a:t>
            </a:r>
          </a:p>
          <a:p>
            <a:pPr>
              <a:buFont typeface="Wingdings" panose="05000000000000000000" pitchFamily="2" charset="2"/>
              <a:buChar char="Ø"/>
            </a:pPr>
            <a:r>
              <a:rPr lang="en-US" sz="3200" dirty="0">
                <a:solidFill>
                  <a:srgbClr val="002060"/>
                </a:solidFill>
              </a:rPr>
              <a:t> </a:t>
            </a:r>
            <a:r>
              <a:rPr lang="en-US" sz="3200" dirty="0" smtClean="0">
                <a:solidFill>
                  <a:srgbClr val="002060"/>
                </a:solidFill>
              </a:rPr>
              <a:t>NEITHER DAMAGE THE TARGET SYSTEMS  NOR STEAL THE INFORMATION.</a:t>
            </a:r>
          </a:p>
          <a:p>
            <a:pPr>
              <a:buFont typeface="Wingdings" panose="05000000000000000000" pitchFamily="2" charset="2"/>
              <a:buChar char="Ø"/>
            </a:pPr>
            <a:r>
              <a:rPr lang="en-US" sz="3200" dirty="0" smtClean="0">
                <a:solidFill>
                  <a:srgbClr val="002060"/>
                </a:solidFill>
              </a:rPr>
              <a:t> EVALUATE TARGET SYSTEM SECURITY AND REPORT BACK TO OWNER ABOUT THE VULNERABALITIES FOUND </a:t>
            </a:r>
            <a:r>
              <a:rPr lang="en-US" dirty="0" smtClean="0">
                <a:solidFill>
                  <a:srgbClr val="002060"/>
                </a:solidFill>
              </a:rPr>
              <a:t>.</a:t>
            </a:r>
          </a:p>
          <a:p>
            <a:pPr marL="0" indent="0">
              <a:buNone/>
            </a:pPr>
            <a:endParaRPr lang="en-US" dirty="0"/>
          </a:p>
        </p:txBody>
      </p:sp>
    </p:spTree>
    <p:extLst>
      <p:ext uri="{BB962C8B-B14F-4D97-AF65-F5344CB8AC3E}">
        <p14:creationId xmlns:p14="http://schemas.microsoft.com/office/powerpoint/2010/main" val="3692283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0163" y="841131"/>
            <a:ext cx="3856037" cy="1639884"/>
          </a:xfrm>
        </p:spPr>
        <p:txBody>
          <a:bodyPr>
            <a:noAutofit/>
          </a:bodyPr>
          <a:lstStyle/>
          <a:p>
            <a:r>
              <a:rPr lang="en-US" sz="7200" dirty="0" smtClean="0">
                <a:solidFill>
                  <a:srgbClr val="002060"/>
                </a:solidFill>
                <a:latin typeface="Algerian" panose="04020705040A02060702" pitchFamily="82" charset="0"/>
              </a:rPr>
              <a:t>TYPES </a:t>
            </a:r>
            <a:endParaRPr lang="en-US" sz="7200" dirty="0">
              <a:solidFill>
                <a:srgbClr val="002060"/>
              </a:solidFill>
              <a:latin typeface="Algerian" panose="04020705040A02060702" pitchFamily="82" charset="0"/>
            </a:endParaRPr>
          </a:p>
        </p:txBody>
      </p:sp>
      <p:sp>
        <p:nvSpPr>
          <p:cNvPr id="4" name="Text Placeholder 3"/>
          <p:cNvSpPr>
            <a:spLocks noGrp="1"/>
          </p:cNvSpPr>
          <p:nvPr>
            <p:ph type="body" sz="half" idx="2"/>
          </p:nvPr>
        </p:nvSpPr>
        <p:spPr>
          <a:xfrm>
            <a:off x="1300163" y="2653048"/>
            <a:ext cx="5924884" cy="3168202"/>
          </a:xfrm>
        </p:spPr>
        <p:txBody>
          <a:bodyPr>
            <a:normAutofit/>
          </a:bodyPr>
          <a:lstStyle/>
          <a:p>
            <a:r>
              <a:rPr lang="en-US" sz="7200" dirty="0" smtClean="0">
                <a:solidFill>
                  <a:srgbClr val="002060"/>
                </a:solidFill>
                <a:latin typeface="Algerian" panose="04020705040A02060702" pitchFamily="82" charset="0"/>
              </a:rPr>
              <a:t>OF </a:t>
            </a:r>
            <a:endParaRPr lang="en-US" sz="7200" dirty="0" smtClean="0">
              <a:solidFill>
                <a:srgbClr val="002060"/>
              </a:solidFill>
              <a:latin typeface="Algerian" panose="04020705040A02060702" pitchFamily="82" charset="0"/>
              <a:cs typeface="Aldhabi" panose="01000000000000000000" pitchFamily="2" charset="-78"/>
            </a:endParaRPr>
          </a:p>
          <a:p>
            <a:r>
              <a:rPr lang="en-US" sz="8800" dirty="0" smtClean="0">
                <a:solidFill>
                  <a:srgbClr val="002060"/>
                </a:solidFill>
                <a:latin typeface="Algerian" panose="04020705040A02060702" pitchFamily="82" charset="0"/>
                <a:cs typeface="Arial" panose="020B0604020202020204" pitchFamily="34" charset="0"/>
              </a:rPr>
              <a:t>HACKERS</a:t>
            </a:r>
            <a:r>
              <a:rPr lang="en-US" sz="7200" dirty="0" smtClean="0">
                <a:solidFill>
                  <a:srgbClr val="002060"/>
                </a:solidFill>
              </a:rPr>
              <a:t> </a:t>
            </a:r>
            <a:endParaRPr lang="en-US" sz="7200" dirty="0">
              <a:solidFill>
                <a:srgbClr val="002060"/>
              </a:solidFill>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29786370"/>
              </p:ext>
            </p:extLst>
          </p:nvPr>
        </p:nvGraphicFramePr>
        <p:xfrm>
          <a:off x="6426558" y="128788"/>
          <a:ext cx="5628067" cy="6452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89654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364" y="755869"/>
            <a:ext cx="10269269" cy="1029978"/>
          </a:xfrm>
        </p:spPr>
        <p:txBody>
          <a:bodyPr/>
          <a:lstStyle/>
          <a:p>
            <a:r>
              <a:rPr lang="en-US" dirty="0" smtClean="0">
                <a:solidFill>
                  <a:srgbClr val="002060"/>
                </a:solidFill>
                <a:latin typeface="Aharoni" panose="02010803020104030203" pitchFamily="2" charset="-79"/>
                <a:cs typeface="Aharoni" panose="02010803020104030203" pitchFamily="2" charset="-79"/>
              </a:rPr>
              <a:t>DESCRIPTION about the types of hackers : </a:t>
            </a:r>
            <a:endParaRPr lang="en-US" dirty="0">
              <a:solidFill>
                <a:srgbClr val="002060"/>
              </a:solidFill>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1201000" y="1785847"/>
            <a:ext cx="9905999" cy="5072153"/>
          </a:xfrm>
        </p:spPr>
        <p:txBody>
          <a:bodyPr>
            <a:normAutofit fontScale="40000" lnSpcReduction="20000"/>
          </a:bodyPr>
          <a:lstStyle/>
          <a:p>
            <a:pPr>
              <a:buFont typeface="Wingdings" panose="05000000000000000000" pitchFamily="2" charset="2"/>
              <a:buChar char="v"/>
            </a:pPr>
            <a:r>
              <a:rPr lang="en-US" sz="8000" dirty="0" smtClean="0">
                <a:solidFill>
                  <a:srgbClr val="C00000"/>
                </a:solidFill>
                <a:latin typeface="Algerian" panose="04020705040A02060702" pitchFamily="82" charset="0"/>
              </a:rPr>
              <a:t>PROFESSIONAL HACKERS </a:t>
            </a:r>
            <a:r>
              <a:rPr lang="en-US" sz="7600" dirty="0" smtClean="0">
                <a:solidFill>
                  <a:srgbClr val="C00000"/>
                </a:solidFill>
                <a:latin typeface="Algerian" panose="04020705040A02060702" pitchFamily="82" charset="0"/>
              </a:rPr>
              <a:t>:</a:t>
            </a:r>
          </a:p>
          <a:p>
            <a:pPr>
              <a:buFont typeface="Wingdings" panose="05000000000000000000" pitchFamily="2" charset="2"/>
              <a:buChar char="q"/>
            </a:pPr>
            <a:r>
              <a:rPr lang="en-US" sz="5100" dirty="0">
                <a:solidFill>
                  <a:srgbClr val="002060"/>
                </a:solidFill>
                <a:latin typeface="Aharoni" panose="02010803020104030203" pitchFamily="2" charset="-79"/>
                <a:cs typeface="Aharoni" panose="02010803020104030203" pitchFamily="2" charset="-79"/>
              </a:rPr>
              <a:t> </a:t>
            </a:r>
            <a:r>
              <a:rPr lang="en-US" sz="5100" dirty="0" smtClean="0">
                <a:solidFill>
                  <a:srgbClr val="002060"/>
                </a:solidFill>
                <a:latin typeface="Aharoni" panose="02010803020104030203" pitchFamily="2" charset="-79"/>
                <a:cs typeface="Aharoni" panose="02010803020104030203" pitchFamily="2" charset="-79"/>
              </a:rPr>
              <a:t>BLACK HATS _____ THE BAD GUYS </a:t>
            </a:r>
          </a:p>
          <a:p>
            <a:pPr>
              <a:buFont typeface="Wingdings" panose="05000000000000000000" pitchFamily="2" charset="2"/>
              <a:buChar char="q"/>
            </a:pPr>
            <a:r>
              <a:rPr lang="en-US" sz="5100" dirty="0">
                <a:solidFill>
                  <a:srgbClr val="002060"/>
                </a:solidFill>
                <a:latin typeface="Aharoni" panose="02010803020104030203" pitchFamily="2" charset="-79"/>
                <a:cs typeface="Aharoni" panose="02010803020104030203" pitchFamily="2" charset="-79"/>
              </a:rPr>
              <a:t> </a:t>
            </a:r>
            <a:r>
              <a:rPr lang="en-US" sz="5100" dirty="0" smtClean="0">
                <a:solidFill>
                  <a:srgbClr val="002060"/>
                </a:solidFill>
                <a:latin typeface="Aharoni" panose="02010803020104030203" pitchFamily="2" charset="-79"/>
                <a:cs typeface="Aharoni" panose="02010803020104030203" pitchFamily="2" charset="-79"/>
              </a:rPr>
              <a:t>WHITE HATS _____PROFESSIONAL SECURITY EXPERTS</a:t>
            </a:r>
          </a:p>
          <a:p>
            <a:pPr>
              <a:buFont typeface="Wingdings" panose="05000000000000000000" pitchFamily="2" charset="2"/>
              <a:buChar char="v"/>
            </a:pPr>
            <a:r>
              <a:rPr lang="en-US" sz="8000" dirty="0" smtClean="0">
                <a:solidFill>
                  <a:srgbClr val="C00000"/>
                </a:solidFill>
                <a:latin typeface="Algerian" panose="04020705040A02060702" pitchFamily="82" charset="0"/>
              </a:rPr>
              <a:t>SCRIPT KIDDIES :</a:t>
            </a:r>
          </a:p>
          <a:p>
            <a:pPr>
              <a:buFont typeface="Wingdings" panose="05000000000000000000" pitchFamily="2" charset="2"/>
              <a:buChar char="q"/>
            </a:pPr>
            <a:r>
              <a:rPr lang="en-US" sz="7000" dirty="0" smtClean="0">
                <a:solidFill>
                  <a:srgbClr val="002060"/>
                </a:solidFill>
                <a:latin typeface="Aharoni" panose="02010803020104030203" pitchFamily="2" charset="-79"/>
                <a:cs typeface="Aharoni" panose="02010803020104030203" pitchFamily="2" charset="-79"/>
              </a:rPr>
              <a:t>MOSTLY KIDS /STUDENTS  : </a:t>
            </a:r>
          </a:p>
          <a:p>
            <a:r>
              <a:rPr lang="en-US" sz="7000" dirty="0">
                <a:solidFill>
                  <a:srgbClr val="002060"/>
                </a:solidFill>
              </a:rPr>
              <a:t> </a:t>
            </a:r>
            <a:r>
              <a:rPr lang="en-US" sz="7000" dirty="0">
                <a:solidFill>
                  <a:srgbClr val="002060"/>
                </a:solidFill>
                <a:latin typeface="Aharoni" panose="02010803020104030203" pitchFamily="2" charset="-79"/>
                <a:cs typeface="Aharoni" panose="02010803020104030203" pitchFamily="2" charset="-79"/>
              </a:rPr>
              <a:t>U</a:t>
            </a:r>
            <a:r>
              <a:rPr lang="en-US" sz="7000" dirty="0" smtClean="0">
                <a:solidFill>
                  <a:srgbClr val="002060"/>
                </a:solidFill>
                <a:latin typeface="Aharoni" panose="02010803020104030203" pitchFamily="2" charset="-79"/>
                <a:cs typeface="Aharoni" panose="02010803020104030203" pitchFamily="2" charset="-79"/>
              </a:rPr>
              <a:t>se tools created by black hats ,</a:t>
            </a:r>
          </a:p>
          <a:p>
            <a:pPr marL="0" indent="0">
              <a:buNone/>
            </a:pPr>
            <a:r>
              <a:rPr lang="en-US" sz="7000" dirty="0">
                <a:solidFill>
                  <a:srgbClr val="002060"/>
                </a:solidFill>
                <a:latin typeface="Aharoni" panose="02010803020104030203" pitchFamily="2" charset="-79"/>
                <a:cs typeface="Aharoni" panose="02010803020104030203" pitchFamily="2" charset="-79"/>
              </a:rPr>
              <a:t> </a:t>
            </a:r>
            <a:r>
              <a:rPr lang="en-US" sz="7000" dirty="0" smtClean="0">
                <a:solidFill>
                  <a:srgbClr val="002060"/>
                </a:solidFill>
                <a:latin typeface="Aharoni" panose="02010803020104030203" pitchFamily="2" charset="-79"/>
                <a:cs typeface="Aharoni" panose="02010803020104030203" pitchFamily="2" charset="-79"/>
              </a:rPr>
              <a:t>                     - </a:t>
            </a:r>
            <a:r>
              <a:rPr lang="en-US" sz="6000" dirty="0" smtClean="0">
                <a:solidFill>
                  <a:srgbClr val="002060"/>
                </a:solidFill>
                <a:latin typeface="Aharoni" panose="02010803020104030203" pitchFamily="2" charset="-79"/>
                <a:cs typeface="Aharoni" panose="02010803020104030203" pitchFamily="2" charset="-79"/>
              </a:rPr>
              <a:t>To get free stuff </a:t>
            </a:r>
          </a:p>
          <a:p>
            <a:pPr marL="0" indent="0">
              <a:buNone/>
            </a:pPr>
            <a:r>
              <a:rPr lang="en-US" sz="6000" dirty="0" smtClean="0">
                <a:solidFill>
                  <a:srgbClr val="002060"/>
                </a:solidFill>
                <a:latin typeface="Aharoni" panose="02010803020104030203" pitchFamily="2" charset="-79"/>
                <a:cs typeface="Aharoni" panose="02010803020104030203" pitchFamily="2" charset="-79"/>
              </a:rPr>
              <a:t>                          -  Impress their peers </a:t>
            </a:r>
          </a:p>
          <a:p>
            <a:pPr marL="0" indent="0">
              <a:buNone/>
            </a:pPr>
            <a:r>
              <a:rPr lang="en-US" sz="6000" dirty="0" smtClean="0">
                <a:solidFill>
                  <a:srgbClr val="002060"/>
                </a:solidFill>
                <a:latin typeface="Aharoni" panose="02010803020104030203" pitchFamily="2" charset="-79"/>
                <a:cs typeface="Aharoni" panose="02010803020104030203" pitchFamily="2" charset="-79"/>
              </a:rPr>
              <a:t>                          -  Not to get caught    </a:t>
            </a:r>
            <a:r>
              <a:rPr lang="en-US" sz="6000" dirty="0" smtClean="0">
                <a:solidFill>
                  <a:srgbClr val="002060"/>
                </a:solidFill>
              </a:rPr>
              <a:t>                  </a:t>
            </a:r>
          </a:p>
          <a:p>
            <a:pPr marL="0" indent="0">
              <a:buNone/>
            </a:pPr>
            <a:endParaRPr lang="en-US" dirty="0"/>
          </a:p>
        </p:txBody>
      </p:sp>
    </p:spTree>
    <p:extLst>
      <p:ext uri="{BB962C8B-B14F-4D97-AF65-F5344CB8AC3E}">
        <p14:creationId xmlns:p14="http://schemas.microsoft.com/office/powerpoint/2010/main" val="26724651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26947"/>
          </a:xfrm>
        </p:spPr>
        <p:txBody>
          <a:bodyPr/>
          <a:lstStyle/>
          <a:p>
            <a:pPr marL="571500" indent="-571500">
              <a:buFont typeface="Courier New" panose="02070309020205020404" pitchFamily="49" charset="0"/>
              <a:buChar char="o"/>
            </a:pPr>
            <a:r>
              <a:rPr lang="en-US" dirty="0" smtClean="0">
                <a:solidFill>
                  <a:srgbClr val="C00000"/>
                </a:solidFill>
                <a:latin typeface="Algerian" panose="04020705040A02060702" pitchFamily="82" charset="0"/>
              </a:rPr>
              <a:t>UNEMPLOYED ADULT HACKERS :</a:t>
            </a:r>
            <a:endParaRPr lang="en-US" dirty="0">
              <a:solidFill>
                <a:srgbClr val="C00000"/>
              </a:solidFill>
              <a:latin typeface="Algerian" panose="04020705040A02060702" pitchFamily="82" charset="0"/>
            </a:endParaRPr>
          </a:p>
        </p:txBody>
      </p:sp>
      <p:sp>
        <p:nvSpPr>
          <p:cNvPr id="3" name="Content Placeholder 2"/>
          <p:cNvSpPr>
            <a:spLocks noGrp="1"/>
          </p:cNvSpPr>
          <p:nvPr>
            <p:ph idx="1"/>
          </p:nvPr>
        </p:nvSpPr>
        <p:spPr>
          <a:xfrm>
            <a:off x="1141412" y="1378039"/>
            <a:ext cx="9905999" cy="4413162"/>
          </a:xfrm>
        </p:spPr>
        <p:txBody>
          <a:bodyPr>
            <a:normAutofit lnSpcReduction="10000"/>
          </a:bodyPr>
          <a:lstStyle/>
          <a:p>
            <a:r>
              <a:rPr lang="en-US" sz="2800" dirty="0" smtClean="0">
                <a:solidFill>
                  <a:srgbClr val="002060"/>
                </a:solidFill>
              </a:rPr>
              <a:t> FORMER SCRIPT KIDDIES </a:t>
            </a:r>
          </a:p>
          <a:p>
            <a:pPr marL="0" indent="0">
              <a:buNone/>
            </a:pPr>
            <a:r>
              <a:rPr lang="en-US" dirty="0">
                <a:solidFill>
                  <a:srgbClr val="002060"/>
                </a:solidFill>
              </a:rPr>
              <a:t> </a:t>
            </a:r>
            <a:r>
              <a:rPr lang="en-US" dirty="0" smtClean="0">
                <a:solidFill>
                  <a:srgbClr val="002060"/>
                </a:solidFill>
              </a:rPr>
              <a:t>                            - CAN’T GET EMPLOYMENT IN THE FIELD </a:t>
            </a:r>
          </a:p>
          <a:p>
            <a:pPr marL="0" indent="0">
              <a:buNone/>
            </a:pPr>
            <a:r>
              <a:rPr lang="en-US" dirty="0">
                <a:solidFill>
                  <a:srgbClr val="002060"/>
                </a:solidFill>
              </a:rPr>
              <a:t> </a:t>
            </a:r>
            <a:r>
              <a:rPr lang="en-US" dirty="0" smtClean="0">
                <a:solidFill>
                  <a:srgbClr val="002060"/>
                </a:solidFill>
              </a:rPr>
              <a:t>                            - WANT RECOGNITION IN HACKER’S COMMUNITY </a:t>
            </a:r>
          </a:p>
          <a:p>
            <a:pPr marL="0" indent="0">
              <a:buNone/>
            </a:pPr>
            <a:r>
              <a:rPr lang="en-US" dirty="0">
                <a:solidFill>
                  <a:srgbClr val="002060"/>
                </a:solidFill>
              </a:rPr>
              <a:t> </a:t>
            </a:r>
            <a:r>
              <a:rPr lang="en-US" dirty="0" smtClean="0">
                <a:solidFill>
                  <a:srgbClr val="002060"/>
                </a:solidFill>
              </a:rPr>
              <a:t>                            - BIG IN EASTERN EUROPEAN COUNTRIES </a:t>
            </a:r>
          </a:p>
          <a:p>
            <a:pPr>
              <a:buFont typeface="Courier New" panose="02070309020205020404" pitchFamily="49" charset="0"/>
              <a:buChar char="o"/>
            </a:pPr>
            <a:r>
              <a:rPr lang="en-US" sz="3600" dirty="0">
                <a:solidFill>
                  <a:srgbClr val="C00000"/>
                </a:solidFill>
              </a:rPr>
              <a:t> </a:t>
            </a:r>
            <a:r>
              <a:rPr lang="en-US" sz="3600" dirty="0" smtClean="0">
                <a:solidFill>
                  <a:srgbClr val="C00000"/>
                </a:solidFill>
                <a:latin typeface="Algerian" panose="04020705040A02060702" pitchFamily="82" charset="0"/>
              </a:rPr>
              <a:t>IDEOLOGICAL HACKERS : </a:t>
            </a:r>
          </a:p>
          <a:p>
            <a:pPr>
              <a:buFont typeface="Wingdings" panose="05000000000000000000" pitchFamily="2" charset="2"/>
              <a:buChar char="§"/>
            </a:pPr>
            <a:r>
              <a:rPr lang="en-US" dirty="0">
                <a:solidFill>
                  <a:srgbClr val="002060"/>
                </a:solidFill>
              </a:rPr>
              <a:t> </a:t>
            </a:r>
            <a:r>
              <a:rPr lang="en-US" dirty="0" smtClean="0">
                <a:solidFill>
                  <a:srgbClr val="002060"/>
                </a:solidFill>
              </a:rPr>
              <a:t>HACK AS A MECHANISM TO PROMOTE SOME POLITICAL AND IDEOLOGICAL PURPOSE   </a:t>
            </a:r>
          </a:p>
          <a:p>
            <a:pPr>
              <a:buFont typeface="Wingdings" panose="05000000000000000000" pitchFamily="2" charset="2"/>
              <a:buChar char="§"/>
            </a:pPr>
            <a:r>
              <a:rPr lang="en-US" dirty="0">
                <a:solidFill>
                  <a:srgbClr val="002060"/>
                </a:solidFill>
              </a:rPr>
              <a:t> </a:t>
            </a:r>
            <a:r>
              <a:rPr lang="en-US" dirty="0" smtClean="0">
                <a:solidFill>
                  <a:srgbClr val="002060"/>
                </a:solidFill>
              </a:rPr>
              <a:t>USUALLY CONCIDE WITH POLITICAL EVENTS . </a:t>
            </a:r>
            <a:endParaRPr lang="en-US" dirty="0">
              <a:solidFill>
                <a:srgbClr val="002060"/>
              </a:solidFill>
            </a:endParaRPr>
          </a:p>
        </p:txBody>
      </p:sp>
    </p:spTree>
    <p:extLst>
      <p:ext uri="{BB962C8B-B14F-4D97-AF65-F5344CB8AC3E}">
        <p14:creationId xmlns:p14="http://schemas.microsoft.com/office/powerpoint/2010/main" val="2811228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42434"/>
          </a:xfrm>
        </p:spPr>
        <p:txBody>
          <a:bodyPr>
            <a:normAutofit/>
          </a:bodyPr>
          <a:lstStyle/>
          <a:p>
            <a:r>
              <a:rPr lang="en-US" sz="8000" dirty="0" smtClean="0">
                <a:solidFill>
                  <a:srgbClr val="FF0000"/>
                </a:solidFill>
              </a:rPr>
              <a:t>TYPES OF HACKING </a:t>
            </a:r>
            <a:endParaRPr lang="en-US" sz="8000" dirty="0">
              <a:solidFill>
                <a:srgbClr val="FF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449425057"/>
              </p:ext>
            </p:extLst>
          </p:nvPr>
        </p:nvGraphicFramePr>
        <p:xfrm>
          <a:off x="3550024" y="1558343"/>
          <a:ext cx="7879976" cy="5177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87047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748"/>
            <a:ext cx="9905998" cy="806824"/>
          </a:xfrm>
        </p:spPr>
        <p:txBody>
          <a:bodyPr>
            <a:normAutofit/>
          </a:bodyPr>
          <a:lstStyle/>
          <a:p>
            <a:r>
              <a:rPr lang="en-US" sz="4800" dirty="0" smtClean="0">
                <a:solidFill>
                  <a:srgbClr val="C00000"/>
                </a:solidFill>
              </a:rPr>
              <a:t>Description : </a:t>
            </a:r>
            <a:endParaRPr lang="en-US" sz="4800" dirty="0">
              <a:solidFill>
                <a:srgbClr val="C0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43868796"/>
              </p:ext>
            </p:extLst>
          </p:nvPr>
        </p:nvGraphicFramePr>
        <p:xfrm>
          <a:off x="1141413" y="645459"/>
          <a:ext cx="10947492" cy="6091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1161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534" y="631396"/>
            <a:ext cx="4023015" cy="6117134"/>
          </a:xfrm>
        </p:spPr>
        <p:txBody>
          <a:bodyPr>
            <a:normAutofit/>
          </a:bodyPr>
          <a:lstStyle/>
          <a:p>
            <a:r>
              <a:rPr lang="en-US" sz="7200" dirty="0" smtClean="0">
                <a:solidFill>
                  <a:srgbClr val="002060"/>
                </a:solidFill>
                <a:latin typeface="Agency FB" panose="020B0503020202020204" pitchFamily="34" charset="0"/>
              </a:rPr>
              <a:t>ETHICAL HACKERS ARE NOT CRIMINAL HACKERS </a:t>
            </a:r>
            <a:endParaRPr lang="en-US" sz="7200" dirty="0">
              <a:solidFill>
                <a:srgbClr val="002060"/>
              </a:solidFill>
              <a:latin typeface="Agency FB" panose="020B05030202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1610" y="0"/>
            <a:ext cx="6860389" cy="6858000"/>
          </a:xfrm>
        </p:spPr>
      </p:pic>
    </p:spTree>
    <p:extLst>
      <p:ext uri="{BB962C8B-B14F-4D97-AF65-F5344CB8AC3E}">
        <p14:creationId xmlns:p14="http://schemas.microsoft.com/office/powerpoint/2010/main" val="1412695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060" y="578177"/>
            <a:ext cx="4304646" cy="5607470"/>
          </a:xfrm>
        </p:spPr>
        <p:txBody>
          <a:bodyPr>
            <a:normAutofit/>
          </a:bodyPr>
          <a:lstStyle/>
          <a:p>
            <a:r>
              <a:rPr lang="en-US" sz="9600" dirty="0" smtClean="0">
                <a:solidFill>
                  <a:srgbClr val="C00000"/>
                </a:solidFill>
                <a:latin typeface="Aharoni" panose="02010803020104030203" pitchFamily="2" charset="-79"/>
                <a:cs typeface="Aharoni" panose="02010803020104030203" pitchFamily="2" charset="-79"/>
              </a:rPr>
              <a:t>BUT HOW ????</a:t>
            </a:r>
            <a:endParaRPr lang="en-US" sz="9600" dirty="0">
              <a:solidFill>
                <a:srgbClr val="C00000"/>
              </a:solidFill>
              <a:latin typeface="Aharoni" panose="02010803020104030203" pitchFamily="2" charset="-79"/>
              <a:cs typeface="Aharoni" panose="02010803020104030203" pitchFamily="2" charset="-79"/>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2134" y="376518"/>
            <a:ext cx="6517492" cy="615969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9383532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068" y="632012"/>
            <a:ext cx="5786594" cy="793376"/>
          </a:xfrm>
        </p:spPr>
        <p:txBody>
          <a:bodyPr>
            <a:normAutofit/>
          </a:bodyPr>
          <a:lstStyle/>
          <a:p>
            <a:pPr marL="457200" indent="-457200">
              <a:buFont typeface="Wingdings" panose="05000000000000000000" pitchFamily="2" charset="2"/>
              <a:buChar char="Ø"/>
            </a:pPr>
            <a:r>
              <a:rPr lang="en-US" sz="2000" smtClean="0">
                <a:solidFill>
                  <a:srgbClr val="002060"/>
                </a:solidFill>
              </a:rPr>
              <a:t>COMPLETELY TRUSTWORTHY </a:t>
            </a:r>
            <a:endParaRPr lang="en-US" sz="2000" dirty="0">
              <a:solidFill>
                <a:srgbClr val="002060"/>
              </a:solidFill>
            </a:endParaRPr>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25492" r="25492"/>
          <a:stretch>
            <a:fillRect/>
          </a:stretch>
        </p:blipFill>
        <p:spPr>
          <a:xfrm>
            <a:off x="6981791" y="0"/>
            <a:ext cx="5210209" cy="676387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1101068" y="927847"/>
            <a:ext cx="5786594" cy="5069541"/>
          </a:xfrm>
        </p:spPr>
        <p:txBody>
          <a:bodyPr>
            <a:normAutofit/>
          </a:bodyPr>
          <a:lstStyle/>
          <a:p>
            <a:endParaRPr lang="en-US" sz="2000" dirty="0" smtClean="0">
              <a:solidFill>
                <a:srgbClr val="002060"/>
              </a:solidFill>
            </a:endParaRPr>
          </a:p>
          <a:p>
            <a:pPr marL="285750" indent="-285750">
              <a:buFont typeface="Wingdings" panose="05000000000000000000" pitchFamily="2" charset="2"/>
              <a:buChar char="Ø"/>
            </a:pPr>
            <a:r>
              <a:rPr lang="en-US" sz="2000" dirty="0" smtClean="0">
                <a:solidFill>
                  <a:srgbClr val="002060"/>
                </a:solidFill>
              </a:rPr>
              <a:t> STRONG PROGRAMMING AND COMPUTER NETWORKING SKILLS </a:t>
            </a:r>
          </a:p>
          <a:p>
            <a:pPr marL="285750" indent="-285750">
              <a:buFont typeface="Wingdings" panose="05000000000000000000" pitchFamily="2" charset="2"/>
              <a:buChar char="Ø"/>
            </a:pPr>
            <a:r>
              <a:rPr lang="en-US" sz="2000" dirty="0" smtClean="0">
                <a:solidFill>
                  <a:srgbClr val="002060"/>
                </a:solidFill>
              </a:rPr>
              <a:t> LEARN ABOUT THE SYSTEM AND TRYING TO FIND ITS WEEKNESSES </a:t>
            </a:r>
          </a:p>
          <a:p>
            <a:pPr marL="285750" indent="-285750">
              <a:buFont typeface="Wingdings" panose="05000000000000000000" pitchFamily="2" charset="2"/>
              <a:buChar char="Ø"/>
            </a:pPr>
            <a:r>
              <a:rPr lang="en-US" sz="2000" dirty="0" smtClean="0">
                <a:solidFill>
                  <a:srgbClr val="002060"/>
                </a:solidFill>
              </a:rPr>
              <a:t> TECHNIQUES OF CRIMINAL- HACKERS – DETECTION – PREVENTION </a:t>
            </a:r>
          </a:p>
          <a:p>
            <a:pPr marL="285750" indent="-285750">
              <a:buFont typeface="Wingdings" panose="05000000000000000000" pitchFamily="2" charset="2"/>
              <a:buChar char="Ø"/>
            </a:pPr>
            <a:r>
              <a:rPr lang="en-US" sz="2000" dirty="0" smtClean="0">
                <a:solidFill>
                  <a:srgbClr val="002060"/>
                </a:solidFill>
              </a:rPr>
              <a:t> NO EX- HACKERS </a:t>
            </a:r>
          </a:p>
          <a:p>
            <a:pPr marL="285750" indent="-285750">
              <a:buFont typeface="Wingdings" panose="05000000000000000000" pitchFamily="2" charset="2"/>
              <a:buChar char="Ø"/>
            </a:pPr>
            <a:r>
              <a:rPr lang="en-US" sz="2000" dirty="0" smtClean="0">
                <a:solidFill>
                  <a:srgbClr val="002060"/>
                </a:solidFill>
              </a:rPr>
              <a:t>PUBLISH  RESEARCH PAPERS AND RELEASED SECURITY</a:t>
            </a:r>
          </a:p>
        </p:txBody>
      </p:sp>
    </p:spTree>
    <p:extLst>
      <p:ext uri="{BB962C8B-B14F-4D97-AF65-F5344CB8AC3E}">
        <p14:creationId xmlns:p14="http://schemas.microsoft.com/office/powerpoint/2010/main" val="40398349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042249"/>
          </a:xfrm>
        </p:spPr>
        <p:txBody>
          <a:bodyPr>
            <a:noAutofit/>
          </a:bodyPr>
          <a:lstStyle/>
          <a:p>
            <a:r>
              <a:rPr lang="en-US" sz="7200" dirty="0" smtClean="0">
                <a:solidFill>
                  <a:srgbClr val="002060"/>
                </a:solidFill>
                <a:latin typeface="Algerian" panose="04020705040A02060702" pitchFamily="82" charset="0"/>
                <a:cs typeface="Aharoni" panose="02010803020104030203" pitchFamily="2" charset="-79"/>
              </a:rPr>
              <a:t>DIFFERENCE B/W </a:t>
            </a:r>
            <a:endParaRPr lang="en-US" sz="7200" dirty="0">
              <a:solidFill>
                <a:srgbClr val="002060"/>
              </a:solidFill>
              <a:latin typeface="Algerian" panose="04020705040A02060702" pitchFamily="82" charset="0"/>
              <a:cs typeface="Aharoni" panose="02010803020104030203" pitchFamily="2" charset="-79"/>
            </a:endParaRPr>
          </a:p>
        </p:txBody>
      </p:sp>
      <p:sp>
        <p:nvSpPr>
          <p:cNvPr id="3" name="Text Placeholder 2"/>
          <p:cNvSpPr>
            <a:spLocks noGrp="1"/>
          </p:cNvSpPr>
          <p:nvPr>
            <p:ph type="body" idx="1"/>
          </p:nvPr>
        </p:nvSpPr>
        <p:spPr>
          <a:xfrm>
            <a:off x="1370019" y="1661375"/>
            <a:ext cx="4649783" cy="1107583"/>
          </a:xfrm>
        </p:spPr>
        <p:txBody>
          <a:bodyPr>
            <a:noAutofit/>
          </a:bodyPr>
          <a:lstStyle/>
          <a:p>
            <a:r>
              <a:rPr lang="en-US" sz="5400" dirty="0" smtClean="0">
                <a:solidFill>
                  <a:srgbClr val="C00000"/>
                </a:solidFill>
                <a:latin typeface="Algerian" panose="04020705040A02060702" pitchFamily="82" charset="0"/>
              </a:rPr>
              <a:t>HACKER</a:t>
            </a:r>
            <a:r>
              <a:rPr lang="en-US" sz="5400" dirty="0" smtClean="0">
                <a:latin typeface="Algerian" panose="04020705040A02060702" pitchFamily="82" charset="0"/>
              </a:rPr>
              <a:t> </a:t>
            </a:r>
            <a:endParaRPr lang="en-US" sz="5400" dirty="0">
              <a:latin typeface="Algerian" panose="04020705040A02060702" pitchFamily="82" charset="0"/>
            </a:endParaRPr>
          </a:p>
        </p:txBody>
      </p:sp>
      <p:sp>
        <p:nvSpPr>
          <p:cNvPr id="4" name="Content Placeholder 3"/>
          <p:cNvSpPr>
            <a:spLocks noGrp="1"/>
          </p:cNvSpPr>
          <p:nvPr>
            <p:ph sz="half" idx="2"/>
          </p:nvPr>
        </p:nvSpPr>
        <p:spPr>
          <a:xfrm>
            <a:off x="1141410" y="3464417"/>
            <a:ext cx="4878391" cy="3296991"/>
          </a:xfrm>
        </p:spPr>
        <p:txBody>
          <a:bodyPr>
            <a:normAutofit/>
          </a:bodyPr>
          <a:lstStyle/>
          <a:p>
            <a:r>
              <a:rPr lang="en-US" sz="2800" dirty="0" smtClean="0">
                <a:solidFill>
                  <a:srgbClr val="002060"/>
                </a:solidFill>
              </a:rPr>
              <a:t>ACCESS COMPUTER SYSTEM OR NETWORK WITHOUT AUTHORIZATION AND BREAKS THE LAW </a:t>
            </a:r>
            <a:endParaRPr lang="en-US" sz="2800" dirty="0">
              <a:solidFill>
                <a:srgbClr val="002060"/>
              </a:solidFill>
            </a:endParaRPr>
          </a:p>
        </p:txBody>
      </p:sp>
      <p:sp>
        <p:nvSpPr>
          <p:cNvPr id="5" name="Text Placeholder 4"/>
          <p:cNvSpPr>
            <a:spLocks noGrp="1"/>
          </p:cNvSpPr>
          <p:nvPr>
            <p:ph type="body" sz="quarter" idx="3"/>
          </p:nvPr>
        </p:nvSpPr>
        <p:spPr>
          <a:xfrm>
            <a:off x="6400808" y="2221559"/>
            <a:ext cx="4646602" cy="976310"/>
          </a:xfrm>
        </p:spPr>
        <p:txBody>
          <a:bodyPr>
            <a:noAutofit/>
          </a:bodyPr>
          <a:lstStyle/>
          <a:p>
            <a:r>
              <a:rPr lang="en-US" sz="5400" dirty="0" smtClean="0">
                <a:solidFill>
                  <a:srgbClr val="C00000"/>
                </a:solidFill>
                <a:latin typeface="Algerian" panose="04020705040A02060702" pitchFamily="82" charset="0"/>
              </a:rPr>
              <a:t>ETHICAL</a:t>
            </a:r>
            <a:r>
              <a:rPr lang="en-US" sz="5400" dirty="0" smtClean="0">
                <a:solidFill>
                  <a:srgbClr val="FF0000"/>
                </a:solidFill>
                <a:latin typeface="Algerian" panose="04020705040A02060702" pitchFamily="82" charset="0"/>
              </a:rPr>
              <a:t> </a:t>
            </a:r>
            <a:r>
              <a:rPr lang="en-US" sz="5400" dirty="0" smtClean="0">
                <a:solidFill>
                  <a:srgbClr val="C00000"/>
                </a:solidFill>
                <a:latin typeface="Algerian" panose="04020705040A02060702" pitchFamily="82" charset="0"/>
              </a:rPr>
              <a:t>HACKER </a:t>
            </a:r>
            <a:endParaRPr lang="en-US" sz="5400" dirty="0">
              <a:solidFill>
                <a:srgbClr val="C00000"/>
              </a:solidFill>
              <a:latin typeface="Algerian" panose="04020705040A02060702" pitchFamily="82" charset="0"/>
            </a:endParaRPr>
          </a:p>
        </p:txBody>
      </p:sp>
      <p:sp>
        <p:nvSpPr>
          <p:cNvPr id="6" name="Content Placeholder 5"/>
          <p:cNvSpPr>
            <a:spLocks noGrp="1"/>
          </p:cNvSpPr>
          <p:nvPr>
            <p:ph sz="quarter" idx="4"/>
          </p:nvPr>
        </p:nvSpPr>
        <p:spPr>
          <a:xfrm>
            <a:off x="6172200" y="3464417"/>
            <a:ext cx="4875210" cy="3296991"/>
          </a:xfrm>
        </p:spPr>
        <p:txBody>
          <a:bodyPr/>
          <a:lstStyle/>
          <a:p>
            <a:r>
              <a:rPr lang="en-US" sz="2800" dirty="0" smtClean="0">
                <a:solidFill>
                  <a:srgbClr val="002060"/>
                </a:solidFill>
              </a:rPr>
              <a:t>PERFORM MOST OF THE SAME ACTIVITIES BUT WITH THE OWNER’S PERMISSION AND EMPLOYED BY COMPANIES TO PERFORM PENETRATION TESTS </a:t>
            </a:r>
            <a:r>
              <a:rPr lang="en-US" dirty="0" smtClean="0"/>
              <a:t>.</a:t>
            </a:r>
            <a:endParaRPr lang="en-US" dirty="0"/>
          </a:p>
        </p:txBody>
      </p:sp>
    </p:spTree>
    <p:extLst>
      <p:ext uri="{BB962C8B-B14F-4D97-AF65-F5344CB8AC3E}">
        <p14:creationId xmlns:p14="http://schemas.microsoft.com/office/powerpoint/2010/main" val="5212283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704" y="592666"/>
            <a:ext cx="3856037" cy="1738410"/>
          </a:xfrm>
        </p:spPr>
        <p:txBody>
          <a:bodyPr>
            <a:noAutofit/>
          </a:bodyPr>
          <a:lstStyle/>
          <a:p>
            <a:r>
              <a:rPr lang="en-US" sz="4800" dirty="0" smtClean="0">
                <a:solidFill>
                  <a:srgbClr val="C00000"/>
                </a:solidFill>
              </a:rPr>
              <a:t>MODES OF ETHICAL HACKING </a:t>
            </a:r>
            <a:endParaRPr lang="en-US" sz="4800" dirty="0">
              <a:solidFill>
                <a:srgbClr val="C00000"/>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5037" y="0"/>
            <a:ext cx="6666963" cy="6857999"/>
          </a:xfrm>
        </p:spPr>
      </p:pic>
      <p:sp>
        <p:nvSpPr>
          <p:cNvPr id="4" name="Text Placeholder 3"/>
          <p:cNvSpPr>
            <a:spLocks noGrp="1"/>
          </p:cNvSpPr>
          <p:nvPr>
            <p:ph type="body" sz="half" idx="2"/>
          </p:nvPr>
        </p:nvSpPr>
        <p:spPr>
          <a:xfrm>
            <a:off x="1146705" y="2524258"/>
            <a:ext cx="3856037" cy="4333741"/>
          </a:xfrm>
        </p:spPr>
        <p:txBody>
          <a:bodyPr/>
          <a:lstStyle/>
          <a:p>
            <a:pPr marL="285750" indent="-285750">
              <a:buFont typeface="Wingdings" panose="05000000000000000000" pitchFamily="2" charset="2"/>
              <a:buChar char="v"/>
            </a:pPr>
            <a:r>
              <a:rPr lang="en-US" sz="2800" dirty="0" smtClean="0">
                <a:solidFill>
                  <a:srgbClr val="002060"/>
                </a:solidFill>
              </a:rPr>
              <a:t> INSIDER ATTACK </a:t>
            </a:r>
          </a:p>
          <a:p>
            <a:pPr marL="285750" indent="-285750">
              <a:buFont typeface="Wingdings" panose="05000000000000000000" pitchFamily="2" charset="2"/>
              <a:buChar char="v"/>
            </a:pPr>
            <a:r>
              <a:rPr lang="en-US" sz="2800" dirty="0">
                <a:solidFill>
                  <a:srgbClr val="002060"/>
                </a:solidFill>
              </a:rPr>
              <a:t> </a:t>
            </a:r>
            <a:r>
              <a:rPr lang="en-US" sz="2800" dirty="0" smtClean="0">
                <a:solidFill>
                  <a:srgbClr val="002060"/>
                </a:solidFill>
              </a:rPr>
              <a:t>OUTSIDER  ATTACK</a:t>
            </a:r>
          </a:p>
          <a:p>
            <a:pPr marL="285750" indent="-285750">
              <a:buFont typeface="Wingdings" panose="05000000000000000000" pitchFamily="2" charset="2"/>
              <a:buChar char="v"/>
            </a:pPr>
            <a:r>
              <a:rPr lang="en-US" sz="2800" dirty="0">
                <a:solidFill>
                  <a:srgbClr val="002060"/>
                </a:solidFill>
              </a:rPr>
              <a:t> </a:t>
            </a:r>
            <a:r>
              <a:rPr lang="en-US" sz="2800" dirty="0" smtClean="0">
                <a:solidFill>
                  <a:srgbClr val="002060"/>
                </a:solidFill>
              </a:rPr>
              <a:t>STOLEN EQUIPMENT ATTACK </a:t>
            </a:r>
          </a:p>
          <a:p>
            <a:pPr marL="285750" indent="-285750">
              <a:buFont typeface="Wingdings" panose="05000000000000000000" pitchFamily="2" charset="2"/>
              <a:buChar char="v"/>
            </a:pPr>
            <a:r>
              <a:rPr lang="en-US" sz="2800" dirty="0">
                <a:solidFill>
                  <a:srgbClr val="002060"/>
                </a:solidFill>
              </a:rPr>
              <a:t> </a:t>
            </a:r>
            <a:r>
              <a:rPr lang="en-US" sz="2800" dirty="0" smtClean="0">
                <a:solidFill>
                  <a:srgbClr val="002060"/>
                </a:solidFill>
              </a:rPr>
              <a:t>PHYSICAL ENTRY </a:t>
            </a:r>
          </a:p>
          <a:p>
            <a:pPr marL="285750" indent="-285750">
              <a:buFont typeface="Wingdings" panose="05000000000000000000" pitchFamily="2" charset="2"/>
              <a:buChar char="v"/>
            </a:pPr>
            <a:r>
              <a:rPr lang="en-US" sz="2800" dirty="0">
                <a:solidFill>
                  <a:srgbClr val="002060"/>
                </a:solidFill>
              </a:rPr>
              <a:t> </a:t>
            </a:r>
            <a:r>
              <a:rPr lang="en-US" sz="2800" dirty="0" smtClean="0">
                <a:solidFill>
                  <a:srgbClr val="002060"/>
                </a:solidFill>
              </a:rPr>
              <a:t>SOCIAL ENGINEERING ATTACK</a:t>
            </a:r>
            <a:r>
              <a:rPr lang="en-US" dirty="0" smtClean="0">
                <a:solidFill>
                  <a:srgbClr val="002060"/>
                </a:solidFill>
              </a:rPr>
              <a:t>  </a:t>
            </a:r>
            <a:endParaRPr lang="en-US" dirty="0">
              <a:solidFill>
                <a:srgbClr val="002060"/>
              </a:solidFill>
            </a:endParaRPr>
          </a:p>
        </p:txBody>
      </p:sp>
    </p:spTree>
    <p:extLst>
      <p:ext uri="{BB962C8B-B14F-4D97-AF65-F5344CB8AC3E}">
        <p14:creationId xmlns:p14="http://schemas.microsoft.com/office/powerpoint/2010/main" val="1305962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6350" ty="0" sx="100000" sy="100000" flip="none" algn="tl"/>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grayscl/>
            <a:extLst>
              <a:ext uri="{28A0092B-C50C-407E-A947-70E740481C1C}">
                <a14:useLocalDpi xmlns:a14="http://schemas.microsoft.com/office/drawing/2010/main" val="0"/>
              </a:ext>
            </a:extLst>
          </a:blip>
          <a:srcRect l="-212" r="176"/>
          <a:stretch/>
        </p:blipFill>
        <p:spPr>
          <a:xfrm>
            <a:off x="0" y="0"/>
            <a:ext cx="12170535" cy="6858000"/>
          </a:xfrm>
          <a:prstGeom prst="rect">
            <a:avLst/>
          </a:prstGeom>
          <a:effectLst>
            <a:softEdge rad="38100"/>
          </a:effectLst>
        </p:spPr>
      </p:pic>
    </p:spTree>
    <p:extLst>
      <p:ext uri="{BB962C8B-B14F-4D97-AF65-F5344CB8AC3E}">
        <p14:creationId xmlns:p14="http://schemas.microsoft.com/office/powerpoint/2010/main" val="31835391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4557" y="618517"/>
            <a:ext cx="7778839" cy="5859555"/>
          </a:xfrm>
        </p:spPr>
        <p:txBody>
          <a:bodyPr>
            <a:noAutofit/>
          </a:bodyPr>
          <a:lstStyle/>
          <a:p>
            <a:r>
              <a:rPr lang="en-US" sz="12000" dirty="0" smtClean="0">
                <a:solidFill>
                  <a:srgbClr val="002060"/>
                </a:solidFill>
              </a:rPr>
              <a:t>THE ETHICAL HACKING PROCESS </a:t>
            </a:r>
            <a:endParaRPr lang="en-US" sz="12000" dirty="0">
              <a:solidFill>
                <a:srgbClr val="002060"/>
              </a:solidFill>
            </a:endParaRPr>
          </a:p>
        </p:txBody>
      </p:sp>
    </p:spTree>
    <p:extLst>
      <p:ext uri="{BB962C8B-B14F-4D97-AF65-F5344CB8AC3E}">
        <p14:creationId xmlns:p14="http://schemas.microsoft.com/office/powerpoint/2010/main" val="17909746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867437"/>
          </a:xfrm>
        </p:spPr>
        <p:txBody>
          <a:bodyPr>
            <a:normAutofit/>
          </a:bodyPr>
          <a:lstStyle/>
          <a:p>
            <a:r>
              <a:rPr lang="en-US" b="1" dirty="0">
                <a:solidFill>
                  <a:srgbClr val="C00000"/>
                </a:solidFill>
              </a:rPr>
              <a:t>Ethical hackers must follow a strict scientific process in order to obtain useable and legal results</a:t>
            </a:r>
          </a:p>
        </p:txBody>
      </p:sp>
      <p:sp>
        <p:nvSpPr>
          <p:cNvPr id="3" name="Content Placeholder 2"/>
          <p:cNvSpPr>
            <a:spLocks noGrp="1"/>
          </p:cNvSpPr>
          <p:nvPr>
            <p:ph idx="1"/>
          </p:nvPr>
        </p:nvSpPr>
        <p:spPr>
          <a:xfrm>
            <a:off x="471711" y="1749359"/>
            <a:ext cx="9905999" cy="4760911"/>
          </a:xfrm>
        </p:spPr>
        <p:txBody>
          <a:bodyPr/>
          <a:lstStyle/>
          <a:p>
            <a:pPr marL="457200" indent="-457200">
              <a:buFont typeface="+mj-lt"/>
              <a:buAutoNum type="arabicPeriod"/>
            </a:pPr>
            <a:r>
              <a:rPr lang="en-US" sz="3600" b="1" dirty="0" smtClean="0">
                <a:solidFill>
                  <a:srgbClr val="002060"/>
                </a:solidFill>
              </a:rPr>
              <a:t> Planning </a:t>
            </a:r>
          </a:p>
          <a:p>
            <a:pPr marL="457200" indent="-457200">
              <a:buFont typeface="+mj-lt"/>
              <a:buAutoNum type="arabicPeriod"/>
            </a:pPr>
            <a:r>
              <a:rPr lang="en-US" sz="3600" b="1" dirty="0" smtClean="0">
                <a:solidFill>
                  <a:srgbClr val="002060"/>
                </a:solidFill>
              </a:rPr>
              <a:t> Reconnaissance</a:t>
            </a:r>
          </a:p>
          <a:p>
            <a:pPr marL="457200" indent="-457200">
              <a:buFont typeface="+mj-lt"/>
              <a:buAutoNum type="arabicPeriod"/>
            </a:pPr>
            <a:r>
              <a:rPr lang="en-US" sz="3600" b="1" dirty="0" smtClean="0">
                <a:solidFill>
                  <a:srgbClr val="002060"/>
                </a:solidFill>
              </a:rPr>
              <a:t> </a:t>
            </a:r>
            <a:r>
              <a:rPr lang="en-US" sz="3600" b="1" dirty="0">
                <a:solidFill>
                  <a:srgbClr val="002060"/>
                </a:solidFill>
              </a:rPr>
              <a:t>Enumeration</a:t>
            </a:r>
          </a:p>
          <a:p>
            <a:pPr marL="457200" indent="-457200">
              <a:buFont typeface="+mj-lt"/>
              <a:buAutoNum type="arabicPeriod"/>
            </a:pPr>
            <a:r>
              <a:rPr lang="en-US" sz="3600" b="1" dirty="0" smtClean="0">
                <a:solidFill>
                  <a:srgbClr val="002060"/>
                </a:solidFill>
              </a:rPr>
              <a:t> </a:t>
            </a:r>
            <a:r>
              <a:rPr lang="en-US" sz="3600" b="1" dirty="0">
                <a:solidFill>
                  <a:srgbClr val="002060"/>
                </a:solidFill>
              </a:rPr>
              <a:t>Vulnerability Analysis</a:t>
            </a:r>
          </a:p>
          <a:p>
            <a:pPr marL="457200" indent="-457200">
              <a:buFont typeface="+mj-lt"/>
              <a:buAutoNum type="arabicPeriod"/>
            </a:pPr>
            <a:r>
              <a:rPr lang="en-US" sz="3600" b="1" dirty="0" smtClean="0">
                <a:solidFill>
                  <a:srgbClr val="002060"/>
                </a:solidFill>
              </a:rPr>
              <a:t> </a:t>
            </a:r>
            <a:r>
              <a:rPr lang="en-US" sz="3600" b="1" dirty="0">
                <a:solidFill>
                  <a:srgbClr val="002060"/>
                </a:solidFill>
              </a:rPr>
              <a:t>Exploitation</a:t>
            </a:r>
          </a:p>
          <a:p>
            <a:pPr marL="457200" indent="-457200">
              <a:buFont typeface="+mj-lt"/>
              <a:buAutoNum type="arabicPeriod"/>
            </a:pPr>
            <a:r>
              <a:rPr lang="en-US" sz="3600" b="1" dirty="0" smtClean="0">
                <a:solidFill>
                  <a:srgbClr val="002060"/>
                </a:solidFill>
              </a:rPr>
              <a:t>Deliverables</a:t>
            </a:r>
            <a:endParaRPr lang="en-US" sz="3600" b="1" dirty="0">
              <a:solidFill>
                <a:srgbClr val="002060"/>
              </a:solidFill>
            </a:endParaRPr>
          </a:p>
          <a:p>
            <a:pPr marL="457200" indent="-457200">
              <a:buFont typeface="+mj-lt"/>
              <a:buAutoNum type="arabicPeriod"/>
            </a:pPr>
            <a:endParaRPr lang="en-US" dirty="0"/>
          </a:p>
        </p:txBody>
      </p:sp>
    </p:spTree>
    <p:extLst>
      <p:ext uri="{BB962C8B-B14F-4D97-AF65-F5344CB8AC3E}">
        <p14:creationId xmlns:p14="http://schemas.microsoft.com/office/powerpoint/2010/main" val="38313291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365161"/>
          </a:xfrm>
        </p:spPr>
        <p:txBody>
          <a:bodyPr>
            <a:normAutofit/>
          </a:bodyPr>
          <a:lstStyle/>
          <a:p>
            <a:r>
              <a:rPr lang="en-US" sz="8800" dirty="0" smtClean="0">
                <a:solidFill>
                  <a:srgbClr val="C00000"/>
                </a:solidFill>
              </a:rPr>
              <a:t>1- PLANNING : </a:t>
            </a:r>
            <a:endParaRPr lang="en-US" sz="8800" dirty="0">
              <a:solidFill>
                <a:srgbClr val="C00000"/>
              </a:solidFill>
            </a:endParaRPr>
          </a:p>
        </p:txBody>
      </p:sp>
      <p:sp>
        <p:nvSpPr>
          <p:cNvPr id="3" name="Content Placeholder 2"/>
          <p:cNvSpPr>
            <a:spLocks noGrp="1"/>
          </p:cNvSpPr>
          <p:nvPr>
            <p:ph idx="1"/>
          </p:nvPr>
        </p:nvSpPr>
        <p:spPr>
          <a:xfrm>
            <a:off x="613378" y="1197735"/>
            <a:ext cx="9905999" cy="5061397"/>
          </a:xfrm>
        </p:spPr>
        <p:txBody>
          <a:bodyPr>
            <a:normAutofit fontScale="85000" lnSpcReduction="10000"/>
          </a:bodyPr>
          <a:lstStyle/>
          <a:p>
            <a:pPr algn="just"/>
            <a:r>
              <a:rPr lang="en-US" dirty="0">
                <a:solidFill>
                  <a:srgbClr val="002060"/>
                </a:solidFill>
              </a:rPr>
              <a:t>Planning is essential for </a:t>
            </a:r>
            <a:r>
              <a:rPr lang="en-US" b="1" dirty="0">
                <a:solidFill>
                  <a:srgbClr val="002060"/>
                </a:solidFill>
              </a:rPr>
              <a:t>having a successful project</a:t>
            </a:r>
            <a:r>
              <a:rPr lang="en-US" dirty="0">
                <a:solidFill>
                  <a:srgbClr val="002060"/>
                </a:solidFill>
              </a:rPr>
              <a:t>. It provides an opportunity to give </a:t>
            </a:r>
            <a:r>
              <a:rPr lang="en-US" b="1" dirty="0">
                <a:solidFill>
                  <a:srgbClr val="002060"/>
                </a:solidFill>
              </a:rPr>
              <a:t>critical thought to what needs to be d</a:t>
            </a:r>
            <a:r>
              <a:rPr lang="en-US" dirty="0">
                <a:solidFill>
                  <a:srgbClr val="002060"/>
                </a:solidFill>
              </a:rPr>
              <a:t>one, </a:t>
            </a:r>
            <a:r>
              <a:rPr lang="en-US" b="1" dirty="0">
                <a:solidFill>
                  <a:srgbClr val="002060"/>
                </a:solidFill>
              </a:rPr>
              <a:t>allows for goals to be set</a:t>
            </a:r>
            <a:r>
              <a:rPr lang="en-US" dirty="0">
                <a:solidFill>
                  <a:srgbClr val="002060"/>
                </a:solidFill>
              </a:rPr>
              <a:t>, and allows for a </a:t>
            </a:r>
            <a:r>
              <a:rPr lang="en-US" b="1" dirty="0">
                <a:solidFill>
                  <a:srgbClr val="002060"/>
                </a:solidFill>
              </a:rPr>
              <a:t>risk assessment</a:t>
            </a:r>
            <a:r>
              <a:rPr lang="en-US" dirty="0">
                <a:solidFill>
                  <a:srgbClr val="002060"/>
                </a:solidFill>
              </a:rPr>
              <a:t> to evaluate </a:t>
            </a:r>
            <a:r>
              <a:rPr lang="en-US" b="1" dirty="0">
                <a:solidFill>
                  <a:srgbClr val="002060"/>
                </a:solidFill>
              </a:rPr>
              <a:t>how a project should be carried out</a:t>
            </a:r>
            <a:r>
              <a:rPr lang="en-US" dirty="0">
                <a:solidFill>
                  <a:srgbClr val="002060"/>
                </a:solidFill>
              </a:rPr>
              <a:t>.</a:t>
            </a:r>
          </a:p>
          <a:p>
            <a:pPr algn="just"/>
            <a:r>
              <a:rPr lang="en-US" dirty="0">
                <a:solidFill>
                  <a:srgbClr val="002060"/>
                </a:solidFill>
              </a:rPr>
              <a:t>There are a large number of external factors that need to be considered when planning to carry out an ethical hack. These factors include </a:t>
            </a:r>
            <a:r>
              <a:rPr lang="en-US" b="1" dirty="0" smtClean="0">
                <a:solidFill>
                  <a:srgbClr val="002060"/>
                </a:solidFill>
              </a:rPr>
              <a:t>existing security policies , culture</a:t>
            </a:r>
            <a:r>
              <a:rPr lang="en-US" b="1" dirty="0">
                <a:solidFill>
                  <a:srgbClr val="002060"/>
                </a:solidFill>
              </a:rPr>
              <a:t>, laws and regulations, best practices, and industry requirements.</a:t>
            </a:r>
            <a:r>
              <a:rPr lang="en-US" dirty="0">
                <a:solidFill>
                  <a:srgbClr val="002060"/>
                </a:solidFill>
              </a:rPr>
              <a:t> Each of these factors play an integral role in the decision making process </a:t>
            </a:r>
            <a:r>
              <a:rPr lang="en-US" b="1" dirty="0">
                <a:solidFill>
                  <a:srgbClr val="002060"/>
                </a:solidFill>
              </a:rPr>
              <a:t>when it comes to ethical hacking</a:t>
            </a:r>
            <a:r>
              <a:rPr lang="en-US" dirty="0">
                <a:solidFill>
                  <a:srgbClr val="002060"/>
                </a:solidFill>
              </a:rPr>
              <a:t>. The planning phase of an ethical hack will have a profound influence </a:t>
            </a:r>
            <a:r>
              <a:rPr lang="en-US" b="1" dirty="0">
                <a:solidFill>
                  <a:srgbClr val="002060"/>
                </a:solidFill>
              </a:rPr>
              <a:t>on how the hack is performed and the information shared and collected</a:t>
            </a:r>
            <a:r>
              <a:rPr lang="en-US" dirty="0">
                <a:solidFill>
                  <a:srgbClr val="002060"/>
                </a:solidFill>
              </a:rPr>
              <a:t>, and will directly influence the deliverable and integration of the results into the security program.</a:t>
            </a:r>
          </a:p>
          <a:p>
            <a:pPr algn="just"/>
            <a:r>
              <a:rPr lang="en-US" dirty="0">
                <a:solidFill>
                  <a:srgbClr val="002060"/>
                </a:solidFill>
              </a:rPr>
              <a:t>The planning phase will describe many of the details of a controlled attack. It will attempt to answer questions regarding how the attack is going to be supported and controlled, what the underlying actions that must be performed and who does what, when, where, and for how </a:t>
            </a:r>
            <a:r>
              <a:rPr lang="en-US" dirty="0" smtClean="0">
                <a:solidFill>
                  <a:srgbClr val="002060"/>
                </a:solidFill>
              </a:rPr>
              <a:t>long.</a:t>
            </a:r>
            <a:endParaRPr lang="en-US" dirty="0">
              <a:solidFill>
                <a:srgbClr val="002060"/>
              </a:solidFill>
            </a:endParaRPr>
          </a:p>
          <a:p>
            <a:endParaRPr lang="en-US" dirty="0"/>
          </a:p>
        </p:txBody>
      </p:sp>
    </p:spTree>
    <p:extLst>
      <p:ext uri="{BB962C8B-B14F-4D97-AF65-F5344CB8AC3E}">
        <p14:creationId xmlns:p14="http://schemas.microsoft.com/office/powerpoint/2010/main" val="27053638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80304"/>
            <a:ext cx="9905998" cy="991673"/>
          </a:xfrm>
        </p:spPr>
        <p:txBody>
          <a:bodyPr>
            <a:normAutofit fontScale="90000"/>
          </a:bodyPr>
          <a:lstStyle/>
          <a:p>
            <a:r>
              <a:rPr lang="en-US" sz="7300" dirty="0" smtClean="0">
                <a:solidFill>
                  <a:srgbClr val="C00000"/>
                </a:solidFill>
              </a:rPr>
              <a:t>2- </a:t>
            </a:r>
            <a:r>
              <a:rPr lang="en-US" sz="7200" b="1" dirty="0">
                <a:solidFill>
                  <a:srgbClr val="C00000"/>
                </a:solidFill>
              </a:rPr>
              <a:t>Reconnaissance</a:t>
            </a:r>
            <a:r>
              <a:rPr lang="en-US" b="1" dirty="0"/>
              <a:t/>
            </a:r>
            <a:br>
              <a:rPr lang="en-US" b="1" dirty="0"/>
            </a:br>
            <a:endParaRPr lang="en-US" dirty="0"/>
          </a:p>
        </p:txBody>
      </p:sp>
      <p:sp>
        <p:nvSpPr>
          <p:cNvPr id="3" name="Content Placeholder 2"/>
          <p:cNvSpPr>
            <a:spLocks noGrp="1"/>
          </p:cNvSpPr>
          <p:nvPr>
            <p:ph idx="1"/>
          </p:nvPr>
        </p:nvSpPr>
        <p:spPr>
          <a:xfrm>
            <a:off x="1141412" y="901520"/>
            <a:ext cx="9905999" cy="5956479"/>
          </a:xfrm>
        </p:spPr>
        <p:txBody>
          <a:bodyPr/>
          <a:lstStyle/>
          <a:p>
            <a:pPr algn="just"/>
            <a:r>
              <a:rPr lang="en-US" b="1" dirty="0" smtClean="0">
                <a:solidFill>
                  <a:srgbClr val="002060"/>
                </a:solidFill>
              </a:rPr>
              <a:t>Reconnaissance</a:t>
            </a:r>
            <a:r>
              <a:rPr lang="en-US" b="1" dirty="0">
                <a:solidFill>
                  <a:srgbClr val="002060"/>
                </a:solidFill>
              </a:rPr>
              <a:t>  is the search for </a:t>
            </a:r>
            <a:r>
              <a:rPr lang="en-US" b="1" dirty="0" smtClean="0">
                <a:solidFill>
                  <a:srgbClr val="002060"/>
                </a:solidFill>
              </a:rPr>
              <a:t>available information or resources </a:t>
            </a:r>
            <a:r>
              <a:rPr lang="en-US" dirty="0">
                <a:solidFill>
                  <a:srgbClr val="002060"/>
                </a:solidFill>
              </a:rPr>
              <a:t>to assist in an attack. This can be as simple as a ping or browsing newsgroups on the Internet in search of </a:t>
            </a:r>
            <a:r>
              <a:rPr lang="en-US" b="1" dirty="0">
                <a:solidFill>
                  <a:srgbClr val="002060"/>
                </a:solidFill>
              </a:rPr>
              <a:t>disgruntled employees </a:t>
            </a:r>
            <a:r>
              <a:rPr lang="en-US" dirty="0">
                <a:solidFill>
                  <a:srgbClr val="002060"/>
                </a:solidFill>
              </a:rPr>
              <a:t>divulging secret information or as messy as digging through the trash to find receipts or letters.</a:t>
            </a:r>
          </a:p>
          <a:p>
            <a:pPr algn="just"/>
            <a:r>
              <a:rPr lang="en-US" b="1" dirty="0">
                <a:solidFill>
                  <a:srgbClr val="002060"/>
                </a:solidFill>
              </a:rPr>
              <a:t>Reconnaissance can include social engineering, tapping phones and networks</a:t>
            </a:r>
            <a:r>
              <a:rPr lang="en-US" dirty="0">
                <a:solidFill>
                  <a:srgbClr val="002060"/>
                </a:solidFill>
              </a:rPr>
              <a:t>, or even theft. The search for information is limited only by the extremes at which the organization and ethical hacker are willing to go in order to recover the information they are searching for.</a:t>
            </a:r>
          </a:p>
          <a:p>
            <a:pPr algn="just"/>
            <a:r>
              <a:rPr lang="en-US" dirty="0">
                <a:solidFill>
                  <a:srgbClr val="002060"/>
                </a:solidFill>
              </a:rPr>
              <a:t>The reconnaissance phase introduces the relationship between the tasks that must be completed and the methods that will need to be used in order to protect the organization's assets and information.</a:t>
            </a:r>
          </a:p>
          <a:p>
            <a:endParaRPr lang="en-US" dirty="0"/>
          </a:p>
        </p:txBody>
      </p:sp>
    </p:spTree>
    <p:extLst>
      <p:ext uri="{BB962C8B-B14F-4D97-AF65-F5344CB8AC3E}">
        <p14:creationId xmlns:p14="http://schemas.microsoft.com/office/powerpoint/2010/main" val="30569561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416" y="206063"/>
            <a:ext cx="10202212" cy="824248"/>
          </a:xfrm>
        </p:spPr>
        <p:txBody>
          <a:bodyPr>
            <a:normAutofit fontScale="90000"/>
          </a:bodyPr>
          <a:lstStyle/>
          <a:p>
            <a:r>
              <a:rPr lang="en-US" sz="6700" dirty="0" smtClean="0">
                <a:solidFill>
                  <a:srgbClr val="C00000"/>
                </a:solidFill>
              </a:rPr>
              <a:t>3- </a:t>
            </a:r>
            <a:r>
              <a:rPr lang="en-US" sz="6700" b="1" dirty="0">
                <a:solidFill>
                  <a:srgbClr val="C00000"/>
                </a:solidFill>
              </a:rPr>
              <a:t>Enumeration</a:t>
            </a:r>
            <a:r>
              <a:rPr lang="en-US" b="1" dirty="0"/>
              <a:t/>
            </a:r>
            <a:br>
              <a:rPr lang="en-US" b="1" dirty="0"/>
            </a:br>
            <a:endParaRPr lang="en-US" dirty="0"/>
          </a:p>
        </p:txBody>
      </p:sp>
      <p:sp>
        <p:nvSpPr>
          <p:cNvPr id="3" name="Content Placeholder 2"/>
          <p:cNvSpPr>
            <a:spLocks noGrp="1"/>
          </p:cNvSpPr>
          <p:nvPr>
            <p:ph idx="1"/>
          </p:nvPr>
        </p:nvSpPr>
        <p:spPr>
          <a:xfrm>
            <a:off x="1141412" y="824248"/>
            <a:ext cx="9905999" cy="5872766"/>
          </a:xfrm>
        </p:spPr>
        <p:txBody>
          <a:bodyPr>
            <a:normAutofit fontScale="92500" lnSpcReduction="10000"/>
          </a:bodyPr>
          <a:lstStyle/>
          <a:p>
            <a:pPr algn="just"/>
            <a:r>
              <a:rPr lang="en-US" b="1" dirty="0">
                <a:solidFill>
                  <a:srgbClr val="002060"/>
                </a:solidFill>
              </a:rPr>
              <a:t>Enumeration is also known as network or vulnerability discovery. </a:t>
            </a:r>
            <a:r>
              <a:rPr lang="en-US" dirty="0">
                <a:solidFill>
                  <a:srgbClr val="002060"/>
                </a:solidFill>
              </a:rPr>
              <a:t>It is the act of obtaining information that is </a:t>
            </a:r>
            <a:r>
              <a:rPr lang="en-US" b="1" dirty="0">
                <a:solidFill>
                  <a:srgbClr val="002060"/>
                </a:solidFill>
              </a:rPr>
              <a:t>readily available from the target's system</a:t>
            </a:r>
            <a:r>
              <a:rPr lang="en-US" dirty="0">
                <a:solidFill>
                  <a:srgbClr val="002060"/>
                </a:solidFill>
              </a:rPr>
              <a:t>, applications and networks. It is important to note that the enumeration phase is often the point where the line between an ethical hack and a malicious attack can become blurred as it is often easy to go outside of the boundaries outlined in the original attack plan.</a:t>
            </a:r>
          </a:p>
          <a:p>
            <a:pPr algn="just"/>
            <a:r>
              <a:rPr lang="en-US" dirty="0">
                <a:solidFill>
                  <a:srgbClr val="002060"/>
                </a:solidFill>
              </a:rPr>
              <a:t>In order to construct a picture of an organization's environment, several tools and techniques are available. These tools and techniques include </a:t>
            </a:r>
            <a:r>
              <a:rPr lang="en-US" dirty="0" smtClean="0">
                <a:solidFill>
                  <a:srgbClr val="002060"/>
                </a:solidFill>
              </a:rPr>
              <a:t>port scanning and</a:t>
            </a:r>
            <a:r>
              <a:rPr lang="en-US" dirty="0">
                <a:solidFill>
                  <a:srgbClr val="002060"/>
                </a:solidFill>
              </a:rPr>
              <a:t> </a:t>
            </a:r>
            <a:r>
              <a:rPr lang="en-US" dirty="0" smtClean="0">
                <a:solidFill>
                  <a:srgbClr val="002060"/>
                </a:solidFill>
              </a:rPr>
              <a:t>NMap  . </a:t>
            </a:r>
            <a:r>
              <a:rPr lang="en-US" dirty="0">
                <a:solidFill>
                  <a:srgbClr val="002060"/>
                </a:solidFill>
              </a:rPr>
              <a:t>Although it is rather simple to collect information, it is rather difficult to determine the value of the information in the hands of a hacker.</a:t>
            </a:r>
          </a:p>
          <a:p>
            <a:pPr algn="just"/>
            <a:r>
              <a:rPr lang="en-US" dirty="0">
                <a:solidFill>
                  <a:srgbClr val="002060"/>
                </a:solidFill>
              </a:rPr>
              <a:t>At first glance, enumeration is simple: take the collected data and evaluate it collectively to establish a plan for more reconnaissance or building a matrix for the vulnerability analysis phase. However, the enumeration phase is where the ethical hacker's ability to make logical deductions plays an enormous </a:t>
            </a:r>
            <a:r>
              <a:rPr lang="en-US" dirty="0" smtClean="0">
                <a:solidFill>
                  <a:srgbClr val="002060"/>
                </a:solidFill>
              </a:rPr>
              <a:t>role.</a:t>
            </a:r>
            <a:endParaRPr lang="en-US" dirty="0">
              <a:solidFill>
                <a:srgbClr val="002060"/>
              </a:solidFill>
            </a:endParaRPr>
          </a:p>
          <a:p>
            <a:endParaRPr lang="en-US" dirty="0"/>
          </a:p>
        </p:txBody>
      </p:sp>
    </p:spTree>
    <p:extLst>
      <p:ext uri="{BB962C8B-B14F-4D97-AF65-F5344CB8AC3E}">
        <p14:creationId xmlns:p14="http://schemas.microsoft.com/office/powerpoint/2010/main" val="31632888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2179" y="399245"/>
            <a:ext cx="9905998" cy="631066"/>
          </a:xfrm>
        </p:spPr>
        <p:txBody>
          <a:bodyPr>
            <a:normAutofit fontScale="90000"/>
          </a:bodyPr>
          <a:lstStyle/>
          <a:p>
            <a:r>
              <a:rPr lang="en-US" sz="5300" dirty="0" smtClean="0">
                <a:solidFill>
                  <a:srgbClr val="C00000"/>
                </a:solidFill>
              </a:rPr>
              <a:t>4- </a:t>
            </a:r>
            <a:r>
              <a:rPr lang="en-US" sz="5300" b="1" dirty="0">
                <a:solidFill>
                  <a:srgbClr val="C00000"/>
                </a:solidFill>
              </a:rPr>
              <a:t>Vulnerability Analysis</a:t>
            </a:r>
            <a:r>
              <a:rPr lang="en-US" b="1" dirty="0"/>
              <a:t/>
            </a:r>
            <a:br>
              <a:rPr lang="en-US" b="1" dirty="0"/>
            </a:br>
            <a:endParaRPr lang="en-US" dirty="0"/>
          </a:p>
        </p:txBody>
      </p:sp>
      <p:sp>
        <p:nvSpPr>
          <p:cNvPr id="3" name="Content Placeholder 2"/>
          <p:cNvSpPr>
            <a:spLocks noGrp="1"/>
          </p:cNvSpPr>
          <p:nvPr>
            <p:ph idx="1"/>
          </p:nvPr>
        </p:nvSpPr>
        <p:spPr>
          <a:xfrm>
            <a:off x="1141412" y="1197735"/>
            <a:ext cx="9905999" cy="5537916"/>
          </a:xfrm>
        </p:spPr>
        <p:txBody>
          <a:bodyPr/>
          <a:lstStyle/>
          <a:p>
            <a:pPr algn="just"/>
            <a:r>
              <a:rPr lang="en-US" dirty="0">
                <a:solidFill>
                  <a:srgbClr val="002060"/>
                </a:solidFill>
              </a:rPr>
              <a:t>In order to effectively analyze data, an ethical hacker must employ a logical and pragmatic approach. In the vulnerability analysis phase, the collected information is compared with known vulnerabilities in a practical process.</a:t>
            </a:r>
          </a:p>
          <a:p>
            <a:pPr algn="just"/>
            <a:r>
              <a:rPr lang="en-US" dirty="0">
                <a:solidFill>
                  <a:srgbClr val="002060"/>
                </a:solidFill>
              </a:rPr>
              <a:t>Information is useful no matter what the source. Any little bit can help in discovering options for exploitation and may possibly lead to discoveries that may not have been found otherwise. Known vulnerabilities, incidents, service packs, updates, and even available hacker tools help in identifying a point of attack. The Internet provides a vast amount of information that can easily be associated with the architecture and strong and weak points of a system</a:t>
            </a:r>
          </a:p>
          <a:p>
            <a:pPr marL="0" indent="0">
              <a:buNone/>
            </a:pPr>
            <a:endParaRPr lang="en-US" dirty="0"/>
          </a:p>
        </p:txBody>
      </p:sp>
    </p:spTree>
    <p:extLst>
      <p:ext uri="{BB962C8B-B14F-4D97-AF65-F5344CB8AC3E}">
        <p14:creationId xmlns:p14="http://schemas.microsoft.com/office/powerpoint/2010/main" val="13828994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5910"/>
            <a:ext cx="9905998" cy="1184856"/>
          </a:xfrm>
        </p:spPr>
        <p:txBody>
          <a:bodyPr/>
          <a:lstStyle/>
          <a:p>
            <a:r>
              <a:rPr lang="en-US" sz="4000" dirty="0" smtClean="0">
                <a:solidFill>
                  <a:srgbClr val="C00000"/>
                </a:solidFill>
              </a:rPr>
              <a:t>5-</a:t>
            </a:r>
            <a:r>
              <a:rPr lang="en-US" sz="4000" b="1" dirty="0">
                <a:solidFill>
                  <a:srgbClr val="C00000"/>
                </a:solidFill>
              </a:rPr>
              <a:t>Exploitation</a:t>
            </a:r>
            <a:r>
              <a:rPr lang="en-US" b="1" dirty="0"/>
              <a:t/>
            </a:r>
            <a:br>
              <a:rPr lang="en-US" b="1" dirty="0"/>
            </a:br>
            <a:endParaRPr lang="en-US" dirty="0"/>
          </a:p>
        </p:txBody>
      </p:sp>
      <p:sp>
        <p:nvSpPr>
          <p:cNvPr id="3" name="Content Placeholder 2"/>
          <p:cNvSpPr>
            <a:spLocks noGrp="1"/>
          </p:cNvSpPr>
          <p:nvPr>
            <p:ph idx="1"/>
          </p:nvPr>
        </p:nvSpPr>
        <p:spPr>
          <a:xfrm>
            <a:off x="283336" y="734096"/>
            <a:ext cx="11487954" cy="6123903"/>
          </a:xfrm>
        </p:spPr>
        <p:txBody>
          <a:bodyPr>
            <a:normAutofit/>
          </a:bodyPr>
          <a:lstStyle/>
          <a:p>
            <a:pPr algn="just"/>
            <a:r>
              <a:rPr lang="en-US" dirty="0">
                <a:solidFill>
                  <a:srgbClr val="002060"/>
                </a:solidFill>
              </a:rPr>
              <a:t>A significant amount of time is </a:t>
            </a:r>
            <a:r>
              <a:rPr lang="en-US" b="1" dirty="0">
                <a:solidFill>
                  <a:srgbClr val="002060"/>
                </a:solidFill>
              </a:rPr>
              <a:t>spent planning and evaluated an ethical hack</a:t>
            </a:r>
            <a:r>
              <a:rPr lang="en-US" dirty="0">
                <a:solidFill>
                  <a:srgbClr val="002060"/>
                </a:solidFill>
              </a:rPr>
              <a:t>. Of course, all this planning must eventually lead to some form of attack. The exploitation of a system can be as easy as running a small tool or as intricate as a series of complex steps that must be executed in a particular way in order to gain access.</a:t>
            </a:r>
          </a:p>
          <a:p>
            <a:pPr algn="just"/>
            <a:r>
              <a:rPr lang="en-US" dirty="0">
                <a:solidFill>
                  <a:srgbClr val="002060"/>
                </a:solidFill>
              </a:rPr>
              <a:t>The exploitation </a:t>
            </a:r>
            <a:r>
              <a:rPr lang="en-US" b="1" dirty="0">
                <a:solidFill>
                  <a:srgbClr val="002060"/>
                </a:solidFill>
              </a:rPr>
              <a:t>process is broken down into a set of subtasks </a:t>
            </a:r>
            <a:r>
              <a:rPr lang="en-US" dirty="0">
                <a:solidFill>
                  <a:srgbClr val="002060"/>
                </a:solidFill>
              </a:rPr>
              <a:t>which can be many steps or a single step in performing the attack. As each step is performed, an evaluation takes place to ensure that the expected outcome is being met. Any divergence from the attack plan is classified into two determinations:</a:t>
            </a:r>
          </a:p>
          <a:p>
            <a:pPr marL="0" indent="0" algn="just">
              <a:buNone/>
            </a:pPr>
            <a:r>
              <a:rPr lang="en-US" b="1" dirty="0">
                <a:solidFill>
                  <a:srgbClr val="C00000"/>
                </a:solidFill>
              </a:rPr>
              <a:t>Expectations</a:t>
            </a:r>
            <a:r>
              <a:rPr lang="en-US" dirty="0">
                <a:solidFill>
                  <a:srgbClr val="C00000"/>
                </a:solidFill>
              </a:rPr>
              <a:t>: </a:t>
            </a:r>
            <a:r>
              <a:rPr lang="en-US" dirty="0">
                <a:solidFill>
                  <a:srgbClr val="002060"/>
                </a:solidFill>
              </a:rPr>
              <a:t>Are the expectations of the exploitation being met or are the results conflicting with the organization's </a:t>
            </a:r>
            <a:r>
              <a:rPr lang="en-US" dirty="0" smtClean="0">
                <a:solidFill>
                  <a:srgbClr val="002060"/>
                </a:solidFill>
              </a:rPr>
              <a:t>assumptions?</a:t>
            </a:r>
          </a:p>
          <a:p>
            <a:pPr marL="0" indent="0" algn="just">
              <a:buNone/>
            </a:pPr>
            <a:r>
              <a:rPr lang="en-US" b="1" dirty="0">
                <a:solidFill>
                  <a:srgbClr val="C00000"/>
                </a:solidFill>
              </a:rPr>
              <a:t>Technical</a:t>
            </a:r>
            <a:r>
              <a:rPr lang="en-US" dirty="0">
                <a:solidFill>
                  <a:srgbClr val="C00000"/>
                </a:solidFill>
              </a:rPr>
              <a:t>: </a:t>
            </a:r>
            <a:r>
              <a:rPr lang="en-US" dirty="0">
                <a:solidFill>
                  <a:srgbClr val="002060"/>
                </a:solidFill>
              </a:rPr>
              <a:t>Is the system reacting in an unexpected manner, which is having an impact on the exploitation and the engagement as a whole?</a:t>
            </a:r>
          </a:p>
        </p:txBody>
      </p:sp>
    </p:spTree>
    <p:extLst>
      <p:ext uri="{BB962C8B-B14F-4D97-AF65-F5344CB8AC3E}">
        <p14:creationId xmlns:p14="http://schemas.microsoft.com/office/powerpoint/2010/main" val="33320898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236372"/>
          </a:xfrm>
        </p:spPr>
        <p:txBody>
          <a:bodyPr>
            <a:normAutofit fontScale="90000"/>
          </a:bodyPr>
          <a:lstStyle/>
          <a:p>
            <a:r>
              <a:rPr lang="en-US" sz="4800" dirty="0">
                <a:solidFill>
                  <a:srgbClr val="C00000"/>
                </a:solidFill>
              </a:rPr>
              <a:t>6</a:t>
            </a:r>
            <a:r>
              <a:rPr lang="en-US" sz="4800" dirty="0" smtClean="0">
                <a:solidFill>
                  <a:srgbClr val="C00000"/>
                </a:solidFill>
              </a:rPr>
              <a:t>- </a:t>
            </a:r>
            <a:r>
              <a:rPr lang="en-US" sz="4800" b="1" dirty="0">
                <a:solidFill>
                  <a:srgbClr val="C00000"/>
                </a:solidFill>
              </a:rPr>
              <a:t>Deliverables</a:t>
            </a:r>
            <a:r>
              <a:rPr lang="en-US" b="1" dirty="0"/>
              <a:t/>
            </a:r>
            <a:br>
              <a:rPr lang="en-US" b="1" dirty="0"/>
            </a:br>
            <a:endParaRPr lang="en-US" dirty="0"/>
          </a:p>
        </p:txBody>
      </p:sp>
      <p:sp>
        <p:nvSpPr>
          <p:cNvPr id="3" name="Content Placeholder 2"/>
          <p:cNvSpPr>
            <a:spLocks noGrp="1"/>
          </p:cNvSpPr>
          <p:nvPr>
            <p:ph idx="1"/>
          </p:nvPr>
        </p:nvSpPr>
        <p:spPr>
          <a:xfrm>
            <a:off x="0" y="695458"/>
            <a:ext cx="12192000" cy="5937161"/>
          </a:xfrm>
        </p:spPr>
        <p:txBody>
          <a:bodyPr>
            <a:normAutofit lnSpcReduction="10000"/>
          </a:bodyPr>
          <a:lstStyle/>
          <a:p>
            <a:r>
              <a:rPr lang="en-US" sz="3200" dirty="0">
                <a:solidFill>
                  <a:srgbClr val="002060"/>
                </a:solidFill>
              </a:rPr>
              <a:t>Deliverables communicate the results of tests in numerous ways. Some deliverables are short and concise, only providing a list of vulnerabilities and how to fix them, while others are long and detailed, providing a list of vulnerabilities with detailed descriptions regarding how they were found, how to exploit them, the implications of having such a vulnerability and how to remedy the situation.</a:t>
            </a:r>
          </a:p>
          <a:p>
            <a:r>
              <a:rPr lang="en-US" sz="3200" dirty="0">
                <a:solidFill>
                  <a:srgbClr val="002060"/>
                </a:solidFill>
              </a:rPr>
              <a:t>The deliverable phase is a way for an ethical hacker to convey the results of their tests. Recently, ethical hacking has become so commoditized that if a deliverable does not instill fear into the hearts of executives, it could be considered a failure</a:t>
            </a:r>
          </a:p>
          <a:p>
            <a:endParaRPr lang="en-US" dirty="0"/>
          </a:p>
        </p:txBody>
      </p:sp>
    </p:spTree>
    <p:extLst>
      <p:ext uri="{BB962C8B-B14F-4D97-AF65-F5344CB8AC3E}">
        <p14:creationId xmlns:p14="http://schemas.microsoft.com/office/powerpoint/2010/main" val="33019957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6753336" cy="5215612"/>
          </a:xfrm>
        </p:spPr>
        <p:txBody>
          <a:bodyPr>
            <a:noAutofit/>
          </a:bodyPr>
          <a:lstStyle/>
          <a:p>
            <a:r>
              <a:rPr lang="en-US" sz="8800" dirty="0" smtClean="0">
                <a:solidFill>
                  <a:srgbClr val="002060"/>
                </a:solidFill>
              </a:rPr>
              <a:t>ETHICAL HACKING SKILLS AND KNOWLEDGE </a:t>
            </a:r>
            <a:endParaRPr lang="en-US" sz="8800" dirty="0">
              <a:solidFill>
                <a:srgbClr val="00206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85656" y="618518"/>
            <a:ext cx="4275786" cy="5550462"/>
          </a:xfrm>
        </p:spPr>
      </p:pic>
    </p:spTree>
    <p:extLst>
      <p:ext uri="{BB962C8B-B14F-4D97-AF65-F5344CB8AC3E}">
        <p14:creationId xmlns:p14="http://schemas.microsoft.com/office/powerpoint/2010/main" val="19687793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043189"/>
          </a:xfrm>
        </p:spPr>
        <p:txBody>
          <a:bodyPr>
            <a:normAutofit/>
          </a:bodyPr>
          <a:lstStyle/>
          <a:p>
            <a:r>
              <a:rPr lang="en-US" sz="4400" dirty="0" smtClean="0">
                <a:solidFill>
                  <a:srgbClr val="C00000"/>
                </a:solidFill>
              </a:rPr>
              <a:t>Required skills </a:t>
            </a:r>
            <a:endParaRPr lang="en-US" sz="4400" dirty="0">
              <a:solidFill>
                <a:srgbClr val="C00000"/>
              </a:solidFill>
            </a:endParaRPr>
          </a:p>
        </p:txBody>
      </p:sp>
      <p:sp>
        <p:nvSpPr>
          <p:cNvPr id="3" name="Content Placeholder 2"/>
          <p:cNvSpPr>
            <a:spLocks noGrp="1"/>
          </p:cNvSpPr>
          <p:nvPr>
            <p:ph idx="1"/>
          </p:nvPr>
        </p:nvSpPr>
        <p:spPr>
          <a:xfrm>
            <a:off x="1141412" y="1043188"/>
            <a:ext cx="9905999" cy="5653825"/>
          </a:xfrm>
        </p:spPr>
        <p:txBody>
          <a:bodyPr>
            <a:normAutofit fontScale="92500"/>
          </a:bodyPr>
          <a:lstStyle/>
          <a:p>
            <a:pPr algn="just"/>
            <a:r>
              <a:rPr lang="en-US" sz="2800" dirty="0">
                <a:solidFill>
                  <a:srgbClr val="002060"/>
                </a:solidFill>
              </a:rPr>
              <a:t>An ethical hacker is required to possess a vast arrangement of computer skills. It is not feasible for each ethical hacker to be an expert is every field and thus ethical hacking </a:t>
            </a:r>
            <a:r>
              <a:rPr lang="en-US" sz="2800" i="1" dirty="0">
                <a:solidFill>
                  <a:srgbClr val="002060"/>
                </a:solidFill>
              </a:rPr>
              <a:t>tiger teams</a:t>
            </a:r>
            <a:r>
              <a:rPr lang="en-US" sz="2800" dirty="0">
                <a:solidFill>
                  <a:srgbClr val="002060"/>
                </a:solidFill>
              </a:rPr>
              <a:t> whose members have complementing skills are created to provide an organization with a team possessing the complete skill set required of an ethical hacker.</a:t>
            </a:r>
          </a:p>
          <a:p>
            <a:pPr algn="just"/>
            <a:r>
              <a:rPr lang="en-US" sz="2800" dirty="0">
                <a:solidFill>
                  <a:srgbClr val="002060"/>
                </a:solidFill>
              </a:rPr>
              <a:t>Organizations may have a wide variety of computer systems and it is essential for any ethical hacker to have expertise in operating </a:t>
            </a:r>
            <a:r>
              <a:rPr lang="en-US" sz="2800" dirty="0" smtClean="0">
                <a:solidFill>
                  <a:srgbClr val="002060"/>
                </a:solidFill>
              </a:rPr>
              <a:t>systems</a:t>
            </a:r>
            <a:r>
              <a:rPr lang="en-US" sz="2800" dirty="0">
                <a:solidFill>
                  <a:srgbClr val="002060"/>
                </a:solidFill>
              </a:rPr>
              <a:t> </a:t>
            </a:r>
            <a:r>
              <a:rPr lang="en-US" sz="2800" dirty="0" smtClean="0">
                <a:solidFill>
                  <a:srgbClr val="002060"/>
                </a:solidFill>
              </a:rPr>
              <a:t>,  </a:t>
            </a:r>
            <a:r>
              <a:rPr lang="en-US" sz="2800" dirty="0">
                <a:solidFill>
                  <a:srgbClr val="002060"/>
                </a:solidFill>
              </a:rPr>
              <a:t>as well as network hardware platforms</a:t>
            </a:r>
            <a:r>
              <a:rPr lang="en-US" sz="2800" dirty="0" smtClean="0">
                <a:solidFill>
                  <a:srgbClr val="002060"/>
                </a:solidFill>
              </a:rPr>
              <a:t>. </a:t>
            </a:r>
            <a:r>
              <a:rPr lang="en-US" sz="2800" dirty="0">
                <a:solidFill>
                  <a:srgbClr val="002060"/>
                </a:solidFill>
              </a:rPr>
              <a:t>It is also fundamental that an ethical hacker posses a solid foundation of the principles of </a:t>
            </a:r>
            <a:r>
              <a:rPr lang="en-US" sz="2800" dirty="0" smtClean="0">
                <a:solidFill>
                  <a:srgbClr val="002060"/>
                </a:solidFill>
              </a:rPr>
              <a:t>information security . </a:t>
            </a:r>
            <a:r>
              <a:rPr lang="en-US" dirty="0"/>
              <a:t/>
            </a:r>
            <a:br>
              <a:rPr lang="en-US" dirty="0"/>
            </a:br>
            <a:endParaRPr lang="en-US" dirty="0"/>
          </a:p>
          <a:p>
            <a:endParaRPr lang="en-US" dirty="0"/>
          </a:p>
        </p:txBody>
      </p:sp>
    </p:spTree>
    <p:extLst>
      <p:ext uri="{BB962C8B-B14F-4D97-AF65-F5344CB8AC3E}">
        <p14:creationId xmlns:p14="http://schemas.microsoft.com/office/powerpoint/2010/main" val="31293007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398930" y="-349624"/>
            <a:ext cx="12980895" cy="7301753"/>
          </a:xfrm>
          <a:prstGeom prst="rect">
            <a:avLst/>
          </a:prstGeom>
          <a:ln>
            <a:solidFill>
              <a:schemeClr val="accent3"/>
            </a:solidFill>
          </a:ln>
          <a:effectLst>
            <a:glow rad="228600">
              <a:schemeClr val="accent3">
                <a:satMod val="175000"/>
                <a:alpha val="40000"/>
              </a:schemeClr>
            </a:glow>
          </a:effectLst>
        </p:spPr>
      </p:pic>
    </p:spTree>
    <p:extLst>
      <p:ext uri="{BB962C8B-B14F-4D97-AF65-F5344CB8AC3E}">
        <p14:creationId xmlns:p14="http://schemas.microsoft.com/office/powerpoint/2010/main" val="25817303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62" y="618517"/>
            <a:ext cx="4172755" cy="5872433"/>
          </a:xfrm>
        </p:spPr>
        <p:txBody>
          <a:bodyPr/>
          <a:lstStyle/>
          <a:p>
            <a:r>
              <a:rPr lang="en-US" sz="7200" dirty="0">
                <a:solidFill>
                  <a:srgbClr val="C00000"/>
                </a:solidFill>
              </a:rPr>
              <a:t>Salaries and Trends</a:t>
            </a: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3287" y="1210614"/>
            <a:ext cx="6710273" cy="5280337"/>
          </a:xfrm>
        </p:spPr>
      </p:pic>
    </p:spTree>
    <p:extLst>
      <p:ext uri="{BB962C8B-B14F-4D97-AF65-F5344CB8AC3E}">
        <p14:creationId xmlns:p14="http://schemas.microsoft.com/office/powerpoint/2010/main" val="37083917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7"/>
            <a:ext cx="9905998" cy="6026981"/>
          </a:xfrm>
        </p:spPr>
        <p:txBody>
          <a:bodyPr>
            <a:normAutofit fontScale="90000"/>
          </a:bodyPr>
          <a:lstStyle/>
          <a:p>
            <a:pPr algn="just"/>
            <a:r>
              <a:rPr lang="en-US" sz="4800" dirty="0">
                <a:solidFill>
                  <a:srgbClr val="002060"/>
                </a:solidFill>
              </a:rPr>
              <a:t>A survey done by the International Data Corp (IDC) says that the worldwide demand for information security professionals stands at </a:t>
            </a:r>
            <a:r>
              <a:rPr lang="en-US" sz="7300" b="1" dirty="0">
                <a:solidFill>
                  <a:srgbClr val="002060"/>
                </a:solidFill>
              </a:rPr>
              <a:t>60,000</a:t>
            </a:r>
            <a:r>
              <a:rPr lang="en-US" sz="4800" dirty="0">
                <a:solidFill>
                  <a:srgbClr val="002060"/>
                </a:solidFill>
              </a:rPr>
              <a:t> and companies such as Wipro, Infosys, IBM, Airtel and Reliance are always looking for good ethical hackers</a:t>
            </a:r>
          </a:p>
        </p:txBody>
      </p:sp>
    </p:spTree>
    <p:extLst>
      <p:ext uri="{BB962C8B-B14F-4D97-AF65-F5344CB8AC3E}">
        <p14:creationId xmlns:p14="http://schemas.microsoft.com/office/powerpoint/2010/main" val="6785981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1668"/>
            <a:ext cx="9905998" cy="1955420"/>
          </a:xfrm>
        </p:spPr>
        <p:txBody>
          <a:bodyPr>
            <a:normAutofit/>
          </a:bodyPr>
          <a:lstStyle/>
          <a:p>
            <a:r>
              <a:rPr lang="en-US" dirty="0">
                <a:solidFill>
                  <a:srgbClr val="002060"/>
                </a:solidFill>
              </a:rPr>
              <a:t>In the United Kingdom, the following trends have been seen for demand and salaries of ethical hackers.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5155" y="2097088"/>
            <a:ext cx="10998558" cy="4432501"/>
          </a:xfrm>
        </p:spPr>
      </p:pic>
    </p:spTree>
    <p:extLst>
      <p:ext uri="{BB962C8B-B14F-4D97-AF65-F5344CB8AC3E}">
        <p14:creationId xmlns:p14="http://schemas.microsoft.com/office/powerpoint/2010/main" val="23608923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5692130"/>
          </a:xfrm>
        </p:spPr>
        <p:txBody>
          <a:bodyPr>
            <a:noAutofit/>
          </a:bodyPr>
          <a:lstStyle/>
          <a:p>
            <a:r>
              <a:rPr lang="en-US" sz="4800" dirty="0">
                <a:solidFill>
                  <a:srgbClr val="002060"/>
                </a:solidFill>
              </a:rPr>
              <a:t>Although there are </a:t>
            </a:r>
            <a:r>
              <a:rPr lang="en-US" sz="4800" b="1" dirty="0">
                <a:solidFill>
                  <a:srgbClr val="002060"/>
                </a:solidFill>
              </a:rPr>
              <a:t>benefits to teaching</a:t>
            </a:r>
            <a:r>
              <a:rPr lang="en-US" sz="4800" dirty="0">
                <a:solidFill>
                  <a:srgbClr val="002060"/>
                </a:solidFill>
              </a:rPr>
              <a:t> and employing ethical hacking techniques, there are </a:t>
            </a:r>
            <a:r>
              <a:rPr lang="en-US" sz="6000" b="1" dirty="0">
                <a:solidFill>
                  <a:srgbClr val="002060"/>
                </a:solidFill>
              </a:rPr>
              <a:t>problems </a:t>
            </a:r>
            <a:r>
              <a:rPr lang="en-US" sz="4800" dirty="0">
                <a:solidFill>
                  <a:srgbClr val="002060"/>
                </a:solidFill>
              </a:rPr>
              <a:t>that lead some to question the practice. It is feared that schools may be teaching dangerous skills to students that are unable to make correct decisions on how to use </a:t>
            </a:r>
            <a:r>
              <a:rPr lang="en-US" sz="4800" dirty="0" smtClean="0">
                <a:solidFill>
                  <a:srgbClr val="002060"/>
                </a:solidFill>
              </a:rPr>
              <a:t>them. </a:t>
            </a:r>
            <a:endParaRPr lang="en-US" sz="4800" dirty="0">
              <a:solidFill>
                <a:srgbClr val="002060"/>
              </a:solidFill>
            </a:endParaRPr>
          </a:p>
        </p:txBody>
      </p:sp>
    </p:spTree>
    <p:extLst>
      <p:ext uri="{BB962C8B-B14F-4D97-AF65-F5344CB8AC3E}">
        <p14:creationId xmlns:p14="http://schemas.microsoft.com/office/powerpoint/2010/main" val="36588403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7"/>
            <a:ext cx="9905998" cy="5975465"/>
          </a:xfrm>
        </p:spPr>
        <p:txBody>
          <a:bodyPr>
            <a:normAutofit fontScale="90000"/>
          </a:bodyPr>
          <a:lstStyle/>
          <a:p>
            <a:pPr algn="just"/>
            <a:r>
              <a:rPr lang="en-US" sz="2800" dirty="0">
                <a:solidFill>
                  <a:srgbClr val="002060"/>
                </a:solidFill>
              </a:rPr>
              <a:t>Marcus J. Ranum, a computer security professional has openly objected to the term ethical hacker, saying </a:t>
            </a:r>
            <a:r>
              <a:rPr lang="en-US" sz="2800" dirty="0" smtClean="0">
                <a:solidFill>
                  <a:srgbClr val="002060"/>
                </a:solidFill>
              </a:rPr>
              <a:t/>
            </a:r>
            <a:br>
              <a:rPr lang="en-US" sz="2800" dirty="0" smtClean="0">
                <a:solidFill>
                  <a:srgbClr val="002060"/>
                </a:solidFill>
              </a:rPr>
            </a:br>
            <a:r>
              <a:rPr lang="en-US" sz="2800" dirty="0">
                <a:solidFill>
                  <a:srgbClr val="002060"/>
                </a:solidFill>
              </a:rPr>
              <a:t/>
            </a:r>
            <a:br>
              <a:rPr lang="en-US" sz="2800" dirty="0">
                <a:solidFill>
                  <a:srgbClr val="002060"/>
                </a:solidFill>
              </a:rPr>
            </a:br>
            <a:r>
              <a:rPr lang="en-US" sz="2800" b="1" dirty="0" smtClean="0">
                <a:solidFill>
                  <a:srgbClr val="002060"/>
                </a:solidFill>
              </a:rPr>
              <a:t>"</a:t>
            </a:r>
            <a:r>
              <a:rPr lang="en-US" sz="2800" b="1" dirty="0">
                <a:solidFill>
                  <a:srgbClr val="002060"/>
                </a:solidFill>
              </a:rPr>
              <a:t>There's no such thing as an 'ethical hacker' - that's like saying 'ethical rapist' - it's a contradiction in terms" </a:t>
            </a:r>
            <a:r>
              <a:rPr lang="en-US" sz="2800" b="1" baseline="30000" dirty="0">
                <a:solidFill>
                  <a:srgbClr val="002060"/>
                </a:solidFill>
              </a:rPr>
              <a:t>[9]</a:t>
            </a:r>
            <a:r>
              <a:rPr lang="en-US" sz="2800" b="1" dirty="0">
                <a:solidFill>
                  <a:srgbClr val="002060"/>
                </a:solidFill>
              </a:rPr>
              <a:t>. </a:t>
            </a:r>
            <a:r>
              <a:rPr lang="en-US" sz="2800" dirty="0" smtClean="0">
                <a:solidFill>
                  <a:srgbClr val="002060"/>
                </a:solidFill>
              </a:rPr>
              <a:t/>
            </a:r>
            <a:br>
              <a:rPr lang="en-US" sz="2800" dirty="0" smtClean="0">
                <a:solidFill>
                  <a:srgbClr val="002060"/>
                </a:solidFill>
              </a:rPr>
            </a:br>
            <a:r>
              <a:rPr lang="en-US" sz="2800" dirty="0">
                <a:solidFill>
                  <a:srgbClr val="002060"/>
                </a:solidFill>
              </a:rPr>
              <a:t/>
            </a:r>
            <a:br>
              <a:rPr lang="en-US" sz="2800" dirty="0">
                <a:solidFill>
                  <a:srgbClr val="002060"/>
                </a:solidFill>
              </a:rPr>
            </a:br>
            <a:r>
              <a:rPr lang="en-US" sz="2800" dirty="0" smtClean="0">
                <a:solidFill>
                  <a:srgbClr val="002060"/>
                </a:solidFill>
              </a:rPr>
              <a:t>A </a:t>
            </a:r>
            <a:r>
              <a:rPr lang="en-US" sz="2800" dirty="0">
                <a:solidFill>
                  <a:srgbClr val="002060"/>
                </a:solidFill>
              </a:rPr>
              <a:t>significant part of the controversy surrounding ethical hacking arises from the older definition of hacker and its association with the idea of a </a:t>
            </a:r>
            <a:r>
              <a:rPr lang="en-US" sz="2800" b="1" dirty="0">
                <a:solidFill>
                  <a:srgbClr val="002060"/>
                </a:solidFill>
              </a:rPr>
              <a:t>computer criminal.</a:t>
            </a:r>
            <a:r>
              <a:rPr lang="en-US" sz="2800" dirty="0">
                <a:solidFill>
                  <a:srgbClr val="002060"/>
                </a:solidFill>
              </a:rPr>
              <a:t> </a:t>
            </a:r>
            <a:r>
              <a:rPr lang="en-US" sz="2800" dirty="0" smtClean="0">
                <a:solidFill>
                  <a:srgbClr val="002060"/>
                </a:solidFill>
              </a:rPr>
              <a:t/>
            </a:r>
            <a:br>
              <a:rPr lang="en-US" sz="2800" dirty="0" smtClean="0">
                <a:solidFill>
                  <a:srgbClr val="002060"/>
                </a:solidFill>
              </a:rPr>
            </a:br>
            <a:r>
              <a:rPr lang="en-US" sz="2800" dirty="0">
                <a:solidFill>
                  <a:srgbClr val="002060"/>
                </a:solidFill>
              </a:rPr>
              <a:t/>
            </a:r>
            <a:br>
              <a:rPr lang="en-US" sz="2800" dirty="0">
                <a:solidFill>
                  <a:srgbClr val="002060"/>
                </a:solidFill>
              </a:rPr>
            </a:br>
            <a:r>
              <a:rPr lang="en-US" sz="2800" dirty="0" smtClean="0">
                <a:solidFill>
                  <a:srgbClr val="002060"/>
                </a:solidFill>
              </a:rPr>
              <a:t>However</a:t>
            </a:r>
            <a:r>
              <a:rPr lang="en-US" sz="2800" dirty="0">
                <a:solidFill>
                  <a:srgbClr val="002060"/>
                </a:solidFill>
              </a:rPr>
              <a:t>, some organizations do not seem to mind the association and have had a significant increase in careers where CEH and other ethical hacking certifications are preferred or </a:t>
            </a:r>
            <a:r>
              <a:rPr lang="en-US" sz="2800" dirty="0" smtClean="0">
                <a:solidFill>
                  <a:srgbClr val="002060"/>
                </a:solidFill>
              </a:rPr>
              <a:t>required. </a:t>
            </a:r>
            <a:endParaRPr lang="en-US" sz="2800" dirty="0">
              <a:solidFill>
                <a:srgbClr val="002060"/>
              </a:solidFill>
            </a:endParaRPr>
          </a:p>
        </p:txBody>
      </p:sp>
    </p:spTree>
    <p:extLst>
      <p:ext uri="{BB962C8B-B14F-4D97-AF65-F5344CB8AC3E}">
        <p14:creationId xmlns:p14="http://schemas.microsoft.com/office/powerpoint/2010/main" val="9412604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1668"/>
            <a:ext cx="9905998" cy="1468190"/>
          </a:xfrm>
        </p:spPr>
        <p:txBody>
          <a:bodyPr>
            <a:normAutofit fontScale="90000"/>
          </a:bodyPr>
          <a:lstStyle/>
          <a:p>
            <a:r>
              <a:rPr lang="en-US" sz="6600" dirty="0" smtClean="0">
                <a:solidFill>
                  <a:srgbClr val="C00000"/>
                </a:solidFill>
              </a:rPr>
              <a:t>1. </a:t>
            </a:r>
            <a:r>
              <a:rPr lang="en-US" sz="6600" b="1" dirty="0" smtClean="0">
                <a:solidFill>
                  <a:srgbClr val="C00000"/>
                </a:solidFill>
              </a:rPr>
              <a:t>Ethical Issues</a:t>
            </a:r>
            <a:r>
              <a:rPr lang="en-US" b="1" dirty="0" smtClean="0"/>
              <a:t/>
            </a:r>
            <a:br>
              <a:rPr lang="en-US" b="1" dirty="0" smtClean="0"/>
            </a:br>
            <a:endParaRPr lang="en-US" dirty="0"/>
          </a:p>
        </p:txBody>
      </p:sp>
      <p:sp>
        <p:nvSpPr>
          <p:cNvPr id="3" name="Content Placeholder 2"/>
          <p:cNvSpPr>
            <a:spLocks noGrp="1"/>
          </p:cNvSpPr>
          <p:nvPr>
            <p:ph idx="1"/>
          </p:nvPr>
        </p:nvSpPr>
        <p:spPr>
          <a:xfrm>
            <a:off x="1141412" y="1416675"/>
            <a:ext cx="9905999" cy="4881093"/>
          </a:xfrm>
        </p:spPr>
        <p:txBody>
          <a:bodyPr>
            <a:noAutofit/>
          </a:bodyPr>
          <a:lstStyle/>
          <a:p>
            <a:pPr marL="0" indent="0">
              <a:buNone/>
            </a:pPr>
            <a:r>
              <a:rPr lang="en-US" sz="2800" dirty="0">
                <a:solidFill>
                  <a:srgbClr val="002060"/>
                </a:solidFill>
              </a:rPr>
              <a:t>One of the concerns about teaching ethical hacking is that the wrong </a:t>
            </a:r>
            <a:r>
              <a:rPr lang="en-US" sz="2800" b="1" dirty="0">
                <a:solidFill>
                  <a:srgbClr val="002060"/>
                </a:solidFill>
              </a:rPr>
              <a:t>people may be taught very dangerous skills</a:t>
            </a:r>
            <a:r>
              <a:rPr lang="en-US" sz="2800" dirty="0">
                <a:solidFill>
                  <a:srgbClr val="002060"/>
                </a:solidFill>
              </a:rPr>
              <a:t>. Hacking skills were traditionally acquired by many hours of practice or intense tutoring from another hacker. University programs and commercial training classes are now offering a new way for aspiring hackers to learn how to </a:t>
            </a:r>
            <a:r>
              <a:rPr lang="en-US" sz="2800" b="1" dirty="0">
                <a:solidFill>
                  <a:srgbClr val="002060"/>
                </a:solidFill>
              </a:rPr>
              <a:t>penetrate systems</a:t>
            </a:r>
            <a:r>
              <a:rPr lang="en-US" sz="2800" dirty="0">
                <a:solidFill>
                  <a:srgbClr val="002060"/>
                </a:solidFill>
              </a:rPr>
              <a:t>. Teaching students how to attack systems without </a:t>
            </a:r>
            <a:r>
              <a:rPr lang="en-US" sz="2800" b="1" dirty="0">
                <a:solidFill>
                  <a:srgbClr val="002060"/>
                </a:solidFill>
              </a:rPr>
              <a:t>providing ethical training may be teaching criminals </a:t>
            </a:r>
            <a:r>
              <a:rPr lang="en-US" sz="2800" dirty="0">
                <a:solidFill>
                  <a:srgbClr val="002060"/>
                </a:solidFill>
              </a:rPr>
              <a:t>and </a:t>
            </a:r>
            <a:r>
              <a:rPr lang="en-US" sz="2800" b="1" dirty="0">
                <a:solidFill>
                  <a:srgbClr val="002060"/>
                </a:solidFill>
              </a:rPr>
              <a:t>terrorists how to pursue their illegal activities</a:t>
            </a:r>
            <a:r>
              <a:rPr lang="en-US" sz="2800" dirty="0">
                <a:solidFill>
                  <a:srgbClr val="002060"/>
                </a:solidFill>
              </a:rPr>
              <a:t>. Some individuals have compared teaching ethical hacking to undergraduate students to </a:t>
            </a:r>
            <a:r>
              <a:rPr lang="en-US" sz="2800" b="1" dirty="0">
                <a:solidFill>
                  <a:srgbClr val="002060"/>
                </a:solidFill>
              </a:rPr>
              <a:t>handing them a loaded </a:t>
            </a:r>
            <a:r>
              <a:rPr lang="en-US" sz="2800" b="1" dirty="0" smtClean="0">
                <a:solidFill>
                  <a:srgbClr val="002060"/>
                </a:solidFill>
              </a:rPr>
              <a:t>gun</a:t>
            </a:r>
            <a:r>
              <a:rPr lang="en-US" sz="2800" dirty="0">
                <a:solidFill>
                  <a:srgbClr val="002060"/>
                </a:solidFill>
              </a:rPr>
              <a:t>.</a:t>
            </a:r>
          </a:p>
        </p:txBody>
      </p:sp>
    </p:spTree>
    <p:extLst>
      <p:ext uri="{BB962C8B-B14F-4D97-AF65-F5344CB8AC3E}">
        <p14:creationId xmlns:p14="http://schemas.microsoft.com/office/powerpoint/2010/main" val="11166241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1880" y="412788"/>
            <a:ext cx="9905998" cy="836795"/>
          </a:xfrm>
        </p:spPr>
        <p:txBody>
          <a:bodyPr>
            <a:normAutofit fontScale="90000"/>
          </a:bodyPr>
          <a:lstStyle/>
          <a:p>
            <a:r>
              <a:rPr lang="en-US" sz="7300" dirty="0" smtClean="0">
                <a:solidFill>
                  <a:srgbClr val="C00000"/>
                </a:solidFill>
              </a:rPr>
              <a:t>2. </a:t>
            </a:r>
            <a:r>
              <a:rPr lang="en-US" sz="7300" b="1" dirty="0">
                <a:solidFill>
                  <a:srgbClr val="C00000"/>
                </a:solidFill>
              </a:rPr>
              <a:t>Legal Liability</a:t>
            </a:r>
            <a:r>
              <a:rPr lang="en-US" b="1" dirty="0"/>
              <a:t/>
            </a:r>
            <a:br>
              <a:rPr lang="en-US" b="1" dirty="0"/>
            </a:br>
            <a:endParaRPr lang="en-US" dirty="0"/>
          </a:p>
        </p:txBody>
      </p:sp>
      <p:sp>
        <p:nvSpPr>
          <p:cNvPr id="3" name="Content Placeholder 2"/>
          <p:cNvSpPr>
            <a:spLocks noGrp="1"/>
          </p:cNvSpPr>
          <p:nvPr>
            <p:ph idx="1"/>
          </p:nvPr>
        </p:nvSpPr>
        <p:spPr>
          <a:xfrm>
            <a:off x="1141412" y="1223493"/>
            <a:ext cx="9905999" cy="5340441"/>
          </a:xfrm>
        </p:spPr>
        <p:txBody>
          <a:bodyPr/>
          <a:lstStyle/>
          <a:p>
            <a:r>
              <a:rPr lang="en-US" dirty="0">
                <a:solidFill>
                  <a:srgbClr val="002060"/>
                </a:solidFill>
              </a:rPr>
              <a:t>Adding ethical hacking to a curriculum raises a variety of legal issues where schools and faculty members may be held responsible for the actions of their students. The use of many </a:t>
            </a:r>
            <a:r>
              <a:rPr lang="en-US" b="1" dirty="0">
                <a:solidFill>
                  <a:srgbClr val="002060"/>
                </a:solidFill>
              </a:rPr>
              <a:t>hacking tools outside of an isolated test network </a:t>
            </a:r>
            <a:r>
              <a:rPr lang="en-US" dirty="0">
                <a:solidFill>
                  <a:srgbClr val="002060"/>
                </a:solidFill>
              </a:rPr>
              <a:t>may be illegal. By allowing unmonitored hacking sessions, the school or faculty member may be allowing a breach of the law or violation of </a:t>
            </a:r>
            <a:r>
              <a:rPr lang="en-US" b="1" dirty="0">
                <a:solidFill>
                  <a:srgbClr val="002060"/>
                </a:solidFill>
              </a:rPr>
              <a:t>software licensing agreements</a:t>
            </a:r>
            <a:r>
              <a:rPr lang="en-US" dirty="0">
                <a:solidFill>
                  <a:srgbClr val="002060"/>
                </a:solidFill>
              </a:rPr>
              <a:t>. </a:t>
            </a:r>
            <a:endParaRPr lang="en-US" dirty="0" smtClean="0">
              <a:solidFill>
                <a:srgbClr val="002060"/>
              </a:solidFill>
            </a:endParaRPr>
          </a:p>
          <a:p>
            <a:r>
              <a:rPr lang="en-US" dirty="0" smtClean="0">
                <a:solidFill>
                  <a:srgbClr val="002060"/>
                </a:solidFill>
              </a:rPr>
              <a:t>In </a:t>
            </a:r>
            <a:r>
              <a:rPr lang="en-US" dirty="0">
                <a:solidFill>
                  <a:srgbClr val="002060"/>
                </a:solidFill>
              </a:rPr>
              <a:t>a case of The United States versus Morris, a judge determined that </a:t>
            </a:r>
            <a:r>
              <a:rPr lang="en-US" b="1" dirty="0">
                <a:solidFill>
                  <a:srgbClr val="002060"/>
                </a:solidFill>
              </a:rPr>
              <a:t>the Computer Fraud and Misuse Act (18 USC 1030) applies to educational institutions</a:t>
            </a:r>
            <a:r>
              <a:rPr lang="en-US" dirty="0">
                <a:solidFill>
                  <a:srgbClr val="002060"/>
                </a:solidFill>
              </a:rPr>
              <a:t> and that an individual is liable for the accidental release of </a:t>
            </a:r>
            <a:r>
              <a:rPr lang="en-US" b="1" dirty="0" smtClean="0">
                <a:solidFill>
                  <a:srgbClr val="002060"/>
                </a:solidFill>
              </a:rPr>
              <a:t>malware</a:t>
            </a:r>
            <a:r>
              <a:rPr lang="en-US" dirty="0">
                <a:solidFill>
                  <a:srgbClr val="002060"/>
                </a:solidFill>
              </a:rPr>
              <a:t> </a:t>
            </a:r>
            <a:r>
              <a:rPr lang="en-US" dirty="0" smtClean="0">
                <a:solidFill>
                  <a:srgbClr val="002060"/>
                </a:solidFill>
              </a:rPr>
              <a:t>. </a:t>
            </a:r>
            <a:r>
              <a:rPr lang="en-US" dirty="0">
                <a:solidFill>
                  <a:srgbClr val="002060"/>
                </a:solidFill>
              </a:rPr>
              <a:t>The schools that facilitated the creation of malware would be liable for damages from malware released from their </a:t>
            </a:r>
            <a:r>
              <a:rPr lang="en-US" dirty="0" smtClean="0">
                <a:solidFill>
                  <a:srgbClr val="002060"/>
                </a:solidFill>
              </a:rPr>
              <a:t>labs.</a:t>
            </a:r>
            <a:endParaRPr lang="en-US" dirty="0">
              <a:solidFill>
                <a:srgbClr val="002060"/>
              </a:solidFill>
            </a:endParaRPr>
          </a:p>
        </p:txBody>
      </p:sp>
    </p:spTree>
    <p:extLst>
      <p:ext uri="{BB962C8B-B14F-4D97-AF65-F5344CB8AC3E}">
        <p14:creationId xmlns:p14="http://schemas.microsoft.com/office/powerpoint/2010/main" val="34784452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b="1" dirty="0">
                <a:solidFill>
                  <a:srgbClr val="C00000"/>
                </a:solidFill>
              </a:rPr>
              <a:t>Forcing Services and Information on Organizations and Society</a:t>
            </a:r>
            <a:r>
              <a:rPr lang="en-US" b="1" dirty="0"/>
              <a:t/>
            </a:r>
            <a:br>
              <a:rPr lang="en-US" b="1" dirty="0"/>
            </a:br>
            <a:endParaRPr lang="en-US" dirty="0"/>
          </a:p>
        </p:txBody>
      </p:sp>
      <p:sp>
        <p:nvSpPr>
          <p:cNvPr id="3" name="Content Placeholder 2"/>
          <p:cNvSpPr>
            <a:spLocks noGrp="1"/>
          </p:cNvSpPr>
          <p:nvPr>
            <p:ph idx="1"/>
          </p:nvPr>
        </p:nvSpPr>
        <p:spPr>
          <a:xfrm>
            <a:off x="540914" y="1700011"/>
            <a:ext cx="11114466" cy="4984123"/>
          </a:xfrm>
        </p:spPr>
        <p:txBody>
          <a:bodyPr>
            <a:normAutofit/>
          </a:bodyPr>
          <a:lstStyle/>
          <a:p>
            <a:r>
              <a:rPr lang="en-US" dirty="0">
                <a:solidFill>
                  <a:srgbClr val="002060"/>
                </a:solidFill>
              </a:rPr>
              <a:t>Sometimes ethical hackers operate without the permission or knowledge of the owners of a system. The rationale given for this is that they are only testing security and do not intend to cause damage or compromise any individual’s privacy. </a:t>
            </a:r>
            <a:endParaRPr lang="en-US" dirty="0" smtClean="0">
              <a:solidFill>
                <a:srgbClr val="002060"/>
              </a:solidFill>
            </a:endParaRPr>
          </a:p>
          <a:p>
            <a:r>
              <a:rPr lang="en-US" dirty="0" smtClean="0">
                <a:solidFill>
                  <a:srgbClr val="002060"/>
                </a:solidFill>
              </a:rPr>
              <a:t>However</a:t>
            </a:r>
            <a:r>
              <a:rPr lang="en-US" dirty="0">
                <a:solidFill>
                  <a:srgbClr val="002060"/>
                </a:solidFill>
              </a:rPr>
              <a:t>, ethical hackers may be able to uncover information about Web sites and applications that the owners of these sites and applications do not want </a:t>
            </a:r>
            <a:r>
              <a:rPr lang="en-US" b="1" dirty="0">
                <a:solidFill>
                  <a:srgbClr val="002060"/>
                </a:solidFill>
              </a:rPr>
              <a:t>uncovered. </a:t>
            </a:r>
            <a:r>
              <a:rPr lang="en-US" dirty="0">
                <a:solidFill>
                  <a:srgbClr val="002060"/>
                </a:solidFill>
              </a:rPr>
              <a:t>The situation is compared to finding a note on your refrigerator informing you that </a:t>
            </a:r>
            <a:r>
              <a:rPr lang="en-US" b="1" dirty="0">
                <a:solidFill>
                  <a:srgbClr val="C00000"/>
                </a:solidFill>
              </a:rPr>
              <a:t>"I was testing the security of back doors in the neighborhood and found yours unlocked. I just looked around. I didn't take anything. You should fix your lock." </a:t>
            </a:r>
            <a:r>
              <a:rPr lang="en-US" dirty="0">
                <a:solidFill>
                  <a:srgbClr val="002060"/>
                </a:solidFill>
              </a:rPr>
              <a:t>This situation is what leads to the necessity for a proper test plan and strict guidelines for following </a:t>
            </a:r>
            <a:r>
              <a:rPr lang="en-US" dirty="0" smtClean="0">
                <a:solidFill>
                  <a:srgbClr val="002060"/>
                </a:solidFill>
              </a:rPr>
              <a:t>it.</a:t>
            </a:r>
            <a:endParaRPr lang="en-US" dirty="0">
              <a:solidFill>
                <a:srgbClr val="002060"/>
              </a:solidFill>
            </a:endParaRPr>
          </a:p>
        </p:txBody>
      </p:sp>
    </p:spTree>
    <p:extLst>
      <p:ext uri="{BB962C8B-B14F-4D97-AF65-F5344CB8AC3E}">
        <p14:creationId xmlns:p14="http://schemas.microsoft.com/office/powerpoint/2010/main" val="18913554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28789"/>
            <a:ext cx="4911657" cy="6606862"/>
          </a:xfrm>
        </p:spPr>
        <p:txBody>
          <a:bodyPr>
            <a:noAutofit/>
          </a:bodyPr>
          <a:lstStyle/>
          <a:p>
            <a:r>
              <a:rPr lang="en-US" sz="8800" dirty="0" smtClean="0">
                <a:solidFill>
                  <a:srgbClr val="002060"/>
                </a:solidFill>
              </a:rPr>
              <a:t>FUTURE SCOPE OF ETHICAL HACKING </a:t>
            </a:r>
            <a:endParaRPr lang="en-US" sz="8800" dirty="0">
              <a:solidFill>
                <a:srgbClr val="00206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4154" y="0"/>
            <a:ext cx="5747846" cy="6858000"/>
          </a:xfrm>
        </p:spPr>
      </p:pic>
    </p:spTree>
    <p:extLst>
      <p:ext uri="{BB962C8B-B14F-4D97-AF65-F5344CB8AC3E}">
        <p14:creationId xmlns:p14="http://schemas.microsoft.com/office/powerpoint/2010/main" val="36421090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54546"/>
            <a:ext cx="9905998" cy="6516710"/>
          </a:xfrm>
        </p:spPr>
        <p:txBody>
          <a:bodyPr/>
          <a:lstStyle/>
          <a:p>
            <a:pPr marL="742950" indent="-742950">
              <a:buFont typeface="Wingdings" panose="05000000000000000000" pitchFamily="2" charset="2"/>
              <a:buChar char="v"/>
            </a:pPr>
            <a:r>
              <a:rPr lang="en-US" dirty="0" smtClean="0">
                <a:solidFill>
                  <a:srgbClr val="002060"/>
                </a:solidFill>
              </a:rPr>
              <a:t>AS IT IS AN INVOLVING BRANCH ,THE SCOPE OF ENHANCEMENT IN TECHNOLOGY IS IMMENSE . </a:t>
            </a:r>
            <a:br>
              <a:rPr lang="en-US" dirty="0" smtClean="0">
                <a:solidFill>
                  <a:srgbClr val="002060"/>
                </a:solidFill>
              </a:rPr>
            </a:br>
            <a:r>
              <a:rPr lang="en-US" dirty="0" smtClean="0">
                <a:solidFill>
                  <a:srgbClr val="002060"/>
                </a:solidFill>
              </a:rPr>
              <a:t>NO ETHICAL HACKER CAN ENSURE THE SYSTEM SECURITY BY USING THE SAME TECHNIQUES REPEATEDLY .</a:t>
            </a:r>
            <a:br>
              <a:rPr lang="en-US" dirty="0" smtClean="0">
                <a:solidFill>
                  <a:srgbClr val="002060"/>
                </a:solidFill>
              </a:rPr>
            </a:br>
            <a:r>
              <a:rPr lang="en-US" dirty="0" smtClean="0">
                <a:solidFill>
                  <a:srgbClr val="002060"/>
                </a:solidFill>
              </a:rPr>
              <a:t> HOW WOULD HAVE TO IMPROVE , DEVELOP AND EXPLORE NEW AVENUES REPEATEDLY. </a:t>
            </a:r>
            <a:br>
              <a:rPr lang="en-US" dirty="0" smtClean="0">
                <a:solidFill>
                  <a:srgbClr val="002060"/>
                </a:solidFill>
              </a:rPr>
            </a:br>
            <a:r>
              <a:rPr lang="en-US" dirty="0" smtClean="0">
                <a:solidFill>
                  <a:srgbClr val="002060"/>
                </a:solidFill>
              </a:rPr>
              <a:t> MORE ENHANCED SOFTWARE’S SHOULD BE USED FOR OPTIMUM PROTECTION . TOOLS USED, NEED TO BE UPDATED REGULARLY AND MORE EFFICIENT ONES NEED TO BE DEVELOPED  </a:t>
            </a:r>
            <a:endParaRPr lang="en-US" dirty="0">
              <a:solidFill>
                <a:srgbClr val="002060"/>
              </a:solidFill>
            </a:endParaRPr>
          </a:p>
        </p:txBody>
      </p:sp>
    </p:spTree>
    <p:extLst>
      <p:ext uri="{BB962C8B-B14F-4D97-AF65-F5344CB8AC3E}">
        <p14:creationId xmlns:p14="http://schemas.microsoft.com/office/powerpoint/2010/main" val="12143160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249251"/>
          </a:xfrm>
        </p:spPr>
        <p:txBody>
          <a:bodyPr/>
          <a:lstStyle/>
          <a:p>
            <a:r>
              <a:rPr lang="en-US" sz="8000" dirty="0" smtClean="0">
                <a:solidFill>
                  <a:srgbClr val="C00000"/>
                </a:solidFill>
              </a:rPr>
              <a:t>References</a:t>
            </a:r>
            <a:r>
              <a:rPr lang="en-US" dirty="0" smtClean="0"/>
              <a:t> </a:t>
            </a:r>
            <a:endParaRPr lang="en-US" dirty="0"/>
          </a:p>
        </p:txBody>
      </p:sp>
      <p:sp>
        <p:nvSpPr>
          <p:cNvPr id="3" name="Content Placeholder 2"/>
          <p:cNvSpPr>
            <a:spLocks noGrp="1"/>
          </p:cNvSpPr>
          <p:nvPr>
            <p:ph idx="1"/>
          </p:nvPr>
        </p:nvSpPr>
        <p:spPr>
          <a:xfrm>
            <a:off x="605307" y="1081824"/>
            <a:ext cx="10947041" cy="5776175"/>
          </a:xfrm>
        </p:spPr>
        <p:txBody>
          <a:bodyPr>
            <a:normAutofit fontScale="55000" lnSpcReduction="20000"/>
          </a:bodyPr>
          <a:lstStyle/>
          <a:p>
            <a:r>
              <a:rPr lang="en-US" sz="2200" u="sng" dirty="0">
                <a:solidFill>
                  <a:srgbClr val="002060"/>
                </a:solidFill>
              </a:rPr>
              <a:t>Twincling Society Ethical Hacking </a:t>
            </a:r>
            <a:r>
              <a:rPr lang="en-US" sz="2200" u="sng" dirty="0" smtClean="0">
                <a:solidFill>
                  <a:srgbClr val="002060"/>
                </a:solidFill>
              </a:rPr>
              <a:t>Seminar</a:t>
            </a:r>
            <a:r>
              <a:rPr lang="en-US" sz="2200" dirty="0">
                <a:solidFill>
                  <a:srgbClr val="002060"/>
                </a:solidFill>
              </a:rPr>
              <a:t> </a:t>
            </a:r>
            <a:r>
              <a:rPr lang="en-US" sz="2200" dirty="0" smtClean="0">
                <a:solidFill>
                  <a:srgbClr val="002060"/>
                </a:solidFill>
              </a:rPr>
              <a:t> </a:t>
            </a:r>
            <a:r>
              <a:rPr lang="en-US" sz="2200" dirty="0">
                <a:solidFill>
                  <a:srgbClr val="002060"/>
                </a:solidFill>
              </a:rPr>
              <a:t>2006. Retrieved March 27, 2009.</a:t>
            </a:r>
            <a:br>
              <a:rPr lang="en-US" sz="2200" dirty="0">
                <a:solidFill>
                  <a:srgbClr val="002060"/>
                </a:solidFill>
              </a:rPr>
            </a:br>
            <a:endParaRPr lang="en-US" sz="2200" dirty="0">
              <a:solidFill>
                <a:srgbClr val="002060"/>
              </a:solidFill>
            </a:endParaRPr>
          </a:p>
          <a:p>
            <a:r>
              <a:rPr lang="en-US" sz="2200" dirty="0">
                <a:solidFill>
                  <a:srgbClr val="002060"/>
                </a:solidFill>
              </a:rPr>
              <a:t>Krutz, Ronald L. and Vines, Russell Dean. The CEH Prep Guide: The Comprehensive Guide to Certified Ethical </a:t>
            </a:r>
            <a:r>
              <a:rPr lang="en-US" sz="2200" dirty="0" smtClean="0">
                <a:solidFill>
                  <a:srgbClr val="002060"/>
                </a:solidFill>
              </a:rPr>
              <a:t>Hacking</a:t>
            </a:r>
            <a:r>
              <a:rPr lang="en-US" sz="2200" dirty="0">
                <a:solidFill>
                  <a:srgbClr val="002060"/>
                </a:solidFill>
              </a:rPr>
              <a:t> </a:t>
            </a:r>
            <a:r>
              <a:rPr lang="en-US" sz="2200" dirty="0" smtClean="0">
                <a:solidFill>
                  <a:srgbClr val="002060"/>
                </a:solidFill>
              </a:rPr>
              <a:t>.Published </a:t>
            </a:r>
            <a:r>
              <a:rPr lang="en-US" sz="2200" dirty="0">
                <a:solidFill>
                  <a:srgbClr val="002060"/>
                </a:solidFill>
              </a:rPr>
              <a:t>by John Wiley and Sons, 2007.</a:t>
            </a:r>
            <a:br>
              <a:rPr lang="en-US" sz="2200" dirty="0">
                <a:solidFill>
                  <a:srgbClr val="002060"/>
                </a:solidFill>
              </a:rPr>
            </a:br>
            <a:endParaRPr lang="en-US" sz="2200" dirty="0">
              <a:solidFill>
                <a:srgbClr val="002060"/>
              </a:solidFill>
            </a:endParaRPr>
          </a:p>
          <a:p>
            <a:r>
              <a:rPr lang="en-US" sz="2200" dirty="0">
                <a:solidFill>
                  <a:srgbClr val="002060"/>
                </a:solidFill>
              </a:rPr>
              <a:t>Palmer, Charles. Ethical </a:t>
            </a:r>
            <a:r>
              <a:rPr lang="en-US" sz="2200" dirty="0" smtClean="0">
                <a:solidFill>
                  <a:srgbClr val="002060"/>
                </a:solidFill>
              </a:rPr>
              <a:t>Hacking</a:t>
            </a:r>
            <a:r>
              <a:rPr lang="en-US" sz="2200" dirty="0">
                <a:solidFill>
                  <a:srgbClr val="002060"/>
                </a:solidFill>
              </a:rPr>
              <a:t> </a:t>
            </a:r>
            <a:r>
              <a:rPr lang="en-US" sz="2200" dirty="0" smtClean="0">
                <a:solidFill>
                  <a:srgbClr val="002060"/>
                </a:solidFill>
              </a:rPr>
              <a:t>Published </a:t>
            </a:r>
            <a:r>
              <a:rPr lang="en-US" sz="2200" dirty="0">
                <a:solidFill>
                  <a:srgbClr val="002060"/>
                </a:solidFill>
              </a:rPr>
              <a:t>in IBM Systems Journal: End-to-End Security, Volume 40, Issue 3, 2001.</a:t>
            </a:r>
            <a:br>
              <a:rPr lang="en-US" sz="2200" dirty="0">
                <a:solidFill>
                  <a:srgbClr val="002060"/>
                </a:solidFill>
              </a:rPr>
            </a:br>
            <a:endParaRPr lang="en-US" sz="2200" dirty="0">
              <a:solidFill>
                <a:srgbClr val="002060"/>
              </a:solidFill>
            </a:endParaRPr>
          </a:p>
          <a:p>
            <a:r>
              <a:rPr lang="en-US" sz="2200" dirty="0">
                <a:solidFill>
                  <a:srgbClr val="002060"/>
                </a:solidFill>
              </a:rPr>
              <a:t>Tiller, James S. The ethical hack: a framework for business value penetration </a:t>
            </a:r>
            <a:r>
              <a:rPr lang="en-US" sz="2200" dirty="0" smtClean="0">
                <a:solidFill>
                  <a:srgbClr val="002060"/>
                </a:solidFill>
              </a:rPr>
              <a:t>testing</a:t>
            </a:r>
            <a:r>
              <a:rPr lang="en-US" sz="2200" dirty="0">
                <a:solidFill>
                  <a:srgbClr val="002060"/>
                </a:solidFill>
              </a:rPr>
              <a:t> </a:t>
            </a:r>
            <a:r>
              <a:rPr lang="en-US" sz="2200" dirty="0" smtClean="0">
                <a:solidFill>
                  <a:srgbClr val="002060"/>
                </a:solidFill>
              </a:rPr>
              <a:t>Published </a:t>
            </a:r>
            <a:r>
              <a:rPr lang="en-US" sz="2200" dirty="0">
                <a:solidFill>
                  <a:srgbClr val="002060"/>
                </a:solidFill>
              </a:rPr>
              <a:t>by CRC Press, 2005.</a:t>
            </a:r>
            <a:br>
              <a:rPr lang="en-US" sz="2200" dirty="0">
                <a:solidFill>
                  <a:srgbClr val="002060"/>
                </a:solidFill>
              </a:rPr>
            </a:br>
            <a:endParaRPr lang="en-US" sz="2200" dirty="0">
              <a:solidFill>
                <a:srgbClr val="002060"/>
              </a:solidFill>
            </a:endParaRPr>
          </a:p>
          <a:p>
            <a:r>
              <a:rPr lang="en-US" sz="2200" dirty="0">
                <a:solidFill>
                  <a:srgbClr val="002060"/>
                </a:solidFill>
              </a:rPr>
              <a:t>Beaver, Kevin and McClure, Stuart. Hacking For </a:t>
            </a:r>
            <a:r>
              <a:rPr lang="en-US" sz="2200" dirty="0" smtClean="0">
                <a:solidFill>
                  <a:srgbClr val="002060"/>
                </a:solidFill>
              </a:rPr>
              <a:t>Dummies</a:t>
            </a:r>
            <a:r>
              <a:rPr lang="en-US" sz="2200" dirty="0">
                <a:solidFill>
                  <a:srgbClr val="002060"/>
                </a:solidFill>
              </a:rPr>
              <a:t> </a:t>
            </a:r>
            <a:r>
              <a:rPr lang="en-US" sz="2200" dirty="0" smtClean="0">
                <a:solidFill>
                  <a:srgbClr val="002060"/>
                </a:solidFill>
              </a:rPr>
              <a:t>Published </a:t>
            </a:r>
            <a:r>
              <a:rPr lang="en-US" sz="2200" dirty="0">
                <a:solidFill>
                  <a:srgbClr val="002060"/>
                </a:solidFill>
              </a:rPr>
              <a:t>by For Dummies, 2006.</a:t>
            </a:r>
            <a:br>
              <a:rPr lang="en-US" sz="2200" dirty="0">
                <a:solidFill>
                  <a:srgbClr val="002060"/>
                </a:solidFill>
              </a:rPr>
            </a:br>
            <a:endParaRPr lang="en-US" sz="2200" dirty="0">
              <a:solidFill>
                <a:srgbClr val="002060"/>
              </a:solidFill>
            </a:endParaRPr>
          </a:p>
          <a:p>
            <a:r>
              <a:rPr lang="en-US" sz="2200" dirty="0">
                <a:solidFill>
                  <a:srgbClr val="002060"/>
                </a:solidFill>
              </a:rPr>
              <a:t>Certified Ethical Hacking </a:t>
            </a:r>
            <a:r>
              <a:rPr lang="en-US" sz="2200" dirty="0" smtClean="0">
                <a:solidFill>
                  <a:srgbClr val="002060"/>
                </a:solidFill>
              </a:rPr>
              <a:t>Seminar</a:t>
            </a:r>
            <a:r>
              <a:rPr lang="en-US" sz="2200" dirty="0">
                <a:solidFill>
                  <a:srgbClr val="002060"/>
                </a:solidFill>
              </a:rPr>
              <a:t> </a:t>
            </a:r>
            <a:r>
              <a:rPr lang="en-US" sz="2200" dirty="0" smtClean="0">
                <a:solidFill>
                  <a:srgbClr val="002060"/>
                </a:solidFill>
              </a:rPr>
              <a:t>2006</a:t>
            </a:r>
            <a:r>
              <a:rPr lang="en-US" sz="2200" dirty="0">
                <a:solidFill>
                  <a:srgbClr val="002060"/>
                </a:solidFill>
              </a:rPr>
              <a:t>. Retrieved March 27, 2009.</a:t>
            </a:r>
            <a:br>
              <a:rPr lang="en-US" sz="2200" dirty="0">
                <a:solidFill>
                  <a:srgbClr val="002060"/>
                </a:solidFill>
              </a:rPr>
            </a:br>
            <a:endParaRPr lang="en-US" sz="2200" dirty="0">
              <a:solidFill>
                <a:srgbClr val="002060"/>
              </a:solidFill>
            </a:endParaRPr>
          </a:p>
          <a:p>
            <a:r>
              <a:rPr lang="en-US" sz="2200" dirty="0">
                <a:solidFill>
                  <a:srgbClr val="002060"/>
                </a:solidFill>
              </a:rPr>
              <a:t>Certified Ethical Hacking </a:t>
            </a:r>
            <a:r>
              <a:rPr lang="en-US" sz="2200" dirty="0" smtClean="0">
                <a:solidFill>
                  <a:srgbClr val="002060"/>
                </a:solidFill>
              </a:rPr>
              <a:t>EC-Council</a:t>
            </a:r>
            <a:r>
              <a:rPr lang="en-US" sz="2200" dirty="0">
                <a:solidFill>
                  <a:srgbClr val="002060"/>
                </a:solidFill>
              </a:rPr>
              <a:t> </a:t>
            </a:r>
            <a:r>
              <a:rPr lang="en-US" sz="2200" dirty="0" smtClean="0">
                <a:solidFill>
                  <a:srgbClr val="002060"/>
                </a:solidFill>
              </a:rPr>
              <a:t>2009</a:t>
            </a:r>
            <a:r>
              <a:rPr lang="en-US" sz="2200" dirty="0">
                <a:solidFill>
                  <a:srgbClr val="002060"/>
                </a:solidFill>
              </a:rPr>
              <a:t>. Retrieved March 27, 2009.</a:t>
            </a:r>
            <a:br>
              <a:rPr lang="en-US" sz="2200" dirty="0">
                <a:solidFill>
                  <a:srgbClr val="002060"/>
                </a:solidFill>
              </a:rPr>
            </a:br>
            <a:endParaRPr lang="en-US" sz="2200" dirty="0">
              <a:solidFill>
                <a:srgbClr val="002060"/>
              </a:solidFill>
            </a:endParaRPr>
          </a:p>
          <a:p>
            <a:r>
              <a:rPr lang="en-US" sz="2200" dirty="0">
                <a:solidFill>
                  <a:srgbClr val="002060"/>
                </a:solidFill>
              </a:rPr>
              <a:t>Certified Ethical Hacking </a:t>
            </a:r>
            <a:r>
              <a:rPr lang="en-US" sz="2200" dirty="0" smtClean="0">
                <a:solidFill>
                  <a:srgbClr val="002060"/>
                </a:solidFill>
              </a:rPr>
              <a:t>EC-Council</a:t>
            </a:r>
            <a:r>
              <a:rPr lang="en-US" sz="2200" dirty="0">
                <a:solidFill>
                  <a:srgbClr val="002060"/>
                </a:solidFill>
              </a:rPr>
              <a:t> </a:t>
            </a:r>
            <a:r>
              <a:rPr lang="en-US" sz="2200" dirty="0" smtClean="0">
                <a:solidFill>
                  <a:srgbClr val="002060"/>
                </a:solidFill>
              </a:rPr>
              <a:t>2009</a:t>
            </a:r>
            <a:r>
              <a:rPr lang="en-US" sz="2200" dirty="0">
                <a:solidFill>
                  <a:srgbClr val="002060"/>
                </a:solidFill>
              </a:rPr>
              <a:t>. Retrieved March 27, 2009.</a:t>
            </a:r>
            <a:br>
              <a:rPr lang="en-US" sz="2200" dirty="0">
                <a:solidFill>
                  <a:srgbClr val="002060"/>
                </a:solidFill>
              </a:rPr>
            </a:br>
            <a:endParaRPr lang="en-US" sz="2200" dirty="0">
              <a:solidFill>
                <a:srgbClr val="002060"/>
              </a:solidFill>
            </a:endParaRPr>
          </a:p>
          <a:p>
            <a:r>
              <a:rPr lang="en-US" sz="2200" dirty="0">
                <a:solidFill>
                  <a:srgbClr val="002060"/>
                </a:solidFill>
              </a:rPr>
              <a:t>Ethical Hacking </a:t>
            </a:r>
            <a:r>
              <a:rPr lang="en-US" sz="2200" dirty="0" smtClean="0">
                <a:solidFill>
                  <a:srgbClr val="002060"/>
                </a:solidFill>
              </a:rPr>
              <a:t>Jobs</a:t>
            </a:r>
            <a:r>
              <a:rPr lang="en-US" sz="2200" dirty="0">
                <a:solidFill>
                  <a:srgbClr val="002060"/>
                </a:solidFill>
              </a:rPr>
              <a:t> </a:t>
            </a:r>
            <a:r>
              <a:rPr lang="en-US" sz="2200" dirty="0" smtClean="0">
                <a:solidFill>
                  <a:srgbClr val="002060"/>
                </a:solidFill>
              </a:rPr>
              <a:t> </a:t>
            </a:r>
            <a:r>
              <a:rPr lang="en-US" sz="2200" dirty="0">
                <a:solidFill>
                  <a:srgbClr val="002060"/>
                </a:solidFill>
              </a:rPr>
              <a:t>2009. Retrieved March 27, 2009.</a:t>
            </a:r>
            <a:br>
              <a:rPr lang="en-US" sz="2200" dirty="0">
                <a:solidFill>
                  <a:srgbClr val="002060"/>
                </a:solidFill>
              </a:rPr>
            </a:br>
            <a:endParaRPr lang="en-US" sz="2200" dirty="0">
              <a:solidFill>
                <a:srgbClr val="002060"/>
              </a:solidFill>
            </a:endParaRPr>
          </a:p>
          <a:p>
            <a:r>
              <a:rPr lang="en-US" sz="2200" dirty="0" err="1">
                <a:solidFill>
                  <a:srgbClr val="002060"/>
                </a:solidFill>
              </a:rPr>
              <a:t>D'Ottavi</a:t>
            </a:r>
            <a:r>
              <a:rPr lang="en-US" sz="2200" dirty="0">
                <a:solidFill>
                  <a:srgbClr val="002060"/>
                </a:solidFill>
              </a:rPr>
              <a:t>, Alberto. Interview: Father of the </a:t>
            </a:r>
            <a:r>
              <a:rPr lang="en-US" sz="2200" dirty="0" smtClean="0">
                <a:solidFill>
                  <a:srgbClr val="002060"/>
                </a:solidFill>
              </a:rPr>
              <a:t>Firewall</a:t>
            </a:r>
            <a:r>
              <a:rPr lang="en-US" sz="2200" dirty="0">
                <a:solidFill>
                  <a:srgbClr val="002060"/>
                </a:solidFill>
              </a:rPr>
              <a:t> </a:t>
            </a:r>
            <a:r>
              <a:rPr lang="en-US" sz="2200" dirty="0" smtClean="0">
                <a:solidFill>
                  <a:srgbClr val="002060"/>
                </a:solidFill>
              </a:rPr>
              <a:t> </a:t>
            </a:r>
            <a:r>
              <a:rPr lang="en-US" sz="2200" dirty="0">
                <a:solidFill>
                  <a:srgbClr val="002060"/>
                </a:solidFill>
              </a:rPr>
              <a:t>2003. Retrieved March 27, 2009.</a:t>
            </a:r>
            <a:br>
              <a:rPr lang="en-US" sz="2200" dirty="0">
                <a:solidFill>
                  <a:srgbClr val="002060"/>
                </a:solidFill>
              </a:rPr>
            </a:br>
            <a:endParaRPr lang="en-US" sz="2200" dirty="0">
              <a:solidFill>
                <a:srgbClr val="002060"/>
              </a:solidFill>
            </a:endParaRPr>
          </a:p>
          <a:p>
            <a:r>
              <a:rPr lang="en-US" sz="2200" dirty="0">
                <a:solidFill>
                  <a:srgbClr val="002060"/>
                </a:solidFill>
              </a:rPr>
              <a:t>Livermore, Jeffery. What Are Faculty Attitudes Toward Teaching Ethical Hacking and Penetration </a:t>
            </a:r>
            <a:r>
              <a:rPr lang="en-US" sz="2200" dirty="0" smtClean="0">
                <a:solidFill>
                  <a:srgbClr val="002060"/>
                </a:solidFill>
              </a:rPr>
              <a:t>Testing?</a:t>
            </a:r>
            <a:r>
              <a:rPr lang="en-US" sz="2200" dirty="0">
                <a:solidFill>
                  <a:srgbClr val="002060"/>
                </a:solidFill>
              </a:rPr>
              <a:t> </a:t>
            </a:r>
            <a:r>
              <a:rPr lang="en-US" sz="2200" dirty="0" smtClean="0">
                <a:solidFill>
                  <a:srgbClr val="002060"/>
                </a:solidFill>
              </a:rPr>
              <a:t>Published </a:t>
            </a:r>
            <a:r>
              <a:rPr lang="en-US" sz="2200" dirty="0">
                <a:solidFill>
                  <a:srgbClr val="002060"/>
                </a:solidFill>
              </a:rPr>
              <a:t>in Proceedings of the 11th Colloquium for Information Systems Security Education, 2007</a:t>
            </a:r>
          </a:p>
          <a:p>
            <a:endParaRPr lang="en-US" dirty="0"/>
          </a:p>
        </p:txBody>
      </p:sp>
    </p:spTree>
    <p:extLst>
      <p:ext uri="{BB962C8B-B14F-4D97-AF65-F5344CB8AC3E}">
        <p14:creationId xmlns:p14="http://schemas.microsoft.com/office/powerpoint/2010/main" val="25270138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1291325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564</TotalTime>
  <Words>1467</Words>
  <Application>Microsoft Office PowerPoint</Application>
  <PresentationFormat>Widescreen</PresentationFormat>
  <Paragraphs>140</Paragraphs>
  <Slides>37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Agency FB</vt:lpstr>
      <vt:lpstr>Aharoni</vt:lpstr>
      <vt:lpstr>Aldhabi</vt:lpstr>
      <vt:lpstr>Algerian</vt:lpstr>
      <vt:lpstr>Angsana New</vt:lpstr>
      <vt:lpstr>Arial</vt:lpstr>
      <vt:lpstr>Courier New</vt:lpstr>
      <vt:lpstr>Trebuchet MS</vt:lpstr>
      <vt:lpstr>Tw Cen MT</vt:lpstr>
      <vt:lpstr>Wingdings</vt:lpstr>
      <vt:lpstr>Circuit</vt:lpstr>
      <vt:lpstr>ETHICAL HACKING </vt:lpstr>
      <vt:lpstr>OVERVIEW OF HACKING : </vt:lpstr>
      <vt:lpstr>What is ETHICAL HACKING ? </vt:lpstr>
      <vt:lpstr>TYPES </vt:lpstr>
      <vt:lpstr>DESCRIPTION about the types of hackers : </vt:lpstr>
      <vt:lpstr>UNEMPLOYED ADULT HACKERS :</vt:lpstr>
      <vt:lpstr>TYPES OF HACKING </vt:lpstr>
      <vt:lpstr>Description : </vt:lpstr>
      <vt:lpstr>ETHICAL HACKERS ARE NOT CRIMINAL HACKERS </vt:lpstr>
      <vt:lpstr>BUT HOW ????</vt:lpstr>
      <vt:lpstr>COMPLETELY TRUSTWORTHY </vt:lpstr>
      <vt:lpstr>DIFFERENCE B/W </vt:lpstr>
      <vt:lpstr>MODES OF ETHICAL HACKING </vt:lpstr>
      <vt:lpstr>PowerPoint Presentation</vt:lpstr>
      <vt:lpstr>THE ETHICAL HACKING PROCESS </vt:lpstr>
      <vt:lpstr>Ethical hackers must follow a strict scientific process in order to obtain useable and legal results</vt:lpstr>
      <vt:lpstr>1- PLANNING : </vt:lpstr>
      <vt:lpstr>2- Reconnaissance </vt:lpstr>
      <vt:lpstr>3- Enumeration </vt:lpstr>
      <vt:lpstr>4- Vulnerability Analysis </vt:lpstr>
      <vt:lpstr>5-Exploitation </vt:lpstr>
      <vt:lpstr>6- Deliverables </vt:lpstr>
      <vt:lpstr>ETHICAL HACKING SKILLS AND KNOWLEDGE </vt:lpstr>
      <vt:lpstr>Required skills </vt:lpstr>
      <vt:lpstr>PowerPoint Presentation</vt:lpstr>
      <vt:lpstr>Salaries and Trends </vt:lpstr>
      <vt:lpstr>A survey done by the International Data Corp (IDC) says that the worldwide demand for information security professionals stands at 60,000 and companies such as Wipro, Infosys, IBM, Airtel and Reliance are always looking for good ethical hackers</vt:lpstr>
      <vt:lpstr>In the United Kingdom, the following trends have been seen for demand and salaries of ethical hackers.</vt:lpstr>
      <vt:lpstr>Although there are benefits to teaching and employing ethical hacking techniques, there are problems that lead some to question the practice. It is feared that schools may be teaching dangerous skills to students that are unable to make correct decisions on how to use them. </vt:lpstr>
      <vt:lpstr>Marcus J. Ranum, a computer security professional has openly objected to the term ethical hacker, saying   "There's no such thing as an 'ethical hacker' - that's like saying 'ethical rapist' - it's a contradiction in terms" [9].   A significant part of the controversy surrounding ethical hacking arises from the older definition of hacker and its association with the idea of a computer criminal.   However, some organizations do not seem to mind the association and have had a significant increase in careers where CEH and other ethical hacking certifications are preferred or required. </vt:lpstr>
      <vt:lpstr>1. Ethical Issues </vt:lpstr>
      <vt:lpstr>2. Legal Liability </vt:lpstr>
      <vt:lpstr>Forcing Services and Information on Organizations and Society </vt:lpstr>
      <vt:lpstr>FUTURE SCOPE OF ETHICAL HACKING </vt:lpstr>
      <vt:lpstr>AS IT IS AN INVOLVING BRANCH ,THE SCOPE OF ENHANCEMENT IN TECHNOLOGY IS IMMENSE .  NO ETHICAL HACKER CAN ENSURE THE SYSTEM SECURITY BY USING THE SAME TECHNIQUES REPEATEDLY .  HOW WOULD HAVE TO IMPROVE , DEVELOP AND EXPLORE NEW AVENUES REPEATEDLY.   MORE ENHANCED SOFTWARE’S SHOULD BE USED FOR OPTIMUM PROTECTION . TOOLS USED, NEED TO BE UPDATED REGULARLY AND MORE EFFICIENT ONES NEED TO BE DEVELOPED  </vt:lpstr>
      <vt:lpstr>References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HACKING </dc:title>
  <dc:creator>Home</dc:creator>
  <cp:lastModifiedBy>Nadeem</cp:lastModifiedBy>
  <cp:revision>101</cp:revision>
  <dcterms:created xsi:type="dcterms:W3CDTF">2017-04-22T07:02:42Z</dcterms:created>
  <dcterms:modified xsi:type="dcterms:W3CDTF">2021-05-20T07:44:19Z</dcterms:modified>
</cp:coreProperties>
</file>
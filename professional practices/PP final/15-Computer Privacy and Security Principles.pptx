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8" r:id="rId3"/>
    <p:sldId id="311" r:id="rId4"/>
    <p:sldId id="310" r:id="rId5"/>
    <p:sldId id="312" r:id="rId6"/>
    <p:sldId id="317" r:id="rId7"/>
    <p:sldId id="318" r:id="rId8"/>
    <p:sldId id="326" r:id="rId9"/>
    <p:sldId id="327" r:id="rId10"/>
    <p:sldId id="328" r:id="rId11"/>
    <p:sldId id="315" r:id="rId12"/>
    <p:sldId id="319" r:id="rId13"/>
    <p:sldId id="320" r:id="rId14"/>
    <p:sldId id="324" r:id="rId15"/>
    <p:sldId id="325" r:id="rId16"/>
    <p:sldId id="316" r:id="rId17"/>
    <p:sldId id="323" r:id="rId18"/>
    <p:sldId id="321" r:id="rId19"/>
    <p:sldId id="322" r:id="rId20"/>
    <p:sldId id="313" r:id="rId21"/>
    <p:sldId id="331" r:id="rId22"/>
    <p:sldId id="341" r:id="rId23"/>
    <p:sldId id="340" r:id="rId24"/>
    <p:sldId id="314" r:id="rId25"/>
    <p:sldId id="329" r:id="rId26"/>
    <p:sldId id="333" r:id="rId27"/>
    <p:sldId id="334" r:id="rId28"/>
    <p:sldId id="335" r:id="rId29"/>
    <p:sldId id="336" r:id="rId30"/>
    <p:sldId id="337" r:id="rId31"/>
    <p:sldId id="330" r:id="rId32"/>
    <p:sldId id="338" r:id="rId33"/>
    <p:sldId id="33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5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6" autoAdjust="0"/>
    <p:restoredTop sz="76122" autoAdjust="0"/>
  </p:normalViewPr>
  <p:slideViewPr>
    <p:cSldViewPr snapToGrid="0">
      <p:cViewPr varScale="1">
        <p:scale>
          <a:sx n="60" d="100"/>
          <a:sy n="60" d="100"/>
        </p:scale>
        <p:origin x="7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8DD869-9A77-4F3F-9ACA-B7E0D0287B5D}" type="doc">
      <dgm:prSet loTypeId="urn:microsoft.com/office/officeart/2005/8/layout/vList2" loCatId="list" qsTypeId="urn:microsoft.com/office/officeart/2005/8/quickstyle/3d5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F772C816-347A-419B-8464-A446E954A8C5}">
      <dgm:prSet phldrT="[Text]"/>
      <dgm:spPr/>
      <dgm:t>
        <a:bodyPr/>
        <a:lstStyle/>
        <a:p>
          <a:r>
            <a:rPr lang="en-US" dirty="0" smtClean="0"/>
            <a:t>Confidentiality</a:t>
          </a:r>
          <a:endParaRPr lang="en-US" dirty="0"/>
        </a:p>
      </dgm:t>
    </dgm:pt>
    <dgm:pt modelId="{0A111EDB-0E6A-4C2B-8D8D-FC54C84DDFD6}" type="parTrans" cxnId="{EC6BFAA2-DEDA-48CB-88A6-BA07134FF362}">
      <dgm:prSet/>
      <dgm:spPr/>
      <dgm:t>
        <a:bodyPr/>
        <a:lstStyle/>
        <a:p>
          <a:endParaRPr lang="en-US"/>
        </a:p>
      </dgm:t>
    </dgm:pt>
    <dgm:pt modelId="{DDF3B23A-7C5B-42AD-BAE5-759EBA6D0C05}" type="sibTrans" cxnId="{EC6BFAA2-DEDA-48CB-88A6-BA07134FF362}">
      <dgm:prSet/>
      <dgm:spPr/>
      <dgm:t>
        <a:bodyPr/>
        <a:lstStyle/>
        <a:p>
          <a:endParaRPr lang="en-US"/>
        </a:p>
      </dgm:t>
    </dgm:pt>
    <dgm:pt modelId="{BF3B721D-7CAB-49DB-BF26-A7589B49166D}">
      <dgm:prSet phldrT="[Text]"/>
      <dgm:spPr/>
      <dgm:t>
        <a:bodyPr/>
        <a:lstStyle/>
        <a:p>
          <a:r>
            <a:rPr lang="en-US" dirty="0" smtClean="0"/>
            <a:t>Integrity</a:t>
          </a:r>
          <a:endParaRPr lang="en-US" dirty="0"/>
        </a:p>
      </dgm:t>
    </dgm:pt>
    <dgm:pt modelId="{9C65C730-E845-4519-9BDA-56ED7E8E33B5}" type="parTrans" cxnId="{AC02350E-FB95-40DD-8E8C-FAE5B79B6089}">
      <dgm:prSet/>
      <dgm:spPr/>
      <dgm:t>
        <a:bodyPr/>
        <a:lstStyle/>
        <a:p>
          <a:endParaRPr lang="en-US"/>
        </a:p>
      </dgm:t>
    </dgm:pt>
    <dgm:pt modelId="{16DA1A1D-FB13-47FD-8200-995744B6C651}" type="sibTrans" cxnId="{AC02350E-FB95-40DD-8E8C-FAE5B79B6089}">
      <dgm:prSet/>
      <dgm:spPr/>
      <dgm:t>
        <a:bodyPr/>
        <a:lstStyle/>
        <a:p>
          <a:endParaRPr lang="en-US"/>
        </a:p>
      </dgm:t>
    </dgm:pt>
    <dgm:pt modelId="{C5DA1774-24A8-4E7D-9A38-1EDDE24EF39C}">
      <dgm:prSet phldrT="[Text]"/>
      <dgm:spPr/>
      <dgm:t>
        <a:bodyPr/>
        <a:lstStyle/>
        <a:p>
          <a:r>
            <a:rPr lang="en-US" dirty="0" smtClean="0"/>
            <a:t>Availability</a:t>
          </a:r>
          <a:endParaRPr lang="en-US" dirty="0"/>
        </a:p>
      </dgm:t>
    </dgm:pt>
    <dgm:pt modelId="{73BDE3B8-928F-4198-9C0B-09F3731B7AB2}" type="parTrans" cxnId="{872B4166-D685-4062-B7F4-538A0DE83251}">
      <dgm:prSet/>
      <dgm:spPr/>
      <dgm:t>
        <a:bodyPr/>
        <a:lstStyle/>
        <a:p>
          <a:endParaRPr lang="en-US"/>
        </a:p>
      </dgm:t>
    </dgm:pt>
    <dgm:pt modelId="{12BDD647-695E-4EFD-B0F8-AA1460C04578}" type="sibTrans" cxnId="{872B4166-D685-4062-B7F4-538A0DE83251}">
      <dgm:prSet/>
      <dgm:spPr/>
      <dgm:t>
        <a:bodyPr/>
        <a:lstStyle/>
        <a:p>
          <a:endParaRPr lang="en-US"/>
        </a:p>
      </dgm:t>
    </dgm:pt>
    <dgm:pt modelId="{B894A4CB-2479-4F4A-AC8F-9750EAD2CCF9}" type="pres">
      <dgm:prSet presAssocID="{E28DD869-9A77-4F3F-9ACA-B7E0D0287B5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533AC6E-8FF2-4953-AE94-6869B2271AA1}" type="pres">
      <dgm:prSet presAssocID="{F772C816-347A-419B-8464-A446E954A8C5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A0858CA-784A-48BD-9A63-86C30541042D}" type="pres">
      <dgm:prSet presAssocID="{DDF3B23A-7C5B-42AD-BAE5-759EBA6D0C05}" presName="spacer" presStyleCnt="0"/>
      <dgm:spPr/>
    </dgm:pt>
    <dgm:pt modelId="{168C5FEC-2F5C-418A-8284-155E0C586EA0}" type="pres">
      <dgm:prSet presAssocID="{BF3B721D-7CAB-49DB-BF26-A7589B49166D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783EB25-4CBC-4C54-9E44-35FCD051CE81}" type="pres">
      <dgm:prSet presAssocID="{16DA1A1D-FB13-47FD-8200-995744B6C651}" presName="spacer" presStyleCnt="0"/>
      <dgm:spPr/>
    </dgm:pt>
    <dgm:pt modelId="{63C5AC14-C844-405E-BD97-DD82337EE919}" type="pres">
      <dgm:prSet presAssocID="{C5DA1774-24A8-4E7D-9A38-1EDDE24EF39C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C3340FB-1785-402E-86B8-E1C95B13F9DC}" type="presOf" srcId="{F772C816-347A-419B-8464-A446E954A8C5}" destId="{8533AC6E-8FF2-4953-AE94-6869B2271AA1}" srcOrd="0" destOrd="0" presId="urn:microsoft.com/office/officeart/2005/8/layout/vList2"/>
    <dgm:cxn modelId="{872B4166-D685-4062-B7F4-538A0DE83251}" srcId="{E28DD869-9A77-4F3F-9ACA-B7E0D0287B5D}" destId="{C5DA1774-24A8-4E7D-9A38-1EDDE24EF39C}" srcOrd="2" destOrd="0" parTransId="{73BDE3B8-928F-4198-9C0B-09F3731B7AB2}" sibTransId="{12BDD647-695E-4EFD-B0F8-AA1460C04578}"/>
    <dgm:cxn modelId="{EC6BFAA2-DEDA-48CB-88A6-BA07134FF362}" srcId="{E28DD869-9A77-4F3F-9ACA-B7E0D0287B5D}" destId="{F772C816-347A-419B-8464-A446E954A8C5}" srcOrd="0" destOrd="0" parTransId="{0A111EDB-0E6A-4C2B-8D8D-FC54C84DDFD6}" sibTransId="{DDF3B23A-7C5B-42AD-BAE5-759EBA6D0C05}"/>
    <dgm:cxn modelId="{4D69ACFA-91E1-4AF2-AC81-AE7C9CFE086B}" type="presOf" srcId="{BF3B721D-7CAB-49DB-BF26-A7589B49166D}" destId="{168C5FEC-2F5C-418A-8284-155E0C586EA0}" srcOrd="0" destOrd="0" presId="urn:microsoft.com/office/officeart/2005/8/layout/vList2"/>
    <dgm:cxn modelId="{CD660351-B82D-4E55-B3EC-B02378B25DB1}" type="presOf" srcId="{E28DD869-9A77-4F3F-9ACA-B7E0D0287B5D}" destId="{B894A4CB-2479-4F4A-AC8F-9750EAD2CCF9}" srcOrd="0" destOrd="0" presId="urn:microsoft.com/office/officeart/2005/8/layout/vList2"/>
    <dgm:cxn modelId="{AC02350E-FB95-40DD-8E8C-FAE5B79B6089}" srcId="{E28DD869-9A77-4F3F-9ACA-B7E0D0287B5D}" destId="{BF3B721D-7CAB-49DB-BF26-A7589B49166D}" srcOrd="1" destOrd="0" parTransId="{9C65C730-E845-4519-9BDA-56ED7E8E33B5}" sibTransId="{16DA1A1D-FB13-47FD-8200-995744B6C651}"/>
    <dgm:cxn modelId="{7C8E6C2F-3D22-4943-812A-65A270DE9B14}" type="presOf" srcId="{C5DA1774-24A8-4E7D-9A38-1EDDE24EF39C}" destId="{63C5AC14-C844-405E-BD97-DD82337EE919}" srcOrd="0" destOrd="0" presId="urn:microsoft.com/office/officeart/2005/8/layout/vList2"/>
    <dgm:cxn modelId="{9CBA0577-6857-4D49-BFA2-5560364CD81A}" type="presParOf" srcId="{B894A4CB-2479-4F4A-AC8F-9750EAD2CCF9}" destId="{8533AC6E-8FF2-4953-AE94-6869B2271AA1}" srcOrd="0" destOrd="0" presId="urn:microsoft.com/office/officeart/2005/8/layout/vList2"/>
    <dgm:cxn modelId="{72C18842-A380-4E08-9331-AA2E8C7B9E7E}" type="presParOf" srcId="{B894A4CB-2479-4F4A-AC8F-9750EAD2CCF9}" destId="{4A0858CA-784A-48BD-9A63-86C30541042D}" srcOrd="1" destOrd="0" presId="urn:microsoft.com/office/officeart/2005/8/layout/vList2"/>
    <dgm:cxn modelId="{D37AD140-8964-4629-8DA7-EC06C5A1CBB1}" type="presParOf" srcId="{B894A4CB-2479-4F4A-AC8F-9750EAD2CCF9}" destId="{168C5FEC-2F5C-418A-8284-155E0C586EA0}" srcOrd="2" destOrd="0" presId="urn:microsoft.com/office/officeart/2005/8/layout/vList2"/>
    <dgm:cxn modelId="{76A08C04-94A1-4278-8B1B-725CE8D3C7B7}" type="presParOf" srcId="{B894A4CB-2479-4F4A-AC8F-9750EAD2CCF9}" destId="{4783EB25-4CBC-4C54-9E44-35FCD051CE81}" srcOrd="3" destOrd="0" presId="urn:microsoft.com/office/officeart/2005/8/layout/vList2"/>
    <dgm:cxn modelId="{53B4D903-830D-49B6-A32F-E0D58E479042}" type="presParOf" srcId="{B894A4CB-2479-4F4A-AC8F-9750EAD2CCF9}" destId="{63C5AC14-C844-405E-BD97-DD82337EE91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B77550-ED4A-5348-AB79-4F30BDEB5BDE}" type="datetimeFigureOut">
              <a:rPr lang="x-none" smtClean="0"/>
              <a:t>1/4/2021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CC6A2C-6D46-474D-BCC5-C205DA9DA6A3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06840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44681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686241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 smtClean="0"/>
              <a:t>Source:</a:t>
            </a:r>
            <a:r>
              <a:rPr lang="en-US" b="0" dirty="0" smtClean="0"/>
              <a:t> https://www1.udel.edu/security/data/confidentiality.html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5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60442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6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7724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7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961761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 smtClean="0"/>
              <a:t>Source: </a:t>
            </a:r>
            <a:r>
              <a:rPr lang="en-US" b="0" dirty="0" smtClean="0"/>
              <a:t>https://www1.udel.edu/security/data/confidentiality.html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28696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 smtClean="0"/>
              <a:t>Source: </a:t>
            </a:r>
            <a:r>
              <a:rPr lang="en-US" b="0" dirty="0" smtClean="0"/>
              <a:t>https://www1.udel.edu/security/data/confidentiality.html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9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141040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 smtClean="0"/>
              <a:t>Source: </a:t>
            </a:r>
            <a:r>
              <a:rPr lang="en-US" b="0" dirty="0" smtClean="0"/>
              <a:t>https://www1.udel.edu/security/data/confidentiality.html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10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849543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11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088595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12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651746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13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462459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 smtClean="0"/>
              <a:t>Source: </a:t>
            </a:r>
            <a:r>
              <a:rPr lang="en-US" b="0" dirty="0" smtClean="0"/>
              <a:t>https://digitalguardian.com/blog/what-data-integrity-data-protection-101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14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61206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 smtClean="0"/>
              <a:t>Source: </a:t>
            </a:r>
            <a:r>
              <a:rPr lang="en-US" b="0" dirty="0" smtClean="0"/>
              <a:t>https://digitalguardian.com/blog/what-data-integrity-data-protection-101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15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790057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16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9720273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Source: https://www.certmike.com/confidentiality-integrity-and-availability-the-cia-triad/#:~:text=The%20CIA%20Triad%20of%20confidentiality,core%20underpinning%20of%20information%20security.&amp;text=Availability%20means%20that%20authorized%20users,and%20the%20resources%20they%20need.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17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165336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Starvation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(in OS) occurs when a low priority program is requesting for a system resource, but are not able to execute because a higher priority program is utilizing that resource for an extended period.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18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746056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19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3030392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20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30149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Source:</a:t>
            </a:r>
            <a:r>
              <a:rPr lang="en-US" b="0" dirty="0" smtClean="0"/>
              <a:t> https://searchsecurity.techtarget.com/definition/access-control#:~:text=Access%20control%20is%20a%20security,to%20the%20business%20or%20organization.&amp;text=Logical%20access%20control%20limits%20connections,networks%2C%20system%20files%20and%20data.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C6A2C-6D46-474D-BCC5-C205DA9DA6A3}" type="slidenum">
              <a:rPr lang="x-none" smtClean="0"/>
              <a:t>24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70998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264D-F1CD-4A0E-86DE-829D531D8CC1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31B4-1EE6-4448-AE73-C8BAED0E2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37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264D-F1CD-4A0E-86DE-829D531D8CC1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31B4-1EE6-4448-AE73-C8BAED0E2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129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264D-F1CD-4A0E-86DE-829D531D8CC1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31B4-1EE6-4448-AE73-C8BAED0E2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313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264D-F1CD-4A0E-86DE-829D531D8CC1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31B4-1EE6-4448-AE73-C8BAED0E2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983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264D-F1CD-4A0E-86DE-829D531D8CC1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31B4-1EE6-4448-AE73-C8BAED0E2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637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264D-F1CD-4A0E-86DE-829D531D8CC1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31B4-1EE6-4448-AE73-C8BAED0E2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07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264D-F1CD-4A0E-86DE-829D531D8CC1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31B4-1EE6-4448-AE73-C8BAED0E2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612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264D-F1CD-4A0E-86DE-829D531D8CC1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31B4-1EE6-4448-AE73-C8BAED0E2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98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264D-F1CD-4A0E-86DE-829D531D8CC1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31B4-1EE6-4448-AE73-C8BAED0E2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315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264D-F1CD-4A0E-86DE-829D531D8CC1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31B4-1EE6-4448-AE73-C8BAED0E2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558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264D-F1CD-4A0E-86DE-829D531D8CC1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31B4-1EE6-4448-AE73-C8BAED0E2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028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ED264D-F1CD-4A0E-86DE-829D531D8CC1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F331B4-1EE6-4448-AE73-C8BAED0E2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47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3696" y="748872"/>
            <a:ext cx="9144000" cy="2387600"/>
          </a:xfrm>
        </p:spPr>
        <p:txBody>
          <a:bodyPr/>
          <a:lstStyle/>
          <a:p>
            <a:r>
              <a:rPr lang="en-US" dirty="0"/>
              <a:t>Professional Practices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3696" y="3228547"/>
            <a:ext cx="9144000" cy="1655762"/>
          </a:xfrm>
        </p:spPr>
        <p:txBody>
          <a:bodyPr>
            <a:normAutofit fontScale="77500" lnSpcReduction="20000"/>
          </a:bodyPr>
          <a:lstStyle/>
          <a:p>
            <a:endParaRPr lang="en-US" sz="5400" dirty="0" smtClean="0"/>
          </a:p>
          <a:p>
            <a:r>
              <a:rPr lang="en-US" sz="5400" dirty="0" smtClean="0"/>
              <a:t>Computer </a:t>
            </a:r>
            <a:r>
              <a:rPr lang="en-US" sz="5400" dirty="0"/>
              <a:t>Privacy and Security Principles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87091" y="6017164"/>
            <a:ext cx="57138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i="1" dirty="0"/>
              <a:t>At the end of the day, the goals are simple: safety and security. </a:t>
            </a:r>
            <a:r>
              <a:rPr lang="en-US" sz="1600" i="1" dirty="0" smtClean="0"/>
              <a:t>				</a:t>
            </a:r>
            <a:r>
              <a:rPr lang="en-US" sz="1600" b="1" i="1" dirty="0" smtClean="0"/>
              <a:t>(</a:t>
            </a:r>
            <a:r>
              <a:rPr lang="en-US" sz="1600" b="1" i="1" dirty="0"/>
              <a:t>Jodi </a:t>
            </a:r>
            <a:r>
              <a:rPr lang="en-US" sz="1600" b="1" i="1" dirty="0" err="1"/>
              <a:t>Rell</a:t>
            </a:r>
            <a:r>
              <a:rPr lang="en-US" sz="1600" b="1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34870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 bwMode="auto">
          <a:xfrm>
            <a:off x="294312" y="277206"/>
            <a:ext cx="10515600" cy="163785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just"/>
            <a:r>
              <a:rPr lang="en-US" b="1" u="sng" dirty="0"/>
              <a:t>Week </a:t>
            </a:r>
            <a:r>
              <a:rPr lang="en-US" b="1" u="sng" dirty="0" smtClean="0"/>
              <a:t>14 Topic:</a:t>
            </a:r>
            <a:r>
              <a:rPr lang="en-US" b="1" dirty="0" smtClean="0"/>
              <a:t> </a:t>
            </a:r>
            <a:r>
              <a:rPr lang="en-US" dirty="0" smtClean="0"/>
              <a:t>Introduction </a:t>
            </a:r>
            <a:r>
              <a:rPr lang="en-US" dirty="0"/>
              <a:t>to Computer Privacy and Security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2423" y="1915064"/>
            <a:ext cx="10213675" cy="455474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dirty="0" smtClean="0"/>
              <a:t>Recap of Last Lecture:</a:t>
            </a:r>
          </a:p>
          <a:p>
            <a:pPr lvl="1">
              <a:defRPr/>
            </a:pPr>
            <a:r>
              <a:rPr lang="en-US" dirty="0" smtClean="0"/>
              <a:t>Computer Privacy, Information Security</a:t>
            </a:r>
          </a:p>
          <a:p>
            <a:pPr lvl="1">
              <a:defRPr/>
            </a:pPr>
            <a:r>
              <a:rPr lang="en-US" dirty="0" smtClean="0"/>
              <a:t>Common ways used to secure our Devices etc.</a:t>
            </a:r>
          </a:p>
          <a:p>
            <a:pPr>
              <a:defRPr/>
            </a:pPr>
            <a:r>
              <a:rPr lang="en-US" altLang="en-US" sz="3200" dirty="0"/>
              <a:t>Information Security </a:t>
            </a:r>
            <a:r>
              <a:rPr lang="en-US" altLang="en-US" sz="3200" dirty="0" smtClean="0"/>
              <a:t>Principles</a:t>
            </a:r>
          </a:p>
          <a:p>
            <a:pPr lvl="1">
              <a:defRPr/>
            </a:pPr>
            <a:r>
              <a:rPr lang="en-US" dirty="0" smtClean="0"/>
              <a:t>Confidentiality</a:t>
            </a:r>
          </a:p>
          <a:p>
            <a:pPr lvl="1">
              <a:defRPr/>
            </a:pPr>
            <a:r>
              <a:rPr lang="en-US" dirty="0" smtClean="0"/>
              <a:t>Integrity</a:t>
            </a:r>
          </a:p>
          <a:p>
            <a:pPr lvl="1">
              <a:defRPr/>
            </a:pPr>
            <a:r>
              <a:rPr lang="en-US" dirty="0" smtClean="0"/>
              <a:t>Availability</a:t>
            </a:r>
          </a:p>
          <a:p>
            <a:pPr>
              <a:defRPr/>
            </a:pPr>
            <a:r>
              <a:rPr lang="en-US" sz="3200" dirty="0" smtClean="0"/>
              <a:t>Access Control</a:t>
            </a:r>
          </a:p>
          <a:p>
            <a:pPr>
              <a:defRPr/>
            </a:pPr>
            <a:r>
              <a:rPr lang="pl-PL" sz="3200" dirty="0"/>
              <a:t>Principles of Computer Security</a:t>
            </a:r>
            <a:endParaRPr lang="en-US" sz="3200" dirty="0" smtClean="0"/>
          </a:p>
          <a:p>
            <a:pPr>
              <a:defRPr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2005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</a:t>
            </a:r>
            <a:r>
              <a:rPr lang="en-US" dirty="0" smtClean="0"/>
              <a:t>does “Secure</a:t>
            </a:r>
            <a:r>
              <a:rPr lang="pl-PL" dirty="0" smtClean="0"/>
              <a:t>” </a:t>
            </a:r>
            <a:r>
              <a:rPr lang="pl-PL" dirty="0"/>
              <a:t>Computer </a:t>
            </a:r>
            <a:r>
              <a:rPr lang="pl-PL" dirty="0" smtClean="0"/>
              <a:t>System</a:t>
            </a:r>
            <a:r>
              <a:rPr lang="en-US" dirty="0" smtClean="0"/>
              <a:t> mean?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To decide whether a computer system is “secure”, </a:t>
            </a:r>
            <a:r>
              <a:rPr lang="en-US" dirty="0" smtClean="0"/>
              <a:t>we should think about the meaning of “</a:t>
            </a:r>
            <a:r>
              <a:rPr lang="en-US" dirty="0"/>
              <a:t>secure” </a:t>
            </a:r>
            <a:r>
              <a:rPr lang="en-US" dirty="0" smtClean="0"/>
              <a:t>first in order to identify the threats to our information.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Computers can be attacked from many sources.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Computer Security is always our basic concern being a Computer user and being a Computer Scientist.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103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764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 smtClean="0"/>
              <a:t>Information </a:t>
            </a:r>
            <a:r>
              <a:rPr lang="en-US" altLang="en-US" dirty="0"/>
              <a:t>Security </a:t>
            </a:r>
            <a:r>
              <a:rPr lang="en-US" altLang="en-US" dirty="0" smtClean="0"/>
              <a:t>Principles</a:t>
            </a:r>
            <a:endParaRPr lang="en-US" b="1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676400" y="1744132"/>
            <a:ext cx="7010400" cy="427725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The CIA principles</a:t>
            </a:r>
          </a:p>
          <a:p>
            <a:pPr lvl="1">
              <a:buFont typeface="Wingdings" panose="05000000000000000000" pitchFamily="2" charset="2"/>
              <a:buChar char="ü"/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Confidentiality</a:t>
            </a:r>
          </a:p>
          <a:p>
            <a:pPr lvl="1">
              <a:buFont typeface="Wingdings" panose="05000000000000000000" pitchFamily="2" charset="2"/>
              <a:buChar char="ü"/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Integrity</a:t>
            </a:r>
          </a:p>
          <a:p>
            <a:pPr lvl="1">
              <a:buFont typeface="Wingdings" panose="05000000000000000000" pitchFamily="2" charset="2"/>
              <a:buChar char="ü"/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Availability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980333656"/>
              </p:ext>
            </p:extLst>
          </p:nvPr>
        </p:nvGraphicFramePr>
        <p:xfrm>
          <a:off x="6976533" y="2235200"/>
          <a:ext cx="4608742" cy="41224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2438400" y="4318000"/>
            <a:ext cx="2099735" cy="2105553"/>
            <a:chOff x="9184748" y="4277782"/>
            <a:chExt cx="2668587" cy="2382838"/>
          </a:xfrm>
        </p:grpSpPr>
        <p:sp>
          <p:nvSpPr>
            <p:cNvPr id="8" name="Oval 5"/>
            <p:cNvSpPr>
              <a:spLocks noChangeArrowheads="1"/>
            </p:cNvSpPr>
            <p:nvPr/>
          </p:nvSpPr>
          <p:spPr bwMode="auto">
            <a:xfrm>
              <a:off x="9184748" y="4312707"/>
              <a:ext cx="1347787" cy="1298575"/>
            </a:xfrm>
            <a:prstGeom prst="ellips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Oval 6"/>
            <p:cNvSpPr>
              <a:spLocks noChangeArrowheads="1"/>
            </p:cNvSpPr>
            <p:nvPr/>
          </p:nvSpPr>
          <p:spPr bwMode="auto">
            <a:xfrm>
              <a:off x="9959448" y="4277782"/>
              <a:ext cx="1347787" cy="1298575"/>
            </a:xfrm>
            <a:prstGeom prst="ellips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Oval 7"/>
            <p:cNvSpPr>
              <a:spLocks noChangeArrowheads="1"/>
            </p:cNvSpPr>
            <p:nvPr/>
          </p:nvSpPr>
          <p:spPr bwMode="auto">
            <a:xfrm>
              <a:off x="9680048" y="4930245"/>
              <a:ext cx="1347787" cy="1298575"/>
            </a:xfrm>
            <a:prstGeom prst="ellips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9508598" y="4725457"/>
              <a:ext cx="322262" cy="322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800" b="1" dirty="0">
                  <a:solidFill>
                    <a:srgbClr val="0000FF"/>
                  </a:solidFill>
                </a:rPr>
                <a:t>C</a:t>
              </a:r>
            </a:p>
          </p:txBody>
        </p:sp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10748435" y="4687357"/>
              <a:ext cx="292100" cy="322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800" b="1">
                  <a:solidFill>
                    <a:srgbClr val="0000FF"/>
                  </a:solidFill>
                </a:rPr>
                <a:t>I</a:t>
              </a:r>
            </a:p>
          </p:txBody>
        </p:sp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10197573" y="5698595"/>
              <a:ext cx="338137" cy="322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sz="1800" b="1">
                  <a:solidFill>
                    <a:srgbClr val="0000FF"/>
                  </a:solidFill>
                </a:rPr>
                <a:t>A</a:t>
              </a: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10097560" y="4963582"/>
              <a:ext cx="3365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pl-PL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S</a:t>
              </a:r>
              <a:endParaRPr lang="en-US" sz="20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9948335" y="6293907"/>
              <a:ext cx="19050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pl-PL" sz="1800" b="1" dirty="0">
                  <a:solidFill>
                    <a:srgbClr val="FF0000"/>
                  </a:solidFill>
                </a:rPr>
                <a:t>S</a:t>
              </a:r>
              <a:r>
                <a:rPr lang="pl-PL" sz="1800" dirty="0">
                  <a:solidFill>
                    <a:srgbClr val="080808"/>
                  </a:solidFill>
                </a:rPr>
                <a:t> = Secure</a:t>
              </a:r>
              <a:endParaRPr lang="en-US" sz="1800" dirty="0">
                <a:solidFill>
                  <a:srgbClr val="08080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0217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990598" y="1679840"/>
            <a:ext cx="10363202" cy="4581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Who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is authorized to use data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onfidentiality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is about protecting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information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against unintentional, unlawful, or unauthorized access, disclosure, or theft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 smtClean="0"/>
              <a:t>Example: </a:t>
            </a:r>
          </a:p>
          <a:p>
            <a:pPr lvl="1"/>
            <a:r>
              <a:rPr lang="en-US" dirty="0" smtClean="0"/>
              <a:t>The Passwords, PINs and Patterns that we often use </a:t>
            </a:r>
            <a:r>
              <a:rPr lang="en-US" dirty="0" smtClean="0"/>
              <a:t>to </a:t>
            </a:r>
            <a:r>
              <a:rPr lang="en-US" dirty="0"/>
              <a:t>protect </a:t>
            </a:r>
            <a:r>
              <a:rPr lang="en-US" dirty="0" smtClean="0"/>
              <a:t>devices and </a:t>
            </a:r>
            <a:r>
              <a:rPr lang="en-US" dirty="0"/>
              <a:t>accounts </a:t>
            </a:r>
            <a:r>
              <a:rPr lang="en-US" dirty="0" smtClean="0"/>
              <a:t>should remain confidential.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838200" y="2176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 Confidentiality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925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1902450"/>
            <a:ext cx="10778067" cy="35825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Confidentiality</a:t>
            </a:r>
            <a:endParaRPr lang="en-US" sz="2800" dirty="0" smtClean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 smtClean="0"/>
              <a:t>“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Need to know” basis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 for data access</a:t>
            </a:r>
          </a:p>
          <a:p>
            <a:pPr marL="8001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How do we know who needs what data?</a:t>
            </a:r>
          </a:p>
          <a:p>
            <a:pPr marL="8001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Approach: </a:t>
            </a:r>
            <a:r>
              <a:rPr lang="pl-PL" sz="2400" dirty="0">
                <a:latin typeface="Times New Roman" pitchFamily="18" charset="0"/>
                <a:cs typeface="Times New Roman" pitchFamily="18" charset="0"/>
              </a:rPr>
              <a:t>ac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cess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l-PL" sz="2400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ontrol</a:t>
            </a:r>
            <a:r>
              <a:rPr lang="pl-PL" sz="2400" dirty="0">
                <a:latin typeface="Times New Roman" pitchFamily="18" charset="0"/>
                <a:cs typeface="Times New Roman" pitchFamily="18" charset="0"/>
              </a:rPr>
              <a:t> specifies who can access what</a:t>
            </a:r>
          </a:p>
          <a:p>
            <a:pPr marL="628650" lvl="1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How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do we know a user is the 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person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 claims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to be?</a:t>
            </a:r>
          </a:p>
          <a:p>
            <a:pPr marL="8001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Need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identity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verify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t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Approach: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identification and authentication</a:t>
            </a:r>
          </a:p>
          <a:p>
            <a:pPr marL="628650" lvl="1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pl-PL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838200" y="2176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 Confidentiality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673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1902450"/>
            <a:ext cx="10778067" cy="2806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Confidentiality</a:t>
            </a:r>
            <a:endParaRPr lang="pl-PL" sz="2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Analogously: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eed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access/use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 basis for physical assets</a:t>
            </a:r>
          </a:p>
          <a:p>
            <a:pPr marL="8001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For example 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access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to a computer room, use of a desktop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pl-PL" sz="2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Confidentiality is:</a:t>
            </a:r>
          </a:p>
          <a:p>
            <a:pPr marL="8001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ifficult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to ensure</a:t>
            </a:r>
          </a:p>
          <a:p>
            <a:pPr marL="8001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Easy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to assess in terms of success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 (b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inary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in nature: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Yes / No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838200" y="2176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 Confidentiality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174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1902450"/>
            <a:ext cx="1077806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Managing information confidentiality</a:t>
            </a:r>
            <a:r>
              <a:rPr lang="en-US" sz="2800" b="1" dirty="0"/>
              <a:t>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To whom data can be disclosed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Whether laws, regulations, or contracts require data to remain confidential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Whether data may only be used or released under certain conditions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Whether data is sensitive by nature and would have a negative impact if disclosed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Whether data would be valuable to those who aren't permitted to have it (e.g., hackers)</a:t>
            </a: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838200" y="2176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 Confidentiality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514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1902450"/>
            <a:ext cx="10778067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Guidelines for data confidentiality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b="1" dirty="0"/>
              <a:t>Encrypt sensitive </a:t>
            </a:r>
            <a:r>
              <a:rPr lang="en-US" sz="2400" b="1" dirty="0" smtClean="0"/>
              <a:t>files: 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Information can be secured from unauthorized entities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b="1" dirty="0"/>
              <a:t>Manage data </a:t>
            </a:r>
            <a:r>
              <a:rPr lang="en-US" sz="2400" b="1" dirty="0" smtClean="0"/>
              <a:t>access: 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Ensuring </a:t>
            </a:r>
            <a:r>
              <a:rPr lang="en-US" sz="2400" dirty="0"/>
              <a:t>that access is only </a:t>
            </a:r>
            <a:r>
              <a:rPr lang="en-US" sz="2400" dirty="0" smtClean="0"/>
              <a:t>for authorized ones.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b="1" dirty="0"/>
              <a:t>Physically secure devices and paper </a:t>
            </a:r>
            <a:r>
              <a:rPr lang="en-US" sz="2400" b="1" dirty="0" smtClean="0"/>
              <a:t>documents:</a:t>
            </a:r>
            <a:r>
              <a:rPr lang="en-US" sz="2400" dirty="0" smtClean="0"/>
              <a:t> 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Protect </a:t>
            </a:r>
            <a:r>
              <a:rPr lang="en-US" sz="2400" dirty="0"/>
              <a:t>devices and paper documents from misuse or theft by storing them in locked areas.</a:t>
            </a:r>
            <a:endParaRPr lang="en-US" sz="2400" b="1" dirty="0" smtClean="0"/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b="1" dirty="0"/>
              <a:t>Securely dispose of data, devices, and paper </a:t>
            </a:r>
            <a:r>
              <a:rPr lang="en-US" sz="2400" b="1" dirty="0" smtClean="0"/>
              <a:t>records: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b="1" dirty="0"/>
              <a:t>Manage data </a:t>
            </a:r>
            <a:r>
              <a:rPr lang="en-US" sz="2400" b="1" dirty="0" smtClean="0"/>
              <a:t>acquisition: 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Avoid </a:t>
            </a:r>
            <a:r>
              <a:rPr lang="en-US" sz="2400" dirty="0"/>
              <a:t>acquiring sensitive data unless absolutely </a:t>
            </a:r>
            <a:r>
              <a:rPr lang="en-US" sz="2400" dirty="0" smtClean="0"/>
              <a:t>necessary</a:t>
            </a:r>
            <a:endParaRPr lang="en-US" sz="2400" b="1" dirty="0" smtClean="0"/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838200" y="2176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 Confidentiality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751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1902450"/>
            <a:ext cx="10778067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Guidelines for data confidentiality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b="1" dirty="0" smtClean="0"/>
              <a:t>Manage data utilization: 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Confidentiality </a:t>
            </a:r>
            <a:r>
              <a:rPr lang="en-US" sz="2400" dirty="0"/>
              <a:t>risk can be further reduced by using sensitive data only as approved and as necessary.</a:t>
            </a:r>
            <a:endParaRPr lang="en-US" sz="2400" dirty="0" smtClean="0"/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b="1" dirty="0"/>
              <a:t>Manage </a:t>
            </a:r>
            <a:r>
              <a:rPr lang="en-US" sz="2400" b="1" dirty="0" smtClean="0"/>
              <a:t>devices:</a:t>
            </a:r>
            <a:r>
              <a:rPr lang="en-US" sz="2400" dirty="0" smtClean="0"/>
              <a:t> 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400" dirty="0"/>
              <a:t>Using Anti-virus </a:t>
            </a:r>
            <a:r>
              <a:rPr lang="en-US" sz="2400" dirty="0" smtClean="0"/>
              <a:t>software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routinely</a:t>
            </a:r>
            <a:r>
              <a:rPr lang="en-US" sz="2400" dirty="0"/>
              <a:t> patching </a:t>
            </a:r>
            <a:r>
              <a:rPr lang="en-US" sz="2400" dirty="0" smtClean="0"/>
              <a:t>software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whitelisting</a:t>
            </a:r>
            <a:r>
              <a:rPr lang="en-US" sz="2400" dirty="0"/>
              <a:t> </a:t>
            </a:r>
            <a:r>
              <a:rPr lang="en-US" sz="2400" dirty="0" smtClean="0"/>
              <a:t>applications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using </a:t>
            </a:r>
            <a:r>
              <a:rPr lang="en-US" sz="2400" dirty="0"/>
              <a:t>device </a:t>
            </a:r>
            <a:r>
              <a:rPr lang="en-US" sz="2400" dirty="0" smtClean="0"/>
              <a:t>passcodes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suspending </a:t>
            </a:r>
            <a:r>
              <a:rPr lang="en-US" sz="2400" dirty="0"/>
              <a:t>inactive </a:t>
            </a:r>
            <a:r>
              <a:rPr lang="en-US" sz="2400" dirty="0" smtClean="0"/>
              <a:t>sessions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enabling</a:t>
            </a:r>
            <a:r>
              <a:rPr lang="en-US" sz="2400" dirty="0"/>
              <a:t> </a:t>
            </a:r>
            <a:r>
              <a:rPr lang="en-US" sz="2400" dirty="0" smtClean="0"/>
              <a:t>firewalls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using</a:t>
            </a:r>
            <a:r>
              <a:rPr lang="en-US" sz="2400" dirty="0"/>
              <a:t> whole-disk encryption.</a:t>
            </a: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838200" y="2176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 Confidentiality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785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490133" y="1712383"/>
            <a:ext cx="10363202" cy="4581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Is our data accurate?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/>
              <a:t>The integrity </a:t>
            </a:r>
            <a:r>
              <a:rPr lang="en-US" dirty="0"/>
              <a:t>refers to the </a:t>
            </a:r>
            <a:r>
              <a:rPr lang="en-US" dirty="0">
                <a:solidFill>
                  <a:srgbClr val="C00000"/>
                </a:solidFill>
              </a:rPr>
              <a:t>accuracy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consistency</a:t>
            </a:r>
            <a:r>
              <a:rPr lang="en-US" dirty="0"/>
              <a:t> (validity) of </a:t>
            </a:r>
            <a:r>
              <a:rPr lang="en-US" dirty="0" smtClean="0"/>
              <a:t>information over </a:t>
            </a:r>
            <a:r>
              <a:rPr lang="en-US" dirty="0"/>
              <a:t>its </a:t>
            </a:r>
            <a:r>
              <a:rPr lang="en-US" dirty="0" smtClean="0"/>
              <a:t>lifecycle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/>
              <a:t>C</a:t>
            </a:r>
            <a:r>
              <a:rPr lang="en-US" dirty="0" smtClean="0"/>
              <a:t>an </a:t>
            </a:r>
            <a:r>
              <a:rPr lang="en-US" dirty="0"/>
              <a:t>be compromised in several ways. </a:t>
            </a:r>
            <a:endParaRPr lang="en-US" dirty="0" smtClean="0"/>
          </a:p>
          <a:p>
            <a:r>
              <a:rPr lang="en-US" dirty="0" smtClean="0"/>
              <a:t>Each </a:t>
            </a:r>
            <a:r>
              <a:rPr lang="en-US" dirty="0"/>
              <a:t>time data is </a:t>
            </a:r>
            <a:r>
              <a:rPr lang="en-US" dirty="0">
                <a:solidFill>
                  <a:srgbClr val="C00000"/>
                </a:solidFill>
              </a:rPr>
              <a:t>replicated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transferred</a:t>
            </a:r>
            <a:r>
              <a:rPr lang="en-US" dirty="0"/>
              <a:t>, it should remain intact and unaltered between updates. </a:t>
            </a:r>
            <a:endParaRPr lang="en-US" dirty="0" smtClean="0"/>
          </a:p>
          <a:p>
            <a:r>
              <a:rPr lang="en-US" dirty="0" smtClean="0"/>
              <a:t>Various error </a:t>
            </a:r>
            <a:r>
              <a:rPr lang="en-US" dirty="0"/>
              <a:t>checking methods and validation procedures are </a:t>
            </a:r>
            <a:r>
              <a:rPr lang="en-US" dirty="0" smtClean="0"/>
              <a:t> used to ensure the integrity.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990600" y="3700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 Integrity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132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490133" y="1712383"/>
            <a:ext cx="10363202" cy="45815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pl-PL" dirty="0">
                <a:latin typeface="Times New Roman" pitchFamily="18" charset="0"/>
                <a:cs typeface="Times New Roman" pitchFamily="18" charset="0"/>
              </a:rPr>
              <a:t>Integrity vs. Confidentiality</a:t>
            </a:r>
          </a:p>
          <a:p>
            <a:pPr lvl="1">
              <a:lnSpc>
                <a:spcPct val="8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Integrity is c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oncern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ed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with unauthorized modification of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information while;</a:t>
            </a:r>
          </a:p>
          <a:p>
            <a:pPr lvl="1">
              <a:lnSpc>
                <a:spcPct val="80000"/>
              </a:lnSpc>
            </a:pP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Confidentiality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concer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ed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with access to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information</a:t>
            </a:r>
            <a:endParaRPr lang="pl-PL" sz="28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80000"/>
              </a:lnSpc>
            </a:pPr>
            <a:endParaRPr lang="pl-PL" sz="28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80000"/>
              </a:lnSpc>
            </a:pP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Integrity is more </a:t>
            </a:r>
            <a:r>
              <a:rPr lang="pl-PL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difficult to measure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than 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confidentiality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80000"/>
              </a:lnSpc>
            </a:pPr>
            <a:r>
              <a:rPr lang="pl-PL" dirty="0" smtClean="0">
                <a:latin typeface="Times New Roman" pitchFamily="18" charset="0"/>
                <a:cs typeface="Times New Roman" pitchFamily="18" charset="0"/>
              </a:rPr>
              <a:t>Not </a:t>
            </a:r>
            <a:r>
              <a:rPr lang="pl-PL" dirty="0">
                <a:latin typeface="Times New Roman" pitchFamily="18" charset="0"/>
                <a:cs typeface="Times New Roman" pitchFamily="18" charset="0"/>
              </a:rPr>
              <a:t>binary – degrees of </a:t>
            </a:r>
            <a:r>
              <a:rPr lang="pl-PL" dirty="0" smtClean="0">
                <a:latin typeface="Times New Roman" pitchFamily="18" charset="0"/>
                <a:cs typeface="Times New Roman" pitchFamily="18" charset="0"/>
              </a:rPr>
              <a:t>integrity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80000"/>
              </a:lnSpc>
            </a:pP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Context-dependent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- means different things in different 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contexts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80000"/>
              </a:lnSpc>
            </a:pP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Could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mean any subset of these asset properties: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	{ precision / accuracy / currency / consistency / 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			meaningfulness / usefulness / 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...}</a:t>
            </a:r>
            <a:endParaRPr lang="pl-PL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990600" y="3700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 Integrity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842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490133" y="1712383"/>
            <a:ext cx="10363202" cy="45815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pl-PL" sz="3200" dirty="0" smtClean="0">
                <a:latin typeface="Times New Roman" pitchFamily="18" charset="0"/>
                <a:cs typeface="Times New Roman" pitchFamily="18" charset="0"/>
              </a:rPr>
              <a:t>xample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of integrity:</a:t>
            </a:r>
            <a:endParaRPr lang="pl-PL" sz="32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Quote from a politician</a:t>
            </a:r>
          </a:p>
          <a:p>
            <a:pPr lvl="1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Preserve the quote 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information 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integrity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) but misattribute (origin integrity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80000"/>
              </a:lnSpc>
              <a:buFont typeface="Courier New" panose="02070309020205020404" pitchFamily="49" charset="0"/>
              <a:buChar char="o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Integrity as a Professional:</a:t>
            </a:r>
          </a:p>
          <a:p>
            <a:pPr lvl="1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en-US" sz="2800" dirty="0"/>
              <a:t>Keep your promises even if it takes extra effort. </a:t>
            </a:r>
            <a:endParaRPr lang="en-US" sz="2800" dirty="0" smtClean="0"/>
          </a:p>
          <a:p>
            <a:pPr lvl="1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en-US" sz="2800" dirty="0" smtClean="0"/>
              <a:t>Go </a:t>
            </a:r>
            <a:r>
              <a:rPr lang="en-US" sz="2800" dirty="0"/>
              <a:t>back to a store and pay for something you forgot to pay for. </a:t>
            </a:r>
            <a:endParaRPr lang="en-US" sz="2800" dirty="0" smtClean="0"/>
          </a:p>
          <a:p>
            <a:pPr lvl="1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en-US" sz="2800" dirty="0" smtClean="0"/>
              <a:t>Never </a:t>
            </a:r>
            <a:r>
              <a:rPr lang="en-US" sz="2800" dirty="0"/>
              <a:t>betray a friend's trust even if you get in trouble. </a:t>
            </a:r>
            <a:endParaRPr lang="en-US" sz="2800" dirty="0" smtClean="0"/>
          </a:p>
          <a:p>
            <a:pPr lvl="1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en-US" sz="2800" dirty="0" smtClean="0"/>
              <a:t>Inform </a:t>
            </a:r>
            <a:r>
              <a:rPr lang="en-US" sz="2800" dirty="0"/>
              <a:t>the cashier he gave you too much change back.</a:t>
            </a:r>
            <a:endParaRPr lang="pl-PL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990600" y="3700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 Integrity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718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490133" y="1712383"/>
            <a:ext cx="10363202" cy="45815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sz="3200" dirty="0" smtClean="0"/>
              <a:t>Data </a:t>
            </a:r>
            <a:r>
              <a:rPr lang="en-US" sz="3200" dirty="0"/>
              <a:t>integrity </a:t>
            </a:r>
            <a:r>
              <a:rPr lang="en-US" sz="3200" dirty="0" smtClean="0"/>
              <a:t>might compromise </a:t>
            </a:r>
            <a:r>
              <a:rPr lang="en-US" sz="3200" dirty="0"/>
              <a:t>through</a:t>
            </a:r>
            <a:r>
              <a:rPr lang="en-US" sz="3200" dirty="0" smtClean="0"/>
              <a:t>: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endParaRPr lang="en-US" sz="3200" dirty="0" smtClean="0"/>
          </a:p>
          <a:p>
            <a:pPr marL="971550" lvl="1" indent="-514350" fontAlgn="base">
              <a:lnSpc>
                <a:spcPct val="80000"/>
              </a:lnSpc>
              <a:buFont typeface="+mj-lt"/>
              <a:buAutoNum type="alphaLcPeriod"/>
            </a:pPr>
            <a:r>
              <a:rPr lang="en-US" sz="2800" dirty="0"/>
              <a:t>Human error, whether malicious or unintentional</a:t>
            </a:r>
          </a:p>
          <a:p>
            <a:pPr marL="971550" lvl="1" indent="-514350" fontAlgn="base">
              <a:lnSpc>
                <a:spcPct val="80000"/>
              </a:lnSpc>
              <a:buFont typeface="+mj-lt"/>
              <a:buAutoNum type="alphaLcPeriod"/>
            </a:pPr>
            <a:r>
              <a:rPr lang="en-US" sz="2800" dirty="0"/>
              <a:t>Transfer errors, including unintended alterations or data compromise during transfer from one device to another</a:t>
            </a:r>
          </a:p>
          <a:p>
            <a:pPr marL="971550" lvl="1" indent="-514350" fontAlgn="base">
              <a:lnSpc>
                <a:spcPct val="80000"/>
              </a:lnSpc>
              <a:buFont typeface="+mj-lt"/>
              <a:buAutoNum type="alphaLcPeriod"/>
            </a:pPr>
            <a:r>
              <a:rPr lang="en-US" sz="2800" dirty="0"/>
              <a:t>Bugs, viruses/malware, hacking, and other cyber threats</a:t>
            </a:r>
          </a:p>
          <a:p>
            <a:pPr marL="971550" lvl="1" indent="-514350" fontAlgn="base">
              <a:lnSpc>
                <a:spcPct val="80000"/>
              </a:lnSpc>
              <a:buFont typeface="+mj-lt"/>
              <a:buAutoNum type="alphaLcPeriod"/>
            </a:pPr>
            <a:r>
              <a:rPr lang="en-US" sz="2800" dirty="0"/>
              <a:t>Compromised hardware, such as a device or disk crash</a:t>
            </a:r>
          </a:p>
          <a:p>
            <a:pPr marL="971550" lvl="1" indent="-514350" fontAlgn="base">
              <a:lnSpc>
                <a:spcPct val="80000"/>
              </a:lnSpc>
              <a:buFont typeface="+mj-lt"/>
              <a:buAutoNum type="alphaLcPeriod"/>
            </a:pPr>
            <a:r>
              <a:rPr lang="en-US" sz="2800" dirty="0"/>
              <a:t>Physical compromise to devices</a:t>
            </a:r>
          </a:p>
          <a:p>
            <a:pPr marL="1371600" lvl="2" indent="-457200">
              <a:lnSpc>
                <a:spcPct val="80000"/>
              </a:lnSpc>
              <a:buFont typeface="+mj-lt"/>
              <a:buAutoNum type="alphaLcPeriod"/>
            </a:pPr>
            <a:endParaRPr lang="pl-PL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990600" y="3700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 Integrity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273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490133" y="1712383"/>
            <a:ext cx="10363202" cy="45815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sz="3200" b="1" dirty="0" smtClean="0"/>
              <a:t>Information Integrity vs. Information Security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endParaRPr lang="en-US" sz="3200" b="1" dirty="0" smtClean="0"/>
          </a:p>
          <a:p>
            <a:pPr lvl="1" fontAlgn="base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sz="2800" dirty="0" smtClean="0"/>
              <a:t>They seem similar apparently but are different actually.</a:t>
            </a:r>
          </a:p>
          <a:p>
            <a:pPr lvl="1" fontAlgn="base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sz="2800" dirty="0" smtClean="0"/>
              <a:t>Information integrity </a:t>
            </a:r>
            <a:r>
              <a:rPr lang="en-US" sz="2800" dirty="0"/>
              <a:t>is a desired result of data </a:t>
            </a:r>
            <a:r>
              <a:rPr lang="en-US" sz="2800" dirty="0" smtClean="0"/>
              <a:t>security</a:t>
            </a:r>
            <a:r>
              <a:rPr lang="en-US" sz="2800" dirty="0"/>
              <a:t>.</a:t>
            </a:r>
            <a:endParaRPr lang="en-US" sz="2800" dirty="0" smtClean="0"/>
          </a:p>
          <a:p>
            <a:pPr lvl="1" fontAlgn="base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sz="2800" dirty="0" smtClean="0"/>
              <a:t>The </a:t>
            </a:r>
            <a:r>
              <a:rPr lang="en-US" sz="2800" dirty="0"/>
              <a:t>term data integrity refers only to the validity and accuracy of </a:t>
            </a:r>
            <a:r>
              <a:rPr lang="en-US" sz="2800" dirty="0" smtClean="0"/>
              <a:t>information rather </a:t>
            </a:r>
            <a:r>
              <a:rPr lang="en-US" sz="2800" dirty="0"/>
              <a:t>than the act of </a:t>
            </a:r>
            <a:r>
              <a:rPr lang="en-US" sz="2800" dirty="0" smtClean="0"/>
              <a:t>protection.</a:t>
            </a:r>
          </a:p>
          <a:p>
            <a:pPr lvl="1" fontAlgn="base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sz="2800" dirty="0" smtClean="0"/>
              <a:t>Information security</a:t>
            </a:r>
            <a:r>
              <a:rPr lang="en-US" sz="2800" dirty="0"/>
              <a:t>, in other words, is one of several measures which can be employed to maintain data integrity.</a:t>
            </a:r>
          </a:p>
          <a:p>
            <a:pPr marL="1371600" lvl="2" indent="-457200">
              <a:lnSpc>
                <a:spcPct val="80000"/>
              </a:lnSpc>
              <a:buFont typeface="+mj-lt"/>
              <a:buAutoNum type="alphaLcPeriod"/>
            </a:pPr>
            <a:endParaRPr lang="pl-PL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990600" y="3700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 Integrity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76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490133" y="1712383"/>
            <a:ext cx="10363202" cy="4581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Can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access data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whenever need 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it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(for authorized users)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?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</a:t>
            </a:r>
            <a:r>
              <a:rPr lang="en-US" dirty="0" smtClean="0"/>
              <a:t>ost </a:t>
            </a:r>
            <a:r>
              <a:rPr lang="en-US" dirty="0"/>
              <a:t>fundamental threats to availability are non-malicious in </a:t>
            </a:r>
            <a:r>
              <a:rPr lang="en-US" dirty="0" smtClean="0"/>
              <a:t>nature like: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smtClean="0"/>
              <a:t>Hardware failures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smtClean="0"/>
              <a:t>Unscheduled </a:t>
            </a:r>
            <a:r>
              <a:rPr lang="en-US" dirty="0"/>
              <a:t>software downtime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smtClean="0"/>
              <a:t>Network </a:t>
            </a:r>
            <a:r>
              <a:rPr lang="en-US" dirty="0"/>
              <a:t>bandwidth </a:t>
            </a:r>
            <a:r>
              <a:rPr lang="en-US" dirty="0" smtClean="0"/>
              <a:t>issues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	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838200" y="2176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dirty="0" smtClean="0"/>
              <a:t>3.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Availability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35180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490133" y="1712383"/>
            <a:ext cx="10363202" cy="4581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Malicious </a:t>
            </a:r>
            <a:r>
              <a:rPr lang="en-US" dirty="0"/>
              <a:t>attacks include various forms of sabotage intended to cause harm to an organization by denying users access to the information system.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	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Denial of Service (</a:t>
            </a:r>
            <a:r>
              <a:rPr lang="en-US" dirty="0" err="1"/>
              <a:t>DoS</a:t>
            </a:r>
            <a:r>
              <a:rPr lang="en-US" dirty="0"/>
              <a:t>) attack is a method frequently used by hackers to disrupt web service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Example: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Availability of a Web application like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acebook, Wikipedia or search engine like Google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838200" y="2176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dirty="0" smtClean="0"/>
              <a:t>3.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Availability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75747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490133" y="1712383"/>
            <a:ext cx="10363202" cy="4581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pl-PL" dirty="0">
                <a:latin typeface="Times New Roman" pitchFamily="18" charset="0"/>
                <a:cs typeface="Times New Roman" pitchFamily="18" charset="0"/>
              </a:rPr>
              <a:t>We can say that an asset (resource) is </a:t>
            </a:r>
            <a:r>
              <a:rPr lang="pl-PL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available</a:t>
            </a:r>
            <a:r>
              <a:rPr lang="pl-PL" dirty="0">
                <a:latin typeface="Times New Roman" pitchFamily="18" charset="0"/>
                <a:cs typeface="Times New Roman" pitchFamily="18" charset="0"/>
              </a:rPr>
              <a:t> if: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Timely request response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Fair allocation of resources 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means 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no </a:t>
            </a: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starvation!)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Fault tolerant (no total breakdown)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Easy to use in the intended way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l-PL" sz="2800" dirty="0">
                <a:latin typeface="Times New Roman" pitchFamily="18" charset="0"/>
                <a:cs typeface="Times New Roman" pitchFamily="18" charset="0"/>
              </a:rPr>
              <a:t>Provides controlled concurrency (concurrency control, deadlock 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control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etc.</a:t>
            </a:r>
            <a:r>
              <a:rPr lang="pl-PL" sz="28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pl-PL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838200" y="2176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dirty="0" smtClean="0"/>
              <a:t>3.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Availability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634961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838202" y="1712383"/>
            <a:ext cx="7476066" cy="4581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2600" b="1" dirty="0"/>
              <a:t>Confidentiality</a:t>
            </a:r>
            <a:r>
              <a:rPr lang="en-US" sz="2600" dirty="0"/>
              <a:t> means that data, objects and resources are protected from unauthorized viewing and other access.  </a:t>
            </a:r>
            <a:endParaRPr lang="en-US" sz="26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sz="26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600" b="1" dirty="0" smtClean="0"/>
              <a:t>Integrity</a:t>
            </a:r>
            <a:r>
              <a:rPr lang="en-US" sz="2600" dirty="0" smtClean="0"/>
              <a:t> </a:t>
            </a:r>
            <a:r>
              <a:rPr lang="en-US" sz="2600" dirty="0"/>
              <a:t>means that data is protected from unauthorized changes to ensure that it is reliable and correct. </a:t>
            </a:r>
            <a:endParaRPr lang="en-US" sz="2600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sz="26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600" b="1" dirty="0" smtClean="0"/>
              <a:t>Availability</a:t>
            </a:r>
            <a:r>
              <a:rPr lang="en-US" sz="2600" dirty="0" smtClean="0"/>
              <a:t> </a:t>
            </a:r>
            <a:r>
              <a:rPr lang="en-US" sz="2600" dirty="0"/>
              <a:t>means that authorized users have access to the systems and the resources they need.</a:t>
            </a:r>
            <a:endParaRPr lang="pl-PL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838200" y="2176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CIA in one View</a:t>
            </a:r>
            <a:endParaRPr lang="en-US" b="1" dirty="0"/>
          </a:p>
        </p:txBody>
      </p:sp>
      <p:pic>
        <p:nvPicPr>
          <p:cNvPr id="1026" name="Picture 2" descr="The CIA Tria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3605" y="1879601"/>
            <a:ext cx="3568395" cy="2416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3976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764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 smtClean="0"/>
              <a:t>The </a:t>
            </a:r>
            <a:r>
              <a:rPr lang="en-US" altLang="en-US" dirty="0"/>
              <a:t>CIA: Information Security </a:t>
            </a:r>
            <a:r>
              <a:rPr lang="en-US" altLang="en-US" dirty="0" smtClean="0"/>
              <a:t>Principles</a:t>
            </a:r>
            <a:endParaRPr lang="en-US" b="1" dirty="0"/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1464204" y="2001837"/>
            <a:ext cx="9889595" cy="4517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indent="0" eaLnBrk="1" hangingPunct="1">
              <a:buNone/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CIAAAN</a:t>
            </a:r>
            <a:endParaRPr lang="en-US" sz="2600" b="1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More components are added to CIA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Authentication: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The process of verifying the identity of a user.</a:t>
            </a:r>
          </a:p>
          <a:p>
            <a:pPr lvl="1"/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Authorization: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specifying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access rights/privileges to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resources.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Non-repudiation: </a:t>
            </a:r>
          </a:p>
          <a:p>
            <a:pPr lvl="2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assurance that someone cannot deny the validity of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something</a:t>
            </a:r>
          </a:p>
          <a:p>
            <a:pPr lvl="2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term is often seen in a legal setting when the authenticity of a signature is being challenged.</a:t>
            </a:r>
          </a:p>
        </p:txBody>
      </p:sp>
    </p:spTree>
    <p:extLst>
      <p:ext uri="{BB962C8B-B14F-4D97-AF65-F5344CB8AC3E}">
        <p14:creationId xmlns:p14="http://schemas.microsoft.com/office/powerpoint/2010/main" val="19172671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</a:t>
            </a:r>
            <a:r>
              <a:rPr lang="en-US" dirty="0"/>
              <a:t>S</a:t>
            </a:r>
            <a:r>
              <a:rPr lang="en-US" dirty="0" smtClean="0"/>
              <a:t>ecurity </a:t>
            </a:r>
            <a:r>
              <a:rPr lang="en-US" dirty="0"/>
              <a:t>P</a:t>
            </a:r>
            <a:r>
              <a:rPr lang="en-US" dirty="0" smtClean="0"/>
              <a:t>olicy Architecture (ISPA)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A policy is </a:t>
            </a:r>
          </a:p>
          <a:p>
            <a:pPr lvl="1">
              <a:buFontTx/>
              <a:buNone/>
            </a:pPr>
            <a:r>
              <a:rPr lang="en-US" sz="2800" dirty="0"/>
              <a:t>	A plan or course of action, as of a government, political party, or business, intended to influence and determine decisions, actions, and other matters</a:t>
            </a:r>
          </a:p>
          <a:p>
            <a:r>
              <a:rPr lang="en-US" dirty="0">
                <a:solidFill>
                  <a:srgbClr val="C00000"/>
                </a:solidFill>
              </a:rPr>
              <a:t>Policies</a:t>
            </a:r>
            <a:r>
              <a:rPr lang="en-US" dirty="0"/>
              <a:t> are organizational laws</a:t>
            </a:r>
          </a:p>
          <a:p>
            <a:r>
              <a:rPr lang="en-US" dirty="0">
                <a:solidFill>
                  <a:srgbClr val="C00000"/>
                </a:solidFill>
              </a:rPr>
              <a:t>Standards</a:t>
            </a:r>
            <a:r>
              <a:rPr lang="en-US" dirty="0"/>
              <a:t>, on the other hand, are more detailed statements of what must be done to comply with policy </a:t>
            </a:r>
          </a:p>
          <a:p>
            <a:r>
              <a:rPr lang="en-US" dirty="0">
                <a:solidFill>
                  <a:srgbClr val="C00000"/>
                </a:solidFill>
              </a:rPr>
              <a:t>Practices, procedures and guidelines</a:t>
            </a:r>
            <a:r>
              <a:rPr lang="en-US" dirty="0"/>
              <a:t> effectively explain how to comply with policy</a:t>
            </a:r>
          </a:p>
          <a:p>
            <a:r>
              <a:rPr lang="en-US" dirty="0"/>
              <a:t>For a policy to be effective it must be properly disseminated, read, understood and agreed to by all members of the organization</a:t>
            </a:r>
          </a:p>
        </p:txBody>
      </p:sp>
    </p:spTree>
    <p:extLst>
      <p:ext uri="{BB962C8B-B14F-4D97-AF65-F5344CB8AC3E}">
        <p14:creationId xmlns:p14="http://schemas.microsoft.com/office/powerpoint/2010/main" val="22782909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</a:t>
            </a:r>
            <a:r>
              <a:rPr lang="en-US" dirty="0"/>
              <a:t>S</a:t>
            </a:r>
            <a:r>
              <a:rPr lang="en-US" dirty="0" smtClean="0"/>
              <a:t>ecurity </a:t>
            </a:r>
            <a:r>
              <a:rPr lang="en-US" dirty="0"/>
              <a:t>P</a:t>
            </a:r>
            <a:r>
              <a:rPr lang="en-US" dirty="0" smtClean="0"/>
              <a:t>olicy Architecture (ISPA)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An IT Security Policy identifies the </a:t>
            </a:r>
            <a:r>
              <a:rPr lang="en-US" dirty="0">
                <a:solidFill>
                  <a:srgbClr val="C00000"/>
                </a:solidFill>
              </a:rPr>
              <a:t>rules</a:t>
            </a:r>
            <a:r>
              <a:rPr lang="en-US" dirty="0"/>
              <a:t> and </a:t>
            </a:r>
            <a:r>
              <a:rPr lang="en-US" dirty="0">
                <a:solidFill>
                  <a:srgbClr val="C00000"/>
                </a:solidFill>
              </a:rPr>
              <a:t>procedures</a:t>
            </a:r>
            <a:r>
              <a:rPr lang="en-US" dirty="0"/>
              <a:t> for all individuals accessing and using an organization's IT assets and resources. </a:t>
            </a:r>
            <a:endParaRPr lang="en-US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/>
              <a:t>The </a:t>
            </a:r>
            <a:r>
              <a:rPr lang="en-US" dirty="0"/>
              <a:t>objectives of an IT security policy is the </a:t>
            </a:r>
            <a:r>
              <a:rPr lang="en-US" dirty="0">
                <a:solidFill>
                  <a:srgbClr val="C00000"/>
                </a:solidFill>
              </a:rPr>
              <a:t>preservation</a:t>
            </a:r>
            <a:r>
              <a:rPr lang="en-US" dirty="0"/>
              <a:t> of confidentiality, integrity, and availability </a:t>
            </a:r>
            <a:r>
              <a:rPr lang="en-US" dirty="0" smtClean="0"/>
              <a:t>(CIA) of </a:t>
            </a:r>
            <a:r>
              <a:rPr lang="en-US" dirty="0"/>
              <a:t>systems and information used by an organization’s members. </a:t>
            </a:r>
            <a:endParaRPr lang="en-US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Institutions such as the </a:t>
            </a:r>
            <a:r>
              <a:rPr lang="en-US" dirty="0">
                <a:solidFill>
                  <a:srgbClr val="C00000"/>
                </a:solidFill>
              </a:rPr>
              <a:t>International Organization of Standardization (ISO) </a:t>
            </a:r>
            <a:r>
              <a:rPr lang="en-US" dirty="0"/>
              <a:t>and the </a:t>
            </a:r>
            <a:r>
              <a:rPr lang="en-US" dirty="0">
                <a:solidFill>
                  <a:srgbClr val="C00000"/>
                </a:solidFill>
              </a:rPr>
              <a:t>U.S. National Institute of Standards and Technology (NIST)</a:t>
            </a:r>
            <a:r>
              <a:rPr lang="en-US" dirty="0"/>
              <a:t> have published standards and best practices for security policy formation.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087195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</a:t>
            </a:r>
            <a:r>
              <a:rPr lang="en-US" dirty="0"/>
              <a:t>S</a:t>
            </a:r>
            <a:r>
              <a:rPr lang="en-US" dirty="0" smtClean="0"/>
              <a:t>ecurity </a:t>
            </a:r>
            <a:r>
              <a:rPr lang="en-US" dirty="0"/>
              <a:t>P</a:t>
            </a:r>
            <a:r>
              <a:rPr lang="en-US" dirty="0" smtClean="0"/>
              <a:t>olicy Architecture (ISPA)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According to National </a:t>
            </a:r>
            <a:r>
              <a:rPr lang="en-US" dirty="0"/>
              <a:t>Research Council (NRC), the specifications of any company policy should address: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sz="2800" dirty="0" smtClean="0"/>
              <a:t>Objectives</a:t>
            </a:r>
            <a:endParaRPr lang="en-US" sz="2800" dirty="0"/>
          </a:p>
          <a:p>
            <a:pPr marL="971550" lvl="1" indent="-514350">
              <a:buFont typeface="+mj-lt"/>
              <a:buAutoNum type="alphaLcPeriod"/>
            </a:pPr>
            <a:r>
              <a:rPr lang="en-US" sz="2800" dirty="0" smtClean="0"/>
              <a:t>Scope</a:t>
            </a:r>
            <a:endParaRPr lang="en-US" sz="2800" dirty="0"/>
          </a:p>
          <a:p>
            <a:pPr marL="971550" lvl="1" indent="-514350">
              <a:buFont typeface="+mj-lt"/>
              <a:buAutoNum type="alphaLcPeriod"/>
            </a:pPr>
            <a:r>
              <a:rPr lang="en-US" sz="2800" dirty="0" smtClean="0"/>
              <a:t>Specific </a:t>
            </a:r>
            <a:r>
              <a:rPr lang="en-US" sz="2800" dirty="0"/>
              <a:t>goals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sz="2800" dirty="0" smtClean="0"/>
              <a:t>Responsibilities </a:t>
            </a:r>
            <a:r>
              <a:rPr lang="en-US" sz="2800" dirty="0"/>
              <a:t>for compliance and actions to be taken in the event of noncompliance.</a:t>
            </a:r>
          </a:p>
        </p:txBody>
      </p:sp>
    </p:spTree>
    <p:extLst>
      <p:ext uri="{BB962C8B-B14F-4D97-AF65-F5344CB8AC3E}">
        <p14:creationId xmlns:p14="http://schemas.microsoft.com/office/powerpoint/2010/main" val="15815297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Access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Access control is a security technique that regulates who or what can view or use resources in a computing environment.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a fundamental concept in security that minimizes risk to the business or organization</a:t>
            </a:r>
            <a:r>
              <a:rPr lang="en-US" dirty="0" smtClean="0"/>
              <a:t>.</a:t>
            </a:r>
          </a:p>
          <a:p>
            <a:r>
              <a:rPr lang="en-US" dirty="0"/>
              <a:t>T</a:t>
            </a:r>
            <a:r>
              <a:rPr lang="en-US" dirty="0" smtClean="0"/>
              <a:t>wo </a:t>
            </a:r>
            <a:r>
              <a:rPr lang="en-US" dirty="0"/>
              <a:t>types of access control: </a:t>
            </a:r>
            <a:endParaRPr lang="en-US" dirty="0" smtClean="0"/>
          </a:p>
          <a:p>
            <a:pPr marL="914400" lvl="1" indent="-457200">
              <a:buFont typeface="+mj-lt"/>
              <a:buAutoNum type="alphaLcPeriod"/>
            </a:pPr>
            <a:r>
              <a:rPr lang="en-US" dirty="0" smtClean="0"/>
              <a:t>Physical Access Control 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 smtClean="0"/>
              <a:t>Logical Access Control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1808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Access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1" indent="-457200">
              <a:buFont typeface="+mj-lt"/>
              <a:buAutoNum type="alphaLcPeriod"/>
            </a:pPr>
            <a:r>
              <a:rPr lang="en-US" sz="3200" b="1" dirty="0" smtClean="0"/>
              <a:t>Physical Access </a:t>
            </a:r>
            <a:r>
              <a:rPr lang="en-US" sz="3200" b="1" dirty="0"/>
              <a:t>C</a:t>
            </a:r>
            <a:r>
              <a:rPr lang="en-US" sz="3200" b="1" dirty="0" smtClean="0"/>
              <a:t>ontrol:</a:t>
            </a:r>
            <a:endParaRPr lang="en-US" sz="3200" dirty="0" smtClean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800" dirty="0" smtClean="0"/>
              <a:t>Limits access physically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800" dirty="0" smtClean="0"/>
              <a:t>Like limiting access to campuses, buildings, rooms and physical IT assets. 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3200" b="1" dirty="0"/>
              <a:t>Logical A</a:t>
            </a:r>
            <a:r>
              <a:rPr lang="en-US" sz="3200" b="1" dirty="0" smtClean="0"/>
              <a:t>ccess </a:t>
            </a:r>
            <a:r>
              <a:rPr lang="en-US" sz="3200" b="1" dirty="0"/>
              <a:t>C</a:t>
            </a:r>
            <a:r>
              <a:rPr lang="en-US" sz="3200" b="1" dirty="0" smtClean="0"/>
              <a:t>ontrol</a:t>
            </a:r>
            <a:r>
              <a:rPr lang="en-US" sz="3200" b="1" dirty="0"/>
              <a:t>: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800" dirty="0"/>
              <a:t>Limits access virtually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800" dirty="0" smtClean="0"/>
              <a:t>Like limiting the connections </a:t>
            </a:r>
            <a:r>
              <a:rPr lang="en-US" sz="2800" dirty="0"/>
              <a:t>to computer networks, </a:t>
            </a:r>
            <a:r>
              <a:rPr lang="en-US" sz="2800" dirty="0" smtClean="0"/>
              <a:t>device or drive files </a:t>
            </a:r>
            <a:r>
              <a:rPr lang="en-US" sz="2800" dirty="0"/>
              <a:t>and </a:t>
            </a:r>
            <a:r>
              <a:rPr lang="en-US" sz="2800" dirty="0" smtClean="0"/>
              <a:t>data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757042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Physical Access Controls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pl-PL" dirty="0"/>
              <a:t>Walls, locks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pl-PL" dirty="0"/>
              <a:t>Guards, security cameras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pl-PL" dirty="0"/>
              <a:t>Backup copies and archives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pl-PL" dirty="0"/>
              <a:t>Cables </a:t>
            </a:r>
            <a:r>
              <a:rPr lang="pl-PL" dirty="0" smtClean="0"/>
              <a:t>an</a:t>
            </a:r>
            <a:r>
              <a:rPr lang="en-US" dirty="0" smtClean="0"/>
              <a:t>d</a:t>
            </a:r>
            <a:r>
              <a:rPr lang="pl-PL" dirty="0" smtClean="0"/>
              <a:t> </a:t>
            </a:r>
            <a:r>
              <a:rPr lang="pl-PL" dirty="0"/>
              <a:t>l</a:t>
            </a:r>
            <a:r>
              <a:rPr lang="en-US" dirty="0" err="1"/>
              <a:t>ocks</a:t>
            </a:r>
            <a:r>
              <a:rPr lang="pl-PL" dirty="0"/>
              <a:t> </a:t>
            </a:r>
            <a:r>
              <a:rPr lang="pl-PL" dirty="0">
                <a:solidFill>
                  <a:srgbClr val="969696"/>
                </a:solidFill>
              </a:rPr>
              <a:t>(e.g., for notebooks)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pl-PL" dirty="0">
                <a:solidFill>
                  <a:srgbClr val="000000"/>
                </a:solidFill>
              </a:rPr>
              <a:t>Natural and man-made disaster protection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l-PL" dirty="0">
                <a:solidFill>
                  <a:srgbClr val="000000"/>
                </a:solidFill>
              </a:rPr>
              <a:t>Fire, flood, and earthquake protection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l-PL" dirty="0">
                <a:solidFill>
                  <a:srgbClr val="000000"/>
                </a:solidFill>
              </a:rPr>
              <a:t>Accident and terrorism protection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0104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Logical Access Controls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 smtClean="0"/>
              <a:t>Encryption</a:t>
            </a:r>
            <a:r>
              <a:rPr lang="en-US" b="1" dirty="0" smtClean="0"/>
              <a:t>:</a:t>
            </a:r>
            <a:endParaRPr lang="pl-PL" b="1" dirty="0"/>
          </a:p>
          <a:p>
            <a:pPr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</a:pPr>
            <a:r>
              <a:rPr lang="pl-PL" dirty="0"/>
              <a:t>Primary controls</a:t>
            </a:r>
            <a:r>
              <a:rPr lang="pl-PL" dirty="0" smtClean="0"/>
              <a:t>!</a:t>
            </a:r>
            <a:endParaRPr lang="pl-PL" dirty="0"/>
          </a:p>
          <a:p>
            <a:pPr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</a:pPr>
            <a:r>
              <a:rPr lang="pl-PL" dirty="0"/>
              <a:t>Cleartext scambled into ciphertext (enciphered text</a:t>
            </a:r>
            <a:r>
              <a:rPr lang="pl-PL" dirty="0" smtClean="0"/>
              <a:t>)</a:t>
            </a:r>
            <a:endParaRPr lang="pl-PL" dirty="0"/>
          </a:p>
          <a:p>
            <a:pPr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</a:pPr>
            <a:r>
              <a:rPr lang="pl-PL" dirty="0"/>
              <a:t>Protects CIA:</a:t>
            </a:r>
          </a:p>
          <a:p>
            <a:pPr lvl="1"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en-US" sz="2800" dirty="0" smtClean="0"/>
              <a:t>C</a:t>
            </a:r>
            <a:r>
              <a:rPr lang="pl-PL" sz="2800" dirty="0" smtClean="0"/>
              <a:t>onfidentiality</a:t>
            </a:r>
            <a:r>
              <a:rPr lang="en-US" sz="2800" dirty="0" smtClean="0"/>
              <a:t>:</a:t>
            </a:r>
            <a:r>
              <a:rPr lang="pl-PL" sz="2800" dirty="0" smtClean="0"/>
              <a:t> </a:t>
            </a:r>
            <a:r>
              <a:rPr lang="pl-PL" sz="2800" dirty="0"/>
              <a:t>by </a:t>
            </a:r>
            <a:r>
              <a:rPr lang="en-US" sz="2800" dirty="0" smtClean="0"/>
              <a:t>“</a:t>
            </a:r>
            <a:r>
              <a:rPr lang="pl-PL" sz="2800" dirty="0" smtClean="0"/>
              <a:t>masking</a:t>
            </a:r>
            <a:r>
              <a:rPr lang="pl-PL" sz="2800" dirty="0"/>
              <a:t>” data</a:t>
            </a:r>
          </a:p>
          <a:p>
            <a:pPr lvl="1"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en-US" sz="2800" dirty="0" smtClean="0"/>
              <a:t>I</a:t>
            </a:r>
            <a:r>
              <a:rPr lang="pl-PL" sz="2800" dirty="0" smtClean="0"/>
              <a:t>ntegrity</a:t>
            </a:r>
            <a:r>
              <a:rPr lang="en-US" sz="2800" dirty="0" smtClean="0"/>
              <a:t>: </a:t>
            </a:r>
            <a:r>
              <a:rPr lang="pl-PL" sz="2800" dirty="0" smtClean="0"/>
              <a:t>by </a:t>
            </a:r>
            <a:r>
              <a:rPr lang="pl-PL" sz="2800" dirty="0"/>
              <a:t>preventing data </a:t>
            </a:r>
            <a:r>
              <a:rPr lang="pl-PL" sz="2800" dirty="0" smtClean="0"/>
              <a:t>updates</a:t>
            </a:r>
            <a:r>
              <a:rPr lang="en-US" sz="2800" dirty="0" smtClean="0"/>
              <a:t>, for instance</a:t>
            </a:r>
            <a:r>
              <a:rPr lang="pl-PL" sz="2800" dirty="0" smtClean="0"/>
              <a:t>, </a:t>
            </a:r>
            <a:r>
              <a:rPr lang="pl-PL" sz="2800" dirty="0"/>
              <a:t>checksums included</a:t>
            </a:r>
          </a:p>
          <a:p>
            <a:pPr lvl="1"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en-US" sz="2800" dirty="0" smtClean="0"/>
              <a:t>A</a:t>
            </a:r>
            <a:r>
              <a:rPr lang="pl-PL" sz="2800" dirty="0" smtClean="0"/>
              <a:t>vailability</a:t>
            </a:r>
            <a:r>
              <a:rPr lang="en-US" sz="2800" dirty="0" smtClean="0"/>
              <a:t>:</a:t>
            </a:r>
            <a:r>
              <a:rPr lang="pl-PL" sz="2800" dirty="0" smtClean="0"/>
              <a:t> </a:t>
            </a:r>
            <a:r>
              <a:rPr lang="pl-PL" sz="2800" dirty="0"/>
              <a:t>by using encryption-based </a:t>
            </a:r>
            <a:r>
              <a:rPr lang="pl-PL" sz="2800" dirty="0" smtClean="0"/>
              <a:t>protocols</a:t>
            </a:r>
            <a:r>
              <a:rPr lang="en-US" sz="2800" dirty="0" smtClean="0"/>
              <a:t>, for example</a:t>
            </a:r>
            <a:r>
              <a:rPr lang="pl-PL" sz="2800" dirty="0" smtClean="0"/>
              <a:t>, </a:t>
            </a:r>
            <a:r>
              <a:rPr lang="pl-PL" sz="2800" dirty="0"/>
              <a:t>protocols ensure availablity of resources for different users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9840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Logical Access </a:t>
            </a:r>
            <a:r>
              <a:rPr lang="en-US" dirty="0" smtClean="0"/>
              <a:t>Controls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2757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200" b="1" dirty="0" smtClean="0"/>
              <a:t>Software Controls</a:t>
            </a:r>
            <a:r>
              <a:rPr lang="en-US" b="1" dirty="0" smtClean="0"/>
              <a:t>:</a:t>
            </a:r>
            <a:endParaRPr lang="pl-PL" b="1" dirty="0"/>
          </a:p>
          <a:p>
            <a:pPr>
              <a:buFont typeface="Courier New" panose="02070309020205020404" pitchFamily="49" charset="0"/>
              <a:buChar char="o"/>
            </a:pPr>
            <a:r>
              <a:rPr lang="pl-PL" sz="3000" dirty="0"/>
              <a:t>Secondary </a:t>
            </a:r>
            <a:r>
              <a:rPr lang="pl-PL" sz="3000" dirty="0" smtClean="0"/>
              <a:t>controls</a:t>
            </a:r>
            <a:r>
              <a:rPr lang="en-US" sz="3000" dirty="0" smtClean="0"/>
              <a:t>:</a:t>
            </a:r>
            <a:r>
              <a:rPr lang="pl-PL" sz="3000" dirty="0" smtClean="0"/>
              <a:t> </a:t>
            </a:r>
            <a:r>
              <a:rPr lang="pl-PL" sz="3000" dirty="0"/>
              <a:t>second only to </a:t>
            </a:r>
            <a:r>
              <a:rPr lang="pl-PL" sz="3000" dirty="0" smtClean="0"/>
              <a:t>encryption</a:t>
            </a:r>
            <a:endParaRPr lang="pl-PL" sz="3000" dirty="0"/>
          </a:p>
          <a:p>
            <a:pPr>
              <a:buFont typeface="Courier New" panose="02070309020205020404" pitchFamily="49" charset="0"/>
              <a:buChar char="o"/>
            </a:pPr>
            <a:r>
              <a:rPr lang="pl-PL" sz="3000" dirty="0" smtClean="0"/>
              <a:t>Software </a:t>
            </a:r>
            <a:r>
              <a:rPr lang="pl-PL" sz="3000" dirty="0"/>
              <a:t>controls include: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l-PL" sz="2800" dirty="0"/>
              <a:t>OS and </a:t>
            </a:r>
            <a:r>
              <a:rPr lang="en-US" sz="2800" dirty="0" smtClean="0"/>
              <a:t>N</a:t>
            </a:r>
            <a:r>
              <a:rPr lang="pl-PL" sz="2800" dirty="0" smtClean="0"/>
              <a:t>etwork controls</a:t>
            </a:r>
            <a:r>
              <a:rPr lang="en-US" sz="2800" dirty="0" smtClean="0"/>
              <a:t>: </a:t>
            </a:r>
          </a:p>
          <a:p>
            <a:pPr lvl="2"/>
            <a:r>
              <a:rPr lang="en-US" sz="2800" dirty="0"/>
              <a:t>Like</a:t>
            </a:r>
            <a:r>
              <a:rPr lang="pl-PL" sz="2800" dirty="0"/>
              <a:t> OS: s</a:t>
            </a:r>
            <a:r>
              <a:rPr lang="en-US" sz="2800" dirty="0" err="1"/>
              <a:t>andbox</a:t>
            </a:r>
            <a:r>
              <a:rPr lang="en-US" sz="2800" dirty="0"/>
              <a:t> / virtual machine </a:t>
            </a:r>
            <a:endParaRPr lang="pl-PL" sz="2800" dirty="0"/>
          </a:p>
          <a:p>
            <a:pPr lvl="2"/>
            <a:r>
              <a:rPr lang="en-US" sz="2800" dirty="0"/>
              <a:t>Logs/firewalls, </a:t>
            </a:r>
            <a:r>
              <a:rPr lang="pl-PL" sz="2800" dirty="0"/>
              <a:t>OS/net </a:t>
            </a:r>
            <a:r>
              <a:rPr lang="en-US" sz="2800" dirty="0"/>
              <a:t>virus scans, recorders </a:t>
            </a:r>
          </a:p>
          <a:p>
            <a:pPr lvl="2"/>
            <a:endParaRPr lang="pl-PL" sz="8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 smtClean="0"/>
              <a:t>I</a:t>
            </a:r>
            <a:r>
              <a:rPr lang="pl-PL" sz="2800" dirty="0"/>
              <a:t>ndependent control programs (whole programs)</a:t>
            </a:r>
          </a:p>
          <a:p>
            <a:pPr lvl="2"/>
            <a:r>
              <a:rPr lang="en-US" sz="2800" dirty="0" smtClean="0"/>
              <a:t>Like</a:t>
            </a:r>
            <a:r>
              <a:rPr lang="pl-PL" sz="2800" dirty="0" smtClean="0"/>
              <a:t> </a:t>
            </a:r>
            <a:r>
              <a:rPr lang="pl-PL" sz="2800" dirty="0"/>
              <a:t>password checker, virus scanner, IDS (intrusion detection system)</a:t>
            </a:r>
            <a:endParaRPr lang="en-US" sz="2800" dirty="0"/>
          </a:p>
          <a:p>
            <a:pPr lvl="2"/>
            <a:endParaRPr lang="pl-PL" sz="800" dirty="0">
              <a:solidFill>
                <a:srgbClr val="C0C2D2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I</a:t>
            </a:r>
            <a:r>
              <a:rPr lang="pl-PL" sz="2800" dirty="0"/>
              <a:t>nternal program controls (part of a program)</a:t>
            </a:r>
          </a:p>
          <a:p>
            <a:pPr lvl="2"/>
            <a:r>
              <a:rPr lang="pl-PL" sz="2800" dirty="0"/>
              <a:t>E.g. read/write controls in DBMSs</a:t>
            </a:r>
            <a:endParaRPr lang="en-US" sz="2800" dirty="0"/>
          </a:p>
          <a:p>
            <a:pPr lvl="2"/>
            <a:endParaRPr lang="pl-PL" sz="8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D</a:t>
            </a:r>
            <a:r>
              <a:rPr lang="pl-PL" sz="2800" dirty="0"/>
              <a:t>evelopment controls</a:t>
            </a:r>
          </a:p>
          <a:p>
            <a:pPr lvl="2"/>
            <a:r>
              <a:rPr lang="pl-PL" sz="2800" dirty="0"/>
              <a:t>E.g. quality standards followed by developers</a:t>
            </a:r>
          </a:p>
          <a:p>
            <a:pPr lvl="2"/>
            <a:r>
              <a:rPr lang="pl-PL" sz="2800" dirty="0"/>
              <a:t>incl. testing</a:t>
            </a:r>
          </a:p>
        </p:txBody>
      </p:sp>
    </p:spTree>
    <p:extLst>
      <p:ext uri="{BB962C8B-B14F-4D97-AF65-F5344CB8AC3E}">
        <p14:creationId xmlns:p14="http://schemas.microsoft.com/office/powerpoint/2010/main" val="41787992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Logical </a:t>
            </a:r>
            <a:r>
              <a:rPr lang="en-US" dirty="0"/>
              <a:t>Access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275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 smtClean="0"/>
              <a:t>Hardware Controls</a:t>
            </a:r>
            <a:r>
              <a:rPr lang="en-US" b="1" dirty="0" smtClean="0"/>
              <a:t>:</a:t>
            </a:r>
            <a:endParaRPr lang="pl-PL" b="1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Hardware</a:t>
            </a:r>
            <a:r>
              <a:rPr lang="pl-PL" dirty="0"/>
              <a:t> devices to provide higher degree of security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Locks</a:t>
            </a:r>
            <a:r>
              <a:rPr lang="pl-PL" sz="2800" dirty="0"/>
              <a:t> and cables </a:t>
            </a:r>
            <a:r>
              <a:rPr lang="pl-PL" sz="2800" dirty="0">
                <a:solidFill>
                  <a:srgbClr val="969696"/>
                </a:solidFill>
              </a:rPr>
              <a:t>(for notebooks)</a:t>
            </a:r>
            <a:endParaRPr lang="pl-PL" sz="28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Smart cards,</a:t>
            </a:r>
            <a:r>
              <a:rPr lang="pl-PL" sz="2800" dirty="0"/>
              <a:t> dongles, hadware keys,</a:t>
            </a:r>
          </a:p>
        </p:txBody>
      </p:sp>
    </p:spTree>
    <p:extLst>
      <p:ext uri="{BB962C8B-B14F-4D97-AF65-F5344CB8AC3E}">
        <p14:creationId xmlns:p14="http://schemas.microsoft.com/office/powerpoint/2010/main" val="9085291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Logical Access </a:t>
            </a:r>
            <a:r>
              <a:rPr lang="en-US" dirty="0" smtClean="0"/>
              <a:t>Controls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275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 smtClean="0"/>
              <a:t>Policies &amp; Procedures:</a:t>
            </a:r>
            <a:endParaRPr lang="pl-PL" b="1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Policy vs. </a:t>
            </a:r>
            <a:r>
              <a:rPr lang="pl-PL" dirty="0"/>
              <a:t>Procedure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Policy:	</a:t>
            </a:r>
            <a:r>
              <a:rPr lang="pl-PL" dirty="0"/>
              <a:t> </a:t>
            </a:r>
            <a:r>
              <a:rPr lang="en-US" i="1" dirty="0"/>
              <a:t>What</a:t>
            </a:r>
            <a:r>
              <a:rPr lang="en-US" dirty="0"/>
              <a:t> </a:t>
            </a:r>
            <a:r>
              <a:rPr lang="en-US" dirty="0" smtClean="0"/>
              <a:t>is allowed and what is </a:t>
            </a:r>
            <a:r>
              <a:rPr lang="en-US" dirty="0"/>
              <a:t>not </a:t>
            </a:r>
            <a:r>
              <a:rPr lang="en-US" dirty="0" smtClean="0"/>
              <a:t>?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l-PL" dirty="0"/>
              <a:t>Procedure</a:t>
            </a:r>
            <a:r>
              <a:rPr lang="en-US" dirty="0"/>
              <a:t>:</a:t>
            </a:r>
            <a:r>
              <a:rPr lang="pl-PL" dirty="0"/>
              <a:t> </a:t>
            </a:r>
            <a:r>
              <a:rPr lang="en-US" dirty="0" smtClean="0"/>
              <a:t>	</a:t>
            </a:r>
            <a:r>
              <a:rPr lang="en-US" i="1" dirty="0" smtClean="0"/>
              <a:t>How</a:t>
            </a:r>
            <a:r>
              <a:rPr lang="en-US" dirty="0" smtClean="0"/>
              <a:t> </a:t>
            </a:r>
            <a:r>
              <a:rPr lang="en-US" dirty="0"/>
              <a:t>you enforce </a:t>
            </a:r>
            <a:r>
              <a:rPr lang="pl-PL" dirty="0" smtClean="0"/>
              <a:t>policy</a:t>
            </a:r>
            <a:r>
              <a:rPr lang="en-US" dirty="0" smtClean="0"/>
              <a:t>?</a:t>
            </a:r>
            <a:endParaRPr lang="pl-PL" dirty="0"/>
          </a:p>
          <a:p>
            <a:pPr lvl="1"/>
            <a:endParaRPr lang="pl-PL" sz="900" dirty="0"/>
          </a:p>
          <a:p>
            <a:pPr>
              <a:buFont typeface="Courier New" panose="02070309020205020404" pitchFamily="49" charset="0"/>
              <a:buChar char="o"/>
            </a:pPr>
            <a:r>
              <a:rPr lang="pl-PL" dirty="0"/>
              <a:t>Advantages of </a:t>
            </a:r>
            <a:r>
              <a:rPr lang="en-US" dirty="0" smtClean="0"/>
              <a:t>policy</a:t>
            </a:r>
            <a:r>
              <a:rPr lang="pl-PL" dirty="0" smtClean="0"/>
              <a:t>/procedure </a:t>
            </a:r>
            <a:r>
              <a:rPr lang="pl-PL" dirty="0"/>
              <a:t>controls: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l-PL" dirty="0"/>
              <a:t>Can replace hardware/software controls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l-PL" dirty="0"/>
              <a:t>Can be least </a:t>
            </a:r>
            <a:r>
              <a:rPr lang="pl-PL" dirty="0" smtClean="0"/>
              <a:t>expensive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8021702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Access Control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3200" dirty="0"/>
              <a:t>The goal of access control is to </a:t>
            </a:r>
            <a:r>
              <a:rPr lang="en-US" sz="3200" dirty="0">
                <a:solidFill>
                  <a:srgbClr val="C00000"/>
                </a:solidFill>
              </a:rPr>
              <a:t>minimize the security risk </a:t>
            </a:r>
            <a:r>
              <a:rPr lang="en-US" sz="3200" dirty="0"/>
              <a:t>of unauthorized access </a:t>
            </a:r>
            <a:r>
              <a:rPr lang="en-US" sz="3200" dirty="0" smtClean="0"/>
              <a:t>to </a:t>
            </a:r>
            <a:r>
              <a:rPr lang="en-US" sz="3200" dirty="0"/>
              <a:t>physical and logical systems</a:t>
            </a:r>
            <a:r>
              <a:rPr lang="en-US" sz="3200" dirty="0" smtClean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3200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3200" dirty="0"/>
              <a:t>Most organizations have </a:t>
            </a:r>
            <a:r>
              <a:rPr lang="en-US" sz="3200" dirty="0">
                <a:solidFill>
                  <a:srgbClr val="C00000"/>
                </a:solidFill>
              </a:rPr>
              <a:t>infrastructure</a:t>
            </a:r>
            <a:r>
              <a:rPr lang="en-US" sz="3200" dirty="0"/>
              <a:t> and </a:t>
            </a:r>
            <a:r>
              <a:rPr lang="en-US" sz="3200" dirty="0">
                <a:solidFill>
                  <a:srgbClr val="C00000"/>
                </a:solidFill>
              </a:rPr>
              <a:t>procedures</a:t>
            </a:r>
            <a:r>
              <a:rPr lang="en-US" sz="3200" dirty="0"/>
              <a:t> that limit access to networks, computer systems, applications, files and sensitive </a:t>
            </a:r>
            <a:r>
              <a:rPr lang="en-US" sz="3200" dirty="0" smtClean="0"/>
              <a:t>data, such as personally identifiable information (PII) and intellectual property.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824512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 smtClean="0"/>
              <a:t>Principles </a:t>
            </a:r>
            <a:r>
              <a:rPr lang="pl-PL" dirty="0"/>
              <a:t>of Computer Security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C00000"/>
                </a:solidFill>
              </a:rPr>
              <a:t>Principle of Easiest </a:t>
            </a:r>
            <a:r>
              <a:rPr lang="en-US" dirty="0" smtClean="0">
                <a:solidFill>
                  <a:srgbClr val="C00000"/>
                </a:solidFill>
              </a:rPr>
              <a:t>Penetration</a:t>
            </a:r>
            <a:endParaRPr lang="en-US" dirty="0" smtClean="0">
              <a:solidFill>
                <a:srgbClr val="969696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000000"/>
                </a:solidFill>
              </a:rPr>
              <a:t>	An intruder must be expected to use any</a:t>
            </a:r>
            <a:r>
              <a:rPr lang="pl-PL" dirty="0" smtClean="0">
                <a:solidFill>
                  <a:srgbClr val="000000"/>
                </a:solidFill>
              </a:rPr>
              <a:t> </a:t>
            </a:r>
            <a:r>
              <a:rPr lang="en-US" dirty="0" smtClean="0">
                <a:solidFill>
                  <a:srgbClr val="000000"/>
                </a:solidFill>
              </a:rPr>
              <a:t>available means of penetration</a:t>
            </a:r>
            <a:r>
              <a:rPr lang="pl-PL" dirty="0" smtClean="0">
                <a:solidFill>
                  <a:srgbClr val="000000"/>
                </a:solidFill>
              </a:rPr>
              <a:t>.</a:t>
            </a:r>
            <a:endParaRPr lang="en-US" dirty="0" smtClean="0">
              <a:solidFill>
                <a:srgbClr val="000000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pl-PL" sz="2400" dirty="0">
                <a:solidFill>
                  <a:srgbClr val="000000"/>
                </a:solidFill>
              </a:rPr>
              <a:t>The penetration may not necessarily be by the most obvious means, nor is it necessarily the one against which the most solid defense has been installed.</a:t>
            </a:r>
          </a:p>
          <a:p>
            <a:pPr>
              <a:buNone/>
            </a:pPr>
            <a:endParaRPr lang="en-US" sz="2400" dirty="0">
              <a:solidFill>
                <a:srgbClr val="000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C00000"/>
                </a:solidFill>
              </a:rPr>
              <a:t>Principle of Adequate Protection</a:t>
            </a:r>
            <a:r>
              <a:rPr lang="pl-PL" dirty="0">
                <a:solidFill>
                  <a:srgbClr val="C00000"/>
                </a:solidFill>
              </a:rPr>
              <a:t> </a:t>
            </a:r>
            <a:endParaRPr lang="pl-PL" dirty="0" smtClean="0">
              <a:solidFill>
                <a:srgbClr val="969696"/>
              </a:solidFill>
            </a:endParaRPr>
          </a:p>
          <a:p>
            <a:pPr>
              <a:buNone/>
            </a:pPr>
            <a:r>
              <a:rPr lang="pl-PL" dirty="0" smtClean="0">
                <a:solidFill>
                  <a:srgbClr val="000000"/>
                </a:solidFill>
              </a:rPr>
              <a:t>	</a:t>
            </a:r>
            <a:r>
              <a:rPr lang="en-US" dirty="0" smtClean="0">
                <a:solidFill>
                  <a:srgbClr val="000000"/>
                </a:solidFill>
              </a:rPr>
              <a:t>Computer items must be protected </a:t>
            </a:r>
            <a:r>
              <a:rPr lang="pl-PL" dirty="0" smtClean="0">
                <a:solidFill>
                  <a:srgbClr val="000000"/>
                </a:solidFill>
              </a:rPr>
              <a:t>to a degree consistent with their value and </a:t>
            </a:r>
            <a:r>
              <a:rPr lang="en-US" dirty="0" smtClean="0">
                <a:solidFill>
                  <a:srgbClr val="000000"/>
                </a:solidFill>
              </a:rPr>
              <a:t>only until they</a:t>
            </a:r>
            <a:r>
              <a:rPr lang="pl-PL" dirty="0" smtClean="0">
                <a:solidFill>
                  <a:srgbClr val="000000"/>
                </a:solidFill>
              </a:rPr>
              <a:t> </a:t>
            </a:r>
            <a:r>
              <a:rPr lang="en-US" dirty="0" smtClean="0">
                <a:solidFill>
                  <a:srgbClr val="000000"/>
                </a:solidFill>
              </a:rPr>
              <a:t>lose their value</a:t>
            </a:r>
            <a:r>
              <a:rPr lang="pl-PL" dirty="0" smtClean="0">
                <a:solidFill>
                  <a:srgbClr val="000000"/>
                </a:solidFill>
              </a:rPr>
              <a:t>.				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660409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 smtClean="0"/>
              <a:t>Principles </a:t>
            </a:r>
            <a:r>
              <a:rPr lang="pl-PL" dirty="0"/>
              <a:t>of Computer Security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Principle of Effectiveness</a:t>
            </a:r>
            <a:r>
              <a:rPr lang="pl-PL" sz="3200" dirty="0">
                <a:solidFill>
                  <a:srgbClr val="C00000"/>
                </a:solidFill>
              </a:rPr>
              <a:t> </a:t>
            </a:r>
            <a:endParaRPr lang="en-US" sz="3200" dirty="0" smtClean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3200" dirty="0" smtClean="0">
                <a:solidFill>
                  <a:srgbClr val="000000"/>
                </a:solidFill>
              </a:rPr>
              <a:t>	Controls must be used—and used properly—to be effective</a:t>
            </a:r>
            <a:r>
              <a:rPr lang="pl-PL" sz="3200" dirty="0" smtClean="0">
                <a:solidFill>
                  <a:srgbClr val="000000"/>
                </a:solidFill>
              </a:rPr>
              <a:t>.</a:t>
            </a:r>
          </a:p>
          <a:p>
            <a:pPr>
              <a:buFont typeface="Wingdings" panose="05000000000000000000" pitchFamily="2" charset="2"/>
              <a:buNone/>
            </a:pPr>
            <a:r>
              <a:rPr lang="pl-PL" sz="3200" dirty="0">
                <a:solidFill>
                  <a:srgbClr val="000000"/>
                </a:solidFill>
              </a:rPr>
              <a:t>	</a:t>
            </a:r>
            <a:r>
              <a:rPr lang="pl-PL" dirty="0">
                <a:solidFill>
                  <a:srgbClr val="000000"/>
                </a:solidFill>
              </a:rPr>
              <a:t>They must be efficient, easy to use, and appropriate</a:t>
            </a:r>
            <a:r>
              <a:rPr lang="pl-PL" sz="3200" dirty="0">
                <a:solidFill>
                  <a:srgbClr val="000000"/>
                </a:solidFill>
              </a:rPr>
              <a:t>.</a:t>
            </a:r>
          </a:p>
          <a:p>
            <a:pPr>
              <a:buFont typeface="Wingdings" panose="05000000000000000000" pitchFamily="2" charset="2"/>
              <a:buNone/>
            </a:pPr>
            <a:endParaRPr lang="en-US" sz="3200" dirty="0">
              <a:solidFill>
                <a:srgbClr val="000000"/>
              </a:solidFill>
            </a:endParaRPr>
          </a:p>
          <a:p>
            <a:r>
              <a:rPr lang="en-US" sz="3200" dirty="0">
                <a:solidFill>
                  <a:srgbClr val="C00000"/>
                </a:solidFill>
              </a:rPr>
              <a:t>Principle of Weakest Link</a:t>
            </a:r>
            <a:r>
              <a:rPr lang="pl-PL" sz="3200" dirty="0">
                <a:solidFill>
                  <a:srgbClr val="C00000"/>
                </a:solidFill>
              </a:rPr>
              <a:t> </a:t>
            </a:r>
            <a:endParaRPr lang="en-US" sz="3200" dirty="0">
              <a:solidFill>
                <a:srgbClr val="969696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3200" dirty="0">
                <a:solidFill>
                  <a:srgbClr val="000000"/>
                </a:solidFill>
              </a:rPr>
              <a:t>	Security can be no stronger than its</a:t>
            </a:r>
            <a:r>
              <a:rPr lang="en-US" sz="3200" dirty="0"/>
              <a:t> weakest link</a:t>
            </a:r>
            <a:r>
              <a:rPr lang="pl-PL" sz="3200" dirty="0"/>
              <a:t>. </a:t>
            </a:r>
          </a:p>
          <a:p>
            <a:pPr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pl-PL" dirty="0"/>
              <a:t>	Whether it is the power supply that powers the firewall or the operating system under the security application or the human, who plans, implements, and administers controls, a failure of any control can lead to a security failure.</a:t>
            </a:r>
            <a:endParaRPr lang="en-US" dirty="0"/>
          </a:p>
          <a:p>
            <a:pPr>
              <a:buNone/>
            </a:pPr>
            <a:r>
              <a:rPr lang="pl-PL" dirty="0" smtClean="0">
                <a:solidFill>
                  <a:srgbClr val="000000"/>
                </a:solidFill>
              </a:rPr>
              <a:t>.				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56108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1891</TotalTime>
  <Words>1432</Words>
  <Application>Microsoft Office PowerPoint</Application>
  <PresentationFormat>Widescreen</PresentationFormat>
  <Paragraphs>286</Paragraphs>
  <Slides>33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Calibri Light</vt:lpstr>
      <vt:lpstr>Courier New</vt:lpstr>
      <vt:lpstr>Times New Roman</vt:lpstr>
      <vt:lpstr>Wingdings</vt:lpstr>
      <vt:lpstr>Office Theme</vt:lpstr>
      <vt:lpstr>Professional Practices</vt:lpstr>
      <vt:lpstr>Week 14 Topic: Introduction to Computer Privacy and Security Principles</vt:lpstr>
      <vt:lpstr>What does “Secure” Computer System mean?</vt:lpstr>
      <vt:lpstr>Information Security Principles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CIA: Information Security Principles</vt:lpstr>
      <vt:lpstr>Information Security Policy Architecture (ISPA)</vt:lpstr>
      <vt:lpstr>Information Security Policy Architecture (ISPA)</vt:lpstr>
      <vt:lpstr>Information Security Policy Architecture (ISPA)</vt:lpstr>
      <vt:lpstr>Access Control</vt:lpstr>
      <vt:lpstr>Access Control</vt:lpstr>
      <vt:lpstr>Physical Access Controls</vt:lpstr>
      <vt:lpstr>Logical Access Controls</vt:lpstr>
      <vt:lpstr>Logical Access Controls</vt:lpstr>
      <vt:lpstr>Logical Access Controls</vt:lpstr>
      <vt:lpstr>Logical Access Controls</vt:lpstr>
      <vt:lpstr>Access Control Objectives</vt:lpstr>
      <vt:lpstr>Principles of Computer Security</vt:lpstr>
      <vt:lpstr>Principles of Computer Security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Practices</dc:title>
  <dc:creator>Abdul Jamil</dc:creator>
  <cp:lastModifiedBy>Windows User</cp:lastModifiedBy>
  <cp:revision>845</cp:revision>
  <dcterms:created xsi:type="dcterms:W3CDTF">2020-11-20T07:57:39Z</dcterms:created>
  <dcterms:modified xsi:type="dcterms:W3CDTF">2021-01-03T22:16:00Z</dcterms:modified>
</cp:coreProperties>
</file>
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Barlow" panose="00000500000000000000" pitchFamily="2" charset="0"/>
      <p:regular r:id="rId12"/>
      <p:bold r:id="rId13"/>
      <p:boldItalic r:id="rId14"/>
    </p:embeddedFont>
    <p:embeddedFont>
      <p:font typeface="Barlow Bold" panose="00000800000000000000" pitchFamily="2" charset="0"/>
      <p:bold r:id="rId15"/>
    </p:embeddedFont>
    <p:embeddedFont>
      <p:font typeface="Calibri" panose="020F0502020204030204" pitchFamily="34" charset="0"/>
      <p:regular r:id="rId16"/>
      <p:bold r:id="rId17"/>
      <p:italic r:id="rId18"/>
      <p:boldItalic r:id="rId19"/>
    </p:embeddedFont>
  </p:embeddedFontLst>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3718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3027878"/>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Ethical Hacking: A Scientific Process</a:t>
            </a:r>
            <a:endParaRPr lang="en-US" sz="4300" dirty="0"/>
          </a:p>
        </p:txBody>
      </p:sp>
      <p:sp>
        <p:nvSpPr>
          <p:cNvPr id="4" name="Shape 1"/>
          <p:cNvSpPr/>
          <p:nvPr/>
        </p:nvSpPr>
        <p:spPr>
          <a:xfrm>
            <a:off x="864037" y="4788218"/>
            <a:ext cx="394930" cy="394930"/>
          </a:xfrm>
          <a:prstGeom prst="roundRect">
            <a:avLst>
              <a:gd name="adj" fmla="val 23151155"/>
            </a:avLst>
          </a:prstGeom>
          <a:noFill/>
          <a:ln w="7620">
            <a:solidFill>
              <a:srgbClr val="FFFFFF"/>
            </a:solidFill>
            <a:prstDash val="solid"/>
          </a:ln>
        </p:spPr>
      </p:sp>
      <p:pic>
        <p:nvPicPr>
          <p:cNvPr id="5" name="Image 1" descr="preencoded.png"/>
          <p:cNvPicPr>
            <a:picLocks noChangeAspect="1"/>
          </p:cNvPicPr>
          <p:nvPr/>
        </p:nvPicPr>
        <p:blipFill>
          <a:blip r:embed="rId4"/>
          <a:stretch>
            <a:fillRect/>
          </a:stretch>
        </p:blipFill>
        <p:spPr>
          <a:xfrm>
            <a:off x="871657" y="4795838"/>
            <a:ext cx="379690" cy="379690"/>
          </a:xfrm>
          <a:prstGeom prst="rect">
            <a:avLst/>
          </a:prstGeom>
        </p:spPr>
      </p:pic>
      <p:sp>
        <p:nvSpPr>
          <p:cNvPr id="6" name="Text 2"/>
          <p:cNvSpPr/>
          <p:nvPr/>
        </p:nvSpPr>
        <p:spPr>
          <a:xfrm>
            <a:off x="1382316" y="4769763"/>
            <a:ext cx="3121700" cy="431959"/>
          </a:xfrm>
          <a:prstGeom prst="rect">
            <a:avLst/>
          </a:prstGeom>
          <a:noFill/>
          <a:ln/>
        </p:spPr>
        <p:txBody>
          <a:bodyPr wrap="none" lIns="0" tIns="0" rIns="0" bIns="0" rtlCol="0" anchor="t"/>
          <a:lstStyle/>
          <a:p>
            <a:pPr marL="0" indent="0" algn="l">
              <a:lnSpc>
                <a:spcPts val="3400"/>
              </a:lnSpc>
              <a:buNone/>
            </a:pPr>
            <a:r>
              <a:rPr lang="en-US" sz="2400" b="1" dirty="0">
                <a:solidFill>
                  <a:srgbClr val="E0E4E6"/>
                </a:solidFill>
                <a:latin typeface="Barlow Bold" pitchFamily="34" charset="0"/>
                <a:ea typeface="Barlow Bold" pitchFamily="34" charset="-122"/>
                <a:cs typeface="Barlow Bold" pitchFamily="34" charset="-120"/>
              </a:rPr>
              <a:t>by Mian Daniyal Hassan</a:t>
            </a:r>
            <a:endParaRPr lang="en-US" sz="2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3522226"/>
            <a:ext cx="7415927" cy="1185148"/>
          </a:xfrm>
          <a:prstGeom prst="rect">
            <a:avLst/>
          </a:prstGeom>
          <a:noFill/>
          <a:ln/>
        </p:spPr>
        <p:txBody>
          <a:bodyPr wrap="square" lIns="0" tIns="0" rIns="0" bIns="0" rtlCol="0" anchor="t"/>
          <a:lstStyle/>
          <a:p>
            <a:pPr marL="0" indent="0">
              <a:lnSpc>
                <a:spcPts val="3100"/>
              </a:lnSpc>
              <a:buNone/>
            </a:pPr>
            <a:r>
              <a:rPr lang="en-US" sz="4000" b="1" i="1" dirty="0">
                <a:solidFill>
                  <a:srgbClr val="E0E4E6"/>
                </a:solidFill>
                <a:latin typeface="Barlow" pitchFamily="34" charset="0"/>
                <a:ea typeface="Barlow" pitchFamily="34" charset="-122"/>
                <a:cs typeface="Barlow" pitchFamily="34" charset="-120"/>
              </a:rPr>
              <a:t>Ethical Hacking :</a:t>
            </a:r>
          </a:p>
          <a:p>
            <a:pPr marL="0" indent="0">
              <a:lnSpc>
                <a:spcPts val="3100"/>
              </a:lnSpc>
              <a:buNone/>
            </a:pPr>
            <a:r>
              <a:rPr lang="en-US" sz="1900" dirty="0">
                <a:solidFill>
                  <a:srgbClr val="E0E4E6"/>
                </a:solidFill>
                <a:latin typeface="Barlow" pitchFamily="34" charset="0"/>
                <a:ea typeface="Barlow" pitchFamily="34" charset="-122"/>
                <a:cs typeface="Barlow" pitchFamily="34" charset="-120"/>
              </a:rPr>
              <a:t>
</a:t>
            </a:r>
            <a:r>
              <a:rPr lang="en-US" sz="1900" b="1" dirty="0">
                <a:solidFill>
                  <a:srgbClr val="E0E4E6"/>
                </a:solidFill>
                <a:latin typeface="Barlow" pitchFamily="34" charset="0"/>
                <a:ea typeface="Barlow" pitchFamily="34" charset="-122"/>
                <a:cs typeface="Barlow" pitchFamily="34" charset="-120"/>
              </a:rPr>
              <a:t>Ethical hacking</a:t>
            </a:r>
            <a:r>
              <a:rPr lang="en-US" sz="1900" dirty="0">
                <a:solidFill>
                  <a:srgbClr val="E0E4E6"/>
                </a:solidFill>
                <a:latin typeface="Barlow" pitchFamily="34" charset="0"/>
                <a:ea typeface="Barlow" pitchFamily="34" charset="-122"/>
                <a:cs typeface="Barlow" pitchFamily="34" charset="-120"/>
              </a:rPr>
              <a:t> is the practice of testing a system's security to identify and fix weaknesses, but legally and with permission.</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2179439"/>
            <a:ext cx="8194834"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Planning: Laying the Foundation</a:t>
            </a:r>
            <a:endParaRPr lang="en-US" sz="4300" dirty="0"/>
          </a:p>
        </p:txBody>
      </p:sp>
      <p:sp>
        <p:nvSpPr>
          <p:cNvPr id="3" name="Text 1"/>
          <p:cNvSpPr/>
          <p:nvPr/>
        </p:nvSpPr>
        <p:spPr>
          <a:xfrm>
            <a:off x="864037" y="3457694"/>
            <a:ext cx="6150054" cy="158019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Ethical hackers carefully plan and define their goals. They identify the specific systems and networks they'll target, the vulnerabilities they're seeking, and the acceptable boundaries for their actions.</a:t>
            </a:r>
            <a:endParaRPr lang="en-US" sz="1900" dirty="0"/>
          </a:p>
        </p:txBody>
      </p:sp>
      <p:sp>
        <p:nvSpPr>
          <p:cNvPr id="4" name="Text 2"/>
          <p:cNvSpPr/>
          <p:nvPr/>
        </p:nvSpPr>
        <p:spPr>
          <a:xfrm>
            <a:off x="7623929" y="3457694"/>
            <a:ext cx="6150054" cy="2370296"/>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Ethical hackers must obtain proper authorization and legal agreements before commencing their operations. This involves defining the scope of the hacking project, outlining the objectives, and gaining consent from the organization or individuals responsible for the targeted systems.</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535906"/>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Reconnaissance: Gathering Intelligence</a:t>
            </a:r>
            <a:endParaRPr lang="en-US" sz="4300" dirty="0"/>
          </a:p>
        </p:txBody>
      </p:sp>
      <p:sp>
        <p:nvSpPr>
          <p:cNvPr id="4" name="Shape 1"/>
          <p:cNvSpPr/>
          <p:nvPr/>
        </p:nvSpPr>
        <p:spPr>
          <a:xfrm>
            <a:off x="6350437" y="3277791"/>
            <a:ext cx="3584615" cy="3415903"/>
          </a:xfrm>
          <a:prstGeom prst="roundRect">
            <a:avLst>
              <a:gd name="adj" fmla="val 10841"/>
            </a:avLst>
          </a:prstGeom>
          <a:solidFill>
            <a:srgbClr val="0A081B"/>
          </a:solidFill>
          <a:ln w="30480">
            <a:solidFill>
              <a:srgbClr val="16FFBB"/>
            </a:solidFill>
            <a:prstDash val="solid"/>
          </a:ln>
        </p:spPr>
      </p:sp>
      <p:sp>
        <p:nvSpPr>
          <p:cNvPr id="5" name="Text 2"/>
          <p:cNvSpPr/>
          <p:nvPr/>
        </p:nvSpPr>
        <p:spPr>
          <a:xfrm>
            <a:off x="6627733" y="3555087"/>
            <a:ext cx="2867144"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Gathering Information</a:t>
            </a:r>
            <a:endParaRPr lang="en-US" sz="2150" dirty="0"/>
          </a:p>
        </p:txBody>
      </p:sp>
      <p:sp>
        <p:nvSpPr>
          <p:cNvPr id="6" name="Text 3"/>
          <p:cNvSpPr/>
          <p:nvPr/>
        </p:nvSpPr>
        <p:spPr>
          <a:xfrm>
            <a:off x="6627733" y="4046101"/>
            <a:ext cx="3030022" cy="2370296"/>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This phase involves collecting publicly available information about the target system, including websites, social media profiles, and other sources.</a:t>
            </a:r>
            <a:endParaRPr lang="en-US" sz="1900" dirty="0"/>
          </a:p>
        </p:txBody>
      </p:sp>
      <p:sp>
        <p:nvSpPr>
          <p:cNvPr id="7" name="Shape 4"/>
          <p:cNvSpPr/>
          <p:nvPr/>
        </p:nvSpPr>
        <p:spPr>
          <a:xfrm>
            <a:off x="10181868" y="3277791"/>
            <a:ext cx="3584615" cy="3415903"/>
          </a:xfrm>
          <a:prstGeom prst="roundRect">
            <a:avLst>
              <a:gd name="adj" fmla="val 10841"/>
            </a:avLst>
          </a:prstGeom>
          <a:solidFill>
            <a:srgbClr val="0A081B"/>
          </a:solidFill>
          <a:ln w="30480">
            <a:solidFill>
              <a:srgbClr val="29DDDA"/>
            </a:solidFill>
            <a:prstDash val="solid"/>
          </a:ln>
        </p:spPr>
      </p:sp>
      <p:sp>
        <p:nvSpPr>
          <p:cNvPr id="8" name="Text 5"/>
          <p:cNvSpPr/>
          <p:nvPr/>
        </p:nvSpPr>
        <p:spPr>
          <a:xfrm>
            <a:off x="10459164" y="3555087"/>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Identifying Targets</a:t>
            </a:r>
            <a:endParaRPr lang="en-US" sz="2150" dirty="0"/>
          </a:p>
        </p:txBody>
      </p:sp>
      <p:sp>
        <p:nvSpPr>
          <p:cNvPr id="9" name="Text 6"/>
          <p:cNvSpPr/>
          <p:nvPr/>
        </p:nvSpPr>
        <p:spPr>
          <a:xfrm>
            <a:off x="10459164" y="4046101"/>
            <a:ext cx="3030022" cy="2370296"/>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Ethical hackers analyze the gathered information to identify potential vulnerabilities and entry points for a simulated attack.</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776174"/>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Enumeration: Mapping the Landscape</a:t>
            </a:r>
            <a:endParaRPr lang="en-US" sz="4300" dirty="0"/>
          </a:p>
        </p:txBody>
      </p:sp>
      <p:pic>
        <p:nvPicPr>
          <p:cNvPr id="4" name="Image 1" descr="preencoded.png"/>
          <p:cNvPicPr>
            <a:picLocks noChangeAspect="1"/>
          </p:cNvPicPr>
          <p:nvPr/>
        </p:nvPicPr>
        <p:blipFill>
          <a:blip r:embed="rId4"/>
          <a:stretch>
            <a:fillRect/>
          </a:stretch>
        </p:blipFill>
        <p:spPr>
          <a:xfrm>
            <a:off x="864037" y="3518059"/>
            <a:ext cx="617220" cy="617220"/>
          </a:xfrm>
          <a:prstGeom prst="rect">
            <a:avLst/>
          </a:prstGeom>
        </p:spPr>
      </p:pic>
      <p:sp>
        <p:nvSpPr>
          <p:cNvPr id="5" name="Text 1"/>
          <p:cNvSpPr/>
          <p:nvPr/>
        </p:nvSpPr>
        <p:spPr>
          <a:xfrm>
            <a:off x="864037" y="438209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Scanning</a:t>
            </a:r>
            <a:endParaRPr lang="en-US" sz="2150" dirty="0"/>
          </a:p>
        </p:txBody>
      </p:sp>
      <p:sp>
        <p:nvSpPr>
          <p:cNvPr id="6" name="Text 2"/>
          <p:cNvSpPr/>
          <p:nvPr/>
        </p:nvSpPr>
        <p:spPr>
          <a:xfrm>
            <a:off x="864037" y="4873109"/>
            <a:ext cx="3522821" cy="1580198"/>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Ethical hackers scan the target system to discover open ports, services, and other network resources.</a:t>
            </a:r>
            <a:endParaRPr lang="en-US" sz="1900" dirty="0"/>
          </a:p>
        </p:txBody>
      </p:sp>
      <p:pic>
        <p:nvPicPr>
          <p:cNvPr id="7" name="Image 2" descr="preencoded.png"/>
          <p:cNvPicPr>
            <a:picLocks noChangeAspect="1"/>
          </p:cNvPicPr>
          <p:nvPr/>
        </p:nvPicPr>
        <p:blipFill>
          <a:blip r:embed="rId5"/>
          <a:stretch>
            <a:fillRect/>
          </a:stretch>
        </p:blipFill>
        <p:spPr>
          <a:xfrm>
            <a:off x="4757142" y="3518059"/>
            <a:ext cx="617220" cy="617220"/>
          </a:xfrm>
          <a:prstGeom prst="rect">
            <a:avLst/>
          </a:prstGeom>
        </p:spPr>
      </p:pic>
      <p:sp>
        <p:nvSpPr>
          <p:cNvPr id="8" name="Text 3"/>
          <p:cNvSpPr/>
          <p:nvPr/>
        </p:nvSpPr>
        <p:spPr>
          <a:xfrm>
            <a:off x="4757142" y="438209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Network Discovery</a:t>
            </a:r>
            <a:endParaRPr lang="en-US" sz="2150" dirty="0"/>
          </a:p>
        </p:txBody>
      </p:sp>
      <p:sp>
        <p:nvSpPr>
          <p:cNvPr id="9" name="Text 4"/>
          <p:cNvSpPr/>
          <p:nvPr/>
        </p:nvSpPr>
        <p:spPr>
          <a:xfrm>
            <a:off x="4757142" y="4873109"/>
            <a:ext cx="3522821" cy="1580198"/>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They identify the devices and systems connected to the network, including servers, workstations, and other devices.</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7" y="739497"/>
            <a:ext cx="12006262" cy="685800"/>
          </a:xfrm>
          <a:prstGeom prst="rect">
            <a:avLst/>
          </a:prstGeom>
          <a:noFill/>
          <a:ln/>
        </p:spPr>
        <p:txBody>
          <a:bodyPr wrap="non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Vulnerability Analysis: Identifying Weak Points</a:t>
            </a:r>
            <a:endParaRPr lang="en-US" sz="4300" dirty="0"/>
          </a:p>
        </p:txBody>
      </p:sp>
      <p:sp>
        <p:nvSpPr>
          <p:cNvPr id="3" name="Shape 1"/>
          <p:cNvSpPr/>
          <p:nvPr/>
        </p:nvSpPr>
        <p:spPr>
          <a:xfrm>
            <a:off x="864037" y="1919049"/>
            <a:ext cx="2150269" cy="1774746"/>
          </a:xfrm>
          <a:prstGeom prst="roundRect">
            <a:avLst>
              <a:gd name="adj" fmla="val 20867"/>
            </a:avLst>
          </a:prstGeom>
          <a:solidFill>
            <a:srgbClr val="0A081B"/>
          </a:solidFill>
          <a:ln w="30480">
            <a:solidFill>
              <a:srgbClr val="16FFBB"/>
            </a:solidFill>
            <a:prstDash val="solid"/>
          </a:ln>
        </p:spPr>
      </p:sp>
      <p:sp>
        <p:nvSpPr>
          <p:cNvPr id="4" name="Text 2"/>
          <p:cNvSpPr/>
          <p:nvPr/>
        </p:nvSpPr>
        <p:spPr>
          <a:xfrm>
            <a:off x="1141333" y="2559487"/>
            <a:ext cx="133588"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1</a:t>
            </a:r>
            <a:endParaRPr lang="en-US" sz="2400" dirty="0"/>
          </a:p>
        </p:txBody>
      </p:sp>
      <p:sp>
        <p:nvSpPr>
          <p:cNvPr id="5" name="Text 3"/>
          <p:cNvSpPr/>
          <p:nvPr/>
        </p:nvSpPr>
        <p:spPr>
          <a:xfrm>
            <a:off x="3261122" y="2165866"/>
            <a:ext cx="2943582"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Vulnerability Scanning</a:t>
            </a:r>
            <a:endParaRPr lang="en-US" sz="2150" dirty="0"/>
          </a:p>
        </p:txBody>
      </p:sp>
      <p:sp>
        <p:nvSpPr>
          <p:cNvPr id="6" name="Text 4"/>
          <p:cNvSpPr/>
          <p:nvPr/>
        </p:nvSpPr>
        <p:spPr>
          <a:xfrm>
            <a:off x="3261122" y="2656880"/>
            <a:ext cx="10258425"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Automated tools and manual techniques are used to identify weaknesses in software, configurations, and operating systems.</a:t>
            </a:r>
            <a:endParaRPr lang="en-US" sz="1900" dirty="0"/>
          </a:p>
        </p:txBody>
      </p:sp>
      <p:sp>
        <p:nvSpPr>
          <p:cNvPr id="7" name="Shape 5"/>
          <p:cNvSpPr/>
          <p:nvPr/>
        </p:nvSpPr>
        <p:spPr>
          <a:xfrm>
            <a:off x="3137654" y="3678555"/>
            <a:ext cx="10505361" cy="15240"/>
          </a:xfrm>
          <a:prstGeom prst="roundRect">
            <a:avLst>
              <a:gd name="adj" fmla="val 2430000"/>
            </a:avLst>
          </a:prstGeom>
          <a:solidFill>
            <a:srgbClr val="16FFBB"/>
          </a:solidFill>
          <a:ln/>
        </p:spPr>
      </p:sp>
      <p:sp>
        <p:nvSpPr>
          <p:cNvPr id="8" name="Shape 6"/>
          <p:cNvSpPr/>
          <p:nvPr/>
        </p:nvSpPr>
        <p:spPr>
          <a:xfrm>
            <a:off x="864037" y="3817144"/>
            <a:ext cx="4300657" cy="1774746"/>
          </a:xfrm>
          <a:prstGeom prst="roundRect">
            <a:avLst>
              <a:gd name="adj" fmla="val 20867"/>
            </a:avLst>
          </a:prstGeom>
          <a:solidFill>
            <a:srgbClr val="0A081B"/>
          </a:solidFill>
          <a:ln w="30480">
            <a:solidFill>
              <a:srgbClr val="29DDDA"/>
            </a:solidFill>
            <a:prstDash val="solid"/>
          </a:ln>
        </p:spPr>
      </p:sp>
      <p:sp>
        <p:nvSpPr>
          <p:cNvPr id="9" name="Text 7"/>
          <p:cNvSpPr/>
          <p:nvPr/>
        </p:nvSpPr>
        <p:spPr>
          <a:xfrm>
            <a:off x="1141333" y="4457581"/>
            <a:ext cx="171688"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2</a:t>
            </a:r>
            <a:endParaRPr lang="en-US" sz="2400" dirty="0"/>
          </a:p>
        </p:txBody>
      </p:sp>
      <p:sp>
        <p:nvSpPr>
          <p:cNvPr id="10" name="Text 8"/>
          <p:cNvSpPr/>
          <p:nvPr/>
        </p:nvSpPr>
        <p:spPr>
          <a:xfrm>
            <a:off x="5411510" y="4063960"/>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Exploit Research</a:t>
            </a:r>
            <a:endParaRPr lang="en-US" sz="2150" dirty="0"/>
          </a:p>
        </p:txBody>
      </p:sp>
      <p:sp>
        <p:nvSpPr>
          <p:cNvPr id="11" name="Text 9"/>
          <p:cNvSpPr/>
          <p:nvPr/>
        </p:nvSpPr>
        <p:spPr>
          <a:xfrm>
            <a:off x="5411510" y="4554974"/>
            <a:ext cx="8108037"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Ethical hackers research known exploits and vulnerabilities to determine how they could be used to gain unauthorized access.</a:t>
            </a:r>
            <a:endParaRPr lang="en-US" sz="1900" dirty="0"/>
          </a:p>
        </p:txBody>
      </p:sp>
      <p:sp>
        <p:nvSpPr>
          <p:cNvPr id="12" name="Shape 10"/>
          <p:cNvSpPr/>
          <p:nvPr/>
        </p:nvSpPr>
        <p:spPr>
          <a:xfrm>
            <a:off x="5288042" y="5576649"/>
            <a:ext cx="8354973" cy="15240"/>
          </a:xfrm>
          <a:prstGeom prst="roundRect">
            <a:avLst>
              <a:gd name="adj" fmla="val 2430000"/>
            </a:avLst>
          </a:prstGeom>
          <a:solidFill>
            <a:srgbClr val="29DDDA"/>
          </a:solidFill>
          <a:ln/>
        </p:spPr>
      </p:sp>
      <p:sp>
        <p:nvSpPr>
          <p:cNvPr id="13" name="Shape 11"/>
          <p:cNvSpPr/>
          <p:nvPr/>
        </p:nvSpPr>
        <p:spPr>
          <a:xfrm>
            <a:off x="864037" y="5715238"/>
            <a:ext cx="6451163" cy="1774746"/>
          </a:xfrm>
          <a:prstGeom prst="roundRect">
            <a:avLst>
              <a:gd name="adj" fmla="val 20867"/>
            </a:avLst>
          </a:prstGeom>
          <a:solidFill>
            <a:srgbClr val="0A081B"/>
          </a:solidFill>
          <a:ln w="30480">
            <a:solidFill>
              <a:srgbClr val="37A7E7"/>
            </a:solidFill>
            <a:prstDash val="solid"/>
          </a:ln>
        </p:spPr>
      </p:sp>
      <p:sp>
        <p:nvSpPr>
          <p:cNvPr id="14" name="Text 12"/>
          <p:cNvSpPr/>
          <p:nvPr/>
        </p:nvSpPr>
        <p:spPr>
          <a:xfrm>
            <a:off x="1141333" y="6355675"/>
            <a:ext cx="180737" cy="493752"/>
          </a:xfrm>
          <a:prstGeom prst="rect">
            <a:avLst/>
          </a:prstGeom>
          <a:noFill/>
          <a:ln/>
        </p:spPr>
        <p:txBody>
          <a:bodyPr wrap="none" lIns="0" tIns="0" rIns="0" bIns="0" rtlCol="0" anchor="t"/>
          <a:lstStyle/>
          <a:p>
            <a:pPr marL="0" indent="0" algn="ctr">
              <a:lnSpc>
                <a:spcPts val="3850"/>
              </a:lnSpc>
              <a:buNone/>
            </a:pPr>
            <a:r>
              <a:rPr lang="en-US" sz="2400" b="1" dirty="0">
                <a:solidFill>
                  <a:srgbClr val="E0E4E6"/>
                </a:solidFill>
                <a:latin typeface="Spline Sans Bold" pitchFamily="34" charset="0"/>
                <a:ea typeface="Spline Sans Bold" pitchFamily="34" charset="-122"/>
                <a:cs typeface="Spline Sans Bold" pitchFamily="34" charset="-120"/>
              </a:rPr>
              <a:t>3</a:t>
            </a:r>
            <a:endParaRPr lang="en-US" sz="2400" dirty="0"/>
          </a:p>
        </p:txBody>
      </p:sp>
      <p:sp>
        <p:nvSpPr>
          <p:cNvPr id="15" name="Text 13"/>
          <p:cNvSpPr/>
          <p:nvPr/>
        </p:nvSpPr>
        <p:spPr>
          <a:xfrm>
            <a:off x="7562017" y="596205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E0E4E6"/>
                </a:solidFill>
                <a:latin typeface="Spline Sans Bold" pitchFamily="34" charset="0"/>
                <a:ea typeface="Spline Sans Bold" pitchFamily="34" charset="-122"/>
                <a:cs typeface="Spline Sans Bold" pitchFamily="34" charset="-120"/>
              </a:rPr>
              <a:t>Risk Assessment</a:t>
            </a:r>
            <a:endParaRPr lang="en-US" sz="2150" dirty="0"/>
          </a:p>
        </p:txBody>
      </p:sp>
      <p:sp>
        <p:nvSpPr>
          <p:cNvPr id="16" name="Text 14"/>
          <p:cNvSpPr/>
          <p:nvPr/>
        </p:nvSpPr>
        <p:spPr>
          <a:xfrm>
            <a:off x="7562017" y="6453068"/>
            <a:ext cx="5957530"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The identified vulnerabilities are categorized based on their severity and potential impact.</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071443"/>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Exploitation: Simulating Attacks</a:t>
            </a:r>
            <a:endParaRPr lang="en-US" sz="4300" dirty="0"/>
          </a:p>
        </p:txBody>
      </p:sp>
      <p:sp>
        <p:nvSpPr>
          <p:cNvPr id="4" name="Shape 1"/>
          <p:cNvSpPr/>
          <p:nvPr/>
        </p:nvSpPr>
        <p:spPr>
          <a:xfrm>
            <a:off x="6705481" y="2813328"/>
            <a:ext cx="30480" cy="4344829"/>
          </a:xfrm>
          <a:prstGeom prst="roundRect">
            <a:avLst>
              <a:gd name="adj" fmla="val 1215000"/>
            </a:avLst>
          </a:prstGeom>
          <a:solidFill>
            <a:srgbClr val="FFFFFF">
              <a:alpha val="24000"/>
            </a:srgbClr>
          </a:solidFill>
          <a:ln/>
        </p:spPr>
      </p:sp>
      <p:sp>
        <p:nvSpPr>
          <p:cNvPr id="5" name="Shape 2"/>
          <p:cNvSpPr/>
          <p:nvPr/>
        </p:nvSpPr>
        <p:spPr>
          <a:xfrm>
            <a:off x="6967954" y="3353395"/>
            <a:ext cx="864037" cy="30480"/>
          </a:xfrm>
          <a:prstGeom prst="roundRect">
            <a:avLst>
              <a:gd name="adj" fmla="val 1215000"/>
            </a:avLst>
          </a:prstGeom>
          <a:solidFill>
            <a:srgbClr val="16FFBB"/>
          </a:solidFill>
          <a:ln/>
        </p:spPr>
      </p:sp>
      <p:sp>
        <p:nvSpPr>
          <p:cNvPr id="6" name="Shape 3"/>
          <p:cNvSpPr/>
          <p:nvPr/>
        </p:nvSpPr>
        <p:spPr>
          <a:xfrm>
            <a:off x="6443008" y="3090982"/>
            <a:ext cx="555427" cy="555427"/>
          </a:xfrm>
          <a:prstGeom prst="roundRect">
            <a:avLst>
              <a:gd name="adj" fmla="val 66675"/>
            </a:avLst>
          </a:prstGeom>
          <a:solidFill>
            <a:srgbClr val="0A081B"/>
          </a:solidFill>
          <a:ln w="30480">
            <a:solidFill>
              <a:srgbClr val="16FFBB"/>
            </a:solidFill>
            <a:prstDash val="solid"/>
          </a:ln>
        </p:spPr>
      </p:sp>
      <p:sp>
        <p:nvSpPr>
          <p:cNvPr id="7" name="Text 4"/>
          <p:cNvSpPr/>
          <p:nvPr/>
        </p:nvSpPr>
        <p:spPr>
          <a:xfrm>
            <a:off x="6649462" y="3204091"/>
            <a:ext cx="142399" cy="329208"/>
          </a:xfrm>
          <a:prstGeom prst="rect">
            <a:avLst/>
          </a:prstGeom>
          <a:noFill/>
          <a:ln/>
        </p:spPr>
        <p:txBody>
          <a:bodyPr wrap="none" lIns="0" tIns="0" rIns="0" bIns="0" rtlCol="0" anchor="t"/>
          <a:lstStyle/>
          <a:p>
            <a:pPr marL="0" indent="0" algn="ctr">
              <a:lnSpc>
                <a:spcPts val="2550"/>
              </a:lnSpc>
              <a:buNone/>
            </a:pPr>
            <a:r>
              <a:rPr lang="en-US" sz="2550" b="1" dirty="0">
                <a:solidFill>
                  <a:srgbClr val="E0E4E6"/>
                </a:solidFill>
                <a:latin typeface="Spline Sans Bold" pitchFamily="34" charset="0"/>
                <a:ea typeface="Spline Sans Bold" pitchFamily="34" charset="-122"/>
                <a:cs typeface="Spline Sans Bold" pitchFamily="34" charset="-120"/>
              </a:rPr>
              <a:t>1</a:t>
            </a:r>
            <a:endParaRPr lang="en-US" sz="2550" dirty="0"/>
          </a:p>
        </p:txBody>
      </p:sp>
      <p:sp>
        <p:nvSpPr>
          <p:cNvPr id="8" name="Text 5"/>
          <p:cNvSpPr/>
          <p:nvPr/>
        </p:nvSpPr>
        <p:spPr>
          <a:xfrm>
            <a:off x="8078510" y="3060144"/>
            <a:ext cx="5687854"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Ethical hackers attempt to exploit vulnerabilities using techniques that mimic real-world attacks.</a:t>
            </a:r>
            <a:endParaRPr lang="en-US" sz="1900" dirty="0"/>
          </a:p>
        </p:txBody>
      </p:sp>
      <p:sp>
        <p:nvSpPr>
          <p:cNvPr id="9" name="Shape 6"/>
          <p:cNvSpPr/>
          <p:nvPr/>
        </p:nvSpPr>
        <p:spPr>
          <a:xfrm>
            <a:off x="6967954" y="4883944"/>
            <a:ext cx="864037" cy="30480"/>
          </a:xfrm>
          <a:prstGeom prst="roundRect">
            <a:avLst>
              <a:gd name="adj" fmla="val 1215000"/>
            </a:avLst>
          </a:prstGeom>
          <a:solidFill>
            <a:srgbClr val="29DDDA"/>
          </a:solidFill>
          <a:ln/>
        </p:spPr>
      </p:sp>
      <p:sp>
        <p:nvSpPr>
          <p:cNvPr id="10" name="Shape 7"/>
          <p:cNvSpPr/>
          <p:nvPr/>
        </p:nvSpPr>
        <p:spPr>
          <a:xfrm>
            <a:off x="6443008" y="4621530"/>
            <a:ext cx="555427" cy="555427"/>
          </a:xfrm>
          <a:prstGeom prst="roundRect">
            <a:avLst>
              <a:gd name="adj" fmla="val 66675"/>
            </a:avLst>
          </a:prstGeom>
          <a:solidFill>
            <a:srgbClr val="0A081B"/>
          </a:solidFill>
          <a:ln w="30480">
            <a:solidFill>
              <a:srgbClr val="29DDDA"/>
            </a:solidFill>
            <a:prstDash val="solid"/>
          </a:ln>
        </p:spPr>
      </p:sp>
      <p:sp>
        <p:nvSpPr>
          <p:cNvPr id="11" name="Text 8"/>
          <p:cNvSpPr/>
          <p:nvPr/>
        </p:nvSpPr>
        <p:spPr>
          <a:xfrm>
            <a:off x="6629221" y="4734639"/>
            <a:ext cx="182999" cy="329208"/>
          </a:xfrm>
          <a:prstGeom prst="rect">
            <a:avLst/>
          </a:prstGeom>
          <a:noFill/>
          <a:ln/>
        </p:spPr>
        <p:txBody>
          <a:bodyPr wrap="none" lIns="0" tIns="0" rIns="0" bIns="0" rtlCol="0" anchor="t"/>
          <a:lstStyle/>
          <a:p>
            <a:pPr marL="0" indent="0" algn="ctr">
              <a:lnSpc>
                <a:spcPts val="2550"/>
              </a:lnSpc>
              <a:buNone/>
            </a:pPr>
            <a:r>
              <a:rPr lang="en-US" sz="2550" b="1" dirty="0">
                <a:solidFill>
                  <a:srgbClr val="E0E4E6"/>
                </a:solidFill>
                <a:latin typeface="Spline Sans Bold" pitchFamily="34" charset="0"/>
                <a:ea typeface="Spline Sans Bold" pitchFamily="34" charset="-122"/>
                <a:cs typeface="Spline Sans Bold" pitchFamily="34" charset="-120"/>
              </a:rPr>
              <a:t>2</a:t>
            </a:r>
            <a:endParaRPr lang="en-US" sz="2550" dirty="0"/>
          </a:p>
        </p:txBody>
      </p:sp>
      <p:sp>
        <p:nvSpPr>
          <p:cNvPr id="12" name="Text 9"/>
          <p:cNvSpPr/>
          <p:nvPr/>
        </p:nvSpPr>
        <p:spPr>
          <a:xfrm>
            <a:off x="8078510" y="4590693"/>
            <a:ext cx="5687854"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This phase helps assess the effectiveness of security controls and identify areas for improvement.</a:t>
            </a:r>
            <a:endParaRPr lang="en-US" sz="1900" dirty="0"/>
          </a:p>
        </p:txBody>
      </p:sp>
      <p:sp>
        <p:nvSpPr>
          <p:cNvPr id="13" name="Shape 10"/>
          <p:cNvSpPr/>
          <p:nvPr/>
        </p:nvSpPr>
        <p:spPr>
          <a:xfrm>
            <a:off x="6967954" y="6414492"/>
            <a:ext cx="864037" cy="30480"/>
          </a:xfrm>
          <a:prstGeom prst="roundRect">
            <a:avLst>
              <a:gd name="adj" fmla="val 1215000"/>
            </a:avLst>
          </a:prstGeom>
          <a:solidFill>
            <a:srgbClr val="37A7E7"/>
          </a:solidFill>
          <a:ln/>
        </p:spPr>
      </p:sp>
      <p:sp>
        <p:nvSpPr>
          <p:cNvPr id="14" name="Shape 11"/>
          <p:cNvSpPr/>
          <p:nvPr/>
        </p:nvSpPr>
        <p:spPr>
          <a:xfrm>
            <a:off x="6443008" y="6152078"/>
            <a:ext cx="555427" cy="555427"/>
          </a:xfrm>
          <a:prstGeom prst="roundRect">
            <a:avLst>
              <a:gd name="adj" fmla="val 66675"/>
            </a:avLst>
          </a:prstGeom>
          <a:solidFill>
            <a:srgbClr val="0A081B"/>
          </a:solidFill>
          <a:ln w="30480">
            <a:solidFill>
              <a:srgbClr val="37A7E7"/>
            </a:solidFill>
            <a:prstDash val="solid"/>
          </a:ln>
        </p:spPr>
      </p:sp>
      <p:sp>
        <p:nvSpPr>
          <p:cNvPr id="15" name="Text 12"/>
          <p:cNvSpPr/>
          <p:nvPr/>
        </p:nvSpPr>
        <p:spPr>
          <a:xfrm>
            <a:off x="6624340" y="6265188"/>
            <a:ext cx="192762" cy="329208"/>
          </a:xfrm>
          <a:prstGeom prst="rect">
            <a:avLst/>
          </a:prstGeom>
          <a:noFill/>
          <a:ln/>
        </p:spPr>
        <p:txBody>
          <a:bodyPr wrap="none" lIns="0" tIns="0" rIns="0" bIns="0" rtlCol="0" anchor="t"/>
          <a:lstStyle/>
          <a:p>
            <a:pPr marL="0" indent="0" algn="ctr">
              <a:lnSpc>
                <a:spcPts val="2550"/>
              </a:lnSpc>
              <a:buNone/>
            </a:pPr>
            <a:r>
              <a:rPr lang="en-US" sz="2550" b="1" dirty="0">
                <a:solidFill>
                  <a:srgbClr val="E0E4E6"/>
                </a:solidFill>
                <a:latin typeface="Spline Sans Bold" pitchFamily="34" charset="0"/>
                <a:ea typeface="Spline Sans Bold" pitchFamily="34" charset="-122"/>
                <a:cs typeface="Spline Sans Bold" pitchFamily="34" charset="-120"/>
              </a:rPr>
              <a:t>3</a:t>
            </a:r>
            <a:endParaRPr lang="en-US" sz="2550" dirty="0"/>
          </a:p>
        </p:txBody>
      </p:sp>
      <p:sp>
        <p:nvSpPr>
          <p:cNvPr id="16" name="Text 13"/>
          <p:cNvSpPr/>
          <p:nvPr/>
        </p:nvSpPr>
        <p:spPr>
          <a:xfrm>
            <a:off x="8078510" y="6121241"/>
            <a:ext cx="5687854" cy="790099"/>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The attacks are carefully controlled and monitored to ensure that no real harm is caused.</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79621" y="965359"/>
            <a:ext cx="7555587" cy="618768"/>
          </a:xfrm>
          <a:prstGeom prst="rect">
            <a:avLst/>
          </a:prstGeom>
          <a:noFill/>
          <a:ln/>
        </p:spPr>
        <p:txBody>
          <a:bodyPr wrap="none" lIns="0" tIns="0" rIns="0" bIns="0" rtlCol="0" anchor="t"/>
          <a:lstStyle/>
          <a:p>
            <a:pPr marL="0" indent="0">
              <a:lnSpc>
                <a:spcPts val="4850"/>
              </a:lnSpc>
              <a:buNone/>
            </a:pPr>
            <a:r>
              <a:rPr lang="en-US" sz="3850" b="1" dirty="0">
                <a:solidFill>
                  <a:srgbClr val="F0FCFF"/>
                </a:solidFill>
                <a:latin typeface="Spline Sans Bold" pitchFamily="34" charset="0"/>
                <a:ea typeface="Spline Sans Bold" pitchFamily="34" charset="-122"/>
                <a:cs typeface="Spline Sans Bold" pitchFamily="34" charset="-120"/>
              </a:rPr>
              <a:t>Deliverables: Reporting Findings</a:t>
            </a:r>
            <a:endParaRPr lang="en-US" sz="3850" dirty="0"/>
          </a:p>
        </p:txBody>
      </p:sp>
      <p:pic>
        <p:nvPicPr>
          <p:cNvPr id="4" name="Image 1" descr="preencoded.png"/>
          <p:cNvPicPr>
            <a:picLocks noChangeAspect="1"/>
          </p:cNvPicPr>
          <p:nvPr/>
        </p:nvPicPr>
        <p:blipFill>
          <a:blip r:embed="rId4"/>
          <a:stretch>
            <a:fillRect/>
          </a:stretch>
        </p:blipFill>
        <p:spPr>
          <a:xfrm>
            <a:off x="779621" y="1918216"/>
            <a:ext cx="1113711" cy="1782008"/>
          </a:xfrm>
          <a:prstGeom prst="rect">
            <a:avLst/>
          </a:prstGeom>
        </p:spPr>
      </p:pic>
      <p:sp>
        <p:nvSpPr>
          <p:cNvPr id="5" name="Text 1"/>
          <p:cNvSpPr/>
          <p:nvPr/>
        </p:nvSpPr>
        <p:spPr>
          <a:xfrm>
            <a:off x="2227421" y="2140863"/>
            <a:ext cx="6136958" cy="1069062"/>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A comprehensive report is prepared that outlines the findings of the ethical hacking process, including identified vulnerabilities, exploited weaknesses, and recommended solutions.</a:t>
            </a:r>
            <a:endParaRPr lang="en-US" sz="1750" dirty="0"/>
          </a:p>
        </p:txBody>
      </p:sp>
      <p:pic>
        <p:nvPicPr>
          <p:cNvPr id="6" name="Image 2" descr="preencoded.png"/>
          <p:cNvPicPr>
            <a:picLocks noChangeAspect="1"/>
          </p:cNvPicPr>
          <p:nvPr/>
        </p:nvPicPr>
        <p:blipFill>
          <a:blip r:embed="rId5"/>
          <a:stretch>
            <a:fillRect/>
          </a:stretch>
        </p:blipFill>
        <p:spPr>
          <a:xfrm>
            <a:off x="779621" y="3700224"/>
            <a:ext cx="1113711" cy="1782008"/>
          </a:xfrm>
          <a:prstGeom prst="rect">
            <a:avLst/>
          </a:prstGeom>
        </p:spPr>
      </p:pic>
      <p:sp>
        <p:nvSpPr>
          <p:cNvPr id="7" name="Text 2"/>
          <p:cNvSpPr/>
          <p:nvPr/>
        </p:nvSpPr>
        <p:spPr>
          <a:xfrm>
            <a:off x="2227421" y="3922871"/>
            <a:ext cx="6136958" cy="712708"/>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The report should be clearly written and easy to understand for both technical and non-technical audiences.</a:t>
            </a:r>
            <a:endParaRPr lang="en-US" sz="1750" dirty="0"/>
          </a:p>
        </p:txBody>
      </p:sp>
      <p:pic>
        <p:nvPicPr>
          <p:cNvPr id="8" name="Image 3" descr="preencoded.png"/>
          <p:cNvPicPr>
            <a:picLocks noChangeAspect="1"/>
          </p:cNvPicPr>
          <p:nvPr/>
        </p:nvPicPr>
        <p:blipFill>
          <a:blip r:embed="rId6"/>
          <a:stretch>
            <a:fillRect/>
          </a:stretch>
        </p:blipFill>
        <p:spPr>
          <a:xfrm>
            <a:off x="779621" y="5482233"/>
            <a:ext cx="1113711" cy="1782008"/>
          </a:xfrm>
          <a:prstGeom prst="rect">
            <a:avLst/>
          </a:prstGeom>
        </p:spPr>
      </p:pic>
      <p:sp>
        <p:nvSpPr>
          <p:cNvPr id="9" name="Text 3"/>
          <p:cNvSpPr/>
          <p:nvPr/>
        </p:nvSpPr>
        <p:spPr>
          <a:xfrm>
            <a:off x="2227421" y="5704880"/>
            <a:ext cx="6136958" cy="1069062"/>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Detailed recommendations for remediation and improvement of security controls are provided, along with practical guidance on implementation.</a:t>
            </a:r>
            <a:endParaRPr lang="en-US" sz="17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2651284"/>
            <a:ext cx="7415927" cy="1371600"/>
          </a:xfrm>
          <a:prstGeom prst="rect">
            <a:avLst/>
          </a:prstGeom>
          <a:noFill/>
          <a:ln/>
        </p:spPr>
        <p:txBody>
          <a:bodyPr wrap="square" lIns="0" tIns="0" rIns="0" bIns="0" rtlCol="0" anchor="t"/>
          <a:lstStyle/>
          <a:p>
            <a:pPr marL="0" indent="0">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Conclusion: Continual Improvement</a:t>
            </a:r>
            <a:endParaRPr lang="en-US" sz="4300" dirty="0"/>
          </a:p>
        </p:txBody>
      </p:sp>
      <p:sp>
        <p:nvSpPr>
          <p:cNvPr id="4" name="Text 1"/>
          <p:cNvSpPr/>
          <p:nvPr/>
        </p:nvSpPr>
        <p:spPr>
          <a:xfrm>
            <a:off x="6350437" y="4393168"/>
            <a:ext cx="7415927" cy="1185148"/>
          </a:xfrm>
          <a:prstGeom prst="rect">
            <a:avLst/>
          </a:prstGeom>
          <a:noFill/>
          <a:ln/>
        </p:spPr>
        <p:txBody>
          <a:bodyPr wrap="square" lIns="0" tIns="0" rIns="0" bIns="0" rtlCol="0" anchor="t"/>
          <a:lstStyle/>
          <a:p>
            <a:pPr marL="0" indent="0">
              <a:lnSpc>
                <a:spcPts val="3100"/>
              </a:lnSpc>
              <a:buNone/>
            </a:pPr>
            <a:r>
              <a:rPr lang="en-US" sz="1900" dirty="0">
                <a:solidFill>
                  <a:srgbClr val="E0E4E6"/>
                </a:solidFill>
                <a:latin typeface="Barlow" pitchFamily="34" charset="0"/>
                <a:ea typeface="Barlow" pitchFamily="34" charset="-122"/>
                <a:cs typeface="Barlow" pitchFamily="34" charset="-120"/>
              </a:rPr>
              <a:t>Ethical hacking is an ongoing process that requires constant vigilance and adaptation. Regular ethical hacking assessments are crucial for ensuring the security and resilience of systems and networks.</a:t>
            </a:r>
            <a:endParaRPr lang="en-US" sz="1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436</Words>
  <Application>Microsoft Office PowerPoint</Application>
  <PresentationFormat>Custom</PresentationFormat>
  <Paragraphs>49</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Barlow</vt:lpstr>
      <vt:lpstr>Arial</vt:lpstr>
      <vt:lpstr>Barlow Bold</vt:lpstr>
      <vt:lpstr>Spline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 Presentation</dc:title>
  <dc:subject/>
  <dc:creator>Mian Daniyal Hassan</dc:creator>
  <cp:lastModifiedBy>Mian Daniyal Hassan</cp:lastModifiedBy>
  <cp:revision>4</cp:revision>
  <dcterms:created xsi:type="dcterms:W3CDTF">2025-01-01T07:39:30Z</dcterms:created>
  <dcterms:modified xsi:type="dcterms:W3CDTF">2025-01-01T07:49:53Z</dcterms:modified>
</cp:coreProperties>
</file>
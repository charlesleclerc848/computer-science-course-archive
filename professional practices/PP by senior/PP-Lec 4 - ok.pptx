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8" r:id="rId2"/>
    <p:sldId id="291" r:id="rId3"/>
    <p:sldId id="303" r:id="rId4"/>
    <p:sldId id="307" r:id="rId5"/>
    <p:sldId id="292" r:id="rId6"/>
    <p:sldId id="308" r:id="rId7"/>
    <p:sldId id="304" r:id="rId8"/>
    <p:sldId id="309" r:id="rId9"/>
    <p:sldId id="301" r:id="rId10"/>
    <p:sldId id="310" r:id="rId11"/>
    <p:sldId id="302" r:id="rId12"/>
    <p:sldId id="311" r:id="rId13"/>
    <p:sldId id="290" r:id="rId14"/>
    <p:sldId id="312" r:id="rId15"/>
    <p:sldId id="299" r:id="rId16"/>
    <p:sldId id="313" r:id="rId17"/>
    <p:sldId id="300" r:id="rId18"/>
    <p:sldId id="314" r:id="rId19"/>
    <p:sldId id="305" r:id="rId20"/>
    <p:sldId id="315" r:id="rId21"/>
    <p:sldId id="306" r:id="rId22"/>
    <p:sldId id="31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34" autoAdjust="0"/>
  </p:normalViewPr>
  <p:slideViewPr>
    <p:cSldViewPr snapToGrid="0">
      <p:cViewPr varScale="1">
        <p:scale>
          <a:sx n="86" d="100"/>
          <a:sy n="86" d="100"/>
        </p:scale>
        <p:origin x="70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897030-4BC1-4804-8B1A-010D0FC11157}" type="datetimeFigureOut">
              <a:rPr lang="en-US" smtClean="0"/>
              <a:t>9/25/2023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C47089-3F50-4E45-8358-4DADD1AA0CF5}" type="slidenum">
              <a:rPr lang="en-US" smtClean="0"/>
              <a:t>‹#›</a:t>
            </a:fld>
            <a:endParaRPr lang="en-US"/>
          </a:p>
        </p:txBody>
      </p:sp>
    </p:spTree>
    <p:extLst>
      <p:ext uri="{BB962C8B-B14F-4D97-AF65-F5344CB8AC3E}">
        <p14:creationId xmlns:p14="http://schemas.microsoft.com/office/powerpoint/2010/main" val="262163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Association_for_Computing_Machinery"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ACM</a:t>
            </a:r>
          </a:p>
          <a:p>
            <a:pPr rtl="0"/>
            <a:r>
              <a:rPr lang="en-US" sz="1200" b="0" i="0" u="none" strike="noStrike" kern="1200" dirty="0">
                <a:solidFill>
                  <a:schemeClr val="tx1"/>
                </a:solidFill>
                <a:effectLst/>
                <a:latin typeface="+mn-lt"/>
                <a:ea typeface="+mn-ea"/>
                <a:cs typeface="+mn-cs"/>
                <a:hlinkClick r:id="rId3"/>
              </a:rPr>
              <a:t>The </a:t>
            </a:r>
            <a:r>
              <a:rPr lang="en-US" sz="1200" b="1" i="0" u="none" strike="noStrike" kern="1200" dirty="0">
                <a:solidFill>
                  <a:schemeClr val="tx1"/>
                </a:solidFill>
                <a:effectLst/>
                <a:latin typeface="+mn-lt"/>
                <a:ea typeface="+mn-ea"/>
                <a:cs typeface="+mn-cs"/>
                <a:hlinkClick r:id="rId3"/>
              </a:rPr>
              <a:t>Association for Computing Machinery</a:t>
            </a:r>
            <a:r>
              <a:rPr lang="en-US" sz="1200" b="0" i="0" u="none" strike="noStrike" kern="1200" dirty="0">
                <a:solidFill>
                  <a:schemeClr val="tx1"/>
                </a:solidFill>
                <a:effectLst/>
                <a:latin typeface="+mn-lt"/>
                <a:ea typeface="+mn-ea"/>
                <a:cs typeface="+mn-cs"/>
                <a:hlinkClick r:id="rId3"/>
              </a:rPr>
              <a:t> (</a:t>
            </a:r>
            <a:r>
              <a:rPr lang="en-US" sz="1200" b="1" i="0" u="none" strike="noStrike" kern="1200" dirty="0">
                <a:solidFill>
                  <a:schemeClr val="tx1"/>
                </a:solidFill>
                <a:effectLst/>
                <a:latin typeface="+mn-lt"/>
                <a:ea typeface="+mn-ea"/>
                <a:cs typeface="+mn-cs"/>
                <a:hlinkClick r:id="rId3"/>
              </a:rPr>
              <a:t>ACM</a:t>
            </a:r>
            <a:r>
              <a:rPr lang="en-US" sz="1200" b="0" i="0" u="none" strike="noStrike" kern="1200" dirty="0">
                <a:solidFill>
                  <a:schemeClr val="tx1"/>
                </a:solidFill>
                <a:effectLst/>
                <a:latin typeface="+mn-lt"/>
                <a:ea typeface="+mn-ea"/>
                <a:cs typeface="+mn-cs"/>
                <a:hlinkClick r:id="rId3"/>
              </a:rPr>
              <a:t>) is a US-based international learned society for computing. It was founded in 1947, and is the world's largest scientific and educational computing society. The ACM is a non-profit professional membership group, claiming nearly 100,000 student and professional members as of 2019. Its headquarters are in New York City.</a:t>
            </a:r>
          </a:p>
          <a:p>
            <a:r>
              <a:rPr lang="en-US" dirty="0"/>
              <a:t/>
            </a:r>
            <a:br>
              <a:rPr lang="en-US" dirty="0"/>
            </a:br>
            <a:endParaRPr lang="en-US" dirty="0"/>
          </a:p>
        </p:txBody>
      </p:sp>
      <p:sp>
        <p:nvSpPr>
          <p:cNvPr id="4" name="Slide Number Placeholder 3"/>
          <p:cNvSpPr>
            <a:spLocks noGrp="1"/>
          </p:cNvSpPr>
          <p:nvPr>
            <p:ph type="sldNum" sz="quarter" idx="10"/>
          </p:nvPr>
        </p:nvSpPr>
        <p:spPr/>
        <p:txBody>
          <a:bodyPr/>
          <a:lstStyle/>
          <a:p>
            <a:fld id="{6EC47089-3F50-4E45-8358-4DADD1AA0CF5}" type="slidenum">
              <a:rPr lang="en-US" smtClean="0"/>
              <a:t>2</a:t>
            </a:fld>
            <a:endParaRPr lang="en-US"/>
          </a:p>
        </p:txBody>
      </p:sp>
    </p:spTree>
    <p:extLst>
      <p:ext uri="{BB962C8B-B14F-4D97-AF65-F5344CB8AC3E}">
        <p14:creationId xmlns:p14="http://schemas.microsoft.com/office/powerpoint/2010/main" val="1409719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7ED264D-F1CD-4A0E-86DE-829D531D8CC1}" type="datetimeFigureOut">
              <a:rPr lang="en-US" smtClean="0"/>
              <a:t>9/25/2023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45237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9/25/2023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2195129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D264D-F1CD-4A0E-86DE-829D531D8CC1}" type="datetimeFigureOut">
              <a:rPr lang="en-US" smtClean="0"/>
              <a:t>9/25/2023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730313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ED264D-F1CD-4A0E-86DE-829D531D8CC1}" type="datetimeFigureOut">
              <a:rPr lang="en-US" smtClean="0"/>
              <a:t>9/25/2023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84983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ED264D-F1CD-4A0E-86DE-829D531D8CC1}" type="datetimeFigureOut">
              <a:rPr lang="en-US" smtClean="0"/>
              <a:t>9/25/2023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945637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ED264D-F1CD-4A0E-86DE-829D531D8CC1}" type="datetimeFigureOut">
              <a:rPr lang="en-US" smtClean="0"/>
              <a:t>9/25/2023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685607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ED264D-F1CD-4A0E-86DE-829D531D8CC1}" type="datetimeFigureOut">
              <a:rPr lang="en-US" smtClean="0"/>
              <a:t>9/25/2023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3444612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D264D-F1CD-4A0E-86DE-829D531D8CC1}" type="datetimeFigureOut">
              <a:rPr lang="en-US" smtClean="0"/>
              <a:t>9/25/2023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90698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D264D-F1CD-4A0E-86DE-829D531D8CC1}" type="datetimeFigureOut">
              <a:rPr lang="en-US" smtClean="0"/>
              <a:t>9/25/2023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920315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9/25/2023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11558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9/25/2023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30028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ED264D-F1CD-4A0E-86DE-829D531D8CC1}" type="datetimeFigureOut">
              <a:rPr lang="en-US" smtClean="0"/>
              <a:t>9/25/2023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F331B4-1EE6-4448-AE73-C8BAED0E2A35}" type="slidenum">
              <a:rPr lang="en-US" smtClean="0"/>
              <a:t>‹#›</a:t>
            </a:fld>
            <a:endParaRPr lang="en-US"/>
          </a:p>
        </p:txBody>
      </p:sp>
    </p:spTree>
    <p:extLst>
      <p:ext uri="{BB962C8B-B14F-4D97-AF65-F5344CB8AC3E}">
        <p14:creationId xmlns:p14="http://schemas.microsoft.com/office/powerpoint/2010/main" val="1808476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bls.gov/ooh/computer-and-information-technology/software-developers.htm"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bls.gov/ooh/computer-and-information-technology/computer-network-architects.htm#tab-1"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bls.gov/ooh/computer-and-information-technology/computer-support-specialists.htm"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onetonline.org/link/summary/15-1299.09"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bls.gov/ooh/computer-and-information-technology/web-developers.ht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bls.gov/ooh/computer-and-information-technology/information-security-analysts.htm"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bls.gov/ooh/computer-and-information-technology/computer-systems-analysts.htm#tab-1"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bls.gov/ooh/computer-and-information-technology/database-administrators.htm#tab-1"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bls.gov/ooh/computer-and-information-technology/network-and-computer-systems-administrators.htm"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bwMode="auto">
          <a:xfrm>
            <a:off x="1088721" y="1780566"/>
            <a:ext cx="10515600" cy="203177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nSpc>
                <a:spcPct val="100000"/>
              </a:lnSpc>
            </a:pPr>
            <a:r>
              <a:rPr lang="en-US" sz="3600" dirty="0">
                <a:latin typeface="Times New Roman" panose="02020603050405020304" pitchFamily="18" charset="0"/>
                <a:cs typeface="Times New Roman" panose="02020603050405020304" pitchFamily="18" charset="0"/>
              </a:rPr>
              <a:t>Week 2</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Lecture 4:  </a:t>
            </a:r>
            <a:r>
              <a:rPr lang="en-US" sz="3600" spc="-1" dirty="0">
                <a:latin typeface="Times New Roman" panose="02020603050405020304" pitchFamily="18" charset="0"/>
                <a:cs typeface="Times New Roman" panose="02020603050405020304" pitchFamily="18" charset="0"/>
              </a:rPr>
              <a:t>Common Computing Professions</a:t>
            </a:r>
            <a:br>
              <a:rPr lang="en-US" sz="3600" spc="-1" dirty="0">
                <a:latin typeface="Times New Roman" panose="02020603050405020304" pitchFamily="18" charset="0"/>
                <a:cs typeface="Times New Roman" panose="02020603050405020304" pitchFamily="18" charset="0"/>
              </a:rPr>
            </a:br>
            <a:r>
              <a:rPr lang="en-US" sz="3600" spc="-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3820058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Common Computing Area</a:t>
            </a:r>
          </a:p>
        </p:txBody>
      </p:sp>
      <p:sp>
        <p:nvSpPr>
          <p:cNvPr id="3" name="Content Placeholder 2"/>
          <p:cNvSpPr>
            <a:spLocks noGrp="1"/>
          </p:cNvSpPr>
          <p:nvPr>
            <p:ph idx="1"/>
          </p:nvPr>
        </p:nvSpPr>
        <p:spPr>
          <a:xfrm>
            <a:off x="838200" y="1405719"/>
            <a:ext cx="10515600" cy="4771244"/>
          </a:xfrm>
        </p:spPr>
        <p:txBody>
          <a:bodyPr>
            <a:noAutofit/>
          </a:bodyPr>
          <a:lstStyle/>
          <a:p>
            <a:endParaRPr lang="en-US" b="1" dirty="0"/>
          </a:p>
          <a:p>
            <a:pPr algn="just"/>
            <a:r>
              <a:rPr lang="en-US" b="1" dirty="0">
                <a:latin typeface="Times New Roman" panose="02020603050405020304" pitchFamily="18" charset="0"/>
                <a:cs typeface="Times New Roman" panose="02020603050405020304" pitchFamily="18" charset="0"/>
              </a:rPr>
              <a:t>Cyber Security: </a:t>
            </a:r>
            <a:r>
              <a:rPr lang="en-US" dirty="0">
                <a:latin typeface="Times New Roman" panose="02020603050405020304" pitchFamily="18" charset="0"/>
                <a:cs typeface="Times New Roman" panose="02020603050405020304" pitchFamily="18" charset="0"/>
              </a:rPr>
              <a:t>This area focuses on keeping the data of organizations and users secure, as well as the preventative measures taken to reduce harm in the event of a breach.</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Software development: </a:t>
            </a:r>
            <a:r>
              <a:rPr lang="en-US" dirty="0">
                <a:latin typeface="Times New Roman" panose="02020603050405020304" pitchFamily="18" charset="0"/>
                <a:cs typeface="Times New Roman" panose="02020603050405020304" pitchFamily="18" charset="0"/>
              </a:rPr>
              <a:t>This programming-focused branch of IT revolves around building or modifying software applications to meet users’ needs.</a:t>
            </a:r>
          </a:p>
          <a:p>
            <a:pPr algn="just"/>
            <a:endParaRPr lang="en-US" sz="2800" spc="-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0570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DDA27-3373-4867-A654-2E2E5D3CE1B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a:t>
            </a:r>
            <a:endParaRPr lang="en-PK"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6191170-933D-48E5-9B17-18317D1027A8}"/>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IT infrastructure: </a:t>
            </a:r>
            <a:r>
              <a:rPr lang="en-US" dirty="0">
                <a:latin typeface="Times New Roman" panose="02020603050405020304" pitchFamily="18" charset="0"/>
                <a:cs typeface="Times New Roman" panose="02020603050405020304" pitchFamily="18" charset="0"/>
              </a:rPr>
              <a:t>This focus area refers to the design, planning and implementation of IT-related hardware, usually done on an organization-wide scale.</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IT support: </a:t>
            </a:r>
            <a:r>
              <a:rPr lang="en-US" dirty="0">
                <a:latin typeface="Times New Roman" panose="02020603050405020304" pitchFamily="18" charset="0"/>
                <a:cs typeface="Times New Roman" panose="02020603050405020304" pitchFamily="18" charset="0"/>
              </a:rPr>
              <a:t>This refers to the professionals who assist end users (or other IT support specialists) with day-to-day technical issues.</a:t>
            </a:r>
          </a:p>
          <a:p>
            <a:endParaRPr lang="en-PK" dirty="0"/>
          </a:p>
        </p:txBody>
      </p:sp>
    </p:spTree>
    <p:extLst>
      <p:ext uri="{BB962C8B-B14F-4D97-AF65-F5344CB8AC3E}">
        <p14:creationId xmlns:p14="http://schemas.microsoft.com/office/powerpoint/2010/main" val="21460748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DDA27-3373-4867-A654-2E2E5D3CE1B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a:t>
            </a:r>
            <a:endParaRPr lang="en-PK"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6191170-933D-48E5-9B17-18317D1027A8}"/>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Data management :</a:t>
            </a:r>
            <a:r>
              <a:rPr lang="en-US" dirty="0">
                <a:latin typeface="Times New Roman" panose="02020603050405020304" pitchFamily="18" charset="0"/>
                <a:cs typeface="Times New Roman" panose="02020603050405020304" pitchFamily="18" charset="0"/>
              </a:rPr>
              <a:t>Professionals in this area focus their work on the design of structured database systems, creating data-loss contingency plans and the analysis of gathered data.</a:t>
            </a:r>
          </a:p>
          <a:p>
            <a:endParaRPr lang="en-PK" dirty="0"/>
          </a:p>
        </p:txBody>
      </p:sp>
    </p:spTree>
    <p:extLst>
      <p:ext uri="{BB962C8B-B14F-4D97-AF65-F5344CB8AC3E}">
        <p14:creationId xmlns:p14="http://schemas.microsoft.com/office/powerpoint/2010/main" val="9805567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Careers</a:t>
            </a:r>
          </a:p>
        </p:txBody>
      </p:sp>
      <p:sp>
        <p:nvSpPr>
          <p:cNvPr id="3" name="Content Placeholder 2"/>
          <p:cNvSpPr>
            <a:spLocks noGrp="1"/>
          </p:cNvSpPr>
          <p:nvPr>
            <p:ph idx="1"/>
          </p:nvPr>
        </p:nvSpPr>
        <p:spPr>
          <a:xfrm>
            <a:off x="838200" y="1561514"/>
            <a:ext cx="10515600" cy="4615449"/>
          </a:xfrm>
        </p:spPr>
        <p:txBody>
          <a:bodyPr>
            <a:normAutofit fontScale="40000" lnSpcReduction="20000"/>
          </a:bodyPr>
          <a:lstStyle/>
          <a:p>
            <a:pPr algn="just"/>
            <a:r>
              <a:rPr lang="en-US" sz="5900" b="1" i="0"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xmlns="" val="tx"/>
                    </a:ext>
                  </a:extLst>
                </a:hlinkClick>
              </a:rPr>
              <a:t>Software developer</a:t>
            </a:r>
            <a:endParaRPr lang="en-US" sz="5900" b="1" i="0" dirty="0">
              <a:effectLst/>
              <a:latin typeface="Times New Roman" panose="02020603050405020304" pitchFamily="18" charset="0"/>
              <a:cs typeface="Times New Roman" panose="02020603050405020304" pitchFamily="18" charset="0"/>
            </a:endParaRPr>
          </a:p>
          <a:p>
            <a:pPr marL="457200" lvl="1" indent="0" algn="just">
              <a:buNone/>
            </a:pPr>
            <a:r>
              <a:rPr lang="en-US" sz="5500" b="0" i="0" dirty="0">
                <a:effectLst/>
                <a:latin typeface="Times New Roman" panose="02020603050405020304" pitchFamily="18" charset="0"/>
                <a:cs typeface="Times New Roman" panose="02020603050405020304" pitchFamily="18" charset="0"/>
              </a:rPr>
              <a:t>Software developers (as well as the closely related quality assurance analysts and testers) are the tech professionals tasked with creating and modifying computer programs. </a:t>
            </a:r>
            <a:endParaRPr lang="en-US" sz="5500" b="0" i="0" dirty="0" smtClean="0">
              <a:effectLst/>
              <a:latin typeface="Times New Roman" panose="02020603050405020304" pitchFamily="18" charset="0"/>
              <a:cs typeface="Times New Roman" panose="02020603050405020304" pitchFamily="18" charset="0"/>
            </a:endParaRPr>
          </a:p>
          <a:p>
            <a:pPr marL="457200" lvl="1" indent="0" algn="just">
              <a:buNone/>
            </a:pPr>
            <a:r>
              <a:rPr lang="en-US" sz="5500" b="0" i="0" dirty="0" smtClean="0">
                <a:effectLst/>
                <a:latin typeface="Times New Roman" panose="02020603050405020304" pitchFamily="18" charset="0"/>
                <a:cs typeface="Times New Roman" panose="02020603050405020304" pitchFamily="18" charset="0"/>
              </a:rPr>
              <a:t>They </a:t>
            </a:r>
            <a:r>
              <a:rPr lang="en-US" sz="5500" b="0" i="0" dirty="0">
                <a:effectLst/>
                <a:latin typeface="Times New Roman" panose="02020603050405020304" pitchFamily="18" charset="0"/>
                <a:cs typeface="Times New Roman" panose="02020603050405020304" pitchFamily="18" charset="0"/>
              </a:rPr>
              <a:t>use a mix of programming and logical planning skills to write the code guiding how these programs work. </a:t>
            </a:r>
            <a:endParaRPr lang="en-US" sz="5500" b="0" i="0" dirty="0" smtClean="0">
              <a:effectLst/>
              <a:latin typeface="Times New Roman" panose="02020603050405020304" pitchFamily="18" charset="0"/>
              <a:cs typeface="Times New Roman" panose="02020603050405020304" pitchFamily="18" charset="0"/>
            </a:endParaRPr>
          </a:p>
          <a:p>
            <a:pPr marL="457200" lvl="1" indent="0" algn="just">
              <a:buNone/>
            </a:pPr>
            <a:endParaRPr lang="en-US" sz="5500" b="0" i="0" dirty="0" smtClean="0">
              <a:effectLst/>
              <a:latin typeface="Times New Roman" panose="02020603050405020304" pitchFamily="18" charset="0"/>
              <a:cs typeface="Times New Roman" panose="02020603050405020304" pitchFamily="18" charset="0"/>
            </a:endParaRPr>
          </a:p>
          <a:p>
            <a:pPr marL="457200" lvl="1" indent="0" algn="just">
              <a:buNone/>
            </a:pPr>
            <a:r>
              <a:rPr lang="en-US" sz="5500" b="0" i="0" dirty="0" smtClean="0">
                <a:effectLst/>
                <a:latin typeface="Times New Roman" panose="02020603050405020304" pitchFamily="18" charset="0"/>
                <a:cs typeface="Times New Roman" panose="02020603050405020304" pitchFamily="18" charset="0"/>
              </a:rPr>
              <a:t>Some </a:t>
            </a:r>
            <a:r>
              <a:rPr lang="en-US" sz="5500" b="0" i="0" dirty="0">
                <a:effectLst/>
                <a:latin typeface="Times New Roman" panose="02020603050405020304" pitchFamily="18" charset="0"/>
                <a:cs typeface="Times New Roman" panose="02020603050405020304" pitchFamily="18" charset="0"/>
              </a:rPr>
              <a:t>may focus more on writing individual code components while others focus their time on the big picture work like mapping the needs of users and determining the core functionality needed to meet </a:t>
            </a:r>
            <a:r>
              <a:rPr lang="en-US" sz="5500" b="0" i="0" dirty="0" smtClean="0">
                <a:effectLst/>
                <a:latin typeface="Times New Roman" panose="02020603050405020304" pitchFamily="18" charset="0"/>
                <a:cs typeface="Times New Roman" panose="02020603050405020304" pitchFamily="18" charset="0"/>
              </a:rPr>
              <a:t>them.</a:t>
            </a:r>
          </a:p>
          <a:p>
            <a:pPr marL="457200" lvl="1" indent="0" algn="just">
              <a:buNone/>
            </a:pPr>
            <a:endParaRPr lang="en-US" sz="5500" dirty="0">
              <a:latin typeface="Times New Roman" panose="02020603050405020304" pitchFamily="18" charset="0"/>
              <a:cs typeface="Times New Roman" panose="02020603050405020304" pitchFamily="18" charset="0"/>
            </a:endParaRPr>
          </a:p>
          <a:p>
            <a:pPr marL="457200" lvl="1" indent="0" algn="just">
              <a:buNone/>
            </a:pPr>
            <a:r>
              <a:rPr lang="en-US" sz="5500" b="0" i="0" dirty="0" smtClean="0">
                <a:effectLst/>
                <a:latin typeface="Times New Roman" panose="02020603050405020304" pitchFamily="18" charset="0"/>
                <a:cs typeface="Times New Roman" panose="02020603050405020304" pitchFamily="18" charset="0"/>
              </a:rPr>
              <a:t>Additionally</a:t>
            </a:r>
            <a:r>
              <a:rPr lang="en-US" sz="5500" b="0" i="0" dirty="0">
                <a:effectLst/>
                <a:latin typeface="Times New Roman" panose="02020603050405020304" pitchFamily="18" charset="0"/>
                <a:cs typeface="Times New Roman" panose="02020603050405020304" pitchFamily="18" charset="0"/>
              </a:rPr>
              <a:t>, they may spend time troubleshooting code and performing regular maintenance of a program. This career requires a mix of coding skills, logical planning ability, collaboration skills and creativity.</a:t>
            </a:r>
          </a:p>
          <a:p>
            <a:pPr marL="0" indent="0" algn="just">
              <a:buNone/>
            </a:pPr>
            <a:r>
              <a:rPr lang="en-US" b="0" i="0" dirty="0">
                <a:solidFill>
                  <a:srgbClr val="666666"/>
                </a:solidFill>
                <a:effectLst/>
                <a:latin typeface="ITC Franklin Gothic LT W01 Bk"/>
              </a:rPr>
              <a:t> </a:t>
            </a:r>
          </a:p>
        </p:txBody>
      </p:sp>
    </p:spTree>
    <p:extLst>
      <p:ext uri="{BB962C8B-B14F-4D97-AF65-F5344CB8AC3E}">
        <p14:creationId xmlns:p14="http://schemas.microsoft.com/office/powerpoint/2010/main" val="31435720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E59D78-D99E-48C8-976F-6B8AB0EDD6D4}"/>
              </a:ext>
            </a:extLst>
          </p:cNvPr>
          <p:cNvSpPr>
            <a:spLocks noGrp="1"/>
          </p:cNvSpPr>
          <p:nvPr>
            <p:ph idx="1"/>
          </p:nvPr>
        </p:nvSpPr>
        <p:spPr>
          <a:xfrm>
            <a:off x="838200" y="1322363"/>
            <a:ext cx="10515600" cy="4854600"/>
          </a:xfrm>
        </p:spPr>
        <p:txBody>
          <a:bodyPr>
            <a:normAutofit lnSpcReduction="10000"/>
          </a:bodyPr>
          <a:lstStyle/>
          <a:p>
            <a:pPr algn="just"/>
            <a:r>
              <a:rPr lang="en-US" sz="2800" b="1" i="0" dirty="0">
                <a:effectLst/>
                <a:latin typeface="Times New Roman" panose="02020603050405020304" pitchFamily="18" charset="0"/>
                <a:cs typeface="Times New Roman" panose="02020603050405020304" pitchFamily="18" charset="0"/>
              </a:rPr>
              <a:t>Typical duties:</a:t>
            </a:r>
            <a:r>
              <a:rPr lang="en-US" sz="2800" b="1" i="0" baseline="30000" dirty="0">
                <a:effectLst/>
                <a:latin typeface="Times New Roman" panose="02020603050405020304" pitchFamily="18" charset="0"/>
                <a:cs typeface="Times New Roman" panose="02020603050405020304" pitchFamily="18" charset="0"/>
              </a:rPr>
              <a:t> </a:t>
            </a:r>
            <a:endParaRPr lang="en-US" sz="2800" b="0" i="0" dirty="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Analyzing user needs and creating computer programs that meet those needs</a:t>
            </a:r>
          </a:p>
          <a:p>
            <a:pPr algn="just">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Analyzing and recommending possible improvements or fixes to existing programs and systems</a:t>
            </a:r>
          </a:p>
          <a:p>
            <a:pPr algn="just">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Planning and mapping out how individual pieces of an application or system will work together</a:t>
            </a:r>
          </a:p>
          <a:p>
            <a:pPr algn="just">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Developing and implementing testing plans to ensure functionality</a:t>
            </a:r>
          </a:p>
          <a:p>
            <a:pPr algn="just">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Monitoring and addressing application functionality through maintenance and testing</a:t>
            </a:r>
          </a:p>
          <a:p>
            <a:pPr algn="just">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Creating reference documentation</a:t>
            </a:r>
          </a:p>
          <a:p>
            <a:endParaRPr lang="en-PK" dirty="0"/>
          </a:p>
        </p:txBody>
      </p:sp>
    </p:spTree>
    <p:extLst>
      <p:ext uri="{BB962C8B-B14F-4D97-AF65-F5344CB8AC3E}">
        <p14:creationId xmlns:p14="http://schemas.microsoft.com/office/powerpoint/2010/main" val="2642026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D7E268-62D0-4667-A697-205376DC9E24}"/>
              </a:ext>
            </a:extLst>
          </p:cNvPr>
          <p:cNvSpPr>
            <a:spLocks noGrp="1"/>
          </p:cNvSpPr>
          <p:nvPr>
            <p:ph idx="1"/>
          </p:nvPr>
        </p:nvSpPr>
        <p:spPr>
          <a:xfrm>
            <a:off x="838200" y="773723"/>
            <a:ext cx="10515600" cy="5403240"/>
          </a:xfrm>
        </p:spPr>
        <p:txBody>
          <a:bodyPr>
            <a:normAutofit/>
          </a:bodyPr>
          <a:lstStyle/>
          <a:p>
            <a:pPr marL="0" indent="0" algn="just">
              <a:buNone/>
            </a:pPr>
            <a:r>
              <a:rPr lang="en-US" b="1" i="0" dirty="0">
                <a:solidFill>
                  <a:srgbClr val="414042"/>
                </a:solidFill>
                <a:effectLst/>
                <a:latin typeface="Times New Roman" panose="02020603050405020304" pitchFamily="18" charset="0"/>
                <a:cs typeface="Times New Roman" panose="02020603050405020304" pitchFamily="18" charset="0"/>
              </a:rPr>
              <a:t>2</a:t>
            </a:r>
            <a:r>
              <a:rPr lang="en-US" b="1" i="0" dirty="0">
                <a:solidFill>
                  <a:srgbClr val="414042"/>
                </a:solidFill>
                <a:effectLst/>
                <a:latin typeface="Open Sans"/>
              </a:rPr>
              <a:t>. </a:t>
            </a:r>
            <a:r>
              <a:rPr lang="en-US" b="1" i="0"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xmlns="" val="tx"/>
                    </a:ext>
                  </a:extLst>
                </a:hlinkClick>
              </a:rPr>
              <a:t>Computer Network </a:t>
            </a:r>
            <a:r>
              <a:rPr lang="en-US" b="1"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xmlns="" val="tx"/>
                    </a:ext>
                  </a:extLst>
                </a:hlinkClick>
              </a:rPr>
              <a:t>A</a:t>
            </a:r>
            <a:r>
              <a:rPr lang="en-US" b="1" i="0"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xmlns="" val="tx"/>
                    </a:ext>
                  </a:extLst>
                </a:hlinkClick>
              </a:rPr>
              <a:t>rchitects</a:t>
            </a:r>
            <a:endParaRPr lang="en-US" b="1" i="0" dirty="0">
              <a:effectLst/>
              <a:latin typeface="Times New Roman" panose="02020603050405020304" pitchFamily="18" charset="0"/>
              <a:cs typeface="Times New Roman" panose="02020603050405020304" pitchFamily="18" charset="0"/>
            </a:endParaRPr>
          </a:p>
          <a:p>
            <a:pPr algn="just"/>
            <a:endParaRPr lang="en-US" b="0" i="0" dirty="0" smtClean="0">
              <a:effectLst/>
              <a:latin typeface="Times New Roman" panose="02020603050405020304" pitchFamily="18" charset="0"/>
              <a:cs typeface="Times New Roman" panose="02020603050405020304" pitchFamily="18" charset="0"/>
            </a:endParaRPr>
          </a:p>
          <a:p>
            <a:pPr algn="just"/>
            <a:r>
              <a:rPr lang="en-US" b="0" i="0" dirty="0" smtClean="0">
                <a:effectLst/>
                <a:latin typeface="Times New Roman" panose="02020603050405020304" pitchFamily="18" charset="0"/>
                <a:cs typeface="Times New Roman" panose="02020603050405020304" pitchFamily="18" charset="0"/>
              </a:rPr>
              <a:t>Computer </a:t>
            </a:r>
            <a:r>
              <a:rPr lang="en-US" b="0" i="0" dirty="0">
                <a:effectLst/>
                <a:latin typeface="Times New Roman" panose="02020603050405020304" pitchFamily="18" charset="0"/>
                <a:cs typeface="Times New Roman" panose="02020603050405020304" pitchFamily="18" charset="0"/>
              </a:rPr>
              <a:t>network architects (sometimes called computer network engineers) design and build networks including local area networks (LANs), wide area networks (WANs) and Intranets. These sorts of networks might be small connections between offices or large enterprise-scale networks. </a:t>
            </a:r>
            <a:endParaRPr lang="en-US" b="0" i="0" dirty="0" smtClean="0">
              <a:effectLst/>
              <a:latin typeface="Times New Roman" panose="02020603050405020304" pitchFamily="18" charset="0"/>
              <a:cs typeface="Times New Roman" panose="02020603050405020304" pitchFamily="18" charset="0"/>
            </a:endParaRPr>
          </a:p>
          <a:p>
            <a:pPr algn="just"/>
            <a:r>
              <a:rPr lang="en-US" b="0" i="0" dirty="0" smtClean="0">
                <a:effectLst/>
                <a:latin typeface="Times New Roman" panose="02020603050405020304" pitchFamily="18" charset="0"/>
                <a:cs typeface="Times New Roman" panose="02020603050405020304" pitchFamily="18" charset="0"/>
              </a:rPr>
              <a:t>Someone </a:t>
            </a:r>
            <a:r>
              <a:rPr lang="en-US" b="0" i="0" dirty="0">
                <a:effectLst/>
                <a:latin typeface="Times New Roman" panose="02020603050405020304" pitchFamily="18" charset="0"/>
                <a:cs typeface="Times New Roman" panose="02020603050405020304" pitchFamily="18" charset="0"/>
              </a:rPr>
              <a:t>in this role also works on any issues that arise within the network and anticipate future networking needs.</a:t>
            </a:r>
          </a:p>
          <a:p>
            <a:endParaRPr lang="en-PK" dirty="0"/>
          </a:p>
        </p:txBody>
      </p:sp>
    </p:spTree>
    <p:extLst>
      <p:ext uri="{BB962C8B-B14F-4D97-AF65-F5344CB8AC3E}">
        <p14:creationId xmlns:p14="http://schemas.microsoft.com/office/powerpoint/2010/main" val="15690939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1A3FDE-93B7-48B2-8B79-5D4AA5F323D1}"/>
              </a:ext>
            </a:extLst>
          </p:cNvPr>
          <p:cNvSpPr>
            <a:spLocks noGrp="1"/>
          </p:cNvSpPr>
          <p:nvPr>
            <p:ph idx="1"/>
          </p:nvPr>
        </p:nvSpPr>
        <p:spPr>
          <a:xfrm>
            <a:off x="838200" y="1111348"/>
            <a:ext cx="10515600" cy="5065615"/>
          </a:xfrm>
        </p:spPr>
        <p:txBody>
          <a:bodyPr/>
          <a:lstStyle/>
          <a:p>
            <a:pPr algn="just"/>
            <a:r>
              <a:rPr lang="en-US" b="1" i="0" dirty="0">
                <a:effectLst/>
                <a:latin typeface="Times New Roman" panose="02020603050405020304" pitchFamily="18" charset="0"/>
                <a:cs typeface="Times New Roman" panose="02020603050405020304" pitchFamily="18" charset="0"/>
              </a:rPr>
              <a:t>Typical duties:</a:t>
            </a:r>
            <a:endParaRPr lang="en-US" b="0" i="0" dirty="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Creating plans and layouts for data communication networks</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Communicating plans and network needs to management or other stakeholders</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Assessing security needs and creating plans to address them</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Upgrading hardware as needed</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Researching new network technologies to determine future needs</a:t>
            </a:r>
          </a:p>
          <a:p>
            <a:endParaRPr lang="en-PK" dirty="0"/>
          </a:p>
        </p:txBody>
      </p:sp>
    </p:spTree>
    <p:extLst>
      <p:ext uri="{BB962C8B-B14F-4D97-AF65-F5344CB8AC3E}">
        <p14:creationId xmlns:p14="http://schemas.microsoft.com/office/powerpoint/2010/main" val="4519098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FFE51C-E368-4DC0-AF7F-FD09F80D75A8}"/>
              </a:ext>
            </a:extLst>
          </p:cNvPr>
          <p:cNvSpPr>
            <a:spLocks noGrp="1"/>
          </p:cNvSpPr>
          <p:nvPr>
            <p:ph idx="1"/>
          </p:nvPr>
        </p:nvSpPr>
        <p:spPr>
          <a:xfrm>
            <a:off x="838200" y="576775"/>
            <a:ext cx="10515600" cy="5600188"/>
          </a:xfrm>
        </p:spPr>
        <p:txBody>
          <a:bodyPr>
            <a:normAutofit/>
          </a:bodyPr>
          <a:lstStyle/>
          <a:p>
            <a:pPr marL="0" indent="0" algn="just">
              <a:buNone/>
            </a:pPr>
            <a:r>
              <a:rPr lang="en-US" b="1" i="0" dirty="0">
                <a:effectLst/>
                <a:latin typeface="Times New Roman" panose="02020603050405020304" pitchFamily="18" charset="0"/>
                <a:cs typeface="Times New Roman" panose="02020603050405020304" pitchFamily="18" charset="0"/>
              </a:rPr>
              <a:t>3. </a:t>
            </a:r>
            <a:r>
              <a:rPr lang="en-US" b="1" i="0"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xmlns="" val="tx"/>
                    </a:ext>
                  </a:extLst>
                </a:hlinkClick>
              </a:rPr>
              <a:t>Computer support specialists</a:t>
            </a:r>
            <a:endParaRPr lang="en-US" b="1" i="0" dirty="0">
              <a:effectLst/>
              <a:latin typeface="Times New Roman" panose="02020603050405020304" pitchFamily="18" charset="0"/>
              <a:cs typeface="Times New Roman" panose="02020603050405020304" pitchFamily="18" charset="0"/>
            </a:endParaRPr>
          </a:p>
          <a:p>
            <a:pPr algn="just"/>
            <a:r>
              <a:rPr lang="en-US" b="0" i="0" dirty="0">
                <a:effectLst/>
                <a:latin typeface="Times New Roman" panose="02020603050405020304" pitchFamily="18" charset="0"/>
                <a:cs typeface="Times New Roman" panose="02020603050405020304" pitchFamily="18" charset="0"/>
              </a:rPr>
              <a:t>Computer support specialists are on the front lines of IT as they assist users with a wide variety of day-to-day issues—for example, trouble connecting to Wi-Fi, configuring a new workstation or troubleshooting issues connecting to the new printer. </a:t>
            </a:r>
            <a:endParaRPr lang="en-US" b="0" i="0" dirty="0" smtClean="0">
              <a:effectLst/>
              <a:latin typeface="Times New Roman" panose="02020603050405020304" pitchFamily="18" charset="0"/>
              <a:cs typeface="Times New Roman" panose="02020603050405020304" pitchFamily="18" charset="0"/>
            </a:endParaRPr>
          </a:p>
          <a:p>
            <a:pPr algn="just"/>
            <a:r>
              <a:rPr lang="en-US" b="0" i="0" dirty="0" smtClean="0">
                <a:effectLst/>
                <a:latin typeface="Times New Roman" panose="02020603050405020304" pitchFamily="18" charset="0"/>
                <a:cs typeface="Times New Roman" panose="02020603050405020304" pitchFamily="18" charset="0"/>
              </a:rPr>
              <a:t>Additionally</a:t>
            </a:r>
            <a:r>
              <a:rPr lang="en-US" b="0" i="0" dirty="0">
                <a:effectLst/>
                <a:latin typeface="Times New Roman" panose="02020603050405020304" pitchFamily="18" charset="0"/>
                <a:cs typeface="Times New Roman" panose="02020603050405020304" pitchFamily="18" charset="0"/>
              </a:rPr>
              <a:t>, they may assist network and systems administrators with larger-scale software or hardware rollouts. </a:t>
            </a:r>
            <a:endParaRPr lang="en-US" b="0" i="0" dirty="0" smtClean="0">
              <a:effectLst/>
              <a:latin typeface="Times New Roman" panose="02020603050405020304" pitchFamily="18" charset="0"/>
              <a:cs typeface="Times New Roman" panose="02020603050405020304" pitchFamily="18" charset="0"/>
            </a:endParaRPr>
          </a:p>
          <a:p>
            <a:pPr algn="just"/>
            <a:r>
              <a:rPr lang="en-US" b="0" i="0" dirty="0" smtClean="0">
                <a:effectLst/>
                <a:latin typeface="Times New Roman" panose="02020603050405020304" pitchFamily="18" charset="0"/>
                <a:cs typeface="Times New Roman" panose="02020603050405020304" pitchFamily="18" charset="0"/>
              </a:rPr>
              <a:t>They </a:t>
            </a:r>
            <a:r>
              <a:rPr lang="en-US" b="0" i="0" dirty="0">
                <a:effectLst/>
                <a:latin typeface="Times New Roman" panose="02020603050405020304" pitchFamily="18" charset="0"/>
                <a:cs typeface="Times New Roman" panose="02020603050405020304" pitchFamily="18" charset="0"/>
              </a:rPr>
              <a:t>are natural problem solvers and strong communicators who troubleshoot and evaluate computer problems promptly and efficiently, serving a critical role within any organization.</a:t>
            </a:r>
          </a:p>
          <a:p>
            <a:pPr algn="just"/>
            <a:endParaRPr lang="en-P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25790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1E8255-ECF2-4D94-9159-8F3738D17F41}"/>
              </a:ext>
            </a:extLst>
          </p:cNvPr>
          <p:cNvSpPr>
            <a:spLocks noGrp="1"/>
          </p:cNvSpPr>
          <p:nvPr>
            <p:ph idx="1"/>
          </p:nvPr>
        </p:nvSpPr>
        <p:spPr>
          <a:xfrm>
            <a:off x="838200" y="675249"/>
            <a:ext cx="10515600" cy="5501714"/>
          </a:xfrm>
        </p:spPr>
        <p:txBody>
          <a:bodyPr/>
          <a:lstStyle/>
          <a:p>
            <a:pPr algn="just"/>
            <a:r>
              <a:rPr lang="en-US" b="1" i="0" dirty="0">
                <a:effectLst/>
                <a:latin typeface="Times New Roman" panose="02020603050405020304" pitchFamily="18" charset="0"/>
                <a:cs typeface="Times New Roman" panose="02020603050405020304" pitchFamily="18" charset="0"/>
              </a:rPr>
              <a:t>Typical duties:</a:t>
            </a:r>
            <a:endParaRPr lang="en-US" b="0" i="0" dirty="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Listening to users descriptions of computer problems, asking questions and evaluating their needs</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Walking users through steps to solve their problems</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Setting up and repairing computer equipment and devices</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Training users on how to use computer hardware and software</a:t>
            </a:r>
          </a:p>
          <a:p>
            <a:endParaRPr lang="en-PK" dirty="0"/>
          </a:p>
        </p:txBody>
      </p:sp>
    </p:spTree>
    <p:extLst>
      <p:ext uri="{BB962C8B-B14F-4D97-AF65-F5344CB8AC3E}">
        <p14:creationId xmlns:p14="http://schemas.microsoft.com/office/powerpoint/2010/main" val="15622846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3A789A-6A7A-4495-AE4D-932E8D8F1451}"/>
              </a:ext>
            </a:extLst>
          </p:cNvPr>
          <p:cNvSpPr>
            <a:spLocks noGrp="1"/>
          </p:cNvSpPr>
          <p:nvPr>
            <p:ph idx="1"/>
          </p:nvPr>
        </p:nvSpPr>
        <p:spPr>
          <a:xfrm>
            <a:off x="1049216" y="703385"/>
            <a:ext cx="10515600" cy="5656458"/>
          </a:xfrm>
        </p:spPr>
        <p:txBody>
          <a:bodyPr>
            <a:normAutofit/>
          </a:bodyPr>
          <a:lstStyle/>
          <a:p>
            <a:pPr algn="just"/>
            <a:r>
              <a:rPr lang="en-US" b="1" i="0"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xmlns="" val="tx"/>
                    </a:ext>
                  </a:extLst>
                </a:hlinkClick>
              </a:rPr>
              <a:t>IT project managers</a:t>
            </a:r>
            <a:endParaRPr lang="en-US" b="1" i="0" dirty="0">
              <a:effectLst/>
              <a:latin typeface="Times New Roman" panose="02020603050405020304" pitchFamily="18" charset="0"/>
              <a:cs typeface="Times New Roman" panose="02020603050405020304" pitchFamily="18" charset="0"/>
            </a:endParaRPr>
          </a:p>
          <a:p>
            <a:pPr marL="0" indent="0" algn="just">
              <a:buNone/>
            </a:pPr>
            <a:r>
              <a:rPr lang="en-US" sz="2400" b="0" i="0" dirty="0">
                <a:effectLst/>
                <a:latin typeface="Times New Roman" panose="02020603050405020304" pitchFamily="18" charset="0"/>
                <a:cs typeface="Times New Roman" panose="02020603050405020304" pitchFamily="18" charset="0"/>
              </a:rPr>
              <a:t>IT project managers play a unique role in this field. They’re responsible for the planning, initiation and execution of complex IT projects and initiatives. </a:t>
            </a:r>
            <a:endParaRPr lang="en-US" sz="2400" b="0" i="0" dirty="0" smtClean="0">
              <a:effectLst/>
              <a:latin typeface="Times New Roman" panose="02020603050405020304" pitchFamily="18" charset="0"/>
              <a:cs typeface="Times New Roman" panose="02020603050405020304" pitchFamily="18" charset="0"/>
            </a:endParaRPr>
          </a:p>
          <a:p>
            <a:pPr marL="0" indent="0" algn="just">
              <a:buNone/>
            </a:pPr>
            <a:r>
              <a:rPr lang="en-US" sz="2400" b="0" i="0" dirty="0" smtClean="0">
                <a:effectLst/>
                <a:latin typeface="Times New Roman" panose="02020603050405020304" pitchFamily="18" charset="0"/>
                <a:cs typeface="Times New Roman" panose="02020603050405020304" pitchFamily="18" charset="0"/>
              </a:rPr>
              <a:t>To </a:t>
            </a:r>
            <a:r>
              <a:rPr lang="en-US" sz="2400" b="0" i="0" dirty="0">
                <a:effectLst/>
                <a:latin typeface="Times New Roman" panose="02020603050405020304" pitchFamily="18" charset="0"/>
                <a:cs typeface="Times New Roman" panose="02020603050405020304" pitchFamily="18" charset="0"/>
              </a:rPr>
              <a:t>do this, they must serve as a bridge between the technical teams carrying out the work and the organizational stakeholders setting the overall vision and goals of a project. </a:t>
            </a:r>
            <a:endParaRPr lang="en-US" sz="2400" b="0" i="0" dirty="0" smtClean="0">
              <a:effectLst/>
              <a:latin typeface="Times New Roman" panose="02020603050405020304" pitchFamily="18" charset="0"/>
              <a:cs typeface="Times New Roman" panose="02020603050405020304" pitchFamily="18" charset="0"/>
            </a:endParaRPr>
          </a:p>
          <a:p>
            <a:pPr marL="0" indent="0" algn="just">
              <a:buNone/>
            </a:pPr>
            <a:r>
              <a:rPr lang="en-US" sz="2400" b="0" i="0" dirty="0" smtClean="0">
                <a:effectLst/>
                <a:latin typeface="Times New Roman" panose="02020603050405020304" pitchFamily="18" charset="0"/>
                <a:cs typeface="Times New Roman" panose="02020603050405020304" pitchFamily="18" charset="0"/>
              </a:rPr>
              <a:t>They </a:t>
            </a:r>
            <a:r>
              <a:rPr lang="en-US" sz="2400" b="0" i="0" dirty="0">
                <a:effectLst/>
                <a:latin typeface="Times New Roman" panose="02020603050405020304" pitchFamily="18" charset="0"/>
                <a:cs typeface="Times New Roman" panose="02020603050405020304" pitchFamily="18" charset="0"/>
              </a:rPr>
              <a:t>help both sides understand the potential hurdles facing a project, create overall project plans for how this work will be completed and hold teams accountable for meeting deadlines and budgets. </a:t>
            </a:r>
            <a:endParaRPr lang="en-US" sz="2400" b="0" i="0" dirty="0" smtClean="0">
              <a:effectLst/>
              <a:latin typeface="Times New Roman" panose="02020603050405020304" pitchFamily="18" charset="0"/>
              <a:cs typeface="Times New Roman" panose="02020603050405020304" pitchFamily="18" charset="0"/>
            </a:endParaRPr>
          </a:p>
          <a:p>
            <a:pPr marL="0" indent="0" algn="just">
              <a:buNone/>
            </a:pPr>
            <a:r>
              <a:rPr lang="en-US" sz="2400" b="0" i="0" dirty="0" smtClean="0">
                <a:effectLst/>
                <a:latin typeface="Times New Roman" panose="02020603050405020304" pitchFamily="18" charset="0"/>
                <a:cs typeface="Times New Roman" panose="02020603050405020304" pitchFamily="18" charset="0"/>
              </a:rPr>
              <a:t>IT </a:t>
            </a:r>
            <a:r>
              <a:rPr lang="en-US" sz="2400" b="0" i="0" dirty="0">
                <a:effectLst/>
                <a:latin typeface="Times New Roman" panose="02020603050405020304" pitchFamily="18" charset="0"/>
                <a:cs typeface="Times New Roman" panose="02020603050405020304" pitchFamily="18" charset="0"/>
              </a:rPr>
              <a:t>project managers have a strong blend of technical knowledge, organization ability and planning, problem-solving and communication skills.</a:t>
            </a:r>
          </a:p>
          <a:p>
            <a:pPr algn="just"/>
            <a:endParaRPr lang="en-P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2792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9B6CE9-EB66-4EC1-B105-0A73F4F2C159}"/>
              </a:ext>
            </a:extLst>
          </p:cNvPr>
          <p:cNvSpPr>
            <a:spLocks noGrp="1"/>
          </p:cNvSpPr>
          <p:nvPr>
            <p:ph idx="1"/>
          </p:nvPr>
        </p:nvSpPr>
        <p:spPr>
          <a:xfrm>
            <a:off x="838200" y="984738"/>
            <a:ext cx="10515600" cy="5192225"/>
          </a:xfrm>
        </p:spPr>
        <p:txBody>
          <a:bodyPr>
            <a:normAutofit/>
          </a:bodyPr>
          <a:lstStyle/>
          <a:p>
            <a:pPr algn="l"/>
            <a:r>
              <a:rPr lang="en-US" sz="2800" b="1" i="0" dirty="0">
                <a:effectLst/>
                <a:latin typeface="Times New Roman" panose="02020603050405020304" pitchFamily="18" charset="0"/>
                <a:cs typeface="Times New Roman" panose="02020603050405020304" pitchFamily="18" charset="0"/>
              </a:rPr>
              <a:t>Typical duties:</a:t>
            </a:r>
            <a:r>
              <a:rPr lang="en-US" sz="2800" b="1" i="0" baseline="30000" dirty="0">
                <a:effectLst/>
                <a:latin typeface="Times New Roman" panose="02020603050405020304" pitchFamily="18" charset="0"/>
                <a:cs typeface="Times New Roman" panose="02020603050405020304" pitchFamily="18" charset="0"/>
              </a:rPr>
              <a:t> </a:t>
            </a:r>
            <a:endParaRPr lang="en-US" sz="28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Meeting with organizational stakeholders to determine scope and timing of IT projects</a:t>
            </a:r>
          </a:p>
          <a:p>
            <a:pPr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Working with technical teams to identify potential barriers or issues and determining options for how to overcome them</a:t>
            </a:r>
          </a:p>
          <a:p>
            <a:pPr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Conducting regular check-ins to monitor project progress and address unexpected issues</a:t>
            </a:r>
          </a:p>
          <a:p>
            <a:pPr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Creating overall IT project work rollout plans</a:t>
            </a:r>
          </a:p>
          <a:p>
            <a:pPr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Conferring with technical teams to identify what resources are needed for a project</a:t>
            </a:r>
          </a:p>
          <a:p>
            <a:endParaRPr lang="en-PK" dirty="0"/>
          </a:p>
        </p:txBody>
      </p:sp>
    </p:spTree>
    <p:extLst>
      <p:ext uri="{BB962C8B-B14F-4D97-AF65-F5344CB8AC3E}">
        <p14:creationId xmlns:p14="http://schemas.microsoft.com/office/powerpoint/2010/main" val="7019878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59655"/>
            <a:ext cx="10515600" cy="5417308"/>
          </a:xfrm>
        </p:spPr>
        <p:txBody>
          <a:bodyPr>
            <a:normAutofit/>
          </a:bodyPr>
          <a:lstStyle/>
          <a:p>
            <a:pPr marL="0" indent="0" algn="just">
              <a:buNone/>
            </a:pPr>
            <a:r>
              <a:rPr lang="en-US" b="1" i="0" dirty="0">
                <a:effectLst/>
                <a:latin typeface="Times New Roman" panose="02020603050405020304" pitchFamily="18" charset="0"/>
                <a:cs typeface="Times New Roman" panose="02020603050405020304" pitchFamily="18" charset="0"/>
              </a:rPr>
              <a:t>5. </a:t>
            </a:r>
            <a:r>
              <a:rPr lang="en-US" b="1" i="0"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xmlns="" val="tx"/>
                    </a:ext>
                  </a:extLst>
                </a:hlinkClick>
              </a:rPr>
              <a:t>Web developers</a:t>
            </a:r>
            <a:endParaRPr lang="en-US" b="1" i="0" dirty="0">
              <a:effectLst/>
              <a:latin typeface="Times New Roman" panose="02020603050405020304" pitchFamily="18" charset="0"/>
              <a:cs typeface="Times New Roman" panose="02020603050405020304" pitchFamily="18" charset="0"/>
            </a:endParaRPr>
          </a:p>
          <a:p>
            <a:pPr algn="just"/>
            <a:r>
              <a:rPr lang="en-US" b="0" i="0" dirty="0">
                <a:effectLst/>
                <a:latin typeface="Times New Roman" panose="02020603050405020304" pitchFamily="18" charset="0"/>
                <a:cs typeface="Times New Roman" panose="02020603050405020304" pitchFamily="18" charset="0"/>
              </a:rPr>
              <a:t>Web developers and digital designers design, create and maintain websites. </a:t>
            </a:r>
            <a:endParaRPr lang="en-US" b="0" i="0" dirty="0" smtClean="0">
              <a:effectLst/>
              <a:latin typeface="Times New Roman" panose="02020603050405020304" pitchFamily="18" charset="0"/>
              <a:cs typeface="Times New Roman" panose="02020603050405020304" pitchFamily="18" charset="0"/>
            </a:endParaRPr>
          </a:p>
          <a:p>
            <a:pPr algn="just"/>
            <a:r>
              <a:rPr lang="en-US" b="0" i="0" dirty="0" smtClean="0">
                <a:effectLst/>
                <a:latin typeface="Times New Roman" panose="02020603050405020304" pitchFamily="18" charset="0"/>
                <a:cs typeface="Times New Roman" panose="02020603050405020304" pitchFamily="18" charset="0"/>
              </a:rPr>
              <a:t>This </a:t>
            </a:r>
            <a:r>
              <a:rPr lang="en-US" b="0" i="0" dirty="0">
                <a:effectLst/>
                <a:latin typeface="Times New Roman" panose="02020603050405020304" pitchFamily="18" charset="0"/>
                <a:cs typeface="Times New Roman" panose="02020603050405020304" pitchFamily="18" charset="0"/>
              </a:rPr>
              <a:t>role often falls into one of three categories: back-end developers, who work mainly with the technical construction of the website, front-end developers, who are responsible for the look and design of a website, and webmasters, who maintain and update websites—though many of these roles may blend together depending on the organization. </a:t>
            </a:r>
            <a:endParaRPr lang="en-US" b="0" i="0" dirty="0" smtClean="0">
              <a:effectLst/>
              <a:latin typeface="Times New Roman" panose="02020603050405020304" pitchFamily="18" charset="0"/>
              <a:cs typeface="Times New Roman" panose="02020603050405020304" pitchFamily="18" charset="0"/>
            </a:endParaRPr>
          </a:p>
          <a:p>
            <a:pPr algn="just"/>
            <a:r>
              <a:rPr lang="en-US" b="0" i="0" dirty="0" smtClean="0">
                <a:effectLst/>
                <a:latin typeface="Times New Roman" panose="02020603050405020304" pitchFamily="18" charset="0"/>
                <a:cs typeface="Times New Roman" panose="02020603050405020304" pitchFamily="18" charset="0"/>
              </a:rPr>
              <a:t>This </a:t>
            </a:r>
            <a:r>
              <a:rPr lang="en-US" b="0" i="0" dirty="0">
                <a:effectLst/>
                <a:latin typeface="Times New Roman" panose="02020603050405020304" pitchFamily="18" charset="0"/>
                <a:cs typeface="Times New Roman" panose="02020603050405020304" pitchFamily="18" charset="0"/>
              </a:rPr>
              <a:t>career calls on excellent coding, creativity and communication skills in order to create websites that meet the needs of users and organizations alike.</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00485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9CC6C1-AC08-41D0-85FD-075F336DC77C}"/>
              </a:ext>
            </a:extLst>
          </p:cNvPr>
          <p:cNvSpPr>
            <a:spLocks noGrp="1"/>
          </p:cNvSpPr>
          <p:nvPr>
            <p:ph idx="1"/>
          </p:nvPr>
        </p:nvSpPr>
        <p:spPr>
          <a:xfrm>
            <a:off x="838200" y="1069145"/>
            <a:ext cx="10515600" cy="5107818"/>
          </a:xfrm>
        </p:spPr>
        <p:txBody>
          <a:bodyPr/>
          <a:lstStyle/>
          <a:p>
            <a:pPr algn="just"/>
            <a:r>
              <a:rPr lang="en-US" b="1" i="0" dirty="0">
                <a:effectLst/>
                <a:latin typeface="Times New Roman" panose="02020603050405020304" pitchFamily="18" charset="0"/>
                <a:cs typeface="Times New Roman" panose="02020603050405020304" pitchFamily="18" charset="0"/>
              </a:rPr>
              <a:t>Typical duties:</a:t>
            </a:r>
            <a:r>
              <a:rPr lang="en-US" b="1" i="0" baseline="30000" dirty="0">
                <a:effectLst/>
                <a:latin typeface="Times New Roman" panose="02020603050405020304" pitchFamily="18" charset="0"/>
                <a:cs typeface="Times New Roman" panose="02020603050405020304" pitchFamily="18" charset="0"/>
              </a:rPr>
              <a:t> </a:t>
            </a:r>
            <a:endParaRPr lang="en-US" b="0" i="0" dirty="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Meeting with clients and assessing their website needs</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Creating and testing web applications</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Writing code for the website</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Collaborating with website stakeholder teams</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Creating user-friendly, functional and accessible layouts</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Monitoring site traffic or other key performance metrics</a:t>
            </a:r>
          </a:p>
          <a:p>
            <a:endParaRPr lang="en-PK" dirty="0"/>
          </a:p>
        </p:txBody>
      </p:sp>
    </p:spTree>
    <p:extLst>
      <p:ext uri="{BB962C8B-B14F-4D97-AF65-F5344CB8AC3E}">
        <p14:creationId xmlns:p14="http://schemas.microsoft.com/office/powerpoint/2010/main" val="42636248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90148E-E8A8-4A41-BE3A-92D5D25B30E6}"/>
              </a:ext>
            </a:extLst>
          </p:cNvPr>
          <p:cNvSpPr>
            <a:spLocks noGrp="1"/>
          </p:cNvSpPr>
          <p:nvPr>
            <p:ph idx="1"/>
          </p:nvPr>
        </p:nvSpPr>
        <p:spPr>
          <a:xfrm>
            <a:off x="838200" y="689317"/>
            <a:ext cx="10515600" cy="5487646"/>
          </a:xfrm>
        </p:spPr>
        <p:txBody>
          <a:bodyPr>
            <a:normAutofit/>
          </a:bodyPr>
          <a:lstStyle/>
          <a:p>
            <a:pPr marL="0" indent="0" algn="l">
              <a:buNone/>
            </a:pPr>
            <a:r>
              <a:rPr lang="en-US" sz="3100" b="1" i="0" dirty="0">
                <a:effectLst/>
                <a:latin typeface="Times New Roman" panose="02020603050405020304" pitchFamily="18" charset="0"/>
                <a:cs typeface="Times New Roman" panose="02020603050405020304" pitchFamily="18" charset="0"/>
              </a:rPr>
              <a:t>6.</a:t>
            </a:r>
            <a:r>
              <a:rPr lang="en-US" b="1" i="0" dirty="0">
                <a:effectLst/>
                <a:latin typeface="Times New Roman" panose="02020603050405020304" pitchFamily="18" charset="0"/>
                <a:cs typeface="Times New Roman" panose="02020603050405020304" pitchFamily="18" charset="0"/>
              </a:rPr>
              <a:t> </a:t>
            </a:r>
            <a:r>
              <a:rPr lang="en-US" b="1" i="0"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xmlns="" val="tx"/>
                    </a:ext>
                  </a:extLst>
                </a:hlinkClick>
              </a:rPr>
              <a:t>Information security analysts</a:t>
            </a:r>
            <a:endParaRPr lang="en-US" b="1" i="0" dirty="0">
              <a:effectLst/>
              <a:latin typeface="Times New Roman" panose="02020603050405020304" pitchFamily="18" charset="0"/>
              <a:cs typeface="Times New Roman" panose="02020603050405020304" pitchFamily="18" charset="0"/>
            </a:endParaRPr>
          </a:p>
          <a:p>
            <a:pPr marL="0" indent="0" algn="just">
              <a:buNone/>
            </a:pPr>
            <a:endParaRPr lang="en-US" sz="2000" b="0" i="0" dirty="0">
              <a:effectLst/>
              <a:latin typeface="Times New Roman" panose="02020603050405020304" pitchFamily="18" charset="0"/>
              <a:cs typeface="Times New Roman" panose="02020603050405020304" pitchFamily="18" charset="0"/>
            </a:endParaRPr>
          </a:p>
          <a:p>
            <a:pPr marL="0" indent="0" algn="just">
              <a:buNone/>
            </a:pPr>
            <a:r>
              <a:rPr lang="en-US" b="0" i="0" dirty="0">
                <a:effectLst/>
                <a:latin typeface="Times New Roman" panose="02020603050405020304" pitchFamily="18" charset="0"/>
                <a:cs typeface="Times New Roman" panose="02020603050405020304" pitchFamily="18" charset="0"/>
              </a:rPr>
              <a:t>A constantly evolving and critical position, an information security analyst protects an organization’s network and systems from security breaches and the potential fallout from them. </a:t>
            </a:r>
            <a:endParaRPr lang="en-US" b="0" i="0" dirty="0" smtClean="0">
              <a:effectLst/>
              <a:latin typeface="Times New Roman" panose="02020603050405020304" pitchFamily="18" charset="0"/>
              <a:cs typeface="Times New Roman" panose="02020603050405020304" pitchFamily="18" charset="0"/>
            </a:endParaRPr>
          </a:p>
          <a:p>
            <a:pPr marL="0" indent="0" algn="just">
              <a:buNone/>
            </a:pPr>
            <a:r>
              <a:rPr lang="en-US" b="0" i="0" dirty="0" smtClean="0">
                <a:effectLst/>
                <a:latin typeface="Times New Roman" panose="02020603050405020304" pitchFamily="18" charset="0"/>
                <a:cs typeface="Times New Roman" panose="02020603050405020304" pitchFamily="18" charset="0"/>
              </a:rPr>
              <a:t>These </a:t>
            </a:r>
            <a:r>
              <a:rPr lang="en-US" b="0" i="0" dirty="0">
                <a:effectLst/>
                <a:latin typeface="Times New Roman" panose="02020603050405020304" pitchFamily="18" charset="0"/>
                <a:cs typeface="Times New Roman" panose="02020603050405020304" pitchFamily="18" charset="0"/>
              </a:rPr>
              <a:t>analysts work to create disaster recovery plans, conduct assessments of security threats, create plans remedying potential threats and keep a close eye on new and emerging threats in the industry. </a:t>
            </a:r>
            <a:endParaRPr lang="en-US" b="0" i="0" dirty="0" smtClean="0">
              <a:effectLst/>
              <a:latin typeface="Times New Roman" panose="02020603050405020304" pitchFamily="18" charset="0"/>
              <a:cs typeface="Times New Roman" panose="02020603050405020304" pitchFamily="18" charset="0"/>
            </a:endParaRPr>
          </a:p>
          <a:p>
            <a:pPr marL="0" indent="0" algn="just">
              <a:buNone/>
            </a:pPr>
            <a:r>
              <a:rPr lang="en-US" b="0" i="0" dirty="0" smtClean="0">
                <a:effectLst/>
                <a:latin typeface="Times New Roman" panose="02020603050405020304" pitchFamily="18" charset="0"/>
                <a:cs typeface="Times New Roman" panose="02020603050405020304" pitchFamily="18" charset="0"/>
              </a:rPr>
              <a:t>This </a:t>
            </a:r>
            <a:r>
              <a:rPr lang="en-US" b="0" i="0" dirty="0">
                <a:effectLst/>
                <a:latin typeface="Times New Roman" panose="02020603050405020304" pitchFamily="18" charset="0"/>
                <a:cs typeface="Times New Roman" panose="02020603050405020304" pitchFamily="18" charset="0"/>
              </a:rPr>
              <a:t>role requires extensive knowledge of how hardware and software interface, their potential weaknesses and the ability to drive proactive change within an organization to address information security concerns.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15176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B8A6BE-B007-484F-89E1-7D1FF03918A6}"/>
              </a:ext>
            </a:extLst>
          </p:cNvPr>
          <p:cNvSpPr>
            <a:spLocks noGrp="1"/>
          </p:cNvSpPr>
          <p:nvPr>
            <p:ph idx="1"/>
          </p:nvPr>
        </p:nvSpPr>
        <p:spPr>
          <a:xfrm>
            <a:off x="838200" y="956603"/>
            <a:ext cx="10515600" cy="5220360"/>
          </a:xfrm>
        </p:spPr>
        <p:txBody>
          <a:bodyPr/>
          <a:lstStyle/>
          <a:p>
            <a:pPr algn="l"/>
            <a:r>
              <a:rPr lang="en-US" sz="2800" b="1" i="0" dirty="0">
                <a:effectLst/>
                <a:latin typeface="Times New Roman" panose="02020603050405020304" pitchFamily="18" charset="0"/>
                <a:cs typeface="Times New Roman" panose="02020603050405020304" pitchFamily="18" charset="0"/>
              </a:rPr>
              <a:t>Typical duties:</a:t>
            </a:r>
            <a:endParaRPr lang="en-US" sz="28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Monitoring for security breaches or potential weaknesses</a:t>
            </a:r>
          </a:p>
          <a:p>
            <a:pPr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Overseeing the organization-wide implementation of protective measures such as firewalls and antivirus programs</a:t>
            </a:r>
          </a:p>
          <a:p>
            <a:pPr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Creating reports documenting any security breaches and providing guidance on what can be done to prevent them going forward</a:t>
            </a:r>
          </a:p>
          <a:p>
            <a:pPr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Testing for potential vulnerabilities in systems</a:t>
            </a:r>
          </a:p>
          <a:p>
            <a:pPr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Developing securit</a:t>
            </a:r>
            <a:r>
              <a:rPr lang="en-US" b="0" i="0" dirty="0">
                <a:effectLst/>
                <a:latin typeface="Times New Roman" panose="02020603050405020304" pitchFamily="18" charset="0"/>
                <a:cs typeface="Times New Roman" panose="02020603050405020304" pitchFamily="18" charset="0"/>
              </a:rPr>
              <a:t>y best practices for an organization and creating training documentation</a:t>
            </a:r>
          </a:p>
          <a:p>
            <a:endParaRPr lang="en-PK" dirty="0"/>
          </a:p>
        </p:txBody>
      </p:sp>
    </p:spTree>
    <p:extLst>
      <p:ext uri="{BB962C8B-B14F-4D97-AF65-F5344CB8AC3E}">
        <p14:creationId xmlns:p14="http://schemas.microsoft.com/office/powerpoint/2010/main" val="36934425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90148E-E8A8-4A41-BE3A-92D5D25B30E6}"/>
              </a:ext>
            </a:extLst>
          </p:cNvPr>
          <p:cNvSpPr>
            <a:spLocks noGrp="1"/>
          </p:cNvSpPr>
          <p:nvPr>
            <p:ph idx="1"/>
          </p:nvPr>
        </p:nvSpPr>
        <p:spPr>
          <a:xfrm>
            <a:off x="838200" y="1294228"/>
            <a:ext cx="10515600" cy="4882735"/>
          </a:xfrm>
        </p:spPr>
        <p:txBody>
          <a:bodyPr>
            <a:normAutofit lnSpcReduction="10000"/>
          </a:bodyPr>
          <a:lstStyle/>
          <a:p>
            <a:pPr marL="0" indent="0" algn="l">
              <a:buNone/>
            </a:pPr>
            <a:r>
              <a:rPr lang="en-US" b="1" i="0" dirty="0">
                <a:effectLst/>
                <a:latin typeface="Times New Roman" panose="02020603050405020304" pitchFamily="18" charset="0"/>
                <a:cs typeface="Times New Roman" panose="02020603050405020304" pitchFamily="18" charset="0"/>
              </a:rPr>
              <a:t>7. </a:t>
            </a:r>
            <a:r>
              <a:rPr lang="en-US" b="1" i="0"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xmlns="" val="tx"/>
                    </a:ext>
                  </a:extLst>
                </a:hlinkClick>
              </a:rPr>
              <a:t>Computer systems analysts</a:t>
            </a:r>
            <a:endParaRPr lang="en-US" b="1" i="0" dirty="0">
              <a:effectLst/>
              <a:latin typeface="Times New Roman" panose="02020603050405020304" pitchFamily="18" charset="0"/>
              <a:cs typeface="Times New Roman" panose="02020603050405020304" pitchFamily="18" charset="0"/>
            </a:endParaRPr>
          </a:p>
          <a:p>
            <a:pPr algn="just"/>
            <a:r>
              <a:rPr lang="en-US" b="0" i="0" dirty="0">
                <a:effectLst/>
                <a:latin typeface="Times New Roman" panose="02020603050405020304" pitchFamily="18" charset="0"/>
                <a:cs typeface="Times New Roman" panose="02020603050405020304" pitchFamily="18" charset="0"/>
              </a:rPr>
              <a:t>Computer systems analysts, or systems architects, create new systems and procedures to optimize an organization’s computer needs. </a:t>
            </a:r>
            <a:endParaRPr lang="en-US" b="0" i="0" dirty="0" smtClean="0">
              <a:effectLst/>
              <a:latin typeface="Times New Roman" panose="02020603050405020304" pitchFamily="18" charset="0"/>
              <a:cs typeface="Times New Roman" panose="02020603050405020304" pitchFamily="18" charset="0"/>
            </a:endParaRPr>
          </a:p>
          <a:p>
            <a:pPr algn="just"/>
            <a:r>
              <a:rPr lang="en-US" b="0" i="0" dirty="0" smtClean="0">
                <a:effectLst/>
                <a:latin typeface="Times New Roman" panose="02020603050405020304" pitchFamily="18" charset="0"/>
                <a:cs typeface="Times New Roman" panose="02020603050405020304" pitchFamily="18" charset="0"/>
              </a:rPr>
              <a:t>Computer </a:t>
            </a:r>
            <a:r>
              <a:rPr lang="en-US" b="0" i="0" dirty="0">
                <a:effectLst/>
                <a:latin typeface="Times New Roman" panose="02020603050405020304" pitchFamily="18" charset="0"/>
                <a:cs typeface="Times New Roman" panose="02020603050405020304" pitchFamily="18" charset="0"/>
              </a:rPr>
              <a:t>systems analysts often have both a sophisticated understanding of IT and a strong background of industry-specific knowledge like healthcare, finance or marketing. </a:t>
            </a:r>
            <a:endParaRPr lang="en-US" b="0" i="0" dirty="0" smtClean="0">
              <a:effectLst/>
              <a:latin typeface="Times New Roman" panose="02020603050405020304" pitchFamily="18" charset="0"/>
              <a:cs typeface="Times New Roman" panose="02020603050405020304" pitchFamily="18" charset="0"/>
            </a:endParaRPr>
          </a:p>
          <a:p>
            <a:pPr algn="just"/>
            <a:r>
              <a:rPr lang="en-US" b="0" i="0" dirty="0" smtClean="0">
                <a:effectLst/>
                <a:latin typeface="Times New Roman" panose="02020603050405020304" pitchFamily="18" charset="0"/>
                <a:cs typeface="Times New Roman" panose="02020603050405020304" pitchFamily="18" charset="0"/>
              </a:rPr>
              <a:t>For </a:t>
            </a:r>
            <a:r>
              <a:rPr lang="en-US" b="0" i="0" dirty="0">
                <a:effectLst/>
                <a:latin typeface="Times New Roman" panose="02020603050405020304" pitchFamily="18" charset="0"/>
                <a:cs typeface="Times New Roman" panose="02020603050405020304" pitchFamily="18" charset="0"/>
              </a:rPr>
              <a:t>example, in a healthcare setting, a computer systems analyst may be tasked with modifying or designing a system used for storing and sharing patient medical records. </a:t>
            </a:r>
            <a:endParaRPr lang="en-US" b="0" i="0" dirty="0" smtClean="0">
              <a:effectLst/>
              <a:latin typeface="Times New Roman" panose="02020603050405020304" pitchFamily="18" charset="0"/>
              <a:cs typeface="Times New Roman" panose="02020603050405020304" pitchFamily="18" charset="0"/>
            </a:endParaRPr>
          </a:p>
          <a:p>
            <a:pPr algn="just"/>
            <a:r>
              <a:rPr lang="en-US" b="0" i="0" dirty="0" smtClean="0">
                <a:effectLst/>
                <a:latin typeface="Times New Roman" panose="02020603050405020304" pitchFamily="18" charset="0"/>
                <a:cs typeface="Times New Roman" panose="02020603050405020304" pitchFamily="18" charset="0"/>
              </a:rPr>
              <a:t>That </a:t>
            </a:r>
            <a:r>
              <a:rPr lang="en-US" b="0" i="0" dirty="0">
                <a:effectLst/>
                <a:latin typeface="Times New Roman" panose="02020603050405020304" pitchFamily="18" charset="0"/>
                <a:cs typeface="Times New Roman" panose="02020603050405020304" pitchFamily="18" charset="0"/>
              </a:rPr>
              <a:t>information may require special legal considerations, so analysts who understand the laws governing patient information and how this system will be used by providers are critically important.</a:t>
            </a:r>
          </a:p>
          <a:p>
            <a:endParaRPr lang="en-US" dirty="0"/>
          </a:p>
        </p:txBody>
      </p:sp>
    </p:spTree>
    <p:extLst>
      <p:ext uri="{BB962C8B-B14F-4D97-AF65-F5344CB8AC3E}">
        <p14:creationId xmlns:p14="http://schemas.microsoft.com/office/powerpoint/2010/main" val="2047342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13D3BD-0ACB-49D8-8D2F-9F940FF87F9F}"/>
              </a:ext>
            </a:extLst>
          </p:cNvPr>
          <p:cNvSpPr>
            <a:spLocks noGrp="1"/>
          </p:cNvSpPr>
          <p:nvPr>
            <p:ph idx="1"/>
          </p:nvPr>
        </p:nvSpPr>
        <p:spPr>
          <a:xfrm>
            <a:off x="838200" y="1069145"/>
            <a:ext cx="10515600" cy="5107818"/>
          </a:xfrm>
        </p:spPr>
        <p:txBody>
          <a:bodyPr>
            <a:normAutofit/>
          </a:bodyPr>
          <a:lstStyle/>
          <a:p>
            <a:pPr algn="l"/>
            <a:r>
              <a:rPr lang="en-US" b="1" i="0" dirty="0">
                <a:effectLst/>
                <a:latin typeface="Times New Roman" panose="02020603050405020304" pitchFamily="18" charset="0"/>
                <a:cs typeface="Times New Roman" panose="02020603050405020304" pitchFamily="18" charset="0"/>
              </a:rPr>
              <a:t>Typical duties:</a:t>
            </a:r>
            <a:endParaRPr lang="en-US"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Working alongside managers and other subject matter experts to assess an organization’s IT needs</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Researching and analyzing the potential benefits and drawbacks of new technologies</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Choosing and configuring new hardware and software to meet organizational needs</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Managing the installation of new computer systems</a:t>
            </a: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Training end users and creating instruction manuals or other key documentation</a:t>
            </a:r>
          </a:p>
          <a:p>
            <a:endParaRPr lang="en-PK" dirty="0"/>
          </a:p>
        </p:txBody>
      </p:sp>
    </p:spTree>
    <p:extLst>
      <p:ext uri="{BB962C8B-B14F-4D97-AF65-F5344CB8AC3E}">
        <p14:creationId xmlns:p14="http://schemas.microsoft.com/office/powerpoint/2010/main" val="21852172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D524EC-0C55-40D4-BF68-B49A1D067448}"/>
              </a:ext>
            </a:extLst>
          </p:cNvPr>
          <p:cNvSpPr>
            <a:spLocks noGrp="1"/>
          </p:cNvSpPr>
          <p:nvPr>
            <p:ph idx="1"/>
          </p:nvPr>
        </p:nvSpPr>
        <p:spPr>
          <a:xfrm>
            <a:off x="838200" y="647114"/>
            <a:ext cx="10515600" cy="5529849"/>
          </a:xfrm>
        </p:spPr>
        <p:txBody>
          <a:bodyPr>
            <a:normAutofit/>
          </a:bodyPr>
          <a:lstStyle/>
          <a:p>
            <a:pPr marL="0" indent="0" algn="just">
              <a:buNone/>
            </a:pPr>
            <a:r>
              <a:rPr lang="en-US" b="1" i="0" dirty="0">
                <a:solidFill>
                  <a:srgbClr val="414042"/>
                </a:solidFill>
                <a:effectLst/>
                <a:latin typeface="Open Sans"/>
              </a:rPr>
              <a:t>8.</a:t>
            </a:r>
            <a:r>
              <a:rPr lang="en-US" b="1" i="0" dirty="0">
                <a:effectLst/>
                <a:latin typeface="Times New Roman" panose="02020603050405020304" pitchFamily="18" charset="0"/>
                <a:cs typeface="Times New Roman" panose="02020603050405020304" pitchFamily="18" charset="0"/>
              </a:rPr>
              <a:t> </a:t>
            </a:r>
            <a:r>
              <a:rPr lang="en-US" b="1" i="0"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xmlns="" val="tx"/>
                    </a:ext>
                  </a:extLst>
                </a:hlinkClick>
              </a:rPr>
              <a:t>Database administrators and architects</a:t>
            </a:r>
            <a:endParaRPr lang="en-US" b="1" i="0" dirty="0">
              <a:effectLst/>
              <a:latin typeface="Times New Roman" panose="02020603050405020304" pitchFamily="18" charset="0"/>
              <a:cs typeface="Times New Roman" panose="02020603050405020304" pitchFamily="18" charset="0"/>
            </a:endParaRPr>
          </a:p>
          <a:p>
            <a:pPr algn="just"/>
            <a:r>
              <a:rPr lang="en-US" b="0" i="0" dirty="0">
                <a:effectLst/>
                <a:latin typeface="Times New Roman" panose="02020603050405020304" pitchFamily="18" charset="0"/>
                <a:cs typeface="Times New Roman" panose="02020603050405020304" pitchFamily="18" charset="0"/>
              </a:rPr>
              <a:t>Businesses and organizations generate and collect a massive amount of data in order to fuel their daily operations. Database administrators are the professionals who help store, secure and organize that data. They are tasked with building databases that logically store information in a way that works well with the systems that may access this information. They may also be responsible for data recovery efforts and creating data backups.</a:t>
            </a:r>
          </a:p>
          <a:p>
            <a:endParaRPr lang="en-PK" dirty="0"/>
          </a:p>
        </p:txBody>
      </p:sp>
    </p:spTree>
    <p:extLst>
      <p:ext uri="{BB962C8B-B14F-4D97-AF65-F5344CB8AC3E}">
        <p14:creationId xmlns:p14="http://schemas.microsoft.com/office/powerpoint/2010/main" val="223460905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BBB795-E994-412C-9CAC-EDBA103AAD54}"/>
              </a:ext>
            </a:extLst>
          </p:cNvPr>
          <p:cNvSpPr>
            <a:spLocks noGrp="1"/>
          </p:cNvSpPr>
          <p:nvPr>
            <p:ph idx="1"/>
          </p:nvPr>
        </p:nvSpPr>
        <p:spPr>
          <a:xfrm>
            <a:off x="838200" y="1195754"/>
            <a:ext cx="10515600" cy="4981209"/>
          </a:xfrm>
        </p:spPr>
        <p:txBody>
          <a:bodyPr/>
          <a:lstStyle/>
          <a:p>
            <a:pPr algn="just"/>
            <a:r>
              <a:rPr lang="en-US" b="1" i="0" dirty="0">
                <a:effectLst/>
                <a:latin typeface="Times New Roman" panose="02020603050405020304" pitchFamily="18" charset="0"/>
                <a:cs typeface="Times New Roman" panose="02020603050405020304" pitchFamily="18" charset="0"/>
              </a:rPr>
              <a:t>Typical duties:</a:t>
            </a:r>
            <a:endParaRPr lang="en-US" b="0" i="0" dirty="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Creating back-ups of data and recovering lost data</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Ensuring user permissions for data use are valid and up to date</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Merging existing databases into new databases</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Identifying user needs in order to create new databases</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Maintaining proper function of all databases</a:t>
            </a:r>
          </a:p>
          <a:p>
            <a:endParaRPr lang="en-PK" dirty="0"/>
          </a:p>
        </p:txBody>
      </p:sp>
    </p:spTree>
    <p:extLst>
      <p:ext uri="{BB962C8B-B14F-4D97-AF65-F5344CB8AC3E}">
        <p14:creationId xmlns:p14="http://schemas.microsoft.com/office/powerpoint/2010/main" val="220259642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26124C-5CEB-446B-BA95-E4801DA986A9}"/>
              </a:ext>
            </a:extLst>
          </p:cNvPr>
          <p:cNvSpPr>
            <a:spLocks noGrp="1"/>
          </p:cNvSpPr>
          <p:nvPr>
            <p:ph idx="1"/>
          </p:nvPr>
        </p:nvSpPr>
        <p:spPr>
          <a:xfrm>
            <a:off x="838200" y="717452"/>
            <a:ext cx="10515600" cy="5459511"/>
          </a:xfrm>
        </p:spPr>
        <p:txBody>
          <a:bodyPr>
            <a:normAutofit/>
          </a:bodyPr>
          <a:lstStyle/>
          <a:p>
            <a:pPr marL="0" indent="0" algn="just">
              <a:buNone/>
            </a:pPr>
            <a:r>
              <a:rPr lang="en-US" b="1" i="0" dirty="0">
                <a:effectLst/>
                <a:latin typeface="Times New Roman" panose="02020603050405020304" pitchFamily="18" charset="0"/>
                <a:cs typeface="Times New Roman" panose="02020603050405020304" pitchFamily="18" charset="0"/>
              </a:rPr>
              <a:t>9. </a:t>
            </a:r>
            <a:r>
              <a:rPr lang="en-US" b="1" i="0"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xmlns="" val="tx"/>
                    </a:ext>
                  </a:extLst>
                </a:hlinkClick>
              </a:rPr>
              <a:t>Network and computer systems administrators</a:t>
            </a:r>
            <a:endParaRPr lang="en-US" b="1" i="0" dirty="0">
              <a:effectLst/>
              <a:latin typeface="Times New Roman" panose="02020603050405020304" pitchFamily="18" charset="0"/>
              <a:cs typeface="Times New Roman" panose="02020603050405020304" pitchFamily="18" charset="0"/>
            </a:endParaRPr>
          </a:p>
          <a:p>
            <a:pPr algn="just"/>
            <a:r>
              <a:rPr lang="en-US" b="0" i="0" dirty="0">
                <a:effectLst/>
                <a:latin typeface="Times New Roman" panose="02020603050405020304" pitchFamily="18" charset="0"/>
                <a:cs typeface="Times New Roman" panose="02020603050405020304" pitchFamily="18" charset="0"/>
              </a:rPr>
              <a:t>Network and computer systems administrators are responsible for the upkeep of an organization’s networks. While a computer network architect’s work is typically more focused on designing an organization’s network, a network system administrator is more responsible for the day-to-day operation of those networks and ensuring they’re working as intended. Network systems administrators may provide direct user support or supervise computer support specialists. This role is often a logical next step in the career ladder for user support specialists, and their work typically focuses on a larger scale or more complex network issues.</a:t>
            </a:r>
          </a:p>
          <a:p>
            <a:endParaRPr lang="en-PK" dirty="0"/>
          </a:p>
        </p:txBody>
      </p:sp>
    </p:spTree>
    <p:extLst>
      <p:ext uri="{BB962C8B-B14F-4D97-AF65-F5344CB8AC3E}">
        <p14:creationId xmlns:p14="http://schemas.microsoft.com/office/powerpoint/2010/main" val="42703360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F184F1-C497-4F33-AA2F-0D0E34782EEE}"/>
              </a:ext>
            </a:extLst>
          </p:cNvPr>
          <p:cNvSpPr>
            <a:spLocks noGrp="1"/>
          </p:cNvSpPr>
          <p:nvPr>
            <p:ph idx="1"/>
          </p:nvPr>
        </p:nvSpPr>
        <p:spPr>
          <a:xfrm>
            <a:off x="838200" y="956603"/>
            <a:ext cx="10515600" cy="5220360"/>
          </a:xfrm>
        </p:spPr>
        <p:txBody>
          <a:bodyPr/>
          <a:lstStyle/>
          <a:p>
            <a:pPr algn="just"/>
            <a:r>
              <a:rPr lang="en-US" b="1" i="0" dirty="0">
                <a:effectLst/>
                <a:latin typeface="Times New Roman" panose="02020603050405020304" pitchFamily="18" charset="0"/>
                <a:cs typeface="Times New Roman" panose="02020603050405020304" pitchFamily="18" charset="0"/>
              </a:rPr>
              <a:t>Typical duties:</a:t>
            </a:r>
            <a:endParaRPr lang="en-US" b="0" i="0" dirty="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Making upgrades and repairs to networks</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Securing network and computer systems</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Adding users to a network</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Training users on hardware and software</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Troubleshooting user problems</a:t>
            </a:r>
          </a:p>
          <a:p>
            <a:endParaRPr lang="en-PK" dirty="0"/>
          </a:p>
        </p:txBody>
      </p:sp>
    </p:spTree>
    <p:extLst>
      <p:ext uri="{BB962C8B-B14F-4D97-AF65-F5344CB8AC3E}">
        <p14:creationId xmlns:p14="http://schemas.microsoft.com/office/powerpoint/2010/main" val="300118170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2053</TotalTime>
  <Words>579</Words>
  <Application>Microsoft Office PowerPoint</Application>
  <PresentationFormat>Widescreen</PresentationFormat>
  <Paragraphs>111</Paragraphs>
  <Slides>22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ITC Franklin Gothic LT W01 Bk</vt:lpstr>
      <vt:lpstr>Open Sans</vt:lpstr>
      <vt:lpstr>Times New Roman</vt:lpstr>
      <vt:lpstr>Office Theme</vt:lpstr>
      <vt:lpstr>Week 2 Lecture 4:  Common Computing Professions                   </vt:lpstr>
      <vt:lpstr>Common Computing Area</vt:lpstr>
      <vt:lpstr>Con.</vt:lpstr>
      <vt:lpstr>Con.</vt:lpstr>
      <vt:lpstr>Careers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LENOVO</cp:lastModifiedBy>
  <cp:revision>46</cp:revision>
  <dcterms:created xsi:type="dcterms:W3CDTF">2020-09-29T10:19:05Z</dcterms:created>
  <dcterms:modified xsi:type="dcterms:W3CDTF">2023-09-26T10:54:27Z</dcterms:modified>
</cp:coreProperties>
</file>
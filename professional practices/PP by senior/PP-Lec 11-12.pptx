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2"/>
  </p:notesMasterIdLst>
  <p:sldIdLst>
    <p:sldId id="256" r:id="rId2"/>
    <p:sldId id="258" r:id="rId3"/>
    <p:sldId id="257" r:id="rId4"/>
    <p:sldId id="259" r:id="rId5"/>
    <p:sldId id="260" r:id="rId6"/>
    <p:sldId id="261" r:id="rId7"/>
    <p:sldId id="262" r:id="rId8"/>
    <p:sldId id="263" r:id="rId9"/>
    <p:sldId id="264" r:id="rId10"/>
    <p:sldId id="265" r:id="rId11"/>
    <p:sldId id="291" r:id="rId12"/>
    <p:sldId id="266" r:id="rId13"/>
    <p:sldId id="268" r:id="rId14"/>
    <p:sldId id="269" r:id="rId15"/>
    <p:sldId id="292" r:id="rId16"/>
    <p:sldId id="271" r:id="rId17"/>
    <p:sldId id="277" r:id="rId18"/>
    <p:sldId id="272" r:id="rId19"/>
    <p:sldId id="273" r:id="rId20"/>
    <p:sldId id="274" r:id="rId21"/>
    <p:sldId id="275" r:id="rId22"/>
    <p:sldId id="278" r:id="rId23"/>
    <p:sldId id="279" r:id="rId24"/>
    <p:sldId id="280" r:id="rId25"/>
    <p:sldId id="281" r:id="rId26"/>
    <p:sldId id="286" r:id="rId27"/>
    <p:sldId id="287" r:id="rId28"/>
    <p:sldId id="288" r:id="rId29"/>
    <p:sldId id="289" r:id="rId30"/>
    <p:sldId id="290" r:id="rId31"/>
  </p:sldIdLst>
  <p:sldSz cx="9144000" cy="6858000" type="screen4x3"/>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94" autoAdjust="0"/>
    <p:restoredTop sz="94291" autoAdjust="0"/>
  </p:normalViewPr>
  <p:slideViewPr>
    <p:cSldViewPr>
      <p:cViewPr varScale="1">
        <p:scale>
          <a:sx n="72" d="100"/>
          <a:sy n="72" d="100"/>
        </p:scale>
        <p:origin x="144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EAF7F7-BA14-422D-B442-8CF181CBBE77}" type="doc">
      <dgm:prSet loTypeId="urn:microsoft.com/office/officeart/2005/8/layout/hList3" loCatId="list" qsTypeId="urn:microsoft.com/office/officeart/2005/8/quickstyle/simple5" qsCatId="simple" csTypeId="urn:microsoft.com/office/officeart/2005/8/colors/colorful5" csCatId="colorful" phldr="1"/>
      <dgm:spPr/>
      <dgm:t>
        <a:bodyPr/>
        <a:lstStyle/>
        <a:p>
          <a:endParaRPr lang="en-US"/>
        </a:p>
      </dgm:t>
    </dgm:pt>
    <dgm:pt modelId="{FAC9E168-D559-4C44-8CD5-2E6913A10788}">
      <dgm:prSet phldrT="[Text]"/>
      <dgm:spPr/>
      <dgm:t>
        <a:bodyPr/>
        <a:lstStyle/>
        <a:p>
          <a:r>
            <a:rPr lang="en-US" dirty="0"/>
            <a:t>Sources of Funds</a:t>
          </a:r>
        </a:p>
      </dgm:t>
    </dgm:pt>
    <dgm:pt modelId="{5215C0FC-D0DB-4D7A-93A8-0CD8296165DE}" type="parTrans" cxnId="{AECB4280-CC8D-468A-B241-80B39546D60B}">
      <dgm:prSet/>
      <dgm:spPr/>
      <dgm:t>
        <a:bodyPr/>
        <a:lstStyle/>
        <a:p>
          <a:endParaRPr lang="en-US"/>
        </a:p>
      </dgm:t>
    </dgm:pt>
    <dgm:pt modelId="{6F75F1BE-2FB8-4F99-9EA5-4055E95F8B94}" type="sibTrans" cxnId="{AECB4280-CC8D-468A-B241-80B39546D60B}">
      <dgm:prSet/>
      <dgm:spPr/>
      <dgm:t>
        <a:bodyPr/>
        <a:lstStyle/>
        <a:p>
          <a:endParaRPr lang="en-US"/>
        </a:p>
      </dgm:t>
    </dgm:pt>
    <dgm:pt modelId="{BF73B9A0-5241-44E4-AB5A-E23F2BD66F42}">
      <dgm:prSet phldrT="[Text]"/>
      <dgm:spPr/>
      <dgm:t>
        <a:bodyPr/>
        <a:lstStyle/>
        <a:p>
          <a:r>
            <a:rPr lang="en-US" dirty="0"/>
            <a:t>Grant</a:t>
          </a:r>
        </a:p>
      </dgm:t>
    </dgm:pt>
    <dgm:pt modelId="{F6022AC8-BE64-456E-AA28-AF54EA347E1C}" type="parTrans" cxnId="{80956314-6259-48D8-A0A2-7571E0CC4E5C}">
      <dgm:prSet/>
      <dgm:spPr/>
      <dgm:t>
        <a:bodyPr/>
        <a:lstStyle/>
        <a:p>
          <a:endParaRPr lang="en-US"/>
        </a:p>
      </dgm:t>
    </dgm:pt>
    <dgm:pt modelId="{4053FBDC-9E37-4F2B-B233-D646E91EE393}" type="sibTrans" cxnId="{80956314-6259-48D8-A0A2-7571E0CC4E5C}">
      <dgm:prSet/>
      <dgm:spPr/>
      <dgm:t>
        <a:bodyPr/>
        <a:lstStyle/>
        <a:p>
          <a:endParaRPr lang="en-US"/>
        </a:p>
      </dgm:t>
    </dgm:pt>
    <dgm:pt modelId="{7AFDCB82-4EA8-4E77-9870-B471BF6B2BDA}">
      <dgm:prSet phldrT="[Text]"/>
      <dgm:spPr/>
      <dgm:t>
        <a:bodyPr/>
        <a:lstStyle/>
        <a:p>
          <a:r>
            <a:rPr lang="en-US" dirty="0"/>
            <a:t>Loan</a:t>
          </a:r>
        </a:p>
      </dgm:t>
    </dgm:pt>
    <dgm:pt modelId="{82FBB2CF-6B9A-4127-82DB-344DFE12C62F}" type="parTrans" cxnId="{8EF177AE-9DC9-4C15-9739-CB52B5CCF2CE}">
      <dgm:prSet/>
      <dgm:spPr/>
      <dgm:t>
        <a:bodyPr/>
        <a:lstStyle/>
        <a:p>
          <a:endParaRPr lang="en-US"/>
        </a:p>
      </dgm:t>
    </dgm:pt>
    <dgm:pt modelId="{710C66F5-5A9A-4A83-AD43-9D6928B0555D}" type="sibTrans" cxnId="{8EF177AE-9DC9-4C15-9739-CB52B5CCF2CE}">
      <dgm:prSet/>
      <dgm:spPr/>
      <dgm:t>
        <a:bodyPr/>
        <a:lstStyle/>
        <a:p>
          <a:endParaRPr lang="en-US"/>
        </a:p>
      </dgm:t>
    </dgm:pt>
    <dgm:pt modelId="{F6D9799C-A519-46F4-9B20-DD60D39BEA5D}">
      <dgm:prSet phldrT="[Text]"/>
      <dgm:spPr/>
      <dgm:t>
        <a:bodyPr/>
        <a:lstStyle/>
        <a:p>
          <a:r>
            <a:rPr lang="en-US" dirty="0"/>
            <a:t>Sale of Equity</a:t>
          </a:r>
        </a:p>
      </dgm:t>
    </dgm:pt>
    <dgm:pt modelId="{4CF89160-2FA5-4D0C-98E7-4FCD1BD343E1}" type="parTrans" cxnId="{2FD1A655-88FF-4167-88B1-42B78491BA93}">
      <dgm:prSet/>
      <dgm:spPr/>
      <dgm:t>
        <a:bodyPr/>
        <a:lstStyle/>
        <a:p>
          <a:endParaRPr lang="en-US"/>
        </a:p>
      </dgm:t>
    </dgm:pt>
    <dgm:pt modelId="{BFD137A2-0F3E-4369-AFD7-39A37B4CE78E}" type="sibTrans" cxnId="{2FD1A655-88FF-4167-88B1-42B78491BA93}">
      <dgm:prSet/>
      <dgm:spPr/>
      <dgm:t>
        <a:bodyPr/>
        <a:lstStyle/>
        <a:p>
          <a:endParaRPr lang="en-US"/>
        </a:p>
      </dgm:t>
    </dgm:pt>
    <dgm:pt modelId="{EB5EFB03-9EBA-4E33-B46F-7043BAB7D978}" type="pres">
      <dgm:prSet presAssocID="{7AEAF7F7-BA14-422D-B442-8CF181CBBE77}" presName="composite" presStyleCnt="0">
        <dgm:presLayoutVars>
          <dgm:chMax val="1"/>
          <dgm:dir/>
          <dgm:resizeHandles val="exact"/>
        </dgm:presLayoutVars>
      </dgm:prSet>
      <dgm:spPr/>
    </dgm:pt>
    <dgm:pt modelId="{B1927A3B-DCE5-4A3E-825C-3B9AEDD77064}" type="pres">
      <dgm:prSet presAssocID="{FAC9E168-D559-4C44-8CD5-2E6913A10788}" presName="roof" presStyleLbl="dkBgShp" presStyleIdx="0" presStyleCnt="2"/>
      <dgm:spPr/>
    </dgm:pt>
    <dgm:pt modelId="{5253B8E8-5D25-46C7-B6B0-ADF1BB2585A1}" type="pres">
      <dgm:prSet presAssocID="{FAC9E168-D559-4C44-8CD5-2E6913A10788}" presName="pillars" presStyleCnt="0"/>
      <dgm:spPr/>
    </dgm:pt>
    <dgm:pt modelId="{AF5C2DCC-0247-4AF9-A84D-87E93F7B06BC}" type="pres">
      <dgm:prSet presAssocID="{FAC9E168-D559-4C44-8CD5-2E6913A10788}" presName="pillar1" presStyleLbl="node1" presStyleIdx="0" presStyleCnt="3">
        <dgm:presLayoutVars>
          <dgm:bulletEnabled val="1"/>
        </dgm:presLayoutVars>
      </dgm:prSet>
      <dgm:spPr/>
    </dgm:pt>
    <dgm:pt modelId="{FAF391A8-DBDD-4F53-98CA-984F23784245}" type="pres">
      <dgm:prSet presAssocID="{7AFDCB82-4EA8-4E77-9870-B471BF6B2BDA}" presName="pillarX" presStyleLbl="node1" presStyleIdx="1" presStyleCnt="3">
        <dgm:presLayoutVars>
          <dgm:bulletEnabled val="1"/>
        </dgm:presLayoutVars>
      </dgm:prSet>
      <dgm:spPr/>
    </dgm:pt>
    <dgm:pt modelId="{03C3D65C-2DF5-426C-AA55-61D9CB12A4B7}" type="pres">
      <dgm:prSet presAssocID="{F6D9799C-A519-46F4-9B20-DD60D39BEA5D}" presName="pillarX" presStyleLbl="node1" presStyleIdx="2" presStyleCnt="3">
        <dgm:presLayoutVars>
          <dgm:bulletEnabled val="1"/>
        </dgm:presLayoutVars>
      </dgm:prSet>
      <dgm:spPr/>
    </dgm:pt>
    <dgm:pt modelId="{68B20A48-4485-41DC-9EB2-E792D1B79B95}" type="pres">
      <dgm:prSet presAssocID="{FAC9E168-D559-4C44-8CD5-2E6913A10788}" presName="base" presStyleLbl="dkBgShp" presStyleIdx="1" presStyleCnt="2"/>
      <dgm:spPr/>
    </dgm:pt>
  </dgm:ptLst>
  <dgm:cxnLst>
    <dgm:cxn modelId="{80956314-6259-48D8-A0A2-7571E0CC4E5C}" srcId="{FAC9E168-D559-4C44-8CD5-2E6913A10788}" destId="{BF73B9A0-5241-44E4-AB5A-E23F2BD66F42}" srcOrd="0" destOrd="0" parTransId="{F6022AC8-BE64-456E-AA28-AF54EA347E1C}" sibTransId="{4053FBDC-9E37-4F2B-B233-D646E91EE393}"/>
    <dgm:cxn modelId="{71369630-201B-40AF-9EC3-A92C86445753}" type="presOf" srcId="{7AFDCB82-4EA8-4E77-9870-B471BF6B2BDA}" destId="{FAF391A8-DBDD-4F53-98CA-984F23784245}" srcOrd="0" destOrd="0" presId="urn:microsoft.com/office/officeart/2005/8/layout/hList3"/>
    <dgm:cxn modelId="{2FD1A655-88FF-4167-88B1-42B78491BA93}" srcId="{FAC9E168-D559-4C44-8CD5-2E6913A10788}" destId="{F6D9799C-A519-46F4-9B20-DD60D39BEA5D}" srcOrd="2" destOrd="0" parTransId="{4CF89160-2FA5-4D0C-98E7-4FCD1BD343E1}" sibTransId="{BFD137A2-0F3E-4369-AFD7-39A37B4CE78E}"/>
    <dgm:cxn modelId="{AECB4280-CC8D-468A-B241-80B39546D60B}" srcId="{7AEAF7F7-BA14-422D-B442-8CF181CBBE77}" destId="{FAC9E168-D559-4C44-8CD5-2E6913A10788}" srcOrd="0" destOrd="0" parTransId="{5215C0FC-D0DB-4D7A-93A8-0CD8296165DE}" sibTransId="{6F75F1BE-2FB8-4F99-9EA5-4055E95F8B94}"/>
    <dgm:cxn modelId="{8EF177AE-9DC9-4C15-9739-CB52B5CCF2CE}" srcId="{FAC9E168-D559-4C44-8CD5-2E6913A10788}" destId="{7AFDCB82-4EA8-4E77-9870-B471BF6B2BDA}" srcOrd="1" destOrd="0" parTransId="{82FBB2CF-6B9A-4127-82DB-344DFE12C62F}" sibTransId="{710C66F5-5A9A-4A83-AD43-9D6928B0555D}"/>
    <dgm:cxn modelId="{DBEF84AE-23C1-4476-B0D2-9B35FE3C57D1}" type="presOf" srcId="{FAC9E168-D559-4C44-8CD5-2E6913A10788}" destId="{B1927A3B-DCE5-4A3E-825C-3B9AEDD77064}" srcOrd="0" destOrd="0" presId="urn:microsoft.com/office/officeart/2005/8/layout/hList3"/>
    <dgm:cxn modelId="{C6803EBC-15C7-414D-A4BA-07979FD0570A}" type="presOf" srcId="{F6D9799C-A519-46F4-9B20-DD60D39BEA5D}" destId="{03C3D65C-2DF5-426C-AA55-61D9CB12A4B7}" srcOrd="0" destOrd="0" presId="urn:microsoft.com/office/officeart/2005/8/layout/hList3"/>
    <dgm:cxn modelId="{538975BD-0FED-45FE-B421-FA2CB337F7DB}" type="presOf" srcId="{7AEAF7F7-BA14-422D-B442-8CF181CBBE77}" destId="{EB5EFB03-9EBA-4E33-B46F-7043BAB7D978}" srcOrd="0" destOrd="0" presId="urn:microsoft.com/office/officeart/2005/8/layout/hList3"/>
    <dgm:cxn modelId="{8257CEEB-2958-41BE-BC74-D3E76B6E107A}" type="presOf" srcId="{BF73B9A0-5241-44E4-AB5A-E23F2BD66F42}" destId="{AF5C2DCC-0247-4AF9-A84D-87E93F7B06BC}" srcOrd="0" destOrd="0" presId="urn:microsoft.com/office/officeart/2005/8/layout/hList3"/>
    <dgm:cxn modelId="{94B1B8BD-DB54-4E27-852E-3980365F45EA}" type="presParOf" srcId="{EB5EFB03-9EBA-4E33-B46F-7043BAB7D978}" destId="{B1927A3B-DCE5-4A3E-825C-3B9AEDD77064}" srcOrd="0" destOrd="0" presId="urn:microsoft.com/office/officeart/2005/8/layout/hList3"/>
    <dgm:cxn modelId="{FFA41293-F376-474E-A811-709E0C2CA7F9}" type="presParOf" srcId="{EB5EFB03-9EBA-4E33-B46F-7043BAB7D978}" destId="{5253B8E8-5D25-46C7-B6B0-ADF1BB2585A1}" srcOrd="1" destOrd="0" presId="urn:microsoft.com/office/officeart/2005/8/layout/hList3"/>
    <dgm:cxn modelId="{150C99ED-C159-420C-BD81-0ABB448EC2C3}" type="presParOf" srcId="{5253B8E8-5D25-46C7-B6B0-ADF1BB2585A1}" destId="{AF5C2DCC-0247-4AF9-A84D-87E93F7B06BC}" srcOrd="0" destOrd="0" presId="urn:microsoft.com/office/officeart/2005/8/layout/hList3"/>
    <dgm:cxn modelId="{019CA7F2-53A3-463F-96BB-A4A47D9798F4}" type="presParOf" srcId="{5253B8E8-5D25-46C7-B6B0-ADF1BB2585A1}" destId="{FAF391A8-DBDD-4F53-98CA-984F23784245}" srcOrd="1" destOrd="0" presId="urn:microsoft.com/office/officeart/2005/8/layout/hList3"/>
    <dgm:cxn modelId="{E2AF9D4A-CCAF-490E-AFD9-2E15DAE71DF0}" type="presParOf" srcId="{5253B8E8-5D25-46C7-B6B0-ADF1BB2585A1}" destId="{03C3D65C-2DF5-426C-AA55-61D9CB12A4B7}" srcOrd="2" destOrd="0" presId="urn:microsoft.com/office/officeart/2005/8/layout/hList3"/>
    <dgm:cxn modelId="{D01C1958-CD88-494F-8A1C-D0C59829448A}" type="presParOf" srcId="{EB5EFB03-9EBA-4E33-B46F-7043BAB7D978}" destId="{68B20A48-4485-41DC-9EB2-E792D1B79B95}"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AEAEA6-6466-4F5F-8D7F-67AE0F4028AF}"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en-US"/>
        </a:p>
      </dgm:t>
    </dgm:pt>
    <dgm:pt modelId="{F06F6D35-8BF6-43A3-8C4C-736C0F3B6CDB}">
      <dgm:prSet phldrT="[Text]"/>
      <dgm:spPr/>
      <dgm:t>
        <a:bodyPr/>
        <a:lstStyle/>
        <a:p>
          <a:r>
            <a:rPr lang="en-US" dirty="0"/>
            <a:t>COST</a:t>
          </a:r>
        </a:p>
      </dgm:t>
    </dgm:pt>
    <dgm:pt modelId="{26D7026C-CCE4-428D-9940-64A00662B0F3}" type="parTrans" cxnId="{476EE9FA-6165-4DDA-BFE1-2F45B273A540}">
      <dgm:prSet/>
      <dgm:spPr/>
      <dgm:t>
        <a:bodyPr/>
        <a:lstStyle/>
        <a:p>
          <a:endParaRPr lang="en-US"/>
        </a:p>
      </dgm:t>
    </dgm:pt>
    <dgm:pt modelId="{87262457-C9CE-42DF-9B48-DB77E37947D2}" type="sibTrans" cxnId="{476EE9FA-6165-4DDA-BFE1-2F45B273A540}">
      <dgm:prSet/>
      <dgm:spPr/>
      <dgm:t>
        <a:bodyPr/>
        <a:lstStyle/>
        <a:p>
          <a:endParaRPr lang="en-US"/>
        </a:p>
      </dgm:t>
    </dgm:pt>
    <dgm:pt modelId="{6EA8490C-5BF3-4737-BC7D-F0DD0D962F2A}">
      <dgm:prSet phldrT="[Text]"/>
      <dgm:spPr/>
      <dgm:t>
        <a:bodyPr/>
        <a:lstStyle/>
        <a:p>
          <a:r>
            <a:rPr lang="en-US" dirty="0"/>
            <a:t>Raw materials and bought-in items</a:t>
          </a:r>
        </a:p>
      </dgm:t>
    </dgm:pt>
    <dgm:pt modelId="{1D9A95FD-8DBD-4908-A26D-FC335F286B50}" type="parTrans" cxnId="{0B842984-5C63-4AA4-B11C-533636CFEE17}">
      <dgm:prSet/>
      <dgm:spPr/>
      <dgm:t>
        <a:bodyPr/>
        <a:lstStyle/>
        <a:p>
          <a:endParaRPr lang="en-US"/>
        </a:p>
      </dgm:t>
    </dgm:pt>
    <dgm:pt modelId="{ABE5BEAC-FE3B-41EF-BFE9-3831CC6D6DC6}" type="sibTrans" cxnId="{0B842984-5C63-4AA4-B11C-533636CFEE17}">
      <dgm:prSet/>
      <dgm:spPr/>
      <dgm:t>
        <a:bodyPr/>
        <a:lstStyle/>
        <a:p>
          <a:endParaRPr lang="en-US"/>
        </a:p>
      </dgm:t>
    </dgm:pt>
    <dgm:pt modelId="{5904EEE2-682C-4251-B236-381113946355}">
      <dgm:prSet phldrT="[Text]"/>
      <dgm:spPr/>
      <dgm:t>
        <a:bodyPr/>
        <a:lstStyle/>
        <a:p>
          <a:r>
            <a:rPr lang="en-US" dirty="0"/>
            <a:t>Cost of equipment</a:t>
          </a:r>
        </a:p>
      </dgm:t>
    </dgm:pt>
    <dgm:pt modelId="{C911677F-89D9-48D0-92F6-7ADDC2CEFB15}" type="parTrans" cxnId="{73B5D419-C089-443E-808B-62ADC2CFEB04}">
      <dgm:prSet/>
      <dgm:spPr/>
      <dgm:t>
        <a:bodyPr/>
        <a:lstStyle/>
        <a:p>
          <a:endParaRPr lang="en-US"/>
        </a:p>
      </dgm:t>
    </dgm:pt>
    <dgm:pt modelId="{88341A5D-9AD2-478D-A1DC-2B0322996BC9}" type="sibTrans" cxnId="{73B5D419-C089-443E-808B-62ADC2CFEB04}">
      <dgm:prSet/>
      <dgm:spPr/>
      <dgm:t>
        <a:bodyPr/>
        <a:lstStyle/>
        <a:p>
          <a:endParaRPr lang="en-US"/>
        </a:p>
      </dgm:t>
    </dgm:pt>
    <dgm:pt modelId="{6A4673D0-B0ED-4ED1-B906-3BE8E06467B3}">
      <dgm:prSet phldrT="[Text]"/>
      <dgm:spPr/>
      <dgm:t>
        <a:bodyPr/>
        <a:lstStyle/>
        <a:p>
          <a:r>
            <a:rPr lang="en-US" dirty="0"/>
            <a:t>Direct labour cost</a:t>
          </a:r>
        </a:p>
      </dgm:t>
    </dgm:pt>
    <dgm:pt modelId="{E42F0B5C-808A-48EE-B4AD-E8363B7D8E51}" type="parTrans" cxnId="{F365FD42-A492-4871-9EB9-0B8630D13167}">
      <dgm:prSet/>
      <dgm:spPr/>
      <dgm:t>
        <a:bodyPr/>
        <a:lstStyle/>
        <a:p>
          <a:endParaRPr lang="en-US"/>
        </a:p>
      </dgm:t>
    </dgm:pt>
    <dgm:pt modelId="{44B986D7-03D9-4FE8-96DF-9D813F2CCEB0}" type="sibTrans" cxnId="{F365FD42-A492-4871-9EB9-0B8630D13167}">
      <dgm:prSet/>
      <dgm:spPr/>
      <dgm:t>
        <a:bodyPr/>
        <a:lstStyle/>
        <a:p>
          <a:endParaRPr lang="en-US"/>
        </a:p>
      </dgm:t>
    </dgm:pt>
    <dgm:pt modelId="{7768AD7C-9178-4D7F-86B5-E0196E003D2D}">
      <dgm:prSet phldrT="[Text]"/>
      <dgm:spPr/>
      <dgm:t>
        <a:bodyPr/>
        <a:lstStyle/>
        <a:p>
          <a:r>
            <a:rPr lang="en-US" dirty="0"/>
            <a:t>overheads</a:t>
          </a:r>
        </a:p>
      </dgm:t>
    </dgm:pt>
    <dgm:pt modelId="{BAEE8D42-714C-4FD3-BED0-5A86F71C5A61}" type="parTrans" cxnId="{04C88A76-DE98-4D89-BBFC-6CA4886C7625}">
      <dgm:prSet/>
      <dgm:spPr/>
      <dgm:t>
        <a:bodyPr/>
        <a:lstStyle/>
        <a:p>
          <a:endParaRPr lang="en-US"/>
        </a:p>
      </dgm:t>
    </dgm:pt>
    <dgm:pt modelId="{AB4D6369-7711-47EF-B1EA-DDEA35C2F978}" type="sibTrans" cxnId="{04C88A76-DE98-4D89-BBFC-6CA4886C7625}">
      <dgm:prSet/>
      <dgm:spPr/>
      <dgm:t>
        <a:bodyPr/>
        <a:lstStyle/>
        <a:p>
          <a:endParaRPr lang="en-US"/>
        </a:p>
      </dgm:t>
    </dgm:pt>
    <dgm:pt modelId="{D64DB294-AACE-418A-A012-CABAE7B953BD}" type="pres">
      <dgm:prSet presAssocID="{6FAEAEA6-6466-4F5F-8D7F-67AE0F4028AF}" presName="Name0" presStyleCnt="0">
        <dgm:presLayoutVars>
          <dgm:chMax val="1"/>
          <dgm:dir/>
          <dgm:animLvl val="ctr"/>
          <dgm:resizeHandles val="exact"/>
        </dgm:presLayoutVars>
      </dgm:prSet>
      <dgm:spPr/>
    </dgm:pt>
    <dgm:pt modelId="{228F96BD-8696-4B07-824D-587CED03BF5A}" type="pres">
      <dgm:prSet presAssocID="{F06F6D35-8BF6-43A3-8C4C-736C0F3B6CDB}" presName="centerShape" presStyleLbl="node0" presStyleIdx="0" presStyleCnt="1"/>
      <dgm:spPr/>
    </dgm:pt>
    <dgm:pt modelId="{EFFEFB3E-9C20-4D17-96B4-B32620C5B9D4}" type="pres">
      <dgm:prSet presAssocID="{1D9A95FD-8DBD-4908-A26D-FC335F286B50}" presName="parTrans" presStyleLbl="sibTrans2D1" presStyleIdx="0" presStyleCnt="4"/>
      <dgm:spPr/>
    </dgm:pt>
    <dgm:pt modelId="{ADB6A358-7A77-4C0F-A6B4-94B4C4480C01}" type="pres">
      <dgm:prSet presAssocID="{1D9A95FD-8DBD-4908-A26D-FC335F286B50}" presName="connectorText" presStyleLbl="sibTrans2D1" presStyleIdx="0" presStyleCnt="4"/>
      <dgm:spPr/>
    </dgm:pt>
    <dgm:pt modelId="{3479F329-91E2-4B68-BF00-336C3B034791}" type="pres">
      <dgm:prSet presAssocID="{6EA8490C-5BF3-4737-BC7D-F0DD0D962F2A}" presName="node" presStyleLbl="node1" presStyleIdx="0" presStyleCnt="4" custScaleX="200798" custScaleY="109765" custRadScaleRad="112244" custRadScaleInc="-4514">
        <dgm:presLayoutVars>
          <dgm:bulletEnabled val="1"/>
        </dgm:presLayoutVars>
      </dgm:prSet>
      <dgm:spPr/>
    </dgm:pt>
    <dgm:pt modelId="{B1087139-14AF-44EC-AD07-9AC5D2D8325A}" type="pres">
      <dgm:prSet presAssocID="{C911677F-89D9-48D0-92F6-7ADDC2CEFB15}" presName="parTrans" presStyleLbl="sibTrans2D1" presStyleIdx="1" presStyleCnt="4"/>
      <dgm:spPr/>
    </dgm:pt>
    <dgm:pt modelId="{414B664F-9929-4BCB-AEBA-6131BB483ABE}" type="pres">
      <dgm:prSet presAssocID="{C911677F-89D9-48D0-92F6-7ADDC2CEFB15}" presName="connectorText" presStyleLbl="sibTrans2D1" presStyleIdx="1" presStyleCnt="4"/>
      <dgm:spPr/>
    </dgm:pt>
    <dgm:pt modelId="{9A1AF091-C144-4C27-924A-F88EC573F88C}" type="pres">
      <dgm:prSet presAssocID="{5904EEE2-682C-4251-B236-381113946355}" presName="node" presStyleLbl="node1" presStyleIdx="1" presStyleCnt="4" custScaleX="168462" custRadScaleRad="126342" custRadScaleInc="-1265">
        <dgm:presLayoutVars>
          <dgm:bulletEnabled val="1"/>
        </dgm:presLayoutVars>
      </dgm:prSet>
      <dgm:spPr/>
    </dgm:pt>
    <dgm:pt modelId="{A22DBFC0-79C7-41F0-B387-A1C918A33DC4}" type="pres">
      <dgm:prSet presAssocID="{E42F0B5C-808A-48EE-B4AD-E8363B7D8E51}" presName="parTrans" presStyleLbl="sibTrans2D1" presStyleIdx="2" presStyleCnt="4"/>
      <dgm:spPr/>
    </dgm:pt>
    <dgm:pt modelId="{855BA553-3293-4804-9287-4FD53CB515BF}" type="pres">
      <dgm:prSet presAssocID="{E42F0B5C-808A-48EE-B4AD-E8363B7D8E51}" presName="connectorText" presStyleLbl="sibTrans2D1" presStyleIdx="2" presStyleCnt="4"/>
      <dgm:spPr/>
    </dgm:pt>
    <dgm:pt modelId="{2DD5EEE6-B655-472F-9E08-CA954281AC76}" type="pres">
      <dgm:prSet presAssocID="{6A4673D0-B0ED-4ED1-B906-3BE8E06467B3}" presName="node" presStyleLbl="node1" presStyleIdx="2" presStyleCnt="4" custScaleX="198074">
        <dgm:presLayoutVars>
          <dgm:bulletEnabled val="1"/>
        </dgm:presLayoutVars>
      </dgm:prSet>
      <dgm:spPr/>
    </dgm:pt>
    <dgm:pt modelId="{0F1ACA0A-9870-4BF9-B491-FC3C688C12C8}" type="pres">
      <dgm:prSet presAssocID="{BAEE8D42-714C-4FD3-BED0-5A86F71C5A61}" presName="parTrans" presStyleLbl="sibTrans2D1" presStyleIdx="3" presStyleCnt="4"/>
      <dgm:spPr/>
    </dgm:pt>
    <dgm:pt modelId="{27A7A3B7-3077-4621-B5E7-4186D871A89A}" type="pres">
      <dgm:prSet presAssocID="{BAEE8D42-714C-4FD3-BED0-5A86F71C5A61}" presName="connectorText" presStyleLbl="sibTrans2D1" presStyleIdx="3" presStyleCnt="4"/>
      <dgm:spPr/>
    </dgm:pt>
    <dgm:pt modelId="{E849D73C-7466-410F-9C2E-E07775C14432}" type="pres">
      <dgm:prSet presAssocID="{7768AD7C-9178-4D7F-86B5-E0196E003D2D}" presName="node" presStyleLbl="node1" presStyleIdx="3" presStyleCnt="4" custScaleX="182325" custRadScaleRad="134140" custRadScaleInc="1191">
        <dgm:presLayoutVars>
          <dgm:bulletEnabled val="1"/>
        </dgm:presLayoutVars>
      </dgm:prSet>
      <dgm:spPr/>
    </dgm:pt>
  </dgm:ptLst>
  <dgm:cxnLst>
    <dgm:cxn modelId="{73B5D419-C089-443E-808B-62ADC2CFEB04}" srcId="{F06F6D35-8BF6-43A3-8C4C-736C0F3B6CDB}" destId="{5904EEE2-682C-4251-B236-381113946355}" srcOrd="1" destOrd="0" parTransId="{C911677F-89D9-48D0-92F6-7ADDC2CEFB15}" sibTransId="{88341A5D-9AD2-478D-A1DC-2B0322996BC9}"/>
    <dgm:cxn modelId="{84ACD32A-72D4-4507-8FC6-7FDB05C7BDD8}" type="presOf" srcId="{6EA8490C-5BF3-4737-BC7D-F0DD0D962F2A}" destId="{3479F329-91E2-4B68-BF00-336C3B034791}" srcOrd="0" destOrd="0" presId="urn:microsoft.com/office/officeart/2005/8/layout/radial5"/>
    <dgm:cxn modelId="{A535B430-DE7B-4940-9505-50ED19E296D5}" type="presOf" srcId="{1D9A95FD-8DBD-4908-A26D-FC335F286B50}" destId="{ADB6A358-7A77-4C0F-A6B4-94B4C4480C01}" srcOrd="1" destOrd="0" presId="urn:microsoft.com/office/officeart/2005/8/layout/radial5"/>
    <dgm:cxn modelId="{5305F838-877F-4B2C-A6C3-977C3056DDC0}" type="presOf" srcId="{E42F0B5C-808A-48EE-B4AD-E8363B7D8E51}" destId="{A22DBFC0-79C7-41F0-B387-A1C918A33DC4}" srcOrd="0" destOrd="0" presId="urn:microsoft.com/office/officeart/2005/8/layout/radial5"/>
    <dgm:cxn modelId="{9977CF3B-35DF-4949-92C3-508BDDA17294}" type="presOf" srcId="{1D9A95FD-8DBD-4908-A26D-FC335F286B50}" destId="{EFFEFB3E-9C20-4D17-96B4-B32620C5B9D4}" srcOrd="0" destOrd="0" presId="urn:microsoft.com/office/officeart/2005/8/layout/radial5"/>
    <dgm:cxn modelId="{7B6C213E-2DE3-45FD-9F4E-86C2D4454AFD}" type="presOf" srcId="{5904EEE2-682C-4251-B236-381113946355}" destId="{9A1AF091-C144-4C27-924A-F88EC573F88C}" srcOrd="0" destOrd="0" presId="urn:microsoft.com/office/officeart/2005/8/layout/radial5"/>
    <dgm:cxn modelId="{F365FD42-A492-4871-9EB9-0B8630D13167}" srcId="{F06F6D35-8BF6-43A3-8C4C-736C0F3B6CDB}" destId="{6A4673D0-B0ED-4ED1-B906-3BE8E06467B3}" srcOrd="2" destOrd="0" parTransId="{E42F0B5C-808A-48EE-B4AD-E8363B7D8E51}" sibTransId="{44B986D7-03D9-4FE8-96DF-9D813F2CCEB0}"/>
    <dgm:cxn modelId="{FB84A353-6685-4BDB-8917-146891AA42B6}" type="presOf" srcId="{E42F0B5C-808A-48EE-B4AD-E8363B7D8E51}" destId="{855BA553-3293-4804-9287-4FD53CB515BF}" srcOrd="1" destOrd="0" presId="urn:microsoft.com/office/officeart/2005/8/layout/radial5"/>
    <dgm:cxn modelId="{04C88A76-DE98-4D89-BBFC-6CA4886C7625}" srcId="{F06F6D35-8BF6-43A3-8C4C-736C0F3B6CDB}" destId="{7768AD7C-9178-4D7F-86B5-E0196E003D2D}" srcOrd="3" destOrd="0" parTransId="{BAEE8D42-714C-4FD3-BED0-5A86F71C5A61}" sibTransId="{AB4D6369-7711-47EF-B1EA-DDEA35C2F978}"/>
    <dgm:cxn modelId="{2EC9FA77-16A9-445D-AAAF-5F5A041DDCA5}" type="presOf" srcId="{C911677F-89D9-48D0-92F6-7ADDC2CEFB15}" destId="{B1087139-14AF-44EC-AD07-9AC5D2D8325A}" srcOrd="0" destOrd="0" presId="urn:microsoft.com/office/officeart/2005/8/layout/radial5"/>
    <dgm:cxn modelId="{1AB92C58-7AF6-4080-BC79-77B1C7EB4B94}" type="presOf" srcId="{6A4673D0-B0ED-4ED1-B906-3BE8E06467B3}" destId="{2DD5EEE6-B655-472F-9E08-CA954281AC76}" srcOrd="0" destOrd="0" presId="urn:microsoft.com/office/officeart/2005/8/layout/radial5"/>
    <dgm:cxn modelId="{16E1DE80-DEF9-49CE-B3E7-516D6749E150}" type="presOf" srcId="{F06F6D35-8BF6-43A3-8C4C-736C0F3B6CDB}" destId="{228F96BD-8696-4B07-824D-587CED03BF5A}" srcOrd="0" destOrd="0" presId="urn:microsoft.com/office/officeart/2005/8/layout/radial5"/>
    <dgm:cxn modelId="{0B842984-5C63-4AA4-B11C-533636CFEE17}" srcId="{F06F6D35-8BF6-43A3-8C4C-736C0F3B6CDB}" destId="{6EA8490C-5BF3-4737-BC7D-F0DD0D962F2A}" srcOrd="0" destOrd="0" parTransId="{1D9A95FD-8DBD-4908-A26D-FC335F286B50}" sibTransId="{ABE5BEAC-FE3B-41EF-BFE9-3831CC6D6DC6}"/>
    <dgm:cxn modelId="{67A5B187-B705-454B-8CA2-7CF2098B31FB}" type="presOf" srcId="{6FAEAEA6-6466-4F5F-8D7F-67AE0F4028AF}" destId="{D64DB294-AACE-418A-A012-CABAE7B953BD}" srcOrd="0" destOrd="0" presId="urn:microsoft.com/office/officeart/2005/8/layout/radial5"/>
    <dgm:cxn modelId="{C1ADB8C0-BA69-44BA-800C-3A1098D165EA}" type="presOf" srcId="{BAEE8D42-714C-4FD3-BED0-5A86F71C5A61}" destId="{0F1ACA0A-9870-4BF9-B491-FC3C688C12C8}" srcOrd="0" destOrd="0" presId="urn:microsoft.com/office/officeart/2005/8/layout/radial5"/>
    <dgm:cxn modelId="{2C69E5D2-4259-4C4B-9647-EF12FA01BDE7}" type="presOf" srcId="{7768AD7C-9178-4D7F-86B5-E0196E003D2D}" destId="{E849D73C-7466-410F-9C2E-E07775C14432}" srcOrd="0" destOrd="0" presId="urn:microsoft.com/office/officeart/2005/8/layout/radial5"/>
    <dgm:cxn modelId="{E22F43E0-444B-4DDB-8119-6E7299D1E853}" type="presOf" srcId="{BAEE8D42-714C-4FD3-BED0-5A86F71C5A61}" destId="{27A7A3B7-3077-4621-B5E7-4186D871A89A}" srcOrd="1" destOrd="0" presId="urn:microsoft.com/office/officeart/2005/8/layout/radial5"/>
    <dgm:cxn modelId="{476EE9FA-6165-4DDA-BFE1-2F45B273A540}" srcId="{6FAEAEA6-6466-4F5F-8D7F-67AE0F4028AF}" destId="{F06F6D35-8BF6-43A3-8C4C-736C0F3B6CDB}" srcOrd="0" destOrd="0" parTransId="{26D7026C-CCE4-428D-9940-64A00662B0F3}" sibTransId="{87262457-C9CE-42DF-9B48-DB77E37947D2}"/>
    <dgm:cxn modelId="{CB4A66FB-C3AB-4BBF-9DCC-5EE6A8AD1EBB}" type="presOf" srcId="{C911677F-89D9-48D0-92F6-7ADDC2CEFB15}" destId="{414B664F-9929-4BCB-AEBA-6131BB483ABE}" srcOrd="1" destOrd="0" presId="urn:microsoft.com/office/officeart/2005/8/layout/radial5"/>
    <dgm:cxn modelId="{FEE5F9F0-2480-44D2-BD9E-B13C6C4E2BE5}" type="presParOf" srcId="{D64DB294-AACE-418A-A012-CABAE7B953BD}" destId="{228F96BD-8696-4B07-824D-587CED03BF5A}" srcOrd="0" destOrd="0" presId="urn:microsoft.com/office/officeart/2005/8/layout/radial5"/>
    <dgm:cxn modelId="{AC9F2B28-34B8-47AA-BE9A-0593DD2FAAD9}" type="presParOf" srcId="{D64DB294-AACE-418A-A012-CABAE7B953BD}" destId="{EFFEFB3E-9C20-4D17-96B4-B32620C5B9D4}" srcOrd="1" destOrd="0" presId="urn:microsoft.com/office/officeart/2005/8/layout/radial5"/>
    <dgm:cxn modelId="{A1A5C9DE-68BE-4651-85A1-73666C7A9526}" type="presParOf" srcId="{EFFEFB3E-9C20-4D17-96B4-B32620C5B9D4}" destId="{ADB6A358-7A77-4C0F-A6B4-94B4C4480C01}" srcOrd="0" destOrd="0" presId="urn:microsoft.com/office/officeart/2005/8/layout/radial5"/>
    <dgm:cxn modelId="{3FADABED-EA2E-412C-A9F9-628CF5A585BC}" type="presParOf" srcId="{D64DB294-AACE-418A-A012-CABAE7B953BD}" destId="{3479F329-91E2-4B68-BF00-336C3B034791}" srcOrd="2" destOrd="0" presId="urn:microsoft.com/office/officeart/2005/8/layout/radial5"/>
    <dgm:cxn modelId="{EE94563B-6E93-4465-8BF1-A2C780032DDE}" type="presParOf" srcId="{D64DB294-AACE-418A-A012-CABAE7B953BD}" destId="{B1087139-14AF-44EC-AD07-9AC5D2D8325A}" srcOrd="3" destOrd="0" presId="urn:microsoft.com/office/officeart/2005/8/layout/radial5"/>
    <dgm:cxn modelId="{A2DF11C9-8496-47B6-86C7-5BD64DA08BCB}" type="presParOf" srcId="{B1087139-14AF-44EC-AD07-9AC5D2D8325A}" destId="{414B664F-9929-4BCB-AEBA-6131BB483ABE}" srcOrd="0" destOrd="0" presId="urn:microsoft.com/office/officeart/2005/8/layout/radial5"/>
    <dgm:cxn modelId="{A511C1D2-EC55-433E-9F5B-7BFADC2F96BC}" type="presParOf" srcId="{D64DB294-AACE-418A-A012-CABAE7B953BD}" destId="{9A1AF091-C144-4C27-924A-F88EC573F88C}" srcOrd="4" destOrd="0" presId="urn:microsoft.com/office/officeart/2005/8/layout/radial5"/>
    <dgm:cxn modelId="{B2DB1132-B833-4DAD-BDE6-8BAB22983D32}" type="presParOf" srcId="{D64DB294-AACE-418A-A012-CABAE7B953BD}" destId="{A22DBFC0-79C7-41F0-B387-A1C918A33DC4}" srcOrd="5" destOrd="0" presId="urn:microsoft.com/office/officeart/2005/8/layout/radial5"/>
    <dgm:cxn modelId="{8A00543E-3D7A-4D58-9A3D-173D0D947157}" type="presParOf" srcId="{A22DBFC0-79C7-41F0-B387-A1C918A33DC4}" destId="{855BA553-3293-4804-9287-4FD53CB515BF}" srcOrd="0" destOrd="0" presId="urn:microsoft.com/office/officeart/2005/8/layout/radial5"/>
    <dgm:cxn modelId="{2CEFE741-C92B-4DF7-A370-CB829DFE69A3}" type="presParOf" srcId="{D64DB294-AACE-418A-A012-CABAE7B953BD}" destId="{2DD5EEE6-B655-472F-9E08-CA954281AC76}" srcOrd="6" destOrd="0" presId="urn:microsoft.com/office/officeart/2005/8/layout/radial5"/>
    <dgm:cxn modelId="{315CEAD9-D431-4825-B8F9-72BBDA548153}" type="presParOf" srcId="{D64DB294-AACE-418A-A012-CABAE7B953BD}" destId="{0F1ACA0A-9870-4BF9-B491-FC3C688C12C8}" srcOrd="7" destOrd="0" presId="urn:microsoft.com/office/officeart/2005/8/layout/radial5"/>
    <dgm:cxn modelId="{EF2FDAE2-1A70-4FBE-B6A9-0D079DBACC33}" type="presParOf" srcId="{0F1ACA0A-9870-4BF9-B491-FC3C688C12C8}" destId="{27A7A3B7-3077-4621-B5E7-4186D871A89A}" srcOrd="0" destOrd="0" presId="urn:microsoft.com/office/officeart/2005/8/layout/radial5"/>
    <dgm:cxn modelId="{3A26C002-FCA3-4AB7-8375-EB834D7F776E}" type="presParOf" srcId="{D64DB294-AACE-418A-A012-CABAE7B953BD}" destId="{E849D73C-7466-410F-9C2E-E07775C14432}"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927A3B-DCE5-4A3E-825C-3B9AEDD77064}">
      <dsp:nvSpPr>
        <dsp:cNvPr id="0" name=""/>
        <dsp:cNvSpPr/>
      </dsp:nvSpPr>
      <dsp:spPr>
        <a:xfrm>
          <a:off x="0" y="0"/>
          <a:ext cx="7886700" cy="1305401"/>
        </a:xfrm>
        <a:prstGeom prst="rect">
          <a:avLst/>
        </a:prstGeom>
        <a:solidFill>
          <a:schemeClr val="accent5">
            <a:shade val="9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dirty="0"/>
            <a:t>Sources of Funds</a:t>
          </a:r>
        </a:p>
      </dsp:txBody>
      <dsp:txXfrm>
        <a:off x="0" y="0"/>
        <a:ext cx="7886700" cy="1305401"/>
      </dsp:txXfrm>
    </dsp:sp>
    <dsp:sp modelId="{AF5C2DCC-0247-4AF9-A84D-87E93F7B06BC}">
      <dsp:nvSpPr>
        <dsp:cNvPr id="0" name=""/>
        <dsp:cNvSpPr/>
      </dsp:nvSpPr>
      <dsp:spPr>
        <a:xfrm>
          <a:off x="3850" y="1305401"/>
          <a:ext cx="2626332" cy="274134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36220" tIns="236220" rIns="236220" bIns="236220" numCol="1" spcCol="1270" anchor="ctr" anchorCtr="0">
          <a:noAutofit/>
        </a:bodyPr>
        <a:lstStyle/>
        <a:p>
          <a:pPr marL="0" lvl="0" indent="0" algn="ctr" defTabSz="2755900">
            <a:lnSpc>
              <a:spcPct val="90000"/>
            </a:lnSpc>
            <a:spcBef>
              <a:spcPct val="0"/>
            </a:spcBef>
            <a:spcAft>
              <a:spcPct val="35000"/>
            </a:spcAft>
            <a:buNone/>
          </a:pPr>
          <a:r>
            <a:rPr lang="en-US" sz="6200" kern="1200" dirty="0"/>
            <a:t>Grant</a:t>
          </a:r>
        </a:p>
      </dsp:txBody>
      <dsp:txXfrm>
        <a:off x="3850" y="1305401"/>
        <a:ext cx="2626332" cy="2741342"/>
      </dsp:txXfrm>
    </dsp:sp>
    <dsp:sp modelId="{FAF391A8-DBDD-4F53-98CA-984F23784245}">
      <dsp:nvSpPr>
        <dsp:cNvPr id="0" name=""/>
        <dsp:cNvSpPr/>
      </dsp:nvSpPr>
      <dsp:spPr>
        <a:xfrm>
          <a:off x="2630183" y="1305401"/>
          <a:ext cx="2626332" cy="2741342"/>
        </a:xfrm>
        <a:prstGeom prst="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36220" tIns="236220" rIns="236220" bIns="236220" numCol="1" spcCol="1270" anchor="ctr" anchorCtr="0">
          <a:noAutofit/>
        </a:bodyPr>
        <a:lstStyle/>
        <a:p>
          <a:pPr marL="0" lvl="0" indent="0" algn="ctr" defTabSz="2755900">
            <a:lnSpc>
              <a:spcPct val="90000"/>
            </a:lnSpc>
            <a:spcBef>
              <a:spcPct val="0"/>
            </a:spcBef>
            <a:spcAft>
              <a:spcPct val="35000"/>
            </a:spcAft>
            <a:buNone/>
          </a:pPr>
          <a:r>
            <a:rPr lang="en-US" sz="6200" kern="1200" dirty="0"/>
            <a:t>Loan</a:t>
          </a:r>
        </a:p>
      </dsp:txBody>
      <dsp:txXfrm>
        <a:off x="2630183" y="1305401"/>
        <a:ext cx="2626332" cy="2741342"/>
      </dsp:txXfrm>
    </dsp:sp>
    <dsp:sp modelId="{03C3D65C-2DF5-426C-AA55-61D9CB12A4B7}">
      <dsp:nvSpPr>
        <dsp:cNvPr id="0" name=""/>
        <dsp:cNvSpPr/>
      </dsp:nvSpPr>
      <dsp:spPr>
        <a:xfrm>
          <a:off x="5256516" y="1305401"/>
          <a:ext cx="2626332" cy="2741342"/>
        </a:xfrm>
        <a:prstGeom prst="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36220" tIns="236220" rIns="236220" bIns="236220" numCol="1" spcCol="1270" anchor="ctr" anchorCtr="0">
          <a:noAutofit/>
        </a:bodyPr>
        <a:lstStyle/>
        <a:p>
          <a:pPr marL="0" lvl="0" indent="0" algn="ctr" defTabSz="2755900">
            <a:lnSpc>
              <a:spcPct val="90000"/>
            </a:lnSpc>
            <a:spcBef>
              <a:spcPct val="0"/>
            </a:spcBef>
            <a:spcAft>
              <a:spcPct val="35000"/>
            </a:spcAft>
            <a:buNone/>
          </a:pPr>
          <a:r>
            <a:rPr lang="en-US" sz="6200" kern="1200" dirty="0"/>
            <a:t>Sale of Equity</a:t>
          </a:r>
        </a:p>
      </dsp:txBody>
      <dsp:txXfrm>
        <a:off x="5256516" y="1305401"/>
        <a:ext cx="2626332" cy="2741342"/>
      </dsp:txXfrm>
    </dsp:sp>
    <dsp:sp modelId="{68B20A48-4485-41DC-9EB2-E792D1B79B95}">
      <dsp:nvSpPr>
        <dsp:cNvPr id="0" name=""/>
        <dsp:cNvSpPr/>
      </dsp:nvSpPr>
      <dsp:spPr>
        <a:xfrm>
          <a:off x="0" y="4046744"/>
          <a:ext cx="7886700" cy="304593"/>
        </a:xfrm>
        <a:prstGeom prst="rect">
          <a:avLst/>
        </a:prstGeom>
        <a:solidFill>
          <a:schemeClr val="accent5">
            <a:shade val="9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F96BD-8696-4B07-824D-587CED03BF5A}">
      <dsp:nvSpPr>
        <dsp:cNvPr id="0" name=""/>
        <dsp:cNvSpPr/>
      </dsp:nvSpPr>
      <dsp:spPr>
        <a:xfrm>
          <a:off x="3523907" y="1811479"/>
          <a:ext cx="1269801" cy="12698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COST</a:t>
          </a:r>
        </a:p>
      </dsp:txBody>
      <dsp:txXfrm>
        <a:off x="3709865" y="1997437"/>
        <a:ext cx="897885" cy="897885"/>
      </dsp:txXfrm>
    </dsp:sp>
    <dsp:sp modelId="{EFFEFB3E-9C20-4D17-96B4-B32620C5B9D4}">
      <dsp:nvSpPr>
        <dsp:cNvPr id="0" name=""/>
        <dsp:cNvSpPr/>
      </dsp:nvSpPr>
      <dsp:spPr>
        <a:xfrm rot="16063300">
          <a:off x="4006666" y="1379783"/>
          <a:ext cx="236590" cy="4317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4043565" y="1501589"/>
        <a:ext cx="165613" cy="259040"/>
      </dsp:txXfrm>
    </dsp:sp>
    <dsp:sp modelId="{3479F329-91E2-4B68-BF00-336C3B034791}">
      <dsp:nvSpPr>
        <dsp:cNvPr id="0" name=""/>
        <dsp:cNvSpPr/>
      </dsp:nvSpPr>
      <dsp:spPr>
        <a:xfrm>
          <a:off x="2813234" y="-27696"/>
          <a:ext cx="2549736" cy="13937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Raw materials and bought-in items</a:t>
          </a:r>
        </a:p>
      </dsp:txBody>
      <dsp:txXfrm>
        <a:off x="3186634" y="176421"/>
        <a:ext cx="1802936" cy="985563"/>
      </dsp:txXfrm>
    </dsp:sp>
    <dsp:sp modelId="{B1087139-14AF-44EC-AD07-9AC5D2D8325A}">
      <dsp:nvSpPr>
        <dsp:cNvPr id="0" name=""/>
        <dsp:cNvSpPr/>
      </dsp:nvSpPr>
      <dsp:spPr>
        <a:xfrm rot="21565845">
          <a:off x="4912674" y="2221599"/>
          <a:ext cx="286704" cy="4317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912676" y="2308372"/>
        <a:ext cx="200693" cy="259040"/>
      </dsp:txXfrm>
    </dsp:sp>
    <dsp:sp modelId="{9A1AF091-C144-4C27-924A-F88EC573F88C}">
      <dsp:nvSpPr>
        <dsp:cNvPr id="0" name=""/>
        <dsp:cNvSpPr/>
      </dsp:nvSpPr>
      <dsp:spPr>
        <a:xfrm>
          <a:off x="5334452" y="1789172"/>
          <a:ext cx="2139133" cy="12698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Cost of equipment</a:t>
          </a:r>
        </a:p>
      </dsp:txBody>
      <dsp:txXfrm>
        <a:off x="5647721" y="1975130"/>
        <a:ext cx="1512595" cy="897885"/>
      </dsp:txXfrm>
    </dsp:sp>
    <dsp:sp modelId="{A22DBFC0-79C7-41F0-B387-A1C918A33DC4}">
      <dsp:nvSpPr>
        <dsp:cNvPr id="0" name=""/>
        <dsp:cNvSpPr/>
      </dsp:nvSpPr>
      <dsp:spPr>
        <a:xfrm rot="5400000">
          <a:off x="4024353" y="3111492"/>
          <a:ext cx="268909" cy="4317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064690" y="3157502"/>
        <a:ext cx="188236" cy="259040"/>
      </dsp:txXfrm>
    </dsp:sp>
    <dsp:sp modelId="{2DD5EEE6-B655-472F-9E08-CA954281AC76}">
      <dsp:nvSpPr>
        <dsp:cNvPr id="0" name=""/>
        <dsp:cNvSpPr/>
      </dsp:nvSpPr>
      <dsp:spPr>
        <a:xfrm>
          <a:off x="2901234" y="3588657"/>
          <a:ext cx="2515146" cy="12698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Direct labour cost</a:t>
          </a:r>
        </a:p>
      </dsp:txBody>
      <dsp:txXfrm>
        <a:off x="3269569" y="3774615"/>
        <a:ext cx="1778476" cy="897885"/>
      </dsp:txXfrm>
    </dsp:sp>
    <dsp:sp modelId="{0F1ACA0A-9870-4BF9-B491-FC3C688C12C8}">
      <dsp:nvSpPr>
        <dsp:cNvPr id="0" name=""/>
        <dsp:cNvSpPr/>
      </dsp:nvSpPr>
      <dsp:spPr>
        <a:xfrm rot="10832157">
          <a:off x="3080292" y="2221891"/>
          <a:ext cx="313516" cy="4317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3174345" y="2308677"/>
        <a:ext cx="219461" cy="259040"/>
      </dsp:txXfrm>
    </dsp:sp>
    <dsp:sp modelId="{E849D73C-7466-410F-9C2E-E07775C14432}">
      <dsp:nvSpPr>
        <dsp:cNvPr id="0" name=""/>
        <dsp:cNvSpPr/>
      </dsp:nvSpPr>
      <dsp:spPr>
        <a:xfrm>
          <a:off x="617423" y="1789180"/>
          <a:ext cx="2315165" cy="12698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overheads</a:t>
          </a:r>
        </a:p>
      </dsp:txBody>
      <dsp:txXfrm>
        <a:off x="956471" y="1975138"/>
        <a:ext cx="1637069" cy="897885"/>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606DF2-3D8D-4101-86E6-4CBA3318F826}" type="datetimeFigureOut">
              <a:rPr lang="en-US" smtClean="0"/>
              <a:t>10/21/2022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642AE8-B1FC-479D-9037-413AE140E4E0}" type="slidenum">
              <a:rPr lang="en-US" smtClean="0"/>
              <a:t>‹#›</a:t>
            </a:fld>
            <a:endParaRPr lang="en-US"/>
          </a:p>
        </p:txBody>
      </p:sp>
    </p:spTree>
    <p:extLst>
      <p:ext uri="{BB962C8B-B14F-4D97-AF65-F5344CB8AC3E}">
        <p14:creationId xmlns:p14="http://schemas.microsoft.com/office/powerpoint/2010/main" val="304896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finance and accounting?</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difference between finance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accounting</a:t>
            </a:r>
            <a:r>
              <a:rPr lang="en-US" sz="1200" b="0" i="0" kern="1200" dirty="0">
                <a:solidFill>
                  <a:schemeClr val="tx1"/>
                </a:solidFill>
                <a:effectLst/>
                <a:latin typeface="+mn-lt"/>
                <a:ea typeface="+mn-ea"/>
                <a:cs typeface="+mn-cs"/>
              </a:rPr>
              <a:t> is that </a:t>
            </a:r>
            <a:r>
              <a:rPr lang="en-US" sz="1200" b="1" i="0" kern="1200" dirty="0">
                <a:solidFill>
                  <a:schemeClr val="tx1"/>
                </a:solidFill>
                <a:effectLst/>
                <a:latin typeface="+mn-lt"/>
                <a:ea typeface="+mn-ea"/>
                <a:cs typeface="+mn-cs"/>
              </a:rPr>
              <a:t>accounting</a:t>
            </a:r>
            <a:r>
              <a:rPr lang="en-US" sz="1200" b="0" i="0" kern="1200" dirty="0">
                <a:solidFill>
                  <a:schemeClr val="tx1"/>
                </a:solidFill>
                <a:effectLst/>
                <a:latin typeface="+mn-lt"/>
                <a:ea typeface="+mn-ea"/>
                <a:cs typeface="+mn-cs"/>
              </a:rPr>
              <a:t> focuses on the day-to-day flow of money in and out of a company or institution, whereas </a:t>
            </a:r>
            <a:r>
              <a:rPr lang="en-US" sz="1200" b="1" i="0" kern="1200" dirty="0">
                <a:solidFill>
                  <a:schemeClr val="tx1"/>
                </a:solidFill>
                <a:effectLst/>
                <a:latin typeface="+mn-lt"/>
                <a:ea typeface="+mn-ea"/>
                <a:cs typeface="+mn-cs"/>
              </a:rPr>
              <a:t>finance</a:t>
            </a:r>
            <a:r>
              <a:rPr lang="en-US" sz="1200" b="0" i="0" kern="1200" dirty="0">
                <a:solidFill>
                  <a:schemeClr val="tx1"/>
                </a:solidFill>
                <a:effectLst/>
                <a:latin typeface="+mn-lt"/>
                <a:ea typeface="+mn-ea"/>
                <a:cs typeface="+mn-cs"/>
              </a:rPr>
              <a:t> is a broader term for the management of assets and liabilities and the planning of future growth</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3</a:t>
            </a:fld>
            <a:endParaRPr lang="en-US"/>
          </a:p>
        </p:txBody>
      </p:sp>
    </p:spTree>
    <p:extLst>
      <p:ext uri="{BB962C8B-B14F-4D97-AF65-F5344CB8AC3E}">
        <p14:creationId xmlns:p14="http://schemas.microsoft.com/office/powerpoint/2010/main" val="2321905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Invoices are</a:t>
            </a:r>
            <a:r>
              <a:rPr lang="en-US" baseline="0" dirty="0"/>
              <a:t> issued at the end of the month. </a:t>
            </a:r>
            <a:r>
              <a:rPr lang="en-US" sz="1200" b="1" i="0" kern="1200" dirty="0">
                <a:solidFill>
                  <a:schemeClr val="tx1"/>
                </a:solidFill>
                <a:effectLst/>
                <a:latin typeface="+mn-lt"/>
                <a:ea typeface="+mn-ea"/>
                <a:cs typeface="+mn-cs"/>
              </a:rPr>
              <a:t>Invoices</a:t>
            </a:r>
            <a:r>
              <a:rPr lang="en-US" sz="1200" b="0" i="0" kern="1200" dirty="0">
                <a:solidFill>
                  <a:schemeClr val="tx1"/>
                </a:solidFill>
                <a:effectLst/>
                <a:latin typeface="+mn-lt"/>
                <a:ea typeface="+mn-ea"/>
                <a:cs typeface="+mn-cs"/>
              </a:rPr>
              <a:t> are </a:t>
            </a:r>
            <a:r>
              <a:rPr lang="en-US" sz="1200" b="1" i="0" kern="1200" dirty="0">
                <a:solidFill>
                  <a:schemeClr val="tx1"/>
                </a:solidFill>
                <a:effectLst/>
                <a:latin typeface="+mn-lt"/>
                <a:ea typeface="+mn-ea"/>
                <a:cs typeface="+mn-cs"/>
              </a:rPr>
              <a:t>used as</a:t>
            </a:r>
            <a:r>
              <a:rPr lang="en-US" sz="1200" b="0" i="0" kern="1200" dirty="0">
                <a:solidFill>
                  <a:schemeClr val="tx1"/>
                </a:solidFill>
                <a:effectLst/>
                <a:latin typeface="+mn-lt"/>
                <a:ea typeface="+mn-ea"/>
                <a:cs typeface="+mn-cs"/>
              </a:rPr>
              <a:t> a source document for business accounting.</a:t>
            </a:r>
            <a:r>
              <a:rPr lang="en-US" sz="1200" b="1" i="0" kern="1200" dirty="0">
                <a:solidFill>
                  <a:schemeClr val="tx1"/>
                </a:solidFill>
                <a:effectLst/>
                <a:latin typeface="+mn-lt"/>
                <a:ea typeface="+mn-ea"/>
                <a:cs typeface="+mn-cs"/>
              </a:rPr>
              <a:t> Invoices</a:t>
            </a:r>
            <a:r>
              <a:rPr lang="en-US" sz="1200" b="0" i="0" kern="1200" dirty="0">
                <a:solidFill>
                  <a:schemeClr val="tx1"/>
                </a:solidFill>
                <a:effectLst/>
                <a:latin typeface="+mn-lt"/>
                <a:ea typeface="+mn-ea"/>
                <a:cs typeface="+mn-cs"/>
              </a:rPr>
              <a:t> are </a:t>
            </a:r>
            <a:r>
              <a:rPr lang="en-US" sz="1200" b="1" i="0" kern="1200" dirty="0">
                <a:solidFill>
                  <a:schemeClr val="tx1"/>
                </a:solidFill>
                <a:effectLst/>
                <a:latin typeface="+mn-lt"/>
                <a:ea typeface="+mn-ea"/>
                <a:cs typeface="+mn-cs"/>
              </a:rPr>
              <a:t>used by</a:t>
            </a:r>
            <a:r>
              <a:rPr lang="en-US" sz="1200" b="0" i="0" kern="1200" dirty="0">
                <a:solidFill>
                  <a:schemeClr val="tx1"/>
                </a:solidFill>
                <a:effectLst/>
                <a:latin typeface="+mn-lt"/>
                <a:ea typeface="+mn-ea"/>
                <a:cs typeface="+mn-cs"/>
              </a:rPr>
              <a:t> businesses for a variety of purposes, including: To request timely payment from clients.</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4</a:t>
            </a:fld>
            <a:endParaRPr lang="en-US"/>
          </a:p>
        </p:txBody>
      </p:sp>
    </p:spTree>
    <p:extLst>
      <p:ext uri="{BB962C8B-B14F-4D97-AF65-F5344CB8AC3E}">
        <p14:creationId xmlns:p14="http://schemas.microsoft.com/office/powerpoint/2010/main" val="1200322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will require some time to come.</a:t>
            </a:r>
          </a:p>
          <a:p>
            <a:r>
              <a:rPr lang="en-US" sz="1200" b="0" i="0" kern="1200" dirty="0">
                <a:solidFill>
                  <a:schemeClr val="tx1"/>
                </a:solidFill>
                <a:effectLst/>
                <a:latin typeface="+mn-lt"/>
                <a:ea typeface="+mn-ea"/>
                <a:cs typeface="+mn-cs"/>
              </a:rPr>
              <a:t>An income statement account for expense items that are too insignificant to have their own separate general ledger accounts.  bank fees, credit card fees, damages, small purchases or petty cash expenses</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5</a:t>
            </a:fld>
            <a:endParaRPr lang="en-US"/>
          </a:p>
        </p:txBody>
      </p:sp>
    </p:spTree>
    <p:extLst>
      <p:ext uri="{BB962C8B-B14F-4D97-AF65-F5344CB8AC3E}">
        <p14:creationId xmlns:p14="http://schemas.microsoft.com/office/powerpoint/2010/main" val="982772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raise money? Recent examples ::: </a:t>
            </a:r>
            <a:r>
              <a:rPr lang="en-US" dirty="0" err="1"/>
              <a:t>hunar</a:t>
            </a:r>
            <a:r>
              <a:rPr lang="en-US" dirty="0"/>
              <a:t> </a:t>
            </a:r>
            <a:r>
              <a:rPr lang="en-US" dirty="0" err="1"/>
              <a:t>mand</a:t>
            </a:r>
            <a:r>
              <a:rPr lang="en-US" dirty="0"/>
              <a:t> </a:t>
            </a:r>
            <a:r>
              <a:rPr lang="en-US" dirty="0" err="1"/>
              <a:t>noawan</a:t>
            </a:r>
            <a:r>
              <a:rPr lang="en-US" dirty="0"/>
              <a:t> … idea </a:t>
            </a:r>
            <a:r>
              <a:rPr lang="en-US" dirty="0" err="1"/>
              <a:t>koroon</a:t>
            </a:r>
            <a:r>
              <a:rPr lang="en-US" baseline="0" dirty="0"/>
              <a:t> </a:t>
            </a:r>
            <a:r>
              <a:rPr lang="en-US" baseline="0" dirty="0" err="1"/>
              <a:t>ka</a:t>
            </a:r>
            <a:r>
              <a:rPr lang="en-US" baseline="0" dirty="0"/>
              <a:t> ..</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6</a:t>
            </a:fld>
            <a:endParaRPr lang="en-US"/>
          </a:p>
        </p:txBody>
      </p:sp>
    </p:spTree>
    <p:extLst>
      <p:ext uri="{BB962C8B-B14F-4D97-AF65-F5344CB8AC3E}">
        <p14:creationId xmlns:p14="http://schemas.microsoft.com/office/powerpoint/2010/main" val="2807180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Political</a:t>
            </a:r>
            <a:r>
              <a:rPr lang="en-US" baseline="0" dirty="0"/>
              <a:t> :;grant for road</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8</a:t>
            </a:fld>
            <a:endParaRPr lang="en-US"/>
          </a:p>
        </p:txBody>
      </p:sp>
    </p:spTree>
    <p:extLst>
      <p:ext uri="{BB962C8B-B14F-4D97-AF65-F5344CB8AC3E}">
        <p14:creationId xmlns:p14="http://schemas.microsoft.com/office/powerpoint/2010/main" val="3679448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Association between loan and assets</a:t>
            </a:r>
          </a:p>
        </p:txBody>
      </p:sp>
      <p:sp>
        <p:nvSpPr>
          <p:cNvPr id="4" name="Slide Number Placeholder 3"/>
          <p:cNvSpPr>
            <a:spLocks noGrp="1"/>
          </p:cNvSpPr>
          <p:nvPr>
            <p:ph type="sldNum" sz="quarter" idx="10"/>
          </p:nvPr>
        </p:nvSpPr>
        <p:spPr/>
        <p:txBody>
          <a:bodyPr/>
          <a:lstStyle/>
          <a:p>
            <a:fld id="{D5642AE8-B1FC-479D-9037-413AE140E4E0}" type="slidenum">
              <a:rPr lang="en-US" smtClean="0"/>
              <a:t>9</a:t>
            </a:fld>
            <a:endParaRPr lang="en-US"/>
          </a:p>
        </p:txBody>
      </p:sp>
    </p:spTree>
    <p:extLst>
      <p:ext uri="{BB962C8B-B14F-4D97-AF65-F5344CB8AC3E}">
        <p14:creationId xmlns:p14="http://schemas.microsoft.com/office/powerpoint/2010/main" val="175382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 raise </a:t>
            </a:r>
            <a:r>
              <a:rPr lang="en-US" sz="1200" b="1" i="0" kern="1200" dirty="0">
                <a:solidFill>
                  <a:schemeClr val="tx1"/>
                </a:solidFill>
                <a:effectLst/>
                <a:latin typeface="+mn-lt"/>
                <a:ea typeface="+mn-ea"/>
                <a:cs typeface="+mn-cs"/>
              </a:rPr>
              <a:t>equity capital</a:t>
            </a:r>
            <a:r>
              <a:rPr lang="en-US" sz="1200" b="0" i="0" kern="1200" dirty="0">
                <a:solidFill>
                  <a:schemeClr val="tx1"/>
                </a:solidFill>
                <a:effectLst/>
                <a:latin typeface="+mn-lt"/>
                <a:ea typeface="+mn-ea"/>
                <a:cs typeface="+mn-cs"/>
              </a:rPr>
              <a:t> by selling a share of your business to an investor. Because the investor owns a portion of the business, he or she takes a share of the profits and you don't have to pay interest on a loan. Raising </a:t>
            </a:r>
            <a:r>
              <a:rPr lang="en-US" sz="1200" b="1" i="0" kern="1200" dirty="0">
                <a:solidFill>
                  <a:schemeClr val="tx1"/>
                </a:solidFill>
                <a:effectLst/>
                <a:latin typeface="+mn-lt"/>
                <a:ea typeface="+mn-ea"/>
                <a:cs typeface="+mn-cs"/>
              </a:rPr>
              <a:t>equity capital</a:t>
            </a:r>
            <a:r>
              <a:rPr lang="en-US" sz="1200" b="0" i="0" kern="1200" dirty="0">
                <a:solidFill>
                  <a:schemeClr val="tx1"/>
                </a:solidFill>
                <a:effectLst/>
                <a:latin typeface="+mn-lt"/>
                <a:ea typeface="+mn-ea"/>
                <a:cs typeface="+mn-cs"/>
              </a:rPr>
              <a:t>, however, often involves a loss of control.</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10</a:t>
            </a:fld>
            <a:endParaRPr lang="en-US"/>
          </a:p>
        </p:txBody>
      </p:sp>
    </p:spTree>
    <p:extLst>
      <p:ext uri="{BB962C8B-B14F-4D97-AF65-F5344CB8AC3E}">
        <p14:creationId xmlns:p14="http://schemas.microsoft.com/office/powerpoint/2010/main" val="886234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a:t>
            </a:r>
          </a:p>
        </p:txBody>
      </p:sp>
      <p:sp>
        <p:nvSpPr>
          <p:cNvPr id="4" name="Slide Number Placeholder 3"/>
          <p:cNvSpPr>
            <a:spLocks noGrp="1"/>
          </p:cNvSpPr>
          <p:nvPr>
            <p:ph type="sldNum" sz="quarter" idx="10"/>
          </p:nvPr>
        </p:nvSpPr>
        <p:spPr/>
        <p:txBody>
          <a:bodyPr/>
          <a:lstStyle/>
          <a:p>
            <a:fld id="{D5642AE8-B1FC-479D-9037-413AE140E4E0}" type="slidenum">
              <a:rPr lang="en-US" smtClean="0"/>
              <a:t>13</a:t>
            </a:fld>
            <a:endParaRPr lang="en-US"/>
          </a:p>
        </p:txBody>
      </p:sp>
    </p:spTree>
    <p:extLst>
      <p:ext uri="{BB962C8B-B14F-4D97-AF65-F5344CB8AC3E}">
        <p14:creationId xmlns:p14="http://schemas.microsoft.com/office/powerpoint/2010/main" val="48826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remedial actions.</a:t>
            </a:r>
          </a:p>
        </p:txBody>
      </p:sp>
      <p:sp>
        <p:nvSpPr>
          <p:cNvPr id="4" name="Slide Number Placeholder 3"/>
          <p:cNvSpPr>
            <a:spLocks noGrp="1"/>
          </p:cNvSpPr>
          <p:nvPr>
            <p:ph type="sldNum" sz="quarter" idx="10"/>
          </p:nvPr>
        </p:nvSpPr>
        <p:spPr/>
        <p:txBody>
          <a:bodyPr/>
          <a:lstStyle/>
          <a:p>
            <a:fld id="{D5642AE8-B1FC-479D-9037-413AE140E4E0}" type="slidenum">
              <a:rPr lang="en-US" smtClean="0"/>
              <a:t>14</a:t>
            </a:fld>
            <a:endParaRPr lang="en-US"/>
          </a:p>
        </p:txBody>
      </p:sp>
    </p:spTree>
    <p:extLst>
      <p:ext uri="{BB962C8B-B14F-4D97-AF65-F5344CB8AC3E}">
        <p14:creationId xmlns:p14="http://schemas.microsoft.com/office/powerpoint/2010/main" val="1783119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remedial actions.</a:t>
            </a:r>
          </a:p>
        </p:txBody>
      </p:sp>
      <p:sp>
        <p:nvSpPr>
          <p:cNvPr id="4" name="Slide Number Placeholder 3"/>
          <p:cNvSpPr>
            <a:spLocks noGrp="1"/>
          </p:cNvSpPr>
          <p:nvPr>
            <p:ph type="sldNum" sz="quarter" idx="10"/>
          </p:nvPr>
        </p:nvSpPr>
        <p:spPr/>
        <p:txBody>
          <a:bodyPr/>
          <a:lstStyle/>
          <a:p>
            <a:fld id="{D5642AE8-B1FC-479D-9037-413AE140E4E0}" type="slidenum">
              <a:rPr lang="en-US" smtClean="0"/>
              <a:t>15</a:t>
            </a:fld>
            <a:endParaRPr lang="en-US"/>
          </a:p>
        </p:txBody>
      </p:sp>
    </p:spTree>
    <p:extLst>
      <p:ext uri="{BB962C8B-B14F-4D97-AF65-F5344CB8AC3E}">
        <p14:creationId xmlns:p14="http://schemas.microsoft.com/office/powerpoint/2010/main" val="2909807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Order intake</a:t>
            </a:r>
            <a:r>
              <a:rPr lang="en-US" sz="1200" b="0" i="0" kern="1200" dirty="0">
                <a:solidFill>
                  <a:schemeClr val="tx1"/>
                </a:solidFill>
                <a:effectLst/>
                <a:latin typeface="+mn-lt"/>
                <a:ea typeface="+mn-ea"/>
                <a:cs typeface="+mn-cs"/>
              </a:rPr>
              <a:t> is the measure of all offers for goods and services processed by a business within a given accounting period or financial quarter. This figure represents all legally completed </a:t>
            </a:r>
            <a:r>
              <a:rPr lang="en-US" sz="1200" b="1" i="0" kern="1200" dirty="0">
                <a:solidFill>
                  <a:schemeClr val="tx1"/>
                </a:solidFill>
                <a:effectLst/>
                <a:latin typeface="+mn-lt"/>
                <a:ea typeface="+mn-ea"/>
                <a:cs typeface="+mn-cs"/>
              </a:rPr>
              <a:t>orders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Order intake</a:t>
            </a:r>
            <a:r>
              <a:rPr lang="en-US" sz="1200" b="0" i="0" kern="1200" dirty="0">
                <a:solidFill>
                  <a:schemeClr val="tx1"/>
                </a:solidFill>
                <a:effectLst/>
                <a:latin typeface="+mn-lt"/>
                <a:ea typeface="+mn-ea"/>
                <a:cs typeface="+mn-cs"/>
              </a:rPr>
              <a:t> does not include customer purchases of goods and services still in process</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16</a:t>
            </a:fld>
            <a:endParaRPr lang="en-US"/>
          </a:p>
        </p:txBody>
      </p:sp>
    </p:spTree>
    <p:extLst>
      <p:ext uri="{BB962C8B-B14F-4D97-AF65-F5344CB8AC3E}">
        <p14:creationId xmlns:p14="http://schemas.microsoft.com/office/powerpoint/2010/main" val="835175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Cleaning supplies.</a:t>
            </a:r>
          </a:p>
          <a:p>
            <a:r>
              <a:rPr lang="en-US" sz="1200" b="0" i="0" kern="1200" dirty="0">
                <a:solidFill>
                  <a:schemeClr val="tx1"/>
                </a:solidFill>
                <a:effectLst/>
                <a:latin typeface="+mn-lt"/>
                <a:ea typeface="+mn-ea"/>
                <a:cs typeface="+mn-cs"/>
              </a:rPr>
              <a:t>Disposable safety equipment.</a:t>
            </a:r>
          </a:p>
          <a:p>
            <a:r>
              <a:rPr lang="en-US" sz="1200" b="0" i="0" kern="1200" dirty="0">
                <a:solidFill>
                  <a:schemeClr val="tx1"/>
                </a:solidFill>
                <a:effectLst/>
                <a:latin typeface="+mn-lt"/>
                <a:ea typeface="+mn-ea"/>
                <a:cs typeface="+mn-cs"/>
              </a:rPr>
              <a:t>Disposable tools.</a:t>
            </a:r>
          </a:p>
          <a:p>
            <a:r>
              <a:rPr lang="en-US" sz="1200" b="0" i="0" kern="1200" dirty="0">
                <a:solidFill>
                  <a:schemeClr val="tx1"/>
                </a:solidFill>
                <a:effectLst/>
                <a:latin typeface="+mn-lt"/>
                <a:ea typeface="+mn-ea"/>
                <a:cs typeface="+mn-cs"/>
              </a:rPr>
              <a:t>Fittings and fasteners.</a:t>
            </a:r>
          </a:p>
          <a:p>
            <a:r>
              <a:rPr lang="en-US" sz="1200" b="0" i="0" kern="1200" dirty="0">
                <a:solidFill>
                  <a:schemeClr val="tx1"/>
                </a:solidFill>
                <a:effectLst/>
                <a:latin typeface="+mn-lt"/>
                <a:ea typeface="+mn-ea"/>
                <a:cs typeface="+mn-cs"/>
              </a:rPr>
              <a:t>Glue.</a:t>
            </a:r>
          </a:p>
          <a:p>
            <a:r>
              <a:rPr lang="en-US" sz="1200" b="0" i="0" kern="1200" dirty="0">
                <a:solidFill>
                  <a:schemeClr val="tx1"/>
                </a:solidFill>
                <a:effectLst/>
                <a:latin typeface="+mn-lt"/>
                <a:ea typeface="+mn-ea"/>
                <a:cs typeface="+mn-cs"/>
              </a:rPr>
              <a:t>Oil.</a:t>
            </a:r>
          </a:p>
          <a:p>
            <a:r>
              <a:rPr lang="en-US" sz="1200" b="0" i="0" kern="1200" dirty="0">
                <a:solidFill>
                  <a:schemeClr val="tx1"/>
                </a:solidFill>
                <a:effectLst/>
                <a:latin typeface="+mn-lt"/>
                <a:ea typeface="+mn-ea"/>
                <a:cs typeface="+mn-cs"/>
              </a:rPr>
              <a:t>Tape.</a:t>
            </a:r>
          </a:p>
          <a:p>
            <a:r>
              <a:rPr lang="en-US" sz="1200" b="0" i="0" kern="1200" dirty="0">
                <a:solidFill>
                  <a:schemeClr val="tx1"/>
                </a:solidFill>
                <a:effectLst/>
                <a:latin typeface="+mn-lt"/>
                <a:ea typeface="+mn-ea"/>
                <a:cs typeface="+mn-cs"/>
              </a:rPr>
              <a:t>Production supervisor.</a:t>
            </a:r>
          </a:p>
          <a:p>
            <a:r>
              <a:rPr lang="en-US" sz="1200" b="0" i="0" kern="1200" dirty="0">
                <a:solidFill>
                  <a:schemeClr val="tx1"/>
                </a:solidFill>
                <a:effectLst/>
                <a:latin typeface="+mn-lt"/>
                <a:ea typeface="+mn-ea"/>
                <a:cs typeface="+mn-cs"/>
              </a:rPr>
              <a:t>Purchasing staff.</a:t>
            </a:r>
          </a:p>
          <a:p>
            <a:r>
              <a:rPr lang="en-US" sz="1200" b="0" i="0" kern="1200" dirty="0">
                <a:solidFill>
                  <a:schemeClr val="tx1"/>
                </a:solidFill>
                <a:effectLst/>
                <a:latin typeface="+mn-lt"/>
                <a:ea typeface="+mn-ea"/>
                <a:cs typeface="+mn-cs"/>
              </a:rPr>
              <a:t>Materials handling staff.</a:t>
            </a:r>
          </a:p>
          <a:p>
            <a:r>
              <a:rPr lang="en-US" sz="1200" b="0" i="0" kern="1200" dirty="0">
                <a:solidFill>
                  <a:schemeClr val="tx1"/>
                </a:solidFill>
                <a:effectLst/>
                <a:latin typeface="+mn-lt"/>
                <a:ea typeface="+mn-ea"/>
                <a:cs typeface="+mn-cs"/>
              </a:rPr>
              <a:t>Materials management staff.</a:t>
            </a:r>
          </a:p>
          <a:p>
            <a:r>
              <a:rPr lang="en-US" sz="1200" b="0" i="0" kern="1200" dirty="0">
                <a:solidFill>
                  <a:schemeClr val="tx1"/>
                </a:solidFill>
                <a:effectLst/>
                <a:latin typeface="+mn-lt"/>
                <a:ea typeface="+mn-ea"/>
                <a:cs typeface="+mn-cs"/>
              </a:rPr>
              <a:t>Quality control staff.</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5642AE8-B1FC-479D-9037-413AE140E4E0}" type="slidenum">
              <a:rPr lang="en-US" smtClean="0"/>
              <a:t>17</a:t>
            </a:fld>
            <a:endParaRPr lang="en-US"/>
          </a:p>
        </p:txBody>
      </p:sp>
    </p:spTree>
    <p:extLst>
      <p:ext uri="{BB962C8B-B14F-4D97-AF65-F5344CB8AC3E}">
        <p14:creationId xmlns:p14="http://schemas.microsoft.com/office/powerpoint/2010/main" val="36391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19</a:t>
            </a:fld>
            <a:endParaRPr lang="en-US"/>
          </a:p>
        </p:txBody>
      </p:sp>
    </p:spTree>
    <p:extLst>
      <p:ext uri="{BB962C8B-B14F-4D97-AF65-F5344CB8AC3E}">
        <p14:creationId xmlns:p14="http://schemas.microsoft.com/office/powerpoint/2010/main" val="3083749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both</a:t>
            </a:r>
          </a:p>
          <a:p>
            <a:r>
              <a:rPr lang="en-US" dirty="0"/>
              <a:t>Method of estimation sale price.</a:t>
            </a:r>
          </a:p>
        </p:txBody>
      </p:sp>
      <p:sp>
        <p:nvSpPr>
          <p:cNvPr id="4" name="Slide Number Placeholder 3"/>
          <p:cNvSpPr>
            <a:spLocks noGrp="1"/>
          </p:cNvSpPr>
          <p:nvPr>
            <p:ph type="sldNum" sz="quarter" idx="10"/>
          </p:nvPr>
        </p:nvSpPr>
        <p:spPr/>
        <p:txBody>
          <a:bodyPr/>
          <a:lstStyle/>
          <a:p>
            <a:fld id="{D5642AE8-B1FC-479D-9037-413AE140E4E0}" type="slidenum">
              <a:rPr lang="en-US" smtClean="0"/>
              <a:t>20</a:t>
            </a:fld>
            <a:endParaRPr lang="en-US"/>
          </a:p>
        </p:txBody>
      </p:sp>
    </p:spTree>
    <p:extLst>
      <p:ext uri="{BB962C8B-B14F-4D97-AF65-F5344CB8AC3E}">
        <p14:creationId xmlns:p14="http://schemas.microsoft.com/office/powerpoint/2010/main" val="201264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how to </a:t>
            </a:r>
            <a:r>
              <a:rPr lang="en-US"/>
              <a:t>allocate?</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23</a:t>
            </a:fld>
            <a:endParaRPr lang="en-US"/>
          </a:p>
        </p:txBody>
      </p:sp>
    </p:spTree>
    <p:extLst>
      <p:ext uri="{BB962C8B-B14F-4D97-AF65-F5344CB8AC3E}">
        <p14:creationId xmlns:p14="http://schemas.microsoft.com/office/powerpoint/2010/main" val="2976933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this rule can be bearable for 1 or 2 year but not more</a:t>
            </a:r>
            <a:r>
              <a:rPr lang="en-US" baseline="0" dirty="0"/>
              <a:t> than that.</a:t>
            </a:r>
            <a:endParaRPr lang="en-US" dirty="0"/>
          </a:p>
        </p:txBody>
      </p:sp>
      <p:sp>
        <p:nvSpPr>
          <p:cNvPr id="4" name="Slide Number Placeholder 3"/>
          <p:cNvSpPr>
            <a:spLocks noGrp="1"/>
          </p:cNvSpPr>
          <p:nvPr>
            <p:ph type="sldNum" sz="quarter" idx="10"/>
          </p:nvPr>
        </p:nvSpPr>
        <p:spPr/>
        <p:txBody>
          <a:bodyPr/>
          <a:lstStyle/>
          <a:p>
            <a:fld id="{D5642AE8-B1FC-479D-9037-413AE140E4E0}" type="slidenum">
              <a:rPr lang="en-US" smtClean="0"/>
              <a:t>24</a:t>
            </a:fld>
            <a:endParaRPr lang="en-US"/>
          </a:p>
        </p:txBody>
      </p:sp>
    </p:spTree>
    <p:extLst>
      <p:ext uri="{BB962C8B-B14F-4D97-AF65-F5344CB8AC3E}">
        <p14:creationId xmlns:p14="http://schemas.microsoft.com/office/powerpoint/2010/main" val="2669592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t>
            </a:r>
          </a:p>
        </p:txBody>
      </p:sp>
      <p:sp>
        <p:nvSpPr>
          <p:cNvPr id="4" name="Slide Number Placeholder 3"/>
          <p:cNvSpPr>
            <a:spLocks noGrp="1"/>
          </p:cNvSpPr>
          <p:nvPr>
            <p:ph type="sldNum" sz="quarter" idx="10"/>
          </p:nvPr>
        </p:nvSpPr>
        <p:spPr/>
        <p:txBody>
          <a:bodyPr/>
          <a:lstStyle/>
          <a:p>
            <a:fld id="{D5642AE8-B1FC-479D-9037-413AE140E4E0}" type="slidenum">
              <a:rPr lang="en-US" smtClean="0"/>
              <a:t>25</a:t>
            </a:fld>
            <a:endParaRPr lang="en-US"/>
          </a:p>
        </p:txBody>
      </p:sp>
    </p:spTree>
    <p:extLst>
      <p:ext uri="{BB962C8B-B14F-4D97-AF65-F5344CB8AC3E}">
        <p14:creationId xmlns:p14="http://schemas.microsoft.com/office/powerpoint/2010/main" val="540494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1EBC-C20A-4990-B869-188475F759C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DCE1D724-7178-4191-97EF-04A3337CC84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30CA90C-4FF5-48F5-86A1-1A9425DA1217}"/>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A001C0C1-0401-4D47-9944-64A0CD15B9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A0FF04-3070-4DCF-8F49-ABDB64AC702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34485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2ECAE-9044-438E-8DCD-9DF48A72F87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1939AED-4204-4E15-9755-26ABD8EBA2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74EB9B-9DB4-4057-9833-05854197653D}"/>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7FE2836E-32F8-40DB-B9F4-9A24B39BC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6FEB7-C2FF-405F-BA47-F1FD654D74C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804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C8BD-C960-4239-B21E-213EEDE6AB6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B80CBF09-F781-45B4-8E9D-7ED06298DE3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A9C16B-67EC-48A8-994E-3CC17967E9A2}"/>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12F49365-30B2-46F7-89EC-C49DFB962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C46B5-B70E-4CCC-AC68-9C756D81D33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766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9271E-02D3-445A-918B-155519D810C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2BB456C-2E34-4E08-A571-7EA5D6095ED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9C9ADE9B-C3AF-47D9-A94B-6A622FE885A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7C6193B-D847-43E0-A88C-5D04DC971CFF}"/>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6" name="Footer Placeholder 5">
            <a:extLst>
              <a:ext uri="{FF2B5EF4-FFF2-40B4-BE49-F238E27FC236}">
                <a16:creationId xmlns:a16="http://schemas.microsoft.com/office/drawing/2014/main" id="{13C46B9B-347A-4CD6-B7B2-11AEE16DED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B1FD0-7BFD-421D-A0F2-23DFBDE88CA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1016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692D-0351-494D-878A-EE6893FFCE39}"/>
              </a:ext>
            </a:extLst>
          </p:cNvPr>
          <p:cNvSpPr>
            <a:spLocks noGrp="1"/>
          </p:cNvSpPr>
          <p:nvPr>
            <p:ph type="title"/>
          </p:nvPr>
        </p:nvSpPr>
        <p:spPr>
          <a:xfrm>
            <a:off x="629841" y="365126"/>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916ED2D-D65C-4D85-BC1C-D5B011CD361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3DB0F11-46C3-46A5-B10E-358ACF776E5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0E52065-327C-4FF5-9FEC-057A7D2865F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B3F419C-13C9-42AC-95D2-4685C9560BF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3EC2717-6877-48B6-A14A-99DE7BD63F79}"/>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8" name="Footer Placeholder 7">
            <a:extLst>
              <a:ext uri="{FF2B5EF4-FFF2-40B4-BE49-F238E27FC236}">
                <a16:creationId xmlns:a16="http://schemas.microsoft.com/office/drawing/2014/main" id="{EB78D414-24FF-457D-9C30-16F71144DF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11314E-211E-4E46-B9A7-4873EB0B254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667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EE808-800B-4D22-A1F2-64930D77D0A8}"/>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DFF76AAE-7075-4037-9DC5-545FE85E5D39}"/>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4" name="Footer Placeholder 3">
            <a:extLst>
              <a:ext uri="{FF2B5EF4-FFF2-40B4-BE49-F238E27FC236}">
                <a16:creationId xmlns:a16="http://schemas.microsoft.com/office/drawing/2014/main" id="{A5D2E2C3-70D3-417B-829C-9E66F32242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151865-40F9-4BCC-BDBB-2248A3E09E1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098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20AF7-07C1-4EBC-80A1-961A497BD32A}"/>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3" name="Footer Placeholder 2">
            <a:extLst>
              <a:ext uri="{FF2B5EF4-FFF2-40B4-BE49-F238E27FC236}">
                <a16:creationId xmlns:a16="http://schemas.microsoft.com/office/drawing/2014/main" id="{29446EE1-F807-4C02-8EA1-340AA44821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C06B14-C466-4E48-8C44-81360A76EB8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481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223E0-96A6-494E-BC6A-F99DEC54B4E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1F2C13DE-5FF3-4928-82B5-000ADF28E63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C069886-D251-4E34-A228-12781D96F7A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1F6FB47-B0FE-4C0A-9BFC-892DB699D20F}"/>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6" name="Footer Placeholder 5">
            <a:extLst>
              <a:ext uri="{FF2B5EF4-FFF2-40B4-BE49-F238E27FC236}">
                <a16:creationId xmlns:a16="http://schemas.microsoft.com/office/drawing/2014/main" id="{5776EED6-A272-4D02-A535-35CD3183F0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6AC908-17D4-474D-A526-4B5D2DF4222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9688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A20F-CECB-4378-A162-1216F9C17E9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4B6EC5B6-AF23-4982-A122-013A97D07D8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K"/>
          </a:p>
        </p:txBody>
      </p:sp>
      <p:sp>
        <p:nvSpPr>
          <p:cNvPr id="4" name="Text Placeholder 3">
            <a:extLst>
              <a:ext uri="{FF2B5EF4-FFF2-40B4-BE49-F238E27FC236}">
                <a16:creationId xmlns:a16="http://schemas.microsoft.com/office/drawing/2014/main" id="{3761B6B9-7FC6-4530-A70C-5FECA129085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DFF081-C83E-47D4-AF89-D887F7E08904}"/>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6" name="Footer Placeholder 5">
            <a:extLst>
              <a:ext uri="{FF2B5EF4-FFF2-40B4-BE49-F238E27FC236}">
                <a16:creationId xmlns:a16="http://schemas.microsoft.com/office/drawing/2014/main" id="{F95A1ECD-59EE-44E9-8182-F3D5EAFDA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1B87F6-A5E2-493E-97A2-E5EB1DE0ACD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9251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84D16-127B-4674-B3C1-6AA9450938A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3C469D79-639D-4B70-B1E3-0C9DEFC41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A8A1EA4-C9F2-42A4-AE2D-675B8E761C23}"/>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B57548FF-A1E4-4212-A3FC-C8889E726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C9C24E-5133-4E5A-859C-7E96E155B20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4553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7D7CE-5D65-487A-85E8-E70004958765}"/>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0936D5E-8A71-4371-B8E9-AC1E9D5DC236}"/>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7DB41BE-C718-46D2-B12E-3987B773BE2B}"/>
              </a:ext>
            </a:extLst>
          </p:cNvPr>
          <p:cNvSpPr>
            <a:spLocks noGrp="1"/>
          </p:cNvSpPr>
          <p:nvPr>
            <p:ph type="dt" sz="half" idx="10"/>
          </p:nvPr>
        </p:nvSpPr>
        <p:spPr/>
        <p:txBody>
          <a:body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8A49A1B2-371E-4A4D-8CCA-6809BB0FB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BB667-FCFD-47CD-962E-746EF6ED657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1101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2D4FE6-8F39-439E-A34C-96E0E841601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3509E2-C954-452C-9759-C615F08B09C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A925C53-384A-486B-BEAE-BF1D6249EC2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10/21/2022</a:t>
            </a:fld>
            <a:endParaRPr lang="en-US"/>
          </a:p>
        </p:txBody>
      </p:sp>
      <p:sp>
        <p:nvSpPr>
          <p:cNvPr id="5" name="Footer Placeholder 4">
            <a:extLst>
              <a:ext uri="{FF2B5EF4-FFF2-40B4-BE49-F238E27FC236}">
                <a16:creationId xmlns:a16="http://schemas.microsoft.com/office/drawing/2014/main" id="{0EC8CFA0-EB40-491E-BE7A-633FBF21582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35B5B7-D980-4D06-B9E3-34684F94BFD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2184927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470025"/>
          </a:xfrm>
        </p:spPr>
        <p:txBody>
          <a:bodyPr>
            <a:normAutofit/>
          </a:bodyPr>
          <a:lstStyle/>
          <a:p>
            <a:r>
              <a:rPr lang="en-US" sz="4000" b="1" dirty="0">
                <a:cs typeface="Times New Roman" panose="02020603050405020304" pitchFamily="18" charset="0"/>
              </a:rPr>
              <a:t>Week 6: Professional Practices</a:t>
            </a:r>
          </a:p>
        </p:txBody>
      </p:sp>
      <p:sp>
        <p:nvSpPr>
          <p:cNvPr id="3" name="Subtitle 2"/>
          <p:cNvSpPr>
            <a:spLocks noGrp="1"/>
          </p:cNvSpPr>
          <p:nvPr>
            <p:ph type="subTitle" idx="1"/>
          </p:nvPr>
        </p:nvSpPr>
        <p:spPr>
          <a:xfrm>
            <a:off x="1371600" y="2895600"/>
            <a:ext cx="6629400" cy="1752600"/>
          </a:xfrm>
        </p:spPr>
        <p:txBody>
          <a:bodyPr>
            <a:normAutofit/>
          </a:bodyPr>
          <a:lstStyle/>
          <a:p>
            <a:r>
              <a:rPr lang="en-US" sz="3600" b="1" dirty="0">
                <a:latin typeface="+mj-lt"/>
                <a:cs typeface="Times New Roman" panose="02020603050405020304" pitchFamily="18" charset="0"/>
              </a:rPr>
              <a:t>Lec 11&amp;12: Finance and Accounting</a:t>
            </a:r>
          </a:p>
        </p:txBody>
      </p:sp>
    </p:spTree>
    <p:extLst>
      <p:ext uri="{BB962C8B-B14F-4D97-AF65-F5344CB8AC3E}">
        <p14:creationId xmlns:p14="http://schemas.microsoft.com/office/powerpoint/2010/main" val="3388185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Content Placeholder 2"/>
          <p:cNvSpPr>
            <a:spLocks noGrp="1"/>
          </p:cNvSpPr>
          <p:nvPr>
            <p:ph idx="1"/>
          </p:nvPr>
        </p:nvSpPr>
        <p:spPr>
          <a:xfrm>
            <a:off x="628650" y="1690689"/>
            <a:ext cx="7886700" cy="4486274"/>
          </a:xfrm>
        </p:spPr>
        <p:txBody>
          <a:bodyPr>
            <a:normAutofit/>
          </a:bodyPr>
          <a:lstStyle/>
          <a:p>
            <a:r>
              <a:rPr lang="en-US" dirty="0"/>
              <a:t>The need for capital</a:t>
            </a:r>
          </a:p>
          <a:p>
            <a:r>
              <a:rPr lang="en-US" dirty="0"/>
              <a:t>Sources of funds</a:t>
            </a:r>
          </a:p>
          <a:p>
            <a:r>
              <a:rPr lang="en-US" dirty="0"/>
              <a:t>Budgeting and monitoring</a:t>
            </a:r>
          </a:p>
          <a:p>
            <a:r>
              <a:rPr lang="en-US" dirty="0"/>
              <a:t>Sales and order intake</a:t>
            </a:r>
          </a:p>
          <a:p>
            <a:r>
              <a:rPr lang="en-US" dirty="0"/>
              <a:t>Costing</a:t>
            </a:r>
          </a:p>
          <a:p>
            <a:r>
              <a:rPr lang="en-US" dirty="0"/>
              <a:t>Pricing</a:t>
            </a:r>
          </a:p>
          <a:p>
            <a:r>
              <a:rPr lang="en-US" dirty="0"/>
              <a:t>Capital and its maintenance</a:t>
            </a:r>
          </a:p>
          <a:p>
            <a:pPr marL="0" indent="0">
              <a:buNone/>
            </a:pPr>
            <a:endParaRPr lang="en-US" dirty="0"/>
          </a:p>
        </p:txBody>
      </p:sp>
    </p:spTree>
    <p:extLst>
      <p:ext uri="{BB962C8B-B14F-4D97-AF65-F5344CB8AC3E}">
        <p14:creationId xmlns:p14="http://schemas.microsoft.com/office/powerpoint/2010/main" val="2178197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Finance and Accounting</a:t>
            </a:r>
          </a:p>
        </p:txBody>
      </p:sp>
      <p:sp>
        <p:nvSpPr>
          <p:cNvPr id="3" name="Content Placeholder 2"/>
          <p:cNvSpPr>
            <a:spLocks noGrp="1"/>
          </p:cNvSpPr>
          <p:nvPr>
            <p:ph idx="1"/>
          </p:nvPr>
        </p:nvSpPr>
        <p:spPr/>
        <p:txBody>
          <a:bodyPr>
            <a:normAutofit/>
          </a:bodyPr>
          <a:lstStyle/>
          <a:p>
            <a:pPr algn="just"/>
            <a:r>
              <a:rPr lang="en-US" dirty="0"/>
              <a:t>Any organization can not be successful unless its finances are soundly managed.</a:t>
            </a:r>
          </a:p>
          <a:p>
            <a:pPr algn="just"/>
            <a:endParaRPr lang="en-US" dirty="0"/>
          </a:p>
          <a:p>
            <a:pPr algn="just"/>
            <a:r>
              <a:rPr lang="en-US" dirty="0"/>
              <a:t>In this topic, those aspects of finance and accounting with which the newly graduated computer expert is come into contact are most likely emphasized.</a:t>
            </a:r>
          </a:p>
          <a:p>
            <a:pPr algn="just"/>
            <a:endParaRPr lang="en-US" dirty="0"/>
          </a:p>
          <a:p>
            <a:pPr algn="just"/>
            <a:r>
              <a:rPr lang="en-US" dirty="0"/>
              <a:t>Financial accounting is a specific branch of accounting involving a process of recording, summarizing, and reporting the countless transactions resulting from business operations over a particular period of time.</a:t>
            </a:r>
          </a:p>
        </p:txBody>
      </p:sp>
    </p:spTree>
    <p:extLst>
      <p:ext uri="{BB962C8B-B14F-4D97-AF65-F5344CB8AC3E}">
        <p14:creationId xmlns:p14="http://schemas.microsoft.com/office/powerpoint/2010/main" val="1684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need for capital</a:t>
            </a:r>
          </a:p>
        </p:txBody>
      </p:sp>
      <p:sp>
        <p:nvSpPr>
          <p:cNvPr id="3" name="Content Placeholder 2"/>
          <p:cNvSpPr>
            <a:spLocks noGrp="1"/>
          </p:cNvSpPr>
          <p:nvPr>
            <p:ph idx="1"/>
          </p:nvPr>
        </p:nvSpPr>
        <p:spPr/>
        <p:txBody>
          <a:bodyPr/>
          <a:lstStyle/>
          <a:p>
            <a:pPr algn="just"/>
            <a:r>
              <a:rPr lang="en-US" dirty="0"/>
              <a:t>It is not uncommon for recent graduates in computing to start their own company that provide software services.</a:t>
            </a:r>
          </a:p>
          <a:p>
            <a:pPr algn="just"/>
            <a:endParaRPr lang="en-US" dirty="0"/>
          </a:p>
          <a:p>
            <a:pPr lvl="1" algn="just"/>
            <a:r>
              <a:rPr lang="en-US" dirty="0"/>
              <a:t>Contract hire services</a:t>
            </a:r>
          </a:p>
          <a:p>
            <a:pPr lvl="1" algn="just"/>
            <a:r>
              <a:rPr lang="en-US" dirty="0"/>
              <a:t>Develop packages</a:t>
            </a:r>
          </a:p>
          <a:p>
            <a:pPr lvl="1" algn="just"/>
            <a:endParaRPr lang="en-US" dirty="0"/>
          </a:p>
          <a:p>
            <a:pPr algn="just"/>
            <a:r>
              <a:rPr lang="en-US" dirty="0"/>
              <a:t>They will be in need of some money to start the venture.</a:t>
            </a:r>
          </a:p>
        </p:txBody>
      </p:sp>
    </p:spTree>
    <p:extLst>
      <p:ext uri="{BB962C8B-B14F-4D97-AF65-F5344CB8AC3E}">
        <p14:creationId xmlns:p14="http://schemas.microsoft.com/office/powerpoint/2010/main" val="4026998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need for capital</a:t>
            </a:r>
          </a:p>
        </p:txBody>
      </p:sp>
      <p:sp>
        <p:nvSpPr>
          <p:cNvPr id="3" name="Content Placeholder 2"/>
          <p:cNvSpPr>
            <a:spLocks noGrp="1"/>
          </p:cNvSpPr>
          <p:nvPr>
            <p:ph idx="1"/>
          </p:nvPr>
        </p:nvSpPr>
        <p:spPr/>
        <p:txBody>
          <a:bodyPr/>
          <a:lstStyle/>
          <a:p>
            <a:pPr algn="just"/>
            <a:r>
              <a:rPr lang="en-US" dirty="0"/>
              <a:t>Capital will be needed for</a:t>
            </a:r>
          </a:p>
          <a:p>
            <a:pPr algn="just"/>
            <a:endParaRPr lang="en-US" dirty="0"/>
          </a:p>
          <a:p>
            <a:pPr lvl="1" algn="just"/>
            <a:r>
              <a:rPr lang="en-US" sz="2000" dirty="0"/>
              <a:t>Salaries</a:t>
            </a:r>
          </a:p>
          <a:p>
            <a:pPr lvl="1" algn="just"/>
            <a:r>
              <a:rPr lang="en-US" sz="2000" dirty="0"/>
              <a:t>Rents and bills</a:t>
            </a:r>
          </a:p>
          <a:p>
            <a:pPr lvl="1" algn="just"/>
            <a:r>
              <a:rPr lang="en-US" sz="2000" dirty="0"/>
              <a:t>Equipments</a:t>
            </a:r>
          </a:p>
          <a:p>
            <a:pPr lvl="1" algn="just"/>
            <a:r>
              <a:rPr lang="en-US" sz="2000" dirty="0"/>
              <a:t>Costs of advertising</a:t>
            </a:r>
          </a:p>
          <a:p>
            <a:pPr lvl="1" algn="just"/>
            <a:r>
              <a:rPr lang="en-US" sz="2000" dirty="0"/>
              <a:t>Miscellaneous expenses</a:t>
            </a:r>
          </a:p>
          <a:p>
            <a:pPr lvl="1" algn="just"/>
            <a:r>
              <a:rPr lang="en-US" sz="2000" dirty="0"/>
              <a:t>Interests on any money borrowed</a:t>
            </a:r>
          </a:p>
        </p:txBody>
      </p:sp>
    </p:spTree>
    <p:extLst>
      <p:ext uri="{BB962C8B-B14F-4D97-AF65-F5344CB8AC3E}">
        <p14:creationId xmlns:p14="http://schemas.microsoft.com/office/powerpoint/2010/main" val="556133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need for capital</a:t>
            </a:r>
          </a:p>
        </p:txBody>
      </p:sp>
      <p:sp>
        <p:nvSpPr>
          <p:cNvPr id="3" name="Content Placeholder 2"/>
          <p:cNvSpPr>
            <a:spLocks noGrp="1"/>
          </p:cNvSpPr>
          <p:nvPr>
            <p:ph idx="1"/>
          </p:nvPr>
        </p:nvSpPr>
        <p:spPr/>
        <p:txBody>
          <a:bodyPr/>
          <a:lstStyle/>
          <a:p>
            <a:pPr algn="just"/>
            <a:r>
              <a:rPr lang="en-US" dirty="0"/>
              <a:t>Present a business plan to potential funders. This plan should include</a:t>
            </a:r>
          </a:p>
          <a:p>
            <a:pPr algn="just"/>
            <a:endParaRPr lang="en-US" dirty="0"/>
          </a:p>
          <a:p>
            <a:pPr lvl="1" algn="just"/>
            <a:r>
              <a:rPr lang="en-US" dirty="0"/>
              <a:t>Description of what the company will be doing, together with information to show that it is technically feasible and founders of the company have the necessary expertise.</a:t>
            </a:r>
          </a:p>
          <a:p>
            <a:pPr lvl="1" algn="just"/>
            <a:endParaRPr lang="en-US" dirty="0"/>
          </a:p>
          <a:p>
            <a:pPr lvl="1" algn="just"/>
            <a:r>
              <a:rPr lang="en-US" dirty="0"/>
              <a:t>Assessment of the size of market and competition</a:t>
            </a:r>
          </a:p>
          <a:p>
            <a:pPr lvl="1" algn="just"/>
            <a:endParaRPr lang="en-US" dirty="0"/>
          </a:p>
          <a:p>
            <a:pPr lvl="1" algn="just"/>
            <a:r>
              <a:rPr lang="en-US" dirty="0"/>
              <a:t>Prediction of financial performane of the campany</a:t>
            </a:r>
          </a:p>
        </p:txBody>
      </p:sp>
    </p:spTree>
    <p:extLst>
      <p:ext uri="{BB962C8B-B14F-4D97-AF65-F5344CB8AC3E}">
        <p14:creationId xmlns:p14="http://schemas.microsoft.com/office/powerpoint/2010/main" val="2729410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Sources of Funds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343279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019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Sources of Funds</a:t>
            </a:r>
          </a:p>
        </p:txBody>
      </p:sp>
      <p:sp>
        <p:nvSpPr>
          <p:cNvPr id="3" name="Content Placeholder 2"/>
          <p:cNvSpPr>
            <a:spLocks noGrp="1"/>
          </p:cNvSpPr>
          <p:nvPr>
            <p:ph idx="1"/>
          </p:nvPr>
        </p:nvSpPr>
        <p:spPr/>
        <p:txBody>
          <a:bodyPr/>
          <a:lstStyle/>
          <a:p>
            <a:pPr algn="just"/>
            <a:r>
              <a:rPr lang="en-US" dirty="0"/>
              <a:t>A </a:t>
            </a:r>
            <a:r>
              <a:rPr lang="en-US" b="1" dirty="0"/>
              <a:t>grant</a:t>
            </a:r>
            <a:r>
              <a:rPr lang="en-US" dirty="0"/>
              <a:t> is a sum of money given to the company.</a:t>
            </a:r>
          </a:p>
          <a:p>
            <a:pPr algn="just"/>
            <a:endParaRPr lang="en-US" dirty="0"/>
          </a:p>
          <a:p>
            <a:pPr algn="just"/>
            <a:r>
              <a:rPr lang="en-US" dirty="0"/>
              <a:t>Company is obliged to demonstrate that it has been used for the purposes for which it was intended.</a:t>
            </a:r>
          </a:p>
          <a:p>
            <a:pPr algn="just"/>
            <a:endParaRPr lang="en-US" dirty="0"/>
          </a:p>
          <a:p>
            <a:pPr algn="just"/>
            <a:r>
              <a:rPr lang="en-US" dirty="0"/>
              <a:t>Grant is never paid back to the organization which gave it.</a:t>
            </a:r>
          </a:p>
        </p:txBody>
      </p:sp>
    </p:spTree>
    <p:extLst>
      <p:ext uri="{BB962C8B-B14F-4D97-AF65-F5344CB8AC3E}">
        <p14:creationId xmlns:p14="http://schemas.microsoft.com/office/powerpoint/2010/main" val="3761660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Sources of Funds</a:t>
            </a:r>
          </a:p>
        </p:txBody>
      </p:sp>
      <p:sp>
        <p:nvSpPr>
          <p:cNvPr id="3" name="Content Placeholder 2"/>
          <p:cNvSpPr>
            <a:spLocks noGrp="1"/>
          </p:cNvSpPr>
          <p:nvPr>
            <p:ph idx="1"/>
          </p:nvPr>
        </p:nvSpPr>
        <p:spPr/>
        <p:txBody>
          <a:bodyPr>
            <a:normAutofit/>
          </a:bodyPr>
          <a:lstStyle/>
          <a:p>
            <a:pPr algn="just"/>
            <a:r>
              <a:rPr lang="en-US" dirty="0"/>
              <a:t>A </a:t>
            </a:r>
            <a:r>
              <a:rPr lang="en-US" b="1" dirty="0"/>
              <a:t>loan</a:t>
            </a:r>
            <a:r>
              <a:rPr lang="en-US" dirty="0"/>
              <a:t> is a sum of money borrowed to the company.</a:t>
            </a:r>
          </a:p>
          <a:p>
            <a:pPr algn="just"/>
            <a:endParaRPr lang="en-US" dirty="0"/>
          </a:p>
          <a:p>
            <a:pPr algn="just"/>
            <a:r>
              <a:rPr lang="en-US" dirty="0"/>
              <a:t>Interest is payable on it, at a rate that may be fixed or variable.</a:t>
            </a:r>
          </a:p>
          <a:p>
            <a:pPr algn="just"/>
            <a:endParaRPr lang="en-US" dirty="0"/>
          </a:p>
          <a:p>
            <a:pPr algn="just"/>
            <a:r>
              <a:rPr lang="en-US" dirty="0"/>
              <a:t>Loan is usually for a fixed period.</a:t>
            </a:r>
          </a:p>
          <a:p>
            <a:pPr algn="just"/>
            <a:endParaRPr lang="en-US" dirty="0"/>
          </a:p>
          <a:p>
            <a:pPr algn="just"/>
            <a:r>
              <a:rPr lang="en-US" dirty="0"/>
              <a:t>The company is liable to pay back the loan, and if company dissolves, the investor is entitled to recover the loan from the sale of company’s assets.</a:t>
            </a:r>
          </a:p>
        </p:txBody>
      </p:sp>
    </p:spTree>
    <p:extLst>
      <p:ext uri="{BB962C8B-B14F-4D97-AF65-F5344CB8AC3E}">
        <p14:creationId xmlns:p14="http://schemas.microsoft.com/office/powerpoint/2010/main" val="1048437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Sources of Funds</a:t>
            </a:r>
          </a:p>
        </p:txBody>
      </p:sp>
      <p:sp>
        <p:nvSpPr>
          <p:cNvPr id="3" name="Content Placeholder 2"/>
          <p:cNvSpPr>
            <a:spLocks noGrp="1"/>
          </p:cNvSpPr>
          <p:nvPr>
            <p:ph idx="1"/>
          </p:nvPr>
        </p:nvSpPr>
        <p:spPr/>
        <p:txBody>
          <a:bodyPr/>
          <a:lstStyle/>
          <a:p>
            <a:pPr algn="just"/>
            <a:r>
              <a:rPr lang="en-US" b="1" dirty="0"/>
              <a:t>Equity capital</a:t>
            </a:r>
            <a:r>
              <a:rPr lang="en-US" dirty="0"/>
              <a:t> is money paid to the company in exchange for a share in the ownership of the company.</a:t>
            </a:r>
          </a:p>
        </p:txBody>
      </p:sp>
    </p:spTree>
    <p:extLst>
      <p:ext uri="{BB962C8B-B14F-4D97-AF65-F5344CB8AC3E}">
        <p14:creationId xmlns:p14="http://schemas.microsoft.com/office/powerpoint/2010/main" val="3133028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Budgeting and monitoring</a:t>
            </a:r>
          </a:p>
        </p:txBody>
      </p:sp>
      <p:sp>
        <p:nvSpPr>
          <p:cNvPr id="3" name="Content Placeholder 2"/>
          <p:cNvSpPr>
            <a:spLocks noGrp="1"/>
          </p:cNvSpPr>
          <p:nvPr>
            <p:ph idx="1"/>
          </p:nvPr>
        </p:nvSpPr>
        <p:spPr/>
        <p:txBody>
          <a:bodyPr>
            <a:normAutofit/>
          </a:bodyPr>
          <a:lstStyle/>
          <a:p>
            <a:pPr algn="just"/>
            <a:r>
              <a:rPr lang="en-US" dirty="0"/>
              <a:t>A </a:t>
            </a:r>
            <a:r>
              <a:rPr lang="en-US" b="1" dirty="0"/>
              <a:t>budget</a:t>
            </a:r>
            <a:r>
              <a:rPr lang="en-US" dirty="0"/>
              <a:t> is a financial plan for a </a:t>
            </a:r>
            <a:r>
              <a:rPr lang="en-US" b="1" dirty="0"/>
              <a:t>defined</a:t>
            </a:r>
            <a:r>
              <a:rPr lang="en-US" dirty="0"/>
              <a:t> period of time, usually a year. </a:t>
            </a:r>
          </a:p>
          <a:p>
            <a:pPr algn="just"/>
            <a:endParaRPr lang="en-US" dirty="0"/>
          </a:p>
          <a:p>
            <a:pPr algn="just"/>
            <a:r>
              <a:rPr lang="en-US" dirty="0"/>
              <a:t>It is an estimation of revenue and expenses over a specified future period of time; it is compiled and re-evaluated on a periodic basis.</a:t>
            </a:r>
          </a:p>
          <a:p>
            <a:pPr algn="just"/>
            <a:endParaRPr lang="en-US" dirty="0"/>
          </a:p>
          <a:p>
            <a:pPr algn="just"/>
            <a:r>
              <a:rPr lang="en-US" dirty="0"/>
              <a:t>Budgets can be made for a person, a family, a group of people, a business, a government, a country, a multinational organization or just about anything else that makes and spends money. </a:t>
            </a:r>
          </a:p>
        </p:txBody>
      </p:sp>
    </p:spTree>
    <p:extLst>
      <p:ext uri="{BB962C8B-B14F-4D97-AF65-F5344CB8AC3E}">
        <p14:creationId xmlns:p14="http://schemas.microsoft.com/office/powerpoint/2010/main" val="661978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Budgeting and monitoring</a:t>
            </a:r>
          </a:p>
        </p:txBody>
      </p:sp>
      <p:sp>
        <p:nvSpPr>
          <p:cNvPr id="3" name="Content Placeholder 2"/>
          <p:cNvSpPr>
            <a:spLocks noGrp="1"/>
          </p:cNvSpPr>
          <p:nvPr>
            <p:ph idx="1"/>
          </p:nvPr>
        </p:nvSpPr>
        <p:spPr/>
        <p:txBody>
          <a:bodyPr/>
          <a:lstStyle/>
          <a:p>
            <a:pPr algn="just"/>
            <a:r>
              <a:rPr lang="en-US" dirty="0"/>
              <a:t>A budget is a prediction of the future financial position of an organization covering usually the current or the next financial year.</a:t>
            </a:r>
          </a:p>
          <a:p>
            <a:pPr algn="just"/>
            <a:endParaRPr lang="en-US" dirty="0"/>
          </a:p>
          <a:p>
            <a:pPr algn="just"/>
            <a:r>
              <a:rPr lang="en-US" dirty="0"/>
              <a:t>A complete budget includes prediction for all of the annual financial statments, but the most concerned aspect of budgeting is income and expenditure budget.</a:t>
            </a:r>
          </a:p>
        </p:txBody>
      </p:sp>
    </p:spTree>
    <p:extLst>
      <p:ext uri="{BB962C8B-B14F-4D97-AF65-F5344CB8AC3E}">
        <p14:creationId xmlns:p14="http://schemas.microsoft.com/office/powerpoint/2010/main" val="4192160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Budgeting and monitoring</a:t>
            </a:r>
          </a:p>
        </p:txBody>
      </p:sp>
      <p:sp>
        <p:nvSpPr>
          <p:cNvPr id="3" name="Content Placeholder 2"/>
          <p:cNvSpPr>
            <a:spLocks noGrp="1"/>
          </p:cNvSpPr>
          <p:nvPr>
            <p:ph idx="1"/>
          </p:nvPr>
        </p:nvSpPr>
        <p:spPr/>
        <p:txBody>
          <a:bodyPr/>
          <a:lstStyle/>
          <a:p>
            <a:pPr algn="just"/>
            <a:r>
              <a:rPr lang="en-US" dirty="0"/>
              <a:t>Budgeting is an iterative process.</a:t>
            </a:r>
          </a:p>
          <a:p>
            <a:pPr algn="just"/>
            <a:endParaRPr lang="en-US" dirty="0"/>
          </a:p>
          <a:p>
            <a:pPr algn="just"/>
            <a:r>
              <a:rPr lang="en-US" dirty="0"/>
              <a:t>First version of the budget is likely to show expenditure exceeding income. </a:t>
            </a:r>
          </a:p>
          <a:p>
            <a:pPr algn="just"/>
            <a:endParaRPr lang="en-US" dirty="0"/>
          </a:p>
          <a:p>
            <a:pPr algn="just"/>
            <a:r>
              <a:rPr lang="en-US" dirty="0"/>
              <a:t>Adjustment are made repeatedly until a situation is reached where sales exceed expenditure with a reasonable profit margin.</a:t>
            </a:r>
          </a:p>
          <a:p>
            <a:endParaRPr lang="en-US" dirty="0"/>
          </a:p>
        </p:txBody>
      </p:sp>
    </p:spTree>
    <p:extLst>
      <p:ext uri="{BB962C8B-B14F-4D97-AF65-F5344CB8AC3E}">
        <p14:creationId xmlns:p14="http://schemas.microsoft.com/office/powerpoint/2010/main" val="511472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Budgeting and monitoring</a:t>
            </a:r>
          </a:p>
        </p:txBody>
      </p:sp>
      <p:sp>
        <p:nvSpPr>
          <p:cNvPr id="3" name="Content Placeholder 2"/>
          <p:cNvSpPr>
            <a:spLocks noGrp="1"/>
          </p:cNvSpPr>
          <p:nvPr>
            <p:ph idx="1"/>
          </p:nvPr>
        </p:nvSpPr>
        <p:spPr/>
        <p:txBody>
          <a:bodyPr>
            <a:normAutofit/>
          </a:bodyPr>
          <a:lstStyle/>
          <a:p>
            <a:pPr algn="just"/>
            <a:r>
              <a:rPr lang="en-US" dirty="0"/>
              <a:t>Budget is mostly used as a basis for monitoring the organization’s performance.</a:t>
            </a:r>
          </a:p>
          <a:p>
            <a:pPr algn="just"/>
            <a:endParaRPr lang="en-US" dirty="0"/>
          </a:p>
          <a:p>
            <a:pPr algn="just"/>
            <a:r>
              <a:rPr lang="en-US" dirty="0"/>
              <a:t>The figures in the budget are split into monthly or weekly figures.</a:t>
            </a:r>
          </a:p>
          <a:p>
            <a:pPr algn="just"/>
            <a:endParaRPr lang="en-US" dirty="0"/>
          </a:p>
          <a:p>
            <a:pPr algn="just"/>
            <a:r>
              <a:rPr lang="en-US" dirty="0"/>
              <a:t>When the actual figures of a month become available, they are compared with the budgeted figures.</a:t>
            </a:r>
          </a:p>
        </p:txBody>
      </p:sp>
    </p:spTree>
    <p:extLst>
      <p:ext uri="{BB962C8B-B14F-4D97-AF65-F5344CB8AC3E}">
        <p14:creationId xmlns:p14="http://schemas.microsoft.com/office/powerpoint/2010/main" val="2447045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Budgeting and monitoring</a:t>
            </a:r>
          </a:p>
        </p:txBody>
      </p:sp>
      <p:sp>
        <p:nvSpPr>
          <p:cNvPr id="3" name="Content Placeholder 2"/>
          <p:cNvSpPr>
            <a:spLocks noGrp="1"/>
          </p:cNvSpPr>
          <p:nvPr>
            <p:ph idx="1"/>
          </p:nvPr>
        </p:nvSpPr>
        <p:spPr/>
        <p:txBody>
          <a:bodyPr>
            <a:normAutofit/>
          </a:bodyPr>
          <a:lstStyle/>
          <a:p>
            <a:pPr algn="just"/>
            <a:r>
              <a:rPr lang="en-US" dirty="0"/>
              <a:t>All departments in organizations are required to regularly monitor actual activity to planned activity and control their expenditure to ensure that it is in line with available funds. If required, appropriate corrective action should be taken to resolve significant differences between actual and planned activity</a:t>
            </a:r>
          </a:p>
        </p:txBody>
      </p:sp>
    </p:spTree>
    <p:extLst>
      <p:ext uri="{BB962C8B-B14F-4D97-AF65-F5344CB8AC3E}">
        <p14:creationId xmlns:p14="http://schemas.microsoft.com/office/powerpoint/2010/main" val="3375504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Sales and Order Intake</a:t>
            </a:r>
          </a:p>
        </p:txBody>
      </p:sp>
      <p:sp>
        <p:nvSpPr>
          <p:cNvPr id="3" name="Content Placeholder 2"/>
          <p:cNvSpPr>
            <a:spLocks noGrp="1"/>
          </p:cNvSpPr>
          <p:nvPr>
            <p:ph idx="1"/>
          </p:nvPr>
        </p:nvSpPr>
        <p:spPr/>
        <p:txBody>
          <a:bodyPr/>
          <a:lstStyle/>
          <a:p>
            <a:pPr algn="just"/>
            <a:r>
              <a:rPr lang="en-US" dirty="0"/>
              <a:t>A </a:t>
            </a:r>
            <a:r>
              <a:rPr lang="en-US" b="1" dirty="0"/>
              <a:t>sale</a:t>
            </a:r>
            <a:r>
              <a:rPr lang="en-US" dirty="0"/>
              <a:t> is a transaction between two parties where the buyer receives goods, services, and assets in exchange for money. </a:t>
            </a:r>
          </a:p>
          <a:p>
            <a:pPr algn="just"/>
            <a:endParaRPr lang="en-US" dirty="0"/>
          </a:p>
          <a:p>
            <a:pPr algn="just"/>
            <a:r>
              <a:rPr lang="en-US" b="1" dirty="0"/>
              <a:t>Order intake</a:t>
            </a:r>
            <a:r>
              <a:rPr lang="en-US" dirty="0"/>
              <a:t> is a measure of company production in terms of customer offers to buy products or services, it refers to receiving or processing a customer's </a:t>
            </a:r>
            <a:r>
              <a:rPr lang="en-US" b="1" dirty="0"/>
              <a:t>order.</a:t>
            </a:r>
            <a:endParaRPr lang="en-US" dirty="0"/>
          </a:p>
        </p:txBody>
      </p:sp>
    </p:spTree>
    <p:extLst>
      <p:ext uri="{BB962C8B-B14F-4D97-AF65-F5344CB8AC3E}">
        <p14:creationId xmlns:p14="http://schemas.microsoft.com/office/powerpoint/2010/main" val="2848076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Sales and Order Intake</a:t>
            </a:r>
          </a:p>
        </p:txBody>
      </p:sp>
      <p:sp>
        <p:nvSpPr>
          <p:cNvPr id="3" name="Content Placeholder 2"/>
          <p:cNvSpPr>
            <a:spLocks noGrp="1"/>
          </p:cNvSpPr>
          <p:nvPr>
            <p:ph idx="1"/>
          </p:nvPr>
        </p:nvSpPr>
        <p:spPr>
          <a:xfrm>
            <a:off x="457200" y="1646237"/>
            <a:ext cx="8229600" cy="4525963"/>
          </a:xfrm>
        </p:spPr>
        <p:txBody>
          <a:bodyPr>
            <a:normAutofit/>
          </a:bodyPr>
          <a:lstStyle/>
          <a:p>
            <a:pPr algn="just"/>
            <a:r>
              <a:rPr lang="en-US" dirty="0"/>
              <a:t>A company’s cost, its pricing and the level of overheads that it can afford, all depends critically on the level of sales.</a:t>
            </a:r>
          </a:p>
          <a:p>
            <a:pPr algn="just"/>
            <a:endParaRPr lang="en-US" dirty="0"/>
          </a:p>
          <a:p>
            <a:pPr algn="just"/>
            <a:r>
              <a:rPr lang="en-US" b="1" dirty="0"/>
              <a:t>Monitoring the level of sales is therefore a very important managerial activity.</a:t>
            </a:r>
          </a:p>
          <a:p>
            <a:pPr algn="just"/>
            <a:endParaRPr lang="en-US" b="1" dirty="0"/>
          </a:p>
          <a:p>
            <a:pPr algn="just"/>
            <a:r>
              <a:rPr lang="en-US" b="1" dirty="0"/>
              <a:t>OVERHEAD</a:t>
            </a:r>
            <a:r>
              <a:rPr lang="en-US" dirty="0"/>
              <a:t> EXPENSE. ... </a:t>
            </a:r>
            <a:r>
              <a:rPr lang="en-US" b="1" dirty="0"/>
              <a:t>Overhead</a:t>
            </a:r>
            <a:r>
              <a:rPr lang="en-US" dirty="0"/>
              <a:t> expenses—also called indirect manufacturing costs and factory </a:t>
            </a:r>
            <a:r>
              <a:rPr lang="en-US" b="1" dirty="0"/>
              <a:t>overhead</a:t>
            </a:r>
            <a:r>
              <a:rPr lang="en-US" dirty="0"/>
              <a:t>—encompass three general kinds of costs: those for indirect materials, indirect labor, and all other expenses such as taxes, insurance, </a:t>
            </a:r>
            <a:r>
              <a:rPr lang="en-US" dirty="0" err="1"/>
              <a:t>advertissing</a:t>
            </a:r>
            <a:r>
              <a:rPr lang="en-US" dirty="0"/>
              <a:t> depreciation, supplies, utilities(phone calls), and repairs.</a:t>
            </a:r>
          </a:p>
        </p:txBody>
      </p:sp>
    </p:spTree>
    <p:extLst>
      <p:ext uri="{BB962C8B-B14F-4D97-AF65-F5344CB8AC3E}">
        <p14:creationId xmlns:p14="http://schemas.microsoft.com/office/powerpoint/2010/main" val="83800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Costing</a:t>
            </a:r>
          </a:p>
        </p:txBody>
      </p:sp>
      <p:sp>
        <p:nvSpPr>
          <p:cNvPr id="3" name="Content Placeholder 2"/>
          <p:cNvSpPr>
            <a:spLocks noGrp="1"/>
          </p:cNvSpPr>
          <p:nvPr>
            <p:ph idx="1"/>
          </p:nvPr>
        </p:nvSpPr>
        <p:spPr/>
        <p:txBody>
          <a:bodyPr/>
          <a:lstStyle/>
          <a:p>
            <a:pPr algn="just"/>
            <a:r>
              <a:rPr lang="en-US" dirty="0"/>
              <a:t>The price at which an organization decides to sell a product or a service depends on</a:t>
            </a:r>
          </a:p>
          <a:p>
            <a:pPr algn="just"/>
            <a:endParaRPr lang="en-US" dirty="0"/>
          </a:p>
          <a:p>
            <a:pPr lvl="1" algn="just"/>
            <a:r>
              <a:rPr lang="en-US" sz="2000" dirty="0"/>
              <a:t>The cost of producing and providing it</a:t>
            </a:r>
          </a:p>
          <a:p>
            <a:pPr lvl="1" algn="just"/>
            <a:endParaRPr lang="en-US" sz="2000" dirty="0"/>
          </a:p>
          <a:p>
            <a:pPr lvl="1" algn="just"/>
            <a:r>
              <a:rPr lang="en-US" sz="2000" dirty="0"/>
              <a:t>Market conditions</a:t>
            </a:r>
          </a:p>
          <a:p>
            <a:pPr lvl="2" algn="just"/>
            <a:r>
              <a:rPr lang="en-US" sz="2000" dirty="0"/>
              <a:t>Price and availablity of competing products</a:t>
            </a:r>
          </a:p>
          <a:p>
            <a:pPr lvl="2" algn="just"/>
            <a:r>
              <a:rPr lang="en-US" sz="2000" dirty="0"/>
              <a:t>Elasticity of demand</a:t>
            </a:r>
          </a:p>
        </p:txBody>
      </p:sp>
    </p:spTree>
    <p:extLst>
      <p:ext uri="{BB962C8B-B14F-4D97-AF65-F5344CB8AC3E}">
        <p14:creationId xmlns:p14="http://schemas.microsoft.com/office/powerpoint/2010/main" val="4118426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406484"/>
              </p:ext>
            </p:extLst>
          </p:nvPr>
        </p:nvGraphicFramePr>
        <p:xfrm>
          <a:off x="457200" y="1295400"/>
          <a:ext cx="82296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4004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Costing</a:t>
            </a:r>
          </a:p>
        </p:txBody>
      </p:sp>
      <p:sp>
        <p:nvSpPr>
          <p:cNvPr id="3" name="Content Placeholder 2"/>
          <p:cNvSpPr>
            <a:spLocks noGrp="1"/>
          </p:cNvSpPr>
          <p:nvPr>
            <p:ph idx="1"/>
          </p:nvPr>
        </p:nvSpPr>
        <p:spPr/>
        <p:txBody>
          <a:bodyPr/>
          <a:lstStyle/>
          <a:p>
            <a:pPr algn="just"/>
            <a:r>
              <a:rPr lang="en-US" dirty="0"/>
              <a:t>Materials which are bought by a campany and processed as part of the campany’s manufacturing process are called </a:t>
            </a:r>
            <a:r>
              <a:rPr lang="en-US" b="1" i="1" dirty="0"/>
              <a:t>raw materials.</a:t>
            </a:r>
          </a:p>
          <a:p>
            <a:pPr algn="just"/>
            <a:endParaRPr lang="en-US" b="1" i="1" dirty="0"/>
          </a:p>
          <a:p>
            <a:pPr algn="just"/>
            <a:r>
              <a:rPr lang="en-US" b="1" i="1" dirty="0"/>
              <a:t>Brought-in items </a:t>
            </a:r>
            <a:r>
              <a:rPr lang="en-US" dirty="0"/>
              <a:t>are those items that are bought by a company and incorporated into their products, as it is (unchanged).</a:t>
            </a:r>
            <a:endParaRPr lang="en-US" b="1" i="1" dirty="0"/>
          </a:p>
        </p:txBody>
      </p:sp>
    </p:spTree>
    <p:extLst>
      <p:ext uri="{BB962C8B-B14F-4D97-AF65-F5344CB8AC3E}">
        <p14:creationId xmlns:p14="http://schemas.microsoft.com/office/powerpoint/2010/main" val="1545971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Costing</a:t>
            </a:r>
          </a:p>
        </p:txBody>
      </p:sp>
      <p:sp>
        <p:nvSpPr>
          <p:cNvPr id="3" name="Content Placeholder 2"/>
          <p:cNvSpPr>
            <a:spLocks noGrp="1"/>
          </p:cNvSpPr>
          <p:nvPr>
            <p:ph idx="1"/>
          </p:nvPr>
        </p:nvSpPr>
        <p:spPr/>
        <p:txBody>
          <a:bodyPr>
            <a:normAutofit/>
          </a:bodyPr>
          <a:lstStyle/>
          <a:p>
            <a:pPr algn="just"/>
            <a:r>
              <a:rPr lang="en-US" dirty="0"/>
              <a:t>The </a:t>
            </a:r>
            <a:r>
              <a:rPr lang="en-US" b="1" dirty="0"/>
              <a:t>cost of equipment</a:t>
            </a:r>
            <a:r>
              <a:rPr lang="en-US" dirty="0"/>
              <a:t> for a company is simply how much the company paid for the equipment.</a:t>
            </a:r>
          </a:p>
          <a:p>
            <a:pPr algn="just"/>
            <a:endParaRPr lang="en-US" dirty="0"/>
          </a:p>
          <a:p>
            <a:pPr algn="just"/>
            <a:r>
              <a:rPr lang="en-US" dirty="0"/>
              <a:t>The </a:t>
            </a:r>
            <a:r>
              <a:rPr lang="en-US" b="1" dirty="0"/>
              <a:t>cost of labour</a:t>
            </a:r>
            <a:r>
              <a:rPr lang="en-US" dirty="0"/>
              <a:t> is the sum of all wages paid to employees.</a:t>
            </a:r>
          </a:p>
          <a:p>
            <a:endParaRPr lang="en-US" dirty="0"/>
          </a:p>
        </p:txBody>
      </p:sp>
    </p:spTree>
    <p:extLst>
      <p:ext uri="{BB962C8B-B14F-4D97-AF65-F5344CB8AC3E}">
        <p14:creationId xmlns:p14="http://schemas.microsoft.com/office/powerpoint/2010/main" val="410144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Costing</a:t>
            </a:r>
          </a:p>
        </p:txBody>
      </p:sp>
      <p:sp>
        <p:nvSpPr>
          <p:cNvPr id="3" name="Content Placeholder 2"/>
          <p:cNvSpPr>
            <a:spLocks noGrp="1"/>
          </p:cNvSpPr>
          <p:nvPr>
            <p:ph idx="1"/>
          </p:nvPr>
        </p:nvSpPr>
        <p:spPr/>
        <p:txBody>
          <a:bodyPr/>
          <a:lstStyle/>
          <a:p>
            <a:pPr algn="just"/>
            <a:r>
              <a:rPr lang="en-US" b="1" dirty="0"/>
              <a:t>Overheads</a:t>
            </a:r>
            <a:r>
              <a:rPr lang="en-US" dirty="0"/>
              <a:t> are the costs that cannot be directly associated with specific products or services but must still be covered by the total revenue.</a:t>
            </a:r>
          </a:p>
          <a:p>
            <a:pPr algn="just"/>
            <a:endParaRPr lang="en-US" dirty="0"/>
          </a:p>
          <a:p>
            <a:pPr algn="just"/>
            <a:r>
              <a:rPr lang="en-US" dirty="0"/>
              <a:t>Examples are marketing costs, phone bills suppliers  rent etc.</a:t>
            </a:r>
          </a:p>
        </p:txBody>
      </p:sp>
    </p:spTree>
    <p:extLst>
      <p:ext uri="{BB962C8B-B14F-4D97-AF65-F5344CB8AC3E}">
        <p14:creationId xmlns:p14="http://schemas.microsoft.com/office/powerpoint/2010/main" val="3113886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Costing</a:t>
            </a:r>
          </a:p>
        </p:txBody>
      </p:sp>
      <p:sp>
        <p:nvSpPr>
          <p:cNvPr id="3" name="Content Placeholder 2"/>
          <p:cNvSpPr>
            <a:spLocks noGrp="1"/>
          </p:cNvSpPr>
          <p:nvPr>
            <p:ph idx="1"/>
          </p:nvPr>
        </p:nvSpPr>
        <p:spPr/>
        <p:txBody>
          <a:bodyPr/>
          <a:lstStyle/>
          <a:p>
            <a:pPr algn="just"/>
            <a:r>
              <a:rPr lang="en-US" b="1" i="1" dirty="0"/>
              <a:t>Departmental overheads</a:t>
            </a:r>
            <a:r>
              <a:rPr lang="en-US" dirty="0"/>
              <a:t> are associated with specific parts of the organization and should be covered by the revenue earned by those parts.</a:t>
            </a:r>
          </a:p>
          <a:p>
            <a:pPr algn="just"/>
            <a:endParaRPr lang="en-US" dirty="0"/>
          </a:p>
          <a:p>
            <a:pPr algn="just"/>
            <a:r>
              <a:rPr lang="en-US" b="1" i="1" dirty="0"/>
              <a:t>Corporate overheads</a:t>
            </a:r>
            <a:r>
              <a:rPr lang="en-US" dirty="0"/>
              <a:t> are associated with the whole organization.</a:t>
            </a:r>
          </a:p>
        </p:txBody>
      </p:sp>
    </p:spTree>
    <p:extLst>
      <p:ext uri="{BB962C8B-B14F-4D97-AF65-F5344CB8AC3E}">
        <p14:creationId xmlns:p14="http://schemas.microsoft.com/office/powerpoint/2010/main" val="739404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Pricing</a:t>
            </a:r>
          </a:p>
        </p:txBody>
      </p:sp>
      <p:sp>
        <p:nvSpPr>
          <p:cNvPr id="3" name="Content Placeholder 2"/>
          <p:cNvSpPr>
            <a:spLocks noGrp="1"/>
          </p:cNvSpPr>
          <p:nvPr>
            <p:ph idx="1"/>
          </p:nvPr>
        </p:nvSpPr>
        <p:spPr/>
        <p:txBody>
          <a:bodyPr>
            <a:normAutofit/>
          </a:bodyPr>
          <a:lstStyle/>
          <a:p>
            <a:pPr algn="just"/>
            <a:r>
              <a:rPr lang="en-US" dirty="0"/>
              <a:t>Pricing is the method of determining the value a producer will get in the exchange of goods and services. Simply, pricing method is used to set the price of producer’s offerings relevant to both the producer and the customer.</a:t>
            </a:r>
          </a:p>
          <a:p>
            <a:pPr algn="just"/>
            <a:endParaRPr lang="en-US" dirty="0"/>
          </a:p>
          <a:p>
            <a:pPr algn="just"/>
            <a:r>
              <a:rPr lang="en-US" dirty="0"/>
              <a:t>The price that a company charges for its products and services is constrained by the fact that revenue must exceed the cost of those products.</a:t>
            </a:r>
          </a:p>
        </p:txBody>
      </p:sp>
    </p:spTree>
    <p:extLst>
      <p:ext uri="{BB962C8B-B14F-4D97-AF65-F5344CB8AC3E}">
        <p14:creationId xmlns:p14="http://schemas.microsoft.com/office/powerpoint/2010/main" val="4123967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Pricing</a:t>
            </a:r>
          </a:p>
        </p:txBody>
      </p:sp>
      <p:sp>
        <p:nvSpPr>
          <p:cNvPr id="3" name="Content Placeholder 2"/>
          <p:cNvSpPr>
            <a:spLocks noGrp="1"/>
          </p:cNvSpPr>
          <p:nvPr>
            <p:ph idx="1"/>
          </p:nvPr>
        </p:nvSpPr>
        <p:spPr/>
        <p:txBody>
          <a:bodyPr/>
          <a:lstStyle/>
          <a:p>
            <a:pPr algn="just"/>
            <a:r>
              <a:rPr lang="en-US" dirty="0"/>
              <a:t>Software companies are typically faced with pricing in three contexts</a:t>
            </a:r>
          </a:p>
          <a:p>
            <a:pPr algn="just"/>
            <a:endParaRPr lang="en-US" dirty="0"/>
          </a:p>
          <a:p>
            <a:pPr lvl="1" algn="just"/>
            <a:r>
              <a:rPr lang="en-US" dirty="0"/>
              <a:t>Pricing a bid to provide services, such as consultancy, design or programming, with payment based of effort supplied.</a:t>
            </a:r>
          </a:p>
          <a:p>
            <a:pPr lvl="1" algn="just"/>
            <a:endParaRPr lang="en-US" dirty="0"/>
          </a:p>
          <a:p>
            <a:pPr lvl="1" algn="just"/>
            <a:r>
              <a:rPr lang="en-US" dirty="0"/>
              <a:t>Pricing a bid for a contract to supply bespoke software at a fixed price.</a:t>
            </a:r>
          </a:p>
          <a:p>
            <a:pPr lvl="1" algn="just"/>
            <a:endParaRPr lang="en-US" dirty="0"/>
          </a:p>
          <a:p>
            <a:pPr lvl="1" algn="just"/>
            <a:r>
              <a:rPr lang="en-US" dirty="0"/>
              <a:t>Pricing a software product which they have developed.</a:t>
            </a:r>
          </a:p>
        </p:txBody>
      </p:sp>
    </p:spTree>
    <p:extLst>
      <p:ext uri="{BB962C8B-B14F-4D97-AF65-F5344CB8AC3E}">
        <p14:creationId xmlns:p14="http://schemas.microsoft.com/office/powerpoint/2010/main" val="3042114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Capital and its Maintenance</a:t>
            </a:r>
          </a:p>
        </p:txBody>
      </p:sp>
      <p:sp>
        <p:nvSpPr>
          <p:cNvPr id="3" name="Content Placeholder 2"/>
          <p:cNvSpPr>
            <a:spLocks noGrp="1"/>
          </p:cNvSpPr>
          <p:nvPr>
            <p:ph idx="1"/>
          </p:nvPr>
        </p:nvSpPr>
        <p:spPr/>
        <p:txBody>
          <a:bodyPr/>
          <a:lstStyle/>
          <a:p>
            <a:pPr algn="just"/>
            <a:r>
              <a:rPr lang="en-US" dirty="0"/>
              <a:t>The concept of capital maintenance has important practical consequences.</a:t>
            </a:r>
          </a:p>
          <a:p>
            <a:pPr algn="just"/>
            <a:endParaRPr lang="en-US" dirty="0"/>
          </a:p>
          <a:p>
            <a:pPr algn="just"/>
            <a:r>
              <a:rPr lang="en-US" dirty="0"/>
              <a:t>The capital of a company is usually taken as a gurantee that the company will be able to meet its obligations.</a:t>
            </a:r>
          </a:p>
          <a:p>
            <a:pPr algn="just"/>
            <a:endParaRPr lang="en-US" dirty="0"/>
          </a:p>
          <a:p>
            <a:pPr algn="just"/>
            <a:r>
              <a:rPr lang="en-US" dirty="0"/>
              <a:t>A lender also takes into account a campany’s  capital, when deciding whether or not to give a loan.</a:t>
            </a:r>
          </a:p>
        </p:txBody>
      </p:sp>
    </p:spTree>
    <p:extLst>
      <p:ext uri="{BB962C8B-B14F-4D97-AF65-F5344CB8AC3E}">
        <p14:creationId xmlns:p14="http://schemas.microsoft.com/office/powerpoint/2010/main" val="3401039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Capital and its Maintenance</a:t>
            </a:r>
          </a:p>
        </p:txBody>
      </p:sp>
      <p:sp>
        <p:nvSpPr>
          <p:cNvPr id="3" name="Content Placeholder 2"/>
          <p:cNvSpPr>
            <a:spLocks noGrp="1"/>
          </p:cNvSpPr>
          <p:nvPr>
            <p:ph idx="1"/>
          </p:nvPr>
        </p:nvSpPr>
        <p:spPr/>
        <p:txBody>
          <a:bodyPr/>
          <a:lstStyle/>
          <a:p>
            <a:pPr algn="just"/>
            <a:r>
              <a:rPr lang="en-US" dirty="0"/>
              <a:t>To maintain capital </a:t>
            </a:r>
          </a:p>
          <a:p>
            <a:pPr lvl="1" algn="just"/>
            <a:r>
              <a:rPr lang="en-US" dirty="0"/>
              <a:t>A company is not allowed to issue shares at a discounted value.</a:t>
            </a:r>
          </a:p>
          <a:p>
            <a:pPr lvl="1" algn="just"/>
            <a:endParaRPr lang="en-US" dirty="0"/>
          </a:p>
          <a:p>
            <a:pPr lvl="1" algn="just"/>
            <a:r>
              <a:rPr lang="en-US" dirty="0"/>
              <a:t>A company cannot pay back to the shareholders  any of their original contributions.</a:t>
            </a:r>
          </a:p>
        </p:txBody>
      </p:sp>
    </p:spTree>
    <p:extLst>
      <p:ext uri="{BB962C8B-B14F-4D97-AF65-F5344CB8AC3E}">
        <p14:creationId xmlns:p14="http://schemas.microsoft.com/office/powerpoint/2010/main" val="1243357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Auditing</a:t>
            </a:r>
          </a:p>
        </p:txBody>
      </p:sp>
      <p:sp>
        <p:nvSpPr>
          <p:cNvPr id="3" name="Content Placeholder 2"/>
          <p:cNvSpPr>
            <a:spLocks noGrp="1"/>
          </p:cNvSpPr>
          <p:nvPr>
            <p:ph idx="1"/>
          </p:nvPr>
        </p:nvSpPr>
        <p:spPr/>
        <p:txBody>
          <a:bodyPr>
            <a:normAutofit/>
          </a:bodyPr>
          <a:lstStyle/>
          <a:p>
            <a:pPr algn="just"/>
            <a:r>
              <a:rPr lang="en-US" dirty="0"/>
              <a:t>Financial auditing is the process of examining an organization's financial records to determine if they are accurate and in accordance with any applicable rules , regulations, and laws.</a:t>
            </a:r>
          </a:p>
          <a:p>
            <a:pPr algn="just"/>
            <a:endParaRPr lang="en-US" dirty="0"/>
          </a:p>
          <a:p>
            <a:pPr algn="just"/>
            <a:r>
              <a:rPr lang="en-US" dirty="0"/>
              <a:t>The company accounts should be accompanied by an auditor’s report.</a:t>
            </a:r>
          </a:p>
          <a:p>
            <a:pPr algn="just"/>
            <a:endParaRPr lang="en-US" dirty="0"/>
          </a:p>
          <a:p>
            <a:pPr algn="just"/>
            <a:r>
              <a:rPr lang="en-US" dirty="0"/>
              <a:t>Purpose of the report is to provide members of the company and public with an assurance that accounts give a “true and fair view” of the state of the affairs of the company.</a:t>
            </a:r>
          </a:p>
        </p:txBody>
      </p:sp>
    </p:spTree>
    <p:extLst>
      <p:ext uri="{BB962C8B-B14F-4D97-AF65-F5344CB8AC3E}">
        <p14:creationId xmlns:p14="http://schemas.microsoft.com/office/powerpoint/2010/main" val="3341561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Auditing</a:t>
            </a:r>
          </a:p>
        </p:txBody>
      </p:sp>
      <p:sp>
        <p:nvSpPr>
          <p:cNvPr id="3" name="Content Placeholder 2"/>
          <p:cNvSpPr>
            <a:spLocks noGrp="1"/>
          </p:cNvSpPr>
          <p:nvPr>
            <p:ph idx="1"/>
          </p:nvPr>
        </p:nvSpPr>
        <p:spPr/>
        <p:txBody>
          <a:bodyPr/>
          <a:lstStyle/>
          <a:p>
            <a:pPr algn="just"/>
            <a:r>
              <a:rPr lang="en-US" dirty="0"/>
              <a:t>It is not practicable for auditors to check every financial transaction.</a:t>
            </a:r>
          </a:p>
          <a:p>
            <a:pPr algn="just"/>
            <a:endParaRPr lang="en-US" dirty="0"/>
          </a:p>
          <a:p>
            <a:pPr algn="just"/>
            <a:r>
              <a:rPr lang="en-US" dirty="0"/>
              <a:t>They work by</a:t>
            </a:r>
          </a:p>
          <a:p>
            <a:pPr lvl="1" algn="just"/>
            <a:r>
              <a:rPr lang="en-US" dirty="0"/>
              <a:t>Examimining the adequacy of the company’s final procedures</a:t>
            </a:r>
          </a:p>
          <a:p>
            <a:pPr lvl="1" algn="just"/>
            <a:r>
              <a:rPr lang="en-US" dirty="0"/>
              <a:t>Making detiled checks on a small sample of transactions and assets.</a:t>
            </a:r>
          </a:p>
          <a:p>
            <a:pPr lvl="1"/>
            <a:endParaRPr lang="en-US" dirty="0"/>
          </a:p>
        </p:txBody>
      </p:sp>
    </p:spTree>
    <p:extLst>
      <p:ext uri="{BB962C8B-B14F-4D97-AF65-F5344CB8AC3E}">
        <p14:creationId xmlns:p14="http://schemas.microsoft.com/office/powerpoint/2010/main" val="1448485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Auditing</a:t>
            </a:r>
          </a:p>
        </p:txBody>
      </p:sp>
      <p:sp>
        <p:nvSpPr>
          <p:cNvPr id="3" name="Content Placeholder 2"/>
          <p:cNvSpPr>
            <a:spLocks noGrp="1"/>
          </p:cNvSpPr>
          <p:nvPr>
            <p:ph idx="1"/>
          </p:nvPr>
        </p:nvSpPr>
        <p:spPr/>
        <p:txBody>
          <a:bodyPr/>
          <a:lstStyle/>
          <a:p>
            <a:pPr algn="just"/>
            <a:r>
              <a:rPr lang="en-US" dirty="0"/>
              <a:t>The primary resposibility for preventing and detecting fraud lies with the directors of the company, not with the auditors.</a:t>
            </a:r>
          </a:p>
          <a:p>
            <a:pPr algn="just"/>
            <a:endParaRPr lang="en-US" dirty="0"/>
          </a:p>
          <a:p>
            <a:pPr algn="just"/>
            <a:r>
              <a:rPr lang="en-US" dirty="0"/>
              <a:t>However auditors are also expected of finding anything seriously misleading in the financial statements.</a:t>
            </a:r>
          </a:p>
          <a:p>
            <a:pPr algn="just"/>
            <a:endParaRPr lang="en-US" dirty="0"/>
          </a:p>
          <a:p>
            <a:pPr algn="just"/>
            <a:r>
              <a:rPr lang="en-US" dirty="0"/>
              <a:t>If they find evidence of fraud , they have a duty to report it to directors.</a:t>
            </a:r>
          </a:p>
          <a:p>
            <a:endParaRPr lang="en-US" dirty="0"/>
          </a:p>
        </p:txBody>
      </p:sp>
    </p:spTree>
    <p:extLst>
      <p:ext uri="{BB962C8B-B14F-4D97-AF65-F5344CB8AC3E}">
        <p14:creationId xmlns:p14="http://schemas.microsoft.com/office/powerpoint/2010/main" val="347239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549</TotalTime>
  <Words>1749</Words>
  <Application>Microsoft Office PowerPoint</Application>
  <PresentationFormat>On-screen Show (4:3)</PresentationFormat>
  <Paragraphs>213</Paragraphs>
  <Slides>30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Week 6: Professional Practices</vt:lpstr>
      <vt:lpstr>Contents</vt:lpstr>
      <vt:lpstr>Finance and Accounting</vt:lpstr>
      <vt:lpstr>The need for capital</vt:lpstr>
      <vt:lpstr>The need for capital</vt:lpstr>
      <vt:lpstr>The need for capital</vt:lpstr>
      <vt:lpstr>Sources of Funds</vt:lpstr>
      <vt:lpstr>Sources of Funds</vt:lpstr>
      <vt:lpstr>Sources of Funds</vt:lpstr>
      <vt:lpstr>Sources of Funds</vt:lpstr>
      <vt:lpstr>Budgeting and monitoring</vt:lpstr>
      <vt:lpstr>Budgeting and monitoring</vt:lpstr>
      <vt:lpstr>Budgeting and monitoring</vt:lpstr>
      <vt:lpstr>Budgeting and monitoring</vt:lpstr>
      <vt:lpstr>Budgeting and monitoring</vt:lpstr>
      <vt:lpstr>Sales and Order Intake</vt:lpstr>
      <vt:lpstr>Sales and Order Intake</vt:lpstr>
      <vt:lpstr>Costing</vt:lpstr>
      <vt:lpstr>Costing</vt:lpstr>
      <vt:lpstr>Costing</vt:lpstr>
      <vt:lpstr>Costing</vt:lpstr>
      <vt:lpstr>Costing</vt:lpstr>
      <vt:lpstr>Costing</vt:lpstr>
      <vt:lpstr>Pricing</vt:lpstr>
      <vt:lpstr>Pricing</vt:lpstr>
      <vt:lpstr>Capital and its Maintenance</vt:lpstr>
      <vt:lpstr>Capital and its Maintenance</vt:lpstr>
      <vt:lpstr>Auditing</vt:lpstr>
      <vt:lpstr>Auditing</vt:lpstr>
      <vt:lpstr>Auditing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IBRAHIM</dc:creator>
  <cp:lastModifiedBy>Amber Sarfraz</cp:lastModifiedBy>
  <cp:revision>192</cp:revision>
  <dcterms:created xsi:type="dcterms:W3CDTF">2006-08-16T00:00:00Z</dcterms:created>
  <dcterms:modified xsi:type="dcterms:W3CDTF">2022-10-21T06:39:17Z</dcterms:modified>
</cp:coreProperties>
</file>
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8" r:id="rId3"/>
    <p:sldId id="306" r:id="rId4"/>
    <p:sldId id="308" r:id="rId5"/>
    <p:sldId id="341" r:id="rId6"/>
    <p:sldId id="342" r:id="rId7"/>
    <p:sldId id="343" r:id="rId8"/>
    <p:sldId id="344" r:id="rId9"/>
    <p:sldId id="324" r:id="rId10"/>
    <p:sldId id="345" r:id="rId11"/>
    <p:sldId id="346" r:id="rId12"/>
    <p:sldId id="347" r:id="rId13"/>
    <p:sldId id="348" r:id="rId14"/>
    <p:sldId id="329" r:id="rId15"/>
    <p:sldId id="330" r:id="rId16"/>
    <p:sldId id="354" r:id="rId17"/>
    <p:sldId id="355" r:id="rId18"/>
    <p:sldId id="358" r:id="rId19"/>
    <p:sldId id="359" r:id="rId20"/>
    <p:sldId id="349" r:id="rId21"/>
    <p:sldId id="350" r:id="rId22"/>
    <p:sldId id="352" r:id="rId23"/>
    <p:sldId id="353" r:id="rId24"/>
    <p:sldId id="340" r:id="rId25"/>
    <p:sldId id="27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83121" autoAdjust="0"/>
  </p:normalViewPr>
  <p:slideViewPr>
    <p:cSldViewPr snapToGrid="0">
      <p:cViewPr varScale="1">
        <p:scale>
          <a:sx n="60" d="100"/>
          <a:sy n="60" d="100"/>
        </p:scale>
        <p:origin x="111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B77550-ED4A-5348-AB79-4F30BDEB5BDE}" type="datetimeFigureOut">
              <a:rPr lang="x-none" smtClean="0"/>
              <a:t>19/10/2022</a:t>
            </a:fld>
            <a:endParaRPr lang="x-non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x-non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CC6A2C-6D46-474D-BCC5-C205DA9DA6A3}" type="slidenum">
              <a:rPr lang="x-none" smtClean="0"/>
              <a:t>‹#›</a:t>
            </a:fld>
            <a:endParaRPr lang="x-none"/>
          </a:p>
        </p:txBody>
      </p:sp>
    </p:spTree>
    <p:extLst>
      <p:ext uri="{BB962C8B-B14F-4D97-AF65-F5344CB8AC3E}">
        <p14:creationId xmlns:p14="http://schemas.microsoft.com/office/powerpoint/2010/main" val="2606840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8" Type="http://schemas.openxmlformats.org/officeDocument/2006/relationships/hyperlink" Target="https://image.slideserve.com/441532/why-the-term-c-yberethics-l.jpg" TargetMode="External"/><Relationship Id="rId3" Type="http://schemas.openxmlformats.org/officeDocument/2006/relationships/hyperlink" Target="https://en.wikipedia.org/wiki/Philosophy" TargetMode="External"/><Relationship Id="rId7" Type="http://schemas.openxmlformats.org/officeDocument/2006/relationships/hyperlink" Target="https://image.slideserve.com/441532/cybertechnology-continued-l.jpg" TargetMode="External"/><Relationship Id="rId2" Type="http://schemas.openxmlformats.org/officeDocument/2006/relationships/slide" Target="../slides/slide17.xml"/><Relationship Id="rId1" Type="http://schemas.openxmlformats.org/officeDocument/2006/relationships/notesMaster" Target="../notesMasters/notesMaster1.xml"/><Relationship Id="rId6" Type="http://schemas.openxmlformats.org/officeDocument/2006/relationships/hyperlink" Target="https://image.slideserve.com/441532/what-is-cybertechnology-l.jpg" TargetMode="External"/><Relationship Id="rId5" Type="http://schemas.openxmlformats.org/officeDocument/2006/relationships/hyperlink" Target="https://image.slideserve.com/441532/what-is-cyberethics-l.jpg" TargetMode="External"/><Relationship Id="rId4" Type="http://schemas.openxmlformats.org/officeDocument/2006/relationships/hyperlink" Target="https://en.wikipedia.org/wiki/Ethics" TargetMode="External"/><Relationship Id="rId9" Type="http://schemas.openxmlformats.org/officeDocument/2006/relationships/hyperlink" Target="https://image.slideserve.com/441532/the-evolution-of-cybertechnology-and-cyberethics-four-phases-l.jpg"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t>It is the </a:t>
            </a:r>
            <a:r>
              <a:rPr lang="en-US" dirty="0">
                <a:hlinkClick r:id="rId3" tooltip="Philosophy"/>
              </a:rPr>
              <a:t>philosophic</a:t>
            </a:r>
            <a:r>
              <a:rPr lang="en-US" dirty="0"/>
              <a:t> study of </a:t>
            </a:r>
            <a:r>
              <a:rPr lang="en-US" dirty="0">
                <a:hlinkClick r:id="rId4" tooltip="Ethics"/>
              </a:rPr>
              <a:t>ethics</a:t>
            </a:r>
            <a:r>
              <a:rPr lang="en-US" dirty="0"/>
              <a:t> pertaining to computers, encompassing user behavior and what computers are programmed to do, and how this affects individuals and society.</a:t>
            </a:r>
          </a:p>
          <a:p>
            <a:pPr algn="just"/>
            <a:r>
              <a:rPr lang="en-US" dirty="0"/>
              <a:t>For years, various governments have enacted regulations while organizations have defined policies about </a:t>
            </a:r>
            <a:r>
              <a:rPr lang="en-US" dirty="0" err="1"/>
              <a:t>cyberethics</a:t>
            </a:r>
            <a:r>
              <a:rPr lang="en-US" dirty="0"/>
              <a:t>.</a:t>
            </a:r>
          </a:p>
          <a:p>
            <a:endParaRPr lang="en-US" sz="1200" b="1" i="0" u="none" strike="noStrike" kern="1200" dirty="0">
              <a:solidFill>
                <a:schemeClr val="tx1"/>
              </a:solidFill>
              <a:effectLst/>
              <a:latin typeface="+mn-lt"/>
              <a:ea typeface="+mn-ea"/>
              <a:cs typeface="+mn-cs"/>
              <a:hlinkClick r:id="rId5" tooltip="what is cyberethics"/>
            </a:endParaRPr>
          </a:p>
          <a:p>
            <a:r>
              <a:rPr lang="en-US" sz="1200" b="1" i="0" u="none" strike="noStrike" kern="1200" dirty="0">
                <a:solidFill>
                  <a:schemeClr val="tx1"/>
                </a:solidFill>
                <a:effectLst/>
                <a:latin typeface="+mn-lt"/>
                <a:ea typeface="+mn-ea"/>
                <a:cs typeface="+mn-cs"/>
                <a:hlinkClick r:id="rId5" tooltip="what is cyberethics"/>
              </a:rPr>
              <a:t>What Is </a:t>
            </a:r>
            <a:r>
              <a:rPr lang="en-US" sz="1200" b="1" i="0" u="none" strike="noStrike" kern="1200" dirty="0" err="1">
                <a:solidFill>
                  <a:schemeClr val="tx1"/>
                </a:solidFill>
                <a:effectLst/>
                <a:latin typeface="+mn-lt"/>
                <a:ea typeface="+mn-ea"/>
                <a:cs typeface="+mn-cs"/>
                <a:hlinkClick r:id="rId5" tooltip="what is cyberethics"/>
              </a:rPr>
              <a:t>Cyberethics</a:t>
            </a:r>
            <a:r>
              <a:rPr lang="en-US" sz="1200" b="1" i="0" u="none" strike="noStrike" kern="1200" dirty="0">
                <a:solidFill>
                  <a:schemeClr val="tx1"/>
                </a:solidFill>
                <a:effectLst/>
                <a:latin typeface="+mn-lt"/>
                <a:ea typeface="+mn-ea"/>
                <a:cs typeface="+mn-cs"/>
                <a:hlinkClick r:id="rId5" tooltip="what is cyberethics"/>
              </a:rPr>
              <a:t>?</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Cyberethics</a:t>
            </a:r>
            <a:r>
              <a:rPr lang="en-US" sz="1200" b="0" i="0" kern="1200" dirty="0">
                <a:solidFill>
                  <a:schemeClr val="tx1"/>
                </a:solidFill>
                <a:effectLst/>
                <a:latin typeface="+mn-lt"/>
                <a:ea typeface="+mn-ea"/>
                <a:cs typeface="+mn-cs"/>
              </a:rPr>
              <a:t> is the study of moral, legal, and social issues involving </a:t>
            </a:r>
            <a:r>
              <a:rPr lang="en-US" sz="1200" b="0" i="0" kern="1200" dirty="0" err="1">
                <a:solidFill>
                  <a:schemeClr val="tx1"/>
                </a:solidFill>
                <a:effectLst/>
                <a:latin typeface="+mn-lt"/>
                <a:ea typeface="+mn-ea"/>
                <a:cs typeface="+mn-cs"/>
              </a:rPr>
              <a:t>cybertechnology</a:t>
            </a:r>
            <a:r>
              <a:rPr lang="en-US" sz="1200" b="0" i="0" kern="1200" dirty="0">
                <a:solidFill>
                  <a:schemeClr val="tx1"/>
                </a:solidFill>
                <a:effectLst/>
                <a:latin typeface="+mn-lt"/>
                <a:ea typeface="+mn-ea"/>
                <a:cs typeface="+mn-cs"/>
              </a:rPr>
              <a:t>. • It examines the impact that </a:t>
            </a:r>
            <a:r>
              <a:rPr lang="en-US" sz="1200" b="0" i="0" kern="1200" dirty="0" err="1">
                <a:solidFill>
                  <a:schemeClr val="tx1"/>
                </a:solidFill>
                <a:effectLst/>
                <a:latin typeface="+mn-lt"/>
                <a:ea typeface="+mn-ea"/>
                <a:cs typeface="+mn-cs"/>
              </a:rPr>
              <a:t>cybertechnology</a:t>
            </a:r>
            <a:r>
              <a:rPr lang="en-US" sz="1200" b="0" i="0" kern="1200" dirty="0">
                <a:solidFill>
                  <a:schemeClr val="tx1"/>
                </a:solidFill>
                <a:effectLst/>
                <a:latin typeface="+mn-lt"/>
                <a:ea typeface="+mn-ea"/>
                <a:cs typeface="+mn-cs"/>
              </a:rPr>
              <a:t> has for our social, legal, and moral systems. • It also evaluates the social policies and laws that we frame in response to issues generated by the development and use of </a:t>
            </a:r>
            <a:r>
              <a:rPr lang="en-US" sz="1200" b="0" i="0" kern="1200" dirty="0" err="1">
                <a:solidFill>
                  <a:schemeClr val="tx1"/>
                </a:solidFill>
                <a:effectLst/>
                <a:latin typeface="+mn-lt"/>
                <a:ea typeface="+mn-ea"/>
                <a:cs typeface="+mn-cs"/>
              </a:rPr>
              <a:t>cybertechnology</a:t>
            </a:r>
            <a:r>
              <a:rPr lang="en-US" sz="1200" b="0" i="0" kern="1200" dirty="0">
                <a:solidFill>
                  <a:schemeClr val="tx1"/>
                </a:solidFill>
                <a:effectLst/>
                <a:latin typeface="+mn-lt"/>
                <a:ea typeface="+mn-ea"/>
                <a:cs typeface="+mn-cs"/>
              </a:rPr>
              <a:t>.</a:t>
            </a:r>
          </a:p>
          <a:p>
            <a:r>
              <a:rPr lang="en-US" sz="1200" b="1" i="0" u="none" strike="noStrike" kern="1200" dirty="0">
                <a:solidFill>
                  <a:schemeClr val="tx1"/>
                </a:solidFill>
                <a:effectLst/>
                <a:latin typeface="+mn-lt"/>
                <a:ea typeface="+mn-ea"/>
                <a:cs typeface="+mn-cs"/>
                <a:hlinkClick r:id="rId6" tooltip="what is cybertechnology"/>
              </a:rPr>
              <a:t>What Is </a:t>
            </a:r>
            <a:r>
              <a:rPr lang="en-US" sz="1200" b="1" i="0" u="none" strike="noStrike" kern="1200" dirty="0" err="1">
                <a:solidFill>
                  <a:schemeClr val="tx1"/>
                </a:solidFill>
                <a:effectLst/>
                <a:latin typeface="+mn-lt"/>
                <a:ea typeface="+mn-ea"/>
                <a:cs typeface="+mn-cs"/>
                <a:hlinkClick r:id="rId6" tooltip="what is cybertechnology"/>
              </a:rPr>
              <a:t>Cybertechnology</a:t>
            </a:r>
            <a:r>
              <a:rPr lang="en-US" sz="1200" b="1" i="0" u="none" strike="noStrike" kern="1200" dirty="0">
                <a:solidFill>
                  <a:schemeClr val="tx1"/>
                </a:solidFill>
                <a:effectLst/>
                <a:latin typeface="+mn-lt"/>
                <a:ea typeface="+mn-ea"/>
                <a:cs typeface="+mn-cs"/>
                <a:hlinkClick r:id="rId6" tooltip="what is cybertechnology"/>
              </a:rPr>
              <a:t>?</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Cybertechnology</a:t>
            </a:r>
            <a:r>
              <a:rPr lang="en-US" sz="1200" b="0" i="0" kern="1200" dirty="0">
                <a:solidFill>
                  <a:schemeClr val="tx1"/>
                </a:solidFill>
                <a:effectLst/>
                <a:latin typeface="+mn-lt"/>
                <a:ea typeface="+mn-ea"/>
                <a:cs typeface="+mn-cs"/>
              </a:rPr>
              <a:t> refers to a wide range of computing and communications devices – from standalone computers, to "connected" or networked computing and communications technologies, to the Internet itself. • </a:t>
            </a:r>
            <a:r>
              <a:rPr lang="en-US" sz="1200" b="0" i="0" kern="1200" dirty="0" err="1">
                <a:solidFill>
                  <a:schemeClr val="tx1"/>
                </a:solidFill>
                <a:effectLst/>
                <a:latin typeface="+mn-lt"/>
                <a:ea typeface="+mn-ea"/>
                <a:cs typeface="+mn-cs"/>
              </a:rPr>
              <a:t>Cybertechnologies</a:t>
            </a:r>
            <a:r>
              <a:rPr lang="en-US" sz="1200" b="0" i="0" kern="1200" dirty="0">
                <a:solidFill>
                  <a:schemeClr val="tx1"/>
                </a:solidFill>
                <a:effectLst/>
                <a:latin typeface="+mn-lt"/>
                <a:ea typeface="+mn-ea"/>
                <a:cs typeface="+mn-cs"/>
              </a:rPr>
              <a:t> include: • hand-held devices (such as personal digital assistants); • personal computers (desktops and laptops); • large mainframe computers.</a:t>
            </a:r>
          </a:p>
          <a:p>
            <a:r>
              <a:rPr lang="en-US" sz="1200" b="1" i="0" u="none" strike="noStrike" kern="1200" dirty="0" err="1">
                <a:solidFill>
                  <a:schemeClr val="tx1"/>
                </a:solidFill>
                <a:effectLst/>
                <a:latin typeface="+mn-lt"/>
                <a:ea typeface="+mn-ea"/>
                <a:cs typeface="+mn-cs"/>
                <a:hlinkClick r:id="rId7" tooltip="cybertechnology continued"/>
              </a:rPr>
              <a:t>Cybertechnology</a:t>
            </a:r>
            <a:r>
              <a:rPr lang="en-US" sz="1200" b="1" i="0" u="none" strike="noStrike" kern="1200" dirty="0">
                <a:solidFill>
                  <a:schemeClr val="tx1"/>
                </a:solidFill>
                <a:effectLst/>
                <a:latin typeface="+mn-lt"/>
                <a:ea typeface="+mn-ea"/>
                <a:cs typeface="+mn-cs"/>
                <a:hlinkClick r:id="rId7" tooltip="cybertechnology continued"/>
              </a:rPr>
              <a:t> (Continued)</a:t>
            </a:r>
            <a:r>
              <a:rPr lang="en-US" sz="1200" b="0" i="0" kern="1200" dirty="0">
                <a:solidFill>
                  <a:schemeClr val="tx1"/>
                </a:solidFill>
                <a:effectLst/>
                <a:latin typeface="+mn-lt"/>
                <a:ea typeface="+mn-ea"/>
                <a:cs typeface="+mn-cs"/>
              </a:rPr>
              <a:t> • Networked devices can be connected directly to the Internet. • They also can be connected to other devices through one or more privately owned computer networks. • Privately owned networks include both: • Local Area Networks(LANs), • Wide Area Networks(WANs).</a:t>
            </a:r>
          </a:p>
          <a:p>
            <a:r>
              <a:rPr lang="en-US" sz="1200" b="1" i="0" u="none" strike="noStrike" kern="1200" dirty="0">
                <a:solidFill>
                  <a:schemeClr val="tx1"/>
                </a:solidFill>
                <a:effectLst/>
                <a:latin typeface="+mn-lt"/>
                <a:ea typeface="+mn-ea"/>
                <a:cs typeface="+mn-cs"/>
                <a:hlinkClick r:id="rId8" tooltip="why the term c yberethics"/>
              </a:rPr>
              <a:t>Why the term </a:t>
            </a:r>
            <a:r>
              <a:rPr lang="en-US" sz="1200" b="1" i="0" u="none" strike="noStrike" kern="1200" dirty="0" err="1">
                <a:solidFill>
                  <a:schemeClr val="tx1"/>
                </a:solidFill>
                <a:effectLst/>
                <a:latin typeface="+mn-lt"/>
                <a:ea typeface="+mn-ea"/>
                <a:cs typeface="+mn-cs"/>
                <a:hlinkClick r:id="rId8" tooltip="why the term c yberethics"/>
              </a:rPr>
              <a:t>cyberethics</a:t>
            </a:r>
            <a:r>
              <a:rPr lang="en-US" sz="1200" b="1" i="0" u="none" strike="noStrike" kern="1200" dirty="0">
                <a:solidFill>
                  <a:schemeClr val="tx1"/>
                </a:solidFill>
                <a:effectLst/>
                <a:latin typeface="+mn-lt"/>
                <a:ea typeface="+mn-ea"/>
                <a:cs typeface="+mn-cs"/>
                <a:hlinkClick r:id="rId8" tooltip="why the term c yberethics"/>
              </a:rPr>
              <a:t>?</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Cyberethics</a:t>
            </a:r>
            <a:r>
              <a:rPr lang="en-US" sz="1200" b="0" i="0" kern="1200" dirty="0">
                <a:solidFill>
                  <a:schemeClr val="tx1"/>
                </a:solidFill>
                <a:effectLst/>
                <a:latin typeface="+mn-lt"/>
                <a:ea typeface="+mn-ea"/>
                <a:cs typeface="+mn-cs"/>
              </a:rPr>
              <a:t> is a more accurate label than computer ethics, which can suggest the study of ethical issues limited either to: • computing machines, • computing professionals. • </a:t>
            </a:r>
            <a:r>
              <a:rPr lang="en-US" sz="1200" b="0" i="0" kern="1200" dirty="0" err="1">
                <a:solidFill>
                  <a:schemeClr val="tx1"/>
                </a:solidFill>
                <a:effectLst/>
                <a:latin typeface="+mn-lt"/>
                <a:ea typeface="+mn-ea"/>
                <a:cs typeface="+mn-cs"/>
              </a:rPr>
              <a:t>Cyberethics</a:t>
            </a:r>
            <a:r>
              <a:rPr lang="en-US" sz="1200" b="0" i="0" kern="1200" dirty="0">
                <a:solidFill>
                  <a:schemeClr val="tx1"/>
                </a:solidFill>
                <a:effectLst/>
                <a:latin typeface="+mn-lt"/>
                <a:ea typeface="+mn-ea"/>
                <a:cs typeface="+mn-cs"/>
              </a:rPr>
              <a:t> is also more accurate than Internet ethics, which is limited only to ethical issues affecting computer networks.</a:t>
            </a:r>
          </a:p>
          <a:p>
            <a:r>
              <a:rPr lang="en-US" sz="1200" b="1" i="0" u="none" strike="noStrike" kern="1200" dirty="0">
                <a:solidFill>
                  <a:schemeClr val="tx1"/>
                </a:solidFill>
                <a:effectLst/>
                <a:latin typeface="+mn-lt"/>
                <a:ea typeface="+mn-ea"/>
                <a:cs typeface="+mn-cs"/>
                <a:hlinkClick r:id="rId9" tooltip="the evolution of cybertechnology and cyberethics four phases"/>
              </a:rPr>
              <a:t>The Evolution of </a:t>
            </a:r>
            <a:r>
              <a:rPr lang="en-US" sz="1200" b="1" i="0" u="none" strike="noStrike" kern="1200" dirty="0" err="1">
                <a:solidFill>
                  <a:schemeClr val="tx1"/>
                </a:solidFill>
                <a:effectLst/>
                <a:latin typeface="+mn-lt"/>
                <a:ea typeface="+mn-ea"/>
                <a:cs typeface="+mn-cs"/>
                <a:hlinkClick r:id="rId9" tooltip="the evolution of cybertechnology and cyberethics four phases"/>
              </a:rPr>
              <a:t>Cybertechnology</a:t>
            </a:r>
            <a:r>
              <a:rPr lang="en-US" sz="1200" b="1" i="0" u="none" strike="noStrike" kern="1200" dirty="0">
                <a:solidFill>
                  <a:schemeClr val="tx1"/>
                </a:solidFill>
                <a:effectLst/>
                <a:latin typeface="+mn-lt"/>
                <a:ea typeface="+mn-ea"/>
                <a:cs typeface="+mn-cs"/>
                <a:hlinkClick r:id="rId9" tooltip="the evolution of cybertechnology and cyberethics four phases"/>
              </a:rPr>
              <a:t> and </a:t>
            </a:r>
            <a:r>
              <a:rPr lang="en-US" sz="1200" b="1" i="0" u="none" strike="noStrike" kern="1200" dirty="0" err="1">
                <a:solidFill>
                  <a:schemeClr val="tx1"/>
                </a:solidFill>
                <a:effectLst/>
                <a:latin typeface="+mn-lt"/>
                <a:ea typeface="+mn-ea"/>
                <a:cs typeface="+mn-cs"/>
                <a:hlinkClick r:id="rId9" tooltip="the evolution of cybertechnology and cyberethics four phases"/>
              </a:rPr>
              <a:t>Cyberethics</a:t>
            </a:r>
            <a:r>
              <a:rPr lang="en-US" sz="1200" b="1" i="0" u="none" strike="noStrike" kern="1200" dirty="0">
                <a:solidFill>
                  <a:schemeClr val="tx1"/>
                </a:solidFill>
                <a:effectLst/>
                <a:latin typeface="+mn-lt"/>
                <a:ea typeface="+mn-ea"/>
                <a:cs typeface="+mn-cs"/>
                <a:hlinkClick r:id="rId9" tooltip="the evolution of cybertechnology and cyberethics four phases"/>
              </a:rPr>
              <a:t>: Four</a:t>
            </a:r>
            <a:r>
              <a:rPr lang="en-US" sz="1200" b="0" i="0" kern="1200" dirty="0">
                <a:solidFill>
                  <a:schemeClr val="tx1"/>
                </a:solidFill>
                <a:effectLst/>
                <a:latin typeface="+mn-lt"/>
                <a:ea typeface="+mn-ea"/>
                <a:cs typeface="+mn-cs"/>
              </a:rPr>
              <a:t> Phases • Computer technology emerged in the late 1940s, when some analysts confidently predicted that no more than six computers would ever need to be built. • The first phase of computing technology (1950s and 1960s) consisted mainly of huge mainframe computers that were unconnected (i.e., stand-alone machines). • One ethical/social question that arose during Phase 1 dealt with the impact of computing machines as “giant brains” and what that meant for being human. • Another question raised during this phase concerned privacy threats and the fear of Big Brother.</a:t>
            </a:r>
          </a:p>
          <a:p>
            <a:endParaRPr lang="en-US" dirty="0"/>
          </a:p>
        </p:txBody>
      </p:sp>
      <p:sp>
        <p:nvSpPr>
          <p:cNvPr id="4" name="Slide Number Placeholder 3"/>
          <p:cNvSpPr>
            <a:spLocks noGrp="1"/>
          </p:cNvSpPr>
          <p:nvPr>
            <p:ph type="sldNum" sz="quarter" idx="10"/>
          </p:nvPr>
        </p:nvSpPr>
        <p:spPr/>
        <p:txBody>
          <a:bodyPr/>
          <a:lstStyle/>
          <a:p>
            <a:fld id="{F625E470-9510-4562-8B92-7377457AF441}" type="slidenum">
              <a:rPr lang="en-US" smtClean="0"/>
              <a:t>17</a:t>
            </a:fld>
            <a:endParaRPr lang="en-US"/>
          </a:p>
        </p:txBody>
      </p:sp>
    </p:spTree>
    <p:extLst>
      <p:ext uri="{BB962C8B-B14F-4D97-AF65-F5344CB8AC3E}">
        <p14:creationId xmlns:p14="http://schemas.microsoft.com/office/powerpoint/2010/main" val="12111328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24</a:t>
            </a:fld>
            <a:endParaRPr lang="x-none"/>
          </a:p>
        </p:txBody>
      </p:sp>
    </p:spTree>
    <p:extLst>
      <p:ext uri="{BB962C8B-B14F-4D97-AF65-F5344CB8AC3E}">
        <p14:creationId xmlns:p14="http://schemas.microsoft.com/office/powerpoint/2010/main" val="7653247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7ED264D-F1CD-4A0E-86DE-829D531D8CC1}" type="datetimeFigureOut">
              <a:rPr lang="en-US" smtClean="0"/>
              <a:t>10/19/2022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145237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ED264D-F1CD-4A0E-86DE-829D531D8CC1}" type="datetimeFigureOut">
              <a:rPr lang="en-US" smtClean="0"/>
              <a:t>10/19/2022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2195129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ED264D-F1CD-4A0E-86DE-829D531D8CC1}" type="datetimeFigureOut">
              <a:rPr lang="en-US" smtClean="0"/>
              <a:t>10/19/2022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1730313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7ED264D-F1CD-4A0E-86DE-829D531D8CC1}" type="datetimeFigureOut">
              <a:rPr lang="en-US" smtClean="0"/>
              <a:t>10/19/2022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84983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7ED264D-F1CD-4A0E-86DE-829D531D8CC1}" type="datetimeFigureOut">
              <a:rPr lang="en-US" smtClean="0"/>
              <a:t>10/19/2022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945637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7ED264D-F1CD-4A0E-86DE-829D531D8CC1}" type="datetimeFigureOut">
              <a:rPr lang="en-US" smtClean="0"/>
              <a:t>10/19/2022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1685607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ED264D-F1CD-4A0E-86DE-829D531D8CC1}" type="datetimeFigureOut">
              <a:rPr lang="en-US" smtClean="0"/>
              <a:t>10/19/2022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3444612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ED264D-F1CD-4A0E-86DE-829D531D8CC1}" type="datetimeFigureOut">
              <a:rPr lang="en-US" smtClean="0"/>
              <a:t>10/19/2022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90698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ED264D-F1CD-4A0E-86DE-829D531D8CC1}" type="datetimeFigureOut">
              <a:rPr lang="en-US" smtClean="0"/>
              <a:t>10/19/2022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920315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ED264D-F1CD-4A0E-86DE-829D531D8CC1}" type="datetimeFigureOut">
              <a:rPr lang="en-US" smtClean="0"/>
              <a:t>10/19/2022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11558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ED264D-F1CD-4A0E-86DE-829D531D8CC1}" type="datetimeFigureOut">
              <a:rPr lang="en-US" smtClean="0"/>
              <a:t>10/19/2022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300288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ED264D-F1CD-4A0E-86DE-829D531D8CC1}" type="datetimeFigureOut">
              <a:rPr lang="en-US" smtClean="0"/>
              <a:t>10/19/2022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F331B4-1EE6-4448-AE73-C8BAED0E2A35}" type="slidenum">
              <a:rPr lang="en-US" smtClean="0"/>
              <a:t>‹#›</a:t>
            </a:fld>
            <a:endParaRPr lang="en-US"/>
          </a:p>
        </p:txBody>
      </p:sp>
    </p:spTree>
    <p:extLst>
      <p:ext uri="{BB962C8B-B14F-4D97-AF65-F5344CB8AC3E}">
        <p14:creationId xmlns:p14="http://schemas.microsoft.com/office/powerpoint/2010/main" val="18084766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cs.uct.ac.za/mit_notes/ethics/pdfs/chp01.pdf"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www.ssplawgroup.com/the-relationship-between-law-and-ethics"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Professional Practices</a:t>
            </a:r>
          </a:p>
        </p:txBody>
      </p:sp>
      <p:sp>
        <p:nvSpPr>
          <p:cNvPr id="3" name="Subtitle 2"/>
          <p:cNvSpPr>
            <a:spLocks noGrp="1"/>
          </p:cNvSpPr>
          <p:nvPr>
            <p:ph type="subTitle" idx="1"/>
          </p:nvPr>
        </p:nvSpPr>
        <p:spPr/>
        <p:txBody>
          <a:bodyPr/>
          <a:lstStyle/>
          <a:p>
            <a:r>
              <a:rPr lang="en-US" sz="5400" dirty="0"/>
              <a:t>Ethics</a:t>
            </a:r>
            <a:endParaRPr lang="en-US" dirty="0"/>
          </a:p>
        </p:txBody>
      </p:sp>
      <p:sp>
        <p:nvSpPr>
          <p:cNvPr id="4" name="Rectangle 3"/>
          <p:cNvSpPr/>
          <p:nvPr/>
        </p:nvSpPr>
        <p:spPr>
          <a:xfrm>
            <a:off x="4726488" y="5257800"/>
            <a:ext cx="6096000" cy="1477328"/>
          </a:xfrm>
          <a:prstGeom prst="rect">
            <a:avLst/>
          </a:prstGeom>
        </p:spPr>
        <p:txBody>
          <a:bodyPr>
            <a:spAutoFit/>
          </a:bodyPr>
          <a:lstStyle/>
          <a:p>
            <a:pPr algn="just"/>
            <a:r>
              <a:rPr lang="en-US" i="1" dirty="0"/>
              <a:t>It is not enough that you should understand about applied science in order that your work may increase man’s blessings. Concern for man himself &amp; his fate must always form the chief interest of all technical endeavors. </a:t>
            </a:r>
          </a:p>
          <a:p>
            <a:pPr algn="r"/>
            <a:r>
              <a:rPr lang="en-US" b="1" i="1" dirty="0"/>
              <a:t>(Albert Einstein)</a:t>
            </a:r>
          </a:p>
        </p:txBody>
      </p:sp>
    </p:spTree>
    <p:extLst>
      <p:ext uri="{BB962C8B-B14F-4D97-AF65-F5344CB8AC3E}">
        <p14:creationId xmlns:p14="http://schemas.microsoft.com/office/powerpoint/2010/main" val="37348702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bwMode="auto">
          <a:xfrm>
            <a:off x="932667" y="2244029"/>
            <a:ext cx="10515600" cy="6995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dirty="0"/>
              <a:t>Week 3 </a:t>
            </a:r>
            <a:r>
              <a:rPr lang="en-US" dirty="0" err="1"/>
              <a:t>Lec</a:t>
            </a:r>
            <a:r>
              <a:rPr lang="en-US" dirty="0"/>
              <a:t> 5</a:t>
            </a:r>
          </a:p>
        </p:txBody>
      </p:sp>
      <p:sp>
        <p:nvSpPr>
          <p:cNvPr id="3" name="Content Placeholder 2"/>
          <p:cNvSpPr>
            <a:spLocks noGrp="1"/>
          </p:cNvSpPr>
          <p:nvPr>
            <p:ph idx="1"/>
          </p:nvPr>
        </p:nvSpPr>
        <p:spPr>
          <a:xfrm>
            <a:off x="3374721" y="3238718"/>
            <a:ext cx="6946726" cy="1658959"/>
          </a:xfrm>
        </p:spPr>
        <p:txBody>
          <a:bodyPr>
            <a:normAutofit fontScale="92500" lnSpcReduction="20000"/>
          </a:bodyPr>
          <a:lstStyle/>
          <a:p>
            <a:pPr>
              <a:defRPr/>
            </a:pPr>
            <a:r>
              <a:rPr lang="en-US" dirty="0"/>
              <a:t>Introduction and History of Ethics </a:t>
            </a:r>
          </a:p>
          <a:p>
            <a:pPr>
              <a:defRPr/>
            </a:pPr>
            <a:r>
              <a:rPr lang="en-US" dirty="0"/>
              <a:t>Types of Ethics</a:t>
            </a:r>
            <a:r>
              <a:rPr lang="x-none" dirty="0"/>
              <a:t> </a:t>
            </a:r>
          </a:p>
          <a:p>
            <a:pPr>
              <a:defRPr/>
            </a:pPr>
            <a:r>
              <a:rPr lang="en-US" dirty="0"/>
              <a:t>Relationship between Law and Ethics</a:t>
            </a:r>
          </a:p>
          <a:p>
            <a:pPr>
              <a:defRPr/>
            </a:pPr>
            <a:r>
              <a:rPr lang="en-US" dirty="0"/>
              <a:t>Computer Ethics</a:t>
            </a:r>
            <a:r>
              <a:rPr lang="x-none" dirty="0"/>
              <a:t> </a:t>
            </a:r>
            <a:endParaRPr lang="en-US" dirty="0"/>
          </a:p>
          <a:p>
            <a:pPr>
              <a:defRPr/>
            </a:pPr>
            <a:endParaRPr lang="en-US" dirty="0"/>
          </a:p>
        </p:txBody>
      </p:sp>
    </p:spTree>
    <p:extLst>
      <p:ext uri="{BB962C8B-B14F-4D97-AF65-F5344CB8AC3E}">
        <p14:creationId xmlns:p14="http://schemas.microsoft.com/office/powerpoint/2010/main" val="1382005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Ethics?</a:t>
            </a:r>
          </a:p>
        </p:txBody>
      </p:sp>
      <p:sp>
        <p:nvSpPr>
          <p:cNvPr id="3" name="Content Placeholder 2"/>
          <p:cNvSpPr>
            <a:spLocks noGrp="1"/>
          </p:cNvSpPr>
          <p:nvPr>
            <p:ph idx="1"/>
          </p:nvPr>
        </p:nvSpPr>
        <p:spPr/>
        <p:txBody>
          <a:bodyPr>
            <a:normAutofit fontScale="92500" lnSpcReduction="20000"/>
          </a:bodyPr>
          <a:lstStyle/>
          <a:p>
            <a:r>
              <a:rPr lang="en-US" dirty="0"/>
              <a:t>Derived from a Greek word </a:t>
            </a:r>
            <a:r>
              <a:rPr lang="en-US" b="1" i="1" dirty="0" err="1"/>
              <a:t>eché</a:t>
            </a:r>
            <a:r>
              <a:rPr lang="en-US" b="1" i="1" dirty="0"/>
              <a:t>, </a:t>
            </a:r>
            <a:r>
              <a:rPr lang="en-US" dirty="0"/>
              <a:t>which means </a:t>
            </a:r>
            <a:r>
              <a:rPr lang="en-US" dirty="0">
                <a:solidFill>
                  <a:srgbClr val="00B0F0"/>
                </a:solidFill>
              </a:rPr>
              <a:t>character</a:t>
            </a:r>
          </a:p>
          <a:p>
            <a:r>
              <a:rPr lang="en-US" dirty="0"/>
              <a:t>It may be defined as the set of moral principles that distinguishes Between right and wrong. </a:t>
            </a:r>
          </a:p>
          <a:p>
            <a:endParaRPr lang="en-US" dirty="0"/>
          </a:p>
          <a:p>
            <a:r>
              <a:rPr lang="en-US" dirty="0"/>
              <a:t>It has a twofold objectives: </a:t>
            </a:r>
          </a:p>
          <a:p>
            <a:pPr lvl="1"/>
            <a:r>
              <a:rPr lang="en-US" dirty="0"/>
              <a:t>it evaluates human practices by calling upon moral standards; also </a:t>
            </a:r>
          </a:p>
          <a:p>
            <a:pPr lvl="1"/>
            <a:r>
              <a:rPr lang="en-US" dirty="0"/>
              <a:t>it may give prescriptive advice on how to act morally in a given situation. </a:t>
            </a:r>
          </a:p>
          <a:p>
            <a:pPr lvl="1"/>
            <a:endParaRPr lang="en-US" dirty="0"/>
          </a:p>
          <a:p>
            <a:r>
              <a:rPr lang="en-US" dirty="0"/>
              <a:t>Ethics, therefore, aims to study;</a:t>
            </a:r>
          </a:p>
          <a:p>
            <a:pPr lvl="1"/>
            <a:r>
              <a:rPr lang="en-US" dirty="0"/>
              <a:t>both moral &amp; immoral behavior </a:t>
            </a:r>
          </a:p>
          <a:p>
            <a:pPr lvl="1"/>
            <a:r>
              <a:rPr lang="en-US" dirty="0"/>
              <a:t>in order to make well-founded judgments and to arrive at adequate recommendations</a:t>
            </a:r>
          </a:p>
        </p:txBody>
      </p:sp>
    </p:spTree>
    <p:extLst>
      <p:ext uri="{BB962C8B-B14F-4D97-AF65-F5344CB8AC3E}">
        <p14:creationId xmlns:p14="http://schemas.microsoft.com/office/powerpoint/2010/main" val="13251752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Importance of Ethics</a:t>
            </a:r>
          </a:p>
        </p:txBody>
      </p:sp>
      <p:sp>
        <p:nvSpPr>
          <p:cNvPr id="3" name="Content Placeholder 2"/>
          <p:cNvSpPr>
            <a:spLocks noGrp="1"/>
          </p:cNvSpPr>
          <p:nvPr>
            <p:ph idx="1"/>
          </p:nvPr>
        </p:nvSpPr>
        <p:spPr/>
        <p:txBody>
          <a:bodyPr>
            <a:normAutofit/>
          </a:bodyPr>
          <a:lstStyle/>
          <a:p>
            <a:r>
              <a:rPr lang="en-US" dirty="0"/>
              <a:t>Goodness without knowledge is weak. </a:t>
            </a:r>
          </a:p>
          <a:p>
            <a:r>
              <a:rPr lang="en-US" dirty="0"/>
              <a:t>Knowledge without goodness is dangerous.</a:t>
            </a:r>
          </a:p>
          <a:p>
            <a:r>
              <a:rPr lang="en-US" dirty="0"/>
              <a:t>Person A finds a briefcase full of important documents and money, he throws the paper and keeps the money.</a:t>
            </a:r>
          </a:p>
          <a:p>
            <a:r>
              <a:rPr lang="en-US" dirty="0"/>
              <a:t>The action differs from society to society  </a:t>
            </a:r>
          </a:p>
          <a:p>
            <a:r>
              <a:rPr lang="en-US" dirty="0"/>
              <a:t>Most people feel no regret when they are apprehended because their ethical standards differ from those of society as whole </a:t>
            </a:r>
          </a:p>
          <a:p>
            <a:pPr lvl="1"/>
            <a:r>
              <a:rPr lang="en-US" i="1" dirty="0"/>
              <a:t>If a criminal were truly aware of the mental and spiritual consequences of his actions, he would neither commit nor even consider committing them. </a:t>
            </a:r>
          </a:p>
        </p:txBody>
      </p:sp>
    </p:spTree>
    <p:extLst>
      <p:ext uri="{BB962C8B-B14F-4D97-AF65-F5344CB8AC3E}">
        <p14:creationId xmlns:p14="http://schemas.microsoft.com/office/powerpoint/2010/main" val="3698907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Ethics</a:t>
            </a:r>
            <a:r>
              <a:rPr lang="x-none" dirty="0"/>
              <a:t> </a:t>
            </a:r>
            <a:endParaRPr lang="en-US" dirty="0"/>
          </a:p>
        </p:txBody>
      </p:sp>
      <p:sp>
        <p:nvSpPr>
          <p:cNvPr id="3" name="Content Placeholder 2"/>
          <p:cNvSpPr>
            <a:spLocks noGrp="1"/>
          </p:cNvSpPr>
          <p:nvPr>
            <p:ph idx="1"/>
          </p:nvPr>
        </p:nvSpPr>
        <p:spPr/>
        <p:txBody>
          <a:bodyPr/>
          <a:lstStyle/>
          <a:p>
            <a:r>
              <a:rPr lang="en-US" dirty="0"/>
              <a:t>Personal Ethics</a:t>
            </a:r>
          </a:p>
          <a:p>
            <a:r>
              <a:rPr lang="en-US" dirty="0"/>
              <a:t>Social Ethics</a:t>
            </a:r>
          </a:p>
          <a:p>
            <a:r>
              <a:rPr lang="en-US" dirty="0"/>
              <a:t>Business Ethics</a:t>
            </a:r>
          </a:p>
          <a:p>
            <a:r>
              <a:rPr lang="en-US" dirty="0"/>
              <a:t>Religious Ethics</a:t>
            </a:r>
          </a:p>
          <a:p>
            <a:r>
              <a:rPr lang="en-US" dirty="0"/>
              <a:t>Professional Ethics</a:t>
            </a:r>
          </a:p>
          <a:p>
            <a:r>
              <a:rPr lang="en-US" dirty="0"/>
              <a:t>Computing Ethics</a:t>
            </a:r>
          </a:p>
          <a:p>
            <a:pPr marL="0" indent="0" algn="just">
              <a:buNone/>
              <a:defRPr/>
            </a:pPr>
            <a:endParaRPr lang="en-US" dirty="0"/>
          </a:p>
          <a:p>
            <a:endParaRPr lang="en-US" dirty="0"/>
          </a:p>
        </p:txBody>
      </p:sp>
    </p:spTree>
    <p:extLst>
      <p:ext uri="{BB962C8B-B14F-4D97-AF65-F5344CB8AC3E}">
        <p14:creationId xmlns:p14="http://schemas.microsoft.com/office/powerpoint/2010/main" val="2483042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Personal Ethics</a:t>
            </a:r>
          </a:p>
        </p:txBody>
      </p:sp>
      <p:sp>
        <p:nvSpPr>
          <p:cNvPr id="3" name="Content Placeholder 2"/>
          <p:cNvSpPr>
            <a:spLocks noGrp="1"/>
          </p:cNvSpPr>
          <p:nvPr>
            <p:ph idx="1"/>
          </p:nvPr>
        </p:nvSpPr>
        <p:spPr/>
        <p:txBody>
          <a:bodyPr/>
          <a:lstStyle/>
          <a:p>
            <a:r>
              <a:rPr lang="en-US" dirty="0"/>
              <a:t>Standards that has been chosen in some way as a moral guide in the </a:t>
            </a:r>
            <a:r>
              <a:rPr lang="en-US" b="1" dirty="0"/>
              <a:t>particular life style</a:t>
            </a:r>
            <a:r>
              <a:rPr lang="en-US" dirty="0"/>
              <a:t>.</a:t>
            </a:r>
          </a:p>
          <a:p>
            <a:pPr marL="0" indent="0" algn="just">
              <a:buNone/>
              <a:defRPr/>
            </a:pPr>
            <a:endParaRPr lang="en-US" dirty="0"/>
          </a:p>
          <a:p>
            <a:endParaRPr lang="en-US" dirty="0"/>
          </a:p>
        </p:txBody>
      </p:sp>
    </p:spTree>
    <p:extLst>
      <p:ext uri="{BB962C8B-B14F-4D97-AF65-F5344CB8AC3E}">
        <p14:creationId xmlns:p14="http://schemas.microsoft.com/office/powerpoint/2010/main" val="4089316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Social Ethics</a:t>
            </a:r>
          </a:p>
        </p:txBody>
      </p:sp>
      <p:sp>
        <p:nvSpPr>
          <p:cNvPr id="3" name="Content Placeholder 2"/>
          <p:cNvSpPr>
            <a:spLocks noGrp="1"/>
          </p:cNvSpPr>
          <p:nvPr>
            <p:ph idx="1"/>
          </p:nvPr>
        </p:nvSpPr>
        <p:spPr/>
        <p:txBody>
          <a:bodyPr/>
          <a:lstStyle/>
          <a:p>
            <a:pPr algn="just"/>
            <a:r>
              <a:rPr lang="en-US" dirty="0"/>
              <a:t>Standards that govern how members of a society are to deal with each other on issues such as fairness, justice, poverty and the rights of the individual.</a:t>
            </a:r>
          </a:p>
          <a:p>
            <a:pPr marL="82296" indent="0" algn="just">
              <a:buNone/>
            </a:pPr>
            <a:r>
              <a:rPr lang="en-US" b="1" dirty="0"/>
              <a:t>	OR</a:t>
            </a:r>
          </a:p>
          <a:p>
            <a:pPr algn="just"/>
            <a:r>
              <a:rPr lang="en-US" dirty="0"/>
              <a:t>The rightness of an action is based on the customs and norms of a particular society or community (e.g., the usual way things are done around here)</a:t>
            </a:r>
          </a:p>
          <a:p>
            <a:pPr marL="0" indent="0" algn="just">
              <a:buNone/>
              <a:defRPr/>
            </a:pPr>
            <a:endParaRPr lang="en-US" dirty="0"/>
          </a:p>
          <a:p>
            <a:endParaRPr lang="en-US" dirty="0"/>
          </a:p>
        </p:txBody>
      </p:sp>
    </p:spTree>
    <p:extLst>
      <p:ext uri="{BB962C8B-B14F-4D97-AF65-F5344CB8AC3E}">
        <p14:creationId xmlns:p14="http://schemas.microsoft.com/office/powerpoint/2010/main" val="36897363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Ethics</a:t>
            </a:r>
          </a:p>
        </p:txBody>
      </p:sp>
      <p:sp>
        <p:nvSpPr>
          <p:cNvPr id="3" name="Content Placeholder 2"/>
          <p:cNvSpPr>
            <a:spLocks noGrp="1"/>
          </p:cNvSpPr>
          <p:nvPr>
            <p:ph idx="1"/>
          </p:nvPr>
        </p:nvSpPr>
        <p:spPr/>
        <p:txBody>
          <a:bodyPr/>
          <a:lstStyle/>
          <a:p>
            <a:pPr algn="just"/>
            <a:r>
              <a:rPr lang="en-US" dirty="0"/>
              <a:t>Business ethics is the study of good and evil, right and wrong, and just and unjust actions in business.</a:t>
            </a:r>
          </a:p>
          <a:p>
            <a:pPr algn="just"/>
            <a:r>
              <a:rPr lang="en-US" dirty="0"/>
              <a:t>Although all managers face difficult ethical conflicts, </a:t>
            </a:r>
            <a:r>
              <a:rPr lang="en-US" b="1" dirty="0"/>
              <a:t>applying clear guidelines</a:t>
            </a:r>
            <a:r>
              <a:rPr lang="en-US" dirty="0"/>
              <a:t> resolves the vast majority of them.</a:t>
            </a:r>
          </a:p>
          <a:p>
            <a:pPr algn="just"/>
            <a:r>
              <a:rPr lang="en-US" dirty="0"/>
              <a:t>Ethical traditions that apply to business support truth telling, honesty, protection of life, respect for rights, fairness, and obedience to law.</a:t>
            </a:r>
          </a:p>
          <a:p>
            <a:pPr algn="just"/>
            <a:r>
              <a:rPr lang="en-US" dirty="0"/>
              <a:t>Eliminating unethical behavior may be </a:t>
            </a:r>
            <a:r>
              <a:rPr lang="en-US" b="1" dirty="0"/>
              <a:t>difficult;</a:t>
            </a:r>
            <a:r>
              <a:rPr lang="en-US" dirty="0"/>
              <a:t> but knowing the rightness or wrongness of actions is usually </a:t>
            </a:r>
            <a:r>
              <a:rPr lang="en-US" b="1" dirty="0"/>
              <a:t>easy</a:t>
            </a:r>
            <a:r>
              <a:rPr lang="en-US" dirty="0"/>
              <a:t>.</a:t>
            </a:r>
          </a:p>
          <a:p>
            <a:endParaRPr lang="en-US" dirty="0"/>
          </a:p>
        </p:txBody>
      </p:sp>
    </p:spTree>
    <p:extLst>
      <p:ext uri="{BB962C8B-B14F-4D97-AF65-F5344CB8AC3E}">
        <p14:creationId xmlns:p14="http://schemas.microsoft.com/office/powerpoint/2010/main" val="26543297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Religious Ethics</a:t>
            </a:r>
          </a:p>
        </p:txBody>
      </p:sp>
      <p:sp>
        <p:nvSpPr>
          <p:cNvPr id="3" name="Content Placeholder 2"/>
          <p:cNvSpPr>
            <a:spLocks noGrp="1"/>
          </p:cNvSpPr>
          <p:nvPr>
            <p:ph idx="1"/>
          </p:nvPr>
        </p:nvSpPr>
        <p:spPr/>
        <p:txBody>
          <a:bodyPr>
            <a:normAutofit lnSpcReduction="10000"/>
          </a:bodyPr>
          <a:lstStyle/>
          <a:p>
            <a:pPr algn="just"/>
            <a:r>
              <a:rPr lang="en-US" dirty="0"/>
              <a:t>Ethics, which is a major branch of philosophy, includes </a:t>
            </a:r>
            <a:r>
              <a:rPr lang="en-US" b="1" dirty="0"/>
              <a:t>right conduct and good life</a:t>
            </a:r>
            <a:r>
              <a:rPr lang="en-US" dirty="0"/>
              <a:t>. It is significantly broader than the common conception of </a:t>
            </a:r>
            <a:r>
              <a:rPr lang="en-US" b="1" dirty="0"/>
              <a:t>analyzing right and wrong</a:t>
            </a:r>
            <a:r>
              <a:rPr lang="en-US" dirty="0"/>
              <a:t>. A central aspect of ethics is </a:t>
            </a:r>
            <a:r>
              <a:rPr lang="en-US" b="1" dirty="0"/>
              <a:t>"the good life", </a:t>
            </a:r>
            <a:r>
              <a:rPr lang="en-US" dirty="0"/>
              <a:t>the life worth living or life that is simply satisfying, which is held by many philosophers to be more important than traditional moral conduct.</a:t>
            </a:r>
          </a:p>
          <a:p>
            <a:pPr marL="0" indent="0">
              <a:buNone/>
            </a:pPr>
            <a:endParaRPr lang="en-US" dirty="0"/>
          </a:p>
          <a:p>
            <a:pPr algn="just"/>
            <a:r>
              <a:rPr lang="en-US" dirty="0"/>
              <a:t>Some assert that religion is necessary to live ethically. Blackburn states that, there are those who "would say that </a:t>
            </a:r>
            <a:r>
              <a:rPr lang="en-US" b="1" dirty="0"/>
              <a:t>we can only flourish under the umbrella of a strong social order</a:t>
            </a:r>
            <a:r>
              <a:rPr lang="en-US" dirty="0"/>
              <a:t>, covered by common devotion to a particular </a:t>
            </a:r>
            <a:r>
              <a:rPr lang="en-US" b="1" dirty="0"/>
              <a:t>religious tradition</a:t>
            </a:r>
            <a:r>
              <a:rPr lang="en-US" dirty="0"/>
              <a:t>”.</a:t>
            </a:r>
          </a:p>
        </p:txBody>
      </p:sp>
    </p:spTree>
    <p:extLst>
      <p:ext uri="{BB962C8B-B14F-4D97-AF65-F5344CB8AC3E}">
        <p14:creationId xmlns:p14="http://schemas.microsoft.com/office/powerpoint/2010/main" val="23082644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Ethics in Islam </a:t>
            </a:r>
          </a:p>
        </p:txBody>
      </p:sp>
      <p:sp>
        <p:nvSpPr>
          <p:cNvPr id="3" name="Content Placeholder 2"/>
          <p:cNvSpPr>
            <a:spLocks noGrp="1"/>
          </p:cNvSpPr>
          <p:nvPr>
            <p:ph idx="1"/>
          </p:nvPr>
        </p:nvSpPr>
        <p:spPr>
          <a:xfrm>
            <a:off x="838200" y="1825625"/>
            <a:ext cx="5675334" cy="4351338"/>
          </a:xfrm>
        </p:spPr>
        <p:txBody>
          <a:bodyPr/>
          <a:lstStyle/>
          <a:p>
            <a:r>
              <a:rPr lang="en-US" dirty="0"/>
              <a:t>Islam emphasizes on all aspects of ethics e.g. ethics in society, ethics in trading, banking</a:t>
            </a:r>
          </a:p>
          <a:p>
            <a:r>
              <a:rPr lang="en-US" dirty="0"/>
              <a:t>The ethical standards published for computing field also corresponds with Islamic ethics </a:t>
            </a:r>
          </a:p>
          <a:p>
            <a:endParaRPr lang="en-US"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6581" y="288669"/>
            <a:ext cx="4953000" cy="6311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838200" y="5807631"/>
            <a:ext cx="1749197" cy="369332"/>
          </a:xfrm>
          <a:prstGeom prst="rect">
            <a:avLst/>
          </a:prstGeom>
        </p:spPr>
        <p:txBody>
          <a:bodyPr wrap="none">
            <a:spAutoFit/>
          </a:bodyPr>
          <a:lstStyle/>
          <a:p>
            <a:r>
              <a:rPr lang="en-US" dirty="0"/>
              <a:t>[Hameed, 2009] </a:t>
            </a:r>
          </a:p>
        </p:txBody>
      </p:sp>
    </p:spTree>
    <p:extLst>
      <p:ext uri="{BB962C8B-B14F-4D97-AF65-F5344CB8AC3E}">
        <p14:creationId xmlns:p14="http://schemas.microsoft.com/office/powerpoint/2010/main" val="1378024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Professional Ethics</a:t>
            </a:r>
          </a:p>
        </p:txBody>
      </p:sp>
      <p:sp>
        <p:nvSpPr>
          <p:cNvPr id="3" name="Content Placeholder 2"/>
          <p:cNvSpPr>
            <a:spLocks noGrp="1"/>
          </p:cNvSpPr>
          <p:nvPr>
            <p:ph idx="1"/>
          </p:nvPr>
        </p:nvSpPr>
        <p:spPr/>
        <p:txBody>
          <a:bodyPr/>
          <a:lstStyle/>
          <a:p>
            <a:r>
              <a:rPr lang="en-US" dirty="0"/>
              <a:t>Professional Ethics: concerns one's conduct of behavior and practice when carrying out professional work, e.g., consulting, researching, teaching.</a:t>
            </a:r>
          </a:p>
          <a:p>
            <a:r>
              <a:rPr lang="en-US" dirty="0"/>
              <a:t>Publicly displayed ethical conduct of a profession, embedded in code of ethics.</a:t>
            </a:r>
          </a:p>
          <a:p>
            <a:r>
              <a:rPr lang="en-US" dirty="0"/>
              <a:t>The principles and standards that guide members of the profession in their interactions with internal &amp; external stakeholders.</a:t>
            </a:r>
          </a:p>
          <a:p>
            <a:endParaRPr lang="en-US" dirty="0"/>
          </a:p>
        </p:txBody>
      </p:sp>
    </p:spTree>
    <p:extLst>
      <p:ext uri="{BB962C8B-B14F-4D97-AF65-F5344CB8AC3E}">
        <p14:creationId xmlns:p14="http://schemas.microsoft.com/office/powerpoint/2010/main" val="37494578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professional ethics?</a:t>
            </a:r>
          </a:p>
        </p:txBody>
      </p:sp>
      <p:sp>
        <p:nvSpPr>
          <p:cNvPr id="3" name="Content Placeholder 2"/>
          <p:cNvSpPr>
            <a:spLocks noGrp="1"/>
          </p:cNvSpPr>
          <p:nvPr>
            <p:ph idx="1"/>
          </p:nvPr>
        </p:nvSpPr>
        <p:spPr/>
        <p:txBody>
          <a:bodyPr/>
          <a:lstStyle/>
          <a:p>
            <a:r>
              <a:rPr lang="en-US" dirty="0"/>
              <a:t>Awareness of professional ethics is gaining importance with time </a:t>
            </a:r>
          </a:p>
          <a:p>
            <a:r>
              <a:rPr lang="en-US" dirty="0"/>
              <a:t>decision making process in the workplace is a complex phenomena</a:t>
            </a:r>
          </a:p>
          <a:p>
            <a:r>
              <a:rPr lang="en-US" dirty="0"/>
              <a:t>the professional ethics provide a way of simplifying that decision-making process</a:t>
            </a:r>
          </a:p>
          <a:p>
            <a:endParaRPr lang="en-US" dirty="0"/>
          </a:p>
        </p:txBody>
      </p:sp>
    </p:spTree>
    <p:extLst>
      <p:ext uri="{BB962C8B-B14F-4D97-AF65-F5344CB8AC3E}">
        <p14:creationId xmlns:p14="http://schemas.microsoft.com/office/powerpoint/2010/main" val="28260575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Professional Ethics Scope</a:t>
            </a:r>
          </a:p>
        </p:txBody>
      </p:sp>
      <p:sp>
        <p:nvSpPr>
          <p:cNvPr id="3" name="Content Placeholder 2"/>
          <p:cNvSpPr>
            <a:spLocks noGrp="1"/>
          </p:cNvSpPr>
          <p:nvPr>
            <p:ph idx="1"/>
          </p:nvPr>
        </p:nvSpPr>
        <p:spPr/>
        <p:txBody>
          <a:bodyPr/>
          <a:lstStyle/>
          <a:p>
            <a:r>
              <a:rPr lang="en-US" dirty="0"/>
              <a:t>Professional Ethics must take into accounts:</a:t>
            </a:r>
          </a:p>
          <a:p>
            <a:pPr lvl="1"/>
            <a:r>
              <a:rPr lang="en-US" dirty="0"/>
              <a:t>Relations between professionals and clients</a:t>
            </a:r>
          </a:p>
          <a:p>
            <a:pPr lvl="1"/>
            <a:r>
              <a:rPr lang="en-US" dirty="0"/>
              <a:t>Relation between profession and society</a:t>
            </a:r>
          </a:p>
          <a:p>
            <a:pPr lvl="1"/>
            <a:r>
              <a:rPr lang="en-US" dirty="0"/>
              <a:t>Relations among professionals</a:t>
            </a:r>
          </a:p>
          <a:p>
            <a:pPr lvl="1"/>
            <a:r>
              <a:rPr lang="en-US" dirty="0"/>
              <a:t>Relations between employee and employer</a:t>
            </a:r>
          </a:p>
          <a:p>
            <a:pPr lvl="1"/>
            <a:r>
              <a:rPr lang="en-US" dirty="0"/>
              <a:t>Specialized technical details of the profession</a:t>
            </a:r>
          </a:p>
          <a:p>
            <a:pPr lvl="1"/>
            <a:r>
              <a:rPr lang="en-US" dirty="0"/>
              <a:t>A computing professional must understand;</a:t>
            </a:r>
          </a:p>
          <a:p>
            <a:pPr lvl="2"/>
            <a:r>
              <a:rPr lang="en-US" dirty="0"/>
              <a:t> Cultural, social, legal, and ethical issues in computing</a:t>
            </a:r>
          </a:p>
          <a:p>
            <a:pPr lvl="2"/>
            <a:r>
              <a:rPr lang="en-US" dirty="0"/>
              <a:t>Responsibility and possible consequences of failure</a:t>
            </a:r>
          </a:p>
          <a:p>
            <a:endParaRPr lang="en-US" dirty="0"/>
          </a:p>
        </p:txBody>
      </p:sp>
    </p:spTree>
    <p:extLst>
      <p:ext uri="{BB962C8B-B14F-4D97-AF65-F5344CB8AC3E}">
        <p14:creationId xmlns:p14="http://schemas.microsoft.com/office/powerpoint/2010/main" val="38286776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Professional Ethics Benefits</a:t>
            </a:r>
          </a:p>
        </p:txBody>
      </p:sp>
      <p:sp>
        <p:nvSpPr>
          <p:cNvPr id="3" name="Content Placeholder 2"/>
          <p:cNvSpPr>
            <a:spLocks noGrp="1"/>
          </p:cNvSpPr>
          <p:nvPr>
            <p:ph idx="1"/>
          </p:nvPr>
        </p:nvSpPr>
        <p:spPr>
          <a:xfrm>
            <a:off x="1010092" y="1825625"/>
            <a:ext cx="10343707" cy="4351338"/>
          </a:xfrm>
        </p:spPr>
        <p:txBody>
          <a:bodyPr>
            <a:normAutofit/>
          </a:bodyPr>
          <a:lstStyle/>
          <a:p>
            <a:pPr lvl="1"/>
            <a:r>
              <a:rPr lang="en-US" dirty="0"/>
              <a:t>Symbolize professionalism</a:t>
            </a:r>
          </a:p>
          <a:p>
            <a:pPr lvl="1"/>
            <a:r>
              <a:rPr lang="en-US" dirty="0"/>
              <a:t>Protect group interests</a:t>
            </a:r>
          </a:p>
          <a:p>
            <a:pPr lvl="1"/>
            <a:r>
              <a:rPr lang="en-US" dirty="0"/>
              <a:t>Specify membership protocol</a:t>
            </a:r>
          </a:p>
          <a:p>
            <a:pPr lvl="1"/>
            <a:r>
              <a:rPr lang="en-US" dirty="0"/>
              <a:t>Inspire good conduct</a:t>
            </a:r>
          </a:p>
          <a:p>
            <a:pPr lvl="1"/>
            <a:r>
              <a:rPr lang="en-US" dirty="0"/>
              <a:t>Educate and discipline members</a:t>
            </a:r>
          </a:p>
          <a:p>
            <a:pPr lvl="1"/>
            <a:r>
              <a:rPr lang="en-US" dirty="0"/>
              <a:t>Enumerate principles, express ideals</a:t>
            </a:r>
          </a:p>
          <a:p>
            <a:pPr lvl="1"/>
            <a:r>
              <a:rPr lang="en-US" dirty="0"/>
              <a:t>Put forth rules, offer guidelines</a:t>
            </a:r>
          </a:p>
        </p:txBody>
      </p:sp>
    </p:spTree>
    <p:extLst>
      <p:ext uri="{BB962C8B-B14F-4D97-AF65-F5344CB8AC3E}">
        <p14:creationId xmlns:p14="http://schemas.microsoft.com/office/powerpoint/2010/main" val="29924551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Problems with Professional Ethics</a:t>
            </a:r>
          </a:p>
        </p:txBody>
      </p:sp>
      <p:sp>
        <p:nvSpPr>
          <p:cNvPr id="3" name="Content Placeholder 2"/>
          <p:cNvSpPr>
            <a:spLocks noGrp="1"/>
          </p:cNvSpPr>
          <p:nvPr>
            <p:ph idx="1"/>
          </p:nvPr>
        </p:nvSpPr>
        <p:spPr>
          <a:xfrm>
            <a:off x="978194" y="1825625"/>
            <a:ext cx="10375605" cy="4351338"/>
          </a:xfrm>
        </p:spPr>
        <p:txBody>
          <a:bodyPr>
            <a:normAutofit/>
          </a:bodyPr>
          <a:lstStyle/>
          <a:p>
            <a:r>
              <a:rPr lang="en-US" sz="3200" dirty="0"/>
              <a:t>Can not cover all aspects</a:t>
            </a:r>
          </a:p>
          <a:p>
            <a:r>
              <a:rPr lang="en-US" sz="3200" dirty="0"/>
              <a:t>Who determine violations?</a:t>
            </a:r>
          </a:p>
          <a:p>
            <a:r>
              <a:rPr lang="en-US" sz="3200" dirty="0"/>
              <a:t>How are the rules interpreted?</a:t>
            </a:r>
          </a:p>
          <a:p>
            <a:r>
              <a:rPr lang="en-US" sz="3200" dirty="0"/>
              <a:t>What penalties exist for violations?</a:t>
            </a:r>
          </a:p>
        </p:txBody>
      </p:sp>
    </p:spTree>
    <p:extLst>
      <p:ext uri="{BB962C8B-B14F-4D97-AF65-F5344CB8AC3E}">
        <p14:creationId xmlns:p14="http://schemas.microsoft.com/office/powerpoint/2010/main" val="22199164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Computer Ethics</a:t>
            </a:r>
          </a:p>
        </p:txBody>
      </p:sp>
      <p:sp>
        <p:nvSpPr>
          <p:cNvPr id="3" name="Content Placeholder 2"/>
          <p:cNvSpPr>
            <a:spLocks noGrp="1"/>
          </p:cNvSpPr>
          <p:nvPr>
            <p:ph idx="1"/>
          </p:nvPr>
        </p:nvSpPr>
        <p:spPr/>
        <p:txBody>
          <a:bodyPr>
            <a:normAutofit lnSpcReduction="10000"/>
          </a:bodyPr>
          <a:lstStyle/>
          <a:p>
            <a:r>
              <a:rPr lang="en-US" dirty="0"/>
              <a:t>Computer ethics defined as the application of classical ethical principles to the use of computer technology</a:t>
            </a:r>
          </a:p>
          <a:p>
            <a:r>
              <a:rPr lang="en-US" dirty="0"/>
              <a:t>Ethical problems related to computers are not unique but they tend to occur on a much larger scale and scope</a:t>
            </a:r>
          </a:p>
          <a:p>
            <a:r>
              <a:rPr lang="en-US"/>
              <a:t>Fall of </a:t>
            </a:r>
            <a:r>
              <a:rPr lang="en-US" dirty="0"/>
              <a:t>cyber destruction </a:t>
            </a:r>
          </a:p>
          <a:p>
            <a:pPr marL="0" indent="0">
              <a:buNone/>
            </a:pPr>
            <a:r>
              <a:rPr lang="en-US" b="1" dirty="0"/>
              <a:t>Aspects of computer ethics:</a:t>
            </a:r>
          </a:p>
          <a:p>
            <a:pPr lvl="1"/>
            <a:r>
              <a:rPr lang="en-US" dirty="0"/>
              <a:t>Analysis of the nature of problems related to the social impact of computers</a:t>
            </a:r>
          </a:p>
          <a:p>
            <a:pPr lvl="1"/>
            <a:r>
              <a:rPr lang="en-US" dirty="0"/>
              <a:t>Formulation and justification of policies needed to manage computer technology</a:t>
            </a:r>
          </a:p>
          <a:p>
            <a:r>
              <a:rPr lang="en-US" dirty="0"/>
              <a:t>Details will be discussed in next lecture </a:t>
            </a:r>
          </a:p>
        </p:txBody>
      </p:sp>
    </p:spTree>
    <p:extLst>
      <p:ext uri="{BB962C8B-B14F-4D97-AF65-F5344CB8AC3E}">
        <p14:creationId xmlns:p14="http://schemas.microsoft.com/office/powerpoint/2010/main" val="35746096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Cyberethics</a:t>
            </a:r>
            <a:endParaRPr lang="en-US" dirty="0"/>
          </a:p>
        </p:txBody>
      </p:sp>
      <p:pic>
        <p:nvPicPr>
          <p:cNvPr id="4" name="Content Placeholder 3"/>
          <p:cNvPicPr>
            <a:picLocks noGrp="1" noChangeAspect="1"/>
          </p:cNvPicPr>
          <p:nvPr>
            <p:ph idx="1"/>
          </p:nvPr>
        </p:nvPicPr>
        <p:blipFill rotWithShape="1">
          <a:blip r:embed="rId3"/>
          <a:srcRect l="19933" t="32189" r="13159" b="15870"/>
          <a:stretch/>
        </p:blipFill>
        <p:spPr>
          <a:xfrm>
            <a:off x="1224951" y="1878577"/>
            <a:ext cx="9437298" cy="4578838"/>
          </a:xfrm>
          <a:prstGeom prst="rect">
            <a:avLst/>
          </a:prstGeom>
        </p:spPr>
      </p:pic>
    </p:spTree>
    <p:extLst>
      <p:ext uri="{BB962C8B-B14F-4D97-AF65-F5344CB8AC3E}">
        <p14:creationId xmlns:p14="http://schemas.microsoft.com/office/powerpoint/2010/main" val="14151926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333333"/>
                </a:solidFill>
                <a:highlight>
                  <a:srgbClr val="FFFFFF"/>
                </a:highlight>
                <a:latin typeface="Roboto"/>
                <a:ea typeface="Roboto"/>
                <a:cs typeface="Roboto"/>
                <a:sym typeface="Roboto"/>
              </a:rPr>
              <a:t>Questions</a:t>
            </a:r>
            <a:endParaRPr lang="en-US" dirty="0"/>
          </a:p>
        </p:txBody>
      </p:sp>
      <p:sp>
        <p:nvSpPr>
          <p:cNvPr id="3" name="Content Placeholder 2"/>
          <p:cNvSpPr>
            <a:spLocks noGrp="1"/>
          </p:cNvSpPr>
          <p:nvPr>
            <p:ph idx="1"/>
          </p:nvPr>
        </p:nvSpPr>
        <p:spPr/>
        <p:txBody>
          <a:bodyPr/>
          <a:lstStyle/>
          <a:p>
            <a:pPr marL="457200" lvl="0" indent="-336550" algn="just">
              <a:lnSpc>
                <a:spcPct val="115000"/>
              </a:lnSpc>
              <a:spcBef>
                <a:spcPts val="1500"/>
              </a:spcBef>
              <a:buClr>
                <a:srgbClr val="333333"/>
              </a:buClr>
              <a:buSzPts val="1700"/>
              <a:buFont typeface="Times New Roman"/>
              <a:buChar char="•"/>
            </a:pPr>
            <a:r>
              <a:rPr lang="en-US" dirty="0">
                <a:solidFill>
                  <a:srgbClr val="333333"/>
                </a:solidFill>
                <a:highlight>
                  <a:srgbClr val="FFFFFF"/>
                </a:highlight>
                <a:latin typeface="Times New Roman"/>
                <a:ea typeface="Times New Roman"/>
                <a:cs typeface="Times New Roman"/>
                <a:sym typeface="Times New Roman"/>
              </a:rPr>
              <a:t>What information about individual can be revealed to others?</a:t>
            </a:r>
          </a:p>
          <a:p>
            <a:pPr marL="457200" lvl="0" indent="-336550" algn="just">
              <a:lnSpc>
                <a:spcPct val="115000"/>
              </a:lnSpc>
              <a:spcBef>
                <a:spcPts val="0"/>
              </a:spcBef>
              <a:buClr>
                <a:srgbClr val="333333"/>
              </a:buClr>
              <a:buSzPts val="1700"/>
              <a:buFont typeface="Times New Roman"/>
              <a:buChar char="•"/>
            </a:pPr>
            <a:r>
              <a:rPr lang="en-US" dirty="0">
                <a:solidFill>
                  <a:srgbClr val="333333"/>
                </a:solidFill>
                <a:highlight>
                  <a:srgbClr val="FFFFFF"/>
                </a:highlight>
                <a:latin typeface="Times New Roman"/>
                <a:ea typeface="Times New Roman"/>
                <a:cs typeface="Times New Roman"/>
                <a:sym typeface="Times New Roman"/>
              </a:rPr>
              <a:t>What information about individuals should be kept in databases, and how secure is the information in the computer systems? </a:t>
            </a:r>
          </a:p>
          <a:p>
            <a:pPr marL="457200" lvl="0" indent="-336550" algn="just">
              <a:lnSpc>
                <a:spcPct val="115000"/>
              </a:lnSpc>
              <a:spcBef>
                <a:spcPts val="0"/>
              </a:spcBef>
              <a:buClr>
                <a:srgbClr val="333333"/>
              </a:buClr>
              <a:buSzPts val="1700"/>
              <a:buFont typeface="Times New Roman"/>
              <a:buChar char="•"/>
            </a:pPr>
            <a:r>
              <a:rPr lang="en-US" dirty="0">
                <a:highlight>
                  <a:srgbClr val="FFFFFF"/>
                </a:highlight>
                <a:latin typeface="Times New Roman"/>
                <a:ea typeface="Times New Roman"/>
                <a:cs typeface="Times New Roman"/>
                <a:sym typeface="Times New Roman"/>
              </a:rPr>
              <a:t>How should one handle data piracy on the computer networks?</a:t>
            </a:r>
          </a:p>
          <a:p>
            <a:pPr marL="457200" lvl="0" indent="-336550" algn="just">
              <a:lnSpc>
                <a:spcPct val="115000"/>
              </a:lnSpc>
              <a:spcBef>
                <a:spcPts val="0"/>
              </a:spcBef>
              <a:buClr>
                <a:srgbClr val="333333"/>
              </a:buClr>
              <a:buSzPts val="1700"/>
              <a:buFont typeface="Times New Roman"/>
              <a:buChar char="•"/>
            </a:pPr>
            <a:r>
              <a:rPr lang="en-US" dirty="0">
                <a:solidFill>
                  <a:srgbClr val="333333"/>
                </a:solidFill>
                <a:highlight>
                  <a:srgbClr val="FFFFFF"/>
                </a:highlight>
                <a:latin typeface="Times New Roman"/>
                <a:ea typeface="Times New Roman"/>
                <a:cs typeface="Times New Roman"/>
                <a:sym typeface="Times New Roman"/>
              </a:rPr>
              <a:t>Who is allowed to access the data and information? </a:t>
            </a:r>
          </a:p>
          <a:p>
            <a:pPr marL="457200" lvl="0" indent="-336550" algn="just">
              <a:lnSpc>
                <a:spcPct val="115000"/>
              </a:lnSpc>
              <a:spcBef>
                <a:spcPts val="0"/>
              </a:spcBef>
              <a:buClr>
                <a:srgbClr val="333333"/>
              </a:buClr>
              <a:buSzPts val="1700"/>
              <a:buFont typeface="Times New Roman"/>
              <a:buChar char="•"/>
            </a:pPr>
            <a:r>
              <a:rPr lang="en-US" dirty="0">
                <a:solidFill>
                  <a:srgbClr val="333333"/>
                </a:solidFill>
                <a:highlight>
                  <a:srgbClr val="FFFFFF"/>
                </a:highlight>
                <a:latin typeface="Times New Roman"/>
                <a:ea typeface="Times New Roman"/>
                <a:cs typeface="Times New Roman"/>
                <a:sym typeface="Times New Roman"/>
              </a:rPr>
              <a:t>How can safeguards be introduced to ensure that the information can be accessed only by the right person or organizations?</a:t>
            </a:r>
          </a:p>
          <a:p>
            <a:endParaRPr lang="en-US" dirty="0"/>
          </a:p>
        </p:txBody>
      </p:sp>
    </p:spTree>
    <p:extLst>
      <p:ext uri="{BB962C8B-B14F-4D97-AF65-F5344CB8AC3E}">
        <p14:creationId xmlns:p14="http://schemas.microsoft.com/office/powerpoint/2010/main" val="387131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highlight>
                  <a:srgbClr val="FFFFFF"/>
                </a:highlight>
                <a:latin typeface="Arial"/>
                <a:ea typeface="Arial"/>
                <a:cs typeface="Arial"/>
                <a:sym typeface="Arial"/>
              </a:rPr>
              <a:t>Considerations</a:t>
            </a:r>
            <a:endParaRPr lang="en-US" dirty="0"/>
          </a:p>
        </p:txBody>
      </p:sp>
      <p:sp>
        <p:nvSpPr>
          <p:cNvPr id="3" name="Content Placeholder 2"/>
          <p:cNvSpPr>
            <a:spLocks noGrp="1"/>
          </p:cNvSpPr>
          <p:nvPr>
            <p:ph idx="1"/>
          </p:nvPr>
        </p:nvSpPr>
        <p:spPr/>
        <p:txBody>
          <a:bodyPr>
            <a:normAutofit lnSpcReduction="10000"/>
          </a:bodyPr>
          <a:lstStyle/>
          <a:p>
            <a:pPr marL="457200" lvl="0" indent="-355600">
              <a:lnSpc>
                <a:spcPct val="120000"/>
              </a:lnSpc>
              <a:spcBef>
                <a:spcPts val="1100"/>
              </a:spcBef>
              <a:buClr>
                <a:srgbClr val="333333"/>
              </a:buClr>
              <a:buSzPts val="2000"/>
              <a:buFont typeface="Times New Roman"/>
              <a:buChar char="●"/>
            </a:pPr>
            <a:r>
              <a:rPr lang="en-US" dirty="0">
                <a:solidFill>
                  <a:srgbClr val="333333"/>
                </a:solidFill>
                <a:highlight>
                  <a:srgbClr val="FFFFFF"/>
                </a:highlight>
                <a:latin typeface="Times New Roman"/>
                <a:ea typeface="Times New Roman"/>
                <a:cs typeface="Times New Roman"/>
                <a:sym typeface="Times New Roman"/>
              </a:rPr>
              <a:t>Do not use rude or offensive language.</a:t>
            </a:r>
          </a:p>
          <a:p>
            <a:pPr marL="457200" lvl="0" indent="-355600">
              <a:lnSpc>
                <a:spcPct val="120000"/>
              </a:lnSpc>
              <a:spcBef>
                <a:spcPts val="0"/>
              </a:spcBef>
              <a:buClr>
                <a:srgbClr val="333333"/>
              </a:buClr>
              <a:buSzPts val="2000"/>
              <a:buFont typeface="Times New Roman"/>
              <a:buChar char="●"/>
            </a:pPr>
            <a:r>
              <a:rPr lang="en-US" dirty="0">
                <a:solidFill>
                  <a:srgbClr val="333333"/>
                </a:solidFill>
                <a:highlight>
                  <a:srgbClr val="FFFFFF"/>
                </a:highlight>
                <a:latin typeface="Times New Roman"/>
                <a:ea typeface="Times New Roman"/>
                <a:cs typeface="Times New Roman"/>
                <a:sym typeface="Times New Roman"/>
              </a:rPr>
              <a:t>Do not cyberbully.</a:t>
            </a:r>
          </a:p>
          <a:p>
            <a:pPr marL="457200" lvl="0" indent="-355600">
              <a:lnSpc>
                <a:spcPct val="120000"/>
              </a:lnSpc>
              <a:spcBef>
                <a:spcPts val="0"/>
              </a:spcBef>
              <a:buClr>
                <a:srgbClr val="333333"/>
              </a:buClr>
              <a:buSzPts val="2000"/>
              <a:buFont typeface="Times New Roman"/>
              <a:buChar char="●"/>
            </a:pPr>
            <a:r>
              <a:rPr lang="en-US" dirty="0">
                <a:solidFill>
                  <a:srgbClr val="333333"/>
                </a:solidFill>
                <a:highlight>
                  <a:srgbClr val="FFFFFF"/>
                </a:highlight>
                <a:latin typeface="Times New Roman"/>
                <a:ea typeface="Times New Roman"/>
                <a:cs typeface="Times New Roman"/>
                <a:sym typeface="Times New Roman"/>
              </a:rPr>
              <a:t>Do not plagiarize.</a:t>
            </a:r>
          </a:p>
          <a:p>
            <a:pPr marL="457200" lvl="0" indent="-355600">
              <a:lnSpc>
                <a:spcPct val="120000"/>
              </a:lnSpc>
              <a:spcBef>
                <a:spcPts val="0"/>
              </a:spcBef>
              <a:buClr>
                <a:srgbClr val="333333"/>
              </a:buClr>
              <a:buSzPts val="2000"/>
              <a:buFont typeface="Times New Roman"/>
              <a:buChar char="●"/>
            </a:pPr>
            <a:r>
              <a:rPr lang="en-US" dirty="0">
                <a:solidFill>
                  <a:srgbClr val="333333"/>
                </a:solidFill>
                <a:highlight>
                  <a:srgbClr val="FFFFFF"/>
                </a:highlight>
                <a:latin typeface="Times New Roman"/>
                <a:ea typeface="Times New Roman"/>
                <a:cs typeface="Times New Roman"/>
                <a:sym typeface="Times New Roman"/>
              </a:rPr>
              <a:t>Do not break into someone else's computer.</a:t>
            </a:r>
          </a:p>
          <a:p>
            <a:pPr marL="457200" lvl="0" indent="-355600">
              <a:lnSpc>
                <a:spcPct val="120000"/>
              </a:lnSpc>
              <a:spcBef>
                <a:spcPts val="0"/>
              </a:spcBef>
              <a:buClr>
                <a:srgbClr val="333333"/>
              </a:buClr>
              <a:buSzPts val="2000"/>
              <a:buFont typeface="Times New Roman"/>
              <a:buChar char="●"/>
            </a:pPr>
            <a:r>
              <a:rPr lang="en-US" dirty="0">
                <a:solidFill>
                  <a:srgbClr val="333333"/>
                </a:solidFill>
                <a:highlight>
                  <a:srgbClr val="FFFFFF"/>
                </a:highlight>
                <a:latin typeface="Times New Roman"/>
                <a:ea typeface="Times New Roman"/>
                <a:cs typeface="Times New Roman"/>
                <a:sym typeface="Times New Roman"/>
              </a:rPr>
              <a:t>Do not use someone else's password.</a:t>
            </a:r>
          </a:p>
          <a:p>
            <a:pPr marL="457200" lvl="0" indent="-355600">
              <a:lnSpc>
                <a:spcPct val="120000"/>
              </a:lnSpc>
              <a:spcBef>
                <a:spcPts val="0"/>
              </a:spcBef>
              <a:buClr>
                <a:srgbClr val="333333"/>
              </a:buClr>
              <a:buSzPts val="2000"/>
              <a:buFont typeface="Times New Roman"/>
              <a:buChar char="●"/>
            </a:pPr>
            <a:r>
              <a:rPr lang="en-US" dirty="0">
                <a:solidFill>
                  <a:srgbClr val="333333"/>
                </a:solidFill>
                <a:highlight>
                  <a:srgbClr val="FFFFFF"/>
                </a:highlight>
                <a:latin typeface="Times New Roman"/>
                <a:ea typeface="Times New Roman"/>
                <a:cs typeface="Times New Roman"/>
                <a:sym typeface="Times New Roman"/>
              </a:rPr>
              <a:t>Do not attempt to infect or in any way try to make someone else's computer unusable.</a:t>
            </a:r>
          </a:p>
          <a:p>
            <a:pPr marL="457200" lvl="0" indent="-355600">
              <a:lnSpc>
                <a:spcPct val="120000"/>
              </a:lnSpc>
              <a:spcBef>
                <a:spcPts val="0"/>
              </a:spcBef>
              <a:buClr>
                <a:srgbClr val="333333"/>
              </a:buClr>
              <a:buSzPts val="2000"/>
              <a:buFont typeface="Times New Roman"/>
              <a:buChar char="●"/>
            </a:pPr>
            <a:r>
              <a:rPr lang="en-US" dirty="0">
                <a:solidFill>
                  <a:srgbClr val="333333"/>
                </a:solidFill>
                <a:highlight>
                  <a:srgbClr val="FFFFFF"/>
                </a:highlight>
                <a:latin typeface="Times New Roman"/>
                <a:ea typeface="Times New Roman"/>
                <a:cs typeface="Times New Roman"/>
                <a:sym typeface="Times New Roman"/>
              </a:rPr>
              <a:t>Adhere to copyright restrictions when downloading material from the Internet, including software, games, movies, or music.</a:t>
            </a:r>
          </a:p>
          <a:p>
            <a:endParaRPr lang="en-US" dirty="0"/>
          </a:p>
        </p:txBody>
      </p:sp>
    </p:spTree>
    <p:extLst>
      <p:ext uri="{BB962C8B-B14F-4D97-AF65-F5344CB8AC3E}">
        <p14:creationId xmlns:p14="http://schemas.microsoft.com/office/powerpoint/2010/main" val="36898374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Relationship between Law and Ethics</a:t>
            </a:r>
          </a:p>
        </p:txBody>
      </p:sp>
      <p:sp>
        <p:nvSpPr>
          <p:cNvPr id="3" name="Content Placeholder 2"/>
          <p:cNvSpPr>
            <a:spLocks noGrp="1"/>
          </p:cNvSpPr>
          <p:nvPr>
            <p:ph idx="1"/>
          </p:nvPr>
        </p:nvSpPr>
        <p:spPr/>
        <p:txBody>
          <a:bodyPr/>
          <a:lstStyle/>
          <a:p>
            <a:r>
              <a:rPr lang="en-GB" dirty="0"/>
              <a:t>Legal work and ethical behaviours are often entangled in a way that can be difficult to decipher. </a:t>
            </a:r>
          </a:p>
          <a:p>
            <a:r>
              <a:rPr lang="en-GB" dirty="0"/>
              <a:t>However, it’s important to understand the difference between a legal judgment and an ethical decision, as the two may seem at odds with one another.</a:t>
            </a:r>
            <a:br>
              <a:rPr lang="en-GB" dirty="0"/>
            </a:br>
            <a:endParaRPr lang="en-GB" dirty="0"/>
          </a:p>
          <a:p>
            <a:endParaRPr lang="en-US" dirty="0"/>
          </a:p>
        </p:txBody>
      </p:sp>
    </p:spTree>
    <p:extLst>
      <p:ext uri="{BB962C8B-B14F-4D97-AF65-F5344CB8AC3E}">
        <p14:creationId xmlns:p14="http://schemas.microsoft.com/office/powerpoint/2010/main" val="37256765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Relationship between Law and Ethics</a:t>
            </a:r>
          </a:p>
        </p:txBody>
      </p:sp>
      <p:sp>
        <p:nvSpPr>
          <p:cNvPr id="3" name="Content Placeholder 2"/>
          <p:cNvSpPr>
            <a:spLocks noGrp="1"/>
          </p:cNvSpPr>
          <p:nvPr>
            <p:ph idx="1"/>
          </p:nvPr>
        </p:nvSpPr>
        <p:spPr/>
        <p:txBody>
          <a:bodyPr>
            <a:normAutofit fontScale="92500" lnSpcReduction="20000"/>
          </a:bodyPr>
          <a:lstStyle/>
          <a:p>
            <a:pPr algn="just"/>
            <a:r>
              <a:rPr lang="en-GB" dirty="0"/>
              <a:t>what is ethics? </a:t>
            </a:r>
          </a:p>
          <a:p>
            <a:pPr lvl="1" algn="just"/>
            <a:r>
              <a:rPr lang="en-GB" dirty="0"/>
              <a:t>In general understanding, ethical behaviour falls under a system of morality concerned with what’s good for both individuals and society. It concerns how people should and shouldn’t behave, and different societies and cultures have different ideas of ethical behaviour.</a:t>
            </a:r>
          </a:p>
          <a:p>
            <a:pPr marL="457200" lvl="1" indent="0" algn="just">
              <a:buNone/>
            </a:pPr>
            <a:br>
              <a:rPr lang="en-GB" dirty="0"/>
            </a:br>
            <a:endParaRPr lang="en-GB" dirty="0"/>
          </a:p>
          <a:p>
            <a:pPr algn="just"/>
            <a:r>
              <a:rPr lang="en-GB" dirty="0"/>
              <a:t>The law (in contrast) is:</a:t>
            </a:r>
          </a:p>
          <a:p>
            <a:pPr lvl="1" algn="just"/>
            <a:r>
              <a:rPr lang="en-GB" dirty="0"/>
              <a:t>A set of rules and guidelines that are meant to be separated from ethics and morality and are enforced through social institutions like courts and law enforcement. </a:t>
            </a:r>
          </a:p>
          <a:p>
            <a:pPr lvl="1" algn="just"/>
            <a:r>
              <a:rPr lang="en-GB" dirty="0"/>
              <a:t>In general terms, the law affords punishment through fines, community service, jail time, etc. when one breaks the rules. </a:t>
            </a:r>
          </a:p>
          <a:p>
            <a:pPr lvl="1" algn="just"/>
            <a:r>
              <a:rPr lang="en-GB" dirty="0"/>
              <a:t>However, when one breaks an ethical rule, enforcement is more often public shame or the loss of personal relationships rather than money or time.</a:t>
            </a:r>
          </a:p>
        </p:txBody>
      </p:sp>
    </p:spTree>
    <p:extLst>
      <p:ext uri="{BB962C8B-B14F-4D97-AF65-F5344CB8AC3E}">
        <p14:creationId xmlns:p14="http://schemas.microsoft.com/office/powerpoint/2010/main" val="2473966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Relationship between Law and Ethics</a:t>
            </a:r>
            <a:r>
              <a:rPr lang="x-none" dirty="0"/>
              <a:t>…</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GB" dirty="0"/>
              <a:t>Perpetually, legal judgment and ethical judgment would be seen as wholly separate, with individuals keeping their moral bias out of the legal system. </a:t>
            </a:r>
          </a:p>
          <a:p>
            <a:pPr algn="just"/>
            <a:r>
              <a:rPr lang="en-GB" dirty="0"/>
              <a:t>In our current world, however, we see a mixture of law and ethics; </a:t>
            </a:r>
          </a:p>
          <a:p>
            <a:pPr lvl="1" algn="just"/>
            <a:r>
              <a:rPr lang="en-GB" dirty="0"/>
              <a:t>Laws are made based on religious ethics, for example, or judges hand down lenient sentences based on their personal view of morality. This can pose issues when a situation is clearly harmful and illegal, despite the personal feelings and opinions of the judge.</a:t>
            </a:r>
          </a:p>
          <a:p>
            <a:pPr algn="just"/>
            <a:r>
              <a:rPr lang="en-GB" dirty="0"/>
              <a:t>However, having a society that attempts to live ethically can also have positive results on legal judgments, as a society that is aligned in their belief of what is ethically and morally right will tend to agree on what is legally right. This means that most citizens will be “law-abiding,” obeying both the legal system and the ethical — or moral — one. </a:t>
            </a:r>
          </a:p>
        </p:txBody>
      </p:sp>
    </p:spTree>
    <p:extLst>
      <p:ext uri="{BB962C8B-B14F-4D97-AF65-F5344CB8AC3E}">
        <p14:creationId xmlns:p14="http://schemas.microsoft.com/office/powerpoint/2010/main" val="26743454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Relationship between Law and Ethics</a:t>
            </a:r>
          </a:p>
        </p:txBody>
      </p:sp>
      <p:sp>
        <p:nvSpPr>
          <p:cNvPr id="3" name="Content Placeholder 2"/>
          <p:cNvSpPr>
            <a:spLocks noGrp="1"/>
          </p:cNvSpPr>
          <p:nvPr>
            <p:ph idx="1"/>
          </p:nvPr>
        </p:nvSpPr>
        <p:spPr/>
        <p:txBody>
          <a:bodyPr>
            <a:normAutofit fontScale="92500" lnSpcReduction="20000"/>
          </a:bodyPr>
          <a:lstStyle/>
          <a:p>
            <a:pPr algn="just"/>
            <a:r>
              <a:rPr lang="en-GB" dirty="0"/>
              <a:t>How do we distinguish between what is ethical and what is legal? </a:t>
            </a:r>
          </a:p>
          <a:p>
            <a:pPr algn="just"/>
            <a:r>
              <a:rPr lang="en-GB" dirty="0"/>
              <a:t>Do they always align, or are there differences that we have to be aware of to protect ourselves and our clients from harm? </a:t>
            </a:r>
          </a:p>
          <a:p>
            <a:pPr algn="just"/>
            <a:r>
              <a:rPr lang="en-GB" dirty="0"/>
              <a:t>Every day, you make countless ethical decisions. But what do you do when faced with an ethical dilemma?</a:t>
            </a:r>
          </a:p>
          <a:p>
            <a:pPr algn="just"/>
            <a:r>
              <a:rPr lang="en-GB" dirty="0"/>
              <a:t>In business, ethics and legality are often even more intertwined than they are for the average person. </a:t>
            </a:r>
          </a:p>
          <a:p>
            <a:pPr algn="just"/>
            <a:r>
              <a:rPr lang="en-GB" dirty="0"/>
              <a:t>An ethical dilemma could lead to legal repercussions for yourself, your business, the employee who caused the issue, and even potentially your client. </a:t>
            </a:r>
          </a:p>
          <a:p>
            <a:pPr algn="just"/>
            <a:r>
              <a:rPr lang="en-GB" dirty="0"/>
              <a:t>It’s your job to understand where ethics and laws meet in your line of work, so you know how to handle a situation as it arises. Being prepared is the best way to prevent ethical issues from arising at all.</a:t>
            </a:r>
          </a:p>
        </p:txBody>
      </p:sp>
    </p:spTree>
    <p:extLst>
      <p:ext uri="{BB962C8B-B14F-4D97-AF65-F5344CB8AC3E}">
        <p14:creationId xmlns:p14="http://schemas.microsoft.com/office/powerpoint/2010/main" val="2760627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p:txBody>
          <a:bodyPr/>
          <a:lstStyle/>
          <a:p>
            <a:r>
              <a:rPr lang="en-US" sz="1800" b="1" dirty="0"/>
              <a:t>[Hameed, 2009] Software Engineering Ethical Principles Based on Islamic Values by </a:t>
            </a:r>
            <a:r>
              <a:rPr lang="en-US" sz="1800" dirty="0" err="1"/>
              <a:t>Shihab</a:t>
            </a:r>
            <a:r>
              <a:rPr lang="en-US" sz="1800" dirty="0"/>
              <a:t> A. </a:t>
            </a:r>
            <a:r>
              <a:rPr lang="en-US" sz="1800" dirty="0" err="1"/>
              <a:t>Hameed</a:t>
            </a:r>
            <a:r>
              <a:rPr lang="en-US" sz="1800" dirty="0"/>
              <a:t> </a:t>
            </a:r>
            <a:r>
              <a:rPr lang="en-US" sz="1800" i="1" dirty="0"/>
              <a:t>JOURNAL OF SOFTWARE, VOL. 4, NO. 6, AUGUST 2009</a:t>
            </a:r>
            <a:endParaRPr lang="en-US" sz="1800" b="1" i="1" dirty="0"/>
          </a:p>
          <a:p>
            <a:r>
              <a:rPr lang="en-US" sz="1800" b="1" dirty="0"/>
              <a:t>[</a:t>
            </a:r>
            <a:r>
              <a:rPr lang="en-US" sz="1800" b="1" dirty="0" err="1"/>
              <a:t>standford</a:t>
            </a:r>
            <a:r>
              <a:rPr lang="en-US" sz="1800" b="1" dirty="0"/>
              <a:t>, 2001] Computer Ethics: Basic Concepts and Historical Overview, </a:t>
            </a:r>
            <a:r>
              <a:rPr lang="en-US" sz="1800" b="1" dirty="0" err="1"/>
              <a:t>standford</a:t>
            </a:r>
            <a:r>
              <a:rPr lang="en-US" sz="1800" b="1" dirty="0"/>
              <a:t> encyclopedia of philosophy</a:t>
            </a:r>
          </a:p>
          <a:p>
            <a:r>
              <a:rPr lang="en-GB" sz="1800" dirty="0">
                <a:hlinkClick r:id="rId3"/>
              </a:rPr>
              <a:t>https://www.cs.uct.ac.za/mit_notes/ethics/pdfs/chp01.pdf</a:t>
            </a:r>
            <a:endParaRPr lang="en-GB" sz="1800" dirty="0"/>
          </a:p>
          <a:p>
            <a:r>
              <a:rPr lang="en-GB" sz="1800" dirty="0"/>
              <a:t>Religious Ethics: Meaning and Method (Chapter 1) by William </a:t>
            </a:r>
            <a:r>
              <a:rPr lang="en-GB" sz="1800" dirty="0" err="1"/>
              <a:t>Schweiker</a:t>
            </a:r>
            <a:r>
              <a:rPr lang="en-GB" sz="1800" dirty="0"/>
              <a:t>, David A. </a:t>
            </a:r>
            <a:r>
              <a:rPr lang="en-GB" sz="1800" dirty="0" err="1"/>
              <a:t>Clairmont</a:t>
            </a:r>
            <a:r>
              <a:rPr lang="en-GB" sz="1800" dirty="0"/>
              <a:t>, June 2020</a:t>
            </a:r>
          </a:p>
          <a:p>
            <a:r>
              <a:rPr lang="en-GB" sz="1800" dirty="0">
                <a:hlinkClick r:id="rId4"/>
              </a:rPr>
              <a:t>https://www.ssplawgroup.com/the-relationship-between-law-and-ethics</a:t>
            </a:r>
            <a:endParaRPr lang="en-GB" sz="1800" dirty="0"/>
          </a:p>
          <a:p>
            <a:endParaRPr lang="en-US" sz="1800" dirty="0"/>
          </a:p>
        </p:txBody>
      </p:sp>
    </p:spTree>
    <p:extLst>
      <p:ext uri="{BB962C8B-B14F-4D97-AF65-F5344CB8AC3E}">
        <p14:creationId xmlns:p14="http://schemas.microsoft.com/office/powerpoint/2010/main" val="25117649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bwMode="auto">
          <a:xfrm>
            <a:off x="2063750" y="2708275"/>
            <a:ext cx="82296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br>
              <a:rPr lang="en-US"/>
            </a:br>
            <a:r>
              <a:rPr lang="en-US"/>
              <a:t>Thank you!</a:t>
            </a:r>
          </a:p>
        </p:txBody>
      </p:sp>
    </p:spTree>
    <p:extLst>
      <p:ext uri="{BB962C8B-B14F-4D97-AF65-F5344CB8AC3E}">
        <p14:creationId xmlns:p14="http://schemas.microsoft.com/office/powerpoint/2010/main" val="19332382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1075</TotalTime>
  <Words>2033</Words>
  <Application>Microsoft Office PowerPoint</Application>
  <PresentationFormat>Widescreen</PresentationFormat>
  <Paragraphs>147</Paragraphs>
  <Slides>25</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Calibri Light</vt:lpstr>
      <vt:lpstr>Roboto</vt:lpstr>
      <vt:lpstr>Times New Roman</vt:lpstr>
      <vt:lpstr>Office Theme</vt:lpstr>
      <vt:lpstr>Professional Practices</vt:lpstr>
      <vt:lpstr>Week 3 Lec 5</vt:lpstr>
      <vt:lpstr>What is Ethics?</vt:lpstr>
      <vt:lpstr>Importance of Ethics</vt:lpstr>
      <vt:lpstr>Types of Ethics </vt:lpstr>
      <vt:lpstr>Personal Ethics</vt:lpstr>
      <vt:lpstr>Social Ethics</vt:lpstr>
      <vt:lpstr>Business Ethics</vt:lpstr>
      <vt:lpstr>Religious Ethics</vt:lpstr>
      <vt:lpstr>Ethics in Islam </vt:lpstr>
      <vt:lpstr>Professional Ethics</vt:lpstr>
      <vt:lpstr>Why professional ethics?</vt:lpstr>
      <vt:lpstr>Professional Ethics Scope</vt:lpstr>
      <vt:lpstr>Professional Ethics Benefits</vt:lpstr>
      <vt:lpstr>Problems with Professional Ethics</vt:lpstr>
      <vt:lpstr>Computer Ethics</vt:lpstr>
      <vt:lpstr>Cyberethics</vt:lpstr>
      <vt:lpstr>Questions</vt:lpstr>
      <vt:lpstr>Considerations</vt:lpstr>
      <vt:lpstr>Relationship between Law and Ethics</vt:lpstr>
      <vt:lpstr>Relationship between Law and Ethics</vt:lpstr>
      <vt:lpstr>Relationship between Law and Ethics…</vt:lpstr>
      <vt:lpstr>Relationship between Law and Ethics</vt:lpstr>
      <vt:lpstr>References</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Amber Sarfraz</cp:lastModifiedBy>
  <cp:revision>76</cp:revision>
  <dcterms:created xsi:type="dcterms:W3CDTF">2020-09-29T10:19:05Z</dcterms:created>
  <dcterms:modified xsi:type="dcterms:W3CDTF">2022-10-19T11:34:37Z</dcterms:modified>
</cp:coreProperties>
</file>
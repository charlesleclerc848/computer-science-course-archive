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8" r:id="rId3"/>
    <p:sldId id="259" r:id="rId4"/>
    <p:sldId id="260" r:id="rId5"/>
    <p:sldId id="312" r:id="rId6"/>
    <p:sldId id="313" r:id="rId7"/>
    <p:sldId id="286" r:id="rId8"/>
    <p:sldId id="257" r:id="rId9"/>
    <p:sldId id="287" r:id="rId10"/>
    <p:sldId id="261" r:id="rId11"/>
    <p:sldId id="262" r:id="rId12"/>
    <p:sldId id="289" r:id="rId13"/>
    <p:sldId id="288" r:id="rId14"/>
    <p:sldId id="290" r:id="rId15"/>
    <p:sldId id="291" r:id="rId16"/>
    <p:sldId id="292" r:id="rId17"/>
    <p:sldId id="293" r:id="rId18"/>
    <p:sldId id="294" r:id="rId19"/>
    <p:sldId id="297" r:id="rId20"/>
    <p:sldId id="298" r:id="rId21"/>
    <p:sldId id="299" r:id="rId22"/>
    <p:sldId id="300" r:id="rId23"/>
    <p:sldId id="301" r:id="rId24"/>
    <p:sldId id="302" r:id="rId25"/>
    <p:sldId id="303" r:id="rId26"/>
    <p:sldId id="296" r:id="rId27"/>
    <p:sldId id="304" r:id="rId28"/>
    <p:sldId id="314" r:id="rId29"/>
    <p:sldId id="305" r:id="rId30"/>
    <p:sldId id="306" r:id="rId31"/>
    <p:sldId id="308" r:id="rId32"/>
    <p:sldId id="311" r:id="rId33"/>
    <p:sldId id="309" r:id="rId34"/>
    <p:sldId id="307" r:id="rId35"/>
    <p:sldId id="267" r:id="rId36"/>
    <p:sldId id="276" r:id="rId37"/>
    <p:sldId id="277" r:id="rId38"/>
    <p:sldId id="278" r:id="rId39"/>
    <p:sldId id="279" r:id="rId40"/>
    <p:sldId id="284" r:id="rId41"/>
    <p:sldId id="281" r:id="rId42"/>
    <p:sldId id="282" r:id="rId43"/>
    <p:sldId id="283" r:id="rId44"/>
    <p:sldId id="266" r:id="rId45"/>
    <p:sldId id="310"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37" autoAdjust="0"/>
    <p:restoredTop sz="93474" autoAdjust="0"/>
  </p:normalViewPr>
  <p:slideViewPr>
    <p:cSldViewPr snapToGrid="0">
      <p:cViewPr varScale="1">
        <p:scale>
          <a:sx n="73" d="100"/>
          <a:sy n="73" d="100"/>
        </p:scale>
        <p:origin x="6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EDB9B9-3869-44B2-9866-16A528F83F63}" type="datetimeFigureOut">
              <a:rPr lang="en-US" smtClean="0"/>
              <a:t>1/13/2023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E8E81-B660-440E-A0B0-4859FD37D910}" type="slidenum">
              <a:rPr lang="en-US" smtClean="0"/>
              <a:t>‹#›</a:t>
            </a:fld>
            <a:endParaRPr lang="en-US"/>
          </a:p>
        </p:txBody>
      </p:sp>
    </p:spTree>
    <p:extLst>
      <p:ext uri="{BB962C8B-B14F-4D97-AF65-F5344CB8AC3E}">
        <p14:creationId xmlns:p14="http://schemas.microsoft.com/office/powerpoint/2010/main" val="4188392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4</a:t>
            </a:fld>
            <a:endParaRPr lang="en-US"/>
          </a:p>
        </p:txBody>
      </p:sp>
    </p:spTree>
    <p:extLst>
      <p:ext uri="{BB962C8B-B14F-4D97-AF65-F5344CB8AC3E}">
        <p14:creationId xmlns:p14="http://schemas.microsoft.com/office/powerpoint/2010/main" val="2515318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5</a:t>
            </a:fld>
            <a:endParaRPr lang="en-US"/>
          </a:p>
        </p:txBody>
      </p:sp>
    </p:spTree>
    <p:extLst>
      <p:ext uri="{BB962C8B-B14F-4D97-AF65-F5344CB8AC3E}">
        <p14:creationId xmlns:p14="http://schemas.microsoft.com/office/powerpoint/2010/main" val="2275892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6</a:t>
            </a:fld>
            <a:endParaRPr lang="en-US"/>
          </a:p>
        </p:txBody>
      </p:sp>
    </p:spTree>
    <p:extLst>
      <p:ext uri="{BB962C8B-B14F-4D97-AF65-F5344CB8AC3E}">
        <p14:creationId xmlns:p14="http://schemas.microsoft.com/office/powerpoint/2010/main" val="3146438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8</a:t>
            </a:fld>
            <a:endParaRPr lang="en-US"/>
          </a:p>
        </p:txBody>
      </p:sp>
    </p:spTree>
    <p:extLst>
      <p:ext uri="{BB962C8B-B14F-4D97-AF65-F5344CB8AC3E}">
        <p14:creationId xmlns:p14="http://schemas.microsoft.com/office/powerpoint/2010/main" val="307907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10</a:t>
            </a:fld>
            <a:endParaRPr lang="en-US"/>
          </a:p>
        </p:txBody>
      </p:sp>
    </p:spTree>
    <p:extLst>
      <p:ext uri="{BB962C8B-B14F-4D97-AF65-F5344CB8AC3E}">
        <p14:creationId xmlns:p14="http://schemas.microsoft.com/office/powerpoint/2010/main" val="606471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11</a:t>
            </a:fld>
            <a:endParaRPr lang="en-US"/>
          </a:p>
        </p:txBody>
      </p:sp>
    </p:spTree>
    <p:extLst>
      <p:ext uri="{BB962C8B-B14F-4D97-AF65-F5344CB8AC3E}">
        <p14:creationId xmlns:p14="http://schemas.microsoft.com/office/powerpoint/2010/main" val="599369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D0AE8E81-B660-440E-A0B0-4859FD37D910}" type="slidenum">
              <a:rPr lang="en-US" smtClean="0"/>
              <a:t>13</a:t>
            </a:fld>
            <a:endParaRPr lang="en-US"/>
          </a:p>
        </p:txBody>
      </p:sp>
    </p:spTree>
    <p:extLst>
      <p:ext uri="{BB962C8B-B14F-4D97-AF65-F5344CB8AC3E}">
        <p14:creationId xmlns:p14="http://schemas.microsoft.com/office/powerpoint/2010/main" val="1312480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14</a:t>
            </a:fld>
            <a:endParaRPr lang="en-US"/>
          </a:p>
        </p:txBody>
      </p:sp>
    </p:spTree>
    <p:extLst>
      <p:ext uri="{BB962C8B-B14F-4D97-AF65-F5344CB8AC3E}">
        <p14:creationId xmlns:p14="http://schemas.microsoft.com/office/powerpoint/2010/main" val="1849121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15</a:t>
            </a:fld>
            <a:endParaRPr lang="en-US"/>
          </a:p>
        </p:txBody>
      </p:sp>
    </p:spTree>
    <p:extLst>
      <p:ext uri="{BB962C8B-B14F-4D97-AF65-F5344CB8AC3E}">
        <p14:creationId xmlns:p14="http://schemas.microsoft.com/office/powerpoint/2010/main" val="1480818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17</a:t>
            </a:fld>
            <a:endParaRPr lang="en-US"/>
          </a:p>
        </p:txBody>
      </p:sp>
    </p:spTree>
    <p:extLst>
      <p:ext uri="{BB962C8B-B14F-4D97-AF65-F5344CB8AC3E}">
        <p14:creationId xmlns:p14="http://schemas.microsoft.com/office/powerpoint/2010/main" val="3561120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18</a:t>
            </a:fld>
            <a:endParaRPr lang="en-US"/>
          </a:p>
        </p:txBody>
      </p:sp>
    </p:spTree>
    <p:extLst>
      <p:ext uri="{BB962C8B-B14F-4D97-AF65-F5344CB8AC3E}">
        <p14:creationId xmlns:p14="http://schemas.microsoft.com/office/powerpoint/2010/main" val="3357583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Paradoxically, such provision is rare because:</a:t>
            </a:r>
          </a:p>
          <a:p>
            <a:r>
              <a:rPr lang="en-US" sz="1200" b="0" i="0" u="none" strike="noStrike" kern="1200" baseline="0" dirty="0">
                <a:solidFill>
                  <a:schemeClr val="tx1"/>
                </a:solidFill>
                <a:latin typeface="+mn-lt"/>
                <a:ea typeface="+mn-ea"/>
                <a:cs typeface="+mn-cs"/>
              </a:rPr>
              <a:t>1. Developers are very reluctant to accept penalty clauses. Anything stronger than the example quoted above is likely to lead to reputable developers</a:t>
            </a:r>
          </a:p>
          <a:p>
            <a:r>
              <a:rPr lang="en-US" sz="1200" b="0" i="0" u="none" strike="noStrike" kern="1200" baseline="0" dirty="0">
                <a:solidFill>
                  <a:schemeClr val="tx1"/>
                </a:solidFill>
                <a:latin typeface="+mn-lt"/>
                <a:ea typeface="+mn-ea"/>
                <a:cs typeface="+mn-cs"/>
              </a:rPr>
              <a:t>refusing to bid.</a:t>
            </a:r>
          </a:p>
          <a:p>
            <a:r>
              <a:rPr lang="en-US" sz="1200" b="0" i="0" u="none" strike="noStrike" kern="1200" baseline="0" dirty="0">
                <a:solidFill>
                  <a:schemeClr val="tx1"/>
                </a:solidFill>
                <a:latin typeface="+mn-lt"/>
                <a:ea typeface="+mn-ea"/>
                <a:cs typeface="+mn-cs"/>
              </a:rPr>
              <a:t>2. If the contract is to include penalty clauses, the bid price is likely to be increased by at least ½ the max value of the penalty.</a:t>
            </a:r>
          </a:p>
          <a:p>
            <a:r>
              <a:rPr lang="en-US" sz="1200" b="0" i="0" u="none" strike="noStrike" kern="1200" baseline="0" dirty="0">
                <a:solidFill>
                  <a:schemeClr val="tx1"/>
                </a:solidFill>
                <a:latin typeface="+mn-lt"/>
                <a:ea typeface="+mn-ea"/>
                <a:cs typeface="+mn-cs"/>
              </a:rPr>
              <a:t>3. If the software is seriously late and penalties approach their maximum, there is little incentive for the developer to complete the work since they will</a:t>
            </a:r>
          </a:p>
          <a:p>
            <a:r>
              <a:rPr lang="en-US" sz="1200" b="0" i="0" u="none" strike="noStrike" kern="1200" baseline="0" dirty="0">
                <a:solidFill>
                  <a:schemeClr val="tx1"/>
                </a:solidFill>
                <a:latin typeface="+mn-lt"/>
                <a:ea typeface="+mn-ea"/>
                <a:cs typeface="+mn-cs"/>
              </a:rPr>
              <a:t>already have received in stage payments as much as they are going to get.</a:t>
            </a:r>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19</a:t>
            </a:fld>
            <a:endParaRPr lang="en-US"/>
          </a:p>
        </p:txBody>
      </p:sp>
    </p:spTree>
    <p:extLst>
      <p:ext uri="{BB962C8B-B14F-4D97-AF65-F5344CB8AC3E}">
        <p14:creationId xmlns:p14="http://schemas.microsoft.com/office/powerpoint/2010/main" val="1537537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23</a:t>
            </a:fld>
            <a:endParaRPr lang="en-US"/>
          </a:p>
        </p:txBody>
      </p:sp>
    </p:spTree>
    <p:extLst>
      <p:ext uri="{BB962C8B-B14F-4D97-AF65-F5344CB8AC3E}">
        <p14:creationId xmlns:p14="http://schemas.microsoft.com/office/powerpoint/2010/main" val="3767295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24</a:t>
            </a:fld>
            <a:endParaRPr lang="en-US"/>
          </a:p>
        </p:txBody>
      </p:sp>
    </p:spTree>
    <p:extLst>
      <p:ext uri="{BB962C8B-B14F-4D97-AF65-F5344CB8AC3E}">
        <p14:creationId xmlns:p14="http://schemas.microsoft.com/office/powerpoint/2010/main" val="3062151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26</a:t>
            </a:fld>
            <a:endParaRPr lang="en-US"/>
          </a:p>
        </p:txBody>
      </p:sp>
    </p:spTree>
    <p:extLst>
      <p:ext uri="{BB962C8B-B14F-4D97-AF65-F5344CB8AC3E}">
        <p14:creationId xmlns:p14="http://schemas.microsoft.com/office/powerpoint/2010/main" val="4289026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29</a:t>
            </a:fld>
            <a:endParaRPr lang="en-US"/>
          </a:p>
        </p:txBody>
      </p:sp>
    </p:spTree>
    <p:extLst>
      <p:ext uri="{BB962C8B-B14F-4D97-AF65-F5344CB8AC3E}">
        <p14:creationId xmlns:p14="http://schemas.microsoft.com/office/powerpoint/2010/main" val="4297633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are the different types of software licenses?</a:t>
            </a:r>
          </a:p>
          <a:p>
            <a:r>
              <a:rPr lang="en-US" dirty="0"/>
              <a:t>If you write code, you also reuse code, including code snippets, libraries, functions, frameworks, and entire applications. All software code comes with certain rights and obligations if you want to add it to your codebase. Free and open source software (FOSS) is free of cost, but you aren’t free to use it as you wish. Even unlicensed code snippets copied from Stack Overflow have obligations for reuse. But formally developed code usually comes with a specific software license.</a:t>
            </a:r>
          </a:p>
          <a:p>
            <a:r>
              <a:rPr lang="en-US" dirty="0"/>
              <a:t>There are many different types of software licenses, and the penalties for license noncompliance can be harsh. If you reuse a component without following the obligations of its license, the licensor might sue, and you might be forced to publish your own source code. To protect your code and your organization, you need to understand these software licenses before using any code, including libraries and frameworks, you didn’t write yourself.</a:t>
            </a:r>
          </a:p>
          <a:p>
            <a:endParaRPr lang="en-US" dirty="0"/>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Public domain</a:t>
            </a:r>
            <a:r>
              <a:rPr lang="en-US" sz="1200" b="0" i="0" u="none" strike="noStrike" kern="1200" baseline="0" dirty="0">
                <a:solidFill>
                  <a:schemeClr val="tx1"/>
                </a:solidFill>
                <a:latin typeface="+mn-lt"/>
                <a:ea typeface="+mn-ea"/>
                <a:cs typeface="+mn-cs"/>
              </a:rPr>
              <a:t>. This is the most permissive type of software license. When software is in the public domain, </a:t>
            </a:r>
            <a:r>
              <a:rPr lang="en-US" sz="1200" b="0" i="0" u="none" strike="noStrike" kern="1200" baseline="0" dirty="0" err="1">
                <a:solidFill>
                  <a:schemeClr val="tx1"/>
                </a:solidFill>
                <a:latin typeface="+mn-lt"/>
                <a:ea typeface="+mn-ea"/>
                <a:cs typeface="+mn-cs"/>
              </a:rPr>
              <a:t>anyonecan</a:t>
            </a:r>
            <a:r>
              <a:rPr lang="en-US" sz="1200" b="0" i="0" u="none" strike="noStrike" kern="1200" baseline="0" dirty="0">
                <a:solidFill>
                  <a:schemeClr val="tx1"/>
                </a:solidFill>
                <a:latin typeface="+mn-lt"/>
                <a:ea typeface="+mn-ea"/>
                <a:cs typeface="+mn-cs"/>
              </a:rPr>
              <a:t> modify and use the software without any restrictions. But you should always make sure it’s secure </a:t>
            </a:r>
            <a:r>
              <a:rPr lang="en-US" sz="1200" b="0" i="0" u="none" strike="noStrike" kern="1200" baseline="0" dirty="0" err="1">
                <a:solidFill>
                  <a:schemeClr val="tx1"/>
                </a:solidFill>
                <a:latin typeface="+mn-lt"/>
                <a:ea typeface="+mn-ea"/>
                <a:cs typeface="+mn-cs"/>
              </a:rPr>
              <a:t>beforeadding</a:t>
            </a:r>
            <a:r>
              <a:rPr lang="en-US" sz="1200" b="0" i="0" u="none" strike="noStrike" kern="1200" baseline="0" dirty="0">
                <a:solidFill>
                  <a:schemeClr val="tx1"/>
                </a:solidFill>
                <a:latin typeface="+mn-lt"/>
                <a:ea typeface="+mn-ea"/>
                <a:cs typeface="+mn-cs"/>
              </a:rPr>
              <a:t> it to your own codebase. Warning: Code that doesn’t have an explicit license is NOT automatically in </a:t>
            </a:r>
            <a:r>
              <a:rPr lang="en-US" sz="1200" b="0" i="0" u="none" strike="noStrike" kern="1200" baseline="0" dirty="0" err="1">
                <a:solidFill>
                  <a:schemeClr val="tx1"/>
                </a:solidFill>
                <a:latin typeface="+mn-lt"/>
                <a:ea typeface="+mn-ea"/>
                <a:cs typeface="+mn-cs"/>
              </a:rPr>
              <a:t>thepublic</a:t>
            </a:r>
            <a:r>
              <a:rPr lang="en-US" sz="1200" b="0" i="0" u="none" strike="noStrike" kern="1200" baseline="0" dirty="0">
                <a:solidFill>
                  <a:schemeClr val="tx1"/>
                </a:solidFill>
                <a:latin typeface="+mn-lt"/>
                <a:ea typeface="+mn-ea"/>
                <a:cs typeface="+mn-cs"/>
              </a:rPr>
              <a:t> domain. This includes code snippets you find on the internet.</a:t>
            </a:r>
          </a:p>
          <a:p>
            <a:r>
              <a:rPr lang="en-US" sz="1200" b="1" i="0" u="none" strike="noStrike" kern="1200" baseline="0" dirty="0">
                <a:solidFill>
                  <a:schemeClr val="tx1"/>
                </a:solidFill>
                <a:latin typeface="+mn-lt"/>
                <a:ea typeface="+mn-ea"/>
                <a:cs typeface="+mn-cs"/>
              </a:rPr>
              <a:t>Permissive</a:t>
            </a:r>
            <a:r>
              <a:rPr lang="en-US" sz="1200" b="0" i="0" u="none" strike="noStrike" kern="1200" baseline="0" dirty="0">
                <a:solidFill>
                  <a:schemeClr val="tx1"/>
                </a:solidFill>
                <a:latin typeface="+mn-lt"/>
                <a:ea typeface="+mn-ea"/>
                <a:cs typeface="+mn-cs"/>
              </a:rPr>
              <a:t>. Permissive licenses are also known as “Apache style” or “BSD style.” They contain minimal requirements about how </a:t>
            </a:r>
            <a:r>
              <a:rPr lang="en-US" sz="1200" b="0" i="0" u="none" strike="noStrike" kern="1200" baseline="0" dirty="0" err="1">
                <a:solidFill>
                  <a:schemeClr val="tx1"/>
                </a:solidFill>
                <a:latin typeface="+mn-lt"/>
                <a:ea typeface="+mn-ea"/>
                <a:cs typeface="+mn-cs"/>
              </a:rPr>
              <a:t>thesoftware</a:t>
            </a:r>
            <a:r>
              <a:rPr lang="en-US" sz="1200" b="0" i="0" u="none" strike="noStrike" kern="1200" baseline="0" dirty="0">
                <a:solidFill>
                  <a:schemeClr val="tx1"/>
                </a:solidFill>
                <a:latin typeface="+mn-lt"/>
                <a:ea typeface="+mn-ea"/>
                <a:cs typeface="+mn-cs"/>
              </a:rPr>
              <a:t> can be modified or redistributed. This type of software license is perhaps the most popular license </a:t>
            </a:r>
            <a:r>
              <a:rPr lang="en-US" sz="1200" b="0" i="0" u="none" strike="noStrike" kern="1200" baseline="0" dirty="0" err="1">
                <a:solidFill>
                  <a:schemeClr val="tx1"/>
                </a:solidFill>
                <a:latin typeface="+mn-lt"/>
                <a:ea typeface="+mn-ea"/>
                <a:cs typeface="+mn-cs"/>
              </a:rPr>
              <a:t>usedwith</a:t>
            </a:r>
            <a:r>
              <a:rPr lang="en-US" sz="1200" b="0" i="0" u="none" strike="noStrike" kern="1200" baseline="0" dirty="0">
                <a:solidFill>
                  <a:schemeClr val="tx1"/>
                </a:solidFill>
                <a:latin typeface="+mn-lt"/>
                <a:ea typeface="+mn-ea"/>
                <a:cs typeface="+mn-cs"/>
              </a:rPr>
              <a:t> free and open source software. Aside from the Apache License and the BSD License , another common variant is the </a:t>
            </a:r>
            <a:r>
              <a:rPr lang="en-US" sz="1200" b="0" i="0" u="none" strike="noStrike" kern="1200" baseline="0" dirty="0" err="1">
                <a:solidFill>
                  <a:schemeClr val="tx1"/>
                </a:solidFill>
                <a:latin typeface="+mn-lt"/>
                <a:ea typeface="+mn-ea"/>
                <a:cs typeface="+mn-cs"/>
              </a:rPr>
              <a:t>MITLicense</a:t>
            </a:r>
            <a:r>
              <a:rPr lang="en-US" sz="1200" b="0" i="0" u="none" strike="noStrike" kern="1200" baseline="0" dirty="0">
                <a:solidFill>
                  <a:schemeClr val="tx1"/>
                </a:solidFill>
                <a:latin typeface="+mn-lt"/>
                <a:ea typeface="+mn-ea"/>
                <a:cs typeface="+mn-cs"/>
              </a:rPr>
              <a:t> .(https://www.synopsys.com/blogs/software-security/permissive-licenses-deserverespect/) (https://www.apache.org/licenses/LICENSE- 2.0) (https://opensource.org/licenses/BSD-2-Clause) (https://opensource.org/licenses/MIT) </a:t>
            </a:r>
          </a:p>
          <a:p>
            <a:r>
              <a:rPr lang="en-US" sz="1200" b="1" i="0" u="none" strike="noStrike" kern="1200" baseline="0" dirty="0">
                <a:solidFill>
                  <a:schemeClr val="tx1"/>
                </a:solidFill>
                <a:latin typeface="+mn-lt"/>
                <a:ea typeface="+mn-ea"/>
                <a:cs typeface="+mn-cs"/>
              </a:rPr>
              <a:t>LGPL</a:t>
            </a:r>
            <a:r>
              <a:rPr lang="en-US" sz="1200" b="0" i="0" u="none" strike="noStrike" kern="1200" baseline="0" dirty="0">
                <a:solidFill>
                  <a:schemeClr val="tx1"/>
                </a:solidFill>
                <a:latin typeface="+mn-lt"/>
                <a:ea typeface="+mn-ea"/>
                <a:cs typeface="+mn-cs"/>
              </a:rPr>
              <a:t>. The GNU Lesser General Public License allows you to link </a:t>
            </a:r>
            <a:r>
              <a:rPr lang="en-US" sz="1200" b="0" i="0" u="none" strike="noStrike" kern="1200" baseline="0" dirty="0" err="1">
                <a:solidFill>
                  <a:schemeClr val="tx1"/>
                </a:solidFill>
                <a:latin typeface="+mn-lt"/>
                <a:ea typeface="+mn-ea"/>
                <a:cs typeface="+mn-cs"/>
              </a:rPr>
              <a:t>toopen</a:t>
            </a:r>
            <a:r>
              <a:rPr lang="en-US" sz="1200" b="0" i="0" u="none" strike="noStrike" kern="1200" baseline="0" dirty="0">
                <a:solidFill>
                  <a:schemeClr val="tx1"/>
                </a:solidFill>
                <a:latin typeface="+mn-lt"/>
                <a:ea typeface="+mn-ea"/>
                <a:cs typeface="+mn-cs"/>
              </a:rPr>
              <a:t> source libraries in your software. If you simply compile or link an LGPL-licensed library with your own </a:t>
            </a:r>
            <a:r>
              <a:rPr lang="en-US" sz="1200" b="0" i="0" u="none" strike="noStrike" kern="1200" baseline="0" dirty="0" err="1">
                <a:solidFill>
                  <a:schemeClr val="tx1"/>
                </a:solidFill>
                <a:latin typeface="+mn-lt"/>
                <a:ea typeface="+mn-ea"/>
                <a:cs typeface="+mn-cs"/>
              </a:rPr>
              <a:t>code,you</a:t>
            </a:r>
            <a:r>
              <a:rPr lang="en-US" sz="1200" b="0" i="0" u="none" strike="noStrike" kern="1200" baseline="0" dirty="0">
                <a:solidFill>
                  <a:schemeClr val="tx1"/>
                </a:solidFill>
                <a:latin typeface="+mn-lt"/>
                <a:ea typeface="+mn-ea"/>
                <a:cs typeface="+mn-cs"/>
              </a:rPr>
              <a:t> can release your application under any license you want, even a proprietary license. But if you modify the </a:t>
            </a:r>
            <a:r>
              <a:rPr lang="en-US" sz="1200" b="0" i="0" u="none" strike="noStrike" kern="1200" baseline="0" dirty="0" err="1">
                <a:solidFill>
                  <a:schemeClr val="tx1"/>
                </a:solidFill>
                <a:latin typeface="+mn-lt"/>
                <a:ea typeface="+mn-ea"/>
                <a:cs typeface="+mn-cs"/>
              </a:rPr>
              <a:t>libraryor</a:t>
            </a:r>
            <a:r>
              <a:rPr lang="en-US" sz="1200" b="0" i="0" u="none" strike="noStrike" kern="1200" baseline="0" dirty="0">
                <a:solidFill>
                  <a:schemeClr val="tx1"/>
                </a:solidFill>
                <a:latin typeface="+mn-lt"/>
                <a:ea typeface="+mn-ea"/>
                <a:cs typeface="+mn-cs"/>
              </a:rPr>
              <a:t> copy parts of it into your code, you’ll have to release your application under similar terms as the LGPL.(https://www.gnu.org/licenses/lgpl-3.0.en.html) </a:t>
            </a:r>
          </a:p>
          <a:p>
            <a:r>
              <a:rPr lang="en-US" sz="1200" b="1" i="0" u="none" strike="noStrike" kern="1200" baseline="0" dirty="0" err="1">
                <a:solidFill>
                  <a:schemeClr val="tx1"/>
                </a:solidFill>
                <a:latin typeface="+mn-lt"/>
                <a:ea typeface="+mn-ea"/>
                <a:cs typeface="+mn-cs"/>
              </a:rPr>
              <a:t>Copyleft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Copyleft</a:t>
            </a:r>
            <a:r>
              <a:rPr lang="en-US" sz="1200" b="0" i="0" u="none" strike="noStrike" kern="1200" baseline="0" dirty="0">
                <a:solidFill>
                  <a:schemeClr val="tx1"/>
                </a:solidFill>
                <a:latin typeface="+mn-lt"/>
                <a:ea typeface="+mn-ea"/>
                <a:cs typeface="+mn-cs"/>
              </a:rPr>
              <a:t> licenses are also known as reciprocal licenses or restrictive licenses. The most well-</a:t>
            </a:r>
            <a:r>
              <a:rPr lang="en-US" sz="1200" b="0" i="0" u="none" strike="noStrike" kern="1200" baseline="0" dirty="0" err="1">
                <a:solidFill>
                  <a:schemeClr val="tx1"/>
                </a:solidFill>
                <a:latin typeface="+mn-lt"/>
                <a:ea typeface="+mn-ea"/>
                <a:cs typeface="+mn-cs"/>
              </a:rPr>
              <a:t>knownexample</a:t>
            </a:r>
            <a:r>
              <a:rPr lang="en-US" sz="1200" b="0" i="0" u="none" strike="noStrike" kern="1200" baseline="0" dirty="0">
                <a:solidFill>
                  <a:schemeClr val="tx1"/>
                </a:solidFill>
                <a:latin typeface="+mn-lt"/>
                <a:ea typeface="+mn-ea"/>
                <a:cs typeface="+mn-cs"/>
              </a:rPr>
              <a:t> of a </a:t>
            </a:r>
            <a:r>
              <a:rPr lang="en-US" sz="1200" b="0" i="0" u="none" strike="noStrike" kern="1200" baseline="0" dirty="0" err="1">
                <a:solidFill>
                  <a:schemeClr val="tx1"/>
                </a:solidFill>
                <a:latin typeface="+mn-lt"/>
                <a:ea typeface="+mn-ea"/>
                <a:cs typeface="+mn-cs"/>
              </a:rPr>
              <a:t>copyleft</a:t>
            </a:r>
            <a:r>
              <a:rPr lang="en-US" sz="1200" b="0" i="0" u="none" strike="noStrike" kern="1200" baseline="0" dirty="0">
                <a:solidFill>
                  <a:schemeClr val="tx1"/>
                </a:solidFill>
                <a:latin typeface="+mn-lt"/>
                <a:ea typeface="+mn-ea"/>
                <a:cs typeface="+mn-cs"/>
              </a:rPr>
              <a:t> or reciprocal license is the GPL . These licenses allow you to modify the licensed code and distribute new works based on it, as long </a:t>
            </a:r>
            <a:r>
              <a:rPr lang="en-US" sz="1200" b="0" i="0" u="none" strike="noStrike" kern="1200" baseline="0" dirty="0" err="1">
                <a:solidFill>
                  <a:schemeClr val="tx1"/>
                </a:solidFill>
                <a:latin typeface="+mn-lt"/>
                <a:ea typeface="+mn-ea"/>
                <a:cs typeface="+mn-cs"/>
              </a:rPr>
              <a:t>asyou</a:t>
            </a:r>
            <a:r>
              <a:rPr lang="en-US" sz="1200" b="0" i="0" u="none" strike="noStrike" kern="1200" baseline="0" dirty="0">
                <a:solidFill>
                  <a:schemeClr val="tx1"/>
                </a:solidFill>
                <a:latin typeface="+mn-lt"/>
                <a:ea typeface="+mn-ea"/>
                <a:cs typeface="+mn-cs"/>
              </a:rPr>
              <a:t> distribute any new works or adaptations under the same software license. For example, a component’s </a:t>
            </a:r>
            <a:r>
              <a:rPr lang="en-US" sz="1200" b="0" i="0" u="none" strike="noStrike" kern="1200" baseline="0" dirty="0" err="1">
                <a:solidFill>
                  <a:schemeClr val="tx1"/>
                </a:solidFill>
                <a:latin typeface="+mn-lt"/>
                <a:ea typeface="+mn-ea"/>
                <a:cs typeface="+mn-cs"/>
              </a:rPr>
              <a:t>licensemight</a:t>
            </a:r>
            <a:r>
              <a:rPr lang="en-US" sz="1200" b="0" i="0" u="none" strike="noStrike" kern="1200" baseline="0" dirty="0">
                <a:solidFill>
                  <a:schemeClr val="tx1"/>
                </a:solidFill>
                <a:latin typeface="+mn-lt"/>
                <a:ea typeface="+mn-ea"/>
                <a:cs typeface="+mn-cs"/>
              </a:rPr>
              <a:t> say the work is free to use and distribute for personal use only. So any derivative you create would also </a:t>
            </a:r>
            <a:r>
              <a:rPr lang="en-US" sz="1200" b="0" i="0" u="none" strike="noStrike" kern="1200" baseline="0" dirty="0" err="1">
                <a:solidFill>
                  <a:schemeClr val="tx1"/>
                </a:solidFill>
                <a:latin typeface="+mn-lt"/>
                <a:ea typeface="+mn-ea"/>
                <a:cs typeface="+mn-cs"/>
              </a:rPr>
              <a:t>belimited</a:t>
            </a:r>
            <a:r>
              <a:rPr lang="en-US" sz="1200" b="0" i="0" u="none" strike="noStrike" kern="1200" baseline="0" dirty="0">
                <a:solidFill>
                  <a:schemeClr val="tx1"/>
                </a:solidFill>
                <a:latin typeface="+mn-lt"/>
                <a:ea typeface="+mn-ea"/>
                <a:cs typeface="+mn-cs"/>
              </a:rPr>
              <a:t> to personal use only. (A derivative is any new software you develop that contains the component.)(https://www.synopsys.com/blogs/software-security/whosafraidgpl3/) </a:t>
            </a:r>
          </a:p>
          <a:p>
            <a:r>
              <a:rPr lang="en-US" sz="1200" b="1" i="0" u="none" strike="noStrike" kern="1200" baseline="0" dirty="0">
                <a:solidFill>
                  <a:schemeClr val="tx1"/>
                </a:solidFill>
                <a:latin typeface="+mn-lt"/>
                <a:ea typeface="+mn-ea"/>
                <a:cs typeface="+mn-cs"/>
              </a:rPr>
              <a:t>Proprietary</a:t>
            </a:r>
            <a:r>
              <a:rPr lang="en-US" sz="1200" b="0" i="0" u="none" strike="noStrike" kern="1200" baseline="0" dirty="0">
                <a:solidFill>
                  <a:schemeClr val="tx1"/>
                </a:solidFill>
                <a:latin typeface="+mn-lt"/>
                <a:ea typeface="+mn-ea"/>
                <a:cs typeface="+mn-cs"/>
              </a:rPr>
              <a:t>. Of all types of software licenses, this is the most restrictive. The idea behind it is that all rights </a:t>
            </a:r>
            <a:r>
              <a:rPr lang="en-US" sz="1200" b="0" i="0" u="none" strike="noStrike" kern="1200" baseline="0" dirty="0" err="1">
                <a:solidFill>
                  <a:schemeClr val="tx1"/>
                </a:solidFill>
                <a:latin typeface="+mn-lt"/>
                <a:ea typeface="+mn-ea"/>
                <a:cs typeface="+mn-cs"/>
              </a:rPr>
              <a:t>arereserved</a:t>
            </a:r>
            <a:r>
              <a:rPr lang="en-US" sz="1200" b="0" i="0" u="none" strike="noStrike" kern="1200" baseline="0" dirty="0">
                <a:solidFill>
                  <a:schemeClr val="tx1"/>
                </a:solidFill>
                <a:latin typeface="+mn-lt"/>
                <a:ea typeface="+mn-ea"/>
                <a:cs typeface="+mn-cs"/>
              </a:rPr>
              <a:t>. It’s generally used for proprietary software where the work may not be modified or redistributed. </a:t>
            </a:r>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31</a:t>
            </a:fld>
            <a:endParaRPr lang="en-US"/>
          </a:p>
        </p:txBody>
      </p:sp>
    </p:spTree>
    <p:extLst>
      <p:ext uri="{BB962C8B-B14F-4D97-AF65-F5344CB8AC3E}">
        <p14:creationId xmlns:p14="http://schemas.microsoft.com/office/powerpoint/2010/main" val="25473685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0AE8E81-B660-440E-A0B0-4859FD37D910}" type="slidenum">
              <a:rPr lang="en-US" smtClean="0"/>
              <a:t>33</a:t>
            </a:fld>
            <a:endParaRPr lang="en-US"/>
          </a:p>
        </p:txBody>
      </p:sp>
    </p:spTree>
    <p:extLst>
      <p:ext uri="{BB962C8B-B14F-4D97-AF65-F5344CB8AC3E}">
        <p14:creationId xmlns:p14="http://schemas.microsoft.com/office/powerpoint/2010/main" val="2499722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ACDB52C-A818-4FE5-B2F5-650B81843E42}"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503478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DB52C-A818-4FE5-B2F5-650B81843E42}"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240436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CDB52C-A818-4FE5-B2F5-650B81843E42}"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1512911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CDB52C-A818-4FE5-B2F5-650B81843E42}" type="datetimeFigureOut">
              <a:rPr lang="en-US" smtClean="0"/>
              <a:t>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3288537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CDB52C-A818-4FE5-B2F5-650B81843E42}" type="datetimeFigureOut">
              <a:rPr lang="en-US" smtClean="0"/>
              <a:t>1/13/2023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56836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CDB52C-A818-4FE5-B2F5-650B81843E42}" type="datetimeFigureOut">
              <a:rPr lang="en-US" smtClean="0"/>
              <a:t>1/13/2023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3860952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DB52C-A818-4FE5-B2F5-650B81843E42}" type="datetimeFigureOut">
              <a:rPr lang="en-US" smtClean="0"/>
              <a:t>1/13/2023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20710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CDB52C-A818-4FE5-B2F5-650B81843E42}" type="datetimeFigureOut">
              <a:rPr lang="en-US" smtClean="0"/>
              <a:t>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1618576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CDB52C-A818-4FE5-B2F5-650B81843E42}" type="datetimeFigureOut">
              <a:rPr lang="en-US" smtClean="0"/>
              <a:t>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235735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DB52C-A818-4FE5-B2F5-650B81843E42}"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289269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DB52C-A818-4FE5-B2F5-650B81843E42}" type="datetimeFigureOut">
              <a:rPr lang="en-US" smtClean="0"/>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4754F6-F986-4955-8543-F5FF00B3E147}" type="slidenum">
              <a:rPr lang="en-US" smtClean="0"/>
              <a:t>‹#›</a:t>
            </a:fld>
            <a:endParaRPr lang="en-US"/>
          </a:p>
        </p:txBody>
      </p:sp>
    </p:spTree>
    <p:extLst>
      <p:ext uri="{BB962C8B-B14F-4D97-AF65-F5344CB8AC3E}">
        <p14:creationId xmlns:p14="http://schemas.microsoft.com/office/powerpoint/2010/main" val="154030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DB52C-A818-4FE5-B2F5-650B81843E42}" type="datetimeFigureOut">
              <a:rPr lang="en-US" smtClean="0"/>
              <a:t>1/13/2023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4754F6-F986-4955-8543-F5FF00B3E147}" type="slidenum">
              <a:rPr lang="en-US" smtClean="0"/>
              <a:t>‹#›</a:t>
            </a:fld>
            <a:endParaRPr lang="en-US"/>
          </a:p>
        </p:txBody>
      </p:sp>
    </p:spTree>
    <p:extLst>
      <p:ext uri="{BB962C8B-B14F-4D97-AF65-F5344CB8AC3E}">
        <p14:creationId xmlns:p14="http://schemas.microsoft.com/office/powerpoint/2010/main" val="2400833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legalnature.com/categories/business/software-license-agreemen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New%20folder/02-Software%20License%20Agreement%20Template%20_%20LegalNature.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Contracts</a:t>
            </a:r>
          </a:p>
        </p:txBody>
      </p:sp>
      <p:sp>
        <p:nvSpPr>
          <p:cNvPr id="3" name="Subtitle 2"/>
          <p:cNvSpPr>
            <a:spLocks noGrp="1"/>
          </p:cNvSpPr>
          <p:nvPr>
            <p:ph type="subTitle" idx="1"/>
          </p:nvPr>
        </p:nvSpPr>
        <p:spPr>
          <a:xfrm>
            <a:off x="1039091" y="3602038"/>
            <a:ext cx="9628909" cy="1655762"/>
          </a:xfrm>
        </p:spPr>
        <p:txBody>
          <a:bodyPr/>
          <a:lstStyle/>
          <a:p>
            <a:endParaRPr lang="en-US" dirty="0"/>
          </a:p>
          <a:p>
            <a:r>
              <a:rPr lang="en-US" sz="2800" dirty="0"/>
              <a:t>Important </a:t>
            </a:r>
            <a:r>
              <a:rPr lang="en-US" sz="2800" dirty="0">
                <a:sym typeface="Wingdings" panose="05000000000000000000" pitchFamily="2" charset="2"/>
              </a:rPr>
              <a:t> so pay attention since it may be helpful in your </a:t>
            </a:r>
            <a:r>
              <a:rPr lang="en-US" sz="2800" i="1" dirty="0">
                <a:sym typeface="Wingdings" panose="05000000000000000000" pitchFamily="2" charset="2"/>
              </a:rPr>
              <a:t>Future Career</a:t>
            </a:r>
            <a:endParaRPr lang="en-US" i="1" dirty="0"/>
          </a:p>
        </p:txBody>
      </p:sp>
    </p:spTree>
    <p:extLst>
      <p:ext uri="{BB962C8B-B14F-4D97-AF65-F5344CB8AC3E}">
        <p14:creationId xmlns:p14="http://schemas.microsoft.com/office/powerpoint/2010/main" val="525725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pPr algn="just"/>
            <a:r>
              <a:rPr lang="en-US" dirty="0"/>
              <a:t>A </a:t>
            </a:r>
            <a:r>
              <a:rPr lang="en-US" dirty="0">
                <a:solidFill>
                  <a:srgbClr val="00B0F0"/>
                </a:solidFill>
              </a:rPr>
              <a:t>contract</a:t>
            </a:r>
            <a:r>
              <a:rPr lang="en-US" dirty="0"/>
              <a:t> is an </a:t>
            </a:r>
            <a:r>
              <a:rPr lang="en-US" dirty="0" smtClean="0"/>
              <a:t>agreement, </a:t>
            </a:r>
            <a:r>
              <a:rPr lang="en-US" dirty="0"/>
              <a:t>between two or more persons (the parties </a:t>
            </a:r>
            <a:r>
              <a:rPr lang="en-US" dirty="0" smtClean="0"/>
              <a:t>in </a:t>
            </a:r>
            <a:r>
              <a:rPr lang="en-US" dirty="0"/>
              <a:t>the contract</a:t>
            </a:r>
            <a:r>
              <a:rPr lang="en-US" dirty="0" smtClean="0"/>
              <a:t>), </a:t>
            </a:r>
            <a:r>
              <a:rPr lang="en-US" dirty="0"/>
              <a:t>that can be enforced in a court of law.</a:t>
            </a:r>
          </a:p>
          <a:p>
            <a:pPr algn="just">
              <a:defRPr/>
            </a:pPr>
            <a:r>
              <a:rPr lang="en-US" dirty="0"/>
              <a:t>An agreement between two or more parties for the doing or not doing of something specified. </a:t>
            </a:r>
          </a:p>
          <a:p>
            <a:pPr algn="just">
              <a:defRPr/>
            </a:pPr>
            <a:r>
              <a:rPr lang="en-US" dirty="0"/>
              <a:t>The parties may be legal or natural persons.</a:t>
            </a:r>
          </a:p>
          <a:p>
            <a:pPr algn="just">
              <a:defRPr/>
            </a:pPr>
            <a:r>
              <a:rPr lang="en-US" dirty="0"/>
              <a:t>Contracts serve the following purpose:</a:t>
            </a:r>
          </a:p>
          <a:p>
            <a:pPr lvl="1" algn="just">
              <a:defRPr/>
            </a:pPr>
            <a:r>
              <a:rPr lang="en-US" dirty="0"/>
              <a:t>Set out the agreement between the parties</a:t>
            </a:r>
          </a:p>
          <a:p>
            <a:pPr lvl="1" algn="just">
              <a:defRPr/>
            </a:pPr>
            <a:r>
              <a:rPr lang="en-US" dirty="0"/>
              <a:t>Set out the aims of the parties</a:t>
            </a:r>
          </a:p>
          <a:p>
            <a:pPr lvl="1" algn="just">
              <a:defRPr/>
            </a:pPr>
            <a:r>
              <a:rPr lang="en-US" dirty="0"/>
              <a:t>Provide for </a:t>
            </a:r>
            <a:r>
              <a:rPr lang="en-US" dirty="0" smtClean="0"/>
              <a:t>matters </a:t>
            </a:r>
            <a:r>
              <a:rPr lang="en-US" dirty="0"/>
              <a:t>arising while the contract is running</a:t>
            </a:r>
          </a:p>
          <a:p>
            <a:pPr lvl="1" algn="just">
              <a:defRPr/>
            </a:pPr>
            <a:r>
              <a:rPr lang="en-US" dirty="0"/>
              <a:t>Ways of  terminating the contract and the consequences</a:t>
            </a:r>
          </a:p>
          <a:p>
            <a:pPr algn="just"/>
            <a:endParaRPr lang="en-US" dirty="0"/>
          </a:p>
        </p:txBody>
      </p:sp>
    </p:spTree>
    <p:extLst>
      <p:ext uri="{BB962C8B-B14F-4D97-AF65-F5344CB8AC3E}">
        <p14:creationId xmlns:p14="http://schemas.microsoft.com/office/powerpoint/2010/main" val="3949072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lnSpcReduction="10000"/>
          </a:bodyPr>
          <a:lstStyle/>
          <a:p>
            <a:r>
              <a:rPr lang="en-US" dirty="0"/>
              <a:t>If the contracts are too harsh or unfair causing any issue between parties to be unresolved, it is the responsibility of contract laws to scrutinize according to the rules</a:t>
            </a:r>
          </a:p>
          <a:p>
            <a:pPr>
              <a:defRPr/>
            </a:pPr>
            <a:r>
              <a:rPr lang="en-US" dirty="0"/>
              <a:t>There are almost never disputes over contracts which run perfectly. Example marriage.</a:t>
            </a:r>
          </a:p>
          <a:p>
            <a:pPr>
              <a:defRPr/>
            </a:pPr>
            <a:r>
              <a:rPr lang="en-US" dirty="0"/>
              <a:t>Example of a ship carrying a cargo.</a:t>
            </a:r>
          </a:p>
          <a:p>
            <a:pPr>
              <a:defRPr/>
            </a:pPr>
            <a:r>
              <a:rPr lang="en-US" dirty="0"/>
              <a:t>In order to avoid disputes and future difficulties it is better to draft a document which sets out: </a:t>
            </a:r>
          </a:p>
          <a:p>
            <a:pPr lvl="1">
              <a:defRPr/>
            </a:pPr>
            <a:r>
              <a:rPr lang="en-US" dirty="0"/>
              <a:t>The terms on which both parties agree to work</a:t>
            </a:r>
          </a:p>
          <a:p>
            <a:pPr lvl="1">
              <a:defRPr/>
            </a:pPr>
            <a:r>
              <a:rPr lang="en-US" dirty="0"/>
              <a:t>Methods of payments</a:t>
            </a:r>
          </a:p>
          <a:p>
            <a:pPr lvl="1">
              <a:defRPr/>
            </a:pPr>
            <a:r>
              <a:rPr lang="en-US" dirty="0"/>
              <a:t>Appropriate ways to terminate the </a:t>
            </a:r>
            <a:r>
              <a:rPr lang="en-US" dirty="0" smtClean="0"/>
              <a:t>contract (notice required)</a:t>
            </a:r>
            <a:endParaRPr lang="en-US" dirty="0"/>
          </a:p>
        </p:txBody>
      </p:sp>
    </p:spTree>
    <p:extLst>
      <p:ext uri="{BB962C8B-B14F-4D97-AF65-F5344CB8AC3E}">
        <p14:creationId xmlns:p14="http://schemas.microsoft.com/office/powerpoint/2010/main" val="1293619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pPr algn="just"/>
            <a:r>
              <a:rPr lang="en-US" dirty="0"/>
              <a:t>Contract should be clear, concise  and consistent. </a:t>
            </a:r>
          </a:p>
          <a:p>
            <a:pPr algn="just"/>
            <a:r>
              <a:rPr lang="en-US" dirty="0"/>
              <a:t>There should be no ambiguity and the parties to the agreement should be left in no doubt as to their rights and duties. </a:t>
            </a:r>
          </a:p>
          <a:p>
            <a:pPr algn="just"/>
            <a:r>
              <a:rPr lang="en-US" dirty="0"/>
              <a:t>Ambiguity and doubts can lead to situations which is viewed as unsatisfactory. </a:t>
            </a:r>
          </a:p>
          <a:p>
            <a:pPr algn="just"/>
            <a:r>
              <a:rPr lang="en-US" dirty="0"/>
              <a:t>This can lead to disagreement and the expenditure of time, effort and therefore money, in resolving the matter.</a:t>
            </a:r>
          </a:p>
        </p:txBody>
      </p:sp>
    </p:spTree>
    <p:extLst>
      <p:ext uri="{BB962C8B-B14F-4D97-AF65-F5344CB8AC3E}">
        <p14:creationId xmlns:p14="http://schemas.microsoft.com/office/powerpoint/2010/main" val="22421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0538"/>
          </a:xfrm>
        </p:spPr>
        <p:txBody>
          <a:bodyPr/>
          <a:lstStyle/>
          <a:p>
            <a:r>
              <a:rPr lang="en-US" dirty="0"/>
              <a:t>What does the Quran say </a:t>
            </a:r>
            <a:r>
              <a:rPr lang="en-US"/>
              <a:t>about </a:t>
            </a:r>
            <a:r>
              <a:rPr lang="en-US" smtClean="0"/>
              <a:t>Contracts?</a:t>
            </a:r>
            <a:endParaRPr lang="en-US" dirty="0"/>
          </a:p>
        </p:txBody>
      </p:sp>
      <p:sp>
        <p:nvSpPr>
          <p:cNvPr id="3" name="Content Placeholder 2"/>
          <p:cNvSpPr>
            <a:spLocks noGrp="1"/>
          </p:cNvSpPr>
          <p:nvPr>
            <p:ph idx="1"/>
          </p:nvPr>
        </p:nvSpPr>
        <p:spPr>
          <a:xfrm>
            <a:off x="568036" y="1690688"/>
            <a:ext cx="10785764" cy="4486275"/>
          </a:xfrm>
        </p:spPr>
        <p:txBody>
          <a:bodyPr>
            <a:normAutofit/>
          </a:bodyPr>
          <a:lstStyle/>
          <a:p>
            <a:pPr algn="just" rtl="1"/>
            <a:r>
              <a:rPr lang="ur-PK" sz="3000" b="0" i="0" dirty="0">
                <a:solidFill>
                  <a:srgbClr val="006400"/>
                </a:solidFill>
                <a:effectLst/>
                <a:latin typeface="quran"/>
              </a:rPr>
              <a:t>يَآ اَيُّـهَا الَّـذِيْنَ اٰمَنُـوٓا اِذَا تَدَايَنْتُـمْ بِدَيْنٍ اِلٰٓى اَجَلٍ مُّسَمًّى فَاكْـتُبُوْهُ ۚ وَلْيَكْـتُبْ بَّيْنَكُمْ كَاتِبٌ بِالْعَدْلِ ۚ وَلَا يَاْبَ كَاتِبٌ اَنْ يَّكْـتُبَ كَمَا عَلَّمَهُ اللّـٰهُ ۚ فَلْيَكْـتُبْۚ وَلْيُمْلِلِ الَّـذِىْ عَلَيْهِ الْحَقُّ وَلْيَتَّقِ اللّـٰهَ رَبَّهٝ وَلَا يَبْخَسْ مِنْهُ شَيْئًا ۚ فَاِنْ كَانَ الَّـذِىْ عَلَيْهِ الْحَقُّ سَفِـيْهًا اَوْ ضَعِيْفًا اَوْ لَا يَسْتَطِيْعُ اَنْ يُّمِلَّ هُوَ فَلْيُمْلِلْ وَلِيُّهٝ بِالْعَدْلِ ۚ وَاسْتَشْهِدُوْا شَهِيْدَيْنِ مِنْ رِّجَالِكُمْ ۖ فَاِنْ لَّمْ يَكُـوْنَا رَجُلَيْنِ فَرَجُلٌ وَّامْرَاَتَانِ مِمَّن تَـرْضَوْنَ مِنَ الشُّهَدَآءِ اَنْ تَضِلَّ اِحْدَاهُمَا فَتُذَكِّرَ اِحْدَاهُمَا الْاُخْرٰى ۚ وَلَا يَاْبَ الشُّهَدَآءُ اِذَا مَا دُعُوْا ۚ وَلَا تَسْاَمُـوٓا اَنْ تَكْـتُـبُوهُ صَغِيْـرًا اَوْ كَبِيْـرًا اِلٰٓى اَجَلِـهٖ ۚ ذٰلِكُمْ اَقْسَطُ عِنْدَ اللّـٰهِ وَاَقْوَمُ لِلشَّهَادَةِ وَاَدْنٰٓى اَلَّا تَـرْتَابُـوٓا ۖ اِلَّآ اَنْ تَكُـوْنَ تِجَارَةً حَاضِرَةً تُدِيْـرُوْنَـهَا بَيْنَكُمْ فَلَيْسَ عَلَيْكُمْ جُنَاحٌ اَلَّا تَكْـتُبُوْهَا ۗ وَاَشْهِدُوٓا اِذَا تَبَايَعْتُـمْ ۚ وَلَا يُضَآرَّ كَاتِبٌ وَّلَا شَهِيْدٌ ۚ وَاِنْ تَفْعَلُوْا فَاِنَّهٝ فُسُوْقٌ بِكُمْ ۗ وَاتَّقُوا اللّـٰهَ ۖ وَيُعَلِّمُكُمُ اللّـٰهُ ۗ وَاللّـٰهُ بِكُلِّ شَىْءٍ عَلِـيْـمٌ </a:t>
            </a:r>
            <a:r>
              <a:rPr lang="ur-PK" sz="3000" b="0" i="0" dirty="0">
                <a:solidFill>
                  <a:srgbClr val="006400"/>
                </a:solidFill>
                <a:effectLst/>
                <a:latin typeface="Tahoma" panose="020B0604030504040204" pitchFamily="34" charset="0"/>
              </a:rPr>
              <a:t>(البقرۃ - 282)</a:t>
            </a:r>
            <a:endParaRPr lang="en-US" sz="3000" dirty="0"/>
          </a:p>
        </p:txBody>
      </p:sp>
    </p:spTree>
    <p:extLst>
      <p:ext uri="{BB962C8B-B14F-4D97-AF65-F5344CB8AC3E}">
        <p14:creationId xmlns:p14="http://schemas.microsoft.com/office/powerpoint/2010/main" val="1762654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0538"/>
          </a:xfrm>
        </p:spPr>
        <p:txBody>
          <a:bodyPr/>
          <a:lstStyle/>
          <a:p>
            <a:r>
              <a:rPr lang="en-US" dirty="0"/>
              <a:t>Contract in Quran [Translation]</a:t>
            </a:r>
          </a:p>
        </p:txBody>
      </p:sp>
      <p:sp>
        <p:nvSpPr>
          <p:cNvPr id="3" name="Content Placeholder 2"/>
          <p:cNvSpPr>
            <a:spLocks noGrp="1"/>
          </p:cNvSpPr>
          <p:nvPr>
            <p:ph idx="1"/>
          </p:nvPr>
        </p:nvSpPr>
        <p:spPr>
          <a:xfrm>
            <a:off x="368969" y="1395664"/>
            <a:ext cx="11357810" cy="5462336"/>
          </a:xfrm>
        </p:spPr>
        <p:txBody>
          <a:bodyPr>
            <a:noAutofit/>
          </a:bodyPr>
          <a:lstStyle/>
          <a:p>
            <a:pPr algn="just" rtl="1"/>
            <a:r>
              <a:rPr lang="ur-PK" sz="2400" dirty="0"/>
              <a:t>مومنو! جب تم آپس میں کسی میعاد معین کے لئے قرض کا معاملہ کرنے لگو تو اس کو لکھ لیا کرو اور لکھنے والا تم میں (کسی کا نقصان نہ کرے بلکہ) انصاف سے لکھے نیز لکھنے والا جیسا اسے خدا نے سکھایا ہے لکھنے سے انکار بھی نہ کرے اور دستاویز لکھ دے۔ اور جو شخص قرض لے وہی (دستاویز کا) مضمون بول کر لکھوائے اور خدا سے کہ اس کا مالک ہے خوف کرے اور زر قرض میں سے کچھ کم نہ لکھوائے۔ اور اگر قرض لینے والا بےعقل یا ضعیف ہو یا مضمون لکھوانے کی قابلیت نہ رکھتا ہو تو جو اس کا ولی ہو وہ انصاف کے ساتھ مضمون لکھوائے۔ اور اپنے میں سے دو مردوں کو (ایسے معاملے کے) گواہ کرلیا کرو۔ اور اگر دو مرد نہ ہوں تو ایک مرد اور دو عورتیں جن کو تم گواہ پسند کرو (کافی ہیں) کہ اگر ان میں سے ایک بھول جائے گی تو دوسری اسے یاد دلادے گی۔ اور جب گواہ (گواہی کے لئے طلب کئے جائیں تو انکار نہ کریں۔ اور قرض تھوڑا ہو یا بہت اس (کی دستاویز) کے لکھنے میں کاہلی نہ کرنا۔ یہ بات خدا کے نزدیک نہایت قرین انصاف ہے اور شہادت کے لئے بھی یہ بہت درست طریقہ ہے۔ اس سے تمہیں کسی طرح کا شک وہ شبہ بھی نہیں پڑے گا۔ ہاں اگر سودا دست بدست ہو جو تم آپس میں لیتے دیتے ہو تو اگر (ایسے معاملے کی) دستاویز نہ لکھوتو تم پر کچھ گناہ نہیں۔ اور جب خرید وفروخت کیا کرو تو بھی گواہ کرلیا کرو۔ اور کاتب دستاویز اور گواہ (معاملہ کرنے والوں کا) کسی طرح نقصان نہ کریں۔ اگر تم (لوگ) ایسا کرو تو یہ تمہارے لئے گناہ کی بات ہے۔ اور خدا سے ڈرو اور (دیکھو کہ) وہ تم کو (کیسی مفید باتیں) سکھاتا ہے اور خدا ہر چیز سے واقف ہے  ﴿۲۸۲﴾</a:t>
            </a:r>
            <a:endParaRPr lang="en-US" sz="2400" dirty="0">
              <a:solidFill>
                <a:schemeClr val="accent5"/>
              </a:solidFill>
            </a:endParaRPr>
          </a:p>
        </p:txBody>
      </p:sp>
    </p:spTree>
    <p:extLst>
      <p:ext uri="{BB962C8B-B14F-4D97-AF65-F5344CB8AC3E}">
        <p14:creationId xmlns:p14="http://schemas.microsoft.com/office/powerpoint/2010/main" val="2795607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Contracts</a:t>
            </a:r>
          </a:p>
        </p:txBody>
      </p:sp>
      <p:sp>
        <p:nvSpPr>
          <p:cNvPr id="3" name="Content Placeholder 2"/>
          <p:cNvSpPr>
            <a:spLocks noGrp="1"/>
          </p:cNvSpPr>
          <p:nvPr>
            <p:ph idx="1"/>
          </p:nvPr>
        </p:nvSpPr>
        <p:spPr/>
        <p:txBody>
          <a:bodyPr/>
          <a:lstStyle/>
          <a:p>
            <a:r>
              <a:rPr lang="en-GB" altLang="en-US" dirty="0"/>
              <a:t>Agreement between the parties</a:t>
            </a:r>
          </a:p>
          <a:p>
            <a:r>
              <a:rPr lang="en-GB" altLang="en-US" dirty="0"/>
              <a:t>Commercial in nature </a:t>
            </a:r>
          </a:p>
          <a:p>
            <a:r>
              <a:rPr lang="en-GB" altLang="en-US" dirty="0"/>
              <a:t>Governed by the standard Law of Contracts</a:t>
            </a:r>
          </a:p>
          <a:p>
            <a:r>
              <a:rPr lang="en-GB" altLang="en-US" dirty="0"/>
              <a:t>Specific problems relating to e-commerce</a:t>
            </a:r>
          </a:p>
          <a:p>
            <a:endParaRPr lang="en-US" dirty="0"/>
          </a:p>
        </p:txBody>
      </p:sp>
    </p:spTree>
    <p:extLst>
      <p:ext uri="{BB962C8B-B14F-4D97-AF65-F5344CB8AC3E}">
        <p14:creationId xmlns:p14="http://schemas.microsoft.com/office/powerpoint/2010/main" val="20876019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Do we need a formal Contract?</a:t>
            </a:r>
            <a:endParaRPr lang="en-US" dirty="0"/>
          </a:p>
        </p:txBody>
      </p:sp>
      <p:sp>
        <p:nvSpPr>
          <p:cNvPr id="3" name="Content Placeholder 2"/>
          <p:cNvSpPr>
            <a:spLocks noGrp="1"/>
          </p:cNvSpPr>
          <p:nvPr>
            <p:ph idx="1"/>
          </p:nvPr>
        </p:nvSpPr>
        <p:spPr/>
        <p:txBody>
          <a:bodyPr/>
          <a:lstStyle/>
          <a:p>
            <a:pPr algn="just"/>
            <a:r>
              <a:rPr lang="en-US" dirty="0"/>
              <a:t>If you create software for customers, then you need to consider creating a </a:t>
            </a:r>
            <a:r>
              <a:rPr lang="en-US" dirty="0">
                <a:hlinkClick r:id="rId3"/>
              </a:rPr>
              <a:t>software license agreement</a:t>
            </a:r>
            <a:r>
              <a:rPr lang="en-US" dirty="0"/>
              <a:t> to help protect you and your business. </a:t>
            </a:r>
          </a:p>
          <a:p>
            <a:pPr algn="just"/>
            <a:r>
              <a:rPr lang="en-US" dirty="0"/>
              <a:t>There are many reasons to have one in place, so if you do not yet have one, it is time to start understanding its significance.</a:t>
            </a:r>
          </a:p>
          <a:p>
            <a:r>
              <a:rPr lang="en-GB" altLang="en-US" dirty="0"/>
              <a:t>Most disputes which end up in courts are caused by </a:t>
            </a:r>
            <a:r>
              <a:rPr lang="en-GB" altLang="en-US" i="1" u="sng" dirty="0"/>
              <a:t>lack of clarity</a:t>
            </a:r>
            <a:r>
              <a:rPr lang="en-GB" altLang="en-US" dirty="0"/>
              <a:t> as to what each party expected from the other.</a:t>
            </a:r>
          </a:p>
          <a:p>
            <a:r>
              <a:rPr lang="en-GB" altLang="en-US" dirty="0"/>
              <a:t>If a dispute has to be resolved in the courts, this will involve lawyers, accountants, judges, etc. trying to work out each party’s obligations</a:t>
            </a:r>
          </a:p>
          <a:p>
            <a:pPr algn="just"/>
            <a:endParaRPr lang="en-US" dirty="0"/>
          </a:p>
        </p:txBody>
      </p:sp>
    </p:spTree>
    <p:extLst>
      <p:ext uri="{BB962C8B-B14F-4D97-AF65-F5344CB8AC3E}">
        <p14:creationId xmlns:p14="http://schemas.microsoft.com/office/powerpoint/2010/main" val="29172864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of a </a:t>
            </a:r>
            <a:r>
              <a:rPr lang="en-US" dirty="0" smtClean="0"/>
              <a:t>Software </a:t>
            </a:r>
            <a:r>
              <a:rPr lang="en-US" dirty="0"/>
              <a:t>Contract</a:t>
            </a:r>
          </a:p>
        </p:txBody>
      </p:sp>
      <p:sp>
        <p:nvSpPr>
          <p:cNvPr id="3" name="Content Placeholder 2"/>
          <p:cNvSpPr>
            <a:spLocks noGrp="1"/>
          </p:cNvSpPr>
          <p:nvPr>
            <p:ph idx="1"/>
          </p:nvPr>
        </p:nvSpPr>
        <p:spPr/>
        <p:txBody>
          <a:bodyPr/>
          <a:lstStyle/>
          <a:p>
            <a:pPr marL="0" indent="0">
              <a:buNone/>
            </a:pPr>
            <a:r>
              <a:rPr lang="en-GB" altLang="en-US" dirty="0"/>
              <a:t>A software contract at least includes:</a:t>
            </a:r>
          </a:p>
          <a:p>
            <a:pPr marL="1066800" lvl="1" indent="-609600"/>
            <a:r>
              <a:rPr lang="en-GB" altLang="en-US" sz="2800" dirty="0"/>
              <a:t>Definitions</a:t>
            </a:r>
          </a:p>
          <a:p>
            <a:pPr marL="1066800" lvl="1" indent="-609600"/>
            <a:r>
              <a:rPr lang="en-GB" altLang="en-US" sz="2800" dirty="0"/>
              <a:t>Name of Parties</a:t>
            </a:r>
          </a:p>
          <a:p>
            <a:pPr marL="1066800" lvl="1" indent="-609600"/>
            <a:r>
              <a:rPr lang="en-GB" altLang="en-US" sz="2800" dirty="0"/>
              <a:t>Standard Terms and Conditions</a:t>
            </a:r>
          </a:p>
          <a:p>
            <a:pPr marL="1066800" lvl="1" indent="-609600"/>
            <a:r>
              <a:rPr lang="en-GB" altLang="en-US" sz="2800" dirty="0"/>
              <a:t>Set of Appendices (Annexes/Extensions)</a:t>
            </a:r>
          </a:p>
          <a:p>
            <a:pPr marL="1595438" lvl="2" indent="-393700"/>
            <a:r>
              <a:rPr lang="en-GB" altLang="en-US" dirty="0"/>
              <a:t>Specific Documents</a:t>
            </a:r>
          </a:p>
          <a:p>
            <a:endParaRPr lang="en-US" dirty="0"/>
          </a:p>
        </p:txBody>
      </p:sp>
      <p:sp>
        <p:nvSpPr>
          <p:cNvPr id="5" name="Rectangle 4">
            <a:hlinkClick r:id="rId2" action="ppaction://hlinkfile"/>
          </p:cNvPr>
          <p:cNvSpPr/>
          <p:nvPr/>
        </p:nvSpPr>
        <p:spPr>
          <a:xfrm>
            <a:off x="2930662" y="4882870"/>
            <a:ext cx="5581977" cy="646331"/>
          </a:xfrm>
          <a:prstGeom prst="rect">
            <a:avLst/>
          </a:prstGeom>
        </p:spPr>
        <p:txBody>
          <a:bodyPr wrap="none">
            <a:spAutoFit/>
          </a:bodyPr>
          <a:lstStyle/>
          <a:p>
            <a:r>
              <a:rPr lang="en-US" sz="3600" dirty="0"/>
              <a:t>Software Contracts Template</a:t>
            </a:r>
          </a:p>
        </p:txBody>
      </p:sp>
    </p:spTree>
    <p:extLst>
      <p:ext uri="{BB962C8B-B14F-4D97-AF65-F5344CB8AC3E}">
        <p14:creationId xmlns:p14="http://schemas.microsoft.com/office/powerpoint/2010/main" val="269900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Clauses of a </a:t>
            </a:r>
            <a:r>
              <a:rPr lang="en-US" dirty="0" smtClean="0"/>
              <a:t>Software Contract</a:t>
            </a:r>
            <a:endParaRPr lang="en-US" dirty="0"/>
          </a:p>
        </p:txBody>
      </p:sp>
      <p:sp>
        <p:nvSpPr>
          <p:cNvPr id="3" name="Content Placeholder 2"/>
          <p:cNvSpPr>
            <a:spLocks noGrp="1"/>
          </p:cNvSpPr>
          <p:nvPr>
            <p:ph idx="1"/>
          </p:nvPr>
        </p:nvSpPr>
        <p:spPr/>
        <p:txBody>
          <a:bodyPr>
            <a:normAutofit lnSpcReduction="10000"/>
          </a:bodyPr>
          <a:lstStyle/>
          <a:p>
            <a:r>
              <a:rPr lang="en-US" dirty="0"/>
              <a:t>Definitions</a:t>
            </a:r>
          </a:p>
          <a:p>
            <a:r>
              <a:rPr lang="en-US" dirty="0"/>
              <a:t>What is to be produced?</a:t>
            </a:r>
          </a:p>
          <a:p>
            <a:r>
              <a:rPr lang="en-US" dirty="0"/>
              <a:t>What is to be delivered?</a:t>
            </a:r>
          </a:p>
          <a:p>
            <a:r>
              <a:rPr lang="en-US" dirty="0"/>
              <a:t>Rights Ownership</a:t>
            </a:r>
          </a:p>
          <a:p>
            <a:r>
              <a:rPr lang="en-US" dirty="0"/>
              <a:t>Confidentiality</a:t>
            </a:r>
          </a:p>
          <a:p>
            <a:r>
              <a:rPr lang="en-US" dirty="0"/>
              <a:t>Payment Terms</a:t>
            </a:r>
          </a:p>
          <a:p>
            <a:r>
              <a:rPr lang="en-US" dirty="0"/>
              <a:t>Payments for Delays and Changes</a:t>
            </a:r>
          </a:p>
          <a:p>
            <a:r>
              <a:rPr lang="en-US" dirty="0"/>
              <a:t>Penalty Clauses</a:t>
            </a:r>
          </a:p>
          <a:p>
            <a:r>
              <a:rPr lang="en-US" dirty="0"/>
              <a:t>Client Obligations</a:t>
            </a:r>
          </a:p>
          <a:p>
            <a:pPr marL="0" indent="0">
              <a:buNone/>
            </a:pPr>
            <a:endParaRPr lang="en-US" dirty="0"/>
          </a:p>
          <a:p>
            <a:endParaRPr lang="en-US" dirty="0"/>
          </a:p>
        </p:txBody>
      </p:sp>
    </p:spTree>
    <p:extLst>
      <p:ext uri="{BB962C8B-B14F-4D97-AF65-F5344CB8AC3E}">
        <p14:creationId xmlns:p14="http://schemas.microsoft.com/office/powerpoint/2010/main" val="1370880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Clauses of a </a:t>
            </a:r>
            <a:r>
              <a:rPr lang="en-US" i="1" dirty="0"/>
              <a:t>Software</a:t>
            </a:r>
            <a:r>
              <a:rPr lang="en-US" dirty="0"/>
              <a:t> Contract</a:t>
            </a:r>
          </a:p>
        </p:txBody>
      </p:sp>
      <p:sp>
        <p:nvSpPr>
          <p:cNvPr id="3" name="Content Placeholder 2"/>
          <p:cNvSpPr>
            <a:spLocks noGrp="1"/>
          </p:cNvSpPr>
          <p:nvPr>
            <p:ph idx="1"/>
          </p:nvPr>
        </p:nvSpPr>
        <p:spPr>
          <a:xfrm>
            <a:off x="838200" y="1970003"/>
            <a:ext cx="10515600" cy="4351338"/>
          </a:xfrm>
        </p:spPr>
        <p:txBody>
          <a:bodyPr>
            <a:normAutofit fontScale="92500" lnSpcReduction="20000"/>
          </a:bodyPr>
          <a:lstStyle/>
          <a:p>
            <a:r>
              <a:rPr lang="en-US" dirty="0"/>
              <a:t>Working Standards</a:t>
            </a:r>
          </a:p>
          <a:p>
            <a:r>
              <a:rPr lang="en-US" dirty="0"/>
              <a:t>Acceptance Procedure</a:t>
            </a:r>
          </a:p>
          <a:p>
            <a:r>
              <a:rPr lang="en-US" dirty="0"/>
              <a:t>Warranty and Maintenance</a:t>
            </a:r>
          </a:p>
          <a:p>
            <a:r>
              <a:rPr lang="en-US" dirty="0"/>
              <a:t>Inflation</a:t>
            </a:r>
          </a:p>
          <a:p>
            <a:r>
              <a:rPr lang="en-US" dirty="0"/>
              <a:t>Indemnity</a:t>
            </a:r>
          </a:p>
          <a:p>
            <a:r>
              <a:rPr lang="en-US" dirty="0"/>
              <a:t>Termination of Contract</a:t>
            </a:r>
          </a:p>
          <a:p>
            <a:r>
              <a:rPr lang="en-US" dirty="0"/>
              <a:t>Arbitration</a:t>
            </a:r>
          </a:p>
          <a:p>
            <a:r>
              <a:rPr lang="en-US" dirty="0"/>
              <a:t>Applicable Law</a:t>
            </a:r>
          </a:p>
          <a:p>
            <a:r>
              <a:rPr lang="en-US" dirty="0"/>
              <a:t>Time and Materials</a:t>
            </a:r>
          </a:p>
          <a:p>
            <a:r>
              <a:rPr lang="en-US" dirty="0"/>
              <a:t>Consultancy and outsourcing</a:t>
            </a:r>
          </a:p>
          <a:p>
            <a:endParaRPr lang="en-US" dirty="0"/>
          </a:p>
        </p:txBody>
      </p:sp>
      <p:sp>
        <p:nvSpPr>
          <p:cNvPr id="4" name="Content Placeholder 2"/>
          <p:cNvSpPr txBox="1">
            <a:spLocks/>
          </p:cNvSpPr>
          <p:nvPr/>
        </p:nvSpPr>
        <p:spPr>
          <a:xfrm>
            <a:off x="6096000" y="2002087"/>
            <a:ext cx="4800600" cy="194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License Agreements</a:t>
            </a:r>
          </a:p>
          <a:p>
            <a:r>
              <a:rPr lang="en-US" dirty="0"/>
              <a:t>Liability of Defective Software</a:t>
            </a:r>
          </a:p>
          <a:p>
            <a:r>
              <a:rPr lang="en-US" dirty="0"/>
              <a:t>Health and Safety</a:t>
            </a:r>
          </a:p>
          <a:p>
            <a:endParaRPr lang="en-US" dirty="0"/>
          </a:p>
        </p:txBody>
      </p:sp>
    </p:spTree>
    <p:extLst>
      <p:ext uri="{BB962C8B-B14F-4D97-AF65-F5344CB8AC3E}">
        <p14:creationId xmlns:p14="http://schemas.microsoft.com/office/powerpoint/2010/main" val="2882269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b="1" i="1" dirty="0"/>
              <a:t>Definitions</a:t>
            </a:r>
          </a:p>
        </p:txBody>
      </p:sp>
      <p:sp>
        <p:nvSpPr>
          <p:cNvPr id="3" name="Content Placeholder 2"/>
          <p:cNvSpPr>
            <a:spLocks noGrp="1"/>
          </p:cNvSpPr>
          <p:nvPr>
            <p:ph idx="1"/>
          </p:nvPr>
        </p:nvSpPr>
        <p:spPr/>
        <p:txBody>
          <a:bodyPr/>
          <a:lstStyle/>
          <a:p>
            <a:pPr algn="just"/>
            <a:r>
              <a:rPr lang="en-US" dirty="0"/>
              <a:t>Definition clause is the opening clause and is one of the most important section as it defines the scope of the terms used in the agreement. </a:t>
            </a:r>
          </a:p>
          <a:p>
            <a:pPr algn="just"/>
            <a:r>
              <a:rPr lang="en-US" dirty="0"/>
              <a:t>Whenever there is a conflict, the court takes into notice the terms defined in the definition. </a:t>
            </a:r>
          </a:p>
          <a:p>
            <a:pPr algn="just"/>
            <a:r>
              <a:rPr lang="en-US" dirty="0"/>
              <a:t>Therefore, the definition clause must be carefully defined in the agreement.</a:t>
            </a:r>
          </a:p>
        </p:txBody>
      </p:sp>
    </p:spTree>
    <p:extLst>
      <p:ext uri="{BB962C8B-B14F-4D97-AF65-F5344CB8AC3E}">
        <p14:creationId xmlns:p14="http://schemas.microsoft.com/office/powerpoint/2010/main" val="3619350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Major Clauses: </a:t>
            </a:r>
            <a:r>
              <a:rPr lang="en-US" b="1" i="1" u="sng" dirty="0"/>
              <a:t>What is to be Produced?</a:t>
            </a:r>
          </a:p>
        </p:txBody>
      </p:sp>
      <p:sp>
        <p:nvSpPr>
          <p:cNvPr id="3" name="Content Placeholder 2"/>
          <p:cNvSpPr>
            <a:spLocks noGrp="1"/>
          </p:cNvSpPr>
          <p:nvPr>
            <p:ph idx="1"/>
          </p:nvPr>
        </p:nvSpPr>
        <p:spPr>
          <a:xfrm>
            <a:off x="819150" y="1690688"/>
            <a:ext cx="10648950" cy="5167312"/>
          </a:xfrm>
        </p:spPr>
        <p:txBody>
          <a:bodyPr>
            <a:noAutofit/>
          </a:bodyPr>
          <a:lstStyle/>
          <a:p>
            <a:pPr marL="0" indent="0">
              <a:buNone/>
            </a:pPr>
            <a:r>
              <a:rPr lang="en-US" sz="2600" dirty="0"/>
              <a:t>Contract necessarily states what is to be produced.</a:t>
            </a:r>
          </a:p>
          <a:p>
            <a:pPr marL="0" indent="0">
              <a:buNone/>
            </a:pPr>
            <a:r>
              <a:rPr lang="en-US" sz="2600" dirty="0"/>
              <a:t>• Usually two level of reference:</a:t>
            </a:r>
          </a:p>
          <a:p>
            <a:pPr marL="457200" lvl="1" indent="0">
              <a:buNone/>
            </a:pPr>
            <a:r>
              <a:rPr lang="en-US" sz="2600" dirty="0"/>
              <a:t>– Standard terms and conditions refer to an annex</a:t>
            </a:r>
          </a:p>
          <a:p>
            <a:pPr marL="457200" lvl="1" indent="0">
              <a:buNone/>
            </a:pPr>
            <a:r>
              <a:rPr lang="en-US" sz="2600" dirty="0"/>
              <a:t>– The annex then refers to the requirement specification in a separate document</a:t>
            </a:r>
          </a:p>
          <a:p>
            <a:pPr marL="457200" lvl="1" indent="0">
              <a:buNone/>
            </a:pPr>
            <a:r>
              <a:rPr lang="en-US" sz="2600" dirty="0"/>
              <a:t>– </a:t>
            </a:r>
            <a:r>
              <a:rPr lang="en-US" sz="2600" b="1" u="sng" dirty="0"/>
              <a:t>IMPORTANT</a:t>
            </a:r>
            <a:r>
              <a:rPr lang="en-US" sz="2600" dirty="0"/>
              <a:t>: the reference to the requirement specification identifies the document uniquely, normally quoting a date and issue number.</a:t>
            </a:r>
          </a:p>
          <a:p>
            <a:pPr marL="0" indent="0">
              <a:buNone/>
            </a:pPr>
            <a:r>
              <a:rPr lang="en-US" sz="2600" dirty="0"/>
              <a:t>• Contract should provide a procedure for requirement specification changes, including:</a:t>
            </a:r>
          </a:p>
          <a:p>
            <a:pPr marL="457200" lvl="1" indent="0">
              <a:buNone/>
            </a:pPr>
            <a:r>
              <a:rPr lang="en-US" sz="2600" dirty="0"/>
              <a:t>– A method of calculating payment for the changes (which phase?)</a:t>
            </a:r>
          </a:p>
          <a:p>
            <a:pPr marL="457200" lvl="1" indent="0">
              <a:buNone/>
            </a:pPr>
            <a:r>
              <a:rPr lang="en-US" sz="2600" dirty="0"/>
              <a:t>– Variation of the level of anticipated performance (optional)</a:t>
            </a:r>
          </a:p>
          <a:p>
            <a:pPr marL="457200" lvl="1" indent="0">
              <a:buNone/>
            </a:pPr>
            <a:r>
              <a:rPr lang="en-US" sz="2600" dirty="0"/>
              <a:t>– Variation of the method of acceptance testing</a:t>
            </a:r>
          </a:p>
          <a:p>
            <a:pPr marL="0" indent="0">
              <a:buNone/>
            </a:pPr>
            <a:endParaRPr lang="en-US" sz="2600" dirty="0"/>
          </a:p>
          <a:p>
            <a:pPr marL="0" indent="0">
              <a:buNone/>
            </a:pPr>
            <a:endParaRPr lang="en-US" sz="2600" dirty="0"/>
          </a:p>
        </p:txBody>
      </p:sp>
    </p:spTree>
    <p:extLst>
      <p:ext uri="{BB962C8B-B14F-4D97-AF65-F5344CB8AC3E}">
        <p14:creationId xmlns:p14="http://schemas.microsoft.com/office/powerpoint/2010/main" val="10944227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479"/>
            <a:ext cx="10515600" cy="1325563"/>
          </a:xfrm>
        </p:spPr>
        <p:txBody>
          <a:bodyPr/>
          <a:lstStyle/>
          <a:p>
            <a:r>
              <a:rPr lang="en-US" dirty="0"/>
              <a:t>Major Clauses: </a:t>
            </a:r>
            <a:r>
              <a:rPr lang="en-US" b="1" i="1" u="sng" dirty="0"/>
              <a:t>What is to be Delivered?</a:t>
            </a:r>
          </a:p>
        </p:txBody>
      </p:sp>
      <p:sp>
        <p:nvSpPr>
          <p:cNvPr id="3" name="Content Placeholder 2"/>
          <p:cNvSpPr>
            <a:spLocks noGrp="1"/>
          </p:cNvSpPr>
          <p:nvPr>
            <p:ph idx="1"/>
          </p:nvPr>
        </p:nvSpPr>
        <p:spPr>
          <a:xfrm>
            <a:off x="838200" y="1299412"/>
            <a:ext cx="10515600" cy="5462336"/>
          </a:xfrm>
        </p:spPr>
        <p:txBody>
          <a:bodyPr>
            <a:noAutofit/>
          </a:bodyPr>
          <a:lstStyle/>
          <a:p>
            <a:pPr marL="0" indent="0">
              <a:buNone/>
            </a:pPr>
            <a:r>
              <a:rPr lang="en-US" sz="2400" dirty="0"/>
              <a:t>Non </a:t>
            </a:r>
            <a:r>
              <a:rPr lang="en-US" sz="2400" dirty="0" smtClean="0"/>
              <a:t>exhaustive </a:t>
            </a:r>
            <a:r>
              <a:rPr lang="en-US" sz="2400" dirty="0"/>
              <a:t>list of possibilities:</a:t>
            </a:r>
          </a:p>
          <a:p>
            <a:pPr marL="457200" lvl="1" indent="0">
              <a:buNone/>
            </a:pPr>
            <a:r>
              <a:rPr lang="en-US" dirty="0"/>
              <a:t>1. Source code</a:t>
            </a:r>
          </a:p>
          <a:p>
            <a:pPr marL="457200" lvl="1" indent="0">
              <a:buNone/>
            </a:pPr>
            <a:r>
              <a:rPr lang="en-US" dirty="0"/>
              <a:t>2. Command files for building the executable from the source</a:t>
            </a:r>
          </a:p>
          <a:p>
            <a:pPr marL="457200" lvl="1" indent="0">
              <a:buNone/>
            </a:pPr>
            <a:r>
              <a:rPr lang="en-US" dirty="0"/>
              <a:t>3. Documentation of the design and the code</a:t>
            </a:r>
          </a:p>
          <a:p>
            <a:pPr marL="457200" lvl="1" indent="0">
              <a:buNone/>
            </a:pPr>
            <a:r>
              <a:rPr lang="en-US" dirty="0"/>
              <a:t>4. Manuals</a:t>
            </a:r>
          </a:p>
          <a:p>
            <a:pPr marL="914400" lvl="2" indent="0">
              <a:buNone/>
            </a:pPr>
            <a:r>
              <a:rPr lang="en-US" sz="2400" dirty="0"/>
              <a:t>• Reference manuals</a:t>
            </a:r>
          </a:p>
          <a:p>
            <a:pPr marL="914400" lvl="2" indent="0">
              <a:buNone/>
            </a:pPr>
            <a:r>
              <a:rPr lang="en-US" sz="2400" dirty="0"/>
              <a:t>• Training manuals</a:t>
            </a:r>
          </a:p>
          <a:p>
            <a:pPr marL="914400" lvl="2" indent="0">
              <a:buNone/>
            </a:pPr>
            <a:r>
              <a:rPr lang="en-US" sz="2400" dirty="0"/>
              <a:t>• Operations manuals</a:t>
            </a:r>
          </a:p>
          <a:p>
            <a:pPr marL="457200" lvl="1" indent="0">
              <a:buNone/>
            </a:pPr>
            <a:r>
              <a:rPr lang="en-US" dirty="0"/>
              <a:t>5. Software tool to help maintaining the code</a:t>
            </a:r>
          </a:p>
          <a:p>
            <a:pPr marL="457200" lvl="1" indent="0">
              <a:buNone/>
            </a:pPr>
            <a:r>
              <a:rPr lang="en-US" dirty="0"/>
              <a:t>6. Trainings</a:t>
            </a:r>
          </a:p>
          <a:p>
            <a:pPr lvl="2"/>
            <a:r>
              <a:rPr lang="en-US" sz="2400" dirty="0"/>
              <a:t>For user</a:t>
            </a:r>
          </a:p>
          <a:p>
            <a:pPr lvl="2"/>
            <a:r>
              <a:rPr lang="en-US" sz="2400" dirty="0"/>
              <a:t>For client’s maintenance staff</a:t>
            </a:r>
          </a:p>
          <a:p>
            <a:pPr marL="457200" lvl="1" indent="0">
              <a:buNone/>
            </a:pPr>
            <a:r>
              <a:rPr lang="en-US" dirty="0"/>
              <a:t>7. Test data and test results</a:t>
            </a:r>
          </a:p>
          <a:p>
            <a:pPr marL="0" indent="0">
              <a:buNone/>
            </a:pPr>
            <a:endParaRPr lang="en-US" sz="2400" dirty="0"/>
          </a:p>
        </p:txBody>
      </p:sp>
    </p:spTree>
    <p:extLst>
      <p:ext uri="{BB962C8B-B14F-4D97-AF65-F5344CB8AC3E}">
        <p14:creationId xmlns:p14="http://schemas.microsoft.com/office/powerpoint/2010/main" val="37531971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b="1" i="1" u="sng" dirty="0"/>
              <a:t>Rights Ownership</a:t>
            </a:r>
          </a:p>
        </p:txBody>
      </p:sp>
      <p:sp>
        <p:nvSpPr>
          <p:cNvPr id="3" name="Content Placeholder 2"/>
          <p:cNvSpPr>
            <a:spLocks noGrp="1"/>
          </p:cNvSpPr>
          <p:nvPr>
            <p:ph idx="1"/>
          </p:nvPr>
        </p:nvSpPr>
        <p:spPr>
          <a:xfrm>
            <a:off x="838200" y="1395663"/>
            <a:ext cx="10515600" cy="5097212"/>
          </a:xfrm>
        </p:spPr>
        <p:txBody>
          <a:bodyPr>
            <a:noAutofit/>
          </a:bodyPr>
          <a:lstStyle/>
          <a:p>
            <a:r>
              <a:rPr lang="en-US" dirty="0"/>
              <a:t>Stating what legal rights are being passed from the developer to the client is important.</a:t>
            </a:r>
          </a:p>
          <a:p>
            <a:pPr marL="0" indent="0">
              <a:buNone/>
            </a:pPr>
            <a:r>
              <a:rPr lang="en-US" dirty="0"/>
              <a:t>• Ownership in physical items will usually be passed – e.g. books, documents, disks</a:t>
            </a:r>
          </a:p>
          <a:p>
            <a:pPr marL="457200" lvl="1" indent="0">
              <a:buNone/>
            </a:pPr>
            <a:r>
              <a:rPr lang="en-US" dirty="0"/>
              <a:t>– towards Client </a:t>
            </a:r>
            <a:r>
              <a:rPr lang="en-US" dirty="0">
                <a:sym typeface="Wingdings" panose="05000000000000000000" pitchFamily="2" charset="2"/>
              </a:rPr>
              <a:t> </a:t>
            </a:r>
            <a:r>
              <a:rPr lang="en-US" dirty="0"/>
              <a:t>Sale/Assignment with a written agreement</a:t>
            </a:r>
          </a:p>
          <a:p>
            <a:pPr marL="457200" lvl="1" indent="0">
              <a:buNone/>
            </a:pPr>
            <a:r>
              <a:rPr lang="en-US" dirty="0"/>
              <a:t>– towards Developer </a:t>
            </a:r>
            <a:r>
              <a:rPr lang="en-US" dirty="0">
                <a:sym typeface="Wingdings" panose="05000000000000000000" pitchFamily="2" charset="2"/>
              </a:rPr>
              <a:t> License</a:t>
            </a:r>
            <a:endParaRPr lang="en-US" dirty="0"/>
          </a:p>
          <a:p>
            <a:pPr marL="0" indent="0">
              <a:buNone/>
            </a:pPr>
            <a:r>
              <a:rPr lang="en-US" dirty="0"/>
              <a:t>• More than that, software is protectable by intellectual rights:</a:t>
            </a:r>
          </a:p>
          <a:p>
            <a:pPr marL="457200" lvl="1" indent="0">
              <a:buNone/>
            </a:pPr>
            <a:r>
              <a:rPr lang="en-US" dirty="0"/>
              <a:t>– Copyright</a:t>
            </a:r>
          </a:p>
          <a:p>
            <a:pPr marL="457200" lvl="1" indent="0">
              <a:buNone/>
            </a:pPr>
            <a:r>
              <a:rPr lang="en-US" dirty="0"/>
              <a:t>– Design rights</a:t>
            </a:r>
          </a:p>
          <a:p>
            <a:pPr marL="457200" lvl="1" indent="0">
              <a:buNone/>
            </a:pPr>
            <a:r>
              <a:rPr lang="en-US" dirty="0"/>
              <a:t>– Confidentiality</a:t>
            </a:r>
          </a:p>
          <a:p>
            <a:pPr marL="457200" lvl="1" indent="0">
              <a:buNone/>
            </a:pPr>
            <a:r>
              <a:rPr lang="en-US" dirty="0"/>
              <a:t>– Trademarks</a:t>
            </a:r>
          </a:p>
          <a:p>
            <a:pPr marL="0" indent="0">
              <a:buNone/>
            </a:pPr>
            <a:r>
              <a:rPr lang="en-US" dirty="0"/>
              <a:t>Contract should state who is to own these rights.</a:t>
            </a:r>
          </a:p>
        </p:txBody>
      </p:sp>
    </p:spTree>
    <p:extLst>
      <p:ext uri="{BB962C8B-B14F-4D97-AF65-F5344CB8AC3E}">
        <p14:creationId xmlns:p14="http://schemas.microsoft.com/office/powerpoint/2010/main" val="39614388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b="1" i="1" u="sng" dirty="0"/>
              <a:t>Confidentiality</a:t>
            </a:r>
          </a:p>
        </p:txBody>
      </p:sp>
      <p:sp>
        <p:nvSpPr>
          <p:cNvPr id="3" name="Content Placeholder 2"/>
          <p:cNvSpPr>
            <a:spLocks noGrp="1"/>
          </p:cNvSpPr>
          <p:nvPr>
            <p:ph idx="1"/>
          </p:nvPr>
        </p:nvSpPr>
        <p:spPr/>
        <p:txBody>
          <a:bodyPr>
            <a:normAutofit/>
          </a:bodyPr>
          <a:lstStyle/>
          <a:p>
            <a:pPr marL="0" indent="0" algn="just">
              <a:buNone/>
            </a:pPr>
            <a:r>
              <a:rPr lang="en-US" sz="3200" dirty="0"/>
              <a:t> The two parties may acquire confidential information about each other when a software is being developed.</a:t>
            </a:r>
          </a:p>
          <a:p>
            <a:pPr marL="457200" lvl="1" indent="0" algn="just">
              <a:buNone/>
            </a:pPr>
            <a:r>
              <a:rPr lang="en-US" sz="2800" dirty="0"/>
              <a:t>– Client may have to pass its business operations</a:t>
            </a:r>
          </a:p>
          <a:p>
            <a:pPr marL="457200" lvl="1" indent="0" algn="just">
              <a:buNone/>
            </a:pPr>
            <a:r>
              <a:rPr lang="en-US" sz="2800" dirty="0"/>
              <a:t>– Developer may not want the client to divulge to others about its operations</a:t>
            </a:r>
          </a:p>
          <a:p>
            <a:pPr marL="0" indent="0" algn="just">
              <a:buNone/>
            </a:pPr>
            <a:r>
              <a:rPr lang="en-US" sz="3200" dirty="0"/>
              <a:t>In this case, the contract should state </a:t>
            </a:r>
            <a:r>
              <a:rPr lang="en-US" sz="3200" dirty="0" smtClean="0"/>
              <a:t>the </a:t>
            </a:r>
            <a:br>
              <a:rPr lang="en-US" sz="3200" dirty="0" smtClean="0"/>
            </a:br>
            <a:r>
              <a:rPr lang="en-US" sz="3200" i="1" u="sng" dirty="0" smtClean="0"/>
              <a:t>non-disclosure </a:t>
            </a:r>
            <a:r>
              <a:rPr lang="en-US" sz="3200" i="1" u="sng" dirty="0"/>
              <a:t>agreement</a:t>
            </a:r>
            <a:r>
              <a:rPr lang="en-US" sz="3200" dirty="0"/>
              <a:t>.</a:t>
            </a:r>
          </a:p>
          <a:p>
            <a:pPr algn="just"/>
            <a:endParaRPr lang="en-US" sz="3200" dirty="0"/>
          </a:p>
        </p:txBody>
      </p:sp>
    </p:spTree>
    <p:extLst>
      <p:ext uri="{BB962C8B-B14F-4D97-AF65-F5344CB8AC3E}">
        <p14:creationId xmlns:p14="http://schemas.microsoft.com/office/powerpoint/2010/main" val="32177079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lstStyle/>
          <a:p>
            <a:r>
              <a:rPr lang="en-US" dirty="0"/>
              <a:t>Major Clauses: </a:t>
            </a:r>
            <a:r>
              <a:rPr lang="en-US" b="1" i="1" u="sng" dirty="0"/>
              <a:t>Payment Terms</a:t>
            </a:r>
          </a:p>
        </p:txBody>
      </p:sp>
      <p:sp>
        <p:nvSpPr>
          <p:cNvPr id="3" name="Content Placeholder 2"/>
          <p:cNvSpPr>
            <a:spLocks noGrp="1"/>
          </p:cNvSpPr>
          <p:nvPr>
            <p:ph idx="1"/>
          </p:nvPr>
        </p:nvSpPr>
        <p:spPr>
          <a:xfrm>
            <a:off x="647700" y="1476102"/>
            <a:ext cx="11029950" cy="5153297"/>
          </a:xfrm>
        </p:spPr>
        <p:txBody>
          <a:bodyPr>
            <a:noAutofit/>
          </a:bodyPr>
          <a:lstStyle/>
          <a:p>
            <a:pPr marL="0" indent="0" algn="just">
              <a:buNone/>
            </a:pPr>
            <a:r>
              <a:rPr lang="en-US" sz="3000" dirty="0"/>
              <a:t>• The standard terms and conditions will specify the payment conditions, For example: </a:t>
            </a:r>
          </a:p>
          <a:p>
            <a:pPr algn="just">
              <a:buFont typeface="Wingdings" panose="05000000000000000000" pitchFamily="2" charset="2"/>
              <a:buChar char="§"/>
            </a:pPr>
            <a:r>
              <a:rPr lang="en-US" sz="3000" dirty="0"/>
              <a:t>	Payment shall become due within 30 days of invoice issue date. </a:t>
            </a:r>
          </a:p>
          <a:p>
            <a:pPr marL="1371600" indent="-457200" algn="just">
              <a:buFont typeface="Wingdings" panose="05000000000000000000" pitchFamily="2" charset="2"/>
              <a:buChar char="§"/>
            </a:pPr>
            <a:r>
              <a:rPr lang="en-US" sz="3000" dirty="0"/>
              <a:t>If  payment is delayed by more than that, the company shall have the right, at its discretion, to terminate the contract or to apply a surcharge at an interest rate of 2% above the bank base lending </a:t>
            </a:r>
            <a:r>
              <a:rPr lang="en-US" sz="3000" dirty="0" smtClean="0"/>
              <a:t>rate (</a:t>
            </a:r>
            <a:r>
              <a:rPr lang="en-US" dirty="0"/>
              <a:t>a minimum interest rate on which financial institutions base the rates they use for </a:t>
            </a:r>
            <a:r>
              <a:rPr lang="en-US" dirty="0" smtClean="0"/>
              <a:t>lending)</a:t>
            </a:r>
            <a:endParaRPr lang="en-US" sz="3000" dirty="0"/>
          </a:p>
          <a:p>
            <a:pPr marL="0" indent="0" algn="just">
              <a:buNone/>
            </a:pPr>
            <a:r>
              <a:rPr lang="en-US" sz="3000" dirty="0"/>
              <a:t>• In practice, such clauses are brought into effect in extreme case, since using them is likely to destroy the </a:t>
            </a:r>
            <a:r>
              <a:rPr lang="en-US" sz="3000" i="1" u="sng" dirty="0"/>
              <a:t>goodwill</a:t>
            </a:r>
            <a:r>
              <a:rPr lang="en-US" sz="3000" dirty="0"/>
              <a:t> between developer and client on which the success of the project depends.</a:t>
            </a:r>
          </a:p>
          <a:p>
            <a:pPr algn="just"/>
            <a:endParaRPr lang="en-US" sz="3000" dirty="0"/>
          </a:p>
        </p:txBody>
      </p:sp>
    </p:spTree>
    <p:extLst>
      <p:ext uri="{BB962C8B-B14F-4D97-AF65-F5344CB8AC3E}">
        <p14:creationId xmlns:p14="http://schemas.microsoft.com/office/powerpoint/2010/main" val="22989659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0"/>
            <a:ext cx="10515600" cy="1325563"/>
          </a:xfrm>
        </p:spPr>
        <p:txBody>
          <a:bodyPr/>
          <a:lstStyle/>
          <a:p>
            <a:r>
              <a:rPr lang="en-US" dirty="0"/>
              <a:t>Major Clauses: </a:t>
            </a:r>
            <a:r>
              <a:rPr lang="en-US" sz="4000" b="1" i="1" u="sng" dirty="0"/>
              <a:t>Payments for Delays and Changes</a:t>
            </a:r>
            <a:endParaRPr lang="en-US" b="1" i="1" u="sng" dirty="0"/>
          </a:p>
        </p:txBody>
      </p:sp>
      <p:sp>
        <p:nvSpPr>
          <p:cNvPr id="3" name="Content Placeholder 2"/>
          <p:cNvSpPr>
            <a:spLocks noGrp="1"/>
          </p:cNvSpPr>
          <p:nvPr>
            <p:ph idx="1"/>
          </p:nvPr>
        </p:nvSpPr>
        <p:spPr>
          <a:xfrm>
            <a:off x="552450" y="1447800"/>
            <a:ext cx="11068050" cy="5045075"/>
          </a:xfrm>
        </p:spPr>
        <p:txBody>
          <a:bodyPr>
            <a:normAutofit/>
          </a:bodyPr>
          <a:lstStyle/>
          <a:p>
            <a:pPr algn="just"/>
            <a:r>
              <a:rPr lang="en-US" sz="3200" dirty="0">
                <a:sym typeface="Wingdings" panose="05000000000000000000" pitchFamily="2" charset="2"/>
              </a:rPr>
              <a:t> </a:t>
            </a:r>
            <a:r>
              <a:rPr lang="en-US" sz="3200" dirty="0"/>
              <a:t>When delay(s) caused by the Client.</a:t>
            </a:r>
          </a:p>
          <a:p>
            <a:pPr algn="just"/>
            <a:r>
              <a:rPr lang="en-US" sz="3200" dirty="0"/>
              <a:t> Frequently, progress of the development is delayed because the client does not meet obligations on time.</a:t>
            </a:r>
          </a:p>
          <a:p>
            <a:pPr algn="just"/>
            <a:r>
              <a:rPr lang="en-US" sz="3200" dirty="0"/>
              <a:t>The developer will be expected its best to rearrange activities to avoid wasting effort, but it is not always possible.</a:t>
            </a:r>
          </a:p>
          <a:p>
            <a:pPr algn="just"/>
            <a:r>
              <a:rPr lang="en-US" sz="3200" dirty="0"/>
              <a:t>Therefore, the contract should make provision for payments to compensate for: </a:t>
            </a:r>
          </a:p>
          <a:p>
            <a:pPr marL="457200" lvl="1" indent="0" algn="just">
              <a:buNone/>
            </a:pPr>
            <a:r>
              <a:rPr lang="en-US" sz="2800" dirty="0"/>
              <a:t>– The wasted effort when the client fails to meet its obligation on time</a:t>
            </a:r>
          </a:p>
          <a:p>
            <a:pPr marL="457200" lvl="1" indent="0" algn="just">
              <a:buNone/>
            </a:pPr>
            <a:r>
              <a:rPr lang="en-US" sz="2800" dirty="0"/>
              <a:t>– Extra work when changes are requested</a:t>
            </a:r>
          </a:p>
          <a:p>
            <a:pPr algn="just"/>
            <a:endParaRPr lang="en-US" sz="3200" dirty="0"/>
          </a:p>
        </p:txBody>
      </p:sp>
    </p:spTree>
    <p:extLst>
      <p:ext uri="{BB962C8B-B14F-4D97-AF65-F5344CB8AC3E}">
        <p14:creationId xmlns:p14="http://schemas.microsoft.com/office/powerpoint/2010/main" val="21225675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dirty="0"/>
              <a:t>Major Clauses: </a:t>
            </a:r>
            <a:r>
              <a:rPr lang="en-US" b="1" i="1" u="sng" dirty="0"/>
              <a:t>Penalty Clauses</a:t>
            </a:r>
          </a:p>
        </p:txBody>
      </p:sp>
      <p:sp>
        <p:nvSpPr>
          <p:cNvPr id="3" name="Content Placeholder 2"/>
          <p:cNvSpPr>
            <a:spLocks noGrp="1"/>
          </p:cNvSpPr>
          <p:nvPr>
            <p:ph idx="1"/>
          </p:nvPr>
        </p:nvSpPr>
        <p:spPr>
          <a:xfrm>
            <a:off x="514350" y="1181100"/>
            <a:ext cx="11125200" cy="5391150"/>
          </a:xfrm>
        </p:spPr>
        <p:txBody>
          <a:bodyPr>
            <a:normAutofit/>
          </a:bodyPr>
          <a:lstStyle/>
          <a:p>
            <a:pPr marL="0" indent="0" algn="just">
              <a:buNone/>
            </a:pPr>
            <a:r>
              <a:rPr lang="en-US" dirty="0">
                <a:sym typeface="Wingdings" panose="05000000000000000000" pitchFamily="2" charset="2"/>
              </a:rPr>
              <a:t> </a:t>
            </a:r>
            <a:r>
              <a:rPr lang="en-US" dirty="0"/>
              <a:t>When delay(s) caused by the Developer.</a:t>
            </a:r>
          </a:p>
          <a:p>
            <a:pPr algn="just"/>
            <a:r>
              <a:rPr lang="en-US" dirty="0"/>
              <a:t>Normal mechanism: the sum payable to the developer is reduced by a specified amount for each week that acceptance of the product is delayed, up to certain maximum.</a:t>
            </a:r>
          </a:p>
          <a:p>
            <a:pPr lvl="1" algn="just"/>
            <a:r>
              <a:rPr lang="en-US" dirty="0"/>
              <a:t>E.g. contract value $1 million. Penalty $5,000 per week up to maximum $100,000</a:t>
            </a:r>
          </a:p>
          <a:p>
            <a:pPr algn="just"/>
            <a:r>
              <a:rPr lang="en-US" dirty="0"/>
              <a:t>Delays in delivering software are common, it might be expected software contract would normally include such a penalty clause.</a:t>
            </a:r>
          </a:p>
          <a:p>
            <a:pPr algn="just"/>
            <a:r>
              <a:rPr lang="en-US" dirty="0"/>
              <a:t>Regardless of penalty, every delay eats into developer’s profit margin. </a:t>
            </a:r>
          </a:p>
          <a:p>
            <a:pPr algn="just"/>
            <a:r>
              <a:rPr lang="en-US" dirty="0"/>
              <a:t>As a result, suppliers are strongly motivated to produce the software on time, and the delay is usually the result of genuine technical difficulties or incompetence rather than lack of motivation.</a:t>
            </a:r>
          </a:p>
        </p:txBody>
      </p:sp>
    </p:spTree>
    <p:extLst>
      <p:ext uri="{BB962C8B-B14F-4D97-AF65-F5344CB8AC3E}">
        <p14:creationId xmlns:p14="http://schemas.microsoft.com/office/powerpoint/2010/main" val="3606165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b="1" i="1" u="sng" dirty="0"/>
              <a:t>Client Obligations</a:t>
            </a:r>
          </a:p>
        </p:txBody>
      </p:sp>
      <p:sp>
        <p:nvSpPr>
          <p:cNvPr id="3" name="Content Placeholder 2"/>
          <p:cNvSpPr>
            <a:spLocks noGrp="1"/>
          </p:cNvSpPr>
          <p:nvPr>
            <p:ph idx="1"/>
          </p:nvPr>
        </p:nvSpPr>
        <p:spPr>
          <a:xfrm>
            <a:off x="552450" y="1825625"/>
            <a:ext cx="10991850" cy="4351338"/>
          </a:xfrm>
        </p:spPr>
        <p:txBody>
          <a:bodyPr>
            <a:normAutofit/>
          </a:bodyPr>
          <a:lstStyle/>
          <a:p>
            <a:pPr marL="0" indent="0" algn="just">
              <a:buNone/>
            </a:pPr>
            <a:r>
              <a:rPr lang="en-US" sz="3200" dirty="0"/>
              <a:t>Client should provide:</a:t>
            </a:r>
          </a:p>
          <a:p>
            <a:pPr marL="688975" indent="-400050" algn="just">
              <a:buNone/>
            </a:pPr>
            <a:r>
              <a:rPr lang="en-US" sz="3200" dirty="0"/>
              <a:t>1. Documentation of the client’s activities or environment in which the system will run</a:t>
            </a:r>
          </a:p>
          <a:p>
            <a:pPr marL="688975" indent="-400050" algn="just">
              <a:buNone/>
            </a:pPr>
            <a:r>
              <a:rPr lang="en-US" sz="3200" dirty="0"/>
              <a:t>2. Access to appropriate members of staff</a:t>
            </a:r>
          </a:p>
          <a:p>
            <a:pPr marL="688975" indent="-400050" algn="just">
              <a:buNone/>
            </a:pPr>
            <a:r>
              <a:rPr lang="en-US" sz="3200" dirty="0"/>
              <a:t>3. Machine facilities for development and testing</a:t>
            </a:r>
          </a:p>
          <a:p>
            <a:pPr marL="688975" indent="-400050" algn="just">
              <a:buNone/>
            </a:pPr>
            <a:r>
              <a:rPr lang="en-US" sz="3200" dirty="0"/>
              <a:t>4. Accommodation, telephone and secretarial facilities for the developer’s staff when working on the client’s premises</a:t>
            </a:r>
          </a:p>
          <a:p>
            <a:pPr marL="688975" indent="-400050" algn="just">
              <a:buNone/>
            </a:pPr>
            <a:r>
              <a:rPr lang="en-US" sz="3200" dirty="0"/>
              <a:t>5. Data communications facilities to the site</a:t>
            </a:r>
          </a:p>
        </p:txBody>
      </p:sp>
    </p:spTree>
    <p:extLst>
      <p:ext uri="{BB962C8B-B14F-4D97-AF65-F5344CB8AC3E}">
        <p14:creationId xmlns:p14="http://schemas.microsoft.com/office/powerpoint/2010/main" val="995535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0"/>
            <a:ext cx="10515600" cy="1325563"/>
          </a:xfrm>
        </p:spPr>
        <p:txBody>
          <a:bodyPr/>
          <a:lstStyle/>
          <a:p>
            <a:r>
              <a:rPr lang="en-US" dirty="0"/>
              <a:t>Major Clauses: </a:t>
            </a:r>
            <a:r>
              <a:rPr lang="en-US" b="1" i="1" u="sng" dirty="0"/>
              <a:t>Acceptance Procedure</a:t>
            </a:r>
          </a:p>
        </p:txBody>
      </p:sp>
      <p:sp>
        <p:nvSpPr>
          <p:cNvPr id="3" name="Content Placeholder 2"/>
          <p:cNvSpPr>
            <a:spLocks noGrp="1"/>
          </p:cNvSpPr>
          <p:nvPr>
            <p:ph idx="1"/>
          </p:nvPr>
        </p:nvSpPr>
        <p:spPr>
          <a:xfrm>
            <a:off x="533400" y="1447800"/>
            <a:ext cx="11049000" cy="5219700"/>
          </a:xfrm>
        </p:spPr>
        <p:txBody>
          <a:bodyPr>
            <a:normAutofit lnSpcReduction="10000"/>
          </a:bodyPr>
          <a:lstStyle/>
          <a:p>
            <a:pPr algn="just"/>
            <a:r>
              <a:rPr lang="en-US" sz="3200" dirty="0"/>
              <a:t>Acceptance procedure are critical in any fixed price contract.</a:t>
            </a:r>
          </a:p>
          <a:p>
            <a:pPr lvl="1" algn="just"/>
            <a:r>
              <a:rPr lang="en-US" sz="2800" dirty="0"/>
              <a:t>They provide the criteria by which successful completion of the contract is judged.</a:t>
            </a:r>
          </a:p>
          <a:p>
            <a:pPr algn="just"/>
            <a:r>
              <a:rPr lang="en-US" sz="3200" dirty="0"/>
              <a:t>The client should provide a fixed set of acceptance tests and expected results.</a:t>
            </a:r>
          </a:p>
          <a:p>
            <a:pPr algn="just"/>
            <a:r>
              <a:rPr lang="en-US" sz="3200" dirty="0"/>
              <a:t>Extra tests cannot be added once the test set has been handed over.</a:t>
            </a:r>
          </a:p>
          <a:p>
            <a:pPr lvl="1" algn="just"/>
            <a:r>
              <a:rPr lang="en-US" sz="2800" dirty="0"/>
              <a:t>To ensure that the acceptance procedure can be completed in reasonable time</a:t>
            </a:r>
          </a:p>
          <a:p>
            <a:pPr algn="just"/>
            <a:r>
              <a:rPr lang="en-US" sz="3200" dirty="0"/>
              <a:t>The contract should also </a:t>
            </a:r>
            <a:r>
              <a:rPr lang="en-US" sz="3200" dirty="0" smtClean="0"/>
              <a:t>include:</a:t>
            </a:r>
            <a:endParaRPr lang="en-US" sz="3200" dirty="0"/>
          </a:p>
          <a:p>
            <a:pPr lvl="1" algn="just"/>
            <a:r>
              <a:rPr lang="en-US" sz="2800" dirty="0"/>
              <a:t>Who shall be present when the tests are carried out</a:t>
            </a:r>
          </a:p>
          <a:p>
            <a:pPr lvl="1" algn="just"/>
            <a:r>
              <a:rPr lang="en-US" sz="2800" dirty="0"/>
              <a:t>What happens if the tests are not completed successfully</a:t>
            </a:r>
          </a:p>
        </p:txBody>
      </p:sp>
    </p:spTree>
    <p:extLst>
      <p:ext uri="{BB962C8B-B14F-4D97-AF65-F5344CB8AC3E}">
        <p14:creationId xmlns:p14="http://schemas.microsoft.com/office/powerpoint/2010/main" val="2287445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Major Clauses: </a:t>
            </a:r>
            <a:r>
              <a:rPr lang="en-US" b="1" i="1" u="sng" dirty="0"/>
              <a:t>Warranty and Maintenance</a:t>
            </a:r>
          </a:p>
        </p:txBody>
      </p:sp>
      <p:sp>
        <p:nvSpPr>
          <p:cNvPr id="3" name="Content Placeholder 2"/>
          <p:cNvSpPr>
            <a:spLocks noGrp="1"/>
          </p:cNvSpPr>
          <p:nvPr>
            <p:ph idx="1"/>
          </p:nvPr>
        </p:nvSpPr>
        <p:spPr>
          <a:xfrm>
            <a:off x="533400" y="1504950"/>
            <a:ext cx="11029950" cy="5143499"/>
          </a:xfrm>
        </p:spPr>
        <p:txBody>
          <a:bodyPr>
            <a:normAutofit/>
          </a:bodyPr>
          <a:lstStyle/>
          <a:p>
            <a:pPr algn="just"/>
            <a:r>
              <a:rPr lang="en-US" dirty="0"/>
              <a:t>Once the product has been accepted, it is common to offer a warranty period, typically 90 days.</a:t>
            </a:r>
          </a:p>
          <a:p>
            <a:pPr algn="just"/>
            <a:r>
              <a:rPr lang="en-US" dirty="0"/>
              <a:t>Any errors found within this period will be corrected free of charge.</a:t>
            </a:r>
          </a:p>
          <a:p>
            <a:pPr lvl="1" algn="just"/>
            <a:r>
              <a:rPr lang="en-US" dirty="0"/>
              <a:t>This clause is subject to negotiation.</a:t>
            </a:r>
          </a:p>
          <a:p>
            <a:pPr algn="just"/>
            <a:r>
              <a:rPr lang="en-US" dirty="0"/>
              <a:t>After the warranty period, maintenance can be available on request.</a:t>
            </a:r>
          </a:p>
          <a:p>
            <a:pPr algn="just"/>
            <a:r>
              <a:rPr lang="en-US" dirty="0"/>
              <a:t>Since such maintenance is likely to involve enhancement rather than simply faults correction:</a:t>
            </a:r>
          </a:p>
          <a:p>
            <a:pPr lvl="1" algn="just"/>
            <a:r>
              <a:rPr lang="en-US" dirty="0"/>
              <a:t>The resources required are unpredictable, the client usually does not know what enhancements will be required in, say, two years’ time.</a:t>
            </a:r>
          </a:p>
          <a:p>
            <a:pPr lvl="1" algn="just"/>
            <a:r>
              <a:rPr lang="en-US" dirty="0"/>
              <a:t>A fixed price will not appropriate.</a:t>
            </a:r>
          </a:p>
          <a:p>
            <a:pPr lvl="1" algn="just"/>
            <a:r>
              <a:rPr lang="en-US" dirty="0"/>
              <a:t>Usually be charged on a time and materials basis.</a:t>
            </a:r>
          </a:p>
        </p:txBody>
      </p:sp>
    </p:spTree>
    <p:extLst>
      <p:ext uri="{BB962C8B-B14F-4D97-AF65-F5344CB8AC3E}">
        <p14:creationId xmlns:p14="http://schemas.microsoft.com/office/powerpoint/2010/main" val="194764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b="1" i="1" u="sng" dirty="0"/>
              <a:t>Inflation</a:t>
            </a:r>
          </a:p>
        </p:txBody>
      </p:sp>
      <p:sp>
        <p:nvSpPr>
          <p:cNvPr id="3" name="Content Placeholder 2"/>
          <p:cNvSpPr>
            <a:spLocks noGrp="1"/>
          </p:cNvSpPr>
          <p:nvPr>
            <p:ph idx="1"/>
          </p:nvPr>
        </p:nvSpPr>
        <p:spPr>
          <a:xfrm>
            <a:off x="838200" y="1825625"/>
            <a:ext cx="10648950" cy="4351338"/>
          </a:xfrm>
        </p:spPr>
        <p:txBody>
          <a:bodyPr>
            <a:noAutofit/>
          </a:bodyPr>
          <a:lstStyle/>
          <a:p>
            <a:pPr algn="just"/>
            <a:r>
              <a:rPr lang="en-US" sz="3200" dirty="0"/>
              <a:t>In lengthy projects, the developer will wish to ensure protection against the effects of unpredictable inflation.</a:t>
            </a:r>
          </a:p>
          <a:p>
            <a:pPr algn="just"/>
            <a:r>
              <a:rPr lang="en-US" sz="3200" dirty="0"/>
              <a:t>It is customary to include a clause which allows charges to be increased in accordance with the rise in costs.</a:t>
            </a:r>
          </a:p>
          <a:p>
            <a:pPr algn="just"/>
            <a:r>
              <a:rPr lang="en-US" sz="3200" dirty="0"/>
              <a:t>The clause should state how often (e.g. once or twice a year) charges can be increased and how the effect on the overall price is to be calculated.</a:t>
            </a:r>
          </a:p>
          <a:p>
            <a:pPr algn="just"/>
            <a:endParaRPr lang="en-US" sz="3200" dirty="0"/>
          </a:p>
        </p:txBody>
      </p:sp>
    </p:spTree>
    <p:extLst>
      <p:ext uri="{BB962C8B-B14F-4D97-AF65-F5344CB8AC3E}">
        <p14:creationId xmlns:p14="http://schemas.microsoft.com/office/powerpoint/2010/main" val="40291274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b="1" i="1" u="sng" dirty="0"/>
              <a:t>Indemnity (Compensation)</a:t>
            </a:r>
          </a:p>
        </p:txBody>
      </p:sp>
      <p:sp>
        <p:nvSpPr>
          <p:cNvPr id="3" name="Content Placeholder 2"/>
          <p:cNvSpPr>
            <a:spLocks noGrp="1"/>
          </p:cNvSpPr>
          <p:nvPr>
            <p:ph idx="1"/>
          </p:nvPr>
        </p:nvSpPr>
        <p:spPr>
          <a:xfrm>
            <a:off x="552450" y="1825624"/>
            <a:ext cx="11087100" cy="4498975"/>
          </a:xfrm>
        </p:spPr>
        <p:txBody>
          <a:bodyPr>
            <a:normAutofit lnSpcReduction="10000"/>
          </a:bodyPr>
          <a:lstStyle/>
          <a:p>
            <a:pPr algn="just"/>
            <a:r>
              <a:rPr lang="en-US" sz="3600" dirty="0"/>
              <a:t>It could happen:</a:t>
            </a:r>
          </a:p>
          <a:p>
            <a:pPr lvl="1" algn="just"/>
            <a:r>
              <a:rPr lang="en-US" sz="3200" dirty="0"/>
              <a:t>As a result of the client’s instructions, the developer led unwittingly to infringe the intellectual property rights of a third party.</a:t>
            </a:r>
          </a:p>
          <a:p>
            <a:pPr lvl="1" algn="just"/>
            <a:r>
              <a:rPr lang="en-US" sz="3200" dirty="0"/>
              <a:t>The developer provides a system which infringes such rights through carelessness or dishonesty, e.g. using proprietary software as a  component of the system delivered.</a:t>
            </a:r>
          </a:p>
          <a:p>
            <a:pPr algn="just"/>
            <a:r>
              <a:rPr lang="en-US" sz="3600" dirty="0"/>
              <a:t>For this reason, </a:t>
            </a:r>
            <a:r>
              <a:rPr lang="en-US" sz="3600" i="1" dirty="0"/>
              <a:t>advisable</a:t>
            </a:r>
            <a:r>
              <a:rPr lang="en-US" sz="3600" dirty="0"/>
              <a:t> to include a clause under which each party indemnifies the other for liability arising from its own faults in this respect.</a:t>
            </a:r>
          </a:p>
          <a:p>
            <a:pPr marL="0" indent="0" algn="just">
              <a:buNone/>
            </a:pPr>
            <a:endParaRPr lang="en-US" sz="3600" dirty="0"/>
          </a:p>
        </p:txBody>
      </p:sp>
    </p:spTree>
    <p:extLst>
      <p:ext uri="{BB962C8B-B14F-4D97-AF65-F5344CB8AC3E}">
        <p14:creationId xmlns:p14="http://schemas.microsoft.com/office/powerpoint/2010/main" val="30170525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b="1" i="1" u="sng" dirty="0"/>
              <a:t>Termination of Contract</a:t>
            </a:r>
          </a:p>
        </p:txBody>
      </p:sp>
      <p:sp>
        <p:nvSpPr>
          <p:cNvPr id="3" name="Content Placeholder 2"/>
          <p:cNvSpPr>
            <a:spLocks noGrp="1"/>
          </p:cNvSpPr>
          <p:nvPr>
            <p:ph idx="1"/>
          </p:nvPr>
        </p:nvSpPr>
        <p:spPr>
          <a:xfrm>
            <a:off x="838200" y="1543050"/>
            <a:ext cx="10515600" cy="5086350"/>
          </a:xfrm>
        </p:spPr>
        <p:txBody>
          <a:bodyPr>
            <a:noAutofit/>
          </a:bodyPr>
          <a:lstStyle/>
          <a:p>
            <a:r>
              <a:rPr lang="en-US" sz="3000" dirty="0"/>
              <a:t>There are many reasons to necessarily terminate a contract before it has been completed.</a:t>
            </a:r>
          </a:p>
          <a:p>
            <a:pPr lvl="1"/>
            <a:r>
              <a:rPr lang="en-US" sz="3000" dirty="0"/>
              <a:t>It is not uncommon.</a:t>
            </a:r>
          </a:p>
          <a:p>
            <a:r>
              <a:rPr lang="en-US" sz="3000" dirty="0"/>
              <a:t>It is essential that the contract make provision for terminating the work in an amicable manner.</a:t>
            </a:r>
          </a:p>
          <a:p>
            <a:r>
              <a:rPr lang="en-US" sz="3000" dirty="0"/>
              <a:t>Usually means that the developer is to be paid for all the work carried out up to the point where the contract is terminated, together with some compensation for the time needed to redeploy staff on other revenue earning work.</a:t>
            </a:r>
          </a:p>
          <a:p>
            <a:r>
              <a:rPr lang="en-US" sz="3000" dirty="0"/>
              <a:t>The question of ownership of the work so far carried out must also be addressed.</a:t>
            </a:r>
          </a:p>
        </p:txBody>
      </p:sp>
    </p:spTree>
    <p:extLst>
      <p:ext uri="{BB962C8B-B14F-4D97-AF65-F5344CB8AC3E}">
        <p14:creationId xmlns:p14="http://schemas.microsoft.com/office/powerpoint/2010/main" val="33481192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1972"/>
          </a:xfrm>
        </p:spPr>
        <p:txBody>
          <a:bodyPr>
            <a:normAutofit/>
          </a:bodyPr>
          <a:lstStyle/>
          <a:p>
            <a:r>
              <a:rPr lang="en-US" dirty="0"/>
              <a:t>Major Clauses: </a:t>
            </a:r>
            <a:r>
              <a:rPr lang="en-US" b="1" i="1" u="sng" dirty="0"/>
              <a:t>Arbitration</a:t>
            </a:r>
          </a:p>
        </p:txBody>
      </p:sp>
      <p:sp>
        <p:nvSpPr>
          <p:cNvPr id="3" name="Content Placeholder 2"/>
          <p:cNvSpPr>
            <a:spLocks noGrp="1"/>
          </p:cNvSpPr>
          <p:nvPr>
            <p:ph idx="1"/>
          </p:nvPr>
        </p:nvSpPr>
        <p:spPr>
          <a:xfrm>
            <a:off x="838200" y="1504950"/>
            <a:ext cx="10515600" cy="4987925"/>
          </a:xfrm>
        </p:spPr>
        <p:txBody>
          <a:bodyPr>
            <a:normAutofit fontScale="92500" lnSpcReduction="10000"/>
          </a:bodyPr>
          <a:lstStyle/>
          <a:p>
            <a:r>
              <a:rPr lang="en-US" sz="3200" dirty="0"/>
              <a:t>Court action is expensive. Contract often contain a clause saying that, in the event of a dispute that they cannot solve themselves, the party agree to accept the decision of an independent arbitrator.</a:t>
            </a:r>
          </a:p>
          <a:p>
            <a:r>
              <a:rPr lang="en-US" sz="3200" dirty="0"/>
              <a:t>In computer-related contracts, it is usually stated that the arbitrator is to be appointed either by the autonomous authority of IEEE. </a:t>
            </a:r>
          </a:p>
          <a:p>
            <a:pPr lvl="1"/>
            <a:r>
              <a:rPr lang="en-US" sz="2800" dirty="0"/>
              <a:t>Both bodies maintain a lists of qualified arbitrators</a:t>
            </a:r>
          </a:p>
          <a:p>
            <a:r>
              <a:rPr lang="en-US" sz="3200" dirty="0"/>
              <a:t>Usually state that if arbitration is required, it will comply with the Arbitration Act 1996.</a:t>
            </a:r>
          </a:p>
          <a:p>
            <a:pPr lvl="1"/>
            <a:r>
              <a:rPr lang="en-US" sz="2800" dirty="0"/>
              <a:t>This act lays down set of rules that cover many eventualities.</a:t>
            </a:r>
          </a:p>
          <a:p>
            <a:pPr lvl="1"/>
            <a:r>
              <a:rPr lang="en-US" sz="2800" dirty="0"/>
              <a:t>Reference to it avoids the need to spell these out in detail.</a:t>
            </a:r>
          </a:p>
          <a:p>
            <a:endParaRPr lang="en-US" sz="3200" dirty="0"/>
          </a:p>
          <a:p>
            <a:endParaRPr lang="en-US" sz="3200" dirty="0"/>
          </a:p>
        </p:txBody>
      </p:sp>
    </p:spTree>
    <p:extLst>
      <p:ext uri="{BB962C8B-B14F-4D97-AF65-F5344CB8AC3E}">
        <p14:creationId xmlns:p14="http://schemas.microsoft.com/office/powerpoint/2010/main" val="31973566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3125"/>
          </a:xfrm>
        </p:spPr>
        <p:txBody>
          <a:bodyPr/>
          <a:lstStyle/>
          <a:p>
            <a:r>
              <a:rPr lang="en-US" dirty="0"/>
              <a:t>Major Clauses: </a:t>
            </a:r>
            <a:r>
              <a:rPr lang="en-US" b="1" i="1" u="sng" dirty="0"/>
              <a:t>Outsourcing</a:t>
            </a:r>
          </a:p>
        </p:txBody>
      </p:sp>
      <p:sp>
        <p:nvSpPr>
          <p:cNvPr id="3" name="Content Placeholder 2"/>
          <p:cNvSpPr>
            <a:spLocks noGrp="1"/>
          </p:cNvSpPr>
          <p:nvPr>
            <p:ph idx="1"/>
          </p:nvPr>
        </p:nvSpPr>
        <p:spPr>
          <a:xfrm>
            <a:off x="628650" y="1409700"/>
            <a:ext cx="10725150" cy="5083175"/>
          </a:xfrm>
        </p:spPr>
        <p:txBody>
          <a:bodyPr>
            <a:normAutofit lnSpcReduction="10000"/>
          </a:bodyPr>
          <a:lstStyle/>
          <a:p>
            <a:pPr algn="just"/>
            <a:r>
              <a:rPr lang="en-US" sz="3200" b="1" i="0" dirty="0">
                <a:solidFill>
                  <a:srgbClr val="212529"/>
                </a:solidFill>
                <a:effectLst/>
                <a:latin typeface="-apple-system"/>
              </a:rPr>
              <a:t>Outsourcing</a:t>
            </a:r>
            <a:r>
              <a:rPr lang="en-US" sz="3200" b="0" i="0" dirty="0">
                <a:solidFill>
                  <a:srgbClr val="212529"/>
                </a:solidFill>
                <a:effectLst/>
                <a:latin typeface="-apple-system"/>
              </a:rPr>
              <a:t> describes an arrangement, in which an organization chooses to hire an external software development agency to effectively carry out all the tasks of a software development project, that could be done in-house instead.</a:t>
            </a:r>
            <a:endParaRPr lang="en-US" sz="3200" dirty="0"/>
          </a:p>
          <a:p>
            <a:pPr algn="just"/>
            <a:r>
              <a:rPr lang="en-US" sz="3200" dirty="0"/>
              <a:t>Commercial arrangement under which a company (the client) hands over the planning, management and operation of certain function to another company (the developer).</a:t>
            </a:r>
          </a:p>
          <a:p>
            <a:pPr algn="just"/>
            <a:r>
              <a:rPr lang="en-US" sz="3200" dirty="0"/>
              <a:t>A company (the developer) that specializes in a particular area is likely to make a better job than an organization (the client) whose main area of expertise is elsewhere.</a:t>
            </a:r>
          </a:p>
        </p:txBody>
      </p:sp>
    </p:spTree>
    <p:extLst>
      <p:ext uri="{BB962C8B-B14F-4D97-AF65-F5344CB8AC3E}">
        <p14:creationId xmlns:p14="http://schemas.microsoft.com/office/powerpoint/2010/main" val="42944301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3125"/>
          </a:xfrm>
        </p:spPr>
        <p:txBody>
          <a:bodyPr/>
          <a:lstStyle/>
          <a:p>
            <a:r>
              <a:rPr lang="en-US" dirty="0"/>
              <a:t>Major Clauses: </a:t>
            </a:r>
            <a:r>
              <a:rPr lang="en-US" b="1" i="1" u="sng" dirty="0"/>
              <a:t>Outsourcing</a:t>
            </a:r>
          </a:p>
        </p:txBody>
      </p:sp>
      <p:sp>
        <p:nvSpPr>
          <p:cNvPr id="3" name="Content Placeholder 2"/>
          <p:cNvSpPr>
            <a:spLocks noGrp="1"/>
          </p:cNvSpPr>
          <p:nvPr>
            <p:ph idx="1"/>
          </p:nvPr>
        </p:nvSpPr>
        <p:spPr>
          <a:xfrm>
            <a:off x="838200" y="1409700"/>
            <a:ext cx="10515600" cy="5083175"/>
          </a:xfrm>
        </p:spPr>
        <p:txBody>
          <a:bodyPr>
            <a:normAutofit/>
          </a:bodyPr>
          <a:lstStyle/>
          <a:p>
            <a:r>
              <a:rPr lang="en-US" sz="3600" dirty="0"/>
              <a:t>Rapid increase in the UK in the past 25 years.</a:t>
            </a:r>
          </a:p>
          <a:p>
            <a:pPr lvl="1"/>
            <a:r>
              <a:rPr lang="en-US" sz="3200" dirty="0"/>
              <a:t>Led by the Civil Service.</a:t>
            </a:r>
          </a:p>
          <a:p>
            <a:pPr lvl="2"/>
            <a:r>
              <a:rPr lang="en-US" sz="2800" dirty="0"/>
              <a:t>Great difficulty in retaining competent IT staff because civil service salaries were low in comparison with in the IT industry</a:t>
            </a:r>
          </a:p>
          <a:p>
            <a:pPr lvl="2"/>
            <a:r>
              <a:rPr lang="en-US" sz="2800" dirty="0"/>
              <a:t>Allowing gov’t to reduce the number of civil servants</a:t>
            </a:r>
          </a:p>
        </p:txBody>
      </p:sp>
    </p:spTree>
    <p:extLst>
      <p:ext uri="{BB962C8B-B14F-4D97-AF65-F5344CB8AC3E}">
        <p14:creationId xmlns:p14="http://schemas.microsoft.com/office/powerpoint/2010/main" val="6147300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b="1" i="1" u="sng" dirty="0"/>
              <a:t>License Agreements</a:t>
            </a:r>
          </a:p>
        </p:txBody>
      </p:sp>
      <p:sp>
        <p:nvSpPr>
          <p:cNvPr id="3" name="Content Placeholder 2"/>
          <p:cNvSpPr>
            <a:spLocks noGrp="1"/>
          </p:cNvSpPr>
          <p:nvPr>
            <p:ph idx="1"/>
          </p:nvPr>
        </p:nvSpPr>
        <p:spPr>
          <a:xfrm>
            <a:off x="838200" y="1690688"/>
            <a:ext cx="10515600" cy="4486275"/>
          </a:xfrm>
        </p:spPr>
        <p:txBody>
          <a:bodyPr/>
          <a:lstStyle/>
          <a:p>
            <a:r>
              <a:rPr lang="en-US" dirty="0"/>
              <a:t>There are many different types of license agreement. A license may allow the licensee to:</a:t>
            </a:r>
          </a:p>
          <a:p>
            <a:r>
              <a:rPr lang="en-US" dirty="0"/>
              <a:t>use one copy of the software on his computer </a:t>
            </a:r>
          </a:p>
          <a:p>
            <a:r>
              <a:rPr lang="en-US" dirty="0"/>
              <a:t>run the software on a server on his local area network and for it to be used by up to some agreed maximum number of users.</a:t>
            </a:r>
          </a:p>
          <a:p>
            <a:r>
              <a:rPr lang="en-US" dirty="0"/>
              <a:t>run as many copies of the software on computers at specified premises </a:t>
            </a:r>
            <a:r>
              <a:rPr lang="en-US" dirty="0">
                <a:sym typeface="Wingdings" panose="05000000000000000000" pitchFamily="2" charset="2"/>
              </a:rPr>
              <a:t> </a:t>
            </a:r>
            <a:r>
              <a:rPr lang="en-US" dirty="0"/>
              <a:t>Site License.</a:t>
            </a:r>
          </a:p>
          <a:p>
            <a:endParaRPr lang="en-US" dirty="0"/>
          </a:p>
        </p:txBody>
      </p:sp>
    </p:spTree>
    <p:extLst>
      <p:ext uri="{BB962C8B-B14F-4D97-AF65-F5344CB8AC3E}">
        <p14:creationId xmlns:p14="http://schemas.microsoft.com/office/powerpoint/2010/main" val="42407141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Concerns in License Agreements</a:t>
            </a:r>
          </a:p>
        </p:txBody>
      </p:sp>
      <p:sp>
        <p:nvSpPr>
          <p:cNvPr id="3" name="Content Placeholder 2"/>
          <p:cNvSpPr>
            <a:spLocks noGrp="1"/>
          </p:cNvSpPr>
          <p:nvPr>
            <p:ph idx="1"/>
          </p:nvPr>
        </p:nvSpPr>
        <p:spPr/>
        <p:txBody>
          <a:bodyPr>
            <a:normAutofit lnSpcReduction="10000"/>
          </a:bodyPr>
          <a:lstStyle/>
          <a:p>
            <a:r>
              <a:rPr lang="en-US" dirty="0"/>
              <a:t>Several things that a software vendor may be concerned:</a:t>
            </a:r>
          </a:p>
          <a:p>
            <a:r>
              <a:rPr lang="en-US" dirty="0"/>
              <a:t>Making sure that it is not giving away any of its own rights in the software.</a:t>
            </a:r>
          </a:p>
          <a:p>
            <a:r>
              <a:rPr lang="en-US" dirty="0"/>
              <a:t>Limiting the extent the customer can use the software.</a:t>
            </a:r>
          </a:p>
          <a:p>
            <a:pPr lvl="1"/>
            <a:r>
              <a:rPr lang="en-US" dirty="0"/>
              <a:t>So that if the customer wants to use it more he must pay an additional license fee.</a:t>
            </a:r>
          </a:p>
          <a:p>
            <a:r>
              <a:rPr lang="en-US" dirty="0"/>
              <a:t>Ensuring a regular income from support activities.</a:t>
            </a:r>
          </a:p>
          <a:p>
            <a:pPr lvl="1"/>
            <a:r>
              <a:rPr lang="en-US" dirty="0"/>
              <a:t>E.g. annual maintenance charge, consultancy fee</a:t>
            </a:r>
          </a:p>
          <a:p>
            <a:r>
              <a:rPr lang="en-US" dirty="0"/>
              <a:t>Ensuring as far as possible it will not be liable for any defects in the software.</a:t>
            </a:r>
          </a:p>
          <a:p>
            <a:endParaRPr lang="en-US" dirty="0"/>
          </a:p>
        </p:txBody>
      </p:sp>
    </p:spTree>
    <p:extLst>
      <p:ext uri="{BB962C8B-B14F-4D97-AF65-F5344CB8AC3E}">
        <p14:creationId xmlns:p14="http://schemas.microsoft.com/office/powerpoint/2010/main" val="38597510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Licenses Types</a:t>
            </a:r>
          </a:p>
        </p:txBody>
      </p:sp>
      <p:sp>
        <p:nvSpPr>
          <p:cNvPr id="3" name="Content Placeholder 2"/>
          <p:cNvSpPr>
            <a:spLocks noGrp="1"/>
          </p:cNvSpPr>
          <p:nvPr>
            <p:ph idx="1"/>
          </p:nvPr>
        </p:nvSpPr>
        <p:spPr/>
        <p:txBody>
          <a:bodyPr>
            <a:normAutofit fontScale="92500" lnSpcReduction="10000"/>
          </a:bodyPr>
          <a:lstStyle/>
          <a:p>
            <a:r>
              <a:rPr lang="en-US" dirty="0"/>
              <a:t>Different types of software licenses require you to meet certain obligations if you want to reuse the code. </a:t>
            </a:r>
          </a:p>
          <a:p>
            <a:r>
              <a:rPr lang="en-US" dirty="0"/>
              <a:t>Here are common types of software licenses</a:t>
            </a:r>
            <a:r>
              <a:rPr lang="en-US" dirty="0" smtClean="0"/>
              <a:t>:</a:t>
            </a:r>
          </a:p>
          <a:p>
            <a:endParaRPr lang="en-US" dirty="0"/>
          </a:p>
          <a:p>
            <a:pPr lvl="1"/>
            <a:r>
              <a:rPr lang="en-US" dirty="0"/>
              <a:t>Public domain</a:t>
            </a:r>
          </a:p>
          <a:p>
            <a:pPr lvl="1"/>
            <a:r>
              <a:rPr lang="en-US" dirty="0"/>
              <a:t>Permissive </a:t>
            </a:r>
          </a:p>
          <a:p>
            <a:pPr lvl="1"/>
            <a:r>
              <a:rPr lang="en-US" dirty="0" smtClean="0"/>
              <a:t>LGPL (Lesser General Public License) aka Weak </a:t>
            </a:r>
            <a:r>
              <a:rPr lang="en-US" dirty="0" err="1" smtClean="0"/>
              <a:t>Copyleft</a:t>
            </a:r>
            <a:endParaRPr lang="en-US" dirty="0"/>
          </a:p>
          <a:p>
            <a:pPr lvl="1"/>
            <a:r>
              <a:rPr lang="en-US" dirty="0" err="1"/>
              <a:t>Copyleft</a:t>
            </a:r>
            <a:endParaRPr lang="en-US" dirty="0"/>
          </a:p>
          <a:p>
            <a:pPr lvl="1"/>
            <a:r>
              <a:rPr lang="en-US" dirty="0" smtClean="0"/>
              <a:t>Proprietary (Commercial)</a:t>
            </a:r>
          </a:p>
          <a:p>
            <a:pPr lvl="1"/>
            <a:endParaRPr lang="en-US" dirty="0" smtClean="0"/>
          </a:p>
          <a:p>
            <a:pPr lvl="1"/>
            <a:r>
              <a:rPr lang="en-US" dirty="0" smtClean="0"/>
              <a:t>Refer: https</a:t>
            </a:r>
            <a:r>
              <a:rPr lang="en-US" dirty="0"/>
              <a:t>://www.synopsys.com/blogs/software-security/5-types-of-software-licenses-you-need-to-understand/</a:t>
            </a:r>
          </a:p>
        </p:txBody>
      </p:sp>
    </p:spTree>
    <p:extLst>
      <p:ext uri="{BB962C8B-B14F-4D97-AF65-F5344CB8AC3E}">
        <p14:creationId xmlns:p14="http://schemas.microsoft.com/office/powerpoint/2010/main" val="37382912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Major Clauses: </a:t>
            </a:r>
            <a:r>
              <a:rPr lang="en-US" b="1" i="1" u="sng" dirty="0"/>
              <a:t>Standards and Methods of Working</a:t>
            </a:r>
          </a:p>
        </p:txBody>
      </p:sp>
      <p:sp>
        <p:nvSpPr>
          <p:cNvPr id="3" name="Content Placeholder 2"/>
          <p:cNvSpPr>
            <a:spLocks noGrp="1"/>
          </p:cNvSpPr>
          <p:nvPr>
            <p:ph idx="1"/>
          </p:nvPr>
        </p:nvSpPr>
        <p:spPr/>
        <p:txBody>
          <a:bodyPr>
            <a:normAutofit/>
          </a:bodyPr>
          <a:lstStyle/>
          <a:p>
            <a:pPr algn="just"/>
            <a:r>
              <a:rPr lang="en-US" dirty="0"/>
              <a:t>The supplier is likely to have company standards, methods of working, quality assurance procedures, etc. and will normally prefer to use these. </a:t>
            </a:r>
          </a:p>
          <a:p>
            <a:pPr algn="just"/>
            <a:r>
              <a:rPr lang="en-US" dirty="0"/>
              <a:t>More sophisticated clients will have their own procedures and may require that these be adhered to.</a:t>
            </a:r>
          </a:p>
          <a:p>
            <a:pPr algn="just"/>
            <a:r>
              <a:rPr lang="en-US" dirty="0"/>
              <a:t>In some cases, the supplier may be required to allow the client to apply quality control procedures to the project. </a:t>
            </a:r>
          </a:p>
          <a:p>
            <a:pPr algn="just"/>
            <a:r>
              <a:rPr lang="en-US" dirty="0"/>
              <a:t>The contract must specify which is applicable.</a:t>
            </a:r>
            <a:endParaRPr lang="en-US" b="1" i="1" dirty="0"/>
          </a:p>
        </p:txBody>
      </p:sp>
    </p:spTree>
    <p:extLst>
      <p:ext uri="{BB962C8B-B14F-4D97-AF65-F5344CB8AC3E}">
        <p14:creationId xmlns:p14="http://schemas.microsoft.com/office/powerpoint/2010/main" val="621153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 Clauses: </a:t>
            </a:r>
            <a:r>
              <a:rPr lang="en-US" b="1" i="1" u="sng" dirty="0"/>
              <a:t>Liability of Defective Software</a:t>
            </a:r>
          </a:p>
        </p:txBody>
      </p:sp>
      <p:sp>
        <p:nvSpPr>
          <p:cNvPr id="3" name="Content Placeholder 2"/>
          <p:cNvSpPr>
            <a:spLocks noGrp="1"/>
          </p:cNvSpPr>
          <p:nvPr>
            <p:ph idx="1"/>
          </p:nvPr>
        </p:nvSpPr>
        <p:spPr>
          <a:xfrm>
            <a:off x="838199" y="1825625"/>
            <a:ext cx="10761617" cy="4351338"/>
          </a:xfrm>
        </p:spPr>
        <p:txBody>
          <a:bodyPr>
            <a:normAutofit/>
          </a:bodyPr>
          <a:lstStyle/>
          <a:p>
            <a:r>
              <a:rPr lang="en-US" dirty="0" smtClean="0"/>
              <a:t>Developers </a:t>
            </a:r>
            <a:r>
              <a:rPr lang="en-US" dirty="0"/>
              <a:t>are very reluctant to give contractual commitment.</a:t>
            </a:r>
          </a:p>
          <a:p>
            <a:pPr lvl="1"/>
            <a:r>
              <a:rPr lang="en-US" dirty="0"/>
              <a:t>The Standard terms and conditions will contain a clause that tries to limit the developer liability if the software is defective.</a:t>
            </a:r>
          </a:p>
          <a:p>
            <a:pPr lvl="1"/>
            <a:r>
              <a:rPr lang="en-US" dirty="0"/>
              <a:t>Most contracts will limit the extent of any liability either to purchase price of the product or to some fixed figure.</a:t>
            </a:r>
          </a:p>
          <a:p>
            <a:r>
              <a:rPr lang="en-US" dirty="0"/>
              <a:t>The </a:t>
            </a:r>
            <a:r>
              <a:rPr lang="en-US" dirty="0" smtClean="0"/>
              <a:t>Unfair Contract Terms Act 1977 (UK based) restricts </a:t>
            </a:r>
            <a:r>
              <a:rPr lang="en-US" dirty="0"/>
              <a:t>the </a:t>
            </a:r>
            <a:r>
              <a:rPr lang="en-US" dirty="0" smtClean="0"/>
              <a:t>extent </a:t>
            </a:r>
            <a:r>
              <a:rPr lang="en-US" dirty="0"/>
              <a:t>to which clauses in contract limiting liability.</a:t>
            </a:r>
          </a:p>
          <a:p>
            <a:r>
              <a:rPr lang="en-US" dirty="0"/>
              <a:t>But, it is not possible to limit the damages payable if a defect in the product causes death or injury</a:t>
            </a:r>
          </a:p>
        </p:txBody>
      </p:sp>
    </p:spTree>
    <p:extLst>
      <p:ext uri="{BB962C8B-B14F-4D97-AF65-F5344CB8AC3E}">
        <p14:creationId xmlns:p14="http://schemas.microsoft.com/office/powerpoint/2010/main" val="18884654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1288"/>
            <a:ext cx="10515600" cy="942930"/>
          </a:xfrm>
        </p:spPr>
        <p:txBody>
          <a:bodyPr/>
          <a:lstStyle/>
          <a:p>
            <a:r>
              <a:rPr lang="en-US" dirty="0"/>
              <a:t>Major Clauses: </a:t>
            </a:r>
            <a:r>
              <a:rPr lang="en-US" b="1" i="1" u="sng" dirty="0"/>
              <a:t>Health and Safety</a:t>
            </a:r>
          </a:p>
        </p:txBody>
      </p:sp>
      <p:sp>
        <p:nvSpPr>
          <p:cNvPr id="3" name="Content Placeholder 2"/>
          <p:cNvSpPr>
            <a:spLocks noGrp="1"/>
          </p:cNvSpPr>
          <p:nvPr>
            <p:ph idx="1"/>
          </p:nvPr>
        </p:nvSpPr>
        <p:spPr>
          <a:xfrm>
            <a:off x="627018" y="992777"/>
            <a:ext cx="11194868" cy="5773782"/>
          </a:xfrm>
        </p:spPr>
        <p:txBody>
          <a:bodyPr>
            <a:normAutofit lnSpcReduction="10000"/>
          </a:bodyPr>
          <a:lstStyle/>
          <a:p>
            <a:r>
              <a:rPr lang="en-US" dirty="0"/>
              <a:t>“It shall be the duty of every employer to ensure, so far as is reasonably practicable, the health, safety and welfare at work of all his employees.”</a:t>
            </a:r>
          </a:p>
          <a:p>
            <a:r>
              <a:rPr lang="en-US" dirty="0"/>
              <a:t>(The Health and Safety Work Act </a:t>
            </a:r>
            <a:r>
              <a:rPr lang="en-US" dirty="0" smtClean="0"/>
              <a:t>1974 – UK based)</a:t>
            </a:r>
            <a:endParaRPr lang="en-US" dirty="0"/>
          </a:p>
          <a:p>
            <a:r>
              <a:rPr lang="en-US" dirty="0"/>
              <a:t>Particular concern to software </a:t>
            </a:r>
            <a:r>
              <a:rPr lang="en-US" dirty="0" smtClean="0"/>
              <a:t>engineers are as follows:</a:t>
            </a:r>
            <a:endParaRPr lang="en-US" dirty="0"/>
          </a:p>
          <a:p>
            <a:r>
              <a:rPr lang="en-US" dirty="0"/>
              <a:t>Provision and maintenance of:</a:t>
            </a:r>
          </a:p>
          <a:p>
            <a:pPr lvl="1"/>
            <a:r>
              <a:rPr lang="en-US" dirty="0"/>
              <a:t>safe plant</a:t>
            </a:r>
          </a:p>
          <a:p>
            <a:pPr lvl="1"/>
            <a:r>
              <a:rPr lang="en-US" dirty="0"/>
              <a:t>safe systems of work</a:t>
            </a:r>
          </a:p>
          <a:p>
            <a:pPr lvl="1"/>
            <a:r>
              <a:rPr lang="en-US" dirty="0"/>
              <a:t>such information, instruction, training and supervision</a:t>
            </a:r>
          </a:p>
          <a:p>
            <a:pPr lvl="1"/>
            <a:r>
              <a:rPr lang="en-US" dirty="0"/>
              <a:t>safe working environment and adequate welfare arrangements</a:t>
            </a:r>
          </a:p>
          <a:p>
            <a:r>
              <a:rPr lang="en-US" dirty="0"/>
              <a:t>The act also requires employers to ensure that their activities do not risk the general public health and safety.</a:t>
            </a:r>
          </a:p>
          <a:p>
            <a:r>
              <a:rPr lang="en-US" dirty="0"/>
              <a:t>Failure to comply with the act is a criminal offence</a:t>
            </a:r>
            <a:r>
              <a:rPr lang="en-US" dirty="0" smtClean="0"/>
              <a:t>.</a:t>
            </a:r>
          </a:p>
          <a:p>
            <a:r>
              <a:rPr lang="en-US" dirty="0" smtClean="0"/>
              <a:t>Refer: https</a:t>
            </a:r>
            <a:r>
              <a:rPr lang="en-US" dirty="0"/>
              <a:t>://www.legislation.gov.uk/ukpga/1974/37/contents</a:t>
            </a:r>
          </a:p>
          <a:p>
            <a:endParaRPr lang="en-US" dirty="0"/>
          </a:p>
          <a:p>
            <a:endParaRPr lang="en-US" dirty="0"/>
          </a:p>
        </p:txBody>
      </p:sp>
    </p:spTree>
    <p:extLst>
      <p:ext uri="{BB962C8B-B14F-4D97-AF65-F5344CB8AC3E}">
        <p14:creationId xmlns:p14="http://schemas.microsoft.com/office/powerpoint/2010/main" val="239496355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Case Study-1</a:t>
            </a:r>
          </a:p>
        </p:txBody>
      </p:sp>
      <p:sp>
        <p:nvSpPr>
          <p:cNvPr id="3" name="Content Placeholder 2"/>
          <p:cNvSpPr>
            <a:spLocks noGrp="1"/>
          </p:cNvSpPr>
          <p:nvPr>
            <p:ph idx="1"/>
          </p:nvPr>
        </p:nvSpPr>
        <p:spPr>
          <a:xfrm>
            <a:off x="838200" y="1524000"/>
            <a:ext cx="10760242" cy="4701089"/>
          </a:xfrm>
        </p:spPr>
        <p:txBody>
          <a:bodyPr>
            <a:normAutofit/>
          </a:bodyPr>
          <a:lstStyle/>
          <a:p>
            <a:pPr>
              <a:defRPr/>
            </a:pPr>
            <a:r>
              <a:rPr lang="en-US" sz="3200" b="1" dirty="0"/>
              <a:t>Contracts for the supply of custom-built software at a fixed price</a:t>
            </a:r>
          </a:p>
          <a:p>
            <a:pPr lvl="1">
              <a:defRPr/>
            </a:pPr>
            <a:endParaRPr lang="en-US" sz="2800" dirty="0"/>
          </a:p>
          <a:p>
            <a:pPr lvl="1">
              <a:defRPr/>
            </a:pPr>
            <a:r>
              <a:rPr lang="en-US" sz="2800" dirty="0"/>
              <a:t>Software suppliers try to use what are known as standard form contracts, which are used or intended to be used many times over.</a:t>
            </a:r>
          </a:p>
          <a:p>
            <a:pPr lvl="1">
              <a:defRPr/>
            </a:pPr>
            <a:r>
              <a:rPr lang="en-US" sz="2800" dirty="0"/>
              <a:t>Such a contract might consist of:</a:t>
            </a:r>
          </a:p>
          <a:p>
            <a:pPr marL="1371600" lvl="2" indent="-457200">
              <a:buFont typeface="+mj-lt"/>
              <a:buAutoNum type="arabicPeriod"/>
              <a:defRPr/>
            </a:pPr>
            <a:r>
              <a:rPr lang="en-US" sz="2400" dirty="0"/>
              <a:t>a short </a:t>
            </a:r>
            <a:r>
              <a:rPr lang="en-US" sz="2400" dirty="0" smtClean="0"/>
              <a:t>Introductory Section</a:t>
            </a:r>
            <a:endParaRPr lang="en-US" sz="2400" dirty="0"/>
          </a:p>
          <a:p>
            <a:pPr marL="1371600" lvl="2" indent="-457200">
              <a:buFont typeface="+mj-lt"/>
              <a:buAutoNum type="arabicPeriod"/>
              <a:defRPr/>
            </a:pPr>
            <a:r>
              <a:rPr lang="en-US" sz="2400" dirty="0"/>
              <a:t>a set of standard </a:t>
            </a:r>
            <a:r>
              <a:rPr lang="en-US" sz="2400" dirty="0" smtClean="0"/>
              <a:t>Terms </a:t>
            </a:r>
            <a:r>
              <a:rPr lang="en-US" sz="2400" dirty="0"/>
              <a:t>and </a:t>
            </a:r>
            <a:r>
              <a:rPr lang="en-US" sz="2400" dirty="0" smtClean="0"/>
              <a:t>Conditions</a:t>
            </a:r>
            <a:endParaRPr lang="en-US" sz="2400" dirty="0"/>
          </a:p>
          <a:p>
            <a:pPr marL="1371600" lvl="2" indent="-457200">
              <a:buFont typeface="+mj-lt"/>
              <a:buAutoNum type="arabicPeriod"/>
              <a:defRPr/>
            </a:pPr>
            <a:r>
              <a:rPr lang="en-US" sz="2400" dirty="0"/>
              <a:t>a set of </a:t>
            </a:r>
            <a:r>
              <a:rPr lang="en-US" sz="2400" dirty="0" smtClean="0"/>
              <a:t>Appendices </a:t>
            </a:r>
            <a:r>
              <a:rPr lang="en-US" sz="2400" dirty="0"/>
              <a:t>or </a:t>
            </a:r>
            <a:r>
              <a:rPr lang="en-US" sz="2400" dirty="0" smtClean="0"/>
              <a:t>Annexes</a:t>
            </a:r>
            <a:r>
              <a:rPr lang="en-US" sz="2400" dirty="0"/>
              <a:t/>
            </a:r>
            <a:br>
              <a:rPr lang="en-US" sz="2400" dirty="0"/>
            </a:br>
            <a:endParaRPr lang="en-US" sz="2400" dirty="0"/>
          </a:p>
        </p:txBody>
      </p:sp>
    </p:spTree>
    <p:extLst>
      <p:ext uri="{BB962C8B-B14F-4D97-AF65-F5344CB8AC3E}">
        <p14:creationId xmlns:p14="http://schemas.microsoft.com/office/powerpoint/2010/main" val="7508965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Introductory Section</a:t>
            </a:r>
            <a:endParaRPr lang="en-US" dirty="0"/>
          </a:p>
        </p:txBody>
      </p:sp>
      <p:sp>
        <p:nvSpPr>
          <p:cNvPr id="3" name="Content Placeholder 2"/>
          <p:cNvSpPr>
            <a:spLocks noGrp="1"/>
          </p:cNvSpPr>
          <p:nvPr>
            <p:ph idx="1"/>
          </p:nvPr>
        </p:nvSpPr>
        <p:spPr/>
        <p:txBody>
          <a:bodyPr/>
          <a:lstStyle/>
          <a:p>
            <a:pPr>
              <a:defRPr/>
            </a:pPr>
            <a:r>
              <a:rPr lang="en-US" dirty="0"/>
              <a:t>It states that it is an agreement between the parties whose names and registered addresses are given.</a:t>
            </a:r>
          </a:p>
          <a:p>
            <a:pPr>
              <a:defRPr/>
            </a:pPr>
            <a:r>
              <a:rPr lang="en-US" dirty="0"/>
              <a:t>It is dated and signed by authorized representatives of the parties.</a:t>
            </a:r>
          </a:p>
          <a:p>
            <a:pPr>
              <a:defRPr/>
            </a:pPr>
            <a:r>
              <a:rPr lang="en-US" dirty="0"/>
              <a:t>It often begins with a set of definitions of terms used in the</a:t>
            </a:r>
            <a:br>
              <a:rPr lang="en-US" dirty="0"/>
            </a:br>
            <a:r>
              <a:rPr lang="en-US" dirty="0"/>
              <a:t>course of the agreement, set out either in alphabetical order, like a dictionary, or in the order in which they appear in the rest of the contract – </a:t>
            </a:r>
            <a:r>
              <a:rPr lang="en-US" dirty="0" smtClean="0"/>
              <a:t>e.g.</a:t>
            </a:r>
            <a:endParaRPr lang="en-US" dirty="0"/>
          </a:p>
          <a:p>
            <a:pPr lvl="1">
              <a:defRPr/>
            </a:pPr>
            <a:r>
              <a:rPr lang="en-US" dirty="0"/>
              <a:t>The </a:t>
            </a:r>
            <a:r>
              <a:rPr lang="en-US" i="1" dirty="0"/>
              <a:t>Company</a:t>
            </a:r>
            <a:r>
              <a:rPr lang="en-US" dirty="0"/>
              <a:t> (the body which will provide services)</a:t>
            </a:r>
          </a:p>
          <a:p>
            <a:pPr lvl="1">
              <a:defRPr/>
            </a:pPr>
            <a:r>
              <a:rPr lang="en-US" dirty="0"/>
              <a:t>The </a:t>
            </a:r>
            <a:r>
              <a:rPr lang="en-US" i="1" dirty="0"/>
              <a:t>Client</a:t>
            </a:r>
            <a:r>
              <a:rPr lang="en-US" dirty="0"/>
              <a:t> (the body to whom the services will be provided)</a:t>
            </a:r>
          </a:p>
          <a:p>
            <a:endParaRPr lang="en-US" dirty="0"/>
          </a:p>
        </p:txBody>
      </p:sp>
    </p:spTree>
    <p:extLst>
      <p:ext uri="{BB962C8B-B14F-4D97-AF65-F5344CB8AC3E}">
        <p14:creationId xmlns:p14="http://schemas.microsoft.com/office/powerpoint/2010/main" val="325422172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Sections</a:t>
            </a:r>
          </a:p>
        </p:txBody>
      </p:sp>
      <p:sp>
        <p:nvSpPr>
          <p:cNvPr id="3" name="Content Placeholder 2"/>
          <p:cNvSpPr>
            <a:spLocks noGrp="1"/>
          </p:cNvSpPr>
          <p:nvPr>
            <p:ph idx="1"/>
          </p:nvPr>
        </p:nvSpPr>
        <p:spPr/>
        <p:txBody>
          <a:bodyPr>
            <a:normAutofit/>
          </a:bodyPr>
          <a:lstStyle/>
          <a:p>
            <a:pPr>
              <a:defRPr/>
            </a:pPr>
            <a:r>
              <a:rPr lang="en-US" sz="3400" dirty="0"/>
              <a:t>Terms and conditions</a:t>
            </a:r>
          </a:p>
          <a:p>
            <a:pPr>
              <a:defRPr/>
            </a:pPr>
            <a:r>
              <a:rPr lang="en-US" sz="3400" dirty="0"/>
              <a:t>Annexes must include any document stated like SRS. </a:t>
            </a:r>
          </a:p>
          <a:p>
            <a:pPr lvl="1">
              <a:defRPr/>
            </a:pPr>
            <a:r>
              <a:rPr lang="en-US" sz="3400" dirty="0"/>
              <a:t>This is to avoid, for example, the situation in which statements made by an over-enthusiastic salesman while trying to win the business are claimed by the client to constitute part of the contract</a:t>
            </a:r>
          </a:p>
          <a:p>
            <a:pPr lvl="2">
              <a:defRPr/>
            </a:pPr>
            <a:r>
              <a:rPr lang="en-US" sz="3000" dirty="0"/>
              <a:t>Therefore its compulsory to quote any additional document in the annexes</a:t>
            </a:r>
          </a:p>
        </p:txBody>
      </p:sp>
    </p:spTree>
    <p:extLst>
      <p:ext uri="{BB962C8B-B14F-4D97-AF65-F5344CB8AC3E}">
        <p14:creationId xmlns:p14="http://schemas.microsoft.com/office/powerpoint/2010/main" val="380052621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Issues dealt with Standard Terms &amp; Conditions</a:t>
            </a:r>
            <a:endParaRPr lang="en-US" dirty="0"/>
          </a:p>
        </p:txBody>
      </p:sp>
      <p:sp>
        <p:nvSpPr>
          <p:cNvPr id="3" name="Content Placeholder 2"/>
          <p:cNvSpPr>
            <a:spLocks noGrp="1"/>
          </p:cNvSpPr>
          <p:nvPr>
            <p:ph idx="1"/>
          </p:nvPr>
        </p:nvSpPr>
        <p:spPr/>
        <p:txBody>
          <a:bodyPr/>
          <a:lstStyle/>
          <a:p>
            <a:pPr>
              <a:defRPr/>
            </a:pPr>
            <a:r>
              <a:rPr lang="en-US" dirty="0"/>
              <a:t>What is to be produced?</a:t>
            </a:r>
          </a:p>
          <a:p>
            <a:pPr>
              <a:defRPr/>
            </a:pPr>
            <a:r>
              <a:rPr lang="en-US" dirty="0"/>
              <a:t>What is to be delivered?</a:t>
            </a:r>
          </a:p>
          <a:p>
            <a:pPr>
              <a:defRPr/>
            </a:pPr>
            <a:r>
              <a:rPr lang="en-US" dirty="0"/>
              <a:t>Ownership of rights</a:t>
            </a:r>
          </a:p>
          <a:p>
            <a:pPr>
              <a:defRPr/>
            </a:pPr>
            <a:r>
              <a:rPr lang="en-US" dirty="0"/>
              <a:t>Payment terms</a:t>
            </a:r>
          </a:p>
          <a:p>
            <a:pPr>
              <a:defRPr/>
            </a:pPr>
            <a:r>
              <a:rPr lang="en-US" dirty="0"/>
              <a:t>Calculating payments for delays and changes</a:t>
            </a:r>
          </a:p>
          <a:p>
            <a:pPr>
              <a:defRPr/>
            </a:pPr>
            <a:r>
              <a:rPr lang="en-US" dirty="0"/>
              <a:t>Penalty clauses</a:t>
            </a:r>
          </a:p>
          <a:p>
            <a:pPr>
              <a:defRPr/>
            </a:pPr>
            <a:r>
              <a:rPr lang="en-US" dirty="0"/>
              <a:t>Obligations of the client</a:t>
            </a:r>
            <a:r>
              <a:rPr lang="en-US" b="1" dirty="0"/>
              <a:t/>
            </a:r>
            <a:br>
              <a:rPr lang="en-US" b="1" dirty="0"/>
            </a:br>
            <a:endParaRPr lang="en-US" dirty="0"/>
          </a:p>
        </p:txBody>
      </p:sp>
    </p:spTree>
    <p:extLst>
      <p:ext uri="{BB962C8B-B14F-4D97-AF65-F5344CB8AC3E}">
        <p14:creationId xmlns:p14="http://schemas.microsoft.com/office/powerpoint/2010/main" val="39238907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Issues dealt with Standard Terms &amp; Conditions</a:t>
            </a:r>
            <a:endParaRPr lang="en-US" dirty="0"/>
          </a:p>
        </p:txBody>
      </p:sp>
      <p:sp>
        <p:nvSpPr>
          <p:cNvPr id="3" name="Content Placeholder 2"/>
          <p:cNvSpPr>
            <a:spLocks noGrp="1"/>
          </p:cNvSpPr>
          <p:nvPr>
            <p:ph idx="1"/>
          </p:nvPr>
        </p:nvSpPr>
        <p:spPr/>
        <p:txBody>
          <a:bodyPr/>
          <a:lstStyle/>
          <a:p>
            <a:pPr>
              <a:defRPr/>
            </a:pPr>
            <a:r>
              <a:rPr lang="en-US" dirty="0"/>
              <a:t>Standards and methods of working</a:t>
            </a:r>
          </a:p>
          <a:p>
            <a:pPr>
              <a:defRPr/>
            </a:pPr>
            <a:r>
              <a:rPr lang="en-US" dirty="0"/>
              <a:t>Progress meetings</a:t>
            </a:r>
          </a:p>
          <a:p>
            <a:pPr>
              <a:defRPr/>
            </a:pPr>
            <a:r>
              <a:rPr lang="en-US" dirty="0"/>
              <a:t>Project Managers</a:t>
            </a:r>
          </a:p>
          <a:p>
            <a:pPr>
              <a:defRPr/>
            </a:pPr>
            <a:r>
              <a:rPr lang="en-US" dirty="0"/>
              <a:t>Acceptance procedure</a:t>
            </a:r>
          </a:p>
          <a:p>
            <a:pPr>
              <a:defRPr/>
            </a:pPr>
            <a:r>
              <a:rPr lang="en-US" dirty="0"/>
              <a:t>Warranty and maintenance</a:t>
            </a:r>
          </a:p>
          <a:p>
            <a:pPr>
              <a:defRPr/>
            </a:pPr>
            <a:r>
              <a:rPr lang="en-US" dirty="0"/>
              <a:t>Termination of the contract</a:t>
            </a:r>
          </a:p>
        </p:txBody>
      </p:sp>
    </p:spTree>
    <p:extLst>
      <p:ext uri="{BB962C8B-B14F-4D97-AF65-F5344CB8AC3E}">
        <p14:creationId xmlns:p14="http://schemas.microsoft.com/office/powerpoint/2010/main" val="20670599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types of software services contract</a:t>
            </a:r>
          </a:p>
        </p:txBody>
      </p:sp>
      <p:sp>
        <p:nvSpPr>
          <p:cNvPr id="3" name="Content Placeholder 2"/>
          <p:cNvSpPr>
            <a:spLocks noGrp="1"/>
          </p:cNvSpPr>
          <p:nvPr>
            <p:ph idx="1"/>
          </p:nvPr>
        </p:nvSpPr>
        <p:spPr/>
        <p:txBody>
          <a:bodyPr>
            <a:normAutofit/>
          </a:bodyPr>
          <a:lstStyle/>
          <a:p>
            <a:pPr>
              <a:defRPr/>
            </a:pPr>
            <a:r>
              <a:rPr lang="en-US" sz="3600" dirty="0"/>
              <a:t>There are four types of contractual arrangement which are widely used in connection with the provision of software </a:t>
            </a:r>
            <a:r>
              <a:rPr lang="en-US" sz="3600" dirty="0" smtClean="0"/>
              <a:t>services (other than the standard fixed price contract):</a:t>
            </a:r>
            <a:endParaRPr lang="en-US" sz="3600" dirty="0"/>
          </a:p>
          <a:p>
            <a:pPr marL="971550" lvl="1" indent="-514350">
              <a:buFont typeface="+mj-lt"/>
              <a:buAutoNum type="arabicPeriod"/>
              <a:defRPr/>
            </a:pPr>
            <a:r>
              <a:rPr lang="en-US" sz="3200" dirty="0" smtClean="0"/>
              <a:t>Contract Hire</a:t>
            </a:r>
            <a:endParaRPr lang="en-US" sz="3200" dirty="0"/>
          </a:p>
          <a:p>
            <a:pPr marL="971550" lvl="1" indent="-514350">
              <a:buFont typeface="+mj-lt"/>
              <a:buAutoNum type="arabicPeriod"/>
              <a:defRPr/>
            </a:pPr>
            <a:r>
              <a:rPr lang="en-US" sz="3200" dirty="0" smtClean="0"/>
              <a:t>Time </a:t>
            </a:r>
            <a:r>
              <a:rPr lang="en-US" sz="3200" dirty="0"/>
              <a:t>and </a:t>
            </a:r>
            <a:r>
              <a:rPr lang="en-US" sz="3200" dirty="0" smtClean="0"/>
              <a:t>Materials</a:t>
            </a:r>
            <a:endParaRPr lang="en-US" sz="3200" dirty="0"/>
          </a:p>
          <a:p>
            <a:pPr marL="971550" lvl="1" indent="-514350">
              <a:buFont typeface="+mj-lt"/>
              <a:buAutoNum type="arabicPeriod"/>
              <a:defRPr/>
            </a:pPr>
            <a:r>
              <a:rPr lang="en-US" sz="3200" dirty="0"/>
              <a:t>Consultancy</a:t>
            </a:r>
          </a:p>
          <a:p>
            <a:pPr marL="971550" lvl="1" indent="-514350">
              <a:buFont typeface="+mj-lt"/>
              <a:buAutoNum type="arabicPeriod"/>
              <a:defRPr/>
            </a:pPr>
            <a:r>
              <a:rPr lang="en-US" sz="3200" dirty="0"/>
              <a:t>Software as a services (</a:t>
            </a:r>
            <a:r>
              <a:rPr lang="en-US" sz="3200" dirty="0" smtClean="0"/>
              <a:t>SaaS)</a:t>
            </a:r>
            <a:endParaRPr lang="en-US" sz="3200" dirty="0"/>
          </a:p>
        </p:txBody>
      </p:sp>
    </p:spTree>
    <p:extLst>
      <p:ext uri="{BB962C8B-B14F-4D97-AF65-F5344CB8AC3E}">
        <p14:creationId xmlns:p14="http://schemas.microsoft.com/office/powerpoint/2010/main" val="2081092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i="1" dirty="0"/>
              <a:t>Contract Hire (daily wages)</a:t>
            </a:r>
            <a:endParaRPr lang="en-US" b="1" i="1" dirty="0"/>
          </a:p>
        </p:txBody>
      </p:sp>
      <p:sp>
        <p:nvSpPr>
          <p:cNvPr id="3" name="Content Placeholder 2"/>
          <p:cNvSpPr>
            <a:spLocks noGrp="1"/>
          </p:cNvSpPr>
          <p:nvPr>
            <p:ph idx="1"/>
          </p:nvPr>
        </p:nvSpPr>
        <p:spPr>
          <a:xfrm>
            <a:off x="707571" y="1439635"/>
            <a:ext cx="10515600" cy="5121275"/>
          </a:xfrm>
        </p:spPr>
        <p:txBody>
          <a:bodyPr>
            <a:normAutofit fontScale="92500" lnSpcReduction="20000"/>
          </a:bodyPr>
          <a:lstStyle/>
          <a:p>
            <a:pPr>
              <a:defRPr/>
            </a:pPr>
            <a:r>
              <a:rPr lang="en-US" sz="3600" dirty="0"/>
              <a:t>The supplier agrees to provide the services of one or more staff to work for the client</a:t>
            </a:r>
          </a:p>
          <a:p>
            <a:pPr>
              <a:defRPr/>
            </a:pPr>
            <a:r>
              <a:rPr lang="en-US" sz="3600" dirty="0"/>
              <a:t>The staff work under the direction of the client</a:t>
            </a:r>
          </a:p>
          <a:p>
            <a:pPr>
              <a:defRPr/>
            </a:pPr>
            <a:r>
              <a:rPr lang="en-US" sz="3600" dirty="0"/>
              <a:t>Supplier’s responsibility is limited to provide suitable competent people and replacing them if they become unavailable or said unsuitable by the client</a:t>
            </a:r>
          </a:p>
          <a:p>
            <a:pPr>
              <a:defRPr/>
            </a:pPr>
            <a:r>
              <a:rPr lang="en-US" sz="3600" dirty="0"/>
              <a:t>Payment is on the basis of a fixed rate for each man day worked</a:t>
            </a:r>
          </a:p>
          <a:p>
            <a:pPr>
              <a:defRPr/>
            </a:pPr>
            <a:r>
              <a:rPr lang="en-US" sz="3600" dirty="0"/>
              <a:t>Issues such as delay payments, acceptance tests and many others simply do not arise</a:t>
            </a:r>
          </a:p>
          <a:p>
            <a:pPr>
              <a:defRPr/>
            </a:pPr>
            <a:r>
              <a:rPr lang="en-US" sz="3600" dirty="0"/>
              <a:t>Suitable for small projects</a:t>
            </a:r>
          </a:p>
        </p:txBody>
      </p:sp>
    </p:spTree>
    <p:extLst>
      <p:ext uri="{BB962C8B-B14F-4D97-AF65-F5344CB8AC3E}">
        <p14:creationId xmlns:p14="http://schemas.microsoft.com/office/powerpoint/2010/main" val="306410058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altLang="en-US" b="1" i="1" dirty="0"/>
              <a:t>Time and Materials</a:t>
            </a:r>
            <a:endParaRPr lang="en-US" b="1" i="1" dirty="0"/>
          </a:p>
        </p:txBody>
      </p:sp>
      <p:sp>
        <p:nvSpPr>
          <p:cNvPr id="3" name="Content Placeholder 2"/>
          <p:cNvSpPr>
            <a:spLocks noGrp="1"/>
          </p:cNvSpPr>
          <p:nvPr>
            <p:ph idx="1"/>
          </p:nvPr>
        </p:nvSpPr>
        <p:spPr>
          <a:xfrm>
            <a:off x="838200" y="1325564"/>
            <a:ext cx="10515600" cy="5167312"/>
          </a:xfrm>
        </p:spPr>
        <p:txBody>
          <a:bodyPr>
            <a:normAutofit lnSpcReduction="10000"/>
          </a:bodyPr>
          <a:lstStyle/>
          <a:p>
            <a:pPr>
              <a:defRPr/>
            </a:pPr>
            <a:r>
              <a:rPr lang="en-US" sz="3600" dirty="0"/>
              <a:t>It is somewhere between a contract hire agreement and a fixed price contract. </a:t>
            </a:r>
          </a:p>
          <a:p>
            <a:pPr>
              <a:defRPr/>
            </a:pPr>
            <a:r>
              <a:rPr lang="en-US" sz="3600" dirty="0"/>
              <a:t>The supplier agrees to undertake the development of the software in much the same way as in a fixed price contract but payment is made on the basis of the costs incurred, with labor charged in the same way as for contract hire</a:t>
            </a:r>
          </a:p>
          <a:p>
            <a:pPr>
              <a:defRPr/>
            </a:pPr>
            <a:r>
              <a:rPr lang="en-US" sz="3600" dirty="0"/>
              <a:t>The supplier is not committed to completing the work for a fixed price, although a maximum payment may be fixed beyond which the project may be reviewed</a:t>
            </a:r>
          </a:p>
        </p:txBody>
      </p:sp>
    </p:spTree>
    <p:extLst>
      <p:ext uri="{BB962C8B-B14F-4D97-AF65-F5344CB8AC3E}">
        <p14:creationId xmlns:p14="http://schemas.microsoft.com/office/powerpoint/2010/main" val="329747617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i="1" dirty="0"/>
              <a:t>Consultancy Contracts</a:t>
            </a:r>
            <a:endParaRPr lang="en-US" b="1" i="1" dirty="0"/>
          </a:p>
        </p:txBody>
      </p:sp>
      <p:sp>
        <p:nvSpPr>
          <p:cNvPr id="3" name="Content Placeholder 2"/>
          <p:cNvSpPr>
            <a:spLocks noGrp="1"/>
          </p:cNvSpPr>
          <p:nvPr>
            <p:ph idx="1"/>
          </p:nvPr>
        </p:nvSpPr>
        <p:spPr>
          <a:xfrm>
            <a:off x="838200" y="1690688"/>
            <a:ext cx="10515600" cy="4802187"/>
          </a:xfrm>
        </p:spPr>
        <p:txBody>
          <a:bodyPr>
            <a:normAutofit/>
          </a:bodyPr>
          <a:lstStyle/>
          <a:p>
            <a:pPr algn="just">
              <a:defRPr/>
            </a:pPr>
            <a:r>
              <a:rPr lang="en-US" sz="3600" dirty="0"/>
              <a:t>Consultants are typically used to assess some aspect of an organization and to make proposals for improvements.</a:t>
            </a:r>
          </a:p>
          <a:p>
            <a:pPr algn="just">
              <a:defRPr/>
            </a:pPr>
            <a:r>
              <a:rPr lang="en-US" sz="3600" dirty="0"/>
              <a:t>The end product of a consultancy project is therefore</a:t>
            </a:r>
            <a:br>
              <a:rPr lang="en-US" sz="3600" dirty="0"/>
            </a:br>
            <a:r>
              <a:rPr lang="en-US" sz="3600" dirty="0"/>
              <a:t>usually a report or other document.</a:t>
            </a:r>
          </a:p>
          <a:p>
            <a:pPr algn="just">
              <a:defRPr/>
            </a:pPr>
            <a:r>
              <a:rPr lang="en-US" sz="3600" dirty="0"/>
              <a:t>Consultancy projects are usually undertaken for a</a:t>
            </a:r>
            <a:br>
              <a:rPr lang="en-US" sz="3600" dirty="0"/>
            </a:br>
            <a:r>
              <a:rPr lang="en-US" sz="3600" dirty="0"/>
              <a:t>fixed price but the form of contract is very much simpler</a:t>
            </a:r>
          </a:p>
        </p:txBody>
      </p:sp>
    </p:spTree>
    <p:extLst>
      <p:ext uri="{BB962C8B-B14F-4D97-AF65-F5344CB8AC3E}">
        <p14:creationId xmlns:p14="http://schemas.microsoft.com/office/powerpoint/2010/main" val="3573443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Contracts Case Study-2</a:t>
            </a:r>
          </a:p>
        </p:txBody>
      </p:sp>
      <p:sp>
        <p:nvSpPr>
          <p:cNvPr id="3" name="Content Placeholder 2"/>
          <p:cNvSpPr>
            <a:spLocks noGrp="1"/>
          </p:cNvSpPr>
          <p:nvPr>
            <p:ph idx="1"/>
          </p:nvPr>
        </p:nvSpPr>
        <p:spPr/>
        <p:txBody>
          <a:bodyPr/>
          <a:lstStyle/>
          <a:p>
            <a:r>
              <a:rPr lang="en-US" dirty="0"/>
              <a:t>How to draft clauses of contract for the Software as a Service (</a:t>
            </a:r>
            <a:r>
              <a:rPr lang="en-US" dirty="0" err="1"/>
              <a:t>SaaS</a:t>
            </a:r>
            <a:r>
              <a:rPr lang="en-US" dirty="0"/>
              <a:t>)?</a:t>
            </a:r>
          </a:p>
        </p:txBody>
      </p:sp>
    </p:spTree>
    <p:extLst>
      <p:ext uri="{BB962C8B-B14F-4D97-AF65-F5344CB8AC3E}">
        <p14:creationId xmlns:p14="http://schemas.microsoft.com/office/powerpoint/2010/main" val="389819261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Readings </a:t>
            </a:r>
          </a:p>
        </p:txBody>
      </p:sp>
      <p:sp>
        <p:nvSpPr>
          <p:cNvPr id="3" name="Content Placeholder 2"/>
          <p:cNvSpPr>
            <a:spLocks noGrp="1"/>
          </p:cNvSpPr>
          <p:nvPr>
            <p:ph idx="1"/>
          </p:nvPr>
        </p:nvSpPr>
        <p:spPr/>
        <p:txBody>
          <a:bodyPr/>
          <a:lstStyle/>
          <a:p>
            <a:r>
              <a:rPr lang="en-US" dirty="0"/>
              <a:t>Chapter 5 from Book 1: Professional Issues in Software Engineering, M.F. </a:t>
            </a:r>
            <a:r>
              <a:rPr lang="en-US" dirty="0" err="1"/>
              <a:t>Bott</a:t>
            </a:r>
            <a:r>
              <a:rPr lang="en-US" dirty="0"/>
              <a:t> et al. (3rd Edition).</a:t>
            </a:r>
          </a:p>
        </p:txBody>
      </p:sp>
    </p:spTree>
    <p:extLst>
      <p:ext uri="{BB962C8B-B14F-4D97-AF65-F5344CB8AC3E}">
        <p14:creationId xmlns:p14="http://schemas.microsoft.com/office/powerpoint/2010/main" val="173551495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720</TotalTime>
  <Words>3994</Words>
  <Application>Microsoft Office PowerPoint</Application>
  <PresentationFormat>Widescreen</PresentationFormat>
  <Paragraphs>336</Paragraphs>
  <Slides>45</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-apple-system</vt:lpstr>
      <vt:lpstr>Arial</vt:lpstr>
      <vt:lpstr>Calibri</vt:lpstr>
      <vt:lpstr>Calibri Light</vt:lpstr>
      <vt:lpstr>quran</vt:lpstr>
      <vt:lpstr>Tahoma</vt:lpstr>
      <vt:lpstr>Wingdings</vt:lpstr>
      <vt:lpstr>Office Theme</vt:lpstr>
      <vt:lpstr>Software Contracts</vt:lpstr>
      <vt:lpstr>Introduction</vt:lpstr>
      <vt:lpstr>Introduction</vt:lpstr>
      <vt:lpstr>Introduction</vt:lpstr>
      <vt:lpstr>What does the Quran say about Contracts?</vt:lpstr>
      <vt:lpstr>Contract in Quran [Translation]</vt:lpstr>
      <vt:lpstr>Software Contracts</vt:lpstr>
      <vt:lpstr>Do we need a formal Contract?</vt:lpstr>
      <vt:lpstr>Structure of a Software Contract</vt:lpstr>
      <vt:lpstr>Clauses of a Software Contract</vt:lpstr>
      <vt:lpstr>Clauses of a Software Contract</vt:lpstr>
      <vt:lpstr>Major Clauses: Definitions</vt:lpstr>
      <vt:lpstr>Major Clauses: What is to be Produced?</vt:lpstr>
      <vt:lpstr>Major Clauses: What is to be Delivered?</vt:lpstr>
      <vt:lpstr>Major Clauses: Rights Ownership</vt:lpstr>
      <vt:lpstr>Major Clauses: Confidentiality</vt:lpstr>
      <vt:lpstr>Major Clauses: Payment Terms</vt:lpstr>
      <vt:lpstr>Major Clauses: Payments for Delays and Changes</vt:lpstr>
      <vt:lpstr>Major Clauses: Penalty Clauses</vt:lpstr>
      <vt:lpstr>Major Clauses: Client Obligations</vt:lpstr>
      <vt:lpstr>Major Clauses: Acceptance Procedure</vt:lpstr>
      <vt:lpstr>Major Clauses: Warranty and Maintenance</vt:lpstr>
      <vt:lpstr>Major Clauses: Inflation</vt:lpstr>
      <vt:lpstr>Major Clauses: Indemnity (Compensation)</vt:lpstr>
      <vt:lpstr>Major Clauses: Termination of Contract</vt:lpstr>
      <vt:lpstr>Major Clauses: Arbitration</vt:lpstr>
      <vt:lpstr>Major Clauses: Outsourcing</vt:lpstr>
      <vt:lpstr>Major Clauses: Outsourcing</vt:lpstr>
      <vt:lpstr>Major Clauses: License Agreements</vt:lpstr>
      <vt:lpstr>Important Concerns in License Agreements</vt:lpstr>
      <vt:lpstr>Software Licenses Types</vt:lpstr>
      <vt:lpstr>Major Clauses: Standards and Methods of Working</vt:lpstr>
      <vt:lpstr>Major Clauses: Liability of Defective Software</vt:lpstr>
      <vt:lpstr>Major Clauses: Health and Safety</vt:lpstr>
      <vt:lpstr>Case Study-1</vt:lpstr>
      <vt:lpstr>Introductory Section</vt:lpstr>
      <vt:lpstr>Other Sections</vt:lpstr>
      <vt:lpstr>Issues dealt with Standard Terms &amp; Conditions</vt:lpstr>
      <vt:lpstr>Issues dealt with Standard Terms &amp; Conditions</vt:lpstr>
      <vt:lpstr>Other types of software services contract</vt:lpstr>
      <vt:lpstr>Contract Hire (daily wages)</vt:lpstr>
      <vt:lpstr>Time and Materials</vt:lpstr>
      <vt:lpstr>Consultancy Contracts</vt:lpstr>
      <vt:lpstr>Software Contracts Case Study-2</vt:lpstr>
      <vt:lpstr>Further Readings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Contracts</dc:title>
  <dc:creator>Windows User</dc:creator>
  <cp:lastModifiedBy>Admin</cp:lastModifiedBy>
  <cp:revision>101</cp:revision>
  <dcterms:created xsi:type="dcterms:W3CDTF">2020-10-13T10:40:18Z</dcterms:created>
  <dcterms:modified xsi:type="dcterms:W3CDTF">2023-01-13T14:37:58Z</dcterms:modified>
</cp:coreProperties>
</file>
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3"/>
  </p:notesMasterIdLst>
  <p:sldIdLst>
    <p:sldId id="256" r:id="rId2"/>
    <p:sldId id="257" r:id="rId3"/>
    <p:sldId id="259" r:id="rId4"/>
    <p:sldId id="264" r:id="rId5"/>
    <p:sldId id="260" r:id="rId6"/>
    <p:sldId id="265" r:id="rId7"/>
    <p:sldId id="266" r:id="rId8"/>
    <p:sldId id="261" r:id="rId9"/>
    <p:sldId id="267" r:id="rId10"/>
    <p:sldId id="263" r:id="rId11"/>
    <p:sldId id="268" r:id="rId12"/>
  </p:sldIdLst>
  <p:sldSz cx="9144000" cy="6858000" type="screen4x3"/>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794" autoAdjust="0"/>
    <p:restoredTop sz="94291" autoAdjust="0"/>
  </p:normalViewPr>
  <p:slideViewPr>
    <p:cSldViewPr>
      <p:cViewPr varScale="1">
        <p:scale>
          <a:sx n="72" d="100"/>
          <a:sy n="72" d="100"/>
        </p:scale>
        <p:origin x="1440"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606DF2-3D8D-4101-86E6-4CBA3318F826}" type="datetimeFigureOut">
              <a:rPr lang="en-US" smtClean="0"/>
              <a:t>10/21/2022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642AE8-B1FC-479D-9037-413AE140E4E0}" type="slidenum">
              <a:rPr lang="en-US" smtClean="0"/>
              <a:t>‹#›</a:t>
            </a:fld>
            <a:endParaRPr lang="en-US"/>
          </a:p>
        </p:txBody>
      </p:sp>
    </p:spTree>
    <p:extLst>
      <p:ext uri="{BB962C8B-B14F-4D97-AF65-F5344CB8AC3E}">
        <p14:creationId xmlns:p14="http://schemas.microsoft.com/office/powerpoint/2010/main" val="3048964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finance and accounting?</a:t>
            </a: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difference between finance</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accounting</a:t>
            </a:r>
            <a:r>
              <a:rPr lang="en-US" sz="1200" b="0" i="0" kern="1200" dirty="0">
                <a:solidFill>
                  <a:schemeClr val="tx1"/>
                </a:solidFill>
                <a:effectLst/>
                <a:latin typeface="+mn-lt"/>
                <a:ea typeface="+mn-ea"/>
                <a:cs typeface="+mn-cs"/>
              </a:rPr>
              <a:t> is that </a:t>
            </a:r>
            <a:r>
              <a:rPr lang="en-US" sz="1200" b="1" i="0" kern="1200" dirty="0">
                <a:solidFill>
                  <a:schemeClr val="tx1"/>
                </a:solidFill>
                <a:effectLst/>
                <a:latin typeface="+mn-lt"/>
                <a:ea typeface="+mn-ea"/>
                <a:cs typeface="+mn-cs"/>
              </a:rPr>
              <a:t>accounting</a:t>
            </a:r>
            <a:r>
              <a:rPr lang="en-US" sz="1200" b="0" i="0" kern="1200" dirty="0">
                <a:solidFill>
                  <a:schemeClr val="tx1"/>
                </a:solidFill>
                <a:effectLst/>
                <a:latin typeface="+mn-lt"/>
                <a:ea typeface="+mn-ea"/>
                <a:cs typeface="+mn-cs"/>
              </a:rPr>
              <a:t> focuses on the day-to-day flow of money in and out of a company or institution, whereas </a:t>
            </a:r>
            <a:r>
              <a:rPr lang="en-US" sz="1200" b="1" i="0" kern="1200" dirty="0">
                <a:solidFill>
                  <a:schemeClr val="tx1"/>
                </a:solidFill>
                <a:effectLst/>
                <a:latin typeface="+mn-lt"/>
                <a:ea typeface="+mn-ea"/>
                <a:cs typeface="+mn-cs"/>
              </a:rPr>
              <a:t>finance</a:t>
            </a:r>
            <a:r>
              <a:rPr lang="en-US" sz="1200" b="0" i="0" kern="1200" dirty="0">
                <a:solidFill>
                  <a:schemeClr val="tx1"/>
                </a:solidFill>
                <a:effectLst/>
                <a:latin typeface="+mn-lt"/>
                <a:ea typeface="+mn-ea"/>
                <a:cs typeface="+mn-cs"/>
              </a:rPr>
              <a:t> is a broader term for the management of assets and liabilities and the planning of future growth</a:t>
            </a:r>
            <a:endParaRPr lang="en-US" dirty="0"/>
          </a:p>
        </p:txBody>
      </p:sp>
      <p:sp>
        <p:nvSpPr>
          <p:cNvPr id="4" name="Slide Number Placeholder 3"/>
          <p:cNvSpPr>
            <a:spLocks noGrp="1"/>
          </p:cNvSpPr>
          <p:nvPr>
            <p:ph type="sldNum" sz="quarter" idx="10"/>
          </p:nvPr>
        </p:nvSpPr>
        <p:spPr/>
        <p:txBody>
          <a:bodyPr/>
          <a:lstStyle/>
          <a:p>
            <a:fld id="{D5642AE8-B1FC-479D-9037-413AE140E4E0}" type="slidenum">
              <a:rPr lang="en-US" smtClean="0"/>
              <a:t>2</a:t>
            </a:fld>
            <a:endParaRPr lang="en-US"/>
          </a:p>
        </p:txBody>
      </p:sp>
    </p:spTree>
    <p:extLst>
      <p:ext uri="{BB962C8B-B14F-4D97-AF65-F5344CB8AC3E}">
        <p14:creationId xmlns:p14="http://schemas.microsoft.com/office/powerpoint/2010/main" val="2321905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Invoices are</a:t>
            </a:r>
            <a:r>
              <a:rPr lang="en-US" baseline="0" dirty="0"/>
              <a:t> issued at the end of the month. </a:t>
            </a:r>
            <a:r>
              <a:rPr lang="en-US" sz="1200" b="1" i="0" kern="1200" dirty="0">
                <a:solidFill>
                  <a:schemeClr val="tx1"/>
                </a:solidFill>
                <a:effectLst/>
                <a:latin typeface="+mn-lt"/>
                <a:ea typeface="+mn-ea"/>
                <a:cs typeface="+mn-cs"/>
              </a:rPr>
              <a:t>Invoices</a:t>
            </a:r>
            <a:r>
              <a:rPr lang="en-US" sz="1200" b="0" i="0" kern="1200" dirty="0">
                <a:solidFill>
                  <a:schemeClr val="tx1"/>
                </a:solidFill>
                <a:effectLst/>
                <a:latin typeface="+mn-lt"/>
                <a:ea typeface="+mn-ea"/>
                <a:cs typeface="+mn-cs"/>
              </a:rPr>
              <a:t> are </a:t>
            </a:r>
            <a:r>
              <a:rPr lang="en-US" sz="1200" b="1" i="0" kern="1200" dirty="0">
                <a:solidFill>
                  <a:schemeClr val="tx1"/>
                </a:solidFill>
                <a:effectLst/>
                <a:latin typeface="+mn-lt"/>
                <a:ea typeface="+mn-ea"/>
                <a:cs typeface="+mn-cs"/>
              </a:rPr>
              <a:t>used as</a:t>
            </a:r>
            <a:r>
              <a:rPr lang="en-US" sz="1200" b="0" i="0" kern="1200" dirty="0">
                <a:solidFill>
                  <a:schemeClr val="tx1"/>
                </a:solidFill>
                <a:effectLst/>
                <a:latin typeface="+mn-lt"/>
                <a:ea typeface="+mn-ea"/>
                <a:cs typeface="+mn-cs"/>
              </a:rPr>
              <a:t> a source document for business accounting.</a:t>
            </a:r>
            <a:r>
              <a:rPr lang="en-US" sz="1200" b="1" i="0" kern="1200" dirty="0">
                <a:solidFill>
                  <a:schemeClr val="tx1"/>
                </a:solidFill>
                <a:effectLst/>
                <a:latin typeface="+mn-lt"/>
                <a:ea typeface="+mn-ea"/>
                <a:cs typeface="+mn-cs"/>
              </a:rPr>
              <a:t> Invoices</a:t>
            </a:r>
            <a:r>
              <a:rPr lang="en-US" sz="1200" b="0" i="0" kern="1200" dirty="0">
                <a:solidFill>
                  <a:schemeClr val="tx1"/>
                </a:solidFill>
                <a:effectLst/>
                <a:latin typeface="+mn-lt"/>
                <a:ea typeface="+mn-ea"/>
                <a:cs typeface="+mn-cs"/>
              </a:rPr>
              <a:t> are </a:t>
            </a:r>
            <a:r>
              <a:rPr lang="en-US" sz="1200" b="1" i="0" kern="1200" dirty="0">
                <a:solidFill>
                  <a:schemeClr val="tx1"/>
                </a:solidFill>
                <a:effectLst/>
                <a:latin typeface="+mn-lt"/>
                <a:ea typeface="+mn-ea"/>
                <a:cs typeface="+mn-cs"/>
              </a:rPr>
              <a:t>used by</a:t>
            </a:r>
            <a:r>
              <a:rPr lang="en-US" sz="1200" b="0" i="0" kern="1200" dirty="0">
                <a:solidFill>
                  <a:schemeClr val="tx1"/>
                </a:solidFill>
                <a:effectLst/>
                <a:latin typeface="+mn-lt"/>
                <a:ea typeface="+mn-ea"/>
                <a:cs typeface="+mn-cs"/>
              </a:rPr>
              <a:t> businesses for a variety of purposes, including: To request timely payment from clients.</a:t>
            </a:r>
            <a:endParaRPr lang="en-US" dirty="0"/>
          </a:p>
        </p:txBody>
      </p:sp>
      <p:sp>
        <p:nvSpPr>
          <p:cNvPr id="4" name="Slide Number Placeholder 3"/>
          <p:cNvSpPr>
            <a:spLocks noGrp="1"/>
          </p:cNvSpPr>
          <p:nvPr>
            <p:ph type="sldNum" sz="quarter" idx="10"/>
          </p:nvPr>
        </p:nvSpPr>
        <p:spPr/>
        <p:txBody>
          <a:bodyPr/>
          <a:lstStyle/>
          <a:p>
            <a:fld id="{D5642AE8-B1FC-479D-9037-413AE140E4E0}" type="slidenum">
              <a:rPr lang="en-US" smtClean="0"/>
              <a:t>3</a:t>
            </a:fld>
            <a:endParaRPr lang="en-US"/>
          </a:p>
        </p:txBody>
      </p:sp>
    </p:spTree>
    <p:extLst>
      <p:ext uri="{BB962C8B-B14F-4D97-AF65-F5344CB8AC3E}">
        <p14:creationId xmlns:p14="http://schemas.microsoft.com/office/powerpoint/2010/main" val="12003220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will require some time to come.</a:t>
            </a:r>
          </a:p>
          <a:p>
            <a:r>
              <a:rPr lang="en-US" sz="1200" b="0" i="0" kern="1200" dirty="0">
                <a:solidFill>
                  <a:schemeClr val="tx1"/>
                </a:solidFill>
                <a:effectLst/>
                <a:latin typeface="+mn-lt"/>
                <a:ea typeface="+mn-ea"/>
                <a:cs typeface="+mn-cs"/>
              </a:rPr>
              <a:t>An income statement account for expense items that are too insignificant to have their own separate general ledger accounts.  bank fees, credit card fees, damages, small purchases or petty cash expenses</a:t>
            </a:r>
            <a:endParaRPr lang="en-US" dirty="0"/>
          </a:p>
        </p:txBody>
      </p:sp>
      <p:sp>
        <p:nvSpPr>
          <p:cNvPr id="4" name="Slide Number Placeholder 3"/>
          <p:cNvSpPr>
            <a:spLocks noGrp="1"/>
          </p:cNvSpPr>
          <p:nvPr>
            <p:ph type="sldNum" sz="quarter" idx="10"/>
          </p:nvPr>
        </p:nvSpPr>
        <p:spPr/>
        <p:txBody>
          <a:bodyPr/>
          <a:lstStyle/>
          <a:p>
            <a:fld id="{D5642AE8-B1FC-479D-9037-413AE140E4E0}" type="slidenum">
              <a:rPr lang="en-US" smtClean="0"/>
              <a:t>5</a:t>
            </a:fld>
            <a:endParaRPr lang="en-US"/>
          </a:p>
        </p:txBody>
      </p:sp>
    </p:spTree>
    <p:extLst>
      <p:ext uri="{BB962C8B-B14F-4D97-AF65-F5344CB8AC3E}">
        <p14:creationId xmlns:p14="http://schemas.microsoft.com/office/powerpoint/2010/main" val="9827727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raise money? Recent examples ::: </a:t>
            </a:r>
            <a:r>
              <a:rPr lang="en-US" dirty="0" err="1"/>
              <a:t>hunar</a:t>
            </a:r>
            <a:r>
              <a:rPr lang="en-US" dirty="0"/>
              <a:t> </a:t>
            </a:r>
            <a:r>
              <a:rPr lang="en-US" dirty="0" err="1"/>
              <a:t>mand</a:t>
            </a:r>
            <a:r>
              <a:rPr lang="en-US" dirty="0"/>
              <a:t> </a:t>
            </a:r>
            <a:r>
              <a:rPr lang="en-US" dirty="0" err="1"/>
              <a:t>noawan</a:t>
            </a:r>
            <a:r>
              <a:rPr lang="en-US" dirty="0"/>
              <a:t> … idea </a:t>
            </a:r>
            <a:r>
              <a:rPr lang="en-US" dirty="0" err="1"/>
              <a:t>koroon</a:t>
            </a:r>
            <a:r>
              <a:rPr lang="en-US" baseline="0" dirty="0"/>
              <a:t> </a:t>
            </a:r>
            <a:r>
              <a:rPr lang="en-US" baseline="0" dirty="0" err="1"/>
              <a:t>ka</a:t>
            </a:r>
            <a:r>
              <a:rPr lang="en-US" baseline="0" dirty="0"/>
              <a:t> ..</a:t>
            </a:r>
            <a:endParaRPr lang="en-US" dirty="0"/>
          </a:p>
        </p:txBody>
      </p:sp>
      <p:sp>
        <p:nvSpPr>
          <p:cNvPr id="4" name="Slide Number Placeholder 3"/>
          <p:cNvSpPr>
            <a:spLocks noGrp="1"/>
          </p:cNvSpPr>
          <p:nvPr>
            <p:ph type="sldNum" sz="quarter" idx="10"/>
          </p:nvPr>
        </p:nvSpPr>
        <p:spPr/>
        <p:txBody>
          <a:bodyPr/>
          <a:lstStyle/>
          <a:p>
            <a:fld id="{D5642AE8-B1FC-479D-9037-413AE140E4E0}" type="slidenum">
              <a:rPr lang="en-US" smtClean="0"/>
              <a:t>8</a:t>
            </a:fld>
            <a:endParaRPr lang="en-US"/>
          </a:p>
        </p:txBody>
      </p:sp>
    </p:spTree>
    <p:extLst>
      <p:ext uri="{BB962C8B-B14F-4D97-AF65-F5344CB8AC3E}">
        <p14:creationId xmlns:p14="http://schemas.microsoft.com/office/powerpoint/2010/main" val="28071805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Political</a:t>
            </a:r>
            <a:r>
              <a:rPr lang="en-US" baseline="0" dirty="0"/>
              <a:t> :;grant for road</a:t>
            </a:r>
            <a:endParaRPr lang="en-US" dirty="0"/>
          </a:p>
        </p:txBody>
      </p:sp>
      <p:sp>
        <p:nvSpPr>
          <p:cNvPr id="4" name="Slide Number Placeholder 3"/>
          <p:cNvSpPr>
            <a:spLocks noGrp="1"/>
          </p:cNvSpPr>
          <p:nvPr>
            <p:ph type="sldNum" sz="quarter" idx="10"/>
          </p:nvPr>
        </p:nvSpPr>
        <p:spPr/>
        <p:txBody>
          <a:bodyPr/>
          <a:lstStyle/>
          <a:p>
            <a:fld id="{D5642AE8-B1FC-479D-9037-413AE140E4E0}" type="slidenum">
              <a:rPr lang="en-US" smtClean="0"/>
              <a:t>10</a:t>
            </a:fld>
            <a:endParaRPr lang="en-US"/>
          </a:p>
        </p:txBody>
      </p:sp>
    </p:spTree>
    <p:extLst>
      <p:ext uri="{BB962C8B-B14F-4D97-AF65-F5344CB8AC3E}">
        <p14:creationId xmlns:p14="http://schemas.microsoft.com/office/powerpoint/2010/main" val="3679448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C1EBC-C20A-4990-B869-188475F759C4}"/>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PK"/>
          </a:p>
        </p:txBody>
      </p:sp>
      <p:sp>
        <p:nvSpPr>
          <p:cNvPr id="3" name="Subtitle 2">
            <a:extLst>
              <a:ext uri="{FF2B5EF4-FFF2-40B4-BE49-F238E27FC236}">
                <a16:creationId xmlns:a16="http://schemas.microsoft.com/office/drawing/2014/main" id="{DCE1D724-7178-4191-97EF-04A3337CC84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130CA90C-4FF5-48F5-86A1-1A9425DA1217}"/>
              </a:ext>
            </a:extLst>
          </p:cNvPr>
          <p:cNvSpPr>
            <a:spLocks noGrp="1"/>
          </p:cNvSpPr>
          <p:nvPr>
            <p:ph type="dt" sz="half" idx="10"/>
          </p:nvPr>
        </p:nvSpPr>
        <p:spPr/>
        <p:txBody>
          <a:bodyPr/>
          <a:lstStyle/>
          <a:p>
            <a:fld id="{1D8BD707-D9CF-40AE-B4C6-C98DA3205C09}" type="datetimeFigureOut">
              <a:rPr lang="en-US" smtClean="0"/>
              <a:pPr/>
              <a:t>10/21/2022</a:t>
            </a:fld>
            <a:endParaRPr lang="en-US"/>
          </a:p>
        </p:txBody>
      </p:sp>
      <p:sp>
        <p:nvSpPr>
          <p:cNvPr id="5" name="Footer Placeholder 4">
            <a:extLst>
              <a:ext uri="{FF2B5EF4-FFF2-40B4-BE49-F238E27FC236}">
                <a16:creationId xmlns:a16="http://schemas.microsoft.com/office/drawing/2014/main" id="{A001C0C1-0401-4D47-9944-64A0CD15B9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A0FF04-3070-4DCF-8F49-ABDB64AC7026}"/>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34485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2ECAE-9044-438E-8DCD-9DF48A72F874}"/>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41939AED-4204-4E15-9755-26ABD8EBA2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E74EB9B-9DB4-4057-9833-05854197653D}"/>
              </a:ext>
            </a:extLst>
          </p:cNvPr>
          <p:cNvSpPr>
            <a:spLocks noGrp="1"/>
          </p:cNvSpPr>
          <p:nvPr>
            <p:ph type="dt" sz="half" idx="10"/>
          </p:nvPr>
        </p:nvSpPr>
        <p:spPr/>
        <p:txBody>
          <a:bodyPr/>
          <a:lstStyle/>
          <a:p>
            <a:fld id="{1D8BD707-D9CF-40AE-B4C6-C98DA3205C09}" type="datetimeFigureOut">
              <a:rPr lang="en-US" smtClean="0"/>
              <a:pPr/>
              <a:t>10/21/2022</a:t>
            </a:fld>
            <a:endParaRPr lang="en-US"/>
          </a:p>
        </p:txBody>
      </p:sp>
      <p:sp>
        <p:nvSpPr>
          <p:cNvPr id="5" name="Footer Placeholder 4">
            <a:extLst>
              <a:ext uri="{FF2B5EF4-FFF2-40B4-BE49-F238E27FC236}">
                <a16:creationId xmlns:a16="http://schemas.microsoft.com/office/drawing/2014/main" id="{7FE2836E-32F8-40DB-B9F4-9A24B39BC5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B6FEB7-C2FF-405F-BA47-F1FD654D74C6}"/>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48047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0C8BD-C960-4239-B21E-213EEDE6AB64}"/>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B80CBF09-F781-45B4-8E9D-7ED06298DE33}"/>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A9C16B-67EC-48A8-994E-3CC17967E9A2}"/>
              </a:ext>
            </a:extLst>
          </p:cNvPr>
          <p:cNvSpPr>
            <a:spLocks noGrp="1"/>
          </p:cNvSpPr>
          <p:nvPr>
            <p:ph type="dt" sz="half" idx="10"/>
          </p:nvPr>
        </p:nvSpPr>
        <p:spPr/>
        <p:txBody>
          <a:bodyPr/>
          <a:lstStyle/>
          <a:p>
            <a:fld id="{1D8BD707-D9CF-40AE-B4C6-C98DA3205C09}" type="datetimeFigureOut">
              <a:rPr lang="en-US" smtClean="0"/>
              <a:pPr/>
              <a:t>10/21/2022</a:t>
            </a:fld>
            <a:endParaRPr lang="en-US"/>
          </a:p>
        </p:txBody>
      </p:sp>
      <p:sp>
        <p:nvSpPr>
          <p:cNvPr id="5" name="Footer Placeholder 4">
            <a:extLst>
              <a:ext uri="{FF2B5EF4-FFF2-40B4-BE49-F238E27FC236}">
                <a16:creationId xmlns:a16="http://schemas.microsoft.com/office/drawing/2014/main" id="{12F49365-30B2-46F7-89EC-C49DFB9625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8C46B5-B70E-4CCC-AC68-9C756D81D33D}"/>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67665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9271E-02D3-445A-918B-155519D810C9}"/>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B2BB456C-2E34-4E08-A571-7EA5D6095EDF}"/>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9C9ADE9B-C3AF-47D9-A94B-6A622FE885AC}"/>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37C6193B-D847-43E0-A88C-5D04DC971CFF}"/>
              </a:ext>
            </a:extLst>
          </p:cNvPr>
          <p:cNvSpPr>
            <a:spLocks noGrp="1"/>
          </p:cNvSpPr>
          <p:nvPr>
            <p:ph type="dt" sz="half" idx="10"/>
          </p:nvPr>
        </p:nvSpPr>
        <p:spPr/>
        <p:txBody>
          <a:bodyPr/>
          <a:lstStyle/>
          <a:p>
            <a:fld id="{1D8BD707-D9CF-40AE-B4C6-C98DA3205C09}" type="datetimeFigureOut">
              <a:rPr lang="en-US" smtClean="0"/>
              <a:pPr/>
              <a:t>10/21/2022</a:t>
            </a:fld>
            <a:endParaRPr lang="en-US"/>
          </a:p>
        </p:txBody>
      </p:sp>
      <p:sp>
        <p:nvSpPr>
          <p:cNvPr id="6" name="Footer Placeholder 5">
            <a:extLst>
              <a:ext uri="{FF2B5EF4-FFF2-40B4-BE49-F238E27FC236}">
                <a16:creationId xmlns:a16="http://schemas.microsoft.com/office/drawing/2014/main" id="{13C46B9B-347A-4CD6-B7B2-11AEE16DED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EB1FD0-7BFD-421D-A0F2-23DFBDE88CA3}"/>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41016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C692D-0351-494D-878A-EE6893FFCE39}"/>
              </a:ext>
            </a:extLst>
          </p:cNvPr>
          <p:cNvSpPr>
            <a:spLocks noGrp="1"/>
          </p:cNvSpPr>
          <p:nvPr>
            <p:ph type="title"/>
          </p:nvPr>
        </p:nvSpPr>
        <p:spPr>
          <a:xfrm>
            <a:off x="629841" y="365126"/>
            <a:ext cx="78867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B916ED2D-D65C-4D85-BC1C-D5B011CD361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83DB0F11-46C3-46A5-B10E-358ACF776E56}"/>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50E52065-327C-4FF5-9FEC-057A7D2865F0}"/>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5B3F419C-13C9-42AC-95D2-4685C9560BFC}"/>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53EC2717-6877-48B6-A14A-99DE7BD63F79}"/>
              </a:ext>
            </a:extLst>
          </p:cNvPr>
          <p:cNvSpPr>
            <a:spLocks noGrp="1"/>
          </p:cNvSpPr>
          <p:nvPr>
            <p:ph type="dt" sz="half" idx="10"/>
          </p:nvPr>
        </p:nvSpPr>
        <p:spPr/>
        <p:txBody>
          <a:bodyPr/>
          <a:lstStyle/>
          <a:p>
            <a:fld id="{1D8BD707-D9CF-40AE-B4C6-C98DA3205C09}" type="datetimeFigureOut">
              <a:rPr lang="en-US" smtClean="0"/>
              <a:pPr/>
              <a:t>10/21/2022</a:t>
            </a:fld>
            <a:endParaRPr lang="en-US"/>
          </a:p>
        </p:txBody>
      </p:sp>
      <p:sp>
        <p:nvSpPr>
          <p:cNvPr id="8" name="Footer Placeholder 7">
            <a:extLst>
              <a:ext uri="{FF2B5EF4-FFF2-40B4-BE49-F238E27FC236}">
                <a16:creationId xmlns:a16="http://schemas.microsoft.com/office/drawing/2014/main" id="{EB78D414-24FF-457D-9C30-16F71144DF7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C11314E-211E-4E46-B9A7-4873EB0B2544}"/>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06679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EE808-800B-4D22-A1F2-64930D77D0A8}"/>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DFF76AAE-7075-4037-9DC5-545FE85E5D39}"/>
              </a:ext>
            </a:extLst>
          </p:cNvPr>
          <p:cNvSpPr>
            <a:spLocks noGrp="1"/>
          </p:cNvSpPr>
          <p:nvPr>
            <p:ph type="dt" sz="half" idx="10"/>
          </p:nvPr>
        </p:nvSpPr>
        <p:spPr/>
        <p:txBody>
          <a:bodyPr/>
          <a:lstStyle/>
          <a:p>
            <a:fld id="{1D8BD707-D9CF-40AE-B4C6-C98DA3205C09}" type="datetimeFigureOut">
              <a:rPr lang="en-US" smtClean="0"/>
              <a:pPr/>
              <a:t>10/21/2022</a:t>
            </a:fld>
            <a:endParaRPr lang="en-US"/>
          </a:p>
        </p:txBody>
      </p:sp>
      <p:sp>
        <p:nvSpPr>
          <p:cNvPr id="4" name="Footer Placeholder 3">
            <a:extLst>
              <a:ext uri="{FF2B5EF4-FFF2-40B4-BE49-F238E27FC236}">
                <a16:creationId xmlns:a16="http://schemas.microsoft.com/office/drawing/2014/main" id="{A5D2E2C3-70D3-417B-829C-9E66F322423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E151865-40F9-4BCC-BDBB-2248A3E09E19}"/>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70986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720AF7-07C1-4EBC-80A1-961A497BD32A}"/>
              </a:ext>
            </a:extLst>
          </p:cNvPr>
          <p:cNvSpPr>
            <a:spLocks noGrp="1"/>
          </p:cNvSpPr>
          <p:nvPr>
            <p:ph type="dt" sz="half" idx="10"/>
          </p:nvPr>
        </p:nvSpPr>
        <p:spPr/>
        <p:txBody>
          <a:bodyPr/>
          <a:lstStyle/>
          <a:p>
            <a:fld id="{1D8BD707-D9CF-40AE-B4C6-C98DA3205C09}" type="datetimeFigureOut">
              <a:rPr lang="en-US" smtClean="0"/>
              <a:pPr/>
              <a:t>10/21/2022</a:t>
            </a:fld>
            <a:endParaRPr lang="en-US"/>
          </a:p>
        </p:txBody>
      </p:sp>
      <p:sp>
        <p:nvSpPr>
          <p:cNvPr id="3" name="Footer Placeholder 2">
            <a:extLst>
              <a:ext uri="{FF2B5EF4-FFF2-40B4-BE49-F238E27FC236}">
                <a16:creationId xmlns:a16="http://schemas.microsoft.com/office/drawing/2014/main" id="{29446EE1-F807-4C02-8EA1-340AA44821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C06B14-C466-4E48-8C44-81360A76EB8D}"/>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84819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223E0-96A6-494E-BC6A-F99DEC54B4E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1F2C13DE-5FF3-4928-82B5-000ADF28E63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8C069886-D251-4E34-A228-12781D96F7A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1F6FB47-B0FE-4C0A-9BFC-892DB699D20F}"/>
              </a:ext>
            </a:extLst>
          </p:cNvPr>
          <p:cNvSpPr>
            <a:spLocks noGrp="1"/>
          </p:cNvSpPr>
          <p:nvPr>
            <p:ph type="dt" sz="half" idx="10"/>
          </p:nvPr>
        </p:nvSpPr>
        <p:spPr/>
        <p:txBody>
          <a:bodyPr/>
          <a:lstStyle/>
          <a:p>
            <a:fld id="{1D8BD707-D9CF-40AE-B4C6-C98DA3205C09}" type="datetimeFigureOut">
              <a:rPr lang="en-US" smtClean="0"/>
              <a:pPr/>
              <a:t>10/21/2022</a:t>
            </a:fld>
            <a:endParaRPr lang="en-US"/>
          </a:p>
        </p:txBody>
      </p:sp>
      <p:sp>
        <p:nvSpPr>
          <p:cNvPr id="6" name="Footer Placeholder 5">
            <a:extLst>
              <a:ext uri="{FF2B5EF4-FFF2-40B4-BE49-F238E27FC236}">
                <a16:creationId xmlns:a16="http://schemas.microsoft.com/office/drawing/2014/main" id="{5776EED6-A272-4D02-A535-35CD3183F0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6AC908-17D4-474D-A526-4B5D2DF42229}"/>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29688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5A20F-CECB-4378-A162-1216F9C17E9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4B6EC5B6-AF23-4982-A122-013A97D07D85}"/>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PK"/>
          </a:p>
        </p:txBody>
      </p:sp>
      <p:sp>
        <p:nvSpPr>
          <p:cNvPr id="4" name="Text Placeholder 3">
            <a:extLst>
              <a:ext uri="{FF2B5EF4-FFF2-40B4-BE49-F238E27FC236}">
                <a16:creationId xmlns:a16="http://schemas.microsoft.com/office/drawing/2014/main" id="{3761B6B9-7FC6-4530-A70C-5FECA129085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9DFF081-C83E-47D4-AF89-D887F7E08904}"/>
              </a:ext>
            </a:extLst>
          </p:cNvPr>
          <p:cNvSpPr>
            <a:spLocks noGrp="1"/>
          </p:cNvSpPr>
          <p:nvPr>
            <p:ph type="dt" sz="half" idx="10"/>
          </p:nvPr>
        </p:nvSpPr>
        <p:spPr/>
        <p:txBody>
          <a:bodyPr/>
          <a:lstStyle/>
          <a:p>
            <a:fld id="{1D8BD707-D9CF-40AE-B4C6-C98DA3205C09}" type="datetimeFigureOut">
              <a:rPr lang="en-US" smtClean="0"/>
              <a:pPr/>
              <a:t>10/21/2022</a:t>
            </a:fld>
            <a:endParaRPr lang="en-US"/>
          </a:p>
        </p:txBody>
      </p:sp>
      <p:sp>
        <p:nvSpPr>
          <p:cNvPr id="6" name="Footer Placeholder 5">
            <a:extLst>
              <a:ext uri="{FF2B5EF4-FFF2-40B4-BE49-F238E27FC236}">
                <a16:creationId xmlns:a16="http://schemas.microsoft.com/office/drawing/2014/main" id="{F95A1ECD-59EE-44E9-8182-F3D5EAFDA1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1B87F6-A5E2-493E-97A2-E5EB1DE0ACD6}"/>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59251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84D16-127B-4674-B3C1-6AA9450938AA}"/>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3C469D79-639D-4B70-B1E3-0C9DEFC412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A8A1EA4-C9F2-42A4-AE2D-675B8E761C23}"/>
              </a:ext>
            </a:extLst>
          </p:cNvPr>
          <p:cNvSpPr>
            <a:spLocks noGrp="1"/>
          </p:cNvSpPr>
          <p:nvPr>
            <p:ph type="dt" sz="half" idx="10"/>
          </p:nvPr>
        </p:nvSpPr>
        <p:spPr/>
        <p:txBody>
          <a:bodyPr/>
          <a:lstStyle/>
          <a:p>
            <a:fld id="{1D8BD707-D9CF-40AE-B4C6-C98DA3205C09}" type="datetimeFigureOut">
              <a:rPr lang="en-US" smtClean="0"/>
              <a:pPr/>
              <a:t>10/21/2022</a:t>
            </a:fld>
            <a:endParaRPr lang="en-US"/>
          </a:p>
        </p:txBody>
      </p:sp>
      <p:sp>
        <p:nvSpPr>
          <p:cNvPr id="5" name="Footer Placeholder 4">
            <a:extLst>
              <a:ext uri="{FF2B5EF4-FFF2-40B4-BE49-F238E27FC236}">
                <a16:creationId xmlns:a16="http://schemas.microsoft.com/office/drawing/2014/main" id="{B57548FF-A1E4-4212-A3FC-C8889E726F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C9C24E-5133-4E5A-859C-7E96E155B209}"/>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34553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47D7CE-5D65-487A-85E8-E70004958765}"/>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D0936D5E-8A71-4371-B8E9-AC1E9D5DC236}"/>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7DB41BE-C718-46D2-B12E-3987B773BE2B}"/>
              </a:ext>
            </a:extLst>
          </p:cNvPr>
          <p:cNvSpPr>
            <a:spLocks noGrp="1"/>
          </p:cNvSpPr>
          <p:nvPr>
            <p:ph type="dt" sz="half" idx="10"/>
          </p:nvPr>
        </p:nvSpPr>
        <p:spPr/>
        <p:txBody>
          <a:bodyPr/>
          <a:lstStyle/>
          <a:p>
            <a:fld id="{1D8BD707-D9CF-40AE-B4C6-C98DA3205C09}" type="datetimeFigureOut">
              <a:rPr lang="en-US" smtClean="0"/>
              <a:pPr/>
              <a:t>10/21/2022</a:t>
            </a:fld>
            <a:endParaRPr lang="en-US"/>
          </a:p>
        </p:txBody>
      </p:sp>
      <p:sp>
        <p:nvSpPr>
          <p:cNvPr id="5" name="Footer Placeholder 4">
            <a:extLst>
              <a:ext uri="{FF2B5EF4-FFF2-40B4-BE49-F238E27FC236}">
                <a16:creationId xmlns:a16="http://schemas.microsoft.com/office/drawing/2014/main" id="{8A49A1B2-371E-4A4D-8CCA-6809BB0FB3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8BB667-FCFD-47CD-962E-746EF6ED657D}"/>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61101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2D4FE6-8F39-439E-A34C-96E0E841601F}"/>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BB3509E2-C954-452C-9759-C615F08B09C4}"/>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DA925C53-384A-486B-BEAE-BF1D6249EC23}"/>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pPr/>
              <a:t>10/21/2022</a:t>
            </a:fld>
            <a:endParaRPr lang="en-US"/>
          </a:p>
        </p:txBody>
      </p:sp>
      <p:sp>
        <p:nvSpPr>
          <p:cNvPr id="5" name="Footer Placeholder 4">
            <a:extLst>
              <a:ext uri="{FF2B5EF4-FFF2-40B4-BE49-F238E27FC236}">
                <a16:creationId xmlns:a16="http://schemas.microsoft.com/office/drawing/2014/main" id="{0EC8CFA0-EB40-491E-BE7A-633FBF215824}"/>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635B5B7-D980-4D06-B9E3-34684F94BFD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22184927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P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bcs.org/"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533400"/>
            <a:ext cx="7772400" cy="1470025"/>
          </a:xfrm>
        </p:spPr>
        <p:txBody>
          <a:bodyPr>
            <a:normAutofit/>
          </a:bodyPr>
          <a:lstStyle/>
          <a:p>
            <a:r>
              <a:rPr lang="en-US" sz="4000" b="1" dirty="0">
                <a:cs typeface="Times New Roman" panose="02020603050405020304" pitchFamily="18" charset="0"/>
              </a:rPr>
              <a:t>Week 7: Professional Practices</a:t>
            </a:r>
          </a:p>
        </p:txBody>
      </p:sp>
      <p:sp>
        <p:nvSpPr>
          <p:cNvPr id="3" name="Subtitle 2"/>
          <p:cNvSpPr>
            <a:spLocks noGrp="1"/>
          </p:cNvSpPr>
          <p:nvPr>
            <p:ph type="subTitle" idx="1"/>
          </p:nvPr>
        </p:nvSpPr>
        <p:spPr>
          <a:xfrm>
            <a:off x="1371600" y="2895600"/>
            <a:ext cx="6629400" cy="1752600"/>
          </a:xfrm>
        </p:spPr>
        <p:txBody>
          <a:bodyPr>
            <a:normAutofit/>
          </a:bodyPr>
          <a:lstStyle/>
          <a:p>
            <a:r>
              <a:rPr lang="en-US" sz="3600" b="1" dirty="0" err="1">
                <a:latin typeface="+mj-lt"/>
                <a:cs typeface="Times New Roman" panose="02020603050405020304" pitchFamily="18" charset="0"/>
              </a:rPr>
              <a:t>Lec</a:t>
            </a:r>
            <a:r>
              <a:rPr lang="en-US" sz="3600" b="1" dirty="0">
                <a:latin typeface="+mj-lt"/>
                <a:cs typeface="Times New Roman" panose="02020603050405020304" pitchFamily="18" charset="0"/>
              </a:rPr>
              <a:t> 13: British Computer Society Code of Conduct</a:t>
            </a:r>
            <a:endParaRPr lang="en-US" sz="1800" b="1" i="0" dirty="0">
              <a:solidFill>
                <a:srgbClr val="003366"/>
              </a:solidFill>
              <a:effectLst/>
              <a:latin typeface="tahoma" panose="020B0604030504040204" pitchFamily="34" charset="0"/>
            </a:endParaRPr>
          </a:p>
          <a:p>
            <a:endParaRPr lang="en-US" sz="3600" b="1" dirty="0">
              <a:latin typeface="+mj-lt"/>
              <a:cs typeface="Times New Roman" panose="02020603050405020304" pitchFamily="18" charset="0"/>
            </a:endParaRPr>
          </a:p>
        </p:txBody>
      </p:sp>
    </p:spTree>
    <p:extLst>
      <p:ext uri="{BB962C8B-B14F-4D97-AF65-F5344CB8AC3E}">
        <p14:creationId xmlns:p14="http://schemas.microsoft.com/office/powerpoint/2010/main" val="3388185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800" b="1" i="0" dirty="0">
                <a:solidFill>
                  <a:srgbClr val="003366"/>
                </a:solidFill>
                <a:effectLst/>
                <a:latin typeface="tahoma" panose="020B0604030504040204" pitchFamily="34" charset="0"/>
              </a:rPr>
              <a:t>BCS Codes of Conduct</a:t>
            </a:r>
            <a:br>
              <a:rPr lang="en-US" sz="1800" b="1" i="0" dirty="0">
                <a:solidFill>
                  <a:srgbClr val="003366"/>
                </a:solidFill>
                <a:effectLst/>
                <a:latin typeface="tahoma" panose="020B0604030504040204" pitchFamily="34" charset="0"/>
              </a:rPr>
            </a:br>
            <a:endParaRPr lang="en-US" b="1" dirty="0"/>
          </a:p>
        </p:txBody>
      </p:sp>
      <p:sp>
        <p:nvSpPr>
          <p:cNvPr id="3" name="Content Placeholder 2"/>
          <p:cNvSpPr>
            <a:spLocks noGrp="1"/>
          </p:cNvSpPr>
          <p:nvPr>
            <p:ph idx="1"/>
          </p:nvPr>
        </p:nvSpPr>
        <p:spPr/>
        <p:txBody>
          <a:bodyPr>
            <a:normAutofit/>
          </a:bodyPr>
          <a:lstStyle/>
          <a:p>
            <a:pPr algn="l"/>
            <a:r>
              <a:rPr lang="en-US" b="0" i="0" dirty="0">
                <a:solidFill>
                  <a:srgbClr val="000000"/>
                </a:solidFill>
                <a:effectLst/>
                <a:latin typeface="tahoma" panose="020B0604030504040204" pitchFamily="34" charset="0"/>
              </a:rPr>
              <a:t>The </a:t>
            </a:r>
            <a:r>
              <a:rPr lang="en-US" b="1" i="0" u="none" strike="noStrike" dirty="0">
                <a:solidFill>
                  <a:srgbClr val="0066CC"/>
                </a:solidFill>
                <a:effectLst/>
                <a:latin typeface="tahoma" panose="020B0604030504040204" pitchFamily="34" charset="0"/>
                <a:hlinkClick r:id="rId3"/>
              </a:rPr>
              <a:t>British Computer Society (BCS)</a:t>
            </a:r>
            <a:r>
              <a:rPr lang="en-US" b="0" i="0" dirty="0">
                <a:solidFill>
                  <a:srgbClr val="000000"/>
                </a:solidFill>
                <a:effectLst/>
                <a:latin typeface="tahoma" panose="020B0604030504040204" pitchFamily="34" charset="0"/>
              </a:rPr>
              <a:t> sets the professional standards of competence, conduct and ethical practice for computing in the United Kingdom. The Royal Charter incorporated the Society in July 1984. This code of conduct is directed to all members of The British Computer Society. As an aid to understanding, these rules have been grouped into the principal duties, which all members should </a:t>
            </a:r>
            <a:r>
              <a:rPr lang="en-US" b="0" i="0" dirty="0" err="1">
                <a:solidFill>
                  <a:srgbClr val="000000"/>
                </a:solidFill>
                <a:effectLst/>
                <a:latin typeface="tahoma" panose="020B0604030504040204" pitchFamily="34" charset="0"/>
              </a:rPr>
              <a:t>endeavour</a:t>
            </a:r>
            <a:r>
              <a:rPr lang="en-US" b="0" i="0" dirty="0">
                <a:solidFill>
                  <a:srgbClr val="000000"/>
                </a:solidFill>
                <a:effectLst/>
                <a:latin typeface="tahoma" panose="020B0604030504040204" pitchFamily="34" charset="0"/>
              </a:rPr>
              <a:t> to discharge in pursuing their professional lives.</a:t>
            </a:r>
          </a:p>
          <a:p>
            <a:pPr algn="l">
              <a:buFont typeface="Arial" panose="020B0604020202020204" pitchFamily="34" charset="0"/>
              <a:buChar char="•"/>
            </a:pPr>
            <a:r>
              <a:rPr lang="en-US" b="0" i="0" dirty="0">
                <a:solidFill>
                  <a:srgbClr val="000000"/>
                </a:solidFill>
                <a:effectLst/>
                <a:latin typeface="tahoma" panose="020B0604030504040204" pitchFamily="34" charset="0"/>
              </a:rPr>
              <a:t>The Public Interest</a:t>
            </a:r>
          </a:p>
          <a:p>
            <a:pPr algn="l">
              <a:buFont typeface="Arial" panose="020B0604020202020204" pitchFamily="34" charset="0"/>
              <a:buChar char="•"/>
            </a:pPr>
            <a:r>
              <a:rPr lang="en-US" b="0" i="0" dirty="0">
                <a:solidFill>
                  <a:srgbClr val="000000"/>
                </a:solidFill>
                <a:effectLst/>
                <a:latin typeface="tahoma" panose="020B0604030504040204" pitchFamily="34" charset="0"/>
              </a:rPr>
              <a:t>Duty to Employers and Clients</a:t>
            </a:r>
          </a:p>
          <a:p>
            <a:pPr algn="l">
              <a:buFont typeface="Arial" panose="020B0604020202020204" pitchFamily="34" charset="0"/>
              <a:buChar char="•"/>
            </a:pPr>
            <a:r>
              <a:rPr lang="en-US" b="0" i="0" dirty="0">
                <a:solidFill>
                  <a:srgbClr val="000000"/>
                </a:solidFill>
                <a:effectLst/>
                <a:latin typeface="tahoma" panose="020B0604030504040204" pitchFamily="34" charset="0"/>
              </a:rPr>
              <a:t>Duty to the Profession</a:t>
            </a:r>
          </a:p>
          <a:p>
            <a:pPr algn="l">
              <a:buFont typeface="Arial" panose="020B0604020202020204" pitchFamily="34" charset="0"/>
              <a:buChar char="•"/>
            </a:pPr>
            <a:r>
              <a:rPr lang="en-US" b="0" i="0" dirty="0">
                <a:solidFill>
                  <a:srgbClr val="000000"/>
                </a:solidFill>
                <a:effectLst/>
                <a:latin typeface="tahoma" panose="020B0604030504040204" pitchFamily="34" charset="0"/>
              </a:rPr>
              <a:t>Professional Competence and Integrity</a:t>
            </a:r>
          </a:p>
          <a:p>
            <a:pPr algn="just"/>
            <a:endParaRPr lang="en-US" dirty="0"/>
          </a:p>
        </p:txBody>
      </p:sp>
    </p:spTree>
    <p:extLst>
      <p:ext uri="{BB962C8B-B14F-4D97-AF65-F5344CB8AC3E}">
        <p14:creationId xmlns:p14="http://schemas.microsoft.com/office/powerpoint/2010/main" val="16845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solidFill>
                  <a:srgbClr val="000000"/>
                </a:solidFill>
                <a:effectLst/>
              </a:rPr>
              <a:t>The Public Interest</a:t>
            </a:r>
            <a:endParaRPr lang="en-US" b="1" dirty="0"/>
          </a:p>
        </p:txBody>
      </p:sp>
      <p:sp>
        <p:nvSpPr>
          <p:cNvPr id="3" name="Content Placeholder 2"/>
          <p:cNvSpPr>
            <a:spLocks noGrp="1"/>
          </p:cNvSpPr>
          <p:nvPr>
            <p:ph idx="1"/>
          </p:nvPr>
        </p:nvSpPr>
        <p:spPr/>
        <p:txBody>
          <a:bodyPr>
            <a:normAutofit/>
          </a:bodyPr>
          <a:lstStyle/>
          <a:p>
            <a:pPr algn="l">
              <a:buFont typeface="Wingdings" panose="05000000000000000000" pitchFamily="2" charset="2"/>
              <a:buChar char="§"/>
            </a:pPr>
            <a:r>
              <a:rPr lang="en-US" b="0" i="0" dirty="0">
                <a:solidFill>
                  <a:srgbClr val="000000"/>
                </a:solidFill>
                <a:effectLst/>
              </a:rPr>
              <a:t>Members shall in their professional practice safeguard public health and safety and have regard to protection of the environment.</a:t>
            </a:r>
          </a:p>
          <a:p>
            <a:pPr algn="l">
              <a:buFont typeface="Wingdings" panose="05000000000000000000" pitchFamily="2" charset="2"/>
              <a:buChar char="§"/>
            </a:pPr>
            <a:endParaRPr lang="en-US" b="0" i="0" dirty="0">
              <a:solidFill>
                <a:srgbClr val="000000"/>
              </a:solidFill>
              <a:effectLst/>
            </a:endParaRPr>
          </a:p>
          <a:p>
            <a:pPr algn="l">
              <a:buFont typeface="Wingdings" panose="05000000000000000000" pitchFamily="2" charset="2"/>
              <a:buChar char="§"/>
            </a:pPr>
            <a:r>
              <a:rPr lang="en-US" b="0" i="0" dirty="0">
                <a:solidFill>
                  <a:srgbClr val="000000"/>
                </a:solidFill>
                <a:effectLst/>
              </a:rPr>
              <a:t>Members shall have due regard to the legitimate rights of third parties.</a:t>
            </a:r>
          </a:p>
          <a:p>
            <a:pPr algn="l">
              <a:buFont typeface="Wingdings" panose="05000000000000000000" pitchFamily="2" charset="2"/>
              <a:buChar char="§"/>
            </a:pPr>
            <a:endParaRPr lang="en-US" b="0" i="0" dirty="0">
              <a:solidFill>
                <a:srgbClr val="000000"/>
              </a:solidFill>
              <a:effectLst/>
            </a:endParaRPr>
          </a:p>
          <a:p>
            <a:pPr algn="l">
              <a:buFont typeface="Wingdings" panose="05000000000000000000" pitchFamily="2" charset="2"/>
              <a:buChar char="§"/>
            </a:pPr>
            <a:r>
              <a:rPr lang="en-US" b="0" i="0" dirty="0">
                <a:solidFill>
                  <a:srgbClr val="000000"/>
                </a:solidFill>
                <a:effectLst/>
              </a:rPr>
              <a:t>Members shall ensure that within their chosen fields they have knowledge and understanding of relevant legislation, regulations and standards and that they comply with such requirements.</a:t>
            </a:r>
          </a:p>
          <a:p>
            <a:pPr algn="just"/>
            <a:endParaRPr lang="en-US" dirty="0"/>
          </a:p>
        </p:txBody>
      </p:sp>
    </p:spTree>
    <p:extLst>
      <p:ext uri="{BB962C8B-B14F-4D97-AF65-F5344CB8AC3E}">
        <p14:creationId xmlns:p14="http://schemas.microsoft.com/office/powerpoint/2010/main" val="4026998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64B3C-1A06-4C47-9F4C-0458B29D1100}"/>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3B15287D-712A-4C76-B155-4AD748D12277}"/>
              </a:ext>
            </a:extLst>
          </p:cNvPr>
          <p:cNvSpPr>
            <a:spLocks noGrp="1"/>
          </p:cNvSpPr>
          <p:nvPr>
            <p:ph idx="1"/>
          </p:nvPr>
        </p:nvSpPr>
        <p:spPr/>
        <p:txBody>
          <a:bodyPr/>
          <a:lstStyle/>
          <a:p>
            <a:pPr>
              <a:buFont typeface="Wingdings" panose="05000000000000000000" pitchFamily="2" charset="2"/>
              <a:buChar char="§"/>
            </a:pPr>
            <a:r>
              <a:rPr lang="en-US" b="0" i="0" dirty="0">
                <a:solidFill>
                  <a:srgbClr val="000000"/>
                </a:solidFill>
                <a:effectLst/>
              </a:rPr>
              <a:t>Members shall in their professional practice have regard to basic human rights and shall avoid any actions that adversely affect such rights.</a:t>
            </a:r>
          </a:p>
          <a:p>
            <a:endParaRPr lang="en-PK" dirty="0"/>
          </a:p>
        </p:txBody>
      </p:sp>
    </p:spTree>
    <p:extLst>
      <p:ext uri="{BB962C8B-B14F-4D97-AF65-F5344CB8AC3E}">
        <p14:creationId xmlns:p14="http://schemas.microsoft.com/office/powerpoint/2010/main" val="3890157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990600"/>
            <a:ext cx="7886700" cy="700089"/>
          </a:xfrm>
        </p:spPr>
        <p:txBody>
          <a:bodyPr>
            <a:normAutofit fontScale="90000"/>
          </a:bodyPr>
          <a:lstStyle/>
          <a:p>
            <a:r>
              <a:rPr lang="en-US" b="1" i="0" dirty="0">
                <a:solidFill>
                  <a:srgbClr val="000000"/>
                </a:solidFill>
                <a:effectLst/>
              </a:rPr>
              <a:t>Duty to Employers and Clients</a:t>
            </a:r>
            <a:br>
              <a:rPr lang="en-US" b="0" i="0" dirty="0">
                <a:solidFill>
                  <a:srgbClr val="000000"/>
                </a:solidFill>
                <a:effectLst/>
                <a:latin typeface="tahoma" panose="020B0604030504040204" pitchFamily="34" charset="0"/>
              </a:rPr>
            </a:br>
            <a:br>
              <a:rPr lang="en-US" b="0" i="0" dirty="0">
                <a:solidFill>
                  <a:srgbClr val="000000"/>
                </a:solidFill>
                <a:effectLst/>
                <a:latin typeface="tahoma" panose="020B0604030504040204" pitchFamily="34" charset="0"/>
              </a:rPr>
            </a:br>
            <a:endParaRPr lang="en-US" b="1" dirty="0"/>
          </a:p>
        </p:txBody>
      </p:sp>
      <p:sp>
        <p:nvSpPr>
          <p:cNvPr id="3" name="Content Placeholder 2"/>
          <p:cNvSpPr>
            <a:spLocks noGrp="1"/>
          </p:cNvSpPr>
          <p:nvPr>
            <p:ph idx="1"/>
          </p:nvPr>
        </p:nvSpPr>
        <p:spPr>
          <a:xfrm>
            <a:off x="628650" y="1524000"/>
            <a:ext cx="7886700" cy="4652963"/>
          </a:xfrm>
        </p:spPr>
        <p:txBody>
          <a:bodyPr>
            <a:normAutofit/>
          </a:bodyPr>
          <a:lstStyle/>
          <a:p>
            <a:pPr algn="just">
              <a:buFont typeface="Wingdings" panose="05000000000000000000" pitchFamily="2" charset="2"/>
              <a:buChar char="§"/>
            </a:pPr>
            <a:r>
              <a:rPr lang="en-US" sz="2000" b="0" i="0" dirty="0">
                <a:solidFill>
                  <a:srgbClr val="000000"/>
                </a:solidFill>
                <a:effectLst/>
              </a:rPr>
              <a:t>Members shall carry out work with due care and diligence in accordance with the requirements of the employer or client and shall, if their professional judgement is overruled, indicate the likely consequences.</a:t>
            </a:r>
          </a:p>
          <a:p>
            <a:pPr algn="just">
              <a:buFont typeface="Wingdings" panose="05000000000000000000" pitchFamily="2" charset="2"/>
              <a:buChar char="§"/>
            </a:pPr>
            <a:endParaRPr lang="en-US" sz="2000" b="0" i="0" dirty="0">
              <a:solidFill>
                <a:srgbClr val="000000"/>
              </a:solidFill>
              <a:effectLst/>
            </a:endParaRPr>
          </a:p>
          <a:p>
            <a:pPr algn="just">
              <a:buFont typeface="Wingdings" panose="05000000000000000000" pitchFamily="2" charset="2"/>
              <a:buChar char="§"/>
            </a:pPr>
            <a:r>
              <a:rPr lang="en-US" sz="2000" b="0" i="0" dirty="0">
                <a:solidFill>
                  <a:srgbClr val="000000"/>
                </a:solidFill>
                <a:effectLst/>
              </a:rPr>
              <a:t>Members shall endeavor to complete work undertaken on time and to budget and shall advise their employer or client as soon as practicable if any overrun is foreseen.</a:t>
            </a:r>
          </a:p>
          <a:p>
            <a:pPr algn="just">
              <a:buFont typeface="Wingdings" panose="05000000000000000000" pitchFamily="2" charset="2"/>
              <a:buChar char="§"/>
            </a:pPr>
            <a:endParaRPr lang="en-US" sz="2000" b="0" i="0" dirty="0">
              <a:solidFill>
                <a:srgbClr val="000000"/>
              </a:solidFill>
              <a:effectLst/>
            </a:endParaRPr>
          </a:p>
          <a:p>
            <a:pPr algn="just">
              <a:buFont typeface="Wingdings" panose="05000000000000000000" pitchFamily="2" charset="2"/>
              <a:buChar char="§"/>
            </a:pPr>
            <a:r>
              <a:rPr lang="en-US" sz="2000" b="0" i="0" dirty="0">
                <a:solidFill>
                  <a:srgbClr val="000000"/>
                </a:solidFill>
                <a:effectLst/>
              </a:rPr>
              <a:t>Members shall not offer or provide, or receive in return, inducement for the introduction of business from a client unless there is full prior disclosure of the facts to the client.</a:t>
            </a:r>
          </a:p>
          <a:p>
            <a:pPr algn="just"/>
            <a:endParaRPr lang="en-US" sz="2000" dirty="0"/>
          </a:p>
        </p:txBody>
      </p:sp>
    </p:spTree>
    <p:extLst>
      <p:ext uri="{BB962C8B-B14F-4D97-AF65-F5344CB8AC3E}">
        <p14:creationId xmlns:p14="http://schemas.microsoft.com/office/powerpoint/2010/main" val="556133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8BC37-B08C-4E2A-8B58-E21DEC2C8B77}"/>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85405353-C02F-440B-A8B3-3F1058DCE4E1}"/>
              </a:ext>
            </a:extLst>
          </p:cNvPr>
          <p:cNvSpPr>
            <a:spLocks noGrp="1"/>
          </p:cNvSpPr>
          <p:nvPr>
            <p:ph idx="1"/>
          </p:nvPr>
        </p:nvSpPr>
        <p:spPr/>
        <p:txBody>
          <a:bodyPr>
            <a:normAutofit fontScale="92500" lnSpcReduction="20000"/>
          </a:bodyPr>
          <a:lstStyle/>
          <a:p>
            <a:pPr>
              <a:buFont typeface="Wingdings" panose="05000000000000000000" pitchFamily="2" charset="2"/>
              <a:buChar char="§"/>
            </a:pPr>
            <a:r>
              <a:rPr lang="en-US" sz="2600" b="0" i="0" dirty="0">
                <a:solidFill>
                  <a:srgbClr val="000000"/>
                </a:solidFill>
                <a:effectLst/>
              </a:rPr>
              <a:t>Members shall not disclose or authorize, to be disclosed, or use for personal gain or to benefit a third party, confidential information acquired in the course of professional practice, except with prior written permission of the employer or client, or at the direction of a court of law.</a:t>
            </a:r>
          </a:p>
          <a:p>
            <a:pPr algn="l">
              <a:buFont typeface="Wingdings" panose="05000000000000000000" pitchFamily="2" charset="2"/>
              <a:buChar char="§"/>
            </a:pPr>
            <a:endParaRPr lang="en-US" sz="2600" b="0" i="0" dirty="0">
              <a:solidFill>
                <a:srgbClr val="000000"/>
              </a:solidFill>
              <a:effectLst/>
            </a:endParaRPr>
          </a:p>
          <a:p>
            <a:pPr algn="l">
              <a:buFont typeface="Wingdings" panose="05000000000000000000" pitchFamily="2" charset="2"/>
              <a:buChar char="§"/>
            </a:pPr>
            <a:r>
              <a:rPr lang="en-US" sz="2600" b="0" i="0" dirty="0">
                <a:solidFill>
                  <a:srgbClr val="000000"/>
                </a:solidFill>
                <a:effectLst/>
              </a:rPr>
              <a:t>Members should seek to avoid being put in a position where they may become privy to or party to activities or information concerning activities which would conflict with their responsibilities in 1-4 above.</a:t>
            </a:r>
          </a:p>
          <a:p>
            <a:pPr algn="l">
              <a:buFont typeface="Wingdings" panose="05000000000000000000" pitchFamily="2" charset="2"/>
              <a:buChar char="§"/>
            </a:pPr>
            <a:endParaRPr lang="en-US" sz="2600" b="0" i="0" dirty="0">
              <a:solidFill>
                <a:srgbClr val="000000"/>
              </a:solidFill>
              <a:effectLst/>
            </a:endParaRPr>
          </a:p>
          <a:p>
            <a:pPr algn="l">
              <a:buFont typeface="Wingdings" panose="05000000000000000000" pitchFamily="2" charset="2"/>
              <a:buChar char="§"/>
            </a:pPr>
            <a:r>
              <a:rPr lang="en-US" sz="2600" b="0" i="0" dirty="0">
                <a:solidFill>
                  <a:srgbClr val="000000"/>
                </a:solidFill>
                <a:effectLst/>
              </a:rPr>
              <a:t>Members shall not misrepresent or withhold information on the capabilities of products, systems or services with which they are concerned or take advantage of the lack of knowledge or inexperience of others.</a:t>
            </a:r>
          </a:p>
          <a:p>
            <a:endParaRPr lang="en-PK" sz="2200" dirty="0"/>
          </a:p>
        </p:txBody>
      </p:sp>
    </p:spTree>
    <p:extLst>
      <p:ext uri="{BB962C8B-B14F-4D97-AF65-F5344CB8AC3E}">
        <p14:creationId xmlns:p14="http://schemas.microsoft.com/office/powerpoint/2010/main" val="3353708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89EE1-4449-40F3-890A-49F03C12CD55}"/>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80864BC4-91D7-4027-949C-841003F899E2}"/>
              </a:ext>
            </a:extLst>
          </p:cNvPr>
          <p:cNvSpPr>
            <a:spLocks noGrp="1"/>
          </p:cNvSpPr>
          <p:nvPr>
            <p:ph idx="1"/>
          </p:nvPr>
        </p:nvSpPr>
        <p:spPr/>
        <p:txBody>
          <a:bodyPr/>
          <a:lstStyle/>
          <a:p>
            <a:pPr algn="l">
              <a:buFont typeface="Wingdings" panose="05000000000000000000" pitchFamily="2" charset="2"/>
              <a:buChar char="§"/>
            </a:pPr>
            <a:r>
              <a:rPr lang="en-US" sz="2400" b="0" i="0" dirty="0">
                <a:solidFill>
                  <a:srgbClr val="000000"/>
                </a:solidFill>
                <a:effectLst/>
              </a:rPr>
              <a:t>Members shall not, except where specifically so instructed, handle client's monies or place contracts or orders in connection with work on which they are engaged where acting as an independent consultant.</a:t>
            </a:r>
          </a:p>
          <a:p>
            <a:pPr algn="l">
              <a:buFont typeface="Wingdings" panose="05000000000000000000" pitchFamily="2" charset="2"/>
              <a:buChar char="§"/>
            </a:pPr>
            <a:endParaRPr lang="en-US" sz="2400" b="0" i="0" dirty="0">
              <a:solidFill>
                <a:srgbClr val="000000"/>
              </a:solidFill>
              <a:effectLst/>
            </a:endParaRPr>
          </a:p>
          <a:p>
            <a:pPr algn="l">
              <a:buFont typeface="Wingdings" panose="05000000000000000000" pitchFamily="2" charset="2"/>
              <a:buChar char="§"/>
            </a:pPr>
            <a:r>
              <a:rPr lang="en-US" sz="2400" b="0" i="0" dirty="0">
                <a:solidFill>
                  <a:srgbClr val="000000"/>
                </a:solidFill>
                <a:effectLst/>
              </a:rPr>
              <a:t>Members shall not purport to exercise independent judgement on behalf of a client on any product or service in which they knowingly have any interest, financial or otherwise.</a:t>
            </a:r>
          </a:p>
          <a:p>
            <a:endParaRPr lang="en-PK" dirty="0"/>
          </a:p>
        </p:txBody>
      </p:sp>
    </p:spTree>
    <p:extLst>
      <p:ext uri="{BB962C8B-B14F-4D97-AF65-F5344CB8AC3E}">
        <p14:creationId xmlns:p14="http://schemas.microsoft.com/office/powerpoint/2010/main" val="160859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solidFill>
                  <a:srgbClr val="000000"/>
                </a:solidFill>
                <a:effectLst/>
              </a:rPr>
              <a:t>Duty to the Profession</a:t>
            </a:r>
            <a:endParaRPr lang="en-US" b="1" dirty="0"/>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
            </a:pPr>
            <a:r>
              <a:rPr lang="en-US" b="0" i="0" dirty="0">
                <a:solidFill>
                  <a:srgbClr val="000000"/>
                </a:solidFill>
                <a:effectLst/>
              </a:rPr>
              <a:t>Members shall uphold the reputation of the Profession and shall seek to improve professional standard through participation in their development, use and enforcement, and shall avoid any action, which will adversely affect the good standing of the Profession.</a:t>
            </a:r>
          </a:p>
          <a:p>
            <a:pPr algn="just">
              <a:buFont typeface="Wingdings" panose="05000000000000000000" pitchFamily="2" charset="2"/>
              <a:buChar char="§"/>
            </a:pPr>
            <a:r>
              <a:rPr lang="en-US" b="0" i="0" dirty="0">
                <a:solidFill>
                  <a:srgbClr val="000000"/>
                </a:solidFill>
                <a:effectLst/>
              </a:rPr>
              <a:t>Members shall in their professional practice seek to advance public knowledge and understanding of computing and information systems and technology and to counter false or misleading statements, which are detrimental to the Profession.</a:t>
            </a:r>
          </a:p>
          <a:p>
            <a:pPr algn="just">
              <a:buFont typeface="Wingdings" panose="05000000000000000000" pitchFamily="2" charset="2"/>
              <a:buChar char="§"/>
            </a:pPr>
            <a:r>
              <a:rPr lang="en-US" b="0" i="0" dirty="0">
                <a:solidFill>
                  <a:srgbClr val="000000"/>
                </a:solidFill>
                <a:effectLst/>
              </a:rPr>
              <a:t>Members shall encourage and support fellow members in their professional development and, where possible, provide opportunities for the professional development of new entrants to the Profession.</a:t>
            </a:r>
          </a:p>
          <a:p>
            <a:pPr algn="just"/>
            <a:endParaRPr lang="en-US" dirty="0"/>
          </a:p>
        </p:txBody>
      </p:sp>
    </p:spTree>
    <p:extLst>
      <p:ext uri="{BB962C8B-B14F-4D97-AF65-F5344CB8AC3E}">
        <p14:creationId xmlns:p14="http://schemas.microsoft.com/office/powerpoint/2010/main" val="2729410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D8A1A-EA26-4582-8E1A-5C5A99C4E5B7}"/>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83FCEA21-9252-423B-A901-4F20C5EA154E}"/>
              </a:ext>
            </a:extLst>
          </p:cNvPr>
          <p:cNvSpPr>
            <a:spLocks noGrp="1"/>
          </p:cNvSpPr>
          <p:nvPr>
            <p:ph idx="1"/>
          </p:nvPr>
        </p:nvSpPr>
        <p:spPr/>
        <p:txBody>
          <a:bodyPr/>
          <a:lstStyle/>
          <a:p>
            <a:pPr algn="l">
              <a:buFont typeface="Wingdings" panose="05000000000000000000" pitchFamily="2" charset="2"/>
              <a:buChar char="§"/>
            </a:pPr>
            <a:r>
              <a:rPr lang="en-US" b="0" i="0" dirty="0">
                <a:solidFill>
                  <a:srgbClr val="000000"/>
                </a:solidFill>
                <a:effectLst/>
              </a:rPr>
              <a:t>Members shall act with integrity towards fellow members and to members of other professions with whom they are concerned in a professional capacity and shall avoid engaging in any activity, which is incompatible with professional status.</a:t>
            </a:r>
          </a:p>
          <a:p>
            <a:pPr algn="l">
              <a:buFont typeface="Wingdings" panose="05000000000000000000" pitchFamily="2" charset="2"/>
              <a:buChar char="§"/>
            </a:pPr>
            <a:endParaRPr lang="en-US" b="0" i="0" dirty="0">
              <a:solidFill>
                <a:srgbClr val="000000"/>
              </a:solidFill>
              <a:effectLst/>
            </a:endParaRPr>
          </a:p>
          <a:p>
            <a:pPr algn="l">
              <a:buFont typeface="Wingdings" panose="05000000000000000000" pitchFamily="2" charset="2"/>
              <a:buChar char="§"/>
            </a:pPr>
            <a:r>
              <a:rPr lang="en-US" b="0" i="0" dirty="0">
                <a:solidFill>
                  <a:srgbClr val="000000"/>
                </a:solidFill>
                <a:effectLst/>
              </a:rPr>
              <a:t>Members shall not make any public statements in their professional capacity unless properly qualified and, where appropriate, authorized to do so, and shall have due regard to the likely consequences of any statement on others.</a:t>
            </a:r>
          </a:p>
          <a:p>
            <a:endParaRPr lang="en-PK" dirty="0"/>
          </a:p>
        </p:txBody>
      </p:sp>
    </p:spTree>
    <p:extLst>
      <p:ext uri="{BB962C8B-B14F-4D97-AF65-F5344CB8AC3E}">
        <p14:creationId xmlns:p14="http://schemas.microsoft.com/office/powerpoint/2010/main" val="3765743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solidFill>
                  <a:srgbClr val="000000"/>
                </a:solidFill>
                <a:effectLst/>
              </a:rPr>
              <a:t>Professional Competence and Integrity</a:t>
            </a:r>
            <a:endParaRPr lang="en-US" b="1" dirty="0"/>
          </a:p>
        </p:txBody>
      </p:sp>
      <p:sp>
        <p:nvSpPr>
          <p:cNvPr id="3" name="Content Placeholder 2"/>
          <p:cNvSpPr>
            <a:spLocks noGrp="1"/>
          </p:cNvSpPr>
          <p:nvPr>
            <p:ph idx="1"/>
          </p:nvPr>
        </p:nvSpPr>
        <p:spPr/>
        <p:txBody>
          <a:bodyPr>
            <a:normAutofit/>
          </a:bodyPr>
          <a:lstStyle/>
          <a:p>
            <a:pPr algn="l">
              <a:buFont typeface="Wingdings" panose="05000000000000000000" pitchFamily="2" charset="2"/>
              <a:buChar char="§"/>
            </a:pPr>
            <a:r>
              <a:rPr lang="en-US" b="0" i="0" dirty="0">
                <a:solidFill>
                  <a:srgbClr val="000000"/>
                </a:solidFill>
                <a:effectLst/>
              </a:rPr>
              <a:t>Members shall seek to upgrade their professional knowledge and skill and shall maintain awareness of technological developments, procedures and standards which are relevant to their field, and shall encourage their subordinates to do likewise.</a:t>
            </a:r>
          </a:p>
          <a:p>
            <a:pPr algn="l">
              <a:buFont typeface="Wingdings" panose="05000000000000000000" pitchFamily="2" charset="2"/>
              <a:buChar char="§"/>
            </a:pPr>
            <a:endParaRPr lang="en-US" b="0" i="0" dirty="0">
              <a:solidFill>
                <a:srgbClr val="000000"/>
              </a:solidFill>
              <a:effectLst/>
            </a:endParaRPr>
          </a:p>
          <a:p>
            <a:pPr algn="l">
              <a:buFont typeface="Wingdings" panose="05000000000000000000" pitchFamily="2" charset="2"/>
              <a:buChar char="§"/>
            </a:pPr>
            <a:r>
              <a:rPr lang="en-US" b="0" i="0" dirty="0">
                <a:solidFill>
                  <a:srgbClr val="000000"/>
                </a:solidFill>
                <a:effectLst/>
              </a:rPr>
              <a:t>Members shall seek to conform to recognized good practice including quality standards, which are in their judgement relevant, and shall encourage their subordinates to do likewise.</a:t>
            </a:r>
          </a:p>
          <a:p>
            <a:pPr algn="l">
              <a:buFont typeface="Wingdings" panose="05000000000000000000" pitchFamily="2" charset="2"/>
              <a:buChar char="§"/>
            </a:pPr>
            <a:endParaRPr lang="en-US" b="0" i="0" dirty="0">
              <a:solidFill>
                <a:srgbClr val="000000"/>
              </a:solidFill>
              <a:effectLst/>
            </a:endParaRPr>
          </a:p>
          <a:p>
            <a:pPr algn="l">
              <a:buFont typeface="Wingdings" panose="05000000000000000000" pitchFamily="2" charset="2"/>
              <a:buChar char="§"/>
            </a:pPr>
            <a:r>
              <a:rPr lang="en-US" b="0" i="0" dirty="0">
                <a:solidFill>
                  <a:srgbClr val="000000"/>
                </a:solidFill>
                <a:effectLst/>
              </a:rPr>
              <a:t>Members shall only offer to do work or provide a service, which is within their professional competence and shall not claim to any level of competence, which they do not possess, and any professional opinion, which they are asked to give, shall be objective and reliable.</a:t>
            </a:r>
          </a:p>
          <a:p>
            <a:pPr algn="just"/>
            <a:endParaRPr lang="en-US" dirty="0"/>
          </a:p>
        </p:txBody>
      </p:sp>
    </p:spTree>
    <p:extLst>
      <p:ext uri="{BB962C8B-B14F-4D97-AF65-F5344CB8AC3E}">
        <p14:creationId xmlns:p14="http://schemas.microsoft.com/office/powerpoint/2010/main" val="3761660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218E6-77D2-4230-984D-C14EAAE8CC86}"/>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E7C91AF9-1F36-4A9A-8A2D-2F786606735C}"/>
              </a:ext>
            </a:extLst>
          </p:cNvPr>
          <p:cNvSpPr>
            <a:spLocks noGrp="1"/>
          </p:cNvSpPr>
          <p:nvPr>
            <p:ph idx="1"/>
          </p:nvPr>
        </p:nvSpPr>
        <p:spPr/>
        <p:txBody>
          <a:bodyPr/>
          <a:lstStyle/>
          <a:p>
            <a:pPr algn="l">
              <a:buFont typeface="Wingdings" panose="05000000000000000000" pitchFamily="2" charset="2"/>
              <a:buChar char="§"/>
            </a:pPr>
            <a:r>
              <a:rPr lang="en-US" b="0" i="0" dirty="0">
                <a:solidFill>
                  <a:srgbClr val="000000"/>
                </a:solidFill>
                <a:effectLst/>
              </a:rPr>
              <a:t>Members shall accept professional responsibility for their work and for the work of their subordinates and associates under their direction, and shall not terminate any assignment except for good reason and on reasonable notice.</a:t>
            </a:r>
          </a:p>
          <a:p>
            <a:pPr algn="l">
              <a:buFont typeface="Wingdings" panose="05000000000000000000" pitchFamily="2" charset="2"/>
              <a:buChar char="§"/>
            </a:pPr>
            <a:endParaRPr lang="en-US" b="0" i="0" dirty="0">
              <a:solidFill>
                <a:srgbClr val="000000"/>
              </a:solidFill>
              <a:effectLst/>
            </a:endParaRPr>
          </a:p>
          <a:p>
            <a:pPr algn="l">
              <a:buFont typeface="Wingdings" panose="05000000000000000000" pitchFamily="2" charset="2"/>
              <a:buChar char="§"/>
            </a:pPr>
            <a:r>
              <a:rPr lang="en-US" b="0" i="0" dirty="0">
                <a:solidFill>
                  <a:srgbClr val="000000"/>
                </a:solidFill>
                <a:effectLst/>
              </a:rPr>
              <a:t>Members shall avoid any situation that may give rise to a conflict of interest between themselves and their client and shall make full and immediate disclosure to the client if any conflict should occur</a:t>
            </a:r>
          </a:p>
          <a:p>
            <a:endParaRPr lang="en-PK" dirty="0"/>
          </a:p>
        </p:txBody>
      </p:sp>
    </p:spTree>
    <p:extLst>
      <p:ext uri="{BB962C8B-B14F-4D97-AF65-F5344CB8AC3E}">
        <p14:creationId xmlns:p14="http://schemas.microsoft.com/office/powerpoint/2010/main" val="31707927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561</TotalTime>
  <Words>1031</Words>
  <Application>Microsoft Office PowerPoint</Application>
  <PresentationFormat>On-screen Show (4:3)</PresentationFormat>
  <Paragraphs>57</Paragraphs>
  <Slides>11</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tahoma</vt:lpstr>
      <vt:lpstr>Wingdings</vt:lpstr>
      <vt:lpstr>Office Theme</vt:lpstr>
      <vt:lpstr>Week 7: Professional Practices</vt:lpstr>
      <vt:lpstr>BCS Codes of Conduct </vt:lpstr>
      <vt:lpstr>The Public Interest</vt:lpstr>
      <vt:lpstr>PowerPoint Presentation</vt:lpstr>
      <vt:lpstr>Duty to Employers and Clients  </vt:lpstr>
      <vt:lpstr>PowerPoint Presentation</vt:lpstr>
      <vt:lpstr>PowerPoint Presentation</vt:lpstr>
      <vt:lpstr>Duty to the Profession</vt:lpstr>
      <vt:lpstr>PowerPoint Presentation</vt:lpstr>
      <vt:lpstr>Professional Competence and Integrity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Practices</dc:title>
  <dc:creator>IBRAHIM</dc:creator>
  <cp:lastModifiedBy>Amber Sarfraz</cp:lastModifiedBy>
  <cp:revision>196</cp:revision>
  <dcterms:created xsi:type="dcterms:W3CDTF">2006-08-16T00:00:00Z</dcterms:created>
  <dcterms:modified xsi:type="dcterms:W3CDTF">2022-10-21T08:35:34Z</dcterms:modified>
</cp:coreProperties>
</file>
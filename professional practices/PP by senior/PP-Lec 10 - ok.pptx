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92" r:id="rId2"/>
    <p:sldId id="293" r:id="rId3"/>
    <p:sldId id="258" r:id="rId4"/>
    <p:sldId id="263" r:id="rId5"/>
    <p:sldId id="282" r:id="rId6"/>
    <p:sldId id="284" r:id="rId7"/>
    <p:sldId id="264" r:id="rId8"/>
    <p:sldId id="265" r:id="rId9"/>
    <p:sldId id="266" r:id="rId10"/>
    <p:sldId id="283" r:id="rId11"/>
    <p:sldId id="290" r:id="rId12"/>
    <p:sldId id="267" r:id="rId13"/>
    <p:sldId id="268" r:id="rId14"/>
    <p:sldId id="269" r:id="rId15"/>
    <p:sldId id="270" r:id="rId16"/>
    <p:sldId id="285" r:id="rId17"/>
    <p:sldId id="271" r:id="rId18"/>
    <p:sldId id="272" r:id="rId19"/>
    <p:sldId id="273" r:id="rId20"/>
    <p:sldId id="274" r:id="rId21"/>
    <p:sldId id="275" r:id="rId22"/>
    <p:sldId id="276" r:id="rId23"/>
    <p:sldId id="277" r:id="rId24"/>
    <p:sldId id="278" r:id="rId25"/>
    <p:sldId id="279" r:id="rId26"/>
    <p:sldId id="280" r:id="rId27"/>
    <p:sldId id="281" r:id="rId28"/>
    <p:sldId id="288" r:id="rId29"/>
    <p:sldId id="291" r:id="rId30"/>
    <p:sldId id="26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364" autoAdjust="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074E4B-0A30-4714-93F7-EAB9B8FC456E}" type="datetimeFigureOut">
              <a:rPr lang="en-US" smtClean="0"/>
              <a:t>11/15/2022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25E470-9510-4562-8B92-7377457AF441}" type="slidenum">
              <a:rPr lang="en-US" smtClean="0"/>
              <a:t>‹#›</a:t>
            </a:fld>
            <a:endParaRPr lang="en-US"/>
          </a:p>
        </p:txBody>
      </p:sp>
    </p:spTree>
    <p:extLst>
      <p:ext uri="{BB962C8B-B14F-4D97-AF65-F5344CB8AC3E}">
        <p14:creationId xmlns:p14="http://schemas.microsoft.com/office/powerpoint/2010/main" val="3399442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https://www.acm.org/code-of-ethics</a:t>
            </a:r>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11</a:t>
            </a:fld>
            <a:endParaRPr lang="x-none"/>
          </a:p>
        </p:txBody>
      </p:sp>
    </p:spTree>
    <p:extLst>
      <p:ext uri="{BB962C8B-B14F-4D97-AF65-F5344CB8AC3E}">
        <p14:creationId xmlns:p14="http://schemas.microsoft.com/office/powerpoint/2010/main" val="1497737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625E470-9510-4562-8B92-7377457AF441}" type="slidenum">
              <a:rPr lang="en-US" smtClean="0"/>
              <a:t>16</a:t>
            </a:fld>
            <a:endParaRPr lang="en-US"/>
          </a:p>
        </p:txBody>
      </p:sp>
    </p:spTree>
    <p:extLst>
      <p:ext uri="{BB962C8B-B14F-4D97-AF65-F5344CB8AC3E}">
        <p14:creationId xmlns:p14="http://schemas.microsoft.com/office/powerpoint/2010/main" val="2213680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https://ethics.acm.org/code-of-ethics/using-the-code/case-malware-disruption/</a:t>
            </a:r>
          </a:p>
          <a:p>
            <a:endParaRPr lang="en-US" dirty="0"/>
          </a:p>
          <a:p>
            <a:r>
              <a:rPr lang="en-US" dirty="0"/>
              <a:t>https://ethics.acm.org/code-of-ethics/using-the-code/case-malicious-inputs-to-content-filters/</a:t>
            </a:r>
          </a:p>
        </p:txBody>
      </p:sp>
      <p:sp>
        <p:nvSpPr>
          <p:cNvPr id="4" name="Slide Number Placeholder 3"/>
          <p:cNvSpPr>
            <a:spLocks noGrp="1"/>
          </p:cNvSpPr>
          <p:nvPr>
            <p:ph type="sldNum" sz="quarter" idx="10"/>
          </p:nvPr>
        </p:nvSpPr>
        <p:spPr/>
        <p:txBody>
          <a:bodyPr/>
          <a:lstStyle/>
          <a:p>
            <a:fld id="{54CC6A2C-6D46-474D-BCC5-C205DA9DA6A3}" type="slidenum">
              <a:rPr lang="x-none" smtClean="0"/>
              <a:t>28</a:t>
            </a:fld>
            <a:endParaRPr lang="x-none"/>
          </a:p>
        </p:txBody>
      </p:sp>
    </p:spTree>
    <p:extLst>
      <p:ext uri="{BB962C8B-B14F-4D97-AF65-F5344CB8AC3E}">
        <p14:creationId xmlns:p14="http://schemas.microsoft.com/office/powerpoint/2010/main" val="2785248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9C536-3968-46E6-BDD7-DDDD852855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08B7F639-12AC-42F4-BA82-DF30FD7F39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5835AE55-055B-402C-8F95-228195E6DB39}"/>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5" name="Footer Placeholder 4">
            <a:extLst>
              <a:ext uri="{FF2B5EF4-FFF2-40B4-BE49-F238E27FC236}">
                <a16:creationId xmlns:a16="http://schemas.microsoft.com/office/drawing/2014/main" id="{06A9C548-FB45-44DC-B41F-09F9B057CDB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50355EDC-D526-4585-9333-E86BE7A51351}"/>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900737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BF886-3FD5-4F3A-BACE-A91743CEC855}"/>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EDAE3839-833E-468E-A67F-C01CC1CB90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9D9997C-604C-44CE-AE17-6ABC6D0C30DF}"/>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5" name="Footer Placeholder 4">
            <a:extLst>
              <a:ext uri="{FF2B5EF4-FFF2-40B4-BE49-F238E27FC236}">
                <a16:creationId xmlns:a16="http://schemas.microsoft.com/office/drawing/2014/main" id="{D9A212A7-7FA9-4A03-BC4E-7A7A4F662D0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34EA32A6-4F13-4DDE-9B2E-66955AE7577A}"/>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1141144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CA724-B1BA-437B-8965-9C7A27042C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2F98C189-1040-4278-80B2-2D1CD87442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A28C9E-20D8-48A4-85BC-3BAF74289946}"/>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5" name="Footer Placeholder 4">
            <a:extLst>
              <a:ext uri="{FF2B5EF4-FFF2-40B4-BE49-F238E27FC236}">
                <a16:creationId xmlns:a16="http://schemas.microsoft.com/office/drawing/2014/main" id="{451A66FE-C8C9-4A2E-A037-28FF8C9D6DF2}"/>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68CBC9E-C233-4860-9531-8A319C3AB03D}"/>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1567737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D7391-4EEC-47C5-A378-D3B7CDC78192}"/>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B2E296E7-5B8F-44B8-BE3B-26FB05B117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1A8DF945-9BC8-41E0-A469-65B82EDA4B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12F80DAC-5FAE-49A7-83F8-E8E4D849C891}"/>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6" name="Footer Placeholder 5">
            <a:extLst>
              <a:ext uri="{FF2B5EF4-FFF2-40B4-BE49-F238E27FC236}">
                <a16:creationId xmlns:a16="http://schemas.microsoft.com/office/drawing/2014/main" id="{17ED9FC6-5B98-4ECB-8EFE-F30FFB097CCF}"/>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CF6AC696-D647-4589-B5B8-83952730A161}"/>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366326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9B3E-BED2-4B8F-A212-5A95A31EFC83}"/>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71E91D2F-425A-454B-A87F-3277370941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16382D-75AE-49A4-A1E1-032CB96619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31C83B18-09A3-42AD-9411-BCECAA1AD9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CE2B3E-4B7B-4644-AA29-1CF8430605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A9AC8AB6-ABFE-4A0C-8F5B-7625344FF86B}"/>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8" name="Footer Placeholder 7">
            <a:extLst>
              <a:ext uri="{FF2B5EF4-FFF2-40B4-BE49-F238E27FC236}">
                <a16:creationId xmlns:a16="http://schemas.microsoft.com/office/drawing/2014/main" id="{1EF18A46-AEB0-44E6-A2A7-F57F7DEA74BB}"/>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F994E3B6-D789-45FC-80F1-2735ED11CAF7}"/>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24656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DA92-3188-47EE-BB2D-B94D38FDBD85}"/>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2B04B84F-8363-4A6F-8DB7-136E142059F4}"/>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4" name="Footer Placeholder 3">
            <a:extLst>
              <a:ext uri="{FF2B5EF4-FFF2-40B4-BE49-F238E27FC236}">
                <a16:creationId xmlns:a16="http://schemas.microsoft.com/office/drawing/2014/main" id="{53637700-CC48-4F34-9309-4AAAAF239CF1}"/>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71257A95-E1D1-4C80-96D6-B24E1A6000AA}"/>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2793392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2DF6DC-5460-4AA9-B9CF-66BE94448C0C}"/>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3" name="Footer Placeholder 2">
            <a:extLst>
              <a:ext uri="{FF2B5EF4-FFF2-40B4-BE49-F238E27FC236}">
                <a16:creationId xmlns:a16="http://schemas.microsoft.com/office/drawing/2014/main" id="{B46021F9-AD96-44A6-8D56-A66A93743150}"/>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4EC419FF-7866-4F3B-832D-F9E21E659A73}"/>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1808508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E0E1A-2C39-46A3-8CB3-FC2CEABB4C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6BD26ADE-6F9D-44E3-B3C9-333263ADCD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9816C0D2-2A9D-4A7E-9F52-5D4F3C68D3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7BBEAC-0019-4557-9EE4-89F5B0F73018}"/>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6" name="Footer Placeholder 5">
            <a:extLst>
              <a:ext uri="{FF2B5EF4-FFF2-40B4-BE49-F238E27FC236}">
                <a16:creationId xmlns:a16="http://schemas.microsoft.com/office/drawing/2014/main" id="{3FB5EFAF-ABB8-4D24-B06F-52F23257A2B8}"/>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926E65A7-14BB-4EEB-A424-3AD820CD1836}"/>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309193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FCB9D-E501-4CE6-BA9F-02671BC08D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22D30256-698C-4B0D-BD11-0CFC6F3057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53F31FA7-4298-414A-9E33-5E21707BE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15E2C9-C6B9-495D-941B-E397AC6506AC}"/>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6" name="Footer Placeholder 5">
            <a:extLst>
              <a:ext uri="{FF2B5EF4-FFF2-40B4-BE49-F238E27FC236}">
                <a16:creationId xmlns:a16="http://schemas.microsoft.com/office/drawing/2014/main" id="{D0A7BAD9-F9A3-4960-BA94-7C7B8D66AFF1}"/>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651D442B-B143-4328-B079-33844F9531AD}"/>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1828807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E5D54-48F3-482F-84E9-4BB7DE390405}"/>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09D9802D-693E-4A67-A289-03A1CA932F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6D881091-94C1-4C82-BB63-C973456615D5}"/>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5" name="Footer Placeholder 4">
            <a:extLst>
              <a:ext uri="{FF2B5EF4-FFF2-40B4-BE49-F238E27FC236}">
                <a16:creationId xmlns:a16="http://schemas.microsoft.com/office/drawing/2014/main" id="{3C0AEE8A-90C7-43DA-B6B9-238293BA82D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053087A0-F937-43CF-8EAD-9C655124EA25}"/>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761652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0D8C01-1055-4BEF-83F4-D9B5716927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EA42665E-D389-4508-BF4F-90803208BE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AFAF4AB6-BBB9-48CC-BA98-7A82EE7DB391}"/>
              </a:ext>
            </a:extLst>
          </p:cNvPr>
          <p:cNvSpPr>
            <a:spLocks noGrp="1"/>
          </p:cNvSpPr>
          <p:nvPr>
            <p:ph type="dt" sz="half" idx="10"/>
          </p:nvPr>
        </p:nvSpPr>
        <p:spPr/>
        <p:txBody>
          <a:bodyPr/>
          <a:lstStyle/>
          <a:p>
            <a:fld id="{71DBA246-9D51-400D-AD01-E277F7F128F6}" type="datetimeFigureOut">
              <a:rPr lang="en-MY" smtClean="0"/>
              <a:t>15/11/2022</a:t>
            </a:fld>
            <a:endParaRPr lang="en-MY"/>
          </a:p>
        </p:txBody>
      </p:sp>
      <p:sp>
        <p:nvSpPr>
          <p:cNvPr id="5" name="Footer Placeholder 4">
            <a:extLst>
              <a:ext uri="{FF2B5EF4-FFF2-40B4-BE49-F238E27FC236}">
                <a16:creationId xmlns:a16="http://schemas.microsoft.com/office/drawing/2014/main" id="{C8229BE3-2243-4409-AE1B-5721EC73336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3316D8F0-CC51-426C-B8D8-95E67FF4E77A}"/>
              </a:ext>
            </a:extLst>
          </p:cNvPr>
          <p:cNvSpPr>
            <a:spLocks noGrp="1"/>
          </p:cNvSpPr>
          <p:nvPr>
            <p:ph type="sldNum" sz="quarter" idx="12"/>
          </p:nvPr>
        </p:nvSpPr>
        <p:spPr/>
        <p:txBody>
          <a:bodyPr/>
          <a:lstStyle/>
          <a:p>
            <a:fld id="{D4F7DEF0-23A0-48A0-8C29-AB73A1480860}" type="slidenum">
              <a:rPr lang="en-MY" smtClean="0"/>
              <a:t>‹#›</a:t>
            </a:fld>
            <a:endParaRPr lang="en-MY"/>
          </a:p>
        </p:txBody>
      </p:sp>
    </p:spTree>
    <p:extLst>
      <p:ext uri="{BB962C8B-B14F-4D97-AF65-F5344CB8AC3E}">
        <p14:creationId xmlns:p14="http://schemas.microsoft.com/office/powerpoint/2010/main" val="4116826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2E68A-9C6F-4F72-88A7-8FD84BA0D7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8DAF1DC4-81D9-4EC8-8122-893CB7A004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ADFFBFB5-108E-4F69-AEE3-5C6C3C7E89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DBA246-9D51-400D-AD01-E277F7F128F6}" type="datetimeFigureOut">
              <a:rPr lang="en-MY" smtClean="0"/>
              <a:t>15/11/2022</a:t>
            </a:fld>
            <a:endParaRPr lang="en-MY"/>
          </a:p>
        </p:txBody>
      </p:sp>
      <p:sp>
        <p:nvSpPr>
          <p:cNvPr id="5" name="Footer Placeholder 4">
            <a:extLst>
              <a:ext uri="{FF2B5EF4-FFF2-40B4-BE49-F238E27FC236}">
                <a16:creationId xmlns:a16="http://schemas.microsoft.com/office/drawing/2014/main" id="{36028CB8-095B-410E-B5C4-90CEB5F35A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A707EFC0-009F-4A44-8383-B94B771386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F7DEF0-23A0-48A0-8C29-AB73A1480860}" type="slidenum">
              <a:rPr lang="en-MY" smtClean="0"/>
              <a:t>‹#›</a:t>
            </a:fld>
            <a:endParaRPr lang="en-MY"/>
          </a:p>
        </p:txBody>
      </p:sp>
    </p:spTree>
    <p:extLst>
      <p:ext uri="{BB962C8B-B14F-4D97-AF65-F5344CB8AC3E}">
        <p14:creationId xmlns:p14="http://schemas.microsoft.com/office/powerpoint/2010/main" val="1484774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ethics.acm.org/code-of-ethics/using-the-code/case-malware-disruptio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ethics.acm.org/code-of-ethics/using-the-code/case-malicious-inputs-to-content-filter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80226"/>
            <a:ext cx="9144000" cy="904786"/>
          </a:xfrm>
        </p:spPr>
        <p:txBody>
          <a:bodyPr>
            <a:normAutofit fontScale="90000"/>
          </a:bodyPr>
          <a:lstStyle/>
          <a:p>
            <a:r>
              <a:rPr lang="en-US" dirty="0"/>
              <a:t>Professional Practices</a:t>
            </a:r>
          </a:p>
        </p:txBody>
      </p:sp>
      <p:sp>
        <p:nvSpPr>
          <p:cNvPr id="3" name="Subtitle 2"/>
          <p:cNvSpPr>
            <a:spLocks noGrp="1"/>
          </p:cNvSpPr>
          <p:nvPr>
            <p:ph type="subTitle" idx="1"/>
          </p:nvPr>
        </p:nvSpPr>
        <p:spPr/>
        <p:txBody>
          <a:bodyPr>
            <a:normAutofit fontScale="92500" lnSpcReduction="10000"/>
          </a:bodyPr>
          <a:lstStyle/>
          <a:p>
            <a:r>
              <a:rPr lang="en-US" sz="3600" dirty="0"/>
              <a:t>Professional Societies and Code of </a:t>
            </a:r>
            <a:r>
              <a:rPr lang="en-US" sz="3600" dirty="0" smtClean="0"/>
              <a:t>Conduct</a:t>
            </a:r>
          </a:p>
          <a:p>
            <a:endParaRPr lang="en-US" sz="3600" dirty="0"/>
          </a:p>
          <a:p>
            <a:r>
              <a:rPr lang="en-US" sz="3600" smtClean="0"/>
              <a:t>10</a:t>
            </a:r>
            <a:endParaRPr lang="en-MY" sz="3600" dirty="0"/>
          </a:p>
        </p:txBody>
      </p:sp>
    </p:spTree>
    <p:extLst>
      <p:ext uri="{BB962C8B-B14F-4D97-AF65-F5344CB8AC3E}">
        <p14:creationId xmlns:p14="http://schemas.microsoft.com/office/powerpoint/2010/main" val="3592780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932667" y="2244029"/>
            <a:ext cx="10515600" cy="69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a:t>Week 5 </a:t>
            </a:r>
            <a:r>
              <a:rPr lang="en-US" dirty="0" err="1"/>
              <a:t>Lec</a:t>
            </a:r>
            <a:r>
              <a:rPr lang="en-US" dirty="0"/>
              <a:t> 10</a:t>
            </a:r>
          </a:p>
        </p:txBody>
      </p:sp>
      <p:sp>
        <p:nvSpPr>
          <p:cNvPr id="3" name="Content Placeholder 2"/>
          <p:cNvSpPr>
            <a:spLocks noGrp="1"/>
          </p:cNvSpPr>
          <p:nvPr>
            <p:ph idx="1"/>
          </p:nvPr>
        </p:nvSpPr>
        <p:spPr>
          <a:xfrm>
            <a:off x="3374721" y="3238718"/>
            <a:ext cx="6946726" cy="1658959"/>
          </a:xfrm>
        </p:spPr>
        <p:txBody>
          <a:bodyPr>
            <a:normAutofit/>
          </a:bodyPr>
          <a:lstStyle/>
          <a:p>
            <a:pPr>
              <a:defRPr/>
            </a:pPr>
            <a:r>
              <a:rPr lang="en-US" dirty="0"/>
              <a:t>Professional Societies and Code of Conduct</a:t>
            </a:r>
          </a:p>
          <a:p>
            <a:pPr>
              <a:defRPr/>
            </a:pPr>
            <a:r>
              <a:rPr lang="en-US" dirty="0"/>
              <a:t>Rules of Professional Ethics</a:t>
            </a:r>
          </a:p>
          <a:p>
            <a:pPr>
              <a:defRPr/>
            </a:pPr>
            <a:r>
              <a:rPr lang="en-US" dirty="0"/>
              <a:t>Scenarios/Case Studies </a:t>
            </a:r>
          </a:p>
          <a:p>
            <a:pPr>
              <a:defRPr/>
            </a:pPr>
            <a:endParaRPr lang="en-US" dirty="0"/>
          </a:p>
        </p:txBody>
      </p:sp>
    </p:spTree>
    <p:extLst>
      <p:ext uri="{BB962C8B-B14F-4D97-AF65-F5344CB8AC3E}">
        <p14:creationId xmlns:p14="http://schemas.microsoft.com/office/powerpoint/2010/main" val="77329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2C240B3A-15CB-4798-8169-63141DF7E0DF}"/>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    Professional Ethics &amp; Code of Ethics</a:t>
            </a:r>
          </a:p>
        </p:txBody>
      </p:sp>
      <p:sp>
        <p:nvSpPr>
          <p:cNvPr id="3" name="Content Placeholder 2">
            <a:extLst>
              <a:ext uri="{FF2B5EF4-FFF2-40B4-BE49-F238E27FC236}">
                <a16:creationId xmlns:a16="http://schemas.microsoft.com/office/drawing/2014/main" id="{7F42490F-0457-446E-AE24-F16282951EDE}"/>
              </a:ext>
            </a:extLst>
          </p:cNvPr>
          <p:cNvSpPr>
            <a:spLocks noGrp="1"/>
          </p:cNvSpPr>
          <p:nvPr>
            <p:ph idx="1"/>
          </p:nvPr>
        </p:nvSpPr>
        <p:spPr>
          <a:xfrm>
            <a:off x="1260763" y="1681885"/>
            <a:ext cx="8229600" cy="4321175"/>
          </a:xfrm>
        </p:spPr>
        <p:txBody>
          <a:bodyPr>
            <a:normAutofit/>
          </a:bodyPr>
          <a:lstStyle/>
          <a:p>
            <a:pPr>
              <a:lnSpc>
                <a:spcPct val="200000"/>
              </a:lnSpc>
              <a:defRPr/>
            </a:pPr>
            <a:r>
              <a:rPr lang="en-US" dirty="0"/>
              <a:t>Introduction</a:t>
            </a:r>
          </a:p>
          <a:p>
            <a:pPr>
              <a:lnSpc>
                <a:spcPct val="200000"/>
              </a:lnSpc>
              <a:defRPr/>
            </a:pPr>
            <a:r>
              <a:rPr lang="en-US" dirty="0"/>
              <a:t>IEEE Code of Ethics</a:t>
            </a:r>
          </a:p>
          <a:p>
            <a:pPr>
              <a:lnSpc>
                <a:spcPct val="200000"/>
              </a:lnSpc>
              <a:defRPr/>
            </a:pPr>
            <a:r>
              <a:rPr lang="en-US" dirty="0"/>
              <a:t>ACM Code of Ethics</a:t>
            </a:r>
          </a:p>
          <a:p>
            <a:pPr>
              <a:lnSpc>
                <a:spcPct val="200000"/>
              </a:lnSpc>
              <a:defRPr/>
            </a:pPr>
            <a:r>
              <a:rPr lang="en-US" dirty="0"/>
              <a:t>Different Scenarios/ Case Studies</a:t>
            </a:r>
          </a:p>
          <a:p>
            <a:pPr>
              <a:lnSpc>
                <a:spcPct val="200000"/>
              </a:lnSpc>
              <a:defRPr/>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52F9DC3A-8498-4408-AE4C-E17AD2AA7874}"/>
              </a:ext>
            </a:extLst>
          </p:cNvPr>
          <p:cNvSpPr>
            <a:spLocks noGrp="1"/>
          </p:cNvSpPr>
          <p:nvPr>
            <p:ph type="title"/>
          </p:nvPr>
        </p:nvSpPr>
        <p:spPr bwMode="auto">
          <a:xfrm>
            <a:off x="1981200" y="304947"/>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Introduction</a:t>
            </a:r>
          </a:p>
        </p:txBody>
      </p:sp>
      <p:sp>
        <p:nvSpPr>
          <p:cNvPr id="3" name="Content Placeholder 2">
            <a:extLst>
              <a:ext uri="{FF2B5EF4-FFF2-40B4-BE49-F238E27FC236}">
                <a16:creationId xmlns:a16="http://schemas.microsoft.com/office/drawing/2014/main" id="{D07BB013-A1FA-4CBD-AB9B-C01BBCAF34BD}"/>
              </a:ext>
            </a:extLst>
          </p:cNvPr>
          <p:cNvSpPr>
            <a:spLocks noGrp="1"/>
          </p:cNvSpPr>
          <p:nvPr>
            <p:ph idx="1"/>
          </p:nvPr>
        </p:nvSpPr>
        <p:spPr>
          <a:xfrm>
            <a:off x="1981200" y="1254994"/>
            <a:ext cx="8229600" cy="4968875"/>
          </a:xfrm>
        </p:spPr>
        <p:txBody>
          <a:bodyPr/>
          <a:lstStyle/>
          <a:p>
            <a:pPr>
              <a:defRPr/>
            </a:pPr>
            <a:r>
              <a:rPr lang="en-US" b="1" dirty="0"/>
              <a:t>Law</a:t>
            </a:r>
            <a:r>
              <a:rPr lang="en-US" dirty="0"/>
              <a:t>:</a:t>
            </a:r>
          </a:p>
          <a:p>
            <a:pPr marL="0" indent="0">
              <a:lnSpc>
                <a:spcPct val="80000"/>
              </a:lnSpc>
              <a:buNone/>
              <a:defRPr/>
            </a:pPr>
            <a:r>
              <a:rPr lang="en-US" altLang="en-US" dirty="0"/>
              <a:t>      Rules that mandate or prohibit certain behavior in society.</a:t>
            </a:r>
          </a:p>
          <a:p>
            <a:pPr marL="457200" lvl="1" indent="0">
              <a:lnSpc>
                <a:spcPct val="80000"/>
              </a:lnSpc>
              <a:buNone/>
              <a:defRPr/>
            </a:pPr>
            <a:r>
              <a:rPr lang="en-US" altLang="en-US" dirty="0"/>
              <a:t>    </a:t>
            </a:r>
            <a:endParaRPr lang="en-US" dirty="0"/>
          </a:p>
          <a:p>
            <a:pPr>
              <a:defRPr/>
            </a:pPr>
            <a:r>
              <a:rPr lang="en-US" b="1" dirty="0"/>
              <a:t>Moral Values:</a:t>
            </a:r>
          </a:p>
          <a:p>
            <a:pPr marL="0" indent="0">
              <a:buNone/>
              <a:defRPr/>
            </a:pPr>
            <a:r>
              <a:rPr lang="en-US" altLang="en-US" dirty="0"/>
              <a:t>     The fixed moral attitudes or customs of a particular group</a:t>
            </a:r>
          </a:p>
          <a:p>
            <a:pPr marL="0" indent="0">
              <a:buNone/>
              <a:defRPr/>
            </a:pPr>
            <a:endParaRPr lang="en-US" dirty="0"/>
          </a:p>
          <a:p>
            <a:pPr>
              <a:defRPr/>
            </a:pPr>
            <a:r>
              <a:rPr lang="en-US" b="1" dirty="0"/>
              <a:t>Ethics:</a:t>
            </a:r>
          </a:p>
          <a:p>
            <a:pPr marL="0" indent="0">
              <a:buNone/>
              <a:defRPr/>
            </a:pPr>
            <a:r>
              <a:rPr lang="en-US" altLang="en-US" dirty="0"/>
              <a:t>     Define socially acceptable behaviors.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B83121A3-D0BD-47BF-BD96-4DA9F641594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Code of Ethics</a:t>
            </a:r>
          </a:p>
        </p:txBody>
      </p:sp>
      <p:sp>
        <p:nvSpPr>
          <p:cNvPr id="3" name="Content Placeholder 2">
            <a:extLst>
              <a:ext uri="{FF2B5EF4-FFF2-40B4-BE49-F238E27FC236}">
                <a16:creationId xmlns:a16="http://schemas.microsoft.com/office/drawing/2014/main" id="{81AE04B7-1CE9-4D14-95DF-BD316E7E3F94}"/>
              </a:ext>
            </a:extLst>
          </p:cNvPr>
          <p:cNvSpPr>
            <a:spLocks noGrp="1"/>
          </p:cNvSpPr>
          <p:nvPr>
            <p:ph idx="1"/>
          </p:nvPr>
        </p:nvSpPr>
        <p:spPr>
          <a:xfrm>
            <a:off x="1981201" y="1690688"/>
            <a:ext cx="8435975" cy="5040313"/>
          </a:xfrm>
        </p:spPr>
        <p:txBody>
          <a:bodyPr/>
          <a:lstStyle/>
          <a:p>
            <a:pPr>
              <a:lnSpc>
                <a:spcPct val="150000"/>
              </a:lnSpc>
              <a:spcBef>
                <a:spcPct val="10000"/>
              </a:spcBef>
              <a:defRPr/>
            </a:pPr>
            <a:r>
              <a:rPr lang="en-US" altLang="en-US" dirty="0"/>
              <a:t>Established by various professional organizations</a:t>
            </a:r>
          </a:p>
          <a:p>
            <a:pPr lvl="1">
              <a:lnSpc>
                <a:spcPct val="150000"/>
              </a:lnSpc>
              <a:spcBef>
                <a:spcPct val="10000"/>
              </a:spcBef>
              <a:defRPr/>
            </a:pPr>
            <a:r>
              <a:rPr lang="en-US" altLang="en-US" dirty="0"/>
              <a:t>Produce a positive effect on judgment.</a:t>
            </a:r>
          </a:p>
          <a:p>
            <a:pPr lvl="1">
              <a:lnSpc>
                <a:spcPct val="150000"/>
              </a:lnSpc>
              <a:spcBef>
                <a:spcPct val="10000"/>
              </a:spcBef>
              <a:defRPr/>
            </a:pPr>
            <a:r>
              <a:rPr lang="en-US" altLang="en-US" dirty="0"/>
              <a:t>Establishes responsibility of professionals to act ethically according to the policies and procedures of their employers, professional organizations, and laws of society.</a:t>
            </a:r>
          </a:p>
          <a:p>
            <a:pPr lvl="1">
              <a:lnSpc>
                <a:spcPct val="150000"/>
              </a:lnSpc>
              <a:spcBef>
                <a:spcPct val="10000"/>
              </a:spcBef>
              <a:defRPr/>
            </a:pPr>
            <a:r>
              <a:rPr lang="en-US" altLang="en-US" dirty="0"/>
              <a:t>Organizations assume responsibility to develop, disseminate, and enforce policies.</a:t>
            </a:r>
          </a:p>
          <a:p>
            <a:pPr>
              <a:defRP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EF8EE3B7-BFD9-45A0-A009-FB3FA5C44EB8}"/>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a:t>Code of Ethics’ Goals</a:t>
            </a:r>
            <a:r>
              <a:rPr lang="en-US" altLang="en-US"/>
              <a:t/>
            </a:r>
            <a:br>
              <a:rPr lang="en-US" altLang="en-US"/>
            </a:br>
            <a:endParaRPr lang="en-US" altLang="en-US"/>
          </a:p>
        </p:txBody>
      </p:sp>
      <p:sp>
        <p:nvSpPr>
          <p:cNvPr id="3" name="Content Placeholder 2">
            <a:extLst>
              <a:ext uri="{FF2B5EF4-FFF2-40B4-BE49-F238E27FC236}">
                <a16:creationId xmlns:a16="http://schemas.microsoft.com/office/drawing/2014/main" id="{29CDDC57-7C53-419D-BE69-842D3D2DF564}"/>
              </a:ext>
            </a:extLst>
          </p:cNvPr>
          <p:cNvSpPr>
            <a:spLocks noGrp="1"/>
          </p:cNvSpPr>
          <p:nvPr>
            <p:ph idx="1"/>
          </p:nvPr>
        </p:nvSpPr>
        <p:spPr>
          <a:xfrm>
            <a:off x="1981200" y="1369002"/>
            <a:ext cx="8229600" cy="5761038"/>
          </a:xfrm>
        </p:spPr>
        <p:txBody>
          <a:bodyPr/>
          <a:lstStyle/>
          <a:p>
            <a:pPr marL="0" indent="0" algn="just">
              <a:buNone/>
              <a:defRPr/>
            </a:pPr>
            <a:r>
              <a:rPr lang="en-US" dirty="0"/>
              <a:t>Provides an aid to individual decision making, presentation addresses nine different cases (with some overlap).</a:t>
            </a:r>
          </a:p>
          <a:p>
            <a:pPr>
              <a:defRPr/>
            </a:pPr>
            <a:r>
              <a:rPr lang="en-US" sz="2000" dirty="0"/>
              <a:t>Intellectual property</a:t>
            </a:r>
          </a:p>
          <a:p>
            <a:pPr>
              <a:defRPr/>
            </a:pPr>
            <a:r>
              <a:rPr lang="en-US" sz="2000" dirty="0"/>
              <a:t>Privacy</a:t>
            </a:r>
          </a:p>
          <a:p>
            <a:pPr>
              <a:defRPr/>
            </a:pPr>
            <a:r>
              <a:rPr lang="en-US" sz="2000" dirty="0"/>
              <a:t>Confidentiality</a:t>
            </a:r>
          </a:p>
          <a:p>
            <a:pPr>
              <a:defRPr/>
            </a:pPr>
            <a:r>
              <a:rPr lang="en-US" sz="2000" dirty="0"/>
              <a:t>Professional quality</a:t>
            </a:r>
          </a:p>
          <a:p>
            <a:pPr>
              <a:defRPr/>
            </a:pPr>
            <a:r>
              <a:rPr lang="en-US" sz="2000" dirty="0"/>
              <a:t>Fairness or discrimination</a:t>
            </a:r>
          </a:p>
          <a:p>
            <a:pPr>
              <a:defRPr/>
            </a:pPr>
            <a:r>
              <a:rPr lang="en-US" sz="2000" dirty="0"/>
              <a:t>Liability</a:t>
            </a:r>
          </a:p>
          <a:p>
            <a:pPr>
              <a:defRPr/>
            </a:pPr>
            <a:r>
              <a:rPr lang="en-US" sz="2000" dirty="0"/>
              <a:t>Software risks</a:t>
            </a:r>
          </a:p>
          <a:p>
            <a:pPr>
              <a:defRPr/>
            </a:pPr>
            <a:r>
              <a:rPr lang="en-US" sz="2000" dirty="0"/>
              <a:t>Conflicts of interest</a:t>
            </a:r>
          </a:p>
          <a:p>
            <a:pPr>
              <a:defRPr/>
            </a:pPr>
            <a:r>
              <a:rPr lang="en-US" sz="2000" dirty="0"/>
              <a:t>Unauthorized access to computer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C65F8F95-7FF2-466B-91BB-125F94B3DAD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IEEE Code of Ethics</a:t>
            </a:r>
          </a:p>
        </p:txBody>
      </p:sp>
      <p:sp>
        <p:nvSpPr>
          <p:cNvPr id="3" name="Content Placeholder 2">
            <a:extLst>
              <a:ext uri="{FF2B5EF4-FFF2-40B4-BE49-F238E27FC236}">
                <a16:creationId xmlns:a16="http://schemas.microsoft.com/office/drawing/2014/main" id="{373A2144-EF9E-4371-AB0A-5AFA8CD11348}"/>
              </a:ext>
            </a:extLst>
          </p:cNvPr>
          <p:cNvSpPr>
            <a:spLocks noGrp="1"/>
          </p:cNvSpPr>
          <p:nvPr>
            <p:ph idx="1"/>
          </p:nvPr>
        </p:nvSpPr>
        <p:spPr>
          <a:xfrm>
            <a:off x="1981201" y="1600200"/>
            <a:ext cx="8435975" cy="4421188"/>
          </a:xfrm>
        </p:spPr>
        <p:txBody>
          <a:bodyPr>
            <a:normAutofit lnSpcReduction="10000"/>
          </a:bodyPr>
          <a:lstStyle/>
          <a:p>
            <a:pPr>
              <a:defRPr/>
            </a:pPr>
            <a:r>
              <a:rPr lang="en-US" dirty="0">
                <a:solidFill>
                  <a:schemeClr val="accent6"/>
                </a:solidFill>
              </a:rPr>
              <a:t>IEEE Code of Ethics: Actions</a:t>
            </a:r>
          </a:p>
          <a:p>
            <a:pPr marL="0" indent="0">
              <a:buNone/>
              <a:defRPr/>
            </a:pPr>
            <a:r>
              <a:rPr lang="en-US" dirty="0"/>
              <a:t>1. PUBLIC - Software engineers shall act consistently with the public interest.</a:t>
            </a:r>
          </a:p>
          <a:p>
            <a:pPr marL="0" indent="0">
              <a:buNone/>
              <a:defRPr/>
            </a:pPr>
            <a:r>
              <a:rPr lang="en-US" dirty="0"/>
              <a:t>2. CLIENT AND EMPLOYER - Software engineers shall act in a manner that is in the best interests of their client and employer consistent with the public interest.</a:t>
            </a:r>
          </a:p>
          <a:p>
            <a:pPr>
              <a:defRPr/>
            </a:pPr>
            <a:r>
              <a:rPr lang="en-US" dirty="0">
                <a:solidFill>
                  <a:schemeClr val="accent6"/>
                </a:solidFill>
              </a:rPr>
              <a:t>IEEE Code of Ethics: Products</a:t>
            </a:r>
          </a:p>
          <a:p>
            <a:pPr marL="0" indent="0">
              <a:buNone/>
              <a:defRPr/>
            </a:pPr>
            <a:r>
              <a:rPr lang="en-US" dirty="0"/>
              <a:t>3. PRODUCT - Software engineers shall ensure that their products and related modifications meet the highest professional standards.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6EE150D-1375-4C62-A2C0-0A707AC19908}"/>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Continued…</a:t>
            </a:r>
          </a:p>
        </p:txBody>
      </p:sp>
      <p:sp>
        <p:nvSpPr>
          <p:cNvPr id="3" name="Content Placeholder 2">
            <a:extLst>
              <a:ext uri="{FF2B5EF4-FFF2-40B4-BE49-F238E27FC236}">
                <a16:creationId xmlns:a16="http://schemas.microsoft.com/office/drawing/2014/main" id="{39C90842-5349-4348-9B52-D204C1EFDFE6}"/>
              </a:ext>
            </a:extLst>
          </p:cNvPr>
          <p:cNvSpPr>
            <a:spLocks noGrp="1"/>
          </p:cNvSpPr>
          <p:nvPr>
            <p:ph idx="1"/>
          </p:nvPr>
        </p:nvSpPr>
        <p:spPr/>
        <p:txBody>
          <a:bodyPr/>
          <a:lstStyle/>
          <a:p>
            <a:pPr>
              <a:defRPr/>
            </a:pPr>
            <a:r>
              <a:rPr lang="en-US" dirty="0">
                <a:solidFill>
                  <a:schemeClr val="accent6"/>
                </a:solidFill>
              </a:rPr>
              <a:t>IEEE Code of Ethics: Hierarchy</a:t>
            </a:r>
          </a:p>
          <a:p>
            <a:pPr marL="0" indent="0">
              <a:buNone/>
              <a:defRPr/>
            </a:pPr>
            <a:r>
              <a:rPr lang="en-US" dirty="0"/>
              <a:t>4. JUDGMENT - Software engineers shall maintain integrity and independence in their professional judgment.</a:t>
            </a:r>
          </a:p>
          <a:p>
            <a:pPr marL="0" indent="0">
              <a:buNone/>
              <a:defRPr/>
            </a:pPr>
            <a:r>
              <a:rPr lang="en-US" dirty="0"/>
              <a:t>5. MANAGEMENT - Software engineering managers and leaders shall subscribe to and promote an ethical approach to the management of software development and maintenance.</a:t>
            </a:r>
          </a:p>
          <a:p>
            <a:pPr>
              <a:defRPr/>
            </a:pPr>
            <a:r>
              <a:rPr lang="en-US" dirty="0">
                <a:solidFill>
                  <a:schemeClr val="accent6"/>
                </a:solidFill>
              </a:rPr>
              <a:t>IEEE Code of Ethics: Peers</a:t>
            </a:r>
          </a:p>
          <a:p>
            <a:pPr marL="0" indent="0">
              <a:buNone/>
              <a:defRPr/>
            </a:pPr>
            <a:r>
              <a:rPr lang="en-US" dirty="0"/>
              <a:t>6. PROFESSION - Software engineers shall advance the integrity and reputation of the profession consistent with the public interest.</a:t>
            </a:r>
          </a:p>
          <a:p>
            <a:pPr marL="0" indent="0">
              <a:buNone/>
              <a:defRPr/>
            </a:pPr>
            <a:endParaRPr lang="en-US" dirty="0"/>
          </a:p>
          <a:p>
            <a:pPr>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F1E6D21-39FE-4CEF-8AF3-F3D5E7F0438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Continued…</a:t>
            </a:r>
          </a:p>
        </p:txBody>
      </p:sp>
      <p:sp>
        <p:nvSpPr>
          <p:cNvPr id="3" name="Content Placeholder 2">
            <a:extLst>
              <a:ext uri="{FF2B5EF4-FFF2-40B4-BE49-F238E27FC236}">
                <a16:creationId xmlns:a16="http://schemas.microsoft.com/office/drawing/2014/main" id="{054A9457-3506-47C5-9A8B-D460EC50EFF5}"/>
              </a:ext>
            </a:extLst>
          </p:cNvPr>
          <p:cNvSpPr>
            <a:spLocks noGrp="1"/>
          </p:cNvSpPr>
          <p:nvPr>
            <p:ph idx="1"/>
          </p:nvPr>
        </p:nvSpPr>
        <p:spPr/>
        <p:txBody>
          <a:bodyPr/>
          <a:lstStyle/>
          <a:p>
            <a:pPr marL="0" indent="0">
              <a:buNone/>
              <a:defRPr/>
            </a:pPr>
            <a:r>
              <a:rPr lang="en-US" b="1" dirty="0"/>
              <a:t>7. </a:t>
            </a:r>
            <a:r>
              <a:rPr lang="en-US" dirty="0"/>
              <a:t>COLLEAGUES - Software engineers shall be fair to and supportive of their colleagues.</a:t>
            </a:r>
          </a:p>
          <a:p>
            <a:pPr>
              <a:defRPr/>
            </a:pPr>
            <a:r>
              <a:rPr lang="en-US" dirty="0">
                <a:solidFill>
                  <a:schemeClr val="accent6"/>
                </a:solidFill>
              </a:rPr>
              <a:t>IEEE Code of Ethics: Self</a:t>
            </a:r>
          </a:p>
          <a:p>
            <a:pPr marL="0" indent="0">
              <a:buNone/>
              <a:defRPr/>
            </a:pPr>
            <a:r>
              <a:rPr lang="en-US" dirty="0"/>
              <a:t>8. SELF - Software engineers shall participate in lifelong learning regarding the practice of their profession and shall promote an ethical approach to the practice of the profession.</a:t>
            </a:r>
          </a:p>
          <a:p>
            <a:pPr>
              <a:defRP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F8971F3-9A6A-456B-98D3-25BDFC7EDB4F}"/>
              </a:ext>
            </a:extLst>
          </p:cNvPr>
          <p:cNvSpPr>
            <a:spLocks noGrp="1"/>
          </p:cNvSpPr>
          <p:nvPr>
            <p:ph type="title"/>
          </p:nvPr>
        </p:nvSpPr>
        <p:spPr bwMode="auto">
          <a:xfrm>
            <a:off x="838200" y="365125"/>
            <a:ext cx="10515600" cy="90025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Principles of IEEE Code of Ethics </a:t>
            </a:r>
          </a:p>
        </p:txBody>
      </p:sp>
      <p:sp>
        <p:nvSpPr>
          <p:cNvPr id="3" name="Content Placeholder 2">
            <a:extLst>
              <a:ext uri="{FF2B5EF4-FFF2-40B4-BE49-F238E27FC236}">
                <a16:creationId xmlns:a16="http://schemas.microsoft.com/office/drawing/2014/main" id="{F80A8935-A899-4734-8C0F-424A3E3C1E41}"/>
              </a:ext>
            </a:extLst>
          </p:cNvPr>
          <p:cNvSpPr>
            <a:spLocks noGrp="1"/>
          </p:cNvSpPr>
          <p:nvPr>
            <p:ph idx="1"/>
          </p:nvPr>
        </p:nvSpPr>
        <p:spPr>
          <a:xfrm>
            <a:off x="1981200" y="1196976"/>
            <a:ext cx="8229600" cy="4824413"/>
          </a:xfrm>
        </p:spPr>
        <p:txBody>
          <a:bodyPr/>
          <a:lstStyle/>
          <a:p>
            <a:pPr>
              <a:defRPr/>
            </a:pPr>
            <a:r>
              <a:rPr lang="en-US" dirty="0"/>
              <a:t>Act in public interest</a:t>
            </a:r>
          </a:p>
          <a:p>
            <a:pPr>
              <a:defRPr/>
            </a:pPr>
            <a:r>
              <a:rPr lang="en-US" dirty="0"/>
              <a:t>Act in interest of clients and employers</a:t>
            </a:r>
          </a:p>
          <a:p>
            <a:pPr>
              <a:defRPr/>
            </a:pPr>
            <a:r>
              <a:rPr lang="en-US" dirty="0"/>
              <a:t>Produce quality products</a:t>
            </a:r>
          </a:p>
          <a:p>
            <a:pPr>
              <a:defRPr/>
            </a:pPr>
            <a:r>
              <a:rPr lang="en-US" dirty="0"/>
              <a:t>Maintain independent judgment</a:t>
            </a:r>
          </a:p>
          <a:p>
            <a:pPr>
              <a:defRPr/>
            </a:pPr>
            <a:r>
              <a:rPr lang="en-US" dirty="0"/>
              <a:t>Manage ethically</a:t>
            </a:r>
          </a:p>
          <a:p>
            <a:pPr>
              <a:defRPr/>
            </a:pPr>
            <a:r>
              <a:rPr lang="en-US" dirty="0"/>
              <a:t>Protect integrity of profession</a:t>
            </a:r>
          </a:p>
          <a:p>
            <a:pPr>
              <a:defRPr/>
            </a:pPr>
            <a:r>
              <a:rPr lang="en-US" dirty="0"/>
              <a:t>Support colleagues</a:t>
            </a:r>
          </a:p>
          <a:p>
            <a:pPr>
              <a:defRPr/>
            </a:pPr>
            <a:r>
              <a:rPr lang="en-US" dirty="0"/>
              <a:t>Pursue lifelong learning</a:t>
            </a:r>
          </a:p>
          <a:p>
            <a:pPr>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ACM Code of Ethics and Professional Conduct</a:t>
            </a:r>
          </a:p>
        </p:txBody>
      </p:sp>
      <p:sp>
        <p:nvSpPr>
          <p:cNvPr id="3" name="Content Placeholder 2"/>
          <p:cNvSpPr>
            <a:spLocks noGrp="1"/>
          </p:cNvSpPr>
          <p:nvPr>
            <p:ph idx="1"/>
          </p:nvPr>
        </p:nvSpPr>
        <p:spPr/>
        <p:txBody>
          <a:bodyPr/>
          <a:lstStyle/>
          <a:p>
            <a:pPr algn="just"/>
            <a:r>
              <a:rPr lang="en-US" dirty="0"/>
              <a:t>Computing professionals' actions change the world. To act responsibly, they should reflect upon the wider impacts of their work, consistently supporting the public good. The ACM Code of Ethics and Professional Conduct ("the Code") expresses the conscience of the profession.</a:t>
            </a:r>
          </a:p>
          <a:p>
            <a:pPr algn="just"/>
            <a:r>
              <a:rPr lang="en-US" dirty="0"/>
              <a:t>Reading Assignment</a:t>
            </a:r>
          </a:p>
          <a:p>
            <a:pPr marL="0" indent="0">
              <a:buNone/>
            </a:pPr>
            <a:r>
              <a:rPr lang="en-US" b="1" dirty="0"/>
              <a:t>   ACM Code of Ethics and Professional Conduct</a:t>
            </a:r>
          </a:p>
          <a:p>
            <a:pPr marL="0" indent="0">
              <a:buNone/>
            </a:pPr>
            <a:r>
              <a:rPr lang="en-US" dirty="0"/>
              <a:t>  At: https://www.acm.org/code-of-ethics</a:t>
            </a:r>
          </a:p>
          <a:p>
            <a:pPr marL="0" indent="0">
              <a:buNone/>
            </a:pPr>
            <a:endParaRPr lang="en-US" dirty="0"/>
          </a:p>
        </p:txBody>
      </p:sp>
    </p:spTree>
    <p:extLst>
      <p:ext uri="{BB962C8B-B14F-4D97-AF65-F5344CB8AC3E}">
        <p14:creationId xmlns:p14="http://schemas.microsoft.com/office/powerpoint/2010/main" val="1321163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6DE254C-5FA2-493E-8DEB-2CF732E26FC4}"/>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ACM Code of Ethics</a:t>
            </a:r>
          </a:p>
        </p:txBody>
      </p:sp>
      <p:sp>
        <p:nvSpPr>
          <p:cNvPr id="3" name="Content Placeholder 2">
            <a:extLst>
              <a:ext uri="{FF2B5EF4-FFF2-40B4-BE49-F238E27FC236}">
                <a16:creationId xmlns:a16="http://schemas.microsoft.com/office/drawing/2014/main" id="{DCB6CE14-7B62-4A30-A508-7BEFC9F0B6C4}"/>
              </a:ext>
            </a:extLst>
          </p:cNvPr>
          <p:cNvSpPr>
            <a:spLocks noGrp="1"/>
          </p:cNvSpPr>
          <p:nvPr>
            <p:ph idx="1"/>
          </p:nvPr>
        </p:nvSpPr>
        <p:spPr>
          <a:xfrm>
            <a:off x="1981200" y="1524000"/>
            <a:ext cx="8229600" cy="4968875"/>
          </a:xfrm>
        </p:spPr>
        <p:txBody>
          <a:bodyPr>
            <a:normAutofit lnSpcReduction="10000"/>
          </a:bodyPr>
          <a:lstStyle/>
          <a:p>
            <a:pPr marL="0" indent="0">
              <a:buNone/>
              <a:defRPr/>
            </a:pPr>
            <a:r>
              <a:rPr lang="en-US" b="1" u="sng" dirty="0"/>
              <a:t>General moral imperatives</a:t>
            </a:r>
            <a:r>
              <a:rPr lang="en-US" b="1" dirty="0"/>
              <a:t>: “As an ACM member I will…”</a:t>
            </a:r>
          </a:p>
          <a:p>
            <a:pPr>
              <a:defRPr/>
            </a:pPr>
            <a:r>
              <a:rPr lang="en-US" dirty="0"/>
              <a:t>Contribute to society and human well-being.</a:t>
            </a:r>
          </a:p>
          <a:p>
            <a:pPr>
              <a:defRPr/>
            </a:pPr>
            <a:r>
              <a:rPr lang="en-US" dirty="0"/>
              <a:t>Avoid harm to others.</a:t>
            </a:r>
          </a:p>
          <a:p>
            <a:pPr>
              <a:defRPr/>
            </a:pPr>
            <a:r>
              <a:rPr lang="en-US" dirty="0"/>
              <a:t>Be honest and trustworthy.</a:t>
            </a:r>
          </a:p>
          <a:p>
            <a:pPr>
              <a:defRPr/>
            </a:pPr>
            <a:r>
              <a:rPr lang="en-US" dirty="0"/>
              <a:t>Be fair and take action not to discriminate.</a:t>
            </a:r>
          </a:p>
          <a:p>
            <a:pPr>
              <a:defRPr/>
            </a:pPr>
            <a:r>
              <a:rPr lang="en-US" dirty="0"/>
              <a:t>Honor property rights including copyrights and patents.</a:t>
            </a:r>
          </a:p>
          <a:p>
            <a:pPr>
              <a:defRPr/>
            </a:pPr>
            <a:r>
              <a:rPr lang="en-US" dirty="0"/>
              <a:t>Give proper credit for intellectual property.</a:t>
            </a:r>
          </a:p>
          <a:p>
            <a:pPr>
              <a:defRPr/>
            </a:pPr>
            <a:r>
              <a:rPr lang="en-US" dirty="0"/>
              <a:t>Respect the privacy of others.</a:t>
            </a:r>
          </a:p>
          <a:p>
            <a:pPr>
              <a:defRPr/>
            </a:pPr>
            <a:r>
              <a:rPr lang="en-US" dirty="0"/>
              <a:t>Honor confidentiality.</a:t>
            </a:r>
          </a:p>
          <a:p>
            <a:pPr marL="0" indent="0">
              <a:buNone/>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12E2C6-7C5D-44BD-8C71-293D735CDE6C}"/>
              </a:ext>
            </a:extLst>
          </p:cNvPr>
          <p:cNvSpPr>
            <a:spLocks noGrp="1"/>
          </p:cNvSpPr>
          <p:nvPr>
            <p:ph idx="1"/>
          </p:nvPr>
        </p:nvSpPr>
        <p:spPr>
          <a:xfrm>
            <a:off x="1339273" y="512762"/>
            <a:ext cx="9041389" cy="5832475"/>
          </a:xfrm>
        </p:spPr>
        <p:txBody>
          <a:bodyPr/>
          <a:lstStyle/>
          <a:p>
            <a:pPr marL="0" indent="0" algn="just">
              <a:buNone/>
              <a:defRPr/>
            </a:pPr>
            <a:r>
              <a:rPr lang="en-US" b="1" u="sng" dirty="0"/>
              <a:t>Specific professional responsibilities</a:t>
            </a:r>
            <a:r>
              <a:rPr lang="en-US" b="1" dirty="0"/>
              <a:t>: “As an ACM computing professional I will”:</a:t>
            </a:r>
          </a:p>
          <a:p>
            <a:pPr marL="0" indent="0" algn="just">
              <a:buNone/>
              <a:defRPr/>
            </a:pPr>
            <a:endParaRPr lang="en-US" b="1" dirty="0"/>
          </a:p>
          <a:p>
            <a:pPr>
              <a:defRPr/>
            </a:pPr>
            <a:r>
              <a:rPr lang="en-US" sz="2000" dirty="0"/>
              <a:t>Strive to achieve the highest quality, effectiveness and dignity in both the process and products of professional work.</a:t>
            </a:r>
          </a:p>
          <a:p>
            <a:pPr>
              <a:defRPr/>
            </a:pPr>
            <a:r>
              <a:rPr lang="en-US" sz="2000" dirty="0"/>
              <a:t>Acquire and maintain professional competence.</a:t>
            </a:r>
          </a:p>
          <a:p>
            <a:pPr>
              <a:defRPr/>
            </a:pPr>
            <a:r>
              <a:rPr lang="en-US" sz="2000" dirty="0"/>
              <a:t>Know and respect existing laws pertaining to professional work.</a:t>
            </a:r>
          </a:p>
          <a:p>
            <a:pPr>
              <a:defRPr/>
            </a:pPr>
            <a:r>
              <a:rPr lang="en-US" sz="2000" dirty="0"/>
              <a:t>Accept and provide appropriate professional review.</a:t>
            </a:r>
          </a:p>
          <a:p>
            <a:pPr>
              <a:defRPr/>
            </a:pPr>
            <a:r>
              <a:rPr lang="en-US" sz="2000" dirty="0"/>
              <a:t>Give comprehensive and thorough evaluations of computer system and their impacts, including analysis of possible risks.</a:t>
            </a:r>
          </a:p>
          <a:p>
            <a:pPr>
              <a:defRPr/>
            </a:pPr>
            <a:r>
              <a:rPr lang="en-US" sz="2000" dirty="0"/>
              <a:t>Honor contracts, agreements, and assigned responsibilities.</a:t>
            </a:r>
          </a:p>
          <a:p>
            <a:pPr>
              <a:defRPr/>
            </a:pPr>
            <a:r>
              <a:rPr lang="en-US" sz="2000" dirty="0"/>
              <a:t>Improve public understanding of computing and its consequences.</a:t>
            </a:r>
          </a:p>
          <a:p>
            <a:pPr>
              <a:defRPr/>
            </a:pPr>
            <a:r>
              <a:rPr lang="en-US" sz="2000" dirty="0"/>
              <a:t>Access computing and communication resources only when authorized to do so.</a:t>
            </a:r>
          </a:p>
          <a:p>
            <a:pPr marL="0" indent="0">
              <a:buNone/>
              <a:defRPr/>
            </a:pPr>
            <a:endParaRPr lang="en-US" dirty="0"/>
          </a:p>
          <a:p>
            <a:pPr marL="0" indent="0">
              <a:buNone/>
              <a:defRPr/>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5F30A9-CD28-4F74-97E6-36FA981101C1}"/>
              </a:ext>
            </a:extLst>
          </p:cNvPr>
          <p:cNvSpPr>
            <a:spLocks noGrp="1"/>
          </p:cNvSpPr>
          <p:nvPr>
            <p:ph idx="1"/>
          </p:nvPr>
        </p:nvSpPr>
        <p:spPr>
          <a:xfrm>
            <a:off x="2063751" y="11114"/>
            <a:ext cx="8424863" cy="6408737"/>
          </a:xfrm>
        </p:spPr>
        <p:txBody>
          <a:bodyPr/>
          <a:lstStyle/>
          <a:p>
            <a:pPr marL="0" indent="0">
              <a:buNone/>
              <a:defRPr/>
            </a:pPr>
            <a:r>
              <a:rPr lang="en-US" b="1" u="sng" dirty="0"/>
              <a:t>Organization leadership imperatives</a:t>
            </a:r>
            <a:r>
              <a:rPr lang="en-US" b="1" dirty="0"/>
              <a:t>: “As an ACM member and an organizational leader, I will:”</a:t>
            </a:r>
          </a:p>
          <a:p>
            <a:pPr marL="0" indent="0">
              <a:buNone/>
              <a:defRPr/>
            </a:pPr>
            <a:endParaRPr lang="en-US" b="1" dirty="0"/>
          </a:p>
          <a:p>
            <a:pPr algn="just">
              <a:defRPr/>
            </a:pPr>
            <a:r>
              <a:rPr lang="en-US" sz="1800" dirty="0"/>
              <a:t>Articulate social responsibilities of members of an organizational unit and encourage full acceptance of those responsibilities.</a:t>
            </a:r>
          </a:p>
          <a:p>
            <a:pPr algn="just">
              <a:defRPr/>
            </a:pPr>
            <a:r>
              <a:rPr lang="en-US" sz="1800" dirty="0"/>
              <a:t>Manage personnel and resources to design and build information systems that enhance the quality of working life.</a:t>
            </a:r>
          </a:p>
          <a:p>
            <a:pPr algn="just">
              <a:defRPr/>
            </a:pPr>
            <a:r>
              <a:rPr lang="en-US" sz="1800" dirty="0"/>
              <a:t>Acknowledge and support proper and authorized uses of an organization’s computing and communication resources.</a:t>
            </a:r>
          </a:p>
          <a:p>
            <a:pPr algn="just">
              <a:defRPr/>
            </a:pPr>
            <a:r>
              <a:rPr lang="en-US" sz="1800" dirty="0"/>
              <a:t>Ensure that users and those who will be affected by a design have their needs clearly articulated during the assessment and design of requirements; later the system must be validated to meet requirements.</a:t>
            </a:r>
          </a:p>
          <a:p>
            <a:pPr algn="just">
              <a:defRPr/>
            </a:pPr>
            <a:r>
              <a:rPr lang="en-US" sz="1800" dirty="0"/>
              <a:t>Articulate and support policies that protect the dignity of users and others affected by a computing system.</a:t>
            </a:r>
          </a:p>
          <a:p>
            <a:pPr algn="just">
              <a:defRPr/>
            </a:pPr>
            <a:r>
              <a:rPr lang="en-US" sz="1800" dirty="0"/>
              <a:t>Create opportunities for members of the organization to learn the principles and limitations of computer systems.</a:t>
            </a:r>
          </a:p>
          <a:p>
            <a:pPr>
              <a:defRP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EF4704E-85B4-4D13-BE7B-2546C4F8D10F}"/>
              </a:ext>
            </a:extLst>
          </p:cNvPr>
          <p:cNvSpPr>
            <a:spLocks noGrp="1"/>
          </p:cNvSpPr>
          <p:nvPr>
            <p:ph idx="1"/>
          </p:nvPr>
        </p:nvSpPr>
        <p:spPr>
          <a:xfrm>
            <a:off x="1992313" y="404814"/>
            <a:ext cx="8229600" cy="4421187"/>
          </a:xfrm>
        </p:spPr>
        <p:txBody>
          <a:bodyPr/>
          <a:lstStyle/>
          <a:p>
            <a:pPr marL="0" indent="0">
              <a:buNone/>
              <a:defRPr/>
            </a:pPr>
            <a:r>
              <a:rPr lang="en-US" b="1" u="sng" dirty="0"/>
              <a:t>Compliance with the Code</a:t>
            </a:r>
            <a:r>
              <a:rPr lang="en-US" b="1" dirty="0"/>
              <a:t>: “As an ACM member, I will:”</a:t>
            </a:r>
          </a:p>
          <a:p>
            <a:pPr marL="0" indent="0">
              <a:buNone/>
              <a:defRPr/>
            </a:pPr>
            <a:endParaRPr lang="en-US" b="1" dirty="0"/>
          </a:p>
          <a:p>
            <a:pPr>
              <a:defRPr/>
            </a:pPr>
            <a:r>
              <a:rPr lang="en-US" dirty="0"/>
              <a:t>Uphold and promote the principles of this Code.</a:t>
            </a:r>
          </a:p>
          <a:p>
            <a:pPr>
              <a:defRPr/>
            </a:pPr>
            <a:r>
              <a:rPr lang="en-US" dirty="0"/>
              <a:t>Treat violations of this code as inconsistent with membership in the ACM.</a:t>
            </a:r>
          </a:p>
          <a:p>
            <a:pPr marL="0" indent="0">
              <a:buNone/>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0455725-193B-4830-92B3-CEBFAE5152BF}"/>
              </a:ext>
            </a:extLst>
          </p:cNvPr>
          <p:cNvSpPr>
            <a:spLocks noGrp="1"/>
          </p:cNvSpPr>
          <p:nvPr>
            <p:ph type="title"/>
          </p:nvPr>
        </p:nvSpPr>
        <p:spPr>
          <a:xfrm>
            <a:off x="757406" y="102104"/>
            <a:ext cx="10891982" cy="1325563"/>
          </a:xfrm>
        </p:spPr>
        <p:txBody>
          <a:bodyPr/>
          <a:lstStyle/>
          <a:p>
            <a:r>
              <a:rPr kumimoji="0" lang="en-US" altLang="en-US" sz="4400" b="0" i="0" u="none" strike="noStrike" cap="none" normalizeH="0" baseline="0" dirty="0">
                <a:ln>
                  <a:noFill/>
                </a:ln>
                <a:effectLst/>
                <a:latin typeface="Helvetica Neue"/>
              </a:rPr>
              <a:t>10 Golden Rules of Professional Ethics</a:t>
            </a:r>
            <a:endParaRPr lang="en-MY" dirty="0"/>
          </a:p>
        </p:txBody>
      </p:sp>
      <p:sp>
        <p:nvSpPr>
          <p:cNvPr id="7" name="Rectangle 1">
            <a:extLst>
              <a:ext uri="{FF2B5EF4-FFF2-40B4-BE49-F238E27FC236}">
                <a16:creationId xmlns:a16="http://schemas.microsoft.com/office/drawing/2014/main" id="{417966E2-4035-44AB-9434-6A841DD997E2}"/>
              </a:ext>
            </a:extLst>
          </p:cNvPr>
          <p:cNvSpPr>
            <a:spLocks noGrp="1" noChangeArrowheads="1"/>
          </p:cNvSpPr>
          <p:nvPr>
            <p:ph idx="1"/>
          </p:nvPr>
        </p:nvSpPr>
        <p:spPr bwMode="auto">
          <a:xfrm>
            <a:off x="542612" y="1246696"/>
            <a:ext cx="1118757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Always strive for excellence:</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This is the first rule to achieving greatness in whatever endeavor you undertake;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this is the quality that makes you and your work stand out.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Be trustworthy:</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In today’s society, trust is an issue, and any employee who exhibits trustworthiness is on a fast track to professionalism.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Be accountable:</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To be accountable is to stand tall and to be counted for what actions you have undertaken; this is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blameworthiness and responsibility for your actions and its consequences — good or bad.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Be courteous and respectful:</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Courteousness is being friendly, polite, and well mannered with a gracious consideration toward others.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Be honest, open and transparent:</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Honesty is a facet of moral character that connotes positive and virtuous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attributes such as truthfulness, straightforwardness of conduct, loyalty, fairness, sincerity, openness in communication,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and generally operating in a way for others to see what actions are being performed.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Be competent and improve continually:</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Competence is the ability of an individual to do a job properly;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it is a combination of knowledge, skills and behavior used to improve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Always be ethical:</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Ethical behavior is acting within certain moral codes in accordance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with the generally accepted code of conduct or rules.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Always be honorable and act with integrity:</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Honorable action is behaving in a way that portrays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“nobility of soul, magnanimity and a scorn of meanness” which is derived from virtuous conduct and personal integrity.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Be respectful of confidentiality:</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Confidentiality is respecting the set of rules or promises that restrict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you from further and unauthorized dissemination of information.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Set good examples:</a:t>
            </a: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Applying the foregoing rules helps you improve your professionalism within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   your organization, but it is not complete until you impart knowledge on those around and below you.</a:t>
            </a:r>
          </a:p>
        </p:txBody>
      </p:sp>
    </p:spTree>
    <p:extLst>
      <p:ext uri="{BB962C8B-B14F-4D97-AF65-F5344CB8AC3E}">
        <p14:creationId xmlns:p14="http://schemas.microsoft.com/office/powerpoint/2010/main" val="291072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945B1F4-8B32-4E56-BCE9-DAC459F20352}"/>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Ethical decision making: Case 1</a:t>
            </a:r>
            <a:br>
              <a:rPr lang="en-US" altLang="en-US"/>
            </a:br>
            <a:endParaRPr lang="en-US" altLang="en-US"/>
          </a:p>
        </p:txBody>
      </p:sp>
      <p:sp>
        <p:nvSpPr>
          <p:cNvPr id="3" name="Content Placeholder 2">
            <a:extLst>
              <a:ext uri="{FF2B5EF4-FFF2-40B4-BE49-F238E27FC236}">
                <a16:creationId xmlns:a16="http://schemas.microsoft.com/office/drawing/2014/main" id="{619A514B-8C9E-443F-962E-15556E7AB3A5}"/>
              </a:ext>
            </a:extLst>
          </p:cNvPr>
          <p:cNvSpPr>
            <a:spLocks noGrp="1"/>
          </p:cNvSpPr>
          <p:nvPr>
            <p:ph idx="1"/>
          </p:nvPr>
        </p:nvSpPr>
        <p:spPr>
          <a:xfrm>
            <a:off x="1731818" y="1407247"/>
            <a:ext cx="8229600" cy="4895850"/>
          </a:xfrm>
        </p:spPr>
        <p:txBody>
          <a:bodyPr/>
          <a:lstStyle/>
          <a:p>
            <a:pPr>
              <a:defRPr/>
            </a:pPr>
            <a:r>
              <a:rPr lang="en-US" sz="2000" b="1" dirty="0"/>
              <a:t>Ali is a database programmer</a:t>
            </a:r>
          </a:p>
          <a:p>
            <a:pPr marL="0" indent="0">
              <a:buNone/>
              <a:defRPr/>
            </a:pPr>
            <a:r>
              <a:rPr lang="en-US" sz="2000" dirty="0"/>
              <a:t>	Large statistical program needed by his company. </a:t>
            </a:r>
          </a:p>
          <a:p>
            <a:pPr marL="0" indent="0">
              <a:buNone/>
              <a:defRPr/>
            </a:pPr>
            <a:r>
              <a:rPr lang="en-US" sz="2000" dirty="0"/>
              <a:t>	Company programmers are encouraged to publicize their work</a:t>
            </a:r>
          </a:p>
          <a:p>
            <a:pPr>
              <a:defRPr/>
            </a:pPr>
            <a:r>
              <a:rPr lang="en-US" sz="2000" b="1" dirty="0"/>
              <a:t>Ali has found himself stuck on a problem</a:t>
            </a:r>
          </a:p>
          <a:p>
            <a:pPr marL="0" indent="0">
              <a:buNone/>
              <a:defRPr/>
            </a:pPr>
            <a:r>
              <a:rPr lang="en-US" sz="2000" dirty="0"/>
              <a:t>	He has persisted at this for several months.</a:t>
            </a:r>
          </a:p>
          <a:p>
            <a:pPr marL="0" indent="0">
              <a:buNone/>
              <a:defRPr/>
            </a:pPr>
            <a:r>
              <a:rPr lang="en-US" sz="2000" dirty="0"/>
              <a:t>	His manager does not recognize complexity of problem.</a:t>
            </a:r>
          </a:p>
          <a:p>
            <a:pPr marL="0" indent="0">
              <a:buNone/>
              <a:defRPr/>
            </a:pPr>
            <a:r>
              <a:rPr lang="en-US" sz="2000" dirty="0"/>
              <a:t>	She insists job be completed in the few days.</a:t>
            </a:r>
          </a:p>
          <a:p>
            <a:pPr>
              <a:defRPr/>
            </a:pPr>
            <a:r>
              <a:rPr lang="en-US" sz="2000" b="1" dirty="0"/>
              <a:t>Ali remembers:</a:t>
            </a:r>
          </a:p>
          <a:p>
            <a:pPr marL="0" indent="0" algn="just">
              <a:buNone/>
              <a:defRPr/>
            </a:pPr>
            <a:r>
              <a:rPr lang="en-US" sz="2000" dirty="0"/>
              <a:t>	Co-worker had given him source listings of their current work.</a:t>
            </a:r>
          </a:p>
          <a:p>
            <a:pPr marL="0" indent="0" algn="just">
              <a:buNone/>
              <a:defRPr/>
            </a:pPr>
            <a:r>
              <a:rPr lang="en-US" sz="2000" dirty="0"/>
              <a:t>	He also has an early version of commercial software developed at   	another company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BE5C9B-A99D-432F-B98A-B328DBBFA83A}"/>
              </a:ext>
            </a:extLst>
          </p:cNvPr>
          <p:cNvSpPr>
            <a:spLocks noGrp="1"/>
          </p:cNvSpPr>
          <p:nvPr>
            <p:ph idx="1"/>
          </p:nvPr>
        </p:nvSpPr>
        <p:spPr>
          <a:xfrm>
            <a:off x="1981200" y="188914"/>
            <a:ext cx="8229600" cy="5832475"/>
          </a:xfrm>
        </p:spPr>
        <p:txBody>
          <a:bodyPr/>
          <a:lstStyle/>
          <a:p>
            <a:pPr>
              <a:defRPr/>
            </a:pPr>
            <a:endParaRPr lang="en-US" b="1" dirty="0"/>
          </a:p>
          <a:p>
            <a:pPr>
              <a:defRPr/>
            </a:pPr>
            <a:r>
              <a:rPr lang="en-US" b="1" dirty="0"/>
              <a:t>Ali studies these programs</a:t>
            </a:r>
          </a:p>
          <a:p>
            <a:pPr marL="0" indent="0">
              <a:buNone/>
              <a:defRPr/>
            </a:pPr>
            <a:r>
              <a:rPr lang="en-US" b="1" dirty="0"/>
              <a:t>	</a:t>
            </a:r>
            <a:r>
              <a:rPr lang="en-US" dirty="0"/>
              <a:t>Sees two areas of code which could be directly incorporated into his own program</a:t>
            </a:r>
          </a:p>
          <a:p>
            <a:pPr marL="0" indent="0">
              <a:buNone/>
              <a:defRPr/>
            </a:pPr>
            <a:r>
              <a:rPr lang="en-US" dirty="0"/>
              <a:t>	He uses segments of code both from his coworker and from the commercial software</a:t>
            </a:r>
          </a:p>
          <a:p>
            <a:pPr>
              <a:defRPr/>
            </a:pPr>
            <a:r>
              <a:rPr lang="en-US" dirty="0"/>
              <a:t>He does not tell anyone or mention it in the documentation.</a:t>
            </a:r>
          </a:p>
          <a:p>
            <a:pPr>
              <a:defRPr/>
            </a:pPr>
            <a:r>
              <a:rPr lang="en-US" dirty="0"/>
              <a:t>He completes the project and turns it in a day ahead of time.</a:t>
            </a:r>
          </a:p>
          <a:p>
            <a:pPr>
              <a:defRPr/>
            </a:pPr>
            <a:r>
              <a:rPr lang="en-US" dirty="0"/>
              <a:t>How does the Code of Ethics help us understand this case?</a:t>
            </a:r>
          </a:p>
          <a:p>
            <a:pPr>
              <a:defRPr/>
            </a:pPr>
            <a:endParaRPr lang="en-US" dirty="0"/>
          </a:p>
          <a:p>
            <a:pPr>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EF8F4942-3764-4758-8598-4C020490F632}"/>
              </a:ext>
            </a:extLst>
          </p:cNvPr>
          <p:cNvSpPr>
            <a:spLocks noGrp="1"/>
          </p:cNvSpPr>
          <p:nvPr>
            <p:ph type="title"/>
          </p:nvPr>
        </p:nvSpPr>
        <p:spPr bwMode="auto">
          <a:xfrm>
            <a:off x="838200" y="318294"/>
            <a:ext cx="105156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a:t>Applying the code: Case 1</a:t>
            </a:r>
            <a:br>
              <a:rPr lang="en-US" altLang="en-US" b="1"/>
            </a:br>
            <a:endParaRPr lang="en-US" altLang="en-US" b="1"/>
          </a:p>
        </p:txBody>
      </p:sp>
      <p:sp>
        <p:nvSpPr>
          <p:cNvPr id="3" name="Content Placeholder 2">
            <a:extLst>
              <a:ext uri="{FF2B5EF4-FFF2-40B4-BE49-F238E27FC236}">
                <a16:creationId xmlns:a16="http://schemas.microsoft.com/office/drawing/2014/main" id="{A830125F-BC87-4FC5-B5AF-99425B2E44E3}"/>
              </a:ext>
            </a:extLst>
          </p:cNvPr>
          <p:cNvSpPr>
            <a:spLocks noGrp="1"/>
          </p:cNvSpPr>
          <p:nvPr>
            <p:ph idx="1"/>
          </p:nvPr>
        </p:nvSpPr>
        <p:spPr>
          <a:xfrm>
            <a:off x="1981200" y="1285876"/>
            <a:ext cx="8362950" cy="5040313"/>
          </a:xfrm>
        </p:spPr>
        <p:txBody>
          <a:bodyPr>
            <a:normAutofit lnSpcReduction="10000"/>
          </a:bodyPr>
          <a:lstStyle/>
          <a:p>
            <a:pPr>
              <a:defRPr/>
            </a:pPr>
            <a:r>
              <a:rPr lang="en-US" b="1" dirty="0"/>
              <a:t>This case highlights issues involving intellectual property</a:t>
            </a:r>
          </a:p>
          <a:p>
            <a:pPr>
              <a:defRPr/>
            </a:pPr>
            <a:r>
              <a:rPr lang="en-US" b="1" dirty="0"/>
              <a:t>Ali violated professional ethics in two areas:</a:t>
            </a:r>
          </a:p>
          <a:p>
            <a:pPr marL="0" indent="0">
              <a:buNone/>
              <a:defRPr/>
            </a:pPr>
            <a:r>
              <a:rPr lang="en-US" b="1" dirty="0"/>
              <a:t>	1</a:t>
            </a:r>
            <a:r>
              <a:rPr lang="en-US" dirty="0"/>
              <a:t>. Failure to give credit for another’s work</a:t>
            </a:r>
          </a:p>
          <a:p>
            <a:pPr marL="0" indent="0">
              <a:buNone/>
              <a:defRPr/>
            </a:pPr>
            <a:r>
              <a:rPr lang="en-US" dirty="0"/>
              <a:t>	2. Using code from a commercial package that was copyrighted</a:t>
            </a:r>
          </a:p>
          <a:p>
            <a:pPr>
              <a:defRPr/>
            </a:pPr>
            <a:r>
              <a:rPr lang="en-US" b="1" dirty="0"/>
              <a:t>If Ali only “looked” at co-worker’s source code:</a:t>
            </a:r>
          </a:p>
          <a:p>
            <a:pPr marL="0" indent="0">
              <a:buNone/>
              <a:defRPr/>
            </a:pPr>
            <a:r>
              <a:rPr lang="en-US" b="1" dirty="0"/>
              <a:t>	</a:t>
            </a:r>
            <a:r>
              <a:rPr lang="en-US" dirty="0"/>
              <a:t>Could he then write his own program and still have an obligation to give credit?</a:t>
            </a:r>
          </a:p>
          <a:p>
            <a:pPr>
              <a:defRPr/>
            </a:pPr>
            <a:r>
              <a:rPr lang="en-US" b="1" dirty="0"/>
              <a:t>Yes: </a:t>
            </a:r>
            <a:r>
              <a:rPr lang="en-US" dirty="0"/>
              <a:t>He should have acknowledged credit in documentation.</a:t>
            </a:r>
          </a:p>
          <a:p>
            <a:pPr>
              <a:defRPr/>
            </a:pPr>
            <a:endParaRPr lang="en-US" b="1" dirty="0"/>
          </a:p>
          <a:p>
            <a:pPr>
              <a:defRPr/>
            </a:pPr>
            <a:endParaRPr lang="en-US" b="1" dirty="0"/>
          </a:p>
          <a:p>
            <a:pPr>
              <a:defRPr/>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58A785B9-DC6D-4661-A944-F010EB4FED28}"/>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Continued…</a:t>
            </a:r>
          </a:p>
        </p:txBody>
      </p:sp>
      <p:sp>
        <p:nvSpPr>
          <p:cNvPr id="3" name="Content Placeholder 2">
            <a:extLst>
              <a:ext uri="{FF2B5EF4-FFF2-40B4-BE49-F238E27FC236}">
                <a16:creationId xmlns:a16="http://schemas.microsoft.com/office/drawing/2014/main" id="{12200472-3333-4631-A51D-D558A586CC5C}"/>
              </a:ext>
            </a:extLst>
          </p:cNvPr>
          <p:cNvSpPr>
            <a:spLocks noGrp="1"/>
          </p:cNvSpPr>
          <p:nvPr>
            <p:ph idx="1"/>
          </p:nvPr>
        </p:nvSpPr>
        <p:spPr/>
        <p:txBody>
          <a:bodyPr/>
          <a:lstStyle/>
          <a:p>
            <a:pPr>
              <a:defRPr/>
            </a:pPr>
            <a:r>
              <a:rPr lang="en-US" b="1" dirty="0"/>
              <a:t>Use of commercial software code was also not appropriate:</a:t>
            </a:r>
          </a:p>
          <a:p>
            <a:pPr marL="0" indent="0">
              <a:buNone/>
              <a:defRPr/>
            </a:pPr>
            <a:r>
              <a:rPr lang="en-US" dirty="0"/>
              <a:t>	Ali should have checked to determine whether or not company was authorized to use source code before using it.</a:t>
            </a:r>
          </a:p>
          <a:p>
            <a:pPr>
              <a:defRPr/>
            </a:pPr>
            <a:r>
              <a:rPr lang="en-US" b="1" dirty="0"/>
              <a:t>In general:</a:t>
            </a:r>
          </a:p>
          <a:p>
            <a:pPr marL="0" indent="0">
              <a:buNone/>
              <a:defRPr/>
            </a:pPr>
            <a:r>
              <a:rPr lang="en-US" dirty="0"/>
              <a:t>	Desirable to share and exchange intellectual materials</a:t>
            </a:r>
          </a:p>
          <a:p>
            <a:pPr marL="0" indent="0">
              <a:buNone/>
              <a:defRPr/>
            </a:pPr>
            <a:r>
              <a:rPr lang="en-US" dirty="0"/>
              <a:t>	But using software is definitely a violation of code.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F502EFA-058F-49C0-A26F-D4A1CE34B51D}"/>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Ethical decision making: Case 2</a:t>
            </a:r>
            <a:br>
              <a:rPr lang="en-US" altLang="en-US" b="1" dirty="0"/>
            </a:br>
            <a:endParaRPr lang="en-US" altLang="en-US" b="1" dirty="0"/>
          </a:p>
        </p:txBody>
      </p:sp>
      <p:sp>
        <p:nvSpPr>
          <p:cNvPr id="3" name="Content Placeholder 2">
            <a:extLst>
              <a:ext uri="{FF2B5EF4-FFF2-40B4-BE49-F238E27FC236}">
                <a16:creationId xmlns:a16="http://schemas.microsoft.com/office/drawing/2014/main" id="{EEC2F14F-EEF8-4976-BBF7-9013BBE1083D}"/>
              </a:ext>
            </a:extLst>
          </p:cNvPr>
          <p:cNvSpPr>
            <a:spLocks noGrp="1"/>
          </p:cNvSpPr>
          <p:nvPr>
            <p:ph idx="1"/>
          </p:nvPr>
        </p:nvSpPr>
        <p:spPr>
          <a:xfrm>
            <a:off x="1990437" y="1277504"/>
            <a:ext cx="8507413" cy="5113338"/>
          </a:xfrm>
        </p:spPr>
        <p:txBody>
          <a:bodyPr/>
          <a:lstStyle/>
          <a:p>
            <a:pPr>
              <a:defRPr/>
            </a:pPr>
            <a:r>
              <a:rPr lang="en-US" sz="2200" dirty="0"/>
              <a:t>Aisha’s company has been hired by a client to build a security system. Because of cost overruns, client has decided to opt for a less secure system.</a:t>
            </a:r>
          </a:p>
          <a:p>
            <a:pPr>
              <a:defRPr/>
            </a:pPr>
            <a:r>
              <a:rPr lang="en-US" sz="2200" b="1" dirty="0"/>
              <a:t>Aisha believes information they will store is extremely sensitive. </a:t>
            </a:r>
          </a:p>
          <a:p>
            <a:pPr>
              <a:defRPr/>
            </a:pPr>
            <a:r>
              <a:rPr lang="en-US" sz="2200" b="1" dirty="0"/>
              <a:t>With weak security:</a:t>
            </a:r>
          </a:p>
          <a:p>
            <a:pPr marL="0" indent="0">
              <a:buNone/>
              <a:defRPr/>
            </a:pPr>
            <a:r>
              <a:rPr lang="en-US" sz="2200" b="1" dirty="0"/>
              <a:t>       </a:t>
            </a:r>
            <a:r>
              <a:rPr lang="en-US" sz="2200" dirty="0"/>
              <a:t>Employees on workstations could figure out how to access this data.</a:t>
            </a:r>
          </a:p>
          <a:p>
            <a:pPr marL="0" indent="0">
              <a:buNone/>
              <a:defRPr/>
            </a:pPr>
            <a:r>
              <a:rPr lang="en-US" sz="2200" dirty="0"/>
              <a:t>      Online intruders would also have access</a:t>
            </a:r>
          </a:p>
          <a:p>
            <a:pPr>
              <a:defRPr/>
            </a:pPr>
            <a:r>
              <a:rPr lang="en-US" sz="2200" b="1" dirty="0"/>
              <a:t>Aisha feels strongly that system should be much more secure.</a:t>
            </a:r>
          </a:p>
          <a:p>
            <a:pPr>
              <a:defRPr/>
            </a:pPr>
            <a:r>
              <a:rPr lang="en-US" sz="2200" dirty="0"/>
              <a:t>She has tried to explain the risk.</a:t>
            </a:r>
          </a:p>
          <a:p>
            <a:pPr>
              <a:defRPr/>
            </a:pPr>
            <a:r>
              <a:rPr lang="en-US" sz="2200" b="1" dirty="0"/>
              <a:t>What should Aisha so? Should she refuse to build the system as they request?</a:t>
            </a:r>
          </a:p>
          <a:p>
            <a:pPr>
              <a:defRPr/>
            </a:pP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65E6804-DC16-43E2-90E6-A07F20329774}"/>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Applying the Code: Case 2</a:t>
            </a:r>
            <a:br>
              <a:rPr lang="en-US" altLang="en-US" b="1" dirty="0"/>
            </a:br>
            <a:endParaRPr lang="en-US" altLang="en-US" b="1" dirty="0"/>
          </a:p>
        </p:txBody>
      </p:sp>
      <p:sp>
        <p:nvSpPr>
          <p:cNvPr id="3" name="Content Placeholder 2">
            <a:extLst>
              <a:ext uri="{FF2B5EF4-FFF2-40B4-BE49-F238E27FC236}">
                <a16:creationId xmlns:a16="http://schemas.microsoft.com/office/drawing/2014/main" id="{65CEA6E1-5DB6-4D7A-9D4D-F898055AD886}"/>
              </a:ext>
            </a:extLst>
          </p:cNvPr>
          <p:cNvSpPr>
            <a:spLocks noGrp="1"/>
          </p:cNvSpPr>
          <p:nvPr>
            <p:ph idx="1"/>
          </p:nvPr>
        </p:nvSpPr>
        <p:spPr>
          <a:xfrm>
            <a:off x="1981201" y="1196976"/>
            <a:ext cx="8435975" cy="5400675"/>
          </a:xfrm>
        </p:spPr>
        <p:txBody>
          <a:bodyPr/>
          <a:lstStyle/>
          <a:p>
            <a:pPr algn="just">
              <a:defRPr/>
            </a:pPr>
            <a:r>
              <a:rPr lang="en-US" b="1" dirty="0">
                <a:solidFill>
                  <a:schemeClr val="tx1"/>
                </a:solidFill>
              </a:rPr>
              <a:t>This case highlights issues involving privacy.</a:t>
            </a:r>
          </a:p>
          <a:p>
            <a:pPr algn="just">
              <a:defRPr/>
            </a:pPr>
            <a:r>
              <a:rPr lang="en-US" sz="2000" b="1" dirty="0"/>
              <a:t>Company officials:</a:t>
            </a:r>
          </a:p>
          <a:p>
            <a:pPr marL="0" indent="0" algn="just">
              <a:buNone/>
              <a:defRPr/>
            </a:pPr>
            <a:r>
              <a:rPr lang="en-US" sz="2000" dirty="0"/>
              <a:t>     Have an obligation to protect privacy of their employees. Therefore they should   not accept inadequate security.</a:t>
            </a:r>
          </a:p>
          <a:p>
            <a:pPr algn="just">
              <a:defRPr/>
            </a:pPr>
            <a:r>
              <a:rPr lang="en-US" sz="2000" b="1" dirty="0"/>
              <a:t>Aisha’s first obligation:</a:t>
            </a:r>
          </a:p>
          <a:p>
            <a:pPr marL="0" indent="0" algn="just">
              <a:buNone/>
              <a:defRPr/>
            </a:pPr>
            <a:r>
              <a:rPr lang="en-US" sz="2000" dirty="0"/>
              <a:t>     Attempt to educate company officials </a:t>
            </a:r>
          </a:p>
          <a:p>
            <a:pPr marL="0" indent="0" algn="just">
              <a:buNone/>
              <a:defRPr/>
            </a:pPr>
            <a:r>
              <a:rPr lang="en-US" sz="2000" dirty="0"/>
              <a:t>    If that fails, she needs to consider her contractual obligations in honoring    assigned responsibilities.</a:t>
            </a:r>
          </a:p>
          <a:p>
            <a:pPr algn="just">
              <a:defRPr/>
            </a:pPr>
            <a:r>
              <a:rPr lang="en-US" sz="2000" b="1" dirty="0"/>
              <a:t>We don’t have Aisha’s contract, but she may have to choose between her contract and her obligation to honor privacy and security.</a:t>
            </a:r>
          </a:p>
          <a:p>
            <a:pPr>
              <a:defRP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BC056BC2-5BA8-48C2-B2BF-58B851822B9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Ethical decision making: Case 3</a:t>
            </a:r>
          </a:p>
        </p:txBody>
      </p:sp>
      <p:sp>
        <p:nvSpPr>
          <p:cNvPr id="3" name="Content Placeholder 2">
            <a:extLst>
              <a:ext uri="{FF2B5EF4-FFF2-40B4-BE49-F238E27FC236}">
                <a16:creationId xmlns:a16="http://schemas.microsoft.com/office/drawing/2014/main" id="{65DEBFA8-85E6-4833-B95F-E76BA409D914}"/>
              </a:ext>
            </a:extLst>
          </p:cNvPr>
          <p:cNvSpPr>
            <a:spLocks noGrp="1"/>
          </p:cNvSpPr>
          <p:nvPr>
            <p:ph idx="1"/>
          </p:nvPr>
        </p:nvSpPr>
        <p:spPr/>
        <p:txBody>
          <a:bodyPr/>
          <a:lstStyle/>
          <a:p>
            <a:pPr>
              <a:defRPr/>
            </a:pPr>
            <a:r>
              <a:rPr lang="en-US" b="1" dirty="0"/>
              <a:t>A contractor is determining requirements for an employment agency.</a:t>
            </a:r>
          </a:p>
          <a:p>
            <a:pPr>
              <a:defRPr/>
            </a:pPr>
            <a:r>
              <a:rPr lang="en-US" dirty="0"/>
              <a:t>Client describes what is needed when displaying applications whose qualifications appear to match those for a particular job</a:t>
            </a:r>
          </a:p>
          <a:p>
            <a:pPr>
              <a:defRPr/>
            </a:pPr>
            <a:r>
              <a:rPr lang="en-US" b="1" dirty="0"/>
              <a:t>Client also further states that names of white applicants are to be displayed ahead of nonwhites</a:t>
            </a:r>
          </a:p>
          <a:p>
            <a:pPr>
              <a:defRPr/>
            </a:pPr>
            <a:r>
              <a:rPr lang="en-US" b="1" dirty="0"/>
              <a:t>Further states that names of male applicants are to be displayed ahead of female applicants</a:t>
            </a:r>
          </a:p>
          <a:p>
            <a:pPr>
              <a:defRPr/>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6AC734C-6AF0-4573-8FF2-07C7FBD053CC}"/>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dirty="0"/>
              <a:t>Applying the Code: Case 3</a:t>
            </a:r>
          </a:p>
        </p:txBody>
      </p:sp>
      <p:sp>
        <p:nvSpPr>
          <p:cNvPr id="3" name="Content Placeholder 2">
            <a:extLst>
              <a:ext uri="{FF2B5EF4-FFF2-40B4-BE49-F238E27FC236}">
                <a16:creationId xmlns:a16="http://schemas.microsoft.com/office/drawing/2014/main" id="{395ABA0D-65DD-4EC7-BCF4-057B4D7F0C41}"/>
              </a:ext>
            </a:extLst>
          </p:cNvPr>
          <p:cNvSpPr>
            <a:spLocks noGrp="1"/>
          </p:cNvSpPr>
          <p:nvPr>
            <p:ph idx="1"/>
          </p:nvPr>
        </p:nvSpPr>
        <p:spPr>
          <a:xfrm>
            <a:off x="1916545" y="1581439"/>
            <a:ext cx="8578850" cy="5040313"/>
          </a:xfrm>
        </p:spPr>
        <p:txBody>
          <a:bodyPr/>
          <a:lstStyle/>
          <a:p>
            <a:pPr>
              <a:defRPr/>
            </a:pPr>
            <a:r>
              <a:rPr lang="en-US" sz="2000" b="1" dirty="0"/>
              <a:t>This case highlights issues involving fairness and discrimination. </a:t>
            </a:r>
            <a:r>
              <a:rPr lang="en-US" sz="2000" dirty="0"/>
              <a:t>In this case, system designer is asked to build a system that, it appears</a:t>
            </a:r>
          </a:p>
          <a:p>
            <a:pPr>
              <a:defRPr/>
            </a:pPr>
            <a:r>
              <a:rPr lang="en-US" sz="2000" dirty="0"/>
              <a:t>Will be used to favor white males and discriminate against non-whites and females</a:t>
            </a:r>
          </a:p>
          <a:p>
            <a:pPr>
              <a:defRPr/>
            </a:pPr>
            <a:r>
              <a:rPr lang="en-US" sz="2000" b="1" dirty="0"/>
              <a:t>From this is would appear that:</a:t>
            </a:r>
          </a:p>
          <a:p>
            <a:pPr marL="0" indent="0">
              <a:buNone/>
              <a:defRPr/>
            </a:pPr>
            <a:r>
              <a:rPr lang="en-US" sz="2000" dirty="0"/>
              <a:t> 	System designer should not do what he or she is told, plus</a:t>
            </a:r>
          </a:p>
          <a:p>
            <a:pPr marL="0" indent="0">
              <a:buNone/>
              <a:defRPr/>
            </a:pPr>
            <a:r>
              <a:rPr lang="en-US" sz="2000" dirty="0"/>
              <a:t>	Should also point out the problematic nature of what is being requested 	and ask client why this is being done</a:t>
            </a:r>
          </a:p>
          <a:p>
            <a:pPr>
              <a:defRPr/>
            </a:pPr>
            <a:r>
              <a:rPr lang="en-US" sz="2000" b="1" dirty="0"/>
              <a:t>If client answers that they plan to use information to favor white males, then: Computer professional should refuse to build the system as proposed.</a:t>
            </a:r>
          </a:p>
          <a:p>
            <a:pPr>
              <a:defRPr/>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81245539-B355-4B11-B8BD-FA483F642ACA}"/>
              </a:ext>
            </a:extLst>
          </p:cNvPr>
          <p:cNvSpPr>
            <a:spLocks noGrp="1"/>
          </p:cNvSpPr>
          <p:nvPr>
            <p:ph type="title"/>
          </p:nvPr>
        </p:nvSpPr>
        <p:spPr bwMode="auto">
          <a:xfrm>
            <a:off x="838200" y="337416"/>
            <a:ext cx="105156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a:t>Ethical decision making: Case 4</a:t>
            </a:r>
          </a:p>
        </p:txBody>
      </p:sp>
      <p:sp>
        <p:nvSpPr>
          <p:cNvPr id="3" name="Content Placeholder 2">
            <a:extLst>
              <a:ext uri="{FF2B5EF4-FFF2-40B4-BE49-F238E27FC236}">
                <a16:creationId xmlns:a16="http://schemas.microsoft.com/office/drawing/2014/main" id="{D7DC2F79-BB03-47CB-B881-5311BDE09CB8}"/>
              </a:ext>
            </a:extLst>
          </p:cNvPr>
          <p:cNvSpPr>
            <a:spLocks noGrp="1"/>
          </p:cNvSpPr>
          <p:nvPr>
            <p:ph idx="1"/>
          </p:nvPr>
        </p:nvSpPr>
        <p:spPr>
          <a:xfrm>
            <a:off x="1981200" y="1379537"/>
            <a:ext cx="8229600" cy="5113338"/>
          </a:xfrm>
        </p:spPr>
        <p:txBody>
          <a:bodyPr/>
          <a:lstStyle/>
          <a:p>
            <a:pPr algn="just">
              <a:defRPr/>
            </a:pPr>
            <a:r>
              <a:rPr lang="en-US" sz="2000" b="1" dirty="0"/>
              <a:t>A software development company has just produced a new software package.</a:t>
            </a:r>
          </a:p>
          <a:p>
            <a:pPr>
              <a:defRPr/>
            </a:pPr>
            <a:r>
              <a:rPr lang="en-US" sz="2000" dirty="0"/>
              <a:t>It incorporates new tax laws and prepares both individual and small business tax returns</a:t>
            </a:r>
          </a:p>
          <a:p>
            <a:pPr>
              <a:defRPr/>
            </a:pPr>
            <a:r>
              <a:rPr lang="en-US" sz="2000" b="1" dirty="0"/>
              <a:t>The president of the company knows that the program has a number of bugs</a:t>
            </a:r>
          </a:p>
          <a:p>
            <a:pPr>
              <a:defRPr/>
            </a:pPr>
            <a:r>
              <a:rPr lang="en-US" sz="2000" dirty="0"/>
              <a:t>He also believes the first firm to put this kind of software on the market is likely to capture the largest market share.</a:t>
            </a:r>
          </a:p>
          <a:p>
            <a:pPr>
              <a:defRPr/>
            </a:pPr>
            <a:r>
              <a:rPr lang="en-US" sz="2000" b="1" dirty="0"/>
              <a:t>The company widely advertises the package.</a:t>
            </a:r>
          </a:p>
          <a:p>
            <a:pPr algn="just">
              <a:defRPr/>
            </a:pPr>
            <a:r>
              <a:rPr lang="en-US" sz="2000" dirty="0"/>
              <a:t>When the product is shipped, it includes a disclaimer of responsibility for errors resulting from the use of the program.</a:t>
            </a:r>
          </a:p>
          <a:p>
            <a:pPr>
              <a:defRPr/>
            </a:pP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596D2C-3DA1-468B-A565-98A10DC19876}"/>
              </a:ext>
            </a:extLst>
          </p:cNvPr>
          <p:cNvSpPr>
            <a:spLocks noGrp="1"/>
          </p:cNvSpPr>
          <p:nvPr>
            <p:ph idx="1"/>
          </p:nvPr>
        </p:nvSpPr>
        <p:spPr>
          <a:xfrm>
            <a:off x="1981200" y="813667"/>
            <a:ext cx="8229600" cy="5688013"/>
          </a:xfrm>
        </p:spPr>
        <p:txBody>
          <a:bodyPr/>
          <a:lstStyle/>
          <a:p>
            <a:pPr algn="just">
              <a:defRPr/>
            </a:pPr>
            <a:r>
              <a:rPr lang="en-US" dirty="0"/>
              <a:t>The company expects it will receive a number of complaints, queries, and suggestions for modification. The company plans to use these to make changes and eventually issue updated, improved and debugged versions. The president argues that this is general industry policy:</a:t>
            </a:r>
          </a:p>
          <a:p>
            <a:pPr algn="just">
              <a:defRPr/>
            </a:pPr>
            <a:r>
              <a:rPr lang="en-US" dirty="0"/>
              <a:t>“Anyone who buys version 1.0 of a program knows this and will take proper precautions.”</a:t>
            </a:r>
          </a:p>
          <a:p>
            <a:pPr algn="just">
              <a:defRPr/>
            </a:pPr>
            <a:r>
              <a:rPr lang="en-US" dirty="0"/>
              <a:t>Because of bugs, a number of users filed incorrect tax returns and were penalized by Rev Canada.</a:t>
            </a:r>
          </a:p>
          <a:p>
            <a:pPr>
              <a:defRPr/>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43D8964C-19E4-45EA-9EE5-E135997511D6}"/>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Applying the Code: Case 4</a:t>
            </a:r>
            <a:br>
              <a:rPr lang="en-US" altLang="en-US"/>
            </a:br>
            <a:endParaRPr lang="en-US" altLang="en-US"/>
          </a:p>
        </p:txBody>
      </p:sp>
      <p:sp>
        <p:nvSpPr>
          <p:cNvPr id="3" name="Content Placeholder 2">
            <a:extLst>
              <a:ext uri="{FF2B5EF4-FFF2-40B4-BE49-F238E27FC236}">
                <a16:creationId xmlns:a16="http://schemas.microsoft.com/office/drawing/2014/main" id="{FA48282C-D601-40F6-B2BE-0D19D39C98E1}"/>
              </a:ext>
            </a:extLst>
          </p:cNvPr>
          <p:cNvSpPr>
            <a:spLocks noGrp="1"/>
          </p:cNvSpPr>
          <p:nvPr>
            <p:ph idx="1"/>
          </p:nvPr>
        </p:nvSpPr>
        <p:spPr>
          <a:xfrm>
            <a:off x="1990437" y="1106778"/>
            <a:ext cx="8435975" cy="5113337"/>
          </a:xfrm>
        </p:spPr>
        <p:txBody>
          <a:bodyPr/>
          <a:lstStyle/>
          <a:p>
            <a:pPr algn="just">
              <a:defRPr/>
            </a:pPr>
            <a:r>
              <a:rPr lang="en-US" dirty="0"/>
              <a:t>This case highlights issues involving legal liability for unreliable code. Software Company (and president in particular) violated several principles in the ACM code of ethics. Since he was aware of bugs in the product, he did not strive to achieve the highest quality.</a:t>
            </a:r>
          </a:p>
          <a:p>
            <a:pPr algn="just">
              <a:defRPr/>
            </a:pPr>
            <a:r>
              <a:rPr lang="en-US" dirty="0"/>
              <a:t> By failing to inform consumers about bugs to system, principle was violated. Here the risks to users are so great they have to pay penalties for mistakes which result from the program.</a:t>
            </a:r>
          </a:p>
          <a:p>
            <a:pPr algn="just">
              <a:defRPr/>
            </a:pPr>
            <a:r>
              <a:rPr lang="en-US" dirty="0"/>
              <a:t>By law companies can make disclaimers only when they are in “good conscience” (Disclaimer does not meet legal test, violated principle)</a:t>
            </a:r>
          </a:p>
          <a:p>
            <a:pPr>
              <a:defRPr/>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ACM Case Studies</a:t>
            </a:r>
          </a:p>
        </p:txBody>
      </p:sp>
      <p:sp>
        <p:nvSpPr>
          <p:cNvPr id="3" name="Content Placeholder 2"/>
          <p:cNvSpPr>
            <a:spLocks noGrp="1"/>
          </p:cNvSpPr>
          <p:nvPr>
            <p:ph idx="1"/>
          </p:nvPr>
        </p:nvSpPr>
        <p:spPr/>
        <p:txBody>
          <a:bodyPr/>
          <a:lstStyle/>
          <a:p>
            <a:r>
              <a:rPr lang="en-US" b="1" dirty="0">
                <a:hlinkClick r:id="rId3"/>
              </a:rPr>
              <a:t>Malware Disruption</a:t>
            </a:r>
            <a:r>
              <a:rPr lang="en-US" dirty="0"/>
              <a:t>: Security vendors and government organizations collaborate to disrupt the operation of an ISP that hosts malware.</a:t>
            </a:r>
          </a:p>
          <a:p>
            <a:endParaRPr lang="en-US" b="1" dirty="0">
              <a:solidFill>
                <a:srgbClr val="FF4B33"/>
              </a:solidFill>
              <a:latin typeface="Georgia" panose="02040502050405020303" pitchFamily="18" charset="0"/>
              <a:hlinkClick r:id="rId4"/>
            </a:endParaRPr>
          </a:p>
          <a:p>
            <a:r>
              <a:rPr lang="en-US" b="1" dirty="0">
                <a:solidFill>
                  <a:srgbClr val="FF4B33"/>
                </a:solidFill>
                <a:latin typeface="Georgia" panose="02040502050405020303" pitchFamily="18" charset="0"/>
                <a:hlinkClick r:id="rId4"/>
              </a:rPr>
              <a:t>Malicious Inputs to Content Filters</a:t>
            </a:r>
            <a:r>
              <a:rPr lang="en-US" dirty="0">
                <a:solidFill>
                  <a:srgbClr val="333333"/>
                </a:solidFill>
                <a:latin typeface="Georgia" panose="02040502050405020303" pitchFamily="18" charset="0"/>
              </a:rPr>
              <a:t>: An Internet content filtering service deploys machine learning techniques to automate the classification of blocked content.</a:t>
            </a:r>
          </a:p>
          <a:p>
            <a:endParaRPr lang="en-US" dirty="0"/>
          </a:p>
        </p:txBody>
      </p:sp>
    </p:spTree>
    <p:extLst>
      <p:ext uri="{BB962C8B-B14F-4D97-AF65-F5344CB8AC3E}">
        <p14:creationId xmlns:p14="http://schemas.microsoft.com/office/powerpoint/2010/main" val="1123563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p:txBody>
          <a:bodyPr/>
          <a:lstStyle/>
          <a:p>
            <a:r>
              <a:rPr lang="en-US" dirty="0"/>
              <a:t>Analyze the code of ethics by IEEE and ACM and differentiate them. </a:t>
            </a:r>
          </a:p>
          <a:p>
            <a:r>
              <a:rPr lang="en-US" dirty="0"/>
              <a:t>How these rules are protecting the basic rights in any software development company?</a:t>
            </a:r>
          </a:p>
        </p:txBody>
      </p:sp>
    </p:spTree>
    <p:extLst>
      <p:ext uri="{BB962C8B-B14F-4D97-AF65-F5344CB8AC3E}">
        <p14:creationId xmlns:p14="http://schemas.microsoft.com/office/powerpoint/2010/main" val="2875967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DA47E8C1-CE9E-421A-BDF6-F44CACB4D021}"/>
              </a:ext>
            </a:extLst>
          </p:cNvPr>
          <p:cNvSpPr>
            <a:spLocks noGrp="1"/>
          </p:cNvSpPr>
          <p:nvPr>
            <p:ph type="title"/>
          </p:nvPr>
        </p:nvSpPr>
        <p:spPr bwMode="auto">
          <a:xfrm>
            <a:off x="2063750" y="2708275"/>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r>
              <a:rPr lang="en-US" altLang="en-US"/>
              <a:t/>
            </a:r>
            <a:br>
              <a:rPr lang="en-US" altLang="en-US"/>
            </a:br>
            <a:r>
              <a:rPr lang="en-US" altLang="en-US"/>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TotalTime>
  <Words>1932</Words>
  <Application>Microsoft Office PowerPoint</Application>
  <PresentationFormat>Widescreen</PresentationFormat>
  <Paragraphs>212</Paragraphs>
  <Slides>30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Georgia</vt:lpstr>
      <vt:lpstr>Helvetica Neue</vt:lpstr>
      <vt:lpstr>Times New Roman</vt:lpstr>
      <vt:lpstr>Office Theme</vt:lpstr>
      <vt:lpstr>Professional Practices</vt:lpstr>
      <vt:lpstr>Week 5 Lec 10</vt:lpstr>
      <vt:lpstr>    Professional Ethics &amp; Code of Ethics</vt:lpstr>
      <vt:lpstr>Introduction</vt:lpstr>
      <vt:lpstr>Code of Ethics</vt:lpstr>
      <vt:lpstr>Code of Ethics’ Goals </vt:lpstr>
      <vt:lpstr>IEEE Code of Ethics</vt:lpstr>
      <vt:lpstr>Continued…</vt:lpstr>
      <vt:lpstr>Continued…</vt:lpstr>
      <vt:lpstr>Principles of IEEE Code of Ethics </vt:lpstr>
      <vt:lpstr>ACM Code of Ethics and Professional Conduct</vt:lpstr>
      <vt:lpstr>ACM Code of Ethics</vt:lpstr>
      <vt:lpstr>PowerPoint Presentation</vt:lpstr>
      <vt:lpstr>PowerPoint Presentation</vt:lpstr>
      <vt:lpstr>PowerPoint Presentation</vt:lpstr>
      <vt:lpstr>10 Golden Rules of Professional Ethics</vt:lpstr>
      <vt:lpstr>Ethical decision making: Case 1 </vt:lpstr>
      <vt:lpstr>PowerPoint Presentation</vt:lpstr>
      <vt:lpstr>Applying the code: Case 1 </vt:lpstr>
      <vt:lpstr>Continued…</vt:lpstr>
      <vt:lpstr>Ethical decision making: Case 2 </vt:lpstr>
      <vt:lpstr>Applying the Code: Case 2 </vt:lpstr>
      <vt:lpstr>Ethical decision making: Case 3</vt:lpstr>
      <vt:lpstr>Applying the Code: Case 3</vt:lpstr>
      <vt:lpstr>Ethical decision making: Case 4</vt:lpstr>
      <vt:lpstr>PowerPoint Presentation</vt:lpstr>
      <vt:lpstr>Applying the Code: Case 4 </vt:lpstr>
      <vt:lpstr>ACM Case Studies</vt:lpstr>
      <vt:lpstr>Assignment</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Hammad qureshi</dc:creator>
  <cp:lastModifiedBy>Admin</cp:lastModifiedBy>
  <cp:revision>22</cp:revision>
  <dcterms:created xsi:type="dcterms:W3CDTF">2020-09-30T06:04:02Z</dcterms:created>
  <dcterms:modified xsi:type="dcterms:W3CDTF">2022-11-15T15:02:07Z</dcterms:modified>
</cp:coreProperties>
</file>
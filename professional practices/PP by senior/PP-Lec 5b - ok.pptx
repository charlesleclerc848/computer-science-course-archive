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370" r:id="rId3"/>
    <p:sldId id="371" r:id="rId4"/>
    <p:sldId id="372" r:id="rId5"/>
    <p:sldId id="366" r:id="rId6"/>
    <p:sldId id="367" r:id="rId7"/>
    <p:sldId id="368" r:id="rId8"/>
    <p:sldId id="338" r:id="rId9"/>
    <p:sldId id="365" r:id="rId10"/>
    <p:sldId id="363" r:id="rId11"/>
    <p:sldId id="364" r:id="rId12"/>
    <p:sldId id="356" r:id="rId13"/>
    <p:sldId id="314" r:id="rId14"/>
    <p:sldId id="315" r:id="rId15"/>
    <p:sldId id="310" r:id="rId16"/>
    <p:sldId id="311" r:id="rId17"/>
    <p:sldId id="373" r:id="rId18"/>
    <p:sldId id="351" r:id="rId19"/>
    <p:sldId id="374" r:id="rId20"/>
    <p:sldId id="27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364" autoAdjust="0"/>
  </p:normalViewPr>
  <p:slideViewPr>
    <p:cSldViewPr snapToGrid="0">
      <p:cViewPr varScale="1">
        <p:scale>
          <a:sx n="91" d="100"/>
          <a:sy n="91" d="100"/>
        </p:scale>
        <p:origin x="50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77550-ED4A-5348-AB79-4F30BDEB5BDE}" type="datetimeFigureOut">
              <a:rPr lang="x-none" smtClean="0"/>
              <a:t>2/14/2024</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CC6A2C-6D46-474D-BCC5-C205DA9DA6A3}" type="slidenum">
              <a:rPr lang="x-none" smtClean="0"/>
              <a:t>‹#›</a:t>
            </a:fld>
            <a:endParaRPr lang="x-none"/>
          </a:p>
        </p:txBody>
      </p:sp>
    </p:spTree>
    <p:extLst>
      <p:ext uri="{BB962C8B-B14F-4D97-AF65-F5344CB8AC3E}">
        <p14:creationId xmlns:p14="http://schemas.microsoft.com/office/powerpoint/2010/main" val="260684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ndex.php?title=Computer_Ethics_Institute&amp;action=edit&amp;redlink=1"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a:t>
            </a:r>
            <a:r>
              <a:rPr lang="en-US" sz="1200" dirty="0" err="1" smtClean="0"/>
              <a:t>standford</a:t>
            </a:r>
            <a:r>
              <a:rPr lang="en-US" sz="1200" dirty="0" smtClean="0"/>
              <a:t>, 2001]</a:t>
            </a:r>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5</a:t>
            </a:fld>
            <a:endParaRPr lang="x-none"/>
          </a:p>
        </p:txBody>
      </p:sp>
    </p:spTree>
    <p:extLst>
      <p:ext uri="{BB962C8B-B14F-4D97-AF65-F5344CB8AC3E}">
        <p14:creationId xmlns:p14="http://schemas.microsoft.com/office/powerpoint/2010/main" val="611325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defRPr/>
            </a:pPr>
            <a:r>
              <a:rPr lang="en-US" b="1" dirty="0" smtClean="0"/>
              <a:t>Deborah Johnson </a:t>
            </a:r>
            <a:r>
              <a:rPr lang="en-US" dirty="0" smtClean="0"/>
              <a:t>defines the study of computer ethics as:</a:t>
            </a:r>
          </a:p>
          <a:p>
            <a:pPr marL="0" indent="0" algn="just">
              <a:buNone/>
              <a:defRPr/>
            </a:pPr>
            <a:r>
              <a:rPr lang="en-US" i="1" dirty="0" smtClean="0"/>
              <a:t>The study of the ethical questions that arise as a consequence of the development and deployment of computers and computing technologies. </a:t>
            </a:r>
          </a:p>
          <a:p>
            <a:pPr marL="0" indent="0" algn="just">
              <a:buNone/>
              <a:defRPr/>
            </a:pPr>
            <a:r>
              <a:rPr lang="en-US" i="1" dirty="0" smtClean="0"/>
              <a:t>It involves two activities:</a:t>
            </a:r>
          </a:p>
          <a:p>
            <a:pPr marL="457200" lvl="1" indent="0" algn="just">
              <a:buNone/>
              <a:defRPr/>
            </a:pPr>
            <a:r>
              <a:rPr lang="en-US" i="1" dirty="0" smtClean="0"/>
              <a:t>One is identifying and bringing into focus the issues and problems that fall within its scope, raising awareness of the ethical dimension of a particular situation. </a:t>
            </a:r>
          </a:p>
          <a:p>
            <a:pPr marL="457200" lvl="1" indent="0" algn="just">
              <a:buNone/>
              <a:defRPr/>
            </a:pPr>
            <a:r>
              <a:rPr lang="en-US" i="1" dirty="0" smtClean="0"/>
              <a:t>The second is providing an approach to these issues, a means of advancing our understanding of, and suggesting ways of reaching wise solutions to these problems.</a:t>
            </a:r>
          </a:p>
          <a:p>
            <a:pPr marL="0" indent="0" algn="just">
              <a:buNone/>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8</a:t>
            </a:fld>
            <a:endParaRPr lang="x-none"/>
          </a:p>
        </p:txBody>
      </p:sp>
    </p:spTree>
    <p:extLst>
      <p:ext uri="{BB962C8B-B14F-4D97-AF65-F5344CB8AC3E}">
        <p14:creationId xmlns:p14="http://schemas.microsoft.com/office/powerpoint/2010/main" val="1428748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Computer ethics concerns with </a:t>
            </a:r>
          </a:p>
          <a:p>
            <a:pPr lvl="1"/>
            <a:r>
              <a:rPr lang="en-US" dirty="0" smtClean="0"/>
              <a:t>policy vacuum &amp; conceptual muddle </a:t>
            </a:r>
          </a:p>
          <a:p>
            <a:pPr lvl="1"/>
            <a:r>
              <a:rPr lang="en-US" dirty="0" smtClean="0"/>
              <a:t>regarding social &amp; ethical use of computer technology (Moor)</a:t>
            </a:r>
          </a:p>
          <a:p>
            <a:r>
              <a:rPr lang="en-US" dirty="0" smtClean="0"/>
              <a:t>Policy vacuum: </a:t>
            </a:r>
          </a:p>
          <a:p>
            <a:pPr lvl="1"/>
            <a:r>
              <a:rPr lang="en-US" dirty="0" smtClean="0"/>
              <a:t>how computer technology should be used. </a:t>
            </a:r>
          </a:p>
          <a:p>
            <a:pPr lvl="1"/>
            <a:r>
              <a:rPr lang="en-US" dirty="0" smtClean="0"/>
              <a:t>Often existing policies are inadequate for new capabilities/choice of actions</a:t>
            </a:r>
          </a:p>
          <a:p>
            <a:pPr lvl="1"/>
            <a:r>
              <a:rPr lang="en-US" dirty="0" smtClean="0"/>
              <a:t>e.g. making Facebook profile picture public without user’s authorization</a:t>
            </a:r>
          </a:p>
          <a:p>
            <a:r>
              <a:rPr lang="en-US" dirty="0" smtClean="0"/>
              <a:t>Conceptual muddle: </a:t>
            </a:r>
          </a:p>
          <a:p>
            <a:pPr lvl="1"/>
            <a:r>
              <a:rPr lang="en-US" dirty="0" smtClean="0"/>
              <a:t>A complex situation in which it becomes absolutely difficult to figure out right vs. wrong</a:t>
            </a:r>
          </a:p>
          <a:p>
            <a:endParaRPr lang="x-none" dirty="0"/>
          </a:p>
        </p:txBody>
      </p:sp>
      <p:sp>
        <p:nvSpPr>
          <p:cNvPr id="4" name="Slide Number Placeholder 3"/>
          <p:cNvSpPr>
            <a:spLocks noGrp="1"/>
          </p:cNvSpPr>
          <p:nvPr>
            <p:ph type="sldNum" sz="quarter" idx="5"/>
          </p:nvPr>
        </p:nvSpPr>
        <p:spPr/>
        <p:txBody>
          <a:bodyPr/>
          <a:lstStyle/>
          <a:p>
            <a:fld id="{54CC6A2C-6D46-474D-BCC5-C205DA9DA6A3}" type="slidenum">
              <a:rPr lang="x-none" smtClean="0"/>
              <a:t>9</a:t>
            </a:fld>
            <a:endParaRPr lang="x-none"/>
          </a:p>
        </p:txBody>
      </p:sp>
    </p:spTree>
    <p:extLst>
      <p:ext uri="{BB962C8B-B14F-4D97-AF65-F5344CB8AC3E}">
        <p14:creationId xmlns:p14="http://schemas.microsoft.com/office/powerpoint/2010/main" val="2054685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ethical values as defined in 1992 by the </a:t>
            </a:r>
            <a:r>
              <a:rPr lang="en-US" sz="1200" b="0" i="0" u="none" strike="noStrike" kern="1200" dirty="0" smtClean="0">
                <a:solidFill>
                  <a:schemeClr val="tx1"/>
                </a:solidFill>
                <a:effectLst/>
                <a:latin typeface="+mn-lt"/>
                <a:ea typeface="+mn-ea"/>
                <a:cs typeface="+mn-cs"/>
                <a:hlinkClick r:id="rId3" tooltip="Computer Ethics Institute (page does not exist)"/>
              </a:rPr>
              <a:t>Computer Ethics Institute</a:t>
            </a:r>
            <a:r>
              <a:rPr lang="en-US" sz="1200" b="0" i="0" kern="1200" dirty="0" smtClean="0">
                <a:solidFill>
                  <a:schemeClr val="tx1"/>
                </a:solidFill>
                <a:effectLst/>
                <a:latin typeface="+mn-lt"/>
                <a:ea typeface="+mn-ea"/>
                <a:cs typeface="+mn-cs"/>
              </a:rPr>
              <a:t>; a nonprofit organization whose mission is to advance technology by ethical means, lists these rules as a guide to computer ethics.</a:t>
            </a:r>
          </a:p>
          <a:p>
            <a:r>
              <a:rPr lang="en-US" sz="1200" b="0" i="0" kern="1200" dirty="0" smtClean="0">
                <a:solidFill>
                  <a:schemeClr val="tx1"/>
                </a:solidFill>
                <a:effectLst/>
                <a:latin typeface="+mn-lt"/>
                <a:ea typeface="+mn-ea"/>
                <a:cs typeface="+mn-cs"/>
              </a:rPr>
              <a:t>For further reading</a:t>
            </a:r>
          </a:p>
          <a:p>
            <a:r>
              <a:rPr lang="en-US" dirty="0" smtClean="0"/>
              <a:t>https://en.wikipedia.org/wiki/Ten_Commandments_of_Computer_Ethics</a:t>
            </a:r>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17</a:t>
            </a:fld>
            <a:endParaRPr lang="x-none"/>
          </a:p>
        </p:txBody>
      </p:sp>
    </p:spTree>
    <p:extLst>
      <p:ext uri="{BB962C8B-B14F-4D97-AF65-F5344CB8AC3E}">
        <p14:creationId xmlns:p14="http://schemas.microsoft.com/office/powerpoint/2010/main" val="870423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18</a:t>
            </a:fld>
            <a:endParaRPr lang="x-none"/>
          </a:p>
        </p:txBody>
      </p:sp>
    </p:spTree>
    <p:extLst>
      <p:ext uri="{BB962C8B-B14F-4D97-AF65-F5344CB8AC3E}">
        <p14:creationId xmlns:p14="http://schemas.microsoft.com/office/powerpoint/2010/main" val="2409227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ED264D-F1CD-4A0E-86DE-829D531D8CC1}"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45237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21951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D264D-F1CD-4A0E-86DE-829D531D8CC1}"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73031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ED264D-F1CD-4A0E-86DE-829D531D8CC1}" type="datetimeFigureOut">
              <a:rPr lang="en-US" smtClean="0"/>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84983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ED264D-F1CD-4A0E-86DE-829D531D8CC1}" type="datetimeFigureOut">
              <a:rPr lang="en-US" smtClean="0"/>
              <a:t>2/14/2024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4563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ED264D-F1CD-4A0E-86DE-829D531D8CC1}" type="datetimeFigureOut">
              <a:rPr lang="en-US" smtClean="0"/>
              <a:t>2/14/2024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68560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D264D-F1CD-4A0E-86DE-829D531D8CC1}" type="datetimeFigureOut">
              <a:rPr lang="en-US" smtClean="0"/>
              <a:t>2/14/2024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3444612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9069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2031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11558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3002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D264D-F1CD-4A0E-86DE-829D531D8CC1}" type="datetimeFigureOut">
              <a:rPr lang="en-US" smtClean="0"/>
              <a:t>2/14/2024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331B4-1EE6-4448-AE73-C8BAED0E2A35}" type="slidenum">
              <a:rPr lang="en-US" smtClean="0"/>
              <a:t>‹#›</a:t>
            </a:fld>
            <a:endParaRPr lang="en-US"/>
          </a:p>
        </p:txBody>
      </p:sp>
    </p:spTree>
    <p:extLst>
      <p:ext uri="{BB962C8B-B14F-4D97-AF65-F5344CB8AC3E}">
        <p14:creationId xmlns:p14="http://schemas.microsoft.com/office/powerpoint/2010/main" val="1808476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en.wikipedia.org/w/index.php?title=Computer_Ethics_Institute&amp;action=edit&amp;redlink=1"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en.wikipedia.org/w/index.php?title=Computer_Ethics_Institute&amp;action=edit&amp;redlink=1"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Professional Practices</a:t>
            </a:r>
          </a:p>
        </p:txBody>
      </p:sp>
      <p:sp>
        <p:nvSpPr>
          <p:cNvPr id="3" name="Subtitle 2"/>
          <p:cNvSpPr>
            <a:spLocks noGrp="1"/>
          </p:cNvSpPr>
          <p:nvPr>
            <p:ph type="subTitle" idx="1"/>
          </p:nvPr>
        </p:nvSpPr>
        <p:spPr/>
        <p:txBody>
          <a:bodyPr/>
          <a:lstStyle/>
          <a:p>
            <a:r>
              <a:rPr lang="en-US" sz="5400" dirty="0" smtClean="0"/>
              <a:t>Computer Ethics</a:t>
            </a:r>
            <a:endParaRPr lang="en-US" dirty="0"/>
          </a:p>
        </p:txBody>
      </p:sp>
    </p:spTree>
    <p:extLst>
      <p:ext uri="{BB962C8B-B14F-4D97-AF65-F5344CB8AC3E}">
        <p14:creationId xmlns:p14="http://schemas.microsoft.com/office/powerpoint/2010/main" val="37348702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bwMode="auto">
          <a:xfrm>
            <a:off x="2929632" y="1392691"/>
            <a:ext cx="10515600" cy="69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dirty="0"/>
              <a:t>Week 2 </a:t>
            </a:r>
            <a:r>
              <a:rPr lang="en-US" dirty="0" smtClean="0"/>
              <a:t>Topics Covered</a:t>
            </a:r>
            <a:endParaRPr lang="en-US" dirty="0"/>
          </a:p>
        </p:txBody>
      </p:sp>
      <p:sp>
        <p:nvSpPr>
          <p:cNvPr id="3" name="Content Placeholder 2"/>
          <p:cNvSpPr>
            <a:spLocks noGrp="1"/>
          </p:cNvSpPr>
          <p:nvPr>
            <p:ph idx="1"/>
          </p:nvPr>
        </p:nvSpPr>
        <p:spPr>
          <a:xfrm>
            <a:off x="3374721" y="3238718"/>
            <a:ext cx="6946726" cy="1658959"/>
          </a:xfrm>
        </p:spPr>
        <p:txBody>
          <a:bodyPr>
            <a:normAutofit fontScale="85000" lnSpcReduction="10000"/>
          </a:bodyPr>
          <a:lstStyle/>
          <a:p>
            <a:pPr>
              <a:defRPr/>
            </a:pPr>
            <a:r>
              <a:rPr lang="en-US" dirty="0" smtClean="0"/>
              <a:t>Computer Issues and Moral and Ethical Problems</a:t>
            </a:r>
          </a:p>
          <a:p>
            <a:pPr>
              <a:defRPr/>
            </a:pPr>
            <a:r>
              <a:rPr lang="en-US" dirty="0" smtClean="0"/>
              <a:t>History of Computer Ethics </a:t>
            </a:r>
          </a:p>
          <a:p>
            <a:pPr>
              <a:defRPr/>
            </a:pPr>
            <a:r>
              <a:rPr lang="en-US" dirty="0" smtClean="0"/>
              <a:t>Definition of Ethics</a:t>
            </a:r>
            <a:r>
              <a:rPr lang="x-none" dirty="0" smtClean="0"/>
              <a:t> </a:t>
            </a:r>
          </a:p>
          <a:p>
            <a:pPr>
              <a:defRPr/>
            </a:pPr>
            <a:r>
              <a:rPr lang="en-US" dirty="0" smtClean="0"/>
              <a:t>Real World Scenarios</a:t>
            </a:r>
            <a:endParaRPr lang="en-US" dirty="0"/>
          </a:p>
          <a:p>
            <a:pPr>
              <a:defRPr/>
            </a:pPr>
            <a:endParaRPr lang="en-US" dirty="0"/>
          </a:p>
        </p:txBody>
      </p:sp>
    </p:spTree>
    <p:extLst>
      <p:ext uri="{BB962C8B-B14F-4D97-AF65-F5344CB8AC3E}">
        <p14:creationId xmlns:p14="http://schemas.microsoft.com/office/powerpoint/2010/main" val="30339365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Categories of Computer Issues</a:t>
            </a:r>
          </a:p>
        </p:txBody>
      </p:sp>
      <p:sp>
        <p:nvSpPr>
          <p:cNvPr id="3" name="Content Placeholder 2"/>
          <p:cNvSpPr>
            <a:spLocks noGrp="1"/>
          </p:cNvSpPr>
          <p:nvPr>
            <p:ph idx="1"/>
          </p:nvPr>
        </p:nvSpPr>
        <p:spPr/>
        <p:txBody>
          <a:bodyPr>
            <a:normAutofit fontScale="92500" lnSpcReduction="20000"/>
          </a:bodyPr>
          <a:lstStyle/>
          <a:p>
            <a:r>
              <a:rPr lang="en-US" b="1" dirty="0"/>
              <a:t>Privacy</a:t>
            </a:r>
          </a:p>
          <a:p>
            <a:pPr lvl="1"/>
            <a:r>
              <a:rPr lang="en-US" dirty="0"/>
              <a:t>Computers create a false sense of security</a:t>
            </a:r>
          </a:p>
          <a:p>
            <a:pPr lvl="1"/>
            <a:r>
              <a:rPr lang="en-US" dirty="0"/>
              <a:t>People do not realize how vulnerable information stored on computers are</a:t>
            </a:r>
          </a:p>
          <a:p>
            <a:r>
              <a:rPr lang="en-US" b="1" dirty="0"/>
              <a:t>Property</a:t>
            </a:r>
          </a:p>
          <a:p>
            <a:pPr lvl="1"/>
            <a:r>
              <a:rPr lang="en-US" dirty="0"/>
              <a:t>Physical property</a:t>
            </a:r>
          </a:p>
          <a:p>
            <a:pPr lvl="1"/>
            <a:r>
              <a:rPr lang="en-US" dirty="0"/>
              <a:t>Intellectual property (in both copyright and patent)</a:t>
            </a:r>
          </a:p>
          <a:p>
            <a:pPr lvl="1"/>
            <a:r>
              <a:rPr lang="en-US" dirty="0"/>
              <a:t>Data as property</a:t>
            </a:r>
          </a:p>
          <a:p>
            <a:r>
              <a:rPr lang="en-US" b="1" dirty="0"/>
              <a:t>Access</a:t>
            </a:r>
          </a:p>
          <a:p>
            <a:pPr lvl="1"/>
            <a:r>
              <a:rPr lang="en-US" dirty="0"/>
              <a:t>Access to computing technology</a:t>
            </a:r>
          </a:p>
          <a:p>
            <a:pPr lvl="1"/>
            <a:r>
              <a:rPr lang="en-US" dirty="0"/>
              <a:t>Access to data</a:t>
            </a:r>
          </a:p>
          <a:p>
            <a:r>
              <a:rPr lang="en-US" b="1" dirty="0"/>
              <a:t>Accuracy</a:t>
            </a:r>
          </a:p>
          <a:p>
            <a:pPr lvl="1"/>
            <a:r>
              <a:rPr lang="en-US" dirty="0"/>
              <a:t>Accuracy of information </a:t>
            </a:r>
            <a:r>
              <a:rPr lang="en-US" dirty="0" smtClean="0"/>
              <a:t>stored</a:t>
            </a:r>
            <a:endParaRPr lang="en-US" dirty="0"/>
          </a:p>
        </p:txBody>
      </p:sp>
    </p:spTree>
    <p:extLst>
      <p:ext uri="{BB962C8B-B14F-4D97-AF65-F5344CB8AC3E}">
        <p14:creationId xmlns:p14="http://schemas.microsoft.com/office/powerpoint/2010/main" val="31279891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Moral and Ethical Problems</a:t>
            </a:r>
            <a:br>
              <a:rPr lang="en-US" b="1" dirty="0"/>
            </a:br>
            <a:endParaRPr lang="en-US" dirty="0"/>
          </a:p>
        </p:txBody>
      </p:sp>
      <p:sp>
        <p:nvSpPr>
          <p:cNvPr id="3" name="Content Placeholder 2"/>
          <p:cNvSpPr>
            <a:spLocks noGrp="1"/>
          </p:cNvSpPr>
          <p:nvPr>
            <p:ph idx="1"/>
          </p:nvPr>
        </p:nvSpPr>
        <p:spPr/>
        <p:txBody>
          <a:bodyPr>
            <a:normAutofit/>
          </a:bodyPr>
          <a:lstStyle/>
          <a:p>
            <a:r>
              <a:rPr lang="en-US" b="1" dirty="0" smtClean="0"/>
              <a:t>Hacking</a:t>
            </a:r>
            <a:r>
              <a:rPr lang="en-US" b="1" dirty="0"/>
              <a:t>, cracking and virus creation</a:t>
            </a:r>
          </a:p>
          <a:p>
            <a:pPr lvl="1"/>
            <a:r>
              <a:rPr lang="en-US" dirty="0" smtClean="0"/>
              <a:t>Serious </a:t>
            </a:r>
            <a:r>
              <a:rPr lang="en-US" dirty="0"/>
              <a:t>crimes that cannot be justified</a:t>
            </a:r>
          </a:p>
          <a:p>
            <a:pPr lvl="1"/>
            <a:r>
              <a:rPr lang="en-US" dirty="0" smtClean="0"/>
              <a:t>Attempts </a:t>
            </a:r>
            <a:r>
              <a:rPr lang="en-US" dirty="0"/>
              <a:t>at justifying such actions</a:t>
            </a:r>
          </a:p>
          <a:p>
            <a:pPr lvl="1"/>
            <a:r>
              <a:rPr lang="en-US" dirty="0" smtClean="0"/>
              <a:t>Electrons </a:t>
            </a:r>
            <a:r>
              <a:rPr lang="en-US" dirty="0"/>
              <a:t>are free- they do not belong to anybody</a:t>
            </a:r>
          </a:p>
          <a:p>
            <a:pPr lvl="1"/>
            <a:r>
              <a:rPr lang="en-US" dirty="0" smtClean="0"/>
              <a:t>Companies </a:t>
            </a:r>
            <a:r>
              <a:rPr lang="en-US" dirty="0"/>
              <a:t>have weak protection</a:t>
            </a:r>
          </a:p>
          <a:p>
            <a:pPr lvl="1"/>
            <a:r>
              <a:rPr lang="en-US" dirty="0" smtClean="0"/>
              <a:t>Point </a:t>
            </a:r>
            <a:r>
              <a:rPr lang="en-US" dirty="0"/>
              <a:t>out flaws and vulnerabilities in information systems</a:t>
            </a:r>
          </a:p>
          <a:p>
            <a:pPr lvl="1"/>
            <a:r>
              <a:rPr lang="en-US" dirty="0" smtClean="0"/>
              <a:t>Hacking </a:t>
            </a:r>
            <a:r>
              <a:rPr lang="en-US" dirty="0"/>
              <a:t>or virus creation is right in a particular country </a:t>
            </a:r>
            <a:r>
              <a:rPr lang="en-US" dirty="0" smtClean="0"/>
              <a:t>or culture</a:t>
            </a:r>
            <a:endParaRPr lang="en-US" dirty="0"/>
          </a:p>
          <a:p>
            <a:r>
              <a:rPr lang="en-US" b="1" dirty="0" smtClean="0"/>
              <a:t>Software </a:t>
            </a:r>
            <a:r>
              <a:rPr lang="en-US" b="1" dirty="0"/>
              <a:t>piracy</a:t>
            </a:r>
          </a:p>
          <a:p>
            <a:pPr lvl="1"/>
            <a:r>
              <a:rPr lang="en-US" dirty="0" smtClean="0"/>
              <a:t>Unauthorized </a:t>
            </a:r>
            <a:r>
              <a:rPr lang="en-US" dirty="0"/>
              <a:t>copying of software is stealing</a:t>
            </a:r>
          </a:p>
          <a:p>
            <a:pPr lvl="1"/>
            <a:r>
              <a:rPr lang="en-US" dirty="0" smtClean="0"/>
              <a:t>It </a:t>
            </a:r>
            <a:r>
              <a:rPr lang="en-US" dirty="0"/>
              <a:t>is morally wrong as it constitutes a violation of </a:t>
            </a:r>
            <a:r>
              <a:rPr lang="en-US" dirty="0" smtClean="0"/>
              <a:t>someone else’s </a:t>
            </a:r>
            <a:r>
              <a:rPr lang="en-US" dirty="0"/>
              <a:t>rights</a:t>
            </a:r>
          </a:p>
        </p:txBody>
      </p:sp>
    </p:spTree>
    <p:extLst>
      <p:ext uri="{BB962C8B-B14F-4D97-AF65-F5344CB8AC3E}">
        <p14:creationId xmlns:p14="http://schemas.microsoft.com/office/powerpoint/2010/main" val="5100102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Computer </a:t>
            </a:r>
            <a:r>
              <a:rPr lang="en-US" dirty="0"/>
              <a:t>Ethics </a:t>
            </a:r>
          </a:p>
        </p:txBody>
      </p:sp>
      <p:sp>
        <p:nvSpPr>
          <p:cNvPr id="3" name="Content Placeholder 2"/>
          <p:cNvSpPr>
            <a:spLocks noGrp="1"/>
          </p:cNvSpPr>
          <p:nvPr>
            <p:ph idx="1"/>
          </p:nvPr>
        </p:nvSpPr>
        <p:spPr/>
        <p:txBody>
          <a:bodyPr/>
          <a:lstStyle/>
          <a:p>
            <a:pPr algn="just">
              <a:lnSpc>
                <a:spcPct val="80000"/>
              </a:lnSpc>
              <a:spcBef>
                <a:spcPts val="700"/>
              </a:spcBef>
              <a:buSzPct val="114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1940-1950: Founded by MIT prof Norbert Wiener: cybernetics-science of information feedback systems.</a:t>
            </a:r>
          </a:p>
          <a:p>
            <a:pPr algn="just">
              <a:lnSpc>
                <a:spcPct val="80000"/>
              </a:lnSpc>
              <a:spcBef>
                <a:spcPts val="700"/>
              </a:spcBef>
              <a:buSzPct val="114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a:p>
            <a:pPr algn="just">
              <a:lnSpc>
                <a:spcPct val="80000"/>
              </a:lnSpc>
              <a:spcBef>
                <a:spcPts val="700"/>
              </a:spcBef>
              <a:buSzPct val="114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1960s: </a:t>
            </a:r>
            <a:r>
              <a:rPr lang="en-GB" dirty="0" err="1"/>
              <a:t>Donn</a:t>
            </a:r>
            <a:r>
              <a:rPr lang="en-GB" dirty="0"/>
              <a:t> Parker from California examined unethical and illegal uses of computers by professionals.  1</a:t>
            </a:r>
            <a:r>
              <a:rPr lang="en-GB" baseline="30000" dirty="0"/>
              <a:t>st</a:t>
            </a:r>
            <a:r>
              <a:rPr lang="en-GB" dirty="0"/>
              <a:t> code of  professional conduct for the ACM.</a:t>
            </a:r>
          </a:p>
          <a:p>
            <a:pPr algn="just">
              <a:lnSpc>
                <a:spcPct val="80000"/>
              </a:lnSpc>
              <a:spcBef>
                <a:spcPts val="700"/>
              </a:spcBef>
              <a:buSzPct val="114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a:p>
            <a:pPr algn="just">
              <a:lnSpc>
                <a:spcPct val="80000"/>
              </a:lnSpc>
              <a:spcBef>
                <a:spcPts val="700"/>
              </a:spcBef>
              <a:buSzPct val="114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Mid 1970: Walter </a:t>
            </a:r>
            <a:r>
              <a:rPr lang="en-GB" dirty="0" err="1"/>
              <a:t>Maner</a:t>
            </a:r>
            <a:r>
              <a:rPr lang="en-GB" dirty="0"/>
              <a:t> taught 1</a:t>
            </a:r>
            <a:r>
              <a:rPr lang="en-GB" baseline="30000" dirty="0"/>
              <a:t>st</a:t>
            </a:r>
            <a:r>
              <a:rPr lang="en-GB" dirty="0"/>
              <a:t> course and starter kit in computer ethics.</a:t>
            </a:r>
          </a:p>
          <a:p>
            <a:pPr marL="0" indent="0" algn="just">
              <a:buNone/>
            </a:pPr>
            <a:endParaRPr lang="en-US" dirty="0"/>
          </a:p>
        </p:txBody>
      </p:sp>
    </p:spTree>
    <p:extLst>
      <p:ext uri="{BB962C8B-B14F-4D97-AF65-F5344CB8AC3E}">
        <p14:creationId xmlns:p14="http://schemas.microsoft.com/office/powerpoint/2010/main" val="9356900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Computer Ethics </a:t>
            </a:r>
          </a:p>
        </p:txBody>
      </p:sp>
      <p:sp>
        <p:nvSpPr>
          <p:cNvPr id="3" name="Content Placeholder 2"/>
          <p:cNvSpPr>
            <a:spLocks noGrp="1"/>
          </p:cNvSpPr>
          <p:nvPr>
            <p:ph idx="1"/>
          </p:nvPr>
        </p:nvSpPr>
        <p:spPr/>
        <p:txBody>
          <a:bodyPr/>
          <a:lstStyle/>
          <a:p>
            <a:pPr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1980: Issues like computer-enabled crime, disasters, invasion of privacy via databases, law suits about software ownership became public.</a:t>
            </a:r>
          </a:p>
          <a:p>
            <a:pPr algn="just">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a:p>
            <a:pPr algn="just">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Mid 80s: James Moore of </a:t>
            </a:r>
            <a:r>
              <a:rPr lang="en-GB" dirty="0" err="1"/>
              <a:t>Darmouth</a:t>
            </a:r>
            <a:r>
              <a:rPr lang="en-GB" dirty="0"/>
              <a:t>,  Deborah Johnson of Rensselaer, Sherry </a:t>
            </a:r>
            <a:r>
              <a:rPr lang="en-GB" dirty="0" err="1"/>
              <a:t>Turkle</a:t>
            </a:r>
            <a:r>
              <a:rPr lang="en-GB" dirty="0"/>
              <a:t> of MIT, and Judith </a:t>
            </a:r>
            <a:r>
              <a:rPr lang="en-GB" dirty="0" err="1"/>
              <a:t>Perrole</a:t>
            </a:r>
            <a:r>
              <a:rPr lang="en-GB" dirty="0"/>
              <a:t> published article and books.</a:t>
            </a:r>
          </a:p>
          <a:p>
            <a:pPr algn="just"/>
            <a:endParaRPr lang="en-US" dirty="0"/>
          </a:p>
        </p:txBody>
      </p:sp>
    </p:spTree>
    <p:extLst>
      <p:ext uri="{BB962C8B-B14F-4D97-AF65-F5344CB8AC3E}">
        <p14:creationId xmlns:p14="http://schemas.microsoft.com/office/powerpoint/2010/main" val="6489811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Computer Ethics </a:t>
            </a:r>
          </a:p>
        </p:txBody>
      </p:sp>
      <p:sp>
        <p:nvSpPr>
          <p:cNvPr id="3" name="Content Placeholder 2"/>
          <p:cNvSpPr>
            <a:spLocks noGrp="1"/>
          </p:cNvSpPr>
          <p:nvPr>
            <p:ph idx="1"/>
          </p:nvPr>
        </p:nvSpPr>
        <p:spPr/>
        <p:txBody>
          <a:bodyPr/>
          <a:lstStyle/>
          <a:p>
            <a:pPr>
              <a:spcBef>
                <a:spcPts val="700"/>
              </a:spcBef>
              <a:buSzPct val="114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1990:  Interest in computer ethics as a field of research had spread to Europe and Australia.</a:t>
            </a:r>
          </a:p>
          <a:p>
            <a:pPr>
              <a:spcBef>
                <a:spcPts val="700"/>
              </a:spcBef>
              <a:buSzPct val="114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a:p>
            <a:pPr>
              <a:spcBef>
                <a:spcPts val="700"/>
              </a:spcBef>
              <a:buSzPct val="114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Simon </a:t>
            </a:r>
            <a:r>
              <a:rPr lang="en-GB" dirty="0" err="1"/>
              <a:t>Rogerson</a:t>
            </a:r>
            <a:r>
              <a:rPr lang="en-GB" dirty="0"/>
              <a:t> of De Montfort University (UK) Terrell Bynum, editor of </a:t>
            </a:r>
            <a:r>
              <a:rPr lang="en-GB" dirty="0" err="1"/>
              <a:t>Metaphilosophy</a:t>
            </a:r>
            <a:r>
              <a:rPr lang="en-GB" dirty="0"/>
              <a:t> (USA), initiated international conferences.</a:t>
            </a:r>
          </a:p>
          <a:p>
            <a:pPr>
              <a:spcBef>
                <a:spcPts val="700"/>
              </a:spcBef>
              <a:buSzPct val="114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a:p>
            <a:pPr>
              <a:spcBef>
                <a:spcPts val="700"/>
              </a:spcBef>
              <a:buSzPct val="114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Mid 90s:  Beginning of a 2</a:t>
            </a:r>
            <a:r>
              <a:rPr lang="en-GB" baseline="30000" dirty="0"/>
              <a:t>nd</a:t>
            </a:r>
            <a:r>
              <a:rPr lang="en-GB" dirty="0"/>
              <a:t> generation of computer ethics with more practical action.</a:t>
            </a:r>
          </a:p>
          <a:p>
            <a:pPr marL="0" indent="0" algn="just">
              <a:buNone/>
              <a:defRPr/>
            </a:pPr>
            <a:endParaRPr lang="en-US" dirty="0"/>
          </a:p>
          <a:p>
            <a:endParaRPr lang="en-US" dirty="0"/>
          </a:p>
        </p:txBody>
      </p:sp>
    </p:spTree>
    <p:extLst>
      <p:ext uri="{BB962C8B-B14F-4D97-AF65-F5344CB8AC3E}">
        <p14:creationId xmlns:p14="http://schemas.microsoft.com/office/powerpoint/2010/main" val="7602002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Computer Ethics?</a:t>
            </a:r>
          </a:p>
        </p:txBody>
      </p:sp>
      <p:sp>
        <p:nvSpPr>
          <p:cNvPr id="3" name="Content Placeholder 2"/>
          <p:cNvSpPr>
            <a:spLocks noGrp="1"/>
          </p:cNvSpPr>
          <p:nvPr>
            <p:ph idx="1"/>
          </p:nvPr>
        </p:nvSpPr>
        <p:spPr/>
        <p:txBody>
          <a:bodyPr/>
          <a:lstStyle/>
          <a:p>
            <a:r>
              <a:rPr lang="en-US" dirty="0"/>
              <a:t>Ethical problems aggravated, transformed or created by computer technology. (</a:t>
            </a:r>
            <a:r>
              <a:rPr lang="en-US" dirty="0" err="1"/>
              <a:t>Maner</a:t>
            </a:r>
            <a:r>
              <a:rPr lang="en-US" dirty="0"/>
              <a:t>)</a:t>
            </a:r>
          </a:p>
          <a:p>
            <a:pPr lvl="1"/>
            <a:r>
              <a:rPr lang="en-US" sz="2000" dirty="0"/>
              <a:t>Old ethical problems made worse by computers – e.g. data security/privacy</a:t>
            </a:r>
          </a:p>
          <a:p>
            <a:pPr lvl="1"/>
            <a:r>
              <a:rPr lang="en-US" sz="2000" dirty="0"/>
              <a:t>others came into existence because of computer technology – e.g. data loss due to malware, online hacking of bank accounts</a:t>
            </a:r>
          </a:p>
          <a:p>
            <a:pPr lvl="1"/>
            <a:endParaRPr lang="en-US" sz="2000" dirty="0"/>
          </a:p>
          <a:p>
            <a:r>
              <a:rPr lang="en-US" dirty="0"/>
              <a:t>Pose new versions of standards moral problems and moral dilemmas, exacerbating old problems  &amp; forcing to apply ordinary moral norms in uncharted realms. (Johnson)</a:t>
            </a:r>
          </a:p>
          <a:p>
            <a:endParaRPr lang="en-US" dirty="0"/>
          </a:p>
        </p:txBody>
      </p:sp>
      <p:sp>
        <p:nvSpPr>
          <p:cNvPr id="4" name="Rectangle 3"/>
          <p:cNvSpPr/>
          <p:nvPr/>
        </p:nvSpPr>
        <p:spPr>
          <a:xfrm>
            <a:off x="1313411" y="5727125"/>
            <a:ext cx="9094124" cy="584775"/>
          </a:xfrm>
          <a:prstGeom prst="rect">
            <a:avLst/>
          </a:prstGeom>
          <a:solidFill>
            <a:schemeClr val="accent2"/>
          </a:solidFill>
        </p:spPr>
        <p:txBody>
          <a:bodyPr wrap="square">
            <a:spAutoFit/>
          </a:bodyPr>
          <a:lstStyle/>
          <a:p>
            <a:r>
              <a:rPr lang="en-US" sz="3200" i="1" dirty="0" smtClean="0"/>
              <a:t>How </a:t>
            </a:r>
            <a:r>
              <a:rPr lang="en-US" sz="3200" i="1" dirty="0"/>
              <a:t>would you compare  the above two view points?</a:t>
            </a:r>
          </a:p>
        </p:txBody>
      </p:sp>
    </p:spTree>
    <p:extLst>
      <p:ext uri="{BB962C8B-B14F-4D97-AF65-F5344CB8AC3E}">
        <p14:creationId xmlns:p14="http://schemas.microsoft.com/office/powerpoint/2010/main" val="41894173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dirty="0"/>
              <a:t>Definitions of Computer Ethics</a:t>
            </a:r>
          </a:p>
        </p:txBody>
      </p:sp>
      <p:sp>
        <p:nvSpPr>
          <p:cNvPr id="3" name="Content Placeholder 2"/>
          <p:cNvSpPr>
            <a:spLocks noGrp="1"/>
          </p:cNvSpPr>
          <p:nvPr>
            <p:ph idx="1"/>
          </p:nvPr>
        </p:nvSpPr>
        <p:spPr>
          <a:xfrm>
            <a:off x="1031358" y="1196975"/>
            <a:ext cx="9190555" cy="4679950"/>
          </a:xfrm>
        </p:spPr>
        <p:txBody>
          <a:bodyPr>
            <a:normAutofit fontScale="85000" lnSpcReduction="20000"/>
          </a:bodyPr>
          <a:lstStyle/>
          <a:p>
            <a:pPr marL="0" indent="0" algn="just">
              <a:buNone/>
              <a:defRPr/>
            </a:pPr>
            <a:r>
              <a:rPr lang="en-US" b="1" dirty="0"/>
              <a:t>James Moor</a:t>
            </a:r>
          </a:p>
          <a:p>
            <a:pPr algn="just">
              <a:defRPr/>
            </a:pPr>
            <a:r>
              <a:rPr lang="en-US" dirty="0"/>
              <a:t>The operation of computer systems and their associated communications systems are central to the economies of the developed world. </a:t>
            </a:r>
            <a:endParaRPr lang="en-US" dirty="0" smtClean="0"/>
          </a:p>
          <a:p>
            <a:pPr algn="just">
              <a:defRPr/>
            </a:pPr>
            <a:r>
              <a:rPr lang="en-US" dirty="0" smtClean="0"/>
              <a:t>The </a:t>
            </a:r>
            <a:r>
              <a:rPr lang="en-US" dirty="0"/>
              <a:t>social impact of this technology has been immense, changing the environment in which computers are used, and in doing so giving rise to questions of right and wrong. </a:t>
            </a:r>
            <a:endParaRPr lang="en-US" dirty="0" smtClean="0"/>
          </a:p>
          <a:p>
            <a:pPr algn="just">
              <a:defRPr/>
            </a:pPr>
            <a:r>
              <a:rPr lang="en-US" dirty="0" smtClean="0"/>
              <a:t>Moor </a:t>
            </a:r>
            <a:r>
              <a:rPr lang="en-US" dirty="0"/>
              <a:t>defines computer ethics as:</a:t>
            </a:r>
          </a:p>
          <a:p>
            <a:pPr lvl="1" algn="just">
              <a:defRPr/>
            </a:pPr>
            <a:r>
              <a:rPr lang="en-US" i="1" dirty="0" smtClean="0"/>
              <a:t>The </a:t>
            </a:r>
            <a:r>
              <a:rPr lang="en-US" i="1" dirty="0"/>
              <a:t>analysis of the nature and the social impact of computer technology and the corresponding formulation and justification of policies for the ethical use of such technology</a:t>
            </a:r>
            <a:r>
              <a:rPr lang="en-US" i="1" dirty="0" smtClean="0"/>
              <a:t>.</a:t>
            </a:r>
            <a:endParaRPr lang="en-US" i="1" dirty="0"/>
          </a:p>
          <a:p>
            <a:pPr algn="just">
              <a:defRPr/>
            </a:pPr>
            <a:r>
              <a:rPr lang="en-US" dirty="0"/>
              <a:t>He uses the phrase 'computer technology' </a:t>
            </a:r>
            <a:r>
              <a:rPr lang="en-US" dirty="0" smtClean="0"/>
              <a:t>broadly </a:t>
            </a:r>
            <a:r>
              <a:rPr lang="en-US" dirty="0"/>
              <a:t>to include computers and associated technology: including concerns about software as well as hardware and concerns about networks connecting computers as well as computers themselves.</a:t>
            </a:r>
          </a:p>
          <a:p>
            <a:pPr marL="0" indent="0" algn="just">
              <a:buNone/>
              <a:defRPr/>
            </a:pPr>
            <a:endParaRPr lang="en-US" dirty="0"/>
          </a:p>
        </p:txBody>
      </p:sp>
    </p:spTree>
    <p:extLst>
      <p:ext uri="{BB962C8B-B14F-4D97-AF65-F5344CB8AC3E}">
        <p14:creationId xmlns:p14="http://schemas.microsoft.com/office/powerpoint/2010/main" val="11785476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Computer Ethics? (contd.)</a:t>
            </a:r>
          </a:p>
        </p:txBody>
      </p:sp>
      <p:sp>
        <p:nvSpPr>
          <p:cNvPr id="3" name="Content Placeholder 2"/>
          <p:cNvSpPr>
            <a:spLocks noGrp="1"/>
          </p:cNvSpPr>
          <p:nvPr>
            <p:ph idx="1"/>
          </p:nvPr>
        </p:nvSpPr>
        <p:spPr/>
        <p:txBody>
          <a:bodyPr>
            <a:normAutofit/>
          </a:bodyPr>
          <a:lstStyle/>
          <a:p>
            <a:r>
              <a:rPr lang="en-US" dirty="0" smtClean="0"/>
              <a:t>Computer Ethics identifies &amp; analyzes the impact of I.T on such social &amp; human values</a:t>
            </a:r>
          </a:p>
          <a:p>
            <a:pPr lvl="1"/>
            <a:r>
              <a:rPr lang="en-US" dirty="0" smtClean="0"/>
              <a:t> as health, wealth, work, knowledge, opportunity, freedom, democracy, privacy, security etc. (Bynum)</a:t>
            </a:r>
          </a:p>
          <a:p>
            <a:r>
              <a:rPr lang="en-US" dirty="0" smtClean="0"/>
              <a:t>Professional ethics – guide the day to day activities of computing professional, whoever involved in design &amp; development of computer artifacts. (</a:t>
            </a:r>
            <a:r>
              <a:rPr lang="en-US" dirty="0" err="1" smtClean="0"/>
              <a:t>Gotterbarn</a:t>
            </a:r>
            <a:r>
              <a:rPr lang="en-US" dirty="0" smtClean="0"/>
              <a:t>)</a:t>
            </a:r>
          </a:p>
          <a:p>
            <a:endParaRPr lang="en-US" dirty="0"/>
          </a:p>
        </p:txBody>
      </p:sp>
    </p:spTree>
    <p:extLst>
      <p:ext uri="{BB962C8B-B14F-4D97-AF65-F5344CB8AC3E}">
        <p14:creationId xmlns:p14="http://schemas.microsoft.com/office/powerpoint/2010/main" val="41527181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Summarized definitions of Computer Ethics</a:t>
            </a:r>
            <a:endParaRPr lang="en-US" dirty="0"/>
          </a:p>
        </p:txBody>
      </p:sp>
      <p:sp>
        <p:nvSpPr>
          <p:cNvPr id="3" name="Content Placeholder 2"/>
          <p:cNvSpPr>
            <a:spLocks noGrp="1"/>
          </p:cNvSpPr>
          <p:nvPr>
            <p:ph idx="1"/>
          </p:nvPr>
        </p:nvSpPr>
        <p:spPr/>
        <p:txBody>
          <a:bodyPr>
            <a:normAutofit/>
          </a:bodyPr>
          <a:lstStyle/>
          <a:p>
            <a:r>
              <a:rPr lang="en-US" dirty="0" err="1" smtClean="0"/>
              <a:t>Maner’s</a:t>
            </a:r>
            <a:r>
              <a:rPr lang="en-US" dirty="0" smtClean="0"/>
              <a:t> ------ ethical problems transformed into new ones</a:t>
            </a:r>
          </a:p>
          <a:p>
            <a:r>
              <a:rPr lang="en-US" dirty="0" smtClean="0"/>
              <a:t>Johnson’s-------new version of moral problems</a:t>
            </a:r>
          </a:p>
          <a:p>
            <a:r>
              <a:rPr lang="en-US" dirty="0" smtClean="0"/>
              <a:t>Moor’s-</a:t>
            </a:r>
            <a:r>
              <a:rPr lang="en-US" dirty="0"/>
              <a:t>--------- </a:t>
            </a:r>
            <a:r>
              <a:rPr lang="en-US" dirty="0" smtClean="0"/>
              <a:t>Computer </a:t>
            </a:r>
            <a:r>
              <a:rPr lang="en-US" dirty="0"/>
              <a:t>technology including concerns about </a:t>
            </a:r>
            <a:r>
              <a:rPr lang="en-US" dirty="0" smtClean="0"/>
              <a:t> software </a:t>
            </a:r>
            <a:r>
              <a:rPr lang="en-US" dirty="0"/>
              <a:t>as well as hardware</a:t>
            </a:r>
            <a:endParaRPr lang="en-US" dirty="0" smtClean="0"/>
          </a:p>
          <a:p>
            <a:r>
              <a:rPr lang="en-US" dirty="0" smtClean="0"/>
              <a:t>Bynum’s------impact of I.T on social &amp; human values</a:t>
            </a:r>
          </a:p>
          <a:p>
            <a:r>
              <a:rPr lang="en-US" dirty="0" err="1" smtClean="0"/>
              <a:t>Gotterbarn’s</a:t>
            </a:r>
            <a:r>
              <a:rPr lang="en-US" dirty="0" smtClean="0"/>
              <a:t>-----guide day to day activities of computing professionals</a:t>
            </a:r>
            <a:endParaRPr lang="en-US" dirty="0"/>
          </a:p>
        </p:txBody>
      </p:sp>
    </p:spTree>
    <p:extLst>
      <p:ext uri="{BB962C8B-B14F-4D97-AF65-F5344CB8AC3E}">
        <p14:creationId xmlns:p14="http://schemas.microsoft.com/office/powerpoint/2010/main" val="23515592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ethics.csc.ncsu.edu/images/ethicsma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5343" y="271549"/>
            <a:ext cx="7761517" cy="640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83411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Ethical </a:t>
            </a:r>
            <a:r>
              <a:rPr lang="en-US" dirty="0"/>
              <a:t>S</a:t>
            </a:r>
            <a:r>
              <a:rPr lang="en-US" dirty="0" smtClean="0"/>
              <a:t>cenarios</a:t>
            </a:r>
            <a:endParaRPr lang="en-US" dirty="0"/>
          </a:p>
        </p:txBody>
      </p:sp>
      <p:sp>
        <p:nvSpPr>
          <p:cNvPr id="3" name="Content Placeholder 2"/>
          <p:cNvSpPr>
            <a:spLocks noGrp="1"/>
          </p:cNvSpPr>
          <p:nvPr>
            <p:ph idx="1"/>
          </p:nvPr>
        </p:nvSpPr>
        <p:spPr/>
        <p:txBody>
          <a:bodyPr>
            <a:normAutofit lnSpcReduction="10000"/>
          </a:bodyPr>
          <a:lstStyle/>
          <a:p>
            <a:r>
              <a:rPr lang="en-US" dirty="0"/>
              <a:t>A good place to start on this course is to look at the reasons why we should study it at all. </a:t>
            </a:r>
            <a:endParaRPr lang="en-US" dirty="0" smtClean="0"/>
          </a:p>
          <a:p>
            <a:r>
              <a:rPr lang="en-US" dirty="0"/>
              <a:t>To facilitate this, we look at a few scenarios. </a:t>
            </a:r>
          </a:p>
          <a:p>
            <a:pPr marL="0" indent="0">
              <a:buNone/>
            </a:pPr>
            <a:endParaRPr lang="en-US" dirty="0" smtClean="0"/>
          </a:p>
          <a:p>
            <a:r>
              <a:rPr lang="en-US" dirty="0" smtClean="0"/>
              <a:t>Using a software trial version for 12 months, saying that s/he is evaluating it before deciding to buy it. Whether such conduct is ethical?</a:t>
            </a:r>
          </a:p>
          <a:p>
            <a:r>
              <a:rPr lang="en-US" dirty="0" smtClean="0"/>
              <a:t>A catastrophic bug has been identified just a day before deploying a safety critical software. The QA team has been warned not to report the bug to avoid delay in deploying software. Is it ethical?</a:t>
            </a:r>
            <a:endParaRPr lang="en-US" dirty="0"/>
          </a:p>
        </p:txBody>
      </p:sp>
    </p:spTree>
    <p:extLst>
      <p:ext uri="{BB962C8B-B14F-4D97-AF65-F5344CB8AC3E}">
        <p14:creationId xmlns:p14="http://schemas.microsoft.com/office/powerpoint/2010/main" val="21488937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Ethical </a:t>
            </a:r>
            <a:r>
              <a:rPr lang="en-US" dirty="0" smtClean="0"/>
              <a:t>Scenarios (contd.)</a:t>
            </a:r>
            <a:endParaRPr lang="en-US" dirty="0"/>
          </a:p>
        </p:txBody>
      </p:sp>
      <p:sp>
        <p:nvSpPr>
          <p:cNvPr id="3" name="Content Placeholder 2"/>
          <p:cNvSpPr>
            <a:spLocks noGrp="1"/>
          </p:cNvSpPr>
          <p:nvPr>
            <p:ph idx="1"/>
          </p:nvPr>
        </p:nvSpPr>
        <p:spPr/>
        <p:txBody>
          <a:bodyPr/>
          <a:lstStyle/>
          <a:p>
            <a:r>
              <a:rPr lang="en-US" dirty="0"/>
              <a:t>A</a:t>
            </a:r>
            <a:r>
              <a:rPr lang="en-US" dirty="0" smtClean="0"/>
              <a:t> software that can predict the radiation of a nuclear system up to 75% accuracy, is to be developed, the software has acquired 74.6% accuracy. The manager has decided to round it off to meet client’s requirement. </a:t>
            </a:r>
          </a:p>
          <a:p>
            <a:r>
              <a:rPr lang="en-US" dirty="0" smtClean="0"/>
              <a:t>Is it ethical?</a:t>
            </a:r>
          </a:p>
          <a:p>
            <a:endParaRPr lang="en-US" dirty="0"/>
          </a:p>
        </p:txBody>
      </p:sp>
    </p:spTree>
    <p:extLst>
      <p:ext uri="{BB962C8B-B14F-4D97-AF65-F5344CB8AC3E}">
        <p14:creationId xmlns:p14="http://schemas.microsoft.com/office/powerpoint/2010/main" val="10960861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Scenario: </a:t>
            </a:r>
            <a:r>
              <a:rPr lang="en-GB" dirty="0"/>
              <a:t>Should I copy software</a:t>
            </a:r>
            <a:r>
              <a:rPr lang="en-GB" dirty="0" smtClean="0"/>
              <a:t>?</a:t>
            </a:r>
            <a:endParaRPr lang="en-US" dirty="0"/>
          </a:p>
        </p:txBody>
      </p:sp>
      <p:sp>
        <p:nvSpPr>
          <p:cNvPr id="3" name="Content Placeholder 2"/>
          <p:cNvSpPr>
            <a:spLocks noGrp="1"/>
          </p:cNvSpPr>
          <p:nvPr>
            <p:ph idx="1"/>
          </p:nvPr>
        </p:nvSpPr>
        <p:spPr/>
        <p:txBody>
          <a:bodyPr>
            <a:normAutofit fontScale="85000" lnSpcReduction="10000"/>
          </a:bodyPr>
          <a:lstStyle/>
          <a:p>
            <a:pPr algn="just">
              <a:buFont typeface="Wingdings" panose="05000000000000000000" pitchFamily="2" charset="2"/>
              <a:buChar char="§"/>
              <a:defRPr/>
            </a:pPr>
            <a:r>
              <a:rPr lang="en-US" dirty="0" err="1"/>
              <a:t>Javid</a:t>
            </a:r>
            <a:r>
              <a:rPr lang="en-US" dirty="0"/>
              <a:t> invests a small amount in the stock market. </a:t>
            </a:r>
          </a:p>
          <a:p>
            <a:pPr algn="just">
              <a:buFont typeface="Wingdings" panose="05000000000000000000" pitchFamily="2" charset="2"/>
              <a:buChar char="§"/>
              <a:defRPr/>
            </a:pPr>
            <a:r>
              <a:rPr lang="en-US" dirty="0"/>
              <a:t>Last year he bought and successfully employed a software package to help him with his investments. </a:t>
            </a:r>
          </a:p>
          <a:p>
            <a:pPr algn="just">
              <a:buFont typeface="Wingdings" panose="05000000000000000000" pitchFamily="2" charset="2"/>
              <a:buChar char="§"/>
              <a:defRPr/>
            </a:pPr>
            <a:r>
              <a:rPr lang="en-US" dirty="0"/>
              <a:t>Recently, he met </a:t>
            </a:r>
            <a:r>
              <a:rPr lang="en-US" dirty="0" err="1"/>
              <a:t>Mazhar</a:t>
            </a:r>
            <a:r>
              <a:rPr lang="en-US" dirty="0"/>
              <a:t> who was also interested in using the software. </a:t>
            </a:r>
          </a:p>
          <a:p>
            <a:pPr algn="just">
              <a:buFont typeface="Wingdings" panose="05000000000000000000" pitchFamily="2" charset="2"/>
              <a:buChar char="§"/>
              <a:defRPr/>
            </a:pPr>
            <a:r>
              <a:rPr lang="en-US" dirty="0" err="1"/>
              <a:t>Mazar</a:t>
            </a:r>
            <a:r>
              <a:rPr lang="en-US" dirty="0"/>
              <a:t> borrowed the package, copied it and then returns it. </a:t>
            </a:r>
          </a:p>
          <a:p>
            <a:pPr algn="just">
              <a:buFont typeface="Wingdings" panose="05000000000000000000" pitchFamily="2" charset="2"/>
              <a:buChar char="§"/>
              <a:defRPr/>
            </a:pPr>
            <a:r>
              <a:rPr lang="en-US" dirty="0"/>
              <a:t>Both knew that the software was proprietary but did not read up the details. </a:t>
            </a:r>
          </a:p>
          <a:p>
            <a:pPr algn="just">
              <a:buFont typeface="Wingdings" panose="05000000000000000000" pitchFamily="2" charset="2"/>
              <a:buChar char="§"/>
              <a:defRPr/>
            </a:pPr>
            <a:r>
              <a:rPr lang="en-US" dirty="0"/>
              <a:t>Did </a:t>
            </a:r>
            <a:r>
              <a:rPr lang="en-US" dirty="0" err="1"/>
              <a:t>Javid</a:t>
            </a:r>
            <a:r>
              <a:rPr lang="en-US" dirty="0"/>
              <a:t> and </a:t>
            </a:r>
            <a:r>
              <a:rPr lang="en-US" dirty="0" err="1"/>
              <a:t>Mazhar</a:t>
            </a:r>
            <a:r>
              <a:rPr lang="en-US" dirty="0"/>
              <a:t> do anything wrong, if so what? Something to consider: </a:t>
            </a:r>
          </a:p>
          <a:p>
            <a:pPr algn="just">
              <a:buFont typeface="Wingdings" panose="05000000000000000000" pitchFamily="2" charset="2"/>
              <a:buChar char="§"/>
              <a:defRPr/>
            </a:pPr>
            <a:r>
              <a:rPr lang="en-US" dirty="0"/>
              <a:t>Should software package be lent? </a:t>
            </a:r>
          </a:p>
          <a:p>
            <a:pPr algn="just">
              <a:buFont typeface="Wingdings" panose="05000000000000000000" pitchFamily="2" charset="2"/>
              <a:buChar char="§"/>
              <a:defRPr/>
            </a:pPr>
            <a:r>
              <a:rPr lang="en-US" dirty="0"/>
              <a:t>When is it justifiable to break the law?</a:t>
            </a:r>
          </a:p>
          <a:p>
            <a:pPr algn="just">
              <a:buFont typeface="Wingdings" panose="05000000000000000000" pitchFamily="2" charset="2"/>
              <a:buChar char="§"/>
              <a:defRPr/>
            </a:pPr>
            <a:r>
              <a:rPr lang="en-US" dirty="0"/>
              <a:t>Bad law, inappropriate law or if the law is easy to break?</a:t>
            </a:r>
          </a:p>
          <a:p>
            <a:pPr marL="0" indent="0">
              <a:buNone/>
            </a:pPr>
            <a:endParaRPr lang="en-US" dirty="0"/>
          </a:p>
        </p:txBody>
      </p:sp>
      <p:sp>
        <p:nvSpPr>
          <p:cNvPr id="4" name="TextBox 3"/>
          <p:cNvSpPr txBox="1"/>
          <p:nvPr/>
        </p:nvSpPr>
        <p:spPr>
          <a:xfrm>
            <a:off x="8528858" y="6334298"/>
            <a:ext cx="2824942" cy="369332"/>
          </a:xfrm>
          <a:prstGeom prst="rect">
            <a:avLst/>
          </a:prstGeom>
          <a:solidFill>
            <a:schemeClr val="accent2"/>
          </a:solidFill>
        </p:spPr>
        <p:txBody>
          <a:bodyPr wrap="square" rtlCol="0">
            <a:spAutoFit/>
          </a:bodyPr>
          <a:lstStyle/>
          <a:p>
            <a:r>
              <a:rPr lang="en-US" dirty="0" smtClean="0"/>
              <a:t>Do your self to find answers</a:t>
            </a:r>
            <a:endParaRPr lang="en-US" dirty="0"/>
          </a:p>
        </p:txBody>
      </p:sp>
    </p:spTree>
    <p:extLst>
      <p:ext uri="{BB962C8B-B14F-4D97-AF65-F5344CB8AC3E}">
        <p14:creationId xmlns:p14="http://schemas.microsoft.com/office/powerpoint/2010/main" val="10984135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Scenario: </a:t>
            </a:r>
            <a:r>
              <a:rPr lang="en-GB" dirty="0"/>
              <a:t>Should a </a:t>
            </a:r>
            <a:r>
              <a:rPr lang="en-GB" dirty="0" smtClean="0"/>
              <a:t>company’s </a:t>
            </a:r>
            <a:r>
              <a:rPr lang="en-GB" dirty="0"/>
              <a:t>D</a:t>
            </a:r>
            <a:r>
              <a:rPr lang="en-GB" dirty="0" smtClean="0"/>
              <a:t>ata </a:t>
            </a:r>
            <a:r>
              <a:rPr lang="en-GB" dirty="0"/>
              <a:t>mine</a:t>
            </a:r>
            <a:r>
              <a:rPr lang="en-GB" dirty="0" smtClean="0"/>
              <a:t>?</a:t>
            </a:r>
            <a:endParaRPr lang="en-US" dirty="0"/>
          </a:p>
        </p:txBody>
      </p:sp>
      <p:sp>
        <p:nvSpPr>
          <p:cNvPr id="3" name="Content Placeholder 2"/>
          <p:cNvSpPr>
            <a:spLocks noGrp="1"/>
          </p:cNvSpPr>
          <p:nvPr>
            <p:ph idx="1"/>
          </p:nvPr>
        </p:nvSpPr>
        <p:spPr/>
        <p:txBody>
          <a:bodyPr>
            <a:normAutofit fontScale="85000" lnSpcReduction="20000"/>
          </a:bodyPr>
          <a:lstStyle/>
          <a:p>
            <a:pPr marL="0" indent="0" algn="just">
              <a:buNone/>
              <a:defRPr/>
            </a:pPr>
            <a:r>
              <a:rPr lang="en-US" dirty="0"/>
              <a:t>Inga sells hardware and software to over 100 000 customers per year. </a:t>
            </a:r>
          </a:p>
          <a:p>
            <a:pPr marL="0" indent="0" algn="just">
              <a:buNone/>
              <a:defRPr/>
            </a:pPr>
            <a:r>
              <a:rPr lang="en-US" dirty="0"/>
              <a:t>She has 10 years’ experience. As part of the billing process she keeps information on customers. She buys and uses a data mining tool to derive useful information about her client’s information such as zip codes, credit card numbers, ID numbers etc. Most of this  information identifies groups and not individuals. She can then use the information to market her wares more efficiently. Is this ethical since customers did not give her the information for this purpose?</a:t>
            </a:r>
          </a:p>
          <a:p>
            <a:pPr marL="0" indent="0" algn="just">
              <a:buNone/>
              <a:defRPr/>
            </a:pPr>
            <a:endParaRPr lang="en-US" dirty="0"/>
          </a:p>
          <a:p>
            <a:pPr marL="0" indent="0">
              <a:buNone/>
            </a:pPr>
            <a:r>
              <a:rPr lang="en-GB" dirty="0"/>
              <a:t>Something to consider:</a:t>
            </a:r>
          </a:p>
          <a:p>
            <a:pPr marL="0" indent="0">
              <a:buNone/>
            </a:pPr>
            <a:r>
              <a:rPr lang="en-GB" dirty="0"/>
              <a:t>• Should customer be notified?</a:t>
            </a:r>
          </a:p>
          <a:p>
            <a:pPr marL="0" indent="0">
              <a:buNone/>
            </a:pPr>
            <a:r>
              <a:rPr lang="en-GB" dirty="0"/>
              <a:t>• Is there a need for establishment of a policy? What should this policy look like?</a:t>
            </a:r>
          </a:p>
          <a:p>
            <a:pPr marL="0" indent="0">
              <a:buNone/>
            </a:pPr>
            <a:r>
              <a:rPr lang="en-GB" dirty="0"/>
              <a:t>• Professional responsibility (professional Ethics): Do professionals have a responsibility to ensure computing serves humanity well?</a:t>
            </a:r>
          </a:p>
          <a:p>
            <a:endParaRPr lang="en-US" dirty="0"/>
          </a:p>
        </p:txBody>
      </p:sp>
      <p:sp>
        <p:nvSpPr>
          <p:cNvPr id="4" name="TextBox 3"/>
          <p:cNvSpPr txBox="1"/>
          <p:nvPr/>
        </p:nvSpPr>
        <p:spPr>
          <a:xfrm>
            <a:off x="8761614" y="6176963"/>
            <a:ext cx="2824942" cy="369332"/>
          </a:xfrm>
          <a:prstGeom prst="rect">
            <a:avLst/>
          </a:prstGeom>
          <a:solidFill>
            <a:schemeClr val="accent2"/>
          </a:solidFill>
        </p:spPr>
        <p:txBody>
          <a:bodyPr wrap="square" rtlCol="0">
            <a:spAutoFit/>
          </a:bodyPr>
          <a:lstStyle/>
          <a:p>
            <a:r>
              <a:rPr lang="en-US" dirty="0" smtClean="0"/>
              <a:t>Do your self to find answers</a:t>
            </a:r>
            <a:endParaRPr lang="en-US" dirty="0"/>
          </a:p>
        </p:txBody>
      </p:sp>
    </p:spTree>
    <p:extLst>
      <p:ext uri="{BB962C8B-B14F-4D97-AF65-F5344CB8AC3E}">
        <p14:creationId xmlns:p14="http://schemas.microsoft.com/office/powerpoint/2010/main" val="9529053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0530" y="514754"/>
            <a:ext cx="9144001"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197724" y="6091793"/>
            <a:ext cx="4326697" cy="646331"/>
          </a:xfrm>
          <a:prstGeom prst="rect">
            <a:avLst/>
          </a:prstGeom>
          <a:solidFill>
            <a:schemeClr val="accent2"/>
          </a:solidFill>
        </p:spPr>
        <p:txBody>
          <a:bodyPr wrap="none">
            <a:spAutoFit/>
          </a:bodyPr>
          <a:lstStyle/>
          <a:p>
            <a:r>
              <a:rPr lang="en-US" dirty="0"/>
              <a:t>The ethical values as defined in 1992 by </a:t>
            </a:r>
            <a:r>
              <a:rPr lang="en-US" dirty="0" smtClean="0"/>
              <a:t>the </a:t>
            </a:r>
          </a:p>
          <a:p>
            <a:r>
              <a:rPr lang="en-US" dirty="0" smtClean="0">
                <a:hlinkClick r:id="rId4" tooltip="Computer Ethics Institute (page does not exist)"/>
              </a:rPr>
              <a:t>Computer </a:t>
            </a:r>
            <a:r>
              <a:rPr lang="en-US" dirty="0">
                <a:hlinkClick r:id="rId4" tooltip="Computer Ethics Institute (page does not exist)"/>
              </a:rPr>
              <a:t>Ethics Institute</a:t>
            </a:r>
            <a:endParaRPr lang="en-US" dirty="0"/>
          </a:p>
        </p:txBody>
      </p:sp>
    </p:spTree>
    <p:extLst>
      <p:ext uri="{BB962C8B-B14F-4D97-AF65-F5344CB8AC3E}">
        <p14:creationId xmlns:p14="http://schemas.microsoft.com/office/powerpoint/2010/main" val="24303058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smtClean="0"/>
              <a:t>Assignment</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Prepare a report on following topics: 					[5]</a:t>
            </a:r>
          </a:p>
          <a:p>
            <a:r>
              <a:rPr lang="en-US" dirty="0" smtClean="0"/>
              <a:t>Computer </a:t>
            </a:r>
            <a:r>
              <a:rPr lang="en-US" dirty="0"/>
              <a:t>ethics: Its birth and its </a:t>
            </a:r>
            <a:r>
              <a:rPr lang="en-US" dirty="0" smtClean="0"/>
              <a:t>future				[5]</a:t>
            </a:r>
          </a:p>
          <a:p>
            <a:r>
              <a:rPr lang="en-US" dirty="0" smtClean="0"/>
              <a:t>Ethical problems in computing</a:t>
            </a:r>
          </a:p>
          <a:p>
            <a:pPr marL="0" indent="0">
              <a:buNone/>
            </a:pPr>
            <a:r>
              <a:rPr lang="en-US" dirty="0" smtClean="0"/>
              <a:t>Recommended Reading materials:</a:t>
            </a:r>
          </a:p>
          <a:p>
            <a:pPr lvl="0"/>
            <a:r>
              <a:rPr lang="en-US" i="1" dirty="0"/>
              <a:t>Bynum, Terrell. (2001). Computer ethics: Its birth and its future. Ethics and Information Technology. 3. 109-112. 10.1023/A:1011893925319</a:t>
            </a:r>
            <a:r>
              <a:rPr lang="en-US" i="1" dirty="0" smtClean="0"/>
              <a:t>.</a:t>
            </a:r>
            <a:endParaRPr lang="en-US" dirty="0" smtClean="0"/>
          </a:p>
          <a:p>
            <a:r>
              <a:rPr lang="en-US" sz="2400" dirty="0" smtClean="0"/>
              <a:t>https</a:t>
            </a:r>
            <a:r>
              <a:rPr lang="en-US" sz="2400" dirty="0"/>
              <a:t>://www.comptia.org/blog/ethical-problems-in-computing#:~:text=To%20begin%20with%2C%20it%20seems,%2C%20workers%2C%20and%20customers%E2%80%9D.</a:t>
            </a:r>
          </a:p>
        </p:txBody>
      </p:sp>
    </p:spTree>
    <p:extLst>
      <p:ext uri="{BB962C8B-B14F-4D97-AF65-F5344CB8AC3E}">
        <p14:creationId xmlns:p14="http://schemas.microsoft.com/office/powerpoint/2010/main" val="5496904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Readings</a:t>
            </a:r>
            <a:endParaRPr lang="en-US" dirty="0"/>
          </a:p>
        </p:txBody>
      </p:sp>
      <p:sp>
        <p:nvSpPr>
          <p:cNvPr id="3" name="Content Placeholder 2"/>
          <p:cNvSpPr>
            <a:spLocks noGrp="1"/>
          </p:cNvSpPr>
          <p:nvPr>
            <p:ph idx="1"/>
          </p:nvPr>
        </p:nvSpPr>
        <p:spPr/>
        <p:txBody>
          <a:bodyPr/>
          <a:lstStyle/>
          <a:p>
            <a:r>
              <a:rPr lang="en-US" dirty="0"/>
              <a:t> </a:t>
            </a:r>
            <a:r>
              <a:rPr lang="en-US" dirty="0">
                <a:hlinkClick r:id="rId2" tooltip="Computer Ethics Institute (page does not exist)"/>
              </a:rPr>
              <a:t>Computer Ethics Institute</a:t>
            </a:r>
            <a:endParaRPr lang="en-US" dirty="0" smtClean="0"/>
          </a:p>
          <a:p>
            <a:r>
              <a:rPr lang="en-US" dirty="0" smtClean="0"/>
              <a:t>https</a:t>
            </a:r>
            <a:r>
              <a:rPr lang="en-US" dirty="0"/>
              <a:t>://en.wikipedia.org/wiki/Ten_Commandments_of_Computer_Ethics</a:t>
            </a:r>
          </a:p>
          <a:p>
            <a:endParaRPr lang="en-US" dirty="0"/>
          </a:p>
        </p:txBody>
      </p:sp>
    </p:spTree>
    <p:extLst>
      <p:ext uri="{BB962C8B-B14F-4D97-AF65-F5344CB8AC3E}">
        <p14:creationId xmlns:p14="http://schemas.microsoft.com/office/powerpoint/2010/main" val="11754597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bwMode="auto">
          <a:xfrm>
            <a:off x="2063750" y="2708275"/>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r>
              <a:rPr lang="en-US"/>
              <a:t/>
            </a:r>
            <a:br>
              <a:rPr lang="en-US"/>
            </a:br>
            <a:r>
              <a:rPr lang="en-US"/>
              <a:t>Thank you!</a:t>
            </a:r>
          </a:p>
        </p:txBody>
      </p:sp>
    </p:spTree>
    <p:extLst>
      <p:ext uri="{BB962C8B-B14F-4D97-AF65-F5344CB8AC3E}">
        <p14:creationId xmlns:p14="http://schemas.microsoft.com/office/powerpoint/2010/main" val="19332382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6880</TotalTime>
  <Words>1226</Words>
  <Application>Microsoft Office PowerPoint</Application>
  <PresentationFormat>Widescreen</PresentationFormat>
  <Paragraphs>136</Paragraphs>
  <Slides>20</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Wingdings</vt:lpstr>
      <vt:lpstr>Office Theme</vt:lpstr>
      <vt:lpstr>Professional Practices</vt:lpstr>
      <vt:lpstr>Week 2 Topics Covered</vt:lpstr>
      <vt:lpstr>Categories of Computer Issues</vt:lpstr>
      <vt:lpstr>Moral and Ethical Problems </vt:lpstr>
      <vt:lpstr>History of Computer Ethics </vt:lpstr>
      <vt:lpstr>History of Computer Ethics </vt:lpstr>
      <vt:lpstr>History of Computer Ethics </vt:lpstr>
      <vt:lpstr>What is Computer Ethics?</vt:lpstr>
      <vt:lpstr>Definitions of Computer Ethics</vt:lpstr>
      <vt:lpstr>What is Computer Ethics? (contd.)</vt:lpstr>
      <vt:lpstr>Summarized definitions of Computer Ethics</vt:lpstr>
      <vt:lpstr>PowerPoint Presentation</vt:lpstr>
      <vt:lpstr>Ethical Scenarios</vt:lpstr>
      <vt:lpstr>Ethical Scenarios (contd.)</vt:lpstr>
      <vt:lpstr>Scenario: Should I copy software?</vt:lpstr>
      <vt:lpstr>Scenario: Should a company’s Data mine?</vt:lpstr>
      <vt:lpstr>PowerPoint Presentation</vt:lpstr>
      <vt:lpstr>Assignment</vt:lpstr>
      <vt:lpstr>Further Readings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LENOVO</cp:lastModifiedBy>
  <cp:revision>77</cp:revision>
  <dcterms:created xsi:type="dcterms:W3CDTF">2020-09-29T10:19:05Z</dcterms:created>
  <dcterms:modified xsi:type="dcterms:W3CDTF">2024-02-18T06:59:39Z</dcterms:modified>
</cp:coreProperties>
</file>
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73" d="100"/>
          <a:sy n="73" d="100"/>
        </p:scale>
        <p:origin x="5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7ED264D-F1CD-4A0E-86DE-829D531D8CC1}" type="datetimeFigureOut">
              <a:rPr lang="en-US" smtClean="0"/>
              <a:t>11/22/2022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45237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11/22/2022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2195129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D264D-F1CD-4A0E-86DE-829D531D8CC1}" type="datetimeFigureOut">
              <a:rPr lang="en-US" smtClean="0"/>
              <a:t>11/22/2022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730313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ED264D-F1CD-4A0E-86DE-829D531D8CC1}" type="datetimeFigureOut">
              <a:rPr lang="en-US" smtClean="0"/>
              <a:t>11/22/2022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84983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ED264D-F1CD-4A0E-86DE-829D531D8CC1}" type="datetimeFigureOut">
              <a:rPr lang="en-US" smtClean="0"/>
              <a:t>11/22/2022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45637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ED264D-F1CD-4A0E-86DE-829D531D8CC1}" type="datetimeFigureOut">
              <a:rPr lang="en-US" smtClean="0"/>
              <a:t>11/22/2022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685607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ED264D-F1CD-4A0E-86DE-829D531D8CC1}" type="datetimeFigureOut">
              <a:rPr lang="en-US" smtClean="0"/>
              <a:t>11/22/2022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3444612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11/22/2022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90698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11/22/2022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2031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11/22/2022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11558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11/22/2022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30028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ED264D-F1CD-4A0E-86DE-829D531D8CC1}" type="datetimeFigureOut">
              <a:rPr lang="en-US" smtClean="0"/>
              <a:t>11/22/2022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F331B4-1EE6-4448-AE73-C8BAED0E2A35}" type="slidenum">
              <a:rPr lang="en-US" smtClean="0"/>
              <a:t>‹#›</a:t>
            </a:fld>
            <a:endParaRPr lang="en-US"/>
          </a:p>
        </p:txBody>
      </p:sp>
    </p:spTree>
    <p:extLst>
      <p:ext uri="{BB962C8B-B14F-4D97-AF65-F5344CB8AC3E}">
        <p14:creationId xmlns:p14="http://schemas.microsoft.com/office/powerpoint/2010/main" val="1808476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139452"/>
          </a:xfrm>
        </p:spPr>
        <p:txBody>
          <a:bodyPr>
            <a:normAutofit/>
          </a:bodyPr>
          <a:lstStyle/>
          <a:p>
            <a:r>
              <a:rPr lang="en-US" sz="4400" b="1" dirty="0">
                <a:latin typeface="Times New Roman" panose="02020603050405020304" pitchFamily="18" charset="0"/>
                <a:cs typeface="Times New Roman" panose="02020603050405020304" pitchFamily="18" charset="0"/>
              </a:rPr>
              <a:t>Professional Practices</a:t>
            </a:r>
          </a:p>
        </p:txBody>
      </p:sp>
      <p:sp>
        <p:nvSpPr>
          <p:cNvPr id="3" name="Subtitle 2"/>
          <p:cNvSpPr>
            <a:spLocks noGrp="1"/>
          </p:cNvSpPr>
          <p:nvPr>
            <p:ph type="subTitle" idx="1"/>
          </p:nvPr>
        </p:nvSpPr>
        <p:spPr/>
        <p:txBody>
          <a:bodyPr/>
          <a:lstStyle/>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Department of CS &amp; IT</a:t>
            </a:r>
          </a:p>
        </p:txBody>
      </p:sp>
    </p:spTree>
    <p:extLst>
      <p:ext uri="{BB962C8B-B14F-4D97-AF65-F5344CB8AC3E}">
        <p14:creationId xmlns:p14="http://schemas.microsoft.com/office/powerpoint/2010/main" val="3734870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bwMode="auto">
          <a:xfrm>
            <a:off x="1088721" y="1453020"/>
            <a:ext cx="10515600" cy="13255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Week 1 </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Lecture 1:  The Profession</a:t>
            </a:r>
          </a:p>
        </p:txBody>
      </p:sp>
      <p:sp>
        <p:nvSpPr>
          <p:cNvPr id="3" name="Content Placeholder 2"/>
          <p:cNvSpPr>
            <a:spLocks noGrp="1"/>
          </p:cNvSpPr>
          <p:nvPr>
            <p:ph idx="1"/>
          </p:nvPr>
        </p:nvSpPr>
        <p:spPr>
          <a:xfrm>
            <a:off x="1088721" y="2778584"/>
            <a:ext cx="7917493" cy="2457296"/>
          </a:xfrm>
        </p:spPr>
        <p:txBody>
          <a:bodyPr/>
          <a:lstStyle/>
          <a:p>
            <a:pPr>
              <a:buFont typeface="Wingdings" panose="05000000000000000000" pitchFamily="2" charset="2"/>
              <a:buChar char="q"/>
              <a:defRPr/>
            </a:pPr>
            <a:r>
              <a:rPr lang="en-US" sz="2400" dirty="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q"/>
              <a:defRPr/>
            </a:pPr>
            <a:r>
              <a:rPr lang="en-US" sz="2400" dirty="0">
                <a:latin typeface="Times New Roman" panose="02020603050405020304" pitchFamily="18" charset="0"/>
                <a:cs typeface="Times New Roman" panose="02020603050405020304" pitchFamily="18" charset="0"/>
              </a:rPr>
              <a:t>Professionalism</a:t>
            </a:r>
          </a:p>
          <a:p>
            <a:pPr>
              <a:buFont typeface="Wingdings" panose="05000000000000000000" pitchFamily="2" charset="2"/>
              <a:buChar char="q"/>
              <a:defRPr/>
            </a:pPr>
            <a:r>
              <a:rPr lang="en-US" sz="2400" dirty="0">
                <a:latin typeface="Times New Roman" panose="02020603050405020304" pitchFamily="18" charset="0"/>
                <a:cs typeface="Times New Roman" panose="02020603050405020304" pitchFamily="18" charset="0"/>
              </a:rPr>
              <a:t>Professional Responsibilities</a:t>
            </a:r>
          </a:p>
          <a:p>
            <a:pPr>
              <a:buFont typeface="Wingdings" panose="05000000000000000000" pitchFamily="2" charset="2"/>
              <a:buChar char="q"/>
              <a:defRPr/>
            </a:pPr>
            <a:r>
              <a:rPr lang="en-US" sz="2400" dirty="0">
                <a:latin typeface="Times New Roman" panose="02020603050405020304" pitchFamily="18" charset="0"/>
                <a:cs typeface="Times New Roman" panose="02020603050405020304" pitchFamily="18" charset="0"/>
              </a:rPr>
              <a:t>Engineering Council demands</a:t>
            </a:r>
          </a:p>
          <a:p>
            <a:pPr>
              <a:buFont typeface="Wingdings" panose="05000000000000000000" pitchFamily="2" charset="2"/>
              <a:buChar char="q"/>
              <a:defRPr/>
            </a:pPr>
            <a:r>
              <a:rPr lang="en-US" sz="2400" dirty="0">
                <a:latin typeface="Times New Roman" panose="02020603050405020304" pitchFamily="18" charset="0"/>
                <a:cs typeface="Times New Roman" panose="02020603050405020304" pitchFamily="18" charset="0"/>
              </a:rPr>
              <a:t>Traits of a Professional </a:t>
            </a:r>
          </a:p>
          <a:p>
            <a:pPr marL="0" indent="0">
              <a:buNone/>
              <a:defRPr/>
            </a:pPr>
            <a:endParaRPr lang="en-US" dirty="0"/>
          </a:p>
        </p:txBody>
      </p:sp>
    </p:spTree>
    <p:extLst>
      <p:ext uri="{BB962C8B-B14F-4D97-AF65-F5344CB8AC3E}">
        <p14:creationId xmlns:p14="http://schemas.microsoft.com/office/powerpoint/2010/main" val="1382005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bwMode="auto">
          <a:xfrm>
            <a:off x="838200" y="573206"/>
            <a:ext cx="10515600" cy="111748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968991" y="1446663"/>
            <a:ext cx="9252922" cy="4430261"/>
          </a:xfrm>
        </p:spPr>
        <p:txBody>
          <a:bodyPr>
            <a:normAutofit/>
          </a:bodyPr>
          <a:lstStyle/>
          <a:p>
            <a:pPr algn="just">
              <a:defRPr/>
            </a:pPr>
            <a:r>
              <a:rPr lang="en-US" sz="2400" b="1" u="sng" dirty="0">
                <a:solidFill>
                  <a:srgbClr val="0087B9"/>
                </a:solidFill>
                <a:latin typeface="Times New Roman" panose="02020603050405020304" pitchFamily="18" charset="0"/>
                <a:cs typeface="Times New Roman" panose="02020603050405020304" pitchFamily="18" charset="0"/>
              </a:rPr>
              <a:t>Profession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 paid occupation, especially one that involves prolonged training and a formal qualification.</a:t>
            </a:r>
          </a:p>
          <a:p>
            <a:pPr marL="0" indent="0" algn="just">
              <a:buNone/>
              <a:defRPr/>
            </a:pPr>
            <a:endParaRPr lang="en-US" sz="2400" dirty="0">
              <a:solidFill>
                <a:schemeClr val="tx1"/>
              </a:solidFill>
              <a:latin typeface="Times New Roman" panose="02020603050405020304" pitchFamily="18" charset="0"/>
              <a:cs typeface="Times New Roman" panose="02020603050405020304" pitchFamily="18" charset="0"/>
            </a:endParaRPr>
          </a:p>
          <a:p>
            <a:pPr algn="just">
              <a:defRPr/>
            </a:pPr>
            <a:r>
              <a:rPr lang="en-US" sz="2400" b="1" u="sng" dirty="0">
                <a:solidFill>
                  <a:srgbClr val="0087B9"/>
                </a:solidFill>
                <a:latin typeface="Times New Roman" panose="02020603050405020304" pitchFamily="18" charset="0"/>
                <a:cs typeface="Times New Roman" panose="02020603050405020304" pitchFamily="18" charset="0"/>
              </a:rPr>
              <a:t>Professional</a:t>
            </a:r>
            <a:r>
              <a:rPr lang="en-US" sz="2400" dirty="0">
                <a:solidFill>
                  <a:schemeClr val="tx1"/>
                </a:solidFill>
                <a:latin typeface="Times New Roman" panose="02020603050405020304" pitchFamily="18" charset="0"/>
                <a:cs typeface="Times New Roman" panose="02020603050405020304" pitchFamily="18" charset="0"/>
              </a:rPr>
              <a:t>: A professional is a member of a profession or any person who earns their living from a specified professional activity. The term also describes the standards of education and training that prepare members of the profession with the particular knowledge and skills necessary to perform their specific role within that profession.</a:t>
            </a:r>
          </a:p>
        </p:txBody>
      </p:sp>
    </p:spTree>
    <p:extLst>
      <p:ext uri="{BB962C8B-B14F-4D97-AF65-F5344CB8AC3E}">
        <p14:creationId xmlns:p14="http://schemas.microsoft.com/office/powerpoint/2010/main" val="10472440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Professional Responsibilities</a:t>
            </a:r>
          </a:p>
        </p:txBody>
      </p:sp>
      <p:sp>
        <p:nvSpPr>
          <p:cNvPr id="3" name="Content Placeholder 2"/>
          <p:cNvSpPr>
            <a:spLocks noGrp="1"/>
          </p:cNvSpPr>
          <p:nvPr>
            <p:ph idx="1"/>
          </p:nvPr>
        </p:nvSpPr>
        <p:spPr>
          <a:xfrm>
            <a:off x="838200" y="1417638"/>
            <a:ext cx="9372600" cy="4603750"/>
          </a:xfrm>
        </p:spPr>
        <p:txBody>
          <a:bodyPr/>
          <a:lstStyle/>
          <a:p>
            <a:pPr algn="just">
              <a:defRPr/>
            </a:pPr>
            <a:r>
              <a:rPr lang="en-US" sz="2400" dirty="0">
                <a:latin typeface="Times New Roman" panose="02020603050405020304" pitchFamily="18" charset="0"/>
                <a:cs typeface="Times New Roman" panose="02020603050405020304" pitchFamily="18" charset="0"/>
              </a:rPr>
              <a:t>With reference to Information Technology, Computer Science or Software Engineering, the responsibilities of working professionals in this area include network administration, software development and installation, and the planning and management of an organization's technology life cycle, by which hardware and software is maintained, upgraded and replaced.</a:t>
            </a:r>
          </a:p>
          <a:p>
            <a:pPr algn="just">
              <a:defRPr/>
            </a:pPr>
            <a:r>
              <a:rPr lang="en-US" sz="2400" dirty="0">
                <a:latin typeface="Times New Roman" panose="02020603050405020304" pitchFamily="18" charset="0"/>
                <a:cs typeface="Times New Roman" panose="02020603050405020304" pitchFamily="18" charset="0"/>
              </a:rPr>
              <a:t>But these are not </a:t>
            </a:r>
            <a:r>
              <a:rPr lang="en-US" sz="2400" u="sng" dirty="0">
                <a:solidFill>
                  <a:srgbClr val="FF0000"/>
                </a:solidFill>
                <a:latin typeface="Times New Roman" panose="02020603050405020304" pitchFamily="18" charset="0"/>
                <a:cs typeface="Times New Roman" panose="02020603050405020304" pitchFamily="18" charset="0"/>
              </a:rPr>
              <a:t>ENOUGH</a:t>
            </a:r>
            <a:r>
              <a:rPr lang="en-US" sz="2400" dirty="0">
                <a:latin typeface="Times New Roman" panose="02020603050405020304" pitchFamily="18" charset="0"/>
                <a:cs typeface="Times New Roman" panose="02020603050405020304" pitchFamily="18" charset="0"/>
              </a:rPr>
              <a:t>.</a:t>
            </a:r>
          </a:p>
          <a:p>
            <a:pPr>
              <a:defRPr/>
            </a:pPr>
            <a:endParaRPr lang="en-US" dirty="0"/>
          </a:p>
        </p:txBody>
      </p:sp>
    </p:spTree>
    <p:extLst>
      <p:ext uri="{BB962C8B-B14F-4D97-AF65-F5344CB8AC3E}">
        <p14:creationId xmlns:p14="http://schemas.microsoft.com/office/powerpoint/2010/main" val="2573966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bwMode="auto">
          <a:xfrm>
            <a:off x="838200" y="477672"/>
            <a:ext cx="10515600" cy="12130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Engineering Council demands</a:t>
            </a:r>
          </a:p>
        </p:txBody>
      </p:sp>
      <p:sp>
        <p:nvSpPr>
          <p:cNvPr id="3" name="Content Placeholder 2"/>
          <p:cNvSpPr>
            <a:spLocks noGrp="1"/>
          </p:cNvSpPr>
          <p:nvPr>
            <p:ph idx="1"/>
          </p:nvPr>
        </p:nvSpPr>
        <p:spPr>
          <a:xfrm>
            <a:off x="838200" y="1218063"/>
            <a:ext cx="9372600" cy="4421188"/>
          </a:xfrm>
        </p:spPr>
        <p:txBody>
          <a:bodyPr>
            <a:normAutofit fontScale="92500" lnSpcReduction="10000"/>
          </a:bodyPr>
          <a:lstStyle/>
          <a:p>
            <a:pPr>
              <a:defRPr/>
            </a:pPr>
            <a:endParaRPr lang="en-US" dirty="0"/>
          </a:p>
          <a:p>
            <a:pPr algn="just">
              <a:defRPr/>
            </a:pPr>
            <a:r>
              <a:rPr lang="en-US" sz="2600" i="1" dirty="0">
                <a:latin typeface="Times New Roman" panose="02020603050405020304" pitchFamily="18" charset="0"/>
                <a:cs typeface="Times New Roman" panose="02020603050405020304" pitchFamily="18" charset="0"/>
              </a:rPr>
              <a:t>It demands that other than professional Knowledge, an Engineer  must know </a:t>
            </a:r>
          </a:p>
          <a:p>
            <a:pPr lvl="1" algn="just">
              <a:defRPr/>
            </a:pPr>
            <a:r>
              <a:rPr lang="en-US" sz="2600" dirty="0">
                <a:latin typeface="Times New Roman" panose="02020603050405020304" pitchFamily="18" charset="0"/>
                <a:cs typeface="Times New Roman" panose="02020603050405020304" pitchFamily="18" charset="0"/>
              </a:rPr>
              <a:t>Technical decision making and its commercial and economic implementation;…</a:t>
            </a:r>
          </a:p>
          <a:p>
            <a:pPr algn="just">
              <a:defRPr/>
            </a:pPr>
            <a:r>
              <a:rPr lang="en-US" sz="2600" dirty="0">
                <a:latin typeface="Times New Roman" panose="02020603050405020304" pitchFamily="18" charset="0"/>
                <a:cs typeface="Times New Roman" panose="02020603050405020304" pitchFamily="18" charset="0"/>
              </a:rPr>
              <a:t>knowledge of government legislation affecting work, e.g. safety, health, environmental requirements;</a:t>
            </a:r>
          </a:p>
          <a:p>
            <a:pPr algn="just">
              <a:defRPr/>
            </a:pPr>
            <a:r>
              <a:rPr lang="en-US" sz="2600" dirty="0">
                <a:latin typeface="Times New Roman" panose="02020603050405020304" pitchFamily="18" charset="0"/>
                <a:cs typeface="Times New Roman" panose="02020603050405020304" pitchFamily="18" charset="0"/>
              </a:rPr>
              <a:t>an understanding of the principles of management and industrial relations; </a:t>
            </a:r>
          </a:p>
          <a:p>
            <a:pPr algn="just">
              <a:defRPr/>
            </a:pPr>
            <a:r>
              <a:rPr lang="en-US" sz="2600" dirty="0">
                <a:latin typeface="Times New Roman" panose="02020603050405020304" pitchFamily="18" charset="0"/>
                <a:cs typeface="Times New Roman" panose="02020603050405020304" pitchFamily="18" charset="0"/>
              </a:rPr>
              <a:t>some knowledge of trade unions and their organization;</a:t>
            </a:r>
          </a:p>
          <a:p>
            <a:pPr algn="just">
              <a:defRPr/>
            </a:pPr>
            <a:r>
              <a:rPr lang="en-US" sz="2600" dirty="0">
                <a:latin typeface="Times New Roman" panose="02020603050405020304" pitchFamily="18" charset="0"/>
                <a:cs typeface="Times New Roman" panose="02020603050405020304" pitchFamily="18" charset="0"/>
              </a:rPr>
              <a:t>An understanding of the engineer’s responsibility to the profession, to the community and to the environment</a:t>
            </a:r>
          </a:p>
        </p:txBody>
      </p:sp>
    </p:spTree>
    <p:extLst>
      <p:ext uri="{BB962C8B-B14F-4D97-AF65-F5344CB8AC3E}">
        <p14:creationId xmlns:p14="http://schemas.microsoft.com/office/powerpoint/2010/main" val="2540270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The Professionalism</a:t>
            </a:r>
          </a:p>
        </p:txBody>
      </p:sp>
      <p:sp>
        <p:nvSpPr>
          <p:cNvPr id="4" name="Content Placeholder 2"/>
          <p:cNvSpPr>
            <a:spLocks noGrp="1"/>
          </p:cNvSpPr>
          <p:nvPr>
            <p:ph idx="1"/>
          </p:nvPr>
        </p:nvSpPr>
        <p:spPr>
          <a:xfrm>
            <a:off x="838200" y="1255594"/>
            <a:ext cx="9372600" cy="4765795"/>
          </a:xfrm>
        </p:spPr>
        <p:txBody>
          <a:bodyPr/>
          <a:lstStyle/>
          <a:p>
            <a:pPr>
              <a:defRPr/>
            </a:pPr>
            <a:r>
              <a:rPr lang="en-US" sz="2400" dirty="0">
                <a:latin typeface="Times New Roman" panose="02020603050405020304" pitchFamily="18" charset="0"/>
                <a:cs typeface="Times New Roman" panose="02020603050405020304" pitchFamily="18" charset="0"/>
              </a:rPr>
              <a:t>A profession isn’t just what you do, it’s who you are. </a:t>
            </a:r>
          </a:p>
          <a:p>
            <a:pPr>
              <a:defRPr/>
            </a:pPr>
            <a:endParaRPr lang="en-US" sz="2400" dirty="0">
              <a:latin typeface="Times New Roman" panose="02020603050405020304" pitchFamily="18" charset="0"/>
              <a:cs typeface="Times New Roman" panose="02020603050405020304" pitchFamily="18" charset="0"/>
            </a:endParaRPr>
          </a:p>
          <a:p>
            <a:pPr>
              <a:defRPr/>
            </a:pPr>
            <a:r>
              <a:rPr lang="en-US" sz="2400" dirty="0">
                <a:latin typeface="Times New Roman" panose="02020603050405020304" pitchFamily="18" charset="0"/>
                <a:cs typeface="Times New Roman" panose="02020603050405020304" pitchFamily="18" charset="0"/>
              </a:rPr>
              <a:t>Professionalism is a way of thinking and living rather than an accumulation of learning.</a:t>
            </a:r>
          </a:p>
          <a:p>
            <a:pPr>
              <a:defRPr/>
            </a:pPr>
            <a:endParaRPr lang="en-US" dirty="0"/>
          </a:p>
        </p:txBody>
      </p:sp>
    </p:spTree>
    <p:extLst>
      <p:ext uri="{BB962C8B-B14F-4D97-AF65-F5344CB8AC3E}">
        <p14:creationId xmlns:p14="http://schemas.microsoft.com/office/powerpoint/2010/main" val="1889059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bwMode="auto">
          <a:xfrm>
            <a:off x="838200" y="545910"/>
            <a:ext cx="10515600" cy="114477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Traits of a Profession</a:t>
            </a:r>
          </a:p>
        </p:txBody>
      </p:sp>
      <p:sp>
        <p:nvSpPr>
          <p:cNvPr id="3" name="Content Placeholder 2"/>
          <p:cNvSpPr>
            <a:spLocks noGrp="1"/>
          </p:cNvSpPr>
          <p:nvPr>
            <p:ph idx="1"/>
          </p:nvPr>
        </p:nvSpPr>
        <p:spPr>
          <a:xfrm>
            <a:off x="968991" y="1600200"/>
            <a:ext cx="9241809" cy="4421188"/>
          </a:xfrm>
        </p:spPr>
        <p:txBody>
          <a:bodyPr vert="horz" wrap="square" lIns="91440" tIns="45720" rIns="91440" bIns="45720" numCol="1" rtlCol="0" anchor="t" anchorCtr="0" compatLnSpc="1">
            <a:prstTxWarp prst="textNoShape">
              <a:avLst/>
            </a:prstTxWarp>
            <a:normAutofit/>
          </a:bodyPr>
          <a:lstStyle/>
          <a:p>
            <a:pPr marL="0" indent="0">
              <a:buNone/>
            </a:pPr>
            <a:r>
              <a:rPr lang="en-US" sz="2400" dirty="0">
                <a:solidFill>
                  <a:srgbClr val="0D0D0D"/>
                </a:solidFill>
                <a:latin typeface="Times New Roman" panose="02020603050405020304" pitchFamily="18" charset="0"/>
                <a:cs typeface="Times New Roman" panose="02020603050405020304" pitchFamily="18" charset="0"/>
              </a:rPr>
              <a:t>Four Traits of Profession</a:t>
            </a:r>
          </a:p>
          <a:p>
            <a:pPr marL="914400" lvl="1" indent="-457200">
              <a:buFontTx/>
              <a:buAutoNum type="arabicPeriod"/>
            </a:pPr>
            <a:r>
              <a:rPr lang="en-US" dirty="0">
                <a:solidFill>
                  <a:srgbClr val="0D0D0D"/>
                </a:solidFill>
                <a:latin typeface="Times New Roman" panose="02020603050405020304" pitchFamily="18" charset="0"/>
                <a:cs typeface="Times New Roman" panose="02020603050405020304" pitchFamily="18" charset="0"/>
              </a:rPr>
              <a:t>Varied activities requiring special skills</a:t>
            </a:r>
          </a:p>
          <a:p>
            <a:pPr marL="914400" lvl="1" indent="-457200">
              <a:buFontTx/>
              <a:buAutoNum type="arabicPeriod"/>
            </a:pPr>
            <a:r>
              <a:rPr lang="en-US" dirty="0">
                <a:solidFill>
                  <a:srgbClr val="0D0D0D"/>
                </a:solidFill>
                <a:latin typeface="Times New Roman" panose="02020603050405020304" pitchFamily="18" charset="0"/>
                <a:cs typeface="Times New Roman" panose="02020603050405020304" pitchFamily="18" charset="0"/>
              </a:rPr>
              <a:t>Society-centric motivation</a:t>
            </a:r>
          </a:p>
          <a:p>
            <a:pPr marL="914400" lvl="1" indent="-457200">
              <a:buFontTx/>
              <a:buAutoNum type="arabicPeriod"/>
            </a:pPr>
            <a:r>
              <a:rPr lang="en-US" dirty="0">
                <a:solidFill>
                  <a:srgbClr val="0D0D0D"/>
                </a:solidFill>
                <a:latin typeface="Times New Roman" panose="02020603050405020304" pitchFamily="18" charset="0"/>
                <a:cs typeface="Times New Roman" panose="02020603050405020304" pitchFamily="18" charset="0"/>
              </a:rPr>
              <a:t>Personal standards of excellence</a:t>
            </a:r>
          </a:p>
          <a:p>
            <a:pPr marL="914400" lvl="1" indent="-457200">
              <a:buFontTx/>
              <a:buAutoNum type="arabicPeriod"/>
            </a:pPr>
            <a:r>
              <a:rPr lang="en-US" dirty="0">
                <a:solidFill>
                  <a:srgbClr val="0D0D0D"/>
                </a:solidFill>
                <a:latin typeface="Times New Roman" panose="02020603050405020304" pitchFamily="18" charset="0"/>
                <a:cs typeface="Times New Roman" panose="02020603050405020304" pitchFamily="18" charset="0"/>
              </a:rPr>
              <a:t>Giving back to society</a:t>
            </a:r>
          </a:p>
          <a:p>
            <a:pPr marL="0" indent="0">
              <a:buFontTx/>
              <a:buAutoNum type="arabicPeriod"/>
            </a:pPr>
            <a:endParaRPr lang="en-US" dirty="0">
              <a:solidFill>
                <a:srgbClr val="0D0D0D"/>
              </a:solidFill>
            </a:endParaRPr>
          </a:p>
        </p:txBody>
      </p:sp>
    </p:spTree>
    <p:extLst>
      <p:ext uri="{BB962C8B-B14F-4D97-AF65-F5344CB8AC3E}">
        <p14:creationId xmlns:p14="http://schemas.microsoft.com/office/powerpoint/2010/main" val="1702640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A professional behaves ethically</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00200"/>
            <a:ext cx="9372600" cy="4421188"/>
          </a:xfrm>
        </p:spPr>
        <p:txBody>
          <a:bodyPr/>
          <a:lstStyle/>
          <a:p>
            <a:pPr>
              <a:defRPr/>
            </a:pPr>
            <a:r>
              <a:rPr lang="en-US" sz="2400" dirty="0">
                <a:latin typeface="Times New Roman" panose="02020603050405020304" pitchFamily="18" charset="0"/>
                <a:cs typeface="Times New Roman" panose="02020603050405020304" pitchFamily="18" charset="0"/>
              </a:rPr>
              <a:t>Ethics means something more than ‘law’ and ‘morals’.</a:t>
            </a:r>
          </a:p>
          <a:p>
            <a:pPr>
              <a:defRPr/>
            </a:pPr>
            <a:r>
              <a:rPr lang="en-US" sz="2400" dirty="0">
                <a:latin typeface="Times New Roman" panose="02020603050405020304" pitchFamily="18" charset="0"/>
                <a:cs typeface="Times New Roman" panose="02020603050405020304" pitchFamily="18" charset="0"/>
              </a:rPr>
              <a:t>It carries an additional connotation of ‘rightness’.</a:t>
            </a:r>
          </a:p>
          <a:p>
            <a:pPr lvl="1">
              <a:defRPr/>
            </a:pPr>
            <a:r>
              <a:rPr lang="en-US" u="sng" dirty="0">
                <a:latin typeface="Times New Roman" panose="02020603050405020304" pitchFamily="18" charset="0"/>
                <a:cs typeface="Times New Roman" panose="02020603050405020304" pitchFamily="18" charset="0"/>
              </a:rPr>
              <a:t>Breaking the law</a:t>
            </a:r>
            <a:r>
              <a:rPr lang="en-US" dirty="0">
                <a:latin typeface="Times New Roman" panose="02020603050405020304" pitchFamily="18" charset="0"/>
                <a:cs typeface="Times New Roman" panose="02020603050405020304" pitchFamily="18" charset="0"/>
              </a:rPr>
              <a:t>: can earn a fine or jail time</a:t>
            </a:r>
          </a:p>
          <a:p>
            <a:pPr lvl="1">
              <a:defRPr/>
            </a:pPr>
            <a:r>
              <a:rPr lang="en-US" u="sng" dirty="0">
                <a:latin typeface="Times New Roman" panose="02020603050405020304" pitchFamily="18" charset="0"/>
                <a:cs typeface="Times New Roman" panose="02020603050405020304" pitchFamily="18" charset="0"/>
              </a:rPr>
              <a:t>Breaking a moral</a:t>
            </a:r>
            <a:r>
              <a:rPr lang="en-US" dirty="0">
                <a:latin typeface="Times New Roman" panose="02020603050405020304" pitchFamily="18" charset="0"/>
                <a:cs typeface="Times New Roman" panose="02020603050405020304" pitchFamily="18" charset="0"/>
              </a:rPr>
              <a:t>: can ruin your reputation</a:t>
            </a:r>
          </a:p>
          <a:p>
            <a:pPr lvl="1">
              <a:defRPr/>
            </a:pPr>
            <a:r>
              <a:rPr lang="en-US" u="sng" dirty="0">
                <a:latin typeface="Times New Roman" panose="02020603050405020304" pitchFamily="18" charset="0"/>
                <a:cs typeface="Times New Roman" panose="02020603050405020304" pitchFamily="18" charset="0"/>
              </a:rPr>
              <a:t>Breaking an ethic</a:t>
            </a:r>
            <a:r>
              <a:rPr lang="en-US" dirty="0">
                <a:latin typeface="Times New Roman" panose="02020603050405020304" pitchFamily="18" charset="0"/>
                <a:cs typeface="Times New Roman" panose="02020603050405020304" pitchFamily="18" charset="0"/>
              </a:rPr>
              <a:t>: can ruin your conscience</a:t>
            </a:r>
          </a:p>
          <a:p>
            <a:pPr marL="457200" lvl="1" indent="0">
              <a:buNone/>
              <a:defRPr/>
            </a:pPr>
            <a:r>
              <a:rPr lang="en-US" dirty="0">
                <a:latin typeface="Times New Roman" panose="02020603050405020304" pitchFamily="18" charset="0"/>
                <a:cs typeface="Times New Roman" panose="02020603050405020304" pitchFamily="18" charset="0"/>
              </a:rPr>
              <a:t>It’s possible to break all three, simultaneously!</a:t>
            </a:r>
          </a:p>
          <a:p>
            <a:pPr lvl="1">
              <a:defRPr/>
            </a:pPr>
            <a:endParaRPr lang="en-US" dirty="0"/>
          </a:p>
        </p:txBody>
      </p:sp>
    </p:spTree>
    <p:extLst>
      <p:ext uri="{BB962C8B-B14F-4D97-AF65-F5344CB8AC3E}">
        <p14:creationId xmlns:p14="http://schemas.microsoft.com/office/powerpoint/2010/main" val="2972942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bwMode="auto">
          <a:xfrm>
            <a:off x="838200" y="464024"/>
            <a:ext cx="10515600" cy="12266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Traits of a Professional</a:t>
            </a:r>
          </a:p>
        </p:txBody>
      </p:sp>
      <p:sp>
        <p:nvSpPr>
          <p:cNvPr id="3" name="Content Placeholder 2"/>
          <p:cNvSpPr>
            <a:spLocks noGrp="1"/>
          </p:cNvSpPr>
          <p:nvPr>
            <p:ph idx="1"/>
          </p:nvPr>
        </p:nvSpPr>
        <p:spPr>
          <a:xfrm>
            <a:off x="955343" y="1600200"/>
            <a:ext cx="9255457" cy="4421188"/>
          </a:xfrm>
        </p:spPr>
        <p:txBody>
          <a:bodyPr>
            <a:normAutofit/>
          </a:bodyPr>
          <a:lstStyle/>
          <a:p>
            <a:pPr>
              <a:defRPr/>
            </a:pPr>
            <a:r>
              <a:rPr lang="en-US" sz="2400" dirty="0">
                <a:latin typeface="Times New Roman" panose="02020603050405020304" pitchFamily="18" charset="0"/>
                <a:cs typeface="Times New Roman" panose="02020603050405020304" pitchFamily="18" charset="0"/>
              </a:rPr>
              <a:t>Being a professional means </a:t>
            </a:r>
            <a:r>
              <a:rPr lang="en-US" sz="2400">
                <a:latin typeface="Times New Roman" panose="02020603050405020304" pitchFamily="18" charset="0"/>
                <a:cs typeface="Times New Roman" panose="02020603050405020304" pitchFamily="18" charset="0"/>
              </a:rPr>
              <a:t>that </a:t>
            </a:r>
            <a:r>
              <a:rPr lang="en-US" sz="2400" smtClean="0">
                <a:latin typeface="Times New Roman" panose="02020603050405020304" pitchFamily="18" charset="0"/>
                <a:cs typeface="Times New Roman" panose="02020603050405020304" pitchFamily="18" charset="0"/>
              </a:rPr>
              <a:t>there </a:t>
            </a:r>
            <a:r>
              <a:rPr lang="en-US" sz="2400" dirty="0">
                <a:latin typeface="Times New Roman" panose="02020603050405020304" pitchFamily="18" charset="0"/>
                <a:cs typeface="Times New Roman" panose="02020603050405020304" pitchFamily="18" charset="0"/>
              </a:rPr>
              <a:t>are certain traits which are expected from you.</a:t>
            </a:r>
          </a:p>
          <a:p>
            <a:pPr>
              <a:defRPr/>
            </a:pPr>
            <a:endParaRPr lang="en-US" sz="2400" dirty="0">
              <a:latin typeface="Times New Roman" panose="02020603050405020304" pitchFamily="18" charset="0"/>
              <a:cs typeface="Times New Roman" panose="02020603050405020304" pitchFamily="18" charset="0"/>
            </a:endParaRPr>
          </a:p>
          <a:p>
            <a:pPr>
              <a:defRPr/>
            </a:pPr>
            <a:r>
              <a:rPr lang="en-US" sz="2400" dirty="0">
                <a:latin typeface="Times New Roman" panose="02020603050405020304" pitchFamily="18" charset="0"/>
                <a:cs typeface="Times New Roman" panose="02020603050405020304" pitchFamily="18" charset="0"/>
              </a:rPr>
              <a:t>We will go through Each of them </a:t>
            </a:r>
          </a:p>
        </p:txBody>
      </p:sp>
    </p:spTree>
    <p:extLst>
      <p:ext uri="{BB962C8B-B14F-4D97-AF65-F5344CB8AC3E}">
        <p14:creationId xmlns:p14="http://schemas.microsoft.com/office/powerpoint/2010/main" val="2263064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Trait # 1 of a professional: Seriousness</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941697"/>
            <a:ext cx="9372600" cy="5079692"/>
          </a:xfrm>
        </p:spPr>
        <p:txBody>
          <a:bodyPr/>
          <a:lstStyle/>
          <a:p>
            <a:pPr>
              <a:defRPr/>
            </a:pPr>
            <a:endParaRPr lang="en-US" b="1" dirty="0"/>
          </a:p>
          <a:p>
            <a:pPr>
              <a:defRPr/>
            </a:pPr>
            <a:endParaRPr lang="en-US" b="1" dirty="0"/>
          </a:p>
          <a:p>
            <a:pPr>
              <a:defRPr/>
            </a:pPr>
            <a:r>
              <a:rPr lang="en-US" sz="2400" dirty="0">
                <a:latin typeface="Times New Roman" panose="02020603050405020304" pitchFamily="18" charset="0"/>
                <a:cs typeface="Times New Roman" panose="02020603050405020304" pitchFamily="18" charset="0"/>
              </a:rPr>
              <a:t>Serious about job</a:t>
            </a:r>
          </a:p>
          <a:p>
            <a:pPr>
              <a:defRPr/>
            </a:pPr>
            <a:r>
              <a:rPr lang="en-US" sz="2400" dirty="0">
                <a:latin typeface="Times New Roman" panose="02020603050405020304" pitchFamily="18" charset="0"/>
                <a:cs typeface="Times New Roman" panose="02020603050405020304" pitchFamily="18" charset="0"/>
              </a:rPr>
              <a:t>The job is only a job.  A means to an end</a:t>
            </a:r>
          </a:p>
          <a:p>
            <a:pPr>
              <a:defRP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8679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bwMode="auto">
          <a:xfrm>
            <a:off x="838200" y="365126"/>
            <a:ext cx="10515600" cy="105424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Trait # 2 of a professional: Wanting to do better</a:t>
            </a:r>
          </a:p>
        </p:txBody>
      </p:sp>
      <p:sp>
        <p:nvSpPr>
          <p:cNvPr id="3" name="Content Placeholder 2"/>
          <p:cNvSpPr>
            <a:spLocks noGrp="1"/>
          </p:cNvSpPr>
          <p:nvPr>
            <p:ph idx="1"/>
          </p:nvPr>
        </p:nvSpPr>
        <p:spPr>
          <a:xfrm>
            <a:off x="1151709" y="1693687"/>
            <a:ext cx="9372600" cy="4602021"/>
          </a:xfrm>
        </p:spPr>
        <p:txBody>
          <a:bodyPr/>
          <a:lstStyle/>
          <a:p>
            <a:pPr algn="just">
              <a:defRPr/>
            </a:pPr>
            <a:r>
              <a:rPr lang="en-US" sz="2400" dirty="0">
                <a:latin typeface="Times New Roman" panose="02020603050405020304" pitchFamily="18" charset="0"/>
                <a:cs typeface="Times New Roman" panose="02020603050405020304" pitchFamily="18" charset="0"/>
              </a:rPr>
              <a:t>Exhibit a never-ending quest to improve their performance in every variable, every project, every relationship, and every detail.</a:t>
            </a:r>
          </a:p>
          <a:p>
            <a:pPr>
              <a:defRPr/>
            </a:pPr>
            <a:endParaRPr lang="en-US" dirty="0"/>
          </a:p>
        </p:txBody>
      </p:sp>
    </p:spTree>
    <p:extLst>
      <p:ext uri="{BB962C8B-B14F-4D97-AF65-F5344CB8AC3E}">
        <p14:creationId xmlns:p14="http://schemas.microsoft.com/office/powerpoint/2010/main" val="2994896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Trait # 3 of a professional: Dealing with the Unexpected</a:t>
            </a:r>
          </a:p>
        </p:txBody>
      </p:sp>
      <p:sp>
        <p:nvSpPr>
          <p:cNvPr id="3" name="Content Placeholder 2"/>
          <p:cNvSpPr>
            <a:spLocks noGrp="1"/>
          </p:cNvSpPr>
          <p:nvPr>
            <p:ph idx="1"/>
          </p:nvPr>
        </p:nvSpPr>
        <p:spPr>
          <a:xfrm>
            <a:off x="941696" y="1078174"/>
            <a:ext cx="9269104" cy="2661313"/>
          </a:xfrm>
        </p:spPr>
        <p:txBody>
          <a:bodyPr/>
          <a:lstStyle/>
          <a:p>
            <a:pPr>
              <a:defRPr/>
            </a:pPr>
            <a:endParaRPr lang="en-US" b="1" dirty="0"/>
          </a:p>
          <a:p>
            <a:pPr>
              <a:defRPr/>
            </a:pPr>
            <a:endParaRPr lang="en-US" sz="2400" b="1" dirty="0">
              <a:latin typeface="Times New Roman" panose="02020603050405020304" pitchFamily="18" charset="0"/>
              <a:cs typeface="Times New Roman" panose="02020603050405020304" pitchFamily="18" charset="0"/>
            </a:endParaRPr>
          </a:p>
          <a:p>
            <a:pPr>
              <a:defRPr/>
            </a:pPr>
            <a:r>
              <a:rPr lang="en-US" sz="2400" dirty="0">
                <a:latin typeface="Times New Roman" panose="02020603050405020304" pitchFamily="18" charset="0"/>
                <a:cs typeface="Times New Roman" panose="02020603050405020304" pitchFamily="18" charset="0"/>
              </a:rPr>
              <a:t>Stuff happens, things change, and the true professional rises to the occasion</a:t>
            </a:r>
          </a:p>
          <a:p>
            <a:pPr>
              <a:defRPr/>
            </a:pPr>
            <a:endParaRPr lang="en-US" dirty="0"/>
          </a:p>
          <a:p>
            <a:pPr>
              <a:defRPr/>
            </a:pPr>
            <a:endParaRPr lang="en-US" dirty="0"/>
          </a:p>
        </p:txBody>
      </p:sp>
    </p:spTree>
    <p:extLst>
      <p:ext uri="{BB962C8B-B14F-4D97-AF65-F5344CB8AC3E}">
        <p14:creationId xmlns:p14="http://schemas.microsoft.com/office/powerpoint/2010/main" val="1571877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bwMode="auto">
          <a:xfrm>
            <a:off x="838200" y="504967"/>
            <a:ext cx="10515600" cy="11857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Trait # 4 of a professional: Communication Skills</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92072"/>
            <a:ext cx="9372600" cy="4629316"/>
          </a:xfrm>
        </p:spPr>
        <p:txBody>
          <a:bodyPr/>
          <a:lstStyle/>
          <a:p>
            <a:pPr>
              <a:defRPr/>
            </a:pPr>
            <a:r>
              <a:rPr lang="en-US" sz="2400" dirty="0">
                <a:latin typeface="Times New Roman" panose="02020603050405020304" pitchFamily="18" charset="0"/>
                <a:cs typeface="Times New Roman" panose="02020603050405020304" pitchFamily="18" charset="0"/>
              </a:rPr>
              <a:t>Clear</a:t>
            </a:r>
          </a:p>
          <a:p>
            <a:pPr>
              <a:defRPr/>
            </a:pPr>
            <a:r>
              <a:rPr lang="en-US" sz="2400" dirty="0">
                <a:latin typeface="Times New Roman" panose="02020603050405020304" pitchFamily="18" charset="0"/>
                <a:cs typeface="Times New Roman" panose="02020603050405020304" pitchFamily="18" charset="0"/>
              </a:rPr>
              <a:t>Concise </a:t>
            </a:r>
          </a:p>
          <a:p>
            <a:pPr>
              <a:defRPr/>
            </a:pPr>
            <a:r>
              <a:rPr lang="en-US" sz="2400" dirty="0">
                <a:latin typeface="Times New Roman" panose="02020603050405020304" pitchFamily="18" charset="0"/>
                <a:cs typeface="Times New Roman" panose="02020603050405020304" pitchFamily="18" charset="0"/>
              </a:rPr>
              <a:t>Confident</a:t>
            </a:r>
          </a:p>
          <a:p>
            <a:pPr>
              <a:defRPr/>
            </a:pPr>
            <a:endParaRPr lang="en-US" dirty="0"/>
          </a:p>
        </p:txBody>
      </p:sp>
    </p:spTree>
    <p:extLst>
      <p:ext uri="{BB962C8B-B14F-4D97-AF65-F5344CB8AC3E}">
        <p14:creationId xmlns:p14="http://schemas.microsoft.com/office/powerpoint/2010/main" val="2771854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Trait # 5 of a professional: Enthusiasm</a:t>
            </a:r>
            <a:r>
              <a:rPr lang="en-US" dirty="0"/>
              <a:t/>
            </a:r>
            <a:br>
              <a:rPr lang="en-US" dirty="0"/>
            </a:br>
            <a:endParaRPr lang="en-US" dirty="0"/>
          </a:p>
        </p:txBody>
      </p:sp>
      <p:sp>
        <p:nvSpPr>
          <p:cNvPr id="3" name="Content Placeholder 2"/>
          <p:cNvSpPr>
            <a:spLocks noGrp="1"/>
          </p:cNvSpPr>
          <p:nvPr>
            <p:ph idx="1"/>
          </p:nvPr>
        </p:nvSpPr>
        <p:spPr>
          <a:xfrm>
            <a:off x="838200" y="955343"/>
            <a:ext cx="9372600" cy="2470245"/>
          </a:xfrm>
        </p:spPr>
        <p:txBody>
          <a:bodyPr/>
          <a:lstStyle/>
          <a:p>
            <a:pPr algn="just">
              <a:defRPr/>
            </a:pPr>
            <a:endParaRPr lang="en-US" b="1" dirty="0"/>
          </a:p>
          <a:p>
            <a:pPr algn="just">
              <a:defRPr/>
            </a:pPr>
            <a:endParaRPr lang="en-US" b="1" dirty="0"/>
          </a:p>
          <a:p>
            <a:pPr algn="just">
              <a:defRPr/>
            </a:pPr>
            <a:r>
              <a:rPr lang="en-US" sz="2400" dirty="0">
                <a:latin typeface="Times New Roman" panose="02020603050405020304" pitchFamily="18" charset="0"/>
                <a:cs typeface="Times New Roman" panose="02020603050405020304" pitchFamily="18" charset="0"/>
              </a:rPr>
              <a:t>Attitude is everything.  Those who exhibit enthusiasm for what they do and greet each day with a positive attitude inevitably become a leader</a:t>
            </a:r>
          </a:p>
          <a:p>
            <a:pPr algn="just">
              <a:defRPr/>
            </a:pPr>
            <a:endParaRPr lang="en-US" dirty="0"/>
          </a:p>
        </p:txBody>
      </p:sp>
    </p:spTree>
    <p:extLst>
      <p:ext uri="{BB962C8B-B14F-4D97-AF65-F5344CB8AC3E}">
        <p14:creationId xmlns:p14="http://schemas.microsoft.com/office/powerpoint/2010/main" val="470289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Trait # 6 of a professional: Helpfulness</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09685" y="1187355"/>
            <a:ext cx="9707492" cy="4834033"/>
          </a:xfrm>
        </p:spPr>
        <p:txBody>
          <a:bodyPr/>
          <a:lstStyle/>
          <a:p>
            <a:pPr>
              <a:defRPr/>
            </a:pPr>
            <a:r>
              <a:rPr lang="en-US" sz="2400" dirty="0">
                <a:latin typeface="Times New Roman" panose="02020603050405020304" pitchFamily="18" charset="0"/>
                <a:cs typeface="Times New Roman" panose="02020603050405020304" pitchFamily="18" charset="0"/>
              </a:rPr>
              <a:t>Understand that real success in the workplace requires teamwork</a:t>
            </a:r>
          </a:p>
          <a:p>
            <a:pPr>
              <a:defRPr/>
            </a:pPr>
            <a:r>
              <a:rPr lang="en-US" sz="2400" dirty="0">
                <a:latin typeface="Times New Roman" panose="02020603050405020304" pitchFamily="18" charset="0"/>
                <a:cs typeface="Times New Roman" panose="02020603050405020304" pitchFamily="18" charset="0"/>
              </a:rPr>
              <a:t>Always ready to lend a hand</a:t>
            </a:r>
          </a:p>
          <a:p>
            <a:pPr>
              <a:defRPr/>
            </a:pPr>
            <a:r>
              <a:rPr lang="en-US" sz="2400" dirty="0">
                <a:latin typeface="Times New Roman" panose="02020603050405020304" pitchFamily="18" charset="0"/>
                <a:cs typeface="Times New Roman" panose="02020603050405020304" pitchFamily="18" charset="0"/>
              </a:rPr>
              <a:t> Make a suggestion </a:t>
            </a:r>
          </a:p>
          <a:p>
            <a:pPr>
              <a:defRPr/>
            </a:pPr>
            <a:r>
              <a:rPr lang="en-US" sz="2400" dirty="0">
                <a:latin typeface="Times New Roman" panose="02020603050405020304" pitchFamily="18" charset="0"/>
                <a:cs typeface="Times New Roman" panose="02020603050405020304" pitchFamily="18" charset="0"/>
              </a:rPr>
              <a:t>Offer a compliment when it’s deserved</a:t>
            </a:r>
          </a:p>
          <a:p>
            <a:pPr>
              <a:defRPr/>
            </a:pPr>
            <a:endParaRPr lang="en-US" dirty="0"/>
          </a:p>
        </p:txBody>
      </p:sp>
    </p:spTree>
    <p:extLst>
      <p:ext uri="{BB962C8B-B14F-4D97-AF65-F5344CB8AC3E}">
        <p14:creationId xmlns:p14="http://schemas.microsoft.com/office/powerpoint/2010/main" val="3331345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Trait # 7 of a professional: Taking the Initiative</a:t>
            </a:r>
          </a:p>
        </p:txBody>
      </p:sp>
      <p:sp>
        <p:nvSpPr>
          <p:cNvPr id="3" name="Content Placeholder 2"/>
          <p:cNvSpPr>
            <a:spLocks noGrp="1"/>
          </p:cNvSpPr>
          <p:nvPr>
            <p:ph idx="1"/>
          </p:nvPr>
        </p:nvSpPr>
        <p:spPr>
          <a:xfrm>
            <a:off x="838200" y="1600200"/>
            <a:ext cx="9372600" cy="2002809"/>
          </a:xfrm>
        </p:spPr>
        <p:txBody>
          <a:bodyPr/>
          <a:lstStyle/>
          <a:p>
            <a:pPr>
              <a:defRPr/>
            </a:pPr>
            <a:endParaRPr lang="en-US" dirty="0"/>
          </a:p>
          <a:p>
            <a:pPr marL="0" indent="0">
              <a:buNone/>
              <a:defRPr/>
            </a:pPr>
            <a:endParaRPr lang="en-US" dirty="0"/>
          </a:p>
          <a:p>
            <a:pPr>
              <a:defRPr/>
            </a:pPr>
            <a:r>
              <a:rPr lang="en-US" sz="2400" dirty="0">
                <a:latin typeface="Times New Roman" panose="02020603050405020304" pitchFamily="18" charset="0"/>
                <a:cs typeface="Times New Roman" panose="02020603050405020304" pitchFamily="18" charset="0"/>
              </a:rPr>
              <a:t>Takes the initiative to get things done </a:t>
            </a:r>
          </a:p>
          <a:p>
            <a:pPr marL="0" indent="0">
              <a:buNone/>
              <a:defRPr/>
            </a:pPr>
            <a:endParaRPr lang="en-US" dirty="0"/>
          </a:p>
        </p:txBody>
      </p:sp>
    </p:spTree>
    <p:extLst>
      <p:ext uri="{BB962C8B-B14F-4D97-AF65-F5344CB8AC3E}">
        <p14:creationId xmlns:p14="http://schemas.microsoft.com/office/powerpoint/2010/main" val="3517430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Trait # 8 of a professional: Cool under Pressure</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00200"/>
            <a:ext cx="9372600" cy="2507776"/>
          </a:xfrm>
        </p:spPr>
        <p:txBody>
          <a:bodyPr/>
          <a:lstStyle/>
          <a:p>
            <a:pPr>
              <a:defRPr/>
            </a:pPr>
            <a:endParaRPr lang="en-US" dirty="0"/>
          </a:p>
          <a:p>
            <a:pPr>
              <a:defRPr/>
            </a:pPr>
            <a:endParaRPr lang="en-US" dirty="0"/>
          </a:p>
          <a:p>
            <a:pPr>
              <a:defRPr/>
            </a:pPr>
            <a:r>
              <a:rPr lang="en-US" sz="2400" dirty="0">
                <a:latin typeface="Times New Roman" panose="02020603050405020304" pitchFamily="18" charset="0"/>
                <a:cs typeface="Times New Roman" panose="02020603050405020304" pitchFamily="18" charset="0"/>
              </a:rPr>
              <a:t>Level headed and calm</a:t>
            </a:r>
          </a:p>
          <a:p>
            <a:pPr>
              <a:defRPr/>
            </a:pPr>
            <a:r>
              <a:rPr lang="en-US" sz="2400" dirty="0">
                <a:latin typeface="Times New Roman" panose="02020603050405020304" pitchFamily="18" charset="0"/>
                <a:cs typeface="Times New Roman" panose="02020603050405020304" pitchFamily="18" charset="0"/>
              </a:rPr>
              <a:t>Cheerful demeanor-even under stressful times</a:t>
            </a:r>
          </a:p>
          <a:p>
            <a:pPr>
              <a:defRPr/>
            </a:pPr>
            <a:endParaRPr lang="en-US" dirty="0"/>
          </a:p>
        </p:txBody>
      </p:sp>
    </p:spTree>
    <p:extLst>
      <p:ext uri="{BB962C8B-B14F-4D97-AF65-F5344CB8AC3E}">
        <p14:creationId xmlns:p14="http://schemas.microsoft.com/office/powerpoint/2010/main" val="3403275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Trait # 9 of a professional: Remains Focused</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00200"/>
            <a:ext cx="9372600" cy="4421188"/>
          </a:xfrm>
        </p:spPr>
        <p:txBody>
          <a:bodyPr/>
          <a:lstStyle/>
          <a:p>
            <a:pPr marL="0" indent="0">
              <a:buNone/>
              <a:defRPr/>
            </a:pPr>
            <a:endParaRPr lang="en-US" dirty="0"/>
          </a:p>
          <a:p>
            <a:pPr>
              <a:defRPr/>
            </a:pPr>
            <a:r>
              <a:rPr lang="en-US" sz="2400" dirty="0">
                <a:latin typeface="Times New Roman" panose="02020603050405020304" pitchFamily="18" charset="0"/>
                <a:cs typeface="Times New Roman" panose="02020603050405020304" pitchFamily="18" charset="0"/>
              </a:rPr>
              <a:t>Stay focused on the task at hand and the goal ahead</a:t>
            </a:r>
          </a:p>
          <a:p>
            <a:pPr>
              <a:defRPr/>
            </a:pPr>
            <a:r>
              <a:rPr lang="en-US" sz="2400" dirty="0">
                <a:latin typeface="Times New Roman" panose="02020603050405020304" pitchFamily="18" charset="0"/>
                <a:cs typeface="Times New Roman" panose="02020603050405020304" pitchFamily="18" charset="0"/>
              </a:rPr>
              <a:t>Navigate through obstacles or setbacks but never lose sight of where they headed</a:t>
            </a:r>
          </a:p>
          <a:p>
            <a:pPr>
              <a:defRPr/>
            </a:pPr>
            <a:endParaRPr lang="en-US" dirty="0"/>
          </a:p>
        </p:txBody>
      </p:sp>
    </p:spTree>
    <p:extLst>
      <p:ext uri="{BB962C8B-B14F-4D97-AF65-F5344CB8AC3E}">
        <p14:creationId xmlns:p14="http://schemas.microsoft.com/office/powerpoint/2010/main" val="2652005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4000" dirty="0">
                <a:latin typeface="Times New Roman" panose="02020603050405020304" pitchFamily="18" charset="0"/>
                <a:cs typeface="Times New Roman" panose="02020603050405020304" pitchFamily="18" charset="0"/>
              </a:rPr>
              <a:t>Trait # 10 of a professional: Don’t Follow, Lead</a:t>
            </a:r>
            <a:r>
              <a:rPr lang="en-US" dirty="0"/>
              <a:t/>
            </a:r>
            <a:br>
              <a:rPr lang="en-US" dirty="0"/>
            </a:br>
            <a:endParaRPr lang="en-US" dirty="0"/>
          </a:p>
        </p:txBody>
      </p:sp>
      <p:sp>
        <p:nvSpPr>
          <p:cNvPr id="3" name="Content Placeholder 2"/>
          <p:cNvSpPr>
            <a:spLocks noGrp="1"/>
          </p:cNvSpPr>
          <p:nvPr>
            <p:ph idx="1"/>
          </p:nvPr>
        </p:nvSpPr>
        <p:spPr>
          <a:xfrm>
            <a:off x="838200" y="1600200"/>
            <a:ext cx="9372600" cy="4421188"/>
          </a:xfrm>
        </p:spPr>
        <p:txBody>
          <a:bodyPr/>
          <a:lstStyle/>
          <a:p>
            <a:pPr marL="0" indent="0">
              <a:buNone/>
              <a:defRPr/>
            </a:pPr>
            <a:endParaRPr lang="en-US" b="1" dirty="0"/>
          </a:p>
          <a:p>
            <a:pPr>
              <a:defRPr/>
            </a:pPr>
            <a:r>
              <a:rPr lang="en-US" sz="2400" dirty="0">
                <a:latin typeface="Times New Roman" panose="02020603050405020304" pitchFamily="18" charset="0"/>
                <a:cs typeface="Times New Roman" panose="02020603050405020304" pitchFamily="18" charset="0"/>
              </a:rPr>
              <a:t>True Professionals aren’t faint of heart</a:t>
            </a:r>
          </a:p>
          <a:p>
            <a:pPr>
              <a:defRPr/>
            </a:pPr>
            <a:r>
              <a:rPr lang="en-US" sz="2400" dirty="0">
                <a:latin typeface="Times New Roman" panose="02020603050405020304" pitchFamily="18" charset="0"/>
                <a:cs typeface="Times New Roman" panose="02020603050405020304" pitchFamily="18" charset="0"/>
              </a:rPr>
              <a:t>Analyze the situation and willing to take new paths and try new solutions</a:t>
            </a:r>
          </a:p>
          <a:p>
            <a:pPr>
              <a:defRPr/>
            </a:pPr>
            <a:r>
              <a:rPr lang="en-US" sz="2400" dirty="0">
                <a:latin typeface="Times New Roman" panose="02020603050405020304" pitchFamily="18" charset="0"/>
                <a:cs typeface="Times New Roman" panose="02020603050405020304" pitchFamily="18" charset="0"/>
              </a:rPr>
              <a:t>That’s why they call it LEADERSHIP!</a:t>
            </a:r>
          </a:p>
          <a:p>
            <a:pPr>
              <a:defRPr/>
            </a:pPr>
            <a:endParaRPr lang="en-US" dirty="0"/>
          </a:p>
        </p:txBody>
      </p:sp>
    </p:spTree>
    <p:extLst>
      <p:ext uri="{BB962C8B-B14F-4D97-AF65-F5344CB8AC3E}">
        <p14:creationId xmlns:p14="http://schemas.microsoft.com/office/powerpoint/2010/main" val="605591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Applying Professionalism in Real Life</a:t>
            </a:r>
          </a:p>
        </p:txBody>
      </p:sp>
      <p:sp>
        <p:nvSpPr>
          <p:cNvPr id="3" name="Content Placeholder 2"/>
          <p:cNvSpPr>
            <a:spLocks noGrp="1"/>
          </p:cNvSpPr>
          <p:nvPr>
            <p:ph idx="1"/>
          </p:nvPr>
        </p:nvSpPr>
        <p:spPr>
          <a:xfrm>
            <a:off x="838200" y="1600200"/>
            <a:ext cx="9372600" cy="4421188"/>
          </a:xfrm>
        </p:spPr>
        <p:txBody>
          <a:bodyPr/>
          <a:lstStyle/>
          <a:p>
            <a:pPr marL="0" indent="0" algn="just">
              <a:buNone/>
              <a:defRPr/>
            </a:pPr>
            <a:r>
              <a:rPr lang="en-US" sz="2400" dirty="0">
                <a:latin typeface="Times New Roman" panose="02020603050405020304" pitchFamily="18" charset="0"/>
                <a:cs typeface="Times New Roman" panose="02020603050405020304" pitchFamily="18" charset="0"/>
              </a:rPr>
              <a:t>Scenario #1</a:t>
            </a:r>
          </a:p>
          <a:p>
            <a:pPr algn="just">
              <a:defRPr/>
            </a:pPr>
            <a:r>
              <a:rPr lang="en-US" sz="2400" dirty="0">
                <a:latin typeface="Times New Roman" panose="02020603050405020304" pitchFamily="18" charset="0"/>
                <a:cs typeface="Times New Roman" panose="02020603050405020304" pitchFamily="18" charset="0"/>
              </a:rPr>
              <a:t>You are the owner of a software engineering company. Your employees (engineers) want you to pay for them to attend training.</a:t>
            </a:r>
          </a:p>
          <a:p>
            <a:pPr algn="just">
              <a:defRPr/>
            </a:pPr>
            <a:r>
              <a:rPr lang="en-US" sz="2400" dirty="0">
                <a:latin typeface="Times New Roman" panose="02020603050405020304" pitchFamily="18" charset="0"/>
                <a:cs typeface="Times New Roman" panose="02020603050405020304" pitchFamily="18" charset="0"/>
              </a:rPr>
              <a:t>How would you respond in a way that is legal, moral, and ethical?</a:t>
            </a:r>
          </a:p>
          <a:p>
            <a:pPr marL="0" indent="0" algn="just">
              <a:buNone/>
              <a:defRPr/>
            </a:pPr>
            <a:endParaRPr lang="en-US" sz="3600" dirty="0">
              <a:solidFill>
                <a:srgbClr val="0070C0"/>
              </a:solidFill>
            </a:endParaRPr>
          </a:p>
        </p:txBody>
      </p:sp>
    </p:spTree>
    <p:extLst>
      <p:ext uri="{BB962C8B-B14F-4D97-AF65-F5344CB8AC3E}">
        <p14:creationId xmlns:p14="http://schemas.microsoft.com/office/powerpoint/2010/main" val="1001403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Scenario #2</a:t>
            </a:r>
            <a:r>
              <a:rPr lang="en-US" dirty="0"/>
              <a:t/>
            </a:r>
            <a:br>
              <a:rPr lang="en-US" dirty="0"/>
            </a:br>
            <a:endParaRPr lang="en-US" dirty="0"/>
          </a:p>
        </p:txBody>
      </p:sp>
      <p:sp>
        <p:nvSpPr>
          <p:cNvPr id="3" name="Content Placeholder 2"/>
          <p:cNvSpPr>
            <a:spLocks noGrp="1"/>
          </p:cNvSpPr>
          <p:nvPr>
            <p:ph idx="1"/>
          </p:nvPr>
        </p:nvSpPr>
        <p:spPr>
          <a:xfrm>
            <a:off x="655093" y="1600200"/>
            <a:ext cx="9555707" cy="4421188"/>
          </a:xfrm>
        </p:spPr>
        <p:txBody>
          <a:bodyPr/>
          <a:lstStyle/>
          <a:p>
            <a:pPr algn="just">
              <a:defRPr/>
            </a:pPr>
            <a:r>
              <a:rPr lang="en-US" sz="2400" dirty="0">
                <a:latin typeface="Times New Roman" panose="02020603050405020304" pitchFamily="18" charset="0"/>
                <a:cs typeface="Times New Roman" panose="02020603050405020304" pitchFamily="18" charset="0"/>
              </a:rPr>
              <a:t>You are the owner of a software engineering company. Your employees (engineers) want you to let them do pro bono work for a local non-profit organization on company time.</a:t>
            </a:r>
          </a:p>
          <a:p>
            <a:pPr algn="just">
              <a:defRPr/>
            </a:pPr>
            <a:r>
              <a:rPr lang="en-US" sz="2400" dirty="0">
                <a:latin typeface="Times New Roman" panose="02020603050405020304" pitchFamily="18" charset="0"/>
                <a:cs typeface="Times New Roman" panose="02020603050405020304" pitchFamily="18" charset="0"/>
              </a:rPr>
              <a:t>How would you respond in a way that is legal, moral, and ethical?</a:t>
            </a:r>
          </a:p>
          <a:p>
            <a:pPr>
              <a:defRPr/>
            </a:pPr>
            <a:endParaRPr lang="en-US" dirty="0"/>
          </a:p>
          <a:p>
            <a:pPr>
              <a:defRPr/>
            </a:pPr>
            <a:endParaRPr lang="en-US" dirty="0"/>
          </a:p>
        </p:txBody>
      </p:sp>
    </p:spTree>
    <p:extLst>
      <p:ext uri="{BB962C8B-B14F-4D97-AF65-F5344CB8AC3E}">
        <p14:creationId xmlns:p14="http://schemas.microsoft.com/office/powerpoint/2010/main" val="2425247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Scenario #3</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00200"/>
            <a:ext cx="9372600" cy="4421188"/>
          </a:xfrm>
        </p:spPr>
        <p:txBody>
          <a:bodyPr/>
          <a:lstStyle/>
          <a:p>
            <a:pPr algn="just">
              <a:defRPr/>
            </a:pPr>
            <a:r>
              <a:rPr lang="en-US" sz="2400" dirty="0">
                <a:latin typeface="Times New Roman" panose="02020603050405020304" pitchFamily="18" charset="0"/>
                <a:cs typeface="Times New Roman" panose="02020603050405020304" pitchFamily="18" charset="0"/>
              </a:rPr>
              <a:t>You are a software engineer at a company where management routinely encourages you and your colleagues to use pirated software.</a:t>
            </a:r>
          </a:p>
          <a:p>
            <a:pPr algn="just">
              <a:defRPr/>
            </a:pPr>
            <a:r>
              <a:rPr lang="en-US" sz="2400" dirty="0">
                <a:latin typeface="Times New Roman" panose="02020603050405020304" pitchFamily="18" charset="0"/>
                <a:cs typeface="Times New Roman" panose="02020603050405020304" pitchFamily="18" charset="0"/>
              </a:rPr>
              <a:t>How would you respond in a way that is legal, moral, and ethical?</a:t>
            </a:r>
          </a:p>
          <a:p>
            <a:pPr>
              <a:defRPr/>
            </a:pPr>
            <a:endParaRPr lang="en-US" dirty="0"/>
          </a:p>
        </p:txBody>
      </p:sp>
    </p:spTree>
    <p:extLst>
      <p:ext uri="{BB962C8B-B14F-4D97-AF65-F5344CB8AC3E}">
        <p14:creationId xmlns:p14="http://schemas.microsoft.com/office/powerpoint/2010/main" val="31916333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bwMode="auto">
          <a:xfrm>
            <a:off x="2063750" y="2708275"/>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a:r>
              <a:rPr lang="en-US" dirty="0"/>
              <a:t/>
            </a:r>
            <a:br>
              <a:rPr lang="en-US" dirty="0"/>
            </a:br>
            <a:r>
              <a:rPr lang="en-US"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9332382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TotalTime>
  <Words>725</Words>
  <Application>Microsoft Office PowerPoint</Application>
  <PresentationFormat>Widescreen</PresentationFormat>
  <Paragraphs>98</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Times New Roman</vt:lpstr>
      <vt:lpstr>Wingdings</vt:lpstr>
      <vt:lpstr>Office Theme</vt:lpstr>
      <vt:lpstr>Professional Practices</vt:lpstr>
      <vt:lpstr>Week 1  Lecture 1:  The Profession</vt:lpstr>
      <vt:lpstr>Introduction</vt:lpstr>
      <vt:lpstr>Professional Responsibilities</vt:lpstr>
      <vt:lpstr>Engineering Council demands</vt:lpstr>
      <vt:lpstr>The Professionalism</vt:lpstr>
      <vt:lpstr>Traits of a Profession</vt:lpstr>
      <vt:lpstr>A professional behaves ethically </vt:lpstr>
      <vt:lpstr>Traits of a Professional</vt:lpstr>
      <vt:lpstr>Trait # 1 of a professional: Seriousness </vt:lpstr>
      <vt:lpstr>Trait # 2 of a professional: Wanting to do better</vt:lpstr>
      <vt:lpstr>Trait # 3 of a professional: Dealing with the Unexpected</vt:lpstr>
      <vt:lpstr>Trait # 4 of a professional: Communication Skills </vt:lpstr>
      <vt:lpstr>Trait # 5 of a professional: Enthusiasm </vt:lpstr>
      <vt:lpstr>Trait # 6 of a professional: Helpfulness </vt:lpstr>
      <vt:lpstr>Trait # 7 of a professional: Taking the Initiative</vt:lpstr>
      <vt:lpstr>Trait # 8 of a professional: Cool under Pressure </vt:lpstr>
      <vt:lpstr>Trait # 9 of a professional: Remains Focused </vt:lpstr>
      <vt:lpstr>Trait # 10 of a professional: Don’t Follow, Lead </vt:lpstr>
      <vt:lpstr>Applying Professionalism in Real Life</vt:lpstr>
      <vt:lpstr>Scenario #2 </vt:lpstr>
      <vt:lpstr>Scenario #3 </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Admin</cp:lastModifiedBy>
  <cp:revision>20</cp:revision>
  <dcterms:created xsi:type="dcterms:W3CDTF">2020-09-29T10:19:05Z</dcterms:created>
  <dcterms:modified xsi:type="dcterms:W3CDTF">2022-11-22T15:16:16Z</dcterms:modified>
</cp:coreProperties>
</file>
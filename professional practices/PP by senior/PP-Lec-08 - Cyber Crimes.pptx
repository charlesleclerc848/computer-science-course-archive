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8" r:id="rId3"/>
    <p:sldId id="269" r:id="rId4"/>
    <p:sldId id="257" r:id="rId5"/>
    <p:sldId id="259" r:id="rId6"/>
    <p:sldId id="261" r:id="rId7"/>
    <p:sldId id="260" r:id="rId8"/>
    <p:sldId id="262" r:id="rId9"/>
    <p:sldId id="271" r:id="rId10"/>
    <p:sldId id="272" r:id="rId11"/>
    <p:sldId id="273" r:id="rId12"/>
    <p:sldId id="277" r:id="rId13"/>
    <p:sldId id="283" r:id="rId14"/>
    <p:sldId id="279" r:id="rId15"/>
    <p:sldId id="270" r:id="rId16"/>
    <p:sldId id="280" r:id="rId17"/>
    <p:sldId id="281" r:id="rId18"/>
    <p:sldId id="263" r:id="rId19"/>
    <p:sldId id="265" r:id="rId20"/>
    <p:sldId id="300" r:id="rId21"/>
    <p:sldId id="291" r:id="rId22"/>
    <p:sldId id="297" r:id="rId23"/>
    <p:sldId id="295" r:id="rId24"/>
    <p:sldId id="292" r:id="rId25"/>
    <p:sldId id="299" r:id="rId26"/>
    <p:sldId id="285" r:id="rId27"/>
    <p:sldId id="287" r:id="rId28"/>
    <p:sldId id="290" r:id="rId29"/>
    <p:sldId id="296" r:id="rId30"/>
    <p:sldId id="289" r:id="rId31"/>
    <p:sldId id="293" r:id="rId32"/>
    <p:sldId id="294" r:id="rId33"/>
    <p:sldId id="301" r:id="rId34"/>
    <p:sldId id="302" r:id="rId35"/>
    <p:sldId id="305" r:id="rId36"/>
    <p:sldId id="306" r:id="rId37"/>
    <p:sldId id="307" r:id="rId38"/>
    <p:sldId id="308" r:id="rId39"/>
    <p:sldId id="309" r:id="rId40"/>
    <p:sldId id="310" r:id="rId41"/>
    <p:sldId id="311" r:id="rId42"/>
    <p:sldId id="314" r:id="rId43"/>
    <p:sldId id="312" r:id="rId44"/>
    <p:sldId id="313" r:id="rId45"/>
    <p:sldId id="316" r:id="rId46"/>
    <p:sldId id="315" r:id="rId47"/>
    <p:sldId id="317" r:id="rId48"/>
    <p:sldId id="318" r:id="rId49"/>
    <p:sldId id="319" r:id="rId50"/>
    <p:sldId id="320" r:id="rId51"/>
    <p:sldId id="321" r:id="rId52"/>
    <p:sldId id="323" r:id="rId53"/>
    <p:sldId id="275" r:id="rId54"/>
    <p:sldId id="282" r:id="rId55"/>
    <p:sldId id="324" r:id="rId56"/>
    <p:sldId id="325" r:id="rId57"/>
    <p:sldId id="328" r:id="rId58"/>
    <p:sldId id="327" r:id="rId59"/>
    <p:sldId id="329" r:id="rId60"/>
    <p:sldId id="330" r:id="rId61"/>
    <p:sldId id="331" r:id="rId62"/>
    <p:sldId id="332" r:id="rId63"/>
    <p:sldId id="334" r:id="rId64"/>
    <p:sldId id="303" r:id="rId65"/>
    <p:sldId id="304" r:id="rId66"/>
    <p:sldId id="335" r:id="rId67"/>
    <p:sldId id="336" r:id="rId68"/>
    <p:sldId id="337" r:id="rId69"/>
    <p:sldId id="338" r:id="rId70"/>
    <p:sldId id="343" r:id="rId71"/>
    <p:sldId id="344" r:id="rId72"/>
    <p:sldId id="339" r:id="rId73"/>
    <p:sldId id="348" r:id="rId74"/>
    <p:sldId id="340" r:id="rId75"/>
    <p:sldId id="341" r:id="rId76"/>
    <p:sldId id="342" r:id="rId77"/>
    <p:sldId id="345" r:id="rId78"/>
    <p:sldId id="346" r:id="rId79"/>
    <p:sldId id="350" r:id="rId80"/>
    <p:sldId id="351" r:id="rId81"/>
    <p:sldId id="347"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04" autoAdjust="0"/>
  </p:normalViewPr>
  <p:slideViewPr>
    <p:cSldViewPr snapToGrid="0">
      <p:cViewPr varScale="1">
        <p:scale>
          <a:sx n="70" d="100"/>
          <a:sy n="70" d="100"/>
        </p:scale>
        <p:origin x="636"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6B32F-57CC-4A6A-B93C-8CD2CA002F67}" type="datetimeFigureOut">
              <a:rPr lang="en-US" smtClean="0"/>
              <a:t>5/15/2023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44325-C4C4-497C-9B28-4A4453118300}" type="slidenum">
              <a:rPr lang="en-US" smtClean="0"/>
              <a:t>‹#›</a:t>
            </a:fld>
            <a:endParaRPr lang="en-US"/>
          </a:p>
        </p:txBody>
      </p:sp>
    </p:spTree>
    <p:extLst>
      <p:ext uri="{BB962C8B-B14F-4D97-AF65-F5344CB8AC3E}">
        <p14:creationId xmlns:p14="http://schemas.microsoft.com/office/powerpoint/2010/main" val="115799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en.wikipedia.org/wiki/Ransomware#cite_note-134" TargetMode="External"/><Relationship Id="rId13" Type="http://schemas.openxmlformats.org/officeDocument/2006/relationships/hyperlink" Target="https://en.wikipedia.org/wiki/TeslaCrypt" TargetMode="External"/><Relationship Id="rId3" Type="http://schemas.openxmlformats.org/officeDocument/2006/relationships/hyperlink" Target="https://en.wikipedia.org/wiki/Volume_shadow_copy" TargetMode="External"/><Relationship Id="rId7" Type="http://schemas.openxmlformats.org/officeDocument/2006/relationships/hyperlink" Target="https://en.wikipedia.org/wiki/Ransomware#cite_note-schofield-2" TargetMode="External"/><Relationship Id="rId12" Type="http://schemas.openxmlformats.org/officeDocument/2006/relationships/hyperlink" Target="https://en.wikipedia.org/wiki/Hidden_Tear"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en.wikipedia.org/wiki/Ransomware#cite_note-133" TargetMode="External"/><Relationship Id="rId11" Type="http://schemas.openxmlformats.org/officeDocument/2006/relationships/hyperlink" Target="https://en.wikipedia.org/wiki/Ransomware#cite_note-135" TargetMode="External"/><Relationship Id="rId5" Type="http://schemas.openxmlformats.org/officeDocument/2006/relationships/hyperlink" Target="https://en.wikipedia.org/wiki/ZFS" TargetMode="External"/><Relationship Id="rId10" Type="http://schemas.openxmlformats.org/officeDocument/2006/relationships/hyperlink" Target="https://en.wikipedia.org/wiki/Cryptanalysis" TargetMode="External"/><Relationship Id="rId4" Type="http://schemas.openxmlformats.org/officeDocument/2006/relationships/hyperlink" Target="https://en.wikipedia.org/wiki/Ransomware#cite_note-132" TargetMode="External"/><Relationship Id="rId9" Type="http://schemas.openxmlformats.org/officeDocument/2006/relationships/hyperlink" Target="https://en.wikipedia.org/wiki/Known-plaintext_attack" TargetMode="External"/><Relationship Id="rId14" Type="http://schemas.openxmlformats.org/officeDocument/2006/relationships/hyperlink" Target="https://en.wikipedia.org/wiki/Ransomware#cite_note-136" TargetMode="External"/></Relationships>
</file>

<file path=ppt/notesSlides/_rels/notesSlide18.xml.rels><?xml version="1.0" encoding="UTF-8" standalone="yes"?>
<Relationships xmlns="http://schemas.openxmlformats.org/package/2006/relationships"><Relationship Id="rId13" Type="http://schemas.openxmlformats.org/officeDocument/2006/relationships/hyperlink" Target="https://en.wikipedia.org/wiki/Firmware" TargetMode="External"/><Relationship Id="rId18" Type="http://schemas.openxmlformats.org/officeDocument/2006/relationships/hyperlink" Target="https://en.wikipedia.org/wiki/Boot_sector" TargetMode="External"/><Relationship Id="rId26" Type="http://schemas.openxmlformats.org/officeDocument/2006/relationships/hyperlink" Target="https://en.wikipedia.org/wiki/Rootkit#cite_note-39" TargetMode="External"/><Relationship Id="rId21" Type="http://schemas.openxmlformats.org/officeDocument/2006/relationships/hyperlink" Target="https://en.wikipedia.org/wiki/Rootkit#cite_note-36" TargetMode="External"/><Relationship Id="rId34" Type="http://schemas.openxmlformats.org/officeDocument/2006/relationships/hyperlink" Target="https://en.wikipedia.org/wiki/Rootkit#cite_note-42" TargetMode="External"/><Relationship Id="rId7" Type="http://schemas.openxmlformats.org/officeDocument/2006/relationships/hyperlink" Target="https://en.wikipedia.org/wiki/Social_engineering_(security)" TargetMode="External"/><Relationship Id="rId12" Type="http://schemas.openxmlformats.org/officeDocument/2006/relationships/hyperlink" Target="https://en.wikipedia.org/wiki/Rootkit#cite_note-2" TargetMode="External"/><Relationship Id="rId17" Type="http://schemas.openxmlformats.org/officeDocument/2006/relationships/hyperlink" Target="https://en.wikipedia.org/wiki/Volume_Boot_Record" TargetMode="External"/><Relationship Id="rId25" Type="http://schemas.openxmlformats.org/officeDocument/2006/relationships/hyperlink" Target="https://en.wikipedia.org/wiki/Rootkit#cite_note-kumar-vbootkit-38" TargetMode="External"/><Relationship Id="rId33" Type="http://schemas.openxmlformats.org/officeDocument/2006/relationships/hyperlink" Target="https://en.wikipedia.org/wiki/Microsoft_Product_Activation" TargetMode="External"/><Relationship Id="rId2" Type="http://schemas.openxmlformats.org/officeDocument/2006/relationships/slide" Target="../slides/slide43.xml"/><Relationship Id="rId16" Type="http://schemas.openxmlformats.org/officeDocument/2006/relationships/hyperlink" Target="https://en.wikipedia.org/wiki/Master_Boot_Record" TargetMode="External"/><Relationship Id="rId20" Type="http://schemas.openxmlformats.org/officeDocument/2006/relationships/hyperlink" Target="https://en.wikipedia.org/wiki/Evil_maid_attack" TargetMode="External"/><Relationship Id="rId29" Type="http://schemas.openxmlformats.org/officeDocument/2006/relationships/hyperlink" Target="https://en.wikipedia.org/wiki/Windows_7" TargetMode="External"/><Relationship Id="rId1" Type="http://schemas.openxmlformats.org/officeDocument/2006/relationships/notesMaster" Target="../notesMasters/notesMaster1.xml"/><Relationship Id="rId6" Type="http://schemas.openxmlformats.org/officeDocument/2006/relationships/hyperlink" Target="https://en.wikipedia.org/wiki/Password_cracking" TargetMode="External"/><Relationship Id="rId11" Type="http://schemas.openxmlformats.org/officeDocument/2006/relationships/hyperlink" Target="https://en.wikipedia.org/wiki/Kernel_(computing)" TargetMode="External"/><Relationship Id="rId24" Type="http://schemas.openxmlformats.org/officeDocument/2006/relationships/hyperlink" Target="https://en.wikipedia.org/wiki/Rootkit#cite_note-37" TargetMode="External"/><Relationship Id="rId32" Type="http://schemas.openxmlformats.org/officeDocument/2006/relationships/hyperlink" Target="https://en.wikipedia.org/wiki/Advanced_Configuration_and_Power_Interface" TargetMode="External"/><Relationship Id="rId37" Type="http://schemas.openxmlformats.org/officeDocument/2006/relationships/hyperlink" Target="https://en.wikipedia.org/wiki/Rootkit#cite_note-44" TargetMode="External"/><Relationship Id="rId5" Type="http://schemas.openxmlformats.org/officeDocument/2006/relationships/hyperlink" Target="https://en.wikipedia.org/wiki/Password" TargetMode="External"/><Relationship Id="rId15" Type="http://schemas.openxmlformats.org/officeDocument/2006/relationships/hyperlink" Target="https://en.wikipedia.org/w/index.php?title=Rootkit&amp;action=edit&amp;section=8" TargetMode="External"/><Relationship Id="rId23" Type="http://schemas.openxmlformats.org/officeDocument/2006/relationships/hyperlink" Target="https://en.wikipedia.org/wiki/Protected_mode" TargetMode="External"/><Relationship Id="rId28" Type="http://schemas.openxmlformats.org/officeDocument/2006/relationships/hyperlink" Target="https://en.wikipedia.org/wiki/Wikipedia:Verifiability#Self-published_sources" TargetMode="External"/><Relationship Id="rId36" Type="http://schemas.openxmlformats.org/officeDocument/2006/relationships/hyperlink" Target="https://en.wikipedia.org/wiki/Windows_8" TargetMode="External"/><Relationship Id="rId10" Type="http://schemas.openxmlformats.org/officeDocument/2006/relationships/hyperlink" Target="https://en.wikipedia.org/wiki/Core_dump" TargetMode="External"/><Relationship Id="rId19" Type="http://schemas.openxmlformats.org/officeDocument/2006/relationships/hyperlink" Target="https://en.wikipedia.org/wiki/Full_disk_encryption" TargetMode="External"/><Relationship Id="rId31" Type="http://schemas.openxmlformats.org/officeDocument/2006/relationships/hyperlink" Target="https://en.wikipedia.org/wiki/Rootkit#cite_note-41" TargetMode="External"/><Relationship Id="rId4" Type="http://schemas.openxmlformats.org/officeDocument/2006/relationships/hyperlink" Target="https://en.wikipedia.org/wiki/Privilege_escalation" TargetMode="External"/><Relationship Id="rId9" Type="http://schemas.openxmlformats.org/officeDocument/2006/relationships/hyperlink" Target="https://en.wikipedia.org/wiki/Operating_system" TargetMode="External"/><Relationship Id="rId14" Type="http://schemas.openxmlformats.org/officeDocument/2006/relationships/hyperlink" Target="https://en.wikipedia.org/wiki/Computer_hardware" TargetMode="External"/><Relationship Id="rId22" Type="http://schemas.openxmlformats.org/officeDocument/2006/relationships/hyperlink" Target="https://en.wikipedia.org/wiki/Booting" TargetMode="External"/><Relationship Id="rId27" Type="http://schemas.openxmlformats.org/officeDocument/2006/relationships/hyperlink" Target="https://en.wikipedia.org/wiki/Rootkit#cite_note-40" TargetMode="External"/><Relationship Id="rId30" Type="http://schemas.openxmlformats.org/officeDocument/2006/relationships/hyperlink" Target="https://en.wikipedia.org/wiki/Master_boot_record" TargetMode="External"/><Relationship Id="rId35" Type="http://schemas.openxmlformats.org/officeDocument/2006/relationships/hyperlink" Target="https://en.wikipedia.org/wiki/Rootkit#cite_note-43" TargetMode="External"/><Relationship Id="rId8" Type="http://schemas.openxmlformats.org/officeDocument/2006/relationships/hyperlink" Target="https://en.wikipedia.org/wiki/Phishing" TargetMode="External"/><Relationship Id="rId3" Type="http://schemas.openxmlformats.org/officeDocument/2006/relationships/hyperlink" Target="https://en.wikipedia.org/wiki/Hacker_(computer_security)"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a:t>
            </a:fld>
            <a:endParaRPr lang="en-US"/>
          </a:p>
        </p:txBody>
      </p:sp>
    </p:spTree>
    <p:extLst>
      <p:ext uri="{BB962C8B-B14F-4D97-AF65-F5344CB8AC3E}">
        <p14:creationId xmlns:p14="http://schemas.microsoft.com/office/powerpoint/2010/main" val="363943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080" indent="-342900">
              <a:lnSpc>
                <a:spcPct val="80000"/>
              </a:lnSpc>
              <a:spcBef>
                <a:spcPts val="985"/>
              </a:spcBef>
              <a:buFont typeface="Arial"/>
              <a:buChar char="•"/>
              <a:tabLst>
                <a:tab pos="355600" algn="l"/>
              </a:tabLst>
            </a:pPr>
            <a:r>
              <a:rPr lang="en-US" sz="1200" dirty="0">
                <a:latin typeface="Carlito"/>
                <a:cs typeface="Carlito"/>
              </a:rPr>
              <a:t>When </a:t>
            </a:r>
            <a:r>
              <a:rPr lang="en-US" sz="1200" spc="-20" dirty="0">
                <a:latin typeface="Carlito"/>
                <a:cs typeface="Carlito"/>
              </a:rPr>
              <a:t>any </a:t>
            </a:r>
            <a:r>
              <a:rPr lang="en-US" sz="1200" dirty="0">
                <a:latin typeface="Carlito"/>
                <a:cs typeface="Carlito"/>
              </a:rPr>
              <a:t>crime is </a:t>
            </a:r>
            <a:r>
              <a:rPr lang="en-US" sz="1200" spc="-20" dirty="0">
                <a:latin typeface="Carlito"/>
                <a:cs typeface="Carlito"/>
              </a:rPr>
              <a:t>committed </a:t>
            </a:r>
            <a:r>
              <a:rPr lang="en-US" sz="1200" spc="-15" dirty="0">
                <a:latin typeface="Carlito"/>
                <a:cs typeface="Carlito"/>
              </a:rPr>
              <a:t>over  </a:t>
            </a:r>
            <a:r>
              <a:rPr lang="en-US" sz="1200" dirty="0">
                <a:latin typeface="Carlito"/>
                <a:cs typeface="Carlito"/>
              </a:rPr>
              <a:t>the </a:t>
            </a:r>
            <a:r>
              <a:rPr lang="en-US" sz="1200" spc="-10" dirty="0">
                <a:latin typeface="Carlito"/>
                <a:cs typeface="Carlito"/>
              </a:rPr>
              <a:t>Internet using</a:t>
            </a:r>
            <a:r>
              <a:rPr lang="en-US" sz="1200" spc="-10" baseline="0" dirty="0">
                <a:latin typeface="Carlito"/>
                <a:cs typeface="Carlito"/>
              </a:rPr>
              <a:t> digital devices </a:t>
            </a:r>
            <a:r>
              <a:rPr lang="en-US" sz="1200" dirty="0">
                <a:latin typeface="Carlito"/>
                <a:cs typeface="Carlito"/>
              </a:rPr>
              <a:t>it </a:t>
            </a:r>
            <a:r>
              <a:rPr lang="en-US" sz="1200" spc="-10" dirty="0">
                <a:latin typeface="Carlito"/>
                <a:cs typeface="Carlito"/>
              </a:rPr>
              <a:t>is </a:t>
            </a:r>
            <a:r>
              <a:rPr lang="en-US" sz="1200" spc="-30" dirty="0">
                <a:latin typeface="Carlito"/>
                <a:cs typeface="Carlito"/>
              </a:rPr>
              <a:t>referred </a:t>
            </a:r>
            <a:r>
              <a:rPr lang="en-US" sz="1200" spc="-15" dirty="0">
                <a:latin typeface="Carlito"/>
                <a:cs typeface="Carlito"/>
              </a:rPr>
              <a:t>to </a:t>
            </a:r>
            <a:r>
              <a:rPr lang="en-US" sz="1200" dirty="0">
                <a:latin typeface="Carlito"/>
                <a:cs typeface="Carlito"/>
              </a:rPr>
              <a:t>as a  cyber</a:t>
            </a:r>
            <a:r>
              <a:rPr lang="en-US" sz="1200" spc="-35" dirty="0">
                <a:latin typeface="Carlito"/>
                <a:cs typeface="Carlito"/>
              </a:rPr>
              <a:t> </a:t>
            </a:r>
            <a:r>
              <a:rPr lang="en-US" sz="1200" dirty="0">
                <a:latin typeface="Carlito"/>
                <a:cs typeface="Carlito"/>
              </a:rPr>
              <a:t>crime.</a:t>
            </a:r>
          </a:p>
          <a:p>
            <a:pPr marL="355600" marR="472440" indent="-342900">
              <a:lnSpc>
                <a:spcPct val="80000"/>
              </a:lnSpc>
              <a:spcBef>
                <a:spcPts val="985"/>
              </a:spcBef>
              <a:buFont typeface="Arial"/>
              <a:buChar char="•"/>
              <a:tabLst>
                <a:tab pos="355600" algn="l"/>
              </a:tabLst>
            </a:pPr>
            <a:r>
              <a:rPr lang="en-US" sz="1200" dirty="0">
                <a:latin typeface="Carlito"/>
                <a:cs typeface="Carlito"/>
              </a:rPr>
              <a:t>When </a:t>
            </a:r>
            <a:r>
              <a:rPr lang="en-US" sz="1200" spc="-15" dirty="0">
                <a:latin typeface="Carlito"/>
                <a:cs typeface="Carlito"/>
              </a:rPr>
              <a:t>you </a:t>
            </a:r>
            <a:r>
              <a:rPr lang="en-US" sz="1200" spc="-10" dirty="0">
                <a:latin typeface="Carlito"/>
                <a:cs typeface="Carlito"/>
              </a:rPr>
              <a:t>purchase </a:t>
            </a:r>
            <a:r>
              <a:rPr lang="en-US" sz="1200" dirty="0">
                <a:latin typeface="Carlito"/>
                <a:cs typeface="Carlito"/>
              </a:rPr>
              <a:t>a </a:t>
            </a:r>
            <a:r>
              <a:rPr lang="en-US" sz="1200" spc="-5" dirty="0">
                <a:latin typeface="Carlito"/>
                <a:cs typeface="Carlito"/>
              </a:rPr>
              <a:t>home </a:t>
            </a:r>
            <a:r>
              <a:rPr lang="en-US" sz="1200" spc="-10" dirty="0">
                <a:latin typeface="Carlito"/>
                <a:cs typeface="Carlito"/>
              </a:rPr>
              <a:t>it  comes </a:t>
            </a:r>
            <a:r>
              <a:rPr lang="en-US" sz="1200" spc="-5" dirty="0">
                <a:latin typeface="Carlito"/>
                <a:cs typeface="Carlito"/>
              </a:rPr>
              <a:t>with </a:t>
            </a:r>
            <a:r>
              <a:rPr lang="en-US" sz="1200" dirty="0">
                <a:latin typeface="Carlito"/>
                <a:cs typeface="Carlito"/>
              </a:rPr>
              <a:t>a </a:t>
            </a:r>
            <a:r>
              <a:rPr lang="en-US" sz="1200" spc="-5" dirty="0">
                <a:latin typeface="Carlito"/>
                <a:cs typeface="Carlito"/>
              </a:rPr>
              <a:t>door </a:t>
            </a:r>
            <a:r>
              <a:rPr lang="en-US" sz="1200" dirty="0">
                <a:latin typeface="Carlito"/>
                <a:cs typeface="Carlito"/>
              </a:rPr>
              <a:t>and lock </a:t>
            </a:r>
            <a:r>
              <a:rPr lang="en-US" sz="1200" spc="-55" dirty="0">
                <a:latin typeface="Carlito"/>
                <a:cs typeface="Carlito"/>
              </a:rPr>
              <a:t>.you  </a:t>
            </a:r>
            <a:r>
              <a:rPr lang="en-US" sz="1200" spc="-25" dirty="0">
                <a:latin typeface="Carlito"/>
                <a:cs typeface="Carlito"/>
              </a:rPr>
              <a:t>always </a:t>
            </a:r>
            <a:r>
              <a:rPr lang="en-US" sz="1200" spc="-5" dirty="0">
                <a:latin typeface="Carlito"/>
                <a:cs typeface="Carlito"/>
              </a:rPr>
              <a:t>ensure that </a:t>
            </a:r>
            <a:r>
              <a:rPr lang="en-US" sz="1200" spc="-15" dirty="0">
                <a:latin typeface="Carlito"/>
                <a:cs typeface="Carlito"/>
              </a:rPr>
              <a:t>your </a:t>
            </a:r>
            <a:r>
              <a:rPr lang="en-US" sz="1200" dirty="0">
                <a:latin typeface="Carlito"/>
                <a:cs typeface="Carlito"/>
              </a:rPr>
              <a:t>lock</a:t>
            </a:r>
            <a:r>
              <a:rPr lang="en-US" sz="1200" spc="-135" dirty="0">
                <a:latin typeface="Carlito"/>
                <a:cs typeface="Carlito"/>
              </a:rPr>
              <a:t> </a:t>
            </a:r>
            <a:r>
              <a:rPr lang="en-US" sz="1200" dirty="0">
                <a:latin typeface="Carlito"/>
                <a:cs typeface="Carlito"/>
              </a:rPr>
              <a:t>and  </a:t>
            </a:r>
            <a:r>
              <a:rPr lang="en-US" sz="1200" spc="-20" dirty="0">
                <a:latin typeface="Carlito"/>
                <a:cs typeface="Carlito"/>
              </a:rPr>
              <a:t>doors are </a:t>
            </a:r>
            <a:r>
              <a:rPr lang="en-US" sz="1200" spc="-15" dirty="0">
                <a:latin typeface="Carlito"/>
                <a:cs typeface="Carlito"/>
              </a:rPr>
              <a:t>working </a:t>
            </a:r>
            <a:r>
              <a:rPr lang="en-US" sz="1200" spc="-10" dirty="0">
                <a:latin typeface="Carlito"/>
                <a:cs typeface="Carlito"/>
              </a:rPr>
              <a:t>properly </a:t>
            </a:r>
            <a:r>
              <a:rPr lang="en-US" sz="1200" dirty="0">
                <a:latin typeface="Carlito"/>
                <a:cs typeface="Carlito"/>
              </a:rPr>
              <a:t>. </a:t>
            </a:r>
            <a:r>
              <a:rPr lang="en-US" sz="1200" spc="-20" dirty="0">
                <a:latin typeface="Carlito"/>
                <a:cs typeface="Carlito"/>
              </a:rPr>
              <a:t>you  may </a:t>
            </a:r>
            <a:r>
              <a:rPr lang="en-US" sz="1200" spc="-15" dirty="0">
                <a:latin typeface="Carlito"/>
                <a:cs typeface="Carlito"/>
              </a:rPr>
              <a:t>even </a:t>
            </a:r>
            <a:r>
              <a:rPr lang="en-US" sz="1200" spc="-10" dirty="0">
                <a:latin typeface="Carlito"/>
                <a:cs typeface="Carlito"/>
              </a:rPr>
              <a:t>purchase </a:t>
            </a:r>
            <a:r>
              <a:rPr lang="en-US" sz="1200" dirty="0">
                <a:latin typeface="Carlito"/>
                <a:cs typeface="Carlito"/>
              </a:rPr>
              <a:t>a security  </a:t>
            </a:r>
            <a:r>
              <a:rPr lang="en-US" sz="1200" spc="-30" dirty="0">
                <a:latin typeface="Carlito"/>
                <a:cs typeface="Carlito"/>
              </a:rPr>
              <a:t>system.</a:t>
            </a:r>
            <a:endParaRPr lang="en-US" sz="1200" dirty="0">
              <a:latin typeface="Carlito"/>
              <a:cs typeface="Carlito"/>
            </a:endParaRPr>
          </a:p>
          <a:p>
            <a:pPr marL="355600" marR="478790" indent="-342900">
              <a:lnSpc>
                <a:spcPct val="100000"/>
              </a:lnSpc>
              <a:spcBef>
                <a:spcPts val="105"/>
              </a:spcBef>
              <a:buFont typeface="Arial"/>
              <a:buChar char="•"/>
              <a:tabLst>
                <a:tab pos="354965" algn="l"/>
                <a:tab pos="355600" algn="l"/>
              </a:tabLst>
            </a:pPr>
            <a:r>
              <a:rPr lang="en-US" sz="1200" spc="-15" dirty="0">
                <a:latin typeface="Carlito"/>
                <a:cs typeface="Carlito"/>
              </a:rPr>
              <a:t>Likewise </a:t>
            </a:r>
            <a:r>
              <a:rPr lang="en-US" sz="1200" dirty="0">
                <a:latin typeface="Carlito"/>
                <a:cs typeface="Carlito"/>
              </a:rPr>
              <a:t>, </a:t>
            </a:r>
            <a:r>
              <a:rPr lang="en-US" sz="1200" spc="-10" dirty="0">
                <a:latin typeface="Carlito"/>
                <a:cs typeface="Carlito"/>
              </a:rPr>
              <a:t>your </a:t>
            </a:r>
            <a:r>
              <a:rPr lang="en-US" sz="1200" spc="-30" dirty="0">
                <a:latin typeface="Carlito"/>
                <a:cs typeface="Carlito"/>
              </a:rPr>
              <a:t>system </a:t>
            </a:r>
            <a:r>
              <a:rPr lang="en-US" sz="1200" dirty="0">
                <a:latin typeface="Carlito"/>
                <a:cs typeface="Carlito"/>
              </a:rPr>
              <a:t>is </a:t>
            </a:r>
            <a:r>
              <a:rPr lang="en-US" sz="1200" spc="-10" dirty="0">
                <a:latin typeface="Carlito"/>
                <a:cs typeface="Carlito"/>
              </a:rPr>
              <a:t>your </a:t>
            </a:r>
            <a:r>
              <a:rPr lang="en-US" sz="1200" dirty="0">
                <a:latin typeface="Carlito"/>
                <a:cs typeface="Carlito"/>
              </a:rPr>
              <a:t>home and  </a:t>
            </a:r>
            <a:r>
              <a:rPr lang="en-US" sz="1200" spc="-5" dirty="0">
                <a:latin typeface="Carlito"/>
                <a:cs typeface="Carlito"/>
              </a:rPr>
              <a:t>security </a:t>
            </a:r>
            <a:r>
              <a:rPr lang="en-US" sz="1200" spc="-10" dirty="0">
                <a:latin typeface="Carlito"/>
                <a:cs typeface="Carlito"/>
              </a:rPr>
              <a:t>tools are </a:t>
            </a:r>
            <a:r>
              <a:rPr lang="en-US" sz="1200" dirty="0">
                <a:latin typeface="Carlito"/>
                <a:cs typeface="Carlito"/>
              </a:rPr>
              <a:t>door / </a:t>
            </a:r>
            <a:r>
              <a:rPr lang="en-US" sz="1200" spc="-10" dirty="0">
                <a:latin typeface="Carlito"/>
                <a:cs typeface="Carlito"/>
              </a:rPr>
              <a:t>locks </a:t>
            </a:r>
            <a:r>
              <a:rPr lang="en-US" sz="1200" dirty="0">
                <a:latin typeface="Carlito"/>
                <a:cs typeface="Carlito"/>
              </a:rPr>
              <a:t>and </a:t>
            </a:r>
            <a:r>
              <a:rPr lang="en-US" sz="1200" spc="-5" dirty="0">
                <a:latin typeface="Carlito"/>
                <a:cs typeface="Carlito"/>
              </a:rPr>
              <a:t>security  </a:t>
            </a:r>
            <a:r>
              <a:rPr lang="en-US" sz="1200" spc="-10" dirty="0">
                <a:latin typeface="Carlito"/>
                <a:cs typeface="Carlito"/>
              </a:rPr>
              <a:t>tools.</a:t>
            </a:r>
            <a:endParaRPr lang="en-US" sz="1200" dirty="0">
              <a:latin typeface="Carlito"/>
              <a:cs typeface="Carlito"/>
            </a:endParaRPr>
          </a:p>
          <a:p>
            <a:pPr marL="355600" marR="930910" indent="-342900">
              <a:lnSpc>
                <a:spcPct val="100000"/>
              </a:lnSpc>
              <a:spcBef>
                <a:spcPts val="770"/>
              </a:spcBef>
              <a:buFont typeface="Arial"/>
              <a:buChar char="•"/>
              <a:tabLst>
                <a:tab pos="354965" algn="l"/>
                <a:tab pos="355600" algn="l"/>
              </a:tabLst>
            </a:pPr>
            <a:r>
              <a:rPr lang="en-US" sz="1200" dirty="0">
                <a:latin typeface="Carlito"/>
                <a:cs typeface="Carlito"/>
              </a:rPr>
              <a:t>So </a:t>
            </a:r>
            <a:r>
              <a:rPr lang="en-US" sz="1200" spc="-5" dirty="0">
                <a:latin typeface="Carlito"/>
                <a:cs typeface="Carlito"/>
              </a:rPr>
              <a:t>if someone breaches </a:t>
            </a:r>
            <a:r>
              <a:rPr lang="en-US" sz="1200" spc="-15" dirty="0">
                <a:latin typeface="Carlito"/>
                <a:cs typeface="Carlito"/>
              </a:rPr>
              <a:t>into </a:t>
            </a:r>
            <a:r>
              <a:rPr lang="en-US" sz="1200" spc="-10" dirty="0">
                <a:latin typeface="Carlito"/>
                <a:cs typeface="Carlito"/>
              </a:rPr>
              <a:t>your  </a:t>
            </a:r>
            <a:r>
              <a:rPr lang="en-US" sz="1200" spc="-25" dirty="0">
                <a:latin typeface="Carlito"/>
                <a:cs typeface="Carlito"/>
              </a:rPr>
              <a:t>home’s(system), </a:t>
            </a:r>
            <a:r>
              <a:rPr lang="en-US" sz="1200" dirty="0">
                <a:latin typeface="Carlito"/>
                <a:cs typeface="Carlito"/>
              </a:rPr>
              <a:t>access all </a:t>
            </a:r>
            <a:r>
              <a:rPr lang="en-US" sz="1200" spc="-15" dirty="0">
                <a:latin typeface="Carlito"/>
                <a:cs typeface="Carlito"/>
              </a:rPr>
              <a:t>you personal  </a:t>
            </a:r>
            <a:r>
              <a:rPr lang="en-US" sz="1200" spc="-5" dirty="0">
                <a:latin typeface="Carlito"/>
                <a:cs typeface="Carlito"/>
              </a:rPr>
              <a:t>account </a:t>
            </a:r>
            <a:r>
              <a:rPr lang="en-US" sz="1200" dirty="0">
                <a:latin typeface="Carlito"/>
                <a:cs typeface="Carlito"/>
              </a:rPr>
              <a:t>and </a:t>
            </a:r>
            <a:r>
              <a:rPr lang="en-US" sz="1200" spc="-15" dirty="0">
                <a:latin typeface="Carlito"/>
                <a:cs typeface="Carlito"/>
              </a:rPr>
              <a:t>tempers </a:t>
            </a:r>
            <a:r>
              <a:rPr lang="en-US" sz="1200" spc="-10" dirty="0">
                <a:latin typeface="Carlito"/>
                <a:cs typeface="Carlito"/>
              </a:rPr>
              <a:t>your </a:t>
            </a:r>
            <a:r>
              <a:rPr lang="en-US" sz="1200" spc="-20" dirty="0">
                <a:latin typeface="Carlito"/>
                <a:cs typeface="Carlito"/>
              </a:rPr>
              <a:t>data </a:t>
            </a:r>
            <a:r>
              <a:rPr lang="en-US" sz="1200" dirty="0">
                <a:latin typeface="Carlito"/>
                <a:cs typeface="Carlito"/>
              </a:rPr>
              <a:t>, is the  </a:t>
            </a:r>
            <a:r>
              <a:rPr lang="en-US" sz="1200" spc="-5" dirty="0">
                <a:latin typeface="Carlito"/>
                <a:cs typeface="Carlito"/>
              </a:rPr>
              <a:t>criminal </a:t>
            </a:r>
            <a:r>
              <a:rPr lang="en-US" sz="1200" dirty="0">
                <a:latin typeface="Carlito"/>
                <a:cs typeface="Carlito"/>
              </a:rPr>
              <a:t>who is </a:t>
            </a:r>
            <a:r>
              <a:rPr lang="en-US" sz="1200" spc="-10" dirty="0">
                <a:latin typeface="Carlito"/>
                <a:cs typeface="Carlito"/>
              </a:rPr>
              <a:t>committing </a:t>
            </a:r>
            <a:r>
              <a:rPr lang="en-US" sz="1200" dirty="0">
                <a:latin typeface="Carlito"/>
                <a:cs typeface="Carlito"/>
              </a:rPr>
              <a:t>the</a:t>
            </a:r>
            <a:r>
              <a:rPr lang="en-US" sz="1200" spc="60" dirty="0">
                <a:latin typeface="Carlito"/>
                <a:cs typeface="Carlito"/>
              </a:rPr>
              <a:t> </a:t>
            </a:r>
            <a:r>
              <a:rPr lang="en-US" sz="1200" dirty="0">
                <a:latin typeface="Carlito"/>
                <a:cs typeface="Carlito"/>
              </a:rPr>
              <a:t>crime.</a:t>
            </a:r>
          </a:p>
          <a:p>
            <a:pPr marL="355600" marR="861694" indent="-342900">
              <a:lnSpc>
                <a:spcPct val="100000"/>
              </a:lnSpc>
              <a:spcBef>
                <a:spcPts val="775"/>
              </a:spcBef>
              <a:buFont typeface="Arial"/>
              <a:buChar char="•"/>
              <a:tabLst>
                <a:tab pos="354965" algn="l"/>
                <a:tab pos="355600" algn="l"/>
              </a:tabLst>
            </a:pPr>
            <a:r>
              <a:rPr lang="en-US" sz="1200" dirty="0">
                <a:latin typeface="Carlito"/>
                <a:cs typeface="Carlito"/>
              </a:rPr>
              <a:t>And </a:t>
            </a:r>
            <a:r>
              <a:rPr lang="en-US" sz="1200" spc="-15" dirty="0">
                <a:latin typeface="Carlito"/>
                <a:cs typeface="Carlito"/>
              </a:rPr>
              <a:t>committed </a:t>
            </a:r>
            <a:r>
              <a:rPr lang="en-US" sz="1200" dirty="0">
                <a:latin typeface="Carlito"/>
                <a:cs typeface="Carlito"/>
              </a:rPr>
              <a:t>crime is known as cyber  crime.</a:t>
            </a:r>
          </a:p>
          <a:p>
            <a:pPr marL="355600" marR="5080" indent="-342900">
              <a:lnSpc>
                <a:spcPct val="100000"/>
              </a:lnSpc>
              <a:spcBef>
                <a:spcPts val="765"/>
              </a:spcBef>
              <a:buFont typeface="Arial"/>
              <a:buChar char="•"/>
              <a:tabLst>
                <a:tab pos="354965" algn="l"/>
                <a:tab pos="355600" algn="l"/>
              </a:tabLst>
            </a:pPr>
            <a:r>
              <a:rPr lang="en-US" sz="1200" spc="-10" dirty="0">
                <a:latin typeface="Carlito"/>
                <a:cs typeface="Carlito"/>
              </a:rPr>
              <a:t>That </a:t>
            </a:r>
            <a:r>
              <a:rPr lang="en-US" sz="1200" dirty="0">
                <a:latin typeface="Carlito"/>
                <a:cs typeface="Carlito"/>
              </a:rPr>
              <a:t>means </a:t>
            </a:r>
            <a:r>
              <a:rPr lang="en-US" sz="1200" spc="-10" dirty="0">
                <a:latin typeface="Carlito"/>
                <a:cs typeface="Carlito"/>
              </a:rPr>
              <a:t>we can </a:t>
            </a:r>
            <a:r>
              <a:rPr lang="en-US" sz="1200" spc="-25" dirty="0">
                <a:latin typeface="Carlito"/>
                <a:cs typeface="Carlito"/>
              </a:rPr>
              <a:t>say </a:t>
            </a:r>
            <a:r>
              <a:rPr lang="en-US" sz="1200" spc="-5" dirty="0">
                <a:latin typeface="Carlito"/>
                <a:cs typeface="Carlito"/>
              </a:rPr>
              <a:t>that </a:t>
            </a:r>
            <a:r>
              <a:rPr lang="en-US" sz="1200" dirty="0">
                <a:latin typeface="Carlito"/>
                <a:cs typeface="Carlito"/>
              </a:rPr>
              <a:t>cyber crime is an  </a:t>
            </a:r>
            <a:r>
              <a:rPr lang="en-US" sz="1200" spc="-10" dirty="0">
                <a:latin typeface="Carlito"/>
                <a:cs typeface="Carlito"/>
              </a:rPr>
              <a:t>illegal </a:t>
            </a:r>
            <a:r>
              <a:rPr lang="en-US" sz="1200" dirty="0">
                <a:latin typeface="Carlito"/>
                <a:cs typeface="Carlito"/>
              </a:rPr>
              <a:t>activity </a:t>
            </a:r>
            <a:r>
              <a:rPr lang="en-US" sz="1200" spc="-15" dirty="0">
                <a:latin typeface="Carlito"/>
                <a:cs typeface="Carlito"/>
              </a:rPr>
              <a:t>committed </a:t>
            </a:r>
            <a:r>
              <a:rPr lang="en-US" sz="1200" spc="-5" dirty="0">
                <a:latin typeface="Carlito"/>
                <a:cs typeface="Carlito"/>
              </a:rPr>
              <a:t>on </a:t>
            </a:r>
            <a:r>
              <a:rPr lang="en-US" sz="1200" dirty="0">
                <a:latin typeface="Carlito"/>
                <a:cs typeface="Carlito"/>
              </a:rPr>
              <a:t>the</a:t>
            </a:r>
            <a:r>
              <a:rPr lang="en-US" sz="1200" spc="40"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a:t>
            </a:fld>
            <a:endParaRPr lang="en-US"/>
          </a:p>
        </p:txBody>
      </p:sp>
    </p:spTree>
    <p:extLst>
      <p:ext uri="{BB962C8B-B14F-4D97-AF65-F5344CB8AC3E}">
        <p14:creationId xmlns:p14="http://schemas.microsoft.com/office/powerpoint/2010/main" val="67573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http://www.nr3c.gov.pk/cybercrime.html</a:t>
            </a:r>
          </a:p>
          <a:p>
            <a:endParaRPr lang="en-US" dirty="0"/>
          </a:p>
          <a:p>
            <a:r>
              <a:rPr lang="en-US" spc="-45" dirty="0"/>
              <a:t>Cyber Crime </a:t>
            </a:r>
            <a:r>
              <a:rPr lang="en-US" spc="-30" dirty="0"/>
              <a:t>is </a:t>
            </a:r>
            <a:r>
              <a:rPr lang="en-US" spc="-45" dirty="0"/>
              <a:t>a </a:t>
            </a:r>
            <a:r>
              <a:rPr lang="en-US" spc="-35" dirty="0"/>
              <a:t>term </a:t>
            </a:r>
            <a:r>
              <a:rPr lang="en-US" spc="-40" dirty="0"/>
              <a:t>used </a:t>
            </a:r>
            <a:r>
              <a:rPr lang="en-US" spc="-35" dirty="0"/>
              <a:t>to </a:t>
            </a:r>
            <a:r>
              <a:rPr lang="en-US" spc="-45" dirty="0"/>
              <a:t>broadly describe criminal </a:t>
            </a:r>
            <a:r>
              <a:rPr lang="en-US" spc="-40" dirty="0"/>
              <a:t>activity in </a:t>
            </a:r>
            <a:r>
              <a:rPr lang="en-US" spc="-65" dirty="0"/>
              <a:t>which</a:t>
            </a:r>
            <a:r>
              <a:rPr lang="en-US" spc="-365" dirty="0"/>
              <a:t>   </a:t>
            </a:r>
            <a:r>
              <a:rPr lang="en-US" spc="-45" dirty="0"/>
              <a:t>computers  </a:t>
            </a:r>
            <a:r>
              <a:rPr lang="en-US" spc="-40" dirty="0"/>
              <a:t>or </a:t>
            </a:r>
            <a:r>
              <a:rPr lang="en-US" spc="-50" dirty="0"/>
              <a:t>computer networks </a:t>
            </a:r>
            <a:r>
              <a:rPr lang="en-US" spc="-30" dirty="0"/>
              <a:t>are </a:t>
            </a:r>
            <a:r>
              <a:rPr lang="en-US" spc="-45" dirty="0"/>
              <a:t>a </a:t>
            </a:r>
            <a:r>
              <a:rPr lang="en-US" spc="-30" dirty="0"/>
              <a:t>tool, </a:t>
            </a:r>
            <a:r>
              <a:rPr lang="en-US" spc="-45" dirty="0"/>
              <a:t>a </a:t>
            </a:r>
            <a:r>
              <a:rPr lang="en-US" spc="-40" dirty="0"/>
              <a:t>target, or </a:t>
            </a:r>
            <a:r>
              <a:rPr lang="en-US" spc="-45" dirty="0"/>
              <a:t>a </a:t>
            </a:r>
            <a:r>
              <a:rPr lang="en-US" spc="-40" dirty="0"/>
              <a:t>place </a:t>
            </a:r>
            <a:r>
              <a:rPr lang="en-US" spc="-35" dirty="0"/>
              <a:t>of </a:t>
            </a:r>
            <a:r>
              <a:rPr lang="en-US" spc="-45" dirty="0"/>
              <a:t>criminal </a:t>
            </a:r>
            <a:r>
              <a:rPr lang="en-US" spc="-40" dirty="0"/>
              <a:t>activity </a:t>
            </a:r>
            <a:r>
              <a:rPr lang="en-US" spc="-50" dirty="0"/>
              <a:t>and include  </a:t>
            </a:r>
            <a:r>
              <a:rPr lang="en-US" spc="-55" dirty="0"/>
              <a:t>everything </a:t>
            </a:r>
            <a:r>
              <a:rPr lang="en-US" spc="-40" dirty="0"/>
              <a:t>from electronic </a:t>
            </a:r>
            <a:r>
              <a:rPr lang="en-US" spc="-60" dirty="0"/>
              <a:t>cracking </a:t>
            </a:r>
            <a:r>
              <a:rPr lang="en-US" spc="-35" dirty="0"/>
              <a:t>to </a:t>
            </a:r>
            <a:r>
              <a:rPr lang="en-US" spc="-45" dirty="0"/>
              <a:t>denial </a:t>
            </a:r>
            <a:r>
              <a:rPr lang="en-US" spc="-35" dirty="0"/>
              <a:t>of </a:t>
            </a:r>
            <a:r>
              <a:rPr lang="en-US" spc="-30" dirty="0"/>
              <a:t>service </a:t>
            </a:r>
            <a:r>
              <a:rPr lang="en-US" spc="-55" dirty="0"/>
              <a:t>attacks. </a:t>
            </a:r>
            <a:r>
              <a:rPr lang="en-US" spc="-30" dirty="0"/>
              <a:t>It is </a:t>
            </a:r>
            <a:r>
              <a:rPr lang="en-US" spc="-35" dirty="0"/>
              <a:t>also </a:t>
            </a:r>
            <a:r>
              <a:rPr lang="en-US" spc="-40" dirty="0"/>
              <a:t>used </a:t>
            </a:r>
            <a:r>
              <a:rPr lang="en-US" spc="-35" dirty="0"/>
              <a:t>to  </a:t>
            </a:r>
            <a:r>
              <a:rPr lang="en-US" spc="-55" dirty="0"/>
              <a:t>include </a:t>
            </a:r>
            <a:r>
              <a:rPr lang="en-US" spc="-40" dirty="0"/>
              <a:t>traditional </a:t>
            </a:r>
            <a:r>
              <a:rPr lang="en-US" spc="-45" dirty="0"/>
              <a:t>crimes </a:t>
            </a:r>
            <a:r>
              <a:rPr lang="en-US" spc="-40" dirty="0"/>
              <a:t>in </a:t>
            </a:r>
            <a:r>
              <a:rPr lang="en-US" spc="-65" dirty="0"/>
              <a:t>which </a:t>
            </a:r>
            <a:r>
              <a:rPr lang="en-US" spc="-50" dirty="0"/>
              <a:t>computers </a:t>
            </a:r>
            <a:r>
              <a:rPr lang="en-US" spc="-40" dirty="0"/>
              <a:t>or </a:t>
            </a:r>
            <a:r>
              <a:rPr lang="en-US" spc="-50" dirty="0"/>
              <a:t>networks </a:t>
            </a:r>
            <a:r>
              <a:rPr lang="en-US" spc="-30" dirty="0"/>
              <a:t>are </a:t>
            </a:r>
            <a:r>
              <a:rPr lang="en-US" spc="-40" dirty="0"/>
              <a:t>used </a:t>
            </a:r>
            <a:r>
              <a:rPr lang="en-US" spc="-35" dirty="0"/>
              <a:t>to </a:t>
            </a:r>
            <a:r>
              <a:rPr lang="en-US" spc="-40" dirty="0"/>
              <a:t>enable the  </a:t>
            </a:r>
            <a:r>
              <a:rPr lang="en-US" spc="-30" dirty="0"/>
              <a:t>illicit</a:t>
            </a:r>
            <a:r>
              <a:rPr lang="en-US" spc="-75" dirty="0"/>
              <a:t> </a:t>
            </a:r>
            <a:r>
              <a:rPr lang="en-US" spc="-60" dirty="0"/>
              <a:t>activity.</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a:t>
            </a:fld>
            <a:endParaRPr lang="en-US"/>
          </a:p>
        </p:txBody>
      </p:sp>
    </p:spTree>
    <p:extLst>
      <p:ext uri="{BB962C8B-B14F-4D97-AF65-F5344CB8AC3E}">
        <p14:creationId xmlns:p14="http://schemas.microsoft.com/office/powerpoint/2010/main" val="336261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a:t>
            </a:fld>
            <a:endParaRPr lang="en-US"/>
          </a:p>
        </p:txBody>
      </p:sp>
    </p:spTree>
    <p:extLst>
      <p:ext uri="{BB962C8B-B14F-4D97-AF65-F5344CB8AC3E}">
        <p14:creationId xmlns:p14="http://schemas.microsoft.com/office/powerpoint/2010/main" val="35895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7</a:t>
            </a:fld>
            <a:endParaRPr lang="en-US"/>
          </a:p>
        </p:txBody>
      </p:sp>
    </p:spTree>
    <p:extLst>
      <p:ext uri="{BB962C8B-B14F-4D97-AF65-F5344CB8AC3E}">
        <p14:creationId xmlns:p14="http://schemas.microsoft.com/office/powerpoint/2010/main" val="442688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the Internet, mobile phones, and other computer technologies have flourished, criminals have found ways to use them for old-fashioned goals such as theft, fraud, and harassment etc.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1" spc="-70" dirty="0">
              <a:solidFill>
                <a:srgbClr val="D6E3BC"/>
              </a:solidFill>
              <a:latin typeface="Footlight MT Light"/>
              <a:cs typeface="Footlight MT Ligh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spc="-70" dirty="0">
                <a:solidFill>
                  <a:srgbClr val="D6E3BC"/>
                </a:solidFill>
                <a:latin typeface="Footlight MT Light"/>
                <a:cs typeface="Footlight MT Light"/>
              </a:rPr>
              <a:t>Pornography, </a:t>
            </a:r>
            <a:r>
              <a:rPr lang="en-US" sz="1200" i="1" spc="-50" dirty="0">
                <a:solidFill>
                  <a:srgbClr val="D6E3BC"/>
                </a:solidFill>
                <a:latin typeface="Footlight MT Light"/>
                <a:cs typeface="Footlight MT Light"/>
              </a:rPr>
              <a:t>Threatening </a:t>
            </a:r>
            <a:r>
              <a:rPr lang="en-US" sz="1200" i="1" spc="-40" dirty="0">
                <a:solidFill>
                  <a:srgbClr val="D6E3BC"/>
                </a:solidFill>
                <a:latin typeface="Footlight MT Light"/>
                <a:cs typeface="Footlight MT Light"/>
              </a:rPr>
              <a:t>Email, </a:t>
            </a:r>
            <a:r>
              <a:rPr lang="en-US" sz="1200" i="1" spc="-60" dirty="0">
                <a:solidFill>
                  <a:srgbClr val="D6E3BC"/>
                </a:solidFill>
                <a:latin typeface="Footlight MT Light"/>
                <a:cs typeface="Footlight MT Light"/>
              </a:rPr>
              <a:t>Assuming </a:t>
            </a:r>
            <a:r>
              <a:rPr lang="en-US" sz="1200" i="1" spc="-50" dirty="0">
                <a:solidFill>
                  <a:srgbClr val="D6E3BC"/>
                </a:solidFill>
                <a:latin typeface="Footlight MT Light"/>
                <a:cs typeface="Footlight MT Light"/>
              </a:rPr>
              <a:t>someone's </a:t>
            </a:r>
            <a:r>
              <a:rPr lang="en-US" sz="1200" i="1" spc="-60" dirty="0">
                <a:solidFill>
                  <a:srgbClr val="D6E3BC"/>
                </a:solidFill>
                <a:latin typeface="Footlight MT Light"/>
                <a:cs typeface="Footlight MT Light"/>
              </a:rPr>
              <a:t>Identity, </a:t>
            </a:r>
            <a:r>
              <a:rPr lang="en-US" sz="1200" i="1" spc="-50" dirty="0">
                <a:solidFill>
                  <a:srgbClr val="D6E3BC"/>
                </a:solidFill>
                <a:latin typeface="Footlight MT Light"/>
                <a:cs typeface="Footlight MT Light"/>
              </a:rPr>
              <a:t>Sexual Harassment,  Defamation, Spam and </a:t>
            </a:r>
            <a:r>
              <a:rPr lang="en-US" sz="1200" i="1" spc="-55" dirty="0">
                <a:solidFill>
                  <a:srgbClr val="D6E3BC"/>
                </a:solidFill>
                <a:latin typeface="Footlight MT Light"/>
                <a:cs typeface="Footlight MT Light"/>
              </a:rPr>
              <a:t>Phishing </a:t>
            </a:r>
            <a:r>
              <a:rPr lang="en-US" sz="1200" i="1" spc="-30" dirty="0">
                <a:solidFill>
                  <a:srgbClr val="D6E3BC"/>
                </a:solidFill>
                <a:latin typeface="Footlight MT Light"/>
                <a:cs typeface="Footlight MT Light"/>
              </a:rPr>
              <a:t>are </a:t>
            </a:r>
            <a:r>
              <a:rPr lang="en-US" sz="1200" i="1" spc="-50" dirty="0">
                <a:solidFill>
                  <a:srgbClr val="D6E3BC"/>
                </a:solidFill>
                <a:latin typeface="Footlight MT Light"/>
                <a:cs typeface="Footlight MT Light"/>
              </a:rPr>
              <a:t>some examples where </a:t>
            </a:r>
            <a:r>
              <a:rPr lang="en-US" sz="1200" i="1" spc="-45" dirty="0">
                <a:solidFill>
                  <a:srgbClr val="D6E3BC"/>
                </a:solidFill>
                <a:latin typeface="Footlight MT Light"/>
                <a:cs typeface="Footlight MT Light"/>
              </a:rPr>
              <a:t>computers </a:t>
            </a:r>
            <a:r>
              <a:rPr lang="en-US" sz="1200" i="1" spc="-30" dirty="0">
                <a:solidFill>
                  <a:srgbClr val="D6E3BC"/>
                </a:solidFill>
                <a:latin typeface="Footlight MT Light"/>
                <a:cs typeface="Footlight MT Light"/>
              </a:rPr>
              <a:t>are </a:t>
            </a:r>
            <a:r>
              <a:rPr lang="en-US" sz="1200" i="1" spc="-40" dirty="0">
                <a:solidFill>
                  <a:srgbClr val="D6E3BC"/>
                </a:solidFill>
                <a:latin typeface="Footlight MT Light"/>
                <a:cs typeface="Footlight MT Light"/>
              </a:rPr>
              <a:t>used </a:t>
            </a:r>
            <a:r>
              <a:rPr lang="en-US" sz="1200" i="1" spc="-35" dirty="0">
                <a:solidFill>
                  <a:srgbClr val="D6E3BC"/>
                </a:solidFill>
                <a:latin typeface="Footlight MT Light"/>
                <a:cs typeface="Footlight MT Light"/>
              </a:rPr>
              <a:t>to  </a:t>
            </a:r>
            <a:r>
              <a:rPr lang="en-US" sz="1200" i="1" spc="-50" dirty="0">
                <a:solidFill>
                  <a:srgbClr val="D6E3BC"/>
                </a:solidFill>
                <a:latin typeface="Footlight MT Light"/>
                <a:cs typeface="Footlight MT Light"/>
              </a:rPr>
              <a:t>commit crime, </a:t>
            </a:r>
            <a:r>
              <a:rPr lang="en-US" sz="1200" i="1" spc="-45" dirty="0">
                <a:solidFill>
                  <a:srgbClr val="D6E3BC"/>
                </a:solidFill>
                <a:latin typeface="Footlight MT Light"/>
                <a:cs typeface="Footlight MT Light"/>
              </a:rPr>
              <a:t>whereas </a:t>
            </a:r>
            <a:r>
              <a:rPr lang="en-US" sz="1200" i="1" spc="-55" dirty="0">
                <a:solidFill>
                  <a:srgbClr val="D6E3BC"/>
                </a:solidFill>
                <a:latin typeface="Footlight MT Light"/>
                <a:cs typeface="Footlight MT Light"/>
              </a:rPr>
              <a:t>Viruses, </a:t>
            </a:r>
            <a:r>
              <a:rPr lang="en-US" sz="1200" i="1" spc="-80" dirty="0">
                <a:solidFill>
                  <a:srgbClr val="D6E3BC"/>
                </a:solidFill>
                <a:latin typeface="Footlight MT Light"/>
                <a:cs typeface="Footlight MT Light"/>
              </a:rPr>
              <a:t>Worms </a:t>
            </a:r>
            <a:r>
              <a:rPr lang="en-US" sz="1200" i="1" spc="-50" dirty="0">
                <a:solidFill>
                  <a:srgbClr val="D6E3BC"/>
                </a:solidFill>
                <a:latin typeface="Footlight MT Light"/>
                <a:cs typeface="Footlight MT Light"/>
              </a:rPr>
              <a:t>and </a:t>
            </a:r>
            <a:r>
              <a:rPr lang="en-US" sz="1200" i="1" spc="-40" dirty="0">
                <a:solidFill>
                  <a:srgbClr val="D6E3BC"/>
                </a:solidFill>
                <a:latin typeface="Footlight MT Light"/>
                <a:cs typeface="Footlight MT Light"/>
              </a:rPr>
              <a:t>Industrial </a:t>
            </a:r>
            <a:r>
              <a:rPr lang="en-US" sz="1200" i="1" spc="-60" dirty="0">
                <a:solidFill>
                  <a:srgbClr val="D6E3BC"/>
                </a:solidFill>
                <a:latin typeface="Footlight MT Light"/>
                <a:cs typeface="Footlight MT Light"/>
              </a:rPr>
              <a:t>Espionage, </a:t>
            </a:r>
            <a:r>
              <a:rPr lang="en-US" sz="1200" i="1" spc="-45" dirty="0">
                <a:solidFill>
                  <a:srgbClr val="D6E3BC"/>
                </a:solidFill>
                <a:latin typeface="Footlight MT Light"/>
                <a:cs typeface="Footlight MT Light"/>
              </a:rPr>
              <a:t>Software </a:t>
            </a:r>
            <a:r>
              <a:rPr lang="en-US" sz="1200" i="1" spc="-50" dirty="0">
                <a:solidFill>
                  <a:srgbClr val="D6E3BC"/>
                </a:solidFill>
                <a:latin typeface="Footlight MT Light"/>
                <a:cs typeface="Footlight MT Light"/>
              </a:rPr>
              <a:t>Piracy</a:t>
            </a:r>
            <a:r>
              <a:rPr lang="en-US" sz="1200" i="1" spc="-200"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and  </a:t>
            </a:r>
            <a:r>
              <a:rPr lang="en-US" sz="1200" i="1" spc="-65" dirty="0">
                <a:solidFill>
                  <a:srgbClr val="D6E3BC"/>
                </a:solidFill>
                <a:latin typeface="Footlight MT Light"/>
                <a:cs typeface="Footlight MT Light"/>
              </a:rPr>
              <a:t>Hacking </a:t>
            </a:r>
            <a:r>
              <a:rPr lang="en-US" sz="1200" i="1" spc="-30" dirty="0">
                <a:solidFill>
                  <a:srgbClr val="D6E3BC"/>
                </a:solidFill>
                <a:latin typeface="Footlight MT Light"/>
                <a:cs typeface="Footlight MT Light"/>
              </a:rPr>
              <a:t>are </a:t>
            </a:r>
            <a:r>
              <a:rPr lang="en-US" sz="1200" i="1" spc="-55" dirty="0">
                <a:solidFill>
                  <a:srgbClr val="D6E3BC"/>
                </a:solidFill>
                <a:latin typeface="Footlight MT Light"/>
                <a:cs typeface="Footlight MT Light"/>
              </a:rPr>
              <a:t>examples </a:t>
            </a:r>
            <a:r>
              <a:rPr lang="en-US" sz="1200" i="1" spc="-50" dirty="0">
                <a:solidFill>
                  <a:srgbClr val="D6E3BC"/>
                </a:solidFill>
                <a:latin typeface="Footlight MT Light"/>
                <a:cs typeface="Footlight MT Light"/>
              </a:rPr>
              <a:t>where computers become </a:t>
            </a:r>
            <a:r>
              <a:rPr lang="en-US" sz="1200" i="1" spc="-40" dirty="0">
                <a:solidFill>
                  <a:srgbClr val="D6E3BC"/>
                </a:solidFill>
                <a:latin typeface="Footlight MT Light"/>
                <a:cs typeface="Footlight MT Light"/>
              </a:rPr>
              <a:t>target </a:t>
            </a:r>
            <a:r>
              <a:rPr lang="en-US" sz="1200" i="1" spc="-35" dirty="0">
                <a:solidFill>
                  <a:srgbClr val="D6E3BC"/>
                </a:solidFill>
                <a:latin typeface="Footlight MT Light"/>
                <a:cs typeface="Footlight MT Light"/>
              </a:rPr>
              <a:t>of</a:t>
            </a:r>
            <a:r>
              <a:rPr lang="en-US" sz="1200" i="1" spc="-45"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crime.</a:t>
            </a:r>
            <a:endParaRPr lang="en-US" sz="1200" dirty="0">
              <a:latin typeface="Footlight MT Light"/>
              <a:cs typeface="Footlight MT Light"/>
            </a:endParaRP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8</a:t>
            </a:fld>
            <a:endParaRPr lang="en-US"/>
          </a:p>
        </p:txBody>
      </p:sp>
    </p:spTree>
    <p:extLst>
      <p:ext uri="{BB962C8B-B14F-4D97-AF65-F5344CB8AC3E}">
        <p14:creationId xmlns:p14="http://schemas.microsoft.com/office/powerpoint/2010/main" val="443044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Most forms of Internet fraud are financial in nature</a:t>
            </a:r>
          </a:p>
          <a:p>
            <a:pPr algn="just"/>
            <a:r>
              <a:rPr lang="en-US" dirty="0"/>
              <a:t>Cybercriminals may hack into personal financial accounts to access funds</a:t>
            </a:r>
          </a:p>
          <a:p>
            <a:pPr algn="just"/>
            <a:r>
              <a:rPr lang="en-US" dirty="0"/>
              <a:t>Might attack website databases in order to gain access to consumer details, such as Social Security numbers, that can be used to take out credit cards or loans in another person’s name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11</a:t>
            </a:fld>
            <a:endParaRPr lang="en-US"/>
          </a:p>
        </p:txBody>
      </p:sp>
    </p:spTree>
    <p:extLst>
      <p:ext uri="{BB962C8B-B14F-4D97-AF65-F5344CB8AC3E}">
        <p14:creationId xmlns:p14="http://schemas.microsoft.com/office/powerpoint/2010/main" val="133813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13</a:t>
            </a:fld>
            <a:endParaRPr lang="en-US"/>
          </a:p>
        </p:txBody>
      </p:sp>
    </p:spTree>
    <p:extLst>
      <p:ext uri="{BB962C8B-B14F-4D97-AF65-F5344CB8AC3E}">
        <p14:creationId xmlns:p14="http://schemas.microsoft.com/office/powerpoint/2010/main" val="2622879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http://www.nr3c.gov.pk/crimecategorie.html</a:t>
            </a:r>
          </a:p>
          <a:p>
            <a:endParaRPr lang="en-US" dirty="0"/>
          </a:p>
          <a:p>
            <a:pPr marL="355600" marR="5080" indent="-342900">
              <a:lnSpc>
                <a:spcPct val="90000"/>
              </a:lnSpc>
              <a:spcBef>
                <a:spcPts val="425"/>
              </a:spcBef>
              <a:buFont typeface="Arial"/>
              <a:buChar char="•"/>
              <a:tabLst>
                <a:tab pos="354965" algn="l"/>
                <a:tab pos="355600" algn="l"/>
              </a:tabLst>
            </a:pPr>
            <a:r>
              <a:rPr lang="en-US" sz="1200" dirty="0">
                <a:latin typeface="Carlito"/>
                <a:cs typeface="Carlito"/>
              </a:rPr>
              <a:t>When a criminal </a:t>
            </a:r>
            <a:r>
              <a:rPr lang="en-US" sz="1200" spc="-10" dirty="0">
                <a:latin typeface="Carlito"/>
                <a:cs typeface="Carlito"/>
              </a:rPr>
              <a:t>gains </a:t>
            </a:r>
            <a:r>
              <a:rPr lang="en-US" sz="1200" dirty="0">
                <a:latin typeface="Carlito"/>
                <a:cs typeface="Carlito"/>
              </a:rPr>
              <a:t>access </a:t>
            </a:r>
            <a:r>
              <a:rPr lang="en-US" sz="1200" spc="-15" dirty="0">
                <a:latin typeface="Carlito"/>
                <a:cs typeface="Carlito"/>
              </a:rPr>
              <a:t>to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(such </a:t>
            </a:r>
            <a:r>
              <a:rPr lang="en-US" sz="1200" dirty="0">
                <a:latin typeface="Carlito"/>
                <a:cs typeface="Carlito"/>
              </a:rPr>
              <a:t>as </a:t>
            </a:r>
            <a:r>
              <a:rPr lang="en-US" sz="1200" spc="-10" dirty="0">
                <a:latin typeface="Carlito"/>
                <a:cs typeface="Carlito"/>
              </a:rPr>
              <a:t>your </a:t>
            </a:r>
            <a:r>
              <a:rPr lang="en-US" sz="1200" spc="-5" dirty="0">
                <a:latin typeface="Carlito"/>
                <a:cs typeface="Carlito"/>
              </a:rPr>
              <a:t>name, address, </a:t>
            </a:r>
            <a:r>
              <a:rPr lang="en-US" sz="1200" spc="-15" dirty="0">
                <a:latin typeface="Carlito"/>
                <a:cs typeface="Carlito"/>
              </a:rPr>
              <a:t>date </a:t>
            </a:r>
            <a:r>
              <a:rPr lang="en-US" sz="1200" spc="-5" dirty="0">
                <a:latin typeface="Carlito"/>
                <a:cs typeface="Carlito"/>
              </a:rPr>
              <a:t>of birth  or bank </a:t>
            </a:r>
            <a:r>
              <a:rPr lang="en-US" sz="1200" spc="-10" dirty="0">
                <a:latin typeface="Carlito"/>
                <a:cs typeface="Carlito"/>
              </a:rPr>
              <a:t>account details) </a:t>
            </a:r>
            <a:r>
              <a:rPr lang="en-US" sz="1200" spc="-15" dirty="0">
                <a:latin typeface="Carlito"/>
                <a:cs typeface="Carlito"/>
              </a:rPr>
              <a:t>to steal </a:t>
            </a:r>
            <a:r>
              <a:rPr lang="en-US" sz="1200" spc="-5" dirty="0">
                <a:latin typeface="Carlito"/>
                <a:cs typeface="Carlito"/>
              </a:rPr>
              <a:t>money or </a:t>
            </a:r>
            <a:r>
              <a:rPr lang="en-US" sz="1200" spc="-15" dirty="0">
                <a:latin typeface="Carlito"/>
                <a:cs typeface="Carlito"/>
              </a:rPr>
              <a:t>gain </a:t>
            </a:r>
            <a:r>
              <a:rPr lang="en-US" sz="1200" spc="-5" dirty="0">
                <a:latin typeface="Carlito"/>
                <a:cs typeface="Carlito"/>
              </a:rPr>
              <a:t>other  </a:t>
            </a:r>
            <a:r>
              <a:rPr lang="en-US" sz="1200" spc="-10" dirty="0">
                <a:latin typeface="Carlito"/>
                <a:cs typeface="Carlito"/>
              </a:rPr>
              <a:t>benefits.</a:t>
            </a:r>
            <a:endParaRPr lang="en-US" sz="1200" dirty="0">
              <a:latin typeface="Carlito"/>
              <a:cs typeface="Carlito"/>
            </a:endParaRPr>
          </a:p>
          <a:p>
            <a:pPr marL="355600" marR="95885" indent="-342900">
              <a:lnSpc>
                <a:spcPts val="2920"/>
              </a:lnSpc>
              <a:spcBef>
                <a:spcPts val="685"/>
              </a:spcBef>
              <a:buFont typeface="Arial"/>
              <a:buChar char="•"/>
              <a:tabLst>
                <a:tab pos="354965" algn="l"/>
                <a:tab pos="355600" algn="l"/>
              </a:tabLst>
            </a:pPr>
            <a:r>
              <a:rPr lang="en-US" sz="1200" spc="-5" dirty="0">
                <a:latin typeface="Carlito"/>
                <a:cs typeface="Carlito"/>
              </a:rPr>
              <a:t>They </a:t>
            </a:r>
            <a:r>
              <a:rPr lang="en-US" sz="1200" spc="-10" dirty="0">
                <a:latin typeface="Carlito"/>
                <a:cs typeface="Carlito"/>
              </a:rPr>
              <a:t>can </a:t>
            </a:r>
            <a:r>
              <a:rPr lang="en-US" sz="1200" dirty="0">
                <a:latin typeface="Carlito"/>
                <a:cs typeface="Carlito"/>
              </a:rPr>
              <a:t>also </a:t>
            </a:r>
            <a:r>
              <a:rPr lang="en-US" sz="1200" spc="-5" dirty="0">
                <a:latin typeface="Carlito"/>
                <a:cs typeface="Carlito"/>
              </a:rPr>
              <a:t>use </a:t>
            </a:r>
            <a:r>
              <a:rPr lang="en-US" sz="1200" spc="-15" dirty="0">
                <a:latin typeface="Carlito"/>
                <a:cs typeface="Carlito"/>
              </a:rPr>
              <a:t>your </a:t>
            </a:r>
            <a:r>
              <a:rPr lang="en-US" sz="1200" spc="-10" dirty="0">
                <a:latin typeface="Carlito"/>
                <a:cs typeface="Carlito"/>
              </a:rPr>
              <a:t>personal information </a:t>
            </a:r>
            <a:r>
              <a:rPr lang="en-US" sz="1200" spc="-15" dirty="0">
                <a:latin typeface="Carlito"/>
                <a:cs typeface="Carlito"/>
              </a:rPr>
              <a:t>to </a:t>
            </a:r>
            <a:r>
              <a:rPr lang="en-US" sz="1200" spc="-20" dirty="0">
                <a:latin typeface="Carlito"/>
                <a:cs typeface="Carlito"/>
              </a:rPr>
              <a:t>create  </a:t>
            </a:r>
            <a:r>
              <a:rPr lang="en-US" sz="1200" spc="-35" dirty="0">
                <a:latin typeface="Carlito"/>
                <a:cs typeface="Carlito"/>
              </a:rPr>
              <a:t>fake </a:t>
            </a:r>
            <a:r>
              <a:rPr lang="en-US" sz="1200" spc="-5" dirty="0">
                <a:latin typeface="Carlito"/>
                <a:cs typeface="Carlito"/>
              </a:rPr>
              <a:t>identity </a:t>
            </a:r>
            <a:r>
              <a:rPr lang="en-US" sz="1200" dirty="0">
                <a:latin typeface="Carlito"/>
                <a:cs typeface="Carlito"/>
              </a:rPr>
              <a:t>in </a:t>
            </a:r>
            <a:r>
              <a:rPr lang="en-US" sz="1200" spc="-10" dirty="0">
                <a:latin typeface="Carlito"/>
                <a:cs typeface="Carlito"/>
              </a:rPr>
              <a:t>your</a:t>
            </a:r>
            <a:r>
              <a:rPr lang="en-US" sz="1200" dirty="0">
                <a:latin typeface="Carlito"/>
                <a:cs typeface="Carlito"/>
              </a:rPr>
              <a:t> </a:t>
            </a:r>
            <a:r>
              <a:rPr lang="en-US" sz="1200" spc="-5" dirty="0">
                <a:latin typeface="Carlito"/>
                <a:cs typeface="Carlito"/>
              </a:rPr>
              <a:t>name</a:t>
            </a:r>
            <a:endParaRPr lang="en-US" sz="1200" dirty="0">
              <a:latin typeface="Carlito"/>
              <a:cs typeface="Carlito"/>
            </a:endParaRPr>
          </a:p>
          <a:p>
            <a:pPr marL="355600" indent="-342900">
              <a:lnSpc>
                <a:spcPct val="100000"/>
              </a:lnSpc>
              <a:spcBef>
                <a:spcPts val="280"/>
              </a:spcBef>
              <a:buFont typeface="Arial"/>
              <a:buChar char="•"/>
              <a:tabLst>
                <a:tab pos="354965" algn="l"/>
                <a:tab pos="355600" algn="l"/>
              </a:tabLst>
            </a:pPr>
            <a:r>
              <a:rPr lang="en-US" sz="1200" u="heavy" spc="-5" dirty="0">
                <a:uFill>
                  <a:solidFill>
                    <a:srgbClr val="000000"/>
                  </a:solidFill>
                </a:uFill>
                <a:latin typeface="Carlito"/>
                <a:cs typeface="Carlito"/>
              </a:rPr>
              <a:t>How </a:t>
            </a:r>
            <a:r>
              <a:rPr lang="en-US" sz="1200" u="heavy" dirty="0">
                <a:uFill>
                  <a:solidFill>
                    <a:srgbClr val="000000"/>
                  </a:solidFill>
                </a:uFill>
                <a:latin typeface="Carlito"/>
                <a:cs typeface="Carlito"/>
              </a:rPr>
              <a:t>does </a:t>
            </a:r>
            <a:r>
              <a:rPr lang="en-US" sz="1200" u="heavy" spc="-5" dirty="0">
                <a:uFill>
                  <a:solidFill>
                    <a:srgbClr val="000000"/>
                  </a:solidFill>
                </a:uFill>
                <a:latin typeface="Carlito"/>
                <a:cs typeface="Carlito"/>
              </a:rPr>
              <a:t>identity </a:t>
            </a:r>
            <a:r>
              <a:rPr lang="en-US" sz="1200" u="heavy" spc="-10" dirty="0">
                <a:uFill>
                  <a:solidFill>
                    <a:srgbClr val="000000"/>
                  </a:solidFill>
                </a:uFill>
                <a:latin typeface="Carlito"/>
                <a:cs typeface="Carlito"/>
              </a:rPr>
              <a:t>theft</a:t>
            </a:r>
            <a:r>
              <a:rPr lang="en-US" sz="1200" u="heavy" spc="-35" dirty="0">
                <a:uFill>
                  <a:solidFill>
                    <a:srgbClr val="000000"/>
                  </a:solidFill>
                </a:uFill>
                <a:latin typeface="Carlito"/>
                <a:cs typeface="Carlito"/>
              </a:rPr>
              <a:t> </a:t>
            </a:r>
            <a:r>
              <a:rPr lang="en-US" sz="1200" u="heavy" spc="-5" dirty="0">
                <a:uFill>
                  <a:solidFill>
                    <a:srgbClr val="000000"/>
                  </a:solidFill>
                </a:uFill>
                <a:latin typeface="Carlito"/>
                <a:cs typeface="Carlito"/>
              </a:rPr>
              <a:t>occur?</a:t>
            </a:r>
            <a:endParaRPr lang="en-US" sz="1200" dirty="0">
              <a:latin typeface="Carlito"/>
              <a:cs typeface="Carlito"/>
            </a:endParaRPr>
          </a:p>
          <a:p>
            <a:pPr marL="355600" marR="422909" indent="-342900">
              <a:lnSpc>
                <a:spcPts val="2920"/>
              </a:lnSpc>
              <a:spcBef>
                <a:spcPts val="685"/>
              </a:spcBef>
              <a:buFont typeface="Arial"/>
              <a:buChar char="•"/>
              <a:tabLst>
                <a:tab pos="354965" algn="l"/>
                <a:tab pos="355600" algn="l"/>
              </a:tabLst>
            </a:pPr>
            <a:r>
              <a:rPr lang="en-US" sz="1200" spc="-5" dirty="0">
                <a:latin typeface="Carlito"/>
                <a:cs typeface="Carlito"/>
              </a:rPr>
              <a:t>Criminals </a:t>
            </a:r>
            <a:r>
              <a:rPr lang="en-US" sz="1200" spc="-20" dirty="0">
                <a:latin typeface="Carlito"/>
                <a:cs typeface="Carlito"/>
              </a:rPr>
              <a:t>may </a:t>
            </a:r>
            <a:r>
              <a:rPr lang="en-US" sz="1200" spc="-15" dirty="0">
                <a:latin typeface="Carlito"/>
                <a:cs typeface="Carlito"/>
              </a:rPr>
              <a:t>attempt to gain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using </a:t>
            </a:r>
            <a:r>
              <a:rPr lang="en-US" sz="1200" dirty="0">
                <a:latin typeface="Carlito"/>
                <a:cs typeface="Carlito"/>
              </a:rPr>
              <a:t>a </a:t>
            </a:r>
            <a:r>
              <a:rPr lang="en-US" sz="1200" spc="-5" dirty="0">
                <a:latin typeface="Carlito"/>
                <a:cs typeface="Carlito"/>
              </a:rPr>
              <a:t>number of </a:t>
            </a:r>
            <a:r>
              <a:rPr lang="en-US" sz="1200" spc="-20" dirty="0">
                <a:latin typeface="Carlito"/>
                <a:cs typeface="Carlito"/>
              </a:rPr>
              <a:t>different</a:t>
            </a:r>
            <a:r>
              <a:rPr lang="en-US" sz="1200" spc="-55" dirty="0">
                <a:latin typeface="Carlito"/>
                <a:cs typeface="Carlito"/>
              </a:rPr>
              <a:t> </a:t>
            </a:r>
            <a:r>
              <a:rPr lang="en-US" sz="1200" spc="-5" dirty="0">
                <a:latin typeface="Carlito"/>
                <a:cs typeface="Carlito"/>
              </a:rPr>
              <a:t>techniques</a:t>
            </a:r>
            <a:endParaRPr lang="en-US" sz="1200" dirty="0">
              <a:latin typeface="Carlito"/>
              <a:cs typeface="Carlito"/>
            </a:endParaRPr>
          </a:p>
          <a:p>
            <a:pPr marL="355600" marR="200660" indent="-342900">
              <a:lnSpc>
                <a:spcPts val="2920"/>
              </a:lnSpc>
              <a:spcBef>
                <a:spcPts val="645"/>
              </a:spcBef>
              <a:buFont typeface="Arial"/>
              <a:buChar char="•"/>
              <a:tabLst>
                <a:tab pos="354965" algn="l"/>
                <a:tab pos="355600" algn="l"/>
              </a:tabLst>
            </a:pPr>
            <a:r>
              <a:rPr lang="en-US" sz="1200" spc="-5" dirty="0">
                <a:latin typeface="Carlito"/>
                <a:cs typeface="Carlito"/>
              </a:rPr>
              <a:t>Phishing: </a:t>
            </a:r>
            <a:r>
              <a:rPr lang="en-US" sz="1200" spc="-15" dirty="0">
                <a:latin typeface="Carlito"/>
                <a:cs typeface="Carlito"/>
              </a:rPr>
              <a:t>you may provide </a:t>
            </a:r>
            <a:r>
              <a:rPr lang="en-US" sz="1200" spc="-10" dirty="0">
                <a:latin typeface="Carlito"/>
                <a:cs typeface="Carlito"/>
              </a:rPr>
              <a:t>personal information over  </a:t>
            </a:r>
            <a:r>
              <a:rPr lang="en-US" sz="1200" dirty="0">
                <a:latin typeface="Carlito"/>
                <a:cs typeface="Carlito"/>
              </a:rPr>
              <a:t>the </a:t>
            </a:r>
            <a:r>
              <a:rPr lang="en-US" sz="1200" spc="-5" dirty="0">
                <a:latin typeface="Carlito"/>
                <a:cs typeface="Carlito"/>
              </a:rPr>
              <a:t>phone or</a:t>
            </a:r>
            <a:r>
              <a:rPr lang="en-US" sz="1200" spc="-25"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16</a:t>
            </a:fld>
            <a:endParaRPr lang="en-US"/>
          </a:p>
        </p:txBody>
      </p:sp>
    </p:spTree>
    <p:extLst>
      <p:ext uri="{BB962C8B-B14F-4D97-AF65-F5344CB8AC3E}">
        <p14:creationId xmlns:p14="http://schemas.microsoft.com/office/powerpoint/2010/main" val="109613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19</a:t>
            </a:fld>
            <a:endParaRPr lang="en-US"/>
          </a:p>
        </p:txBody>
      </p:sp>
    </p:spTree>
    <p:extLst>
      <p:ext uri="{BB962C8B-B14F-4D97-AF65-F5344CB8AC3E}">
        <p14:creationId xmlns:p14="http://schemas.microsoft.com/office/powerpoint/2010/main" val="2735634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26</a:t>
            </a:fld>
            <a:endParaRPr lang="en-US"/>
          </a:p>
        </p:txBody>
      </p:sp>
    </p:spTree>
    <p:extLst>
      <p:ext uri="{BB962C8B-B14F-4D97-AF65-F5344CB8AC3E}">
        <p14:creationId xmlns:p14="http://schemas.microsoft.com/office/powerpoint/2010/main" val="167719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65785" indent="-342900" algn="just">
              <a:lnSpc>
                <a:spcPct val="100000"/>
              </a:lnSpc>
              <a:buFont typeface="Arial"/>
              <a:buChar char="•"/>
              <a:tabLst>
                <a:tab pos="354965" algn="l"/>
                <a:tab pos="355600" algn="l"/>
              </a:tabLst>
            </a:pPr>
            <a:r>
              <a:rPr lang="en-US" dirty="0">
                <a:latin typeface="Carlito"/>
                <a:cs typeface="Carlito"/>
              </a:rPr>
              <a:t>Phishing </a:t>
            </a:r>
            <a:r>
              <a:rPr lang="en-US" spc="-5" dirty="0">
                <a:latin typeface="Carlito"/>
                <a:cs typeface="Carlito"/>
              </a:rPr>
              <a:t>messages </a:t>
            </a:r>
            <a:r>
              <a:rPr lang="en-US" spc="-10" dirty="0">
                <a:latin typeface="Carlito"/>
                <a:cs typeface="Carlito"/>
              </a:rPr>
              <a:t>often </a:t>
            </a:r>
            <a:r>
              <a:rPr lang="en-US" dirty="0">
                <a:latin typeface="Carlito"/>
                <a:cs typeface="Carlito"/>
              </a:rPr>
              <a:t>imagine </a:t>
            </a:r>
            <a:r>
              <a:rPr lang="en-US" spc="-15" dirty="0">
                <a:latin typeface="Carlito"/>
                <a:cs typeface="Carlito"/>
              </a:rPr>
              <a:t>to </a:t>
            </a:r>
            <a:r>
              <a:rPr lang="en-US" spc="-10" dirty="0">
                <a:latin typeface="Carlito"/>
                <a:cs typeface="Carlito"/>
              </a:rPr>
              <a:t>come </a:t>
            </a:r>
            <a:r>
              <a:rPr lang="en-US" spc="-15" dirty="0">
                <a:latin typeface="Carlito"/>
                <a:cs typeface="Carlito"/>
              </a:rPr>
              <a:t>from </a:t>
            </a:r>
            <a:r>
              <a:rPr lang="en-US" spc="-10" dirty="0">
                <a:latin typeface="Carlito"/>
                <a:cs typeface="Carlito"/>
              </a:rPr>
              <a:t>legal  </a:t>
            </a:r>
            <a:r>
              <a:rPr lang="en-US" spc="-5" dirty="0">
                <a:latin typeface="Carlito"/>
                <a:cs typeface="Carlito"/>
              </a:rPr>
              <a:t>businesses, </a:t>
            </a:r>
            <a:r>
              <a:rPr lang="en-US" dirty="0">
                <a:latin typeface="Carlito"/>
                <a:cs typeface="Carlito"/>
              </a:rPr>
              <a:t>such as </a:t>
            </a:r>
            <a:r>
              <a:rPr lang="en-US" spc="-5" dirty="0">
                <a:latin typeface="Carlito"/>
                <a:cs typeface="Carlito"/>
              </a:rPr>
              <a:t>banks or telecommunications  </a:t>
            </a:r>
            <a:r>
              <a:rPr lang="en-US" spc="-10" dirty="0">
                <a:latin typeface="Carlito"/>
                <a:cs typeface="Carlito"/>
              </a:rPr>
              <a:t>providers.</a:t>
            </a:r>
            <a:endParaRPr lang="en-US" dirty="0">
              <a:latin typeface="Carlito"/>
              <a:cs typeface="Carlito"/>
            </a:endParaRPr>
          </a:p>
          <a:p>
            <a:pPr algn="just">
              <a:lnSpc>
                <a:spcPct val="100000"/>
              </a:lnSpc>
              <a:spcBef>
                <a:spcPts val="35"/>
              </a:spcBef>
              <a:buFont typeface="Arial"/>
              <a:buChar char="•"/>
            </a:pPr>
            <a:endParaRPr lang="en-US" sz="1600" dirty="0">
              <a:latin typeface="Carlito"/>
              <a:cs typeface="Carlito"/>
            </a:endParaRPr>
          </a:p>
          <a:p>
            <a:pPr marL="355600" marR="5080" indent="-342900" algn="just">
              <a:lnSpc>
                <a:spcPct val="100000"/>
              </a:lnSpc>
              <a:buFont typeface="Arial"/>
              <a:buChar char="•"/>
              <a:tabLst>
                <a:tab pos="429895" algn="l"/>
                <a:tab pos="431165" algn="l"/>
              </a:tabLst>
            </a:pPr>
            <a:r>
              <a:rPr lang="en-US" sz="1000" dirty="0"/>
              <a:t>	</a:t>
            </a:r>
            <a:r>
              <a:rPr lang="en-US" b="1" spc="-5" dirty="0">
                <a:latin typeface="Carlito"/>
                <a:cs typeface="Carlito"/>
              </a:rPr>
              <a:t>Phishing </a:t>
            </a:r>
            <a:r>
              <a:rPr lang="en-US" b="1" dirty="0">
                <a:latin typeface="Carlito"/>
                <a:cs typeface="Carlito"/>
              </a:rPr>
              <a:t>is the </a:t>
            </a:r>
            <a:r>
              <a:rPr lang="en-US" b="1" spc="-10" dirty="0">
                <a:latin typeface="Carlito"/>
                <a:cs typeface="Carlito"/>
              </a:rPr>
              <a:t>practice </a:t>
            </a:r>
            <a:r>
              <a:rPr lang="en-US" b="1" dirty="0">
                <a:latin typeface="Carlito"/>
                <a:cs typeface="Carlito"/>
              </a:rPr>
              <a:t>of </a:t>
            </a:r>
            <a:r>
              <a:rPr lang="en-US" b="1" spc="-15" dirty="0">
                <a:latin typeface="Carlito"/>
                <a:cs typeface="Carlito"/>
              </a:rPr>
              <a:t>attracting </a:t>
            </a:r>
            <a:r>
              <a:rPr lang="en-US" b="1" spc="-10" dirty="0">
                <a:latin typeface="Carlito"/>
                <a:cs typeface="Carlito"/>
              </a:rPr>
              <a:t>users </a:t>
            </a:r>
            <a:r>
              <a:rPr lang="en-US" b="1" spc="-15" dirty="0">
                <a:latin typeface="Carlito"/>
                <a:cs typeface="Carlito"/>
              </a:rPr>
              <a:t>to </a:t>
            </a:r>
            <a:r>
              <a:rPr lang="en-US" b="1" spc="-5" dirty="0">
                <a:latin typeface="Carlito"/>
                <a:cs typeface="Carlito"/>
              </a:rPr>
              <a:t>visit </a:t>
            </a:r>
            <a:r>
              <a:rPr lang="en-US" b="1" spc="-30" dirty="0">
                <a:latin typeface="Carlito"/>
                <a:cs typeface="Carlito"/>
              </a:rPr>
              <a:t>fake  Web </a:t>
            </a:r>
            <a:r>
              <a:rPr lang="en-US" b="1" spc="-10" dirty="0">
                <a:latin typeface="Carlito"/>
                <a:cs typeface="Carlito"/>
              </a:rPr>
              <a:t>sites </a:t>
            </a:r>
            <a:r>
              <a:rPr lang="en-US" b="1" dirty="0">
                <a:latin typeface="Carlito"/>
                <a:cs typeface="Carlito"/>
              </a:rPr>
              <a:t>in </a:t>
            </a:r>
            <a:r>
              <a:rPr lang="en-US" b="1" spc="-10" dirty="0">
                <a:latin typeface="Carlito"/>
                <a:cs typeface="Carlito"/>
              </a:rPr>
              <a:t>order to </a:t>
            </a:r>
            <a:r>
              <a:rPr lang="en-US" b="1" spc="-15" dirty="0">
                <a:latin typeface="Carlito"/>
                <a:cs typeface="Carlito"/>
              </a:rPr>
              <a:t>steal </a:t>
            </a:r>
            <a:r>
              <a:rPr lang="en-US" b="1" spc="-5" dirty="0">
                <a:latin typeface="Carlito"/>
                <a:cs typeface="Carlito"/>
              </a:rPr>
              <a:t>passwords, </a:t>
            </a:r>
            <a:r>
              <a:rPr lang="en-US" b="1" dirty="0">
                <a:latin typeface="Carlito"/>
                <a:cs typeface="Carlito"/>
              </a:rPr>
              <a:t>pin </a:t>
            </a:r>
            <a:r>
              <a:rPr lang="en-US" b="1" spc="-5" dirty="0">
                <a:latin typeface="Carlito"/>
                <a:cs typeface="Carlito"/>
              </a:rPr>
              <a:t>numbers </a:t>
            </a:r>
            <a:r>
              <a:rPr lang="en-US" b="1" dirty="0">
                <a:latin typeface="Carlito"/>
                <a:cs typeface="Carlito"/>
              </a:rPr>
              <a:t>and  other </a:t>
            </a:r>
            <a:r>
              <a:rPr lang="en-US" b="1" spc="-5" dirty="0">
                <a:latin typeface="Carlito"/>
                <a:cs typeface="Carlito"/>
              </a:rPr>
              <a:t>sensitive</a:t>
            </a:r>
            <a:r>
              <a:rPr lang="en-US" b="1" spc="-20" dirty="0">
                <a:latin typeface="Carlito"/>
                <a:cs typeface="Carlito"/>
              </a:rPr>
              <a:t> </a:t>
            </a:r>
            <a:r>
              <a:rPr lang="en-US" b="1" spc="-10" dirty="0">
                <a:latin typeface="Carlito"/>
                <a:cs typeface="Carlito"/>
              </a:rPr>
              <a:t>information.</a:t>
            </a:r>
            <a:endParaRPr lang="en-US" dirty="0">
              <a:latin typeface="Carlito"/>
              <a:cs typeface="Carlito"/>
            </a:endParaRPr>
          </a:p>
          <a:p>
            <a:endParaRPr lang="en-US" dirty="0"/>
          </a:p>
          <a:p>
            <a:r>
              <a:rPr lang="en-US" dirty="0"/>
              <a:t>Explore Various Types of Phishing?</a:t>
            </a:r>
          </a:p>
        </p:txBody>
      </p:sp>
      <p:sp>
        <p:nvSpPr>
          <p:cNvPr id="4" name="Slide Number Placeholder 3"/>
          <p:cNvSpPr>
            <a:spLocks noGrp="1"/>
          </p:cNvSpPr>
          <p:nvPr>
            <p:ph type="sldNum" sz="quarter" idx="10"/>
          </p:nvPr>
        </p:nvSpPr>
        <p:spPr/>
        <p:txBody>
          <a:bodyPr/>
          <a:lstStyle/>
          <a:p>
            <a:fld id="{B1344325-C4C4-497C-9B28-4A4453118300}" type="slidenum">
              <a:rPr lang="en-US" smtClean="0"/>
              <a:t>27</a:t>
            </a:fld>
            <a:endParaRPr lang="en-US"/>
          </a:p>
        </p:txBody>
      </p:sp>
    </p:spTree>
    <p:extLst>
      <p:ext uri="{BB962C8B-B14F-4D97-AF65-F5344CB8AC3E}">
        <p14:creationId xmlns:p14="http://schemas.microsoft.com/office/powerpoint/2010/main" val="1040044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29</a:t>
            </a:fld>
            <a:endParaRPr lang="en-US"/>
          </a:p>
        </p:txBody>
      </p:sp>
    </p:spTree>
    <p:extLst>
      <p:ext uri="{BB962C8B-B14F-4D97-AF65-F5344CB8AC3E}">
        <p14:creationId xmlns:p14="http://schemas.microsoft.com/office/powerpoint/2010/main" val="3252135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Cyber stalking (also called cyber harassment) is when someone uses the Internet to threaten or make unwanted advances towards someone else. </a:t>
            </a:r>
          </a:p>
          <a:p>
            <a:pPr algn="just"/>
            <a:r>
              <a:rPr lang="en-US" dirty="0"/>
              <a:t>This sort of harassment can cause physical, emotional, and psychological damage to the victim. </a:t>
            </a:r>
          </a:p>
          <a:p>
            <a:pPr algn="just"/>
            <a:r>
              <a:rPr lang="en-US" dirty="0"/>
              <a:t>Children are particularly vulnerable because of their trusting nature and give away their personal information. </a:t>
            </a:r>
          </a:p>
          <a:p>
            <a:pPr algn="just"/>
            <a:r>
              <a:rPr lang="en-US" dirty="0"/>
              <a:t>This information later is used against them for stalking purpose, therefore it id advised that until the person is not a trusted individual, no information should shared over the internet.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31</a:t>
            </a:fld>
            <a:endParaRPr lang="en-US"/>
          </a:p>
        </p:txBody>
      </p:sp>
    </p:spTree>
    <p:extLst>
      <p:ext uri="{BB962C8B-B14F-4D97-AF65-F5344CB8AC3E}">
        <p14:creationId xmlns:p14="http://schemas.microsoft.com/office/powerpoint/2010/main" val="3116975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37</a:t>
            </a:fld>
            <a:endParaRPr lang="en-US"/>
          </a:p>
        </p:txBody>
      </p:sp>
    </p:spTree>
    <p:extLst>
      <p:ext uri="{BB962C8B-B14F-4D97-AF65-F5344CB8AC3E}">
        <p14:creationId xmlns:p14="http://schemas.microsoft.com/office/powerpoint/2010/main" val="549511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39</a:t>
            </a:fld>
            <a:endParaRPr lang="en-US"/>
          </a:p>
        </p:txBody>
      </p:sp>
    </p:spTree>
    <p:extLst>
      <p:ext uri="{BB962C8B-B14F-4D97-AF65-F5344CB8AC3E}">
        <p14:creationId xmlns:p14="http://schemas.microsoft.com/office/powerpoint/2010/main" val="98026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File system defenses against </a:t>
            </a:r>
            <a:r>
              <a:rPr lang="en-US" sz="1200" b="1" i="0" kern="1200" dirty="0" err="1">
                <a:solidFill>
                  <a:schemeClr val="tx1"/>
                </a:solidFill>
                <a:effectLst/>
                <a:latin typeface="+mn-lt"/>
                <a:ea typeface="+mn-ea"/>
                <a:cs typeface="+mn-cs"/>
              </a:rPr>
              <a:t>ransomware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number of file systems keep snapshots of the data they hold, which can be used to recover the contents of files from a time prior to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attack in the event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does not disable it.</a:t>
            </a:r>
          </a:p>
          <a:p>
            <a:r>
              <a:rPr lang="en-US" dirty="0">
                <a:effectLst/>
              </a:rPr>
              <a:t>On Windows, the </a:t>
            </a:r>
            <a:r>
              <a:rPr lang="en-US" sz="1200" u="none" strike="noStrike" kern="1200" dirty="0">
                <a:solidFill>
                  <a:schemeClr val="tx1"/>
                </a:solidFill>
                <a:effectLst/>
                <a:latin typeface="+mn-lt"/>
                <a:ea typeface="+mn-ea"/>
                <a:cs typeface="+mn-cs"/>
                <a:hlinkClick r:id="rId3" tooltip="Volume shadow copy"/>
              </a:rPr>
              <a:t>Volume shadow copy</a:t>
            </a:r>
            <a:r>
              <a:rPr lang="en-US" dirty="0">
                <a:effectLst/>
              </a:rPr>
              <a:t> (VSS) is often used to store backups of data; </a:t>
            </a:r>
            <a:r>
              <a:rPr lang="en-US" dirty="0" err="1">
                <a:effectLst/>
              </a:rPr>
              <a:t>ransomware</a:t>
            </a:r>
            <a:r>
              <a:rPr lang="en-US" dirty="0">
                <a:effectLst/>
              </a:rPr>
              <a:t> often targets these snapshots to prevent recovery and therefore it is often advisable to disable user access to the user tool </a:t>
            </a:r>
            <a:r>
              <a:rPr lang="en-US" i="1" dirty="0">
                <a:effectLst/>
              </a:rPr>
              <a:t>VSSadmin.exe</a:t>
            </a:r>
            <a:r>
              <a:rPr lang="en-US" dirty="0">
                <a:effectLst/>
              </a:rPr>
              <a:t> to reduce the risk that </a:t>
            </a:r>
            <a:r>
              <a:rPr lang="en-US" dirty="0" err="1">
                <a:effectLst/>
              </a:rPr>
              <a:t>ransomware</a:t>
            </a:r>
            <a:r>
              <a:rPr lang="en-US" dirty="0">
                <a:effectLst/>
              </a:rPr>
              <a:t> can disable or delete past copies.</a:t>
            </a:r>
          </a:p>
          <a:p>
            <a:r>
              <a:rPr lang="en-US" dirty="0">
                <a:effectLst/>
              </a:rPr>
              <a:t>On Windows 10, users can add specific directories or files to Controlled Folder Access in Windows Defender to protect them from </a:t>
            </a:r>
            <a:r>
              <a:rPr lang="en-US" dirty="0" err="1">
                <a:effectLst/>
              </a:rPr>
              <a:t>ransomware</a:t>
            </a:r>
            <a:r>
              <a:rPr lang="en-US" dirty="0">
                <a:effectLst/>
              </a:rPr>
              <a:t>.</a:t>
            </a:r>
            <a:r>
              <a:rPr lang="en-US" sz="1200" b="0" i="0" u="none" strike="noStrike" kern="1200" baseline="30000" dirty="0">
                <a:solidFill>
                  <a:schemeClr val="tx1"/>
                </a:solidFill>
                <a:effectLst/>
                <a:latin typeface="+mn-lt"/>
                <a:ea typeface="+mn-ea"/>
                <a:cs typeface="+mn-cs"/>
                <a:hlinkClick r:id="rId4"/>
              </a:rPr>
              <a:t>[132]</a:t>
            </a:r>
            <a:r>
              <a:rPr lang="en-US" dirty="0">
                <a:effectLst/>
              </a:rPr>
              <a:t> It is advised to add backup and other important directories to Controlled Folder Access.</a:t>
            </a:r>
          </a:p>
          <a:p>
            <a:r>
              <a:rPr lang="en-US" dirty="0">
                <a:effectLst/>
              </a:rPr>
              <a:t>File servers running </a:t>
            </a:r>
            <a:r>
              <a:rPr lang="en-US" sz="1200" u="none" strike="noStrike" kern="1200" dirty="0">
                <a:solidFill>
                  <a:schemeClr val="tx1"/>
                </a:solidFill>
                <a:effectLst/>
                <a:latin typeface="+mn-lt"/>
                <a:ea typeface="+mn-ea"/>
                <a:cs typeface="+mn-cs"/>
                <a:hlinkClick r:id="rId5" tooltip="ZFS"/>
              </a:rPr>
              <a:t>ZFS</a:t>
            </a:r>
            <a:r>
              <a:rPr lang="en-US" dirty="0">
                <a:effectLst/>
              </a:rPr>
              <a:t> are almost universally immune to </a:t>
            </a:r>
            <a:r>
              <a:rPr lang="en-US" dirty="0" err="1">
                <a:effectLst/>
              </a:rPr>
              <a:t>ransomware</a:t>
            </a:r>
            <a:r>
              <a:rPr lang="en-US" dirty="0">
                <a:effectLst/>
              </a:rPr>
              <a:t>, because ZFS is capable of snapshotting even a large file system many times an hour, and these snapshots are immutable (read only) and easily rolled back or files recovered in the event of data corruption.</a:t>
            </a:r>
            <a:r>
              <a:rPr lang="en-US" sz="1200" b="0" i="0" u="none" strike="noStrike" kern="1200" baseline="30000" dirty="0">
                <a:solidFill>
                  <a:schemeClr val="tx1"/>
                </a:solidFill>
                <a:effectLst/>
                <a:latin typeface="+mn-lt"/>
                <a:ea typeface="+mn-ea"/>
                <a:cs typeface="+mn-cs"/>
                <a:hlinkClick r:id="rId6"/>
              </a:rPr>
              <a:t>[133]</a:t>
            </a:r>
            <a:r>
              <a:rPr lang="en-US" dirty="0">
                <a:effectLst/>
              </a:rPr>
              <a:t> In general, only an administrator can delete (but cannot modify) snapshots.</a:t>
            </a:r>
          </a:p>
          <a:p>
            <a:r>
              <a:rPr lang="en-US" sz="1200" b="1" i="0" kern="1200" dirty="0">
                <a:solidFill>
                  <a:schemeClr val="tx1"/>
                </a:solidFill>
                <a:effectLst/>
                <a:latin typeface="+mn-lt"/>
                <a:ea typeface="+mn-ea"/>
                <a:cs typeface="+mn-cs"/>
              </a:rPr>
              <a:t>File decryption and recovery</a:t>
            </a:r>
          </a:p>
          <a:p>
            <a:r>
              <a:rPr lang="en-US" sz="1200" b="0" i="0" kern="1200" dirty="0">
                <a:solidFill>
                  <a:schemeClr val="tx1"/>
                </a:solidFill>
                <a:effectLst/>
                <a:latin typeface="+mn-lt"/>
                <a:ea typeface="+mn-ea"/>
                <a:cs typeface="+mn-cs"/>
              </a:rPr>
              <a:t>There are a number of tools intended specifically to decrypt files locked by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although successful recovery may not be possible.</a:t>
            </a:r>
            <a:r>
              <a:rPr lang="en-US" sz="1200" b="0" i="0" u="none" strike="noStrike" kern="1200" baseline="30000" dirty="0">
                <a:solidFill>
                  <a:schemeClr val="tx1"/>
                </a:solidFill>
                <a:effectLst/>
                <a:latin typeface="+mn-lt"/>
                <a:ea typeface="+mn-ea"/>
                <a:cs typeface="+mn-cs"/>
                <a:hlinkClick r:id="rId7"/>
              </a:rPr>
              <a:t>[2]</a:t>
            </a:r>
            <a:r>
              <a:rPr lang="en-US" sz="1200" b="0" i="0" u="none" strike="noStrike" kern="1200" baseline="30000" dirty="0">
                <a:solidFill>
                  <a:schemeClr val="tx1"/>
                </a:solidFill>
                <a:effectLst/>
                <a:latin typeface="+mn-lt"/>
                <a:ea typeface="+mn-ea"/>
                <a:cs typeface="+mn-cs"/>
                <a:hlinkClick r:id="rId8"/>
              </a:rPr>
              <a:t>[134]</a:t>
            </a:r>
            <a:r>
              <a:rPr lang="en-US" sz="1200" b="0" i="0" kern="1200" dirty="0">
                <a:solidFill>
                  <a:schemeClr val="tx1"/>
                </a:solidFill>
                <a:effectLst/>
                <a:latin typeface="+mn-lt"/>
                <a:ea typeface="+mn-ea"/>
                <a:cs typeface="+mn-cs"/>
              </a:rPr>
              <a:t> If the same encryption key is used for all files, decryption tools use files for which there are both uncorrupted backups and encrypted copies (a </a:t>
            </a:r>
            <a:r>
              <a:rPr lang="en-US" sz="1200" b="0" i="0" u="none" strike="noStrike" kern="1200" dirty="0">
                <a:solidFill>
                  <a:schemeClr val="tx1"/>
                </a:solidFill>
                <a:effectLst/>
                <a:latin typeface="+mn-lt"/>
                <a:ea typeface="+mn-ea"/>
                <a:cs typeface="+mn-cs"/>
                <a:hlinkClick r:id="rId9" tooltip="Known-plaintext attack"/>
              </a:rPr>
              <a:t>known-plaintext attack</a:t>
            </a:r>
            <a:r>
              <a:rPr lang="en-US" sz="1200" b="0" i="0" kern="1200" dirty="0">
                <a:solidFill>
                  <a:schemeClr val="tx1"/>
                </a:solidFill>
                <a:effectLst/>
                <a:latin typeface="+mn-lt"/>
                <a:ea typeface="+mn-ea"/>
                <a:cs typeface="+mn-cs"/>
              </a:rPr>
              <a:t> in the jargon of </a:t>
            </a:r>
            <a:r>
              <a:rPr lang="en-US" sz="1200" b="0" i="0" u="none" strike="noStrike" kern="1200" dirty="0">
                <a:solidFill>
                  <a:schemeClr val="tx1"/>
                </a:solidFill>
                <a:effectLst/>
                <a:latin typeface="+mn-lt"/>
                <a:ea typeface="+mn-ea"/>
                <a:cs typeface="+mn-cs"/>
                <a:hlinkClick r:id="rId10" tooltip="Cryptanalysis"/>
              </a:rPr>
              <a:t>cryptanalysis</a:t>
            </a:r>
            <a:r>
              <a:rPr lang="en-US" sz="1200" b="0" i="0" kern="1200" dirty="0">
                <a:solidFill>
                  <a:schemeClr val="tx1"/>
                </a:solidFill>
                <a:effectLst/>
                <a:latin typeface="+mn-lt"/>
                <a:ea typeface="+mn-ea"/>
                <a:cs typeface="+mn-cs"/>
              </a:rPr>
              <a:t>. But, it only works when the cipher the attacker used was weak to begin with, being vulnerable to known-plaintext attack); recovery of the key, if it is possible, may take several days.</a:t>
            </a:r>
            <a:r>
              <a:rPr lang="en-US" sz="1200" b="0" i="0" u="none" strike="noStrike" kern="1200" baseline="30000" dirty="0">
                <a:solidFill>
                  <a:schemeClr val="tx1"/>
                </a:solidFill>
                <a:effectLst/>
                <a:latin typeface="+mn-lt"/>
                <a:ea typeface="+mn-ea"/>
                <a:cs typeface="+mn-cs"/>
                <a:hlinkClick r:id="rId11"/>
              </a:rPr>
              <a:t>[135]</a:t>
            </a:r>
            <a:r>
              <a:rPr lang="en-US" sz="1200" b="0" i="0" kern="1200" dirty="0">
                <a:solidFill>
                  <a:schemeClr val="tx1"/>
                </a:solidFill>
                <a:effectLst/>
                <a:latin typeface="+mn-lt"/>
                <a:ea typeface="+mn-ea"/>
                <a:cs typeface="+mn-cs"/>
              </a:rPr>
              <a:t> Free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decryption tools can help decrypt files encrypted by the following forms of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AES_NI, Alcatraz Locker, Apocalypse, </a:t>
            </a:r>
            <a:r>
              <a:rPr lang="en-US" sz="1200" b="0" i="0" kern="1200" dirty="0" err="1">
                <a:solidFill>
                  <a:schemeClr val="tx1"/>
                </a:solidFill>
                <a:effectLst/>
                <a:latin typeface="+mn-lt"/>
                <a:ea typeface="+mn-ea"/>
                <a:cs typeface="+mn-cs"/>
              </a:rPr>
              <a:t>BadBlock</a:t>
            </a:r>
            <a:r>
              <a:rPr lang="en-US" sz="1200" b="0" i="0" kern="1200" dirty="0">
                <a:solidFill>
                  <a:schemeClr val="tx1"/>
                </a:solidFill>
                <a:effectLst/>
                <a:latin typeface="+mn-lt"/>
                <a:ea typeface="+mn-ea"/>
                <a:cs typeface="+mn-cs"/>
              </a:rPr>
              <a:t>, Bart, </a:t>
            </a:r>
            <a:r>
              <a:rPr lang="en-US" sz="1200" b="0" i="0" kern="1200" dirty="0" err="1">
                <a:solidFill>
                  <a:schemeClr val="tx1"/>
                </a:solidFill>
                <a:effectLst/>
                <a:latin typeface="+mn-lt"/>
                <a:ea typeface="+mn-ea"/>
                <a:cs typeface="+mn-cs"/>
              </a:rPr>
              <a:t>BTCWare</a:t>
            </a:r>
            <a:r>
              <a:rPr lang="en-US" sz="1200" b="0" i="0" kern="1200" dirty="0">
                <a:solidFill>
                  <a:schemeClr val="tx1"/>
                </a:solidFill>
                <a:effectLst/>
                <a:latin typeface="+mn-lt"/>
                <a:ea typeface="+mn-ea"/>
                <a:cs typeface="+mn-cs"/>
              </a:rPr>
              <a:t>, Crypt888, </a:t>
            </a:r>
            <a:r>
              <a:rPr lang="en-US" sz="1200" b="0" i="0" kern="1200" dirty="0" err="1">
                <a:solidFill>
                  <a:schemeClr val="tx1"/>
                </a:solidFill>
                <a:effectLst/>
                <a:latin typeface="+mn-lt"/>
                <a:ea typeface="+mn-ea"/>
                <a:cs typeface="+mn-cs"/>
              </a:rPr>
              <a:t>CryptoMix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CrySiS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EncrypTile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FindZip</a:t>
            </a:r>
            <a:r>
              <a:rPr lang="en-US" sz="1200" b="0" i="0" kern="1200" dirty="0">
                <a:solidFill>
                  <a:schemeClr val="tx1"/>
                </a:solidFill>
                <a:effectLst/>
                <a:latin typeface="+mn-lt"/>
                <a:ea typeface="+mn-ea"/>
                <a:cs typeface="+mn-cs"/>
              </a:rPr>
              <a:t>, Globe, </a:t>
            </a:r>
            <a:r>
              <a:rPr lang="en-US" sz="1200" b="0" i="0" u="none" strike="noStrike" kern="1200" dirty="0">
                <a:solidFill>
                  <a:schemeClr val="tx1"/>
                </a:solidFill>
                <a:effectLst/>
                <a:latin typeface="+mn-lt"/>
                <a:ea typeface="+mn-ea"/>
                <a:cs typeface="+mn-cs"/>
                <a:hlinkClick r:id="rId12" tooltip="Hidden Tear"/>
              </a:rPr>
              <a:t>Hidden Tear</a:t>
            </a:r>
            <a:r>
              <a:rPr lang="en-US" sz="1200" b="0" i="0" kern="1200" dirty="0">
                <a:solidFill>
                  <a:schemeClr val="tx1"/>
                </a:solidFill>
                <a:effectLst/>
                <a:latin typeface="+mn-lt"/>
                <a:ea typeface="+mn-ea"/>
                <a:cs typeface="+mn-cs"/>
              </a:rPr>
              <a:t>, Jigsaw, </a:t>
            </a:r>
            <a:r>
              <a:rPr lang="en-US" sz="1200" b="0" i="0" kern="1200" dirty="0" err="1">
                <a:solidFill>
                  <a:schemeClr val="tx1"/>
                </a:solidFill>
                <a:effectLst/>
                <a:latin typeface="+mn-lt"/>
                <a:ea typeface="+mn-ea"/>
                <a:cs typeface="+mn-cs"/>
              </a:rPr>
              <a:t>LambdaLocker</a:t>
            </a:r>
            <a:r>
              <a:rPr lang="en-US" sz="1200" b="0" i="0" kern="1200" dirty="0">
                <a:solidFill>
                  <a:schemeClr val="tx1"/>
                </a:solidFill>
                <a:effectLst/>
                <a:latin typeface="+mn-lt"/>
                <a:ea typeface="+mn-ea"/>
                <a:cs typeface="+mn-cs"/>
              </a:rPr>
              <a:t>, Legion, </a:t>
            </a:r>
            <a:r>
              <a:rPr lang="en-US" sz="1200" b="0" i="0" kern="1200" dirty="0" err="1">
                <a:solidFill>
                  <a:schemeClr val="tx1"/>
                </a:solidFill>
                <a:effectLst/>
                <a:latin typeface="+mn-lt"/>
                <a:ea typeface="+mn-ea"/>
                <a:cs typeface="+mn-cs"/>
              </a:rPr>
              <a:t>NoobCrypt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Stampado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SZFLocker</a:t>
            </a:r>
            <a:r>
              <a:rPr lang="en-US" sz="1200" b="0" i="0"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hlinkClick r:id="rId13" tooltip="TeslaCrypt"/>
              </a:rPr>
              <a:t>TeslaCrypt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XData</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14"/>
              </a:rPr>
              <a:t>[136]</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addition, old copies of files may exist on the disk, which has been previously deleted. In some cases, these deleted versions may still be recoverable using software designed for that purpose.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42</a:t>
            </a:fld>
            <a:endParaRPr lang="en-US"/>
          </a:p>
        </p:txBody>
      </p:sp>
    </p:spTree>
    <p:extLst>
      <p:ext uri="{BB962C8B-B14F-4D97-AF65-F5344CB8AC3E}">
        <p14:creationId xmlns:p14="http://schemas.microsoft.com/office/powerpoint/2010/main" val="2194623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Rootkit installation can be automated, or an </a:t>
            </a:r>
            <a:r>
              <a:rPr lang="en-US" sz="1200" b="0" i="0" u="none" strike="noStrike" kern="1200" dirty="0">
                <a:solidFill>
                  <a:schemeClr val="tx1"/>
                </a:solidFill>
                <a:effectLst/>
                <a:latin typeface="+mn-lt"/>
                <a:ea typeface="+mn-ea"/>
                <a:cs typeface="+mn-cs"/>
                <a:hlinkClick r:id="rId3" tooltip="Hacker (computer security)"/>
              </a:rPr>
              <a:t>attacker</a:t>
            </a:r>
            <a:r>
              <a:rPr lang="en-US" sz="1200" b="0" i="0" kern="1200" dirty="0">
                <a:solidFill>
                  <a:schemeClr val="tx1"/>
                </a:solidFill>
                <a:effectLst/>
                <a:latin typeface="+mn-lt"/>
                <a:ea typeface="+mn-ea"/>
                <a:cs typeface="+mn-cs"/>
              </a:rPr>
              <a:t> can install it after having obtained root or Administrator access. Obtaining this access is a result of direct attack on a system, i.e. exploiting a known vulnerability (such as </a:t>
            </a:r>
            <a:r>
              <a:rPr lang="en-US" sz="1200" b="0" i="0" u="none" strike="noStrike" kern="1200" dirty="0">
                <a:solidFill>
                  <a:schemeClr val="tx1"/>
                </a:solidFill>
                <a:effectLst/>
                <a:latin typeface="+mn-lt"/>
                <a:ea typeface="+mn-ea"/>
                <a:cs typeface="+mn-cs"/>
                <a:hlinkClick r:id="rId4" tooltip="Privilege escalation"/>
              </a:rPr>
              <a:t>privilege escalation</a:t>
            </a:r>
            <a:r>
              <a:rPr lang="en-US" sz="1200" b="0" i="0" kern="1200" dirty="0">
                <a:solidFill>
                  <a:schemeClr val="tx1"/>
                </a:solidFill>
                <a:effectLst/>
                <a:latin typeface="+mn-lt"/>
                <a:ea typeface="+mn-ea"/>
                <a:cs typeface="+mn-cs"/>
              </a:rPr>
              <a:t>) or a </a:t>
            </a:r>
            <a:r>
              <a:rPr lang="en-US" sz="1200" b="0" i="0" u="none" strike="noStrike" kern="1200" dirty="0">
                <a:solidFill>
                  <a:schemeClr val="tx1"/>
                </a:solidFill>
                <a:effectLst/>
                <a:latin typeface="+mn-lt"/>
                <a:ea typeface="+mn-ea"/>
                <a:cs typeface="+mn-cs"/>
                <a:hlinkClick r:id="rId5" tooltip="Password"/>
              </a:rPr>
              <a:t>password</a:t>
            </a:r>
            <a:r>
              <a:rPr lang="en-US" sz="1200" b="0" i="0" kern="1200" dirty="0">
                <a:solidFill>
                  <a:schemeClr val="tx1"/>
                </a:solidFill>
                <a:effectLst/>
                <a:latin typeface="+mn-lt"/>
                <a:ea typeface="+mn-ea"/>
                <a:cs typeface="+mn-cs"/>
              </a:rPr>
              <a:t> (obtained by </a:t>
            </a:r>
            <a:r>
              <a:rPr lang="en-US" sz="1200" b="0" i="0" u="none" strike="noStrike" kern="1200" dirty="0">
                <a:solidFill>
                  <a:schemeClr val="tx1"/>
                </a:solidFill>
                <a:effectLst/>
                <a:latin typeface="+mn-lt"/>
                <a:ea typeface="+mn-ea"/>
                <a:cs typeface="+mn-cs"/>
                <a:hlinkClick r:id="rId6" tooltip="Password cracking"/>
              </a:rPr>
              <a:t>cracking</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Social engineering (security)"/>
              </a:rPr>
              <a:t>social engineering</a:t>
            </a:r>
            <a:r>
              <a:rPr lang="en-US" sz="1200" b="0" i="0" kern="1200" dirty="0">
                <a:solidFill>
                  <a:schemeClr val="tx1"/>
                </a:solidFill>
                <a:effectLst/>
                <a:latin typeface="+mn-lt"/>
                <a:ea typeface="+mn-ea"/>
                <a:cs typeface="+mn-cs"/>
              </a:rPr>
              <a:t> tactics like "</a:t>
            </a:r>
            <a:r>
              <a:rPr lang="en-US" sz="1200" b="0" i="0" u="none" strike="noStrike" kern="1200" dirty="0">
                <a:solidFill>
                  <a:schemeClr val="tx1"/>
                </a:solidFill>
                <a:effectLst/>
                <a:latin typeface="+mn-lt"/>
                <a:ea typeface="+mn-ea"/>
                <a:cs typeface="+mn-cs"/>
                <a:hlinkClick r:id="rId8" tooltip="Phishing"/>
              </a:rPr>
              <a:t>phishing</a:t>
            </a:r>
            <a:r>
              <a:rPr lang="en-US" sz="1200" b="0" i="0" kern="1200" dirty="0">
                <a:solidFill>
                  <a:schemeClr val="tx1"/>
                </a:solidFill>
                <a:effectLst/>
                <a:latin typeface="+mn-lt"/>
                <a:ea typeface="+mn-ea"/>
                <a:cs typeface="+mn-cs"/>
              </a:rPr>
              <a:t>"). Once installed, it becomes possible to hide the intrusion as well as to maintain privileged access. Full control over a system means that existing software can be modified, including software that might otherwise be used to detect or circumvent it.</a:t>
            </a:r>
          </a:p>
          <a:p>
            <a:r>
              <a:rPr lang="en-US" sz="1200" b="0" i="0" kern="1200" dirty="0">
                <a:solidFill>
                  <a:schemeClr val="tx1"/>
                </a:solidFill>
                <a:effectLst/>
                <a:latin typeface="+mn-lt"/>
                <a:ea typeface="+mn-ea"/>
                <a:cs typeface="+mn-cs"/>
              </a:rPr>
              <a:t>Rootkit detection is difficult because a rootkit may be able to subvert the software that is intended to find it. Detection methods include using an alternative and trusted </a:t>
            </a:r>
            <a:r>
              <a:rPr lang="en-US" sz="1200" b="0" i="0" u="none" strike="noStrike" kern="1200" dirty="0">
                <a:solidFill>
                  <a:schemeClr val="tx1"/>
                </a:solidFill>
                <a:effectLst/>
                <a:latin typeface="+mn-lt"/>
                <a:ea typeface="+mn-ea"/>
                <a:cs typeface="+mn-cs"/>
                <a:hlinkClick r:id="rId9" tooltip="Operating system"/>
              </a:rPr>
              <a:t>operating system</a:t>
            </a:r>
            <a:r>
              <a:rPr lang="en-US" sz="1200" b="0" i="0" kern="1200" dirty="0">
                <a:solidFill>
                  <a:schemeClr val="tx1"/>
                </a:solidFill>
                <a:effectLst/>
                <a:latin typeface="+mn-lt"/>
                <a:ea typeface="+mn-ea"/>
                <a:cs typeface="+mn-cs"/>
              </a:rPr>
              <a:t>, behavioral-based methods, signature scanning, difference scanning, and </a:t>
            </a:r>
            <a:r>
              <a:rPr lang="en-US" sz="1200" b="0" i="0" u="none" strike="noStrike" kern="1200" dirty="0">
                <a:solidFill>
                  <a:schemeClr val="tx1"/>
                </a:solidFill>
                <a:effectLst/>
                <a:latin typeface="+mn-lt"/>
                <a:ea typeface="+mn-ea"/>
                <a:cs typeface="+mn-cs"/>
                <a:hlinkClick r:id="rId10" tooltip="Core dump"/>
              </a:rPr>
              <a:t>memory dump</a:t>
            </a:r>
            <a:r>
              <a:rPr lang="en-US" sz="1200" b="0" i="0" kern="1200" dirty="0">
                <a:solidFill>
                  <a:schemeClr val="tx1"/>
                </a:solidFill>
                <a:effectLst/>
                <a:latin typeface="+mn-lt"/>
                <a:ea typeface="+mn-ea"/>
                <a:cs typeface="+mn-cs"/>
              </a:rPr>
              <a:t> analysis. Removal can be complicated or practically impossible, especially in cases where the rootkit resides in the </a:t>
            </a:r>
            <a:r>
              <a:rPr lang="en-US" sz="1200" b="0" i="0" u="none" strike="noStrike" kern="1200" dirty="0">
                <a:solidFill>
                  <a:schemeClr val="tx1"/>
                </a:solidFill>
                <a:effectLst/>
                <a:latin typeface="+mn-lt"/>
                <a:ea typeface="+mn-ea"/>
                <a:cs typeface="+mn-cs"/>
                <a:hlinkClick r:id="rId11" tooltip="Kernel (computing)"/>
              </a:rPr>
              <a:t>kernel</a:t>
            </a:r>
            <a:r>
              <a:rPr lang="en-US" sz="1200" b="0" i="0" kern="1200" dirty="0">
                <a:solidFill>
                  <a:schemeClr val="tx1"/>
                </a:solidFill>
                <a:effectLst/>
                <a:latin typeface="+mn-lt"/>
                <a:ea typeface="+mn-ea"/>
                <a:cs typeface="+mn-cs"/>
              </a:rPr>
              <a:t>; reinstallation of the operating system may be the only available solution to the problem.</a:t>
            </a:r>
            <a:r>
              <a:rPr lang="en-US" sz="1200" b="0" i="0" u="none" strike="noStrike" kern="1200" baseline="30000" dirty="0">
                <a:solidFill>
                  <a:schemeClr val="tx1"/>
                </a:solidFill>
                <a:effectLst/>
                <a:latin typeface="+mn-lt"/>
                <a:ea typeface="+mn-ea"/>
                <a:cs typeface="+mn-cs"/>
                <a:hlinkClick r:id="rId12"/>
              </a:rPr>
              <a:t>[2]</a:t>
            </a:r>
            <a:r>
              <a:rPr lang="en-US" sz="1200" b="0" i="0" kern="1200" dirty="0">
                <a:solidFill>
                  <a:schemeClr val="tx1"/>
                </a:solidFill>
                <a:effectLst/>
                <a:latin typeface="+mn-lt"/>
                <a:ea typeface="+mn-ea"/>
                <a:cs typeface="+mn-cs"/>
              </a:rPr>
              <a:t> When dealing with </a:t>
            </a:r>
            <a:r>
              <a:rPr lang="en-US" sz="1200" b="0" i="0" u="none" strike="noStrike" kern="1200" dirty="0">
                <a:solidFill>
                  <a:schemeClr val="tx1"/>
                </a:solidFill>
                <a:effectLst/>
                <a:latin typeface="+mn-lt"/>
                <a:ea typeface="+mn-ea"/>
                <a:cs typeface="+mn-cs"/>
                <a:hlinkClick r:id="rId13" tooltip="Firmware"/>
              </a:rPr>
              <a:t>firmware</a:t>
            </a:r>
            <a:r>
              <a:rPr lang="en-US" sz="1200" b="0" i="0" kern="1200" dirty="0">
                <a:solidFill>
                  <a:schemeClr val="tx1"/>
                </a:solidFill>
                <a:effectLst/>
                <a:latin typeface="+mn-lt"/>
                <a:ea typeface="+mn-ea"/>
                <a:cs typeface="+mn-cs"/>
              </a:rPr>
              <a:t> rootkits, removal may require </a:t>
            </a:r>
            <a:r>
              <a:rPr lang="en-US" sz="1200" b="0" i="0" u="none" strike="noStrike" kern="1200" dirty="0">
                <a:solidFill>
                  <a:schemeClr val="tx1"/>
                </a:solidFill>
                <a:effectLst/>
                <a:latin typeface="+mn-lt"/>
                <a:ea typeface="+mn-ea"/>
                <a:cs typeface="+mn-cs"/>
                <a:hlinkClick r:id="rId14" tooltip="Computer hardware"/>
              </a:rPr>
              <a:t>hardware</a:t>
            </a:r>
            <a:r>
              <a:rPr lang="en-US" sz="1200" b="0" i="0" kern="1200" dirty="0">
                <a:solidFill>
                  <a:schemeClr val="tx1"/>
                </a:solidFill>
                <a:effectLst/>
                <a:latin typeface="+mn-lt"/>
                <a:ea typeface="+mn-ea"/>
                <a:cs typeface="+mn-cs"/>
              </a:rPr>
              <a:t> replacement, or specialized equipment.</a:t>
            </a:r>
          </a:p>
          <a:p>
            <a:endParaRPr lang="en-US" dirty="0"/>
          </a:p>
          <a:p>
            <a:r>
              <a:rPr lang="en-US" sz="1200" b="1" i="0" kern="1200" dirty="0" err="1">
                <a:solidFill>
                  <a:schemeClr val="tx1"/>
                </a:solidFill>
                <a:effectLst/>
                <a:latin typeface="+mn-lt"/>
                <a:ea typeface="+mn-ea"/>
                <a:cs typeface="+mn-cs"/>
              </a:rPr>
              <a:t>ootkits</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15" tooltip="Edit section: Bootkits"/>
              </a:rPr>
              <a:t>edit</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kernel-mode rootkit variant called a </a:t>
            </a:r>
            <a:r>
              <a:rPr lang="en-US" sz="1200" b="1"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can infect startup code like the </a:t>
            </a:r>
            <a:r>
              <a:rPr lang="en-US" sz="1200" b="0" i="0" u="none" strike="noStrike" kern="1200" dirty="0">
                <a:solidFill>
                  <a:schemeClr val="tx1"/>
                </a:solidFill>
                <a:effectLst/>
                <a:latin typeface="+mn-lt"/>
                <a:ea typeface="+mn-ea"/>
                <a:cs typeface="+mn-cs"/>
                <a:hlinkClick r:id="rId16" tooltip="Master Boot Record"/>
              </a:rPr>
              <a:t>Master Boot Record</a:t>
            </a:r>
            <a:r>
              <a:rPr lang="en-US" sz="1200" b="0" i="0" kern="1200" dirty="0">
                <a:solidFill>
                  <a:schemeClr val="tx1"/>
                </a:solidFill>
                <a:effectLst/>
                <a:latin typeface="+mn-lt"/>
                <a:ea typeface="+mn-ea"/>
                <a:cs typeface="+mn-cs"/>
              </a:rPr>
              <a:t> (MBR), </a:t>
            </a:r>
            <a:r>
              <a:rPr lang="en-US" sz="1200" b="0" i="0" u="none" strike="noStrike" kern="1200" dirty="0">
                <a:solidFill>
                  <a:schemeClr val="tx1"/>
                </a:solidFill>
                <a:effectLst/>
                <a:latin typeface="+mn-lt"/>
                <a:ea typeface="+mn-ea"/>
                <a:cs typeface="+mn-cs"/>
                <a:hlinkClick r:id="rId17" tooltip="Volume Boot Record"/>
              </a:rPr>
              <a:t>Volume Boot Record</a:t>
            </a:r>
            <a:r>
              <a:rPr lang="en-US" sz="1200" b="0" i="0" kern="1200" dirty="0">
                <a:solidFill>
                  <a:schemeClr val="tx1"/>
                </a:solidFill>
                <a:effectLst/>
                <a:latin typeface="+mn-lt"/>
                <a:ea typeface="+mn-ea"/>
                <a:cs typeface="+mn-cs"/>
              </a:rPr>
              <a:t> (VBR), or </a:t>
            </a:r>
            <a:r>
              <a:rPr lang="en-US" sz="1200" b="0" i="0" u="none" strike="noStrike" kern="1200" dirty="0">
                <a:solidFill>
                  <a:schemeClr val="tx1"/>
                </a:solidFill>
                <a:effectLst/>
                <a:latin typeface="+mn-lt"/>
                <a:ea typeface="+mn-ea"/>
                <a:cs typeface="+mn-cs"/>
                <a:hlinkClick r:id="rId18" tooltip="Boot sector"/>
              </a:rPr>
              <a:t>boot sector</a:t>
            </a:r>
            <a:r>
              <a:rPr lang="en-US" sz="1200" b="0" i="0" kern="1200" dirty="0">
                <a:solidFill>
                  <a:schemeClr val="tx1"/>
                </a:solidFill>
                <a:effectLst/>
                <a:latin typeface="+mn-lt"/>
                <a:ea typeface="+mn-ea"/>
                <a:cs typeface="+mn-cs"/>
              </a:rPr>
              <a:t>, and in this way can be used to attack </a:t>
            </a:r>
            <a:r>
              <a:rPr lang="en-US" sz="1200" b="0" i="0" u="none" strike="noStrike" kern="1200" dirty="0">
                <a:solidFill>
                  <a:schemeClr val="tx1"/>
                </a:solidFill>
                <a:effectLst/>
                <a:latin typeface="+mn-lt"/>
                <a:ea typeface="+mn-ea"/>
                <a:cs typeface="+mn-cs"/>
                <a:hlinkClick r:id="rId19" tooltip="Full disk encryption"/>
              </a:rPr>
              <a:t>full disk encryption</a:t>
            </a:r>
            <a:r>
              <a:rPr lang="en-US" sz="1200" b="0" i="0" kern="1200" dirty="0">
                <a:solidFill>
                  <a:schemeClr val="tx1"/>
                </a:solidFill>
                <a:effectLst/>
                <a:latin typeface="+mn-lt"/>
                <a:ea typeface="+mn-ea"/>
                <a:cs typeface="+mn-cs"/>
              </a:rPr>
              <a:t> systems.</a:t>
            </a:r>
          </a:p>
          <a:p>
            <a:r>
              <a:rPr lang="en-US" sz="1200" b="0" i="0" kern="1200" dirty="0">
                <a:solidFill>
                  <a:schemeClr val="tx1"/>
                </a:solidFill>
                <a:effectLst/>
                <a:latin typeface="+mn-lt"/>
                <a:ea typeface="+mn-ea"/>
                <a:cs typeface="+mn-cs"/>
              </a:rPr>
              <a:t>An example of such an attack on disk encryption is the "</a:t>
            </a:r>
            <a:r>
              <a:rPr lang="en-US" sz="1200" b="0" i="0" u="none" strike="noStrike" kern="1200" dirty="0">
                <a:solidFill>
                  <a:schemeClr val="tx1"/>
                </a:solidFill>
                <a:effectLst/>
                <a:latin typeface="+mn-lt"/>
                <a:ea typeface="+mn-ea"/>
                <a:cs typeface="+mn-cs"/>
                <a:hlinkClick r:id="rId20" tooltip="Evil maid attack"/>
              </a:rPr>
              <a:t>evil maid attack</a:t>
            </a:r>
            <a:r>
              <a:rPr lang="en-US" sz="1200" b="0" i="0" kern="1200" dirty="0">
                <a:solidFill>
                  <a:schemeClr val="tx1"/>
                </a:solidFill>
                <a:effectLst/>
                <a:latin typeface="+mn-lt"/>
                <a:ea typeface="+mn-ea"/>
                <a:cs typeface="+mn-cs"/>
              </a:rPr>
              <a:t>", in which an attacker installs a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on an unattended computer. The envisioned scenario is a maid sneaking into the hotel room where the victims left their hardware.</a:t>
            </a:r>
            <a:r>
              <a:rPr lang="en-US" sz="1200" b="0" i="0" u="none" strike="noStrike" kern="1200" baseline="30000" dirty="0">
                <a:solidFill>
                  <a:schemeClr val="tx1"/>
                </a:solidFill>
                <a:effectLst/>
                <a:latin typeface="+mn-lt"/>
                <a:ea typeface="+mn-ea"/>
                <a:cs typeface="+mn-cs"/>
                <a:hlinkClick r:id="rId21"/>
              </a:rPr>
              <a:t>[36]</a:t>
            </a:r>
            <a:r>
              <a:rPr lang="en-US" sz="1200" b="0" i="0" kern="1200" dirty="0">
                <a:solidFill>
                  <a:schemeClr val="tx1"/>
                </a:solidFill>
                <a:effectLst/>
                <a:latin typeface="+mn-lt"/>
                <a:ea typeface="+mn-ea"/>
                <a:cs typeface="+mn-cs"/>
              </a:rPr>
              <a:t> The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replaces the legitimate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with one under their control. Typically the malware loader persists through the transition to </a:t>
            </a:r>
            <a:r>
              <a:rPr lang="en-US" sz="1200" b="0" i="0" u="none" strike="noStrike" kern="1200" dirty="0">
                <a:solidFill>
                  <a:schemeClr val="tx1"/>
                </a:solidFill>
                <a:effectLst/>
                <a:latin typeface="+mn-lt"/>
                <a:ea typeface="+mn-ea"/>
                <a:cs typeface="+mn-cs"/>
                <a:hlinkClick r:id="rId23" tooltip="Protected mode"/>
              </a:rPr>
              <a:t>protected mode</a:t>
            </a:r>
            <a:r>
              <a:rPr lang="en-US" sz="1200" b="0" i="0" kern="1200" dirty="0">
                <a:solidFill>
                  <a:schemeClr val="tx1"/>
                </a:solidFill>
                <a:effectLst/>
                <a:latin typeface="+mn-lt"/>
                <a:ea typeface="+mn-ea"/>
                <a:cs typeface="+mn-cs"/>
              </a:rPr>
              <a:t> when the kernel has loaded, and is thus able to subvert the kernel.</a:t>
            </a:r>
            <a:r>
              <a:rPr lang="en-US" sz="1200" b="0" i="0" u="none" strike="noStrike" kern="1200" baseline="30000" dirty="0">
                <a:solidFill>
                  <a:schemeClr val="tx1"/>
                </a:solidFill>
                <a:effectLst/>
                <a:latin typeface="+mn-lt"/>
                <a:ea typeface="+mn-ea"/>
                <a:cs typeface="+mn-cs"/>
                <a:hlinkClick r:id="rId24"/>
              </a:rPr>
              <a:t>[37]</a:t>
            </a:r>
            <a:r>
              <a:rPr lang="en-US" sz="1200" b="0" i="0" u="none" strike="noStrike" kern="1200" baseline="30000" dirty="0">
                <a:solidFill>
                  <a:schemeClr val="tx1"/>
                </a:solidFill>
                <a:effectLst/>
                <a:latin typeface="+mn-lt"/>
                <a:ea typeface="+mn-ea"/>
                <a:cs typeface="+mn-cs"/>
                <a:hlinkClick r:id="rId25"/>
              </a:rPr>
              <a:t>[38]</a:t>
            </a:r>
            <a:r>
              <a:rPr lang="en-US" sz="1200" b="0" i="0" u="none" strike="noStrike" kern="1200" baseline="30000" dirty="0">
                <a:solidFill>
                  <a:schemeClr val="tx1"/>
                </a:solidFill>
                <a:effectLst/>
                <a:latin typeface="+mn-lt"/>
                <a:ea typeface="+mn-ea"/>
                <a:cs typeface="+mn-cs"/>
                <a:hlinkClick r:id="rId26"/>
              </a:rPr>
              <a:t>[39]</a:t>
            </a:r>
            <a:r>
              <a:rPr lang="en-US" sz="1200" b="0" i="0" kern="1200" dirty="0">
                <a:solidFill>
                  <a:schemeClr val="tx1"/>
                </a:solidFill>
                <a:effectLst/>
                <a:latin typeface="+mn-lt"/>
                <a:ea typeface="+mn-ea"/>
                <a:cs typeface="+mn-cs"/>
              </a:rPr>
              <a:t> For example, the "Stoned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subverts the system by using a compromised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to intercept encryption keys and passwords.</a:t>
            </a:r>
            <a:r>
              <a:rPr lang="en-US" sz="1200" b="0" i="0" u="none" strike="noStrike" kern="1200" baseline="30000" dirty="0">
                <a:solidFill>
                  <a:schemeClr val="tx1"/>
                </a:solidFill>
                <a:effectLst/>
                <a:latin typeface="+mn-lt"/>
                <a:ea typeface="+mn-ea"/>
                <a:cs typeface="+mn-cs"/>
                <a:hlinkClick r:id="rId27"/>
              </a:rPr>
              <a:t>[40]</a:t>
            </a:r>
            <a:r>
              <a:rPr lang="en-US" sz="1200" b="0" i="0" kern="1200" baseline="30000" dirty="0">
                <a:solidFill>
                  <a:schemeClr val="tx1"/>
                </a:solidFill>
                <a:effectLst/>
                <a:latin typeface="+mn-lt"/>
                <a:ea typeface="+mn-ea"/>
                <a:cs typeface="+mn-cs"/>
              </a:rPr>
              <a:t>[</a:t>
            </a:r>
            <a:r>
              <a:rPr lang="en-US" sz="1200" b="0" i="1" u="none" strike="noStrike" kern="1200" baseline="30000" dirty="0">
                <a:solidFill>
                  <a:schemeClr val="tx1"/>
                </a:solidFill>
                <a:effectLst/>
                <a:latin typeface="+mn-lt"/>
                <a:ea typeface="+mn-ea"/>
                <a:cs typeface="+mn-cs"/>
                <a:hlinkClick r:id="rId28" tooltip="Wikipedia:Verifiability"/>
              </a:rPr>
              <a:t>self-published source?</a:t>
            </a:r>
            <a:r>
              <a:rPr lang="en-US" sz="1200" b="0" i="0" kern="1200" baseline="300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More recently, the </a:t>
            </a:r>
            <a:r>
              <a:rPr lang="en-US" sz="1200" b="0" i="0" kern="1200" dirty="0" err="1">
                <a:solidFill>
                  <a:schemeClr val="tx1"/>
                </a:solidFill>
                <a:effectLst/>
                <a:latin typeface="+mn-lt"/>
                <a:ea typeface="+mn-ea"/>
                <a:cs typeface="+mn-cs"/>
              </a:rPr>
              <a:t>Alureon</a:t>
            </a:r>
            <a:r>
              <a:rPr lang="en-US" sz="1200" b="0" i="0" kern="1200" dirty="0">
                <a:solidFill>
                  <a:schemeClr val="tx1"/>
                </a:solidFill>
                <a:effectLst/>
                <a:latin typeface="+mn-lt"/>
                <a:ea typeface="+mn-ea"/>
                <a:cs typeface="+mn-cs"/>
              </a:rPr>
              <a:t> rootkit has successfully subverted the requirement for 64-bit kernel-mode driver signing in </a:t>
            </a:r>
            <a:r>
              <a:rPr lang="en-US" sz="1200" b="0" i="0" u="none" strike="noStrike" kern="1200" dirty="0">
                <a:solidFill>
                  <a:schemeClr val="tx1"/>
                </a:solidFill>
                <a:effectLst/>
                <a:latin typeface="+mn-lt"/>
                <a:ea typeface="+mn-ea"/>
                <a:cs typeface="+mn-cs"/>
                <a:hlinkClick r:id="rId29" tooltip="Windows 7"/>
              </a:rPr>
              <a:t>Windows 7</a:t>
            </a:r>
            <a:r>
              <a:rPr lang="en-US" sz="1200" b="0" i="0" kern="1200" dirty="0">
                <a:solidFill>
                  <a:schemeClr val="tx1"/>
                </a:solidFill>
                <a:effectLst/>
                <a:latin typeface="+mn-lt"/>
                <a:ea typeface="+mn-ea"/>
                <a:cs typeface="+mn-cs"/>
              </a:rPr>
              <a:t>, by modifying the </a:t>
            </a:r>
            <a:r>
              <a:rPr lang="en-US" sz="1200" b="0" i="0" u="none" strike="noStrike" kern="1200" dirty="0">
                <a:solidFill>
                  <a:schemeClr val="tx1"/>
                </a:solidFill>
                <a:effectLst/>
                <a:latin typeface="+mn-lt"/>
                <a:ea typeface="+mn-ea"/>
                <a:cs typeface="+mn-cs"/>
                <a:hlinkClick r:id="rId30" tooltip="Master boot record"/>
              </a:rPr>
              <a:t>master boot record</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1"/>
              </a:rPr>
              <a:t>[41]</a:t>
            </a:r>
            <a:r>
              <a:rPr lang="en-US" sz="1200" b="0" i="0" kern="1200" dirty="0">
                <a:solidFill>
                  <a:schemeClr val="tx1"/>
                </a:solidFill>
                <a:effectLst/>
                <a:latin typeface="+mn-lt"/>
                <a:ea typeface="+mn-ea"/>
                <a:cs typeface="+mn-cs"/>
              </a:rPr>
              <a:t> Although not malware in the sense of doing something the user doesn't want, certain "Vista Loader" or "Windows Loader" software work in a similar way by injecting an </a:t>
            </a:r>
            <a:r>
              <a:rPr lang="en-US" sz="1200" b="0" i="0" u="none" strike="noStrike" kern="1200" dirty="0">
                <a:solidFill>
                  <a:schemeClr val="tx1"/>
                </a:solidFill>
                <a:effectLst/>
                <a:latin typeface="+mn-lt"/>
                <a:ea typeface="+mn-ea"/>
                <a:cs typeface="+mn-cs"/>
                <a:hlinkClick r:id="rId32" tooltip="Advanced Configuration and Power Interface"/>
              </a:rPr>
              <a:t>ACPI</a:t>
            </a:r>
            <a:r>
              <a:rPr lang="en-US" sz="1200" b="0" i="0" kern="1200" dirty="0">
                <a:solidFill>
                  <a:schemeClr val="tx1"/>
                </a:solidFill>
                <a:effectLst/>
                <a:latin typeface="+mn-lt"/>
                <a:ea typeface="+mn-ea"/>
                <a:cs typeface="+mn-cs"/>
              </a:rPr>
              <a:t> SLIC (System Licensed Internal Code) table in the RAM-cached version of the BIOS during boot, in order to defeat the </a:t>
            </a:r>
            <a:r>
              <a:rPr lang="en-US" sz="1200" b="0" i="0" u="none" strike="noStrike" kern="1200" dirty="0">
                <a:solidFill>
                  <a:schemeClr val="tx1"/>
                </a:solidFill>
                <a:effectLst/>
                <a:latin typeface="+mn-lt"/>
                <a:ea typeface="+mn-ea"/>
                <a:cs typeface="+mn-cs"/>
                <a:hlinkClick r:id="rId33" tooltip="Microsoft Product Activation"/>
              </a:rPr>
              <a:t>Windows Vista and Windows 7 activation process</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4"/>
              </a:rPr>
              <a:t>[42]</a:t>
            </a:r>
            <a:r>
              <a:rPr lang="en-US" sz="1200" b="0" i="0" u="none" strike="noStrike" kern="1200" baseline="30000" dirty="0">
                <a:solidFill>
                  <a:schemeClr val="tx1"/>
                </a:solidFill>
                <a:effectLst/>
                <a:latin typeface="+mn-lt"/>
                <a:ea typeface="+mn-ea"/>
                <a:cs typeface="+mn-cs"/>
                <a:hlinkClick r:id="rId35"/>
              </a:rPr>
              <a:t>[43]</a:t>
            </a:r>
            <a:r>
              <a:rPr lang="en-US" sz="1200" b="0" i="0" kern="1200" dirty="0">
                <a:solidFill>
                  <a:schemeClr val="tx1"/>
                </a:solidFill>
                <a:effectLst/>
                <a:latin typeface="+mn-lt"/>
                <a:ea typeface="+mn-ea"/>
                <a:cs typeface="+mn-cs"/>
              </a:rPr>
              <a:t> This vector of attack was rendered useless in the (non-server) versions of </a:t>
            </a:r>
            <a:r>
              <a:rPr lang="en-US" sz="1200" b="0" i="0" u="none" strike="noStrike" kern="1200" dirty="0">
                <a:solidFill>
                  <a:schemeClr val="tx1"/>
                </a:solidFill>
                <a:effectLst/>
                <a:latin typeface="+mn-lt"/>
                <a:ea typeface="+mn-ea"/>
                <a:cs typeface="+mn-cs"/>
                <a:hlinkClick r:id="rId36" tooltip="Windows 8"/>
              </a:rPr>
              <a:t>Windows 8</a:t>
            </a:r>
            <a:r>
              <a:rPr lang="en-US" sz="1200" b="0" i="0" kern="1200" dirty="0">
                <a:solidFill>
                  <a:schemeClr val="tx1"/>
                </a:solidFill>
                <a:effectLst/>
                <a:latin typeface="+mn-lt"/>
                <a:ea typeface="+mn-ea"/>
                <a:cs typeface="+mn-cs"/>
              </a:rPr>
              <a:t>, which use a unique, machine-specific key for each system, that can only be used by that one machine.</a:t>
            </a:r>
            <a:r>
              <a:rPr lang="en-US" sz="1200" b="0" i="0" u="none" strike="noStrike" kern="1200" baseline="30000" dirty="0">
                <a:solidFill>
                  <a:schemeClr val="tx1"/>
                </a:solidFill>
                <a:effectLst/>
                <a:latin typeface="+mn-lt"/>
                <a:ea typeface="+mn-ea"/>
                <a:cs typeface="+mn-cs"/>
                <a:hlinkClick r:id="rId37"/>
              </a:rPr>
              <a:t>[44]</a:t>
            </a:r>
            <a:r>
              <a:rPr lang="en-US" sz="1200" b="0" i="0" kern="1200" dirty="0">
                <a:solidFill>
                  <a:schemeClr val="tx1"/>
                </a:solidFill>
                <a:effectLst/>
                <a:latin typeface="+mn-lt"/>
                <a:ea typeface="+mn-ea"/>
                <a:cs typeface="+mn-cs"/>
              </a:rPr>
              <a:t> Many antivirus companies provide free utilities and programs to remove </a:t>
            </a:r>
            <a:r>
              <a:rPr lang="en-US" sz="1200" b="0" i="0" kern="1200" dirty="0" err="1">
                <a:solidFill>
                  <a:schemeClr val="tx1"/>
                </a:solidFill>
                <a:effectLst/>
                <a:latin typeface="+mn-lt"/>
                <a:ea typeface="+mn-ea"/>
                <a:cs typeface="+mn-cs"/>
              </a:rPr>
              <a:t>bootkits</a:t>
            </a:r>
            <a:r>
              <a:rPr lang="en-US" sz="1200" b="0" i="0" kern="1200" dirty="0">
                <a:solidFill>
                  <a:schemeClr val="tx1"/>
                </a:solidFill>
                <a:effectLst/>
                <a:latin typeface="+mn-lt"/>
                <a:ea typeface="+mn-ea"/>
                <a:cs typeface="+mn-cs"/>
              </a:rPr>
              <a:t>.</a:t>
            </a:r>
          </a:p>
          <a:p>
            <a:endParaRPr lang="en-US" dirty="0"/>
          </a:p>
          <a:p>
            <a:r>
              <a:rPr lang="en-US" dirty="0"/>
              <a:t>https://en.wikipedia.org/wiki/Rootkit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43</a:t>
            </a:fld>
            <a:endParaRPr lang="en-US"/>
          </a:p>
        </p:txBody>
      </p:sp>
    </p:spTree>
    <p:extLst>
      <p:ext uri="{BB962C8B-B14F-4D97-AF65-F5344CB8AC3E}">
        <p14:creationId xmlns:p14="http://schemas.microsoft.com/office/powerpoint/2010/main" val="1812844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Hijacked computers can then be turned into </a:t>
            </a:r>
            <a:r>
              <a:rPr lang="en-US" b="1" dirty="0"/>
              <a:t>zombies</a:t>
            </a:r>
            <a:r>
              <a:rPr lang="en-US" dirty="0"/>
              <a:t>, spread malicious code, </a:t>
            </a:r>
            <a:r>
              <a:rPr lang="en-US" b="1" dirty="0" err="1"/>
              <a:t>DDoS</a:t>
            </a:r>
            <a:r>
              <a:rPr lang="en-US" b="1" dirty="0"/>
              <a:t> attack</a:t>
            </a:r>
            <a:r>
              <a:rPr lang="en-US" dirty="0"/>
              <a:t>.</a:t>
            </a:r>
          </a:p>
          <a:p>
            <a:pPr algn="just"/>
            <a:r>
              <a:rPr lang="en-US" dirty="0" err="1"/>
              <a:t>DDoS</a:t>
            </a:r>
            <a:r>
              <a:rPr lang="en-US" dirty="0"/>
              <a:t> stands for “distributed denial of service”, and is basically the use of many computers to swamp a targeted website so that it cannot operate.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45</a:t>
            </a:fld>
            <a:endParaRPr lang="en-US"/>
          </a:p>
        </p:txBody>
      </p:sp>
    </p:spTree>
    <p:extLst>
      <p:ext uri="{BB962C8B-B14F-4D97-AF65-F5344CB8AC3E}">
        <p14:creationId xmlns:p14="http://schemas.microsoft.com/office/powerpoint/2010/main" val="4256960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Theft of Telecommunications Services </a:t>
            </a:r>
          </a:p>
          <a:p>
            <a:endParaRPr lang="en-US" dirty="0"/>
          </a:p>
          <a:p>
            <a:r>
              <a:rPr lang="en-US" dirty="0"/>
              <a:t>Increasing applications for mobile computing Extension of the desktop &amp; notebooks</a:t>
            </a:r>
          </a:p>
          <a:p>
            <a:r>
              <a:rPr lang="en-US" dirty="0"/>
              <a:t>Worldwide ‘app’ download was reached to 28.7 billion in 2014 </a:t>
            </a:r>
          </a:p>
          <a:p>
            <a:pPr marL="0" indent="0">
              <a:buNone/>
            </a:pPr>
            <a:r>
              <a:rPr lang="en-US" dirty="0"/>
              <a:t>• Increasing capabilities of mobile devices, High     Definition Camera, massive amounts of storage</a:t>
            </a:r>
          </a:p>
          <a:p>
            <a:pPr marL="0" indent="0">
              <a:buNone/>
            </a:pPr>
            <a:r>
              <a:rPr lang="en-US" dirty="0"/>
              <a:t> • 1.6 billion smartphones users by end 2013</a:t>
            </a:r>
          </a:p>
          <a:p>
            <a:pPr algn="just"/>
            <a:r>
              <a:rPr lang="en-US" dirty="0"/>
              <a:t>The "phone </a:t>
            </a:r>
            <a:r>
              <a:rPr lang="en-US" dirty="0" err="1"/>
              <a:t>phreakers</a:t>
            </a:r>
            <a:r>
              <a:rPr lang="en-US" dirty="0"/>
              <a:t>" of three decades ago set a precedent for what has become a major criminal industry.</a:t>
            </a:r>
          </a:p>
          <a:p>
            <a:pPr algn="just"/>
            <a:endParaRPr lang="en-US" dirty="0"/>
          </a:p>
          <a:p>
            <a:pPr algn="just"/>
            <a:r>
              <a:rPr lang="en-US" dirty="0"/>
              <a:t>Gaining access to an organization's telephone switchboard.</a:t>
            </a:r>
          </a:p>
          <a:p>
            <a:pPr algn="just"/>
            <a:endParaRPr lang="en-US" dirty="0"/>
          </a:p>
          <a:p>
            <a:pPr algn="just"/>
            <a:r>
              <a:rPr lang="en-US" dirty="0"/>
              <a:t>Individuals or criminal organizations can obtain access to dial-in/dial-out circuits and then make their own calls or sell call time to third parties</a:t>
            </a:r>
          </a:p>
          <a:p>
            <a:r>
              <a:rPr lang="en-US" dirty="0"/>
              <a:t>It has been suggested that as long ago as 1990, security failures at one major telecommunications carrier cost approximately £290 million only in UK.</a:t>
            </a:r>
          </a:p>
          <a:p>
            <a:r>
              <a:rPr lang="en-US" dirty="0"/>
              <a:t>More recently, up to 5% of total industry turnover has been lost to fraud</a:t>
            </a:r>
          </a:p>
          <a:p>
            <a:r>
              <a:rPr lang="en-US" dirty="0"/>
              <a:t>Hackers in the United States illegally obtained access to Scotland Yard's telephone network and made £620,000 worth of international calls for which Scotland Yard was responsible (</a:t>
            </a:r>
            <a:r>
              <a:rPr lang="en-US" dirty="0" err="1"/>
              <a:t>Tendler</a:t>
            </a:r>
            <a:r>
              <a:rPr lang="en-US" dirty="0"/>
              <a:t> and </a:t>
            </a:r>
            <a:r>
              <a:rPr lang="en-US" dirty="0" err="1"/>
              <a:t>Nuttall</a:t>
            </a:r>
            <a:r>
              <a:rPr lang="en-US" dirty="0"/>
              <a:t> 1996). </a:t>
            </a:r>
          </a:p>
          <a:p>
            <a:endParaRPr lang="en-US" dirty="0"/>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Communications in furtherance of criminal conspiracies</a:t>
            </a:r>
          </a:p>
          <a:p>
            <a:endParaRPr lang="en-US" dirty="0"/>
          </a:p>
          <a:p>
            <a:pPr algn="just"/>
            <a:r>
              <a:rPr lang="en-US" dirty="0" err="1"/>
              <a:t>Organisations</a:t>
            </a:r>
            <a:r>
              <a:rPr lang="en-US" dirty="0"/>
              <a:t> in the private and public sectors rely upon information systems, so too are the activities of criminal </a:t>
            </a:r>
            <a:r>
              <a:rPr lang="en-US" dirty="0" err="1"/>
              <a:t>organisations</a:t>
            </a:r>
            <a:r>
              <a:rPr lang="en-US" dirty="0"/>
              <a:t> enhanced by technology</a:t>
            </a:r>
          </a:p>
          <a:p>
            <a:pPr algn="just"/>
            <a:r>
              <a:rPr lang="en-US" dirty="0"/>
              <a:t>There is evidence of telecommunications equipment being used to facilitate </a:t>
            </a:r>
            <a:r>
              <a:rPr lang="en-US" dirty="0" err="1"/>
              <a:t>organised</a:t>
            </a:r>
            <a:r>
              <a:rPr lang="en-US" dirty="0"/>
              <a:t> drug trafficking, gambling, prostitution, money laundering, and trade in weapons.</a:t>
            </a:r>
          </a:p>
          <a:p>
            <a:pPr algn="just"/>
            <a:r>
              <a:rPr lang="en-US" dirty="0"/>
              <a:t> The use of encryption technology may place criminal communications beyond the reach of law  </a:t>
            </a: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47</a:t>
            </a:fld>
            <a:endParaRPr lang="en-US"/>
          </a:p>
        </p:txBody>
      </p:sp>
    </p:spTree>
    <p:extLst>
      <p:ext uri="{BB962C8B-B14F-4D97-AF65-F5344CB8AC3E}">
        <p14:creationId xmlns:p14="http://schemas.microsoft.com/office/powerpoint/2010/main" val="870346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49</a:t>
            </a:fld>
            <a:endParaRPr lang="en-US"/>
          </a:p>
        </p:txBody>
      </p:sp>
    </p:spTree>
    <p:extLst>
      <p:ext uri="{BB962C8B-B14F-4D97-AF65-F5344CB8AC3E}">
        <p14:creationId xmlns:p14="http://schemas.microsoft.com/office/powerpoint/2010/main" val="2278376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54</a:t>
            </a:fld>
            <a:endParaRPr lang="en-US"/>
          </a:p>
        </p:txBody>
      </p:sp>
    </p:spTree>
    <p:extLst>
      <p:ext uri="{BB962C8B-B14F-4D97-AF65-F5344CB8AC3E}">
        <p14:creationId xmlns:p14="http://schemas.microsoft.com/office/powerpoint/2010/main" val="4294944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64</a:t>
            </a:fld>
            <a:endParaRPr lang="en-US"/>
          </a:p>
        </p:txBody>
      </p:sp>
    </p:spTree>
    <p:extLst>
      <p:ext uri="{BB962C8B-B14F-4D97-AF65-F5344CB8AC3E}">
        <p14:creationId xmlns:p14="http://schemas.microsoft.com/office/powerpoint/2010/main" val="3406478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65</a:t>
            </a:fld>
            <a:endParaRPr lang="en-US"/>
          </a:p>
        </p:txBody>
      </p:sp>
    </p:spTree>
    <p:extLst>
      <p:ext uri="{BB962C8B-B14F-4D97-AF65-F5344CB8AC3E}">
        <p14:creationId xmlns:p14="http://schemas.microsoft.com/office/powerpoint/2010/main" val="3261793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68</a:t>
            </a:fld>
            <a:endParaRPr lang="en-US"/>
          </a:p>
        </p:txBody>
      </p:sp>
    </p:spTree>
    <p:extLst>
      <p:ext uri="{BB962C8B-B14F-4D97-AF65-F5344CB8AC3E}">
        <p14:creationId xmlns:p14="http://schemas.microsoft.com/office/powerpoint/2010/main" val="2282152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cap="all" dirty="0">
                <a:solidFill>
                  <a:schemeClr val="tx1"/>
                </a:solidFill>
                <a:effectLst/>
                <a:latin typeface="+mn-lt"/>
                <a:ea typeface="+mn-ea"/>
                <a:cs typeface="+mn-cs"/>
              </a:rPr>
              <a:t>ACHIEVEMENTS</a:t>
            </a:r>
          </a:p>
          <a:p>
            <a:pPr lvl="1"/>
            <a:r>
              <a:rPr lang="en-US" sz="1200" b="0" i="0" kern="1200" dirty="0">
                <a:solidFill>
                  <a:schemeClr val="tx1"/>
                </a:solidFill>
                <a:effectLst/>
                <a:latin typeface="+mn-lt"/>
                <a:ea typeface="+mn-ea"/>
                <a:cs typeface="+mn-cs"/>
              </a:rPr>
              <a:t>A huge crackdown on illegal grey traffickers of VOIP setups in 2013 &amp; 2014, whereby 111 successful raids were carried out, averting a loss of 2946 million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per month to Govt. Estimate cost of seized equipment in these cases exceed 5,000 million Rupees</a:t>
            </a:r>
          </a:p>
          <a:p>
            <a:pPr lvl="1"/>
            <a:r>
              <a:rPr lang="en-US" sz="1200" b="0" i="0" kern="1200" dirty="0">
                <a:solidFill>
                  <a:schemeClr val="tx1"/>
                </a:solidFill>
                <a:effectLst/>
                <a:latin typeface="+mn-lt"/>
                <a:ea typeface="+mn-ea"/>
                <a:cs typeface="+mn-cs"/>
              </a:rPr>
              <a:t>Handled complaints related to online defamation, harassment, threats and blackmailing via social networking sites such as Facebook, Twitter</a:t>
            </a:r>
          </a:p>
          <a:p>
            <a:pPr lvl="1"/>
            <a:r>
              <a:rPr lang="en-US" sz="1200" b="0" i="0" kern="1200" dirty="0">
                <a:solidFill>
                  <a:schemeClr val="tx1"/>
                </a:solidFill>
                <a:effectLst/>
                <a:latin typeface="+mn-lt"/>
                <a:ea typeface="+mn-ea"/>
                <a:cs typeface="+mn-cs"/>
              </a:rPr>
              <a:t>NR3C has successfully registered and investigated crimes related to internet frauds &amp; scams, such as Lottery Fraud, Job Scams, Car Fraud, Click Fraud, Internet Marketing Scams</a:t>
            </a:r>
          </a:p>
          <a:p>
            <a:pPr lvl="1"/>
            <a:r>
              <a:rPr lang="en-US" sz="1200" b="0" i="0" kern="1200" dirty="0">
                <a:solidFill>
                  <a:schemeClr val="tx1"/>
                </a:solidFill>
                <a:effectLst/>
                <a:latin typeface="+mn-lt"/>
                <a:ea typeface="+mn-ea"/>
                <a:cs typeface="+mn-cs"/>
              </a:rPr>
              <a:t>Rendered technical facilitation of audio and video forensic analysis in cyber terrorism cases</a:t>
            </a:r>
          </a:p>
          <a:p>
            <a:pPr lvl="1"/>
            <a:r>
              <a:rPr lang="en-US" sz="1200" b="0" i="0" kern="1200" dirty="0">
                <a:solidFill>
                  <a:schemeClr val="tx1"/>
                </a:solidFill>
                <a:effectLst/>
                <a:latin typeface="+mn-lt"/>
                <a:ea typeface="+mn-ea"/>
                <a:cs typeface="+mn-cs"/>
              </a:rPr>
              <a:t>Responded to financial sectors grievances, relating to ATM skimmers, banking frauds, money exchange embezzlements, credit card frauds and e-banking frauds</a:t>
            </a:r>
          </a:p>
          <a:p>
            <a:pPr lvl="1"/>
            <a:r>
              <a:rPr lang="en-US" sz="1200" b="1" i="0" kern="1200" cap="all" dirty="0">
                <a:solidFill>
                  <a:schemeClr val="tx1"/>
                </a:solidFill>
                <a:effectLst/>
                <a:latin typeface="+mn-lt"/>
                <a:ea typeface="+mn-ea"/>
                <a:cs typeface="+mn-cs"/>
              </a:rPr>
              <a:t>AWARENESS AND TRAINING</a:t>
            </a:r>
          </a:p>
          <a:p>
            <a:pPr lvl="1"/>
            <a:r>
              <a:rPr lang="en-US" sz="1200" b="0" i="0" kern="1200" dirty="0">
                <a:solidFill>
                  <a:schemeClr val="tx1"/>
                </a:solidFill>
                <a:effectLst/>
                <a:latin typeface="+mn-lt"/>
                <a:ea typeface="+mn-ea"/>
                <a:cs typeface="+mn-cs"/>
              </a:rPr>
              <a:t>Technical facilitation extended through digital forensic analysis, cyber tracking, digital crime investigation to local law enforcement agencies in cases such as murder, robbery, extortion and many more</a:t>
            </a:r>
          </a:p>
          <a:p>
            <a:pPr lvl="1"/>
            <a:r>
              <a:rPr lang="en-US" sz="1200" b="0" i="0" kern="1200" dirty="0">
                <a:solidFill>
                  <a:schemeClr val="tx1"/>
                </a:solidFill>
                <a:effectLst/>
                <a:latin typeface="+mn-lt"/>
                <a:ea typeface="+mn-ea"/>
                <a:cs typeface="+mn-cs"/>
              </a:rPr>
              <a:t>Technical trainings on cyber crime, digital forensics, information security to law enforcement agencies like IB, ISI, NAB, ANF, Local Police</a:t>
            </a:r>
          </a:p>
          <a:p>
            <a:pPr lvl="1"/>
            <a:r>
              <a:rPr lang="en-US" sz="1200" b="0" i="0" kern="1200" dirty="0">
                <a:solidFill>
                  <a:schemeClr val="tx1"/>
                </a:solidFill>
                <a:effectLst/>
                <a:latin typeface="+mn-lt"/>
                <a:ea typeface="+mn-ea"/>
                <a:cs typeface="+mn-cs"/>
              </a:rPr>
              <a:t>Conducted awareness workshops and seminars at various academic institutes and organizations</a:t>
            </a:r>
          </a:p>
          <a:p>
            <a:pPr lvl="1"/>
            <a:r>
              <a:rPr lang="en-US" sz="1200" b="0" i="0" kern="1200" dirty="0">
                <a:solidFill>
                  <a:schemeClr val="tx1"/>
                </a:solidFill>
                <a:effectLst/>
                <a:latin typeface="+mn-lt"/>
                <a:ea typeface="+mn-ea"/>
                <a:cs typeface="+mn-cs"/>
              </a:rPr>
              <a:t>Trainings imparted on digital forensic comprehension for interpreting forensic reports, evidence extraction methods, laws application to judicial community</a:t>
            </a:r>
          </a:p>
          <a:p>
            <a:pPr lvl="1"/>
            <a:r>
              <a:rPr lang="en-US" sz="1200" b="0" i="0" kern="1200" dirty="0">
                <a:solidFill>
                  <a:schemeClr val="tx1"/>
                </a:solidFill>
                <a:effectLst/>
                <a:latin typeface="+mn-lt"/>
                <a:ea typeface="+mn-ea"/>
                <a:cs typeface="+mn-cs"/>
              </a:rPr>
              <a:t>12, 458 individuals from all walks of life have been trained by NR3C to serve the purpose of cyber crime mitigation</a:t>
            </a:r>
          </a:p>
          <a:p>
            <a:r>
              <a:rPr lang="en-US" sz="1200" b="1" i="0" kern="1200" cap="all" dirty="0">
                <a:solidFill>
                  <a:schemeClr val="tx1"/>
                </a:solidFill>
                <a:effectLst/>
                <a:latin typeface="+mn-lt"/>
                <a:ea typeface="+mn-ea"/>
                <a:cs typeface="+mn-cs"/>
              </a:rPr>
              <a:t>RESEARCH AND DEVELOPMENTS</a:t>
            </a:r>
          </a:p>
          <a:p>
            <a:pPr lvl="1"/>
            <a:r>
              <a:rPr lang="en-US" sz="1200" b="0" i="0" kern="1200" dirty="0">
                <a:solidFill>
                  <a:schemeClr val="tx1"/>
                </a:solidFill>
                <a:effectLst/>
                <a:latin typeface="+mn-lt"/>
                <a:ea typeface="+mn-ea"/>
                <a:cs typeface="+mn-cs"/>
              </a:rPr>
              <a:t>Developed LEAD "Live Evidence Acquisition Dongle" a forensic tool </a:t>
            </a:r>
            <a:r>
              <a:rPr lang="en-US" sz="1200" b="0" i="0" kern="1200" dirty="0" err="1">
                <a:solidFill>
                  <a:schemeClr val="tx1"/>
                </a:solidFill>
                <a:effectLst/>
                <a:latin typeface="+mn-lt"/>
                <a:ea typeface="+mn-ea"/>
                <a:cs typeface="+mn-cs"/>
              </a:rPr>
              <a:t>toextract</a:t>
            </a:r>
            <a:r>
              <a:rPr lang="en-US" sz="1200" b="0" i="0" kern="1200" dirty="0">
                <a:solidFill>
                  <a:schemeClr val="tx1"/>
                </a:solidFill>
                <a:effectLst/>
                <a:latin typeface="+mn-lt"/>
                <a:ea typeface="+mn-ea"/>
                <a:cs typeface="+mn-cs"/>
              </a:rPr>
              <a:t> live evidence</a:t>
            </a:r>
          </a:p>
          <a:p>
            <a:pPr lvl="1"/>
            <a:r>
              <a:rPr lang="en-US" sz="1200" b="0" i="0" kern="1200" dirty="0">
                <a:solidFill>
                  <a:schemeClr val="tx1"/>
                </a:solidFill>
                <a:effectLst/>
                <a:latin typeface="+mn-lt"/>
                <a:ea typeface="+mn-ea"/>
                <a:cs typeface="+mn-cs"/>
              </a:rPr>
              <a:t>Developed a tool to help track and identify the location of e-mails originating from unknown source</a:t>
            </a:r>
          </a:p>
          <a:p>
            <a:pPr lvl="1"/>
            <a:r>
              <a:rPr lang="en-US" sz="1200" b="0" i="0" kern="1200" dirty="0">
                <a:solidFill>
                  <a:schemeClr val="tx1"/>
                </a:solidFill>
                <a:effectLst/>
                <a:latin typeface="+mn-lt"/>
                <a:ea typeface="+mn-ea"/>
                <a:cs typeface="+mn-cs"/>
              </a:rPr>
              <a:t>Developed in-house software application for forensic request management</a:t>
            </a:r>
          </a:p>
          <a:p>
            <a:pPr lvl="1"/>
            <a:r>
              <a:rPr lang="en-US" sz="1200" b="0" i="0" kern="1200" dirty="0">
                <a:solidFill>
                  <a:schemeClr val="tx1"/>
                </a:solidFill>
                <a:effectLst/>
                <a:latin typeface="+mn-lt"/>
                <a:ea typeface="+mn-ea"/>
                <a:cs typeface="+mn-cs"/>
              </a:rPr>
              <a:t>Developed in-house software application for complaints management </a:t>
            </a:r>
            <a:r>
              <a:rPr lang="en-US" sz="1200" b="0" i="0" kern="1200" dirty="0" err="1">
                <a:solidFill>
                  <a:schemeClr val="tx1"/>
                </a:solidFill>
                <a:effectLst/>
                <a:latin typeface="+mn-lt"/>
                <a:ea typeface="+mn-ea"/>
                <a:cs typeface="+mn-cs"/>
              </a:rPr>
              <a:t>andtracking</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Contributed a 5 year counter cyber terrorism strategy with NACTA</a:t>
            </a:r>
          </a:p>
          <a:p>
            <a:pPr lvl="1"/>
            <a:r>
              <a:rPr lang="en-US" sz="1200" b="0" i="0" kern="1200" dirty="0">
                <a:solidFill>
                  <a:schemeClr val="tx1"/>
                </a:solidFill>
                <a:effectLst/>
                <a:latin typeface="+mn-lt"/>
                <a:ea typeface="+mn-ea"/>
                <a:cs typeface="+mn-cs"/>
              </a:rPr>
              <a:t>Furnished a report on problems faced by law enforcement agencies to </a:t>
            </a:r>
            <a:r>
              <a:rPr lang="en-US" sz="1200" b="0" i="0" kern="1200" dirty="0" err="1">
                <a:solidFill>
                  <a:schemeClr val="tx1"/>
                </a:solidFill>
                <a:effectLst/>
                <a:latin typeface="+mn-lt"/>
                <a:ea typeface="+mn-ea"/>
                <a:cs typeface="+mn-cs"/>
              </a:rPr>
              <a:t>tracedown</a:t>
            </a:r>
            <a:r>
              <a:rPr lang="en-US" sz="1200" b="0" i="0" kern="1200" dirty="0">
                <a:solidFill>
                  <a:schemeClr val="tx1"/>
                </a:solidFill>
                <a:effectLst/>
                <a:latin typeface="+mn-lt"/>
                <a:ea typeface="+mn-ea"/>
                <a:cs typeface="+mn-cs"/>
              </a:rPr>
              <a:t> the sub-standard mobile phones with same IMEI number</a:t>
            </a:r>
          </a:p>
          <a:p>
            <a:pPr lvl="1"/>
            <a:r>
              <a:rPr lang="en-US" sz="1200" b="0" i="0" kern="1200" dirty="0">
                <a:solidFill>
                  <a:schemeClr val="tx1"/>
                </a:solidFill>
                <a:effectLst/>
                <a:latin typeface="+mn-lt"/>
                <a:ea typeface="+mn-ea"/>
                <a:cs typeface="+mn-cs"/>
              </a:rPr>
              <a:t>Research paper published in Journal of American Science, 2010 on "</a:t>
            </a:r>
            <a:r>
              <a:rPr lang="en-US" sz="1200" b="0" i="0" kern="1200" dirty="0" err="1">
                <a:solidFill>
                  <a:schemeClr val="tx1"/>
                </a:solidFill>
                <a:effectLst/>
                <a:latin typeface="+mn-lt"/>
                <a:ea typeface="+mn-ea"/>
                <a:cs typeface="+mn-cs"/>
              </a:rPr>
              <a:t>DataMining</a:t>
            </a:r>
            <a:r>
              <a:rPr lang="en-US" sz="1200" b="0" i="0" kern="1200" dirty="0">
                <a:solidFill>
                  <a:schemeClr val="tx1"/>
                </a:solidFill>
                <a:effectLst/>
                <a:latin typeface="+mn-lt"/>
                <a:ea typeface="+mn-ea"/>
                <a:cs typeface="+mn-cs"/>
              </a:rPr>
              <a:t> Methodology in Perspective of Manufacturing Databases".</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69</a:t>
            </a:fld>
            <a:endParaRPr lang="en-US"/>
          </a:p>
        </p:txBody>
      </p:sp>
    </p:spTree>
    <p:extLst>
      <p:ext uri="{BB962C8B-B14F-4D97-AF65-F5344CB8AC3E}">
        <p14:creationId xmlns:p14="http://schemas.microsoft.com/office/powerpoint/2010/main" val="2422772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0CBA4C-B865-4DFC-B1FA-2F97375B677B}" type="datetimeFigureOut">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01420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30980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CBA4C-B865-4DFC-B1FA-2F97375B677B}" type="datetimeFigureOut">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66160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CBA4C-B865-4DFC-B1FA-2F97375B677B}" type="datetimeFigureOut">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171687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0CBA4C-B865-4DFC-B1FA-2F97375B677B}" type="datetimeFigureOut">
              <a:rPr lang="en-US" smtClean="0"/>
              <a:t>5/15/2023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0659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0CBA4C-B865-4DFC-B1FA-2F97375B677B}" type="datetimeFigureOut">
              <a:rPr lang="en-US" smtClean="0"/>
              <a:t>5/15/2023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849698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CBA4C-B865-4DFC-B1FA-2F97375B677B}" type="datetimeFigureOut">
              <a:rPr lang="en-US" smtClean="0"/>
              <a:t>5/15/2023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627499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974735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5/15/2023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99078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15114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5/15/2023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05145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0CBA4C-B865-4DFC-B1FA-2F97375B677B}" type="datetimeFigureOut">
              <a:rPr lang="en-US" smtClean="0"/>
              <a:t>5/15/2023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1ED5F1-6B1A-43FE-B6FF-095DA074FA02}" type="slidenum">
              <a:rPr lang="en-US" smtClean="0"/>
              <a:t>‹#›</a:t>
            </a:fld>
            <a:endParaRPr lang="en-US"/>
          </a:p>
        </p:txBody>
      </p:sp>
    </p:spTree>
    <p:extLst>
      <p:ext uri="{BB962C8B-B14F-4D97-AF65-F5344CB8AC3E}">
        <p14:creationId xmlns:p14="http://schemas.microsoft.com/office/powerpoint/2010/main" val="50650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www.nr3c.gov.pk/law.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Cyber Crimes</a:t>
            </a:r>
          </a:p>
        </p:txBody>
      </p:sp>
      <p:sp>
        <p:nvSpPr>
          <p:cNvPr id="3" name="Subtitle 2"/>
          <p:cNvSpPr>
            <a:spLocks noGrp="1"/>
          </p:cNvSpPr>
          <p:nvPr>
            <p:ph type="subTitle" idx="1"/>
          </p:nvPr>
        </p:nvSpPr>
        <p:spPr/>
        <p:txBody>
          <a:bodyPr/>
          <a:lstStyle/>
          <a:p>
            <a:endParaRPr lang="en-US" dirty="0"/>
          </a:p>
        </p:txBody>
      </p:sp>
      <p:grpSp>
        <p:nvGrpSpPr>
          <p:cNvPr id="7" name="Group 6"/>
          <p:cNvGrpSpPr/>
          <p:nvPr/>
        </p:nvGrpSpPr>
        <p:grpSpPr>
          <a:xfrm>
            <a:off x="1524000" y="32708"/>
            <a:ext cx="10668000" cy="6906255"/>
            <a:chOff x="1524000" y="32708"/>
            <a:chExt cx="10668000" cy="6906255"/>
          </a:xfrm>
        </p:grpSpPr>
        <p:sp>
          <p:nvSpPr>
            <p:cNvPr id="4" name="object 2"/>
            <p:cNvSpPr/>
            <p:nvPr/>
          </p:nvSpPr>
          <p:spPr>
            <a:xfrm>
              <a:off x="1524000" y="80963"/>
              <a:ext cx="9144000" cy="6858000"/>
            </a:xfrm>
            <a:prstGeom prst="rect">
              <a:avLst/>
            </a:prstGeom>
            <a:blipFill>
              <a:blip r:embed="rId3" cstate="print"/>
              <a:stretch>
                <a:fillRect/>
              </a:stretch>
            </a:blipFill>
          </p:spPr>
          <p:txBody>
            <a:bodyPr wrap="square" lIns="0" tIns="0" rIns="0" bIns="0" rtlCol="0"/>
            <a:lstStyle/>
            <a:p>
              <a:endParaRPr/>
            </a:p>
          </p:txBody>
        </p:sp>
        <p:sp>
          <p:nvSpPr>
            <p:cNvPr id="5" name="Rectangle 4"/>
            <p:cNvSpPr/>
            <p:nvPr/>
          </p:nvSpPr>
          <p:spPr>
            <a:xfrm>
              <a:off x="1941534" y="6239818"/>
              <a:ext cx="8726466" cy="369332"/>
            </a:xfrm>
            <a:prstGeom prst="rect">
              <a:avLst/>
            </a:prstGeom>
          </p:spPr>
          <p:txBody>
            <a:bodyPr wrap="square">
              <a:spAutoFit/>
            </a:bodyPr>
            <a:lstStyle/>
            <a:p>
              <a:r>
                <a:rPr lang="en-US" b="1" i="1" spc="-85" dirty="0">
                  <a:solidFill>
                    <a:srgbClr val="FF0000"/>
                  </a:solidFill>
                  <a:latin typeface="Comic Sans MS"/>
                  <a:cs typeface="Comic Sans MS"/>
                </a:rPr>
                <a:t>Crimes are </a:t>
              </a:r>
              <a:r>
                <a:rPr lang="en-US" b="1" i="1" spc="-80" dirty="0">
                  <a:solidFill>
                    <a:srgbClr val="FF0000"/>
                  </a:solidFill>
                  <a:latin typeface="Comic Sans MS"/>
                  <a:cs typeface="Comic Sans MS"/>
                </a:rPr>
                <a:t>not to </a:t>
              </a:r>
              <a:r>
                <a:rPr lang="en-US" b="1" i="1" spc="-95" dirty="0">
                  <a:solidFill>
                    <a:srgbClr val="FF0000"/>
                  </a:solidFill>
                  <a:latin typeface="Comic Sans MS"/>
                  <a:cs typeface="Comic Sans MS"/>
                </a:rPr>
                <a:t>be measured by </a:t>
              </a:r>
              <a:r>
                <a:rPr lang="en-US" b="1" i="1" spc="-90" dirty="0">
                  <a:solidFill>
                    <a:srgbClr val="FF0000"/>
                  </a:solidFill>
                  <a:latin typeface="Comic Sans MS"/>
                  <a:cs typeface="Comic Sans MS"/>
                </a:rPr>
                <a:t>the </a:t>
              </a:r>
              <a:r>
                <a:rPr lang="en-US" b="1" i="1" spc="-80" dirty="0">
                  <a:solidFill>
                    <a:srgbClr val="FF0000"/>
                  </a:solidFill>
                  <a:latin typeface="Comic Sans MS"/>
                  <a:cs typeface="Comic Sans MS"/>
                </a:rPr>
                <a:t>issue of </a:t>
              </a:r>
              <a:r>
                <a:rPr lang="en-US" b="1" spc="-85" dirty="0">
                  <a:solidFill>
                    <a:srgbClr val="FF0000"/>
                  </a:solidFill>
                  <a:latin typeface="Comic Sans MS"/>
                  <a:cs typeface="Comic Sans MS"/>
                </a:rPr>
                <a:t>events, but </a:t>
              </a:r>
              <a:r>
                <a:rPr lang="en-US" b="1" spc="-95" dirty="0">
                  <a:solidFill>
                    <a:srgbClr val="FF0000"/>
                  </a:solidFill>
                  <a:latin typeface="Comic Sans MS"/>
                  <a:cs typeface="Comic Sans MS"/>
                </a:rPr>
                <a:t>by </a:t>
              </a:r>
              <a:r>
                <a:rPr lang="en-US" b="1" spc="-90" dirty="0">
                  <a:solidFill>
                    <a:srgbClr val="FF0000"/>
                  </a:solidFill>
                  <a:latin typeface="Comic Sans MS"/>
                  <a:cs typeface="Comic Sans MS"/>
                </a:rPr>
                <a:t>the </a:t>
              </a:r>
              <a:r>
                <a:rPr lang="en-US" b="1" spc="-95" dirty="0">
                  <a:solidFill>
                    <a:srgbClr val="FF0000"/>
                  </a:solidFill>
                  <a:latin typeface="Comic Sans MS"/>
                  <a:cs typeface="Comic Sans MS"/>
                </a:rPr>
                <a:t>bad </a:t>
              </a:r>
              <a:r>
                <a:rPr lang="en-US" b="1" spc="-80" dirty="0">
                  <a:solidFill>
                    <a:srgbClr val="FF0000"/>
                  </a:solidFill>
                  <a:latin typeface="Comic Sans MS"/>
                  <a:cs typeface="Comic Sans MS"/>
                </a:rPr>
                <a:t>intensions</a:t>
              </a:r>
              <a:r>
                <a:rPr lang="en-US" b="1" spc="-90" dirty="0">
                  <a:solidFill>
                    <a:srgbClr val="FF0000"/>
                  </a:solidFill>
                  <a:latin typeface="Comic Sans MS"/>
                  <a:cs typeface="Comic Sans MS"/>
                </a:rPr>
                <a:t>.</a:t>
              </a:r>
              <a:endParaRPr lang="en-US" dirty="0">
                <a:solidFill>
                  <a:srgbClr val="FF0000"/>
                </a:solidFill>
              </a:endParaRPr>
            </a:p>
          </p:txBody>
        </p:sp>
        <p:sp>
          <p:nvSpPr>
            <p:cNvPr id="6" name="object 5"/>
            <p:cNvSpPr/>
            <p:nvPr/>
          </p:nvSpPr>
          <p:spPr>
            <a:xfrm>
              <a:off x="9585199" y="32708"/>
              <a:ext cx="2606801" cy="2348862"/>
            </a:xfrm>
            <a:prstGeom prst="rect">
              <a:avLst/>
            </a:prstGeom>
            <a:blipFill>
              <a:blip r:embed="rId4"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49667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p:txBody>
          <a:bodyPr>
            <a:normAutofit fontScale="92500" lnSpcReduction="10000"/>
          </a:bodyPr>
          <a:lstStyle/>
          <a:p>
            <a:pPr algn="just"/>
            <a:r>
              <a:rPr lang="en-US" dirty="0"/>
              <a:t>Term ‘</a:t>
            </a:r>
            <a:r>
              <a:rPr lang="en-US" dirty="0">
                <a:solidFill>
                  <a:srgbClr val="FF0000"/>
                </a:solidFill>
              </a:rPr>
              <a:t>Crime</a:t>
            </a:r>
            <a:r>
              <a:rPr lang="en-US" dirty="0"/>
              <a:t>’ is defined as an act, which may leads to  legal punishment or any offence against morality, social order or any  unjust or shameful act. </a:t>
            </a:r>
          </a:p>
          <a:p>
            <a:pPr algn="just"/>
            <a:r>
              <a:rPr lang="en-US" dirty="0"/>
              <a:t>The “</a:t>
            </a:r>
            <a:r>
              <a:rPr lang="en-US" dirty="0">
                <a:solidFill>
                  <a:srgbClr val="FFC000"/>
                </a:solidFill>
              </a:rPr>
              <a:t>Offence</a:t>
            </a:r>
            <a:r>
              <a:rPr lang="en-US" dirty="0"/>
              <a:t>" is defined in the Code of  Criminal Procedure to mean as an act or omission made punishable by  any law for the time being in force.</a:t>
            </a:r>
          </a:p>
          <a:p>
            <a:pPr algn="just"/>
            <a:r>
              <a:rPr lang="en-US" dirty="0"/>
              <a:t>Cyber Crimes involve cyber technologies.</a:t>
            </a:r>
          </a:p>
          <a:p>
            <a:pPr algn="just"/>
            <a:r>
              <a:rPr lang="en-US" dirty="0"/>
              <a:t>Modern business process is done through utilizing computer software and hardware, i.e. some form of computer system is used in it. </a:t>
            </a:r>
          </a:p>
          <a:p>
            <a:pPr algn="just"/>
            <a:r>
              <a:rPr lang="en-US" dirty="0"/>
              <a:t>There has been a sharp rise in the number of crimes involving computing; and the Internet has undoubtedly created new security risks.</a:t>
            </a:r>
          </a:p>
          <a:p>
            <a:pPr algn="just"/>
            <a:r>
              <a:rPr lang="en-US" dirty="0"/>
              <a:t>Cyber Crime is emerging as a serious threat World wide.</a:t>
            </a:r>
          </a:p>
          <a:p>
            <a:pPr algn="just"/>
            <a:r>
              <a:rPr lang="en-US" dirty="0"/>
              <a:t>Law enforcing agencies and intelligence units have started  to react.</a:t>
            </a:r>
          </a:p>
          <a:p>
            <a:pPr algn="just"/>
            <a:endParaRPr lang="en-US" dirty="0"/>
          </a:p>
        </p:txBody>
      </p:sp>
    </p:spTree>
    <p:extLst>
      <p:ext uri="{BB962C8B-B14F-4D97-AF65-F5344CB8AC3E}">
        <p14:creationId xmlns:p14="http://schemas.microsoft.com/office/powerpoint/2010/main" val="333393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4" name="object 2"/>
          <p:cNvSpPr>
            <a:spLocks noGrp="1"/>
          </p:cNvSpPr>
          <p:nvPr>
            <p:ph idx="1"/>
          </p:nvPr>
        </p:nvSpPr>
        <p:spPr>
          <a:prstGeom prst="rect">
            <a:avLst/>
          </a:prstGeom>
          <a:blipFill>
            <a:blip r:embed="rId3"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143096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lstStyle/>
          <a:p>
            <a:pPr algn="just"/>
            <a:r>
              <a:rPr lang="en-US" dirty="0"/>
              <a:t>Any activity commissioned via </a:t>
            </a:r>
            <a:r>
              <a:rPr lang="en-US" i="1" dirty="0"/>
              <a:t>computer</a:t>
            </a:r>
            <a:r>
              <a:rPr lang="en-US" dirty="0"/>
              <a:t>, </a:t>
            </a:r>
            <a:r>
              <a:rPr lang="en-US" i="1" dirty="0"/>
              <a:t>digital devices </a:t>
            </a:r>
            <a:r>
              <a:rPr lang="en-US" dirty="0"/>
              <a:t>and </a:t>
            </a:r>
            <a:r>
              <a:rPr lang="en-US" i="1" dirty="0"/>
              <a:t>networks</a:t>
            </a:r>
            <a:r>
              <a:rPr lang="en-US" dirty="0"/>
              <a:t> used in the cyber realm, and is facilitated through the internet medium. </a:t>
            </a:r>
          </a:p>
          <a:p>
            <a:pPr algn="just"/>
            <a:r>
              <a:rPr lang="en-US" dirty="0"/>
              <a:t>It can include the distant theft of information belonging to an individual, government or corporate sector through criminal tress-passing into unauthorized remote systems around the world. </a:t>
            </a:r>
          </a:p>
          <a:p>
            <a:pPr algn="just"/>
            <a:r>
              <a:rPr lang="en-US" dirty="0"/>
              <a:t>It includes from stealing millions of rupees from online bank to harassing and stalking cyber users.</a:t>
            </a:r>
          </a:p>
        </p:txBody>
      </p:sp>
    </p:spTree>
    <p:extLst>
      <p:ext uri="{BB962C8B-B14F-4D97-AF65-F5344CB8AC3E}">
        <p14:creationId xmlns:p14="http://schemas.microsoft.com/office/powerpoint/2010/main" val="2285527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normAutofit lnSpcReduction="10000"/>
          </a:bodyPr>
          <a:lstStyle/>
          <a:p>
            <a:pPr algn="just"/>
            <a:r>
              <a:rPr lang="en-US" dirty="0"/>
              <a:t>Computer crime mainly consists of unauthorized access to computer systems, data  alteration, data destruction, theft of intellectual property. </a:t>
            </a:r>
          </a:p>
          <a:p>
            <a:pPr algn="just"/>
            <a:r>
              <a:rPr lang="en-US" dirty="0"/>
              <a:t>Cyber crime in the context  of national security may involve hacking, traditional espionage, or information  warfare and related activities.</a:t>
            </a:r>
          </a:p>
          <a:p>
            <a:pPr algn="just"/>
            <a:r>
              <a:rPr lang="en-US" dirty="0"/>
              <a:t>It also includes sending viruses on different systems, or posting defamation messages. </a:t>
            </a:r>
          </a:p>
          <a:p>
            <a:pPr algn="just"/>
            <a:r>
              <a:rPr lang="en-US" dirty="0"/>
              <a:t>Commission of cyber crime can be:</a:t>
            </a:r>
          </a:p>
          <a:p>
            <a:pPr lvl="1" algn="just"/>
            <a:r>
              <a:rPr lang="en-US" dirty="0"/>
              <a:t>The computer as a target-attacking the computers (e.g. spreading viruses etc.)</a:t>
            </a:r>
          </a:p>
          <a:p>
            <a:pPr lvl="1" algn="just"/>
            <a:r>
              <a:rPr lang="en-US" dirty="0"/>
              <a:t>The computer as a weapon-to commits fraud or illegal gambling</a:t>
            </a:r>
          </a:p>
          <a:p>
            <a:pPr lvl="1" algn="just"/>
            <a:r>
              <a:rPr lang="en-US" dirty="0"/>
              <a:t>The computer as an accessory- to store illegal or stolen information</a:t>
            </a:r>
          </a:p>
          <a:p>
            <a:pPr algn="just"/>
            <a:endParaRPr lang="en-US" dirty="0"/>
          </a:p>
        </p:txBody>
      </p:sp>
    </p:spTree>
    <p:extLst>
      <p:ext uri="{BB962C8B-B14F-4D97-AF65-F5344CB8AC3E}">
        <p14:creationId xmlns:p14="http://schemas.microsoft.com/office/powerpoint/2010/main" val="1751516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Facts</a:t>
            </a:r>
          </a:p>
        </p:txBody>
      </p:sp>
      <p:sp>
        <p:nvSpPr>
          <p:cNvPr id="3" name="Content Placeholder 2"/>
          <p:cNvSpPr>
            <a:spLocks noGrp="1"/>
          </p:cNvSpPr>
          <p:nvPr>
            <p:ph idx="1"/>
          </p:nvPr>
        </p:nvSpPr>
        <p:spPr/>
        <p:txBody>
          <a:bodyPr/>
          <a:lstStyle/>
          <a:p>
            <a:pPr algn="just"/>
            <a:r>
              <a:rPr lang="en-US" dirty="0"/>
              <a:t>Cyber crime has now beaten illegal drug marketing as a criminal moneymaker</a:t>
            </a:r>
          </a:p>
          <a:p>
            <a:pPr algn="just"/>
            <a:r>
              <a:rPr lang="en-US" dirty="0"/>
              <a:t>Somebody’s identity is stolen every </a:t>
            </a:r>
            <a:r>
              <a:rPr lang="en-US" dirty="0">
                <a:solidFill>
                  <a:srgbClr val="FF0000"/>
                </a:solidFill>
              </a:rPr>
              <a:t>Three seconds </a:t>
            </a:r>
            <a:r>
              <a:rPr lang="en-US" dirty="0"/>
              <a:t>as a result of cyber crime.</a:t>
            </a:r>
          </a:p>
          <a:p>
            <a:pPr algn="just"/>
            <a:r>
              <a:rPr lang="en-US" dirty="0"/>
              <a:t>Without a sophisticated security package, your unprotected PC can become infected within </a:t>
            </a:r>
            <a:r>
              <a:rPr lang="en-US" dirty="0">
                <a:solidFill>
                  <a:srgbClr val="00B0F0"/>
                </a:solidFill>
              </a:rPr>
              <a:t>four minutes </a:t>
            </a:r>
            <a:r>
              <a:rPr lang="en-US" dirty="0"/>
              <a:t>of connecting to the Internet.</a:t>
            </a:r>
          </a:p>
        </p:txBody>
      </p:sp>
    </p:spTree>
    <p:extLst>
      <p:ext uri="{BB962C8B-B14F-4D97-AF65-F5344CB8AC3E}">
        <p14:creationId xmlns:p14="http://schemas.microsoft.com/office/powerpoint/2010/main" val="14406101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Online Activities</a:t>
            </a:r>
          </a:p>
        </p:txBody>
      </p:sp>
      <p:sp>
        <p:nvSpPr>
          <p:cNvPr id="3" name="Content Placeholder 2"/>
          <p:cNvSpPr>
            <a:spLocks noGrp="1"/>
          </p:cNvSpPr>
          <p:nvPr>
            <p:ph idx="1"/>
          </p:nvPr>
        </p:nvSpPr>
        <p:spPr/>
        <p:txBody>
          <a:bodyPr>
            <a:normAutofit fontScale="77500" lnSpcReduction="20000"/>
          </a:bodyPr>
          <a:lstStyle/>
          <a:p>
            <a:r>
              <a:rPr lang="en-US" dirty="0"/>
              <a:t>Social networking</a:t>
            </a:r>
          </a:p>
          <a:p>
            <a:r>
              <a:rPr lang="en-US" dirty="0"/>
              <a:t>Online banking</a:t>
            </a:r>
          </a:p>
          <a:p>
            <a:r>
              <a:rPr lang="en-US" dirty="0"/>
              <a:t>Internet surfing</a:t>
            </a:r>
          </a:p>
          <a:p>
            <a:r>
              <a:rPr lang="en-US" dirty="0"/>
              <a:t>Audio &amp; video communication</a:t>
            </a:r>
          </a:p>
          <a:p>
            <a:r>
              <a:rPr lang="en-US" dirty="0"/>
              <a:t>Entertainment</a:t>
            </a:r>
          </a:p>
          <a:p>
            <a:r>
              <a:rPr lang="en-US" dirty="0"/>
              <a:t>Online shopping</a:t>
            </a:r>
          </a:p>
          <a:p>
            <a:r>
              <a:rPr lang="en-US" dirty="0"/>
              <a:t>Map directions / GPS</a:t>
            </a:r>
          </a:p>
          <a:p>
            <a:r>
              <a:rPr lang="en-US" dirty="0"/>
              <a:t>Online education</a:t>
            </a:r>
          </a:p>
          <a:p>
            <a:r>
              <a:rPr lang="en-US" dirty="0"/>
              <a:t>Online auction</a:t>
            </a:r>
          </a:p>
          <a:p>
            <a:r>
              <a:rPr lang="en-US" dirty="0"/>
              <a:t>Information sharing</a:t>
            </a:r>
          </a:p>
          <a:p>
            <a:r>
              <a:rPr lang="en-US" dirty="0"/>
              <a:t>Medical assistance</a:t>
            </a:r>
          </a:p>
          <a:p>
            <a:r>
              <a:rPr lang="en-US" dirty="0"/>
              <a:t>Online games</a:t>
            </a:r>
          </a:p>
        </p:txBody>
      </p:sp>
      <p:sp>
        <p:nvSpPr>
          <p:cNvPr id="4" name="Rectangle 3"/>
          <p:cNvSpPr/>
          <p:nvPr/>
        </p:nvSpPr>
        <p:spPr>
          <a:xfrm>
            <a:off x="3599329" y="5942568"/>
            <a:ext cx="8018929" cy="369332"/>
          </a:xfrm>
          <a:prstGeom prst="rect">
            <a:avLst/>
          </a:prstGeom>
        </p:spPr>
        <p:txBody>
          <a:bodyPr wrap="square">
            <a:spAutoFit/>
          </a:bodyPr>
          <a:lstStyle/>
          <a:p>
            <a:r>
              <a:rPr lang="en-US" b="1" dirty="0">
                <a:solidFill>
                  <a:srgbClr val="FF0000"/>
                </a:solidFill>
              </a:rPr>
              <a:t>In Pakistan, internet users range from 10% to 16% of the overall population.</a:t>
            </a:r>
            <a:endParaRPr lang="en-US" b="1" dirty="0"/>
          </a:p>
        </p:txBody>
      </p:sp>
    </p:spTree>
    <p:extLst>
      <p:ext uri="{BB962C8B-B14F-4D97-AF65-F5344CB8AC3E}">
        <p14:creationId xmlns:p14="http://schemas.microsoft.com/office/powerpoint/2010/main" val="5221485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p:nvPr/>
        </p:nvSpPr>
        <p:spPr>
          <a:xfrm>
            <a:off x="4791456" y="365125"/>
            <a:ext cx="7400544" cy="6316219"/>
          </a:xfrm>
          <a:prstGeom prst="rect">
            <a:avLst/>
          </a:prstGeom>
          <a:blipFill>
            <a:blip r:embed="rId3" cstate="print"/>
            <a:stretch>
              <a:fillRect/>
            </a:stretch>
          </a:blipFill>
        </p:spPr>
        <p:txBody>
          <a:bodyPr wrap="square" lIns="0" tIns="0" rIns="0" bIns="0" rtlCol="0"/>
          <a:lstStyle/>
          <a:p>
            <a:endParaRPr/>
          </a:p>
        </p:txBody>
      </p:sp>
      <p:sp>
        <p:nvSpPr>
          <p:cNvPr id="2" name="Title 1"/>
          <p:cNvSpPr>
            <a:spLocks noGrp="1"/>
          </p:cNvSpPr>
          <p:nvPr>
            <p:ph type="title"/>
          </p:nvPr>
        </p:nvSpPr>
        <p:spPr/>
        <p:txBody>
          <a:bodyPr/>
          <a:lstStyle/>
          <a:p>
            <a:r>
              <a:rPr lang="en-US" dirty="0"/>
              <a:t>Common types of Cyber Crimes </a:t>
            </a:r>
          </a:p>
        </p:txBody>
      </p:sp>
      <p:sp>
        <p:nvSpPr>
          <p:cNvPr id="3" name="Content Placeholder 2"/>
          <p:cNvSpPr>
            <a:spLocks noGrp="1"/>
          </p:cNvSpPr>
          <p:nvPr>
            <p:ph idx="1"/>
          </p:nvPr>
        </p:nvSpPr>
        <p:spPr/>
        <p:txBody>
          <a:bodyPr>
            <a:normAutofit fontScale="92500" lnSpcReduction="20000"/>
          </a:bodyPr>
          <a:lstStyle/>
          <a:p>
            <a:r>
              <a:rPr lang="en-US" dirty="0"/>
              <a:t>Frauds (Financial etc.)</a:t>
            </a:r>
          </a:p>
          <a:p>
            <a:r>
              <a:rPr lang="en-US" dirty="0"/>
              <a:t>Hacking</a:t>
            </a:r>
          </a:p>
          <a:p>
            <a:r>
              <a:rPr lang="en-US" dirty="0"/>
              <a:t>Identity theft</a:t>
            </a:r>
          </a:p>
          <a:p>
            <a:r>
              <a:rPr lang="en-US" dirty="0"/>
              <a:t>Cyber Stalking</a:t>
            </a:r>
          </a:p>
          <a:p>
            <a:r>
              <a:rPr lang="en-US" dirty="0"/>
              <a:t>Digital Piracy</a:t>
            </a:r>
          </a:p>
          <a:p>
            <a:r>
              <a:rPr lang="en-US" dirty="0"/>
              <a:t>Malicious Software, Computer viruses and worms</a:t>
            </a:r>
          </a:p>
          <a:p>
            <a:r>
              <a:rPr lang="en-US" dirty="0"/>
              <a:t>Intellectual property rights</a:t>
            </a:r>
          </a:p>
          <a:p>
            <a:r>
              <a:rPr lang="en-US" dirty="0"/>
              <a:t>Money Laundering</a:t>
            </a:r>
          </a:p>
          <a:p>
            <a:r>
              <a:rPr lang="en-US" dirty="0"/>
              <a:t>Denial of Service attack</a:t>
            </a:r>
          </a:p>
          <a:p>
            <a:r>
              <a:rPr lang="en-US" dirty="0"/>
              <a:t>Electronic Terrorism, Vandalism and Extortion</a:t>
            </a:r>
          </a:p>
        </p:txBody>
      </p:sp>
    </p:spTree>
    <p:extLst>
      <p:ext uri="{BB962C8B-B14F-4D97-AF65-F5344CB8AC3E}">
        <p14:creationId xmlns:p14="http://schemas.microsoft.com/office/powerpoint/2010/main" val="25171114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Line Scams/ Frauds</a:t>
            </a:r>
          </a:p>
        </p:txBody>
      </p:sp>
      <p:sp>
        <p:nvSpPr>
          <p:cNvPr id="4" name="object 3"/>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18840454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Misuse Practices</a:t>
            </a:r>
          </a:p>
        </p:txBody>
      </p:sp>
      <p:sp>
        <p:nvSpPr>
          <p:cNvPr id="3" name="Content Placeholder 2"/>
          <p:cNvSpPr>
            <a:spLocks noGrp="1"/>
          </p:cNvSpPr>
          <p:nvPr>
            <p:ph idx="1"/>
          </p:nvPr>
        </p:nvSpPr>
        <p:spPr>
          <a:xfrm>
            <a:off x="838200" y="1825625"/>
            <a:ext cx="5670176" cy="4351338"/>
          </a:xfrm>
        </p:spPr>
        <p:txBody>
          <a:bodyPr>
            <a:normAutofit fontScale="92500" lnSpcReduction="10000"/>
          </a:bodyPr>
          <a:lstStyle/>
          <a:p>
            <a:pPr marL="0" indent="0" algn="just">
              <a:buFont typeface="Wingdings" panose="05000000000000000000" pitchFamily="2" charset="2"/>
              <a:buNone/>
              <a:defRPr/>
            </a:pPr>
            <a:r>
              <a:rPr lang="en-US" sz="2000" dirty="0"/>
              <a:t>Under the study of the English criminal law, the Law Commission  highlighted a number of categories of misuse of computers</a:t>
            </a:r>
          </a:p>
          <a:p>
            <a:pPr algn="just">
              <a:defRPr/>
            </a:pPr>
            <a:r>
              <a:rPr lang="en-US" sz="2000" dirty="0"/>
              <a:t>Computer fraud</a:t>
            </a:r>
          </a:p>
          <a:p>
            <a:pPr algn="just">
              <a:defRPr/>
            </a:pPr>
            <a:r>
              <a:rPr lang="en-US" sz="2000" dirty="0"/>
              <a:t>Unauthorized obtaining of information from a computer</a:t>
            </a:r>
          </a:p>
          <a:p>
            <a:pPr lvl="1" algn="just">
              <a:defRPr/>
            </a:pPr>
            <a:r>
              <a:rPr lang="en-US" sz="1600" dirty="0"/>
              <a:t>Computer hacking</a:t>
            </a:r>
          </a:p>
          <a:p>
            <a:pPr lvl="1" algn="just">
              <a:defRPr/>
            </a:pPr>
            <a:r>
              <a:rPr lang="en-US" sz="1600" dirty="0"/>
              <a:t>Eavesdropping on a computer</a:t>
            </a:r>
          </a:p>
          <a:p>
            <a:pPr lvl="1" algn="just">
              <a:defRPr/>
            </a:pPr>
            <a:r>
              <a:rPr lang="en-US" sz="1600" dirty="0"/>
              <a:t>Making unauthorized use of computers for personal benefit</a:t>
            </a:r>
          </a:p>
          <a:p>
            <a:pPr marL="400050" algn="just">
              <a:defRPr/>
            </a:pPr>
            <a:r>
              <a:rPr lang="en-US" sz="2000" dirty="0"/>
              <a:t>Unauthorized alteration or destruction of information stored on a computer</a:t>
            </a:r>
          </a:p>
          <a:p>
            <a:pPr marL="400050" algn="just">
              <a:defRPr/>
            </a:pPr>
            <a:r>
              <a:rPr lang="en-US" sz="2000" dirty="0"/>
              <a:t>Denying access to an authorized user</a:t>
            </a:r>
          </a:p>
          <a:p>
            <a:pPr marL="400050" algn="just">
              <a:defRPr/>
            </a:pPr>
            <a:r>
              <a:rPr lang="en-US" sz="2000" dirty="0"/>
              <a:t>The unauthorized removal of information stored on a computer</a:t>
            </a:r>
          </a:p>
          <a:p>
            <a:pPr marL="0" indent="0">
              <a:buNone/>
              <a:defRPr/>
            </a:pPr>
            <a:endParaRPr lang="en-US" dirty="0"/>
          </a:p>
        </p:txBody>
      </p:sp>
      <p:grpSp>
        <p:nvGrpSpPr>
          <p:cNvPr id="4" name="object 2"/>
          <p:cNvGrpSpPr/>
          <p:nvPr/>
        </p:nvGrpSpPr>
        <p:grpSpPr>
          <a:xfrm>
            <a:off x="6508376" y="1659124"/>
            <a:ext cx="5396753" cy="4684339"/>
            <a:chOff x="0" y="0"/>
            <a:chExt cx="9144000" cy="6858000"/>
          </a:xfrm>
        </p:grpSpPr>
        <p:sp>
          <p:nvSpPr>
            <p:cNvPr id="5" name="object 3"/>
            <p:cNvSpPr/>
            <p:nvPr/>
          </p:nvSpPr>
          <p:spPr>
            <a:xfrm>
              <a:off x="228600" y="152400"/>
              <a:ext cx="8610600" cy="2819400"/>
            </a:xfrm>
            <a:prstGeom prst="rect">
              <a:avLst/>
            </a:prstGeom>
            <a:blipFill>
              <a:blip r:embed="rId2" cstate="print"/>
              <a:stretch>
                <a:fillRect/>
              </a:stretch>
            </a:blipFill>
          </p:spPr>
          <p:txBody>
            <a:bodyPr wrap="square" lIns="0" tIns="0" rIns="0" bIns="0" rtlCol="0"/>
            <a:lstStyle/>
            <a:p>
              <a:endParaRPr/>
            </a:p>
          </p:txBody>
        </p:sp>
        <p:sp>
          <p:nvSpPr>
            <p:cNvPr id="6" name="object 4"/>
            <p:cNvSpPr/>
            <p:nvPr/>
          </p:nvSpPr>
          <p:spPr>
            <a:xfrm>
              <a:off x="228600" y="3124200"/>
              <a:ext cx="4267200" cy="3451860"/>
            </a:xfrm>
            <a:prstGeom prst="rect">
              <a:avLst/>
            </a:prstGeom>
            <a:blipFill>
              <a:blip r:embed="rId3" cstate="print"/>
              <a:stretch>
                <a:fillRect/>
              </a:stretch>
            </a:blipFill>
          </p:spPr>
          <p:txBody>
            <a:bodyPr wrap="square" lIns="0" tIns="0" rIns="0" bIns="0" rtlCol="0"/>
            <a:lstStyle/>
            <a:p>
              <a:endParaRPr/>
            </a:p>
          </p:txBody>
        </p:sp>
        <p:sp>
          <p:nvSpPr>
            <p:cNvPr id="7" name="object 5"/>
            <p:cNvSpPr/>
            <p:nvPr/>
          </p:nvSpPr>
          <p:spPr>
            <a:xfrm>
              <a:off x="4648200" y="3200400"/>
              <a:ext cx="4191000" cy="3352800"/>
            </a:xfrm>
            <a:prstGeom prst="rect">
              <a:avLst/>
            </a:prstGeom>
            <a:blipFill>
              <a:blip r:embed="rId4"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9073822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normAutofit/>
          </a:bodyPr>
          <a:lstStyle/>
          <a:p>
            <a:pPr algn="just">
              <a:defRPr/>
            </a:pPr>
            <a:r>
              <a:rPr lang="en-US" sz="2400" dirty="0"/>
              <a:t>The Law Commission defined computer fraud as conduct which involves the manipulation of a computer or internet, by whatever method, in order dishonestly to obtain money, property, or some other advantage of value, or to cause loss</a:t>
            </a:r>
          </a:p>
          <a:p>
            <a:pPr algn="just">
              <a:defRPr/>
            </a:pPr>
            <a:r>
              <a:rPr lang="en-US" sz="2400" dirty="0"/>
              <a:t>Computer fraud is further divided into three categories</a:t>
            </a:r>
          </a:p>
          <a:p>
            <a:pPr lvl="1" algn="just">
              <a:defRPr/>
            </a:pPr>
            <a:r>
              <a:rPr lang="en-US" sz="2800" b="1" dirty="0"/>
              <a:t>Input frauds</a:t>
            </a:r>
            <a:endParaRPr lang="en-US" sz="3200" dirty="0"/>
          </a:p>
          <a:p>
            <a:pPr marL="857250" lvl="2" indent="0" algn="just">
              <a:buFont typeface="Wingdings" panose="05000000000000000000" pitchFamily="2" charset="2"/>
              <a:buNone/>
              <a:defRPr/>
            </a:pPr>
            <a:r>
              <a:rPr lang="en-US" dirty="0"/>
              <a:t>e.g. intentionally entering false data or amending data into the computer</a:t>
            </a:r>
          </a:p>
          <a:p>
            <a:pPr lvl="1">
              <a:defRPr/>
            </a:pPr>
            <a:r>
              <a:rPr lang="en-US" sz="2800" b="1" dirty="0"/>
              <a:t>Output frauds</a:t>
            </a:r>
            <a:endParaRPr lang="en-US" sz="3200" b="1" dirty="0"/>
          </a:p>
          <a:p>
            <a:pPr marL="857250" lvl="2" indent="0">
              <a:buFont typeface="Wingdings" panose="05000000000000000000" pitchFamily="2" charset="2"/>
              <a:buNone/>
              <a:defRPr/>
            </a:pPr>
            <a:r>
              <a:rPr lang="en-US" dirty="0"/>
              <a:t>Output fraud involves stealing or misusing system output</a:t>
            </a:r>
          </a:p>
          <a:p>
            <a:pPr lvl="1" algn="just">
              <a:defRPr/>
            </a:pPr>
            <a:r>
              <a:rPr lang="en-US" sz="2800" b="1" dirty="0"/>
              <a:t>Program frauds</a:t>
            </a:r>
            <a:r>
              <a:rPr lang="en-US" sz="3200" dirty="0"/>
              <a:t> </a:t>
            </a:r>
          </a:p>
          <a:p>
            <a:pPr marL="857250" lvl="2" indent="0" algn="just">
              <a:buFont typeface="Wingdings" panose="05000000000000000000" pitchFamily="2" charset="2"/>
              <a:buNone/>
              <a:defRPr/>
            </a:pPr>
            <a:r>
              <a:rPr lang="en-US" dirty="0"/>
              <a:t>Program fraud involves the dishonest alteration of a computer program</a:t>
            </a:r>
            <a:endParaRPr lang="en-US" sz="2800" dirty="0"/>
          </a:p>
          <a:p>
            <a:pPr>
              <a:defRPr/>
            </a:pPr>
            <a:endParaRPr lang="en-US" sz="3600" dirty="0"/>
          </a:p>
          <a:p>
            <a:endParaRPr lang="en-US" sz="3600" dirty="0"/>
          </a:p>
        </p:txBody>
      </p:sp>
    </p:spTree>
    <p:extLst>
      <p:ext uri="{BB962C8B-B14F-4D97-AF65-F5344CB8AC3E}">
        <p14:creationId xmlns:p14="http://schemas.microsoft.com/office/powerpoint/2010/main" val="27628698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lstStyle/>
          <a:p>
            <a:r>
              <a:rPr lang="en-US" dirty="0"/>
              <a:t>Most forms of Internet fraud are financial in nature</a:t>
            </a:r>
          </a:p>
          <a:p>
            <a:r>
              <a:rPr lang="en-US" dirty="0"/>
              <a:t>Cybercriminals may hack into personal financial accounts to access funds</a:t>
            </a:r>
          </a:p>
          <a:p>
            <a:endParaRPr lang="en-US" dirty="0"/>
          </a:p>
        </p:txBody>
      </p:sp>
    </p:spTree>
    <p:extLst>
      <p:ext uri="{BB962C8B-B14F-4D97-AF65-F5344CB8AC3E}">
        <p14:creationId xmlns:p14="http://schemas.microsoft.com/office/powerpoint/2010/main" val="7942875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Fraud</a:t>
            </a:r>
          </a:p>
        </p:txBody>
      </p:sp>
      <p:sp>
        <p:nvSpPr>
          <p:cNvPr id="3" name="Content Placeholder 2"/>
          <p:cNvSpPr>
            <a:spLocks noGrp="1"/>
          </p:cNvSpPr>
          <p:nvPr>
            <p:ph idx="1"/>
          </p:nvPr>
        </p:nvSpPr>
        <p:spPr/>
        <p:txBody>
          <a:bodyPr/>
          <a:lstStyle/>
          <a:p>
            <a:r>
              <a:rPr lang="en-US" dirty="0"/>
              <a:t>Financial fraud is a criminal behavior in which a person uses wrong methods to trick a victim out of his money. </a:t>
            </a:r>
          </a:p>
          <a:p>
            <a:r>
              <a:rPr lang="en-US" dirty="0"/>
              <a:t>The Internet fraud scheme is a common example of financial fraud, which includes emulated online sales, retail schemes, business opportunity schemes, identity theft, market manipulation schemes, and credit card schemes.</a:t>
            </a:r>
          </a:p>
          <a:p>
            <a:endParaRPr lang="en-US" dirty="0"/>
          </a:p>
        </p:txBody>
      </p:sp>
    </p:spTree>
    <p:extLst>
      <p:ext uri="{BB962C8B-B14F-4D97-AF65-F5344CB8AC3E}">
        <p14:creationId xmlns:p14="http://schemas.microsoft.com/office/powerpoint/2010/main" val="37179923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Trespassing</a:t>
            </a:r>
          </a:p>
        </p:txBody>
      </p:sp>
      <p:sp>
        <p:nvSpPr>
          <p:cNvPr id="3" name="Content Placeholder 2"/>
          <p:cNvSpPr>
            <a:spLocks noGrp="1"/>
          </p:cNvSpPr>
          <p:nvPr>
            <p:ph idx="1"/>
          </p:nvPr>
        </p:nvSpPr>
        <p:spPr/>
        <p:txBody>
          <a:bodyPr/>
          <a:lstStyle/>
          <a:p>
            <a:pPr algn="just"/>
            <a:r>
              <a:rPr lang="en-US" dirty="0"/>
              <a:t>Cybercriminals can gain access to individual computers to peek through files, website browsing history, access passwords, or possibly even save files to your machine</a:t>
            </a:r>
          </a:p>
          <a:p>
            <a:pPr algn="just"/>
            <a:r>
              <a:rPr lang="en-US" dirty="0"/>
              <a:t>This type of fraud is known as computer trespass</a:t>
            </a:r>
          </a:p>
          <a:p>
            <a:pPr algn="just"/>
            <a:r>
              <a:rPr lang="en-US" dirty="0"/>
              <a:t>In many cases, computer trespassing is accomplished by luring people to click on attachments or download files. </a:t>
            </a:r>
          </a:p>
          <a:p>
            <a:pPr algn="just"/>
            <a:endParaRPr lang="en-US" dirty="0"/>
          </a:p>
        </p:txBody>
      </p:sp>
    </p:spTree>
    <p:extLst>
      <p:ext uri="{BB962C8B-B14F-4D97-AF65-F5344CB8AC3E}">
        <p14:creationId xmlns:p14="http://schemas.microsoft.com/office/powerpoint/2010/main" val="8388466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4"/>
          <p:cNvSpPr>
            <a:spLocks noGrp="1"/>
          </p:cNvSpPr>
          <p:nvPr>
            <p:ph idx="1"/>
          </p:nvPr>
        </p:nvSpPr>
        <p:spPr>
          <a:xfrm>
            <a:off x="614083" y="680434"/>
            <a:ext cx="10963834" cy="5699499"/>
          </a:xfrm>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33952968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Identity Theft</a:t>
            </a:r>
          </a:p>
        </p:txBody>
      </p:sp>
      <p:sp>
        <p:nvSpPr>
          <p:cNvPr id="3" name="Content Placeholder 2"/>
          <p:cNvSpPr>
            <a:spLocks noGrp="1"/>
          </p:cNvSpPr>
          <p:nvPr>
            <p:ph idx="1"/>
          </p:nvPr>
        </p:nvSpPr>
        <p:spPr/>
        <p:txBody>
          <a:bodyPr>
            <a:normAutofit/>
          </a:bodyPr>
          <a:lstStyle/>
          <a:p>
            <a:pPr algn="just"/>
            <a:r>
              <a:rPr lang="en-US" dirty="0"/>
              <a:t>Refers to a crime where an individual maliciously obtains and uses another individuals personal/sensitive information to commit frauds/scams by using the stolen identity. </a:t>
            </a:r>
          </a:p>
          <a:p>
            <a:pPr algn="just"/>
            <a:r>
              <a:rPr lang="en-US" dirty="0"/>
              <a:t>Mostly this crime is committed for economic gain. </a:t>
            </a:r>
          </a:p>
          <a:p>
            <a:pPr algn="just"/>
            <a:r>
              <a:rPr lang="en-US" dirty="0"/>
              <a:t>The cyber criminal gains access to an individuals information by stealing e-mail details, stored information on computer databases, they eavesdrop over the networks to get hold of transactions. </a:t>
            </a:r>
          </a:p>
          <a:p>
            <a:pPr algn="just"/>
            <a:r>
              <a:rPr lang="en-US" dirty="0"/>
              <a:t>Identity thefts includes but not limited to shoulder surfing, dumpster diving, spamming, spoofing, phishing, and skimming. </a:t>
            </a:r>
          </a:p>
        </p:txBody>
      </p:sp>
      <p:sp>
        <p:nvSpPr>
          <p:cNvPr id="4" name="Rectangle 3"/>
          <p:cNvSpPr/>
          <p:nvPr/>
        </p:nvSpPr>
        <p:spPr>
          <a:xfrm>
            <a:off x="995082" y="5850235"/>
            <a:ext cx="10358717" cy="646331"/>
          </a:xfrm>
          <a:prstGeom prst="rect">
            <a:avLst/>
          </a:prstGeom>
        </p:spPr>
        <p:txBody>
          <a:bodyPr wrap="square">
            <a:spAutoFit/>
          </a:bodyPr>
          <a:lstStyle/>
          <a:p>
            <a:r>
              <a:rPr lang="en-US" b="1" cap="all" dirty="0">
                <a:solidFill>
                  <a:srgbClr val="FF0000"/>
                </a:solidFill>
              </a:rPr>
              <a:t>NATIONAL RESPONSE CENTRE FOR CYBER CRIME</a:t>
            </a:r>
            <a:r>
              <a:rPr lang="en-US" dirty="0">
                <a:solidFill>
                  <a:srgbClr val="FF0000"/>
                </a:solidFill>
              </a:rPr>
              <a:t> (NR3C) </a:t>
            </a:r>
            <a:r>
              <a:rPr lang="en-US" b="1" cap="all" dirty="0">
                <a:solidFill>
                  <a:srgbClr val="FF0000"/>
                </a:solidFill>
              </a:rPr>
              <a:t>-  FEDERAL INVESTIGATION AGENCY PAKISTAN</a:t>
            </a:r>
          </a:p>
          <a:p>
            <a:r>
              <a:rPr lang="en-US" dirty="0">
                <a:solidFill>
                  <a:srgbClr val="FF0000"/>
                </a:solidFill>
              </a:rPr>
              <a:t>has successfully investigated numerous cases of identity theft.</a:t>
            </a:r>
          </a:p>
        </p:txBody>
      </p:sp>
    </p:spTree>
    <p:extLst>
      <p:ext uri="{BB962C8B-B14F-4D97-AF65-F5344CB8AC3E}">
        <p14:creationId xmlns:p14="http://schemas.microsoft.com/office/powerpoint/2010/main" val="32521093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Theft</a:t>
            </a:r>
          </a:p>
        </p:txBody>
      </p:sp>
      <p:sp>
        <p:nvSpPr>
          <p:cNvPr id="3" name="Content Placeholder 2"/>
          <p:cNvSpPr>
            <a:spLocks noGrp="1"/>
          </p:cNvSpPr>
          <p:nvPr>
            <p:ph idx="1"/>
          </p:nvPr>
        </p:nvSpPr>
        <p:spPr/>
        <p:txBody>
          <a:bodyPr>
            <a:normAutofit fontScale="85000" lnSpcReduction="20000"/>
          </a:bodyPr>
          <a:lstStyle/>
          <a:p>
            <a:pPr algn="just"/>
            <a:r>
              <a:rPr lang="en-US" dirty="0"/>
              <a:t>It is the act of stealing computer-based information from an unknowing victim with the intent of compromising privacy or obtaining confidential information. </a:t>
            </a:r>
          </a:p>
          <a:p>
            <a:pPr algn="just"/>
            <a:r>
              <a:rPr lang="en-US" dirty="0"/>
              <a:t>Data theft is increasingly a problem for individual computer users, as well as big corporate firms. </a:t>
            </a:r>
          </a:p>
          <a:p>
            <a:pPr algn="just"/>
            <a:r>
              <a:rPr lang="en-US" dirty="0"/>
              <a:t>Following categories are most common in data theft cases.</a:t>
            </a:r>
          </a:p>
          <a:p>
            <a:pPr lvl="1" algn="just"/>
            <a:r>
              <a:rPr lang="en-US" b="1" dirty="0"/>
              <a:t>E-commerce</a:t>
            </a:r>
            <a:r>
              <a:rPr lang="en-US" dirty="0"/>
              <a:t>: You should make sure that your data is safe from prying eyes when you sell or buy things on the Web. Carelessness can lead to leaking your private account information.</a:t>
            </a:r>
          </a:p>
          <a:p>
            <a:pPr lvl="1" algn="just"/>
            <a:r>
              <a:rPr lang="en-US" b="1" dirty="0"/>
              <a:t>Password cracking</a:t>
            </a:r>
            <a:r>
              <a:rPr lang="en-US" dirty="0"/>
              <a:t>: Intruders can access your machine and get valuable data if it is not password-protected or its password can be easily decoded (weak password).</a:t>
            </a:r>
          </a:p>
          <a:p>
            <a:pPr lvl="1" algn="just"/>
            <a:r>
              <a:rPr lang="en-US" b="1" dirty="0"/>
              <a:t>Eavesdropping</a:t>
            </a:r>
            <a:r>
              <a:rPr lang="en-US" dirty="0"/>
              <a:t>: Data sent on insecure lines can be wiretapped and recorded. If no encryption mechanism is used, there is a good chance of losing your password and other private information to the eavesdropper.</a:t>
            </a:r>
          </a:p>
          <a:p>
            <a:pPr lvl="1" algn="just"/>
            <a:r>
              <a:rPr lang="en-US" b="1" dirty="0"/>
              <a:t>Laptop theft</a:t>
            </a:r>
            <a:r>
              <a:rPr lang="en-US" dirty="0"/>
              <a:t>: Increasingly incidents of laptop theft from corporate firms occur with the valuable information stored in the laptop being sold to competitors. Carelessness and lack of laptop data encryption can lead to major losses for the firm.</a:t>
            </a:r>
          </a:p>
          <a:p>
            <a:pPr algn="just"/>
            <a:endParaRPr lang="en-US" dirty="0"/>
          </a:p>
        </p:txBody>
      </p:sp>
    </p:spTree>
    <p:extLst>
      <p:ext uri="{BB962C8B-B14F-4D97-AF65-F5344CB8AC3E}">
        <p14:creationId xmlns:p14="http://schemas.microsoft.com/office/powerpoint/2010/main" val="42636757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Hacking</a:t>
            </a:r>
          </a:p>
        </p:txBody>
      </p:sp>
      <p:sp>
        <p:nvSpPr>
          <p:cNvPr id="3" name="Content Placeholder 2"/>
          <p:cNvSpPr>
            <a:spLocks noGrp="1"/>
          </p:cNvSpPr>
          <p:nvPr>
            <p:ph idx="1"/>
          </p:nvPr>
        </p:nvSpPr>
        <p:spPr/>
        <p:txBody>
          <a:bodyPr>
            <a:normAutofit lnSpcReduction="10000"/>
          </a:bodyPr>
          <a:lstStyle/>
          <a:p>
            <a:pPr algn="just"/>
            <a:r>
              <a:rPr lang="en-US" dirty="0"/>
              <a:t>Trying to get into computer systems in order to steal, corrupt, or illegitimately view data. </a:t>
            </a:r>
          </a:p>
          <a:p>
            <a:pPr algn="just"/>
            <a:r>
              <a:rPr lang="en-US" dirty="0"/>
              <a:t>Hacking comes from the term “hacker”, who is an expert in computer programming languages and systems. </a:t>
            </a:r>
          </a:p>
          <a:p>
            <a:pPr algn="just"/>
            <a:r>
              <a:rPr lang="en-US" dirty="0"/>
              <a:t>Accomplished by using unusually complex and clever methods to make computers do things. </a:t>
            </a:r>
          </a:p>
          <a:p>
            <a:pPr algn="just"/>
            <a:r>
              <a:rPr lang="en-US" dirty="0"/>
              <a:t>The proper term for “Hacker” is “cracker”, and that their activities should be called cracking. </a:t>
            </a:r>
          </a:p>
          <a:p>
            <a:pPr algn="just"/>
            <a:r>
              <a:rPr lang="en-US" dirty="0"/>
              <a:t>However, the most common usage of the word, “hacking” refers to an unauthorized access.</a:t>
            </a:r>
          </a:p>
        </p:txBody>
      </p:sp>
      <p:sp>
        <p:nvSpPr>
          <p:cNvPr id="4" name="object 3"/>
          <p:cNvSpPr/>
          <p:nvPr/>
        </p:nvSpPr>
        <p:spPr>
          <a:xfrm>
            <a:off x="8579224" y="147123"/>
            <a:ext cx="2774576" cy="1543565"/>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21110462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Website Defacement</a:t>
            </a:r>
          </a:p>
        </p:txBody>
      </p:sp>
      <p:sp>
        <p:nvSpPr>
          <p:cNvPr id="3" name="Content Placeholder 2"/>
          <p:cNvSpPr>
            <a:spLocks noGrp="1"/>
          </p:cNvSpPr>
          <p:nvPr>
            <p:ph idx="1"/>
          </p:nvPr>
        </p:nvSpPr>
        <p:spPr/>
        <p:txBody>
          <a:bodyPr>
            <a:normAutofit fontScale="85000" lnSpcReduction="20000"/>
          </a:bodyPr>
          <a:lstStyle/>
          <a:p>
            <a:pPr algn="just"/>
            <a:r>
              <a:rPr lang="en-US" dirty="0"/>
              <a:t>An attack on a website that changes the visual appearance of the site or a webpage. </a:t>
            </a:r>
          </a:p>
          <a:p>
            <a:pPr algn="just"/>
            <a:r>
              <a:rPr lang="en-US" dirty="0"/>
              <a:t>This is typically the work of system crackers, who break into a web server and replace the hosted website with one of its own. </a:t>
            </a:r>
          </a:p>
          <a:p>
            <a:pPr algn="just"/>
            <a:r>
              <a:rPr lang="en-US" dirty="0"/>
              <a:t>The most common method of defacement is using SQL Injections to log on to administrator accounts. </a:t>
            </a:r>
          </a:p>
          <a:p>
            <a:pPr algn="just"/>
            <a:r>
              <a:rPr lang="en-US" dirty="0"/>
              <a:t>Defacements usually consist of an entire page. </a:t>
            </a:r>
          </a:p>
          <a:p>
            <a:pPr algn="just"/>
            <a:r>
              <a:rPr lang="en-US" dirty="0"/>
              <a:t>This page usually includes the defacer’s pseudonym or “Hacking Codename.” </a:t>
            </a:r>
          </a:p>
          <a:p>
            <a:pPr algn="just"/>
            <a:r>
              <a:rPr lang="en-US" dirty="0"/>
              <a:t>Sometimes, the Website Defacer makes fun of the system administrator for failing to maintain server security. </a:t>
            </a:r>
          </a:p>
          <a:p>
            <a:pPr algn="just"/>
            <a:r>
              <a:rPr lang="en-US" dirty="0"/>
              <a:t>Most times, the defacement is harmless, however, sometimes it can be used as a distraction to cover up more sinister actions such as uploading malware or deleting essential files from the server. </a:t>
            </a:r>
          </a:p>
          <a:p>
            <a:pPr algn="just"/>
            <a:endParaRPr lang="en-US" dirty="0"/>
          </a:p>
        </p:txBody>
      </p:sp>
      <p:sp>
        <p:nvSpPr>
          <p:cNvPr id="4" name="Rectangle 3"/>
          <p:cNvSpPr/>
          <p:nvPr/>
        </p:nvSpPr>
        <p:spPr>
          <a:xfrm>
            <a:off x="4518212" y="6127234"/>
            <a:ext cx="7319682" cy="369332"/>
          </a:xfrm>
          <a:prstGeom prst="rect">
            <a:avLst/>
          </a:prstGeom>
        </p:spPr>
        <p:txBody>
          <a:bodyPr wrap="square">
            <a:spAutoFit/>
          </a:bodyPr>
          <a:lstStyle/>
          <a:p>
            <a:r>
              <a:rPr lang="en-US" dirty="0">
                <a:solidFill>
                  <a:srgbClr val="FF0000"/>
                </a:solidFill>
              </a:rPr>
              <a:t>NR3C has successfully investigated website defacement cases.</a:t>
            </a:r>
          </a:p>
        </p:txBody>
      </p:sp>
    </p:spTree>
    <p:extLst>
      <p:ext uri="{BB962C8B-B14F-4D97-AF65-F5344CB8AC3E}">
        <p14:creationId xmlns:p14="http://schemas.microsoft.com/office/powerpoint/2010/main" val="11407514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 Attacks</a:t>
            </a:r>
          </a:p>
        </p:txBody>
      </p:sp>
      <p:pic>
        <p:nvPicPr>
          <p:cNvPr id="5122" name="Picture 2" descr="Social Engineering attac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4650" y="1459688"/>
            <a:ext cx="9422700" cy="5146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758966" y="6236419"/>
            <a:ext cx="7220605" cy="369332"/>
          </a:xfrm>
          <a:prstGeom prst="rect">
            <a:avLst/>
          </a:prstGeom>
        </p:spPr>
        <p:txBody>
          <a:bodyPr wrap="square">
            <a:spAutoFit/>
          </a:bodyPr>
          <a:lstStyle/>
          <a:p>
            <a:pPr algn="ctr"/>
            <a:r>
              <a:rPr lang="en-US" dirty="0">
                <a:solidFill>
                  <a:srgbClr val="FFFF00"/>
                </a:solidFill>
              </a:rPr>
              <a:t>Social Engineering Attack: </a:t>
            </a:r>
            <a:r>
              <a:rPr lang="en-US" dirty="0">
                <a:solidFill>
                  <a:srgbClr val="FFFF00"/>
                </a:solidFill>
                <a:latin typeface="Rubik"/>
              </a:rPr>
              <a:t>Hacks by Manipulating Human Psychology</a:t>
            </a:r>
            <a:endParaRPr lang="en-US" b="0" i="0" u="none" strike="noStrike" dirty="0">
              <a:solidFill>
                <a:srgbClr val="FFFF00"/>
              </a:solidFill>
              <a:effectLst/>
              <a:latin typeface="Rubik"/>
            </a:endParaRPr>
          </a:p>
        </p:txBody>
      </p:sp>
    </p:spTree>
    <p:extLst>
      <p:ext uri="{BB962C8B-B14F-4D97-AF65-F5344CB8AC3E}">
        <p14:creationId xmlns:p14="http://schemas.microsoft.com/office/powerpoint/2010/main" val="20034889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These are techniques used by cyber criminals to get access to confidential information. </a:t>
            </a:r>
          </a:p>
          <a:p>
            <a:pPr algn="just"/>
            <a:r>
              <a:rPr lang="en-US" dirty="0"/>
              <a:t>With social engineering, attackers use manipulation and deceit to trick victims into giving out confidential information. </a:t>
            </a:r>
          </a:p>
          <a:p>
            <a:pPr algn="just"/>
            <a:r>
              <a:rPr lang="en-US" dirty="0"/>
              <a:t>Some of the social engineering methods used by attackers:</a:t>
            </a:r>
          </a:p>
          <a:p>
            <a:pPr lvl="1" algn="just"/>
            <a:r>
              <a:rPr lang="en-US" dirty="0"/>
              <a:t>Sending messages that contain dangerous attachments (e.g. malware) with text that encourage people to open the attachments.</a:t>
            </a:r>
          </a:p>
          <a:p>
            <a:pPr lvl="1" algn="just"/>
            <a:r>
              <a:rPr lang="en-US" dirty="0"/>
              <a:t>Pretending to be the main administrator of a local network and asking for the victim’s password in order to perform a maintenance check.</a:t>
            </a:r>
          </a:p>
          <a:p>
            <a:pPr lvl="1" algn="just"/>
            <a:r>
              <a:rPr lang="en-US" dirty="0"/>
              <a:t>Telling a victim over the phone that he/she has won a prize, in return they ask for a credit card number to deliver it.</a:t>
            </a:r>
          </a:p>
          <a:p>
            <a:pPr lvl="1" algn="just"/>
            <a:r>
              <a:rPr lang="en-US" dirty="0"/>
              <a:t>Asking for a user’s password for a certain Internet service, such as a blog, and later use the same password to access user’s computer. This technique works because users often use the same passwords for many different portals.</a:t>
            </a:r>
          </a:p>
        </p:txBody>
      </p:sp>
    </p:spTree>
    <p:extLst>
      <p:ext uri="{BB962C8B-B14F-4D97-AF65-F5344CB8AC3E}">
        <p14:creationId xmlns:p14="http://schemas.microsoft.com/office/powerpoint/2010/main" val="41964891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Social Engineering Attacks</a:t>
            </a:r>
          </a:p>
        </p:txBody>
      </p:sp>
      <p:pic>
        <p:nvPicPr>
          <p:cNvPr id="4098" name="Picture 2" descr="What is Social Engineering | Attack Techniques &amp; Prevention Methods |  Imperv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7958" y="1220499"/>
            <a:ext cx="9176084" cy="503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6156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Classifications of Attacks</a:t>
            </a:r>
          </a:p>
        </p:txBody>
      </p:sp>
      <p:pic>
        <p:nvPicPr>
          <p:cNvPr id="3074" name="Picture 2" descr="https://encrypted-tbn0.gstatic.com/images?q=tbn%3AANd9GcRnNI8i9hIZVOAjo0-EL7_dZcQJP2bfo2C2uA&amp;usqp=CAU"/>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6823" y="1800225"/>
            <a:ext cx="6348577"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858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pic>
        <p:nvPicPr>
          <p:cNvPr id="4" name="Content Placeholder 3"/>
          <p:cNvPicPr>
            <a:picLocks noGrp="1" noChangeAspect="1"/>
          </p:cNvPicPr>
          <p:nvPr>
            <p:ph idx="1"/>
          </p:nvPr>
        </p:nvPicPr>
        <p:blipFill rotWithShape="1">
          <a:blip r:embed="rId2"/>
          <a:srcRect l="6824" t="30507" r="37470" b="8624"/>
          <a:stretch/>
        </p:blipFill>
        <p:spPr>
          <a:xfrm>
            <a:off x="2459421" y="1513489"/>
            <a:ext cx="6826469" cy="4661978"/>
          </a:xfrm>
          <a:prstGeom prst="rect">
            <a:avLst/>
          </a:prstGeom>
        </p:spPr>
      </p:pic>
    </p:spTree>
    <p:extLst>
      <p:ext uri="{BB962C8B-B14F-4D97-AF65-F5344CB8AC3E}">
        <p14:creationId xmlns:p14="http://schemas.microsoft.com/office/powerpoint/2010/main" val="34678982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Social Engineering Attacks</a:t>
            </a:r>
          </a:p>
        </p:txBody>
      </p:sp>
      <p:pic>
        <p:nvPicPr>
          <p:cNvPr id="4" name="Content Placeholder 3"/>
          <p:cNvPicPr>
            <a:picLocks noGrp="1" noChangeAspect="1"/>
          </p:cNvPicPr>
          <p:nvPr>
            <p:ph idx="1"/>
          </p:nvPr>
        </p:nvPicPr>
        <p:blipFill rotWithShape="1">
          <a:blip r:embed="rId2"/>
          <a:srcRect l="22676" t="34855" r="22977" b="28189"/>
          <a:stretch/>
        </p:blipFill>
        <p:spPr>
          <a:xfrm>
            <a:off x="787003" y="1816813"/>
            <a:ext cx="10617994" cy="4512648"/>
          </a:xfrm>
          <a:prstGeom prst="rect">
            <a:avLst/>
          </a:prstGeom>
        </p:spPr>
      </p:pic>
    </p:spTree>
    <p:extLst>
      <p:ext uri="{BB962C8B-B14F-4D97-AF65-F5344CB8AC3E}">
        <p14:creationId xmlns:p14="http://schemas.microsoft.com/office/powerpoint/2010/main" val="2926367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3" name="Content Placeholder 2"/>
          <p:cNvSpPr>
            <a:spLocks noGrp="1"/>
          </p:cNvSpPr>
          <p:nvPr>
            <p:ph idx="1"/>
          </p:nvPr>
        </p:nvSpPr>
        <p:spPr>
          <a:xfrm>
            <a:off x="838200" y="1825625"/>
            <a:ext cx="6769608" cy="4351338"/>
          </a:xfrm>
        </p:spPr>
        <p:txBody>
          <a:bodyPr/>
          <a:lstStyle/>
          <a:p>
            <a:pPr algn="just"/>
            <a:r>
              <a:rPr lang="en-US" dirty="0"/>
              <a:t>Unsolicited mass e-mail, known colloquially as “spam”</a:t>
            </a:r>
          </a:p>
          <a:p>
            <a:pPr algn="just"/>
            <a:r>
              <a:rPr lang="en-US" dirty="0"/>
              <a:t>Spam messages can be used to trick people into giving up sensitive personal information </a:t>
            </a:r>
            <a:r>
              <a:rPr lang="en-US" b="1" dirty="0"/>
              <a:t>phishing</a:t>
            </a:r>
            <a:endParaRPr lang="en-US" dirty="0"/>
          </a:p>
          <a:p>
            <a:pPr algn="just"/>
            <a:r>
              <a:rPr lang="en-US" dirty="0"/>
              <a:t>As carriers for computer worms and viruses</a:t>
            </a:r>
          </a:p>
          <a:p>
            <a:pPr algn="just"/>
            <a:r>
              <a:rPr lang="en-US" dirty="0"/>
              <a:t>Spam e-mail could leave you vulnerable to </a:t>
            </a:r>
            <a:r>
              <a:rPr lang="en-US" b="1" dirty="0"/>
              <a:t>spoofing</a:t>
            </a:r>
            <a:r>
              <a:rPr lang="en-US" dirty="0"/>
              <a:t>, where a spammer gains the ability to send more of this junk e-mail through your account</a:t>
            </a:r>
          </a:p>
          <a:p>
            <a:endParaRPr lang="en-US" dirty="0"/>
          </a:p>
        </p:txBody>
      </p:sp>
      <p:sp>
        <p:nvSpPr>
          <p:cNvPr id="4" name="AutoShape 2" descr="6 sure signs someone is phishing you—besides email - Malwarebytes Labs |  Malwarebytes Lab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What is phishing? | IT PRO"/>
          <p:cNvPicPr>
            <a:picLocks noChangeAspect="1" noChangeArrowheads="1"/>
          </p:cNvPicPr>
          <p:nvPr/>
        </p:nvPicPr>
        <p:blipFill rotWithShape="1">
          <a:blip r:embed="rId3">
            <a:extLst>
              <a:ext uri="{28A0092B-C50C-407E-A947-70E740481C1C}">
                <a14:useLocalDpi xmlns:a14="http://schemas.microsoft.com/office/drawing/2010/main" val="0"/>
              </a:ext>
            </a:extLst>
          </a:blip>
          <a:srcRect l="30090" t="2268" r="30079" b="8193"/>
          <a:stretch/>
        </p:blipFill>
        <p:spPr bwMode="auto">
          <a:xfrm>
            <a:off x="7749698" y="1551665"/>
            <a:ext cx="3745992" cy="4736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0641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4" name="object 4"/>
          <p:cNvSpPr>
            <a:spLocks noGrp="1"/>
          </p:cNvSpPr>
          <p:nvPr>
            <p:ph idx="1"/>
          </p:nvPr>
        </p:nvSpPr>
        <p:spPr>
          <a:xfrm>
            <a:off x="838200" y="1687568"/>
            <a:ext cx="10515600" cy="4351338"/>
          </a:xfrm>
          <a:prstGeom prst="rect">
            <a:avLst/>
          </a:prstGeom>
          <a:blipFill>
            <a:blip r:embed="rId3" cstate="print"/>
            <a:stretch>
              <a:fillRect/>
            </a:stretch>
          </a:blipFill>
        </p:spPr>
        <p:txBody>
          <a:bodyPr wrap="square" lIns="0" tIns="0" rIns="0" bIns="0" rtlCol="0"/>
          <a:lstStyle/>
          <a:p>
            <a:endParaRPr lang="en-US" dirty="0"/>
          </a:p>
        </p:txBody>
      </p:sp>
      <p:sp>
        <p:nvSpPr>
          <p:cNvPr id="5" name="Rectangle 4"/>
          <p:cNvSpPr/>
          <p:nvPr/>
        </p:nvSpPr>
        <p:spPr>
          <a:xfrm>
            <a:off x="8446008" y="5253633"/>
            <a:ext cx="3745992" cy="923330"/>
          </a:xfrm>
          <a:prstGeom prst="rect">
            <a:avLst/>
          </a:prstGeom>
        </p:spPr>
        <p:txBody>
          <a:bodyPr wrap="square">
            <a:spAutoFit/>
          </a:bodyPr>
          <a:lstStyle/>
          <a:p>
            <a:pPr marL="12700" marR="302895" algn="just">
              <a:lnSpc>
                <a:spcPct val="100000"/>
              </a:lnSpc>
              <a:tabLst>
                <a:tab pos="354965" algn="l"/>
                <a:tab pos="355600" algn="l"/>
              </a:tabLst>
            </a:pPr>
            <a:r>
              <a:rPr lang="en-US" i="1" spc="-5" dirty="0">
                <a:latin typeface="Carlito"/>
                <a:cs typeface="Carlito"/>
              </a:rPr>
              <a:t>Do not </a:t>
            </a:r>
            <a:r>
              <a:rPr lang="en-US" i="1" dirty="0">
                <a:latin typeface="Carlito"/>
                <a:cs typeface="Carlito"/>
              </a:rPr>
              <a:t>respond </a:t>
            </a:r>
            <a:r>
              <a:rPr lang="en-US" i="1" spc="-15" dirty="0">
                <a:latin typeface="Carlito"/>
                <a:cs typeface="Carlito"/>
              </a:rPr>
              <a:t>to </a:t>
            </a:r>
            <a:r>
              <a:rPr lang="en-US" i="1" dirty="0">
                <a:latin typeface="Carlito"/>
                <a:cs typeface="Carlito"/>
              </a:rPr>
              <a:t>phishing messages</a:t>
            </a:r>
            <a:r>
              <a:rPr lang="en-US" dirty="0">
                <a:latin typeface="Carlito"/>
                <a:cs typeface="Carlito"/>
              </a:rPr>
              <a:t>. B</a:t>
            </a:r>
            <a:r>
              <a:rPr lang="en-US" spc="-10" dirty="0">
                <a:latin typeface="Carlito"/>
                <a:cs typeface="Carlito"/>
              </a:rPr>
              <a:t>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95" dirty="0">
                <a:latin typeface="Carlito"/>
                <a:cs typeface="Carlito"/>
              </a:rPr>
              <a:t> </a:t>
            </a:r>
            <a:r>
              <a:rPr lang="en-US" dirty="0">
                <a:latin typeface="Carlito"/>
                <a:cs typeface="Carlito"/>
              </a:rPr>
              <a:t>it.</a:t>
            </a:r>
          </a:p>
        </p:txBody>
      </p:sp>
    </p:spTree>
    <p:extLst>
      <p:ext uri="{BB962C8B-B14F-4D97-AF65-F5344CB8AC3E}">
        <p14:creationId xmlns:p14="http://schemas.microsoft.com/office/powerpoint/2010/main" val="97336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Stealing through Phishing</a:t>
            </a:r>
          </a:p>
        </p:txBody>
      </p:sp>
      <p:pic>
        <p:nvPicPr>
          <p:cNvPr id="2050" name="Picture 2" descr="Types of Phishing. How phishing wor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3131" y="1589006"/>
            <a:ext cx="10299492" cy="479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253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Phishing</a:t>
            </a:r>
          </a:p>
        </p:txBody>
      </p:sp>
      <p:sp>
        <p:nvSpPr>
          <p:cNvPr id="3" name="Content Placeholder 2"/>
          <p:cNvSpPr>
            <a:spLocks noGrp="1"/>
          </p:cNvSpPr>
          <p:nvPr>
            <p:ph idx="1"/>
          </p:nvPr>
        </p:nvSpPr>
        <p:spPr/>
        <p:txBody>
          <a:bodyPr/>
          <a:lstStyle/>
          <a:p>
            <a:pPr algn="just"/>
            <a:r>
              <a:rPr lang="en-US" dirty="0">
                <a:latin typeface="Carlito"/>
                <a:cs typeface="Carlito"/>
              </a:rPr>
              <a:t>Mark is 42 </a:t>
            </a:r>
            <a:r>
              <a:rPr lang="en-US" spc="-20" dirty="0">
                <a:latin typeface="Carlito"/>
                <a:cs typeface="Carlito"/>
              </a:rPr>
              <a:t>years </a:t>
            </a:r>
            <a:r>
              <a:rPr lang="en-US" spc="-5" dirty="0">
                <a:latin typeface="Carlito"/>
                <a:cs typeface="Carlito"/>
              </a:rPr>
              <a:t>old </a:t>
            </a:r>
            <a:r>
              <a:rPr lang="en-US" dirty="0">
                <a:latin typeface="Carlito"/>
                <a:cs typeface="Carlito"/>
              </a:rPr>
              <a:t>and </a:t>
            </a:r>
            <a:r>
              <a:rPr lang="en-US" spc="-10" dirty="0">
                <a:latin typeface="Carlito"/>
                <a:cs typeface="Carlito"/>
              </a:rPr>
              <a:t>lives </a:t>
            </a:r>
            <a:r>
              <a:rPr lang="en-US" dirty="0">
                <a:latin typeface="Carlito"/>
                <a:cs typeface="Carlito"/>
              </a:rPr>
              <a:t>in Adelaide. </a:t>
            </a:r>
          </a:p>
          <a:p>
            <a:pPr algn="just"/>
            <a:r>
              <a:rPr lang="en-US" spc="-5" dirty="0">
                <a:latin typeface="Carlito"/>
                <a:cs typeface="Carlito"/>
              </a:rPr>
              <a:t>He  </a:t>
            </a:r>
            <a:r>
              <a:rPr lang="en-US" spc="-10" dirty="0">
                <a:latin typeface="Carlito"/>
                <a:cs typeface="Carlito"/>
              </a:rPr>
              <a:t>receives </a:t>
            </a:r>
            <a:r>
              <a:rPr lang="en-US" dirty="0">
                <a:latin typeface="Carlito"/>
                <a:cs typeface="Carlito"/>
              </a:rPr>
              <a:t>an email </a:t>
            </a:r>
            <a:r>
              <a:rPr lang="en-US" spc="-15" dirty="0">
                <a:latin typeface="Carlito"/>
                <a:cs typeface="Carlito"/>
              </a:rPr>
              <a:t>from </a:t>
            </a:r>
            <a:r>
              <a:rPr lang="en-US" spc="-5" dirty="0">
                <a:latin typeface="Carlito"/>
                <a:cs typeface="Carlito"/>
              </a:rPr>
              <a:t>his bank </a:t>
            </a:r>
            <a:r>
              <a:rPr lang="en-US" dirty="0">
                <a:latin typeface="Carlito"/>
                <a:cs typeface="Carlito"/>
              </a:rPr>
              <a:t>which </a:t>
            </a:r>
            <a:r>
              <a:rPr lang="en-US" spc="-25" dirty="0">
                <a:latin typeface="Carlito"/>
                <a:cs typeface="Carlito"/>
              </a:rPr>
              <a:t>says </a:t>
            </a:r>
            <a:r>
              <a:rPr lang="en-US" spc="-10" dirty="0">
                <a:latin typeface="Carlito"/>
                <a:cs typeface="Carlito"/>
              </a:rPr>
              <a:t>his  internet </a:t>
            </a:r>
            <a:r>
              <a:rPr lang="en-US" spc="-5" dirty="0">
                <a:latin typeface="Carlito"/>
                <a:cs typeface="Carlito"/>
              </a:rPr>
              <a:t>banking </a:t>
            </a:r>
            <a:r>
              <a:rPr lang="en-US" spc="-15" dirty="0">
                <a:latin typeface="Carlito"/>
                <a:cs typeface="Carlito"/>
              </a:rPr>
              <a:t>password </a:t>
            </a:r>
            <a:r>
              <a:rPr lang="en-US" spc="-5" dirty="0">
                <a:latin typeface="Carlito"/>
                <a:cs typeface="Carlito"/>
              </a:rPr>
              <a:t>needs </a:t>
            </a:r>
            <a:r>
              <a:rPr lang="en-US" spc="-20" dirty="0">
                <a:latin typeface="Carlito"/>
                <a:cs typeface="Carlito"/>
              </a:rPr>
              <a:t>to </a:t>
            </a:r>
            <a:r>
              <a:rPr lang="en-US" spc="-5" dirty="0">
                <a:latin typeface="Carlito"/>
                <a:cs typeface="Carlito"/>
              </a:rPr>
              <a:t>be  </a:t>
            </a:r>
            <a:r>
              <a:rPr lang="en-US" dirty="0">
                <a:latin typeface="Carlito"/>
                <a:cs typeface="Carlito"/>
              </a:rPr>
              <a:t>changed. </a:t>
            </a:r>
          </a:p>
          <a:p>
            <a:pPr algn="just"/>
            <a:r>
              <a:rPr lang="en-US" dirty="0">
                <a:latin typeface="Carlito"/>
                <a:cs typeface="Carlito"/>
              </a:rPr>
              <a:t>He </a:t>
            </a:r>
            <a:r>
              <a:rPr lang="en-US" spc="-10" dirty="0">
                <a:latin typeface="Carlito"/>
                <a:cs typeface="Carlito"/>
              </a:rPr>
              <a:t>clicks </a:t>
            </a:r>
            <a:r>
              <a:rPr lang="en-US" spc="-5" dirty="0">
                <a:latin typeface="Carlito"/>
                <a:cs typeface="Carlito"/>
              </a:rPr>
              <a:t>the </a:t>
            </a:r>
            <a:r>
              <a:rPr lang="en-US" dirty="0">
                <a:latin typeface="Carlito"/>
                <a:cs typeface="Carlito"/>
              </a:rPr>
              <a:t>link in the email and  </a:t>
            </a:r>
            <a:r>
              <a:rPr lang="en-US" spc="-10" dirty="0">
                <a:latin typeface="Carlito"/>
                <a:cs typeface="Carlito"/>
              </a:rPr>
              <a:t>resets </a:t>
            </a:r>
            <a:r>
              <a:rPr lang="en-US" spc="-5" dirty="0">
                <a:latin typeface="Carlito"/>
                <a:cs typeface="Carlito"/>
              </a:rPr>
              <a:t>his </a:t>
            </a:r>
            <a:r>
              <a:rPr lang="en-US" spc="-10" dirty="0">
                <a:latin typeface="Carlito"/>
                <a:cs typeface="Carlito"/>
              </a:rPr>
              <a:t>password. </a:t>
            </a:r>
          </a:p>
          <a:p>
            <a:pPr algn="just"/>
            <a:r>
              <a:rPr lang="en-US" spc="-5" dirty="0">
                <a:solidFill>
                  <a:srgbClr val="FF0000"/>
                </a:solidFill>
                <a:latin typeface="Carlito"/>
                <a:cs typeface="Carlito"/>
              </a:rPr>
              <a:t>The </a:t>
            </a:r>
            <a:r>
              <a:rPr lang="en-US" spc="-10" dirty="0">
                <a:solidFill>
                  <a:srgbClr val="FF0000"/>
                </a:solidFill>
                <a:latin typeface="Carlito"/>
                <a:cs typeface="Carlito"/>
              </a:rPr>
              <a:t>next </a:t>
            </a:r>
            <a:r>
              <a:rPr lang="en-US" spc="-70" dirty="0">
                <a:solidFill>
                  <a:srgbClr val="FF0000"/>
                </a:solidFill>
                <a:latin typeface="Carlito"/>
                <a:cs typeface="Carlito"/>
              </a:rPr>
              <a:t>day, </a:t>
            </a:r>
            <a:r>
              <a:rPr lang="en-US" spc="-5" dirty="0">
                <a:solidFill>
                  <a:srgbClr val="FF0000"/>
                </a:solidFill>
                <a:latin typeface="Carlito"/>
                <a:cs typeface="Carlito"/>
              </a:rPr>
              <a:t>he realizes  that </a:t>
            </a:r>
            <a:r>
              <a:rPr lang="en-US" dirty="0">
                <a:solidFill>
                  <a:srgbClr val="FF0000"/>
                </a:solidFill>
                <a:latin typeface="Carlito"/>
                <a:cs typeface="Carlito"/>
              </a:rPr>
              <a:t>the email </a:t>
            </a:r>
            <a:r>
              <a:rPr lang="en-US" spc="-10" dirty="0">
                <a:solidFill>
                  <a:srgbClr val="FF0000"/>
                </a:solidFill>
                <a:latin typeface="Carlito"/>
                <a:cs typeface="Carlito"/>
              </a:rPr>
              <a:t>was </a:t>
            </a:r>
            <a:r>
              <a:rPr lang="en-US" spc="-5" dirty="0">
                <a:solidFill>
                  <a:srgbClr val="FF0000"/>
                </a:solidFill>
                <a:latin typeface="Carlito"/>
                <a:cs typeface="Carlito"/>
              </a:rPr>
              <a:t>not </a:t>
            </a:r>
            <a:r>
              <a:rPr lang="en-US" dirty="0">
                <a:solidFill>
                  <a:srgbClr val="FF0000"/>
                </a:solidFill>
                <a:latin typeface="Carlito"/>
                <a:cs typeface="Carlito"/>
              </a:rPr>
              <a:t>actually </a:t>
            </a:r>
            <a:r>
              <a:rPr lang="en-US" spc="-15" dirty="0">
                <a:solidFill>
                  <a:srgbClr val="FF0000"/>
                </a:solidFill>
                <a:latin typeface="Carlito"/>
                <a:cs typeface="Carlito"/>
              </a:rPr>
              <a:t>from </a:t>
            </a:r>
            <a:r>
              <a:rPr lang="en-US" spc="-5" dirty="0">
                <a:solidFill>
                  <a:srgbClr val="FF0000"/>
                </a:solidFill>
                <a:latin typeface="Carlito"/>
                <a:cs typeface="Carlito"/>
              </a:rPr>
              <a:t>his bank.  He checks his account </a:t>
            </a:r>
            <a:r>
              <a:rPr lang="en-US" dirty="0">
                <a:solidFill>
                  <a:srgbClr val="FF0000"/>
                </a:solidFill>
                <a:latin typeface="Carlito"/>
                <a:cs typeface="Carlito"/>
              </a:rPr>
              <a:t>and </a:t>
            </a:r>
            <a:r>
              <a:rPr lang="en-US" spc="-5" dirty="0">
                <a:solidFill>
                  <a:srgbClr val="FF0000"/>
                </a:solidFill>
                <a:latin typeface="Carlito"/>
                <a:cs typeface="Carlito"/>
              </a:rPr>
              <a:t>finds </a:t>
            </a:r>
            <a:r>
              <a:rPr lang="en-US" dirty="0">
                <a:solidFill>
                  <a:srgbClr val="FF0000"/>
                </a:solidFill>
                <a:latin typeface="Carlito"/>
                <a:cs typeface="Carlito"/>
              </a:rPr>
              <a:t>$1000 is  </a:t>
            </a:r>
            <a:r>
              <a:rPr lang="en-US" spc="-5" dirty="0">
                <a:solidFill>
                  <a:srgbClr val="FF0000"/>
                </a:solidFill>
                <a:latin typeface="Carlito"/>
                <a:cs typeface="Carlito"/>
              </a:rPr>
              <a:t>missing.</a:t>
            </a:r>
            <a:endParaRPr lang="en-US" dirty="0">
              <a:solidFill>
                <a:srgbClr val="FF0000"/>
              </a:solidFill>
              <a:latin typeface="Carlito"/>
              <a:cs typeface="Carlito"/>
            </a:endParaRPr>
          </a:p>
          <a:p>
            <a:pPr algn="just"/>
            <a:endParaRPr lang="en-US" dirty="0"/>
          </a:p>
        </p:txBody>
      </p:sp>
    </p:spTree>
    <p:extLst>
      <p:ext uri="{BB962C8B-B14F-4D97-AF65-F5344CB8AC3E}">
        <p14:creationId xmlns:p14="http://schemas.microsoft.com/office/powerpoint/2010/main" val="9071863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6515246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Blackmailing, Harassment, and Stalking</a:t>
            </a:r>
          </a:p>
        </p:txBody>
      </p:sp>
      <p:sp>
        <p:nvSpPr>
          <p:cNvPr id="3" name="Content Placeholder 2"/>
          <p:cNvSpPr>
            <a:spLocks noGrp="1"/>
          </p:cNvSpPr>
          <p:nvPr>
            <p:ph idx="1"/>
          </p:nvPr>
        </p:nvSpPr>
        <p:spPr/>
        <p:txBody>
          <a:bodyPr/>
          <a:lstStyle/>
          <a:p>
            <a:pPr algn="just"/>
            <a:r>
              <a:rPr lang="en-US" dirty="0"/>
              <a:t>Several high-profile cases of teenagers bullying one another over the Internet</a:t>
            </a:r>
          </a:p>
          <a:p>
            <a:pPr algn="just"/>
            <a:r>
              <a:rPr lang="en-US" dirty="0"/>
              <a:t>Bullies posted obscene or cruel messages to the victim on social media sites like Facebook, uploaded embarrassing videos</a:t>
            </a:r>
          </a:p>
          <a:p>
            <a:pPr algn="just"/>
            <a:r>
              <a:rPr lang="en-US" dirty="0"/>
              <a:t>Information is often handed to the criminals by the victims themselves.</a:t>
            </a:r>
          </a:p>
          <a:p>
            <a:pPr algn="just"/>
            <a:r>
              <a:rPr lang="en-US" dirty="0"/>
              <a:t> Unwary social media site users can give away their name, age, occupation, home and work addresses, or even their current location by using sites such as Foursquare or Facebook known as </a:t>
            </a:r>
            <a:r>
              <a:rPr lang="en-US" b="1" dirty="0"/>
              <a:t>stalking</a:t>
            </a:r>
          </a:p>
          <a:p>
            <a:endParaRPr lang="en-US" dirty="0"/>
          </a:p>
        </p:txBody>
      </p:sp>
    </p:spTree>
    <p:extLst>
      <p:ext uri="{BB962C8B-B14F-4D97-AF65-F5344CB8AC3E}">
        <p14:creationId xmlns:p14="http://schemas.microsoft.com/office/powerpoint/2010/main" val="29653173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Stalking</a:t>
            </a:r>
          </a:p>
        </p:txBody>
      </p:sp>
      <p:sp>
        <p:nvSpPr>
          <p:cNvPr id="3" name="Content Placeholder 2"/>
          <p:cNvSpPr>
            <a:spLocks noGrp="1"/>
          </p:cNvSpPr>
          <p:nvPr>
            <p:ph idx="1"/>
          </p:nvPr>
        </p:nvSpPr>
        <p:spPr>
          <a:xfrm>
            <a:off x="838200" y="1690688"/>
            <a:ext cx="10515600" cy="3203575"/>
          </a:xfrm>
        </p:spPr>
        <p:txBody>
          <a:bodyPr/>
          <a:lstStyle/>
          <a:p>
            <a:pPr marL="0" indent="0" algn="just">
              <a:buNone/>
            </a:pPr>
            <a:r>
              <a:rPr lang="en-US" dirty="0"/>
              <a:t>This is a kind of online harassment wherein the  victim is subjected to a barrage of online messages and emails. </a:t>
            </a:r>
          </a:p>
          <a:p>
            <a:pPr marL="0" indent="0" algn="just">
              <a:buNone/>
            </a:pPr>
            <a:r>
              <a:rPr lang="en-US" dirty="0"/>
              <a:t>Typically,  these stalkers know their victims and instead of resorting to offline  stalking, they use the Internet to stalk. </a:t>
            </a:r>
          </a:p>
          <a:p>
            <a:pPr marL="0" indent="0" algn="just">
              <a:buNone/>
            </a:pPr>
            <a:r>
              <a:rPr lang="en-US" dirty="0"/>
              <a:t>However, if they notice that cyber stalking is not having the desired effect, they begin offline stalking along  with cyber stalking to make the victims’ lives more miserable.</a:t>
            </a:r>
          </a:p>
          <a:p>
            <a:pPr marL="0" indent="0" algn="just">
              <a:buNone/>
            </a:pPr>
            <a:endParaRPr lang="en-US" dirty="0"/>
          </a:p>
        </p:txBody>
      </p:sp>
      <p:sp>
        <p:nvSpPr>
          <p:cNvPr id="4" name="object 3"/>
          <p:cNvSpPr/>
          <p:nvPr/>
        </p:nvSpPr>
        <p:spPr>
          <a:xfrm>
            <a:off x="5742432" y="4370832"/>
            <a:ext cx="5611368" cy="234086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989765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Software</a:t>
            </a:r>
          </a:p>
        </p:txBody>
      </p:sp>
      <p:sp>
        <p:nvSpPr>
          <p:cNvPr id="3" name="Content Placeholder 2"/>
          <p:cNvSpPr>
            <a:spLocks noGrp="1"/>
          </p:cNvSpPr>
          <p:nvPr>
            <p:ph idx="1"/>
          </p:nvPr>
        </p:nvSpPr>
        <p:spPr/>
        <p:txBody>
          <a:bodyPr>
            <a:normAutofit/>
          </a:bodyPr>
          <a:lstStyle/>
          <a:p>
            <a:r>
              <a:rPr lang="en-US" spc="-5" dirty="0">
                <a:latin typeface="Carlito"/>
                <a:cs typeface="Carlito"/>
              </a:rPr>
              <a:t>Criminals </a:t>
            </a:r>
            <a:r>
              <a:rPr lang="en-US" spc="-20" dirty="0">
                <a:latin typeface="Carlito"/>
                <a:cs typeface="Carlito"/>
              </a:rPr>
              <a:t>may </a:t>
            </a:r>
            <a:r>
              <a:rPr lang="en-US" spc="-5" dirty="0">
                <a:latin typeface="Carlito"/>
                <a:cs typeface="Carlito"/>
              </a:rPr>
              <a:t>use </a:t>
            </a:r>
            <a:r>
              <a:rPr lang="en-US" dirty="0">
                <a:latin typeface="Carlito"/>
                <a:cs typeface="Carlito"/>
              </a:rPr>
              <a:t>malicious  </a:t>
            </a:r>
            <a:r>
              <a:rPr lang="en-US" spc="-10" dirty="0">
                <a:latin typeface="Carlito"/>
                <a:cs typeface="Carlito"/>
              </a:rPr>
              <a:t>software </a:t>
            </a:r>
            <a:r>
              <a:rPr lang="en-US" spc="-5" dirty="0">
                <a:latin typeface="Carlito"/>
                <a:cs typeface="Carlito"/>
              </a:rPr>
              <a:t>(or </a:t>
            </a:r>
            <a:r>
              <a:rPr lang="en-US" spc="-10" dirty="0">
                <a:latin typeface="Carlito"/>
                <a:cs typeface="Carlito"/>
              </a:rPr>
              <a:t>malware) to monitor </a:t>
            </a:r>
            <a:r>
              <a:rPr lang="en-US" spc="-15" dirty="0">
                <a:latin typeface="Carlito"/>
                <a:cs typeface="Carlito"/>
              </a:rPr>
              <a:t>your </a:t>
            </a:r>
            <a:r>
              <a:rPr lang="en-US" spc="-5" dirty="0">
                <a:latin typeface="Carlito"/>
                <a:cs typeface="Carlito"/>
              </a:rPr>
              <a:t>online  activity </a:t>
            </a:r>
            <a:r>
              <a:rPr lang="en-US" dirty="0">
                <a:latin typeface="Carlito"/>
                <a:cs typeface="Carlito"/>
              </a:rPr>
              <a:t>and </a:t>
            </a:r>
            <a:r>
              <a:rPr lang="en-US" spc="-5" dirty="0">
                <a:latin typeface="Carlito"/>
                <a:cs typeface="Carlito"/>
              </a:rPr>
              <a:t>cause </a:t>
            </a:r>
            <a:r>
              <a:rPr lang="en-US" spc="-10" dirty="0">
                <a:latin typeface="Carlito"/>
                <a:cs typeface="Carlito"/>
              </a:rPr>
              <a:t>damage </a:t>
            </a:r>
            <a:r>
              <a:rPr lang="en-US" spc="-15" dirty="0">
                <a:latin typeface="Carlito"/>
                <a:cs typeface="Carlito"/>
              </a:rPr>
              <a:t>to </a:t>
            </a:r>
            <a:r>
              <a:rPr lang="en-US" dirty="0">
                <a:latin typeface="Carlito"/>
                <a:cs typeface="Carlito"/>
              </a:rPr>
              <a:t>the</a:t>
            </a:r>
            <a:r>
              <a:rPr lang="en-US" spc="-45" dirty="0">
                <a:latin typeface="Carlito"/>
                <a:cs typeface="Carlito"/>
              </a:rPr>
              <a:t> computer.</a:t>
            </a:r>
          </a:p>
          <a:p>
            <a:r>
              <a:rPr lang="en-US" spc="-10" dirty="0">
                <a:latin typeface="Carlito"/>
                <a:cs typeface="Carlito"/>
              </a:rPr>
              <a:t>can also be used to steal your  usernames, passwords or other information.</a:t>
            </a:r>
          </a:p>
          <a:p>
            <a:r>
              <a:rPr lang="en-US" spc="-10" dirty="0">
                <a:latin typeface="Carlito"/>
                <a:cs typeface="Carlito"/>
              </a:rPr>
              <a:t>Malware </a:t>
            </a:r>
            <a:r>
              <a:rPr lang="en-US" dirty="0">
                <a:latin typeface="Carlito"/>
                <a:cs typeface="Carlito"/>
              </a:rPr>
              <a:t>is </a:t>
            </a:r>
            <a:r>
              <a:rPr lang="en-US" spc="-10" dirty="0">
                <a:latin typeface="Carlito"/>
                <a:cs typeface="Carlito"/>
              </a:rPr>
              <a:t>often </a:t>
            </a:r>
            <a:r>
              <a:rPr lang="en-US" spc="-5" dirty="0">
                <a:latin typeface="Carlito"/>
                <a:cs typeface="Carlito"/>
              </a:rPr>
              <a:t>downloaded </a:t>
            </a:r>
            <a:r>
              <a:rPr lang="en-US" dirty="0">
                <a:latin typeface="Carlito"/>
                <a:cs typeface="Carlito"/>
              </a:rPr>
              <a:t>when </a:t>
            </a:r>
            <a:r>
              <a:rPr lang="en-US" spc="-5" dirty="0">
                <a:latin typeface="Carlito"/>
                <a:cs typeface="Carlito"/>
              </a:rPr>
              <a:t>people open </a:t>
            </a:r>
            <a:r>
              <a:rPr lang="en-US" dirty="0">
                <a:latin typeface="Carlito"/>
                <a:cs typeface="Carlito"/>
              </a:rPr>
              <a:t>an </a:t>
            </a:r>
            <a:r>
              <a:rPr lang="en-US" spc="-20" dirty="0">
                <a:latin typeface="Carlito"/>
                <a:cs typeface="Carlito"/>
              </a:rPr>
              <a:t>infected </a:t>
            </a:r>
            <a:r>
              <a:rPr lang="en-US" dirty="0">
                <a:latin typeface="Carlito"/>
                <a:cs typeface="Carlito"/>
              </a:rPr>
              <a:t>email </a:t>
            </a:r>
            <a:r>
              <a:rPr lang="en-US" spc="-15" dirty="0">
                <a:latin typeface="Carlito"/>
                <a:cs typeface="Carlito"/>
              </a:rPr>
              <a:t>attachment </a:t>
            </a:r>
            <a:r>
              <a:rPr lang="en-US" spc="-5" dirty="0">
                <a:latin typeface="Carlito"/>
                <a:cs typeface="Carlito"/>
              </a:rPr>
              <a:t>or </a:t>
            </a:r>
            <a:r>
              <a:rPr lang="en-US" dirty="0">
                <a:latin typeface="Carlito"/>
                <a:cs typeface="Carlito"/>
              </a:rPr>
              <a:t>click a </a:t>
            </a:r>
            <a:r>
              <a:rPr lang="en-US" spc="-10" dirty="0">
                <a:latin typeface="Carlito"/>
                <a:cs typeface="Carlito"/>
              </a:rPr>
              <a:t>mistrustful </a:t>
            </a:r>
            <a:r>
              <a:rPr lang="en-US" spc="-5" dirty="0">
                <a:latin typeface="Carlito"/>
                <a:cs typeface="Carlito"/>
              </a:rPr>
              <a:t>link </a:t>
            </a:r>
            <a:r>
              <a:rPr lang="en-US" spc="-10" dirty="0">
                <a:latin typeface="Carlito"/>
                <a:cs typeface="Carlito"/>
              </a:rPr>
              <a:t>in </a:t>
            </a:r>
            <a:r>
              <a:rPr lang="en-US" dirty="0">
                <a:latin typeface="Carlito"/>
                <a:cs typeface="Carlito"/>
              </a:rPr>
              <a:t>an </a:t>
            </a:r>
            <a:r>
              <a:rPr lang="en-US" spc="-5" dirty="0">
                <a:latin typeface="Carlito"/>
                <a:cs typeface="Carlito"/>
              </a:rPr>
              <a:t>email.</a:t>
            </a:r>
          </a:p>
          <a:p>
            <a:r>
              <a:rPr lang="en-US" dirty="0">
                <a:latin typeface="Carlito"/>
                <a:cs typeface="Carlito"/>
              </a:rPr>
              <a:t>Different types of malware include viruses, worm, spyware, adware, </a:t>
            </a:r>
            <a:r>
              <a:rPr lang="en-US" dirty="0" err="1">
                <a:latin typeface="Carlito"/>
                <a:cs typeface="Carlito"/>
              </a:rPr>
              <a:t>ransomware</a:t>
            </a:r>
            <a:r>
              <a:rPr lang="en-US" dirty="0">
                <a:latin typeface="Carlito"/>
                <a:cs typeface="Carlito"/>
              </a:rPr>
              <a:t>, and Trojan horses.</a:t>
            </a:r>
          </a:p>
        </p:txBody>
      </p:sp>
    </p:spTree>
    <p:extLst>
      <p:ext uri="{BB962C8B-B14F-4D97-AF65-F5344CB8AC3E}">
        <p14:creationId xmlns:p14="http://schemas.microsoft.com/office/powerpoint/2010/main" val="34439342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stages of a malware atta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71145" y="605847"/>
            <a:ext cx="8551577" cy="6252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9841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Malware Types</a:t>
            </a:r>
          </a:p>
        </p:txBody>
      </p:sp>
      <p:pic>
        <p:nvPicPr>
          <p:cNvPr id="4" name="Content Placeholder 3"/>
          <p:cNvPicPr>
            <a:picLocks noGrp="1" noChangeAspect="1"/>
          </p:cNvPicPr>
          <p:nvPr>
            <p:ph idx="1"/>
          </p:nvPr>
        </p:nvPicPr>
        <p:blipFill rotWithShape="1">
          <a:blip r:embed="rId2"/>
          <a:srcRect l="4106" t="35580" r="6448" b="35435"/>
          <a:stretch/>
        </p:blipFill>
        <p:spPr>
          <a:xfrm>
            <a:off x="689410" y="2443655"/>
            <a:ext cx="10664390" cy="2490951"/>
          </a:xfrm>
          <a:prstGeom prst="rect">
            <a:avLst/>
          </a:prstGeom>
        </p:spPr>
      </p:pic>
    </p:spTree>
    <p:extLst>
      <p:ext uri="{BB962C8B-B14F-4D97-AF65-F5344CB8AC3E}">
        <p14:creationId xmlns:p14="http://schemas.microsoft.com/office/powerpoint/2010/main" val="31969340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Virus</a:t>
            </a:r>
          </a:p>
        </p:txBody>
      </p:sp>
      <p:sp>
        <p:nvSpPr>
          <p:cNvPr id="3" name="Content Placeholder 2"/>
          <p:cNvSpPr>
            <a:spLocks noGrp="1"/>
          </p:cNvSpPr>
          <p:nvPr>
            <p:ph idx="1"/>
          </p:nvPr>
        </p:nvSpPr>
        <p:spPr>
          <a:xfrm>
            <a:off x="838199" y="1825625"/>
            <a:ext cx="5905211" cy="4351338"/>
          </a:xfrm>
        </p:spPr>
        <p:txBody>
          <a:bodyPr/>
          <a:lstStyle/>
          <a:p>
            <a:pPr algn="just"/>
            <a:r>
              <a:rPr lang="en-US" dirty="0"/>
              <a:t>A computer virus is a type of computer program that, when executed, replicates itself by modifying other computer programs and inserting its own code.</a:t>
            </a:r>
          </a:p>
          <a:p>
            <a:pPr algn="just"/>
            <a:r>
              <a:rPr lang="en-US" dirty="0"/>
              <a:t>When this replication succeeds, the affected areas are then said to be "infected" with a computer virus.</a:t>
            </a:r>
          </a:p>
        </p:txBody>
      </p:sp>
      <p:pic>
        <p:nvPicPr>
          <p:cNvPr id="9220" name="Picture 4" descr="Computer-Viru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43410" y="1949768"/>
            <a:ext cx="5134818" cy="3445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50805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sp>
        <p:nvSpPr>
          <p:cNvPr id="3" name="Content Placeholder 2"/>
          <p:cNvSpPr>
            <a:spLocks noGrp="1"/>
          </p:cNvSpPr>
          <p:nvPr>
            <p:ph idx="1"/>
          </p:nvPr>
        </p:nvSpPr>
        <p:spPr/>
        <p:txBody>
          <a:bodyPr/>
          <a:lstStyle/>
          <a:p>
            <a:r>
              <a:rPr lang="en-US" dirty="0"/>
              <a:t>It is a standalone malware computer program that replicates itself in order to spread to other computers.</a:t>
            </a:r>
          </a:p>
          <a:p>
            <a:r>
              <a:rPr lang="en-US" dirty="0"/>
              <a:t>It often uses a computer network to spread itself, relying on security failures on the target computer to access it. </a:t>
            </a:r>
          </a:p>
          <a:p>
            <a:r>
              <a:rPr lang="en-US" dirty="0"/>
              <a:t>It will use this machine as a host to scan and infect other computers. When these new worm-invaded computers are controlled, the worm will continue to scan and infect other computers using these computers as hosts, and this behavior will continue</a:t>
            </a:r>
          </a:p>
          <a:p>
            <a:endParaRPr lang="en-US" dirty="0"/>
          </a:p>
        </p:txBody>
      </p:sp>
    </p:spTree>
    <p:extLst>
      <p:ext uri="{BB962C8B-B14F-4D97-AF65-F5344CB8AC3E}">
        <p14:creationId xmlns:p14="http://schemas.microsoft.com/office/powerpoint/2010/main" val="35756474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pic>
        <p:nvPicPr>
          <p:cNvPr id="10242" name="Picture 2" descr="https://upload.wikimedia.org/wikipedia/commons/thumb/5/53/Conficker.svg/1024px-Conficker.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9960" y="746125"/>
            <a:ext cx="8487389" cy="60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6897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 horse</a:t>
            </a:r>
          </a:p>
        </p:txBody>
      </p:sp>
      <p:sp>
        <p:nvSpPr>
          <p:cNvPr id="3" name="Content Placeholder 2"/>
          <p:cNvSpPr>
            <a:spLocks noGrp="1"/>
          </p:cNvSpPr>
          <p:nvPr>
            <p:ph idx="1"/>
          </p:nvPr>
        </p:nvSpPr>
        <p:spPr>
          <a:xfrm>
            <a:off x="838200" y="1825625"/>
            <a:ext cx="6979920" cy="4351338"/>
          </a:xfrm>
        </p:spPr>
        <p:txBody>
          <a:bodyPr/>
          <a:lstStyle/>
          <a:p>
            <a:pPr algn="just"/>
            <a:r>
              <a:rPr lang="en-US" dirty="0"/>
              <a:t>In computing, a Trojan horse, or Trojan, is any malware which misleads users of its true intent. The term is derived from the Ancient Greek story of the deceptive Trojan Horse that led to the fall of the city of Troy.</a:t>
            </a:r>
          </a:p>
          <a:p>
            <a:pPr algn="just"/>
            <a:endParaRPr lang="en-US" dirty="0"/>
          </a:p>
        </p:txBody>
      </p:sp>
      <p:pic>
        <p:nvPicPr>
          <p:cNvPr id="7" name="Picture 6"/>
          <p:cNvPicPr>
            <a:picLocks noChangeAspect="1"/>
          </p:cNvPicPr>
          <p:nvPr/>
        </p:nvPicPr>
        <p:blipFill rotWithShape="1">
          <a:blip r:embed="rId3"/>
          <a:srcRect l="64125" t="28000" r="8375" b="33401"/>
          <a:stretch/>
        </p:blipFill>
        <p:spPr>
          <a:xfrm>
            <a:off x="7818120" y="1996440"/>
            <a:ext cx="3352800" cy="2941320"/>
          </a:xfrm>
          <a:prstGeom prst="rect">
            <a:avLst/>
          </a:prstGeom>
        </p:spPr>
      </p:pic>
    </p:spTree>
    <p:extLst>
      <p:ext uri="{BB962C8B-B14F-4D97-AF65-F5344CB8AC3E}">
        <p14:creationId xmlns:p14="http://schemas.microsoft.com/office/powerpoint/2010/main" val="22248881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Spyware</a:t>
            </a:r>
          </a:p>
        </p:txBody>
      </p:sp>
      <p:sp>
        <p:nvSpPr>
          <p:cNvPr id="3" name="Content Placeholder 2"/>
          <p:cNvSpPr>
            <a:spLocks noGrp="1"/>
          </p:cNvSpPr>
          <p:nvPr>
            <p:ph idx="1"/>
          </p:nvPr>
        </p:nvSpPr>
        <p:spPr>
          <a:xfrm>
            <a:off x="838200" y="1825625"/>
            <a:ext cx="5760720" cy="4351338"/>
          </a:xfrm>
        </p:spPr>
        <p:txBody>
          <a:bodyPr>
            <a:normAutofit lnSpcReduction="10000"/>
          </a:bodyPr>
          <a:lstStyle/>
          <a:p>
            <a:pPr algn="just"/>
            <a:r>
              <a:rPr lang="en-US" dirty="0"/>
              <a:t>Spyware is a type of malware made to see and manipulate data on your device.</a:t>
            </a:r>
          </a:p>
          <a:p>
            <a:pPr algn="just"/>
            <a:r>
              <a:rPr lang="en-US" dirty="0"/>
              <a:t>It is a software with malicious behavior that aims to gather information about a person or organization and send such information to another entity in a way that harms the user; for example by violating their privacy or endangering their device's security.</a:t>
            </a:r>
          </a:p>
        </p:txBody>
      </p:sp>
      <p:pic>
        <p:nvPicPr>
          <p:cNvPr id="12290" name="Picture 2" descr="What is Spyware: Looking back through the Keyhole. | Le VP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8920" y="2208840"/>
            <a:ext cx="5471160" cy="330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0537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Adware</a:t>
            </a:r>
          </a:p>
        </p:txBody>
      </p:sp>
      <p:sp>
        <p:nvSpPr>
          <p:cNvPr id="3" name="Content Placeholder 2"/>
          <p:cNvSpPr>
            <a:spLocks noGrp="1"/>
          </p:cNvSpPr>
          <p:nvPr>
            <p:ph idx="1"/>
          </p:nvPr>
        </p:nvSpPr>
        <p:spPr>
          <a:xfrm>
            <a:off x="838200" y="1825625"/>
            <a:ext cx="5745480" cy="4351338"/>
          </a:xfrm>
        </p:spPr>
        <p:txBody>
          <a:bodyPr/>
          <a:lstStyle/>
          <a:p>
            <a:pPr algn="just"/>
            <a:r>
              <a:rPr lang="en-US" dirty="0"/>
              <a:t>It is often called advertising-supported software by its developers to generate revenue for its developer by automatically generating online advertisements in the user interface of the software or on a screen presented to the user during the installation process.</a:t>
            </a:r>
          </a:p>
        </p:txBody>
      </p:sp>
      <p:pic>
        <p:nvPicPr>
          <p:cNvPr id="13314" name="Picture 2" descr="What is Adware And How Can I Get Rid Of It? | by AdBlock | AdBlock's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495" y="1825625"/>
            <a:ext cx="4766945" cy="3189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557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Ransomware</a:t>
            </a:r>
          </a:p>
        </p:txBody>
      </p:sp>
      <p:sp>
        <p:nvSpPr>
          <p:cNvPr id="3" name="Content Placeholder 2"/>
          <p:cNvSpPr>
            <a:spLocks noGrp="1"/>
          </p:cNvSpPr>
          <p:nvPr>
            <p:ph idx="1"/>
          </p:nvPr>
        </p:nvSpPr>
        <p:spPr/>
        <p:txBody>
          <a:bodyPr/>
          <a:lstStyle/>
          <a:p>
            <a:r>
              <a:rPr lang="en-US" dirty="0"/>
              <a:t>It is a type of malware from crypto-virology that threatens to publish the victim's data or perpetually block access to it unless a ransom is paid.</a:t>
            </a:r>
          </a:p>
          <a:p>
            <a:r>
              <a:rPr lang="en-US" dirty="0"/>
              <a:t>Ransomware attacks are typically carried out using a Trojan that is disguised as a legitimate file that the user is tricked into downloading or opening when it arrives as an email attachment.</a:t>
            </a:r>
          </a:p>
        </p:txBody>
      </p:sp>
    </p:spTree>
    <p:extLst>
      <p:ext uri="{BB962C8B-B14F-4D97-AF65-F5344CB8AC3E}">
        <p14:creationId xmlns:p14="http://schemas.microsoft.com/office/powerpoint/2010/main" val="36193029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Rootkit</a:t>
            </a:r>
          </a:p>
        </p:txBody>
      </p:sp>
      <p:sp>
        <p:nvSpPr>
          <p:cNvPr id="3" name="Content Placeholder 2"/>
          <p:cNvSpPr>
            <a:spLocks noGrp="1"/>
          </p:cNvSpPr>
          <p:nvPr>
            <p:ph idx="1"/>
          </p:nvPr>
        </p:nvSpPr>
        <p:spPr>
          <a:xfrm>
            <a:off x="838200" y="1825625"/>
            <a:ext cx="6507480" cy="4351338"/>
          </a:xfrm>
        </p:spPr>
        <p:txBody>
          <a:bodyPr/>
          <a:lstStyle/>
          <a:p>
            <a:pPr algn="just"/>
            <a:r>
              <a:rPr lang="en-US" dirty="0"/>
              <a:t>A rootkit is a collection of malicious software, designed to enable access to a computer or an area of its software that is not otherwise allowed and often masks its existence or the existence of other software. </a:t>
            </a:r>
          </a:p>
          <a:p>
            <a:pPr algn="just"/>
            <a:r>
              <a:rPr lang="en-US" dirty="0"/>
              <a:t>The term rootkit is a compound from "root" and the word "kit". </a:t>
            </a:r>
          </a:p>
          <a:p>
            <a:pPr algn="just"/>
            <a:r>
              <a:rPr lang="en-US" dirty="0"/>
              <a:t>Such software are security threats for an operating systems. </a:t>
            </a:r>
          </a:p>
        </p:txBody>
      </p:sp>
      <p:pic>
        <p:nvPicPr>
          <p:cNvPr id="14338" name="Picture 2" descr="https://upload.wikimedia.org/wikipedia/commons/thumb/2/25/CPU_ring_scheme.svg/220px-CPU_ring_schem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2840" y="1226026"/>
            <a:ext cx="4556760" cy="4556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2679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keylogging</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t>Keystroke logging, often referred to as </a:t>
            </a:r>
            <a:r>
              <a:rPr lang="en-US" dirty="0" err="1"/>
              <a:t>keylogging</a:t>
            </a:r>
            <a:r>
              <a:rPr lang="en-US" dirty="0"/>
              <a:t> or keyboard capturing, is the action of recording the keys struck on a keyboard, typically covertly, so that person using the keyboard is unaware that their actions are being monitored. </a:t>
            </a:r>
          </a:p>
          <a:p>
            <a:pPr algn="just"/>
            <a:r>
              <a:rPr lang="en-US" dirty="0"/>
              <a:t>Data can then be retrieved by the person operating the logging program.</a:t>
            </a:r>
          </a:p>
        </p:txBody>
      </p:sp>
    </p:spTree>
    <p:extLst>
      <p:ext uri="{BB962C8B-B14F-4D97-AF65-F5344CB8AC3E}">
        <p14:creationId xmlns:p14="http://schemas.microsoft.com/office/powerpoint/2010/main" val="42097229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 of Service Attack</a:t>
            </a:r>
          </a:p>
        </p:txBody>
      </p:sp>
      <p:sp>
        <p:nvSpPr>
          <p:cNvPr id="3" name="Content Placeholder 2"/>
          <p:cNvSpPr>
            <a:spLocks noGrp="1"/>
          </p:cNvSpPr>
          <p:nvPr>
            <p:ph idx="1"/>
          </p:nvPr>
        </p:nvSpPr>
        <p:spPr/>
        <p:txBody>
          <a:bodyPr/>
          <a:lstStyle/>
          <a:p>
            <a:pPr algn="just"/>
            <a:r>
              <a:rPr lang="en-US" dirty="0"/>
              <a:t>A Denial-of-Service (</a:t>
            </a:r>
            <a:r>
              <a:rPr lang="en-US" dirty="0" err="1"/>
              <a:t>DoS</a:t>
            </a:r>
            <a:r>
              <a:rPr lang="en-US" dirty="0"/>
              <a:t>) attack is mounted with the objective of causing a negative impact on the performance of a computer or network. </a:t>
            </a:r>
          </a:p>
          <a:p>
            <a:pPr algn="just"/>
            <a:r>
              <a:rPr lang="en-US" dirty="0"/>
              <a:t>It is also known as a network saturation attack or bandwidth consumption attack. </a:t>
            </a:r>
          </a:p>
          <a:p>
            <a:pPr algn="just"/>
            <a:r>
              <a:rPr lang="en-US" dirty="0"/>
              <a:t>Attackers perform </a:t>
            </a:r>
            <a:r>
              <a:rPr lang="en-US" dirty="0" err="1"/>
              <a:t>DoS</a:t>
            </a:r>
            <a:r>
              <a:rPr lang="en-US" dirty="0"/>
              <a:t> attacks by sending a large number of protocol packets to the network</a:t>
            </a:r>
          </a:p>
          <a:p>
            <a:pPr algn="just"/>
            <a:endParaRPr lang="en-US" dirty="0"/>
          </a:p>
        </p:txBody>
      </p:sp>
    </p:spTree>
    <p:extLst>
      <p:ext uri="{BB962C8B-B14F-4D97-AF65-F5344CB8AC3E}">
        <p14:creationId xmlns:p14="http://schemas.microsoft.com/office/powerpoint/2010/main" val="41916272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Intellectual Property Rights</a:t>
            </a:r>
          </a:p>
        </p:txBody>
      </p:sp>
      <p:sp>
        <p:nvSpPr>
          <p:cNvPr id="3" name="Content Placeholder 2"/>
          <p:cNvSpPr>
            <a:spLocks noGrp="1"/>
          </p:cNvSpPr>
          <p:nvPr>
            <p:ph idx="1"/>
          </p:nvPr>
        </p:nvSpPr>
        <p:spPr/>
        <p:txBody>
          <a:bodyPr/>
          <a:lstStyle/>
          <a:p>
            <a:pPr algn="just"/>
            <a:r>
              <a:rPr lang="en-US" dirty="0"/>
              <a:t>Intellectual property rights is concerned with any act that allows access to patent, trade secrets, customer data, sales trends, and any confidential information.</a:t>
            </a:r>
          </a:p>
          <a:p>
            <a:pPr algn="just"/>
            <a:endParaRPr lang="en-US" dirty="0"/>
          </a:p>
          <a:p>
            <a:pPr algn="just"/>
            <a:endParaRPr lang="en-US" dirty="0"/>
          </a:p>
        </p:txBody>
      </p:sp>
    </p:spTree>
    <p:extLst>
      <p:ext uri="{BB962C8B-B14F-4D97-AF65-F5344CB8AC3E}">
        <p14:creationId xmlns:p14="http://schemas.microsoft.com/office/powerpoint/2010/main" val="36004510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Eavesdropping and Unauthorized Alteration </a:t>
            </a:r>
          </a:p>
        </p:txBody>
      </p:sp>
      <p:sp>
        <p:nvSpPr>
          <p:cNvPr id="3" name="Content Placeholder 2"/>
          <p:cNvSpPr>
            <a:spLocks noGrp="1"/>
          </p:cNvSpPr>
          <p:nvPr>
            <p:ph idx="1"/>
          </p:nvPr>
        </p:nvSpPr>
        <p:spPr/>
        <p:txBody>
          <a:bodyPr/>
          <a:lstStyle/>
          <a:p>
            <a:r>
              <a:rPr lang="en-US" dirty="0"/>
              <a:t>Illegal interception of telecommunications by stealing the electrical signals through EM eavesdropping</a:t>
            </a:r>
          </a:p>
          <a:p>
            <a:r>
              <a:rPr lang="en-US" dirty="0"/>
              <a:t>Interception of electronic funds transfer fraud</a:t>
            </a:r>
          </a:p>
          <a:p>
            <a:r>
              <a:rPr lang="en-US" dirty="0"/>
              <a:t>Theft of Telecommunications Services </a:t>
            </a:r>
          </a:p>
          <a:p>
            <a:r>
              <a:rPr lang="en-US" dirty="0"/>
              <a:t>Communications in furtherance of criminal conspiracies</a:t>
            </a:r>
          </a:p>
          <a:p>
            <a:endParaRPr lang="en-US" dirty="0"/>
          </a:p>
        </p:txBody>
      </p:sp>
    </p:spTree>
    <p:extLst>
      <p:ext uri="{BB962C8B-B14F-4D97-AF65-F5344CB8AC3E}">
        <p14:creationId xmlns:p14="http://schemas.microsoft.com/office/powerpoint/2010/main" val="29285145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lstStyle/>
          <a:p>
            <a:pPr algn="just"/>
            <a:r>
              <a:rPr lang="en-US" dirty="0"/>
              <a:t>Digital technology permits perfect reproduction and easy dissemination of print, graphics, sound, and multimedia combinations. </a:t>
            </a:r>
          </a:p>
          <a:p>
            <a:pPr algn="just"/>
            <a:r>
              <a:rPr lang="en-US" dirty="0"/>
              <a:t>The temptation to reproduce copyrighted material for personal use, for sale at a lower price, or indeed, for free distribution</a:t>
            </a:r>
          </a:p>
          <a:p>
            <a:pPr algn="just"/>
            <a:r>
              <a:rPr lang="en-US" dirty="0"/>
              <a:t>This has caused considerable concern to owners of copyrighted material. </a:t>
            </a:r>
          </a:p>
          <a:p>
            <a:pPr algn="just"/>
            <a:r>
              <a:rPr lang="en-US" dirty="0"/>
              <a:t>Each year, it has been estimated that losses of between US$15 and US$17 billion only in USA.</a:t>
            </a:r>
          </a:p>
          <a:p>
            <a:endParaRPr lang="en-US" dirty="0"/>
          </a:p>
        </p:txBody>
      </p:sp>
    </p:spTree>
    <p:extLst>
      <p:ext uri="{BB962C8B-B14F-4D97-AF65-F5344CB8AC3E}">
        <p14:creationId xmlns:p14="http://schemas.microsoft.com/office/powerpoint/2010/main" val="362711261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normAutofit lnSpcReduction="10000"/>
          </a:bodyPr>
          <a:lstStyle/>
          <a:p>
            <a:pPr algn="just"/>
            <a:r>
              <a:rPr lang="en-US" dirty="0"/>
              <a:t>The Software Publishers Association has estimated that $7.4 billion worth of software was lost to piracy in 1993 with $2 billion of that being stolen from the Internet (1994).</a:t>
            </a:r>
          </a:p>
          <a:p>
            <a:pPr algn="just"/>
            <a:r>
              <a:rPr lang="en-US" dirty="0"/>
              <a:t>The cost of foreign piracy to American industry at more than $10 billion in 1996, including $1.8 billion in the film industry, $1.2 billion in music, $3.8 billion in business application software, and $690 million in book publishing. (1998)</a:t>
            </a:r>
          </a:p>
          <a:p>
            <a:pPr algn="just"/>
            <a:r>
              <a:rPr lang="en-US" dirty="0"/>
              <a:t>According to the Straits Times (8/11/99) A copy of James Bond Film </a:t>
            </a:r>
            <a:r>
              <a:rPr lang="en-US" b="1" dirty="0"/>
              <a:t>The World is Not Enough</a:t>
            </a:r>
            <a:r>
              <a:rPr lang="en-US" dirty="0"/>
              <a:t>, was available free on the internet before its official release.</a:t>
            </a:r>
          </a:p>
          <a:p>
            <a:pPr algn="just"/>
            <a:r>
              <a:rPr lang="en-US" dirty="0"/>
              <a:t>Same happened to the movie “</a:t>
            </a:r>
            <a:r>
              <a:rPr lang="en-US" b="1" dirty="0"/>
              <a:t>Transformers” </a:t>
            </a:r>
            <a:r>
              <a:rPr lang="en-US" dirty="0"/>
              <a:t>2015. </a:t>
            </a:r>
          </a:p>
        </p:txBody>
      </p:sp>
    </p:spTree>
    <p:extLst>
      <p:ext uri="{BB962C8B-B14F-4D97-AF65-F5344CB8AC3E}">
        <p14:creationId xmlns:p14="http://schemas.microsoft.com/office/powerpoint/2010/main" val="5328804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Dissemination of offensive Material</a:t>
            </a:r>
          </a:p>
        </p:txBody>
      </p:sp>
      <p:sp>
        <p:nvSpPr>
          <p:cNvPr id="3" name="Content Placeholder 2"/>
          <p:cNvSpPr>
            <a:spLocks noGrp="1"/>
          </p:cNvSpPr>
          <p:nvPr>
            <p:ph idx="1"/>
          </p:nvPr>
        </p:nvSpPr>
        <p:spPr/>
        <p:txBody>
          <a:bodyPr>
            <a:noAutofit/>
          </a:bodyPr>
          <a:lstStyle/>
          <a:p>
            <a:pPr algn="just"/>
            <a:r>
              <a:rPr lang="en-US" dirty="0"/>
              <a:t>Computer networks may also be used in furtherance of extortion. </a:t>
            </a:r>
          </a:p>
          <a:p>
            <a:pPr lvl="1" algn="just"/>
            <a:r>
              <a:rPr lang="en-US" dirty="0"/>
              <a:t>The Sunday Times (London) reported in 1996 that over 40 financial institutions in Britain and the United States had been attacked electronically over the previous three years. </a:t>
            </a:r>
          </a:p>
          <a:p>
            <a:pPr lvl="1" algn="just"/>
            <a:r>
              <a:rPr lang="en-US" dirty="0"/>
              <a:t>In England, financial institutions were reported to have paid significant amounts to sophisticated computer criminals who threatened to wipe out computer systems. (The Sunday Times, June 2, 1996).</a:t>
            </a:r>
          </a:p>
          <a:p>
            <a:pPr lvl="1" algn="just"/>
            <a:r>
              <a:rPr lang="en-US" dirty="0"/>
              <a:t>Between 1993 and 1995 in which a total of 42.5 million Pounds were paid by senior executives of the organizations concerned, who were convinced of the extortionists' capacity to crash their computer systems</a:t>
            </a:r>
          </a:p>
          <a:p>
            <a:endParaRPr lang="en-US" dirty="0"/>
          </a:p>
        </p:txBody>
      </p:sp>
    </p:spTree>
    <p:extLst>
      <p:ext uri="{BB962C8B-B14F-4D97-AF65-F5344CB8AC3E}">
        <p14:creationId xmlns:p14="http://schemas.microsoft.com/office/powerpoint/2010/main" val="153180291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Money laundering &amp; Tax Evasion</a:t>
            </a:r>
          </a:p>
        </p:txBody>
      </p:sp>
      <p:sp>
        <p:nvSpPr>
          <p:cNvPr id="3" name="Content Placeholder 2"/>
          <p:cNvSpPr>
            <a:spLocks noGrp="1"/>
          </p:cNvSpPr>
          <p:nvPr>
            <p:ph idx="1"/>
          </p:nvPr>
        </p:nvSpPr>
        <p:spPr/>
        <p:txBody>
          <a:bodyPr/>
          <a:lstStyle/>
          <a:p>
            <a:r>
              <a:rPr lang="en-US" dirty="0"/>
              <a:t>Electronic funds transfers have assisted in concealing and in moving the proceeds of crime.</a:t>
            </a:r>
          </a:p>
          <a:p>
            <a:r>
              <a:rPr lang="en-US" dirty="0"/>
              <a:t>Income may also be more easily concealed from taxation authorities.</a:t>
            </a:r>
          </a:p>
          <a:p>
            <a:r>
              <a:rPr lang="en-US" dirty="0"/>
              <a:t>Sales and investment frauds </a:t>
            </a:r>
          </a:p>
          <a:p>
            <a:r>
              <a:rPr lang="en-US" dirty="0"/>
              <a:t>The loss is so big that no exact statistics are available.</a:t>
            </a:r>
          </a:p>
          <a:p>
            <a:r>
              <a:rPr lang="en-US" dirty="0"/>
              <a:t>Sometime, Raise Serious questions for critical solutions?</a:t>
            </a:r>
          </a:p>
          <a:p>
            <a:endParaRPr lang="en-US" dirty="0"/>
          </a:p>
          <a:p>
            <a:endParaRPr lang="en-US" dirty="0"/>
          </a:p>
        </p:txBody>
      </p:sp>
    </p:spTree>
    <p:extLst>
      <p:ext uri="{BB962C8B-B14F-4D97-AF65-F5344CB8AC3E}">
        <p14:creationId xmlns:p14="http://schemas.microsoft.com/office/powerpoint/2010/main" val="37108466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vandalism, terrorism and extortion </a:t>
            </a:r>
          </a:p>
        </p:txBody>
      </p:sp>
      <p:sp>
        <p:nvSpPr>
          <p:cNvPr id="3" name="Content Placeholder 2"/>
          <p:cNvSpPr>
            <a:spLocks noGrp="1"/>
          </p:cNvSpPr>
          <p:nvPr>
            <p:ph idx="1"/>
          </p:nvPr>
        </p:nvSpPr>
        <p:spPr/>
        <p:txBody>
          <a:bodyPr>
            <a:normAutofit fontScale="92500" lnSpcReduction="20000"/>
          </a:bodyPr>
          <a:lstStyle/>
          <a:p>
            <a:pPr algn="just"/>
            <a:r>
              <a:rPr lang="en-US" dirty="0"/>
              <a:t>Defense planners around the world are investing substantially in information warfare- means of disrupting the information technology infrastructure of defense systems</a:t>
            </a:r>
          </a:p>
          <a:p>
            <a:pPr algn="just"/>
            <a:endParaRPr lang="en-US" dirty="0"/>
          </a:p>
          <a:p>
            <a:pPr algn="just"/>
            <a:r>
              <a:rPr lang="en-US" dirty="0"/>
              <a:t>Attempts were made to disrupt the computer systems of the </a:t>
            </a:r>
            <a:r>
              <a:rPr lang="en-US" b="1" dirty="0" err="1"/>
              <a:t>Srilankan</a:t>
            </a:r>
            <a:r>
              <a:rPr lang="en-US" b="1" dirty="0"/>
              <a:t> Government </a:t>
            </a:r>
            <a:r>
              <a:rPr lang="en-US" dirty="0"/>
              <a:t>by </a:t>
            </a:r>
            <a:r>
              <a:rPr lang="en-US" b="1" dirty="0"/>
              <a:t>Tamil Tigers </a:t>
            </a:r>
          </a:p>
          <a:p>
            <a:pPr marL="0" indent="0" algn="just">
              <a:buNone/>
            </a:pPr>
            <a:endParaRPr lang="en-US" dirty="0"/>
          </a:p>
          <a:p>
            <a:pPr algn="just"/>
            <a:r>
              <a:rPr lang="en-US" dirty="0"/>
              <a:t>One case, which illustrates the transnational reach of extortionists, involved a number of German hackers who compromised the system of an Internet service provider in South Florida, disabling eight of the ISPs ten servers. The offenders obtained personal information and credit card details of 10,000 subscribers</a:t>
            </a:r>
          </a:p>
          <a:p>
            <a:pPr algn="just"/>
            <a:endParaRPr lang="en-US" dirty="0"/>
          </a:p>
        </p:txBody>
      </p:sp>
    </p:spTree>
    <p:extLst>
      <p:ext uri="{BB962C8B-B14F-4D97-AF65-F5344CB8AC3E}">
        <p14:creationId xmlns:p14="http://schemas.microsoft.com/office/powerpoint/2010/main" val="367865316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Few Examples of online scams </a:t>
            </a:r>
          </a:p>
        </p:txBody>
      </p:sp>
      <p:sp>
        <p:nvSpPr>
          <p:cNvPr id="3" name="Content Placeholder 2"/>
          <p:cNvSpPr>
            <a:spLocks noGrp="1"/>
          </p:cNvSpPr>
          <p:nvPr>
            <p:ph idx="1"/>
          </p:nvPr>
        </p:nvSpPr>
        <p:spPr/>
        <p:txBody>
          <a:bodyPr>
            <a:normAutofit fontScale="70000" lnSpcReduction="20000"/>
          </a:bodyPr>
          <a:lstStyle/>
          <a:p>
            <a:pPr marL="527685" marR="29209" indent="-515620">
              <a:lnSpc>
                <a:spcPct val="120100"/>
              </a:lnSpc>
              <a:spcBef>
                <a:spcPts val="1675"/>
              </a:spcBef>
              <a:buAutoNum type="arabicPeriod"/>
              <a:tabLst>
                <a:tab pos="527685" algn="l"/>
                <a:tab pos="528320" algn="l"/>
              </a:tabLst>
            </a:pPr>
            <a:r>
              <a:rPr lang="en-US" b="1" spc="-10" dirty="0">
                <a:latin typeface="Carlito"/>
                <a:cs typeface="Carlito"/>
              </a:rPr>
              <a:t>Unexpected prize </a:t>
            </a:r>
            <a:r>
              <a:rPr lang="en-US" b="1" dirty="0">
                <a:latin typeface="Carlito"/>
                <a:cs typeface="Carlito"/>
              </a:rPr>
              <a:t>scams</a:t>
            </a:r>
            <a:r>
              <a:rPr lang="en-US" dirty="0">
                <a:latin typeface="Carlito"/>
                <a:cs typeface="Carlito"/>
              </a:rPr>
              <a:t>: </a:t>
            </a:r>
            <a:r>
              <a:rPr lang="en-US" spc="-10" dirty="0">
                <a:latin typeface="Carlito"/>
                <a:cs typeface="Carlito"/>
              </a:rPr>
              <a:t>They </a:t>
            </a:r>
            <a:r>
              <a:rPr lang="en-US" spc="-15" dirty="0">
                <a:latin typeface="Carlito"/>
                <a:cs typeface="Carlito"/>
              </a:rPr>
              <a:t>inform </a:t>
            </a:r>
            <a:r>
              <a:rPr lang="en-US" spc="-10" dirty="0">
                <a:latin typeface="Carlito"/>
                <a:cs typeface="Carlito"/>
              </a:rPr>
              <a:t>you that you </a:t>
            </a:r>
            <a:r>
              <a:rPr lang="en-US" spc="-20" dirty="0">
                <a:latin typeface="Carlito"/>
                <a:cs typeface="Carlito"/>
              </a:rPr>
              <a:t>have </a:t>
            </a:r>
            <a:r>
              <a:rPr lang="en-US" spc="-15" dirty="0">
                <a:latin typeface="Carlito"/>
                <a:cs typeface="Carlito"/>
              </a:rPr>
              <a:t>won </a:t>
            </a:r>
            <a:r>
              <a:rPr lang="en-US" dirty="0">
                <a:latin typeface="Carlito"/>
                <a:cs typeface="Carlito"/>
              </a:rPr>
              <a:t>a  </a:t>
            </a:r>
            <a:r>
              <a:rPr lang="en-US" spc="-15" dirty="0">
                <a:latin typeface="Carlito"/>
                <a:cs typeface="Carlito"/>
              </a:rPr>
              <a:t>prize </a:t>
            </a:r>
            <a:r>
              <a:rPr lang="en-US" spc="-10" dirty="0">
                <a:latin typeface="Carlito"/>
                <a:cs typeface="Carlito"/>
              </a:rPr>
              <a:t>(e/g. </a:t>
            </a:r>
            <a:r>
              <a:rPr lang="en-US" spc="-30" dirty="0">
                <a:latin typeface="Carlito"/>
                <a:cs typeface="Carlito"/>
              </a:rPr>
              <a:t>money, </a:t>
            </a:r>
            <a:r>
              <a:rPr lang="en-US" spc="-5" dirty="0">
                <a:latin typeface="Carlito"/>
                <a:cs typeface="Carlito"/>
              </a:rPr>
              <a:t>shopping </a:t>
            </a:r>
            <a:r>
              <a:rPr lang="en-US" spc="-15" dirty="0">
                <a:latin typeface="Carlito"/>
                <a:cs typeface="Carlito"/>
              </a:rPr>
              <a:t>vouchers, </a:t>
            </a:r>
            <a:r>
              <a:rPr lang="en-US" spc="-10" dirty="0">
                <a:latin typeface="Carlito"/>
                <a:cs typeface="Carlito"/>
              </a:rPr>
              <a:t>etc.) </a:t>
            </a:r>
            <a:r>
              <a:rPr lang="en-US" dirty="0">
                <a:latin typeface="Carlito"/>
                <a:cs typeface="Carlito"/>
              </a:rPr>
              <a:t>and </a:t>
            </a:r>
            <a:r>
              <a:rPr lang="en-US" spc="-15" dirty="0">
                <a:latin typeface="Carlito"/>
                <a:cs typeface="Carlito"/>
              </a:rPr>
              <a:t>to </a:t>
            </a:r>
            <a:r>
              <a:rPr lang="en-US" dirty="0">
                <a:latin typeface="Carlito"/>
                <a:cs typeface="Carlito"/>
              </a:rPr>
              <a:t>claim it </a:t>
            </a:r>
            <a:r>
              <a:rPr lang="en-US" spc="-10" dirty="0">
                <a:latin typeface="Carlito"/>
                <a:cs typeface="Carlito"/>
              </a:rPr>
              <a:t>you  </a:t>
            </a:r>
            <a:r>
              <a:rPr lang="en-US" spc="-15" dirty="0">
                <a:latin typeface="Carlito"/>
                <a:cs typeface="Carlito"/>
              </a:rPr>
              <a:t>are asked to </a:t>
            </a:r>
            <a:r>
              <a:rPr lang="en-US" spc="-5" dirty="0">
                <a:latin typeface="Carlito"/>
                <a:cs typeface="Carlito"/>
              </a:rPr>
              <a:t>send money or </a:t>
            </a:r>
            <a:r>
              <a:rPr lang="en-US" spc="-10" dirty="0">
                <a:latin typeface="Carlito"/>
                <a:cs typeface="Carlito"/>
              </a:rPr>
              <a:t>provide personal</a:t>
            </a:r>
            <a:r>
              <a:rPr lang="en-US" spc="10" dirty="0">
                <a:latin typeface="Carlito"/>
                <a:cs typeface="Carlito"/>
              </a:rPr>
              <a:t> </a:t>
            </a:r>
            <a:r>
              <a:rPr lang="en-US" spc="-10" dirty="0">
                <a:latin typeface="Carlito"/>
                <a:cs typeface="Carlito"/>
              </a:rPr>
              <a:t>information.</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Dating </a:t>
            </a:r>
            <a:r>
              <a:rPr lang="en-US" b="1" dirty="0">
                <a:latin typeface="Carlito"/>
                <a:cs typeface="Carlito"/>
              </a:rPr>
              <a:t>scams</a:t>
            </a:r>
            <a:endParaRPr lang="en-US" dirty="0">
              <a:latin typeface="Carlito"/>
              <a:cs typeface="Carlito"/>
            </a:endParaRPr>
          </a:p>
          <a:p>
            <a:pPr marL="527685" marR="183515" indent="-515620">
              <a:lnSpc>
                <a:spcPct val="120000"/>
              </a:lnSpc>
              <a:spcBef>
                <a:spcPts val="580"/>
              </a:spcBef>
              <a:buAutoNum type="arabicPeriod"/>
              <a:tabLst>
                <a:tab pos="527685" algn="l"/>
                <a:tab pos="528320" algn="l"/>
              </a:tabLst>
            </a:pPr>
            <a:r>
              <a:rPr lang="en-US" b="1" spc="-10" dirty="0">
                <a:latin typeface="Carlito"/>
                <a:cs typeface="Carlito"/>
              </a:rPr>
              <a:t>Jobs </a:t>
            </a:r>
            <a:r>
              <a:rPr lang="en-US" b="1" dirty="0">
                <a:latin typeface="Carlito"/>
                <a:cs typeface="Carlito"/>
              </a:rPr>
              <a:t>and </a:t>
            </a:r>
            <a:r>
              <a:rPr lang="en-US" b="1" spc="-15" dirty="0">
                <a:latin typeface="Carlito"/>
                <a:cs typeface="Carlito"/>
              </a:rPr>
              <a:t>investment </a:t>
            </a:r>
            <a:r>
              <a:rPr lang="en-US" b="1" dirty="0">
                <a:latin typeface="Carlito"/>
                <a:cs typeface="Carlito"/>
              </a:rPr>
              <a:t>scams: </a:t>
            </a:r>
            <a:r>
              <a:rPr lang="en-US" dirty="0">
                <a:latin typeface="Carlito"/>
                <a:cs typeface="Carlito"/>
              </a:rPr>
              <a:t>Job </a:t>
            </a:r>
            <a:r>
              <a:rPr lang="en-US" spc="-10" dirty="0">
                <a:latin typeface="Carlito"/>
                <a:cs typeface="Carlito"/>
              </a:rPr>
              <a:t>scams </a:t>
            </a:r>
            <a:r>
              <a:rPr lang="en-US" spc="-15" dirty="0">
                <a:latin typeface="Carlito"/>
                <a:cs typeface="Carlito"/>
              </a:rPr>
              <a:t>target </a:t>
            </a:r>
            <a:r>
              <a:rPr lang="en-US" spc="-5" dirty="0">
                <a:latin typeface="Carlito"/>
                <a:cs typeface="Carlito"/>
              </a:rPr>
              <a:t>people </a:t>
            </a:r>
            <a:r>
              <a:rPr lang="en-US" dirty="0">
                <a:latin typeface="Carlito"/>
                <a:cs typeface="Carlito"/>
              </a:rPr>
              <a:t>who </a:t>
            </a:r>
            <a:r>
              <a:rPr lang="en-US" spc="-15" dirty="0">
                <a:latin typeface="Carlito"/>
                <a:cs typeface="Carlito"/>
              </a:rPr>
              <a:t>are  </a:t>
            </a:r>
            <a:r>
              <a:rPr lang="en-US" spc="-5" dirty="0">
                <a:latin typeface="Carlito"/>
                <a:cs typeface="Carlito"/>
              </a:rPr>
              <a:t>looking </a:t>
            </a:r>
            <a:r>
              <a:rPr lang="en-US" spc="-20" dirty="0">
                <a:latin typeface="Carlito"/>
                <a:cs typeface="Carlito"/>
              </a:rPr>
              <a:t>for </a:t>
            </a:r>
            <a:r>
              <a:rPr lang="en-US" dirty="0">
                <a:latin typeface="Carlito"/>
                <a:cs typeface="Carlito"/>
              </a:rPr>
              <a:t>a </a:t>
            </a:r>
            <a:r>
              <a:rPr lang="en-US" spc="-10" dirty="0">
                <a:latin typeface="Carlito"/>
                <a:cs typeface="Carlito"/>
              </a:rPr>
              <a:t>new </a:t>
            </a:r>
            <a:r>
              <a:rPr lang="en-US" spc="-5" dirty="0">
                <a:latin typeface="Carlito"/>
                <a:cs typeface="Carlito"/>
              </a:rPr>
              <a:t>job or </a:t>
            </a:r>
            <a:r>
              <a:rPr lang="en-US" dirty="0">
                <a:latin typeface="Carlito"/>
                <a:cs typeface="Carlito"/>
              </a:rPr>
              <a:t>who </a:t>
            </a:r>
            <a:r>
              <a:rPr lang="en-US" spc="-15" dirty="0">
                <a:latin typeface="Carlito"/>
                <a:cs typeface="Carlito"/>
              </a:rPr>
              <a:t>want to </a:t>
            </a:r>
            <a:r>
              <a:rPr lang="en-US" spc="-10" dirty="0">
                <a:latin typeface="Carlito"/>
                <a:cs typeface="Carlito"/>
              </a:rPr>
              <a:t>work </a:t>
            </a:r>
            <a:r>
              <a:rPr lang="en-US" spc="-15" dirty="0">
                <a:latin typeface="Carlito"/>
                <a:cs typeface="Carlito"/>
              </a:rPr>
              <a:t>from</a:t>
            </a:r>
            <a:r>
              <a:rPr lang="en-US" spc="-40" dirty="0">
                <a:latin typeface="Carlito"/>
                <a:cs typeface="Carlito"/>
              </a:rPr>
              <a:t> </a:t>
            </a:r>
            <a:r>
              <a:rPr lang="en-US" spc="-5" dirty="0">
                <a:latin typeface="Carlito"/>
                <a:cs typeface="Carlito"/>
              </a:rPr>
              <a:t>home.</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Identity</a:t>
            </a:r>
            <a:r>
              <a:rPr lang="en-US" b="1" spc="10" dirty="0">
                <a:latin typeface="Carlito"/>
                <a:cs typeface="Carlito"/>
              </a:rPr>
              <a:t> </a:t>
            </a:r>
            <a:r>
              <a:rPr lang="en-US" b="1" spc="-10" dirty="0">
                <a:latin typeface="Carlito"/>
                <a:cs typeface="Carlito"/>
              </a:rPr>
              <a:t>theft</a:t>
            </a:r>
            <a:endParaRPr lang="en-US" dirty="0">
              <a:latin typeface="Carlito"/>
              <a:cs typeface="Carlito"/>
            </a:endParaRPr>
          </a:p>
          <a:p>
            <a:pPr marL="0" indent="0">
              <a:lnSpc>
                <a:spcPct val="100000"/>
              </a:lnSpc>
              <a:buNone/>
            </a:pPr>
            <a:endParaRPr lang="en-US" dirty="0">
              <a:latin typeface="Carlito"/>
              <a:cs typeface="Carlito"/>
            </a:endParaRPr>
          </a:p>
          <a:p>
            <a:pPr marL="0" indent="0">
              <a:lnSpc>
                <a:spcPct val="100000"/>
              </a:lnSpc>
              <a:buNone/>
            </a:pPr>
            <a:r>
              <a:rPr lang="en-US" b="1" dirty="0">
                <a:solidFill>
                  <a:srgbClr val="FF0000"/>
                </a:solidFill>
                <a:latin typeface="Carlito"/>
                <a:cs typeface="Carlito"/>
              </a:rPr>
              <a:t>What to Do?</a:t>
            </a:r>
          </a:p>
          <a:p>
            <a:pPr marL="355600" marR="5080" indent="-342900">
              <a:lnSpc>
                <a:spcPct val="120000"/>
              </a:lnSpc>
              <a:spcBef>
                <a:spcPts val="1680"/>
              </a:spcBef>
              <a:buFont typeface="Arial"/>
              <a:buChar char="•"/>
              <a:tabLst>
                <a:tab pos="354965" algn="l"/>
                <a:tab pos="355600" algn="l"/>
              </a:tabLst>
            </a:pPr>
            <a:r>
              <a:rPr lang="en-US" b="1" i="1" spc="-5" dirty="0">
                <a:latin typeface="Carlito"/>
                <a:cs typeface="Carlito"/>
              </a:rPr>
              <a:t>Do </a:t>
            </a:r>
            <a:r>
              <a:rPr lang="en-US" b="1" i="1" spc="-10" dirty="0">
                <a:latin typeface="Carlito"/>
                <a:cs typeface="Carlito"/>
              </a:rPr>
              <a:t>not </a:t>
            </a:r>
            <a:r>
              <a:rPr lang="en-US" b="1" i="1" spc="-5" dirty="0">
                <a:latin typeface="Carlito"/>
                <a:cs typeface="Carlito"/>
              </a:rPr>
              <a:t>respond </a:t>
            </a:r>
            <a:r>
              <a:rPr lang="en-US" b="1" i="1" spc="-20" dirty="0">
                <a:latin typeface="Carlito"/>
                <a:cs typeface="Carlito"/>
              </a:rPr>
              <a:t>to </a:t>
            </a:r>
            <a:r>
              <a:rPr lang="en-US" b="1" i="1" spc="-5" dirty="0">
                <a:latin typeface="Carlito"/>
                <a:cs typeface="Carlito"/>
              </a:rPr>
              <a:t>online </a:t>
            </a:r>
            <a:r>
              <a:rPr lang="en-US" b="1" i="1" spc="-10" dirty="0">
                <a:latin typeface="Carlito"/>
                <a:cs typeface="Carlito"/>
              </a:rPr>
              <a:t>scams </a:t>
            </a:r>
            <a:r>
              <a:rPr lang="en-US" b="1" i="1" spc="-5" dirty="0">
                <a:latin typeface="Carlito"/>
                <a:cs typeface="Carlito"/>
              </a:rPr>
              <a:t>or fraud. </a:t>
            </a:r>
            <a:r>
              <a:rPr lang="en-US" dirty="0">
                <a:latin typeface="Carlito"/>
                <a:cs typeface="Carlito"/>
              </a:rPr>
              <a:t>If </a:t>
            </a:r>
            <a:r>
              <a:rPr lang="en-US" spc="-10" dirty="0">
                <a:latin typeface="Carlito"/>
                <a:cs typeface="Carlito"/>
              </a:rPr>
              <a:t>you receive </a:t>
            </a:r>
            <a:r>
              <a:rPr lang="en-US" dirty="0">
                <a:latin typeface="Carlito"/>
                <a:cs typeface="Carlito"/>
              </a:rPr>
              <a:t>an email  </a:t>
            </a:r>
            <a:r>
              <a:rPr lang="en-US" spc="-5" dirty="0">
                <a:latin typeface="Carlito"/>
                <a:cs typeface="Carlito"/>
              </a:rPr>
              <a:t>or SMS </a:t>
            </a:r>
            <a:r>
              <a:rPr lang="en-US" dirty="0">
                <a:latin typeface="Carlito"/>
                <a:cs typeface="Carlito"/>
              </a:rPr>
              <a:t>which </a:t>
            </a:r>
            <a:r>
              <a:rPr lang="en-US" spc="-10" dirty="0">
                <a:latin typeface="Carlito"/>
                <a:cs typeface="Carlito"/>
              </a:rPr>
              <a:t>looks </a:t>
            </a:r>
            <a:r>
              <a:rPr lang="en-US" spc="-20" dirty="0">
                <a:latin typeface="Carlito"/>
                <a:cs typeface="Carlito"/>
              </a:rPr>
              <a:t>like </a:t>
            </a:r>
            <a:r>
              <a:rPr lang="en-US" dirty="0">
                <a:latin typeface="Carlito"/>
                <a:cs typeface="Carlito"/>
              </a:rPr>
              <a:t>a </a:t>
            </a:r>
            <a:r>
              <a:rPr lang="en-US" spc="-10" dirty="0">
                <a:latin typeface="Carlito"/>
                <a:cs typeface="Carlito"/>
              </a:rPr>
              <a:t>scam, </a:t>
            </a:r>
            <a:r>
              <a:rPr lang="en-US" dirty="0">
                <a:latin typeface="Carlito"/>
                <a:cs typeface="Carlito"/>
              </a:rPr>
              <a:t>the </a:t>
            </a:r>
            <a:r>
              <a:rPr lang="en-US" spc="-10" dirty="0">
                <a:latin typeface="Carlito"/>
                <a:cs typeface="Carlito"/>
              </a:rPr>
              <a:t>best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85" dirty="0">
                <a:latin typeface="Carlito"/>
                <a:cs typeface="Carlito"/>
              </a:rPr>
              <a:t> </a:t>
            </a:r>
            <a:r>
              <a:rPr lang="en-US" dirty="0">
                <a:latin typeface="Carlito"/>
                <a:cs typeface="Carlito"/>
              </a:rPr>
              <a:t>it.</a:t>
            </a:r>
          </a:p>
          <a:p>
            <a:endParaRPr lang="en-US" dirty="0"/>
          </a:p>
        </p:txBody>
      </p:sp>
    </p:spTree>
    <p:extLst>
      <p:ext uri="{BB962C8B-B14F-4D97-AF65-F5344CB8AC3E}">
        <p14:creationId xmlns:p14="http://schemas.microsoft.com/office/powerpoint/2010/main" val="39562472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normAutofit fontScale="92500" lnSpcReduction="20000"/>
          </a:bodyPr>
          <a:lstStyle/>
          <a:p>
            <a:pPr algn="just"/>
            <a:r>
              <a:rPr lang="en-US" dirty="0"/>
              <a:t>A person attack website’s in order to gain access to consumer details, such as Social Security numbers, that can be used to take out credit cards or loans in another person’s name.</a:t>
            </a:r>
          </a:p>
          <a:p>
            <a:pPr marL="0" indent="0" algn="just">
              <a:buNone/>
            </a:pPr>
            <a:r>
              <a:rPr lang="en-US" dirty="0"/>
              <a:t>This type of fraud is known as </a:t>
            </a:r>
            <a:r>
              <a:rPr lang="en-US" b="1" dirty="0"/>
              <a:t>identity theft</a:t>
            </a:r>
          </a:p>
          <a:p>
            <a:pPr algn="just"/>
            <a:endParaRPr lang="en-US" dirty="0"/>
          </a:p>
          <a:p>
            <a:pPr algn="just"/>
            <a:r>
              <a:rPr lang="en-US" dirty="0"/>
              <a:t>Researchers at Columbia University recently discovered a serious security flaw in certain printers, as well. Many printers automatically update their software when accepting a print job, connecting to the Internet to download the latest print drivers. Researchers believe that criminals could exploit this process by having printers download malicious files to trespass on networks the printers are connected to, or even to make the printers overheat and catch fire. </a:t>
            </a:r>
          </a:p>
          <a:p>
            <a:pPr marL="0" indent="0" algn="just">
              <a:buNone/>
            </a:pPr>
            <a:r>
              <a:rPr lang="en-US" dirty="0"/>
              <a:t>This type of fraud is known as </a:t>
            </a:r>
            <a:r>
              <a:rPr lang="en-US" b="1" dirty="0"/>
              <a:t>Hardware Hijacking</a:t>
            </a:r>
          </a:p>
          <a:p>
            <a:endParaRPr lang="en-US" dirty="0"/>
          </a:p>
        </p:txBody>
      </p:sp>
    </p:spTree>
    <p:extLst>
      <p:ext uri="{BB962C8B-B14F-4D97-AF65-F5344CB8AC3E}">
        <p14:creationId xmlns:p14="http://schemas.microsoft.com/office/powerpoint/2010/main" val="21947880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5076" y="650876"/>
            <a:ext cx="10438724" cy="5885562"/>
          </a:xfrm>
        </p:spPr>
      </p:pic>
    </p:spTree>
    <p:extLst>
      <p:ext uri="{BB962C8B-B14F-4D97-AF65-F5344CB8AC3E}">
        <p14:creationId xmlns:p14="http://schemas.microsoft.com/office/powerpoint/2010/main" val="37019549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Statistics</a:t>
            </a:r>
          </a:p>
        </p:txBody>
      </p:sp>
      <p:sp>
        <p:nvSpPr>
          <p:cNvPr id="3" name="Content Placeholder 2"/>
          <p:cNvSpPr>
            <a:spLocks noGrp="1"/>
          </p:cNvSpPr>
          <p:nvPr>
            <p:ph idx="1"/>
          </p:nvPr>
        </p:nvSpPr>
        <p:spPr/>
        <p:txBody>
          <a:bodyPr/>
          <a:lstStyle/>
          <a:p>
            <a:pPr lvl="0"/>
            <a:r>
              <a:rPr lang="en-US" b="1" dirty="0"/>
              <a:t>25% </a:t>
            </a:r>
            <a:r>
              <a:rPr lang="en-US" dirty="0"/>
              <a:t>cyber crime remain unresolved</a:t>
            </a:r>
          </a:p>
          <a:p>
            <a:pPr lvl="0"/>
            <a:r>
              <a:rPr lang="en-US" b="1" dirty="0"/>
              <a:t>75 Million </a:t>
            </a:r>
            <a:r>
              <a:rPr lang="en-US" dirty="0"/>
              <a:t>Scam Emails are sent every day claiming 20,000 victims</a:t>
            </a:r>
          </a:p>
          <a:p>
            <a:pPr lvl="0"/>
            <a:r>
              <a:rPr lang="en-US" dirty="0"/>
              <a:t> </a:t>
            </a:r>
            <a:r>
              <a:rPr lang="en-US" b="1" dirty="0"/>
              <a:t>73% </a:t>
            </a:r>
            <a:r>
              <a:rPr lang="en-US" dirty="0"/>
              <a:t>of Americans have experienced some form of cyber crime and </a:t>
            </a:r>
            <a:r>
              <a:rPr lang="en-US" b="1" dirty="0"/>
              <a:t>(65% globally) </a:t>
            </a:r>
            <a:r>
              <a:rPr lang="en-US" dirty="0"/>
              <a:t>do the same.</a:t>
            </a:r>
          </a:p>
          <a:p>
            <a:pPr lvl="0"/>
            <a:r>
              <a:rPr lang="en-US" b="1" dirty="0"/>
              <a:t>10.5%</a:t>
            </a:r>
            <a:r>
              <a:rPr lang="en-US" dirty="0"/>
              <a:t> of the world’s Hackers from the UK</a:t>
            </a:r>
          </a:p>
          <a:p>
            <a:pPr lvl="0"/>
            <a:r>
              <a:rPr lang="en-US" b="1" dirty="0"/>
              <a:t>66%</a:t>
            </a:r>
            <a:r>
              <a:rPr lang="en-US" dirty="0"/>
              <a:t> of the world’s hackers are American </a:t>
            </a:r>
            <a:r>
              <a:rPr lang="en-US" b="1" dirty="0"/>
              <a:t>7.5% </a:t>
            </a:r>
            <a:r>
              <a:rPr lang="en-US" dirty="0"/>
              <a:t>are Nigerian</a:t>
            </a:r>
          </a:p>
          <a:p>
            <a:pPr lvl="0"/>
            <a:r>
              <a:rPr lang="en-US" dirty="0"/>
              <a:t>Brazil suffers more than any other country with </a:t>
            </a:r>
            <a:r>
              <a:rPr lang="en-US" b="1" dirty="0"/>
              <a:t>83% </a:t>
            </a:r>
            <a:r>
              <a:rPr lang="en-US" dirty="0"/>
              <a:t>of the population having suffered from internet crime</a:t>
            </a:r>
          </a:p>
          <a:p>
            <a:r>
              <a:rPr lang="en-US" dirty="0"/>
              <a:t>The Average Internet Crime will cost the Victim </a:t>
            </a:r>
            <a:r>
              <a:rPr lang="en-US" b="1" dirty="0"/>
              <a:t>$ 128</a:t>
            </a:r>
          </a:p>
        </p:txBody>
      </p:sp>
    </p:spTree>
    <p:extLst>
      <p:ext uri="{BB962C8B-B14F-4D97-AF65-F5344CB8AC3E}">
        <p14:creationId xmlns:p14="http://schemas.microsoft.com/office/powerpoint/2010/main" val="229613410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4120" y="365125"/>
            <a:ext cx="8001000" cy="5952203"/>
          </a:xfrm>
        </p:spPr>
      </p:pic>
    </p:spTree>
    <p:extLst>
      <p:ext uri="{BB962C8B-B14F-4D97-AF65-F5344CB8AC3E}">
        <p14:creationId xmlns:p14="http://schemas.microsoft.com/office/powerpoint/2010/main" val="60307243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480060"/>
            <a:ext cx="7467600" cy="5600700"/>
          </a:xfrm>
        </p:spPr>
      </p:pic>
    </p:spTree>
    <p:extLst>
      <p:ext uri="{BB962C8B-B14F-4D97-AF65-F5344CB8AC3E}">
        <p14:creationId xmlns:p14="http://schemas.microsoft.com/office/powerpoint/2010/main" val="85758835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3640" y="365125"/>
            <a:ext cx="7741920" cy="5806440"/>
          </a:xfrm>
        </p:spPr>
      </p:pic>
    </p:spTree>
    <p:extLst>
      <p:ext uri="{BB962C8B-B14F-4D97-AF65-F5344CB8AC3E}">
        <p14:creationId xmlns:p14="http://schemas.microsoft.com/office/powerpoint/2010/main" val="410205853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8839" y="365125"/>
            <a:ext cx="7894321" cy="5902636"/>
          </a:xfrm>
        </p:spPr>
      </p:pic>
    </p:spTree>
    <p:extLst>
      <p:ext uri="{BB962C8B-B14F-4D97-AF65-F5344CB8AC3E}">
        <p14:creationId xmlns:p14="http://schemas.microsoft.com/office/powerpoint/2010/main" val="3713094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0"/>
            <a:ext cx="9144000" cy="32766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636" y="2286000"/>
            <a:ext cx="9144000" cy="4744112"/>
          </a:xfrm>
          <a:prstGeom prst="rect">
            <a:avLst/>
          </a:prstGeom>
        </p:spPr>
      </p:pic>
    </p:spTree>
    <p:extLst>
      <p:ext uri="{BB962C8B-B14F-4D97-AF65-F5344CB8AC3E}">
        <p14:creationId xmlns:p14="http://schemas.microsoft.com/office/powerpoint/2010/main" val="202558084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34636"/>
            <a:ext cx="9144000" cy="308956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0146" y="3084703"/>
            <a:ext cx="9157855" cy="3801006"/>
          </a:xfrm>
          <a:prstGeom prst="rect">
            <a:avLst/>
          </a:prstGeom>
        </p:spPr>
      </p:pic>
    </p:spTree>
    <p:extLst>
      <p:ext uri="{BB962C8B-B14F-4D97-AF65-F5344CB8AC3E}">
        <p14:creationId xmlns:p14="http://schemas.microsoft.com/office/powerpoint/2010/main" val="31187125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Common Types Of Cyber Attacks</a:t>
            </a:r>
            <a:endParaRPr lang="en-US" dirty="0">
              <a:solidFill>
                <a:srgbClr val="FF0000"/>
              </a:solidFill>
            </a:endParaRPr>
          </a:p>
        </p:txBody>
      </p:sp>
      <p:graphicFrame>
        <p:nvGraphicFramePr>
          <p:cNvPr id="5" name="Content Placeholder 4"/>
          <p:cNvGraphicFramePr>
            <a:graphicFrameLocks noGrp="1"/>
          </p:cNvGraphicFramePr>
          <p:nvPr>
            <p:ph idx="1"/>
          </p:nvPr>
        </p:nvGraphicFramePr>
        <p:xfrm>
          <a:off x="1905000" y="1447800"/>
          <a:ext cx="8458200" cy="5006340"/>
        </p:xfrm>
        <a:graphic>
          <a:graphicData uri="http://schemas.openxmlformats.org/drawingml/2006/table">
            <a:tbl>
              <a:tblPr/>
              <a:tblGrid>
                <a:gridCol w="6970339">
                  <a:extLst>
                    <a:ext uri="{9D8B030D-6E8A-4147-A177-3AD203B41FA5}">
                      <a16:colId xmlns:a16="http://schemas.microsoft.com/office/drawing/2014/main" val="20000"/>
                    </a:ext>
                  </a:extLst>
                </a:gridCol>
                <a:gridCol w="1487861">
                  <a:extLst>
                    <a:ext uri="{9D8B030D-6E8A-4147-A177-3AD203B41FA5}">
                      <a16:colId xmlns:a16="http://schemas.microsoft.com/office/drawing/2014/main" val="20001"/>
                    </a:ext>
                  </a:extLst>
                </a:gridCol>
              </a:tblGrid>
              <a:tr h="495300">
                <a:tc>
                  <a:txBody>
                    <a:bodyPr/>
                    <a:lstStyle/>
                    <a:p>
                      <a:r>
                        <a:rPr lang="en-US" sz="3600" b="1" dirty="0">
                          <a:solidFill>
                            <a:schemeClr val="accent1">
                              <a:lumMod val="50000"/>
                            </a:schemeClr>
                          </a:solidFill>
                          <a:effectLst/>
                        </a:rPr>
                        <a:t>Attack Types</a:t>
                      </a:r>
                      <a:endParaRPr lang="en-US" sz="3600" dirty="0">
                        <a:solidFill>
                          <a:schemeClr val="accent1">
                            <a:lumMod val="50000"/>
                          </a:schemeClr>
                        </a:solidFill>
                        <a:effectLst/>
                      </a:endParaRPr>
                    </a:p>
                  </a:txBody>
                  <a:tcPr marL="0" marR="0" marT="0" marB="0">
                    <a:lnL>
                      <a:noFill/>
                    </a:lnL>
                    <a:lnR>
                      <a:noFill/>
                    </a:lnR>
                    <a:lnT>
                      <a:noFill/>
                    </a:lnT>
                    <a:lnB>
                      <a:noFill/>
                    </a:lnB>
                  </a:tcPr>
                </a:tc>
                <a:tc>
                  <a:txBody>
                    <a:bodyPr/>
                    <a:lstStyle/>
                    <a:p>
                      <a:r>
                        <a:rPr lang="en-US" sz="3600" b="1" i="1" dirty="0">
                          <a:solidFill>
                            <a:schemeClr val="accent1">
                              <a:lumMod val="50000"/>
                            </a:schemeClr>
                          </a:solidFill>
                          <a:effectLst/>
                        </a:rPr>
                        <a:t>%</a:t>
                      </a:r>
                      <a:endParaRPr lang="en-US" sz="3600" dirty="0">
                        <a:solidFill>
                          <a:schemeClr val="accent1">
                            <a:lumMod val="50000"/>
                          </a:schemeClr>
                        </a:solidFill>
                        <a:effectLst/>
                      </a:endParaRPr>
                    </a:p>
                  </a:txBody>
                  <a:tcPr marL="0" marR="0" marT="0" marB="0">
                    <a:lnL>
                      <a:noFill/>
                    </a:lnL>
                    <a:lnR>
                      <a:noFill/>
                    </a:lnR>
                    <a:lnT>
                      <a:noFill/>
                    </a:lnT>
                    <a:lnB>
                      <a:noFill/>
                    </a:lnB>
                  </a:tcPr>
                </a:tc>
                <a:extLst>
                  <a:ext uri="{0D108BD9-81ED-4DB2-BD59-A6C34878D82A}">
                    <a16:rowId xmlns:a16="http://schemas.microsoft.com/office/drawing/2014/main" val="10000"/>
                  </a:ext>
                </a:extLst>
              </a:tr>
              <a:tr h="495300">
                <a:tc>
                  <a:txBody>
                    <a:bodyPr/>
                    <a:lstStyle/>
                    <a:p>
                      <a:endParaRPr lang="en-US" dirty="0">
                        <a:effectLst/>
                      </a:endParaRPr>
                    </a:p>
                  </a:txBody>
                  <a:tcPr marL="0" marR="0" marT="0" marB="0">
                    <a:lnL>
                      <a:noFill/>
                    </a:lnL>
                    <a:lnR>
                      <a:noFill/>
                    </a:lnR>
                    <a:lnT>
                      <a:noFill/>
                    </a:lnT>
                    <a:lnB>
                      <a:noFill/>
                    </a:lnB>
                  </a:tcPr>
                </a:tc>
                <a:tc>
                  <a:txBody>
                    <a:bodyPr/>
                    <a:lstStyle/>
                    <a:p>
                      <a:endParaRPr lang="en-US" dirty="0">
                        <a:effectLst/>
                      </a:endParaRPr>
                    </a:p>
                  </a:txBody>
                  <a:tcPr marL="0" marR="0" marT="0" marB="0">
                    <a:lnL>
                      <a:noFill/>
                    </a:lnL>
                    <a:lnR>
                      <a:noFill/>
                    </a:lnR>
                    <a:lnT>
                      <a:noFill/>
                    </a:lnT>
                    <a:lnB>
                      <a:noFill/>
                    </a:lnB>
                  </a:tcPr>
                </a:tc>
                <a:extLst>
                  <a:ext uri="{0D108BD9-81ED-4DB2-BD59-A6C34878D82A}">
                    <a16:rowId xmlns:a16="http://schemas.microsoft.com/office/drawing/2014/main" val="10001"/>
                  </a:ext>
                </a:extLst>
              </a:tr>
              <a:tr h="495300">
                <a:tc>
                  <a:txBody>
                    <a:bodyPr/>
                    <a:lstStyle/>
                    <a:p>
                      <a:r>
                        <a:rPr lang="en-US" b="1" dirty="0">
                          <a:effectLst/>
                        </a:rPr>
                        <a:t>Viruses, malware, worms, trojans</a:t>
                      </a:r>
                    </a:p>
                  </a:txBody>
                  <a:tcPr marL="0" marR="0" marT="0" marB="0">
                    <a:lnL>
                      <a:noFill/>
                    </a:lnL>
                    <a:lnR>
                      <a:noFill/>
                    </a:lnR>
                    <a:lnT>
                      <a:noFill/>
                    </a:lnT>
                    <a:lnB>
                      <a:noFill/>
                    </a:lnB>
                  </a:tcPr>
                </a:tc>
                <a:tc>
                  <a:txBody>
                    <a:bodyPr/>
                    <a:lstStyle/>
                    <a:p>
                      <a:r>
                        <a:rPr lang="en-US" b="1" dirty="0">
                          <a:effectLst/>
                        </a:rPr>
                        <a:t>25%</a:t>
                      </a:r>
                    </a:p>
                  </a:txBody>
                  <a:tcPr marL="0" marR="0" marT="0" marB="0">
                    <a:lnL>
                      <a:noFill/>
                    </a:lnL>
                    <a:lnR>
                      <a:noFill/>
                    </a:lnR>
                    <a:lnT>
                      <a:noFill/>
                    </a:lnT>
                    <a:lnB>
                      <a:noFill/>
                    </a:lnB>
                  </a:tcPr>
                </a:tc>
                <a:extLst>
                  <a:ext uri="{0D108BD9-81ED-4DB2-BD59-A6C34878D82A}">
                    <a16:rowId xmlns:a16="http://schemas.microsoft.com/office/drawing/2014/main" val="10002"/>
                  </a:ext>
                </a:extLst>
              </a:tr>
              <a:tr h="495300">
                <a:tc>
                  <a:txBody>
                    <a:bodyPr/>
                    <a:lstStyle/>
                    <a:p>
                      <a:r>
                        <a:rPr lang="en-US" b="1" dirty="0">
                          <a:effectLst/>
                        </a:rPr>
                        <a:t>Criminal insider</a:t>
                      </a:r>
                    </a:p>
                  </a:txBody>
                  <a:tcPr marL="0" marR="0" marT="0" marB="0">
                    <a:lnL>
                      <a:noFill/>
                    </a:lnL>
                    <a:lnR>
                      <a:noFill/>
                    </a:lnR>
                    <a:lnT>
                      <a:noFill/>
                    </a:lnT>
                    <a:lnB>
                      <a:noFill/>
                    </a:lnB>
                  </a:tcPr>
                </a:tc>
                <a:tc>
                  <a:txBody>
                    <a:bodyPr/>
                    <a:lstStyle/>
                    <a:p>
                      <a:r>
                        <a:rPr lang="en-US" b="1" dirty="0">
                          <a:effectLst/>
                        </a:rPr>
                        <a:t>16%</a:t>
                      </a:r>
                    </a:p>
                  </a:txBody>
                  <a:tcPr marL="0" marR="0" marT="0" marB="0">
                    <a:lnL>
                      <a:noFill/>
                    </a:lnL>
                    <a:lnR>
                      <a:noFill/>
                    </a:lnR>
                    <a:lnT>
                      <a:noFill/>
                    </a:lnT>
                    <a:lnB>
                      <a:noFill/>
                    </a:lnB>
                  </a:tcPr>
                </a:tc>
                <a:extLst>
                  <a:ext uri="{0D108BD9-81ED-4DB2-BD59-A6C34878D82A}">
                    <a16:rowId xmlns:a16="http://schemas.microsoft.com/office/drawing/2014/main" val="10003"/>
                  </a:ext>
                </a:extLst>
              </a:tr>
              <a:tr h="495300">
                <a:tc>
                  <a:txBody>
                    <a:bodyPr/>
                    <a:lstStyle/>
                    <a:p>
                      <a:r>
                        <a:rPr lang="en-US" b="1" dirty="0">
                          <a:effectLst/>
                        </a:rPr>
                        <a:t>Theft of data-bearing devices</a:t>
                      </a:r>
                    </a:p>
                  </a:txBody>
                  <a:tcPr marL="0" marR="0" marT="0" marB="0">
                    <a:lnL>
                      <a:noFill/>
                    </a:lnL>
                    <a:lnR>
                      <a:noFill/>
                    </a:lnR>
                    <a:lnT>
                      <a:noFill/>
                    </a:lnT>
                    <a:lnB>
                      <a:noFill/>
                    </a:lnB>
                  </a:tcPr>
                </a:tc>
                <a:tc>
                  <a:txBody>
                    <a:bodyPr/>
                    <a:lstStyle/>
                    <a:p>
                      <a:r>
                        <a:rPr lang="en-US" b="1" dirty="0">
                          <a:effectLst/>
                        </a:rPr>
                        <a:t>15%</a:t>
                      </a:r>
                    </a:p>
                  </a:txBody>
                  <a:tcPr marL="0" marR="0" marT="0" marB="0">
                    <a:lnL>
                      <a:noFill/>
                    </a:lnL>
                    <a:lnR>
                      <a:noFill/>
                    </a:lnR>
                    <a:lnT>
                      <a:noFill/>
                    </a:lnT>
                    <a:lnB>
                      <a:noFill/>
                    </a:lnB>
                  </a:tcPr>
                </a:tc>
                <a:extLst>
                  <a:ext uri="{0D108BD9-81ED-4DB2-BD59-A6C34878D82A}">
                    <a16:rowId xmlns:a16="http://schemas.microsoft.com/office/drawing/2014/main" val="10004"/>
                  </a:ext>
                </a:extLst>
              </a:tr>
              <a:tr h="495300">
                <a:tc>
                  <a:txBody>
                    <a:bodyPr/>
                    <a:lstStyle/>
                    <a:p>
                      <a:r>
                        <a:rPr lang="en-US" b="1" dirty="0">
                          <a:effectLst/>
                        </a:rPr>
                        <a:t>SQL injection</a:t>
                      </a:r>
                    </a:p>
                  </a:txBody>
                  <a:tcPr marL="0" marR="0" marT="0" marB="0">
                    <a:lnL>
                      <a:noFill/>
                    </a:lnL>
                    <a:lnR>
                      <a:noFill/>
                    </a:lnR>
                    <a:lnT>
                      <a:noFill/>
                    </a:lnT>
                    <a:lnB>
                      <a:noFill/>
                    </a:lnB>
                  </a:tcPr>
                </a:tc>
                <a:tc>
                  <a:txBody>
                    <a:bodyPr/>
                    <a:lstStyle/>
                    <a:p>
                      <a:r>
                        <a:rPr lang="en-US" b="1" dirty="0">
                          <a:effectLst/>
                        </a:rPr>
                        <a:t>14%</a:t>
                      </a:r>
                    </a:p>
                  </a:txBody>
                  <a:tcPr marL="0" marR="0" marT="0" marB="0">
                    <a:lnL>
                      <a:noFill/>
                    </a:lnL>
                    <a:lnR>
                      <a:noFill/>
                    </a:lnR>
                    <a:lnT>
                      <a:noFill/>
                    </a:lnT>
                    <a:lnB>
                      <a:noFill/>
                    </a:lnB>
                  </a:tcPr>
                </a:tc>
                <a:extLst>
                  <a:ext uri="{0D108BD9-81ED-4DB2-BD59-A6C34878D82A}">
                    <a16:rowId xmlns:a16="http://schemas.microsoft.com/office/drawing/2014/main" val="10005"/>
                  </a:ext>
                </a:extLst>
              </a:tr>
              <a:tr h="495300">
                <a:tc>
                  <a:txBody>
                    <a:bodyPr/>
                    <a:lstStyle/>
                    <a:p>
                      <a:r>
                        <a:rPr lang="en-US" b="1" dirty="0">
                          <a:effectLst/>
                        </a:rPr>
                        <a:t>Phishing</a:t>
                      </a:r>
                    </a:p>
                  </a:txBody>
                  <a:tcPr marL="0" marR="0" marT="0" marB="0">
                    <a:lnL>
                      <a:noFill/>
                    </a:lnL>
                    <a:lnR>
                      <a:noFill/>
                    </a:lnR>
                    <a:lnT>
                      <a:noFill/>
                    </a:lnT>
                    <a:lnB>
                      <a:noFill/>
                    </a:lnB>
                  </a:tcPr>
                </a:tc>
                <a:tc>
                  <a:txBody>
                    <a:bodyPr/>
                    <a:lstStyle/>
                    <a:p>
                      <a:r>
                        <a:rPr lang="en-US" b="1" dirty="0">
                          <a:effectLst/>
                        </a:rPr>
                        <a:t>11%</a:t>
                      </a:r>
                    </a:p>
                  </a:txBody>
                  <a:tcPr marL="0" marR="0" marT="0" marB="0">
                    <a:lnL>
                      <a:noFill/>
                    </a:lnL>
                    <a:lnR>
                      <a:noFill/>
                    </a:lnR>
                    <a:lnT>
                      <a:noFill/>
                    </a:lnT>
                    <a:lnB>
                      <a:noFill/>
                    </a:lnB>
                  </a:tcPr>
                </a:tc>
                <a:extLst>
                  <a:ext uri="{0D108BD9-81ED-4DB2-BD59-A6C34878D82A}">
                    <a16:rowId xmlns:a16="http://schemas.microsoft.com/office/drawing/2014/main" val="10006"/>
                  </a:ext>
                </a:extLst>
              </a:tr>
              <a:tr h="495300">
                <a:tc>
                  <a:txBody>
                    <a:bodyPr/>
                    <a:lstStyle/>
                    <a:p>
                      <a:r>
                        <a:rPr lang="en-US" b="1" dirty="0">
                          <a:effectLst/>
                        </a:rPr>
                        <a:t>Web-based attacks</a:t>
                      </a:r>
                    </a:p>
                  </a:txBody>
                  <a:tcPr marL="0" marR="0" marT="0" marB="0">
                    <a:lnL>
                      <a:noFill/>
                    </a:lnL>
                    <a:lnR>
                      <a:noFill/>
                    </a:lnR>
                    <a:lnT>
                      <a:noFill/>
                    </a:lnT>
                    <a:lnB>
                      <a:noFill/>
                    </a:lnB>
                  </a:tcPr>
                </a:tc>
                <a:tc>
                  <a:txBody>
                    <a:bodyPr/>
                    <a:lstStyle/>
                    <a:p>
                      <a:r>
                        <a:rPr lang="en-US" b="1" dirty="0">
                          <a:effectLst/>
                        </a:rPr>
                        <a:t>9%</a:t>
                      </a:r>
                    </a:p>
                  </a:txBody>
                  <a:tcPr marL="0" marR="0" marT="0" marB="0">
                    <a:lnL>
                      <a:noFill/>
                    </a:lnL>
                    <a:lnR>
                      <a:noFill/>
                    </a:lnR>
                    <a:lnT>
                      <a:noFill/>
                    </a:lnT>
                    <a:lnB>
                      <a:noFill/>
                    </a:lnB>
                  </a:tcPr>
                </a:tc>
                <a:extLst>
                  <a:ext uri="{0D108BD9-81ED-4DB2-BD59-A6C34878D82A}">
                    <a16:rowId xmlns:a16="http://schemas.microsoft.com/office/drawing/2014/main" val="10007"/>
                  </a:ext>
                </a:extLst>
              </a:tr>
              <a:tr h="495300">
                <a:tc>
                  <a:txBody>
                    <a:bodyPr/>
                    <a:lstStyle/>
                    <a:p>
                      <a:r>
                        <a:rPr lang="en-US" b="1" dirty="0">
                          <a:effectLst/>
                        </a:rPr>
                        <a:t>Social engineering</a:t>
                      </a:r>
                    </a:p>
                  </a:txBody>
                  <a:tcPr marL="0" marR="0" marT="0" marB="0">
                    <a:lnL>
                      <a:noFill/>
                    </a:lnL>
                    <a:lnR>
                      <a:noFill/>
                    </a:lnR>
                    <a:lnT>
                      <a:noFill/>
                    </a:lnT>
                    <a:lnB>
                      <a:noFill/>
                    </a:lnB>
                  </a:tcPr>
                </a:tc>
                <a:tc>
                  <a:txBody>
                    <a:bodyPr/>
                    <a:lstStyle/>
                    <a:p>
                      <a:r>
                        <a:rPr lang="en-US" b="1" dirty="0">
                          <a:effectLst/>
                        </a:rPr>
                        <a:t>7%</a:t>
                      </a:r>
                    </a:p>
                  </a:txBody>
                  <a:tcPr marL="0" marR="0" marT="0" marB="0">
                    <a:lnL>
                      <a:noFill/>
                    </a:lnL>
                    <a:lnR>
                      <a:noFill/>
                    </a:lnR>
                    <a:lnT>
                      <a:noFill/>
                    </a:lnT>
                    <a:lnB>
                      <a:noFill/>
                    </a:lnB>
                  </a:tcPr>
                </a:tc>
                <a:extLst>
                  <a:ext uri="{0D108BD9-81ED-4DB2-BD59-A6C34878D82A}">
                    <a16:rowId xmlns:a16="http://schemas.microsoft.com/office/drawing/2014/main" val="10008"/>
                  </a:ext>
                </a:extLst>
              </a:tr>
              <a:tr h="495300">
                <a:tc>
                  <a:txBody>
                    <a:bodyPr/>
                    <a:lstStyle/>
                    <a:p>
                      <a:r>
                        <a:rPr lang="en-US" b="1" dirty="0">
                          <a:effectLst/>
                        </a:rPr>
                        <a:t>Other</a:t>
                      </a:r>
                    </a:p>
                  </a:txBody>
                  <a:tcPr marL="0" marR="0" marT="0" marB="0">
                    <a:lnL>
                      <a:noFill/>
                    </a:lnL>
                    <a:lnR>
                      <a:noFill/>
                    </a:lnR>
                    <a:lnT>
                      <a:noFill/>
                    </a:lnT>
                    <a:lnB>
                      <a:noFill/>
                    </a:lnB>
                  </a:tcPr>
                </a:tc>
                <a:tc>
                  <a:txBody>
                    <a:bodyPr/>
                    <a:lstStyle/>
                    <a:p>
                      <a:r>
                        <a:rPr lang="en-US" b="1" dirty="0">
                          <a:effectLst/>
                        </a:rPr>
                        <a:t>3%</a:t>
                      </a:r>
                    </a:p>
                  </a:txBody>
                  <a:tcPr marL="0" marR="0" marT="0" marB="0">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7068198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For enterprises, malware is the most expensive type of attack - Help Net  Securit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76845" y="488499"/>
            <a:ext cx="8715464" cy="5484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66329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OPI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520262"/>
            <a:ext cx="9950700" cy="538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4886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 and PAKISTAN</a:t>
            </a:r>
          </a:p>
        </p:txBody>
      </p:sp>
      <p:pic>
        <p:nvPicPr>
          <p:cNvPr id="15362" name="Picture 2" descr="http://www.nr3c.gov.pk/images/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505" y="1690688"/>
            <a:ext cx="185737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http://www.fia.gov.pk/en/style/images/FIA_Logo_label.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099560" y="1716644"/>
            <a:ext cx="7125406" cy="191738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86354" y="3621644"/>
            <a:ext cx="5840060" cy="369332"/>
          </a:xfrm>
          <a:prstGeom prst="rect">
            <a:avLst/>
          </a:prstGeom>
        </p:spPr>
        <p:txBody>
          <a:bodyPr wrap="none">
            <a:spAutoFit/>
          </a:bodyPr>
          <a:lstStyle/>
          <a:p>
            <a:r>
              <a:rPr lang="fr-FR" b="1" dirty="0">
                <a:solidFill>
                  <a:srgbClr val="232377"/>
                </a:solidFill>
                <a:latin typeface="Arial" panose="020B0604020202020204" pitchFamily="34" charset="0"/>
              </a:rPr>
              <a:t>National Response Centre for Cyber Crimes (NR3C)</a:t>
            </a:r>
            <a:endParaRPr lang="fr-FR" b="1" i="0" dirty="0">
              <a:solidFill>
                <a:srgbClr val="232377"/>
              </a:solidFill>
              <a:effectLst/>
              <a:latin typeface="Arial" panose="020B0604020202020204" pitchFamily="34" charset="0"/>
            </a:endParaRPr>
          </a:p>
        </p:txBody>
      </p:sp>
      <p:sp>
        <p:nvSpPr>
          <p:cNvPr id="5" name="Rectangle 4"/>
          <p:cNvSpPr/>
          <p:nvPr/>
        </p:nvSpPr>
        <p:spPr>
          <a:xfrm>
            <a:off x="1308231" y="4204454"/>
            <a:ext cx="3596306" cy="369332"/>
          </a:xfrm>
          <a:prstGeom prst="rect">
            <a:avLst/>
          </a:prstGeom>
        </p:spPr>
        <p:txBody>
          <a:bodyPr wrap="none">
            <a:spAutoFit/>
          </a:bodyPr>
          <a:lstStyle/>
          <a:p>
            <a:r>
              <a:rPr lang="en-US" dirty="0"/>
              <a:t>http://www.fia.gov.pk/en/NR3C.php</a:t>
            </a:r>
          </a:p>
        </p:txBody>
      </p:sp>
    </p:spTree>
    <p:extLst>
      <p:ext uri="{BB962C8B-B14F-4D97-AF65-F5344CB8AC3E}">
        <p14:creationId xmlns:p14="http://schemas.microsoft.com/office/powerpoint/2010/main" val="8170627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National Response Centre for Cyber Crimes (NR3C)</a:t>
            </a:r>
          </a:p>
        </p:txBody>
      </p:sp>
      <p:sp>
        <p:nvSpPr>
          <p:cNvPr id="3" name="Content Placeholder 2"/>
          <p:cNvSpPr>
            <a:spLocks noGrp="1"/>
          </p:cNvSpPr>
          <p:nvPr>
            <p:ph idx="1"/>
          </p:nvPr>
        </p:nvSpPr>
        <p:spPr/>
        <p:txBody>
          <a:bodyPr>
            <a:normAutofit fontScale="70000" lnSpcReduction="20000"/>
          </a:bodyPr>
          <a:lstStyle/>
          <a:p>
            <a:pPr algn="just"/>
            <a:r>
              <a:rPr lang="en-US" dirty="0"/>
              <a:t>National Response Centre for Cyber Crime (NR3C) - FIA is a law enforcement agency dedicated to fight cyber crime. Inception of this Hi-Tech crime fighting unit transpired in 2007 to identify and curb the phenomenon of technological abuse in society</a:t>
            </a:r>
          </a:p>
          <a:p>
            <a:pPr algn="just"/>
            <a:endParaRPr lang="en-US" dirty="0"/>
          </a:p>
          <a:p>
            <a:pPr algn="just"/>
            <a:r>
              <a:rPr lang="en-US" dirty="0"/>
              <a:t>National </a:t>
            </a:r>
            <a:r>
              <a:rPr lang="en-US" dirty="0" err="1"/>
              <a:t>Reponse</a:t>
            </a:r>
            <a:r>
              <a:rPr lang="en-US" dirty="0"/>
              <a:t> Centre for Cyber Crime (NR3C), is the latest introduction to mandate of the FIA, primarily to deal with technology based crimes in Pakistan. It is the only unit of its kind in the country and in addition to the directly received complaints also assists other law enforcement agencies in their own cases.</a:t>
            </a:r>
          </a:p>
          <a:p>
            <a:pPr algn="just"/>
            <a:endParaRPr lang="en-US" dirty="0"/>
          </a:p>
          <a:p>
            <a:pPr algn="just"/>
            <a:r>
              <a:rPr lang="en-US" dirty="0"/>
              <a:t>NR3C has expertise in Digital Forensics, Technical Investigation, Information System Security Audits, Penetration Testing and Trainings. The unit since its inception has been involved in capacity building of the officers of Police, Intelligence, Judiciary, Prosecutors and other Govt. organizations. NR3C has also conducted a large number of seminars, workshops and training/awareness programs for the academia, print/electronic media and lawyers. Cyber Scouts is the latest initiative of NR3C, in which, selected students of different private/public schools are trained to deal with computer emergencies and spreading awareness amongst their fellow students, teachers and parents.</a:t>
            </a:r>
          </a:p>
        </p:txBody>
      </p:sp>
    </p:spTree>
    <p:extLst>
      <p:ext uri="{BB962C8B-B14F-4D97-AF65-F5344CB8AC3E}">
        <p14:creationId xmlns:p14="http://schemas.microsoft.com/office/powerpoint/2010/main" val="4090857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Services</a:t>
            </a:r>
          </a:p>
        </p:txBody>
      </p:sp>
      <p:sp>
        <p:nvSpPr>
          <p:cNvPr id="3" name="Content Placeholder 2"/>
          <p:cNvSpPr>
            <a:spLocks noGrp="1"/>
          </p:cNvSpPr>
          <p:nvPr>
            <p:ph idx="1"/>
          </p:nvPr>
        </p:nvSpPr>
        <p:spPr/>
        <p:txBody>
          <a:bodyPr/>
          <a:lstStyle/>
          <a:p>
            <a:r>
              <a:rPr lang="en-US" dirty="0"/>
              <a:t>COMPUTER FORENSICS</a:t>
            </a:r>
          </a:p>
          <a:p>
            <a:r>
              <a:rPr lang="en-US" dirty="0"/>
              <a:t>MOBILE FORENSICS</a:t>
            </a:r>
          </a:p>
          <a:p>
            <a:r>
              <a:rPr lang="en-US" dirty="0"/>
              <a:t>VIDEO FORENSICS</a:t>
            </a:r>
          </a:p>
          <a:p>
            <a:r>
              <a:rPr lang="en-US" dirty="0"/>
              <a:t>NETWORK FORENSICS</a:t>
            </a:r>
          </a:p>
          <a:p>
            <a:r>
              <a:rPr lang="en-US" dirty="0"/>
              <a:t>TECHNICAL TRAINING</a:t>
            </a:r>
          </a:p>
        </p:txBody>
      </p:sp>
    </p:spTree>
    <p:extLst>
      <p:ext uri="{BB962C8B-B14F-4D97-AF65-F5344CB8AC3E}">
        <p14:creationId xmlns:p14="http://schemas.microsoft.com/office/powerpoint/2010/main" val="399790676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Achievements</a:t>
            </a:r>
          </a:p>
        </p:txBody>
      </p:sp>
      <p:sp>
        <p:nvSpPr>
          <p:cNvPr id="3" name="Content Placeholder 2"/>
          <p:cNvSpPr>
            <a:spLocks noGrp="1"/>
          </p:cNvSpPr>
          <p:nvPr>
            <p:ph idx="1"/>
          </p:nvPr>
        </p:nvSpPr>
        <p:spPr/>
        <p:txBody>
          <a:bodyPr>
            <a:normAutofit fontScale="85000" lnSpcReduction="20000"/>
          </a:bodyPr>
          <a:lstStyle/>
          <a:p>
            <a:pPr algn="just"/>
            <a:r>
              <a:rPr lang="en-US" dirty="0"/>
              <a:t>A huge crackdown on illegal grey traffickers of VOIP setups in 2013 &amp; 2014, whereby 111 successful raids were carried out, averting a loss of 2946 million </a:t>
            </a:r>
            <a:r>
              <a:rPr lang="en-US" dirty="0" err="1"/>
              <a:t>Rs</a:t>
            </a:r>
            <a:r>
              <a:rPr lang="en-US" dirty="0"/>
              <a:t> per month to Govt.</a:t>
            </a:r>
          </a:p>
          <a:p>
            <a:pPr algn="just"/>
            <a:r>
              <a:rPr lang="en-US" dirty="0"/>
              <a:t>Estimate cost of seized equipment in these cases exceed 5,000 million Rupees</a:t>
            </a:r>
          </a:p>
          <a:p>
            <a:pPr algn="just"/>
            <a:r>
              <a:rPr lang="en-US" dirty="0"/>
              <a:t>Handled complaints related to online defamation, harassment, threats and blackmailing via social networking sites such as Facebook, Twitter</a:t>
            </a:r>
          </a:p>
          <a:p>
            <a:pPr algn="just"/>
            <a:r>
              <a:rPr lang="en-US" dirty="0"/>
              <a:t>NR3C has successfully registered and investigated crimes related to internet frauds &amp; scams, such as Lottery Fraud, Job Scams, Car Fraud, Click Fraud, Internet Marketing Scams</a:t>
            </a:r>
          </a:p>
          <a:p>
            <a:pPr algn="just"/>
            <a:r>
              <a:rPr lang="en-US" dirty="0"/>
              <a:t>Rendered technical facilitation of audio and video forensic analysis in cyber terrorism cases</a:t>
            </a:r>
          </a:p>
          <a:p>
            <a:pPr algn="just"/>
            <a:r>
              <a:rPr lang="en-US" dirty="0"/>
              <a:t>12, 458 individuals from all walks of life have been trained by NR3C to serve the purpose of cyber crime mitigation</a:t>
            </a:r>
          </a:p>
          <a:p>
            <a:pPr marL="0" indent="0" algn="just">
              <a:buNone/>
            </a:pPr>
            <a:endParaRPr lang="en-US" dirty="0"/>
          </a:p>
        </p:txBody>
      </p:sp>
    </p:spTree>
    <p:extLst>
      <p:ext uri="{BB962C8B-B14F-4D97-AF65-F5344CB8AC3E}">
        <p14:creationId xmlns:p14="http://schemas.microsoft.com/office/powerpoint/2010/main" val="15028384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Information Education (</a:t>
            </a:r>
            <a:r>
              <a:rPr lang="en-US" dirty="0" err="1"/>
              <a:t>Ethics+Laws</a:t>
            </a:r>
            <a:r>
              <a:rPr lang="en-US" dirty="0"/>
              <a:t>)</a:t>
            </a:r>
          </a:p>
          <a:p>
            <a:pPr marL="0" indent="0">
              <a:buNone/>
            </a:pPr>
            <a:endParaRPr lang="en-US" dirty="0"/>
          </a:p>
          <a:p>
            <a:r>
              <a:rPr lang="en-US" dirty="0" err="1"/>
              <a:t>Adminstrating</a:t>
            </a:r>
            <a:r>
              <a:rPr lang="en-US" dirty="0"/>
              <a:t> Information (Trained Persons)</a:t>
            </a:r>
          </a:p>
          <a:p>
            <a:pPr marL="0" indent="0">
              <a:buNone/>
            </a:pPr>
            <a:endParaRPr lang="en-US" dirty="0"/>
          </a:p>
          <a:p>
            <a:r>
              <a:rPr lang="en-US" dirty="0"/>
              <a:t>Use of Protection from </a:t>
            </a:r>
            <a:r>
              <a:rPr lang="en-US" dirty="0" err="1"/>
              <a:t>unauthorize</a:t>
            </a:r>
            <a:r>
              <a:rPr lang="en-US" dirty="0"/>
              <a:t> access (</a:t>
            </a:r>
            <a:r>
              <a:rPr lang="en-US" dirty="0" err="1"/>
              <a:t>Hardware+Software</a:t>
            </a:r>
            <a:r>
              <a:rPr lang="en-US" dirty="0"/>
              <a:t>)</a:t>
            </a:r>
          </a:p>
          <a:p>
            <a:pPr marL="0" indent="0">
              <a:buNone/>
            </a:pPr>
            <a:endParaRPr lang="en-US" dirty="0"/>
          </a:p>
          <a:p>
            <a:r>
              <a:rPr lang="en-US" dirty="0"/>
              <a:t>Punishing the Criminal (Implementing Laws)</a:t>
            </a:r>
          </a:p>
          <a:p>
            <a:endParaRPr lang="en-US" dirty="0"/>
          </a:p>
        </p:txBody>
      </p:sp>
    </p:spTree>
    <p:extLst>
      <p:ext uri="{BB962C8B-B14F-4D97-AF65-F5344CB8AC3E}">
        <p14:creationId xmlns:p14="http://schemas.microsoft.com/office/powerpoint/2010/main" val="374245729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Antivirus And Anti spyware Software</a:t>
            </a:r>
          </a:p>
          <a:p>
            <a:r>
              <a:rPr lang="en-US" dirty="0"/>
              <a:t>Firewalls</a:t>
            </a:r>
          </a:p>
          <a:p>
            <a:r>
              <a:rPr lang="en-US" dirty="0"/>
              <a:t>Cryptography</a:t>
            </a:r>
          </a:p>
          <a:p>
            <a:r>
              <a:rPr lang="en-US" dirty="0"/>
              <a:t>Cyber Ethics and Laws</a:t>
            </a:r>
          </a:p>
          <a:p>
            <a:endParaRPr lang="en-US" dirty="0"/>
          </a:p>
        </p:txBody>
      </p:sp>
    </p:spTree>
    <p:extLst>
      <p:ext uri="{BB962C8B-B14F-4D97-AF65-F5344CB8AC3E}">
        <p14:creationId xmlns:p14="http://schemas.microsoft.com/office/powerpoint/2010/main" val="353744041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 by NR3C</a:t>
            </a:r>
          </a:p>
        </p:txBody>
      </p:sp>
      <p:pic>
        <p:nvPicPr>
          <p:cNvPr id="4" name="Content Placeholder 3" descr="http://www.nr3c.gov.pk/images/pagespic/stay%20saf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325880"/>
            <a:ext cx="9067800" cy="5151120"/>
          </a:xfrm>
          <a:prstGeom prst="rect">
            <a:avLst/>
          </a:prstGeom>
          <a:noFill/>
          <a:ln>
            <a:noFill/>
          </a:ln>
        </p:spPr>
      </p:pic>
    </p:spTree>
    <p:extLst>
      <p:ext uri="{BB962C8B-B14F-4D97-AF65-F5344CB8AC3E}">
        <p14:creationId xmlns:p14="http://schemas.microsoft.com/office/powerpoint/2010/main" val="162039881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Digital Gadgets by NR3C</a:t>
            </a:r>
          </a:p>
        </p:txBody>
      </p:sp>
      <p:sp>
        <p:nvSpPr>
          <p:cNvPr id="3" name="Content Placeholder 2"/>
          <p:cNvSpPr>
            <a:spLocks noGrp="1"/>
          </p:cNvSpPr>
          <p:nvPr>
            <p:ph idx="1"/>
          </p:nvPr>
        </p:nvSpPr>
        <p:spPr/>
        <p:txBody>
          <a:bodyPr/>
          <a:lstStyle/>
          <a:p>
            <a:r>
              <a:rPr lang="en-US" dirty="0"/>
              <a:t>Secure your Smart Phones</a:t>
            </a:r>
          </a:p>
          <a:p>
            <a:r>
              <a:rPr lang="en-US" dirty="0"/>
              <a:t>Secure your Online Banking</a:t>
            </a:r>
          </a:p>
          <a:p>
            <a:r>
              <a:rPr lang="en-US" dirty="0"/>
              <a:t>Secure your Facebook</a:t>
            </a:r>
          </a:p>
          <a:p>
            <a:r>
              <a:rPr lang="en-US" dirty="0"/>
              <a:t>Secure your WI-FI</a:t>
            </a:r>
          </a:p>
          <a:p>
            <a:r>
              <a:rPr lang="en-US" dirty="0"/>
              <a:t>Secure your Browsing</a:t>
            </a:r>
          </a:p>
        </p:txBody>
      </p:sp>
    </p:spTree>
    <p:extLst>
      <p:ext uri="{BB962C8B-B14F-4D97-AF65-F5344CB8AC3E}">
        <p14:creationId xmlns:p14="http://schemas.microsoft.com/office/powerpoint/2010/main" val="261251829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Smart Phones</a:t>
            </a:r>
          </a:p>
        </p:txBody>
      </p:sp>
      <p:sp>
        <p:nvSpPr>
          <p:cNvPr id="3" name="Content Placeholder 2"/>
          <p:cNvSpPr>
            <a:spLocks noGrp="1"/>
          </p:cNvSpPr>
          <p:nvPr>
            <p:ph idx="1"/>
          </p:nvPr>
        </p:nvSpPr>
        <p:spPr/>
        <p:txBody>
          <a:bodyPr/>
          <a:lstStyle/>
          <a:p>
            <a:pPr lvl="1"/>
            <a:r>
              <a:rPr lang="en-US" dirty="0"/>
              <a:t>Always secure your smartphone with a strong password</a:t>
            </a:r>
            <a:endParaRPr lang="en-US" sz="1800" dirty="0"/>
          </a:p>
          <a:p>
            <a:pPr lvl="1"/>
            <a:r>
              <a:rPr lang="en-US" dirty="0"/>
              <a:t>Ensure that your device locks itself automatically</a:t>
            </a:r>
            <a:endParaRPr lang="en-US" sz="1800" dirty="0"/>
          </a:p>
          <a:p>
            <a:pPr lvl="1"/>
            <a:r>
              <a:rPr lang="en-US" dirty="0"/>
              <a:t>Install security software</a:t>
            </a:r>
            <a:endParaRPr lang="en-US" sz="1800" dirty="0"/>
          </a:p>
          <a:p>
            <a:pPr lvl="1"/>
            <a:r>
              <a:rPr lang="en-US" dirty="0"/>
              <a:t>Only download apps from approved sources</a:t>
            </a:r>
            <a:endParaRPr lang="en-US" sz="1800" dirty="0"/>
          </a:p>
          <a:p>
            <a:pPr lvl="1"/>
            <a:r>
              <a:rPr lang="en-US" dirty="0"/>
              <a:t>Check your apps permissions</a:t>
            </a:r>
            <a:endParaRPr lang="en-US" sz="1800" dirty="0"/>
          </a:p>
          <a:p>
            <a:pPr lvl="1"/>
            <a:r>
              <a:rPr lang="en-US" dirty="0" err="1"/>
              <a:t>Dont</a:t>
            </a:r>
            <a:r>
              <a:rPr lang="en-US" dirty="0"/>
              <a:t> miss operating system updates</a:t>
            </a:r>
            <a:endParaRPr lang="en-US" sz="1800" dirty="0"/>
          </a:p>
          <a:p>
            <a:pPr lvl="1"/>
            <a:r>
              <a:rPr lang="en-US" dirty="0"/>
              <a:t>Be wary of any links you receive via email or text message</a:t>
            </a:r>
            <a:endParaRPr lang="en-US" sz="1800" dirty="0"/>
          </a:p>
          <a:p>
            <a:pPr lvl="1"/>
            <a:r>
              <a:rPr lang="en-US" dirty="0"/>
              <a:t>Turn off automatic Wi-Fi connection</a:t>
            </a:r>
            <a:endParaRPr lang="en-US" sz="1800" dirty="0"/>
          </a:p>
          <a:p>
            <a:pPr lvl="1"/>
            <a:r>
              <a:rPr lang="en-US" dirty="0"/>
              <a:t>When browsing or shopping on your phone (or computer), always look for "https" in the </a:t>
            </a:r>
            <a:r>
              <a:rPr lang="en-US" dirty="0" err="1"/>
              <a:t>url</a:t>
            </a:r>
            <a:r>
              <a:rPr lang="en-US" dirty="0"/>
              <a:t> instead of     "http"</a:t>
            </a:r>
            <a:endParaRPr lang="en-US" sz="1800" dirty="0"/>
          </a:p>
          <a:p>
            <a:endParaRPr lang="en-US" dirty="0"/>
          </a:p>
        </p:txBody>
      </p:sp>
    </p:spTree>
    <p:extLst>
      <p:ext uri="{BB962C8B-B14F-4D97-AF65-F5344CB8AC3E}">
        <p14:creationId xmlns:p14="http://schemas.microsoft.com/office/powerpoint/2010/main" val="184321355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Online Banking</a:t>
            </a:r>
          </a:p>
        </p:txBody>
      </p:sp>
      <p:sp>
        <p:nvSpPr>
          <p:cNvPr id="3" name="Content Placeholder 2"/>
          <p:cNvSpPr>
            <a:spLocks noGrp="1"/>
          </p:cNvSpPr>
          <p:nvPr>
            <p:ph idx="1"/>
          </p:nvPr>
        </p:nvSpPr>
        <p:spPr/>
        <p:txBody>
          <a:bodyPr>
            <a:normAutofit/>
          </a:bodyPr>
          <a:lstStyle/>
          <a:p>
            <a:pPr lvl="1"/>
            <a:r>
              <a:rPr lang="en-US" dirty="0"/>
              <a:t>Never use same PIN CODE for multiple bank accounts</a:t>
            </a:r>
            <a:endParaRPr lang="en-US" sz="1800" dirty="0"/>
          </a:p>
          <a:p>
            <a:pPr lvl="1"/>
            <a:r>
              <a:rPr lang="en-US" dirty="0"/>
              <a:t>Never use unprotected PCs at </a:t>
            </a:r>
            <a:r>
              <a:rPr lang="en-US" dirty="0" err="1"/>
              <a:t>cybercafes</a:t>
            </a:r>
            <a:r>
              <a:rPr lang="en-US" dirty="0"/>
              <a:t> for internet banking</a:t>
            </a:r>
            <a:endParaRPr lang="en-US" sz="1800" dirty="0"/>
          </a:p>
          <a:p>
            <a:pPr lvl="1"/>
            <a:r>
              <a:rPr lang="en-US" dirty="0"/>
              <a:t>Never keep your pin code and cards together</a:t>
            </a:r>
            <a:endParaRPr lang="en-US" sz="1800" dirty="0"/>
          </a:p>
          <a:p>
            <a:pPr lvl="1"/>
            <a:r>
              <a:rPr lang="en-US" dirty="0"/>
              <a:t>Never leave the PC unattended when using internet banking in a </a:t>
            </a:r>
            <a:r>
              <a:rPr lang="en-US" dirty="0" err="1"/>
              <a:t>publicplace</a:t>
            </a:r>
            <a:endParaRPr lang="en-US" sz="1800" dirty="0"/>
          </a:p>
          <a:p>
            <a:pPr lvl="1"/>
            <a:r>
              <a:rPr lang="en-US" dirty="0"/>
              <a:t>Register for Mobile SMS, Email Transaction Alerts</a:t>
            </a:r>
            <a:endParaRPr lang="en-US" sz="1800" dirty="0"/>
          </a:p>
          <a:p>
            <a:pPr lvl="1"/>
            <a:r>
              <a:rPr lang="en-US" dirty="0"/>
              <a:t>Never reply to emails asking for your password or pin code</a:t>
            </a:r>
            <a:endParaRPr lang="en-US" sz="1800" dirty="0"/>
          </a:p>
          <a:p>
            <a:pPr lvl="1"/>
            <a:r>
              <a:rPr lang="en-US" dirty="0"/>
              <a:t>Visit banks website by typing the URL in the address bar</a:t>
            </a:r>
            <a:endParaRPr lang="en-US" sz="1800" dirty="0"/>
          </a:p>
          <a:p>
            <a:pPr lvl="1"/>
            <a:r>
              <a:rPr lang="en-US" dirty="0"/>
              <a:t>Log off and close your browser when you are done using internet banking</a:t>
            </a:r>
            <a:endParaRPr lang="en-US" sz="1800" dirty="0"/>
          </a:p>
          <a:p>
            <a:pPr lvl="1"/>
            <a:r>
              <a:rPr lang="en-US" dirty="0"/>
              <a:t>When using ATM always conceal keypad before entering pin code</a:t>
            </a:r>
            <a:endParaRPr lang="en-US" sz="1800" dirty="0"/>
          </a:p>
          <a:p>
            <a:pPr lvl="1"/>
            <a:r>
              <a:rPr lang="en-US" dirty="0"/>
              <a:t>Before using ATM, make sure that there is no extra device installed in the surroundings</a:t>
            </a:r>
            <a:endParaRPr lang="en-US" sz="1800" dirty="0"/>
          </a:p>
          <a:p>
            <a:endParaRPr lang="en-US" dirty="0"/>
          </a:p>
        </p:txBody>
      </p:sp>
    </p:spTree>
    <p:extLst>
      <p:ext uri="{BB962C8B-B14F-4D97-AF65-F5344CB8AC3E}">
        <p14:creationId xmlns:p14="http://schemas.microsoft.com/office/powerpoint/2010/main" val="310542894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Facebook</a:t>
            </a:r>
          </a:p>
        </p:txBody>
      </p:sp>
      <p:sp>
        <p:nvSpPr>
          <p:cNvPr id="3" name="Content Placeholder 2"/>
          <p:cNvSpPr>
            <a:spLocks noGrp="1"/>
          </p:cNvSpPr>
          <p:nvPr>
            <p:ph idx="1"/>
          </p:nvPr>
        </p:nvSpPr>
        <p:spPr/>
        <p:txBody>
          <a:bodyPr/>
          <a:lstStyle/>
          <a:p>
            <a:pPr lvl="1"/>
            <a:r>
              <a:rPr lang="en-US" dirty="0"/>
              <a:t>Use extra security features to access account (security code, Login alert </a:t>
            </a:r>
            <a:r>
              <a:rPr lang="en-US" dirty="0" err="1"/>
              <a:t>etc</a:t>
            </a:r>
            <a:r>
              <a:rPr lang="en-US" dirty="0"/>
              <a:t>)</a:t>
            </a:r>
            <a:endParaRPr lang="en-US" sz="1800" dirty="0"/>
          </a:p>
          <a:p>
            <a:pPr lvl="1"/>
            <a:r>
              <a:rPr lang="en-US" dirty="0"/>
              <a:t>Use login notification alert</a:t>
            </a:r>
            <a:endParaRPr lang="en-US" sz="1800" dirty="0"/>
          </a:p>
          <a:p>
            <a:pPr lvl="1"/>
            <a:r>
              <a:rPr lang="en-US" dirty="0"/>
              <a:t>Allow specific individuals to view your contents (Videos, Photos and Friends etc.)</a:t>
            </a:r>
            <a:endParaRPr lang="en-US" sz="1800" dirty="0"/>
          </a:p>
          <a:p>
            <a:pPr lvl="1"/>
            <a:r>
              <a:rPr lang="en-US" dirty="0"/>
              <a:t>Control who can contact you</a:t>
            </a:r>
            <a:endParaRPr lang="en-US" sz="1800" dirty="0"/>
          </a:p>
          <a:p>
            <a:pPr lvl="1"/>
            <a:r>
              <a:rPr lang="en-US" dirty="0"/>
              <a:t>Block your profile from search engines</a:t>
            </a:r>
            <a:endParaRPr lang="en-US" sz="1800" dirty="0"/>
          </a:p>
          <a:p>
            <a:endParaRPr lang="en-US" dirty="0"/>
          </a:p>
        </p:txBody>
      </p:sp>
    </p:spTree>
    <p:extLst>
      <p:ext uri="{BB962C8B-B14F-4D97-AF65-F5344CB8AC3E}">
        <p14:creationId xmlns:p14="http://schemas.microsoft.com/office/powerpoint/2010/main" val="189651586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WI-FI</a:t>
            </a:r>
          </a:p>
        </p:txBody>
      </p:sp>
      <p:sp>
        <p:nvSpPr>
          <p:cNvPr id="3" name="Content Placeholder 2"/>
          <p:cNvSpPr>
            <a:spLocks noGrp="1"/>
          </p:cNvSpPr>
          <p:nvPr>
            <p:ph idx="1"/>
          </p:nvPr>
        </p:nvSpPr>
        <p:spPr/>
        <p:txBody>
          <a:bodyPr/>
          <a:lstStyle/>
          <a:p>
            <a:pPr lvl="1"/>
            <a:r>
              <a:rPr lang="en-US" dirty="0"/>
              <a:t>Change Default Administrator Passwords and Usernames of the Wi-Fi Router</a:t>
            </a:r>
            <a:endParaRPr lang="en-US" sz="1800" dirty="0"/>
          </a:p>
          <a:p>
            <a:pPr lvl="1"/>
            <a:r>
              <a:rPr lang="en-US" dirty="0"/>
              <a:t>Use complex password and change Password after regular intervals</a:t>
            </a:r>
            <a:endParaRPr lang="en-US" sz="1800" dirty="0"/>
          </a:p>
          <a:p>
            <a:pPr lvl="1"/>
            <a:r>
              <a:rPr lang="en-US" dirty="0"/>
              <a:t>Position the Router or Access Point Safely</a:t>
            </a:r>
            <a:endParaRPr lang="en-US" sz="1800" dirty="0"/>
          </a:p>
          <a:p>
            <a:pPr lvl="1"/>
            <a:r>
              <a:rPr lang="en-US" dirty="0"/>
              <a:t>Turn off the Network / Wi-Fi routers if it is not in use</a:t>
            </a:r>
            <a:endParaRPr lang="en-US" sz="1800" dirty="0"/>
          </a:p>
          <a:p>
            <a:endParaRPr lang="en-US" dirty="0"/>
          </a:p>
        </p:txBody>
      </p:sp>
    </p:spTree>
    <p:extLst>
      <p:ext uri="{BB962C8B-B14F-4D97-AF65-F5344CB8AC3E}">
        <p14:creationId xmlns:p14="http://schemas.microsoft.com/office/powerpoint/2010/main" val="134256875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Browsing</a:t>
            </a:r>
          </a:p>
        </p:txBody>
      </p:sp>
      <p:sp>
        <p:nvSpPr>
          <p:cNvPr id="3" name="Content Placeholder 2"/>
          <p:cNvSpPr>
            <a:spLocks noGrp="1"/>
          </p:cNvSpPr>
          <p:nvPr>
            <p:ph idx="1"/>
          </p:nvPr>
        </p:nvSpPr>
        <p:spPr/>
        <p:txBody>
          <a:bodyPr/>
          <a:lstStyle/>
          <a:p>
            <a:pPr lvl="1"/>
            <a:r>
              <a:rPr lang="en-US" dirty="0"/>
              <a:t>What you put online will always remain there</a:t>
            </a:r>
            <a:endParaRPr lang="en-US" sz="1800" dirty="0"/>
          </a:p>
          <a:p>
            <a:pPr lvl="1"/>
            <a:r>
              <a:rPr lang="en-US" dirty="0"/>
              <a:t>Never trust any free online content</a:t>
            </a:r>
            <a:endParaRPr lang="en-US" sz="1800" dirty="0"/>
          </a:p>
          <a:p>
            <a:pPr lvl="1"/>
            <a:r>
              <a:rPr lang="en-US" dirty="0" smtClean="0"/>
              <a:t>Don’t </a:t>
            </a:r>
            <a:r>
              <a:rPr lang="en-US" dirty="0"/>
              <a:t>provide personal information online to get something free</a:t>
            </a:r>
            <a:endParaRPr lang="en-US" sz="1800" dirty="0"/>
          </a:p>
          <a:p>
            <a:pPr lvl="1"/>
            <a:r>
              <a:rPr lang="en-US" dirty="0"/>
              <a:t>Don’t click on links inside e-mails or messages</a:t>
            </a:r>
            <a:endParaRPr lang="en-US" sz="1800" dirty="0"/>
          </a:p>
          <a:p>
            <a:endParaRPr lang="en-US" dirty="0"/>
          </a:p>
        </p:txBody>
      </p:sp>
    </p:spTree>
    <p:extLst>
      <p:ext uri="{BB962C8B-B14F-4D97-AF65-F5344CB8AC3E}">
        <p14:creationId xmlns:p14="http://schemas.microsoft.com/office/powerpoint/2010/main" val="132466565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fontScale="77500" lnSpcReduction="20000"/>
          </a:bodyPr>
          <a:lstStyle/>
          <a:p>
            <a:r>
              <a:rPr lang="en-US" b="1" dirty="0"/>
              <a:t>Computer Fraud and Abuse Act:</a:t>
            </a:r>
          </a:p>
          <a:p>
            <a:pPr marL="0" indent="0">
              <a:buNone/>
            </a:pPr>
            <a:r>
              <a:rPr lang="en-US" dirty="0"/>
              <a:t>The Computer Fraud and Abuse Act (CFAA) [18 U.S.C. Section 1030] makes it illegal for anyone to distribute computer code or place it in the stream of commerce if they intend to cause either damage or economic loss.</a:t>
            </a:r>
          </a:p>
          <a:p>
            <a:pPr marL="0" indent="0">
              <a:buNone/>
            </a:pPr>
            <a:endParaRPr lang="en-US" dirty="0"/>
          </a:p>
          <a:p>
            <a:r>
              <a:rPr lang="en-US" dirty="0"/>
              <a:t>accessing a computer without authorization and subsequently transmitting classified government information. [Subsection 1030(a)(1)]; </a:t>
            </a:r>
          </a:p>
          <a:p>
            <a:r>
              <a:rPr lang="en-US" dirty="0"/>
              <a:t>theft of financial information [Subsection 1030(a)(2)]; </a:t>
            </a:r>
          </a:p>
          <a:p>
            <a:r>
              <a:rPr lang="en-US" dirty="0"/>
              <a:t>accessing a "protected computer," which the courts have recently interpreted as being any computer connected to the internet, even if the intruder obtains no data [Subsection 1030(a)(3)]; </a:t>
            </a:r>
          </a:p>
          <a:p>
            <a:r>
              <a:rPr lang="en-US" dirty="0"/>
              <a:t>computer fraud [Subsection 1030(a)(4)]; </a:t>
            </a:r>
          </a:p>
          <a:p>
            <a:r>
              <a:rPr lang="en-US" dirty="0"/>
              <a:t>transmitting code that causes damage to a computer system [Subsection 1030(a)(5)]; </a:t>
            </a:r>
          </a:p>
          <a:p>
            <a:r>
              <a:rPr lang="en-US" dirty="0"/>
              <a:t>trafficking in computer passwords for the purpose of affecting interstate commerce or a government computer [Subsection 1030(a)(6)]; </a:t>
            </a:r>
          </a:p>
          <a:p>
            <a:r>
              <a:rPr lang="en-US" dirty="0"/>
              <a:t>and computer extortion [Subsection 1030(a)(7)]. </a:t>
            </a:r>
          </a:p>
          <a:p>
            <a:pPr marL="0" indent="0">
              <a:buNone/>
            </a:pPr>
            <a:endParaRPr lang="en-US" b="1" dirty="0"/>
          </a:p>
        </p:txBody>
      </p:sp>
    </p:spTree>
    <p:extLst>
      <p:ext uri="{BB962C8B-B14F-4D97-AF65-F5344CB8AC3E}">
        <p14:creationId xmlns:p14="http://schemas.microsoft.com/office/powerpoint/2010/main" val="4214903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a:bodyPr>
          <a:lstStyle/>
          <a:p>
            <a:r>
              <a:rPr lang="en-US" b="1" dirty="0"/>
              <a:t>Electronic Communication Privacy Act:</a:t>
            </a:r>
          </a:p>
          <a:p>
            <a:pPr marL="0" indent="0">
              <a:buNone/>
            </a:pPr>
            <a:endParaRPr lang="en-US" b="1" dirty="0"/>
          </a:p>
          <a:p>
            <a:pPr marL="0" indent="0" algn="just">
              <a:buNone/>
            </a:pPr>
            <a:r>
              <a:rPr lang="en-US" dirty="0"/>
              <a:t>The Electronic Communications Privacy Act (ECPA) [18 U.S.C. Sections 2510-2521, 2701-2710], which was signed into law in 1986, amended the Federal Wiretap Act to account for the increasing amount of communications and data transferred and stored on computer systems. The ECPA protects against the unlawful interceptions of any wire communications.</a:t>
            </a:r>
            <a:endParaRPr lang="en-US" b="1" dirty="0"/>
          </a:p>
        </p:txBody>
      </p:sp>
    </p:spTree>
    <p:extLst>
      <p:ext uri="{BB962C8B-B14F-4D97-AF65-F5344CB8AC3E}">
        <p14:creationId xmlns:p14="http://schemas.microsoft.com/office/powerpoint/2010/main" val="3818203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Readings</a:t>
            </a:r>
          </a:p>
        </p:txBody>
      </p:sp>
      <p:sp>
        <p:nvSpPr>
          <p:cNvPr id="3" name="Content Placeholder 2"/>
          <p:cNvSpPr>
            <a:spLocks noGrp="1"/>
          </p:cNvSpPr>
          <p:nvPr>
            <p:ph idx="1"/>
          </p:nvPr>
        </p:nvSpPr>
        <p:spPr/>
        <p:txBody>
          <a:bodyPr/>
          <a:lstStyle/>
          <a:p>
            <a:r>
              <a:rPr lang="en-US" dirty="0"/>
              <a:t>Book Chapter 11, Professional Issues in Software Engineering, M.F. </a:t>
            </a:r>
            <a:r>
              <a:rPr lang="en-US" dirty="0" err="1"/>
              <a:t>Bott</a:t>
            </a:r>
            <a:r>
              <a:rPr lang="en-US" dirty="0"/>
              <a:t> et al. (3rd Edition).</a:t>
            </a:r>
          </a:p>
          <a:p>
            <a:r>
              <a:rPr lang="en-US" dirty="0"/>
              <a:t>Cyber Crime Act2016 in Pakistan at: </a:t>
            </a:r>
            <a:r>
              <a:rPr lang="en-US" dirty="0">
                <a:hlinkClick r:id="rId2"/>
              </a:rPr>
              <a:t>http://www.nr3c.gov.pk/law.html</a:t>
            </a:r>
            <a:endParaRPr lang="en-US" dirty="0"/>
          </a:p>
          <a:p>
            <a:r>
              <a:rPr lang="en-US" dirty="0"/>
              <a:t>Law Commission Consultation Paper No. 150, </a:t>
            </a:r>
            <a:r>
              <a:rPr lang="en-US" i="1" dirty="0"/>
              <a:t>Legislating the criminal law: misuse of trade secrets, a consultation paper, </a:t>
            </a:r>
            <a:r>
              <a:rPr lang="en-US" dirty="0"/>
              <a:t>available at www.gtnet.gov.uk/lawcomm/homepage.htm.</a:t>
            </a:r>
          </a:p>
        </p:txBody>
      </p:sp>
    </p:spTree>
    <p:extLst>
      <p:ext uri="{BB962C8B-B14F-4D97-AF65-F5344CB8AC3E}">
        <p14:creationId xmlns:p14="http://schemas.microsoft.com/office/powerpoint/2010/main" val="13239179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2365</TotalTime>
  <Words>5448</Words>
  <Application>Microsoft Office PowerPoint</Application>
  <PresentationFormat>Widescreen</PresentationFormat>
  <Paragraphs>478</Paragraphs>
  <Slides>81</Slides>
  <Notes>26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Arial</vt:lpstr>
      <vt:lpstr>Calibri</vt:lpstr>
      <vt:lpstr>Calibri Light</vt:lpstr>
      <vt:lpstr>Carlito</vt:lpstr>
      <vt:lpstr>Comic Sans MS</vt:lpstr>
      <vt:lpstr>Footlight MT Light</vt:lpstr>
      <vt:lpstr>Rubik</vt:lpstr>
      <vt:lpstr>Wingdings</vt:lpstr>
      <vt:lpstr>Office Theme</vt:lpstr>
      <vt:lpstr>Cyber Crimes</vt:lpstr>
      <vt:lpstr>Background</vt:lpstr>
      <vt:lpstr>Cyber Crimes</vt:lpstr>
      <vt:lpstr>Cyber Crimes</vt:lpstr>
      <vt:lpstr>Cyber Crimes</vt:lpstr>
      <vt:lpstr>Cyber Crime Facts</vt:lpstr>
      <vt:lpstr>Major Online Activities</vt:lpstr>
      <vt:lpstr>Common types of Cyber Crimes </vt:lpstr>
      <vt:lpstr>On Line Scams/ Frauds</vt:lpstr>
      <vt:lpstr>Computer Misuse Practices</vt:lpstr>
      <vt:lpstr>Computer Fraud</vt:lpstr>
      <vt:lpstr>Computer Fraud</vt:lpstr>
      <vt:lpstr>Financial Fraud</vt:lpstr>
      <vt:lpstr>Computer Trespassing</vt:lpstr>
      <vt:lpstr>PowerPoint Presentation</vt:lpstr>
      <vt:lpstr>Identity Theft</vt:lpstr>
      <vt:lpstr>Data Theft</vt:lpstr>
      <vt:lpstr>Hacking</vt:lpstr>
      <vt:lpstr>Website Defacement</vt:lpstr>
      <vt:lpstr>Social Engineering Attacks</vt:lpstr>
      <vt:lpstr>Social Engineering</vt:lpstr>
      <vt:lpstr>Life cycle of Social Engineering Attacks</vt:lpstr>
      <vt:lpstr>Classifications of Attacks</vt:lpstr>
      <vt:lpstr>Social Engineering</vt:lpstr>
      <vt:lpstr>Range of Social Engineering Attacks</vt:lpstr>
      <vt:lpstr>Spam and Phishing</vt:lpstr>
      <vt:lpstr>Spam and Phishing</vt:lpstr>
      <vt:lpstr>Information Stealing through Phishing</vt:lpstr>
      <vt:lpstr>Example of Phishing</vt:lpstr>
      <vt:lpstr>Assignment</vt:lpstr>
      <vt:lpstr>Blackmailing, Harassment, and Stalking</vt:lpstr>
      <vt:lpstr>Cyber Stalking</vt:lpstr>
      <vt:lpstr>Malicious  Software</vt:lpstr>
      <vt:lpstr>PowerPoint Presentation</vt:lpstr>
      <vt:lpstr>Common Malware Types</vt:lpstr>
      <vt:lpstr>Computer Virus</vt:lpstr>
      <vt:lpstr>Computer Worm</vt:lpstr>
      <vt:lpstr>Computer Worm</vt:lpstr>
      <vt:lpstr>Trojan horse</vt:lpstr>
      <vt:lpstr>Spyware</vt:lpstr>
      <vt:lpstr>Adware</vt:lpstr>
      <vt:lpstr>Ransomware</vt:lpstr>
      <vt:lpstr>Rootkit</vt:lpstr>
      <vt:lpstr>keylogging</vt:lpstr>
      <vt:lpstr>Denial of Service Attack</vt:lpstr>
      <vt:lpstr>Intellectual Property Rights</vt:lpstr>
      <vt:lpstr>Eavesdropping and Unauthorized Alteration </vt:lpstr>
      <vt:lpstr>Copyright and Piracy</vt:lpstr>
      <vt:lpstr>Copyright and Piracy</vt:lpstr>
      <vt:lpstr>Dissemination of offensive Material</vt:lpstr>
      <vt:lpstr>Electronic Money laundering &amp; Tax Evasion</vt:lpstr>
      <vt:lpstr>Electronic vandalism, terrorism and extortion </vt:lpstr>
      <vt:lpstr>Few Examples of online scams </vt:lpstr>
      <vt:lpstr>Scenarios</vt:lpstr>
      <vt:lpstr>PowerPoint Presentation</vt:lpstr>
      <vt:lpstr>Cyber Crime Statistics</vt:lpstr>
      <vt:lpstr>PowerPoint Presentation</vt:lpstr>
      <vt:lpstr>PowerPoint Presentation</vt:lpstr>
      <vt:lpstr>PowerPoint Presentation</vt:lpstr>
      <vt:lpstr>PowerPoint Presentation</vt:lpstr>
      <vt:lpstr>PowerPoint Presentation</vt:lpstr>
      <vt:lpstr>PowerPoint Presentation</vt:lpstr>
      <vt:lpstr>Common Types Of Cyber Attacks</vt:lpstr>
      <vt:lpstr>PowerPoint Presentation</vt:lpstr>
      <vt:lpstr>PowerPoint Presentation</vt:lpstr>
      <vt:lpstr>Cyber Crimes and PAKISTAN</vt:lpstr>
      <vt:lpstr>National Response Centre for Cyber Crimes (NR3C)</vt:lpstr>
      <vt:lpstr>NR3C Services</vt:lpstr>
      <vt:lpstr>NR3C Achievements</vt:lpstr>
      <vt:lpstr>Cyber Crime Preventions</vt:lpstr>
      <vt:lpstr>Cyber Crime Preventions</vt:lpstr>
      <vt:lpstr>Cyber Crime Preventions by NR3C</vt:lpstr>
      <vt:lpstr>Secure Digital Gadgets by NR3C</vt:lpstr>
      <vt:lpstr>Secure your Smart Phones</vt:lpstr>
      <vt:lpstr>Secure your Online Banking</vt:lpstr>
      <vt:lpstr>Secure your Facebook</vt:lpstr>
      <vt:lpstr>Secure Your WI-FI</vt:lpstr>
      <vt:lpstr>Secure your Browsing</vt:lpstr>
      <vt:lpstr>Computer Crime Laws</vt:lpstr>
      <vt:lpstr>Computer Crime Laws</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Crimes</dc:title>
  <dc:creator>Windows User</dc:creator>
  <cp:lastModifiedBy>user sb</cp:lastModifiedBy>
  <cp:revision>138</cp:revision>
  <dcterms:created xsi:type="dcterms:W3CDTF">2020-10-08T11:54:32Z</dcterms:created>
  <dcterms:modified xsi:type="dcterms:W3CDTF">2023-05-15T10:12:19Z</dcterms:modified>
</cp:coreProperties>
</file>
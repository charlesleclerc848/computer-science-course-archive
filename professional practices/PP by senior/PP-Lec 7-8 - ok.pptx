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9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05946-D64D-429D-94C1-81684D7AC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46B49-CFF1-453A-B8E0-0D0531F80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4B313-81F8-49BB-8E3D-D8168D82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C148-94A8-4881-BF23-BB4358DC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A773D-DB39-4E69-B4EC-FD4453BE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518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601FA-1DCE-4A68-BFF9-3D85C17B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396EE-B107-459B-A1A4-5DC91A121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FCD2E-180B-4BD3-BBC1-639F1A0D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258E7-E35C-450F-9F73-C8B07360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8A791-8FE3-4E7B-8E68-427F874A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0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837E3-4F4C-46F7-AAB0-6F376FC8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3895E-9601-4E78-A151-45AB19E11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01659-779A-4030-92C1-E86E19EE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D033-D839-4C23-A7D6-1C9B8C71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7402C-97E8-4E98-969C-425B9E5E3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9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7217-C321-4B16-9713-9ABD762F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0D63E-58D7-4C4C-AE67-314E607DC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287CA-DED9-4D9D-8EA2-9AE785D41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450A8-3BB3-4CFF-BA7B-7C90D989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3857A-EECF-4838-BDF3-20205865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3597D-3536-4FB1-9180-A8080746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0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1261-AF65-4C49-BE41-404BE2BF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3922B-2691-4B04-AC0A-B96ECAB32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2FADFB-31AF-42DD-9AC7-07665045F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BFA62-560A-4751-9D13-BE6932A22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888525-CE85-4A32-8D19-3F15E016F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6F1CE4-4659-46C9-8367-092548E1E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DA63DB-95A5-4E27-AAB2-C74225D1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9C7FE-4899-4720-96F3-717AEECD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10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CDB8-FF86-41C0-8A5A-B60106E0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598A1-FC85-44F0-9B67-E3CC01EA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6F068-DF8A-4F8D-B316-5DD3C5D2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F3DC2-3BD2-4231-8A79-4EE1C72F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1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87AAB-8E72-4527-BB5A-C44060181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900D9-4E84-4C96-A1DA-EF09D9EF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1A33-33DD-4E9F-9446-FDF2CB8F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29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8547-83CF-4D64-98F8-0BA3DB26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94972-504C-44B7-903E-E71FF46C7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DFD0C-046A-451F-B2FF-C3219F2E4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6A1E2-FF65-4861-929D-95E0D114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D5188-028A-4019-9D1D-E422808F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75C20-3346-4CC4-B082-7F5D46ED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56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E01E-61DC-4657-9B12-08B831E4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8E175-7540-4D47-A4F3-F9E2B980B3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B1C1C-9A85-4767-A661-5E363310EA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3D725-2347-4086-8130-3E50100F5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AB579-27C4-4A38-90F7-695010BBD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E4999-C281-43C0-9C7E-0867DBA5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85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A246-62E6-41A2-A044-917C5684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BA17A-B823-40FB-801D-1BB703196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FD09C-A5D2-4366-A130-AA6B9C03C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C6FD3-971F-4565-85F9-61895081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CE6E-D061-4712-9460-509BFBB8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95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45A510-CA9F-41EF-8A86-FA4151874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04D8F-0A7F-4294-8D1E-45D6131AA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DAD49-B0A9-4F5C-917A-129B4EC3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AA31F-2656-4F12-84F4-3BEB7925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86151-4416-4580-ACD1-069D20CF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534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86AE7-AFA9-461A-90CB-A65DEE49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C6269-5A2F-4524-93DA-98A3CEB69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3B580-51EA-42B0-95D0-F7E6DD734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9D499-66D7-4E59-8AD5-666032E101A4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4ABD-A6CF-4469-8642-95FD81DC8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2C1E4-2B63-4C62-B3AA-039E8A91F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D00F3-6BEB-4560-9FA7-BD90C3E347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9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4 Lec:7 The Structure of Organizations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b="1" dirty="0" smtClean="0"/>
              <a:t>NO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8907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Topic:  The Structure of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44676"/>
            <a:ext cx="8229600" cy="4176713"/>
          </a:xfrm>
        </p:spPr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  <a:p>
            <a:pPr>
              <a:defRPr/>
            </a:pPr>
            <a:r>
              <a:rPr lang="en-US" dirty="0"/>
              <a:t>Legal form of organization</a:t>
            </a:r>
          </a:p>
          <a:p>
            <a:pPr>
              <a:defRPr/>
            </a:pPr>
            <a:r>
              <a:rPr lang="en-US" dirty="0"/>
              <a:t>Companies</a:t>
            </a:r>
          </a:p>
          <a:p>
            <a:pPr>
              <a:defRPr/>
            </a:pPr>
            <a:r>
              <a:rPr lang="en-US" dirty="0"/>
              <a:t>Types of Organizations</a:t>
            </a:r>
          </a:p>
          <a:p>
            <a:pPr>
              <a:defRPr/>
            </a:pPr>
            <a:r>
              <a:rPr lang="en-US" dirty="0"/>
              <a:t>Management of an organization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83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876"/>
            <a:ext cx="8229600" cy="4824413"/>
          </a:xfrm>
        </p:spPr>
        <p:txBody>
          <a:bodyPr/>
          <a:lstStyle/>
          <a:p>
            <a:pPr algn="just">
              <a:defRPr/>
            </a:pPr>
            <a:r>
              <a:rPr lang="en-US" dirty="0"/>
              <a:t>Impossible to live in a civilized society without close contact with many large organizations</a:t>
            </a:r>
          </a:p>
          <a:p>
            <a:pPr algn="just">
              <a:defRPr/>
            </a:pPr>
            <a:r>
              <a:rPr lang="en-US" dirty="0"/>
              <a:t> Like schools, universities, public utilities, government and local government departments, the Health Service, commercial and industrial companies, and so on.</a:t>
            </a:r>
          </a:p>
          <a:p>
            <a:pPr algn="just">
              <a:defRPr/>
            </a:pPr>
            <a:r>
              <a:rPr lang="en-US" dirty="0"/>
              <a:t>In many ways, these organizations resemble each other.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67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Legal Form of An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4130" y="1450632"/>
            <a:ext cx="8435975" cy="4752975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Law recognises individuals</a:t>
            </a:r>
          </a:p>
          <a:p>
            <a:pPr lvl="1" eaLnBrk="1" hangingPunct="1">
              <a:defRPr/>
            </a:pPr>
            <a:r>
              <a:rPr lang="en-GB" dirty="0"/>
              <a:t>Enter into contracts</a:t>
            </a:r>
          </a:p>
          <a:p>
            <a:pPr lvl="1" eaLnBrk="1" hangingPunct="1">
              <a:defRPr/>
            </a:pPr>
            <a:r>
              <a:rPr lang="en-GB" dirty="0"/>
              <a:t>Tried for crime</a:t>
            </a:r>
          </a:p>
          <a:p>
            <a:pPr lvl="1" eaLnBrk="1" hangingPunct="1">
              <a:defRPr/>
            </a:pPr>
            <a:r>
              <a:rPr lang="en-GB" dirty="0"/>
              <a:t>Act of Parliament impose duties on the individual etc</a:t>
            </a:r>
          </a:p>
          <a:p>
            <a:pPr eaLnBrk="1" hangingPunct="1">
              <a:defRPr/>
            </a:pPr>
            <a:r>
              <a:rPr lang="en-GB" dirty="0"/>
              <a:t>Incorporation</a:t>
            </a:r>
          </a:p>
          <a:p>
            <a:pPr lvl="1" eaLnBrk="1" hangingPunct="1">
              <a:defRPr/>
            </a:pPr>
            <a:r>
              <a:rPr lang="en-GB" dirty="0"/>
              <a:t>Making into a body (</a:t>
            </a:r>
            <a:r>
              <a:rPr lang="en-GB" i="1" dirty="0"/>
              <a:t>Corpus</a:t>
            </a:r>
            <a:r>
              <a:rPr lang="en-GB" dirty="0"/>
              <a:t>)</a:t>
            </a:r>
          </a:p>
          <a:p>
            <a:pPr lvl="1" eaLnBrk="1" hangingPunct="1">
              <a:defRPr/>
            </a:pPr>
            <a:r>
              <a:rPr lang="en-US" dirty="0"/>
              <a:t>Organization should be given a legal existence, through a process known as </a:t>
            </a:r>
            <a:r>
              <a:rPr lang="en-US" i="1" dirty="0"/>
              <a:t>incorporation.</a:t>
            </a:r>
          </a:p>
          <a:p>
            <a:pPr lvl="1" eaLnBrk="1" hangingPunct="1">
              <a:defRPr/>
            </a:pPr>
            <a:endParaRPr lang="en-GB" dirty="0"/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1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auto">
          <a:xfrm>
            <a:off x="1981200" y="115888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Incorporated Organisations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58888"/>
            <a:ext cx="8229600" cy="476250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Incorporated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Royal Charters – IET, BCS, IMechE, </a:t>
            </a:r>
            <a:r>
              <a:rPr lang="en-GB" dirty="0" err="1"/>
              <a:t>RAeS</a:t>
            </a:r>
            <a:endParaRPr lang="en-GB" dirty="0"/>
          </a:p>
          <a:p>
            <a:pPr lvl="1"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Acts of Parliament – Ceredigion County Council</a:t>
            </a:r>
          </a:p>
          <a:p>
            <a:pPr lvl="1" eaLnBrk="1" hangingPunct="1">
              <a:defRPr/>
            </a:pPr>
            <a:endParaRPr lang="en-GB" dirty="0"/>
          </a:p>
          <a:p>
            <a:pPr lvl="1" eaLnBrk="1" hangingPunct="1">
              <a:defRPr/>
            </a:pPr>
            <a:r>
              <a:rPr lang="en-GB" dirty="0"/>
              <a:t>Public or Private Companies (Companies Act 1985 and 1989)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59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/>
              <a:t>Types of Commercial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421188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FontTx/>
              <a:buAutoNum type="arabicPeriod"/>
            </a:pPr>
            <a:r>
              <a:rPr lang="en-GB" u="sng">
                <a:solidFill>
                  <a:srgbClr val="0D0D0D"/>
                </a:solidFill>
              </a:rPr>
              <a:t>Sole Trader</a:t>
            </a:r>
          </a:p>
          <a:p>
            <a:pPr marL="457200" lvl="1" indent="0">
              <a:buNone/>
            </a:pPr>
            <a:r>
              <a:rPr lang="en-GB">
                <a:solidFill>
                  <a:srgbClr val="0D0D0D"/>
                </a:solidFill>
              </a:rPr>
              <a:t>        Local Shop, Plumber</a:t>
            </a:r>
          </a:p>
          <a:p>
            <a:pPr marL="457200" indent="-457200">
              <a:buFontTx/>
              <a:buAutoNum type="arabicPeriod"/>
            </a:pPr>
            <a:r>
              <a:rPr lang="en-GB" u="sng">
                <a:solidFill>
                  <a:srgbClr val="0D0D0D"/>
                </a:solidFill>
              </a:rPr>
              <a:t>Partnership</a:t>
            </a:r>
          </a:p>
          <a:p>
            <a:pPr marL="457200" lvl="1" indent="0">
              <a:buNone/>
            </a:pPr>
            <a:r>
              <a:rPr lang="en-GB">
                <a:solidFill>
                  <a:srgbClr val="0D0D0D"/>
                </a:solidFill>
              </a:rPr>
              <a:t>        Doctors, Lawyers, Accountants</a:t>
            </a:r>
          </a:p>
          <a:p>
            <a:pPr marL="457200" indent="-457200">
              <a:buFontTx/>
              <a:buAutoNum type="arabicPeriod"/>
            </a:pPr>
            <a:r>
              <a:rPr lang="en-GB" u="sng">
                <a:solidFill>
                  <a:srgbClr val="0D0D0D"/>
                </a:solidFill>
              </a:rPr>
              <a:t>Limited Company</a:t>
            </a:r>
          </a:p>
          <a:p>
            <a:pPr marL="457200" lvl="1" indent="0">
              <a:buNone/>
            </a:pPr>
            <a:r>
              <a:rPr lang="en-GB">
                <a:solidFill>
                  <a:srgbClr val="0D0D0D"/>
                </a:solidFill>
              </a:rPr>
              <a:t>	Private or Public</a:t>
            </a:r>
          </a:p>
          <a:p>
            <a:pPr marL="457200" indent="-457200"/>
            <a:endParaRPr lang="en-US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14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/>
              <a:t>Sole Trader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460375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Individual</a:t>
            </a:r>
          </a:p>
          <a:p>
            <a:pPr lvl="1" eaLnBrk="1" hangingPunct="1">
              <a:defRPr/>
            </a:pPr>
            <a:r>
              <a:rPr lang="en-GB" dirty="0"/>
              <a:t>Sole person responsible for all debts</a:t>
            </a:r>
          </a:p>
          <a:p>
            <a:pPr lvl="1" eaLnBrk="1" hangingPunct="1">
              <a:defRPr/>
            </a:pPr>
            <a:r>
              <a:rPr lang="en-GB" dirty="0"/>
              <a:t>All assets including “private” at risk</a:t>
            </a:r>
          </a:p>
          <a:p>
            <a:pPr lvl="1" eaLnBrk="1" hangingPunct="1">
              <a:defRPr/>
            </a:pPr>
            <a:r>
              <a:rPr lang="en-GB" dirty="0"/>
              <a:t>Does NOT have to be the only employee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86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/>
              <a:t>Partnership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25538"/>
            <a:ext cx="8362950" cy="489585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Two or More People</a:t>
            </a:r>
          </a:p>
          <a:p>
            <a:pPr eaLnBrk="1" hangingPunct="1">
              <a:defRPr/>
            </a:pPr>
            <a:r>
              <a:rPr lang="en-GB" dirty="0"/>
              <a:t>All at Risk. Similar to sole trader but &gt;1 person</a:t>
            </a:r>
          </a:p>
          <a:p>
            <a:pPr eaLnBrk="1" hangingPunct="1">
              <a:defRPr/>
            </a:pPr>
            <a:r>
              <a:rPr lang="en-GB" dirty="0"/>
              <a:t>Normally professionals</a:t>
            </a:r>
          </a:p>
          <a:p>
            <a:pPr lvl="1" eaLnBrk="1" hangingPunct="1">
              <a:defRPr/>
            </a:pPr>
            <a:r>
              <a:rPr lang="en-GB" dirty="0"/>
              <a:t>Doctors</a:t>
            </a:r>
          </a:p>
          <a:p>
            <a:pPr lvl="1" eaLnBrk="1" hangingPunct="1">
              <a:defRPr/>
            </a:pPr>
            <a:r>
              <a:rPr lang="en-GB" dirty="0"/>
              <a:t>Lawyers</a:t>
            </a:r>
          </a:p>
          <a:p>
            <a:pPr lvl="1" eaLnBrk="1" hangingPunct="1">
              <a:defRPr/>
            </a:pPr>
            <a:r>
              <a:rPr lang="en-GB" dirty="0"/>
              <a:t>Accountants</a:t>
            </a:r>
          </a:p>
          <a:p>
            <a:pPr eaLnBrk="1" hangingPunct="1">
              <a:defRPr/>
            </a:pPr>
            <a:r>
              <a:rPr lang="en-GB" dirty="0"/>
              <a:t>Inflexible in Normal Commercial World</a:t>
            </a:r>
          </a:p>
          <a:p>
            <a:pPr lvl="1" eaLnBrk="1" hangingPunct="1">
              <a:defRPr/>
            </a:pPr>
            <a:r>
              <a:rPr lang="en-GB" dirty="0"/>
              <a:t>Movement of key Personnel</a:t>
            </a:r>
          </a:p>
          <a:p>
            <a:pPr lvl="1" eaLnBrk="1" hangingPunct="1">
              <a:defRPr/>
            </a:pPr>
            <a:r>
              <a:rPr lang="en-GB" dirty="0"/>
              <a:t>Too risky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58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/>
              <a:t>Companies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68414"/>
            <a:ext cx="8229600" cy="4752975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dirty="0"/>
              <a:t>Public or Private Companies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GB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Public –  Public Limited Company (PLC)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dirty="0"/>
              <a:t>Trades shares to public</a:t>
            </a:r>
          </a:p>
          <a:p>
            <a:pPr marL="1371600" lvl="3" indent="0">
              <a:lnSpc>
                <a:spcPct val="80000"/>
              </a:lnSpc>
              <a:buNone/>
              <a:defRPr/>
            </a:pPr>
            <a:endParaRPr lang="en-GB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Private – Company Limited (Co Ltd)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dirty="0"/>
              <a:t>Cannot sell shares to Public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dirty="0"/>
              <a:t>Can sell shares privately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dirty="0"/>
              <a:t>Limited by Shares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en-GB" sz="2000" dirty="0"/>
              <a:t>Commercial Companies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dirty="0"/>
              <a:t>Limited by  Guarantee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en-GB" sz="2000" dirty="0"/>
              <a:t>Charities, Professional Bodies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dirty="0"/>
              <a:t>(Unlimited Companies)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144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/>
              <a:t>Companies (Contd)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460375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Independent Existence</a:t>
            </a:r>
          </a:p>
          <a:p>
            <a:pPr eaLnBrk="1" hangingPunct="1">
              <a:defRPr/>
            </a:pPr>
            <a:r>
              <a:rPr lang="en-GB" dirty="0"/>
              <a:t>Divided </a:t>
            </a:r>
          </a:p>
          <a:p>
            <a:pPr lvl="1" eaLnBrk="1" hangingPunct="1">
              <a:defRPr/>
            </a:pPr>
            <a:r>
              <a:rPr lang="en-GB" dirty="0"/>
              <a:t>Shareholders</a:t>
            </a:r>
          </a:p>
          <a:p>
            <a:pPr lvl="1" eaLnBrk="1" hangingPunct="1">
              <a:defRPr/>
            </a:pPr>
            <a:r>
              <a:rPr lang="en-GB" dirty="0"/>
              <a:t>Or Members of the Company</a:t>
            </a:r>
          </a:p>
          <a:p>
            <a:pPr eaLnBrk="1" hangingPunct="1">
              <a:defRPr/>
            </a:pPr>
            <a:r>
              <a:rPr lang="en-GB" dirty="0"/>
              <a:t>Normally &gt; 1 shareholder</a:t>
            </a:r>
          </a:p>
          <a:p>
            <a:pPr eaLnBrk="1" hangingPunct="1">
              <a:defRPr/>
            </a:pPr>
            <a:r>
              <a:rPr lang="en-GB" dirty="0"/>
              <a:t>1992 Act allows single member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359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C62B8-6D7E-4F4B-BACB-38B43373D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000" dirty="0"/>
          </a:p>
          <a:p>
            <a:pPr marL="0" indent="0" algn="ctr">
              <a:buNone/>
            </a:pPr>
            <a:r>
              <a:rPr lang="en-GB" sz="4000" dirty="0"/>
              <a:t>Lec:8 Company Constitution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2302633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Company Constitution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421188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FontTx/>
              <a:buAutoNum type="arabicPeriod"/>
            </a:pPr>
            <a:r>
              <a:rPr lang="en-GB" dirty="0">
                <a:solidFill>
                  <a:srgbClr val="0D0D0D"/>
                </a:solidFill>
              </a:rPr>
              <a:t>Share Capital</a:t>
            </a:r>
          </a:p>
          <a:p>
            <a:pPr marL="457200" indent="-457200">
              <a:buFontTx/>
              <a:buAutoNum type="arabicPeriod"/>
            </a:pPr>
            <a:endParaRPr lang="en-GB" dirty="0">
              <a:solidFill>
                <a:srgbClr val="0D0D0D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GB" dirty="0">
                <a:solidFill>
                  <a:srgbClr val="0D0D0D"/>
                </a:solidFill>
              </a:rPr>
              <a:t>Company Constitution</a:t>
            </a:r>
          </a:p>
          <a:p>
            <a:pPr marL="457200" indent="-457200">
              <a:buFontTx/>
              <a:buAutoNum type="arabicPeriod"/>
            </a:pPr>
            <a:endParaRPr lang="en-GB" dirty="0">
              <a:solidFill>
                <a:srgbClr val="0D0D0D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GB" dirty="0">
                <a:solidFill>
                  <a:srgbClr val="0D0D0D"/>
                </a:solidFill>
              </a:rPr>
              <a:t>Directors responsibilities</a:t>
            </a:r>
          </a:p>
          <a:p>
            <a:pPr marL="457200" indent="-457200">
              <a:buNone/>
            </a:pPr>
            <a:endParaRPr lang="en-GB" dirty="0">
              <a:solidFill>
                <a:srgbClr val="0D0D0D"/>
              </a:solidFill>
            </a:endParaRPr>
          </a:p>
          <a:p>
            <a:pPr marL="457200" indent="-457200"/>
            <a:endParaRPr lang="en-US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701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1. Share Capital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7863" y="1528764"/>
            <a:ext cx="8229600" cy="5329237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Shareholders (Subscribers) own Company</a:t>
            </a:r>
          </a:p>
          <a:p>
            <a:pPr eaLnBrk="1" hangingPunct="1">
              <a:defRPr/>
            </a:pPr>
            <a:r>
              <a:rPr lang="en-GB" dirty="0"/>
              <a:t>At start of Company</a:t>
            </a:r>
          </a:p>
          <a:p>
            <a:pPr lvl="1" eaLnBrk="1" hangingPunct="1">
              <a:defRPr/>
            </a:pPr>
            <a:r>
              <a:rPr lang="en-GB" dirty="0"/>
              <a:t>Authorised share capital</a:t>
            </a:r>
          </a:p>
          <a:p>
            <a:pPr lvl="2" eaLnBrk="1" hangingPunct="1">
              <a:defRPr/>
            </a:pPr>
            <a:r>
              <a:rPr lang="en-GB" dirty="0"/>
              <a:t>Number &amp; Nominal (par) Value</a:t>
            </a:r>
          </a:p>
          <a:p>
            <a:pPr lvl="2" eaLnBrk="1" hangingPunct="1">
              <a:defRPr/>
            </a:pPr>
            <a:r>
              <a:rPr lang="en-GB" dirty="0"/>
              <a:t>Say 100 shares @ £1 </a:t>
            </a:r>
          </a:p>
          <a:p>
            <a:pPr lvl="1" eaLnBrk="1" hangingPunct="1">
              <a:buFont typeface="Wingdings" panose="05000000000000000000" pitchFamily="2" charset="2"/>
              <a:buChar char="q"/>
              <a:defRPr/>
            </a:pPr>
            <a:r>
              <a:rPr lang="en-GB" dirty="0"/>
              <a:t>If debts &gt; assets Shareholder lose shares</a:t>
            </a:r>
          </a:p>
          <a:p>
            <a:pPr marL="457200" lvl="1" indent="0">
              <a:buNone/>
              <a:defRPr/>
            </a:pPr>
            <a:endParaRPr lang="en-GB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9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2. Company Constitution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4603750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FontTx/>
              <a:buAutoNum type="alphaLcPeriod"/>
            </a:pPr>
            <a:r>
              <a:rPr lang="en-GB" dirty="0">
                <a:solidFill>
                  <a:srgbClr val="0D0D0D"/>
                </a:solidFill>
              </a:rPr>
              <a:t>Document of Association</a:t>
            </a:r>
          </a:p>
          <a:p>
            <a:pPr marL="914400" lvl="1" indent="-457200">
              <a:buFontTx/>
              <a:buAutoNum type="alphaLcPeriod"/>
            </a:pPr>
            <a:r>
              <a:rPr lang="en-GB" dirty="0">
                <a:solidFill>
                  <a:srgbClr val="0D0D0D"/>
                </a:solidFill>
              </a:rPr>
              <a:t>Controls External Relations</a:t>
            </a:r>
          </a:p>
          <a:p>
            <a:pPr marL="457200" indent="-457200">
              <a:buFontTx/>
              <a:buAutoNum type="alphaLcPeriod"/>
            </a:pPr>
            <a:endParaRPr lang="en-GB" dirty="0">
              <a:solidFill>
                <a:srgbClr val="0D0D0D"/>
              </a:solidFill>
            </a:endParaRPr>
          </a:p>
          <a:p>
            <a:pPr marL="457200" indent="-457200">
              <a:buFontTx/>
              <a:buAutoNum type="alphaLcPeriod"/>
            </a:pPr>
            <a:r>
              <a:rPr lang="en-GB" dirty="0">
                <a:solidFill>
                  <a:srgbClr val="0D0D0D"/>
                </a:solidFill>
              </a:rPr>
              <a:t>Articles of Association</a:t>
            </a:r>
          </a:p>
          <a:p>
            <a:pPr marL="914400" lvl="1" indent="-457200">
              <a:buFontTx/>
              <a:buAutoNum type="alphaLcPeriod"/>
            </a:pPr>
            <a:r>
              <a:rPr lang="en-GB" dirty="0">
                <a:solidFill>
                  <a:srgbClr val="0D0D0D"/>
                </a:solidFill>
              </a:rPr>
              <a:t>Control Internal Relations</a:t>
            </a:r>
          </a:p>
          <a:p>
            <a:pPr marL="457200" indent="-457200">
              <a:buFontTx/>
              <a:buAutoNum type="alphaLcPeriod"/>
            </a:pPr>
            <a:endParaRPr lang="en-GB" dirty="0">
              <a:solidFill>
                <a:srgbClr val="0D0D0D"/>
              </a:solidFill>
            </a:endParaRPr>
          </a:p>
          <a:p>
            <a:pPr marL="457200" indent="-457200">
              <a:buFontTx/>
              <a:buAutoNum type="alphaLcPeriod"/>
            </a:pPr>
            <a:r>
              <a:rPr lang="en-GB" dirty="0">
                <a:solidFill>
                  <a:srgbClr val="0D0D0D"/>
                </a:solidFill>
              </a:rPr>
              <a:t>Shareholders Agreement</a:t>
            </a:r>
          </a:p>
          <a:p>
            <a:pPr marL="457200" indent="-457200"/>
            <a:endParaRPr lang="en-US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546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a. Document of Association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25538"/>
            <a:ext cx="8229600" cy="489585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GB" dirty="0"/>
              <a:t>Company Name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Restrictions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endParaRPr lang="en-GB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GB" dirty="0"/>
              <a:t>Country of Registration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England &amp; Wales, Wales, Scotland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endParaRPr lang="en-GB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GB" dirty="0"/>
              <a:t>Objects of Company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Companies Act 1989 allow general commercial company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endParaRPr lang="en-GB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GB" dirty="0"/>
              <a:t>A Liability Clause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Liability of members is limited</a:t>
            </a:r>
          </a:p>
          <a:p>
            <a:pPr marL="457200" lvl="1" indent="0">
              <a:lnSpc>
                <a:spcPct val="80000"/>
              </a:lnSpc>
              <a:buNone/>
              <a:defRPr/>
            </a:pPr>
            <a:endParaRPr lang="en-GB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GB" dirty="0"/>
              <a:t>Authorised Share value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dirty="0"/>
              <a:t>Nominal Share Value and Number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74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b. Articles of Association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96976"/>
            <a:ext cx="8229600" cy="4824413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Rules of Share capital</a:t>
            </a:r>
          </a:p>
          <a:p>
            <a:pPr eaLnBrk="1" hangingPunct="1">
              <a:defRPr/>
            </a:pPr>
            <a:r>
              <a:rPr lang="en-GB" dirty="0"/>
              <a:t>Transfer of Shares</a:t>
            </a:r>
          </a:p>
          <a:p>
            <a:pPr eaLnBrk="1" hangingPunct="1">
              <a:defRPr/>
            </a:pPr>
            <a:r>
              <a:rPr lang="en-GB" dirty="0"/>
              <a:t>Meetings of Members</a:t>
            </a:r>
          </a:p>
          <a:p>
            <a:pPr eaLnBrk="1" hangingPunct="1">
              <a:defRPr/>
            </a:pPr>
            <a:r>
              <a:rPr lang="en-GB" dirty="0"/>
              <a:t>Rules Governing Directors’ Appointments</a:t>
            </a:r>
          </a:p>
          <a:p>
            <a:pPr eaLnBrk="1" hangingPunct="1">
              <a:defRPr/>
            </a:pPr>
            <a:r>
              <a:rPr lang="en-GB" dirty="0"/>
              <a:t>Power of Directors</a:t>
            </a:r>
          </a:p>
          <a:p>
            <a:pPr eaLnBrk="1" hangingPunct="1">
              <a:defRPr/>
            </a:pPr>
            <a:r>
              <a:rPr lang="en-GB" dirty="0"/>
              <a:t>Dividends and Reserves</a:t>
            </a:r>
          </a:p>
          <a:p>
            <a:pPr marL="0" indent="0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928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c. Shareholders Agreements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25538"/>
            <a:ext cx="8229600" cy="4895850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Protect interests of minor shareholders</a:t>
            </a:r>
          </a:p>
          <a:p>
            <a:pPr eaLnBrk="1" hangingPunct="1">
              <a:defRPr/>
            </a:pPr>
            <a:r>
              <a:rPr lang="en-GB" dirty="0"/>
              <a:t>Article of Association</a:t>
            </a:r>
          </a:p>
          <a:p>
            <a:pPr lvl="1" eaLnBrk="1" hangingPunct="1">
              <a:defRPr/>
            </a:pPr>
            <a:r>
              <a:rPr lang="en-GB" dirty="0"/>
              <a:t>Changed at General Meeting</a:t>
            </a:r>
          </a:p>
          <a:p>
            <a:pPr lvl="1" eaLnBrk="1" hangingPunct="1">
              <a:defRPr/>
            </a:pPr>
            <a:r>
              <a:rPr lang="en-GB" dirty="0"/>
              <a:t>Needs 75% majority</a:t>
            </a:r>
          </a:p>
          <a:p>
            <a:pPr eaLnBrk="1" hangingPunct="1">
              <a:defRPr/>
            </a:pPr>
            <a:r>
              <a:rPr lang="en-GB" dirty="0"/>
              <a:t>Agreement Between Shareholders</a:t>
            </a:r>
          </a:p>
          <a:p>
            <a:pPr lvl="1" eaLnBrk="1" hangingPunct="1">
              <a:defRPr/>
            </a:pPr>
            <a:r>
              <a:rPr lang="en-GB" dirty="0"/>
              <a:t>All must sign</a:t>
            </a:r>
          </a:p>
          <a:p>
            <a:pPr lvl="1" eaLnBrk="1" hangingPunct="1">
              <a:defRPr/>
            </a:pPr>
            <a:r>
              <a:rPr lang="en-GB" dirty="0"/>
              <a:t>Can govern way voting is done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GB" dirty="0"/>
              <a:t>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242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3. Directors 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52514"/>
            <a:ext cx="8229600" cy="4968875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/>
              <a:t>Directors Elected by Shareholders</a:t>
            </a:r>
          </a:p>
          <a:p>
            <a:pPr lvl="1" eaLnBrk="1" hangingPunct="1">
              <a:defRPr/>
            </a:pPr>
            <a:r>
              <a:rPr lang="en-GB" dirty="0"/>
              <a:t>Act In best Interest of Company</a:t>
            </a:r>
          </a:p>
          <a:p>
            <a:pPr lvl="1" eaLnBrk="1" hangingPunct="1">
              <a:defRPr/>
            </a:pPr>
            <a:r>
              <a:rPr lang="en-GB" dirty="0"/>
              <a:t>Honest</a:t>
            </a:r>
          </a:p>
          <a:p>
            <a:pPr lvl="1" eaLnBrk="1" hangingPunct="1">
              <a:defRPr/>
            </a:pPr>
            <a:r>
              <a:rPr lang="en-GB" dirty="0"/>
              <a:t>Declare Interests</a:t>
            </a:r>
          </a:p>
          <a:p>
            <a:pPr lvl="1" eaLnBrk="1" hangingPunct="1">
              <a:defRPr/>
            </a:pPr>
            <a:r>
              <a:rPr lang="en-GB" dirty="0"/>
              <a:t>Aware of Company’s Trading Position</a:t>
            </a:r>
          </a:p>
          <a:p>
            <a:pPr lvl="1" eaLnBrk="1" hangingPunct="1">
              <a:defRPr/>
            </a:pPr>
            <a:r>
              <a:rPr lang="en-GB" dirty="0"/>
              <a:t>Executive &amp; Non-Executive Directors</a:t>
            </a:r>
          </a:p>
          <a:p>
            <a:pPr eaLnBrk="1" hangingPunct="1">
              <a:defRPr/>
            </a:pPr>
            <a:r>
              <a:rPr lang="en-GB" dirty="0"/>
              <a:t>Company Secretary</a:t>
            </a:r>
          </a:p>
          <a:p>
            <a:pPr lvl="1" eaLnBrk="1" hangingPunct="1">
              <a:defRPr/>
            </a:pPr>
            <a:r>
              <a:rPr lang="en-GB" dirty="0"/>
              <a:t>Could be Director</a:t>
            </a:r>
          </a:p>
          <a:p>
            <a:pPr lvl="1" eaLnBrk="1" hangingPunct="1">
              <a:defRPr/>
            </a:pPr>
            <a:endParaRPr lang="en-GB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6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506</Words>
  <Application>Microsoft Office PowerPoint</Application>
  <PresentationFormat>Widescreen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Week 4 Lec:7 The Structure of Organizations</vt:lpstr>
      <vt:lpstr>Topic:  The Structure of Organizations</vt:lpstr>
      <vt:lpstr>Organization</vt:lpstr>
      <vt:lpstr>Legal Form of An organization</vt:lpstr>
      <vt:lpstr>Incorporated Organisations</vt:lpstr>
      <vt:lpstr>Types of Commercial Organizations</vt:lpstr>
      <vt:lpstr>Sole Trader</vt:lpstr>
      <vt:lpstr>Partnership</vt:lpstr>
      <vt:lpstr>Companies</vt:lpstr>
      <vt:lpstr>Companies (Contd)</vt:lpstr>
      <vt:lpstr>PowerPoint Presentation</vt:lpstr>
      <vt:lpstr>Company Constitution</vt:lpstr>
      <vt:lpstr>1. Share Capital</vt:lpstr>
      <vt:lpstr>2. Company Constitution</vt:lpstr>
      <vt:lpstr>a. Document of Association</vt:lpstr>
      <vt:lpstr>b. Articles of Association</vt:lpstr>
      <vt:lpstr>c. Shareholders Agreements</vt:lpstr>
      <vt:lpstr>3. Directors Responsibilities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12</cp:revision>
  <dcterms:created xsi:type="dcterms:W3CDTF">2020-11-29T16:52:28Z</dcterms:created>
  <dcterms:modified xsi:type="dcterms:W3CDTF">2022-11-15T14:54:25Z</dcterms:modified>
</cp:coreProperties>
</file>
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1" r:id="rId3"/>
    <p:sldId id="262" r:id="rId4"/>
    <p:sldId id="263" r:id="rId5"/>
    <p:sldId id="264" r:id="rId6"/>
    <p:sldId id="275" r:id="rId7"/>
    <p:sldId id="265" r:id="rId8"/>
    <p:sldId id="266" r:id="rId9"/>
    <p:sldId id="267" r:id="rId10"/>
    <p:sldId id="276" r:id="rId11"/>
    <p:sldId id="268" r:id="rId12"/>
    <p:sldId id="274" r:id="rId13"/>
    <p:sldId id="269" r:id="rId14"/>
    <p:sldId id="273" r:id="rId15"/>
    <p:sldId id="270" r:id="rId16"/>
    <p:sldId id="272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25" autoAdjust="0"/>
  </p:normalViewPr>
  <p:slideViewPr>
    <p:cSldViewPr>
      <p:cViewPr varScale="1">
        <p:scale>
          <a:sx n="67" d="100"/>
          <a:sy n="67" d="100"/>
        </p:scale>
        <p:origin x="125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2B748-5E92-4E35-9B09-1CD019D114B3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F236D-0884-4F19-8AA3-C876A8B40C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45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Cold calling</a:t>
            </a:r>
            <a:r>
              <a:rPr lang="en-US" dirty="0"/>
              <a:t> is the solicitation of business from potential customers who have had no prior contact with the salesperson conducting the </a:t>
            </a:r>
            <a:r>
              <a:rPr lang="en-US" i="1" dirty="0"/>
              <a:t>call</a:t>
            </a:r>
            <a:r>
              <a:rPr lang="en-US" dirty="0"/>
              <a:t>. </a:t>
            </a:r>
            <a:r>
              <a:rPr lang="en-US" i="1" dirty="0"/>
              <a:t>Cold calling</a:t>
            </a:r>
            <a:r>
              <a:rPr lang="en-US" dirty="0"/>
              <a:t> is an attempt to convince potential customers to purchase either the salesperson's product or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FF236D-0884-4F19-8AA3-C876A8B40C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95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7772400" cy="1470025"/>
          </a:xfrm>
        </p:spPr>
        <p:txBody>
          <a:bodyPr>
            <a:normAutofit/>
          </a:bodyPr>
          <a:lstStyle/>
          <a:p>
            <a:r>
              <a:rPr lang="en-US" sz="6000" b="1" u="sng" dirty="0"/>
              <a:t>Professional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95600"/>
            <a:ext cx="6400800" cy="1752600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solidFill>
                  <a:schemeClr val="tx1"/>
                </a:solidFill>
              </a:rPr>
              <a:t>Structure </a:t>
            </a:r>
            <a:r>
              <a:rPr lang="en-US" sz="5400" b="1" dirty="0">
                <a:solidFill>
                  <a:schemeClr val="tx1"/>
                </a:solidFill>
              </a:rPr>
              <a:t>of a Software House</a:t>
            </a:r>
          </a:p>
        </p:txBody>
      </p:sp>
    </p:spTree>
    <p:extLst>
      <p:ext uri="{BB962C8B-B14F-4D97-AF65-F5344CB8AC3E}">
        <p14:creationId xmlns:p14="http://schemas.microsoft.com/office/powerpoint/2010/main" val="780260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“</a:t>
            </a:r>
            <a:r>
              <a:rPr lang="en-US" dirty="0"/>
              <a:t>A software house is a company that primarily provides software products. These companies may specialize in business or consumer software or software-as-a-service (SaaS) products. The common definition is that the company is mainly interested in developing and distributing software products</a:t>
            </a:r>
            <a:r>
              <a:rPr lang="en-US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6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 of a software 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:\Users\IBRAHIM\Desktop\Captu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536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Shareholders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Owners of the company</a:t>
            </a:r>
          </a:p>
          <a:p>
            <a:r>
              <a:rPr lang="en-US" dirty="0"/>
              <a:t>Elect the board of directors</a:t>
            </a:r>
          </a:p>
          <a:p>
            <a:r>
              <a:rPr lang="en-US" dirty="0"/>
              <a:t>Vote on issues</a:t>
            </a:r>
          </a:p>
          <a:p>
            <a:r>
              <a:rPr lang="en-US" dirty="0"/>
              <a:t>Same for private and public companies</a:t>
            </a:r>
          </a:p>
        </p:txBody>
      </p:sp>
    </p:spTree>
    <p:extLst>
      <p:ext uri="{BB962C8B-B14F-4D97-AF65-F5344CB8AC3E}">
        <p14:creationId xmlns:p14="http://schemas.microsoft.com/office/powerpoint/2010/main" val="4118109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Board of Directors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Represent shareholders interests</a:t>
            </a:r>
          </a:p>
          <a:p>
            <a:pPr algn="just"/>
            <a:r>
              <a:rPr lang="en-US" dirty="0"/>
              <a:t>Governing the organization by establishing broad policies and setting out strategic objectives</a:t>
            </a:r>
          </a:p>
          <a:p>
            <a:pPr algn="just"/>
            <a:r>
              <a:rPr lang="en-US" dirty="0"/>
              <a:t>Selecting, appointing, supporting and reviewing the performance of the </a:t>
            </a:r>
            <a:r>
              <a:rPr lang="en-US" dirty="0" smtClean="0"/>
              <a:t>Chief Executive Officer (CEO)</a:t>
            </a:r>
            <a:endParaRPr lang="en-US" dirty="0"/>
          </a:p>
          <a:p>
            <a:pPr algn="just"/>
            <a:r>
              <a:rPr lang="en-US" dirty="0"/>
              <a:t>Terminating the </a:t>
            </a:r>
            <a:r>
              <a:rPr lang="en-US" dirty="0" smtClean="0"/>
              <a:t>Chief Executive </a:t>
            </a:r>
            <a:r>
              <a:rPr lang="en-US" dirty="0"/>
              <a:t>Officer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67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Board of Directors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Ensure the availability of adequate financial resources</a:t>
            </a:r>
          </a:p>
          <a:p>
            <a:pPr algn="just"/>
            <a:r>
              <a:rPr lang="en-US" dirty="0"/>
              <a:t>Approve annual budgets</a:t>
            </a:r>
          </a:p>
          <a:p>
            <a:pPr algn="just"/>
            <a:r>
              <a:rPr lang="en-US" dirty="0"/>
              <a:t>Accountable to the stakeholders for the organization's performance</a:t>
            </a:r>
          </a:p>
          <a:p>
            <a:pPr algn="just"/>
            <a:r>
              <a:rPr lang="en-US" dirty="0"/>
              <a:t>Set the salaries, compensation and benefits of senior management</a:t>
            </a:r>
          </a:p>
        </p:txBody>
      </p:sp>
    </p:spTree>
    <p:extLst>
      <p:ext uri="{BB962C8B-B14F-4D97-AF65-F5344CB8AC3E}">
        <p14:creationId xmlns:p14="http://schemas.microsoft.com/office/powerpoint/2010/main" val="2324559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Chief Executive Officer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Appointed by the board of directors</a:t>
            </a:r>
          </a:p>
          <a:p>
            <a:pPr algn="just"/>
            <a:r>
              <a:rPr lang="en-US" dirty="0"/>
              <a:t>Communicate, on behalf of the company, with shareholders, government entities, and the public </a:t>
            </a:r>
          </a:p>
          <a:p>
            <a:pPr algn="just"/>
            <a:r>
              <a:rPr lang="en-US" dirty="0"/>
              <a:t>Lead the development of the company’s short- and long-term strategy </a:t>
            </a:r>
          </a:p>
          <a:p>
            <a:pPr algn="just"/>
            <a:r>
              <a:rPr lang="en-US" dirty="0"/>
              <a:t>Create and implement the company or organization’s vision and mission </a:t>
            </a:r>
          </a:p>
          <a:p>
            <a:pPr algn="just"/>
            <a:r>
              <a:rPr lang="en-US" dirty="0"/>
              <a:t>Evaluate the work of other executive leaders within the company.</a:t>
            </a:r>
          </a:p>
        </p:txBody>
      </p:sp>
    </p:spTree>
    <p:extLst>
      <p:ext uri="{BB962C8B-B14F-4D97-AF65-F5344CB8AC3E}">
        <p14:creationId xmlns:p14="http://schemas.microsoft.com/office/powerpoint/2010/main" val="3702225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Executive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Managed by CEO</a:t>
            </a:r>
          </a:p>
          <a:p>
            <a:pPr algn="just"/>
            <a:r>
              <a:rPr lang="en-US" dirty="0"/>
              <a:t>In charge of day to day functional areas</a:t>
            </a:r>
          </a:p>
          <a:p>
            <a:pPr algn="just"/>
            <a:r>
              <a:rPr lang="en-US" dirty="0"/>
              <a:t>Meet regulararly to coordinate strategy, budget etc</a:t>
            </a:r>
          </a:p>
          <a:p>
            <a:pPr algn="just"/>
            <a:r>
              <a:rPr lang="en-US" dirty="0"/>
              <a:t>Manage the Group's business as a whole </a:t>
            </a:r>
          </a:p>
          <a:p>
            <a:pPr algn="just"/>
            <a:r>
              <a:rPr lang="en-US" dirty="0"/>
              <a:t>Have extensive authorities within their individual areas of </a:t>
            </a:r>
            <a:r>
              <a:rPr lang="en-US" b="1" dirty="0"/>
              <a:t>responsibility</a:t>
            </a:r>
            <a:r>
              <a:rPr lang="en-US" dirty="0"/>
              <a:t> and have the duty to develop the company's operations in line with the targets set by the Board of Directors and the CEO.</a:t>
            </a:r>
          </a:p>
        </p:txBody>
      </p:sp>
    </p:spTree>
    <p:extLst>
      <p:ext uri="{BB962C8B-B14F-4D97-AF65-F5344CB8AC3E}">
        <p14:creationId xmlns:p14="http://schemas.microsoft.com/office/powerpoint/2010/main" val="104200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Create awareness of and develop the brand you're marketing</a:t>
            </a:r>
          </a:p>
          <a:p>
            <a:pPr algn="just"/>
            <a:r>
              <a:rPr lang="en-US" dirty="0"/>
              <a:t>Communicate with target audiences and build and develop customer relationships</a:t>
            </a:r>
          </a:p>
          <a:p>
            <a:pPr algn="just"/>
            <a:r>
              <a:rPr lang="en-US" dirty="0"/>
              <a:t>Help with marketing plans, advertising, direct marketing and campaigns </a:t>
            </a:r>
          </a:p>
        </p:txBody>
      </p:sp>
    </p:spTree>
    <p:extLst>
      <p:ext uri="{BB962C8B-B14F-4D97-AF65-F5344CB8AC3E}">
        <p14:creationId xmlns:p14="http://schemas.microsoft.com/office/powerpoint/2010/main" val="1479028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Support the marketing manager in delivering agreed activities</a:t>
            </a:r>
          </a:p>
          <a:p>
            <a:pPr algn="just"/>
            <a:r>
              <a:rPr lang="en-US" dirty="0"/>
              <a:t>Organize and attend events such as conferences, seminars, receptions and exhibitions</a:t>
            </a:r>
          </a:p>
          <a:p>
            <a:pPr algn="just"/>
            <a:r>
              <a:rPr lang="en-US" dirty="0"/>
              <a:t>Source and secure sponsorship</a:t>
            </a:r>
          </a:p>
          <a:p>
            <a:pPr algn="just"/>
            <a:r>
              <a:rPr lang="en-US" dirty="0"/>
              <a:t>Conduct market research, for example using customer questionnaires and focus groups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923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Conduct market research to identify selling possibilities and evaluate customer needs </a:t>
            </a:r>
          </a:p>
          <a:p>
            <a:pPr algn="just"/>
            <a:r>
              <a:rPr lang="en-US" dirty="0"/>
              <a:t>Actively seek out new sales opportunities through </a:t>
            </a:r>
            <a:r>
              <a:rPr lang="en-US" dirty="0" smtClean="0"/>
              <a:t>networking </a:t>
            </a:r>
            <a:r>
              <a:rPr lang="en-US" dirty="0"/>
              <a:t>and social media </a:t>
            </a:r>
          </a:p>
          <a:p>
            <a:pPr algn="just"/>
            <a:r>
              <a:rPr lang="en-US" dirty="0"/>
              <a:t>Set up meetings with potential clients and listen to their wishes and concerns </a:t>
            </a:r>
          </a:p>
        </p:txBody>
      </p:sp>
    </p:spTree>
    <p:extLst>
      <p:ext uri="{BB962C8B-B14F-4D97-AF65-F5344CB8AC3E}">
        <p14:creationId xmlns:p14="http://schemas.microsoft.com/office/powerpoint/2010/main" val="2508956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Prepare and deliver appropriate presentations on products/ services </a:t>
            </a:r>
          </a:p>
          <a:p>
            <a:pPr algn="just"/>
            <a:r>
              <a:rPr lang="en-US" dirty="0"/>
              <a:t>Create frequent reviews and reports with sales and financial data</a:t>
            </a:r>
          </a:p>
          <a:p>
            <a:pPr algn="just"/>
            <a:r>
              <a:rPr lang="en-US" dirty="0"/>
              <a:t>Ensure the availability of stock for sales</a:t>
            </a:r>
          </a:p>
          <a:p>
            <a:pPr algn="just"/>
            <a:r>
              <a:rPr lang="en-US" dirty="0"/>
              <a:t>Negotiate/close deals and handle complaints or objections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58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Develop and maintain existing client relationships.</a:t>
            </a:r>
          </a:p>
          <a:p>
            <a:pPr algn="just"/>
            <a:r>
              <a:rPr lang="en-US" dirty="0"/>
              <a:t>Interact and correspond with prospective clients.</a:t>
            </a:r>
          </a:p>
          <a:p>
            <a:pPr algn="just"/>
            <a:r>
              <a:rPr lang="en-US" dirty="0"/>
              <a:t>Identify, develop and maintain relations with potential clients to drive </a:t>
            </a:r>
            <a:r>
              <a:rPr lang="en-US" dirty="0" smtClean="0"/>
              <a:t>revenue </a:t>
            </a:r>
            <a:r>
              <a:rPr lang="en-US" dirty="0"/>
              <a:t>for attaining set revenue targets.</a:t>
            </a:r>
          </a:p>
          <a:p>
            <a:pPr algn="just"/>
            <a:r>
              <a:rPr lang="en-US" dirty="0"/>
              <a:t>Develop and execute yearly formal business plan for assigned territory.</a:t>
            </a:r>
          </a:p>
        </p:txBody>
      </p:sp>
    </p:spTree>
    <p:extLst>
      <p:ext uri="{BB962C8B-B14F-4D97-AF65-F5344CB8AC3E}">
        <p14:creationId xmlns:p14="http://schemas.microsoft.com/office/powerpoint/2010/main" val="240482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Identify decision makers</a:t>
            </a:r>
          </a:p>
          <a:p>
            <a:pPr algn="just"/>
            <a:r>
              <a:rPr lang="en-US" dirty="0"/>
              <a:t>Identify services and products to meet client issues.</a:t>
            </a:r>
          </a:p>
          <a:p>
            <a:pPr algn="just"/>
            <a:r>
              <a:rPr lang="en-US" dirty="0"/>
              <a:t>Direct development of client customized solutions.</a:t>
            </a:r>
          </a:p>
          <a:p>
            <a:pPr algn="just"/>
            <a:r>
              <a:rPr lang="en-US" dirty="0"/>
              <a:t>Negotiate with client for efficient services delivery at profitable fees.</a:t>
            </a:r>
          </a:p>
          <a:p>
            <a:pPr algn="just"/>
            <a:r>
              <a:rPr lang="en-US"/>
              <a:t>Ensure </a:t>
            </a:r>
            <a:r>
              <a:rPr lang="en-US" smtClean="0"/>
              <a:t>that services </a:t>
            </a:r>
            <a:r>
              <a:rPr lang="en-US" dirty="0"/>
              <a:t>are priced correctly for client expansion opportunities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245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Develop, manage and prepare best software development team.</a:t>
            </a:r>
          </a:p>
          <a:p>
            <a:pPr algn="just"/>
            <a:r>
              <a:rPr lang="en-US" dirty="0"/>
              <a:t>Guide, coach and mentor software development engineers.</a:t>
            </a:r>
          </a:p>
          <a:p>
            <a:pPr algn="just"/>
            <a:r>
              <a:rPr lang="en-US" dirty="0"/>
              <a:t>Provide project management and technical leadership for every aspect of software.</a:t>
            </a:r>
          </a:p>
          <a:p>
            <a:pPr algn="just"/>
            <a:r>
              <a:rPr lang="en-US" dirty="0"/>
              <a:t>Prepare lifecycle for different projects inclusive of research, design, development, evaluation, testing along with delivery.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289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Supervise architecture plus lead efforts to develop technical roadmap of all projects.</a:t>
            </a:r>
          </a:p>
          <a:p>
            <a:pPr algn="just"/>
            <a:r>
              <a:rPr lang="en-US" dirty="0"/>
              <a:t>Establish and stimulate software development standards and processes along with best practices for delivery of scalable and high quality software.</a:t>
            </a:r>
          </a:p>
          <a:p>
            <a:pPr algn="just"/>
            <a:r>
              <a:rPr lang="en-US" dirty="0"/>
              <a:t>Perform closely with Engineers, Developers and Product Management throughout organization to influence product development assisting or improving products.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963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Finance and Admin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Overall responsibility for all aspects of financial management and control. </a:t>
            </a:r>
          </a:p>
          <a:p>
            <a:pPr algn="just"/>
            <a:r>
              <a:rPr lang="en-US" dirty="0"/>
              <a:t>Effective financial reporting in a timely, accurate, relevant and informative manner. </a:t>
            </a:r>
          </a:p>
          <a:p>
            <a:pPr algn="just"/>
            <a:r>
              <a:rPr lang="en-US" dirty="0"/>
              <a:t>General administration duties.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706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677</Words>
  <Application>Microsoft Office PowerPoint</Application>
  <PresentationFormat>On-screen Show (4:3)</PresentationFormat>
  <Paragraphs>77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Professional Practices</vt:lpstr>
      <vt:lpstr>Software House</vt:lpstr>
      <vt:lpstr>Structure of a software House</vt:lpstr>
      <vt:lpstr>Shareholders</vt:lpstr>
      <vt:lpstr>Board of Directors</vt:lpstr>
      <vt:lpstr>Board of Directors</vt:lpstr>
      <vt:lpstr>Chief Executive Officer</vt:lpstr>
      <vt:lpstr>Executive Team</vt:lpstr>
      <vt:lpstr>Marketing</vt:lpstr>
      <vt:lpstr>Marketing</vt:lpstr>
      <vt:lpstr>Sales</vt:lpstr>
      <vt:lpstr>Sales</vt:lpstr>
      <vt:lpstr>Client Services</vt:lpstr>
      <vt:lpstr>Client Services</vt:lpstr>
      <vt:lpstr>Software Development</vt:lpstr>
      <vt:lpstr>Software Development</vt:lpstr>
      <vt:lpstr>Finance and Admin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</dc:title>
  <dc:creator>IBRAHIM</dc:creator>
  <cp:lastModifiedBy>Admin</cp:lastModifiedBy>
  <cp:revision>91</cp:revision>
  <dcterms:created xsi:type="dcterms:W3CDTF">2006-08-16T00:00:00Z</dcterms:created>
  <dcterms:modified xsi:type="dcterms:W3CDTF">2022-11-21T05:34:38Z</dcterms:modified>
</cp:coreProperties>
</file>
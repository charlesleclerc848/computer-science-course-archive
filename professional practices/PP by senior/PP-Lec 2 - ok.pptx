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8" r:id="rId2"/>
    <p:sldId id="276" r:id="rId3"/>
    <p:sldId id="277" r:id="rId4"/>
    <p:sldId id="278" r:id="rId5"/>
    <p:sldId id="291" r:id="rId6"/>
    <p:sldId id="292" r:id="rId7"/>
    <p:sldId id="293" r:id="rId8"/>
    <p:sldId id="294" r:id="rId9"/>
    <p:sldId id="295" r:id="rId10"/>
    <p:sldId id="298" r:id="rId11"/>
    <p:sldId id="297" r:id="rId12"/>
    <p:sldId id="296" r:id="rId13"/>
    <p:sldId id="289" r:id="rId14"/>
    <p:sldId id="29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34" autoAdjust="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897030-4BC1-4804-8B1A-010D0FC11157}" type="datetimeFigureOut">
              <a:rPr lang="en-US" smtClean="0"/>
              <a:t>10/19/2022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C47089-3F50-4E45-8358-4DADD1AA0CF5}" type="slidenum">
              <a:rPr lang="en-US" smtClean="0"/>
              <a:t>‹#›</a:t>
            </a:fld>
            <a:endParaRPr lang="en-US"/>
          </a:p>
        </p:txBody>
      </p:sp>
    </p:spTree>
    <p:extLst>
      <p:ext uri="{BB962C8B-B14F-4D97-AF65-F5344CB8AC3E}">
        <p14:creationId xmlns:p14="http://schemas.microsoft.com/office/powerpoint/2010/main" val="262163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Association_for_Computing_Machinery"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System"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ACM</a:t>
            </a:r>
          </a:p>
          <a:p>
            <a:pPr rtl="0"/>
            <a:r>
              <a:rPr lang="en-US" sz="1200" b="0" i="0" u="none" strike="noStrike" kern="1200" dirty="0">
                <a:solidFill>
                  <a:schemeClr val="tx1"/>
                </a:solidFill>
                <a:effectLst/>
                <a:latin typeface="+mn-lt"/>
                <a:ea typeface="+mn-ea"/>
                <a:cs typeface="+mn-cs"/>
                <a:hlinkClick r:id="rId3"/>
              </a:rPr>
              <a:t>The </a:t>
            </a:r>
            <a:r>
              <a:rPr lang="en-US" sz="1200" b="1" i="0" u="none" strike="noStrike" kern="1200" dirty="0">
                <a:solidFill>
                  <a:schemeClr val="tx1"/>
                </a:solidFill>
                <a:effectLst/>
                <a:latin typeface="+mn-lt"/>
                <a:ea typeface="+mn-ea"/>
                <a:cs typeface="+mn-cs"/>
                <a:hlinkClick r:id="rId3"/>
              </a:rPr>
              <a:t>Association for Computing Machinery</a:t>
            </a:r>
            <a:r>
              <a:rPr lang="en-US" sz="1200" b="0" i="0" u="none" strike="noStrike" kern="1200" dirty="0">
                <a:solidFill>
                  <a:schemeClr val="tx1"/>
                </a:solidFill>
                <a:effectLst/>
                <a:latin typeface="+mn-lt"/>
                <a:ea typeface="+mn-ea"/>
                <a:cs typeface="+mn-cs"/>
                <a:hlinkClick r:id="rId3"/>
              </a:rPr>
              <a:t> (</a:t>
            </a:r>
            <a:r>
              <a:rPr lang="en-US" sz="1200" b="1" i="0" u="none" strike="noStrike" kern="1200" dirty="0">
                <a:solidFill>
                  <a:schemeClr val="tx1"/>
                </a:solidFill>
                <a:effectLst/>
                <a:latin typeface="+mn-lt"/>
                <a:ea typeface="+mn-ea"/>
                <a:cs typeface="+mn-cs"/>
                <a:hlinkClick r:id="rId3"/>
              </a:rPr>
              <a:t>ACM</a:t>
            </a:r>
            <a:r>
              <a:rPr lang="en-US" sz="1200" b="0" i="0" u="none" strike="noStrike" kern="1200" dirty="0">
                <a:solidFill>
                  <a:schemeClr val="tx1"/>
                </a:solidFill>
                <a:effectLst/>
                <a:latin typeface="+mn-lt"/>
                <a:ea typeface="+mn-ea"/>
                <a:cs typeface="+mn-cs"/>
                <a:hlinkClick r:id="rId3"/>
              </a:rPr>
              <a:t>) is a US-based international learned society for computing. It was founded in 1947, and is the world's largest scientific and educational computing society. The ACM is a non-profit professional membership group, claiming nearly 100,000 student and professional members as of 2019. Its headquarters are in New York City.</a:t>
            </a:r>
          </a:p>
          <a:p>
            <a:br>
              <a:rPr lang="en-US" dirty="0"/>
            </a:br>
            <a:endParaRPr lang="en-US" dirty="0"/>
          </a:p>
        </p:txBody>
      </p:sp>
      <p:sp>
        <p:nvSpPr>
          <p:cNvPr id="4" name="Slide Number Placeholder 3"/>
          <p:cNvSpPr>
            <a:spLocks noGrp="1"/>
          </p:cNvSpPr>
          <p:nvPr>
            <p:ph type="sldNum" sz="quarter" idx="10"/>
          </p:nvPr>
        </p:nvSpPr>
        <p:spPr/>
        <p:txBody>
          <a:bodyPr/>
          <a:lstStyle/>
          <a:p>
            <a:fld id="{6EC47089-3F50-4E45-8358-4DADD1AA0CF5}" type="slidenum">
              <a:rPr lang="en-US" smtClean="0"/>
              <a:t>5</a:t>
            </a:fld>
            <a:endParaRPr lang="en-US"/>
          </a:p>
        </p:txBody>
      </p:sp>
    </p:spTree>
    <p:extLst>
      <p:ext uri="{BB962C8B-B14F-4D97-AF65-F5344CB8AC3E}">
        <p14:creationId xmlns:p14="http://schemas.microsoft.com/office/powerpoint/2010/main" val="14097195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It </a:t>
            </a:r>
            <a:r>
              <a:rPr lang="en-GB" dirty="0"/>
              <a:t>is concerned with theories, methods and tools for professional software development</a:t>
            </a:r>
          </a:p>
        </p:txBody>
      </p:sp>
      <p:sp>
        <p:nvSpPr>
          <p:cNvPr id="4" name="Slide Number Placeholder 3"/>
          <p:cNvSpPr>
            <a:spLocks noGrp="1"/>
          </p:cNvSpPr>
          <p:nvPr>
            <p:ph type="sldNum" sz="quarter" idx="10"/>
          </p:nvPr>
        </p:nvSpPr>
        <p:spPr/>
        <p:txBody>
          <a:bodyPr/>
          <a:lstStyle/>
          <a:p>
            <a:fld id="{6EC47089-3F50-4E45-8358-4DADD1AA0CF5}" type="slidenum">
              <a:rPr lang="en-US" smtClean="0"/>
              <a:t>9</a:t>
            </a:fld>
            <a:endParaRPr lang="en-US"/>
          </a:p>
        </p:txBody>
      </p:sp>
    </p:spTree>
    <p:extLst>
      <p:ext uri="{BB962C8B-B14F-4D97-AF65-F5344CB8AC3E}">
        <p14:creationId xmlns:p14="http://schemas.microsoft.com/office/powerpoint/2010/main" val="1779228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C47089-3F50-4E45-8358-4DADD1AA0CF5}" type="slidenum">
              <a:rPr lang="en-US" smtClean="0"/>
              <a:t>10</a:t>
            </a:fld>
            <a:endParaRPr lang="en-US"/>
          </a:p>
        </p:txBody>
      </p:sp>
    </p:spTree>
    <p:extLst>
      <p:ext uri="{BB962C8B-B14F-4D97-AF65-F5344CB8AC3E}">
        <p14:creationId xmlns:p14="http://schemas.microsoft.com/office/powerpoint/2010/main" val="1568659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EC47089-3F50-4E45-8358-4DADD1AA0CF5}" type="slidenum">
              <a:rPr lang="en-US" smtClean="0"/>
              <a:t>11</a:t>
            </a:fld>
            <a:endParaRPr lang="en-US"/>
          </a:p>
        </p:txBody>
      </p:sp>
    </p:spTree>
    <p:extLst>
      <p:ext uri="{BB962C8B-B14F-4D97-AF65-F5344CB8AC3E}">
        <p14:creationId xmlns:p14="http://schemas.microsoft.com/office/powerpoint/2010/main" val="1978624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System</a:t>
            </a:r>
          </a:p>
          <a:p>
            <a:r>
              <a:rPr lang="en-US" sz="1200" b="0" i="0" kern="1200" dirty="0">
                <a:solidFill>
                  <a:schemeClr val="tx1"/>
                </a:solidFill>
                <a:effectLst/>
                <a:latin typeface="+mn-lt"/>
                <a:ea typeface="+mn-ea"/>
                <a:cs typeface="+mn-cs"/>
              </a:rPr>
              <a:t>A system is a group of interacting or interrelated entities that form a unified whole. A system, surrounded and influenced by its environment, is described by its boundaries, structure and purpose and expressed in its functioning. Systems are the subjects of study of systems theory. </a:t>
            </a:r>
            <a:r>
              <a:rPr lang="en-US" sz="1200" b="0" i="0" u="none" strike="noStrike" kern="1200" dirty="0">
                <a:solidFill>
                  <a:schemeClr val="tx1"/>
                </a:solidFill>
                <a:effectLst/>
                <a:latin typeface="+mn-lt"/>
                <a:ea typeface="+mn-ea"/>
                <a:cs typeface="+mn-cs"/>
                <a:hlinkClick r:id="rId3"/>
              </a:rPr>
              <a:t>Wikipedia</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6EC47089-3F50-4E45-8358-4DADD1AA0CF5}" type="slidenum">
              <a:rPr lang="en-US" smtClean="0"/>
              <a:t>12</a:t>
            </a:fld>
            <a:endParaRPr lang="en-US"/>
          </a:p>
        </p:txBody>
      </p:sp>
    </p:spTree>
    <p:extLst>
      <p:ext uri="{BB962C8B-B14F-4D97-AF65-F5344CB8AC3E}">
        <p14:creationId xmlns:p14="http://schemas.microsoft.com/office/powerpoint/2010/main" val="2351861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ED264D-F1CD-4A0E-86DE-829D531D8CC1}" type="datetimeFigureOut">
              <a:rPr lang="en-US" smtClean="0"/>
              <a:t>10/19/2022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45237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10/19/2022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21951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D264D-F1CD-4A0E-86DE-829D531D8CC1}" type="datetimeFigureOut">
              <a:rPr lang="en-US" smtClean="0"/>
              <a:t>10/19/2022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73031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ED264D-F1CD-4A0E-86DE-829D531D8CC1}" type="datetimeFigureOut">
              <a:rPr lang="en-US" smtClean="0"/>
              <a:t>10/19/2022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84983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ED264D-F1CD-4A0E-86DE-829D531D8CC1}" type="datetimeFigureOut">
              <a:rPr lang="en-US" smtClean="0"/>
              <a:t>10/19/2022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4563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ED264D-F1CD-4A0E-86DE-829D531D8CC1}" type="datetimeFigureOut">
              <a:rPr lang="en-US" smtClean="0"/>
              <a:t>10/19/2022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685607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D264D-F1CD-4A0E-86DE-829D531D8CC1}" type="datetimeFigureOut">
              <a:rPr lang="en-US" smtClean="0"/>
              <a:t>10/19/2022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3444612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10/19/2022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90698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10/19/2022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2031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10/19/2022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11558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10/19/2022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30028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ED264D-F1CD-4A0E-86DE-829D531D8CC1}" type="datetimeFigureOut">
              <a:rPr lang="en-US" smtClean="0"/>
              <a:t>10/19/2022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F331B4-1EE6-4448-AE73-C8BAED0E2A35}" type="slidenum">
              <a:rPr lang="en-US" smtClean="0"/>
              <a:t>‹#›</a:t>
            </a:fld>
            <a:endParaRPr lang="en-US"/>
          </a:p>
        </p:txBody>
      </p:sp>
    </p:spTree>
    <p:extLst>
      <p:ext uri="{BB962C8B-B14F-4D97-AF65-F5344CB8AC3E}">
        <p14:creationId xmlns:p14="http://schemas.microsoft.com/office/powerpoint/2010/main" val="1808476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bwMode="auto">
          <a:xfrm>
            <a:off x="1088721" y="1780566"/>
            <a:ext cx="10515600" cy="203177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nSpc>
                <a:spcPct val="100000"/>
              </a:lnSpc>
            </a:pPr>
            <a:r>
              <a:rPr lang="en-US" sz="3600" dirty="0">
                <a:latin typeface="Times New Roman" panose="02020603050405020304" pitchFamily="18" charset="0"/>
                <a:cs typeface="Times New Roman" panose="02020603050405020304" pitchFamily="18" charset="0"/>
              </a:rPr>
              <a:t>Week 1</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Lecture 2:  </a:t>
            </a:r>
            <a:r>
              <a:rPr lang="en-US" sz="3600" dirty="0" err="1">
                <a:latin typeface="Times New Roman" panose="02020603050405020304" pitchFamily="18" charset="0"/>
                <a:cs typeface="Times New Roman" panose="02020603050405020304" pitchFamily="18" charset="0"/>
              </a:rPr>
              <a:t>i</a:t>
            </a:r>
            <a:r>
              <a:rPr lang="en-US" sz="3600" dirty="0">
                <a:latin typeface="Times New Roman" panose="02020603050405020304" pitchFamily="18" charset="0"/>
                <a:cs typeface="Times New Roman" panose="02020603050405020304" pitchFamily="18" charset="0"/>
              </a:rPr>
              <a:t>. </a:t>
            </a:r>
            <a:r>
              <a:rPr lang="en-US" sz="3600" dirty="0">
                <a:solidFill>
                  <a:srgbClr val="000000"/>
                </a:solidFill>
                <a:effectLst/>
                <a:latin typeface="Times New Roman" panose="02020603050405020304" pitchFamily="18" charset="0"/>
                <a:ea typeface="Trebuchet MS" panose="020B0603020202020204" pitchFamily="34" charset="0"/>
              </a:rPr>
              <a:t>Applying Professionalism in Real Life</a:t>
            </a:r>
            <a:br>
              <a:rPr lang="en-US" sz="3600" dirty="0">
                <a:solidFill>
                  <a:srgbClr val="000000"/>
                </a:solidFill>
                <a:effectLst/>
                <a:latin typeface="Times New Roman" panose="02020603050405020304" pitchFamily="18" charset="0"/>
                <a:ea typeface="Trebuchet MS" panose="020B0603020202020204" pitchFamily="34" charset="0"/>
              </a:rPr>
            </a:br>
            <a:r>
              <a:rPr lang="en-US" sz="3600" dirty="0">
                <a:solidFill>
                  <a:srgbClr val="000000"/>
                </a:solidFill>
                <a:effectLst/>
                <a:latin typeface="Times New Roman" panose="02020603050405020304" pitchFamily="18" charset="0"/>
                <a:ea typeface="Trebuchet MS" panose="020B0603020202020204" pitchFamily="34" charset="0"/>
              </a:rPr>
              <a:t>                  ii. </a:t>
            </a:r>
            <a:r>
              <a:rPr lang="en-US" sz="3600" spc="-1" dirty="0">
                <a:latin typeface="Times New Roman" panose="02020603050405020304" pitchFamily="18" charset="0"/>
                <a:cs typeface="Times New Roman" panose="02020603050405020304" pitchFamily="18" charset="0"/>
              </a:rPr>
              <a:t>Computing Fields</a:t>
            </a:r>
          </a:p>
        </p:txBody>
      </p:sp>
    </p:spTree>
    <p:extLst>
      <p:ext uri="{BB962C8B-B14F-4D97-AF65-F5344CB8AC3E}">
        <p14:creationId xmlns:p14="http://schemas.microsoft.com/office/powerpoint/2010/main" val="1382005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Applying Professionalism in Real Life</a:t>
            </a:r>
          </a:p>
        </p:txBody>
      </p:sp>
      <p:sp>
        <p:nvSpPr>
          <p:cNvPr id="3" name="Content Placeholder 2"/>
          <p:cNvSpPr>
            <a:spLocks noGrp="1"/>
          </p:cNvSpPr>
          <p:nvPr>
            <p:ph idx="1"/>
          </p:nvPr>
        </p:nvSpPr>
        <p:spPr>
          <a:xfrm>
            <a:off x="838200" y="1600200"/>
            <a:ext cx="9372600" cy="4421188"/>
          </a:xfrm>
        </p:spPr>
        <p:txBody>
          <a:bodyPr/>
          <a:lstStyle/>
          <a:p>
            <a:pPr marL="0" indent="0" algn="just">
              <a:buNone/>
              <a:defRPr/>
            </a:pPr>
            <a:r>
              <a:rPr lang="en-US" sz="2400" dirty="0">
                <a:latin typeface="Times New Roman" panose="02020603050405020304" pitchFamily="18" charset="0"/>
                <a:cs typeface="Times New Roman" panose="02020603050405020304" pitchFamily="18" charset="0"/>
              </a:rPr>
              <a:t>Scenario #1</a:t>
            </a:r>
          </a:p>
          <a:p>
            <a:pPr algn="just">
              <a:defRPr/>
            </a:pPr>
            <a:r>
              <a:rPr lang="en-US" sz="2400" dirty="0">
                <a:latin typeface="Times New Roman" panose="02020603050405020304" pitchFamily="18" charset="0"/>
                <a:cs typeface="Times New Roman" panose="02020603050405020304" pitchFamily="18" charset="0"/>
              </a:rPr>
              <a:t>You are the owner of a software engineering company. Your employees (engineers) want you to pay for them to attend training.</a:t>
            </a:r>
          </a:p>
          <a:p>
            <a:pPr algn="just">
              <a:defRPr/>
            </a:pPr>
            <a:r>
              <a:rPr lang="en-US" sz="2400" dirty="0">
                <a:latin typeface="Times New Roman" panose="02020603050405020304" pitchFamily="18" charset="0"/>
                <a:cs typeface="Times New Roman" panose="02020603050405020304" pitchFamily="18" charset="0"/>
              </a:rPr>
              <a:t>How would you respond in a way that is legal, moral, and ethical?</a:t>
            </a:r>
          </a:p>
          <a:p>
            <a:pPr marL="0" indent="0" algn="just">
              <a:buNone/>
              <a:defRPr/>
            </a:pPr>
            <a:endParaRPr lang="en-US" sz="3600" dirty="0">
              <a:solidFill>
                <a:srgbClr val="0070C0"/>
              </a:solidFill>
            </a:endParaRPr>
          </a:p>
        </p:txBody>
      </p:sp>
    </p:spTree>
    <p:extLst>
      <p:ext uri="{BB962C8B-B14F-4D97-AF65-F5344CB8AC3E}">
        <p14:creationId xmlns:p14="http://schemas.microsoft.com/office/powerpoint/2010/main" val="1001403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Scenario #2</a:t>
            </a:r>
            <a:br>
              <a:rPr lang="en-US" dirty="0"/>
            </a:br>
            <a:endParaRPr lang="en-US" dirty="0"/>
          </a:p>
        </p:txBody>
      </p:sp>
      <p:sp>
        <p:nvSpPr>
          <p:cNvPr id="3" name="Content Placeholder 2"/>
          <p:cNvSpPr>
            <a:spLocks noGrp="1"/>
          </p:cNvSpPr>
          <p:nvPr>
            <p:ph idx="1"/>
          </p:nvPr>
        </p:nvSpPr>
        <p:spPr>
          <a:xfrm>
            <a:off x="655093" y="1600200"/>
            <a:ext cx="9555707" cy="4421188"/>
          </a:xfrm>
        </p:spPr>
        <p:txBody>
          <a:bodyPr/>
          <a:lstStyle/>
          <a:p>
            <a:pPr algn="just">
              <a:defRPr/>
            </a:pPr>
            <a:r>
              <a:rPr lang="en-US" sz="2400" dirty="0">
                <a:latin typeface="Times New Roman" panose="02020603050405020304" pitchFamily="18" charset="0"/>
                <a:cs typeface="Times New Roman" panose="02020603050405020304" pitchFamily="18" charset="0"/>
              </a:rPr>
              <a:t>You are the owner of a software engineering company. Your employees (engineers) want you to let them do pro bono work for a local non-profit organization on company time.</a:t>
            </a:r>
          </a:p>
          <a:p>
            <a:pPr algn="just">
              <a:defRPr/>
            </a:pPr>
            <a:r>
              <a:rPr lang="en-US" sz="2400" dirty="0">
                <a:latin typeface="Times New Roman" panose="02020603050405020304" pitchFamily="18" charset="0"/>
                <a:cs typeface="Times New Roman" panose="02020603050405020304" pitchFamily="18" charset="0"/>
              </a:rPr>
              <a:t>How would you respond in a way that is legal, moral, and ethical?</a:t>
            </a:r>
          </a:p>
          <a:p>
            <a:pPr>
              <a:defRPr/>
            </a:pPr>
            <a:endParaRPr lang="en-US" dirty="0"/>
          </a:p>
          <a:p>
            <a:pPr>
              <a:defRPr/>
            </a:pPr>
            <a:endParaRPr lang="en-US" dirty="0"/>
          </a:p>
        </p:txBody>
      </p:sp>
    </p:spTree>
    <p:extLst>
      <p:ext uri="{BB962C8B-B14F-4D97-AF65-F5344CB8AC3E}">
        <p14:creationId xmlns:p14="http://schemas.microsoft.com/office/powerpoint/2010/main" val="2425247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r>
              <a:rPr lang="en-US" sz="3600" dirty="0">
                <a:latin typeface="Times New Roman" panose="02020603050405020304" pitchFamily="18" charset="0"/>
                <a:cs typeface="Times New Roman" panose="02020603050405020304" pitchFamily="18" charset="0"/>
              </a:rPr>
              <a:t>Scenario #3</a:t>
            </a:r>
            <a:br>
              <a:rPr lang="en-US" sz="3600" dirty="0">
                <a:latin typeface="Times New Roman" panose="02020603050405020304" pitchFamily="18" charset="0"/>
                <a:cs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00200"/>
            <a:ext cx="9372600" cy="4421188"/>
          </a:xfrm>
        </p:spPr>
        <p:txBody>
          <a:bodyPr/>
          <a:lstStyle/>
          <a:p>
            <a:pPr algn="just">
              <a:defRPr/>
            </a:pPr>
            <a:r>
              <a:rPr lang="en-US" sz="2400" dirty="0">
                <a:latin typeface="Times New Roman" panose="02020603050405020304" pitchFamily="18" charset="0"/>
                <a:cs typeface="Times New Roman" panose="02020603050405020304" pitchFamily="18" charset="0"/>
              </a:rPr>
              <a:t>You are a software engineer at a company where management routinely encourages you and your colleagues to use pirated software.</a:t>
            </a:r>
          </a:p>
          <a:p>
            <a:pPr algn="just">
              <a:defRPr/>
            </a:pPr>
            <a:r>
              <a:rPr lang="en-US" sz="2400" dirty="0">
                <a:latin typeface="Times New Roman" panose="02020603050405020304" pitchFamily="18" charset="0"/>
                <a:cs typeface="Times New Roman" panose="02020603050405020304" pitchFamily="18" charset="0"/>
              </a:rPr>
              <a:t>How would you respond in a way that is legal, moral, and ethical?</a:t>
            </a:r>
          </a:p>
          <a:p>
            <a:pPr>
              <a:defRPr/>
            </a:pPr>
            <a:endParaRPr lang="en-US" dirty="0"/>
          </a:p>
        </p:txBody>
      </p:sp>
    </p:spTree>
    <p:extLst>
      <p:ext uri="{BB962C8B-B14F-4D97-AF65-F5344CB8AC3E}">
        <p14:creationId xmlns:p14="http://schemas.microsoft.com/office/powerpoint/2010/main" val="3191633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Computing</a:t>
            </a:r>
          </a:p>
        </p:txBody>
      </p:sp>
      <p:sp>
        <p:nvSpPr>
          <p:cNvPr id="3" name="Content Placeholder 2"/>
          <p:cNvSpPr>
            <a:spLocks noGrp="1"/>
          </p:cNvSpPr>
          <p:nvPr>
            <p:ph idx="1"/>
          </p:nvPr>
        </p:nvSpPr>
        <p:spPr>
          <a:xfrm>
            <a:off x="838200" y="1405719"/>
            <a:ext cx="10515600" cy="4771244"/>
          </a:xfrm>
        </p:spPr>
        <p:txBody>
          <a:bodyPr>
            <a:noAutofit/>
          </a:bodyPr>
          <a:lstStyle/>
          <a:p>
            <a:pPr algn="just"/>
            <a:r>
              <a:rPr lang="en-US" sz="2400" spc="-1" dirty="0">
                <a:solidFill>
                  <a:srgbClr val="3E3D2D"/>
                </a:solidFill>
                <a:latin typeface="Times New Roman" panose="02020603050405020304" pitchFamily="18" charset="0"/>
                <a:cs typeface="Times New Roman" panose="02020603050405020304" pitchFamily="18" charset="0"/>
              </a:rPr>
              <a:t>It includes development of both hardware and software. </a:t>
            </a:r>
          </a:p>
          <a:p>
            <a:pPr algn="just"/>
            <a:r>
              <a:rPr lang="en-US" sz="2400" spc="-1" dirty="0">
                <a:solidFill>
                  <a:srgbClr val="3E3D2D"/>
                </a:solidFill>
                <a:latin typeface="Times New Roman" panose="02020603050405020304" pitchFamily="18" charset="0"/>
                <a:cs typeface="Times New Roman" panose="02020603050405020304" pitchFamily="18" charset="0"/>
              </a:rPr>
              <a:t>ACM defines Computing in a general way as: </a:t>
            </a:r>
          </a:p>
          <a:p>
            <a:pPr lvl="1" algn="just"/>
            <a:r>
              <a:rPr lang="en-US" spc="-1" dirty="0">
                <a:solidFill>
                  <a:srgbClr val="3E3D2D"/>
                </a:solidFill>
                <a:latin typeface="Times New Roman" panose="02020603050405020304" pitchFamily="18" charset="0"/>
                <a:cs typeface="Times New Roman" panose="02020603050405020304" pitchFamily="18" charset="0"/>
              </a:rPr>
              <a:t>We can define computing to mean any goal-oriented activity requiring, benefiting from, or creating computers. </a:t>
            </a:r>
          </a:p>
          <a:p>
            <a:pPr lvl="1" algn="just"/>
            <a:r>
              <a:rPr lang="en-US" spc="-1" dirty="0">
                <a:solidFill>
                  <a:srgbClr val="3E3D2D"/>
                </a:solidFill>
                <a:latin typeface="Times New Roman" panose="02020603050405020304" pitchFamily="18" charset="0"/>
                <a:cs typeface="Times New Roman" panose="02020603050405020304" pitchFamily="18" charset="0"/>
              </a:rPr>
              <a:t>Thus, computing includes designing and building hardware and software systems for a wide range of purposes; processing, structuring, and managing various kinds of information; doing scientific studies using computers; making computer systems behave intelligently; creating and using communications and entertainment media; finding and gathering information relevant to any particular purpose, and so on. </a:t>
            </a:r>
          </a:p>
          <a:p>
            <a:pPr lvl="1" algn="just"/>
            <a:r>
              <a:rPr lang="en-US" spc="-1" dirty="0">
                <a:solidFill>
                  <a:srgbClr val="3E3D2D"/>
                </a:solidFill>
                <a:latin typeface="Times New Roman" panose="02020603050405020304" pitchFamily="18" charset="0"/>
                <a:cs typeface="Times New Roman" panose="02020603050405020304" pitchFamily="18" charset="0"/>
              </a:rPr>
              <a:t>The list is virtually endless, and the possibilities are vast.</a:t>
            </a:r>
          </a:p>
          <a:p>
            <a:pPr algn="just"/>
            <a:r>
              <a:rPr lang="en-US" sz="2400" spc="-1" dirty="0">
                <a:solidFill>
                  <a:srgbClr val="3E3D2D"/>
                </a:solidFill>
                <a:latin typeface="Times New Roman" panose="02020603050405020304" pitchFamily="18" charset="0"/>
                <a:cs typeface="Times New Roman" panose="02020603050405020304" pitchFamily="18" charset="0"/>
              </a:rPr>
              <a:t>Computing has become a critical, integral component of modern industrial technology. </a:t>
            </a:r>
          </a:p>
        </p:txBody>
      </p:sp>
    </p:spTree>
    <p:extLst>
      <p:ext uri="{BB962C8B-B14F-4D97-AF65-F5344CB8AC3E}">
        <p14:creationId xmlns:p14="http://schemas.microsoft.com/office/powerpoint/2010/main" val="2250570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spc="-1" dirty="0">
                <a:solidFill>
                  <a:srgbClr val="3E3D2D"/>
                </a:solidFill>
                <a:latin typeface="Times New Roman" panose="02020603050405020304" pitchFamily="18" charset="0"/>
                <a:cs typeface="Times New Roman" panose="02020603050405020304" pitchFamily="18" charset="0"/>
              </a:rPr>
              <a:t>Major computing disciplines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Computer Sciences </a:t>
            </a:r>
          </a:p>
          <a:p>
            <a:pPr algn="just"/>
            <a:r>
              <a:rPr lang="en-US" sz="2400" dirty="0">
                <a:latin typeface="Times New Roman" panose="02020603050405020304" pitchFamily="18" charset="0"/>
                <a:cs typeface="Times New Roman" panose="02020603050405020304" pitchFamily="18" charset="0"/>
              </a:rPr>
              <a:t>Computer Engineering</a:t>
            </a:r>
          </a:p>
          <a:p>
            <a:pPr algn="just"/>
            <a:r>
              <a:rPr lang="en-US" sz="2400" dirty="0">
                <a:latin typeface="Times New Roman" panose="02020603050405020304" pitchFamily="18" charset="0"/>
                <a:cs typeface="Times New Roman" panose="02020603050405020304" pitchFamily="18" charset="0"/>
              </a:rPr>
              <a:t>Software Engineering</a:t>
            </a:r>
          </a:p>
          <a:p>
            <a:pPr algn="just"/>
            <a:r>
              <a:rPr lang="en-US" sz="2400" dirty="0">
                <a:latin typeface="Times New Roman" panose="02020603050405020304" pitchFamily="18" charset="0"/>
                <a:cs typeface="Times New Roman" panose="02020603050405020304" pitchFamily="18" charset="0"/>
              </a:rPr>
              <a:t>Information and communication Technology</a:t>
            </a:r>
          </a:p>
          <a:p>
            <a:pPr algn="just"/>
            <a:r>
              <a:rPr lang="en-US" sz="2400" dirty="0">
                <a:latin typeface="Times New Roman" panose="02020603050405020304" pitchFamily="18" charset="0"/>
                <a:cs typeface="Times New Roman" panose="02020603050405020304" pitchFamily="18" charset="0"/>
              </a:rPr>
              <a:t>Information Systems</a:t>
            </a:r>
          </a:p>
          <a:p>
            <a:pPr marL="0" indent="0" algn="just">
              <a:buNone/>
            </a:pPr>
            <a:endParaRPr lang="en-US" dirty="0"/>
          </a:p>
        </p:txBody>
      </p:sp>
    </p:spTree>
    <p:extLst>
      <p:ext uri="{BB962C8B-B14F-4D97-AF65-F5344CB8AC3E}">
        <p14:creationId xmlns:p14="http://schemas.microsoft.com/office/powerpoint/2010/main" val="3143572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Computer Science</a:t>
            </a:r>
          </a:p>
        </p:txBody>
      </p:sp>
      <p:sp>
        <p:nvSpPr>
          <p:cNvPr id="3" name="Content Placeholder 2"/>
          <p:cNvSpPr>
            <a:spLocks noGrp="1"/>
          </p:cNvSpPr>
          <p:nvPr>
            <p:ph idx="1"/>
          </p:nvPr>
        </p:nvSpPr>
        <p:spPr>
          <a:xfrm>
            <a:off x="838200" y="1487606"/>
            <a:ext cx="10515600" cy="4689357"/>
          </a:xfrm>
        </p:spPr>
        <p:txBody>
          <a:bodyPr>
            <a:normAutofit/>
          </a:bodyPr>
          <a:lstStyle/>
          <a:p>
            <a:pPr algn="just"/>
            <a:r>
              <a:rPr lang="en-US" sz="2400" dirty="0">
                <a:latin typeface="Times New Roman" panose="02020603050405020304" pitchFamily="18" charset="0"/>
                <a:cs typeface="Times New Roman" panose="02020603050405020304" pitchFamily="18" charset="0"/>
              </a:rPr>
              <a:t>Computer science or computing science (abbreviated CS or Comp </a:t>
            </a:r>
            <a:r>
              <a:rPr lang="en-US" sz="2400" dirty="0" err="1">
                <a:latin typeface="Times New Roman" panose="02020603050405020304" pitchFamily="18" charset="0"/>
                <a:cs typeface="Times New Roman" panose="02020603050405020304" pitchFamily="18" charset="0"/>
              </a:rPr>
              <a:t>Sci</a:t>
            </a:r>
            <a:r>
              <a:rPr lang="en-US" sz="2400" dirty="0">
                <a:latin typeface="Times New Roman" panose="02020603050405020304" pitchFamily="18" charset="0"/>
                <a:cs typeface="Times New Roman" panose="02020603050405020304" pitchFamily="18" charset="0"/>
              </a:rPr>
              <a:t>) is the scientific and practical approach to computation and its applications. </a:t>
            </a:r>
          </a:p>
          <a:p>
            <a:pPr algn="just"/>
            <a:r>
              <a:rPr lang="en-US" sz="2400" dirty="0">
                <a:latin typeface="Times New Roman" panose="02020603050405020304" pitchFamily="18" charset="0"/>
                <a:cs typeface="Times New Roman" panose="02020603050405020304" pitchFamily="18" charset="0"/>
              </a:rPr>
              <a:t>A computer scientist specializes in the theory of computation and the design of computational systems.</a:t>
            </a:r>
          </a:p>
          <a:p>
            <a:pPr algn="just"/>
            <a:r>
              <a:rPr lang="en-US" sz="2400" dirty="0">
                <a:latin typeface="Times New Roman" panose="02020603050405020304" pitchFamily="18" charset="0"/>
                <a:cs typeface="Times New Roman" panose="02020603050405020304" pitchFamily="18" charset="0"/>
              </a:rPr>
              <a:t>It falls into following sub categories:</a:t>
            </a:r>
          </a:p>
          <a:p>
            <a:pPr lvl="1" algn="just"/>
            <a:r>
              <a:rPr lang="en-US" dirty="0">
                <a:latin typeface="Times New Roman" panose="02020603050405020304" pitchFamily="18" charset="0"/>
                <a:cs typeface="Times New Roman" panose="02020603050405020304" pitchFamily="18" charset="0"/>
              </a:rPr>
              <a:t>Planning and managing organizational technology infrastructure.</a:t>
            </a:r>
          </a:p>
          <a:p>
            <a:pPr lvl="1" algn="just"/>
            <a:r>
              <a:rPr lang="en-US" dirty="0">
                <a:latin typeface="Times New Roman" panose="02020603050405020304" pitchFamily="18" charset="0"/>
                <a:cs typeface="Times New Roman" panose="02020603050405020304" pitchFamily="18" charset="0"/>
              </a:rPr>
              <a:t>Designing and developing software</a:t>
            </a:r>
          </a:p>
          <a:p>
            <a:pPr lvl="1" algn="just"/>
            <a:r>
              <a:rPr lang="en-US" dirty="0">
                <a:latin typeface="Times New Roman" panose="02020603050405020304" pitchFamily="18" charset="0"/>
                <a:cs typeface="Times New Roman" panose="02020603050405020304" pitchFamily="18" charset="0"/>
              </a:rPr>
              <a:t>Developing effective ways to solve computing problems; and </a:t>
            </a:r>
          </a:p>
          <a:p>
            <a:pPr lvl="1" algn="just"/>
            <a:r>
              <a:rPr lang="en-US" dirty="0">
                <a:latin typeface="Times New Roman" panose="02020603050405020304" pitchFamily="18" charset="0"/>
                <a:cs typeface="Times New Roman" panose="02020603050405020304" pitchFamily="18" charset="0"/>
              </a:rPr>
              <a:t>Devising new and better ways of using computers and addressing particular challenges in areas such as robotics, computer vision etc.</a:t>
            </a:r>
          </a:p>
          <a:p>
            <a:pPr algn="just"/>
            <a:endParaRPr lang="en-US" dirty="0"/>
          </a:p>
        </p:txBody>
      </p:sp>
    </p:spTree>
    <p:extLst>
      <p:ext uri="{BB962C8B-B14F-4D97-AF65-F5344CB8AC3E}">
        <p14:creationId xmlns:p14="http://schemas.microsoft.com/office/powerpoint/2010/main" val="3440125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Computer Engineering</a:t>
            </a:r>
          </a:p>
        </p:txBody>
      </p:sp>
      <p:sp>
        <p:nvSpPr>
          <p:cNvPr id="3" name="Content Placeholder 2"/>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Computer engineering (CE) students study the design of digital hardware and software systems including communications systems, computers and devices that contain computers. For them, programming is focused on digital devices and their interfaces with users and other devices.</a:t>
            </a:r>
          </a:p>
          <a:p>
            <a:pPr algn="just"/>
            <a:r>
              <a:rPr lang="en-US" sz="2400" dirty="0">
                <a:latin typeface="Times New Roman" panose="02020603050405020304" pitchFamily="18" charset="0"/>
                <a:cs typeface="Times New Roman" panose="02020603050405020304" pitchFamily="18" charset="0"/>
              </a:rPr>
              <a:t>An important area within computing engineering is the development of embedded systems. </a:t>
            </a:r>
          </a:p>
          <a:p>
            <a:pPr algn="just"/>
            <a:r>
              <a:rPr lang="en-US" sz="2400" dirty="0">
                <a:latin typeface="Times New Roman" panose="02020603050405020304" pitchFamily="18" charset="0"/>
                <a:cs typeface="Times New Roman" panose="02020603050405020304" pitchFamily="18" charset="0"/>
              </a:rPr>
              <a:t>Devices such as cell phones, digital audio players, digital video recorders, alarm systems, x-ray machines, and laser surgical tools all require integration of hardware and embedded software, and are all the result of computer engineering.</a:t>
            </a:r>
          </a:p>
        </p:txBody>
      </p:sp>
    </p:spTree>
    <p:extLst>
      <p:ext uri="{BB962C8B-B14F-4D97-AF65-F5344CB8AC3E}">
        <p14:creationId xmlns:p14="http://schemas.microsoft.com/office/powerpoint/2010/main" val="2739626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Software Engineering</a:t>
            </a:r>
          </a:p>
        </p:txBody>
      </p:sp>
      <p:sp>
        <p:nvSpPr>
          <p:cNvPr id="3" name="Content Placeholder 2"/>
          <p:cNvSpPr>
            <a:spLocks noGrp="1"/>
          </p:cNvSpPr>
          <p:nvPr>
            <p:ph idx="1"/>
          </p:nvPr>
        </p:nvSpPr>
        <p:spPr>
          <a:xfrm>
            <a:off x="838200" y="1501254"/>
            <a:ext cx="10515600" cy="4675709"/>
          </a:xfrm>
        </p:spPr>
        <p:txBody>
          <a:bodyPr>
            <a:normAutofit/>
          </a:bodyPr>
          <a:lstStyle/>
          <a:p>
            <a:pPr algn="just"/>
            <a:r>
              <a:rPr lang="en-US" sz="2400" dirty="0">
                <a:latin typeface="Times New Roman" panose="02020603050405020304" pitchFamily="18" charset="0"/>
                <a:cs typeface="Times New Roman" panose="02020603050405020304" pitchFamily="18" charset="0"/>
              </a:rPr>
              <a:t>It is concerned with developing and maintaining software systems that behave reliably and efficiently. </a:t>
            </a:r>
          </a:p>
          <a:p>
            <a:pPr algn="just"/>
            <a:r>
              <a:rPr lang="en-US" sz="2400" dirty="0">
                <a:latin typeface="Times New Roman" panose="02020603050405020304" pitchFamily="18" charset="0"/>
                <a:cs typeface="Times New Roman" panose="02020603050405020304" pitchFamily="18" charset="0"/>
              </a:rPr>
              <a:t>It is important because of the impact of large, expensive software systems and the role of software in critical applications. </a:t>
            </a:r>
          </a:p>
          <a:p>
            <a:pPr algn="just"/>
            <a:r>
              <a:rPr lang="en-US" sz="2400" dirty="0">
                <a:latin typeface="Times New Roman" panose="02020603050405020304" pitchFamily="18" charset="0"/>
                <a:cs typeface="Times New Roman" panose="02020603050405020304" pitchFamily="18" charset="0"/>
              </a:rPr>
              <a:t>It integrates significant mathematics, computer science and practices from other engineering disciplines.</a:t>
            </a:r>
          </a:p>
          <a:p>
            <a:pPr algn="just"/>
            <a:r>
              <a:rPr lang="en-US" sz="2400" dirty="0">
                <a:latin typeface="Times New Roman" panose="02020603050405020304" pitchFamily="18" charset="0"/>
                <a:cs typeface="Times New Roman" panose="02020603050405020304" pitchFamily="18" charset="0"/>
              </a:rPr>
              <a:t>Software engineers should adopt a systematic and organized approach to their work and use appropriate tools and techniques depending on the problem to be solved, the development constraints and the available resources.</a:t>
            </a:r>
          </a:p>
          <a:p>
            <a:pPr algn="just"/>
            <a:endParaRPr lang="en-US" dirty="0"/>
          </a:p>
        </p:txBody>
      </p:sp>
    </p:spTree>
    <p:extLst>
      <p:ext uri="{BB962C8B-B14F-4D97-AF65-F5344CB8AC3E}">
        <p14:creationId xmlns:p14="http://schemas.microsoft.com/office/powerpoint/2010/main" val="3886876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Information and Communications Technology</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Information and communications technology (ICT) is an extensional term for information technology (IT) </a:t>
            </a:r>
          </a:p>
          <a:p>
            <a:pPr algn="just"/>
            <a:r>
              <a:rPr lang="en-US" dirty="0">
                <a:latin typeface="Times New Roman" panose="02020603050405020304" pitchFamily="18" charset="0"/>
                <a:cs typeface="Times New Roman" panose="02020603050405020304" pitchFamily="18" charset="0"/>
              </a:rPr>
              <a:t>It stresses the role of unified communications and the integration of telecommunications (telephone lines and wireless signals) and computers, as well as necessary enterprise software, middleware, storage and audiovisual systems, that enable users to access, store, transmit, and manipulate information.</a:t>
            </a:r>
          </a:p>
        </p:txBody>
      </p:sp>
    </p:spTree>
    <p:extLst>
      <p:ext uri="{BB962C8B-B14F-4D97-AF65-F5344CB8AC3E}">
        <p14:creationId xmlns:p14="http://schemas.microsoft.com/office/powerpoint/2010/main" val="2407928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Information Technology</a:t>
            </a:r>
          </a:p>
        </p:txBody>
      </p:sp>
      <p:sp>
        <p:nvSpPr>
          <p:cNvPr id="3" name="Content Placeholder 2"/>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Information technology (IT) is the use of computers to store, retrieve, transmit, and manipulate data or information. </a:t>
            </a:r>
          </a:p>
          <a:p>
            <a:pPr algn="just"/>
            <a:r>
              <a:rPr lang="en-US" sz="2400" dirty="0">
                <a:latin typeface="Times New Roman" panose="02020603050405020304" pitchFamily="18" charset="0"/>
                <a:cs typeface="Times New Roman" panose="02020603050405020304" pitchFamily="18" charset="0"/>
              </a:rPr>
              <a:t>IT is typically used within the context of business operations as opposed to personal or entertainment technologies. IT is considered to be a subset of information and communications technology (ICT). </a:t>
            </a:r>
          </a:p>
          <a:p>
            <a:pPr algn="just"/>
            <a:r>
              <a:rPr lang="en-US" sz="2400" dirty="0">
                <a:latin typeface="Times New Roman" panose="02020603050405020304" pitchFamily="18" charset="0"/>
                <a:cs typeface="Times New Roman" panose="02020603050405020304" pitchFamily="18" charset="0"/>
              </a:rPr>
              <a:t>An information technology system (IT system) is generally an information system, a communications system or, more specifically speaking, a computer system – including all hardware, software and peripheral equipment – operated by a limited group of users.</a:t>
            </a:r>
          </a:p>
        </p:txBody>
      </p:sp>
    </p:spTree>
    <p:extLst>
      <p:ext uri="{BB962C8B-B14F-4D97-AF65-F5344CB8AC3E}">
        <p14:creationId xmlns:p14="http://schemas.microsoft.com/office/powerpoint/2010/main" val="2229089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Information Systems</a:t>
            </a:r>
          </a:p>
        </p:txBody>
      </p:sp>
      <p:sp>
        <p:nvSpPr>
          <p:cNvPr id="3" name="Content Placeholder 2"/>
          <p:cNvSpPr>
            <a:spLocks noGrp="1"/>
          </p:cNvSpPr>
          <p:nvPr>
            <p:ph idx="1"/>
          </p:nvPr>
        </p:nvSpPr>
        <p:spPr>
          <a:xfrm>
            <a:off x="838200" y="1460310"/>
            <a:ext cx="10515600" cy="4716653"/>
          </a:xfrm>
        </p:spPr>
        <p:txBody>
          <a:bodyPr>
            <a:normAutofit/>
          </a:bodyPr>
          <a:lstStyle/>
          <a:p>
            <a:pPr algn="just"/>
            <a:r>
              <a:rPr lang="en-US" sz="2400" dirty="0">
                <a:latin typeface="Times New Roman" panose="02020603050405020304" pitchFamily="18" charset="0"/>
                <a:cs typeface="Times New Roman" panose="02020603050405020304" pitchFamily="18" charset="0"/>
              </a:rPr>
              <a:t>Information systems (IS) is concerned with the information that computer systems can provide to aid a company, non-profit or governmental organization in defining and achieving its goals. </a:t>
            </a:r>
          </a:p>
          <a:p>
            <a:pPr algn="just"/>
            <a:r>
              <a:rPr lang="en-US" sz="2400" dirty="0">
                <a:latin typeface="Times New Roman" panose="02020603050405020304" pitchFamily="18" charset="0"/>
                <a:cs typeface="Times New Roman" panose="02020603050405020304" pitchFamily="18" charset="0"/>
              </a:rPr>
              <a:t>It is also concerned with the processes that an enterprise can implement and improve using information technology. </a:t>
            </a:r>
          </a:p>
          <a:p>
            <a:pPr algn="just"/>
            <a:r>
              <a:rPr lang="en-US" sz="2400" dirty="0">
                <a:latin typeface="Times New Roman" panose="02020603050405020304" pitchFamily="18" charset="0"/>
                <a:cs typeface="Times New Roman" panose="02020603050405020304" pitchFamily="18" charset="0"/>
              </a:rPr>
              <a:t>IS professionals must understand both technical and organizational factors, and must be able to help an organization determine how information and technology-enabled business processes can provide a foundation for superior organizational performance. </a:t>
            </a:r>
          </a:p>
          <a:p>
            <a:pPr algn="just"/>
            <a:r>
              <a:rPr lang="en-US" sz="2400" dirty="0">
                <a:latin typeface="Times New Roman" panose="02020603050405020304" pitchFamily="18" charset="0"/>
                <a:cs typeface="Times New Roman" panose="02020603050405020304" pitchFamily="18" charset="0"/>
              </a:rPr>
              <a:t>They serve as a bridge between the technical and management communities within an organization</a:t>
            </a:r>
          </a:p>
        </p:txBody>
      </p:sp>
    </p:spTree>
    <p:extLst>
      <p:ext uri="{BB962C8B-B14F-4D97-AF65-F5344CB8AC3E}">
        <p14:creationId xmlns:p14="http://schemas.microsoft.com/office/powerpoint/2010/main" val="2604080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spc="-1" dirty="0">
                <a:latin typeface="Times New Roman" panose="02020603050405020304" pitchFamily="18" charset="0"/>
                <a:cs typeface="Times New Roman" panose="02020603050405020304" pitchFamily="18" charset="0"/>
              </a:rPr>
              <a:t>Why Graduating in Computing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68760">
              <a:spcBef>
                <a:spcPts val="479"/>
              </a:spcBef>
              <a:tabLst>
                <a:tab pos="0" algn="l"/>
              </a:tabLst>
            </a:pPr>
            <a:r>
              <a:rPr lang="en-US" sz="2400" b="1" spc="-1" dirty="0">
                <a:latin typeface="Times New Roman" panose="02020603050405020304" pitchFamily="18" charset="0"/>
                <a:cs typeface="Times New Roman" panose="02020603050405020304" pitchFamily="18" charset="0"/>
              </a:rPr>
              <a:t>Question:</a:t>
            </a:r>
            <a:r>
              <a:rPr lang="en-US" sz="2400" spc="-1" dirty="0">
                <a:latin typeface="Times New Roman" panose="02020603050405020304" pitchFamily="18" charset="0"/>
                <a:cs typeface="Times New Roman" panose="02020603050405020304" pitchFamily="18" charset="0"/>
              </a:rPr>
              <a:t> Why do you want to graduate in computing field?</a:t>
            </a:r>
          </a:p>
          <a:p>
            <a:pPr marL="68760">
              <a:spcBef>
                <a:spcPts val="479"/>
              </a:spcBef>
              <a:tabLst>
                <a:tab pos="0" algn="l"/>
              </a:tabLst>
            </a:pPr>
            <a:endParaRPr lang="en-US" sz="2400" spc="-1" dirty="0">
              <a:latin typeface="Times New Roman" panose="02020603050405020304" pitchFamily="18" charset="0"/>
              <a:cs typeface="Times New Roman" panose="02020603050405020304" pitchFamily="18" charset="0"/>
            </a:endParaRPr>
          </a:p>
          <a:p>
            <a:pPr marL="68760">
              <a:spcBef>
                <a:spcPts val="479"/>
              </a:spcBef>
              <a:tabLst>
                <a:tab pos="0" algn="l"/>
              </a:tabLst>
            </a:pPr>
            <a:endParaRPr lang="en-US" sz="2400" b="1" spc="-1" dirty="0">
              <a:latin typeface="Times New Roman" panose="02020603050405020304" pitchFamily="18" charset="0"/>
              <a:cs typeface="Times New Roman" panose="02020603050405020304" pitchFamily="18" charset="0"/>
            </a:endParaRPr>
          </a:p>
          <a:p>
            <a:pPr marL="68760">
              <a:spcBef>
                <a:spcPts val="479"/>
              </a:spcBef>
              <a:tabLst>
                <a:tab pos="0" algn="l"/>
              </a:tabLst>
            </a:pPr>
            <a:r>
              <a:rPr lang="en-US" sz="2400" b="1" spc="-1" dirty="0">
                <a:latin typeface="Times New Roman" panose="02020603050405020304" pitchFamily="18" charset="0"/>
                <a:cs typeface="Times New Roman" panose="02020603050405020304" pitchFamily="18" charset="0"/>
              </a:rPr>
              <a:t>Possible Answers: </a:t>
            </a:r>
            <a:r>
              <a:rPr lang="en-US" sz="2400" spc="-1" dirty="0">
                <a:latin typeface="Times New Roman" panose="02020603050405020304" pitchFamily="18" charset="0"/>
                <a:cs typeface="Times New Roman" panose="02020603050405020304" pitchFamily="18" charset="0"/>
              </a:rPr>
              <a:t>Depends on your interest and what a particular organization do.</a:t>
            </a:r>
          </a:p>
          <a:p>
            <a:pPr marL="68760">
              <a:spcBef>
                <a:spcPts val="479"/>
              </a:spcBef>
              <a:tabLst>
                <a:tab pos="0" algn="l"/>
              </a:tabLst>
            </a:pPr>
            <a:endParaRPr lang="en-US" spc="-1" dirty="0">
              <a:latin typeface="Century Gothic"/>
            </a:endParaRPr>
          </a:p>
          <a:p>
            <a:endParaRPr lang="en-US" dirty="0"/>
          </a:p>
        </p:txBody>
      </p:sp>
    </p:spTree>
    <p:extLst>
      <p:ext uri="{BB962C8B-B14F-4D97-AF65-F5344CB8AC3E}">
        <p14:creationId xmlns:p14="http://schemas.microsoft.com/office/powerpoint/2010/main" val="660094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332" y="365125"/>
            <a:ext cx="10630468" cy="1325563"/>
          </a:xfrm>
        </p:spPr>
        <p:txBody>
          <a:bodyPr>
            <a:normAutofit/>
          </a:bodyPr>
          <a:lstStyle/>
          <a:p>
            <a:r>
              <a:rPr lang="en-US" sz="3600" spc="-1" dirty="0">
                <a:latin typeface="Times New Roman" panose="02020603050405020304" pitchFamily="18" charset="0"/>
                <a:cs typeface="Times New Roman" panose="02020603050405020304" pitchFamily="18" charset="0"/>
              </a:rPr>
              <a:t>Common things in every organization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spcBef>
                <a:spcPts val="479"/>
              </a:spcBef>
              <a:buNone/>
              <a:tabLst>
                <a:tab pos="0" algn="l"/>
              </a:tabLst>
            </a:pPr>
            <a:r>
              <a:rPr lang="en-US" sz="2400" spc="-1" dirty="0">
                <a:latin typeface="Times New Roman" panose="02020603050405020304" pitchFamily="18" charset="0"/>
                <a:cs typeface="Times New Roman" panose="02020603050405020304" pitchFamily="18" charset="0"/>
              </a:rPr>
              <a:t>Apart from technical requirements three things are common in every organization:</a:t>
            </a:r>
          </a:p>
          <a:p>
            <a:pPr marL="68760">
              <a:spcBef>
                <a:spcPts val="479"/>
              </a:spcBef>
              <a:tabLst>
                <a:tab pos="0" algn="l"/>
              </a:tabLst>
            </a:pPr>
            <a:endParaRPr lang="en-US" sz="2400" spc="-1" dirty="0">
              <a:latin typeface="Times New Roman" panose="02020603050405020304" pitchFamily="18" charset="0"/>
              <a:cs typeface="Times New Roman" panose="02020603050405020304" pitchFamily="18" charset="0"/>
            </a:endParaRPr>
          </a:p>
          <a:p>
            <a:pPr marL="526320" indent="-457200">
              <a:spcBef>
                <a:spcPts val="479"/>
              </a:spcBef>
              <a:buClr>
                <a:srgbClr val="94C600"/>
              </a:buClr>
              <a:buSzPct val="76000"/>
              <a:tabLst>
                <a:tab pos="0" algn="l"/>
              </a:tabLst>
            </a:pPr>
            <a:r>
              <a:rPr lang="en-US" sz="2400" b="1" spc="-1" dirty="0">
                <a:latin typeface="Times New Roman" panose="02020603050405020304" pitchFamily="18" charset="0"/>
                <a:cs typeface="Times New Roman" panose="02020603050405020304" pitchFamily="18" charset="0"/>
              </a:rPr>
              <a:t>Knowledge and Skill set</a:t>
            </a:r>
            <a:endParaRPr lang="en-US" sz="2400" spc="-1" dirty="0">
              <a:latin typeface="Times New Roman" panose="02020603050405020304" pitchFamily="18" charset="0"/>
              <a:cs typeface="Times New Roman" panose="02020603050405020304" pitchFamily="18" charset="0"/>
            </a:endParaRPr>
          </a:p>
          <a:p>
            <a:pPr marL="526320" indent="-457200">
              <a:spcBef>
                <a:spcPts val="479"/>
              </a:spcBef>
              <a:buClr>
                <a:srgbClr val="94C600"/>
              </a:buClr>
              <a:buSzPct val="76000"/>
              <a:tabLst>
                <a:tab pos="0" algn="l"/>
              </a:tabLst>
            </a:pPr>
            <a:r>
              <a:rPr lang="en-US" sz="2400" b="1" spc="-1" dirty="0">
                <a:latin typeface="Times New Roman" panose="02020603050405020304" pitchFamily="18" charset="0"/>
                <a:cs typeface="Times New Roman" panose="02020603050405020304" pitchFamily="18" charset="0"/>
              </a:rPr>
              <a:t>Team work </a:t>
            </a:r>
          </a:p>
          <a:p>
            <a:pPr marL="526320" indent="-457200">
              <a:spcBef>
                <a:spcPts val="479"/>
              </a:spcBef>
              <a:buClr>
                <a:srgbClr val="94C600"/>
              </a:buClr>
              <a:buSzPct val="76000"/>
              <a:tabLst>
                <a:tab pos="0" algn="l"/>
              </a:tabLst>
            </a:pPr>
            <a:r>
              <a:rPr lang="en-US" sz="2400" b="1" spc="-1" dirty="0">
                <a:latin typeface="Times New Roman" panose="02020603050405020304" pitchFamily="18" charset="0"/>
                <a:cs typeface="Times New Roman" panose="02020603050405020304" pitchFamily="18" charset="0"/>
              </a:rPr>
              <a:t>Business and Professional Environment </a:t>
            </a:r>
            <a:r>
              <a:rPr lang="en-US" sz="2400" spc="-1" dirty="0">
                <a:latin typeface="Times New Roman" panose="02020603050405020304" pitchFamily="18" charset="0"/>
                <a:cs typeface="Times New Roman" panose="02020603050405020304" pitchFamily="18" charset="0"/>
              </a:rPr>
              <a:t>(the main reason to learn “Professional Practices” course)</a:t>
            </a:r>
          </a:p>
          <a:p>
            <a:endParaRPr lang="en-US" dirty="0"/>
          </a:p>
        </p:txBody>
      </p:sp>
    </p:spTree>
    <p:extLst>
      <p:ext uri="{BB962C8B-B14F-4D97-AF65-F5344CB8AC3E}">
        <p14:creationId xmlns:p14="http://schemas.microsoft.com/office/powerpoint/2010/main" val="2820048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TotalTime>
  <Words>1057</Words>
  <Application>Microsoft Office PowerPoint</Application>
  <PresentationFormat>Widescreen</PresentationFormat>
  <Paragraphs>75</Paragraphs>
  <Slides>14</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Century Gothic</vt:lpstr>
      <vt:lpstr>Times New Roman</vt:lpstr>
      <vt:lpstr>Office Theme</vt:lpstr>
      <vt:lpstr>Week 1 Lecture 2:  i. Applying Professionalism in Real Life                   ii. Computing Fields</vt:lpstr>
      <vt:lpstr>Applying Professionalism in Real Life</vt:lpstr>
      <vt:lpstr>Scenario #2 </vt:lpstr>
      <vt:lpstr>Scenario #3 </vt:lpstr>
      <vt:lpstr>Computing</vt:lpstr>
      <vt:lpstr>Major computing disciplines</vt:lpstr>
      <vt:lpstr>Computer Science</vt:lpstr>
      <vt:lpstr>Computer Engineering</vt:lpstr>
      <vt:lpstr>Software Engineering</vt:lpstr>
      <vt:lpstr>Information and Communications Technology</vt:lpstr>
      <vt:lpstr>Information Technology</vt:lpstr>
      <vt:lpstr>Information Systems</vt:lpstr>
      <vt:lpstr>Why Graduating in Computing</vt:lpstr>
      <vt:lpstr>Common things in every organization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Amber Sarfraz</cp:lastModifiedBy>
  <cp:revision>23</cp:revision>
  <dcterms:created xsi:type="dcterms:W3CDTF">2020-09-29T10:19:05Z</dcterms:created>
  <dcterms:modified xsi:type="dcterms:W3CDTF">2022-10-19T11:32:10Z</dcterms:modified>
</cp:coreProperties>
</file>
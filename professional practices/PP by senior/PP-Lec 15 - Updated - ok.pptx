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58" r:id="rId3"/>
    <p:sldId id="306" r:id="rId4"/>
    <p:sldId id="397" r:id="rId5"/>
    <p:sldId id="398" r:id="rId6"/>
    <p:sldId id="396" r:id="rId7"/>
    <p:sldId id="374" r:id="rId8"/>
    <p:sldId id="360" r:id="rId9"/>
    <p:sldId id="399" r:id="rId10"/>
    <p:sldId id="400" r:id="rId11"/>
    <p:sldId id="401" r:id="rId12"/>
    <p:sldId id="402" r:id="rId13"/>
    <p:sldId id="403" r:id="rId14"/>
    <p:sldId id="404" r:id="rId15"/>
    <p:sldId id="361" r:id="rId16"/>
    <p:sldId id="375" r:id="rId17"/>
    <p:sldId id="376" r:id="rId18"/>
    <p:sldId id="406" r:id="rId19"/>
    <p:sldId id="407" r:id="rId20"/>
    <p:sldId id="408" r:id="rId21"/>
    <p:sldId id="409" r:id="rId22"/>
    <p:sldId id="410" r:id="rId23"/>
    <p:sldId id="411" r:id="rId24"/>
    <p:sldId id="412" r:id="rId25"/>
    <p:sldId id="413" r:id="rId26"/>
    <p:sldId id="414" r:id="rId27"/>
    <p:sldId id="415" r:id="rId28"/>
    <p:sldId id="416" r:id="rId29"/>
    <p:sldId id="417" r:id="rId30"/>
    <p:sldId id="418"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5621"/>
    <p:restoredTop sz="94434" autoAdjust="0"/>
  </p:normalViewPr>
  <p:slideViewPr>
    <p:cSldViewPr snapToGrid="0">
      <p:cViewPr varScale="1">
        <p:scale>
          <a:sx n="73" d="100"/>
          <a:sy n="73" d="100"/>
        </p:scale>
        <p:origin x="594" y="7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82E028C-3F41-4985-A5FB-D72A5048EDD3}" type="doc">
      <dgm:prSet loTypeId="urn:microsoft.com/office/officeart/2005/8/layout/vProcess5" loCatId="process" qsTypeId="urn:microsoft.com/office/officeart/2005/8/quickstyle/simple2" qsCatId="simple" csTypeId="urn:microsoft.com/office/officeart/2005/8/colors/colorful1" csCatId="colorful" phldr="1"/>
      <dgm:spPr/>
      <dgm:t>
        <a:bodyPr/>
        <a:lstStyle/>
        <a:p>
          <a:endParaRPr lang="en-US"/>
        </a:p>
      </dgm:t>
    </dgm:pt>
    <dgm:pt modelId="{E73E7A98-2806-433D-95AB-6841A15D45BF}">
      <dgm:prSet phldrT="[Text]"/>
      <dgm:spPr/>
      <dgm:t>
        <a:bodyPr/>
        <a:lstStyle/>
        <a:p>
          <a:r>
            <a:rPr lang="en-US" dirty="0"/>
            <a:t>Search for project</a:t>
          </a:r>
        </a:p>
      </dgm:t>
    </dgm:pt>
    <dgm:pt modelId="{BEABD161-1408-4766-ACB6-76A0C16B4E97}" type="parTrans" cxnId="{2641081B-AB5A-4903-B57C-0D08B6F29EC9}">
      <dgm:prSet/>
      <dgm:spPr/>
      <dgm:t>
        <a:bodyPr/>
        <a:lstStyle/>
        <a:p>
          <a:endParaRPr lang="en-US"/>
        </a:p>
      </dgm:t>
    </dgm:pt>
    <dgm:pt modelId="{A73CC8C5-F221-40F2-A983-4736664351D5}" type="sibTrans" cxnId="{2641081B-AB5A-4903-B57C-0D08B6F29EC9}">
      <dgm:prSet/>
      <dgm:spPr/>
      <dgm:t>
        <a:bodyPr/>
        <a:lstStyle/>
        <a:p>
          <a:endParaRPr lang="en-US"/>
        </a:p>
      </dgm:t>
    </dgm:pt>
    <dgm:pt modelId="{D23CF689-ACC6-4612-9559-49A3F5DC94D7}">
      <dgm:prSet phldrT="[Text]"/>
      <dgm:spPr/>
      <dgm:t>
        <a:bodyPr/>
        <a:lstStyle/>
        <a:p>
          <a:r>
            <a:rPr lang="en-US" dirty="0"/>
            <a:t>Requirement Analysis and design</a:t>
          </a:r>
        </a:p>
      </dgm:t>
    </dgm:pt>
    <dgm:pt modelId="{2C14ABD6-5968-442E-87A4-7FB8F7E92771}" type="parTrans" cxnId="{8AC64225-491B-4C6F-8594-D7A4A901051E}">
      <dgm:prSet/>
      <dgm:spPr/>
      <dgm:t>
        <a:bodyPr/>
        <a:lstStyle/>
        <a:p>
          <a:endParaRPr lang="en-US"/>
        </a:p>
      </dgm:t>
    </dgm:pt>
    <dgm:pt modelId="{063E1DD5-BF2C-4759-B838-01B67DE04927}" type="sibTrans" cxnId="{8AC64225-491B-4C6F-8594-D7A4A901051E}">
      <dgm:prSet/>
      <dgm:spPr/>
      <dgm:t>
        <a:bodyPr/>
        <a:lstStyle/>
        <a:p>
          <a:endParaRPr lang="en-US"/>
        </a:p>
      </dgm:t>
    </dgm:pt>
    <dgm:pt modelId="{83355CAF-70FD-439E-9821-0BF837FCB001}">
      <dgm:prSet phldrT="[Text]"/>
      <dgm:spPr/>
      <dgm:t>
        <a:bodyPr/>
        <a:lstStyle/>
        <a:p>
          <a:r>
            <a:rPr lang="en-US" dirty="0"/>
            <a:t>Modules assigned to developers/teams</a:t>
          </a:r>
        </a:p>
      </dgm:t>
    </dgm:pt>
    <dgm:pt modelId="{B8BBE88F-B736-4576-B0A1-5FAA9A0A23ED}" type="parTrans" cxnId="{5956089D-6C64-444D-BECB-F3D38CD999F7}">
      <dgm:prSet/>
      <dgm:spPr/>
      <dgm:t>
        <a:bodyPr/>
        <a:lstStyle/>
        <a:p>
          <a:endParaRPr lang="en-US"/>
        </a:p>
      </dgm:t>
    </dgm:pt>
    <dgm:pt modelId="{4700DBAA-A38C-4CC2-BEF2-57DE5EDD022D}" type="sibTrans" cxnId="{5956089D-6C64-444D-BECB-F3D38CD999F7}">
      <dgm:prSet/>
      <dgm:spPr/>
      <dgm:t>
        <a:bodyPr/>
        <a:lstStyle/>
        <a:p>
          <a:endParaRPr lang="en-US"/>
        </a:p>
      </dgm:t>
    </dgm:pt>
    <dgm:pt modelId="{088E8E88-E140-4095-8E83-76A9B6B6829E}">
      <dgm:prSet phldrT="[Text]"/>
      <dgm:spPr/>
      <dgm:t>
        <a:bodyPr/>
        <a:lstStyle/>
        <a:p>
          <a:r>
            <a:rPr lang="en-US" dirty="0"/>
            <a:t>Software release</a:t>
          </a:r>
        </a:p>
      </dgm:t>
    </dgm:pt>
    <dgm:pt modelId="{357FCDB6-1D63-4C11-BCC0-BBD2154CC115}" type="parTrans" cxnId="{CAEA43CB-61D4-41CF-A008-8A220663B854}">
      <dgm:prSet/>
      <dgm:spPr/>
      <dgm:t>
        <a:bodyPr/>
        <a:lstStyle/>
        <a:p>
          <a:endParaRPr lang="en-US"/>
        </a:p>
      </dgm:t>
    </dgm:pt>
    <dgm:pt modelId="{25F244A0-326C-418D-99BA-F83A6FB6D3F7}" type="sibTrans" cxnId="{CAEA43CB-61D4-41CF-A008-8A220663B854}">
      <dgm:prSet/>
      <dgm:spPr/>
      <dgm:t>
        <a:bodyPr/>
        <a:lstStyle/>
        <a:p>
          <a:endParaRPr lang="en-US"/>
        </a:p>
      </dgm:t>
    </dgm:pt>
    <dgm:pt modelId="{FDB25D57-7D8F-40F2-B73D-5C7B528D797A}">
      <dgm:prSet phldrT="[Text]"/>
      <dgm:spPr/>
      <dgm:t>
        <a:bodyPr/>
        <a:lstStyle/>
        <a:p>
          <a:r>
            <a:rPr lang="en-US" dirty="0"/>
            <a:t>Teams/developers move to new projects</a:t>
          </a:r>
        </a:p>
      </dgm:t>
    </dgm:pt>
    <dgm:pt modelId="{30D895EC-3538-4145-A88D-EDC41ABF32CD}" type="parTrans" cxnId="{DFA85BAA-C53D-40C1-8AFD-C903FA4E3386}">
      <dgm:prSet/>
      <dgm:spPr/>
      <dgm:t>
        <a:bodyPr/>
        <a:lstStyle/>
        <a:p>
          <a:endParaRPr lang="en-US"/>
        </a:p>
      </dgm:t>
    </dgm:pt>
    <dgm:pt modelId="{E4CE20BB-73BB-4FDC-A9DE-8A5CE9C0C078}" type="sibTrans" cxnId="{DFA85BAA-C53D-40C1-8AFD-C903FA4E3386}">
      <dgm:prSet/>
      <dgm:spPr/>
      <dgm:t>
        <a:bodyPr/>
        <a:lstStyle/>
        <a:p>
          <a:endParaRPr lang="en-US"/>
        </a:p>
      </dgm:t>
    </dgm:pt>
    <dgm:pt modelId="{1C49A373-4A94-4F42-993A-67BF073DCF95}">
      <dgm:prSet phldrT="[Text]" phldr="1"/>
      <dgm:spPr/>
      <dgm:t>
        <a:bodyPr/>
        <a:lstStyle/>
        <a:p>
          <a:endParaRPr lang="en-US"/>
        </a:p>
      </dgm:t>
    </dgm:pt>
    <dgm:pt modelId="{00956EC3-9992-4186-B0A1-4C33FEF8BD2B}" type="parTrans" cxnId="{A45416C6-8EF6-44D8-9C32-DDB15462E3FD}">
      <dgm:prSet/>
      <dgm:spPr/>
      <dgm:t>
        <a:bodyPr/>
        <a:lstStyle/>
        <a:p>
          <a:endParaRPr lang="en-US"/>
        </a:p>
      </dgm:t>
    </dgm:pt>
    <dgm:pt modelId="{7F2D861B-1050-42D1-A153-162BB9B4DAEC}" type="sibTrans" cxnId="{A45416C6-8EF6-44D8-9C32-DDB15462E3FD}">
      <dgm:prSet/>
      <dgm:spPr/>
      <dgm:t>
        <a:bodyPr/>
        <a:lstStyle/>
        <a:p>
          <a:endParaRPr lang="en-US"/>
        </a:p>
      </dgm:t>
    </dgm:pt>
    <dgm:pt modelId="{09F570B5-00EE-4AA3-93F5-62F000436313}">
      <dgm:prSet phldrT="[Text]" phldr="1"/>
      <dgm:spPr/>
      <dgm:t>
        <a:bodyPr/>
        <a:lstStyle/>
        <a:p>
          <a:endParaRPr lang="en-US"/>
        </a:p>
      </dgm:t>
    </dgm:pt>
    <dgm:pt modelId="{C8CB047A-D693-460C-A633-48092F52674D}" type="parTrans" cxnId="{827BB9F4-C725-4E6D-8988-670B37C854F7}">
      <dgm:prSet/>
      <dgm:spPr/>
      <dgm:t>
        <a:bodyPr/>
        <a:lstStyle/>
        <a:p>
          <a:endParaRPr lang="en-US"/>
        </a:p>
      </dgm:t>
    </dgm:pt>
    <dgm:pt modelId="{3461F542-702D-4ADE-959F-A2C50040019B}" type="sibTrans" cxnId="{827BB9F4-C725-4E6D-8988-670B37C854F7}">
      <dgm:prSet/>
      <dgm:spPr/>
      <dgm:t>
        <a:bodyPr/>
        <a:lstStyle/>
        <a:p>
          <a:endParaRPr lang="en-US"/>
        </a:p>
      </dgm:t>
    </dgm:pt>
    <dgm:pt modelId="{D3281C6C-636B-449B-B731-7010AFCF96C6}">
      <dgm:prSet phldrT="[Text]" phldr="1"/>
      <dgm:spPr/>
      <dgm:t>
        <a:bodyPr/>
        <a:lstStyle/>
        <a:p>
          <a:endParaRPr lang="en-US"/>
        </a:p>
      </dgm:t>
    </dgm:pt>
    <dgm:pt modelId="{EED3E277-1B21-420E-B4A1-27484BC753D8}" type="parTrans" cxnId="{44B8C50C-E54B-457B-B5AA-FF20E76ED773}">
      <dgm:prSet/>
      <dgm:spPr/>
      <dgm:t>
        <a:bodyPr/>
        <a:lstStyle/>
        <a:p>
          <a:endParaRPr lang="en-US"/>
        </a:p>
      </dgm:t>
    </dgm:pt>
    <dgm:pt modelId="{97A8F5C1-362D-40C7-9D1D-B2C9D6C032B9}" type="sibTrans" cxnId="{44B8C50C-E54B-457B-B5AA-FF20E76ED773}">
      <dgm:prSet/>
      <dgm:spPr/>
      <dgm:t>
        <a:bodyPr/>
        <a:lstStyle/>
        <a:p>
          <a:endParaRPr lang="en-US"/>
        </a:p>
      </dgm:t>
    </dgm:pt>
    <dgm:pt modelId="{54AD508B-2FD6-2E4E-B3DD-3247F915D564}" type="pres">
      <dgm:prSet presAssocID="{182E028C-3F41-4985-A5FB-D72A5048EDD3}" presName="outerComposite" presStyleCnt="0">
        <dgm:presLayoutVars>
          <dgm:chMax val="5"/>
          <dgm:dir/>
          <dgm:resizeHandles val="exact"/>
        </dgm:presLayoutVars>
      </dgm:prSet>
      <dgm:spPr/>
      <dgm:t>
        <a:bodyPr/>
        <a:lstStyle/>
        <a:p>
          <a:endParaRPr lang="en-US"/>
        </a:p>
      </dgm:t>
    </dgm:pt>
    <dgm:pt modelId="{FADE7B12-3162-414B-AAA7-0A3205515E50}" type="pres">
      <dgm:prSet presAssocID="{182E028C-3F41-4985-A5FB-D72A5048EDD3}" presName="dummyMaxCanvas" presStyleCnt="0">
        <dgm:presLayoutVars/>
      </dgm:prSet>
      <dgm:spPr/>
    </dgm:pt>
    <dgm:pt modelId="{52BEC61E-CE3E-2A40-B9CE-82094D413500}" type="pres">
      <dgm:prSet presAssocID="{182E028C-3F41-4985-A5FB-D72A5048EDD3}" presName="FiveNodes_1" presStyleLbl="node1" presStyleIdx="0" presStyleCnt="5">
        <dgm:presLayoutVars>
          <dgm:bulletEnabled val="1"/>
        </dgm:presLayoutVars>
      </dgm:prSet>
      <dgm:spPr/>
      <dgm:t>
        <a:bodyPr/>
        <a:lstStyle/>
        <a:p>
          <a:endParaRPr lang="en-US"/>
        </a:p>
      </dgm:t>
    </dgm:pt>
    <dgm:pt modelId="{B60AFD01-B7DB-5240-8537-6E9B5A4ABC68}" type="pres">
      <dgm:prSet presAssocID="{182E028C-3F41-4985-A5FB-D72A5048EDD3}" presName="FiveNodes_2" presStyleLbl="node1" presStyleIdx="1" presStyleCnt="5">
        <dgm:presLayoutVars>
          <dgm:bulletEnabled val="1"/>
        </dgm:presLayoutVars>
      </dgm:prSet>
      <dgm:spPr/>
      <dgm:t>
        <a:bodyPr/>
        <a:lstStyle/>
        <a:p>
          <a:endParaRPr lang="en-US"/>
        </a:p>
      </dgm:t>
    </dgm:pt>
    <dgm:pt modelId="{2770D826-4E44-6B4D-831E-3F885CF64187}" type="pres">
      <dgm:prSet presAssocID="{182E028C-3F41-4985-A5FB-D72A5048EDD3}" presName="FiveNodes_3" presStyleLbl="node1" presStyleIdx="2" presStyleCnt="5">
        <dgm:presLayoutVars>
          <dgm:bulletEnabled val="1"/>
        </dgm:presLayoutVars>
      </dgm:prSet>
      <dgm:spPr/>
      <dgm:t>
        <a:bodyPr/>
        <a:lstStyle/>
        <a:p>
          <a:endParaRPr lang="en-US"/>
        </a:p>
      </dgm:t>
    </dgm:pt>
    <dgm:pt modelId="{52933BDB-30E0-EE4C-BC0F-0C2846F42233}" type="pres">
      <dgm:prSet presAssocID="{182E028C-3F41-4985-A5FB-D72A5048EDD3}" presName="FiveNodes_4" presStyleLbl="node1" presStyleIdx="3" presStyleCnt="5">
        <dgm:presLayoutVars>
          <dgm:bulletEnabled val="1"/>
        </dgm:presLayoutVars>
      </dgm:prSet>
      <dgm:spPr/>
      <dgm:t>
        <a:bodyPr/>
        <a:lstStyle/>
        <a:p>
          <a:endParaRPr lang="en-US"/>
        </a:p>
      </dgm:t>
    </dgm:pt>
    <dgm:pt modelId="{8261E48C-DC92-704E-BFD5-23BB4D60B27C}" type="pres">
      <dgm:prSet presAssocID="{182E028C-3F41-4985-A5FB-D72A5048EDD3}" presName="FiveNodes_5" presStyleLbl="node1" presStyleIdx="4" presStyleCnt="5">
        <dgm:presLayoutVars>
          <dgm:bulletEnabled val="1"/>
        </dgm:presLayoutVars>
      </dgm:prSet>
      <dgm:spPr/>
      <dgm:t>
        <a:bodyPr/>
        <a:lstStyle/>
        <a:p>
          <a:endParaRPr lang="en-US"/>
        </a:p>
      </dgm:t>
    </dgm:pt>
    <dgm:pt modelId="{AB05FB31-776C-9E42-B32B-3B1DBCF36D12}" type="pres">
      <dgm:prSet presAssocID="{182E028C-3F41-4985-A5FB-D72A5048EDD3}" presName="FiveConn_1-2" presStyleLbl="fgAccFollowNode1" presStyleIdx="0" presStyleCnt="4">
        <dgm:presLayoutVars>
          <dgm:bulletEnabled val="1"/>
        </dgm:presLayoutVars>
      </dgm:prSet>
      <dgm:spPr/>
      <dgm:t>
        <a:bodyPr/>
        <a:lstStyle/>
        <a:p>
          <a:endParaRPr lang="en-US"/>
        </a:p>
      </dgm:t>
    </dgm:pt>
    <dgm:pt modelId="{97BA629F-6B24-464E-ABCF-11265961A4A0}" type="pres">
      <dgm:prSet presAssocID="{182E028C-3F41-4985-A5FB-D72A5048EDD3}" presName="FiveConn_2-3" presStyleLbl="fgAccFollowNode1" presStyleIdx="1" presStyleCnt="4">
        <dgm:presLayoutVars>
          <dgm:bulletEnabled val="1"/>
        </dgm:presLayoutVars>
      </dgm:prSet>
      <dgm:spPr/>
      <dgm:t>
        <a:bodyPr/>
        <a:lstStyle/>
        <a:p>
          <a:endParaRPr lang="en-US"/>
        </a:p>
      </dgm:t>
    </dgm:pt>
    <dgm:pt modelId="{BFE25CFA-7CD1-CE43-A4BC-CF9E13AFFF13}" type="pres">
      <dgm:prSet presAssocID="{182E028C-3F41-4985-A5FB-D72A5048EDD3}" presName="FiveConn_3-4" presStyleLbl="fgAccFollowNode1" presStyleIdx="2" presStyleCnt="4">
        <dgm:presLayoutVars>
          <dgm:bulletEnabled val="1"/>
        </dgm:presLayoutVars>
      </dgm:prSet>
      <dgm:spPr/>
      <dgm:t>
        <a:bodyPr/>
        <a:lstStyle/>
        <a:p>
          <a:endParaRPr lang="en-US"/>
        </a:p>
      </dgm:t>
    </dgm:pt>
    <dgm:pt modelId="{77894768-8978-814B-812C-2B4203675C61}" type="pres">
      <dgm:prSet presAssocID="{182E028C-3F41-4985-A5FB-D72A5048EDD3}" presName="FiveConn_4-5" presStyleLbl="fgAccFollowNode1" presStyleIdx="3" presStyleCnt="4">
        <dgm:presLayoutVars>
          <dgm:bulletEnabled val="1"/>
        </dgm:presLayoutVars>
      </dgm:prSet>
      <dgm:spPr/>
      <dgm:t>
        <a:bodyPr/>
        <a:lstStyle/>
        <a:p>
          <a:endParaRPr lang="en-US"/>
        </a:p>
      </dgm:t>
    </dgm:pt>
    <dgm:pt modelId="{17597905-B99F-9644-BD3F-6A6D175B9319}" type="pres">
      <dgm:prSet presAssocID="{182E028C-3F41-4985-A5FB-D72A5048EDD3}" presName="FiveNodes_1_text" presStyleLbl="node1" presStyleIdx="4" presStyleCnt="5">
        <dgm:presLayoutVars>
          <dgm:bulletEnabled val="1"/>
        </dgm:presLayoutVars>
      </dgm:prSet>
      <dgm:spPr/>
      <dgm:t>
        <a:bodyPr/>
        <a:lstStyle/>
        <a:p>
          <a:endParaRPr lang="en-US"/>
        </a:p>
      </dgm:t>
    </dgm:pt>
    <dgm:pt modelId="{C54BE760-3F17-4147-85D6-FFB004C8E653}" type="pres">
      <dgm:prSet presAssocID="{182E028C-3F41-4985-A5FB-D72A5048EDD3}" presName="FiveNodes_2_text" presStyleLbl="node1" presStyleIdx="4" presStyleCnt="5">
        <dgm:presLayoutVars>
          <dgm:bulletEnabled val="1"/>
        </dgm:presLayoutVars>
      </dgm:prSet>
      <dgm:spPr/>
      <dgm:t>
        <a:bodyPr/>
        <a:lstStyle/>
        <a:p>
          <a:endParaRPr lang="en-US"/>
        </a:p>
      </dgm:t>
    </dgm:pt>
    <dgm:pt modelId="{44FEAEA1-DDAC-FA47-9E16-6352ABE0DAF6}" type="pres">
      <dgm:prSet presAssocID="{182E028C-3F41-4985-A5FB-D72A5048EDD3}" presName="FiveNodes_3_text" presStyleLbl="node1" presStyleIdx="4" presStyleCnt="5">
        <dgm:presLayoutVars>
          <dgm:bulletEnabled val="1"/>
        </dgm:presLayoutVars>
      </dgm:prSet>
      <dgm:spPr/>
      <dgm:t>
        <a:bodyPr/>
        <a:lstStyle/>
        <a:p>
          <a:endParaRPr lang="en-US"/>
        </a:p>
      </dgm:t>
    </dgm:pt>
    <dgm:pt modelId="{5994F6BB-3B1A-9843-A6DE-32066DCED899}" type="pres">
      <dgm:prSet presAssocID="{182E028C-3F41-4985-A5FB-D72A5048EDD3}" presName="FiveNodes_4_text" presStyleLbl="node1" presStyleIdx="4" presStyleCnt="5">
        <dgm:presLayoutVars>
          <dgm:bulletEnabled val="1"/>
        </dgm:presLayoutVars>
      </dgm:prSet>
      <dgm:spPr/>
      <dgm:t>
        <a:bodyPr/>
        <a:lstStyle/>
        <a:p>
          <a:endParaRPr lang="en-US"/>
        </a:p>
      </dgm:t>
    </dgm:pt>
    <dgm:pt modelId="{162BC6BD-9E46-5641-84CD-5E3D47A23890}" type="pres">
      <dgm:prSet presAssocID="{182E028C-3F41-4985-A5FB-D72A5048EDD3}" presName="FiveNodes_5_text" presStyleLbl="node1" presStyleIdx="4" presStyleCnt="5">
        <dgm:presLayoutVars>
          <dgm:bulletEnabled val="1"/>
        </dgm:presLayoutVars>
      </dgm:prSet>
      <dgm:spPr/>
      <dgm:t>
        <a:bodyPr/>
        <a:lstStyle/>
        <a:p>
          <a:endParaRPr lang="en-US"/>
        </a:p>
      </dgm:t>
    </dgm:pt>
  </dgm:ptLst>
  <dgm:cxnLst>
    <dgm:cxn modelId="{6B9FF18F-B91D-B34E-81BE-CBC1886B2EEB}" type="presOf" srcId="{D23CF689-ACC6-4612-9559-49A3F5DC94D7}" destId="{B60AFD01-B7DB-5240-8537-6E9B5A4ABC68}" srcOrd="0" destOrd="0" presId="urn:microsoft.com/office/officeart/2005/8/layout/vProcess5"/>
    <dgm:cxn modelId="{368A64A9-9324-CB42-8518-2B1EFE265BB4}" type="presOf" srcId="{063E1DD5-BF2C-4759-B838-01B67DE04927}" destId="{97BA629F-6B24-464E-ABCF-11265961A4A0}" srcOrd="0" destOrd="0" presId="urn:microsoft.com/office/officeart/2005/8/layout/vProcess5"/>
    <dgm:cxn modelId="{E4133738-EEDE-2947-B18F-9B0B46DF798A}" type="presOf" srcId="{088E8E88-E140-4095-8E83-76A9B6B6829E}" destId="{52933BDB-30E0-EE4C-BC0F-0C2846F42233}" srcOrd="0" destOrd="0" presId="urn:microsoft.com/office/officeart/2005/8/layout/vProcess5"/>
    <dgm:cxn modelId="{2641081B-AB5A-4903-B57C-0D08B6F29EC9}" srcId="{182E028C-3F41-4985-A5FB-D72A5048EDD3}" destId="{E73E7A98-2806-433D-95AB-6841A15D45BF}" srcOrd="0" destOrd="0" parTransId="{BEABD161-1408-4766-ACB6-76A0C16B4E97}" sibTransId="{A73CC8C5-F221-40F2-A983-4736664351D5}"/>
    <dgm:cxn modelId="{04D21717-64E7-B243-B2F3-FFB1A500EE70}" type="presOf" srcId="{A73CC8C5-F221-40F2-A983-4736664351D5}" destId="{AB05FB31-776C-9E42-B32B-3B1DBCF36D12}" srcOrd="0" destOrd="0" presId="urn:microsoft.com/office/officeart/2005/8/layout/vProcess5"/>
    <dgm:cxn modelId="{827BB9F4-C725-4E6D-8988-670B37C854F7}" srcId="{182E028C-3F41-4985-A5FB-D72A5048EDD3}" destId="{09F570B5-00EE-4AA3-93F5-62F000436313}" srcOrd="6" destOrd="0" parTransId="{C8CB047A-D693-460C-A633-48092F52674D}" sibTransId="{3461F542-702D-4ADE-959F-A2C50040019B}"/>
    <dgm:cxn modelId="{00C92361-70C2-8341-B533-EBD60AFFB5CA}" type="presOf" srcId="{182E028C-3F41-4985-A5FB-D72A5048EDD3}" destId="{54AD508B-2FD6-2E4E-B3DD-3247F915D564}" srcOrd="0" destOrd="0" presId="urn:microsoft.com/office/officeart/2005/8/layout/vProcess5"/>
    <dgm:cxn modelId="{32D5007C-ECC6-2A4F-8596-9099A2ACFF00}" type="presOf" srcId="{D23CF689-ACC6-4612-9559-49A3F5DC94D7}" destId="{C54BE760-3F17-4147-85D6-FFB004C8E653}" srcOrd="1" destOrd="0" presId="urn:microsoft.com/office/officeart/2005/8/layout/vProcess5"/>
    <dgm:cxn modelId="{E80F7C7F-0D0C-3442-9334-8A945CC20A06}" type="presOf" srcId="{4700DBAA-A38C-4CC2-BEF2-57DE5EDD022D}" destId="{BFE25CFA-7CD1-CE43-A4BC-CF9E13AFFF13}" srcOrd="0" destOrd="0" presId="urn:microsoft.com/office/officeart/2005/8/layout/vProcess5"/>
    <dgm:cxn modelId="{8AC64225-491B-4C6F-8594-D7A4A901051E}" srcId="{182E028C-3F41-4985-A5FB-D72A5048EDD3}" destId="{D23CF689-ACC6-4612-9559-49A3F5DC94D7}" srcOrd="1" destOrd="0" parTransId="{2C14ABD6-5968-442E-87A4-7FB8F7E92771}" sibTransId="{063E1DD5-BF2C-4759-B838-01B67DE04927}"/>
    <dgm:cxn modelId="{97A5BF8A-0BDB-9146-9273-3A6B98A7B228}" type="presOf" srcId="{25F244A0-326C-418D-99BA-F83A6FB6D3F7}" destId="{77894768-8978-814B-812C-2B4203675C61}" srcOrd="0" destOrd="0" presId="urn:microsoft.com/office/officeart/2005/8/layout/vProcess5"/>
    <dgm:cxn modelId="{44B8C50C-E54B-457B-B5AA-FF20E76ED773}" srcId="{182E028C-3F41-4985-A5FB-D72A5048EDD3}" destId="{D3281C6C-636B-449B-B731-7010AFCF96C6}" srcOrd="7" destOrd="0" parTransId="{EED3E277-1B21-420E-B4A1-27484BC753D8}" sibTransId="{97A8F5C1-362D-40C7-9D1D-B2C9D6C032B9}"/>
    <dgm:cxn modelId="{241921EE-CF50-4942-906F-23B384E00ED1}" type="presOf" srcId="{FDB25D57-7D8F-40F2-B73D-5C7B528D797A}" destId="{8261E48C-DC92-704E-BFD5-23BB4D60B27C}" srcOrd="0" destOrd="0" presId="urn:microsoft.com/office/officeart/2005/8/layout/vProcess5"/>
    <dgm:cxn modelId="{C5EA8219-CEF6-324E-AFAB-F138F292ADBD}" type="presOf" srcId="{83355CAF-70FD-439E-9821-0BF837FCB001}" destId="{2770D826-4E44-6B4D-831E-3F885CF64187}" srcOrd="0" destOrd="0" presId="urn:microsoft.com/office/officeart/2005/8/layout/vProcess5"/>
    <dgm:cxn modelId="{5956089D-6C64-444D-BECB-F3D38CD999F7}" srcId="{182E028C-3F41-4985-A5FB-D72A5048EDD3}" destId="{83355CAF-70FD-439E-9821-0BF837FCB001}" srcOrd="2" destOrd="0" parTransId="{B8BBE88F-B736-4576-B0A1-5FAA9A0A23ED}" sibTransId="{4700DBAA-A38C-4CC2-BEF2-57DE5EDD022D}"/>
    <dgm:cxn modelId="{6EB87E55-E0C7-6A4C-8C04-84A0B862E0A1}" type="presOf" srcId="{088E8E88-E140-4095-8E83-76A9B6B6829E}" destId="{5994F6BB-3B1A-9843-A6DE-32066DCED899}" srcOrd="1" destOrd="0" presId="urn:microsoft.com/office/officeart/2005/8/layout/vProcess5"/>
    <dgm:cxn modelId="{6068A822-EFC2-4842-8B6B-18F1A5A9B341}" type="presOf" srcId="{FDB25D57-7D8F-40F2-B73D-5C7B528D797A}" destId="{162BC6BD-9E46-5641-84CD-5E3D47A23890}" srcOrd="1" destOrd="0" presId="urn:microsoft.com/office/officeart/2005/8/layout/vProcess5"/>
    <dgm:cxn modelId="{CAEA43CB-61D4-41CF-A008-8A220663B854}" srcId="{182E028C-3F41-4985-A5FB-D72A5048EDD3}" destId="{088E8E88-E140-4095-8E83-76A9B6B6829E}" srcOrd="3" destOrd="0" parTransId="{357FCDB6-1D63-4C11-BCC0-BBD2154CC115}" sibTransId="{25F244A0-326C-418D-99BA-F83A6FB6D3F7}"/>
    <dgm:cxn modelId="{166DF4B2-F443-254E-BBDD-55BF5477C2FB}" type="presOf" srcId="{83355CAF-70FD-439E-9821-0BF837FCB001}" destId="{44FEAEA1-DDAC-FA47-9E16-6352ABE0DAF6}" srcOrd="1" destOrd="0" presId="urn:microsoft.com/office/officeart/2005/8/layout/vProcess5"/>
    <dgm:cxn modelId="{DFA85BAA-C53D-40C1-8AFD-C903FA4E3386}" srcId="{182E028C-3F41-4985-A5FB-D72A5048EDD3}" destId="{FDB25D57-7D8F-40F2-B73D-5C7B528D797A}" srcOrd="4" destOrd="0" parTransId="{30D895EC-3538-4145-A88D-EDC41ABF32CD}" sibTransId="{E4CE20BB-73BB-4FDC-A9DE-8A5CE9C0C078}"/>
    <dgm:cxn modelId="{A45416C6-8EF6-44D8-9C32-DDB15462E3FD}" srcId="{182E028C-3F41-4985-A5FB-D72A5048EDD3}" destId="{1C49A373-4A94-4F42-993A-67BF073DCF95}" srcOrd="5" destOrd="0" parTransId="{00956EC3-9992-4186-B0A1-4C33FEF8BD2B}" sibTransId="{7F2D861B-1050-42D1-A153-162BB9B4DAEC}"/>
    <dgm:cxn modelId="{8A33A08D-3B0C-D745-8536-46E6644B3064}" type="presOf" srcId="{E73E7A98-2806-433D-95AB-6841A15D45BF}" destId="{52BEC61E-CE3E-2A40-B9CE-82094D413500}" srcOrd="0" destOrd="0" presId="urn:microsoft.com/office/officeart/2005/8/layout/vProcess5"/>
    <dgm:cxn modelId="{2742C332-8FB9-3442-B2B9-49D7C9D41484}" type="presOf" srcId="{E73E7A98-2806-433D-95AB-6841A15D45BF}" destId="{17597905-B99F-9644-BD3F-6A6D175B9319}" srcOrd="1" destOrd="0" presId="urn:microsoft.com/office/officeart/2005/8/layout/vProcess5"/>
    <dgm:cxn modelId="{C9132183-E6F6-FD45-B694-044FF2CB5E66}" type="presParOf" srcId="{54AD508B-2FD6-2E4E-B3DD-3247F915D564}" destId="{FADE7B12-3162-414B-AAA7-0A3205515E50}" srcOrd="0" destOrd="0" presId="urn:microsoft.com/office/officeart/2005/8/layout/vProcess5"/>
    <dgm:cxn modelId="{8DD42996-8A9C-2B41-962F-3AD1374A2A2B}" type="presParOf" srcId="{54AD508B-2FD6-2E4E-B3DD-3247F915D564}" destId="{52BEC61E-CE3E-2A40-B9CE-82094D413500}" srcOrd="1" destOrd="0" presId="urn:microsoft.com/office/officeart/2005/8/layout/vProcess5"/>
    <dgm:cxn modelId="{A6AAA73A-AFFB-C848-914A-77C70171606D}" type="presParOf" srcId="{54AD508B-2FD6-2E4E-B3DD-3247F915D564}" destId="{B60AFD01-B7DB-5240-8537-6E9B5A4ABC68}" srcOrd="2" destOrd="0" presId="urn:microsoft.com/office/officeart/2005/8/layout/vProcess5"/>
    <dgm:cxn modelId="{449890A4-9903-4B44-8732-37A303C15739}" type="presParOf" srcId="{54AD508B-2FD6-2E4E-B3DD-3247F915D564}" destId="{2770D826-4E44-6B4D-831E-3F885CF64187}" srcOrd="3" destOrd="0" presId="urn:microsoft.com/office/officeart/2005/8/layout/vProcess5"/>
    <dgm:cxn modelId="{3637FF68-89D4-5A46-8E8B-9B0B5B320224}" type="presParOf" srcId="{54AD508B-2FD6-2E4E-B3DD-3247F915D564}" destId="{52933BDB-30E0-EE4C-BC0F-0C2846F42233}" srcOrd="4" destOrd="0" presId="urn:microsoft.com/office/officeart/2005/8/layout/vProcess5"/>
    <dgm:cxn modelId="{C5DF8718-8202-C643-9E1B-E5E2E1C69406}" type="presParOf" srcId="{54AD508B-2FD6-2E4E-B3DD-3247F915D564}" destId="{8261E48C-DC92-704E-BFD5-23BB4D60B27C}" srcOrd="5" destOrd="0" presId="urn:microsoft.com/office/officeart/2005/8/layout/vProcess5"/>
    <dgm:cxn modelId="{31BC1E6E-689C-5F41-BE76-15BFD0643D5F}" type="presParOf" srcId="{54AD508B-2FD6-2E4E-B3DD-3247F915D564}" destId="{AB05FB31-776C-9E42-B32B-3B1DBCF36D12}" srcOrd="6" destOrd="0" presId="urn:microsoft.com/office/officeart/2005/8/layout/vProcess5"/>
    <dgm:cxn modelId="{82473B13-6384-9041-8064-9BD67198F908}" type="presParOf" srcId="{54AD508B-2FD6-2E4E-B3DD-3247F915D564}" destId="{97BA629F-6B24-464E-ABCF-11265961A4A0}" srcOrd="7" destOrd="0" presId="urn:microsoft.com/office/officeart/2005/8/layout/vProcess5"/>
    <dgm:cxn modelId="{42580597-1FA0-C341-B59F-27E960292E69}" type="presParOf" srcId="{54AD508B-2FD6-2E4E-B3DD-3247F915D564}" destId="{BFE25CFA-7CD1-CE43-A4BC-CF9E13AFFF13}" srcOrd="8" destOrd="0" presId="urn:microsoft.com/office/officeart/2005/8/layout/vProcess5"/>
    <dgm:cxn modelId="{387BF537-69C0-8E4B-9793-A40894F814E0}" type="presParOf" srcId="{54AD508B-2FD6-2E4E-B3DD-3247F915D564}" destId="{77894768-8978-814B-812C-2B4203675C61}" srcOrd="9" destOrd="0" presId="urn:microsoft.com/office/officeart/2005/8/layout/vProcess5"/>
    <dgm:cxn modelId="{CF3FDB97-A9EF-014E-B2CE-771526B4B37C}" type="presParOf" srcId="{54AD508B-2FD6-2E4E-B3DD-3247F915D564}" destId="{17597905-B99F-9644-BD3F-6A6D175B9319}" srcOrd="10" destOrd="0" presId="urn:microsoft.com/office/officeart/2005/8/layout/vProcess5"/>
    <dgm:cxn modelId="{B116A4C7-7A2A-8F4C-BA96-38A29446B50F}" type="presParOf" srcId="{54AD508B-2FD6-2E4E-B3DD-3247F915D564}" destId="{C54BE760-3F17-4147-85D6-FFB004C8E653}" srcOrd="11" destOrd="0" presId="urn:microsoft.com/office/officeart/2005/8/layout/vProcess5"/>
    <dgm:cxn modelId="{5B5D7E0D-9B0B-D94F-92F3-ED9B926C4B33}" type="presParOf" srcId="{54AD508B-2FD6-2E4E-B3DD-3247F915D564}" destId="{44FEAEA1-DDAC-FA47-9E16-6352ABE0DAF6}" srcOrd="12" destOrd="0" presId="urn:microsoft.com/office/officeart/2005/8/layout/vProcess5"/>
    <dgm:cxn modelId="{25EBC3A1-196D-2845-969C-7D2C086A0E7C}" type="presParOf" srcId="{54AD508B-2FD6-2E4E-B3DD-3247F915D564}" destId="{5994F6BB-3B1A-9843-A6DE-32066DCED899}" srcOrd="13" destOrd="0" presId="urn:microsoft.com/office/officeart/2005/8/layout/vProcess5"/>
    <dgm:cxn modelId="{75CA90C5-59A3-E044-B744-B2FD15E024E2}" type="presParOf" srcId="{54AD508B-2FD6-2E4E-B3DD-3247F915D564}" destId="{162BC6BD-9E46-5641-84CD-5E3D47A23890}"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BEC61E-CE3E-2A40-B9CE-82094D413500}">
      <dsp:nvSpPr>
        <dsp:cNvPr id="0" name=""/>
        <dsp:cNvSpPr/>
      </dsp:nvSpPr>
      <dsp:spPr>
        <a:xfrm>
          <a:off x="0" y="0"/>
          <a:ext cx="2926659" cy="774623"/>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a:lnSpc>
              <a:spcPct val="90000"/>
            </a:lnSpc>
            <a:spcBef>
              <a:spcPct val="0"/>
            </a:spcBef>
            <a:spcAft>
              <a:spcPct val="35000"/>
            </a:spcAft>
          </a:pPr>
          <a:r>
            <a:rPr lang="en-US" sz="1800" kern="1200" dirty="0"/>
            <a:t>Search for project</a:t>
          </a:r>
        </a:p>
      </dsp:txBody>
      <dsp:txXfrm>
        <a:off x="22688" y="22688"/>
        <a:ext cx="2000148" cy="729247"/>
      </dsp:txXfrm>
    </dsp:sp>
    <dsp:sp modelId="{B60AFD01-B7DB-5240-8537-6E9B5A4ABC68}">
      <dsp:nvSpPr>
        <dsp:cNvPr id="0" name=""/>
        <dsp:cNvSpPr/>
      </dsp:nvSpPr>
      <dsp:spPr>
        <a:xfrm>
          <a:off x="218549" y="882210"/>
          <a:ext cx="2926659" cy="774623"/>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a:lnSpc>
              <a:spcPct val="90000"/>
            </a:lnSpc>
            <a:spcBef>
              <a:spcPct val="0"/>
            </a:spcBef>
            <a:spcAft>
              <a:spcPct val="35000"/>
            </a:spcAft>
          </a:pPr>
          <a:r>
            <a:rPr lang="en-US" sz="1800" kern="1200" dirty="0"/>
            <a:t>Requirement Analysis and design</a:t>
          </a:r>
        </a:p>
      </dsp:txBody>
      <dsp:txXfrm>
        <a:off x="241237" y="904898"/>
        <a:ext cx="2159228" cy="729247"/>
      </dsp:txXfrm>
    </dsp:sp>
    <dsp:sp modelId="{2770D826-4E44-6B4D-831E-3F885CF64187}">
      <dsp:nvSpPr>
        <dsp:cNvPr id="0" name=""/>
        <dsp:cNvSpPr/>
      </dsp:nvSpPr>
      <dsp:spPr>
        <a:xfrm>
          <a:off x="437098" y="1764420"/>
          <a:ext cx="2926659" cy="774623"/>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a:lnSpc>
              <a:spcPct val="90000"/>
            </a:lnSpc>
            <a:spcBef>
              <a:spcPct val="0"/>
            </a:spcBef>
            <a:spcAft>
              <a:spcPct val="35000"/>
            </a:spcAft>
          </a:pPr>
          <a:r>
            <a:rPr lang="en-US" sz="1800" kern="1200" dirty="0"/>
            <a:t>Modules assigned to developers/teams</a:t>
          </a:r>
        </a:p>
      </dsp:txBody>
      <dsp:txXfrm>
        <a:off x="459786" y="1787108"/>
        <a:ext cx="2159228" cy="729247"/>
      </dsp:txXfrm>
    </dsp:sp>
    <dsp:sp modelId="{52933BDB-30E0-EE4C-BC0F-0C2846F42233}">
      <dsp:nvSpPr>
        <dsp:cNvPr id="0" name=""/>
        <dsp:cNvSpPr/>
      </dsp:nvSpPr>
      <dsp:spPr>
        <a:xfrm>
          <a:off x="655647" y="2646630"/>
          <a:ext cx="2926659" cy="774623"/>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a:lnSpc>
              <a:spcPct val="90000"/>
            </a:lnSpc>
            <a:spcBef>
              <a:spcPct val="0"/>
            </a:spcBef>
            <a:spcAft>
              <a:spcPct val="35000"/>
            </a:spcAft>
          </a:pPr>
          <a:r>
            <a:rPr lang="en-US" sz="1800" kern="1200" dirty="0"/>
            <a:t>Software release</a:t>
          </a:r>
        </a:p>
      </dsp:txBody>
      <dsp:txXfrm>
        <a:off x="678335" y="2669318"/>
        <a:ext cx="2159228" cy="729247"/>
      </dsp:txXfrm>
    </dsp:sp>
    <dsp:sp modelId="{8261E48C-DC92-704E-BFD5-23BB4D60B27C}">
      <dsp:nvSpPr>
        <dsp:cNvPr id="0" name=""/>
        <dsp:cNvSpPr/>
      </dsp:nvSpPr>
      <dsp:spPr>
        <a:xfrm>
          <a:off x="874196" y="3528840"/>
          <a:ext cx="2926659" cy="774623"/>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a:lnSpc>
              <a:spcPct val="90000"/>
            </a:lnSpc>
            <a:spcBef>
              <a:spcPct val="0"/>
            </a:spcBef>
            <a:spcAft>
              <a:spcPct val="35000"/>
            </a:spcAft>
          </a:pPr>
          <a:r>
            <a:rPr lang="en-US" sz="1800" kern="1200" dirty="0"/>
            <a:t>Teams/developers move to new projects</a:t>
          </a:r>
        </a:p>
      </dsp:txBody>
      <dsp:txXfrm>
        <a:off x="896884" y="3551528"/>
        <a:ext cx="2159228" cy="729247"/>
      </dsp:txXfrm>
    </dsp:sp>
    <dsp:sp modelId="{AB05FB31-776C-9E42-B32B-3B1DBCF36D12}">
      <dsp:nvSpPr>
        <dsp:cNvPr id="0" name=""/>
        <dsp:cNvSpPr/>
      </dsp:nvSpPr>
      <dsp:spPr>
        <a:xfrm>
          <a:off x="2423153" y="565905"/>
          <a:ext cx="503505" cy="503505"/>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lvl="0" algn="ctr" defTabSz="977900">
            <a:lnSpc>
              <a:spcPct val="90000"/>
            </a:lnSpc>
            <a:spcBef>
              <a:spcPct val="0"/>
            </a:spcBef>
            <a:spcAft>
              <a:spcPct val="35000"/>
            </a:spcAft>
          </a:pPr>
          <a:endParaRPr lang="en-US" sz="2200" kern="1200"/>
        </a:p>
      </dsp:txBody>
      <dsp:txXfrm>
        <a:off x="2536442" y="565905"/>
        <a:ext cx="276927" cy="378888"/>
      </dsp:txXfrm>
    </dsp:sp>
    <dsp:sp modelId="{97BA629F-6B24-464E-ABCF-11265961A4A0}">
      <dsp:nvSpPr>
        <dsp:cNvPr id="0" name=""/>
        <dsp:cNvSpPr/>
      </dsp:nvSpPr>
      <dsp:spPr>
        <a:xfrm>
          <a:off x="2641703" y="1448115"/>
          <a:ext cx="503505" cy="503505"/>
        </a:xfrm>
        <a:prstGeom prst="downArrow">
          <a:avLst>
            <a:gd name="adj1" fmla="val 55000"/>
            <a:gd name="adj2" fmla="val 45000"/>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lvl="0" algn="ctr" defTabSz="977900">
            <a:lnSpc>
              <a:spcPct val="90000"/>
            </a:lnSpc>
            <a:spcBef>
              <a:spcPct val="0"/>
            </a:spcBef>
            <a:spcAft>
              <a:spcPct val="35000"/>
            </a:spcAft>
          </a:pPr>
          <a:endParaRPr lang="en-US" sz="2200" kern="1200"/>
        </a:p>
      </dsp:txBody>
      <dsp:txXfrm>
        <a:off x="2754992" y="1448115"/>
        <a:ext cx="276927" cy="378888"/>
      </dsp:txXfrm>
    </dsp:sp>
    <dsp:sp modelId="{BFE25CFA-7CD1-CE43-A4BC-CF9E13AFFF13}">
      <dsp:nvSpPr>
        <dsp:cNvPr id="0" name=""/>
        <dsp:cNvSpPr/>
      </dsp:nvSpPr>
      <dsp:spPr>
        <a:xfrm>
          <a:off x="2860252" y="2317415"/>
          <a:ext cx="503505" cy="503505"/>
        </a:xfrm>
        <a:prstGeom prst="downArrow">
          <a:avLst>
            <a:gd name="adj1" fmla="val 55000"/>
            <a:gd name="adj2" fmla="val 45000"/>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lvl="0" algn="ctr" defTabSz="977900">
            <a:lnSpc>
              <a:spcPct val="90000"/>
            </a:lnSpc>
            <a:spcBef>
              <a:spcPct val="0"/>
            </a:spcBef>
            <a:spcAft>
              <a:spcPct val="35000"/>
            </a:spcAft>
          </a:pPr>
          <a:endParaRPr lang="en-US" sz="2200" kern="1200"/>
        </a:p>
      </dsp:txBody>
      <dsp:txXfrm>
        <a:off x="2973541" y="2317415"/>
        <a:ext cx="276927" cy="378888"/>
      </dsp:txXfrm>
    </dsp:sp>
    <dsp:sp modelId="{77894768-8978-814B-812C-2B4203675C61}">
      <dsp:nvSpPr>
        <dsp:cNvPr id="0" name=""/>
        <dsp:cNvSpPr/>
      </dsp:nvSpPr>
      <dsp:spPr>
        <a:xfrm>
          <a:off x="3078801" y="3208232"/>
          <a:ext cx="503505" cy="503505"/>
        </a:xfrm>
        <a:prstGeom prst="downArrow">
          <a:avLst>
            <a:gd name="adj1" fmla="val 55000"/>
            <a:gd name="adj2" fmla="val 45000"/>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lvl="0" algn="ctr" defTabSz="977900">
            <a:lnSpc>
              <a:spcPct val="90000"/>
            </a:lnSpc>
            <a:spcBef>
              <a:spcPct val="0"/>
            </a:spcBef>
            <a:spcAft>
              <a:spcPct val="35000"/>
            </a:spcAft>
          </a:pPr>
          <a:endParaRPr lang="en-US" sz="2200" kern="1200"/>
        </a:p>
      </dsp:txBody>
      <dsp:txXfrm>
        <a:off x="3192090" y="3208232"/>
        <a:ext cx="276927" cy="378888"/>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x-non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B77550-ED4A-5348-AB79-4F30BDEB5BDE}" type="datetimeFigureOut">
              <a:rPr lang="x-none" smtClean="0"/>
              <a:t>11/22/2022</a:t>
            </a:fld>
            <a:endParaRPr lang="x-non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x-non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CC6A2C-6D46-474D-BCC5-C205DA9DA6A3}" type="slidenum">
              <a:rPr lang="x-none" smtClean="0"/>
              <a:t>‹#›</a:t>
            </a:fld>
            <a:endParaRPr lang="x-none"/>
          </a:p>
        </p:txBody>
      </p:sp>
    </p:spTree>
    <p:extLst>
      <p:ext uri="{BB962C8B-B14F-4D97-AF65-F5344CB8AC3E}">
        <p14:creationId xmlns:p14="http://schemas.microsoft.com/office/powerpoint/2010/main" val="26068404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54CC6A2C-6D46-474D-BCC5-C205DA9DA6A3}" type="slidenum">
              <a:rPr lang="x-none" smtClean="0"/>
              <a:t>2</a:t>
            </a:fld>
            <a:endParaRPr lang="x-none"/>
          </a:p>
        </p:txBody>
      </p:sp>
    </p:spTree>
    <p:extLst>
      <p:ext uri="{BB962C8B-B14F-4D97-AF65-F5344CB8AC3E}">
        <p14:creationId xmlns:p14="http://schemas.microsoft.com/office/powerpoint/2010/main" val="33446811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54CC6A2C-6D46-474D-BCC5-C205DA9DA6A3}" type="slidenum">
              <a:rPr lang="x-none" smtClean="0"/>
              <a:t>6</a:t>
            </a:fld>
            <a:endParaRPr lang="x-none"/>
          </a:p>
        </p:txBody>
      </p:sp>
    </p:spTree>
    <p:extLst>
      <p:ext uri="{BB962C8B-B14F-4D97-AF65-F5344CB8AC3E}">
        <p14:creationId xmlns:p14="http://schemas.microsoft.com/office/powerpoint/2010/main" val="29466396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54CC6A2C-6D46-474D-BCC5-C205DA9DA6A3}" type="slidenum">
              <a:rPr lang="x-none" smtClean="0"/>
              <a:t>7</a:t>
            </a:fld>
            <a:endParaRPr lang="x-none"/>
          </a:p>
        </p:txBody>
      </p:sp>
    </p:spTree>
    <p:extLst>
      <p:ext uri="{BB962C8B-B14F-4D97-AF65-F5344CB8AC3E}">
        <p14:creationId xmlns:p14="http://schemas.microsoft.com/office/powerpoint/2010/main" val="8380362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54CC6A2C-6D46-474D-BCC5-C205DA9DA6A3}" type="slidenum">
              <a:rPr lang="x-none" smtClean="0"/>
              <a:t>15</a:t>
            </a:fld>
            <a:endParaRPr lang="x-none"/>
          </a:p>
        </p:txBody>
      </p:sp>
    </p:spTree>
    <p:extLst>
      <p:ext uri="{BB962C8B-B14F-4D97-AF65-F5344CB8AC3E}">
        <p14:creationId xmlns:p14="http://schemas.microsoft.com/office/powerpoint/2010/main" val="14843986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54CC6A2C-6D46-474D-BCC5-C205DA9DA6A3}" type="slidenum">
              <a:rPr lang="x-none" smtClean="0"/>
              <a:t>16</a:t>
            </a:fld>
            <a:endParaRPr lang="x-none"/>
          </a:p>
        </p:txBody>
      </p:sp>
    </p:spTree>
    <p:extLst>
      <p:ext uri="{BB962C8B-B14F-4D97-AF65-F5344CB8AC3E}">
        <p14:creationId xmlns:p14="http://schemas.microsoft.com/office/powerpoint/2010/main" val="41037578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54CC6A2C-6D46-474D-BCC5-C205DA9DA6A3}" type="slidenum">
              <a:rPr lang="x-none" smtClean="0"/>
              <a:t>17</a:t>
            </a:fld>
            <a:endParaRPr lang="x-none"/>
          </a:p>
        </p:txBody>
      </p:sp>
    </p:spTree>
    <p:extLst>
      <p:ext uri="{BB962C8B-B14F-4D97-AF65-F5344CB8AC3E}">
        <p14:creationId xmlns:p14="http://schemas.microsoft.com/office/powerpoint/2010/main" val="36134843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4CC6A2C-6D46-474D-BCC5-C205DA9DA6A3}" type="slidenum">
              <a:rPr lang="x-none" smtClean="0"/>
              <a:t>19</a:t>
            </a:fld>
            <a:endParaRPr lang="x-none"/>
          </a:p>
        </p:txBody>
      </p:sp>
    </p:spTree>
    <p:extLst>
      <p:ext uri="{BB962C8B-B14F-4D97-AF65-F5344CB8AC3E}">
        <p14:creationId xmlns:p14="http://schemas.microsoft.com/office/powerpoint/2010/main" val="39896061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4CC6A2C-6D46-474D-BCC5-C205DA9DA6A3}" type="slidenum">
              <a:rPr lang="x-none" smtClean="0"/>
              <a:t>20</a:t>
            </a:fld>
            <a:endParaRPr lang="x-none"/>
          </a:p>
        </p:txBody>
      </p:sp>
    </p:spTree>
    <p:extLst>
      <p:ext uri="{BB962C8B-B14F-4D97-AF65-F5344CB8AC3E}">
        <p14:creationId xmlns:p14="http://schemas.microsoft.com/office/powerpoint/2010/main" val="21930518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4CC6A2C-6D46-474D-BCC5-C205DA9DA6A3}" type="slidenum">
              <a:rPr lang="x-none" smtClean="0"/>
              <a:t>21</a:t>
            </a:fld>
            <a:endParaRPr lang="x-none"/>
          </a:p>
        </p:txBody>
      </p:sp>
    </p:spTree>
    <p:extLst>
      <p:ext uri="{BB962C8B-B14F-4D97-AF65-F5344CB8AC3E}">
        <p14:creationId xmlns:p14="http://schemas.microsoft.com/office/powerpoint/2010/main" val="24212203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4CC6A2C-6D46-474D-BCC5-C205DA9DA6A3}" type="slidenum">
              <a:rPr lang="x-none" smtClean="0"/>
              <a:t>22</a:t>
            </a:fld>
            <a:endParaRPr lang="x-none"/>
          </a:p>
        </p:txBody>
      </p:sp>
    </p:spTree>
    <p:extLst>
      <p:ext uri="{BB962C8B-B14F-4D97-AF65-F5344CB8AC3E}">
        <p14:creationId xmlns:p14="http://schemas.microsoft.com/office/powerpoint/2010/main" val="33935533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4CC6A2C-6D46-474D-BCC5-C205DA9DA6A3}" type="slidenum">
              <a:rPr lang="x-none" smtClean="0"/>
              <a:t>23</a:t>
            </a:fld>
            <a:endParaRPr lang="x-none"/>
          </a:p>
        </p:txBody>
      </p:sp>
    </p:spTree>
    <p:extLst>
      <p:ext uri="{BB962C8B-B14F-4D97-AF65-F5344CB8AC3E}">
        <p14:creationId xmlns:p14="http://schemas.microsoft.com/office/powerpoint/2010/main" val="30639139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4CC6A2C-6D46-474D-BCC5-C205DA9DA6A3}" type="slidenum">
              <a:rPr lang="x-none" smtClean="0"/>
              <a:t>24</a:t>
            </a:fld>
            <a:endParaRPr lang="x-none"/>
          </a:p>
        </p:txBody>
      </p:sp>
    </p:spTree>
    <p:extLst>
      <p:ext uri="{BB962C8B-B14F-4D97-AF65-F5344CB8AC3E}">
        <p14:creationId xmlns:p14="http://schemas.microsoft.com/office/powerpoint/2010/main" val="42407778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4CC6A2C-6D46-474D-BCC5-C205DA9DA6A3}" type="slidenum">
              <a:rPr lang="x-none" smtClean="0"/>
              <a:t>25</a:t>
            </a:fld>
            <a:endParaRPr lang="x-none"/>
          </a:p>
        </p:txBody>
      </p:sp>
    </p:spTree>
    <p:extLst>
      <p:ext uri="{BB962C8B-B14F-4D97-AF65-F5344CB8AC3E}">
        <p14:creationId xmlns:p14="http://schemas.microsoft.com/office/powerpoint/2010/main" val="32628526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4CC6A2C-6D46-474D-BCC5-C205DA9DA6A3}" type="slidenum">
              <a:rPr lang="x-none" smtClean="0"/>
              <a:t>26</a:t>
            </a:fld>
            <a:endParaRPr lang="x-none"/>
          </a:p>
        </p:txBody>
      </p:sp>
    </p:spTree>
    <p:extLst>
      <p:ext uri="{BB962C8B-B14F-4D97-AF65-F5344CB8AC3E}">
        <p14:creationId xmlns:p14="http://schemas.microsoft.com/office/powerpoint/2010/main" val="27355158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4CC6A2C-6D46-474D-BCC5-C205DA9DA6A3}" type="slidenum">
              <a:rPr lang="x-none" smtClean="0"/>
              <a:t>27</a:t>
            </a:fld>
            <a:endParaRPr lang="x-none"/>
          </a:p>
        </p:txBody>
      </p:sp>
    </p:spTree>
    <p:extLst>
      <p:ext uri="{BB962C8B-B14F-4D97-AF65-F5344CB8AC3E}">
        <p14:creationId xmlns:p14="http://schemas.microsoft.com/office/powerpoint/2010/main" val="17456390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4CC6A2C-6D46-474D-BCC5-C205DA9DA6A3}" type="slidenum">
              <a:rPr lang="x-none" smtClean="0"/>
              <a:t>28</a:t>
            </a:fld>
            <a:endParaRPr lang="x-none"/>
          </a:p>
        </p:txBody>
      </p:sp>
    </p:spTree>
    <p:extLst>
      <p:ext uri="{BB962C8B-B14F-4D97-AF65-F5344CB8AC3E}">
        <p14:creationId xmlns:p14="http://schemas.microsoft.com/office/powerpoint/2010/main" val="29983975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7ED264D-F1CD-4A0E-86DE-829D531D8CC1}" type="datetimeFigureOut">
              <a:rPr lang="en-US" smtClean="0"/>
              <a:t>11/22/2022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1452378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ED264D-F1CD-4A0E-86DE-829D531D8CC1}" type="datetimeFigureOut">
              <a:rPr lang="en-US" smtClean="0"/>
              <a:t>11/22/2022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2195129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ED264D-F1CD-4A0E-86DE-829D531D8CC1}" type="datetimeFigureOut">
              <a:rPr lang="en-US" smtClean="0"/>
              <a:t>11/22/2022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1730313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7ED264D-F1CD-4A0E-86DE-829D531D8CC1}" type="datetimeFigureOut">
              <a:rPr lang="en-US" smtClean="0"/>
              <a:t>11/22/2022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6849834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7ED264D-F1CD-4A0E-86DE-829D531D8CC1}" type="datetimeFigureOut">
              <a:rPr lang="en-US" smtClean="0"/>
              <a:t>11/22/2022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945637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7ED264D-F1CD-4A0E-86DE-829D531D8CC1}" type="datetimeFigureOut">
              <a:rPr lang="en-US" smtClean="0"/>
              <a:t>11/22/2022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1685607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ED264D-F1CD-4A0E-86DE-829D531D8CC1}" type="datetimeFigureOut">
              <a:rPr lang="en-US" smtClean="0"/>
              <a:t>11/22/2022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3444612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ED264D-F1CD-4A0E-86DE-829D531D8CC1}" type="datetimeFigureOut">
              <a:rPr lang="en-US" smtClean="0"/>
              <a:t>11/22/2022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690698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ED264D-F1CD-4A0E-86DE-829D531D8CC1}" type="datetimeFigureOut">
              <a:rPr lang="en-US" smtClean="0"/>
              <a:t>11/22/2022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920315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ED264D-F1CD-4A0E-86DE-829D531D8CC1}" type="datetimeFigureOut">
              <a:rPr lang="en-US" smtClean="0"/>
              <a:t>11/22/2022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611558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ED264D-F1CD-4A0E-86DE-829D531D8CC1}" type="datetimeFigureOut">
              <a:rPr lang="en-US" smtClean="0"/>
              <a:t>11/22/2022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6300288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ED264D-F1CD-4A0E-86DE-829D531D8CC1}" type="datetimeFigureOut">
              <a:rPr lang="en-US" smtClean="0"/>
              <a:t>11/22/2022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F331B4-1EE6-4448-AE73-C8BAED0E2A35}" type="slidenum">
              <a:rPr lang="en-US" smtClean="0"/>
              <a:t>‹#›</a:t>
            </a:fld>
            <a:endParaRPr lang="en-US"/>
          </a:p>
        </p:txBody>
      </p:sp>
    </p:spTree>
    <p:extLst>
      <p:ext uri="{BB962C8B-B14F-4D97-AF65-F5344CB8AC3E}">
        <p14:creationId xmlns:p14="http://schemas.microsoft.com/office/powerpoint/2010/main" val="18084766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techbeacon.com/app-dev-testing/13-ways-motivate-software-engineers" TargetMode="External"/><Relationship Id="rId2" Type="http://schemas.openxmlformats.org/officeDocument/2006/relationships/hyperlink" Target="https://churchjobfinder.com/seven-common-elements-healthy-team-ron-edmondson/" TargetMode="External"/><Relationship Id="rId1" Type="http://schemas.openxmlformats.org/officeDocument/2006/relationships/slideLayout" Target="../slideLayouts/slideLayout2.xml"/><Relationship Id="rId4" Type="http://schemas.openxmlformats.org/officeDocument/2006/relationships/hyperlink" Target="https://www.forbes.com/sites/brentgleeson/2019/03/14/15-characteristics-of-high-performance-teams/?sh=5916f6cc6ae0"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Professional Practices</a:t>
            </a:r>
          </a:p>
        </p:txBody>
      </p:sp>
      <p:sp>
        <p:nvSpPr>
          <p:cNvPr id="3" name="Subtitle 2"/>
          <p:cNvSpPr>
            <a:spLocks noGrp="1"/>
          </p:cNvSpPr>
          <p:nvPr>
            <p:ph type="subTitle" idx="1"/>
          </p:nvPr>
        </p:nvSpPr>
        <p:spPr/>
        <p:txBody>
          <a:bodyPr/>
          <a:lstStyle/>
          <a:p>
            <a:r>
              <a:rPr lang="en-US" sz="5400" dirty="0"/>
              <a:t>Software House Structure</a:t>
            </a:r>
          </a:p>
          <a:p>
            <a:endParaRPr lang="en-US" dirty="0"/>
          </a:p>
        </p:txBody>
      </p:sp>
    </p:spTree>
    <p:extLst>
      <p:ext uri="{BB962C8B-B14F-4D97-AF65-F5344CB8AC3E}">
        <p14:creationId xmlns:p14="http://schemas.microsoft.com/office/powerpoint/2010/main" val="373487023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bwMode="auto">
          <a:xfrm>
            <a:off x="932667" y="2244029"/>
            <a:ext cx="10515600" cy="6995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dirty="0"/>
              <a:t>Week 8 Lec:15</a:t>
            </a:r>
          </a:p>
        </p:txBody>
      </p:sp>
      <p:sp>
        <p:nvSpPr>
          <p:cNvPr id="3" name="Content Placeholder 2"/>
          <p:cNvSpPr>
            <a:spLocks noGrp="1"/>
          </p:cNvSpPr>
          <p:nvPr>
            <p:ph idx="1"/>
          </p:nvPr>
        </p:nvSpPr>
        <p:spPr>
          <a:xfrm>
            <a:off x="3374721" y="3238718"/>
            <a:ext cx="6946726" cy="2762032"/>
          </a:xfrm>
        </p:spPr>
        <p:txBody>
          <a:bodyPr>
            <a:normAutofit/>
          </a:bodyPr>
          <a:lstStyle/>
          <a:p>
            <a:pPr>
              <a:defRPr/>
            </a:pPr>
            <a:r>
              <a:rPr lang="en-US" dirty="0"/>
              <a:t>Anatomy, Introduction and Types of Software Companies</a:t>
            </a:r>
          </a:p>
          <a:p>
            <a:pPr>
              <a:defRPr/>
            </a:pPr>
            <a:r>
              <a:rPr lang="en-US" dirty="0"/>
              <a:t>Common Roles in Software Company</a:t>
            </a:r>
          </a:p>
          <a:p>
            <a:pPr marL="0" indent="0">
              <a:buNone/>
              <a:defRPr/>
            </a:pPr>
            <a:endParaRPr lang="en-US" dirty="0"/>
          </a:p>
          <a:p>
            <a:pPr>
              <a:defRPr/>
            </a:pPr>
            <a:endParaRPr lang="en-US" dirty="0"/>
          </a:p>
          <a:p>
            <a:pPr>
              <a:defRPr/>
            </a:pPr>
            <a:endParaRPr lang="en-US" dirty="0"/>
          </a:p>
        </p:txBody>
      </p:sp>
    </p:spTree>
    <p:extLst>
      <p:ext uri="{BB962C8B-B14F-4D97-AF65-F5344CB8AC3E}">
        <p14:creationId xmlns:p14="http://schemas.microsoft.com/office/powerpoint/2010/main" val="138200583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Anatomy?</a:t>
            </a:r>
          </a:p>
        </p:txBody>
      </p:sp>
      <p:sp>
        <p:nvSpPr>
          <p:cNvPr id="3" name="Content Placeholder 2"/>
          <p:cNvSpPr>
            <a:spLocks noGrp="1"/>
          </p:cNvSpPr>
          <p:nvPr>
            <p:ph idx="1"/>
          </p:nvPr>
        </p:nvSpPr>
        <p:spPr/>
        <p:txBody>
          <a:bodyPr>
            <a:normAutofit/>
          </a:bodyPr>
          <a:lstStyle/>
          <a:p>
            <a:pPr marL="0" indent="0" algn="just">
              <a:buNone/>
            </a:pPr>
            <a:r>
              <a:rPr lang="en-GB" dirty="0"/>
              <a:t>Study of</a:t>
            </a:r>
          </a:p>
          <a:p>
            <a:pPr algn="just"/>
            <a:r>
              <a:rPr lang="en-GB" dirty="0"/>
              <a:t>Structure </a:t>
            </a:r>
          </a:p>
          <a:p>
            <a:pPr algn="just"/>
            <a:r>
              <a:rPr lang="en-GB" dirty="0"/>
              <a:t>Organization</a:t>
            </a:r>
          </a:p>
          <a:p>
            <a:pPr algn="just"/>
            <a:r>
              <a:rPr lang="en-GB" dirty="0"/>
              <a:t>Internal working </a:t>
            </a:r>
          </a:p>
          <a:p>
            <a:pPr algn="just"/>
            <a:r>
              <a:rPr lang="en-GB" dirty="0"/>
              <a:t>Hierarchy chart</a:t>
            </a:r>
          </a:p>
          <a:p>
            <a:pPr algn="just"/>
            <a:endParaRPr lang="en-US" dirty="0"/>
          </a:p>
        </p:txBody>
      </p:sp>
    </p:spTree>
    <p:extLst>
      <p:ext uri="{BB962C8B-B14F-4D97-AF65-F5344CB8AC3E}">
        <p14:creationId xmlns:p14="http://schemas.microsoft.com/office/powerpoint/2010/main" val="132517526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22BDE4A-8A20-4A69-9C5A-581C82036A4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01684" y="170412"/>
            <a:ext cx="10178934" cy="1328730"/>
          </a:xfrm>
        </p:spPr>
        <p:txBody>
          <a:bodyPr vert="horz" lIns="91440" tIns="45720" rIns="91440" bIns="45720" rtlCol="0" anchor="b">
            <a:normAutofit/>
          </a:bodyPr>
          <a:lstStyle/>
          <a:p>
            <a:pPr algn="ctr"/>
            <a:r>
              <a:rPr lang="en-US" sz="5200" kern="1200">
                <a:solidFill>
                  <a:schemeClr val="tx1"/>
                </a:solidFill>
                <a:latin typeface="+mj-lt"/>
                <a:ea typeface="+mj-ea"/>
                <a:cs typeface="+mj-cs"/>
              </a:rPr>
              <a:t>Anatomy may look like</a:t>
            </a:r>
          </a:p>
        </p:txBody>
      </p:sp>
      <p:pic>
        <p:nvPicPr>
          <p:cNvPr id="4" name="Content Placeholder 4" descr="Diagram&#10;&#10;Description automatically generated">
            <a:extLst>
              <a:ext uri="{FF2B5EF4-FFF2-40B4-BE49-F238E27FC236}">
                <a16:creationId xmlns:a16="http://schemas.microsoft.com/office/drawing/2014/main" id="{9A0CD08A-B5EE-A64D-B162-6616807EB934}"/>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588" r="2313" b="-2"/>
          <a:stretch/>
        </p:blipFill>
        <p:spPr>
          <a:xfrm>
            <a:off x="198741" y="2410448"/>
            <a:ext cx="5803323" cy="3890357"/>
          </a:xfrm>
          <a:prstGeom prst="rect">
            <a:avLst/>
          </a:prstGeom>
        </p:spPr>
      </p:pic>
      <p:pic>
        <p:nvPicPr>
          <p:cNvPr id="5" name="Picture 4">
            <a:extLst>
              <a:ext uri="{FF2B5EF4-FFF2-40B4-BE49-F238E27FC236}">
                <a16:creationId xmlns:a16="http://schemas.microsoft.com/office/drawing/2014/main" id="{CE52B00C-85AC-F946-942A-FBBFC9A2F63D}"/>
              </a:ext>
            </a:extLst>
          </p:cNvPr>
          <p:cNvPicPr>
            <a:picLocks noChangeAspect="1"/>
          </p:cNvPicPr>
          <p:nvPr/>
        </p:nvPicPr>
        <p:blipFill rotWithShape="1">
          <a:blip r:embed="rId3">
            <a:extLst>
              <a:ext uri="{28A0092B-C50C-407E-A947-70E740481C1C}">
                <a14:useLocalDpi xmlns:a14="http://schemas.microsoft.com/office/drawing/2010/main" val="0"/>
              </a:ext>
            </a:extLst>
          </a:blip>
          <a:srcRect t="25409" r="2" b="2"/>
          <a:stretch/>
        </p:blipFill>
        <p:spPr>
          <a:xfrm flipH="1">
            <a:off x="6189934" y="2410448"/>
            <a:ext cx="5803323" cy="3890357"/>
          </a:xfrm>
          <a:prstGeom prst="rect">
            <a:avLst/>
          </a:prstGeom>
        </p:spPr>
      </p:pic>
    </p:spTree>
    <p:extLst>
      <p:ext uri="{BB962C8B-B14F-4D97-AF65-F5344CB8AC3E}">
        <p14:creationId xmlns:p14="http://schemas.microsoft.com/office/powerpoint/2010/main" val="3075291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6" presetClass="emph" presetSubtype="0" fill="hold" nodeType="clickEffect">
                                  <p:stCondLst>
                                    <p:cond delay="0"/>
                                  </p:stCondLst>
                                  <p:childTnLst>
                                    <p:animScale>
                                      <p:cBhvr>
                                        <p:cTn id="11" dur="2000" fill="hold"/>
                                        <p:tgtEl>
                                          <p:spTgt spid="5"/>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5C55F0BA-7D8B-4753-AB68-D54E59A24A9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60524" y="4081486"/>
            <a:ext cx="10464734" cy="1314159"/>
          </a:xfrm>
          <a:noFill/>
        </p:spPr>
        <p:txBody>
          <a:bodyPr vert="horz" lIns="91440" tIns="45720" rIns="91440" bIns="45720" rtlCol="0" anchor="b">
            <a:normAutofit/>
          </a:bodyPr>
          <a:lstStyle/>
          <a:p>
            <a:pPr algn="ctr"/>
            <a:r>
              <a:rPr lang="en-US" sz="4800"/>
              <a:t>Or like this… There are teams out there!</a:t>
            </a:r>
          </a:p>
        </p:txBody>
      </p:sp>
      <p:pic>
        <p:nvPicPr>
          <p:cNvPr id="11" name="Content Placeholder 3">
            <a:extLst>
              <a:ext uri="{FF2B5EF4-FFF2-40B4-BE49-F238E27FC236}">
                <a16:creationId xmlns:a16="http://schemas.microsoft.com/office/drawing/2014/main" id="{7AD8BD9A-874A-2B4F-8E7B-E93F25DFA575}"/>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r="1" b="382"/>
          <a:stretch/>
        </p:blipFill>
        <p:spPr>
          <a:xfrm>
            <a:off x="2733778" y="166651"/>
            <a:ext cx="6777732" cy="3733675"/>
          </a:xfrm>
          <a:prstGeom prst="rect">
            <a:avLst/>
          </a:prstGeom>
          <a:effectLst/>
        </p:spPr>
      </p:pic>
    </p:spTree>
    <p:extLst>
      <p:ext uri="{BB962C8B-B14F-4D97-AF65-F5344CB8AC3E}">
        <p14:creationId xmlns:p14="http://schemas.microsoft.com/office/powerpoint/2010/main" val="113954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p:txBody>
          <a:bodyPr>
            <a:normAutofit/>
          </a:bodyPr>
          <a:lstStyle/>
          <a:p>
            <a:pPr marL="0" indent="0" algn="just">
              <a:buNone/>
            </a:pPr>
            <a:r>
              <a:rPr lang="en-GB" dirty="0"/>
              <a:t>A software company is a company whose primary products are various forms of software, software technology, distribution, and software product development.</a:t>
            </a:r>
          </a:p>
          <a:p>
            <a:r>
              <a:rPr lang="en-US" dirty="0"/>
              <a:t>A software house is a company that primarily provides software products. These companies may specialize in business or consumer software or software-as-a-service (SaaS) products. </a:t>
            </a:r>
          </a:p>
          <a:p>
            <a:r>
              <a:rPr lang="en-US" dirty="0">
                <a:solidFill>
                  <a:srgbClr val="FF0000"/>
                </a:solidFill>
              </a:rPr>
              <a:t>The common definition is that the company is mainly invested in developing and distributing software products. </a:t>
            </a:r>
          </a:p>
        </p:txBody>
      </p:sp>
    </p:spTree>
    <p:extLst>
      <p:ext uri="{BB962C8B-B14F-4D97-AF65-F5344CB8AC3E}">
        <p14:creationId xmlns:p14="http://schemas.microsoft.com/office/powerpoint/2010/main" val="136451912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427AF5F-9A0E-42B7-A252-FD64C9885F9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06443"/>
          </a:xfrm>
        </p:spPr>
        <p:txBody>
          <a:bodyPr>
            <a:normAutofit/>
          </a:bodyPr>
          <a:lstStyle/>
          <a:p>
            <a:r>
              <a:rPr lang="en-US" sz="4000"/>
              <a:t>Introduction</a:t>
            </a:r>
          </a:p>
        </p:txBody>
      </p:sp>
      <p:sp>
        <p:nvSpPr>
          <p:cNvPr id="3" name="Content Placeholder 2"/>
          <p:cNvSpPr>
            <a:spLocks noGrp="1"/>
          </p:cNvSpPr>
          <p:nvPr>
            <p:ph idx="1"/>
          </p:nvPr>
        </p:nvSpPr>
        <p:spPr>
          <a:xfrm>
            <a:off x="838200" y="1825625"/>
            <a:ext cx="4152774" cy="4303464"/>
          </a:xfrm>
        </p:spPr>
        <p:txBody>
          <a:bodyPr>
            <a:normAutofit/>
          </a:bodyPr>
          <a:lstStyle/>
          <a:p>
            <a:pPr algn="just"/>
            <a:r>
              <a:rPr lang="en-GB" sz="2000" dirty="0"/>
              <a:t>A company that writes and cells software (Cambridge Dictionary)</a:t>
            </a:r>
          </a:p>
          <a:p>
            <a:pPr algn="just"/>
            <a:r>
              <a:rPr lang="en-GB" sz="2000" dirty="0"/>
              <a:t>A company or set up that is committed to software development, testing and maintenance( based on observation of your instructor)</a:t>
            </a:r>
          </a:p>
          <a:p>
            <a:r>
              <a:rPr lang="en-US" sz="2000" dirty="0">
                <a:solidFill>
                  <a:srgbClr val="C00000"/>
                </a:solidFill>
              </a:rPr>
              <a:t>How you would like to define it based on your knowledge, observation and/or experience?</a:t>
            </a:r>
          </a:p>
          <a:p>
            <a:endParaRPr lang="en-US" sz="2000" dirty="0"/>
          </a:p>
        </p:txBody>
      </p:sp>
      <p:pic>
        <p:nvPicPr>
          <p:cNvPr id="4" name="Picture 3">
            <a:extLst>
              <a:ext uri="{FF2B5EF4-FFF2-40B4-BE49-F238E27FC236}">
                <a16:creationId xmlns:a16="http://schemas.microsoft.com/office/drawing/2014/main" id="{1269AF11-F141-E844-9A01-CA870DD17259}"/>
              </a:ext>
            </a:extLst>
          </p:cNvPr>
          <p:cNvPicPr>
            <a:picLocks noChangeAspect="1"/>
          </p:cNvPicPr>
          <p:nvPr/>
        </p:nvPicPr>
        <p:blipFill rotWithShape="1">
          <a:blip r:embed="rId3"/>
          <a:srcRect l="23403" r="10143" b="-1"/>
          <a:stretch/>
        </p:blipFill>
        <p:spPr>
          <a:xfrm>
            <a:off x="5183500" y="1904282"/>
            <a:ext cx="6170299" cy="4224808"/>
          </a:xfrm>
          <a:prstGeom prst="rect">
            <a:avLst/>
          </a:prstGeom>
        </p:spPr>
      </p:pic>
    </p:spTree>
    <p:extLst>
      <p:ext uri="{BB962C8B-B14F-4D97-AF65-F5344CB8AC3E}">
        <p14:creationId xmlns:p14="http://schemas.microsoft.com/office/powerpoint/2010/main" val="422804826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a:t>
            </a:r>
          </a:p>
        </p:txBody>
      </p:sp>
      <p:sp>
        <p:nvSpPr>
          <p:cNvPr id="3" name="Content Placeholder 2"/>
          <p:cNvSpPr>
            <a:spLocks noGrp="1"/>
          </p:cNvSpPr>
          <p:nvPr>
            <p:ph idx="1"/>
          </p:nvPr>
        </p:nvSpPr>
        <p:spPr/>
        <p:txBody>
          <a:bodyPr>
            <a:normAutofit fontScale="92500" lnSpcReduction="10000"/>
          </a:bodyPr>
          <a:lstStyle/>
          <a:p>
            <a:pPr algn="just"/>
            <a:r>
              <a:rPr lang="en-US" dirty="0"/>
              <a:t>There are many types of software companies and there is so much diversity in software development industry</a:t>
            </a:r>
          </a:p>
          <a:p>
            <a:pPr algn="just"/>
            <a:endParaRPr lang="en-GB" dirty="0"/>
          </a:p>
          <a:p>
            <a:pPr algn="just"/>
            <a:r>
              <a:rPr lang="en-GB" dirty="0"/>
              <a:t>There are a number of different types of software companies:</a:t>
            </a:r>
          </a:p>
          <a:p>
            <a:pPr lvl="1"/>
            <a:r>
              <a:rPr lang="en-US" dirty="0"/>
              <a:t>Project oriented companies</a:t>
            </a:r>
          </a:p>
          <a:p>
            <a:pPr lvl="1"/>
            <a:r>
              <a:rPr lang="en-US" dirty="0"/>
              <a:t>Product oriented companies</a:t>
            </a:r>
          </a:p>
          <a:p>
            <a:pPr lvl="1"/>
            <a:r>
              <a:rPr lang="en-US" dirty="0"/>
              <a:t>IT service providers</a:t>
            </a:r>
          </a:p>
          <a:p>
            <a:pPr lvl="1"/>
            <a:r>
              <a:rPr lang="en-US" dirty="0"/>
              <a:t>Software enterprises</a:t>
            </a:r>
          </a:p>
          <a:p>
            <a:pPr marL="0" indent="0">
              <a:buNone/>
            </a:pPr>
            <a:r>
              <a:rPr lang="en-US" dirty="0">
                <a:solidFill>
                  <a:srgbClr val="C00000"/>
                </a:solidFill>
              </a:rPr>
              <a:t>A software house can have multiple qualities at time as well. Say, for example, product oriented and project oriented divisions/ teams may co-exist.</a:t>
            </a:r>
          </a:p>
        </p:txBody>
      </p:sp>
    </p:spTree>
    <p:extLst>
      <p:ext uri="{BB962C8B-B14F-4D97-AF65-F5344CB8AC3E}">
        <p14:creationId xmlns:p14="http://schemas.microsoft.com/office/powerpoint/2010/main" val="1455776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EEB8ED6-9142-4A11-B029-18DDE98C495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6"/>
            <a:ext cx="10515600" cy="1288784"/>
          </a:xfrm>
        </p:spPr>
        <p:txBody>
          <a:bodyPr>
            <a:normAutofit/>
          </a:bodyPr>
          <a:lstStyle/>
          <a:p>
            <a:r>
              <a:rPr lang="en-US" sz="4000"/>
              <a:t>Project Oriented Companies</a:t>
            </a:r>
          </a:p>
        </p:txBody>
      </p:sp>
      <p:sp>
        <p:nvSpPr>
          <p:cNvPr id="3" name="Content Placeholder 2"/>
          <p:cNvSpPr>
            <a:spLocks noGrp="1"/>
          </p:cNvSpPr>
          <p:nvPr>
            <p:ph idx="1"/>
          </p:nvPr>
        </p:nvSpPr>
        <p:spPr/>
        <p:txBody>
          <a:bodyPr>
            <a:normAutofit/>
          </a:bodyPr>
          <a:lstStyle/>
          <a:p>
            <a:pPr marL="0" indent="0" algn="just">
              <a:buNone/>
            </a:pPr>
            <a:r>
              <a:rPr lang="en-US" dirty="0">
                <a:solidFill>
                  <a:srgbClr val="C00000"/>
                </a:solidFill>
              </a:rPr>
              <a:t>Projects are their lifeline !!</a:t>
            </a:r>
          </a:p>
          <a:p>
            <a:pPr algn="just"/>
            <a:endParaRPr lang="en-US" dirty="0"/>
          </a:p>
        </p:txBody>
      </p:sp>
      <p:graphicFrame>
        <p:nvGraphicFramePr>
          <p:cNvPr id="4" name="Content Placeholder 3">
            <a:extLst>
              <a:ext uri="{FF2B5EF4-FFF2-40B4-BE49-F238E27FC236}">
                <a16:creationId xmlns:a16="http://schemas.microsoft.com/office/drawing/2014/main" id="{C8C18074-40B8-BB48-BFDA-A41CD4E0CE56}"/>
              </a:ext>
            </a:extLst>
          </p:cNvPr>
          <p:cNvGraphicFramePr>
            <a:graphicFrameLocks/>
          </p:cNvGraphicFramePr>
          <p:nvPr>
            <p:extLst>
              <p:ext uri="{D42A27DB-BD31-4B8C-83A1-F6EECF244321}">
                <p14:modId xmlns:p14="http://schemas.microsoft.com/office/powerpoint/2010/main" val="919642536"/>
              </p:ext>
            </p:extLst>
          </p:nvPr>
        </p:nvGraphicFramePr>
        <p:xfrm>
          <a:off x="7552944" y="1825625"/>
          <a:ext cx="3800856" cy="43034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2023340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EEB8ED6-9142-4A11-B029-18DDE98C495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6"/>
            <a:ext cx="10515600" cy="1288784"/>
          </a:xfrm>
        </p:spPr>
        <p:txBody>
          <a:bodyPr>
            <a:normAutofit/>
          </a:bodyPr>
          <a:lstStyle/>
          <a:p>
            <a:r>
              <a:rPr lang="en-US" sz="4000" dirty="0"/>
              <a:t>Product Oriented Companies</a:t>
            </a:r>
          </a:p>
        </p:txBody>
      </p:sp>
      <p:sp>
        <p:nvSpPr>
          <p:cNvPr id="3" name="Content Placeholder 2"/>
          <p:cNvSpPr>
            <a:spLocks noGrp="1"/>
          </p:cNvSpPr>
          <p:nvPr>
            <p:ph idx="1"/>
          </p:nvPr>
        </p:nvSpPr>
        <p:spPr/>
        <p:txBody>
          <a:bodyPr>
            <a:normAutofit/>
          </a:bodyPr>
          <a:lstStyle/>
          <a:p>
            <a:pPr marL="0" indent="0" algn="just">
              <a:buNone/>
            </a:pPr>
            <a:r>
              <a:rPr lang="en-US" dirty="0">
                <a:solidFill>
                  <a:srgbClr val="C00000"/>
                </a:solidFill>
              </a:rPr>
              <a:t>Run on ideas!!</a:t>
            </a:r>
          </a:p>
          <a:p>
            <a:pPr algn="just"/>
            <a:r>
              <a:rPr lang="en-US" dirty="0"/>
              <a:t>Create projects rather than hunting for them</a:t>
            </a:r>
          </a:p>
          <a:p>
            <a:pPr algn="just"/>
            <a:r>
              <a:rPr lang="en-US" dirty="0"/>
              <a:t>Take up software product idea</a:t>
            </a:r>
          </a:p>
          <a:p>
            <a:pPr algn="just"/>
            <a:r>
              <a:rPr lang="en-US" dirty="0"/>
              <a:t>Transform their idea into product</a:t>
            </a:r>
          </a:p>
          <a:p>
            <a:pPr algn="just"/>
            <a:r>
              <a:rPr lang="en-US" dirty="0"/>
              <a:t>Once a product is live, bugs, new versions, even more ideas and product growth etc.</a:t>
            </a:r>
          </a:p>
          <a:p>
            <a:pPr algn="just"/>
            <a:r>
              <a:rPr lang="en-US" dirty="0"/>
              <a:t>Make large profits by implementing their ideas.</a:t>
            </a:r>
          </a:p>
          <a:p>
            <a:pPr algn="just"/>
            <a:endParaRPr lang="en-US" dirty="0"/>
          </a:p>
        </p:txBody>
      </p:sp>
    </p:spTree>
    <p:extLst>
      <p:ext uri="{BB962C8B-B14F-4D97-AF65-F5344CB8AC3E}">
        <p14:creationId xmlns:p14="http://schemas.microsoft.com/office/powerpoint/2010/main" val="36343924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EEB8ED6-9142-4A11-B029-18DDE98C495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6"/>
            <a:ext cx="10515600" cy="1288784"/>
          </a:xfrm>
        </p:spPr>
        <p:txBody>
          <a:bodyPr>
            <a:normAutofit/>
          </a:bodyPr>
          <a:lstStyle/>
          <a:p>
            <a:r>
              <a:rPr lang="en-US" sz="4000" dirty="0"/>
              <a:t>IT Service Providers</a:t>
            </a:r>
          </a:p>
        </p:txBody>
      </p:sp>
      <p:sp>
        <p:nvSpPr>
          <p:cNvPr id="3" name="Content Placeholder 2"/>
          <p:cNvSpPr>
            <a:spLocks noGrp="1"/>
          </p:cNvSpPr>
          <p:nvPr>
            <p:ph idx="1"/>
          </p:nvPr>
        </p:nvSpPr>
        <p:spPr/>
        <p:txBody>
          <a:bodyPr>
            <a:normAutofit/>
          </a:bodyPr>
          <a:lstStyle/>
          <a:p>
            <a:r>
              <a:rPr lang="en-US" dirty="0"/>
              <a:t>Something other than software development  finally exists as a major role in such kind of software companies.</a:t>
            </a:r>
          </a:p>
          <a:p>
            <a:r>
              <a:rPr lang="en-US" dirty="0"/>
              <a:t>Focus on business, income generation and software usage statistics mainly</a:t>
            </a:r>
          </a:p>
          <a:p>
            <a:r>
              <a:rPr lang="en-US" dirty="0"/>
              <a:t>Usually a part of large production unit.</a:t>
            </a:r>
          </a:p>
          <a:p>
            <a:r>
              <a:rPr lang="en-US" dirty="0"/>
              <a:t>Usually they don’t develop their software project/product and outsource it to the other project oriented companies.</a:t>
            </a:r>
          </a:p>
          <a:p>
            <a:r>
              <a:rPr lang="en-US" dirty="0"/>
              <a:t>Examples call centers, telecom services, network services, industries </a:t>
            </a:r>
            <a:r>
              <a:rPr lang="en-US" dirty="0" err="1"/>
              <a:t>etc</a:t>
            </a:r>
            <a:endParaRPr lang="en-US" dirty="0"/>
          </a:p>
          <a:p>
            <a:pPr algn="just"/>
            <a:endParaRPr lang="en-US" dirty="0"/>
          </a:p>
        </p:txBody>
      </p:sp>
    </p:spTree>
    <p:extLst>
      <p:ext uri="{BB962C8B-B14F-4D97-AF65-F5344CB8AC3E}">
        <p14:creationId xmlns:p14="http://schemas.microsoft.com/office/powerpoint/2010/main" val="97099696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EEB8ED6-9142-4A11-B029-18DDE98C495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6"/>
            <a:ext cx="10515600" cy="1288784"/>
          </a:xfrm>
        </p:spPr>
        <p:txBody>
          <a:bodyPr>
            <a:normAutofit/>
          </a:bodyPr>
          <a:lstStyle/>
          <a:p>
            <a:r>
              <a:rPr lang="en-US" sz="4000" dirty="0"/>
              <a:t>Software Enterprises</a:t>
            </a:r>
          </a:p>
        </p:txBody>
      </p:sp>
      <p:sp>
        <p:nvSpPr>
          <p:cNvPr id="3" name="Content Placeholder 2"/>
          <p:cNvSpPr>
            <a:spLocks noGrp="1"/>
          </p:cNvSpPr>
          <p:nvPr>
            <p:ph idx="1"/>
          </p:nvPr>
        </p:nvSpPr>
        <p:spPr/>
        <p:txBody>
          <a:bodyPr>
            <a:normAutofit/>
          </a:bodyPr>
          <a:lstStyle/>
          <a:p>
            <a:r>
              <a:rPr lang="en-US" dirty="0"/>
              <a:t>Dedicated to some enterprises</a:t>
            </a:r>
          </a:p>
          <a:p>
            <a:r>
              <a:rPr lang="en-US" dirty="0"/>
              <a:t>Usually focus on what company wants, as usually enterprises now have their own software house/ team of developers.</a:t>
            </a:r>
          </a:p>
          <a:p>
            <a:r>
              <a:rPr lang="en-US" dirty="0"/>
              <a:t>From requirement to development and business analysis they are dedicated to what that enterprise needs.</a:t>
            </a:r>
          </a:p>
          <a:p>
            <a:pPr algn="just"/>
            <a:endParaRPr lang="en-US" dirty="0"/>
          </a:p>
        </p:txBody>
      </p:sp>
    </p:spTree>
    <p:extLst>
      <p:ext uri="{BB962C8B-B14F-4D97-AF65-F5344CB8AC3E}">
        <p14:creationId xmlns:p14="http://schemas.microsoft.com/office/powerpoint/2010/main" val="215610279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EEB8ED6-9142-4A11-B029-18DDE98C495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6"/>
            <a:ext cx="10515600" cy="1288784"/>
          </a:xfrm>
        </p:spPr>
        <p:txBody>
          <a:bodyPr>
            <a:normAutofit/>
          </a:bodyPr>
          <a:lstStyle/>
          <a:p>
            <a:r>
              <a:rPr lang="en-US" sz="4000" dirty="0"/>
              <a:t>Types of Software Companies (yet another view point)</a:t>
            </a:r>
          </a:p>
        </p:txBody>
      </p:sp>
      <p:sp>
        <p:nvSpPr>
          <p:cNvPr id="3" name="Content Placeholder 2"/>
          <p:cNvSpPr>
            <a:spLocks noGrp="1"/>
          </p:cNvSpPr>
          <p:nvPr>
            <p:ph idx="1"/>
          </p:nvPr>
        </p:nvSpPr>
        <p:spPr>
          <a:xfrm>
            <a:off x="838200" y="2019036"/>
            <a:ext cx="10515600" cy="4351338"/>
          </a:xfrm>
        </p:spPr>
        <p:txBody>
          <a:bodyPr>
            <a:normAutofit/>
          </a:bodyPr>
          <a:lstStyle/>
          <a:p>
            <a:r>
              <a:rPr lang="en-US" dirty="0"/>
              <a:t>Large and globally renowned companies e.g. Oracle, Microsoft, Adobe.</a:t>
            </a:r>
          </a:p>
          <a:p>
            <a:r>
              <a:rPr lang="en-US" dirty="0"/>
              <a:t>Involved in specialized small to middle sized software houses etc. You may think of the software organizations out there in your country.</a:t>
            </a:r>
          </a:p>
          <a:p>
            <a:r>
              <a:rPr lang="en-US" dirty="0"/>
              <a:t>SaaS providers e.g. Google, Facebook etc.</a:t>
            </a:r>
          </a:p>
          <a:p>
            <a:r>
              <a:rPr lang="en-US" dirty="0"/>
              <a:t>Software house dealing with bespoke </a:t>
            </a:r>
            <a:r>
              <a:rPr lang="en-US" dirty="0" smtClean="0"/>
              <a:t>(custom made) software</a:t>
            </a:r>
            <a:r>
              <a:rPr lang="en-US" dirty="0"/>
              <a:t>. </a:t>
            </a:r>
          </a:p>
          <a:p>
            <a:pPr algn="just"/>
            <a:endParaRPr lang="en-US" dirty="0"/>
          </a:p>
        </p:txBody>
      </p:sp>
    </p:spTree>
    <p:extLst>
      <p:ext uri="{BB962C8B-B14F-4D97-AF65-F5344CB8AC3E}">
        <p14:creationId xmlns:p14="http://schemas.microsoft.com/office/powerpoint/2010/main" val="267837382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EEB8ED6-9142-4A11-B029-18DDE98C495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6"/>
            <a:ext cx="10515600" cy="1288784"/>
          </a:xfrm>
        </p:spPr>
        <p:txBody>
          <a:bodyPr>
            <a:normAutofit/>
          </a:bodyPr>
          <a:lstStyle/>
          <a:p>
            <a:r>
              <a:rPr lang="en-US" sz="4000" dirty="0"/>
              <a:t>Common Roles in a Software Company</a:t>
            </a:r>
          </a:p>
        </p:txBody>
      </p:sp>
      <p:sp>
        <p:nvSpPr>
          <p:cNvPr id="5" name="TextBox 4">
            <a:extLst>
              <a:ext uri="{FF2B5EF4-FFF2-40B4-BE49-F238E27FC236}">
                <a16:creationId xmlns:a16="http://schemas.microsoft.com/office/drawing/2014/main" id="{8ACEE9D5-63B3-744B-90A1-F50699F92ECE}"/>
              </a:ext>
            </a:extLst>
          </p:cNvPr>
          <p:cNvSpPr txBox="1"/>
          <p:nvPr/>
        </p:nvSpPr>
        <p:spPr>
          <a:xfrm>
            <a:off x="1555845" y="2002583"/>
            <a:ext cx="1665027" cy="523220"/>
          </a:xfrm>
          <a:prstGeom prst="rect">
            <a:avLst/>
          </a:prstGeom>
          <a:noFill/>
        </p:spPr>
        <p:txBody>
          <a:bodyPr wrap="square" rtlCol="0">
            <a:spAutoFit/>
          </a:bodyPr>
          <a:lstStyle/>
          <a:p>
            <a:r>
              <a:rPr lang="en-US" sz="2800" b="1" dirty="0"/>
              <a:t>Leaders</a:t>
            </a:r>
          </a:p>
        </p:txBody>
      </p:sp>
      <p:sp>
        <p:nvSpPr>
          <p:cNvPr id="6" name="TextBox 5">
            <a:extLst>
              <a:ext uri="{FF2B5EF4-FFF2-40B4-BE49-F238E27FC236}">
                <a16:creationId xmlns:a16="http://schemas.microsoft.com/office/drawing/2014/main" id="{63DCD962-1649-0E4B-A91C-DEE95279D837}"/>
              </a:ext>
            </a:extLst>
          </p:cNvPr>
          <p:cNvSpPr txBox="1"/>
          <p:nvPr/>
        </p:nvSpPr>
        <p:spPr>
          <a:xfrm rot="20430854">
            <a:off x="3439237" y="2794153"/>
            <a:ext cx="2593074" cy="461665"/>
          </a:xfrm>
          <a:prstGeom prst="rect">
            <a:avLst/>
          </a:prstGeom>
          <a:noFill/>
        </p:spPr>
        <p:txBody>
          <a:bodyPr wrap="square" rtlCol="0">
            <a:spAutoFit/>
          </a:bodyPr>
          <a:lstStyle/>
          <a:p>
            <a:r>
              <a:rPr lang="en-US" sz="2400" b="1" dirty="0"/>
              <a:t>Board of Directors</a:t>
            </a:r>
          </a:p>
        </p:txBody>
      </p:sp>
      <p:sp>
        <p:nvSpPr>
          <p:cNvPr id="7" name="TextBox 6">
            <a:extLst>
              <a:ext uri="{FF2B5EF4-FFF2-40B4-BE49-F238E27FC236}">
                <a16:creationId xmlns:a16="http://schemas.microsoft.com/office/drawing/2014/main" id="{CA2D0232-5B97-6447-B3A5-73A53AF958DC}"/>
              </a:ext>
            </a:extLst>
          </p:cNvPr>
          <p:cNvSpPr txBox="1"/>
          <p:nvPr/>
        </p:nvSpPr>
        <p:spPr>
          <a:xfrm rot="20155650">
            <a:off x="1048833" y="5073635"/>
            <a:ext cx="1337482" cy="369332"/>
          </a:xfrm>
          <a:prstGeom prst="rect">
            <a:avLst/>
          </a:prstGeom>
          <a:noFill/>
        </p:spPr>
        <p:txBody>
          <a:bodyPr wrap="square" rtlCol="0">
            <a:spAutoFit/>
          </a:bodyPr>
          <a:lstStyle/>
          <a:p>
            <a:r>
              <a:rPr lang="en-US" b="1" dirty="0"/>
              <a:t>Developers</a:t>
            </a:r>
          </a:p>
        </p:txBody>
      </p:sp>
      <p:sp>
        <p:nvSpPr>
          <p:cNvPr id="8" name="TextBox 7">
            <a:extLst>
              <a:ext uri="{FF2B5EF4-FFF2-40B4-BE49-F238E27FC236}">
                <a16:creationId xmlns:a16="http://schemas.microsoft.com/office/drawing/2014/main" id="{C6731AAD-5AAA-C04C-AEB6-64927AB4FA23}"/>
              </a:ext>
            </a:extLst>
          </p:cNvPr>
          <p:cNvSpPr txBox="1"/>
          <p:nvPr/>
        </p:nvSpPr>
        <p:spPr>
          <a:xfrm>
            <a:off x="6687403" y="2517154"/>
            <a:ext cx="2265528" cy="369332"/>
          </a:xfrm>
          <a:prstGeom prst="rect">
            <a:avLst/>
          </a:prstGeom>
          <a:noFill/>
        </p:spPr>
        <p:txBody>
          <a:bodyPr wrap="square" rtlCol="0">
            <a:spAutoFit/>
          </a:bodyPr>
          <a:lstStyle/>
          <a:p>
            <a:r>
              <a:rPr lang="en-US" b="1" dirty="0"/>
              <a:t>Network Engineers</a:t>
            </a:r>
          </a:p>
        </p:txBody>
      </p:sp>
      <p:sp>
        <p:nvSpPr>
          <p:cNvPr id="10" name="TextBox 9">
            <a:extLst>
              <a:ext uri="{FF2B5EF4-FFF2-40B4-BE49-F238E27FC236}">
                <a16:creationId xmlns:a16="http://schemas.microsoft.com/office/drawing/2014/main" id="{86549A1E-CB90-3145-9882-4E2E7185B076}"/>
              </a:ext>
            </a:extLst>
          </p:cNvPr>
          <p:cNvSpPr txBox="1"/>
          <p:nvPr/>
        </p:nvSpPr>
        <p:spPr>
          <a:xfrm rot="20900071">
            <a:off x="4981433" y="4281758"/>
            <a:ext cx="1965277" cy="369332"/>
          </a:xfrm>
          <a:prstGeom prst="rect">
            <a:avLst/>
          </a:prstGeom>
          <a:noFill/>
        </p:spPr>
        <p:txBody>
          <a:bodyPr wrap="square" rtlCol="0">
            <a:spAutoFit/>
          </a:bodyPr>
          <a:lstStyle/>
          <a:p>
            <a:r>
              <a:rPr lang="en-US" b="1" dirty="0"/>
              <a:t>Project Managers</a:t>
            </a:r>
          </a:p>
        </p:txBody>
      </p:sp>
      <p:sp>
        <p:nvSpPr>
          <p:cNvPr id="11" name="TextBox 10">
            <a:extLst>
              <a:ext uri="{FF2B5EF4-FFF2-40B4-BE49-F238E27FC236}">
                <a16:creationId xmlns:a16="http://schemas.microsoft.com/office/drawing/2014/main" id="{E6B32C02-C16C-BF49-BC52-6929936FD76E}"/>
              </a:ext>
            </a:extLst>
          </p:cNvPr>
          <p:cNvSpPr txBox="1"/>
          <p:nvPr/>
        </p:nvSpPr>
        <p:spPr>
          <a:xfrm>
            <a:off x="7820167" y="4281758"/>
            <a:ext cx="2946384" cy="369332"/>
          </a:xfrm>
          <a:prstGeom prst="rect">
            <a:avLst/>
          </a:prstGeom>
          <a:noFill/>
        </p:spPr>
        <p:txBody>
          <a:bodyPr wrap="none" rtlCol="0">
            <a:spAutoFit/>
          </a:bodyPr>
          <a:lstStyle/>
          <a:p>
            <a:r>
              <a:rPr lang="en-US" b="1" dirty="0"/>
              <a:t>Quality Assurance Engineers</a:t>
            </a:r>
          </a:p>
        </p:txBody>
      </p:sp>
      <p:sp>
        <p:nvSpPr>
          <p:cNvPr id="12" name="TextBox 11">
            <a:extLst>
              <a:ext uri="{FF2B5EF4-FFF2-40B4-BE49-F238E27FC236}">
                <a16:creationId xmlns:a16="http://schemas.microsoft.com/office/drawing/2014/main" id="{E56D4471-2081-E748-ACDD-6781EDF8B5F2}"/>
              </a:ext>
            </a:extLst>
          </p:cNvPr>
          <p:cNvSpPr txBox="1"/>
          <p:nvPr/>
        </p:nvSpPr>
        <p:spPr>
          <a:xfrm>
            <a:off x="1555845" y="4077042"/>
            <a:ext cx="2279176" cy="369332"/>
          </a:xfrm>
          <a:prstGeom prst="rect">
            <a:avLst/>
          </a:prstGeom>
          <a:noFill/>
        </p:spPr>
        <p:txBody>
          <a:bodyPr wrap="square" rtlCol="0">
            <a:spAutoFit/>
          </a:bodyPr>
          <a:lstStyle/>
          <a:p>
            <a:r>
              <a:rPr lang="en-US" b="1" dirty="0"/>
              <a:t>Graphic Designers</a:t>
            </a:r>
          </a:p>
        </p:txBody>
      </p:sp>
      <p:sp>
        <p:nvSpPr>
          <p:cNvPr id="13" name="TextBox 12">
            <a:extLst>
              <a:ext uri="{FF2B5EF4-FFF2-40B4-BE49-F238E27FC236}">
                <a16:creationId xmlns:a16="http://schemas.microsoft.com/office/drawing/2014/main" id="{9432F677-2EB6-8349-8202-234C2D5CC0EC}"/>
              </a:ext>
            </a:extLst>
          </p:cNvPr>
          <p:cNvSpPr txBox="1"/>
          <p:nvPr/>
        </p:nvSpPr>
        <p:spPr>
          <a:xfrm rot="20581405">
            <a:off x="8543499" y="3255818"/>
            <a:ext cx="2429301" cy="369332"/>
          </a:xfrm>
          <a:prstGeom prst="rect">
            <a:avLst/>
          </a:prstGeom>
          <a:noFill/>
        </p:spPr>
        <p:txBody>
          <a:bodyPr wrap="square" rtlCol="0">
            <a:spAutoFit/>
          </a:bodyPr>
          <a:lstStyle/>
          <a:p>
            <a:r>
              <a:rPr lang="en-US" b="1" dirty="0"/>
              <a:t>Database Designers</a:t>
            </a:r>
          </a:p>
        </p:txBody>
      </p:sp>
      <p:sp>
        <p:nvSpPr>
          <p:cNvPr id="14" name="TextBox 13">
            <a:extLst>
              <a:ext uri="{FF2B5EF4-FFF2-40B4-BE49-F238E27FC236}">
                <a16:creationId xmlns:a16="http://schemas.microsoft.com/office/drawing/2014/main" id="{953AD2CE-0BA1-7C43-9989-2041A927ED87}"/>
              </a:ext>
            </a:extLst>
          </p:cNvPr>
          <p:cNvSpPr txBox="1"/>
          <p:nvPr/>
        </p:nvSpPr>
        <p:spPr>
          <a:xfrm>
            <a:off x="4626591" y="5429013"/>
            <a:ext cx="2320119" cy="369332"/>
          </a:xfrm>
          <a:prstGeom prst="rect">
            <a:avLst/>
          </a:prstGeom>
          <a:noFill/>
        </p:spPr>
        <p:txBody>
          <a:bodyPr wrap="square" rtlCol="0">
            <a:spAutoFit/>
          </a:bodyPr>
          <a:lstStyle/>
          <a:p>
            <a:r>
              <a:rPr lang="en-US" b="1" dirty="0"/>
              <a:t>Data Entry Specialist </a:t>
            </a:r>
          </a:p>
        </p:txBody>
      </p:sp>
      <p:sp>
        <p:nvSpPr>
          <p:cNvPr id="15" name="TextBox 14">
            <a:extLst>
              <a:ext uri="{FF2B5EF4-FFF2-40B4-BE49-F238E27FC236}">
                <a16:creationId xmlns:a16="http://schemas.microsoft.com/office/drawing/2014/main" id="{78B2E77B-0A1E-DE4C-9918-03F3C897589C}"/>
              </a:ext>
            </a:extLst>
          </p:cNvPr>
          <p:cNvSpPr txBox="1"/>
          <p:nvPr/>
        </p:nvSpPr>
        <p:spPr>
          <a:xfrm rot="20009089">
            <a:off x="7670042" y="5305340"/>
            <a:ext cx="2156346" cy="369332"/>
          </a:xfrm>
          <a:prstGeom prst="rect">
            <a:avLst/>
          </a:prstGeom>
          <a:noFill/>
        </p:spPr>
        <p:txBody>
          <a:bodyPr wrap="square" rtlCol="0">
            <a:spAutoFit/>
          </a:bodyPr>
          <a:lstStyle/>
          <a:p>
            <a:r>
              <a:rPr lang="en-US" b="1" dirty="0"/>
              <a:t>HR Manager</a:t>
            </a:r>
          </a:p>
        </p:txBody>
      </p:sp>
      <p:sp>
        <p:nvSpPr>
          <p:cNvPr id="16" name="TextBox 15">
            <a:extLst>
              <a:ext uri="{FF2B5EF4-FFF2-40B4-BE49-F238E27FC236}">
                <a16:creationId xmlns:a16="http://schemas.microsoft.com/office/drawing/2014/main" id="{A9E94220-1FB9-D446-B1CC-57A3F32DA830}"/>
              </a:ext>
            </a:extLst>
          </p:cNvPr>
          <p:cNvSpPr txBox="1"/>
          <p:nvPr/>
        </p:nvSpPr>
        <p:spPr>
          <a:xfrm rot="975425">
            <a:off x="9116705" y="1785924"/>
            <a:ext cx="846162" cy="369332"/>
          </a:xfrm>
          <a:prstGeom prst="rect">
            <a:avLst/>
          </a:prstGeom>
          <a:noFill/>
        </p:spPr>
        <p:txBody>
          <a:bodyPr wrap="square" rtlCol="0">
            <a:spAutoFit/>
          </a:bodyPr>
          <a:lstStyle/>
          <a:p>
            <a:r>
              <a:rPr lang="en-US" b="1" dirty="0"/>
              <a:t>CEO</a:t>
            </a:r>
          </a:p>
        </p:txBody>
      </p:sp>
      <p:sp>
        <p:nvSpPr>
          <p:cNvPr id="17" name="TextBox 16">
            <a:extLst>
              <a:ext uri="{FF2B5EF4-FFF2-40B4-BE49-F238E27FC236}">
                <a16:creationId xmlns:a16="http://schemas.microsoft.com/office/drawing/2014/main" id="{A37308F3-45C7-9C46-A929-0B46B72DCC87}"/>
              </a:ext>
            </a:extLst>
          </p:cNvPr>
          <p:cNvSpPr txBox="1"/>
          <p:nvPr/>
        </p:nvSpPr>
        <p:spPr>
          <a:xfrm rot="20596494">
            <a:off x="1371600" y="3255818"/>
            <a:ext cx="1671851" cy="369332"/>
          </a:xfrm>
          <a:prstGeom prst="rect">
            <a:avLst/>
          </a:prstGeom>
          <a:noFill/>
        </p:spPr>
        <p:txBody>
          <a:bodyPr wrap="square" rtlCol="0">
            <a:spAutoFit/>
          </a:bodyPr>
          <a:lstStyle/>
          <a:p>
            <a:r>
              <a:rPr lang="en-US" b="1" dirty="0"/>
              <a:t>Founde</a:t>
            </a:r>
            <a:r>
              <a:rPr lang="en-US" dirty="0"/>
              <a:t>r</a:t>
            </a:r>
          </a:p>
        </p:txBody>
      </p:sp>
      <p:sp>
        <p:nvSpPr>
          <p:cNvPr id="18" name="TextBox 17">
            <a:extLst>
              <a:ext uri="{FF2B5EF4-FFF2-40B4-BE49-F238E27FC236}">
                <a16:creationId xmlns:a16="http://schemas.microsoft.com/office/drawing/2014/main" id="{4DD3173D-D733-D54D-B385-8749507861DE}"/>
              </a:ext>
            </a:extLst>
          </p:cNvPr>
          <p:cNvSpPr txBox="1"/>
          <p:nvPr/>
        </p:nvSpPr>
        <p:spPr>
          <a:xfrm rot="735115">
            <a:off x="5799727" y="3393806"/>
            <a:ext cx="2292824" cy="369332"/>
          </a:xfrm>
          <a:prstGeom prst="rect">
            <a:avLst/>
          </a:prstGeom>
          <a:noFill/>
        </p:spPr>
        <p:txBody>
          <a:bodyPr wrap="square" rtlCol="0">
            <a:spAutoFit/>
          </a:bodyPr>
          <a:lstStyle/>
          <a:p>
            <a:r>
              <a:rPr lang="en-US" b="1" dirty="0"/>
              <a:t>Marketing Officers </a:t>
            </a:r>
          </a:p>
        </p:txBody>
      </p:sp>
      <p:sp>
        <p:nvSpPr>
          <p:cNvPr id="19" name="TextBox 18">
            <a:extLst>
              <a:ext uri="{FF2B5EF4-FFF2-40B4-BE49-F238E27FC236}">
                <a16:creationId xmlns:a16="http://schemas.microsoft.com/office/drawing/2014/main" id="{167877BD-EA9F-D74F-942B-E35AD0FB316B}"/>
              </a:ext>
            </a:extLst>
          </p:cNvPr>
          <p:cNvSpPr txBox="1"/>
          <p:nvPr/>
        </p:nvSpPr>
        <p:spPr>
          <a:xfrm>
            <a:off x="1965277" y="5779687"/>
            <a:ext cx="2661314" cy="369332"/>
          </a:xfrm>
          <a:prstGeom prst="rect">
            <a:avLst/>
          </a:prstGeom>
          <a:noFill/>
        </p:spPr>
        <p:txBody>
          <a:bodyPr wrap="square" rtlCol="0">
            <a:spAutoFit/>
          </a:bodyPr>
          <a:lstStyle/>
          <a:p>
            <a:r>
              <a:rPr lang="en-US" b="1" dirty="0"/>
              <a:t>Chief Financial Officer</a:t>
            </a:r>
          </a:p>
        </p:txBody>
      </p:sp>
      <p:sp>
        <p:nvSpPr>
          <p:cNvPr id="20" name="TextBox 19">
            <a:extLst>
              <a:ext uri="{FF2B5EF4-FFF2-40B4-BE49-F238E27FC236}">
                <a16:creationId xmlns:a16="http://schemas.microsoft.com/office/drawing/2014/main" id="{0523EEAE-00CA-C84C-BC62-A50209673163}"/>
              </a:ext>
            </a:extLst>
          </p:cNvPr>
          <p:cNvSpPr txBox="1"/>
          <p:nvPr/>
        </p:nvSpPr>
        <p:spPr>
          <a:xfrm>
            <a:off x="9539786" y="5798345"/>
            <a:ext cx="2183641" cy="369332"/>
          </a:xfrm>
          <a:prstGeom prst="rect">
            <a:avLst/>
          </a:prstGeom>
          <a:noFill/>
        </p:spPr>
        <p:txBody>
          <a:bodyPr wrap="square" rtlCol="0">
            <a:spAutoFit/>
          </a:bodyPr>
          <a:lstStyle/>
          <a:p>
            <a:r>
              <a:rPr lang="en-US" b="1" dirty="0"/>
              <a:t>Chief Legal Officer</a:t>
            </a:r>
          </a:p>
        </p:txBody>
      </p:sp>
    </p:spTree>
    <p:extLst>
      <p:ext uri="{BB962C8B-B14F-4D97-AF65-F5344CB8AC3E}">
        <p14:creationId xmlns:p14="http://schemas.microsoft.com/office/powerpoint/2010/main" val="815927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anim calcmode="lin" valueType="num">
                                      <p:cBhvr>
                                        <p:cTn id="8" dur="2000" fill="hold"/>
                                        <p:tgtEl>
                                          <p:spTgt spid="5"/>
                                        </p:tgtEl>
                                        <p:attrNameLst>
                                          <p:attrName>ppt_w</p:attrName>
                                        </p:attrNameLst>
                                      </p:cBhvr>
                                      <p:tavLst>
                                        <p:tav tm="0" fmla="#ppt_w*sin(2.5*pi*$)">
                                          <p:val>
                                            <p:fltVal val="0"/>
                                          </p:val>
                                        </p:tav>
                                        <p:tav tm="100000">
                                          <p:val>
                                            <p:fltVal val="1"/>
                                          </p:val>
                                        </p:tav>
                                      </p:tavLst>
                                    </p:anim>
                                    <p:anim calcmode="lin" valueType="num">
                                      <p:cBhvr>
                                        <p:cTn id="9" dur="20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8" presetClass="emph" presetSubtype="0" fill="hold" grpId="0" nodeType="clickEffect">
                                  <p:stCondLst>
                                    <p:cond delay="0"/>
                                  </p:stCondLst>
                                  <p:childTnLst>
                                    <p:animRot by="21600000">
                                      <p:cBhvr>
                                        <p:cTn id="13" dur="2000" fill="hold"/>
                                        <p:tgtEl>
                                          <p:spTgt spid="17"/>
                                        </p:tgtEl>
                                        <p:attrNameLst>
                                          <p:attrName>r</p:attrName>
                                        </p:attrNameLst>
                                      </p:cBhvr>
                                    </p:animRo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down)">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barn(inVertical)">
                                      <p:cBhvr>
                                        <p:cTn id="23" dur="5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barn(inVertical)">
                                      <p:cBhvr>
                                        <p:cTn id="28" dur="5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 calcmode="lin" valueType="num">
                                      <p:cBhvr additive="base">
                                        <p:cTn id="33" dur="500" fill="hold"/>
                                        <p:tgtEl>
                                          <p:spTgt spid="19"/>
                                        </p:tgtEl>
                                        <p:attrNameLst>
                                          <p:attrName>ppt_x</p:attrName>
                                        </p:attrNameLst>
                                      </p:cBhvr>
                                      <p:tavLst>
                                        <p:tav tm="0">
                                          <p:val>
                                            <p:strVal val="#ppt_x"/>
                                          </p:val>
                                        </p:tav>
                                        <p:tav tm="100000">
                                          <p:val>
                                            <p:strVal val="#ppt_x"/>
                                          </p:val>
                                        </p:tav>
                                      </p:tavLst>
                                    </p:anim>
                                    <p:anim calcmode="lin" valueType="num">
                                      <p:cBhvr additive="base">
                                        <p:cTn id="3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anim calcmode="lin" valueType="num">
                                      <p:cBhvr additive="base">
                                        <p:cTn id="39" dur="500" fill="hold"/>
                                        <p:tgtEl>
                                          <p:spTgt spid="8"/>
                                        </p:tgtEl>
                                        <p:attrNameLst>
                                          <p:attrName>ppt_x</p:attrName>
                                        </p:attrNameLst>
                                      </p:cBhvr>
                                      <p:tavLst>
                                        <p:tav tm="0">
                                          <p:val>
                                            <p:strVal val="#ppt_x"/>
                                          </p:val>
                                        </p:tav>
                                        <p:tav tm="100000">
                                          <p:val>
                                            <p:strVal val="#ppt_x"/>
                                          </p:val>
                                        </p:tav>
                                      </p:tavLst>
                                    </p:anim>
                                    <p:anim calcmode="lin" valueType="num">
                                      <p:cBhvr additive="base">
                                        <p:cTn id="4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32" presetClass="emph" presetSubtype="0" fill="hold" grpId="0" nodeType="clickEffect">
                                  <p:stCondLst>
                                    <p:cond delay="0"/>
                                  </p:stCondLst>
                                  <p:childTnLst>
                                    <p:animRot by="120000">
                                      <p:cBhvr>
                                        <p:cTn id="48" dur="100" fill="hold">
                                          <p:stCondLst>
                                            <p:cond delay="0"/>
                                          </p:stCondLst>
                                        </p:cTn>
                                        <p:tgtEl>
                                          <p:spTgt spid="10"/>
                                        </p:tgtEl>
                                        <p:attrNameLst>
                                          <p:attrName>r</p:attrName>
                                        </p:attrNameLst>
                                      </p:cBhvr>
                                    </p:animRot>
                                    <p:animRot by="-240000">
                                      <p:cBhvr>
                                        <p:cTn id="49" dur="200" fill="hold">
                                          <p:stCondLst>
                                            <p:cond delay="200"/>
                                          </p:stCondLst>
                                        </p:cTn>
                                        <p:tgtEl>
                                          <p:spTgt spid="10"/>
                                        </p:tgtEl>
                                        <p:attrNameLst>
                                          <p:attrName>r</p:attrName>
                                        </p:attrNameLst>
                                      </p:cBhvr>
                                    </p:animRot>
                                    <p:animRot by="240000">
                                      <p:cBhvr>
                                        <p:cTn id="50" dur="200" fill="hold">
                                          <p:stCondLst>
                                            <p:cond delay="400"/>
                                          </p:stCondLst>
                                        </p:cTn>
                                        <p:tgtEl>
                                          <p:spTgt spid="10"/>
                                        </p:tgtEl>
                                        <p:attrNameLst>
                                          <p:attrName>r</p:attrName>
                                        </p:attrNameLst>
                                      </p:cBhvr>
                                    </p:animRot>
                                    <p:animRot by="-240000">
                                      <p:cBhvr>
                                        <p:cTn id="51" dur="200" fill="hold">
                                          <p:stCondLst>
                                            <p:cond delay="600"/>
                                          </p:stCondLst>
                                        </p:cTn>
                                        <p:tgtEl>
                                          <p:spTgt spid="10"/>
                                        </p:tgtEl>
                                        <p:attrNameLst>
                                          <p:attrName>r</p:attrName>
                                        </p:attrNameLst>
                                      </p:cBhvr>
                                    </p:animRot>
                                    <p:animRot by="120000">
                                      <p:cBhvr>
                                        <p:cTn id="52" dur="200" fill="hold">
                                          <p:stCondLst>
                                            <p:cond delay="800"/>
                                          </p:stCondLst>
                                        </p:cTn>
                                        <p:tgtEl>
                                          <p:spTgt spid="10"/>
                                        </p:tgtEl>
                                        <p:attrNameLst>
                                          <p:attrName>r</p:attrName>
                                        </p:attrNameLst>
                                      </p:cBhvr>
                                    </p:animRot>
                                  </p:childTnLst>
                                </p:cTn>
                              </p:par>
                            </p:childTnLst>
                          </p:cTn>
                        </p:par>
                      </p:childTnLst>
                    </p:cTn>
                  </p:par>
                  <p:par>
                    <p:cTn id="53" fill="hold">
                      <p:stCondLst>
                        <p:cond delay="indefinite"/>
                      </p:stCondLst>
                      <p:childTnLst>
                        <p:par>
                          <p:cTn id="54" fill="hold">
                            <p:stCondLst>
                              <p:cond delay="0"/>
                            </p:stCondLst>
                            <p:childTnLst>
                              <p:par>
                                <p:cTn id="55" presetID="1" presetClass="emph" presetSubtype="2" fill="hold" nodeType="clickEffect">
                                  <p:stCondLst>
                                    <p:cond delay="0"/>
                                  </p:stCondLst>
                                  <p:childTnLst>
                                    <p:animClr clrSpc="rgb" dir="cw">
                                      <p:cBhvr>
                                        <p:cTn id="56" dur="2000" fill="hold"/>
                                        <p:tgtEl>
                                          <p:spTgt spid="14"/>
                                        </p:tgtEl>
                                        <p:attrNameLst>
                                          <p:attrName>fillcolor</p:attrName>
                                        </p:attrNameLst>
                                      </p:cBhvr>
                                      <p:to>
                                        <a:schemeClr val="accent2"/>
                                      </p:to>
                                    </p:animClr>
                                    <p:set>
                                      <p:cBhvr>
                                        <p:cTn id="57" dur="2000" fill="hold"/>
                                        <p:tgtEl>
                                          <p:spTgt spid="14"/>
                                        </p:tgtEl>
                                        <p:attrNameLst>
                                          <p:attrName>fill.type</p:attrName>
                                        </p:attrNameLst>
                                      </p:cBhvr>
                                      <p:to>
                                        <p:strVal val="solid"/>
                                      </p:to>
                                    </p:set>
                                    <p:set>
                                      <p:cBhvr>
                                        <p:cTn id="58" dur="2000" fill="hold"/>
                                        <p:tgtEl>
                                          <p:spTgt spid="14"/>
                                        </p:tgtEl>
                                        <p:attrNameLst>
                                          <p:attrName>fill.on</p:attrName>
                                        </p:attrNameLst>
                                      </p:cBhvr>
                                      <p:to>
                                        <p:strVal val="true"/>
                                      </p:to>
                                    </p:set>
                                  </p:childTnLst>
                                </p:cTn>
                              </p:par>
                            </p:childTnLst>
                          </p:cTn>
                        </p:par>
                      </p:childTnLst>
                    </p:cTn>
                  </p:par>
                  <p:par>
                    <p:cTn id="59" fill="hold">
                      <p:stCondLst>
                        <p:cond delay="indefinite"/>
                      </p:stCondLst>
                      <p:childTnLst>
                        <p:par>
                          <p:cTn id="60" fill="hold">
                            <p:stCondLst>
                              <p:cond delay="0"/>
                            </p:stCondLst>
                            <p:childTnLst>
                              <p:par>
                                <p:cTn id="61" presetID="27" presetClass="emph" presetSubtype="0" fill="remove" grpId="0" nodeType="clickEffect">
                                  <p:stCondLst>
                                    <p:cond delay="0"/>
                                  </p:stCondLst>
                                  <p:childTnLst>
                                    <p:animClr clrSpc="rgb" dir="cw">
                                      <p:cBhvr override="childStyle">
                                        <p:cTn id="62" dur="250" autoRev="1" fill="remove"/>
                                        <p:tgtEl>
                                          <p:spTgt spid="16"/>
                                        </p:tgtEl>
                                        <p:attrNameLst>
                                          <p:attrName>style.color</p:attrName>
                                        </p:attrNameLst>
                                      </p:cBhvr>
                                      <p:to>
                                        <a:schemeClr val="bg1"/>
                                      </p:to>
                                    </p:animClr>
                                    <p:animClr clrSpc="rgb" dir="cw">
                                      <p:cBhvr>
                                        <p:cTn id="63" dur="250" autoRev="1" fill="remove"/>
                                        <p:tgtEl>
                                          <p:spTgt spid="16"/>
                                        </p:tgtEl>
                                        <p:attrNameLst>
                                          <p:attrName>fillcolor</p:attrName>
                                        </p:attrNameLst>
                                      </p:cBhvr>
                                      <p:to>
                                        <a:schemeClr val="bg1"/>
                                      </p:to>
                                    </p:animClr>
                                    <p:set>
                                      <p:cBhvr>
                                        <p:cTn id="64" dur="250" autoRev="1" fill="remove"/>
                                        <p:tgtEl>
                                          <p:spTgt spid="16"/>
                                        </p:tgtEl>
                                        <p:attrNameLst>
                                          <p:attrName>fill.type</p:attrName>
                                        </p:attrNameLst>
                                      </p:cBhvr>
                                      <p:to>
                                        <p:strVal val="solid"/>
                                      </p:to>
                                    </p:set>
                                    <p:set>
                                      <p:cBhvr>
                                        <p:cTn id="65" dur="250" autoRev="1" fill="remove"/>
                                        <p:tgtEl>
                                          <p:spTgt spid="16"/>
                                        </p:tgtEl>
                                        <p:attrNameLst>
                                          <p:attrName>fill.on</p:attrName>
                                        </p:attrNameLst>
                                      </p:cBhvr>
                                      <p:to>
                                        <p:strVal val="true"/>
                                      </p:to>
                                    </p:set>
                                  </p:childTnLst>
                                </p:cTn>
                              </p:par>
                            </p:childTnLst>
                          </p:cTn>
                        </p:par>
                      </p:childTnLst>
                    </p:cTn>
                  </p:par>
                  <p:par>
                    <p:cTn id="66" fill="hold">
                      <p:stCondLst>
                        <p:cond delay="indefinite"/>
                      </p:stCondLst>
                      <p:childTnLst>
                        <p:par>
                          <p:cTn id="67" fill="hold">
                            <p:stCondLst>
                              <p:cond delay="0"/>
                            </p:stCondLst>
                            <p:childTnLst>
                              <p:par>
                                <p:cTn id="68" presetID="26" presetClass="emph" presetSubtype="0" fill="hold" grpId="0" nodeType="clickEffect">
                                  <p:stCondLst>
                                    <p:cond delay="0"/>
                                  </p:stCondLst>
                                  <p:childTnLst>
                                    <p:animEffect transition="out" filter="fade">
                                      <p:cBhvr>
                                        <p:cTn id="69" dur="500" tmFilter="0, 0; .2, .5; .8, .5; 1, 0"/>
                                        <p:tgtEl>
                                          <p:spTgt spid="13"/>
                                        </p:tgtEl>
                                      </p:cBhvr>
                                    </p:animEffect>
                                    <p:animScale>
                                      <p:cBhvr>
                                        <p:cTn id="70" dur="250" autoRev="1" fill="hold"/>
                                        <p:tgtEl>
                                          <p:spTgt spid="13"/>
                                        </p:tgtEl>
                                      </p:cBhvr>
                                      <p:by x="105000" y="105000"/>
                                    </p:animScale>
                                  </p:childTnLst>
                                </p:cTn>
                              </p:par>
                            </p:childTnLst>
                          </p:cTn>
                        </p:par>
                      </p:childTnLst>
                    </p:cTn>
                  </p:par>
                  <p:par>
                    <p:cTn id="71" fill="hold">
                      <p:stCondLst>
                        <p:cond delay="indefinite"/>
                      </p:stCondLst>
                      <p:childTnLst>
                        <p:par>
                          <p:cTn id="72" fill="hold">
                            <p:stCondLst>
                              <p:cond delay="0"/>
                            </p:stCondLst>
                            <p:childTnLst>
                              <p:par>
                                <p:cTn id="73" presetID="16" presetClass="emph" presetSubtype="0" fill="hold" grpId="0" nodeType="clickEffect">
                                  <p:stCondLst>
                                    <p:cond delay="0"/>
                                  </p:stCondLst>
                                  <p:iterate type="lt">
                                    <p:tmPct val="4000"/>
                                  </p:iterate>
                                  <p:childTnLst>
                                    <p:set>
                                      <p:cBhvr override="childStyle">
                                        <p:cTn id="74" dur="500" fill="hold"/>
                                        <p:tgtEl>
                                          <p:spTgt spid="11"/>
                                        </p:tgtEl>
                                        <p:attrNameLst>
                                          <p:attrName>style.color</p:attrName>
                                        </p:attrNameLst>
                                      </p:cBhvr>
                                      <p:to>
                                        <p:clrVal>
                                          <a:schemeClr val="accent2"/>
                                        </p:clrVal>
                                      </p:to>
                                    </p:set>
                                    <p:set>
                                      <p:cBhvr>
                                        <p:cTn id="75" dur="500" fill="hold"/>
                                        <p:tgtEl>
                                          <p:spTgt spid="11"/>
                                        </p:tgtEl>
                                        <p:attrNameLst>
                                          <p:attrName>fillcolor</p:attrName>
                                        </p:attrNameLst>
                                      </p:cBhvr>
                                      <p:to>
                                        <p:clrVal>
                                          <a:schemeClr val="accent2"/>
                                        </p:clrVal>
                                      </p:to>
                                    </p:set>
                                    <p:set>
                                      <p:cBhvr>
                                        <p:cTn id="76" dur="500" fill="hold"/>
                                        <p:tgtEl>
                                          <p:spTgt spid="11"/>
                                        </p:tgtEl>
                                        <p:attrNameLst>
                                          <p:attrName>fill.type</p:attrName>
                                        </p:attrNameLst>
                                      </p:cBhvr>
                                      <p:to>
                                        <p:strVal val="solid"/>
                                      </p:to>
                                    </p:set>
                                  </p:childTnLst>
                                </p:cTn>
                              </p:par>
                            </p:childTnLst>
                          </p:cTn>
                        </p:par>
                      </p:childTnLst>
                    </p:cTn>
                  </p:par>
                  <p:par>
                    <p:cTn id="77" fill="hold">
                      <p:stCondLst>
                        <p:cond delay="indefinite"/>
                      </p:stCondLst>
                      <p:childTnLst>
                        <p:par>
                          <p:cTn id="78" fill="hold">
                            <p:stCondLst>
                              <p:cond delay="0"/>
                            </p:stCondLst>
                            <p:childTnLst>
                              <p:par>
                                <p:cTn id="79" presetID="8" presetClass="emph" presetSubtype="0" fill="hold" grpId="0" nodeType="clickEffect">
                                  <p:stCondLst>
                                    <p:cond delay="0"/>
                                  </p:stCondLst>
                                  <p:childTnLst>
                                    <p:animRot by="21600000">
                                      <p:cBhvr>
                                        <p:cTn id="80" dur="2000" fill="hold"/>
                                        <p:tgtEl>
                                          <p:spTgt spid="15"/>
                                        </p:tgtEl>
                                        <p:attrNameLst>
                                          <p:attrName>r</p:attrName>
                                        </p:attrNameLst>
                                      </p:cBhvr>
                                    </p:animRot>
                                  </p:childTnLst>
                                </p:cTn>
                              </p:par>
                            </p:childTnLst>
                          </p:cTn>
                        </p:par>
                      </p:childTnLst>
                    </p:cTn>
                  </p:par>
                  <p:par>
                    <p:cTn id="81" fill="hold">
                      <p:stCondLst>
                        <p:cond delay="indefinite"/>
                      </p:stCondLst>
                      <p:childTnLst>
                        <p:par>
                          <p:cTn id="82" fill="hold">
                            <p:stCondLst>
                              <p:cond delay="0"/>
                            </p:stCondLst>
                            <p:childTnLst>
                              <p:par>
                                <p:cTn id="83" presetID="16" presetClass="entr" presetSubtype="21" fill="hold" grpId="0" nodeType="clickEffect">
                                  <p:stCondLst>
                                    <p:cond delay="0"/>
                                  </p:stCondLst>
                                  <p:childTnLst>
                                    <p:set>
                                      <p:cBhvr>
                                        <p:cTn id="84" dur="1" fill="hold">
                                          <p:stCondLst>
                                            <p:cond delay="0"/>
                                          </p:stCondLst>
                                        </p:cTn>
                                        <p:tgtEl>
                                          <p:spTgt spid="20"/>
                                        </p:tgtEl>
                                        <p:attrNameLst>
                                          <p:attrName>style.visibility</p:attrName>
                                        </p:attrNameLst>
                                      </p:cBhvr>
                                      <p:to>
                                        <p:strVal val="visible"/>
                                      </p:to>
                                    </p:set>
                                    <p:animEffect transition="in" filter="barn(inVertical)">
                                      <p:cBhvr>
                                        <p:cTn id="8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10" grpId="0"/>
      <p:bldP spid="11" grpId="0"/>
      <p:bldP spid="12" grpId="0"/>
      <p:bldP spid="13" grpId="0"/>
      <p:bldP spid="15" grpId="0"/>
      <p:bldP spid="16" grpId="0"/>
      <p:bldP spid="17" grpId="0"/>
      <p:bldP spid="18" grpId="0"/>
      <p:bldP spid="19" grpId="0"/>
      <p:bldP spid="2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Common Roles in a Software Company…</a:t>
            </a:r>
          </a:p>
        </p:txBody>
      </p:sp>
      <p:sp>
        <p:nvSpPr>
          <p:cNvPr id="3" name="Content Placeholder 2"/>
          <p:cNvSpPr>
            <a:spLocks noGrp="1"/>
          </p:cNvSpPr>
          <p:nvPr>
            <p:ph idx="1"/>
          </p:nvPr>
        </p:nvSpPr>
        <p:spPr/>
        <p:txBody>
          <a:bodyPr>
            <a:normAutofit/>
          </a:bodyPr>
          <a:lstStyle/>
          <a:p>
            <a:pPr algn="just"/>
            <a:r>
              <a:rPr lang="en-US" dirty="0"/>
              <a:t>Organizing a software company is very specialized type of management skill, where experienced persons can turn the organizational problem into a unique benefit. For example, having sub-teams spread in different time zones may allow a 24-hour company working day, if the teams, systems and procedures are well established. A good example is the test team in time zone 8 hours ahead or behind the development team, who fix software bugs found by the testers.</a:t>
            </a:r>
          </a:p>
        </p:txBody>
      </p:sp>
      <p:pic>
        <p:nvPicPr>
          <p:cNvPr id="4" name="Picture 3">
            <a:extLst>
              <a:ext uri="{FF2B5EF4-FFF2-40B4-BE49-F238E27FC236}">
                <a16:creationId xmlns:a16="http://schemas.microsoft.com/office/drawing/2014/main" id="{7E1DAD04-EE7E-AB4C-AA7D-40A82CBCC663}"/>
              </a:ext>
            </a:extLst>
          </p:cNvPr>
          <p:cNvPicPr>
            <a:picLocks noChangeAspect="1"/>
          </p:cNvPicPr>
          <p:nvPr/>
        </p:nvPicPr>
        <p:blipFill>
          <a:blip r:embed="rId3"/>
          <a:stretch>
            <a:fillRect/>
          </a:stretch>
        </p:blipFill>
        <p:spPr>
          <a:xfrm>
            <a:off x="4895850" y="4949826"/>
            <a:ext cx="2400300" cy="927100"/>
          </a:xfrm>
          <a:prstGeom prst="rect">
            <a:avLst/>
          </a:prstGeom>
        </p:spPr>
      </p:pic>
    </p:spTree>
    <p:extLst>
      <p:ext uri="{BB962C8B-B14F-4D97-AF65-F5344CB8AC3E}">
        <p14:creationId xmlns:p14="http://schemas.microsoft.com/office/powerpoint/2010/main" val="41054075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Common Roles in a Software Company…</a:t>
            </a:r>
          </a:p>
        </p:txBody>
      </p:sp>
      <p:sp>
        <p:nvSpPr>
          <p:cNvPr id="3" name="Content Placeholder 2"/>
          <p:cNvSpPr>
            <a:spLocks noGrp="1"/>
          </p:cNvSpPr>
          <p:nvPr>
            <p:ph idx="1"/>
          </p:nvPr>
        </p:nvSpPr>
        <p:spPr/>
        <p:txBody>
          <a:bodyPr>
            <a:normAutofit/>
          </a:bodyPr>
          <a:lstStyle/>
          <a:p>
            <a:pPr marL="0" indent="0" algn="just">
              <a:buNone/>
            </a:pPr>
            <a:r>
              <a:rPr lang="en-US" dirty="0"/>
              <a:t>A professional software company normally consists of at least three dedicated sub-teams :</a:t>
            </a:r>
          </a:p>
          <a:p>
            <a:pPr algn="just"/>
            <a:r>
              <a:rPr lang="en-US" dirty="0"/>
              <a:t>Business analysts who define the business needs of the market</a:t>
            </a:r>
          </a:p>
          <a:p>
            <a:pPr algn="just"/>
            <a:r>
              <a:rPr lang="en-US" dirty="0"/>
              <a:t>Software developers who create the technical specification and write the software</a:t>
            </a:r>
          </a:p>
          <a:p>
            <a:pPr algn="just"/>
            <a:r>
              <a:rPr lang="en-US" dirty="0"/>
              <a:t>Software testers who are responsible for the whole process of quality management</a:t>
            </a:r>
          </a:p>
          <a:p>
            <a:pPr algn="just"/>
            <a:endParaRPr lang="en-US" dirty="0"/>
          </a:p>
        </p:txBody>
      </p:sp>
      <p:pic>
        <p:nvPicPr>
          <p:cNvPr id="4" name="Picture 3">
            <a:extLst>
              <a:ext uri="{FF2B5EF4-FFF2-40B4-BE49-F238E27FC236}">
                <a16:creationId xmlns:a16="http://schemas.microsoft.com/office/drawing/2014/main" id="{43E52632-695C-2449-96CE-2E181EB35016}"/>
              </a:ext>
            </a:extLst>
          </p:cNvPr>
          <p:cNvPicPr>
            <a:picLocks noChangeAspect="1"/>
          </p:cNvPicPr>
          <p:nvPr/>
        </p:nvPicPr>
        <p:blipFill>
          <a:blip r:embed="rId3"/>
          <a:stretch>
            <a:fillRect/>
          </a:stretch>
        </p:blipFill>
        <p:spPr>
          <a:xfrm>
            <a:off x="4895850" y="4926012"/>
            <a:ext cx="2400300" cy="1028700"/>
          </a:xfrm>
          <a:prstGeom prst="rect">
            <a:avLst/>
          </a:prstGeom>
        </p:spPr>
      </p:pic>
    </p:spTree>
    <p:extLst>
      <p:ext uri="{BB962C8B-B14F-4D97-AF65-F5344CB8AC3E}">
        <p14:creationId xmlns:p14="http://schemas.microsoft.com/office/powerpoint/2010/main" val="35225218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Common Roles in a Software Company…</a:t>
            </a:r>
          </a:p>
        </p:txBody>
      </p:sp>
      <p:sp>
        <p:nvSpPr>
          <p:cNvPr id="3" name="Content Placeholder 2"/>
          <p:cNvSpPr>
            <a:spLocks noGrp="1"/>
          </p:cNvSpPr>
          <p:nvPr>
            <p:ph idx="1"/>
          </p:nvPr>
        </p:nvSpPr>
        <p:spPr/>
        <p:txBody>
          <a:bodyPr>
            <a:normAutofit fontScale="92500" lnSpcReduction="20000"/>
          </a:bodyPr>
          <a:lstStyle/>
          <a:p>
            <a:pPr marL="0" indent="0" algn="just">
              <a:buNone/>
            </a:pPr>
            <a:r>
              <a:rPr lang="en-US" dirty="0"/>
              <a:t>In bigger software companies, greater specialization is employed, and quite often there are also:</a:t>
            </a:r>
          </a:p>
          <a:p>
            <a:pPr algn="just"/>
            <a:r>
              <a:rPr lang="en-US" dirty="0"/>
              <a:t>Technical writers who write all the documentation such as user guides</a:t>
            </a:r>
          </a:p>
          <a:p>
            <a:pPr algn="just"/>
            <a:r>
              <a:rPr lang="en-US" dirty="0"/>
              <a:t>Release specialists who are responsible for building the whole product and software versioning</a:t>
            </a:r>
          </a:p>
          <a:p>
            <a:pPr algn="just"/>
            <a:r>
              <a:rPr lang="en-US" dirty="0"/>
              <a:t>User experience designers, who are creating the design architecture based on business requirements,</a:t>
            </a:r>
          </a:p>
          <a:p>
            <a:pPr algn="just"/>
            <a:r>
              <a:rPr lang="en-US" dirty="0"/>
              <a:t>user research and expertise in usability</a:t>
            </a:r>
          </a:p>
          <a:p>
            <a:pPr algn="just"/>
            <a:r>
              <a:rPr lang="en-US" dirty="0"/>
              <a:t>Graphic designers who are normally responsible for the design of the graphical user interface.</a:t>
            </a:r>
          </a:p>
          <a:p>
            <a:pPr algn="just"/>
            <a:r>
              <a:rPr lang="en-US" dirty="0"/>
              <a:t>Maintenance engineers who are behind two, three or more lines of support</a:t>
            </a:r>
          </a:p>
          <a:p>
            <a:pPr algn="just"/>
            <a:endParaRPr lang="en-US" dirty="0"/>
          </a:p>
        </p:txBody>
      </p:sp>
    </p:spTree>
    <p:extLst>
      <p:ext uri="{BB962C8B-B14F-4D97-AF65-F5344CB8AC3E}">
        <p14:creationId xmlns:p14="http://schemas.microsoft.com/office/powerpoint/2010/main" val="12394597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Structure</a:t>
            </a:r>
          </a:p>
        </p:txBody>
      </p:sp>
      <p:sp>
        <p:nvSpPr>
          <p:cNvPr id="3" name="Content Placeholder 2"/>
          <p:cNvSpPr>
            <a:spLocks noGrp="1"/>
          </p:cNvSpPr>
          <p:nvPr>
            <p:ph idx="1"/>
          </p:nvPr>
        </p:nvSpPr>
        <p:spPr/>
        <p:txBody>
          <a:bodyPr>
            <a:normAutofit/>
          </a:bodyPr>
          <a:lstStyle/>
          <a:p>
            <a:pPr marL="0" indent="0" algn="just">
              <a:buNone/>
            </a:pPr>
            <a:r>
              <a:rPr lang="en-GB" dirty="0"/>
              <a:t>The manager of a software company is usually called the Head Of Development (HOD), and reports to the stakeholders. He or she leads the sub-teams directly or via the managers/leaders depending on the size of the organization. Usually teams of up to 10 person are the most operational. In bigger organizations, there are in general two models of the hierarchy:</a:t>
            </a:r>
          </a:p>
        </p:txBody>
      </p:sp>
    </p:spTree>
    <p:extLst>
      <p:ext uri="{BB962C8B-B14F-4D97-AF65-F5344CB8AC3E}">
        <p14:creationId xmlns:p14="http://schemas.microsoft.com/office/powerpoint/2010/main" val="4467543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62271"/>
            <a:ext cx="10515600" cy="1128417"/>
          </a:xfrm>
        </p:spPr>
        <p:txBody>
          <a:bodyPr vert="horz" lIns="91440" tIns="45720" rIns="91440" bIns="45720" rtlCol="0" anchor="ctr">
            <a:normAutofit/>
          </a:bodyPr>
          <a:lstStyle/>
          <a:p>
            <a:r>
              <a:rPr lang="en-US" sz="5200" dirty="0"/>
              <a:t>Structure…</a:t>
            </a:r>
          </a:p>
        </p:txBody>
      </p:sp>
      <p:pic>
        <p:nvPicPr>
          <p:cNvPr id="4" name="Content Placeholder 3">
            <a:extLst>
              <a:ext uri="{FF2B5EF4-FFF2-40B4-BE49-F238E27FC236}">
                <a16:creationId xmlns:a16="http://schemas.microsoft.com/office/drawing/2014/main" id="{CAA2056E-9944-0B4E-B120-DF4432B17452}"/>
              </a:ext>
            </a:extLst>
          </p:cNvPr>
          <p:cNvPicPr>
            <a:picLocks noGrp="1" noChangeAspect="1"/>
          </p:cNvPicPr>
          <p:nvPr>
            <p:ph idx="1"/>
          </p:nvPr>
        </p:nvPicPr>
        <p:blipFill rotWithShape="1">
          <a:blip r:embed="rId3"/>
          <a:srcRect l="2788" r="6858"/>
          <a:stretch/>
        </p:blipFill>
        <p:spPr>
          <a:xfrm>
            <a:off x="569626" y="562271"/>
            <a:ext cx="10784174" cy="6126999"/>
          </a:xfrm>
          <a:prstGeom prst="rect">
            <a:avLst/>
          </a:prstGeom>
        </p:spPr>
      </p:pic>
    </p:spTree>
    <p:extLst>
      <p:ext uri="{BB962C8B-B14F-4D97-AF65-F5344CB8AC3E}">
        <p14:creationId xmlns:p14="http://schemas.microsoft.com/office/powerpoint/2010/main" val="4261612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676" y="413657"/>
            <a:ext cx="10515600" cy="1128417"/>
          </a:xfrm>
        </p:spPr>
        <p:txBody>
          <a:bodyPr vert="horz" lIns="91440" tIns="45720" rIns="91440" bIns="45720" rtlCol="0" anchor="ctr">
            <a:normAutofit/>
          </a:bodyPr>
          <a:lstStyle/>
          <a:p>
            <a:r>
              <a:rPr lang="en-US" sz="5200" dirty="0"/>
              <a:t>Structure…</a:t>
            </a:r>
          </a:p>
        </p:txBody>
      </p:sp>
      <p:pic>
        <p:nvPicPr>
          <p:cNvPr id="7" name="Content Placeholder 6">
            <a:extLst>
              <a:ext uri="{FF2B5EF4-FFF2-40B4-BE49-F238E27FC236}">
                <a16:creationId xmlns:a16="http://schemas.microsoft.com/office/drawing/2014/main" id="{3DC09B2E-6B4E-BF47-8DC7-AF8DA9C6922B}"/>
              </a:ext>
            </a:extLst>
          </p:cNvPr>
          <p:cNvPicPr>
            <a:picLocks noGrp="1" noChangeAspect="1"/>
          </p:cNvPicPr>
          <p:nvPr>
            <p:ph idx="1"/>
          </p:nvPr>
        </p:nvPicPr>
        <p:blipFill>
          <a:blip r:embed="rId3"/>
          <a:stretch>
            <a:fillRect/>
          </a:stretch>
        </p:blipFill>
        <p:spPr>
          <a:xfrm>
            <a:off x="539646" y="413657"/>
            <a:ext cx="10812630" cy="6197005"/>
          </a:xfrm>
          <a:prstGeom prst="rect">
            <a:avLst/>
          </a:prstGeom>
        </p:spPr>
      </p:pic>
    </p:spTree>
    <p:extLst>
      <p:ext uri="{BB962C8B-B14F-4D97-AF65-F5344CB8AC3E}">
        <p14:creationId xmlns:p14="http://schemas.microsoft.com/office/powerpoint/2010/main" val="29745557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Structure…</a:t>
            </a:r>
          </a:p>
        </p:txBody>
      </p:sp>
      <p:sp>
        <p:nvSpPr>
          <p:cNvPr id="3" name="Content Placeholder 2"/>
          <p:cNvSpPr>
            <a:spLocks noGrp="1"/>
          </p:cNvSpPr>
          <p:nvPr>
            <p:ph idx="1"/>
          </p:nvPr>
        </p:nvSpPr>
        <p:spPr/>
        <p:txBody>
          <a:bodyPr>
            <a:normAutofit fontScale="85000" lnSpcReduction="20000"/>
          </a:bodyPr>
          <a:lstStyle/>
          <a:p>
            <a:pPr algn="just"/>
            <a:r>
              <a:rPr lang="en-GB" dirty="0"/>
              <a:t>All the teams are fully independent and they work separately on the different projects. The structure is quite simple and all the employees reports to one person, what make the situation quite clear however it is not a good solution in terms of knowledge exchange and optimal usage of human resources.</a:t>
            </a:r>
          </a:p>
          <a:p>
            <a:pPr algn="just"/>
            <a:r>
              <a:rPr lang="en-GB" dirty="0"/>
              <a:t>In this model there are dedicated managers/leaders for each main specialization, "renting" their people for particular projects led by product/project managers, who formally or informally buy the people and pay for their time. This leads to each private employee having two bosses – the product/project manager and the specialized "resource" manager. On one hand it optimizes the usage of human resources, on the other hand it may give rise to conflicts about which one manager has priority in the structure.</a:t>
            </a:r>
          </a:p>
          <a:p>
            <a:pPr algn="just"/>
            <a:r>
              <a:rPr lang="en-GB" dirty="0"/>
              <a:t>There are also a number of variants of these structures, and a number of organizations have this structure spread and split within various departments and units.</a:t>
            </a:r>
          </a:p>
        </p:txBody>
      </p:sp>
    </p:spTree>
    <p:extLst>
      <p:ext uri="{BB962C8B-B14F-4D97-AF65-F5344CB8AC3E}">
        <p14:creationId xmlns:p14="http://schemas.microsoft.com/office/powerpoint/2010/main" val="5746907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Methodologies</a:t>
            </a:r>
          </a:p>
        </p:txBody>
      </p:sp>
      <p:sp>
        <p:nvSpPr>
          <p:cNvPr id="3" name="Content Placeholder 2"/>
          <p:cNvSpPr>
            <a:spLocks noGrp="1"/>
          </p:cNvSpPr>
          <p:nvPr>
            <p:ph idx="1"/>
          </p:nvPr>
        </p:nvSpPr>
        <p:spPr/>
        <p:txBody>
          <a:bodyPr>
            <a:normAutofit/>
          </a:bodyPr>
          <a:lstStyle/>
          <a:p>
            <a:pPr marL="0" indent="0" algn="just">
              <a:buNone/>
            </a:pPr>
            <a:r>
              <a:rPr lang="en-US" dirty="0"/>
              <a:t>Software companies may use a number of various methodologies to produce the code. These can include:</a:t>
            </a:r>
          </a:p>
          <a:p>
            <a:pPr algn="just"/>
            <a:r>
              <a:rPr lang="en-US" dirty="0"/>
              <a:t>The waterfall model, including project management methodologies like PRINCE2 or </a:t>
            </a:r>
            <a:r>
              <a:rPr lang="en-US" dirty="0" err="1"/>
              <a:t>PMBoK</a:t>
            </a:r>
            <a:endParaRPr lang="en-US" dirty="0"/>
          </a:p>
          <a:p>
            <a:pPr algn="just"/>
            <a:r>
              <a:rPr lang="en-US" dirty="0"/>
              <a:t>Agile software development, such as Extreme Programming and SCRUM</a:t>
            </a:r>
          </a:p>
          <a:p>
            <a:pPr algn="just"/>
            <a:r>
              <a:rPr lang="en-US" dirty="0"/>
              <a:t>There are also some methodologies which combine both, such as the spiral model, Rational Unified Process (RUP)</a:t>
            </a:r>
          </a:p>
        </p:txBody>
      </p:sp>
    </p:spTree>
    <p:extLst>
      <p:ext uri="{BB962C8B-B14F-4D97-AF65-F5344CB8AC3E}">
        <p14:creationId xmlns:p14="http://schemas.microsoft.com/office/powerpoint/2010/main" val="16422831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Product Life Cycle</a:t>
            </a:r>
          </a:p>
        </p:txBody>
      </p:sp>
      <p:sp>
        <p:nvSpPr>
          <p:cNvPr id="3" name="Content Placeholder 2"/>
          <p:cNvSpPr>
            <a:spLocks noGrp="1"/>
          </p:cNvSpPr>
          <p:nvPr>
            <p:ph idx="1"/>
          </p:nvPr>
        </p:nvSpPr>
        <p:spPr/>
        <p:txBody>
          <a:bodyPr>
            <a:normAutofit/>
          </a:bodyPr>
          <a:lstStyle/>
          <a:p>
            <a:pPr marL="0" indent="0" algn="just">
              <a:buNone/>
            </a:pPr>
            <a:r>
              <a:rPr lang="en-US" dirty="0"/>
              <a:t>Regardless of the methodology used, the </a:t>
            </a:r>
            <a:r>
              <a:rPr lang="en-US" b="1" dirty="0"/>
              <a:t>product life cycle </a:t>
            </a:r>
            <a:r>
              <a:rPr lang="en-US" dirty="0"/>
              <a:t>always consists of at least three stages:</a:t>
            </a:r>
          </a:p>
          <a:p>
            <a:pPr algn="just"/>
            <a:r>
              <a:rPr lang="en-US" dirty="0"/>
              <a:t>Design – including both the business and technical specification</a:t>
            </a:r>
          </a:p>
          <a:p>
            <a:pPr algn="just"/>
            <a:r>
              <a:rPr lang="en-US" dirty="0"/>
              <a:t>Coding – the development itself</a:t>
            </a:r>
          </a:p>
          <a:p>
            <a:pPr algn="just"/>
            <a:r>
              <a:rPr lang="en-US" dirty="0"/>
              <a:t>Testing – the quality management</a:t>
            </a:r>
          </a:p>
          <a:p>
            <a:pPr marL="0" indent="0" algn="just">
              <a:buNone/>
            </a:pPr>
            <a:r>
              <a:rPr lang="en-US" dirty="0"/>
              <a:t>At each stage, a different group plays a key role, however each type of role must be involved throughout the whole development process.</a:t>
            </a:r>
          </a:p>
        </p:txBody>
      </p:sp>
    </p:spTree>
    <p:extLst>
      <p:ext uri="{BB962C8B-B14F-4D97-AF65-F5344CB8AC3E}">
        <p14:creationId xmlns:p14="http://schemas.microsoft.com/office/powerpoint/2010/main" val="30083916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Product Life Cycle…</a:t>
            </a:r>
          </a:p>
        </p:txBody>
      </p:sp>
      <p:sp>
        <p:nvSpPr>
          <p:cNvPr id="3" name="Content Placeholder 2"/>
          <p:cNvSpPr>
            <a:spLocks noGrp="1"/>
          </p:cNvSpPr>
          <p:nvPr>
            <p:ph idx="1"/>
          </p:nvPr>
        </p:nvSpPr>
        <p:spPr/>
        <p:txBody>
          <a:bodyPr>
            <a:normAutofit fontScale="92500" lnSpcReduction="10000"/>
          </a:bodyPr>
          <a:lstStyle/>
          <a:p>
            <a:pPr algn="just"/>
            <a:r>
              <a:rPr lang="en-US" dirty="0"/>
              <a:t>Analysts, after completing the business specification, manage the changing business situation to minimize the possibility of change over time. They also support both programmers and testers during the whole development process to ensure that the final product fulfills the business needs specified at the start. The process ideally puts business analysts as the key players during final delivery of the solution to the customer, as they are placed to provide the best business layer.</a:t>
            </a:r>
          </a:p>
          <a:p>
            <a:pPr algn="just"/>
            <a:r>
              <a:rPr lang="en-US" dirty="0"/>
              <a:t>Programmers do the technical specification during the design phase, which is why they are called programmers/designers, and during testing time they fix bugs.</a:t>
            </a:r>
          </a:p>
          <a:p>
            <a:pPr algn="just"/>
            <a:r>
              <a:rPr lang="en-US" dirty="0"/>
              <a:t>Testers complete the test scenarios during the design phase, and evaluate them during the coding phase.</a:t>
            </a:r>
          </a:p>
        </p:txBody>
      </p:sp>
    </p:spTree>
    <p:extLst>
      <p:ext uri="{BB962C8B-B14F-4D97-AF65-F5344CB8AC3E}">
        <p14:creationId xmlns:p14="http://schemas.microsoft.com/office/powerpoint/2010/main" val="10776993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62271"/>
            <a:ext cx="10515600" cy="1128417"/>
          </a:xfrm>
        </p:spPr>
        <p:txBody>
          <a:bodyPr vert="horz" lIns="91440" tIns="45720" rIns="91440" bIns="45720" rtlCol="0" anchor="ctr">
            <a:normAutofit/>
          </a:bodyPr>
          <a:lstStyle/>
          <a:p>
            <a:r>
              <a:rPr lang="en-US" sz="5200"/>
              <a:t>System &amp; Procedure</a:t>
            </a:r>
          </a:p>
        </p:txBody>
      </p:sp>
      <p:pic>
        <p:nvPicPr>
          <p:cNvPr id="4" name="Content Placeholder 3">
            <a:extLst>
              <a:ext uri="{FF2B5EF4-FFF2-40B4-BE49-F238E27FC236}">
                <a16:creationId xmlns:a16="http://schemas.microsoft.com/office/drawing/2014/main" id="{6B81194E-112A-2C47-95A6-8C88B7180297}"/>
              </a:ext>
            </a:extLst>
          </p:cNvPr>
          <p:cNvPicPr>
            <a:picLocks noGrp="1" noChangeAspect="1"/>
          </p:cNvPicPr>
          <p:nvPr>
            <p:ph idx="1"/>
          </p:nvPr>
        </p:nvPicPr>
        <p:blipFill rotWithShape="1">
          <a:blip r:embed="rId3"/>
          <a:srcRect t="14839" r="-1" b="8539"/>
          <a:stretch/>
        </p:blipFill>
        <p:spPr>
          <a:xfrm>
            <a:off x="838200" y="1845426"/>
            <a:ext cx="10512547" cy="4450303"/>
          </a:xfrm>
          <a:prstGeom prst="rect">
            <a:avLst/>
          </a:prstGeom>
        </p:spPr>
      </p:pic>
    </p:spTree>
    <p:extLst>
      <p:ext uri="{BB962C8B-B14F-4D97-AF65-F5344CB8AC3E}">
        <p14:creationId xmlns:p14="http://schemas.microsoft.com/office/powerpoint/2010/main" val="20937934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System &amp; Procedure…</a:t>
            </a:r>
          </a:p>
        </p:txBody>
      </p:sp>
      <p:sp>
        <p:nvSpPr>
          <p:cNvPr id="3" name="Content Placeholder 2"/>
          <p:cNvSpPr>
            <a:spLocks noGrp="1"/>
          </p:cNvSpPr>
          <p:nvPr>
            <p:ph idx="1"/>
          </p:nvPr>
        </p:nvSpPr>
        <p:spPr/>
        <p:txBody>
          <a:bodyPr>
            <a:normAutofit fontScale="92500" lnSpcReduction="10000"/>
          </a:bodyPr>
          <a:lstStyle/>
          <a:p>
            <a:pPr marL="0" indent="0" algn="just">
              <a:buNone/>
            </a:pPr>
            <a:r>
              <a:rPr lang="en-US" dirty="0"/>
              <a:t>Well-run software companies possess various systems and procedures implemented and working internally across all the sub-teams. These include:</a:t>
            </a:r>
          </a:p>
          <a:p>
            <a:pPr marL="0" indent="0" algn="just">
              <a:buNone/>
            </a:pPr>
            <a:r>
              <a:rPr lang="en-US" b="1" dirty="0"/>
              <a:t>Business Analysts</a:t>
            </a:r>
          </a:p>
          <a:p>
            <a:pPr algn="just"/>
            <a:r>
              <a:rPr lang="en-US" dirty="0"/>
              <a:t>Modeling tools like </a:t>
            </a:r>
            <a:r>
              <a:rPr lang="en-US" dirty="0" err="1"/>
              <a:t>Sparx</a:t>
            </a:r>
            <a:r>
              <a:rPr lang="en-US" dirty="0"/>
              <a:t> Systems Enterprise Architect or IBM’s Rational Rose </a:t>
            </a:r>
          </a:p>
          <a:p>
            <a:pPr marL="0" indent="0" algn="just">
              <a:buNone/>
            </a:pPr>
            <a:r>
              <a:rPr lang="en-US" b="1" dirty="0"/>
              <a:t>Programmers</a:t>
            </a:r>
          </a:p>
          <a:p>
            <a:pPr algn="just"/>
            <a:r>
              <a:rPr lang="en-US" dirty="0"/>
              <a:t>Version Control Systems and software versioning procedures</a:t>
            </a:r>
          </a:p>
          <a:p>
            <a:pPr algn="just"/>
            <a:r>
              <a:rPr lang="en-US" dirty="0"/>
              <a:t>Code analysis tools and coding standards, validated manually or automatically</a:t>
            </a:r>
          </a:p>
          <a:p>
            <a:pPr algn="just"/>
            <a:r>
              <a:rPr lang="en-US" dirty="0"/>
              <a:t>Deployment mechanisms</a:t>
            </a:r>
          </a:p>
        </p:txBody>
      </p:sp>
    </p:spTree>
    <p:extLst>
      <p:ext uri="{BB962C8B-B14F-4D97-AF65-F5344CB8AC3E}">
        <p14:creationId xmlns:p14="http://schemas.microsoft.com/office/powerpoint/2010/main" val="33140849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System &amp; Procedure</a:t>
            </a:r>
          </a:p>
        </p:txBody>
      </p:sp>
      <p:sp>
        <p:nvSpPr>
          <p:cNvPr id="3" name="Content Placeholder 2"/>
          <p:cNvSpPr>
            <a:spLocks noGrp="1"/>
          </p:cNvSpPr>
          <p:nvPr>
            <p:ph idx="1"/>
          </p:nvPr>
        </p:nvSpPr>
        <p:spPr/>
        <p:txBody>
          <a:bodyPr>
            <a:normAutofit fontScale="85000" lnSpcReduction="10000"/>
          </a:bodyPr>
          <a:lstStyle/>
          <a:p>
            <a:pPr marL="0" indent="0" algn="just">
              <a:buNone/>
            </a:pPr>
            <a:r>
              <a:rPr lang="en-US" b="1" dirty="0"/>
              <a:t>Testers</a:t>
            </a:r>
          </a:p>
          <a:p>
            <a:pPr algn="just"/>
            <a:r>
              <a:rPr lang="en-US" dirty="0"/>
              <a:t>Bug tracking systems</a:t>
            </a:r>
          </a:p>
          <a:p>
            <a:pPr algn="just"/>
            <a:r>
              <a:rPr lang="en-US" dirty="0"/>
              <a:t>Test automation tools</a:t>
            </a:r>
          </a:p>
          <a:p>
            <a:pPr algn="just"/>
            <a:r>
              <a:rPr lang="en-US" dirty="0"/>
              <a:t>Performance and stress test tools</a:t>
            </a:r>
          </a:p>
          <a:p>
            <a:pPr marL="0" indent="0" algn="just">
              <a:buNone/>
            </a:pPr>
            <a:r>
              <a:rPr lang="en-US" b="1" dirty="0"/>
              <a:t>Project/Product managers</a:t>
            </a:r>
          </a:p>
          <a:p>
            <a:pPr algn="just"/>
            <a:r>
              <a:rPr lang="en-US" dirty="0"/>
              <a:t>Enterprise Project Management (EPM) systems and procedures</a:t>
            </a:r>
          </a:p>
          <a:p>
            <a:pPr algn="just"/>
            <a:r>
              <a:rPr lang="en-US"/>
              <a:t>e.g. </a:t>
            </a:r>
            <a:r>
              <a:rPr lang="en-US" dirty="0"/>
              <a:t>Product portfolio management (PPM)</a:t>
            </a:r>
          </a:p>
          <a:p>
            <a:pPr algn="just"/>
            <a:r>
              <a:rPr lang="en-US" dirty="0"/>
              <a:t>Change management systems and procedures</a:t>
            </a:r>
          </a:p>
          <a:p>
            <a:pPr algn="just"/>
            <a:r>
              <a:rPr lang="en-US" dirty="0"/>
              <a:t>There are also Application Lifecycle Management (ALM), which embed some of these functionalities in one package and are used across the groups. They are delivered from various vendors like Borland, ECM or Compuware.</a:t>
            </a:r>
          </a:p>
        </p:txBody>
      </p:sp>
    </p:spTree>
    <p:extLst>
      <p:ext uri="{BB962C8B-B14F-4D97-AF65-F5344CB8AC3E}">
        <p14:creationId xmlns:p14="http://schemas.microsoft.com/office/powerpoint/2010/main" val="19511135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8929" y="557190"/>
            <a:ext cx="5170852" cy="1671564"/>
          </a:xfrm>
        </p:spPr>
        <p:txBody>
          <a:bodyPr>
            <a:normAutofit/>
          </a:bodyPr>
          <a:lstStyle/>
          <a:p>
            <a:r>
              <a:rPr lang="en-GB" sz="4000"/>
              <a:t>Efficiency Audits</a:t>
            </a:r>
          </a:p>
        </p:txBody>
      </p:sp>
      <p:sp>
        <p:nvSpPr>
          <p:cNvPr id="3" name="Content Placeholder 2"/>
          <p:cNvSpPr>
            <a:spLocks noGrp="1"/>
          </p:cNvSpPr>
          <p:nvPr>
            <p:ph idx="1"/>
          </p:nvPr>
        </p:nvSpPr>
        <p:spPr>
          <a:xfrm>
            <a:off x="648930" y="2398030"/>
            <a:ext cx="5180245" cy="3731058"/>
          </a:xfrm>
        </p:spPr>
        <p:txBody>
          <a:bodyPr>
            <a:normAutofit/>
          </a:bodyPr>
          <a:lstStyle/>
          <a:p>
            <a:pPr marL="0" indent="0">
              <a:buNone/>
            </a:pPr>
            <a:r>
              <a:rPr lang="en-GB" sz="1600"/>
              <a:t>Well-established software companies typically have some way of measuring their own efficiency. This is usually done by defining the set of key performance indicators, such as</a:t>
            </a:r>
          </a:p>
          <a:p>
            <a:r>
              <a:rPr lang="en-GB" sz="1600"/>
              <a:t>The average number of bugs done by the developer per unit of time or source lines of code</a:t>
            </a:r>
          </a:p>
          <a:p>
            <a:r>
              <a:rPr lang="en-GB" sz="1600"/>
              <a:t>The number of bugs found by tester per test cycle</a:t>
            </a:r>
          </a:p>
          <a:p>
            <a:r>
              <a:rPr lang="en-GB" sz="1600"/>
              <a:t>The average number of test cycles until Zero Bug Bounce (ZBB)</a:t>
            </a:r>
          </a:p>
          <a:p>
            <a:r>
              <a:rPr lang="en-GB" sz="1600"/>
              <a:t>The average time of test cycle</a:t>
            </a:r>
          </a:p>
          <a:p>
            <a:r>
              <a:rPr lang="en-GB" sz="1600"/>
              <a:t>Estimated time of task comparing to the real time of the task (exactitude of planning)</a:t>
            </a:r>
          </a:p>
          <a:p>
            <a:r>
              <a:rPr lang="en-GB" sz="1600"/>
              <a:t>Number of corrections to the baseline</a:t>
            </a:r>
          </a:p>
        </p:txBody>
      </p:sp>
      <p:pic>
        <p:nvPicPr>
          <p:cNvPr id="4" name="Picture 3">
            <a:extLst>
              <a:ext uri="{FF2B5EF4-FFF2-40B4-BE49-F238E27FC236}">
                <a16:creationId xmlns:a16="http://schemas.microsoft.com/office/drawing/2014/main" id="{DAB4D630-F0B8-CD42-B1CD-A42D6EF3920B}"/>
              </a:ext>
            </a:extLst>
          </p:cNvPr>
          <p:cNvPicPr>
            <a:picLocks noChangeAspect="1"/>
          </p:cNvPicPr>
          <p:nvPr/>
        </p:nvPicPr>
        <p:blipFill rotWithShape="1">
          <a:blip r:embed="rId3"/>
          <a:srcRect l="4089" r="3111" b="2"/>
          <a:stretch/>
        </p:blipFill>
        <p:spPr>
          <a:xfrm>
            <a:off x="6182944" y="557189"/>
            <a:ext cx="5170852" cy="5571898"/>
          </a:xfrm>
          <a:prstGeom prst="rect">
            <a:avLst/>
          </a:prstGeom>
          <a:effectLst/>
        </p:spPr>
      </p:pic>
    </p:spTree>
    <p:extLst>
      <p:ext uri="{BB962C8B-B14F-4D97-AF65-F5344CB8AC3E}">
        <p14:creationId xmlns:p14="http://schemas.microsoft.com/office/powerpoint/2010/main" val="23026698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p:txBody>
          <a:bodyPr/>
          <a:lstStyle/>
          <a:p>
            <a:r>
              <a:rPr lang="en-US" sz="1800" dirty="0">
                <a:hlinkClick r:id="rId2"/>
              </a:rPr>
              <a:t>https://churchjobfinder.com/seven-common-elements-healthy-team-ron-edmondson/</a:t>
            </a:r>
            <a:endParaRPr lang="en-US" sz="1800" dirty="0"/>
          </a:p>
          <a:p>
            <a:r>
              <a:rPr lang="en-GB" sz="1800" dirty="0">
                <a:hlinkClick r:id="rId3"/>
              </a:rPr>
              <a:t>https://techbeacon.com/app-dev-testing/13-ways-motivate-software-engineers</a:t>
            </a:r>
            <a:endParaRPr lang="en-GB" sz="1800" dirty="0"/>
          </a:p>
          <a:p>
            <a:r>
              <a:rPr lang="en-GB" sz="1800" dirty="0">
                <a:hlinkClick r:id="rId4"/>
              </a:rPr>
              <a:t>https://www.forbes.com/sites/brentgleeson/2019/03/14/15-characteristics-of-high-performance-teams/?sh=5916f6cc6ae0</a:t>
            </a:r>
            <a:endParaRPr lang="en-GB" sz="1800" dirty="0"/>
          </a:p>
          <a:p>
            <a:endParaRPr lang="en-GB" sz="1800" dirty="0"/>
          </a:p>
          <a:p>
            <a:endParaRPr lang="en-PK" sz="1800" dirty="0"/>
          </a:p>
          <a:p>
            <a:endParaRPr lang="en-US" sz="1800" b="1" dirty="0"/>
          </a:p>
          <a:p>
            <a:endParaRPr lang="en-US" sz="1800" b="1" dirty="0"/>
          </a:p>
        </p:txBody>
      </p:sp>
    </p:spTree>
    <p:extLst>
      <p:ext uri="{BB962C8B-B14F-4D97-AF65-F5344CB8AC3E}">
        <p14:creationId xmlns:p14="http://schemas.microsoft.com/office/powerpoint/2010/main" val="36349219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bwMode="auto">
          <a:xfrm>
            <a:off x="2063750" y="2708275"/>
            <a:ext cx="82296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0000"/>
          </a:bodyPr>
          <a:lstStyle/>
          <a:p>
            <a:r>
              <a:rPr lang="en-US"/>
              <a:t/>
            </a:r>
            <a:br>
              <a:rPr lang="en-US"/>
            </a:br>
            <a:r>
              <a:rPr lang="en-US"/>
              <a:t>Thank you!</a:t>
            </a:r>
          </a:p>
        </p:txBody>
      </p:sp>
    </p:spTree>
    <p:extLst>
      <p:ext uri="{BB962C8B-B14F-4D97-AF65-F5344CB8AC3E}">
        <p14:creationId xmlns:p14="http://schemas.microsoft.com/office/powerpoint/2010/main" val="24607580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TotalTime>
  <Words>1538</Words>
  <Application>Microsoft Office PowerPoint</Application>
  <PresentationFormat>Widescreen</PresentationFormat>
  <Paragraphs>164</Paragraphs>
  <Slides>30</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Calibri Light</vt:lpstr>
      <vt:lpstr>Office Theme</vt:lpstr>
      <vt:lpstr>Professional Practices</vt:lpstr>
      <vt:lpstr>Week 8 Lec:15</vt:lpstr>
      <vt:lpstr>What is Anatomy?</vt:lpstr>
      <vt:lpstr>Anatomy may look like</vt:lpstr>
      <vt:lpstr>Or like this… There are teams out there!</vt:lpstr>
      <vt:lpstr>Introduction</vt:lpstr>
      <vt:lpstr>Introduction</vt:lpstr>
      <vt:lpstr>Types</vt:lpstr>
      <vt:lpstr>Project Oriented Companies</vt:lpstr>
      <vt:lpstr>Product Oriented Companies</vt:lpstr>
      <vt:lpstr>IT Service Providers</vt:lpstr>
      <vt:lpstr>Software Enterprises</vt:lpstr>
      <vt:lpstr>Types of Software Companies (yet another view point)</vt:lpstr>
      <vt:lpstr>Common Roles in a Software Company</vt:lpstr>
      <vt:lpstr>Common Roles in a Software Company…</vt:lpstr>
      <vt:lpstr>Common Roles in a Software Company…</vt:lpstr>
      <vt:lpstr>Common Roles in a Software Company…</vt:lpstr>
      <vt:lpstr>Structure</vt:lpstr>
      <vt:lpstr>Structure…</vt:lpstr>
      <vt:lpstr>Structure…</vt:lpstr>
      <vt:lpstr>Structure…</vt:lpstr>
      <vt:lpstr>Methodologies</vt:lpstr>
      <vt:lpstr>Product Life Cycle</vt:lpstr>
      <vt:lpstr>Product Life Cycle…</vt:lpstr>
      <vt:lpstr>System &amp; Procedure</vt:lpstr>
      <vt:lpstr>System &amp; Procedure…</vt:lpstr>
      <vt:lpstr>System &amp; Procedure</vt:lpstr>
      <vt:lpstr>Efficiency Audits</vt:lpstr>
      <vt:lpstr>References</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Professional Practices</dc:title>
  <dc:creator>Abdul Jamil</dc:creator>
  <cp:lastModifiedBy>Admin</cp:lastModifiedBy>
  <cp:revision>17</cp:revision>
  <dcterms:created xsi:type="dcterms:W3CDTF">2020-11-20T07:57:39Z</dcterms:created>
  <dcterms:modified xsi:type="dcterms:W3CDTF">2022-11-22T15:34:36Z</dcterms:modified>
</cp:coreProperties>
</file>
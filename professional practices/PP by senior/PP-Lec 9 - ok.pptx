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7" r:id="rId2"/>
    <p:sldId id="258" r:id="rId3"/>
    <p:sldId id="273" r:id="rId4"/>
    <p:sldId id="274" r:id="rId5"/>
    <p:sldId id="275" r:id="rId6"/>
    <p:sldId id="276" r:id="rId7"/>
    <p:sldId id="277" r:id="rId8"/>
    <p:sldId id="278" r:id="rId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3" autoAdjust="0"/>
    <p:restoredTop sz="94660"/>
  </p:normalViewPr>
  <p:slideViewPr>
    <p:cSldViewPr snapToGrid="0">
      <p:cViewPr varScale="1">
        <p:scale>
          <a:sx n="73" d="100"/>
          <a:sy n="73" d="100"/>
        </p:scale>
        <p:origin x="5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B9600-5D69-490C-9FCB-45A101A7F3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C55BF7C-A7A8-4DC2-8992-03E4F8EF35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53A596B-E856-4DDE-89BA-4F7ACE3617F0}"/>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5" name="Footer Placeholder 4">
            <a:extLst>
              <a:ext uri="{FF2B5EF4-FFF2-40B4-BE49-F238E27FC236}">
                <a16:creationId xmlns:a16="http://schemas.microsoft.com/office/drawing/2014/main" id="{C8E2917C-BC46-4BA8-BF25-732538449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EA08A-0A31-4718-9CB2-ADC746EB290E}"/>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2558497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51D33-7940-4DCC-B2F4-8565FE62BD6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75BBC73E-41E2-4E8B-8A19-63A1648FED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029E65B-FB64-4F32-ABF0-1E3AC2641D13}"/>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5" name="Footer Placeholder 4">
            <a:extLst>
              <a:ext uri="{FF2B5EF4-FFF2-40B4-BE49-F238E27FC236}">
                <a16:creationId xmlns:a16="http://schemas.microsoft.com/office/drawing/2014/main" id="{37805491-D3B1-4486-8752-D7726BFD82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0744B0-F648-4E1A-90CD-6B97E532AC65}"/>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985792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DF441-BA5A-438F-A5F3-05AAA8D553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46DE7EB-789D-49FE-BC59-C60A764FD7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7C4683-3DCF-4FA5-8ED0-97B889FE6EDA}"/>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5" name="Footer Placeholder 4">
            <a:extLst>
              <a:ext uri="{FF2B5EF4-FFF2-40B4-BE49-F238E27FC236}">
                <a16:creationId xmlns:a16="http://schemas.microsoft.com/office/drawing/2014/main" id="{728CD3AA-F395-444C-8CB8-2C4E3D41DD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DB6688-6319-4C19-8353-C9B68DD58ACC}"/>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2977152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A97F2-C763-481E-8587-2E58854F2DC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6800E891-519B-44EF-8693-631251B60B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301E762-D908-4801-9277-5B7B39FAF9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2973A7FC-213C-477D-A874-0CD97CE5B5CD}"/>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6" name="Footer Placeholder 5">
            <a:extLst>
              <a:ext uri="{FF2B5EF4-FFF2-40B4-BE49-F238E27FC236}">
                <a16:creationId xmlns:a16="http://schemas.microsoft.com/office/drawing/2014/main" id="{9E83A8D5-1711-4714-AF6B-9BDE65ADF1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AB23FA-1F72-4E1E-B8BD-017A247E9380}"/>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1619739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50AAF-B6FC-40DA-9D54-B99A596E240B}"/>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C2BCD712-8F00-4169-92DB-A2B8EAD421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AF5216-43D4-4130-8C84-435A4ED5CB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61498005-BE83-4B13-9351-B2B1D0070F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B0E6DE-D429-4036-95B6-F2CA2291B7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91C405AE-1807-43BF-964B-E59A52AB0BEA}"/>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8" name="Footer Placeholder 7">
            <a:extLst>
              <a:ext uri="{FF2B5EF4-FFF2-40B4-BE49-F238E27FC236}">
                <a16:creationId xmlns:a16="http://schemas.microsoft.com/office/drawing/2014/main" id="{C74DF183-3D6E-485B-B416-613E2EB417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B6FDC8-C013-4926-8482-F337A92D243D}"/>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1789454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09F0A-1790-4F83-93C2-914E098363CF}"/>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00346726-BD94-4FF3-ACB5-03EC1838F277}"/>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4" name="Footer Placeholder 3">
            <a:extLst>
              <a:ext uri="{FF2B5EF4-FFF2-40B4-BE49-F238E27FC236}">
                <a16:creationId xmlns:a16="http://schemas.microsoft.com/office/drawing/2014/main" id="{C85AD79E-C116-4CC3-B04C-F44A4EA1C7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220CDA-7727-419C-9E1C-BC5C5A9DAF5B}"/>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225380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D81C73-9898-411D-985D-2902CFE85411}"/>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3" name="Footer Placeholder 2">
            <a:extLst>
              <a:ext uri="{FF2B5EF4-FFF2-40B4-BE49-F238E27FC236}">
                <a16:creationId xmlns:a16="http://schemas.microsoft.com/office/drawing/2014/main" id="{6A8CFF65-029F-460D-8350-227AFCEB53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918E8E-F6B2-4BBE-9099-54F631AEC28B}"/>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2874462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01512-BC5D-434A-85F2-C720790FE7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75E03D9B-5AD5-4F0F-860F-B889B6B06B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670E7144-D2CE-440D-BB35-DF78D9B893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72747F-0C4D-4B64-A7F5-5A70048E1C59}"/>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6" name="Footer Placeholder 5">
            <a:extLst>
              <a:ext uri="{FF2B5EF4-FFF2-40B4-BE49-F238E27FC236}">
                <a16:creationId xmlns:a16="http://schemas.microsoft.com/office/drawing/2014/main" id="{B3498DA6-28DD-42C5-93CB-9EC495B2AE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A9F3BB-37B7-4222-9CF4-B186AAB546C8}"/>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3641201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D6C88-5B78-418C-8DAF-CE0BE13274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7D932CA-3909-4B07-9A9E-320F53BE57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611DFDB3-0F17-4F0B-871A-A90804E2B8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CEAEAC-446D-41D2-A6BC-6C07FFC66651}"/>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6" name="Footer Placeholder 5">
            <a:extLst>
              <a:ext uri="{FF2B5EF4-FFF2-40B4-BE49-F238E27FC236}">
                <a16:creationId xmlns:a16="http://schemas.microsoft.com/office/drawing/2014/main" id="{CDFB771B-5774-4E4D-B3F3-DB2BAC0168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B125F0-A70A-4DBC-88B1-B0DD356FCD8C}"/>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3996259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F8439-B470-451E-8A62-50099102B0DE}"/>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4BE5342-1C12-442E-9F14-08E2A2CE8B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540BEDB-644E-4D7F-9A40-05DAAE5F59D2}"/>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5" name="Footer Placeholder 4">
            <a:extLst>
              <a:ext uri="{FF2B5EF4-FFF2-40B4-BE49-F238E27FC236}">
                <a16:creationId xmlns:a16="http://schemas.microsoft.com/office/drawing/2014/main" id="{7B62F4C4-4D98-4ADD-8413-7E11A561F9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491C49-758A-401D-8ABC-6EC6CF7BB988}"/>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402160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EB7AA8-B5A2-43AD-A66A-9CC5376ADF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F83B98B-3985-427A-B6D2-B7C9A5644C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CCE08C9-BED8-41F4-8499-3BA76FCA13CC}"/>
              </a:ext>
            </a:extLst>
          </p:cNvPr>
          <p:cNvSpPr>
            <a:spLocks noGrp="1"/>
          </p:cNvSpPr>
          <p:nvPr>
            <p:ph type="dt" sz="half" idx="10"/>
          </p:nvPr>
        </p:nvSpPr>
        <p:spPr/>
        <p:txBody>
          <a:bodyPr/>
          <a:lstStyle/>
          <a:p>
            <a:fld id="{74A9D499-66D7-4E59-8AD5-666032E101A4}" type="datetimeFigureOut">
              <a:rPr lang="en-US" smtClean="0"/>
              <a:t>11/15/2022</a:t>
            </a:fld>
            <a:endParaRPr lang="en-US"/>
          </a:p>
        </p:txBody>
      </p:sp>
      <p:sp>
        <p:nvSpPr>
          <p:cNvPr id="5" name="Footer Placeholder 4">
            <a:extLst>
              <a:ext uri="{FF2B5EF4-FFF2-40B4-BE49-F238E27FC236}">
                <a16:creationId xmlns:a16="http://schemas.microsoft.com/office/drawing/2014/main" id="{5D813259-8517-40A4-B892-C85CC81A66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4F7ACD-BB08-4EA7-9B95-56F7A3853389}"/>
              </a:ext>
            </a:extLst>
          </p:cNvPr>
          <p:cNvSpPr>
            <a:spLocks noGrp="1"/>
          </p:cNvSpPr>
          <p:nvPr>
            <p:ph type="sldNum" sz="quarter" idx="12"/>
          </p:nvPr>
        </p:nvSpPr>
        <p:spPr/>
        <p:txBody>
          <a:bodyPr/>
          <a:lstStyle/>
          <a:p>
            <a:fld id="{76CD00F3-6BEB-4560-9FA7-BD90C3E34758}" type="slidenum">
              <a:rPr lang="en-US" smtClean="0"/>
              <a:t>‹#›</a:t>
            </a:fld>
            <a:endParaRPr lang="en-US"/>
          </a:p>
        </p:txBody>
      </p:sp>
    </p:spTree>
    <p:extLst>
      <p:ext uri="{BB962C8B-B14F-4D97-AF65-F5344CB8AC3E}">
        <p14:creationId xmlns:p14="http://schemas.microsoft.com/office/powerpoint/2010/main" val="281470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5DFE15-3401-494E-91C1-279E44A68B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B053B72-30EA-462F-8E87-8B42F6281E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7709500-AA83-4D8A-96CE-2AD74910B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A9D499-66D7-4E59-8AD5-666032E101A4}" type="datetimeFigureOut">
              <a:rPr lang="en-US" smtClean="0"/>
              <a:t>11/15/2022</a:t>
            </a:fld>
            <a:endParaRPr lang="en-US"/>
          </a:p>
        </p:txBody>
      </p:sp>
      <p:sp>
        <p:nvSpPr>
          <p:cNvPr id="5" name="Footer Placeholder 4">
            <a:extLst>
              <a:ext uri="{FF2B5EF4-FFF2-40B4-BE49-F238E27FC236}">
                <a16:creationId xmlns:a16="http://schemas.microsoft.com/office/drawing/2014/main" id="{96307359-2E82-45DF-8839-63C153A799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669BA4-1694-4F27-86F2-F9B12AE729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CD00F3-6BEB-4560-9FA7-BD90C3E34758}" type="slidenum">
              <a:rPr lang="en-US" smtClean="0"/>
              <a:t>‹#›</a:t>
            </a:fld>
            <a:endParaRPr lang="en-US"/>
          </a:p>
        </p:txBody>
      </p:sp>
    </p:spTree>
    <p:extLst>
      <p:ext uri="{BB962C8B-B14F-4D97-AF65-F5344CB8AC3E}">
        <p14:creationId xmlns:p14="http://schemas.microsoft.com/office/powerpoint/2010/main" val="58146557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dirty="0" err="1"/>
              <a:t>Lec</a:t>
            </a:r>
            <a:r>
              <a:rPr lang="en-US" dirty="0"/>
              <a:t> 9:  The Structure of Organizations</a:t>
            </a:r>
          </a:p>
        </p:txBody>
      </p:sp>
      <p:sp>
        <p:nvSpPr>
          <p:cNvPr id="3" name="Content Placeholder 2"/>
          <p:cNvSpPr>
            <a:spLocks noGrp="1"/>
          </p:cNvSpPr>
          <p:nvPr>
            <p:ph idx="1"/>
          </p:nvPr>
        </p:nvSpPr>
        <p:spPr>
          <a:xfrm>
            <a:off x="1981200" y="1844676"/>
            <a:ext cx="8229600" cy="4176713"/>
          </a:xfrm>
        </p:spPr>
        <p:txBody>
          <a:bodyPr/>
          <a:lstStyle/>
          <a:p>
            <a:pPr>
              <a:defRPr/>
            </a:pPr>
            <a:r>
              <a:rPr lang="en-US" dirty="0"/>
              <a:t>Types of Organizations</a:t>
            </a:r>
          </a:p>
          <a:p>
            <a:pPr>
              <a:defRPr/>
            </a:pPr>
            <a:r>
              <a:rPr lang="en-US" dirty="0"/>
              <a:t>Management of an </a:t>
            </a:r>
            <a:r>
              <a:rPr lang="en-US" dirty="0" smtClean="0"/>
              <a:t>organization</a:t>
            </a:r>
          </a:p>
          <a:p>
            <a:pPr>
              <a:defRPr/>
            </a:pPr>
            <a:endParaRPr lang="en-US" dirty="0"/>
          </a:p>
          <a:p>
            <a:pPr>
              <a:defRPr/>
            </a:pPr>
            <a:r>
              <a:rPr lang="en-US" smtClean="0"/>
              <a:t>NO</a:t>
            </a: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517835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t>Organization</a:t>
            </a:r>
          </a:p>
        </p:txBody>
      </p:sp>
      <p:sp>
        <p:nvSpPr>
          <p:cNvPr id="3" name="Content Placeholder 2"/>
          <p:cNvSpPr>
            <a:spLocks noGrp="1"/>
          </p:cNvSpPr>
          <p:nvPr>
            <p:ph idx="1"/>
          </p:nvPr>
        </p:nvSpPr>
        <p:spPr>
          <a:xfrm>
            <a:off x="1981200" y="1412876"/>
            <a:ext cx="8229600" cy="4824413"/>
          </a:xfrm>
        </p:spPr>
        <p:txBody>
          <a:bodyPr/>
          <a:lstStyle/>
          <a:p>
            <a:pPr algn="just">
              <a:defRPr/>
            </a:pPr>
            <a:r>
              <a:rPr lang="en-US" dirty="0"/>
              <a:t>Impossible to live in a civilized society without close contact with many large organizations</a:t>
            </a:r>
          </a:p>
          <a:p>
            <a:pPr algn="just">
              <a:defRPr/>
            </a:pPr>
            <a:r>
              <a:rPr lang="en-US" dirty="0"/>
              <a:t> Like schools, universities, public utilities, government and local government departments, the Health Service, commercial and industrial companies, and so on.</a:t>
            </a:r>
          </a:p>
          <a:p>
            <a:pPr algn="just">
              <a:defRPr/>
            </a:pPr>
            <a:r>
              <a:rPr lang="en-US" dirty="0"/>
              <a:t>In many ways, these organizations resemble each other.</a:t>
            </a:r>
          </a:p>
          <a:p>
            <a:pPr marL="0" indent="0">
              <a:buNone/>
              <a:defRPr/>
            </a:pPr>
            <a:endParaRPr lang="en-US" dirty="0"/>
          </a:p>
        </p:txBody>
      </p:sp>
    </p:spTree>
    <p:extLst>
      <p:ext uri="{BB962C8B-B14F-4D97-AF65-F5344CB8AC3E}">
        <p14:creationId xmlns:p14="http://schemas.microsoft.com/office/powerpoint/2010/main" val="3656674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bwMode="auto">
          <a:xfrm>
            <a:off x="1981200" y="274639"/>
            <a:ext cx="8229600" cy="9223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b="1"/>
              <a:t>Functional Units of  An Organization</a:t>
            </a:r>
            <a:endParaRPr lang="en-US"/>
          </a:p>
        </p:txBody>
      </p:sp>
      <p:sp>
        <p:nvSpPr>
          <p:cNvPr id="3" name="Content Placeholder 2"/>
          <p:cNvSpPr>
            <a:spLocks noGrp="1"/>
          </p:cNvSpPr>
          <p:nvPr>
            <p:ph idx="1"/>
          </p:nvPr>
        </p:nvSpPr>
        <p:spPr>
          <a:xfrm>
            <a:off x="1981200" y="1291109"/>
            <a:ext cx="8569325" cy="4182934"/>
          </a:xfrm>
        </p:spPr>
        <p:txBody>
          <a:bodyPr vert="horz" wrap="square" lIns="91440" tIns="45720" rIns="91440" bIns="45720" numCol="1" rtlCol="0" anchor="t" anchorCtr="0" compatLnSpc="1">
            <a:prstTxWarp prst="textNoShape">
              <a:avLst/>
            </a:prstTxWarp>
            <a:normAutofit/>
          </a:bodyPr>
          <a:lstStyle/>
          <a:p>
            <a:pPr marL="0" indent="0">
              <a:buNone/>
            </a:pPr>
            <a:r>
              <a:rPr lang="en-US" dirty="0">
                <a:solidFill>
                  <a:srgbClr val="0D0D0D"/>
                </a:solidFill>
              </a:rPr>
              <a:t>Five groups of functions exist in almost any organization:</a:t>
            </a:r>
          </a:p>
          <a:p>
            <a:pPr marL="0" indent="0" algn="just">
              <a:buFontTx/>
              <a:buAutoNum type="arabicPeriod"/>
            </a:pPr>
            <a:r>
              <a:rPr lang="en-US" u="sng" dirty="0">
                <a:solidFill>
                  <a:srgbClr val="0D0D0D"/>
                </a:solidFill>
              </a:rPr>
              <a:t>Production</a:t>
            </a:r>
            <a:r>
              <a:rPr lang="en-US" dirty="0">
                <a:solidFill>
                  <a:srgbClr val="0D0D0D"/>
                </a:solidFill>
              </a:rPr>
              <a:t>: </a:t>
            </a:r>
            <a:r>
              <a:rPr lang="en-US" sz="2000" dirty="0">
                <a:solidFill>
                  <a:srgbClr val="0D0D0D"/>
                </a:solidFill>
              </a:rPr>
              <a:t>Activities that directly contribute to creating the products or services that the company sells.</a:t>
            </a:r>
          </a:p>
          <a:p>
            <a:pPr marL="0" indent="0">
              <a:buFontTx/>
              <a:buAutoNum type="arabicPeriod"/>
            </a:pPr>
            <a:r>
              <a:rPr lang="en-US" u="sng" dirty="0">
                <a:solidFill>
                  <a:srgbClr val="0D0D0D"/>
                </a:solidFill>
              </a:rPr>
              <a:t>Quality management</a:t>
            </a:r>
            <a:r>
              <a:rPr lang="en-US" dirty="0">
                <a:solidFill>
                  <a:srgbClr val="0D0D0D"/>
                </a:solidFill>
              </a:rPr>
              <a:t>: </a:t>
            </a:r>
            <a:r>
              <a:rPr lang="en-US" sz="2000" dirty="0">
                <a:solidFill>
                  <a:srgbClr val="0D0D0D"/>
                </a:solidFill>
              </a:rPr>
              <a:t>Quality activities necessary to ensure that quality of the products and services produced is maintained at the agreed level.</a:t>
            </a:r>
          </a:p>
          <a:p>
            <a:pPr marL="0" indent="0">
              <a:buFontTx/>
              <a:buAutoNum type="arabicPeriod"/>
            </a:pPr>
            <a:r>
              <a:rPr lang="en-US" u="sng" dirty="0">
                <a:solidFill>
                  <a:srgbClr val="0D0D0D"/>
                </a:solidFill>
              </a:rPr>
              <a:t>Sales and Marketing</a:t>
            </a:r>
            <a:r>
              <a:rPr lang="en-US" sz="2000" dirty="0">
                <a:solidFill>
                  <a:srgbClr val="0D0D0D"/>
                </a:solidFill>
              </a:rPr>
              <a:t>: Sales is concerned directly with selling the product, while marketing is concerned with establishing the environment in which the product is sold (e.g. through advertising) and with deciding how the range of products sold by the company should develop.</a:t>
            </a:r>
          </a:p>
          <a:p>
            <a:pPr marL="0" indent="0">
              <a:buNone/>
            </a:pPr>
            <a:r>
              <a:rPr lang="en-US" u="sng" dirty="0">
                <a:solidFill>
                  <a:srgbClr val="0D0D0D"/>
                </a:solidFill>
              </a:rPr>
              <a:t>4. Finance and Administration</a:t>
            </a:r>
            <a:r>
              <a:rPr lang="en-US" dirty="0">
                <a:solidFill>
                  <a:srgbClr val="0D0D0D"/>
                </a:solidFill>
              </a:rPr>
              <a:t>: </a:t>
            </a:r>
            <a:r>
              <a:rPr lang="en-US" sz="2000" dirty="0">
                <a:solidFill>
                  <a:srgbClr val="0D0D0D"/>
                </a:solidFill>
              </a:rPr>
              <a:t>To pay bills, to look after its funds, All central services. </a:t>
            </a:r>
          </a:p>
          <a:p>
            <a:pPr marL="0" indent="0"/>
            <a:endParaRPr lang="en-US" sz="2000" dirty="0">
              <a:solidFill>
                <a:srgbClr val="0D0D0D"/>
              </a:solidFill>
            </a:endParaRPr>
          </a:p>
        </p:txBody>
      </p:sp>
    </p:spTree>
    <p:extLst>
      <p:ext uri="{BB962C8B-B14F-4D97-AF65-F5344CB8AC3E}">
        <p14:creationId xmlns:p14="http://schemas.microsoft.com/office/powerpoint/2010/main" val="1586109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1773" y="944692"/>
            <a:ext cx="8229600" cy="5472113"/>
          </a:xfrm>
        </p:spPr>
        <p:txBody>
          <a:bodyPr/>
          <a:lstStyle/>
          <a:p>
            <a:pPr marL="0" indent="0">
              <a:buNone/>
              <a:defRPr/>
            </a:pPr>
            <a:r>
              <a:rPr lang="en-US" dirty="0"/>
              <a:t>5. </a:t>
            </a:r>
            <a:r>
              <a:rPr lang="en-US" u="sng" dirty="0"/>
              <a:t>Research and development</a:t>
            </a:r>
            <a:r>
              <a:rPr lang="en-US" dirty="0"/>
              <a:t>:</a:t>
            </a:r>
          </a:p>
          <a:p>
            <a:pPr marL="0" indent="0">
              <a:buNone/>
              <a:defRPr/>
            </a:pPr>
            <a:r>
              <a:rPr lang="en-US" dirty="0"/>
              <a:t>     How can the company do better the things that it already</a:t>
            </a:r>
          </a:p>
          <a:p>
            <a:pPr marL="0" indent="0">
              <a:buNone/>
              <a:defRPr/>
            </a:pPr>
            <a:r>
              <a:rPr lang="en-US" dirty="0"/>
              <a:t>     Does and what other things might it profitably be doing?</a:t>
            </a:r>
          </a:p>
          <a:p>
            <a:pPr marL="0" indent="0">
              <a:buNone/>
              <a:defRPr/>
            </a:pPr>
            <a:endParaRPr lang="en-US" b="1" i="1" u="sng" dirty="0"/>
          </a:p>
          <a:p>
            <a:pPr marL="0" indent="0">
              <a:buNone/>
              <a:defRPr/>
            </a:pPr>
            <a:r>
              <a:rPr lang="en-US" b="1" i="1" u="sng" dirty="0"/>
              <a:t>Geographical organization</a:t>
            </a:r>
            <a:r>
              <a:rPr lang="en-US" b="1" i="1" dirty="0"/>
              <a:t>:</a:t>
            </a:r>
          </a:p>
          <a:p>
            <a:pPr marL="0" indent="0">
              <a:buNone/>
              <a:defRPr/>
            </a:pPr>
            <a:r>
              <a:rPr lang="en-US" dirty="0"/>
              <a:t>     An organization operates in more than one country.</a:t>
            </a:r>
          </a:p>
          <a:p>
            <a:pPr marL="0" indent="0">
              <a:buNone/>
              <a:defRPr/>
            </a:pPr>
            <a:r>
              <a:rPr lang="en-US" dirty="0"/>
              <a:t>     The most obvious examples are in the field of food and drink.</a:t>
            </a:r>
          </a:p>
          <a:p>
            <a:pPr marL="0" indent="0">
              <a:buNone/>
              <a:defRPr/>
            </a:pPr>
            <a:endParaRPr lang="en-US" dirty="0"/>
          </a:p>
        </p:txBody>
      </p:sp>
    </p:spTree>
    <p:extLst>
      <p:ext uri="{BB962C8B-B14F-4D97-AF65-F5344CB8AC3E}">
        <p14:creationId xmlns:p14="http://schemas.microsoft.com/office/powerpoint/2010/main" val="142914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b="1"/>
              <a:t>Centralization v. decentralization</a:t>
            </a:r>
            <a:endParaRPr lang="en-US"/>
          </a:p>
        </p:txBody>
      </p:sp>
      <p:sp>
        <p:nvSpPr>
          <p:cNvPr id="3" name="Content Placeholder 2"/>
          <p:cNvSpPr>
            <a:spLocks noGrp="1"/>
          </p:cNvSpPr>
          <p:nvPr>
            <p:ph idx="1"/>
          </p:nvPr>
        </p:nvSpPr>
        <p:spPr>
          <a:xfrm>
            <a:off x="1981200" y="1417638"/>
            <a:ext cx="8229600" cy="4603750"/>
          </a:xfrm>
        </p:spPr>
        <p:txBody>
          <a:bodyPr/>
          <a:lstStyle/>
          <a:p>
            <a:pPr marL="0" indent="0">
              <a:buNone/>
              <a:defRPr/>
            </a:pPr>
            <a:endParaRPr lang="en-US" dirty="0"/>
          </a:p>
          <a:p>
            <a:pPr>
              <a:defRPr/>
            </a:pPr>
            <a:r>
              <a:rPr lang="en-US" dirty="0"/>
              <a:t>In a centralized organization, the detailed operational decisions are taken at the centre.</a:t>
            </a:r>
          </a:p>
          <a:p>
            <a:pPr>
              <a:defRPr/>
            </a:pPr>
            <a:r>
              <a:rPr lang="en-US" dirty="0"/>
              <a:t>In a decentralized organization, as many details as possible are settled at local level.</a:t>
            </a:r>
          </a:p>
        </p:txBody>
      </p:sp>
    </p:spTree>
    <p:extLst>
      <p:ext uri="{BB962C8B-B14F-4D97-AF65-F5344CB8AC3E}">
        <p14:creationId xmlns:p14="http://schemas.microsoft.com/office/powerpoint/2010/main" val="397411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t>Management</a:t>
            </a:r>
          </a:p>
        </p:txBody>
      </p:sp>
      <p:sp>
        <p:nvSpPr>
          <p:cNvPr id="3" name="Content Placeholder 2"/>
          <p:cNvSpPr>
            <a:spLocks noGrp="1"/>
          </p:cNvSpPr>
          <p:nvPr>
            <p:ph idx="1"/>
          </p:nvPr>
        </p:nvSpPr>
        <p:spPr>
          <a:xfrm>
            <a:off x="1252152" y="1360316"/>
            <a:ext cx="8229600" cy="4895850"/>
          </a:xfrm>
        </p:spPr>
        <p:txBody>
          <a:bodyPr/>
          <a:lstStyle/>
          <a:p>
            <a:pPr algn="just">
              <a:defRPr/>
            </a:pPr>
            <a:r>
              <a:rPr lang="en-US" dirty="0"/>
              <a:t>Mangers of organization can project manager, production manager, general manager &amp; Corporate manager.</a:t>
            </a:r>
          </a:p>
          <a:p>
            <a:pPr algn="just">
              <a:defRPr/>
            </a:pPr>
            <a:r>
              <a:rPr lang="en-US" dirty="0"/>
              <a:t>The goal of project managers is to produce systems which meet the users’ needs, on time and within budget. </a:t>
            </a:r>
          </a:p>
          <a:p>
            <a:pPr algn="just">
              <a:defRPr/>
            </a:pPr>
            <a:r>
              <a:rPr lang="en-US" dirty="0"/>
              <a:t>Their main concerns are therefore planning, progress monitoring, acquisition and allocation of resources, and quality control. </a:t>
            </a:r>
          </a:p>
          <a:p>
            <a:pPr algn="just">
              <a:defRPr/>
            </a:pPr>
            <a:r>
              <a:rPr lang="en-US" dirty="0"/>
              <a:t>The tools of their trade are bar charts, activity networks, critical path analysis, and so on.</a:t>
            </a:r>
          </a:p>
          <a:p>
            <a:pPr algn="just">
              <a:defRPr/>
            </a:pPr>
            <a:endParaRPr lang="en-US" dirty="0"/>
          </a:p>
          <a:p>
            <a:pPr>
              <a:defRPr/>
            </a:pPr>
            <a:endParaRPr lang="en-US" dirty="0"/>
          </a:p>
        </p:txBody>
      </p:sp>
    </p:spTree>
    <p:extLst>
      <p:ext uri="{BB962C8B-B14F-4D97-AF65-F5344CB8AC3E}">
        <p14:creationId xmlns:p14="http://schemas.microsoft.com/office/powerpoint/2010/main" val="4141492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5591" y="804049"/>
            <a:ext cx="8569325" cy="3792666"/>
          </a:xfrm>
        </p:spPr>
        <p:txBody>
          <a:bodyPr>
            <a:normAutofit fontScale="92500" lnSpcReduction="10000"/>
          </a:bodyPr>
          <a:lstStyle/>
          <a:p>
            <a:pPr algn="just">
              <a:defRPr/>
            </a:pPr>
            <a:r>
              <a:rPr lang="en-US" u="sng" dirty="0"/>
              <a:t>Production Manager</a:t>
            </a:r>
            <a:r>
              <a:rPr lang="en-US" dirty="0"/>
              <a:t>: Production management is concerned with productivity, efficiency and maintenance of quality.</a:t>
            </a:r>
          </a:p>
          <a:p>
            <a:pPr>
              <a:defRPr/>
            </a:pPr>
            <a:r>
              <a:rPr lang="en-US" u="sng" dirty="0"/>
              <a:t>General Manager</a:t>
            </a:r>
            <a:r>
              <a:rPr lang="en-US" dirty="0"/>
              <a:t>: General or corporate management deals with the management of the organization as a whole.</a:t>
            </a:r>
          </a:p>
          <a:p>
            <a:pPr>
              <a:defRPr/>
            </a:pPr>
            <a:r>
              <a:rPr lang="en-US" u="sng" dirty="0"/>
              <a:t>Corporate Manager</a:t>
            </a:r>
            <a:r>
              <a:rPr lang="en-US" dirty="0"/>
              <a:t>:</a:t>
            </a:r>
          </a:p>
          <a:p>
            <a:pPr marL="0" indent="0">
              <a:buNone/>
              <a:defRPr/>
            </a:pPr>
            <a:r>
              <a:rPr lang="en-US" dirty="0"/>
              <a:t>Corporate managers are responsible for the long-term strategy of the organization.</a:t>
            </a:r>
          </a:p>
          <a:p>
            <a:pPr marL="0" indent="0">
              <a:buNone/>
              <a:defRPr/>
            </a:pPr>
            <a:r>
              <a:rPr lang="en-US" dirty="0"/>
              <a:t>Monitor the overall performance of the organization and be prepared to handle serious problems which arise anywhere in the organization.</a:t>
            </a:r>
          </a:p>
          <a:p>
            <a:pPr marL="0" indent="0">
              <a:buNone/>
              <a:defRPr/>
            </a:pPr>
            <a:endParaRPr lang="en-US" dirty="0"/>
          </a:p>
        </p:txBody>
      </p:sp>
    </p:spTree>
    <p:extLst>
      <p:ext uri="{BB962C8B-B14F-4D97-AF65-F5344CB8AC3E}">
        <p14:creationId xmlns:p14="http://schemas.microsoft.com/office/powerpoint/2010/main" val="61861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reading</a:t>
            </a:r>
          </a:p>
        </p:txBody>
      </p:sp>
      <p:sp>
        <p:nvSpPr>
          <p:cNvPr id="3" name="Content Placeholder 2"/>
          <p:cNvSpPr>
            <a:spLocks noGrp="1"/>
          </p:cNvSpPr>
          <p:nvPr>
            <p:ph idx="1"/>
          </p:nvPr>
        </p:nvSpPr>
        <p:spPr/>
        <p:txBody>
          <a:bodyPr/>
          <a:lstStyle/>
          <a:p>
            <a:r>
              <a:rPr lang="en-US" dirty="0"/>
              <a:t>Chapter No 2 of the Book 1</a:t>
            </a:r>
          </a:p>
        </p:txBody>
      </p:sp>
    </p:spTree>
    <p:extLst>
      <p:ext uri="{BB962C8B-B14F-4D97-AF65-F5344CB8AC3E}">
        <p14:creationId xmlns:p14="http://schemas.microsoft.com/office/powerpoint/2010/main" val="3917660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TotalTime>
  <Words>441</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Lec 9:  The Structure of Organizations</vt:lpstr>
      <vt:lpstr>Organization</vt:lpstr>
      <vt:lpstr>Functional Units of  An Organization</vt:lpstr>
      <vt:lpstr>PowerPoint Presentation</vt:lpstr>
      <vt:lpstr>Centralization v. decentralization</vt:lpstr>
      <vt:lpstr>Management</vt:lpstr>
      <vt:lpstr>PowerPoint Presentation</vt:lpstr>
      <vt:lpstr>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Admin</cp:lastModifiedBy>
  <cp:revision>10</cp:revision>
  <dcterms:created xsi:type="dcterms:W3CDTF">2020-11-29T16:52:28Z</dcterms:created>
  <dcterms:modified xsi:type="dcterms:W3CDTF">2022-11-15T14:53:38Z</dcterms:modified>
</cp:coreProperties>
</file>
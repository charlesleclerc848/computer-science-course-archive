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59" r:id="rId9"/>
    <p:sldId id="265" r:id="rId10"/>
    <p:sldId id="266" r:id="rId11"/>
    <p:sldId id="264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23" autoAdjust="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11C88-25E3-4977-9C5A-06693925DA88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7C061-FDC1-4E57-A8B6-0937F2B6B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7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only difference</a:t>
            </a:r>
            <a:r>
              <a:rPr lang="en-US" baseline="0" dirty="0" smtClean="0"/>
              <a:t> b/w sequential and combinational is the memory block in sequential circuits we’ve memory element and it is sued to store the past output(single bit)which can be 0/1.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7C061-FDC1-4E57-A8B6-0937F2B6BC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5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Uses:</a:t>
            </a:r>
          </a:p>
          <a:p>
            <a:r>
              <a:rPr lang="en-US" dirty="0" smtClean="0"/>
              <a:t>Flip-flops can be used to store single</a:t>
            </a:r>
            <a:r>
              <a:rPr lang="en-US" baseline="0" dirty="0" smtClean="0"/>
              <a:t> bit, binary digits of data.</a:t>
            </a:r>
          </a:p>
          <a:p>
            <a:r>
              <a:rPr lang="en-US" baseline="0" dirty="0" smtClean="0"/>
              <a:t>Store program information like RAM  memory &amp; Registers.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State of a latch/flip-flop is switched by a change in the control input.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7C061-FDC1-4E57-A8B6-0937F2B6BC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77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If S=0,</a:t>
            </a:r>
            <a:r>
              <a:rPr lang="en-US" baseline="0" dirty="0" smtClean="0"/>
              <a:t> R=0 </a:t>
            </a:r>
            <a:r>
              <a:rPr lang="en-US" baseline="0" dirty="0" smtClean="0">
                <a:sym typeface="Wingdings" panose="05000000000000000000" pitchFamily="2" charset="2"/>
              </a:rPr>
              <a:t> Q=0,  Q’=1 if I start with Q.</a:t>
            </a:r>
          </a:p>
          <a:p>
            <a:r>
              <a:rPr lang="en-US" baseline="0" dirty="0" smtClean="0">
                <a:sym typeface="Wingdings" panose="05000000000000000000" pitchFamily="2" charset="2"/>
              </a:rPr>
              <a:t>If starts with Q’ then Q=1,    Q=0</a:t>
            </a:r>
          </a:p>
          <a:p>
            <a:r>
              <a:rPr lang="en-US" baseline="0" dirty="0" smtClean="0">
                <a:sym typeface="Wingdings" panose="05000000000000000000" pitchFamily="2" charset="2"/>
              </a:rPr>
              <a:t>These conditions are not used.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7C061-FDC1-4E57-A8B6-0937F2B6BC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9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6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5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36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2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7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8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0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8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9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6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E7074-E84A-4F53-9068-56A93A44F3AA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ED923-6D4D-4866-94E5-A9F3D4F05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Latches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795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6545"/>
            <a:ext cx="10515600" cy="4351338"/>
          </a:xfrm>
        </p:spPr>
        <p:txBody>
          <a:bodyPr/>
          <a:lstStyle/>
          <a:p>
            <a:r>
              <a:rPr lang="en-US" sz="2400" dirty="0" smtClean="0"/>
              <a:t>Latches and flip-flops are the building block of the sequential circuits. </a:t>
            </a:r>
          </a:p>
          <a:p>
            <a:r>
              <a:rPr lang="en-US" sz="2400" dirty="0" smtClean="0"/>
              <a:t>The basic storage element is called </a:t>
            </a:r>
            <a:r>
              <a:rPr lang="en-US" sz="2400" u="sng" dirty="0" smtClean="0">
                <a:solidFill>
                  <a:srgbClr val="FF0000"/>
                </a:solidFill>
              </a:rPr>
              <a:t>Latch.</a:t>
            </a:r>
          </a:p>
          <a:p>
            <a:r>
              <a:rPr lang="en-US" sz="2400" dirty="0" smtClean="0"/>
              <a:t>The output of the circuit will depends upon the present state(inputs) as well as on the sequence of the previous outputs of the circuits.</a:t>
            </a:r>
          </a:p>
          <a:p>
            <a:pPr marL="0" indent="0">
              <a:buNone/>
            </a:pPr>
            <a:r>
              <a:rPr lang="en-US" sz="2400" dirty="0" err="1" smtClean="0"/>
              <a:t>Eg</a:t>
            </a:r>
            <a:r>
              <a:rPr lang="en-US" sz="2400" dirty="0" smtClean="0"/>
              <a:t>: the cross-coupled inverters, shift registers, counters etc..</a:t>
            </a:r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92881"/>
            <a:ext cx="3611880" cy="2065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134" y="3992881"/>
            <a:ext cx="3178666" cy="204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8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Latches and Flip-Flops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Latch	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Does not have a clock signal(cycle).</a:t>
            </a:r>
          </a:p>
          <a:p>
            <a:r>
              <a:rPr lang="en-US" dirty="0" smtClean="0"/>
              <a:t>It can be built from gates.</a:t>
            </a:r>
          </a:p>
          <a:p>
            <a:endParaRPr lang="en-US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Flip-Flops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It always has a clock signal.</a:t>
            </a:r>
          </a:p>
          <a:p>
            <a:r>
              <a:rPr lang="en-US" dirty="0" smtClean="0"/>
              <a:t>It can be built from latches.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" y="4123847"/>
            <a:ext cx="3611880" cy="20658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934" y="4005140"/>
            <a:ext cx="2995786" cy="210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9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 Latch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storage element.</a:t>
            </a:r>
          </a:p>
          <a:p>
            <a:r>
              <a:rPr lang="en-US" dirty="0" smtClean="0"/>
              <a:t>2types: </a:t>
            </a:r>
          </a:p>
          <a:p>
            <a:pPr lvl="1"/>
            <a:r>
              <a:rPr lang="en-US" dirty="0" smtClean="0"/>
              <a:t>NOR SR Latch</a:t>
            </a:r>
          </a:p>
          <a:p>
            <a:pPr lvl="1"/>
            <a:r>
              <a:rPr lang="en-US" dirty="0" smtClean="0"/>
              <a:t>NANAD SR Latch</a:t>
            </a:r>
          </a:p>
          <a:p>
            <a:r>
              <a:rPr lang="en-US" dirty="0" smtClean="0"/>
              <a:t>2 inputs S(set) &amp; R(reset)</a:t>
            </a:r>
          </a:p>
          <a:p>
            <a:r>
              <a:rPr lang="en-US" dirty="0" smtClean="0"/>
              <a:t>Outputs: Q, Q’</a:t>
            </a:r>
          </a:p>
          <a:p>
            <a:r>
              <a:rPr lang="en-US" dirty="0" smtClean="0"/>
              <a:t>Q cannot be equal to Q’(both are complement of each other).</a:t>
            </a:r>
          </a:p>
          <a:p>
            <a:r>
              <a:rPr lang="en-US" dirty="0" smtClean="0"/>
              <a:t>If Q=1(latch is set)</a:t>
            </a:r>
          </a:p>
          <a:p>
            <a:r>
              <a:rPr lang="en-US" dirty="0" smtClean="0"/>
              <a:t>If Q=0(latch is reset)</a:t>
            </a:r>
          </a:p>
        </p:txBody>
      </p:sp>
    </p:spTree>
    <p:extLst>
      <p:ext uri="{BB962C8B-B14F-4D97-AF65-F5344CB8AC3E}">
        <p14:creationId xmlns:p14="http://schemas.microsoft.com/office/powerpoint/2010/main" val="104953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 latch using NOR gate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280" y="2185708"/>
            <a:ext cx="8686799" cy="381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4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91" y="698643"/>
            <a:ext cx="10634609" cy="5478320"/>
          </a:xfrm>
        </p:spPr>
        <p:txBody>
          <a:bodyPr/>
          <a:lstStyle/>
          <a:p>
            <a:r>
              <a:rPr lang="en-US" dirty="0" smtClean="0"/>
              <a:t>Case i: S=0,R=1 </a:t>
            </a:r>
            <a:r>
              <a:rPr lang="en-US" dirty="0" smtClean="0">
                <a:sym typeface="Wingdings" panose="05000000000000000000" pitchFamily="2" charset="2"/>
              </a:rPr>
              <a:t>Q=0,Q’=1     	(Latch is reset)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</a:t>
            </a:r>
            <a:r>
              <a:rPr lang="en-US" dirty="0" smtClean="0">
                <a:sym typeface="Wingdings" panose="05000000000000000000" pitchFamily="2" charset="2"/>
              </a:rPr>
              <a:t>   S=0,R=0 then Q=0,     Q’=1  	(memory condition)</a:t>
            </a: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(if data/input is removed, o/p of previous step is stored)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Case ii:  S=1,   R=0  then Q=1,Q’=0	(latch is set)</a:t>
            </a: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	      S=0,   R=0   then Q=1,  Q’=0    (memory condition)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Case iii:  S=1,R=1   then 	 Q=0,  Q’=0   (not used, because Q and Q’ are complement of each other)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When S=0, R=0  Store data(input data is removed)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39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608048"/>
              </p:ext>
            </p:extLst>
          </p:nvPr>
        </p:nvGraphicFramePr>
        <p:xfrm>
          <a:off x="2106202" y="1695234"/>
          <a:ext cx="4017196" cy="2928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7018"/>
                <a:gridCol w="994912"/>
                <a:gridCol w="807193"/>
                <a:gridCol w="1558073"/>
              </a:tblGrid>
              <a:tr h="585627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62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Memory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85627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62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62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Not used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471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 latch using NAND gate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1428" y="2407921"/>
            <a:ext cx="4285841" cy="3320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134" y="2407921"/>
            <a:ext cx="4616904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0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i: </a:t>
            </a:r>
            <a:r>
              <a:rPr lang="en-US" dirty="0" smtClean="0"/>
              <a:t>S=0,R=1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 smtClean="0">
                <a:sym typeface="Wingdings" panose="05000000000000000000" pitchFamily="2" charset="2"/>
              </a:rPr>
              <a:t>Q=1,    Q’=</a:t>
            </a:r>
            <a:r>
              <a:rPr lang="en-US" dirty="0">
                <a:sym typeface="Wingdings" panose="05000000000000000000" pitchFamily="2" charset="2"/>
              </a:rPr>
              <a:t>0</a:t>
            </a:r>
            <a:r>
              <a:rPr lang="en-US" dirty="0" smtClean="0">
                <a:sym typeface="Wingdings" panose="05000000000000000000" pitchFamily="2" charset="2"/>
              </a:rPr>
              <a:t>    </a:t>
            </a:r>
            <a:r>
              <a:rPr lang="en-US" dirty="0">
                <a:sym typeface="Wingdings" panose="05000000000000000000" pitchFamily="2" charset="2"/>
              </a:rPr>
              <a:t>	(Latch is </a:t>
            </a:r>
            <a:r>
              <a:rPr lang="en-US" dirty="0" smtClean="0">
                <a:sym typeface="Wingdings" panose="05000000000000000000" pitchFamily="2" charset="2"/>
              </a:rPr>
              <a:t>set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   </a:t>
            </a:r>
            <a:r>
              <a:rPr lang="en-US" dirty="0" smtClean="0">
                <a:sym typeface="Wingdings" panose="05000000000000000000" pitchFamily="2" charset="2"/>
              </a:rPr>
              <a:t>S=1,R=1 </a:t>
            </a:r>
            <a:r>
              <a:rPr lang="en-US" dirty="0">
                <a:sym typeface="Wingdings" panose="05000000000000000000" pitchFamily="2" charset="2"/>
              </a:rPr>
              <a:t>then </a:t>
            </a:r>
            <a:r>
              <a:rPr lang="en-US" dirty="0" smtClean="0">
                <a:sym typeface="Wingdings" panose="05000000000000000000" pitchFamily="2" charset="2"/>
              </a:rPr>
              <a:t>Q=1,     </a:t>
            </a:r>
            <a:r>
              <a:rPr lang="en-US" dirty="0">
                <a:sym typeface="Wingdings" panose="05000000000000000000" pitchFamily="2" charset="2"/>
              </a:rPr>
              <a:t>Q</a:t>
            </a:r>
            <a:r>
              <a:rPr lang="en-US" dirty="0" smtClean="0">
                <a:sym typeface="Wingdings" panose="05000000000000000000" pitchFamily="2" charset="2"/>
              </a:rPr>
              <a:t>’=</a:t>
            </a:r>
            <a:r>
              <a:rPr lang="en-US" dirty="0">
                <a:sym typeface="Wingdings" panose="05000000000000000000" pitchFamily="2" charset="2"/>
              </a:rPr>
              <a:t>0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	(memory condition)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(if data/input is </a:t>
            </a:r>
            <a:r>
              <a:rPr lang="en-US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removed(S change its state and R maintain its state, </a:t>
            </a:r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o/p of previous step is stored)</a:t>
            </a:r>
          </a:p>
          <a:p>
            <a:r>
              <a:rPr lang="en-US" dirty="0">
                <a:sym typeface="Wingdings" panose="05000000000000000000" pitchFamily="2" charset="2"/>
              </a:rPr>
              <a:t>Case ii:  S=1,   R=0  then </a:t>
            </a:r>
            <a:r>
              <a:rPr lang="en-US" dirty="0" smtClean="0">
                <a:sym typeface="Wingdings" panose="05000000000000000000" pitchFamily="2" charset="2"/>
              </a:rPr>
              <a:t>Q=0,Q’=1</a:t>
            </a:r>
            <a:r>
              <a:rPr lang="en-US" dirty="0">
                <a:sym typeface="Wingdings" panose="05000000000000000000" pitchFamily="2" charset="2"/>
              </a:rPr>
              <a:t>	(latch is </a:t>
            </a:r>
            <a:r>
              <a:rPr lang="en-US" dirty="0" smtClean="0">
                <a:sym typeface="Wingdings" panose="05000000000000000000" pitchFamily="2" charset="2"/>
              </a:rPr>
              <a:t>reset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     </a:t>
            </a:r>
            <a:r>
              <a:rPr lang="en-US" dirty="0" smtClean="0">
                <a:sym typeface="Wingdings" panose="05000000000000000000" pitchFamily="2" charset="2"/>
              </a:rPr>
              <a:t>S=1,   R=1   </a:t>
            </a:r>
            <a:r>
              <a:rPr lang="en-US" dirty="0">
                <a:sym typeface="Wingdings" panose="05000000000000000000" pitchFamily="2" charset="2"/>
              </a:rPr>
              <a:t>then </a:t>
            </a:r>
            <a:r>
              <a:rPr lang="en-US" dirty="0" smtClean="0">
                <a:sym typeface="Wingdings" panose="05000000000000000000" pitchFamily="2" charset="2"/>
              </a:rPr>
              <a:t>Q=0,  </a:t>
            </a:r>
            <a:r>
              <a:rPr lang="en-US" dirty="0">
                <a:sym typeface="Wingdings" panose="05000000000000000000" pitchFamily="2" charset="2"/>
              </a:rPr>
              <a:t>Q</a:t>
            </a:r>
            <a:r>
              <a:rPr lang="en-US" dirty="0" smtClean="0">
                <a:sym typeface="Wingdings" panose="05000000000000000000" pitchFamily="2" charset="2"/>
              </a:rPr>
              <a:t>’=1    </a:t>
            </a:r>
            <a:r>
              <a:rPr lang="en-US" dirty="0">
                <a:sym typeface="Wingdings" panose="05000000000000000000" pitchFamily="2" charset="2"/>
              </a:rPr>
              <a:t>(memory condition)</a:t>
            </a:r>
          </a:p>
          <a:p>
            <a:r>
              <a:rPr lang="en-US" dirty="0">
                <a:sym typeface="Wingdings" panose="05000000000000000000" pitchFamily="2" charset="2"/>
              </a:rPr>
              <a:t>Case iii:  </a:t>
            </a:r>
            <a:r>
              <a:rPr lang="en-US" dirty="0" smtClean="0">
                <a:sym typeface="Wingdings" panose="05000000000000000000" pitchFamily="2" charset="2"/>
              </a:rPr>
              <a:t>S=0,R=0   </a:t>
            </a:r>
            <a:r>
              <a:rPr lang="en-US" dirty="0">
                <a:sym typeface="Wingdings" panose="05000000000000000000" pitchFamily="2" charset="2"/>
              </a:rPr>
              <a:t>then 	 </a:t>
            </a:r>
            <a:r>
              <a:rPr lang="en-US" dirty="0" smtClean="0">
                <a:sym typeface="Wingdings" panose="05000000000000000000" pitchFamily="2" charset="2"/>
              </a:rPr>
              <a:t>Q=1,  </a:t>
            </a:r>
            <a:r>
              <a:rPr lang="en-US" dirty="0">
                <a:sym typeface="Wingdings" panose="05000000000000000000" pitchFamily="2" charset="2"/>
              </a:rPr>
              <a:t>Q</a:t>
            </a:r>
            <a:r>
              <a:rPr lang="en-US" dirty="0" smtClean="0">
                <a:sym typeface="Wingdings" panose="05000000000000000000" pitchFamily="2" charset="2"/>
              </a:rPr>
              <a:t>’=1   </a:t>
            </a:r>
            <a:r>
              <a:rPr lang="en-US" dirty="0">
                <a:sym typeface="Wingdings" panose="05000000000000000000" pitchFamily="2" charset="2"/>
              </a:rPr>
              <a:t>(not used, </a:t>
            </a:r>
            <a:r>
              <a:rPr lang="en-US" dirty="0" smtClean="0">
                <a:sym typeface="Wingdings" panose="05000000000000000000" pitchFamily="2" charset="2"/>
              </a:rPr>
              <a:t>because </a:t>
            </a:r>
            <a:r>
              <a:rPr lang="en-US" dirty="0">
                <a:sym typeface="Wingdings" panose="05000000000000000000" pitchFamily="2" charset="2"/>
              </a:rPr>
              <a:t>Q and Q’ are complement of each </a:t>
            </a:r>
            <a:r>
              <a:rPr lang="en-US" dirty="0" smtClean="0">
                <a:sym typeface="Wingdings" panose="05000000000000000000" pitchFamily="2" charset="2"/>
              </a:rPr>
              <a:t>other)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When S=1, R=1  </a:t>
            </a:r>
            <a:r>
              <a:rPr lang="en-US" dirty="0">
                <a:sym typeface="Wingdings" panose="05000000000000000000" pitchFamily="2" charset="2"/>
              </a:rPr>
              <a:t>Store data(input data is removed)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728899"/>
              </p:ext>
            </p:extLst>
          </p:nvPr>
        </p:nvGraphicFramePr>
        <p:xfrm>
          <a:off x="2011680" y="2084704"/>
          <a:ext cx="4892040" cy="2837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010"/>
                <a:gridCol w="1223010"/>
                <a:gridCol w="1223010"/>
                <a:gridCol w="1223010"/>
              </a:tblGrid>
              <a:tr h="567563"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Q’</a:t>
                      </a:r>
                      <a:endParaRPr lang="en-US" dirty="0"/>
                    </a:p>
                  </a:txBody>
                  <a:tcPr/>
                </a:tc>
              </a:tr>
              <a:tr h="567563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used 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67563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56756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56756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memory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850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 Latch using Enable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0" y="2196138"/>
            <a:ext cx="5708045" cy="37779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440" y="2379019"/>
            <a:ext cx="3488240" cy="341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97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6280"/>
            <a:ext cx="10515600" cy="546068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When E=1</a:t>
            </a:r>
          </a:p>
          <a:p>
            <a:r>
              <a:rPr lang="en-US" dirty="0" smtClean="0"/>
              <a:t>Case </a:t>
            </a:r>
            <a:r>
              <a:rPr lang="en-US" dirty="0"/>
              <a:t>i: </a:t>
            </a:r>
            <a:r>
              <a:rPr lang="en-US" dirty="0" smtClean="0"/>
              <a:t>S=1,R=O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 smtClean="0">
                <a:sym typeface="Wingdings" panose="05000000000000000000" pitchFamily="2" charset="2"/>
              </a:rPr>
              <a:t>Q=1,Q’=0     </a:t>
            </a:r>
            <a:r>
              <a:rPr lang="en-US" dirty="0">
                <a:sym typeface="Wingdings" panose="05000000000000000000" pitchFamily="2" charset="2"/>
              </a:rPr>
              <a:t>	(Latch is </a:t>
            </a:r>
            <a:r>
              <a:rPr lang="en-US" dirty="0" smtClean="0">
                <a:sym typeface="Wingdings" panose="05000000000000000000" pitchFamily="2" charset="2"/>
              </a:rPr>
              <a:t>set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   </a:t>
            </a:r>
            <a:r>
              <a:rPr lang="en-US" dirty="0" smtClean="0">
                <a:sym typeface="Wingdings" panose="05000000000000000000" pitchFamily="2" charset="2"/>
              </a:rPr>
              <a:t>S=0,R=0 </a:t>
            </a:r>
            <a:r>
              <a:rPr lang="en-US" dirty="0">
                <a:sym typeface="Wingdings" panose="05000000000000000000" pitchFamily="2" charset="2"/>
              </a:rPr>
              <a:t>then </a:t>
            </a:r>
            <a:r>
              <a:rPr lang="en-US" dirty="0" smtClean="0">
                <a:sym typeface="Wingdings" panose="05000000000000000000" pitchFamily="2" charset="2"/>
              </a:rPr>
              <a:t>Q=1,     </a:t>
            </a:r>
            <a:r>
              <a:rPr lang="en-US" dirty="0">
                <a:sym typeface="Wingdings" panose="05000000000000000000" pitchFamily="2" charset="2"/>
              </a:rPr>
              <a:t>Q</a:t>
            </a:r>
            <a:r>
              <a:rPr lang="en-US" dirty="0" smtClean="0">
                <a:sym typeface="Wingdings" panose="05000000000000000000" pitchFamily="2" charset="2"/>
              </a:rPr>
              <a:t>’=0  </a:t>
            </a:r>
            <a:r>
              <a:rPr lang="en-US" dirty="0">
                <a:sym typeface="Wingdings" panose="05000000000000000000" pitchFamily="2" charset="2"/>
              </a:rPr>
              <a:t>	(memory </a:t>
            </a:r>
            <a:r>
              <a:rPr lang="en-US" dirty="0" smtClean="0">
                <a:sym typeface="Wingdings" panose="05000000000000000000" pitchFamily="2" charset="2"/>
              </a:rPr>
              <a:t>condition)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Case </a:t>
            </a:r>
            <a:r>
              <a:rPr lang="en-US" dirty="0">
                <a:sym typeface="Wingdings" panose="05000000000000000000" pitchFamily="2" charset="2"/>
              </a:rPr>
              <a:t>ii:  </a:t>
            </a:r>
            <a:r>
              <a:rPr lang="en-US" dirty="0" smtClean="0">
                <a:sym typeface="Wingdings" panose="05000000000000000000" pitchFamily="2" charset="2"/>
              </a:rPr>
              <a:t>S=0,   R=1  </a:t>
            </a:r>
            <a:r>
              <a:rPr lang="en-US" dirty="0">
                <a:sym typeface="Wingdings" panose="05000000000000000000" pitchFamily="2" charset="2"/>
              </a:rPr>
              <a:t>then </a:t>
            </a:r>
            <a:r>
              <a:rPr lang="en-US" dirty="0" smtClean="0">
                <a:sym typeface="Wingdings" panose="05000000000000000000" pitchFamily="2" charset="2"/>
              </a:rPr>
              <a:t>Q=0,Q’=1</a:t>
            </a:r>
            <a:r>
              <a:rPr lang="en-US" dirty="0">
                <a:sym typeface="Wingdings" panose="05000000000000000000" pitchFamily="2" charset="2"/>
              </a:rPr>
              <a:t>	(latch is </a:t>
            </a:r>
            <a:r>
              <a:rPr lang="en-US" dirty="0" smtClean="0">
                <a:sym typeface="Wingdings" panose="05000000000000000000" pitchFamily="2" charset="2"/>
              </a:rPr>
              <a:t>reset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      </a:t>
            </a:r>
            <a:r>
              <a:rPr lang="en-US" dirty="0" smtClean="0">
                <a:sym typeface="Wingdings" panose="05000000000000000000" pitchFamily="2" charset="2"/>
              </a:rPr>
              <a:t>S=0,   R=0   </a:t>
            </a:r>
            <a:r>
              <a:rPr lang="en-US" dirty="0">
                <a:sym typeface="Wingdings" panose="05000000000000000000" pitchFamily="2" charset="2"/>
              </a:rPr>
              <a:t>then </a:t>
            </a:r>
            <a:r>
              <a:rPr lang="en-US" dirty="0" smtClean="0">
                <a:sym typeface="Wingdings" panose="05000000000000000000" pitchFamily="2" charset="2"/>
              </a:rPr>
              <a:t>Q=0,  </a:t>
            </a:r>
            <a:r>
              <a:rPr lang="en-US" dirty="0">
                <a:sym typeface="Wingdings" panose="05000000000000000000" pitchFamily="2" charset="2"/>
              </a:rPr>
              <a:t>Q</a:t>
            </a:r>
            <a:r>
              <a:rPr lang="en-US" dirty="0" smtClean="0">
                <a:sym typeface="Wingdings" panose="05000000000000000000" pitchFamily="2" charset="2"/>
              </a:rPr>
              <a:t>’=</a:t>
            </a:r>
            <a:r>
              <a:rPr lang="en-US" dirty="0">
                <a:sym typeface="Wingdings" panose="05000000000000000000" pitchFamily="2" charset="2"/>
              </a:rPr>
              <a:t>1</a:t>
            </a:r>
            <a:r>
              <a:rPr lang="en-US" dirty="0" smtClean="0">
                <a:sym typeface="Wingdings" panose="05000000000000000000" pitchFamily="2" charset="2"/>
              </a:rPr>
              <a:t>   </a:t>
            </a:r>
            <a:r>
              <a:rPr lang="en-US" dirty="0">
                <a:sym typeface="Wingdings" panose="05000000000000000000" pitchFamily="2" charset="2"/>
              </a:rPr>
              <a:t>(memory condition)</a:t>
            </a:r>
          </a:p>
          <a:p>
            <a:r>
              <a:rPr lang="en-US" dirty="0">
                <a:sym typeface="Wingdings" panose="05000000000000000000" pitchFamily="2" charset="2"/>
              </a:rPr>
              <a:t>Case iii:  </a:t>
            </a:r>
            <a:r>
              <a:rPr lang="en-US" dirty="0" smtClean="0">
                <a:sym typeface="Wingdings" panose="05000000000000000000" pitchFamily="2" charset="2"/>
              </a:rPr>
              <a:t>S=1,R=1   </a:t>
            </a:r>
            <a:r>
              <a:rPr lang="en-US" dirty="0">
                <a:sym typeface="Wingdings" panose="05000000000000000000" pitchFamily="2" charset="2"/>
              </a:rPr>
              <a:t>then 	 </a:t>
            </a:r>
            <a:r>
              <a:rPr lang="en-US" dirty="0" smtClean="0">
                <a:sym typeface="Wingdings" panose="05000000000000000000" pitchFamily="2" charset="2"/>
              </a:rPr>
              <a:t>Q=0/1,  </a:t>
            </a:r>
            <a:r>
              <a:rPr lang="en-US" dirty="0">
                <a:sym typeface="Wingdings" panose="05000000000000000000" pitchFamily="2" charset="2"/>
              </a:rPr>
              <a:t>Q’=</a:t>
            </a:r>
            <a:r>
              <a:rPr lang="en-US" dirty="0" smtClean="0">
                <a:sym typeface="Wingdings" panose="05000000000000000000" pitchFamily="2" charset="2"/>
              </a:rPr>
              <a:t>0/1  </a:t>
            </a:r>
            <a:r>
              <a:rPr lang="en-US" dirty="0">
                <a:sym typeface="Wingdings" panose="05000000000000000000" pitchFamily="2" charset="2"/>
              </a:rPr>
              <a:t>(not used, because Q and Q’ are complement of each other)</a:t>
            </a:r>
          </a:p>
          <a:p>
            <a:r>
              <a:rPr lang="en-US" dirty="0" smtClean="0"/>
              <a:t>When E=0</a:t>
            </a:r>
          </a:p>
          <a:p>
            <a:pPr marL="0" indent="0">
              <a:buNone/>
            </a:pPr>
            <a:r>
              <a:rPr lang="en-US" dirty="0" smtClean="0"/>
              <a:t>then no 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60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 Latch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2160"/>
            <a:ext cx="9149305" cy="35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911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 Symbols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44" y="1690688"/>
            <a:ext cx="9629336" cy="40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0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334</Words>
  <Application>Microsoft Office PowerPoint</Application>
  <PresentationFormat>Widescreen</PresentationFormat>
  <Paragraphs>97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Latches </vt:lpstr>
      <vt:lpstr>Latch</vt:lpstr>
      <vt:lpstr>Latches and Flip-Flops</vt:lpstr>
      <vt:lpstr>SR Latch </vt:lpstr>
      <vt:lpstr>SR latch using NOR gate</vt:lpstr>
      <vt:lpstr>PowerPoint Presentation</vt:lpstr>
      <vt:lpstr>PowerPoint Presentation</vt:lpstr>
      <vt:lpstr>SR latch using NAND gate</vt:lpstr>
      <vt:lpstr>PowerPoint Presentation</vt:lpstr>
      <vt:lpstr>PowerPoint Presentation</vt:lpstr>
      <vt:lpstr>SR Latch using Enable</vt:lpstr>
      <vt:lpstr>PowerPoint Presentation</vt:lpstr>
      <vt:lpstr>D Latch</vt:lpstr>
      <vt:lpstr>Graphic Symbols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Latches &amp; Flip-flops</dc:title>
  <dc:creator>Saher Ashraf</dc:creator>
  <cp:lastModifiedBy>Hamid Sanan</cp:lastModifiedBy>
  <cp:revision>66</cp:revision>
  <dcterms:created xsi:type="dcterms:W3CDTF">2020-03-29T15:09:37Z</dcterms:created>
  <dcterms:modified xsi:type="dcterms:W3CDTF">2023-12-11T08:40:05Z</dcterms:modified>
</cp:coreProperties>
</file>
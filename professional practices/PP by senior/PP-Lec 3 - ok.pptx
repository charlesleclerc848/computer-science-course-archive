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8" r:id="rId2"/>
    <p:sldId id="291" r:id="rId3"/>
    <p:sldId id="303" r:id="rId4"/>
    <p:sldId id="292" r:id="rId5"/>
    <p:sldId id="304" r:id="rId6"/>
    <p:sldId id="301" r:id="rId7"/>
    <p:sldId id="302" r:id="rId8"/>
    <p:sldId id="290" r:id="rId9"/>
    <p:sldId id="299" r:id="rId10"/>
    <p:sldId id="30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434" autoAdjust="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897030-4BC1-4804-8B1A-010D0FC11157}" type="datetimeFigureOut">
              <a:rPr lang="en-US" smtClean="0"/>
              <a:t>10/21/2022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C47089-3F50-4E45-8358-4DADD1AA0CF5}" type="slidenum">
              <a:rPr lang="en-US" smtClean="0"/>
              <a:t>‹#›</a:t>
            </a:fld>
            <a:endParaRPr lang="en-US"/>
          </a:p>
        </p:txBody>
      </p:sp>
    </p:spTree>
    <p:extLst>
      <p:ext uri="{BB962C8B-B14F-4D97-AF65-F5344CB8AC3E}">
        <p14:creationId xmlns:p14="http://schemas.microsoft.com/office/powerpoint/2010/main" val="262163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n.wikipedia.org/wiki/Association_for_Computing_Machinery"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ACM</a:t>
            </a:r>
          </a:p>
          <a:p>
            <a:pPr rtl="0"/>
            <a:r>
              <a:rPr lang="en-US" sz="1200" b="0" i="0" u="none" strike="noStrike" kern="1200" dirty="0">
                <a:solidFill>
                  <a:schemeClr val="tx1"/>
                </a:solidFill>
                <a:effectLst/>
                <a:latin typeface="+mn-lt"/>
                <a:ea typeface="+mn-ea"/>
                <a:cs typeface="+mn-cs"/>
                <a:hlinkClick r:id="rId3"/>
              </a:rPr>
              <a:t>The </a:t>
            </a:r>
            <a:r>
              <a:rPr lang="en-US" sz="1200" b="1" i="0" u="none" strike="noStrike" kern="1200" dirty="0">
                <a:solidFill>
                  <a:schemeClr val="tx1"/>
                </a:solidFill>
                <a:effectLst/>
                <a:latin typeface="+mn-lt"/>
                <a:ea typeface="+mn-ea"/>
                <a:cs typeface="+mn-cs"/>
                <a:hlinkClick r:id="rId3"/>
              </a:rPr>
              <a:t>Association for Computing Machinery</a:t>
            </a:r>
            <a:r>
              <a:rPr lang="en-US" sz="1200" b="0" i="0" u="none" strike="noStrike" kern="1200" dirty="0">
                <a:solidFill>
                  <a:schemeClr val="tx1"/>
                </a:solidFill>
                <a:effectLst/>
                <a:latin typeface="+mn-lt"/>
                <a:ea typeface="+mn-ea"/>
                <a:cs typeface="+mn-cs"/>
                <a:hlinkClick r:id="rId3"/>
              </a:rPr>
              <a:t> (</a:t>
            </a:r>
            <a:r>
              <a:rPr lang="en-US" sz="1200" b="1" i="0" u="none" strike="noStrike" kern="1200" dirty="0">
                <a:solidFill>
                  <a:schemeClr val="tx1"/>
                </a:solidFill>
                <a:effectLst/>
                <a:latin typeface="+mn-lt"/>
                <a:ea typeface="+mn-ea"/>
                <a:cs typeface="+mn-cs"/>
                <a:hlinkClick r:id="rId3"/>
              </a:rPr>
              <a:t>ACM</a:t>
            </a:r>
            <a:r>
              <a:rPr lang="en-US" sz="1200" b="0" i="0" u="none" strike="noStrike" kern="1200" dirty="0">
                <a:solidFill>
                  <a:schemeClr val="tx1"/>
                </a:solidFill>
                <a:effectLst/>
                <a:latin typeface="+mn-lt"/>
                <a:ea typeface="+mn-ea"/>
                <a:cs typeface="+mn-cs"/>
                <a:hlinkClick r:id="rId3"/>
              </a:rPr>
              <a:t>) is a US-based international learned society for computing. It was founded in 1947, and is the world's largest scientific and educational computing society. The ACM is a non-profit professional membership group, claiming nearly 100,000 student and professional members as of 2019. Its headquarters are in New York City.</a:t>
            </a:r>
          </a:p>
          <a:p>
            <a:br>
              <a:rPr lang="en-US" dirty="0"/>
            </a:br>
            <a:endParaRPr lang="en-US" dirty="0"/>
          </a:p>
        </p:txBody>
      </p:sp>
      <p:sp>
        <p:nvSpPr>
          <p:cNvPr id="4" name="Slide Number Placeholder 3"/>
          <p:cNvSpPr>
            <a:spLocks noGrp="1"/>
          </p:cNvSpPr>
          <p:nvPr>
            <p:ph type="sldNum" sz="quarter" idx="10"/>
          </p:nvPr>
        </p:nvSpPr>
        <p:spPr/>
        <p:txBody>
          <a:bodyPr/>
          <a:lstStyle/>
          <a:p>
            <a:fld id="{6EC47089-3F50-4E45-8358-4DADD1AA0CF5}" type="slidenum">
              <a:rPr lang="en-US" smtClean="0"/>
              <a:t>2</a:t>
            </a:fld>
            <a:endParaRPr lang="en-US"/>
          </a:p>
        </p:txBody>
      </p:sp>
    </p:spTree>
    <p:extLst>
      <p:ext uri="{BB962C8B-B14F-4D97-AF65-F5344CB8AC3E}">
        <p14:creationId xmlns:p14="http://schemas.microsoft.com/office/powerpoint/2010/main" val="14097195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7ED264D-F1CD-4A0E-86DE-829D531D8CC1}" type="datetimeFigureOut">
              <a:rPr lang="en-US" smtClean="0"/>
              <a:t>10/21/2022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45237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10/21/2022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2195129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ED264D-F1CD-4A0E-86DE-829D531D8CC1}" type="datetimeFigureOut">
              <a:rPr lang="en-US" smtClean="0"/>
              <a:t>10/21/2022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730313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7ED264D-F1CD-4A0E-86DE-829D531D8CC1}" type="datetimeFigureOut">
              <a:rPr lang="en-US" smtClean="0"/>
              <a:t>10/21/2022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84983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7ED264D-F1CD-4A0E-86DE-829D531D8CC1}" type="datetimeFigureOut">
              <a:rPr lang="en-US" smtClean="0"/>
              <a:t>10/21/2022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945637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7ED264D-F1CD-4A0E-86DE-829D531D8CC1}" type="datetimeFigureOut">
              <a:rPr lang="en-US" smtClean="0"/>
              <a:t>10/21/2022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1685607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7ED264D-F1CD-4A0E-86DE-829D531D8CC1}" type="datetimeFigureOut">
              <a:rPr lang="en-US" smtClean="0"/>
              <a:t>10/21/2022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3444612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ED264D-F1CD-4A0E-86DE-829D531D8CC1}" type="datetimeFigureOut">
              <a:rPr lang="en-US" smtClean="0"/>
              <a:t>10/21/2022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90698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7ED264D-F1CD-4A0E-86DE-829D531D8CC1}" type="datetimeFigureOut">
              <a:rPr lang="en-US" smtClean="0"/>
              <a:t>10/21/2022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920315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10/21/2022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11558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ED264D-F1CD-4A0E-86DE-829D531D8CC1}" type="datetimeFigureOut">
              <a:rPr lang="en-US" smtClean="0"/>
              <a:t>10/21/2022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EF331B4-1EE6-4448-AE73-C8BAED0E2A35}" type="slidenum">
              <a:rPr lang="en-US" smtClean="0"/>
              <a:t>‹#›</a:t>
            </a:fld>
            <a:endParaRPr lang="en-US"/>
          </a:p>
        </p:txBody>
      </p:sp>
    </p:spTree>
    <p:extLst>
      <p:ext uri="{BB962C8B-B14F-4D97-AF65-F5344CB8AC3E}">
        <p14:creationId xmlns:p14="http://schemas.microsoft.com/office/powerpoint/2010/main" val="6300288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ED264D-F1CD-4A0E-86DE-829D531D8CC1}" type="datetimeFigureOut">
              <a:rPr lang="en-US" smtClean="0"/>
              <a:t>10/21/2022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F331B4-1EE6-4448-AE73-C8BAED0E2A35}" type="slidenum">
              <a:rPr lang="en-US" smtClean="0"/>
              <a:t>‹#›</a:t>
            </a:fld>
            <a:endParaRPr lang="en-US"/>
          </a:p>
        </p:txBody>
      </p:sp>
    </p:spTree>
    <p:extLst>
      <p:ext uri="{BB962C8B-B14F-4D97-AF65-F5344CB8AC3E}">
        <p14:creationId xmlns:p14="http://schemas.microsoft.com/office/powerpoint/2010/main" val="18084766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bwMode="auto">
          <a:xfrm>
            <a:off x="1088721" y="1780566"/>
            <a:ext cx="10515600" cy="203177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rmAutofit/>
          </a:bodyPr>
          <a:lstStyle/>
          <a:p>
            <a:pPr>
              <a:lnSpc>
                <a:spcPct val="100000"/>
              </a:lnSpc>
            </a:pPr>
            <a:r>
              <a:rPr lang="en-US" sz="3600">
                <a:latin typeface="Times New Roman" panose="02020603050405020304" pitchFamily="18" charset="0"/>
                <a:cs typeface="Times New Roman" panose="02020603050405020304" pitchFamily="18" charset="0"/>
              </a:rPr>
              <a:t>Week 2</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Lecture 3:  </a:t>
            </a:r>
            <a:r>
              <a:rPr lang="en-US" sz="3600" spc="-1" dirty="0" err="1">
                <a:latin typeface="Times New Roman" panose="02020603050405020304" pitchFamily="18" charset="0"/>
                <a:cs typeface="Times New Roman" panose="02020603050405020304" pitchFamily="18" charset="0"/>
              </a:rPr>
              <a:t>i</a:t>
            </a:r>
            <a:r>
              <a:rPr lang="en-US" sz="3600" spc="-1" dirty="0">
                <a:latin typeface="Times New Roman" panose="02020603050405020304" pitchFamily="18" charset="0"/>
                <a:cs typeface="Times New Roman" panose="02020603050405020304" pitchFamily="18" charset="0"/>
              </a:rPr>
              <a:t>. Computing Professions</a:t>
            </a:r>
            <a:br>
              <a:rPr lang="en-US" sz="3600" spc="-1" dirty="0">
                <a:latin typeface="Times New Roman" panose="02020603050405020304" pitchFamily="18" charset="0"/>
                <a:cs typeface="Times New Roman" panose="02020603050405020304" pitchFamily="18" charset="0"/>
              </a:rPr>
            </a:br>
            <a:r>
              <a:rPr lang="en-US" sz="3600" spc="-1" dirty="0">
                <a:latin typeface="Times New Roman" panose="02020603050405020304" pitchFamily="18" charset="0"/>
                <a:cs typeface="Times New Roman" panose="02020603050405020304" pitchFamily="18" charset="0"/>
              </a:rPr>
              <a:t>                  ii. Impact of Computing</a:t>
            </a:r>
          </a:p>
        </p:txBody>
      </p:sp>
    </p:spTree>
    <p:extLst>
      <p:ext uri="{BB962C8B-B14F-4D97-AF65-F5344CB8AC3E}">
        <p14:creationId xmlns:p14="http://schemas.microsoft.com/office/powerpoint/2010/main" val="1382005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Computing</a:t>
            </a:r>
          </a:p>
        </p:txBody>
      </p:sp>
      <p:sp>
        <p:nvSpPr>
          <p:cNvPr id="3" name="Content Placeholder 2"/>
          <p:cNvSpPr>
            <a:spLocks noGrp="1"/>
          </p:cNvSpPr>
          <p:nvPr>
            <p:ph idx="1"/>
          </p:nvPr>
        </p:nvSpPr>
        <p:spPr>
          <a:xfrm>
            <a:off x="838200" y="1405719"/>
            <a:ext cx="10515600" cy="4771244"/>
          </a:xfrm>
        </p:spPr>
        <p:txBody>
          <a:bodyPr>
            <a:noAutofit/>
          </a:bodyPr>
          <a:lstStyle/>
          <a:p>
            <a:pPr algn="just"/>
            <a:r>
              <a:rPr lang="en-US" spc="-1" dirty="0">
                <a:latin typeface="Times New Roman" panose="02020603050405020304" pitchFamily="18" charset="0"/>
                <a:cs typeface="Times New Roman" panose="02020603050405020304" pitchFamily="18" charset="0"/>
              </a:rPr>
              <a:t>It includes development of both hardware and software. </a:t>
            </a:r>
          </a:p>
          <a:p>
            <a:pPr algn="just"/>
            <a:endParaRPr lang="en-US" spc="-1" dirty="0">
              <a:latin typeface="Times New Roman" panose="02020603050405020304" pitchFamily="18" charset="0"/>
              <a:cs typeface="Times New Roman" panose="02020603050405020304" pitchFamily="18" charset="0"/>
            </a:endParaRPr>
          </a:p>
          <a:p>
            <a:pPr algn="just"/>
            <a:r>
              <a:rPr lang="en-US" spc="-1" dirty="0">
                <a:latin typeface="Times New Roman" panose="02020603050405020304" pitchFamily="18" charset="0"/>
                <a:cs typeface="Times New Roman" panose="02020603050405020304" pitchFamily="18" charset="0"/>
              </a:rPr>
              <a:t>ACM defines Computing in a general way as: </a:t>
            </a:r>
          </a:p>
          <a:p>
            <a:pPr algn="just"/>
            <a:endParaRPr lang="en-US" spc="-1" dirty="0">
              <a:latin typeface="Times New Roman" panose="02020603050405020304" pitchFamily="18" charset="0"/>
              <a:cs typeface="Times New Roman" panose="02020603050405020304" pitchFamily="18" charset="0"/>
            </a:endParaRPr>
          </a:p>
          <a:p>
            <a:pPr lvl="1" algn="just"/>
            <a:r>
              <a:rPr lang="en-US" sz="2800" spc="-1" dirty="0">
                <a:latin typeface="Times New Roman" panose="02020603050405020304" pitchFamily="18" charset="0"/>
                <a:cs typeface="Times New Roman" panose="02020603050405020304" pitchFamily="18" charset="0"/>
              </a:rPr>
              <a:t>We can define computing to mean any goal-oriented activity requiring, benefiting from, or creating computers.</a:t>
            </a:r>
          </a:p>
          <a:p>
            <a:pPr marL="457200" lvl="1" indent="0" algn="just">
              <a:buNone/>
            </a:pPr>
            <a:r>
              <a:rPr lang="en-US" sz="2800" spc="-1" dirty="0">
                <a:latin typeface="Times New Roman" panose="02020603050405020304" pitchFamily="18" charset="0"/>
                <a:cs typeface="Times New Roman" panose="02020603050405020304" pitchFamily="18" charset="0"/>
              </a:rPr>
              <a:t> </a:t>
            </a:r>
          </a:p>
          <a:p>
            <a:pPr lvl="1" algn="just"/>
            <a:r>
              <a:rPr lang="en-US" sz="2800" spc="-1" dirty="0">
                <a:latin typeface="Times New Roman" panose="02020603050405020304" pitchFamily="18" charset="0"/>
                <a:cs typeface="Times New Roman" panose="02020603050405020304" pitchFamily="18" charset="0"/>
              </a:rPr>
              <a:t>Thus, computing includes designing and building hardware and software systems for a wide range of purposes.</a:t>
            </a:r>
          </a:p>
        </p:txBody>
      </p:sp>
    </p:spTree>
    <p:extLst>
      <p:ext uri="{BB962C8B-B14F-4D97-AF65-F5344CB8AC3E}">
        <p14:creationId xmlns:p14="http://schemas.microsoft.com/office/powerpoint/2010/main" val="2250570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DDA27-3373-4867-A654-2E2E5D3CE1B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a:t>
            </a:r>
            <a:endParaRPr lang="en-PK"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6191170-933D-48E5-9B17-18317D1027A8}"/>
              </a:ext>
            </a:extLst>
          </p:cNvPr>
          <p:cNvSpPr>
            <a:spLocks noGrp="1"/>
          </p:cNvSpPr>
          <p:nvPr>
            <p:ph idx="1"/>
          </p:nvPr>
        </p:nvSpPr>
        <p:spPr/>
        <p:txBody>
          <a:bodyPr/>
          <a:lstStyle/>
          <a:p>
            <a:pPr algn="just"/>
            <a:r>
              <a:rPr lang="en-US" spc="-1" dirty="0">
                <a:latin typeface="Times New Roman" panose="02020603050405020304" pitchFamily="18" charset="0"/>
                <a:cs typeface="Times New Roman" panose="02020603050405020304" pitchFamily="18" charset="0"/>
              </a:rPr>
              <a:t>For instance, processing, structuring, and managing various kinds of information; doing scientific studies using computers; making computer systems behave intelligently; creating and using communications and entertainment media; finding and gathering information relevant to any particular purpose, and so on. The list is virtually endless, and the possibilities are vast.</a:t>
            </a:r>
          </a:p>
          <a:p>
            <a:pPr marL="457200" lvl="1" indent="0" algn="just">
              <a:buNone/>
            </a:pPr>
            <a:endParaRPr lang="en-US" spc="-1" dirty="0">
              <a:latin typeface="Times New Roman" panose="02020603050405020304" pitchFamily="18" charset="0"/>
              <a:cs typeface="Times New Roman" panose="02020603050405020304" pitchFamily="18" charset="0"/>
            </a:endParaRPr>
          </a:p>
          <a:p>
            <a:pPr algn="just"/>
            <a:r>
              <a:rPr lang="en-US" spc="-1" dirty="0">
                <a:latin typeface="Times New Roman" panose="02020603050405020304" pitchFamily="18" charset="0"/>
                <a:cs typeface="Times New Roman" panose="02020603050405020304" pitchFamily="18" charset="0"/>
              </a:rPr>
              <a:t>Computing has become a critical, integral component of modern industrial technology. </a:t>
            </a:r>
          </a:p>
          <a:p>
            <a:endParaRPr lang="en-PK" dirty="0"/>
          </a:p>
        </p:txBody>
      </p:sp>
    </p:spTree>
    <p:extLst>
      <p:ext uri="{BB962C8B-B14F-4D97-AF65-F5344CB8AC3E}">
        <p14:creationId xmlns:p14="http://schemas.microsoft.com/office/powerpoint/2010/main" val="2146074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Computing Professions</a:t>
            </a:r>
          </a:p>
        </p:txBody>
      </p:sp>
      <p:sp>
        <p:nvSpPr>
          <p:cNvPr id="3" name="Content Placeholder 2"/>
          <p:cNvSpPr>
            <a:spLocks noGrp="1"/>
          </p:cNvSpPr>
          <p:nvPr>
            <p:ph idx="1"/>
          </p:nvPr>
        </p:nvSpPr>
        <p:spPr/>
        <p:txBody>
          <a:bodyPr>
            <a:normAutofit/>
          </a:bodyPr>
          <a:lstStyle/>
          <a:p>
            <a:pPr algn="just">
              <a:buFont typeface="Wingdings" panose="05000000000000000000" pitchFamily="2" charset="2"/>
              <a:buChar char="§"/>
            </a:pPr>
            <a:r>
              <a:rPr lang="en-US" b="0" i="0" dirty="0">
                <a:effectLst/>
                <a:latin typeface="Times New Roman" panose="02020603050405020304" pitchFamily="18" charset="0"/>
                <a:cs typeface="Times New Roman" panose="02020603050405020304" pitchFamily="18" charset="0"/>
              </a:rPr>
              <a:t>Computing professionals have ethical obligations to clients, employers, other professionals, and the public, in fulfilling their professional responsibilities. </a:t>
            </a:r>
          </a:p>
          <a:p>
            <a:pPr algn="just">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b="0" i="0" dirty="0">
                <a:effectLst/>
                <a:latin typeface="Times New Roman" panose="02020603050405020304" pitchFamily="18" charset="0"/>
                <a:cs typeface="Times New Roman" panose="02020603050405020304" pitchFamily="18" charset="0"/>
              </a:rPr>
              <a:t>These obligations are expressed in codes of ethics, which can be used to make decisions about ethical problems.</a:t>
            </a:r>
          </a:p>
          <a:p>
            <a:pPr marL="0" indent="0" algn="just">
              <a:buNone/>
            </a:pPr>
            <a:r>
              <a:rPr lang="en-US" b="0" i="0" dirty="0">
                <a:solidFill>
                  <a:srgbClr val="666666"/>
                </a:solidFill>
                <a:effectLst/>
                <a:latin typeface="ITC Franklin Gothic LT W01 Bk"/>
              </a:rPr>
              <a:t> </a:t>
            </a:r>
          </a:p>
        </p:txBody>
      </p:sp>
    </p:spTree>
    <p:extLst>
      <p:ext uri="{BB962C8B-B14F-4D97-AF65-F5344CB8AC3E}">
        <p14:creationId xmlns:p14="http://schemas.microsoft.com/office/powerpoint/2010/main" val="3143572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3BE3D-8AD1-4D3E-A620-4CD324B23775}"/>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8FD7E268-62D0-4667-A697-205376DC9E24}"/>
              </a:ext>
            </a:extLst>
          </p:cNvPr>
          <p:cNvSpPr>
            <a:spLocks noGrp="1"/>
          </p:cNvSpPr>
          <p:nvPr>
            <p:ph idx="1"/>
          </p:nvPr>
        </p:nvSpPr>
        <p:spPr/>
        <p:txBody>
          <a:bodyPr/>
          <a:lstStyle/>
          <a:p>
            <a:r>
              <a:rPr lang="en-US" b="0" i="0" dirty="0">
                <a:effectLst/>
                <a:latin typeface="Times New Roman" panose="02020603050405020304" pitchFamily="18" charset="0"/>
                <a:cs typeface="Times New Roman" panose="02020603050405020304" pitchFamily="18" charset="0"/>
              </a:rPr>
              <a:t>Computing professionals include </a:t>
            </a:r>
          </a:p>
          <a:p>
            <a:endParaRPr lang="en-US" b="0" i="0" dirty="0">
              <a:effectLst/>
              <a:latin typeface="Times New Roman" panose="02020603050405020304" pitchFamily="18" charset="0"/>
              <a:cs typeface="Times New Roman" panose="02020603050405020304" pitchFamily="18" charset="0"/>
            </a:endParaRPr>
          </a:p>
          <a:p>
            <a:pPr lvl="2"/>
            <a:r>
              <a:rPr lang="en-US" sz="2600" b="0" i="0" dirty="0">
                <a:effectLst/>
                <a:latin typeface="Times New Roman" panose="02020603050405020304" pitchFamily="18" charset="0"/>
                <a:cs typeface="Times New Roman" panose="02020603050405020304" pitchFamily="18" charset="0"/>
              </a:rPr>
              <a:t>Hardware designers</a:t>
            </a:r>
          </a:p>
          <a:p>
            <a:pPr lvl="2"/>
            <a:r>
              <a:rPr lang="en-US" sz="2600" b="0" i="0" dirty="0">
                <a:effectLst/>
                <a:latin typeface="Times New Roman" panose="02020603050405020304" pitchFamily="18" charset="0"/>
                <a:cs typeface="Times New Roman" panose="02020603050405020304" pitchFamily="18" charset="0"/>
              </a:rPr>
              <a:t>Software engineers </a:t>
            </a:r>
          </a:p>
          <a:p>
            <a:pPr lvl="2"/>
            <a:r>
              <a:rPr lang="en-US" sz="2600" dirty="0">
                <a:latin typeface="Times New Roman" panose="02020603050405020304" pitchFamily="18" charset="0"/>
                <a:cs typeface="Times New Roman" panose="02020603050405020304" pitchFamily="18" charset="0"/>
              </a:rPr>
              <a:t>D</a:t>
            </a:r>
            <a:r>
              <a:rPr lang="en-US" sz="2600" b="0" i="0" dirty="0">
                <a:effectLst/>
                <a:latin typeface="Times New Roman" panose="02020603050405020304" pitchFamily="18" charset="0"/>
                <a:cs typeface="Times New Roman" panose="02020603050405020304" pitchFamily="18" charset="0"/>
              </a:rPr>
              <a:t>atabase administrators </a:t>
            </a:r>
          </a:p>
          <a:p>
            <a:pPr lvl="2"/>
            <a:r>
              <a:rPr lang="en-US" sz="2600" b="0" i="0" dirty="0">
                <a:effectLst/>
                <a:latin typeface="Times New Roman" panose="02020603050405020304" pitchFamily="18" charset="0"/>
                <a:cs typeface="Times New Roman" panose="02020603050405020304" pitchFamily="18" charset="0"/>
              </a:rPr>
              <a:t>System analysts </a:t>
            </a:r>
            <a:endParaRPr lang="en-US" sz="2600" dirty="0">
              <a:latin typeface="Times New Roman" panose="02020603050405020304" pitchFamily="18" charset="0"/>
              <a:cs typeface="Times New Roman" panose="02020603050405020304" pitchFamily="18" charset="0"/>
            </a:endParaRPr>
          </a:p>
          <a:p>
            <a:pPr lvl="2"/>
            <a:r>
              <a:rPr lang="en-US" sz="2600" b="0" i="0" dirty="0">
                <a:effectLst/>
                <a:latin typeface="Times New Roman" panose="02020603050405020304" pitchFamily="18" charset="0"/>
                <a:cs typeface="Times New Roman" panose="02020603050405020304" pitchFamily="18" charset="0"/>
              </a:rPr>
              <a:t>Computer scientists</a:t>
            </a:r>
            <a:endParaRPr lang="en-US" sz="2600" dirty="0">
              <a:latin typeface="Times New Roman" panose="02020603050405020304" pitchFamily="18" charset="0"/>
              <a:cs typeface="Times New Roman" panose="02020603050405020304" pitchFamily="18" charset="0"/>
            </a:endParaRPr>
          </a:p>
          <a:p>
            <a:endParaRPr lang="en-PK" dirty="0"/>
          </a:p>
        </p:txBody>
      </p:sp>
    </p:spTree>
    <p:extLst>
      <p:ext uri="{BB962C8B-B14F-4D97-AF65-F5344CB8AC3E}">
        <p14:creationId xmlns:p14="http://schemas.microsoft.com/office/powerpoint/2010/main" val="1569093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FC4A8-4EBC-4501-9B41-0EFB7AD8DAF0}"/>
              </a:ext>
            </a:extLst>
          </p:cNvPr>
          <p:cNvSpPr>
            <a:spLocks noGrp="1"/>
          </p:cNvSpPr>
          <p:nvPr>
            <p:ph type="title"/>
          </p:nvPr>
        </p:nvSpPr>
        <p:spPr/>
        <p:txBody>
          <a:bodyPr/>
          <a:lstStyle/>
          <a:p>
            <a:r>
              <a:rPr lang="en-US" dirty="0"/>
              <a:t>Con..</a:t>
            </a:r>
            <a:endParaRPr lang="en-PK" dirty="0"/>
          </a:p>
        </p:txBody>
      </p:sp>
      <p:sp>
        <p:nvSpPr>
          <p:cNvPr id="3" name="Content Placeholder 2">
            <a:extLst>
              <a:ext uri="{FF2B5EF4-FFF2-40B4-BE49-F238E27FC236}">
                <a16:creationId xmlns:a16="http://schemas.microsoft.com/office/drawing/2014/main" id="{29FFE51C-E368-4DC0-AF7F-FD09F80D75A8}"/>
              </a:ext>
            </a:extLst>
          </p:cNvPr>
          <p:cNvSpPr>
            <a:spLocks noGrp="1"/>
          </p:cNvSpPr>
          <p:nvPr>
            <p:ph idx="1"/>
          </p:nvPr>
        </p:nvSpPr>
        <p:spPr/>
        <p:txBody>
          <a:bodyPr>
            <a:normAutofit/>
          </a:bodyPr>
          <a:lstStyle/>
          <a:p>
            <a:pPr algn="just"/>
            <a:r>
              <a:rPr lang="en-US" b="0" i="0" dirty="0">
                <a:effectLst/>
                <a:latin typeface="Times New Roman" panose="02020603050405020304" pitchFamily="18" charset="0"/>
                <a:cs typeface="Times New Roman" panose="02020603050405020304" pitchFamily="18" charset="0"/>
              </a:rPr>
              <a:t>Computing professionals perform a variety of tasks for example,</a:t>
            </a:r>
          </a:p>
          <a:p>
            <a:pPr lvl="1" algn="just"/>
            <a:r>
              <a:rPr lang="en-US" dirty="0">
                <a:latin typeface="Times New Roman" panose="02020603050405020304" pitchFamily="18" charset="0"/>
                <a:cs typeface="Times New Roman" panose="02020603050405020304" pitchFamily="18" charset="0"/>
              </a:rPr>
              <a:t>T</a:t>
            </a:r>
            <a:r>
              <a:rPr lang="en-US" b="0" i="0" dirty="0">
                <a:effectLst/>
                <a:latin typeface="Times New Roman" panose="02020603050405020304" pitchFamily="18" charset="0"/>
                <a:cs typeface="Times New Roman" panose="02020603050405020304" pitchFamily="18" charset="0"/>
              </a:rPr>
              <a:t>hey write specifications for new computer systems.</a:t>
            </a:r>
          </a:p>
          <a:p>
            <a:pPr lvl="1" algn="just"/>
            <a:r>
              <a:rPr lang="en-US" b="0" i="0" dirty="0">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a:t>
            </a:r>
            <a:r>
              <a:rPr lang="en-US" b="0" i="0" dirty="0">
                <a:effectLst/>
                <a:latin typeface="Times New Roman" panose="02020603050405020304" pitchFamily="18" charset="0"/>
                <a:cs typeface="Times New Roman" panose="02020603050405020304" pitchFamily="18" charset="0"/>
              </a:rPr>
              <a:t>hey design instruction pipelines for superscalar processors.</a:t>
            </a:r>
          </a:p>
          <a:p>
            <a:pPr lvl="1" algn="just"/>
            <a:r>
              <a:rPr lang="en-US" b="0" i="0" dirty="0">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a:t>
            </a:r>
            <a:r>
              <a:rPr lang="en-US" b="0" i="0" dirty="0">
                <a:effectLst/>
                <a:latin typeface="Times New Roman" panose="02020603050405020304" pitchFamily="18" charset="0"/>
                <a:cs typeface="Times New Roman" panose="02020603050405020304" pitchFamily="18" charset="0"/>
              </a:rPr>
              <a:t>hey diagnose timing anomalies in embedded systems.</a:t>
            </a:r>
          </a:p>
          <a:p>
            <a:pPr lvl="1" algn="just"/>
            <a:r>
              <a:rPr lang="en-US" b="0" i="0" dirty="0">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a:t>
            </a:r>
            <a:r>
              <a:rPr lang="en-US" b="0" i="0" dirty="0">
                <a:effectLst/>
                <a:latin typeface="Times New Roman" panose="02020603050405020304" pitchFamily="18" charset="0"/>
                <a:cs typeface="Times New Roman" panose="02020603050405020304" pitchFamily="18" charset="0"/>
              </a:rPr>
              <a:t>hey test and validate software system.</a:t>
            </a:r>
          </a:p>
          <a:p>
            <a:pPr lvl="1" algn="just"/>
            <a:r>
              <a:rPr lang="en-US" b="0" i="0" dirty="0">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a:t>
            </a:r>
            <a:r>
              <a:rPr lang="en-US" b="0" i="0" dirty="0">
                <a:effectLst/>
                <a:latin typeface="Times New Roman" panose="02020603050405020304" pitchFamily="18" charset="0"/>
                <a:cs typeface="Times New Roman" panose="02020603050405020304" pitchFamily="18" charset="0"/>
              </a:rPr>
              <a:t>hey restructure the back-end database of an inventory system.</a:t>
            </a:r>
          </a:p>
          <a:p>
            <a:pPr lvl="1" algn="just"/>
            <a:r>
              <a:rPr lang="en-US" dirty="0">
                <a:latin typeface="Times New Roman" panose="02020603050405020304" pitchFamily="18" charset="0"/>
                <a:cs typeface="Times New Roman" panose="02020603050405020304" pitchFamily="18" charset="0"/>
              </a:rPr>
              <a:t> T</a:t>
            </a:r>
            <a:r>
              <a:rPr lang="en-US" b="0" i="0" dirty="0">
                <a:effectLst/>
                <a:latin typeface="Times New Roman" panose="02020603050405020304" pitchFamily="18" charset="0"/>
                <a:cs typeface="Times New Roman" panose="02020603050405020304" pitchFamily="18" charset="0"/>
              </a:rPr>
              <a:t>hey analyze packet traffic in a local area network, and recommend security policies for a medical information system. </a:t>
            </a:r>
            <a:endParaRPr lang="en-PK"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2579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CC448-45F3-4462-A2C4-0C1E0611605A}"/>
              </a:ext>
            </a:extLst>
          </p:cNvPr>
          <p:cNvSpPr>
            <a:spLocks noGrp="1"/>
          </p:cNvSpPr>
          <p:nvPr>
            <p:ph type="title"/>
          </p:nvPr>
        </p:nvSpPr>
        <p:spPr/>
        <p:txBody>
          <a:bodyPr/>
          <a:lstStyle/>
          <a:p>
            <a:endParaRPr lang="en-PK" dirty="0"/>
          </a:p>
        </p:txBody>
      </p:sp>
      <p:sp>
        <p:nvSpPr>
          <p:cNvPr id="3" name="Content Placeholder 2">
            <a:extLst>
              <a:ext uri="{FF2B5EF4-FFF2-40B4-BE49-F238E27FC236}">
                <a16:creationId xmlns:a16="http://schemas.microsoft.com/office/drawing/2014/main" id="{223A789A-6A7A-4495-AE4D-932E8D8F1451}"/>
              </a:ext>
            </a:extLst>
          </p:cNvPr>
          <p:cNvSpPr>
            <a:spLocks noGrp="1"/>
          </p:cNvSpPr>
          <p:nvPr>
            <p:ph idx="1"/>
          </p:nvPr>
        </p:nvSpPr>
        <p:spPr/>
        <p:txBody>
          <a:bodyPr>
            <a:normAutofit/>
          </a:bodyPr>
          <a:lstStyle/>
          <a:p>
            <a:pPr algn="just"/>
            <a:r>
              <a:rPr lang="en-US" b="0" i="0" dirty="0">
                <a:effectLst/>
                <a:latin typeface="Times New Roman" panose="02020603050405020304" pitchFamily="18" charset="0"/>
                <a:cs typeface="Times New Roman" panose="02020603050405020304" pitchFamily="18" charset="0"/>
              </a:rPr>
              <a:t>Computing professionals are obligated to perform these tasks conscientiously, because their decisions affect the performance and functionality of computer systems, which in turn affect the welfare of the systems users directly and that of other people less directly. </a:t>
            </a:r>
          </a:p>
          <a:p>
            <a:endParaRPr lang="en-US" b="0" i="0" dirty="0">
              <a:effectLst/>
              <a:latin typeface="Times New Roman" panose="02020603050405020304" pitchFamily="18" charset="0"/>
              <a:cs typeface="Times New Roman" panose="02020603050405020304" pitchFamily="18" charset="0"/>
            </a:endParaRPr>
          </a:p>
          <a:p>
            <a:pPr algn="just"/>
            <a:r>
              <a:rPr lang="en-US" b="0" dirty="0">
                <a:effectLst/>
                <a:latin typeface="Times New Roman" panose="02020603050405020304" pitchFamily="18" charset="0"/>
                <a:cs typeface="Times New Roman" panose="02020603050405020304" pitchFamily="18" charset="0"/>
              </a:rPr>
              <a:t>The obligations of computing professionals are similar to the obligations of other technical professionals, such as civil engineers. Taken together, these professional obligations are called professional ethics.</a:t>
            </a:r>
            <a:endParaRPr lang="en-PK"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279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3332" y="365125"/>
            <a:ext cx="10630468" cy="1325563"/>
          </a:xfrm>
        </p:spPr>
        <p:txBody>
          <a:bodyPr>
            <a:normAutofit/>
          </a:bodyPr>
          <a:lstStyle/>
          <a:p>
            <a:r>
              <a:rPr lang="en-US" sz="3600" spc="-1" dirty="0">
                <a:latin typeface="Times New Roman" panose="02020603050405020304" pitchFamily="18" charset="0"/>
                <a:cs typeface="Times New Roman" panose="02020603050405020304" pitchFamily="18" charset="0"/>
              </a:rPr>
              <a:t>Impact of Computing</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Digital technologies in combination with ‘big’ data and predictive analytics are having a significant impact upon professional practices at individual, organizational, national and international levels. </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interplay of code, algorithms and big data are increasingly pervasive in the governing, leadership and practices of different professional groups. </a:t>
            </a:r>
          </a:p>
        </p:txBody>
      </p:sp>
    </p:spTree>
    <p:extLst>
      <p:ext uri="{BB962C8B-B14F-4D97-AF65-F5344CB8AC3E}">
        <p14:creationId xmlns:p14="http://schemas.microsoft.com/office/powerpoint/2010/main" val="2820048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0B86A-1031-4826-BD13-7519AD8C6EB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a:t>
            </a:r>
            <a:endParaRPr lang="en-PK"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390148E-E8A8-4A41-BE3A-92D5D25B30E6}"/>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They are reshaping the relationships between professional grouping and between professionals and their clients/users/students.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contribution of the skilled professional in these reconfigured practices, the role and position of professional judgement, and how responsibility and accountability are to be delineated with so many technological actors integrated into professional services.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1517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0B86A-1031-4826-BD13-7519AD8C6EB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a:t>
            </a:r>
            <a:endParaRPr lang="en-PK"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390148E-E8A8-4A41-BE3A-92D5D25B30E6}"/>
              </a:ext>
            </a:extLst>
          </p:cNvPr>
          <p:cNvSpPr>
            <a:spLocks noGrp="1"/>
          </p:cNvSpPr>
          <p:nvPr>
            <p:ph idx="1"/>
          </p:nvPr>
        </p:nvSpPr>
        <p:spPr>
          <a:xfrm>
            <a:off x="838200" y="1294228"/>
            <a:ext cx="10515600" cy="4882735"/>
          </a:xfrm>
        </p:spPr>
        <p:txBody>
          <a:bodyPr>
            <a:normAutofit/>
          </a:bodyPr>
          <a:lstStyle/>
          <a:p>
            <a:endParaRPr lang="en-US" dirty="0"/>
          </a:p>
          <a:p>
            <a:pPr algn="just"/>
            <a:r>
              <a:rPr lang="en-US" dirty="0">
                <a:latin typeface="Times New Roman" panose="02020603050405020304" pitchFamily="18" charset="0"/>
                <a:cs typeface="Times New Roman" panose="02020603050405020304" pitchFamily="18" charset="0"/>
              </a:rPr>
              <a:t>Digital technologies are part of the emerging knowledge infrastructures of daily life, the ‘robust networks of people, artefacts, and institutions that generate, share and maintain specific knowledge about the human and natural worlds. </a:t>
            </a:r>
          </a:p>
          <a:p>
            <a:pPr algn="just"/>
            <a:r>
              <a:rPr lang="en-US" dirty="0">
                <a:latin typeface="Times New Roman" panose="02020603050405020304" pitchFamily="18" charset="0"/>
                <a:cs typeface="Times New Roman" panose="02020603050405020304" pitchFamily="18" charset="0"/>
              </a:rPr>
              <a:t>They represent a significant part of professional futures. New forms of accountability and responsibility are emerging as a result of these trends, raising important questions about decision-making in professional practice</a:t>
            </a:r>
            <a:endParaRPr lang="en-PK"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734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203</TotalTime>
  <Words>611</Words>
  <Application>Microsoft Office PowerPoint</Application>
  <PresentationFormat>Widescreen</PresentationFormat>
  <Paragraphs>52</Paragraphs>
  <Slides>10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Calibri Light</vt:lpstr>
      <vt:lpstr>ITC Franklin Gothic LT W01 Bk</vt:lpstr>
      <vt:lpstr>Times New Roman</vt:lpstr>
      <vt:lpstr>Wingdings</vt:lpstr>
      <vt:lpstr>Office Theme</vt:lpstr>
      <vt:lpstr>Week 2 Lecture 3:  i. Computing Professions                   ii. Impact of Computing</vt:lpstr>
      <vt:lpstr>Computing</vt:lpstr>
      <vt:lpstr>Con.</vt:lpstr>
      <vt:lpstr>Computing Professions</vt:lpstr>
      <vt:lpstr>PowerPoint Presentation</vt:lpstr>
      <vt:lpstr>Con..</vt:lpstr>
      <vt:lpstr>PowerPoint Presentation</vt:lpstr>
      <vt:lpstr>Impact of Computing</vt:lpstr>
      <vt:lpstr>Con..</vt:lpstr>
      <vt:lpstr>Con..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Amber Sarfraz</cp:lastModifiedBy>
  <cp:revision>31</cp:revision>
  <dcterms:created xsi:type="dcterms:W3CDTF">2020-09-29T10:19:05Z</dcterms:created>
  <dcterms:modified xsi:type="dcterms:W3CDTF">2022-10-21T07:17:18Z</dcterms:modified>
</cp:coreProperties>
</file>
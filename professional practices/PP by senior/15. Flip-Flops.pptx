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76" r:id="rId3"/>
    <p:sldId id="277" r:id="rId4"/>
    <p:sldId id="258" r:id="rId5"/>
    <p:sldId id="260" r:id="rId6"/>
    <p:sldId id="259" r:id="rId7"/>
    <p:sldId id="257" r:id="rId8"/>
    <p:sldId id="278" r:id="rId9"/>
    <p:sldId id="261" r:id="rId10"/>
    <p:sldId id="262" r:id="rId11"/>
    <p:sldId id="265" r:id="rId12"/>
    <p:sldId id="264" r:id="rId13"/>
    <p:sldId id="266" r:id="rId14"/>
    <p:sldId id="267" r:id="rId15"/>
    <p:sldId id="268" r:id="rId16"/>
    <p:sldId id="269" r:id="rId17"/>
    <p:sldId id="279" r:id="rId18"/>
    <p:sldId id="280" r:id="rId19"/>
    <p:sldId id="270" r:id="rId20"/>
    <p:sldId id="271" r:id="rId21"/>
    <p:sldId id="272" r:id="rId22"/>
    <p:sldId id="273" r:id="rId23"/>
    <p:sldId id="274" r:id="rId24"/>
    <p:sldId id="27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41" autoAdjust="0"/>
    <p:restoredTop sz="91713" autoAdjust="0"/>
  </p:normalViewPr>
  <p:slideViewPr>
    <p:cSldViewPr snapToGrid="0">
      <p:cViewPr varScale="1">
        <p:scale>
          <a:sx n="74" d="100"/>
          <a:sy n="74" d="100"/>
        </p:scale>
        <p:origin x="10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79EB77-B3FE-40EF-890D-87D0B384C5AF}" type="datetimeFigureOut">
              <a:rPr lang="en-US" smtClean="0"/>
              <a:t>6/14/2023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88950F-04F2-4DA6-BED9-1480F7348362}"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Sequential circuit: Combinational +Memory </a:t>
            </a:r>
          </a:p>
          <a:p>
            <a:r>
              <a:rPr lang="en-US" b="0" i="0" dirty="0">
                <a:solidFill>
                  <a:srgbClr val="202124"/>
                </a:solidFill>
                <a:effectLst/>
                <a:latin typeface="Google Sans Text"/>
              </a:rPr>
              <a:t>What Is a Triggering Event? A triggering event is </a:t>
            </a:r>
            <a:r>
              <a:rPr lang="en-US" b="1" i="0" dirty="0">
                <a:solidFill>
                  <a:srgbClr val="202124"/>
                </a:solidFill>
                <a:effectLst/>
                <a:latin typeface="Google Sans Text"/>
              </a:rPr>
              <a:t>a tangible or intangible barrier or occurrence which, once breached or met, causes another event to occur</a:t>
            </a:r>
            <a:endParaRPr lang="en-GB" dirty="0"/>
          </a:p>
        </p:txBody>
      </p:sp>
      <p:sp>
        <p:nvSpPr>
          <p:cNvPr id="4" name="Slide Number Placeholder 3"/>
          <p:cNvSpPr>
            <a:spLocks noGrp="1"/>
          </p:cNvSpPr>
          <p:nvPr>
            <p:ph type="sldNum" sz="quarter" idx="5"/>
          </p:nvPr>
        </p:nvSpPr>
        <p:spPr/>
        <p:txBody>
          <a:bodyPr/>
          <a:lstStyle/>
          <a:p>
            <a:fld id="{7F88950F-04F2-4DA6-BED9-1480F7348362}" type="slidenum">
              <a:rPr lang="en-US" smtClean="0"/>
              <a:t>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ve</a:t>
            </a:r>
            <a:r>
              <a:rPr lang="en-US" dirty="0"/>
              <a:t> </a:t>
            </a:r>
            <a:r>
              <a:rPr lang="en-US" dirty="0" err="1"/>
              <a:t>edge:When</a:t>
            </a:r>
            <a:r>
              <a:rPr lang="en-US" dirty="0"/>
              <a:t> memory element will trigger then clock pulse from low to high there will be change</a:t>
            </a:r>
            <a:r>
              <a:rPr lang="en-US" baseline="0" dirty="0"/>
              <a:t> in memory element. It will switch form one state to other state.</a:t>
            </a:r>
          </a:p>
          <a:p>
            <a:r>
              <a:rPr lang="en-US" baseline="0" dirty="0"/>
              <a:t>-</a:t>
            </a:r>
            <a:r>
              <a:rPr lang="en-US" baseline="0" dirty="0" err="1"/>
              <a:t>ve</a:t>
            </a:r>
            <a:r>
              <a:rPr lang="en-US" baseline="0" dirty="0"/>
              <a:t> edge: when it goes from high to low then memory will trigger.</a:t>
            </a:r>
          </a:p>
          <a:p>
            <a:pPr marL="0" marR="0" indent="0" algn="l" defTabSz="914400" rtl="0" eaLnBrk="1" fontAlgn="auto" latinLnBrk="0" hangingPunct="1">
              <a:lnSpc>
                <a:spcPct val="100000"/>
              </a:lnSpc>
              <a:spcBef>
                <a:spcPts val="0"/>
              </a:spcBef>
              <a:spcAft>
                <a:spcPts val="0"/>
              </a:spcAft>
              <a:buClrTx/>
              <a:buSzTx/>
              <a:buFontTx/>
              <a:buNone/>
              <a:defRPr/>
            </a:pPr>
            <a:r>
              <a:rPr lang="en-US" dirty="0"/>
              <a:t>On both edges  state will change</a:t>
            </a:r>
          </a:p>
          <a:p>
            <a:endParaRPr lang="en-US" dirty="0"/>
          </a:p>
        </p:txBody>
      </p:sp>
      <p:sp>
        <p:nvSpPr>
          <p:cNvPr id="4" name="Slide Number Placeholder 3"/>
          <p:cNvSpPr>
            <a:spLocks noGrp="1"/>
          </p:cNvSpPr>
          <p:nvPr>
            <p:ph type="sldNum" sz="quarter" idx="10"/>
          </p:nvPr>
        </p:nvSpPr>
        <p:spPr/>
        <p:txBody>
          <a:bodyPr/>
          <a:lstStyle/>
          <a:p>
            <a:fld id="{7F88950F-04F2-4DA6-BED9-1480F7348362}" type="slidenum">
              <a:rPr lang="en-US" smtClean="0"/>
              <a:t>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Decide the speed of</a:t>
            </a:r>
            <a:r>
              <a:rPr lang="en-US" baseline="0" dirty="0"/>
              <a:t> circuit by changing clock frequency.</a:t>
            </a:r>
          </a:p>
          <a:p>
            <a:r>
              <a:rPr lang="en-US" baseline="0" dirty="0"/>
              <a:t>Clock </a:t>
            </a:r>
            <a:r>
              <a:rPr lang="en-US" baseline="0" dirty="0">
                <a:sym typeface="Wingdings" panose="05000000000000000000" pitchFamily="2" charset="2"/>
              </a:rPr>
              <a:t> signal(that goes from low to high then high to low and repeats) </a:t>
            </a:r>
          </a:p>
          <a:p>
            <a:r>
              <a:rPr lang="en-US" baseline="0" dirty="0">
                <a:sym typeface="Wingdings" panose="05000000000000000000" pitchFamily="2" charset="2"/>
              </a:rPr>
              <a:t>Time for which it is high= time for which it is low</a:t>
            </a:r>
            <a:endParaRPr lang="en-US" baseline="0" dirty="0"/>
          </a:p>
          <a:p>
            <a:endParaRPr lang="en-US" dirty="0"/>
          </a:p>
        </p:txBody>
      </p:sp>
      <p:sp>
        <p:nvSpPr>
          <p:cNvPr id="4" name="Slide Number Placeholder 3"/>
          <p:cNvSpPr>
            <a:spLocks noGrp="1"/>
          </p:cNvSpPr>
          <p:nvPr>
            <p:ph type="sldNum" sz="quarter" idx="10"/>
          </p:nvPr>
        </p:nvSpPr>
        <p:spPr/>
        <p:txBody>
          <a:bodyPr/>
          <a:lstStyle/>
          <a:p>
            <a:fld id="{7F88950F-04F2-4DA6-BED9-1480F7348362}" type="slidenum">
              <a:rPr lang="en-US" smtClean="0"/>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a:t>
            </a:r>
            <a:r>
              <a:rPr lang="en-US" baseline="0" dirty="0"/>
              <a:t> make </a:t>
            </a:r>
            <a:r>
              <a:rPr lang="en-US" dirty="0"/>
              <a:t>circuit run faster increases the frequency or decrease the time period.</a:t>
            </a:r>
          </a:p>
          <a:p>
            <a:r>
              <a:rPr lang="en-US" dirty="0"/>
              <a:t>Duty</a:t>
            </a:r>
            <a:r>
              <a:rPr lang="en-US" baseline="0" dirty="0"/>
              <a:t> cycle: 50% of time clock is high or 50% time clock is low</a:t>
            </a:r>
            <a:endParaRPr lang="en-US" dirty="0"/>
          </a:p>
          <a:p>
            <a:endParaRPr lang="en-US" dirty="0"/>
          </a:p>
        </p:txBody>
      </p:sp>
      <p:sp>
        <p:nvSpPr>
          <p:cNvPr id="4" name="Slide Number Placeholder 3"/>
          <p:cNvSpPr>
            <a:spLocks noGrp="1"/>
          </p:cNvSpPr>
          <p:nvPr>
            <p:ph type="sldNum" sz="quarter" idx="10"/>
          </p:nvPr>
        </p:nvSpPr>
        <p:spPr/>
        <p:txBody>
          <a:bodyPr/>
          <a:lstStyle/>
          <a:p>
            <a:fld id="{7F88950F-04F2-4DA6-BED9-1480F7348362}" type="slidenum">
              <a:rPr lang="en-US" smtClean="0"/>
              <a:t>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Clock: control input</a:t>
            </a:r>
          </a:p>
        </p:txBody>
      </p:sp>
      <p:sp>
        <p:nvSpPr>
          <p:cNvPr id="4" name="Slide Number Placeholder 3"/>
          <p:cNvSpPr>
            <a:spLocks noGrp="1"/>
          </p:cNvSpPr>
          <p:nvPr>
            <p:ph type="sldNum" sz="quarter" idx="10"/>
          </p:nvPr>
        </p:nvSpPr>
        <p:spPr/>
        <p:txBody>
          <a:bodyPr/>
          <a:lstStyle/>
          <a:p>
            <a:fld id="{7F88950F-04F2-4DA6-BED9-1480F7348362}" type="slidenum">
              <a:rPr lang="en-US" smtClean="0"/>
              <a:t>9</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F88950F-04F2-4DA6-BED9-1480F7348362}" type="slidenum">
              <a:rPr lang="en-US" smtClean="0"/>
              <a:t>11</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ProximaNova"/>
              </a:rPr>
              <a:t>Disadvantages of D flip flop :A delay flip flop in a circuit increases the circuit's size, often to about twice the normal. Additionally, they also make the circuits more complex.</a:t>
            </a:r>
            <a:endParaRPr lang="en-GB" dirty="0"/>
          </a:p>
        </p:txBody>
      </p:sp>
      <p:sp>
        <p:nvSpPr>
          <p:cNvPr id="4" name="Slide Number Placeholder 3"/>
          <p:cNvSpPr>
            <a:spLocks noGrp="1"/>
          </p:cNvSpPr>
          <p:nvPr>
            <p:ph type="sldNum" sz="quarter" idx="5"/>
          </p:nvPr>
        </p:nvSpPr>
        <p:spPr/>
        <p:txBody>
          <a:bodyPr/>
          <a:lstStyle/>
          <a:p>
            <a:fld id="{7F88950F-04F2-4DA6-BED9-1480F7348362}" type="slidenum">
              <a:rPr lang="en-US" smtClean="0"/>
              <a:t>15</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D5156"/>
                </a:solidFill>
                <a:effectLst/>
                <a:latin typeface="Google Sans Text"/>
              </a:rPr>
              <a:t> an </a:t>
            </a:r>
            <a:r>
              <a:rPr lang="en-US" b="1" i="0" dirty="0">
                <a:solidFill>
                  <a:srgbClr val="5F6368"/>
                </a:solidFill>
                <a:effectLst/>
                <a:latin typeface="Google Sans Text"/>
              </a:rPr>
              <a:t>excitation table</a:t>
            </a:r>
            <a:r>
              <a:rPr lang="en-US" b="0" i="0" dirty="0">
                <a:solidFill>
                  <a:srgbClr val="4D5156"/>
                </a:solidFill>
                <a:effectLst/>
                <a:latin typeface="Google Sans Text"/>
              </a:rPr>
              <a:t> shows the minimum inputs that are necessary to generate a particular next state when the current state is known. </a:t>
            </a:r>
          </a:p>
          <a:p>
            <a:r>
              <a:rPr lang="en-US" b="0" i="0" dirty="0">
                <a:solidFill>
                  <a:srgbClr val="4D5156"/>
                </a:solidFill>
                <a:effectLst/>
                <a:latin typeface="Google Sans Text"/>
              </a:rPr>
              <a:t>Design </a:t>
            </a:r>
            <a:r>
              <a:rPr lang="en-US" b="0" i="0" dirty="0" err="1">
                <a:solidFill>
                  <a:srgbClr val="4D5156"/>
                </a:solidFill>
                <a:effectLst/>
                <a:latin typeface="Google Sans Text"/>
              </a:rPr>
              <a:t>characterstics</a:t>
            </a:r>
            <a:r>
              <a:rPr lang="en-US" b="0" i="0" dirty="0">
                <a:solidFill>
                  <a:srgbClr val="4D5156"/>
                </a:solidFill>
                <a:effectLst/>
                <a:latin typeface="Google Sans Text"/>
              </a:rPr>
              <a:t> table by using T.T</a:t>
            </a:r>
            <a:endParaRPr lang="en-GB" dirty="0"/>
          </a:p>
        </p:txBody>
      </p:sp>
      <p:sp>
        <p:nvSpPr>
          <p:cNvPr id="4" name="Slide Number Placeholder 3"/>
          <p:cNvSpPr>
            <a:spLocks noGrp="1"/>
          </p:cNvSpPr>
          <p:nvPr>
            <p:ph type="sldNum" sz="quarter" idx="5"/>
          </p:nvPr>
        </p:nvSpPr>
        <p:spPr/>
        <p:txBody>
          <a:bodyPr/>
          <a:lstStyle/>
          <a:p>
            <a:fld id="{7F88950F-04F2-4DA6-BED9-1480F7348362}" type="slidenum">
              <a:rPr lang="en-US" smtClean="0"/>
              <a:t>16</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JK Flip Flop is a universal flip-flop that makes the circuit toggle between two states and is widely used in shift registers, counters, PWM(pulse width modulation) and computer applications.</a:t>
            </a:r>
          </a:p>
          <a:p>
            <a:r>
              <a:rPr lang="en-US" sz="1200" b="0" i="0" kern="1200" dirty="0">
                <a:solidFill>
                  <a:schemeClr val="tx1"/>
                </a:solidFill>
                <a:effectLst/>
                <a:latin typeface="+mn-lt"/>
                <a:ea typeface="+mn-ea"/>
                <a:cs typeface="+mn-cs"/>
              </a:rPr>
              <a:t>It is a flip-flop, that can be either active-high or active-low based on the signal applied. </a:t>
            </a:r>
          </a:p>
          <a:p>
            <a:r>
              <a:rPr lang="en-US" sz="1200" b="0" i="0" kern="1200" dirty="0">
                <a:solidFill>
                  <a:schemeClr val="tx1"/>
                </a:solidFill>
                <a:effectLst/>
                <a:latin typeface="+mn-lt"/>
                <a:ea typeface="+mn-ea"/>
                <a:cs typeface="+mn-cs"/>
              </a:rPr>
              <a:t>It is an improved version of the SR Flip Flop and prevents the circuit from going in an </a:t>
            </a:r>
            <a:r>
              <a:rPr lang="en-US" sz="1200" b="0" i="1" kern="1200" dirty="0">
                <a:solidFill>
                  <a:schemeClr val="tx1"/>
                </a:solidFill>
                <a:effectLst/>
                <a:latin typeface="+mn-lt"/>
                <a:ea typeface="+mn-ea"/>
                <a:cs typeface="+mn-cs"/>
              </a:rPr>
              <a:t>invalid</a:t>
            </a:r>
            <a:r>
              <a:rPr lang="en-US" sz="1200" b="0" i="0" kern="1200" dirty="0">
                <a:solidFill>
                  <a:schemeClr val="tx1"/>
                </a:solidFill>
                <a:effectLst/>
                <a:latin typeface="+mn-lt"/>
                <a:ea typeface="+mn-ea"/>
                <a:cs typeface="+mn-cs"/>
              </a:rPr>
              <a:t> state. </a:t>
            </a:r>
          </a:p>
          <a:p>
            <a:r>
              <a:rPr lang="en-US" sz="1200" b="0" i="0" kern="1200" dirty="0">
                <a:solidFill>
                  <a:schemeClr val="tx1"/>
                </a:solidFill>
                <a:effectLst/>
                <a:latin typeface="+mn-lt"/>
                <a:ea typeface="+mn-ea"/>
                <a:cs typeface="+mn-cs"/>
              </a:rPr>
              <a:t>As the name suggests, it helps the circuit toggle between two states.</a:t>
            </a:r>
          </a:p>
          <a:p>
            <a:r>
              <a:rPr lang="en-US" sz="1200" b="0" i="0" kern="1200" dirty="0">
                <a:solidFill>
                  <a:schemeClr val="tx1"/>
                </a:solidFill>
                <a:effectLst/>
                <a:latin typeface="+mn-lt"/>
                <a:ea typeface="+mn-ea"/>
                <a:cs typeface="+mn-cs"/>
              </a:rPr>
              <a:t>The JK Flip-flop is also widely known as a  programmable flip-flop as it can disguise other flip-flops based on the inputs applied.</a:t>
            </a:r>
            <a:endParaRPr lang="en-US" dirty="0"/>
          </a:p>
        </p:txBody>
      </p:sp>
      <p:sp>
        <p:nvSpPr>
          <p:cNvPr id="4" name="Slide Number Placeholder 3"/>
          <p:cNvSpPr>
            <a:spLocks noGrp="1"/>
          </p:cNvSpPr>
          <p:nvPr>
            <p:ph type="sldNum" sz="quarter" idx="10"/>
          </p:nvPr>
        </p:nvSpPr>
        <p:spPr/>
        <p:txBody>
          <a:bodyPr/>
          <a:lstStyle/>
          <a:p>
            <a:fld id="{7F88950F-04F2-4DA6-BED9-1480F7348362}" type="slidenum">
              <a:rPr lang="en-US" smtClean="0"/>
              <a:t>19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Excitation table</a:t>
            </a:r>
          </a:p>
        </p:txBody>
      </p:sp>
      <p:sp>
        <p:nvSpPr>
          <p:cNvPr id="4" name="Slide Number Placeholder 3"/>
          <p:cNvSpPr>
            <a:spLocks noGrp="1"/>
          </p:cNvSpPr>
          <p:nvPr>
            <p:ph type="sldNum" sz="quarter" idx="5"/>
          </p:nvPr>
        </p:nvSpPr>
        <p:spPr/>
        <p:txBody>
          <a:bodyPr/>
          <a:lstStyle/>
          <a:p>
            <a:fld id="{7F88950F-04F2-4DA6-BED9-1480F7348362}" type="slidenum">
              <a:rPr lang="en-US" smtClean="0"/>
              <a:t>21</a:t>
            </a:fld>
            <a:endParaRPr lang="en-US"/>
          </a:p>
        </p:txBody>
      </p:sp>
    </p:spTree>
    <p:extLst>
      <p:ext uri="{BB962C8B-B14F-4D97-AF65-F5344CB8AC3E}">
        <p14:creationId xmlns:p14="http://schemas.microsoft.com/office/powerpoint/2010/main" val="39279991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 flip – flop is also known as “Toggle Flip – flop”. To avoid the occurrence of intermediate state in SR flip – flop, we should provide only one input to the flip – flop called Trigger input or Toggle input (T). Then the flip – flop acts as a Toggle switch. Toggling means ‘Changing the next state output to complement of the present state output’.</a:t>
            </a:r>
            <a:endParaRPr lang="en-US" dirty="0"/>
          </a:p>
        </p:txBody>
      </p:sp>
      <p:sp>
        <p:nvSpPr>
          <p:cNvPr id="4" name="Slide Number Placeholder 3"/>
          <p:cNvSpPr>
            <a:spLocks noGrp="1"/>
          </p:cNvSpPr>
          <p:nvPr>
            <p:ph type="sldNum" sz="quarter" idx="10"/>
          </p:nvPr>
        </p:nvSpPr>
        <p:spPr/>
        <p:txBody>
          <a:bodyPr/>
          <a:lstStyle/>
          <a:p>
            <a:fld id="{7F88950F-04F2-4DA6-BED9-1480F7348362}" type="slidenum">
              <a:rPr lang="en-US" smtClean="0"/>
              <a:t>22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F88950F-04F2-4DA6-BED9-1480F7348362}" type="slidenum">
              <a:rPr lang="en-US" smtClean="0"/>
              <a:t>23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GB" altLang="en-US"/>
              <a:t>Excitation table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542D043-0DE6-4F9D-9F5F-F255787D43C7}" type="datetimeFigureOut">
              <a:rPr lang="en-US" smtClean="0"/>
              <a:t>6/14/2023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5B2EE1-14F8-493E-BAE7-0968ABAFEB4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42D043-0DE6-4F9D-9F5F-F255787D43C7}" type="datetimeFigureOut">
              <a:rPr lang="en-US" smtClean="0"/>
              <a:t>6/14/2023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5B2EE1-14F8-493E-BAE7-0968ABAFEB4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42D043-0DE6-4F9D-9F5F-F255787D43C7}" type="datetimeFigureOut">
              <a:rPr lang="en-US" smtClean="0"/>
              <a:t>6/14/2023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5B2EE1-14F8-493E-BAE7-0968ABAFEB48}"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542D043-0DE6-4F9D-9F5F-F255787D43C7}" type="datetimeFigureOut">
              <a:rPr lang="en-US" smtClean="0"/>
              <a:t>6/14/2023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5B2EE1-14F8-493E-BAE7-0968ABAFEB48}"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542D043-0DE6-4F9D-9F5F-F255787D43C7}" type="datetimeFigureOut">
              <a:rPr lang="en-US" smtClean="0"/>
              <a:t>6/14/2023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A5B2EE1-14F8-493E-BAE7-0968ABAFEB4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542D043-0DE6-4F9D-9F5F-F255787D43C7}" type="datetimeFigureOut">
              <a:rPr lang="en-US" smtClean="0"/>
              <a:t>6/14/2023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A5B2EE1-14F8-493E-BAE7-0968ABAFEB4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42D043-0DE6-4F9D-9F5F-F255787D43C7}" type="datetimeFigureOut">
              <a:rPr lang="en-US" smtClean="0"/>
              <a:t>6/14/2023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A5B2EE1-14F8-493E-BAE7-0968ABAFEB4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542D043-0DE6-4F9D-9F5F-F255787D43C7}" type="datetimeFigureOut">
              <a:rPr lang="en-US" smtClean="0"/>
              <a:t>6/14/2023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5B2EE1-14F8-493E-BAE7-0968ABAFEB48}"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542D043-0DE6-4F9D-9F5F-F255787D43C7}" type="datetimeFigureOut">
              <a:rPr lang="en-US" smtClean="0"/>
              <a:t>6/14/2023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5B2EE1-14F8-493E-BAE7-0968ABAFEB48}"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42D043-0DE6-4F9D-9F5F-F255787D43C7}" type="datetimeFigureOut">
              <a:rPr lang="en-US" smtClean="0"/>
              <a:t>6/14/2023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5B2EE1-14F8-493E-BAE7-0968ABAFEB4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42D043-0DE6-4F9D-9F5F-F255787D43C7}" type="datetimeFigureOut">
              <a:rPr lang="en-US" smtClean="0"/>
              <a:t>6/14/2023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5B2EE1-14F8-493E-BAE7-0968ABAFEB4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42D043-0DE6-4F9D-9F5F-F255787D43C7}" type="datetimeFigureOut">
              <a:rPr lang="en-US" smtClean="0"/>
              <a:t>6/14/2023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5B2EE1-14F8-493E-BAE7-0968ABAFEB4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Flip-Flops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Flip-Flop</a:t>
            </a:r>
          </a:p>
        </p:txBody>
      </p:sp>
      <p:sp>
        <p:nvSpPr>
          <p:cNvPr id="3" name="Content Placeholder 2"/>
          <p:cNvSpPr>
            <a:spLocks noGrp="1"/>
          </p:cNvSpPr>
          <p:nvPr>
            <p:ph idx="1"/>
          </p:nvPr>
        </p:nvSpPr>
        <p:spPr/>
        <p:txBody>
          <a:bodyPr/>
          <a:lstStyle/>
          <a:p>
            <a:pPr algn="l"/>
            <a:r>
              <a:rPr lang="en-US" sz="1800" b="0" i="0" u="none" strike="noStrike" baseline="0" dirty="0">
                <a:latin typeface="TimesTenLTStd-Roman"/>
              </a:rPr>
              <a:t>The state of a latch or flip-flop is switched by a change in the control input. This momentary change is called a </a:t>
            </a:r>
            <a:r>
              <a:rPr lang="en-US" sz="1800" b="0" i="1" u="none" strike="noStrike" baseline="0" dirty="0">
                <a:latin typeface="TimesTenLTStd-Italic"/>
              </a:rPr>
              <a:t>trigger</a:t>
            </a:r>
            <a:r>
              <a:rPr lang="en-US" sz="1800" b="0" i="0" u="none" strike="noStrike" baseline="0" dirty="0">
                <a:latin typeface="TimesTenLTStd-Roman"/>
              </a:rPr>
              <a:t>, and the transition it causes is said to trigger the flip-flop. </a:t>
            </a:r>
          </a:p>
          <a:p>
            <a:pPr algn="l"/>
            <a:r>
              <a:rPr lang="en-US" sz="1800" b="0" i="0" u="none" strike="noStrike" baseline="0" dirty="0">
                <a:latin typeface="TimesTenLTStd-Roman"/>
              </a:rPr>
              <a:t>Sequential  circuit has a feedback path from the outputs of the flip-flops to the input of the combinational circuit. </a:t>
            </a:r>
          </a:p>
          <a:p>
            <a:pPr algn="l"/>
            <a:r>
              <a:rPr lang="en-US" sz="1800" b="0" i="0" u="none" strike="noStrike" baseline="0" dirty="0">
                <a:latin typeface="TimesTenLTStd-Roman"/>
              </a:rPr>
              <a:t>The  inputs of the flip-flops are derived in part from the outputs of the same and </a:t>
            </a:r>
            <a:r>
              <a:rPr lang="en-GB" sz="1800" b="0" i="0" u="none" strike="noStrike" baseline="0" dirty="0">
                <a:latin typeface="TimesTenLTStd-Roman"/>
              </a:rPr>
              <a:t>other flip-flops. </a:t>
            </a:r>
          </a:p>
          <a:p>
            <a:pPr algn="l"/>
            <a:r>
              <a:rPr lang="en-US" sz="1800" b="0" i="0" u="none" strike="noStrike" baseline="0" dirty="0">
                <a:latin typeface="TimesTenLTStd-Roman"/>
              </a:rPr>
              <a:t>The state transitions of the latches start as soon as the clock pulse changes to the logic-1 level.</a:t>
            </a:r>
          </a:p>
          <a:p>
            <a:pPr algn="l"/>
            <a:r>
              <a:rPr lang="en-US" sz="1800" b="0" i="0" u="none" strike="noStrike" baseline="0" dirty="0">
                <a:latin typeface="TimesTenLTStd-Roman"/>
              </a:rPr>
              <a:t> The new state of a latch appears at the output while the pulse is still active. </a:t>
            </a:r>
          </a:p>
          <a:p>
            <a:pPr algn="l"/>
            <a:r>
              <a:rPr lang="en-US" sz="1800" b="0" i="0" u="none" strike="noStrike" baseline="0" dirty="0">
                <a:latin typeface="TimesTenLTStd-Roman"/>
              </a:rPr>
              <a:t>Flip-flop circuits are constructed in such a way as to make them operate properly when they are part of a sequential circuit that employs a common clock. </a:t>
            </a:r>
          </a:p>
          <a:p>
            <a:pPr algn="l"/>
            <a:r>
              <a:rPr lang="en-US" sz="1800" b="0" i="0" u="none" strike="noStrike" baseline="0" dirty="0">
                <a:latin typeface="TimesTenLTStd-Roman"/>
              </a:rPr>
              <a:t>The key to the proper operation of a flip-flop is to trigger it only during a signal </a:t>
            </a:r>
            <a:r>
              <a:rPr lang="en-US" sz="1800" b="0" i="1" u="none" strike="noStrike" baseline="0" dirty="0">
                <a:latin typeface="TimesTenLTStd-Italic"/>
              </a:rPr>
              <a:t>transition. </a:t>
            </a:r>
          </a:p>
          <a:p>
            <a:pPr algn="l"/>
            <a:r>
              <a:rPr lang="en-US" sz="1800" b="0" i="0" u="none" strike="noStrike" baseline="0" dirty="0">
                <a:latin typeface="TimesTenLTStd-Roman"/>
              </a:rPr>
              <a:t>A clock pulse goes through two transitions: from 0 to 1 and the return from 1 to 0.</a:t>
            </a:r>
            <a:endParaRPr lang="en-GB" sz="1800" b="0" i="0" u="none" strike="noStrike" baseline="0" dirty="0">
              <a:latin typeface="TimesTenLTStd-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ntroduction to Flip Flop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3579" y="0"/>
            <a:ext cx="6884842" cy="685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Triggering Method </a:t>
            </a:r>
          </a:p>
        </p:txBody>
      </p:sp>
      <p:pic>
        <p:nvPicPr>
          <p:cNvPr id="4" name="Content Placeholder 3"/>
          <p:cNvPicPr>
            <a:picLocks noGrp="1" noChangeAspect="1"/>
          </p:cNvPicPr>
          <p:nvPr>
            <p:ph idx="1"/>
          </p:nvPr>
        </p:nvPicPr>
        <p:blipFill>
          <a:blip r:embed="rId3"/>
          <a:stretch>
            <a:fillRect/>
          </a:stretch>
        </p:blipFill>
        <p:spPr>
          <a:xfrm>
            <a:off x="4782056" y="2185518"/>
            <a:ext cx="6571744" cy="2696448"/>
          </a:xfrm>
          <a:prstGeom prst="rect">
            <a:avLst/>
          </a:prstGeom>
        </p:spPr>
      </p:pic>
      <p:sp>
        <p:nvSpPr>
          <p:cNvPr id="5" name="TextBox 4"/>
          <p:cNvSpPr txBox="1"/>
          <p:nvPr/>
        </p:nvSpPr>
        <p:spPr>
          <a:xfrm>
            <a:off x="838201" y="2185518"/>
            <a:ext cx="3578816" cy="4339650"/>
          </a:xfrm>
          <a:prstGeom prst="rect">
            <a:avLst/>
          </a:prstGeom>
          <a:noFill/>
        </p:spPr>
        <p:txBody>
          <a:bodyPr wrap="square" rtlCol="0">
            <a:spAutoFit/>
          </a:bodyPr>
          <a:lstStyle/>
          <a:p>
            <a:pPr marL="285750" indent="-285750">
              <a:buFont typeface="Arial" panose="020B0604020202020204" pitchFamily="34" charset="0"/>
              <a:buChar char="•"/>
            </a:pPr>
            <a:r>
              <a:rPr lang="en-US" sz="2000" b="1" dirty="0"/>
              <a:t>Memory</a:t>
            </a:r>
            <a:r>
              <a:rPr lang="en-US" sz="2000" dirty="0"/>
              <a:t>: flip-flop</a:t>
            </a:r>
          </a:p>
          <a:p>
            <a:pPr marL="285750" indent="-285750">
              <a:buFont typeface="Arial" panose="020B0604020202020204" pitchFamily="34" charset="0"/>
              <a:buChar char="•"/>
            </a:pPr>
            <a:r>
              <a:rPr lang="en-US" sz="2000" b="1" dirty="0"/>
              <a:t>Clock pulse</a:t>
            </a:r>
            <a:r>
              <a:rPr lang="en-US" sz="2000" dirty="0"/>
              <a:t>: control input</a:t>
            </a:r>
          </a:p>
          <a:p>
            <a:pPr marL="285750" indent="-285750">
              <a:buFont typeface="Arial" panose="020B0604020202020204" pitchFamily="34" charset="0"/>
              <a:buChar char="•"/>
            </a:pPr>
            <a:r>
              <a:rPr lang="en-US" sz="2000" b="1" dirty="0"/>
              <a:t>Trigger the memory element </a:t>
            </a:r>
            <a:r>
              <a:rPr lang="en-US" sz="2000" dirty="0">
                <a:sym typeface="Wingdings" panose="05000000000000000000" pitchFamily="2" charset="2"/>
              </a:rPr>
              <a:t>state stored in it is switched(change from one state to the other state depending upon the input and previous state in it(memory))</a:t>
            </a:r>
          </a:p>
          <a:p>
            <a:pPr marL="285750" indent="-285750">
              <a:buFont typeface="Arial" panose="020B0604020202020204" pitchFamily="34" charset="0"/>
              <a:buChar char="•"/>
            </a:pPr>
            <a:r>
              <a:rPr lang="en-US" sz="2000" b="1" dirty="0">
                <a:sym typeface="Wingdings" panose="05000000000000000000" pitchFamily="2" charset="2"/>
              </a:rPr>
              <a:t>State of the circuit will be changed depending upon the clock pulse </a:t>
            </a:r>
            <a:endParaRPr lang="en-US" sz="2000" b="1" dirty="0"/>
          </a:p>
          <a:p>
            <a:endParaRPr lang="en-US"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Types:</a:t>
            </a:r>
          </a:p>
          <a:p>
            <a:pPr lvl="1"/>
            <a:r>
              <a:rPr lang="en-US" dirty="0"/>
              <a:t>Level triggering</a:t>
            </a:r>
          </a:p>
          <a:p>
            <a:pPr lvl="1"/>
            <a:r>
              <a:rPr lang="en-US" dirty="0"/>
              <a:t>Edge triggering</a:t>
            </a:r>
          </a:p>
          <a:p>
            <a:r>
              <a:rPr lang="en-US" b="1" u="sng" dirty="0"/>
              <a:t>Level Triggering:</a:t>
            </a:r>
          </a:p>
          <a:p>
            <a:pPr marL="0" indent="0">
              <a:buNone/>
            </a:pPr>
            <a:r>
              <a:rPr lang="en-US" dirty="0"/>
              <a:t>Clock remains high then there will be a </a:t>
            </a:r>
          </a:p>
          <a:p>
            <a:pPr marL="0" indent="0">
              <a:buNone/>
            </a:pPr>
            <a:r>
              <a:rPr lang="en-US" dirty="0"/>
              <a:t>Transition in latch/flip-flop</a:t>
            </a:r>
          </a:p>
          <a:p>
            <a:r>
              <a:rPr lang="en-US" b="1" u="sng" dirty="0"/>
              <a:t>Edge Triggering:</a:t>
            </a:r>
          </a:p>
          <a:p>
            <a:pPr lvl="1"/>
            <a:r>
              <a:rPr lang="en-US" dirty="0"/>
              <a:t>+</a:t>
            </a:r>
            <a:r>
              <a:rPr lang="en-US" dirty="0" err="1"/>
              <a:t>ve</a:t>
            </a:r>
            <a:r>
              <a:rPr lang="en-US" dirty="0"/>
              <a:t> edge(Low to high) </a:t>
            </a:r>
          </a:p>
          <a:p>
            <a:pPr lvl="1"/>
            <a:r>
              <a:rPr lang="en-US" dirty="0"/>
              <a:t>-</a:t>
            </a:r>
            <a:r>
              <a:rPr lang="en-US" dirty="0" err="1"/>
              <a:t>ve</a:t>
            </a:r>
            <a:r>
              <a:rPr lang="en-US" dirty="0"/>
              <a:t> edge(high to low)</a:t>
            </a:r>
          </a:p>
          <a:p>
            <a:pPr marL="0" indent="0">
              <a:buNone/>
            </a:pPr>
            <a:r>
              <a:rPr lang="en-US" dirty="0"/>
              <a:t> </a:t>
            </a:r>
          </a:p>
        </p:txBody>
      </p:sp>
      <p:pic>
        <p:nvPicPr>
          <p:cNvPr id="5" name="Picture 4"/>
          <p:cNvPicPr>
            <a:picLocks noChangeAspect="1"/>
          </p:cNvPicPr>
          <p:nvPr/>
        </p:nvPicPr>
        <p:blipFill>
          <a:blip r:embed="rId3"/>
          <a:stretch>
            <a:fillRect/>
          </a:stretch>
        </p:blipFill>
        <p:spPr>
          <a:xfrm>
            <a:off x="7193041" y="2433235"/>
            <a:ext cx="2865359" cy="1296942"/>
          </a:xfrm>
          <a:prstGeom prst="rect">
            <a:avLst/>
          </a:prstGeom>
        </p:spPr>
      </p:pic>
      <p:pic>
        <p:nvPicPr>
          <p:cNvPr id="6" name="Picture 5"/>
          <p:cNvPicPr>
            <a:picLocks noChangeAspect="1"/>
          </p:cNvPicPr>
          <p:nvPr/>
        </p:nvPicPr>
        <p:blipFill>
          <a:blip r:embed="rId4"/>
          <a:stretch>
            <a:fillRect/>
          </a:stretch>
        </p:blipFill>
        <p:spPr>
          <a:xfrm>
            <a:off x="6501875" y="4293030"/>
            <a:ext cx="3556525" cy="175670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Clock? </a:t>
            </a:r>
          </a:p>
        </p:txBody>
      </p:sp>
      <p:pic>
        <p:nvPicPr>
          <p:cNvPr id="4" name="Content Placeholder 3"/>
          <p:cNvPicPr>
            <a:picLocks noGrp="1" noChangeAspect="1"/>
          </p:cNvPicPr>
          <p:nvPr>
            <p:ph idx="1"/>
          </p:nvPr>
        </p:nvPicPr>
        <p:blipFill>
          <a:blip r:embed="rId3"/>
          <a:stretch>
            <a:fillRect/>
          </a:stretch>
        </p:blipFill>
        <p:spPr>
          <a:xfrm>
            <a:off x="1198942" y="2126543"/>
            <a:ext cx="9271455" cy="3589055"/>
          </a:xfrm>
          <a:prstGeom prst="rect">
            <a:avLst/>
          </a:prstGeom>
        </p:spPr>
      </p:pic>
      <p:cxnSp>
        <p:nvCxnSpPr>
          <p:cNvPr id="6" name="Straight Connector 5"/>
          <p:cNvCxnSpPr/>
          <p:nvPr/>
        </p:nvCxnSpPr>
        <p:spPr>
          <a:xfrm>
            <a:off x="3037668" y="4169044"/>
            <a:ext cx="15498" cy="650929"/>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4757980" y="4169044"/>
            <a:ext cx="15498" cy="650929"/>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378631" y="4339525"/>
            <a:ext cx="1177871" cy="400110"/>
          </a:xfrm>
          <a:prstGeom prst="rect">
            <a:avLst/>
          </a:prstGeom>
          <a:noFill/>
        </p:spPr>
        <p:txBody>
          <a:bodyPr wrap="square" rtlCol="0">
            <a:spAutoFit/>
          </a:bodyPr>
          <a:lstStyle/>
          <a:p>
            <a:pPr algn="ctr"/>
            <a:r>
              <a:rPr lang="en-US" sz="2000" b="1" dirty="0">
                <a:solidFill>
                  <a:schemeClr val="bg1"/>
                </a:solidFill>
              </a:rPr>
              <a:t>T</a:t>
            </a:r>
            <a:endParaRPr lang="en-US" b="1" dirty="0">
              <a:solidFill>
                <a:schemeClr val="bg1"/>
              </a:solidFill>
            </a:endParaRPr>
          </a:p>
        </p:txBody>
      </p:sp>
      <p:cxnSp>
        <p:nvCxnSpPr>
          <p:cNvPr id="10" name="Straight Arrow Connector 9"/>
          <p:cNvCxnSpPr/>
          <p:nvPr/>
        </p:nvCxnSpPr>
        <p:spPr>
          <a:xfrm>
            <a:off x="4169044" y="4569153"/>
            <a:ext cx="588936" cy="0"/>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3177153" y="4539580"/>
            <a:ext cx="681926" cy="0"/>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657600" y="5935851"/>
            <a:ext cx="2309247" cy="369332"/>
          </a:xfrm>
          <a:prstGeom prst="rect">
            <a:avLst/>
          </a:prstGeom>
          <a:noFill/>
        </p:spPr>
        <p:txBody>
          <a:bodyPr wrap="square" rtlCol="0">
            <a:spAutoFit/>
          </a:bodyPr>
          <a:lstStyle/>
          <a:p>
            <a:r>
              <a:rPr lang="en-US" dirty="0"/>
              <a:t>Edge Triggering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If T is the time period </a:t>
                </a:r>
              </a:p>
              <a:p>
                <a:r>
                  <a:rPr lang="en-US" dirty="0"/>
                  <a:t>Then f=1/time period</a:t>
                </a:r>
              </a:p>
              <a:p>
                <a:pPr marL="457200" lvl="1" indent="0">
                  <a:buNone/>
                </a:pPr>
                <a:r>
                  <a:rPr lang="en-US" dirty="0"/>
                  <a:t>f= 1/T</a:t>
                </a:r>
              </a:p>
              <a:p>
                <a:pPr marL="0" indent="0">
                  <a:buNone/>
                </a:pPr>
                <a:r>
                  <a:rPr lang="en-US" b="1" u="sng" dirty="0"/>
                  <a:t>Duty cycle:</a:t>
                </a:r>
              </a:p>
              <a:p>
                <a:pPr marL="0" indent="0">
                  <a:buNone/>
                </a:pPr>
                <a:r>
                  <a:rPr lang="en-US" sz="2400" dirty="0"/>
                  <a:t>Ratio of time for which the signal</a:t>
                </a:r>
              </a:p>
              <a:p>
                <a:pPr marL="0" indent="0">
                  <a:buNone/>
                </a:pPr>
                <a:r>
                  <a:rPr lang="en-US" sz="2400" dirty="0"/>
                  <a:t> is high to the total time.</a:t>
                </a:r>
              </a:p>
              <a:p>
                <a:pPr marL="0" indent="0">
                  <a:buNone/>
                </a:pPr>
                <a:r>
                  <a:rPr lang="en-US" sz="2400" dirty="0"/>
                  <a:t>Duty cycle= signal is high/ total time</a:t>
                </a:r>
              </a:p>
              <a:p>
                <a:pPr marL="0" indent="0">
                  <a:buNone/>
                </a:pPr>
                <a:r>
                  <a:rPr lang="en-US" sz="2400" dirty="0"/>
                  <a:t>	    =  </a:t>
                </a:r>
                <a14:m>
                  <m:oMath xmlns:m="http://schemas.openxmlformats.org/officeDocument/2006/math">
                    <m:f>
                      <m:fPr>
                        <m:ctrlPr>
                          <a:rPr lang="en-US" sz="2400" i="1" smtClean="0">
                            <a:latin typeface="Cambria Math" panose="02040503050406030204" pitchFamily="18" charset="0"/>
                          </a:rPr>
                        </m:ctrlPr>
                      </m:fPr>
                      <m:num>
                        <m:f>
                          <m:fPr>
                            <m:ctrlPr>
                              <a:rPr lang="en-US" sz="2400" i="1" smtClean="0">
                                <a:latin typeface="Cambria Math" panose="02040503050406030204" pitchFamily="18" charset="0"/>
                              </a:rPr>
                            </m:ctrlPr>
                          </m:fPr>
                          <m:num>
                            <m:r>
                              <a:rPr lang="en-US" sz="2400" b="0" i="1" smtClean="0">
                                <a:latin typeface="Cambria Math" panose="02040503050406030204" pitchFamily="18" charset="0"/>
                              </a:rPr>
                              <m:t>𝑡</m:t>
                            </m:r>
                          </m:num>
                          <m:den>
                            <m:r>
                              <a:rPr lang="en-US" sz="2400" b="0" i="1" smtClean="0">
                                <a:latin typeface="Cambria Math" panose="02040503050406030204" pitchFamily="18" charset="0"/>
                              </a:rPr>
                              <m:t>2</m:t>
                            </m:r>
                          </m:den>
                        </m:f>
                      </m:num>
                      <m:den>
                        <m:r>
                          <a:rPr lang="en-US" sz="2400" b="0" i="1" smtClean="0">
                            <a:latin typeface="Cambria Math" panose="02040503050406030204" pitchFamily="18" charset="0"/>
                          </a:rPr>
                          <m:t>𝑡</m:t>
                        </m:r>
                      </m:den>
                    </m:f>
                  </m:oMath>
                </a14:m>
                <a:endParaRPr lang="en-US" sz="2400" dirty="0"/>
              </a:p>
              <a:p>
                <a:pPr marL="0" indent="0">
                  <a:buNone/>
                </a:pPr>
                <a:r>
                  <a:rPr lang="en-US" sz="2400" dirty="0"/>
                  <a:t>   	      = ½(duty cycle for clock is 50%)</a:t>
                </a:r>
              </a:p>
              <a:p>
                <a:pPr marL="0" indent="0">
                  <a:buNone/>
                </a:pPr>
                <a:endParaRPr lang="en-US" sz="2400" dirty="0"/>
              </a:p>
              <a:p>
                <a:pPr marL="0" indent="0">
                  <a:buNone/>
                </a:pPr>
                <a:endParaRPr lang="en-US"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blipFill rotWithShape="1">
                <a:blip r:embed="rId3"/>
                <a:stretch>
                  <a:fillRect t="-657" b="-12484"/>
                </a:stretch>
              </a:blipFill>
            </p:spPr>
            <p:txBody>
              <a:bodyPr/>
              <a:lstStyle/>
              <a:p>
                <a:r>
                  <a:rPr lang="en-US" altLang="en-US">
                    <a:noFill/>
                  </a:rPr>
                  <a:t> </a:t>
                </a:r>
              </a:p>
            </p:txBody>
          </p:sp>
        </mc:Fallback>
      </mc:AlternateContent>
      <p:pic>
        <p:nvPicPr>
          <p:cNvPr id="20" name="Picture 19" descr="SR flip-flop - World Of Computing"/>
          <p:cNvPicPr/>
          <p:nvPr/>
        </p:nvPicPr>
        <p:blipFill>
          <a:blip r:embed="rId4">
            <a:extLst>
              <a:ext uri="{28A0092B-C50C-407E-A947-70E740481C1C}">
                <a14:useLocalDpi xmlns:a14="http://schemas.microsoft.com/office/drawing/2010/main" val="0"/>
              </a:ext>
            </a:extLst>
          </a:blip>
          <a:srcRect/>
          <a:stretch>
            <a:fillRect/>
          </a:stretch>
        </p:blipFill>
        <p:spPr bwMode="auto">
          <a:xfrm>
            <a:off x="7139875" y="2303341"/>
            <a:ext cx="3259487" cy="2980267"/>
          </a:xfrm>
          <a:prstGeom prst="rect">
            <a:avLst/>
          </a:prstGeom>
          <a:noFill/>
          <a:ln>
            <a:noFill/>
          </a:ln>
        </p:spPr>
      </p:pic>
      <p:sp>
        <p:nvSpPr>
          <p:cNvPr id="21" name="TextBox 20"/>
          <p:cNvSpPr txBox="1"/>
          <p:nvPr/>
        </p:nvSpPr>
        <p:spPr>
          <a:xfrm>
            <a:off x="7702658" y="5576658"/>
            <a:ext cx="3054169" cy="369332"/>
          </a:xfrm>
          <a:prstGeom prst="rect">
            <a:avLst/>
          </a:prstGeom>
          <a:noFill/>
        </p:spPr>
        <p:txBody>
          <a:bodyPr wrap="none" rtlCol="0">
            <a:spAutoFit/>
          </a:bodyPr>
          <a:lstStyle/>
          <a:p>
            <a:r>
              <a:rPr lang="en-US" b="1" dirty="0"/>
              <a:t>SR  Flip-Flop Graphical Symbol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Flip-Flop</a:t>
            </a:r>
          </a:p>
        </p:txBody>
      </p:sp>
      <p:sp>
        <p:nvSpPr>
          <p:cNvPr id="3" name="Content Placeholder 2"/>
          <p:cNvSpPr>
            <a:spLocks noGrp="1"/>
          </p:cNvSpPr>
          <p:nvPr>
            <p:ph idx="1"/>
          </p:nvPr>
        </p:nvSpPr>
        <p:spPr/>
        <p:txBody>
          <a:bodyPr/>
          <a:lstStyle/>
          <a:p>
            <a:pPr algn="l">
              <a:buFont typeface="Arial" panose="020B0604020202020204" pitchFamily="34" charset="0"/>
              <a:buChar char="•"/>
            </a:pPr>
            <a:r>
              <a:rPr lang="en-GB" b="0" i="0" dirty="0">
                <a:solidFill>
                  <a:srgbClr val="202124"/>
                </a:solidFill>
                <a:effectLst/>
                <a:latin typeface="Google Sans Text"/>
              </a:rPr>
              <a:t>Set-Reset (SR) flip-flop or Latch.</a:t>
            </a:r>
          </a:p>
          <a:p>
            <a:pPr algn="l">
              <a:buFont typeface="Arial" panose="020B0604020202020204" pitchFamily="34" charset="0"/>
              <a:buChar char="•"/>
            </a:pPr>
            <a:r>
              <a:rPr lang="en-GB" b="0" i="0" dirty="0">
                <a:solidFill>
                  <a:srgbClr val="202124"/>
                </a:solidFill>
                <a:effectLst/>
                <a:latin typeface="Google Sans Text"/>
              </a:rPr>
              <a:t>JK flip-flop.</a:t>
            </a:r>
          </a:p>
          <a:p>
            <a:pPr algn="l">
              <a:buFont typeface="Arial" panose="020B0604020202020204" pitchFamily="34" charset="0"/>
              <a:buChar char="•"/>
            </a:pPr>
            <a:r>
              <a:rPr lang="en-GB" b="0" i="0" dirty="0">
                <a:solidFill>
                  <a:srgbClr val="202124"/>
                </a:solidFill>
                <a:effectLst/>
                <a:latin typeface="Google Sans Text"/>
              </a:rPr>
              <a:t>D (Data or Delay) flip-flop.</a:t>
            </a:r>
          </a:p>
          <a:p>
            <a:pPr algn="l">
              <a:buFont typeface="Arial" panose="020B0604020202020204" pitchFamily="34" charset="0"/>
              <a:buChar char="•"/>
            </a:pPr>
            <a:r>
              <a:rPr lang="en-GB" b="0" i="0" dirty="0">
                <a:solidFill>
                  <a:srgbClr val="202124"/>
                </a:solidFill>
                <a:effectLst/>
                <a:latin typeface="Google Sans Text"/>
              </a:rPr>
              <a:t>T (Toggle) flip-flop.</a:t>
            </a:r>
          </a:p>
          <a:p>
            <a:endParaRPr lang="en-GB"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SR Flip-Flop</a:t>
            </a:r>
          </a:p>
        </p:txBody>
      </p:sp>
      <p:sp>
        <p:nvSpPr>
          <p:cNvPr id="3" name="Content Placeholder 2"/>
          <p:cNvSpPr>
            <a:spLocks noGrp="1"/>
          </p:cNvSpPr>
          <p:nvPr>
            <p:ph idx="1"/>
          </p:nvPr>
        </p:nvSpPr>
        <p:spPr/>
        <p:txBody>
          <a:bodyPr/>
          <a:lstStyle/>
          <a:p>
            <a:endParaRPr lang="en-US" dirty="0"/>
          </a:p>
          <a:p>
            <a:endParaRPr lang="en-US" dirty="0"/>
          </a:p>
        </p:txBody>
      </p:sp>
      <p:pic>
        <p:nvPicPr>
          <p:cNvPr id="4" name="Picture 3"/>
          <p:cNvPicPr>
            <a:picLocks noChangeAspect="1"/>
          </p:cNvPicPr>
          <p:nvPr/>
        </p:nvPicPr>
        <p:blipFill>
          <a:blip r:embed="rId3"/>
          <a:stretch>
            <a:fillRect/>
          </a:stretch>
        </p:blipFill>
        <p:spPr>
          <a:xfrm>
            <a:off x="1120774" y="1955405"/>
            <a:ext cx="6924239" cy="3687224"/>
          </a:xfrm>
          <a:prstGeom prst="rect">
            <a:avLst/>
          </a:prstGeom>
        </p:spPr>
      </p:pic>
      <p:pic>
        <p:nvPicPr>
          <p:cNvPr id="5" name="Picture 4"/>
          <p:cNvPicPr>
            <a:picLocks noChangeAspect="1"/>
          </p:cNvPicPr>
          <p:nvPr/>
        </p:nvPicPr>
        <p:blipFill>
          <a:blip r:embed="rId4"/>
          <a:stretch>
            <a:fillRect/>
          </a:stretch>
        </p:blipFill>
        <p:spPr>
          <a:xfrm>
            <a:off x="8327587" y="2126205"/>
            <a:ext cx="3546171" cy="3438005"/>
          </a:xfrm>
          <a:prstGeom prst="rect">
            <a:avLst/>
          </a:prstGeom>
        </p:spPr>
      </p:pic>
      <p:sp>
        <p:nvSpPr>
          <p:cNvPr id="6" name="TextBox 5"/>
          <p:cNvSpPr txBox="1"/>
          <p:nvPr/>
        </p:nvSpPr>
        <p:spPr>
          <a:xfrm>
            <a:off x="3502616" y="5772409"/>
            <a:ext cx="1920719" cy="523220"/>
          </a:xfrm>
          <a:prstGeom prst="rect">
            <a:avLst/>
          </a:prstGeom>
          <a:noFill/>
        </p:spPr>
        <p:txBody>
          <a:bodyPr wrap="none" rtlCol="0">
            <a:spAutoFit/>
          </a:bodyPr>
          <a:lstStyle/>
          <a:p>
            <a:r>
              <a:rPr lang="en-US" sz="2800" b="1" dirty="0"/>
              <a:t>SR Flip-Flop</a:t>
            </a:r>
          </a:p>
        </p:txBody>
      </p:sp>
      <p:sp>
        <p:nvSpPr>
          <p:cNvPr id="7" name="TextBox 6"/>
          <p:cNvSpPr txBox="1"/>
          <p:nvPr/>
        </p:nvSpPr>
        <p:spPr>
          <a:xfrm>
            <a:off x="8674612" y="5911790"/>
            <a:ext cx="3199146" cy="400110"/>
          </a:xfrm>
          <a:prstGeom prst="rect">
            <a:avLst/>
          </a:prstGeom>
          <a:noFill/>
        </p:spPr>
        <p:txBody>
          <a:bodyPr wrap="none" rtlCol="0">
            <a:spAutoFit/>
          </a:bodyPr>
          <a:lstStyle/>
          <a:p>
            <a:r>
              <a:rPr lang="en-US" sz="2000" b="1" dirty="0"/>
              <a:t>SR Latch T.T with NAND gate</a:t>
            </a:r>
            <a:endParaRPr lang="en-US"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666426" y="2251065"/>
            <a:ext cx="5021451" cy="3701151"/>
          </a:xfrm>
          <a:prstGeom prst="rect">
            <a:avLst/>
          </a:prstGeom>
        </p:spPr>
      </p:pic>
      <p:sp>
        <p:nvSpPr>
          <p:cNvPr id="5" name="TextBox 4"/>
          <p:cNvSpPr txBox="1"/>
          <p:nvPr/>
        </p:nvSpPr>
        <p:spPr>
          <a:xfrm>
            <a:off x="495946" y="6152872"/>
            <a:ext cx="4839145" cy="400110"/>
          </a:xfrm>
          <a:prstGeom prst="rect">
            <a:avLst/>
          </a:prstGeom>
          <a:noFill/>
        </p:spPr>
        <p:txBody>
          <a:bodyPr wrap="none" rtlCol="0">
            <a:spAutoFit/>
          </a:bodyPr>
          <a:lstStyle/>
          <a:p>
            <a:r>
              <a:rPr lang="en-US" sz="2000" b="1" dirty="0"/>
              <a:t>Highlighted box is SR Latch with NAND gate </a:t>
            </a:r>
          </a:p>
        </p:txBody>
      </p:sp>
      <p:pic>
        <p:nvPicPr>
          <p:cNvPr id="8" name="Content Placeholder 3"/>
          <p:cNvPicPr>
            <a:picLocks noChangeAspect="1"/>
          </p:cNvPicPr>
          <p:nvPr/>
        </p:nvPicPr>
        <p:blipFill>
          <a:blip r:embed="rId3"/>
          <a:stretch>
            <a:fillRect/>
          </a:stretch>
        </p:blipFill>
        <p:spPr>
          <a:xfrm>
            <a:off x="5869706" y="2178238"/>
            <a:ext cx="6022876" cy="3773978"/>
          </a:xfrm>
          <a:prstGeom prst="rect">
            <a:avLst/>
          </a:prstGeom>
        </p:spPr>
      </p:pic>
      <p:sp>
        <p:nvSpPr>
          <p:cNvPr id="9" name="TextBox 8"/>
          <p:cNvSpPr txBox="1"/>
          <p:nvPr/>
        </p:nvSpPr>
        <p:spPr>
          <a:xfrm>
            <a:off x="6243234" y="6039656"/>
            <a:ext cx="4043736" cy="400110"/>
          </a:xfrm>
          <a:prstGeom prst="rect">
            <a:avLst/>
          </a:prstGeom>
          <a:noFill/>
        </p:spPr>
        <p:txBody>
          <a:bodyPr wrap="none" rtlCol="0">
            <a:spAutoFit/>
          </a:bodyPr>
          <a:lstStyle/>
          <a:p>
            <a:r>
              <a:rPr lang="en-US" sz="2000" b="1" dirty="0"/>
              <a:t>Outer Highlighted box is SR Flip-Flop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914401" y="2740024"/>
            <a:ext cx="10515600" cy="4351338"/>
          </a:xfrm>
        </p:spPr>
        <p:txBody>
          <a:bodyPr/>
          <a:lstStyle/>
          <a:p>
            <a:r>
              <a:rPr lang="en-US" b="1" u="sng" dirty="0"/>
              <a:t>When </a:t>
            </a:r>
            <a:r>
              <a:rPr lang="en-US" b="1" u="sng" dirty="0" err="1"/>
              <a:t>clk</a:t>
            </a:r>
            <a:r>
              <a:rPr lang="en-US" b="1" u="sng" dirty="0"/>
              <a:t>=0</a:t>
            </a:r>
          </a:p>
          <a:p>
            <a:pPr marL="0" indent="0">
              <a:buNone/>
            </a:pPr>
            <a:r>
              <a:rPr lang="en-US" dirty="0"/>
              <a:t>S*=S’+</a:t>
            </a:r>
            <a:r>
              <a:rPr lang="en-US" dirty="0" err="1"/>
              <a:t>clk</a:t>
            </a:r>
            <a:r>
              <a:rPr lang="en-US" dirty="0"/>
              <a:t>’</a:t>
            </a:r>
          </a:p>
          <a:p>
            <a:pPr marL="0" indent="0">
              <a:buNone/>
            </a:pPr>
            <a:r>
              <a:rPr lang="en-US" dirty="0"/>
              <a:t>S*= 1</a:t>
            </a:r>
          </a:p>
          <a:p>
            <a:pPr marL="0" indent="0">
              <a:buNone/>
            </a:pPr>
            <a:endParaRPr lang="en-US" dirty="0"/>
          </a:p>
          <a:p>
            <a:pPr marL="0" indent="0">
              <a:buNone/>
            </a:pPr>
            <a:r>
              <a:rPr lang="en-US" dirty="0"/>
              <a:t> R*=R’+</a:t>
            </a:r>
            <a:r>
              <a:rPr lang="en-US" dirty="0" err="1"/>
              <a:t>clk</a:t>
            </a:r>
            <a:r>
              <a:rPr lang="en-US" dirty="0"/>
              <a:t>’</a:t>
            </a:r>
          </a:p>
          <a:p>
            <a:pPr marL="0" indent="0">
              <a:buNone/>
            </a:pPr>
            <a:r>
              <a:rPr lang="en-US" dirty="0"/>
              <a:t>R*=1</a:t>
            </a:r>
          </a:p>
          <a:p>
            <a:pPr marL="0" indent="0">
              <a:buNone/>
            </a:pPr>
            <a:endParaRPr lang="en-US" dirty="0"/>
          </a:p>
        </p:txBody>
      </p:sp>
      <p:sp>
        <p:nvSpPr>
          <p:cNvPr id="4" name="TextBox 3"/>
          <p:cNvSpPr txBox="1"/>
          <p:nvPr/>
        </p:nvSpPr>
        <p:spPr>
          <a:xfrm>
            <a:off x="4970562" y="2740024"/>
            <a:ext cx="5924053" cy="3416320"/>
          </a:xfrm>
          <a:prstGeom prst="rect">
            <a:avLst/>
          </a:prstGeom>
          <a:noFill/>
        </p:spPr>
        <p:txBody>
          <a:bodyPr wrap="square" rtlCol="0">
            <a:spAutoFit/>
          </a:bodyPr>
          <a:lstStyle/>
          <a:p>
            <a:r>
              <a:rPr lang="en-US" sz="2400" b="1" u="sng" dirty="0"/>
              <a:t>When </a:t>
            </a:r>
            <a:r>
              <a:rPr lang="en-US" sz="2400" b="1" u="sng" dirty="0" err="1"/>
              <a:t>clk</a:t>
            </a:r>
            <a:r>
              <a:rPr lang="en-US" sz="2400" b="1" u="sng" dirty="0"/>
              <a:t>=1   </a:t>
            </a:r>
            <a:r>
              <a:rPr lang="en-US" sz="2400" b="1" dirty="0"/>
              <a:t>S*=S’,   R*=R</a:t>
            </a:r>
            <a:r>
              <a:rPr lang="en-US" sz="2400" b="1" u="sng" dirty="0"/>
              <a:t>’</a:t>
            </a:r>
          </a:p>
          <a:p>
            <a:r>
              <a:rPr lang="en-US" sz="2400" dirty="0"/>
              <a:t>Case </a:t>
            </a:r>
            <a:r>
              <a:rPr lang="en-US" sz="2400" dirty="0" err="1"/>
              <a:t>i</a:t>
            </a:r>
            <a:r>
              <a:rPr lang="en-US" sz="2400" dirty="0"/>
              <a:t>)S=R=0:</a:t>
            </a:r>
          </a:p>
          <a:p>
            <a:r>
              <a:rPr lang="en-US" sz="2400" dirty="0"/>
              <a:t>	S*=1,   R*=1</a:t>
            </a:r>
          </a:p>
          <a:p>
            <a:r>
              <a:rPr lang="en-US" sz="2400" dirty="0"/>
              <a:t>Case ii) S=0, R=1</a:t>
            </a:r>
          </a:p>
          <a:p>
            <a:r>
              <a:rPr lang="en-US" sz="2400" dirty="0"/>
              <a:t>	S*=1,  R*=0</a:t>
            </a:r>
          </a:p>
          <a:p>
            <a:r>
              <a:rPr lang="en-US" sz="2400" dirty="0"/>
              <a:t>Case iii) S=1,R=0</a:t>
            </a:r>
          </a:p>
          <a:p>
            <a:r>
              <a:rPr lang="en-US" sz="2400" dirty="0"/>
              <a:t>	S*=0,  R=1</a:t>
            </a:r>
          </a:p>
          <a:p>
            <a:r>
              <a:rPr lang="en-US" sz="2400" dirty="0"/>
              <a:t>Case iv) S=R=1</a:t>
            </a:r>
          </a:p>
          <a:p>
            <a:r>
              <a:rPr lang="en-US" sz="2400" dirty="0"/>
              <a:t>	S*=0,  R*=0</a:t>
            </a:r>
          </a:p>
        </p:txBody>
      </p:sp>
      <p:sp>
        <p:nvSpPr>
          <p:cNvPr id="7" name="Content Placeholder 3"/>
          <p:cNvSpPr txBox="1"/>
          <p:nvPr/>
        </p:nvSpPr>
        <p:spPr>
          <a:xfrm>
            <a:off x="783609" y="1132001"/>
            <a:ext cx="10515600" cy="1346010"/>
          </a:xfrm>
          <a:prstGeom prst="rect">
            <a:avLst/>
          </a:prstGeom>
          <a:no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a:t>R*= (R.clk)’</a:t>
            </a:r>
          </a:p>
          <a:p>
            <a:r>
              <a:rPr lang="en-US" sz="2400" b="1"/>
              <a:t>R*= R’+Clk’</a:t>
            </a:r>
          </a:p>
          <a:p>
            <a:endParaRPr lang="en-US" sz="2400" b="1" dirty="0"/>
          </a:p>
        </p:txBody>
      </p:sp>
      <p:sp>
        <p:nvSpPr>
          <p:cNvPr id="8" name="TextBox 7"/>
          <p:cNvSpPr txBox="1"/>
          <p:nvPr/>
        </p:nvSpPr>
        <p:spPr>
          <a:xfrm>
            <a:off x="4970562" y="774748"/>
            <a:ext cx="2712203" cy="830997"/>
          </a:xfrm>
          <a:prstGeom prst="rect">
            <a:avLst/>
          </a:prstGeom>
          <a:noFill/>
        </p:spPr>
        <p:txBody>
          <a:bodyPr wrap="square" rtlCol="0">
            <a:spAutoFit/>
          </a:bodyPr>
          <a:lstStyle/>
          <a:p>
            <a:r>
              <a:rPr lang="en-US" sz="2400" b="1" dirty="0"/>
              <a:t>S* = (</a:t>
            </a:r>
            <a:r>
              <a:rPr lang="en-US" sz="2400" b="1" dirty="0" err="1"/>
              <a:t>S.Clk</a:t>
            </a:r>
            <a:r>
              <a:rPr lang="en-US" sz="2400" b="1" dirty="0"/>
              <a:t>)’</a:t>
            </a:r>
          </a:p>
          <a:p>
            <a:r>
              <a:rPr lang="en-US" sz="2400" b="1" dirty="0"/>
              <a:t>S* =S’+ </a:t>
            </a:r>
            <a:r>
              <a:rPr lang="en-US" sz="2400" b="1" dirty="0" err="1"/>
              <a:t>Clk</a:t>
            </a:r>
            <a:r>
              <a:rPr lang="en-US" sz="2400" b="1" dirty="0"/>
              <a:t>’</a:t>
            </a:r>
          </a:p>
        </p:txBody>
      </p:sp>
      <p:pic>
        <p:nvPicPr>
          <p:cNvPr id="5" name="Picture 4"/>
          <p:cNvPicPr>
            <a:picLocks noChangeAspect="1"/>
          </p:cNvPicPr>
          <p:nvPr/>
        </p:nvPicPr>
        <p:blipFill>
          <a:blip r:embed="rId3"/>
          <a:stretch>
            <a:fillRect/>
          </a:stretch>
        </p:blipFill>
        <p:spPr>
          <a:xfrm>
            <a:off x="8802986" y="3019246"/>
            <a:ext cx="3133473" cy="25518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p:cNvGraphicFramePr>
            <a:graphicFrameLocks noGrp="1"/>
          </p:cNvGraphicFramePr>
          <p:nvPr/>
        </p:nvGraphicFramePr>
        <p:xfrm>
          <a:off x="525650" y="2268796"/>
          <a:ext cx="4684705" cy="2699433"/>
        </p:xfrm>
        <a:graphic>
          <a:graphicData uri="http://schemas.openxmlformats.org/drawingml/2006/table">
            <a:tbl>
              <a:tblPr firstRow="1" bandRow="1">
                <a:tableStyleId>{5940675A-B579-460E-94D1-54222C63F5DA}</a:tableStyleId>
              </a:tblPr>
              <a:tblGrid>
                <a:gridCol w="936941">
                  <a:extLst>
                    <a:ext uri="{9D8B030D-6E8A-4147-A177-3AD203B41FA5}">
                      <a16:colId xmlns:a16="http://schemas.microsoft.com/office/drawing/2014/main" val="20000"/>
                    </a:ext>
                  </a:extLst>
                </a:gridCol>
                <a:gridCol w="936941">
                  <a:extLst>
                    <a:ext uri="{9D8B030D-6E8A-4147-A177-3AD203B41FA5}">
                      <a16:colId xmlns:a16="http://schemas.microsoft.com/office/drawing/2014/main" val="20001"/>
                    </a:ext>
                  </a:extLst>
                </a:gridCol>
                <a:gridCol w="936941">
                  <a:extLst>
                    <a:ext uri="{9D8B030D-6E8A-4147-A177-3AD203B41FA5}">
                      <a16:colId xmlns:a16="http://schemas.microsoft.com/office/drawing/2014/main" val="20002"/>
                    </a:ext>
                  </a:extLst>
                </a:gridCol>
                <a:gridCol w="936941">
                  <a:extLst>
                    <a:ext uri="{9D8B030D-6E8A-4147-A177-3AD203B41FA5}">
                      <a16:colId xmlns:a16="http://schemas.microsoft.com/office/drawing/2014/main" val="20003"/>
                    </a:ext>
                  </a:extLst>
                </a:gridCol>
                <a:gridCol w="936941">
                  <a:extLst>
                    <a:ext uri="{9D8B030D-6E8A-4147-A177-3AD203B41FA5}">
                      <a16:colId xmlns:a16="http://schemas.microsoft.com/office/drawing/2014/main" val="20004"/>
                    </a:ext>
                  </a:extLst>
                </a:gridCol>
              </a:tblGrid>
              <a:tr h="444758">
                <a:tc>
                  <a:txBody>
                    <a:bodyPr/>
                    <a:lstStyle/>
                    <a:p>
                      <a:pPr algn="ctr"/>
                      <a:r>
                        <a:rPr lang="en-US" dirty="0" err="1"/>
                        <a:t>Clk</a:t>
                      </a:r>
                      <a:endParaRPr lang="en-US" dirty="0"/>
                    </a:p>
                  </a:txBody>
                  <a:tcPr/>
                </a:tc>
                <a:tc>
                  <a:txBody>
                    <a:bodyPr/>
                    <a:lstStyle/>
                    <a:p>
                      <a:pPr algn="ctr"/>
                      <a:r>
                        <a:rPr lang="en-US" dirty="0"/>
                        <a:t>S</a:t>
                      </a:r>
                    </a:p>
                  </a:txBody>
                  <a:tcPr/>
                </a:tc>
                <a:tc>
                  <a:txBody>
                    <a:bodyPr/>
                    <a:lstStyle/>
                    <a:p>
                      <a:pPr algn="ctr"/>
                      <a:r>
                        <a:rPr lang="en-US" dirty="0"/>
                        <a:t>R</a:t>
                      </a:r>
                    </a:p>
                  </a:txBody>
                  <a:tcPr/>
                </a:tc>
                <a:tc>
                  <a:txBody>
                    <a:bodyPr/>
                    <a:lstStyle/>
                    <a:p>
                      <a:pPr algn="ctr"/>
                      <a:r>
                        <a:rPr lang="en-US" dirty="0"/>
                        <a:t>Q</a:t>
                      </a:r>
                    </a:p>
                  </a:txBody>
                  <a:tcPr/>
                </a:tc>
                <a:tc>
                  <a:txBody>
                    <a:bodyPr/>
                    <a:lstStyle/>
                    <a:p>
                      <a:pPr algn="ctr"/>
                      <a:r>
                        <a:rPr lang="en-US" dirty="0"/>
                        <a:t>Q’</a:t>
                      </a:r>
                    </a:p>
                  </a:txBody>
                  <a:tcPr/>
                </a:tc>
                <a:extLst>
                  <a:ext uri="{0D108BD9-81ED-4DB2-BD59-A6C34878D82A}">
                    <a16:rowId xmlns:a16="http://schemas.microsoft.com/office/drawing/2014/main" val="10000"/>
                  </a:ext>
                </a:extLst>
              </a:tr>
              <a:tr h="450935">
                <a:tc>
                  <a:txBody>
                    <a:bodyPr/>
                    <a:lstStyle/>
                    <a:p>
                      <a:pPr algn="ctr"/>
                      <a:r>
                        <a:rPr lang="en-US" dirty="0"/>
                        <a:t>0</a:t>
                      </a:r>
                    </a:p>
                  </a:txBody>
                  <a:tcPr/>
                </a:tc>
                <a:tc>
                  <a:txBody>
                    <a:bodyPr/>
                    <a:lstStyle/>
                    <a:p>
                      <a:pPr algn="ctr"/>
                      <a:r>
                        <a:rPr lang="en-US" dirty="0"/>
                        <a:t>X</a:t>
                      </a:r>
                    </a:p>
                  </a:txBody>
                  <a:tcPr/>
                </a:tc>
                <a:tc>
                  <a:txBody>
                    <a:bodyPr/>
                    <a:lstStyle/>
                    <a:p>
                      <a:pPr algn="ctr"/>
                      <a:r>
                        <a:rPr lang="en-US" dirty="0"/>
                        <a:t>X</a:t>
                      </a:r>
                    </a:p>
                  </a:txBody>
                  <a:tcPr/>
                </a:tc>
                <a:tc gridSpan="2">
                  <a:txBody>
                    <a:bodyPr/>
                    <a:lstStyle/>
                    <a:p>
                      <a:pPr algn="ctr"/>
                      <a:r>
                        <a:rPr lang="en-US" dirty="0"/>
                        <a:t>Memory</a:t>
                      </a:r>
                    </a:p>
                  </a:txBody>
                  <a:tcPr/>
                </a:tc>
                <a:tc hMerge="1">
                  <a:txBody>
                    <a:bodyPr/>
                    <a:lstStyle/>
                    <a:p>
                      <a:endParaRPr lang="en-US"/>
                    </a:p>
                  </a:txBody>
                  <a:tcPr/>
                </a:tc>
                <a:extLst>
                  <a:ext uri="{0D108BD9-81ED-4DB2-BD59-A6C34878D82A}">
                    <a16:rowId xmlns:a16="http://schemas.microsoft.com/office/drawing/2014/main" val="10001"/>
                  </a:ext>
                </a:extLst>
              </a:tr>
              <a:tr h="450935">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gridSpan="2">
                  <a:txBody>
                    <a:bodyPr/>
                    <a:lstStyle/>
                    <a:p>
                      <a:pPr algn="ctr"/>
                      <a:r>
                        <a:rPr lang="en-US" dirty="0"/>
                        <a:t>Memory</a:t>
                      </a:r>
                    </a:p>
                  </a:txBody>
                  <a:tcPr/>
                </a:tc>
                <a:tc hMerge="1">
                  <a:txBody>
                    <a:bodyPr/>
                    <a:lstStyle/>
                    <a:p>
                      <a:endParaRPr lang="en-US"/>
                    </a:p>
                  </a:txBody>
                  <a:tcPr/>
                </a:tc>
                <a:extLst>
                  <a:ext uri="{0D108BD9-81ED-4DB2-BD59-A6C34878D82A}">
                    <a16:rowId xmlns:a16="http://schemas.microsoft.com/office/drawing/2014/main" val="10002"/>
                  </a:ext>
                </a:extLst>
              </a:tr>
              <a:tr h="450935">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10003"/>
                  </a:ext>
                </a:extLst>
              </a:tr>
              <a:tr h="450935">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10004"/>
                  </a:ext>
                </a:extLst>
              </a:tr>
              <a:tr h="450935">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tc gridSpan="2">
                  <a:txBody>
                    <a:bodyPr/>
                    <a:lstStyle/>
                    <a:p>
                      <a:pPr algn="ctr"/>
                      <a:r>
                        <a:rPr lang="en-US" dirty="0"/>
                        <a:t>Not used</a:t>
                      </a:r>
                    </a:p>
                  </a:txBody>
                  <a:tcPr/>
                </a:tc>
                <a:tc hMerge="1">
                  <a:txBody>
                    <a:bodyPr/>
                    <a:lstStyle/>
                    <a:p>
                      <a:endParaRPr lang="en-US"/>
                    </a:p>
                  </a:txBody>
                  <a:tcPr/>
                </a:tc>
                <a:extLst>
                  <a:ext uri="{0D108BD9-81ED-4DB2-BD59-A6C34878D82A}">
                    <a16:rowId xmlns:a16="http://schemas.microsoft.com/office/drawing/2014/main" val="10005"/>
                  </a:ext>
                </a:extLst>
              </a:tr>
            </a:tbl>
          </a:graphicData>
        </a:graphic>
      </p:graphicFrame>
      <p:sp>
        <p:nvSpPr>
          <p:cNvPr id="2" name="TextBox 1"/>
          <p:cNvSpPr txBox="1"/>
          <p:nvPr/>
        </p:nvSpPr>
        <p:spPr>
          <a:xfrm>
            <a:off x="2076773" y="5284922"/>
            <a:ext cx="3688596" cy="369332"/>
          </a:xfrm>
          <a:prstGeom prst="rect">
            <a:avLst/>
          </a:prstGeom>
          <a:noFill/>
        </p:spPr>
        <p:txBody>
          <a:bodyPr wrap="square" rtlCol="0">
            <a:spAutoFit/>
          </a:bodyPr>
          <a:lstStyle/>
          <a:p>
            <a:r>
              <a:rPr lang="en-US" dirty="0"/>
              <a:t>Truth Table for SR flip-flop</a:t>
            </a:r>
          </a:p>
        </p:txBody>
      </p:sp>
      <p:pic>
        <p:nvPicPr>
          <p:cNvPr id="4" name="Picture 3"/>
          <p:cNvPicPr>
            <a:picLocks noChangeAspect="1"/>
          </p:cNvPicPr>
          <p:nvPr/>
        </p:nvPicPr>
        <p:blipFill>
          <a:blip r:embed="rId2"/>
          <a:stretch>
            <a:fillRect/>
          </a:stretch>
        </p:blipFill>
        <p:spPr>
          <a:xfrm>
            <a:off x="6426633" y="1030175"/>
            <a:ext cx="4942982" cy="4624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838200" y="1825625"/>
          <a:ext cx="4183252" cy="4032732"/>
        </p:xfrm>
        <a:graphic>
          <a:graphicData uri="http://schemas.openxmlformats.org/drawingml/2006/table">
            <a:tbl>
              <a:tblPr firstRow="1" bandRow="1">
                <a:tableStyleId>{5940675A-B579-460E-94D1-54222C63F5DA}</a:tableStyleId>
              </a:tblPr>
              <a:tblGrid>
                <a:gridCol w="1045813">
                  <a:extLst>
                    <a:ext uri="{9D8B030D-6E8A-4147-A177-3AD203B41FA5}">
                      <a16:colId xmlns:a16="http://schemas.microsoft.com/office/drawing/2014/main" val="20000"/>
                    </a:ext>
                  </a:extLst>
                </a:gridCol>
                <a:gridCol w="1045813">
                  <a:extLst>
                    <a:ext uri="{9D8B030D-6E8A-4147-A177-3AD203B41FA5}">
                      <a16:colId xmlns:a16="http://schemas.microsoft.com/office/drawing/2014/main" val="20001"/>
                    </a:ext>
                  </a:extLst>
                </a:gridCol>
                <a:gridCol w="1045813">
                  <a:extLst>
                    <a:ext uri="{9D8B030D-6E8A-4147-A177-3AD203B41FA5}">
                      <a16:colId xmlns:a16="http://schemas.microsoft.com/office/drawing/2014/main" val="20002"/>
                    </a:ext>
                  </a:extLst>
                </a:gridCol>
                <a:gridCol w="1045813">
                  <a:extLst>
                    <a:ext uri="{9D8B030D-6E8A-4147-A177-3AD203B41FA5}">
                      <a16:colId xmlns:a16="http://schemas.microsoft.com/office/drawing/2014/main" val="20003"/>
                    </a:ext>
                  </a:extLst>
                </a:gridCol>
              </a:tblGrid>
              <a:tr h="672122">
                <a:tc>
                  <a:txBody>
                    <a:bodyPr/>
                    <a:lstStyle/>
                    <a:p>
                      <a:r>
                        <a:rPr lang="en-US" dirty="0" err="1"/>
                        <a:t>Clk</a:t>
                      </a:r>
                      <a:endParaRPr lang="en-US" dirty="0"/>
                    </a:p>
                  </a:txBody>
                  <a:tcPr/>
                </a:tc>
                <a:tc>
                  <a:txBody>
                    <a:bodyPr/>
                    <a:lstStyle/>
                    <a:p>
                      <a:r>
                        <a:rPr lang="en-US" dirty="0"/>
                        <a:t>S</a:t>
                      </a:r>
                    </a:p>
                  </a:txBody>
                  <a:tcPr/>
                </a:tc>
                <a:tc>
                  <a:txBody>
                    <a:bodyPr/>
                    <a:lstStyle/>
                    <a:p>
                      <a:r>
                        <a:rPr lang="en-US" dirty="0"/>
                        <a:t>R</a:t>
                      </a:r>
                    </a:p>
                  </a:txBody>
                  <a:tcPr/>
                </a:tc>
                <a:tc>
                  <a:txBody>
                    <a:bodyPr/>
                    <a:lstStyle/>
                    <a:p>
                      <a:r>
                        <a:rPr lang="en-US" dirty="0"/>
                        <a:t>Qn+1</a:t>
                      </a:r>
                    </a:p>
                  </a:txBody>
                  <a:tcPr/>
                </a:tc>
                <a:extLst>
                  <a:ext uri="{0D108BD9-81ED-4DB2-BD59-A6C34878D82A}">
                    <a16:rowId xmlns:a16="http://schemas.microsoft.com/office/drawing/2014/main" val="10000"/>
                  </a:ext>
                </a:extLst>
              </a:tr>
              <a:tr h="672122">
                <a:tc>
                  <a:txBody>
                    <a:bodyPr/>
                    <a:lstStyle/>
                    <a:p>
                      <a:r>
                        <a:rPr lang="en-US" dirty="0"/>
                        <a:t>0</a:t>
                      </a:r>
                    </a:p>
                  </a:txBody>
                  <a:tcPr/>
                </a:tc>
                <a:tc>
                  <a:txBody>
                    <a:bodyPr/>
                    <a:lstStyle/>
                    <a:p>
                      <a:r>
                        <a:rPr lang="en-US" dirty="0"/>
                        <a:t>X</a:t>
                      </a:r>
                    </a:p>
                  </a:txBody>
                  <a:tcPr/>
                </a:tc>
                <a:tc>
                  <a:txBody>
                    <a:bodyPr/>
                    <a:lstStyle/>
                    <a:p>
                      <a:r>
                        <a:rPr lang="en-US" dirty="0"/>
                        <a:t>X</a:t>
                      </a:r>
                    </a:p>
                  </a:txBody>
                  <a:tcPr/>
                </a:tc>
                <a:tc>
                  <a:txBody>
                    <a:bodyPr/>
                    <a:lstStyle/>
                    <a:p>
                      <a:r>
                        <a:rPr lang="en-US" dirty="0" err="1"/>
                        <a:t>Qn</a:t>
                      </a:r>
                      <a:endParaRPr lang="en-US" dirty="0"/>
                    </a:p>
                  </a:txBody>
                  <a:tcPr/>
                </a:tc>
                <a:extLst>
                  <a:ext uri="{0D108BD9-81ED-4DB2-BD59-A6C34878D82A}">
                    <a16:rowId xmlns:a16="http://schemas.microsoft.com/office/drawing/2014/main" val="10001"/>
                  </a:ext>
                </a:extLst>
              </a:tr>
              <a:tr h="672122">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err="1"/>
                        <a:t>Qn</a:t>
                      </a:r>
                      <a:endParaRPr lang="en-US" dirty="0"/>
                    </a:p>
                  </a:txBody>
                  <a:tcPr/>
                </a:tc>
                <a:extLst>
                  <a:ext uri="{0D108BD9-81ED-4DB2-BD59-A6C34878D82A}">
                    <a16:rowId xmlns:a16="http://schemas.microsoft.com/office/drawing/2014/main" val="10002"/>
                  </a:ext>
                </a:extLst>
              </a:tr>
              <a:tr h="672122">
                <a:tc>
                  <a:txBody>
                    <a:bodyPr/>
                    <a:lstStyle/>
                    <a:p>
                      <a:r>
                        <a:rPr lang="en-US" dirty="0"/>
                        <a:t>1</a:t>
                      </a:r>
                    </a:p>
                  </a:txBody>
                  <a:tcPr/>
                </a:tc>
                <a:tc>
                  <a:txBody>
                    <a:bodyPr/>
                    <a:lstStyle/>
                    <a:p>
                      <a:r>
                        <a:rPr lang="en-US" dirty="0"/>
                        <a:t>0</a:t>
                      </a:r>
                    </a:p>
                  </a:txBody>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10003"/>
                  </a:ext>
                </a:extLst>
              </a:tr>
              <a:tr h="672122">
                <a:tc>
                  <a:txBody>
                    <a:bodyPr/>
                    <a:lstStyle/>
                    <a:p>
                      <a:r>
                        <a:rPr lang="en-US" dirty="0"/>
                        <a:t>1</a:t>
                      </a:r>
                    </a:p>
                  </a:txBody>
                  <a:tcPr/>
                </a:tc>
                <a:tc>
                  <a:txBody>
                    <a:bodyPr/>
                    <a:lstStyle/>
                    <a:p>
                      <a:r>
                        <a:rPr lang="en-US" dirty="0"/>
                        <a:t>1</a:t>
                      </a:r>
                    </a:p>
                  </a:txBody>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10004"/>
                  </a:ext>
                </a:extLst>
              </a:tr>
              <a:tr h="672122">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err="1"/>
                        <a:t>invlaid</a:t>
                      </a:r>
                      <a:endParaRPr lang="en-US" dirty="0"/>
                    </a:p>
                  </a:txBody>
                  <a:tcPr/>
                </a:tc>
                <a:extLst>
                  <a:ext uri="{0D108BD9-81ED-4DB2-BD59-A6C34878D82A}">
                    <a16:rowId xmlns:a16="http://schemas.microsoft.com/office/drawing/2014/main" val="10005"/>
                  </a:ext>
                </a:extLst>
              </a:tr>
            </a:tbl>
          </a:graphicData>
        </a:graphic>
      </p:graphicFrame>
      <p:graphicFrame>
        <p:nvGraphicFramePr>
          <p:cNvPr id="5" name="Table 4"/>
          <p:cNvGraphicFramePr>
            <a:graphicFrameLocks noGrp="1"/>
          </p:cNvGraphicFramePr>
          <p:nvPr/>
        </p:nvGraphicFramePr>
        <p:xfrm>
          <a:off x="5838124" y="533684"/>
          <a:ext cx="4855708" cy="5185188"/>
        </p:xfrm>
        <a:graphic>
          <a:graphicData uri="http://schemas.openxmlformats.org/drawingml/2006/table">
            <a:tbl>
              <a:tblPr firstRow="1" bandRow="1">
                <a:tableStyleId>{5940675A-B579-460E-94D1-54222C63F5DA}</a:tableStyleId>
              </a:tblPr>
              <a:tblGrid>
                <a:gridCol w="1213927">
                  <a:extLst>
                    <a:ext uri="{9D8B030D-6E8A-4147-A177-3AD203B41FA5}">
                      <a16:colId xmlns:a16="http://schemas.microsoft.com/office/drawing/2014/main" val="20000"/>
                    </a:ext>
                  </a:extLst>
                </a:gridCol>
                <a:gridCol w="1213927">
                  <a:extLst>
                    <a:ext uri="{9D8B030D-6E8A-4147-A177-3AD203B41FA5}">
                      <a16:colId xmlns:a16="http://schemas.microsoft.com/office/drawing/2014/main" val="20001"/>
                    </a:ext>
                  </a:extLst>
                </a:gridCol>
                <a:gridCol w="1213927">
                  <a:extLst>
                    <a:ext uri="{9D8B030D-6E8A-4147-A177-3AD203B41FA5}">
                      <a16:colId xmlns:a16="http://schemas.microsoft.com/office/drawing/2014/main" val="20002"/>
                    </a:ext>
                  </a:extLst>
                </a:gridCol>
                <a:gridCol w="1213927">
                  <a:extLst>
                    <a:ext uri="{9D8B030D-6E8A-4147-A177-3AD203B41FA5}">
                      <a16:colId xmlns:a16="http://schemas.microsoft.com/office/drawing/2014/main" val="20003"/>
                    </a:ext>
                  </a:extLst>
                </a:gridCol>
              </a:tblGrid>
              <a:tr h="576132">
                <a:tc>
                  <a:txBody>
                    <a:bodyPr/>
                    <a:lstStyle/>
                    <a:p>
                      <a:r>
                        <a:rPr lang="en-US" dirty="0" err="1"/>
                        <a:t>Qn</a:t>
                      </a:r>
                      <a:endParaRPr lang="en-US" dirty="0"/>
                    </a:p>
                  </a:txBody>
                  <a:tcPr/>
                </a:tc>
                <a:tc>
                  <a:txBody>
                    <a:bodyPr/>
                    <a:lstStyle/>
                    <a:p>
                      <a:r>
                        <a:rPr lang="en-US" dirty="0"/>
                        <a:t>S</a:t>
                      </a:r>
                    </a:p>
                  </a:txBody>
                  <a:tcPr/>
                </a:tc>
                <a:tc>
                  <a:txBody>
                    <a:bodyPr/>
                    <a:lstStyle/>
                    <a:p>
                      <a:r>
                        <a:rPr lang="en-US" dirty="0"/>
                        <a:t>R</a:t>
                      </a:r>
                    </a:p>
                  </a:txBody>
                  <a:tcPr/>
                </a:tc>
                <a:tc>
                  <a:txBody>
                    <a:bodyPr/>
                    <a:lstStyle/>
                    <a:p>
                      <a:r>
                        <a:rPr lang="en-US" dirty="0"/>
                        <a:t>Qn+1</a:t>
                      </a:r>
                    </a:p>
                  </a:txBody>
                  <a:tcPr/>
                </a:tc>
                <a:extLst>
                  <a:ext uri="{0D108BD9-81ED-4DB2-BD59-A6C34878D82A}">
                    <a16:rowId xmlns:a16="http://schemas.microsoft.com/office/drawing/2014/main" val="10000"/>
                  </a:ext>
                </a:extLst>
              </a:tr>
              <a:tr h="576132">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0001"/>
                  </a:ext>
                </a:extLst>
              </a:tr>
              <a:tr h="576132">
                <a:tc>
                  <a:txBody>
                    <a:bodyPr/>
                    <a:lstStyle/>
                    <a:p>
                      <a:r>
                        <a:rPr lang="en-US" dirty="0"/>
                        <a:t>0</a:t>
                      </a:r>
                    </a:p>
                  </a:txBody>
                  <a:tcPr/>
                </a:tc>
                <a:tc>
                  <a:txBody>
                    <a:bodyPr/>
                    <a:lstStyle/>
                    <a:p>
                      <a:r>
                        <a:rPr lang="en-US" dirty="0"/>
                        <a:t>0</a:t>
                      </a:r>
                    </a:p>
                  </a:txBody>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10002"/>
                  </a:ext>
                </a:extLst>
              </a:tr>
              <a:tr h="576132">
                <a:tc>
                  <a:txBody>
                    <a:bodyPr/>
                    <a:lstStyle/>
                    <a:p>
                      <a:r>
                        <a:rPr lang="en-US" dirty="0"/>
                        <a:t>0</a:t>
                      </a:r>
                    </a:p>
                  </a:txBody>
                  <a:tcPr/>
                </a:tc>
                <a:tc>
                  <a:txBody>
                    <a:bodyPr/>
                    <a:lstStyle/>
                    <a:p>
                      <a:r>
                        <a:rPr lang="en-US" dirty="0"/>
                        <a:t>1</a:t>
                      </a:r>
                    </a:p>
                  </a:txBody>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10003"/>
                  </a:ext>
                </a:extLst>
              </a:tr>
              <a:tr h="576132">
                <a:tc>
                  <a:txBody>
                    <a:bodyPr/>
                    <a:lstStyle/>
                    <a:p>
                      <a:r>
                        <a:rPr lang="en-US" dirty="0"/>
                        <a:t>0</a:t>
                      </a:r>
                    </a:p>
                  </a:txBody>
                  <a:tcPr/>
                </a:tc>
                <a:tc>
                  <a:txBody>
                    <a:bodyPr/>
                    <a:lstStyle/>
                    <a:p>
                      <a:r>
                        <a:rPr lang="en-US" dirty="0"/>
                        <a:t>1</a:t>
                      </a:r>
                    </a:p>
                  </a:txBody>
                  <a:tcPr/>
                </a:tc>
                <a:tc>
                  <a:txBody>
                    <a:bodyPr/>
                    <a:lstStyle/>
                    <a:p>
                      <a:r>
                        <a:rPr lang="en-US" dirty="0"/>
                        <a:t>1</a:t>
                      </a:r>
                    </a:p>
                  </a:txBody>
                  <a:tcPr/>
                </a:tc>
                <a:tc>
                  <a:txBody>
                    <a:bodyPr/>
                    <a:lstStyle/>
                    <a:p>
                      <a:r>
                        <a:rPr lang="en-US" dirty="0"/>
                        <a:t>X/invalid</a:t>
                      </a:r>
                    </a:p>
                  </a:txBody>
                  <a:tcPr/>
                </a:tc>
                <a:extLst>
                  <a:ext uri="{0D108BD9-81ED-4DB2-BD59-A6C34878D82A}">
                    <a16:rowId xmlns:a16="http://schemas.microsoft.com/office/drawing/2014/main" val="10004"/>
                  </a:ext>
                </a:extLst>
              </a:tr>
              <a:tr h="576132">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10005"/>
                  </a:ext>
                </a:extLst>
              </a:tr>
              <a:tr h="576132">
                <a:tc>
                  <a:txBody>
                    <a:bodyPr/>
                    <a:lstStyle/>
                    <a:p>
                      <a:r>
                        <a:rPr lang="en-US" dirty="0"/>
                        <a:t>1</a:t>
                      </a:r>
                    </a:p>
                  </a:txBody>
                  <a:tcPr/>
                </a:tc>
                <a:tc>
                  <a:txBody>
                    <a:bodyPr/>
                    <a:lstStyle/>
                    <a:p>
                      <a:r>
                        <a:rPr lang="en-US" dirty="0"/>
                        <a:t>0</a:t>
                      </a:r>
                    </a:p>
                  </a:txBody>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10006"/>
                  </a:ext>
                </a:extLst>
              </a:tr>
              <a:tr h="576132">
                <a:tc>
                  <a:txBody>
                    <a:bodyPr/>
                    <a:lstStyle/>
                    <a:p>
                      <a:r>
                        <a:rPr lang="en-US" dirty="0"/>
                        <a:t>1</a:t>
                      </a:r>
                    </a:p>
                  </a:txBody>
                  <a:tcPr/>
                </a:tc>
                <a:tc>
                  <a:txBody>
                    <a:bodyPr/>
                    <a:lstStyle/>
                    <a:p>
                      <a:r>
                        <a:rPr lang="en-US" dirty="0"/>
                        <a:t>1</a:t>
                      </a:r>
                    </a:p>
                  </a:txBody>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10007"/>
                  </a:ext>
                </a:extLst>
              </a:tr>
              <a:tr h="576132">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X/Invalid </a:t>
                      </a:r>
                    </a:p>
                  </a:txBody>
                  <a:tcPr/>
                </a:tc>
                <a:extLst>
                  <a:ext uri="{0D108BD9-81ED-4DB2-BD59-A6C34878D82A}">
                    <a16:rowId xmlns:a16="http://schemas.microsoft.com/office/drawing/2014/main" val="10008"/>
                  </a:ext>
                </a:extLst>
              </a:tr>
            </a:tbl>
          </a:graphicData>
        </a:graphic>
      </p:graphicFrame>
      <p:sp>
        <p:nvSpPr>
          <p:cNvPr id="6" name="TextBox 5"/>
          <p:cNvSpPr txBox="1"/>
          <p:nvPr/>
        </p:nvSpPr>
        <p:spPr>
          <a:xfrm>
            <a:off x="1735810" y="6106332"/>
            <a:ext cx="2278251" cy="369332"/>
          </a:xfrm>
          <a:prstGeom prst="rect">
            <a:avLst/>
          </a:prstGeom>
          <a:noFill/>
        </p:spPr>
        <p:txBody>
          <a:bodyPr wrap="square" rtlCol="0">
            <a:spAutoFit/>
          </a:bodyPr>
          <a:lstStyle/>
          <a:p>
            <a:r>
              <a:rPr lang="en-US" dirty="0"/>
              <a:t>Truth Table</a:t>
            </a:r>
          </a:p>
        </p:txBody>
      </p:sp>
      <p:sp>
        <p:nvSpPr>
          <p:cNvPr id="7" name="TextBox 6"/>
          <p:cNvSpPr txBox="1"/>
          <p:nvPr/>
        </p:nvSpPr>
        <p:spPr>
          <a:xfrm>
            <a:off x="6881247" y="5827363"/>
            <a:ext cx="3363133" cy="369332"/>
          </a:xfrm>
          <a:prstGeom prst="rect">
            <a:avLst/>
          </a:prstGeom>
          <a:noFill/>
        </p:spPr>
        <p:txBody>
          <a:bodyPr wrap="square" rtlCol="0">
            <a:spAutoFit/>
          </a:bodyPr>
          <a:lstStyle/>
          <a:p>
            <a:r>
              <a:rPr lang="en-US" dirty="0"/>
              <a:t>Characteristic Table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838200" y="1825625"/>
          <a:ext cx="3919780" cy="3335310"/>
        </p:xfrm>
        <a:graphic>
          <a:graphicData uri="http://schemas.openxmlformats.org/drawingml/2006/table">
            <a:tbl>
              <a:tblPr firstRow="1" bandRow="1">
                <a:tableStyleId>{5940675A-B579-460E-94D1-54222C63F5DA}</a:tableStyleId>
              </a:tblPr>
              <a:tblGrid>
                <a:gridCol w="979945">
                  <a:extLst>
                    <a:ext uri="{9D8B030D-6E8A-4147-A177-3AD203B41FA5}">
                      <a16:colId xmlns:a16="http://schemas.microsoft.com/office/drawing/2014/main" val="20000"/>
                    </a:ext>
                  </a:extLst>
                </a:gridCol>
                <a:gridCol w="979945">
                  <a:extLst>
                    <a:ext uri="{9D8B030D-6E8A-4147-A177-3AD203B41FA5}">
                      <a16:colId xmlns:a16="http://schemas.microsoft.com/office/drawing/2014/main" val="20001"/>
                    </a:ext>
                  </a:extLst>
                </a:gridCol>
                <a:gridCol w="979945">
                  <a:extLst>
                    <a:ext uri="{9D8B030D-6E8A-4147-A177-3AD203B41FA5}">
                      <a16:colId xmlns:a16="http://schemas.microsoft.com/office/drawing/2014/main" val="20002"/>
                    </a:ext>
                  </a:extLst>
                </a:gridCol>
                <a:gridCol w="979945">
                  <a:extLst>
                    <a:ext uri="{9D8B030D-6E8A-4147-A177-3AD203B41FA5}">
                      <a16:colId xmlns:a16="http://schemas.microsoft.com/office/drawing/2014/main" val="20003"/>
                    </a:ext>
                  </a:extLst>
                </a:gridCol>
              </a:tblGrid>
              <a:tr h="667062">
                <a:tc>
                  <a:txBody>
                    <a:bodyPr/>
                    <a:lstStyle/>
                    <a:p>
                      <a:r>
                        <a:rPr lang="en-US" dirty="0" err="1"/>
                        <a:t>Qn</a:t>
                      </a:r>
                      <a:endParaRPr lang="en-US" dirty="0"/>
                    </a:p>
                  </a:txBody>
                  <a:tcPr/>
                </a:tc>
                <a:tc>
                  <a:txBody>
                    <a:bodyPr/>
                    <a:lstStyle/>
                    <a:p>
                      <a:r>
                        <a:rPr lang="en-US" dirty="0"/>
                        <a:t>Qn+1</a:t>
                      </a:r>
                    </a:p>
                  </a:txBody>
                  <a:tcPr/>
                </a:tc>
                <a:tc>
                  <a:txBody>
                    <a:bodyPr/>
                    <a:lstStyle/>
                    <a:p>
                      <a:r>
                        <a:rPr lang="en-US" dirty="0"/>
                        <a:t>S</a:t>
                      </a:r>
                    </a:p>
                  </a:txBody>
                  <a:tcPr/>
                </a:tc>
                <a:tc>
                  <a:txBody>
                    <a:bodyPr/>
                    <a:lstStyle/>
                    <a:p>
                      <a:r>
                        <a:rPr lang="en-US" dirty="0"/>
                        <a:t>R</a:t>
                      </a:r>
                    </a:p>
                  </a:txBody>
                  <a:tcPr/>
                </a:tc>
                <a:extLst>
                  <a:ext uri="{0D108BD9-81ED-4DB2-BD59-A6C34878D82A}">
                    <a16:rowId xmlns:a16="http://schemas.microsoft.com/office/drawing/2014/main" val="10000"/>
                  </a:ext>
                </a:extLst>
              </a:tr>
              <a:tr h="667062">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X</a:t>
                      </a:r>
                    </a:p>
                  </a:txBody>
                  <a:tcPr/>
                </a:tc>
                <a:extLst>
                  <a:ext uri="{0D108BD9-81ED-4DB2-BD59-A6C34878D82A}">
                    <a16:rowId xmlns:a16="http://schemas.microsoft.com/office/drawing/2014/main" val="10001"/>
                  </a:ext>
                </a:extLst>
              </a:tr>
              <a:tr h="667062">
                <a:tc>
                  <a:txBody>
                    <a:bodyPr/>
                    <a:lstStyle/>
                    <a:p>
                      <a:r>
                        <a:rPr lang="en-US" dirty="0"/>
                        <a:t>0</a:t>
                      </a:r>
                    </a:p>
                  </a:txBody>
                  <a:tcPr/>
                </a:tc>
                <a:tc>
                  <a:txBody>
                    <a:bodyPr/>
                    <a:lstStyle/>
                    <a:p>
                      <a:r>
                        <a:rPr lang="en-US" dirty="0"/>
                        <a:t>1</a:t>
                      </a:r>
                    </a:p>
                  </a:txBody>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10002"/>
                  </a:ext>
                </a:extLst>
              </a:tr>
              <a:tr h="667062">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10003"/>
                  </a:ext>
                </a:extLst>
              </a:tr>
              <a:tr h="667062">
                <a:tc>
                  <a:txBody>
                    <a:bodyPr/>
                    <a:lstStyle/>
                    <a:p>
                      <a:r>
                        <a:rPr lang="en-US" dirty="0"/>
                        <a:t>1</a:t>
                      </a:r>
                    </a:p>
                  </a:txBody>
                  <a:tcPr/>
                </a:tc>
                <a:tc>
                  <a:txBody>
                    <a:bodyPr/>
                    <a:lstStyle/>
                    <a:p>
                      <a:r>
                        <a:rPr lang="en-US" dirty="0"/>
                        <a:t>1</a:t>
                      </a:r>
                    </a:p>
                  </a:txBody>
                  <a:tcPr/>
                </a:tc>
                <a:tc>
                  <a:txBody>
                    <a:bodyPr/>
                    <a:lstStyle/>
                    <a:p>
                      <a:r>
                        <a:rPr lang="en-US" dirty="0"/>
                        <a:t>X</a:t>
                      </a:r>
                    </a:p>
                  </a:txBody>
                  <a:tcPr/>
                </a:tc>
                <a:tc>
                  <a:txBody>
                    <a:bodyPr/>
                    <a:lstStyle/>
                    <a:p>
                      <a:r>
                        <a:rPr lang="en-US" dirty="0"/>
                        <a:t>0</a:t>
                      </a: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1456841" y="5594888"/>
            <a:ext cx="2991173" cy="369332"/>
          </a:xfrm>
          <a:prstGeom prst="rect">
            <a:avLst/>
          </a:prstGeom>
          <a:noFill/>
        </p:spPr>
        <p:txBody>
          <a:bodyPr wrap="square" rtlCol="0">
            <a:spAutoFit/>
          </a:bodyPr>
          <a:lstStyle/>
          <a:p>
            <a:r>
              <a:rPr lang="en-US" dirty="0"/>
              <a:t>Excitation Table</a:t>
            </a:r>
          </a:p>
        </p:txBody>
      </p:sp>
      <p:sp>
        <p:nvSpPr>
          <p:cNvPr id="6" name="TextBox 5"/>
          <p:cNvSpPr txBox="1"/>
          <p:nvPr/>
        </p:nvSpPr>
        <p:spPr>
          <a:xfrm>
            <a:off x="5811864" y="2185261"/>
            <a:ext cx="5005953" cy="2862322"/>
          </a:xfrm>
          <a:prstGeom prst="rect">
            <a:avLst/>
          </a:prstGeom>
          <a:noFill/>
        </p:spPr>
        <p:txBody>
          <a:bodyPr wrap="square" rtlCol="0">
            <a:spAutoFit/>
          </a:bodyPr>
          <a:lstStyle/>
          <a:p>
            <a:r>
              <a:rPr lang="en-US" dirty="0"/>
              <a:t>An </a:t>
            </a:r>
            <a:r>
              <a:rPr lang="en-US" b="1" dirty="0"/>
              <a:t>excitation table</a:t>
            </a:r>
            <a:r>
              <a:rPr lang="en-US" dirty="0"/>
              <a:t> shows the minimum inputs that are necessary to generate a particular next state (in other words, to </a:t>
            </a:r>
            <a:r>
              <a:rPr lang="en-US" b="1" dirty="0"/>
              <a:t>"excite"</a:t>
            </a:r>
            <a:r>
              <a:rPr lang="en-US" dirty="0"/>
              <a:t> it to the next state) when the current state is known. They are similar to truth tables and characteristic tables, but rearrange the data so that the current state and next state are next to each other on the left-hand side of the table, and the inputs needed to make that state change happen are shown on the right side of the table.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D-(Data) Flip-Fop</a:t>
            </a:r>
          </a:p>
        </p:txBody>
      </p:sp>
      <p:graphicFrame>
        <p:nvGraphicFramePr>
          <p:cNvPr id="5" name="Table 4"/>
          <p:cNvGraphicFramePr>
            <a:graphicFrameLocks noGrp="1"/>
          </p:cNvGraphicFramePr>
          <p:nvPr/>
        </p:nvGraphicFramePr>
        <p:xfrm>
          <a:off x="6069787" y="2202246"/>
          <a:ext cx="2720334" cy="2548040"/>
        </p:xfrm>
        <a:graphic>
          <a:graphicData uri="http://schemas.openxmlformats.org/drawingml/2006/table">
            <a:tbl>
              <a:tblPr firstRow="1" bandRow="1">
                <a:tableStyleId>{5940675A-B579-460E-94D1-54222C63F5DA}</a:tableStyleId>
              </a:tblPr>
              <a:tblGrid>
                <a:gridCol w="906778">
                  <a:extLst>
                    <a:ext uri="{9D8B030D-6E8A-4147-A177-3AD203B41FA5}">
                      <a16:colId xmlns:a16="http://schemas.microsoft.com/office/drawing/2014/main" val="20000"/>
                    </a:ext>
                  </a:extLst>
                </a:gridCol>
                <a:gridCol w="906778">
                  <a:extLst>
                    <a:ext uri="{9D8B030D-6E8A-4147-A177-3AD203B41FA5}">
                      <a16:colId xmlns:a16="http://schemas.microsoft.com/office/drawing/2014/main" val="20001"/>
                    </a:ext>
                  </a:extLst>
                </a:gridCol>
                <a:gridCol w="906778">
                  <a:extLst>
                    <a:ext uri="{9D8B030D-6E8A-4147-A177-3AD203B41FA5}">
                      <a16:colId xmlns:a16="http://schemas.microsoft.com/office/drawing/2014/main" val="20002"/>
                    </a:ext>
                  </a:extLst>
                </a:gridCol>
              </a:tblGrid>
              <a:tr h="637010">
                <a:tc>
                  <a:txBody>
                    <a:bodyPr/>
                    <a:lstStyle/>
                    <a:p>
                      <a:r>
                        <a:rPr lang="en-US" dirty="0" err="1"/>
                        <a:t>Clk</a:t>
                      </a:r>
                      <a:endParaRPr lang="en-US" dirty="0"/>
                    </a:p>
                  </a:txBody>
                  <a:tcPr/>
                </a:tc>
                <a:tc>
                  <a:txBody>
                    <a:bodyPr/>
                    <a:lstStyle/>
                    <a:p>
                      <a:r>
                        <a:rPr lang="en-US" dirty="0"/>
                        <a:t>D</a:t>
                      </a:r>
                    </a:p>
                  </a:txBody>
                  <a:tcPr/>
                </a:tc>
                <a:tc>
                  <a:txBody>
                    <a:bodyPr/>
                    <a:lstStyle/>
                    <a:p>
                      <a:r>
                        <a:rPr lang="en-US" dirty="0"/>
                        <a:t>Qn+1</a:t>
                      </a:r>
                    </a:p>
                  </a:txBody>
                  <a:tcPr/>
                </a:tc>
                <a:extLst>
                  <a:ext uri="{0D108BD9-81ED-4DB2-BD59-A6C34878D82A}">
                    <a16:rowId xmlns:a16="http://schemas.microsoft.com/office/drawing/2014/main" val="10000"/>
                  </a:ext>
                </a:extLst>
              </a:tr>
              <a:tr h="637010">
                <a:tc>
                  <a:txBody>
                    <a:bodyPr/>
                    <a:lstStyle/>
                    <a:p>
                      <a:r>
                        <a:rPr lang="en-US" dirty="0"/>
                        <a:t>0</a:t>
                      </a:r>
                    </a:p>
                  </a:txBody>
                  <a:tcPr/>
                </a:tc>
                <a:tc>
                  <a:txBody>
                    <a:bodyPr/>
                    <a:lstStyle/>
                    <a:p>
                      <a:r>
                        <a:rPr lang="en-US" dirty="0"/>
                        <a:t>X</a:t>
                      </a:r>
                    </a:p>
                  </a:txBody>
                  <a:tcPr/>
                </a:tc>
                <a:tc>
                  <a:txBody>
                    <a:bodyPr/>
                    <a:lstStyle/>
                    <a:p>
                      <a:r>
                        <a:rPr lang="en-US" dirty="0" err="1"/>
                        <a:t>Qn</a:t>
                      </a:r>
                      <a:endParaRPr lang="en-US" dirty="0"/>
                    </a:p>
                  </a:txBody>
                  <a:tcPr/>
                </a:tc>
                <a:extLst>
                  <a:ext uri="{0D108BD9-81ED-4DB2-BD59-A6C34878D82A}">
                    <a16:rowId xmlns:a16="http://schemas.microsoft.com/office/drawing/2014/main" val="10001"/>
                  </a:ext>
                </a:extLst>
              </a:tr>
              <a:tr h="637010">
                <a:tc>
                  <a:txBody>
                    <a:bodyPr/>
                    <a:lstStyle/>
                    <a:p>
                      <a:r>
                        <a:rPr lang="en-US" dirty="0"/>
                        <a:t>1</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0002"/>
                  </a:ext>
                </a:extLst>
              </a:tr>
              <a:tr h="637010">
                <a:tc>
                  <a:txBody>
                    <a:bodyPr/>
                    <a:lstStyle/>
                    <a:p>
                      <a:r>
                        <a:rPr lang="en-US" dirty="0"/>
                        <a:t>1</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10003"/>
                  </a:ext>
                </a:extLst>
              </a:tr>
            </a:tbl>
          </a:graphicData>
        </a:graphic>
      </p:graphicFrame>
      <p:sp>
        <p:nvSpPr>
          <p:cNvPr id="6" name="TextBox 5"/>
          <p:cNvSpPr txBox="1"/>
          <p:nvPr/>
        </p:nvSpPr>
        <p:spPr>
          <a:xfrm>
            <a:off x="6409840" y="5112969"/>
            <a:ext cx="2572719" cy="369332"/>
          </a:xfrm>
          <a:prstGeom prst="rect">
            <a:avLst/>
          </a:prstGeom>
          <a:noFill/>
        </p:spPr>
        <p:txBody>
          <a:bodyPr wrap="square" rtlCol="0">
            <a:spAutoFit/>
          </a:bodyPr>
          <a:lstStyle/>
          <a:p>
            <a:r>
              <a:rPr lang="en-US" dirty="0"/>
              <a:t>Truth Table</a:t>
            </a:r>
          </a:p>
        </p:txBody>
      </p:sp>
      <p:pic>
        <p:nvPicPr>
          <p:cNvPr id="7" name="Picture 6"/>
          <p:cNvPicPr>
            <a:picLocks noChangeAspect="1"/>
          </p:cNvPicPr>
          <p:nvPr/>
        </p:nvPicPr>
        <p:blipFill>
          <a:blip r:embed="rId3"/>
          <a:stretch>
            <a:fillRect/>
          </a:stretch>
        </p:blipFill>
        <p:spPr>
          <a:xfrm>
            <a:off x="1397758" y="2062017"/>
            <a:ext cx="4023475" cy="342028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838200" y="1825624"/>
          <a:ext cx="3346341" cy="3567785"/>
        </p:xfrm>
        <a:graphic>
          <a:graphicData uri="http://schemas.openxmlformats.org/drawingml/2006/table">
            <a:tbl>
              <a:tblPr firstRow="1" bandRow="1">
                <a:tableStyleId>{5940675A-B579-460E-94D1-54222C63F5DA}</a:tableStyleId>
              </a:tblPr>
              <a:tblGrid>
                <a:gridCol w="1115447">
                  <a:extLst>
                    <a:ext uri="{9D8B030D-6E8A-4147-A177-3AD203B41FA5}">
                      <a16:colId xmlns:a16="http://schemas.microsoft.com/office/drawing/2014/main" val="20000"/>
                    </a:ext>
                  </a:extLst>
                </a:gridCol>
                <a:gridCol w="1115447">
                  <a:extLst>
                    <a:ext uri="{9D8B030D-6E8A-4147-A177-3AD203B41FA5}">
                      <a16:colId xmlns:a16="http://schemas.microsoft.com/office/drawing/2014/main" val="20001"/>
                    </a:ext>
                  </a:extLst>
                </a:gridCol>
                <a:gridCol w="1115447">
                  <a:extLst>
                    <a:ext uri="{9D8B030D-6E8A-4147-A177-3AD203B41FA5}">
                      <a16:colId xmlns:a16="http://schemas.microsoft.com/office/drawing/2014/main" val="20002"/>
                    </a:ext>
                  </a:extLst>
                </a:gridCol>
              </a:tblGrid>
              <a:tr h="713557">
                <a:tc>
                  <a:txBody>
                    <a:bodyPr/>
                    <a:lstStyle/>
                    <a:p>
                      <a:r>
                        <a:rPr lang="en-US" dirty="0" err="1"/>
                        <a:t>Qn</a:t>
                      </a:r>
                      <a:endParaRPr lang="en-US" dirty="0"/>
                    </a:p>
                  </a:txBody>
                  <a:tcPr/>
                </a:tc>
                <a:tc>
                  <a:txBody>
                    <a:bodyPr/>
                    <a:lstStyle/>
                    <a:p>
                      <a:r>
                        <a:rPr lang="en-US" dirty="0"/>
                        <a:t>D</a:t>
                      </a:r>
                    </a:p>
                  </a:txBody>
                  <a:tcPr/>
                </a:tc>
                <a:tc>
                  <a:txBody>
                    <a:bodyPr/>
                    <a:lstStyle/>
                    <a:p>
                      <a:r>
                        <a:rPr lang="en-US" dirty="0"/>
                        <a:t>Qn+1</a:t>
                      </a:r>
                    </a:p>
                  </a:txBody>
                  <a:tcPr/>
                </a:tc>
                <a:extLst>
                  <a:ext uri="{0D108BD9-81ED-4DB2-BD59-A6C34878D82A}">
                    <a16:rowId xmlns:a16="http://schemas.microsoft.com/office/drawing/2014/main" val="10000"/>
                  </a:ext>
                </a:extLst>
              </a:tr>
              <a:tr h="713557">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0001"/>
                  </a:ext>
                </a:extLst>
              </a:tr>
              <a:tr h="713557">
                <a:tc>
                  <a:txBody>
                    <a:bodyPr/>
                    <a:lstStyle/>
                    <a:p>
                      <a:r>
                        <a:rPr lang="en-US" dirty="0"/>
                        <a:t>0</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10002"/>
                  </a:ext>
                </a:extLst>
              </a:tr>
              <a:tr h="713557">
                <a:tc>
                  <a:txBody>
                    <a:bodyPr/>
                    <a:lstStyle/>
                    <a:p>
                      <a:r>
                        <a:rPr lang="en-US" dirty="0"/>
                        <a:t>1</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0003"/>
                  </a:ext>
                </a:extLst>
              </a:tr>
              <a:tr h="713557">
                <a:tc>
                  <a:txBody>
                    <a:bodyPr/>
                    <a:lstStyle/>
                    <a:p>
                      <a:r>
                        <a:rPr lang="en-US" dirty="0"/>
                        <a:t>1</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10004"/>
                  </a:ext>
                </a:extLst>
              </a:tr>
            </a:tbl>
          </a:graphicData>
        </a:graphic>
      </p:graphicFrame>
      <p:graphicFrame>
        <p:nvGraphicFramePr>
          <p:cNvPr id="5" name="Content Placeholder 3"/>
          <p:cNvGraphicFramePr/>
          <p:nvPr/>
        </p:nvGraphicFramePr>
        <p:xfrm>
          <a:off x="5361122" y="1807543"/>
          <a:ext cx="3346341" cy="3567785"/>
        </p:xfrm>
        <a:graphic>
          <a:graphicData uri="http://schemas.openxmlformats.org/drawingml/2006/table">
            <a:tbl>
              <a:tblPr firstRow="1" bandRow="1">
                <a:tableStyleId>{5940675A-B579-460E-94D1-54222C63F5DA}</a:tableStyleId>
              </a:tblPr>
              <a:tblGrid>
                <a:gridCol w="1115447">
                  <a:extLst>
                    <a:ext uri="{9D8B030D-6E8A-4147-A177-3AD203B41FA5}">
                      <a16:colId xmlns:a16="http://schemas.microsoft.com/office/drawing/2014/main" val="20000"/>
                    </a:ext>
                  </a:extLst>
                </a:gridCol>
                <a:gridCol w="1115447">
                  <a:extLst>
                    <a:ext uri="{9D8B030D-6E8A-4147-A177-3AD203B41FA5}">
                      <a16:colId xmlns:a16="http://schemas.microsoft.com/office/drawing/2014/main" val="20001"/>
                    </a:ext>
                  </a:extLst>
                </a:gridCol>
                <a:gridCol w="1115447">
                  <a:extLst>
                    <a:ext uri="{9D8B030D-6E8A-4147-A177-3AD203B41FA5}">
                      <a16:colId xmlns:a16="http://schemas.microsoft.com/office/drawing/2014/main" val="20002"/>
                    </a:ext>
                  </a:extLst>
                </a:gridCol>
              </a:tblGrid>
              <a:tr h="713557">
                <a:tc>
                  <a:txBody>
                    <a:bodyPr/>
                    <a:lstStyle/>
                    <a:p>
                      <a:r>
                        <a:rPr lang="en-US" dirty="0" err="1"/>
                        <a:t>Qn</a:t>
                      </a:r>
                      <a:endParaRPr lang="en-US" dirty="0"/>
                    </a:p>
                  </a:txBody>
                  <a:tcPr/>
                </a:tc>
                <a:tc>
                  <a:txBody>
                    <a:bodyPr/>
                    <a:lstStyle/>
                    <a:p>
                      <a:r>
                        <a:rPr lang="en-US" dirty="0"/>
                        <a:t>Qn+1</a:t>
                      </a:r>
                    </a:p>
                  </a:txBody>
                  <a:tcPr/>
                </a:tc>
                <a:tc>
                  <a:txBody>
                    <a:bodyPr/>
                    <a:lstStyle/>
                    <a:p>
                      <a:r>
                        <a:rPr lang="en-US" dirty="0"/>
                        <a:t>D</a:t>
                      </a:r>
                    </a:p>
                  </a:txBody>
                  <a:tcPr/>
                </a:tc>
                <a:extLst>
                  <a:ext uri="{0D108BD9-81ED-4DB2-BD59-A6C34878D82A}">
                    <a16:rowId xmlns:a16="http://schemas.microsoft.com/office/drawing/2014/main" val="10000"/>
                  </a:ext>
                </a:extLst>
              </a:tr>
              <a:tr h="713557">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0001"/>
                  </a:ext>
                </a:extLst>
              </a:tr>
              <a:tr h="713557">
                <a:tc>
                  <a:txBody>
                    <a:bodyPr/>
                    <a:lstStyle/>
                    <a:p>
                      <a:r>
                        <a:rPr lang="en-US" dirty="0"/>
                        <a:t>0</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10002"/>
                  </a:ext>
                </a:extLst>
              </a:tr>
              <a:tr h="713557">
                <a:tc>
                  <a:txBody>
                    <a:bodyPr/>
                    <a:lstStyle/>
                    <a:p>
                      <a:r>
                        <a:rPr lang="en-US" dirty="0"/>
                        <a:t>1</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0003"/>
                  </a:ext>
                </a:extLst>
              </a:tr>
              <a:tr h="713557">
                <a:tc>
                  <a:txBody>
                    <a:bodyPr/>
                    <a:lstStyle/>
                    <a:p>
                      <a:r>
                        <a:rPr lang="en-US" dirty="0"/>
                        <a:t>1</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10004"/>
                  </a:ext>
                </a:extLst>
              </a:tr>
            </a:tbl>
          </a:graphicData>
        </a:graphic>
      </p:graphicFrame>
      <p:sp>
        <p:nvSpPr>
          <p:cNvPr id="6" name="TextBox 5"/>
          <p:cNvSpPr txBox="1"/>
          <p:nvPr/>
        </p:nvSpPr>
        <p:spPr>
          <a:xfrm>
            <a:off x="1100380" y="5486400"/>
            <a:ext cx="2851688" cy="369332"/>
          </a:xfrm>
          <a:prstGeom prst="rect">
            <a:avLst/>
          </a:prstGeom>
          <a:noFill/>
        </p:spPr>
        <p:txBody>
          <a:bodyPr wrap="square" rtlCol="0">
            <a:spAutoFit/>
          </a:bodyPr>
          <a:lstStyle/>
          <a:p>
            <a:r>
              <a:rPr lang="en-US" dirty="0"/>
              <a:t>Characteristic Table</a:t>
            </a:r>
          </a:p>
        </p:txBody>
      </p:sp>
      <p:sp>
        <p:nvSpPr>
          <p:cNvPr id="7" name="TextBox 6"/>
          <p:cNvSpPr txBox="1"/>
          <p:nvPr/>
        </p:nvSpPr>
        <p:spPr>
          <a:xfrm>
            <a:off x="5530312" y="5486400"/>
            <a:ext cx="2851688" cy="369332"/>
          </a:xfrm>
          <a:prstGeom prst="rect">
            <a:avLst/>
          </a:prstGeom>
          <a:noFill/>
        </p:spPr>
        <p:txBody>
          <a:bodyPr wrap="square" rtlCol="0">
            <a:spAutoFit/>
          </a:bodyPr>
          <a:lstStyle/>
          <a:p>
            <a:r>
              <a:rPr lang="en-US" dirty="0"/>
              <a:t>Excitation Table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Disadvantages of SR and D</a:t>
            </a:r>
          </a:p>
        </p:txBody>
      </p:sp>
      <p:sp>
        <p:nvSpPr>
          <p:cNvPr id="3" name="Content Placeholder 2"/>
          <p:cNvSpPr>
            <a:spLocks noGrp="1"/>
          </p:cNvSpPr>
          <p:nvPr>
            <p:ph idx="1"/>
          </p:nvPr>
        </p:nvSpPr>
        <p:spPr/>
        <p:txBody>
          <a:bodyPr/>
          <a:lstStyle/>
          <a:p>
            <a:r>
              <a:rPr lang="en-US" b="0" i="0" dirty="0">
                <a:solidFill>
                  <a:srgbClr val="202124"/>
                </a:solidFill>
                <a:effectLst/>
                <a:latin typeface="Google Sans Text"/>
              </a:rPr>
              <a:t>When the S and R inputs of an SR flipflop are at logical 1, then the output becomes unstable and it is known as a race condition. So, the main disadvantage of the SR flip flop is </a:t>
            </a:r>
            <a:r>
              <a:rPr lang="en-US" b="1" i="0" dirty="0">
                <a:solidFill>
                  <a:srgbClr val="202124"/>
                </a:solidFill>
                <a:effectLst/>
                <a:latin typeface="Google Sans Text"/>
              </a:rPr>
              <a:t>invalid output when both inputs are high</a:t>
            </a:r>
            <a:r>
              <a:rPr lang="en-US" b="0" i="0" dirty="0">
                <a:solidFill>
                  <a:srgbClr val="202124"/>
                </a:solidFill>
                <a:effectLst/>
                <a:latin typeface="Google Sans Text"/>
              </a:rPr>
              <a:t>.</a:t>
            </a:r>
          </a:p>
          <a:p>
            <a:endParaRPr lang="en-GB" dirty="0"/>
          </a:p>
          <a:p>
            <a:r>
              <a:rPr lang="en-US" b="0" i="0" dirty="0">
                <a:solidFill>
                  <a:srgbClr val="000000"/>
                </a:solidFill>
                <a:effectLst/>
                <a:latin typeface="ProximaNova"/>
              </a:rPr>
              <a:t>Disadvantages of D flip flop :A delay flip flop in a circuit increases the circuit's size, often to about twice the normal. Additionally, they also make the circuits more complex.</a:t>
            </a:r>
            <a:endParaRPr lang="en-GB" dirty="0"/>
          </a:p>
          <a:p>
            <a:endParaRPr lang="en-GB"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JK Flip Flop</a:t>
            </a:r>
          </a:p>
        </p:txBody>
      </p:sp>
      <p:sp>
        <p:nvSpPr>
          <p:cNvPr id="3" name="Content Placeholder 2"/>
          <p:cNvSpPr>
            <a:spLocks noGrp="1"/>
          </p:cNvSpPr>
          <p:nvPr>
            <p:ph idx="1"/>
          </p:nvPr>
        </p:nvSpPr>
        <p:spPr/>
        <p:txBody>
          <a:bodyPr>
            <a:normAutofit lnSpcReduction="10000"/>
          </a:bodyPr>
          <a:lstStyle/>
          <a:p>
            <a:r>
              <a:rPr lang="en-US" sz="2800" b="0" i="0" kern="1200" dirty="0">
                <a:solidFill>
                  <a:schemeClr val="tx1"/>
                </a:solidFill>
                <a:effectLst/>
                <a:latin typeface="+mn-lt"/>
                <a:ea typeface="+mn-ea"/>
                <a:cs typeface="+mn-cs"/>
              </a:rPr>
              <a:t>JK Flip Flop is a universal flip-flop that makes the circuit toggle between two states and is widely used in shift registers, counters, PWM(pulse width modulation) and computer applications.</a:t>
            </a:r>
          </a:p>
          <a:p>
            <a:r>
              <a:rPr lang="en-US" sz="2800" b="0" i="0" kern="1200" dirty="0">
                <a:solidFill>
                  <a:schemeClr val="tx1"/>
                </a:solidFill>
                <a:effectLst/>
                <a:latin typeface="+mn-lt"/>
                <a:ea typeface="+mn-ea"/>
                <a:cs typeface="+mn-cs"/>
              </a:rPr>
              <a:t>It is a flip-flop, that can be either active-high or active-low based on the signal applied. </a:t>
            </a:r>
          </a:p>
          <a:p>
            <a:r>
              <a:rPr lang="en-US" sz="2800" b="0" i="0" kern="1200" dirty="0">
                <a:solidFill>
                  <a:schemeClr val="tx1"/>
                </a:solidFill>
                <a:effectLst/>
                <a:latin typeface="+mn-lt"/>
                <a:ea typeface="+mn-ea"/>
                <a:cs typeface="+mn-cs"/>
              </a:rPr>
              <a:t>It is an improved version of the SR Flip Flop and prevents the circuit from going in an </a:t>
            </a:r>
            <a:r>
              <a:rPr lang="en-US" sz="2800" b="0" i="1" kern="1200" dirty="0">
                <a:solidFill>
                  <a:schemeClr val="tx1"/>
                </a:solidFill>
                <a:effectLst/>
                <a:latin typeface="+mn-lt"/>
                <a:ea typeface="+mn-ea"/>
                <a:cs typeface="+mn-cs"/>
              </a:rPr>
              <a:t>invalid</a:t>
            </a:r>
            <a:r>
              <a:rPr lang="en-US" sz="2800" b="0" i="0" kern="1200" dirty="0">
                <a:solidFill>
                  <a:schemeClr val="tx1"/>
                </a:solidFill>
                <a:effectLst/>
                <a:latin typeface="+mn-lt"/>
                <a:ea typeface="+mn-ea"/>
                <a:cs typeface="+mn-cs"/>
              </a:rPr>
              <a:t> state. </a:t>
            </a:r>
          </a:p>
          <a:p>
            <a:r>
              <a:rPr lang="en-US" sz="2800" b="0" i="0" kern="1200" dirty="0">
                <a:solidFill>
                  <a:schemeClr val="tx1"/>
                </a:solidFill>
                <a:effectLst/>
                <a:latin typeface="+mn-lt"/>
                <a:ea typeface="+mn-ea"/>
                <a:cs typeface="+mn-cs"/>
              </a:rPr>
              <a:t>As the name suggests, it helps the circuit toggle between two states.</a:t>
            </a:r>
          </a:p>
          <a:p>
            <a:r>
              <a:rPr lang="en-US" sz="2800" b="0" i="0" kern="1200" dirty="0">
                <a:solidFill>
                  <a:schemeClr val="tx1"/>
                </a:solidFill>
                <a:effectLst/>
                <a:latin typeface="+mn-lt"/>
                <a:ea typeface="+mn-ea"/>
                <a:cs typeface="+mn-cs"/>
              </a:rPr>
              <a:t>The JK Flip-flop is also widely known as a  programmable flip-flop as it can disguise other flip-flops based on the inputs applied.</a:t>
            </a:r>
            <a:endParaRPr lang="en-GB"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JK Flip-Flop</a:t>
            </a:r>
          </a:p>
        </p:txBody>
      </p:sp>
      <p:pic>
        <p:nvPicPr>
          <p:cNvPr id="7" name="Content Placeholder 6"/>
          <p:cNvPicPr>
            <a:picLocks noGrp="1" noChangeAspect="1"/>
          </p:cNvPicPr>
          <p:nvPr>
            <p:ph idx="1"/>
          </p:nvPr>
        </p:nvPicPr>
        <p:blipFill>
          <a:blip r:embed="rId3"/>
          <a:stretch>
            <a:fillRect/>
          </a:stretch>
        </p:blipFill>
        <p:spPr>
          <a:xfrm>
            <a:off x="838200" y="1999533"/>
            <a:ext cx="6671635" cy="3879432"/>
          </a:xfrm>
          <a:prstGeom prst="rect">
            <a:avLst/>
          </a:prstGeom>
        </p:spPr>
      </p:pic>
      <p:pic>
        <p:nvPicPr>
          <p:cNvPr id="1026" name="Picture 2" descr="What is JK Flip Flop? Circuit Diagram &amp; Truth Table - Circuit Glob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89229" y="2009923"/>
            <a:ext cx="3464571" cy="32440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640053" y="2066583"/>
            <a:ext cx="3162741" cy="3760779"/>
          </a:xfrm>
          <a:prstGeom prst="rect">
            <a:avLst/>
          </a:prstGeom>
        </p:spPr>
      </p:pic>
      <p:graphicFrame>
        <p:nvGraphicFramePr>
          <p:cNvPr id="5" name="Table 4"/>
          <p:cNvGraphicFramePr>
            <a:graphicFrameLocks noGrp="1"/>
          </p:cNvGraphicFramePr>
          <p:nvPr/>
        </p:nvGraphicFramePr>
        <p:xfrm>
          <a:off x="4706749" y="1479081"/>
          <a:ext cx="5165672" cy="4642749"/>
        </p:xfrm>
        <a:graphic>
          <a:graphicData uri="http://schemas.openxmlformats.org/drawingml/2006/table">
            <a:tbl>
              <a:tblPr firstRow="1" bandRow="1">
                <a:tableStyleId>{5940675A-B579-460E-94D1-54222C63F5DA}</a:tableStyleId>
              </a:tblPr>
              <a:tblGrid>
                <a:gridCol w="1291418">
                  <a:extLst>
                    <a:ext uri="{9D8B030D-6E8A-4147-A177-3AD203B41FA5}">
                      <a16:colId xmlns:a16="http://schemas.microsoft.com/office/drawing/2014/main" val="20000"/>
                    </a:ext>
                  </a:extLst>
                </a:gridCol>
                <a:gridCol w="1291418">
                  <a:extLst>
                    <a:ext uri="{9D8B030D-6E8A-4147-A177-3AD203B41FA5}">
                      <a16:colId xmlns:a16="http://schemas.microsoft.com/office/drawing/2014/main" val="20001"/>
                    </a:ext>
                  </a:extLst>
                </a:gridCol>
                <a:gridCol w="1291418">
                  <a:extLst>
                    <a:ext uri="{9D8B030D-6E8A-4147-A177-3AD203B41FA5}">
                      <a16:colId xmlns:a16="http://schemas.microsoft.com/office/drawing/2014/main" val="20002"/>
                    </a:ext>
                  </a:extLst>
                </a:gridCol>
                <a:gridCol w="1291418">
                  <a:extLst>
                    <a:ext uri="{9D8B030D-6E8A-4147-A177-3AD203B41FA5}">
                      <a16:colId xmlns:a16="http://schemas.microsoft.com/office/drawing/2014/main" val="20003"/>
                    </a:ext>
                  </a:extLst>
                </a:gridCol>
              </a:tblGrid>
              <a:tr h="515861">
                <a:tc>
                  <a:txBody>
                    <a:bodyPr/>
                    <a:lstStyle/>
                    <a:p>
                      <a:r>
                        <a:rPr lang="en-US" dirty="0" err="1"/>
                        <a:t>Qn</a:t>
                      </a:r>
                      <a:endParaRPr lang="en-US" dirty="0"/>
                    </a:p>
                  </a:txBody>
                  <a:tcPr/>
                </a:tc>
                <a:tc>
                  <a:txBody>
                    <a:bodyPr/>
                    <a:lstStyle/>
                    <a:p>
                      <a:r>
                        <a:rPr lang="en-US" dirty="0"/>
                        <a:t>J</a:t>
                      </a:r>
                    </a:p>
                  </a:txBody>
                  <a:tcPr/>
                </a:tc>
                <a:tc>
                  <a:txBody>
                    <a:bodyPr/>
                    <a:lstStyle/>
                    <a:p>
                      <a:r>
                        <a:rPr lang="en-US" dirty="0"/>
                        <a:t>K</a:t>
                      </a:r>
                    </a:p>
                  </a:txBody>
                  <a:tcPr/>
                </a:tc>
                <a:tc>
                  <a:txBody>
                    <a:bodyPr/>
                    <a:lstStyle/>
                    <a:p>
                      <a:r>
                        <a:rPr lang="en-US" dirty="0"/>
                        <a:t>Qn+1</a:t>
                      </a:r>
                    </a:p>
                  </a:txBody>
                  <a:tcPr/>
                </a:tc>
                <a:extLst>
                  <a:ext uri="{0D108BD9-81ED-4DB2-BD59-A6C34878D82A}">
                    <a16:rowId xmlns:a16="http://schemas.microsoft.com/office/drawing/2014/main" val="10000"/>
                  </a:ext>
                </a:extLst>
              </a:tr>
              <a:tr h="515861">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0001"/>
                  </a:ext>
                </a:extLst>
              </a:tr>
              <a:tr h="515861">
                <a:tc>
                  <a:txBody>
                    <a:bodyPr/>
                    <a:lstStyle/>
                    <a:p>
                      <a:r>
                        <a:rPr lang="en-US" dirty="0"/>
                        <a:t>0</a:t>
                      </a:r>
                    </a:p>
                  </a:txBody>
                  <a:tcPr/>
                </a:tc>
                <a:tc>
                  <a:txBody>
                    <a:bodyPr/>
                    <a:lstStyle/>
                    <a:p>
                      <a:r>
                        <a:rPr lang="en-US" dirty="0"/>
                        <a:t>0</a:t>
                      </a:r>
                    </a:p>
                  </a:txBody>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10002"/>
                  </a:ext>
                </a:extLst>
              </a:tr>
              <a:tr h="515861">
                <a:tc>
                  <a:txBody>
                    <a:bodyPr/>
                    <a:lstStyle/>
                    <a:p>
                      <a:r>
                        <a:rPr lang="en-US" dirty="0"/>
                        <a:t>0</a:t>
                      </a:r>
                    </a:p>
                  </a:txBody>
                  <a:tcPr/>
                </a:tc>
                <a:tc>
                  <a:txBody>
                    <a:bodyPr/>
                    <a:lstStyle/>
                    <a:p>
                      <a:r>
                        <a:rPr lang="en-US" dirty="0"/>
                        <a:t>1</a:t>
                      </a:r>
                    </a:p>
                  </a:txBody>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10003"/>
                  </a:ext>
                </a:extLst>
              </a:tr>
              <a:tr h="515861">
                <a:tc>
                  <a:txBody>
                    <a:bodyPr/>
                    <a:lstStyle/>
                    <a:p>
                      <a:r>
                        <a:rPr lang="en-US" dirty="0"/>
                        <a:t>0</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10004"/>
                  </a:ext>
                </a:extLst>
              </a:tr>
              <a:tr h="515861">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10005"/>
                  </a:ext>
                </a:extLst>
              </a:tr>
              <a:tr h="515861">
                <a:tc>
                  <a:txBody>
                    <a:bodyPr/>
                    <a:lstStyle/>
                    <a:p>
                      <a:r>
                        <a:rPr lang="en-US" dirty="0"/>
                        <a:t>1</a:t>
                      </a:r>
                    </a:p>
                  </a:txBody>
                  <a:tcPr/>
                </a:tc>
                <a:tc>
                  <a:txBody>
                    <a:bodyPr/>
                    <a:lstStyle/>
                    <a:p>
                      <a:r>
                        <a:rPr lang="en-US" dirty="0"/>
                        <a:t>0</a:t>
                      </a:r>
                    </a:p>
                  </a:txBody>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10006"/>
                  </a:ext>
                </a:extLst>
              </a:tr>
              <a:tr h="515861">
                <a:tc>
                  <a:txBody>
                    <a:bodyPr/>
                    <a:lstStyle/>
                    <a:p>
                      <a:r>
                        <a:rPr lang="en-US" dirty="0"/>
                        <a:t>1</a:t>
                      </a:r>
                    </a:p>
                  </a:txBody>
                  <a:tcPr/>
                </a:tc>
                <a:tc>
                  <a:txBody>
                    <a:bodyPr/>
                    <a:lstStyle/>
                    <a:p>
                      <a:r>
                        <a:rPr lang="en-US" dirty="0"/>
                        <a:t>1</a:t>
                      </a:r>
                    </a:p>
                  </a:txBody>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10007"/>
                  </a:ext>
                </a:extLst>
              </a:tr>
              <a:tr h="515861">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838200" y="1825624"/>
          <a:ext cx="3842288" cy="3567785"/>
        </p:xfrm>
        <a:graphic>
          <a:graphicData uri="http://schemas.openxmlformats.org/drawingml/2006/table">
            <a:tbl>
              <a:tblPr firstRow="1" bandRow="1">
                <a:tableStyleId>{5940675A-B579-460E-94D1-54222C63F5DA}</a:tableStyleId>
              </a:tblPr>
              <a:tblGrid>
                <a:gridCol w="960572">
                  <a:extLst>
                    <a:ext uri="{9D8B030D-6E8A-4147-A177-3AD203B41FA5}">
                      <a16:colId xmlns:a16="http://schemas.microsoft.com/office/drawing/2014/main" val="20000"/>
                    </a:ext>
                  </a:extLst>
                </a:gridCol>
                <a:gridCol w="960572">
                  <a:extLst>
                    <a:ext uri="{9D8B030D-6E8A-4147-A177-3AD203B41FA5}">
                      <a16:colId xmlns:a16="http://schemas.microsoft.com/office/drawing/2014/main" val="20001"/>
                    </a:ext>
                  </a:extLst>
                </a:gridCol>
                <a:gridCol w="960572">
                  <a:extLst>
                    <a:ext uri="{9D8B030D-6E8A-4147-A177-3AD203B41FA5}">
                      <a16:colId xmlns:a16="http://schemas.microsoft.com/office/drawing/2014/main" val="20002"/>
                    </a:ext>
                  </a:extLst>
                </a:gridCol>
                <a:gridCol w="960572">
                  <a:extLst>
                    <a:ext uri="{9D8B030D-6E8A-4147-A177-3AD203B41FA5}">
                      <a16:colId xmlns:a16="http://schemas.microsoft.com/office/drawing/2014/main" val="20003"/>
                    </a:ext>
                  </a:extLst>
                </a:gridCol>
              </a:tblGrid>
              <a:tr h="713557">
                <a:tc>
                  <a:txBody>
                    <a:bodyPr/>
                    <a:lstStyle/>
                    <a:p>
                      <a:r>
                        <a:rPr lang="en-US" dirty="0" err="1"/>
                        <a:t>Qn</a:t>
                      </a:r>
                      <a:endParaRPr lang="en-US" dirty="0"/>
                    </a:p>
                  </a:txBody>
                  <a:tcPr/>
                </a:tc>
                <a:tc>
                  <a:txBody>
                    <a:bodyPr/>
                    <a:lstStyle/>
                    <a:p>
                      <a:r>
                        <a:rPr lang="en-US" dirty="0"/>
                        <a:t>Qn+1</a:t>
                      </a:r>
                    </a:p>
                  </a:txBody>
                  <a:tcPr/>
                </a:tc>
                <a:tc>
                  <a:txBody>
                    <a:bodyPr/>
                    <a:lstStyle/>
                    <a:p>
                      <a:r>
                        <a:rPr lang="en-US" dirty="0"/>
                        <a:t>J</a:t>
                      </a:r>
                    </a:p>
                  </a:txBody>
                  <a:tcPr/>
                </a:tc>
                <a:tc>
                  <a:txBody>
                    <a:bodyPr/>
                    <a:lstStyle/>
                    <a:p>
                      <a:r>
                        <a:rPr lang="en-US" dirty="0"/>
                        <a:t>K</a:t>
                      </a:r>
                    </a:p>
                  </a:txBody>
                  <a:tcPr/>
                </a:tc>
                <a:extLst>
                  <a:ext uri="{0D108BD9-81ED-4DB2-BD59-A6C34878D82A}">
                    <a16:rowId xmlns:a16="http://schemas.microsoft.com/office/drawing/2014/main" val="10000"/>
                  </a:ext>
                </a:extLst>
              </a:tr>
              <a:tr h="713557">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X</a:t>
                      </a:r>
                    </a:p>
                  </a:txBody>
                  <a:tcPr/>
                </a:tc>
                <a:extLst>
                  <a:ext uri="{0D108BD9-81ED-4DB2-BD59-A6C34878D82A}">
                    <a16:rowId xmlns:a16="http://schemas.microsoft.com/office/drawing/2014/main" val="10001"/>
                  </a:ext>
                </a:extLst>
              </a:tr>
              <a:tr h="713557">
                <a:tc>
                  <a:txBody>
                    <a:bodyPr/>
                    <a:lstStyle/>
                    <a:p>
                      <a:r>
                        <a:rPr lang="en-US" dirty="0"/>
                        <a:t>0</a:t>
                      </a:r>
                    </a:p>
                  </a:txBody>
                  <a:tcPr/>
                </a:tc>
                <a:tc>
                  <a:txBody>
                    <a:bodyPr/>
                    <a:lstStyle/>
                    <a:p>
                      <a:r>
                        <a:rPr lang="en-US" dirty="0"/>
                        <a:t>1</a:t>
                      </a:r>
                    </a:p>
                  </a:txBody>
                  <a:tcPr/>
                </a:tc>
                <a:tc>
                  <a:txBody>
                    <a:bodyPr/>
                    <a:lstStyle/>
                    <a:p>
                      <a:r>
                        <a:rPr lang="en-US" dirty="0"/>
                        <a:t>1</a:t>
                      </a:r>
                    </a:p>
                  </a:txBody>
                  <a:tcPr/>
                </a:tc>
                <a:tc>
                  <a:txBody>
                    <a:bodyPr/>
                    <a:lstStyle/>
                    <a:p>
                      <a:r>
                        <a:rPr lang="en-US" dirty="0"/>
                        <a:t>X</a:t>
                      </a:r>
                    </a:p>
                  </a:txBody>
                  <a:tcPr/>
                </a:tc>
                <a:extLst>
                  <a:ext uri="{0D108BD9-81ED-4DB2-BD59-A6C34878D82A}">
                    <a16:rowId xmlns:a16="http://schemas.microsoft.com/office/drawing/2014/main" val="10002"/>
                  </a:ext>
                </a:extLst>
              </a:tr>
              <a:tr h="713557">
                <a:tc>
                  <a:txBody>
                    <a:bodyPr/>
                    <a:lstStyle/>
                    <a:p>
                      <a:r>
                        <a:rPr lang="en-US" dirty="0"/>
                        <a:t>1</a:t>
                      </a:r>
                    </a:p>
                  </a:txBody>
                  <a:tcPr/>
                </a:tc>
                <a:tc>
                  <a:txBody>
                    <a:bodyPr/>
                    <a:lstStyle/>
                    <a:p>
                      <a:r>
                        <a:rPr lang="en-US" dirty="0"/>
                        <a:t>0</a:t>
                      </a:r>
                    </a:p>
                  </a:txBody>
                  <a:tcPr/>
                </a:tc>
                <a:tc>
                  <a:txBody>
                    <a:bodyPr/>
                    <a:lstStyle/>
                    <a:p>
                      <a:r>
                        <a:rPr lang="en-US" dirty="0"/>
                        <a:t>X</a:t>
                      </a:r>
                    </a:p>
                  </a:txBody>
                  <a:tcPr/>
                </a:tc>
                <a:tc>
                  <a:txBody>
                    <a:bodyPr/>
                    <a:lstStyle/>
                    <a:p>
                      <a:r>
                        <a:rPr lang="en-US" dirty="0"/>
                        <a:t>1</a:t>
                      </a:r>
                    </a:p>
                  </a:txBody>
                  <a:tcPr/>
                </a:tc>
                <a:extLst>
                  <a:ext uri="{0D108BD9-81ED-4DB2-BD59-A6C34878D82A}">
                    <a16:rowId xmlns:a16="http://schemas.microsoft.com/office/drawing/2014/main" val="10003"/>
                  </a:ext>
                </a:extLst>
              </a:tr>
              <a:tr h="713557">
                <a:tc>
                  <a:txBody>
                    <a:bodyPr/>
                    <a:lstStyle/>
                    <a:p>
                      <a:r>
                        <a:rPr lang="en-US" dirty="0"/>
                        <a:t>1</a:t>
                      </a:r>
                    </a:p>
                  </a:txBody>
                  <a:tcPr/>
                </a:tc>
                <a:tc>
                  <a:txBody>
                    <a:bodyPr/>
                    <a:lstStyle/>
                    <a:p>
                      <a:r>
                        <a:rPr lang="en-US" dirty="0"/>
                        <a:t>1</a:t>
                      </a:r>
                    </a:p>
                  </a:txBody>
                  <a:tcPr/>
                </a:tc>
                <a:tc>
                  <a:txBody>
                    <a:bodyPr/>
                    <a:lstStyle/>
                    <a:p>
                      <a:r>
                        <a:rPr lang="en-US" dirty="0"/>
                        <a:t>X</a:t>
                      </a:r>
                    </a:p>
                  </a:txBody>
                  <a:tcPr/>
                </a:tc>
                <a:tc>
                  <a:txBody>
                    <a:bodyPr/>
                    <a:lstStyle/>
                    <a:p>
                      <a:r>
                        <a:rPr lang="en-US" dirty="0"/>
                        <a:t>0</a:t>
                      </a:r>
                    </a:p>
                  </a:txBody>
                  <a:tcPr/>
                </a:tc>
                <a:extLst>
                  <a:ext uri="{0D108BD9-81ED-4DB2-BD59-A6C34878D82A}">
                    <a16:rowId xmlns:a16="http://schemas.microsoft.com/office/drawing/2014/main" val="10004"/>
                  </a:ext>
                </a:extLst>
              </a:tr>
            </a:tbl>
          </a:graphicData>
        </a:graphic>
      </p:graphicFrame>
      <p:pic>
        <p:nvPicPr>
          <p:cNvPr id="5" name="Picture 4"/>
          <p:cNvPicPr>
            <a:picLocks noChangeAspect="1"/>
          </p:cNvPicPr>
          <p:nvPr/>
        </p:nvPicPr>
        <p:blipFill>
          <a:blip r:embed="rId3"/>
          <a:stretch>
            <a:fillRect/>
          </a:stretch>
        </p:blipFill>
        <p:spPr>
          <a:xfrm>
            <a:off x="5578240" y="2124237"/>
            <a:ext cx="2242330" cy="1796834"/>
          </a:xfrm>
          <a:prstGeom prst="rect">
            <a:avLst/>
          </a:prstGeom>
        </p:spPr>
      </p:pic>
      <p:sp>
        <p:nvSpPr>
          <p:cNvPr id="6" name="TextBox 5"/>
          <p:cNvSpPr txBox="1"/>
          <p:nvPr/>
        </p:nvSpPr>
        <p:spPr>
          <a:xfrm>
            <a:off x="5795216" y="4169954"/>
            <a:ext cx="2356892" cy="369332"/>
          </a:xfrm>
          <a:prstGeom prst="rect">
            <a:avLst/>
          </a:prstGeom>
          <a:noFill/>
        </p:spPr>
        <p:txBody>
          <a:bodyPr wrap="square" rtlCol="0">
            <a:spAutoFit/>
          </a:bodyPr>
          <a:lstStyle/>
          <a:p>
            <a:r>
              <a:rPr lang="en-US" dirty="0"/>
              <a:t>J= Qn+1</a:t>
            </a:r>
          </a:p>
        </p:txBody>
      </p:sp>
      <p:pic>
        <p:nvPicPr>
          <p:cNvPr id="7" name="Picture 6"/>
          <p:cNvPicPr>
            <a:picLocks noChangeAspect="1"/>
          </p:cNvPicPr>
          <p:nvPr/>
        </p:nvPicPr>
        <p:blipFill>
          <a:blip r:embed="rId4"/>
          <a:stretch>
            <a:fillRect/>
          </a:stretch>
        </p:blipFill>
        <p:spPr>
          <a:xfrm>
            <a:off x="8376325" y="2124237"/>
            <a:ext cx="2267432" cy="1796834"/>
          </a:xfrm>
          <a:prstGeom prst="rect">
            <a:avLst/>
          </a:prstGeom>
        </p:spPr>
      </p:pic>
      <p:sp>
        <p:nvSpPr>
          <p:cNvPr id="9" name="TextBox 8"/>
          <p:cNvSpPr txBox="1"/>
          <p:nvPr/>
        </p:nvSpPr>
        <p:spPr>
          <a:xfrm>
            <a:off x="8376325" y="4169954"/>
            <a:ext cx="2356892" cy="369332"/>
          </a:xfrm>
          <a:prstGeom prst="rect">
            <a:avLst/>
          </a:prstGeom>
          <a:noFill/>
        </p:spPr>
        <p:txBody>
          <a:bodyPr wrap="square" rtlCol="0">
            <a:spAutoFit/>
          </a:bodyPr>
          <a:lstStyle/>
          <a:p>
            <a:r>
              <a:rPr lang="en-US" dirty="0"/>
              <a:t>K= (Qn+1)’</a:t>
            </a:r>
          </a:p>
        </p:txBody>
      </p:sp>
      <p:sp>
        <p:nvSpPr>
          <p:cNvPr id="8" name="TextBox 7">
            <a:extLst>
              <a:ext uri="{FF2B5EF4-FFF2-40B4-BE49-F238E27FC236}">
                <a16:creationId xmlns:a16="http://schemas.microsoft.com/office/drawing/2014/main" id="{84B64CC6-A4AF-4FC6-B811-8DF1578AC4DD}"/>
              </a:ext>
            </a:extLst>
          </p:cNvPr>
          <p:cNvSpPr txBox="1"/>
          <p:nvPr/>
        </p:nvSpPr>
        <p:spPr>
          <a:xfrm>
            <a:off x="877662" y="5642292"/>
            <a:ext cx="6096000" cy="369332"/>
          </a:xfrm>
          <a:prstGeom prst="rect">
            <a:avLst/>
          </a:prstGeom>
          <a:noFill/>
        </p:spPr>
        <p:txBody>
          <a:bodyPr wrap="square">
            <a:spAutoFit/>
          </a:bodyPr>
          <a:lstStyle/>
          <a:p>
            <a:r>
              <a:rPr lang="en-GB" dirty="0"/>
              <a:t>Excitation table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Toggle Flip-Flop</a:t>
            </a:r>
          </a:p>
        </p:txBody>
      </p:sp>
      <p:pic>
        <p:nvPicPr>
          <p:cNvPr id="2050" name="Picture 2" descr="Symbol of T flip - flop"/>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200172" y="2243690"/>
            <a:ext cx="3990975" cy="262277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ircuit diagram of T flip - flop using JK flip - flo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073" y="2243690"/>
            <a:ext cx="6553200" cy="3505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a:stretch>
            <a:fillRect/>
          </a:stretch>
        </p:blipFill>
        <p:spPr>
          <a:xfrm>
            <a:off x="838200" y="2413157"/>
            <a:ext cx="4041290" cy="3042246"/>
          </a:xfrm>
          <a:prstGeom prst="rect">
            <a:avLst/>
          </a:prstGeom>
        </p:spPr>
      </p:pic>
      <p:graphicFrame>
        <p:nvGraphicFramePr>
          <p:cNvPr id="5" name="Table 4"/>
          <p:cNvGraphicFramePr>
            <a:graphicFrameLocks noGrp="1"/>
          </p:cNvGraphicFramePr>
          <p:nvPr/>
        </p:nvGraphicFramePr>
        <p:xfrm>
          <a:off x="5528160" y="2413157"/>
          <a:ext cx="4654227" cy="3491696"/>
        </p:xfrm>
        <a:graphic>
          <a:graphicData uri="http://schemas.openxmlformats.org/drawingml/2006/table">
            <a:tbl>
              <a:tblPr firstRow="1" bandRow="1">
                <a:tableStyleId>{5940675A-B579-460E-94D1-54222C63F5DA}</a:tableStyleId>
              </a:tblPr>
              <a:tblGrid>
                <a:gridCol w="1551409">
                  <a:extLst>
                    <a:ext uri="{9D8B030D-6E8A-4147-A177-3AD203B41FA5}">
                      <a16:colId xmlns:a16="http://schemas.microsoft.com/office/drawing/2014/main" val="20000"/>
                    </a:ext>
                  </a:extLst>
                </a:gridCol>
                <a:gridCol w="1551409">
                  <a:extLst>
                    <a:ext uri="{9D8B030D-6E8A-4147-A177-3AD203B41FA5}">
                      <a16:colId xmlns:a16="http://schemas.microsoft.com/office/drawing/2014/main" val="20001"/>
                    </a:ext>
                  </a:extLst>
                </a:gridCol>
                <a:gridCol w="1551409">
                  <a:extLst>
                    <a:ext uri="{9D8B030D-6E8A-4147-A177-3AD203B41FA5}">
                      <a16:colId xmlns:a16="http://schemas.microsoft.com/office/drawing/2014/main" val="20002"/>
                    </a:ext>
                  </a:extLst>
                </a:gridCol>
              </a:tblGrid>
              <a:tr h="872924">
                <a:tc>
                  <a:txBody>
                    <a:bodyPr/>
                    <a:lstStyle/>
                    <a:p>
                      <a:r>
                        <a:rPr lang="en-US" dirty="0" err="1"/>
                        <a:t>Clk</a:t>
                      </a:r>
                      <a:endParaRPr lang="en-US" dirty="0"/>
                    </a:p>
                  </a:txBody>
                  <a:tcPr/>
                </a:tc>
                <a:tc>
                  <a:txBody>
                    <a:bodyPr/>
                    <a:lstStyle/>
                    <a:p>
                      <a:r>
                        <a:rPr lang="en-US" dirty="0"/>
                        <a:t>T</a:t>
                      </a:r>
                    </a:p>
                  </a:txBody>
                  <a:tcPr/>
                </a:tc>
                <a:tc>
                  <a:txBody>
                    <a:bodyPr/>
                    <a:lstStyle/>
                    <a:p>
                      <a:r>
                        <a:rPr lang="en-US" dirty="0"/>
                        <a:t>Qn+1</a:t>
                      </a:r>
                    </a:p>
                  </a:txBody>
                  <a:tcPr/>
                </a:tc>
                <a:extLst>
                  <a:ext uri="{0D108BD9-81ED-4DB2-BD59-A6C34878D82A}">
                    <a16:rowId xmlns:a16="http://schemas.microsoft.com/office/drawing/2014/main" val="10000"/>
                  </a:ext>
                </a:extLst>
              </a:tr>
              <a:tr h="872924">
                <a:tc>
                  <a:txBody>
                    <a:bodyPr/>
                    <a:lstStyle/>
                    <a:p>
                      <a:r>
                        <a:rPr lang="en-US" dirty="0"/>
                        <a:t>0</a:t>
                      </a:r>
                    </a:p>
                  </a:txBody>
                  <a:tcPr/>
                </a:tc>
                <a:tc>
                  <a:txBody>
                    <a:bodyPr/>
                    <a:lstStyle/>
                    <a:p>
                      <a:r>
                        <a:rPr lang="en-US" dirty="0"/>
                        <a:t>X</a:t>
                      </a:r>
                    </a:p>
                  </a:txBody>
                  <a:tcPr/>
                </a:tc>
                <a:tc>
                  <a:txBody>
                    <a:bodyPr/>
                    <a:lstStyle/>
                    <a:p>
                      <a:r>
                        <a:rPr lang="en-US" dirty="0" err="1"/>
                        <a:t>Qn</a:t>
                      </a:r>
                      <a:r>
                        <a:rPr lang="en-US" dirty="0"/>
                        <a:t>/memory</a:t>
                      </a:r>
                    </a:p>
                  </a:txBody>
                  <a:tcPr/>
                </a:tc>
                <a:extLst>
                  <a:ext uri="{0D108BD9-81ED-4DB2-BD59-A6C34878D82A}">
                    <a16:rowId xmlns:a16="http://schemas.microsoft.com/office/drawing/2014/main" val="10001"/>
                  </a:ext>
                </a:extLst>
              </a:tr>
              <a:tr h="872924">
                <a:tc>
                  <a:txBody>
                    <a:bodyPr/>
                    <a:lstStyle/>
                    <a:p>
                      <a:r>
                        <a:rPr lang="en-US" dirty="0"/>
                        <a:t>1</a:t>
                      </a:r>
                    </a:p>
                  </a:txBody>
                  <a:tcPr/>
                </a:tc>
                <a:tc>
                  <a:txBody>
                    <a:bodyPr/>
                    <a:lstStyle/>
                    <a:p>
                      <a:r>
                        <a:rPr lang="en-US" dirty="0"/>
                        <a:t>0</a:t>
                      </a:r>
                    </a:p>
                  </a:txBody>
                  <a:tcPr/>
                </a:tc>
                <a:tc>
                  <a:txBody>
                    <a:bodyPr/>
                    <a:lstStyle/>
                    <a:p>
                      <a:r>
                        <a:rPr lang="en-US" dirty="0" err="1"/>
                        <a:t>Qn</a:t>
                      </a:r>
                      <a:endParaRPr lang="en-US" dirty="0"/>
                    </a:p>
                  </a:txBody>
                  <a:tcPr/>
                </a:tc>
                <a:extLst>
                  <a:ext uri="{0D108BD9-81ED-4DB2-BD59-A6C34878D82A}">
                    <a16:rowId xmlns:a16="http://schemas.microsoft.com/office/drawing/2014/main" val="10002"/>
                  </a:ext>
                </a:extLst>
              </a:tr>
              <a:tr h="872924">
                <a:tc>
                  <a:txBody>
                    <a:bodyPr/>
                    <a:lstStyle/>
                    <a:p>
                      <a:r>
                        <a:rPr lang="en-US" dirty="0"/>
                        <a:t>1</a:t>
                      </a:r>
                    </a:p>
                  </a:txBody>
                  <a:tcPr/>
                </a:tc>
                <a:tc>
                  <a:txBody>
                    <a:bodyPr/>
                    <a:lstStyle/>
                    <a:p>
                      <a:r>
                        <a:rPr lang="en-US" dirty="0"/>
                        <a:t>1</a:t>
                      </a:r>
                    </a:p>
                  </a:txBody>
                  <a:tcPr/>
                </a:tc>
                <a:tc>
                  <a:txBody>
                    <a:bodyPr/>
                    <a:lstStyle/>
                    <a:p>
                      <a:r>
                        <a:rPr lang="en-US" dirty="0" err="1"/>
                        <a:t>Qn</a:t>
                      </a:r>
                      <a:r>
                        <a:rPr lang="en-US" dirty="0"/>
                        <a:t>’ (toggle)</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nvGraphicFramePr>
        <p:xfrm>
          <a:off x="838200" y="2052520"/>
          <a:ext cx="4136325" cy="3449380"/>
        </p:xfrm>
        <a:graphic>
          <a:graphicData uri="http://schemas.openxmlformats.org/drawingml/2006/table">
            <a:tbl>
              <a:tblPr firstRow="1" bandRow="1">
                <a:tableStyleId>{5940675A-B579-460E-94D1-54222C63F5DA}</a:tableStyleId>
              </a:tblPr>
              <a:tblGrid>
                <a:gridCol w="1378775">
                  <a:extLst>
                    <a:ext uri="{9D8B030D-6E8A-4147-A177-3AD203B41FA5}">
                      <a16:colId xmlns:a16="http://schemas.microsoft.com/office/drawing/2014/main" val="20000"/>
                    </a:ext>
                  </a:extLst>
                </a:gridCol>
                <a:gridCol w="1378775">
                  <a:extLst>
                    <a:ext uri="{9D8B030D-6E8A-4147-A177-3AD203B41FA5}">
                      <a16:colId xmlns:a16="http://schemas.microsoft.com/office/drawing/2014/main" val="20001"/>
                    </a:ext>
                  </a:extLst>
                </a:gridCol>
                <a:gridCol w="1378775">
                  <a:extLst>
                    <a:ext uri="{9D8B030D-6E8A-4147-A177-3AD203B41FA5}">
                      <a16:colId xmlns:a16="http://schemas.microsoft.com/office/drawing/2014/main" val="20002"/>
                    </a:ext>
                  </a:extLst>
                </a:gridCol>
              </a:tblGrid>
              <a:tr h="689876">
                <a:tc>
                  <a:txBody>
                    <a:bodyPr/>
                    <a:lstStyle/>
                    <a:p>
                      <a:pPr algn="ctr"/>
                      <a:r>
                        <a:rPr lang="en-US" dirty="0" err="1">
                          <a:solidFill>
                            <a:srgbClr val="FF0000"/>
                          </a:solidFill>
                        </a:rPr>
                        <a:t>Qn</a:t>
                      </a:r>
                      <a:endParaRPr lang="en-US" dirty="0">
                        <a:solidFill>
                          <a:srgbClr val="FF0000"/>
                        </a:solidFill>
                      </a:endParaRPr>
                    </a:p>
                  </a:txBody>
                  <a:tcPr/>
                </a:tc>
                <a:tc>
                  <a:txBody>
                    <a:bodyPr/>
                    <a:lstStyle/>
                    <a:p>
                      <a:r>
                        <a:rPr lang="en-US" dirty="0"/>
                        <a:t>T</a:t>
                      </a:r>
                    </a:p>
                  </a:txBody>
                  <a:tcPr/>
                </a:tc>
                <a:tc>
                  <a:txBody>
                    <a:bodyPr/>
                    <a:lstStyle/>
                    <a:p>
                      <a:pPr algn="ctr"/>
                      <a:r>
                        <a:rPr lang="en-US" dirty="0">
                          <a:solidFill>
                            <a:srgbClr val="FF0000"/>
                          </a:solidFill>
                        </a:rPr>
                        <a:t>Qn+1</a:t>
                      </a:r>
                    </a:p>
                  </a:txBody>
                  <a:tcPr/>
                </a:tc>
                <a:extLst>
                  <a:ext uri="{0D108BD9-81ED-4DB2-BD59-A6C34878D82A}">
                    <a16:rowId xmlns:a16="http://schemas.microsoft.com/office/drawing/2014/main" val="10000"/>
                  </a:ext>
                </a:extLst>
              </a:tr>
              <a:tr h="689876">
                <a:tc>
                  <a:txBody>
                    <a:bodyPr/>
                    <a:lstStyle/>
                    <a:p>
                      <a:pPr algn="ctr"/>
                      <a:r>
                        <a:rPr lang="en-US" dirty="0">
                          <a:solidFill>
                            <a:srgbClr val="FF0000"/>
                          </a:solidFill>
                        </a:rPr>
                        <a:t>0</a:t>
                      </a:r>
                    </a:p>
                  </a:txBody>
                  <a:tcPr/>
                </a:tc>
                <a:tc>
                  <a:txBody>
                    <a:bodyPr/>
                    <a:lstStyle/>
                    <a:p>
                      <a:r>
                        <a:rPr lang="en-US" dirty="0"/>
                        <a:t>0</a:t>
                      </a:r>
                    </a:p>
                  </a:txBody>
                  <a:tcPr/>
                </a:tc>
                <a:tc>
                  <a:txBody>
                    <a:bodyPr/>
                    <a:lstStyle/>
                    <a:p>
                      <a:pPr algn="ctr"/>
                      <a:r>
                        <a:rPr lang="en-US" dirty="0">
                          <a:solidFill>
                            <a:srgbClr val="FF0000"/>
                          </a:solidFill>
                        </a:rPr>
                        <a:t>0</a:t>
                      </a:r>
                    </a:p>
                  </a:txBody>
                  <a:tcPr/>
                </a:tc>
                <a:extLst>
                  <a:ext uri="{0D108BD9-81ED-4DB2-BD59-A6C34878D82A}">
                    <a16:rowId xmlns:a16="http://schemas.microsoft.com/office/drawing/2014/main" val="10001"/>
                  </a:ext>
                </a:extLst>
              </a:tr>
              <a:tr h="689876">
                <a:tc>
                  <a:txBody>
                    <a:bodyPr/>
                    <a:lstStyle/>
                    <a:p>
                      <a:pPr algn="ctr"/>
                      <a:r>
                        <a:rPr lang="en-US" dirty="0">
                          <a:solidFill>
                            <a:srgbClr val="FF0000"/>
                          </a:solidFill>
                        </a:rPr>
                        <a:t>0</a:t>
                      </a:r>
                    </a:p>
                  </a:txBody>
                  <a:tcPr/>
                </a:tc>
                <a:tc>
                  <a:txBody>
                    <a:bodyPr/>
                    <a:lstStyle/>
                    <a:p>
                      <a:r>
                        <a:rPr lang="en-US" dirty="0"/>
                        <a:t>1</a:t>
                      </a:r>
                    </a:p>
                  </a:txBody>
                  <a:tcPr/>
                </a:tc>
                <a:tc>
                  <a:txBody>
                    <a:bodyPr/>
                    <a:lstStyle/>
                    <a:p>
                      <a:pPr algn="ctr"/>
                      <a:r>
                        <a:rPr lang="en-US" dirty="0">
                          <a:solidFill>
                            <a:srgbClr val="FF0000"/>
                          </a:solidFill>
                        </a:rPr>
                        <a:t>1</a:t>
                      </a:r>
                    </a:p>
                  </a:txBody>
                  <a:tcPr/>
                </a:tc>
                <a:extLst>
                  <a:ext uri="{0D108BD9-81ED-4DB2-BD59-A6C34878D82A}">
                    <a16:rowId xmlns:a16="http://schemas.microsoft.com/office/drawing/2014/main" val="10002"/>
                  </a:ext>
                </a:extLst>
              </a:tr>
              <a:tr h="689876">
                <a:tc>
                  <a:txBody>
                    <a:bodyPr/>
                    <a:lstStyle/>
                    <a:p>
                      <a:pPr algn="ctr"/>
                      <a:r>
                        <a:rPr lang="en-US" dirty="0">
                          <a:solidFill>
                            <a:srgbClr val="FF0000"/>
                          </a:solidFill>
                        </a:rPr>
                        <a:t>1</a:t>
                      </a:r>
                    </a:p>
                  </a:txBody>
                  <a:tcPr/>
                </a:tc>
                <a:tc>
                  <a:txBody>
                    <a:bodyPr/>
                    <a:lstStyle/>
                    <a:p>
                      <a:r>
                        <a:rPr lang="en-US" dirty="0"/>
                        <a:t>0</a:t>
                      </a:r>
                    </a:p>
                  </a:txBody>
                  <a:tcPr/>
                </a:tc>
                <a:tc>
                  <a:txBody>
                    <a:bodyPr/>
                    <a:lstStyle/>
                    <a:p>
                      <a:pPr algn="ctr"/>
                      <a:r>
                        <a:rPr lang="en-US" dirty="0">
                          <a:solidFill>
                            <a:srgbClr val="FF0000"/>
                          </a:solidFill>
                        </a:rPr>
                        <a:t>1</a:t>
                      </a:r>
                    </a:p>
                  </a:txBody>
                  <a:tcPr/>
                </a:tc>
                <a:extLst>
                  <a:ext uri="{0D108BD9-81ED-4DB2-BD59-A6C34878D82A}">
                    <a16:rowId xmlns:a16="http://schemas.microsoft.com/office/drawing/2014/main" val="10003"/>
                  </a:ext>
                </a:extLst>
              </a:tr>
              <a:tr h="689876">
                <a:tc>
                  <a:txBody>
                    <a:bodyPr/>
                    <a:lstStyle/>
                    <a:p>
                      <a:pPr algn="ctr"/>
                      <a:r>
                        <a:rPr lang="en-US" dirty="0">
                          <a:solidFill>
                            <a:srgbClr val="FF0000"/>
                          </a:solidFill>
                        </a:rPr>
                        <a:t>1</a:t>
                      </a:r>
                    </a:p>
                  </a:txBody>
                  <a:tcPr/>
                </a:tc>
                <a:tc>
                  <a:txBody>
                    <a:bodyPr/>
                    <a:lstStyle/>
                    <a:p>
                      <a:r>
                        <a:rPr lang="en-US" dirty="0"/>
                        <a:t>1</a:t>
                      </a:r>
                    </a:p>
                  </a:txBody>
                  <a:tcPr/>
                </a:tc>
                <a:tc>
                  <a:txBody>
                    <a:bodyPr/>
                    <a:lstStyle/>
                    <a:p>
                      <a:pPr algn="ctr"/>
                      <a:r>
                        <a:rPr lang="en-US" dirty="0">
                          <a:solidFill>
                            <a:srgbClr val="FF0000"/>
                          </a:solidFill>
                        </a:rPr>
                        <a:t>0</a:t>
                      </a:r>
                    </a:p>
                  </a:txBody>
                  <a:tcPr/>
                </a:tc>
                <a:extLst>
                  <a:ext uri="{0D108BD9-81ED-4DB2-BD59-A6C34878D82A}">
                    <a16:rowId xmlns:a16="http://schemas.microsoft.com/office/drawing/2014/main" val="10004"/>
                  </a:ext>
                </a:extLst>
              </a:tr>
            </a:tbl>
          </a:graphicData>
        </a:graphic>
      </p:graphicFrame>
      <p:sp>
        <p:nvSpPr>
          <p:cNvPr id="7" name="TextBox 6"/>
          <p:cNvSpPr txBox="1"/>
          <p:nvPr/>
        </p:nvSpPr>
        <p:spPr>
          <a:xfrm>
            <a:off x="1162373" y="5842861"/>
            <a:ext cx="3471620" cy="369332"/>
          </a:xfrm>
          <a:prstGeom prst="rect">
            <a:avLst/>
          </a:prstGeom>
          <a:noFill/>
        </p:spPr>
        <p:txBody>
          <a:bodyPr wrap="square" rtlCol="0">
            <a:spAutoFit/>
          </a:bodyPr>
          <a:lstStyle/>
          <a:p>
            <a:r>
              <a:rPr lang="en-US" dirty="0"/>
              <a:t>Characteristic Table</a:t>
            </a:r>
          </a:p>
        </p:txBody>
      </p:sp>
      <p:graphicFrame>
        <p:nvGraphicFramePr>
          <p:cNvPr id="8" name="Table 7"/>
          <p:cNvGraphicFramePr>
            <a:graphicFrameLocks noGrp="1"/>
          </p:cNvGraphicFramePr>
          <p:nvPr/>
        </p:nvGraphicFramePr>
        <p:xfrm>
          <a:off x="5829087" y="2052517"/>
          <a:ext cx="5360691" cy="3012800"/>
        </p:xfrm>
        <a:graphic>
          <a:graphicData uri="http://schemas.openxmlformats.org/drawingml/2006/table">
            <a:tbl>
              <a:tblPr firstRow="1" bandRow="1">
                <a:tableStyleId>{5940675A-B579-460E-94D1-54222C63F5DA}</a:tableStyleId>
              </a:tblPr>
              <a:tblGrid>
                <a:gridCol w="1786897">
                  <a:extLst>
                    <a:ext uri="{9D8B030D-6E8A-4147-A177-3AD203B41FA5}">
                      <a16:colId xmlns:a16="http://schemas.microsoft.com/office/drawing/2014/main" val="20000"/>
                    </a:ext>
                  </a:extLst>
                </a:gridCol>
                <a:gridCol w="1786897">
                  <a:extLst>
                    <a:ext uri="{9D8B030D-6E8A-4147-A177-3AD203B41FA5}">
                      <a16:colId xmlns:a16="http://schemas.microsoft.com/office/drawing/2014/main" val="20001"/>
                    </a:ext>
                  </a:extLst>
                </a:gridCol>
                <a:gridCol w="1786897">
                  <a:extLst>
                    <a:ext uri="{9D8B030D-6E8A-4147-A177-3AD203B41FA5}">
                      <a16:colId xmlns:a16="http://schemas.microsoft.com/office/drawing/2014/main" val="20002"/>
                    </a:ext>
                  </a:extLst>
                </a:gridCol>
              </a:tblGrid>
              <a:tr h="602560">
                <a:tc>
                  <a:txBody>
                    <a:bodyPr/>
                    <a:lstStyle/>
                    <a:p>
                      <a:r>
                        <a:rPr lang="en-US" dirty="0" err="1"/>
                        <a:t>Qn</a:t>
                      </a:r>
                      <a:endParaRPr lang="en-US" dirty="0"/>
                    </a:p>
                  </a:txBody>
                  <a:tcPr/>
                </a:tc>
                <a:tc>
                  <a:txBody>
                    <a:bodyPr/>
                    <a:lstStyle/>
                    <a:p>
                      <a:r>
                        <a:rPr lang="en-US" dirty="0"/>
                        <a:t>Qn+1</a:t>
                      </a:r>
                    </a:p>
                  </a:txBody>
                  <a:tcPr/>
                </a:tc>
                <a:tc>
                  <a:txBody>
                    <a:bodyPr/>
                    <a:lstStyle/>
                    <a:p>
                      <a:r>
                        <a:rPr lang="en-US" dirty="0"/>
                        <a:t>T</a:t>
                      </a:r>
                    </a:p>
                  </a:txBody>
                  <a:tcPr/>
                </a:tc>
                <a:extLst>
                  <a:ext uri="{0D108BD9-81ED-4DB2-BD59-A6C34878D82A}">
                    <a16:rowId xmlns:a16="http://schemas.microsoft.com/office/drawing/2014/main" val="10000"/>
                  </a:ext>
                </a:extLst>
              </a:tr>
              <a:tr h="602560">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0001"/>
                  </a:ext>
                </a:extLst>
              </a:tr>
              <a:tr h="602560">
                <a:tc>
                  <a:txBody>
                    <a:bodyPr/>
                    <a:lstStyle/>
                    <a:p>
                      <a:r>
                        <a:rPr lang="en-US" dirty="0"/>
                        <a:t>0</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10002"/>
                  </a:ext>
                </a:extLst>
              </a:tr>
              <a:tr h="602560">
                <a:tc>
                  <a:txBody>
                    <a:bodyPr/>
                    <a:lstStyle/>
                    <a:p>
                      <a:r>
                        <a:rPr lang="en-US" dirty="0"/>
                        <a:t>1</a:t>
                      </a:r>
                    </a:p>
                  </a:txBody>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10003"/>
                  </a:ext>
                </a:extLst>
              </a:tr>
              <a:tr h="602560">
                <a:tc>
                  <a:txBody>
                    <a:bodyPr/>
                    <a:lstStyle/>
                    <a:p>
                      <a:r>
                        <a:rPr lang="en-US" dirty="0"/>
                        <a:t>1</a:t>
                      </a:r>
                    </a:p>
                  </a:txBody>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10004"/>
                  </a:ext>
                </a:extLst>
              </a:tr>
            </a:tbl>
          </a:graphicData>
        </a:graphic>
      </p:graphicFrame>
      <p:sp>
        <p:nvSpPr>
          <p:cNvPr id="2" name="Text Box 1"/>
          <p:cNvSpPr txBox="1"/>
          <p:nvPr/>
        </p:nvSpPr>
        <p:spPr>
          <a:xfrm>
            <a:off x="7717790" y="5412105"/>
            <a:ext cx="1608455" cy="368300"/>
          </a:xfrm>
          <a:prstGeom prst="rect">
            <a:avLst/>
          </a:prstGeom>
          <a:noFill/>
        </p:spPr>
        <p:txBody>
          <a:bodyPr wrap="none" rtlCol="0" anchor="t">
            <a:spAutoFit/>
          </a:bodyPr>
          <a:lstStyle/>
          <a:p>
            <a:r>
              <a:rPr lang="en-GB" altLang="en-US">
                <a:sym typeface="+mn-ea"/>
              </a:rPr>
              <a:t>Excitation table</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341</TotalTime>
  <Words>1590</Words>
  <Application>Microsoft Office PowerPoint</Application>
  <PresentationFormat>Widescreen</PresentationFormat>
  <Paragraphs>374</Paragraphs>
  <Slides>24</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Calibri</vt:lpstr>
      <vt:lpstr>Calibri Light</vt:lpstr>
      <vt:lpstr>Cambria Math</vt:lpstr>
      <vt:lpstr>Google Sans Text</vt:lpstr>
      <vt:lpstr>ProximaNova</vt:lpstr>
      <vt:lpstr>TimesTenLTStd-Italic</vt:lpstr>
      <vt:lpstr>TimesTenLTStd-Roman</vt:lpstr>
      <vt:lpstr>Office Theme</vt:lpstr>
      <vt:lpstr>Flip-Flops </vt:lpstr>
      <vt:lpstr>Flip-Flop</vt:lpstr>
      <vt:lpstr>PowerPoint Presentation</vt:lpstr>
      <vt:lpstr>Triggering Method </vt:lpstr>
      <vt:lpstr>PowerPoint Presentation</vt:lpstr>
      <vt:lpstr>What is Clock? </vt:lpstr>
      <vt:lpstr>PowerPoint Presentation</vt:lpstr>
      <vt:lpstr>Types of Flip-Flop</vt:lpstr>
      <vt:lpstr>SR Flip-Flop</vt:lpstr>
      <vt:lpstr>PowerPoint Presentation</vt:lpstr>
      <vt:lpstr>PowerPoint Presentation</vt:lpstr>
      <vt:lpstr>PowerPoint Presentation</vt:lpstr>
      <vt:lpstr>PowerPoint Presentation</vt:lpstr>
      <vt:lpstr>PowerPoint Presentation</vt:lpstr>
      <vt:lpstr>D-(Data) Flip-Fop</vt:lpstr>
      <vt:lpstr>PowerPoint Presentation</vt:lpstr>
      <vt:lpstr>Disadvantages of SR and D</vt:lpstr>
      <vt:lpstr>JK Flip Flop</vt:lpstr>
      <vt:lpstr>JK Flip-Flop</vt:lpstr>
      <vt:lpstr>PowerPoint Presentation</vt:lpstr>
      <vt:lpstr>PowerPoint Presentation</vt:lpstr>
      <vt:lpstr>Toggle Flip-Flop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Flip-Flops </dc:title>
  <dc:creator>Saher Ashraf</dc:creator>
  <cp:lastModifiedBy>Noor Links</cp:lastModifiedBy>
  <cp:revision>134</cp:revision>
  <dcterms:created xsi:type="dcterms:W3CDTF">2020-04-01T10:23:00Z</dcterms:created>
  <dcterms:modified xsi:type="dcterms:W3CDTF">2023-06-14T11:31:51Z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C9DA170CA2CF4BF7A866AAA4AE9453AE</vt:lpwstr>
  </property>
  <property fmtid="{D5CDD505-2E9C-101B-9397-08002B2CF9AE}" pid="3" name="KSOProductBuildVer">
    <vt:lpwstr>1033-11.2.0.10382</vt:lpwstr>
  </property>
</Properties>
</file>
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8" r:id="rId3"/>
    <p:sldId id="306" r:id="rId4"/>
    <p:sldId id="351" r:id="rId5"/>
    <p:sldId id="345" r:id="rId6"/>
    <p:sldId id="350" r:id="rId7"/>
    <p:sldId id="348" r:id="rId8"/>
    <p:sldId id="349" r:id="rId9"/>
    <p:sldId id="346" r:id="rId10"/>
    <p:sldId id="367" r:id="rId11"/>
    <p:sldId id="368" r:id="rId12"/>
    <p:sldId id="369" r:id="rId13"/>
    <p:sldId id="361" r:id="rId14"/>
    <p:sldId id="363" r:id="rId15"/>
    <p:sldId id="364" r:id="rId16"/>
    <p:sldId id="365" r:id="rId17"/>
    <p:sldId id="366" r:id="rId18"/>
    <p:sldId id="362" r:id="rId19"/>
    <p:sldId id="353" r:id="rId20"/>
    <p:sldId id="356" r:id="rId21"/>
    <p:sldId id="357" r:id="rId22"/>
    <p:sldId id="378" r:id="rId23"/>
    <p:sldId id="359" r:id="rId24"/>
    <p:sldId id="370" r:id="rId25"/>
    <p:sldId id="371" r:id="rId26"/>
    <p:sldId id="372" r:id="rId27"/>
    <p:sldId id="373" r:id="rId28"/>
    <p:sldId id="374" r:id="rId29"/>
    <p:sldId id="375" r:id="rId30"/>
    <p:sldId id="37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5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36" autoAdjust="0"/>
    <p:restoredTop sz="93455" autoAdjust="0"/>
  </p:normalViewPr>
  <p:slideViewPr>
    <p:cSldViewPr snapToGrid="0">
      <p:cViewPr varScale="1">
        <p:scale>
          <a:sx n="69" d="100"/>
          <a:sy n="69" d="100"/>
        </p:scale>
        <p:origin x="780" y="60"/>
      </p:cViewPr>
      <p:guideLst/>
    </p:cSldViewPr>
  </p:slideViewPr>
  <p:notesTextViewPr>
    <p:cViewPr>
      <p:scale>
        <a:sx n="1" d="1"/>
        <a:sy n="1" d="1"/>
      </p:scale>
      <p:origin x="0" y="0"/>
    </p:cViewPr>
  </p:notesTextViewPr>
  <p:sorterViewPr>
    <p:cViewPr>
      <p:scale>
        <a:sx n="100" d="100"/>
        <a:sy n="100" d="100"/>
      </p:scale>
      <p:origin x="0" y="-270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B77550-ED4A-5348-AB79-4F30BDEB5BDE}" type="datetimeFigureOut">
              <a:rPr lang="x-none" smtClean="0"/>
              <a:t>1/7/2023</a:t>
            </a:fld>
            <a:endParaRPr lang="x-non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CC6A2C-6D46-474D-BCC5-C205DA9DA6A3}" type="slidenum">
              <a:rPr lang="x-none" smtClean="0"/>
              <a:t>‹#›</a:t>
            </a:fld>
            <a:endParaRPr lang="x-none"/>
          </a:p>
        </p:txBody>
      </p:sp>
    </p:spTree>
    <p:extLst>
      <p:ext uri="{BB962C8B-B14F-4D97-AF65-F5344CB8AC3E}">
        <p14:creationId xmlns:p14="http://schemas.microsoft.com/office/powerpoint/2010/main" val="2606840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a-ET" dirty="0"/>
          </a:p>
        </p:txBody>
      </p:sp>
      <p:sp>
        <p:nvSpPr>
          <p:cNvPr id="4" name="Slide Number Placeholder 3"/>
          <p:cNvSpPr>
            <a:spLocks noGrp="1"/>
          </p:cNvSpPr>
          <p:nvPr>
            <p:ph type="sldNum" sz="quarter" idx="5"/>
          </p:nvPr>
        </p:nvSpPr>
        <p:spPr/>
        <p:txBody>
          <a:bodyPr/>
          <a:lstStyle/>
          <a:p>
            <a:fld id="{54CC6A2C-6D46-474D-BCC5-C205DA9DA6A3}" type="slidenum">
              <a:rPr lang="x-none" smtClean="0"/>
              <a:t>2</a:t>
            </a:fld>
            <a:endParaRPr lang="x-none"/>
          </a:p>
        </p:txBody>
      </p:sp>
    </p:spTree>
    <p:extLst>
      <p:ext uri="{BB962C8B-B14F-4D97-AF65-F5344CB8AC3E}">
        <p14:creationId xmlns:p14="http://schemas.microsoft.com/office/powerpoint/2010/main" val="33446811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Hackers</a:t>
            </a:r>
            <a:r>
              <a:rPr lang="en-US" sz="1200" b="0" i="0" kern="1200" dirty="0">
                <a:solidFill>
                  <a:schemeClr val="tx1"/>
                </a:solidFill>
                <a:effectLst/>
                <a:latin typeface="+mn-lt"/>
                <a:ea typeface="+mn-ea"/>
                <a:cs typeface="+mn-cs"/>
              </a:rPr>
              <a:t> constantly seek further knowledge; freely share what they have discovered, and never intentionally damage data.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intruder</a:t>
            </a:r>
            <a:r>
              <a:rPr lang="en-US" sz="1200" b="0" i="0" kern="1200" dirty="0">
                <a:solidFill>
                  <a:schemeClr val="tx1"/>
                </a:solidFill>
                <a:effectLst/>
                <a:latin typeface="+mn-lt"/>
                <a:ea typeface="+mn-ea"/>
                <a:cs typeface="+mn-cs"/>
              </a:rPr>
              <a:t> is one who breaks into or otherwise violates the system integrity of remote machines with malicious intent.</a:t>
            </a:r>
            <a:endParaRPr lang="en-US" dirty="0"/>
          </a:p>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5</a:t>
            </a:fld>
            <a:endParaRPr lang="x-none"/>
          </a:p>
        </p:txBody>
      </p:sp>
    </p:spTree>
    <p:extLst>
      <p:ext uri="{BB962C8B-B14F-4D97-AF65-F5344CB8AC3E}">
        <p14:creationId xmlns:p14="http://schemas.microsoft.com/office/powerpoint/2010/main" val="1667154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ICT: Information and Communication Technology</a:t>
            </a:r>
          </a:p>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6</a:t>
            </a:fld>
            <a:endParaRPr lang="x-none"/>
          </a:p>
        </p:txBody>
      </p:sp>
    </p:spTree>
    <p:extLst>
      <p:ext uri="{BB962C8B-B14F-4D97-AF65-F5344CB8AC3E}">
        <p14:creationId xmlns:p14="http://schemas.microsoft.com/office/powerpoint/2010/main" val="3668961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Content Filtering software is software that restricts or controls the content an Internet user is capable to access, especially when utilized to restrict material delivered over the Internet via the Web, e-mail, or other means.</a:t>
            </a:r>
          </a:p>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10</a:t>
            </a:fld>
            <a:endParaRPr lang="x-none"/>
          </a:p>
        </p:txBody>
      </p:sp>
    </p:spTree>
    <p:extLst>
      <p:ext uri="{BB962C8B-B14F-4D97-AF65-F5344CB8AC3E}">
        <p14:creationId xmlns:p14="http://schemas.microsoft.com/office/powerpoint/2010/main" val="38484406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11</a:t>
            </a:fld>
            <a:endParaRPr lang="x-none"/>
          </a:p>
        </p:txBody>
      </p:sp>
    </p:spTree>
    <p:extLst>
      <p:ext uri="{BB962C8B-B14F-4D97-AF65-F5344CB8AC3E}">
        <p14:creationId xmlns:p14="http://schemas.microsoft.com/office/powerpoint/2010/main" val="37207770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12</a:t>
            </a:fld>
            <a:endParaRPr lang="x-none"/>
          </a:p>
        </p:txBody>
      </p:sp>
    </p:spTree>
    <p:extLst>
      <p:ext uri="{BB962C8B-B14F-4D97-AF65-F5344CB8AC3E}">
        <p14:creationId xmlns:p14="http://schemas.microsoft.com/office/powerpoint/2010/main" val="25955855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Viruses</a:t>
            </a:r>
            <a:r>
              <a:rPr lang="en-US" sz="1200" b="0" i="0" kern="1200" dirty="0">
                <a:solidFill>
                  <a:schemeClr val="tx1"/>
                </a:solidFill>
                <a:effectLst/>
                <a:latin typeface="+mn-lt"/>
                <a:ea typeface="+mn-ea"/>
                <a:cs typeface="+mn-cs"/>
              </a:rPr>
              <a:t> are malware that are attached to other files in your system and may be used to destroy your data. Viruses have many capabilities, but, unlike worms, they usually require human interaction to spread from system to system, even if the user is unaware they are spreading it.</a:t>
            </a:r>
          </a:p>
          <a:p>
            <a:r>
              <a:rPr lang="en-US" sz="1200" b="1" i="0" kern="1200" dirty="0">
                <a:solidFill>
                  <a:schemeClr val="tx1"/>
                </a:solidFill>
                <a:effectLst/>
                <a:latin typeface="+mn-lt"/>
                <a:ea typeface="+mn-ea"/>
                <a:cs typeface="+mn-cs"/>
              </a:rPr>
              <a:t>Worms</a:t>
            </a:r>
            <a:r>
              <a:rPr lang="en-US" sz="1200" b="0" i="0" kern="1200" dirty="0">
                <a:solidFill>
                  <a:schemeClr val="tx1"/>
                </a:solidFill>
                <a:effectLst/>
                <a:latin typeface="+mn-lt"/>
                <a:ea typeface="+mn-ea"/>
                <a:cs typeface="+mn-cs"/>
              </a:rPr>
              <a:t> are like viruses, but, they have the ability to spread themselves from computer to computer, all on their own. They know how to attach themselves to portable storage devices, like USB drives or removable hard drives, or to move through the network by automatically moving to connected machines.</a:t>
            </a:r>
          </a:p>
          <a:p>
            <a:r>
              <a:rPr lang="en-US" sz="1200" b="1" i="0" kern="1200" dirty="0">
                <a:solidFill>
                  <a:schemeClr val="tx1"/>
                </a:solidFill>
                <a:effectLst/>
                <a:latin typeface="+mn-lt"/>
                <a:ea typeface="+mn-ea"/>
                <a:cs typeface="+mn-cs"/>
              </a:rPr>
              <a:t>Ransomware</a:t>
            </a:r>
            <a:r>
              <a:rPr lang="en-US" sz="1200" b="0" i="0" kern="1200" dirty="0">
                <a:solidFill>
                  <a:schemeClr val="tx1"/>
                </a:solidFill>
                <a:effectLst/>
                <a:latin typeface="+mn-lt"/>
                <a:ea typeface="+mn-ea"/>
                <a:cs typeface="+mn-cs"/>
              </a:rPr>
              <a:t> is a relatively new term for malware that, when installed on your system, makes all of your files unreadable, holding your data hostage until you pay the hacker the ransom. Ransomware may be delivered by a virus or by a worm and there is no guarantee that, even if you pay the ransom, you'll get your data restored.</a:t>
            </a:r>
          </a:p>
          <a:p>
            <a:r>
              <a:rPr lang="en-US" sz="1200" b="1" i="0" kern="1200" dirty="0">
                <a:solidFill>
                  <a:schemeClr val="tx1"/>
                </a:solidFill>
                <a:effectLst/>
                <a:latin typeface="+mn-lt"/>
                <a:ea typeface="+mn-ea"/>
                <a:cs typeface="+mn-cs"/>
              </a:rPr>
              <a:t>Spyware</a:t>
            </a:r>
            <a:r>
              <a:rPr lang="en-US" sz="1200" b="0" i="0" kern="1200" dirty="0">
                <a:solidFill>
                  <a:schemeClr val="tx1"/>
                </a:solidFill>
                <a:effectLst/>
                <a:latin typeface="+mn-lt"/>
                <a:ea typeface="+mn-ea"/>
                <a:cs typeface="+mn-cs"/>
              </a:rPr>
              <a:t> is malware that steals your data and may be used to spy on you by using your webcam or microphone without your knowledge. Once spyware is installed, it may steal your sensitive data by recording the login information you use or looking for sensitive files on your computer, then sending that data back to an attacker. In recent months, hackers have been able to access the webcam and microphone of computers and use pictures, video, or audio recordings to blackmail their victims.</a:t>
            </a:r>
          </a:p>
          <a:p>
            <a:r>
              <a:rPr lang="en-US" sz="1200" b="1" i="0" kern="1200" dirty="0">
                <a:solidFill>
                  <a:schemeClr val="tx1"/>
                </a:solidFill>
                <a:effectLst/>
                <a:latin typeface="+mn-lt"/>
                <a:ea typeface="+mn-ea"/>
                <a:cs typeface="+mn-cs"/>
              </a:rPr>
              <a:t>Trojan Horses</a:t>
            </a:r>
            <a:r>
              <a:rPr lang="en-US" sz="1200" b="0" i="0" kern="1200" dirty="0">
                <a:solidFill>
                  <a:schemeClr val="tx1"/>
                </a:solidFill>
                <a:effectLst/>
                <a:latin typeface="+mn-lt"/>
                <a:ea typeface="+mn-ea"/>
                <a:cs typeface="+mn-cs"/>
              </a:rPr>
              <a:t> are a special kind of virus. Like the famed wooden horse used by the Greeks to infiltrate the walled city of Troy, Trojan horse viruses are used to deliver other types of malware by hiding them inside programs or files that look legitimate.</a:t>
            </a:r>
          </a:p>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20</a:t>
            </a:fld>
            <a:endParaRPr lang="x-none"/>
          </a:p>
        </p:txBody>
      </p:sp>
    </p:spTree>
    <p:extLst>
      <p:ext uri="{BB962C8B-B14F-4D97-AF65-F5344CB8AC3E}">
        <p14:creationId xmlns:p14="http://schemas.microsoft.com/office/powerpoint/2010/main" val="11218952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21</a:t>
            </a:fld>
            <a:endParaRPr lang="x-none"/>
          </a:p>
        </p:txBody>
      </p:sp>
    </p:spTree>
    <p:extLst>
      <p:ext uri="{BB962C8B-B14F-4D97-AF65-F5344CB8AC3E}">
        <p14:creationId xmlns:p14="http://schemas.microsoft.com/office/powerpoint/2010/main" val="38603866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22</a:t>
            </a:fld>
            <a:endParaRPr lang="x-none"/>
          </a:p>
        </p:txBody>
      </p:sp>
    </p:spTree>
    <p:extLst>
      <p:ext uri="{BB962C8B-B14F-4D97-AF65-F5344CB8AC3E}">
        <p14:creationId xmlns:p14="http://schemas.microsoft.com/office/powerpoint/2010/main" val="11424202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23</a:t>
            </a:fld>
            <a:endParaRPr lang="x-none"/>
          </a:p>
        </p:txBody>
      </p:sp>
    </p:spTree>
    <p:extLst>
      <p:ext uri="{BB962C8B-B14F-4D97-AF65-F5344CB8AC3E}">
        <p14:creationId xmlns:p14="http://schemas.microsoft.com/office/powerpoint/2010/main" val="41910593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24</a:t>
            </a:fld>
            <a:endParaRPr lang="x-none"/>
          </a:p>
        </p:txBody>
      </p:sp>
    </p:spTree>
    <p:extLst>
      <p:ext uri="{BB962C8B-B14F-4D97-AF65-F5344CB8AC3E}">
        <p14:creationId xmlns:p14="http://schemas.microsoft.com/office/powerpoint/2010/main" val="960400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25</a:t>
            </a:fld>
            <a:endParaRPr lang="x-none"/>
          </a:p>
        </p:txBody>
      </p:sp>
    </p:spTree>
    <p:extLst>
      <p:ext uri="{BB962C8B-B14F-4D97-AF65-F5344CB8AC3E}">
        <p14:creationId xmlns:p14="http://schemas.microsoft.com/office/powerpoint/2010/main" val="33018201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26</a:t>
            </a:fld>
            <a:endParaRPr lang="x-none"/>
          </a:p>
        </p:txBody>
      </p:sp>
    </p:spTree>
    <p:extLst>
      <p:ext uri="{BB962C8B-B14F-4D97-AF65-F5344CB8AC3E}">
        <p14:creationId xmlns:p14="http://schemas.microsoft.com/office/powerpoint/2010/main" val="10062644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27</a:t>
            </a:fld>
            <a:endParaRPr lang="x-none"/>
          </a:p>
        </p:txBody>
      </p:sp>
    </p:spTree>
    <p:extLst>
      <p:ext uri="{BB962C8B-B14F-4D97-AF65-F5344CB8AC3E}">
        <p14:creationId xmlns:p14="http://schemas.microsoft.com/office/powerpoint/2010/main" val="22514804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28</a:t>
            </a:fld>
            <a:endParaRPr lang="x-none"/>
          </a:p>
        </p:txBody>
      </p:sp>
    </p:spTree>
    <p:extLst>
      <p:ext uri="{BB962C8B-B14F-4D97-AF65-F5344CB8AC3E}">
        <p14:creationId xmlns:p14="http://schemas.microsoft.com/office/powerpoint/2010/main" val="34289613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29</a:t>
            </a:fld>
            <a:endParaRPr lang="x-none"/>
          </a:p>
        </p:txBody>
      </p:sp>
    </p:spTree>
    <p:extLst>
      <p:ext uri="{BB962C8B-B14F-4D97-AF65-F5344CB8AC3E}">
        <p14:creationId xmlns:p14="http://schemas.microsoft.com/office/powerpoint/2010/main" val="1490803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7ED264D-F1CD-4A0E-86DE-829D531D8CC1}" type="datetimeFigureOut">
              <a:rPr lang="en-US" smtClean="0"/>
              <a:t>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45237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2195129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D264D-F1CD-4A0E-86DE-829D531D8CC1}" type="datetimeFigureOut">
              <a:rPr lang="en-US" smtClean="0"/>
              <a:t>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730313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7ED264D-F1CD-4A0E-86DE-829D531D8CC1}" type="datetimeFigureOut">
              <a:rPr lang="en-US" smtClean="0"/>
              <a:t>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84983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7ED264D-F1CD-4A0E-86DE-829D531D8CC1}" type="datetimeFigureOut">
              <a:rPr lang="en-US" smtClean="0"/>
              <a:t>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945637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ED264D-F1CD-4A0E-86DE-829D531D8CC1}" type="datetimeFigureOut">
              <a:rPr lang="en-US" smtClean="0"/>
              <a:t>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685607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ED264D-F1CD-4A0E-86DE-829D531D8CC1}" type="datetimeFigureOut">
              <a:rPr lang="en-US" smtClean="0"/>
              <a:t>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3444612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ED264D-F1CD-4A0E-86DE-829D531D8CC1}" type="datetimeFigureOut">
              <a:rPr lang="en-US" smtClean="0"/>
              <a:t>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90698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ED264D-F1CD-4A0E-86DE-829D531D8CC1}" type="datetimeFigureOut">
              <a:rPr lang="en-US" smtClean="0"/>
              <a:t>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920315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11558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30028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ED264D-F1CD-4A0E-86DE-829D531D8CC1}" type="datetimeFigureOut">
              <a:rPr lang="en-US" smtClean="0"/>
              <a:t>1/7/2023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F331B4-1EE6-4448-AE73-C8BAED0E2A35}" type="slidenum">
              <a:rPr lang="en-US" smtClean="0"/>
              <a:t>‹#›</a:t>
            </a:fld>
            <a:endParaRPr lang="en-US"/>
          </a:p>
        </p:txBody>
      </p:sp>
    </p:spTree>
    <p:extLst>
      <p:ext uri="{BB962C8B-B14F-4D97-AF65-F5344CB8AC3E}">
        <p14:creationId xmlns:p14="http://schemas.microsoft.com/office/powerpoint/2010/main" val="1808476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43696" y="748872"/>
            <a:ext cx="9144000" cy="2387600"/>
          </a:xfrm>
        </p:spPr>
        <p:txBody>
          <a:bodyPr/>
          <a:lstStyle/>
          <a:p>
            <a:r>
              <a:rPr lang="en-US" dirty="0"/>
              <a:t>Professional Practices</a:t>
            </a:r>
          </a:p>
        </p:txBody>
      </p:sp>
      <p:sp>
        <p:nvSpPr>
          <p:cNvPr id="3" name="Subtitle 2"/>
          <p:cNvSpPr>
            <a:spLocks noGrp="1"/>
          </p:cNvSpPr>
          <p:nvPr>
            <p:ph type="subTitle" idx="1"/>
          </p:nvPr>
        </p:nvSpPr>
        <p:spPr>
          <a:xfrm>
            <a:off x="1343696" y="3228547"/>
            <a:ext cx="9144000" cy="1655762"/>
          </a:xfrm>
        </p:spPr>
        <p:txBody>
          <a:bodyPr>
            <a:normAutofit fontScale="77500" lnSpcReduction="20000"/>
          </a:bodyPr>
          <a:lstStyle/>
          <a:p>
            <a:endParaRPr lang="en-US" sz="5400" dirty="0"/>
          </a:p>
          <a:p>
            <a:r>
              <a:rPr lang="en-US" sz="5400" dirty="0"/>
              <a:t>Introduction to Computer Privacy and Security Principles</a:t>
            </a:r>
            <a:endParaRPr lang="en-US" dirty="0"/>
          </a:p>
        </p:txBody>
      </p:sp>
      <p:sp>
        <p:nvSpPr>
          <p:cNvPr id="4" name="Rectangle 3"/>
          <p:cNvSpPr/>
          <p:nvPr/>
        </p:nvSpPr>
        <p:spPr>
          <a:xfrm>
            <a:off x="6087091" y="6017164"/>
            <a:ext cx="5713846" cy="584775"/>
          </a:xfrm>
          <a:prstGeom prst="rect">
            <a:avLst/>
          </a:prstGeom>
        </p:spPr>
        <p:txBody>
          <a:bodyPr wrap="square">
            <a:spAutoFit/>
          </a:bodyPr>
          <a:lstStyle/>
          <a:p>
            <a:pPr algn="just"/>
            <a:r>
              <a:rPr lang="en-US" sz="1600" i="1" dirty="0"/>
              <a:t>At the end of the day, the goals are simple: safety and security. 				</a:t>
            </a:r>
            <a:r>
              <a:rPr lang="en-US" sz="1600" b="1" i="1" dirty="0"/>
              <a:t>(Jodi </a:t>
            </a:r>
            <a:r>
              <a:rPr lang="en-US" sz="1600" b="1" i="1" dirty="0" err="1"/>
              <a:t>Rell</a:t>
            </a:r>
            <a:r>
              <a:rPr lang="en-US" sz="1600" b="1" i="1" dirty="0"/>
              <a:t>)</a:t>
            </a:r>
          </a:p>
        </p:txBody>
      </p:sp>
    </p:spTree>
    <p:extLst>
      <p:ext uri="{BB962C8B-B14F-4D97-AF65-F5344CB8AC3E}">
        <p14:creationId xmlns:p14="http://schemas.microsoft.com/office/powerpoint/2010/main" val="37348702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bwMode="auto">
          <a:xfrm>
            <a:off x="294312" y="277206"/>
            <a:ext cx="10515600" cy="163785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just"/>
            <a:r>
              <a:rPr lang="en-US" b="1" u="sng" dirty="0"/>
              <a:t>Week 14 Topic:</a:t>
            </a:r>
            <a:r>
              <a:rPr lang="en-US" b="1" dirty="0"/>
              <a:t> </a:t>
            </a:r>
            <a:r>
              <a:rPr lang="en-US" dirty="0"/>
              <a:t>Introduction to Computer Privacy and Security Principles</a:t>
            </a:r>
          </a:p>
        </p:txBody>
      </p:sp>
      <p:sp>
        <p:nvSpPr>
          <p:cNvPr id="3" name="Content Placeholder 2"/>
          <p:cNvSpPr>
            <a:spLocks noGrp="1"/>
          </p:cNvSpPr>
          <p:nvPr>
            <p:ph idx="1"/>
          </p:nvPr>
        </p:nvSpPr>
        <p:spPr>
          <a:xfrm>
            <a:off x="1052423" y="1915064"/>
            <a:ext cx="10213675" cy="4554746"/>
          </a:xfrm>
        </p:spPr>
        <p:txBody>
          <a:bodyPr>
            <a:normAutofit/>
          </a:bodyPr>
          <a:lstStyle/>
          <a:p>
            <a:pPr>
              <a:defRPr/>
            </a:pPr>
            <a:r>
              <a:rPr lang="en-US" sz="3200" dirty="0"/>
              <a:t>Introduction: </a:t>
            </a:r>
          </a:p>
          <a:p>
            <a:pPr>
              <a:defRPr/>
            </a:pPr>
            <a:r>
              <a:rPr lang="en-US" sz="3200" dirty="0"/>
              <a:t>Privacy Laws</a:t>
            </a:r>
          </a:p>
          <a:p>
            <a:pPr>
              <a:defRPr/>
            </a:pPr>
            <a:r>
              <a:rPr lang="en-US" sz="3200" dirty="0"/>
              <a:t>Content Filtering</a:t>
            </a:r>
          </a:p>
          <a:p>
            <a:pPr>
              <a:defRPr/>
            </a:pPr>
            <a:r>
              <a:rPr lang="en-US" sz="3200" dirty="0"/>
              <a:t>Potential Computer Risks &amp; Security</a:t>
            </a:r>
          </a:p>
        </p:txBody>
      </p:sp>
    </p:spTree>
    <p:extLst>
      <p:ext uri="{BB962C8B-B14F-4D97-AF65-F5344CB8AC3E}">
        <p14:creationId xmlns:p14="http://schemas.microsoft.com/office/powerpoint/2010/main" val="1382005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2390"/>
            <a:ext cx="10515600" cy="1325563"/>
          </a:xfrm>
        </p:spPr>
        <p:txBody>
          <a:bodyPr/>
          <a:lstStyle/>
          <a:p>
            <a:pPr algn="ctr"/>
            <a:r>
              <a:rPr lang="en-US" dirty="0"/>
              <a:t>Introduction</a:t>
            </a:r>
          </a:p>
        </p:txBody>
      </p:sp>
      <p:sp>
        <p:nvSpPr>
          <p:cNvPr id="3" name="Content Placeholder 2"/>
          <p:cNvSpPr>
            <a:spLocks noGrp="1"/>
          </p:cNvSpPr>
          <p:nvPr>
            <p:ph idx="1"/>
          </p:nvPr>
        </p:nvSpPr>
        <p:spPr/>
        <p:txBody>
          <a:bodyPr>
            <a:normAutofit/>
          </a:bodyPr>
          <a:lstStyle/>
          <a:p>
            <a:pPr>
              <a:buFont typeface="Courier New" panose="02070309020205020404" pitchFamily="49" charset="0"/>
              <a:buChar char="o"/>
            </a:pPr>
            <a:r>
              <a:rPr lang="en-US" dirty="0">
                <a:latin typeface="Times New Roman" pitchFamily="18" charset="0"/>
                <a:cs typeface="Times New Roman" pitchFamily="18" charset="0"/>
              </a:rPr>
              <a:t>Privacy and Security were always important in everyone's life.</a:t>
            </a:r>
          </a:p>
          <a:p>
            <a:pPr>
              <a:buFont typeface="Courier New" panose="02070309020205020404" pitchFamily="49" charset="0"/>
              <a:buChar char="o"/>
            </a:pPr>
            <a:r>
              <a:rPr lang="en-US" dirty="0">
                <a:latin typeface="Times New Roman" pitchFamily="18" charset="0"/>
                <a:cs typeface="Times New Roman" pitchFamily="18" charset="0"/>
              </a:rPr>
              <a:t>With the evolution of Computer Science &amp; IT, our Privacy and Security became more vulnerable. </a:t>
            </a:r>
          </a:p>
          <a:p>
            <a:pPr>
              <a:buFont typeface="Courier New" panose="02070309020205020404" pitchFamily="49" charset="0"/>
              <a:buChar char="o"/>
            </a:pPr>
            <a:r>
              <a:rPr lang="en-US" dirty="0">
                <a:latin typeface="Times New Roman" pitchFamily="18" charset="0"/>
                <a:cs typeface="Times New Roman" pitchFamily="18" charset="0"/>
              </a:rPr>
              <a:t>It became easier to track and trap anyone existing in the world through various channels.</a:t>
            </a:r>
          </a:p>
          <a:p>
            <a:pPr>
              <a:buFont typeface="Courier New" panose="02070309020205020404" pitchFamily="49" charset="0"/>
              <a:buChar char="o"/>
              <a:defRPr/>
            </a:pPr>
            <a:r>
              <a:rPr lang="en-US" dirty="0">
                <a:latin typeface="Times New Roman" pitchFamily="18" charset="0"/>
                <a:cs typeface="Times New Roman" pitchFamily="18" charset="0"/>
              </a:rPr>
              <a:t>So the working out for such challenges was essential. </a:t>
            </a:r>
          </a:p>
          <a:p>
            <a:pPr>
              <a:buFont typeface="Courier New" panose="02070309020205020404" pitchFamily="49" charset="0"/>
              <a:buChar char="o"/>
              <a:defRPr/>
            </a:pPr>
            <a:r>
              <a:rPr lang="en-US" dirty="0">
                <a:latin typeface="Times New Roman" pitchFamily="18" charset="0"/>
                <a:cs typeface="Times New Roman" pitchFamily="18" charset="0"/>
              </a:rPr>
              <a:t>As a result, the evolution of new domains of Computer Science &amp; IT arose like Information Security, Cyber Security etc.</a:t>
            </a:r>
          </a:p>
        </p:txBody>
      </p:sp>
    </p:spTree>
    <p:extLst>
      <p:ext uri="{BB962C8B-B14F-4D97-AF65-F5344CB8AC3E}">
        <p14:creationId xmlns:p14="http://schemas.microsoft.com/office/powerpoint/2010/main" val="1325175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Computer Privacy</a:t>
            </a:r>
          </a:p>
        </p:txBody>
      </p:sp>
      <p:sp>
        <p:nvSpPr>
          <p:cNvPr id="3" name="Content Placeholder 2"/>
          <p:cNvSpPr>
            <a:spLocks noGrp="1"/>
          </p:cNvSpPr>
          <p:nvPr>
            <p:ph idx="1"/>
          </p:nvPr>
        </p:nvSpPr>
        <p:spPr/>
        <p:txBody>
          <a:bodyPr/>
          <a:lstStyle/>
          <a:p>
            <a:pPr>
              <a:buFont typeface="Courier New" panose="02070309020205020404" pitchFamily="49" charset="0"/>
              <a:buChar char="o"/>
            </a:pPr>
            <a:r>
              <a:rPr lang="en-US" b="1" dirty="0"/>
              <a:t>Privacy</a:t>
            </a:r>
            <a:r>
              <a:rPr lang="en-US" dirty="0"/>
              <a:t> is a term used to describe an individual's anonymity and how safe they feel in a location.</a:t>
            </a:r>
          </a:p>
          <a:p>
            <a:pPr>
              <a:buFont typeface="Courier New" panose="02070309020205020404" pitchFamily="49" charset="0"/>
              <a:buChar char="o"/>
            </a:pPr>
            <a:r>
              <a:rPr lang="en-US" b="1" dirty="0"/>
              <a:t>Computer Privacy</a:t>
            </a:r>
            <a:r>
              <a:rPr lang="en-US" dirty="0"/>
              <a:t> refers to several main topics like:</a:t>
            </a:r>
          </a:p>
          <a:p>
            <a:pPr lvl="1">
              <a:buFont typeface="Wingdings" panose="05000000000000000000" pitchFamily="2" charset="2"/>
              <a:buChar char="Ø"/>
            </a:pPr>
            <a:r>
              <a:rPr lang="en-US" dirty="0"/>
              <a:t>Information shared with visiting web pages. </a:t>
            </a:r>
          </a:p>
          <a:p>
            <a:pPr lvl="1">
              <a:buFont typeface="Wingdings" panose="05000000000000000000" pitchFamily="2" charset="2"/>
              <a:buChar char="Ø"/>
            </a:pPr>
            <a:r>
              <a:rPr lang="en-US" dirty="0"/>
              <a:t>How that information is used. </a:t>
            </a:r>
          </a:p>
          <a:p>
            <a:pPr lvl="1">
              <a:buFont typeface="Wingdings" panose="05000000000000000000" pitchFamily="2" charset="2"/>
              <a:buChar char="Ø"/>
            </a:pPr>
            <a:r>
              <a:rPr lang="en-US" dirty="0"/>
              <a:t>With whom the information is shared.</a:t>
            </a:r>
          </a:p>
          <a:p>
            <a:pPr lvl="1">
              <a:buFont typeface="Wingdings" panose="05000000000000000000" pitchFamily="2" charset="2"/>
              <a:buChar char="Ø"/>
            </a:pPr>
            <a:r>
              <a:rPr lang="en-US" dirty="0"/>
              <a:t>If that information is used to track users.</a:t>
            </a:r>
          </a:p>
        </p:txBody>
      </p:sp>
    </p:spTree>
    <p:extLst>
      <p:ext uri="{BB962C8B-B14F-4D97-AF65-F5344CB8AC3E}">
        <p14:creationId xmlns:p14="http://schemas.microsoft.com/office/powerpoint/2010/main" val="2979809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2390"/>
            <a:ext cx="10515600" cy="1325563"/>
          </a:xfrm>
        </p:spPr>
        <p:txBody>
          <a:bodyPr/>
          <a:lstStyle/>
          <a:p>
            <a:pPr algn="ctr"/>
            <a:r>
              <a:rPr lang="en-US" dirty="0"/>
              <a:t>Information Security</a:t>
            </a:r>
          </a:p>
        </p:txBody>
      </p:sp>
      <p:sp>
        <p:nvSpPr>
          <p:cNvPr id="3" name="Content Placeholder 2"/>
          <p:cNvSpPr>
            <a:spLocks noGrp="1"/>
          </p:cNvSpPr>
          <p:nvPr>
            <p:ph idx="1"/>
          </p:nvPr>
        </p:nvSpPr>
        <p:spPr/>
        <p:txBody>
          <a:bodyPr>
            <a:normAutofit/>
          </a:bodyPr>
          <a:lstStyle/>
          <a:p>
            <a:pPr>
              <a:buFont typeface="Courier New" panose="02070309020205020404" pitchFamily="49" charset="0"/>
              <a:buChar char="o"/>
              <a:defRPr/>
            </a:pPr>
            <a:r>
              <a:rPr lang="en-US" b="1" dirty="0">
                <a:latin typeface="Times New Roman" pitchFamily="18" charset="0"/>
                <a:cs typeface="Times New Roman" pitchFamily="18" charset="0"/>
              </a:rPr>
              <a:t>Information security </a:t>
            </a:r>
            <a:r>
              <a:rPr lang="en-US" dirty="0">
                <a:latin typeface="Times New Roman" pitchFamily="18" charset="0"/>
                <a:cs typeface="Times New Roman" pitchFamily="18" charset="0"/>
              </a:rPr>
              <a:t>is the practice of defending information from unauthorized access, use, disclosure, disruption, modification, inspection, recording or destruction. </a:t>
            </a:r>
          </a:p>
          <a:p>
            <a:pPr>
              <a:buFont typeface="Courier New" panose="02070309020205020404" pitchFamily="49" charset="0"/>
              <a:buChar char="o"/>
              <a:defRPr/>
            </a:pPr>
            <a:r>
              <a:rPr lang="en-US" dirty="0">
                <a:latin typeface="Times New Roman" pitchFamily="18" charset="0"/>
                <a:cs typeface="Times New Roman" pitchFamily="18" charset="0"/>
              </a:rPr>
              <a:t>Also called as InfoSec in short format.</a:t>
            </a:r>
          </a:p>
          <a:p>
            <a:pPr>
              <a:buFont typeface="Courier New" panose="02070309020205020404" pitchFamily="49" charset="0"/>
              <a:buChar char="o"/>
              <a:defRPr/>
            </a:pPr>
            <a:r>
              <a:rPr lang="en-US" b="1" dirty="0">
                <a:latin typeface="Times New Roman" pitchFamily="18" charset="0"/>
                <a:cs typeface="Times New Roman" pitchFamily="18" charset="0"/>
              </a:rPr>
              <a:t>Information security </a:t>
            </a:r>
            <a:r>
              <a:rPr lang="en-US" dirty="0">
                <a:latin typeface="Times New Roman" pitchFamily="18" charset="0"/>
                <a:cs typeface="Times New Roman" pitchFamily="18" charset="0"/>
              </a:rPr>
              <a:t>is the protection of information and minimizes the risk of exposing information to unauthorized parties.</a:t>
            </a:r>
          </a:p>
          <a:p>
            <a:pPr>
              <a:buFont typeface="Courier New" panose="02070309020205020404" pitchFamily="49" charset="0"/>
              <a:buChar char="o"/>
              <a:defRPr/>
            </a:pPr>
            <a:r>
              <a:rPr lang="en-US" dirty="0">
                <a:latin typeface="Times New Roman" pitchFamily="18" charset="0"/>
                <a:cs typeface="Times New Roman" pitchFamily="18" charset="0"/>
              </a:rPr>
              <a:t>So the </a:t>
            </a:r>
            <a:r>
              <a:rPr lang="en-US" b="1" dirty="0">
                <a:latin typeface="Times New Roman" pitchFamily="18" charset="0"/>
                <a:cs typeface="Times New Roman" pitchFamily="18" charset="0"/>
              </a:rPr>
              <a:t>goal</a:t>
            </a:r>
            <a:r>
              <a:rPr lang="en-US" dirty="0">
                <a:latin typeface="Times New Roman" pitchFamily="18" charset="0"/>
                <a:cs typeface="Times New Roman" pitchFamily="18" charset="0"/>
              </a:rPr>
              <a:t> of Information security is to protect the information from intruders and hackers</a:t>
            </a:r>
          </a:p>
          <a:p>
            <a:pPr>
              <a:buFont typeface="Courier New" panose="02070309020205020404" pitchFamily="49" charset="0"/>
              <a:buChar char="o"/>
              <a:defRPr/>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4120035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Security vs Cyber Security</a:t>
            </a:r>
          </a:p>
        </p:txBody>
      </p:sp>
      <p:sp>
        <p:nvSpPr>
          <p:cNvPr id="3" name="Content Placeholder 2"/>
          <p:cNvSpPr>
            <a:spLocks noGrp="1"/>
          </p:cNvSpPr>
          <p:nvPr>
            <p:ph idx="1"/>
          </p:nvPr>
        </p:nvSpPr>
        <p:spPr/>
        <p:txBody>
          <a:bodyPr>
            <a:normAutofit fontScale="92500"/>
          </a:bodyPr>
          <a:lstStyle/>
          <a:p>
            <a:pPr>
              <a:buFont typeface="Courier New" panose="02070309020205020404" pitchFamily="49" charset="0"/>
              <a:buChar char="o"/>
              <a:defRPr/>
            </a:pPr>
            <a:r>
              <a:rPr lang="en-US" dirty="0">
                <a:latin typeface="Times New Roman" pitchFamily="18" charset="0"/>
                <a:cs typeface="Times New Roman" pitchFamily="18" charset="0"/>
              </a:rPr>
              <a:t>They both take the value of the data into consideration.</a:t>
            </a:r>
          </a:p>
          <a:p>
            <a:pPr>
              <a:buFont typeface="Courier New" panose="02070309020205020404" pitchFamily="49" charset="0"/>
              <a:buChar char="o"/>
              <a:defRPr/>
            </a:pPr>
            <a:endParaRPr lang="en-US" dirty="0">
              <a:latin typeface="Times New Roman" pitchFamily="18" charset="0"/>
              <a:cs typeface="Times New Roman" pitchFamily="18" charset="0"/>
            </a:endParaRPr>
          </a:p>
          <a:p>
            <a:pPr>
              <a:buFont typeface="Courier New" panose="02070309020205020404" pitchFamily="49" charset="0"/>
              <a:buChar char="o"/>
              <a:defRPr/>
            </a:pPr>
            <a:r>
              <a:rPr lang="en-US" dirty="0">
                <a:latin typeface="Times New Roman" pitchFamily="18" charset="0"/>
                <a:cs typeface="Times New Roman" pitchFamily="18" charset="0"/>
              </a:rPr>
              <a:t>InfoSec is all about protecting the information in Computer Science using various principles related to that.</a:t>
            </a:r>
          </a:p>
          <a:p>
            <a:pPr>
              <a:buFont typeface="Courier New" panose="02070309020205020404" pitchFamily="49" charset="0"/>
              <a:buChar char="o"/>
              <a:defRPr/>
            </a:pPr>
            <a:r>
              <a:rPr lang="en-US" dirty="0">
                <a:latin typeface="Times New Roman" pitchFamily="18" charset="0"/>
                <a:cs typeface="Times New Roman" pitchFamily="18" charset="0"/>
              </a:rPr>
              <a:t>However, the </a:t>
            </a:r>
            <a:r>
              <a:rPr lang="en-US" b="1" dirty="0">
                <a:latin typeface="Times New Roman" pitchFamily="18" charset="0"/>
                <a:cs typeface="Times New Roman" pitchFamily="18" charset="0"/>
              </a:rPr>
              <a:t>Cyber security </a:t>
            </a:r>
            <a:r>
              <a:rPr lang="en-US" dirty="0">
                <a:latin typeface="Times New Roman" pitchFamily="18" charset="0"/>
                <a:cs typeface="Times New Roman" pitchFamily="18" charset="0"/>
              </a:rPr>
              <a:t>is about securing information that is vulnerable through ICT.</a:t>
            </a:r>
          </a:p>
          <a:p>
            <a:r>
              <a:rPr lang="en-US" dirty="0"/>
              <a:t>The </a:t>
            </a:r>
            <a:r>
              <a:rPr lang="en-US" b="1" dirty="0"/>
              <a:t>information security team</a:t>
            </a:r>
            <a:r>
              <a:rPr lang="en-US" dirty="0"/>
              <a:t> of an organization mainly concerns with the protection of company's data from unauthorized access of any sort.</a:t>
            </a:r>
          </a:p>
          <a:p>
            <a:r>
              <a:rPr lang="en-US" dirty="0"/>
              <a:t>The</a:t>
            </a:r>
            <a:r>
              <a:rPr lang="en-US" b="1" dirty="0"/>
              <a:t> cybersecurity</a:t>
            </a:r>
            <a:r>
              <a:rPr lang="en-US" dirty="0"/>
              <a:t> </a:t>
            </a:r>
            <a:r>
              <a:rPr lang="en-US" b="1" dirty="0"/>
              <a:t>team</a:t>
            </a:r>
            <a:r>
              <a:rPr lang="en-US" dirty="0"/>
              <a:t> of an organization mainly concerns with the protection of company's data from unauthorized </a:t>
            </a:r>
            <a:r>
              <a:rPr lang="en-US" b="1" dirty="0"/>
              <a:t>electronic access</a:t>
            </a:r>
            <a:r>
              <a:rPr lang="en-US" dirty="0"/>
              <a:t>.</a:t>
            </a:r>
          </a:p>
        </p:txBody>
      </p:sp>
    </p:spTree>
    <p:extLst>
      <p:ext uri="{BB962C8B-B14F-4D97-AF65-F5344CB8AC3E}">
        <p14:creationId xmlns:p14="http://schemas.microsoft.com/office/powerpoint/2010/main" val="419206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History</a:t>
            </a:r>
          </a:p>
        </p:txBody>
      </p:sp>
      <p:sp>
        <p:nvSpPr>
          <p:cNvPr id="3" name="Content Placeholder 2"/>
          <p:cNvSpPr>
            <a:spLocks noGrp="1"/>
          </p:cNvSpPr>
          <p:nvPr>
            <p:ph idx="1"/>
          </p:nvPr>
        </p:nvSpPr>
        <p:spPr/>
        <p:txBody>
          <a:bodyPr>
            <a:normAutofit fontScale="92500" lnSpcReduction="10000"/>
          </a:bodyPr>
          <a:lstStyle/>
          <a:p>
            <a:pPr algn="just"/>
            <a:r>
              <a:rPr lang="en-US" dirty="0"/>
              <a:t>Since the early days of </a:t>
            </a:r>
            <a:r>
              <a:rPr lang="en-US" b="1" dirty="0"/>
              <a:t>communication</a:t>
            </a:r>
            <a:r>
              <a:rPr lang="en-US" dirty="0"/>
              <a:t>, </a:t>
            </a:r>
            <a:r>
              <a:rPr lang="en-US" b="1" dirty="0"/>
              <a:t>diplomats and military </a:t>
            </a:r>
            <a:r>
              <a:rPr lang="en-US" dirty="0"/>
              <a:t>commanders understood that it was necessary to provide some </a:t>
            </a:r>
            <a:r>
              <a:rPr lang="en-US" b="1" dirty="0"/>
              <a:t>mechanism to protect </a:t>
            </a:r>
            <a:r>
              <a:rPr lang="en-US" dirty="0"/>
              <a:t>the </a:t>
            </a:r>
            <a:r>
              <a:rPr lang="en-US" b="1" dirty="0"/>
              <a:t>confidentiality </a:t>
            </a:r>
            <a:r>
              <a:rPr lang="en-US" dirty="0"/>
              <a:t>of correspondence and to have some means of detecting </a:t>
            </a:r>
            <a:r>
              <a:rPr lang="en-US" b="1" dirty="0"/>
              <a:t>tampering</a:t>
            </a:r>
            <a:r>
              <a:rPr lang="en-US" dirty="0"/>
              <a:t>.</a:t>
            </a:r>
          </a:p>
          <a:p>
            <a:pPr algn="just"/>
            <a:r>
              <a:rPr lang="en-US" b="1" dirty="0"/>
              <a:t>Julius Caesar </a:t>
            </a:r>
            <a:r>
              <a:rPr lang="en-US" dirty="0"/>
              <a:t>is credited with the invention of the </a:t>
            </a:r>
            <a:r>
              <a:rPr lang="en-US" b="1" dirty="0"/>
              <a:t>Caesar cipher </a:t>
            </a:r>
            <a:r>
              <a:rPr lang="en-US" dirty="0"/>
              <a:t>c. 50 B.C., which was created in order to prevent his </a:t>
            </a:r>
            <a:r>
              <a:rPr lang="en-US" b="1" dirty="0"/>
              <a:t>secret messages </a:t>
            </a:r>
            <a:r>
              <a:rPr lang="en-US" dirty="0"/>
              <a:t>from being read should a message fall into the wrong hands, but for the most part protection was achieved through the application of procedural handling controls.</a:t>
            </a:r>
          </a:p>
          <a:p>
            <a:pPr algn="just"/>
            <a:r>
              <a:rPr lang="en-US" dirty="0"/>
              <a:t>In the </a:t>
            </a:r>
            <a:r>
              <a:rPr lang="en-US" b="1" dirty="0"/>
              <a:t>mid-19th </a:t>
            </a:r>
            <a:r>
              <a:rPr lang="en-US" dirty="0"/>
              <a:t>century more complex classification systems were developed to allow governments to manage their information according to the </a:t>
            </a:r>
            <a:r>
              <a:rPr lang="en-US" b="1" dirty="0"/>
              <a:t>degree of sensitivity</a:t>
            </a:r>
            <a:r>
              <a:rPr lang="en-US" dirty="0"/>
              <a:t>.</a:t>
            </a:r>
          </a:p>
        </p:txBody>
      </p:sp>
    </p:spTree>
    <p:extLst>
      <p:ext uri="{BB962C8B-B14F-4D97-AF65-F5344CB8AC3E}">
        <p14:creationId xmlns:p14="http://schemas.microsoft.com/office/powerpoint/2010/main" val="2267127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History</a:t>
            </a:r>
          </a:p>
        </p:txBody>
      </p:sp>
      <p:sp>
        <p:nvSpPr>
          <p:cNvPr id="3" name="Content Placeholder 2"/>
          <p:cNvSpPr>
            <a:spLocks noGrp="1"/>
          </p:cNvSpPr>
          <p:nvPr>
            <p:ph idx="1"/>
          </p:nvPr>
        </p:nvSpPr>
        <p:spPr/>
        <p:txBody>
          <a:bodyPr>
            <a:normAutofit/>
          </a:bodyPr>
          <a:lstStyle/>
          <a:p>
            <a:pPr algn="just"/>
            <a:r>
              <a:rPr lang="en-US" dirty="0"/>
              <a:t>By the time of the </a:t>
            </a:r>
            <a:r>
              <a:rPr lang="en-US" b="1" dirty="0"/>
              <a:t>First World War</a:t>
            </a:r>
            <a:r>
              <a:rPr lang="en-US" dirty="0"/>
              <a:t>, </a:t>
            </a:r>
            <a:r>
              <a:rPr lang="en-US" b="1" dirty="0"/>
              <a:t>multi-tier classification systems </a:t>
            </a:r>
            <a:r>
              <a:rPr lang="en-US" dirty="0"/>
              <a:t>were used to communicate information to and from various fronts, which </a:t>
            </a:r>
            <a:r>
              <a:rPr lang="en-US" b="1" dirty="0"/>
              <a:t>encouraged greater use of code </a:t>
            </a:r>
            <a:r>
              <a:rPr lang="en-US" dirty="0"/>
              <a:t>making and breaking sections in diplomatic and military headquarters.</a:t>
            </a:r>
          </a:p>
          <a:p>
            <a:pPr algn="just"/>
            <a:r>
              <a:rPr lang="en-US" dirty="0"/>
              <a:t>During </a:t>
            </a:r>
            <a:r>
              <a:rPr lang="en-US" b="1" dirty="0"/>
              <a:t>Second World War, Encoding </a:t>
            </a:r>
            <a:r>
              <a:rPr lang="en-US" dirty="0"/>
              <a:t>became more sophisticated between the wars as machines were </a:t>
            </a:r>
            <a:r>
              <a:rPr lang="en-US" b="1" dirty="0"/>
              <a:t>employed to scramble </a:t>
            </a:r>
            <a:r>
              <a:rPr lang="en-US" dirty="0"/>
              <a:t>and unscramble information.</a:t>
            </a:r>
          </a:p>
        </p:txBody>
      </p:sp>
    </p:spTree>
    <p:extLst>
      <p:ext uri="{BB962C8B-B14F-4D97-AF65-F5344CB8AC3E}">
        <p14:creationId xmlns:p14="http://schemas.microsoft.com/office/powerpoint/2010/main" val="4019617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5343"/>
            <a:ext cx="10515600" cy="1325563"/>
          </a:xfrm>
        </p:spPr>
        <p:txBody>
          <a:bodyPr>
            <a:normAutofit/>
          </a:bodyPr>
          <a:lstStyle/>
          <a:p>
            <a:r>
              <a:rPr lang="en-US" dirty="0"/>
              <a:t>Ways used for Digital Devices Privacy</a:t>
            </a:r>
          </a:p>
        </p:txBody>
      </p:sp>
      <p:sp>
        <p:nvSpPr>
          <p:cNvPr id="3" name="Content Placeholder 2"/>
          <p:cNvSpPr>
            <a:spLocks noGrp="1"/>
          </p:cNvSpPr>
          <p:nvPr>
            <p:ph idx="1"/>
          </p:nvPr>
        </p:nvSpPr>
        <p:spPr/>
        <p:txBody>
          <a:bodyPr>
            <a:normAutofit fontScale="85000" lnSpcReduction="10000"/>
          </a:bodyPr>
          <a:lstStyle/>
          <a:p>
            <a:r>
              <a:rPr lang="en-US" sz="3200" dirty="0"/>
              <a:t>Different methods are used to maintain our privacy in Computers like;</a:t>
            </a:r>
          </a:p>
          <a:p>
            <a:pPr lvl="1">
              <a:lnSpc>
                <a:spcPct val="120000"/>
              </a:lnSpc>
              <a:buFont typeface="Wingdings" panose="05000000000000000000" pitchFamily="2" charset="2"/>
              <a:buChar char="Ø"/>
            </a:pPr>
            <a:r>
              <a:rPr lang="en-US" sz="2800" dirty="0"/>
              <a:t>Passwords</a:t>
            </a:r>
          </a:p>
          <a:p>
            <a:pPr lvl="1">
              <a:lnSpc>
                <a:spcPct val="120000"/>
              </a:lnSpc>
              <a:buFont typeface="Wingdings" panose="05000000000000000000" pitchFamily="2" charset="2"/>
              <a:buChar char="Ø"/>
            </a:pPr>
            <a:r>
              <a:rPr lang="en-US" sz="2800" dirty="0"/>
              <a:t>PINs</a:t>
            </a:r>
          </a:p>
          <a:p>
            <a:pPr lvl="1">
              <a:lnSpc>
                <a:spcPct val="120000"/>
              </a:lnSpc>
              <a:buFont typeface="Wingdings" panose="05000000000000000000" pitchFamily="2" charset="2"/>
              <a:buChar char="Ø"/>
            </a:pPr>
            <a:r>
              <a:rPr lang="en-US" sz="2800" dirty="0"/>
              <a:t>Patterns</a:t>
            </a:r>
          </a:p>
          <a:p>
            <a:pPr lvl="1">
              <a:lnSpc>
                <a:spcPct val="120000"/>
              </a:lnSpc>
              <a:buFont typeface="Wingdings" panose="05000000000000000000" pitchFamily="2" charset="2"/>
              <a:buChar char="Ø"/>
            </a:pPr>
            <a:r>
              <a:rPr lang="en-US" sz="2800" dirty="0"/>
              <a:t>Thumb impression</a:t>
            </a:r>
          </a:p>
          <a:p>
            <a:pPr lvl="1">
              <a:lnSpc>
                <a:spcPct val="120000"/>
              </a:lnSpc>
              <a:buFont typeface="Wingdings" panose="05000000000000000000" pitchFamily="2" charset="2"/>
              <a:buChar char="Ø"/>
            </a:pPr>
            <a:r>
              <a:rPr lang="en-US" sz="2800" dirty="0"/>
              <a:t>Face recognition</a:t>
            </a:r>
          </a:p>
          <a:p>
            <a:pPr lvl="1">
              <a:lnSpc>
                <a:spcPct val="120000"/>
              </a:lnSpc>
              <a:buFont typeface="Wingdings" panose="05000000000000000000" pitchFamily="2" charset="2"/>
              <a:buChar char="Ø"/>
            </a:pPr>
            <a:r>
              <a:rPr lang="en-US" sz="2800" dirty="0"/>
              <a:t>Encryption/Decryption</a:t>
            </a:r>
          </a:p>
          <a:p>
            <a:pPr lvl="1">
              <a:lnSpc>
                <a:spcPct val="120000"/>
              </a:lnSpc>
              <a:buFont typeface="Wingdings" panose="05000000000000000000" pitchFamily="2" charset="2"/>
              <a:buChar char="Ø"/>
            </a:pPr>
            <a:r>
              <a:rPr lang="en-US" sz="2800" dirty="0"/>
              <a:t>Email Privacy</a:t>
            </a:r>
          </a:p>
          <a:p>
            <a:pPr lvl="1">
              <a:lnSpc>
                <a:spcPct val="120000"/>
              </a:lnSpc>
              <a:buFont typeface="Wingdings" panose="05000000000000000000" pitchFamily="2" charset="2"/>
              <a:buChar char="Ø"/>
            </a:pPr>
            <a:r>
              <a:rPr lang="en-US" sz="2800" dirty="0"/>
              <a:t>Antiviruses, as the third party software</a:t>
            </a:r>
            <a:endParaRPr lang="en-US" dirty="0"/>
          </a:p>
        </p:txBody>
      </p:sp>
    </p:spTree>
    <p:extLst>
      <p:ext uri="{BB962C8B-B14F-4D97-AF65-F5344CB8AC3E}">
        <p14:creationId xmlns:p14="http://schemas.microsoft.com/office/powerpoint/2010/main" val="1721215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Content Filtering</a:t>
            </a:r>
          </a:p>
        </p:txBody>
      </p:sp>
      <p:sp>
        <p:nvSpPr>
          <p:cNvPr id="3" name="Content Placeholder 2"/>
          <p:cNvSpPr>
            <a:spLocks noGrp="1"/>
          </p:cNvSpPr>
          <p:nvPr>
            <p:ph idx="1"/>
          </p:nvPr>
        </p:nvSpPr>
        <p:spPr>
          <a:xfrm>
            <a:off x="838199" y="1825625"/>
            <a:ext cx="10945483" cy="4351338"/>
          </a:xfrm>
        </p:spPr>
        <p:txBody>
          <a:bodyPr>
            <a:normAutofit/>
          </a:bodyPr>
          <a:lstStyle/>
          <a:p>
            <a:pPr>
              <a:buFont typeface="Courier New" panose="02070309020205020404" pitchFamily="49" charset="0"/>
              <a:buChar char="o"/>
            </a:pPr>
            <a:r>
              <a:rPr lang="en-US" dirty="0"/>
              <a:t>Also known as Internet filter.</a:t>
            </a:r>
          </a:p>
          <a:p>
            <a:pPr>
              <a:buFont typeface="Courier New" panose="02070309020205020404" pitchFamily="49" charset="0"/>
              <a:buChar char="o"/>
            </a:pPr>
            <a:r>
              <a:rPr lang="en-US" b="1" dirty="0"/>
              <a:t>Web content filtering</a:t>
            </a:r>
            <a:r>
              <a:rPr lang="en-US" dirty="0"/>
              <a:t> is action of blocking specific websites or content considered as illegal. </a:t>
            </a:r>
          </a:p>
          <a:p>
            <a:pPr>
              <a:buFont typeface="Courier New" panose="02070309020205020404" pitchFamily="49" charset="0"/>
              <a:buChar char="o"/>
            </a:pPr>
            <a:r>
              <a:rPr lang="en-US" dirty="0"/>
              <a:t>It essentially creates rules for the device on which </a:t>
            </a:r>
            <a:r>
              <a:rPr lang="en-US" b="1" dirty="0"/>
              <a:t>content</a:t>
            </a:r>
            <a:r>
              <a:rPr lang="en-US" dirty="0"/>
              <a:t> it can deliver to the user. </a:t>
            </a:r>
          </a:p>
          <a:p>
            <a:pPr>
              <a:buFont typeface="Courier New" panose="02070309020205020404" pitchFamily="49" charset="0"/>
              <a:buChar char="o"/>
            </a:pPr>
            <a:r>
              <a:rPr lang="en-US" dirty="0"/>
              <a:t>Most </a:t>
            </a:r>
            <a:r>
              <a:rPr lang="en-US" b="1" dirty="0"/>
              <a:t>content filters</a:t>
            </a:r>
            <a:r>
              <a:rPr lang="en-US" dirty="0"/>
              <a:t> use keywords to block pages, but they can also block specific sites.</a:t>
            </a:r>
          </a:p>
        </p:txBody>
      </p:sp>
    </p:spTree>
    <p:extLst>
      <p:ext uri="{BB962C8B-B14F-4D97-AF65-F5344CB8AC3E}">
        <p14:creationId xmlns:p14="http://schemas.microsoft.com/office/powerpoint/2010/main" val="2695233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Content Filtering</a:t>
            </a:r>
          </a:p>
        </p:txBody>
      </p:sp>
      <p:sp>
        <p:nvSpPr>
          <p:cNvPr id="3" name="Content Placeholder 2"/>
          <p:cNvSpPr>
            <a:spLocks noGrp="1"/>
          </p:cNvSpPr>
          <p:nvPr>
            <p:ph idx="1"/>
          </p:nvPr>
        </p:nvSpPr>
        <p:spPr>
          <a:xfrm>
            <a:off x="838199" y="1825625"/>
            <a:ext cx="10945483" cy="4351338"/>
          </a:xfrm>
        </p:spPr>
        <p:txBody>
          <a:bodyPr>
            <a:normAutofit/>
          </a:bodyPr>
          <a:lstStyle/>
          <a:p>
            <a:pPr>
              <a:buFont typeface="Courier New" panose="02070309020205020404" pitchFamily="49" charset="0"/>
              <a:buChar char="o"/>
            </a:pPr>
            <a:r>
              <a:rPr lang="en-US" sz="3200" dirty="0"/>
              <a:t>Three categories of filtering systems;</a:t>
            </a:r>
          </a:p>
          <a:p>
            <a:pPr lvl="1">
              <a:buFont typeface="Wingdings" panose="05000000000000000000" pitchFamily="2" charset="2"/>
              <a:buChar char="ü"/>
            </a:pPr>
            <a:r>
              <a:rPr lang="en-US" sz="2800" b="1" dirty="0"/>
              <a:t>Software packages </a:t>
            </a:r>
            <a:r>
              <a:rPr lang="en-US" sz="2800" dirty="0"/>
              <a:t>that you install and manage on your computer</a:t>
            </a:r>
          </a:p>
          <a:p>
            <a:pPr lvl="1">
              <a:buFont typeface="Wingdings" panose="05000000000000000000" pitchFamily="2" charset="2"/>
              <a:buChar char="ü"/>
            </a:pPr>
            <a:r>
              <a:rPr lang="en-US" sz="2800" b="1" dirty="0"/>
              <a:t>Filtering services </a:t>
            </a:r>
            <a:r>
              <a:rPr lang="en-US" sz="2800" dirty="0"/>
              <a:t>that may be offered as service option by your Internet Service Provider (ISP).</a:t>
            </a:r>
          </a:p>
          <a:p>
            <a:pPr lvl="1" algn="just">
              <a:buFont typeface="Wingdings" panose="05000000000000000000" pitchFamily="2" charset="2"/>
              <a:buChar char="ü"/>
            </a:pPr>
            <a:r>
              <a:rPr lang="en-US" sz="2800" b="1" dirty="0"/>
              <a:t>Hardware</a:t>
            </a:r>
            <a:r>
              <a:rPr lang="en-US" sz="2800" dirty="0"/>
              <a:t>-based </a:t>
            </a:r>
            <a:r>
              <a:rPr lang="en-US" sz="2800" b="1" dirty="0"/>
              <a:t>filtering</a:t>
            </a:r>
            <a:r>
              <a:rPr lang="en-US" sz="2800" dirty="0"/>
              <a:t> appliance for schools may appear to tick all the boxes. </a:t>
            </a:r>
            <a:r>
              <a:rPr lang="en-US" sz="2800" b="1" dirty="0"/>
              <a:t>Hardware</a:t>
            </a:r>
            <a:r>
              <a:rPr lang="en-US" sz="2800" dirty="0"/>
              <a:t> devices sit in front of an Internet gateway and </a:t>
            </a:r>
            <a:r>
              <a:rPr lang="en-US" sz="2800" b="1" dirty="0"/>
              <a:t>filter</a:t>
            </a:r>
            <a:r>
              <a:rPr lang="en-US" sz="2800" dirty="0"/>
              <a:t> Internet traffic. They prevent users from accessing websites that are deemed to be dangerous or inappropriate.</a:t>
            </a:r>
          </a:p>
        </p:txBody>
      </p:sp>
    </p:spTree>
    <p:extLst>
      <p:ext uri="{BB962C8B-B14F-4D97-AF65-F5344CB8AC3E}">
        <p14:creationId xmlns:p14="http://schemas.microsoft.com/office/powerpoint/2010/main" val="1805792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Content Filtering</a:t>
            </a:r>
          </a:p>
        </p:txBody>
      </p:sp>
      <p:sp>
        <p:nvSpPr>
          <p:cNvPr id="3" name="Content Placeholder 2"/>
          <p:cNvSpPr>
            <a:spLocks noGrp="1"/>
          </p:cNvSpPr>
          <p:nvPr>
            <p:ph idx="1"/>
          </p:nvPr>
        </p:nvSpPr>
        <p:spPr>
          <a:xfrm>
            <a:off x="838199" y="1825625"/>
            <a:ext cx="10945483" cy="4351338"/>
          </a:xfrm>
        </p:spPr>
        <p:txBody>
          <a:bodyPr>
            <a:normAutofit/>
          </a:bodyPr>
          <a:lstStyle/>
          <a:p>
            <a:pPr>
              <a:buFont typeface="Courier New" panose="02070309020205020404" pitchFamily="49" charset="0"/>
              <a:buChar char="o"/>
            </a:pPr>
            <a:r>
              <a:rPr lang="en-US" sz="3200" dirty="0"/>
              <a:t>Some Content Filtering Software:</a:t>
            </a:r>
          </a:p>
          <a:p>
            <a:pPr lvl="1">
              <a:buFont typeface="Wingdings" panose="05000000000000000000" pitchFamily="2" charset="2"/>
              <a:buChar char="§"/>
            </a:pPr>
            <a:r>
              <a:rPr lang="en-US" sz="2800" dirty="0" err="1"/>
              <a:t>Cyberpatrol</a:t>
            </a:r>
            <a:endParaRPr lang="en-US" sz="2800" dirty="0"/>
          </a:p>
          <a:p>
            <a:pPr lvl="1">
              <a:buFont typeface="Wingdings" panose="05000000000000000000" pitchFamily="2" charset="2"/>
              <a:buChar char="§"/>
            </a:pPr>
            <a:r>
              <a:rPr lang="en-US" sz="2800" dirty="0"/>
              <a:t>ESET Smart Security</a:t>
            </a:r>
          </a:p>
          <a:p>
            <a:pPr lvl="1">
              <a:buFont typeface="Wingdings" panose="05000000000000000000" pitchFamily="2" charset="2"/>
              <a:buChar char="§"/>
            </a:pPr>
            <a:r>
              <a:rPr lang="en-US" sz="2800" dirty="0" err="1"/>
              <a:t>PearlEcho</a:t>
            </a:r>
            <a:endParaRPr lang="en-US" sz="2800" dirty="0"/>
          </a:p>
          <a:p>
            <a:pPr lvl="1">
              <a:buFont typeface="Wingdings" panose="05000000000000000000" pitchFamily="2" charset="2"/>
              <a:buChar char="§"/>
            </a:pPr>
            <a:r>
              <a:rPr lang="en-US" sz="2800" dirty="0" err="1"/>
              <a:t>SafeScreen</a:t>
            </a:r>
            <a:endParaRPr lang="en-US" sz="2800" dirty="0"/>
          </a:p>
        </p:txBody>
      </p:sp>
    </p:spTree>
    <p:extLst>
      <p:ext uri="{BB962C8B-B14F-4D97-AF65-F5344CB8AC3E}">
        <p14:creationId xmlns:p14="http://schemas.microsoft.com/office/powerpoint/2010/main" val="1553536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Privacy Laws &amp; Regulations (1)</a:t>
            </a:r>
          </a:p>
        </p:txBody>
      </p:sp>
      <p:sp>
        <p:nvSpPr>
          <p:cNvPr id="3" name="Content Placeholder 2"/>
          <p:cNvSpPr>
            <a:spLocks noGrp="1"/>
          </p:cNvSpPr>
          <p:nvPr>
            <p:ph idx="1"/>
          </p:nvPr>
        </p:nvSpPr>
        <p:spPr>
          <a:xfrm>
            <a:off x="672860" y="1397478"/>
            <a:ext cx="10680940" cy="5262113"/>
          </a:xfrm>
        </p:spPr>
        <p:txBody>
          <a:bodyPr>
            <a:normAutofit fontScale="92500" lnSpcReduction="10000"/>
          </a:bodyPr>
          <a:lstStyle/>
          <a:p>
            <a:pPr algn="just">
              <a:buFont typeface="Wingdings" panose="05000000000000000000" pitchFamily="2" charset="2"/>
              <a:buChar char="Ø"/>
            </a:pPr>
            <a:r>
              <a:rPr lang="en-US" i="1" dirty="0"/>
              <a:t>Below is a </a:t>
            </a:r>
            <a:r>
              <a:rPr lang="en-US" b="1" i="1" dirty="0"/>
              <a:t>partial </a:t>
            </a:r>
            <a:r>
              <a:rPr lang="en-US" i="1" dirty="0"/>
              <a:t>listing of European, United Kingdom, Canadian and US governmental laws and regulations that have, or will have, a significant effect on data processing and information security.</a:t>
            </a:r>
          </a:p>
          <a:p>
            <a:pPr algn="just">
              <a:buFont typeface="Wingdings" panose="05000000000000000000" pitchFamily="2" charset="2"/>
              <a:buChar char="Ø"/>
            </a:pPr>
            <a:r>
              <a:rPr lang="en-US" dirty="0"/>
              <a:t>UK Data Protection Act 1998 makes new provisions for the regulation of the processing of information relating to individuals, including the obtaining, holding, use or disclosure of such information. The European Union Data Protection Directive (EUDPD) requires that all EU member must adopt national regulations to standardize the protection of data privacy for citizens throughout the EU.</a:t>
            </a:r>
          </a:p>
          <a:p>
            <a:pPr algn="just">
              <a:buFont typeface="Wingdings" panose="05000000000000000000" pitchFamily="2" charset="2"/>
              <a:buChar char="Ø"/>
            </a:pPr>
            <a:r>
              <a:rPr lang="en-US" dirty="0"/>
              <a:t>The Computer Misuse Act 1990 is an Act of the UK Parliament making computer crime (e.g. hacking) a criminal offence. The Act has become a model upon which several other countries including Canada and the Republic of Ireland have drawn inspiration when subsequently drafting their own information security laws.</a:t>
            </a:r>
          </a:p>
        </p:txBody>
      </p:sp>
    </p:spTree>
    <p:extLst>
      <p:ext uri="{BB962C8B-B14F-4D97-AF65-F5344CB8AC3E}">
        <p14:creationId xmlns:p14="http://schemas.microsoft.com/office/powerpoint/2010/main" val="2533463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Privacy Laws &amp; Regulations (2)</a:t>
            </a:r>
          </a:p>
        </p:txBody>
      </p:sp>
      <p:sp>
        <p:nvSpPr>
          <p:cNvPr id="3" name="Content Placeholder 2"/>
          <p:cNvSpPr>
            <a:spLocks noGrp="1"/>
          </p:cNvSpPr>
          <p:nvPr>
            <p:ph idx="1"/>
          </p:nvPr>
        </p:nvSpPr>
        <p:spPr>
          <a:xfrm>
            <a:off x="672860" y="1397478"/>
            <a:ext cx="10680940" cy="5262113"/>
          </a:xfrm>
        </p:spPr>
        <p:txBody>
          <a:bodyPr>
            <a:normAutofit lnSpcReduction="10000"/>
          </a:bodyPr>
          <a:lstStyle/>
          <a:p>
            <a:pPr algn="just">
              <a:buFont typeface="Wingdings" panose="05000000000000000000" pitchFamily="2" charset="2"/>
              <a:buChar char="Ø"/>
            </a:pPr>
            <a:r>
              <a:rPr lang="en-US" dirty="0"/>
              <a:t>EU Data Retention laws requires Internet service providers and phone companies to keep data on every electronic message sent and phone call made for between six months and two years.</a:t>
            </a:r>
          </a:p>
          <a:p>
            <a:pPr algn="just">
              <a:buFont typeface="Wingdings" panose="05000000000000000000" pitchFamily="2" charset="2"/>
              <a:buChar char="Ø"/>
            </a:pPr>
            <a:r>
              <a:rPr lang="en-US" dirty="0"/>
              <a:t>The Family Educational Rights and Privacy Act (FERPA) (20 U.S.C. § 1232 g; 34 CFR Part 99) is a US Federal law that protects the privacy of student education records. The law applies to all schools that receive funds under an applicable program of the U.S. Department of Education. Generally, schools must have written permission from the parent or eligible student in order to release any information from a student's education record.</a:t>
            </a:r>
          </a:p>
          <a:p>
            <a:pPr algn="just">
              <a:buFont typeface="Wingdings" panose="05000000000000000000" pitchFamily="2" charset="2"/>
              <a:buChar char="Ø"/>
            </a:pPr>
            <a:r>
              <a:rPr lang="en-US" dirty="0"/>
              <a:t>Federal Financial Institutions Examination Council’s (FFIEC) security guidelines for auditors specifies requirements for online banking security.</a:t>
            </a:r>
          </a:p>
        </p:txBody>
      </p:sp>
    </p:spTree>
    <p:extLst>
      <p:ext uri="{BB962C8B-B14F-4D97-AF65-F5344CB8AC3E}">
        <p14:creationId xmlns:p14="http://schemas.microsoft.com/office/powerpoint/2010/main" val="26045232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Privacy Laws &amp; Regulations (3)</a:t>
            </a:r>
          </a:p>
        </p:txBody>
      </p:sp>
      <p:sp>
        <p:nvSpPr>
          <p:cNvPr id="3" name="Content Placeholder 2"/>
          <p:cNvSpPr>
            <a:spLocks noGrp="1"/>
          </p:cNvSpPr>
          <p:nvPr>
            <p:ph idx="1"/>
          </p:nvPr>
        </p:nvSpPr>
        <p:spPr>
          <a:xfrm>
            <a:off x="672860" y="1397478"/>
            <a:ext cx="10680940" cy="5262113"/>
          </a:xfrm>
        </p:spPr>
        <p:txBody>
          <a:bodyPr>
            <a:normAutofit fontScale="92500" lnSpcReduction="20000"/>
          </a:bodyPr>
          <a:lstStyle/>
          <a:p>
            <a:pPr algn="just">
              <a:buFont typeface="Wingdings" panose="05000000000000000000" pitchFamily="2" charset="2"/>
              <a:buChar char="Ø"/>
            </a:pPr>
            <a:r>
              <a:rPr lang="en-US" dirty="0"/>
              <a:t>Health Insurance Portability and Accountability Act (HIPAA) of 1996 requires the adoption of national standards for electronic health care transactions and national identifiers for providers, health insurance plans, and employers. And, it requires health care providers, insurance providers and employers to safeguard the security and privacy of health data.</a:t>
            </a:r>
          </a:p>
          <a:p>
            <a:pPr algn="just">
              <a:buFont typeface="Wingdings" panose="05000000000000000000" pitchFamily="2" charset="2"/>
              <a:buChar char="Ø"/>
            </a:pPr>
            <a:r>
              <a:rPr lang="en-US" dirty="0"/>
              <a:t>Gramm–Leach–Bliley Act of 1999 (GLBA), also known as the Financial Services Modernization Act of 1999, protects the privacy and security of private financial information that financial institutions collect, hold, and process.</a:t>
            </a:r>
          </a:p>
          <a:p>
            <a:pPr algn="just">
              <a:buFont typeface="Wingdings" panose="05000000000000000000" pitchFamily="2" charset="2"/>
              <a:buChar char="Ø"/>
            </a:pPr>
            <a:r>
              <a:rPr lang="en-US" dirty="0"/>
              <a:t>Sarbanes–Oxley Act of 2002 (SOX). Section 404 of the act requires publicly traded companies to assess the effectiveness of their internal controls for financial reporting in annual reports they submit at the end of each fiscal year. Chief information officers are responsible for the security, accuracy and the reliability of the systems that manage and report the financial data. The act also requires publicly traded companies to engage independent auditors who must attest to, and report on, the validity of their assessments.</a:t>
            </a:r>
          </a:p>
        </p:txBody>
      </p:sp>
    </p:spTree>
    <p:extLst>
      <p:ext uri="{BB962C8B-B14F-4D97-AF65-F5344CB8AC3E}">
        <p14:creationId xmlns:p14="http://schemas.microsoft.com/office/powerpoint/2010/main" val="17478045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Privacy Laws &amp; Regulations (4)</a:t>
            </a:r>
          </a:p>
        </p:txBody>
      </p:sp>
      <p:sp>
        <p:nvSpPr>
          <p:cNvPr id="3" name="Content Placeholder 2"/>
          <p:cNvSpPr>
            <a:spLocks noGrp="1"/>
          </p:cNvSpPr>
          <p:nvPr>
            <p:ph idx="1"/>
          </p:nvPr>
        </p:nvSpPr>
        <p:spPr>
          <a:xfrm>
            <a:off x="672860" y="1397478"/>
            <a:ext cx="10680940" cy="5262113"/>
          </a:xfrm>
        </p:spPr>
        <p:txBody>
          <a:bodyPr>
            <a:normAutofit fontScale="85000" lnSpcReduction="20000"/>
          </a:bodyPr>
          <a:lstStyle/>
          <a:p>
            <a:pPr algn="just">
              <a:buFont typeface="Wingdings" panose="05000000000000000000" pitchFamily="2" charset="2"/>
              <a:buChar char="Ø"/>
            </a:pPr>
            <a:r>
              <a:rPr lang="en-US" dirty="0"/>
              <a:t>Payment Card Industry Data Security Standard (PCI DSS) establishes comprehensive requirements for enhancing payment account data security. It was developed by the founding payment brands of the PCI Security Standards Council, including American Express, Discover Financial Services, JCB, MasterCard Worldwide and Visa International, to help facilitate the broad adoption of consistent data security measures on a global basis. The PCI DSS is a multifaceted security standard that includes requirements for security management, policies, procedures, network architecture, software design and other critical protective measures.</a:t>
            </a:r>
          </a:p>
          <a:p>
            <a:pPr algn="just">
              <a:buFont typeface="Wingdings" panose="05000000000000000000" pitchFamily="2" charset="2"/>
              <a:buChar char="Ø"/>
            </a:pPr>
            <a:r>
              <a:rPr lang="en-US" dirty="0"/>
              <a:t>State security breach notification laws (California and many others) require businesses, nonprofits, and state institutions to notify consumers when unencrypted "personal information" may have been compromised, lost, or stolen.</a:t>
            </a:r>
          </a:p>
          <a:p>
            <a:pPr algn="just">
              <a:buFont typeface="Wingdings" panose="05000000000000000000" pitchFamily="2" charset="2"/>
              <a:buChar char="Ø"/>
            </a:pPr>
            <a:r>
              <a:rPr lang="en-US" dirty="0"/>
              <a:t>Personal Information Protection and Electronics Document Act (PIPEDA) – An Act to support and promote electronic commerce by protecting personal information that is collected, used or disclosed in certain circumstances, by providing for the use of electronic means to communicate or record information or transactions and by amending the Canada Evidence Act, the Statutory Instruments Act and the Statute Revision Act.</a:t>
            </a:r>
          </a:p>
        </p:txBody>
      </p:sp>
    </p:spTree>
    <p:extLst>
      <p:ext uri="{BB962C8B-B14F-4D97-AF65-F5344CB8AC3E}">
        <p14:creationId xmlns:p14="http://schemas.microsoft.com/office/powerpoint/2010/main" val="20869862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Privacy Laws &amp; Regulations (5)</a:t>
            </a:r>
          </a:p>
        </p:txBody>
      </p:sp>
      <p:sp>
        <p:nvSpPr>
          <p:cNvPr id="3" name="Content Placeholder 2"/>
          <p:cNvSpPr>
            <a:spLocks noGrp="1"/>
          </p:cNvSpPr>
          <p:nvPr>
            <p:ph idx="1"/>
          </p:nvPr>
        </p:nvSpPr>
        <p:spPr>
          <a:xfrm>
            <a:off x="672860" y="1397478"/>
            <a:ext cx="10680940" cy="5262113"/>
          </a:xfrm>
        </p:spPr>
        <p:txBody>
          <a:bodyPr>
            <a:normAutofit lnSpcReduction="10000"/>
          </a:bodyPr>
          <a:lstStyle/>
          <a:p>
            <a:r>
              <a:rPr lang="en-US" dirty="0">
                <a:latin typeface="Calibri" panose="020F0502020204030204" pitchFamily="34" charset="0"/>
              </a:rPr>
              <a:t>Hellenic Authority for Communication Security and Privacy (ADAE) (Law 165/2011) - The Greek Law establishes and describes the minimum Information Security controls that should be deployed by every company which provides electronic communication networks and/or services in Greece in order to protect customers' Confidentiality. These include both managerial and technical controls (i.e. log records should be stored for two years).</a:t>
            </a:r>
          </a:p>
          <a:p>
            <a:r>
              <a:rPr lang="en-US" dirty="0">
                <a:latin typeface="Calibri" panose="020F0502020204030204" pitchFamily="34" charset="0"/>
              </a:rPr>
              <a:t>Hellenic Authority for Communication Security and Privacy (ADAE) (Law 205/2013)- The latest Greek Law published by ADAE concentrates around the protection of the Integrity and Availability of the services and data offered by the Greek Telecommunication Companies. The new Law forces Telcos and associated companies to build, deploy and test appropriate Business Continuity Plans and redundant infrastructures.</a:t>
            </a:r>
            <a:endParaRPr lang="en-US" dirty="0"/>
          </a:p>
        </p:txBody>
      </p:sp>
    </p:spTree>
    <p:extLst>
      <p:ext uri="{BB962C8B-B14F-4D97-AF65-F5344CB8AC3E}">
        <p14:creationId xmlns:p14="http://schemas.microsoft.com/office/powerpoint/2010/main" val="40395030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5761" y="0"/>
            <a:ext cx="10515600" cy="1325563"/>
          </a:xfrm>
        </p:spPr>
        <p:txBody>
          <a:bodyPr>
            <a:normAutofit/>
          </a:bodyPr>
          <a:lstStyle/>
          <a:p>
            <a:pPr algn="ctr"/>
            <a:r>
              <a:rPr lang="en-US" sz="3600" dirty="0"/>
              <a:t>Countries without official data privacy laws</a:t>
            </a:r>
          </a:p>
        </p:txBody>
      </p:sp>
      <p:pic>
        <p:nvPicPr>
          <p:cNvPr id="4" name="Picture 3"/>
          <p:cNvPicPr>
            <a:picLocks noChangeAspect="1"/>
          </p:cNvPicPr>
          <p:nvPr/>
        </p:nvPicPr>
        <p:blipFill>
          <a:blip r:embed="rId2"/>
          <a:stretch>
            <a:fillRect/>
          </a:stretch>
        </p:blipFill>
        <p:spPr>
          <a:xfrm>
            <a:off x="310551" y="1102383"/>
            <a:ext cx="11645660" cy="5608968"/>
          </a:xfrm>
          <a:prstGeom prst="rect">
            <a:avLst/>
          </a:prstGeom>
        </p:spPr>
      </p:pic>
    </p:spTree>
    <p:extLst>
      <p:ext uri="{BB962C8B-B14F-4D97-AF65-F5344CB8AC3E}">
        <p14:creationId xmlns:p14="http://schemas.microsoft.com/office/powerpoint/2010/main" val="892411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Potential Computer Risks &amp; Security </a:t>
            </a:r>
          </a:p>
        </p:txBody>
      </p:sp>
      <p:sp>
        <p:nvSpPr>
          <p:cNvPr id="3" name="Content Placeholder 2"/>
          <p:cNvSpPr>
            <a:spLocks noGrp="1"/>
          </p:cNvSpPr>
          <p:nvPr>
            <p:ph idx="1"/>
          </p:nvPr>
        </p:nvSpPr>
        <p:spPr/>
        <p:txBody>
          <a:bodyPr>
            <a:normAutofit/>
          </a:bodyPr>
          <a:lstStyle/>
          <a:p>
            <a:r>
              <a:rPr lang="en-US" dirty="0"/>
              <a:t>A </a:t>
            </a:r>
            <a:r>
              <a:rPr lang="en-US" b="1" dirty="0"/>
              <a:t>computer security risk</a:t>
            </a:r>
            <a:r>
              <a:rPr lang="en-US" dirty="0"/>
              <a:t> is anything on your computer that may harm your computer, damage or steal your data or allow someone else to access your computer, without your knowledge or approval.</a:t>
            </a:r>
          </a:p>
          <a:p>
            <a:r>
              <a:rPr lang="en-US" dirty="0"/>
              <a:t>The Cell phones and other types of Computers security is also vulnerable.</a:t>
            </a:r>
          </a:p>
          <a:p>
            <a:r>
              <a:rPr lang="en-US" dirty="0"/>
              <a:t>Many ways can be used to attack on a Computer’s security.</a:t>
            </a:r>
          </a:p>
        </p:txBody>
      </p:sp>
    </p:spTree>
    <p:extLst>
      <p:ext uri="{BB962C8B-B14F-4D97-AF65-F5344CB8AC3E}">
        <p14:creationId xmlns:p14="http://schemas.microsoft.com/office/powerpoint/2010/main" val="9132948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Potential Computer Risks &amp; Security </a:t>
            </a:r>
          </a:p>
        </p:txBody>
      </p:sp>
      <p:sp>
        <p:nvSpPr>
          <p:cNvPr id="3" name="Content Placeholder 2"/>
          <p:cNvSpPr>
            <a:spLocks noGrp="1"/>
          </p:cNvSpPr>
          <p:nvPr>
            <p:ph idx="1"/>
          </p:nvPr>
        </p:nvSpPr>
        <p:spPr/>
        <p:txBody>
          <a:bodyPr>
            <a:normAutofit fontScale="85000" lnSpcReduction="20000"/>
          </a:bodyPr>
          <a:lstStyle/>
          <a:p>
            <a:pPr>
              <a:buFont typeface="Courier New" panose="02070309020205020404" pitchFamily="49" charset="0"/>
              <a:buChar char="o"/>
            </a:pPr>
            <a:r>
              <a:rPr lang="en-US" dirty="0"/>
              <a:t>Viruses </a:t>
            </a:r>
          </a:p>
          <a:p>
            <a:pPr>
              <a:buFont typeface="Courier New" panose="02070309020205020404" pitchFamily="49" charset="0"/>
              <a:buChar char="o"/>
            </a:pPr>
            <a:r>
              <a:rPr lang="en-US" dirty="0"/>
              <a:t>Worms</a:t>
            </a:r>
          </a:p>
          <a:p>
            <a:pPr>
              <a:buFont typeface="Courier New" panose="02070309020205020404" pitchFamily="49" charset="0"/>
              <a:buChar char="o"/>
            </a:pPr>
            <a:r>
              <a:rPr lang="en-US" dirty="0"/>
              <a:t>Ransomware</a:t>
            </a:r>
          </a:p>
          <a:p>
            <a:pPr>
              <a:buFont typeface="Courier New" panose="02070309020205020404" pitchFamily="49" charset="0"/>
              <a:buChar char="o"/>
            </a:pPr>
            <a:r>
              <a:rPr lang="en-US" dirty="0"/>
              <a:t>Trojan Horses</a:t>
            </a:r>
          </a:p>
          <a:p>
            <a:pPr>
              <a:buFont typeface="Courier New" panose="02070309020205020404" pitchFamily="49" charset="0"/>
              <a:buChar char="o"/>
            </a:pPr>
            <a:r>
              <a:rPr lang="en-US" dirty="0"/>
              <a:t>Adware</a:t>
            </a:r>
          </a:p>
          <a:p>
            <a:pPr>
              <a:buFont typeface="Courier New" panose="02070309020205020404" pitchFamily="49" charset="0"/>
              <a:buChar char="o"/>
            </a:pPr>
            <a:r>
              <a:rPr lang="en-US" dirty="0"/>
              <a:t>Spyware</a:t>
            </a:r>
          </a:p>
          <a:p>
            <a:pPr>
              <a:buFont typeface="Courier New" panose="02070309020205020404" pitchFamily="49" charset="0"/>
              <a:buChar char="o"/>
            </a:pPr>
            <a:r>
              <a:rPr lang="en-US" dirty="0"/>
              <a:t>DOS and DDOS attacks</a:t>
            </a:r>
          </a:p>
          <a:p>
            <a:pPr>
              <a:buFont typeface="Courier New" panose="02070309020205020404" pitchFamily="49" charset="0"/>
              <a:buChar char="o"/>
            </a:pPr>
            <a:r>
              <a:rPr lang="en-US" dirty="0"/>
              <a:t>Phishing</a:t>
            </a:r>
          </a:p>
          <a:p>
            <a:pPr>
              <a:buFont typeface="Courier New" panose="02070309020205020404" pitchFamily="49" charset="0"/>
              <a:buChar char="o"/>
            </a:pPr>
            <a:r>
              <a:rPr lang="en-US" dirty="0"/>
              <a:t>Rootkit</a:t>
            </a:r>
          </a:p>
          <a:p>
            <a:pPr>
              <a:buFont typeface="Courier New" panose="02070309020205020404" pitchFamily="49" charset="0"/>
              <a:buChar char="o"/>
            </a:pPr>
            <a:r>
              <a:rPr lang="en-US" dirty="0"/>
              <a:t>SQL Injection attack</a:t>
            </a:r>
          </a:p>
          <a:p>
            <a:pPr>
              <a:buFont typeface="Courier New" panose="02070309020205020404" pitchFamily="49" charset="0"/>
              <a:buChar char="o"/>
            </a:pPr>
            <a:r>
              <a:rPr lang="en-US" dirty="0"/>
              <a:t>Man-In-The-Middle (</a:t>
            </a:r>
            <a:r>
              <a:rPr lang="en-US" dirty="0" err="1"/>
              <a:t>MitM</a:t>
            </a:r>
            <a:r>
              <a:rPr lang="en-US" dirty="0"/>
              <a:t>) Attacks</a:t>
            </a:r>
          </a:p>
          <a:p>
            <a:pPr>
              <a:buFont typeface="Courier New" panose="02070309020205020404" pitchFamily="49" charset="0"/>
              <a:buChar char="o"/>
            </a:pPr>
            <a:endParaRPr lang="en-US" dirty="0"/>
          </a:p>
        </p:txBody>
      </p:sp>
    </p:spTree>
    <p:extLst>
      <p:ext uri="{BB962C8B-B14F-4D97-AF65-F5344CB8AC3E}">
        <p14:creationId xmlns:p14="http://schemas.microsoft.com/office/powerpoint/2010/main" val="2622209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Potential Computer Risks &amp; Security </a:t>
            </a:r>
          </a:p>
        </p:txBody>
      </p:sp>
      <p:sp>
        <p:nvSpPr>
          <p:cNvPr id="3" name="Content Placeholder 2"/>
          <p:cNvSpPr>
            <a:spLocks noGrp="1"/>
          </p:cNvSpPr>
          <p:nvPr>
            <p:ph idx="1"/>
          </p:nvPr>
        </p:nvSpPr>
        <p:spPr>
          <a:xfrm>
            <a:off x="838200" y="1809583"/>
            <a:ext cx="10515600" cy="4351338"/>
          </a:xfrm>
        </p:spPr>
        <p:txBody>
          <a:bodyPr>
            <a:normAutofit/>
          </a:bodyPr>
          <a:lstStyle/>
          <a:p>
            <a:pPr marL="0" indent="0">
              <a:buNone/>
            </a:pPr>
            <a:r>
              <a:rPr lang="en-US" b="1" u="sng" dirty="0"/>
              <a:t>SQL Injection attack:</a:t>
            </a:r>
          </a:p>
          <a:p>
            <a:pPr>
              <a:buFont typeface="Courier New" panose="02070309020205020404" pitchFamily="49" charset="0"/>
              <a:buChar char="o"/>
            </a:pPr>
            <a:r>
              <a:rPr lang="en-US" dirty="0"/>
              <a:t>Unauthorized access to the users data of an Application. For example;</a:t>
            </a:r>
          </a:p>
          <a:p>
            <a:pPr lvl="1">
              <a:buFont typeface="Courier New" panose="02070309020205020404" pitchFamily="49" charset="0"/>
              <a:buChar char="o"/>
            </a:pPr>
            <a:r>
              <a:rPr lang="en-US" b="1" dirty="0"/>
              <a:t>Facebook</a:t>
            </a:r>
            <a:r>
              <a:rPr lang="en-US" dirty="0"/>
              <a:t>’s users data</a:t>
            </a:r>
          </a:p>
          <a:p>
            <a:pPr lvl="1">
              <a:buFont typeface="Courier New" panose="02070309020205020404" pitchFamily="49" charset="0"/>
              <a:buChar char="o"/>
            </a:pPr>
            <a:r>
              <a:rPr lang="en-US" b="1" dirty="0"/>
              <a:t>WhatsApp</a:t>
            </a:r>
            <a:r>
              <a:rPr lang="en-US" dirty="0"/>
              <a:t>’s users data</a:t>
            </a:r>
          </a:p>
          <a:p>
            <a:pPr lvl="1">
              <a:buFont typeface="Courier New" panose="02070309020205020404" pitchFamily="49" charset="0"/>
              <a:buChar char="o"/>
            </a:pPr>
            <a:r>
              <a:rPr lang="en-US" b="1" dirty="0"/>
              <a:t>Learning Management System </a:t>
            </a:r>
            <a:r>
              <a:rPr lang="en-US" dirty="0"/>
              <a:t>of an educational institute’s users data</a:t>
            </a:r>
          </a:p>
          <a:p>
            <a:pPr>
              <a:buFont typeface="Courier New" panose="02070309020205020404" pitchFamily="49" charset="0"/>
              <a:buChar char="o"/>
            </a:pPr>
            <a:r>
              <a:rPr lang="en-US" dirty="0"/>
              <a:t>Allows an attacker to view, update or delete data that they are not normally able to retrieve.</a:t>
            </a:r>
          </a:p>
          <a:p>
            <a:pPr>
              <a:buFont typeface="Courier New" panose="02070309020205020404" pitchFamily="49" charset="0"/>
              <a:buChar char="o"/>
            </a:pPr>
            <a:r>
              <a:rPr lang="en-US" dirty="0"/>
              <a:t>Happens due to vulnerable Software application design</a:t>
            </a:r>
          </a:p>
        </p:txBody>
      </p:sp>
    </p:spTree>
    <p:extLst>
      <p:ext uri="{BB962C8B-B14F-4D97-AF65-F5344CB8AC3E}">
        <p14:creationId xmlns:p14="http://schemas.microsoft.com/office/powerpoint/2010/main" val="25535933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Potential Computer Risks &amp; Security </a:t>
            </a:r>
          </a:p>
        </p:txBody>
      </p:sp>
      <p:sp>
        <p:nvSpPr>
          <p:cNvPr id="3" name="Content Placeholder 2"/>
          <p:cNvSpPr>
            <a:spLocks noGrp="1"/>
          </p:cNvSpPr>
          <p:nvPr>
            <p:ph idx="1"/>
          </p:nvPr>
        </p:nvSpPr>
        <p:spPr/>
        <p:txBody>
          <a:bodyPr>
            <a:normAutofit/>
          </a:bodyPr>
          <a:lstStyle/>
          <a:p>
            <a:pPr marL="0" indent="0">
              <a:buNone/>
            </a:pPr>
            <a:r>
              <a:rPr lang="en-US" b="1" u="sng" dirty="0" err="1"/>
              <a:t>MitM</a:t>
            </a:r>
            <a:r>
              <a:rPr lang="en-US" b="1" u="sng" dirty="0"/>
              <a:t> Attacks:</a:t>
            </a:r>
          </a:p>
          <a:p>
            <a:pPr>
              <a:buFont typeface="Courier New" panose="02070309020205020404" pitchFamily="49" charset="0"/>
              <a:buChar char="o"/>
            </a:pPr>
            <a:r>
              <a:rPr lang="en-US" dirty="0"/>
              <a:t>Allow intruders to secretly intercept communications or alter them. </a:t>
            </a:r>
          </a:p>
          <a:p>
            <a:pPr>
              <a:buFont typeface="Courier New" panose="02070309020205020404" pitchFamily="49" charset="0"/>
              <a:buChar char="o"/>
            </a:pPr>
            <a:r>
              <a:rPr lang="en-US" dirty="0"/>
              <a:t>It can listen to a communication which should, in normal settings, be private.</a:t>
            </a:r>
          </a:p>
          <a:p>
            <a:pPr>
              <a:buFont typeface="Courier New" panose="02070309020205020404" pitchFamily="49" charset="0"/>
              <a:buChar char="o"/>
            </a:pPr>
            <a:r>
              <a:rPr lang="en-US" dirty="0"/>
              <a:t>Detection of </a:t>
            </a:r>
            <a:r>
              <a:rPr lang="en-US" dirty="0" err="1"/>
              <a:t>MitM</a:t>
            </a:r>
            <a:r>
              <a:rPr lang="en-US" dirty="0"/>
              <a:t> attacks is difficult, but they are preventable.</a:t>
            </a:r>
          </a:p>
          <a:p>
            <a:pPr>
              <a:buFont typeface="Courier New" panose="02070309020205020404" pitchFamily="49" charset="0"/>
              <a:buChar char="o"/>
            </a:pPr>
            <a:r>
              <a:rPr lang="en-US" dirty="0"/>
              <a:t>Have various types </a:t>
            </a:r>
          </a:p>
          <a:p>
            <a:pPr>
              <a:buFont typeface="Courier New" panose="02070309020205020404" pitchFamily="49" charset="0"/>
              <a:buChar char="o"/>
            </a:pPr>
            <a:endParaRPr lang="en-US" b="1" dirty="0"/>
          </a:p>
        </p:txBody>
      </p:sp>
    </p:spTree>
    <p:extLst>
      <p:ext uri="{BB962C8B-B14F-4D97-AF65-F5344CB8AC3E}">
        <p14:creationId xmlns:p14="http://schemas.microsoft.com/office/powerpoint/2010/main" val="25182168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Potential Computer Risks &amp; Security </a:t>
            </a:r>
          </a:p>
        </p:txBody>
      </p:sp>
      <p:sp>
        <p:nvSpPr>
          <p:cNvPr id="3" name="Content Placeholder 2"/>
          <p:cNvSpPr>
            <a:spLocks noGrp="1"/>
          </p:cNvSpPr>
          <p:nvPr>
            <p:ph idx="1"/>
          </p:nvPr>
        </p:nvSpPr>
        <p:spPr/>
        <p:txBody>
          <a:bodyPr>
            <a:normAutofit/>
          </a:bodyPr>
          <a:lstStyle/>
          <a:p>
            <a:pPr>
              <a:buFont typeface="Courier New" panose="02070309020205020404" pitchFamily="49" charset="0"/>
              <a:buChar char="o"/>
            </a:pPr>
            <a:r>
              <a:rPr lang="en-US" sz="3200" b="1" dirty="0" err="1"/>
              <a:t>MitM</a:t>
            </a:r>
            <a:r>
              <a:rPr lang="en-US" sz="3200" b="1" dirty="0"/>
              <a:t> Attack Types:</a:t>
            </a:r>
          </a:p>
          <a:p>
            <a:pPr lvl="1" algn="just">
              <a:buFont typeface="Wingdings" panose="05000000000000000000" pitchFamily="2" charset="2"/>
              <a:buChar char="Ø"/>
            </a:pPr>
            <a:r>
              <a:rPr lang="en-US" sz="2800" dirty="0"/>
              <a:t>DNS Spoofing:</a:t>
            </a:r>
          </a:p>
          <a:p>
            <a:pPr lvl="1">
              <a:buFont typeface="Wingdings" panose="05000000000000000000" pitchFamily="2" charset="2"/>
              <a:buChar char="Ø"/>
            </a:pPr>
            <a:r>
              <a:rPr lang="en-US" sz="2800" dirty="0"/>
              <a:t>HTTPS spoofing: </a:t>
            </a:r>
          </a:p>
          <a:p>
            <a:pPr lvl="1">
              <a:buFont typeface="Wingdings" panose="05000000000000000000" pitchFamily="2" charset="2"/>
              <a:buChar char="Ø"/>
            </a:pPr>
            <a:r>
              <a:rPr lang="en-US" sz="2800" dirty="0"/>
              <a:t>IP spoofing:</a:t>
            </a:r>
          </a:p>
          <a:p>
            <a:pPr lvl="1">
              <a:buFont typeface="Wingdings" panose="05000000000000000000" pitchFamily="2" charset="2"/>
              <a:buChar char="Ø"/>
            </a:pPr>
            <a:r>
              <a:rPr lang="en-US" sz="2800" dirty="0"/>
              <a:t>ARP spoofing</a:t>
            </a:r>
          </a:p>
          <a:p>
            <a:pPr lvl="1">
              <a:buFont typeface="Wingdings" panose="05000000000000000000" pitchFamily="2" charset="2"/>
              <a:buChar char="Ø"/>
            </a:pPr>
            <a:r>
              <a:rPr lang="en-US" sz="2800" dirty="0"/>
              <a:t>SSL hijacking</a:t>
            </a:r>
          </a:p>
          <a:p>
            <a:pPr lvl="1">
              <a:buFont typeface="Wingdings" panose="05000000000000000000" pitchFamily="2" charset="2"/>
              <a:buChar char="Ø"/>
            </a:pPr>
            <a:r>
              <a:rPr lang="en-US" sz="2800" dirty="0"/>
              <a:t>Wi-Fi hacking</a:t>
            </a:r>
          </a:p>
          <a:p>
            <a:pPr lvl="1">
              <a:buFont typeface="Wingdings" panose="05000000000000000000" pitchFamily="2" charset="2"/>
              <a:buChar char="Ø"/>
            </a:pPr>
            <a:endParaRPr lang="en-US" dirty="0"/>
          </a:p>
        </p:txBody>
      </p:sp>
    </p:spTree>
    <p:extLst>
      <p:ext uri="{BB962C8B-B14F-4D97-AF65-F5344CB8AC3E}">
        <p14:creationId xmlns:p14="http://schemas.microsoft.com/office/powerpoint/2010/main" val="41019283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Potential Computer Risks &amp; Security </a:t>
            </a:r>
          </a:p>
        </p:txBody>
      </p:sp>
      <p:sp>
        <p:nvSpPr>
          <p:cNvPr id="3" name="Content Placeholder 2"/>
          <p:cNvSpPr>
            <a:spLocks noGrp="1"/>
          </p:cNvSpPr>
          <p:nvPr>
            <p:ph idx="1"/>
          </p:nvPr>
        </p:nvSpPr>
        <p:spPr/>
        <p:txBody>
          <a:bodyPr>
            <a:normAutofit fontScale="92500" lnSpcReduction="10000"/>
          </a:bodyPr>
          <a:lstStyle/>
          <a:p>
            <a:pPr marL="0" indent="0">
              <a:buNone/>
            </a:pPr>
            <a:r>
              <a:rPr lang="en-US" sz="3600" b="1" dirty="0"/>
              <a:t>Health concerns of computer use:</a:t>
            </a:r>
          </a:p>
          <a:p>
            <a:pPr>
              <a:buFont typeface="Courier New" panose="02070309020205020404" pitchFamily="49" charset="0"/>
              <a:buChar char="o"/>
            </a:pPr>
            <a:r>
              <a:rPr lang="en-US" sz="3200" dirty="0"/>
              <a:t>Computer vision syndrome (CVS): eye and vision problems</a:t>
            </a:r>
          </a:p>
          <a:p>
            <a:pPr>
              <a:buFont typeface="Courier New" panose="02070309020205020404" pitchFamily="49" charset="0"/>
              <a:buChar char="o"/>
            </a:pPr>
            <a:r>
              <a:rPr lang="en-US" sz="3200" dirty="0"/>
              <a:t>Repetitive strain injury (RSI):</a:t>
            </a:r>
          </a:p>
          <a:p>
            <a:pPr lvl="1"/>
            <a:r>
              <a:rPr lang="en-US" b="1" dirty="0"/>
              <a:t>Carpal tunnel syndrome (CTS)—</a:t>
            </a:r>
            <a:r>
              <a:rPr lang="en-US" sz="3200" dirty="0"/>
              <a:t>inflammation of nerve that connects forearm to palm</a:t>
            </a:r>
          </a:p>
          <a:p>
            <a:pPr>
              <a:buFont typeface="Courier New" panose="02070309020205020404" pitchFamily="49" charset="0"/>
              <a:buChar char="o"/>
            </a:pPr>
            <a:r>
              <a:rPr lang="en-US" sz="3600" dirty="0"/>
              <a:t>Tendonitis: inflammation of tendon due to repeated motion</a:t>
            </a:r>
          </a:p>
          <a:p>
            <a:pPr>
              <a:buFont typeface="Courier New" panose="02070309020205020404" pitchFamily="49" charset="0"/>
              <a:buChar char="o"/>
            </a:pPr>
            <a:r>
              <a:rPr lang="en-US" sz="3600" dirty="0"/>
              <a:t>Computer addiction: when computer consumes entire social life</a:t>
            </a:r>
            <a:endParaRPr lang="en-US" sz="3600" b="1" u="sng" dirty="0"/>
          </a:p>
        </p:txBody>
      </p:sp>
    </p:spTree>
    <p:extLst>
      <p:ext uri="{BB962C8B-B14F-4D97-AF65-F5344CB8AC3E}">
        <p14:creationId xmlns:p14="http://schemas.microsoft.com/office/powerpoint/2010/main" val="17743876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Potential Computer Risks &amp; Security </a:t>
            </a:r>
          </a:p>
        </p:txBody>
      </p:sp>
      <p:sp>
        <p:nvSpPr>
          <p:cNvPr id="3" name="Content Placeholder 2"/>
          <p:cNvSpPr>
            <a:spLocks noGrp="1"/>
          </p:cNvSpPr>
          <p:nvPr>
            <p:ph idx="1"/>
          </p:nvPr>
        </p:nvSpPr>
        <p:spPr/>
        <p:txBody>
          <a:bodyPr>
            <a:normAutofit/>
          </a:bodyPr>
          <a:lstStyle/>
          <a:p>
            <a:pPr marL="0" indent="0">
              <a:buNone/>
            </a:pPr>
            <a:r>
              <a:rPr lang="en-US" sz="3200" b="1" dirty="0"/>
              <a:t>What precautions can prevent tendonitis or carpal tunnel syndrome?</a:t>
            </a:r>
          </a:p>
          <a:p>
            <a:pPr>
              <a:buFont typeface="Courier New" panose="02070309020205020404" pitchFamily="49" charset="0"/>
              <a:buChar char="o"/>
            </a:pPr>
            <a:r>
              <a:rPr lang="en-US" sz="3200" dirty="0"/>
              <a:t>Take frequent breaks during computer session</a:t>
            </a:r>
          </a:p>
          <a:p>
            <a:pPr>
              <a:buFont typeface="Courier New" panose="02070309020205020404" pitchFamily="49" charset="0"/>
              <a:buChar char="o"/>
            </a:pPr>
            <a:r>
              <a:rPr lang="en-US" sz="3200" dirty="0"/>
              <a:t>Use wrist rest</a:t>
            </a:r>
          </a:p>
          <a:p>
            <a:pPr>
              <a:buFont typeface="Courier New" panose="02070309020205020404" pitchFamily="49" charset="0"/>
              <a:buChar char="o"/>
            </a:pPr>
            <a:r>
              <a:rPr lang="en-US" sz="3200" dirty="0"/>
              <a:t>Exercise hands and arms</a:t>
            </a:r>
          </a:p>
          <a:p>
            <a:pPr>
              <a:buFont typeface="Courier New" panose="02070309020205020404" pitchFamily="49" charset="0"/>
              <a:buChar char="o"/>
            </a:pPr>
            <a:r>
              <a:rPr lang="en-US" sz="3200" dirty="0"/>
              <a:t>Minimize number of times you switch between mouse and keyboard</a:t>
            </a:r>
            <a:endParaRPr lang="en-US" sz="3600" b="1" u="sng" dirty="0"/>
          </a:p>
        </p:txBody>
      </p:sp>
    </p:spTree>
    <p:extLst>
      <p:ext uri="{BB962C8B-B14F-4D97-AF65-F5344CB8AC3E}">
        <p14:creationId xmlns:p14="http://schemas.microsoft.com/office/powerpoint/2010/main" val="41032882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Potential Computer Risks &amp; Security </a:t>
            </a:r>
          </a:p>
        </p:txBody>
      </p:sp>
      <p:sp>
        <p:nvSpPr>
          <p:cNvPr id="3" name="Content Placeholder 2"/>
          <p:cNvSpPr>
            <a:spLocks noGrp="1"/>
          </p:cNvSpPr>
          <p:nvPr>
            <p:ph idx="1"/>
          </p:nvPr>
        </p:nvSpPr>
        <p:spPr>
          <a:xfrm>
            <a:off x="838200" y="1825625"/>
            <a:ext cx="10807460" cy="4713198"/>
          </a:xfrm>
        </p:spPr>
        <p:txBody>
          <a:bodyPr>
            <a:normAutofit/>
          </a:bodyPr>
          <a:lstStyle/>
          <a:p>
            <a:pPr marL="0" indent="0">
              <a:buNone/>
            </a:pPr>
            <a:r>
              <a:rPr lang="en-US" sz="3200" b="1" dirty="0"/>
              <a:t>How can you ease eyestrain when working at the computer?</a:t>
            </a:r>
          </a:p>
          <a:p>
            <a:pPr>
              <a:buFont typeface="Courier New" panose="02070309020205020404" pitchFamily="49" charset="0"/>
              <a:buChar char="o"/>
            </a:pPr>
            <a:r>
              <a:rPr lang="en-US" sz="3200" dirty="0"/>
              <a:t>Every 10 to 15 minutes take an eye break</a:t>
            </a:r>
          </a:p>
          <a:p>
            <a:pPr lvl="1">
              <a:buFont typeface="Wingdings" panose="05000000000000000000" pitchFamily="2" charset="2"/>
              <a:buChar char="§"/>
            </a:pPr>
            <a:r>
              <a:rPr lang="en-US" sz="2800" dirty="0"/>
              <a:t>Look into the distance and focus on an object for 20 to 30 seconds</a:t>
            </a:r>
          </a:p>
          <a:p>
            <a:pPr lvl="1">
              <a:buFont typeface="Wingdings" panose="05000000000000000000" pitchFamily="2" charset="2"/>
              <a:buChar char="§"/>
            </a:pPr>
            <a:r>
              <a:rPr lang="en-US" sz="2800" dirty="0"/>
              <a:t>Roll your eyes in a complete circle</a:t>
            </a:r>
          </a:p>
          <a:p>
            <a:pPr lvl="1">
              <a:buFont typeface="Wingdings" panose="05000000000000000000" pitchFamily="2" charset="2"/>
              <a:buChar char="§"/>
            </a:pPr>
            <a:r>
              <a:rPr lang="en-US" sz="2800" dirty="0"/>
              <a:t>Close your eyes and rest them for at least one minute</a:t>
            </a:r>
          </a:p>
          <a:p>
            <a:pPr>
              <a:buFont typeface="Courier New" panose="02070309020205020404" pitchFamily="49" charset="0"/>
              <a:buChar char="o"/>
            </a:pPr>
            <a:r>
              <a:rPr lang="en-US" sz="3200" dirty="0"/>
              <a:t>Blink your eyes every five seconds</a:t>
            </a:r>
          </a:p>
          <a:p>
            <a:pPr>
              <a:buFont typeface="Courier New" panose="02070309020205020404" pitchFamily="49" charset="0"/>
              <a:buChar char="o"/>
            </a:pPr>
            <a:r>
              <a:rPr lang="en-US" sz="3200" dirty="0"/>
              <a:t>Use large fonts</a:t>
            </a:r>
          </a:p>
        </p:txBody>
      </p:sp>
    </p:spTree>
    <p:extLst>
      <p:ext uri="{BB962C8B-B14F-4D97-AF65-F5344CB8AC3E}">
        <p14:creationId xmlns:p14="http://schemas.microsoft.com/office/powerpoint/2010/main" val="26345484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Potential Computer Risks &amp; Security </a:t>
            </a:r>
          </a:p>
        </p:txBody>
      </p:sp>
      <p:sp>
        <p:nvSpPr>
          <p:cNvPr id="3" name="Content Placeholder 2"/>
          <p:cNvSpPr>
            <a:spLocks noGrp="1"/>
          </p:cNvSpPr>
          <p:nvPr>
            <p:ph idx="1"/>
          </p:nvPr>
        </p:nvSpPr>
        <p:spPr>
          <a:xfrm>
            <a:off x="838200" y="1825625"/>
            <a:ext cx="10807460" cy="4713198"/>
          </a:xfrm>
        </p:spPr>
        <p:txBody>
          <a:bodyPr>
            <a:normAutofit/>
          </a:bodyPr>
          <a:lstStyle/>
          <a:p>
            <a:pPr marL="0" indent="0">
              <a:buNone/>
            </a:pPr>
            <a:r>
              <a:rPr lang="en-US" sz="3200" b="1" dirty="0"/>
              <a:t>How can you ease eyestrain when working at the computer?</a:t>
            </a:r>
          </a:p>
          <a:p>
            <a:pPr>
              <a:buFont typeface="Courier New" panose="02070309020205020404" pitchFamily="49" charset="0"/>
              <a:buChar char="o"/>
            </a:pPr>
            <a:r>
              <a:rPr lang="en-US" sz="3600" dirty="0"/>
              <a:t>Place your display device about an arm’s length away from your eyes with the top of the screen at eye level or below</a:t>
            </a:r>
          </a:p>
          <a:p>
            <a:pPr>
              <a:buFont typeface="Courier New" panose="02070309020205020404" pitchFamily="49" charset="0"/>
              <a:buChar char="o"/>
            </a:pPr>
            <a:r>
              <a:rPr lang="en-US" sz="3600" dirty="0"/>
              <a:t>If you wear glasses, ask your doctor about computer glasses</a:t>
            </a:r>
          </a:p>
          <a:p>
            <a:pPr>
              <a:buFont typeface="Courier New" panose="02070309020205020404" pitchFamily="49" charset="0"/>
              <a:buChar char="o"/>
            </a:pPr>
            <a:r>
              <a:rPr lang="en-US" sz="3600" dirty="0"/>
              <a:t>Adjust the lighting</a:t>
            </a:r>
            <a:endParaRPr lang="en-US" sz="3600" b="1" u="sng" dirty="0"/>
          </a:p>
        </p:txBody>
      </p:sp>
    </p:spTree>
    <p:extLst>
      <p:ext uri="{BB962C8B-B14F-4D97-AF65-F5344CB8AC3E}">
        <p14:creationId xmlns:p14="http://schemas.microsoft.com/office/powerpoint/2010/main" val="18167549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Potential Computer Risks &amp; Security </a:t>
            </a:r>
          </a:p>
        </p:txBody>
      </p:sp>
      <p:sp>
        <p:nvSpPr>
          <p:cNvPr id="3" name="Content Placeholder 2"/>
          <p:cNvSpPr>
            <a:spLocks noGrp="1"/>
          </p:cNvSpPr>
          <p:nvPr>
            <p:ph idx="1"/>
          </p:nvPr>
        </p:nvSpPr>
        <p:spPr>
          <a:xfrm>
            <a:off x="838200" y="1825625"/>
            <a:ext cx="10807460" cy="4713198"/>
          </a:xfrm>
        </p:spPr>
        <p:txBody>
          <a:bodyPr>
            <a:normAutofit lnSpcReduction="10000"/>
          </a:bodyPr>
          <a:lstStyle/>
          <a:p>
            <a:pPr marL="0" indent="0">
              <a:buNone/>
            </a:pPr>
            <a:r>
              <a:rPr lang="en-US" sz="3200" b="1" dirty="0"/>
              <a:t>What is ergonomics?</a:t>
            </a:r>
          </a:p>
          <a:p>
            <a:pPr>
              <a:buFont typeface="Courier New" panose="02070309020205020404" pitchFamily="49" charset="0"/>
              <a:buChar char="o"/>
            </a:pPr>
            <a:r>
              <a:rPr lang="en-US" sz="3600" dirty="0"/>
              <a:t>Applied science devoted to comfort, efficiency, and safety in workplace</a:t>
            </a:r>
          </a:p>
          <a:p>
            <a:pPr lvl="1">
              <a:buFont typeface="Wingdings" panose="05000000000000000000" pitchFamily="2" charset="2"/>
              <a:buChar char="§"/>
            </a:pPr>
            <a:r>
              <a:rPr lang="en-US" sz="3200" dirty="0"/>
              <a:t>Keyboard height: 23” to 28”</a:t>
            </a:r>
          </a:p>
          <a:p>
            <a:pPr lvl="1">
              <a:buFont typeface="Wingdings" panose="05000000000000000000" pitchFamily="2" charset="2"/>
              <a:buChar char="§"/>
            </a:pPr>
            <a:r>
              <a:rPr lang="en-US" sz="3200" dirty="0"/>
              <a:t>Elbows at 90 degrees and arms and hands parallel to the floor</a:t>
            </a:r>
          </a:p>
          <a:p>
            <a:pPr lvl="1">
              <a:buFont typeface="Wingdings" panose="05000000000000000000" pitchFamily="2" charset="2"/>
              <a:buChar char="§"/>
            </a:pPr>
            <a:r>
              <a:rPr lang="en-US" sz="3200" dirty="0"/>
              <a:t>Adjustable backrest</a:t>
            </a:r>
          </a:p>
          <a:p>
            <a:pPr lvl="1">
              <a:buFont typeface="Wingdings" panose="05000000000000000000" pitchFamily="2" charset="2"/>
              <a:buChar char="§"/>
            </a:pPr>
            <a:r>
              <a:rPr lang="en-US" sz="3200" dirty="0"/>
              <a:t>Adjustable seat</a:t>
            </a:r>
          </a:p>
          <a:p>
            <a:pPr lvl="1">
              <a:buFont typeface="Wingdings" panose="05000000000000000000" pitchFamily="2" charset="2"/>
              <a:buChar char="§"/>
            </a:pPr>
            <a:r>
              <a:rPr lang="en-US" sz="3200" dirty="0"/>
              <a:t>Feet flat on floor</a:t>
            </a:r>
          </a:p>
          <a:p>
            <a:pPr lvl="1">
              <a:buFont typeface="Wingdings" panose="05000000000000000000" pitchFamily="2" charset="2"/>
              <a:buChar char="§"/>
            </a:pPr>
            <a:r>
              <a:rPr lang="en-US" sz="3200" dirty="0"/>
              <a:t>Adjustable height chair with 5 legs for stability</a:t>
            </a:r>
            <a:endParaRPr lang="en-US" sz="3200" b="1" u="sng" dirty="0"/>
          </a:p>
        </p:txBody>
      </p:sp>
    </p:spTree>
    <p:extLst>
      <p:ext uri="{BB962C8B-B14F-4D97-AF65-F5344CB8AC3E}">
        <p14:creationId xmlns:p14="http://schemas.microsoft.com/office/powerpoint/2010/main" val="24983648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Potential Computer Risks &amp; Security </a:t>
            </a:r>
          </a:p>
        </p:txBody>
      </p:sp>
      <p:sp>
        <p:nvSpPr>
          <p:cNvPr id="3" name="Content Placeholder 2"/>
          <p:cNvSpPr>
            <a:spLocks noGrp="1"/>
          </p:cNvSpPr>
          <p:nvPr>
            <p:ph idx="1"/>
          </p:nvPr>
        </p:nvSpPr>
        <p:spPr>
          <a:xfrm>
            <a:off x="838200" y="1825625"/>
            <a:ext cx="10807460" cy="4713198"/>
          </a:xfrm>
        </p:spPr>
        <p:txBody>
          <a:bodyPr>
            <a:normAutofit/>
          </a:bodyPr>
          <a:lstStyle/>
          <a:p>
            <a:pPr marL="0" indent="0">
              <a:buNone/>
            </a:pPr>
            <a:r>
              <a:rPr lang="en-US" sz="3200" b="1" dirty="0"/>
              <a:t>What is green computing?</a:t>
            </a:r>
          </a:p>
          <a:p>
            <a:pPr>
              <a:buFont typeface="Courier New" panose="02070309020205020404" pitchFamily="49" charset="0"/>
              <a:buChar char="o"/>
            </a:pPr>
            <a:r>
              <a:rPr lang="en-US" sz="3600" dirty="0"/>
              <a:t>Reducing electricity and environmental waste while using computer</a:t>
            </a:r>
          </a:p>
          <a:p>
            <a:pPr lvl="1">
              <a:buFont typeface="Wingdings" panose="05000000000000000000" pitchFamily="2" charset="2"/>
              <a:buChar char="§"/>
            </a:pPr>
            <a:r>
              <a:rPr lang="en-US" sz="3200" dirty="0"/>
              <a:t>Use computer and devices that comply with the ENERGY STAR program.</a:t>
            </a:r>
          </a:p>
          <a:p>
            <a:pPr lvl="1">
              <a:buFont typeface="Wingdings" panose="05000000000000000000" pitchFamily="2" charset="2"/>
              <a:buChar char="§"/>
            </a:pPr>
            <a:r>
              <a:rPr lang="en-US" sz="3200" dirty="0"/>
              <a:t>Do not leave the computer running overnight.</a:t>
            </a:r>
          </a:p>
          <a:p>
            <a:pPr lvl="1">
              <a:buFont typeface="Wingdings" panose="05000000000000000000" pitchFamily="2" charset="2"/>
              <a:buChar char="§"/>
            </a:pPr>
            <a:r>
              <a:rPr lang="en-US" sz="3200" dirty="0"/>
              <a:t>Turn off the monitor, printer, and other devices when not in use.</a:t>
            </a:r>
            <a:endParaRPr lang="en-US" b="1" u="sng" dirty="0"/>
          </a:p>
        </p:txBody>
      </p:sp>
    </p:spTree>
    <p:extLst>
      <p:ext uri="{BB962C8B-B14F-4D97-AF65-F5344CB8AC3E}">
        <p14:creationId xmlns:p14="http://schemas.microsoft.com/office/powerpoint/2010/main" val="31707547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Potential Computer Risks and Security</a:t>
            </a:r>
          </a:p>
        </p:txBody>
      </p:sp>
      <p:sp>
        <p:nvSpPr>
          <p:cNvPr id="3" name="Content Placeholder 2"/>
          <p:cNvSpPr>
            <a:spLocks noGrp="1"/>
          </p:cNvSpPr>
          <p:nvPr>
            <p:ph idx="1"/>
          </p:nvPr>
        </p:nvSpPr>
        <p:spPr/>
        <p:txBody>
          <a:bodyPr>
            <a:normAutofit/>
          </a:bodyPr>
          <a:lstStyle/>
          <a:p>
            <a:pPr>
              <a:buFont typeface="Courier New" panose="02070309020205020404" pitchFamily="49" charset="0"/>
              <a:buChar char="o"/>
            </a:pPr>
            <a:r>
              <a:rPr lang="en-US" dirty="0"/>
              <a:t>Safeguards that schools, business, and individuals can implement to minimize these risks</a:t>
            </a:r>
          </a:p>
          <a:p>
            <a:pPr>
              <a:buFont typeface="Courier New" panose="02070309020205020404" pitchFamily="49" charset="0"/>
              <a:buChar char="o"/>
            </a:pPr>
            <a:r>
              <a:rPr lang="en-US" dirty="0"/>
              <a:t>Internet security risks and safeguards</a:t>
            </a:r>
          </a:p>
          <a:p>
            <a:pPr>
              <a:buFont typeface="Courier New" panose="02070309020205020404" pitchFamily="49" charset="0"/>
              <a:buChar char="o"/>
            </a:pPr>
            <a:r>
              <a:rPr lang="en-US" dirty="0"/>
              <a:t>Ethical issues surrounding information accuracy, intellectual property rights, codes of conduct, and information privacy</a:t>
            </a:r>
          </a:p>
          <a:p>
            <a:pPr>
              <a:buFont typeface="Courier New" panose="02070309020205020404" pitchFamily="49" charset="0"/>
              <a:buChar char="o"/>
            </a:pPr>
            <a:r>
              <a:rPr lang="en-US" dirty="0"/>
              <a:t>Computer-related health issues, their preventions, and ways to keep the environment healthy</a:t>
            </a:r>
          </a:p>
        </p:txBody>
      </p:sp>
    </p:spTree>
    <p:extLst>
      <p:ext uri="{BB962C8B-B14F-4D97-AF65-F5344CB8AC3E}">
        <p14:creationId xmlns:p14="http://schemas.microsoft.com/office/powerpoint/2010/main" val="2356888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1846</TotalTime>
  <Words>1874</Words>
  <Application>Microsoft Office PowerPoint</Application>
  <PresentationFormat>Widescreen</PresentationFormat>
  <Paragraphs>196</Paragraphs>
  <Slides>30</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Calibri Light</vt:lpstr>
      <vt:lpstr>Courier New</vt:lpstr>
      <vt:lpstr>Times New Roman</vt:lpstr>
      <vt:lpstr>Wingdings</vt:lpstr>
      <vt:lpstr>Office Theme</vt:lpstr>
      <vt:lpstr>Professional Practices</vt:lpstr>
      <vt:lpstr>Week 14 Topic: Introduction to Computer Privacy and Security Principles</vt:lpstr>
      <vt:lpstr>Introduction</vt:lpstr>
      <vt:lpstr>Computer Privacy</vt:lpstr>
      <vt:lpstr>Information Security</vt:lpstr>
      <vt:lpstr>Information Security vs Cyber Security</vt:lpstr>
      <vt:lpstr>History</vt:lpstr>
      <vt:lpstr>History</vt:lpstr>
      <vt:lpstr>Ways used for Digital Devices Privacy</vt:lpstr>
      <vt:lpstr>Content Filtering</vt:lpstr>
      <vt:lpstr>Content Filtering</vt:lpstr>
      <vt:lpstr>Content Filtering</vt:lpstr>
      <vt:lpstr>Privacy Laws &amp; Regulations (1)</vt:lpstr>
      <vt:lpstr>Privacy Laws &amp; Regulations (2)</vt:lpstr>
      <vt:lpstr>Privacy Laws &amp; Regulations (3)</vt:lpstr>
      <vt:lpstr>Privacy Laws &amp; Regulations (4)</vt:lpstr>
      <vt:lpstr>Privacy Laws &amp; Regulations (5)</vt:lpstr>
      <vt:lpstr>Countries without official data privacy laws</vt:lpstr>
      <vt:lpstr>Potential Computer Risks &amp; Security </vt:lpstr>
      <vt:lpstr>Potential Computer Risks &amp; Security </vt:lpstr>
      <vt:lpstr>Potential Computer Risks &amp; Security </vt:lpstr>
      <vt:lpstr>Potential Computer Risks &amp; Security </vt:lpstr>
      <vt:lpstr>Potential Computer Risks &amp; Security </vt:lpstr>
      <vt:lpstr>Potential Computer Risks &amp; Security </vt:lpstr>
      <vt:lpstr>Potential Computer Risks &amp; Security </vt:lpstr>
      <vt:lpstr>Potential Computer Risks &amp; Security </vt:lpstr>
      <vt:lpstr>Potential Computer Risks &amp; Security </vt:lpstr>
      <vt:lpstr>Potential Computer Risks &amp; Security </vt:lpstr>
      <vt:lpstr>Potential Computer Risks &amp; Security </vt:lpstr>
      <vt:lpstr>Potential Computer Risks and Security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Practices</dc:title>
  <dc:creator>Abdul Jamil</dc:creator>
  <cp:lastModifiedBy>Admin</cp:lastModifiedBy>
  <cp:revision>638</cp:revision>
  <dcterms:created xsi:type="dcterms:W3CDTF">2020-11-20T07:57:39Z</dcterms:created>
  <dcterms:modified xsi:type="dcterms:W3CDTF">2023-01-07T12:41:34Z</dcterms:modified>
</cp:coreProperties>
</file>
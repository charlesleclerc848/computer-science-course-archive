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8"/>
  </p:notesMasterIdLst>
  <p:sldIdLst>
    <p:sldId id="256" r:id="rId2"/>
    <p:sldId id="262" r:id="rId3"/>
    <p:sldId id="275" r:id="rId4"/>
    <p:sldId id="270" r:id="rId5"/>
    <p:sldId id="268" r:id="rId6"/>
    <p:sldId id="27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10/22/2024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10/22/2024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10/22/2024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10/22/2024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10/22/2024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10/22/2024</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10/22/2024</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10/22/2024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10/22/2024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10/22/2024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10/22/2024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10/22/2024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10/22/2024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05</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Copy Constructors, Static data members and functions</a:t>
            </a:r>
            <a:endParaRPr lang="en-US"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200" dirty="0">
                <a:solidFill>
                  <a:schemeClr val="tx1"/>
                </a:solidFill>
                <a:latin typeface="Times New Roman" panose="02020603050405020304" pitchFamily="18" charset="0"/>
                <a:cs typeface="Times New Roman" panose="02020603050405020304" pitchFamily="18" charset="0"/>
              </a:rPr>
              <a:t>Implement a </a:t>
            </a:r>
            <a:r>
              <a:rPr lang="en-US" sz="3200" dirty="0" err="1">
                <a:solidFill>
                  <a:schemeClr val="tx1"/>
                </a:solidFill>
                <a:latin typeface="Times New Roman" panose="02020603050405020304" pitchFamily="18" charset="0"/>
                <a:cs typeface="Times New Roman" panose="02020603050405020304" pitchFamily="18" charset="0"/>
              </a:rPr>
              <a:t>ShoppingCart</a:t>
            </a:r>
            <a:r>
              <a:rPr lang="en-US" sz="3200" dirty="0">
                <a:solidFill>
                  <a:schemeClr val="tx1"/>
                </a:solidFill>
                <a:latin typeface="Times New Roman" panose="02020603050405020304" pitchFamily="18" charset="0"/>
                <a:cs typeface="Times New Roman" panose="02020603050405020304" pitchFamily="18" charset="0"/>
              </a:rPr>
              <a:t> class that stores a </a:t>
            </a:r>
            <a:r>
              <a:rPr lang="en-US" sz="3200" dirty="0" err="1">
                <a:solidFill>
                  <a:schemeClr val="tx1"/>
                </a:solidFill>
                <a:latin typeface="Times New Roman" panose="02020603050405020304" pitchFamily="18" charset="0"/>
                <a:cs typeface="Times New Roman" panose="02020603050405020304" pitchFamily="18" charset="0"/>
              </a:rPr>
              <a:t>cartID</a:t>
            </a:r>
            <a:r>
              <a:rPr lang="en-US" sz="3200" dirty="0">
                <a:solidFill>
                  <a:schemeClr val="tx1"/>
                </a:solidFill>
                <a:latin typeface="Times New Roman" panose="02020603050405020304" pitchFamily="18" charset="0"/>
                <a:cs typeface="Times New Roman" panose="02020603050405020304" pitchFamily="18" charset="0"/>
              </a:rPr>
              <a:t> (integer) and a pointer to </a:t>
            </a:r>
            <a:r>
              <a:rPr lang="en-US" sz="3200" dirty="0" err="1">
                <a:solidFill>
                  <a:schemeClr val="tx1"/>
                </a:solidFill>
                <a:latin typeface="Times New Roman" panose="02020603050405020304" pitchFamily="18" charset="0"/>
                <a:cs typeface="Times New Roman" panose="02020603050405020304" pitchFamily="18" charset="0"/>
              </a:rPr>
              <a:t>totalPrice</a:t>
            </a:r>
            <a:r>
              <a:rPr lang="en-US" sz="3200" dirty="0">
                <a:solidFill>
                  <a:schemeClr val="tx1"/>
                </a:solidFill>
                <a:latin typeface="Times New Roman" panose="02020603050405020304" pitchFamily="18" charset="0"/>
                <a:cs typeface="Times New Roman" panose="02020603050405020304" pitchFamily="18" charset="0"/>
              </a:rPr>
              <a:t> (double). The shallow copy constructor should copy the pointer to the total price variable. Ask the user to input the cart ID and the initial total price. Then, create a shallow copy, and prompt the user to enter a new total price to modify the total price in the shallow copy. Finally, display the total prices for both the original and shallow copy to show how the changes reflect in both.</a:t>
            </a:r>
            <a:endParaRPr lang="en-US" sz="3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3000" dirty="0">
                <a:latin typeface="Times New Roman" panose="02020603050405020304" pitchFamily="18" charset="0"/>
                <a:cs typeface="Times New Roman" panose="02020603050405020304" pitchFamily="18" charset="0"/>
              </a:rPr>
              <a:t>Implement a Movie class that holds a title (string) and a pointer to rating (float). The class should include a constructor to input the movie title and rating, and a deep copy constructor that creates a new instance of the rating pointer. Include a method to display the movie details. In the main() function, prompt the user to enter a movie title and rating, create a deep copy of the movie object, modify the rating in the deep copy, and display both the original and deep copy to illustrate that the original movie's rating remains unchanged.</a:t>
            </a:r>
            <a:endParaRPr lang="en-US" sz="30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565842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Content Placeholder 2"/>
          <p:cNvSpPr>
            <a:spLocks noGrp="1"/>
          </p:cNvSpPr>
          <p:nvPr>
            <p:ph idx="1"/>
          </p:nvPr>
        </p:nvSpPr>
        <p:spPr>
          <a:xfrm>
            <a:off x="1097280" y="1845734"/>
            <a:ext cx="10058400" cy="4383616"/>
          </a:xfrm>
        </p:spPr>
        <p:txBody>
          <a:bodyPr>
            <a:normAutofit/>
          </a:bodyPr>
          <a:lstStyle/>
          <a:p>
            <a:pPr algn="just">
              <a:lnSpc>
                <a:spcPct val="100000"/>
              </a:lnSpc>
            </a:pPr>
            <a:r>
              <a:rPr lang="en-US" sz="2800" dirty="0">
                <a:latin typeface="Times New Roman" panose="02020603050405020304" pitchFamily="18" charset="0"/>
                <a:cs typeface="Times New Roman" panose="02020603050405020304" pitchFamily="18" charset="0"/>
              </a:rPr>
              <a:t>Create a class named </a:t>
            </a:r>
            <a:r>
              <a:rPr lang="en-US" sz="2800" dirty="0" err="1">
                <a:latin typeface="Times New Roman" panose="02020603050405020304" pitchFamily="18" charset="0"/>
                <a:cs typeface="Times New Roman" panose="02020603050405020304" pitchFamily="18" charset="0"/>
              </a:rPr>
              <a:t>IceCreamCone</a:t>
            </a:r>
            <a:r>
              <a:rPr lang="en-US" sz="2800" dirty="0">
                <a:latin typeface="Times New Roman" panose="02020603050405020304" pitchFamily="18" charset="0"/>
                <a:cs typeface="Times New Roman" panose="02020603050405020304" pitchFamily="18" charset="0"/>
              </a:rPr>
              <a:t> with data members: </a:t>
            </a:r>
            <a:r>
              <a:rPr lang="en-US" sz="2800" dirty="0" err="1">
                <a:latin typeface="Times New Roman" panose="02020603050405020304" pitchFamily="18" charset="0"/>
                <a:cs typeface="Times New Roman" panose="02020603050405020304" pitchFamily="18" charset="0"/>
              </a:rPr>
              <a:t>flavour</a:t>
            </a:r>
            <a:r>
              <a:rPr lang="en-US" sz="2800" dirty="0">
                <a:latin typeface="Times New Roman" panose="02020603050405020304" pitchFamily="18" charset="0"/>
                <a:cs typeface="Times New Roman" panose="02020603050405020304" pitchFamily="18" charset="0"/>
              </a:rPr>
              <a:t> (default "Vanilla"), </a:t>
            </a:r>
            <a:r>
              <a:rPr lang="en-US" sz="2800" dirty="0" err="1">
                <a:latin typeface="Times New Roman" panose="02020603050405020304" pitchFamily="18" charset="0"/>
                <a:cs typeface="Times New Roman" panose="02020603050405020304" pitchFamily="18" charset="0"/>
              </a:rPr>
              <a:t>number_of_scoops</a:t>
            </a:r>
            <a:r>
              <a:rPr lang="en-US" sz="2800" dirty="0">
                <a:latin typeface="Times New Roman" panose="02020603050405020304" pitchFamily="18" charset="0"/>
                <a:cs typeface="Times New Roman" panose="02020603050405020304" pitchFamily="18" charset="0"/>
              </a:rPr>
              <a:t> (default 1), </a:t>
            </a:r>
            <a:r>
              <a:rPr lang="en-US" sz="2800" dirty="0" err="1">
                <a:latin typeface="Times New Roman" panose="02020603050405020304" pitchFamily="18" charset="0"/>
                <a:cs typeface="Times New Roman" panose="02020603050405020304" pitchFamily="18" charset="0"/>
              </a:rPr>
              <a:t>cone_type</a:t>
            </a:r>
            <a:r>
              <a:rPr lang="en-US" sz="2800" dirty="0">
                <a:latin typeface="Times New Roman" panose="02020603050405020304" pitchFamily="18" charset="0"/>
                <a:cs typeface="Times New Roman" panose="02020603050405020304" pitchFamily="18" charset="0"/>
              </a:rPr>
              <a:t> (default "Sugar"), and price. The price is calculated as 75 rupees per scoop, with an additional 40 rupees for a "Waffle" cone. Add a static data member </a:t>
            </a:r>
            <a:r>
              <a:rPr lang="en-US" sz="2800" dirty="0" err="1">
                <a:latin typeface="Times New Roman" panose="02020603050405020304" pitchFamily="18" charset="0"/>
                <a:cs typeface="Times New Roman" panose="02020603050405020304" pitchFamily="18" charset="0"/>
              </a:rPr>
              <a:t>total_cones_sold</a:t>
            </a:r>
            <a:r>
              <a:rPr lang="en-US" sz="2800" dirty="0">
                <a:latin typeface="Times New Roman" panose="02020603050405020304" pitchFamily="18" charset="0"/>
                <a:cs typeface="Times New Roman" panose="02020603050405020304" pitchFamily="18" charset="0"/>
              </a:rPr>
              <a:t> to track the total number of cones sold and a static member function </a:t>
            </a:r>
            <a:r>
              <a:rPr lang="en-US" sz="2800" dirty="0" err="1">
                <a:latin typeface="Times New Roman" panose="02020603050405020304" pitchFamily="18" charset="0"/>
                <a:cs typeface="Times New Roman" panose="02020603050405020304" pitchFamily="18" charset="0"/>
              </a:rPr>
              <a:t>get_total_cones_sold</a:t>
            </a:r>
            <a:r>
              <a:rPr lang="en-US" sz="2800" dirty="0">
                <a:latin typeface="Times New Roman" panose="02020603050405020304" pitchFamily="18" charset="0"/>
                <a:cs typeface="Times New Roman" panose="02020603050405020304" pitchFamily="18" charset="0"/>
              </a:rPr>
              <a:t>() to return this value. The constructor should increment </a:t>
            </a:r>
            <a:r>
              <a:rPr lang="en-US" sz="2800" dirty="0" err="1">
                <a:latin typeface="Times New Roman" panose="02020603050405020304" pitchFamily="18" charset="0"/>
                <a:cs typeface="Times New Roman" panose="02020603050405020304" pitchFamily="18" charset="0"/>
              </a:rPr>
              <a:t>total_cones_sold</a:t>
            </a:r>
            <a:r>
              <a:rPr lang="en-US" sz="2800" dirty="0">
                <a:latin typeface="Times New Roman" panose="02020603050405020304" pitchFamily="18" charset="0"/>
                <a:cs typeface="Times New Roman" panose="02020603050405020304" pitchFamily="18" charset="0"/>
              </a:rPr>
              <a:t> by 1 for each new object. Write a main() function to demonstrate the class functionality.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1265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3"/>
            <a:ext cx="10058400" cy="4391293"/>
          </a:xfrm>
        </p:spPr>
        <p:txBody>
          <a:bodyPr>
            <a:noAutofit/>
          </a:bodyPr>
          <a:lstStyle/>
          <a:p>
            <a:pPr algn="just"/>
            <a:r>
              <a:rPr lang="en-US" sz="2200" dirty="0" smtClean="0">
                <a:latin typeface="Times New Roman" panose="02020603050405020304" pitchFamily="18" charset="0"/>
                <a:cs typeface="Times New Roman" panose="02020603050405020304" pitchFamily="18" charset="0"/>
              </a:rPr>
              <a:t>Create a class named </a:t>
            </a:r>
            <a:r>
              <a:rPr lang="en-US" sz="2200" b="1" dirty="0" err="1" smtClean="0">
                <a:latin typeface="Times New Roman" panose="02020603050405020304" pitchFamily="18" charset="0"/>
                <a:cs typeface="Times New Roman" panose="02020603050405020304" pitchFamily="18" charset="0"/>
              </a:rPr>
              <a:t>BankAccount</a:t>
            </a:r>
            <a:r>
              <a:rPr lang="en-US" sz="2200" dirty="0" smtClean="0">
                <a:latin typeface="Times New Roman" panose="02020603050405020304" pitchFamily="18" charset="0"/>
                <a:cs typeface="Times New Roman" panose="02020603050405020304" pitchFamily="18" charset="0"/>
              </a:rPr>
              <a:t> to represent a bank account. The class should have private data members: </a:t>
            </a:r>
            <a:r>
              <a:rPr lang="en-US" sz="2200" b="1" dirty="0" err="1" smtClean="0">
                <a:latin typeface="Times New Roman" panose="02020603050405020304" pitchFamily="18" charset="0"/>
                <a:cs typeface="Times New Roman" panose="02020603050405020304" pitchFamily="18" charset="0"/>
              </a:rPr>
              <a:t>accountNumber</a:t>
            </a:r>
            <a:r>
              <a:rPr lang="en-US" sz="2200" b="1" dirty="0" smtClean="0">
                <a:latin typeface="Times New Roman" panose="02020603050405020304" pitchFamily="18" charset="0"/>
                <a:cs typeface="Times New Roman" panose="02020603050405020304" pitchFamily="18" charset="0"/>
              </a:rPr>
              <a:t>, balance, a static </a:t>
            </a:r>
            <a:r>
              <a:rPr lang="en-US" sz="2200" b="1" dirty="0" err="1" smtClean="0">
                <a:latin typeface="Times New Roman" panose="02020603050405020304" pitchFamily="18" charset="0"/>
                <a:cs typeface="Times New Roman" panose="02020603050405020304" pitchFamily="18" charset="0"/>
              </a:rPr>
              <a:t>interestRate</a:t>
            </a:r>
            <a:r>
              <a:rPr lang="en-US" sz="2200" b="1" dirty="0" smtClean="0">
                <a:latin typeface="Times New Roman" panose="02020603050405020304" pitchFamily="18" charset="0"/>
                <a:cs typeface="Times New Roman" panose="02020603050405020304" pitchFamily="18" charset="0"/>
              </a:rPr>
              <a:t>, and a static </a:t>
            </a:r>
            <a:r>
              <a:rPr lang="en-US" sz="2200" b="1" dirty="0" err="1" smtClean="0">
                <a:latin typeface="Times New Roman" panose="02020603050405020304" pitchFamily="18" charset="0"/>
                <a:cs typeface="Times New Roman" panose="02020603050405020304" pitchFamily="18" charset="0"/>
              </a:rPr>
              <a:t>nextAccountNumber</a:t>
            </a:r>
            <a:r>
              <a:rPr lang="en-US" sz="2200" b="1" dirty="0" smtClean="0">
                <a:latin typeface="Times New Roman" panose="02020603050405020304" pitchFamily="18" charset="0"/>
                <a:cs typeface="Times New Roman" panose="02020603050405020304" pitchFamily="18" charset="0"/>
              </a:rPr>
              <a:t> (integer, initialized to 1000)</a:t>
            </a:r>
            <a:r>
              <a:rPr lang="en-US" sz="2200" dirty="0" smtClean="0">
                <a:latin typeface="Times New Roman" panose="02020603050405020304" pitchFamily="18" charset="0"/>
                <a:cs typeface="Times New Roman" panose="02020603050405020304" pitchFamily="18" charset="0"/>
              </a:rPr>
              <a:t>. The constructor should initialize </a:t>
            </a:r>
            <a:r>
              <a:rPr lang="en-US" sz="2200" dirty="0" err="1" smtClean="0">
                <a:latin typeface="Times New Roman" panose="02020603050405020304" pitchFamily="18" charset="0"/>
                <a:cs typeface="Times New Roman" panose="02020603050405020304" pitchFamily="18" charset="0"/>
              </a:rPr>
              <a:t>accountNumber</a:t>
            </a:r>
            <a:r>
              <a:rPr lang="en-US" sz="2200" dirty="0" smtClean="0">
                <a:latin typeface="Times New Roman" panose="02020603050405020304" pitchFamily="18" charset="0"/>
                <a:cs typeface="Times New Roman" panose="02020603050405020304" pitchFamily="18" charset="0"/>
              </a:rPr>
              <a:t> using </a:t>
            </a:r>
            <a:r>
              <a:rPr lang="en-US" sz="2200" dirty="0" err="1" smtClean="0">
                <a:latin typeface="Times New Roman" panose="02020603050405020304" pitchFamily="18" charset="0"/>
                <a:cs typeface="Times New Roman" panose="02020603050405020304" pitchFamily="18" charset="0"/>
              </a:rPr>
              <a:t>nextAccountNumber</a:t>
            </a:r>
            <a:r>
              <a:rPr lang="en-US" sz="2200" dirty="0" smtClean="0">
                <a:latin typeface="Times New Roman" panose="02020603050405020304" pitchFamily="18" charset="0"/>
                <a:cs typeface="Times New Roman" panose="02020603050405020304" pitchFamily="18" charset="0"/>
              </a:rPr>
              <a:t>, increment </a:t>
            </a:r>
            <a:r>
              <a:rPr lang="en-US" sz="2200" dirty="0" err="1" smtClean="0">
                <a:latin typeface="Times New Roman" panose="02020603050405020304" pitchFamily="18" charset="0"/>
                <a:cs typeface="Times New Roman" panose="02020603050405020304" pitchFamily="18" charset="0"/>
              </a:rPr>
              <a:t>nextAccountNumber</a:t>
            </a:r>
            <a:r>
              <a:rPr lang="en-US" sz="2200" dirty="0" smtClean="0">
                <a:latin typeface="Times New Roman" panose="02020603050405020304" pitchFamily="18" charset="0"/>
                <a:cs typeface="Times New Roman" panose="02020603050405020304" pitchFamily="18" charset="0"/>
              </a:rPr>
              <a:t> for each new account, set the balance to 0, and set </a:t>
            </a:r>
            <a:r>
              <a:rPr lang="en-US" sz="2200" dirty="0" err="1" smtClean="0">
                <a:latin typeface="Times New Roman" panose="02020603050405020304" pitchFamily="18" charset="0"/>
                <a:cs typeface="Times New Roman" panose="02020603050405020304" pitchFamily="18" charset="0"/>
              </a:rPr>
              <a:t>interestRate</a:t>
            </a:r>
            <a:r>
              <a:rPr lang="en-US" sz="2200" dirty="0" smtClean="0">
                <a:latin typeface="Times New Roman" panose="02020603050405020304" pitchFamily="18" charset="0"/>
                <a:cs typeface="Times New Roman" panose="02020603050405020304" pitchFamily="18" charset="0"/>
              </a:rPr>
              <a:t> to a default value of 2.0. Public methods should include </a:t>
            </a:r>
            <a:r>
              <a:rPr lang="en-US" sz="2200" b="1" dirty="0" smtClean="0">
                <a:latin typeface="Times New Roman" panose="02020603050405020304" pitchFamily="18" charset="0"/>
                <a:cs typeface="Times New Roman" panose="02020603050405020304" pitchFamily="18" charset="0"/>
              </a:rPr>
              <a:t>Deposit </a:t>
            </a:r>
            <a:r>
              <a:rPr lang="en-US" sz="2200" dirty="0" smtClean="0">
                <a:latin typeface="Times New Roman" panose="02020603050405020304" pitchFamily="18" charset="0"/>
                <a:cs typeface="Times New Roman" panose="02020603050405020304" pitchFamily="18" charset="0"/>
              </a:rPr>
              <a:t>to increase the balance by a specified amount, </a:t>
            </a:r>
            <a:r>
              <a:rPr lang="en-US" sz="2200" b="1" dirty="0" smtClean="0">
                <a:latin typeface="Times New Roman" panose="02020603050405020304" pitchFamily="18" charset="0"/>
                <a:cs typeface="Times New Roman" panose="02020603050405020304" pitchFamily="18" charset="0"/>
              </a:rPr>
              <a:t>Withdraw </a:t>
            </a:r>
            <a:r>
              <a:rPr lang="en-US" sz="2200" dirty="0" smtClean="0">
                <a:latin typeface="Times New Roman" panose="02020603050405020304" pitchFamily="18" charset="0"/>
                <a:cs typeface="Times New Roman" panose="02020603050405020304" pitchFamily="18" charset="0"/>
              </a:rPr>
              <a:t>to decrease the balance by a specified amount without allowing it to become negative, </a:t>
            </a:r>
            <a:r>
              <a:rPr lang="en-US" sz="2200" b="1" dirty="0" err="1" smtClean="0">
                <a:latin typeface="Times New Roman" panose="02020603050405020304" pitchFamily="18" charset="0"/>
                <a:cs typeface="Times New Roman" panose="02020603050405020304" pitchFamily="18" charset="0"/>
              </a:rPr>
              <a:t>CalculateInterest</a:t>
            </a:r>
            <a:r>
              <a:rPr lang="en-US" sz="2200" dirty="0" smtClean="0">
                <a:latin typeface="Times New Roman" panose="02020603050405020304" pitchFamily="18" charset="0"/>
                <a:cs typeface="Times New Roman" panose="02020603050405020304" pitchFamily="18" charset="0"/>
              </a:rPr>
              <a:t> to compute interest based on the current balance and add it to the account using the static </a:t>
            </a:r>
            <a:r>
              <a:rPr lang="en-US" sz="2200" b="1" dirty="0" err="1" smtClean="0">
                <a:latin typeface="Times New Roman" panose="02020603050405020304" pitchFamily="18" charset="0"/>
                <a:cs typeface="Times New Roman" panose="02020603050405020304" pitchFamily="18" charset="0"/>
              </a:rPr>
              <a:t>interestRate</a:t>
            </a:r>
            <a:r>
              <a:rPr lang="en-US" sz="2200" dirty="0" smtClean="0">
                <a:latin typeface="Times New Roman" panose="02020603050405020304" pitchFamily="18" charset="0"/>
                <a:cs typeface="Times New Roman" panose="02020603050405020304" pitchFamily="18" charset="0"/>
              </a:rPr>
              <a:t>, </a:t>
            </a:r>
            <a:r>
              <a:rPr lang="en-US" sz="2200" b="1" dirty="0" err="1" smtClean="0">
                <a:latin typeface="Times New Roman" panose="02020603050405020304" pitchFamily="18" charset="0"/>
                <a:cs typeface="Times New Roman" panose="02020603050405020304" pitchFamily="18" charset="0"/>
              </a:rPr>
              <a:t>GetBalance</a:t>
            </a:r>
            <a:r>
              <a:rPr lang="en-US" sz="2200" dirty="0" smtClean="0">
                <a:latin typeface="Times New Roman" panose="02020603050405020304" pitchFamily="18" charset="0"/>
                <a:cs typeface="Times New Roman" panose="02020603050405020304" pitchFamily="18" charset="0"/>
              </a:rPr>
              <a:t> to return the current balance, and </a:t>
            </a:r>
            <a:r>
              <a:rPr lang="en-US" sz="2200" b="1" dirty="0" err="1" smtClean="0">
                <a:latin typeface="Times New Roman" panose="02020603050405020304" pitchFamily="18" charset="0"/>
                <a:cs typeface="Times New Roman" panose="02020603050405020304" pitchFamily="18" charset="0"/>
              </a:rPr>
              <a:t>GetAccountNumber</a:t>
            </a:r>
            <a:r>
              <a:rPr lang="en-US" sz="2200" dirty="0" smtClean="0">
                <a:latin typeface="Times New Roman" panose="02020603050405020304" pitchFamily="18" charset="0"/>
                <a:cs typeface="Times New Roman" panose="02020603050405020304" pitchFamily="18" charset="0"/>
              </a:rPr>
              <a:t> to return the account number. Additionally, a static method </a:t>
            </a:r>
            <a:r>
              <a:rPr lang="en-US" sz="2200" b="1" dirty="0" err="1" smtClean="0">
                <a:latin typeface="Times New Roman" panose="02020603050405020304" pitchFamily="18" charset="0"/>
                <a:cs typeface="Times New Roman" panose="02020603050405020304" pitchFamily="18" charset="0"/>
              </a:rPr>
              <a:t>SetInterestRate</a:t>
            </a:r>
            <a:r>
              <a:rPr lang="en-US" sz="2200" dirty="0" smtClean="0">
                <a:latin typeface="Times New Roman" panose="02020603050405020304" pitchFamily="18" charset="0"/>
                <a:cs typeface="Times New Roman" panose="02020603050405020304" pitchFamily="18" charset="0"/>
              </a:rPr>
              <a:t> should be included to modify the </a:t>
            </a:r>
            <a:r>
              <a:rPr lang="en-US" sz="2200" b="1" dirty="0" err="1" smtClean="0">
                <a:latin typeface="Times New Roman" panose="02020603050405020304" pitchFamily="18" charset="0"/>
                <a:cs typeface="Times New Roman" panose="02020603050405020304" pitchFamily="18" charset="0"/>
              </a:rPr>
              <a:t>interestRate</a:t>
            </a:r>
            <a:r>
              <a:rPr lang="en-US" sz="2200" dirty="0" smtClean="0">
                <a:latin typeface="Times New Roman" panose="02020603050405020304" pitchFamily="18" charset="0"/>
                <a:cs typeface="Times New Roman" panose="02020603050405020304" pitchFamily="18" charset="0"/>
              </a:rPr>
              <a:t> for all accounts. Demonstrate the functionality by creating multiple bank accounts, performing deposits and withdrawals, calculating interest, and showing how the static interest rate affects all accounts.</a:t>
            </a:r>
            <a:endParaRPr lang="en-US" sz="2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4202878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63903"/>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695605"/>
            <a:ext cx="10058400" cy="4391293"/>
          </a:xfrm>
        </p:spPr>
        <p:txBody>
          <a:bodyPr>
            <a:noAutofit/>
          </a:bodyPr>
          <a:lstStyle/>
          <a:p>
            <a:pPr algn="just"/>
            <a:r>
              <a:rPr lang="en-US" sz="2600" dirty="0">
                <a:latin typeface="Times New Roman" panose="02020603050405020304" pitchFamily="18" charset="0"/>
                <a:cs typeface="Times New Roman" panose="02020603050405020304" pitchFamily="18" charset="0"/>
              </a:rPr>
              <a:t>Implement a class named </a:t>
            </a:r>
            <a:r>
              <a:rPr lang="en-US" sz="2600" b="1" dirty="0">
                <a:latin typeface="Times New Roman" panose="02020603050405020304" pitchFamily="18" charset="0"/>
                <a:cs typeface="Times New Roman" panose="02020603050405020304" pitchFamily="18" charset="0"/>
              </a:rPr>
              <a:t>Employee</a:t>
            </a:r>
            <a:r>
              <a:rPr lang="en-US" sz="2600" dirty="0">
                <a:latin typeface="Times New Roman" panose="02020603050405020304" pitchFamily="18" charset="0"/>
                <a:cs typeface="Times New Roman" panose="02020603050405020304" pitchFamily="18" charset="0"/>
              </a:rPr>
              <a:t> that manages employee details, specifically their name and salary. The class should have a </a:t>
            </a:r>
            <a:r>
              <a:rPr lang="en-US" sz="2600" b="1" dirty="0">
                <a:latin typeface="Times New Roman" panose="02020603050405020304" pitchFamily="18" charset="0"/>
                <a:cs typeface="Times New Roman" panose="02020603050405020304" pitchFamily="18" charset="0"/>
              </a:rPr>
              <a:t>default constructor </a:t>
            </a:r>
            <a:r>
              <a:rPr lang="en-US" sz="2600" dirty="0">
                <a:latin typeface="Times New Roman" panose="02020603050405020304" pitchFamily="18" charset="0"/>
                <a:cs typeface="Times New Roman" panose="02020603050405020304" pitchFamily="18" charset="0"/>
              </a:rPr>
              <a:t>that prompts the user to enter the employee's name and salary when an object is created. Include a method to </a:t>
            </a:r>
            <a:r>
              <a:rPr lang="en-US" sz="2600" b="1" dirty="0">
                <a:latin typeface="Times New Roman" panose="02020603050405020304" pitchFamily="18" charset="0"/>
                <a:cs typeface="Times New Roman" panose="02020603050405020304" pitchFamily="18" charset="0"/>
              </a:rPr>
              <a:t>compare the salaries</a:t>
            </a:r>
            <a:r>
              <a:rPr lang="en-US" sz="2600" dirty="0">
                <a:latin typeface="Times New Roman" panose="02020603050405020304" pitchFamily="18" charset="0"/>
                <a:cs typeface="Times New Roman" panose="02020603050405020304" pitchFamily="18" charset="0"/>
              </a:rPr>
              <a:t> of two Employee objects, </a:t>
            </a:r>
            <a:r>
              <a:rPr lang="en-US" sz="2600" b="1" dirty="0">
                <a:latin typeface="Times New Roman" panose="02020603050405020304" pitchFamily="18" charset="0"/>
                <a:cs typeface="Times New Roman" panose="02020603050405020304" pitchFamily="18" charset="0"/>
              </a:rPr>
              <a:t>returning the name of the employee </a:t>
            </a:r>
            <a:r>
              <a:rPr lang="en-US" sz="2600" dirty="0">
                <a:latin typeface="Times New Roman" panose="02020603050405020304" pitchFamily="18" charset="0"/>
                <a:cs typeface="Times New Roman" panose="02020603050405020304" pitchFamily="18" charset="0"/>
              </a:rPr>
              <a:t>with the higher salary. Additionally, implement a method to display the employee's details, including both the name and salary. </a:t>
            </a:r>
            <a:endParaRPr lang="en-US" sz="2600" dirty="0" smtClean="0">
              <a:latin typeface="Times New Roman" panose="02020603050405020304" pitchFamily="18" charset="0"/>
              <a:cs typeface="Times New Roman" panose="02020603050405020304" pitchFamily="18" charset="0"/>
            </a:endParaRPr>
          </a:p>
          <a:p>
            <a:pPr algn="just"/>
            <a:r>
              <a:rPr lang="en-US" sz="2600" dirty="0" smtClean="0">
                <a:latin typeface="Times New Roman" panose="02020603050405020304" pitchFamily="18" charset="0"/>
                <a:cs typeface="Times New Roman" panose="02020603050405020304" pitchFamily="18" charset="0"/>
              </a:rPr>
              <a:t>In </a:t>
            </a:r>
            <a:r>
              <a:rPr lang="en-US" sz="2600" dirty="0">
                <a:latin typeface="Times New Roman" panose="02020603050405020304" pitchFamily="18" charset="0"/>
                <a:cs typeface="Times New Roman" panose="02020603050405020304" pitchFamily="18" charset="0"/>
              </a:rPr>
              <a:t>the main() function, create </a:t>
            </a:r>
            <a:r>
              <a:rPr lang="en-US" sz="2600" b="1" dirty="0">
                <a:latin typeface="Times New Roman" panose="02020603050405020304" pitchFamily="18" charset="0"/>
                <a:cs typeface="Times New Roman" panose="02020603050405020304" pitchFamily="18" charset="0"/>
              </a:rPr>
              <a:t>two Employee objects</a:t>
            </a:r>
            <a:r>
              <a:rPr lang="en-US" sz="2600" dirty="0">
                <a:latin typeface="Times New Roman" panose="02020603050405020304" pitchFamily="18" charset="0"/>
                <a:cs typeface="Times New Roman" panose="02020603050405020304" pitchFamily="18" charset="0"/>
              </a:rPr>
              <a:t>, utilize the comparison method to identify which employee has a higher salary, and display the details of both employees along with the name of the employee with the higher salary. This task emphasizes the use of class constructors for user input and includes constant reference parameters for object comparison.</a:t>
            </a:r>
            <a:endParaRPr lang="en-US" sz="26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1311290552"/>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5223</TotalTime>
  <Words>685</Words>
  <Application>Microsoft Office PowerPoint</Application>
  <PresentationFormat>Widescreen</PresentationFormat>
  <Paragraphs>26</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Retrospect</vt:lpstr>
      <vt:lpstr>LAB – 05</vt:lpstr>
      <vt:lpstr>Task - 1</vt:lpstr>
      <vt:lpstr>Task - 2</vt:lpstr>
      <vt:lpstr>Task - 3</vt:lpstr>
      <vt:lpstr>Task - 4</vt:lpstr>
      <vt:lpstr>Task - 5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Microsoft account</cp:lastModifiedBy>
  <cp:revision>514</cp:revision>
  <dcterms:created xsi:type="dcterms:W3CDTF">2022-09-18T18:36:50Z</dcterms:created>
  <dcterms:modified xsi:type="dcterms:W3CDTF">2024-10-22T18:35:13Z</dcterms:modified>
</cp:coreProperties>
</file>
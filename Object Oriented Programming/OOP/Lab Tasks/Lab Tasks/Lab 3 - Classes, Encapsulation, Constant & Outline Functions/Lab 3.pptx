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10"/>
  </p:notesMasterIdLst>
  <p:sldIdLst>
    <p:sldId id="256" r:id="rId2"/>
    <p:sldId id="262" r:id="rId3"/>
    <p:sldId id="275" r:id="rId4"/>
    <p:sldId id="274" r:id="rId5"/>
    <p:sldId id="270" r:id="rId6"/>
    <p:sldId id="268" r:id="rId7"/>
    <p:sldId id="276" r:id="rId8"/>
    <p:sldId id="27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B2439D-EB4B-4FB0-8FCF-F98E8606EACA}" type="datetimeFigureOut">
              <a:rPr lang="en-US" smtClean="0"/>
              <a:t>10/8/2024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128867-5CFB-4CF7-B5DC-CFC116C37B29}" type="slidenum">
              <a:rPr lang="en-US" smtClean="0"/>
              <a:t>‹#›</a:t>
            </a:fld>
            <a:endParaRPr lang="en-US"/>
          </a:p>
        </p:txBody>
      </p:sp>
    </p:spTree>
    <p:extLst>
      <p:ext uri="{BB962C8B-B14F-4D97-AF65-F5344CB8AC3E}">
        <p14:creationId xmlns:p14="http://schemas.microsoft.com/office/powerpoint/2010/main" val="896952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128867-5CFB-4CF7-B5DC-CFC116C37B29}" type="slidenum">
              <a:rPr lang="en-US" smtClean="0"/>
              <a:t>1</a:t>
            </a:fld>
            <a:endParaRPr lang="en-US"/>
          </a:p>
        </p:txBody>
      </p:sp>
    </p:spTree>
    <p:extLst>
      <p:ext uri="{BB962C8B-B14F-4D97-AF65-F5344CB8AC3E}">
        <p14:creationId xmlns:p14="http://schemas.microsoft.com/office/powerpoint/2010/main" val="2843863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684046B-4E25-4DF1-9DE1-12E4A41B97A6}" type="datetime1">
              <a:rPr lang="en-US" smtClean="0"/>
              <a:t>10/8/2024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799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5DE1216-3170-4F6D-A3CF-E5C5608AA8CF}" type="datetime1">
              <a:rPr lang="en-US" smtClean="0"/>
              <a:t>10/8/2024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193254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1FEE345-4D4B-489D-AE9E-E4830A31EDB1}" type="datetime1">
              <a:rPr lang="en-US" smtClean="0"/>
              <a:t>10/8/2024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5977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C7ACABA-1141-4E49-A369-9B6F45643DFF}" type="datetime1">
              <a:rPr lang="en-US" smtClean="0"/>
              <a:t>10/8/2024</a:t>
            </a:fld>
            <a:endParaRPr lang="en-US"/>
          </a:p>
        </p:txBody>
      </p:sp>
      <p:sp>
        <p:nvSpPr>
          <p:cNvPr id="6" name="Footer Placeholder 5"/>
          <p:cNvSpPr>
            <a:spLocks noGrp="1"/>
          </p:cNvSpPr>
          <p:nvPr>
            <p:ph type="ftr" sz="quarter" idx="11"/>
          </p:nvPr>
        </p:nvSpPr>
        <p:spPr/>
        <p:txBody>
          <a:body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533712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4704340-9E8F-4ED5-AC11-E5BB2925CA43}" type="datetime1">
              <a:rPr lang="en-US" smtClean="0"/>
              <a:t>10/8/2024</a:t>
            </a:fld>
            <a:endParaRPr lang="en-US"/>
          </a:p>
        </p:txBody>
      </p:sp>
      <p:sp>
        <p:nvSpPr>
          <p:cNvPr id="8" name="Footer Placeholder 7"/>
          <p:cNvSpPr>
            <a:spLocks noGrp="1"/>
          </p:cNvSpPr>
          <p:nvPr>
            <p:ph type="ftr" sz="quarter" idx="11"/>
          </p:nvPr>
        </p:nvSpPr>
        <p:spPr/>
        <p:txBody>
          <a:bodyPr/>
          <a:lstStyle/>
          <a:p>
            <a:r>
              <a:rPr lang="en-US" smtClean="0"/>
              <a:t>The University of Lahore</a:t>
            </a:r>
            <a:endParaRPr lang="en-US"/>
          </a:p>
        </p:txBody>
      </p:sp>
      <p:sp>
        <p:nvSpPr>
          <p:cNvPr id="9" name="Slide Number Placeholder 8"/>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529555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CDAE39F-54E1-4E4D-A3A6-583B543675EE}" type="datetime1">
              <a:rPr lang="en-US" smtClean="0"/>
              <a:t>10/8/2024</a:t>
            </a:fld>
            <a:endParaRPr lang="en-US"/>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500909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88CE462-0C8B-4901-9C7A-7FEF6BCCE1D9}" type="datetime1">
              <a:rPr lang="en-US" smtClean="0"/>
              <a:t>10/8/2024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smtClean="0"/>
              <a:t>The University of Lahore</a:t>
            </a:r>
            <a:endParaRPr lang="en-US"/>
          </a:p>
        </p:txBody>
      </p:sp>
      <p:sp>
        <p:nvSpPr>
          <p:cNvPr id="9" name="Slide Number Placeholder 8"/>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923552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A8872F5-177D-4534-9718-DD8D4001B234}" type="datetime1">
              <a:rPr lang="en-US" smtClean="0"/>
              <a:t>10/8/2024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4CEE02E-1D84-46BB-93EA-A480D0C19957}" type="slidenum">
              <a:rPr lang="en-US" smtClean="0"/>
              <a:t>‹#›</a:t>
            </a:fld>
            <a:endParaRPr lang="en-US"/>
          </a:p>
        </p:txBody>
      </p:sp>
    </p:spTree>
    <p:extLst>
      <p:ext uri="{BB962C8B-B14F-4D97-AF65-F5344CB8AC3E}">
        <p14:creationId xmlns:p14="http://schemas.microsoft.com/office/powerpoint/2010/main" val="3573199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55ECED-6A20-494B-8D7D-788231577CE4}" type="datetime1">
              <a:rPr lang="en-US" smtClean="0"/>
              <a:t>10/8/2024</a:t>
            </a:fld>
            <a:endParaRPr lang="en-US"/>
          </a:p>
        </p:txBody>
      </p:sp>
      <p:sp>
        <p:nvSpPr>
          <p:cNvPr id="6" name="Footer Placeholder 5"/>
          <p:cNvSpPr>
            <a:spLocks noGrp="1"/>
          </p:cNvSpPr>
          <p:nvPr>
            <p:ph type="ftr" sz="quarter" idx="11"/>
          </p:nvPr>
        </p:nvSpPr>
        <p:spPr/>
        <p:txBody>
          <a:body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612522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EFD0AE-6D5A-40E9-98F9-7B2CF6A45989}" type="datetime1">
              <a:rPr lang="en-US" smtClean="0"/>
              <a:t>10/8/2024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045050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48482EA-7E95-40E9-9BD0-5300AFC5B999}" type="datetime1">
              <a:rPr lang="en-US" smtClean="0"/>
              <a:t>10/8/2024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76616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2434106-2ABE-4E26-B24F-AA7802E7B0E5}" type="datetime1">
              <a:rPr lang="en-US" smtClean="0"/>
              <a:t>10/8/2024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smtClean="0"/>
              <a:t>The University of Lahore</a:t>
            </a:r>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4CEE02E-1D84-46BB-93EA-A480D0C19957}"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0793397"/>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dirty="0" smtClean="0">
                <a:latin typeface="Times New Roman" panose="02020603050405020304" pitchFamily="18" charset="0"/>
                <a:cs typeface="Times New Roman" panose="02020603050405020304" pitchFamily="18" charset="0"/>
              </a:rPr>
              <a:t>LAB – </a:t>
            </a:r>
            <a:r>
              <a:rPr lang="en-US" sz="4800" dirty="0" smtClean="0">
                <a:latin typeface="Times New Roman" panose="02020603050405020304" pitchFamily="18" charset="0"/>
                <a:cs typeface="Times New Roman" panose="02020603050405020304" pitchFamily="18" charset="0"/>
              </a:rPr>
              <a:t>03</a:t>
            </a:r>
            <a:endParaRPr lang="en-US" sz="4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smtClean="0">
                <a:latin typeface="Times New Roman" panose="02020603050405020304" pitchFamily="18" charset="0"/>
                <a:cs typeface="Times New Roman" panose="02020603050405020304" pitchFamily="18" charset="0"/>
              </a:rPr>
              <a:t>Classes, encapsulation, </a:t>
            </a:r>
            <a:r>
              <a:rPr lang="en-US" dirty="0" err="1" smtClean="0">
                <a:latin typeface="Times New Roman" panose="02020603050405020304" pitchFamily="18" charset="0"/>
                <a:cs typeface="Times New Roman" panose="02020603050405020304" pitchFamily="18" charset="0"/>
              </a:rPr>
              <a:t>const</a:t>
            </a:r>
            <a:r>
              <a:rPr lang="en-US" dirty="0" smtClean="0">
                <a:latin typeface="Times New Roman" panose="02020603050405020304" pitchFamily="18" charset="0"/>
                <a:cs typeface="Times New Roman" panose="02020603050405020304" pitchFamily="18" charset="0"/>
              </a:rPr>
              <a:t> &amp; Outline functions</a:t>
            </a:r>
            <a:endParaRPr lang="en-US"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9" name="Footer Placeholder 8"/>
          <p:cNvSpPr>
            <a:spLocks noGrp="1"/>
          </p:cNvSpPr>
          <p:nvPr>
            <p:ph type="ftr" sz="quarter" idx="11"/>
          </p:nvPr>
        </p:nvSpPr>
        <p:spPr/>
        <p:txBody>
          <a:bodyPr/>
          <a:lstStyle/>
          <a:p>
            <a:r>
              <a:rPr lang="en-US" dirty="0" smtClean="0">
                <a:cs typeface="Times New Roman" panose="02020603050405020304" pitchFamily="18" charset="0"/>
              </a:rPr>
              <a:t>The University of Lahore</a:t>
            </a:r>
            <a:endParaRPr lang="en-US" dirty="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F4CEE02E-1D84-46BB-93EA-A480D0C19957}" type="slidenum">
              <a:rPr lang="en-US" smtClean="0">
                <a:cs typeface="Times New Roman" panose="02020603050405020304" pitchFamily="18" charset="0"/>
              </a:rPr>
              <a:t>1</a:t>
            </a:fld>
            <a:endParaRPr lang="en-US" dirty="0">
              <a:cs typeface="Times New Roman" panose="02020603050405020304" pitchFamily="18" charset="0"/>
            </a:endParaRPr>
          </a:p>
        </p:txBody>
      </p:sp>
    </p:spTree>
    <p:extLst>
      <p:ext uri="{BB962C8B-B14F-4D97-AF65-F5344CB8AC3E}">
        <p14:creationId xmlns:p14="http://schemas.microsoft.com/office/powerpoint/2010/main" val="12628107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- 1</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lnSpc>
                <a:spcPct val="100000"/>
              </a:lnSpc>
            </a:pPr>
            <a:r>
              <a:rPr lang="en-US" sz="3200" dirty="0">
                <a:solidFill>
                  <a:schemeClr val="tx1"/>
                </a:solidFill>
                <a:latin typeface="Times New Roman" panose="02020603050405020304" pitchFamily="18" charset="0"/>
                <a:cs typeface="Times New Roman" panose="02020603050405020304" pitchFamily="18" charset="0"/>
              </a:rPr>
              <a:t>Create a class </a:t>
            </a:r>
            <a:r>
              <a:rPr lang="en-US" sz="3200" dirty="0" err="1">
                <a:solidFill>
                  <a:schemeClr val="tx1"/>
                </a:solidFill>
                <a:latin typeface="Times New Roman" panose="02020603050405020304" pitchFamily="18" charset="0"/>
                <a:cs typeface="Times New Roman" panose="02020603050405020304" pitchFamily="18" charset="0"/>
              </a:rPr>
              <a:t>BankAccount</a:t>
            </a:r>
            <a:r>
              <a:rPr lang="en-US" sz="3200" dirty="0">
                <a:solidFill>
                  <a:schemeClr val="tx1"/>
                </a:solidFill>
                <a:latin typeface="Times New Roman" panose="02020603050405020304" pitchFamily="18" charset="0"/>
                <a:cs typeface="Times New Roman" panose="02020603050405020304" pitchFamily="18" charset="0"/>
              </a:rPr>
              <a:t> with private members </a:t>
            </a:r>
            <a:r>
              <a:rPr lang="en-US" sz="3200" dirty="0" err="1">
                <a:solidFill>
                  <a:schemeClr val="tx1"/>
                </a:solidFill>
                <a:latin typeface="Times New Roman" panose="02020603050405020304" pitchFamily="18" charset="0"/>
                <a:cs typeface="Times New Roman" panose="02020603050405020304" pitchFamily="18" charset="0"/>
              </a:rPr>
              <a:t>accountNumber</a:t>
            </a:r>
            <a:r>
              <a:rPr lang="en-US" sz="3200" dirty="0">
                <a:solidFill>
                  <a:schemeClr val="tx1"/>
                </a:solidFill>
                <a:latin typeface="Times New Roman" panose="02020603050405020304" pitchFamily="18" charset="0"/>
                <a:cs typeface="Times New Roman" panose="02020603050405020304" pitchFamily="18" charset="0"/>
              </a:rPr>
              <a:t>, balance, and </a:t>
            </a:r>
            <a:r>
              <a:rPr lang="en-US" sz="3200" dirty="0" err="1">
                <a:solidFill>
                  <a:schemeClr val="tx1"/>
                </a:solidFill>
                <a:latin typeface="Times New Roman" panose="02020603050405020304" pitchFamily="18" charset="0"/>
                <a:cs typeface="Times New Roman" panose="02020603050405020304" pitchFamily="18" charset="0"/>
              </a:rPr>
              <a:t>accountHolderName</a:t>
            </a:r>
            <a:r>
              <a:rPr lang="en-US" sz="3200" dirty="0">
                <a:solidFill>
                  <a:schemeClr val="tx1"/>
                </a:solidFill>
                <a:latin typeface="Times New Roman" panose="02020603050405020304" pitchFamily="18" charset="0"/>
                <a:cs typeface="Times New Roman" panose="02020603050405020304" pitchFamily="18" charset="0"/>
              </a:rPr>
              <a:t>. Implement public methods to set and get the values of these private members using setters and getters.</a:t>
            </a:r>
            <a:endParaRPr lang="en-US" sz="32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2</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pic>
        <p:nvPicPr>
          <p:cNvPr id="11" name="Picture 10"/>
          <p:cNvPicPr>
            <a:picLocks noChangeAspect="1"/>
          </p:cNvPicPr>
          <p:nvPr/>
        </p:nvPicPr>
        <p:blipFill rotWithShape="1">
          <a:blip r:embed="rId3"/>
          <a:srcRect t="2507"/>
          <a:stretch/>
        </p:blipFill>
        <p:spPr>
          <a:xfrm>
            <a:off x="3414436" y="3916906"/>
            <a:ext cx="5424087" cy="2313545"/>
          </a:xfrm>
          <a:prstGeom prst="rect">
            <a:avLst/>
          </a:prstGeom>
        </p:spPr>
      </p:pic>
    </p:spTree>
    <p:extLst>
      <p:ext uri="{BB962C8B-B14F-4D97-AF65-F5344CB8AC3E}">
        <p14:creationId xmlns:p14="http://schemas.microsoft.com/office/powerpoint/2010/main" val="27405291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smtClean="0">
                <a:solidFill>
                  <a:schemeClr val="tx1"/>
                </a:solidFill>
                <a:latin typeface="Times New Roman" panose="02020603050405020304" pitchFamily="18" charset="0"/>
                <a:cs typeface="Times New Roman" panose="02020603050405020304" pitchFamily="18" charset="0"/>
              </a:rPr>
              <a:t>2</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lnSpc>
                <a:spcPct val="100000"/>
              </a:lnSpc>
            </a:pPr>
            <a:r>
              <a:rPr lang="en-US" sz="3200" dirty="0">
                <a:solidFill>
                  <a:schemeClr val="tx1"/>
                </a:solidFill>
                <a:latin typeface="Times New Roman" panose="02020603050405020304" pitchFamily="18" charset="0"/>
                <a:cs typeface="Times New Roman" panose="02020603050405020304" pitchFamily="18" charset="0"/>
              </a:rPr>
              <a:t>Define a class Student with private members name, </a:t>
            </a:r>
            <a:r>
              <a:rPr lang="en-US" sz="3200" dirty="0" err="1">
                <a:solidFill>
                  <a:schemeClr val="tx1"/>
                </a:solidFill>
                <a:latin typeface="Times New Roman" panose="02020603050405020304" pitchFamily="18" charset="0"/>
                <a:cs typeface="Times New Roman" panose="02020603050405020304" pitchFamily="18" charset="0"/>
              </a:rPr>
              <a:t>rollNumber</a:t>
            </a:r>
            <a:r>
              <a:rPr lang="en-US" sz="3200" dirty="0">
                <a:solidFill>
                  <a:schemeClr val="tx1"/>
                </a:solidFill>
                <a:latin typeface="Times New Roman" panose="02020603050405020304" pitchFamily="18" charset="0"/>
                <a:cs typeface="Times New Roman" panose="02020603050405020304" pitchFamily="18" charset="0"/>
              </a:rPr>
              <a:t>, and grade. Use public getter and setter functions to enforce encapsulation. Ensure that only valid data can be set for each member (e.g., grade must be between 'A' and 'F').</a:t>
            </a:r>
            <a:endParaRPr lang="en-US" sz="32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3</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pic>
        <p:nvPicPr>
          <p:cNvPr id="7" name="Picture 6"/>
          <p:cNvPicPr>
            <a:picLocks noChangeAspect="1"/>
          </p:cNvPicPr>
          <p:nvPr/>
        </p:nvPicPr>
        <p:blipFill>
          <a:blip r:embed="rId3"/>
          <a:stretch>
            <a:fillRect/>
          </a:stretch>
        </p:blipFill>
        <p:spPr>
          <a:xfrm>
            <a:off x="1241947" y="4417156"/>
            <a:ext cx="3169490" cy="1747283"/>
          </a:xfrm>
          <a:prstGeom prst="rect">
            <a:avLst/>
          </a:prstGeom>
        </p:spPr>
      </p:pic>
      <p:pic>
        <p:nvPicPr>
          <p:cNvPr id="8" name="Picture 7"/>
          <p:cNvPicPr>
            <a:picLocks noChangeAspect="1"/>
          </p:cNvPicPr>
          <p:nvPr/>
        </p:nvPicPr>
        <p:blipFill rotWithShape="1">
          <a:blip r:embed="rId4"/>
          <a:srcRect r="4047"/>
          <a:stretch/>
        </p:blipFill>
        <p:spPr>
          <a:xfrm>
            <a:off x="4684393" y="4148918"/>
            <a:ext cx="6471287" cy="2015521"/>
          </a:xfrm>
          <a:prstGeom prst="rect">
            <a:avLst/>
          </a:prstGeom>
        </p:spPr>
      </p:pic>
    </p:spTree>
    <p:extLst>
      <p:ext uri="{BB962C8B-B14F-4D97-AF65-F5344CB8AC3E}">
        <p14:creationId xmlns:p14="http://schemas.microsoft.com/office/powerpoint/2010/main" val="5658429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smtClean="0">
                <a:solidFill>
                  <a:schemeClr val="tx1"/>
                </a:solidFill>
                <a:latin typeface="Times New Roman" panose="02020603050405020304" pitchFamily="18" charset="0"/>
                <a:cs typeface="Times New Roman" panose="02020603050405020304" pitchFamily="18" charset="0"/>
              </a:rPr>
              <a:t>3</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lnSpc>
                <a:spcPct val="100000"/>
              </a:lnSpc>
            </a:pPr>
            <a:r>
              <a:rPr lang="en-US" sz="3200" dirty="0">
                <a:solidFill>
                  <a:schemeClr val="tx1"/>
                </a:solidFill>
                <a:latin typeface="Times New Roman" panose="02020603050405020304" pitchFamily="18" charset="0"/>
                <a:cs typeface="Times New Roman" panose="02020603050405020304" pitchFamily="18" charset="0"/>
              </a:rPr>
              <a:t>Write a C++ program that defines a class Date with private data members year, month, and day. The class should have a member function </a:t>
            </a:r>
            <a:r>
              <a:rPr lang="en-US" sz="3200" dirty="0" err="1">
                <a:solidFill>
                  <a:schemeClr val="tx1"/>
                </a:solidFill>
                <a:latin typeface="Times New Roman" panose="02020603050405020304" pitchFamily="18" charset="0"/>
                <a:cs typeface="Times New Roman" panose="02020603050405020304" pitchFamily="18" charset="0"/>
              </a:rPr>
              <a:t>setDate</a:t>
            </a:r>
            <a:r>
              <a:rPr lang="en-US" sz="3200" dirty="0">
                <a:solidFill>
                  <a:schemeClr val="tx1"/>
                </a:solidFill>
                <a:latin typeface="Times New Roman" panose="02020603050405020304" pitchFamily="18" charset="0"/>
                <a:cs typeface="Times New Roman" panose="02020603050405020304" pitchFamily="18" charset="0"/>
              </a:rPr>
              <a:t>() to input the date from the user and a function </a:t>
            </a:r>
            <a:r>
              <a:rPr lang="en-US" sz="3200" dirty="0" err="1">
                <a:solidFill>
                  <a:schemeClr val="tx1"/>
                </a:solidFill>
                <a:latin typeface="Times New Roman" panose="02020603050405020304" pitchFamily="18" charset="0"/>
                <a:cs typeface="Times New Roman" panose="02020603050405020304" pitchFamily="18" charset="0"/>
              </a:rPr>
              <a:t>printDate</a:t>
            </a:r>
            <a:r>
              <a:rPr lang="en-US" sz="3200" dirty="0">
                <a:solidFill>
                  <a:schemeClr val="tx1"/>
                </a:solidFill>
                <a:latin typeface="Times New Roman" panose="02020603050405020304" pitchFamily="18" charset="0"/>
                <a:cs typeface="Times New Roman" panose="02020603050405020304" pitchFamily="18" charset="0"/>
              </a:rPr>
              <a:t>() to display the date in the format day/month/year.</a:t>
            </a:r>
            <a:endParaRPr lang="en-US" sz="32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4</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pic>
        <p:nvPicPr>
          <p:cNvPr id="10" name="Picture 9"/>
          <p:cNvPicPr>
            <a:picLocks noChangeAspect="1"/>
          </p:cNvPicPr>
          <p:nvPr/>
        </p:nvPicPr>
        <p:blipFill rotWithShape="1">
          <a:blip r:embed="rId3"/>
          <a:srcRect l="817" t="3424" r="-1"/>
          <a:stretch/>
        </p:blipFill>
        <p:spPr>
          <a:xfrm>
            <a:off x="3947279" y="3921513"/>
            <a:ext cx="7082881" cy="2383753"/>
          </a:xfrm>
          <a:prstGeom prst="rect">
            <a:avLst/>
          </a:prstGeom>
        </p:spPr>
      </p:pic>
    </p:spTree>
    <p:extLst>
      <p:ext uri="{BB962C8B-B14F-4D97-AF65-F5344CB8AC3E}">
        <p14:creationId xmlns:p14="http://schemas.microsoft.com/office/powerpoint/2010/main" val="28033607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4</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noAutofit/>
          </a:bodyPr>
          <a:lstStyle/>
          <a:p>
            <a:pPr marL="0" indent="0" algn="just">
              <a:lnSpc>
                <a:spcPct val="100000"/>
              </a:lnSpc>
              <a:buNone/>
            </a:pPr>
            <a:r>
              <a:rPr lang="en-US" sz="2400" dirty="0">
                <a:solidFill>
                  <a:schemeClr val="tx1"/>
                </a:solidFill>
                <a:latin typeface="Times New Roman" panose="02020603050405020304" pitchFamily="18" charset="0"/>
                <a:cs typeface="Times New Roman" panose="02020603050405020304" pitchFamily="18" charset="0"/>
              </a:rPr>
              <a:t>Write a C++ program that defines a class </a:t>
            </a:r>
            <a:r>
              <a:rPr lang="en-US" sz="2400" dirty="0" smtClean="0">
                <a:solidFill>
                  <a:schemeClr val="tx1"/>
                </a:solidFill>
                <a:latin typeface="Times New Roman" panose="02020603050405020304" pitchFamily="18" charset="0"/>
                <a:cs typeface="Times New Roman" panose="02020603050405020304" pitchFamily="18" charset="0"/>
              </a:rPr>
              <a:t>Person </a:t>
            </a:r>
            <a:r>
              <a:rPr lang="en-US" sz="2400" dirty="0">
                <a:solidFill>
                  <a:schemeClr val="tx1"/>
                </a:solidFill>
                <a:latin typeface="Times New Roman" panose="02020603050405020304" pitchFamily="18" charset="0"/>
                <a:cs typeface="Times New Roman" panose="02020603050405020304" pitchFamily="18" charset="0"/>
              </a:rPr>
              <a:t>with private members </a:t>
            </a:r>
            <a:r>
              <a:rPr lang="en-US" sz="2400" dirty="0" smtClean="0">
                <a:solidFill>
                  <a:schemeClr val="tx1"/>
                </a:solidFill>
                <a:latin typeface="Times New Roman" panose="02020603050405020304" pitchFamily="18" charset="0"/>
                <a:cs typeface="Times New Roman" panose="02020603050405020304" pitchFamily="18" charset="0"/>
              </a:rPr>
              <a:t>name, city, </a:t>
            </a:r>
            <a:r>
              <a:rPr lang="en-US" sz="2400" dirty="0">
                <a:solidFill>
                  <a:schemeClr val="tx1"/>
                </a:solidFill>
                <a:latin typeface="Times New Roman" panose="02020603050405020304" pitchFamily="18" charset="0"/>
                <a:cs typeface="Times New Roman" panose="02020603050405020304" pitchFamily="18" charset="0"/>
              </a:rPr>
              <a:t>and </a:t>
            </a:r>
            <a:r>
              <a:rPr lang="en-US" sz="2400" dirty="0" smtClean="0">
                <a:solidFill>
                  <a:schemeClr val="tx1"/>
                </a:solidFill>
                <a:latin typeface="Times New Roman" panose="02020603050405020304" pitchFamily="18" charset="0"/>
                <a:cs typeface="Times New Roman" panose="02020603050405020304" pitchFamily="18" charset="0"/>
              </a:rPr>
              <a:t>age. </a:t>
            </a:r>
            <a:r>
              <a:rPr lang="en-US" sz="2400" dirty="0">
                <a:solidFill>
                  <a:schemeClr val="tx1"/>
                </a:solidFill>
                <a:latin typeface="Times New Roman" panose="02020603050405020304" pitchFamily="18" charset="0"/>
                <a:cs typeface="Times New Roman" panose="02020603050405020304" pitchFamily="18" charset="0"/>
              </a:rPr>
              <a:t>The class should have member functions </a:t>
            </a:r>
            <a:r>
              <a:rPr lang="en-US" sz="2400" dirty="0" smtClean="0">
                <a:solidFill>
                  <a:schemeClr val="tx1"/>
                </a:solidFill>
                <a:latin typeface="Times New Roman" panose="02020603050405020304" pitchFamily="18" charset="0"/>
                <a:cs typeface="Times New Roman" panose="02020603050405020304" pitchFamily="18" charset="0"/>
              </a:rPr>
              <a:t>input() </a:t>
            </a:r>
            <a:r>
              <a:rPr lang="en-US" sz="2400" dirty="0">
                <a:solidFill>
                  <a:schemeClr val="tx1"/>
                </a:solidFill>
                <a:latin typeface="Times New Roman" panose="02020603050405020304" pitchFamily="18" charset="0"/>
                <a:cs typeface="Times New Roman" panose="02020603050405020304" pitchFamily="18" charset="0"/>
              </a:rPr>
              <a:t>to take user input, </a:t>
            </a:r>
            <a:r>
              <a:rPr lang="en-US" sz="2400" dirty="0" err="1" smtClean="0">
                <a:solidFill>
                  <a:schemeClr val="tx1"/>
                </a:solidFill>
                <a:latin typeface="Times New Roman" panose="02020603050405020304" pitchFamily="18" charset="0"/>
                <a:cs typeface="Times New Roman" panose="02020603050405020304" pitchFamily="18" charset="0"/>
              </a:rPr>
              <a:t>getAge</a:t>
            </a:r>
            <a:r>
              <a:rPr lang="en-US" sz="2400" dirty="0" smtClean="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to return the person's age, and </a:t>
            </a:r>
            <a:r>
              <a:rPr lang="en-US" sz="2400" dirty="0" smtClean="0">
                <a:solidFill>
                  <a:schemeClr val="tx1"/>
                </a:solidFill>
                <a:latin typeface="Times New Roman" panose="02020603050405020304" pitchFamily="18" charset="0"/>
                <a:cs typeface="Times New Roman" panose="02020603050405020304" pitchFamily="18" charset="0"/>
              </a:rPr>
              <a:t>display() </a:t>
            </a:r>
            <a:r>
              <a:rPr lang="en-US" sz="2400" dirty="0">
                <a:solidFill>
                  <a:schemeClr val="tx1"/>
                </a:solidFill>
                <a:latin typeface="Times New Roman" panose="02020603050405020304" pitchFamily="18" charset="0"/>
                <a:cs typeface="Times New Roman" panose="02020603050405020304" pitchFamily="18" charset="0"/>
              </a:rPr>
              <a:t>to show the details of the elder person. In the </a:t>
            </a:r>
            <a:r>
              <a:rPr lang="en-US" sz="2400" dirty="0" smtClean="0">
                <a:solidFill>
                  <a:schemeClr val="tx1"/>
                </a:solidFill>
                <a:latin typeface="Times New Roman" panose="02020603050405020304" pitchFamily="18" charset="0"/>
                <a:cs typeface="Times New Roman" panose="02020603050405020304" pitchFamily="18" charset="0"/>
              </a:rPr>
              <a:t>main() </a:t>
            </a:r>
            <a:r>
              <a:rPr lang="en-US" sz="2400" dirty="0">
                <a:solidFill>
                  <a:schemeClr val="tx1"/>
                </a:solidFill>
                <a:latin typeface="Times New Roman" panose="02020603050405020304" pitchFamily="18" charset="0"/>
                <a:cs typeface="Times New Roman" panose="02020603050405020304" pitchFamily="18" charset="0"/>
              </a:rPr>
              <a:t>function, input details for two persons, compare their ages, and display the details of the elder person. If both are the same age, display an appropriate message.</a:t>
            </a:r>
            <a:endParaRPr lang="en-US" sz="24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5</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pic>
        <p:nvPicPr>
          <p:cNvPr id="7" name="Picture 6"/>
          <p:cNvPicPr>
            <a:picLocks noChangeAspect="1"/>
          </p:cNvPicPr>
          <p:nvPr/>
        </p:nvPicPr>
        <p:blipFill rotWithShape="1">
          <a:blip r:embed="rId3"/>
          <a:srcRect r="9879"/>
          <a:stretch/>
        </p:blipFill>
        <p:spPr>
          <a:xfrm>
            <a:off x="6374005" y="1841386"/>
            <a:ext cx="4781675" cy="4377645"/>
          </a:xfrm>
          <a:prstGeom prst="rect">
            <a:avLst/>
          </a:prstGeom>
        </p:spPr>
      </p:pic>
    </p:spTree>
    <p:extLst>
      <p:ext uri="{BB962C8B-B14F-4D97-AF65-F5344CB8AC3E}">
        <p14:creationId xmlns:p14="http://schemas.microsoft.com/office/powerpoint/2010/main" val="21212653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smtClean="0">
                <a:solidFill>
                  <a:schemeClr val="tx1"/>
                </a:solidFill>
                <a:latin typeface="Times New Roman" panose="02020603050405020304" pitchFamily="18" charset="0"/>
                <a:cs typeface="Times New Roman" panose="02020603050405020304" pitchFamily="18" charset="0"/>
              </a:rPr>
              <a:t>5</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lnSpc>
                <a:spcPct val="100000"/>
              </a:lnSpc>
            </a:pPr>
            <a:r>
              <a:rPr lang="en-US" sz="3200" dirty="0">
                <a:solidFill>
                  <a:schemeClr val="tx1"/>
                </a:solidFill>
                <a:latin typeface="Times New Roman" panose="02020603050405020304" pitchFamily="18" charset="0"/>
                <a:cs typeface="Times New Roman" panose="02020603050405020304" pitchFamily="18" charset="0"/>
              </a:rPr>
              <a:t>Create a class Rectangle with private members length and width. Implement a constant member function </a:t>
            </a:r>
            <a:r>
              <a:rPr lang="en-US" sz="3200" dirty="0" err="1">
                <a:solidFill>
                  <a:schemeClr val="tx1"/>
                </a:solidFill>
                <a:latin typeface="Times New Roman" panose="02020603050405020304" pitchFamily="18" charset="0"/>
                <a:cs typeface="Times New Roman" panose="02020603050405020304" pitchFamily="18" charset="0"/>
              </a:rPr>
              <a:t>getArea</a:t>
            </a:r>
            <a:r>
              <a:rPr lang="en-US" sz="3200" dirty="0">
                <a:solidFill>
                  <a:schemeClr val="tx1"/>
                </a:solidFill>
                <a:latin typeface="Times New Roman" panose="02020603050405020304" pitchFamily="18" charset="0"/>
                <a:cs typeface="Times New Roman" panose="02020603050405020304" pitchFamily="18" charset="0"/>
              </a:rPr>
              <a:t>() to calculate and return the area. Ensure that the function does not modify any class members</a:t>
            </a:r>
            <a:r>
              <a:rPr lang="en-US" sz="3200" dirty="0" smtClean="0">
                <a:solidFill>
                  <a:schemeClr val="tx1"/>
                </a:solidFill>
                <a:latin typeface="Times New Roman" panose="02020603050405020304" pitchFamily="18" charset="0"/>
                <a:cs typeface="Times New Roman" panose="02020603050405020304" pitchFamily="18" charset="0"/>
              </a:rPr>
              <a:t>.</a:t>
            </a:r>
          </a:p>
          <a:p>
            <a:pPr algn="just">
              <a:lnSpc>
                <a:spcPct val="100000"/>
              </a:lnSpc>
            </a:pPr>
            <a:endParaRPr lang="en-US" sz="3200" dirty="0">
              <a:solidFill>
                <a:schemeClr val="tx1"/>
              </a:solidFill>
              <a:latin typeface="Times New Roman" panose="02020603050405020304" pitchFamily="18" charset="0"/>
              <a:cs typeface="Times New Roman" panose="02020603050405020304" pitchFamily="18" charset="0"/>
            </a:endParaRPr>
          </a:p>
          <a:p>
            <a:pPr algn="ctr">
              <a:lnSpc>
                <a:spcPct val="100000"/>
              </a:lnSpc>
            </a:pPr>
            <a:r>
              <a:rPr lang="en-US" sz="3200" dirty="0" smtClean="0">
                <a:solidFill>
                  <a:schemeClr val="tx1"/>
                </a:solidFill>
                <a:latin typeface="Times New Roman" panose="02020603050405020304" pitchFamily="18" charset="0"/>
                <a:cs typeface="Times New Roman" panose="02020603050405020304" pitchFamily="18" charset="0"/>
              </a:rPr>
              <a:t>Area = Length * Width</a:t>
            </a:r>
            <a:endParaRPr lang="en-US" sz="32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6</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42028787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smtClean="0">
                <a:solidFill>
                  <a:schemeClr val="tx1"/>
                </a:solidFill>
                <a:latin typeface="Times New Roman" panose="02020603050405020304" pitchFamily="18" charset="0"/>
                <a:cs typeface="Times New Roman" panose="02020603050405020304" pitchFamily="18" charset="0"/>
              </a:rPr>
              <a:t>6</a:t>
            </a:r>
            <a:endParaRPr lang="en-US" sz="36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Autofit/>
              </a:bodyPr>
              <a:lstStyle/>
              <a:p>
                <a:pPr algn="just">
                  <a:lnSpc>
                    <a:spcPct val="100000"/>
                  </a:lnSpc>
                </a:pPr>
                <a:r>
                  <a:rPr lang="en-US" sz="3200" dirty="0" smtClean="0">
                    <a:solidFill>
                      <a:schemeClr val="tx1"/>
                    </a:solidFill>
                    <a:latin typeface="Times New Roman" panose="02020603050405020304" pitchFamily="18" charset="0"/>
                    <a:cs typeface="Times New Roman" panose="02020603050405020304" pitchFamily="18" charset="0"/>
                  </a:rPr>
                  <a:t>Create a class Circle with a private constant member variable PI initialized to 3.14159. Implement a member function </a:t>
                </a:r>
                <a:r>
                  <a:rPr lang="en-US" sz="3200" dirty="0" err="1">
                    <a:solidFill>
                      <a:schemeClr val="tx1"/>
                    </a:solidFill>
                    <a:latin typeface="Times New Roman" panose="02020603050405020304" pitchFamily="18" charset="0"/>
                    <a:cs typeface="Times New Roman" panose="02020603050405020304" pitchFamily="18" charset="0"/>
                  </a:rPr>
                  <a:t>getArea</a:t>
                </a:r>
                <a:r>
                  <a:rPr lang="en-US" sz="3200" dirty="0">
                    <a:solidFill>
                      <a:schemeClr val="tx1"/>
                    </a:solidFill>
                    <a:latin typeface="Times New Roman" panose="02020603050405020304" pitchFamily="18" charset="0"/>
                    <a:cs typeface="Times New Roman" panose="02020603050405020304" pitchFamily="18" charset="0"/>
                  </a:rPr>
                  <a:t>() to calculate and return the area of the circle based on the given radius. Define the member function outside of the class and ensure that the constant value PI cannot be modified</a:t>
                </a:r>
                <a:r>
                  <a:rPr lang="en-US" sz="3200" dirty="0" smtClean="0">
                    <a:solidFill>
                      <a:schemeClr val="tx1"/>
                    </a:solidFill>
                    <a:latin typeface="Times New Roman" panose="02020603050405020304" pitchFamily="18" charset="0"/>
                    <a:cs typeface="Times New Roman" panose="020206030504050203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p>
                <a:pPr algn="ctr">
                  <a:lnSpc>
                    <a:spcPct val="100000"/>
                  </a:lnSpc>
                </a:pPr>
                <a14:m>
                  <m:oMath xmlns:m="http://schemas.openxmlformats.org/officeDocument/2006/math">
                    <m:r>
                      <a:rPr lang="en-US" sz="3200" i="1" smtClean="0">
                        <a:solidFill>
                          <a:schemeClr val="tx1"/>
                        </a:solidFill>
                        <a:latin typeface="Cambria Math" panose="02040503050406030204" pitchFamily="18" charset="0"/>
                        <a:cs typeface="Times New Roman" panose="02020603050405020304" pitchFamily="18" charset="0"/>
                      </a:rPr>
                      <m:t>𝐴</m:t>
                    </m:r>
                    <m:r>
                      <a:rPr lang="en-US" sz="3200" b="0" i="1" smtClean="0">
                        <a:solidFill>
                          <a:schemeClr val="tx1"/>
                        </a:solidFill>
                        <a:latin typeface="Cambria Math" panose="02040503050406030204" pitchFamily="18" charset="0"/>
                        <a:cs typeface="Times New Roman" panose="02020603050405020304" pitchFamily="18" charset="0"/>
                      </a:rPr>
                      <m:t>𝑟𝑒𝑎</m:t>
                    </m:r>
                    <m:r>
                      <a:rPr lang="en-US" sz="3200" i="1" smtClean="0">
                        <a:solidFill>
                          <a:schemeClr val="tx1"/>
                        </a:solidFill>
                        <a:latin typeface="Cambria Math" panose="02040503050406030204" pitchFamily="18" charset="0"/>
                        <a:cs typeface="Times New Roman" panose="02020603050405020304" pitchFamily="18" charset="0"/>
                      </a:rPr>
                      <m:t>=</m:t>
                    </m:r>
                    <m:r>
                      <a:rPr lang="el-GR" sz="3200" i="1" smtClean="0">
                        <a:solidFill>
                          <a:schemeClr val="tx1"/>
                        </a:solidFill>
                        <a:latin typeface="Cambria Math" panose="02040503050406030204" pitchFamily="18" charset="0"/>
                        <a:cs typeface="Times New Roman" panose="02020603050405020304" pitchFamily="18" charset="0"/>
                      </a:rPr>
                      <m:t>𝜋</m:t>
                    </m:r>
                    <m:sSup>
                      <m:sSupPr>
                        <m:ctrlPr>
                          <a:rPr lang="en-US" sz="3200" i="1" smtClean="0">
                            <a:solidFill>
                              <a:schemeClr val="tx1"/>
                            </a:solidFill>
                            <a:latin typeface="Cambria Math" panose="02040503050406030204" pitchFamily="18" charset="0"/>
                            <a:cs typeface="Times New Roman" panose="02020603050405020304" pitchFamily="18" charset="0"/>
                          </a:rPr>
                        </m:ctrlPr>
                      </m:sSupPr>
                      <m:e>
                        <m:r>
                          <a:rPr lang="en-US" sz="3200" i="1" smtClean="0">
                            <a:solidFill>
                              <a:schemeClr val="tx1"/>
                            </a:solidFill>
                            <a:latin typeface="Cambria Math" panose="02040503050406030204" pitchFamily="18" charset="0"/>
                            <a:cs typeface="Times New Roman" panose="02020603050405020304" pitchFamily="18" charset="0"/>
                          </a:rPr>
                          <m:t>𝑟</m:t>
                        </m:r>
                      </m:e>
                      <m:sup>
                        <m:r>
                          <a:rPr lang="en-US" sz="3200" i="1" smtClean="0">
                            <a:solidFill>
                              <a:schemeClr val="tx1"/>
                            </a:solidFill>
                            <a:latin typeface="Cambria Math" panose="02040503050406030204" pitchFamily="18" charset="0"/>
                            <a:cs typeface="Times New Roman" panose="02020603050405020304" pitchFamily="18" charset="0"/>
                          </a:rPr>
                          <m:t>2</m:t>
                        </m:r>
                      </m:sup>
                    </m:sSup>
                  </m:oMath>
                </a14:m>
                <a:endParaRPr lang="en-US" sz="3200" dirty="0" smtClean="0">
                  <a:solidFill>
                    <a:schemeClr val="tx1"/>
                  </a:solidFill>
                  <a:latin typeface="Times New Roman" panose="02020603050405020304" pitchFamily="18" charset="0"/>
                  <a:cs typeface="Times New Roman" panose="02020603050405020304"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515" t="-2121" r="-2424"/>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7</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23522764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7</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4650" y="1845734"/>
            <a:ext cx="9941029" cy="4023360"/>
          </a:xfrm>
        </p:spPr>
        <p:txBody>
          <a:bodyPr>
            <a:noAutofit/>
          </a:bodyPr>
          <a:lstStyle/>
          <a:p>
            <a:pPr marL="0" indent="0" algn="just">
              <a:lnSpc>
                <a:spcPct val="100000"/>
              </a:lnSpc>
              <a:buNone/>
            </a:pPr>
            <a:r>
              <a:rPr lang="en-US" sz="3200" dirty="0">
                <a:solidFill>
                  <a:schemeClr val="tx1"/>
                </a:solidFill>
                <a:latin typeface="Times New Roman" panose="02020603050405020304" pitchFamily="18" charset="0"/>
                <a:cs typeface="Times New Roman" panose="02020603050405020304" pitchFamily="18" charset="0"/>
              </a:rPr>
              <a:t>Create a class Employee with private members name, id, and salary. Implement the member functions </a:t>
            </a:r>
            <a:r>
              <a:rPr lang="en-US" sz="3200" dirty="0" err="1">
                <a:solidFill>
                  <a:schemeClr val="tx1"/>
                </a:solidFill>
                <a:latin typeface="Times New Roman" panose="02020603050405020304" pitchFamily="18" charset="0"/>
                <a:cs typeface="Times New Roman" panose="02020603050405020304" pitchFamily="18" charset="0"/>
              </a:rPr>
              <a:t>setData</a:t>
            </a:r>
            <a:r>
              <a:rPr lang="en-US" sz="3200" dirty="0">
                <a:solidFill>
                  <a:schemeClr val="tx1"/>
                </a:solidFill>
                <a:latin typeface="Times New Roman" panose="02020603050405020304" pitchFamily="18" charset="0"/>
                <a:cs typeface="Times New Roman" panose="02020603050405020304" pitchFamily="18" charset="0"/>
              </a:rPr>
              <a:t>() and </a:t>
            </a:r>
            <a:r>
              <a:rPr lang="en-US" sz="3200" dirty="0" err="1">
                <a:solidFill>
                  <a:schemeClr val="tx1"/>
                </a:solidFill>
                <a:latin typeface="Times New Roman" panose="02020603050405020304" pitchFamily="18" charset="0"/>
                <a:cs typeface="Times New Roman" panose="02020603050405020304" pitchFamily="18" charset="0"/>
              </a:rPr>
              <a:t>getData</a:t>
            </a:r>
            <a:r>
              <a:rPr lang="en-US" sz="3200" dirty="0">
                <a:solidFill>
                  <a:schemeClr val="tx1"/>
                </a:solidFill>
                <a:latin typeface="Times New Roman" panose="02020603050405020304" pitchFamily="18" charset="0"/>
                <a:cs typeface="Times New Roman" panose="02020603050405020304" pitchFamily="18" charset="0"/>
              </a:rPr>
              <a:t>() outside of the class to set and display employee details.</a:t>
            </a:r>
            <a:endParaRPr lang="en-US" sz="32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8</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4270939224"/>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5056</TotalTime>
  <Words>426</Words>
  <Application>Microsoft Office PowerPoint</Application>
  <PresentationFormat>Widescreen</PresentationFormat>
  <Paragraphs>36</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Cambria Math</vt:lpstr>
      <vt:lpstr>Times New Roman</vt:lpstr>
      <vt:lpstr>Retrospect</vt:lpstr>
      <vt:lpstr>LAB – 03</vt:lpstr>
      <vt:lpstr>Task - 1</vt:lpstr>
      <vt:lpstr>Task - 2</vt:lpstr>
      <vt:lpstr>Task - 3</vt:lpstr>
      <vt:lpstr>Task - 4</vt:lpstr>
      <vt:lpstr>Task - 5</vt:lpstr>
      <vt:lpstr>Task - 6</vt:lpstr>
      <vt:lpstr>Task - 7</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Majid Hussain</dc:creator>
  <cp:lastModifiedBy>Microsoft account</cp:lastModifiedBy>
  <cp:revision>480</cp:revision>
  <dcterms:created xsi:type="dcterms:W3CDTF">2022-09-18T18:36:50Z</dcterms:created>
  <dcterms:modified xsi:type="dcterms:W3CDTF">2024-10-08T17:35:17Z</dcterms:modified>
</cp:coreProperties>
</file>
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68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47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613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911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863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720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37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29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908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35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898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3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4921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613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897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B8C0-7E6B-4A2D-8B55-0FAAAEAC5C0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066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FFB8C0-7E6B-4A2D-8B55-0FAAAEAC5C0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78357C8-F564-436E-B300-7D5A1A539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143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Multiple Inheritance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838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Multiple </a:t>
            </a:r>
            <a:r>
              <a:rPr lang="en-US" b="1" dirty="0"/>
              <a:t>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Multiple Inheritance is a feature of C++ where a class can inherit from more than one classes.  The constructors of inherited classes are called in the same order in which they are inherited</a:t>
            </a:r>
            <a:r>
              <a:rPr lang="en-US" dirty="0" smtClean="0"/>
              <a:t>.</a:t>
            </a:r>
          </a:p>
          <a:p>
            <a:pPr fontAlgn="base"/>
            <a:r>
              <a:rPr lang="en-US" dirty="0"/>
              <a:t>A class can be derived from more than one base class.</a:t>
            </a:r>
          </a:p>
          <a:p>
            <a:pPr fontAlgn="base"/>
            <a:r>
              <a:rPr lang="en-US" dirty="0" err="1"/>
              <a:t>Eg</a:t>
            </a:r>
            <a:r>
              <a:rPr lang="en-US" dirty="0"/>
              <a:t>: </a:t>
            </a:r>
          </a:p>
          <a:p>
            <a:pPr marL="0" indent="0" fontAlgn="base">
              <a:buNone/>
            </a:pPr>
            <a:r>
              <a:rPr lang="en-US" dirty="0" smtClean="0"/>
              <a:t>	(</a:t>
            </a:r>
            <a:r>
              <a:rPr lang="en-US" dirty="0" err="1"/>
              <a:t>i</a:t>
            </a:r>
            <a:r>
              <a:rPr lang="en-US" dirty="0"/>
              <a:t>) A CHILD class is derived from FATHER and MOTHER class</a:t>
            </a:r>
            <a:br>
              <a:rPr lang="en-US" dirty="0"/>
            </a:br>
            <a:r>
              <a:rPr lang="en-US" dirty="0" smtClean="0"/>
              <a:t>	(</a:t>
            </a:r>
            <a:r>
              <a:rPr lang="en-US" dirty="0"/>
              <a:t>ii) A PETROL class is derived from LIQUID and FUEL class.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384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7334" y="609600"/>
            <a:ext cx="3920424" cy="1320800"/>
          </a:xfrm>
        </p:spPr>
        <p:txBody>
          <a:bodyPr/>
          <a:lstStyle/>
          <a:p>
            <a:r>
              <a:rPr lang="en-US" dirty="0" smtClean="0"/>
              <a:t>Syntax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2637546" y="1506828"/>
            <a:ext cx="4184035" cy="47405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A</a:t>
            </a:r>
          </a:p>
          <a:p>
            <a:pPr marL="0" indent="0">
              <a:buNone/>
            </a:pPr>
            <a:r>
              <a:rPr lang="en-US" dirty="0"/>
              <a:t>{ </a:t>
            </a:r>
          </a:p>
          <a:p>
            <a:pPr marL="0" indent="0">
              <a:buNone/>
            </a:pPr>
            <a:r>
              <a:rPr lang="en-US" dirty="0"/>
              <a:t>... .. ... 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r>
              <a:rPr lang="en-US" dirty="0"/>
              <a:t>class B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... .. ...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r>
              <a:rPr lang="en-US" dirty="0"/>
              <a:t>class C: public </a:t>
            </a:r>
            <a:r>
              <a:rPr lang="en-US" dirty="0" err="1"/>
              <a:t>A,public</a:t>
            </a:r>
            <a:r>
              <a:rPr lang="en-US" dirty="0"/>
              <a:t> B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... ... ...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34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7334" y="609600"/>
            <a:ext cx="6431804" cy="1320800"/>
          </a:xfrm>
        </p:spPr>
        <p:txBody>
          <a:bodyPr/>
          <a:lstStyle/>
          <a:p>
            <a:r>
              <a:rPr lang="en-US" dirty="0" smtClean="0"/>
              <a:t>Constructor Calling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5318975" y="767724"/>
            <a:ext cx="4468969" cy="51129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#include&lt;</a:t>
            </a:r>
            <a:r>
              <a:rPr lang="en-US" sz="1000" b="1" dirty="0" err="1" smtClean="0">
                <a:latin typeface="Consolas" panose="020B0609020204030204" pitchFamily="49" charset="0"/>
                <a:ea typeface="Verdana" panose="020B0604030504040204" pitchFamily="34" charset="0"/>
              </a:rPr>
              <a:t>iostream</a:t>
            </a: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&gt;</a:t>
            </a:r>
          </a:p>
          <a:p>
            <a:pPr marL="0" indent="0">
              <a:buNone/>
            </a:pP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using namespace </a:t>
            </a:r>
            <a:r>
              <a:rPr lang="en-US" sz="1000" b="1" dirty="0" err="1" smtClean="0">
                <a:latin typeface="Consolas" panose="020B0609020204030204" pitchFamily="49" charset="0"/>
                <a:ea typeface="Verdana" panose="020B0604030504040204" pitchFamily="34" charset="0"/>
              </a:rPr>
              <a:t>std</a:t>
            </a: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;</a:t>
            </a:r>
          </a:p>
          <a:p>
            <a:pPr marL="0" indent="0">
              <a:buNone/>
            </a:pP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class A</a:t>
            </a:r>
          </a:p>
          <a:p>
            <a:pPr marL="0" indent="0">
              <a:buNone/>
            </a:pP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{</a:t>
            </a:r>
          </a:p>
          <a:p>
            <a:pPr marL="0" indent="0">
              <a:buNone/>
            </a:pP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public:</a:t>
            </a:r>
          </a:p>
          <a:p>
            <a:pPr marL="0" indent="0">
              <a:buNone/>
            </a:pP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  A()  { </a:t>
            </a:r>
            <a:r>
              <a:rPr lang="en-US" sz="1000" b="1" dirty="0" err="1" smtClean="0">
                <a:latin typeface="Consolas" panose="020B0609020204030204" pitchFamily="49" charset="0"/>
                <a:ea typeface="Verdana" panose="020B0604030504040204" pitchFamily="34" charset="0"/>
              </a:rPr>
              <a:t>cout</a:t>
            </a: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 &lt;&lt; "A's constructor called" &lt;&lt; </a:t>
            </a:r>
            <a:r>
              <a:rPr lang="en-US" sz="1000" b="1" dirty="0" err="1" smtClean="0">
                <a:latin typeface="Consolas" panose="020B0609020204030204" pitchFamily="49" charset="0"/>
                <a:ea typeface="Verdana" panose="020B0604030504040204" pitchFamily="34" charset="0"/>
              </a:rPr>
              <a:t>endl</a:t>
            </a: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; }</a:t>
            </a:r>
          </a:p>
          <a:p>
            <a:pPr marL="0" indent="0">
              <a:buNone/>
            </a:pP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};</a:t>
            </a:r>
          </a:p>
          <a:p>
            <a:pPr marL="0" indent="0">
              <a:buNone/>
            </a:pP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class B</a:t>
            </a:r>
          </a:p>
          <a:p>
            <a:pPr marL="0" indent="0">
              <a:buNone/>
            </a:pP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{</a:t>
            </a:r>
          </a:p>
          <a:p>
            <a:pPr marL="0" indent="0">
              <a:buNone/>
            </a:pP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public:</a:t>
            </a:r>
          </a:p>
          <a:p>
            <a:pPr marL="0" indent="0">
              <a:buNone/>
            </a:pP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  B()  { </a:t>
            </a:r>
            <a:r>
              <a:rPr lang="en-US" sz="1000" b="1" dirty="0" err="1" smtClean="0">
                <a:latin typeface="Consolas" panose="020B0609020204030204" pitchFamily="49" charset="0"/>
                <a:ea typeface="Verdana" panose="020B0604030504040204" pitchFamily="34" charset="0"/>
              </a:rPr>
              <a:t>cout</a:t>
            </a: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 &lt;&lt; "B's constructor called" &lt;&lt; </a:t>
            </a:r>
            <a:r>
              <a:rPr lang="en-US" sz="1000" b="1" dirty="0" err="1" smtClean="0">
                <a:latin typeface="Consolas" panose="020B0609020204030204" pitchFamily="49" charset="0"/>
                <a:ea typeface="Verdana" panose="020B0604030504040204" pitchFamily="34" charset="0"/>
              </a:rPr>
              <a:t>endl</a:t>
            </a: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; }</a:t>
            </a:r>
          </a:p>
          <a:p>
            <a:pPr marL="0" indent="0">
              <a:buNone/>
            </a:pP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};</a:t>
            </a:r>
          </a:p>
          <a:p>
            <a:pPr marL="0" indent="0">
              <a:buNone/>
            </a:pP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class C: public B, public A  // Note the order</a:t>
            </a:r>
          </a:p>
          <a:p>
            <a:pPr marL="0" indent="0">
              <a:buNone/>
            </a:pP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{</a:t>
            </a:r>
          </a:p>
          <a:p>
            <a:pPr marL="0" indent="0">
              <a:buNone/>
            </a:pP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public:</a:t>
            </a:r>
          </a:p>
          <a:p>
            <a:pPr marL="0" indent="0">
              <a:buNone/>
            </a:pP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  C()  { </a:t>
            </a:r>
            <a:r>
              <a:rPr lang="en-US" sz="1000" b="1" dirty="0" err="1" smtClean="0">
                <a:latin typeface="Consolas" panose="020B0609020204030204" pitchFamily="49" charset="0"/>
                <a:ea typeface="Verdana" panose="020B0604030504040204" pitchFamily="34" charset="0"/>
              </a:rPr>
              <a:t>cout</a:t>
            </a: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 &lt;&lt; "C's constructor called" &lt;&lt; </a:t>
            </a:r>
            <a:r>
              <a:rPr lang="en-US" sz="1000" b="1" dirty="0" err="1" smtClean="0">
                <a:latin typeface="Consolas" panose="020B0609020204030204" pitchFamily="49" charset="0"/>
                <a:ea typeface="Verdana" panose="020B0604030504040204" pitchFamily="34" charset="0"/>
              </a:rPr>
              <a:t>endl</a:t>
            </a: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; }</a:t>
            </a:r>
          </a:p>
          <a:p>
            <a:pPr marL="0" indent="0">
              <a:buNone/>
            </a:pP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};</a:t>
            </a:r>
          </a:p>
          <a:p>
            <a:pPr marL="0" indent="0">
              <a:buNone/>
            </a:pPr>
            <a:r>
              <a:rPr lang="en-US" sz="1000" b="1" dirty="0" err="1" smtClean="0">
                <a:latin typeface="Consolas" panose="020B0609020204030204" pitchFamily="49" charset="0"/>
                <a:ea typeface="Verdana" panose="020B0604030504040204" pitchFamily="34" charset="0"/>
              </a:rPr>
              <a:t>int</a:t>
            </a: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 main()</a:t>
            </a:r>
          </a:p>
          <a:p>
            <a:pPr marL="0" indent="0">
              <a:buNone/>
            </a:pP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{</a:t>
            </a:r>
          </a:p>
          <a:p>
            <a:pPr marL="0" indent="0">
              <a:buNone/>
            </a:pP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    C </a:t>
            </a:r>
            <a:r>
              <a:rPr lang="en-US" sz="1000" b="1" dirty="0" err="1" smtClean="0">
                <a:latin typeface="Consolas" panose="020B0609020204030204" pitchFamily="49" charset="0"/>
                <a:ea typeface="Verdana" panose="020B0604030504040204" pitchFamily="34" charset="0"/>
              </a:rPr>
              <a:t>c</a:t>
            </a: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;</a:t>
            </a:r>
          </a:p>
          <a:p>
            <a:pPr marL="0" indent="0">
              <a:buNone/>
            </a:pP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    return 0;</a:t>
            </a:r>
          </a:p>
          <a:p>
            <a:pPr marL="0" indent="0">
              <a:buNone/>
            </a:pPr>
            <a:r>
              <a:rPr lang="en-US" sz="1000" b="1" dirty="0" smtClean="0">
                <a:latin typeface="Consolas" panose="020B0609020204030204" pitchFamily="49" charset="0"/>
                <a:ea typeface="Verdana" panose="020B0604030504040204" pitchFamily="34" charset="0"/>
              </a:rPr>
              <a:t>}</a:t>
            </a:r>
            <a:endParaRPr lang="en-US" sz="1000" b="1" dirty="0">
              <a:latin typeface="Consolas" panose="020B0609020204030204" pitchFamily="49" charset="0"/>
              <a:ea typeface="Verdan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77334" y="1488359"/>
            <a:ext cx="453861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constructors of inherited classes are called in the same order in which they are inherited. For example, in the following program, B’s constructor is called before A’s constructor.</a:t>
            </a:r>
          </a:p>
        </p:txBody>
      </p:sp>
      <p:sp>
        <p:nvSpPr>
          <p:cNvPr id="3" name="Rectangle 2"/>
          <p:cNvSpPr/>
          <p:nvPr/>
        </p:nvSpPr>
        <p:spPr>
          <a:xfrm>
            <a:off x="845236" y="4216586"/>
            <a:ext cx="43707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Output:</a:t>
            </a:r>
          </a:p>
          <a:p>
            <a:r>
              <a:rPr lang="en-US" dirty="0" smtClean="0"/>
              <a:t>B's </a:t>
            </a:r>
            <a:r>
              <a:rPr lang="en-US" dirty="0"/>
              <a:t>constructor called</a:t>
            </a:r>
          </a:p>
          <a:p>
            <a:r>
              <a:rPr lang="en-US" dirty="0"/>
              <a:t>A's constructor called</a:t>
            </a:r>
          </a:p>
          <a:p>
            <a:r>
              <a:rPr lang="en-US" dirty="0"/>
              <a:t>C's constructor called</a:t>
            </a:r>
          </a:p>
        </p:txBody>
      </p:sp>
    </p:spTree>
    <p:extLst>
      <p:ext uri="{BB962C8B-B14F-4D97-AF65-F5344CB8AC3E}">
        <p14:creationId xmlns:p14="http://schemas.microsoft.com/office/powerpoint/2010/main" val="266516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77334" y="609600"/>
            <a:ext cx="9175004" cy="1320800"/>
          </a:xfrm>
        </p:spPr>
        <p:txBody>
          <a:bodyPr/>
          <a:lstStyle/>
          <a:p>
            <a:r>
              <a:rPr lang="en-US" dirty="0" smtClean="0"/>
              <a:t>Example - 1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77334" y="1270000"/>
            <a:ext cx="9033336" cy="544438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C++ program that demonstrates multiple inheritance where two base classes, Person and Employee, are inherited by a derived class Manager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class should have attributes name and age with appropriate constructor and methods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class should have attributes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employeeID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department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 class should inherit from both and add an additional attribute level (e.g., Junior, Senior) with a method to display the details of the manager, including the details inherited from both base classes.</a:t>
            </a:r>
          </a:p>
        </p:txBody>
      </p:sp>
    </p:spTree>
    <p:extLst>
      <p:ext uri="{BB962C8B-B14F-4D97-AF65-F5344CB8AC3E}">
        <p14:creationId xmlns:p14="http://schemas.microsoft.com/office/powerpoint/2010/main" val="1424630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8287"/>
          </a:xfrm>
        </p:spPr>
        <p:txBody>
          <a:bodyPr>
            <a:normAutofit/>
          </a:bodyPr>
          <a:lstStyle/>
          <a:p>
            <a:r>
              <a:rPr lang="en-US" dirty="0" smtClean="0"/>
              <a:t>Example –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790" y="1413614"/>
            <a:ext cx="9431368" cy="5283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implement a scenario where 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HybridCar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inherits from two base classes: Car and Electric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class should have attributes like model and year, and a method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displayInfo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(). The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class should have attributes like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batteryCapacity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method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displayBatteryInfo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(). The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HybridCar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should inherit from both, using the constructors of the base classes to initialize its properties and implement a method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displayHybridInfo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that displays both car and battery details.</a:t>
            </a:r>
          </a:p>
        </p:txBody>
      </p:sp>
    </p:spTree>
    <p:extLst>
      <p:ext uri="{BB962C8B-B14F-4D97-AF65-F5344CB8AC3E}">
        <p14:creationId xmlns:p14="http://schemas.microsoft.com/office/powerpoint/2010/main" val="231137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3965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- 3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249251"/>
            <a:ext cx="9187883" cy="479211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that simulates a student’s academic and sports record using multiple inheritance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Create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base class Academic with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subjectID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subjectName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grade. Include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constructor to initialize these attributes and a method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showGrade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to display the academic details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base class Sports with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sportID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sportName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Include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constructor to initialize these attributes and a method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showSport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to display the sport involvement details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derived class Student that inherits from both Academic and Sports. This class should include additional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studentName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Implement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constructor to initialize all attributes, including those of the base classes. Additionally, add a method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showDetails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to display the student's personal information along with their academic and sports records by calling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showGrade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and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showSport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methods from the base classes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main() function, create an object of the Student class with appropriate values, and call the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showDetails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method to display the student's complete details.</a:t>
            </a:r>
          </a:p>
        </p:txBody>
      </p:sp>
    </p:spTree>
    <p:extLst>
      <p:ext uri="{BB962C8B-B14F-4D97-AF65-F5344CB8AC3E}">
        <p14:creationId xmlns:p14="http://schemas.microsoft.com/office/powerpoint/2010/main" val="1937153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3965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– 4, Hybrid 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249251"/>
            <a:ext cx="9187883" cy="479211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 education portal, a base class Person holds common information like name and age. A derived class Student inherits from Person and includes student-specific attributes like student ID and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degree.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derived class Instructor also inherits from Person and includes attributes like employee ID and department. A class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TeachingAssistant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inherits from both Student and Instructor, representing a student who is also an instructor. Structure the classes using hybrid inheritance and outline how you would display the details of 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TeachingAssistant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1754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151</TotalTime>
  <Words>646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Consolas</vt:lpstr>
      <vt:lpstr>Times New Roman</vt:lpstr>
      <vt:lpstr>Trebuchet MS</vt:lpstr>
      <vt:lpstr>Verdana</vt:lpstr>
      <vt:lpstr>Wingdings 3</vt:lpstr>
      <vt:lpstr>Facet</vt:lpstr>
      <vt:lpstr>Multiple Inheritance</vt:lpstr>
      <vt:lpstr>Multiple inheritance</vt:lpstr>
      <vt:lpstr>Syntax</vt:lpstr>
      <vt:lpstr>Constructor Calling</vt:lpstr>
      <vt:lpstr>Example - 1</vt:lpstr>
      <vt:lpstr>Example – 2</vt:lpstr>
      <vt:lpstr>Example - 3</vt:lpstr>
      <vt:lpstr>Example – 4, Hybrid Inheritance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Multilevel Inheritance</dc:title>
  <dc:creator/>
  <cp:lastModifiedBy>Microsoft account</cp:lastModifiedBy>
  <cp:revision>23</cp:revision>
  <dcterms:created xsi:type="dcterms:W3CDTF">2024-11-05T03:39:36Z</dcterms:created>
  <dcterms:modified xsi:type="dcterms:W3CDTF">2024-11-13T05:44:13Z</dcterms:modified>
</cp:coreProperties>
</file>
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344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78" r:id="rId17"/>
    <p:sldId id="359" r:id="rId18"/>
    <p:sldId id="360" r:id="rId19"/>
    <p:sldId id="361" r:id="rId20"/>
    <p:sldId id="362" r:id="rId21"/>
    <p:sldId id="364" r:id="rId22"/>
    <p:sldId id="365" r:id="rId23"/>
    <p:sldId id="366" r:id="rId24"/>
    <p:sldId id="367" r:id="rId25"/>
    <p:sldId id="379" r:id="rId26"/>
    <p:sldId id="380" r:id="rId27"/>
    <p:sldId id="381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0000"/>
    <a:srgbClr val="2C14DE"/>
    <a:srgbClr val="D20000"/>
    <a:srgbClr val="008000"/>
    <a:srgbClr val="2F1BC7"/>
    <a:srgbClr val="27558D"/>
    <a:srgbClr val="39DFE7"/>
    <a:srgbClr val="160C5C"/>
    <a:srgbClr val="4F5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576" autoAdjust="0"/>
  </p:normalViewPr>
  <p:slideViewPr>
    <p:cSldViewPr>
      <p:cViewPr varScale="1">
        <p:scale>
          <a:sx n="70" d="100"/>
          <a:sy n="70" d="100"/>
        </p:scale>
        <p:origin x="157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C0C88-7267-4399-A55D-D2971BA77B10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5FC15-40B4-45E5-86AE-2E64D22F0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6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25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EBF9B13-E7B7-4E56-8DF3-1FC50B0A9575}" type="datetime1">
              <a:rPr lang="en-US" sz="1200" smtClean="0"/>
              <a:pPr eaLnBrk="1" hangingPunct="1"/>
              <a:t>12/23/2024</a:t>
            </a:fld>
            <a:endParaRPr lang="en-US" sz="1200"/>
          </a:p>
        </p:txBody>
      </p:sp>
      <p:sp>
        <p:nvSpPr>
          <p:cNvPr id="39939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8AE09A5-09B2-45B7-AB61-C990D40B35B5}" type="slidenum">
              <a:rPr lang="en-US" sz="1200"/>
              <a:pPr eaLnBrk="1" hangingPunct="1"/>
              <a:t>2</a:t>
            </a:fld>
            <a:endParaRPr lang="en-US" sz="1200"/>
          </a:p>
        </p:txBody>
      </p:sp>
      <p:sp>
        <p:nvSpPr>
          <p:cNvPr id="399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1337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66CAE58-1A7B-4C00-B553-89334E111034}" type="datetime1">
              <a:rPr lang="en-US" sz="1200" smtClean="0"/>
              <a:pPr eaLnBrk="1" hangingPunct="1"/>
              <a:t>12/23/2024</a:t>
            </a:fld>
            <a:endParaRPr lang="en-US" sz="1200"/>
          </a:p>
        </p:txBody>
      </p:sp>
      <p:sp>
        <p:nvSpPr>
          <p:cNvPr id="40963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AE86330-5377-4B63-B140-9063D9DDBC12}" type="slidenum">
              <a:rPr lang="en-US" sz="1200"/>
              <a:pPr eaLnBrk="1" hangingPunct="1"/>
              <a:t>9</a:t>
            </a:fld>
            <a:endParaRPr lang="en-US" sz="1200"/>
          </a:p>
        </p:txBody>
      </p:sp>
      <p:sp>
        <p:nvSpPr>
          <p:cNvPr id="409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3791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40B8BFF-FF3B-4FE5-9792-5731A7DC70A8}" type="datetime1">
              <a:rPr lang="en-US" sz="1200" smtClean="0"/>
              <a:pPr eaLnBrk="1" hangingPunct="1"/>
              <a:t>12/23/2024</a:t>
            </a:fld>
            <a:endParaRPr lang="en-US" sz="1200"/>
          </a:p>
        </p:txBody>
      </p:sp>
      <p:sp>
        <p:nvSpPr>
          <p:cNvPr id="41987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7A00A4B-8967-4371-8A04-90503FDB3664}" type="slidenum">
              <a:rPr lang="en-US" sz="1200"/>
              <a:pPr eaLnBrk="1" hangingPunct="1"/>
              <a:t>14</a:t>
            </a:fld>
            <a:endParaRPr lang="en-US" sz="1200"/>
          </a:p>
        </p:txBody>
      </p:sp>
      <p:sp>
        <p:nvSpPr>
          <p:cNvPr id="419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05726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76E483E-8003-4076-8DB1-55FD68B83D73}" type="slidenum">
              <a:rPr lang="en-US" sz="1200" baseline="0"/>
              <a:pPr eaLnBrk="1" hangingPunct="1"/>
              <a:t>16</a:t>
            </a:fld>
            <a:endParaRPr lang="en-US" sz="1200" baseline="0"/>
          </a:p>
        </p:txBody>
      </p:sp>
      <p:sp>
        <p:nvSpPr>
          <p:cNvPr id="5222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3498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534400" cy="56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905000"/>
            <a:ext cx="8991600" cy="1676400"/>
          </a:xfrm>
        </p:spPr>
        <p:txBody>
          <a:bodyPr>
            <a:noAutofit/>
          </a:bodyPr>
          <a:lstStyle/>
          <a:p>
            <a:r>
              <a:rPr lang="en-US" b="1" dirty="0"/>
              <a:t>Introduction to Templates</a:t>
            </a:r>
            <a:r>
              <a:rPr lang="en-US" dirty="0"/>
              <a:t/>
            </a:r>
            <a:br>
              <a:rPr lang="en-US" dirty="0"/>
            </a:b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3733800"/>
            <a:ext cx="8915400" cy="2743200"/>
          </a:xfrm>
        </p:spPr>
        <p:txBody>
          <a:bodyPr>
            <a:normAutofit/>
          </a:bodyPr>
          <a:lstStyle/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Department of Computer Science, </a:t>
            </a:r>
          </a:p>
          <a:p>
            <a:r>
              <a:rPr lang="en-US" sz="2800" dirty="0" smtClean="0"/>
              <a:t>The University </a:t>
            </a:r>
            <a:r>
              <a:rPr lang="en-US" sz="2800" dirty="0"/>
              <a:t>of </a:t>
            </a:r>
            <a:r>
              <a:rPr lang="en-US" sz="2800" dirty="0" smtClean="0"/>
              <a:t>Lahore, Pakistan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887237" y="-1"/>
            <a:ext cx="8229600" cy="88391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Functions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212377" y="2057400"/>
            <a:ext cx="86868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1" u="sng" dirty="0">
                <a:latin typeface="+mj-lt"/>
              </a:rPr>
              <a:t>Example:  </a:t>
            </a:r>
            <a:r>
              <a:rPr lang="en-US" sz="2400" b="1" dirty="0">
                <a:latin typeface="+mj-lt"/>
              </a:rPr>
              <a:t>Interchange</a:t>
            </a:r>
            <a:r>
              <a:rPr lang="en-US" sz="2400" dirty="0">
                <a:latin typeface="+mj-lt"/>
              </a:rPr>
              <a:t> the </a:t>
            </a:r>
            <a:r>
              <a:rPr lang="en-US" sz="2400" b="1" dirty="0">
                <a:latin typeface="+mj-lt"/>
              </a:rPr>
              <a:t>values</a:t>
            </a:r>
            <a:r>
              <a:rPr lang="en-US" sz="2400" dirty="0">
                <a:latin typeface="+mj-lt"/>
              </a:rPr>
              <a:t> of </a:t>
            </a:r>
            <a:r>
              <a:rPr lang="en-US" sz="2400" b="1" dirty="0">
                <a:latin typeface="+mj-lt"/>
              </a:rPr>
              <a:t>two </a:t>
            </a:r>
            <a:r>
              <a:rPr lang="en-US" sz="2400" b="1" dirty="0" err="1">
                <a:latin typeface="+mj-lt"/>
              </a:rPr>
              <a:t>int</a:t>
            </a:r>
            <a:r>
              <a:rPr lang="en-US" sz="2400" b="1" dirty="0">
                <a:latin typeface="+mj-lt"/>
              </a:rPr>
              <a:t> variables x and y</a:t>
            </a:r>
            <a:r>
              <a:rPr lang="en-US" sz="2400" dirty="0">
                <a:latin typeface="+mj-lt"/>
              </a:rPr>
              <a:t>.</a:t>
            </a:r>
          </a:p>
          <a:p>
            <a:pPr eaLnBrk="1" hangingPunct="1"/>
            <a:endParaRPr lang="en-US" sz="700" dirty="0">
              <a:latin typeface="+mj-lt"/>
            </a:endParaRPr>
          </a:p>
          <a:p>
            <a:pPr eaLnBrk="1" hangingPunct="1"/>
            <a:r>
              <a:rPr lang="en-US" sz="2000" u="sng" dirty="0">
                <a:latin typeface="+mj-lt"/>
              </a:rPr>
              <a:t>Instead of inline code</a:t>
            </a:r>
            <a:r>
              <a:rPr lang="en-US" sz="2000" dirty="0">
                <a:latin typeface="+mj-lt"/>
              </a:rPr>
              <a:t>: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			</a:t>
            </a:r>
            <a:r>
              <a:rPr lang="en-US" sz="2400" b="1" dirty="0" err="1">
                <a:latin typeface="Consolas" panose="020B0609020204030204" pitchFamily="49" charset="0"/>
              </a:rPr>
              <a:t>int</a:t>
            </a:r>
            <a:r>
              <a:rPr lang="en-US" sz="2400" b="1" dirty="0">
                <a:latin typeface="Consolas" panose="020B0609020204030204" pitchFamily="49" charset="0"/>
              </a:rPr>
              <a:t> temp = x;</a:t>
            </a:r>
            <a:br>
              <a:rPr lang="en-US" sz="2400" b="1" dirty="0">
                <a:latin typeface="Consolas" panose="020B0609020204030204" pitchFamily="49" charset="0"/>
              </a:rPr>
            </a:br>
            <a:r>
              <a:rPr lang="en-US" sz="2400" b="1" dirty="0">
                <a:latin typeface="Consolas" panose="020B0609020204030204" pitchFamily="49" charset="0"/>
              </a:rPr>
              <a:t>			x = y;</a:t>
            </a:r>
            <a:br>
              <a:rPr lang="en-US" sz="2400" b="1" dirty="0">
                <a:latin typeface="Consolas" panose="020B0609020204030204" pitchFamily="49" charset="0"/>
              </a:rPr>
            </a:br>
            <a:r>
              <a:rPr lang="en-US" sz="2400" b="1" dirty="0">
                <a:latin typeface="Consolas" panose="020B0609020204030204" pitchFamily="49" charset="0"/>
              </a:rPr>
              <a:t>			y = temp;</a:t>
            </a:r>
            <a:r>
              <a:rPr lang="en-US" sz="2400" dirty="0">
                <a:latin typeface="+mj-lt"/>
              </a:rPr>
              <a:t/>
            </a:r>
            <a:br>
              <a:rPr lang="en-US" sz="2400" dirty="0">
                <a:latin typeface="+mj-lt"/>
              </a:rPr>
            </a:br>
            <a:r>
              <a:rPr lang="en-US" sz="2000" i="1" dirty="0">
                <a:latin typeface="+mj-lt"/>
              </a:rPr>
              <a:t>write a function:</a:t>
            </a:r>
            <a:r>
              <a:rPr lang="en-US" sz="2000" dirty="0">
                <a:latin typeface="+mj-lt"/>
              </a:rPr>
              <a:t/>
            </a:r>
            <a:br>
              <a:rPr lang="en-US" sz="2000" dirty="0">
                <a:latin typeface="+mj-lt"/>
              </a:rPr>
            </a:br>
            <a:endParaRPr lang="en-US" sz="700" dirty="0">
              <a:latin typeface="+mj-lt"/>
            </a:endParaRPr>
          </a:p>
          <a:p>
            <a:pPr eaLnBrk="1" hangingPunct="1"/>
            <a:r>
              <a:rPr lang="en-US" sz="1800" b="1" dirty="0">
                <a:latin typeface="+mj-lt"/>
              </a:rPr>
              <a:t/>
            </a:r>
            <a:br>
              <a:rPr lang="en-US" sz="1800" b="1" dirty="0">
                <a:latin typeface="+mj-lt"/>
              </a:rPr>
            </a:br>
            <a:r>
              <a:rPr lang="en-US" sz="2000" b="1" dirty="0">
                <a:latin typeface="Consolas" panose="020B0609020204030204" pitchFamily="49" charset="0"/>
              </a:rPr>
              <a:t>void Swap(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sz="2000" b="1" dirty="0">
                <a:latin typeface="Consolas" panose="020B0609020204030204" pitchFamily="49" charset="0"/>
              </a:rPr>
              <a:t> &amp; first,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sz="2000" b="1" dirty="0">
                <a:latin typeface="Consolas" panose="020B0609020204030204" pitchFamily="49" charset="0"/>
              </a:rPr>
              <a:t> &amp; second)</a:t>
            </a:r>
            <a:br>
              <a:rPr lang="en-US" sz="2000" b="1" dirty="0">
                <a:latin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</a:rPr>
              <a:t>{</a:t>
            </a:r>
            <a:br>
              <a:rPr lang="en-US" sz="2000" b="1" dirty="0">
                <a:latin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</a:rPr>
              <a:t> 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sz="2000" b="1" dirty="0">
                <a:latin typeface="Consolas" panose="020B0609020204030204" pitchFamily="49" charset="0"/>
              </a:rPr>
              <a:t> temp = first;</a:t>
            </a:r>
            <a:br>
              <a:rPr lang="en-US" sz="2000" b="1" dirty="0">
                <a:latin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</a:rPr>
              <a:t>  first = second;</a:t>
            </a:r>
            <a:br>
              <a:rPr lang="en-US" sz="2000" b="1" dirty="0">
                <a:latin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</a:rPr>
              <a:t>  second = temp;	</a:t>
            </a:r>
            <a:br>
              <a:rPr lang="en-US" sz="2000" b="1" dirty="0">
                <a:latin typeface="Consolas" panose="020B0609020204030204" pitchFamily="49" charset="0"/>
              </a:rPr>
            </a:br>
            <a:r>
              <a:rPr lang="en-US" sz="20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76200" y="990600"/>
            <a:ext cx="896443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b="1" dirty="0">
                <a:latin typeface="+mj-lt"/>
              </a:rPr>
              <a:t>Main </a:t>
            </a:r>
            <a:r>
              <a:rPr lang="en-US" b="1" dirty="0">
                <a:solidFill>
                  <a:srgbClr val="D20000"/>
                </a:solidFill>
                <a:latin typeface="+mj-lt"/>
              </a:rPr>
              <a:t>reason</a:t>
            </a:r>
            <a:r>
              <a:rPr lang="en-US" b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for </a:t>
            </a:r>
            <a:r>
              <a:rPr lang="en-US" b="1" dirty="0">
                <a:solidFill>
                  <a:srgbClr val="D20000"/>
                </a:solidFill>
                <a:latin typeface="+mj-lt"/>
              </a:rPr>
              <a:t>using</a:t>
            </a:r>
            <a:r>
              <a:rPr lang="en-US" dirty="0">
                <a:solidFill>
                  <a:srgbClr val="D20000"/>
                </a:solidFill>
                <a:latin typeface="+mj-lt"/>
              </a:rPr>
              <a:t> </a:t>
            </a:r>
            <a:r>
              <a:rPr lang="en-US" b="1" dirty="0">
                <a:solidFill>
                  <a:srgbClr val="D20000"/>
                </a:solidFill>
                <a:latin typeface="+mj-lt"/>
              </a:rPr>
              <a:t>functions</a:t>
            </a:r>
            <a:r>
              <a:rPr lang="en-US" dirty="0">
                <a:latin typeface="+mj-lt"/>
              </a:rPr>
              <a:t>:  </a:t>
            </a:r>
            <a:r>
              <a:rPr lang="en-US" b="1" dirty="0">
                <a:latin typeface="+mj-lt"/>
              </a:rPr>
              <a:t>make pieces of code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reusable </a:t>
            </a:r>
            <a:r>
              <a:rPr lang="en-US" b="1" dirty="0">
                <a:latin typeface="+mj-lt"/>
              </a:rPr>
              <a:t>by </a:t>
            </a:r>
            <a:r>
              <a:rPr lang="en-US" b="1" dirty="0">
                <a:solidFill>
                  <a:schemeClr val="hlink"/>
                </a:solidFill>
                <a:latin typeface="+mj-lt"/>
              </a:rPr>
              <a:t>encapsulating</a:t>
            </a:r>
            <a:r>
              <a:rPr lang="en-US" b="1" dirty="0">
                <a:latin typeface="+mj-lt"/>
              </a:rPr>
              <a:t> them </a:t>
            </a:r>
            <a:r>
              <a:rPr lang="en-US" b="1" u="sng" dirty="0">
                <a:latin typeface="+mj-lt"/>
              </a:rPr>
              <a:t>within a function</a:t>
            </a:r>
            <a:r>
              <a:rPr lang="en-US" dirty="0">
                <a:latin typeface="+mj-lt"/>
              </a:rPr>
              <a:t>.</a:t>
            </a:r>
            <a:r>
              <a:rPr lang="en-US" b="1" dirty="0">
                <a:latin typeface="+mj-lt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21877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34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autoUpdateAnimBg="0"/>
      <p:bldP spid="17412" grpId="0" build="p" autoUpdateAnimBg="0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52400" y="1061621"/>
            <a:ext cx="8839199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dirty="0">
                <a:latin typeface="+mn-lt"/>
              </a:rPr>
              <a:t>This </a:t>
            </a:r>
            <a:r>
              <a:rPr lang="en-US" b="1" dirty="0">
                <a:solidFill>
                  <a:srgbClr val="D20000"/>
                </a:solidFill>
                <a:latin typeface="+mn-lt"/>
              </a:rPr>
              <a:t>function</a:t>
            </a:r>
            <a:r>
              <a:rPr lang="en-US" dirty="0">
                <a:solidFill>
                  <a:srgbClr val="D20000"/>
                </a:solidFill>
                <a:latin typeface="+mn-lt"/>
              </a:rPr>
              <a:t> </a:t>
            </a:r>
            <a:r>
              <a:rPr lang="en-US" dirty="0">
                <a:latin typeface="+mn-lt"/>
              </a:rPr>
              <a:t>gives a </a:t>
            </a:r>
            <a:r>
              <a:rPr lang="en-US" b="1" u="sng" dirty="0">
                <a:solidFill>
                  <a:srgbClr val="2C14DE"/>
                </a:solidFill>
                <a:latin typeface="+mn-lt"/>
              </a:rPr>
              <a:t>general solution</a:t>
            </a:r>
            <a:r>
              <a:rPr lang="en-US" b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to the </a:t>
            </a:r>
            <a:r>
              <a:rPr lang="en-US" b="1" dirty="0">
                <a:solidFill>
                  <a:srgbClr val="2C14DE"/>
                </a:solidFill>
                <a:latin typeface="+mn-lt"/>
              </a:rPr>
              <a:t>interchange problem </a:t>
            </a:r>
            <a:r>
              <a:rPr lang="en-US" b="1" dirty="0">
                <a:solidFill>
                  <a:srgbClr val="D20000"/>
                </a:solidFill>
                <a:latin typeface="+mn-lt"/>
              </a:rPr>
              <a:t>for </a:t>
            </a:r>
            <a:r>
              <a:rPr lang="en-US" b="1" dirty="0" err="1">
                <a:solidFill>
                  <a:srgbClr val="D20000"/>
                </a:solidFill>
                <a:latin typeface="+mn-lt"/>
              </a:rPr>
              <a:t>ints</a:t>
            </a:r>
            <a:r>
              <a:rPr lang="en-US" dirty="0">
                <a:latin typeface="+mn-lt"/>
              </a:rPr>
              <a:t> (to exchange the values of any two </a:t>
            </a:r>
            <a:r>
              <a:rPr lang="en-US" b="1" dirty="0">
                <a:solidFill>
                  <a:srgbClr val="D20000"/>
                </a:solidFill>
                <a:latin typeface="+mn-lt"/>
              </a:rPr>
              <a:t>integer</a:t>
            </a:r>
            <a:r>
              <a:rPr lang="en-US" dirty="0">
                <a:solidFill>
                  <a:srgbClr val="D20000"/>
                </a:solidFill>
                <a:latin typeface="+mn-lt"/>
              </a:rPr>
              <a:t> </a:t>
            </a:r>
            <a:r>
              <a:rPr lang="en-US" dirty="0">
                <a:latin typeface="+mn-lt"/>
              </a:rPr>
              <a:t>variables):</a:t>
            </a:r>
            <a:endParaRPr lang="en-US" sz="2400" dirty="0">
              <a:latin typeface="Times New Roman MT Extra Bold" pitchFamily="18" charset="0"/>
            </a:endParaRPr>
          </a:p>
          <a:p>
            <a:pPr eaLnBrk="1" hangingPunct="1"/>
            <a:r>
              <a:rPr lang="en-US" sz="2400" b="1" dirty="0">
                <a:latin typeface="Courier New" panose="02070309020205020404" pitchFamily="49" charset="0"/>
              </a:rPr>
              <a:t>			Swap(x, y);				</a:t>
            </a:r>
          </a:p>
          <a:p>
            <a:pPr eaLnBrk="1" hangingPunct="1"/>
            <a:r>
              <a:rPr lang="en-US" sz="2400" b="1" dirty="0">
                <a:latin typeface="Courier New" panose="02070309020205020404" pitchFamily="49" charset="0"/>
              </a:rPr>
              <a:t>				...</a:t>
            </a:r>
          </a:p>
          <a:p>
            <a:pPr eaLnBrk="1" hangingPunct="1"/>
            <a:r>
              <a:rPr lang="en-US" sz="2400" b="1" dirty="0">
                <a:latin typeface="Courier New" panose="02070309020205020404" pitchFamily="49" charset="0"/>
              </a:rPr>
              <a:t>			Swap(w, z);</a:t>
            </a:r>
          </a:p>
          <a:p>
            <a:pPr eaLnBrk="1" hangingPunct="1"/>
            <a:r>
              <a:rPr lang="en-US" sz="2400" b="1" dirty="0">
                <a:latin typeface="Courier New" panose="02070309020205020404" pitchFamily="49" charset="0"/>
              </a:rPr>
              <a:t>				...</a:t>
            </a:r>
          </a:p>
          <a:p>
            <a:pPr eaLnBrk="1" hangingPunct="1"/>
            <a:r>
              <a:rPr lang="en-US" sz="2400" b="1" dirty="0">
                <a:latin typeface="Courier New" panose="02070309020205020404" pitchFamily="49" charset="0"/>
              </a:rPr>
              <a:t>			Swap(a, b);</a:t>
            </a:r>
          </a:p>
          <a:p>
            <a:pPr eaLnBrk="1" hangingPunct="1"/>
            <a:endParaRPr lang="en-US" sz="2400" dirty="0">
              <a:latin typeface="Courier New" panose="02070309020205020404" pitchFamily="49" charset="0"/>
            </a:endParaRPr>
          </a:p>
          <a:p>
            <a:pPr eaLnBrk="1" hangingPunct="1"/>
            <a:endParaRPr lang="en-US" sz="2400" dirty="0">
              <a:latin typeface="Courier New" panose="02070309020205020404" pitchFamily="49" charset="0"/>
            </a:endParaRPr>
          </a:p>
          <a:p>
            <a:pPr algn="just" eaLnBrk="1" hangingPunct="1"/>
            <a:r>
              <a:rPr lang="en-US" sz="2400" b="1" u="sng" dirty="0">
                <a:latin typeface="+mn-lt"/>
              </a:rPr>
              <a:t>NOTE: </a:t>
            </a:r>
            <a:r>
              <a:rPr lang="en-US" sz="2400" b="1" i="1" dirty="0">
                <a:latin typeface="+mn-lt"/>
              </a:rPr>
              <a:t>Inline code would have to be rewritten for each pair of integer variables to swap.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>
          <a:xfrm>
            <a:off x="869128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D20000"/>
                </a:solidFill>
              </a:rPr>
              <a:t>General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1877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28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266700" y="2164353"/>
            <a:ext cx="8763000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"/>
              </a:spcBef>
            </a:pPr>
            <a:r>
              <a:rPr lang="en-US" sz="2000" b="1" dirty="0">
                <a:latin typeface="+mn-lt"/>
              </a:rPr>
              <a:t>However, </a:t>
            </a:r>
            <a:r>
              <a:rPr lang="en-US" sz="2000" b="1" i="1" dirty="0">
                <a:solidFill>
                  <a:srgbClr val="008000"/>
                </a:solidFill>
                <a:latin typeface="+mn-lt"/>
              </a:rPr>
              <a:t>overloading</a:t>
            </a:r>
            <a:r>
              <a:rPr lang="en-US" sz="2000" b="1" dirty="0">
                <a:solidFill>
                  <a:srgbClr val="008000"/>
                </a:solidFill>
                <a:latin typeface="+mn-lt"/>
              </a:rPr>
              <a:t> </a:t>
            </a:r>
            <a:r>
              <a:rPr lang="en-US" sz="2000" b="1" dirty="0">
                <a:latin typeface="+mn-lt"/>
              </a:rPr>
              <a:t>allows us to </a:t>
            </a:r>
            <a:r>
              <a:rPr lang="en-US" sz="2000" b="1" dirty="0">
                <a:solidFill>
                  <a:srgbClr val="008000"/>
                </a:solidFill>
                <a:latin typeface="+mn-lt"/>
              </a:rPr>
              <a:t>define multiple versions </a:t>
            </a:r>
            <a:r>
              <a:rPr lang="en-US" sz="2000" b="1" dirty="0">
                <a:latin typeface="+mn-lt"/>
              </a:rPr>
              <a:t>of the </a:t>
            </a:r>
            <a:r>
              <a:rPr lang="en-US" sz="2000" b="1" dirty="0">
                <a:solidFill>
                  <a:srgbClr val="008000"/>
                </a:solidFill>
                <a:latin typeface="+mn-lt"/>
              </a:rPr>
              <a:t>same function:</a:t>
            </a:r>
          </a:p>
          <a:p>
            <a:pPr eaLnBrk="1" hangingPunct="1"/>
            <a:endParaRPr lang="en-US" sz="1100" dirty="0">
              <a:latin typeface="Courier New" panose="02070309020205020404" pitchFamily="49" charset="0"/>
            </a:endParaRPr>
          </a:p>
          <a:p>
            <a:pPr eaLnBrk="1" hangingPunct="1"/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</a:rPr>
              <a:t>/* Function to swap two double variables */</a:t>
            </a:r>
            <a:r>
              <a:rPr lang="en-US" sz="1600" b="1" dirty="0">
                <a:latin typeface="Courier New" panose="02070309020205020404" pitchFamily="49" charset="0"/>
              </a:rPr>
              <a:t/>
            </a:r>
            <a:br>
              <a:rPr lang="en-US" sz="1600" b="1" dirty="0">
                <a:latin typeface="Courier New" panose="02070309020205020404" pitchFamily="49" charset="0"/>
              </a:rPr>
            </a:br>
            <a:r>
              <a:rPr lang="en-US" sz="1800" b="1" dirty="0">
                <a:latin typeface="Courier New" panose="02070309020205020404" pitchFamily="49" charset="0"/>
              </a:rPr>
              <a:t>void Swap(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double</a:t>
            </a:r>
            <a:r>
              <a:rPr lang="en-US" sz="1800" b="1" dirty="0">
                <a:latin typeface="Courier New" panose="02070309020205020404" pitchFamily="49" charset="0"/>
              </a:rPr>
              <a:t> &amp; first,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double</a:t>
            </a:r>
            <a:r>
              <a:rPr lang="en-US" sz="1800" b="1" dirty="0">
                <a:latin typeface="Courier New" panose="02070309020205020404" pitchFamily="49" charset="0"/>
              </a:rPr>
              <a:t> &amp; second)</a:t>
            </a:r>
            <a:br>
              <a:rPr lang="en-US" sz="1800" b="1" dirty="0">
                <a:latin typeface="Courier New" panose="02070309020205020404" pitchFamily="49" charset="0"/>
              </a:rPr>
            </a:br>
            <a:r>
              <a:rPr lang="en-US" sz="1800" b="1" dirty="0">
                <a:latin typeface="Courier New" panose="02070309020205020404" pitchFamily="49" charset="0"/>
              </a:rPr>
              <a:t>{</a:t>
            </a:r>
            <a:br>
              <a:rPr lang="en-US" sz="1800" b="1" dirty="0">
                <a:latin typeface="Courier New" panose="02070309020205020404" pitchFamily="49" charset="0"/>
              </a:rPr>
            </a:br>
            <a:r>
              <a:rPr lang="en-US" sz="1800" b="1" dirty="0">
                <a:latin typeface="Courier New" panose="02070309020205020404" pitchFamily="49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double</a:t>
            </a:r>
            <a:r>
              <a:rPr lang="en-US" sz="1800" b="1" dirty="0">
                <a:latin typeface="Courier New" panose="02070309020205020404" pitchFamily="49" charset="0"/>
              </a:rPr>
              <a:t> temp = first;</a:t>
            </a:r>
            <a:br>
              <a:rPr lang="en-US" sz="1800" b="1" dirty="0">
                <a:latin typeface="Courier New" panose="02070309020205020404" pitchFamily="49" charset="0"/>
              </a:rPr>
            </a:br>
            <a:r>
              <a:rPr lang="en-US" sz="1800" b="1" dirty="0">
                <a:latin typeface="Courier New" panose="02070309020205020404" pitchFamily="49" charset="0"/>
              </a:rPr>
              <a:t>  first = second;</a:t>
            </a:r>
            <a:br>
              <a:rPr lang="en-US" sz="1800" b="1" dirty="0">
                <a:latin typeface="Courier New" panose="02070309020205020404" pitchFamily="49" charset="0"/>
              </a:rPr>
            </a:br>
            <a:r>
              <a:rPr lang="en-US" sz="1800" b="1" dirty="0">
                <a:latin typeface="Courier New" panose="02070309020205020404" pitchFamily="49" charset="0"/>
              </a:rPr>
              <a:t>  second = temp;	</a:t>
            </a:r>
            <a:br>
              <a:rPr lang="en-US" sz="1800" b="1" dirty="0">
                <a:latin typeface="Courier New" panose="02070309020205020404" pitchFamily="49" charset="0"/>
              </a:rPr>
            </a:br>
            <a:r>
              <a:rPr lang="en-US" sz="1800" b="1" dirty="0"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sz="1800" b="1" dirty="0">
              <a:latin typeface="Courier New" panose="02070309020205020404" pitchFamily="49" charset="0"/>
            </a:endParaRPr>
          </a:p>
          <a:p>
            <a:pPr eaLnBrk="1" hangingPunct="1"/>
            <a:endParaRPr lang="en-US" sz="2000" b="1" dirty="0">
              <a:latin typeface="Times New Roman MT Extra Bold" pitchFamily="18" charset="0"/>
            </a:endParaRPr>
          </a:p>
          <a:p>
            <a:pPr eaLnBrk="1" hangingPunct="1"/>
            <a:r>
              <a:rPr lang="en-US" sz="2000" b="1" dirty="0">
                <a:latin typeface="Times New Roman MT Extra Bold" pitchFamily="18" charset="0"/>
              </a:rPr>
              <a:t>The two different </a:t>
            </a:r>
            <a:r>
              <a:rPr lang="en-US" sz="2000" b="1" dirty="0">
                <a:latin typeface="Courier New" panose="02070309020205020404" pitchFamily="49" charset="0"/>
              </a:rPr>
              <a:t>Swap</a:t>
            </a:r>
            <a:r>
              <a:rPr lang="en-US" sz="2000" b="1" dirty="0">
                <a:latin typeface="Times New Roman MT Extra Bold" pitchFamily="18" charset="0"/>
              </a:rPr>
              <a:t> functions are distinguished by </a:t>
            </a:r>
            <a:br>
              <a:rPr lang="en-US" sz="2000" b="1" dirty="0">
                <a:latin typeface="Times New Roman MT Extra Bold" pitchFamily="18" charset="0"/>
              </a:rPr>
            </a:br>
            <a:r>
              <a:rPr lang="en-US" sz="2000" b="1" dirty="0">
                <a:latin typeface="Times New Roman MT Extra Bold" pitchFamily="18" charset="0"/>
              </a:rPr>
              <a:t>the compiler according to each function's </a:t>
            </a:r>
            <a:r>
              <a:rPr lang="en-US" sz="2000" b="1" i="1" dirty="0">
                <a:solidFill>
                  <a:srgbClr val="FF0000"/>
                </a:solidFill>
                <a:latin typeface="Times New Roman MT Extra Bold" pitchFamily="18" charset="0"/>
              </a:rPr>
              <a:t>signature</a:t>
            </a:r>
            <a:r>
              <a:rPr lang="en-US" sz="2000" b="1" dirty="0">
                <a:latin typeface="Times New Roman MT Extra Bold" pitchFamily="18" charset="0"/>
              </a:rPr>
              <a:t> </a:t>
            </a:r>
            <a:br>
              <a:rPr lang="en-US" sz="2000" b="1" dirty="0">
                <a:latin typeface="Times New Roman MT Extra Bold" pitchFamily="18" charset="0"/>
              </a:rPr>
            </a:br>
            <a:r>
              <a:rPr lang="en-US" sz="2000" b="1" dirty="0">
                <a:latin typeface="Times New Roman MT Extra Bold" pitchFamily="18" charset="0"/>
              </a:rPr>
              <a:t>(name, number, type, and order of parameters).</a:t>
            </a:r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59977" y="1066800"/>
            <a:ext cx="89697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sz="2400" b="1" dirty="0">
                <a:solidFill>
                  <a:srgbClr val="2C14DE"/>
                </a:solidFill>
                <a:latin typeface="+mn-lt"/>
              </a:rPr>
              <a:t>To interchange </a:t>
            </a:r>
            <a:r>
              <a:rPr lang="en-US" sz="2400" b="1" dirty="0">
                <a:latin typeface="+mn-lt"/>
              </a:rPr>
              <a:t>the values of </a:t>
            </a:r>
            <a:r>
              <a:rPr lang="en-US" sz="2400" b="1" dirty="0">
                <a:solidFill>
                  <a:srgbClr val="2C14DE"/>
                </a:solidFill>
                <a:latin typeface="+mn-lt"/>
              </a:rPr>
              <a:t>two double variables</a:t>
            </a:r>
            <a:r>
              <a:rPr lang="en-US" sz="2400" b="1" dirty="0">
                <a:latin typeface="+mn-lt"/>
              </a:rPr>
              <a:t>:</a:t>
            </a:r>
            <a:br>
              <a:rPr lang="en-US" sz="2400" b="1" dirty="0">
                <a:latin typeface="+mn-lt"/>
              </a:rPr>
            </a:br>
            <a:r>
              <a:rPr lang="en-US" sz="2400" b="1" i="1" dirty="0">
                <a:solidFill>
                  <a:srgbClr val="FF0000"/>
                </a:solidFill>
                <a:latin typeface="+mn-lt"/>
              </a:rPr>
              <a:t>Cannot  use the preceding function</a:t>
            </a:r>
            <a:r>
              <a:rPr lang="en-US" sz="2400" b="1" dirty="0">
                <a:latin typeface="+mn-lt"/>
              </a:rPr>
              <a:t>; it </a:t>
            </a:r>
            <a:r>
              <a:rPr lang="en-US" sz="2400" b="1" u="sng" dirty="0">
                <a:solidFill>
                  <a:srgbClr val="D20000"/>
                </a:solidFill>
                <a:latin typeface="+mn-lt"/>
              </a:rPr>
              <a:t>swaps </a:t>
            </a:r>
            <a:r>
              <a:rPr lang="en-US" sz="2400" b="1" u="sng" dirty="0" err="1">
                <a:solidFill>
                  <a:srgbClr val="D20000"/>
                </a:solidFill>
                <a:latin typeface="+mn-lt"/>
              </a:rPr>
              <a:t>ints</a:t>
            </a:r>
            <a:r>
              <a:rPr lang="en-US" sz="2400" b="1" u="sng" dirty="0">
                <a:solidFill>
                  <a:srgbClr val="D20000"/>
                </a:solidFill>
                <a:latin typeface="+mn-lt"/>
              </a:rPr>
              <a:t> not doubles</a:t>
            </a:r>
            <a:r>
              <a:rPr lang="en-US" sz="2400" b="1" dirty="0">
                <a:latin typeface="+mn-lt"/>
              </a:rPr>
              <a:t>.</a:t>
            </a:r>
          </a:p>
        </p:txBody>
      </p:sp>
      <p:sp>
        <p:nvSpPr>
          <p:cNvPr id="6148" name="Rectangle 6"/>
          <p:cNvSpPr>
            <a:spLocks noGrp="1" noChangeArrowheads="1"/>
          </p:cNvSpPr>
          <p:nvPr>
            <p:ph type="title"/>
          </p:nvPr>
        </p:nvSpPr>
        <p:spPr>
          <a:xfrm>
            <a:off x="855550" y="33338"/>
            <a:ext cx="8229600" cy="88106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D20000"/>
                </a:solidFill>
              </a:rPr>
              <a:t>But not for doubles…</a:t>
            </a:r>
          </a:p>
        </p:txBody>
      </p:sp>
      <p:sp>
        <p:nvSpPr>
          <p:cNvPr id="6149" name="AutoShape 8"/>
          <p:cNvSpPr>
            <a:spLocks/>
          </p:cNvSpPr>
          <p:nvPr/>
        </p:nvSpPr>
        <p:spPr bwMode="auto">
          <a:xfrm rot="-5400000">
            <a:off x="2895600" y="3661147"/>
            <a:ext cx="152400" cy="5410200"/>
          </a:xfrm>
          <a:prstGeom prst="leftBrace">
            <a:avLst>
              <a:gd name="adj1" fmla="val 295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 sz="2000"/>
          </a:p>
        </p:txBody>
      </p:sp>
      <p:sp>
        <p:nvSpPr>
          <p:cNvPr id="6150" name="Text Box 9"/>
          <p:cNvSpPr txBox="1">
            <a:spLocks noChangeArrowheads="1"/>
          </p:cNvSpPr>
          <p:nvPr/>
        </p:nvSpPr>
        <p:spPr bwMode="auto">
          <a:xfrm>
            <a:off x="2438400" y="6442447"/>
            <a:ext cx="1219200" cy="338138"/>
          </a:xfrm>
          <a:prstGeom prst="rect">
            <a:avLst/>
          </a:prstGeom>
          <a:noFill/>
          <a:ln w="9525">
            <a:solidFill>
              <a:srgbClr val="00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1600" b="1" dirty="0"/>
              <a:t>Signature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877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9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52400" y="1066800"/>
            <a:ext cx="8458200" cy="4062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000" dirty="0">
                <a:latin typeface="+mj-lt"/>
              </a:rPr>
              <a:t>To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interchange</a:t>
            </a:r>
            <a:r>
              <a:rPr lang="en-US" sz="3000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3000" dirty="0">
                <a:latin typeface="+mj-lt"/>
              </a:rPr>
              <a:t>the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values</a:t>
            </a:r>
            <a:r>
              <a:rPr lang="en-US" sz="3000" dirty="0">
                <a:latin typeface="+mj-lt"/>
              </a:rPr>
              <a:t> of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two string variables</a:t>
            </a:r>
            <a:r>
              <a:rPr lang="en-US" sz="3000" dirty="0">
                <a:latin typeface="+mj-lt"/>
              </a:rPr>
              <a:t>: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 b="1" dirty="0">
                <a:solidFill>
                  <a:srgbClr val="008000"/>
                </a:solidFill>
                <a:latin typeface="+mn-lt"/>
              </a:rPr>
              <a:t>Again, overload function Swap():</a:t>
            </a:r>
          </a:p>
          <a:p>
            <a:pPr lvl="2" eaLnBrk="1" hangingPunct="1"/>
            <a:endParaRPr lang="en-US" sz="2400" i="1" dirty="0">
              <a:solidFill>
                <a:schemeClr val="accent4">
                  <a:lumMod val="75000"/>
                </a:schemeClr>
              </a:solidFill>
              <a:latin typeface="Times New Roman MT Extra Bold" pitchFamily="18" charset="0"/>
            </a:endParaRPr>
          </a:p>
          <a:p>
            <a:pPr eaLnBrk="1" hangingPunct="1"/>
            <a:r>
              <a:rPr lang="en-US" sz="2400" b="1" i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</a:rPr>
              <a:t>/* Function to swap two string variables*/</a:t>
            </a:r>
            <a:r>
              <a:rPr lang="en-US" sz="2400" b="1" dirty="0">
                <a:latin typeface="Courier New" panose="02070309020205020404" pitchFamily="49" charset="0"/>
              </a:rPr>
              <a:t/>
            </a:r>
            <a:br>
              <a:rPr lang="en-US" sz="2400" b="1" dirty="0">
                <a:latin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</a:rPr>
              <a:t>void Swap(</a:t>
            </a:r>
            <a:r>
              <a:rPr lang="en-US" sz="2400" b="1" dirty="0">
                <a:solidFill>
                  <a:srgbClr val="D20000"/>
                </a:solidFill>
                <a:latin typeface="Courier New" panose="02070309020205020404" pitchFamily="49" charset="0"/>
              </a:rPr>
              <a:t>string</a:t>
            </a:r>
            <a:r>
              <a:rPr lang="en-US" sz="2400" b="1" dirty="0">
                <a:latin typeface="Courier New" panose="02070309020205020404" pitchFamily="49" charset="0"/>
              </a:rPr>
              <a:t> &amp; first, </a:t>
            </a:r>
            <a:r>
              <a:rPr lang="en-US" sz="2400" b="1" dirty="0">
                <a:solidFill>
                  <a:srgbClr val="D20000"/>
                </a:solidFill>
                <a:latin typeface="Courier New" panose="02070309020205020404" pitchFamily="49" charset="0"/>
              </a:rPr>
              <a:t>string </a:t>
            </a:r>
            <a:r>
              <a:rPr lang="en-US" sz="2400" b="1" dirty="0">
                <a:latin typeface="Courier New" panose="02070309020205020404" pitchFamily="49" charset="0"/>
              </a:rPr>
              <a:t>&amp; second)</a:t>
            </a:r>
            <a:br>
              <a:rPr lang="en-US" sz="2400" b="1" dirty="0">
                <a:latin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</a:rPr>
              <a:t>{</a:t>
            </a:r>
            <a:br>
              <a:rPr lang="en-US" sz="2400" b="1" dirty="0">
                <a:latin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D20000"/>
                </a:solidFill>
                <a:latin typeface="Courier New" panose="02070309020205020404" pitchFamily="49" charset="0"/>
              </a:rPr>
              <a:t>string </a:t>
            </a:r>
            <a:r>
              <a:rPr lang="en-US" sz="2400" b="1" dirty="0">
                <a:latin typeface="Courier New" panose="02070309020205020404" pitchFamily="49" charset="0"/>
              </a:rPr>
              <a:t>temp = first;</a:t>
            </a:r>
            <a:br>
              <a:rPr lang="en-US" sz="2400" b="1" dirty="0">
                <a:latin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</a:rPr>
              <a:t>  first = second;</a:t>
            </a:r>
            <a:br>
              <a:rPr lang="en-US" sz="2400" b="1" dirty="0">
                <a:latin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</a:rPr>
              <a:t>  second = temp;	</a:t>
            </a:r>
            <a:br>
              <a:rPr lang="en-US" sz="2400" b="1" dirty="0">
                <a:latin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</a:rPr>
              <a:t>}</a:t>
            </a:r>
            <a:endParaRPr lang="en-US" sz="1800" b="1" dirty="0">
              <a:latin typeface="Courier New" panose="02070309020205020404" pitchFamily="49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8229600" cy="960119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D20000"/>
                </a:solidFill>
              </a:rPr>
              <a:t>And for strings…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21877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67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219547" y="2133600"/>
            <a:ext cx="8686800" cy="325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1" u="sng" dirty="0">
                <a:solidFill>
                  <a:srgbClr val="D20000"/>
                </a:solidFill>
                <a:latin typeface="+mj-lt"/>
              </a:rPr>
              <a:t>We would have to overload Swap() for each user-defined type:</a:t>
            </a:r>
          </a:p>
          <a:p>
            <a:pPr eaLnBrk="1" hangingPunct="1">
              <a:spcBef>
                <a:spcPct val="50000"/>
              </a:spcBef>
            </a:pPr>
            <a:endParaRPr lang="en-US" sz="900" dirty="0">
              <a:latin typeface="Times New Roman MT Extra Bold" pitchFamily="18" charset="0"/>
            </a:endParaRPr>
          </a:p>
          <a:p>
            <a:pPr eaLnBrk="1" hangingPunct="1"/>
            <a:r>
              <a:rPr lang="en-US" sz="2400" b="1" i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</a:rPr>
              <a:t>/* Function to swap two Time variables */</a:t>
            </a:r>
            <a:r>
              <a:rPr lang="en-US" sz="2400" b="1" dirty="0">
                <a:latin typeface="Courier New" panose="02070309020205020404" pitchFamily="49" charset="0"/>
              </a:rPr>
              <a:t/>
            </a:r>
            <a:br>
              <a:rPr lang="en-US" sz="2400" b="1" dirty="0">
                <a:latin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</a:rPr>
              <a:t>void Swap(</a:t>
            </a:r>
            <a:r>
              <a:rPr lang="en-US" sz="2400" b="1" u="sng" dirty="0">
                <a:solidFill>
                  <a:srgbClr val="CC6600"/>
                </a:solidFill>
                <a:latin typeface="Courier New" panose="02070309020205020404" pitchFamily="49" charset="0"/>
              </a:rPr>
              <a:t>Time</a:t>
            </a:r>
            <a:r>
              <a:rPr lang="en-US" sz="2400" b="1" dirty="0">
                <a:solidFill>
                  <a:srgbClr val="CC66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</a:rPr>
              <a:t>&amp; first, </a:t>
            </a:r>
            <a:r>
              <a:rPr lang="en-US" sz="2400" b="1" u="sng" dirty="0">
                <a:solidFill>
                  <a:srgbClr val="CC6600"/>
                </a:solidFill>
                <a:latin typeface="Courier New" panose="02070309020205020404" pitchFamily="49" charset="0"/>
              </a:rPr>
              <a:t>Time</a:t>
            </a:r>
            <a:r>
              <a:rPr lang="en-US" sz="2400" b="1" dirty="0">
                <a:solidFill>
                  <a:srgbClr val="CC66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</a:rPr>
              <a:t>&amp; second)</a:t>
            </a:r>
            <a:br>
              <a:rPr lang="en-US" sz="2400" b="1" dirty="0">
                <a:latin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</a:rPr>
              <a:t>{</a:t>
            </a:r>
            <a:br>
              <a:rPr lang="en-US" sz="2400" b="1" dirty="0">
                <a:latin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</a:rPr>
              <a:t>  </a:t>
            </a:r>
            <a:r>
              <a:rPr lang="en-US" sz="2400" b="1" u="sng" dirty="0">
                <a:solidFill>
                  <a:srgbClr val="CC6600"/>
                </a:solidFill>
                <a:latin typeface="Courier New" panose="02070309020205020404" pitchFamily="49" charset="0"/>
              </a:rPr>
              <a:t>Time</a:t>
            </a:r>
            <a:r>
              <a:rPr lang="en-US" sz="2400" b="1" dirty="0">
                <a:solidFill>
                  <a:srgbClr val="CC66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</a:rPr>
              <a:t>temp = first;</a:t>
            </a:r>
            <a:br>
              <a:rPr lang="en-US" sz="2400" b="1" dirty="0">
                <a:latin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</a:rPr>
              <a:t>  first = second;</a:t>
            </a:r>
            <a:br>
              <a:rPr lang="en-US" sz="2400" b="1" dirty="0">
                <a:latin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</a:rPr>
              <a:t>  second = temp;	</a:t>
            </a:r>
            <a:br>
              <a:rPr lang="en-US" sz="2400" b="1" dirty="0">
                <a:latin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228600" y="1219200"/>
            <a:ext cx="8229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>
                <a:latin typeface="+mj-lt"/>
              </a:rPr>
              <a:t>And </a:t>
            </a:r>
            <a:r>
              <a:rPr lang="en-US" b="1" dirty="0">
                <a:solidFill>
                  <a:srgbClr val="008000"/>
                </a:solidFill>
                <a:latin typeface="+mj-lt"/>
              </a:rPr>
              <a:t>so on ... for other types of variables</a:t>
            </a:r>
            <a:r>
              <a:rPr lang="en-US" b="1" dirty="0">
                <a:latin typeface="+mj-lt"/>
              </a:rPr>
              <a:t>.</a:t>
            </a:r>
          </a:p>
        </p:txBody>
      </p:sp>
      <p:sp>
        <p:nvSpPr>
          <p:cNvPr id="8196" name="Rectangle 5"/>
          <p:cNvSpPr>
            <a:spLocks noGrp="1" noChangeArrowheads="1"/>
          </p:cNvSpPr>
          <p:nvPr>
            <p:ph type="title"/>
          </p:nvPr>
        </p:nvSpPr>
        <p:spPr>
          <a:xfrm>
            <a:off x="914400" y="22066"/>
            <a:ext cx="8229600" cy="892334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What about User Defined Types?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21877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7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uild="p" autoUpdateAnimBg="0"/>
      <p:bldP spid="22531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152400" y="1219200"/>
            <a:ext cx="85344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6075" indent="-34607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3000" dirty="0">
                <a:latin typeface="+mj-lt"/>
              </a:rPr>
              <a:t>The </a:t>
            </a:r>
            <a:r>
              <a:rPr lang="en-US" sz="3000" b="1" i="1" dirty="0">
                <a:solidFill>
                  <a:srgbClr val="D20000"/>
                </a:solidFill>
                <a:latin typeface="+mj-lt"/>
              </a:rPr>
              <a:t>logic</a:t>
            </a:r>
            <a:r>
              <a:rPr lang="en-US" sz="3000" dirty="0">
                <a:solidFill>
                  <a:srgbClr val="D20000"/>
                </a:solidFill>
                <a:latin typeface="+mj-lt"/>
              </a:rPr>
              <a:t> </a:t>
            </a:r>
            <a:r>
              <a:rPr lang="en-US" sz="3000" dirty="0">
                <a:latin typeface="+mj-lt"/>
              </a:rPr>
              <a:t>in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each function </a:t>
            </a:r>
            <a:r>
              <a:rPr lang="en-US" sz="3000" dirty="0">
                <a:latin typeface="+mj-lt"/>
              </a:rPr>
              <a:t>is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exactly the same.</a:t>
            </a:r>
          </a:p>
          <a:p>
            <a:pPr eaLnBrk="1" hangingPunct="1">
              <a:buFontTx/>
              <a:buChar char="•"/>
            </a:pPr>
            <a:endParaRPr lang="en-US" sz="3000" dirty="0">
              <a:latin typeface="+mj-lt"/>
            </a:endParaRPr>
          </a:p>
          <a:p>
            <a:pPr eaLnBrk="1" hangingPunct="1">
              <a:buFontTx/>
              <a:buChar char="•"/>
            </a:pPr>
            <a:r>
              <a:rPr lang="en-US" sz="3000" dirty="0">
                <a:latin typeface="+mj-lt"/>
              </a:rPr>
              <a:t>The </a:t>
            </a:r>
            <a:r>
              <a:rPr lang="en-US" sz="3000" b="1" u="sng" dirty="0">
                <a:latin typeface="+mj-lt"/>
              </a:rPr>
              <a:t>only difference</a:t>
            </a:r>
            <a:r>
              <a:rPr lang="en-US" sz="3000" dirty="0">
                <a:latin typeface="+mj-lt"/>
              </a:rPr>
              <a:t> is in the </a:t>
            </a:r>
            <a:r>
              <a:rPr lang="en-US" sz="3000" b="1" i="1" dirty="0">
                <a:solidFill>
                  <a:srgbClr val="D20000"/>
                </a:solidFill>
                <a:latin typeface="+mj-lt"/>
              </a:rPr>
              <a:t>type of the values</a:t>
            </a:r>
            <a:r>
              <a:rPr lang="en-US" sz="3000" dirty="0">
                <a:solidFill>
                  <a:srgbClr val="D20000"/>
                </a:solidFill>
                <a:latin typeface="+mj-lt"/>
              </a:rPr>
              <a:t> </a:t>
            </a:r>
            <a:r>
              <a:rPr lang="en-US" sz="3000" dirty="0">
                <a:latin typeface="+mj-lt"/>
              </a:rPr>
              <a:t/>
            </a:r>
            <a:br>
              <a:rPr lang="en-US" sz="3000" dirty="0">
                <a:latin typeface="+mj-lt"/>
              </a:rPr>
            </a:br>
            <a:r>
              <a:rPr lang="en-US" sz="3000" dirty="0">
                <a:latin typeface="+mj-lt"/>
              </a:rPr>
              <a:t>being exchanged.</a:t>
            </a:r>
          </a:p>
          <a:p>
            <a:pPr eaLnBrk="1" hangingPunct="1">
              <a:buFontTx/>
              <a:buChar char="•"/>
            </a:pPr>
            <a:endParaRPr lang="en-US" sz="3000" dirty="0">
              <a:latin typeface="+mj-lt"/>
            </a:endParaRPr>
          </a:p>
          <a:p>
            <a:pPr eaLnBrk="1" hangingPunct="1">
              <a:buFontTx/>
              <a:buChar char="•"/>
            </a:pPr>
            <a:r>
              <a:rPr lang="en-US" sz="3000" dirty="0">
                <a:latin typeface="+mj-lt"/>
              </a:rPr>
              <a:t>If we could </a:t>
            </a:r>
            <a:r>
              <a:rPr lang="en-US" sz="3000" b="1" dirty="0">
                <a:solidFill>
                  <a:srgbClr val="D20000"/>
                </a:solidFill>
                <a:latin typeface="+mj-lt"/>
              </a:rPr>
              <a:t>pass the type as an argument</a:t>
            </a:r>
            <a:r>
              <a:rPr lang="en-US" sz="3000" dirty="0">
                <a:latin typeface="+mj-lt"/>
              </a:rPr>
              <a:t>, </a:t>
            </a:r>
            <a:br>
              <a:rPr lang="en-US" sz="3000" dirty="0">
                <a:latin typeface="+mj-lt"/>
              </a:rPr>
            </a:br>
            <a:r>
              <a:rPr lang="en-US" sz="3000" b="1" u="sng" dirty="0">
                <a:solidFill>
                  <a:srgbClr val="008000"/>
                </a:solidFill>
                <a:latin typeface="+mj-lt"/>
              </a:rPr>
              <a:t>we could write a general solution </a:t>
            </a:r>
            <a:r>
              <a:rPr lang="en-US" sz="3000" dirty="0">
                <a:latin typeface="+mj-lt"/>
              </a:rPr>
              <a:t>that could be </a:t>
            </a:r>
            <a:br>
              <a:rPr lang="en-US" sz="3000" dirty="0">
                <a:latin typeface="+mj-lt"/>
              </a:rPr>
            </a:br>
            <a:r>
              <a:rPr lang="en-US" sz="3000" dirty="0">
                <a:latin typeface="+mj-lt"/>
              </a:rPr>
              <a:t>used to </a:t>
            </a:r>
            <a:r>
              <a:rPr lang="en-US" sz="3000" b="1" u="sng" dirty="0">
                <a:solidFill>
                  <a:srgbClr val="2C14DE"/>
                </a:solidFill>
                <a:latin typeface="+mj-lt"/>
              </a:rPr>
              <a:t>exchange the values of any two variables</a:t>
            </a:r>
            <a:r>
              <a:rPr lang="en-US" sz="3000" i="1" dirty="0">
                <a:latin typeface="+mj-lt"/>
              </a:rPr>
              <a:t>.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>
          <a:xfrm>
            <a:off x="860077" y="17352"/>
            <a:ext cx="8229600" cy="897048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Observations:</a:t>
            </a:r>
          </a:p>
        </p:txBody>
      </p:sp>
      <p:sp>
        <p:nvSpPr>
          <p:cNvPr id="4" name="Rectangle 3"/>
          <p:cNvSpPr/>
          <p:nvPr/>
        </p:nvSpPr>
        <p:spPr>
          <a:xfrm>
            <a:off x="21877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77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91440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Template Mechanism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76200" y="1447800"/>
            <a:ext cx="8610600" cy="4532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dirty="0">
                <a:latin typeface="+mj-lt"/>
              </a:rPr>
              <a:t>Declare a  </a:t>
            </a:r>
            <a:r>
              <a:rPr lang="en-US" sz="2400" b="1" i="1" dirty="0">
                <a:solidFill>
                  <a:srgbClr val="C00000"/>
                </a:solidFill>
                <a:latin typeface="+mj-lt"/>
              </a:rPr>
              <a:t>type parameter</a:t>
            </a:r>
            <a:r>
              <a:rPr lang="en-US" sz="2400" b="1" dirty="0">
                <a:solidFill>
                  <a:srgbClr val="C00000"/>
                </a:solidFill>
                <a:latin typeface="+mj-lt"/>
              </a:rPr>
              <a:t>  </a:t>
            </a:r>
            <a:r>
              <a:rPr lang="en-US" sz="2400" b="1" i="1" dirty="0">
                <a:latin typeface="+mj-lt"/>
              </a:rPr>
              <a:t>(type placeholder)</a:t>
            </a:r>
            <a:r>
              <a:rPr lang="en-US" sz="2400" dirty="0">
                <a:latin typeface="+mj-lt"/>
              </a:rPr>
              <a:t> and </a:t>
            </a:r>
            <a:r>
              <a:rPr lang="en-US" sz="2400" b="1" dirty="0">
                <a:solidFill>
                  <a:srgbClr val="2C14DE"/>
                </a:solidFill>
                <a:latin typeface="+mj-lt"/>
              </a:rPr>
              <a:t>use it in </a:t>
            </a:r>
            <a:br>
              <a:rPr lang="en-US" sz="2400" b="1" dirty="0">
                <a:solidFill>
                  <a:srgbClr val="2C14DE"/>
                </a:solidFill>
                <a:latin typeface="+mj-lt"/>
              </a:rPr>
            </a:br>
            <a:r>
              <a:rPr lang="en-US" sz="2400" b="1" dirty="0">
                <a:solidFill>
                  <a:srgbClr val="2C14DE"/>
                </a:solidFill>
                <a:latin typeface="+mj-lt"/>
              </a:rPr>
              <a:t>the function instead</a:t>
            </a:r>
            <a:r>
              <a:rPr lang="en-US" sz="2400" dirty="0">
                <a:latin typeface="+mj-lt"/>
              </a:rPr>
              <a:t> of a </a:t>
            </a:r>
            <a:r>
              <a:rPr lang="en-US" sz="2400" b="1" dirty="0">
                <a:solidFill>
                  <a:srgbClr val="2C14DE"/>
                </a:solidFill>
                <a:latin typeface="+mj-lt"/>
              </a:rPr>
              <a:t>specific type</a:t>
            </a:r>
            <a:r>
              <a:rPr lang="en-US" sz="2400" dirty="0">
                <a:latin typeface="+mj-lt"/>
              </a:rPr>
              <a:t>.  This requires a </a:t>
            </a:r>
            <a:r>
              <a:rPr lang="en-US" sz="2400" b="1" i="1" dirty="0">
                <a:latin typeface="+mj-lt"/>
              </a:rPr>
              <a:t>different kind of</a:t>
            </a:r>
            <a:r>
              <a:rPr lang="en-US" sz="2400" b="1" i="1" dirty="0">
                <a:solidFill>
                  <a:srgbClr val="FF0000"/>
                </a:solidFill>
                <a:latin typeface="+mj-lt"/>
              </a:rPr>
              <a:t> parameter list</a:t>
            </a:r>
            <a:r>
              <a:rPr lang="en-US" sz="2400" b="1" dirty="0">
                <a:latin typeface="+mj-lt"/>
              </a:rPr>
              <a:t>:</a:t>
            </a:r>
            <a:endParaRPr lang="en-US" sz="2400" dirty="0">
              <a:latin typeface="+mj-lt"/>
            </a:endParaRPr>
          </a:p>
          <a:p>
            <a:pPr eaLnBrk="1" hangingPunct="1">
              <a:spcBef>
                <a:spcPct val="50000"/>
              </a:spcBef>
            </a:pPr>
            <a:endParaRPr lang="en-US" sz="700" dirty="0">
              <a:latin typeface="+mj-lt"/>
            </a:endParaRPr>
          </a:p>
          <a:p>
            <a:pPr eaLnBrk="1" hangingPunct="1">
              <a:spcBef>
                <a:spcPct val="25000"/>
              </a:spcBef>
            </a:pPr>
            <a:r>
              <a:rPr lang="en-US" sz="2400" dirty="0">
                <a:latin typeface="+mj-lt"/>
              </a:rPr>
              <a:t/>
            </a:r>
            <a:br>
              <a:rPr lang="en-US" sz="2400" dirty="0">
                <a:latin typeface="+mj-lt"/>
              </a:rPr>
            </a:br>
            <a:endParaRPr lang="en-US" sz="2400" dirty="0">
              <a:solidFill>
                <a:srgbClr val="FF0000"/>
              </a:solidFill>
              <a:latin typeface="+mj-lt"/>
            </a:endParaRPr>
          </a:p>
          <a:p>
            <a:pPr eaLnBrk="1" hangingPunct="1"/>
            <a:r>
              <a:rPr lang="en-US" sz="2400" b="1" dirty="0">
                <a:latin typeface="+mj-lt"/>
              </a:rPr>
              <a:t>void Swap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(________</a:t>
            </a:r>
            <a:r>
              <a:rPr lang="en-US" sz="2400" b="1" dirty="0">
                <a:latin typeface="+mj-lt"/>
              </a:rPr>
              <a:t> &amp; first,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________</a:t>
            </a:r>
            <a:r>
              <a:rPr lang="en-US" sz="2400" b="1" dirty="0">
                <a:latin typeface="+mj-lt"/>
              </a:rPr>
              <a:t> &amp; second)</a:t>
            </a:r>
          </a:p>
          <a:p>
            <a:pPr eaLnBrk="1" hangingPunct="1"/>
            <a:r>
              <a:rPr lang="en-US" sz="2400" b="1" dirty="0">
                <a:latin typeface="+mj-lt"/>
              </a:rPr>
              <a:t>{</a:t>
            </a:r>
            <a:br>
              <a:rPr lang="en-US" sz="2400" b="1" dirty="0">
                <a:latin typeface="+mj-lt"/>
              </a:rPr>
            </a:br>
            <a:r>
              <a:rPr lang="en-US" sz="2400" b="1" dirty="0">
                <a:latin typeface="+mj-lt"/>
              </a:rPr>
              <a:t> 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________</a:t>
            </a:r>
            <a:r>
              <a:rPr lang="en-US" sz="2400" b="1" dirty="0">
                <a:latin typeface="+mj-lt"/>
              </a:rPr>
              <a:t>   temp  = first;</a:t>
            </a:r>
            <a:br>
              <a:rPr lang="en-US" sz="2400" b="1" dirty="0">
                <a:latin typeface="+mj-lt"/>
              </a:rPr>
            </a:br>
            <a:r>
              <a:rPr lang="en-US" sz="2400" b="1" dirty="0">
                <a:latin typeface="+mj-lt"/>
              </a:rPr>
              <a:t>       first = second;</a:t>
            </a:r>
            <a:br>
              <a:rPr lang="en-US" sz="2400" b="1" dirty="0">
                <a:latin typeface="+mj-lt"/>
              </a:rPr>
            </a:br>
            <a:r>
              <a:rPr lang="en-US" sz="2400" b="1" dirty="0">
                <a:latin typeface="+mj-lt"/>
              </a:rPr>
              <a:t>       second = temp;</a:t>
            </a:r>
            <a:br>
              <a:rPr lang="en-US" sz="2400" b="1" dirty="0">
                <a:latin typeface="+mj-lt"/>
              </a:rPr>
            </a:br>
            <a:r>
              <a:rPr lang="en-US" sz="2400" b="1" dirty="0">
                <a:latin typeface="+mj-lt"/>
              </a:rPr>
              <a:t>}</a:t>
            </a:r>
            <a:endParaRPr lang="en-US" sz="3200" dirty="0">
              <a:latin typeface="+mj-lt"/>
            </a:endParaRP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152400" y="2876231"/>
            <a:ext cx="784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template &lt;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typename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DataType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&gt;  // type parameter</a:t>
            </a: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381001" y="3581400"/>
            <a:ext cx="71628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1600" b="1" dirty="0">
                <a:latin typeface="Courier New" panose="02070309020205020404" pitchFamily="49" charset="0"/>
              </a:rPr>
              <a:t>         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DataType</a:t>
            </a:r>
            <a:r>
              <a:rPr lang="en-US" sz="1600" b="1" dirty="0">
                <a:latin typeface="Courier New" panose="02070309020205020404" pitchFamily="49" charset="0"/>
              </a:rPr>
              <a:t>         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DataType</a:t>
            </a:r>
            <a:endParaRPr lang="en-US" sz="1600" b="1" dirty="0">
              <a:latin typeface="Courier New" panose="02070309020205020404" pitchFamily="49" charset="0"/>
            </a:endParaRPr>
          </a:p>
          <a:p>
            <a:pPr eaLnBrk="1" hangingPunct="1"/>
            <a:r>
              <a:rPr lang="en-US" sz="1600" b="1" dirty="0">
                <a:latin typeface="Courier New" panose="02070309020205020404" pitchFamily="49" charset="0"/>
              </a:rPr>
              <a:t/>
            </a:r>
            <a:br>
              <a:rPr lang="en-US" sz="1600" b="1" dirty="0">
                <a:latin typeface="Courier New" panose="02070309020205020404" pitchFamily="49" charset="0"/>
              </a:rPr>
            </a:br>
            <a:r>
              <a:rPr lang="en-US" sz="1600" b="1" dirty="0"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sz="1600" b="1" dirty="0">
                <a:latin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DataType</a:t>
            </a:r>
            <a:endParaRPr 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877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54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utoUpdateAnimBg="0"/>
      <p:bldP spid="24581" grpId="0" autoUpdateAnimBg="0"/>
      <p:bldP spid="2458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52400" y="1153952"/>
            <a:ext cx="883920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dirty="0">
                <a:latin typeface="+mj-lt"/>
              </a:rPr>
              <a:t>The </a:t>
            </a:r>
            <a:r>
              <a:rPr lang="en-US" b="1" dirty="0">
                <a:latin typeface="+mj-lt"/>
              </a:rPr>
              <a:t>word</a:t>
            </a:r>
            <a:r>
              <a:rPr lang="en-US" dirty="0">
                <a:latin typeface="+mj-lt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template</a:t>
            </a:r>
            <a:r>
              <a:rPr lang="en-US" dirty="0">
                <a:latin typeface="+mj-lt"/>
              </a:rPr>
              <a:t> is a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C++ keyword </a:t>
            </a:r>
            <a:r>
              <a:rPr lang="en-US" dirty="0">
                <a:latin typeface="+mj-lt"/>
              </a:rPr>
              <a:t>specifying that what </a:t>
            </a:r>
            <a:r>
              <a:rPr lang="en-US" b="1" u="sng" dirty="0">
                <a:solidFill>
                  <a:srgbClr val="D20000"/>
                </a:solidFill>
                <a:latin typeface="+mj-lt"/>
              </a:rPr>
              <a:t>follows is a pattern </a:t>
            </a:r>
            <a:r>
              <a:rPr lang="en-US" dirty="0">
                <a:latin typeface="+mj-lt"/>
              </a:rPr>
              <a:t>for a </a:t>
            </a:r>
            <a:r>
              <a:rPr lang="en-US" b="1" dirty="0">
                <a:latin typeface="+mj-lt"/>
              </a:rPr>
              <a:t>function</a:t>
            </a:r>
            <a:r>
              <a:rPr lang="en-US" dirty="0">
                <a:latin typeface="+mj-lt"/>
              </a:rPr>
              <a:t> </a:t>
            </a:r>
            <a:r>
              <a:rPr lang="en-US" b="1" i="1" dirty="0">
                <a:solidFill>
                  <a:srgbClr val="2C14DE"/>
                </a:solidFill>
                <a:latin typeface="+mj-lt"/>
              </a:rPr>
              <a:t>not a function definition</a:t>
            </a:r>
            <a:r>
              <a:rPr lang="en-US" dirty="0">
                <a:latin typeface="+mj-lt"/>
              </a:rPr>
              <a:t>.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endParaRPr lang="en-US" dirty="0">
              <a:latin typeface="+mj-lt"/>
            </a:endParaRPr>
          </a:p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en-US" b="1" dirty="0">
                <a:latin typeface="+mj-lt"/>
              </a:rPr>
              <a:t>Originally</a:t>
            </a:r>
            <a:r>
              <a:rPr lang="en-US" dirty="0">
                <a:latin typeface="+mj-lt"/>
              </a:rPr>
              <a:t>, the </a:t>
            </a:r>
            <a:r>
              <a:rPr lang="en-US" b="1" dirty="0">
                <a:latin typeface="+mj-lt"/>
              </a:rPr>
              <a:t>keyword</a:t>
            </a:r>
            <a:r>
              <a:rPr lang="en-US" dirty="0">
                <a:latin typeface="+mj-lt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+mj-lt"/>
              </a:rPr>
              <a:t>class</a:t>
            </a:r>
            <a:r>
              <a:rPr lang="en-US" dirty="0">
                <a:latin typeface="+mj-lt"/>
              </a:rPr>
              <a:t> was </a:t>
            </a:r>
            <a:r>
              <a:rPr lang="en-US" b="1" dirty="0">
                <a:latin typeface="+mj-lt"/>
              </a:rPr>
              <a:t>used instead of </a:t>
            </a:r>
            <a:r>
              <a:rPr lang="en-US" b="1" dirty="0" err="1">
                <a:solidFill>
                  <a:srgbClr val="FF0000"/>
                </a:solidFill>
                <a:latin typeface="+mj-lt"/>
              </a:rPr>
              <a:t>typename</a:t>
            </a:r>
            <a:r>
              <a:rPr lang="en-US" dirty="0">
                <a:latin typeface="+mj-lt"/>
              </a:rPr>
              <a:t> in a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type-parameter list.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>
          <a:xfrm>
            <a:off x="895536" y="-18415"/>
            <a:ext cx="8229600" cy="932815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Template Mechanism Comments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1877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30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399" y="0"/>
            <a:ext cx="8175277" cy="914400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How is a Template Used?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288577" y="869436"/>
            <a:ext cx="8534400" cy="6084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dirty="0">
                <a:latin typeface="Courier New" panose="02070309020205020404" pitchFamily="49" charset="0"/>
              </a:rPr>
              <a:t>&lt;</a:t>
            </a:r>
            <a:r>
              <a:rPr lang="en-US" sz="2000" dirty="0" err="1">
                <a:latin typeface="Courier New" panose="02070309020205020404" pitchFamily="49" charset="0"/>
              </a:rPr>
              <a:t>typename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DataType</a:t>
            </a:r>
            <a:r>
              <a:rPr lang="en-US" sz="2000" dirty="0">
                <a:latin typeface="Courier New" panose="02070309020205020404" pitchFamily="49" charset="0"/>
              </a:rPr>
              <a:t>&gt;</a:t>
            </a:r>
            <a:r>
              <a:rPr lang="en-US" sz="2000" dirty="0">
                <a:latin typeface="Times New Roman MT Extra Bold" pitchFamily="18" charset="0"/>
              </a:rPr>
              <a:t> names </a:t>
            </a:r>
            <a:r>
              <a:rPr lang="en-US" sz="2000" dirty="0" err="1">
                <a:latin typeface="Courier New" panose="02070309020205020404" pitchFamily="49" charset="0"/>
              </a:rPr>
              <a:t>DataType</a:t>
            </a:r>
            <a:r>
              <a:rPr lang="en-US" sz="2000" dirty="0">
                <a:latin typeface="Times New Roman MT Extra Bold" pitchFamily="18" charset="0"/>
              </a:rPr>
              <a:t> as a type parameter </a:t>
            </a:r>
            <a:br>
              <a:rPr lang="en-US" sz="2000" dirty="0">
                <a:latin typeface="Times New Roman MT Extra Bold" pitchFamily="18" charset="0"/>
              </a:rPr>
            </a:br>
            <a:r>
              <a:rPr lang="en-US" sz="2000" dirty="0">
                <a:latin typeface="Times New Roman MT Extra Bold" pitchFamily="18" charset="0"/>
              </a:rPr>
              <a:t>— value will be determined by the </a:t>
            </a:r>
            <a:r>
              <a:rPr lang="en-US" sz="2000" b="1" i="1" dirty="0">
                <a:solidFill>
                  <a:srgbClr val="FF0000"/>
                </a:solidFill>
                <a:latin typeface="Times New Roman MT Extra Bold" pitchFamily="18" charset="0"/>
              </a:rPr>
              <a:t>compiler</a:t>
            </a:r>
            <a:r>
              <a:rPr lang="en-US" sz="2000" dirty="0">
                <a:latin typeface="Times New Roman MT Extra Bold" pitchFamily="18" charset="0"/>
              </a:rPr>
              <a:t> from the </a:t>
            </a:r>
            <a:r>
              <a:rPr lang="en-US" sz="2000" b="1" i="1" dirty="0">
                <a:solidFill>
                  <a:srgbClr val="FF0000"/>
                </a:solidFill>
                <a:latin typeface="Times New Roman MT Extra Bold" pitchFamily="18" charset="0"/>
              </a:rPr>
              <a:t> type of the </a:t>
            </a:r>
            <a:br>
              <a:rPr lang="en-US" sz="2000" b="1" i="1" dirty="0">
                <a:solidFill>
                  <a:srgbClr val="FF0000"/>
                </a:solidFill>
                <a:latin typeface="Times New Roman MT Extra Bold" pitchFamily="18" charset="0"/>
              </a:rPr>
            </a:br>
            <a:r>
              <a:rPr lang="en-US" sz="2000" b="1" i="1" dirty="0">
                <a:solidFill>
                  <a:srgbClr val="FF0000"/>
                </a:solidFill>
                <a:latin typeface="Times New Roman MT Extra Bold" pitchFamily="18" charset="0"/>
              </a:rPr>
              <a:t>arguments  passed </a:t>
            </a:r>
            <a:r>
              <a:rPr lang="en-US" sz="2000" b="1" i="1" dirty="0">
                <a:latin typeface="Times New Roman MT Extra Bold" pitchFamily="18" charset="0"/>
              </a:rPr>
              <a:t>when </a:t>
            </a:r>
            <a:r>
              <a:rPr lang="en-US" sz="2000" b="1" dirty="0">
                <a:latin typeface="Courier New" panose="02070309020205020404" pitchFamily="49" charset="0"/>
              </a:rPr>
              <a:t>Swap()</a:t>
            </a:r>
            <a:r>
              <a:rPr lang="en-US" sz="2000" b="1" i="1" dirty="0">
                <a:latin typeface="Times New Roman MT Extra Bold" pitchFamily="18" charset="0"/>
              </a:rPr>
              <a:t> is called</a:t>
            </a:r>
            <a:r>
              <a:rPr lang="en-US" sz="2000" dirty="0">
                <a:latin typeface="Times New Roman MT Extra Bold" pitchFamily="18" charset="0"/>
              </a:rPr>
              <a:t>.  </a:t>
            </a:r>
          </a:p>
          <a:p>
            <a:pPr eaLnBrk="1" hangingPunct="1">
              <a:spcBef>
                <a:spcPct val="30000"/>
              </a:spcBef>
            </a:pPr>
            <a:r>
              <a:rPr lang="en-US" sz="1800" dirty="0">
                <a:latin typeface="Times New Roman MT Extra Bold" pitchFamily="18" charset="0"/>
              </a:rPr>
              <a:t>Example:</a:t>
            </a:r>
            <a:br>
              <a:rPr lang="en-US" sz="1800" dirty="0">
                <a:latin typeface="Times New Roman MT Extra Bold" pitchFamily="18" charset="0"/>
              </a:rPr>
            </a:br>
            <a:r>
              <a:rPr lang="en-US" sz="2000" b="1" dirty="0">
                <a:latin typeface="Courier New" panose="02070309020205020404" pitchFamily="49" charset="0"/>
              </a:rPr>
              <a:t>#include "</a:t>
            </a:r>
            <a:r>
              <a:rPr lang="en-US" sz="2000" b="1" dirty="0" err="1">
                <a:latin typeface="Courier New" panose="02070309020205020404" pitchFamily="49" charset="0"/>
              </a:rPr>
              <a:t>Time.h</a:t>
            </a:r>
            <a:r>
              <a:rPr lang="en-US" sz="2000" b="1" dirty="0">
                <a:latin typeface="Courier New" panose="02070309020205020404" pitchFamily="49" charset="0"/>
              </a:rPr>
              <a:t>"</a:t>
            </a:r>
            <a:br>
              <a:rPr lang="en-US" sz="2000" b="1" dirty="0">
                <a:latin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</a:rPr>
              <a:t>#include "</a:t>
            </a:r>
            <a:r>
              <a:rPr lang="en-US" sz="2000" b="1" dirty="0" err="1">
                <a:latin typeface="Courier New" panose="02070309020205020404" pitchFamily="49" charset="0"/>
              </a:rPr>
              <a:t>Swap.h</a:t>
            </a:r>
            <a:r>
              <a:rPr lang="en-US" sz="2000" b="1" dirty="0">
                <a:latin typeface="Courier New" panose="02070309020205020404" pitchFamily="49" charset="0"/>
              </a:rPr>
              <a:t>"  //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ONE</a:t>
            </a:r>
            <a:r>
              <a:rPr lang="en-US" sz="2000" b="1" dirty="0">
                <a:latin typeface="Courier New" panose="02070309020205020404" pitchFamily="49" charset="0"/>
              </a:rPr>
              <a:t> function template definition</a:t>
            </a:r>
            <a:br>
              <a:rPr lang="en-US" sz="2000" b="1" dirty="0">
                <a:latin typeface="Courier New" panose="02070309020205020404" pitchFamily="49" charset="0"/>
              </a:rPr>
            </a:br>
            <a:r>
              <a:rPr lang="en-US" sz="2000" b="1" dirty="0" err="1">
                <a:latin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</a:rPr>
              <a:t> main()</a:t>
            </a:r>
            <a:br>
              <a:rPr lang="en-US" sz="2000" b="1" dirty="0">
                <a:latin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</a:rPr>
              <a:t>{</a:t>
            </a:r>
            <a:br>
              <a:rPr lang="en-US" sz="2000" b="1" dirty="0">
                <a:latin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</a:rPr>
              <a:t>  </a:t>
            </a:r>
            <a:r>
              <a:rPr lang="en-US" sz="2000" b="1" dirty="0" err="1">
                <a:latin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</a:rPr>
              <a:t>    i1, i2;</a:t>
            </a:r>
            <a:br>
              <a:rPr lang="en-US" sz="2000" b="1" dirty="0">
                <a:latin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</a:rPr>
              <a:t>  double d1, d2;</a:t>
            </a:r>
            <a:br>
              <a:rPr lang="en-US" sz="2000" b="1" dirty="0">
                <a:latin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</a:rPr>
              <a:t>  string s1, s2;</a:t>
            </a:r>
            <a:br>
              <a:rPr lang="en-US" sz="2000" b="1" dirty="0">
                <a:latin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</a:rPr>
              <a:t>  Time   t1, t2;</a:t>
            </a:r>
          </a:p>
          <a:p>
            <a:pPr eaLnBrk="1" hangingPunct="1">
              <a:spcBef>
                <a:spcPct val="30000"/>
              </a:spcBef>
            </a:pPr>
            <a:r>
              <a:rPr lang="en-US" sz="2000" b="1" dirty="0">
                <a:latin typeface="Courier New" panose="02070309020205020404" pitchFamily="49" charset="0"/>
              </a:rPr>
              <a:t>   ...             // Compiler generates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definitions</a:t>
            </a:r>
            <a:endParaRPr lang="en-US" sz="2000" b="1" dirty="0">
              <a:latin typeface="Courier New" panose="02070309020205020404" pitchFamily="49" charset="0"/>
            </a:endParaRPr>
          </a:p>
          <a:p>
            <a:pPr eaLnBrk="1" hangingPunct="1"/>
            <a:r>
              <a:rPr lang="en-US" sz="2000" b="1" dirty="0">
                <a:latin typeface="Courier New" panose="02070309020205020404" pitchFamily="49" charset="0"/>
              </a:rPr>
              <a:t>                   // of Swap() with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DataType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replaced</a:t>
            </a:r>
            <a:r>
              <a:rPr lang="en-US" sz="2000" b="1" dirty="0">
                <a:latin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en-US" sz="2000" b="1" dirty="0">
                <a:latin typeface="Courier New" panose="02070309020205020404" pitchFamily="49" charset="0"/>
              </a:rPr>
              <a:t>  Swap(i1, i2);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>
                <a:latin typeface="Courier New" panose="02070309020205020404" pitchFamily="49" charset="0"/>
              </a:rPr>
              <a:t>//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    </a:t>
            </a:r>
            <a:r>
              <a:rPr lang="en-US" sz="2000" b="1" dirty="0">
                <a:latin typeface="Courier New" panose="02070309020205020404" pitchFamily="49" charset="0"/>
              </a:rPr>
              <a:t>by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int</a:t>
            </a:r>
            <a:endParaRPr lang="en-US" sz="2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</a:rPr>
              <a:t> Swap(d1, d2);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</a:t>
            </a:r>
            <a:r>
              <a:rPr lang="en-US" sz="2000" b="1" dirty="0">
                <a:latin typeface="Courier New" panose="02070309020205020404" pitchFamily="49" charset="0"/>
              </a:rPr>
              <a:t>//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    </a:t>
            </a:r>
            <a:r>
              <a:rPr lang="en-US" sz="2000" b="1" dirty="0">
                <a:latin typeface="Courier New" panose="02070309020205020404" pitchFamily="49" charset="0"/>
              </a:rPr>
              <a:t>by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double</a:t>
            </a:r>
          </a:p>
          <a:p>
            <a:pPr eaLnBrk="1" hangingPunct="1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</a:rPr>
              <a:t> Swap(s1, s2);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en-US" sz="2000" b="1" dirty="0">
                <a:latin typeface="Courier New" panose="02070309020205020404" pitchFamily="49" charset="0"/>
              </a:rPr>
              <a:t>//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    </a:t>
            </a:r>
            <a:r>
              <a:rPr lang="en-US" sz="2000" b="1" dirty="0">
                <a:latin typeface="Courier New" panose="02070309020205020404" pitchFamily="49" charset="0"/>
              </a:rPr>
              <a:t>by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string</a:t>
            </a:r>
          </a:p>
          <a:p>
            <a:pPr eaLnBrk="1" hangingPunct="1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</a:rPr>
              <a:t> Swap(t1, t2);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en-US" sz="2000" b="1" dirty="0">
                <a:latin typeface="Courier New" panose="02070309020205020404" pitchFamily="49" charset="0"/>
              </a:rPr>
              <a:t>//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    </a:t>
            </a:r>
            <a:r>
              <a:rPr lang="en-US" sz="2000" b="1" dirty="0">
                <a:latin typeface="Courier New" panose="02070309020205020404" pitchFamily="49" charset="0"/>
              </a:rPr>
              <a:t>by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Time</a:t>
            </a:r>
            <a:b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21877" y="859628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4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76200" y="1447800"/>
            <a:ext cx="8991600" cy="472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>
          <a:xfrm>
            <a:off x="914400" y="-23177"/>
            <a:ext cx="8229600" cy="937577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General Form of Template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228600" y="1363663"/>
            <a:ext cx="8686800" cy="45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9096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tabLst>
                <a:tab pos="9096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tabLst>
                <a:tab pos="9096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tabLst>
                <a:tab pos="9096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tabLst>
                <a:tab pos="9096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096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096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096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096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1" dirty="0">
                <a:latin typeface="Courier New" panose="02070309020205020404" pitchFamily="49" charset="0"/>
              </a:rPr>
              <a:t>	template &lt;</a:t>
            </a:r>
            <a:r>
              <a:rPr lang="en-US" sz="2400" b="1" dirty="0" err="1">
                <a:latin typeface="Courier New" panose="02070309020205020404" pitchFamily="49" charset="0"/>
              </a:rPr>
              <a:t>typename</a:t>
            </a:r>
            <a:r>
              <a:rPr lang="en-US" sz="2400" b="1" dirty="0">
                <a:latin typeface="Courier New" panose="02070309020205020404" pitchFamily="49" charset="0"/>
              </a:rPr>
              <a:t> </a:t>
            </a:r>
            <a:r>
              <a:rPr lang="en-US" sz="2400" b="1" i="1" dirty="0" err="1">
                <a:latin typeface="Courier New" panose="02070309020205020404" pitchFamily="49" charset="0"/>
              </a:rPr>
              <a:t>TypeParam</a:t>
            </a:r>
            <a:r>
              <a:rPr lang="en-US" sz="2400" b="1" dirty="0">
                <a:latin typeface="Courier New" panose="02070309020205020404" pitchFamily="49" charset="0"/>
              </a:rPr>
              <a:t>&gt;</a:t>
            </a:r>
            <a:br>
              <a:rPr lang="en-US" sz="2400" b="1" dirty="0">
                <a:latin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</a:rPr>
              <a:t>	</a:t>
            </a:r>
            <a:r>
              <a:rPr lang="en-US" sz="2400" b="1" i="1" dirty="0" err="1">
                <a:latin typeface="Courier New" panose="02070309020205020404" pitchFamily="49" charset="0"/>
              </a:rPr>
              <a:t>FunctionDefinition</a:t>
            </a:r>
            <a:endParaRPr lang="en-US" sz="2400" b="1" dirty="0">
              <a:latin typeface="Times New Roman MT Extra Bold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sz="2400" b="1" dirty="0">
                <a:latin typeface="Times New Roman MT Extra Bold" pitchFamily="18" charset="0"/>
              </a:rPr>
              <a:t>or</a:t>
            </a:r>
            <a:endParaRPr lang="en-US" sz="24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sz="2400" b="1" dirty="0">
                <a:latin typeface="Courier New" panose="02070309020205020404" pitchFamily="49" charset="0"/>
              </a:rPr>
              <a:t>	template &lt;class </a:t>
            </a:r>
            <a:r>
              <a:rPr lang="en-US" sz="2400" b="1" i="1" dirty="0" err="1">
                <a:latin typeface="Courier New" panose="02070309020205020404" pitchFamily="49" charset="0"/>
              </a:rPr>
              <a:t>TypeParam</a:t>
            </a:r>
            <a:r>
              <a:rPr lang="en-US" sz="2400" b="1" dirty="0">
                <a:latin typeface="Courier New" panose="02070309020205020404" pitchFamily="49" charset="0"/>
              </a:rPr>
              <a:t>&gt;</a:t>
            </a:r>
            <a:r>
              <a:rPr lang="en-US" sz="2400" b="1" dirty="0">
                <a:latin typeface="Times New Roman MT Extra Bold" pitchFamily="18" charset="0"/>
              </a:rPr>
              <a:t/>
            </a:r>
            <a:br>
              <a:rPr lang="en-US" sz="2400" b="1" dirty="0">
                <a:latin typeface="Times New Roman MT Extra Bold" pitchFamily="18" charset="0"/>
              </a:rPr>
            </a:br>
            <a:r>
              <a:rPr lang="en-US" sz="2400" b="1" dirty="0">
                <a:latin typeface="Times New Roman MT Extra Bold" pitchFamily="18" charset="0"/>
              </a:rPr>
              <a:t>	</a:t>
            </a:r>
            <a:r>
              <a:rPr lang="en-US" sz="2400" b="1" i="1" dirty="0" err="1">
                <a:latin typeface="Courier New" panose="02070309020205020404" pitchFamily="49" charset="0"/>
              </a:rPr>
              <a:t>FunctionDefinition</a:t>
            </a:r>
            <a:endParaRPr lang="en-US" sz="2400" b="1" dirty="0">
              <a:latin typeface="Times New Roman MT Extra Bold" pitchFamily="18" charset="0"/>
            </a:endParaRPr>
          </a:p>
          <a:p>
            <a:pPr eaLnBrk="1" hangingPunct="1"/>
            <a:endParaRPr lang="en-US" sz="1200" b="1" dirty="0">
              <a:latin typeface="Times New Roman MT Extra Bold" pitchFamily="18" charset="0"/>
            </a:endParaRPr>
          </a:p>
          <a:p>
            <a:pPr eaLnBrk="1" hangingPunct="1"/>
            <a:r>
              <a:rPr lang="en-US" sz="2400" b="1" dirty="0">
                <a:latin typeface="Times New Roman MT Extra Bold" pitchFamily="18" charset="0"/>
              </a:rPr>
              <a:t>where:</a:t>
            </a:r>
          </a:p>
          <a:p>
            <a:pPr eaLnBrk="1" hangingPunct="1"/>
            <a:endParaRPr lang="en-US" sz="1200" b="1" dirty="0">
              <a:latin typeface="Times New Roman MT Extra Bold" pitchFamily="18" charset="0"/>
            </a:endParaRPr>
          </a:p>
          <a:p>
            <a:pPr eaLnBrk="1" hangingPunct="1"/>
            <a:r>
              <a:rPr lang="en-US" sz="2000" b="1" i="1" dirty="0" err="1">
                <a:latin typeface="Courier New" panose="02070309020205020404" pitchFamily="49" charset="0"/>
              </a:rPr>
              <a:t>TypeParam</a:t>
            </a:r>
            <a:r>
              <a:rPr lang="en-US" sz="2000" b="1" dirty="0">
                <a:latin typeface="Times New Roman MT Extra Bold" pitchFamily="18" charset="0"/>
              </a:rPr>
              <a:t> is a type-parameter (placeholder) naming </a:t>
            </a:r>
          </a:p>
          <a:p>
            <a:pPr eaLnBrk="1" hangingPunct="1"/>
            <a:r>
              <a:rPr lang="en-US" sz="2000" b="1" dirty="0">
                <a:latin typeface="Times New Roman MT Extra Bold" pitchFamily="18" charset="0"/>
              </a:rPr>
              <a:t>the "generic" type of value(s) on which the function operates</a:t>
            </a:r>
          </a:p>
          <a:p>
            <a:pPr eaLnBrk="1" hangingPunct="1"/>
            <a:endParaRPr lang="en-US" sz="1100" b="1" dirty="0">
              <a:latin typeface="Times New Roman MT Extra Bold" pitchFamily="18" charset="0"/>
            </a:endParaRPr>
          </a:p>
          <a:p>
            <a:pPr eaLnBrk="1" hangingPunct="1"/>
            <a:r>
              <a:rPr lang="en-US" sz="2000" b="1" i="1" dirty="0" err="1">
                <a:latin typeface="Courier New" panose="02070309020205020404" pitchFamily="49" charset="0"/>
              </a:rPr>
              <a:t>FunctionDefinition</a:t>
            </a:r>
            <a:r>
              <a:rPr lang="en-US" sz="2000" b="1" dirty="0">
                <a:latin typeface="Times New Roman MT Extra Bold" pitchFamily="18" charset="0"/>
              </a:rPr>
              <a:t>  is the definition of the function, using type </a:t>
            </a:r>
            <a:r>
              <a:rPr lang="en-US" sz="2000" b="1" i="1" dirty="0" err="1">
                <a:latin typeface="Courier New" panose="02070309020205020404" pitchFamily="49" charset="0"/>
              </a:rPr>
              <a:t>TypeParam</a:t>
            </a:r>
            <a:r>
              <a:rPr lang="en-US" sz="2000" b="1" dirty="0">
                <a:latin typeface="Courier New" panose="02070309020205020404" pitchFamily="49" charset="0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1877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51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re 1"/>
          <p:cNvSpPr>
            <a:spLocks noGrp="1"/>
          </p:cNvSpPr>
          <p:nvPr>
            <p:ph type="title"/>
          </p:nvPr>
        </p:nvSpPr>
        <p:spPr>
          <a:xfrm>
            <a:off x="914400" y="-30916"/>
            <a:ext cx="8229600" cy="869116"/>
          </a:xfrm>
        </p:spPr>
        <p:txBody>
          <a:bodyPr/>
          <a:lstStyle/>
          <a:p>
            <a:r>
              <a:rPr lang="fr-FR" b="1" u="sng" dirty="0" err="1"/>
              <a:t>Another</a:t>
            </a:r>
            <a:r>
              <a:rPr lang="fr-FR" b="1" u="sng" dirty="0"/>
              <a:t> </a:t>
            </a:r>
            <a:r>
              <a:rPr lang="fr-FR" b="1" u="sng" dirty="0" err="1"/>
              <a:t>Example</a:t>
            </a:r>
            <a:endParaRPr lang="fr-FR" b="1" u="sng" dirty="0"/>
          </a:p>
        </p:txBody>
      </p:sp>
      <p:pic>
        <p:nvPicPr>
          <p:cNvPr id="14339" name="Image 2" descr="Screen Shot 2012-11-28 at 9.19.1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66800"/>
            <a:ext cx="6705601" cy="561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663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Image 2" descr="Screen Shot 2012-11-28 at 9.19.41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" y="990600"/>
            <a:ext cx="8763000" cy="4906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8301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882711" y="0"/>
            <a:ext cx="8229600" cy="960119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</a:rPr>
              <a:t>Template Instantiation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21877" y="838200"/>
            <a:ext cx="8969723" cy="6124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A </a:t>
            </a:r>
            <a:r>
              <a:rPr lang="en-US" b="1" u="sng" dirty="0">
                <a:solidFill>
                  <a:srgbClr val="D20000"/>
                </a:solidFill>
                <a:latin typeface="+mj-lt"/>
              </a:rPr>
              <a:t>function template </a:t>
            </a:r>
            <a:r>
              <a:rPr lang="en-US" dirty="0">
                <a:latin typeface="+mj-lt"/>
              </a:rPr>
              <a:t>is only a </a:t>
            </a:r>
            <a:r>
              <a:rPr lang="en-US" b="1" u="sng" dirty="0">
                <a:solidFill>
                  <a:srgbClr val="2C14DE"/>
                </a:solidFill>
                <a:latin typeface="+mj-lt"/>
              </a:rPr>
              <a:t>pattern</a:t>
            </a:r>
            <a:r>
              <a:rPr lang="en-US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dirty="0">
                <a:latin typeface="+mj-lt"/>
              </a:rPr>
              <a:t>that </a:t>
            </a:r>
            <a:r>
              <a:rPr lang="en-US" b="1" dirty="0">
                <a:latin typeface="+mj-lt"/>
              </a:rPr>
              <a:t>describes how individual functions</a:t>
            </a:r>
            <a:r>
              <a:rPr lang="en-US" dirty="0">
                <a:latin typeface="+mj-lt"/>
              </a:rPr>
              <a:t> can be </a:t>
            </a:r>
            <a:r>
              <a:rPr lang="en-US" b="1" dirty="0">
                <a:latin typeface="+mj-lt"/>
              </a:rPr>
              <a:t>built from given actual types</a:t>
            </a:r>
            <a:r>
              <a:rPr lang="en-US" dirty="0">
                <a:latin typeface="+mj-lt"/>
              </a:rPr>
              <a:t>.  </a:t>
            </a:r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This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process of constructing </a:t>
            </a:r>
            <a:r>
              <a:rPr lang="en-US" b="1" dirty="0">
                <a:latin typeface="+mj-lt"/>
              </a:rPr>
              <a:t>a function</a:t>
            </a:r>
            <a:r>
              <a:rPr lang="en-US" dirty="0">
                <a:latin typeface="+mj-lt"/>
              </a:rPr>
              <a:t> is called </a:t>
            </a:r>
            <a:r>
              <a:rPr lang="en-US" b="1" u="sng" dirty="0">
                <a:solidFill>
                  <a:srgbClr val="C00000"/>
                </a:solidFill>
                <a:latin typeface="+mj-lt"/>
              </a:rPr>
              <a:t>instantiation</a:t>
            </a:r>
            <a:r>
              <a:rPr lang="en-US" dirty="0">
                <a:latin typeface="+mj-lt"/>
              </a:rPr>
              <a:t>.</a:t>
            </a:r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We </a:t>
            </a:r>
            <a:r>
              <a:rPr lang="en-US" b="1" dirty="0">
                <a:latin typeface="+mj-lt"/>
              </a:rPr>
              <a:t>instantiated</a:t>
            </a:r>
            <a:r>
              <a:rPr lang="en-US" dirty="0">
                <a:latin typeface="+mj-lt"/>
              </a:rPr>
              <a:t> </a:t>
            </a:r>
            <a:r>
              <a:rPr lang="en-US" b="1" dirty="0">
                <a:solidFill>
                  <a:srgbClr val="D20000"/>
                </a:solidFill>
                <a:latin typeface="+mj-lt"/>
              </a:rPr>
              <a:t>Swap()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four times </a:t>
            </a:r>
            <a:r>
              <a:rPr lang="en-US" dirty="0">
                <a:latin typeface="+mj-lt"/>
              </a:rPr>
              <a:t>— with </a:t>
            </a:r>
            <a:r>
              <a:rPr lang="en-US" b="1" dirty="0">
                <a:latin typeface="+mj-lt"/>
              </a:rPr>
              <a:t>types </a:t>
            </a:r>
            <a:r>
              <a:rPr lang="en-US" b="1" dirty="0" err="1">
                <a:solidFill>
                  <a:srgbClr val="2C14DE"/>
                </a:solidFill>
                <a:latin typeface="+mj-lt"/>
              </a:rPr>
              <a:t>int</a:t>
            </a:r>
            <a:r>
              <a:rPr lang="en-US" dirty="0">
                <a:latin typeface="+mj-lt"/>
              </a:rPr>
              <a:t>, 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double</a:t>
            </a:r>
            <a:r>
              <a:rPr lang="en-US" dirty="0">
                <a:latin typeface="+mj-lt"/>
              </a:rPr>
              <a:t>, 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string</a:t>
            </a:r>
            <a:r>
              <a:rPr lang="en-US" dirty="0">
                <a:latin typeface="+mj-lt"/>
              </a:rPr>
              <a:t>, and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Time</a:t>
            </a:r>
            <a:r>
              <a:rPr lang="en-US" dirty="0">
                <a:latin typeface="+mj-lt"/>
              </a:rPr>
              <a:t>. </a:t>
            </a:r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In </a:t>
            </a:r>
            <a:r>
              <a:rPr lang="en-US" b="1" u="sng" dirty="0">
                <a:latin typeface="+mj-lt"/>
              </a:rPr>
              <a:t>each instantiation</a:t>
            </a:r>
            <a:r>
              <a:rPr lang="en-US" dirty="0">
                <a:latin typeface="+mj-lt"/>
              </a:rPr>
              <a:t>, the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type parameter is said to be </a:t>
            </a:r>
            <a:r>
              <a:rPr lang="en-US" b="1" i="1" dirty="0">
                <a:solidFill>
                  <a:srgbClr val="FF0000"/>
                </a:solidFill>
                <a:latin typeface="+mj-lt"/>
              </a:rPr>
              <a:t>bound</a:t>
            </a:r>
            <a:r>
              <a:rPr lang="en-US" dirty="0">
                <a:latin typeface="+mj-lt"/>
              </a:rPr>
              <a:t> to the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actual type passed</a:t>
            </a:r>
            <a:r>
              <a:rPr lang="en-US" dirty="0">
                <a:latin typeface="+mj-lt"/>
              </a:rPr>
              <a:t>.  </a:t>
            </a:r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A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template thus serves as a pattern </a:t>
            </a:r>
            <a:r>
              <a:rPr lang="en-US" dirty="0">
                <a:latin typeface="+mj-lt"/>
              </a:rPr>
              <a:t>for the </a:t>
            </a:r>
            <a:r>
              <a:rPr lang="en-US" b="1" dirty="0">
                <a:latin typeface="+mj-lt"/>
              </a:rPr>
              <a:t>definition</a:t>
            </a:r>
            <a:r>
              <a:rPr lang="en-US" dirty="0">
                <a:latin typeface="+mj-lt"/>
              </a:rPr>
              <a:t> of an </a:t>
            </a:r>
            <a:r>
              <a:rPr lang="en-US" b="1" dirty="0">
                <a:solidFill>
                  <a:srgbClr val="FF0000"/>
                </a:solidFill>
                <a:latin typeface="+mj-lt"/>
              </a:rPr>
              <a:t>unlimited number of instances</a:t>
            </a:r>
            <a:r>
              <a:rPr lang="en-US" dirty="0">
                <a:latin typeface="+mj-lt"/>
              </a:rPr>
              <a:t>.  </a:t>
            </a:r>
          </a:p>
        </p:txBody>
      </p:sp>
      <p:sp>
        <p:nvSpPr>
          <p:cNvPr id="4" name="Rectangle 3"/>
          <p:cNvSpPr/>
          <p:nvPr/>
        </p:nvSpPr>
        <p:spPr>
          <a:xfrm>
            <a:off x="21877" y="829147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Class Templates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3000"/>
            <a:ext cx="8991600" cy="5029200"/>
          </a:xfrm>
        </p:spPr>
        <p:txBody>
          <a:bodyPr/>
          <a:lstStyle/>
          <a:p>
            <a:pPr>
              <a:defRPr/>
            </a:pPr>
            <a:r>
              <a:rPr lang="en-US" b="1" dirty="0"/>
              <a:t>The </a:t>
            </a:r>
            <a:r>
              <a:rPr lang="en-US" b="1" dirty="0">
                <a:solidFill>
                  <a:srgbClr val="2C14DE"/>
                </a:solidFill>
              </a:rPr>
              <a:t>template concept can be extended </a:t>
            </a:r>
            <a:r>
              <a:rPr lang="en-US" b="1" dirty="0"/>
              <a:t>to </a:t>
            </a:r>
            <a:r>
              <a:rPr lang="en-US" b="1" dirty="0">
                <a:solidFill>
                  <a:srgbClr val="2C14DE"/>
                </a:solidFill>
              </a:rPr>
              <a:t>classes</a:t>
            </a:r>
            <a:r>
              <a:rPr lang="en-US" b="1" dirty="0"/>
              <a:t>. 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indent="0">
              <a:buFontTx/>
              <a:buNone/>
              <a:defRPr/>
            </a:pPr>
            <a:endParaRPr lang="en-US" dirty="0"/>
          </a:p>
          <a:p>
            <a:pPr>
              <a:defRPr/>
            </a:pP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21877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31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-1"/>
            <a:ext cx="8134350" cy="944881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B80000"/>
                </a:solidFill>
              </a:rPr>
              <a:t>Examples - Stack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211206" y="1219200"/>
            <a:ext cx="8780394" cy="5105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5000"/>
              </a:lnSpc>
              <a:buClr>
                <a:schemeClr val="tx1"/>
              </a:buClr>
            </a:pPr>
            <a:r>
              <a:rPr lang="en-US" b="1" dirty="0">
                <a:solidFill>
                  <a:srgbClr val="B80000"/>
                </a:solidFill>
              </a:rPr>
              <a:t>Stack</a:t>
            </a:r>
            <a:r>
              <a:rPr lang="en-US" b="1" dirty="0"/>
              <a:t>: a </a:t>
            </a:r>
            <a:r>
              <a:rPr lang="en-US" b="1" dirty="0">
                <a:solidFill>
                  <a:srgbClr val="2C14DE"/>
                </a:solidFill>
              </a:rPr>
              <a:t>LIFO</a:t>
            </a:r>
            <a:r>
              <a:rPr lang="en-US" b="1" dirty="0"/>
              <a:t> (last in, first out) data structure</a:t>
            </a:r>
          </a:p>
          <a:p>
            <a:pPr>
              <a:lnSpc>
                <a:spcPct val="85000"/>
              </a:lnSpc>
              <a:buClr>
                <a:schemeClr val="tx1"/>
              </a:buClr>
            </a:pPr>
            <a:r>
              <a:rPr lang="en-US" altLang="ja-JP" b="1" u="sng" dirty="0">
                <a:solidFill>
                  <a:srgbClr val="2C14DE"/>
                </a:solidFill>
              </a:rPr>
              <a:t>insertions</a:t>
            </a:r>
            <a:r>
              <a:rPr lang="en-US" altLang="ja-JP" dirty="0">
                <a:solidFill>
                  <a:srgbClr val="2C14DE"/>
                </a:solidFill>
              </a:rPr>
              <a:t> </a:t>
            </a:r>
            <a:r>
              <a:rPr lang="en-US" altLang="ja-JP" dirty="0"/>
              <a:t>and </a:t>
            </a:r>
            <a:r>
              <a:rPr lang="en-US" altLang="ja-JP" b="1" u="sng" dirty="0">
                <a:solidFill>
                  <a:srgbClr val="2C14DE"/>
                </a:solidFill>
              </a:rPr>
              <a:t>deletions</a:t>
            </a:r>
            <a:r>
              <a:rPr lang="en-US" altLang="ja-JP" dirty="0">
                <a:solidFill>
                  <a:srgbClr val="2C14DE"/>
                </a:solidFill>
              </a:rPr>
              <a:t> </a:t>
            </a:r>
            <a:r>
              <a:rPr lang="en-US" altLang="ja-JP" b="1" dirty="0"/>
              <a:t>take place </a:t>
            </a:r>
            <a:r>
              <a:rPr lang="en-US" altLang="ja-JP" dirty="0"/>
              <a:t>at </a:t>
            </a:r>
            <a:r>
              <a:rPr lang="en-US" altLang="ja-JP" b="1" dirty="0"/>
              <a:t>one end</a:t>
            </a:r>
            <a:r>
              <a:rPr lang="en-US" altLang="ja-JP" dirty="0"/>
              <a:t> called </a:t>
            </a:r>
            <a:r>
              <a:rPr lang="en-US" altLang="ja-JP" b="1" dirty="0">
                <a:solidFill>
                  <a:srgbClr val="D20000"/>
                </a:solidFill>
              </a:rPr>
              <a:t>Top</a:t>
            </a:r>
            <a:endParaRPr lang="en-US" b="1" dirty="0">
              <a:solidFill>
                <a:srgbClr val="D20000"/>
              </a:solidFill>
            </a:endParaRPr>
          </a:p>
          <a:p>
            <a:pPr eaLnBrk="1" hangingPunct="1">
              <a:lnSpc>
                <a:spcPct val="85000"/>
              </a:lnSpc>
              <a:buClr>
                <a:schemeClr val="tx1"/>
              </a:buClr>
            </a:pPr>
            <a:endParaRPr lang="en-US" dirty="0"/>
          </a:p>
          <a:p>
            <a:pPr eaLnBrk="1" hangingPunct="1">
              <a:lnSpc>
                <a:spcPct val="85000"/>
              </a:lnSpc>
              <a:buClr>
                <a:schemeClr val="tx1"/>
              </a:buClr>
            </a:pPr>
            <a:r>
              <a:rPr lang="en-US" b="1" u="sng" dirty="0"/>
              <a:t>Examples: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771900"/>
            <a:ext cx="6714297" cy="2316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4081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r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914400"/>
          </a:xfrm>
        </p:spPr>
        <p:txBody>
          <a:bodyPr/>
          <a:lstStyle/>
          <a:p>
            <a:r>
              <a:rPr lang="fr-FR" b="1" dirty="0" err="1">
                <a:solidFill>
                  <a:srgbClr val="D20000"/>
                </a:solidFill>
              </a:rPr>
              <a:t>Integer</a:t>
            </a:r>
            <a:r>
              <a:rPr lang="fr-FR" b="1" dirty="0">
                <a:solidFill>
                  <a:srgbClr val="D20000"/>
                </a:solidFill>
              </a:rPr>
              <a:t> </a:t>
            </a:r>
            <a:r>
              <a:rPr lang="fr-FR" b="1" dirty="0" err="1">
                <a:solidFill>
                  <a:srgbClr val="D20000"/>
                </a:solidFill>
              </a:rPr>
              <a:t>Stack</a:t>
            </a:r>
            <a:r>
              <a:rPr lang="fr-FR" b="1" dirty="0">
                <a:solidFill>
                  <a:srgbClr val="D20000"/>
                </a:solidFill>
              </a:rPr>
              <a:t> …</a:t>
            </a:r>
          </a:p>
        </p:txBody>
      </p:sp>
      <p:pic>
        <p:nvPicPr>
          <p:cNvPr id="18435" name="Image 3" descr="Screen Shot 2012-11-28 at 9.23.53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95400"/>
            <a:ext cx="8360123" cy="3306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1877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50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D20000"/>
                </a:solidFill>
              </a:rPr>
              <a:t>Long </a:t>
            </a:r>
            <a:r>
              <a:rPr lang="fr-FR" b="1" dirty="0" err="1">
                <a:solidFill>
                  <a:srgbClr val="D20000"/>
                </a:solidFill>
              </a:rPr>
              <a:t>Stack</a:t>
            </a:r>
            <a:r>
              <a:rPr lang="fr-FR" b="1" dirty="0">
                <a:solidFill>
                  <a:srgbClr val="D20000"/>
                </a:solidFill>
              </a:rPr>
              <a:t> …</a:t>
            </a:r>
          </a:p>
        </p:txBody>
      </p:sp>
      <p:pic>
        <p:nvPicPr>
          <p:cNvPr id="19459" name="Image 4" descr="Screen Shot 2012-11-28 at 9.26.21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2" y="1447800"/>
            <a:ext cx="86772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1877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12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Image 3" descr="Screen Shot 2012-11-28 at 9.30.2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7847102" cy="543199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21877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169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Image 3" descr="Screen Shot 2012-11-28 at 9.30.4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81000"/>
            <a:ext cx="8286941" cy="3085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3" descr="Screen Shot 2012-11-28 at 9.30.50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581400"/>
            <a:ext cx="7467600" cy="297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3170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000" dirty="0"/>
              <a:t>If the </a:t>
            </a:r>
            <a:r>
              <a:rPr lang="en-US" sz="3000" b="1" dirty="0">
                <a:solidFill>
                  <a:srgbClr val="D20000"/>
                </a:solidFill>
              </a:rPr>
              <a:t>member functions </a:t>
            </a:r>
            <a:r>
              <a:rPr lang="en-US" sz="3000" dirty="0"/>
              <a:t>are </a:t>
            </a:r>
            <a:r>
              <a:rPr lang="en-US" sz="3000" b="1" dirty="0"/>
              <a:t>defined</a:t>
            </a:r>
            <a:r>
              <a:rPr lang="en-US" sz="3000" dirty="0"/>
              <a:t> </a:t>
            </a:r>
            <a:r>
              <a:rPr lang="en-US" sz="3000" b="1" dirty="0">
                <a:solidFill>
                  <a:srgbClr val="2C14DE"/>
                </a:solidFill>
              </a:rPr>
              <a:t>externally </a:t>
            </a:r>
            <a:r>
              <a:rPr lang="en-US" sz="3000" dirty="0"/>
              <a:t>(</a:t>
            </a:r>
            <a:r>
              <a:rPr lang="en-US" sz="3000" b="1" dirty="0"/>
              <a:t>outside of the class specification</a:t>
            </a:r>
            <a:r>
              <a:rPr lang="en-US" sz="3000" dirty="0"/>
              <a:t>), we </a:t>
            </a:r>
            <a:r>
              <a:rPr lang="en-US" sz="3000" b="1" dirty="0">
                <a:solidFill>
                  <a:srgbClr val="2C14DE"/>
                </a:solidFill>
              </a:rPr>
              <a:t>need a new syntax</a:t>
            </a:r>
            <a:r>
              <a:rPr lang="en-US" sz="3000" dirty="0"/>
              <a:t>.</a:t>
            </a:r>
          </a:p>
          <a:p>
            <a:pPr algn="just"/>
            <a:endParaRPr lang="en-US" sz="3000" dirty="0"/>
          </a:p>
          <a:p>
            <a:pPr algn="just"/>
            <a:endParaRPr lang="en-US" sz="3000" dirty="0"/>
          </a:p>
          <a:p>
            <a:pPr algn="just"/>
            <a:r>
              <a:rPr lang="en-US" sz="3000" dirty="0"/>
              <a:t>The expression </a:t>
            </a:r>
            <a:r>
              <a:rPr lang="en-US" sz="3000" b="1" dirty="0">
                <a:solidFill>
                  <a:srgbClr val="D20000"/>
                </a:solidFill>
              </a:rPr>
              <a:t>template&lt;class Type&gt; </a:t>
            </a:r>
            <a:r>
              <a:rPr lang="en-US" sz="3000" dirty="0"/>
              <a:t>must </a:t>
            </a:r>
            <a:r>
              <a:rPr lang="en-US" sz="3000" b="1" dirty="0">
                <a:solidFill>
                  <a:srgbClr val="2C14DE"/>
                </a:solidFill>
              </a:rPr>
              <a:t>precede</a:t>
            </a:r>
            <a:r>
              <a:rPr lang="en-US" sz="3000" b="1" dirty="0"/>
              <a:t> </a:t>
            </a:r>
            <a:r>
              <a:rPr lang="en-US" sz="3000" b="1" dirty="0">
                <a:solidFill>
                  <a:srgbClr val="2C14DE"/>
                </a:solidFill>
              </a:rPr>
              <a:t>not only </a:t>
            </a:r>
            <a:r>
              <a:rPr lang="en-US" sz="3000" b="1" dirty="0"/>
              <a:t>the</a:t>
            </a:r>
            <a:r>
              <a:rPr lang="en-US" sz="3000" b="1" dirty="0">
                <a:solidFill>
                  <a:srgbClr val="2C14DE"/>
                </a:solidFill>
              </a:rPr>
              <a:t> class definition</a:t>
            </a:r>
            <a:r>
              <a:rPr lang="en-US" sz="3000" dirty="0"/>
              <a:t>, but </a:t>
            </a:r>
            <a:r>
              <a:rPr lang="en-US" sz="3000" b="1" i="1" dirty="0"/>
              <a:t>each externally defined member function as well</a:t>
            </a:r>
            <a:r>
              <a:rPr lang="en-US" sz="3000" dirty="0"/>
              <a:t>. </a:t>
            </a:r>
          </a:p>
          <a:p>
            <a:r>
              <a:rPr lang="en-US" dirty="0"/>
              <a:t> </a:t>
            </a:r>
          </a:p>
          <a:p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21877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Image 3" descr="Screen Shot 2012-11-28 at 9.33.0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1371600"/>
            <a:ext cx="4953001" cy="174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1877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78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1447800"/>
            <a:ext cx="9067800" cy="5105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>
          <a:xfrm>
            <a:off x="21877" y="0"/>
            <a:ext cx="9103259" cy="914400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D20000"/>
                </a:solidFill>
              </a:rPr>
              <a:t>General form of class template declaration</a:t>
            </a: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381000" y="1524000"/>
            <a:ext cx="81534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1" dirty="0">
                <a:latin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</a:rPr>
              <a:t>template &lt;</a:t>
            </a:r>
            <a:r>
              <a:rPr lang="en-US" sz="2000" b="1" u="sng" dirty="0" err="1">
                <a:solidFill>
                  <a:srgbClr val="2C14DE"/>
                </a:solidFill>
                <a:latin typeface="Courier New" panose="02070309020205020404" pitchFamily="49" charset="0"/>
              </a:rPr>
              <a:t>typename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</a:rPr>
              <a:t> </a:t>
            </a:r>
            <a:r>
              <a:rPr lang="en-US" sz="2000" b="1" i="1" dirty="0" err="1">
                <a:solidFill>
                  <a:srgbClr val="2C14DE"/>
                </a:solidFill>
                <a:latin typeface="Courier New" panose="02070309020205020404" pitchFamily="49" charset="0"/>
              </a:rPr>
              <a:t>TypeParam</a:t>
            </a:r>
            <a:r>
              <a:rPr lang="en-US" sz="2000" dirty="0">
                <a:solidFill>
                  <a:srgbClr val="2C14DE"/>
                </a:solidFill>
                <a:latin typeface="Times New Roman MT Extra Bold" pitchFamily="18" charset="0"/>
              </a:rPr>
              <a:t>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</a:rPr>
              <a:t>&gt;</a:t>
            </a:r>
            <a:r>
              <a:rPr lang="en-US" sz="2000" dirty="0">
                <a:solidFill>
                  <a:srgbClr val="2C14DE"/>
                </a:solidFill>
                <a:latin typeface="Times New Roman MT Extra Bold" pitchFamily="18" charset="0"/>
              </a:rPr>
              <a:t>  or  </a:t>
            </a:r>
            <a:br>
              <a:rPr lang="en-US" sz="2000" dirty="0">
                <a:solidFill>
                  <a:srgbClr val="2C14DE"/>
                </a:solidFill>
                <a:latin typeface="Times New Roman MT Extra Bold" pitchFamily="18" charset="0"/>
              </a:rPr>
            </a:br>
            <a:r>
              <a:rPr lang="en-US" sz="2000" dirty="0">
                <a:solidFill>
                  <a:srgbClr val="2C14DE"/>
                </a:solidFill>
                <a:latin typeface="Times New Roman MT Extra Bold" pitchFamily="18" charset="0"/>
              </a:rPr>
              <a:t>                                     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</a:rPr>
              <a:t>template &lt;</a:t>
            </a:r>
            <a:r>
              <a:rPr lang="en-US" sz="2000" b="1" u="sng" dirty="0">
                <a:solidFill>
                  <a:srgbClr val="2C14DE"/>
                </a:solidFill>
                <a:latin typeface="Courier New" panose="02070309020205020404" pitchFamily="49" charset="0"/>
              </a:rPr>
              <a:t>class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</a:rPr>
              <a:t> </a:t>
            </a:r>
            <a:r>
              <a:rPr lang="en-US" sz="2000" b="1" i="1" dirty="0" err="1">
                <a:solidFill>
                  <a:srgbClr val="2C14DE"/>
                </a:solidFill>
                <a:latin typeface="Courier New" panose="02070309020205020404" pitchFamily="49" charset="0"/>
              </a:rPr>
              <a:t>TypeParam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</a:rPr>
              <a:t>&gt;</a:t>
            </a:r>
            <a:b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</a:rPr>
              <a:t>  class </a:t>
            </a:r>
            <a:r>
              <a:rPr lang="en-US" sz="2000" b="1" i="1" dirty="0" err="1">
                <a:latin typeface="Courier New" panose="02070309020205020404" pitchFamily="49" charset="0"/>
              </a:rPr>
              <a:t>SomeClass</a:t>
            </a:r>
            <a:r>
              <a:rPr lang="en-US" sz="2000" b="1" i="1" dirty="0">
                <a:latin typeface="Courier New" panose="02070309020205020404" pitchFamily="49" charset="0"/>
              </a:rPr>
              <a:t/>
            </a:r>
            <a:br>
              <a:rPr lang="en-US" sz="2000" b="1" i="1" dirty="0">
                <a:latin typeface="Courier New" panose="02070309020205020404" pitchFamily="49" charset="0"/>
              </a:rPr>
            </a:br>
            <a:r>
              <a:rPr lang="en-US" sz="2000" b="1" i="1" dirty="0">
                <a:latin typeface="Courier New" panose="02070309020205020404" pitchFamily="49" charset="0"/>
              </a:rPr>
              <a:t>  </a:t>
            </a:r>
            <a:r>
              <a:rPr lang="en-US" sz="2000" b="1" dirty="0">
                <a:latin typeface="Courier New" panose="02070309020205020404" pitchFamily="49" charset="0"/>
              </a:rPr>
              <a:t>{</a:t>
            </a:r>
            <a:br>
              <a:rPr lang="en-US" sz="2000" b="1" dirty="0">
                <a:latin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</a:rPr>
              <a:t>  	// ... members of </a:t>
            </a:r>
            <a:r>
              <a:rPr lang="en-US" sz="2000" b="1" i="1" dirty="0" err="1">
                <a:latin typeface="Courier New" panose="02070309020205020404" pitchFamily="49" charset="0"/>
              </a:rPr>
              <a:t>SomeClass</a:t>
            </a:r>
            <a:r>
              <a:rPr lang="en-US" sz="2000" b="1" dirty="0">
                <a:latin typeface="Courier New" panose="02070309020205020404" pitchFamily="49" charset="0"/>
              </a:rPr>
              <a:t> ...</a:t>
            </a:r>
            <a:br>
              <a:rPr lang="en-US" sz="2000" b="1" dirty="0">
                <a:latin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</a:rPr>
              <a:t>  };</a:t>
            </a:r>
            <a:br>
              <a:rPr lang="en-US" sz="2000" b="1" dirty="0">
                <a:latin typeface="Courier New" panose="02070309020205020404" pitchFamily="49" charset="0"/>
              </a:rPr>
            </a:br>
            <a:endParaRPr lang="en-US" sz="2400" dirty="0">
              <a:latin typeface="Times New Roman MT Extra Bold" pitchFamily="18" charset="0"/>
            </a:endParaRPr>
          </a:p>
          <a:p>
            <a:pPr lvl="2" eaLnBrk="1" hangingPunct="1"/>
            <a:r>
              <a:rPr lang="en-US" sz="2400" b="1" u="sng" dirty="0">
                <a:latin typeface="Times New Roman MT Extra Bold" pitchFamily="18" charset="0"/>
              </a:rPr>
              <a:t>More than one type parameter may be specified</a:t>
            </a:r>
            <a:r>
              <a:rPr lang="en-US" sz="2400" dirty="0">
                <a:latin typeface="Times New Roman MT Extra Bold" pitchFamily="18" charset="0"/>
              </a:rPr>
              <a:t>:</a:t>
            </a:r>
            <a:br>
              <a:rPr lang="en-US" sz="2400" dirty="0">
                <a:latin typeface="Times New Roman MT Extra Bold" pitchFamily="18" charset="0"/>
              </a:rPr>
            </a:br>
            <a:r>
              <a:rPr lang="en-US" sz="2000" dirty="0">
                <a:latin typeface="Times New Roman MT Extra Bold" pitchFamily="18" charset="0"/>
              </a:rPr>
              <a:t/>
            </a:r>
            <a:br>
              <a:rPr lang="en-US" sz="2000" dirty="0">
                <a:latin typeface="Times New Roman MT Extra Bold" pitchFamily="18" charset="0"/>
              </a:rPr>
            </a:b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</a:rPr>
              <a:t>template &lt;</a:t>
            </a:r>
            <a:r>
              <a:rPr lang="en-US" sz="2000" b="1" u="sng" dirty="0" err="1">
                <a:solidFill>
                  <a:srgbClr val="2C14DE"/>
                </a:solidFill>
                <a:latin typeface="Courier New" panose="02070309020205020404" pitchFamily="49" charset="0"/>
              </a:rPr>
              <a:t>typename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</a:rPr>
              <a:t> </a:t>
            </a:r>
            <a:r>
              <a:rPr lang="en-US" sz="2000" b="1" i="1" dirty="0">
                <a:solidFill>
                  <a:srgbClr val="2C14DE"/>
                </a:solidFill>
                <a:latin typeface="Courier New" panose="02070309020205020404" pitchFamily="49" charset="0"/>
              </a:rPr>
              <a:t>TypeParam</a:t>
            </a:r>
            <a:r>
              <a:rPr lang="en-US" sz="2000" b="1" baseline="-25000" dirty="0">
                <a:solidFill>
                  <a:srgbClr val="2C14DE"/>
                </a:solidFill>
                <a:latin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</a:rPr>
              <a:t>,...,</a:t>
            </a:r>
            <a:b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</a:rPr>
              <a:t>          </a:t>
            </a:r>
            <a:r>
              <a:rPr lang="en-US" sz="2000" b="1" u="sng" dirty="0" err="1">
                <a:solidFill>
                  <a:srgbClr val="2C14DE"/>
                </a:solidFill>
                <a:latin typeface="Courier New" panose="02070309020205020404" pitchFamily="49" charset="0"/>
              </a:rPr>
              <a:t>typename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</a:rPr>
              <a:t> </a:t>
            </a:r>
            <a:r>
              <a:rPr lang="en-US" sz="2000" b="1" i="1" dirty="0" err="1">
                <a:solidFill>
                  <a:srgbClr val="2C14DE"/>
                </a:solidFill>
                <a:latin typeface="Courier New" panose="02070309020205020404" pitchFamily="49" charset="0"/>
              </a:rPr>
              <a:t>TypeParam</a:t>
            </a:r>
            <a:r>
              <a:rPr lang="en-US" sz="2000" b="1" i="1" baseline="-25000" dirty="0" err="1">
                <a:solidFill>
                  <a:srgbClr val="2C14DE"/>
                </a:solidFill>
                <a:latin typeface="Courier New" panose="02070309020205020404" pitchFamily="49" charset="0"/>
              </a:rPr>
              <a:t>n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</a:rPr>
              <a:t>&gt;</a:t>
            </a:r>
            <a:b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</a:rPr>
              <a:t>class </a:t>
            </a:r>
            <a:r>
              <a:rPr lang="en-US" sz="2000" b="1" i="1" dirty="0" err="1">
                <a:latin typeface="Courier New" panose="02070309020205020404" pitchFamily="49" charset="0"/>
              </a:rPr>
              <a:t>SomeClass</a:t>
            </a:r>
            <a:r>
              <a:rPr lang="en-US" sz="2000" b="1" i="1" dirty="0">
                <a:latin typeface="Courier New" panose="02070309020205020404" pitchFamily="49" charset="0"/>
              </a:rPr>
              <a:t/>
            </a:r>
            <a:br>
              <a:rPr lang="en-US" sz="2000" b="1" i="1" dirty="0">
                <a:latin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</a:rPr>
              <a:t>{</a:t>
            </a:r>
            <a:br>
              <a:rPr lang="en-US" sz="2000" b="1" dirty="0">
                <a:latin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</a:rPr>
              <a:t>	// ... members of </a:t>
            </a:r>
            <a:r>
              <a:rPr lang="en-US" sz="2000" b="1" i="1" dirty="0" err="1">
                <a:latin typeface="Courier New" panose="02070309020205020404" pitchFamily="49" charset="0"/>
              </a:rPr>
              <a:t>SomeClass</a:t>
            </a:r>
            <a:r>
              <a:rPr lang="en-US" sz="2000" b="1" dirty="0">
                <a:latin typeface="Courier New" panose="02070309020205020404" pitchFamily="49" charset="0"/>
              </a:rPr>
              <a:t> ...</a:t>
            </a:r>
            <a:br>
              <a:rPr lang="en-US" sz="2000" b="1" dirty="0">
                <a:latin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</a:rPr>
              <a:t>};</a:t>
            </a:r>
            <a:endParaRPr lang="en-US" sz="2400" b="1" dirty="0">
              <a:latin typeface="Courier New" panose="02070309020205020404" pitchFamily="49" charset="0"/>
            </a:endParaRPr>
          </a:p>
        </p:txBody>
      </p:sp>
      <p:sp>
        <p:nvSpPr>
          <p:cNvPr id="25605" name="AutoShape 5"/>
          <p:cNvSpPr>
            <a:spLocks noChangeArrowheads="1"/>
          </p:cNvSpPr>
          <p:nvPr/>
        </p:nvSpPr>
        <p:spPr bwMode="auto">
          <a:xfrm>
            <a:off x="7162800" y="4343400"/>
            <a:ext cx="1752600" cy="1143000"/>
          </a:xfrm>
          <a:prstGeom prst="wedgeRoundRectCallout">
            <a:avLst>
              <a:gd name="adj1" fmla="val -123644"/>
              <a:gd name="adj2" fmla="val -26389"/>
              <a:gd name="adj3" fmla="val 16667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000"/>
              <a:t>Can also be set to a default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21877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21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399" y="0"/>
            <a:ext cx="8175277" cy="914400"/>
          </a:xfrm>
        </p:spPr>
        <p:txBody>
          <a:bodyPr/>
          <a:lstStyle/>
          <a:p>
            <a:r>
              <a:rPr lang="en-US" b="1" dirty="0">
                <a:solidFill>
                  <a:srgbClr val="B80000"/>
                </a:solidFill>
              </a:rPr>
              <a:t>Instantiating class templates</a:t>
            </a:r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152400" y="1066800"/>
            <a:ext cx="8896066" cy="435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latin typeface="Times New Roman MT Extra Bold" pitchFamily="18" charset="0"/>
              </a:rPr>
              <a:t>To use a class template in a program/function/library:</a:t>
            </a:r>
            <a:br>
              <a:rPr lang="en-US" sz="2400" dirty="0">
                <a:latin typeface="Times New Roman MT Extra Bold" pitchFamily="18" charset="0"/>
              </a:rPr>
            </a:br>
            <a:r>
              <a:rPr lang="en-US" sz="1100" dirty="0">
                <a:latin typeface="Times New Roman MT Extra Bold" pitchFamily="18" charset="0"/>
              </a:rPr>
              <a:t/>
            </a:r>
            <a:br>
              <a:rPr lang="en-US" sz="1100" dirty="0">
                <a:latin typeface="Times New Roman MT Extra Bold" pitchFamily="18" charset="0"/>
              </a:rPr>
            </a:br>
            <a:r>
              <a:rPr lang="en-US" sz="2400" i="1" dirty="0">
                <a:latin typeface="Times New Roman MT Extra Bold" pitchFamily="18" charset="0"/>
              </a:rPr>
              <a:t>Instantiate it by using a declaration of the form</a:t>
            </a:r>
            <a:br>
              <a:rPr lang="en-US" sz="2400" i="1" dirty="0">
                <a:latin typeface="Times New Roman MT Extra Bold" pitchFamily="18" charset="0"/>
              </a:rPr>
            </a:br>
            <a:r>
              <a:rPr lang="en-US" sz="700" i="1" dirty="0">
                <a:latin typeface="Times New Roman MT Extra Bold" pitchFamily="18" charset="0"/>
              </a:rPr>
              <a:t/>
            </a:r>
            <a:br>
              <a:rPr lang="en-US" sz="700" i="1" dirty="0">
                <a:latin typeface="Times New Roman MT Extra Bold" pitchFamily="18" charset="0"/>
              </a:rPr>
            </a:br>
            <a:r>
              <a:rPr lang="en-US" sz="2400" i="1" dirty="0">
                <a:latin typeface="Times New Roman MT Extra Bold" pitchFamily="18" charset="0"/>
              </a:rPr>
              <a:t>	</a:t>
            </a:r>
            <a:r>
              <a:rPr lang="en-US" sz="2400" b="1" dirty="0" err="1">
                <a:solidFill>
                  <a:srgbClr val="CC6600"/>
                </a:solidFill>
                <a:latin typeface="Courier New" pitchFamily="49" charset="0"/>
              </a:rPr>
              <a:t>ClassName</a:t>
            </a:r>
            <a:r>
              <a:rPr lang="en-US" sz="2400" b="1" dirty="0">
                <a:solidFill>
                  <a:srgbClr val="CC6600"/>
                </a:solidFill>
                <a:latin typeface="Courier New" pitchFamily="49" charset="0"/>
              </a:rPr>
              <a:t>&lt;Type&gt; object;</a:t>
            </a:r>
            <a:r>
              <a:rPr lang="en-US" sz="2400" b="1" u="sng" dirty="0">
                <a:solidFill>
                  <a:srgbClr val="CC6600"/>
                </a:solidFill>
                <a:latin typeface="Times New Roman MT Extra Bold" pitchFamily="18" charset="0"/>
              </a:rPr>
              <a:t/>
            </a:r>
            <a:br>
              <a:rPr lang="en-US" sz="2400" b="1" u="sng" dirty="0">
                <a:solidFill>
                  <a:srgbClr val="CC6600"/>
                </a:solidFill>
                <a:latin typeface="Times New Roman MT Extra Bold" pitchFamily="18" charset="0"/>
              </a:rPr>
            </a:br>
            <a:r>
              <a:rPr lang="en-US" sz="700" b="1" u="sng" dirty="0">
                <a:solidFill>
                  <a:srgbClr val="FF0000"/>
                </a:solidFill>
                <a:latin typeface="Times New Roman MT Extra Bold" pitchFamily="18" charset="0"/>
              </a:rPr>
              <a:t/>
            </a:r>
            <a:br>
              <a:rPr lang="en-US" sz="700" b="1" u="sng" dirty="0">
                <a:solidFill>
                  <a:srgbClr val="FF0000"/>
                </a:solidFill>
                <a:latin typeface="Times New Roman MT Extra Bold" pitchFamily="18" charset="0"/>
              </a:rPr>
            </a:br>
            <a:r>
              <a:rPr lang="en-US" sz="2400" dirty="0">
                <a:latin typeface="Times New Roman MT Extra Bold" pitchFamily="18" charset="0"/>
              </a:rPr>
              <a:t>to </a:t>
            </a:r>
            <a:r>
              <a:rPr lang="en-US" sz="2400" b="1" dirty="0">
                <a:solidFill>
                  <a:srgbClr val="FF0000"/>
                </a:solidFill>
                <a:latin typeface="Times New Roman MT Extra Bold" pitchFamily="18" charset="0"/>
              </a:rPr>
              <a:t>pass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Type</a:t>
            </a:r>
            <a:r>
              <a:rPr lang="en-US" sz="2400" b="1" dirty="0">
                <a:solidFill>
                  <a:srgbClr val="FF0000"/>
                </a:solidFill>
                <a:latin typeface="Times New Roman MT Extra Bold" pitchFamily="18" charset="0"/>
              </a:rPr>
              <a:t>  as an argument</a:t>
            </a:r>
            <a:r>
              <a:rPr lang="en-US" sz="2400" dirty="0">
                <a:latin typeface="Times New Roman MT Extra Bold" pitchFamily="18" charset="0"/>
              </a:rPr>
              <a:t> to the class template definition.</a:t>
            </a:r>
          </a:p>
          <a:p>
            <a:pPr>
              <a:spcBef>
                <a:spcPct val="50000"/>
              </a:spcBef>
              <a:defRPr/>
            </a:pPr>
            <a:r>
              <a:rPr lang="en-US" sz="2400" dirty="0">
                <a:latin typeface="Times New Roman MT Extra Bold" pitchFamily="18" charset="0"/>
              </a:rPr>
              <a:t>Examples: </a:t>
            </a:r>
          </a:p>
          <a:p>
            <a:pPr>
              <a:spcBef>
                <a:spcPct val="50000"/>
              </a:spcBef>
              <a:defRPr/>
            </a:pP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	Stack&lt;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</a:rPr>
              <a:t>int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&gt;    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</a:rPr>
              <a:t>intSt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	Stack&lt;string&gt; 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</a:rPr>
              <a:t>stringSt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;</a:t>
            </a:r>
            <a:endParaRPr lang="en-US" sz="2400" dirty="0">
              <a:latin typeface="Times New Roman MT Extra Bold" pitchFamily="18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en-US" sz="2400" dirty="0">
                <a:latin typeface="Times New Roman MT Extra Bold" pitchFamily="18" charset="0"/>
              </a:rPr>
              <a:t>Compiler will generate </a:t>
            </a:r>
            <a:r>
              <a:rPr lang="en-US" sz="2400" b="1" dirty="0">
                <a:solidFill>
                  <a:srgbClr val="FF0000"/>
                </a:solidFill>
                <a:latin typeface="Times New Roman MT Extra Bold" pitchFamily="18" charset="0"/>
              </a:rPr>
              <a:t>two distinct definitions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 MT Extra Bold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 MT Extra Bold" pitchFamily="18" charset="0"/>
              </a:rPr>
              <a:t>of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 MT Extra Bold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Stack</a:t>
            </a:r>
            <a:r>
              <a:rPr lang="en-US" sz="2400" dirty="0">
                <a:latin typeface="Times New Roman MT Extra Bold" pitchFamily="18" charset="0"/>
              </a:rPr>
              <a:t> </a:t>
            </a:r>
            <a:br>
              <a:rPr lang="en-US" sz="2400" dirty="0">
                <a:latin typeface="Times New Roman MT Extra Bold" pitchFamily="18" charset="0"/>
              </a:rPr>
            </a:br>
            <a:r>
              <a:rPr lang="en-US" sz="2400" dirty="0">
                <a:latin typeface="Times New Roman MT Extra Bold" pitchFamily="18" charset="0"/>
              </a:rPr>
              <a:t>— two </a:t>
            </a:r>
            <a:r>
              <a:rPr lang="en-US" sz="2400" b="1" dirty="0">
                <a:solidFill>
                  <a:srgbClr val="FF0000"/>
                </a:solidFill>
                <a:latin typeface="Times New Roman MT Extra Bold" pitchFamily="18" charset="0"/>
              </a:rPr>
              <a:t>instances</a:t>
            </a:r>
            <a:r>
              <a:rPr lang="en-US" sz="2400" dirty="0">
                <a:latin typeface="Times New Roman MT Extra Bold" pitchFamily="18" charset="0"/>
              </a:rPr>
              <a:t> — one for </a:t>
            </a:r>
            <a:r>
              <a:rPr lang="en-US" sz="2400" b="1" dirty="0" err="1" smtClean="0">
                <a:latin typeface="Courier New" pitchFamily="49" charset="0"/>
              </a:rPr>
              <a:t>int</a:t>
            </a:r>
            <a:r>
              <a:rPr lang="en-US" sz="2400" dirty="0" err="1" smtClean="0">
                <a:latin typeface="Times New Roman MT Extra Bold" pitchFamily="18" charset="0"/>
              </a:rPr>
              <a:t>st</a:t>
            </a:r>
            <a:r>
              <a:rPr lang="en-US" sz="2400" dirty="0" smtClean="0">
                <a:latin typeface="Times New Roman MT Extra Bold" pitchFamily="18" charset="0"/>
              </a:rPr>
              <a:t> </a:t>
            </a:r>
            <a:r>
              <a:rPr lang="en-US" sz="2400" dirty="0">
                <a:latin typeface="Times New Roman MT Extra Bold" pitchFamily="18" charset="0"/>
              </a:rPr>
              <a:t>and one for </a:t>
            </a:r>
            <a:r>
              <a:rPr lang="en-US" sz="2400" b="1" dirty="0" err="1" smtClean="0">
                <a:latin typeface="Courier New" pitchFamily="49" charset="0"/>
              </a:rPr>
              <a:t>string</a:t>
            </a:r>
            <a:r>
              <a:rPr lang="en-US" sz="2400" dirty="0" err="1" smtClean="0">
                <a:latin typeface="Times New Roman MT Extra Bold" pitchFamily="18" charset="0"/>
              </a:rPr>
              <a:t>st</a:t>
            </a:r>
            <a:r>
              <a:rPr lang="en-US" sz="2400" dirty="0" smtClean="0">
                <a:latin typeface="Times New Roman MT Extra Bold" pitchFamily="18" charset="0"/>
              </a:rPr>
              <a:t>.</a:t>
            </a:r>
            <a:endParaRPr lang="en-US" sz="2400" dirty="0">
              <a:latin typeface="Times New Roman MT Extra Bold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877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0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0B84D72-8880-427F-BBAB-3CB6C1944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0"/>
            <a:ext cx="4133850" cy="1524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F2A08F9-3A32-47C4-8128-BF43CFA8F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0"/>
            <a:ext cx="2895600" cy="990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35EE287-03BC-4ADA-8BFC-2E13F2BC8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308" y="2209800"/>
            <a:ext cx="6353908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194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39022B8-CB8A-4457-BB04-3AEB638A4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28600"/>
            <a:ext cx="1219200" cy="4259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837E5BD-5465-4F57-A6E7-027D487CF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235486"/>
            <a:ext cx="1752600" cy="419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CC8D80B-5A2F-492E-8D2D-54D683CAD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219200"/>
            <a:ext cx="7010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184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3DB4762-C03C-4C3A-9029-F023AA0EC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62" y="25791"/>
            <a:ext cx="5017038" cy="21840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3B8CB88F-149F-405C-A7C4-07951F199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95525"/>
            <a:ext cx="655320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938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3391</TotalTime>
  <Words>501</Words>
  <Application>Microsoft Office PowerPoint</Application>
  <PresentationFormat>On-screen Show (4:3)</PresentationFormat>
  <Paragraphs>125</Paragraphs>
  <Slides>27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ＭＳ Ｐゴシック</vt:lpstr>
      <vt:lpstr>Arial</vt:lpstr>
      <vt:lpstr>Calibri</vt:lpstr>
      <vt:lpstr>Consolas</vt:lpstr>
      <vt:lpstr>Courier New</vt:lpstr>
      <vt:lpstr>Times New Roman</vt:lpstr>
      <vt:lpstr>Times New Roman MT Extra Bold</vt:lpstr>
      <vt:lpstr>Office Theme</vt:lpstr>
      <vt:lpstr>Introduction to Templates  </vt:lpstr>
      <vt:lpstr>Functions</vt:lpstr>
      <vt:lpstr>General Solution</vt:lpstr>
      <vt:lpstr>But not for doubles…</vt:lpstr>
      <vt:lpstr>And for strings…</vt:lpstr>
      <vt:lpstr>What about User Defined Types?</vt:lpstr>
      <vt:lpstr>Observations:</vt:lpstr>
      <vt:lpstr>Template Mechanism</vt:lpstr>
      <vt:lpstr>Template Mechanism Comments</vt:lpstr>
      <vt:lpstr>How is a Template Used?</vt:lpstr>
      <vt:lpstr>General Form of Template</vt:lpstr>
      <vt:lpstr>Another Example</vt:lpstr>
      <vt:lpstr>PowerPoint Presentation</vt:lpstr>
      <vt:lpstr>Template Instantiation</vt:lpstr>
      <vt:lpstr>Class Templates</vt:lpstr>
      <vt:lpstr>Examples - Stack</vt:lpstr>
      <vt:lpstr>Integer Stack …</vt:lpstr>
      <vt:lpstr>Long Stack …</vt:lpstr>
      <vt:lpstr>PowerPoint Presentation</vt:lpstr>
      <vt:lpstr>PowerPoint Presentation</vt:lpstr>
      <vt:lpstr>PowerPoint Presentation</vt:lpstr>
      <vt:lpstr>PowerPoint Presentation</vt:lpstr>
      <vt:lpstr>General form of class template declaration</vt:lpstr>
      <vt:lpstr>Instantiating class templates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Microsoft account</cp:lastModifiedBy>
  <cp:revision>468</cp:revision>
  <dcterms:created xsi:type="dcterms:W3CDTF">2012-08-28T12:59:58Z</dcterms:created>
  <dcterms:modified xsi:type="dcterms:W3CDTF">2024-12-23T09:45:28Z</dcterms:modified>
</cp:coreProperties>
</file>
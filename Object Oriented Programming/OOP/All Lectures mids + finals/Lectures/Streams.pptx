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8"/>
  </p:notesMasterIdLst>
  <p:sldIdLst>
    <p:sldId id="256" r:id="rId3"/>
    <p:sldId id="346" r:id="rId4"/>
    <p:sldId id="347" r:id="rId5"/>
    <p:sldId id="348" r:id="rId6"/>
    <p:sldId id="349" r:id="rId7"/>
    <p:sldId id="350" r:id="rId8"/>
    <p:sldId id="351" r:id="rId9"/>
    <p:sldId id="352" r:id="rId10"/>
    <p:sldId id="353" r:id="rId11"/>
    <p:sldId id="354" r:id="rId12"/>
    <p:sldId id="355" r:id="rId13"/>
    <p:sldId id="356" r:id="rId14"/>
    <p:sldId id="357" r:id="rId15"/>
    <p:sldId id="358" r:id="rId16"/>
    <p:sldId id="359" r:id="rId17"/>
    <p:sldId id="440" r:id="rId18"/>
    <p:sldId id="361" r:id="rId19"/>
    <p:sldId id="362" r:id="rId20"/>
    <p:sldId id="363" r:id="rId21"/>
    <p:sldId id="364" r:id="rId22"/>
    <p:sldId id="365" r:id="rId23"/>
    <p:sldId id="366" r:id="rId24"/>
    <p:sldId id="441" r:id="rId25"/>
    <p:sldId id="367" r:id="rId26"/>
    <p:sldId id="368" r:id="rId27"/>
  </p:sldIdLst>
  <p:sldSz cx="12192000" cy="6858000"/>
  <p:notesSz cx="6858000" cy="9144000"/>
  <p:defaultTextStyle>
    <a:defPPr>
      <a:defRPr lang="aa-E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871" autoAdjust="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0E2FD-A834-4CF0-B61E-CC68A2C3B2F6}" type="datetimeFigureOut">
              <a:rPr lang="aa-ET" smtClean="0"/>
              <a:t>30/12/2024</a:t>
            </a:fld>
            <a:endParaRPr lang="aa-E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a-E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a-E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4D47A8-8AE9-4B21-A639-7BE98C412734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594084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85FC15-40B4-45E5-86AE-2E64D22F0C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8125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3B2C6B-E8A8-45B6-A9FB-16F28B4238A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737411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2EE107-1962-49C4-A432-3973307FD17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00293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39A4CD-E32E-4F16-BE52-4B3183A8ECA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255981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EF5667-B5A2-4BF1-BAAC-12029BE71B5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279327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You must read the first data item before checking to see if it is the </a:t>
            </a:r>
            <a:r>
              <a:rPr lang="en-US" sz="1200" dirty="0" err="1"/>
              <a:t>eof</a:t>
            </a:r>
            <a:r>
              <a:rPr lang="en-US" sz="1200" dirty="0"/>
              <a:t>.</a:t>
            </a:r>
          </a:p>
          <a:p>
            <a:r>
              <a:rPr lang="en-US" sz="1200" dirty="0"/>
              <a:t>A while loop (pretest) will prevent trying to read data beyond the </a:t>
            </a:r>
            <a:r>
              <a:rPr lang="en-US" sz="1200" dirty="0" err="1"/>
              <a:t>eof</a:t>
            </a:r>
            <a:r>
              <a:rPr lang="en-US" sz="1200" dirty="0"/>
              <a:t> marker. (the first item could be </a:t>
            </a:r>
            <a:r>
              <a:rPr lang="en-US" sz="1200" dirty="0" err="1"/>
              <a:t>eof</a:t>
            </a:r>
            <a:r>
              <a:rPr lang="en-US" sz="1200" dirty="0"/>
              <a:t>, in an empty file.)</a:t>
            </a:r>
          </a:p>
          <a:p>
            <a:r>
              <a:rPr lang="en-US" sz="1200" dirty="0"/>
              <a:t>Don</a:t>
            </a:r>
            <a:r>
              <a:rPr lang="ja-JP" altLang="en-US" sz="1200" dirty="0"/>
              <a:t>’</a:t>
            </a:r>
            <a:r>
              <a:rPr lang="en-US" altLang="ja-JP" sz="1200" dirty="0"/>
              <a:t>t forget to read the data again inside the loop to update the Boolean expression and avoid infinite loops.</a:t>
            </a: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85FC15-40B4-45E5-86AE-2E64D22F0C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8611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6CEED5-D041-FA35-6A8E-0B07EA82F5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a-E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8E10336-D8D4-6D0A-8D7B-62C74EF97E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a-E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F75DE25-A639-D9BC-9C25-A92A2B65F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A5A0D-10FE-40A8-A196-AA263498FA89}" type="datetimeFigureOut">
              <a:rPr lang="aa-ET" smtClean="0"/>
              <a:t>30/12/2024</a:t>
            </a:fld>
            <a:endParaRPr lang="aa-E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7332793-54BA-A304-1E9C-740C43213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6A5DF4B-E8BD-DE34-E7A1-50EE8809B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09A25-1EC6-416D-8C1C-7198A21D5B82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021536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6D6406-8BFE-07EF-087A-649FD3D6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a-E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88E8B5F-AF7E-E1CA-A36F-B1DC1A2BC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a-E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160E59D-B4A5-6E63-670E-B67EC7982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A5A0D-10FE-40A8-A196-AA263498FA89}" type="datetimeFigureOut">
              <a:rPr lang="aa-ET" smtClean="0"/>
              <a:t>30/12/2024</a:t>
            </a:fld>
            <a:endParaRPr lang="aa-E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7569D20-46DC-3878-8392-A28B00EAC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5C084EF-557D-2882-3A64-1F88087F6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09A25-1EC6-416D-8C1C-7198A21D5B82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535813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B473CF9-DAC0-FB40-4712-471B2ED0C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a-E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C561469-035E-9BD5-EDFD-574B72449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117E084-C290-F84B-AFE7-975E25E49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A5A0D-10FE-40A8-A196-AA263498FA89}" type="datetimeFigureOut">
              <a:rPr lang="aa-ET" smtClean="0"/>
              <a:t>30/12/2024</a:t>
            </a:fld>
            <a:endParaRPr lang="aa-E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BEE13A2-2D4B-31E7-6CEE-5EDFF56C5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EEAA8F3-C6E3-1D50-8F30-7725BB23C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09A25-1EC6-416D-8C1C-7198A21D5B82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604606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C1817A-3996-30B4-918E-CD5027429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a-E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AE92523-C9CC-C047-32D7-8B3ABF3171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a-E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03F9A4D-2073-948E-89F6-EB1FE744E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a-E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A16C94E-AD14-C53E-5F64-8EE7783C6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A5A0D-10FE-40A8-A196-AA263498FA89}" type="datetimeFigureOut">
              <a:rPr lang="aa-ET" smtClean="0"/>
              <a:t>30/12/2024</a:t>
            </a:fld>
            <a:endParaRPr lang="aa-E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C433654-B08A-EE1A-214C-49CEB7DFC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ACD6F91-C272-78F7-BBBB-0A588C2E4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09A25-1EC6-416D-8C1C-7198A21D5B82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812494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A43C1E1-E00D-57B3-EB6E-F4DBA858B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a-E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3E7A2CF-1897-85E6-4793-75355E0B9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4A4DA84-63CE-5838-703D-773DB209C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a-E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129B20F-41FE-FDFD-16FD-C8517B626E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40031B2-E6B4-4488-F650-AEFC5D3E98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a-E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6C8EA9A2-FFA1-6C5F-F3E6-590CA484B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A5A0D-10FE-40A8-A196-AA263498FA89}" type="datetimeFigureOut">
              <a:rPr lang="aa-ET" smtClean="0"/>
              <a:t>30/12/2024</a:t>
            </a:fld>
            <a:endParaRPr lang="aa-E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7539CDE-275B-218E-CCC8-38342F8FC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E3597A4A-3A67-8729-5E24-FCEADC24D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09A25-1EC6-416D-8C1C-7198A21D5B82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62146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B221E4-0B6A-BD6A-F5C2-11ED8DA15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a-E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DBA15B0-1F2D-71C7-7ECD-6D12D3D3D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A5A0D-10FE-40A8-A196-AA263498FA89}" type="datetimeFigureOut">
              <a:rPr lang="aa-ET" smtClean="0"/>
              <a:t>30/12/2024</a:t>
            </a:fld>
            <a:endParaRPr lang="aa-E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679448C-8C9A-8CD3-C01D-A98139658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3D73533-1F14-2536-B54C-050E712B2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09A25-1EC6-416D-8C1C-7198A21D5B82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463925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8B62373-72A9-44D5-5CCA-1ACC1FC74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A5A0D-10FE-40A8-A196-AA263498FA89}" type="datetimeFigureOut">
              <a:rPr lang="aa-ET" smtClean="0"/>
              <a:t>30/12/2024</a:t>
            </a:fld>
            <a:endParaRPr lang="aa-E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F0597C51-88C3-7010-6BB3-F817033D1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6822C77-C8B8-C934-6D90-0D737AD0E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09A25-1EC6-416D-8C1C-7198A21D5B82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238495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271E2A-7EB2-DD7E-6A5C-ACCB8B2CA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a-E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3CAAC72-8945-8E0B-72FE-30075A183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a-E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A084264-3C82-DE4A-567C-6D2943238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126BFC2-7565-E9A0-67E9-BAF4D591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A5A0D-10FE-40A8-A196-AA263498FA89}" type="datetimeFigureOut">
              <a:rPr lang="aa-ET" smtClean="0"/>
              <a:t>30/12/2024</a:t>
            </a:fld>
            <a:endParaRPr lang="aa-E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39A75FA-4542-4D34-5379-FA8E4235E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9308B4E-178D-DAB0-3DC8-02BF223B6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09A25-1EC6-416D-8C1C-7198A21D5B82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742528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87A13A7-E77E-E7E5-1B45-F0CCD1321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a-E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FFAAA63-8EC1-5BF0-6DB6-39AB16D5F7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a-E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FE93783-DA8F-F845-CBDD-DBE3109D57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62AEC8C-0C7D-5627-CA96-CA7C9870D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A5A0D-10FE-40A8-A196-AA263498FA89}" type="datetimeFigureOut">
              <a:rPr lang="aa-ET" smtClean="0"/>
              <a:t>30/12/2024</a:t>
            </a:fld>
            <a:endParaRPr lang="aa-E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AF1093B-33F8-F151-36B5-B3507E0A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9B896E6-45D1-CB43-1E93-0F9CAF2AC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09A25-1EC6-416D-8C1C-7198A21D5B82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081113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214DDC-AC7E-98AD-9AE6-2F8DE0D39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a-E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CEC4C89-A8D9-8261-6D34-4F7B4D1A1F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a-E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DF164D8-02C9-3454-B66F-746793A02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A5A0D-10FE-40A8-A196-AA263498FA89}" type="datetimeFigureOut">
              <a:rPr lang="aa-ET" smtClean="0"/>
              <a:t>30/12/2024</a:t>
            </a:fld>
            <a:endParaRPr lang="aa-E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4118C71-056A-BAA3-D8F2-2D22ABE0F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22022DD-756F-52E5-8FC1-53565D477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09A25-1EC6-416D-8C1C-7198A21D5B82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696898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54D2F39-53AC-9FD5-BA57-117DA458FF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a-E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661FF87-0368-C7CA-BD2E-CFB208868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a-E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D50144F-6DF7-EED6-EC92-053CED5C2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A5A0D-10FE-40A8-A196-AA263498FA89}" type="datetimeFigureOut">
              <a:rPr lang="aa-ET" smtClean="0"/>
              <a:t>30/12/2024</a:t>
            </a:fld>
            <a:endParaRPr lang="aa-E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301C0AC-1EC3-E572-FF1D-89C1C5AB7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24238A7-C816-94F5-6C94-C9F5A6672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09A25-1EC6-416D-8C1C-7198A21D5B82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2583444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3978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"/>
            <a:ext cx="10871200" cy="8297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12192000" cy="563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02882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697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5380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1634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9310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343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4885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446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9689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5553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0" y="6511926"/>
            <a:ext cx="12192000" cy="346075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/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600" b="1">
                <a:solidFill>
                  <a:schemeClr val="accent2"/>
                </a:solidFill>
                <a:latin typeface="Arial" charset="0"/>
                <a:ea typeface="ＭＳ Ｐゴシック" charset="0"/>
              </a:rPr>
              <a:t>FAST, National University of Computer and Emerging Sciences, Islamabad</a:t>
            </a:r>
          </a:p>
        </p:txBody>
      </p:sp>
      <p:graphicFrame>
        <p:nvGraphicFramePr>
          <p:cNvPr id="5" name="Object 8"/>
          <p:cNvGraphicFramePr>
            <a:graphicFrameLocks noChangeAspect="1"/>
          </p:cNvGraphicFramePr>
          <p:nvPr/>
        </p:nvGraphicFramePr>
        <p:xfrm>
          <a:off x="101600" y="6505576"/>
          <a:ext cx="6350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r:id="rId3" imgW="71848" imgH="44334" progId="">
                  <p:embed/>
                </p:oleObj>
              </mc:Choice>
              <mc:Fallback>
                <p:oleObj r:id="rId3" imgW="71848" imgH="44334" progId="">
                  <p:embed/>
                  <p:pic>
                    <p:nvPicPr>
                      <p:cNvPr id="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00" y="6505576"/>
                        <a:ext cx="63500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0" y="0"/>
            <a:ext cx="12192000" cy="406400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/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 b="1" dirty="0">
                <a:solidFill>
                  <a:schemeClr val="accent2"/>
                </a:solidFill>
                <a:latin typeface="Arial" charset="0"/>
                <a:ea typeface="ＭＳ Ｐゴシック" charset="0"/>
              </a:rPr>
              <a:t>Lecture 19: Streams and Files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109728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04800" y="1447800"/>
            <a:ext cx="11277600" cy="49530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019BD9-D1E3-4BD1-A19A-A8A6B7E303D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526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4D53A61-056C-1CA8-150C-329A5E4E5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a-E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C306D67-2E5C-2E86-6E66-CCA898301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a-E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4AA5BE9-770A-EB07-AD86-2692997155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9A5A0D-10FE-40A8-A196-AA263498FA89}" type="datetimeFigureOut">
              <a:rPr lang="aa-ET" smtClean="0"/>
              <a:t>30/12/2024</a:t>
            </a:fld>
            <a:endParaRPr lang="aa-E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6DE64F1-50EC-FC47-DBDD-4779BA6591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a-E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36AB151-F417-CFD4-E9C9-8D6E6ECE95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A09A25-1EC6-416D-8C1C-7198A21D5B82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577185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a-E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0192B-E1F2-4D51-9245-C9CE8F612D86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38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83636" y="1882776"/>
            <a:ext cx="8991600" cy="162242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Stream I/O and File Processing</a:t>
            </a:r>
            <a:endParaRPr lang="en-US" sz="2600" dirty="0">
              <a:solidFill>
                <a:srgbClr val="C00000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A61D3661-5AF2-F310-85DC-D4A2FD65B902}"/>
              </a:ext>
            </a:extLst>
          </p:cNvPr>
          <p:cNvSpPr txBox="1">
            <a:spLocks/>
          </p:cNvSpPr>
          <p:nvPr/>
        </p:nvSpPr>
        <p:spPr>
          <a:xfrm>
            <a:off x="1676400" y="3962400"/>
            <a:ext cx="8915400" cy="2743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Department of Computer Science &amp; IT, </a:t>
            </a:r>
          </a:p>
          <a:p>
            <a:r>
              <a:rPr lang="en-US" sz="2800" dirty="0"/>
              <a:t>The University of Lahore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0"/>
            <a:ext cx="8229600" cy="10668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D20000"/>
                </a:solidFill>
              </a:rPr>
              <a:t>Interactive vs. Batch Processing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1676400" y="1219200"/>
            <a:ext cx="8839200" cy="5562600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</a:rPr>
              <a:t>Interactive Program</a:t>
            </a:r>
          </a:p>
          <a:p>
            <a:pPr lvl="1"/>
            <a:r>
              <a:rPr lang="en-US" dirty="0"/>
              <a:t>the </a:t>
            </a:r>
            <a:r>
              <a:rPr lang="en-US" b="1" dirty="0">
                <a:solidFill>
                  <a:srgbClr val="2C14DE"/>
                </a:solidFill>
              </a:rPr>
              <a:t>program halts</a:t>
            </a:r>
            <a:r>
              <a:rPr lang="en-US" dirty="0"/>
              <a:t>, and </a:t>
            </a:r>
            <a:r>
              <a:rPr lang="en-US" b="1" dirty="0">
                <a:solidFill>
                  <a:srgbClr val="2C14DE"/>
                </a:solidFill>
              </a:rPr>
              <a:t>waits </a:t>
            </a:r>
            <a:r>
              <a:rPr lang="en-US" dirty="0"/>
              <a:t>for a </a:t>
            </a:r>
            <a:r>
              <a:rPr lang="en-US" b="1" dirty="0">
                <a:solidFill>
                  <a:srgbClr val="2C14DE"/>
                </a:solidFill>
              </a:rPr>
              <a:t>user to enter data </a:t>
            </a:r>
            <a:r>
              <a:rPr lang="en-US" dirty="0"/>
              <a:t>from the keyboard, then proceeds...</a:t>
            </a:r>
          </a:p>
          <a:p>
            <a:pPr lvl="1"/>
            <a:endParaRPr lang="en-US" dirty="0"/>
          </a:p>
          <a:p>
            <a:r>
              <a:rPr lang="en-US" b="1" dirty="0">
                <a:solidFill>
                  <a:srgbClr val="D20000"/>
                </a:solidFill>
              </a:rPr>
              <a:t>Batch Processing Programs</a:t>
            </a:r>
          </a:p>
          <a:p>
            <a:pPr lvl="1"/>
            <a:r>
              <a:rPr lang="en-US" b="1" dirty="0">
                <a:solidFill>
                  <a:srgbClr val="2C14DE"/>
                </a:solidFill>
              </a:rPr>
              <a:t>Non-interactive</a:t>
            </a:r>
            <a:r>
              <a:rPr lang="en-US" dirty="0"/>
              <a:t> </a:t>
            </a:r>
            <a:r>
              <a:rPr lang="en-US" b="1" dirty="0"/>
              <a:t>input</a:t>
            </a:r>
            <a:r>
              <a:rPr lang="en-US" dirty="0"/>
              <a:t> and </a:t>
            </a:r>
            <a:r>
              <a:rPr lang="en-US" b="1" dirty="0"/>
              <a:t>output</a:t>
            </a:r>
          </a:p>
          <a:p>
            <a:pPr lvl="1"/>
            <a:r>
              <a:rPr lang="en-US" b="1" dirty="0"/>
              <a:t>User</a:t>
            </a:r>
            <a:r>
              <a:rPr lang="en-US" dirty="0"/>
              <a:t> and </a:t>
            </a:r>
            <a:r>
              <a:rPr lang="en-US" b="1" dirty="0"/>
              <a:t>computer</a:t>
            </a:r>
            <a:r>
              <a:rPr lang="en-US" dirty="0"/>
              <a:t> </a:t>
            </a:r>
            <a:r>
              <a:rPr lang="en-US" b="1" dirty="0">
                <a:solidFill>
                  <a:srgbClr val="2C14DE"/>
                </a:solidFill>
              </a:rPr>
              <a:t>do not interact </a:t>
            </a:r>
            <a:r>
              <a:rPr lang="en-US" dirty="0"/>
              <a:t>while the </a:t>
            </a:r>
            <a:r>
              <a:rPr lang="en-US" b="1" dirty="0"/>
              <a:t>program is running</a:t>
            </a:r>
          </a:p>
          <a:p>
            <a:pPr lvl="1"/>
            <a:r>
              <a:rPr lang="en-US" b="1" dirty="0">
                <a:solidFill>
                  <a:srgbClr val="2C14DE"/>
                </a:solidFill>
              </a:rPr>
              <a:t>Data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is </a:t>
            </a:r>
            <a:r>
              <a:rPr lang="en-US" b="1" dirty="0"/>
              <a:t>stored</a:t>
            </a:r>
            <a:r>
              <a:rPr lang="en-US" dirty="0"/>
              <a:t> as a </a:t>
            </a:r>
            <a:r>
              <a:rPr lang="en-US" b="1" dirty="0">
                <a:solidFill>
                  <a:srgbClr val="2C14DE"/>
                </a:solidFill>
              </a:rPr>
              <a:t>separate file </a:t>
            </a:r>
            <a:r>
              <a:rPr lang="en-US" dirty="0"/>
              <a:t>on a </a:t>
            </a:r>
            <a:r>
              <a:rPr lang="en-US" b="1" dirty="0"/>
              <a:t>disk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1563756" y="106680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841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0"/>
            <a:ext cx="8153400" cy="10668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D20000"/>
                </a:solidFill>
              </a:rPr>
              <a:t>What are FILEs in C/C++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63757" y="1219200"/>
            <a:ext cx="9048939" cy="5562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b="1" dirty="0">
                <a:solidFill>
                  <a:srgbClr val="D20000"/>
                </a:solidFill>
                <a:latin typeface="Trebuchet MS" panose="020B0603020202020204" pitchFamily="34" charset="0"/>
              </a:rPr>
              <a:t>Storage</a:t>
            </a:r>
            <a:r>
              <a:rPr lang="en-US" sz="2800" dirty="0">
                <a:solidFill>
                  <a:srgbClr val="D20000"/>
                </a:solidFill>
                <a:latin typeface="Trebuchet MS" panose="020B0603020202020204" pitchFamily="34" charset="0"/>
              </a:rPr>
              <a:t> </a:t>
            </a:r>
            <a:r>
              <a:rPr lang="en-US" sz="2800" dirty="0">
                <a:latin typeface="Trebuchet MS" panose="020B0603020202020204" pitchFamily="34" charset="0"/>
              </a:rPr>
              <a:t>of </a:t>
            </a:r>
            <a:r>
              <a:rPr lang="en-US" sz="2800" b="1" dirty="0">
                <a:solidFill>
                  <a:srgbClr val="D20000"/>
                </a:solidFill>
                <a:latin typeface="Trebuchet MS" panose="020B0603020202020204" pitchFamily="34" charset="0"/>
              </a:rPr>
              <a:t>information</a:t>
            </a:r>
            <a:r>
              <a:rPr lang="en-US" sz="2800" dirty="0">
                <a:solidFill>
                  <a:srgbClr val="D20000"/>
                </a:solidFill>
                <a:latin typeface="Trebuchet MS" panose="020B0603020202020204" pitchFamily="34" charset="0"/>
              </a:rPr>
              <a:t> </a:t>
            </a:r>
            <a:r>
              <a:rPr lang="en-US" sz="2800" dirty="0">
                <a:latin typeface="Trebuchet MS" panose="020B0603020202020204" pitchFamily="34" charset="0"/>
              </a:rPr>
              <a:t>in </a:t>
            </a:r>
            <a:r>
              <a:rPr lang="en-US" sz="2800" b="1" dirty="0">
                <a:solidFill>
                  <a:srgbClr val="2C14DE"/>
                </a:solidFill>
                <a:latin typeface="Trebuchet MS" panose="020B0603020202020204" pitchFamily="34" charset="0"/>
              </a:rPr>
              <a:t>variables/arrays</a:t>
            </a:r>
            <a:r>
              <a:rPr lang="en-US" sz="2800" dirty="0">
                <a:latin typeface="Trebuchet MS" panose="020B0603020202020204" pitchFamily="34" charset="0"/>
              </a:rPr>
              <a:t> or pointers is (</a:t>
            </a:r>
            <a:r>
              <a:rPr lang="en-US" sz="2800" b="1" dirty="0">
                <a:solidFill>
                  <a:srgbClr val="2C14DE"/>
                </a:solidFill>
                <a:latin typeface="Trebuchet MS" panose="020B0603020202020204" pitchFamily="34" charset="0"/>
              </a:rPr>
              <a:t>temporary</a:t>
            </a:r>
            <a:r>
              <a:rPr lang="en-US" sz="2800" dirty="0">
                <a:latin typeface="Trebuchet MS" panose="020B0603020202020204" pitchFamily="34" charset="0"/>
              </a:rPr>
              <a:t>).</a:t>
            </a:r>
          </a:p>
          <a:p>
            <a:pPr marL="0" indent="0">
              <a:lnSpc>
                <a:spcPct val="80000"/>
              </a:lnSpc>
              <a:buNone/>
            </a:pPr>
            <a:endParaRPr lang="en-US" sz="2800" dirty="0">
              <a:latin typeface="Trebuchet MS" panose="020B0603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800" b="1" dirty="0">
                <a:solidFill>
                  <a:srgbClr val="C00000"/>
                </a:solidFill>
                <a:latin typeface="Trebuchet MS" panose="020B0603020202020204" pitchFamily="34" charset="0"/>
              </a:rPr>
              <a:t>Files</a:t>
            </a:r>
            <a:r>
              <a:rPr lang="en-US" sz="2800" dirty="0">
                <a:latin typeface="Trebuchet MS" panose="020B0603020202020204" pitchFamily="34" charset="0"/>
              </a:rPr>
              <a:t> are used for </a:t>
            </a:r>
            <a:r>
              <a:rPr lang="en-US" sz="2800" b="1" dirty="0">
                <a:solidFill>
                  <a:srgbClr val="2C14DE"/>
                </a:solidFill>
                <a:latin typeface="Trebuchet MS" panose="020B0603020202020204" pitchFamily="34" charset="0"/>
              </a:rPr>
              <a:t>permanent retention</a:t>
            </a:r>
            <a:r>
              <a:rPr lang="en-US" sz="2800" dirty="0">
                <a:solidFill>
                  <a:srgbClr val="2C14DE"/>
                </a:solidFill>
                <a:latin typeface="Trebuchet MS" panose="020B0603020202020204" pitchFamily="34" charset="0"/>
              </a:rPr>
              <a:t> </a:t>
            </a:r>
            <a:r>
              <a:rPr lang="en-US" sz="2800" dirty="0">
                <a:latin typeface="Trebuchet MS" panose="020B0603020202020204" pitchFamily="34" charset="0"/>
              </a:rPr>
              <a:t>of data. (</a:t>
            </a:r>
            <a:r>
              <a:rPr lang="en-US" sz="2800" b="1" i="1" dirty="0">
                <a:latin typeface="Trebuchet MS" panose="020B0603020202020204" pitchFamily="34" charset="0"/>
              </a:rPr>
              <a:t>Never lost during shut down or power failure</a:t>
            </a:r>
            <a:r>
              <a:rPr lang="en-US" sz="2800" dirty="0">
                <a:latin typeface="Trebuchet MS" panose="020B0603020202020204" pitchFamily="34" charset="0"/>
              </a:rPr>
              <a:t>).</a:t>
            </a:r>
          </a:p>
          <a:p>
            <a:pPr eaLnBrk="1" hangingPunct="1">
              <a:lnSpc>
                <a:spcPct val="80000"/>
              </a:lnSpc>
            </a:pPr>
            <a:endParaRPr lang="en-US" sz="2800" dirty="0">
              <a:latin typeface="Trebuchet MS" panose="020B0603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800" b="1" dirty="0">
                <a:solidFill>
                  <a:srgbClr val="C00000"/>
                </a:solidFill>
                <a:latin typeface="Trebuchet MS" panose="020B0603020202020204" pitchFamily="34" charset="0"/>
              </a:rPr>
              <a:t>Permanent retention</a:t>
            </a:r>
            <a:r>
              <a:rPr lang="en-US" sz="2800" dirty="0">
                <a:solidFill>
                  <a:srgbClr val="C00000"/>
                </a:solidFill>
                <a:latin typeface="Trebuchet MS" panose="020B0603020202020204" pitchFamily="34" charset="0"/>
              </a:rPr>
              <a:t> </a:t>
            </a:r>
            <a:r>
              <a:rPr lang="en-US" sz="2800" dirty="0">
                <a:latin typeface="Trebuchet MS" panose="020B0603020202020204" pitchFamily="34" charset="0"/>
              </a:rPr>
              <a:t>can be </a:t>
            </a:r>
            <a:r>
              <a:rPr lang="en-US" sz="2800" b="1" dirty="0">
                <a:latin typeface="Trebuchet MS" panose="020B0603020202020204" pitchFamily="34" charset="0"/>
              </a:rPr>
              <a:t>Hard Disk</a:t>
            </a:r>
            <a:r>
              <a:rPr lang="en-US" sz="2800" dirty="0">
                <a:latin typeface="Trebuchet MS" panose="020B0603020202020204" pitchFamily="34" charset="0"/>
              </a:rPr>
              <a:t>, </a:t>
            </a:r>
            <a:r>
              <a:rPr lang="en-US" sz="2800" b="1" dirty="0">
                <a:latin typeface="Trebuchet MS" panose="020B0603020202020204" pitchFamily="34" charset="0"/>
              </a:rPr>
              <a:t>Flash</a:t>
            </a:r>
            <a:r>
              <a:rPr lang="en-US" sz="2800" dirty="0">
                <a:latin typeface="Trebuchet MS" panose="020B0603020202020204" pitchFamily="34" charset="0"/>
              </a:rPr>
              <a:t> Drives, </a:t>
            </a:r>
            <a:r>
              <a:rPr lang="en-US" sz="2800" b="1" dirty="0">
                <a:latin typeface="Trebuchet MS" panose="020B0603020202020204" pitchFamily="34" charset="0"/>
              </a:rPr>
              <a:t>Floppy</a:t>
            </a:r>
            <a:r>
              <a:rPr lang="en-US" sz="2800" dirty="0">
                <a:latin typeface="Trebuchet MS" panose="020B0603020202020204" pitchFamily="34" charset="0"/>
              </a:rPr>
              <a:t> Disks, </a:t>
            </a:r>
            <a:r>
              <a:rPr lang="en-US" sz="2800" b="1" dirty="0">
                <a:latin typeface="Trebuchet MS" panose="020B0603020202020204" pitchFamily="34" charset="0"/>
              </a:rPr>
              <a:t>CD ROMs </a:t>
            </a:r>
            <a:r>
              <a:rPr lang="en-US" sz="2800" dirty="0">
                <a:latin typeface="Trebuchet MS" panose="020B0603020202020204" pitchFamily="34" charset="0"/>
              </a:rPr>
              <a:t>etc.</a:t>
            </a:r>
          </a:p>
        </p:txBody>
      </p:sp>
      <p:sp>
        <p:nvSpPr>
          <p:cNvPr id="4" name="Rectangle 3"/>
          <p:cNvSpPr/>
          <p:nvPr/>
        </p:nvSpPr>
        <p:spPr>
          <a:xfrm>
            <a:off x="1563756" y="106680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29932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0"/>
            <a:ext cx="8153400" cy="1066800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rgbClr val="C00000"/>
                </a:solidFill>
              </a:rPr>
              <a:t>Type of FILES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82093" y="1219200"/>
            <a:ext cx="8875644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b="1" dirty="0">
                <a:solidFill>
                  <a:srgbClr val="C00000"/>
                </a:solidFill>
                <a:latin typeface="Trebuchet MS" panose="020B0603020202020204" pitchFamily="34" charset="0"/>
              </a:rPr>
              <a:t>Text type files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b="1" u="sng" dirty="0">
                <a:latin typeface="Trebuchet MS" panose="020B0603020202020204" pitchFamily="34" charset="0"/>
              </a:rPr>
              <a:t>Text type files </a:t>
            </a:r>
            <a:r>
              <a:rPr lang="en-US" sz="2400" dirty="0">
                <a:latin typeface="Trebuchet MS" panose="020B0603020202020204" pitchFamily="34" charset="0"/>
              </a:rPr>
              <a:t>are easily </a:t>
            </a:r>
            <a:r>
              <a:rPr lang="en-US" sz="2400" b="1" i="1" dirty="0">
                <a:solidFill>
                  <a:srgbClr val="2C14DE"/>
                </a:solidFill>
                <a:latin typeface="Trebuchet MS" panose="020B0603020202020204" pitchFamily="34" charset="0"/>
              </a:rPr>
              <a:t>readable by humans</a:t>
            </a:r>
            <a:r>
              <a:rPr lang="en-US" sz="2400" dirty="0">
                <a:latin typeface="Trebuchet MS" panose="020B0603020202020204" pitchFamily="34" charset="0"/>
              </a:rPr>
              <a:t>, Example include (*.txt, *.</a:t>
            </a:r>
            <a:r>
              <a:rPr lang="en-US" sz="2400" dirty="0" err="1">
                <a:latin typeface="Trebuchet MS" panose="020B0603020202020204" pitchFamily="34" charset="0"/>
              </a:rPr>
              <a:t>cpp</a:t>
            </a:r>
            <a:r>
              <a:rPr lang="en-US" sz="2400" dirty="0">
                <a:latin typeface="Trebuchet MS" panose="020B0603020202020204" pitchFamily="34" charset="0"/>
              </a:rPr>
              <a:t>, *.c, *.h).</a:t>
            </a:r>
          </a:p>
          <a:p>
            <a:pPr lvl="1" eaLnBrk="1" hangingPunct="1">
              <a:lnSpc>
                <a:spcPct val="90000"/>
              </a:lnSpc>
            </a:pPr>
            <a:endParaRPr lang="en-US" sz="2400" dirty="0">
              <a:latin typeface="Trebuchet MS" panose="020B0603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b="1" dirty="0">
                <a:solidFill>
                  <a:srgbClr val="D20000"/>
                </a:solidFill>
                <a:latin typeface="Trebuchet MS" panose="020B0603020202020204" pitchFamily="34" charset="0"/>
              </a:rPr>
              <a:t>Binary type files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b="1" u="sng" dirty="0">
                <a:latin typeface="Trebuchet MS" panose="020B0603020202020204" pitchFamily="34" charset="0"/>
              </a:rPr>
              <a:t>Binary type files </a:t>
            </a:r>
            <a:r>
              <a:rPr lang="en-US" sz="2400" dirty="0">
                <a:latin typeface="Trebuchet MS" panose="020B0603020202020204" pitchFamily="34" charset="0"/>
              </a:rPr>
              <a:t>can</a:t>
            </a:r>
            <a:r>
              <a:rPr lang="ja-JP" altLang="en-US" sz="2400" dirty="0">
                <a:latin typeface="Trebuchet MS" panose="020B0603020202020204" pitchFamily="34" charset="0"/>
              </a:rPr>
              <a:t>’</a:t>
            </a:r>
            <a:r>
              <a:rPr lang="en-US" altLang="ja-JP" sz="2400" dirty="0">
                <a:latin typeface="Trebuchet MS" panose="020B0603020202020204" pitchFamily="34" charset="0"/>
              </a:rPr>
              <a:t>t be </a:t>
            </a:r>
            <a:r>
              <a:rPr lang="en-US" altLang="ja-JP" sz="2400" b="1" i="1" dirty="0">
                <a:solidFill>
                  <a:srgbClr val="2C14DE"/>
                </a:solidFill>
                <a:latin typeface="Trebuchet MS" panose="020B0603020202020204" pitchFamily="34" charset="0"/>
              </a:rPr>
              <a:t>readable or modify able</a:t>
            </a:r>
            <a:r>
              <a:rPr lang="en-US" altLang="ja-JP" sz="2400" dirty="0">
                <a:solidFill>
                  <a:srgbClr val="2C14DE"/>
                </a:solidFill>
                <a:latin typeface="Trebuchet MS" panose="020B0603020202020204" pitchFamily="34" charset="0"/>
              </a:rPr>
              <a:t> </a:t>
            </a:r>
            <a:r>
              <a:rPr lang="en-US" altLang="ja-JP" sz="2400" dirty="0">
                <a:latin typeface="Trebuchet MS" panose="020B0603020202020204" pitchFamily="34" charset="0"/>
              </a:rPr>
              <a:t>by the humans.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latin typeface="Trebuchet MS" panose="020B0603020202020204" pitchFamily="34" charset="0"/>
              </a:rPr>
              <a:t>Only a </a:t>
            </a:r>
            <a:r>
              <a:rPr lang="en-US" sz="2400" b="1" i="1" dirty="0">
                <a:solidFill>
                  <a:srgbClr val="D20000"/>
                </a:solidFill>
                <a:latin typeface="Trebuchet MS" panose="020B0603020202020204" pitchFamily="34" charset="0"/>
              </a:rPr>
              <a:t>particular software</a:t>
            </a:r>
            <a:r>
              <a:rPr lang="en-US" sz="2400" dirty="0">
                <a:solidFill>
                  <a:srgbClr val="D20000"/>
                </a:solidFill>
                <a:latin typeface="Trebuchet MS" panose="020B0603020202020204" pitchFamily="34" charset="0"/>
              </a:rPr>
              <a:t> </a:t>
            </a:r>
            <a:r>
              <a:rPr lang="en-US" sz="2400" dirty="0">
                <a:latin typeface="Trebuchet MS" panose="020B0603020202020204" pitchFamily="34" charset="0"/>
              </a:rPr>
              <a:t>can </a:t>
            </a:r>
            <a:r>
              <a:rPr lang="en-US" sz="2400" b="1" dirty="0">
                <a:latin typeface="Trebuchet MS" panose="020B0603020202020204" pitchFamily="34" charset="0"/>
              </a:rPr>
              <a:t>open</a:t>
            </a:r>
            <a:r>
              <a:rPr lang="en-US" sz="2400" dirty="0">
                <a:latin typeface="Trebuchet MS" panose="020B0603020202020204" pitchFamily="34" charset="0"/>
              </a:rPr>
              <a:t> and </a:t>
            </a:r>
            <a:r>
              <a:rPr lang="en-US" sz="2400" b="1" dirty="0">
                <a:latin typeface="Trebuchet MS" panose="020B0603020202020204" pitchFamily="34" charset="0"/>
              </a:rPr>
              <a:t>edit</a:t>
            </a:r>
            <a:r>
              <a:rPr lang="en-US" sz="2400" dirty="0">
                <a:latin typeface="Trebuchet MS" panose="020B0603020202020204" pitchFamily="34" charset="0"/>
              </a:rPr>
              <a:t> these FILES.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latin typeface="Trebuchet MS" panose="020B0603020202020204" pitchFamily="34" charset="0"/>
              </a:rPr>
              <a:t>Example include (*.gif, *.bmp, *.jpeg, *.exe, *.</a:t>
            </a:r>
            <a:r>
              <a:rPr lang="en-US" sz="2400" dirty="0" err="1">
                <a:latin typeface="Trebuchet MS" panose="020B0603020202020204" pitchFamily="34" charset="0"/>
              </a:rPr>
              <a:t>obj</a:t>
            </a:r>
            <a:r>
              <a:rPr lang="en-US" sz="2400" dirty="0">
                <a:latin typeface="Trebuchet MS" panose="020B0603020202020204" pitchFamily="34" charset="0"/>
              </a:rPr>
              <a:t>, *.</a:t>
            </a:r>
            <a:r>
              <a:rPr lang="en-US" sz="2400" dirty="0" err="1">
                <a:latin typeface="Trebuchet MS" panose="020B0603020202020204" pitchFamily="34" charset="0"/>
              </a:rPr>
              <a:t>dll</a:t>
            </a:r>
            <a:r>
              <a:rPr lang="en-US" sz="2400" dirty="0">
                <a:latin typeface="Trebuchet MS" panose="020B0603020202020204" pitchFamily="34" charset="0"/>
              </a:rPr>
              <a:t>).</a:t>
            </a:r>
          </a:p>
        </p:txBody>
      </p:sp>
      <p:sp>
        <p:nvSpPr>
          <p:cNvPr id="4" name="Rectangle 3"/>
          <p:cNvSpPr/>
          <p:nvPr/>
        </p:nvSpPr>
        <p:spPr>
          <a:xfrm>
            <a:off x="1563756" y="106680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805445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1"/>
            <a:ext cx="8229600" cy="1112519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000" b="1" dirty="0">
                <a:solidFill>
                  <a:srgbClr val="D20000"/>
                </a:solidFill>
              </a:rPr>
              <a:t>FILE accessing in Computer Science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0200" y="1219200"/>
            <a:ext cx="8915400" cy="5562600"/>
          </a:xfrm>
        </p:spPr>
        <p:txBody>
          <a:bodyPr/>
          <a:lstStyle/>
          <a:p>
            <a:pPr>
              <a:lnSpc>
                <a:spcPct val="80000"/>
              </a:lnSpc>
              <a:tabLst>
                <a:tab pos="6977063" algn="l"/>
              </a:tabLst>
            </a:pPr>
            <a:r>
              <a:rPr lang="en-US" sz="2800" dirty="0">
                <a:latin typeface="+mj-lt"/>
              </a:rPr>
              <a:t>We </a:t>
            </a:r>
            <a:r>
              <a:rPr lang="en-US" sz="2800" b="1" dirty="0">
                <a:solidFill>
                  <a:srgbClr val="D20000"/>
                </a:solidFill>
                <a:latin typeface="+mj-lt"/>
              </a:rPr>
              <a:t>can access the contents </a:t>
            </a:r>
            <a:r>
              <a:rPr lang="en-US" sz="2800" dirty="0">
                <a:latin typeface="+mj-lt"/>
              </a:rPr>
              <a:t>of any </a:t>
            </a:r>
            <a:r>
              <a:rPr lang="en-US" sz="2800" b="1" dirty="0">
                <a:solidFill>
                  <a:srgbClr val="D20000"/>
                </a:solidFill>
                <a:latin typeface="+mj-lt"/>
              </a:rPr>
              <a:t>FILE</a:t>
            </a:r>
            <a:r>
              <a:rPr lang="en-US" sz="2800" dirty="0">
                <a:solidFill>
                  <a:srgbClr val="D20000"/>
                </a:solidFill>
                <a:latin typeface="+mj-lt"/>
              </a:rPr>
              <a:t> </a:t>
            </a:r>
            <a:r>
              <a:rPr lang="en-US" sz="2800" dirty="0">
                <a:latin typeface="+mj-lt"/>
              </a:rPr>
              <a:t>with the help of two types:</a:t>
            </a:r>
          </a:p>
          <a:p>
            <a:pPr marL="914400" lvl="1" indent="-457200">
              <a:lnSpc>
                <a:spcPct val="80000"/>
              </a:lnSpc>
              <a:buFont typeface="+mj-lt"/>
              <a:buAutoNum type="arabicPeriod"/>
              <a:tabLst>
                <a:tab pos="6977063" algn="l"/>
              </a:tabLst>
            </a:pPr>
            <a:r>
              <a:rPr lang="en-US" sz="2400" b="1" dirty="0">
                <a:solidFill>
                  <a:srgbClr val="2C14DE"/>
                </a:solidFill>
                <a:latin typeface="+mj-lt"/>
              </a:rPr>
              <a:t>Sequential access.</a:t>
            </a:r>
          </a:p>
          <a:p>
            <a:pPr marL="914400" lvl="1" indent="-457200">
              <a:lnSpc>
                <a:spcPct val="80000"/>
              </a:lnSpc>
              <a:buFont typeface="+mj-lt"/>
              <a:buAutoNum type="arabicPeriod"/>
              <a:tabLst>
                <a:tab pos="6977063" algn="l"/>
              </a:tabLst>
            </a:pPr>
            <a:r>
              <a:rPr lang="en-US" sz="2400" b="1" dirty="0">
                <a:solidFill>
                  <a:srgbClr val="2C14DE"/>
                </a:solidFill>
                <a:latin typeface="+mj-lt"/>
              </a:rPr>
              <a:t>Direct access (Random access)</a:t>
            </a:r>
          </a:p>
          <a:p>
            <a:pPr lvl="1">
              <a:lnSpc>
                <a:spcPct val="80000"/>
              </a:lnSpc>
              <a:tabLst>
                <a:tab pos="6977063" algn="l"/>
              </a:tabLst>
            </a:pPr>
            <a:endParaRPr lang="en-US" sz="2400" b="1" i="1" dirty="0">
              <a:solidFill>
                <a:schemeClr val="accent2"/>
              </a:solidFill>
              <a:latin typeface="+mj-lt"/>
            </a:endParaRPr>
          </a:p>
          <a:p>
            <a:pPr>
              <a:lnSpc>
                <a:spcPct val="80000"/>
              </a:lnSpc>
              <a:tabLst>
                <a:tab pos="6977063" algn="l"/>
              </a:tabLst>
            </a:pPr>
            <a:r>
              <a:rPr lang="en-US" sz="2800" b="1" dirty="0">
                <a:solidFill>
                  <a:srgbClr val="D20000"/>
                </a:solidFill>
                <a:latin typeface="+mj-lt"/>
              </a:rPr>
              <a:t>Sequential Access</a:t>
            </a:r>
          </a:p>
          <a:p>
            <a:pPr lvl="1">
              <a:lnSpc>
                <a:spcPct val="80000"/>
              </a:lnSpc>
              <a:tabLst>
                <a:tab pos="6977063" algn="l"/>
              </a:tabLst>
            </a:pPr>
            <a:r>
              <a:rPr lang="en-US" sz="2400" b="1" dirty="0">
                <a:latin typeface="+mj-lt"/>
              </a:rPr>
              <a:t>Files contents are accessed sequentially </a:t>
            </a:r>
            <a:r>
              <a:rPr lang="en-US" sz="2400" b="1" i="1" dirty="0">
                <a:solidFill>
                  <a:srgbClr val="2C14DE"/>
                </a:solidFill>
                <a:latin typeface="+mj-lt"/>
              </a:rPr>
              <a:t>(from first to desired content)</a:t>
            </a:r>
            <a:r>
              <a:rPr lang="en-US" sz="2400" dirty="0">
                <a:solidFill>
                  <a:srgbClr val="2C14DE"/>
                </a:solidFill>
                <a:latin typeface="+mj-lt"/>
              </a:rPr>
              <a:t>.</a:t>
            </a:r>
          </a:p>
          <a:p>
            <a:pPr marL="457200" lvl="1" indent="0">
              <a:lnSpc>
                <a:spcPct val="80000"/>
              </a:lnSpc>
              <a:buNone/>
              <a:tabLst>
                <a:tab pos="6977063" algn="l"/>
              </a:tabLst>
            </a:pPr>
            <a:endParaRPr lang="en-US" sz="2400" dirty="0">
              <a:solidFill>
                <a:srgbClr val="2C14DE"/>
              </a:solidFill>
              <a:latin typeface="+mj-lt"/>
            </a:endParaRPr>
          </a:p>
          <a:p>
            <a:pPr lvl="1" algn="just">
              <a:lnSpc>
                <a:spcPct val="80000"/>
              </a:lnSpc>
              <a:tabLst>
                <a:tab pos="6977063" algn="l"/>
              </a:tabLst>
            </a:pPr>
            <a:r>
              <a:rPr lang="en-US" sz="2400" dirty="0">
                <a:latin typeface="+mj-lt"/>
              </a:rPr>
              <a:t>In order </a:t>
            </a:r>
            <a:r>
              <a:rPr lang="en-US" sz="2400" b="1" dirty="0">
                <a:latin typeface="+mj-lt"/>
              </a:rPr>
              <a:t>to access the location </a:t>
            </a:r>
            <a:r>
              <a:rPr lang="en-US" sz="2400" b="1" dirty="0">
                <a:solidFill>
                  <a:schemeClr val="hlink"/>
                </a:solidFill>
                <a:latin typeface="+mj-lt"/>
              </a:rPr>
              <a:t>101th</a:t>
            </a:r>
            <a:r>
              <a:rPr lang="en-US" sz="2400" dirty="0">
                <a:latin typeface="+mj-lt"/>
              </a:rPr>
              <a:t>, we must have to </a:t>
            </a:r>
            <a:r>
              <a:rPr lang="en-US" sz="2400" b="1" dirty="0">
                <a:latin typeface="+mj-lt"/>
              </a:rPr>
              <a:t>first traverse all contents</a:t>
            </a:r>
            <a:r>
              <a:rPr lang="en-US" sz="2400" dirty="0">
                <a:latin typeface="+mj-lt"/>
              </a:rPr>
              <a:t> from </a:t>
            </a:r>
            <a:r>
              <a:rPr lang="en-US" sz="2400" b="1" dirty="0">
                <a:solidFill>
                  <a:schemeClr val="hlink"/>
                </a:solidFill>
                <a:latin typeface="+mj-lt"/>
              </a:rPr>
              <a:t>0 to 100</a:t>
            </a:r>
            <a:r>
              <a:rPr lang="en-US" sz="2400" dirty="0">
                <a:latin typeface="+mj-lt"/>
              </a:rPr>
              <a:t>. Then the </a:t>
            </a:r>
            <a:r>
              <a:rPr lang="en-US" sz="2400" b="1" dirty="0">
                <a:solidFill>
                  <a:schemeClr val="hlink"/>
                </a:solidFill>
                <a:latin typeface="+mj-lt"/>
              </a:rPr>
              <a:t>101th</a:t>
            </a:r>
            <a:r>
              <a:rPr lang="en-US" sz="2400" dirty="0">
                <a:latin typeface="+mj-lt"/>
              </a:rPr>
              <a:t> location could be accessed.</a:t>
            </a:r>
          </a:p>
          <a:p>
            <a:pPr lvl="1">
              <a:lnSpc>
                <a:spcPct val="80000"/>
              </a:lnSpc>
              <a:tabLst>
                <a:tab pos="6977063" algn="l"/>
              </a:tabLst>
            </a:pPr>
            <a:endParaRPr lang="en-US" sz="2400" dirty="0">
              <a:latin typeface="+mj-lt"/>
            </a:endParaRPr>
          </a:p>
          <a:p>
            <a:pPr lvl="1">
              <a:lnSpc>
                <a:spcPct val="80000"/>
              </a:lnSpc>
              <a:tabLst>
                <a:tab pos="6977063" algn="l"/>
              </a:tabLst>
            </a:pPr>
            <a:r>
              <a:rPr lang="en-US" sz="2400" dirty="0">
                <a:latin typeface="+mj-lt"/>
              </a:rPr>
              <a:t>(</a:t>
            </a:r>
            <a:r>
              <a:rPr lang="en-US" sz="2400" b="1" dirty="0">
                <a:latin typeface="+mj-lt"/>
              </a:rPr>
              <a:t>Normally slow </a:t>
            </a:r>
            <a:r>
              <a:rPr lang="en-US" sz="2400" dirty="0">
                <a:latin typeface="+mj-lt"/>
              </a:rPr>
              <a:t>if we want to access random contents in a file). </a:t>
            </a:r>
            <a:r>
              <a:rPr lang="en-US" sz="2400" b="1" i="1" dirty="0">
                <a:solidFill>
                  <a:srgbClr val="2C14DE"/>
                </a:solidFill>
                <a:latin typeface="+mj-lt"/>
              </a:rPr>
              <a:t>Random access is especially used in Databases</a:t>
            </a:r>
            <a:r>
              <a:rPr lang="en-US" sz="2400" dirty="0">
                <a:solidFill>
                  <a:srgbClr val="2C14DE"/>
                </a:solidFill>
                <a:latin typeface="+mj-lt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1563756" y="106680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57441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563756" y="0"/>
            <a:ext cx="9067800" cy="10668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000" b="1" dirty="0">
                <a:solidFill>
                  <a:srgbClr val="D20000"/>
                </a:solidFill>
              </a:rPr>
              <a:t>Sequential Access FILE (Example)</a:t>
            </a:r>
          </a:p>
        </p:txBody>
      </p:sp>
      <p:graphicFrame>
        <p:nvGraphicFramePr>
          <p:cNvPr id="20600" name="Group 120"/>
          <p:cNvGraphicFramePr>
            <a:graphicFrameLocks noGrp="1"/>
          </p:cNvGraphicFramePr>
          <p:nvPr>
            <p:ph idx="1"/>
          </p:nvPr>
        </p:nvGraphicFramePr>
        <p:xfrm>
          <a:off x="6781800" y="1752600"/>
          <a:ext cx="3657600" cy="4325978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3038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414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4002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rebuchet MS" pitchFamily="34" charset="0"/>
                          <a:ea typeface="PMingLiU" pitchFamily="18" charset="-120"/>
                        </a:rPr>
                        <a:t>NIC#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rebuchet MS" pitchFamily="34" charset="0"/>
                          <a:ea typeface="PMingLiU" pitchFamily="18" charset="-120"/>
                        </a:rPr>
                        <a:t>Candidate Name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rebuchet MS" pitchFamily="34" charset="0"/>
                          <a:ea typeface="PMingLiU" pitchFamily="18" charset="-120"/>
                        </a:rPr>
                        <a:t>Age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27012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rebuchet MS" pitchFamily="34" charset="0"/>
                          <a:ea typeface="PMingLiU" pitchFamily="18" charset="-120"/>
                        </a:rPr>
                        <a:t>1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rebuchet MS" pitchFamily="34" charset="0"/>
                          <a:ea typeface="PMingLiU" pitchFamily="18" charset="-120"/>
                        </a:rPr>
                        <a:t>R. Agrawal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rebuchet MS" pitchFamily="34" charset="0"/>
                          <a:ea typeface="PMingLiU" pitchFamily="18" charset="-120"/>
                        </a:rPr>
                        <a:t>32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25425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rebuchet MS" pitchFamily="34" charset="0"/>
                          <a:ea typeface="PMingLiU" pitchFamily="18" charset="-120"/>
                        </a:rPr>
                        <a:t>2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rebuchet MS" pitchFamily="34" charset="0"/>
                          <a:ea typeface="PMingLiU" pitchFamily="18" charset="-120"/>
                        </a:rPr>
                        <a:t>R. Srikant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rebuchet MS" pitchFamily="34" charset="0"/>
                          <a:ea typeface="PMingLiU" pitchFamily="18" charset="-120"/>
                        </a:rPr>
                        <a:t>25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27012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rebuchet MS" pitchFamily="34" charset="0"/>
                          <a:ea typeface="PMingLiU" pitchFamily="18" charset="-120"/>
                        </a:rPr>
                        <a:t>3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rebuchet MS" pitchFamily="34" charset="0"/>
                          <a:ea typeface="PMingLiU" pitchFamily="18" charset="-120"/>
                        </a:rPr>
                        <a:t>C. Bettini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rebuchet MS" pitchFamily="34" charset="0"/>
                          <a:ea typeface="PMingLiU" pitchFamily="18" charset="-120"/>
                        </a:rPr>
                        <a:t>23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27012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rebuchet MS" pitchFamily="34" charset="0"/>
                          <a:ea typeface="PMingLiU" pitchFamily="18" charset="-120"/>
                        </a:rPr>
                        <a:t>4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rebuchet MS" pitchFamily="34" charset="0"/>
                          <a:ea typeface="PMingLiU" pitchFamily="18" charset="-120"/>
                        </a:rPr>
                        <a:t>D. Burdick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rebuchet MS" pitchFamily="34" charset="0"/>
                          <a:ea typeface="PMingLiU" pitchFamily="18" charset="-120"/>
                        </a:rPr>
                        <a:t>40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27012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rebuchet MS" pitchFamily="34" charset="0"/>
                          <a:ea typeface="PMingLiU" pitchFamily="18" charset="-120"/>
                        </a:rPr>
                        <a:t>5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rebuchet MS" pitchFamily="34" charset="0"/>
                          <a:ea typeface="PMingLiU" pitchFamily="18" charset="-120"/>
                        </a:rPr>
                        <a:t>R. Zaki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rebuchet MS" pitchFamily="34" charset="0"/>
                          <a:ea typeface="PMingLiU" pitchFamily="18" charset="-120"/>
                        </a:rPr>
                        <a:t>21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25425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rebuchet MS" pitchFamily="34" charset="0"/>
                          <a:ea typeface="PMingLiU" pitchFamily="18" charset="-120"/>
                        </a:rPr>
                        <a:t>6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rebuchet MS" pitchFamily="34" charset="0"/>
                          <a:ea typeface="PMingLiU" pitchFamily="18" charset="-120"/>
                        </a:rPr>
                        <a:t>….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rebuchet MS" pitchFamily="34" charset="0"/>
                          <a:ea typeface="PMingLiU" pitchFamily="18" charset="-120"/>
                        </a:rPr>
                        <a:t>26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27012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rebuchet MS" pitchFamily="34" charset="0"/>
                          <a:ea typeface="PMingLiU" pitchFamily="18" charset="-120"/>
                        </a:rPr>
                        <a:t>7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rebuchet MS" pitchFamily="34" charset="0"/>
                          <a:ea typeface="PMingLiU" pitchFamily="18" charset="-120"/>
                        </a:rPr>
                        <a:t>….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rebuchet MS" pitchFamily="34" charset="0"/>
                          <a:ea typeface="PMingLiU" pitchFamily="18" charset="-120"/>
                        </a:rPr>
                        <a:t>35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20556" name="Rectangle 76"/>
          <p:cNvSpPr>
            <a:spLocks noChangeArrowheads="1"/>
          </p:cNvSpPr>
          <p:nvPr/>
        </p:nvSpPr>
        <p:spPr bwMode="auto">
          <a:xfrm>
            <a:off x="1676400" y="1524000"/>
            <a:ext cx="49530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71500" indent="-5715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966788" indent="-509588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indent="0" algn="just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u="sng" dirty="0">
                <a:solidFill>
                  <a:prstClr val="black"/>
                </a:solidFill>
                <a:latin typeface="Calibri"/>
              </a:rPr>
              <a:t>To access the </a:t>
            </a:r>
            <a:r>
              <a:rPr lang="en-US" b="1" u="sng" dirty="0">
                <a:solidFill>
                  <a:srgbClr val="D20000"/>
                </a:solidFill>
                <a:latin typeface="Calibri"/>
              </a:rPr>
              <a:t>data of the candidate of NIC# 5</a:t>
            </a:r>
            <a:r>
              <a:rPr lang="en-US" u="sng" dirty="0">
                <a:solidFill>
                  <a:srgbClr val="D20000"/>
                </a:solidFill>
                <a:latin typeface="Calibri"/>
              </a:rPr>
              <a:t>.</a:t>
            </a:r>
          </a:p>
          <a:p>
            <a:pPr marL="0" indent="0" algn="just" eaLnBrk="1" hangingPunct="1">
              <a:lnSpc>
                <a:spcPct val="80000"/>
              </a:lnSpc>
              <a:spcBef>
                <a:spcPct val="20000"/>
              </a:spcBef>
            </a:pP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0" indent="0" algn="just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dirty="0">
                <a:solidFill>
                  <a:prstClr val="black"/>
                </a:solidFill>
                <a:latin typeface="Calibri"/>
              </a:rPr>
              <a:t>We have to follow the </a:t>
            </a:r>
            <a:r>
              <a:rPr lang="en-US" b="1" dirty="0">
                <a:solidFill>
                  <a:srgbClr val="D20000"/>
                </a:solidFill>
                <a:latin typeface="Calibri"/>
              </a:rPr>
              <a:t>following 3 steps</a:t>
            </a:r>
            <a:r>
              <a:rPr lang="en-US" dirty="0">
                <a:solidFill>
                  <a:srgbClr val="D20000"/>
                </a:solidFill>
                <a:latin typeface="Calibri"/>
              </a:rPr>
              <a:t>.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 typeface="Wingdings" panose="05000000000000000000" pitchFamily="2" charset="2"/>
              <a:buAutoNum type="arabicPeriod"/>
            </a:pPr>
            <a:r>
              <a:rPr lang="en-US" b="1" dirty="0">
                <a:solidFill>
                  <a:prstClr val="black"/>
                </a:solidFill>
                <a:latin typeface="Calibri"/>
              </a:rPr>
              <a:t>First </a:t>
            </a:r>
            <a:r>
              <a:rPr lang="en-US" b="1" dirty="0">
                <a:solidFill>
                  <a:srgbClr val="2C14DE"/>
                </a:solidFill>
                <a:latin typeface="Calibri"/>
              </a:rPr>
              <a:t>open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 the file.</a:t>
            </a:r>
          </a:p>
          <a:p>
            <a:pPr algn="just" eaLnBrk="1" hangingPunct="1">
              <a:lnSpc>
                <a:spcPct val="80000"/>
              </a:lnSpc>
              <a:spcBef>
                <a:spcPct val="20000"/>
              </a:spcBef>
              <a:buFont typeface="Wingdings" panose="05000000000000000000" pitchFamily="2" charset="2"/>
              <a:buAutoNum type="arabicPeriod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Must have to </a:t>
            </a:r>
            <a:r>
              <a:rPr lang="en-US" b="1" dirty="0">
                <a:solidFill>
                  <a:srgbClr val="2C14DE"/>
                </a:solidFill>
                <a:latin typeface="Calibri"/>
              </a:rPr>
              <a:t>traverse</a:t>
            </a:r>
            <a:r>
              <a:rPr lang="en-US" dirty="0">
                <a:solidFill>
                  <a:srgbClr val="2C14DE"/>
                </a:solidFill>
                <a:latin typeface="Calibri"/>
              </a:rPr>
              <a:t>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all 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contents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of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NIC# 1, 2, 3 and 4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 Then finally we can access </a:t>
            </a:r>
            <a:r>
              <a:rPr lang="en-US" b="1" dirty="0">
                <a:solidFill>
                  <a:srgbClr val="2C14DE"/>
                </a:solidFill>
                <a:latin typeface="Calibri"/>
              </a:rPr>
              <a:t>NIC# 5 data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 typeface="Wingdings" panose="05000000000000000000" pitchFamily="2" charset="2"/>
              <a:buAutoNum type="arabicPeriod"/>
            </a:pPr>
            <a:r>
              <a:rPr lang="en-US" b="1" dirty="0">
                <a:solidFill>
                  <a:srgbClr val="2C14DE"/>
                </a:solidFill>
                <a:latin typeface="Calibri"/>
              </a:rPr>
              <a:t>Close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 the file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endParaRPr lang="en-US" dirty="0">
              <a:solidFill>
                <a:prstClr val="black"/>
              </a:solidFill>
              <a:latin typeface="Calibri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Tx/>
              <a:buChar char="–"/>
            </a:pP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557" name="Line 77"/>
          <p:cNvSpPr>
            <a:spLocks noChangeShapeType="1"/>
          </p:cNvSpPr>
          <p:nvPr/>
        </p:nvSpPr>
        <p:spPr bwMode="auto">
          <a:xfrm flipV="1">
            <a:off x="4038600" y="4876800"/>
            <a:ext cx="3200400" cy="22860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559" name="Rectangle 79"/>
          <p:cNvSpPr>
            <a:spLocks noChangeArrowheads="1"/>
          </p:cNvSpPr>
          <p:nvPr/>
        </p:nvSpPr>
        <p:spPr bwMode="auto">
          <a:xfrm>
            <a:off x="6818012" y="2373212"/>
            <a:ext cx="3581400" cy="2133600"/>
          </a:xfrm>
          <a:prstGeom prst="rect">
            <a:avLst/>
          </a:prstGeom>
          <a:noFill/>
          <a:ln w="762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fr-FR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63756" y="106680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943306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57" grpId="0" animBg="1"/>
      <p:bldP spid="2055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-9808"/>
            <a:ext cx="8193156" cy="1076608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D20000"/>
                </a:solidFill>
              </a:rPr>
              <a:t>Streams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18719" y="1089659"/>
            <a:ext cx="9067800" cy="5715000"/>
          </a:xfrm>
        </p:spPr>
        <p:txBody>
          <a:bodyPr>
            <a:normAutofit lnSpcReduction="10000"/>
          </a:bodyPr>
          <a:lstStyle/>
          <a:p>
            <a:pPr lvl="1"/>
            <a:r>
              <a:rPr lang="en-US" b="1" dirty="0">
                <a:solidFill>
                  <a:srgbClr val="D20000"/>
                </a:solidFill>
              </a:rPr>
              <a:t>Stream</a:t>
            </a:r>
          </a:p>
          <a:p>
            <a:pPr lvl="2" algn="just"/>
            <a:r>
              <a:rPr lang="en-US" sz="2600" dirty="0"/>
              <a:t>a </a:t>
            </a:r>
            <a:r>
              <a:rPr lang="en-US" sz="2600" b="1" dirty="0">
                <a:solidFill>
                  <a:srgbClr val="2C14DE"/>
                </a:solidFill>
              </a:rPr>
              <a:t>channel</a:t>
            </a:r>
            <a:r>
              <a:rPr lang="en-US" sz="2600" dirty="0">
                <a:solidFill>
                  <a:srgbClr val="2C14DE"/>
                </a:solidFill>
              </a:rPr>
              <a:t> </a:t>
            </a:r>
            <a:r>
              <a:rPr lang="en-US" sz="2600" dirty="0"/>
              <a:t>where </a:t>
            </a:r>
            <a:r>
              <a:rPr lang="en-US" sz="2600" b="1" dirty="0">
                <a:solidFill>
                  <a:srgbClr val="2C14DE"/>
                </a:solidFill>
              </a:rPr>
              <a:t>data</a:t>
            </a:r>
            <a:r>
              <a:rPr lang="en-US" sz="2600" dirty="0">
                <a:solidFill>
                  <a:srgbClr val="2C14DE"/>
                </a:solidFill>
              </a:rPr>
              <a:t> </a:t>
            </a:r>
            <a:r>
              <a:rPr lang="en-US" sz="2600" dirty="0"/>
              <a:t>are </a:t>
            </a:r>
            <a:r>
              <a:rPr lang="en-US" sz="2600" b="1" dirty="0">
                <a:solidFill>
                  <a:srgbClr val="2C14DE"/>
                </a:solidFill>
              </a:rPr>
              <a:t>passed</a:t>
            </a:r>
            <a:r>
              <a:rPr lang="en-US" sz="2600" dirty="0"/>
              <a:t> to </a:t>
            </a:r>
            <a:r>
              <a:rPr lang="en-US" sz="2600" b="1" dirty="0"/>
              <a:t>receivers from senders</a:t>
            </a:r>
            <a:r>
              <a:rPr lang="en-US" sz="2600" dirty="0"/>
              <a:t>.</a:t>
            </a:r>
          </a:p>
          <a:p>
            <a:pPr lvl="2"/>
            <a:endParaRPr lang="en-US" dirty="0"/>
          </a:p>
          <a:p>
            <a:pPr lvl="1"/>
            <a:r>
              <a:rPr lang="en-US" b="1" dirty="0">
                <a:solidFill>
                  <a:srgbClr val="D20000"/>
                </a:solidFill>
              </a:rPr>
              <a:t>Output Stream</a:t>
            </a:r>
          </a:p>
          <a:p>
            <a:pPr lvl="2"/>
            <a:r>
              <a:rPr lang="en-US" sz="2600" dirty="0"/>
              <a:t>a </a:t>
            </a:r>
            <a:r>
              <a:rPr lang="en-US" sz="2600" b="1" dirty="0">
                <a:solidFill>
                  <a:srgbClr val="2C14DE"/>
                </a:solidFill>
              </a:rPr>
              <a:t>channel</a:t>
            </a:r>
            <a:r>
              <a:rPr lang="en-US" sz="2600" dirty="0">
                <a:solidFill>
                  <a:srgbClr val="2C14DE"/>
                </a:solidFill>
              </a:rPr>
              <a:t> </a:t>
            </a:r>
            <a:r>
              <a:rPr lang="en-US" sz="2600" dirty="0"/>
              <a:t>where </a:t>
            </a:r>
            <a:r>
              <a:rPr lang="en-US" sz="2600" b="1" dirty="0">
                <a:solidFill>
                  <a:srgbClr val="2C14DE"/>
                </a:solidFill>
              </a:rPr>
              <a:t>data are sent out </a:t>
            </a:r>
            <a:r>
              <a:rPr lang="en-US" sz="2600" dirty="0"/>
              <a:t>to a </a:t>
            </a:r>
            <a:r>
              <a:rPr lang="en-US" sz="2600" b="1" dirty="0">
                <a:solidFill>
                  <a:srgbClr val="2C14DE"/>
                </a:solidFill>
              </a:rPr>
              <a:t>receiver</a:t>
            </a:r>
          </a:p>
          <a:p>
            <a:pPr lvl="2"/>
            <a:r>
              <a:rPr lang="en-US" sz="2600" b="1" dirty="0" err="1">
                <a:solidFill>
                  <a:srgbClr val="008000"/>
                </a:solidFill>
              </a:rPr>
              <a:t>cout</a:t>
            </a:r>
            <a:r>
              <a:rPr lang="en-US" sz="2600" b="1" dirty="0">
                <a:solidFill>
                  <a:srgbClr val="008000"/>
                </a:solidFill>
              </a:rPr>
              <a:t>; </a:t>
            </a:r>
            <a:r>
              <a:rPr lang="en-US" sz="2600" dirty="0"/>
              <a:t>the </a:t>
            </a:r>
            <a:r>
              <a:rPr lang="en-US" sz="2600" b="1" u="sng" dirty="0"/>
              <a:t>standard output stream </a:t>
            </a:r>
            <a:r>
              <a:rPr lang="en-US" sz="2600" b="1" dirty="0"/>
              <a:t>(to monitor)</a:t>
            </a:r>
          </a:p>
          <a:p>
            <a:pPr lvl="2"/>
            <a:r>
              <a:rPr lang="en-US" sz="2600" dirty="0"/>
              <a:t>the </a:t>
            </a:r>
            <a:r>
              <a:rPr lang="en-US" sz="2600" b="1" dirty="0">
                <a:solidFill>
                  <a:srgbClr val="2C14DE"/>
                </a:solidFill>
              </a:rPr>
              <a:t>monitor</a:t>
            </a:r>
            <a:r>
              <a:rPr lang="en-US" sz="2600" dirty="0">
                <a:solidFill>
                  <a:srgbClr val="2C14DE"/>
                </a:solidFill>
              </a:rPr>
              <a:t> </a:t>
            </a:r>
            <a:r>
              <a:rPr lang="en-US" sz="2600" dirty="0"/>
              <a:t>is a </a:t>
            </a:r>
            <a:r>
              <a:rPr lang="en-US" sz="2600" b="1" i="1" dirty="0">
                <a:solidFill>
                  <a:srgbClr val="2C14DE"/>
                </a:solidFill>
              </a:rPr>
              <a:t>destination</a:t>
            </a:r>
            <a:r>
              <a:rPr lang="en-US" sz="2600" dirty="0">
                <a:solidFill>
                  <a:srgbClr val="2C14DE"/>
                </a:solidFill>
              </a:rPr>
              <a:t> </a:t>
            </a:r>
            <a:r>
              <a:rPr lang="en-US" sz="2600" dirty="0"/>
              <a:t>device</a:t>
            </a:r>
          </a:p>
          <a:p>
            <a:pPr lvl="2"/>
            <a:endParaRPr lang="en-US" dirty="0"/>
          </a:p>
          <a:p>
            <a:pPr lvl="1"/>
            <a:r>
              <a:rPr lang="en-US" b="1" dirty="0">
                <a:solidFill>
                  <a:srgbClr val="D20000"/>
                </a:solidFill>
              </a:rPr>
              <a:t>Input Stream</a:t>
            </a:r>
          </a:p>
          <a:p>
            <a:pPr lvl="2"/>
            <a:r>
              <a:rPr lang="en-US" sz="2600" dirty="0"/>
              <a:t>a </a:t>
            </a:r>
            <a:r>
              <a:rPr lang="en-US" sz="2600" b="1" dirty="0">
                <a:solidFill>
                  <a:srgbClr val="2C14DE"/>
                </a:solidFill>
              </a:rPr>
              <a:t>channel</a:t>
            </a:r>
            <a:r>
              <a:rPr lang="en-US" sz="2600" dirty="0">
                <a:solidFill>
                  <a:srgbClr val="2C14DE"/>
                </a:solidFill>
              </a:rPr>
              <a:t> </a:t>
            </a:r>
            <a:r>
              <a:rPr lang="en-US" sz="2600" dirty="0"/>
              <a:t>where </a:t>
            </a:r>
            <a:r>
              <a:rPr lang="en-US" sz="2600" b="1" dirty="0">
                <a:solidFill>
                  <a:srgbClr val="2C14DE"/>
                </a:solidFill>
              </a:rPr>
              <a:t>data</a:t>
            </a:r>
            <a:r>
              <a:rPr lang="en-US" sz="2600" dirty="0">
                <a:solidFill>
                  <a:srgbClr val="2C14DE"/>
                </a:solidFill>
              </a:rPr>
              <a:t> </a:t>
            </a:r>
            <a:r>
              <a:rPr lang="en-US" sz="2600" dirty="0"/>
              <a:t>are </a:t>
            </a:r>
            <a:r>
              <a:rPr lang="en-US" sz="2600" b="1" dirty="0">
                <a:solidFill>
                  <a:srgbClr val="2C14DE"/>
                </a:solidFill>
              </a:rPr>
              <a:t>received from a sender</a:t>
            </a:r>
          </a:p>
          <a:p>
            <a:pPr lvl="2"/>
            <a:r>
              <a:rPr lang="en-US" sz="2600" b="1" dirty="0" err="1">
                <a:solidFill>
                  <a:srgbClr val="008000"/>
                </a:solidFill>
              </a:rPr>
              <a:t>cin</a:t>
            </a:r>
            <a:r>
              <a:rPr lang="en-US" sz="2600" dirty="0"/>
              <a:t>; the </a:t>
            </a:r>
            <a:r>
              <a:rPr lang="en-US" sz="2600" b="1" u="sng" dirty="0"/>
              <a:t>standard input stream </a:t>
            </a:r>
            <a:r>
              <a:rPr lang="en-US" sz="2600" dirty="0"/>
              <a:t>(from the </a:t>
            </a:r>
            <a:r>
              <a:rPr lang="en-US" sz="2600" b="1" dirty="0"/>
              <a:t>keyboard</a:t>
            </a:r>
            <a:r>
              <a:rPr lang="en-US" sz="2600" dirty="0"/>
              <a:t>)</a:t>
            </a:r>
          </a:p>
          <a:p>
            <a:pPr lvl="2"/>
            <a:r>
              <a:rPr lang="en-US" sz="2600" dirty="0"/>
              <a:t>the keyboard is a </a:t>
            </a:r>
            <a:r>
              <a:rPr lang="en-US" sz="2600" b="1" i="1" dirty="0"/>
              <a:t>source</a:t>
            </a:r>
            <a:r>
              <a:rPr lang="en-US" sz="2600" b="1" dirty="0"/>
              <a:t> device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563756" y="106680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84346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1"/>
            <a:ext cx="8153400" cy="1036319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</a:rPr>
              <a:t>Stream Processing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1563756" y="1143000"/>
            <a:ext cx="9067800" cy="5638800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</a:rPr>
              <a:t>Five operations necessary</a:t>
            </a:r>
            <a:r>
              <a:rPr lang="en-US" dirty="0">
                <a:solidFill>
                  <a:srgbClr val="D20000"/>
                </a:solidFill>
              </a:rPr>
              <a:t> </a:t>
            </a:r>
            <a:r>
              <a:rPr lang="en-US" dirty="0"/>
              <a:t>for </a:t>
            </a:r>
            <a:r>
              <a:rPr lang="en-US" b="1" dirty="0">
                <a:solidFill>
                  <a:srgbClr val="D20000"/>
                </a:solidFill>
              </a:rPr>
              <a:t>stream processing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>
                <a:solidFill>
                  <a:srgbClr val="2C14DE"/>
                </a:solidFill>
              </a:rPr>
              <a:t>stream must be opened </a:t>
            </a:r>
            <a:r>
              <a:rPr lang="en-US" dirty="0"/>
              <a:t>for use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if it</a:t>
            </a:r>
            <a:r>
              <a:rPr lang="ja-JP" altLang="en-US" dirty="0"/>
              <a:t>’</a:t>
            </a:r>
            <a:r>
              <a:rPr lang="en-US" altLang="ja-JP" dirty="0"/>
              <a:t>s an </a:t>
            </a:r>
            <a:r>
              <a:rPr lang="en-US" altLang="ja-JP" b="1" dirty="0"/>
              <a:t>input stream</a:t>
            </a:r>
            <a:r>
              <a:rPr lang="en-US" altLang="ja-JP" dirty="0"/>
              <a:t>, </a:t>
            </a:r>
            <a:r>
              <a:rPr lang="en-US" altLang="ja-JP" b="1" i="1" dirty="0">
                <a:solidFill>
                  <a:srgbClr val="2C14DE"/>
                </a:solidFill>
              </a:rPr>
              <a:t>get</a:t>
            </a:r>
            <a:r>
              <a:rPr lang="en-US" altLang="ja-JP" dirty="0">
                <a:solidFill>
                  <a:srgbClr val="2C14DE"/>
                </a:solidFill>
              </a:rPr>
              <a:t> </a:t>
            </a:r>
            <a:r>
              <a:rPr lang="en-US" altLang="ja-JP" dirty="0"/>
              <a:t>the </a:t>
            </a:r>
            <a:r>
              <a:rPr lang="en-US" altLang="ja-JP" b="1" dirty="0"/>
              <a:t>next element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>
                <a:solidFill>
                  <a:srgbClr val="2C14DE"/>
                </a:solidFill>
              </a:rPr>
              <a:t>detect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2C14DE"/>
                </a:solidFill>
              </a:rPr>
              <a:t>end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of the </a:t>
            </a:r>
            <a:r>
              <a:rPr lang="en-US" b="1" dirty="0"/>
              <a:t>input stream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if it</a:t>
            </a:r>
            <a:r>
              <a:rPr lang="ja-JP" altLang="en-US" dirty="0"/>
              <a:t>’</a:t>
            </a:r>
            <a:r>
              <a:rPr lang="en-US" altLang="ja-JP" dirty="0"/>
              <a:t>s an </a:t>
            </a:r>
            <a:r>
              <a:rPr lang="en-US" altLang="ja-JP" b="1" u="sng" dirty="0"/>
              <a:t>output stream</a:t>
            </a:r>
            <a:r>
              <a:rPr lang="en-US" altLang="ja-JP" dirty="0"/>
              <a:t>, </a:t>
            </a:r>
            <a:r>
              <a:rPr lang="en-US" altLang="ja-JP" b="1" i="1" dirty="0">
                <a:solidFill>
                  <a:srgbClr val="2C14DE"/>
                </a:solidFill>
              </a:rPr>
              <a:t>put</a:t>
            </a:r>
            <a:r>
              <a:rPr lang="en-US" altLang="ja-JP" dirty="0">
                <a:solidFill>
                  <a:srgbClr val="2C14DE"/>
                </a:solidFill>
              </a:rPr>
              <a:t> </a:t>
            </a:r>
            <a:r>
              <a:rPr lang="en-US" altLang="ja-JP" dirty="0"/>
              <a:t>the </a:t>
            </a:r>
            <a:r>
              <a:rPr lang="en-US" altLang="ja-JP" b="1" dirty="0"/>
              <a:t>next element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>
                <a:solidFill>
                  <a:srgbClr val="2C14DE"/>
                </a:solidFill>
              </a:rPr>
              <a:t>close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2C14DE"/>
                </a:solidFill>
              </a:rPr>
              <a:t>stream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1563756" y="106680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09458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1"/>
            <a:ext cx="8153400" cy="1112519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</a:rPr>
              <a:t>Standard Input / Output Streams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590916" y="1219200"/>
            <a:ext cx="9144000" cy="5638800"/>
          </a:xfrm>
        </p:spPr>
        <p:txBody>
          <a:bodyPr/>
          <a:lstStyle/>
          <a:p>
            <a:r>
              <a:rPr lang="en-US" sz="2800" b="1" dirty="0">
                <a:solidFill>
                  <a:srgbClr val="D20000"/>
                </a:solidFill>
              </a:rPr>
              <a:t>Standard Streams </a:t>
            </a:r>
            <a:r>
              <a:rPr lang="en-US" sz="2800" b="1" dirty="0"/>
              <a:t>use</a:t>
            </a:r>
            <a:r>
              <a:rPr lang="en-US" sz="2800" dirty="0"/>
              <a:t> </a:t>
            </a:r>
            <a:r>
              <a:rPr lang="en-US" sz="2800" b="1" dirty="0"/>
              <a:t>#include &lt;</a:t>
            </a:r>
            <a:r>
              <a:rPr lang="en-US" sz="2800" b="1" dirty="0">
                <a:solidFill>
                  <a:srgbClr val="D20000"/>
                </a:solidFill>
              </a:rPr>
              <a:t>iostream</a:t>
            </a:r>
            <a:r>
              <a:rPr lang="en-US" sz="2800" b="1" dirty="0"/>
              <a:t>&gt;</a:t>
            </a:r>
          </a:p>
          <a:p>
            <a:pPr lvl="1"/>
            <a:r>
              <a:rPr lang="en-US" sz="2400" b="1" dirty="0"/>
              <a:t>Standard Input Stream</a:t>
            </a:r>
          </a:p>
          <a:p>
            <a:pPr lvl="2"/>
            <a:r>
              <a:rPr lang="en-US" sz="2000" dirty="0" err="1"/>
              <a:t>cin</a:t>
            </a:r>
            <a:r>
              <a:rPr lang="en-US" sz="2000" dirty="0"/>
              <a:t> names the stream</a:t>
            </a:r>
          </a:p>
          <a:p>
            <a:pPr lvl="2"/>
            <a:r>
              <a:rPr lang="en-US" sz="2000" dirty="0"/>
              <a:t>the extractor operator &gt;&gt; extracts, gets, or receives the next element from the stream</a:t>
            </a:r>
          </a:p>
          <a:p>
            <a:pPr lvl="1"/>
            <a:r>
              <a:rPr lang="en-US" sz="2400" b="1" dirty="0"/>
              <a:t>Standard Output Stream</a:t>
            </a:r>
          </a:p>
          <a:p>
            <a:pPr lvl="2"/>
            <a:r>
              <a:rPr lang="en-US" sz="2000" dirty="0" err="1"/>
              <a:t>cout</a:t>
            </a:r>
            <a:r>
              <a:rPr lang="en-US" sz="2000" dirty="0"/>
              <a:t> names the stream</a:t>
            </a:r>
          </a:p>
          <a:p>
            <a:pPr lvl="2"/>
            <a:r>
              <a:rPr lang="en-US" sz="2000" dirty="0"/>
              <a:t>the inserter operator &lt;&lt; inserts, puts, or sends the next element to the stream</a:t>
            </a:r>
          </a:p>
          <a:p>
            <a:pPr lvl="1"/>
            <a:r>
              <a:rPr lang="en-US" sz="2400" dirty="0"/>
              <a:t>Opening &amp; closing of the standard streams occur automatically when the program begins &amp; ends.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563756" y="106680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2100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0"/>
            <a:ext cx="8153400" cy="1143000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</a:rPr>
              <a:t>File Streams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1524000" y="1056689"/>
            <a:ext cx="9144000" cy="5638800"/>
          </a:xfrm>
        </p:spPr>
        <p:txBody>
          <a:bodyPr/>
          <a:lstStyle/>
          <a:p>
            <a:r>
              <a:rPr lang="en-US" sz="2800" b="1" dirty="0">
                <a:solidFill>
                  <a:srgbClr val="D20000"/>
                </a:solidFill>
              </a:rPr>
              <a:t>Files</a:t>
            </a:r>
          </a:p>
          <a:p>
            <a:pPr lvl="1"/>
            <a:r>
              <a:rPr lang="en-US" sz="2400" b="1" dirty="0">
                <a:solidFill>
                  <a:srgbClr val="2C14DE"/>
                </a:solidFill>
              </a:rPr>
              <a:t>data structures </a:t>
            </a:r>
            <a:r>
              <a:rPr lang="en-US" sz="2400" dirty="0"/>
              <a:t>that are </a:t>
            </a:r>
            <a:r>
              <a:rPr lang="en-US" sz="2400" b="1" dirty="0">
                <a:solidFill>
                  <a:srgbClr val="2C14DE"/>
                </a:solidFill>
              </a:rPr>
              <a:t>stored separately from the program</a:t>
            </a:r>
            <a:endParaRPr lang="en-US" sz="2400" b="1" dirty="0"/>
          </a:p>
          <a:p>
            <a:pPr lvl="1"/>
            <a:r>
              <a:rPr lang="en-US" sz="2400" b="1" dirty="0">
                <a:solidFill>
                  <a:srgbClr val="2C14DE"/>
                </a:solidFill>
              </a:rPr>
              <a:t>Input File Stream</a:t>
            </a:r>
          </a:p>
          <a:p>
            <a:pPr lvl="2"/>
            <a:r>
              <a:rPr lang="en-US" b="1" dirty="0"/>
              <a:t>extracts</a:t>
            </a:r>
            <a:r>
              <a:rPr lang="en-US" dirty="0"/>
              <a:t>, </a:t>
            </a:r>
            <a:r>
              <a:rPr lang="en-US" b="1" dirty="0"/>
              <a:t>receives</a:t>
            </a:r>
            <a:r>
              <a:rPr lang="en-US" dirty="0"/>
              <a:t>, or </a:t>
            </a:r>
            <a:r>
              <a:rPr lang="en-US" b="1" dirty="0"/>
              <a:t>gets data </a:t>
            </a:r>
            <a:r>
              <a:rPr lang="en-US" dirty="0"/>
              <a:t>from the </a:t>
            </a:r>
            <a:r>
              <a:rPr lang="en-US" b="1" dirty="0"/>
              <a:t>file</a:t>
            </a:r>
          </a:p>
          <a:p>
            <a:pPr lvl="2"/>
            <a:endParaRPr lang="en-US" sz="2000" dirty="0"/>
          </a:p>
          <a:p>
            <a:pPr lvl="1"/>
            <a:r>
              <a:rPr lang="en-US" sz="2400" b="1" dirty="0">
                <a:solidFill>
                  <a:srgbClr val="2C14DE"/>
                </a:solidFill>
              </a:rPr>
              <a:t>Output File Stream</a:t>
            </a:r>
          </a:p>
          <a:p>
            <a:pPr lvl="2"/>
            <a:r>
              <a:rPr lang="en-US" b="1" dirty="0"/>
              <a:t>inserts</a:t>
            </a:r>
            <a:r>
              <a:rPr lang="en-US" dirty="0"/>
              <a:t>, </a:t>
            </a:r>
            <a:r>
              <a:rPr lang="en-US" b="1" dirty="0"/>
              <a:t>sends</a:t>
            </a:r>
            <a:r>
              <a:rPr lang="en-US" dirty="0"/>
              <a:t>, or </a:t>
            </a:r>
            <a:r>
              <a:rPr lang="en-US" b="1" dirty="0"/>
              <a:t>puts data </a:t>
            </a:r>
            <a:r>
              <a:rPr lang="en-US" dirty="0"/>
              <a:t>to the </a:t>
            </a:r>
            <a:r>
              <a:rPr lang="en-US" b="1" dirty="0"/>
              <a:t>file</a:t>
            </a:r>
          </a:p>
          <a:p>
            <a:pPr lvl="2"/>
            <a:endParaRPr lang="en-US" sz="2000" dirty="0"/>
          </a:p>
          <a:p>
            <a:pPr lvl="1"/>
            <a:r>
              <a:rPr lang="en-US" sz="2400" b="1" dirty="0"/>
              <a:t>#include &lt;</a:t>
            </a:r>
            <a:r>
              <a:rPr lang="en-US" sz="2400" b="1" dirty="0" err="1"/>
              <a:t>fstream</a:t>
            </a:r>
            <a:r>
              <a:rPr lang="en-US" sz="2400" b="1" dirty="0"/>
              <a:t>&gt; creates two new classes</a:t>
            </a:r>
          </a:p>
          <a:p>
            <a:pPr lvl="2"/>
            <a:r>
              <a:rPr lang="en-US" b="1" dirty="0" err="1"/>
              <a:t>ofstream</a:t>
            </a:r>
            <a:r>
              <a:rPr lang="en-US" dirty="0"/>
              <a:t> (</a:t>
            </a:r>
            <a:r>
              <a:rPr lang="en-US" b="1" dirty="0">
                <a:solidFill>
                  <a:srgbClr val="2C14DE"/>
                </a:solidFill>
              </a:rPr>
              <a:t>o</a:t>
            </a:r>
            <a:r>
              <a:rPr lang="en-US" dirty="0">
                <a:solidFill>
                  <a:srgbClr val="2C14DE"/>
                </a:solidFill>
              </a:rPr>
              <a:t>utput </a:t>
            </a:r>
            <a:r>
              <a:rPr lang="en-US" b="1" dirty="0">
                <a:solidFill>
                  <a:srgbClr val="2C14DE"/>
                </a:solidFill>
              </a:rPr>
              <a:t>f</a:t>
            </a:r>
            <a:r>
              <a:rPr lang="en-US" dirty="0">
                <a:solidFill>
                  <a:srgbClr val="2C14DE"/>
                </a:solidFill>
              </a:rPr>
              <a:t>ile stream</a:t>
            </a:r>
            <a:r>
              <a:rPr lang="en-US" dirty="0"/>
              <a:t>)</a:t>
            </a:r>
          </a:p>
          <a:p>
            <a:pPr lvl="2"/>
            <a:r>
              <a:rPr lang="en-US" b="1" dirty="0" err="1"/>
              <a:t>ifstream</a:t>
            </a:r>
            <a:r>
              <a:rPr lang="en-US" dirty="0"/>
              <a:t> (</a:t>
            </a:r>
            <a:r>
              <a:rPr lang="en-US" b="1" dirty="0">
                <a:solidFill>
                  <a:srgbClr val="2C14DE"/>
                </a:solidFill>
              </a:rPr>
              <a:t>i</a:t>
            </a:r>
            <a:r>
              <a:rPr lang="en-US" dirty="0">
                <a:solidFill>
                  <a:srgbClr val="2C14DE"/>
                </a:solidFill>
              </a:rPr>
              <a:t>nput </a:t>
            </a:r>
            <a:r>
              <a:rPr lang="en-US" b="1" dirty="0">
                <a:solidFill>
                  <a:srgbClr val="2C14DE"/>
                </a:solidFill>
              </a:rPr>
              <a:t>f</a:t>
            </a:r>
            <a:r>
              <a:rPr lang="en-US" dirty="0">
                <a:solidFill>
                  <a:srgbClr val="2C14DE"/>
                </a:solidFill>
              </a:rPr>
              <a:t>ile stream</a:t>
            </a:r>
            <a:r>
              <a:rPr lang="en-US" dirty="0"/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1563756" y="106680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07094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1"/>
            <a:ext cx="8153400" cy="1036319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</a:rPr>
              <a:t>Output File Streams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1563756" y="1143000"/>
            <a:ext cx="9104244" cy="5638800"/>
          </a:xfrm>
        </p:spPr>
        <p:txBody>
          <a:bodyPr/>
          <a:lstStyle/>
          <a:p>
            <a:pPr lvl="1"/>
            <a:r>
              <a:rPr lang="en-US" b="1" dirty="0">
                <a:solidFill>
                  <a:srgbClr val="D20000"/>
                </a:solidFill>
              </a:rPr>
              <a:t>#include &lt;</a:t>
            </a:r>
            <a:r>
              <a:rPr lang="en-US" b="1" dirty="0" err="1">
                <a:solidFill>
                  <a:srgbClr val="D20000"/>
                </a:solidFill>
              </a:rPr>
              <a:t>fstream</a:t>
            </a:r>
            <a:r>
              <a:rPr lang="en-US" b="1" dirty="0">
                <a:solidFill>
                  <a:srgbClr val="D20000"/>
                </a:solidFill>
              </a:rPr>
              <a:t>&gt;</a:t>
            </a:r>
          </a:p>
          <a:p>
            <a:pPr lvl="2"/>
            <a:r>
              <a:rPr lang="en-US" b="1" dirty="0">
                <a:solidFill>
                  <a:srgbClr val="2C14DE"/>
                </a:solidFill>
              </a:rPr>
              <a:t>allows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b="1" dirty="0">
                <a:solidFill>
                  <a:srgbClr val="2C14DE"/>
                </a:solidFill>
              </a:rPr>
              <a:t>use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of the </a:t>
            </a:r>
            <a:r>
              <a:rPr lang="en-US" b="1" dirty="0">
                <a:solidFill>
                  <a:srgbClr val="2C14DE"/>
                </a:solidFill>
              </a:rPr>
              <a:t>two classes</a:t>
            </a:r>
            <a:r>
              <a:rPr lang="en-US" dirty="0"/>
              <a:t>: </a:t>
            </a:r>
            <a:r>
              <a:rPr lang="en-US" b="1" dirty="0" err="1"/>
              <a:t>ofstream</a:t>
            </a:r>
            <a:r>
              <a:rPr lang="en-US" dirty="0"/>
              <a:t>, </a:t>
            </a:r>
            <a:r>
              <a:rPr lang="en-US" b="1" dirty="0" err="1"/>
              <a:t>ifstream</a:t>
            </a:r>
            <a:endParaRPr lang="en-US" b="1" dirty="0"/>
          </a:p>
          <a:p>
            <a:pPr lvl="1"/>
            <a:r>
              <a:rPr lang="en-US" b="1" dirty="0" err="1">
                <a:solidFill>
                  <a:srgbClr val="D20000"/>
                </a:solidFill>
              </a:rPr>
              <a:t>ofstream</a:t>
            </a:r>
            <a:r>
              <a:rPr lang="en-US" b="1" dirty="0">
                <a:solidFill>
                  <a:srgbClr val="D20000"/>
                </a:solidFill>
              </a:rPr>
              <a:t>  </a:t>
            </a:r>
            <a:r>
              <a:rPr lang="en-US" b="1" dirty="0" err="1">
                <a:solidFill>
                  <a:srgbClr val="D20000"/>
                </a:solidFill>
              </a:rPr>
              <a:t>out_file</a:t>
            </a:r>
            <a:r>
              <a:rPr lang="en-US" b="1" dirty="0">
                <a:solidFill>
                  <a:srgbClr val="D20000"/>
                </a:solidFill>
              </a:rPr>
              <a:t>;</a:t>
            </a:r>
          </a:p>
          <a:p>
            <a:pPr lvl="2"/>
            <a:r>
              <a:rPr lang="en-US" dirty="0"/>
              <a:t>a </a:t>
            </a:r>
            <a:r>
              <a:rPr lang="en-US" b="1" dirty="0"/>
              <a:t>variable</a:t>
            </a:r>
            <a:r>
              <a:rPr lang="en-US" dirty="0"/>
              <a:t> or </a:t>
            </a:r>
            <a:r>
              <a:rPr lang="en-US" b="1" dirty="0"/>
              <a:t>object</a:t>
            </a:r>
            <a:r>
              <a:rPr lang="en-US" dirty="0"/>
              <a:t> (</a:t>
            </a:r>
            <a:r>
              <a:rPr lang="en-US" dirty="0" err="1"/>
              <a:t>out_file</a:t>
            </a:r>
            <a:r>
              <a:rPr lang="en-US" dirty="0"/>
              <a:t>) is </a:t>
            </a:r>
            <a:r>
              <a:rPr lang="en-US" b="1" dirty="0"/>
              <a:t>declared to be of type </a:t>
            </a:r>
            <a:r>
              <a:rPr lang="en-US" dirty="0"/>
              <a:t>or of the class </a:t>
            </a:r>
            <a:r>
              <a:rPr lang="en-US" b="1" dirty="0" err="1"/>
              <a:t>ofstream</a:t>
            </a:r>
            <a:endParaRPr lang="en-US" b="1" dirty="0"/>
          </a:p>
          <a:p>
            <a:pPr lvl="1"/>
            <a:r>
              <a:rPr lang="en-US" b="1" dirty="0" err="1">
                <a:solidFill>
                  <a:srgbClr val="D20000"/>
                </a:solidFill>
              </a:rPr>
              <a:t>out_file.open</a:t>
            </a:r>
            <a:r>
              <a:rPr lang="en-US" b="1" dirty="0">
                <a:solidFill>
                  <a:srgbClr val="D20000"/>
                </a:solidFill>
              </a:rPr>
              <a:t>(</a:t>
            </a:r>
            <a:r>
              <a:rPr lang="ja-JP" altLang="en-US" b="1" dirty="0">
                <a:solidFill>
                  <a:srgbClr val="D20000"/>
                </a:solidFill>
              </a:rPr>
              <a:t>“</a:t>
            </a:r>
            <a:r>
              <a:rPr lang="en-US" altLang="ja-JP" b="1" dirty="0">
                <a:solidFill>
                  <a:srgbClr val="D20000"/>
                </a:solidFill>
              </a:rPr>
              <a:t>myfile.dat</a:t>
            </a:r>
            <a:r>
              <a:rPr lang="ja-JP" altLang="en-US" b="1" dirty="0">
                <a:solidFill>
                  <a:srgbClr val="D20000"/>
                </a:solidFill>
              </a:rPr>
              <a:t>”</a:t>
            </a:r>
            <a:r>
              <a:rPr lang="en-US" altLang="ja-JP" b="1" dirty="0">
                <a:solidFill>
                  <a:srgbClr val="D20000"/>
                </a:solidFill>
              </a:rPr>
              <a:t>);</a:t>
            </a:r>
          </a:p>
          <a:p>
            <a:pPr lvl="2"/>
            <a:r>
              <a:rPr lang="en-US" b="1" dirty="0">
                <a:solidFill>
                  <a:srgbClr val="2C14DE"/>
                </a:solidFill>
              </a:rPr>
              <a:t>connect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2C14DE"/>
                </a:solidFill>
              </a:rPr>
              <a:t>output file stream </a:t>
            </a:r>
            <a:r>
              <a:rPr lang="en-US" dirty="0"/>
              <a:t>to a </a:t>
            </a:r>
            <a:r>
              <a:rPr lang="en-US" b="1" dirty="0">
                <a:solidFill>
                  <a:srgbClr val="2C14DE"/>
                </a:solidFill>
              </a:rPr>
              <a:t>file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on the disk </a:t>
            </a:r>
            <a:r>
              <a:rPr lang="en-US" b="1" dirty="0"/>
              <a:t>in the default directory</a:t>
            </a:r>
            <a:r>
              <a:rPr lang="en-US" dirty="0"/>
              <a:t> named </a:t>
            </a:r>
            <a:r>
              <a:rPr lang="ja-JP" altLang="en-US" dirty="0"/>
              <a:t>“</a:t>
            </a:r>
            <a:r>
              <a:rPr lang="en-US" altLang="ja-JP" b="1" dirty="0" err="1"/>
              <a:t>myfile</a:t>
            </a:r>
            <a:r>
              <a:rPr lang="ja-JP" altLang="en-US" dirty="0"/>
              <a:t>”</a:t>
            </a:r>
            <a:endParaRPr lang="en-US" altLang="ja-JP" dirty="0"/>
          </a:p>
          <a:p>
            <a:pPr lvl="2"/>
            <a:r>
              <a:rPr lang="en-US" b="1" dirty="0"/>
              <a:t>if</a:t>
            </a:r>
            <a:r>
              <a:rPr lang="en-US" dirty="0"/>
              <a:t> </a:t>
            </a:r>
            <a:r>
              <a:rPr lang="ja-JP" altLang="en-US" dirty="0"/>
              <a:t>“</a:t>
            </a:r>
            <a:r>
              <a:rPr lang="en-US" altLang="ja-JP" b="1" dirty="0" err="1"/>
              <a:t>myfile</a:t>
            </a:r>
            <a:r>
              <a:rPr lang="ja-JP" altLang="en-US" dirty="0"/>
              <a:t>”</a:t>
            </a:r>
            <a:r>
              <a:rPr lang="en-US" altLang="ja-JP" dirty="0"/>
              <a:t> </a:t>
            </a:r>
            <a:r>
              <a:rPr lang="en-US" altLang="ja-JP" b="1" dirty="0">
                <a:solidFill>
                  <a:srgbClr val="2C14DE"/>
                </a:solidFill>
              </a:rPr>
              <a:t>exists</a:t>
            </a:r>
            <a:r>
              <a:rPr lang="en-US" altLang="ja-JP" dirty="0">
                <a:solidFill>
                  <a:srgbClr val="2C14DE"/>
                </a:solidFill>
              </a:rPr>
              <a:t> </a:t>
            </a:r>
            <a:r>
              <a:rPr lang="en-US" altLang="ja-JP" dirty="0"/>
              <a:t>it is </a:t>
            </a:r>
            <a:r>
              <a:rPr lang="en-US" altLang="ja-JP" b="1" dirty="0">
                <a:solidFill>
                  <a:srgbClr val="2C14DE"/>
                </a:solidFill>
              </a:rPr>
              <a:t>opened for output </a:t>
            </a:r>
            <a:r>
              <a:rPr lang="en-US" altLang="ja-JP" dirty="0"/>
              <a:t>&amp; </a:t>
            </a:r>
            <a:r>
              <a:rPr lang="en-US" altLang="ja-JP" b="1" dirty="0">
                <a:solidFill>
                  <a:srgbClr val="2C14DE"/>
                </a:solidFill>
              </a:rPr>
              <a:t>connected</a:t>
            </a:r>
            <a:r>
              <a:rPr lang="en-US" altLang="ja-JP" dirty="0">
                <a:solidFill>
                  <a:srgbClr val="2C14DE"/>
                </a:solidFill>
              </a:rPr>
              <a:t> </a:t>
            </a:r>
            <a:r>
              <a:rPr lang="en-US" altLang="ja-JP" dirty="0"/>
              <a:t>to the data stream </a:t>
            </a:r>
            <a:r>
              <a:rPr lang="en-US" altLang="ja-JP" b="1" dirty="0" err="1">
                <a:solidFill>
                  <a:srgbClr val="2C14DE"/>
                </a:solidFill>
              </a:rPr>
              <a:t>out_file</a:t>
            </a:r>
            <a:r>
              <a:rPr lang="en-US" altLang="ja-JP" dirty="0"/>
              <a:t>.  If </a:t>
            </a:r>
            <a:r>
              <a:rPr lang="en-US" altLang="ja-JP" b="1" u="sng" dirty="0"/>
              <a:t>data is there, it is erased!</a:t>
            </a:r>
          </a:p>
          <a:p>
            <a:pPr lvl="2"/>
            <a:r>
              <a:rPr lang="en-US" dirty="0"/>
              <a:t>If </a:t>
            </a:r>
            <a:r>
              <a:rPr lang="ja-JP" altLang="en-US" dirty="0"/>
              <a:t>“</a:t>
            </a:r>
            <a:r>
              <a:rPr lang="en-US" altLang="ja-JP" b="1" dirty="0" err="1"/>
              <a:t>myfile</a:t>
            </a:r>
            <a:r>
              <a:rPr lang="ja-JP" altLang="en-US" dirty="0"/>
              <a:t>”</a:t>
            </a:r>
            <a:r>
              <a:rPr lang="en-US" altLang="ja-JP" dirty="0"/>
              <a:t> </a:t>
            </a:r>
            <a:r>
              <a:rPr lang="en-US" altLang="ja-JP" b="1" dirty="0" err="1">
                <a:solidFill>
                  <a:srgbClr val="2C14DE"/>
                </a:solidFill>
              </a:rPr>
              <a:t>doesn</a:t>
            </a:r>
            <a:r>
              <a:rPr lang="ja-JP" altLang="en-US" b="1" dirty="0">
                <a:solidFill>
                  <a:srgbClr val="2C14DE"/>
                </a:solidFill>
              </a:rPr>
              <a:t>’</a:t>
            </a:r>
            <a:r>
              <a:rPr lang="en-US" altLang="ja-JP" b="1" dirty="0">
                <a:solidFill>
                  <a:srgbClr val="2C14DE"/>
                </a:solidFill>
              </a:rPr>
              <a:t>t exist</a:t>
            </a:r>
            <a:r>
              <a:rPr lang="en-US" altLang="ja-JP" dirty="0"/>
              <a:t>, it is </a:t>
            </a:r>
            <a:r>
              <a:rPr lang="en-US" altLang="ja-JP" b="1" dirty="0">
                <a:solidFill>
                  <a:srgbClr val="2C14DE"/>
                </a:solidFill>
              </a:rPr>
              <a:t>created &amp; connected </a:t>
            </a:r>
            <a:r>
              <a:rPr lang="en-US" altLang="ja-JP" dirty="0"/>
              <a:t>to the </a:t>
            </a:r>
            <a:r>
              <a:rPr lang="en-US" altLang="ja-JP" b="1" dirty="0"/>
              <a:t>data stream </a:t>
            </a:r>
            <a:r>
              <a:rPr lang="en-US" altLang="ja-JP" b="1" dirty="0" err="1"/>
              <a:t>out_file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1563756" y="106680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2634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0"/>
            <a:ext cx="8153400" cy="1066800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</a:rPr>
              <a:t>Output File Streams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1563756" y="1143000"/>
            <a:ext cx="9104244" cy="5638800"/>
          </a:xfrm>
        </p:spPr>
        <p:txBody>
          <a:bodyPr/>
          <a:lstStyle/>
          <a:p>
            <a:r>
              <a:rPr lang="en-US" sz="2800" b="1" u="sng" dirty="0"/>
              <a:t>General Form for output file stream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800" dirty="0"/>
              <a:t>	</a:t>
            </a:r>
            <a:r>
              <a:rPr lang="en-US" sz="2800" b="1" dirty="0" err="1">
                <a:solidFill>
                  <a:srgbClr val="D20000"/>
                </a:solidFill>
              </a:rPr>
              <a:t>ofstream</a:t>
            </a:r>
            <a:r>
              <a:rPr lang="en-US" sz="2800" dirty="0">
                <a:solidFill>
                  <a:srgbClr val="D20000"/>
                </a:solidFill>
              </a:rPr>
              <a:t> </a:t>
            </a:r>
            <a:r>
              <a:rPr lang="en-US" sz="2800" dirty="0"/>
              <a:t>&lt;</a:t>
            </a:r>
            <a:r>
              <a:rPr lang="en-US" sz="2800" dirty="0">
                <a:solidFill>
                  <a:srgbClr val="D20000"/>
                </a:solidFill>
              </a:rPr>
              <a:t>stream variable name</a:t>
            </a:r>
            <a:r>
              <a:rPr lang="en-US" sz="2800" dirty="0"/>
              <a:t>&gt;;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800" dirty="0"/>
              <a:t>	&lt;</a:t>
            </a:r>
            <a:r>
              <a:rPr lang="en-US" sz="2800" b="1" dirty="0"/>
              <a:t>stream variable name</a:t>
            </a:r>
            <a:r>
              <a:rPr lang="en-US" sz="2800" dirty="0"/>
              <a:t>&gt;</a:t>
            </a:r>
            <a:r>
              <a:rPr lang="en-US" sz="2800" b="1" dirty="0"/>
              <a:t>.open</a:t>
            </a:r>
            <a:r>
              <a:rPr lang="en-US" sz="2800" dirty="0"/>
              <a:t>(&lt;</a:t>
            </a:r>
            <a:r>
              <a:rPr lang="en-US" sz="2800" b="1" dirty="0"/>
              <a:t>file name</a:t>
            </a:r>
            <a:r>
              <a:rPr lang="en-US" sz="2800" dirty="0"/>
              <a:t>&gt;);</a:t>
            </a:r>
          </a:p>
          <a:p>
            <a:pPr lvl="1"/>
            <a:r>
              <a:rPr lang="en-US" sz="2400" dirty="0"/>
              <a:t>the stream variable name can be any valid C++ identifier (</a:t>
            </a:r>
            <a:r>
              <a:rPr lang="en-US" sz="2400" b="1" dirty="0" err="1"/>
              <a:t>out_file</a:t>
            </a:r>
            <a:r>
              <a:rPr lang="en-US" sz="2400" dirty="0"/>
              <a:t> is a good name to use)</a:t>
            </a:r>
          </a:p>
          <a:p>
            <a:pPr lvl="1"/>
            <a:endParaRPr lang="en-US" sz="2400" dirty="0"/>
          </a:p>
          <a:p>
            <a:r>
              <a:rPr lang="en-US" sz="2800" dirty="0"/>
              <a:t>The </a:t>
            </a:r>
            <a:r>
              <a:rPr lang="en-US" sz="2800" b="1" dirty="0"/>
              <a:t>file stream </a:t>
            </a:r>
            <a:r>
              <a:rPr lang="en-US" sz="2800" dirty="0"/>
              <a:t>should be </a:t>
            </a:r>
            <a:r>
              <a:rPr lang="en-US" sz="2800" b="1" dirty="0"/>
              <a:t>closed when you are finished</a:t>
            </a:r>
            <a:r>
              <a:rPr lang="en-US" sz="2800" dirty="0"/>
              <a:t>.  If </a:t>
            </a:r>
            <a:r>
              <a:rPr lang="en-US" sz="2800" b="1" dirty="0" err="1">
                <a:solidFill>
                  <a:srgbClr val="2C14DE"/>
                </a:solidFill>
              </a:rPr>
              <a:t>out_file</a:t>
            </a:r>
            <a:r>
              <a:rPr lang="en-US" sz="2800" dirty="0">
                <a:solidFill>
                  <a:srgbClr val="2C14DE"/>
                </a:solidFill>
              </a:rPr>
              <a:t> </a:t>
            </a:r>
            <a:r>
              <a:rPr lang="en-US" sz="2800" dirty="0"/>
              <a:t>is the </a:t>
            </a:r>
            <a:r>
              <a:rPr lang="en-US" sz="2800" b="1" dirty="0">
                <a:solidFill>
                  <a:srgbClr val="2C14DE"/>
                </a:solidFill>
              </a:rPr>
              <a:t>variable name</a:t>
            </a:r>
            <a:r>
              <a:rPr lang="en-US" sz="2800" dirty="0"/>
              <a:t> then:</a:t>
            </a:r>
          </a:p>
          <a:p>
            <a:pPr lvl="1"/>
            <a:r>
              <a:rPr lang="en-US" b="1" dirty="0" err="1"/>
              <a:t>out_file.close</a:t>
            </a:r>
            <a:r>
              <a:rPr lang="en-US" b="1" dirty="0"/>
              <a:t>( )</a:t>
            </a:r>
            <a:r>
              <a:rPr lang="en-US" dirty="0"/>
              <a:t>  //no file name parameter used</a:t>
            </a:r>
          </a:p>
          <a:p>
            <a:pPr lvl="1"/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1563756" y="106680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0039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1"/>
            <a:ext cx="8153400" cy="1036319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</a:rPr>
              <a:t>Errors Opening &amp; Closing Files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1563756" y="1143000"/>
            <a:ext cx="9067800" cy="5638800"/>
          </a:xfrm>
        </p:spPr>
        <p:txBody>
          <a:bodyPr/>
          <a:lstStyle/>
          <a:p>
            <a:r>
              <a:rPr lang="en-US" sz="2400" dirty="0"/>
              <a:t>C++ has a </a:t>
            </a:r>
            <a:r>
              <a:rPr lang="ja-JP" altLang="en-US" sz="2400" dirty="0"/>
              <a:t>“</a:t>
            </a:r>
            <a:r>
              <a:rPr lang="en-US" altLang="ja-JP" sz="2400" b="1" dirty="0">
                <a:solidFill>
                  <a:srgbClr val="2C14DE"/>
                </a:solidFill>
              </a:rPr>
              <a:t>fail</a:t>
            </a:r>
            <a:r>
              <a:rPr lang="ja-JP" altLang="en-US" sz="2400" dirty="0"/>
              <a:t>”</a:t>
            </a:r>
            <a:r>
              <a:rPr lang="en-US" altLang="ja-JP" sz="2400" dirty="0"/>
              <a:t> </a:t>
            </a:r>
            <a:r>
              <a:rPr lang="en-US" altLang="ja-JP" sz="2400" b="1" dirty="0">
                <a:solidFill>
                  <a:srgbClr val="2C14DE"/>
                </a:solidFill>
              </a:rPr>
              <a:t>function for use with file streams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1800" dirty="0"/>
              <a:t>	</a:t>
            </a:r>
            <a:r>
              <a:rPr lang="en-US" sz="2400" dirty="0"/>
              <a:t>#include &lt;</a:t>
            </a:r>
            <a:r>
              <a:rPr lang="en-US" sz="2400" dirty="0" err="1"/>
              <a:t>fstream.h</a:t>
            </a:r>
            <a:r>
              <a:rPr lang="en-US" sz="2400" dirty="0"/>
              <a:t>&gt;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/>
              <a:t>	#include &lt;</a:t>
            </a:r>
            <a:r>
              <a:rPr lang="en-US" sz="2400" dirty="0" err="1"/>
              <a:t>assert.h</a:t>
            </a:r>
            <a:r>
              <a:rPr lang="en-US" sz="2400" dirty="0"/>
              <a:t>&gt;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/>
              <a:t>	. . 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/>
              <a:t>	</a:t>
            </a:r>
            <a:r>
              <a:rPr lang="en-US" sz="2400" dirty="0" err="1"/>
              <a:t>ofstream</a:t>
            </a:r>
            <a:r>
              <a:rPr lang="en-US" sz="2400" dirty="0"/>
              <a:t> </a:t>
            </a:r>
            <a:r>
              <a:rPr lang="en-US" sz="2400" dirty="0" err="1"/>
              <a:t>out_file</a:t>
            </a:r>
            <a:r>
              <a:rPr lang="en-US" sz="2400" dirty="0"/>
              <a:t>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/>
              <a:t>	. . 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/>
              <a:t>	</a:t>
            </a:r>
            <a:r>
              <a:rPr lang="en-US" sz="2400" dirty="0" err="1"/>
              <a:t>out_file.open</a:t>
            </a:r>
            <a:r>
              <a:rPr lang="en-US" sz="2400" dirty="0"/>
              <a:t>(</a:t>
            </a:r>
            <a:r>
              <a:rPr lang="ja-JP" altLang="en-US" sz="2400" dirty="0"/>
              <a:t>“</a:t>
            </a:r>
            <a:r>
              <a:rPr lang="en-US" altLang="ja-JP" sz="2400" dirty="0"/>
              <a:t>myfile.dat</a:t>
            </a:r>
            <a:r>
              <a:rPr lang="ja-JP" altLang="en-US" sz="2400" dirty="0"/>
              <a:t>”</a:t>
            </a:r>
            <a:r>
              <a:rPr lang="en-US" altLang="ja-JP" sz="2400" dirty="0"/>
              <a:t>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/>
              <a:t>	assert( ! </a:t>
            </a:r>
            <a:r>
              <a:rPr lang="en-US" sz="2400" dirty="0" err="1"/>
              <a:t>out_file.fail</a:t>
            </a:r>
            <a:r>
              <a:rPr lang="en-US" sz="2400" dirty="0"/>
              <a:t>( ));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/>
              <a:t>	//send data to the file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/>
              <a:t>	</a:t>
            </a:r>
            <a:r>
              <a:rPr lang="en-US" sz="2400" dirty="0" err="1"/>
              <a:t>out_file.close</a:t>
            </a:r>
            <a:r>
              <a:rPr lang="en-US" sz="2400" dirty="0"/>
              <a:t>( 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/>
              <a:t>	assert( ! </a:t>
            </a:r>
            <a:r>
              <a:rPr lang="en-US" sz="2400" dirty="0" err="1"/>
              <a:t>out_file.fail</a:t>
            </a:r>
            <a:r>
              <a:rPr lang="en-US" sz="2400" dirty="0"/>
              <a:t>( ));</a:t>
            </a:r>
          </a:p>
        </p:txBody>
      </p:sp>
      <p:sp>
        <p:nvSpPr>
          <p:cNvPr id="4" name="Rectangle 3"/>
          <p:cNvSpPr/>
          <p:nvPr/>
        </p:nvSpPr>
        <p:spPr>
          <a:xfrm>
            <a:off x="1563756" y="106680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756E5B6-46E2-4B99-92F0-E67C541A9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244" y="1785937"/>
            <a:ext cx="4992756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290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0"/>
            <a:ext cx="8153400" cy="1066800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</a:rPr>
              <a:t>Output Streams: Point 1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63756" y="1143000"/>
            <a:ext cx="9067800" cy="56388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D20000"/>
                </a:solidFill>
              </a:rPr>
              <a:t>Operations on output streams are abstract.</a:t>
            </a:r>
          </a:p>
          <a:p>
            <a:pPr lvl="1"/>
            <a:r>
              <a:rPr lang="en-US" sz="3200" b="1" dirty="0"/>
              <a:t>Abstract: </a:t>
            </a:r>
            <a:r>
              <a:rPr lang="en-US" sz="3200" b="1" dirty="0">
                <a:solidFill>
                  <a:srgbClr val="2C14DE"/>
                </a:solidFill>
              </a:rPr>
              <a:t>hiding the details</a:t>
            </a:r>
          </a:p>
          <a:p>
            <a:pPr lvl="1"/>
            <a:endParaRPr lang="en-US" sz="3200" b="1" dirty="0">
              <a:solidFill>
                <a:srgbClr val="2C14DE"/>
              </a:solidFill>
            </a:endParaRPr>
          </a:p>
          <a:p>
            <a:pPr lvl="1"/>
            <a:r>
              <a:rPr lang="en-US" b="1" dirty="0"/>
              <a:t>It doesn't</a:t>
            </a:r>
            <a:r>
              <a:rPr lang="en-US" altLang="ja-JP" b="1" dirty="0"/>
              <a:t> matter if the output stream </a:t>
            </a:r>
            <a:r>
              <a:rPr lang="en-US" altLang="ja-JP" dirty="0"/>
              <a:t>is a </a:t>
            </a:r>
            <a:r>
              <a:rPr lang="en-US" altLang="ja-JP" b="1" dirty="0">
                <a:solidFill>
                  <a:srgbClr val="2C14DE"/>
                </a:solidFill>
              </a:rPr>
              <a:t>file</a:t>
            </a:r>
            <a:r>
              <a:rPr lang="en-US" altLang="ja-JP" dirty="0">
                <a:solidFill>
                  <a:srgbClr val="2C14DE"/>
                </a:solidFill>
              </a:rPr>
              <a:t> </a:t>
            </a:r>
            <a:r>
              <a:rPr lang="en-US" altLang="ja-JP" dirty="0"/>
              <a:t>on a disk or the </a:t>
            </a:r>
            <a:r>
              <a:rPr lang="en-US" altLang="ja-JP" b="1" dirty="0">
                <a:solidFill>
                  <a:srgbClr val="2C14DE"/>
                </a:solidFill>
              </a:rPr>
              <a:t>monitor screen</a:t>
            </a:r>
            <a:r>
              <a:rPr lang="en-US" altLang="ja-JP" dirty="0"/>
              <a:t>.</a:t>
            </a:r>
          </a:p>
          <a:p>
            <a:pPr lvl="1"/>
            <a:endParaRPr lang="en-US" altLang="ja-JP" dirty="0"/>
          </a:p>
          <a:p>
            <a:pPr lvl="1"/>
            <a:r>
              <a:rPr lang="en-US" dirty="0"/>
              <a:t>We </a:t>
            </a:r>
            <a:r>
              <a:rPr lang="en-US" b="1" dirty="0"/>
              <a:t>only need to know </a:t>
            </a:r>
            <a:r>
              <a:rPr lang="en-US" dirty="0"/>
              <a:t>the </a:t>
            </a:r>
            <a:r>
              <a:rPr lang="en-US" b="1" dirty="0">
                <a:solidFill>
                  <a:srgbClr val="2C14DE"/>
                </a:solidFill>
              </a:rPr>
              <a:t>name of the stream</a:t>
            </a:r>
            <a:r>
              <a:rPr lang="en-US" dirty="0"/>
              <a:t> to </a:t>
            </a:r>
            <a:r>
              <a:rPr lang="en-US" b="1" dirty="0">
                <a:solidFill>
                  <a:srgbClr val="2C14DE"/>
                </a:solidFill>
              </a:rPr>
              <a:t>send the data </a:t>
            </a:r>
            <a:r>
              <a:rPr lang="en-US" b="1" dirty="0"/>
              <a:t>to</a:t>
            </a:r>
            <a:r>
              <a:rPr lang="en-US" dirty="0"/>
              <a:t> the </a:t>
            </a:r>
            <a:r>
              <a:rPr lang="en-US" b="1" dirty="0">
                <a:solidFill>
                  <a:srgbClr val="2C14DE"/>
                </a:solidFill>
              </a:rPr>
              <a:t>stream</a:t>
            </a:r>
          </a:p>
          <a:p>
            <a:pPr lvl="2"/>
            <a:r>
              <a:rPr lang="en-US" dirty="0"/>
              <a:t>use </a:t>
            </a:r>
            <a:r>
              <a:rPr lang="en-US" b="1" dirty="0" err="1"/>
              <a:t>cout</a:t>
            </a:r>
            <a:r>
              <a:rPr lang="en-US" dirty="0"/>
              <a:t> for the </a:t>
            </a:r>
            <a:r>
              <a:rPr lang="en-US" b="1" dirty="0"/>
              <a:t>monitor</a:t>
            </a:r>
            <a:r>
              <a:rPr lang="en-US" dirty="0"/>
              <a:t> or </a:t>
            </a:r>
            <a:r>
              <a:rPr lang="en-US" b="1" dirty="0" err="1"/>
              <a:t>out_file</a:t>
            </a:r>
            <a:r>
              <a:rPr lang="en-US" dirty="0"/>
              <a:t> for a data file</a:t>
            </a:r>
          </a:p>
          <a:p>
            <a:pPr marL="914400" lvl="2" indent="0">
              <a:buNone/>
            </a:pPr>
            <a:r>
              <a:rPr lang="en-US" sz="2000" b="1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out_file</a:t>
            </a: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ja-JP" alt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altLang="ja-JP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 is going to the data file.</a:t>
            </a:r>
            <a:r>
              <a:rPr lang="ja-JP" alt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US" altLang="ja-JP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914400" lvl="2" indent="0">
              <a:buNone/>
            </a:pPr>
            <a:r>
              <a:rPr lang="en-US" sz="2000" b="1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ja-JP" alt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altLang="ja-JP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 is going to the monitor screen.</a:t>
            </a:r>
            <a:r>
              <a:rPr lang="ja-JP" alt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US" altLang="ja-JP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000" b="1" dirty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63756" y="106680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71082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0"/>
            <a:ext cx="8153400" cy="1066800"/>
          </a:xfrm>
        </p:spPr>
        <p:txBody>
          <a:bodyPr/>
          <a:lstStyle/>
          <a:p>
            <a:r>
              <a:rPr lang="en-US" b="1" dirty="0">
                <a:solidFill>
                  <a:srgbClr val="B80000"/>
                </a:solidFill>
              </a:rPr>
              <a:t>Output Streams: Point 2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63756" y="1143000"/>
            <a:ext cx="9067800" cy="5638800"/>
          </a:xfrm>
        </p:spPr>
        <p:txBody>
          <a:bodyPr/>
          <a:lstStyle/>
          <a:p>
            <a:r>
              <a:rPr lang="en-US" sz="2800" b="1" dirty="0">
                <a:solidFill>
                  <a:srgbClr val="008000"/>
                </a:solidFill>
              </a:rPr>
              <a:t>Programs using output streams are portable</a:t>
            </a:r>
            <a:r>
              <a:rPr lang="en-US" sz="2800" dirty="0"/>
              <a:t>.</a:t>
            </a:r>
          </a:p>
          <a:p>
            <a:pPr lvl="1"/>
            <a:r>
              <a:rPr lang="en-US" sz="2400" b="1" dirty="0">
                <a:solidFill>
                  <a:srgbClr val="B80000"/>
                </a:solidFill>
              </a:rPr>
              <a:t>Portable: </a:t>
            </a:r>
            <a:r>
              <a:rPr lang="en-US" sz="2400" b="1" dirty="0"/>
              <a:t>can be transferred </a:t>
            </a:r>
            <a:r>
              <a:rPr lang="en-US" sz="2400" dirty="0"/>
              <a:t>to </a:t>
            </a:r>
            <a:r>
              <a:rPr lang="en-US" sz="2400" b="1" dirty="0"/>
              <a:t>another application </a:t>
            </a:r>
            <a:r>
              <a:rPr lang="en-US" sz="2400" dirty="0"/>
              <a:t>or </a:t>
            </a:r>
            <a:r>
              <a:rPr lang="en-US" sz="2400" b="1" dirty="0"/>
              <a:t>computer</a:t>
            </a:r>
            <a:r>
              <a:rPr lang="en-US" sz="2400" dirty="0"/>
              <a:t> </a:t>
            </a:r>
            <a:r>
              <a:rPr lang="en-US" sz="2400" b="1" dirty="0"/>
              <a:t>platform</a:t>
            </a:r>
            <a:r>
              <a:rPr lang="en-US" sz="2400" dirty="0"/>
              <a:t>, and be </a:t>
            </a:r>
            <a:r>
              <a:rPr lang="en-US" sz="2400" b="1" dirty="0"/>
              <a:t>recompiled without having to change the code</a:t>
            </a:r>
            <a:r>
              <a:rPr lang="en-US" sz="2400" dirty="0"/>
              <a:t>.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This works even if the </a:t>
            </a:r>
            <a:r>
              <a:rPr lang="en-US" sz="2400" b="1" dirty="0">
                <a:solidFill>
                  <a:srgbClr val="2C14DE"/>
                </a:solidFill>
              </a:rPr>
              <a:t>different platform uses </a:t>
            </a:r>
            <a:r>
              <a:rPr lang="en-US" sz="2400" dirty="0"/>
              <a:t>a </a:t>
            </a:r>
            <a:r>
              <a:rPr lang="en-US" sz="2400" b="1" dirty="0">
                <a:solidFill>
                  <a:srgbClr val="2C14DE"/>
                </a:solidFill>
              </a:rPr>
              <a:t>different method </a:t>
            </a:r>
            <a:r>
              <a:rPr lang="en-US" sz="2400" dirty="0"/>
              <a:t>of </a:t>
            </a:r>
            <a:r>
              <a:rPr lang="en-US" sz="2400" b="1" dirty="0"/>
              <a:t>saving files to a disk</a:t>
            </a:r>
            <a:r>
              <a:rPr lang="en-US" sz="2400" dirty="0"/>
              <a:t>.</a:t>
            </a:r>
          </a:p>
          <a:p>
            <a:pPr lvl="1"/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1563756" y="106680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0085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3" descr="Screen Shot 2012-11-21 at 10.18.55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0"/>
            <a:ext cx="764698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9649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1"/>
            <a:ext cx="8153400" cy="1036319"/>
          </a:xfrm>
        </p:spPr>
        <p:txBody>
          <a:bodyPr/>
          <a:lstStyle/>
          <a:p>
            <a:r>
              <a:rPr lang="en-US" b="1" dirty="0">
                <a:solidFill>
                  <a:srgbClr val="B80000"/>
                </a:solidFill>
              </a:rPr>
              <a:t>Input File Streams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1563756" y="1143000"/>
            <a:ext cx="9144000" cy="5638800"/>
          </a:xfrm>
        </p:spPr>
        <p:txBody>
          <a:bodyPr>
            <a:noAutofit/>
          </a:bodyPr>
          <a:lstStyle/>
          <a:p>
            <a:pPr lvl="1"/>
            <a:r>
              <a:rPr lang="en-US" b="1" dirty="0">
                <a:solidFill>
                  <a:srgbClr val="B80000"/>
                </a:solidFill>
              </a:rPr>
              <a:t>#include &lt;</a:t>
            </a:r>
            <a:r>
              <a:rPr lang="en-US" b="1" dirty="0" err="1">
                <a:solidFill>
                  <a:srgbClr val="B80000"/>
                </a:solidFill>
              </a:rPr>
              <a:t>fstream</a:t>
            </a:r>
            <a:r>
              <a:rPr lang="en-US" b="1" dirty="0">
                <a:solidFill>
                  <a:srgbClr val="B80000"/>
                </a:solidFill>
              </a:rPr>
              <a:t>&gt;</a:t>
            </a:r>
          </a:p>
          <a:p>
            <a:pPr lvl="2"/>
            <a:r>
              <a:rPr lang="en-US" b="1" dirty="0">
                <a:solidFill>
                  <a:srgbClr val="2C14DE"/>
                </a:solidFill>
              </a:rPr>
              <a:t>allows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use of the </a:t>
            </a:r>
            <a:r>
              <a:rPr lang="en-US" b="1" dirty="0"/>
              <a:t>two classes</a:t>
            </a:r>
            <a:r>
              <a:rPr lang="en-US" dirty="0"/>
              <a:t>: </a:t>
            </a:r>
            <a:r>
              <a:rPr lang="en-US" b="1" dirty="0" err="1">
                <a:solidFill>
                  <a:srgbClr val="2C14DE"/>
                </a:solidFill>
              </a:rPr>
              <a:t>ofstream</a:t>
            </a:r>
            <a:r>
              <a:rPr lang="en-US" dirty="0"/>
              <a:t>, </a:t>
            </a:r>
            <a:r>
              <a:rPr lang="en-US" b="1" dirty="0" err="1">
                <a:solidFill>
                  <a:srgbClr val="2C14DE"/>
                </a:solidFill>
              </a:rPr>
              <a:t>ifstream</a:t>
            </a:r>
            <a:endParaRPr lang="en-US" b="1" dirty="0">
              <a:solidFill>
                <a:srgbClr val="2C14DE"/>
              </a:solidFill>
            </a:endParaRPr>
          </a:p>
          <a:p>
            <a:pPr lvl="2"/>
            <a:endParaRPr lang="en-US" dirty="0"/>
          </a:p>
          <a:p>
            <a:pPr lvl="1"/>
            <a:r>
              <a:rPr lang="en-US" b="1" dirty="0" err="1">
                <a:solidFill>
                  <a:srgbClr val="B80000"/>
                </a:solidFill>
              </a:rPr>
              <a:t>ifstream</a:t>
            </a:r>
            <a:r>
              <a:rPr lang="en-US" b="1" dirty="0">
                <a:solidFill>
                  <a:srgbClr val="B80000"/>
                </a:solidFill>
              </a:rPr>
              <a:t>  </a:t>
            </a:r>
            <a:r>
              <a:rPr lang="en-US" b="1" dirty="0" err="1">
                <a:solidFill>
                  <a:srgbClr val="B80000"/>
                </a:solidFill>
              </a:rPr>
              <a:t>in_file</a:t>
            </a:r>
            <a:r>
              <a:rPr lang="en-US" b="1" dirty="0">
                <a:solidFill>
                  <a:srgbClr val="B80000"/>
                </a:solidFill>
              </a:rPr>
              <a:t>;</a:t>
            </a:r>
          </a:p>
          <a:p>
            <a:pPr lvl="2"/>
            <a:r>
              <a:rPr lang="en-US" dirty="0"/>
              <a:t>a </a:t>
            </a:r>
            <a:r>
              <a:rPr lang="en-US" b="1" dirty="0"/>
              <a:t>variable</a:t>
            </a:r>
            <a:r>
              <a:rPr lang="en-US" dirty="0"/>
              <a:t> or </a:t>
            </a:r>
            <a:r>
              <a:rPr lang="en-US" b="1" dirty="0"/>
              <a:t>object</a:t>
            </a:r>
            <a:r>
              <a:rPr lang="en-US" dirty="0"/>
              <a:t> (</a:t>
            </a:r>
            <a:r>
              <a:rPr lang="en-US" dirty="0" err="1"/>
              <a:t>in_file</a:t>
            </a:r>
            <a:r>
              <a:rPr lang="en-US" dirty="0"/>
              <a:t>) is declared to be of type or of the class </a:t>
            </a:r>
            <a:r>
              <a:rPr lang="en-US" b="1" dirty="0" err="1"/>
              <a:t>ifstream</a:t>
            </a:r>
            <a:endParaRPr lang="en-US" b="1" dirty="0"/>
          </a:p>
          <a:p>
            <a:pPr lvl="2"/>
            <a:endParaRPr lang="en-US" dirty="0"/>
          </a:p>
          <a:p>
            <a:pPr lvl="1"/>
            <a:r>
              <a:rPr lang="en-US" b="1" dirty="0" err="1">
                <a:solidFill>
                  <a:srgbClr val="B80000"/>
                </a:solidFill>
              </a:rPr>
              <a:t>in_file.open</a:t>
            </a:r>
            <a:r>
              <a:rPr lang="en-US" b="1" dirty="0">
                <a:solidFill>
                  <a:srgbClr val="B80000"/>
                </a:solidFill>
              </a:rPr>
              <a:t>(</a:t>
            </a:r>
            <a:r>
              <a:rPr lang="ja-JP" altLang="en-US" b="1" dirty="0">
                <a:solidFill>
                  <a:srgbClr val="B80000"/>
                </a:solidFill>
              </a:rPr>
              <a:t>“</a:t>
            </a:r>
            <a:r>
              <a:rPr lang="en-US" altLang="ja-JP" b="1" dirty="0">
                <a:solidFill>
                  <a:srgbClr val="B80000"/>
                </a:solidFill>
              </a:rPr>
              <a:t>myfile.dat</a:t>
            </a:r>
            <a:r>
              <a:rPr lang="ja-JP" altLang="en-US" b="1" dirty="0">
                <a:solidFill>
                  <a:srgbClr val="B80000"/>
                </a:solidFill>
              </a:rPr>
              <a:t>”</a:t>
            </a:r>
            <a:r>
              <a:rPr lang="en-US" altLang="ja-JP" b="1" dirty="0">
                <a:solidFill>
                  <a:srgbClr val="B80000"/>
                </a:solidFill>
              </a:rPr>
              <a:t>);</a:t>
            </a:r>
          </a:p>
          <a:p>
            <a:pPr lvl="2"/>
            <a:r>
              <a:rPr lang="en-US" b="1" dirty="0">
                <a:solidFill>
                  <a:srgbClr val="2C14DE"/>
                </a:solidFill>
              </a:rPr>
              <a:t>connect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2C14DE"/>
                </a:solidFill>
              </a:rPr>
              <a:t>input file stream </a:t>
            </a:r>
            <a:r>
              <a:rPr lang="en-US" dirty="0"/>
              <a:t>to a </a:t>
            </a:r>
            <a:r>
              <a:rPr lang="en-US" b="1" dirty="0">
                <a:solidFill>
                  <a:srgbClr val="2C14DE"/>
                </a:solidFill>
              </a:rPr>
              <a:t>file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in the </a:t>
            </a:r>
            <a:r>
              <a:rPr lang="en-US" b="1" dirty="0"/>
              <a:t>default directory </a:t>
            </a:r>
          </a:p>
          <a:p>
            <a:pPr lvl="2"/>
            <a:r>
              <a:rPr lang="en-US" dirty="0"/>
              <a:t>if </a:t>
            </a:r>
            <a:r>
              <a:rPr lang="ja-JP" altLang="en-US" dirty="0"/>
              <a:t>“</a:t>
            </a:r>
            <a:r>
              <a:rPr lang="en-US" altLang="ja-JP" dirty="0" err="1"/>
              <a:t>myfile</a:t>
            </a:r>
            <a:r>
              <a:rPr lang="ja-JP" altLang="en-US" dirty="0"/>
              <a:t>”</a:t>
            </a:r>
            <a:r>
              <a:rPr lang="en-US" altLang="ja-JP" dirty="0"/>
              <a:t> </a:t>
            </a:r>
            <a:r>
              <a:rPr lang="en-US" altLang="ja-JP" b="1" dirty="0">
                <a:solidFill>
                  <a:srgbClr val="2C14DE"/>
                </a:solidFill>
              </a:rPr>
              <a:t>exists</a:t>
            </a:r>
            <a:r>
              <a:rPr lang="en-US" altLang="ja-JP" dirty="0"/>
              <a:t>, it is </a:t>
            </a:r>
            <a:r>
              <a:rPr lang="en-US" altLang="ja-JP" b="1" dirty="0">
                <a:solidFill>
                  <a:srgbClr val="2C14DE"/>
                </a:solidFill>
              </a:rPr>
              <a:t>opened for input</a:t>
            </a:r>
            <a:endParaRPr lang="en-US" altLang="ja-JP" dirty="0">
              <a:solidFill>
                <a:srgbClr val="2C14DE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63756" y="106680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5526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1"/>
            <a:ext cx="8153400" cy="1036319"/>
          </a:xfrm>
        </p:spPr>
        <p:txBody>
          <a:bodyPr/>
          <a:lstStyle/>
          <a:p>
            <a:r>
              <a:rPr lang="en-US" b="1" dirty="0">
                <a:solidFill>
                  <a:srgbClr val="B80000"/>
                </a:solidFill>
              </a:rPr>
              <a:t>Input File Streams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1563756" y="1143000"/>
            <a:ext cx="9067800" cy="5638800"/>
          </a:xfrm>
        </p:spPr>
        <p:txBody>
          <a:bodyPr/>
          <a:lstStyle/>
          <a:p>
            <a:r>
              <a:rPr lang="en-US" sz="2800" b="1" dirty="0"/>
              <a:t>General Form for input file stream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800" dirty="0">
                <a:solidFill>
                  <a:srgbClr val="2C14DE"/>
                </a:solidFill>
              </a:rPr>
              <a:t>	</a:t>
            </a:r>
            <a:r>
              <a:rPr lang="en-US" sz="2800" b="1" dirty="0" err="1">
                <a:solidFill>
                  <a:srgbClr val="2C14DE"/>
                </a:solidFill>
              </a:rPr>
              <a:t>ifstream</a:t>
            </a:r>
            <a:r>
              <a:rPr lang="en-US" sz="2800" dirty="0">
                <a:solidFill>
                  <a:srgbClr val="2C14DE"/>
                </a:solidFill>
              </a:rPr>
              <a:t> &lt;</a:t>
            </a:r>
            <a:r>
              <a:rPr lang="en-US" sz="2800" b="1" dirty="0">
                <a:solidFill>
                  <a:srgbClr val="2C14DE"/>
                </a:solidFill>
              </a:rPr>
              <a:t>stream variable name</a:t>
            </a:r>
            <a:r>
              <a:rPr lang="en-US" sz="2800" dirty="0">
                <a:solidFill>
                  <a:srgbClr val="2C14DE"/>
                </a:solidFill>
              </a:rPr>
              <a:t>&gt;;</a:t>
            </a:r>
          </a:p>
          <a:p>
            <a:pPr>
              <a:buFont typeface="Wingdings" panose="05000000000000000000" pitchFamily="2" charset="2"/>
              <a:buNone/>
            </a:pPr>
            <a:endParaRPr lang="en-US" sz="2800" dirty="0"/>
          </a:p>
          <a:p>
            <a:r>
              <a:rPr lang="en-US" sz="2800" dirty="0"/>
              <a:t>The </a:t>
            </a:r>
            <a:r>
              <a:rPr lang="en-US" sz="2800" b="1" dirty="0">
                <a:solidFill>
                  <a:srgbClr val="2C14DE"/>
                </a:solidFill>
              </a:rPr>
              <a:t>file stream should be closed </a:t>
            </a:r>
            <a:r>
              <a:rPr lang="en-US" sz="2800" dirty="0"/>
              <a:t>when you are </a:t>
            </a:r>
            <a:r>
              <a:rPr lang="en-US" sz="2800" b="1" dirty="0"/>
              <a:t>finished</a:t>
            </a:r>
            <a:r>
              <a:rPr lang="en-US" sz="2800" dirty="0"/>
              <a:t>:</a:t>
            </a:r>
          </a:p>
          <a:p>
            <a:pPr lvl="1"/>
            <a:r>
              <a:rPr lang="en-US" b="1" dirty="0" err="1"/>
              <a:t>in_file.close</a:t>
            </a:r>
            <a:r>
              <a:rPr lang="en-US" b="1" dirty="0"/>
              <a:t>( )  </a:t>
            </a:r>
            <a:r>
              <a:rPr lang="en-US" dirty="0"/>
              <a:t>//no file name parameter used</a:t>
            </a:r>
          </a:p>
          <a:p>
            <a:pPr lvl="1"/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1563756" y="106680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47290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1"/>
            <a:ext cx="8153400" cy="1112519"/>
          </a:xfrm>
        </p:spPr>
        <p:txBody>
          <a:bodyPr/>
          <a:lstStyle/>
          <a:p>
            <a:r>
              <a:rPr lang="en-US" b="1" dirty="0">
                <a:solidFill>
                  <a:srgbClr val="B80000"/>
                </a:solidFill>
              </a:rPr>
              <a:t>Using Input File Streams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1563756" y="1143000"/>
            <a:ext cx="9067800" cy="5638800"/>
          </a:xfrm>
        </p:spPr>
        <p:txBody>
          <a:bodyPr/>
          <a:lstStyle/>
          <a:p>
            <a:r>
              <a:rPr lang="en-US" sz="2800" b="1" dirty="0">
                <a:solidFill>
                  <a:srgbClr val="B80000"/>
                </a:solidFill>
              </a:rPr>
              <a:t>Input Streams</a:t>
            </a:r>
          </a:p>
          <a:p>
            <a:pPr lvl="1"/>
            <a:r>
              <a:rPr lang="en-US" dirty="0"/>
              <a:t>we use the </a:t>
            </a:r>
            <a:r>
              <a:rPr lang="en-US" b="1" dirty="0">
                <a:solidFill>
                  <a:srgbClr val="2C14DE"/>
                </a:solidFill>
              </a:rPr>
              <a:t>&gt;&gt;</a:t>
            </a:r>
            <a:r>
              <a:rPr lang="en-US" b="1" dirty="0"/>
              <a:t> </a:t>
            </a:r>
            <a:r>
              <a:rPr lang="en-US" b="1" dirty="0">
                <a:solidFill>
                  <a:srgbClr val="2C14DE"/>
                </a:solidFill>
              </a:rPr>
              <a:t>extractor operator </a:t>
            </a:r>
            <a:r>
              <a:rPr lang="en-US" dirty="0"/>
              <a:t>to </a:t>
            </a:r>
            <a:r>
              <a:rPr lang="en-US" b="1" dirty="0">
                <a:solidFill>
                  <a:srgbClr val="2C14DE"/>
                </a:solidFill>
              </a:rPr>
              <a:t>get data from the keyboard</a:t>
            </a:r>
          </a:p>
          <a:p>
            <a:pPr lvl="1"/>
            <a:endParaRPr lang="en-US" b="1" dirty="0">
              <a:solidFill>
                <a:srgbClr val="2C14DE"/>
              </a:solidFill>
            </a:endParaRPr>
          </a:p>
          <a:p>
            <a:pPr lvl="1"/>
            <a:r>
              <a:rPr lang="en-US" b="1" u="sng" dirty="0"/>
              <a:t>With the Standard Input Stream</a:t>
            </a:r>
          </a:p>
          <a:p>
            <a:pPr lvl="2"/>
            <a:r>
              <a:rPr lang="en-US" sz="2800" b="1" dirty="0">
                <a:solidFill>
                  <a:srgbClr val="2C14DE"/>
                </a:solidFill>
              </a:rPr>
              <a:t>user</a:t>
            </a:r>
            <a:r>
              <a:rPr lang="en-US" sz="2800" dirty="0">
                <a:solidFill>
                  <a:srgbClr val="2C14DE"/>
                </a:solidFill>
              </a:rPr>
              <a:t> </a:t>
            </a:r>
            <a:r>
              <a:rPr lang="en-US" sz="2800" b="1" dirty="0">
                <a:solidFill>
                  <a:srgbClr val="2C14DE"/>
                </a:solidFill>
              </a:rPr>
              <a:t>enters characters </a:t>
            </a:r>
            <a:r>
              <a:rPr lang="en-US" sz="2800" dirty="0"/>
              <a:t>from the </a:t>
            </a:r>
            <a:r>
              <a:rPr lang="en-US" sz="2800" b="1" dirty="0">
                <a:solidFill>
                  <a:srgbClr val="2C14DE"/>
                </a:solidFill>
              </a:rPr>
              <a:t>keyboard</a:t>
            </a:r>
            <a:r>
              <a:rPr lang="en-US" sz="2800" dirty="0">
                <a:solidFill>
                  <a:srgbClr val="2C14DE"/>
                </a:solidFill>
              </a:rPr>
              <a:t> </a:t>
            </a:r>
            <a:r>
              <a:rPr lang="en-US" sz="2800" b="1" dirty="0"/>
              <a:t>followed by a </a:t>
            </a:r>
            <a:r>
              <a:rPr lang="en-US" sz="2800" b="1" dirty="0">
                <a:solidFill>
                  <a:srgbClr val="2C14DE"/>
                </a:solidFill>
              </a:rPr>
              <a:t>blank space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2C14DE"/>
                </a:solidFill>
              </a:rPr>
              <a:t>tab</a:t>
            </a:r>
          </a:p>
          <a:p>
            <a:pPr lvl="2"/>
            <a:endParaRPr lang="en-US" sz="2800" b="1" dirty="0">
              <a:solidFill>
                <a:srgbClr val="2C14DE"/>
              </a:solidFill>
            </a:endParaRPr>
          </a:p>
          <a:p>
            <a:pPr lvl="2"/>
            <a:r>
              <a:rPr lang="en-US" sz="2800" dirty="0"/>
              <a:t>The </a:t>
            </a:r>
            <a:r>
              <a:rPr lang="en-US" sz="2800" b="1" dirty="0"/>
              <a:t>computer </a:t>
            </a:r>
            <a:r>
              <a:rPr lang="en-US" sz="2800" b="1" dirty="0">
                <a:solidFill>
                  <a:srgbClr val="2C14DE"/>
                </a:solidFill>
              </a:rPr>
              <a:t>converts</a:t>
            </a:r>
            <a:r>
              <a:rPr lang="en-US" sz="2800" b="1" dirty="0"/>
              <a:t> </a:t>
            </a:r>
            <a:r>
              <a:rPr lang="en-US" sz="2800" dirty="0"/>
              <a:t>the </a:t>
            </a:r>
            <a:r>
              <a:rPr lang="en-US" sz="2800" b="1" dirty="0">
                <a:solidFill>
                  <a:srgbClr val="2C14DE"/>
                </a:solidFill>
              </a:rPr>
              <a:t>characters</a:t>
            </a:r>
            <a:r>
              <a:rPr lang="en-US" sz="2800" dirty="0">
                <a:solidFill>
                  <a:srgbClr val="2C14DE"/>
                </a:solidFill>
              </a:rPr>
              <a:t> </a:t>
            </a:r>
            <a:r>
              <a:rPr lang="en-US" sz="2800" dirty="0"/>
              <a:t>into the </a:t>
            </a:r>
            <a:r>
              <a:rPr lang="en-US" sz="2800" b="1" dirty="0">
                <a:solidFill>
                  <a:srgbClr val="2C14DE"/>
                </a:solidFill>
              </a:rPr>
              <a:t>data type </a:t>
            </a:r>
            <a:r>
              <a:rPr lang="en-US" sz="2800" b="1" dirty="0"/>
              <a:t>represented</a:t>
            </a:r>
            <a:r>
              <a:rPr lang="en-US" sz="2800" dirty="0"/>
              <a:t> by the </a:t>
            </a:r>
            <a:r>
              <a:rPr lang="en-US" sz="2800" b="1" dirty="0"/>
              <a:t>identifier used </a:t>
            </a:r>
          </a:p>
          <a:p>
            <a:pPr lvl="3"/>
            <a:r>
              <a:rPr lang="en-US" sz="2400" dirty="0" err="1"/>
              <a:t>int</a:t>
            </a:r>
            <a:r>
              <a:rPr lang="en-US" sz="2400" dirty="0"/>
              <a:t>, double, char</a:t>
            </a:r>
          </a:p>
        </p:txBody>
      </p:sp>
      <p:sp>
        <p:nvSpPr>
          <p:cNvPr id="4" name="Rectangle 3"/>
          <p:cNvSpPr/>
          <p:nvPr/>
        </p:nvSpPr>
        <p:spPr>
          <a:xfrm>
            <a:off x="1563756" y="106680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0418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1"/>
            <a:ext cx="8153400" cy="1112519"/>
          </a:xfrm>
        </p:spPr>
        <p:txBody>
          <a:bodyPr/>
          <a:lstStyle/>
          <a:p>
            <a:r>
              <a:rPr lang="en-US" b="1" dirty="0">
                <a:solidFill>
                  <a:srgbClr val="B80000"/>
                </a:solidFill>
              </a:rPr>
              <a:t>Example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1524000" y="1089659"/>
            <a:ext cx="9144000" cy="5638800"/>
          </a:xfrm>
        </p:spPr>
        <p:txBody>
          <a:bodyPr/>
          <a:lstStyle/>
          <a:p>
            <a:r>
              <a:rPr lang="en-US" sz="2800" b="1" dirty="0">
                <a:solidFill>
                  <a:srgbClr val="B80000"/>
                </a:solidFill>
              </a:rPr>
              <a:t>Input Streams</a:t>
            </a:r>
          </a:p>
          <a:p>
            <a:pPr lvl="1"/>
            <a:r>
              <a:rPr lang="en-US" sz="2400" dirty="0"/>
              <a:t>we use the </a:t>
            </a:r>
            <a:r>
              <a:rPr lang="en-US" sz="2400" b="1" dirty="0">
                <a:solidFill>
                  <a:srgbClr val="B80000"/>
                </a:solidFill>
              </a:rPr>
              <a:t>&gt;&gt;</a:t>
            </a:r>
            <a:r>
              <a:rPr lang="en-US" sz="2400" dirty="0">
                <a:solidFill>
                  <a:srgbClr val="B80000"/>
                </a:solidFill>
              </a:rPr>
              <a:t> </a:t>
            </a:r>
            <a:r>
              <a:rPr lang="en-US" sz="2400" dirty="0"/>
              <a:t>extractor operator to </a:t>
            </a:r>
            <a:r>
              <a:rPr lang="en-US" sz="2400" b="1" dirty="0">
                <a:solidFill>
                  <a:srgbClr val="B80000"/>
                </a:solidFill>
              </a:rPr>
              <a:t>get data from the data file</a:t>
            </a:r>
          </a:p>
          <a:p>
            <a:pPr lvl="1"/>
            <a:r>
              <a:rPr lang="en-US" sz="2400" dirty="0"/>
              <a:t>With the </a:t>
            </a:r>
            <a:r>
              <a:rPr lang="en-US" sz="2400" b="1" u="sng" dirty="0">
                <a:solidFill>
                  <a:srgbClr val="B80000"/>
                </a:solidFill>
              </a:rPr>
              <a:t>Input File Stream</a:t>
            </a:r>
            <a:endParaRPr lang="en-US" sz="2400" b="1" dirty="0">
              <a:solidFill>
                <a:srgbClr val="B80000"/>
              </a:solidFill>
            </a:endParaRPr>
          </a:p>
          <a:p>
            <a:pPr marL="1085850" lvl="2"/>
            <a:r>
              <a:rPr lang="en-US" dirty="0"/>
              <a:t>Some user has already </a:t>
            </a:r>
            <a:r>
              <a:rPr lang="en-US" b="1" dirty="0">
                <a:solidFill>
                  <a:srgbClr val="2C14DE"/>
                </a:solidFill>
              </a:rPr>
              <a:t>entered characters </a:t>
            </a:r>
            <a:r>
              <a:rPr lang="en-US" b="1" dirty="0"/>
              <a:t>from the </a:t>
            </a:r>
            <a:r>
              <a:rPr lang="en-US" b="1" dirty="0">
                <a:solidFill>
                  <a:srgbClr val="2C14DE"/>
                </a:solidFill>
              </a:rPr>
              <a:t>keyboard</a:t>
            </a:r>
            <a:r>
              <a:rPr lang="en-US" b="1" dirty="0"/>
              <a:t> </a:t>
            </a:r>
            <a:r>
              <a:rPr lang="en-US" dirty="0"/>
              <a:t>followed by a </a:t>
            </a:r>
            <a:r>
              <a:rPr lang="en-US" b="1" dirty="0"/>
              <a:t>blank space</a:t>
            </a:r>
            <a:r>
              <a:rPr lang="en-US" dirty="0"/>
              <a:t>, </a:t>
            </a:r>
            <a:r>
              <a:rPr lang="en-US" b="1" dirty="0"/>
              <a:t>tab</a:t>
            </a:r>
            <a:r>
              <a:rPr lang="en-US" dirty="0"/>
              <a:t> </a:t>
            </a:r>
            <a:r>
              <a:rPr lang="en-US" b="1" dirty="0"/>
              <a:t>into a </a:t>
            </a:r>
            <a:r>
              <a:rPr lang="en-US" b="1" dirty="0">
                <a:solidFill>
                  <a:srgbClr val="2C14DE"/>
                </a:solidFill>
              </a:rPr>
              <a:t>data file</a:t>
            </a:r>
          </a:p>
          <a:p>
            <a:pPr marL="1085850" lvl="2"/>
            <a:r>
              <a:rPr lang="en-US" dirty="0"/>
              <a:t>We need to know:</a:t>
            </a:r>
          </a:p>
          <a:p>
            <a:pPr marL="1428750" lvl="3"/>
            <a:r>
              <a:rPr lang="en-US" b="1" dirty="0"/>
              <a:t>what type of data is stored in the file</a:t>
            </a:r>
          </a:p>
          <a:p>
            <a:pPr marL="1771650" lvl="4"/>
            <a:r>
              <a:rPr lang="en-US" dirty="0"/>
              <a:t>int, double, char </a:t>
            </a:r>
          </a:p>
          <a:p>
            <a:pPr marL="1771650" lvl="4"/>
            <a:endParaRPr lang="en-US" dirty="0"/>
          </a:p>
          <a:p>
            <a:pPr marL="1428750" lvl="3"/>
            <a:r>
              <a:rPr lang="en-US" b="1" dirty="0"/>
              <a:t>what order the data is stored</a:t>
            </a:r>
          </a:p>
          <a:p>
            <a:pPr marL="1428750" lvl="3"/>
            <a:endParaRPr lang="en-US" b="1" dirty="0"/>
          </a:p>
          <a:p>
            <a:pPr marL="1428750" lvl="3"/>
            <a:r>
              <a:rPr lang="en-US" b="1" dirty="0"/>
              <a:t>sometimes even what type of whitespace separates the data</a:t>
            </a:r>
          </a:p>
          <a:p>
            <a:pPr marL="1771650" lvl="4"/>
            <a:r>
              <a:rPr lang="en-US" dirty="0"/>
              <a:t>blank spaces, tabs</a:t>
            </a:r>
          </a:p>
        </p:txBody>
      </p:sp>
      <p:sp>
        <p:nvSpPr>
          <p:cNvPr id="4" name="Rectangle 3"/>
          <p:cNvSpPr/>
          <p:nvPr/>
        </p:nvSpPr>
        <p:spPr>
          <a:xfrm>
            <a:off x="1563756" y="106680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632847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0"/>
            <a:ext cx="8153400" cy="1066800"/>
          </a:xfrm>
        </p:spPr>
        <p:txBody>
          <a:bodyPr/>
          <a:lstStyle/>
          <a:p>
            <a:r>
              <a:rPr lang="en-US" b="1" dirty="0">
                <a:solidFill>
                  <a:srgbClr val="B80000"/>
                </a:solidFill>
              </a:rPr>
              <a:t>Loops And Input File Streams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1563756" y="1143000"/>
            <a:ext cx="9067800" cy="5638800"/>
          </a:xfrm>
        </p:spPr>
        <p:txBody>
          <a:bodyPr/>
          <a:lstStyle/>
          <a:p>
            <a:r>
              <a:rPr lang="en-US" sz="2800" b="1" dirty="0">
                <a:solidFill>
                  <a:srgbClr val="B80000"/>
                </a:solidFill>
              </a:rPr>
              <a:t>We don</a:t>
            </a:r>
            <a:r>
              <a:rPr lang="ja-JP" altLang="en-US" sz="2800" b="1" dirty="0">
                <a:solidFill>
                  <a:srgbClr val="B80000"/>
                </a:solidFill>
              </a:rPr>
              <a:t>’</a:t>
            </a:r>
            <a:r>
              <a:rPr lang="en-US" altLang="ja-JP" sz="2800" b="1" dirty="0">
                <a:solidFill>
                  <a:srgbClr val="B80000"/>
                </a:solidFill>
              </a:rPr>
              <a:t>t always know precisely how many data values are in a file</a:t>
            </a:r>
          </a:p>
          <a:p>
            <a:pPr lvl="1"/>
            <a:r>
              <a:rPr lang="en-US" sz="3200" b="1" dirty="0"/>
              <a:t>read data </a:t>
            </a:r>
            <a:r>
              <a:rPr lang="en-US" sz="3200" b="1" dirty="0">
                <a:solidFill>
                  <a:srgbClr val="2C14DE"/>
                </a:solidFill>
              </a:rPr>
              <a:t>while</a:t>
            </a:r>
            <a:r>
              <a:rPr lang="en-US" sz="3200" dirty="0">
                <a:solidFill>
                  <a:srgbClr val="2C14DE"/>
                </a:solidFill>
              </a:rPr>
              <a:t> </a:t>
            </a:r>
            <a:r>
              <a:rPr lang="en-US" sz="3200" dirty="0"/>
              <a:t>the </a:t>
            </a:r>
            <a:r>
              <a:rPr lang="en-US" sz="3200" b="1" dirty="0">
                <a:solidFill>
                  <a:srgbClr val="2C14DE"/>
                </a:solidFill>
              </a:rPr>
              <a:t>end of the file </a:t>
            </a:r>
            <a:r>
              <a:rPr lang="en-US" sz="3200" dirty="0"/>
              <a:t>has </a:t>
            </a:r>
            <a:r>
              <a:rPr lang="en-US" sz="3200" b="1" dirty="0">
                <a:solidFill>
                  <a:srgbClr val="2C14DE"/>
                </a:solidFill>
              </a:rPr>
              <a:t>not been reached </a:t>
            </a:r>
            <a:r>
              <a:rPr lang="en-US" sz="3200" dirty="0"/>
              <a:t>(</a:t>
            </a:r>
            <a:r>
              <a:rPr lang="en-US" sz="3200" b="1" dirty="0" err="1">
                <a:solidFill>
                  <a:srgbClr val="2C14DE"/>
                </a:solidFill>
              </a:rPr>
              <a:t>eof</a:t>
            </a:r>
            <a:r>
              <a:rPr lang="en-US" sz="3200" dirty="0"/>
              <a:t>)</a:t>
            </a:r>
          </a:p>
          <a:p>
            <a:pPr lvl="2"/>
            <a:r>
              <a:rPr lang="en-US" sz="3200" b="1" dirty="0" err="1"/>
              <a:t>eof</a:t>
            </a:r>
            <a:r>
              <a:rPr lang="en-US" sz="3200" dirty="0"/>
              <a:t> returns </a:t>
            </a:r>
            <a:r>
              <a:rPr lang="en-US" sz="3200" b="1" dirty="0"/>
              <a:t>true</a:t>
            </a:r>
            <a:r>
              <a:rPr lang="en-US" sz="3200" dirty="0"/>
              <a:t> </a:t>
            </a:r>
            <a:r>
              <a:rPr lang="en-US" sz="3200" dirty="0">
                <a:sym typeface="Wingdings" panose="05000000000000000000" pitchFamily="2" charset="2"/>
              </a:rPr>
              <a:t> </a:t>
            </a:r>
            <a:r>
              <a:rPr lang="ja-JP" altLang="en-US" sz="3200" dirty="0"/>
              <a:t>“</a:t>
            </a:r>
            <a:r>
              <a:rPr lang="en-US" altLang="ja-JP" sz="3200" dirty="0"/>
              <a:t>end of file marker</a:t>
            </a:r>
            <a:r>
              <a:rPr lang="ja-JP" altLang="en-US" sz="3200" dirty="0"/>
              <a:t>”</a:t>
            </a:r>
            <a:r>
              <a:rPr lang="en-US" altLang="ja-JP" sz="3200" dirty="0"/>
              <a:t>, </a:t>
            </a:r>
          </a:p>
          <a:p>
            <a:pPr lvl="2"/>
            <a:r>
              <a:rPr lang="en-US" sz="3200" dirty="0"/>
              <a:t>Otherwise </a:t>
            </a:r>
            <a:r>
              <a:rPr lang="en-US" sz="3200" b="1" dirty="0" err="1"/>
              <a:t>eof</a:t>
            </a:r>
            <a:r>
              <a:rPr lang="en-US" sz="3200" dirty="0"/>
              <a:t> returns </a:t>
            </a:r>
            <a:r>
              <a:rPr lang="en-US" sz="3200" b="1" dirty="0"/>
              <a:t>false</a:t>
            </a:r>
            <a:endParaRPr lang="en-US" sz="3200" dirty="0"/>
          </a:p>
        </p:txBody>
      </p:sp>
      <p:sp>
        <p:nvSpPr>
          <p:cNvPr id="4" name="Rectangle 3"/>
          <p:cNvSpPr/>
          <p:nvPr/>
        </p:nvSpPr>
        <p:spPr>
          <a:xfrm>
            <a:off x="1563756" y="106680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37050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1"/>
            <a:ext cx="8153400" cy="1112519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Input File Stream Example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1563756" y="1143000"/>
            <a:ext cx="9067800" cy="5638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in_file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 data;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while( !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in_file.eof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 ))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process (data);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in_file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 data;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>
              <a:buFont typeface="Wingdings" panose="05000000000000000000" pitchFamily="2" charset="2"/>
              <a:buNone/>
            </a:pPr>
            <a:endParaRPr lang="en-US" sz="2000" b="1" dirty="0"/>
          </a:p>
        </p:txBody>
      </p:sp>
      <p:sp>
        <p:nvSpPr>
          <p:cNvPr id="4" name="Rectangle 3"/>
          <p:cNvSpPr/>
          <p:nvPr/>
        </p:nvSpPr>
        <p:spPr>
          <a:xfrm>
            <a:off x="1563756" y="106680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414921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9219" name="Image 3" descr="Screen Shot 2012-11-21 at 10.19.28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0"/>
            <a:ext cx="72929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38435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1"/>
            <a:ext cx="8153400" cy="1036319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Compiler Differences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1563756" y="1143000"/>
            <a:ext cx="9067800" cy="5638800"/>
          </a:xfrm>
        </p:spPr>
        <p:txBody>
          <a:bodyPr/>
          <a:lstStyle/>
          <a:p>
            <a:pPr lvl="1">
              <a:lnSpc>
                <a:spcPct val="90000"/>
              </a:lnSpc>
            </a:pPr>
            <a:r>
              <a:rPr lang="en-US" b="1" dirty="0"/>
              <a:t>Some compilers </a:t>
            </a:r>
            <a:r>
              <a:rPr lang="en-US" dirty="0"/>
              <a:t>will </a:t>
            </a:r>
            <a:r>
              <a:rPr lang="en-US" b="1" dirty="0">
                <a:solidFill>
                  <a:srgbClr val="2C14DE"/>
                </a:solidFill>
              </a:rPr>
              <a:t>indicate</a:t>
            </a:r>
            <a:r>
              <a:rPr lang="en-US" b="1" dirty="0"/>
              <a:t> </a:t>
            </a:r>
            <a:r>
              <a:rPr lang="en-US" dirty="0"/>
              <a:t>that the </a:t>
            </a:r>
            <a:r>
              <a:rPr lang="en-US" b="1" dirty="0" err="1">
                <a:solidFill>
                  <a:srgbClr val="2C14DE"/>
                </a:solidFill>
              </a:rPr>
              <a:t>eof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has </a:t>
            </a:r>
            <a:r>
              <a:rPr lang="en-US" b="1" dirty="0">
                <a:solidFill>
                  <a:srgbClr val="2C14DE"/>
                </a:solidFill>
              </a:rPr>
              <a:t>been reached</a:t>
            </a:r>
            <a:r>
              <a:rPr lang="en-US" dirty="0"/>
              <a:t> if file stream function </a:t>
            </a:r>
            <a:r>
              <a:rPr lang="en-US" b="1" dirty="0">
                <a:solidFill>
                  <a:srgbClr val="2C14DE"/>
                </a:solidFill>
              </a:rPr>
              <a:t>fail ( ) </a:t>
            </a:r>
            <a:r>
              <a:rPr lang="en-US" b="1" dirty="0"/>
              <a:t>returns true</a:t>
            </a:r>
            <a:r>
              <a:rPr lang="en-US" dirty="0"/>
              <a:t>.</a:t>
            </a:r>
          </a:p>
          <a:p>
            <a:pPr lvl="2">
              <a:lnSpc>
                <a:spcPct val="90000"/>
              </a:lnSpc>
            </a:pPr>
            <a:r>
              <a:rPr lang="en-US" b="1" u="sng" dirty="0"/>
              <a:t>Use this compound Boolean Expression to guard against this:</a:t>
            </a:r>
          </a:p>
          <a:p>
            <a:pPr lvl="3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3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3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while( (!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in_file.fail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 ) ) &amp;&amp; ( !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in_file.eof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 ) ) )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dirty="0"/>
          </a:p>
          <a:p>
            <a:pPr lvl="1" algn="ctr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3200" dirty="0"/>
          </a:p>
        </p:txBody>
      </p:sp>
      <p:sp>
        <p:nvSpPr>
          <p:cNvPr id="4" name="Rectangle 3"/>
          <p:cNvSpPr/>
          <p:nvPr/>
        </p:nvSpPr>
        <p:spPr>
          <a:xfrm>
            <a:off x="1563756" y="106680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413314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0"/>
            <a:ext cx="8153400" cy="1066800"/>
          </a:xfrm>
        </p:spPr>
        <p:txBody>
          <a:bodyPr/>
          <a:lstStyle/>
          <a:p>
            <a:r>
              <a:rPr lang="en-US" b="1" dirty="0">
                <a:solidFill>
                  <a:srgbClr val="B80000"/>
                </a:solidFill>
              </a:rPr>
              <a:t>Files and Strings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1563756" y="1143000"/>
            <a:ext cx="9067800" cy="5638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B80000"/>
                </a:solidFill>
              </a:rPr>
              <a:t>Files containing strings can be processed: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dirty="0"/>
              <a:t>a string (</a:t>
            </a:r>
            <a:r>
              <a:rPr lang="en-US" b="1" dirty="0"/>
              <a:t>word</a:t>
            </a:r>
            <a:r>
              <a:rPr lang="en-US" dirty="0"/>
              <a:t>) at a time </a:t>
            </a:r>
            <a:r>
              <a:rPr lang="en-US" b="1" dirty="0">
                <a:solidFill>
                  <a:srgbClr val="2C14DE"/>
                </a:solidFill>
              </a:rPr>
              <a:t>using a string variable</a:t>
            </a:r>
          </a:p>
          <a:p>
            <a:pPr lvl="1">
              <a:lnSpc>
                <a:spcPct val="90000"/>
              </a:lnSpc>
            </a:pPr>
            <a:endParaRPr lang="en-US" b="1" dirty="0">
              <a:solidFill>
                <a:srgbClr val="2C14DE"/>
              </a:solidFill>
            </a:endParaRPr>
          </a:p>
          <a:p>
            <a:pPr marL="914400" lvl="1" indent="-457200">
              <a:lnSpc>
                <a:spcPct val="90000"/>
              </a:lnSpc>
              <a:buFont typeface="+mj-lt"/>
              <a:buAutoNum type="arabicPeriod" startAt="2"/>
            </a:pPr>
            <a:r>
              <a:rPr lang="en-US" dirty="0"/>
              <a:t>a </a:t>
            </a:r>
            <a:r>
              <a:rPr lang="en-US" b="1" dirty="0">
                <a:solidFill>
                  <a:srgbClr val="2C14DE"/>
                </a:solidFill>
              </a:rPr>
              <a:t>line of strings at a time</a:t>
            </a:r>
          </a:p>
          <a:p>
            <a:pPr lvl="2">
              <a:lnSpc>
                <a:spcPct val="90000"/>
              </a:lnSpc>
            </a:pPr>
            <a:r>
              <a:rPr lang="en-US" sz="2800" dirty="0"/>
              <a:t>using </a:t>
            </a:r>
            <a:r>
              <a:rPr lang="en-US" sz="2800" b="1" dirty="0" err="1"/>
              <a:t>getline</a:t>
            </a:r>
            <a:r>
              <a:rPr lang="en-US" sz="2800" dirty="0"/>
              <a:t> from the </a:t>
            </a:r>
            <a:r>
              <a:rPr lang="en-US" sz="2800" b="1" dirty="0"/>
              <a:t>string library</a:t>
            </a:r>
          </a:p>
          <a:p>
            <a:pPr lvl="2">
              <a:lnSpc>
                <a:spcPct val="90000"/>
              </a:lnSpc>
            </a:pPr>
            <a:r>
              <a:rPr lang="en-US" sz="2800" b="1" dirty="0" err="1"/>
              <a:t>getline</a:t>
            </a:r>
            <a:r>
              <a:rPr lang="en-US" sz="2800" dirty="0"/>
              <a:t> is </a:t>
            </a:r>
            <a:r>
              <a:rPr lang="en-US" sz="2800" b="1" dirty="0"/>
              <a:t>limited</a:t>
            </a:r>
            <a:r>
              <a:rPr lang="en-US" sz="2800" dirty="0"/>
              <a:t> to </a:t>
            </a:r>
            <a:r>
              <a:rPr lang="en-US" sz="2800" b="1" dirty="0"/>
              <a:t>1024 characters per lin</a:t>
            </a:r>
            <a:r>
              <a:rPr lang="en-US" sz="2800" dirty="0"/>
              <a:t>e</a:t>
            </a:r>
          </a:p>
          <a:p>
            <a:pPr lvl="2">
              <a:lnSpc>
                <a:spcPct val="90000"/>
              </a:lnSpc>
            </a:pPr>
            <a:r>
              <a:rPr lang="en-US" sz="2800" dirty="0"/>
              <a:t>remember </a:t>
            </a:r>
            <a:r>
              <a:rPr lang="en-US" sz="2800" b="1" dirty="0"/>
              <a:t>with </a:t>
            </a:r>
            <a:r>
              <a:rPr lang="en-US" sz="2800" b="1" dirty="0" err="1"/>
              <a:t>getline</a:t>
            </a:r>
            <a:r>
              <a:rPr lang="en-US" sz="2800" dirty="0"/>
              <a:t>, the </a:t>
            </a:r>
            <a:r>
              <a:rPr lang="en-US" sz="2800" b="1" dirty="0"/>
              <a:t>end of line character </a:t>
            </a:r>
            <a:r>
              <a:rPr lang="en-US" sz="2800" dirty="0"/>
              <a:t>is </a:t>
            </a:r>
            <a:r>
              <a:rPr lang="en-US" sz="2800" b="1" dirty="0"/>
              <a:t>not stored with the actual line of text</a:t>
            </a:r>
          </a:p>
          <a:p>
            <a:pPr lvl="2">
              <a:lnSpc>
                <a:spcPct val="90000"/>
              </a:lnSpc>
            </a:pPr>
            <a:endParaRPr lang="en-US" sz="2800" b="1" dirty="0"/>
          </a:p>
          <a:p>
            <a:pPr marL="914400" lvl="1" indent="-457200">
              <a:lnSpc>
                <a:spcPct val="90000"/>
              </a:lnSpc>
              <a:buFont typeface="+mj-lt"/>
              <a:buAutoNum type="arabicPeriod" startAt="3"/>
            </a:pPr>
            <a:r>
              <a:rPr lang="en-US" dirty="0"/>
              <a:t>or a </a:t>
            </a:r>
            <a:r>
              <a:rPr lang="en-US" b="1" dirty="0">
                <a:solidFill>
                  <a:srgbClr val="2C14DE"/>
                </a:solidFill>
              </a:rPr>
              <a:t>character at a tim</a:t>
            </a:r>
            <a:r>
              <a:rPr lang="en-US" dirty="0"/>
              <a:t>e</a:t>
            </a:r>
          </a:p>
          <a:p>
            <a:pPr lvl="2">
              <a:lnSpc>
                <a:spcPct val="90000"/>
              </a:lnSpc>
            </a:pPr>
            <a:r>
              <a:rPr lang="en-US" sz="2800" dirty="0"/>
              <a:t>necessary to handle white space characters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563756" y="106680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36218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1384</Words>
  <Application>Microsoft Office PowerPoint</Application>
  <PresentationFormat>Widescreen</PresentationFormat>
  <Paragraphs>228</Paragraphs>
  <Slides>25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25</vt:i4>
      </vt:variant>
    </vt:vector>
  </HeadingPairs>
  <TitlesOfParts>
    <vt:vector size="37" baseType="lpstr">
      <vt:lpstr>ＭＳ Ｐゴシック</vt:lpstr>
      <vt:lpstr>游ゴシック</vt:lpstr>
      <vt:lpstr>Aptos</vt:lpstr>
      <vt:lpstr>Aptos Display</vt:lpstr>
      <vt:lpstr>Arial</vt:lpstr>
      <vt:lpstr>Calibri</vt:lpstr>
      <vt:lpstr>Courier New</vt:lpstr>
      <vt:lpstr>PMingLiU</vt:lpstr>
      <vt:lpstr>Trebuchet MS</vt:lpstr>
      <vt:lpstr>Wingdings</vt:lpstr>
      <vt:lpstr>Office Theme</vt:lpstr>
      <vt:lpstr>1_Office Theme</vt:lpstr>
      <vt:lpstr>Stream I/O and File Processing</vt:lpstr>
      <vt:lpstr>Interactive vs. Batch Processing</vt:lpstr>
      <vt:lpstr>What are FILEs in C/C++</vt:lpstr>
      <vt:lpstr>Type of FILES</vt:lpstr>
      <vt:lpstr>FILE accessing in Computer Science</vt:lpstr>
      <vt:lpstr>Sequential Access FILE (Example)</vt:lpstr>
      <vt:lpstr>Streams</vt:lpstr>
      <vt:lpstr>Stream Processing</vt:lpstr>
      <vt:lpstr>Standard Input / Output Streams</vt:lpstr>
      <vt:lpstr>File Streams</vt:lpstr>
      <vt:lpstr>Output File Streams</vt:lpstr>
      <vt:lpstr>Output File Streams</vt:lpstr>
      <vt:lpstr>Errors Opening &amp; Closing Files</vt:lpstr>
      <vt:lpstr>Output Streams: Point 1</vt:lpstr>
      <vt:lpstr>Output Streams: Point 2</vt:lpstr>
      <vt:lpstr>PowerPoint Presentation</vt:lpstr>
      <vt:lpstr>Input File Streams</vt:lpstr>
      <vt:lpstr>Input File Streams</vt:lpstr>
      <vt:lpstr>Using Input File Streams</vt:lpstr>
      <vt:lpstr>Example</vt:lpstr>
      <vt:lpstr>Loops And Input File Streams</vt:lpstr>
      <vt:lpstr>Input File Stream Example</vt:lpstr>
      <vt:lpstr>PowerPoint Presentation</vt:lpstr>
      <vt:lpstr>Compiler Differences</vt:lpstr>
      <vt:lpstr>Files and Strings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 I/O and File Processing</dc:title>
  <dc:creator>Sanaullah Imtiaz</dc:creator>
  <cp:lastModifiedBy>Microsoft account</cp:lastModifiedBy>
  <cp:revision>17</cp:revision>
  <dcterms:created xsi:type="dcterms:W3CDTF">2024-12-29T20:41:29Z</dcterms:created>
  <dcterms:modified xsi:type="dcterms:W3CDTF">2024-12-30T07:52:52Z</dcterms:modified>
</cp:coreProperties>
</file>
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256" r:id="rId2"/>
    <p:sldId id="285" r:id="rId3"/>
    <p:sldId id="286" r:id="rId4"/>
    <p:sldId id="287" r:id="rId5"/>
    <p:sldId id="288" r:id="rId6"/>
    <p:sldId id="289" r:id="rId7"/>
    <p:sldId id="292" r:id="rId8"/>
    <p:sldId id="293" r:id="rId9"/>
    <p:sldId id="294" r:id="rId10"/>
    <p:sldId id="295" r:id="rId11"/>
    <p:sldId id="296" r:id="rId12"/>
    <p:sldId id="597" r:id="rId13"/>
    <p:sldId id="297" r:id="rId14"/>
    <p:sldId id="590" r:id="rId15"/>
    <p:sldId id="619" r:id="rId16"/>
    <p:sldId id="591" r:id="rId17"/>
    <p:sldId id="592" r:id="rId18"/>
    <p:sldId id="593" r:id="rId19"/>
    <p:sldId id="594" r:id="rId20"/>
    <p:sldId id="595" r:id="rId21"/>
    <p:sldId id="596" r:id="rId22"/>
    <p:sldId id="302" r:id="rId23"/>
    <p:sldId id="378" r:id="rId24"/>
    <p:sldId id="303" r:id="rId25"/>
    <p:sldId id="304" r:id="rId26"/>
    <p:sldId id="305" r:id="rId27"/>
    <p:sldId id="306" r:id="rId28"/>
    <p:sldId id="307" r:id="rId29"/>
    <p:sldId id="308" r:id="rId30"/>
    <p:sldId id="309" r:id="rId31"/>
    <p:sldId id="612" r:id="rId32"/>
    <p:sldId id="310" r:id="rId33"/>
    <p:sldId id="610" r:id="rId34"/>
    <p:sldId id="613" r:id="rId35"/>
    <p:sldId id="620" r:id="rId3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F1BC7"/>
    <a:srgbClr val="E9EFF7"/>
    <a:srgbClr val="008000"/>
    <a:srgbClr val="D20000"/>
    <a:srgbClr val="2C14DE"/>
    <a:srgbClr val="B80000"/>
    <a:srgbClr val="27558D"/>
    <a:srgbClr val="39DFE7"/>
    <a:srgbClr val="160C5C"/>
    <a:srgbClr val="4F55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72" autoAdjust="0"/>
    <p:restoredTop sz="79035" autoAdjust="0"/>
  </p:normalViewPr>
  <p:slideViewPr>
    <p:cSldViewPr>
      <p:cViewPr varScale="1">
        <p:scale>
          <a:sx n="59" d="100"/>
          <a:sy n="59" d="100"/>
        </p:scale>
        <p:origin x="1758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7" d="100"/>
          <a:sy n="67" d="100"/>
        </p:scale>
        <p:origin x="3120" y="7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_rels/viewProps.xml.rels><?xml version="1.0" encoding="UTF-8" standalone="yes"?>
<Relationships xmlns="http://schemas.openxmlformats.org/package/2006/relationships"><Relationship Id="rId2" Type="http://schemas.openxmlformats.org/officeDocument/2006/relationships/slide" Target="slides/slide19.xml"/><Relationship Id="rId1" Type="http://schemas.openxmlformats.org/officeDocument/2006/relationships/slide" Target="slides/slide1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1C0C88-7267-4399-A55D-D2971BA77B10}" type="datetimeFigureOut">
              <a:rPr lang="en-US" smtClean="0"/>
              <a:t>10/11/2024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85FC15-40B4-45E5-86AE-2E64D22F0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3663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85FC15-40B4-45E5-86AE-2E64D22F0C38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81250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>
              <a:latin typeface="Calibri" panose="020F050202020403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419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4489414D-0126-43F0-BBDF-989A2978F2AB}" type="slidenum">
              <a:rPr lang="en-US" sz="1200"/>
              <a:pPr eaLnBrk="1" hangingPunct="1"/>
              <a:t>18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486518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3011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>
              <a:latin typeface="Calibri" panose="020F050202020403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4301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4304CAE1-F8BC-486F-B630-F9D77232B580}" type="slidenum">
              <a:rPr lang="en-US" sz="1200"/>
              <a:pPr eaLnBrk="1" hangingPunct="1"/>
              <a:t>19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27778632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this-&gt;radius = radius;</a:t>
            </a:r>
            <a:r>
              <a:rPr lang="en-US" dirty="0" smtClean="0"/>
              <a:t>:</a:t>
            </a:r>
          </a:p>
          <a:p>
            <a:r>
              <a:rPr lang="en-US" dirty="0" smtClean="0"/>
              <a:t>- The this-&gt;radius refers to the class's member variable radius.</a:t>
            </a:r>
          </a:p>
          <a:p>
            <a:r>
              <a:rPr lang="en-US" dirty="0" smtClean="0"/>
              <a:t>- The radius without this refers to the parameter passed into the constructor.</a:t>
            </a:r>
          </a:p>
          <a:p>
            <a:r>
              <a:rPr lang="en-US" dirty="0" smtClean="0"/>
              <a:t>- By using this-&gt;, we differentiate between the class's radius and the constructor's parameter radius.</a:t>
            </a:r>
          </a:p>
          <a:p>
            <a:r>
              <a:rPr lang="en-US" dirty="0" smtClean="0"/>
              <a:t>So, in this line:</a:t>
            </a:r>
          </a:p>
          <a:p>
            <a:r>
              <a:rPr lang="en-US" dirty="0" smtClean="0"/>
              <a:t>- this-&gt;radius: refers to the member variable radius of the current object.</a:t>
            </a:r>
          </a:p>
          <a:p>
            <a:r>
              <a:rPr lang="en-US" dirty="0" smtClean="0"/>
              <a:t>- radius: is the parameter passed to the constructor.</a:t>
            </a:r>
          </a:p>
          <a:p>
            <a:r>
              <a:rPr lang="en-US" dirty="0" smtClean="0"/>
              <a:t>- This makes sure that the value passed to the constructor is assigned to the object's own radius member variable.</a:t>
            </a:r>
          </a:p>
          <a:p>
            <a:r>
              <a:rPr lang="en-US" b="1" dirty="0" smtClean="0"/>
              <a:t>Why this is important here</a:t>
            </a:r>
            <a:r>
              <a:rPr lang="en-US" dirty="0" smtClean="0"/>
              <a:t>: </a:t>
            </a:r>
          </a:p>
          <a:p>
            <a:r>
              <a:rPr lang="en-US" dirty="0" smtClean="0"/>
              <a:t>Without the this keyword, the compiler would be confused because the parameter name radius is the same as the member variable name radius. Using this-&gt; makes it clear that you are referring to the member variable and not the constructor parameter.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85FC15-40B4-45E5-86AE-2E64D22F0C3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3925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A constructor can be public or private.</a:t>
            </a:r>
          </a:p>
          <a:p>
            <a:r>
              <a:rPr lang="en-US" dirty="0"/>
              <a:t>If there are multiple constructors of a</a:t>
            </a:r>
            <a:r>
              <a:rPr lang="en-US" baseline="0" dirty="0"/>
              <a:t> class, then the </a:t>
            </a:r>
            <a:r>
              <a:rPr lang="en-US" b="1" baseline="0" dirty="0"/>
              <a:t>constructor being used to construct an object must be public</a:t>
            </a:r>
            <a:r>
              <a:rPr lang="en-US" baseline="0" dirty="0"/>
              <a:t>. Although, the constructors not being used to construct objects may still be “Private”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85FC15-40B4-45E5-86AE-2E64D22F0C38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0901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9939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>
              <a:latin typeface="Calibri" panose="020F050202020403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399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8E517AC5-9AA3-4408-876C-57C59914222F}" type="slidenum">
              <a:rPr lang="en-US" sz="1200"/>
              <a:pPr eaLnBrk="1" hangingPunct="1"/>
              <a:t>23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11973665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ERROR:</a:t>
            </a:r>
            <a:r>
              <a:rPr lang="en-US" b="1" baseline="0" dirty="0"/>
              <a:t> No Argument </a:t>
            </a:r>
            <a:r>
              <a:rPr lang="en-US" b="1" baseline="0" dirty="0" smtClean="0"/>
              <a:t>is passed </a:t>
            </a:r>
            <a:r>
              <a:rPr lang="en-US" b="1" baseline="0" smtClean="0"/>
              <a:t>to constructor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85FC15-40B4-45E5-86AE-2E64D22F0C38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1984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>
              <a:latin typeface="Calibri" panose="020F050202020403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6C99EE14-42A3-4EA0-A56F-F4219FA2BE2A}" type="slidenum">
              <a:rPr lang="en-US" sz="1200"/>
              <a:pPr eaLnBrk="1" hangingPunct="1"/>
              <a:t>31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10190061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>
              <a:latin typeface="Calibri" panose="020F050202020403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6C99EE14-42A3-4EA0-A56F-F4219FA2BE2A}" type="slidenum">
              <a:rPr lang="en-US" sz="1200"/>
              <a:pPr eaLnBrk="1" hangingPunct="1"/>
              <a:t>33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35653168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property of an object goes into effect </a:t>
            </a:r>
            <a:r>
              <a:rPr lang="en-US" sz="1200" b="1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after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the constructor finishes executing 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nd ends </a:t>
            </a:r>
            <a:r>
              <a:rPr lang="en-US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before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the class's destructor executes. So the constructor and destructor can modify the object, but other methods of the class can't.</a:t>
            </a:r>
          </a:p>
          <a:p>
            <a:endParaRPr lang="en-US" dirty="0"/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reason for this is that the compiler cannot decide whether a method performs write operations or only read operations with data members unless additional information is supplied.</a:t>
            </a:r>
            <a:r>
              <a:rPr lang="en-US" dirty="0"/>
              <a:t/>
            </a:r>
            <a:br>
              <a:rPr lang="en-US" dirty="0"/>
            </a:br>
            <a:endParaRPr lang="fr-FR" dirty="0">
              <a:latin typeface="Calibri" panose="020F050202020403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6C99EE14-42A3-4EA0-A56F-F4219FA2BE2A}" type="slidenum">
              <a:rPr lang="en-US" sz="1200"/>
              <a:pPr eaLnBrk="1" hangingPunct="1"/>
              <a:t>34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30632172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property of an object goes into effect </a:t>
            </a:r>
            <a:r>
              <a:rPr lang="en-US" sz="1200" b="1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after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the constructor finishes executing 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nd ends </a:t>
            </a:r>
            <a:r>
              <a:rPr lang="en-US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before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the class's destructor executes. So the constructor and destructor can modify the object, but other methods of the class can't.</a:t>
            </a:r>
          </a:p>
          <a:p>
            <a:endParaRPr lang="en-US" dirty="0"/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reason for this is that the compiler cannot decide whether a method performs write operations or only read operations with data members unless additional information is supplied.</a:t>
            </a:r>
            <a:r>
              <a:rPr lang="en-US" dirty="0"/>
              <a:t/>
            </a:r>
            <a:br>
              <a:rPr lang="en-US" dirty="0"/>
            </a:br>
            <a:endParaRPr lang="fr-FR" dirty="0">
              <a:latin typeface="Calibri" panose="020F050202020403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6C99EE14-42A3-4EA0-A56F-F4219FA2BE2A}" type="slidenum">
              <a:rPr lang="en-US" sz="1200"/>
              <a:pPr eaLnBrk="1" hangingPunct="1"/>
              <a:t>35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1226787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10/11/2024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2973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43000"/>
            <a:ext cx="9144000" cy="5638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10/11/2024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10/11/2024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10/11/2024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10/11/2024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10/11/2024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10/11/2024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10/11/2024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10/11/2024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10/11/2024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>
            <a:spLocks noChangeArrowheads="1"/>
          </p:cNvSpPr>
          <p:nvPr/>
        </p:nvSpPr>
        <p:spPr bwMode="auto">
          <a:xfrm>
            <a:off x="6705600" y="838200"/>
            <a:ext cx="2438400" cy="601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fr-FR" sz="1400" b="1">
              <a:latin typeface="AvantGarde" pitchFamily="34" charset="0"/>
            </a:endParaRPr>
          </a:p>
        </p:txBody>
      </p:sp>
      <p:sp>
        <p:nvSpPr>
          <p:cNvPr id="3" name="Rectangle 14"/>
          <p:cNvSpPr>
            <a:spLocks noChangeArrowheads="1"/>
          </p:cNvSpPr>
          <p:nvPr userDrawn="1"/>
        </p:nvSpPr>
        <p:spPr bwMode="auto">
          <a:xfrm>
            <a:off x="6629400" y="838200"/>
            <a:ext cx="2438400" cy="601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fr-FR" sz="1400" b="1">
              <a:latin typeface="AvantGarde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0979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B0192B-E1F2-4D51-9245-C9CE8F612D86}" type="datetimeFigureOut">
              <a:rPr lang="en-US" smtClean="0"/>
              <a:pPr/>
              <a:t>10/11/2024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6.wm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6.w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9.wmf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10.wmf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636" y="1882775"/>
            <a:ext cx="8991600" cy="162242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160C5C"/>
                </a:solidFill>
              </a:rPr>
              <a:t>Introduction to Classes</a:t>
            </a:r>
            <a:r>
              <a:rPr lang="en-US" dirty="0"/>
              <a:t/>
            </a:r>
            <a:br>
              <a:rPr lang="en-US" dirty="0"/>
            </a:br>
            <a:endParaRPr lang="en-US" sz="2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3962400"/>
            <a:ext cx="8686800" cy="2743200"/>
          </a:xfrm>
        </p:spPr>
        <p:txBody>
          <a:bodyPr>
            <a:normAutofit/>
          </a:bodyPr>
          <a:lstStyle/>
          <a:p>
            <a:endParaRPr lang="en-US" sz="2600" dirty="0"/>
          </a:p>
          <a:p>
            <a:endParaRPr lang="en-US" sz="2600" dirty="0"/>
          </a:p>
          <a:p>
            <a:r>
              <a:rPr lang="en-US" sz="2600" dirty="0"/>
              <a:t>Department of Computer Science, </a:t>
            </a:r>
          </a:p>
          <a:p>
            <a:r>
              <a:rPr lang="en-US" sz="2800" dirty="0" smtClean="0"/>
              <a:t>The University of Lahore</a:t>
            </a:r>
            <a:endParaRPr lang="en-US" sz="2600" dirty="0" smtClean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72428" y="937673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340" name="Picture 4" descr="https://image.slidesharecdn.com/proceduralvs-150616113314-lva1-app6891/95/procedural-vs-object-oriented-programming-9-638.jpg?cb=144947322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8" t="33818" r="1525" b="11483"/>
          <a:stretch/>
        </p:blipFill>
        <p:spPr bwMode="auto">
          <a:xfrm>
            <a:off x="2803160" y="4119576"/>
            <a:ext cx="6237125" cy="264160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5" name="AutoShape 8" descr="Related image"/>
          <p:cNvSpPr>
            <a:spLocks noChangeAspect="1" noChangeArrowheads="1"/>
          </p:cNvSpPr>
          <p:nvPr/>
        </p:nvSpPr>
        <p:spPr bwMode="auto">
          <a:xfrm>
            <a:off x="155574" y="-144463"/>
            <a:ext cx="4264025" cy="4264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4346" name="Picture 10" descr="https://simplesnippets.tech/wp-content/uploads/2018/03/java-introduction-to-Object-Oriented-Programming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099" y="1114931"/>
            <a:ext cx="5778501" cy="2788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0" y="1"/>
            <a:ext cx="9107556" cy="9144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solidFill>
                  <a:srgbClr val="B80000"/>
                </a:solidFill>
                <a:latin typeface="Calibri" pitchFamily="34" charset="0"/>
              </a:rPr>
              <a:t>Procedural VS. Object-Oriented Programming</a:t>
            </a:r>
          </a:p>
        </p:txBody>
      </p:sp>
    </p:spTree>
    <p:extLst>
      <p:ext uri="{BB962C8B-B14F-4D97-AF65-F5344CB8AC3E}">
        <p14:creationId xmlns:p14="http://schemas.microsoft.com/office/powerpoint/2010/main" val="13473836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"/>
            <a:ext cx="9107556" cy="914400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B80000"/>
                </a:solidFill>
                <a:latin typeface="Calibri" pitchFamily="34" charset="0"/>
              </a:rPr>
              <a:t>Object-oriented Programming (OOP)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6200" y="1066800"/>
            <a:ext cx="8915400" cy="5715000"/>
          </a:xfrm>
        </p:spPr>
        <p:txBody>
          <a:bodyPr>
            <a:normAutofit/>
          </a:bodyPr>
          <a:lstStyle/>
          <a:p>
            <a:pPr algn="just"/>
            <a:r>
              <a:rPr lang="en-US" sz="3000" b="1" dirty="0">
                <a:solidFill>
                  <a:srgbClr val="B80000"/>
                </a:solidFill>
                <a:latin typeface="Calibri" pitchFamily="34" charset="0"/>
              </a:rPr>
              <a:t>Object-oriented programming </a:t>
            </a:r>
            <a:r>
              <a:rPr lang="en-US" sz="3000" dirty="0">
                <a:latin typeface="Calibri" pitchFamily="34" charset="0"/>
              </a:rPr>
              <a:t>approach </a:t>
            </a:r>
            <a:r>
              <a:rPr lang="en-US" sz="3000" b="1" dirty="0">
                <a:latin typeface="Calibri" pitchFamily="34" charset="0"/>
              </a:rPr>
              <a:t>organizes</a:t>
            </a:r>
            <a:r>
              <a:rPr lang="en-US" sz="3000" dirty="0">
                <a:latin typeface="Calibri" pitchFamily="34" charset="0"/>
              </a:rPr>
              <a:t> </a:t>
            </a:r>
            <a:r>
              <a:rPr lang="en-US" sz="3000" b="1" dirty="0">
                <a:latin typeface="Calibri" pitchFamily="34" charset="0"/>
              </a:rPr>
              <a:t>programs</a:t>
            </a:r>
            <a:r>
              <a:rPr lang="en-US" sz="3000" dirty="0">
                <a:latin typeface="Calibri" pitchFamily="34" charset="0"/>
              </a:rPr>
              <a:t> in a way that </a:t>
            </a:r>
            <a:r>
              <a:rPr lang="en-US" sz="3000" b="1" i="1" dirty="0">
                <a:solidFill>
                  <a:srgbClr val="2C14DE"/>
                </a:solidFill>
                <a:latin typeface="Calibri" pitchFamily="34" charset="0"/>
              </a:rPr>
              <a:t>mirrors the real world</a:t>
            </a:r>
            <a:r>
              <a:rPr lang="en-US" sz="3000" dirty="0">
                <a:latin typeface="Calibri" pitchFamily="34" charset="0"/>
              </a:rPr>
              <a:t>, in which all </a:t>
            </a:r>
            <a:r>
              <a:rPr lang="en-US" sz="3000" b="1" dirty="0">
                <a:solidFill>
                  <a:srgbClr val="2C14DE"/>
                </a:solidFill>
                <a:latin typeface="Calibri" pitchFamily="34" charset="0"/>
              </a:rPr>
              <a:t>objects</a:t>
            </a:r>
            <a:r>
              <a:rPr lang="en-US" sz="3000" dirty="0">
                <a:solidFill>
                  <a:srgbClr val="2C14DE"/>
                </a:solidFill>
                <a:latin typeface="Calibri" pitchFamily="34" charset="0"/>
              </a:rPr>
              <a:t> </a:t>
            </a:r>
            <a:r>
              <a:rPr lang="en-US" sz="3000" dirty="0">
                <a:latin typeface="Calibri" pitchFamily="34" charset="0"/>
              </a:rPr>
              <a:t>are associated with </a:t>
            </a:r>
            <a:r>
              <a:rPr lang="en-US" sz="3000" b="1" dirty="0">
                <a:latin typeface="Calibri" pitchFamily="34" charset="0"/>
              </a:rPr>
              <a:t>both</a:t>
            </a:r>
            <a:r>
              <a:rPr lang="en-US" sz="3000" dirty="0">
                <a:latin typeface="Calibri" pitchFamily="34" charset="0"/>
              </a:rPr>
              <a:t> </a:t>
            </a:r>
            <a:r>
              <a:rPr lang="en-US" sz="3000" b="1" u="sng" dirty="0">
                <a:solidFill>
                  <a:srgbClr val="008000"/>
                </a:solidFill>
                <a:latin typeface="Calibri" pitchFamily="34" charset="0"/>
              </a:rPr>
              <a:t>attributes</a:t>
            </a:r>
            <a:r>
              <a:rPr lang="en-US" sz="3000" dirty="0">
                <a:solidFill>
                  <a:srgbClr val="008000"/>
                </a:solidFill>
                <a:latin typeface="Calibri" pitchFamily="34" charset="0"/>
              </a:rPr>
              <a:t> </a:t>
            </a:r>
            <a:r>
              <a:rPr lang="en-US" sz="3000" dirty="0">
                <a:latin typeface="Calibri" pitchFamily="34" charset="0"/>
              </a:rPr>
              <a:t>and </a:t>
            </a:r>
            <a:r>
              <a:rPr lang="en-US" sz="3000" b="1" u="sng" dirty="0">
                <a:solidFill>
                  <a:srgbClr val="008000"/>
                </a:solidFill>
                <a:latin typeface="Calibri" pitchFamily="34" charset="0"/>
              </a:rPr>
              <a:t>behaviors</a:t>
            </a:r>
            <a:r>
              <a:rPr lang="en-US" sz="3000" u="sng" dirty="0">
                <a:solidFill>
                  <a:srgbClr val="008000"/>
                </a:solidFill>
                <a:latin typeface="Calibri" pitchFamily="34" charset="0"/>
              </a:rPr>
              <a:t> </a:t>
            </a:r>
          </a:p>
          <a:p>
            <a:endParaRPr lang="en-US" sz="3000" dirty="0">
              <a:latin typeface="Calibri" pitchFamily="34" charset="0"/>
            </a:endParaRPr>
          </a:p>
          <a:p>
            <a:pPr algn="just"/>
            <a:r>
              <a:rPr lang="en-US" sz="3000" b="1" u="sng" dirty="0">
                <a:latin typeface="Calibri" pitchFamily="34" charset="0"/>
              </a:rPr>
              <a:t>Object-oriented programming </a:t>
            </a:r>
            <a:r>
              <a:rPr lang="en-US" sz="3000" dirty="0">
                <a:latin typeface="Calibri" pitchFamily="34" charset="0"/>
              </a:rPr>
              <a:t>involves </a:t>
            </a:r>
            <a:r>
              <a:rPr lang="en-US" sz="3000" b="1" dirty="0">
                <a:solidFill>
                  <a:srgbClr val="2C14DE"/>
                </a:solidFill>
                <a:latin typeface="Calibri" pitchFamily="34" charset="0"/>
              </a:rPr>
              <a:t>thinking</a:t>
            </a:r>
            <a:r>
              <a:rPr lang="en-US" sz="3000" b="1" dirty="0">
                <a:latin typeface="Calibri" pitchFamily="34" charset="0"/>
              </a:rPr>
              <a:t> in terms of </a:t>
            </a:r>
            <a:r>
              <a:rPr lang="en-US" sz="3000" b="1" dirty="0">
                <a:solidFill>
                  <a:srgbClr val="2C14DE"/>
                </a:solidFill>
                <a:latin typeface="Calibri" pitchFamily="34" charset="0"/>
              </a:rPr>
              <a:t>objects</a:t>
            </a:r>
          </a:p>
          <a:p>
            <a:endParaRPr lang="en-US" sz="3000" b="1" i="1" dirty="0">
              <a:latin typeface="Calibri" pitchFamily="34" charset="0"/>
            </a:endParaRPr>
          </a:p>
          <a:p>
            <a:pPr algn="just"/>
            <a:r>
              <a:rPr lang="en-US" sz="3000" dirty="0">
                <a:latin typeface="Calibri" pitchFamily="34" charset="0"/>
              </a:rPr>
              <a:t>An </a:t>
            </a:r>
            <a:r>
              <a:rPr lang="en-US" sz="3000" b="1" dirty="0">
                <a:latin typeface="Calibri" pitchFamily="34" charset="0"/>
              </a:rPr>
              <a:t>OOP program </a:t>
            </a:r>
            <a:r>
              <a:rPr lang="en-US" sz="3000" dirty="0">
                <a:latin typeface="Calibri" pitchFamily="34" charset="0"/>
              </a:rPr>
              <a:t>can be </a:t>
            </a:r>
            <a:r>
              <a:rPr lang="en-US" sz="3000" b="1" dirty="0">
                <a:latin typeface="Calibri" pitchFamily="34" charset="0"/>
              </a:rPr>
              <a:t>viewed</a:t>
            </a:r>
            <a:r>
              <a:rPr lang="en-US" sz="3000" dirty="0">
                <a:latin typeface="Calibri" pitchFamily="34" charset="0"/>
              </a:rPr>
              <a:t> as a </a:t>
            </a:r>
            <a:r>
              <a:rPr lang="en-US" sz="3000" b="1" u="sng" dirty="0">
                <a:solidFill>
                  <a:srgbClr val="2C14DE"/>
                </a:solidFill>
                <a:latin typeface="Calibri" pitchFamily="34" charset="0"/>
              </a:rPr>
              <a:t>collection of cooperating objects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3347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76199"/>
            <a:ext cx="9144000" cy="83820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B80000"/>
                </a:solidFill>
                <a:latin typeface="Calibri" pitchFamily="34" charset="0"/>
              </a:rPr>
              <a:t>Classes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t="9888"/>
          <a:stretch/>
        </p:blipFill>
        <p:spPr>
          <a:xfrm>
            <a:off x="134698" y="1219200"/>
            <a:ext cx="8877916" cy="541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2575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9756" y="38101"/>
            <a:ext cx="9060255" cy="90678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B80000"/>
                </a:solidFill>
                <a:latin typeface="Calibri" pitchFamily="34" charset="0"/>
              </a:rPr>
              <a:t>Classes in OOP</a:t>
            </a:r>
          </a:p>
        </p:txBody>
      </p:sp>
      <p:sp>
        <p:nvSpPr>
          <p:cNvPr id="7171" name="Rectangle 3"/>
          <p:cNvSpPr>
            <a:spLocks noChangeArrowheads="1"/>
          </p:cNvSpPr>
          <p:nvPr/>
        </p:nvSpPr>
        <p:spPr bwMode="auto">
          <a:xfrm>
            <a:off x="2686050" y="23431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7172" name="Text Box 4"/>
          <p:cNvSpPr txBox="1">
            <a:spLocks noChangeArrowheads="1"/>
          </p:cNvSpPr>
          <p:nvPr/>
        </p:nvSpPr>
        <p:spPr bwMode="auto">
          <a:xfrm>
            <a:off x="268356" y="1143000"/>
            <a:ext cx="8723244" cy="4893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just" eaLnBrk="1" hangingPunct="1">
              <a:lnSpc>
                <a:spcPct val="9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Char char="n"/>
            </a:pPr>
            <a:r>
              <a:rPr lang="en-US" sz="3000" b="1" dirty="0">
                <a:solidFill>
                  <a:srgbClr val="B80000"/>
                </a:solidFill>
                <a:latin typeface="Calibri" pitchFamily="34" charset="0"/>
                <a:cs typeface="Times New Roman" pitchFamily="18" charset="0"/>
              </a:rPr>
              <a:t>Classes are </a:t>
            </a:r>
            <a:r>
              <a:rPr lang="en-US" sz="3000" b="1" u="sng" dirty="0">
                <a:solidFill>
                  <a:srgbClr val="B80000"/>
                </a:solidFill>
                <a:latin typeface="Calibri" pitchFamily="34" charset="0"/>
                <a:cs typeface="Times New Roman" pitchFamily="18" charset="0"/>
              </a:rPr>
              <a:t>constructs/templates</a:t>
            </a:r>
            <a:r>
              <a:rPr lang="en-US" sz="3000" b="1" dirty="0">
                <a:solidFill>
                  <a:srgbClr val="B80000"/>
                </a:solidFill>
                <a:latin typeface="Calibri" pitchFamily="34" charset="0"/>
                <a:cs typeface="Times New Roman" pitchFamily="18" charset="0"/>
              </a:rPr>
              <a:t> that define objects of the same type. </a:t>
            </a:r>
          </a:p>
          <a:p>
            <a:pPr marL="0" indent="0" algn="just" eaLnBrk="1" hangingPunct="1">
              <a:lnSpc>
                <a:spcPct val="90000"/>
              </a:lnSpc>
              <a:spcBef>
                <a:spcPct val="20000"/>
              </a:spcBef>
              <a:buClr>
                <a:srgbClr val="00007D"/>
              </a:buClr>
              <a:buSzPct val="75000"/>
            </a:pPr>
            <a:endParaRPr lang="en-US" sz="3000" dirty="0">
              <a:latin typeface="Calibri" pitchFamily="34" charset="0"/>
              <a:cs typeface="Times New Roman" pitchFamily="18" charset="0"/>
            </a:endParaRPr>
          </a:p>
          <a:p>
            <a:pPr algn="just" eaLnBrk="1" hangingPunct="1">
              <a:lnSpc>
                <a:spcPct val="9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Char char="n"/>
            </a:pPr>
            <a:r>
              <a:rPr lang="en-US" sz="3000" dirty="0">
                <a:latin typeface="Calibri" pitchFamily="34" charset="0"/>
                <a:cs typeface="Times New Roman" pitchFamily="18" charset="0"/>
              </a:rPr>
              <a:t>A </a:t>
            </a:r>
            <a:r>
              <a:rPr lang="en-US" sz="3000" b="1" dirty="0">
                <a:solidFill>
                  <a:srgbClr val="2C14DE"/>
                </a:solidFill>
                <a:latin typeface="Calibri" pitchFamily="34" charset="0"/>
                <a:cs typeface="Times New Roman" pitchFamily="18" charset="0"/>
              </a:rPr>
              <a:t>class</a:t>
            </a:r>
            <a:r>
              <a:rPr lang="en-US" sz="3000" dirty="0">
                <a:solidFill>
                  <a:srgbClr val="2C14DE"/>
                </a:solidFill>
                <a:latin typeface="Calibri" pitchFamily="34" charset="0"/>
                <a:cs typeface="Times New Roman" pitchFamily="18" charset="0"/>
              </a:rPr>
              <a:t> </a:t>
            </a:r>
            <a:r>
              <a:rPr lang="en-US" sz="3000" dirty="0">
                <a:latin typeface="Calibri" pitchFamily="34" charset="0"/>
                <a:cs typeface="Times New Roman" pitchFamily="18" charset="0"/>
              </a:rPr>
              <a:t>uses </a:t>
            </a:r>
            <a:r>
              <a:rPr lang="en-US" sz="3000" b="1" dirty="0">
                <a:solidFill>
                  <a:srgbClr val="B80000"/>
                </a:solidFill>
                <a:latin typeface="Calibri" pitchFamily="34" charset="0"/>
                <a:cs typeface="Times New Roman" pitchFamily="18" charset="0"/>
              </a:rPr>
              <a:t>Variables </a:t>
            </a:r>
            <a:r>
              <a:rPr lang="en-US" sz="3000" b="1" dirty="0">
                <a:latin typeface="Calibri" pitchFamily="34" charset="0"/>
                <a:cs typeface="Times New Roman" pitchFamily="18" charset="0"/>
              </a:rPr>
              <a:t>(data fields) to define </a:t>
            </a:r>
            <a:r>
              <a:rPr lang="en-US" sz="3000" b="1" u="sng" dirty="0">
                <a:solidFill>
                  <a:srgbClr val="008000"/>
                </a:solidFill>
                <a:latin typeface="Calibri" pitchFamily="34" charset="0"/>
                <a:cs typeface="Times New Roman" pitchFamily="18" charset="0"/>
              </a:rPr>
              <a:t>state</a:t>
            </a:r>
          </a:p>
          <a:p>
            <a:pPr algn="just" eaLnBrk="1" hangingPunct="1">
              <a:lnSpc>
                <a:spcPct val="9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Char char="n"/>
            </a:pPr>
            <a:endParaRPr lang="en-US" sz="3000" b="1" dirty="0">
              <a:solidFill>
                <a:srgbClr val="B80000"/>
              </a:solidFill>
              <a:latin typeface="Calibri" pitchFamily="34" charset="0"/>
              <a:cs typeface="Times New Roman" pitchFamily="18" charset="0"/>
            </a:endParaRPr>
          </a:p>
          <a:p>
            <a:pPr algn="just" eaLnBrk="1" hangingPunct="1">
              <a:lnSpc>
                <a:spcPct val="9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Char char="n"/>
            </a:pPr>
            <a:r>
              <a:rPr lang="en-US" sz="3000" dirty="0">
                <a:latin typeface="Calibri" pitchFamily="34" charset="0"/>
                <a:cs typeface="Times New Roman" pitchFamily="18" charset="0"/>
              </a:rPr>
              <a:t>A </a:t>
            </a:r>
            <a:r>
              <a:rPr lang="en-US" sz="3000" b="1" dirty="0">
                <a:solidFill>
                  <a:srgbClr val="2C14DE"/>
                </a:solidFill>
                <a:latin typeface="Calibri" pitchFamily="34" charset="0"/>
                <a:cs typeface="Times New Roman" pitchFamily="18" charset="0"/>
              </a:rPr>
              <a:t>class</a:t>
            </a:r>
            <a:r>
              <a:rPr lang="en-US" sz="3000" dirty="0">
                <a:solidFill>
                  <a:srgbClr val="2C14DE"/>
                </a:solidFill>
                <a:latin typeface="Calibri" pitchFamily="34" charset="0"/>
                <a:cs typeface="Times New Roman" pitchFamily="18" charset="0"/>
              </a:rPr>
              <a:t> </a:t>
            </a:r>
            <a:r>
              <a:rPr lang="en-US" sz="3000" dirty="0">
                <a:latin typeface="Calibri" pitchFamily="34" charset="0"/>
                <a:cs typeface="Times New Roman" pitchFamily="18" charset="0"/>
              </a:rPr>
              <a:t>uses </a:t>
            </a:r>
            <a:r>
              <a:rPr lang="en-US" sz="3000" b="1" dirty="0">
                <a:solidFill>
                  <a:srgbClr val="B80000"/>
                </a:solidFill>
                <a:latin typeface="Calibri" pitchFamily="34" charset="0"/>
                <a:cs typeface="Times New Roman" pitchFamily="18" charset="0"/>
              </a:rPr>
              <a:t>Functions </a:t>
            </a:r>
            <a:r>
              <a:rPr lang="en-US" sz="3000" b="1" dirty="0">
                <a:latin typeface="Calibri" pitchFamily="34" charset="0"/>
                <a:cs typeface="Times New Roman" pitchFamily="18" charset="0"/>
              </a:rPr>
              <a:t>to define</a:t>
            </a:r>
            <a:r>
              <a:rPr lang="en-US" sz="3000" b="1" dirty="0">
                <a:solidFill>
                  <a:srgbClr val="008000"/>
                </a:solidFill>
                <a:latin typeface="Calibri" pitchFamily="34" charset="0"/>
                <a:cs typeface="Times New Roman" pitchFamily="18" charset="0"/>
              </a:rPr>
              <a:t> </a:t>
            </a:r>
            <a:r>
              <a:rPr lang="en-US" sz="3000" b="1" u="sng" dirty="0">
                <a:solidFill>
                  <a:srgbClr val="008000"/>
                </a:solidFill>
                <a:latin typeface="Calibri" pitchFamily="34" charset="0"/>
                <a:cs typeface="Times New Roman" pitchFamily="18" charset="0"/>
              </a:rPr>
              <a:t>behaviors</a:t>
            </a:r>
            <a:r>
              <a:rPr lang="en-US" sz="3000" dirty="0">
                <a:latin typeface="Calibri" pitchFamily="34" charset="0"/>
                <a:cs typeface="Times New Roman" pitchFamily="18" charset="0"/>
              </a:rPr>
              <a:t>. </a:t>
            </a:r>
          </a:p>
          <a:p>
            <a:pPr marL="0" indent="0" algn="just" eaLnBrk="1" hangingPunct="1">
              <a:lnSpc>
                <a:spcPct val="90000"/>
              </a:lnSpc>
              <a:spcBef>
                <a:spcPct val="20000"/>
              </a:spcBef>
              <a:buClr>
                <a:srgbClr val="00007D"/>
              </a:buClr>
              <a:buSzPct val="75000"/>
            </a:pPr>
            <a:endParaRPr lang="en-US" sz="3000" dirty="0">
              <a:latin typeface="Calibri" pitchFamily="34" charset="0"/>
              <a:cs typeface="Times New Roman" pitchFamily="18" charset="0"/>
            </a:endParaRPr>
          </a:p>
          <a:p>
            <a:pPr algn="just" eaLnBrk="1" hangingPunct="1">
              <a:lnSpc>
                <a:spcPct val="9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Char char="n"/>
            </a:pPr>
            <a:r>
              <a:rPr lang="en-US" sz="3000" dirty="0">
                <a:latin typeface="Calibri" pitchFamily="34" charset="0"/>
                <a:cs typeface="Times New Roman" pitchFamily="18" charset="0"/>
              </a:rPr>
              <a:t>Additionally, </a:t>
            </a:r>
            <a:r>
              <a:rPr lang="en-US" sz="3000" b="1" i="1" dirty="0">
                <a:latin typeface="Calibri" pitchFamily="34" charset="0"/>
                <a:cs typeface="Times New Roman" pitchFamily="18" charset="0"/>
              </a:rPr>
              <a:t>a class provides a </a:t>
            </a:r>
            <a:r>
              <a:rPr lang="en-US" sz="3000" b="1" dirty="0">
                <a:solidFill>
                  <a:srgbClr val="B80000"/>
                </a:solidFill>
                <a:latin typeface="Calibri" pitchFamily="34" charset="0"/>
                <a:cs typeface="Times New Roman" pitchFamily="18" charset="0"/>
              </a:rPr>
              <a:t>special type of </a:t>
            </a:r>
            <a:r>
              <a:rPr lang="en-US" sz="3000" b="1" dirty="0" smtClean="0">
                <a:solidFill>
                  <a:srgbClr val="B80000"/>
                </a:solidFill>
                <a:latin typeface="Calibri" pitchFamily="34" charset="0"/>
                <a:cs typeface="Times New Roman" pitchFamily="18" charset="0"/>
              </a:rPr>
              <a:t>function</a:t>
            </a:r>
            <a:r>
              <a:rPr lang="en-US" sz="3000" b="1" i="1" dirty="0" smtClean="0">
                <a:latin typeface="Calibri" pitchFamily="34" charset="0"/>
                <a:cs typeface="Times New Roman" pitchFamily="18" charset="0"/>
              </a:rPr>
              <a:t>, </a:t>
            </a:r>
            <a:r>
              <a:rPr lang="en-US" sz="3000" b="1" dirty="0">
                <a:latin typeface="Calibri" pitchFamily="34" charset="0"/>
                <a:cs typeface="Times New Roman" pitchFamily="18" charset="0"/>
              </a:rPr>
              <a:t>known as </a:t>
            </a:r>
            <a:r>
              <a:rPr lang="en-US" sz="3000" b="1" u="sng" dirty="0">
                <a:solidFill>
                  <a:srgbClr val="008000"/>
                </a:solidFill>
                <a:latin typeface="Calibri" pitchFamily="34" charset="0"/>
                <a:cs typeface="Times New Roman" pitchFamily="18" charset="0"/>
              </a:rPr>
              <a:t>constructors</a:t>
            </a:r>
            <a:r>
              <a:rPr lang="en-US" sz="3000" dirty="0">
                <a:latin typeface="Calibri" pitchFamily="34" charset="0"/>
                <a:cs typeface="Times New Roman" pitchFamily="18" charset="0"/>
              </a:rPr>
              <a:t>: </a:t>
            </a:r>
          </a:p>
          <a:p>
            <a:pPr lvl="1" algn="just" eaLnBrk="1" hangingPunct="1">
              <a:lnSpc>
                <a:spcPct val="9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Char char="n"/>
            </a:pPr>
            <a:r>
              <a:rPr lang="en-US" sz="3000" b="1" dirty="0">
                <a:latin typeface="Calibri" pitchFamily="34" charset="0"/>
                <a:cs typeface="Times New Roman" pitchFamily="18" charset="0"/>
              </a:rPr>
              <a:t>Invoked</a:t>
            </a:r>
            <a:r>
              <a:rPr lang="en-US" sz="3000" dirty="0">
                <a:latin typeface="Calibri" pitchFamily="34" charset="0"/>
                <a:cs typeface="Times New Roman" pitchFamily="18" charset="0"/>
              </a:rPr>
              <a:t> to </a:t>
            </a:r>
            <a:r>
              <a:rPr lang="en-US" sz="3000" b="1" dirty="0">
                <a:solidFill>
                  <a:srgbClr val="2C14DE"/>
                </a:solidFill>
                <a:latin typeface="Calibri" pitchFamily="34" charset="0"/>
                <a:cs typeface="Times New Roman" pitchFamily="18" charset="0"/>
              </a:rPr>
              <a:t>construct objects </a:t>
            </a:r>
            <a:r>
              <a:rPr lang="en-US" sz="3000" dirty="0">
                <a:latin typeface="Calibri" pitchFamily="34" charset="0"/>
                <a:cs typeface="Times New Roman" pitchFamily="18" charset="0"/>
              </a:rPr>
              <a:t>from the </a:t>
            </a:r>
            <a:r>
              <a:rPr lang="en-US" sz="3000" b="1" dirty="0">
                <a:latin typeface="Calibri" pitchFamily="34" charset="0"/>
                <a:cs typeface="Times New Roman" pitchFamily="18" charset="0"/>
              </a:rPr>
              <a:t>class</a:t>
            </a:r>
            <a:r>
              <a:rPr lang="en-US" sz="3000" dirty="0">
                <a:latin typeface="Calibri" pitchFamily="34" charset="0"/>
                <a:cs typeface="Times New Roman" pitchFamily="18" charset="0"/>
              </a:rPr>
              <a:t>. </a:t>
            </a:r>
          </a:p>
        </p:txBody>
      </p:sp>
      <p:sp>
        <p:nvSpPr>
          <p:cNvPr id="7173" name="Rectangle 5"/>
          <p:cNvSpPr>
            <a:spLocks noChangeArrowheads="1"/>
          </p:cNvSpPr>
          <p:nvPr/>
        </p:nvSpPr>
        <p:spPr bwMode="auto">
          <a:xfrm>
            <a:off x="2800350" y="22860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5662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9756" y="13811"/>
            <a:ext cx="9056619" cy="931069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rgbClr val="B80000"/>
                </a:solidFill>
                <a:latin typeface="Calibri" pitchFamily="34" charset="0"/>
              </a:rPr>
              <a:t>Objects in OOP</a:t>
            </a:r>
          </a:p>
        </p:txBody>
      </p:sp>
      <p:sp>
        <p:nvSpPr>
          <p:cNvPr id="8195" name="Rectangle 3"/>
          <p:cNvSpPr>
            <a:spLocks noChangeArrowheads="1"/>
          </p:cNvSpPr>
          <p:nvPr/>
        </p:nvSpPr>
        <p:spPr bwMode="auto">
          <a:xfrm>
            <a:off x="2686050" y="23431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8196" name="Text Box 4"/>
          <p:cNvSpPr txBox="1">
            <a:spLocks noChangeArrowheads="1"/>
          </p:cNvSpPr>
          <p:nvPr/>
        </p:nvSpPr>
        <p:spPr bwMode="auto">
          <a:xfrm>
            <a:off x="60325" y="1198563"/>
            <a:ext cx="9036050" cy="43858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Char char="n"/>
            </a:pPr>
            <a:r>
              <a:rPr lang="en-US" sz="3000" b="1" dirty="0">
                <a:latin typeface="Calibri" pitchFamily="34" charset="0"/>
                <a:cs typeface="Courier New" pitchFamily="49" charset="0"/>
              </a:rPr>
              <a:t>An </a:t>
            </a:r>
            <a:r>
              <a:rPr lang="en-US" sz="3000" b="1" dirty="0">
                <a:solidFill>
                  <a:srgbClr val="B80000"/>
                </a:solidFill>
                <a:latin typeface="Calibri" pitchFamily="34" charset="0"/>
                <a:cs typeface="Courier New" pitchFamily="49" charset="0"/>
              </a:rPr>
              <a:t>object</a:t>
            </a:r>
            <a:r>
              <a:rPr lang="en-US" sz="3000" b="1" dirty="0">
                <a:latin typeface="Calibri" pitchFamily="34" charset="0"/>
                <a:cs typeface="Courier New" pitchFamily="49" charset="0"/>
              </a:rPr>
              <a:t> has a </a:t>
            </a:r>
            <a:r>
              <a:rPr lang="en-US" sz="3000" b="1" dirty="0">
                <a:solidFill>
                  <a:srgbClr val="2C14DE"/>
                </a:solidFill>
                <a:latin typeface="Calibri" pitchFamily="34" charset="0"/>
                <a:cs typeface="Courier New" pitchFamily="49" charset="0"/>
              </a:rPr>
              <a:t>unique identity</a:t>
            </a:r>
            <a:r>
              <a:rPr lang="en-US" sz="3000" b="1" dirty="0">
                <a:latin typeface="Calibri" pitchFamily="34" charset="0"/>
                <a:cs typeface="Courier New" pitchFamily="49" charset="0"/>
              </a:rPr>
              <a:t>, </a:t>
            </a:r>
            <a:r>
              <a:rPr lang="en-US" sz="3000" b="1" dirty="0">
                <a:solidFill>
                  <a:srgbClr val="2C14DE"/>
                </a:solidFill>
                <a:latin typeface="Calibri" pitchFamily="34" charset="0"/>
                <a:cs typeface="Courier New" pitchFamily="49" charset="0"/>
              </a:rPr>
              <a:t>state</a:t>
            </a:r>
            <a:r>
              <a:rPr lang="en-US" sz="3000" b="1" dirty="0">
                <a:latin typeface="Calibri" pitchFamily="34" charset="0"/>
                <a:cs typeface="Courier New" pitchFamily="49" charset="0"/>
              </a:rPr>
              <a:t>, and </a:t>
            </a:r>
            <a:r>
              <a:rPr lang="en-US" sz="3000" b="1" dirty="0">
                <a:solidFill>
                  <a:srgbClr val="2C14DE"/>
                </a:solidFill>
                <a:latin typeface="Calibri" pitchFamily="34" charset="0"/>
                <a:cs typeface="Courier New" pitchFamily="49" charset="0"/>
              </a:rPr>
              <a:t>behaviors</a:t>
            </a:r>
            <a:r>
              <a:rPr lang="en-US" sz="3000" b="1" dirty="0">
                <a:latin typeface="Calibri" pitchFamily="34" charset="0"/>
                <a:cs typeface="Courier New" pitchFamily="49" charset="0"/>
              </a:rPr>
              <a:t>.</a:t>
            </a:r>
            <a:r>
              <a:rPr lang="en-US" sz="3000" dirty="0">
                <a:latin typeface="Calibri" pitchFamily="34" charset="0"/>
                <a:cs typeface="Courier New" pitchFamily="49" charset="0"/>
              </a:rPr>
              <a:t> </a:t>
            </a: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Char char="n"/>
            </a:pPr>
            <a:endParaRPr lang="en-US" sz="3000" dirty="0">
              <a:latin typeface="Calibri" pitchFamily="34" charset="0"/>
              <a:cs typeface="Courier New" pitchFamily="49" charset="0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Char char="n"/>
            </a:pPr>
            <a:endParaRPr lang="en-US" sz="3000" dirty="0">
              <a:latin typeface="Calibri" pitchFamily="34" charset="0"/>
              <a:cs typeface="Courier New" pitchFamily="49" charset="0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Char char="n"/>
            </a:pPr>
            <a:r>
              <a:rPr lang="en-US" sz="3000" dirty="0">
                <a:latin typeface="Calibri" pitchFamily="34" charset="0"/>
                <a:cs typeface="Courier New" pitchFamily="49" charset="0"/>
              </a:rPr>
              <a:t>The </a:t>
            </a:r>
            <a:r>
              <a:rPr lang="en-US" sz="3000" b="1" dirty="0">
                <a:solidFill>
                  <a:srgbClr val="C00000"/>
                </a:solidFill>
                <a:latin typeface="Calibri" pitchFamily="34" charset="0"/>
                <a:cs typeface="Courier New" pitchFamily="49" charset="0"/>
              </a:rPr>
              <a:t>state</a:t>
            </a:r>
            <a:r>
              <a:rPr lang="en-US" sz="3000" dirty="0">
                <a:solidFill>
                  <a:srgbClr val="C00000"/>
                </a:solidFill>
                <a:latin typeface="Calibri" pitchFamily="34" charset="0"/>
                <a:cs typeface="Courier New" pitchFamily="49" charset="0"/>
              </a:rPr>
              <a:t> </a:t>
            </a:r>
            <a:r>
              <a:rPr lang="en-US" sz="3000" dirty="0">
                <a:latin typeface="Calibri" pitchFamily="34" charset="0"/>
                <a:cs typeface="Courier New" pitchFamily="49" charset="0"/>
              </a:rPr>
              <a:t>of an </a:t>
            </a:r>
            <a:r>
              <a:rPr lang="en-US" sz="3000" b="1" dirty="0">
                <a:latin typeface="Calibri" pitchFamily="34" charset="0"/>
                <a:cs typeface="Courier New" pitchFamily="49" charset="0"/>
              </a:rPr>
              <a:t>object</a:t>
            </a:r>
            <a:r>
              <a:rPr lang="en-US" sz="3000" dirty="0">
                <a:latin typeface="Calibri" pitchFamily="34" charset="0"/>
                <a:cs typeface="Courier New" pitchFamily="49" charset="0"/>
              </a:rPr>
              <a:t> consists of </a:t>
            </a:r>
            <a:r>
              <a:rPr lang="en-US" sz="3000" b="1" i="1" dirty="0">
                <a:solidFill>
                  <a:srgbClr val="2C14DE"/>
                </a:solidFill>
                <a:latin typeface="Calibri" pitchFamily="34" charset="0"/>
                <a:cs typeface="Courier New" pitchFamily="49" charset="0"/>
              </a:rPr>
              <a:t>a </a:t>
            </a:r>
            <a:r>
              <a:rPr lang="en-US" sz="3000" b="1" i="1" u="sng" dirty="0">
                <a:solidFill>
                  <a:srgbClr val="2C14DE"/>
                </a:solidFill>
                <a:latin typeface="Calibri" pitchFamily="34" charset="0"/>
                <a:cs typeface="Courier New" pitchFamily="49" charset="0"/>
              </a:rPr>
              <a:t>set of data fields</a:t>
            </a:r>
            <a:r>
              <a:rPr lang="en-US" sz="3000" u="sng" dirty="0">
                <a:solidFill>
                  <a:srgbClr val="2C14DE"/>
                </a:solidFill>
                <a:latin typeface="Calibri" pitchFamily="34" charset="0"/>
                <a:cs typeface="Courier New" pitchFamily="49" charset="0"/>
              </a:rPr>
              <a:t> </a:t>
            </a:r>
            <a:r>
              <a:rPr lang="en-US" sz="3000" dirty="0">
                <a:latin typeface="Calibri" pitchFamily="34" charset="0"/>
                <a:cs typeface="Courier New" pitchFamily="49" charset="0"/>
              </a:rPr>
              <a:t>(also known as </a:t>
            </a:r>
            <a:r>
              <a:rPr lang="en-US" sz="3000" b="1" dirty="0">
                <a:solidFill>
                  <a:srgbClr val="2C14DE"/>
                </a:solidFill>
                <a:latin typeface="Calibri" pitchFamily="34" charset="0"/>
                <a:cs typeface="Courier New" pitchFamily="49" charset="0"/>
              </a:rPr>
              <a:t>properties</a:t>
            </a:r>
            <a:r>
              <a:rPr lang="en-US" sz="3000" dirty="0">
                <a:latin typeface="Calibri" pitchFamily="34" charset="0"/>
                <a:cs typeface="Courier New" pitchFamily="49" charset="0"/>
              </a:rPr>
              <a:t>) </a:t>
            </a:r>
            <a:r>
              <a:rPr lang="en-US" sz="3000" b="1" dirty="0">
                <a:latin typeface="Calibri" pitchFamily="34" charset="0"/>
                <a:cs typeface="Courier New" pitchFamily="49" charset="0"/>
              </a:rPr>
              <a:t>with their </a:t>
            </a:r>
            <a:r>
              <a:rPr lang="en-US" sz="3000" b="1" u="sng" dirty="0">
                <a:solidFill>
                  <a:srgbClr val="2C14DE"/>
                </a:solidFill>
                <a:latin typeface="Calibri" pitchFamily="34" charset="0"/>
                <a:cs typeface="Courier New" pitchFamily="49" charset="0"/>
              </a:rPr>
              <a:t>current values</a:t>
            </a:r>
            <a:r>
              <a:rPr lang="en-US" sz="3000" dirty="0">
                <a:latin typeface="Calibri" pitchFamily="34" charset="0"/>
                <a:cs typeface="Courier New" pitchFamily="49" charset="0"/>
              </a:rPr>
              <a:t>. </a:t>
            </a: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Char char="n"/>
            </a:pPr>
            <a:endParaRPr lang="en-US" sz="3000" dirty="0">
              <a:latin typeface="Calibri" pitchFamily="34" charset="0"/>
              <a:cs typeface="Courier New" pitchFamily="49" charset="0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Char char="n"/>
            </a:pPr>
            <a:endParaRPr lang="en-US" sz="3000" dirty="0">
              <a:latin typeface="Calibri" pitchFamily="34" charset="0"/>
              <a:cs typeface="Courier New" pitchFamily="49" charset="0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Char char="n"/>
            </a:pPr>
            <a:r>
              <a:rPr lang="en-US" sz="3000" dirty="0">
                <a:latin typeface="Calibri" pitchFamily="34" charset="0"/>
                <a:cs typeface="Courier New" pitchFamily="49" charset="0"/>
              </a:rPr>
              <a:t>The </a:t>
            </a:r>
            <a:r>
              <a:rPr lang="en-US" sz="3000" b="1" dirty="0">
                <a:solidFill>
                  <a:srgbClr val="C00000"/>
                </a:solidFill>
                <a:latin typeface="Calibri" pitchFamily="34" charset="0"/>
                <a:cs typeface="Courier New" pitchFamily="49" charset="0"/>
              </a:rPr>
              <a:t>behavior</a:t>
            </a:r>
            <a:r>
              <a:rPr lang="en-US" sz="3000" dirty="0">
                <a:solidFill>
                  <a:srgbClr val="C00000"/>
                </a:solidFill>
                <a:latin typeface="Calibri" pitchFamily="34" charset="0"/>
                <a:cs typeface="Courier New" pitchFamily="49" charset="0"/>
              </a:rPr>
              <a:t> </a:t>
            </a:r>
            <a:r>
              <a:rPr lang="en-US" sz="3000" dirty="0">
                <a:latin typeface="Calibri" pitchFamily="34" charset="0"/>
                <a:cs typeface="Courier New" pitchFamily="49" charset="0"/>
              </a:rPr>
              <a:t>of an </a:t>
            </a:r>
            <a:r>
              <a:rPr lang="en-US" sz="3000" b="1" dirty="0">
                <a:latin typeface="Calibri" pitchFamily="34" charset="0"/>
                <a:cs typeface="Courier New" pitchFamily="49" charset="0"/>
              </a:rPr>
              <a:t>object</a:t>
            </a:r>
            <a:r>
              <a:rPr lang="en-US" sz="3000" dirty="0">
                <a:latin typeface="Calibri" pitchFamily="34" charset="0"/>
                <a:cs typeface="Courier New" pitchFamily="49" charset="0"/>
              </a:rPr>
              <a:t> is </a:t>
            </a:r>
            <a:r>
              <a:rPr lang="en-US" sz="3000" b="1" dirty="0">
                <a:latin typeface="Calibri" pitchFamily="34" charset="0"/>
                <a:cs typeface="Courier New" pitchFamily="49" charset="0"/>
              </a:rPr>
              <a:t>defined</a:t>
            </a:r>
            <a:r>
              <a:rPr lang="en-US" sz="3000" dirty="0">
                <a:latin typeface="Calibri" pitchFamily="34" charset="0"/>
                <a:cs typeface="Courier New" pitchFamily="49" charset="0"/>
              </a:rPr>
              <a:t> by </a:t>
            </a:r>
            <a:r>
              <a:rPr lang="en-US" sz="3000" b="1" dirty="0">
                <a:solidFill>
                  <a:srgbClr val="2C14DE"/>
                </a:solidFill>
                <a:latin typeface="Calibri" pitchFamily="34" charset="0"/>
                <a:cs typeface="Courier New" pitchFamily="49" charset="0"/>
              </a:rPr>
              <a:t>a set of functions</a:t>
            </a:r>
            <a:r>
              <a:rPr lang="en-US" sz="3000" dirty="0">
                <a:solidFill>
                  <a:srgbClr val="2C14DE"/>
                </a:solidFill>
                <a:latin typeface="Calibri" pitchFamily="34" charset="0"/>
                <a:cs typeface="Courier New" pitchFamily="49" charset="0"/>
              </a:rPr>
              <a:t>.</a:t>
            </a:r>
          </a:p>
        </p:txBody>
      </p:sp>
      <p:sp>
        <p:nvSpPr>
          <p:cNvPr id="5" name="Rectangle 4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327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9756" y="70961"/>
            <a:ext cx="9067800" cy="81178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Calibri" pitchFamily="34" charset="0"/>
              </a:rPr>
              <a:t>Class in C++ - Example</a:t>
            </a:r>
          </a:p>
        </p:txBody>
      </p:sp>
      <p:sp>
        <p:nvSpPr>
          <p:cNvPr id="11267" name="Rectangle 3"/>
          <p:cNvSpPr>
            <a:spLocks noChangeArrowheads="1"/>
          </p:cNvSpPr>
          <p:nvPr/>
        </p:nvSpPr>
        <p:spPr bwMode="auto">
          <a:xfrm>
            <a:off x="2686050" y="23431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1268" name="Rectangle 4"/>
          <p:cNvSpPr>
            <a:spLocks noChangeArrowheads="1"/>
          </p:cNvSpPr>
          <p:nvPr/>
        </p:nvSpPr>
        <p:spPr bwMode="auto">
          <a:xfrm>
            <a:off x="2800350" y="22860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1269" name="Rectangle 5"/>
          <p:cNvSpPr>
            <a:spLocks noChangeArrowheads="1"/>
          </p:cNvSpPr>
          <p:nvPr/>
        </p:nvSpPr>
        <p:spPr bwMode="auto">
          <a:xfrm>
            <a:off x="0" y="19510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737" y="1295400"/>
            <a:ext cx="7004525" cy="4807027"/>
          </a:xfrm>
          <a:prstGeom prst="rect">
            <a:avLst/>
          </a:prstGeom>
          <a:noFill/>
          <a:ln>
            <a:noFill/>
          </a:ln>
          <a:effectLst>
            <a:glow rad="228600">
              <a:schemeClr val="accent4">
                <a:satMod val="175000"/>
                <a:alpha val="40000"/>
              </a:schemeClr>
            </a:glow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6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9327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9756" y="53740"/>
            <a:ext cx="9067276" cy="88796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B80000"/>
                </a:solidFill>
                <a:latin typeface="Calibri" pitchFamily="34" charset="0"/>
              </a:rPr>
              <a:t>Class in C++ - Example</a:t>
            </a:r>
          </a:p>
        </p:txBody>
      </p:sp>
      <p:sp>
        <p:nvSpPr>
          <p:cNvPr id="11267" name="Rectangle 3"/>
          <p:cNvSpPr>
            <a:spLocks noChangeArrowheads="1"/>
          </p:cNvSpPr>
          <p:nvPr/>
        </p:nvSpPr>
        <p:spPr bwMode="auto">
          <a:xfrm>
            <a:off x="2686050" y="23431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1268" name="Rectangle 4"/>
          <p:cNvSpPr>
            <a:spLocks noChangeArrowheads="1"/>
          </p:cNvSpPr>
          <p:nvPr/>
        </p:nvSpPr>
        <p:spPr bwMode="auto">
          <a:xfrm>
            <a:off x="2800350" y="22860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1269" name="Rectangle 5"/>
          <p:cNvSpPr>
            <a:spLocks noChangeArrowheads="1"/>
          </p:cNvSpPr>
          <p:nvPr/>
        </p:nvSpPr>
        <p:spPr bwMode="auto">
          <a:xfrm>
            <a:off x="0" y="19510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 dirty="0"/>
          </a:p>
        </p:txBody>
      </p:sp>
      <p:grpSp>
        <p:nvGrpSpPr>
          <p:cNvPr id="9222" name="Group 8"/>
          <p:cNvGrpSpPr>
            <a:grpSpLocks noChangeAspect="1"/>
          </p:cNvGrpSpPr>
          <p:nvPr/>
        </p:nvGrpSpPr>
        <p:grpSpPr bwMode="auto">
          <a:xfrm>
            <a:off x="224228" y="1143000"/>
            <a:ext cx="6641612" cy="5575300"/>
            <a:chOff x="757" y="482"/>
            <a:chExt cx="4210" cy="3512"/>
          </a:xfrm>
          <a:solidFill>
            <a:srgbClr val="E9EFF7"/>
          </a:solidFill>
        </p:grpSpPr>
        <p:sp>
          <p:nvSpPr>
            <p:cNvPr id="9223" name="AutoShape 7"/>
            <p:cNvSpPr>
              <a:spLocks noChangeAspect="1" noChangeArrowheads="1" noTextEdit="1"/>
            </p:cNvSpPr>
            <p:nvPr/>
          </p:nvSpPr>
          <p:spPr bwMode="auto">
            <a:xfrm>
              <a:off x="757" y="482"/>
              <a:ext cx="4210" cy="3512"/>
            </a:xfrm>
            <a:prstGeom prst="rect">
              <a:avLst/>
            </a:prstGeom>
            <a:grpFill/>
            <a:ln w="9525" algn="ctr">
              <a:solidFill>
                <a:schemeClr val="bg2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400" b="1"/>
            </a:p>
          </p:txBody>
        </p:sp>
        <p:sp>
          <p:nvSpPr>
            <p:cNvPr id="9224" name="Rectangle 9"/>
            <p:cNvSpPr>
              <a:spLocks noChangeArrowheads="1"/>
            </p:cNvSpPr>
            <p:nvPr/>
          </p:nvSpPr>
          <p:spPr bwMode="auto">
            <a:xfrm>
              <a:off x="793" y="482"/>
              <a:ext cx="46" cy="22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2300" b="1">
                  <a:solidFill>
                    <a:srgbClr val="000000"/>
                  </a:solidFill>
                  <a:latin typeface="Times New Roman" pitchFamily="18" charset="0"/>
                </a:rPr>
                <a:t> </a:t>
              </a:r>
              <a:endParaRPr lang="en-US" b="1"/>
            </a:p>
          </p:txBody>
        </p:sp>
        <p:sp>
          <p:nvSpPr>
            <p:cNvPr id="9225" name="Rectangle 10"/>
            <p:cNvSpPr>
              <a:spLocks noChangeArrowheads="1"/>
            </p:cNvSpPr>
            <p:nvPr/>
          </p:nvSpPr>
          <p:spPr bwMode="auto">
            <a:xfrm>
              <a:off x="920" y="591"/>
              <a:ext cx="2994" cy="335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en-US" b="1"/>
            </a:p>
          </p:txBody>
        </p:sp>
        <p:sp>
          <p:nvSpPr>
            <p:cNvPr id="9226" name="Rectangle 11"/>
            <p:cNvSpPr>
              <a:spLocks noChangeArrowheads="1"/>
            </p:cNvSpPr>
            <p:nvPr/>
          </p:nvSpPr>
          <p:spPr bwMode="auto">
            <a:xfrm>
              <a:off x="920" y="591"/>
              <a:ext cx="2994" cy="3354"/>
            </a:xfrm>
            <a:prstGeom prst="rect">
              <a:avLst/>
            </a:prstGeom>
            <a:grpFill/>
            <a:ln w="174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b="1"/>
            </a:p>
          </p:txBody>
        </p:sp>
        <p:sp>
          <p:nvSpPr>
            <p:cNvPr id="9227" name="Rectangle 12"/>
            <p:cNvSpPr>
              <a:spLocks noChangeArrowheads="1"/>
            </p:cNvSpPr>
            <p:nvPr/>
          </p:nvSpPr>
          <p:spPr bwMode="auto">
            <a:xfrm>
              <a:off x="925" y="595"/>
              <a:ext cx="360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500" b="1" dirty="0">
                  <a:solidFill>
                    <a:srgbClr val="000050"/>
                  </a:solidFill>
                  <a:latin typeface="Courier New" pitchFamily="49" charset="0"/>
                </a:rPr>
                <a:t>class</a:t>
              </a:r>
              <a:endParaRPr lang="en-US" b="1" dirty="0"/>
            </a:p>
          </p:txBody>
        </p:sp>
        <p:sp>
          <p:nvSpPr>
            <p:cNvPr id="9228" name="Rectangle 13"/>
            <p:cNvSpPr>
              <a:spLocks noChangeArrowheads="1"/>
            </p:cNvSpPr>
            <p:nvPr/>
          </p:nvSpPr>
          <p:spPr bwMode="auto">
            <a:xfrm>
              <a:off x="1287" y="600"/>
              <a:ext cx="50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500" b="1" dirty="0">
                  <a:solidFill>
                    <a:srgbClr val="000000"/>
                  </a:solidFill>
                  <a:latin typeface="Courier New" pitchFamily="49" charset="0"/>
                </a:rPr>
                <a:t> Circle</a:t>
              </a:r>
              <a:endParaRPr lang="en-US" b="1" dirty="0"/>
            </a:p>
          </p:txBody>
        </p:sp>
        <p:sp>
          <p:nvSpPr>
            <p:cNvPr id="9229" name="Rectangle 14"/>
            <p:cNvSpPr>
              <a:spLocks noChangeArrowheads="1"/>
            </p:cNvSpPr>
            <p:nvPr/>
          </p:nvSpPr>
          <p:spPr bwMode="auto">
            <a:xfrm>
              <a:off x="1793" y="600"/>
              <a:ext cx="7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500" b="1" dirty="0">
                  <a:solidFill>
                    <a:srgbClr val="000000"/>
                  </a:solidFill>
                  <a:latin typeface="Courier New" pitchFamily="49" charset="0"/>
                </a:rPr>
                <a:t> </a:t>
              </a:r>
              <a:endParaRPr lang="en-US" b="1" dirty="0"/>
            </a:p>
          </p:txBody>
        </p:sp>
        <p:sp>
          <p:nvSpPr>
            <p:cNvPr id="9230" name="Rectangle 15"/>
            <p:cNvSpPr>
              <a:spLocks noChangeArrowheads="1"/>
            </p:cNvSpPr>
            <p:nvPr/>
          </p:nvSpPr>
          <p:spPr bwMode="auto">
            <a:xfrm>
              <a:off x="925" y="741"/>
              <a:ext cx="7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500" b="1">
                  <a:solidFill>
                    <a:srgbClr val="000000"/>
                  </a:solidFill>
                  <a:latin typeface="Courier New" pitchFamily="49" charset="0"/>
                </a:rPr>
                <a:t>{</a:t>
              </a:r>
              <a:endParaRPr lang="en-US" b="1"/>
            </a:p>
          </p:txBody>
        </p:sp>
        <p:sp>
          <p:nvSpPr>
            <p:cNvPr id="9231" name="Rectangle 16"/>
            <p:cNvSpPr>
              <a:spLocks noChangeArrowheads="1"/>
            </p:cNvSpPr>
            <p:nvPr/>
          </p:nvSpPr>
          <p:spPr bwMode="auto">
            <a:xfrm>
              <a:off x="997" y="741"/>
              <a:ext cx="7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500" b="1">
                  <a:solidFill>
                    <a:srgbClr val="000000"/>
                  </a:solidFill>
                  <a:latin typeface="Courier New" pitchFamily="49" charset="0"/>
                </a:rPr>
                <a:t> </a:t>
              </a:r>
              <a:endParaRPr lang="en-US" b="1"/>
            </a:p>
          </p:txBody>
        </p:sp>
        <p:sp>
          <p:nvSpPr>
            <p:cNvPr id="9232" name="Rectangle 17"/>
            <p:cNvSpPr>
              <a:spLocks noChangeArrowheads="1"/>
            </p:cNvSpPr>
            <p:nvPr/>
          </p:nvSpPr>
          <p:spPr bwMode="auto">
            <a:xfrm>
              <a:off x="925" y="868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500" b="1" dirty="0">
                  <a:solidFill>
                    <a:srgbClr val="000050"/>
                  </a:solidFill>
                  <a:latin typeface="Courier New" pitchFamily="49" charset="0"/>
                </a:rPr>
                <a:t>public</a:t>
              </a:r>
              <a:endParaRPr lang="en-US" b="1" dirty="0"/>
            </a:p>
          </p:txBody>
        </p:sp>
        <p:sp>
          <p:nvSpPr>
            <p:cNvPr id="9233" name="Rectangle 18"/>
            <p:cNvSpPr>
              <a:spLocks noChangeArrowheads="1"/>
            </p:cNvSpPr>
            <p:nvPr/>
          </p:nvSpPr>
          <p:spPr bwMode="auto">
            <a:xfrm>
              <a:off x="1359" y="873"/>
              <a:ext cx="7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500" b="1">
                  <a:solidFill>
                    <a:srgbClr val="000000"/>
                  </a:solidFill>
                  <a:latin typeface="Courier New" pitchFamily="49" charset="0"/>
                </a:rPr>
                <a:t>:</a:t>
              </a:r>
              <a:endParaRPr lang="en-US" b="1"/>
            </a:p>
          </p:txBody>
        </p:sp>
        <p:sp>
          <p:nvSpPr>
            <p:cNvPr id="9234" name="Rectangle 19"/>
            <p:cNvSpPr>
              <a:spLocks noChangeArrowheads="1"/>
            </p:cNvSpPr>
            <p:nvPr/>
          </p:nvSpPr>
          <p:spPr bwMode="auto">
            <a:xfrm>
              <a:off x="1432" y="873"/>
              <a:ext cx="7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500" b="1">
                  <a:solidFill>
                    <a:srgbClr val="000000"/>
                  </a:solidFill>
                  <a:latin typeface="Courier New" pitchFamily="49" charset="0"/>
                </a:rPr>
                <a:t> </a:t>
              </a:r>
              <a:endParaRPr lang="en-US" b="1"/>
            </a:p>
          </p:txBody>
        </p:sp>
        <p:sp>
          <p:nvSpPr>
            <p:cNvPr id="9235" name="Rectangle 20"/>
            <p:cNvSpPr>
              <a:spLocks noChangeArrowheads="1"/>
            </p:cNvSpPr>
            <p:nvPr/>
          </p:nvSpPr>
          <p:spPr bwMode="auto">
            <a:xfrm>
              <a:off x="925" y="1014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500" b="1">
                  <a:solidFill>
                    <a:srgbClr val="000000"/>
                  </a:solidFill>
                  <a:latin typeface="Courier New" pitchFamily="49" charset="0"/>
                </a:rPr>
                <a:t>  </a:t>
              </a:r>
              <a:endParaRPr lang="en-US" b="1"/>
            </a:p>
          </p:txBody>
        </p:sp>
        <p:sp>
          <p:nvSpPr>
            <p:cNvPr id="9236" name="Rectangle 21"/>
            <p:cNvSpPr>
              <a:spLocks noChangeArrowheads="1"/>
            </p:cNvSpPr>
            <p:nvPr/>
          </p:nvSpPr>
          <p:spPr bwMode="auto">
            <a:xfrm>
              <a:off x="1070" y="1014"/>
              <a:ext cx="201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500" b="1" dirty="0">
                  <a:latin typeface="Courier New" pitchFamily="49" charset="0"/>
                </a:rPr>
                <a:t>// The radius of this circle</a:t>
              </a:r>
              <a:endParaRPr lang="en-US" b="1" dirty="0"/>
            </a:p>
          </p:txBody>
        </p:sp>
        <p:sp>
          <p:nvSpPr>
            <p:cNvPr id="9237" name="Rectangle 22"/>
            <p:cNvSpPr>
              <a:spLocks noChangeArrowheads="1"/>
            </p:cNvSpPr>
            <p:nvPr/>
          </p:nvSpPr>
          <p:spPr bwMode="auto">
            <a:xfrm>
              <a:off x="3096" y="1014"/>
              <a:ext cx="7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500" b="1">
                  <a:solidFill>
                    <a:srgbClr val="000000"/>
                  </a:solidFill>
                  <a:latin typeface="Courier New" pitchFamily="49" charset="0"/>
                </a:rPr>
                <a:t> </a:t>
              </a:r>
              <a:endParaRPr lang="en-US" b="1"/>
            </a:p>
          </p:txBody>
        </p:sp>
        <p:sp>
          <p:nvSpPr>
            <p:cNvPr id="9238" name="Rectangle 23"/>
            <p:cNvSpPr>
              <a:spLocks noChangeArrowheads="1"/>
            </p:cNvSpPr>
            <p:nvPr/>
          </p:nvSpPr>
          <p:spPr bwMode="auto">
            <a:xfrm>
              <a:off x="925" y="1146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500" b="1">
                  <a:solidFill>
                    <a:srgbClr val="000000"/>
                  </a:solidFill>
                  <a:latin typeface="Courier New" pitchFamily="49" charset="0"/>
                </a:rPr>
                <a:t>  </a:t>
              </a:r>
              <a:endParaRPr lang="en-US" b="1"/>
            </a:p>
          </p:txBody>
        </p:sp>
        <p:sp>
          <p:nvSpPr>
            <p:cNvPr id="9239" name="Rectangle 24"/>
            <p:cNvSpPr>
              <a:spLocks noChangeArrowheads="1"/>
            </p:cNvSpPr>
            <p:nvPr/>
          </p:nvSpPr>
          <p:spPr bwMode="auto">
            <a:xfrm>
              <a:off x="1070" y="1141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500" b="1">
                  <a:solidFill>
                    <a:srgbClr val="000050"/>
                  </a:solidFill>
                  <a:latin typeface="Courier New" pitchFamily="49" charset="0"/>
                </a:rPr>
                <a:t>double</a:t>
              </a:r>
              <a:endParaRPr lang="en-US" b="1"/>
            </a:p>
          </p:txBody>
        </p:sp>
        <p:sp>
          <p:nvSpPr>
            <p:cNvPr id="9240" name="Rectangle 25"/>
            <p:cNvSpPr>
              <a:spLocks noChangeArrowheads="1"/>
            </p:cNvSpPr>
            <p:nvPr/>
          </p:nvSpPr>
          <p:spPr bwMode="auto">
            <a:xfrm>
              <a:off x="1504" y="1146"/>
              <a:ext cx="57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500" b="1" dirty="0">
                  <a:solidFill>
                    <a:srgbClr val="000000"/>
                  </a:solidFill>
                  <a:latin typeface="Courier New" pitchFamily="49" charset="0"/>
                </a:rPr>
                <a:t> radius;</a:t>
              </a:r>
              <a:endParaRPr lang="en-US" b="1" dirty="0"/>
            </a:p>
          </p:txBody>
        </p:sp>
        <p:sp>
          <p:nvSpPr>
            <p:cNvPr id="9241" name="Rectangle 26"/>
            <p:cNvSpPr>
              <a:spLocks noChangeArrowheads="1"/>
            </p:cNvSpPr>
            <p:nvPr/>
          </p:nvSpPr>
          <p:spPr bwMode="auto">
            <a:xfrm>
              <a:off x="2083" y="1146"/>
              <a:ext cx="7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500" b="1">
                  <a:solidFill>
                    <a:srgbClr val="000000"/>
                  </a:solidFill>
                  <a:latin typeface="Courier New" pitchFamily="49" charset="0"/>
                </a:rPr>
                <a:t> </a:t>
              </a:r>
              <a:endParaRPr lang="en-US" b="1"/>
            </a:p>
          </p:txBody>
        </p:sp>
        <p:sp>
          <p:nvSpPr>
            <p:cNvPr id="9242" name="Rectangle 27"/>
            <p:cNvSpPr>
              <a:spLocks noChangeArrowheads="1"/>
            </p:cNvSpPr>
            <p:nvPr/>
          </p:nvSpPr>
          <p:spPr bwMode="auto">
            <a:xfrm>
              <a:off x="925" y="1288"/>
              <a:ext cx="7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500" b="1">
                  <a:solidFill>
                    <a:srgbClr val="000000"/>
                  </a:solidFill>
                  <a:latin typeface="Courier New" pitchFamily="49" charset="0"/>
                </a:rPr>
                <a:t> </a:t>
              </a:r>
              <a:endParaRPr lang="en-US" b="1"/>
            </a:p>
          </p:txBody>
        </p:sp>
        <p:sp>
          <p:nvSpPr>
            <p:cNvPr id="9243" name="Rectangle 28"/>
            <p:cNvSpPr>
              <a:spLocks noChangeArrowheads="1"/>
            </p:cNvSpPr>
            <p:nvPr/>
          </p:nvSpPr>
          <p:spPr bwMode="auto">
            <a:xfrm>
              <a:off x="925" y="1423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500" b="1">
                  <a:solidFill>
                    <a:srgbClr val="000000"/>
                  </a:solidFill>
                  <a:latin typeface="Courier New" pitchFamily="49" charset="0"/>
                </a:rPr>
                <a:t>  </a:t>
              </a:r>
              <a:endParaRPr lang="en-US" b="1"/>
            </a:p>
          </p:txBody>
        </p:sp>
        <p:sp>
          <p:nvSpPr>
            <p:cNvPr id="9244" name="Rectangle 29"/>
            <p:cNvSpPr>
              <a:spLocks noChangeArrowheads="1"/>
            </p:cNvSpPr>
            <p:nvPr/>
          </p:nvSpPr>
          <p:spPr bwMode="auto">
            <a:xfrm>
              <a:off x="1070" y="1423"/>
              <a:ext cx="201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500" b="1" dirty="0">
                  <a:latin typeface="Courier New" pitchFamily="49" charset="0"/>
                </a:rPr>
                <a:t>// Construct a circle object</a:t>
              </a:r>
              <a:endParaRPr lang="en-US" b="1" dirty="0"/>
            </a:p>
          </p:txBody>
        </p:sp>
        <p:sp>
          <p:nvSpPr>
            <p:cNvPr id="9245" name="Rectangle 30"/>
            <p:cNvSpPr>
              <a:spLocks noChangeArrowheads="1"/>
            </p:cNvSpPr>
            <p:nvPr/>
          </p:nvSpPr>
          <p:spPr bwMode="auto">
            <a:xfrm>
              <a:off x="3096" y="1423"/>
              <a:ext cx="7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500" b="1">
                  <a:solidFill>
                    <a:srgbClr val="000000"/>
                  </a:solidFill>
                  <a:latin typeface="Courier New" pitchFamily="49" charset="0"/>
                </a:rPr>
                <a:t> </a:t>
              </a:r>
              <a:endParaRPr lang="en-US" b="1"/>
            </a:p>
          </p:txBody>
        </p:sp>
        <p:sp>
          <p:nvSpPr>
            <p:cNvPr id="9246" name="Rectangle 31"/>
            <p:cNvSpPr>
              <a:spLocks noChangeArrowheads="1"/>
            </p:cNvSpPr>
            <p:nvPr/>
          </p:nvSpPr>
          <p:spPr bwMode="auto">
            <a:xfrm>
              <a:off x="925" y="1561"/>
              <a:ext cx="720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500" b="1" dirty="0">
                  <a:solidFill>
                    <a:srgbClr val="000000"/>
                  </a:solidFill>
                  <a:latin typeface="Courier New" pitchFamily="49" charset="0"/>
                </a:rPr>
                <a:t>  Circle()</a:t>
              </a:r>
              <a:endParaRPr lang="en-US" b="1" dirty="0"/>
            </a:p>
          </p:txBody>
        </p:sp>
        <p:sp>
          <p:nvSpPr>
            <p:cNvPr id="9247" name="Rectangle 32"/>
            <p:cNvSpPr>
              <a:spLocks noChangeArrowheads="1"/>
            </p:cNvSpPr>
            <p:nvPr/>
          </p:nvSpPr>
          <p:spPr bwMode="auto">
            <a:xfrm>
              <a:off x="1649" y="1561"/>
              <a:ext cx="7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500" b="1">
                  <a:solidFill>
                    <a:srgbClr val="000000"/>
                  </a:solidFill>
                  <a:latin typeface="Courier New" pitchFamily="49" charset="0"/>
                </a:rPr>
                <a:t> </a:t>
              </a:r>
              <a:endParaRPr lang="en-US" b="1"/>
            </a:p>
          </p:txBody>
        </p:sp>
        <p:sp>
          <p:nvSpPr>
            <p:cNvPr id="9248" name="Rectangle 33"/>
            <p:cNvSpPr>
              <a:spLocks noChangeArrowheads="1"/>
            </p:cNvSpPr>
            <p:nvPr/>
          </p:nvSpPr>
          <p:spPr bwMode="auto">
            <a:xfrm>
              <a:off x="925" y="1698"/>
              <a:ext cx="21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500" b="1">
                  <a:solidFill>
                    <a:srgbClr val="000000"/>
                  </a:solidFill>
                  <a:latin typeface="Courier New" pitchFamily="49" charset="0"/>
                </a:rPr>
                <a:t>  {</a:t>
              </a:r>
              <a:endParaRPr lang="en-US" b="1"/>
            </a:p>
          </p:txBody>
        </p:sp>
        <p:sp>
          <p:nvSpPr>
            <p:cNvPr id="9249" name="Rectangle 34"/>
            <p:cNvSpPr>
              <a:spLocks noChangeArrowheads="1"/>
            </p:cNvSpPr>
            <p:nvPr/>
          </p:nvSpPr>
          <p:spPr bwMode="auto">
            <a:xfrm>
              <a:off x="1142" y="1698"/>
              <a:ext cx="7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500" b="1">
                  <a:solidFill>
                    <a:srgbClr val="000000"/>
                  </a:solidFill>
                  <a:latin typeface="Courier New" pitchFamily="49" charset="0"/>
                </a:rPr>
                <a:t> </a:t>
              </a:r>
              <a:endParaRPr lang="en-US" b="1"/>
            </a:p>
          </p:txBody>
        </p:sp>
        <p:sp>
          <p:nvSpPr>
            <p:cNvPr id="9250" name="Rectangle 35"/>
            <p:cNvSpPr>
              <a:spLocks noChangeArrowheads="1"/>
            </p:cNvSpPr>
            <p:nvPr/>
          </p:nvSpPr>
          <p:spPr bwMode="auto">
            <a:xfrm>
              <a:off x="925" y="1834"/>
              <a:ext cx="93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500" b="1" dirty="0">
                  <a:solidFill>
                    <a:srgbClr val="000000"/>
                  </a:solidFill>
                  <a:latin typeface="Courier New" pitchFamily="49" charset="0"/>
                </a:rPr>
                <a:t>    radius = </a:t>
              </a:r>
              <a:endParaRPr lang="en-US" b="1" dirty="0"/>
            </a:p>
          </p:txBody>
        </p:sp>
        <p:sp>
          <p:nvSpPr>
            <p:cNvPr id="9251" name="Rectangle 36"/>
            <p:cNvSpPr>
              <a:spLocks noChangeArrowheads="1"/>
            </p:cNvSpPr>
            <p:nvPr/>
          </p:nvSpPr>
          <p:spPr bwMode="auto">
            <a:xfrm>
              <a:off x="1866" y="1834"/>
              <a:ext cx="7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500" b="1">
                  <a:solidFill>
                    <a:srgbClr val="3366FF"/>
                  </a:solidFill>
                  <a:latin typeface="Courier New" pitchFamily="49" charset="0"/>
                </a:rPr>
                <a:t>1</a:t>
              </a:r>
              <a:endParaRPr lang="en-US" b="1"/>
            </a:p>
          </p:txBody>
        </p:sp>
        <p:sp>
          <p:nvSpPr>
            <p:cNvPr id="9252" name="Rectangle 37"/>
            <p:cNvSpPr>
              <a:spLocks noChangeArrowheads="1"/>
            </p:cNvSpPr>
            <p:nvPr/>
          </p:nvSpPr>
          <p:spPr bwMode="auto">
            <a:xfrm>
              <a:off x="1938" y="1834"/>
              <a:ext cx="7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500" b="1">
                  <a:solidFill>
                    <a:srgbClr val="000000"/>
                  </a:solidFill>
                  <a:latin typeface="Courier New" pitchFamily="49" charset="0"/>
                </a:rPr>
                <a:t>;</a:t>
              </a:r>
              <a:endParaRPr lang="en-US" b="1"/>
            </a:p>
          </p:txBody>
        </p:sp>
        <p:sp>
          <p:nvSpPr>
            <p:cNvPr id="9253" name="Rectangle 38"/>
            <p:cNvSpPr>
              <a:spLocks noChangeArrowheads="1"/>
            </p:cNvSpPr>
            <p:nvPr/>
          </p:nvSpPr>
          <p:spPr bwMode="auto">
            <a:xfrm>
              <a:off x="2011" y="1834"/>
              <a:ext cx="7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500" b="1">
                  <a:solidFill>
                    <a:srgbClr val="000000"/>
                  </a:solidFill>
                  <a:latin typeface="Courier New" pitchFamily="49" charset="0"/>
                </a:rPr>
                <a:t> </a:t>
              </a:r>
              <a:endParaRPr lang="en-US" b="1"/>
            </a:p>
          </p:txBody>
        </p:sp>
        <p:sp>
          <p:nvSpPr>
            <p:cNvPr id="9254" name="Rectangle 39"/>
            <p:cNvSpPr>
              <a:spLocks noChangeArrowheads="1"/>
            </p:cNvSpPr>
            <p:nvPr/>
          </p:nvSpPr>
          <p:spPr bwMode="auto">
            <a:xfrm>
              <a:off x="925" y="1972"/>
              <a:ext cx="21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500" b="1">
                  <a:solidFill>
                    <a:srgbClr val="000000"/>
                  </a:solidFill>
                  <a:latin typeface="Courier New" pitchFamily="49" charset="0"/>
                </a:rPr>
                <a:t>  }</a:t>
              </a:r>
              <a:endParaRPr lang="en-US" b="1"/>
            </a:p>
          </p:txBody>
        </p:sp>
        <p:sp>
          <p:nvSpPr>
            <p:cNvPr id="9255" name="Rectangle 40"/>
            <p:cNvSpPr>
              <a:spLocks noChangeArrowheads="1"/>
            </p:cNvSpPr>
            <p:nvPr/>
          </p:nvSpPr>
          <p:spPr bwMode="auto">
            <a:xfrm>
              <a:off x="1142" y="1972"/>
              <a:ext cx="7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500" b="1">
                  <a:solidFill>
                    <a:srgbClr val="000000"/>
                  </a:solidFill>
                  <a:latin typeface="Courier New" pitchFamily="49" charset="0"/>
                </a:rPr>
                <a:t> </a:t>
              </a:r>
              <a:endParaRPr lang="en-US" b="1"/>
            </a:p>
          </p:txBody>
        </p:sp>
        <p:sp>
          <p:nvSpPr>
            <p:cNvPr id="9256" name="Rectangle 41"/>
            <p:cNvSpPr>
              <a:spLocks noChangeArrowheads="1"/>
            </p:cNvSpPr>
            <p:nvPr/>
          </p:nvSpPr>
          <p:spPr bwMode="auto">
            <a:xfrm>
              <a:off x="925" y="2108"/>
              <a:ext cx="7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500" b="1">
                  <a:solidFill>
                    <a:srgbClr val="000000"/>
                  </a:solidFill>
                  <a:latin typeface="Courier New" pitchFamily="49" charset="0"/>
                </a:rPr>
                <a:t> </a:t>
              </a:r>
              <a:endParaRPr lang="en-US" b="1"/>
            </a:p>
          </p:txBody>
        </p:sp>
        <p:sp>
          <p:nvSpPr>
            <p:cNvPr id="9257" name="Rectangle 42"/>
            <p:cNvSpPr>
              <a:spLocks noChangeArrowheads="1"/>
            </p:cNvSpPr>
            <p:nvPr/>
          </p:nvSpPr>
          <p:spPr bwMode="auto">
            <a:xfrm>
              <a:off x="925" y="2245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500" b="1">
                  <a:solidFill>
                    <a:srgbClr val="000000"/>
                  </a:solidFill>
                  <a:latin typeface="Courier New" pitchFamily="49" charset="0"/>
                </a:rPr>
                <a:t>  </a:t>
              </a:r>
              <a:endParaRPr lang="en-US" b="1"/>
            </a:p>
          </p:txBody>
        </p:sp>
        <p:sp>
          <p:nvSpPr>
            <p:cNvPr id="9258" name="Rectangle 43"/>
            <p:cNvSpPr>
              <a:spLocks noChangeArrowheads="1"/>
            </p:cNvSpPr>
            <p:nvPr/>
          </p:nvSpPr>
          <p:spPr bwMode="auto">
            <a:xfrm>
              <a:off x="1070" y="2245"/>
              <a:ext cx="201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500" b="1" dirty="0">
                  <a:latin typeface="Courier New" pitchFamily="49" charset="0"/>
                </a:rPr>
                <a:t>// Construct a circle object</a:t>
              </a:r>
              <a:endParaRPr lang="en-US" b="1" dirty="0"/>
            </a:p>
          </p:txBody>
        </p:sp>
        <p:sp>
          <p:nvSpPr>
            <p:cNvPr id="9259" name="Rectangle 44"/>
            <p:cNvSpPr>
              <a:spLocks noChangeArrowheads="1"/>
            </p:cNvSpPr>
            <p:nvPr/>
          </p:nvSpPr>
          <p:spPr bwMode="auto">
            <a:xfrm>
              <a:off x="3096" y="2245"/>
              <a:ext cx="7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500" b="1">
                  <a:solidFill>
                    <a:srgbClr val="000000"/>
                  </a:solidFill>
                  <a:latin typeface="Courier New" pitchFamily="49" charset="0"/>
                </a:rPr>
                <a:t> </a:t>
              </a:r>
              <a:endParaRPr lang="en-US" b="1"/>
            </a:p>
          </p:txBody>
        </p:sp>
        <p:sp>
          <p:nvSpPr>
            <p:cNvPr id="9260" name="Rectangle 45"/>
            <p:cNvSpPr>
              <a:spLocks noChangeArrowheads="1"/>
            </p:cNvSpPr>
            <p:nvPr/>
          </p:nvSpPr>
          <p:spPr bwMode="auto">
            <a:xfrm>
              <a:off x="3168" y="2245"/>
              <a:ext cx="7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500" b="1">
                  <a:solidFill>
                    <a:srgbClr val="000000"/>
                  </a:solidFill>
                  <a:latin typeface="Courier New" pitchFamily="49" charset="0"/>
                </a:rPr>
                <a:t> </a:t>
              </a:r>
              <a:endParaRPr lang="en-US" b="1"/>
            </a:p>
          </p:txBody>
        </p:sp>
        <p:sp>
          <p:nvSpPr>
            <p:cNvPr id="9261" name="Rectangle 46"/>
            <p:cNvSpPr>
              <a:spLocks noChangeArrowheads="1"/>
            </p:cNvSpPr>
            <p:nvPr/>
          </p:nvSpPr>
          <p:spPr bwMode="auto">
            <a:xfrm>
              <a:off x="925" y="2377"/>
              <a:ext cx="64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500" b="1" dirty="0">
                  <a:solidFill>
                    <a:srgbClr val="000000"/>
                  </a:solidFill>
                  <a:latin typeface="Courier New" pitchFamily="49" charset="0"/>
                </a:rPr>
                <a:t>  Circle(</a:t>
              </a:r>
              <a:endParaRPr lang="en-US" b="1" dirty="0"/>
            </a:p>
          </p:txBody>
        </p:sp>
        <p:sp>
          <p:nvSpPr>
            <p:cNvPr id="9262" name="Rectangle 47"/>
            <p:cNvSpPr>
              <a:spLocks noChangeArrowheads="1"/>
            </p:cNvSpPr>
            <p:nvPr/>
          </p:nvSpPr>
          <p:spPr bwMode="auto">
            <a:xfrm>
              <a:off x="1576" y="2372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500" b="1">
                  <a:solidFill>
                    <a:srgbClr val="000050"/>
                  </a:solidFill>
                  <a:latin typeface="Courier New" pitchFamily="49" charset="0"/>
                </a:rPr>
                <a:t>double</a:t>
              </a:r>
              <a:endParaRPr lang="en-US" b="1"/>
            </a:p>
          </p:txBody>
        </p:sp>
        <p:sp>
          <p:nvSpPr>
            <p:cNvPr id="9263" name="Rectangle 48"/>
            <p:cNvSpPr>
              <a:spLocks noChangeArrowheads="1"/>
            </p:cNvSpPr>
            <p:nvPr/>
          </p:nvSpPr>
          <p:spPr bwMode="auto">
            <a:xfrm>
              <a:off x="2011" y="2377"/>
              <a:ext cx="79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500" b="1">
                  <a:solidFill>
                    <a:srgbClr val="000000"/>
                  </a:solidFill>
                  <a:latin typeface="Courier New" pitchFamily="49" charset="0"/>
                </a:rPr>
                <a:t> newRadius)</a:t>
              </a:r>
              <a:endParaRPr lang="en-US" b="1"/>
            </a:p>
          </p:txBody>
        </p:sp>
        <p:sp>
          <p:nvSpPr>
            <p:cNvPr id="9264" name="Rectangle 49"/>
            <p:cNvSpPr>
              <a:spLocks noChangeArrowheads="1"/>
            </p:cNvSpPr>
            <p:nvPr/>
          </p:nvSpPr>
          <p:spPr bwMode="auto">
            <a:xfrm>
              <a:off x="2807" y="2377"/>
              <a:ext cx="7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500" b="1">
                  <a:solidFill>
                    <a:srgbClr val="000000"/>
                  </a:solidFill>
                  <a:latin typeface="Courier New" pitchFamily="49" charset="0"/>
                </a:rPr>
                <a:t> </a:t>
              </a:r>
              <a:endParaRPr lang="en-US" b="1"/>
            </a:p>
          </p:txBody>
        </p:sp>
        <p:sp>
          <p:nvSpPr>
            <p:cNvPr id="9265" name="Rectangle 50"/>
            <p:cNvSpPr>
              <a:spLocks noChangeArrowheads="1"/>
            </p:cNvSpPr>
            <p:nvPr/>
          </p:nvSpPr>
          <p:spPr bwMode="auto">
            <a:xfrm>
              <a:off x="925" y="2519"/>
              <a:ext cx="21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500" b="1">
                  <a:solidFill>
                    <a:srgbClr val="000000"/>
                  </a:solidFill>
                  <a:latin typeface="Courier New" pitchFamily="49" charset="0"/>
                </a:rPr>
                <a:t>  {</a:t>
              </a:r>
              <a:endParaRPr lang="en-US" b="1"/>
            </a:p>
          </p:txBody>
        </p:sp>
        <p:sp>
          <p:nvSpPr>
            <p:cNvPr id="9266" name="Rectangle 51"/>
            <p:cNvSpPr>
              <a:spLocks noChangeArrowheads="1"/>
            </p:cNvSpPr>
            <p:nvPr/>
          </p:nvSpPr>
          <p:spPr bwMode="auto">
            <a:xfrm>
              <a:off x="1142" y="2519"/>
              <a:ext cx="7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500" b="1">
                  <a:solidFill>
                    <a:srgbClr val="000000"/>
                  </a:solidFill>
                  <a:latin typeface="Courier New" pitchFamily="49" charset="0"/>
                </a:rPr>
                <a:t> </a:t>
              </a:r>
              <a:endParaRPr lang="en-US" b="1"/>
            </a:p>
          </p:txBody>
        </p:sp>
        <p:sp>
          <p:nvSpPr>
            <p:cNvPr id="9267" name="Rectangle 52"/>
            <p:cNvSpPr>
              <a:spLocks noChangeArrowheads="1"/>
            </p:cNvSpPr>
            <p:nvPr/>
          </p:nvSpPr>
          <p:spPr bwMode="auto">
            <a:xfrm>
              <a:off x="925" y="2654"/>
              <a:ext cx="165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500" b="1">
                  <a:solidFill>
                    <a:srgbClr val="000000"/>
                  </a:solidFill>
                  <a:latin typeface="Courier New" pitchFamily="49" charset="0"/>
                </a:rPr>
                <a:t>    radius = newRadius;</a:t>
              </a:r>
              <a:endParaRPr lang="en-US" b="1"/>
            </a:p>
          </p:txBody>
        </p:sp>
        <p:sp>
          <p:nvSpPr>
            <p:cNvPr id="9268" name="Rectangle 53"/>
            <p:cNvSpPr>
              <a:spLocks noChangeArrowheads="1"/>
            </p:cNvSpPr>
            <p:nvPr/>
          </p:nvSpPr>
          <p:spPr bwMode="auto">
            <a:xfrm>
              <a:off x="2590" y="2654"/>
              <a:ext cx="7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500" b="1">
                  <a:solidFill>
                    <a:srgbClr val="000000"/>
                  </a:solidFill>
                  <a:latin typeface="Courier New" pitchFamily="49" charset="0"/>
                </a:rPr>
                <a:t> </a:t>
              </a:r>
              <a:endParaRPr lang="en-US" b="1"/>
            </a:p>
          </p:txBody>
        </p:sp>
        <p:sp>
          <p:nvSpPr>
            <p:cNvPr id="9269" name="Rectangle 54"/>
            <p:cNvSpPr>
              <a:spLocks noChangeArrowheads="1"/>
            </p:cNvSpPr>
            <p:nvPr/>
          </p:nvSpPr>
          <p:spPr bwMode="auto">
            <a:xfrm>
              <a:off x="925" y="2792"/>
              <a:ext cx="21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500" b="1">
                  <a:solidFill>
                    <a:srgbClr val="000000"/>
                  </a:solidFill>
                  <a:latin typeface="Courier New" pitchFamily="49" charset="0"/>
                </a:rPr>
                <a:t>  }</a:t>
              </a:r>
              <a:endParaRPr lang="en-US" b="1"/>
            </a:p>
          </p:txBody>
        </p:sp>
        <p:sp>
          <p:nvSpPr>
            <p:cNvPr id="9270" name="Rectangle 55"/>
            <p:cNvSpPr>
              <a:spLocks noChangeArrowheads="1"/>
            </p:cNvSpPr>
            <p:nvPr/>
          </p:nvSpPr>
          <p:spPr bwMode="auto">
            <a:xfrm>
              <a:off x="1142" y="2792"/>
              <a:ext cx="7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500" b="1">
                  <a:solidFill>
                    <a:srgbClr val="000000"/>
                  </a:solidFill>
                  <a:latin typeface="Courier New" pitchFamily="49" charset="0"/>
                </a:rPr>
                <a:t> </a:t>
              </a:r>
              <a:endParaRPr lang="en-US" b="1"/>
            </a:p>
          </p:txBody>
        </p:sp>
        <p:sp>
          <p:nvSpPr>
            <p:cNvPr id="9271" name="Rectangle 56"/>
            <p:cNvSpPr>
              <a:spLocks noChangeArrowheads="1"/>
            </p:cNvSpPr>
            <p:nvPr/>
          </p:nvSpPr>
          <p:spPr bwMode="auto">
            <a:xfrm>
              <a:off x="925" y="2928"/>
              <a:ext cx="7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500" b="1">
                  <a:solidFill>
                    <a:srgbClr val="000000"/>
                  </a:solidFill>
                  <a:latin typeface="Courier New" pitchFamily="49" charset="0"/>
                </a:rPr>
                <a:t> </a:t>
              </a:r>
              <a:endParaRPr lang="en-US" b="1"/>
            </a:p>
          </p:txBody>
        </p:sp>
        <p:sp>
          <p:nvSpPr>
            <p:cNvPr id="9272" name="Rectangle 57"/>
            <p:cNvSpPr>
              <a:spLocks noChangeArrowheads="1"/>
            </p:cNvSpPr>
            <p:nvPr/>
          </p:nvSpPr>
          <p:spPr bwMode="auto">
            <a:xfrm>
              <a:off x="925" y="3065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500" b="1">
                  <a:solidFill>
                    <a:srgbClr val="000000"/>
                  </a:solidFill>
                  <a:latin typeface="Courier New" pitchFamily="49" charset="0"/>
                </a:rPr>
                <a:t>  </a:t>
              </a:r>
              <a:endParaRPr lang="en-US" b="1"/>
            </a:p>
          </p:txBody>
        </p:sp>
        <p:sp>
          <p:nvSpPr>
            <p:cNvPr id="9273" name="Rectangle 58"/>
            <p:cNvSpPr>
              <a:spLocks noChangeArrowheads="1"/>
            </p:cNvSpPr>
            <p:nvPr/>
          </p:nvSpPr>
          <p:spPr bwMode="auto">
            <a:xfrm>
              <a:off x="1070" y="3065"/>
              <a:ext cx="86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500" b="1" dirty="0">
                  <a:latin typeface="Courier New" pitchFamily="49" charset="0"/>
                </a:rPr>
                <a:t>// Return </a:t>
              </a:r>
              <a:r>
                <a:rPr lang="en-US" sz="1500" b="1" dirty="0" err="1">
                  <a:latin typeface="Courier New" pitchFamily="49" charset="0"/>
                </a:rPr>
                <a:t>th</a:t>
              </a:r>
              <a:endParaRPr lang="en-US" b="1" dirty="0"/>
            </a:p>
          </p:txBody>
        </p:sp>
        <p:sp>
          <p:nvSpPr>
            <p:cNvPr id="9274" name="Rectangle 59"/>
            <p:cNvSpPr>
              <a:spLocks noChangeArrowheads="1"/>
            </p:cNvSpPr>
            <p:nvPr/>
          </p:nvSpPr>
          <p:spPr bwMode="auto">
            <a:xfrm>
              <a:off x="1938" y="3065"/>
              <a:ext cx="151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500" b="1" dirty="0">
                  <a:latin typeface="Courier New" pitchFamily="49" charset="0"/>
                </a:rPr>
                <a:t>e area of this circle</a:t>
              </a:r>
              <a:endParaRPr lang="en-US" b="1" dirty="0"/>
            </a:p>
          </p:txBody>
        </p:sp>
        <p:sp>
          <p:nvSpPr>
            <p:cNvPr id="9275" name="Rectangle 60"/>
            <p:cNvSpPr>
              <a:spLocks noChangeArrowheads="1"/>
            </p:cNvSpPr>
            <p:nvPr/>
          </p:nvSpPr>
          <p:spPr bwMode="auto">
            <a:xfrm>
              <a:off x="3458" y="3065"/>
              <a:ext cx="7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500" b="1">
                  <a:solidFill>
                    <a:srgbClr val="000000"/>
                  </a:solidFill>
                  <a:latin typeface="Courier New" pitchFamily="49" charset="0"/>
                </a:rPr>
                <a:t> </a:t>
              </a:r>
              <a:endParaRPr lang="en-US" b="1"/>
            </a:p>
          </p:txBody>
        </p:sp>
        <p:sp>
          <p:nvSpPr>
            <p:cNvPr id="9276" name="Rectangle 61"/>
            <p:cNvSpPr>
              <a:spLocks noChangeArrowheads="1"/>
            </p:cNvSpPr>
            <p:nvPr/>
          </p:nvSpPr>
          <p:spPr bwMode="auto">
            <a:xfrm>
              <a:off x="3530" y="3065"/>
              <a:ext cx="7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500" b="1">
                  <a:solidFill>
                    <a:srgbClr val="000000"/>
                  </a:solidFill>
                  <a:latin typeface="Courier New" pitchFamily="49" charset="0"/>
                </a:rPr>
                <a:t> </a:t>
              </a:r>
              <a:endParaRPr lang="en-US" b="1"/>
            </a:p>
          </p:txBody>
        </p:sp>
        <p:sp>
          <p:nvSpPr>
            <p:cNvPr id="9277" name="Rectangle 62"/>
            <p:cNvSpPr>
              <a:spLocks noChangeArrowheads="1"/>
            </p:cNvSpPr>
            <p:nvPr/>
          </p:nvSpPr>
          <p:spPr bwMode="auto">
            <a:xfrm>
              <a:off x="925" y="3197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500" b="1">
                  <a:solidFill>
                    <a:srgbClr val="000000"/>
                  </a:solidFill>
                  <a:latin typeface="Courier New" pitchFamily="49" charset="0"/>
                </a:rPr>
                <a:t>  </a:t>
              </a:r>
              <a:endParaRPr lang="en-US" b="1"/>
            </a:p>
          </p:txBody>
        </p:sp>
        <p:sp>
          <p:nvSpPr>
            <p:cNvPr id="9278" name="Rectangle 63"/>
            <p:cNvSpPr>
              <a:spLocks noChangeArrowheads="1"/>
            </p:cNvSpPr>
            <p:nvPr/>
          </p:nvSpPr>
          <p:spPr bwMode="auto">
            <a:xfrm>
              <a:off x="1070" y="3192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500" b="1">
                  <a:solidFill>
                    <a:srgbClr val="000050"/>
                  </a:solidFill>
                  <a:latin typeface="Courier New" pitchFamily="49" charset="0"/>
                </a:rPr>
                <a:t>double</a:t>
              </a:r>
              <a:endParaRPr lang="en-US" b="1"/>
            </a:p>
          </p:txBody>
        </p:sp>
        <p:sp>
          <p:nvSpPr>
            <p:cNvPr id="9279" name="Rectangle 64"/>
            <p:cNvSpPr>
              <a:spLocks noChangeArrowheads="1"/>
            </p:cNvSpPr>
            <p:nvPr/>
          </p:nvSpPr>
          <p:spPr bwMode="auto">
            <a:xfrm>
              <a:off x="1504" y="3197"/>
              <a:ext cx="720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500" b="1" dirty="0">
                  <a:solidFill>
                    <a:srgbClr val="000000"/>
                  </a:solidFill>
                  <a:latin typeface="Courier New" pitchFamily="49" charset="0"/>
                </a:rPr>
                <a:t> </a:t>
              </a:r>
              <a:r>
                <a:rPr lang="en-US" sz="1500" b="1" dirty="0" err="1">
                  <a:solidFill>
                    <a:srgbClr val="000000"/>
                  </a:solidFill>
                  <a:latin typeface="Courier New" pitchFamily="49" charset="0"/>
                </a:rPr>
                <a:t>getArea</a:t>
              </a:r>
              <a:r>
                <a:rPr lang="en-US" sz="1500" b="1" dirty="0">
                  <a:solidFill>
                    <a:srgbClr val="000000"/>
                  </a:solidFill>
                  <a:latin typeface="Courier New" pitchFamily="49" charset="0"/>
                </a:rPr>
                <a:t>()</a:t>
              </a:r>
              <a:endParaRPr lang="en-US" b="1" dirty="0"/>
            </a:p>
          </p:txBody>
        </p:sp>
        <p:sp>
          <p:nvSpPr>
            <p:cNvPr id="9280" name="Rectangle 65"/>
            <p:cNvSpPr>
              <a:spLocks noChangeArrowheads="1"/>
            </p:cNvSpPr>
            <p:nvPr/>
          </p:nvSpPr>
          <p:spPr bwMode="auto">
            <a:xfrm>
              <a:off x="2228" y="3197"/>
              <a:ext cx="7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500" b="1">
                  <a:solidFill>
                    <a:srgbClr val="000000"/>
                  </a:solidFill>
                  <a:latin typeface="Courier New" pitchFamily="49" charset="0"/>
                </a:rPr>
                <a:t> </a:t>
              </a:r>
              <a:endParaRPr lang="en-US" b="1"/>
            </a:p>
          </p:txBody>
        </p:sp>
        <p:sp>
          <p:nvSpPr>
            <p:cNvPr id="9281" name="Rectangle 66"/>
            <p:cNvSpPr>
              <a:spLocks noChangeArrowheads="1"/>
            </p:cNvSpPr>
            <p:nvPr/>
          </p:nvSpPr>
          <p:spPr bwMode="auto">
            <a:xfrm>
              <a:off x="925" y="3339"/>
              <a:ext cx="21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500" b="1">
                  <a:solidFill>
                    <a:srgbClr val="000000"/>
                  </a:solidFill>
                  <a:latin typeface="Courier New" pitchFamily="49" charset="0"/>
                </a:rPr>
                <a:t>  {</a:t>
              </a:r>
              <a:endParaRPr lang="en-US" b="1"/>
            </a:p>
          </p:txBody>
        </p:sp>
        <p:sp>
          <p:nvSpPr>
            <p:cNvPr id="9282" name="Rectangle 67"/>
            <p:cNvSpPr>
              <a:spLocks noChangeArrowheads="1"/>
            </p:cNvSpPr>
            <p:nvPr/>
          </p:nvSpPr>
          <p:spPr bwMode="auto">
            <a:xfrm>
              <a:off x="1142" y="3339"/>
              <a:ext cx="7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500" b="1">
                  <a:solidFill>
                    <a:srgbClr val="000000"/>
                  </a:solidFill>
                  <a:latin typeface="Courier New" pitchFamily="49" charset="0"/>
                </a:rPr>
                <a:t> </a:t>
              </a:r>
              <a:endParaRPr lang="en-US" b="1"/>
            </a:p>
          </p:txBody>
        </p:sp>
        <p:sp>
          <p:nvSpPr>
            <p:cNvPr id="9283" name="Rectangle 68"/>
            <p:cNvSpPr>
              <a:spLocks noChangeArrowheads="1"/>
            </p:cNvSpPr>
            <p:nvPr/>
          </p:nvSpPr>
          <p:spPr bwMode="auto">
            <a:xfrm>
              <a:off x="925" y="3471"/>
              <a:ext cx="28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500" b="1">
                  <a:solidFill>
                    <a:srgbClr val="000000"/>
                  </a:solidFill>
                  <a:latin typeface="Courier New" pitchFamily="49" charset="0"/>
                </a:rPr>
                <a:t>    </a:t>
              </a:r>
              <a:endParaRPr lang="en-US" b="1"/>
            </a:p>
          </p:txBody>
        </p:sp>
        <p:sp>
          <p:nvSpPr>
            <p:cNvPr id="9284" name="Rectangle 69"/>
            <p:cNvSpPr>
              <a:spLocks noChangeArrowheads="1"/>
            </p:cNvSpPr>
            <p:nvPr/>
          </p:nvSpPr>
          <p:spPr bwMode="auto">
            <a:xfrm>
              <a:off x="1215" y="3466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500" b="1">
                  <a:solidFill>
                    <a:srgbClr val="000050"/>
                  </a:solidFill>
                  <a:latin typeface="Courier New" pitchFamily="49" charset="0"/>
                </a:rPr>
                <a:t>return</a:t>
              </a:r>
              <a:endParaRPr lang="en-US" b="1"/>
            </a:p>
          </p:txBody>
        </p:sp>
        <p:sp>
          <p:nvSpPr>
            <p:cNvPr id="9285" name="Rectangle 70"/>
            <p:cNvSpPr>
              <a:spLocks noChangeArrowheads="1"/>
            </p:cNvSpPr>
            <p:nvPr/>
          </p:nvSpPr>
          <p:spPr bwMode="auto">
            <a:xfrm>
              <a:off x="1649" y="3471"/>
              <a:ext cx="136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500" b="1">
                  <a:solidFill>
                    <a:srgbClr val="000000"/>
                  </a:solidFill>
                  <a:latin typeface="Courier New" pitchFamily="49" charset="0"/>
                </a:rPr>
                <a:t> radius * radius * </a:t>
              </a:r>
              <a:endParaRPr lang="en-US" b="1"/>
            </a:p>
          </p:txBody>
        </p:sp>
        <p:sp>
          <p:nvSpPr>
            <p:cNvPr id="9286" name="Rectangle 71"/>
            <p:cNvSpPr>
              <a:spLocks noChangeArrowheads="1"/>
            </p:cNvSpPr>
            <p:nvPr/>
          </p:nvSpPr>
          <p:spPr bwMode="auto">
            <a:xfrm>
              <a:off x="3024" y="3471"/>
              <a:ext cx="50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500" b="1" dirty="0">
                  <a:latin typeface="Courier New" pitchFamily="49" charset="0"/>
                </a:rPr>
                <a:t>3.14159</a:t>
              </a:r>
              <a:endParaRPr lang="en-US" b="1" dirty="0"/>
            </a:p>
          </p:txBody>
        </p:sp>
        <p:sp>
          <p:nvSpPr>
            <p:cNvPr id="9287" name="Rectangle 72"/>
            <p:cNvSpPr>
              <a:spLocks noChangeArrowheads="1"/>
            </p:cNvSpPr>
            <p:nvPr/>
          </p:nvSpPr>
          <p:spPr bwMode="auto">
            <a:xfrm>
              <a:off x="3530" y="3471"/>
              <a:ext cx="7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500" b="1">
                  <a:solidFill>
                    <a:srgbClr val="000000"/>
                  </a:solidFill>
                  <a:latin typeface="Courier New" pitchFamily="49" charset="0"/>
                </a:rPr>
                <a:t>;</a:t>
              </a:r>
              <a:endParaRPr lang="en-US" b="1"/>
            </a:p>
          </p:txBody>
        </p:sp>
        <p:sp>
          <p:nvSpPr>
            <p:cNvPr id="9288" name="Rectangle 73"/>
            <p:cNvSpPr>
              <a:spLocks noChangeArrowheads="1"/>
            </p:cNvSpPr>
            <p:nvPr/>
          </p:nvSpPr>
          <p:spPr bwMode="auto">
            <a:xfrm>
              <a:off x="3603" y="3471"/>
              <a:ext cx="7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500" b="1">
                  <a:solidFill>
                    <a:srgbClr val="000000"/>
                  </a:solidFill>
                  <a:latin typeface="Courier New" pitchFamily="49" charset="0"/>
                </a:rPr>
                <a:t> </a:t>
              </a:r>
              <a:endParaRPr lang="en-US" b="1"/>
            </a:p>
          </p:txBody>
        </p:sp>
        <p:sp>
          <p:nvSpPr>
            <p:cNvPr id="9289" name="Rectangle 74"/>
            <p:cNvSpPr>
              <a:spLocks noChangeArrowheads="1"/>
            </p:cNvSpPr>
            <p:nvPr/>
          </p:nvSpPr>
          <p:spPr bwMode="auto">
            <a:xfrm>
              <a:off x="925" y="3612"/>
              <a:ext cx="21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500" b="1">
                  <a:solidFill>
                    <a:srgbClr val="000000"/>
                  </a:solidFill>
                  <a:latin typeface="Courier New" pitchFamily="49" charset="0"/>
                </a:rPr>
                <a:t>  }</a:t>
              </a:r>
              <a:endParaRPr lang="en-US" b="1"/>
            </a:p>
          </p:txBody>
        </p:sp>
        <p:sp>
          <p:nvSpPr>
            <p:cNvPr id="9290" name="Rectangle 75"/>
            <p:cNvSpPr>
              <a:spLocks noChangeArrowheads="1"/>
            </p:cNvSpPr>
            <p:nvPr/>
          </p:nvSpPr>
          <p:spPr bwMode="auto">
            <a:xfrm>
              <a:off x="1142" y="3612"/>
              <a:ext cx="7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500" b="1">
                  <a:solidFill>
                    <a:srgbClr val="000000"/>
                  </a:solidFill>
                  <a:latin typeface="Courier New" pitchFamily="49" charset="0"/>
                </a:rPr>
                <a:t> </a:t>
              </a:r>
              <a:endParaRPr lang="en-US" b="1"/>
            </a:p>
          </p:txBody>
        </p:sp>
        <p:sp>
          <p:nvSpPr>
            <p:cNvPr id="9291" name="Rectangle 76"/>
            <p:cNvSpPr>
              <a:spLocks noChangeArrowheads="1"/>
            </p:cNvSpPr>
            <p:nvPr/>
          </p:nvSpPr>
          <p:spPr bwMode="auto">
            <a:xfrm>
              <a:off x="925" y="373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500" b="1">
                  <a:solidFill>
                    <a:srgbClr val="000000"/>
                  </a:solidFill>
                  <a:latin typeface="Courier New" pitchFamily="49" charset="0"/>
                </a:rPr>
                <a:t>};</a:t>
              </a:r>
              <a:endParaRPr lang="en-US" b="1"/>
            </a:p>
          </p:txBody>
        </p:sp>
        <p:sp>
          <p:nvSpPr>
            <p:cNvPr id="9292" name="Rectangle 77"/>
            <p:cNvSpPr>
              <a:spLocks noChangeArrowheads="1"/>
            </p:cNvSpPr>
            <p:nvPr/>
          </p:nvSpPr>
          <p:spPr bwMode="auto">
            <a:xfrm>
              <a:off x="1070" y="3739"/>
              <a:ext cx="7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500" b="1">
                  <a:solidFill>
                    <a:srgbClr val="000000"/>
                  </a:solidFill>
                  <a:latin typeface="Courier New" pitchFamily="49" charset="0"/>
                </a:rPr>
                <a:t> </a:t>
              </a:r>
              <a:endParaRPr lang="en-US" b="1"/>
            </a:p>
          </p:txBody>
        </p:sp>
        <p:sp>
          <p:nvSpPr>
            <p:cNvPr id="9293" name="Rectangle 78"/>
            <p:cNvSpPr>
              <a:spLocks noChangeArrowheads="1"/>
            </p:cNvSpPr>
            <p:nvPr/>
          </p:nvSpPr>
          <p:spPr bwMode="auto">
            <a:xfrm>
              <a:off x="4064" y="1168"/>
              <a:ext cx="814" cy="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en-US" b="1"/>
            </a:p>
          </p:txBody>
        </p:sp>
        <p:sp>
          <p:nvSpPr>
            <p:cNvPr id="9294" name="Rectangle 79"/>
            <p:cNvSpPr>
              <a:spLocks noChangeArrowheads="1"/>
            </p:cNvSpPr>
            <p:nvPr/>
          </p:nvSpPr>
          <p:spPr bwMode="auto">
            <a:xfrm>
              <a:off x="4064" y="1168"/>
              <a:ext cx="814" cy="163"/>
            </a:xfrm>
            <a:prstGeom prst="rect">
              <a:avLst/>
            </a:prstGeom>
            <a:grpFill/>
            <a:ln w="17463">
              <a:solidFill>
                <a:schemeClr val="accent5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b="1" dirty="0"/>
            </a:p>
          </p:txBody>
        </p:sp>
        <p:sp>
          <p:nvSpPr>
            <p:cNvPr id="9295" name="Rectangle 80"/>
            <p:cNvSpPr>
              <a:spLocks noChangeArrowheads="1"/>
            </p:cNvSpPr>
            <p:nvPr/>
          </p:nvSpPr>
          <p:spPr bwMode="auto">
            <a:xfrm>
              <a:off x="4071" y="1181"/>
              <a:ext cx="720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500" b="1" dirty="0">
                  <a:solidFill>
                    <a:srgbClr val="2C14DE"/>
                  </a:solidFill>
                  <a:latin typeface="Courier New" pitchFamily="49" charset="0"/>
                </a:rPr>
                <a:t>Data field</a:t>
              </a:r>
              <a:endParaRPr lang="en-US" b="1" dirty="0">
                <a:solidFill>
                  <a:srgbClr val="2C14DE"/>
                </a:solidFill>
              </a:endParaRPr>
            </a:p>
          </p:txBody>
        </p:sp>
        <p:sp>
          <p:nvSpPr>
            <p:cNvPr id="9296" name="Rectangle 81"/>
            <p:cNvSpPr>
              <a:spLocks noChangeArrowheads="1"/>
            </p:cNvSpPr>
            <p:nvPr/>
          </p:nvSpPr>
          <p:spPr bwMode="auto">
            <a:xfrm>
              <a:off x="4795" y="1181"/>
              <a:ext cx="7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500" b="1" dirty="0">
                  <a:solidFill>
                    <a:srgbClr val="000000"/>
                  </a:solidFill>
                  <a:latin typeface="Courier New" pitchFamily="49" charset="0"/>
                </a:rPr>
                <a:t> </a:t>
              </a:r>
              <a:endParaRPr lang="en-US" b="1" dirty="0"/>
            </a:p>
          </p:txBody>
        </p:sp>
        <p:sp>
          <p:nvSpPr>
            <p:cNvPr id="9297" name="Rectangle 82"/>
            <p:cNvSpPr>
              <a:spLocks noChangeArrowheads="1"/>
            </p:cNvSpPr>
            <p:nvPr/>
          </p:nvSpPr>
          <p:spPr bwMode="auto">
            <a:xfrm>
              <a:off x="4071" y="1311"/>
              <a:ext cx="46" cy="22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2300" b="1">
                  <a:solidFill>
                    <a:srgbClr val="000000"/>
                  </a:solidFill>
                  <a:latin typeface="Times New Roman" pitchFamily="18" charset="0"/>
                </a:rPr>
                <a:t> </a:t>
              </a:r>
              <a:endParaRPr lang="en-US" b="1"/>
            </a:p>
          </p:txBody>
        </p:sp>
        <p:sp>
          <p:nvSpPr>
            <p:cNvPr id="9298" name="Freeform 83"/>
            <p:cNvSpPr>
              <a:spLocks noEditPoints="1"/>
            </p:cNvSpPr>
            <p:nvPr/>
          </p:nvSpPr>
          <p:spPr bwMode="auto">
            <a:xfrm>
              <a:off x="2131" y="1177"/>
              <a:ext cx="1895" cy="81"/>
            </a:xfrm>
            <a:custGeom>
              <a:avLst/>
              <a:gdLst>
                <a:gd name="T0" fmla="*/ 60 w 1147"/>
                <a:gd name="T1" fmla="*/ 38 h 91"/>
                <a:gd name="T2" fmla="*/ 1140 w 1147"/>
                <a:gd name="T3" fmla="*/ 38 h 91"/>
                <a:gd name="T4" fmla="*/ 1143 w 1147"/>
                <a:gd name="T5" fmla="*/ 38 h 91"/>
                <a:gd name="T6" fmla="*/ 1145 w 1147"/>
                <a:gd name="T7" fmla="*/ 40 h 91"/>
                <a:gd name="T8" fmla="*/ 1147 w 1147"/>
                <a:gd name="T9" fmla="*/ 42 h 91"/>
                <a:gd name="T10" fmla="*/ 1147 w 1147"/>
                <a:gd name="T11" fmla="*/ 45 h 91"/>
                <a:gd name="T12" fmla="*/ 1147 w 1147"/>
                <a:gd name="T13" fmla="*/ 47 h 91"/>
                <a:gd name="T14" fmla="*/ 1145 w 1147"/>
                <a:gd name="T15" fmla="*/ 51 h 91"/>
                <a:gd name="T16" fmla="*/ 1143 w 1147"/>
                <a:gd name="T17" fmla="*/ 53 h 91"/>
                <a:gd name="T18" fmla="*/ 1140 w 1147"/>
                <a:gd name="T19" fmla="*/ 53 h 91"/>
                <a:gd name="T20" fmla="*/ 60 w 1147"/>
                <a:gd name="T21" fmla="*/ 53 h 91"/>
                <a:gd name="T22" fmla="*/ 58 w 1147"/>
                <a:gd name="T23" fmla="*/ 53 h 91"/>
                <a:gd name="T24" fmla="*/ 54 w 1147"/>
                <a:gd name="T25" fmla="*/ 51 h 91"/>
                <a:gd name="T26" fmla="*/ 52 w 1147"/>
                <a:gd name="T27" fmla="*/ 47 h 91"/>
                <a:gd name="T28" fmla="*/ 52 w 1147"/>
                <a:gd name="T29" fmla="*/ 45 h 91"/>
                <a:gd name="T30" fmla="*/ 52 w 1147"/>
                <a:gd name="T31" fmla="*/ 42 h 91"/>
                <a:gd name="T32" fmla="*/ 54 w 1147"/>
                <a:gd name="T33" fmla="*/ 40 h 91"/>
                <a:gd name="T34" fmla="*/ 58 w 1147"/>
                <a:gd name="T35" fmla="*/ 38 h 91"/>
                <a:gd name="T36" fmla="*/ 60 w 1147"/>
                <a:gd name="T37" fmla="*/ 38 h 91"/>
                <a:gd name="T38" fmla="*/ 60 w 1147"/>
                <a:gd name="T39" fmla="*/ 38 h 91"/>
                <a:gd name="T40" fmla="*/ 60 w 1147"/>
                <a:gd name="T41" fmla="*/ 45 h 91"/>
                <a:gd name="T42" fmla="*/ 90 w 1147"/>
                <a:gd name="T43" fmla="*/ 91 h 91"/>
                <a:gd name="T44" fmla="*/ 0 w 1147"/>
                <a:gd name="T45" fmla="*/ 45 h 91"/>
                <a:gd name="T46" fmla="*/ 90 w 1147"/>
                <a:gd name="T47" fmla="*/ 0 h 91"/>
                <a:gd name="T48" fmla="*/ 60 w 1147"/>
                <a:gd name="T49" fmla="*/ 45 h 91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1147"/>
                <a:gd name="T76" fmla="*/ 0 h 91"/>
                <a:gd name="T77" fmla="*/ 1147 w 1147"/>
                <a:gd name="T78" fmla="*/ 91 h 91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1147" h="91">
                  <a:moveTo>
                    <a:pt x="60" y="38"/>
                  </a:moveTo>
                  <a:lnTo>
                    <a:pt x="1140" y="38"/>
                  </a:lnTo>
                  <a:lnTo>
                    <a:pt x="1143" y="38"/>
                  </a:lnTo>
                  <a:lnTo>
                    <a:pt x="1145" y="40"/>
                  </a:lnTo>
                  <a:lnTo>
                    <a:pt x="1147" y="42"/>
                  </a:lnTo>
                  <a:lnTo>
                    <a:pt x="1147" y="45"/>
                  </a:lnTo>
                  <a:lnTo>
                    <a:pt x="1147" y="47"/>
                  </a:lnTo>
                  <a:lnTo>
                    <a:pt x="1145" y="51"/>
                  </a:lnTo>
                  <a:lnTo>
                    <a:pt x="1143" y="53"/>
                  </a:lnTo>
                  <a:lnTo>
                    <a:pt x="1140" y="53"/>
                  </a:lnTo>
                  <a:lnTo>
                    <a:pt x="60" y="53"/>
                  </a:lnTo>
                  <a:lnTo>
                    <a:pt x="58" y="53"/>
                  </a:lnTo>
                  <a:lnTo>
                    <a:pt x="54" y="51"/>
                  </a:lnTo>
                  <a:lnTo>
                    <a:pt x="52" y="47"/>
                  </a:lnTo>
                  <a:lnTo>
                    <a:pt x="52" y="45"/>
                  </a:lnTo>
                  <a:lnTo>
                    <a:pt x="52" y="42"/>
                  </a:lnTo>
                  <a:lnTo>
                    <a:pt x="54" y="40"/>
                  </a:lnTo>
                  <a:lnTo>
                    <a:pt x="58" y="38"/>
                  </a:lnTo>
                  <a:lnTo>
                    <a:pt x="60" y="38"/>
                  </a:lnTo>
                  <a:close/>
                  <a:moveTo>
                    <a:pt x="60" y="45"/>
                  </a:moveTo>
                  <a:lnTo>
                    <a:pt x="90" y="91"/>
                  </a:lnTo>
                  <a:lnTo>
                    <a:pt x="0" y="45"/>
                  </a:lnTo>
                  <a:lnTo>
                    <a:pt x="90" y="0"/>
                  </a:lnTo>
                  <a:lnTo>
                    <a:pt x="60" y="45"/>
                  </a:lnTo>
                  <a:close/>
                </a:path>
              </a:pathLst>
            </a:custGeom>
            <a:grp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b="1"/>
            </a:p>
          </p:txBody>
        </p:sp>
        <p:sp>
          <p:nvSpPr>
            <p:cNvPr id="9299" name="Rectangle 84"/>
            <p:cNvSpPr>
              <a:spLocks noChangeArrowheads="1"/>
            </p:cNvSpPr>
            <p:nvPr/>
          </p:nvSpPr>
          <p:spPr bwMode="auto">
            <a:xfrm>
              <a:off x="4022" y="3226"/>
              <a:ext cx="780" cy="18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en-US" b="1"/>
            </a:p>
          </p:txBody>
        </p:sp>
        <p:sp>
          <p:nvSpPr>
            <p:cNvPr id="9301" name="Rectangle 86"/>
            <p:cNvSpPr>
              <a:spLocks noChangeArrowheads="1"/>
            </p:cNvSpPr>
            <p:nvPr/>
          </p:nvSpPr>
          <p:spPr bwMode="auto">
            <a:xfrm>
              <a:off x="4028" y="3203"/>
              <a:ext cx="576" cy="144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500" b="1" dirty="0">
                  <a:solidFill>
                    <a:srgbClr val="2C14DE"/>
                  </a:solidFill>
                  <a:latin typeface="Courier New" pitchFamily="49" charset="0"/>
                </a:rPr>
                <a:t>Function</a:t>
              </a:r>
              <a:endParaRPr lang="en-US" sz="1500" b="1" dirty="0">
                <a:solidFill>
                  <a:srgbClr val="2C14DE"/>
                </a:solidFill>
              </a:endParaRPr>
            </a:p>
          </p:txBody>
        </p:sp>
        <p:sp>
          <p:nvSpPr>
            <p:cNvPr id="9302" name="Rectangle 87"/>
            <p:cNvSpPr>
              <a:spLocks noChangeArrowheads="1"/>
            </p:cNvSpPr>
            <p:nvPr/>
          </p:nvSpPr>
          <p:spPr bwMode="auto">
            <a:xfrm>
              <a:off x="4607" y="3241"/>
              <a:ext cx="7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500" b="1" dirty="0">
                  <a:solidFill>
                    <a:srgbClr val="000000"/>
                  </a:solidFill>
                  <a:latin typeface="Courier New" pitchFamily="49" charset="0"/>
                </a:rPr>
                <a:t> </a:t>
              </a:r>
              <a:endParaRPr lang="en-US" b="1" dirty="0"/>
            </a:p>
          </p:txBody>
        </p:sp>
        <p:sp>
          <p:nvSpPr>
            <p:cNvPr id="9303" name="Rectangle 88"/>
            <p:cNvSpPr>
              <a:spLocks noChangeArrowheads="1"/>
            </p:cNvSpPr>
            <p:nvPr/>
          </p:nvSpPr>
          <p:spPr bwMode="auto">
            <a:xfrm>
              <a:off x="4028" y="3371"/>
              <a:ext cx="46" cy="22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2300" b="1">
                  <a:solidFill>
                    <a:srgbClr val="000000"/>
                  </a:solidFill>
                  <a:latin typeface="Times New Roman" pitchFamily="18" charset="0"/>
                </a:rPr>
                <a:t> </a:t>
              </a:r>
              <a:endParaRPr lang="en-US" b="1"/>
            </a:p>
          </p:txBody>
        </p:sp>
        <p:sp>
          <p:nvSpPr>
            <p:cNvPr id="9304" name="Freeform 89"/>
            <p:cNvSpPr>
              <a:spLocks noEditPoints="1"/>
            </p:cNvSpPr>
            <p:nvPr/>
          </p:nvSpPr>
          <p:spPr bwMode="auto">
            <a:xfrm>
              <a:off x="2224" y="3254"/>
              <a:ext cx="1760" cy="120"/>
            </a:xfrm>
            <a:custGeom>
              <a:avLst/>
              <a:gdLst>
                <a:gd name="T0" fmla="*/ 60 w 1147"/>
                <a:gd name="T1" fmla="*/ 38 h 90"/>
                <a:gd name="T2" fmla="*/ 1140 w 1147"/>
                <a:gd name="T3" fmla="*/ 38 h 90"/>
                <a:gd name="T4" fmla="*/ 1142 w 1147"/>
                <a:gd name="T5" fmla="*/ 38 h 90"/>
                <a:gd name="T6" fmla="*/ 1146 w 1147"/>
                <a:gd name="T7" fmla="*/ 39 h 90"/>
                <a:gd name="T8" fmla="*/ 1146 w 1147"/>
                <a:gd name="T9" fmla="*/ 43 h 90"/>
                <a:gd name="T10" fmla="*/ 1147 w 1147"/>
                <a:gd name="T11" fmla="*/ 45 h 90"/>
                <a:gd name="T12" fmla="*/ 1146 w 1147"/>
                <a:gd name="T13" fmla="*/ 48 h 90"/>
                <a:gd name="T14" fmla="*/ 1146 w 1147"/>
                <a:gd name="T15" fmla="*/ 50 h 90"/>
                <a:gd name="T16" fmla="*/ 1142 w 1147"/>
                <a:gd name="T17" fmla="*/ 52 h 90"/>
                <a:gd name="T18" fmla="*/ 1140 w 1147"/>
                <a:gd name="T19" fmla="*/ 52 h 90"/>
                <a:gd name="T20" fmla="*/ 60 w 1147"/>
                <a:gd name="T21" fmla="*/ 52 h 90"/>
                <a:gd name="T22" fmla="*/ 56 w 1147"/>
                <a:gd name="T23" fmla="*/ 52 h 90"/>
                <a:gd name="T24" fmla="*/ 55 w 1147"/>
                <a:gd name="T25" fmla="*/ 50 h 90"/>
                <a:gd name="T26" fmla="*/ 53 w 1147"/>
                <a:gd name="T27" fmla="*/ 48 h 90"/>
                <a:gd name="T28" fmla="*/ 53 w 1147"/>
                <a:gd name="T29" fmla="*/ 45 h 90"/>
                <a:gd name="T30" fmla="*/ 53 w 1147"/>
                <a:gd name="T31" fmla="*/ 43 h 90"/>
                <a:gd name="T32" fmla="*/ 55 w 1147"/>
                <a:gd name="T33" fmla="*/ 39 h 90"/>
                <a:gd name="T34" fmla="*/ 56 w 1147"/>
                <a:gd name="T35" fmla="*/ 38 h 90"/>
                <a:gd name="T36" fmla="*/ 60 w 1147"/>
                <a:gd name="T37" fmla="*/ 38 h 90"/>
                <a:gd name="T38" fmla="*/ 60 w 1147"/>
                <a:gd name="T39" fmla="*/ 38 h 90"/>
                <a:gd name="T40" fmla="*/ 60 w 1147"/>
                <a:gd name="T41" fmla="*/ 45 h 90"/>
                <a:gd name="T42" fmla="*/ 91 w 1147"/>
                <a:gd name="T43" fmla="*/ 90 h 90"/>
                <a:gd name="T44" fmla="*/ 0 w 1147"/>
                <a:gd name="T45" fmla="*/ 45 h 90"/>
                <a:gd name="T46" fmla="*/ 91 w 1147"/>
                <a:gd name="T47" fmla="*/ 0 h 90"/>
                <a:gd name="T48" fmla="*/ 60 w 1147"/>
                <a:gd name="T49" fmla="*/ 45 h 90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1147"/>
                <a:gd name="T76" fmla="*/ 0 h 90"/>
                <a:gd name="T77" fmla="*/ 1147 w 1147"/>
                <a:gd name="T78" fmla="*/ 90 h 90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1147" h="90">
                  <a:moveTo>
                    <a:pt x="60" y="38"/>
                  </a:moveTo>
                  <a:lnTo>
                    <a:pt x="1140" y="38"/>
                  </a:lnTo>
                  <a:lnTo>
                    <a:pt x="1142" y="38"/>
                  </a:lnTo>
                  <a:lnTo>
                    <a:pt x="1146" y="39"/>
                  </a:lnTo>
                  <a:lnTo>
                    <a:pt x="1146" y="43"/>
                  </a:lnTo>
                  <a:lnTo>
                    <a:pt x="1147" y="45"/>
                  </a:lnTo>
                  <a:lnTo>
                    <a:pt x="1146" y="48"/>
                  </a:lnTo>
                  <a:lnTo>
                    <a:pt x="1146" y="50"/>
                  </a:lnTo>
                  <a:lnTo>
                    <a:pt x="1142" y="52"/>
                  </a:lnTo>
                  <a:lnTo>
                    <a:pt x="1140" y="52"/>
                  </a:lnTo>
                  <a:lnTo>
                    <a:pt x="60" y="52"/>
                  </a:lnTo>
                  <a:lnTo>
                    <a:pt x="56" y="52"/>
                  </a:lnTo>
                  <a:lnTo>
                    <a:pt x="55" y="50"/>
                  </a:lnTo>
                  <a:lnTo>
                    <a:pt x="53" y="48"/>
                  </a:lnTo>
                  <a:lnTo>
                    <a:pt x="53" y="45"/>
                  </a:lnTo>
                  <a:lnTo>
                    <a:pt x="53" y="43"/>
                  </a:lnTo>
                  <a:lnTo>
                    <a:pt x="55" y="39"/>
                  </a:lnTo>
                  <a:lnTo>
                    <a:pt x="56" y="38"/>
                  </a:lnTo>
                  <a:lnTo>
                    <a:pt x="60" y="38"/>
                  </a:lnTo>
                  <a:close/>
                  <a:moveTo>
                    <a:pt x="60" y="45"/>
                  </a:moveTo>
                  <a:lnTo>
                    <a:pt x="91" y="90"/>
                  </a:lnTo>
                  <a:lnTo>
                    <a:pt x="0" y="45"/>
                  </a:lnTo>
                  <a:lnTo>
                    <a:pt x="91" y="0"/>
                  </a:lnTo>
                  <a:lnTo>
                    <a:pt x="60" y="45"/>
                  </a:lnTo>
                  <a:close/>
                </a:path>
              </a:pathLst>
            </a:custGeom>
            <a:grp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b="1"/>
            </a:p>
          </p:txBody>
        </p:sp>
        <p:sp>
          <p:nvSpPr>
            <p:cNvPr id="9305" name="Rectangle 90"/>
            <p:cNvSpPr>
              <a:spLocks noChangeArrowheads="1"/>
            </p:cNvSpPr>
            <p:nvPr/>
          </p:nvSpPr>
          <p:spPr bwMode="auto">
            <a:xfrm>
              <a:off x="4012" y="1907"/>
              <a:ext cx="886" cy="17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en-US" b="1"/>
            </a:p>
          </p:txBody>
        </p:sp>
        <p:sp>
          <p:nvSpPr>
            <p:cNvPr id="9308" name="Rectangle 93"/>
            <p:cNvSpPr>
              <a:spLocks noChangeArrowheads="1"/>
            </p:cNvSpPr>
            <p:nvPr/>
          </p:nvSpPr>
          <p:spPr bwMode="auto">
            <a:xfrm>
              <a:off x="4885" y="1921"/>
              <a:ext cx="7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500" b="1">
                  <a:solidFill>
                    <a:srgbClr val="000000"/>
                  </a:solidFill>
                  <a:latin typeface="Courier New" pitchFamily="49" charset="0"/>
                </a:rPr>
                <a:t> </a:t>
              </a:r>
              <a:endParaRPr lang="en-US" b="1"/>
            </a:p>
          </p:txBody>
        </p:sp>
        <p:sp>
          <p:nvSpPr>
            <p:cNvPr id="9309" name="Rectangle 94"/>
            <p:cNvSpPr>
              <a:spLocks noChangeArrowheads="1"/>
            </p:cNvSpPr>
            <p:nvPr/>
          </p:nvSpPr>
          <p:spPr bwMode="auto">
            <a:xfrm>
              <a:off x="4017" y="2050"/>
              <a:ext cx="46" cy="22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2300" b="1">
                  <a:solidFill>
                    <a:srgbClr val="000000"/>
                  </a:solidFill>
                  <a:latin typeface="Times New Roman" pitchFamily="18" charset="0"/>
                </a:rPr>
                <a:t> </a:t>
              </a:r>
              <a:endParaRPr lang="en-US" b="1"/>
            </a:p>
          </p:txBody>
        </p:sp>
        <p:sp>
          <p:nvSpPr>
            <p:cNvPr id="9310" name="Freeform 95"/>
            <p:cNvSpPr>
              <a:spLocks noEditPoints="1"/>
            </p:cNvSpPr>
            <p:nvPr/>
          </p:nvSpPr>
          <p:spPr bwMode="auto">
            <a:xfrm>
              <a:off x="3686" y="1943"/>
              <a:ext cx="306" cy="90"/>
            </a:xfrm>
            <a:custGeom>
              <a:avLst/>
              <a:gdLst>
                <a:gd name="T0" fmla="*/ 60 w 306"/>
                <a:gd name="T1" fmla="*/ 38 h 90"/>
                <a:gd name="T2" fmla="*/ 298 w 306"/>
                <a:gd name="T3" fmla="*/ 38 h 90"/>
                <a:gd name="T4" fmla="*/ 300 w 306"/>
                <a:gd name="T5" fmla="*/ 38 h 90"/>
                <a:gd name="T6" fmla="*/ 304 w 306"/>
                <a:gd name="T7" fmla="*/ 40 h 90"/>
                <a:gd name="T8" fmla="*/ 306 w 306"/>
                <a:gd name="T9" fmla="*/ 42 h 90"/>
                <a:gd name="T10" fmla="*/ 306 w 306"/>
                <a:gd name="T11" fmla="*/ 45 h 90"/>
                <a:gd name="T12" fmla="*/ 306 w 306"/>
                <a:gd name="T13" fmla="*/ 49 h 90"/>
                <a:gd name="T14" fmla="*/ 304 w 306"/>
                <a:gd name="T15" fmla="*/ 51 h 90"/>
                <a:gd name="T16" fmla="*/ 300 w 306"/>
                <a:gd name="T17" fmla="*/ 52 h 90"/>
                <a:gd name="T18" fmla="*/ 298 w 306"/>
                <a:gd name="T19" fmla="*/ 52 h 90"/>
                <a:gd name="T20" fmla="*/ 60 w 306"/>
                <a:gd name="T21" fmla="*/ 52 h 90"/>
                <a:gd name="T22" fmla="*/ 56 w 306"/>
                <a:gd name="T23" fmla="*/ 52 h 90"/>
                <a:gd name="T24" fmla="*/ 54 w 306"/>
                <a:gd name="T25" fmla="*/ 51 h 90"/>
                <a:gd name="T26" fmla="*/ 52 w 306"/>
                <a:gd name="T27" fmla="*/ 49 h 90"/>
                <a:gd name="T28" fmla="*/ 52 w 306"/>
                <a:gd name="T29" fmla="*/ 45 h 90"/>
                <a:gd name="T30" fmla="*/ 52 w 306"/>
                <a:gd name="T31" fmla="*/ 42 h 90"/>
                <a:gd name="T32" fmla="*/ 54 w 306"/>
                <a:gd name="T33" fmla="*/ 40 h 90"/>
                <a:gd name="T34" fmla="*/ 56 w 306"/>
                <a:gd name="T35" fmla="*/ 38 h 90"/>
                <a:gd name="T36" fmla="*/ 60 w 306"/>
                <a:gd name="T37" fmla="*/ 38 h 90"/>
                <a:gd name="T38" fmla="*/ 60 w 306"/>
                <a:gd name="T39" fmla="*/ 38 h 90"/>
                <a:gd name="T40" fmla="*/ 60 w 306"/>
                <a:gd name="T41" fmla="*/ 45 h 90"/>
                <a:gd name="T42" fmla="*/ 90 w 306"/>
                <a:gd name="T43" fmla="*/ 90 h 90"/>
                <a:gd name="T44" fmla="*/ 0 w 306"/>
                <a:gd name="T45" fmla="*/ 45 h 90"/>
                <a:gd name="T46" fmla="*/ 90 w 306"/>
                <a:gd name="T47" fmla="*/ 0 h 90"/>
                <a:gd name="T48" fmla="*/ 60 w 306"/>
                <a:gd name="T49" fmla="*/ 45 h 90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306"/>
                <a:gd name="T76" fmla="*/ 0 h 90"/>
                <a:gd name="T77" fmla="*/ 306 w 306"/>
                <a:gd name="T78" fmla="*/ 90 h 90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306" h="90">
                  <a:moveTo>
                    <a:pt x="60" y="38"/>
                  </a:moveTo>
                  <a:lnTo>
                    <a:pt x="298" y="38"/>
                  </a:lnTo>
                  <a:lnTo>
                    <a:pt x="300" y="38"/>
                  </a:lnTo>
                  <a:lnTo>
                    <a:pt x="304" y="40"/>
                  </a:lnTo>
                  <a:lnTo>
                    <a:pt x="306" y="42"/>
                  </a:lnTo>
                  <a:lnTo>
                    <a:pt x="306" y="45"/>
                  </a:lnTo>
                  <a:lnTo>
                    <a:pt x="306" y="49"/>
                  </a:lnTo>
                  <a:lnTo>
                    <a:pt x="304" y="51"/>
                  </a:lnTo>
                  <a:lnTo>
                    <a:pt x="300" y="52"/>
                  </a:lnTo>
                  <a:lnTo>
                    <a:pt x="298" y="52"/>
                  </a:lnTo>
                  <a:lnTo>
                    <a:pt x="60" y="52"/>
                  </a:lnTo>
                  <a:lnTo>
                    <a:pt x="56" y="52"/>
                  </a:lnTo>
                  <a:lnTo>
                    <a:pt x="54" y="51"/>
                  </a:lnTo>
                  <a:lnTo>
                    <a:pt x="52" y="49"/>
                  </a:lnTo>
                  <a:lnTo>
                    <a:pt x="52" y="45"/>
                  </a:lnTo>
                  <a:lnTo>
                    <a:pt x="52" y="42"/>
                  </a:lnTo>
                  <a:lnTo>
                    <a:pt x="54" y="40"/>
                  </a:lnTo>
                  <a:lnTo>
                    <a:pt x="56" y="38"/>
                  </a:lnTo>
                  <a:lnTo>
                    <a:pt x="60" y="38"/>
                  </a:lnTo>
                  <a:close/>
                  <a:moveTo>
                    <a:pt x="60" y="45"/>
                  </a:moveTo>
                  <a:lnTo>
                    <a:pt x="90" y="90"/>
                  </a:lnTo>
                  <a:lnTo>
                    <a:pt x="0" y="45"/>
                  </a:lnTo>
                  <a:lnTo>
                    <a:pt x="90" y="0"/>
                  </a:lnTo>
                  <a:lnTo>
                    <a:pt x="60" y="45"/>
                  </a:lnTo>
                  <a:close/>
                </a:path>
              </a:pathLst>
            </a:custGeom>
            <a:grp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b="1"/>
            </a:p>
          </p:txBody>
        </p:sp>
        <p:sp>
          <p:nvSpPr>
            <p:cNvPr id="9311" name="Line 96"/>
            <p:cNvSpPr>
              <a:spLocks noChangeShapeType="1"/>
            </p:cNvSpPr>
            <p:nvPr/>
          </p:nvSpPr>
          <p:spPr bwMode="auto">
            <a:xfrm>
              <a:off x="3487" y="1599"/>
              <a:ext cx="145" cy="1"/>
            </a:xfrm>
            <a:prstGeom prst="line">
              <a:avLst/>
            </a:prstGeom>
            <a:grpFill/>
            <a:ln w="174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b="1"/>
            </a:p>
          </p:txBody>
        </p:sp>
        <p:sp>
          <p:nvSpPr>
            <p:cNvPr id="9312" name="Line 97"/>
            <p:cNvSpPr>
              <a:spLocks noChangeShapeType="1"/>
            </p:cNvSpPr>
            <p:nvPr/>
          </p:nvSpPr>
          <p:spPr bwMode="auto">
            <a:xfrm>
              <a:off x="3472" y="2899"/>
              <a:ext cx="145" cy="1"/>
            </a:xfrm>
            <a:prstGeom prst="line">
              <a:avLst/>
            </a:prstGeom>
            <a:grpFill/>
            <a:ln w="174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b="1"/>
            </a:p>
          </p:txBody>
        </p:sp>
        <p:sp>
          <p:nvSpPr>
            <p:cNvPr id="9313" name="Line 98"/>
            <p:cNvSpPr>
              <a:spLocks noChangeShapeType="1"/>
            </p:cNvSpPr>
            <p:nvPr/>
          </p:nvSpPr>
          <p:spPr bwMode="auto">
            <a:xfrm flipH="1">
              <a:off x="3621" y="1599"/>
              <a:ext cx="2" cy="1311"/>
            </a:xfrm>
            <a:prstGeom prst="line">
              <a:avLst/>
            </a:prstGeom>
            <a:grpFill/>
            <a:ln w="174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b="1"/>
            </a:p>
          </p:txBody>
        </p:sp>
      </p:grpSp>
      <p:sp>
        <p:nvSpPr>
          <p:cNvPr id="98" name="Rectangle 80"/>
          <p:cNvSpPr>
            <a:spLocks noChangeArrowheads="1"/>
          </p:cNvSpPr>
          <p:nvPr/>
        </p:nvSpPr>
        <p:spPr bwMode="auto">
          <a:xfrm>
            <a:off x="5490928" y="3407310"/>
            <a:ext cx="1385887" cy="2301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500" b="1" dirty="0">
                <a:solidFill>
                  <a:srgbClr val="2C14DE"/>
                </a:solidFill>
                <a:latin typeface="Courier New" pitchFamily="49" charset="0"/>
              </a:rPr>
              <a:t>Constructors</a:t>
            </a:r>
            <a:endParaRPr lang="en-US" b="1" dirty="0">
              <a:solidFill>
                <a:srgbClr val="2C14DE"/>
              </a:solidFill>
            </a:endParaRPr>
          </a:p>
        </p:txBody>
      </p:sp>
      <p:sp>
        <p:nvSpPr>
          <p:cNvPr id="96" name="Rectangle 95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6946412" y="1749961"/>
            <a:ext cx="225791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u="sng" dirty="0">
                <a:solidFill>
                  <a:srgbClr val="C00000"/>
                </a:solidFill>
              </a:rPr>
              <a:t>Note: </a:t>
            </a:r>
          </a:p>
          <a:p>
            <a:pPr algn="just"/>
            <a:r>
              <a:rPr lang="en-US" sz="2000" b="1" dirty="0"/>
              <a:t>the </a:t>
            </a:r>
            <a:r>
              <a:rPr lang="en-US" sz="2000" b="1" dirty="0">
                <a:solidFill>
                  <a:srgbClr val="C00000"/>
                </a:solidFill>
              </a:rPr>
              <a:t>special syntax </a:t>
            </a:r>
            <a:r>
              <a:rPr lang="en-US" sz="2000" b="1" dirty="0"/>
              <a:t>for </a:t>
            </a:r>
            <a:r>
              <a:rPr lang="en-US" sz="2000" b="1" dirty="0">
                <a:solidFill>
                  <a:srgbClr val="C00000"/>
                </a:solidFill>
              </a:rPr>
              <a:t>constructor </a:t>
            </a:r>
          </a:p>
          <a:p>
            <a:pPr algn="just"/>
            <a:r>
              <a:rPr lang="en-US" sz="2000" b="1" u="sng" dirty="0"/>
              <a:t>(</a:t>
            </a:r>
            <a:r>
              <a:rPr lang="en-US" sz="2000" b="1" u="sng" dirty="0">
                <a:solidFill>
                  <a:srgbClr val="2C14DE"/>
                </a:solidFill>
              </a:rPr>
              <a:t>no return type</a:t>
            </a:r>
            <a:r>
              <a:rPr lang="en-US" sz="2000" b="1" u="sng" dirty="0"/>
              <a:t>!)</a:t>
            </a:r>
          </a:p>
        </p:txBody>
      </p:sp>
    </p:spTree>
    <p:extLst>
      <p:ext uri="{BB962C8B-B14F-4D97-AF65-F5344CB8AC3E}">
        <p14:creationId xmlns:p14="http://schemas.microsoft.com/office/powerpoint/2010/main" val="34674832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9756" y="35932"/>
            <a:ext cx="9067800" cy="95466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B80000"/>
                </a:solidFill>
                <a:latin typeface="Calibri" pitchFamily="34" charset="0"/>
              </a:rPr>
              <a:t>Class is a Type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52400" y="1219200"/>
            <a:ext cx="8839200" cy="5486400"/>
          </a:xfrm>
        </p:spPr>
        <p:txBody>
          <a:bodyPr/>
          <a:lstStyle/>
          <a:p>
            <a:pPr algn="just">
              <a:lnSpc>
                <a:spcPct val="90000"/>
              </a:lnSpc>
              <a:defRPr/>
            </a:pPr>
            <a:r>
              <a:rPr lang="en-US" dirty="0">
                <a:latin typeface="Calibri" pitchFamily="34" charset="0"/>
              </a:rPr>
              <a:t>You can use </a:t>
            </a:r>
            <a:r>
              <a:rPr lang="en-US" b="1" dirty="0">
                <a:solidFill>
                  <a:srgbClr val="2C14DE"/>
                </a:solidFill>
                <a:latin typeface="Calibri" pitchFamily="34" charset="0"/>
              </a:rPr>
              <a:t>primitive data types</a:t>
            </a:r>
            <a:r>
              <a:rPr lang="en-US" b="1" dirty="0">
                <a:latin typeface="Calibri" pitchFamily="34" charset="0"/>
              </a:rPr>
              <a:t> </a:t>
            </a:r>
            <a:r>
              <a:rPr lang="en-US" dirty="0">
                <a:latin typeface="Calibri" pitchFamily="34" charset="0"/>
              </a:rPr>
              <a:t>to </a:t>
            </a:r>
            <a:r>
              <a:rPr lang="en-US" b="1" dirty="0">
                <a:solidFill>
                  <a:srgbClr val="2C14DE"/>
                </a:solidFill>
                <a:latin typeface="Calibri" pitchFamily="34" charset="0"/>
              </a:rPr>
              <a:t>define variables</a:t>
            </a:r>
            <a:r>
              <a:rPr lang="en-US" dirty="0">
                <a:latin typeface="Calibri" pitchFamily="34" charset="0"/>
              </a:rPr>
              <a:t>. </a:t>
            </a:r>
          </a:p>
          <a:p>
            <a:pPr marL="0" indent="0">
              <a:lnSpc>
                <a:spcPct val="90000"/>
              </a:lnSpc>
              <a:buFont typeface="Wingdings" pitchFamily="2" charset="2"/>
              <a:buNone/>
              <a:defRPr/>
            </a:pPr>
            <a:endParaRPr lang="en-US" sz="4000" dirty="0">
              <a:latin typeface="Calibri" pitchFamily="34" charset="0"/>
            </a:endParaRPr>
          </a:p>
          <a:p>
            <a:pPr algn="just">
              <a:lnSpc>
                <a:spcPct val="90000"/>
              </a:lnSpc>
              <a:defRPr/>
            </a:pPr>
            <a:r>
              <a:rPr lang="en-US" dirty="0">
                <a:latin typeface="Calibri" pitchFamily="34" charset="0"/>
              </a:rPr>
              <a:t>You can also use </a:t>
            </a:r>
            <a:r>
              <a:rPr lang="en-US" b="1" dirty="0">
                <a:solidFill>
                  <a:srgbClr val="2C14DE"/>
                </a:solidFill>
                <a:latin typeface="Calibri" pitchFamily="34" charset="0"/>
              </a:rPr>
              <a:t>class names </a:t>
            </a:r>
            <a:r>
              <a:rPr lang="en-US" dirty="0">
                <a:latin typeface="Calibri" pitchFamily="34" charset="0"/>
              </a:rPr>
              <a:t>to </a:t>
            </a:r>
            <a:r>
              <a:rPr lang="en-US" b="1" dirty="0">
                <a:solidFill>
                  <a:srgbClr val="2C14DE"/>
                </a:solidFill>
                <a:latin typeface="Calibri" pitchFamily="34" charset="0"/>
              </a:rPr>
              <a:t>declare object   names</a:t>
            </a:r>
            <a:r>
              <a:rPr lang="en-US" dirty="0">
                <a:latin typeface="Calibri" pitchFamily="34" charset="0"/>
              </a:rPr>
              <a:t>. </a:t>
            </a:r>
          </a:p>
          <a:p>
            <a:pPr>
              <a:lnSpc>
                <a:spcPct val="90000"/>
              </a:lnSpc>
              <a:defRPr/>
            </a:pPr>
            <a:endParaRPr lang="en-US" b="1" i="1" dirty="0">
              <a:solidFill>
                <a:srgbClr val="FF0000"/>
              </a:solidFill>
              <a:latin typeface="Calibri" pitchFamily="34" charset="0"/>
            </a:endParaRPr>
          </a:p>
          <a:p>
            <a:pPr>
              <a:lnSpc>
                <a:spcPct val="90000"/>
              </a:lnSpc>
              <a:defRPr/>
            </a:pPr>
            <a:r>
              <a:rPr lang="en-US" b="1" i="1" dirty="0">
                <a:latin typeface="Calibri" pitchFamily="34" charset="0"/>
              </a:rPr>
              <a:t>In this sense, a </a:t>
            </a:r>
            <a:r>
              <a:rPr lang="en-US" b="1" i="1" u="sng" dirty="0">
                <a:solidFill>
                  <a:srgbClr val="B80000"/>
                </a:solidFill>
                <a:latin typeface="Calibri" pitchFamily="34" charset="0"/>
              </a:rPr>
              <a:t>class</a:t>
            </a:r>
            <a:r>
              <a:rPr lang="en-US" b="1" i="1" dirty="0">
                <a:solidFill>
                  <a:srgbClr val="B80000"/>
                </a:solidFill>
                <a:latin typeface="Calibri" pitchFamily="34" charset="0"/>
              </a:rPr>
              <a:t> </a:t>
            </a:r>
            <a:r>
              <a:rPr lang="en-US" b="1" i="1" dirty="0">
                <a:latin typeface="Calibri" pitchFamily="34" charset="0"/>
              </a:rPr>
              <a:t>is an </a:t>
            </a:r>
            <a:r>
              <a:rPr lang="en-US" b="1" i="1" u="sng" dirty="0">
                <a:solidFill>
                  <a:srgbClr val="B80000"/>
                </a:solidFill>
                <a:latin typeface="Calibri" pitchFamily="34" charset="0"/>
              </a:rPr>
              <a:t>abstract data-type</a:t>
            </a:r>
            <a:r>
              <a:rPr lang="en-US" b="1" i="1" dirty="0">
                <a:solidFill>
                  <a:srgbClr val="B80000"/>
                </a:solidFill>
                <a:latin typeface="Calibri" pitchFamily="34" charset="0"/>
              </a:rPr>
              <a:t> </a:t>
            </a:r>
            <a:r>
              <a:rPr lang="en-US" b="1" i="1" dirty="0">
                <a:latin typeface="Calibri" pitchFamily="34" charset="0"/>
              </a:rPr>
              <a:t>or</a:t>
            </a:r>
            <a:r>
              <a:rPr lang="en-US" b="1" i="1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b="1" i="1" u="sng" dirty="0">
                <a:solidFill>
                  <a:srgbClr val="B80000"/>
                </a:solidFill>
                <a:latin typeface="Calibri" pitchFamily="34" charset="0"/>
              </a:rPr>
              <a:t>user-defined data type</a:t>
            </a:r>
            <a:r>
              <a:rPr lang="en-US" b="1" i="1" dirty="0">
                <a:solidFill>
                  <a:srgbClr val="FF0000"/>
                </a:solidFill>
                <a:latin typeface="Calibri" pitchFamily="34" charset="0"/>
              </a:rPr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39756" y="9906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67191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2699"/>
            <a:ext cx="9107556" cy="932181"/>
          </a:xfrm>
          <a:solidFill>
            <a:schemeClr val="bg1"/>
          </a:solidFill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rgbClr val="C00000"/>
                </a:solidFill>
                <a:latin typeface="Calibri" pitchFamily="34" charset="0"/>
              </a:rPr>
              <a:t>Class Data Members and Member Functions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52400" y="1143000"/>
            <a:ext cx="6781800" cy="5638800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latin typeface="Calibri" pitchFamily="34" charset="0"/>
              </a:rPr>
              <a:t>The </a:t>
            </a:r>
            <a:r>
              <a:rPr lang="en-US" b="1" dirty="0">
                <a:solidFill>
                  <a:srgbClr val="2C14DE"/>
                </a:solidFill>
                <a:latin typeface="Calibri" pitchFamily="34" charset="0"/>
              </a:rPr>
              <a:t>data items </a:t>
            </a:r>
            <a:r>
              <a:rPr lang="en-US" dirty="0">
                <a:latin typeface="Calibri" pitchFamily="34" charset="0"/>
              </a:rPr>
              <a:t>within a </a:t>
            </a:r>
            <a:r>
              <a:rPr lang="en-US" b="1" dirty="0">
                <a:latin typeface="Calibri" pitchFamily="34" charset="0"/>
              </a:rPr>
              <a:t>class</a:t>
            </a:r>
            <a:r>
              <a:rPr lang="en-US" dirty="0">
                <a:latin typeface="Calibri" pitchFamily="34" charset="0"/>
              </a:rPr>
              <a:t> are called </a:t>
            </a:r>
            <a:r>
              <a:rPr lang="en-US" b="1" i="1" u="sng" dirty="0">
                <a:solidFill>
                  <a:srgbClr val="C00000"/>
                </a:solidFill>
                <a:latin typeface="Calibri" pitchFamily="34" charset="0"/>
              </a:rPr>
              <a:t>data members</a:t>
            </a:r>
            <a:r>
              <a:rPr lang="en-US" u="sng" dirty="0">
                <a:solidFill>
                  <a:srgbClr val="C00000"/>
                </a:solidFill>
                <a:latin typeface="Calibri" pitchFamily="34" charset="0"/>
              </a:rPr>
              <a:t> </a:t>
            </a:r>
            <a:r>
              <a:rPr lang="en-US" dirty="0">
                <a:latin typeface="Calibri" pitchFamily="34" charset="0"/>
              </a:rPr>
              <a:t>or </a:t>
            </a:r>
            <a:r>
              <a:rPr lang="en-US" b="1" i="1" u="sng" dirty="0">
                <a:solidFill>
                  <a:srgbClr val="C00000"/>
                </a:solidFill>
                <a:latin typeface="Calibri" pitchFamily="34" charset="0"/>
              </a:rPr>
              <a:t>data fields</a:t>
            </a:r>
            <a:r>
              <a:rPr lang="en-US" u="sng" dirty="0">
                <a:solidFill>
                  <a:srgbClr val="C00000"/>
                </a:solidFill>
                <a:latin typeface="Calibri" pitchFamily="34" charset="0"/>
              </a:rPr>
              <a:t> </a:t>
            </a:r>
            <a:r>
              <a:rPr lang="en-US" dirty="0">
                <a:latin typeface="Calibri" pitchFamily="34" charset="0"/>
              </a:rPr>
              <a:t>or </a:t>
            </a:r>
            <a:r>
              <a:rPr lang="en-US" b="1" i="1" u="sng" dirty="0">
                <a:solidFill>
                  <a:srgbClr val="C00000"/>
                </a:solidFill>
                <a:latin typeface="Calibri" pitchFamily="34" charset="0"/>
              </a:rPr>
              <a:t>instance variables</a:t>
            </a:r>
          </a:p>
          <a:p>
            <a:endParaRPr lang="en-US" dirty="0">
              <a:latin typeface="Calibri" pitchFamily="34" charset="0"/>
            </a:endParaRPr>
          </a:p>
          <a:p>
            <a:endParaRPr lang="en-US" dirty="0">
              <a:solidFill>
                <a:srgbClr val="2C14DE"/>
              </a:solidFill>
              <a:latin typeface="Calibri" pitchFamily="34" charset="0"/>
            </a:endParaRPr>
          </a:p>
          <a:p>
            <a:pPr algn="just"/>
            <a:r>
              <a:rPr lang="en-US" b="1" i="1" dirty="0">
                <a:solidFill>
                  <a:srgbClr val="2C14DE"/>
                </a:solidFill>
                <a:latin typeface="Calibri" pitchFamily="34" charset="0"/>
              </a:rPr>
              <a:t>Member functions</a:t>
            </a:r>
            <a:r>
              <a:rPr lang="en-US" dirty="0">
                <a:solidFill>
                  <a:srgbClr val="2C14DE"/>
                </a:solidFill>
                <a:latin typeface="Calibri" pitchFamily="34" charset="0"/>
              </a:rPr>
              <a:t> </a:t>
            </a:r>
            <a:r>
              <a:rPr lang="en-US" dirty="0">
                <a:latin typeface="Calibri" pitchFamily="34" charset="0"/>
              </a:rPr>
              <a:t>are </a:t>
            </a:r>
            <a:r>
              <a:rPr lang="en-US" b="1" dirty="0">
                <a:latin typeface="Calibri" pitchFamily="34" charset="0"/>
              </a:rPr>
              <a:t>functions</a:t>
            </a:r>
            <a:r>
              <a:rPr lang="en-US" dirty="0">
                <a:latin typeface="Calibri" pitchFamily="34" charset="0"/>
              </a:rPr>
              <a:t> that are </a:t>
            </a:r>
            <a:r>
              <a:rPr lang="en-US" b="1" dirty="0">
                <a:latin typeface="Calibri" pitchFamily="34" charset="0"/>
              </a:rPr>
              <a:t>included</a:t>
            </a:r>
            <a:r>
              <a:rPr lang="en-US" dirty="0">
                <a:latin typeface="Calibri" pitchFamily="34" charset="0"/>
              </a:rPr>
              <a:t> within a </a:t>
            </a:r>
            <a:r>
              <a:rPr lang="en-US" b="1" dirty="0">
                <a:latin typeface="Calibri" pitchFamily="34" charset="0"/>
              </a:rPr>
              <a:t>class</a:t>
            </a:r>
            <a:r>
              <a:rPr lang="en-US" dirty="0">
                <a:latin typeface="Calibri" pitchFamily="34" charset="0"/>
              </a:rPr>
              <a:t>. Also known as </a:t>
            </a:r>
            <a:r>
              <a:rPr lang="en-US" b="1" i="1" u="sng" dirty="0">
                <a:solidFill>
                  <a:srgbClr val="C00000"/>
                </a:solidFill>
                <a:latin typeface="Calibri" pitchFamily="34" charset="0"/>
              </a:rPr>
              <a:t>instance functions</a:t>
            </a:r>
            <a:r>
              <a:rPr lang="en-US" dirty="0">
                <a:latin typeface="Calibri" pitchFamily="34" charset="0"/>
              </a:rPr>
              <a:t>.</a:t>
            </a:r>
          </a:p>
        </p:txBody>
      </p:sp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1256184"/>
            <a:ext cx="1853411" cy="3773016"/>
          </a:xfrm>
          <a:prstGeom prst="rect">
            <a:avLst/>
          </a:prstGeom>
          <a:noFill/>
          <a:ln>
            <a:noFill/>
          </a:ln>
          <a:effectLst>
            <a:glow rad="228600">
              <a:schemeClr val="accent4">
                <a:satMod val="175000"/>
                <a:alpha val="40000"/>
              </a:schemeClr>
            </a:glow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57294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9756" y="0"/>
            <a:ext cx="9064488" cy="90805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Calibri" pitchFamily="34" charset="0"/>
              </a:rPr>
              <a:t>Object Creation - Instantiation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09606" y="1027431"/>
            <a:ext cx="8928100" cy="5473700"/>
          </a:xfrm>
        </p:spPr>
        <p:txBody>
          <a:bodyPr/>
          <a:lstStyle/>
          <a:p>
            <a:pPr algn="just">
              <a:defRPr/>
            </a:pPr>
            <a:r>
              <a:rPr lang="en-US" sz="2800" b="1" dirty="0">
                <a:latin typeface="Calibri" pitchFamily="34" charset="0"/>
              </a:rPr>
              <a:t>In C++, </a:t>
            </a:r>
            <a:r>
              <a:rPr lang="en-US" sz="2800" dirty="0">
                <a:latin typeface="Calibri" pitchFamily="34" charset="0"/>
              </a:rPr>
              <a:t>you can </a:t>
            </a:r>
            <a:r>
              <a:rPr lang="en-US" sz="2800" b="1" dirty="0">
                <a:solidFill>
                  <a:srgbClr val="2C14DE"/>
                </a:solidFill>
                <a:latin typeface="Calibri" pitchFamily="34" charset="0"/>
              </a:rPr>
              <a:t>assign a name </a:t>
            </a:r>
            <a:r>
              <a:rPr lang="en-US" sz="2800" dirty="0">
                <a:latin typeface="Calibri" pitchFamily="34" charset="0"/>
              </a:rPr>
              <a:t>when </a:t>
            </a:r>
            <a:r>
              <a:rPr lang="en-US" sz="2800" b="1" dirty="0">
                <a:solidFill>
                  <a:srgbClr val="2C14DE"/>
                </a:solidFill>
                <a:latin typeface="Calibri" pitchFamily="34" charset="0"/>
              </a:rPr>
              <a:t>creating an object</a:t>
            </a:r>
            <a:r>
              <a:rPr lang="en-US" sz="2800" dirty="0">
                <a:latin typeface="Calibri" pitchFamily="34" charset="0"/>
              </a:rPr>
              <a:t>. </a:t>
            </a:r>
          </a:p>
          <a:p>
            <a:pPr algn="just">
              <a:defRPr/>
            </a:pPr>
            <a:endParaRPr lang="en-US" sz="2800" dirty="0">
              <a:latin typeface="Calibri" pitchFamily="34" charset="0"/>
            </a:endParaRPr>
          </a:p>
          <a:p>
            <a:pPr algn="just">
              <a:defRPr/>
            </a:pPr>
            <a:r>
              <a:rPr lang="en-US" sz="2800" dirty="0">
                <a:latin typeface="Calibri" pitchFamily="34" charset="0"/>
              </a:rPr>
              <a:t>A </a:t>
            </a:r>
            <a:r>
              <a:rPr lang="en-US" sz="2800" b="1" dirty="0">
                <a:solidFill>
                  <a:srgbClr val="C00000"/>
                </a:solidFill>
                <a:latin typeface="Calibri" pitchFamily="34" charset="0"/>
              </a:rPr>
              <a:t>constructor is invoked </a:t>
            </a:r>
            <a:r>
              <a:rPr lang="en-US" sz="2800" dirty="0">
                <a:latin typeface="Calibri" pitchFamily="34" charset="0"/>
              </a:rPr>
              <a:t>when an </a:t>
            </a:r>
            <a:r>
              <a:rPr lang="en-US" sz="2800" b="1" dirty="0">
                <a:solidFill>
                  <a:srgbClr val="C00000"/>
                </a:solidFill>
                <a:latin typeface="Calibri" pitchFamily="34" charset="0"/>
              </a:rPr>
              <a:t>object is created</a:t>
            </a:r>
            <a:r>
              <a:rPr lang="en-US" sz="2800" dirty="0">
                <a:latin typeface="Calibri" pitchFamily="34" charset="0"/>
              </a:rPr>
              <a:t>. </a:t>
            </a:r>
          </a:p>
          <a:p>
            <a:pPr>
              <a:defRPr/>
            </a:pPr>
            <a:endParaRPr lang="en-US" sz="2800" dirty="0">
              <a:latin typeface="Calibri" pitchFamily="34" charset="0"/>
            </a:endParaRPr>
          </a:p>
          <a:p>
            <a:pPr algn="just">
              <a:defRPr/>
            </a:pPr>
            <a:r>
              <a:rPr lang="en-US" sz="2800" dirty="0">
                <a:latin typeface="Calibri" pitchFamily="34" charset="0"/>
              </a:rPr>
              <a:t>The syntax to </a:t>
            </a:r>
            <a:r>
              <a:rPr lang="en-US" sz="2800" b="1" dirty="0">
                <a:latin typeface="Calibri" pitchFamily="34" charset="0"/>
              </a:rPr>
              <a:t>create</a:t>
            </a:r>
            <a:r>
              <a:rPr lang="en-US" sz="2800" dirty="0">
                <a:latin typeface="Calibri" pitchFamily="34" charset="0"/>
              </a:rPr>
              <a:t> an </a:t>
            </a:r>
            <a:r>
              <a:rPr lang="en-US" sz="2800" b="1" dirty="0">
                <a:latin typeface="Calibri" pitchFamily="34" charset="0"/>
              </a:rPr>
              <a:t>object</a:t>
            </a:r>
            <a:r>
              <a:rPr lang="en-US" sz="2800" dirty="0">
                <a:latin typeface="Calibri" pitchFamily="34" charset="0"/>
              </a:rPr>
              <a:t> using the </a:t>
            </a:r>
            <a:r>
              <a:rPr lang="en-US" sz="2800" b="1" i="1" dirty="0">
                <a:solidFill>
                  <a:srgbClr val="C00000"/>
                </a:solidFill>
                <a:latin typeface="Calibri" pitchFamily="34" charset="0"/>
              </a:rPr>
              <a:t>no-</a:t>
            </a:r>
            <a:r>
              <a:rPr lang="en-US" sz="2800" b="1" i="1" dirty="0" err="1">
                <a:solidFill>
                  <a:srgbClr val="C00000"/>
                </a:solidFill>
                <a:latin typeface="Calibri" pitchFamily="34" charset="0"/>
              </a:rPr>
              <a:t>arg</a:t>
            </a:r>
            <a:r>
              <a:rPr lang="en-US" sz="2800" b="1" i="1" dirty="0">
                <a:solidFill>
                  <a:srgbClr val="C00000"/>
                </a:solidFill>
                <a:latin typeface="Calibri" pitchFamily="34" charset="0"/>
              </a:rPr>
              <a:t> constructor</a:t>
            </a:r>
            <a:r>
              <a:rPr lang="en-US" sz="2800" dirty="0">
                <a:latin typeface="Calibri" pitchFamily="34" charset="0"/>
              </a:rPr>
              <a:t> is:</a:t>
            </a:r>
            <a:endParaRPr lang="en-US" sz="2800" b="1" i="1" dirty="0">
              <a:latin typeface="Calibri" pitchFamily="34" charset="0"/>
            </a:endParaRPr>
          </a:p>
          <a:p>
            <a:pPr marL="0" indent="0">
              <a:buFont typeface="Wingdings" pitchFamily="2" charset="2"/>
              <a:buNone/>
              <a:defRPr/>
            </a:pPr>
            <a:endParaRPr lang="en-US" sz="2800" u="sng" dirty="0">
              <a:latin typeface="Calibri" pitchFamily="34" charset="0"/>
            </a:endParaRPr>
          </a:p>
          <a:p>
            <a:pPr marL="0" indent="0">
              <a:buFont typeface="Wingdings" pitchFamily="2" charset="2"/>
              <a:buNone/>
              <a:defRPr/>
            </a:pPr>
            <a:r>
              <a:rPr lang="en-US" sz="2800" b="1" dirty="0">
                <a:latin typeface="Calibri" pitchFamily="34" charset="0"/>
              </a:rPr>
              <a:t>		</a:t>
            </a:r>
            <a:r>
              <a:rPr lang="en-US" sz="2800" b="1" dirty="0" err="1">
                <a:solidFill>
                  <a:srgbClr val="2F1BC7"/>
                </a:solidFill>
                <a:latin typeface="Calibri" pitchFamily="34" charset="0"/>
              </a:rPr>
              <a:t>ClassName</a:t>
            </a:r>
            <a:r>
              <a:rPr lang="en-US" sz="2800" b="1" dirty="0">
                <a:solidFill>
                  <a:srgbClr val="2F1BC7"/>
                </a:solidFill>
                <a:latin typeface="Calibri" pitchFamily="34" charset="0"/>
              </a:rPr>
              <a:t>    </a:t>
            </a:r>
            <a:r>
              <a:rPr lang="en-US" sz="2800" b="1" dirty="0" err="1">
                <a:solidFill>
                  <a:srgbClr val="2F1BC7"/>
                </a:solidFill>
                <a:latin typeface="Calibri" pitchFamily="34" charset="0"/>
              </a:rPr>
              <a:t>objectName</a:t>
            </a:r>
            <a:r>
              <a:rPr lang="en-US" sz="2800" b="1" dirty="0">
                <a:solidFill>
                  <a:srgbClr val="2F1BC7"/>
                </a:solidFill>
                <a:latin typeface="Calibri" pitchFamily="34" charset="0"/>
              </a:rPr>
              <a:t>;</a:t>
            </a:r>
          </a:p>
          <a:p>
            <a:pPr marL="0" indent="0" algn="just">
              <a:buFont typeface="Wingdings" pitchFamily="2" charset="2"/>
              <a:buNone/>
              <a:defRPr/>
            </a:pPr>
            <a:endParaRPr lang="en-US" sz="2800" u="sng" dirty="0">
              <a:latin typeface="Calibri" pitchFamily="34" charset="0"/>
            </a:endParaRPr>
          </a:p>
          <a:p>
            <a:pPr algn="just">
              <a:defRPr/>
            </a:pPr>
            <a:r>
              <a:rPr lang="en-US" sz="2800" dirty="0">
                <a:latin typeface="Calibri" pitchFamily="34" charset="0"/>
              </a:rPr>
              <a:t>Defining </a:t>
            </a:r>
            <a:r>
              <a:rPr lang="en-US" sz="2800" b="1" dirty="0">
                <a:latin typeface="Calibri" pitchFamily="34" charset="0"/>
              </a:rPr>
              <a:t>objects</a:t>
            </a:r>
            <a:r>
              <a:rPr lang="en-US" sz="2800" dirty="0">
                <a:latin typeface="Calibri" pitchFamily="34" charset="0"/>
              </a:rPr>
              <a:t> in this way means </a:t>
            </a:r>
            <a:r>
              <a:rPr lang="en-US" sz="2800" b="1" i="1" dirty="0">
                <a:solidFill>
                  <a:srgbClr val="008000"/>
                </a:solidFill>
                <a:latin typeface="Calibri" pitchFamily="34" charset="0"/>
              </a:rPr>
              <a:t>creating </a:t>
            </a:r>
            <a:r>
              <a:rPr lang="en-US" sz="2800" b="1" i="1" dirty="0">
                <a:latin typeface="Calibri" pitchFamily="34" charset="0"/>
              </a:rPr>
              <a:t>them</a:t>
            </a:r>
            <a:r>
              <a:rPr lang="en-US" sz="2800" dirty="0">
                <a:latin typeface="Calibri" pitchFamily="34" charset="0"/>
              </a:rPr>
              <a:t>. This is also </a:t>
            </a:r>
            <a:r>
              <a:rPr lang="en-US" sz="2800" b="1" dirty="0">
                <a:latin typeface="Calibri" pitchFamily="34" charset="0"/>
              </a:rPr>
              <a:t>called</a:t>
            </a:r>
            <a:r>
              <a:rPr lang="en-US" sz="2800" dirty="0">
                <a:latin typeface="Calibri" pitchFamily="34" charset="0"/>
              </a:rPr>
              <a:t> </a:t>
            </a:r>
            <a:r>
              <a:rPr lang="en-US" sz="2800" b="1" i="1" dirty="0">
                <a:solidFill>
                  <a:srgbClr val="008000"/>
                </a:solidFill>
                <a:latin typeface="Calibri" pitchFamily="34" charset="0"/>
              </a:rPr>
              <a:t>instantiating</a:t>
            </a:r>
            <a:r>
              <a:rPr lang="en-US" sz="2800" b="1" i="1" dirty="0">
                <a:solidFill>
                  <a:srgbClr val="2C14DE"/>
                </a:solidFill>
                <a:latin typeface="Calibri" pitchFamily="34" charset="0"/>
              </a:rPr>
              <a:t> them</a:t>
            </a:r>
            <a:r>
              <a:rPr lang="en-US" sz="2800" dirty="0">
                <a:latin typeface="Calibri" pitchFamily="34" charset="0"/>
              </a:rPr>
              <a:t>. </a:t>
            </a:r>
          </a:p>
        </p:txBody>
      </p:sp>
      <p:sp>
        <p:nvSpPr>
          <p:cNvPr id="4" name="Rectangle 3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8160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56839"/>
            <a:ext cx="9107556" cy="888042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B80000"/>
                </a:solidFill>
                <a:latin typeface="Calibri" pitchFamily="34" charset="0"/>
              </a:rPr>
              <a:t>Object Member Access Operator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4653" y="1066800"/>
            <a:ext cx="8926947" cy="5791200"/>
          </a:xfrm>
        </p:spPr>
        <p:txBody>
          <a:bodyPr/>
          <a:lstStyle/>
          <a:p>
            <a:pPr algn="just"/>
            <a:r>
              <a:rPr lang="en-US" sz="2800" dirty="0">
                <a:latin typeface="Calibri" pitchFamily="34" charset="0"/>
              </a:rPr>
              <a:t>After </a:t>
            </a:r>
            <a:r>
              <a:rPr lang="en-US" sz="2800" b="1" dirty="0">
                <a:latin typeface="Calibri" pitchFamily="34" charset="0"/>
              </a:rPr>
              <a:t>object creation</a:t>
            </a:r>
            <a:r>
              <a:rPr lang="en-US" sz="2800" dirty="0">
                <a:latin typeface="Calibri" pitchFamily="34" charset="0"/>
              </a:rPr>
              <a:t>, its </a:t>
            </a:r>
            <a:r>
              <a:rPr lang="en-US" sz="2800" b="1" dirty="0">
                <a:solidFill>
                  <a:srgbClr val="2F1BC7"/>
                </a:solidFill>
                <a:latin typeface="Calibri" pitchFamily="34" charset="0"/>
              </a:rPr>
              <a:t>data</a:t>
            </a:r>
            <a:r>
              <a:rPr lang="en-US" sz="2800" dirty="0">
                <a:solidFill>
                  <a:srgbClr val="2F1BC7"/>
                </a:solidFill>
                <a:latin typeface="Calibri" pitchFamily="34" charset="0"/>
              </a:rPr>
              <a:t> </a:t>
            </a:r>
            <a:r>
              <a:rPr lang="en-US" sz="2800" dirty="0">
                <a:latin typeface="Calibri" pitchFamily="34" charset="0"/>
              </a:rPr>
              <a:t>and </a:t>
            </a:r>
            <a:r>
              <a:rPr lang="en-US" sz="2800" b="1" dirty="0">
                <a:solidFill>
                  <a:srgbClr val="2F1BC7"/>
                </a:solidFill>
                <a:latin typeface="Calibri" pitchFamily="34" charset="0"/>
              </a:rPr>
              <a:t>functions</a:t>
            </a:r>
            <a:r>
              <a:rPr lang="en-US" sz="2800" dirty="0">
                <a:solidFill>
                  <a:srgbClr val="2F1BC7"/>
                </a:solidFill>
                <a:latin typeface="Calibri" pitchFamily="34" charset="0"/>
              </a:rPr>
              <a:t> </a:t>
            </a:r>
            <a:r>
              <a:rPr lang="en-US" sz="2800" dirty="0">
                <a:latin typeface="Calibri" pitchFamily="34" charset="0"/>
              </a:rPr>
              <a:t>can be </a:t>
            </a:r>
            <a:r>
              <a:rPr lang="en-US" sz="2800" b="1" dirty="0">
                <a:solidFill>
                  <a:srgbClr val="2F1BC7"/>
                </a:solidFill>
                <a:latin typeface="Calibri" pitchFamily="34" charset="0"/>
              </a:rPr>
              <a:t>accessed</a:t>
            </a:r>
            <a:r>
              <a:rPr lang="en-US" sz="2800" dirty="0">
                <a:solidFill>
                  <a:srgbClr val="2F1BC7"/>
                </a:solidFill>
                <a:latin typeface="Calibri" pitchFamily="34" charset="0"/>
              </a:rPr>
              <a:t> </a:t>
            </a:r>
            <a:r>
              <a:rPr lang="en-US" sz="2800" dirty="0">
                <a:latin typeface="Calibri" pitchFamily="34" charset="0"/>
              </a:rPr>
              <a:t>(invoked) using:</a:t>
            </a:r>
          </a:p>
          <a:p>
            <a:pPr lvl="1" algn="just"/>
            <a:r>
              <a:rPr lang="en-US" dirty="0">
                <a:latin typeface="Calibri" pitchFamily="34" charset="0"/>
              </a:rPr>
              <a:t>The </a:t>
            </a:r>
            <a:r>
              <a:rPr lang="en-US" b="1" i="1" dirty="0">
                <a:solidFill>
                  <a:srgbClr val="2F1BC7"/>
                </a:solidFill>
                <a:latin typeface="Calibri" pitchFamily="34" charset="0"/>
              </a:rPr>
              <a:t>.</a:t>
            </a:r>
            <a:r>
              <a:rPr lang="en-US" dirty="0">
                <a:latin typeface="Calibri" pitchFamily="34" charset="0"/>
              </a:rPr>
              <a:t> </a:t>
            </a:r>
            <a:r>
              <a:rPr lang="en-US" b="1" dirty="0">
                <a:solidFill>
                  <a:srgbClr val="2F1BC7"/>
                </a:solidFill>
                <a:latin typeface="Calibri" pitchFamily="34" charset="0"/>
              </a:rPr>
              <a:t>operator</a:t>
            </a:r>
            <a:r>
              <a:rPr lang="en-US" dirty="0">
                <a:latin typeface="Calibri" pitchFamily="34" charset="0"/>
              </a:rPr>
              <a:t>, also known as the </a:t>
            </a:r>
            <a:r>
              <a:rPr lang="en-US" b="1" i="1" dirty="0">
                <a:solidFill>
                  <a:srgbClr val="B80000"/>
                </a:solidFill>
                <a:latin typeface="Calibri" pitchFamily="34" charset="0"/>
              </a:rPr>
              <a:t>object member access operator</a:t>
            </a:r>
            <a:r>
              <a:rPr lang="en-US" dirty="0">
                <a:latin typeface="Calibri" pitchFamily="34" charset="0"/>
              </a:rPr>
              <a:t>.</a:t>
            </a:r>
          </a:p>
          <a:p>
            <a:endParaRPr lang="en-US" sz="2800" dirty="0">
              <a:latin typeface="Calibri" pitchFamily="34" charset="0"/>
            </a:endParaRPr>
          </a:p>
          <a:p>
            <a:pPr algn="just"/>
            <a:r>
              <a:rPr lang="en-US" sz="2800" b="1" i="1" dirty="0" err="1">
                <a:solidFill>
                  <a:srgbClr val="2F1BC7"/>
                </a:solidFill>
                <a:latin typeface="Calibri" pitchFamily="34" charset="0"/>
              </a:rPr>
              <a:t>objectName.dataField</a:t>
            </a:r>
            <a:r>
              <a:rPr lang="en-US" sz="2800" dirty="0">
                <a:latin typeface="Calibri" pitchFamily="34" charset="0"/>
              </a:rPr>
              <a:t> references a </a:t>
            </a:r>
            <a:r>
              <a:rPr lang="en-US" sz="2800" b="1" dirty="0">
                <a:latin typeface="Calibri" pitchFamily="34" charset="0"/>
              </a:rPr>
              <a:t>data field</a:t>
            </a:r>
            <a:r>
              <a:rPr lang="en-US" sz="2800" dirty="0">
                <a:latin typeface="Calibri" pitchFamily="34" charset="0"/>
              </a:rPr>
              <a:t> in the object</a:t>
            </a:r>
          </a:p>
          <a:p>
            <a:endParaRPr lang="en-US" sz="2800" dirty="0">
              <a:latin typeface="Calibri" pitchFamily="34" charset="0"/>
            </a:endParaRPr>
          </a:p>
          <a:p>
            <a:r>
              <a:rPr lang="en-US" sz="2800" b="1" i="1" dirty="0" err="1">
                <a:solidFill>
                  <a:srgbClr val="2F1BC7"/>
                </a:solidFill>
                <a:latin typeface="Calibri" pitchFamily="34" charset="0"/>
              </a:rPr>
              <a:t>objectName.function</a:t>
            </a:r>
            <a:r>
              <a:rPr lang="en-US" sz="2800" b="1" i="1" dirty="0">
                <a:solidFill>
                  <a:srgbClr val="2F1BC7"/>
                </a:solidFill>
                <a:latin typeface="Calibri" pitchFamily="34" charset="0"/>
              </a:rPr>
              <a:t>( )</a:t>
            </a:r>
            <a:r>
              <a:rPr lang="en-US" sz="2800" dirty="0">
                <a:solidFill>
                  <a:srgbClr val="2F1BC7"/>
                </a:solidFill>
                <a:latin typeface="Calibri" pitchFamily="34" charset="0"/>
              </a:rPr>
              <a:t> </a:t>
            </a:r>
            <a:r>
              <a:rPr lang="en-US" sz="2800" b="1" dirty="0">
                <a:latin typeface="Calibri" pitchFamily="34" charset="0"/>
              </a:rPr>
              <a:t>invokes</a:t>
            </a:r>
            <a:r>
              <a:rPr lang="en-US" sz="2800" dirty="0">
                <a:latin typeface="Calibri" pitchFamily="34" charset="0"/>
              </a:rPr>
              <a:t> a </a:t>
            </a:r>
            <a:r>
              <a:rPr lang="en-US" sz="2800" b="1" dirty="0">
                <a:latin typeface="Calibri" pitchFamily="34" charset="0"/>
              </a:rPr>
              <a:t>function on the object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8416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" y="44450"/>
            <a:ext cx="9036050" cy="457200"/>
          </a:xfrm>
        </p:spPr>
        <p:txBody>
          <a:bodyPr lIns="92075" tIns="46038" rIns="92075" bIns="46038">
            <a:noAutofit/>
          </a:bodyPr>
          <a:lstStyle/>
          <a:p>
            <a:r>
              <a:rPr lang="en-US" altLang="zh-CN" sz="3000" b="1" u="sng" dirty="0">
                <a:latin typeface="Calibri" pitchFamily="34" charset="0"/>
              </a:rPr>
              <a:t>A Simple Program – </a:t>
            </a:r>
            <a:r>
              <a:rPr lang="en-US" altLang="zh-CN" sz="3000" b="1" i="1" u="sng" dirty="0">
                <a:solidFill>
                  <a:srgbClr val="FF0000"/>
                </a:solidFill>
                <a:latin typeface="Calibri" pitchFamily="34" charset="0"/>
              </a:rPr>
              <a:t>Object</a:t>
            </a:r>
            <a:r>
              <a:rPr lang="en-US" altLang="zh-CN" sz="3000" b="1" u="sng" dirty="0">
                <a:latin typeface="Calibri" pitchFamily="34" charset="0"/>
              </a:rPr>
              <a:t> Creation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11188" y="669925"/>
            <a:ext cx="5400675" cy="3687763"/>
          </a:xfrm>
          <a:solidFill>
            <a:schemeClr val="accent1">
              <a:lumMod val="20000"/>
              <a:lumOff val="80000"/>
            </a:schemeClr>
          </a:solidFill>
        </p:spPr>
        <p:txBody>
          <a:bodyPr lIns="92075" tIns="46038" rIns="92075" bIns="46038"/>
          <a:lstStyle/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class  Circle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{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	private: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	     double radius;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endParaRPr lang="en-US" altLang="zh-CN" sz="1200" b="1" dirty="0">
              <a:latin typeface="Calibri" pitchFamily="34" charset="0"/>
            </a:endParaRP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  	public: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	</a:t>
            </a:r>
            <a:r>
              <a:rPr lang="en-US" altLang="zh-CN" sz="2400" b="1" dirty="0">
                <a:latin typeface="Calibri" pitchFamily="34" charset="0"/>
              </a:rPr>
              <a:t>Circle()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400" b="1" dirty="0">
                <a:latin typeface="Calibri" pitchFamily="34" charset="0"/>
              </a:rPr>
              <a:t>	{  	radius = 5.0;    }</a:t>
            </a:r>
            <a:endParaRPr lang="en-US" altLang="zh-CN" sz="2200" b="1" dirty="0">
              <a:latin typeface="Calibri" pitchFamily="34" charset="0"/>
            </a:endParaRP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	double   </a:t>
            </a:r>
            <a:r>
              <a:rPr lang="en-US" altLang="zh-CN" sz="2200" b="1" dirty="0" err="1">
                <a:latin typeface="Calibri" pitchFamily="34" charset="0"/>
              </a:rPr>
              <a:t>getArea</a:t>
            </a:r>
            <a:r>
              <a:rPr lang="en-US" altLang="zh-CN" sz="2200" b="1" dirty="0">
                <a:latin typeface="Calibri" pitchFamily="34" charset="0"/>
              </a:rPr>
              <a:t>( )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	{  return radius *  radius  *  3.14159; }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};</a:t>
            </a:r>
          </a:p>
        </p:txBody>
      </p:sp>
      <p:sp>
        <p:nvSpPr>
          <p:cNvPr id="13317" name="Rectangle 8"/>
          <p:cNvSpPr>
            <a:spLocks noChangeArrowheads="1"/>
          </p:cNvSpPr>
          <p:nvPr/>
        </p:nvSpPr>
        <p:spPr bwMode="auto">
          <a:xfrm>
            <a:off x="971550" y="2527300"/>
            <a:ext cx="3095625" cy="719138"/>
          </a:xfrm>
          <a:prstGeom prst="rect">
            <a:avLst/>
          </a:prstGeom>
          <a:solidFill>
            <a:schemeClr val="accent1">
              <a:lumMod val="75000"/>
              <a:alpha val="45097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320" name="Rectangle 11"/>
          <p:cNvSpPr>
            <a:spLocks noChangeArrowheads="1"/>
          </p:cNvSpPr>
          <p:nvPr/>
        </p:nvSpPr>
        <p:spPr bwMode="auto">
          <a:xfrm>
            <a:off x="6737115" y="981793"/>
            <a:ext cx="1913067" cy="3063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lIns="9144" tIns="9144" rIns="9144" bIns="9144" anchor="ctr"/>
          <a:lstStyle/>
          <a:p>
            <a:pPr algn="ctr" eaLnBrk="0" hangingPunct="0"/>
            <a:r>
              <a:rPr lang="en-US" sz="2200" dirty="0">
                <a:latin typeface="Calibri" pitchFamily="34" charset="0"/>
              </a:rPr>
              <a:t>Object Instance</a:t>
            </a:r>
          </a:p>
        </p:txBody>
      </p:sp>
      <p:sp>
        <p:nvSpPr>
          <p:cNvPr id="13321" name="Text Box 12"/>
          <p:cNvSpPr txBox="1">
            <a:spLocks noChangeArrowheads="1"/>
          </p:cNvSpPr>
          <p:nvPr/>
        </p:nvSpPr>
        <p:spPr bwMode="auto">
          <a:xfrm>
            <a:off x="6284913" y="901700"/>
            <a:ext cx="576262" cy="47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500" b="1">
                <a:latin typeface="Calibri" pitchFamily="34" charset="0"/>
              </a:rPr>
              <a:t>C1</a:t>
            </a:r>
          </a:p>
        </p:txBody>
      </p:sp>
      <p:grpSp>
        <p:nvGrpSpPr>
          <p:cNvPr id="2" name="Group 1"/>
          <p:cNvGrpSpPr>
            <a:grpSpLocks/>
          </p:cNvGrpSpPr>
          <p:nvPr/>
        </p:nvGrpSpPr>
        <p:grpSpPr bwMode="auto">
          <a:xfrm>
            <a:off x="6083300" y="1323975"/>
            <a:ext cx="2851150" cy="2116138"/>
            <a:chOff x="6083300" y="1324084"/>
            <a:chExt cx="2851150" cy="2116029"/>
          </a:xfrm>
        </p:grpSpPr>
        <p:graphicFrame>
          <p:nvGraphicFramePr>
            <p:cNvPr id="15372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5807609"/>
                </p:ext>
              </p:extLst>
            </p:nvPr>
          </p:nvGraphicFramePr>
          <p:xfrm>
            <a:off x="6083300" y="1957388"/>
            <a:ext cx="2851150" cy="14827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61" name="Picture" r:id="rId3" imgW="1028510" imgH="456439" progId="Word.Picture.8">
                    <p:embed/>
                  </p:oleObj>
                </mc:Choice>
                <mc:Fallback>
                  <p:oleObj name="Picture" r:id="rId3" imgW="1028510" imgH="456439" progId="Word.Picture.8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83300" y="1957388"/>
                          <a:ext cx="2851150" cy="1482725"/>
                        </a:xfrm>
                        <a:prstGeom prst="rect">
                          <a:avLst/>
                        </a:prstGeom>
                        <a:solidFill>
                          <a:srgbClr val="CACAFF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73" name="Line 14"/>
            <p:cNvSpPr>
              <a:spLocks noChangeShapeType="1"/>
            </p:cNvSpPr>
            <p:nvPr/>
          </p:nvSpPr>
          <p:spPr bwMode="auto">
            <a:xfrm flipH="1" flipV="1">
              <a:off x="7308304" y="1324084"/>
              <a:ext cx="360363" cy="865188"/>
            </a:xfrm>
            <a:prstGeom prst="line">
              <a:avLst/>
            </a:prstGeom>
            <a:noFill/>
            <a:ln w="508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Rectangle 3"/>
          <p:cNvSpPr txBox="1">
            <a:spLocks noChangeArrowheads="1"/>
          </p:cNvSpPr>
          <p:nvPr/>
        </p:nvSpPr>
        <p:spPr bwMode="auto">
          <a:xfrm>
            <a:off x="611188" y="4581525"/>
            <a:ext cx="8424862" cy="20828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lIns="92075" tIns="46038" rIns="92075" bIns="46038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void main()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{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       Circle     C1;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      //C1.radius = 10;      </a:t>
            </a:r>
            <a:r>
              <a:rPr lang="en-US" altLang="zh-CN" sz="2200" b="1" dirty="0">
                <a:solidFill>
                  <a:srgbClr val="FF0000"/>
                </a:solidFill>
                <a:latin typeface="Calibri" pitchFamily="34" charset="0"/>
              </a:rPr>
              <a:t>can’t access private member outside the class 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     </a:t>
            </a:r>
            <a:r>
              <a:rPr lang="en-US" altLang="zh-CN" sz="2200" b="1" dirty="0" err="1">
                <a:latin typeface="Calibri" pitchFamily="34" charset="0"/>
              </a:rPr>
              <a:t>cout</a:t>
            </a:r>
            <a:r>
              <a:rPr lang="en-US" altLang="zh-CN" sz="2200" b="1" dirty="0">
                <a:latin typeface="Calibri" pitchFamily="34" charset="0"/>
              </a:rPr>
              <a:t>&lt;&lt;“Area of circle = “&lt;&lt;C1.getArea( );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}</a:t>
            </a:r>
          </a:p>
        </p:txBody>
      </p:sp>
      <p:sp>
        <p:nvSpPr>
          <p:cNvPr id="13316" name="Rectangle 6"/>
          <p:cNvSpPr>
            <a:spLocks noChangeArrowheads="1"/>
          </p:cNvSpPr>
          <p:nvPr/>
        </p:nvSpPr>
        <p:spPr bwMode="auto">
          <a:xfrm>
            <a:off x="955675" y="5268913"/>
            <a:ext cx="3592513" cy="295275"/>
          </a:xfrm>
          <a:prstGeom prst="rect">
            <a:avLst/>
          </a:prstGeom>
          <a:solidFill>
            <a:schemeClr val="accent1">
              <a:lumMod val="75000"/>
              <a:alpha val="45097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" name="Line 14"/>
          <p:cNvSpPr>
            <a:spLocks noChangeShapeType="1"/>
          </p:cNvSpPr>
          <p:nvPr/>
        </p:nvSpPr>
        <p:spPr bwMode="auto">
          <a:xfrm flipH="1" flipV="1">
            <a:off x="3886200" y="2971800"/>
            <a:ext cx="0" cy="2405063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6983" name="AutoShape 7"/>
          <p:cNvSpPr>
            <a:spLocks noChangeArrowheads="1"/>
          </p:cNvSpPr>
          <p:nvPr/>
        </p:nvSpPr>
        <p:spPr bwMode="auto">
          <a:xfrm>
            <a:off x="6732588" y="3717925"/>
            <a:ext cx="1881187" cy="615950"/>
          </a:xfrm>
          <a:prstGeom prst="wedgeRoundRectCallout">
            <a:avLst>
              <a:gd name="adj1" fmla="val 1560"/>
              <a:gd name="adj2" fmla="val -155926"/>
              <a:gd name="adj3" fmla="val 16667"/>
            </a:avLst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algn="ctr" eaLnBrk="0" hangingPunct="0">
              <a:defRPr/>
            </a:pPr>
            <a:r>
              <a:rPr lang="en-US" altLang="zh-CN" dirty="0">
                <a:latin typeface="Calibri" pitchFamily="34" charset="0"/>
              </a:rPr>
              <a:t>Allocate memory for radius</a:t>
            </a:r>
          </a:p>
        </p:txBody>
      </p:sp>
    </p:spTree>
    <p:extLst>
      <p:ext uri="{BB962C8B-B14F-4D97-AF65-F5344CB8AC3E}">
        <p14:creationId xmlns:p14="http://schemas.microsoft.com/office/powerpoint/2010/main" val="410972495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13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3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2000"/>
                                        <p:tgtEl>
                                          <p:spTgt spid="13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4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766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7" grpId="0" animBg="1"/>
      <p:bldP spid="13320" grpId="0" animBg="1"/>
      <p:bldP spid="13321" grpId="0"/>
      <p:bldP spid="13316" grpId="0" animBg="1"/>
      <p:bldP spid="13" grpId="0" animBg="1"/>
      <p:bldP spid="76698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r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44881"/>
          </a:xfrm>
        </p:spPr>
        <p:txBody>
          <a:bodyPr>
            <a:noAutofit/>
          </a:bodyPr>
          <a:lstStyle/>
          <a:p>
            <a:r>
              <a:rPr lang="fr-FR" b="1" dirty="0">
                <a:solidFill>
                  <a:srgbClr val="B80000"/>
                </a:solidFill>
              </a:rPr>
              <a:t>Local Classes</a:t>
            </a:r>
          </a:p>
        </p:txBody>
      </p:sp>
      <p:sp>
        <p:nvSpPr>
          <p:cNvPr id="9219" name="Espace réservé du contenu 2"/>
          <p:cNvSpPr>
            <a:spLocks noGrp="1"/>
          </p:cNvSpPr>
          <p:nvPr>
            <p:ph idx="1"/>
          </p:nvPr>
        </p:nvSpPr>
        <p:spPr>
          <a:xfrm>
            <a:off x="76200" y="1143000"/>
            <a:ext cx="8915400" cy="5638800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Local classes</a:t>
            </a:r>
            <a:r>
              <a:rPr lang="en-US" dirty="0"/>
              <a:t>: A local </a:t>
            </a:r>
            <a:r>
              <a:rPr lang="en-US" b="1" dirty="0">
                <a:solidFill>
                  <a:srgbClr val="2C14DE"/>
                </a:solidFill>
              </a:rPr>
              <a:t>class</a:t>
            </a:r>
            <a:r>
              <a:rPr lang="en-US" dirty="0"/>
              <a:t> is declared </a:t>
            </a:r>
            <a:r>
              <a:rPr lang="en-US" b="1" dirty="0">
                <a:solidFill>
                  <a:srgbClr val="2C14DE"/>
                </a:solidFill>
              </a:rPr>
              <a:t>within a function definition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/>
              <a:t>Scope is within the function</a:t>
            </a:r>
          </a:p>
          <a:p>
            <a:r>
              <a:rPr lang="en-US" dirty="0"/>
              <a:t>Functions of local class must be inline</a:t>
            </a:r>
          </a:p>
          <a:p>
            <a:r>
              <a:rPr lang="en-US" dirty="0"/>
              <a:t>A </a:t>
            </a:r>
            <a:r>
              <a:rPr lang="en-US" b="1" u="sng" dirty="0">
                <a:solidFill>
                  <a:srgbClr val="D20000"/>
                </a:solidFill>
              </a:rPr>
              <a:t>local class cannot have static data members but can have static function.</a:t>
            </a:r>
          </a:p>
          <a:p>
            <a:pPr marL="0" indent="0">
              <a:buNone/>
            </a:pPr>
            <a:endParaRPr lang="en-US" b="1" u="sng" dirty="0">
              <a:solidFill>
                <a:srgbClr val="D20000"/>
              </a:solidFill>
            </a:endParaRPr>
          </a:p>
          <a:p>
            <a:r>
              <a:rPr lang="en-US" dirty="0"/>
              <a:t>Methods of local class can only access static members of the enclosing function.</a:t>
            </a:r>
          </a:p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endParaRPr lang="en-US" sz="2400" dirty="0">
              <a:latin typeface="+mj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3097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re 1"/>
          <p:cNvSpPr>
            <a:spLocks noGrp="1"/>
          </p:cNvSpPr>
          <p:nvPr>
            <p:ph type="title"/>
          </p:nvPr>
        </p:nvSpPr>
        <p:spPr>
          <a:xfrm>
            <a:off x="39756" y="0"/>
            <a:ext cx="9104244" cy="944881"/>
          </a:xfrm>
        </p:spPr>
        <p:txBody>
          <a:bodyPr>
            <a:noAutofit/>
          </a:bodyPr>
          <a:lstStyle/>
          <a:p>
            <a:r>
              <a:rPr lang="fr-FR" sz="4000" b="1" dirty="0" err="1">
                <a:solidFill>
                  <a:srgbClr val="B80000"/>
                </a:solidFill>
              </a:rPr>
              <a:t>Inline</a:t>
            </a:r>
            <a:r>
              <a:rPr lang="fr-FR" sz="4000" b="1" dirty="0">
                <a:solidFill>
                  <a:srgbClr val="B80000"/>
                </a:solidFill>
              </a:rPr>
              <a:t>/Out-of-Line </a:t>
            </a:r>
            <a:r>
              <a:rPr lang="fr-FR" sz="4000" b="1" dirty="0" err="1">
                <a:solidFill>
                  <a:srgbClr val="B80000"/>
                </a:solidFill>
              </a:rPr>
              <a:t>Member</a:t>
            </a:r>
            <a:r>
              <a:rPr lang="fr-FR" sz="4000" b="1" dirty="0">
                <a:solidFill>
                  <a:srgbClr val="B80000"/>
                </a:solidFill>
              </a:rPr>
              <a:t> </a:t>
            </a:r>
            <a:r>
              <a:rPr lang="fr-FR" sz="4000" b="1" dirty="0" err="1">
                <a:solidFill>
                  <a:srgbClr val="B80000"/>
                </a:solidFill>
              </a:rPr>
              <a:t>Functions</a:t>
            </a:r>
            <a:endParaRPr lang="fr-FR" sz="4000" b="1" dirty="0">
              <a:solidFill>
                <a:srgbClr val="B80000"/>
              </a:solidFill>
            </a:endParaRPr>
          </a:p>
        </p:txBody>
      </p:sp>
      <p:sp>
        <p:nvSpPr>
          <p:cNvPr id="9219" name="Espace réservé du contenu 2"/>
          <p:cNvSpPr>
            <a:spLocks noGrp="1"/>
          </p:cNvSpPr>
          <p:nvPr>
            <p:ph idx="1"/>
          </p:nvPr>
        </p:nvSpPr>
        <p:spPr>
          <a:xfrm>
            <a:off x="76200" y="1143000"/>
            <a:ext cx="8915400" cy="5638800"/>
          </a:xfrm>
        </p:spPr>
        <p:txBody>
          <a:bodyPr/>
          <a:lstStyle/>
          <a:p>
            <a:r>
              <a:rPr lang="en-US" b="1" dirty="0">
                <a:solidFill>
                  <a:srgbClr val="B80000"/>
                </a:solidFill>
                <a:latin typeface="+mj-lt"/>
              </a:rPr>
              <a:t>Inline </a:t>
            </a:r>
            <a:r>
              <a:rPr lang="en-US" b="1" dirty="0">
                <a:latin typeface="+mj-lt"/>
              </a:rPr>
              <a:t>functions:</a:t>
            </a:r>
          </a:p>
          <a:p>
            <a:pPr lvl="1"/>
            <a:r>
              <a:rPr lang="en-US" dirty="0">
                <a:latin typeface="+mj-lt"/>
              </a:rPr>
              <a:t>are </a:t>
            </a:r>
            <a:r>
              <a:rPr lang="en-US" b="1" u="sng" dirty="0">
                <a:latin typeface="+mj-lt"/>
              </a:rPr>
              <a:t>defined</a:t>
            </a:r>
            <a:r>
              <a:rPr lang="en-US" dirty="0">
                <a:latin typeface="+mj-lt"/>
              </a:rPr>
              <a:t> </a:t>
            </a:r>
            <a:r>
              <a:rPr lang="en-US" b="1" dirty="0">
                <a:solidFill>
                  <a:srgbClr val="2C14DE"/>
                </a:solidFill>
                <a:latin typeface="+mj-lt"/>
              </a:rPr>
              <a:t>within the body of the class</a:t>
            </a:r>
            <a:r>
              <a:rPr lang="en-US" dirty="0">
                <a:latin typeface="+mj-lt"/>
              </a:rPr>
              <a:t> definition.</a:t>
            </a:r>
          </a:p>
          <a:p>
            <a:pPr lvl="1"/>
            <a:endParaRPr lang="en-US" dirty="0">
              <a:latin typeface="+mj-lt"/>
            </a:endParaRPr>
          </a:p>
          <a:p>
            <a:r>
              <a:rPr lang="en-US" b="1" dirty="0">
                <a:solidFill>
                  <a:srgbClr val="B80000"/>
                </a:solidFill>
                <a:latin typeface="+mj-lt"/>
              </a:rPr>
              <a:t>Out-of-line</a:t>
            </a:r>
            <a:r>
              <a:rPr lang="en-US" dirty="0">
                <a:latin typeface="+mj-lt"/>
              </a:rPr>
              <a:t> </a:t>
            </a:r>
            <a:r>
              <a:rPr lang="en-US" b="1" dirty="0">
                <a:latin typeface="+mj-lt"/>
              </a:rPr>
              <a:t>functions</a:t>
            </a:r>
            <a:r>
              <a:rPr lang="en-US" dirty="0">
                <a:latin typeface="+mj-lt"/>
              </a:rPr>
              <a:t>: </a:t>
            </a:r>
          </a:p>
          <a:p>
            <a:pPr lvl="1"/>
            <a:r>
              <a:rPr lang="en-US" dirty="0">
                <a:latin typeface="+mj-lt"/>
              </a:rPr>
              <a:t>are </a:t>
            </a:r>
            <a:r>
              <a:rPr lang="en-US" b="1" dirty="0">
                <a:solidFill>
                  <a:srgbClr val="2C14DE"/>
                </a:solidFill>
                <a:latin typeface="+mj-lt"/>
              </a:rPr>
              <a:t>declared within the body of the class </a:t>
            </a:r>
            <a:r>
              <a:rPr lang="en-US" dirty="0">
                <a:latin typeface="+mj-lt"/>
              </a:rPr>
              <a:t>definition and </a:t>
            </a:r>
            <a:r>
              <a:rPr lang="en-US" b="1" u="sng" dirty="0">
                <a:solidFill>
                  <a:srgbClr val="2C14DE"/>
                </a:solidFill>
                <a:latin typeface="+mj-lt"/>
              </a:rPr>
              <a:t>defined outside</a:t>
            </a:r>
            <a:r>
              <a:rPr lang="en-US" dirty="0">
                <a:latin typeface="+mj-lt"/>
              </a:rPr>
              <a:t>.</a:t>
            </a:r>
          </a:p>
          <a:p>
            <a:pPr lvl="1"/>
            <a:endParaRPr lang="en-US" sz="2400" dirty="0">
              <a:latin typeface="+mj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6815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re 1"/>
          <p:cNvSpPr>
            <a:spLocks noGrp="1"/>
          </p:cNvSpPr>
          <p:nvPr>
            <p:ph type="title"/>
          </p:nvPr>
        </p:nvSpPr>
        <p:spPr>
          <a:xfrm>
            <a:off x="39756" y="0"/>
            <a:ext cx="9104244" cy="990600"/>
          </a:xfrm>
        </p:spPr>
        <p:txBody>
          <a:bodyPr>
            <a:noAutofit/>
          </a:bodyPr>
          <a:lstStyle/>
          <a:p>
            <a:r>
              <a:rPr lang="fr-FR" sz="4000" b="1" dirty="0" err="1">
                <a:solidFill>
                  <a:srgbClr val="C00000"/>
                </a:solidFill>
              </a:rPr>
              <a:t>Inline</a:t>
            </a:r>
            <a:r>
              <a:rPr lang="fr-FR" sz="4000" b="1" dirty="0">
                <a:solidFill>
                  <a:srgbClr val="C00000"/>
                </a:solidFill>
              </a:rPr>
              <a:t>/Out-of-Line </a:t>
            </a:r>
            <a:r>
              <a:rPr lang="fr-FR" sz="4000" b="1" dirty="0" err="1">
                <a:solidFill>
                  <a:srgbClr val="C00000"/>
                </a:solidFill>
              </a:rPr>
              <a:t>Member</a:t>
            </a:r>
            <a:r>
              <a:rPr lang="fr-FR" sz="4000" b="1" dirty="0">
                <a:solidFill>
                  <a:srgbClr val="C00000"/>
                </a:solidFill>
              </a:rPr>
              <a:t> </a:t>
            </a:r>
            <a:r>
              <a:rPr lang="fr-FR" sz="4000" b="1" dirty="0" err="1">
                <a:solidFill>
                  <a:srgbClr val="C00000"/>
                </a:solidFill>
              </a:rPr>
              <a:t>Functions</a:t>
            </a:r>
            <a:endParaRPr lang="fr-FR" sz="4000" b="1" dirty="0">
              <a:solidFill>
                <a:srgbClr val="C00000"/>
              </a:solidFill>
            </a:endParaRPr>
          </a:p>
        </p:txBody>
      </p:sp>
      <p:sp>
        <p:nvSpPr>
          <p:cNvPr id="1024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If a </a:t>
            </a:r>
            <a:r>
              <a:rPr lang="en-US" sz="2800" b="1" dirty="0">
                <a:solidFill>
                  <a:srgbClr val="C00000"/>
                </a:solidFill>
              </a:rPr>
              <a:t>member function</a:t>
            </a:r>
            <a:r>
              <a:rPr lang="en-US" sz="2800" dirty="0">
                <a:solidFill>
                  <a:srgbClr val="C00000"/>
                </a:solidFill>
              </a:rPr>
              <a:t> </a:t>
            </a:r>
            <a:r>
              <a:rPr lang="en-US" sz="2800" dirty="0"/>
              <a:t>is </a:t>
            </a:r>
            <a:r>
              <a:rPr lang="en-US" sz="2800" b="1" dirty="0">
                <a:solidFill>
                  <a:srgbClr val="C00000"/>
                </a:solidFill>
              </a:rPr>
              <a:t>defined</a:t>
            </a:r>
            <a:r>
              <a:rPr lang="en-US" sz="2800" dirty="0">
                <a:solidFill>
                  <a:srgbClr val="C00000"/>
                </a:solidFill>
              </a:rPr>
              <a:t> </a:t>
            </a:r>
            <a:r>
              <a:rPr lang="en-US" sz="2800" b="1" dirty="0">
                <a:solidFill>
                  <a:srgbClr val="C00000"/>
                </a:solidFill>
              </a:rPr>
              <a:t>outside the class</a:t>
            </a:r>
          </a:p>
          <a:p>
            <a:pPr lvl="1" algn="just"/>
            <a:r>
              <a:rPr lang="en-US" sz="2600" b="1" dirty="0">
                <a:solidFill>
                  <a:srgbClr val="2C14DE"/>
                </a:solidFill>
              </a:rPr>
              <a:t>Scope resolution operator </a:t>
            </a:r>
            <a:r>
              <a:rPr lang="en-US" sz="2600" dirty="0"/>
              <a:t>(</a:t>
            </a:r>
            <a:r>
              <a:rPr lang="en-US" sz="2600" b="1" dirty="0"/>
              <a:t>::</a:t>
            </a:r>
            <a:r>
              <a:rPr lang="en-US" sz="2600" dirty="0"/>
              <a:t>) and </a:t>
            </a:r>
            <a:r>
              <a:rPr lang="en-US" sz="2600" b="1" dirty="0">
                <a:solidFill>
                  <a:srgbClr val="2C14DE"/>
                </a:solidFill>
              </a:rPr>
              <a:t>class name </a:t>
            </a:r>
            <a:r>
              <a:rPr lang="en-US" sz="2600" dirty="0"/>
              <a:t>are needed  </a:t>
            </a:r>
          </a:p>
          <a:p>
            <a:pPr lvl="1" algn="just"/>
            <a:r>
              <a:rPr lang="en-US" sz="2600" dirty="0"/>
              <a:t>Defining a </a:t>
            </a:r>
            <a:r>
              <a:rPr lang="en-US" sz="2600" b="1" dirty="0"/>
              <a:t>function outside a class</a:t>
            </a:r>
            <a:r>
              <a:rPr lang="en-US" sz="2600" dirty="0"/>
              <a:t> </a:t>
            </a:r>
            <a:r>
              <a:rPr lang="en-US" sz="2600" b="1" dirty="0">
                <a:solidFill>
                  <a:srgbClr val="2C14DE"/>
                </a:solidFill>
              </a:rPr>
              <a:t>does not change </a:t>
            </a:r>
            <a:r>
              <a:rPr lang="en-US" sz="2600" dirty="0"/>
              <a:t>it being </a:t>
            </a:r>
            <a:r>
              <a:rPr lang="en-US" sz="2600" b="1" dirty="0">
                <a:solidFill>
                  <a:srgbClr val="2C14DE"/>
                </a:solidFill>
                <a:latin typeface="Courier New" panose="02070309020205020404" pitchFamily="49" charset="0"/>
              </a:rPr>
              <a:t>public</a:t>
            </a:r>
            <a:r>
              <a:rPr lang="en-US" sz="2600" dirty="0">
                <a:solidFill>
                  <a:srgbClr val="2C14DE"/>
                </a:solidFill>
              </a:rPr>
              <a:t> </a:t>
            </a:r>
            <a:r>
              <a:rPr lang="en-US" sz="2600" dirty="0"/>
              <a:t>or </a:t>
            </a:r>
            <a:r>
              <a:rPr lang="en-US" sz="2600" b="1" dirty="0">
                <a:solidFill>
                  <a:srgbClr val="2C14DE"/>
                </a:solidFill>
                <a:latin typeface="Courier New" panose="02070309020205020404" pitchFamily="49" charset="0"/>
              </a:rPr>
              <a:t>private</a:t>
            </a:r>
          </a:p>
          <a:p>
            <a:pPr marL="457200" lvl="1" indent="0">
              <a:buNone/>
            </a:pPr>
            <a:endParaRPr lang="en-US" sz="2000" b="1" dirty="0">
              <a:latin typeface="Courier New" panose="02070309020205020404" pitchFamily="49" charset="0"/>
            </a:endParaRPr>
          </a:p>
          <a:p>
            <a:r>
              <a:rPr lang="en-US" sz="2800" b="1" dirty="0">
                <a:solidFill>
                  <a:srgbClr val="B80000"/>
                </a:solidFill>
              </a:rPr>
              <a:t>Binary scope resolution operator </a:t>
            </a:r>
            <a:r>
              <a:rPr lang="en-US" sz="2800" dirty="0"/>
              <a:t>(</a:t>
            </a:r>
            <a:r>
              <a:rPr lang="en-US" sz="2800" dirty="0">
                <a:solidFill>
                  <a:srgbClr val="B80000"/>
                </a:solidFill>
                <a:latin typeface="Courier New" panose="02070309020205020404" pitchFamily="49" charset="0"/>
              </a:rPr>
              <a:t>::</a:t>
            </a:r>
            <a:r>
              <a:rPr lang="en-US" sz="2800" dirty="0"/>
              <a:t>)</a:t>
            </a:r>
          </a:p>
          <a:p>
            <a:pPr lvl="1" algn="just"/>
            <a:r>
              <a:rPr lang="en-US" sz="2600" b="1" dirty="0">
                <a:solidFill>
                  <a:srgbClr val="2C14DE"/>
                </a:solidFill>
              </a:rPr>
              <a:t>Combines</a:t>
            </a:r>
            <a:r>
              <a:rPr lang="en-US" sz="2600" dirty="0">
                <a:solidFill>
                  <a:srgbClr val="2C14DE"/>
                </a:solidFill>
              </a:rPr>
              <a:t> </a:t>
            </a:r>
            <a:r>
              <a:rPr lang="en-US" sz="2600" dirty="0"/>
              <a:t>the </a:t>
            </a:r>
            <a:r>
              <a:rPr lang="en-US" sz="2600" b="1" dirty="0">
                <a:solidFill>
                  <a:srgbClr val="2C14DE"/>
                </a:solidFill>
              </a:rPr>
              <a:t>class name </a:t>
            </a:r>
            <a:r>
              <a:rPr lang="en-US" sz="2600" dirty="0"/>
              <a:t>with the </a:t>
            </a:r>
            <a:r>
              <a:rPr lang="en-US" sz="2600" b="1" dirty="0">
                <a:solidFill>
                  <a:srgbClr val="2C14DE"/>
                </a:solidFill>
              </a:rPr>
              <a:t>member function name</a:t>
            </a:r>
          </a:p>
          <a:p>
            <a:pPr lvl="1" algn="just"/>
            <a:r>
              <a:rPr lang="en-US" sz="2600" b="1" dirty="0">
                <a:solidFill>
                  <a:srgbClr val="2C14DE"/>
                </a:solidFill>
              </a:rPr>
              <a:t>Different classes</a:t>
            </a:r>
            <a:r>
              <a:rPr lang="en-US" sz="2600" dirty="0"/>
              <a:t> can have </a:t>
            </a:r>
            <a:r>
              <a:rPr lang="en-US" sz="2600" b="1" dirty="0">
                <a:solidFill>
                  <a:srgbClr val="2C14DE"/>
                </a:solidFill>
              </a:rPr>
              <a:t>member functions</a:t>
            </a:r>
            <a:r>
              <a:rPr lang="en-US" sz="2600" dirty="0"/>
              <a:t> with the </a:t>
            </a:r>
            <a:r>
              <a:rPr lang="en-US" sz="2600" b="1" dirty="0">
                <a:solidFill>
                  <a:srgbClr val="2C14DE"/>
                </a:solidFill>
              </a:rPr>
              <a:t>same name</a:t>
            </a:r>
          </a:p>
          <a:p>
            <a:pPr lvl="1"/>
            <a:endParaRPr lang="en-US" sz="2000" b="1" dirty="0"/>
          </a:p>
          <a:p>
            <a:pPr marL="457200" lvl="1" indent="0">
              <a:buNone/>
            </a:pPr>
            <a:r>
              <a:rPr lang="en-US" sz="20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returnType</a:t>
            </a:r>
            <a:r>
              <a:rPr lang="en-US" sz="2000" b="1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ClassName</a:t>
            </a:r>
            <a:r>
              <a:rPr lang="en-US" sz="2000" b="1" dirty="0">
                <a:solidFill>
                  <a:srgbClr val="2C14DE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::</a:t>
            </a:r>
            <a:r>
              <a:rPr lang="en-US" sz="2000" b="1" dirty="0" err="1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MemberFunctionName</a:t>
            </a:r>
            <a:r>
              <a:rPr lang="en-US" sz="2000" b="1" dirty="0">
                <a:latin typeface="Consolas" panose="020B0609020204030204" pitchFamily="49" charset="0"/>
                <a:cs typeface="Courier New" panose="02070309020205020404" pitchFamily="49" charset="0"/>
              </a:rPr>
              <a:t>( ){</a:t>
            </a:r>
          </a:p>
          <a:p>
            <a:pPr lvl="2">
              <a:buFontTx/>
              <a:buNone/>
            </a:pPr>
            <a:r>
              <a:rPr lang="en-US" sz="2000" b="1" dirty="0">
                <a:latin typeface="Consolas" panose="020B0609020204030204" pitchFamily="49" charset="0"/>
                <a:cs typeface="Courier New" panose="02070309020205020404" pitchFamily="49" charset="0"/>
              </a:rPr>
              <a:t>           …</a:t>
            </a:r>
          </a:p>
          <a:p>
            <a:pPr lvl="2">
              <a:buFontTx/>
              <a:buNone/>
            </a:pPr>
            <a:r>
              <a:rPr lang="en-US" sz="2000" b="1" dirty="0">
                <a:latin typeface="Consolas" panose="020B0609020204030204" pitchFamily="49" charset="0"/>
                <a:cs typeface="Courier New" panose="02070309020205020404" pitchFamily="49" charset="0"/>
              </a:rPr>
              <a:t>      }</a:t>
            </a:r>
            <a:endParaRPr lang="en-US" sz="3200" b="1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endParaRPr lang="fr-FR" sz="2800" dirty="0"/>
          </a:p>
        </p:txBody>
      </p:sp>
      <p:sp>
        <p:nvSpPr>
          <p:cNvPr id="4" name="Rectangle 3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779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9757" y="123280"/>
            <a:ext cx="9005684" cy="785440"/>
          </a:xfrm>
        </p:spPr>
        <p:txBody>
          <a:bodyPr lIns="92075" tIns="46038" rIns="92075" bIns="46038">
            <a:normAutofit fontScale="90000"/>
          </a:bodyPr>
          <a:lstStyle/>
          <a:p>
            <a:r>
              <a:rPr lang="en-US" sz="3200" b="1" dirty="0">
                <a:solidFill>
                  <a:srgbClr val="B80000"/>
                </a:solidFill>
                <a:latin typeface="Calibri" pitchFamily="34" charset="0"/>
              </a:rPr>
              <a:t>Member Functions</a:t>
            </a:r>
            <a:br>
              <a:rPr lang="en-US" sz="3200" b="1" dirty="0">
                <a:solidFill>
                  <a:srgbClr val="B80000"/>
                </a:solidFill>
                <a:latin typeface="Calibri" pitchFamily="34" charset="0"/>
              </a:rPr>
            </a:br>
            <a:r>
              <a:rPr lang="en-US" sz="3200" b="1" dirty="0">
                <a:solidFill>
                  <a:srgbClr val="B80000"/>
                </a:solidFill>
                <a:latin typeface="Calibri" pitchFamily="34" charset="0"/>
              </a:rPr>
              <a:t>Separating Declaration from Implementation</a:t>
            </a:r>
            <a:endParaRPr lang="en-US" altLang="zh-CN" sz="3200" b="1" dirty="0">
              <a:solidFill>
                <a:srgbClr val="B80000"/>
              </a:solidFill>
              <a:latin typeface="Calibri" pitchFamily="34" charset="0"/>
            </a:endParaRP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00682" y="1030619"/>
            <a:ext cx="6337250" cy="4103985"/>
          </a:xfrm>
          <a:solidFill>
            <a:schemeClr val="tx2">
              <a:lumMod val="20000"/>
              <a:lumOff val="80000"/>
            </a:schemeClr>
          </a:solidFill>
        </p:spPr>
        <p:txBody>
          <a:bodyPr lIns="92075" tIns="46038" rIns="92075" bIns="46038"/>
          <a:lstStyle/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class  Circle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{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	private: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	     double radius;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endParaRPr lang="en-US" altLang="zh-CN" sz="1200" b="1" dirty="0">
              <a:latin typeface="Calibri" pitchFamily="34" charset="0"/>
            </a:endParaRP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  	public: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	</a:t>
            </a:r>
            <a:r>
              <a:rPr lang="en-US" altLang="zh-CN" sz="2400" b="1" dirty="0">
                <a:latin typeface="Calibri" pitchFamily="34" charset="0"/>
              </a:rPr>
              <a:t>Circle(double   radius)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400" b="1" dirty="0">
                <a:latin typeface="Calibri" pitchFamily="34" charset="0"/>
              </a:rPr>
              <a:t>	{  	this-&gt;radius = radius;    }</a:t>
            </a:r>
            <a:endParaRPr lang="en-US" altLang="zh-CN" sz="2200" b="1" dirty="0">
              <a:latin typeface="Calibri" pitchFamily="34" charset="0"/>
            </a:endParaRP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solidFill>
                  <a:srgbClr val="008000"/>
                </a:solidFill>
                <a:latin typeface="Calibri" pitchFamily="34" charset="0"/>
              </a:rPr>
              <a:t>	</a:t>
            </a:r>
            <a:r>
              <a:rPr lang="en-US" altLang="zh-CN" sz="2200" b="1" dirty="0">
                <a:solidFill>
                  <a:srgbClr val="2C14DE"/>
                </a:solidFill>
                <a:latin typeface="Calibri" pitchFamily="34" charset="0"/>
              </a:rPr>
              <a:t>double   </a:t>
            </a:r>
            <a:r>
              <a:rPr lang="en-US" altLang="zh-CN" sz="2200" b="1" dirty="0" err="1">
                <a:solidFill>
                  <a:srgbClr val="2C14DE"/>
                </a:solidFill>
                <a:latin typeface="Calibri" pitchFamily="34" charset="0"/>
              </a:rPr>
              <a:t>getArea</a:t>
            </a:r>
            <a:r>
              <a:rPr lang="en-US" altLang="zh-CN" sz="2200" b="1" dirty="0">
                <a:solidFill>
                  <a:srgbClr val="2C14DE"/>
                </a:solidFill>
                <a:latin typeface="Calibri" pitchFamily="34" charset="0"/>
              </a:rPr>
              <a:t>( ); </a:t>
            </a:r>
            <a:r>
              <a:rPr lang="en-US" altLang="zh-CN" sz="2200" b="1" dirty="0">
                <a:solidFill>
                  <a:srgbClr val="00B050"/>
                </a:solidFill>
                <a:latin typeface="Calibri" pitchFamily="34" charset="0"/>
              </a:rPr>
              <a:t>// Not implemented yet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};</a:t>
            </a:r>
          </a:p>
          <a:p>
            <a:pPr>
              <a:lnSpc>
                <a:spcPct val="80000"/>
              </a:lnSpc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double   Circle::</a:t>
            </a:r>
            <a:r>
              <a:rPr lang="en-US" altLang="zh-CN" sz="2200" b="1" dirty="0" err="1">
                <a:latin typeface="Calibri" pitchFamily="34" charset="0"/>
              </a:rPr>
              <a:t>getArea</a:t>
            </a:r>
            <a:r>
              <a:rPr lang="en-US" altLang="zh-CN" sz="2200" b="1" dirty="0">
                <a:latin typeface="Calibri" pitchFamily="34" charset="0"/>
              </a:rPr>
              <a:t>()</a:t>
            </a:r>
          </a:p>
          <a:p>
            <a:pPr>
              <a:lnSpc>
                <a:spcPct val="80000"/>
              </a:lnSpc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{  return  this-&gt;radius *  radius  *  3.14159; }</a:t>
            </a:r>
          </a:p>
        </p:txBody>
      </p:sp>
      <p:sp>
        <p:nvSpPr>
          <p:cNvPr id="12" name="Rectangle 3"/>
          <p:cNvSpPr txBox="1">
            <a:spLocks noChangeArrowheads="1"/>
          </p:cNvSpPr>
          <p:nvPr/>
        </p:nvSpPr>
        <p:spPr bwMode="auto">
          <a:xfrm>
            <a:off x="3687596" y="5164970"/>
            <a:ext cx="5400898" cy="16573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lIns="92075" tIns="46038" rIns="92075" bIns="46038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void main()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{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       Circle     C1(99.0);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       </a:t>
            </a:r>
            <a:r>
              <a:rPr lang="en-US" altLang="zh-CN" sz="2200" b="1" dirty="0" err="1">
                <a:latin typeface="Calibri" pitchFamily="34" charset="0"/>
              </a:rPr>
              <a:t>cout</a:t>
            </a:r>
            <a:r>
              <a:rPr lang="en-US" altLang="zh-CN" sz="2200" b="1" dirty="0">
                <a:latin typeface="Calibri" pitchFamily="34" charset="0"/>
              </a:rPr>
              <a:t>&lt;&lt;“Area of circle = “&lt;&lt;C1.getArea();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}</a:t>
            </a:r>
          </a:p>
        </p:txBody>
      </p:sp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100682" y="4291002"/>
            <a:ext cx="5826715" cy="792088"/>
          </a:xfrm>
          <a:prstGeom prst="rect">
            <a:avLst/>
          </a:prstGeom>
          <a:solidFill>
            <a:schemeClr val="accent3">
              <a:lumMod val="20000"/>
              <a:lumOff val="80000"/>
              <a:alpha val="45097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val Callout 1"/>
          <p:cNvSpPr/>
          <p:nvPr/>
        </p:nvSpPr>
        <p:spPr>
          <a:xfrm>
            <a:off x="4800600" y="1591169"/>
            <a:ext cx="4244840" cy="1380632"/>
          </a:xfrm>
          <a:prstGeom prst="wedgeEllipseCallout">
            <a:avLst>
              <a:gd name="adj1" fmla="val -85391"/>
              <a:gd name="adj2" fmla="val 53618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Class must define a no-argument constructor too….</a:t>
            </a:r>
          </a:p>
        </p:txBody>
      </p:sp>
    </p:spTree>
    <p:extLst>
      <p:ext uri="{BB962C8B-B14F-4D97-AF65-F5344CB8AC3E}">
        <p14:creationId xmlns:p14="http://schemas.microsoft.com/office/powerpoint/2010/main" val="37162134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66" name="Group 4"/>
          <p:cNvGrpSpPr>
            <a:grpSpLocks/>
          </p:cNvGrpSpPr>
          <p:nvPr/>
        </p:nvGrpSpPr>
        <p:grpSpPr bwMode="auto">
          <a:xfrm>
            <a:off x="152400" y="0"/>
            <a:ext cx="6705600" cy="6919913"/>
            <a:chOff x="0" y="-55"/>
            <a:chExt cx="3072" cy="12077"/>
          </a:xfrm>
        </p:grpSpPr>
        <p:grpSp>
          <p:nvGrpSpPr>
            <p:cNvPr id="11270" name="Group 5"/>
            <p:cNvGrpSpPr>
              <a:grpSpLocks/>
            </p:cNvGrpSpPr>
            <p:nvPr/>
          </p:nvGrpSpPr>
          <p:grpSpPr bwMode="auto">
            <a:xfrm>
              <a:off x="0" y="-55"/>
              <a:ext cx="3072" cy="483"/>
              <a:chOff x="0" y="-55"/>
              <a:chExt cx="3072" cy="483"/>
            </a:xfrm>
          </p:grpSpPr>
          <p:sp>
            <p:nvSpPr>
              <p:cNvPr id="11364" name="Rectangle 6"/>
              <p:cNvSpPr>
                <a:spLocks noChangeArrowheads="1"/>
              </p:cNvSpPr>
              <p:nvPr/>
            </p:nvSpPr>
            <p:spPr bwMode="auto">
              <a:xfrm>
                <a:off x="0" y="-55"/>
                <a:ext cx="85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11365" name="Rectangle 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1	</a:t>
                </a:r>
                <a:r>
                  <a:rPr lang="en-US" sz="1200" b="1">
                    <a:solidFill>
                      <a:srgbClr val="33CC33"/>
                    </a:solidFill>
                    <a:latin typeface="Courier New" panose="02070309020205020404" pitchFamily="49" charset="0"/>
                  </a:rPr>
                  <a:t>// Fig. 6.3: fig06_03.cpp</a:t>
                </a:r>
                <a:endParaRPr lang="en-US" sz="1200" b="1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1271" name="Group 8"/>
            <p:cNvGrpSpPr>
              <a:grpSpLocks/>
            </p:cNvGrpSpPr>
            <p:nvPr/>
          </p:nvGrpSpPr>
          <p:grpSpPr bwMode="auto">
            <a:xfrm>
              <a:off x="0" y="319"/>
              <a:ext cx="3072" cy="483"/>
              <a:chOff x="0" y="319"/>
              <a:chExt cx="3072" cy="483"/>
            </a:xfrm>
          </p:grpSpPr>
          <p:sp>
            <p:nvSpPr>
              <p:cNvPr id="11362" name="Rectangle 9"/>
              <p:cNvSpPr>
                <a:spLocks noChangeArrowheads="1"/>
              </p:cNvSpPr>
              <p:nvPr/>
            </p:nvSpPr>
            <p:spPr bwMode="auto">
              <a:xfrm>
                <a:off x="0" y="319"/>
                <a:ext cx="85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11363" name="Rectangle 10"/>
              <p:cNvSpPr>
                <a:spLocks noChangeArrowheads="1"/>
              </p:cNvSpPr>
              <p:nvPr/>
            </p:nvSpPr>
            <p:spPr bwMode="auto">
              <a:xfrm>
                <a:off x="0" y="374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2	</a:t>
                </a:r>
                <a:r>
                  <a:rPr lang="en-US" sz="1200" b="1">
                    <a:solidFill>
                      <a:srgbClr val="33CC33"/>
                    </a:solidFill>
                    <a:latin typeface="Courier New" panose="02070309020205020404" pitchFamily="49" charset="0"/>
                  </a:rPr>
                  <a:t>// Time class.</a:t>
                </a:r>
                <a:endParaRPr lang="en-US" sz="1200" b="1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1272" name="Group 11"/>
            <p:cNvGrpSpPr>
              <a:grpSpLocks/>
            </p:cNvGrpSpPr>
            <p:nvPr/>
          </p:nvGrpSpPr>
          <p:grpSpPr bwMode="auto">
            <a:xfrm>
              <a:off x="0" y="693"/>
              <a:ext cx="3072" cy="483"/>
              <a:chOff x="0" y="693"/>
              <a:chExt cx="3072" cy="483"/>
            </a:xfrm>
          </p:grpSpPr>
          <p:sp>
            <p:nvSpPr>
              <p:cNvPr id="11360" name="Rectangle 12"/>
              <p:cNvSpPr>
                <a:spLocks noChangeArrowheads="1"/>
              </p:cNvSpPr>
              <p:nvPr/>
            </p:nvSpPr>
            <p:spPr bwMode="auto">
              <a:xfrm>
                <a:off x="0" y="693"/>
                <a:ext cx="85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11361" name="Rectangle 13"/>
              <p:cNvSpPr>
                <a:spLocks noChangeArrowheads="1"/>
              </p:cNvSpPr>
              <p:nvPr/>
            </p:nvSpPr>
            <p:spPr bwMode="auto">
              <a:xfrm>
                <a:off x="0" y="748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3	</a:t>
                </a:r>
                <a:r>
                  <a:rPr lang="en-US" sz="1200" b="1">
                    <a:latin typeface="Courier New" panose="02070309020205020404" pitchFamily="49" charset="0"/>
                  </a:rPr>
                  <a:t>#include &lt;iostream&gt;</a:t>
                </a: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1273" name="Group 14"/>
            <p:cNvGrpSpPr>
              <a:grpSpLocks/>
            </p:cNvGrpSpPr>
            <p:nvPr/>
          </p:nvGrpSpPr>
          <p:grpSpPr bwMode="auto">
            <a:xfrm>
              <a:off x="0" y="1067"/>
              <a:ext cx="3072" cy="483"/>
              <a:chOff x="0" y="1067"/>
              <a:chExt cx="3072" cy="483"/>
            </a:xfrm>
          </p:grpSpPr>
          <p:sp>
            <p:nvSpPr>
              <p:cNvPr id="11358" name="Rectangle 15"/>
              <p:cNvSpPr>
                <a:spLocks noChangeArrowheads="1"/>
              </p:cNvSpPr>
              <p:nvPr/>
            </p:nvSpPr>
            <p:spPr bwMode="auto">
              <a:xfrm>
                <a:off x="0" y="1067"/>
                <a:ext cx="85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11359" name="Rectangle 16"/>
              <p:cNvSpPr>
                <a:spLocks noChangeArrowheads="1"/>
              </p:cNvSpPr>
              <p:nvPr/>
            </p:nvSpPr>
            <p:spPr bwMode="auto">
              <a:xfrm>
                <a:off x="0" y="1122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4	</a:t>
                </a:r>
                <a:endParaRPr lang="en-US" sz="1200" b="1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1274" name="Group 17"/>
            <p:cNvGrpSpPr>
              <a:grpSpLocks/>
            </p:cNvGrpSpPr>
            <p:nvPr/>
          </p:nvGrpSpPr>
          <p:grpSpPr bwMode="auto">
            <a:xfrm>
              <a:off x="0" y="1441"/>
              <a:ext cx="3072" cy="483"/>
              <a:chOff x="0" y="1441"/>
              <a:chExt cx="3072" cy="483"/>
            </a:xfrm>
          </p:grpSpPr>
          <p:sp>
            <p:nvSpPr>
              <p:cNvPr id="11356" name="Rectangle 18"/>
              <p:cNvSpPr>
                <a:spLocks noChangeArrowheads="1"/>
              </p:cNvSpPr>
              <p:nvPr/>
            </p:nvSpPr>
            <p:spPr bwMode="auto">
              <a:xfrm>
                <a:off x="0" y="1441"/>
                <a:ext cx="85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11357" name="Rectangle 19"/>
              <p:cNvSpPr>
                <a:spLocks noChangeArrowheads="1"/>
              </p:cNvSpPr>
              <p:nvPr/>
            </p:nvSpPr>
            <p:spPr bwMode="auto">
              <a:xfrm>
                <a:off x="0" y="1496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 dirty="0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5	</a:t>
                </a:r>
                <a:r>
                  <a:rPr lang="en-US" sz="1200" b="1" dirty="0">
                    <a:solidFill>
                      <a:srgbClr val="275AFF"/>
                    </a:solidFill>
                    <a:latin typeface="Courier New" panose="02070309020205020404" pitchFamily="49" charset="0"/>
                  </a:rPr>
                  <a:t>using</a:t>
                </a:r>
                <a:r>
                  <a:rPr lang="en-US" sz="1200" b="1" dirty="0">
                    <a:latin typeface="Courier New" panose="02070309020205020404" pitchFamily="49" charset="0"/>
                  </a:rPr>
                  <a:t> </a:t>
                </a:r>
                <a:r>
                  <a:rPr lang="en-US" sz="1200" b="1" dirty="0" err="1">
                    <a:latin typeface="Courier New" panose="02070309020205020404" pitchFamily="49" charset="0"/>
                  </a:rPr>
                  <a:t>std</a:t>
                </a:r>
                <a:r>
                  <a:rPr lang="en-US" sz="1200" b="1" dirty="0">
                    <a:latin typeface="Courier New" panose="02070309020205020404" pitchFamily="49" charset="0"/>
                  </a:rPr>
                  <a:t>::</a:t>
                </a:r>
                <a:r>
                  <a:rPr lang="en-US" sz="1200" b="1" dirty="0" err="1">
                    <a:latin typeface="Courier New" panose="02070309020205020404" pitchFamily="49" charset="0"/>
                  </a:rPr>
                  <a:t>cout</a:t>
                </a:r>
                <a:r>
                  <a:rPr lang="en-US" sz="1200" b="1" dirty="0">
                    <a:latin typeface="Courier New" panose="02070309020205020404" pitchFamily="49" charset="0"/>
                  </a:rPr>
                  <a:t>;</a:t>
                </a:r>
              </a:p>
              <a:p>
                <a:pPr eaLnBrk="1" hangingPunct="1"/>
                <a:endParaRPr lang="en-US" sz="1200" b="1" dirty="0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1275" name="Group 20"/>
            <p:cNvGrpSpPr>
              <a:grpSpLocks/>
            </p:cNvGrpSpPr>
            <p:nvPr/>
          </p:nvGrpSpPr>
          <p:grpSpPr bwMode="auto">
            <a:xfrm>
              <a:off x="0" y="1815"/>
              <a:ext cx="3072" cy="483"/>
              <a:chOff x="0" y="1815"/>
              <a:chExt cx="3072" cy="483"/>
            </a:xfrm>
          </p:grpSpPr>
          <p:sp>
            <p:nvSpPr>
              <p:cNvPr id="11354" name="Rectangle 21"/>
              <p:cNvSpPr>
                <a:spLocks noChangeArrowheads="1"/>
              </p:cNvSpPr>
              <p:nvPr/>
            </p:nvSpPr>
            <p:spPr bwMode="auto">
              <a:xfrm>
                <a:off x="0" y="1815"/>
                <a:ext cx="85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11355" name="Rectangle 22"/>
              <p:cNvSpPr>
                <a:spLocks noChangeArrowheads="1"/>
              </p:cNvSpPr>
              <p:nvPr/>
            </p:nvSpPr>
            <p:spPr bwMode="auto">
              <a:xfrm>
                <a:off x="0" y="1870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 dirty="0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6	</a:t>
                </a:r>
                <a:r>
                  <a:rPr lang="en-US" sz="1200" b="1" dirty="0">
                    <a:solidFill>
                      <a:srgbClr val="275AFF"/>
                    </a:solidFill>
                    <a:latin typeface="Courier New" panose="02070309020205020404" pitchFamily="49" charset="0"/>
                  </a:rPr>
                  <a:t>using</a:t>
                </a:r>
                <a:r>
                  <a:rPr lang="en-US" sz="1200" b="1" dirty="0">
                    <a:latin typeface="Courier New" panose="02070309020205020404" pitchFamily="49" charset="0"/>
                  </a:rPr>
                  <a:t> </a:t>
                </a:r>
                <a:r>
                  <a:rPr lang="en-US" sz="1200" b="1" dirty="0" err="1">
                    <a:latin typeface="Courier New" panose="02070309020205020404" pitchFamily="49" charset="0"/>
                  </a:rPr>
                  <a:t>std</a:t>
                </a:r>
                <a:r>
                  <a:rPr lang="en-US" sz="1200" b="1" dirty="0">
                    <a:latin typeface="Courier New" panose="02070309020205020404" pitchFamily="49" charset="0"/>
                  </a:rPr>
                  <a:t>::</a:t>
                </a:r>
                <a:r>
                  <a:rPr lang="en-US" sz="1200" b="1" dirty="0" err="1">
                    <a:latin typeface="Courier New" panose="02070309020205020404" pitchFamily="49" charset="0"/>
                  </a:rPr>
                  <a:t>endl</a:t>
                </a:r>
                <a:r>
                  <a:rPr lang="en-US" sz="1200" b="1" dirty="0">
                    <a:latin typeface="Courier New" panose="02070309020205020404" pitchFamily="49" charset="0"/>
                  </a:rPr>
                  <a:t>;</a:t>
                </a:r>
              </a:p>
              <a:p>
                <a:pPr eaLnBrk="1" hangingPunct="1"/>
                <a:endParaRPr lang="en-US" sz="1200" b="1" dirty="0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1276" name="Group 23"/>
            <p:cNvGrpSpPr>
              <a:grpSpLocks/>
            </p:cNvGrpSpPr>
            <p:nvPr/>
          </p:nvGrpSpPr>
          <p:grpSpPr bwMode="auto">
            <a:xfrm>
              <a:off x="0" y="2189"/>
              <a:ext cx="3072" cy="483"/>
              <a:chOff x="0" y="2189"/>
              <a:chExt cx="3072" cy="483"/>
            </a:xfrm>
          </p:grpSpPr>
          <p:sp>
            <p:nvSpPr>
              <p:cNvPr id="11352" name="Rectangle 24"/>
              <p:cNvSpPr>
                <a:spLocks noChangeArrowheads="1"/>
              </p:cNvSpPr>
              <p:nvPr/>
            </p:nvSpPr>
            <p:spPr bwMode="auto">
              <a:xfrm>
                <a:off x="0" y="2189"/>
                <a:ext cx="85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11353" name="Rectangle 25"/>
              <p:cNvSpPr>
                <a:spLocks noChangeArrowheads="1"/>
              </p:cNvSpPr>
              <p:nvPr/>
            </p:nvSpPr>
            <p:spPr bwMode="auto">
              <a:xfrm>
                <a:off x="0" y="2244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7	</a:t>
                </a:r>
                <a:endParaRPr lang="en-US" sz="1200" b="1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1277" name="Group 26"/>
            <p:cNvGrpSpPr>
              <a:grpSpLocks/>
            </p:cNvGrpSpPr>
            <p:nvPr/>
          </p:nvGrpSpPr>
          <p:grpSpPr bwMode="auto">
            <a:xfrm>
              <a:off x="0" y="2563"/>
              <a:ext cx="3072" cy="483"/>
              <a:chOff x="0" y="2563"/>
              <a:chExt cx="3072" cy="483"/>
            </a:xfrm>
          </p:grpSpPr>
          <p:sp>
            <p:nvSpPr>
              <p:cNvPr id="11350" name="Rectangle 27"/>
              <p:cNvSpPr>
                <a:spLocks noChangeArrowheads="1"/>
              </p:cNvSpPr>
              <p:nvPr/>
            </p:nvSpPr>
            <p:spPr bwMode="auto">
              <a:xfrm>
                <a:off x="0" y="2563"/>
                <a:ext cx="85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11351" name="Rectangle 28"/>
              <p:cNvSpPr>
                <a:spLocks noChangeArrowheads="1"/>
              </p:cNvSpPr>
              <p:nvPr/>
            </p:nvSpPr>
            <p:spPr bwMode="auto">
              <a:xfrm>
                <a:off x="0" y="2618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 dirty="0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8	</a:t>
                </a:r>
                <a:r>
                  <a:rPr lang="en-US" sz="1200" b="1" dirty="0">
                    <a:solidFill>
                      <a:srgbClr val="33CC33"/>
                    </a:solidFill>
                    <a:latin typeface="Courier New" panose="02070309020205020404" pitchFamily="49" charset="0"/>
                  </a:rPr>
                  <a:t>// Time abstract data type (ADT) definition</a:t>
                </a:r>
                <a:endParaRPr lang="en-US" sz="1200" b="1" dirty="0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 dirty="0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1278" name="Group 29"/>
            <p:cNvGrpSpPr>
              <a:grpSpLocks/>
            </p:cNvGrpSpPr>
            <p:nvPr/>
          </p:nvGrpSpPr>
          <p:grpSpPr bwMode="auto">
            <a:xfrm>
              <a:off x="0" y="2937"/>
              <a:ext cx="3072" cy="483"/>
              <a:chOff x="0" y="2937"/>
              <a:chExt cx="3072" cy="483"/>
            </a:xfrm>
          </p:grpSpPr>
          <p:sp>
            <p:nvSpPr>
              <p:cNvPr id="11348" name="Rectangle 30"/>
              <p:cNvSpPr>
                <a:spLocks noChangeArrowheads="1"/>
              </p:cNvSpPr>
              <p:nvPr/>
            </p:nvSpPr>
            <p:spPr bwMode="auto">
              <a:xfrm>
                <a:off x="0" y="2937"/>
                <a:ext cx="85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11349" name="Rectangle 31"/>
              <p:cNvSpPr>
                <a:spLocks noChangeArrowheads="1"/>
              </p:cNvSpPr>
              <p:nvPr/>
            </p:nvSpPr>
            <p:spPr bwMode="auto">
              <a:xfrm>
                <a:off x="0" y="2992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9	</a:t>
                </a:r>
                <a:r>
                  <a:rPr lang="en-US" sz="1200" b="1">
                    <a:solidFill>
                      <a:srgbClr val="275AFF"/>
                    </a:solidFill>
                    <a:latin typeface="Courier New" panose="02070309020205020404" pitchFamily="49" charset="0"/>
                  </a:rPr>
                  <a:t>class</a:t>
                </a:r>
                <a:r>
                  <a:rPr lang="en-US" sz="1200" b="1">
                    <a:latin typeface="Courier New" panose="02070309020205020404" pitchFamily="49" charset="0"/>
                  </a:rPr>
                  <a:t> Time {</a:t>
                </a: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1279" name="Group 32"/>
            <p:cNvGrpSpPr>
              <a:grpSpLocks/>
            </p:cNvGrpSpPr>
            <p:nvPr/>
          </p:nvGrpSpPr>
          <p:grpSpPr bwMode="auto">
            <a:xfrm>
              <a:off x="0" y="3311"/>
              <a:ext cx="3072" cy="483"/>
              <a:chOff x="0" y="3311"/>
              <a:chExt cx="3072" cy="483"/>
            </a:xfrm>
          </p:grpSpPr>
          <p:sp>
            <p:nvSpPr>
              <p:cNvPr id="11346" name="Rectangle 33"/>
              <p:cNvSpPr>
                <a:spLocks noChangeArrowheads="1"/>
              </p:cNvSpPr>
              <p:nvPr/>
            </p:nvSpPr>
            <p:spPr bwMode="auto">
              <a:xfrm>
                <a:off x="0" y="3311"/>
                <a:ext cx="85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11347" name="Rectangle 34"/>
              <p:cNvSpPr>
                <a:spLocks noChangeArrowheads="1"/>
              </p:cNvSpPr>
              <p:nvPr/>
            </p:nvSpPr>
            <p:spPr bwMode="auto">
              <a:xfrm>
                <a:off x="0" y="3366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10	</a:t>
                </a:r>
                <a:r>
                  <a:rPr lang="en-US" sz="1200" b="1">
                    <a:solidFill>
                      <a:srgbClr val="275AFF"/>
                    </a:solidFill>
                    <a:latin typeface="Courier New" panose="02070309020205020404" pitchFamily="49" charset="0"/>
                  </a:rPr>
                  <a:t>public:</a:t>
                </a:r>
                <a:endParaRPr lang="en-US" sz="1200" b="1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1280" name="Group 35"/>
            <p:cNvGrpSpPr>
              <a:grpSpLocks/>
            </p:cNvGrpSpPr>
            <p:nvPr/>
          </p:nvGrpSpPr>
          <p:grpSpPr bwMode="auto">
            <a:xfrm>
              <a:off x="0" y="3685"/>
              <a:ext cx="3072" cy="483"/>
              <a:chOff x="0" y="3685"/>
              <a:chExt cx="3072" cy="483"/>
            </a:xfrm>
          </p:grpSpPr>
          <p:sp>
            <p:nvSpPr>
              <p:cNvPr id="11344" name="Rectangle 36"/>
              <p:cNvSpPr>
                <a:spLocks noChangeArrowheads="1"/>
              </p:cNvSpPr>
              <p:nvPr/>
            </p:nvSpPr>
            <p:spPr bwMode="auto">
              <a:xfrm>
                <a:off x="0" y="3685"/>
                <a:ext cx="85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11345" name="Rectangle 37"/>
              <p:cNvSpPr>
                <a:spLocks noChangeArrowheads="1"/>
              </p:cNvSpPr>
              <p:nvPr/>
            </p:nvSpPr>
            <p:spPr bwMode="auto">
              <a:xfrm>
                <a:off x="0" y="3740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11	</a:t>
                </a:r>
                <a:r>
                  <a:rPr lang="en-US" sz="1200" b="1">
                    <a:latin typeface="Courier New" panose="02070309020205020404" pitchFamily="49" charset="0"/>
                  </a:rPr>
                  <a:t>   Time();                        </a:t>
                </a:r>
                <a:r>
                  <a:rPr lang="en-US" sz="1200" b="1">
                    <a:solidFill>
                      <a:srgbClr val="33CC33"/>
                    </a:solidFill>
                    <a:latin typeface="Courier New" panose="02070309020205020404" pitchFamily="49" charset="0"/>
                  </a:rPr>
                  <a:t>// constructor</a:t>
                </a:r>
                <a:endParaRPr lang="en-US" sz="1200" b="1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1281" name="Group 38"/>
            <p:cNvGrpSpPr>
              <a:grpSpLocks/>
            </p:cNvGrpSpPr>
            <p:nvPr/>
          </p:nvGrpSpPr>
          <p:grpSpPr bwMode="auto">
            <a:xfrm>
              <a:off x="0" y="4059"/>
              <a:ext cx="3072" cy="483"/>
              <a:chOff x="0" y="4059"/>
              <a:chExt cx="3072" cy="483"/>
            </a:xfrm>
          </p:grpSpPr>
          <p:sp>
            <p:nvSpPr>
              <p:cNvPr id="11342" name="Rectangle 39"/>
              <p:cNvSpPr>
                <a:spLocks noChangeArrowheads="1"/>
              </p:cNvSpPr>
              <p:nvPr/>
            </p:nvSpPr>
            <p:spPr bwMode="auto">
              <a:xfrm>
                <a:off x="0" y="4059"/>
                <a:ext cx="85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11343" name="Rectangle 40"/>
              <p:cNvSpPr>
                <a:spLocks noChangeArrowheads="1"/>
              </p:cNvSpPr>
              <p:nvPr/>
            </p:nvSpPr>
            <p:spPr bwMode="auto">
              <a:xfrm>
                <a:off x="0" y="4114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12	</a:t>
                </a:r>
                <a:r>
                  <a:rPr lang="en-US" sz="1200" b="1">
                    <a:latin typeface="Courier New" panose="02070309020205020404" pitchFamily="49" charset="0"/>
                  </a:rPr>
                  <a:t>   </a:t>
                </a:r>
                <a:r>
                  <a:rPr lang="en-US" sz="1200" b="1">
                    <a:solidFill>
                      <a:srgbClr val="275AFF"/>
                    </a:solidFill>
                    <a:latin typeface="Courier New" panose="02070309020205020404" pitchFamily="49" charset="0"/>
                  </a:rPr>
                  <a:t>void</a:t>
                </a:r>
                <a:r>
                  <a:rPr lang="en-US" sz="1200" b="1">
                    <a:latin typeface="Courier New" panose="02070309020205020404" pitchFamily="49" charset="0"/>
                  </a:rPr>
                  <a:t> setTime( int, int, int ); </a:t>
                </a:r>
                <a:r>
                  <a:rPr lang="en-US" sz="1200" b="1">
                    <a:solidFill>
                      <a:srgbClr val="33CC33"/>
                    </a:solidFill>
                    <a:latin typeface="Courier New" panose="02070309020205020404" pitchFamily="49" charset="0"/>
                  </a:rPr>
                  <a:t>// set hour, minute, second</a:t>
                </a:r>
                <a:endParaRPr lang="en-US" sz="1200" b="1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1282" name="Group 41"/>
            <p:cNvGrpSpPr>
              <a:grpSpLocks/>
            </p:cNvGrpSpPr>
            <p:nvPr/>
          </p:nvGrpSpPr>
          <p:grpSpPr bwMode="auto">
            <a:xfrm>
              <a:off x="0" y="4433"/>
              <a:ext cx="3072" cy="483"/>
              <a:chOff x="0" y="4433"/>
              <a:chExt cx="3072" cy="483"/>
            </a:xfrm>
          </p:grpSpPr>
          <p:sp>
            <p:nvSpPr>
              <p:cNvPr id="11340" name="Rectangle 42"/>
              <p:cNvSpPr>
                <a:spLocks noChangeArrowheads="1"/>
              </p:cNvSpPr>
              <p:nvPr/>
            </p:nvSpPr>
            <p:spPr bwMode="auto">
              <a:xfrm>
                <a:off x="0" y="4433"/>
                <a:ext cx="85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11341" name="Rectangle 43"/>
              <p:cNvSpPr>
                <a:spLocks noChangeArrowheads="1"/>
              </p:cNvSpPr>
              <p:nvPr/>
            </p:nvSpPr>
            <p:spPr bwMode="auto">
              <a:xfrm>
                <a:off x="0" y="4488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13	</a:t>
                </a:r>
                <a:r>
                  <a:rPr lang="en-US" sz="1200" b="1">
                    <a:latin typeface="Courier New" panose="02070309020205020404" pitchFamily="49" charset="0"/>
                  </a:rPr>
                  <a:t>   </a:t>
                </a:r>
                <a:r>
                  <a:rPr lang="en-US" sz="1200" b="1">
                    <a:solidFill>
                      <a:srgbClr val="275AFF"/>
                    </a:solidFill>
                    <a:latin typeface="Courier New" panose="02070309020205020404" pitchFamily="49" charset="0"/>
                  </a:rPr>
                  <a:t>void</a:t>
                </a:r>
                <a:r>
                  <a:rPr lang="en-US" sz="1200" b="1">
                    <a:latin typeface="Courier New" panose="02070309020205020404" pitchFamily="49" charset="0"/>
                  </a:rPr>
                  <a:t> printMilitary();          </a:t>
                </a:r>
                <a:r>
                  <a:rPr lang="en-US" sz="1200" b="1">
                    <a:solidFill>
                      <a:srgbClr val="33CC33"/>
                    </a:solidFill>
                    <a:latin typeface="Courier New" panose="02070309020205020404" pitchFamily="49" charset="0"/>
                  </a:rPr>
                  <a:t>// print military time format</a:t>
                </a:r>
                <a:endParaRPr lang="en-US" sz="1200" b="1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1283" name="Group 44"/>
            <p:cNvGrpSpPr>
              <a:grpSpLocks/>
            </p:cNvGrpSpPr>
            <p:nvPr/>
          </p:nvGrpSpPr>
          <p:grpSpPr bwMode="auto">
            <a:xfrm>
              <a:off x="0" y="4807"/>
              <a:ext cx="3072" cy="483"/>
              <a:chOff x="0" y="4807"/>
              <a:chExt cx="3072" cy="483"/>
            </a:xfrm>
          </p:grpSpPr>
          <p:sp>
            <p:nvSpPr>
              <p:cNvPr id="11338" name="Rectangle 45"/>
              <p:cNvSpPr>
                <a:spLocks noChangeArrowheads="1"/>
              </p:cNvSpPr>
              <p:nvPr/>
            </p:nvSpPr>
            <p:spPr bwMode="auto">
              <a:xfrm>
                <a:off x="0" y="4807"/>
                <a:ext cx="85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11339" name="Rectangle 46"/>
              <p:cNvSpPr>
                <a:spLocks noChangeArrowheads="1"/>
              </p:cNvSpPr>
              <p:nvPr/>
            </p:nvSpPr>
            <p:spPr bwMode="auto">
              <a:xfrm>
                <a:off x="0" y="4862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14	</a:t>
                </a:r>
                <a:r>
                  <a:rPr lang="en-US" sz="1200" b="1">
                    <a:latin typeface="Courier New" panose="02070309020205020404" pitchFamily="49" charset="0"/>
                  </a:rPr>
                  <a:t>   </a:t>
                </a:r>
                <a:r>
                  <a:rPr lang="en-US" sz="1200" b="1">
                    <a:solidFill>
                      <a:srgbClr val="275AFF"/>
                    </a:solidFill>
                    <a:latin typeface="Courier New" panose="02070309020205020404" pitchFamily="49" charset="0"/>
                  </a:rPr>
                  <a:t>void</a:t>
                </a:r>
                <a:r>
                  <a:rPr lang="en-US" sz="1200" b="1">
                    <a:latin typeface="Courier New" panose="02070309020205020404" pitchFamily="49" charset="0"/>
                  </a:rPr>
                  <a:t> printStandard();       </a:t>
                </a:r>
                <a:r>
                  <a:rPr lang="en-US" sz="1200" b="1">
                    <a:solidFill>
                      <a:srgbClr val="33CC33"/>
                    </a:solidFill>
                    <a:latin typeface="Courier New" panose="02070309020205020404" pitchFamily="49" charset="0"/>
                  </a:rPr>
                  <a:t>   // print standard time format</a:t>
                </a:r>
                <a:endParaRPr lang="en-US" sz="1200" b="1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1284" name="Group 47"/>
            <p:cNvGrpSpPr>
              <a:grpSpLocks/>
            </p:cNvGrpSpPr>
            <p:nvPr/>
          </p:nvGrpSpPr>
          <p:grpSpPr bwMode="auto">
            <a:xfrm>
              <a:off x="0" y="5181"/>
              <a:ext cx="3072" cy="483"/>
              <a:chOff x="0" y="5181"/>
              <a:chExt cx="3072" cy="483"/>
            </a:xfrm>
          </p:grpSpPr>
          <p:sp>
            <p:nvSpPr>
              <p:cNvPr id="11336" name="Rectangle 48"/>
              <p:cNvSpPr>
                <a:spLocks noChangeArrowheads="1"/>
              </p:cNvSpPr>
              <p:nvPr/>
            </p:nvSpPr>
            <p:spPr bwMode="auto">
              <a:xfrm>
                <a:off x="0" y="5181"/>
                <a:ext cx="85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11337" name="Rectangle 49"/>
              <p:cNvSpPr>
                <a:spLocks noChangeArrowheads="1"/>
              </p:cNvSpPr>
              <p:nvPr/>
            </p:nvSpPr>
            <p:spPr bwMode="auto">
              <a:xfrm>
                <a:off x="0" y="5236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15	</a:t>
                </a:r>
                <a:r>
                  <a:rPr lang="en-US" sz="1200" b="1">
                    <a:solidFill>
                      <a:srgbClr val="275AFF"/>
                    </a:solidFill>
                    <a:latin typeface="Courier New" panose="02070309020205020404" pitchFamily="49" charset="0"/>
                  </a:rPr>
                  <a:t>private:</a:t>
                </a:r>
                <a:endParaRPr lang="en-US" sz="1200" b="1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1285" name="Group 50"/>
            <p:cNvGrpSpPr>
              <a:grpSpLocks/>
            </p:cNvGrpSpPr>
            <p:nvPr/>
          </p:nvGrpSpPr>
          <p:grpSpPr bwMode="auto">
            <a:xfrm>
              <a:off x="0" y="5555"/>
              <a:ext cx="3072" cy="483"/>
              <a:chOff x="0" y="5555"/>
              <a:chExt cx="3072" cy="483"/>
            </a:xfrm>
          </p:grpSpPr>
          <p:sp>
            <p:nvSpPr>
              <p:cNvPr id="11334" name="Rectangle 51"/>
              <p:cNvSpPr>
                <a:spLocks noChangeArrowheads="1"/>
              </p:cNvSpPr>
              <p:nvPr/>
            </p:nvSpPr>
            <p:spPr bwMode="auto">
              <a:xfrm>
                <a:off x="0" y="5555"/>
                <a:ext cx="85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11335" name="Rectangle 52"/>
              <p:cNvSpPr>
                <a:spLocks noChangeArrowheads="1"/>
              </p:cNvSpPr>
              <p:nvPr/>
            </p:nvSpPr>
            <p:spPr bwMode="auto">
              <a:xfrm>
                <a:off x="0" y="5610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16	</a:t>
                </a:r>
                <a:r>
                  <a:rPr lang="en-US" sz="1200" b="1">
                    <a:latin typeface="Courier New" panose="02070309020205020404" pitchFamily="49" charset="0"/>
                  </a:rPr>
                  <a:t>   </a:t>
                </a:r>
                <a:r>
                  <a:rPr lang="en-US" sz="1200" b="1">
                    <a:solidFill>
                      <a:srgbClr val="275AFF"/>
                    </a:solidFill>
                    <a:latin typeface="Courier New" panose="02070309020205020404" pitchFamily="49" charset="0"/>
                  </a:rPr>
                  <a:t>int</a:t>
                </a:r>
                <a:r>
                  <a:rPr lang="en-US" sz="1200" b="1">
                    <a:latin typeface="Courier New" panose="02070309020205020404" pitchFamily="49" charset="0"/>
                  </a:rPr>
                  <a:t> hour;     </a:t>
                </a:r>
                <a:r>
                  <a:rPr lang="en-US" sz="1200" b="1">
                    <a:solidFill>
                      <a:srgbClr val="33CC33"/>
                    </a:solidFill>
                    <a:latin typeface="Courier New" panose="02070309020205020404" pitchFamily="49" charset="0"/>
                  </a:rPr>
                  <a:t>// 0 – 23</a:t>
                </a:r>
                <a:endParaRPr lang="en-US" sz="1200" b="1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1286" name="Group 53"/>
            <p:cNvGrpSpPr>
              <a:grpSpLocks/>
            </p:cNvGrpSpPr>
            <p:nvPr/>
          </p:nvGrpSpPr>
          <p:grpSpPr bwMode="auto">
            <a:xfrm>
              <a:off x="0" y="5929"/>
              <a:ext cx="3072" cy="483"/>
              <a:chOff x="0" y="5929"/>
              <a:chExt cx="3072" cy="483"/>
            </a:xfrm>
          </p:grpSpPr>
          <p:sp>
            <p:nvSpPr>
              <p:cNvPr id="11332" name="Rectangle 54"/>
              <p:cNvSpPr>
                <a:spLocks noChangeArrowheads="1"/>
              </p:cNvSpPr>
              <p:nvPr/>
            </p:nvSpPr>
            <p:spPr bwMode="auto">
              <a:xfrm>
                <a:off x="0" y="5929"/>
                <a:ext cx="85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11333" name="Rectangle 55"/>
              <p:cNvSpPr>
                <a:spLocks noChangeArrowheads="1"/>
              </p:cNvSpPr>
              <p:nvPr/>
            </p:nvSpPr>
            <p:spPr bwMode="auto">
              <a:xfrm>
                <a:off x="0" y="5984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17	</a:t>
                </a:r>
                <a:r>
                  <a:rPr lang="en-US" sz="1200" b="1">
                    <a:latin typeface="Courier New" panose="02070309020205020404" pitchFamily="49" charset="0"/>
                  </a:rPr>
                  <a:t>   </a:t>
                </a:r>
                <a:r>
                  <a:rPr lang="en-US" sz="1200" b="1">
                    <a:solidFill>
                      <a:srgbClr val="275AFF"/>
                    </a:solidFill>
                    <a:latin typeface="Courier New" panose="02070309020205020404" pitchFamily="49" charset="0"/>
                  </a:rPr>
                  <a:t>int</a:t>
                </a:r>
                <a:r>
                  <a:rPr lang="en-US" sz="1200" b="1">
                    <a:latin typeface="Courier New" panose="02070309020205020404" pitchFamily="49" charset="0"/>
                  </a:rPr>
                  <a:t> minute;  </a:t>
                </a:r>
                <a:r>
                  <a:rPr lang="en-US" sz="1200" b="1">
                    <a:solidFill>
                      <a:srgbClr val="33CC33"/>
                    </a:solidFill>
                    <a:latin typeface="Courier New" panose="02070309020205020404" pitchFamily="49" charset="0"/>
                  </a:rPr>
                  <a:t> // 0 – 59</a:t>
                </a:r>
                <a:endParaRPr lang="en-US" sz="1200" b="1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1287" name="Group 56"/>
            <p:cNvGrpSpPr>
              <a:grpSpLocks/>
            </p:cNvGrpSpPr>
            <p:nvPr/>
          </p:nvGrpSpPr>
          <p:grpSpPr bwMode="auto">
            <a:xfrm>
              <a:off x="0" y="6303"/>
              <a:ext cx="3072" cy="483"/>
              <a:chOff x="0" y="6303"/>
              <a:chExt cx="3072" cy="483"/>
            </a:xfrm>
          </p:grpSpPr>
          <p:sp>
            <p:nvSpPr>
              <p:cNvPr id="11330" name="Rectangle 57"/>
              <p:cNvSpPr>
                <a:spLocks noChangeArrowheads="1"/>
              </p:cNvSpPr>
              <p:nvPr/>
            </p:nvSpPr>
            <p:spPr bwMode="auto">
              <a:xfrm>
                <a:off x="0" y="6303"/>
                <a:ext cx="85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11331" name="Rectangle 58"/>
              <p:cNvSpPr>
                <a:spLocks noChangeArrowheads="1"/>
              </p:cNvSpPr>
              <p:nvPr/>
            </p:nvSpPr>
            <p:spPr bwMode="auto">
              <a:xfrm>
                <a:off x="0" y="6358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18	</a:t>
                </a:r>
                <a:r>
                  <a:rPr lang="en-US" sz="1200" b="1">
                    <a:latin typeface="Courier New" panose="02070309020205020404" pitchFamily="49" charset="0"/>
                  </a:rPr>
                  <a:t>   </a:t>
                </a:r>
                <a:r>
                  <a:rPr lang="en-US" sz="1200" b="1">
                    <a:solidFill>
                      <a:srgbClr val="275AFF"/>
                    </a:solidFill>
                    <a:latin typeface="Courier New" panose="02070309020205020404" pitchFamily="49" charset="0"/>
                  </a:rPr>
                  <a:t>int</a:t>
                </a:r>
                <a:r>
                  <a:rPr lang="en-US" sz="1200" b="1">
                    <a:latin typeface="Courier New" panose="02070309020205020404" pitchFamily="49" charset="0"/>
                  </a:rPr>
                  <a:t> second; </a:t>
                </a:r>
                <a:r>
                  <a:rPr lang="en-US" sz="1200" b="1">
                    <a:solidFill>
                      <a:srgbClr val="33CC33"/>
                    </a:solidFill>
                    <a:latin typeface="Courier New" panose="02070309020205020404" pitchFamily="49" charset="0"/>
                  </a:rPr>
                  <a:t>  // 0 – 59</a:t>
                </a:r>
                <a:endParaRPr lang="en-US" sz="1200" b="1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1288" name="Group 59"/>
            <p:cNvGrpSpPr>
              <a:grpSpLocks/>
            </p:cNvGrpSpPr>
            <p:nvPr/>
          </p:nvGrpSpPr>
          <p:grpSpPr bwMode="auto">
            <a:xfrm>
              <a:off x="0" y="6677"/>
              <a:ext cx="3072" cy="483"/>
              <a:chOff x="0" y="6677"/>
              <a:chExt cx="3072" cy="483"/>
            </a:xfrm>
          </p:grpSpPr>
          <p:sp>
            <p:nvSpPr>
              <p:cNvPr id="11328" name="Rectangle 60"/>
              <p:cNvSpPr>
                <a:spLocks noChangeArrowheads="1"/>
              </p:cNvSpPr>
              <p:nvPr/>
            </p:nvSpPr>
            <p:spPr bwMode="auto">
              <a:xfrm>
                <a:off x="0" y="6677"/>
                <a:ext cx="85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11329" name="Rectangle 61"/>
              <p:cNvSpPr>
                <a:spLocks noChangeArrowheads="1"/>
              </p:cNvSpPr>
              <p:nvPr/>
            </p:nvSpPr>
            <p:spPr bwMode="auto">
              <a:xfrm>
                <a:off x="0" y="6732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19	</a:t>
                </a:r>
                <a:r>
                  <a:rPr lang="en-US" sz="1200" b="1">
                    <a:latin typeface="Courier New" panose="02070309020205020404" pitchFamily="49" charset="0"/>
                  </a:rPr>
                  <a:t>};</a:t>
                </a: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1289" name="Group 62"/>
            <p:cNvGrpSpPr>
              <a:grpSpLocks/>
            </p:cNvGrpSpPr>
            <p:nvPr/>
          </p:nvGrpSpPr>
          <p:grpSpPr bwMode="auto">
            <a:xfrm>
              <a:off x="0" y="7051"/>
              <a:ext cx="3072" cy="483"/>
              <a:chOff x="0" y="7051"/>
              <a:chExt cx="3072" cy="483"/>
            </a:xfrm>
          </p:grpSpPr>
          <p:sp>
            <p:nvSpPr>
              <p:cNvPr id="11326" name="Rectangle 63"/>
              <p:cNvSpPr>
                <a:spLocks noChangeArrowheads="1"/>
              </p:cNvSpPr>
              <p:nvPr/>
            </p:nvSpPr>
            <p:spPr bwMode="auto">
              <a:xfrm>
                <a:off x="0" y="7051"/>
                <a:ext cx="85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11327" name="Rectangle 64"/>
              <p:cNvSpPr>
                <a:spLocks noChangeArrowheads="1"/>
              </p:cNvSpPr>
              <p:nvPr/>
            </p:nvSpPr>
            <p:spPr bwMode="auto">
              <a:xfrm>
                <a:off x="0" y="7106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20	</a:t>
                </a:r>
                <a:endParaRPr lang="en-US" sz="1200" b="1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1290" name="Group 65"/>
            <p:cNvGrpSpPr>
              <a:grpSpLocks/>
            </p:cNvGrpSpPr>
            <p:nvPr/>
          </p:nvGrpSpPr>
          <p:grpSpPr bwMode="auto">
            <a:xfrm>
              <a:off x="0" y="7425"/>
              <a:ext cx="3072" cy="483"/>
              <a:chOff x="0" y="7425"/>
              <a:chExt cx="3072" cy="483"/>
            </a:xfrm>
          </p:grpSpPr>
          <p:sp>
            <p:nvSpPr>
              <p:cNvPr id="11324" name="Rectangle 66"/>
              <p:cNvSpPr>
                <a:spLocks noChangeArrowheads="1"/>
              </p:cNvSpPr>
              <p:nvPr/>
            </p:nvSpPr>
            <p:spPr bwMode="auto">
              <a:xfrm>
                <a:off x="0" y="7425"/>
                <a:ext cx="85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11325" name="Rectangle 67"/>
              <p:cNvSpPr>
                <a:spLocks noChangeArrowheads="1"/>
              </p:cNvSpPr>
              <p:nvPr/>
            </p:nvSpPr>
            <p:spPr bwMode="auto">
              <a:xfrm>
                <a:off x="0" y="7480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 dirty="0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21	</a:t>
                </a:r>
                <a:r>
                  <a:rPr lang="en-US" sz="1200" b="1" dirty="0">
                    <a:solidFill>
                      <a:srgbClr val="33CC33"/>
                    </a:solidFill>
                    <a:latin typeface="Courier New" panose="02070309020205020404" pitchFamily="49" charset="0"/>
                  </a:rPr>
                  <a:t>// Time constructor initializes each data member to zero.</a:t>
                </a:r>
                <a:endParaRPr lang="en-US" sz="1200" b="1" dirty="0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 dirty="0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1291" name="Group 68"/>
            <p:cNvGrpSpPr>
              <a:grpSpLocks/>
            </p:cNvGrpSpPr>
            <p:nvPr/>
          </p:nvGrpSpPr>
          <p:grpSpPr bwMode="auto">
            <a:xfrm>
              <a:off x="0" y="7799"/>
              <a:ext cx="3072" cy="483"/>
              <a:chOff x="0" y="7799"/>
              <a:chExt cx="3072" cy="483"/>
            </a:xfrm>
          </p:grpSpPr>
          <p:sp>
            <p:nvSpPr>
              <p:cNvPr id="11322" name="Rectangle 69"/>
              <p:cNvSpPr>
                <a:spLocks noChangeArrowheads="1"/>
              </p:cNvSpPr>
              <p:nvPr/>
            </p:nvSpPr>
            <p:spPr bwMode="auto">
              <a:xfrm>
                <a:off x="0" y="7799"/>
                <a:ext cx="85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11323" name="Rectangle 70"/>
              <p:cNvSpPr>
                <a:spLocks noChangeArrowheads="1"/>
              </p:cNvSpPr>
              <p:nvPr/>
            </p:nvSpPr>
            <p:spPr bwMode="auto">
              <a:xfrm>
                <a:off x="0" y="7854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22	</a:t>
                </a:r>
                <a:r>
                  <a:rPr lang="en-US" sz="1200" b="1">
                    <a:solidFill>
                      <a:srgbClr val="33CC33"/>
                    </a:solidFill>
                    <a:latin typeface="Courier New" panose="02070309020205020404" pitchFamily="49" charset="0"/>
                  </a:rPr>
                  <a:t>// Ensures all Time objects start in a consistent state.</a:t>
                </a:r>
                <a:endParaRPr lang="en-US" sz="1200" b="1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1292" name="Group 71"/>
            <p:cNvGrpSpPr>
              <a:grpSpLocks/>
            </p:cNvGrpSpPr>
            <p:nvPr/>
          </p:nvGrpSpPr>
          <p:grpSpPr bwMode="auto">
            <a:xfrm>
              <a:off x="0" y="8173"/>
              <a:ext cx="3072" cy="483"/>
              <a:chOff x="0" y="8173"/>
              <a:chExt cx="3072" cy="483"/>
            </a:xfrm>
          </p:grpSpPr>
          <p:sp>
            <p:nvSpPr>
              <p:cNvPr id="11320" name="Rectangle 72"/>
              <p:cNvSpPr>
                <a:spLocks noChangeArrowheads="1"/>
              </p:cNvSpPr>
              <p:nvPr/>
            </p:nvSpPr>
            <p:spPr bwMode="auto">
              <a:xfrm>
                <a:off x="0" y="8173"/>
                <a:ext cx="85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11321" name="Rectangle 73"/>
              <p:cNvSpPr>
                <a:spLocks noChangeArrowheads="1"/>
              </p:cNvSpPr>
              <p:nvPr/>
            </p:nvSpPr>
            <p:spPr bwMode="auto">
              <a:xfrm>
                <a:off x="0" y="8228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 dirty="0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23	</a:t>
                </a:r>
                <a:r>
                  <a:rPr lang="en-US" sz="1200" b="1" dirty="0">
                    <a:latin typeface="Courier New" panose="02070309020205020404" pitchFamily="49" charset="0"/>
                  </a:rPr>
                  <a:t>Time::Time() { hour = minute = second = 0; }</a:t>
                </a:r>
              </a:p>
              <a:p>
                <a:pPr eaLnBrk="1" hangingPunct="1"/>
                <a:endParaRPr lang="en-US" sz="1200" b="1" dirty="0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1293" name="Group 74"/>
            <p:cNvGrpSpPr>
              <a:grpSpLocks/>
            </p:cNvGrpSpPr>
            <p:nvPr/>
          </p:nvGrpSpPr>
          <p:grpSpPr bwMode="auto">
            <a:xfrm>
              <a:off x="0" y="8547"/>
              <a:ext cx="3072" cy="483"/>
              <a:chOff x="0" y="8547"/>
              <a:chExt cx="3072" cy="483"/>
            </a:xfrm>
          </p:grpSpPr>
          <p:sp>
            <p:nvSpPr>
              <p:cNvPr id="11318" name="Rectangle 75"/>
              <p:cNvSpPr>
                <a:spLocks noChangeArrowheads="1"/>
              </p:cNvSpPr>
              <p:nvPr/>
            </p:nvSpPr>
            <p:spPr bwMode="auto">
              <a:xfrm>
                <a:off x="0" y="8547"/>
                <a:ext cx="85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11319" name="Rectangle 76"/>
              <p:cNvSpPr>
                <a:spLocks noChangeArrowheads="1"/>
              </p:cNvSpPr>
              <p:nvPr/>
            </p:nvSpPr>
            <p:spPr bwMode="auto">
              <a:xfrm>
                <a:off x="0" y="8602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24	</a:t>
                </a:r>
                <a:endParaRPr lang="en-US" sz="1200" b="1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1294" name="Group 77"/>
            <p:cNvGrpSpPr>
              <a:grpSpLocks/>
            </p:cNvGrpSpPr>
            <p:nvPr/>
          </p:nvGrpSpPr>
          <p:grpSpPr bwMode="auto">
            <a:xfrm>
              <a:off x="0" y="8921"/>
              <a:ext cx="3072" cy="483"/>
              <a:chOff x="0" y="8921"/>
              <a:chExt cx="3072" cy="483"/>
            </a:xfrm>
          </p:grpSpPr>
          <p:sp>
            <p:nvSpPr>
              <p:cNvPr id="11316" name="Rectangle 78"/>
              <p:cNvSpPr>
                <a:spLocks noChangeArrowheads="1"/>
              </p:cNvSpPr>
              <p:nvPr/>
            </p:nvSpPr>
            <p:spPr bwMode="auto">
              <a:xfrm>
                <a:off x="0" y="8921"/>
                <a:ext cx="85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11317" name="Rectangle 79"/>
              <p:cNvSpPr>
                <a:spLocks noChangeArrowheads="1"/>
              </p:cNvSpPr>
              <p:nvPr/>
            </p:nvSpPr>
            <p:spPr bwMode="auto">
              <a:xfrm>
                <a:off x="0" y="8976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 dirty="0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25	</a:t>
                </a:r>
                <a:r>
                  <a:rPr lang="en-US" sz="1200" b="1" dirty="0">
                    <a:solidFill>
                      <a:srgbClr val="33CC33"/>
                    </a:solidFill>
                    <a:latin typeface="Courier New" panose="02070309020205020404" pitchFamily="49" charset="0"/>
                  </a:rPr>
                  <a:t>// Set a new Time value using military time. Perform validity </a:t>
                </a:r>
                <a:endParaRPr lang="en-US" sz="1200" b="1" dirty="0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 dirty="0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1295" name="Group 80"/>
            <p:cNvGrpSpPr>
              <a:grpSpLocks/>
            </p:cNvGrpSpPr>
            <p:nvPr/>
          </p:nvGrpSpPr>
          <p:grpSpPr bwMode="auto">
            <a:xfrm>
              <a:off x="0" y="9295"/>
              <a:ext cx="3072" cy="483"/>
              <a:chOff x="0" y="9295"/>
              <a:chExt cx="3072" cy="483"/>
            </a:xfrm>
          </p:grpSpPr>
          <p:sp>
            <p:nvSpPr>
              <p:cNvPr id="11314" name="Rectangle 81"/>
              <p:cNvSpPr>
                <a:spLocks noChangeArrowheads="1"/>
              </p:cNvSpPr>
              <p:nvPr/>
            </p:nvSpPr>
            <p:spPr bwMode="auto">
              <a:xfrm>
                <a:off x="0" y="9295"/>
                <a:ext cx="85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11315" name="Rectangle 82"/>
              <p:cNvSpPr>
                <a:spLocks noChangeArrowheads="1"/>
              </p:cNvSpPr>
              <p:nvPr/>
            </p:nvSpPr>
            <p:spPr bwMode="auto">
              <a:xfrm>
                <a:off x="0" y="9350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26	</a:t>
                </a:r>
                <a:r>
                  <a:rPr lang="en-US" sz="1200" b="1">
                    <a:solidFill>
                      <a:srgbClr val="33CC33"/>
                    </a:solidFill>
                    <a:latin typeface="Courier New" panose="02070309020205020404" pitchFamily="49" charset="0"/>
                  </a:rPr>
                  <a:t>// checks on the data values. Set invalid values to zero.</a:t>
                </a:r>
                <a:endParaRPr lang="en-US" sz="1200" b="1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1296" name="Group 83"/>
            <p:cNvGrpSpPr>
              <a:grpSpLocks/>
            </p:cNvGrpSpPr>
            <p:nvPr/>
          </p:nvGrpSpPr>
          <p:grpSpPr bwMode="auto">
            <a:xfrm>
              <a:off x="0" y="9669"/>
              <a:ext cx="3072" cy="483"/>
              <a:chOff x="0" y="9669"/>
              <a:chExt cx="3072" cy="483"/>
            </a:xfrm>
          </p:grpSpPr>
          <p:sp>
            <p:nvSpPr>
              <p:cNvPr id="11312" name="Rectangle 84"/>
              <p:cNvSpPr>
                <a:spLocks noChangeArrowheads="1"/>
              </p:cNvSpPr>
              <p:nvPr/>
            </p:nvSpPr>
            <p:spPr bwMode="auto">
              <a:xfrm>
                <a:off x="0" y="9669"/>
                <a:ext cx="85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11313" name="Rectangle 85"/>
              <p:cNvSpPr>
                <a:spLocks noChangeArrowheads="1"/>
              </p:cNvSpPr>
              <p:nvPr/>
            </p:nvSpPr>
            <p:spPr bwMode="auto">
              <a:xfrm>
                <a:off x="0" y="9724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 dirty="0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27	</a:t>
                </a:r>
                <a:r>
                  <a:rPr lang="en-US" sz="1200" b="1" dirty="0">
                    <a:solidFill>
                      <a:srgbClr val="275AFF"/>
                    </a:solidFill>
                    <a:latin typeface="Courier New" panose="02070309020205020404" pitchFamily="49" charset="0"/>
                  </a:rPr>
                  <a:t>void</a:t>
                </a:r>
                <a:r>
                  <a:rPr lang="en-US" sz="1200" b="1" dirty="0">
                    <a:latin typeface="Courier New" panose="02070309020205020404" pitchFamily="49" charset="0"/>
                  </a:rPr>
                  <a:t> Time::</a:t>
                </a:r>
                <a:r>
                  <a:rPr lang="en-US" sz="1200" b="1" dirty="0" err="1">
                    <a:latin typeface="Courier New" panose="02070309020205020404" pitchFamily="49" charset="0"/>
                  </a:rPr>
                  <a:t>setTime</a:t>
                </a:r>
                <a:r>
                  <a:rPr lang="en-US" sz="1200" b="1" dirty="0">
                    <a:latin typeface="Courier New" panose="02070309020205020404" pitchFamily="49" charset="0"/>
                  </a:rPr>
                  <a:t>( </a:t>
                </a:r>
                <a:r>
                  <a:rPr lang="en-US" sz="1200" b="1" dirty="0" err="1">
                    <a:solidFill>
                      <a:srgbClr val="275AFF"/>
                    </a:solidFill>
                    <a:latin typeface="Courier New" panose="02070309020205020404" pitchFamily="49" charset="0"/>
                  </a:rPr>
                  <a:t>int</a:t>
                </a:r>
                <a:r>
                  <a:rPr lang="en-US" sz="1200" b="1" dirty="0">
                    <a:latin typeface="Courier New" panose="02070309020205020404" pitchFamily="49" charset="0"/>
                  </a:rPr>
                  <a:t> h, </a:t>
                </a:r>
                <a:r>
                  <a:rPr lang="en-US" sz="1200" b="1" dirty="0" err="1">
                    <a:solidFill>
                      <a:srgbClr val="275AFF"/>
                    </a:solidFill>
                    <a:latin typeface="Courier New" panose="02070309020205020404" pitchFamily="49" charset="0"/>
                  </a:rPr>
                  <a:t>int</a:t>
                </a:r>
                <a:r>
                  <a:rPr lang="en-US" sz="1200" b="1" dirty="0">
                    <a:latin typeface="Courier New" panose="02070309020205020404" pitchFamily="49" charset="0"/>
                  </a:rPr>
                  <a:t> m, </a:t>
                </a:r>
                <a:r>
                  <a:rPr lang="en-US" sz="1200" b="1" dirty="0" err="1">
                    <a:solidFill>
                      <a:srgbClr val="275AFF"/>
                    </a:solidFill>
                    <a:latin typeface="Courier New" panose="02070309020205020404" pitchFamily="49" charset="0"/>
                  </a:rPr>
                  <a:t>int</a:t>
                </a:r>
                <a:r>
                  <a:rPr lang="en-US" sz="1200" b="1" dirty="0">
                    <a:latin typeface="Courier New" panose="02070309020205020404" pitchFamily="49" charset="0"/>
                  </a:rPr>
                  <a:t> s )</a:t>
                </a:r>
              </a:p>
              <a:p>
                <a:pPr eaLnBrk="1" hangingPunct="1"/>
                <a:endParaRPr lang="en-US" sz="1200" b="1" dirty="0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1297" name="Group 86"/>
            <p:cNvGrpSpPr>
              <a:grpSpLocks/>
            </p:cNvGrpSpPr>
            <p:nvPr/>
          </p:nvGrpSpPr>
          <p:grpSpPr bwMode="auto">
            <a:xfrm>
              <a:off x="0" y="10043"/>
              <a:ext cx="3072" cy="483"/>
              <a:chOff x="0" y="10043"/>
              <a:chExt cx="3072" cy="483"/>
            </a:xfrm>
          </p:grpSpPr>
          <p:sp>
            <p:nvSpPr>
              <p:cNvPr id="11310" name="Rectangle 87"/>
              <p:cNvSpPr>
                <a:spLocks noChangeArrowheads="1"/>
              </p:cNvSpPr>
              <p:nvPr/>
            </p:nvSpPr>
            <p:spPr bwMode="auto">
              <a:xfrm>
                <a:off x="0" y="10043"/>
                <a:ext cx="85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11311" name="Rectangle 88"/>
              <p:cNvSpPr>
                <a:spLocks noChangeArrowheads="1"/>
              </p:cNvSpPr>
              <p:nvPr/>
            </p:nvSpPr>
            <p:spPr bwMode="auto">
              <a:xfrm>
                <a:off x="0" y="10098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28	</a:t>
                </a:r>
                <a:r>
                  <a:rPr lang="en-US" sz="1200" b="1">
                    <a:latin typeface="Courier New" panose="02070309020205020404" pitchFamily="49" charset="0"/>
                  </a:rPr>
                  <a:t>{</a:t>
                </a: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1298" name="Group 89"/>
            <p:cNvGrpSpPr>
              <a:grpSpLocks/>
            </p:cNvGrpSpPr>
            <p:nvPr/>
          </p:nvGrpSpPr>
          <p:grpSpPr bwMode="auto">
            <a:xfrm>
              <a:off x="0" y="10417"/>
              <a:ext cx="3072" cy="483"/>
              <a:chOff x="0" y="10417"/>
              <a:chExt cx="3072" cy="483"/>
            </a:xfrm>
          </p:grpSpPr>
          <p:sp>
            <p:nvSpPr>
              <p:cNvPr id="11308" name="Rectangle 90"/>
              <p:cNvSpPr>
                <a:spLocks noChangeArrowheads="1"/>
              </p:cNvSpPr>
              <p:nvPr/>
            </p:nvSpPr>
            <p:spPr bwMode="auto">
              <a:xfrm>
                <a:off x="0" y="10417"/>
                <a:ext cx="85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11309" name="Rectangle 91"/>
              <p:cNvSpPr>
                <a:spLocks noChangeArrowheads="1"/>
              </p:cNvSpPr>
              <p:nvPr/>
            </p:nvSpPr>
            <p:spPr bwMode="auto">
              <a:xfrm>
                <a:off x="0" y="10472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29	</a:t>
                </a:r>
                <a:r>
                  <a:rPr lang="en-US" sz="1200" b="1">
                    <a:latin typeface="Courier New" panose="02070309020205020404" pitchFamily="49" charset="0"/>
                  </a:rPr>
                  <a:t>   hour = ( h &gt;= 0 &amp;&amp; h &lt; 24 ) ? h : 0;</a:t>
                </a: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1299" name="Group 92"/>
            <p:cNvGrpSpPr>
              <a:grpSpLocks/>
            </p:cNvGrpSpPr>
            <p:nvPr/>
          </p:nvGrpSpPr>
          <p:grpSpPr bwMode="auto">
            <a:xfrm>
              <a:off x="0" y="10791"/>
              <a:ext cx="3072" cy="483"/>
              <a:chOff x="0" y="10791"/>
              <a:chExt cx="3072" cy="483"/>
            </a:xfrm>
          </p:grpSpPr>
          <p:sp>
            <p:nvSpPr>
              <p:cNvPr id="11306" name="Rectangle 93"/>
              <p:cNvSpPr>
                <a:spLocks noChangeArrowheads="1"/>
              </p:cNvSpPr>
              <p:nvPr/>
            </p:nvSpPr>
            <p:spPr bwMode="auto">
              <a:xfrm>
                <a:off x="0" y="10791"/>
                <a:ext cx="85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11307" name="Rectangle 94"/>
              <p:cNvSpPr>
                <a:spLocks noChangeArrowheads="1"/>
              </p:cNvSpPr>
              <p:nvPr/>
            </p:nvSpPr>
            <p:spPr bwMode="auto">
              <a:xfrm>
                <a:off x="0" y="10846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30	</a:t>
                </a:r>
                <a:r>
                  <a:rPr lang="en-US" sz="1200" b="1">
                    <a:latin typeface="Courier New" panose="02070309020205020404" pitchFamily="49" charset="0"/>
                  </a:rPr>
                  <a:t>   minute = ( m &gt;= 0 &amp;&amp; m &lt; 60 ) ? m : 0;</a:t>
                </a: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1300" name="Group 95"/>
            <p:cNvGrpSpPr>
              <a:grpSpLocks/>
            </p:cNvGrpSpPr>
            <p:nvPr/>
          </p:nvGrpSpPr>
          <p:grpSpPr bwMode="auto">
            <a:xfrm>
              <a:off x="0" y="11165"/>
              <a:ext cx="3072" cy="483"/>
              <a:chOff x="0" y="11165"/>
              <a:chExt cx="3072" cy="483"/>
            </a:xfrm>
          </p:grpSpPr>
          <p:sp>
            <p:nvSpPr>
              <p:cNvPr id="11304" name="Rectangle 96"/>
              <p:cNvSpPr>
                <a:spLocks noChangeArrowheads="1"/>
              </p:cNvSpPr>
              <p:nvPr/>
            </p:nvSpPr>
            <p:spPr bwMode="auto">
              <a:xfrm>
                <a:off x="0" y="11165"/>
                <a:ext cx="85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11305" name="Rectangle 97"/>
              <p:cNvSpPr>
                <a:spLocks noChangeArrowheads="1"/>
              </p:cNvSpPr>
              <p:nvPr/>
            </p:nvSpPr>
            <p:spPr bwMode="auto">
              <a:xfrm>
                <a:off x="0" y="11220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31	</a:t>
                </a:r>
                <a:r>
                  <a:rPr lang="en-US" sz="1200" b="1">
                    <a:latin typeface="Courier New" panose="02070309020205020404" pitchFamily="49" charset="0"/>
                  </a:rPr>
                  <a:t>   second = ( s &gt;= 0 &amp;&amp; s &lt; 60 ) ? s : 0;</a:t>
                </a: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1301" name="Group 98"/>
            <p:cNvGrpSpPr>
              <a:grpSpLocks/>
            </p:cNvGrpSpPr>
            <p:nvPr/>
          </p:nvGrpSpPr>
          <p:grpSpPr bwMode="auto">
            <a:xfrm>
              <a:off x="0" y="11539"/>
              <a:ext cx="3072" cy="483"/>
              <a:chOff x="0" y="11539"/>
              <a:chExt cx="3072" cy="483"/>
            </a:xfrm>
          </p:grpSpPr>
          <p:sp>
            <p:nvSpPr>
              <p:cNvPr id="11302" name="Rectangle 99"/>
              <p:cNvSpPr>
                <a:spLocks noChangeArrowheads="1"/>
              </p:cNvSpPr>
              <p:nvPr/>
            </p:nvSpPr>
            <p:spPr bwMode="auto">
              <a:xfrm>
                <a:off x="0" y="11539"/>
                <a:ext cx="85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11303" name="Rectangle 100"/>
              <p:cNvSpPr>
                <a:spLocks noChangeArrowheads="1"/>
              </p:cNvSpPr>
              <p:nvPr/>
            </p:nvSpPr>
            <p:spPr bwMode="auto">
              <a:xfrm>
                <a:off x="0" y="11594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32	</a:t>
                </a:r>
                <a:r>
                  <a:rPr lang="en-US" sz="1200" b="1">
                    <a:latin typeface="Courier New" panose="02070309020205020404" pitchFamily="49" charset="0"/>
                  </a:rPr>
                  <a:t>}</a:t>
                </a: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</p:grpSp>
      <p:grpSp>
        <p:nvGrpSpPr>
          <p:cNvPr id="30725" name="Group 103"/>
          <p:cNvGrpSpPr>
            <a:grpSpLocks/>
          </p:cNvGrpSpPr>
          <p:nvPr/>
        </p:nvGrpSpPr>
        <p:grpSpPr bwMode="auto">
          <a:xfrm>
            <a:off x="4419180" y="4057594"/>
            <a:ext cx="4343819" cy="790575"/>
            <a:chOff x="2486" y="384"/>
            <a:chExt cx="2458" cy="498"/>
          </a:xfrm>
        </p:grpSpPr>
        <p:sp>
          <p:nvSpPr>
            <p:cNvPr id="11268" name="Text Box 101"/>
            <p:cNvSpPr txBox="1">
              <a:spLocks noChangeArrowheads="1"/>
            </p:cNvSpPr>
            <p:nvPr/>
          </p:nvSpPr>
          <p:spPr bwMode="auto">
            <a:xfrm>
              <a:off x="3600" y="384"/>
              <a:ext cx="1344" cy="372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600" b="1"/>
                <a:t>Note the </a:t>
              </a:r>
              <a:r>
                <a:rPr lang="en-US" sz="1600" b="1">
                  <a:latin typeface="Courier New" panose="02070309020205020404" pitchFamily="49" charset="0"/>
                </a:rPr>
                <a:t>::</a:t>
              </a:r>
              <a:r>
                <a:rPr lang="en-US" sz="1600" b="1"/>
                <a:t> preceding the function names.</a:t>
              </a:r>
            </a:p>
          </p:txBody>
        </p:sp>
        <p:sp>
          <p:nvSpPr>
            <p:cNvPr id="11269" name="Line 102"/>
            <p:cNvSpPr>
              <a:spLocks noChangeShapeType="1"/>
            </p:cNvSpPr>
            <p:nvPr/>
          </p:nvSpPr>
          <p:spPr bwMode="auto">
            <a:xfrm flipH="1">
              <a:off x="2486" y="624"/>
              <a:ext cx="1114" cy="25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48309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0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90" name="Group 85"/>
          <p:cNvGrpSpPr>
            <a:grpSpLocks/>
          </p:cNvGrpSpPr>
          <p:nvPr/>
        </p:nvGrpSpPr>
        <p:grpSpPr bwMode="auto">
          <a:xfrm>
            <a:off x="457200" y="304800"/>
            <a:ext cx="6705600" cy="4024313"/>
            <a:chOff x="0" y="-34"/>
            <a:chExt cx="3072" cy="6426"/>
          </a:xfrm>
        </p:grpSpPr>
        <p:grpSp>
          <p:nvGrpSpPr>
            <p:cNvPr id="12291" name="Group 32"/>
            <p:cNvGrpSpPr>
              <a:grpSpLocks/>
            </p:cNvGrpSpPr>
            <p:nvPr/>
          </p:nvGrpSpPr>
          <p:grpSpPr bwMode="auto">
            <a:xfrm>
              <a:off x="0" y="-34"/>
              <a:ext cx="3072" cy="442"/>
              <a:chOff x="0" y="-34"/>
              <a:chExt cx="3072" cy="442"/>
            </a:xfrm>
          </p:grpSpPr>
          <p:sp>
            <p:nvSpPr>
              <p:cNvPr id="12340" name="Rectangle 31"/>
              <p:cNvSpPr>
                <a:spLocks noChangeArrowheads="1"/>
              </p:cNvSpPr>
              <p:nvPr/>
            </p:nvSpPr>
            <p:spPr bwMode="auto">
              <a:xfrm>
                <a:off x="0" y="-34"/>
                <a:ext cx="85" cy="442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12341" name="Rectangle 4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33	</a:t>
                </a:r>
                <a:endParaRPr lang="en-US" sz="1200" b="1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2292" name="Group 34"/>
            <p:cNvGrpSpPr>
              <a:grpSpLocks/>
            </p:cNvGrpSpPr>
            <p:nvPr/>
          </p:nvGrpSpPr>
          <p:grpSpPr bwMode="auto">
            <a:xfrm>
              <a:off x="0" y="340"/>
              <a:ext cx="3072" cy="442"/>
              <a:chOff x="0" y="340"/>
              <a:chExt cx="3072" cy="442"/>
            </a:xfrm>
          </p:grpSpPr>
          <p:sp>
            <p:nvSpPr>
              <p:cNvPr id="12338" name="Rectangle 33"/>
              <p:cNvSpPr>
                <a:spLocks noChangeArrowheads="1"/>
              </p:cNvSpPr>
              <p:nvPr/>
            </p:nvSpPr>
            <p:spPr bwMode="auto">
              <a:xfrm>
                <a:off x="0" y="340"/>
                <a:ext cx="85" cy="442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12339" name="Rectangle 5"/>
              <p:cNvSpPr>
                <a:spLocks noChangeArrowheads="1"/>
              </p:cNvSpPr>
              <p:nvPr/>
            </p:nvSpPr>
            <p:spPr bwMode="auto">
              <a:xfrm>
                <a:off x="0" y="374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34	</a:t>
                </a:r>
                <a:r>
                  <a:rPr lang="en-US" sz="1200" b="1">
                    <a:solidFill>
                      <a:srgbClr val="33CC33"/>
                    </a:solidFill>
                    <a:latin typeface="Courier New" panose="02070309020205020404" pitchFamily="49" charset="0"/>
                  </a:rPr>
                  <a:t>// Print Time in military format</a:t>
                </a:r>
                <a:endParaRPr lang="en-US" sz="1200" b="1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2293" name="Group 36"/>
            <p:cNvGrpSpPr>
              <a:grpSpLocks/>
            </p:cNvGrpSpPr>
            <p:nvPr/>
          </p:nvGrpSpPr>
          <p:grpSpPr bwMode="auto">
            <a:xfrm>
              <a:off x="0" y="714"/>
              <a:ext cx="3072" cy="442"/>
              <a:chOff x="0" y="714"/>
              <a:chExt cx="3072" cy="442"/>
            </a:xfrm>
          </p:grpSpPr>
          <p:sp>
            <p:nvSpPr>
              <p:cNvPr id="12336" name="Rectangle 35"/>
              <p:cNvSpPr>
                <a:spLocks noChangeArrowheads="1"/>
              </p:cNvSpPr>
              <p:nvPr/>
            </p:nvSpPr>
            <p:spPr bwMode="auto">
              <a:xfrm>
                <a:off x="0" y="714"/>
                <a:ext cx="85" cy="442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12337" name="Rectangle 6"/>
              <p:cNvSpPr>
                <a:spLocks noChangeArrowheads="1"/>
              </p:cNvSpPr>
              <p:nvPr/>
            </p:nvSpPr>
            <p:spPr bwMode="auto">
              <a:xfrm>
                <a:off x="0" y="748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35	</a:t>
                </a:r>
                <a:r>
                  <a:rPr lang="en-US" sz="1200" b="1">
                    <a:solidFill>
                      <a:srgbClr val="275AFF"/>
                    </a:solidFill>
                    <a:latin typeface="Courier New" panose="02070309020205020404" pitchFamily="49" charset="0"/>
                  </a:rPr>
                  <a:t>void</a:t>
                </a:r>
                <a:r>
                  <a:rPr lang="en-US" sz="1200" b="1">
                    <a:latin typeface="Courier New" panose="02070309020205020404" pitchFamily="49" charset="0"/>
                  </a:rPr>
                  <a:t> Time::printMilitary()</a:t>
                </a: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2294" name="Group 38"/>
            <p:cNvGrpSpPr>
              <a:grpSpLocks/>
            </p:cNvGrpSpPr>
            <p:nvPr/>
          </p:nvGrpSpPr>
          <p:grpSpPr bwMode="auto">
            <a:xfrm>
              <a:off x="0" y="1088"/>
              <a:ext cx="3072" cy="442"/>
              <a:chOff x="0" y="1088"/>
              <a:chExt cx="3072" cy="442"/>
            </a:xfrm>
          </p:grpSpPr>
          <p:sp>
            <p:nvSpPr>
              <p:cNvPr id="12334" name="Rectangle 37"/>
              <p:cNvSpPr>
                <a:spLocks noChangeArrowheads="1"/>
              </p:cNvSpPr>
              <p:nvPr/>
            </p:nvSpPr>
            <p:spPr bwMode="auto">
              <a:xfrm>
                <a:off x="0" y="1088"/>
                <a:ext cx="85" cy="442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12335" name="Rectangle 7"/>
              <p:cNvSpPr>
                <a:spLocks noChangeArrowheads="1"/>
              </p:cNvSpPr>
              <p:nvPr/>
            </p:nvSpPr>
            <p:spPr bwMode="auto">
              <a:xfrm>
                <a:off x="0" y="1122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36	</a:t>
                </a:r>
                <a:r>
                  <a:rPr lang="en-US" sz="1200" b="1">
                    <a:latin typeface="Courier New" panose="02070309020205020404" pitchFamily="49" charset="0"/>
                  </a:rPr>
                  <a:t>{</a:t>
                </a: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2295" name="Group 40"/>
            <p:cNvGrpSpPr>
              <a:grpSpLocks/>
            </p:cNvGrpSpPr>
            <p:nvPr/>
          </p:nvGrpSpPr>
          <p:grpSpPr bwMode="auto">
            <a:xfrm>
              <a:off x="0" y="1462"/>
              <a:ext cx="3072" cy="442"/>
              <a:chOff x="0" y="1462"/>
              <a:chExt cx="3072" cy="442"/>
            </a:xfrm>
          </p:grpSpPr>
          <p:sp>
            <p:nvSpPr>
              <p:cNvPr id="12332" name="Rectangle 39"/>
              <p:cNvSpPr>
                <a:spLocks noChangeArrowheads="1"/>
              </p:cNvSpPr>
              <p:nvPr/>
            </p:nvSpPr>
            <p:spPr bwMode="auto">
              <a:xfrm>
                <a:off x="0" y="1462"/>
                <a:ext cx="85" cy="442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12333" name="Rectangle 8"/>
              <p:cNvSpPr>
                <a:spLocks noChangeArrowheads="1"/>
              </p:cNvSpPr>
              <p:nvPr/>
            </p:nvSpPr>
            <p:spPr bwMode="auto">
              <a:xfrm>
                <a:off x="0" y="1496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37	</a:t>
                </a:r>
                <a:r>
                  <a:rPr lang="en-US" sz="1200" b="1">
                    <a:latin typeface="Courier New" panose="02070309020205020404" pitchFamily="49" charset="0"/>
                  </a:rPr>
                  <a:t>   cout &lt;&lt; ( hour &lt; 10 ? "0" : "" ) &lt;&lt; hour &lt;&lt; ":"</a:t>
                </a: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2296" name="Group 42"/>
            <p:cNvGrpSpPr>
              <a:grpSpLocks/>
            </p:cNvGrpSpPr>
            <p:nvPr/>
          </p:nvGrpSpPr>
          <p:grpSpPr bwMode="auto">
            <a:xfrm>
              <a:off x="0" y="1836"/>
              <a:ext cx="3072" cy="442"/>
              <a:chOff x="0" y="1836"/>
              <a:chExt cx="3072" cy="442"/>
            </a:xfrm>
          </p:grpSpPr>
          <p:sp>
            <p:nvSpPr>
              <p:cNvPr id="12330" name="Rectangle 41"/>
              <p:cNvSpPr>
                <a:spLocks noChangeArrowheads="1"/>
              </p:cNvSpPr>
              <p:nvPr/>
            </p:nvSpPr>
            <p:spPr bwMode="auto">
              <a:xfrm>
                <a:off x="0" y="1836"/>
                <a:ext cx="85" cy="442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12331" name="Rectangle 9"/>
              <p:cNvSpPr>
                <a:spLocks noChangeArrowheads="1"/>
              </p:cNvSpPr>
              <p:nvPr/>
            </p:nvSpPr>
            <p:spPr bwMode="auto">
              <a:xfrm>
                <a:off x="0" y="1870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38	</a:t>
                </a:r>
                <a:r>
                  <a:rPr lang="en-US" sz="1200" b="1">
                    <a:latin typeface="Courier New" panose="02070309020205020404" pitchFamily="49" charset="0"/>
                  </a:rPr>
                  <a:t>        &lt;&lt; ( minute &lt; 10 ? "0" : "" ) &lt;&lt; minute;</a:t>
                </a: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2297" name="Group 44"/>
            <p:cNvGrpSpPr>
              <a:grpSpLocks/>
            </p:cNvGrpSpPr>
            <p:nvPr/>
          </p:nvGrpSpPr>
          <p:grpSpPr bwMode="auto">
            <a:xfrm>
              <a:off x="0" y="2210"/>
              <a:ext cx="3072" cy="442"/>
              <a:chOff x="0" y="2210"/>
              <a:chExt cx="3072" cy="442"/>
            </a:xfrm>
          </p:grpSpPr>
          <p:sp>
            <p:nvSpPr>
              <p:cNvPr id="12328" name="Rectangle 43"/>
              <p:cNvSpPr>
                <a:spLocks noChangeArrowheads="1"/>
              </p:cNvSpPr>
              <p:nvPr/>
            </p:nvSpPr>
            <p:spPr bwMode="auto">
              <a:xfrm>
                <a:off x="0" y="2210"/>
                <a:ext cx="85" cy="442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12329" name="Rectangle 10"/>
              <p:cNvSpPr>
                <a:spLocks noChangeArrowheads="1"/>
              </p:cNvSpPr>
              <p:nvPr/>
            </p:nvSpPr>
            <p:spPr bwMode="auto">
              <a:xfrm>
                <a:off x="0" y="2244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39	</a:t>
                </a:r>
                <a:r>
                  <a:rPr lang="en-US" sz="1200" b="1">
                    <a:latin typeface="Courier New" panose="02070309020205020404" pitchFamily="49" charset="0"/>
                  </a:rPr>
                  <a:t>}</a:t>
                </a: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2298" name="Group 46"/>
            <p:cNvGrpSpPr>
              <a:grpSpLocks/>
            </p:cNvGrpSpPr>
            <p:nvPr/>
          </p:nvGrpSpPr>
          <p:grpSpPr bwMode="auto">
            <a:xfrm>
              <a:off x="0" y="2584"/>
              <a:ext cx="3072" cy="442"/>
              <a:chOff x="0" y="2584"/>
              <a:chExt cx="3072" cy="442"/>
            </a:xfrm>
          </p:grpSpPr>
          <p:sp>
            <p:nvSpPr>
              <p:cNvPr id="12326" name="Rectangle 45"/>
              <p:cNvSpPr>
                <a:spLocks noChangeArrowheads="1"/>
              </p:cNvSpPr>
              <p:nvPr/>
            </p:nvSpPr>
            <p:spPr bwMode="auto">
              <a:xfrm>
                <a:off x="0" y="2584"/>
                <a:ext cx="85" cy="442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12327" name="Rectangle 11"/>
              <p:cNvSpPr>
                <a:spLocks noChangeArrowheads="1"/>
              </p:cNvSpPr>
              <p:nvPr/>
            </p:nvSpPr>
            <p:spPr bwMode="auto">
              <a:xfrm>
                <a:off x="0" y="2618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40	</a:t>
                </a:r>
                <a:endParaRPr lang="en-US" sz="1200" b="1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2299" name="Group 48"/>
            <p:cNvGrpSpPr>
              <a:grpSpLocks/>
            </p:cNvGrpSpPr>
            <p:nvPr/>
          </p:nvGrpSpPr>
          <p:grpSpPr bwMode="auto">
            <a:xfrm>
              <a:off x="0" y="2958"/>
              <a:ext cx="3072" cy="442"/>
              <a:chOff x="0" y="2958"/>
              <a:chExt cx="3072" cy="442"/>
            </a:xfrm>
          </p:grpSpPr>
          <p:sp>
            <p:nvSpPr>
              <p:cNvPr id="12324" name="Rectangle 47"/>
              <p:cNvSpPr>
                <a:spLocks noChangeArrowheads="1"/>
              </p:cNvSpPr>
              <p:nvPr/>
            </p:nvSpPr>
            <p:spPr bwMode="auto">
              <a:xfrm>
                <a:off x="0" y="2958"/>
                <a:ext cx="85" cy="442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12325" name="Rectangle 12"/>
              <p:cNvSpPr>
                <a:spLocks noChangeArrowheads="1"/>
              </p:cNvSpPr>
              <p:nvPr/>
            </p:nvSpPr>
            <p:spPr bwMode="auto">
              <a:xfrm>
                <a:off x="0" y="2992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41	</a:t>
                </a:r>
                <a:r>
                  <a:rPr lang="en-US" sz="1200" b="1">
                    <a:solidFill>
                      <a:srgbClr val="33CC33"/>
                    </a:solidFill>
                    <a:latin typeface="Courier New" panose="02070309020205020404" pitchFamily="49" charset="0"/>
                  </a:rPr>
                  <a:t>// Print Time in standard format</a:t>
                </a:r>
                <a:endParaRPr lang="en-US" sz="1200" b="1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2300" name="Group 50"/>
            <p:cNvGrpSpPr>
              <a:grpSpLocks/>
            </p:cNvGrpSpPr>
            <p:nvPr/>
          </p:nvGrpSpPr>
          <p:grpSpPr bwMode="auto">
            <a:xfrm>
              <a:off x="0" y="3332"/>
              <a:ext cx="3072" cy="442"/>
              <a:chOff x="0" y="3332"/>
              <a:chExt cx="3072" cy="442"/>
            </a:xfrm>
          </p:grpSpPr>
          <p:sp>
            <p:nvSpPr>
              <p:cNvPr id="12322" name="Rectangle 49"/>
              <p:cNvSpPr>
                <a:spLocks noChangeArrowheads="1"/>
              </p:cNvSpPr>
              <p:nvPr/>
            </p:nvSpPr>
            <p:spPr bwMode="auto">
              <a:xfrm>
                <a:off x="0" y="3332"/>
                <a:ext cx="85" cy="442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12323" name="Rectangle 13"/>
              <p:cNvSpPr>
                <a:spLocks noChangeArrowheads="1"/>
              </p:cNvSpPr>
              <p:nvPr/>
            </p:nvSpPr>
            <p:spPr bwMode="auto">
              <a:xfrm>
                <a:off x="0" y="3366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42	</a:t>
                </a:r>
                <a:r>
                  <a:rPr lang="en-US" sz="1200" b="1">
                    <a:solidFill>
                      <a:srgbClr val="275AFF"/>
                    </a:solidFill>
                    <a:latin typeface="Courier New" panose="02070309020205020404" pitchFamily="49" charset="0"/>
                  </a:rPr>
                  <a:t>void</a:t>
                </a:r>
                <a:r>
                  <a:rPr lang="en-US" sz="1200" b="1">
                    <a:latin typeface="Courier New" panose="02070309020205020404" pitchFamily="49" charset="0"/>
                  </a:rPr>
                  <a:t> Time::printStandard()</a:t>
                </a: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2301" name="Group 52"/>
            <p:cNvGrpSpPr>
              <a:grpSpLocks/>
            </p:cNvGrpSpPr>
            <p:nvPr/>
          </p:nvGrpSpPr>
          <p:grpSpPr bwMode="auto">
            <a:xfrm>
              <a:off x="0" y="3706"/>
              <a:ext cx="3072" cy="442"/>
              <a:chOff x="0" y="3706"/>
              <a:chExt cx="3072" cy="442"/>
            </a:xfrm>
          </p:grpSpPr>
          <p:sp>
            <p:nvSpPr>
              <p:cNvPr id="12320" name="Rectangle 51"/>
              <p:cNvSpPr>
                <a:spLocks noChangeArrowheads="1"/>
              </p:cNvSpPr>
              <p:nvPr/>
            </p:nvSpPr>
            <p:spPr bwMode="auto">
              <a:xfrm>
                <a:off x="0" y="3706"/>
                <a:ext cx="85" cy="442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12321" name="Rectangle 14"/>
              <p:cNvSpPr>
                <a:spLocks noChangeArrowheads="1"/>
              </p:cNvSpPr>
              <p:nvPr/>
            </p:nvSpPr>
            <p:spPr bwMode="auto">
              <a:xfrm>
                <a:off x="0" y="3740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43	</a:t>
                </a:r>
                <a:r>
                  <a:rPr lang="en-US" sz="1200" b="1">
                    <a:latin typeface="Courier New" panose="02070309020205020404" pitchFamily="49" charset="0"/>
                  </a:rPr>
                  <a:t>{</a:t>
                </a: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2302" name="Group 54"/>
            <p:cNvGrpSpPr>
              <a:grpSpLocks/>
            </p:cNvGrpSpPr>
            <p:nvPr/>
          </p:nvGrpSpPr>
          <p:grpSpPr bwMode="auto">
            <a:xfrm>
              <a:off x="0" y="4080"/>
              <a:ext cx="3072" cy="442"/>
              <a:chOff x="0" y="4080"/>
              <a:chExt cx="3072" cy="442"/>
            </a:xfrm>
          </p:grpSpPr>
          <p:sp>
            <p:nvSpPr>
              <p:cNvPr id="12318" name="Rectangle 53"/>
              <p:cNvSpPr>
                <a:spLocks noChangeArrowheads="1"/>
              </p:cNvSpPr>
              <p:nvPr/>
            </p:nvSpPr>
            <p:spPr bwMode="auto">
              <a:xfrm>
                <a:off x="0" y="4080"/>
                <a:ext cx="85" cy="442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12319" name="Rectangle 15"/>
              <p:cNvSpPr>
                <a:spLocks noChangeArrowheads="1"/>
              </p:cNvSpPr>
              <p:nvPr/>
            </p:nvSpPr>
            <p:spPr bwMode="auto">
              <a:xfrm>
                <a:off x="0" y="4114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44	</a:t>
                </a:r>
                <a:r>
                  <a:rPr lang="en-US" sz="1200" b="1">
                    <a:latin typeface="Courier New" panose="02070309020205020404" pitchFamily="49" charset="0"/>
                  </a:rPr>
                  <a:t>   cout &lt;&lt; ( ( hour == 0 || hour == 12 ) ? 12 : hour % 12 )</a:t>
                </a: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2303" name="Group 56"/>
            <p:cNvGrpSpPr>
              <a:grpSpLocks/>
            </p:cNvGrpSpPr>
            <p:nvPr/>
          </p:nvGrpSpPr>
          <p:grpSpPr bwMode="auto">
            <a:xfrm>
              <a:off x="0" y="4454"/>
              <a:ext cx="3072" cy="442"/>
              <a:chOff x="0" y="4454"/>
              <a:chExt cx="3072" cy="442"/>
            </a:xfrm>
          </p:grpSpPr>
          <p:sp>
            <p:nvSpPr>
              <p:cNvPr id="12316" name="Rectangle 55"/>
              <p:cNvSpPr>
                <a:spLocks noChangeArrowheads="1"/>
              </p:cNvSpPr>
              <p:nvPr/>
            </p:nvSpPr>
            <p:spPr bwMode="auto">
              <a:xfrm>
                <a:off x="0" y="4454"/>
                <a:ext cx="85" cy="442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12317" name="Rectangle 16"/>
              <p:cNvSpPr>
                <a:spLocks noChangeArrowheads="1"/>
              </p:cNvSpPr>
              <p:nvPr/>
            </p:nvSpPr>
            <p:spPr bwMode="auto">
              <a:xfrm>
                <a:off x="0" y="4488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45	</a:t>
                </a:r>
                <a:r>
                  <a:rPr lang="en-US" sz="1200" b="1">
                    <a:latin typeface="Courier New" panose="02070309020205020404" pitchFamily="49" charset="0"/>
                  </a:rPr>
                  <a:t>        &lt;&lt; ":" &lt;&lt; ( minute &lt; 10 ? "0" : "" ) &lt;&lt; minute</a:t>
                </a: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2304" name="Group 58"/>
            <p:cNvGrpSpPr>
              <a:grpSpLocks/>
            </p:cNvGrpSpPr>
            <p:nvPr/>
          </p:nvGrpSpPr>
          <p:grpSpPr bwMode="auto">
            <a:xfrm>
              <a:off x="0" y="4828"/>
              <a:ext cx="3072" cy="442"/>
              <a:chOff x="0" y="4828"/>
              <a:chExt cx="3072" cy="442"/>
            </a:xfrm>
          </p:grpSpPr>
          <p:sp>
            <p:nvSpPr>
              <p:cNvPr id="12314" name="Rectangle 57"/>
              <p:cNvSpPr>
                <a:spLocks noChangeArrowheads="1"/>
              </p:cNvSpPr>
              <p:nvPr/>
            </p:nvSpPr>
            <p:spPr bwMode="auto">
              <a:xfrm>
                <a:off x="0" y="4828"/>
                <a:ext cx="85" cy="442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12315" name="Rectangle 17"/>
              <p:cNvSpPr>
                <a:spLocks noChangeArrowheads="1"/>
              </p:cNvSpPr>
              <p:nvPr/>
            </p:nvSpPr>
            <p:spPr bwMode="auto">
              <a:xfrm>
                <a:off x="0" y="4862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46	</a:t>
                </a:r>
                <a:r>
                  <a:rPr lang="en-US" sz="1200" b="1">
                    <a:latin typeface="Courier New" panose="02070309020205020404" pitchFamily="49" charset="0"/>
                  </a:rPr>
                  <a:t>        &lt;&lt; ":" &lt;&lt; ( second &lt; 10 ? "0" : "" ) &lt;&lt; second</a:t>
                </a: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2305" name="Group 60"/>
            <p:cNvGrpSpPr>
              <a:grpSpLocks/>
            </p:cNvGrpSpPr>
            <p:nvPr/>
          </p:nvGrpSpPr>
          <p:grpSpPr bwMode="auto">
            <a:xfrm>
              <a:off x="0" y="5202"/>
              <a:ext cx="3072" cy="442"/>
              <a:chOff x="0" y="5202"/>
              <a:chExt cx="3072" cy="442"/>
            </a:xfrm>
          </p:grpSpPr>
          <p:sp>
            <p:nvSpPr>
              <p:cNvPr id="12312" name="Rectangle 59"/>
              <p:cNvSpPr>
                <a:spLocks noChangeArrowheads="1"/>
              </p:cNvSpPr>
              <p:nvPr/>
            </p:nvSpPr>
            <p:spPr bwMode="auto">
              <a:xfrm>
                <a:off x="0" y="5202"/>
                <a:ext cx="85" cy="442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12313" name="Rectangle 18"/>
              <p:cNvSpPr>
                <a:spLocks noChangeArrowheads="1"/>
              </p:cNvSpPr>
              <p:nvPr/>
            </p:nvSpPr>
            <p:spPr bwMode="auto">
              <a:xfrm>
                <a:off x="0" y="5236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47	</a:t>
                </a:r>
                <a:r>
                  <a:rPr lang="en-US" sz="1200" b="1">
                    <a:latin typeface="Courier New" panose="02070309020205020404" pitchFamily="49" charset="0"/>
                  </a:rPr>
                  <a:t>        &lt;&lt; ( hour &lt; 12 ? " AM" : " PM" );</a:t>
                </a: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2306" name="Group 62"/>
            <p:cNvGrpSpPr>
              <a:grpSpLocks/>
            </p:cNvGrpSpPr>
            <p:nvPr/>
          </p:nvGrpSpPr>
          <p:grpSpPr bwMode="auto">
            <a:xfrm>
              <a:off x="0" y="5576"/>
              <a:ext cx="3072" cy="442"/>
              <a:chOff x="0" y="5576"/>
              <a:chExt cx="3072" cy="442"/>
            </a:xfrm>
          </p:grpSpPr>
          <p:sp>
            <p:nvSpPr>
              <p:cNvPr id="12310" name="Rectangle 61"/>
              <p:cNvSpPr>
                <a:spLocks noChangeArrowheads="1"/>
              </p:cNvSpPr>
              <p:nvPr/>
            </p:nvSpPr>
            <p:spPr bwMode="auto">
              <a:xfrm>
                <a:off x="0" y="5576"/>
                <a:ext cx="85" cy="442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12311" name="Rectangle 19"/>
              <p:cNvSpPr>
                <a:spLocks noChangeArrowheads="1"/>
              </p:cNvSpPr>
              <p:nvPr/>
            </p:nvSpPr>
            <p:spPr bwMode="auto">
              <a:xfrm>
                <a:off x="0" y="5610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48	</a:t>
                </a:r>
                <a:r>
                  <a:rPr lang="en-US" sz="1200" b="1">
                    <a:latin typeface="Courier New" panose="02070309020205020404" pitchFamily="49" charset="0"/>
                  </a:rPr>
                  <a:t>}</a:t>
                </a: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2307" name="Group 64"/>
            <p:cNvGrpSpPr>
              <a:grpSpLocks/>
            </p:cNvGrpSpPr>
            <p:nvPr/>
          </p:nvGrpSpPr>
          <p:grpSpPr bwMode="auto">
            <a:xfrm>
              <a:off x="0" y="5950"/>
              <a:ext cx="3072" cy="442"/>
              <a:chOff x="0" y="5950"/>
              <a:chExt cx="3072" cy="442"/>
            </a:xfrm>
          </p:grpSpPr>
          <p:sp>
            <p:nvSpPr>
              <p:cNvPr id="12308" name="Rectangle 63"/>
              <p:cNvSpPr>
                <a:spLocks noChangeArrowheads="1"/>
              </p:cNvSpPr>
              <p:nvPr/>
            </p:nvSpPr>
            <p:spPr bwMode="auto">
              <a:xfrm>
                <a:off x="0" y="5950"/>
                <a:ext cx="85" cy="442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12309" name="Rectangle 20"/>
              <p:cNvSpPr>
                <a:spLocks noChangeArrowheads="1"/>
              </p:cNvSpPr>
              <p:nvPr/>
            </p:nvSpPr>
            <p:spPr bwMode="auto">
              <a:xfrm>
                <a:off x="0" y="5984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49	</a:t>
                </a:r>
                <a:endParaRPr lang="en-US" sz="1200" b="1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99575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r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44881"/>
          </a:xfrm>
        </p:spPr>
        <p:txBody>
          <a:bodyPr>
            <a:noAutofit/>
          </a:bodyPr>
          <a:lstStyle/>
          <a:p>
            <a:r>
              <a:rPr lang="fr-FR" sz="4000" b="1" dirty="0" err="1">
                <a:solidFill>
                  <a:srgbClr val="B80000"/>
                </a:solidFill>
              </a:rPr>
              <a:t>Private</a:t>
            </a:r>
            <a:r>
              <a:rPr lang="fr-FR" sz="4000" b="1" dirty="0">
                <a:solidFill>
                  <a:srgbClr val="B80000"/>
                </a:solidFill>
              </a:rPr>
              <a:t> </a:t>
            </a:r>
            <a:r>
              <a:rPr lang="fr-FR" sz="4000" b="1" dirty="0" err="1">
                <a:solidFill>
                  <a:srgbClr val="B80000"/>
                </a:solidFill>
              </a:rPr>
              <a:t>Member</a:t>
            </a:r>
            <a:r>
              <a:rPr lang="fr-FR" sz="4000" b="1" dirty="0">
                <a:solidFill>
                  <a:srgbClr val="B80000"/>
                </a:solidFill>
              </a:rPr>
              <a:t> </a:t>
            </a:r>
            <a:r>
              <a:rPr lang="fr-FR" sz="4000" b="1" dirty="0" err="1">
                <a:solidFill>
                  <a:srgbClr val="B80000"/>
                </a:solidFill>
              </a:rPr>
              <a:t>Functions</a:t>
            </a:r>
            <a:endParaRPr lang="fr-FR" sz="4000" b="1" dirty="0">
              <a:solidFill>
                <a:srgbClr val="B80000"/>
              </a:solidFill>
            </a:endParaRPr>
          </a:p>
        </p:txBody>
      </p:sp>
      <p:sp>
        <p:nvSpPr>
          <p:cNvPr id="9219" name="Espace réservé du contenu 2"/>
          <p:cNvSpPr>
            <a:spLocks noGrp="1"/>
          </p:cNvSpPr>
          <p:nvPr>
            <p:ph idx="1"/>
          </p:nvPr>
        </p:nvSpPr>
        <p:spPr>
          <a:xfrm>
            <a:off x="76200" y="1143000"/>
            <a:ext cx="8915400" cy="5638800"/>
          </a:xfrm>
        </p:spPr>
        <p:txBody>
          <a:bodyPr/>
          <a:lstStyle/>
          <a:p>
            <a:r>
              <a:rPr lang="en-US" b="1" dirty="0">
                <a:solidFill>
                  <a:srgbClr val="B80000"/>
                </a:solidFill>
                <a:latin typeface="+mj-lt"/>
              </a:rPr>
              <a:t>Private Member Functions:</a:t>
            </a:r>
            <a:endParaRPr lang="en-US" b="1" dirty="0">
              <a:latin typeface="+mj-lt"/>
            </a:endParaRPr>
          </a:p>
          <a:p>
            <a:pPr lvl="1" algn="just"/>
            <a:r>
              <a:rPr lang="en-US" dirty="0">
                <a:latin typeface="+mj-lt"/>
              </a:rPr>
              <a:t>Only </a:t>
            </a:r>
            <a:r>
              <a:rPr lang="en-US" b="1" dirty="0">
                <a:solidFill>
                  <a:srgbClr val="2C14DE"/>
                </a:solidFill>
                <a:latin typeface="+mj-lt"/>
              </a:rPr>
              <a:t>accessible</a:t>
            </a:r>
            <a:r>
              <a:rPr lang="en-US" dirty="0">
                <a:solidFill>
                  <a:srgbClr val="2C14DE"/>
                </a:solidFill>
                <a:latin typeface="+mj-lt"/>
              </a:rPr>
              <a:t> </a:t>
            </a:r>
            <a:r>
              <a:rPr lang="en-US" dirty="0">
                <a:latin typeface="+mj-lt"/>
              </a:rPr>
              <a:t>(callable) from </a:t>
            </a:r>
            <a:r>
              <a:rPr lang="en-US" b="1" dirty="0">
                <a:solidFill>
                  <a:srgbClr val="2C14DE"/>
                </a:solidFill>
                <a:latin typeface="+mj-lt"/>
              </a:rPr>
              <a:t>member functions</a:t>
            </a:r>
            <a:r>
              <a:rPr lang="en-US" b="1" dirty="0">
                <a:latin typeface="+mj-lt"/>
              </a:rPr>
              <a:t> </a:t>
            </a:r>
            <a:r>
              <a:rPr lang="en-US" dirty="0">
                <a:latin typeface="+mj-lt"/>
              </a:rPr>
              <a:t>of the </a:t>
            </a:r>
            <a:r>
              <a:rPr lang="en-US" b="1" dirty="0">
                <a:solidFill>
                  <a:srgbClr val="2C14DE"/>
                </a:solidFill>
                <a:latin typeface="+mj-lt"/>
              </a:rPr>
              <a:t>class</a:t>
            </a:r>
          </a:p>
          <a:p>
            <a:pPr lvl="1" algn="just"/>
            <a:endParaRPr lang="en-US" b="1" dirty="0">
              <a:latin typeface="+mj-lt"/>
            </a:endParaRPr>
          </a:p>
          <a:p>
            <a:pPr lvl="1" algn="just"/>
            <a:r>
              <a:rPr lang="en-US" b="1" dirty="0">
                <a:solidFill>
                  <a:srgbClr val="C00000"/>
                </a:solidFill>
                <a:latin typeface="+mj-lt"/>
              </a:rPr>
              <a:t>No direct access possible </a:t>
            </a:r>
            <a:r>
              <a:rPr lang="en-US" dirty="0">
                <a:latin typeface="+mj-lt"/>
              </a:rPr>
              <a:t>(with </a:t>
            </a:r>
            <a:r>
              <a:rPr lang="en-US" b="1" u="sng" dirty="0">
                <a:latin typeface="+mj-lt"/>
              </a:rPr>
              <a:t>object instance of the class</a:t>
            </a:r>
            <a:r>
              <a:rPr lang="en-US" dirty="0">
                <a:latin typeface="+mj-lt"/>
              </a:rPr>
              <a:t>)</a:t>
            </a:r>
          </a:p>
          <a:p>
            <a:pPr lvl="1" algn="just"/>
            <a:endParaRPr lang="en-US" dirty="0">
              <a:latin typeface="+mj-lt"/>
            </a:endParaRPr>
          </a:p>
          <a:p>
            <a:pPr lvl="1" algn="just"/>
            <a:r>
              <a:rPr lang="en-US" b="1" dirty="0">
                <a:latin typeface="+mj-lt"/>
              </a:rPr>
              <a:t>Can be: </a:t>
            </a:r>
            <a:r>
              <a:rPr lang="en-US" b="1" dirty="0">
                <a:solidFill>
                  <a:srgbClr val="008000"/>
                </a:solidFill>
                <a:latin typeface="+mj-lt"/>
              </a:rPr>
              <a:t>inline </a:t>
            </a:r>
            <a:r>
              <a:rPr lang="en-US" b="1" dirty="0">
                <a:latin typeface="+mj-lt"/>
              </a:rPr>
              <a:t>/ </a:t>
            </a:r>
            <a:r>
              <a:rPr lang="en-US" b="1" dirty="0">
                <a:solidFill>
                  <a:srgbClr val="008000"/>
                </a:solidFill>
                <a:latin typeface="+mj-lt"/>
              </a:rPr>
              <a:t>out-of-line</a:t>
            </a:r>
            <a:endParaRPr lang="en-US" dirty="0">
              <a:latin typeface="+mj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9882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re 1"/>
          <p:cNvSpPr>
            <a:spLocks noGrp="1"/>
          </p:cNvSpPr>
          <p:nvPr>
            <p:ph type="title"/>
          </p:nvPr>
        </p:nvSpPr>
        <p:spPr>
          <a:xfrm>
            <a:off x="6211956" y="2057400"/>
            <a:ext cx="2895600" cy="1981200"/>
          </a:xfrm>
        </p:spPr>
        <p:txBody>
          <a:bodyPr>
            <a:noAutofit/>
          </a:bodyPr>
          <a:lstStyle/>
          <a:p>
            <a:pPr lvl="1" algn="ctr" rtl="0">
              <a:spcBef>
                <a:spcPct val="0"/>
              </a:spcBef>
            </a:pPr>
            <a:r>
              <a:rPr lang="fr-FR" sz="2400" b="1" dirty="0" err="1">
                <a:solidFill>
                  <a:srgbClr val="B80000"/>
                </a:solidFill>
              </a:rPr>
              <a:t>Private</a:t>
            </a:r>
            <a:r>
              <a:rPr lang="fr-FR" sz="2400" b="1" dirty="0">
                <a:solidFill>
                  <a:srgbClr val="B80000"/>
                </a:solidFill>
              </a:rPr>
              <a:t> </a:t>
            </a:r>
            <a:r>
              <a:rPr lang="fr-FR" sz="2400" b="1" dirty="0" err="1">
                <a:solidFill>
                  <a:srgbClr val="B80000"/>
                </a:solidFill>
              </a:rPr>
              <a:t>Member</a:t>
            </a:r>
            <a:r>
              <a:rPr lang="fr-FR" sz="2400" b="1" dirty="0">
                <a:solidFill>
                  <a:srgbClr val="B80000"/>
                </a:solidFill>
              </a:rPr>
              <a:t> </a:t>
            </a:r>
            <a:r>
              <a:rPr lang="fr-FR" sz="2400" b="1" dirty="0" err="1">
                <a:solidFill>
                  <a:srgbClr val="B80000"/>
                </a:solidFill>
              </a:rPr>
              <a:t>Functions</a:t>
            </a:r>
            <a:r>
              <a:rPr lang="fr-FR" sz="2800" b="1" dirty="0">
                <a:solidFill>
                  <a:srgbClr val="B80000"/>
                </a:solidFill>
              </a:rPr>
              <a:t/>
            </a:r>
            <a:br>
              <a:rPr lang="fr-FR" sz="2800" b="1" dirty="0">
                <a:solidFill>
                  <a:srgbClr val="B80000"/>
                </a:solidFill>
              </a:rPr>
            </a:br>
            <a:r>
              <a:rPr lang="fr-FR" sz="2000" b="1" dirty="0">
                <a:solidFill>
                  <a:schemeClr val="tx1"/>
                </a:solidFill>
              </a:rPr>
              <a:t>(</a:t>
            </a:r>
            <a:r>
              <a:rPr lang="en-US" sz="2000" b="1" dirty="0">
                <a:solidFill>
                  <a:schemeClr val="tx1"/>
                </a:solidFill>
              </a:rPr>
              <a:t>out-of-line)</a:t>
            </a:r>
            <a:r>
              <a:rPr lang="fr-FR" sz="2800" b="1" dirty="0">
                <a:solidFill>
                  <a:srgbClr val="B80000"/>
                </a:solidFill>
              </a:rPr>
              <a:t/>
            </a:r>
            <a:br>
              <a:rPr lang="fr-FR" sz="2800" b="1" dirty="0">
                <a:solidFill>
                  <a:srgbClr val="B80000"/>
                </a:solidFill>
              </a:rPr>
            </a:br>
            <a:endParaRPr lang="fr-FR" sz="2800" b="1" dirty="0">
              <a:solidFill>
                <a:srgbClr val="B8000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506" y="0"/>
            <a:ext cx="5032448" cy="6743860"/>
          </a:xfrm>
          <a:prstGeom prst="rect">
            <a:avLst/>
          </a:prstGeom>
        </p:spPr>
      </p:pic>
      <p:cxnSp>
        <p:nvCxnSpPr>
          <p:cNvPr id="6" name="Straight Arrow Connector 5"/>
          <p:cNvCxnSpPr/>
          <p:nvPr/>
        </p:nvCxnSpPr>
        <p:spPr>
          <a:xfrm flipH="1">
            <a:off x="3170441" y="2667000"/>
            <a:ext cx="3048000" cy="1752600"/>
          </a:xfrm>
          <a:prstGeom prst="straightConnector1">
            <a:avLst/>
          </a:prstGeom>
          <a:ln w="3175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83708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9756" y="0"/>
            <a:ext cx="9067800" cy="980728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rgbClr val="B80000"/>
                </a:solidFill>
                <a:latin typeface="Calibri" pitchFamily="34" charset="0"/>
              </a:rPr>
              <a:t>Access Modifiers/</a:t>
            </a:r>
            <a:r>
              <a:rPr lang="en-US" sz="4800" b="1" dirty="0" err="1">
                <a:solidFill>
                  <a:srgbClr val="B80000"/>
                </a:solidFill>
                <a:latin typeface="Calibri" pitchFamily="34" charset="0"/>
              </a:rPr>
              <a:t>Specifier</a:t>
            </a:r>
            <a:endParaRPr lang="en-US" sz="4800" b="1" dirty="0">
              <a:solidFill>
                <a:srgbClr val="B80000"/>
              </a:solidFill>
              <a:latin typeface="Calibri" pitchFamily="34" charset="0"/>
            </a:endParaRP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64840" y="1026059"/>
            <a:ext cx="8812088" cy="4105275"/>
          </a:xfrm>
        </p:spPr>
        <p:txBody>
          <a:bodyPr>
            <a:normAutofit/>
          </a:bodyPr>
          <a:lstStyle/>
          <a:p>
            <a:pPr algn="just"/>
            <a:r>
              <a:rPr lang="en-US" sz="2800" b="1" dirty="0">
                <a:latin typeface="Calibri" pitchFamily="34" charset="0"/>
              </a:rPr>
              <a:t>Access modifiers are used to </a:t>
            </a:r>
            <a:r>
              <a:rPr lang="en-US" sz="2800" b="1" u="sng" dirty="0">
                <a:solidFill>
                  <a:srgbClr val="C00000"/>
                </a:solidFill>
                <a:latin typeface="Calibri" pitchFamily="34" charset="0"/>
              </a:rPr>
              <a:t>set access levels</a:t>
            </a:r>
            <a:r>
              <a:rPr lang="en-US" sz="2800" b="1" u="sng" dirty="0">
                <a:latin typeface="Calibri" pitchFamily="34" charset="0"/>
              </a:rPr>
              <a:t> for</a:t>
            </a:r>
            <a:r>
              <a:rPr lang="en-US" sz="2800" b="1" u="sng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sz="2800" b="1" i="1" dirty="0">
                <a:solidFill>
                  <a:srgbClr val="2F1BC7"/>
                </a:solidFill>
                <a:latin typeface="Calibri" pitchFamily="34" charset="0"/>
              </a:rPr>
              <a:t>variables</a:t>
            </a:r>
            <a:r>
              <a:rPr lang="en-US" sz="2800" b="1" i="1" dirty="0">
                <a:solidFill>
                  <a:srgbClr val="FF0000"/>
                </a:solidFill>
                <a:latin typeface="Calibri" pitchFamily="34" charset="0"/>
              </a:rPr>
              <a:t>, </a:t>
            </a:r>
            <a:r>
              <a:rPr lang="en-US" sz="2800" b="1" i="1" dirty="0">
                <a:solidFill>
                  <a:srgbClr val="2F1BC7"/>
                </a:solidFill>
                <a:latin typeface="Calibri" pitchFamily="34" charset="0"/>
              </a:rPr>
              <a:t>methods,</a:t>
            </a:r>
            <a:r>
              <a:rPr lang="en-US" sz="2800" b="1" i="1" dirty="0">
                <a:solidFill>
                  <a:srgbClr val="FF0000"/>
                </a:solidFill>
                <a:latin typeface="Calibri" pitchFamily="34" charset="0"/>
              </a:rPr>
              <a:t> and </a:t>
            </a:r>
            <a:r>
              <a:rPr lang="en-US" sz="2800" b="1" i="1" dirty="0">
                <a:solidFill>
                  <a:srgbClr val="2F1BC7"/>
                </a:solidFill>
                <a:latin typeface="Calibri" pitchFamily="34" charset="0"/>
              </a:rPr>
              <a:t>constructors </a:t>
            </a:r>
            <a:endParaRPr lang="en-US" sz="2800" dirty="0">
              <a:latin typeface="Calibri" pitchFamily="34" charset="0"/>
            </a:endParaRPr>
          </a:p>
          <a:p>
            <a:r>
              <a:rPr lang="en-US" sz="2800" b="1" dirty="0">
                <a:solidFill>
                  <a:srgbClr val="008000"/>
                </a:solidFill>
                <a:latin typeface="Calibri" pitchFamily="34" charset="0"/>
              </a:rPr>
              <a:t>private</a:t>
            </a:r>
            <a:r>
              <a:rPr lang="en-US" sz="2800" dirty="0">
                <a:latin typeface="Calibri" pitchFamily="34" charset="0"/>
              </a:rPr>
              <a:t>, </a:t>
            </a:r>
            <a:r>
              <a:rPr lang="en-US" sz="2800" b="1" dirty="0">
                <a:solidFill>
                  <a:srgbClr val="008000"/>
                </a:solidFill>
                <a:latin typeface="Calibri" pitchFamily="34" charset="0"/>
              </a:rPr>
              <a:t>public</a:t>
            </a:r>
            <a:r>
              <a:rPr lang="en-US" sz="2800" dirty="0">
                <a:latin typeface="Calibri" pitchFamily="34" charset="0"/>
              </a:rPr>
              <a:t>, and </a:t>
            </a:r>
            <a:r>
              <a:rPr lang="en-US" sz="2800" b="1" dirty="0">
                <a:solidFill>
                  <a:srgbClr val="008000"/>
                </a:solidFill>
                <a:latin typeface="Calibri" pitchFamily="34" charset="0"/>
              </a:rPr>
              <a:t>protected</a:t>
            </a:r>
            <a:endParaRPr lang="en-US" sz="2800" dirty="0">
              <a:latin typeface="Calibri" pitchFamily="34" charset="0"/>
            </a:endParaRPr>
          </a:p>
          <a:p>
            <a:r>
              <a:rPr lang="en-US" sz="2800" dirty="0">
                <a:latin typeface="Calibri" pitchFamily="34" charset="0"/>
              </a:rPr>
              <a:t>In C++, </a:t>
            </a:r>
            <a:r>
              <a:rPr lang="en-US" sz="2800" b="1" i="1" dirty="0">
                <a:solidFill>
                  <a:srgbClr val="2C14DE"/>
                </a:solidFill>
                <a:latin typeface="Calibri" pitchFamily="34" charset="0"/>
              </a:rPr>
              <a:t>default</a:t>
            </a:r>
            <a:r>
              <a:rPr lang="en-US" sz="2800" b="1" i="1" dirty="0">
                <a:solidFill>
                  <a:srgbClr val="FF0000"/>
                </a:solidFill>
                <a:latin typeface="Calibri" pitchFamily="34" charset="0"/>
              </a:rPr>
              <a:t> accessibility is </a:t>
            </a:r>
            <a:r>
              <a:rPr lang="en-US" sz="2800" b="1" i="1" dirty="0">
                <a:solidFill>
                  <a:srgbClr val="2C14DE"/>
                </a:solidFill>
                <a:latin typeface="Calibri" pitchFamily="34" charset="0"/>
              </a:rPr>
              <a:t>private</a:t>
            </a:r>
          </a:p>
        </p:txBody>
      </p:sp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3239546"/>
            <a:ext cx="5105400" cy="3466053"/>
          </a:xfrm>
          <a:prstGeom prst="rect">
            <a:avLst/>
          </a:prstGeom>
          <a:noFill/>
          <a:ln>
            <a:noFill/>
          </a:ln>
          <a:effectLst>
            <a:glow rad="228600">
              <a:schemeClr val="accent4">
                <a:satMod val="175000"/>
                <a:alpha val="40000"/>
              </a:schemeClr>
            </a:glow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4635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48"/>
          <p:cNvSpPr>
            <a:spLocks noGrp="1" noChangeArrowheads="1"/>
          </p:cNvSpPr>
          <p:nvPr>
            <p:ph type="title"/>
          </p:nvPr>
        </p:nvSpPr>
        <p:spPr>
          <a:xfrm>
            <a:off x="990600" y="0"/>
            <a:ext cx="8153400" cy="944881"/>
          </a:xfrm>
        </p:spPr>
        <p:txBody>
          <a:bodyPr/>
          <a:lstStyle/>
          <a:p>
            <a:r>
              <a:rPr lang="en-US" b="1" dirty="0">
                <a:solidFill>
                  <a:srgbClr val="B80000"/>
                </a:solidFill>
                <a:latin typeface="Arial" panose="020B0604020202020204" pitchFamily="34" charset="0"/>
              </a:rPr>
              <a:t>Member Access </a:t>
            </a:r>
            <a:r>
              <a:rPr lang="en-US" b="1" dirty="0" err="1">
                <a:solidFill>
                  <a:srgbClr val="B80000"/>
                </a:solidFill>
                <a:latin typeface="Arial" panose="020B0604020202020204" pitchFamily="34" charset="0"/>
              </a:rPr>
              <a:t>Specifiers</a:t>
            </a:r>
            <a:endParaRPr lang="en-US" b="1" dirty="0">
              <a:solidFill>
                <a:srgbClr val="B80000"/>
              </a:solidFill>
              <a:latin typeface="Arial" panose="020B0604020202020204" pitchFamily="34" charset="0"/>
            </a:endParaRPr>
          </a:p>
        </p:txBody>
      </p:sp>
      <p:sp>
        <p:nvSpPr>
          <p:cNvPr id="7171" name="Rectangle 49"/>
          <p:cNvSpPr>
            <a:spLocks noGrp="1" noChangeArrowheads="1"/>
          </p:cNvSpPr>
          <p:nvPr>
            <p:ph type="body" idx="1"/>
          </p:nvPr>
        </p:nvSpPr>
        <p:spPr>
          <a:xfrm>
            <a:off x="152400" y="1143000"/>
            <a:ext cx="8839200" cy="5638800"/>
          </a:xfrm>
        </p:spPr>
        <p:txBody>
          <a:bodyPr>
            <a:normAutofit fontScale="92500"/>
          </a:bodyPr>
          <a:lstStyle/>
          <a:p>
            <a:r>
              <a:rPr lang="en-US" sz="2400" b="1" dirty="0">
                <a:solidFill>
                  <a:srgbClr val="B80000"/>
                </a:solidFill>
                <a:latin typeface="Courier New" panose="02070309020205020404" pitchFamily="49" charset="0"/>
              </a:rPr>
              <a:t>public</a:t>
            </a:r>
            <a:r>
              <a:rPr lang="en-US" sz="2400" b="1" dirty="0">
                <a:solidFill>
                  <a:srgbClr val="B80000"/>
                </a:solidFill>
              </a:rPr>
              <a:t> </a:t>
            </a:r>
          </a:p>
          <a:p>
            <a:pPr lvl="1"/>
            <a:r>
              <a:rPr lang="en-US" b="1" dirty="0"/>
              <a:t>Presents</a:t>
            </a:r>
            <a:r>
              <a:rPr lang="en-US" dirty="0"/>
              <a:t> </a:t>
            </a:r>
            <a:r>
              <a:rPr lang="en-US" b="1" dirty="0"/>
              <a:t>clients</a:t>
            </a:r>
            <a:r>
              <a:rPr lang="en-US" dirty="0"/>
              <a:t> with a view of the </a:t>
            </a:r>
            <a:r>
              <a:rPr lang="en-US" b="1" dirty="0">
                <a:solidFill>
                  <a:srgbClr val="2C14DE"/>
                </a:solidFill>
              </a:rPr>
              <a:t>services the class provides </a:t>
            </a:r>
            <a:r>
              <a:rPr lang="en-US" dirty="0"/>
              <a:t>(i.e., </a:t>
            </a:r>
            <a:r>
              <a:rPr lang="en-US" b="1" dirty="0">
                <a:solidFill>
                  <a:srgbClr val="008000"/>
                </a:solidFill>
              </a:rPr>
              <a:t>interface</a:t>
            </a:r>
            <a:r>
              <a:rPr lang="en-US" dirty="0"/>
              <a:t>)</a:t>
            </a:r>
          </a:p>
          <a:p>
            <a:pPr lvl="1"/>
            <a:r>
              <a:rPr lang="en-US" b="1" dirty="0">
                <a:solidFill>
                  <a:srgbClr val="2C14DE"/>
                </a:solidFill>
              </a:rPr>
              <a:t>Data</a:t>
            </a:r>
            <a:r>
              <a:rPr lang="en-US" dirty="0">
                <a:solidFill>
                  <a:srgbClr val="2C14DE"/>
                </a:solidFill>
              </a:rPr>
              <a:t> </a:t>
            </a:r>
            <a:r>
              <a:rPr lang="en-US" dirty="0"/>
              <a:t>and </a:t>
            </a:r>
            <a:r>
              <a:rPr lang="en-US" b="1" dirty="0">
                <a:solidFill>
                  <a:srgbClr val="2C14DE"/>
                </a:solidFill>
              </a:rPr>
              <a:t>member</a:t>
            </a:r>
            <a:r>
              <a:rPr lang="en-US" dirty="0">
                <a:solidFill>
                  <a:srgbClr val="2C14DE"/>
                </a:solidFill>
              </a:rPr>
              <a:t> </a:t>
            </a:r>
            <a:r>
              <a:rPr lang="en-US" b="1" dirty="0">
                <a:solidFill>
                  <a:srgbClr val="2C14DE"/>
                </a:solidFill>
              </a:rPr>
              <a:t>functions</a:t>
            </a:r>
            <a:r>
              <a:rPr lang="en-US" dirty="0">
                <a:solidFill>
                  <a:srgbClr val="2C14DE"/>
                </a:solidFill>
              </a:rPr>
              <a:t> </a:t>
            </a:r>
            <a:r>
              <a:rPr lang="en-US" dirty="0"/>
              <a:t>are </a:t>
            </a:r>
            <a:r>
              <a:rPr lang="en-US" b="1" dirty="0">
                <a:solidFill>
                  <a:srgbClr val="2C14DE"/>
                </a:solidFill>
              </a:rPr>
              <a:t>accessible </a:t>
            </a:r>
            <a:r>
              <a:rPr lang="en-US" b="1" dirty="0"/>
              <a:t>(outside class)</a:t>
            </a:r>
          </a:p>
          <a:p>
            <a:pPr lvl="1"/>
            <a:endParaRPr lang="en-US" sz="2000" dirty="0"/>
          </a:p>
          <a:p>
            <a:pPr marL="457200" lvl="1" indent="0">
              <a:buNone/>
            </a:pPr>
            <a:endParaRPr lang="en-US" sz="2000" dirty="0"/>
          </a:p>
          <a:p>
            <a:r>
              <a:rPr lang="en-US" sz="2400" b="1" dirty="0">
                <a:solidFill>
                  <a:srgbClr val="B80000"/>
                </a:solidFill>
                <a:latin typeface="Courier New" panose="02070309020205020404" pitchFamily="49" charset="0"/>
              </a:rPr>
              <a:t>private</a:t>
            </a:r>
            <a:endParaRPr lang="en-US" sz="2400" dirty="0">
              <a:solidFill>
                <a:srgbClr val="B80000"/>
              </a:solidFill>
            </a:endParaRPr>
          </a:p>
          <a:p>
            <a:pPr lvl="1"/>
            <a:r>
              <a:rPr lang="en-US" b="1" dirty="0">
                <a:solidFill>
                  <a:srgbClr val="2C14DE"/>
                </a:solidFill>
              </a:rPr>
              <a:t>Default</a:t>
            </a:r>
            <a:r>
              <a:rPr lang="en-US" b="1" dirty="0"/>
              <a:t> </a:t>
            </a:r>
            <a:r>
              <a:rPr lang="en-US" b="1" dirty="0">
                <a:solidFill>
                  <a:srgbClr val="2C14DE"/>
                </a:solidFill>
              </a:rPr>
              <a:t>access mode</a:t>
            </a:r>
          </a:p>
          <a:p>
            <a:pPr lvl="1"/>
            <a:r>
              <a:rPr lang="en-US" b="1" dirty="0">
                <a:solidFill>
                  <a:srgbClr val="2C14DE"/>
                </a:solidFill>
              </a:rPr>
              <a:t>Data</a:t>
            </a:r>
            <a:r>
              <a:rPr lang="en-US" dirty="0"/>
              <a:t> </a:t>
            </a:r>
            <a:r>
              <a:rPr lang="en-US" b="1" dirty="0"/>
              <a:t>only accessible</a:t>
            </a:r>
            <a:r>
              <a:rPr lang="en-US" dirty="0"/>
              <a:t> to </a:t>
            </a:r>
            <a:r>
              <a:rPr lang="en-US" b="1" dirty="0">
                <a:solidFill>
                  <a:srgbClr val="2C14DE"/>
                </a:solidFill>
              </a:rPr>
              <a:t>member functions </a:t>
            </a:r>
            <a:r>
              <a:rPr lang="en-US" dirty="0"/>
              <a:t>and </a:t>
            </a:r>
            <a:r>
              <a:rPr lang="en-US" b="1" u="sng" dirty="0">
                <a:solidFill>
                  <a:srgbClr val="008000"/>
                </a:solidFill>
                <a:latin typeface="Courier New" panose="02070309020205020404" pitchFamily="49" charset="0"/>
              </a:rPr>
              <a:t>friend</a:t>
            </a:r>
            <a:r>
              <a:rPr lang="en-US" b="1" u="sng" dirty="0">
                <a:solidFill>
                  <a:srgbClr val="008000"/>
                </a:solidFill>
              </a:rPr>
              <a:t>s</a:t>
            </a:r>
          </a:p>
          <a:p>
            <a:pPr lvl="1"/>
            <a:r>
              <a:rPr lang="en-US" b="1" dirty="0">
                <a:solidFill>
                  <a:srgbClr val="2C14DE"/>
                </a:solidFill>
                <a:latin typeface="Courier New" panose="02070309020205020404" pitchFamily="49" charset="0"/>
              </a:rPr>
              <a:t>private</a:t>
            </a:r>
            <a:r>
              <a:rPr lang="en-US" dirty="0">
                <a:solidFill>
                  <a:srgbClr val="2C14DE"/>
                </a:solidFill>
              </a:rPr>
              <a:t> </a:t>
            </a:r>
            <a:r>
              <a:rPr lang="en-US" b="1" dirty="0"/>
              <a:t>members</a:t>
            </a:r>
            <a:r>
              <a:rPr lang="en-US" dirty="0"/>
              <a:t> </a:t>
            </a:r>
            <a:r>
              <a:rPr lang="en-US" b="1" dirty="0"/>
              <a:t>only accessible through</a:t>
            </a:r>
            <a:r>
              <a:rPr lang="en-US" dirty="0"/>
              <a:t> the </a:t>
            </a:r>
            <a:r>
              <a:rPr lang="en-US" b="1" dirty="0">
                <a:solidFill>
                  <a:srgbClr val="2C14DE"/>
                </a:solidFill>
                <a:latin typeface="Courier New" panose="02070309020205020404" pitchFamily="49" charset="0"/>
              </a:rPr>
              <a:t>public</a:t>
            </a:r>
            <a:r>
              <a:rPr lang="en-US" dirty="0">
                <a:solidFill>
                  <a:srgbClr val="2C14DE"/>
                </a:solidFill>
              </a:rPr>
              <a:t> </a:t>
            </a:r>
            <a:r>
              <a:rPr lang="en-US" dirty="0"/>
              <a:t>class interface using </a:t>
            </a:r>
            <a:r>
              <a:rPr lang="en-US" b="1" dirty="0">
                <a:solidFill>
                  <a:srgbClr val="2C14DE"/>
                </a:solidFill>
                <a:latin typeface="Courier New" panose="02070309020205020404" pitchFamily="49" charset="0"/>
              </a:rPr>
              <a:t>public</a:t>
            </a:r>
            <a:r>
              <a:rPr lang="en-US" b="1" dirty="0">
                <a:solidFill>
                  <a:srgbClr val="2C14DE"/>
                </a:solidFill>
              </a:rPr>
              <a:t> member functions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ounded Rectangle 1"/>
          <p:cNvSpPr/>
          <p:nvPr/>
        </p:nvSpPr>
        <p:spPr>
          <a:xfrm>
            <a:off x="170622" y="76200"/>
            <a:ext cx="8839200" cy="1066800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chemeClr val="tx1"/>
                </a:solidFill>
              </a:rPr>
              <a:t>The </a:t>
            </a:r>
            <a:r>
              <a:rPr lang="en-US" sz="2200" b="1" dirty="0">
                <a:solidFill>
                  <a:srgbClr val="D20000"/>
                </a:solidFill>
              </a:rPr>
              <a:t>default constructor </a:t>
            </a:r>
            <a:r>
              <a:rPr lang="en-US" sz="2200" b="1" dirty="0">
                <a:solidFill>
                  <a:schemeClr val="tx1"/>
                </a:solidFill>
              </a:rPr>
              <a:t>(provided by compiler) is always public.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b="1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chemeClr val="tx1"/>
                </a:solidFill>
              </a:rPr>
              <a:t>Programmer can specify a constructor to be private  (no use) or public </a:t>
            </a:r>
          </a:p>
        </p:txBody>
      </p:sp>
    </p:spTree>
    <p:extLst>
      <p:ext uri="{BB962C8B-B14F-4D97-AF65-F5344CB8AC3E}">
        <p14:creationId xmlns:p14="http://schemas.microsoft.com/office/powerpoint/2010/main" val="2555811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-26988"/>
            <a:ext cx="9107556" cy="971869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rgbClr val="B80000"/>
                </a:solidFill>
                <a:latin typeface="Calibri" pitchFamily="34" charset="0"/>
              </a:rPr>
              <a:t>Data Hiding - Data Field Encapsulation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85314" y="1066800"/>
            <a:ext cx="8928168" cy="4537075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2800" dirty="0">
                <a:latin typeface="Calibri" pitchFamily="34" charset="0"/>
              </a:rPr>
              <a:t>A </a:t>
            </a:r>
            <a:r>
              <a:rPr lang="en-US" sz="2800" b="1" dirty="0">
                <a:solidFill>
                  <a:srgbClr val="B80000"/>
                </a:solidFill>
                <a:latin typeface="Calibri" pitchFamily="34" charset="0"/>
              </a:rPr>
              <a:t>key feature </a:t>
            </a:r>
            <a:r>
              <a:rPr lang="en-US" sz="2800" dirty="0">
                <a:latin typeface="Calibri" pitchFamily="34" charset="0"/>
              </a:rPr>
              <a:t>of </a:t>
            </a:r>
            <a:r>
              <a:rPr lang="en-US" sz="2800" b="1" dirty="0">
                <a:solidFill>
                  <a:srgbClr val="B80000"/>
                </a:solidFill>
                <a:latin typeface="Calibri" pitchFamily="34" charset="0"/>
              </a:rPr>
              <a:t>OOP</a:t>
            </a:r>
            <a:r>
              <a:rPr lang="en-US" sz="2800" dirty="0">
                <a:solidFill>
                  <a:srgbClr val="B80000"/>
                </a:solidFill>
                <a:latin typeface="Calibri" pitchFamily="34" charset="0"/>
              </a:rPr>
              <a:t> </a:t>
            </a:r>
            <a:r>
              <a:rPr lang="en-US" sz="2800" dirty="0">
                <a:latin typeface="Calibri" pitchFamily="34" charset="0"/>
              </a:rPr>
              <a:t>is </a:t>
            </a:r>
            <a:r>
              <a:rPr lang="en-US" sz="2800" b="1" dirty="0">
                <a:solidFill>
                  <a:srgbClr val="B80000"/>
                </a:solidFill>
                <a:latin typeface="Calibri" pitchFamily="34" charset="0"/>
              </a:rPr>
              <a:t>data hiding</a:t>
            </a:r>
            <a:endParaRPr lang="en-US" sz="2800" dirty="0">
              <a:latin typeface="Calibri" pitchFamily="34" charset="0"/>
            </a:endParaRPr>
          </a:p>
          <a:p>
            <a:pPr lvl="1" algn="just"/>
            <a:r>
              <a:rPr lang="en-US" b="1" dirty="0">
                <a:latin typeface="Calibri" pitchFamily="34" charset="0"/>
              </a:rPr>
              <a:t>data is </a:t>
            </a:r>
            <a:r>
              <a:rPr lang="en-US" b="1" u="sng" dirty="0">
                <a:solidFill>
                  <a:srgbClr val="2F1BC7"/>
                </a:solidFill>
                <a:latin typeface="Calibri" pitchFamily="34" charset="0"/>
              </a:rPr>
              <a:t>concealed</a:t>
            </a:r>
            <a:r>
              <a:rPr lang="en-US" b="1" dirty="0">
                <a:solidFill>
                  <a:srgbClr val="2F1BC7"/>
                </a:solidFill>
                <a:latin typeface="Calibri" pitchFamily="34" charset="0"/>
              </a:rPr>
              <a:t> within a class </a:t>
            </a:r>
            <a:r>
              <a:rPr lang="en-US" b="1" dirty="0">
                <a:latin typeface="Calibri" pitchFamily="34" charset="0"/>
              </a:rPr>
              <a:t>so that it </a:t>
            </a:r>
            <a:r>
              <a:rPr lang="en-US" b="1" dirty="0">
                <a:solidFill>
                  <a:srgbClr val="2F1BC7"/>
                </a:solidFill>
                <a:latin typeface="Calibri" pitchFamily="34" charset="0"/>
              </a:rPr>
              <a:t>cannot be accessed mistakenly </a:t>
            </a:r>
            <a:r>
              <a:rPr lang="en-US" b="1" dirty="0">
                <a:latin typeface="Calibri" pitchFamily="34" charset="0"/>
              </a:rPr>
              <a:t>by </a:t>
            </a:r>
            <a:r>
              <a:rPr lang="en-US" b="1" dirty="0">
                <a:solidFill>
                  <a:srgbClr val="2F1BC7"/>
                </a:solidFill>
                <a:latin typeface="Calibri" pitchFamily="34" charset="0"/>
              </a:rPr>
              <a:t>functions outside the class</a:t>
            </a:r>
            <a:r>
              <a:rPr lang="en-US" dirty="0">
                <a:latin typeface="Calibri" pitchFamily="34" charset="0"/>
              </a:rPr>
              <a:t>. </a:t>
            </a:r>
          </a:p>
          <a:p>
            <a:pPr algn="just"/>
            <a:endParaRPr lang="en-US" sz="2800" dirty="0">
              <a:latin typeface="Calibri" pitchFamily="34" charset="0"/>
            </a:endParaRPr>
          </a:p>
          <a:p>
            <a:pPr algn="just"/>
            <a:endParaRPr lang="en-US" sz="2800" dirty="0">
              <a:latin typeface="Calibri" pitchFamily="34" charset="0"/>
            </a:endParaRPr>
          </a:p>
          <a:p>
            <a:pPr algn="just"/>
            <a:r>
              <a:rPr lang="en-US" sz="2800" b="1" dirty="0">
                <a:latin typeface="Calibri" pitchFamily="34" charset="0"/>
              </a:rPr>
              <a:t>To prevent </a:t>
            </a:r>
            <a:r>
              <a:rPr lang="en-US" sz="2800" b="1" u="sng" dirty="0">
                <a:solidFill>
                  <a:srgbClr val="C00000"/>
                </a:solidFill>
                <a:latin typeface="Calibri" pitchFamily="34" charset="0"/>
              </a:rPr>
              <a:t>direct modification</a:t>
            </a:r>
            <a:r>
              <a:rPr lang="en-US" sz="2800" b="1" dirty="0">
                <a:solidFill>
                  <a:srgbClr val="C00000"/>
                </a:solidFill>
                <a:latin typeface="Calibri" pitchFamily="34" charset="0"/>
              </a:rPr>
              <a:t> </a:t>
            </a:r>
            <a:r>
              <a:rPr lang="en-US" sz="2800" b="1" dirty="0">
                <a:latin typeface="Calibri" pitchFamily="34" charset="0"/>
              </a:rPr>
              <a:t>of </a:t>
            </a:r>
            <a:r>
              <a:rPr lang="en-US" sz="2800" b="1" dirty="0">
                <a:solidFill>
                  <a:srgbClr val="2C14DE"/>
                </a:solidFill>
                <a:latin typeface="Calibri" pitchFamily="34" charset="0"/>
              </a:rPr>
              <a:t>class attributes </a:t>
            </a:r>
            <a:r>
              <a:rPr lang="en-US" sz="2800" dirty="0">
                <a:latin typeface="Calibri" pitchFamily="34" charset="0"/>
              </a:rPr>
              <a:t>(outside the class), the </a:t>
            </a:r>
            <a:r>
              <a:rPr lang="en-US" sz="2800" b="1" dirty="0">
                <a:solidFill>
                  <a:srgbClr val="2C14DE"/>
                </a:solidFill>
                <a:latin typeface="Calibri" pitchFamily="34" charset="0"/>
              </a:rPr>
              <a:t>primary mechanism for hiding data</a:t>
            </a:r>
            <a:r>
              <a:rPr lang="en-US" sz="2800" dirty="0">
                <a:latin typeface="Calibri" pitchFamily="34" charset="0"/>
              </a:rPr>
              <a:t> is to </a:t>
            </a:r>
            <a:r>
              <a:rPr lang="en-US" sz="2800" b="1" dirty="0">
                <a:solidFill>
                  <a:srgbClr val="2C14DE"/>
                </a:solidFill>
                <a:latin typeface="Calibri" pitchFamily="34" charset="0"/>
              </a:rPr>
              <a:t>put</a:t>
            </a:r>
            <a:r>
              <a:rPr lang="en-US" sz="2800" dirty="0">
                <a:solidFill>
                  <a:srgbClr val="2C14DE"/>
                </a:solidFill>
                <a:latin typeface="Calibri" pitchFamily="34" charset="0"/>
              </a:rPr>
              <a:t> </a:t>
            </a:r>
            <a:r>
              <a:rPr lang="en-US" sz="2800" dirty="0">
                <a:latin typeface="Calibri" pitchFamily="34" charset="0"/>
              </a:rPr>
              <a:t>it in a </a:t>
            </a:r>
            <a:r>
              <a:rPr lang="en-US" sz="2800" b="1" dirty="0">
                <a:latin typeface="Calibri" pitchFamily="34" charset="0"/>
              </a:rPr>
              <a:t>class</a:t>
            </a:r>
            <a:r>
              <a:rPr lang="en-US" sz="2800" dirty="0">
                <a:latin typeface="Calibri" pitchFamily="34" charset="0"/>
              </a:rPr>
              <a:t> and </a:t>
            </a:r>
            <a:r>
              <a:rPr lang="en-US" sz="2800" b="1" u="sng" dirty="0">
                <a:latin typeface="Calibri" pitchFamily="34" charset="0"/>
              </a:rPr>
              <a:t>make it </a:t>
            </a:r>
            <a:r>
              <a:rPr lang="en-US" sz="2800" b="1" u="sng" dirty="0">
                <a:solidFill>
                  <a:srgbClr val="2C14DE"/>
                </a:solidFill>
                <a:latin typeface="Calibri" pitchFamily="34" charset="0"/>
              </a:rPr>
              <a:t>private</a:t>
            </a:r>
            <a:r>
              <a:rPr lang="en-US" sz="2800" b="1" u="sng" dirty="0">
                <a:latin typeface="Calibri" pitchFamily="34" charset="0"/>
              </a:rPr>
              <a:t> </a:t>
            </a:r>
            <a:r>
              <a:rPr lang="en-US" sz="2800" dirty="0">
                <a:latin typeface="Calibri" pitchFamily="34" charset="0"/>
              </a:rPr>
              <a:t>using </a:t>
            </a:r>
            <a:r>
              <a:rPr lang="en-US" sz="2800" b="1" i="1" dirty="0">
                <a:solidFill>
                  <a:srgbClr val="2F1BC7"/>
                </a:solidFill>
                <a:latin typeface="Calibri" pitchFamily="34" charset="0"/>
              </a:rPr>
              <a:t>private</a:t>
            </a:r>
            <a:r>
              <a:rPr lang="en-US" sz="2800" dirty="0">
                <a:solidFill>
                  <a:srgbClr val="2F1BC7"/>
                </a:solidFill>
                <a:latin typeface="Calibri" pitchFamily="34" charset="0"/>
              </a:rPr>
              <a:t> </a:t>
            </a:r>
            <a:r>
              <a:rPr lang="en-US" sz="2800" dirty="0">
                <a:latin typeface="Calibri" pitchFamily="34" charset="0"/>
              </a:rPr>
              <a:t>keyword. </a:t>
            </a:r>
            <a:r>
              <a:rPr lang="en-US" sz="2800" b="1" dirty="0">
                <a:solidFill>
                  <a:srgbClr val="FF0000"/>
                </a:solidFill>
                <a:latin typeface="Calibri" pitchFamily="34" charset="0"/>
              </a:rPr>
              <a:t>This is also known as </a:t>
            </a:r>
            <a:r>
              <a:rPr lang="en-US" sz="2800" b="1" i="1" u="sng" dirty="0">
                <a:solidFill>
                  <a:srgbClr val="008000"/>
                </a:solidFill>
                <a:latin typeface="Calibri" pitchFamily="34" charset="0"/>
              </a:rPr>
              <a:t>data field encapsulation</a:t>
            </a:r>
            <a:r>
              <a:rPr lang="en-US" sz="2800" b="1" dirty="0">
                <a:solidFill>
                  <a:srgbClr val="008000"/>
                </a:solidFill>
                <a:latin typeface="Calibri" pitchFamily="34" charset="0"/>
              </a:rPr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8008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0163" y="-26988"/>
            <a:ext cx="9077393" cy="971869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B80000"/>
                </a:solidFill>
                <a:latin typeface="Calibri" pitchFamily="34" charset="0"/>
              </a:rPr>
              <a:t>Hidden from Whom?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0163" y="1231900"/>
            <a:ext cx="9082087" cy="4449763"/>
          </a:xfrm>
        </p:spPr>
        <p:txBody>
          <a:bodyPr/>
          <a:lstStyle/>
          <a:p>
            <a:pPr algn="just"/>
            <a:r>
              <a:rPr lang="en-US" b="1" i="1" dirty="0">
                <a:solidFill>
                  <a:srgbClr val="FF0000"/>
                </a:solidFill>
                <a:latin typeface="Calibri" pitchFamily="34" charset="0"/>
              </a:rPr>
              <a:t>Data hiding means </a:t>
            </a:r>
            <a:r>
              <a:rPr lang="en-US" b="1" i="1" dirty="0">
                <a:solidFill>
                  <a:srgbClr val="2F1BC7"/>
                </a:solidFill>
                <a:latin typeface="Calibri" pitchFamily="34" charset="0"/>
              </a:rPr>
              <a:t>hiding data from parts of the program</a:t>
            </a:r>
            <a:r>
              <a:rPr lang="en-US" b="1" i="1" dirty="0">
                <a:solidFill>
                  <a:srgbClr val="FF0000"/>
                </a:solidFill>
                <a:latin typeface="Calibri" pitchFamily="34" charset="0"/>
              </a:rPr>
              <a:t> that don’t need to access it.</a:t>
            </a:r>
            <a:r>
              <a:rPr lang="en-US" dirty="0">
                <a:latin typeface="Calibri" pitchFamily="34" charset="0"/>
              </a:rPr>
              <a:t> More specifically, </a:t>
            </a:r>
            <a:r>
              <a:rPr lang="en-US" b="1" dirty="0">
                <a:latin typeface="Calibri" pitchFamily="34" charset="0"/>
              </a:rPr>
              <a:t>one class’s data </a:t>
            </a:r>
            <a:r>
              <a:rPr lang="en-US" dirty="0">
                <a:latin typeface="Calibri" pitchFamily="34" charset="0"/>
              </a:rPr>
              <a:t>is </a:t>
            </a:r>
            <a:r>
              <a:rPr lang="en-US" b="1" dirty="0">
                <a:latin typeface="Calibri" pitchFamily="34" charset="0"/>
              </a:rPr>
              <a:t>hidden</a:t>
            </a:r>
            <a:r>
              <a:rPr lang="en-US" dirty="0">
                <a:latin typeface="Calibri" pitchFamily="34" charset="0"/>
              </a:rPr>
              <a:t> from </a:t>
            </a:r>
            <a:r>
              <a:rPr lang="en-US" b="1" dirty="0">
                <a:latin typeface="Calibri" pitchFamily="34" charset="0"/>
              </a:rPr>
              <a:t>other classes</a:t>
            </a:r>
            <a:r>
              <a:rPr lang="en-US" dirty="0">
                <a:latin typeface="Calibri" pitchFamily="34" charset="0"/>
              </a:rPr>
              <a:t>. </a:t>
            </a:r>
          </a:p>
          <a:p>
            <a:pPr algn="just"/>
            <a:endParaRPr lang="en-US" dirty="0">
              <a:latin typeface="Calibri" pitchFamily="34" charset="0"/>
            </a:endParaRPr>
          </a:p>
          <a:p>
            <a:pPr algn="just"/>
            <a:r>
              <a:rPr lang="en-US" b="1" dirty="0">
                <a:solidFill>
                  <a:srgbClr val="2F1BC7"/>
                </a:solidFill>
                <a:latin typeface="Calibri" pitchFamily="34" charset="0"/>
              </a:rPr>
              <a:t>Data hiding </a:t>
            </a:r>
            <a:r>
              <a:rPr lang="en-US" dirty="0">
                <a:latin typeface="Calibri" pitchFamily="34" charset="0"/>
              </a:rPr>
              <a:t>is </a:t>
            </a:r>
            <a:r>
              <a:rPr lang="en-US" b="1" dirty="0">
                <a:latin typeface="Calibri" pitchFamily="34" charset="0"/>
              </a:rPr>
              <a:t>designed</a:t>
            </a:r>
            <a:r>
              <a:rPr lang="en-US" dirty="0">
                <a:latin typeface="Calibri" pitchFamily="34" charset="0"/>
              </a:rPr>
              <a:t> to </a:t>
            </a:r>
            <a:r>
              <a:rPr lang="en-US" b="1" u="sng" dirty="0">
                <a:latin typeface="Calibri" pitchFamily="34" charset="0"/>
              </a:rPr>
              <a:t>protect well-intentioned programmers</a:t>
            </a:r>
            <a:r>
              <a:rPr lang="en-US" dirty="0">
                <a:latin typeface="Calibri" pitchFamily="34" charset="0"/>
              </a:rPr>
              <a:t> from </a:t>
            </a:r>
            <a:r>
              <a:rPr lang="en-US" b="1" u="sng" dirty="0">
                <a:latin typeface="Calibri" pitchFamily="34" charset="0"/>
              </a:rPr>
              <a:t>mistakes</a:t>
            </a:r>
            <a:r>
              <a:rPr lang="en-US" dirty="0">
                <a:latin typeface="Calibri" pitchFamily="34" charset="0"/>
              </a:rPr>
              <a:t>.</a:t>
            </a:r>
          </a:p>
          <a:p>
            <a:pPr algn="just"/>
            <a:endParaRPr lang="en-US" dirty="0">
              <a:latin typeface="Calibri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702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8575"/>
            <a:ext cx="9128125" cy="457200"/>
          </a:xfrm>
        </p:spPr>
        <p:txBody>
          <a:bodyPr lIns="92075" tIns="46038" rIns="92075" bIns="46038">
            <a:noAutofit/>
          </a:bodyPr>
          <a:lstStyle/>
          <a:p>
            <a:r>
              <a:rPr lang="en-US" altLang="zh-CN" sz="3200" dirty="0">
                <a:latin typeface="Calibri" pitchFamily="34" charset="0"/>
              </a:rPr>
              <a:t>A Simple Program – </a:t>
            </a:r>
            <a:r>
              <a:rPr lang="en-US" altLang="zh-CN" sz="3200" b="1" dirty="0">
                <a:latin typeface="Calibri" pitchFamily="34" charset="0"/>
              </a:rPr>
              <a:t>Accessing</a:t>
            </a:r>
            <a:r>
              <a:rPr lang="en-US" altLang="zh-CN" sz="3200" dirty="0">
                <a:latin typeface="Calibri" pitchFamily="34" charset="0"/>
              </a:rPr>
              <a:t> </a:t>
            </a:r>
            <a:r>
              <a:rPr lang="en-US" altLang="zh-CN" sz="3200" b="1" i="1" dirty="0">
                <a:solidFill>
                  <a:srgbClr val="FF0000"/>
                </a:solidFill>
                <a:latin typeface="Calibri" pitchFamily="34" charset="0"/>
              </a:rPr>
              <a:t>Member Function</a:t>
            </a:r>
            <a:endParaRPr lang="en-US" altLang="zh-CN" sz="3200" b="1" dirty="0">
              <a:latin typeface="Calibri" pitchFamily="34" charset="0"/>
            </a:endParaRP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11188" y="669925"/>
            <a:ext cx="5400675" cy="3687763"/>
          </a:xfrm>
          <a:solidFill>
            <a:schemeClr val="accent1">
              <a:lumMod val="20000"/>
              <a:lumOff val="80000"/>
            </a:schemeClr>
          </a:solidFill>
        </p:spPr>
        <p:txBody>
          <a:bodyPr lIns="92075" tIns="46038" rIns="92075" bIns="46038"/>
          <a:lstStyle/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class  Circle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{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	private: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	     double radius;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endParaRPr lang="en-US" altLang="zh-CN" sz="1200" b="1" dirty="0">
              <a:latin typeface="Calibri" pitchFamily="34" charset="0"/>
            </a:endParaRP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  	public: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	</a:t>
            </a:r>
            <a:r>
              <a:rPr lang="en-US" altLang="zh-CN" sz="2400" b="1" dirty="0">
                <a:latin typeface="Calibri" pitchFamily="34" charset="0"/>
              </a:rPr>
              <a:t>Circle()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400" b="1" dirty="0">
                <a:latin typeface="Calibri" pitchFamily="34" charset="0"/>
              </a:rPr>
              <a:t>	{  	radius = 5.0;    }</a:t>
            </a:r>
            <a:endParaRPr lang="en-US" altLang="zh-CN" sz="2200" b="1" dirty="0">
              <a:latin typeface="Calibri" pitchFamily="34" charset="0"/>
            </a:endParaRP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	double   </a:t>
            </a:r>
            <a:r>
              <a:rPr lang="en-US" altLang="zh-CN" sz="2200" b="1" dirty="0" err="1">
                <a:latin typeface="Calibri" pitchFamily="34" charset="0"/>
              </a:rPr>
              <a:t>getArea</a:t>
            </a:r>
            <a:r>
              <a:rPr lang="en-US" altLang="zh-CN" sz="2200" b="1" dirty="0">
                <a:latin typeface="Calibri" pitchFamily="34" charset="0"/>
              </a:rPr>
              <a:t>()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	{  return radius *  radius  *  3.14159; }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};</a:t>
            </a:r>
          </a:p>
        </p:txBody>
      </p:sp>
      <p:sp>
        <p:nvSpPr>
          <p:cNvPr id="13317" name="Rectangle 8"/>
          <p:cNvSpPr>
            <a:spLocks noChangeArrowheads="1"/>
          </p:cNvSpPr>
          <p:nvPr/>
        </p:nvSpPr>
        <p:spPr bwMode="auto">
          <a:xfrm>
            <a:off x="971550" y="3252788"/>
            <a:ext cx="4537075" cy="720725"/>
          </a:xfrm>
          <a:prstGeom prst="rect">
            <a:avLst/>
          </a:prstGeom>
          <a:solidFill>
            <a:schemeClr val="tx2">
              <a:lumMod val="40000"/>
              <a:lumOff val="60000"/>
              <a:alpha val="45097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>
              <a:solidFill>
                <a:srgbClr val="2F1BC7"/>
              </a:solidFill>
            </a:endParaRPr>
          </a:p>
        </p:txBody>
      </p:sp>
      <p:sp>
        <p:nvSpPr>
          <p:cNvPr id="23557" name="Rectangle 11"/>
          <p:cNvSpPr>
            <a:spLocks noChangeArrowheads="1"/>
          </p:cNvSpPr>
          <p:nvPr/>
        </p:nvSpPr>
        <p:spPr bwMode="auto">
          <a:xfrm>
            <a:off x="6732588" y="1003300"/>
            <a:ext cx="1897062" cy="3063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lIns="9144" tIns="9144" rIns="9144" bIns="9144" anchor="ctr"/>
          <a:lstStyle/>
          <a:p>
            <a:pPr algn="ctr" eaLnBrk="0" hangingPunct="0"/>
            <a:r>
              <a:rPr lang="en-US" sz="2200" dirty="0">
                <a:latin typeface="Calibri" pitchFamily="34" charset="0"/>
              </a:rPr>
              <a:t>Object Instance</a:t>
            </a:r>
          </a:p>
        </p:txBody>
      </p:sp>
      <p:sp>
        <p:nvSpPr>
          <p:cNvPr id="23558" name="Text Box 12"/>
          <p:cNvSpPr txBox="1">
            <a:spLocks noChangeArrowheads="1"/>
          </p:cNvSpPr>
          <p:nvPr/>
        </p:nvSpPr>
        <p:spPr bwMode="auto">
          <a:xfrm>
            <a:off x="6269038" y="917575"/>
            <a:ext cx="576262" cy="47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500" b="1">
                <a:latin typeface="Calibri" pitchFamily="34" charset="0"/>
              </a:rPr>
              <a:t>C1</a:t>
            </a:r>
          </a:p>
        </p:txBody>
      </p:sp>
      <p:grpSp>
        <p:nvGrpSpPr>
          <p:cNvPr id="23559" name="Group 1"/>
          <p:cNvGrpSpPr>
            <a:grpSpLocks/>
          </p:cNvGrpSpPr>
          <p:nvPr/>
        </p:nvGrpSpPr>
        <p:grpSpPr bwMode="auto">
          <a:xfrm>
            <a:off x="6083300" y="1323975"/>
            <a:ext cx="2851150" cy="2116138"/>
            <a:chOff x="6083300" y="1324084"/>
            <a:chExt cx="2851150" cy="2116029"/>
          </a:xfrm>
        </p:grpSpPr>
        <p:graphicFrame>
          <p:nvGraphicFramePr>
            <p:cNvPr id="23564" name="Object 10"/>
            <p:cNvGraphicFramePr>
              <a:graphicFrameLocks noChangeAspect="1"/>
            </p:cNvGraphicFramePr>
            <p:nvPr/>
          </p:nvGraphicFramePr>
          <p:xfrm>
            <a:off x="6083300" y="1957388"/>
            <a:ext cx="2851150" cy="14827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5" name="Picture" r:id="rId3" imgW="1028510" imgH="456439" progId="Word.Picture.8">
                    <p:embed/>
                  </p:oleObj>
                </mc:Choice>
                <mc:Fallback>
                  <p:oleObj name="Picture" r:id="rId3" imgW="1028510" imgH="456439" progId="Word.Picture.8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83300" y="1957388"/>
                          <a:ext cx="2851150" cy="1482725"/>
                        </a:xfrm>
                        <a:prstGeom prst="rect">
                          <a:avLst/>
                        </a:prstGeom>
                        <a:solidFill>
                          <a:srgbClr val="CACAFF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565" name="Line 14"/>
            <p:cNvSpPr>
              <a:spLocks noChangeShapeType="1"/>
            </p:cNvSpPr>
            <p:nvPr/>
          </p:nvSpPr>
          <p:spPr bwMode="auto">
            <a:xfrm flipH="1" flipV="1">
              <a:off x="7308304" y="1324084"/>
              <a:ext cx="360363" cy="865188"/>
            </a:xfrm>
            <a:prstGeom prst="line">
              <a:avLst/>
            </a:prstGeom>
            <a:noFill/>
            <a:ln w="508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Rectangle 3"/>
          <p:cNvSpPr txBox="1">
            <a:spLocks noChangeArrowheads="1"/>
          </p:cNvSpPr>
          <p:nvPr/>
        </p:nvSpPr>
        <p:spPr bwMode="auto">
          <a:xfrm>
            <a:off x="611188" y="4581525"/>
            <a:ext cx="8424862" cy="20828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lIns="92075" tIns="46038" rIns="92075" bIns="46038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void main()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{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       Circle     C1;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      //C1.radius = 10;    can’t access private member outside the class 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     </a:t>
            </a:r>
            <a:r>
              <a:rPr lang="en-US" altLang="zh-CN" sz="2200" b="1" dirty="0" err="1">
                <a:latin typeface="Calibri" pitchFamily="34" charset="0"/>
              </a:rPr>
              <a:t>cout</a:t>
            </a:r>
            <a:r>
              <a:rPr lang="en-US" altLang="zh-CN" sz="2200" b="1" dirty="0">
                <a:latin typeface="Calibri" pitchFamily="34" charset="0"/>
              </a:rPr>
              <a:t>&lt;&lt;“Area of circle = “&lt;&lt;C1.getArea();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}</a:t>
            </a:r>
          </a:p>
        </p:txBody>
      </p:sp>
      <p:sp>
        <p:nvSpPr>
          <p:cNvPr id="13316" name="Rectangle 6"/>
          <p:cNvSpPr>
            <a:spLocks noChangeArrowheads="1"/>
          </p:cNvSpPr>
          <p:nvPr/>
        </p:nvSpPr>
        <p:spPr bwMode="auto">
          <a:xfrm>
            <a:off x="955675" y="5942013"/>
            <a:ext cx="4840288" cy="295275"/>
          </a:xfrm>
          <a:prstGeom prst="rect">
            <a:avLst/>
          </a:prstGeom>
          <a:solidFill>
            <a:schemeClr val="tx2">
              <a:lumMod val="40000"/>
              <a:lumOff val="60000"/>
              <a:alpha val="45097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" name="Line 14"/>
          <p:cNvSpPr>
            <a:spLocks noChangeShapeType="1"/>
          </p:cNvSpPr>
          <p:nvPr/>
        </p:nvSpPr>
        <p:spPr bwMode="auto">
          <a:xfrm flipH="1" flipV="1">
            <a:off x="3914775" y="3860800"/>
            <a:ext cx="0" cy="2081213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6983" name="AutoShape 7"/>
          <p:cNvSpPr>
            <a:spLocks noChangeArrowheads="1"/>
          </p:cNvSpPr>
          <p:nvPr/>
        </p:nvSpPr>
        <p:spPr bwMode="auto">
          <a:xfrm>
            <a:off x="6732588" y="3717925"/>
            <a:ext cx="1881187" cy="615950"/>
          </a:xfrm>
          <a:prstGeom prst="wedgeRoundRectCallout">
            <a:avLst>
              <a:gd name="adj1" fmla="val 1560"/>
              <a:gd name="adj2" fmla="val -155926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algn="ctr" eaLnBrk="0" hangingPunct="0">
              <a:defRPr/>
            </a:pPr>
            <a:r>
              <a:rPr lang="en-US" altLang="zh-CN" dirty="0">
                <a:latin typeface="Calibri" pitchFamily="34" charset="0"/>
              </a:rPr>
              <a:t>Allocate memory for radius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543" y="53592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20786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3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7" grpId="0" animBg="1"/>
      <p:bldP spid="13316" grpId="0" animBg="1"/>
      <p:bldP spid="1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44450"/>
            <a:ext cx="8893175" cy="457200"/>
          </a:xfrm>
        </p:spPr>
        <p:txBody>
          <a:bodyPr lIns="92075" tIns="46038" rIns="92075" bIns="46038">
            <a:normAutofit fontScale="90000"/>
          </a:bodyPr>
          <a:lstStyle/>
          <a:p>
            <a:r>
              <a:rPr lang="en-US" altLang="zh-CN" sz="3200" b="1" dirty="0">
                <a:latin typeface="Calibri" pitchFamily="34" charset="0"/>
              </a:rPr>
              <a:t>A Simple Program – </a:t>
            </a:r>
            <a:r>
              <a:rPr lang="en-US" altLang="zh-CN" sz="3200" b="1" i="1" dirty="0">
                <a:solidFill>
                  <a:srgbClr val="FF0000"/>
                </a:solidFill>
                <a:latin typeface="Calibri" pitchFamily="34" charset="0"/>
              </a:rPr>
              <a:t>Default Constructor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11188" y="669925"/>
            <a:ext cx="5400675" cy="3687763"/>
          </a:xfrm>
          <a:solidFill>
            <a:schemeClr val="accent1">
              <a:lumMod val="40000"/>
              <a:lumOff val="60000"/>
            </a:schemeClr>
          </a:solidFill>
        </p:spPr>
        <p:txBody>
          <a:bodyPr lIns="92075" tIns="46038" rIns="92075" bIns="46038">
            <a:normAutofit lnSpcReduction="10000"/>
          </a:bodyPr>
          <a:lstStyle/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class  Circle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{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	private: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	     double radius;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  	public: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endParaRPr lang="en-US" altLang="zh-CN" sz="2200" b="1" dirty="0">
              <a:latin typeface="Calibri" pitchFamily="34" charset="0"/>
            </a:endParaRP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	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endParaRPr lang="en-US" altLang="zh-CN" sz="2200" b="1" dirty="0">
              <a:latin typeface="Calibri" pitchFamily="34" charset="0"/>
            </a:endParaRP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	double   </a:t>
            </a:r>
            <a:r>
              <a:rPr lang="en-US" altLang="zh-CN" sz="2200" b="1" dirty="0" err="1">
                <a:latin typeface="Calibri" pitchFamily="34" charset="0"/>
              </a:rPr>
              <a:t>getArea</a:t>
            </a:r>
            <a:r>
              <a:rPr lang="en-US" altLang="zh-CN" sz="2200" b="1" dirty="0">
                <a:latin typeface="Calibri" pitchFamily="34" charset="0"/>
              </a:rPr>
              <a:t>()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	{  return radius *  radius  *  3.14159; }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};</a:t>
            </a:r>
          </a:p>
        </p:txBody>
      </p:sp>
      <p:sp>
        <p:nvSpPr>
          <p:cNvPr id="13317" name="Rectangle 8"/>
          <p:cNvSpPr>
            <a:spLocks noChangeArrowheads="1"/>
          </p:cNvSpPr>
          <p:nvPr/>
        </p:nvSpPr>
        <p:spPr bwMode="auto">
          <a:xfrm>
            <a:off x="955675" y="2527300"/>
            <a:ext cx="3095625" cy="438150"/>
          </a:xfrm>
          <a:prstGeom prst="rect">
            <a:avLst/>
          </a:prstGeom>
          <a:solidFill>
            <a:schemeClr val="bg1">
              <a:alpha val="45097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r>
              <a:rPr lang="en-US" altLang="zh-CN" sz="2400" b="1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// No Constructor Here</a:t>
            </a:r>
            <a:endParaRPr lang="en-US" sz="24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320" name="Rectangle 11"/>
          <p:cNvSpPr>
            <a:spLocks noChangeArrowheads="1"/>
          </p:cNvSpPr>
          <p:nvPr/>
        </p:nvSpPr>
        <p:spPr bwMode="auto">
          <a:xfrm>
            <a:off x="6757485" y="991750"/>
            <a:ext cx="1897063" cy="3063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lIns="9144" tIns="9144" rIns="9144" bIns="9144" anchor="ctr"/>
          <a:lstStyle/>
          <a:p>
            <a:pPr algn="ctr" eaLnBrk="0" hangingPunct="0"/>
            <a:r>
              <a:rPr lang="en-US" sz="2200" dirty="0">
                <a:latin typeface="Calibri" pitchFamily="34" charset="0"/>
              </a:rPr>
              <a:t>Object Instance</a:t>
            </a:r>
          </a:p>
        </p:txBody>
      </p:sp>
      <p:sp>
        <p:nvSpPr>
          <p:cNvPr id="13321" name="Text Box 12"/>
          <p:cNvSpPr txBox="1">
            <a:spLocks noChangeArrowheads="1"/>
          </p:cNvSpPr>
          <p:nvPr/>
        </p:nvSpPr>
        <p:spPr bwMode="auto">
          <a:xfrm>
            <a:off x="6284913" y="901700"/>
            <a:ext cx="576262" cy="47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500" b="1">
                <a:latin typeface="Calibri" pitchFamily="34" charset="0"/>
              </a:rPr>
              <a:t>C1</a:t>
            </a:r>
          </a:p>
        </p:txBody>
      </p:sp>
      <p:sp>
        <p:nvSpPr>
          <p:cNvPr id="12" name="Rectangle 3"/>
          <p:cNvSpPr txBox="1">
            <a:spLocks noChangeArrowheads="1"/>
          </p:cNvSpPr>
          <p:nvPr/>
        </p:nvSpPr>
        <p:spPr bwMode="auto">
          <a:xfrm>
            <a:off x="611188" y="4581525"/>
            <a:ext cx="8424862" cy="2082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lIns="92075" tIns="46038" rIns="92075" bIns="46038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void main()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{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       Circle     C1;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      //C1.radius = 10;      can’t access private member outside the class 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     </a:t>
            </a:r>
            <a:r>
              <a:rPr lang="en-US" altLang="zh-CN" sz="2200" b="1" dirty="0" err="1">
                <a:latin typeface="Calibri" pitchFamily="34" charset="0"/>
              </a:rPr>
              <a:t>cout</a:t>
            </a:r>
            <a:r>
              <a:rPr lang="en-US" altLang="zh-CN" sz="2200" b="1" dirty="0">
                <a:latin typeface="Calibri" pitchFamily="34" charset="0"/>
              </a:rPr>
              <a:t>&lt;&lt;“Area of circle = “&lt;&lt;C1.getArea();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}</a:t>
            </a:r>
          </a:p>
        </p:txBody>
      </p:sp>
      <p:sp>
        <p:nvSpPr>
          <p:cNvPr id="13316" name="Rectangle 6"/>
          <p:cNvSpPr>
            <a:spLocks noChangeArrowheads="1"/>
          </p:cNvSpPr>
          <p:nvPr/>
        </p:nvSpPr>
        <p:spPr bwMode="auto">
          <a:xfrm>
            <a:off x="955675" y="5268913"/>
            <a:ext cx="3592513" cy="295275"/>
          </a:xfrm>
          <a:prstGeom prst="rect">
            <a:avLst/>
          </a:prstGeom>
          <a:solidFill>
            <a:schemeClr val="accent3">
              <a:lumMod val="40000"/>
              <a:lumOff val="60000"/>
              <a:alpha val="45097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" name="Line 14"/>
          <p:cNvSpPr>
            <a:spLocks noChangeShapeType="1"/>
          </p:cNvSpPr>
          <p:nvPr/>
        </p:nvSpPr>
        <p:spPr bwMode="auto">
          <a:xfrm flipH="1" flipV="1">
            <a:off x="3930650" y="2965450"/>
            <a:ext cx="0" cy="2405063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964728" y="2213576"/>
            <a:ext cx="3851275" cy="857823"/>
          </a:xfrm>
          <a:prstGeom prst="rect">
            <a:avLst/>
          </a:prstGeom>
          <a:solidFill>
            <a:schemeClr val="accent3">
              <a:lumMod val="40000"/>
              <a:lumOff val="60000"/>
              <a:alpha val="45097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>
              <a:lnSpc>
                <a:spcPct val="80000"/>
              </a:lnSpc>
            </a:pPr>
            <a:r>
              <a:rPr lang="en-US" altLang="zh-CN" sz="2000" b="1" dirty="0">
                <a:latin typeface="Calibri" pitchFamily="34" charset="0"/>
              </a:rPr>
              <a:t>//Default Constructor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000" b="1" dirty="0">
                <a:latin typeface="Calibri" pitchFamily="34" charset="0"/>
              </a:rPr>
              <a:t>Circle() 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000" b="1" dirty="0">
                <a:latin typeface="Calibri" pitchFamily="34" charset="0"/>
              </a:rPr>
              <a:t>{  	    }</a:t>
            </a:r>
          </a:p>
        </p:txBody>
      </p:sp>
      <p:grpSp>
        <p:nvGrpSpPr>
          <p:cNvPr id="14" name="Group 13"/>
          <p:cNvGrpSpPr>
            <a:grpSpLocks/>
          </p:cNvGrpSpPr>
          <p:nvPr/>
        </p:nvGrpSpPr>
        <p:grpSpPr bwMode="auto">
          <a:xfrm>
            <a:off x="6083300" y="1270000"/>
            <a:ext cx="2851150" cy="2116138"/>
            <a:chOff x="6083300" y="1324084"/>
            <a:chExt cx="2851150" cy="2116029"/>
          </a:xfrm>
        </p:grpSpPr>
        <p:graphicFrame>
          <p:nvGraphicFramePr>
            <p:cNvPr id="24589" name="Object 10"/>
            <p:cNvGraphicFramePr>
              <a:graphicFrameLocks noChangeAspect="1"/>
            </p:cNvGraphicFramePr>
            <p:nvPr/>
          </p:nvGraphicFramePr>
          <p:xfrm>
            <a:off x="6083300" y="1957388"/>
            <a:ext cx="2851150" cy="14827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9" name="Picture" r:id="rId3" imgW="1028510" imgH="456439" progId="Word.Picture.8">
                    <p:embed/>
                  </p:oleObj>
                </mc:Choice>
                <mc:Fallback>
                  <p:oleObj name="Picture" r:id="rId3" imgW="1028510" imgH="456439" progId="Word.Picture.8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83300" y="1957388"/>
                          <a:ext cx="2851150" cy="1482725"/>
                        </a:xfrm>
                        <a:prstGeom prst="rect">
                          <a:avLst/>
                        </a:prstGeom>
                        <a:solidFill>
                          <a:srgbClr val="CACAFF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590" name="Line 14"/>
            <p:cNvSpPr>
              <a:spLocks noChangeShapeType="1"/>
            </p:cNvSpPr>
            <p:nvPr/>
          </p:nvSpPr>
          <p:spPr bwMode="auto">
            <a:xfrm flipH="1" flipV="1">
              <a:off x="7308304" y="1324084"/>
              <a:ext cx="360363" cy="865188"/>
            </a:xfrm>
            <a:prstGeom prst="line">
              <a:avLst/>
            </a:prstGeom>
            <a:noFill/>
            <a:ln w="508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" name="AutoShape 7"/>
          <p:cNvSpPr>
            <a:spLocks noChangeArrowheads="1"/>
          </p:cNvSpPr>
          <p:nvPr/>
        </p:nvSpPr>
        <p:spPr bwMode="auto">
          <a:xfrm>
            <a:off x="6732588" y="3789363"/>
            <a:ext cx="1881187" cy="615950"/>
          </a:xfrm>
          <a:prstGeom prst="wedgeRoundRectCallout">
            <a:avLst>
              <a:gd name="adj1" fmla="val 1560"/>
              <a:gd name="adj2" fmla="val -155926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algn="ctr" eaLnBrk="0" hangingPunct="0">
              <a:defRPr/>
            </a:pPr>
            <a:r>
              <a:rPr lang="en-US" altLang="zh-CN" dirty="0">
                <a:latin typeface="Calibri" pitchFamily="34" charset="0"/>
              </a:rPr>
              <a:t>Allocate memory for radius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986" y="536305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80379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3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33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13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2000"/>
                                        <p:tgtEl>
                                          <p:spTgt spid="13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3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6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9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7" grpId="0" animBg="1"/>
      <p:bldP spid="13317" grpId="1" animBg="1"/>
      <p:bldP spid="13320" grpId="0" animBg="1"/>
      <p:bldP spid="13321" grpId="0"/>
      <p:bldP spid="13316" grpId="0" animBg="1"/>
      <p:bldP spid="13" grpId="0" animBg="1"/>
      <p:bldP spid="11" grpId="0" animBg="1"/>
      <p:bldP spid="1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9757" y="-1588"/>
            <a:ext cx="9032806" cy="946469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B80000"/>
                </a:solidFill>
                <a:latin typeface="Calibri" pitchFamily="34" charset="0"/>
              </a:rPr>
              <a:t>Object Construction with Arguments</a:t>
            </a:r>
          </a:p>
        </p:txBody>
      </p:sp>
      <p:sp>
        <p:nvSpPr>
          <p:cNvPr id="30723" name="Text Box 3"/>
          <p:cNvSpPr txBox="1">
            <a:spLocks noChangeArrowheads="1"/>
          </p:cNvSpPr>
          <p:nvPr/>
        </p:nvSpPr>
        <p:spPr bwMode="auto">
          <a:xfrm>
            <a:off x="107950" y="1268413"/>
            <a:ext cx="8964613" cy="474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342900" indent="-342900"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Char char="n"/>
              <a:defRPr/>
            </a:pPr>
            <a:r>
              <a:rPr lang="en-US" sz="2800" dirty="0">
                <a:latin typeface="Calibri" pitchFamily="34" charset="0"/>
              </a:rPr>
              <a:t>The syntax to declare </a:t>
            </a:r>
            <a:r>
              <a:rPr lang="en-US" sz="2800" b="1" dirty="0">
                <a:solidFill>
                  <a:srgbClr val="2C14DE"/>
                </a:solidFill>
                <a:latin typeface="Calibri" pitchFamily="34" charset="0"/>
              </a:rPr>
              <a:t>an object using a constructor </a:t>
            </a:r>
            <a:r>
              <a:rPr lang="en-US" sz="2800" b="1" u="sng" dirty="0">
                <a:solidFill>
                  <a:srgbClr val="2C14DE"/>
                </a:solidFill>
                <a:latin typeface="Calibri" pitchFamily="34" charset="0"/>
              </a:rPr>
              <a:t>with arguments</a:t>
            </a:r>
            <a:r>
              <a:rPr lang="en-US" sz="2800" dirty="0">
                <a:latin typeface="Calibri" pitchFamily="34" charset="0"/>
              </a:rPr>
              <a:t> is:</a:t>
            </a:r>
          </a:p>
          <a:p>
            <a:pPr marL="342900" indent="-342900"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Char char="n"/>
              <a:defRPr/>
            </a:pPr>
            <a:endParaRPr lang="en-US" sz="2800" u="sng" dirty="0">
              <a:latin typeface="Calibri" pitchFamily="34" charset="0"/>
            </a:endParaRPr>
          </a:p>
          <a:p>
            <a:pPr algn="ctr">
              <a:spcBef>
                <a:spcPct val="20000"/>
              </a:spcBef>
              <a:buClr>
                <a:srgbClr val="00007D"/>
              </a:buClr>
              <a:buSzPct val="75000"/>
              <a:defRPr/>
            </a:pPr>
            <a:r>
              <a:rPr lang="en-US" sz="2800" b="1" i="1" dirty="0" err="1">
                <a:solidFill>
                  <a:srgbClr val="FF0000"/>
                </a:solidFill>
                <a:latin typeface="Calibri" pitchFamily="34" charset="0"/>
              </a:rPr>
              <a:t>ClassName</a:t>
            </a:r>
            <a:r>
              <a:rPr lang="en-US" sz="2800" b="1" i="1" dirty="0">
                <a:solidFill>
                  <a:srgbClr val="FF0000"/>
                </a:solidFill>
                <a:latin typeface="Calibri" pitchFamily="34" charset="0"/>
              </a:rPr>
              <a:t>     </a:t>
            </a:r>
            <a:r>
              <a:rPr lang="en-US" sz="2800" b="1" i="1" dirty="0" err="1">
                <a:solidFill>
                  <a:srgbClr val="FF0000"/>
                </a:solidFill>
                <a:latin typeface="Calibri" pitchFamily="34" charset="0"/>
              </a:rPr>
              <a:t>objectName</a:t>
            </a:r>
            <a:r>
              <a:rPr lang="en-US" sz="2800" b="1" i="1" dirty="0">
                <a:solidFill>
                  <a:srgbClr val="FF0000"/>
                </a:solidFill>
                <a:latin typeface="Calibri" pitchFamily="34" charset="0"/>
              </a:rPr>
              <a:t>(arguments);</a:t>
            </a:r>
          </a:p>
          <a:p>
            <a:pPr marL="342900" indent="-342900"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Char char="n"/>
              <a:defRPr/>
            </a:pPr>
            <a:endParaRPr lang="en-US" sz="2800" u="sng" dirty="0">
              <a:latin typeface="Calibri" pitchFamily="34" charset="0"/>
            </a:endParaRPr>
          </a:p>
          <a:p>
            <a:pPr marL="342900" indent="-342900"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Char char="n"/>
              <a:defRPr/>
            </a:pPr>
            <a:r>
              <a:rPr lang="en-US" sz="2800" dirty="0">
                <a:latin typeface="Calibri" pitchFamily="34" charset="0"/>
              </a:rPr>
              <a:t>For example, the </a:t>
            </a:r>
            <a:r>
              <a:rPr lang="en-US" sz="2800" b="1" dirty="0">
                <a:latin typeface="Calibri" pitchFamily="34" charset="0"/>
              </a:rPr>
              <a:t>following declaration creates an object </a:t>
            </a:r>
            <a:r>
              <a:rPr lang="en-US" sz="2800" dirty="0">
                <a:latin typeface="Calibri" pitchFamily="34" charset="0"/>
              </a:rPr>
              <a:t>named </a:t>
            </a:r>
            <a:r>
              <a:rPr lang="en-US" sz="2800" b="1" i="1" dirty="0">
                <a:latin typeface="Calibri" pitchFamily="34" charset="0"/>
              </a:rPr>
              <a:t>circle1</a:t>
            </a:r>
            <a:r>
              <a:rPr lang="en-US" sz="2800" dirty="0">
                <a:latin typeface="Calibri" pitchFamily="34" charset="0"/>
              </a:rPr>
              <a:t> by invoking the </a:t>
            </a:r>
            <a:r>
              <a:rPr lang="en-US" sz="2800" b="1" i="1" dirty="0">
                <a:latin typeface="Calibri" pitchFamily="34" charset="0"/>
              </a:rPr>
              <a:t>Circle</a:t>
            </a:r>
            <a:r>
              <a:rPr lang="en-US" sz="2800" dirty="0">
                <a:latin typeface="Calibri" pitchFamily="34" charset="0"/>
              </a:rPr>
              <a:t> class’s </a:t>
            </a:r>
            <a:r>
              <a:rPr lang="en-US" sz="2800" b="1" dirty="0">
                <a:latin typeface="Calibri" pitchFamily="34" charset="0"/>
              </a:rPr>
              <a:t>constructor</a:t>
            </a:r>
            <a:r>
              <a:rPr lang="en-US" sz="2800" dirty="0">
                <a:latin typeface="Calibri" pitchFamily="34" charset="0"/>
              </a:rPr>
              <a:t> with a specified radius </a:t>
            </a:r>
            <a:r>
              <a:rPr lang="en-US" sz="2800" b="1" i="1" dirty="0">
                <a:latin typeface="Calibri" pitchFamily="34" charset="0"/>
              </a:rPr>
              <a:t>5.5</a:t>
            </a:r>
            <a:r>
              <a:rPr lang="en-US" sz="2800" dirty="0">
                <a:latin typeface="Calibri" pitchFamily="34" charset="0"/>
              </a:rPr>
              <a:t>.</a:t>
            </a:r>
          </a:p>
          <a:p>
            <a:pPr>
              <a:defRPr/>
            </a:pPr>
            <a:endParaRPr lang="en-US" sz="2800" u="sng" dirty="0">
              <a:latin typeface="Calibri" pitchFamily="34" charset="0"/>
            </a:endParaRPr>
          </a:p>
          <a:p>
            <a:pPr algn="ctr">
              <a:defRPr/>
            </a:pPr>
            <a:r>
              <a:rPr lang="en-US" sz="2800" b="1" dirty="0">
                <a:latin typeface="Consolas" panose="020B0609020204030204" pitchFamily="49" charset="0"/>
              </a:rPr>
              <a:t>Circle   circle1(5.5);</a:t>
            </a:r>
          </a:p>
        </p:txBody>
      </p:sp>
      <p:sp>
        <p:nvSpPr>
          <p:cNvPr id="4" name="Rectangle 3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567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54066"/>
            <a:ext cx="9144000" cy="547596"/>
          </a:xfrm>
        </p:spPr>
        <p:txBody>
          <a:bodyPr lIns="92075" tIns="46038" rIns="92075" bIns="46038">
            <a:noAutofit/>
          </a:bodyPr>
          <a:lstStyle/>
          <a:p>
            <a:r>
              <a:rPr lang="en-US" altLang="zh-CN" sz="2800" b="1" dirty="0">
                <a:latin typeface="Calibri" pitchFamily="34" charset="0"/>
              </a:rPr>
              <a:t>A Simple Program – </a:t>
            </a:r>
            <a:r>
              <a:rPr lang="en-US" altLang="zh-CN" sz="2800" b="1" i="1" dirty="0">
                <a:solidFill>
                  <a:srgbClr val="FF0000"/>
                </a:solidFill>
                <a:latin typeface="Calibri" pitchFamily="34" charset="0"/>
              </a:rPr>
              <a:t>Constructor with Arguments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11188" y="669925"/>
            <a:ext cx="5400675" cy="3687763"/>
          </a:xfrm>
          <a:solidFill>
            <a:schemeClr val="accent1">
              <a:lumMod val="20000"/>
              <a:lumOff val="80000"/>
            </a:schemeClr>
          </a:solidFill>
        </p:spPr>
        <p:txBody>
          <a:bodyPr lIns="92075" tIns="46038" rIns="92075" bIns="46038">
            <a:normAutofit lnSpcReduction="10000"/>
          </a:bodyPr>
          <a:lstStyle/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class  Circle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{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	private: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	     double radius;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public:</a:t>
            </a:r>
          </a:p>
          <a:p>
            <a:pPr>
              <a:lnSpc>
                <a:spcPct val="80000"/>
              </a:lnSpc>
              <a:buNone/>
              <a:defRPr/>
            </a:pPr>
            <a:r>
              <a:rPr lang="en-US" altLang="zh-CN" sz="2000" b="1" dirty="0">
                <a:latin typeface="Calibri" pitchFamily="34" charset="0"/>
              </a:rPr>
              <a:t>	Circle( ) {}</a:t>
            </a:r>
            <a:endParaRPr lang="en-US" altLang="zh-CN" sz="2200" b="1" dirty="0">
              <a:latin typeface="Calibri" pitchFamily="34" charset="0"/>
            </a:endParaRP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	</a:t>
            </a:r>
            <a:r>
              <a:rPr lang="en-US" altLang="zh-CN" sz="2400" b="1" dirty="0">
                <a:latin typeface="Calibri" pitchFamily="34" charset="0"/>
              </a:rPr>
              <a:t>Circle(double rad)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400" b="1" dirty="0">
                <a:latin typeface="Calibri" pitchFamily="34" charset="0"/>
              </a:rPr>
              <a:t>	{  	radius = rad;    }</a:t>
            </a:r>
            <a:endParaRPr lang="en-US" altLang="zh-CN" sz="2200" b="1" dirty="0">
              <a:latin typeface="Calibri" pitchFamily="34" charset="0"/>
            </a:endParaRP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	double   </a:t>
            </a:r>
            <a:r>
              <a:rPr lang="en-US" altLang="zh-CN" sz="2200" b="1" dirty="0" err="1">
                <a:latin typeface="Calibri" pitchFamily="34" charset="0"/>
              </a:rPr>
              <a:t>getArea</a:t>
            </a:r>
            <a:r>
              <a:rPr lang="en-US" altLang="zh-CN" sz="2200" b="1" dirty="0">
                <a:latin typeface="Calibri" pitchFamily="34" charset="0"/>
              </a:rPr>
              <a:t>()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	{  return radius *  radius  *  3.14159; }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};</a:t>
            </a:r>
          </a:p>
        </p:txBody>
      </p:sp>
      <p:sp>
        <p:nvSpPr>
          <p:cNvPr id="13317" name="Rectangle 8"/>
          <p:cNvSpPr>
            <a:spLocks noChangeArrowheads="1"/>
          </p:cNvSpPr>
          <p:nvPr/>
        </p:nvSpPr>
        <p:spPr bwMode="auto">
          <a:xfrm>
            <a:off x="835025" y="2404683"/>
            <a:ext cx="3095625" cy="719138"/>
          </a:xfrm>
          <a:prstGeom prst="rect">
            <a:avLst/>
          </a:prstGeom>
          <a:solidFill>
            <a:schemeClr val="accent3">
              <a:lumMod val="40000"/>
              <a:lumOff val="60000"/>
              <a:alpha val="45097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320" name="Rectangle 11"/>
          <p:cNvSpPr>
            <a:spLocks noChangeArrowheads="1"/>
          </p:cNvSpPr>
          <p:nvPr/>
        </p:nvSpPr>
        <p:spPr bwMode="auto">
          <a:xfrm>
            <a:off x="6716712" y="901700"/>
            <a:ext cx="1897063" cy="40957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lIns="9144" tIns="9144" rIns="9144" bIns="9144" anchor="ctr"/>
          <a:lstStyle/>
          <a:p>
            <a:pPr algn="ctr" eaLnBrk="0" hangingPunct="0"/>
            <a:r>
              <a:rPr lang="en-US" sz="2200" dirty="0">
                <a:latin typeface="Calibri" pitchFamily="34" charset="0"/>
              </a:rPr>
              <a:t>Object Instance</a:t>
            </a:r>
          </a:p>
        </p:txBody>
      </p:sp>
      <p:sp>
        <p:nvSpPr>
          <p:cNvPr id="13321" name="Text Box 12"/>
          <p:cNvSpPr txBox="1">
            <a:spLocks noChangeArrowheads="1"/>
          </p:cNvSpPr>
          <p:nvPr/>
        </p:nvSpPr>
        <p:spPr bwMode="auto">
          <a:xfrm>
            <a:off x="6284913" y="901700"/>
            <a:ext cx="576262" cy="47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500" b="1" dirty="0">
                <a:latin typeface="Calibri" pitchFamily="34" charset="0"/>
              </a:rPr>
              <a:t>C1</a:t>
            </a:r>
          </a:p>
        </p:txBody>
      </p:sp>
      <p:grpSp>
        <p:nvGrpSpPr>
          <p:cNvPr id="2" name="Group 1"/>
          <p:cNvGrpSpPr>
            <a:grpSpLocks/>
          </p:cNvGrpSpPr>
          <p:nvPr/>
        </p:nvGrpSpPr>
        <p:grpSpPr bwMode="auto">
          <a:xfrm>
            <a:off x="6083300" y="1323975"/>
            <a:ext cx="2851150" cy="2116138"/>
            <a:chOff x="6083300" y="1324084"/>
            <a:chExt cx="2851150" cy="2116029"/>
          </a:xfrm>
        </p:grpSpPr>
        <p:graphicFrame>
          <p:nvGraphicFramePr>
            <p:cNvPr id="26636" name="Object 10"/>
            <p:cNvGraphicFramePr>
              <a:graphicFrameLocks noChangeAspect="1"/>
            </p:cNvGraphicFramePr>
            <p:nvPr/>
          </p:nvGraphicFramePr>
          <p:xfrm>
            <a:off x="6083300" y="1957388"/>
            <a:ext cx="2851150" cy="14827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33" name="Picture" r:id="rId3" imgW="1028510" imgH="456439" progId="Word.Picture.8">
                    <p:embed/>
                  </p:oleObj>
                </mc:Choice>
                <mc:Fallback>
                  <p:oleObj name="Picture" r:id="rId3" imgW="1028510" imgH="456439" progId="Word.Picture.8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83300" y="1957388"/>
                          <a:ext cx="2851150" cy="1482725"/>
                        </a:xfrm>
                        <a:prstGeom prst="rect">
                          <a:avLst/>
                        </a:prstGeom>
                        <a:solidFill>
                          <a:srgbClr val="CACAFF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637" name="Line 14"/>
            <p:cNvSpPr>
              <a:spLocks noChangeShapeType="1"/>
            </p:cNvSpPr>
            <p:nvPr/>
          </p:nvSpPr>
          <p:spPr bwMode="auto">
            <a:xfrm flipH="1" flipV="1">
              <a:off x="7308304" y="1324084"/>
              <a:ext cx="360363" cy="865188"/>
            </a:xfrm>
            <a:prstGeom prst="line">
              <a:avLst/>
            </a:prstGeom>
            <a:noFill/>
            <a:ln w="508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Rectangle 3"/>
          <p:cNvSpPr txBox="1">
            <a:spLocks noChangeArrowheads="1"/>
          </p:cNvSpPr>
          <p:nvPr/>
        </p:nvSpPr>
        <p:spPr bwMode="auto">
          <a:xfrm>
            <a:off x="611188" y="4581525"/>
            <a:ext cx="8424862" cy="20828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lIns="92075" tIns="46038" rIns="92075" bIns="46038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void main()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{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       Circle     C1(9.0);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      //C1.radius = 10;      can’t access private member outside the class 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     </a:t>
            </a:r>
            <a:r>
              <a:rPr lang="en-US" altLang="zh-CN" sz="2200" b="1" dirty="0" err="1">
                <a:latin typeface="Calibri" pitchFamily="34" charset="0"/>
              </a:rPr>
              <a:t>cout</a:t>
            </a:r>
            <a:r>
              <a:rPr lang="en-US" altLang="zh-CN" sz="2200" b="1" dirty="0">
                <a:latin typeface="Calibri" pitchFamily="34" charset="0"/>
              </a:rPr>
              <a:t>&lt;&lt;“Area of circle = “&lt;&lt;C1.getArea();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}</a:t>
            </a:r>
          </a:p>
        </p:txBody>
      </p:sp>
      <p:sp>
        <p:nvSpPr>
          <p:cNvPr id="13316" name="Rectangle 6"/>
          <p:cNvSpPr>
            <a:spLocks noChangeArrowheads="1"/>
          </p:cNvSpPr>
          <p:nvPr/>
        </p:nvSpPr>
        <p:spPr bwMode="auto">
          <a:xfrm>
            <a:off x="955675" y="5268913"/>
            <a:ext cx="3592513" cy="295275"/>
          </a:xfrm>
          <a:prstGeom prst="rect">
            <a:avLst/>
          </a:prstGeom>
          <a:solidFill>
            <a:schemeClr val="accent3">
              <a:lumMod val="40000"/>
              <a:lumOff val="60000"/>
              <a:alpha val="45097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" name="Line 14"/>
          <p:cNvSpPr>
            <a:spLocks noChangeShapeType="1"/>
          </p:cNvSpPr>
          <p:nvPr/>
        </p:nvSpPr>
        <p:spPr bwMode="auto">
          <a:xfrm flipH="1" flipV="1">
            <a:off x="3930650" y="2965450"/>
            <a:ext cx="0" cy="2405063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6983" name="AutoShape 7"/>
          <p:cNvSpPr>
            <a:spLocks noChangeArrowheads="1"/>
          </p:cNvSpPr>
          <p:nvPr/>
        </p:nvSpPr>
        <p:spPr bwMode="auto">
          <a:xfrm>
            <a:off x="6732588" y="3717925"/>
            <a:ext cx="1881187" cy="615950"/>
          </a:xfrm>
          <a:prstGeom prst="wedgeRoundRectCallout">
            <a:avLst>
              <a:gd name="adj1" fmla="val 1560"/>
              <a:gd name="adj2" fmla="val -155926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algn="ctr" eaLnBrk="0" hangingPunct="0">
              <a:defRPr/>
            </a:pPr>
            <a:r>
              <a:rPr lang="en-US" altLang="zh-CN" dirty="0">
                <a:latin typeface="Calibri" pitchFamily="34" charset="0"/>
              </a:rPr>
              <a:t>Allocate memory for radius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100" y="5334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61542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13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3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2000"/>
                                        <p:tgtEl>
                                          <p:spTgt spid="13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4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766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7" grpId="0" animBg="1"/>
      <p:bldP spid="13320" grpId="0" animBg="1"/>
      <p:bldP spid="13321" grpId="0"/>
      <p:bldP spid="13316" grpId="0" animBg="1"/>
      <p:bldP spid="13" grpId="0" animBg="1"/>
      <p:bldP spid="76698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" y="44450"/>
            <a:ext cx="9067800" cy="717550"/>
          </a:xfrm>
        </p:spPr>
        <p:txBody>
          <a:bodyPr lIns="92075" tIns="46038" rIns="92075" bIns="46038">
            <a:normAutofit/>
          </a:bodyPr>
          <a:lstStyle/>
          <a:p>
            <a:r>
              <a:rPr lang="en-US" altLang="zh-CN" sz="3200" b="1" dirty="0">
                <a:solidFill>
                  <a:srgbClr val="B80000"/>
                </a:solidFill>
                <a:latin typeface="Calibri" pitchFamily="34" charset="0"/>
              </a:rPr>
              <a:t>Output of the following Program?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752600" y="884237"/>
            <a:ext cx="5400675" cy="4068763"/>
          </a:xfrm>
          <a:solidFill>
            <a:schemeClr val="accent5">
              <a:lumMod val="20000"/>
              <a:lumOff val="80000"/>
            </a:schemeClr>
          </a:solidFill>
        </p:spPr>
        <p:txBody>
          <a:bodyPr lIns="92075" tIns="46038" rIns="92075" bIns="46038">
            <a:normAutofit lnSpcReduction="10000"/>
          </a:bodyPr>
          <a:lstStyle/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class  Circle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{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	private: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	     double radius;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endParaRPr lang="en-US" altLang="zh-CN" sz="1200" b="1" dirty="0">
              <a:latin typeface="Calibri" pitchFamily="34" charset="0"/>
            </a:endParaRP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  	public:</a:t>
            </a:r>
          </a:p>
          <a:p>
            <a:pPr>
              <a:lnSpc>
                <a:spcPct val="80000"/>
              </a:lnSpc>
              <a:buNone/>
              <a:defRPr/>
            </a:pPr>
            <a:r>
              <a:rPr lang="en-US" altLang="zh-CN" sz="2000" b="1" dirty="0">
                <a:latin typeface="Calibri" pitchFamily="34" charset="0"/>
              </a:rPr>
              <a:t>	//Circle( ) {  }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endParaRPr lang="en-US" altLang="zh-CN" sz="2200" b="1" dirty="0">
              <a:latin typeface="Calibri" pitchFamily="34" charset="0"/>
            </a:endParaRP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	</a:t>
            </a:r>
            <a:r>
              <a:rPr lang="en-US" altLang="zh-CN" sz="2400" b="1" dirty="0">
                <a:latin typeface="Calibri" pitchFamily="34" charset="0"/>
              </a:rPr>
              <a:t>Circle(double rad)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400" b="1" dirty="0">
                <a:latin typeface="Calibri" pitchFamily="34" charset="0"/>
              </a:rPr>
              <a:t>	{  	radius = rad;    }</a:t>
            </a:r>
            <a:endParaRPr lang="en-US" altLang="zh-CN" sz="2200" b="1" dirty="0">
              <a:latin typeface="Calibri" pitchFamily="34" charset="0"/>
            </a:endParaRP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	double   </a:t>
            </a:r>
            <a:r>
              <a:rPr lang="en-US" altLang="zh-CN" sz="2200" b="1" dirty="0" err="1">
                <a:latin typeface="Calibri" pitchFamily="34" charset="0"/>
              </a:rPr>
              <a:t>getArea</a:t>
            </a:r>
            <a:r>
              <a:rPr lang="en-US" altLang="zh-CN" sz="2200" b="1" dirty="0">
                <a:latin typeface="Calibri" pitchFamily="34" charset="0"/>
              </a:rPr>
              <a:t>()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	{  return radius *  radius  *  3.14159; }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};</a:t>
            </a:r>
          </a:p>
        </p:txBody>
      </p:sp>
      <p:sp>
        <p:nvSpPr>
          <p:cNvPr id="12" name="Rectangle 3"/>
          <p:cNvSpPr txBox="1">
            <a:spLocks noChangeArrowheads="1"/>
          </p:cNvSpPr>
          <p:nvPr/>
        </p:nvSpPr>
        <p:spPr bwMode="auto">
          <a:xfrm>
            <a:off x="1447800" y="5029200"/>
            <a:ext cx="6481763" cy="16573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lIns="92075" tIns="46038" rIns="92075" bIns="46038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void main()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{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       </a:t>
            </a:r>
            <a:r>
              <a:rPr lang="en-US" altLang="zh-CN" sz="2200" b="1" dirty="0">
                <a:solidFill>
                  <a:srgbClr val="C00000"/>
                </a:solidFill>
                <a:latin typeface="Calibri" pitchFamily="34" charset="0"/>
              </a:rPr>
              <a:t>Circle     C1;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       </a:t>
            </a:r>
            <a:r>
              <a:rPr lang="en-US" altLang="zh-CN" sz="2200" b="1" dirty="0" err="1">
                <a:latin typeface="Calibri" pitchFamily="34" charset="0"/>
              </a:rPr>
              <a:t>cout</a:t>
            </a:r>
            <a:r>
              <a:rPr lang="en-US" altLang="zh-CN" sz="2200" b="1" dirty="0">
                <a:latin typeface="Calibri" pitchFamily="34" charset="0"/>
              </a:rPr>
              <a:t>&lt;&lt;“Area of circle = “&lt;&lt;C1.getArea();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}</a:t>
            </a:r>
          </a:p>
        </p:txBody>
      </p:sp>
      <p:sp>
        <p:nvSpPr>
          <p:cNvPr id="5" name="Rectangle 4"/>
          <p:cNvSpPr/>
          <p:nvPr/>
        </p:nvSpPr>
        <p:spPr>
          <a:xfrm>
            <a:off x="1" y="6858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446968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35"/>
          <p:cNvSpPr>
            <a:spLocks noGrp="1" noChangeArrowheads="1"/>
          </p:cNvSpPr>
          <p:nvPr>
            <p:ph type="title"/>
          </p:nvPr>
        </p:nvSpPr>
        <p:spPr>
          <a:xfrm>
            <a:off x="39756" y="0"/>
            <a:ext cx="9104244" cy="944881"/>
          </a:xfrm>
        </p:spPr>
        <p:txBody>
          <a:bodyPr/>
          <a:lstStyle/>
          <a:p>
            <a:r>
              <a:rPr lang="en-US" b="1" dirty="0" err="1">
                <a:solidFill>
                  <a:srgbClr val="D20000"/>
                </a:solidFill>
              </a:rPr>
              <a:t>const</a:t>
            </a:r>
            <a:r>
              <a:rPr lang="en-US" b="1" dirty="0">
                <a:solidFill>
                  <a:srgbClr val="D20000"/>
                </a:solidFill>
              </a:rPr>
              <a:t> Member Functions</a:t>
            </a:r>
          </a:p>
        </p:txBody>
      </p:sp>
      <p:sp>
        <p:nvSpPr>
          <p:cNvPr id="8195" name="Rectangle 36"/>
          <p:cNvSpPr>
            <a:spLocks noGrp="1" noChangeArrowheads="1"/>
          </p:cNvSpPr>
          <p:nvPr>
            <p:ph type="body" idx="1"/>
          </p:nvPr>
        </p:nvSpPr>
        <p:spPr>
          <a:xfrm>
            <a:off x="-36444" y="944881"/>
            <a:ext cx="9144000" cy="5638800"/>
          </a:xfrm>
        </p:spPr>
        <p:txBody>
          <a:bodyPr/>
          <a:lstStyle/>
          <a:p>
            <a:r>
              <a:rPr lang="en-US" sz="3000" b="1" dirty="0" err="1">
                <a:solidFill>
                  <a:srgbClr val="D20000"/>
                </a:solidFill>
              </a:rPr>
              <a:t>const</a:t>
            </a:r>
            <a:r>
              <a:rPr lang="en-US" sz="3000" b="1" dirty="0">
                <a:solidFill>
                  <a:srgbClr val="D20000"/>
                </a:solidFill>
              </a:rPr>
              <a:t> Member Functions: </a:t>
            </a:r>
            <a:r>
              <a:rPr lang="en-US" sz="3000" b="1" dirty="0">
                <a:solidFill>
                  <a:srgbClr val="2C14DE"/>
                </a:solidFill>
              </a:rPr>
              <a:t>Read-only </a:t>
            </a:r>
            <a:r>
              <a:rPr lang="en-US" sz="3000" b="1" dirty="0"/>
              <a:t>functions </a:t>
            </a:r>
            <a:r>
              <a:rPr lang="en-US" sz="3000" b="1" dirty="0">
                <a:solidFill>
                  <a:srgbClr val="2C14DE"/>
                </a:solidFill>
              </a:rPr>
              <a:t>cannot modify</a:t>
            </a:r>
            <a:r>
              <a:rPr lang="en-US" sz="3000" b="1" dirty="0"/>
              <a:t> object’s </a:t>
            </a:r>
            <a:r>
              <a:rPr lang="en-US" sz="3000" b="1" dirty="0">
                <a:solidFill>
                  <a:srgbClr val="2C14DE"/>
                </a:solidFill>
              </a:rPr>
              <a:t>data members</a:t>
            </a:r>
          </a:p>
          <a:p>
            <a:endParaRPr lang="en-US" sz="3000" b="1" dirty="0">
              <a:solidFill>
                <a:srgbClr val="2C14DE"/>
              </a:solidFill>
            </a:endParaRPr>
          </a:p>
          <a:p>
            <a:endParaRPr lang="en-US" b="1" dirty="0">
              <a:solidFill>
                <a:srgbClr val="2C14DE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t="52057"/>
          <a:stretch/>
        </p:blipFill>
        <p:spPr>
          <a:xfrm>
            <a:off x="533400" y="2438400"/>
            <a:ext cx="8235888" cy="631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69117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" y="44450"/>
            <a:ext cx="9067800" cy="457200"/>
          </a:xfrm>
        </p:spPr>
        <p:txBody>
          <a:bodyPr lIns="92075" tIns="46038" rIns="92075" bIns="46038">
            <a:normAutofit fontScale="90000"/>
          </a:bodyPr>
          <a:lstStyle/>
          <a:p>
            <a:r>
              <a:rPr lang="en-US" altLang="zh-CN" sz="3200" b="1" dirty="0">
                <a:solidFill>
                  <a:srgbClr val="B80000"/>
                </a:solidFill>
                <a:latin typeface="Calibri" pitchFamily="34" charset="0"/>
              </a:rPr>
              <a:t>Constant Functions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906588" y="630238"/>
            <a:ext cx="5402262" cy="4151312"/>
          </a:xfrm>
          <a:solidFill>
            <a:schemeClr val="accent5">
              <a:lumMod val="20000"/>
              <a:lumOff val="80000"/>
            </a:schemeClr>
          </a:solidFill>
        </p:spPr>
        <p:txBody>
          <a:bodyPr lIns="92075" tIns="46038" rIns="92075" bIns="46038"/>
          <a:lstStyle/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class  Circle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{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	private: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	     double radius;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  	public: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	Circle ()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      {    radius = 1;        }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     </a:t>
            </a:r>
            <a:r>
              <a:rPr lang="en-US" altLang="zh-CN" sz="2400" b="1" dirty="0">
                <a:latin typeface="Calibri" pitchFamily="34" charset="0"/>
              </a:rPr>
              <a:t>Circle(double rad)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400" b="1" dirty="0">
                <a:latin typeface="Calibri" pitchFamily="34" charset="0"/>
              </a:rPr>
              <a:t>	{  	radius = rad;    }</a:t>
            </a:r>
            <a:endParaRPr lang="en-US" altLang="zh-CN" sz="2200" b="1" dirty="0">
              <a:latin typeface="Calibri" pitchFamily="34" charset="0"/>
            </a:endParaRP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	double   </a:t>
            </a:r>
            <a:r>
              <a:rPr lang="en-US" altLang="zh-CN" sz="2200" b="1" dirty="0" err="1">
                <a:latin typeface="Calibri" pitchFamily="34" charset="0"/>
              </a:rPr>
              <a:t>getArea</a:t>
            </a:r>
            <a:r>
              <a:rPr lang="en-US" altLang="zh-CN" sz="2200" b="1" dirty="0">
                <a:latin typeface="Calibri" pitchFamily="34" charset="0"/>
              </a:rPr>
              <a:t>() </a:t>
            </a:r>
            <a:r>
              <a:rPr lang="en-US" altLang="zh-CN" sz="2200" b="1" dirty="0" err="1">
                <a:solidFill>
                  <a:srgbClr val="2C14DE"/>
                </a:solidFill>
                <a:latin typeface="Calibri" pitchFamily="34" charset="0"/>
              </a:rPr>
              <a:t>const</a:t>
            </a:r>
            <a:endParaRPr lang="en-US" altLang="zh-CN" sz="2200" b="1" dirty="0">
              <a:solidFill>
                <a:srgbClr val="2C14DE"/>
              </a:solidFill>
              <a:latin typeface="Calibri" pitchFamily="34" charset="0"/>
            </a:endParaRP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	{  return radius *  radius  *  3.14159; }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};</a:t>
            </a:r>
          </a:p>
        </p:txBody>
      </p:sp>
      <p:sp>
        <p:nvSpPr>
          <p:cNvPr id="12" name="Rectangle 3"/>
          <p:cNvSpPr txBox="1">
            <a:spLocks noChangeArrowheads="1"/>
          </p:cNvSpPr>
          <p:nvPr/>
        </p:nvSpPr>
        <p:spPr bwMode="auto">
          <a:xfrm>
            <a:off x="1403350" y="4829175"/>
            <a:ext cx="6481763" cy="19685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lIns="92075" tIns="46038" rIns="92075" bIns="46038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void main()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{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       Circle      C2(8.0);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	  Circle     C1;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       </a:t>
            </a:r>
            <a:r>
              <a:rPr lang="en-US" altLang="zh-CN" sz="2200" b="1" dirty="0" err="1">
                <a:latin typeface="Calibri" pitchFamily="34" charset="0"/>
              </a:rPr>
              <a:t>cout</a:t>
            </a:r>
            <a:r>
              <a:rPr lang="en-US" altLang="zh-CN" sz="2200" b="1" dirty="0">
                <a:latin typeface="Calibri" pitchFamily="34" charset="0"/>
              </a:rPr>
              <a:t>&lt;&lt;“Area of circle = “&lt;&lt;C1.getArea();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}</a:t>
            </a:r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2268538" y="2276475"/>
            <a:ext cx="3095625" cy="1439863"/>
          </a:xfrm>
          <a:prstGeom prst="rect">
            <a:avLst/>
          </a:prstGeom>
          <a:solidFill>
            <a:schemeClr val="accent2">
              <a:lumMod val="20000"/>
              <a:lumOff val="80000"/>
              <a:alpha val="45097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" name="Freeform 4"/>
          <p:cNvSpPr/>
          <p:nvPr/>
        </p:nvSpPr>
        <p:spPr>
          <a:xfrm>
            <a:off x="3925888" y="3184525"/>
            <a:ext cx="2940050" cy="2474913"/>
          </a:xfrm>
          <a:custGeom>
            <a:avLst/>
            <a:gdLst>
              <a:gd name="connsiteX0" fmla="*/ 0 w 2940650"/>
              <a:gd name="connsiteY0" fmla="*/ 2475187 h 2475187"/>
              <a:gd name="connsiteX1" fmla="*/ 2932386 w 2940650"/>
              <a:gd name="connsiteY1" fmla="*/ 1119352 h 2475187"/>
              <a:gd name="connsiteX2" fmla="*/ 709448 w 2940650"/>
              <a:gd name="connsiteY2" fmla="*/ 0 h 2475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40650" h="2475187">
                <a:moveTo>
                  <a:pt x="0" y="2475187"/>
                </a:moveTo>
                <a:cubicBezTo>
                  <a:pt x="1407072" y="2003535"/>
                  <a:pt x="2814145" y="1531883"/>
                  <a:pt x="2932386" y="1119352"/>
                </a:cubicBezTo>
                <a:cubicBezTo>
                  <a:pt x="3050627" y="706821"/>
                  <a:pt x="1880037" y="353410"/>
                  <a:pt x="709448" y="0"/>
                </a:cubicBezTo>
              </a:path>
            </a:pathLst>
          </a:cu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Freeform 5"/>
          <p:cNvSpPr/>
          <p:nvPr/>
        </p:nvSpPr>
        <p:spPr>
          <a:xfrm>
            <a:off x="3389313" y="2362200"/>
            <a:ext cx="3879850" cy="3660775"/>
          </a:xfrm>
          <a:custGeom>
            <a:avLst/>
            <a:gdLst>
              <a:gd name="connsiteX0" fmla="*/ 31531 w 3879517"/>
              <a:gd name="connsiteY0" fmla="*/ 3659580 h 3659580"/>
              <a:gd name="connsiteX1" fmla="*/ 3263462 w 3879517"/>
              <a:gd name="connsiteY1" fmla="*/ 2760945 h 3659580"/>
              <a:gd name="connsiteX2" fmla="*/ 3736428 w 3879517"/>
              <a:gd name="connsiteY2" fmla="*/ 1436642 h 3659580"/>
              <a:gd name="connsiteX3" fmla="*/ 1529255 w 3879517"/>
              <a:gd name="connsiteY3" fmla="*/ 128104 h 3659580"/>
              <a:gd name="connsiteX4" fmla="*/ 0 w 3879517"/>
              <a:gd name="connsiteY4" fmla="*/ 49276 h 3659580"/>
              <a:gd name="connsiteX5" fmla="*/ 0 w 3879517"/>
              <a:gd name="connsiteY5" fmla="*/ 49276 h 3659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879517" h="3659580">
                <a:moveTo>
                  <a:pt x="31531" y="3659580"/>
                </a:moveTo>
                <a:cubicBezTo>
                  <a:pt x="1338755" y="3395507"/>
                  <a:pt x="2645979" y="3131435"/>
                  <a:pt x="3263462" y="2760945"/>
                </a:cubicBezTo>
                <a:cubicBezTo>
                  <a:pt x="3880945" y="2390455"/>
                  <a:pt x="4025462" y="1875449"/>
                  <a:pt x="3736428" y="1436642"/>
                </a:cubicBezTo>
                <a:cubicBezTo>
                  <a:pt x="3447394" y="997835"/>
                  <a:pt x="2151993" y="359332"/>
                  <a:pt x="1529255" y="128104"/>
                </a:cubicBezTo>
                <a:cubicBezTo>
                  <a:pt x="906517" y="-103124"/>
                  <a:pt x="0" y="49276"/>
                  <a:pt x="0" y="49276"/>
                </a:cubicBezTo>
                <a:lnTo>
                  <a:pt x="0" y="49276"/>
                </a:lnTo>
              </a:path>
            </a:pathLst>
          </a:cu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Rounded Rectangle 1"/>
          <p:cNvSpPr/>
          <p:nvPr/>
        </p:nvSpPr>
        <p:spPr>
          <a:xfrm>
            <a:off x="6665912" y="3378597"/>
            <a:ext cx="2438401" cy="1584722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 err="1"/>
              <a:t>const</a:t>
            </a:r>
            <a:r>
              <a:rPr lang="en-US" sz="2400" b="1" dirty="0"/>
              <a:t> member function </a:t>
            </a:r>
            <a:r>
              <a:rPr lang="en-US" sz="2400" b="1" dirty="0">
                <a:solidFill>
                  <a:srgbClr val="D20000"/>
                </a:solidFill>
              </a:rPr>
              <a:t>cannot update/change object’s data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13" y="504984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87195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2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35"/>
          <p:cNvSpPr>
            <a:spLocks noGrp="1" noChangeArrowheads="1"/>
          </p:cNvSpPr>
          <p:nvPr>
            <p:ph type="title"/>
          </p:nvPr>
        </p:nvSpPr>
        <p:spPr>
          <a:xfrm>
            <a:off x="39756" y="0"/>
            <a:ext cx="9104244" cy="944881"/>
          </a:xfrm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n-US" sz="3600" b="1" dirty="0" err="1">
                <a:solidFill>
                  <a:srgbClr val="D20000"/>
                </a:solidFill>
              </a:rPr>
              <a:t>Accessors</a:t>
            </a:r>
            <a:r>
              <a:rPr lang="en-US" sz="3600" b="1" dirty="0">
                <a:solidFill>
                  <a:srgbClr val="D20000"/>
                </a:solidFill>
              </a:rPr>
              <a:t> and </a:t>
            </a:r>
            <a:r>
              <a:rPr lang="en-US" sz="3600" b="1" dirty="0" err="1">
                <a:solidFill>
                  <a:srgbClr val="D20000"/>
                </a:solidFill>
              </a:rPr>
              <a:t>Mutators</a:t>
            </a:r>
            <a:r>
              <a:rPr lang="en-US" sz="3600" b="1" dirty="0">
                <a:solidFill>
                  <a:srgbClr val="D20000"/>
                </a:solidFill>
              </a:rPr>
              <a:t>(Getters &amp; Setters)</a:t>
            </a:r>
          </a:p>
        </p:txBody>
      </p:sp>
      <p:sp>
        <p:nvSpPr>
          <p:cNvPr id="8195" name="Rectangle 36"/>
          <p:cNvSpPr>
            <a:spLocks noGrp="1" noChangeArrowheads="1"/>
          </p:cNvSpPr>
          <p:nvPr>
            <p:ph type="body" idx="1"/>
          </p:nvPr>
        </p:nvSpPr>
        <p:spPr>
          <a:xfrm>
            <a:off x="-36444" y="944881"/>
            <a:ext cx="9144000" cy="5638800"/>
          </a:xfrm>
        </p:spPr>
        <p:txBody>
          <a:bodyPr/>
          <a:lstStyle/>
          <a:p>
            <a:r>
              <a:rPr lang="en-US" sz="3000" b="1" dirty="0" err="1">
                <a:solidFill>
                  <a:srgbClr val="D20000"/>
                </a:solidFill>
              </a:rPr>
              <a:t>Accessors</a:t>
            </a:r>
            <a:r>
              <a:rPr lang="en-US" sz="3000" b="1" dirty="0">
                <a:solidFill>
                  <a:srgbClr val="D20000"/>
                </a:solidFill>
              </a:rPr>
              <a:t>:</a:t>
            </a:r>
            <a:r>
              <a:rPr lang="en-US" sz="3000" dirty="0"/>
              <a:t> </a:t>
            </a:r>
            <a:r>
              <a:rPr lang="en-US" sz="3000" b="1" dirty="0"/>
              <a:t>member function </a:t>
            </a:r>
            <a:r>
              <a:rPr lang="en-US" sz="3000" dirty="0"/>
              <a:t>only </a:t>
            </a:r>
            <a:r>
              <a:rPr lang="en-US" sz="3000" b="1" dirty="0">
                <a:solidFill>
                  <a:srgbClr val="2C14DE"/>
                </a:solidFill>
              </a:rPr>
              <a:t>reads/gets</a:t>
            </a:r>
            <a:r>
              <a:rPr lang="en-US" sz="3000" dirty="0">
                <a:solidFill>
                  <a:srgbClr val="2C14DE"/>
                </a:solidFill>
              </a:rPr>
              <a:t> </a:t>
            </a:r>
            <a:r>
              <a:rPr lang="en-US" sz="3000" b="1" dirty="0">
                <a:solidFill>
                  <a:srgbClr val="2C14DE"/>
                </a:solidFill>
              </a:rPr>
              <a:t>value</a:t>
            </a:r>
            <a:r>
              <a:rPr lang="en-US" sz="3000" dirty="0">
                <a:solidFill>
                  <a:srgbClr val="2C14DE"/>
                </a:solidFill>
              </a:rPr>
              <a:t> </a:t>
            </a:r>
            <a:r>
              <a:rPr lang="en-US" sz="3000" dirty="0"/>
              <a:t>from a </a:t>
            </a:r>
            <a:r>
              <a:rPr lang="en-US" sz="3000" b="1" dirty="0">
                <a:solidFill>
                  <a:srgbClr val="2C14DE"/>
                </a:solidFill>
              </a:rPr>
              <a:t>class’s member variable </a:t>
            </a:r>
            <a:r>
              <a:rPr lang="en-US" sz="3000" dirty="0"/>
              <a:t>but </a:t>
            </a:r>
            <a:r>
              <a:rPr lang="en-US" sz="3000" b="1" u="sng" dirty="0">
                <a:solidFill>
                  <a:srgbClr val="2C14DE"/>
                </a:solidFill>
              </a:rPr>
              <a:t>does not change it</a:t>
            </a:r>
            <a:r>
              <a:rPr lang="en-US" sz="3000" b="1" dirty="0">
                <a:solidFill>
                  <a:srgbClr val="2C14DE"/>
                </a:solidFill>
              </a:rPr>
              <a:t>.</a:t>
            </a:r>
          </a:p>
          <a:p>
            <a:r>
              <a:rPr lang="en-US" sz="3000" b="1" dirty="0" err="1">
                <a:solidFill>
                  <a:srgbClr val="D20000"/>
                </a:solidFill>
              </a:rPr>
              <a:t>Mutators</a:t>
            </a:r>
            <a:r>
              <a:rPr lang="en-US" sz="3000" b="1" dirty="0">
                <a:solidFill>
                  <a:srgbClr val="D20000"/>
                </a:solidFill>
              </a:rPr>
              <a:t>:</a:t>
            </a:r>
            <a:r>
              <a:rPr lang="en-US" sz="3000" dirty="0"/>
              <a:t> </a:t>
            </a:r>
            <a:r>
              <a:rPr lang="en-US" sz="3000" b="1" dirty="0"/>
              <a:t>member function </a:t>
            </a:r>
            <a:r>
              <a:rPr lang="en-US" sz="3000" dirty="0"/>
              <a:t>that </a:t>
            </a:r>
            <a:r>
              <a:rPr lang="en-US" sz="3000" b="1" dirty="0">
                <a:solidFill>
                  <a:srgbClr val="2C14DE"/>
                </a:solidFill>
              </a:rPr>
              <a:t>stores a value </a:t>
            </a:r>
            <a:r>
              <a:rPr lang="en-US" sz="3000" dirty="0"/>
              <a:t>in </a:t>
            </a:r>
            <a:r>
              <a:rPr lang="en-US" sz="3000" b="1" dirty="0">
                <a:solidFill>
                  <a:srgbClr val="2C14DE"/>
                </a:solidFill>
              </a:rPr>
              <a:t>member variable</a:t>
            </a:r>
          </a:p>
          <a:p>
            <a:pPr marL="0" indent="0">
              <a:buNone/>
            </a:pPr>
            <a:endParaRPr lang="en-US" b="1" dirty="0">
              <a:solidFill>
                <a:srgbClr val="00B05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0" y="2590800"/>
            <a:ext cx="4724400" cy="408629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73224418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35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944881"/>
          </a:xfrm>
        </p:spPr>
        <p:txBody>
          <a:bodyPr/>
          <a:lstStyle/>
          <a:p>
            <a:r>
              <a:rPr lang="en-US" b="1" dirty="0" err="1">
                <a:solidFill>
                  <a:srgbClr val="D20000"/>
                </a:solidFill>
              </a:rPr>
              <a:t>const</a:t>
            </a:r>
            <a:r>
              <a:rPr lang="en-US" b="1" dirty="0">
                <a:solidFill>
                  <a:srgbClr val="D20000"/>
                </a:solidFill>
              </a:rPr>
              <a:t> Objects</a:t>
            </a:r>
          </a:p>
        </p:txBody>
      </p:sp>
      <p:sp>
        <p:nvSpPr>
          <p:cNvPr id="8195" name="Rectangle 36"/>
          <p:cNvSpPr>
            <a:spLocks noGrp="1" noChangeArrowheads="1"/>
          </p:cNvSpPr>
          <p:nvPr>
            <p:ph type="body" idx="1"/>
          </p:nvPr>
        </p:nvSpPr>
        <p:spPr>
          <a:xfrm>
            <a:off x="-36444" y="944881"/>
            <a:ext cx="9028044" cy="5638800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b="1" dirty="0" err="1">
                <a:solidFill>
                  <a:srgbClr val="D20000"/>
                </a:solidFill>
              </a:rPr>
              <a:t>const</a:t>
            </a:r>
            <a:r>
              <a:rPr lang="en-US" b="1" dirty="0">
                <a:solidFill>
                  <a:srgbClr val="D20000"/>
                </a:solidFill>
              </a:rPr>
              <a:t> Object: </a:t>
            </a:r>
            <a:r>
              <a:rPr lang="en-US" b="1" dirty="0">
                <a:solidFill>
                  <a:srgbClr val="2C14DE"/>
                </a:solidFill>
              </a:rPr>
              <a:t>Read-only </a:t>
            </a:r>
            <a:r>
              <a:rPr lang="en-US" b="1" dirty="0"/>
              <a:t>objects</a:t>
            </a:r>
          </a:p>
          <a:p>
            <a:pPr lvl="1" algn="just">
              <a:spcBef>
                <a:spcPts val="2400"/>
              </a:spcBef>
            </a:pPr>
            <a:r>
              <a:rPr lang="en-US" sz="2600" b="1" dirty="0"/>
              <a:t>Object </a:t>
            </a:r>
            <a:r>
              <a:rPr lang="en-US" b="1" dirty="0">
                <a:solidFill>
                  <a:srgbClr val="2C14DE"/>
                </a:solidFill>
              </a:rPr>
              <a:t>data members can only be read</a:t>
            </a:r>
            <a:r>
              <a:rPr lang="en-US" sz="2600" b="1" dirty="0"/>
              <a:t>, </a:t>
            </a:r>
            <a:r>
              <a:rPr lang="en-US" sz="2600" b="1" dirty="0">
                <a:solidFill>
                  <a:srgbClr val="D20000"/>
                </a:solidFill>
              </a:rPr>
              <a:t>NO write/update </a:t>
            </a:r>
            <a:r>
              <a:rPr lang="en-US" sz="2600" b="1" dirty="0"/>
              <a:t>of </a:t>
            </a:r>
            <a:r>
              <a:rPr lang="en-US" sz="2600" b="1" dirty="0">
                <a:solidFill>
                  <a:srgbClr val="D20000"/>
                </a:solidFill>
              </a:rPr>
              <a:t>data member allowed</a:t>
            </a:r>
          </a:p>
          <a:p>
            <a:pPr lvl="1" algn="just">
              <a:spcBef>
                <a:spcPts val="2400"/>
              </a:spcBef>
            </a:pPr>
            <a:r>
              <a:rPr lang="en-US" sz="2600" b="1" dirty="0">
                <a:solidFill>
                  <a:srgbClr val="D20000"/>
                </a:solidFill>
              </a:rPr>
              <a:t>Requires</a:t>
            </a:r>
            <a:r>
              <a:rPr lang="en-US" sz="2600" b="1" dirty="0"/>
              <a:t> all </a:t>
            </a:r>
            <a:r>
              <a:rPr lang="en-US" sz="2600" b="1" dirty="0">
                <a:solidFill>
                  <a:srgbClr val="2C14DE"/>
                </a:solidFill>
              </a:rPr>
              <a:t>member functions </a:t>
            </a:r>
            <a:r>
              <a:rPr lang="en-US" sz="2600" b="1" dirty="0"/>
              <a:t>be </a:t>
            </a:r>
            <a:r>
              <a:rPr lang="en-US" sz="2600" b="1" dirty="0" err="1">
                <a:solidFill>
                  <a:srgbClr val="2C14DE"/>
                </a:solidFill>
              </a:rPr>
              <a:t>const</a:t>
            </a:r>
            <a:r>
              <a:rPr lang="en-US" sz="2600" b="1" dirty="0">
                <a:solidFill>
                  <a:srgbClr val="2C14DE"/>
                </a:solidFill>
              </a:rPr>
              <a:t> </a:t>
            </a:r>
            <a:r>
              <a:rPr lang="en-US" sz="2600" b="1" dirty="0"/>
              <a:t>(except </a:t>
            </a:r>
            <a:r>
              <a:rPr lang="en-US" sz="2600" b="1" u="sng" dirty="0"/>
              <a:t>constructors</a:t>
            </a:r>
            <a:r>
              <a:rPr lang="en-US" sz="2600" b="1" dirty="0"/>
              <a:t> and </a:t>
            </a:r>
            <a:r>
              <a:rPr lang="en-US" sz="2600" b="1" u="sng" dirty="0"/>
              <a:t>destructors</a:t>
            </a:r>
            <a:r>
              <a:rPr lang="en-US" sz="2600" b="1" dirty="0"/>
              <a:t>)</a:t>
            </a:r>
          </a:p>
          <a:p>
            <a:pPr lvl="1" algn="just">
              <a:spcBef>
                <a:spcPts val="2400"/>
              </a:spcBef>
            </a:pPr>
            <a:r>
              <a:rPr lang="en-US" sz="2600" b="1" dirty="0" err="1">
                <a:solidFill>
                  <a:srgbClr val="D20000"/>
                </a:solidFill>
              </a:rPr>
              <a:t>const</a:t>
            </a:r>
            <a:r>
              <a:rPr lang="en-US" sz="2600" b="1" dirty="0">
                <a:solidFill>
                  <a:srgbClr val="D20000"/>
                </a:solidFill>
              </a:rPr>
              <a:t> object </a:t>
            </a:r>
            <a:r>
              <a:rPr lang="en-US" sz="2600" b="1" dirty="0">
                <a:solidFill>
                  <a:srgbClr val="2C14DE"/>
                </a:solidFill>
              </a:rPr>
              <a:t>must be initialized </a:t>
            </a:r>
            <a:r>
              <a:rPr lang="en-US" sz="2600" b="1" dirty="0"/>
              <a:t>(using constructors) at </a:t>
            </a:r>
            <a:r>
              <a:rPr lang="en-US" sz="2600" b="1" dirty="0">
                <a:solidFill>
                  <a:srgbClr val="2C14DE"/>
                </a:solidFill>
              </a:rPr>
              <a:t>the time of object creation</a:t>
            </a:r>
          </a:p>
          <a:p>
            <a:pPr lvl="1" algn="just">
              <a:spcBef>
                <a:spcPts val="0"/>
              </a:spcBef>
              <a:spcAft>
                <a:spcPts val="1200"/>
              </a:spcAft>
            </a:pPr>
            <a:endParaRPr lang="en-US" sz="2600" b="1" dirty="0"/>
          </a:p>
          <a:p>
            <a:pPr lvl="1" algn="just">
              <a:spcBef>
                <a:spcPts val="0"/>
              </a:spcBef>
              <a:spcAft>
                <a:spcPts val="1200"/>
              </a:spcAft>
            </a:pPr>
            <a:endParaRPr lang="en-US" b="1" dirty="0"/>
          </a:p>
        </p:txBody>
      </p:sp>
      <p:sp>
        <p:nvSpPr>
          <p:cNvPr id="4" name="Rectangle 3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578" y="5562600"/>
            <a:ext cx="8763000" cy="581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31388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35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944881"/>
          </a:xfrm>
        </p:spPr>
        <p:txBody>
          <a:bodyPr/>
          <a:lstStyle/>
          <a:p>
            <a:r>
              <a:rPr lang="en-US" b="1" dirty="0" err="1">
                <a:solidFill>
                  <a:srgbClr val="D20000"/>
                </a:solidFill>
              </a:rPr>
              <a:t>const</a:t>
            </a:r>
            <a:r>
              <a:rPr lang="en-US" b="1" dirty="0">
                <a:solidFill>
                  <a:srgbClr val="D20000"/>
                </a:solidFill>
              </a:rPr>
              <a:t> Objects</a:t>
            </a:r>
          </a:p>
        </p:txBody>
      </p:sp>
      <p:sp>
        <p:nvSpPr>
          <p:cNvPr id="8195" name="Rectangle 36"/>
          <p:cNvSpPr>
            <a:spLocks noGrp="1" noChangeArrowheads="1"/>
          </p:cNvSpPr>
          <p:nvPr>
            <p:ph type="body" idx="1"/>
          </p:nvPr>
        </p:nvSpPr>
        <p:spPr>
          <a:xfrm>
            <a:off x="-36444" y="944881"/>
            <a:ext cx="9028044" cy="5638800"/>
          </a:xfrm>
        </p:spPr>
        <p:txBody>
          <a:bodyPr/>
          <a:lstStyle/>
          <a:p>
            <a:pPr algn="just">
              <a:spcBef>
                <a:spcPts val="0"/>
              </a:spcBef>
              <a:spcAft>
                <a:spcPts val="1200"/>
              </a:spcAft>
            </a:pPr>
            <a:r>
              <a:rPr lang="en-US" b="1" dirty="0" err="1">
                <a:solidFill>
                  <a:srgbClr val="D20000"/>
                </a:solidFill>
              </a:rPr>
              <a:t>const</a:t>
            </a:r>
            <a:r>
              <a:rPr lang="en-US" dirty="0"/>
              <a:t> </a:t>
            </a:r>
            <a:r>
              <a:rPr lang="en-US" b="1" dirty="0">
                <a:solidFill>
                  <a:srgbClr val="2C14DE"/>
                </a:solidFill>
              </a:rPr>
              <a:t>property</a:t>
            </a:r>
            <a:r>
              <a:rPr lang="en-US" dirty="0">
                <a:solidFill>
                  <a:srgbClr val="2C14DE"/>
                </a:solidFill>
              </a:rPr>
              <a:t> </a:t>
            </a:r>
            <a:r>
              <a:rPr lang="en-US" dirty="0"/>
              <a:t>of an </a:t>
            </a:r>
            <a:r>
              <a:rPr lang="en-US" b="1" dirty="0">
                <a:solidFill>
                  <a:srgbClr val="2C14DE"/>
                </a:solidFill>
              </a:rPr>
              <a:t>object</a:t>
            </a:r>
            <a:r>
              <a:rPr lang="en-US" dirty="0">
                <a:solidFill>
                  <a:srgbClr val="2C14DE"/>
                </a:solidFill>
              </a:rPr>
              <a:t> </a:t>
            </a:r>
            <a:r>
              <a:rPr lang="en-US" b="1" dirty="0"/>
              <a:t>goes into effect</a:t>
            </a:r>
            <a:r>
              <a:rPr lang="en-US" dirty="0"/>
              <a:t> </a:t>
            </a:r>
            <a:r>
              <a:rPr lang="en-US" b="1" u="sng" dirty="0">
                <a:solidFill>
                  <a:srgbClr val="008000"/>
                </a:solidFill>
              </a:rPr>
              <a:t>after</a:t>
            </a:r>
            <a:r>
              <a:rPr lang="en-US" b="1" dirty="0">
                <a:solidFill>
                  <a:srgbClr val="008000"/>
                </a:solidFill>
              </a:rPr>
              <a:t> the constructor finishes executing </a:t>
            </a:r>
            <a:r>
              <a:rPr lang="en-US" b="1" dirty="0"/>
              <a:t>and ends </a:t>
            </a:r>
            <a:r>
              <a:rPr lang="en-US" b="1" u="sng" dirty="0">
                <a:solidFill>
                  <a:srgbClr val="008000"/>
                </a:solidFill>
              </a:rPr>
              <a:t>before</a:t>
            </a:r>
            <a:r>
              <a:rPr lang="en-US" b="1" dirty="0">
                <a:solidFill>
                  <a:srgbClr val="008000"/>
                </a:solidFill>
              </a:rPr>
              <a:t> the class's destructor executes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sz="3200" dirty="0"/>
              <a:t>So the </a:t>
            </a:r>
            <a:r>
              <a:rPr lang="en-US" sz="3200" b="1" u="sng" dirty="0">
                <a:solidFill>
                  <a:srgbClr val="D20000"/>
                </a:solidFill>
              </a:rPr>
              <a:t>constructor</a:t>
            </a:r>
            <a:r>
              <a:rPr lang="en-US" sz="3200" dirty="0">
                <a:solidFill>
                  <a:srgbClr val="D20000"/>
                </a:solidFill>
              </a:rPr>
              <a:t> </a:t>
            </a:r>
            <a:r>
              <a:rPr lang="en-US" sz="3200" dirty="0"/>
              <a:t>and </a:t>
            </a:r>
            <a:r>
              <a:rPr lang="en-US" sz="3200" b="1" u="sng" dirty="0">
                <a:solidFill>
                  <a:srgbClr val="D20000"/>
                </a:solidFill>
              </a:rPr>
              <a:t>destructor</a:t>
            </a:r>
            <a:r>
              <a:rPr lang="en-US" sz="3200" dirty="0">
                <a:solidFill>
                  <a:srgbClr val="D20000"/>
                </a:solidFill>
              </a:rPr>
              <a:t> </a:t>
            </a:r>
            <a:r>
              <a:rPr lang="en-US" sz="3200" b="1" i="1" dirty="0">
                <a:solidFill>
                  <a:srgbClr val="2C14DE"/>
                </a:solidFill>
              </a:rPr>
              <a:t>can modify the object</a:t>
            </a:r>
          </a:p>
          <a:p>
            <a:pPr lvl="1" algn="just">
              <a:spcBef>
                <a:spcPts val="0"/>
              </a:spcBef>
              <a:spcAft>
                <a:spcPts val="1200"/>
              </a:spcAft>
            </a:pPr>
            <a:endParaRPr lang="en-US" sz="2600" b="1" dirty="0"/>
          </a:p>
          <a:p>
            <a:pPr lvl="1" algn="just">
              <a:spcBef>
                <a:spcPts val="0"/>
              </a:spcBef>
              <a:spcAft>
                <a:spcPts val="1200"/>
              </a:spcAft>
            </a:pPr>
            <a:endParaRPr lang="en-US" b="1" dirty="0"/>
          </a:p>
        </p:txBody>
      </p:sp>
      <p:sp>
        <p:nvSpPr>
          <p:cNvPr id="4" name="Rectangle 3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3641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6737</TotalTime>
  <Words>1514</Words>
  <Application>Microsoft Office PowerPoint</Application>
  <PresentationFormat>On-screen Show (4:3)</PresentationFormat>
  <Paragraphs>448</Paragraphs>
  <Slides>35</Slides>
  <Notes>11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6" baseType="lpstr">
      <vt:lpstr>ＭＳ Ｐゴシック</vt:lpstr>
      <vt:lpstr>宋体</vt:lpstr>
      <vt:lpstr>Arial</vt:lpstr>
      <vt:lpstr>AvantGarde</vt:lpstr>
      <vt:lpstr>Calibri</vt:lpstr>
      <vt:lpstr>Consolas</vt:lpstr>
      <vt:lpstr>Courier New</vt:lpstr>
      <vt:lpstr>Times New Roman</vt:lpstr>
      <vt:lpstr>Wingdings</vt:lpstr>
      <vt:lpstr>Office Theme</vt:lpstr>
      <vt:lpstr>Picture</vt:lpstr>
      <vt:lpstr>Introduction to Classes </vt:lpstr>
      <vt:lpstr>PowerPoint Presentation</vt:lpstr>
      <vt:lpstr>Object-oriented Programming (OOP)</vt:lpstr>
      <vt:lpstr>Classes</vt:lpstr>
      <vt:lpstr>Classes in OOP</vt:lpstr>
      <vt:lpstr>Objects in OOP</vt:lpstr>
      <vt:lpstr>Class in C++ - Example</vt:lpstr>
      <vt:lpstr>Class in C++ - Example</vt:lpstr>
      <vt:lpstr>Class is a Type</vt:lpstr>
      <vt:lpstr>Class Data Members and Member Functions</vt:lpstr>
      <vt:lpstr>Object Creation - Instantiation</vt:lpstr>
      <vt:lpstr>Object Member Access Operator</vt:lpstr>
      <vt:lpstr>A Simple Program – Object Creation</vt:lpstr>
      <vt:lpstr>Local Classes</vt:lpstr>
      <vt:lpstr>Inline/Out-of-Line Member Functions</vt:lpstr>
      <vt:lpstr>Inline/Out-of-Line Member Functions</vt:lpstr>
      <vt:lpstr>Member Functions Separating Declaration from Implementation</vt:lpstr>
      <vt:lpstr>PowerPoint Presentation</vt:lpstr>
      <vt:lpstr>PowerPoint Presentation</vt:lpstr>
      <vt:lpstr>Private Member Functions</vt:lpstr>
      <vt:lpstr>Private Member Functions (out-of-line) </vt:lpstr>
      <vt:lpstr>Access Modifiers/Specifier</vt:lpstr>
      <vt:lpstr>Member Access Specifiers</vt:lpstr>
      <vt:lpstr>Data Hiding - Data Field Encapsulation</vt:lpstr>
      <vt:lpstr>Hidden from Whom?</vt:lpstr>
      <vt:lpstr>A Simple Program – Accessing Member Function</vt:lpstr>
      <vt:lpstr>A Simple Program – Default Constructor</vt:lpstr>
      <vt:lpstr>Object Construction with Arguments</vt:lpstr>
      <vt:lpstr>A Simple Program – Constructor with Arguments</vt:lpstr>
      <vt:lpstr>Output of the following Program?</vt:lpstr>
      <vt:lpstr>const Member Functions</vt:lpstr>
      <vt:lpstr>Constant Functions</vt:lpstr>
      <vt:lpstr>Accessors and Mutators(Getters &amp; Setters)</vt:lpstr>
      <vt:lpstr>const Objects</vt:lpstr>
      <vt:lpstr>const Objects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aleem</dc:creator>
  <cp:lastModifiedBy>Microsoft account</cp:lastModifiedBy>
  <cp:revision>535</cp:revision>
  <dcterms:created xsi:type="dcterms:W3CDTF">2012-08-28T12:59:58Z</dcterms:created>
  <dcterms:modified xsi:type="dcterms:W3CDTF">2024-10-11T17:36:30Z</dcterms:modified>
</cp:coreProperties>
</file>
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556" r:id="rId3"/>
    <p:sldId id="557" r:id="rId4"/>
    <p:sldId id="558" r:id="rId5"/>
    <p:sldId id="627" r:id="rId6"/>
    <p:sldId id="625" r:id="rId7"/>
    <p:sldId id="624" r:id="rId8"/>
    <p:sldId id="628" r:id="rId9"/>
    <p:sldId id="636" r:id="rId10"/>
    <p:sldId id="637" r:id="rId11"/>
    <p:sldId id="638" r:id="rId12"/>
    <p:sldId id="639" r:id="rId13"/>
    <p:sldId id="640" r:id="rId14"/>
    <p:sldId id="64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1BC7"/>
    <a:srgbClr val="E9EFF7"/>
    <a:srgbClr val="008000"/>
    <a:srgbClr val="D20000"/>
    <a:srgbClr val="2C14DE"/>
    <a:srgbClr val="B80000"/>
    <a:srgbClr val="27558D"/>
    <a:srgbClr val="39DFE7"/>
    <a:srgbClr val="160C5C"/>
    <a:srgbClr val="4F5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79035" autoAdjust="0"/>
  </p:normalViewPr>
  <p:slideViewPr>
    <p:cSldViewPr>
      <p:cViewPr varScale="1">
        <p:scale>
          <a:sx n="59" d="100"/>
          <a:sy n="59" d="100"/>
        </p:scale>
        <p:origin x="88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312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C0C88-7267-4399-A55D-D2971BA77B10}" type="datetimeFigureOut">
              <a:rPr lang="en-US" smtClean="0"/>
              <a:t>10/22/2024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5FC15-40B4-45E5-86AE-2E64D22F0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366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25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7544AD9E-D30C-4EB1-A24A-0062B84E8B68}" type="slidenum">
              <a:rPr lang="en-US"/>
              <a:pPr eaLnBrk="1" hangingPunct="1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49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 definition statement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causes the variable to be created in memory and is </a:t>
            </a:r>
            <a:r>
              <a:rPr lang="en-US" sz="1200" b="1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compulsory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endParaRPr lang="fr-FR" dirty="0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29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There is no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this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 pointer 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for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static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functions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, they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exist independent of objects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sharing variables across object instances and making variables accessible are independent of each other. There are four combinations of (shared, accessible) pairs. All four are available to you: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static variable is shared and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static variable is shared, but not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 non-static variable is not shared, but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 non-static variable is neither shared nor accessible outside the class</a:t>
            </a:r>
          </a:p>
          <a:p>
            <a:endParaRPr lang="fr-FR" b="1" dirty="0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709F292-073F-4653-A5B6-E92CE176666A}" type="slidenum">
              <a:rPr lang="en-US"/>
              <a:pPr eaLnBrk="1" hangingPunct="1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940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There is no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this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pointer for </a:t>
            </a:r>
            <a:r>
              <a:rPr lang="en-US" b="1" dirty="0">
                <a:latin typeface="Courier New" panose="02070309020205020404" pitchFamily="49" charset="0"/>
                <a:ea typeface="ＭＳ Ｐゴシック" panose="020B0600070205080204" pitchFamily="34" charset="-128"/>
              </a:rPr>
              <a:t>static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functions</a:t>
            </a:r>
            <a:r>
              <a:rPr lang="en-US" dirty="0">
                <a:latin typeface="Arial" panose="020B0604020202020204" pitchFamily="34" charset="0"/>
                <a:ea typeface="ＭＳ Ｐゴシック" panose="020B0600070205080204" pitchFamily="34" charset="-128"/>
              </a:rPr>
              <a:t>, they </a:t>
            </a:r>
            <a:r>
              <a:rPr lang="en-US" b="1" dirty="0">
                <a:latin typeface="Arial" panose="020B0604020202020204" pitchFamily="34" charset="0"/>
                <a:ea typeface="ＭＳ Ｐゴシック" panose="020B0600070205080204" pitchFamily="34" charset="-128"/>
              </a:rPr>
              <a:t>exist independent of objects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sharing variables across object instances and making variables accessible are independent of each other. There are four combinations of (shared, accessible) pairs. All four are available to you: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 static variable is shared and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 static variable is shared, but not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 non-static variable is not shared, but accessible outside the class</a:t>
            </a:r>
          </a:p>
          <a:p>
            <a:pPr fontAlgn="base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private non-static variable is neither shared nor accessible outside the class</a:t>
            </a:r>
          </a:p>
          <a:p>
            <a:endParaRPr lang="fr-FR" b="1" dirty="0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8709F292-073F-4653-A5B6-E92CE176666A}" type="slidenum">
              <a:rPr lang="en-US"/>
              <a:pPr eaLnBrk="1" hangingPunct="1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731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25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40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76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557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77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699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47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5191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fr-FR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B52D3B1-13D6-4679-B441-E0EADB4EE132}" type="slidenum">
              <a:rPr lang="en-US"/>
              <a:pPr eaLnBrk="1" hangingPunct="1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4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2973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63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10/22/2024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160C5C"/>
                </a:solidFill>
              </a:rPr>
              <a:t>Static </a:t>
            </a:r>
            <a:r>
              <a:rPr lang="en-US" b="1" dirty="0">
                <a:solidFill>
                  <a:srgbClr val="160C5C"/>
                </a:solidFill>
              </a:rPr>
              <a:t>data member</a:t>
            </a:r>
            <a:br>
              <a:rPr lang="en-US" b="1" dirty="0">
                <a:solidFill>
                  <a:srgbClr val="160C5C"/>
                </a:solidFill>
              </a:rPr>
            </a:br>
            <a:r>
              <a:rPr lang="en-US" b="1" dirty="0">
                <a:solidFill>
                  <a:srgbClr val="160C5C"/>
                </a:solidFill>
              </a:rPr>
              <a:t>Static </a:t>
            </a:r>
            <a:r>
              <a:rPr lang="en-US" b="1" dirty="0" smtClean="0">
                <a:solidFill>
                  <a:srgbClr val="160C5C"/>
                </a:solidFill>
              </a:rPr>
              <a:t>member function</a:t>
            </a: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62400"/>
            <a:ext cx="8686800" cy="2743200"/>
          </a:xfrm>
        </p:spPr>
        <p:txBody>
          <a:bodyPr>
            <a:normAutofit/>
          </a:bodyPr>
          <a:lstStyle/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Department of Computer Science, </a:t>
            </a:r>
          </a:p>
          <a:p>
            <a:r>
              <a:rPr lang="en-US" sz="2800" dirty="0" smtClean="0"/>
              <a:t>The University of Lahore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8"/>
          <p:cNvSpPr>
            <a:spLocks noGrp="1" noChangeArrowheads="1"/>
          </p:cNvSpPr>
          <p:nvPr>
            <p:ph type="title"/>
          </p:nvPr>
        </p:nvSpPr>
        <p:spPr>
          <a:xfrm>
            <a:off x="962025" y="38948"/>
            <a:ext cx="8153400" cy="951652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latin typeface="Courier New" charset="0"/>
                <a:cs typeface="+mj-cs"/>
              </a:rPr>
              <a:t>static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 Class Members</a:t>
            </a:r>
          </a:p>
        </p:txBody>
      </p:sp>
      <p:sp>
        <p:nvSpPr>
          <p:cNvPr id="4198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39756" y="1066800"/>
            <a:ext cx="9067800" cy="57150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Courier New" charset="0"/>
                <a:cs typeface="+mn-cs"/>
              </a:rPr>
              <a:t>static</a:t>
            </a:r>
            <a:r>
              <a:rPr lang="en-US" b="1" dirty="0">
                <a:solidFill>
                  <a:srgbClr val="B80000"/>
                </a:solidFill>
                <a:cs typeface="+mn-cs"/>
              </a:rPr>
              <a:t> class members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Shared</a:t>
            </a:r>
            <a:r>
              <a:rPr lang="en-US" dirty="0"/>
              <a:t> by </a:t>
            </a:r>
            <a:r>
              <a:rPr lang="en-US" b="1" dirty="0">
                <a:solidFill>
                  <a:srgbClr val="2C14DE"/>
                </a:solidFill>
              </a:rPr>
              <a:t>all objects of a class</a:t>
            </a:r>
          </a:p>
          <a:p>
            <a:pPr lvl="1">
              <a:defRPr/>
            </a:pPr>
            <a:r>
              <a:rPr lang="en-US" b="1" dirty="0">
                <a:solidFill>
                  <a:srgbClr val="008000"/>
                </a:solidFill>
              </a:rPr>
              <a:t>Efficient</a:t>
            </a:r>
            <a:r>
              <a:rPr lang="en-US" b="1" dirty="0">
                <a:solidFill>
                  <a:srgbClr val="2C14DE"/>
                </a:solidFill>
              </a:rPr>
              <a:t>, </a:t>
            </a:r>
            <a:r>
              <a:rPr lang="en-US" b="1" dirty="0"/>
              <a:t>when a </a:t>
            </a:r>
            <a:r>
              <a:rPr lang="en-US" b="1" u="sng" dirty="0">
                <a:solidFill>
                  <a:srgbClr val="2C14DE"/>
                </a:solidFill>
              </a:rPr>
              <a:t>single copy </a:t>
            </a:r>
            <a:r>
              <a:rPr lang="en-US" b="1" u="sng" dirty="0"/>
              <a:t>of</a:t>
            </a:r>
            <a:r>
              <a:rPr lang="en-US" b="1" u="sng" dirty="0">
                <a:solidFill>
                  <a:srgbClr val="2C14DE"/>
                </a:solidFill>
              </a:rPr>
              <a:t> data </a:t>
            </a:r>
            <a:r>
              <a:rPr lang="en-US" b="1" dirty="0"/>
              <a:t>is </a:t>
            </a:r>
            <a:r>
              <a:rPr lang="en-US" b="1" dirty="0">
                <a:solidFill>
                  <a:srgbClr val="2C14DE"/>
                </a:solidFill>
              </a:rPr>
              <a:t>enough </a:t>
            </a:r>
          </a:p>
          <a:p>
            <a:pPr lvl="2">
              <a:defRPr/>
            </a:pPr>
            <a:r>
              <a:rPr lang="en-US" sz="2800" b="1" dirty="0"/>
              <a:t>Only the </a:t>
            </a:r>
            <a:r>
              <a:rPr lang="en-US" sz="2800" b="1" dirty="0">
                <a:solidFill>
                  <a:srgbClr val="FF0000"/>
                </a:solidFill>
                <a:latin typeface="Courier New" charset="0"/>
              </a:rPr>
              <a:t>static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/>
              <a:t>variable has to be </a:t>
            </a:r>
            <a:r>
              <a:rPr lang="en-US" sz="2800" b="1" dirty="0">
                <a:solidFill>
                  <a:srgbClr val="FF0000"/>
                </a:solidFill>
              </a:rPr>
              <a:t>updated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May seems like global variables</a:t>
            </a:r>
            <a:r>
              <a:rPr lang="en-US" dirty="0"/>
              <a:t>, but have </a:t>
            </a:r>
            <a:r>
              <a:rPr lang="en-US" b="1" dirty="0">
                <a:solidFill>
                  <a:srgbClr val="2C14DE"/>
                </a:solidFill>
              </a:rPr>
              <a:t>class scope</a:t>
            </a:r>
          </a:p>
          <a:p>
            <a:pPr lvl="2">
              <a:defRPr/>
            </a:pPr>
            <a:r>
              <a:rPr lang="en-US" sz="2800" b="1" u="sng" dirty="0"/>
              <a:t>only accessible to </a:t>
            </a:r>
            <a:r>
              <a:rPr lang="en-US" sz="2800" b="1" u="sng" dirty="0">
                <a:solidFill>
                  <a:srgbClr val="FF0000"/>
                </a:solidFill>
              </a:rPr>
              <a:t>objects</a:t>
            </a:r>
            <a:r>
              <a:rPr lang="en-US" sz="2800" b="1" u="sng" dirty="0"/>
              <a:t> </a:t>
            </a:r>
            <a:r>
              <a:rPr lang="en-US" sz="2800" b="1" dirty="0"/>
              <a:t>of </a:t>
            </a:r>
            <a:r>
              <a:rPr lang="en-US" sz="2800" b="1" u="sng" dirty="0">
                <a:solidFill>
                  <a:srgbClr val="FF0000"/>
                </a:solidFill>
              </a:rPr>
              <a:t>same class</a:t>
            </a:r>
          </a:p>
          <a:p>
            <a:pPr lvl="2">
              <a:defRPr/>
            </a:pPr>
            <a:endParaRPr lang="en-US" b="1" dirty="0"/>
          </a:p>
          <a:p>
            <a:pPr lvl="2">
              <a:defRPr/>
            </a:pPr>
            <a:endParaRPr lang="en-US" sz="2000" dirty="0"/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Initialized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at </a:t>
            </a:r>
            <a:r>
              <a:rPr lang="en-US" b="1" u="sng" dirty="0">
                <a:solidFill>
                  <a:srgbClr val="2C14DE"/>
                </a:solidFill>
              </a:rPr>
              <a:t>file scope</a:t>
            </a:r>
          </a:p>
          <a:p>
            <a:pPr lvl="1">
              <a:defRPr/>
            </a:pPr>
            <a:r>
              <a:rPr lang="en-US" b="1" dirty="0">
                <a:solidFill>
                  <a:srgbClr val="2C14DE"/>
                </a:solidFill>
              </a:rPr>
              <a:t>Exist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even </a:t>
            </a:r>
            <a:r>
              <a:rPr lang="en-US" b="1" dirty="0"/>
              <a:t>if </a:t>
            </a:r>
            <a:r>
              <a:rPr lang="en-US" b="1" dirty="0">
                <a:solidFill>
                  <a:srgbClr val="2C14DE"/>
                </a:solidFill>
              </a:rPr>
              <a:t>no instances (objects) of the class exist</a:t>
            </a:r>
          </a:p>
          <a:p>
            <a:pPr lvl="1">
              <a:defRPr/>
            </a:pPr>
            <a:r>
              <a:rPr lang="en-US" dirty="0"/>
              <a:t>Both </a:t>
            </a:r>
            <a:r>
              <a:rPr lang="en-US" b="1" dirty="0">
                <a:solidFill>
                  <a:srgbClr val="2C14DE"/>
                </a:solidFill>
              </a:rPr>
              <a:t>variables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2C14DE"/>
                </a:solidFill>
              </a:rPr>
              <a:t>functions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can be </a:t>
            </a:r>
            <a:r>
              <a:rPr lang="en-US" b="1" dirty="0">
                <a:solidFill>
                  <a:srgbClr val="2C14DE"/>
                </a:solidFill>
                <a:latin typeface="Courier New" charset="0"/>
              </a:rPr>
              <a:t>static</a:t>
            </a:r>
          </a:p>
          <a:p>
            <a:pPr lvl="1">
              <a:defRPr/>
            </a:pPr>
            <a:r>
              <a:rPr lang="en-US" dirty="0"/>
              <a:t>Can be </a:t>
            </a:r>
            <a:r>
              <a:rPr lang="en-US" b="1" dirty="0">
                <a:solidFill>
                  <a:srgbClr val="008000"/>
                </a:solidFill>
                <a:latin typeface="Courier New" charset="0"/>
              </a:rPr>
              <a:t>public</a:t>
            </a:r>
            <a:r>
              <a:rPr lang="en-US" b="1" dirty="0"/>
              <a:t>, </a:t>
            </a:r>
            <a:r>
              <a:rPr lang="en-US" b="1" dirty="0">
                <a:solidFill>
                  <a:srgbClr val="008000"/>
                </a:solidFill>
                <a:latin typeface="Courier New" charset="0"/>
              </a:rPr>
              <a:t>private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b="1" dirty="0"/>
              <a:t>or </a:t>
            </a:r>
            <a:r>
              <a:rPr lang="en-US" b="1" dirty="0">
                <a:solidFill>
                  <a:srgbClr val="008000"/>
                </a:solidFill>
                <a:latin typeface="Courier New" charset="0"/>
              </a:rPr>
              <a:t>protected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26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941184" y="92288"/>
            <a:ext cx="8153400" cy="829733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latin typeface="Courier New" charset="0"/>
                <a:cs typeface="+mj-cs"/>
              </a:rPr>
              <a:t>static</a:t>
            </a:r>
            <a:r>
              <a:rPr lang="en-US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Class Variables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7301" y="990600"/>
            <a:ext cx="9058600" cy="57150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</a:rPr>
              <a:t>Two-Step Procedure: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b="1" dirty="0">
                <a:solidFill>
                  <a:srgbClr val="2C14DE"/>
                </a:solidFill>
                <a:latin typeface="+mj-lt"/>
                <a:cs typeface="+mn-cs"/>
              </a:rPr>
              <a:t>Declare</a:t>
            </a:r>
            <a:r>
              <a:rPr lang="en-US" b="1" dirty="0">
                <a:latin typeface="+mj-lt"/>
                <a:cs typeface="+mn-cs"/>
              </a:rPr>
              <a:t> (</a:t>
            </a:r>
            <a:r>
              <a:rPr lang="en-US" b="1" dirty="0">
                <a:solidFill>
                  <a:srgbClr val="2C14DE"/>
                </a:solidFill>
                <a:latin typeface="+mj-lt"/>
                <a:cs typeface="+mn-cs"/>
              </a:rPr>
              <a:t>Inside</a:t>
            </a:r>
            <a:r>
              <a:rPr lang="en-US" b="1" dirty="0">
                <a:latin typeface="+mj-lt"/>
                <a:cs typeface="+mn-cs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+mj-lt"/>
                <a:cs typeface="+mn-cs"/>
              </a:rPr>
              <a:t>Class</a:t>
            </a:r>
            <a:r>
              <a:rPr lang="en-US" b="1" dirty="0">
                <a:latin typeface="+mj-lt"/>
                <a:cs typeface="+mn-cs"/>
              </a:rPr>
              <a:t>):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static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radius;</a:t>
            </a:r>
          </a:p>
          <a:p>
            <a:pPr marL="971550" lvl="1" indent="-514350">
              <a:buFont typeface="+mj-lt"/>
              <a:buAutoNum type="arabicPeriod"/>
              <a:defRPr/>
            </a:pPr>
            <a:r>
              <a:rPr lang="en-US" b="1" dirty="0">
                <a:solidFill>
                  <a:srgbClr val="2C14DE"/>
                </a:solidFill>
                <a:latin typeface="+mj-lt"/>
              </a:rPr>
              <a:t>Define</a:t>
            </a:r>
            <a:r>
              <a:rPr lang="en-US" b="1" dirty="0">
                <a:latin typeface="+mj-lt"/>
              </a:rPr>
              <a:t> (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Outside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rgbClr val="2C14DE"/>
                </a:solidFill>
                <a:latin typeface="+mj-lt"/>
              </a:rPr>
              <a:t>Class</a:t>
            </a:r>
            <a:r>
              <a:rPr lang="en-US" b="1" dirty="0">
                <a:latin typeface="+mj-lt"/>
              </a:rPr>
              <a:t>):   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 Circle::radius=2;</a:t>
            </a:r>
          </a:p>
          <a:p>
            <a:pPr marL="971550" lvl="1" indent="-514350">
              <a:buFont typeface="+mj-lt"/>
              <a:buAutoNum type="arabicPeriod"/>
              <a:defRPr/>
            </a:pPr>
            <a:endParaRPr lang="en-US" b="1" dirty="0">
              <a:latin typeface="+mj-lt"/>
            </a:endParaRPr>
          </a:p>
          <a:p>
            <a:pPr marL="457200" lvl="1" indent="0">
              <a:buNone/>
              <a:defRPr/>
            </a:pPr>
            <a:endParaRPr lang="en-US" b="1" dirty="0">
              <a:solidFill>
                <a:srgbClr val="B80000"/>
              </a:solidFill>
              <a:latin typeface="+mj-lt"/>
              <a:cs typeface="+mn-cs"/>
            </a:endParaRPr>
          </a:p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  <a:cs typeface="+mn-cs"/>
              </a:rPr>
              <a:t>static Variables</a:t>
            </a:r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Default Initialization</a:t>
            </a:r>
            <a:r>
              <a:rPr lang="en-US" b="1" dirty="0"/>
              <a:t>: </a:t>
            </a:r>
            <a:r>
              <a:rPr lang="en-US" b="1" dirty="0">
                <a:solidFill>
                  <a:srgbClr val="008000"/>
                </a:solidFill>
              </a:rPr>
              <a:t>0</a:t>
            </a:r>
            <a:r>
              <a:rPr lang="en-US" b="1" dirty="0"/>
              <a:t> or </a:t>
            </a:r>
            <a:r>
              <a:rPr lang="en-US" b="1" dirty="0">
                <a:solidFill>
                  <a:srgbClr val="008000"/>
                </a:solidFill>
              </a:rPr>
              <a:t>Null</a:t>
            </a:r>
            <a:r>
              <a:rPr lang="en-US" b="1" dirty="0"/>
              <a:t> (for pointers)</a:t>
            </a:r>
            <a:endParaRPr lang="en-US" dirty="0"/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Initialization</a:t>
            </a:r>
            <a:r>
              <a:rPr lang="en-US" b="1" dirty="0"/>
              <a:t>: </a:t>
            </a:r>
            <a:r>
              <a:rPr lang="en-US" b="1" dirty="0">
                <a:solidFill>
                  <a:srgbClr val="008000"/>
                </a:solidFill>
              </a:rPr>
              <a:t>user defined value</a:t>
            </a:r>
            <a:endParaRPr lang="en-US" dirty="0">
              <a:solidFill>
                <a:srgbClr val="008000"/>
              </a:solidFill>
            </a:endParaRPr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Initialization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is </a:t>
            </a:r>
            <a:r>
              <a:rPr lang="en-US" b="1" u="sng" dirty="0">
                <a:solidFill>
                  <a:srgbClr val="008000"/>
                </a:solidFill>
              </a:rPr>
              <a:t>made just once</a:t>
            </a:r>
            <a:r>
              <a:rPr lang="en-US" dirty="0"/>
              <a:t>, at </a:t>
            </a:r>
            <a:r>
              <a:rPr lang="en-US" b="1" u="sng" dirty="0">
                <a:solidFill>
                  <a:srgbClr val="008000"/>
                </a:solidFill>
              </a:rPr>
              <a:t>compile time</a:t>
            </a:r>
            <a:r>
              <a:rPr lang="en-US" b="1" dirty="0">
                <a:solidFill>
                  <a:srgbClr val="008000"/>
                </a:solidFill>
              </a:rPr>
              <a:t>.</a:t>
            </a:r>
          </a:p>
          <a:p>
            <a:pPr lvl="1" algn="just">
              <a:defRPr/>
            </a:pPr>
            <a:r>
              <a:rPr lang="en-US" b="1" dirty="0">
                <a:solidFill>
                  <a:srgbClr val="2C14DE"/>
                </a:solidFill>
              </a:rPr>
              <a:t>Accessibility</a:t>
            </a:r>
            <a:r>
              <a:rPr lang="en-US" b="1" dirty="0"/>
              <a:t>: </a:t>
            </a:r>
            <a:r>
              <a:rPr lang="en-US" b="1" dirty="0">
                <a:solidFill>
                  <a:srgbClr val="008000"/>
                </a:solidFill>
              </a:rPr>
              <a:t>Private</a:t>
            </a:r>
            <a:r>
              <a:rPr lang="en-US" b="1" dirty="0"/>
              <a:t> or </a:t>
            </a:r>
            <a:r>
              <a:rPr lang="en-US" b="1" dirty="0">
                <a:solidFill>
                  <a:srgbClr val="008000"/>
                </a:solidFill>
              </a:rPr>
              <a:t>Public</a:t>
            </a: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32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Public static Class Variables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56" y="1023796"/>
            <a:ext cx="9144000" cy="56388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92500" lnSpcReduction="10000"/>
          </a:bodyPr>
          <a:lstStyle/>
          <a:p>
            <a:pPr marL="541338" lvl="1" indent="-457200">
              <a:defRPr/>
            </a:pPr>
            <a:r>
              <a:rPr lang="en-US" sz="3000" b="1" dirty="0">
                <a:latin typeface="+mj-lt"/>
              </a:rPr>
              <a:t>Can</a:t>
            </a:r>
            <a:r>
              <a:rPr lang="en-US" sz="3000" dirty="0">
                <a:latin typeface="+mj-lt"/>
              </a:rPr>
              <a:t> </a:t>
            </a:r>
            <a:r>
              <a:rPr lang="en-US" sz="3000" b="1" dirty="0">
                <a:latin typeface="+mj-lt"/>
              </a:rPr>
              <a:t>be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accessed</a:t>
            </a:r>
            <a:r>
              <a:rPr lang="en-US" sz="3000" b="1" dirty="0">
                <a:latin typeface="+mj-lt"/>
              </a:rPr>
              <a:t> </a:t>
            </a:r>
            <a:r>
              <a:rPr lang="en-US" sz="3000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name:</a:t>
            </a:r>
            <a:endParaRPr lang="en-US" sz="3000" dirty="0">
              <a:latin typeface="+mj-lt"/>
            </a:endParaRPr>
          </a:p>
          <a:p>
            <a:pPr marL="84138" lvl="1" indent="0">
              <a:buNone/>
              <a:defRPr/>
            </a:pPr>
            <a:r>
              <a:rPr lang="en-US" sz="2800" b="1" dirty="0">
                <a:latin typeface="+mj-lt"/>
              </a:rPr>
              <a:t>	</a:t>
            </a:r>
            <a:r>
              <a:rPr lang="en-US" b="1" dirty="0">
                <a:latin typeface="+mj-lt"/>
              </a:rPr>
              <a:t>     </a:t>
            </a:r>
            <a:r>
              <a:rPr lang="en-US" sz="2800" b="1" dirty="0" err="1">
                <a:latin typeface="Consolas" panose="020B0609020204030204" pitchFamily="49" charset="0"/>
              </a:rPr>
              <a:t>cout</a:t>
            </a:r>
            <a:r>
              <a:rPr lang="en-US" sz="2800" b="1" dirty="0">
                <a:latin typeface="Consolas" panose="020B0609020204030204" pitchFamily="49" charset="0"/>
              </a:rPr>
              <a:t>&lt;&lt;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Employee::count;</a:t>
            </a:r>
          </a:p>
          <a:p>
            <a:pPr lvl="4">
              <a:buFontTx/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any </a:t>
            </a:r>
            <a:r>
              <a:rPr lang="en-US" sz="3000" b="1" dirty="0">
                <a:solidFill>
                  <a:srgbClr val="2C14DE"/>
                </a:solidFill>
              </a:rPr>
              <a:t>class’ object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	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e1.count;</a:t>
            </a:r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Non-Static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  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Stat_getCount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e1.Stat_getCount();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//public static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lvl="1">
              <a:defRPr/>
            </a:pPr>
            <a:endParaRPr lang="en-US" dirty="0"/>
          </a:p>
          <a:p>
            <a:pPr lvl="4">
              <a:buFontTx/>
              <a:buNone/>
              <a:defRPr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748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0"/>
            <a:ext cx="8153400" cy="9906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Private static Class Variables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756" y="1023796"/>
            <a:ext cx="9144000" cy="5638800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92500" lnSpcReduction="10000"/>
          </a:bodyPr>
          <a:lstStyle/>
          <a:p>
            <a:pPr marL="541338" lvl="1" indent="-457200">
              <a:defRPr/>
            </a:pPr>
            <a:r>
              <a:rPr lang="en-US" sz="3000" b="1" u="sng" dirty="0">
                <a:solidFill>
                  <a:srgbClr val="D20000"/>
                </a:solidFill>
                <a:latin typeface="+mj-lt"/>
              </a:rPr>
              <a:t>Cannot</a:t>
            </a:r>
            <a:r>
              <a:rPr lang="en-US" sz="3000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3000" b="1" dirty="0">
                <a:latin typeface="+mj-lt"/>
              </a:rPr>
              <a:t>be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accessed</a:t>
            </a:r>
            <a:r>
              <a:rPr lang="en-US" sz="3000" b="1" dirty="0">
                <a:latin typeface="+mj-lt"/>
              </a:rPr>
              <a:t> </a:t>
            </a:r>
            <a:r>
              <a:rPr lang="en-US" sz="3000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name:</a:t>
            </a:r>
            <a:endParaRPr lang="en-US" sz="3000" dirty="0">
              <a:latin typeface="+mj-lt"/>
            </a:endParaRPr>
          </a:p>
          <a:p>
            <a:pPr marL="84138" lvl="1" indent="0">
              <a:buNone/>
              <a:defRPr/>
            </a:pPr>
            <a:r>
              <a:rPr lang="en-US" sz="3000" b="1" dirty="0">
                <a:latin typeface="+mj-lt"/>
              </a:rPr>
              <a:t>      </a:t>
            </a:r>
            <a:r>
              <a:rPr lang="en-US" b="1" dirty="0">
                <a:latin typeface="+mj-lt"/>
              </a:rPr>
              <a:t>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// ERROR </a:t>
            </a:r>
            <a:r>
              <a:rPr lang="en-US" b="1" dirty="0">
                <a:solidFill>
                  <a:srgbClr val="D20000"/>
                </a:solidFill>
                <a:latin typeface="+mj-lt"/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D20000"/>
                </a:solidFill>
                <a:latin typeface="+mj-lt"/>
              </a:rPr>
              <a:t> </a:t>
            </a:r>
            <a:r>
              <a:rPr lang="en-US" sz="2800" b="1" dirty="0" err="1">
                <a:latin typeface="Consolas" panose="020B0609020204030204" pitchFamily="49" charset="0"/>
              </a:rPr>
              <a:t>cout</a:t>
            </a:r>
            <a:r>
              <a:rPr lang="en-US" sz="2800" b="1" dirty="0">
                <a:latin typeface="Consolas" panose="020B0609020204030204" pitchFamily="49" charset="0"/>
              </a:rPr>
              <a:t>&lt;&lt;</a:t>
            </a:r>
            <a:r>
              <a:rPr lang="en-US" sz="28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Employee::count;</a:t>
            </a:r>
          </a:p>
          <a:p>
            <a:pPr lvl="4">
              <a:buFontTx/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541338" lvl="1" indent="-457200">
              <a:defRPr/>
            </a:pPr>
            <a:r>
              <a:rPr lang="en-US" sz="3000" b="1" u="sng" dirty="0">
                <a:solidFill>
                  <a:srgbClr val="D20000"/>
                </a:solidFill>
              </a:rPr>
              <a:t>Cannot</a:t>
            </a:r>
            <a:r>
              <a:rPr lang="en-US" sz="3000" dirty="0">
                <a:solidFill>
                  <a:srgbClr val="D20000"/>
                </a:solidFill>
              </a:rPr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class' object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b="1" dirty="0">
                <a:solidFill>
                  <a:srgbClr val="D20000"/>
                </a:solidFill>
              </a:rPr>
              <a:t>// ERROR </a:t>
            </a:r>
            <a:r>
              <a:rPr lang="en-US" b="1" dirty="0">
                <a:solidFill>
                  <a:srgbClr val="D20000"/>
                </a:solidFill>
                <a:sym typeface="Wingdings" panose="05000000000000000000" pitchFamily="2" charset="2"/>
              </a:rPr>
              <a:t>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e1.count;</a:t>
            </a:r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Non-Static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    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541338" lvl="1" indent="-457200">
              <a:defRPr/>
            </a:pPr>
            <a:r>
              <a:rPr lang="en-US" sz="3000" b="1" dirty="0"/>
              <a:t>Can</a:t>
            </a:r>
            <a:r>
              <a:rPr lang="en-US" sz="3000" dirty="0"/>
              <a:t> </a:t>
            </a:r>
            <a:r>
              <a:rPr lang="en-US" sz="3000" b="1" dirty="0"/>
              <a:t>be </a:t>
            </a:r>
            <a:r>
              <a:rPr lang="en-US" sz="3000" b="1" dirty="0">
                <a:solidFill>
                  <a:srgbClr val="2C14DE"/>
                </a:solidFill>
              </a:rPr>
              <a:t>accessed</a:t>
            </a:r>
            <a:r>
              <a:rPr lang="en-US" sz="3000" b="1" dirty="0"/>
              <a:t> via </a:t>
            </a:r>
            <a:r>
              <a:rPr lang="en-US" sz="3000" b="1" dirty="0">
                <a:solidFill>
                  <a:srgbClr val="2C14DE"/>
                </a:solidFill>
              </a:rPr>
              <a:t>Static</a:t>
            </a:r>
            <a:r>
              <a:rPr lang="en-US" sz="3000" b="1" dirty="0"/>
              <a:t> member </a:t>
            </a:r>
            <a:r>
              <a:rPr lang="en-US" sz="3000" b="1" dirty="0">
                <a:solidFill>
                  <a:srgbClr val="2C14DE"/>
                </a:solidFill>
              </a:rPr>
              <a:t>functions</a:t>
            </a:r>
            <a:r>
              <a:rPr lang="en-US" sz="3000" b="1" dirty="0"/>
              <a:t>:</a:t>
            </a:r>
          </a:p>
          <a:p>
            <a:pPr marL="84138" lvl="1" indent="0">
              <a:buNone/>
              <a:defRPr/>
            </a:pP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Stat_getCount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	   </a:t>
            </a:r>
            <a:r>
              <a:rPr lang="en-US" b="1" dirty="0" err="1">
                <a:latin typeface="Consolas" panose="020B0609020204030204" pitchFamily="49" charset="0"/>
              </a:rPr>
              <a:t>cout</a:t>
            </a:r>
            <a:r>
              <a:rPr lang="en-US" b="1" dirty="0">
                <a:latin typeface="Consolas" panose="020B0609020204030204" pitchFamily="49" charset="0"/>
              </a:rPr>
              <a:t>&lt;&lt;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e1.Stat_getCount(); </a:t>
            </a:r>
            <a:r>
              <a:rPr lang="en-US" sz="2600" b="1" dirty="0">
                <a:solidFill>
                  <a:srgbClr val="008000"/>
                </a:solidFill>
                <a:latin typeface="Consolas" panose="020B0609020204030204" pitchFamily="49" charset="0"/>
              </a:rPr>
              <a:t>//public static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/>
          </a:p>
          <a:p>
            <a:pPr marL="84138" lvl="1" indent="0">
              <a:buNone/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marL="541338" lvl="1" indent="-457200">
              <a:defRPr/>
            </a:pPr>
            <a:endParaRPr lang="en-US" b="1" dirty="0"/>
          </a:p>
          <a:p>
            <a:pPr lvl="1">
              <a:defRPr/>
            </a:pPr>
            <a:endParaRPr lang="en-US" dirty="0"/>
          </a:p>
          <a:p>
            <a:pPr lvl="4">
              <a:buFontTx/>
              <a:buNone/>
              <a:defRPr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151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952500" y="38100"/>
            <a:ext cx="8153400" cy="829733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  <a:latin typeface="Courier New" charset="0"/>
                <a:cs typeface="+mj-cs"/>
              </a:rPr>
              <a:t>static</a:t>
            </a:r>
            <a:r>
              <a:rPr lang="en-US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en-US" b="1" dirty="0">
                <a:solidFill>
                  <a:srgbClr val="B80000"/>
                </a:solidFill>
                <a:cs typeface="+mj-cs"/>
              </a:rPr>
              <a:t>Class Functions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990600"/>
            <a:ext cx="89535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Non-static function:</a:t>
            </a:r>
          </a:p>
          <a:p>
            <a:pPr marL="442913" lvl="1" indent="-263525" algn="just">
              <a:defRPr/>
            </a:pPr>
            <a:r>
              <a:rPr lang="en-US" sz="3000" b="1" dirty="0">
                <a:solidFill>
                  <a:srgbClr val="2C14DE"/>
                </a:solidFill>
              </a:rPr>
              <a:t>Can access:</a:t>
            </a:r>
            <a:r>
              <a:rPr lang="en-US" sz="3000" dirty="0"/>
              <a:t> </a:t>
            </a:r>
            <a:r>
              <a:rPr lang="en-US" sz="3000" b="1" u="sng" dirty="0">
                <a:solidFill>
                  <a:srgbClr val="008000"/>
                </a:solidFill>
              </a:rPr>
              <a:t>static/non-static data</a:t>
            </a:r>
            <a:r>
              <a:rPr lang="en-US" sz="3000" dirty="0"/>
              <a:t> </a:t>
            </a:r>
            <a:r>
              <a:rPr lang="en-US" sz="3000" b="1" dirty="0"/>
              <a:t>members</a:t>
            </a:r>
            <a:r>
              <a:rPr lang="en-US" sz="3000" dirty="0"/>
              <a:t> and </a:t>
            </a:r>
            <a:r>
              <a:rPr lang="en-US" sz="3000" b="1" u="sng" dirty="0">
                <a:solidFill>
                  <a:srgbClr val="008000"/>
                </a:solidFill>
              </a:rPr>
              <a:t>static/non-static methods</a:t>
            </a:r>
          </a:p>
          <a:p>
            <a:pPr lvl="1" algn="just">
              <a:defRPr/>
            </a:pPr>
            <a:endParaRPr lang="en-US" sz="3000" b="1" dirty="0">
              <a:solidFill>
                <a:srgbClr val="2C14DE"/>
              </a:solidFill>
            </a:endParaRPr>
          </a:p>
          <a:p>
            <a:pPr lvl="1" algn="just">
              <a:defRPr/>
            </a:pPr>
            <a:endParaRPr lang="en-US" sz="3000" b="1" dirty="0">
              <a:solidFill>
                <a:srgbClr val="2C14DE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B80000"/>
                </a:solidFill>
                <a:latin typeface="+mj-lt"/>
              </a:rPr>
              <a:t>Static functions:</a:t>
            </a:r>
          </a:p>
          <a:p>
            <a:pPr marL="442913" lvl="1" indent="-263525">
              <a:defRPr/>
            </a:pPr>
            <a:r>
              <a:rPr lang="en-US" sz="3000" b="1" dirty="0">
                <a:solidFill>
                  <a:srgbClr val="2C14DE"/>
                </a:solidFill>
                <a:latin typeface="+mj-lt"/>
              </a:rPr>
              <a:t>Can access: </a:t>
            </a:r>
            <a:r>
              <a:rPr lang="en-US" sz="3000" b="1" u="sng" dirty="0">
                <a:solidFill>
                  <a:srgbClr val="008000"/>
                </a:solidFill>
                <a:latin typeface="+mj-lt"/>
              </a:rPr>
              <a:t>static data</a:t>
            </a:r>
            <a:r>
              <a:rPr lang="en-US" sz="3000" b="1" dirty="0">
                <a:solidFill>
                  <a:srgbClr val="008000"/>
                </a:solidFill>
                <a:latin typeface="+mj-lt"/>
              </a:rPr>
              <a:t> </a:t>
            </a:r>
            <a:r>
              <a:rPr lang="en-US" sz="3000" b="1" dirty="0">
                <a:latin typeface="+mj-lt"/>
              </a:rPr>
              <a:t>and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 </a:t>
            </a:r>
            <a:r>
              <a:rPr lang="en-US" sz="3000" b="1" u="sng" dirty="0">
                <a:solidFill>
                  <a:srgbClr val="008000"/>
                </a:solidFill>
                <a:latin typeface="+mj-lt"/>
              </a:rPr>
              <a:t>static functions</a:t>
            </a:r>
          </a:p>
          <a:p>
            <a:pPr marL="442913" lvl="1" indent="-263525">
              <a:defRPr/>
            </a:pPr>
            <a:r>
              <a:rPr lang="en-US" sz="3000" b="1" u="sng" dirty="0">
                <a:solidFill>
                  <a:srgbClr val="D20000"/>
                </a:solidFill>
                <a:latin typeface="+mj-lt"/>
              </a:rPr>
              <a:t>Cannot access</a:t>
            </a:r>
            <a:r>
              <a:rPr lang="en-US" sz="3000" b="1" dirty="0">
                <a:solidFill>
                  <a:srgbClr val="D20000"/>
                </a:solidFill>
                <a:latin typeface="+mj-lt"/>
              </a:rPr>
              <a:t>:  </a:t>
            </a:r>
            <a:r>
              <a:rPr lang="en-US" sz="3000" b="1" dirty="0">
                <a:solidFill>
                  <a:srgbClr val="FF0000"/>
                </a:solidFill>
                <a:latin typeface="+mj-lt"/>
              </a:rPr>
              <a:t>non-static</a:t>
            </a:r>
            <a:r>
              <a:rPr lang="en-US" sz="3000" b="1" dirty="0">
                <a:latin typeface="+mj-lt"/>
              </a:rPr>
              <a:t> data, </a:t>
            </a:r>
            <a:r>
              <a:rPr lang="en-US" sz="3000" b="1" dirty="0">
                <a:solidFill>
                  <a:srgbClr val="FF0000"/>
                </a:solidFill>
                <a:latin typeface="+mj-lt"/>
              </a:rPr>
              <a:t>non-static </a:t>
            </a:r>
            <a:r>
              <a:rPr lang="en-US" sz="3000" b="1" dirty="0">
                <a:latin typeface="+mj-lt"/>
              </a:rPr>
              <a:t>functions, and </a:t>
            </a:r>
            <a:r>
              <a:rPr lang="en-US" sz="3000" b="1" dirty="0">
                <a:solidFill>
                  <a:srgbClr val="FF0000"/>
                </a:solidFill>
                <a:latin typeface="+mj-lt"/>
              </a:rPr>
              <a:t>this</a:t>
            </a:r>
            <a:r>
              <a:rPr lang="en-US" sz="3000" b="1" dirty="0">
                <a:latin typeface="+mj-lt"/>
              </a:rPr>
              <a:t> pointer</a:t>
            </a: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41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FF0000"/>
                </a:solidFill>
                <a:latin typeface="Courier New" charset="0"/>
              </a:rPr>
              <a:t>Public static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>
                <a:solidFill>
                  <a:srgbClr val="B80000"/>
                </a:solidFill>
              </a:rPr>
              <a:t>Class Functions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 marL="0" lvl="1" indent="0">
              <a:defRPr/>
            </a:pPr>
            <a:r>
              <a:rPr lang="en-US" sz="3000" b="1" dirty="0">
                <a:solidFill>
                  <a:srgbClr val="2C14DE"/>
                </a:solidFill>
                <a:latin typeface="+mj-lt"/>
              </a:rPr>
              <a:t>Can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class’s any object: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    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</a:p>
          <a:p>
            <a:pPr marL="0" lvl="2" indent="0"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lvl="1" indent="0">
              <a:defRPr/>
            </a:pPr>
            <a:r>
              <a:rPr lang="en-US" sz="3000" b="1" dirty="0">
                <a:solidFill>
                  <a:srgbClr val="2C14DE"/>
                </a:solidFill>
                <a:latin typeface="+mj-lt"/>
              </a:rPr>
              <a:t>Can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name: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   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sz="3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getCount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3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>
                <a:solidFill>
                  <a:srgbClr val="FF0000"/>
                </a:solidFill>
                <a:latin typeface="Courier New" charset="0"/>
              </a:rPr>
              <a:t>Private static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sz="4000" b="1" dirty="0">
                <a:solidFill>
                  <a:srgbClr val="B80000"/>
                </a:solidFill>
              </a:rPr>
              <a:t>Class Functions</a:t>
            </a: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 marL="0" lvl="1" indent="0">
              <a:defRPr/>
            </a:pP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Cannot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class’s object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//ERROR 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e1.getCount();</a:t>
            </a:r>
          </a:p>
          <a:p>
            <a:pPr marL="0" lvl="2" indent="0">
              <a:buNone/>
              <a:defRPr/>
            </a:pPr>
            <a:endParaRPr lang="en-US" sz="28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lvl="1" indent="0">
              <a:defRPr/>
            </a:pPr>
            <a:r>
              <a:rPr lang="en-US" sz="3000" b="1" u="sng" dirty="0">
                <a:solidFill>
                  <a:srgbClr val="2C14DE"/>
                </a:solidFill>
                <a:latin typeface="+mj-lt"/>
              </a:rPr>
              <a:t>Cannot be invoked </a:t>
            </a:r>
            <a:r>
              <a:rPr lang="en-US" sz="3000" b="1" dirty="0">
                <a:latin typeface="+mj-lt"/>
              </a:rPr>
              <a:t>using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Class name</a:t>
            </a:r>
          </a:p>
          <a:p>
            <a:pPr marL="0" lvl="2" indent="0">
              <a:buNone/>
              <a:defRPr/>
            </a:pP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 //ERROR 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 </a:t>
            </a:r>
            <a:r>
              <a:rPr lang="en-US" sz="3000" b="1" dirty="0" err="1">
                <a:latin typeface="Consolas" panose="020B0609020204030204" pitchFamily="49" charset="0"/>
              </a:rPr>
              <a:t>cout</a:t>
            </a:r>
            <a:r>
              <a:rPr lang="en-US" sz="3000" b="1" dirty="0">
                <a:latin typeface="Consolas" panose="020B0609020204030204" pitchFamily="49" charset="0"/>
              </a:rPr>
              <a:t>&lt;&lt;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Employee::</a:t>
            </a:r>
            <a:r>
              <a:rPr lang="en-US" sz="30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getCount</a:t>
            </a:r>
            <a:r>
              <a:rPr lang="en-US" sz="3000" b="1" dirty="0">
                <a:solidFill>
                  <a:srgbClr val="FF0000"/>
                </a:solidFill>
                <a:latin typeface="Consolas" panose="020B0609020204030204" pitchFamily="49" charset="0"/>
              </a:rPr>
              <a:t>();</a:t>
            </a:r>
          </a:p>
          <a:p>
            <a:pPr marL="0" lvl="2" indent="0">
              <a:buNone/>
              <a:defRPr/>
            </a:pPr>
            <a:endParaRPr lang="en-US" sz="3000" b="1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 marL="0" lvl="1" indent="0">
              <a:defRPr/>
            </a:pPr>
            <a:r>
              <a:rPr lang="en-US" sz="3000" b="1" dirty="0">
                <a:solidFill>
                  <a:srgbClr val="2C14DE"/>
                </a:solidFill>
              </a:rPr>
              <a:t>Can be invoked </a:t>
            </a:r>
            <a:r>
              <a:rPr lang="en-US" sz="3000" b="1" u="sng" dirty="0"/>
              <a:t>within Class</a:t>
            </a:r>
            <a:r>
              <a:rPr lang="en-US" sz="3000" b="1" dirty="0"/>
              <a:t>:</a:t>
            </a:r>
          </a:p>
          <a:p>
            <a:pPr marL="400050" lvl="2" indent="0">
              <a:defRPr/>
            </a:pPr>
            <a:r>
              <a:rPr lang="en-US" sz="3000" b="1" dirty="0">
                <a:latin typeface="+mj-lt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Static</a:t>
            </a:r>
            <a:r>
              <a:rPr lang="en-US" sz="3000" b="1" dirty="0">
                <a:latin typeface="+mj-lt"/>
              </a:rPr>
              <a:t> member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functions</a:t>
            </a:r>
          </a:p>
          <a:p>
            <a:pPr marL="400050" lvl="2" indent="0">
              <a:defRPr/>
            </a:pPr>
            <a:r>
              <a:rPr lang="en-US" sz="3000" b="1" dirty="0">
                <a:latin typeface="+mj-lt"/>
              </a:rPr>
              <a:t>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Non-Static</a:t>
            </a:r>
            <a:r>
              <a:rPr lang="en-US" sz="3000" b="1" dirty="0">
                <a:latin typeface="+mj-lt"/>
              </a:rPr>
              <a:t> member </a:t>
            </a:r>
            <a:r>
              <a:rPr lang="en-US" sz="3000" b="1" dirty="0">
                <a:solidFill>
                  <a:srgbClr val="2C14DE"/>
                </a:solidFill>
                <a:latin typeface="+mj-lt"/>
              </a:rPr>
              <a:t>functions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/>
            </a:r>
            <a:b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B8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D20000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  <a:p>
            <a:pPr lvl="1">
              <a:defRPr/>
            </a:pPr>
            <a:endParaRPr lang="en-US" b="1" dirty="0">
              <a:solidFill>
                <a:srgbClr val="2C14DE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51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rgbClr val="FF0000"/>
                </a:solidFill>
                <a:latin typeface="Courier New" charset="0"/>
              </a:rPr>
              <a:t>static</a:t>
            </a:r>
            <a:r>
              <a:rPr lang="en-US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 smtClean="0">
                <a:solidFill>
                  <a:srgbClr val="B80000"/>
                </a:solidFill>
              </a:rPr>
              <a:t>Data Member Example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#include &lt;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iostream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using namespace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lvl="1" indent="0">
              <a:buNone/>
              <a:defRPr/>
            </a:pP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class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Counter {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public: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static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count;  // Static data member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Counter() {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    count++;  // Increment static data member for each object created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}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void display() {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&lt;&lt; "Number of objects: " &lt;&lt; count &lt;&lt;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endl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}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};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// Define and initialize the static data member</a:t>
            </a:r>
          </a:p>
          <a:p>
            <a:pPr marL="457200" lvl="1" indent="0">
              <a:buNone/>
              <a:defRPr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Counter::count = 0;</a:t>
            </a:r>
          </a:p>
          <a:p>
            <a:pPr marL="457200" lvl="1" indent="0">
              <a:buNone/>
              <a:defRPr/>
            </a:pP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main() {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Counter c1, c2, c3;  // Static member 'count' shared by all objects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c3.display();  // Output: Number of objects: 3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return 0;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2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rgbClr val="FF0000"/>
                </a:solidFill>
                <a:latin typeface="Courier New" charset="0"/>
              </a:rPr>
              <a:t>static</a:t>
            </a:r>
            <a:r>
              <a:rPr lang="en-US" sz="4000" b="1" dirty="0" smtClean="0">
                <a:solidFill>
                  <a:srgbClr val="FF0000"/>
                </a:solidFill>
              </a:rPr>
              <a:t> </a:t>
            </a:r>
            <a:r>
              <a:rPr lang="en-US" sz="4000" b="1" dirty="0" smtClean="0">
                <a:solidFill>
                  <a:srgbClr val="B80000"/>
                </a:solidFill>
              </a:rPr>
              <a:t>Member Function Example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#include &lt;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iostream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using namespace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class Utility {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public: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static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multiplier;  // Static data member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// Static function to access static data member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static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multiply(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value) {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    return value * multiplier;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}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};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// Define and initialize the static data member</a:t>
            </a:r>
          </a:p>
          <a:p>
            <a:pPr marL="457200" lvl="1" indent="0">
              <a:buNone/>
              <a:defRPr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Utility::multiplier = 5;</a:t>
            </a:r>
          </a:p>
          <a:p>
            <a:pPr marL="457200" lvl="1" indent="0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457200" lvl="1" indent="0">
              <a:buNone/>
              <a:defRPr/>
            </a:pP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main() {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&lt;&lt; "5 * multiplier = " &lt;&lt; Utility::multiply(5) &lt;&lt;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endl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return 0;</a:t>
            </a:r>
          </a:p>
          <a:p>
            <a:pPr marL="457200" lvl="1" indent="0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0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 smtClean="0"/>
              <a:t>Object </a:t>
            </a:r>
            <a:r>
              <a:rPr lang="en-US" sz="4000" b="1" dirty="0"/>
              <a:t>as Function </a:t>
            </a:r>
            <a:r>
              <a:rPr lang="en-US" sz="4000" b="1" dirty="0" smtClean="0"/>
              <a:t>Parameter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 marL="57150" indent="0" algn="just">
              <a:buNone/>
              <a:defRPr/>
            </a:pPr>
            <a:r>
              <a:rPr lang="en-US" dirty="0"/>
              <a:t>In C++, you can pass objects to functions either </a:t>
            </a:r>
            <a:r>
              <a:rPr lang="en-US" b="1" dirty="0"/>
              <a:t>by value</a:t>
            </a:r>
            <a:r>
              <a:rPr lang="en-US" dirty="0"/>
              <a:t> or </a:t>
            </a:r>
            <a:r>
              <a:rPr lang="en-US" b="1" dirty="0"/>
              <a:t>by reference</a:t>
            </a:r>
            <a:r>
              <a:rPr lang="en-US" dirty="0"/>
              <a:t>. Passing objects by reference is often more efficient because it avoids copying the entire object, especially when dealing with large objects</a:t>
            </a:r>
            <a:r>
              <a:rPr lang="en-US" dirty="0" smtClean="0"/>
              <a:t>.</a:t>
            </a:r>
          </a:p>
          <a:p>
            <a:pPr marL="57150" indent="0" algn="just">
              <a:buNone/>
              <a:defRPr/>
            </a:pPr>
            <a:r>
              <a:rPr lang="en-US" sz="2800" dirty="0">
                <a:latin typeface="+mj-lt"/>
                <a:ea typeface="Verdana" panose="020B0604030504040204" pitchFamily="34" charset="0"/>
              </a:rPr>
              <a:t>Why We Need Objects as Function Parameters</a:t>
            </a:r>
            <a:r>
              <a:rPr lang="en-US" sz="2800" dirty="0" smtClean="0">
                <a:latin typeface="+mj-lt"/>
                <a:ea typeface="Verdana" panose="020B0604030504040204" pitchFamily="34" charset="0"/>
              </a:rPr>
              <a:t>:</a:t>
            </a:r>
          </a:p>
          <a:p>
            <a:pPr marL="514350" indent="-457200" algn="just">
              <a:defRPr/>
            </a:pPr>
            <a:r>
              <a:rPr lang="en-US" sz="2800" b="1" dirty="0" smtClean="0">
                <a:latin typeface="+mj-lt"/>
                <a:ea typeface="Verdana" panose="020B0604030504040204" pitchFamily="34" charset="0"/>
              </a:rPr>
              <a:t>Pass-by-value</a:t>
            </a:r>
            <a:r>
              <a:rPr lang="en-US" sz="2800" b="1" dirty="0">
                <a:latin typeface="+mj-lt"/>
                <a:ea typeface="Verdana" panose="020B0604030504040204" pitchFamily="34" charset="0"/>
              </a:rPr>
              <a:t>: </a:t>
            </a:r>
            <a:r>
              <a:rPr lang="en-US" sz="2800" dirty="0" smtClean="0">
                <a:latin typeface="+mj-lt"/>
                <a:ea typeface="Verdana" panose="020B0604030504040204" pitchFamily="34" charset="0"/>
              </a:rPr>
              <a:t>Creates </a:t>
            </a:r>
            <a:r>
              <a:rPr lang="en-US" sz="2800" dirty="0">
                <a:latin typeface="+mj-lt"/>
                <a:ea typeface="Verdana" panose="020B0604030504040204" pitchFamily="34" charset="0"/>
              </a:rPr>
              <a:t>a copy of the object. This can be slow and resource-intensive for large objects</a:t>
            </a:r>
            <a:r>
              <a:rPr lang="en-US" sz="2800" dirty="0" smtClean="0">
                <a:latin typeface="+mj-lt"/>
                <a:ea typeface="Verdana" panose="020B0604030504040204" pitchFamily="34" charset="0"/>
              </a:rPr>
              <a:t>.</a:t>
            </a:r>
          </a:p>
          <a:p>
            <a:pPr marL="514350" indent="-457200" algn="just">
              <a:defRPr/>
            </a:pPr>
            <a:r>
              <a:rPr lang="en-US" sz="2800" b="1" dirty="0" smtClean="0">
                <a:latin typeface="+mj-lt"/>
                <a:ea typeface="Verdana" panose="020B0604030504040204" pitchFamily="34" charset="0"/>
              </a:rPr>
              <a:t>Pass-by-reference</a:t>
            </a:r>
            <a:r>
              <a:rPr lang="en-US" sz="2800" b="1" dirty="0">
                <a:latin typeface="+mj-lt"/>
                <a:ea typeface="Verdana" panose="020B0604030504040204" pitchFamily="34" charset="0"/>
              </a:rPr>
              <a:t>:</a:t>
            </a:r>
            <a:r>
              <a:rPr lang="en-US" sz="2800" dirty="0">
                <a:latin typeface="+mj-lt"/>
                <a:ea typeface="Verdana" panose="020B0604030504040204" pitchFamily="34" charset="0"/>
              </a:rPr>
              <a:t> Passes the reference (or address) of the object, avoiding a copy and allowing the function to modify the original object (if not </a:t>
            </a:r>
            <a:r>
              <a:rPr lang="en-US" sz="2800" dirty="0" err="1">
                <a:latin typeface="+mj-lt"/>
                <a:ea typeface="Verdana" panose="020B0604030504040204" pitchFamily="34" charset="0"/>
              </a:rPr>
              <a:t>const</a:t>
            </a:r>
            <a:r>
              <a:rPr lang="en-US" sz="2800" dirty="0">
                <a:latin typeface="+mj-lt"/>
                <a:ea typeface="Verdana" panose="020B0604030504040204" pitchFamily="34" charset="0"/>
              </a:rPr>
              <a:t>).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93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 smtClean="0"/>
              <a:t>Object as Function Parameter – By Value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#include &lt;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iostream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&gt;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using namespace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std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57150" indent="0" algn="just">
              <a:buNone/>
              <a:defRPr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class Rectangle {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public: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length;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width;</a:t>
            </a:r>
          </a:p>
          <a:p>
            <a:pPr marL="57150" indent="0" algn="just">
              <a:buNone/>
              <a:defRPr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// Constructor to initialize length and width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Rectangle(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l,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w) : length(l), width(w) {}</a:t>
            </a:r>
          </a:p>
          <a:p>
            <a:pPr marL="57150" indent="0" algn="just">
              <a:buNone/>
              <a:defRPr/>
            </a:pP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// Function that modifies the length and width (Call by Value)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void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modifyByValue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(Rectangle r) {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r.length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+= 10;  // Changes will only affect the copy of the object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r.width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+= 5;    // Changes will not affect the original object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&lt;&lt; "Inside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modifyByValue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- Length: " &lt;&lt;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r.length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&lt;&lt; ", Width: " &lt;&lt;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r.width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&lt;&lt; </a:t>
            </a:r>
            <a:r>
              <a:rPr lang="en-US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endl</a:t>
            </a: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57150" indent="0" algn="just">
              <a:buNone/>
              <a:defRPr/>
            </a:pPr>
            <a:r>
              <a:rPr lang="en-US" sz="16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600" dirty="0" smtClean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  <a:endParaRPr lang="en-US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2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dirty="0" smtClean="0"/>
              <a:t>Object as Function Parameter – By Reference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 marL="57150" indent="0" algn="just">
              <a:buNone/>
              <a:defRPr/>
            </a:pPr>
            <a:r>
              <a:rPr lang="en-US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// 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Function that modifies the length and width (Call by Reference)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void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modifyByReference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(Rectangle &amp;r) {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r.length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+= 10;  // Changes will affect the original object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r.width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+= 5;    // Changes will affect the original object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&lt;&lt; "Inside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modifyByReference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- Length: " &lt;&lt;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r.length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&lt;&lt; ", Width: " &lt;&lt;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r.width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&lt;&lt;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endl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}</a:t>
            </a:r>
          </a:p>
          <a:p>
            <a:pPr marL="57150" indent="0" algn="just">
              <a:buNone/>
              <a:defRPr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// Function to display the dimensions of the rectangle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void display() {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   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&lt;&lt; "Length: " &lt;&lt; length &lt;&lt; ", Width: " &lt;&lt; width &lt;&lt;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endl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57150" indent="0" algn="just">
              <a:buNone/>
              <a:defRPr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   }</a:t>
            </a:r>
          </a:p>
          <a:p>
            <a:pPr marL="57150" indent="0" algn="just">
              <a:buNone/>
              <a:defRPr/>
            </a:pPr>
            <a:r>
              <a:rPr lang="en-US" sz="1800" dirty="0" smtClean="0">
                <a:latin typeface="Verdana" panose="020B0604030504040204" pitchFamily="34" charset="0"/>
                <a:ea typeface="Verdana" panose="020B0604030504040204" pitchFamily="34" charset="0"/>
              </a:rPr>
              <a:t>};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469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" y="37707"/>
            <a:ext cx="9105900" cy="907174"/>
          </a:xfrm>
          <a:solidFill>
            <a:schemeClr val="bg1"/>
          </a:solidFill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 smtClean="0"/>
              <a:t>Object as Function Parameter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4403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839200" cy="5525348"/>
          </a:xfrm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>
            <a:noAutofit/>
          </a:bodyPr>
          <a:lstStyle/>
          <a:p>
            <a:pPr marL="57150" indent="0" algn="just">
              <a:buNone/>
              <a:defRPr/>
            </a:pPr>
            <a:r>
              <a:rPr lang="en-US" sz="1400" dirty="0" err="1" smtClean="0">
                <a:latin typeface="Verdana" panose="020B0604030504040204" pitchFamily="34" charset="0"/>
                <a:ea typeface="Verdana" panose="020B0604030504040204" pitchFamily="34" charset="0"/>
              </a:rPr>
              <a:t>int</a:t>
            </a:r>
            <a:r>
              <a:rPr lang="en-US" sz="1400" dirty="0" smtClean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main() {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// Create a Rectangle object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Rectangle rect1(20, 10);</a:t>
            </a:r>
          </a:p>
          <a:p>
            <a:pPr marL="57150" indent="0" algn="just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// Call by Value - Changes will not reflect in the original object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&lt;&lt; "Before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modifyByValue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- ";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rect1.display();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rect1.modifyByValue(rect1);  // Passing by value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&lt;&lt; "After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modifyByValue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- ";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rect1.display();  // No change in the original object</a:t>
            </a:r>
          </a:p>
          <a:p>
            <a:pPr marL="57150" indent="0" algn="just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&lt;&lt;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endl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;</a:t>
            </a:r>
          </a:p>
          <a:p>
            <a:pPr marL="57150" indent="0" algn="just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// Call by Reference - Changes will reflect in the original object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&lt;&lt; "Before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modifyByReference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- ";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rect1.display();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rect1.modifyByReference(rect1);  // Passing by reference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cout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&lt;&lt; "After </a:t>
            </a:r>
            <a:r>
              <a:rPr lang="en-US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modifyByReference</a:t>
            </a: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- ";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rect1.display();  // Changes reflect in the original object</a:t>
            </a:r>
          </a:p>
          <a:p>
            <a:pPr marL="57150" indent="0" algn="just">
              <a:buNone/>
              <a:defRPr/>
            </a:pPr>
            <a:endParaRPr lang="en-US" sz="1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    return 0;</a:t>
            </a:r>
          </a:p>
          <a:p>
            <a:pPr marL="57150" indent="0" algn="just">
              <a:buNone/>
              <a:defRPr/>
            </a:pPr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56" y="9448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43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7519</TotalTime>
  <Words>1105</Words>
  <Application>Microsoft Office PowerPoint</Application>
  <PresentationFormat>On-screen Show (4:3)</PresentationFormat>
  <Paragraphs>219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ＭＳ Ｐゴシック</vt:lpstr>
      <vt:lpstr>Arial</vt:lpstr>
      <vt:lpstr>Calibri</vt:lpstr>
      <vt:lpstr>Consolas</vt:lpstr>
      <vt:lpstr>Courier New</vt:lpstr>
      <vt:lpstr>Verdana</vt:lpstr>
      <vt:lpstr>Wingdings</vt:lpstr>
      <vt:lpstr>Office Theme</vt:lpstr>
      <vt:lpstr>Static data member Static member function</vt:lpstr>
      <vt:lpstr>static Class Members</vt:lpstr>
      <vt:lpstr>static Class Variables</vt:lpstr>
      <vt:lpstr>Public static Class Variables</vt:lpstr>
      <vt:lpstr>Private static Class Variables</vt:lpstr>
      <vt:lpstr>static Class Functions</vt:lpstr>
      <vt:lpstr>Public static Class Functions</vt:lpstr>
      <vt:lpstr>Private static Class Functions</vt:lpstr>
      <vt:lpstr>static Data Member Example</vt:lpstr>
      <vt:lpstr>static Member Function Example</vt:lpstr>
      <vt:lpstr>Object as Function Parameter</vt:lpstr>
      <vt:lpstr>Object as Function Parameter – By Value</vt:lpstr>
      <vt:lpstr>Object as Function Parameter – By Reference</vt:lpstr>
      <vt:lpstr>Object as Function Parameter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Microsoft account</cp:lastModifiedBy>
  <cp:revision>549</cp:revision>
  <dcterms:created xsi:type="dcterms:W3CDTF">2012-08-28T12:59:58Z</dcterms:created>
  <dcterms:modified xsi:type="dcterms:W3CDTF">2024-10-22T13:08:12Z</dcterms:modified>
</cp:coreProperties>
</file>